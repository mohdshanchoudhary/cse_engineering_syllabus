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theme/theme4.xml" ContentType="application/vnd.openxmlformats-officedocument.theme+xml"/>
  <Override PartName="/ppt/notesSlides/notesSlide1.xml" ContentType="application/vnd.openxmlformats-officedocument.presentationml.notesSlide+xml"/>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Default Extension="wdp" ContentType="image/vnd.ms-photo"/>
  <Override PartName="/ppt/slideLayouts/slideLayout10.xml" ContentType="application/vnd.openxmlformats-officedocument.presentationml.slideLayout+xml"/>
  <Default Extension="vml" ContentType="application/vnd.openxmlformats-officedocument.vmlDrawing"/>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9"/>
  </p:notesMasterIdLst>
  <p:handoutMasterIdLst>
    <p:handoutMasterId r:id="rId30"/>
  </p:handoutMasterIdLst>
  <p:sldIdLst>
    <p:sldId id="336" r:id="rId3"/>
    <p:sldId id="337" r:id="rId4"/>
    <p:sldId id="338" r:id="rId5"/>
    <p:sldId id="320" r:id="rId6"/>
    <p:sldId id="265" r:id="rId7"/>
    <p:sldId id="281" r:id="rId8"/>
    <p:sldId id="321" r:id="rId9"/>
    <p:sldId id="280" r:id="rId10"/>
    <p:sldId id="286" r:id="rId11"/>
    <p:sldId id="287" r:id="rId12"/>
    <p:sldId id="290" r:id="rId13"/>
    <p:sldId id="282" r:id="rId14"/>
    <p:sldId id="330" r:id="rId15"/>
    <p:sldId id="329" r:id="rId16"/>
    <p:sldId id="322" r:id="rId17"/>
    <p:sldId id="294" r:id="rId18"/>
    <p:sldId id="296" r:id="rId19"/>
    <p:sldId id="317" r:id="rId20"/>
    <p:sldId id="318" r:id="rId21"/>
    <p:sldId id="319" r:id="rId22"/>
    <p:sldId id="308" r:id="rId23"/>
    <p:sldId id="332" r:id="rId24"/>
    <p:sldId id="333" r:id="rId25"/>
    <p:sldId id="334" r:id="rId26"/>
    <p:sldId id="284"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rpreet kaur" initials="Gk" lastIdx="1" clrIdx="0">
    <p:extLst>
      <p:ext uri="{19B8F6BF-5375-455C-9EA6-DF929625EA0E}">
        <p15:presenceInfo xmlns:p15="http://schemas.microsoft.com/office/powerpoint/2012/main" xmlns="" userId="d9ab6decf214539c"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860000"/>
    <a:srgbClr val="ED8137"/>
    <a:srgbClr val="BC8F00"/>
    <a:srgbClr val="00B0F0"/>
    <a:srgbClr val="1B3F5B"/>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515" autoAdjust="0"/>
    <p:restoredTop sz="94434" autoAdjust="0"/>
  </p:normalViewPr>
  <p:slideViewPr>
    <p:cSldViewPr snapToGrid="0">
      <p:cViewPr varScale="1">
        <p:scale>
          <a:sx n="65" d="100"/>
          <a:sy n="65" d="100"/>
        </p:scale>
        <p:origin x="-702" y="-11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6/19/2023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xmlns=""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6/19/2023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xmlns=""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0732FBC-CC67-4B17-8935-02F23E3364A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xmlns="" val="4186024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xmlns=""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6/19/2023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xmlns=""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70909644"/>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227159557"/>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3804378142"/>
      </p:ext>
    </p:extLst>
  </p:cSld>
  <p:clrMapOvr>
    <a:masterClrMapping/>
  </p:clrMapOvr>
  <p:extLst>
    <p:ext uri="{DCECCB84-F9BA-43D5-87BE-67443E8EF086}">
      <p15:sldGuideLst xmlns:p15="http://schemas.microsoft.com/office/powerpoint/2012/main" xmlns="">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xmlns=""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xmlns=""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xmlns=""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xmlns=""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1.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hyperlink" Target="https://library.automationdirect.com/basic-electrical-theory/" TargetMode="Externa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fortune.com/2020/06/30/america-tech-semiconductor-manufacturing-investment/"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 xmlns:p14="http://schemas.microsoft.com/office/powerpoint/2010/main" val="689304721"/>
              </p:ext>
            </p:extLst>
          </p:nvPr>
        </p:nvGraphicFramePr>
        <p:xfrm>
          <a:off x="494804" y="4023363"/>
          <a:ext cx="2631143" cy="2507676"/>
        </p:xfrm>
        <a:graphic>
          <a:graphicData uri="http://schemas.openxmlformats.org/presentationml/2006/ole">
            <p:oleObj spid="_x0000_s65538" name="CorelDRAW" r:id="rId4" imgW="2169000" imgH="2169360" progId="">
              <p:embed/>
            </p:oleObj>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smtClean="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5" cstate="print">
            <a:extLst>
              <a:ext uri="{BEBA8EAE-BF5A-486C-A8C5-ECC9F3942E4B}">
                <a14:imgProps xmlns="" xmlns:a14="http://schemas.microsoft.com/office/drawing/2010/main">
                  <a14:imgLayer r:embed="rId6">
                    <a14:imgEffect>
                      <a14:colorTemperature colorTemp="5742"/>
                    </a14:imgEffect>
                    <a14:imgEffect>
                      <a14:saturation sat="238000"/>
                    </a14:imgEffect>
                  </a14:imgLayer>
                </a14:imgProps>
              </a:ext>
              <a:ext uri="{28A0092B-C50C-407E-A947-70E740481C1C}">
                <a14:useLocalDpi xmlns=""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14846" y="1281237"/>
            <a:ext cx="9832638" cy="557075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smtClean="0">
                <a:latin typeface="Arial Black" panose="020B0A04020102020204" pitchFamily="34" charset="0"/>
                <a:ea typeface="Karla" pitchFamily="2" charset="0"/>
                <a:cs typeface="Karla" pitchFamily="2" charset="0"/>
              </a:rPr>
              <a:t>INSTITUTE UIE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a:t>
            </a:r>
            <a:r>
              <a:rPr lang="en-US" sz="3200" b="1" dirty="0" smtClean="0">
                <a:latin typeface="Arial Black" panose="020B0A04020102020204" pitchFamily="34" charset="0"/>
                <a:ea typeface="Karla" pitchFamily="2" charset="0"/>
                <a:cs typeface="Karla" pitchFamily="2" charset="0"/>
              </a:rPr>
              <a:t>UNIT-1 </a:t>
            </a:r>
            <a:endParaRPr lang="en-US" sz="3200" b="1" dirty="0">
              <a:latin typeface="Arial Black" panose="020B0A04020102020204" pitchFamily="34" charset="0"/>
              <a:ea typeface="Karla" pitchFamily="2" charset="0"/>
              <a:cs typeface="Karla" pitchFamily="2"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Bachelor </a:t>
            </a:r>
            <a:r>
              <a:rPr lang="en-US" sz="2400" dirty="0">
                <a:latin typeface="Times New Roman" panose="02020603050405020304" pitchFamily="18" charset="0"/>
                <a:ea typeface="Calibri" panose="020F0502020204030204" pitchFamily="34" charset="0"/>
                <a:cs typeface="Times New Roman" panose="02020603050405020304" pitchFamily="18" charset="0"/>
              </a:rPr>
              <a:t>of </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Engineering (Computer Science &amp; Engineering) </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Name Semi Conductor Physics</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Subject Code 23SPH-143</a:t>
            </a: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Prepared By</a:t>
            </a:r>
          </a:p>
          <a:p>
            <a:pPr lvl="0" algn="ctr" defTabSz="622300">
              <a:lnSpc>
                <a:spcPct val="90000"/>
              </a:lnSpc>
              <a:spcBef>
                <a:spcPct val="0"/>
              </a:spcBef>
              <a:spcAft>
                <a:spcPct val="35000"/>
              </a:spcAft>
            </a:pP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Navjeet</a:t>
            </a:r>
            <a:r>
              <a:rPr lang="en-US" sz="2400" dirty="0" smtClean="0">
                <a:latin typeface="Times New Roman" panose="02020603050405020304" pitchFamily="18" charset="0"/>
                <a:ea typeface="Calibri" panose="020F0502020204030204" pitchFamily="34" charset="0"/>
                <a:cs typeface="Times New Roman" panose="02020603050405020304" pitchFamily="18" charset="0"/>
              </a:rPr>
              <a:t> </a:t>
            </a:r>
            <a:r>
              <a:rPr lang="en-US" sz="2400" dirty="0" err="1" smtClean="0">
                <a:latin typeface="Times New Roman" panose="02020603050405020304" pitchFamily="18" charset="0"/>
                <a:ea typeface="Calibri" panose="020F0502020204030204" pitchFamily="34" charset="0"/>
                <a:cs typeface="Times New Roman" panose="02020603050405020304" pitchFamily="18" charset="0"/>
              </a:rPr>
              <a:t>Kaur</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400" dirty="0" smtClean="0">
                <a:latin typeface="Times New Roman" panose="02020603050405020304" pitchFamily="18" charset="0"/>
                <a:ea typeface="Calibri" panose="020F0502020204030204" pitchFamily="34" charset="0"/>
                <a:cs typeface="Times New Roman" panose="02020603050405020304" pitchFamily="18" charset="0"/>
              </a:rPr>
              <a:t>Lecture-1.2.1</a:t>
            </a:r>
            <a:endParaRPr lang="en-US"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ctr" defTabSz="622300">
              <a:lnSpc>
                <a:spcPct val="90000"/>
              </a:lnSpc>
              <a:spcBef>
                <a:spcPct val="0"/>
              </a:spcBef>
              <a:spcAft>
                <a:spcPct val="35000"/>
              </a:spcAft>
            </a:pPr>
            <a:r>
              <a:rPr lang="en-IN" sz="2400" dirty="0" smtClean="0">
                <a:latin typeface="Times New Roman"/>
                <a:ea typeface="Calibri"/>
              </a:rPr>
              <a:t>Carrier generation and recombination</a:t>
            </a:r>
            <a:endParaRPr lang="en-US" sz="24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 xmlns:p14="http://schemas.microsoft.com/office/powerpoint/2010/main" val="4565021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592954" y="605949"/>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Objectives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p:cNvGraphicFramePr>
            <a:graphicFrameLocks noGrp="1"/>
          </p:cNvGraphicFramePr>
          <p:nvPr>
            <p:extLst>
              <p:ext uri="{D42A27DB-BD31-4B8C-83A1-F6EECF244321}">
                <p14:modId xmlns:p14="http://schemas.microsoft.com/office/powerpoint/2010/main" xmlns="" val="2453015479"/>
              </p:ext>
            </p:extLst>
          </p:nvPr>
        </p:nvGraphicFramePr>
        <p:xfrm>
          <a:off x="293914" y="2226079"/>
          <a:ext cx="6547757" cy="4158391"/>
        </p:xfrm>
        <a:graphic>
          <a:graphicData uri="http://schemas.openxmlformats.org/drawingml/2006/table">
            <a:tbl>
              <a:tblPr firstRow="1" firstCol="1" bandRow="1"/>
              <a:tblGrid>
                <a:gridCol w="587829">
                  <a:extLst>
                    <a:ext uri="{9D8B030D-6E8A-4147-A177-3AD203B41FA5}">
                      <a16:colId xmlns:a16="http://schemas.microsoft.com/office/drawing/2014/main" xmlns="" val="20000"/>
                    </a:ext>
                  </a:extLst>
                </a:gridCol>
                <a:gridCol w="5959928">
                  <a:extLst>
                    <a:ext uri="{9D8B030D-6E8A-4147-A177-3AD203B41FA5}">
                      <a16:colId xmlns:a16="http://schemas.microsoft.com/office/drawing/2014/main" xmlns="" val="20001"/>
                    </a:ext>
                  </a:extLst>
                </a:gridCol>
              </a:tblGrid>
              <a:tr h="772932">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S. No.</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800" b="1" i="0" u="none" strike="noStrike" dirty="0">
                          <a:solidFill>
                            <a:srgbClr val="000000"/>
                          </a:solidFill>
                          <a:effectLst/>
                          <a:latin typeface="Times New Roman" pitchFamily="18" charset="0"/>
                          <a:cs typeface="Times New Roman" pitchFamily="18" charset="0"/>
                        </a:rPr>
                        <a:t>Objectives</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1042403">
                <a:tc>
                  <a:txBody>
                    <a:bodyPr/>
                    <a:lstStyle/>
                    <a:p>
                      <a:pPr algn="ctr" fontAlgn="ctr"/>
                      <a:r>
                        <a:rPr lang="en-US" sz="1800" b="0" i="0" u="none" strike="noStrike" dirty="0">
                          <a:solidFill>
                            <a:schemeClr val="tx1"/>
                          </a:solidFill>
                          <a:effectLst/>
                          <a:latin typeface="Times New Roman" pitchFamily="18" charset="0"/>
                          <a:cs typeface="Times New Roman" pitchFamily="18"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To understand the basic materials and properties of semiconductors.</a:t>
                      </a:r>
                      <a:endParaRPr lang="en-US" sz="1800" kern="1200" dirty="0">
                        <a:solidFill>
                          <a:schemeClr val="tx1"/>
                        </a:solidFill>
                        <a:latin typeface="Times New Roman" pitchFamily="18" charset="0"/>
                        <a:ea typeface="+mn-ea"/>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97251">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lvl="0" algn="l"/>
                      <a:r>
                        <a:rPr lang="en-US" sz="1800" kern="1200" dirty="0" smtClean="0">
                          <a:solidFill>
                            <a:schemeClr val="tx1"/>
                          </a:solidFill>
                          <a:latin typeface="Times New Roman" pitchFamily="18" charset="0"/>
                          <a:ea typeface="+mn-ea"/>
                          <a:cs typeface="Times New Roman" pitchFamily="18" charset="0"/>
                        </a:rPr>
                        <a:t>Understand the basic of semiconductor and components like diode, transistor, FET, MOSFET and Energy Sources.</a:t>
                      </a: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345805">
                <a:tc>
                  <a:txBody>
                    <a:bodyPr/>
                    <a:lstStyle/>
                    <a:p>
                      <a:pPr algn="ctr" fontAlgn="ctr"/>
                      <a:r>
                        <a:rPr lang="en-US" sz="1800" b="0" i="0" u="none" strike="noStrike" dirty="0">
                          <a:solidFill>
                            <a:srgbClr val="000000"/>
                          </a:solidFill>
                          <a:effectLst/>
                          <a:latin typeface="Times New Roman" pitchFamily="18" charset="0"/>
                          <a:cs typeface="Times New Roman" pitchFamily="18"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IN" sz="1800" kern="1200" dirty="0" smtClean="0">
                          <a:solidFill>
                            <a:schemeClr val="tx1"/>
                          </a:solidFill>
                          <a:latin typeface="Times New Roman" pitchFamily="18" charset="0"/>
                          <a:ea typeface="+mn-ea"/>
                          <a:cs typeface="Times New Roman" pitchFamily="18" charset="0"/>
                        </a:rPr>
                        <a:t>To give knowledge about semiconductor physics and discus working and applications of basic devices, including p-n junctions, BJTs and FETs.</a:t>
                      </a:r>
                      <a:endParaRPr lang="en-US" sz="1800" kern="1200" dirty="0" smtClean="0">
                        <a:solidFill>
                          <a:schemeClr val="tx1"/>
                        </a:solidFill>
                        <a:latin typeface="Times New Roman" pitchFamily="18" charset="0"/>
                        <a:ea typeface="+mn-ea"/>
                        <a:cs typeface="Times New Roman" pitchFamily="18" charset="0"/>
                      </a:endParaRPr>
                    </a:p>
                    <a:p>
                      <a:pPr algn="l" fontAlgn="ctr"/>
                      <a:endParaRPr lang="en-US" sz="1800" b="0" i="0" u="none" strike="noStrike" dirty="0">
                        <a:solidFill>
                          <a:srgbClr val="000000"/>
                        </a:solidFill>
                        <a:effectLst/>
                        <a:latin typeface="Times New Roman" pitchFamily="18" charset="0"/>
                        <a:cs typeface="Times New Roman" pitchFamily="18"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bl>
          </a:graphicData>
        </a:graphic>
      </p:graphicFrame>
      <p:sp>
        <p:nvSpPr>
          <p:cNvPr id="7" name="Content Placeholder 6"/>
          <p:cNvSpPr>
            <a:spLocks noGrp="1"/>
          </p:cNvSpPr>
          <p:nvPr>
            <p:ph idx="1"/>
          </p:nvPr>
        </p:nvSpPr>
        <p:spPr>
          <a:xfrm>
            <a:off x="7104849" y="5050301"/>
            <a:ext cx="4706194" cy="745588"/>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https://www.iqsdirectory.com/resources/everything-you-ever-wanted-to-know-about-semiconductors/</a:t>
            </a:r>
            <a:endParaRPr lang="en-US" sz="1800" b="1" dirty="0">
              <a:solidFill>
                <a:srgbClr val="7030A0"/>
              </a:solidFill>
            </a:endParaRPr>
          </a:p>
        </p:txBody>
      </p:sp>
      <p:pic>
        <p:nvPicPr>
          <p:cNvPr id="3" name="Picture 2">
            <a:extLst>
              <a:ext uri="{FF2B5EF4-FFF2-40B4-BE49-F238E27FC236}">
                <a16:creationId xmlns:a16="http://schemas.microsoft.com/office/drawing/2014/main" xmlns="" id="{CF519C70-D760-42E7-8BD2-6D327CBFDD43}"/>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7094509" y="2226079"/>
            <a:ext cx="4716534" cy="2655409"/>
          </a:xfrm>
          <a:prstGeom prst="rect">
            <a:avLst/>
          </a:prstGeom>
        </p:spPr>
      </p:pic>
    </p:spTree>
    <p:custDataLst>
      <p:tags r:id="rId1"/>
    </p:custDataLst>
    <p:extLst>
      <p:ext uri="{BB962C8B-B14F-4D97-AF65-F5344CB8AC3E}">
        <p14:creationId xmlns:p14="http://schemas.microsoft.com/office/powerpoint/2010/main" xmlns="" val="4018097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8" name="Title 7"/>
          <p:cNvSpPr txBox="1">
            <a:spLocks noGrp="1" noChangeArrowheads="1"/>
          </p:cNvSpPr>
          <p:nvPr>
            <p:ph type="title"/>
          </p:nvPr>
        </p:nvSpPr>
        <p:spPr bwMode="auto">
          <a:xfrm>
            <a:off x="854211" y="214063"/>
            <a:ext cx="4456567" cy="131112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a:rPr>
              <a:t>Course Outcomes</a:t>
            </a: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p:cNvSpPr>
            <a:spLocks noGrp="1"/>
          </p:cNvSpPr>
          <p:nvPr>
            <p:ph idx="1"/>
          </p:nvPr>
        </p:nvSpPr>
        <p:spPr>
          <a:xfrm>
            <a:off x="6566485" y="5421087"/>
            <a:ext cx="5214762" cy="518341"/>
          </a:xfrm>
        </p:spPr>
        <p:txBody>
          <a:bodyPr>
            <a:noAutofit/>
          </a:bodyPr>
          <a:lstStyle/>
          <a:p>
            <a:pPr algn="ctr">
              <a:buNone/>
            </a:pPr>
            <a:r>
              <a:rPr lang="en-US" sz="1800" b="1" dirty="0">
                <a:solidFill>
                  <a:srgbClr val="7030A0"/>
                </a:solidFill>
                <a:hlinkClick r:id="rId3">
                  <a:extLst>
                    <a:ext uri="{A12FA001-AC4F-418D-AE19-62706E023703}">
                      <ahyp:hlinkClr xmlns:ahyp="http://schemas.microsoft.com/office/drawing/2018/hyperlinkcolor" xmlns="" val="tx"/>
                    </a:ext>
                  </a:extLst>
                </a:hlinkClick>
              </a:rPr>
              <a:t>https://lot.dhl.com/5-things-the-current-semiconductor-slowdown-tells-us-about-the-global-economy/</a:t>
            </a:r>
            <a:endParaRPr lang="en-US" sz="1800" b="1" dirty="0">
              <a:solidFill>
                <a:srgbClr val="7030A0"/>
              </a:solidFill>
            </a:endParaRPr>
          </a:p>
        </p:txBody>
      </p:sp>
      <p:graphicFrame>
        <p:nvGraphicFramePr>
          <p:cNvPr id="2" name="Table 1">
            <a:extLst>
              <a:ext uri="{FF2B5EF4-FFF2-40B4-BE49-F238E27FC236}">
                <a16:creationId xmlns:a16="http://schemas.microsoft.com/office/drawing/2014/main" xmlns="" id="{8162587E-E0B8-4626-8CC1-A1300E812FD3}"/>
              </a:ext>
            </a:extLst>
          </p:cNvPr>
          <p:cNvGraphicFramePr>
            <a:graphicFrameLocks noGrp="1"/>
          </p:cNvGraphicFramePr>
          <p:nvPr>
            <p:extLst>
              <p:ext uri="{D42A27DB-BD31-4B8C-83A1-F6EECF244321}">
                <p14:modId xmlns:p14="http://schemas.microsoft.com/office/powerpoint/2010/main" xmlns="" val="637862230"/>
              </p:ext>
            </p:extLst>
          </p:nvPr>
        </p:nvGraphicFramePr>
        <p:xfrm>
          <a:off x="307925" y="1881052"/>
          <a:ext cx="6354132" cy="4778877"/>
        </p:xfrm>
        <a:graphic>
          <a:graphicData uri="http://schemas.openxmlformats.org/drawingml/2006/table">
            <a:tbl>
              <a:tblPr firstRow="1" firstCol="1" bandRow="1">
                <a:tableStyleId>{5940675A-B579-460E-94D1-54222C63F5DA}</a:tableStyleId>
              </a:tblPr>
              <a:tblGrid>
                <a:gridCol w="709811">
                  <a:extLst>
                    <a:ext uri="{9D8B030D-6E8A-4147-A177-3AD203B41FA5}">
                      <a16:colId xmlns:a16="http://schemas.microsoft.com/office/drawing/2014/main" xmlns="" val="3145357031"/>
                    </a:ext>
                  </a:extLst>
                </a:gridCol>
                <a:gridCol w="3525847">
                  <a:extLst>
                    <a:ext uri="{9D8B030D-6E8A-4147-A177-3AD203B41FA5}">
                      <a16:colId xmlns:a16="http://schemas.microsoft.com/office/drawing/2014/main" xmlns="" val="1912344179"/>
                    </a:ext>
                  </a:extLst>
                </a:gridCol>
                <a:gridCol w="2118474">
                  <a:extLst>
                    <a:ext uri="{9D8B030D-6E8A-4147-A177-3AD203B41FA5}">
                      <a16:colId xmlns:a16="http://schemas.microsoft.com/office/drawing/2014/main" xmlns="" val="1723345131"/>
                    </a:ext>
                  </a:extLst>
                </a:gridCol>
              </a:tblGrid>
              <a:tr h="919098">
                <a:tc>
                  <a:txBody>
                    <a:bodyPr/>
                    <a:lstStyle/>
                    <a:p>
                      <a:pPr algn="just">
                        <a:spcBef>
                          <a:spcPts val="600"/>
                        </a:spcBef>
                        <a:spcAft>
                          <a:spcPts val="600"/>
                        </a:spcAft>
                      </a:pPr>
                      <a:r>
                        <a:rPr lang="en-US" sz="1600" dirty="0">
                          <a:effectLst/>
                        </a:rPr>
                        <a:t>S.NO</a:t>
                      </a: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Description</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a:effectLst/>
                        </a:rPr>
                        <a:t>Blooms’ Taxonomy Level</a:t>
                      </a:r>
                      <a:endParaRPr lang="en-IN" sz="1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035748488"/>
                  </a:ext>
                </a:extLst>
              </a:tr>
              <a:tr h="660601">
                <a:tc>
                  <a:txBody>
                    <a:bodyPr/>
                    <a:lstStyle/>
                    <a:p>
                      <a:pPr marR="53975" algn="ctr">
                        <a:lnSpc>
                          <a:spcPct val="107000"/>
                        </a:lnSpc>
                        <a:spcAft>
                          <a:spcPts val="0"/>
                        </a:spcAft>
                      </a:pPr>
                      <a:r>
                        <a:rPr lang="en-IN" sz="1400" dirty="0">
                          <a:latin typeface="Times New Roman"/>
                          <a:ea typeface="Times New Roman"/>
                          <a:cs typeface="Raavi"/>
                        </a:rPr>
                        <a:t>CO1</a:t>
                      </a:r>
                      <a:endParaRPr lang="en-US" sz="1400" dirty="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latin typeface="Times New Roman"/>
                          <a:ea typeface="Adobe Garamond Pro"/>
                          <a:cs typeface="Raavi"/>
                        </a:rPr>
                        <a:t>To apply the knowledge of basic semiconductor material physics and understand fabrication processes.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EASY</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2905167788"/>
                  </a:ext>
                </a:extLst>
              </a:tr>
              <a:tr h="660601">
                <a:tc>
                  <a:txBody>
                    <a:bodyPr/>
                    <a:lstStyle/>
                    <a:p>
                      <a:pPr marR="53975" algn="ctr">
                        <a:lnSpc>
                          <a:spcPct val="107000"/>
                        </a:lnSpc>
                        <a:spcAft>
                          <a:spcPts val="0"/>
                        </a:spcAft>
                      </a:pPr>
                      <a:r>
                        <a:rPr lang="en-IN" sz="1400">
                          <a:latin typeface="Times New Roman"/>
                          <a:ea typeface="Times New Roman"/>
                          <a:cs typeface="Raavi"/>
                        </a:rPr>
                        <a:t>CO2</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understand </a:t>
                      </a:r>
                      <a:r>
                        <a:rPr lang="en-IN" sz="1400" dirty="0">
                          <a:latin typeface="Times New Roman"/>
                          <a:cs typeface="Raavi"/>
                        </a:rPr>
                        <a:t> the characteristics of different electronic devices such as diodes, transistors.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36068956"/>
                  </a:ext>
                </a:extLst>
              </a:tr>
              <a:tr h="660601">
                <a:tc>
                  <a:txBody>
                    <a:bodyPr/>
                    <a:lstStyle/>
                    <a:p>
                      <a:pPr marR="53975" algn="ctr">
                        <a:lnSpc>
                          <a:spcPct val="107000"/>
                        </a:lnSpc>
                        <a:spcAft>
                          <a:spcPts val="0"/>
                        </a:spcAft>
                      </a:pPr>
                      <a:r>
                        <a:rPr lang="en-IN" sz="1400">
                          <a:latin typeface="Times New Roman"/>
                          <a:ea typeface="Times New Roman"/>
                          <a:cs typeface="Raavi"/>
                        </a:rPr>
                        <a:t>CO3</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latin typeface="Times New Roman"/>
                          <a:ea typeface="Adobe Garamond Pro"/>
                          <a:cs typeface="Raavi"/>
                        </a:rPr>
                        <a:t>To derive the relationships between the parameters in diode, FET, configurations of Transistor and MOSFETs.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a:latin typeface="Times New Roman"/>
                          <a:ea typeface="Times New Roman"/>
                          <a:cs typeface="Raavi"/>
                        </a:rPr>
                        <a:t>MEDIUM</a:t>
                      </a:r>
                      <a:endParaRPr lang="en-US" sz="1400">
                        <a:latin typeface="Calibri"/>
                        <a:ea typeface="Calibri"/>
                        <a:cs typeface="Raavi"/>
                      </a:endParaRPr>
                    </a:p>
                  </a:txBody>
                  <a:tcPr marL="68580" marR="68580" marT="0" marB="0" anchor="ctr"/>
                </a:tc>
                <a:extLst>
                  <a:ext uri="{0D108BD9-81ED-4DB2-BD59-A6C34878D82A}">
                    <a16:rowId xmlns:a16="http://schemas.microsoft.com/office/drawing/2014/main" xmlns="" val="1044161678"/>
                  </a:ext>
                </a:extLst>
              </a:tr>
              <a:tr h="990902">
                <a:tc>
                  <a:txBody>
                    <a:bodyPr/>
                    <a:lstStyle/>
                    <a:p>
                      <a:pPr marR="53975" algn="ctr">
                        <a:lnSpc>
                          <a:spcPct val="107000"/>
                        </a:lnSpc>
                        <a:spcAft>
                          <a:spcPts val="0"/>
                        </a:spcAft>
                      </a:pPr>
                      <a:r>
                        <a:rPr lang="en-IN" sz="1400">
                          <a:latin typeface="Times New Roman"/>
                          <a:ea typeface="Times New Roman"/>
                          <a:cs typeface="Raavi"/>
                        </a:rPr>
                        <a:t>CO4</a:t>
                      </a:r>
                      <a:endParaRPr lang="en-US" sz="1400">
                        <a:latin typeface="Calibri"/>
                        <a:ea typeface="Calibri"/>
                        <a:cs typeface="Raavi"/>
                      </a:endParaRPr>
                    </a:p>
                  </a:txBody>
                  <a:tcPr marL="68580" marR="68580" marT="0" marB="0" anchor="ctr"/>
                </a:tc>
                <a:tc>
                  <a:txBody>
                    <a:bodyPr/>
                    <a:lstStyle/>
                    <a:p>
                      <a:pPr algn="just">
                        <a:lnSpc>
                          <a:spcPct val="115000"/>
                        </a:lnSpc>
                        <a:spcAft>
                          <a:spcPts val="0"/>
                        </a:spcAft>
                      </a:pPr>
                      <a:r>
                        <a:rPr lang="en-IN" sz="1400" dirty="0">
                          <a:solidFill>
                            <a:srgbClr val="000000"/>
                          </a:solidFill>
                          <a:latin typeface="Times New Roman"/>
                          <a:ea typeface="Times New Roman"/>
                          <a:cs typeface="Raavi"/>
                        </a:rPr>
                        <a:t>To describe the working and design considerations for the various photonic devices like photo detectors, solar-cells and LEDs.</a:t>
                      </a:r>
                      <a:endParaRPr lang="en-US" sz="1400" dirty="0">
                        <a:latin typeface="Calibri"/>
                        <a:cs typeface="Raavi"/>
                      </a:endParaRPr>
                    </a:p>
                  </a:txBody>
                  <a:tcPr marL="68580" marR="68580" marT="0" marB="0"/>
                </a:tc>
                <a:tc>
                  <a:txBody>
                    <a:bodyPr/>
                    <a:lstStyle/>
                    <a:p>
                      <a:pPr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3677875048"/>
                  </a:ext>
                </a:extLst>
              </a:tr>
              <a:tr h="660601">
                <a:tc>
                  <a:txBody>
                    <a:bodyPr/>
                    <a:lstStyle/>
                    <a:p>
                      <a:pPr marR="53975" algn="ctr">
                        <a:lnSpc>
                          <a:spcPct val="107000"/>
                        </a:lnSpc>
                        <a:spcAft>
                          <a:spcPts val="0"/>
                        </a:spcAft>
                      </a:pPr>
                      <a:r>
                        <a:rPr lang="en-IN" sz="1400">
                          <a:latin typeface="Times New Roman"/>
                          <a:ea typeface="Times New Roman"/>
                          <a:cs typeface="Raavi"/>
                        </a:rPr>
                        <a:t>CO5</a:t>
                      </a:r>
                      <a:endParaRPr lang="en-US" sz="1400">
                        <a:latin typeface="Calibri"/>
                        <a:ea typeface="Calibri"/>
                        <a:cs typeface="Raavi"/>
                      </a:endParaRPr>
                    </a:p>
                  </a:txBody>
                  <a:tcPr marL="68580" marR="68580" marT="0" marB="0" anchor="ctr"/>
                </a:tc>
                <a:tc>
                  <a:txBody>
                    <a:bodyPr/>
                    <a:lstStyle/>
                    <a:p>
                      <a:pPr indent="-31115" algn="just">
                        <a:lnSpc>
                          <a:spcPct val="115000"/>
                        </a:lnSpc>
                        <a:spcAft>
                          <a:spcPts val="0"/>
                        </a:spcAft>
                      </a:pPr>
                      <a:r>
                        <a:rPr lang="en-IN" sz="1400" dirty="0">
                          <a:solidFill>
                            <a:srgbClr val="000000"/>
                          </a:solidFill>
                          <a:latin typeface="Times New Roman"/>
                          <a:ea typeface="Times New Roman"/>
                          <a:cs typeface="Raavi"/>
                        </a:rPr>
                        <a:t>To provide problem solving experience and learning of concepts through it in semiconductor physics.</a:t>
                      </a:r>
                      <a:endParaRPr lang="en-US" sz="1400" dirty="0">
                        <a:latin typeface="Calibri"/>
                        <a:cs typeface="Raavi"/>
                      </a:endParaRPr>
                    </a:p>
                  </a:txBody>
                  <a:tcPr marL="68580" marR="68580" marT="0" marB="0"/>
                </a:tc>
                <a:tc>
                  <a:txBody>
                    <a:bodyPr/>
                    <a:lstStyle/>
                    <a:p>
                      <a:pPr indent="-31115" algn="ctr">
                        <a:lnSpc>
                          <a:spcPct val="107000"/>
                        </a:lnSpc>
                        <a:spcAft>
                          <a:spcPts val="0"/>
                        </a:spcAft>
                      </a:pPr>
                      <a:r>
                        <a:rPr lang="en-IN" sz="1400" dirty="0">
                          <a:latin typeface="Times New Roman"/>
                          <a:ea typeface="Times New Roman"/>
                          <a:cs typeface="Raavi"/>
                        </a:rPr>
                        <a:t>HARD</a:t>
                      </a:r>
                      <a:endParaRPr lang="en-US" sz="1400" dirty="0">
                        <a:latin typeface="Calibri"/>
                        <a:ea typeface="Calibri"/>
                        <a:cs typeface="Raavi"/>
                      </a:endParaRPr>
                    </a:p>
                  </a:txBody>
                  <a:tcPr marL="68580" marR="68580" marT="0" marB="0" anchor="ctr"/>
                </a:tc>
                <a:extLst>
                  <a:ext uri="{0D108BD9-81ED-4DB2-BD59-A6C34878D82A}">
                    <a16:rowId xmlns:a16="http://schemas.microsoft.com/office/drawing/2014/main" xmlns="" val="1993640399"/>
                  </a:ext>
                </a:extLst>
              </a:tr>
            </a:tbl>
          </a:graphicData>
        </a:graphic>
      </p:graphicFrame>
      <p:pic>
        <p:nvPicPr>
          <p:cNvPr id="4" name="Picture 3">
            <a:extLst>
              <a:ext uri="{FF2B5EF4-FFF2-40B4-BE49-F238E27FC236}">
                <a16:creationId xmlns:a16="http://schemas.microsoft.com/office/drawing/2014/main" xmlns="" id="{72E5EA36-20D2-4DE4-BBC5-F5A55DBA5C10}"/>
              </a:ext>
            </a:extLst>
          </p:cNvPr>
          <p:cNvPicPr>
            <a:picLocks noChangeAspect="1"/>
          </p:cNvPicPr>
          <p:nvPr/>
        </p:nvPicPr>
        <p:blipFill>
          <a:blip r:embed="rId4">
            <a:extLst>
              <a:ext uri="{28A0092B-C50C-407E-A947-70E740481C1C}">
                <a14:useLocalDpi xmlns:a14="http://schemas.microsoft.com/office/drawing/2010/main" xmlns="" val="0"/>
              </a:ext>
            </a:extLst>
          </a:blip>
          <a:stretch>
            <a:fillRect/>
          </a:stretch>
        </p:blipFill>
        <p:spPr>
          <a:xfrm>
            <a:off x="6701247" y="2368915"/>
            <a:ext cx="5080000" cy="2667000"/>
          </a:xfrm>
          <a:prstGeom prst="rect">
            <a:avLst/>
          </a:prstGeom>
        </p:spPr>
      </p:pic>
    </p:spTree>
    <p:custDataLst>
      <p:tags r:id="rId1"/>
    </p:custDataLst>
    <p:extLst>
      <p:ext uri="{BB962C8B-B14F-4D97-AF65-F5344CB8AC3E}">
        <p14:creationId xmlns:p14="http://schemas.microsoft.com/office/powerpoint/2010/main" xmlns="" val="3901693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F04FBCF-0122-468F-8BB5-53AF02271A65}"/>
              </a:ext>
            </a:extLst>
          </p:cNvPr>
          <p:cNvSpPr>
            <a:spLocks noGrp="1"/>
          </p:cNvSpPr>
          <p:nvPr>
            <p:ph type="title"/>
          </p:nvPr>
        </p:nvSpPr>
        <p:spPr>
          <a:xfrm>
            <a:off x="1159564" y="487189"/>
            <a:ext cx="10515600" cy="1325563"/>
          </a:xfrm>
        </p:spPr>
        <p:txBody>
          <a:bodyPr>
            <a:normAutofit/>
          </a:bodyPr>
          <a:lstStyle/>
          <a:p>
            <a:r>
              <a:rPr lang="en-US" b="1" dirty="0">
                <a:latin typeface="+mn-lt"/>
              </a:rPr>
              <a:t>WHAT ROLE DOES PHYSICS PLAY IN ENGINEERING?</a:t>
            </a:r>
          </a:p>
        </p:txBody>
      </p:sp>
      <p:sp>
        <p:nvSpPr>
          <p:cNvPr id="3" name="Content Placeholder 2">
            <a:extLst>
              <a:ext uri="{FF2B5EF4-FFF2-40B4-BE49-F238E27FC236}">
                <a16:creationId xmlns="" xmlns:a16="http://schemas.microsoft.com/office/drawing/2014/main" id="{63A876A7-1333-4F86-A3B3-000572AEEBE2}"/>
              </a:ext>
            </a:extLst>
          </p:cNvPr>
          <p:cNvSpPr>
            <a:spLocks noGrp="1"/>
          </p:cNvSpPr>
          <p:nvPr>
            <p:ph idx="1"/>
          </p:nvPr>
        </p:nvSpPr>
        <p:spPr>
          <a:xfrm>
            <a:off x="838200" y="2236573"/>
            <a:ext cx="5507182" cy="4376262"/>
          </a:xfrm>
        </p:spPr>
        <p:txBody>
          <a:bodyPr>
            <a:normAutofit/>
          </a:bodyPr>
          <a:lstStyle/>
          <a:p>
            <a:pPr marL="0" indent="0">
              <a:buNone/>
            </a:pPr>
            <a:r>
              <a:rPr lang="en-US" sz="2400" b="1" dirty="0"/>
              <a:t>Engineering</a:t>
            </a:r>
            <a:r>
              <a:rPr lang="en-US" sz="2400" dirty="0"/>
              <a:t> is concerned with figuring out how to design, build and use structures and machines. To do that requires </a:t>
            </a:r>
            <a:r>
              <a:rPr lang="en-US" sz="2400" b="1" dirty="0"/>
              <a:t>physics</a:t>
            </a:r>
            <a:r>
              <a:rPr lang="en-US" sz="2400" dirty="0"/>
              <a:t> because you have to take into account forces, fluid flow, heat transfer, and many other </a:t>
            </a:r>
            <a:r>
              <a:rPr lang="en-US" sz="2400" b="1" dirty="0"/>
              <a:t>physics</a:t>
            </a:r>
            <a:r>
              <a:rPr lang="en-US" sz="2400" dirty="0"/>
              <a:t> concepts. </a:t>
            </a:r>
            <a:r>
              <a:rPr lang="en-US" sz="2400" b="1" dirty="0"/>
              <a:t>Engineering</a:t>
            </a:r>
            <a:r>
              <a:rPr lang="en-US" sz="2400" dirty="0"/>
              <a:t> and technical applications of </a:t>
            </a:r>
            <a:r>
              <a:rPr lang="en-US" sz="2400" b="1" dirty="0"/>
              <a:t>physics</a:t>
            </a:r>
            <a:r>
              <a:rPr lang="en-US" sz="2400" dirty="0"/>
              <a:t> are numerous.</a:t>
            </a:r>
          </a:p>
        </p:txBody>
      </p:sp>
      <p:sp>
        <p:nvSpPr>
          <p:cNvPr id="4" name="Slide Number Placeholder 3">
            <a:extLst>
              <a:ext uri="{FF2B5EF4-FFF2-40B4-BE49-F238E27FC236}">
                <a16:creationId xmlns="" xmlns:a16="http://schemas.microsoft.com/office/drawing/2014/main" id="{649CCE7C-41BD-48FA-9248-F7BD5041835F}"/>
              </a:ext>
            </a:extLst>
          </p:cNvPr>
          <p:cNvSpPr>
            <a:spLocks noGrp="1"/>
          </p:cNvSpPr>
          <p:nvPr>
            <p:ph type="sldNum" sz="quarter" idx="12"/>
          </p:nvPr>
        </p:nvSpPr>
        <p:spPr/>
        <p:txBody>
          <a:bodyPr/>
          <a:lstStyle/>
          <a:p>
            <a:fld id="{BDCDBBEF-AA6C-4BA6-85B2-A17D7F280E38}" type="slidenum">
              <a:rPr lang="en-US" smtClean="0"/>
              <a:pPr/>
              <a:t>4</a:t>
            </a:fld>
            <a:endParaRPr lang="en-US" dirty="0"/>
          </a:p>
        </p:txBody>
      </p:sp>
      <p:pic>
        <p:nvPicPr>
          <p:cNvPr id="10242" name="Picture 2" descr="Physics Vs Engineering | Which Is Best For You? - YouTube">
            <a:extLst>
              <a:ext uri="{FF2B5EF4-FFF2-40B4-BE49-F238E27FC236}">
                <a16:creationId xmlns="" xmlns:a16="http://schemas.microsoft.com/office/drawing/2014/main" id="{CB56D719-2AEB-4970-9521-5D7EA6D8B548}"/>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559825" y="1690689"/>
            <a:ext cx="5115339" cy="3725374"/>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Box 5">
            <a:extLst>
              <a:ext uri="{FF2B5EF4-FFF2-40B4-BE49-F238E27FC236}">
                <a16:creationId xmlns="" xmlns:a16="http://schemas.microsoft.com/office/drawing/2014/main" id="{DA7C6753-B275-45DC-933C-6D784AA7787C}"/>
              </a:ext>
            </a:extLst>
          </p:cNvPr>
          <p:cNvSpPr txBox="1"/>
          <p:nvPr/>
        </p:nvSpPr>
        <p:spPr>
          <a:xfrm>
            <a:off x="7385538" y="5880295"/>
            <a:ext cx="3840480" cy="400110"/>
          </a:xfrm>
          <a:prstGeom prst="rect">
            <a:avLst/>
          </a:prstGeom>
          <a:noFill/>
        </p:spPr>
        <p:txBody>
          <a:bodyPr wrap="square" rtlCol="0">
            <a:spAutoFit/>
          </a:bodyPr>
          <a:lstStyle/>
          <a:p>
            <a:r>
              <a:rPr lang="en-US" sz="2000" dirty="0"/>
              <a:t>Figure.1.1 Physics </a:t>
            </a:r>
            <a:r>
              <a:rPr lang="en-US" sz="2000" dirty="0" err="1"/>
              <a:t>vs</a:t>
            </a:r>
            <a:r>
              <a:rPr lang="en-US" sz="2000" dirty="0"/>
              <a:t> </a:t>
            </a:r>
            <a:r>
              <a:rPr lang="en-US" sz="2000" dirty="0" smtClean="0"/>
              <a:t>Engineering[1]</a:t>
            </a:r>
            <a:endParaRPr lang="en-US" sz="2000" dirty="0"/>
          </a:p>
        </p:txBody>
      </p:sp>
    </p:spTree>
    <p:extLst>
      <p:ext uri="{BB962C8B-B14F-4D97-AF65-F5344CB8AC3E}">
        <p14:creationId xmlns:p14="http://schemas.microsoft.com/office/powerpoint/2010/main" xmlns="" val="2304081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bwMode="auto">
          <a:xfrm>
            <a:off x="838200" y="261543"/>
            <a:ext cx="10515600" cy="153272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b="1" dirty="0" smtClean="0">
                <a:latin typeface="+mn-lt"/>
                <a:ea typeface="Karla" pitchFamily="2" charset="0"/>
                <a:cs typeface="Karla" pitchFamily="2" charset="0"/>
              </a:rPr>
              <a:t>LECTURE</a:t>
            </a:r>
            <a:r>
              <a:rPr lang="en-US" sz="4400" b="1" dirty="0" smtClean="0">
                <a:latin typeface="+mn-lt"/>
                <a:ea typeface="Karla" pitchFamily="2" charset="0"/>
                <a:cs typeface="Karla" pitchFamily="2" charset="0"/>
              </a:rPr>
              <a:t> </a:t>
            </a:r>
            <a:r>
              <a:rPr lang="en-US" sz="4400" b="1" dirty="0">
                <a:latin typeface="+mn-lt"/>
                <a:ea typeface="Karla" pitchFamily="2" charset="0"/>
                <a:cs typeface="Karla" pitchFamily="2" charset="0"/>
              </a:rPr>
              <a:t>OBJECTIVES AND </a:t>
            </a:r>
            <a:r>
              <a:rPr lang="en-US" b="1" dirty="0" smtClean="0">
                <a:latin typeface="+mn-lt"/>
                <a:ea typeface="Karla" pitchFamily="2" charset="0"/>
                <a:cs typeface="Karla" pitchFamily="2" charset="0"/>
              </a:rPr>
              <a:t>LECTURE</a:t>
            </a:r>
            <a:r>
              <a:rPr lang="en-US" sz="4400" b="1" dirty="0" smtClean="0">
                <a:latin typeface="+mn-lt"/>
                <a:ea typeface="Karla" pitchFamily="2" charset="0"/>
                <a:cs typeface="Karla" pitchFamily="2" charset="0"/>
              </a:rPr>
              <a:t> </a:t>
            </a:r>
            <a:r>
              <a:rPr lang="en-US" sz="4400" b="1" dirty="0">
                <a:latin typeface="+mn-lt"/>
                <a:ea typeface="Karla" pitchFamily="2" charset="0"/>
                <a:cs typeface="Karla" pitchFamily="2" charset="0"/>
              </a:rPr>
              <a:t>OUTCOMES</a:t>
            </a:r>
            <a:br>
              <a:rPr lang="en-US" sz="4400" b="1" dirty="0">
                <a:latin typeface="+mn-lt"/>
                <a:ea typeface="Karla" pitchFamily="2" charset="0"/>
                <a:cs typeface="Karla" pitchFamily="2" charset="0"/>
              </a:rPr>
            </a:br>
            <a:endParaRPr lang="en-US" sz="1600" dirty="0">
              <a:latin typeface="+mn-lt"/>
            </a:endParaRPr>
          </a:p>
        </p:txBody>
      </p:sp>
      <p:sp>
        <p:nvSpPr>
          <p:cNvPr id="3" name="Content Placeholder 2"/>
          <p:cNvSpPr>
            <a:spLocks noGrp="1"/>
          </p:cNvSpPr>
          <p:nvPr>
            <p:ph idx="1"/>
          </p:nvPr>
        </p:nvSpPr>
        <p:spPr>
          <a:xfrm>
            <a:off x="1143779" y="1746488"/>
            <a:ext cx="9126655" cy="4351338"/>
          </a:xfrm>
        </p:spPr>
        <p:txBody>
          <a:bodyPr>
            <a:normAutofit/>
          </a:bodyPr>
          <a:lstStyle/>
          <a:p>
            <a:pPr marL="0" indent="0" algn="just">
              <a:buNone/>
            </a:pPr>
            <a:r>
              <a:rPr lang="en-US" sz="2400" dirty="0" smtClean="0">
                <a:cs typeface="Arial" panose="020B0604020202020204" pitchFamily="34" charset="0"/>
              </a:rPr>
              <a:t>LECTURE </a:t>
            </a:r>
            <a:r>
              <a:rPr lang="en-US" sz="2400" dirty="0">
                <a:cs typeface="Arial" panose="020B0604020202020204" pitchFamily="34" charset="0"/>
              </a:rPr>
              <a:t>OBJECTIVES</a:t>
            </a:r>
          </a:p>
          <a:p>
            <a:r>
              <a:rPr lang="en-US" sz="2400" dirty="0">
                <a:cs typeface="Arial" panose="020B0604020202020204" pitchFamily="34" charset="0"/>
              </a:rPr>
              <a:t>To learn about the main factors upon which carrier generation and recombination depends in semiconductors.</a:t>
            </a:r>
          </a:p>
          <a:p>
            <a:pPr marL="0" indent="0" algn="just">
              <a:buNone/>
            </a:pPr>
            <a:endParaRPr lang="en-US" sz="2400" dirty="0">
              <a:cs typeface="Arial" panose="020B0604020202020204" pitchFamily="34" charset="0"/>
            </a:endParaRPr>
          </a:p>
          <a:p>
            <a:pPr marL="0" indent="0" algn="just">
              <a:buNone/>
            </a:pPr>
            <a:r>
              <a:rPr lang="en-US" sz="2400" dirty="0" smtClean="0">
                <a:cs typeface="Arial" panose="020B0604020202020204" pitchFamily="34" charset="0"/>
              </a:rPr>
              <a:t>LECTURE </a:t>
            </a:r>
            <a:r>
              <a:rPr lang="en-US" sz="2400" dirty="0">
                <a:cs typeface="Arial" panose="020B0604020202020204" pitchFamily="34" charset="0"/>
              </a:rPr>
              <a:t>OUTCOMES</a:t>
            </a:r>
          </a:p>
          <a:p>
            <a:pPr algn="just"/>
            <a:r>
              <a:rPr lang="en-US" sz="2400" dirty="0">
                <a:cs typeface="Arial" panose="020B0604020202020204" pitchFamily="34" charset="0"/>
              </a:rPr>
              <a:t>At the end of this lesson, student would gain knowledge about generation and recombination of charges in semiconductors .</a:t>
            </a:r>
          </a:p>
          <a:p>
            <a:pPr algn="just"/>
            <a:r>
              <a:rPr lang="en-US" sz="2400" dirty="0">
                <a:cs typeface="Arial" panose="020B0604020202020204" pitchFamily="34" charset="0"/>
              </a:rPr>
              <a:t>Also, student would be able to </a:t>
            </a:r>
            <a:r>
              <a:rPr lang="en-US" sz="2400" dirty="0">
                <a:ea typeface="Times New Roman"/>
                <a:cs typeface="Times New Roman"/>
              </a:rPr>
              <a:t>explain the basic concepts of semiconductor physics, use its principles in design of semiconductor devices and its applications</a:t>
            </a:r>
            <a:r>
              <a:rPr lang="en-US" sz="2400" dirty="0">
                <a:ea typeface="Times New Roman"/>
                <a:cs typeface="Arial" panose="020B0604020202020204" pitchFamily="34" charset="0"/>
              </a:rPr>
              <a:t>.</a:t>
            </a:r>
            <a:endParaRPr lang="en-US" sz="2400" dirty="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5</a:t>
            </a:fld>
            <a:endParaRPr lang="en-US" dirty="0"/>
          </a:p>
        </p:txBody>
      </p:sp>
    </p:spTree>
    <p:extLst>
      <p:ext uri="{BB962C8B-B14F-4D97-AF65-F5344CB8AC3E}">
        <p14:creationId xmlns:p14="http://schemas.microsoft.com/office/powerpoint/2010/main" xmlns="" val="4018097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931802" y="1668589"/>
            <a:ext cx="5164198" cy="4739316"/>
          </a:xfrm>
        </p:spPr>
        <p:txBody>
          <a:bodyPr>
            <a:noAutofit/>
          </a:bodyPr>
          <a:lstStyle/>
          <a:p>
            <a:pPr marL="285750" indent="-285750">
              <a:buFont typeface="Arial" panose="020B0604020202020204" pitchFamily="34" charset="0"/>
              <a:buChar char="•"/>
            </a:pPr>
            <a:r>
              <a:rPr lang="en-US" sz="2400" dirty="0"/>
              <a:t>Introduction: Basics and  importance of Semiconductors.</a:t>
            </a:r>
          </a:p>
          <a:p>
            <a:pPr marL="285750" indent="-285750">
              <a:buFont typeface="Arial" panose="020B0604020202020204" pitchFamily="34" charset="0"/>
              <a:buChar char="•"/>
            </a:pPr>
            <a:r>
              <a:rPr lang="en-US" sz="2400" dirty="0"/>
              <a:t>Definition of Semiconductors. </a:t>
            </a:r>
          </a:p>
          <a:p>
            <a:pPr marL="285750" indent="-285750">
              <a:buFont typeface="Arial" panose="020B0604020202020204" pitchFamily="34" charset="0"/>
              <a:buChar char="•"/>
            </a:pPr>
            <a:r>
              <a:rPr lang="en-US" sz="2400" dirty="0"/>
              <a:t>Carrier Generation and Recombination in semiconductors. </a:t>
            </a:r>
          </a:p>
          <a:p>
            <a:pPr marL="285750" indent="-285750">
              <a:buFont typeface="Arial" panose="020B0604020202020204" pitchFamily="34" charset="0"/>
              <a:buChar char="•"/>
            </a:pPr>
            <a:r>
              <a:rPr lang="en-US" sz="2400" dirty="0"/>
              <a:t> Semiconductor Devices.</a:t>
            </a:r>
            <a:endParaRPr lang="en-US" sz="2400" dirty="0">
              <a:cs typeface="Times New Roman" pitchFamily="18" charset="0"/>
            </a:endParaRPr>
          </a:p>
          <a:p>
            <a:pPr marL="285750" indent="-285750">
              <a:buFont typeface="Arial" panose="020B0604020202020204" pitchFamily="34" charset="0"/>
              <a:buChar char="•"/>
            </a:pPr>
            <a:r>
              <a:rPr lang="en-US" sz="2400" dirty="0">
                <a:cs typeface="Times New Roman" pitchFamily="18" charset="0"/>
              </a:rPr>
              <a:t>Applications of Semiconductor Devices.</a:t>
            </a:r>
            <a:endParaRPr lang="en-US" sz="2400" dirty="0"/>
          </a:p>
          <a:p>
            <a:endParaRPr lang="en-US" sz="2400" dirty="0"/>
          </a:p>
          <a:p>
            <a:endParaRPr lang="en-US" sz="2400" dirty="0">
              <a:latin typeface="Casper"/>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1092200" y="689860"/>
            <a:ext cx="3784600" cy="97872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r>
              <a:rPr lang="en-US" sz="2000" b="1" dirty="0">
                <a:latin typeface="Karla" pitchFamily="2" charset="0"/>
                <a:ea typeface="Karla" pitchFamily="2" charset="0"/>
                <a:cs typeface="Karla" pitchFamily="2" charset="0"/>
              </a:rPr>
              <a:t>  </a:t>
            </a: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 xmlns:a16="http://schemas.microsoft.com/office/drawing/2014/main" id="{9AC1FF21-6BDA-42A2-8336-2764170E5852}"/>
              </a:ext>
            </a:extLst>
          </p:cNvPr>
          <p:cNvSpPr txBox="1"/>
          <p:nvPr/>
        </p:nvSpPr>
        <p:spPr>
          <a:xfrm>
            <a:off x="6346208" y="5740310"/>
            <a:ext cx="4308539" cy="1015663"/>
          </a:xfrm>
          <a:prstGeom prst="rect">
            <a:avLst/>
          </a:prstGeom>
          <a:noFill/>
        </p:spPr>
        <p:txBody>
          <a:bodyPr wrap="square" rtlCol="0">
            <a:spAutoFit/>
          </a:bodyPr>
          <a:lstStyle/>
          <a:p>
            <a:endParaRPr lang="en-US" sz="2000" dirty="0"/>
          </a:p>
          <a:p>
            <a:r>
              <a:rPr lang="en-US" sz="2000" dirty="0"/>
              <a:t>Figure.1.2 Semiconductor </a:t>
            </a:r>
            <a:r>
              <a:rPr lang="en-US" sz="2000" dirty="0" smtClean="0"/>
              <a:t>Structure[2]</a:t>
            </a:r>
            <a:endParaRPr lang="en-US" sz="2000" dirty="0"/>
          </a:p>
          <a:p>
            <a:endParaRPr lang="en-US" sz="2000" dirty="0"/>
          </a:p>
        </p:txBody>
      </p:sp>
      <p:pic>
        <p:nvPicPr>
          <p:cNvPr id="12" name="Picture 11" descr="diode-diode2.gif">
            <a:extLst>
              <a:ext uri="{FF2B5EF4-FFF2-40B4-BE49-F238E27FC236}">
                <a16:creationId xmlns="" xmlns:a16="http://schemas.microsoft.com/office/drawing/2014/main" id="{123F0801-622D-41A4-BD14-BC5B46DFDCCF}"/>
              </a:ext>
            </a:extLst>
          </p:cNvPr>
          <p:cNvPicPr>
            <a:picLocks noChangeAspect="1"/>
          </p:cNvPicPr>
          <p:nvPr/>
        </p:nvPicPr>
        <p:blipFill>
          <a:blip r:embed="rId3" cstate="print"/>
          <a:stretch>
            <a:fillRect/>
          </a:stretch>
        </p:blipFill>
        <p:spPr>
          <a:xfrm>
            <a:off x="6096000" y="834887"/>
            <a:ext cx="5347855" cy="4988156"/>
          </a:xfrm>
          <a:prstGeom prst="rect">
            <a:avLst/>
          </a:prstGeom>
          <a:ln>
            <a:solidFill>
              <a:schemeClr val="tx1"/>
            </a:solidFill>
          </a:ln>
        </p:spPr>
      </p:pic>
    </p:spTree>
    <p:extLst>
      <p:ext uri="{BB962C8B-B14F-4D97-AF65-F5344CB8AC3E}">
        <p14:creationId xmlns:p14="http://schemas.microsoft.com/office/powerpoint/2010/main" xmlns="" val="693801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 xmlns:a16="http://schemas.microsoft.com/office/drawing/2014/main" id="{FB8A8FD3-2216-4D1A-A117-643049D48EFB}"/>
              </a:ext>
            </a:extLst>
          </p:cNvPr>
          <p:cNvSpPr>
            <a:spLocks noGrp="1"/>
          </p:cNvSpPr>
          <p:nvPr>
            <p:ph type="body" sz="half" idx="2"/>
          </p:nvPr>
        </p:nvSpPr>
        <p:spPr>
          <a:xfrm>
            <a:off x="92766" y="1257300"/>
            <a:ext cx="7633251" cy="6521726"/>
          </a:xfrm>
        </p:spPr>
        <p:txBody>
          <a:bodyPr>
            <a:noAutofit/>
          </a:bodyPr>
          <a:lstStyle/>
          <a:p>
            <a:pPr marL="342900" indent="-342900" algn="just">
              <a:buFont typeface="Arial" panose="020B0604020202020204" pitchFamily="34" charset="0"/>
              <a:buChar char="•"/>
            </a:pPr>
            <a:r>
              <a:rPr lang="en-US" sz="2200" dirty="0"/>
              <a:t>Semiconductors are the foundation of modern day electronics such as radio, computers and mobile phones. Semiconductor material is used in the manufacturing of electrical components and used in electronic devices such as transistors and diodes. </a:t>
            </a:r>
            <a:r>
              <a:rPr lang="en-US" sz="2200" dirty="0">
                <a:cs typeface="Calibri" panose="020F0502020204030204" pitchFamily="34" charset="0"/>
              </a:rPr>
              <a:t> </a:t>
            </a:r>
          </a:p>
          <a:p>
            <a:pPr marL="342900" indent="-342900" algn="just">
              <a:buFont typeface="Arial" panose="020B0604020202020204" pitchFamily="34" charset="0"/>
              <a:buChar char="•"/>
            </a:pPr>
            <a:r>
              <a:rPr lang="en-US" sz="2200" dirty="0"/>
              <a:t>Semiconductors are especially important as varying conditions like temperature and impurity content can easily change their conductivity. The combination of various semiconductor types together generates devices with special electrical properties, which allow control of electrical signals. </a:t>
            </a:r>
          </a:p>
          <a:p>
            <a:pPr marL="342900" indent="-342900" algn="just">
              <a:buFont typeface="Arial" panose="020B0604020202020204" pitchFamily="34" charset="0"/>
              <a:buChar char="•"/>
            </a:pPr>
            <a:r>
              <a:rPr lang="en-US" sz="2200" dirty="0"/>
              <a:t>Imagine a world without electronics if these materials were not discovered. Despite the fact that vacuum tubes can be used to replace them, using semiconductors has made electronics faster, reliable and a lot smaller in size. </a:t>
            </a:r>
          </a:p>
          <a:p>
            <a:pPr marL="342900" indent="-342900" algn="just">
              <a:buFont typeface="Arial" panose="020B0604020202020204" pitchFamily="34" charset="0"/>
              <a:buChar char="•"/>
            </a:pPr>
            <a:r>
              <a:rPr lang="en-US" sz="2200" dirty="0"/>
              <a:t>Also, they have allowed for creation of electrical devices with special capabilities which can be used for various purposes.</a:t>
            </a:r>
            <a:endParaRPr lang="en-US" sz="2200" dirty="0">
              <a:cs typeface="Calibri" panose="020F0502020204030204" pitchFamily="34" charset="0"/>
            </a:endParaRPr>
          </a:p>
        </p:txBody>
      </p:sp>
      <p:sp>
        <p:nvSpPr>
          <p:cNvPr id="5" name="Slide Number Placeholder 4">
            <a:extLst>
              <a:ext uri="{FF2B5EF4-FFF2-40B4-BE49-F238E27FC236}">
                <a16:creationId xmlns="" xmlns:a16="http://schemas.microsoft.com/office/drawing/2014/main" id="{B89F61E9-A092-4046-AE99-53D670CFDFEB}"/>
              </a:ext>
            </a:extLst>
          </p:cNvPr>
          <p:cNvSpPr>
            <a:spLocks noGrp="1"/>
          </p:cNvSpPr>
          <p:nvPr>
            <p:ph type="sldNum" sz="quarter" idx="12"/>
          </p:nvPr>
        </p:nvSpPr>
        <p:spPr>
          <a:xfrm>
            <a:off x="7726017" y="5662820"/>
            <a:ext cx="3896140" cy="931944"/>
          </a:xfrm>
        </p:spPr>
        <p:txBody>
          <a:bodyPr/>
          <a:lstStyle/>
          <a:p>
            <a:r>
              <a:rPr lang="en-US" sz="2000" dirty="0">
                <a:solidFill>
                  <a:schemeClr val="tx1"/>
                </a:solidFill>
              </a:rPr>
              <a:t>Figure 1.3   Introduction  to </a:t>
            </a:r>
            <a:r>
              <a:rPr lang="en-US" sz="2000" dirty="0" smtClean="0">
                <a:solidFill>
                  <a:schemeClr val="tx1"/>
                </a:solidFill>
              </a:rPr>
              <a:t>semiconductors[3] </a:t>
            </a:r>
            <a:endParaRPr lang="en-US" sz="2000" dirty="0"/>
          </a:p>
          <a:p>
            <a:endParaRPr lang="en-US" dirty="0"/>
          </a:p>
        </p:txBody>
      </p:sp>
      <p:sp>
        <p:nvSpPr>
          <p:cNvPr id="8" name="Title 7">
            <a:extLst>
              <a:ext uri="{FF2B5EF4-FFF2-40B4-BE49-F238E27FC236}">
                <a16:creationId xmlns="" xmlns:a16="http://schemas.microsoft.com/office/drawing/2014/main" id="{A5A0E24F-D82A-42A9-A894-07ECB81CF88A}"/>
              </a:ext>
            </a:extLst>
          </p:cNvPr>
          <p:cNvSpPr>
            <a:spLocks noGrp="1"/>
          </p:cNvSpPr>
          <p:nvPr>
            <p:ph type="title"/>
          </p:nvPr>
        </p:nvSpPr>
        <p:spPr>
          <a:xfrm>
            <a:off x="1189163" y="273703"/>
            <a:ext cx="7633251" cy="909731"/>
          </a:xfrm>
        </p:spPr>
        <p:txBody>
          <a:bodyPr>
            <a:normAutofit fontScale="90000"/>
          </a:bodyPr>
          <a:lstStyle/>
          <a:p>
            <a:pPr algn="just"/>
            <a:r>
              <a:rPr lang="en-US" sz="4400" b="1" dirty="0">
                <a:latin typeface="+mn-lt"/>
              </a:rPr>
              <a:t>WHY TO STUDY SEMICONDUCTORS</a:t>
            </a:r>
          </a:p>
        </p:txBody>
      </p:sp>
      <p:pic>
        <p:nvPicPr>
          <p:cNvPr id="7" name="Picture 2" descr="Image result for semiconductor">
            <a:extLst>
              <a:ext uri="{FF2B5EF4-FFF2-40B4-BE49-F238E27FC236}">
                <a16:creationId xmlns="" xmlns:a16="http://schemas.microsoft.com/office/drawing/2014/main" id="{D5A10283-BB60-4FB7-B0CB-F2C3A8E44A7D}"/>
              </a:ext>
            </a:extLst>
          </p:cNvPr>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792085" y="1351722"/>
            <a:ext cx="4031185" cy="4311098"/>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90025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181775"/>
          </a:xfrm>
        </p:spPr>
        <p:txBody>
          <a:bodyPr/>
          <a:lstStyle/>
          <a:p>
            <a:pPr algn="ctr"/>
            <a:r>
              <a:rPr lang="en-US" dirty="0">
                <a:latin typeface="+mn-lt"/>
              </a:rPr>
              <a:t>SEMICONDUCTORS</a:t>
            </a: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3" name="Content Placeholder 2"/>
          <p:cNvSpPr>
            <a:spLocks noGrp="1"/>
          </p:cNvSpPr>
          <p:nvPr>
            <p:ph idx="1"/>
          </p:nvPr>
        </p:nvSpPr>
        <p:spPr>
          <a:xfrm>
            <a:off x="838200" y="2220533"/>
            <a:ext cx="10515600" cy="4277106"/>
          </a:xfrm>
        </p:spPr>
        <p:txBody>
          <a:bodyPr>
            <a:noAutofit/>
          </a:bodyPr>
          <a:lstStyle/>
          <a:p>
            <a:pPr>
              <a:buNone/>
            </a:pPr>
            <a:r>
              <a:rPr lang="en-US" sz="2400" b="1" dirty="0">
                <a:solidFill>
                  <a:srgbClr val="002060"/>
                </a:solidFill>
              </a:rPr>
              <a:t>   </a:t>
            </a:r>
          </a:p>
          <a:p>
            <a:pPr algn="just"/>
            <a:r>
              <a:rPr lang="en-US" sz="2400" b="1" dirty="0">
                <a:cs typeface="Calibri" panose="020F0502020204030204" pitchFamily="34" charset="0"/>
              </a:rPr>
              <a:t>Semiconductors </a:t>
            </a:r>
            <a:r>
              <a:rPr lang="en-US" sz="2400" dirty="0">
                <a:cs typeface="Calibri" panose="020F0502020204030204" pitchFamily="34" charset="0"/>
              </a:rPr>
              <a:t>are materials that have electrical conductivity between conductors such as most metals and nonconductors and insulators like ceramics. </a:t>
            </a:r>
            <a:r>
              <a:rPr lang="en-US" sz="2400" b="1" dirty="0">
                <a:cs typeface="Calibri" panose="020F0502020204030204" pitchFamily="34" charset="0"/>
              </a:rPr>
              <a:t>How much electricity </a:t>
            </a:r>
            <a:r>
              <a:rPr lang="en-US" sz="2400" dirty="0">
                <a:cs typeface="Calibri" panose="020F0502020204030204" pitchFamily="34" charset="0"/>
              </a:rPr>
              <a:t>a semiconductor can conduct depends upon material and its mixture content. </a:t>
            </a:r>
            <a:endParaRPr lang="en-US" sz="2400" b="1" dirty="0">
              <a:cs typeface="Adobe Hebrew" pitchFamily="18" charset="-79"/>
            </a:endParaRPr>
          </a:p>
          <a:p>
            <a:r>
              <a:rPr lang="en-US" sz="2400" dirty="0">
                <a:cs typeface="Calibri" panose="020F0502020204030204" pitchFamily="34" charset="0"/>
              </a:rPr>
              <a:t>Semiconductors can be insulators </a:t>
            </a:r>
            <a:r>
              <a:rPr lang="en-US" sz="2400" b="1" dirty="0">
                <a:cs typeface="Calibri" panose="020F0502020204030204" pitchFamily="34" charset="0"/>
              </a:rPr>
              <a:t>at low temperature</a:t>
            </a:r>
            <a:r>
              <a:rPr lang="en-US" sz="2400" dirty="0">
                <a:cs typeface="Calibri" panose="020F0502020204030204" pitchFamily="34" charset="0"/>
              </a:rPr>
              <a:t> and conductor </a:t>
            </a:r>
            <a:r>
              <a:rPr lang="en-US" sz="2400" b="1" dirty="0">
                <a:cs typeface="Calibri" panose="020F0502020204030204" pitchFamily="34" charset="0"/>
              </a:rPr>
              <a:t>at high temperature.</a:t>
            </a:r>
          </a:p>
          <a:p>
            <a:r>
              <a:rPr lang="en-US" sz="2400" dirty="0"/>
              <a:t>As they are used in the fabrication of electronic devices, semiconductors play an important role in our lives.</a:t>
            </a:r>
            <a:endParaRPr lang="en-US" sz="2400" b="1" dirty="0"/>
          </a:p>
          <a:p>
            <a:pPr marL="0" indent="0" algn="just">
              <a:buNone/>
            </a:pPr>
            <a:endParaRPr lang="en-IN" sz="2400" dirty="0"/>
          </a:p>
          <a:p>
            <a:pPr algn="just"/>
            <a:endParaRPr lang="en-IN" sz="24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Rectangle 4"/>
          <p:cNvSpPr/>
          <p:nvPr/>
        </p:nvSpPr>
        <p:spPr>
          <a:xfrm>
            <a:off x="838200" y="1378226"/>
            <a:ext cx="10515600" cy="480722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07352"/>
            <a:ext cx="10515600" cy="1276904"/>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Down Arrow 3">
            <a:extLst>
              <a:ext uri="{FF2B5EF4-FFF2-40B4-BE49-F238E27FC236}">
                <a16:creationId xmlns="" xmlns:a16="http://schemas.microsoft.com/office/drawing/2014/main" id="{676B28E0-14A0-45D5-B04B-73ECA1E08CF3}"/>
              </a:ext>
            </a:extLst>
          </p:cNvPr>
          <p:cNvSpPr>
            <a:spLocks noChangeArrowheads="1"/>
          </p:cNvSpPr>
          <p:nvPr/>
        </p:nvSpPr>
        <p:spPr bwMode="auto">
          <a:xfrm>
            <a:off x="5867400" y="1542136"/>
            <a:ext cx="457200" cy="762000"/>
          </a:xfrm>
          <a:prstGeom prst="downArrow">
            <a:avLst>
              <a:gd name="adj1" fmla="val 50000"/>
              <a:gd name="adj2" fmla="val 50000"/>
            </a:avLst>
          </a:prstGeom>
          <a:solidFill>
            <a:srgbClr val="860000"/>
          </a:solidFill>
          <a:ln w="9525" algn="ctr">
            <a:solidFill>
              <a:schemeClr val="tx1"/>
            </a:solidFill>
            <a:round/>
            <a:headEnd/>
            <a:tailEnd/>
          </a:ln>
        </p:spPr>
        <p:txBody>
          <a:bodyPr/>
          <a:lstStyle/>
          <a:p>
            <a:pPr eaLnBrk="0" hangingPunct="0"/>
            <a:endParaRPr lang="en-IN"/>
          </a:p>
        </p:txBody>
      </p:sp>
    </p:spTree>
    <p:extLst>
      <p:ext uri="{BB962C8B-B14F-4D97-AF65-F5344CB8AC3E}">
        <p14:creationId xmlns:p14="http://schemas.microsoft.com/office/powerpoint/2010/main" xmlns="" val="823702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pPr algn="ctr"/>
            <a:r>
              <a:rPr lang="en-US" b="1" dirty="0">
                <a:latin typeface="+mn-lt"/>
              </a:rPr>
              <a:t>CARRIER GENERATION AND RECOMBINATION IN SEMICONDUCTORS	  </a:t>
            </a: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
        <p:nvSpPr>
          <p:cNvPr id="5" name="Rectangle 4"/>
          <p:cNvSpPr/>
          <p:nvPr/>
        </p:nvSpPr>
        <p:spPr>
          <a:xfrm>
            <a:off x="838200" y="1829905"/>
            <a:ext cx="10515600"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 xmlns:a16="http://schemas.microsoft.com/office/drawing/2014/main" id="{568763C2-B7D6-4AC0-A537-983CDC580386}"/>
              </a:ext>
            </a:extLst>
          </p:cNvPr>
          <p:cNvSpPr>
            <a:spLocks noGrp="1"/>
          </p:cNvSpPr>
          <p:nvPr>
            <p:ph idx="1"/>
          </p:nvPr>
        </p:nvSpPr>
        <p:spPr>
          <a:xfrm>
            <a:off x="838200" y="1829904"/>
            <a:ext cx="3644900" cy="4120321"/>
          </a:xfrm>
        </p:spPr>
        <p:txBody>
          <a:bodyPr>
            <a:normAutofit fontScale="40000" lnSpcReduction="20000"/>
          </a:bodyPr>
          <a:lstStyle/>
          <a:p>
            <a:pPr algn="just">
              <a:lnSpc>
                <a:spcPct val="150000"/>
              </a:lnSpc>
            </a:pPr>
            <a:r>
              <a:rPr lang="en-US" sz="6000" dirty="0"/>
              <a:t>With the application of external energy source charge carriers are generated in the respective regions and combination of charge carriers also take place in depletion region.</a:t>
            </a:r>
          </a:p>
          <a:p>
            <a:endParaRPr lang="en-US" dirty="0"/>
          </a:p>
        </p:txBody>
      </p:sp>
      <p:pic>
        <p:nvPicPr>
          <p:cNvPr id="9" name="Picture 4" descr="C:\Users\Administrator\Desktop\avalanche.png">
            <a:extLst>
              <a:ext uri="{FF2B5EF4-FFF2-40B4-BE49-F238E27FC236}">
                <a16:creationId xmlns="" xmlns:a16="http://schemas.microsoft.com/office/drawing/2014/main" id="{A0B0D93A-CDF1-4111-8A61-9BD67FD7D672}"/>
              </a:ext>
            </a:extLst>
          </p:cNvPr>
          <p:cNvPicPr>
            <a:picLocks noChangeAspect="1" noChangeArrowheads="1"/>
          </p:cNvPicPr>
          <p:nvPr/>
        </p:nvPicPr>
        <p:blipFill>
          <a:blip r:embed="rId2" cstate="print"/>
          <a:srcRect/>
          <a:stretch>
            <a:fillRect/>
          </a:stretch>
        </p:blipFill>
        <p:spPr bwMode="auto">
          <a:xfrm>
            <a:off x="5247861" y="1850224"/>
            <a:ext cx="6105939" cy="3632717"/>
          </a:xfrm>
          <a:prstGeom prst="rect">
            <a:avLst/>
          </a:prstGeom>
          <a:noFill/>
        </p:spPr>
      </p:pic>
      <p:sp>
        <p:nvSpPr>
          <p:cNvPr id="10" name="Rectangle 9">
            <a:extLst>
              <a:ext uri="{FF2B5EF4-FFF2-40B4-BE49-F238E27FC236}">
                <a16:creationId xmlns="" xmlns:a16="http://schemas.microsoft.com/office/drawing/2014/main" id="{E894A19C-0AB3-4641-B702-A5995ACE4EDD}"/>
              </a:ext>
            </a:extLst>
          </p:cNvPr>
          <p:cNvSpPr/>
          <p:nvPr/>
        </p:nvSpPr>
        <p:spPr>
          <a:xfrm>
            <a:off x="5247861" y="5538165"/>
            <a:ext cx="3896139" cy="369332"/>
          </a:xfrm>
          <a:prstGeom prst="rect">
            <a:avLst/>
          </a:prstGeom>
        </p:spPr>
        <p:txBody>
          <a:bodyPr wrap="square">
            <a:spAutoFit/>
          </a:bodyPr>
          <a:lstStyle/>
          <a:p>
            <a:r>
              <a:rPr lang="en-US" dirty="0"/>
              <a:t>         Figure.1.4 Depletion </a:t>
            </a:r>
            <a:r>
              <a:rPr lang="en-US" dirty="0" smtClean="0"/>
              <a:t>Region[4]</a:t>
            </a:r>
            <a:endParaRPr lang="en-US" dirty="0"/>
          </a:p>
        </p:txBody>
      </p:sp>
    </p:spTree>
    <p:extLst>
      <p:ext uri="{BB962C8B-B14F-4D97-AF65-F5344CB8AC3E}">
        <p14:creationId xmlns:p14="http://schemas.microsoft.com/office/powerpoint/2010/main" xmlns="" val="2720856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610600" y="6356350"/>
            <a:ext cx="2743200" cy="365125"/>
          </a:xfrm>
        </p:spPr>
        <p:txBody>
          <a:bodyPr/>
          <a:lstStyle/>
          <a:p>
            <a:fld id="{BDCDBBEF-AA6C-4BA6-85B2-A17D7F280E38}" type="slidenum">
              <a:rPr lang="en-US" smtClean="0"/>
              <a:pPr/>
              <a:t>10</a:t>
            </a:fld>
            <a:endParaRPr lang="en-US"/>
          </a:p>
        </p:txBody>
      </p:sp>
      <p:sp>
        <p:nvSpPr>
          <p:cNvPr id="3" name="Content Placeholder 2">
            <a:extLst>
              <a:ext uri="{FF2B5EF4-FFF2-40B4-BE49-F238E27FC236}">
                <a16:creationId xmlns="" xmlns:a16="http://schemas.microsoft.com/office/drawing/2014/main" id="{939236DC-B4F9-405C-85E3-80623B3E54FA}"/>
              </a:ext>
            </a:extLst>
          </p:cNvPr>
          <p:cNvSpPr>
            <a:spLocks noGrp="1"/>
          </p:cNvSpPr>
          <p:nvPr>
            <p:ph idx="1"/>
          </p:nvPr>
        </p:nvSpPr>
        <p:spPr>
          <a:xfrm>
            <a:off x="145774" y="1550504"/>
            <a:ext cx="5221357" cy="4626458"/>
          </a:xfrm>
        </p:spPr>
        <p:txBody>
          <a:bodyPr>
            <a:noAutofit/>
          </a:bodyPr>
          <a:lstStyle/>
          <a:p>
            <a:pPr algn="just"/>
            <a:r>
              <a:rPr lang="en-US" sz="2400" dirty="0"/>
              <a:t>When a semiconductor is in a </a:t>
            </a:r>
            <a:r>
              <a:rPr lang="en-US" sz="2400" dirty="0" smtClean="0"/>
              <a:t>non equilibrium </a:t>
            </a:r>
            <a:r>
              <a:rPr lang="en-US" sz="2400" dirty="0"/>
              <a:t>state, electron and hole concentrations will change. As light illuminates a portion of the substrate, several electrons gain energy and jump to the conduction band, leaving an equal number of holes behind in the valence band. </a:t>
            </a:r>
            <a:r>
              <a:rPr lang="en-US" sz="2400" b="1" dirty="0"/>
              <a:t>This is known as carrier generation (Figure-1.5).</a:t>
            </a:r>
          </a:p>
          <a:p>
            <a:pPr algn="just"/>
            <a:r>
              <a:rPr lang="en-US" sz="2400" dirty="0"/>
              <a:t>We will denote the generation rates of electrons and holes, respectively, by </a:t>
            </a:r>
            <a:r>
              <a:rPr lang="en-US" sz="2400" dirty="0" err="1"/>
              <a:t>Gn</a:t>
            </a:r>
            <a:r>
              <a:rPr lang="en-US" sz="2400" dirty="0"/>
              <a:t> and </a:t>
            </a:r>
            <a:r>
              <a:rPr lang="en-US" sz="2400" dirty="0" err="1"/>
              <a:t>Gp</a:t>
            </a:r>
            <a:r>
              <a:rPr lang="en-US" sz="2400" dirty="0"/>
              <a:t>, which have units of carrier concentration per unit time. </a:t>
            </a:r>
          </a:p>
        </p:txBody>
      </p:sp>
      <p:pic>
        <p:nvPicPr>
          <p:cNvPr id="6" name="Picture 5" descr="Bio-Microsystems 고려대학교 Center for MNB Sensor Technology Nam ...">
            <a:extLst>
              <a:ext uri="{FF2B5EF4-FFF2-40B4-BE49-F238E27FC236}">
                <a16:creationId xmlns="" xmlns:a16="http://schemas.microsoft.com/office/drawing/2014/main" id="{8A0F1B0C-9CB3-4620-87CB-98CC51A210BB}"/>
              </a:ext>
            </a:extLst>
          </p:cNvPr>
          <p:cNvPicPr>
            <a:picLocks/>
          </p:cNvPicPr>
          <p:nvPr/>
        </p:nvPicPr>
        <p:blipFill>
          <a:blip r:embed="rId2">
            <a:extLst>
              <a:ext uri="{28A0092B-C50C-407E-A947-70E740481C1C}">
                <a14:useLocalDpi xmlns:a14="http://schemas.microsoft.com/office/drawing/2010/main" xmlns="" val="0"/>
              </a:ext>
            </a:extLst>
          </a:blip>
          <a:srcRect/>
          <a:stretch>
            <a:fillRect/>
          </a:stretch>
        </p:blipFill>
        <p:spPr bwMode="auto">
          <a:xfrm>
            <a:off x="5685183" y="1550504"/>
            <a:ext cx="6122504" cy="4626458"/>
          </a:xfrm>
          <a:prstGeom prst="rect">
            <a:avLst/>
          </a:prstGeom>
          <a:noFill/>
          <a:ln>
            <a:noFill/>
          </a:ln>
        </p:spPr>
      </p:pic>
      <p:sp>
        <p:nvSpPr>
          <p:cNvPr id="7" name="TextBox 6">
            <a:extLst>
              <a:ext uri="{FF2B5EF4-FFF2-40B4-BE49-F238E27FC236}">
                <a16:creationId xmlns="" xmlns:a16="http://schemas.microsoft.com/office/drawing/2014/main" id="{0F873207-29E1-4D58-A7DC-602B2C693645}"/>
              </a:ext>
            </a:extLst>
          </p:cNvPr>
          <p:cNvSpPr txBox="1"/>
          <p:nvPr/>
        </p:nvSpPr>
        <p:spPr>
          <a:xfrm>
            <a:off x="1378226" y="499510"/>
            <a:ext cx="9130748" cy="707886"/>
          </a:xfrm>
          <a:prstGeom prst="rect">
            <a:avLst/>
          </a:prstGeom>
          <a:noFill/>
        </p:spPr>
        <p:txBody>
          <a:bodyPr wrap="square" rtlCol="0">
            <a:spAutoFit/>
          </a:bodyPr>
          <a:lstStyle/>
          <a:p>
            <a:r>
              <a:rPr lang="en-US" sz="4000" dirty="0"/>
              <a:t>Carrier Generation in  Semiconductors</a:t>
            </a:r>
          </a:p>
        </p:txBody>
      </p:sp>
      <p:sp>
        <p:nvSpPr>
          <p:cNvPr id="9" name="TextBox 8">
            <a:extLst>
              <a:ext uri="{FF2B5EF4-FFF2-40B4-BE49-F238E27FC236}">
                <a16:creationId xmlns="" xmlns:a16="http://schemas.microsoft.com/office/drawing/2014/main" id="{18F3A8B5-02B8-4003-84DC-411061336552}"/>
              </a:ext>
            </a:extLst>
          </p:cNvPr>
          <p:cNvSpPr txBox="1"/>
          <p:nvPr/>
        </p:nvSpPr>
        <p:spPr>
          <a:xfrm>
            <a:off x="6190735" y="6488668"/>
            <a:ext cx="5511113" cy="369332"/>
          </a:xfrm>
          <a:prstGeom prst="rect">
            <a:avLst/>
          </a:prstGeom>
          <a:noFill/>
        </p:spPr>
        <p:txBody>
          <a:bodyPr wrap="square" rtlCol="0">
            <a:spAutoFit/>
          </a:bodyPr>
          <a:lstStyle/>
          <a:p>
            <a:r>
              <a:rPr lang="en-US" dirty="0"/>
              <a:t>Figure.1.5 Carrier Generation in </a:t>
            </a:r>
            <a:r>
              <a:rPr lang="en-US" dirty="0" smtClean="0"/>
              <a:t>Semiconductors[5]</a:t>
            </a:r>
            <a:endParaRPr lang="en-US" dirty="0"/>
          </a:p>
        </p:txBody>
      </p:sp>
    </p:spTree>
    <p:extLst>
      <p:ext uri="{BB962C8B-B14F-4D97-AF65-F5344CB8AC3E}">
        <p14:creationId xmlns:p14="http://schemas.microsoft.com/office/powerpoint/2010/main" xmlns="" val="4281365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latin typeface="+mn-lt"/>
              </a:rPr>
              <a:t>  </a:t>
            </a:r>
            <a:r>
              <a:rPr lang="en-US" sz="4000" b="1" dirty="0">
                <a:latin typeface="+mn-lt"/>
              </a:rPr>
              <a:t>CARRIER RECOMBINATION IN SEMICONDUCTORS</a:t>
            </a:r>
            <a:endParaRPr lang="en-IN" sz="4000" b="1" dirty="0">
              <a:latin typeface="+mn-lt"/>
            </a:endParaRPr>
          </a:p>
        </p:txBody>
      </p:sp>
      <p:pic>
        <p:nvPicPr>
          <p:cNvPr id="4" name="Picture 3" descr="Electron-hole recombination | Article about electron-hole ...">
            <a:extLst>
              <a:ext uri="{FF2B5EF4-FFF2-40B4-BE49-F238E27FC236}">
                <a16:creationId xmlns="" xmlns:a16="http://schemas.microsoft.com/office/drawing/2014/main" id="{B1FEC569-0A68-4D08-B4DC-65CABDADE9C3}"/>
              </a:ext>
            </a:extLst>
          </p:cNvPr>
          <p:cNvPicPr/>
          <p:nvPr/>
        </p:nvPicPr>
        <p:blipFill>
          <a:blip r:embed="rId2">
            <a:extLst>
              <a:ext uri="{28A0092B-C50C-407E-A947-70E740481C1C}">
                <a14:useLocalDpi xmlns:a14="http://schemas.microsoft.com/office/drawing/2010/main" xmlns="" val="0"/>
              </a:ext>
            </a:extLst>
          </a:blip>
          <a:srcRect/>
          <a:stretch>
            <a:fillRect/>
          </a:stretch>
        </p:blipFill>
        <p:spPr bwMode="auto">
          <a:xfrm>
            <a:off x="5049078" y="1987826"/>
            <a:ext cx="6679096" cy="3692888"/>
          </a:xfrm>
          <a:prstGeom prst="rect">
            <a:avLst/>
          </a:prstGeom>
          <a:noFill/>
          <a:ln>
            <a:noFill/>
          </a:ln>
        </p:spPr>
      </p:pic>
      <p:sp>
        <p:nvSpPr>
          <p:cNvPr id="6" name="TextBox 5">
            <a:extLst>
              <a:ext uri="{FF2B5EF4-FFF2-40B4-BE49-F238E27FC236}">
                <a16:creationId xmlns="" xmlns:a16="http://schemas.microsoft.com/office/drawing/2014/main" id="{5B3FB61E-83CC-4236-A8D4-3B5810D7D01F}"/>
              </a:ext>
            </a:extLst>
          </p:cNvPr>
          <p:cNvSpPr txBox="1"/>
          <p:nvPr/>
        </p:nvSpPr>
        <p:spPr>
          <a:xfrm>
            <a:off x="0" y="1895061"/>
            <a:ext cx="5049079" cy="3785652"/>
          </a:xfrm>
          <a:prstGeom prst="rect">
            <a:avLst/>
          </a:prstGeom>
          <a:noFill/>
        </p:spPr>
        <p:txBody>
          <a:bodyPr wrap="square" rtlCol="0">
            <a:spAutoFit/>
          </a:bodyPr>
          <a:lstStyle/>
          <a:p>
            <a:pPr algn="just"/>
            <a:r>
              <a:rPr lang="en-US" sz="2400" dirty="0"/>
              <a:t>Generation and Recombination occurs when electrons make transition from valence band to conduction band in semiconductor and due to thermal agitation electrons and holes continue to generate in nature of random movements. Merging of free electrons and holes occurs which is </a:t>
            </a:r>
            <a:r>
              <a:rPr lang="en-US" sz="2400" b="1" dirty="0"/>
              <a:t>called recombination</a:t>
            </a:r>
            <a:r>
              <a:rPr lang="en-US" sz="2400" dirty="0"/>
              <a:t> as a hole vacancy created by electron.</a:t>
            </a:r>
          </a:p>
        </p:txBody>
      </p:sp>
      <p:sp>
        <p:nvSpPr>
          <p:cNvPr id="8" name="TextBox 7">
            <a:extLst>
              <a:ext uri="{FF2B5EF4-FFF2-40B4-BE49-F238E27FC236}">
                <a16:creationId xmlns="" xmlns:a16="http://schemas.microsoft.com/office/drawing/2014/main" id="{0142A821-664E-443B-B1BC-CAA2DBAA4E06}"/>
              </a:ext>
            </a:extLst>
          </p:cNvPr>
          <p:cNvSpPr txBox="1"/>
          <p:nvPr/>
        </p:nvSpPr>
        <p:spPr>
          <a:xfrm>
            <a:off x="4850296" y="5977851"/>
            <a:ext cx="6258428" cy="646331"/>
          </a:xfrm>
          <a:prstGeom prst="rect">
            <a:avLst/>
          </a:prstGeom>
          <a:noFill/>
        </p:spPr>
        <p:txBody>
          <a:bodyPr wrap="square" rtlCol="0">
            <a:spAutoFit/>
          </a:bodyPr>
          <a:lstStyle/>
          <a:p>
            <a:r>
              <a:rPr lang="en-US" dirty="0"/>
              <a:t>Figure.1.6 Carrier Recombination in </a:t>
            </a:r>
            <a:r>
              <a:rPr lang="en-US" dirty="0" smtClean="0"/>
              <a:t>Semiconductors[6]</a:t>
            </a:r>
            <a:endParaRPr lang="en-US" dirty="0"/>
          </a:p>
          <a:p>
            <a:endParaRPr lang="en-US" dirty="0"/>
          </a:p>
        </p:txBody>
      </p:sp>
    </p:spTree>
    <p:extLst>
      <p:ext uri="{BB962C8B-B14F-4D97-AF65-F5344CB8AC3E}">
        <p14:creationId xmlns:p14="http://schemas.microsoft.com/office/powerpoint/2010/main" xmlns="" val="2896385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fontScale="90000"/>
          </a:bodyPr>
          <a:lstStyle/>
          <a:p>
            <a:pPr algn="ctr"/>
            <a:r>
              <a:rPr lang="en-US" b="1" dirty="0">
                <a:latin typeface="+mn-lt"/>
              </a:rPr>
              <a:t>CARRIER CONCENTRATION IN N-TYPE AND P-TYPE SEMICONDUCTORS</a:t>
            </a:r>
          </a:p>
        </p:txBody>
      </p:sp>
      <p:sp>
        <p:nvSpPr>
          <p:cNvPr id="3" name="Content Placeholder 2"/>
          <p:cNvSpPr>
            <a:spLocks noGrp="1"/>
          </p:cNvSpPr>
          <p:nvPr>
            <p:ph idx="1"/>
          </p:nvPr>
        </p:nvSpPr>
        <p:spPr/>
        <p:txBody>
          <a:bodyPr>
            <a:normAutofit/>
          </a:bodyPr>
          <a:lstStyle/>
          <a:p>
            <a:r>
              <a:rPr lang="en-US" sz="2400" dirty="0"/>
              <a:t>The free electron and hole concentrations are related by the Law of Electrical Neutrality i.e. Total positive charge density is equal to the total negative charge density </a:t>
            </a:r>
          </a:p>
          <a:p>
            <a:r>
              <a:rPr lang="en-US" sz="2400" dirty="0"/>
              <a:t>Let N</a:t>
            </a:r>
            <a:r>
              <a:rPr lang="en-US" sz="2400" baseline="-25000" dirty="0"/>
              <a:t>D</a:t>
            </a:r>
            <a:r>
              <a:rPr lang="en-US" sz="2400" dirty="0"/>
              <a:t> = Concentration of donor atoms = no. of positive charges/m</a:t>
            </a:r>
            <a:r>
              <a:rPr lang="en-US" sz="2400" baseline="30000" dirty="0"/>
              <a:t>3</a:t>
            </a:r>
            <a:endParaRPr lang="en-US" sz="2400" dirty="0"/>
          </a:p>
          <a:p>
            <a:pPr marL="0" indent="0">
              <a:buNone/>
            </a:pPr>
            <a:r>
              <a:rPr lang="en-US" sz="2400" dirty="0"/>
              <a:t> contributed by donor ions</a:t>
            </a:r>
            <a:r>
              <a:rPr lang="en-US" sz="2400" dirty="0">
                <a:solidFill>
                  <a:srgbClr val="1C1C1C"/>
                </a:solidFill>
              </a:rPr>
              <a:t>.</a:t>
            </a:r>
          </a:p>
          <a:p>
            <a:r>
              <a:rPr lang="en-US" sz="2400" dirty="0"/>
              <a:t>p = hole concentration </a:t>
            </a:r>
          </a:p>
          <a:p>
            <a:r>
              <a:rPr lang="en-US" sz="2400" dirty="0"/>
              <a:t>N</a:t>
            </a:r>
            <a:r>
              <a:rPr lang="en-US" sz="2400" baseline="-25000" dirty="0"/>
              <a:t>A</a:t>
            </a:r>
            <a:r>
              <a:rPr lang="en-US" sz="2400" dirty="0"/>
              <a:t>=Concentration of acceptor atoms </a:t>
            </a:r>
          </a:p>
          <a:p>
            <a:r>
              <a:rPr lang="en-US" sz="2400" dirty="0"/>
              <a:t>n = electron concentration </a:t>
            </a:r>
          </a:p>
          <a:p>
            <a:r>
              <a:rPr lang="en-US" sz="2400" dirty="0"/>
              <a:t>By the law of electrical neutrality N</a:t>
            </a:r>
            <a:r>
              <a:rPr lang="en-US" sz="2400" baseline="-25000" dirty="0"/>
              <a:t>D </a:t>
            </a:r>
            <a:r>
              <a:rPr lang="en-US" sz="2400" dirty="0"/>
              <a:t>+ p = N</a:t>
            </a:r>
            <a:r>
              <a:rPr lang="en-US" sz="2400" baseline="-25000" dirty="0"/>
              <a:t>A</a:t>
            </a:r>
            <a:r>
              <a:rPr lang="en-US" sz="2400" dirty="0"/>
              <a:t> + n</a:t>
            </a:r>
            <a:endParaRPr lang="en-US" sz="2400" dirty="0">
              <a:solidFill>
                <a:srgbClr val="1C1C1C"/>
              </a:solidFill>
            </a:endParaRPr>
          </a:p>
          <a:p>
            <a:endParaRPr lang="en-US" sz="2400" dirty="0"/>
          </a:p>
          <a:p>
            <a:pPr marL="0" indent="0">
              <a:buNone/>
            </a:pPr>
            <a:endParaRPr lang="ro-RO" sz="2400" dirty="0"/>
          </a:p>
          <a:p>
            <a:pPr marL="0" indent="0">
              <a:buNone/>
            </a:pPr>
            <a:endParaRPr lang="en-US" sz="24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sp>
        <p:nvSpPr>
          <p:cNvPr id="5" name="Rectangle 4"/>
          <p:cNvSpPr/>
          <p:nvPr/>
        </p:nvSpPr>
        <p:spPr>
          <a:xfrm>
            <a:off x="838200" y="1803400"/>
            <a:ext cx="10515600" cy="436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04884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89E3871-6C95-48F8-8323-2D6984C3E781}"/>
              </a:ext>
            </a:extLst>
          </p:cNvPr>
          <p:cNvSpPr>
            <a:spLocks noGrp="1"/>
          </p:cNvSpPr>
          <p:nvPr>
            <p:ph type="title"/>
          </p:nvPr>
        </p:nvSpPr>
        <p:spPr/>
        <p:txBody>
          <a:bodyPr/>
          <a:lstStyle/>
          <a:p>
            <a:r>
              <a:rPr lang="en-US" b="1" dirty="0">
                <a:latin typeface="+mn-lt"/>
              </a:rPr>
              <a:t>   FOR  N-TYPE  SEMICONDUCTOR</a:t>
            </a:r>
          </a:p>
        </p:txBody>
      </p:sp>
      <p:sp>
        <p:nvSpPr>
          <p:cNvPr id="3" name="Content Placeholder 2">
            <a:extLst>
              <a:ext uri="{FF2B5EF4-FFF2-40B4-BE49-F238E27FC236}">
                <a16:creationId xmlns="" xmlns:a16="http://schemas.microsoft.com/office/drawing/2014/main" id="{33B64E02-A4A1-4087-90C8-E638A694452D}"/>
              </a:ext>
            </a:extLst>
          </p:cNvPr>
          <p:cNvSpPr>
            <a:spLocks noGrp="1"/>
          </p:cNvSpPr>
          <p:nvPr>
            <p:ph idx="1"/>
          </p:nvPr>
        </p:nvSpPr>
        <p:spPr>
          <a:xfrm>
            <a:off x="838200" y="1825624"/>
            <a:ext cx="10515600" cy="4765675"/>
          </a:xfrm>
        </p:spPr>
        <p:txBody>
          <a:bodyPr>
            <a:noAutofit/>
          </a:bodyPr>
          <a:lstStyle/>
          <a:p>
            <a:r>
              <a:rPr lang="en-US" sz="2400" baseline="-25000" dirty="0"/>
              <a:t> </a:t>
            </a:r>
            <a:r>
              <a:rPr lang="en-US" sz="2400" dirty="0"/>
              <a:t>N</a:t>
            </a:r>
            <a:r>
              <a:rPr lang="en-US" sz="2400" baseline="-25000" dirty="0"/>
              <a:t>A</a:t>
            </a:r>
            <a:r>
              <a:rPr lang="en-US" sz="2400" dirty="0"/>
              <a:t> = 0 i.e. Concentration of acceptor atoms And n&gt;&gt;p,</a:t>
            </a:r>
          </a:p>
          <a:p>
            <a:pPr marL="0" indent="0">
              <a:buNone/>
            </a:pPr>
            <a:r>
              <a:rPr lang="en-US" sz="2400" dirty="0"/>
              <a:t>    then N</a:t>
            </a:r>
            <a:r>
              <a:rPr lang="en-US" sz="2400" baseline="-25000" dirty="0"/>
              <a:t>D</a:t>
            </a:r>
            <a:r>
              <a:rPr lang="en-US" sz="2400" dirty="0"/>
              <a:t> + 0 = 0 + n</a:t>
            </a:r>
          </a:p>
          <a:p>
            <a:pPr marL="0" indent="0">
              <a:buNone/>
            </a:pPr>
            <a:r>
              <a:rPr lang="en-US" sz="2400" dirty="0"/>
              <a:t>                   N</a:t>
            </a:r>
            <a:r>
              <a:rPr lang="en-US" sz="2400" baseline="-25000" dirty="0"/>
              <a:t>D</a:t>
            </a:r>
            <a:r>
              <a:rPr lang="en-US" sz="2400" dirty="0"/>
              <a:t> = n </a:t>
            </a:r>
          </a:p>
          <a:p>
            <a:pPr marL="0" indent="0">
              <a:buNone/>
            </a:pPr>
            <a:endParaRPr lang="en-US" sz="2400" dirty="0"/>
          </a:p>
          <a:p>
            <a:r>
              <a:rPr lang="en-US" sz="2400" dirty="0"/>
              <a:t>i.e. in N-type, concentration of donor atoms is equal to the concentration of free electrons.</a:t>
            </a:r>
          </a:p>
          <a:p>
            <a:pPr marL="0" indent="0">
              <a:buNone/>
            </a:pPr>
            <a:endParaRPr lang="en-US" sz="2400" dirty="0"/>
          </a:p>
          <a:p>
            <a:r>
              <a:rPr lang="en-US" sz="2400" dirty="0"/>
              <a:t>According to Mass Action Law</a:t>
            </a:r>
          </a:p>
          <a:p>
            <a:pPr marL="0" indent="0">
              <a:buNone/>
            </a:pPr>
            <a:r>
              <a:rPr lang="en-US" sz="2400" dirty="0"/>
              <a:t>                                                   n * p = n</a:t>
            </a:r>
            <a:r>
              <a:rPr lang="en-US" sz="2400" baseline="-25000" dirty="0"/>
              <a:t>i</a:t>
            </a:r>
            <a:r>
              <a:rPr lang="en-US" sz="2400" baseline="30000" dirty="0"/>
              <a:t>2</a:t>
            </a:r>
          </a:p>
          <a:p>
            <a:pPr marL="0" indent="0">
              <a:buNone/>
            </a:pPr>
            <a:r>
              <a:rPr lang="en-US" sz="2400" dirty="0"/>
              <a:t>                                         p = n</a:t>
            </a:r>
            <a:r>
              <a:rPr lang="en-US" sz="2400" baseline="-25000" dirty="0"/>
              <a:t>i</a:t>
            </a:r>
            <a:r>
              <a:rPr lang="en-US" sz="2400" baseline="30000" dirty="0"/>
              <a:t>2 </a:t>
            </a:r>
            <a:r>
              <a:rPr lang="en-US" sz="2400" dirty="0"/>
              <a:t>/ n  = n</a:t>
            </a:r>
            <a:r>
              <a:rPr lang="en-US" sz="2400" baseline="-25000" dirty="0"/>
              <a:t>i</a:t>
            </a:r>
            <a:r>
              <a:rPr lang="en-US" sz="2400" baseline="30000" dirty="0"/>
              <a:t>2 </a:t>
            </a:r>
            <a:r>
              <a:rPr lang="en-US" sz="2400" dirty="0"/>
              <a:t>/ N</a:t>
            </a:r>
            <a:r>
              <a:rPr lang="en-US" sz="2400" baseline="-25000" dirty="0"/>
              <a:t>D </a:t>
            </a:r>
            <a:endParaRPr lang="en-US" sz="2400" dirty="0"/>
          </a:p>
          <a:p>
            <a:pPr marL="0" indent="0">
              <a:buNone/>
            </a:pPr>
            <a:endParaRPr lang="en-US" sz="2400" dirty="0"/>
          </a:p>
          <a:p>
            <a:pPr marL="0" indent="0">
              <a:buNone/>
            </a:pPr>
            <a:r>
              <a:rPr lang="en-US" sz="2400" baseline="30000" dirty="0"/>
              <a:t> </a:t>
            </a:r>
            <a:endParaRPr lang="en-US" sz="2400" dirty="0"/>
          </a:p>
          <a:p>
            <a:endParaRPr lang="en-US" sz="2400" dirty="0"/>
          </a:p>
        </p:txBody>
      </p:sp>
      <p:sp>
        <p:nvSpPr>
          <p:cNvPr id="4" name="Slide Number Placeholder 3">
            <a:extLst>
              <a:ext uri="{FF2B5EF4-FFF2-40B4-BE49-F238E27FC236}">
                <a16:creationId xmlns="" xmlns:a16="http://schemas.microsoft.com/office/drawing/2014/main" id="{007EAE2C-CC37-42BA-AEDC-184B9C9AE4A8}"/>
              </a:ext>
            </a:extLst>
          </p:cNvPr>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xmlns="" val="3191408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55AF561-346A-4EA4-9AF4-624634796355}"/>
              </a:ext>
            </a:extLst>
          </p:cNvPr>
          <p:cNvSpPr>
            <a:spLocks noGrp="1"/>
          </p:cNvSpPr>
          <p:nvPr>
            <p:ph type="title"/>
          </p:nvPr>
        </p:nvSpPr>
        <p:spPr/>
        <p:txBody>
          <a:bodyPr/>
          <a:lstStyle/>
          <a:p>
            <a:r>
              <a:rPr lang="en-US" b="1" dirty="0">
                <a:latin typeface="+mn-lt"/>
              </a:rPr>
              <a:t>   FOR  P-TYPE  SEMICONDUCTOR </a:t>
            </a:r>
          </a:p>
        </p:txBody>
      </p:sp>
      <p:sp>
        <p:nvSpPr>
          <p:cNvPr id="3" name="Content Placeholder 2">
            <a:extLst>
              <a:ext uri="{FF2B5EF4-FFF2-40B4-BE49-F238E27FC236}">
                <a16:creationId xmlns="" xmlns:a16="http://schemas.microsoft.com/office/drawing/2014/main" id="{389DC1F8-5A10-4954-89EA-3F813151989D}"/>
              </a:ext>
            </a:extLst>
          </p:cNvPr>
          <p:cNvSpPr>
            <a:spLocks noGrp="1"/>
          </p:cNvSpPr>
          <p:nvPr>
            <p:ph idx="1"/>
          </p:nvPr>
        </p:nvSpPr>
        <p:spPr>
          <a:xfrm>
            <a:off x="838200" y="1847850"/>
            <a:ext cx="9994900" cy="4508500"/>
          </a:xfrm>
        </p:spPr>
        <p:txBody>
          <a:bodyPr>
            <a:noAutofit/>
          </a:bodyPr>
          <a:lstStyle/>
          <a:p>
            <a:r>
              <a:rPr lang="en-US" sz="2400" dirty="0"/>
              <a:t>N</a:t>
            </a:r>
            <a:r>
              <a:rPr lang="en-US" sz="2400" baseline="-25000" dirty="0"/>
              <a:t>A</a:t>
            </a:r>
            <a:r>
              <a:rPr lang="en-US" sz="2400" dirty="0"/>
              <a:t> = 0 i.e. Concentration of donor atoms And p&gt;&gt;n,</a:t>
            </a:r>
          </a:p>
          <a:p>
            <a:pPr marL="0" indent="0">
              <a:buNone/>
            </a:pPr>
            <a:r>
              <a:rPr lang="en-US" sz="2400" dirty="0"/>
              <a:t>    then N</a:t>
            </a:r>
            <a:r>
              <a:rPr lang="en-US" sz="2400" baseline="-25000" dirty="0"/>
              <a:t>A</a:t>
            </a:r>
            <a:r>
              <a:rPr lang="en-US" sz="2400" dirty="0"/>
              <a:t> + 0 = 0 + p</a:t>
            </a:r>
          </a:p>
          <a:p>
            <a:pPr marL="0" indent="0">
              <a:buNone/>
            </a:pPr>
            <a:r>
              <a:rPr lang="en-US" sz="2400" dirty="0"/>
              <a:t>                   N</a:t>
            </a:r>
            <a:r>
              <a:rPr lang="en-US" sz="2400" baseline="-25000" dirty="0"/>
              <a:t>A</a:t>
            </a:r>
            <a:r>
              <a:rPr lang="en-US" sz="2400" dirty="0"/>
              <a:t> = p </a:t>
            </a:r>
          </a:p>
          <a:p>
            <a:pPr marL="0" indent="0">
              <a:buNone/>
            </a:pPr>
            <a:endParaRPr lang="en-US" sz="2400" dirty="0"/>
          </a:p>
          <a:p>
            <a:r>
              <a:rPr lang="en-US" sz="2400" dirty="0"/>
              <a:t>i.e. in P-type, concentration of acceptor atoms is equal to the concentration of free holes.</a:t>
            </a:r>
          </a:p>
          <a:p>
            <a:pPr marL="0" indent="0">
              <a:buNone/>
            </a:pPr>
            <a:endParaRPr lang="en-US" sz="2400" dirty="0"/>
          </a:p>
          <a:p>
            <a:r>
              <a:rPr lang="en-US" sz="2400" dirty="0"/>
              <a:t>According to Mass Action Law</a:t>
            </a:r>
          </a:p>
          <a:p>
            <a:pPr marL="0" indent="0">
              <a:buNone/>
            </a:pPr>
            <a:r>
              <a:rPr lang="en-US" sz="2400" dirty="0"/>
              <a:t>                                                   n * p = n</a:t>
            </a:r>
            <a:r>
              <a:rPr lang="en-US" sz="2400" baseline="-25000" dirty="0"/>
              <a:t>i</a:t>
            </a:r>
            <a:r>
              <a:rPr lang="en-US" sz="2400" baseline="30000" dirty="0"/>
              <a:t>2</a:t>
            </a:r>
          </a:p>
          <a:p>
            <a:pPr marL="0" indent="0">
              <a:buNone/>
            </a:pPr>
            <a:r>
              <a:rPr lang="en-US" sz="2400" dirty="0"/>
              <a:t>                                            n = n</a:t>
            </a:r>
            <a:r>
              <a:rPr lang="en-US" sz="2400" baseline="-25000" dirty="0"/>
              <a:t>i</a:t>
            </a:r>
            <a:r>
              <a:rPr lang="en-US" sz="2400" baseline="30000" dirty="0"/>
              <a:t>2 </a:t>
            </a:r>
            <a:r>
              <a:rPr lang="en-US" sz="2400" dirty="0"/>
              <a:t>/ p  = n</a:t>
            </a:r>
            <a:r>
              <a:rPr lang="en-US" sz="2400" baseline="-25000" dirty="0"/>
              <a:t>i</a:t>
            </a:r>
            <a:r>
              <a:rPr lang="en-US" sz="2400" baseline="30000" dirty="0"/>
              <a:t>2 </a:t>
            </a:r>
            <a:r>
              <a:rPr lang="en-US" sz="2400" dirty="0"/>
              <a:t>/ N</a:t>
            </a:r>
            <a:r>
              <a:rPr lang="en-US" sz="2400" baseline="-25000" dirty="0"/>
              <a:t>A</a:t>
            </a:r>
            <a:endParaRPr lang="en-US" sz="2400" dirty="0"/>
          </a:p>
          <a:p>
            <a:pPr marL="0" indent="0">
              <a:buNone/>
            </a:pPr>
            <a:endParaRPr lang="en-US" sz="2400" dirty="0"/>
          </a:p>
          <a:p>
            <a:pPr marL="0" indent="0">
              <a:buNone/>
            </a:pPr>
            <a:r>
              <a:rPr lang="en-US" sz="2400" baseline="30000" dirty="0"/>
              <a:t> </a:t>
            </a:r>
            <a:endParaRPr lang="en-US" sz="2400" dirty="0"/>
          </a:p>
          <a:p>
            <a:endParaRPr lang="en-US" sz="2400" dirty="0"/>
          </a:p>
          <a:p>
            <a:pPr marL="0" indent="0">
              <a:buNone/>
            </a:pPr>
            <a:endParaRPr lang="en-US" sz="2400" dirty="0"/>
          </a:p>
        </p:txBody>
      </p:sp>
      <p:sp>
        <p:nvSpPr>
          <p:cNvPr id="4" name="Slide Number Placeholder 3">
            <a:extLst>
              <a:ext uri="{FF2B5EF4-FFF2-40B4-BE49-F238E27FC236}">
                <a16:creationId xmlns="" xmlns:a16="http://schemas.microsoft.com/office/drawing/2014/main" id="{C582D482-8C02-49A1-AC1E-944D686767F2}"/>
              </a:ext>
            </a:extLst>
          </p:cNvPr>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xmlns="" val="4123254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7427C3D-266E-4DA6-A0BB-09582BA60D0C}"/>
              </a:ext>
            </a:extLst>
          </p:cNvPr>
          <p:cNvSpPr>
            <a:spLocks noGrp="1"/>
          </p:cNvSpPr>
          <p:nvPr>
            <p:ph type="title"/>
          </p:nvPr>
        </p:nvSpPr>
        <p:spPr>
          <a:xfrm>
            <a:off x="1033670" y="497646"/>
            <a:ext cx="9594574" cy="1325563"/>
          </a:xfrm>
        </p:spPr>
        <p:txBody>
          <a:bodyPr/>
          <a:lstStyle/>
          <a:p>
            <a:r>
              <a:rPr lang="en-US" b="1" dirty="0">
                <a:latin typeface="+mn-lt"/>
              </a:rPr>
              <a:t> </a:t>
            </a:r>
            <a:r>
              <a:rPr lang="en-US" b="1" dirty="0">
                <a:latin typeface="Casper Bold"/>
                <a:cs typeface="Times New Roman" pitchFamily="18" charset="0"/>
              </a:rPr>
              <a:t>        SEMICONDUCTOR DEVICES</a:t>
            </a:r>
            <a:endParaRPr lang="en-US" b="1" dirty="0">
              <a:latin typeface="+mn-lt"/>
            </a:endParaRPr>
          </a:p>
        </p:txBody>
      </p:sp>
      <p:sp>
        <p:nvSpPr>
          <p:cNvPr id="3" name="Content Placeholder 2">
            <a:extLst>
              <a:ext uri="{FF2B5EF4-FFF2-40B4-BE49-F238E27FC236}">
                <a16:creationId xmlns="" xmlns:a16="http://schemas.microsoft.com/office/drawing/2014/main" id="{42C88051-1670-4B00-AC04-B891ED056615}"/>
              </a:ext>
            </a:extLst>
          </p:cNvPr>
          <p:cNvSpPr>
            <a:spLocks noGrp="1"/>
          </p:cNvSpPr>
          <p:nvPr>
            <p:ph idx="1"/>
          </p:nvPr>
        </p:nvSpPr>
        <p:spPr>
          <a:xfrm>
            <a:off x="838200" y="2000250"/>
            <a:ext cx="5029201" cy="4241523"/>
          </a:xfrm>
        </p:spPr>
        <p:txBody>
          <a:bodyPr>
            <a:normAutofit/>
          </a:bodyPr>
          <a:lstStyle/>
          <a:p>
            <a:r>
              <a:rPr lang="en-US" sz="2400" dirty="0"/>
              <a:t> </a:t>
            </a:r>
            <a:r>
              <a:rPr lang="en-US" sz="2400" b="1" dirty="0"/>
              <a:t>Semiconductors</a:t>
            </a:r>
            <a:r>
              <a:rPr lang="en-US" sz="2400" dirty="0"/>
              <a:t> are engrossed in the manufacture of various kinds of </a:t>
            </a:r>
            <a:r>
              <a:rPr lang="en-US" sz="2400" b="1" dirty="0"/>
              <a:t>electronic devices,</a:t>
            </a:r>
            <a:r>
              <a:rPr lang="en-US" sz="2400" dirty="0"/>
              <a:t> including diodes, transistors, and integrated circuits as shown in figure -1.7.</a:t>
            </a:r>
          </a:p>
          <a:p>
            <a:r>
              <a:rPr lang="en-US" sz="2400" dirty="0"/>
              <a:t> Such devices have found wide application because of their compactness, reliability, power efficiency, and low cost.</a:t>
            </a:r>
          </a:p>
          <a:p>
            <a:endParaRPr lang="en-US" sz="2400" dirty="0"/>
          </a:p>
        </p:txBody>
      </p:sp>
      <p:sp>
        <p:nvSpPr>
          <p:cNvPr id="4" name="Slide Number Placeholder 3">
            <a:extLst>
              <a:ext uri="{FF2B5EF4-FFF2-40B4-BE49-F238E27FC236}">
                <a16:creationId xmlns="" xmlns:a16="http://schemas.microsoft.com/office/drawing/2014/main" id="{396FB094-E9BE-4453-B76E-973701A75688}"/>
              </a:ext>
            </a:extLst>
          </p:cNvPr>
          <p:cNvSpPr>
            <a:spLocks noGrp="1"/>
          </p:cNvSpPr>
          <p:nvPr>
            <p:ph type="sldNum" sz="quarter" idx="12"/>
          </p:nvPr>
        </p:nvSpPr>
        <p:spPr/>
        <p:txBody>
          <a:bodyPr/>
          <a:lstStyle/>
          <a:p>
            <a:fld id="{BDCDBBEF-AA6C-4BA6-85B2-A17D7F280E38}" type="slidenum">
              <a:rPr lang="en-US" smtClean="0"/>
              <a:pPr/>
              <a:t>15</a:t>
            </a:fld>
            <a:endParaRPr lang="en-US"/>
          </a:p>
        </p:txBody>
      </p:sp>
      <p:pic>
        <p:nvPicPr>
          <p:cNvPr id="5" name="Picture 4" descr="Types of Semiconductor Devices and Applications">
            <a:extLst>
              <a:ext uri="{FF2B5EF4-FFF2-40B4-BE49-F238E27FC236}">
                <a16:creationId xmlns="" xmlns:a16="http://schemas.microsoft.com/office/drawing/2014/main" id="{BED8C7CB-9A6B-4AFA-89E4-602953055BFD}"/>
              </a:ext>
            </a:extLst>
          </p:cNvPr>
          <p:cNvPicPr/>
          <p:nvPr/>
        </p:nvPicPr>
        <p:blipFill>
          <a:blip r:embed="rId2">
            <a:extLst>
              <a:ext uri="{28A0092B-C50C-407E-A947-70E740481C1C}">
                <a14:useLocalDpi xmlns:a14="http://schemas.microsoft.com/office/drawing/2010/main" xmlns="" val="0"/>
              </a:ext>
            </a:extLst>
          </a:blip>
          <a:srcRect/>
          <a:stretch>
            <a:fillRect/>
          </a:stretch>
        </p:blipFill>
        <p:spPr bwMode="auto">
          <a:xfrm>
            <a:off x="6324600" y="2000250"/>
            <a:ext cx="5219700" cy="4032250"/>
          </a:xfrm>
          <a:prstGeom prst="rect">
            <a:avLst/>
          </a:prstGeom>
          <a:noFill/>
          <a:ln>
            <a:noFill/>
          </a:ln>
        </p:spPr>
      </p:pic>
      <p:sp>
        <p:nvSpPr>
          <p:cNvPr id="6" name="TextBox 5">
            <a:extLst>
              <a:ext uri="{FF2B5EF4-FFF2-40B4-BE49-F238E27FC236}">
                <a16:creationId xmlns="" xmlns:a16="http://schemas.microsoft.com/office/drawing/2014/main" id="{53B56A4D-6961-4866-A43C-DCEE2C3103FD}"/>
              </a:ext>
            </a:extLst>
          </p:cNvPr>
          <p:cNvSpPr txBox="1"/>
          <p:nvPr/>
        </p:nvSpPr>
        <p:spPr>
          <a:xfrm>
            <a:off x="6527800" y="6356350"/>
            <a:ext cx="4343400" cy="923330"/>
          </a:xfrm>
          <a:prstGeom prst="rect">
            <a:avLst/>
          </a:prstGeom>
          <a:noFill/>
        </p:spPr>
        <p:txBody>
          <a:bodyPr wrap="square" rtlCol="0">
            <a:spAutoFit/>
          </a:bodyPr>
          <a:lstStyle/>
          <a:p>
            <a:r>
              <a:rPr lang="en-US" dirty="0"/>
              <a:t>           Figure.1.7  Semiconductors </a:t>
            </a:r>
            <a:r>
              <a:rPr lang="en-US" dirty="0" smtClean="0"/>
              <a:t>Devices[7]</a:t>
            </a:r>
            <a:endParaRPr lang="en-US" dirty="0"/>
          </a:p>
          <a:p>
            <a:endParaRPr lang="en-US" dirty="0"/>
          </a:p>
          <a:p>
            <a:endParaRPr lang="en-US" dirty="0"/>
          </a:p>
        </p:txBody>
      </p:sp>
    </p:spTree>
    <p:extLst>
      <p:ext uri="{BB962C8B-B14F-4D97-AF65-F5344CB8AC3E}">
        <p14:creationId xmlns:p14="http://schemas.microsoft.com/office/powerpoint/2010/main" xmlns="" val="4061252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Autofit/>
          </a:bodyPr>
          <a:lstStyle/>
          <a:p>
            <a:pPr algn="ctr"/>
            <a:r>
              <a:rPr lang="en-US" b="1" dirty="0">
                <a:latin typeface="Casper Bold"/>
                <a:cs typeface="Times New Roman" pitchFamily="18" charset="0"/>
              </a:rPr>
              <a:t> APPLICATIONS OF SEMICONDUCTOR DEVICES</a:t>
            </a:r>
            <a:endParaRPr lang="en-US" b="1" dirty="0">
              <a:latin typeface="+mn-lt"/>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dirty="0"/>
          </a:p>
        </p:txBody>
      </p:sp>
      <p:sp>
        <p:nvSpPr>
          <p:cNvPr id="6" name="Rectangle 5"/>
          <p:cNvSpPr/>
          <p:nvPr/>
        </p:nvSpPr>
        <p:spPr>
          <a:xfrm>
            <a:off x="838200" y="360361"/>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Box 90">
            <a:extLst>
              <a:ext uri="{FF2B5EF4-FFF2-40B4-BE49-F238E27FC236}">
                <a16:creationId xmlns="" xmlns:a16="http://schemas.microsoft.com/office/drawing/2014/main" id="{67F8F1B9-0DDB-4950-B9E6-96591B81F814}"/>
              </a:ext>
            </a:extLst>
          </p:cNvPr>
          <p:cNvSpPr txBox="1">
            <a:spLocks noChangeArrowheads="1"/>
          </p:cNvSpPr>
          <p:nvPr/>
        </p:nvSpPr>
        <p:spPr bwMode="auto">
          <a:xfrm>
            <a:off x="1739348" y="5956300"/>
            <a:ext cx="2667000" cy="461665"/>
          </a:xfrm>
          <a:prstGeom prst="rect">
            <a:avLst/>
          </a:prstGeom>
          <a:noFill/>
          <a:ln w="9525">
            <a:noFill/>
            <a:miter lim="800000"/>
            <a:headEnd/>
            <a:tailEnd/>
          </a:ln>
        </p:spPr>
        <p:txBody>
          <a:bodyPr wrap="square">
            <a:spAutoFit/>
          </a:bodyPr>
          <a:lstStyle/>
          <a:p>
            <a:pPr eaLnBrk="0" hangingPunct="0"/>
            <a:r>
              <a:rPr lang="en-US" altLang="zh-TW" sz="2400" dirty="0">
                <a:ea typeface="新細明體" pitchFamily="18" charset="-120"/>
              </a:rPr>
              <a:t> </a:t>
            </a:r>
          </a:p>
        </p:txBody>
      </p:sp>
      <p:pic>
        <p:nvPicPr>
          <p:cNvPr id="11" name="Picture 2" descr="C:\Users\Administrator\Desktop\2016-06-10_11-39-19.jpg">
            <a:extLst>
              <a:ext uri="{FF2B5EF4-FFF2-40B4-BE49-F238E27FC236}">
                <a16:creationId xmlns="" xmlns:a16="http://schemas.microsoft.com/office/drawing/2014/main" id="{EA0A9CBE-130D-4F22-93D8-1C6851A6FF91}"/>
              </a:ext>
            </a:extLst>
          </p:cNvPr>
          <p:cNvPicPr>
            <a:picLocks noChangeAspect="1" noChangeArrowheads="1"/>
          </p:cNvPicPr>
          <p:nvPr/>
        </p:nvPicPr>
        <p:blipFill>
          <a:blip r:embed="rId2" cstate="print"/>
          <a:srcRect/>
          <a:stretch>
            <a:fillRect/>
          </a:stretch>
        </p:blipFill>
        <p:spPr bwMode="auto">
          <a:xfrm>
            <a:off x="254001" y="1789612"/>
            <a:ext cx="11493500" cy="4166688"/>
          </a:xfrm>
          <a:prstGeom prst="rect">
            <a:avLst/>
          </a:prstGeom>
          <a:noFill/>
        </p:spPr>
      </p:pic>
      <p:sp>
        <p:nvSpPr>
          <p:cNvPr id="5" name="TextBox 4">
            <a:extLst>
              <a:ext uri="{FF2B5EF4-FFF2-40B4-BE49-F238E27FC236}">
                <a16:creationId xmlns="" xmlns:a16="http://schemas.microsoft.com/office/drawing/2014/main" id="{B1D3FEEC-7371-4E9C-B51C-4DDC646AFF41}"/>
              </a:ext>
            </a:extLst>
          </p:cNvPr>
          <p:cNvSpPr txBox="1"/>
          <p:nvPr/>
        </p:nvSpPr>
        <p:spPr>
          <a:xfrm>
            <a:off x="3873500" y="5867400"/>
            <a:ext cx="5851268" cy="646331"/>
          </a:xfrm>
          <a:prstGeom prst="rect">
            <a:avLst/>
          </a:prstGeom>
          <a:noFill/>
        </p:spPr>
        <p:txBody>
          <a:bodyPr wrap="square" rtlCol="0">
            <a:spAutoFit/>
          </a:bodyPr>
          <a:lstStyle/>
          <a:p>
            <a:endParaRPr lang="en-US" dirty="0"/>
          </a:p>
          <a:p>
            <a:r>
              <a:rPr lang="en-US" dirty="0"/>
              <a:t>Figure.1.8   Applications of  Semiconductors </a:t>
            </a:r>
            <a:r>
              <a:rPr lang="en-US" dirty="0" smtClean="0"/>
              <a:t>Devices[7]</a:t>
            </a:r>
            <a:endParaRPr lang="en-US" dirty="0"/>
          </a:p>
        </p:txBody>
      </p:sp>
    </p:spTree>
    <p:extLst>
      <p:ext uri="{BB962C8B-B14F-4D97-AF65-F5344CB8AC3E}">
        <p14:creationId xmlns:p14="http://schemas.microsoft.com/office/powerpoint/2010/main" xmlns="" val="4122612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873"/>
            <a:ext cx="10515600" cy="1325563"/>
          </a:xfrm>
        </p:spPr>
        <p:txBody>
          <a:bodyPr/>
          <a:lstStyle/>
          <a:p>
            <a:r>
              <a:rPr lang="en-US" altLang="zh-TW" dirty="0">
                <a:latin typeface="+mn-lt"/>
              </a:rPr>
              <a:t>                           </a:t>
            </a:r>
            <a:r>
              <a:rPr lang="en-US" altLang="zh-TW" b="1" dirty="0">
                <a:latin typeface="+mn-lt"/>
              </a:rPr>
              <a:t>CONTINUE</a:t>
            </a:r>
            <a:endParaRPr lang="en-IN" b="1" dirty="0">
              <a:latin typeface="+mn-lt"/>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3" name="TextBox 2">
            <a:extLst>
              <a:ext uri="{FF2B5EF4-FFF2-40B4-BE49-F238E27FC236}">
                <a16:creationId xmlns="" xmlns:a16="http://schemas.microsoft.com/office/drawing/2014/main" id="{E61CE979-449A-44BD-84A5-0F05A1B2CC6B}"/>
              </a:ext>
            </a:extLst>
          </p:cNvPr>
          <p:cNvSpPr txBox="1"/>
          <p:nvPr/>
        </p:nvSpPr>
        <p:spPr>
          <a:xfrm>
            <a:off x="622300" y="1555036"/>
            <a:ext cx="10731500" cy="7294305"/>
          </a:xfrm>
          <a:prstGeom prst="rect">
            <a:avLst/>
          </a:prstGeom>
          <a:noFill/>
        </p:spPr>
        <p:txBody>
          <a:bodyPr wrap="square" rtlCol="0">
            <a:spAutoFit/>
          </a:bodyPr>
          <a:lstStyle/>
          <a:p>
            <a:pPr marL="285750" indent="-285750">
              <a:buFont typeface="Arial" panose="020B0604020202020204" pitchFamily="34" charset="0"/>
              <a:buChar char="•"/>
            </a:pPr>
            <a:r>
              <a:rPr lang="en-US" sz="2400" dirty="0"/>
              <a:t>All types of transistor can be used as the building blocks of logic gates</a:t>
            </a:r>
            <a:r>
              <a:rPr lang="en-US" sz="2400" b="1" dirty="0"/>
              <a:t>, </a:t>
            </a:r>
            <a:r>
              <a:rPr lang="en-US" sz="2400" dirty="0"/>
              <a:t>which is useful to design of digital circuits. In digital circuits like as microprocessors, transistors so which is acting as a switch (on-off); in the MOSFET.</a:t>
            </a:r>
          </a:p>
          <a:p>
            <a:pPr marL="285750" indent="-285750">
              <a:buFont typeface="Arial" panose="020B0604020202020204" pitchFamily="34" charset="0"/>
              <a:buChar char="•"/>
            </a:pPr>
            <a:r>
              <a:rPr lang="en-US" sz="2400" dirty="0"/>
              <a:t>Diodes optimized to take the advantage of conductivity is known as photodiodes. Compound semiconductor diodes are being used to generate light, light emitting diodes and laser diodes.</a:t>
            </a:r>
          </a:p>
          <a:p>
            <a:pPr marL="285750" indent="-285750" fontAlgn="base">
              <a:buFont typeface="Arial" panose="020B0604020202020204" pitchFamily="34" charset="0"/>
              <a:buChar char="•"/>
            </a:pPr>
            <a:r>
              <a:rPr lang="en-US" sz="2400" dirty="0"/>
              <a:t>As semiconductor devices have no filaments, hence no power is needed to heat   them to cause the emission of electrons.</a:t>
            </a:r>
          </a:p>
          <a:p>
            <a:pPr marL="285750" indent="-285750" fontAlgn="base">
              <a:buFont typeface="Arial" panose="020B0604020202020204" pitchFamily="34" charset="0"/>
              <a:buChar char="•"/>
            </a:pPr>
            <a:r>
              <a:rPr lang="en-US" sz="2400" dirty="0"/>
              <a:t>Semiconductor devices require low voltage operation as compared to vacuum tubes.</a:t>
            </a:r>
          </a:p>
          <a:p>
            <a:pPr marL="285750" indent="-285750" fontAlgn="base">
              <a:buFont typeface="Arial" panose="020B0604020202020204" pitchFamily="34" charset="0"/>
              <a:buChar char="•"/>
            </a:pPr>
            <a:r>
              <a:rPr lang="en-US" sz="2400" dirty="0"/>
              <a:t>Semiconductor diodes are used as a clipper and clamper circuits as well as a switch.</a:t>
            </a:r>
          </a:p>
          <a:p>
            <a:pPr marL="285750" indent="-285750" fontAlgn="base">
              <a:buFont typeface="Arial" panose="020B0604020202020204" pitchFamily="34" charset="0"/>
              <a:buChar char="•"/>
            </a:pPr>
            <a:r>
              <a:rPr lang="en-US" sz="2400" dirty="0"/>
              <a:t>Owing to their small sizes, the circuits involving semiconductor devices are very compact.</a:t>
            </a:r>
          </a:p>
          <a:p>
            <a:pPr fontAlgn="base"/>
            <a:r>
              <a:rPr lang="en-US" sz="2400" dirty="0"/>
              <a:t> </a:t>
            </a:r>
          </a:p>
          <a:p>
            <a:pPr marL="285750" indent="-285750" fontAlgn="base">
              <a:buFont typeface="Arial" panose="020B0604020202020204" pitchFamily="34" charset="0"/>
              <a:buChar char="•"/>
            </a:pPr>
            <a:endParaRPr lang="en-US" dirty="0"/>
          </a:p>
          <a:p>
            <a:r>
              <a:rPr lang="en-IN" dirty="0"/>
              <a:t> </a:t>
            </a:r>
            <a:endParaRPr lang="en-US" dirty="0"/>
          </a:p>
          <a:p>
            <a:pPr marL="285750" indent="-285750" fontAlgn="base">
              <a:buFont typeface="Arial" panose="020B0604020202020204" pitchFamily="34" charset="0"/>
              <a:buChar char="•"/>
            </a:pPr>
            <a:endParaRPr lang="en-US" dirty="0"/>
          </a:p>
          <a:p>
            <a:pPr fontAlgn="base"/>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xmlns="" val="3638939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MOST FREQUENTLY ASKED QUESTIONS </a:t>
            </a:r>
            <a:endParaRPr lang="en-US" dirty="0"/>
          </a:p>
        </p:txBody>
      </p:sp>
      <p:sp>
        <p:nvSpPr>
          <p:cNvPr id="3" name="Content Placeholder 2"/>
          <p:cNvSpPr>
            <a:spLocks noGrp="1"/>
          </p:cNvSpPr>
          <p:nvPr>
            <p:ph idx="1"/>
          </p:nvPr>
        </p:nvSpPr>
        <p:spPr>
          <a:xfrm>
            <a:off x="838199" y="1838877"/>
            <a:ext cx="10659036" cy="4351338"/>
          </a:xfrm>
        </p:spPr>
        <p:txBody>
          <a:bodyPr>
            <a:normAutofit/>
          </a:bodyPr>
          <a:lstStyle/>
          <a:p>
            <a:pPr marL="0" indent="0" algn="just">
              <a:buNone/>
            </a:pPr>
            <a:r>
              <a:rPr lang="en-IN" sz="2400" dirty="0">
                <a:cs typeface="Arial" panose="020B0604020202020204" pitchFamily="34" charset="0"/>
              </a:rPr>
              <a:t>Q1: </a:t>
            </a:r>
            <a:r>
              <a:rPr lang="en-US" sz="2400" dirty="0" smtClean="0"/>
              <a:t>Explain </a:t>
            </a:r>
            <a:r>
              <a:rPr lang="en-US" sz="2400" dirty="0"/>
              <a:t>recombination in </a:t>
            </a:r>
            <a:r>
              <a:rPr lang="en-US" sz="2400" dirty="0" smtClean="0"/>
              <a:t>semiconductors</a:t>
            </a:r>
            <a:endParaRPr lang="en-US" sz="2400" dirty="0"/>
          </a:p>
          <a:p>
            <a:pPr marL="0" indent="0" algn="just">
              <a:buNone/>
            </a:pPr>
            <a:r>
              <a:rPr lang="en-US" sz="2400" dirty="0"/>
              <a:t>Answer: There is a continuous transition of electrons between the two bands. When an electron falls from the conduction band into the valence band, into a hole, a </a:t>
            </a:r>
            <a:r>
              <a:rPr lang="en-US" sz="2400" b="1" dirty="0"/>
              <a:t>recombination</a:t>
            </a:r>
            <a:r>
              <a:rPr lang="en-US" sz="2400" dirty="0"/>
              <a:t> process occurs and an electron hole pair disappears..</a:t>
            </a:r>
          </a:p>
          <a:p>
            <a:pPr marL="0" indent="0" algn="just">
              <a:buNone/>
            </a:pPr>
            <a:endParaRPr lang="en-IN" sz="2400" dirty="0">
              <a:cs typeface="Arial" panose="020B0604020202020204" pitchFamily="34" charset="0"/>
            </a:endParaRPr>
          </a:p>
          <a:p>
            <a:pPr marL="0" indent="0" algn="just">
              <a:buNone/>
            </a:pPr>
            <a:r>
              <a:rPr lang="en-IN" sz="2400" dirty="0">
                <a:cs typeface="Arial" panose="020B0604020202020204" pitchFamily="34" charset="0"/>
              </a:rPr>
              <a:t>Q2: </a:t>
            </a:r>
            <a:r>
              <a:rPr lang="en-US" sz="2400" dirty="0" smtClean="0">
                <a:cs typeface="Arial" panose="020B0604020202020204" pitchFamily="34" charset="0"/>
              </a:rPr>
              <a:t> Analyze how are </a:t>
            </a:r>
            <a:r>
              <a:rPr lang="en-US" sz="2400" dirty="0">
                <a:cs typeface="Arial" panose="020B0604020202020204" pitchFamily="34" charset="0"/>
              </a:rPr>
              <a:t>charge carriers produced in intrinsic </a:t>
            </a:r>
            <a:r>
              <a:rPr lang="en-US" sz="2400" dirty="0" smtClean="0">
                <a:cs typeface="Arial" panose="020B0604020202020204" pitchFamily="34" charset="0"/>
              </a:rPr>
              <a:t>semiconductors</a:t>
            </a:r>
            <a:r>
              <a:rPr lang="en-US" sz="2400" dirty="0"/>
              <a:t>.</a:t>
            </a:r>
          </a:p>
          <a:p>
            <a:pPr marL="0" indent="0" algn="just">
              <a:buNone/>
            </a:pPr>
            <a:r>
              <a:rPr lang="en-US" sz="2400" dirty="0"/>
              <a:t>Answer: In the </a:t>
            </a:r>
            <a:r>
              <a:rPr lang="en-US" sz="2400" b="1" dirty="0"/>
              <a:t>intrinsic semiconductor</a:t>
            </a:r>
            <a:r>
              <a:rPr lang="en-US" sz="2400" dirty="0"/>
              <a:t> the number of </a:t>
            </a:r>
            <a:r>
              <a:rPr lang="en-US" sz="2400" b="1" dirty="0"/>
              <a:t>electrons</a:t>
            </a:r>
            <a:r>
              <a:rPr lang="en-US" sz="2400" dirty="0"/>
              <a:t> in the conduction band equals to the number of holes in the valence band. </a:t>
            </a:r>
            <a:r>
              <a:rPr lang="en-US" sz="2400" b="1" dirty="0"/>
              <a:t>Charge carriers</a:t>
            </a:r>
            <a:r>
              <a:rPr lang="en-US" sz="2400" dirty="0"/>
              <a:t> appear as a result of </a:t>
            </a:r>
            <a:r>
              <a:rPr lang="en-US" sz="2400" b="1" dirty="0"/>
              <a:t>charge carrier</a:t>
            </a:r>
            <a:r>
              <a:rPr lang="en-US" sz="2400" dirty="0"/>
              <a:t> generation. Positive holes attract negative </a:t>
            </a:r>
            <a:r>
              <a:rPr lang="en-US" sz="2400" b="1" dirty="0"/>
              <a:t>electrons</a:t>
            </a:r>
            <a:r>
              <a:rPr lang="en-US" sz="2400" dirty="0"/>
              <a:t>. If an electron is drawn into the bond, it recombines with a hole.</a:t>
            </a:r>
            <a:endParaRPr lang="en-IN" sz="2400" dirty="0">
              <a:cs typeface="Arial" panose="020B0604020202020204" pitchFamily="34" charset="0"/>
            </a:endParaRPr>
          </a:p>
          <a:p>
            <a:pPr marL="0" indent="0">
              <a:buNone/>
            </a:pPr>
            <a:endParaRPr lang="en-US" sz="24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dirty="0"/>
          </a:p>
        </p:txBody>
      </p:sp>
      <p:sp>
        <p:nvSpPr>
          <p:cNvPr id="5" name="Rectangle 4"/>
          <p:cNvSpPr/>
          <p:nvPr/>
        </p:nvSpPr>
        <p:spPr>
          <a:xfrm>
            <a:off x="838199" y="1803400"/>
            <a:ext cx="10753165"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400117"/>
            <a:ext cx="10515600"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222058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Casper Bold" panose="02000806040000020004" pitchFamily="2" charset="0"/>
                <a:cs typeface="Arial" panose="020B0604020202020204" pitchFamily="34" charset="0"/>
              </a:rPr>
              <a:t>MOST FREQUENTLY ASKED QUESTIONS </a:t>
            </a:r>
            <a:endParaRPr lang="en-US" dirty="0"/>
          </a:p>
        </p:txBody>
      </p:sp>
      <p:sp>
        <p:nvSpPr>
          <p:cNvPr id="3" name="Content Placeholder 2"/>
          <p:cNvSpPr>
            <a:spLocks noGrp="1"/>
          </p:cNvSpPr>
          <p:nvPr>
            <p:ph idx="1"/>
          </p:nvPr>
        </p:nvSpPr>
        <p:spPr>
          <a:xfrm>
            <a:off x="838199" y="1825625"/>
            <a:ext cx="10659036" cy="4351338"/>
          </a:xfrm>
        </p:spPr>
        <p:txBody>
          <a:bodyPr>
            <a:normAutofit lnSpcReduction="10000"/>
          </a:bodyPr>
          <a:lstStyle/>
          <a:p>
            <a:pPr marL="0" indent="0">
              <a:buNone/>
            </a:pPr>
            <a:r>
              <a:rPr lang="en-IN" sz="2400" dirty="0">
                <a:cs typeface="Arial" panose="020B0604020202020204" pitchFamily="34" charset="0"/>
              </a:rPr>
              <a:t>Q3: </a:t>
            </a:r>
            <a:r>
              <a:rPr lang="en-US" sz="2400" dirty="0" smtClean="0"/>
              <a:t>Justify use of semiconductors  </a:t>
            </a:r>
            <a:r>
              <a:rPr lang="en-US" sz="2400" dirty="0"/>
              <a:t>in electronic </a:t>
            </a:r>
            <a:r>
              <a:rPr lang="en-US" sz="2400" dirty="0" smtClean="0"/>
              <a:t>devices</a:t>
            </a:r>
            <a:endParaRPr lang="en-US" sz="2400" dirty="0"/>
          </a:p>
          <a:p>
            <a:pPr marL="0" indent="0">
              <a:buNone/>
            </a:pPr>
            <a:r>
              <a:rPr lang="en-US" sz="2400" dirty="0"/>
              <a:t>Answer: Semiconductors are used in many electrical circuits because we can control the flow of electrons in this material, for example, with a controlling current. </a:t>
            </a:r>
          </a:p>
          <a:p>
            <a:r>
              <a:rPr lang="en-US" sz="2400" dirty="0"/>
              <a:t>Semiconductors are also used for other special properties. In fact, a solar cell is made of semiconductors which are sensitive to light energy.</a:t>
            </a:r>
          </a:p>
          <a:p>
            <a:pPr marL="0" indent="0">
              <a:buNone/>
            </a:pPr>
            <a:endParaRPr lang="en-IN" sz="2400" dirty="0">
              <a:cs typeface="Arial" panose="020B0604020202020204" pitchFamily="34" charset="0"/>
            </a:endParaRPr>
          </a:p>
          <a:p>
            <a:pPr marL="0" indent="0">
              <a:buNone/>
            </a:pPr>
            <a:r>
              <a:rPr lang="en-IN" sz="2400" dirty="0">
                <a:cs typeface="Arial" panose="020B0604020202020204" pitchFamily="34" charset="0"/>
              </a:rPr>
              <a:t>Q4: </a:t>
            </a:r>
            <a:r>
              <a:rPr lang="en-US" sz="2400" dirty="0" smtClean="0"/>
              <a:t>Explain semiconductor material in terms of conductivity</a:t>
            </a:r>
            <a:r>
              <a:rPr lang="en-US" sz="2400" dirty="0"/>
              <a:t>.</a:t>
            </a:r>
          </a:p>
          <a:p>
            <a:pPr marL="0" indent="0" algn="just">
              <a:buNone/>
            </a:pPr>
            <a:r>
              <a:rPr lang="en-US" sz="2400" dirty="0"/>
              <a:t>Answer: A semiconductor is a substance, usually a solid chemical element or compound, that can conduct electricity under some conditions but not others, making it a good medium for the control of electrical current. In a semiconductor material, the flow of holes occurs in a direction opposite to the flow of electrons.</a:t>
            </a:r>
          </a:p>
          <a:p>
            <a:pPr marL="0" indent="0">
              <a:buNone/>
            </a:pPr>
            <a:endParaRPr lang="en-US" sz="24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Rectangle 4"/>
          <p:cNvSpPr/>
          <p:nvPr/>
        </p:nvSpPr>
        <p:spPr>
          <a:xfrm>
            <a:off x="838199" y="1803400"/>
            <a:ext cx="10753165" cy="43688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236049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a:ln>
            <a:solidFill>
              <a:schemeClr val="bg1"/>
            </a:solidFill>
          </a:ln>
        </p:spPr>
        <p:txBody>
          <a:bodyPr>
            <a:normAutofit/>
          </a:bodyPr>
          <a:lstStyle/>
          <a:p>
            <a:pPr algn="ctr"/>
            <a:r>
              <a:rPr lang="en-US" dirty="0">
                <a:latin typeface="Casper Bold" panose="02000806040000020004" pitchFamily="2" charset="0"/>
                <a:cs typeface="Arial" panose="020B0604020202020204" pitchFamily="34" charset="0"/>
              </a:rPr>
              <a:t>SUMMARY</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6" name="Rectangle 5"/>
          <p:cNvSpPr/>
          <p:nvPr/>
        </p:nvSpPr>
        <p:spPr>
          <a:xfrm>
            <a:off x="838199" y="360361"/>
            <a:ext cx="10515601" cy="126365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 xmlns:a16="http://schemas.microsoft.com/office/drawing/2014/main" id="{0EE9F461-FF65-491D-AC59-EC4CEDF85A15}"/>
              </a:ext>
            </a:extLst>
          </p:cNvPr>
          <p:cNvSpPr/>
          <p:nvPr/>
        </p:nvSpPr>
        <p:spPr>
          <a:xfrm>
            <a:off x="838198" y="1582341"/>
            <a:ext cx="10303414" cy="4401205"/>
          </a:xfrm>
          <a:prstGeom prst="rect">
            <a:avLst/>
          </a:prstGeom>
        </p:spPr>
        <p:txBody>
          <a:bodyPr wrap="square">
            <a:spAutoFit/>
          </a:bodyPr>
          <a:lstStyle/>
          <a:p>
            <a:pPr marL="342900" indent="-342900" algn="just">
              <a:buFont typeface="Arial" panose="020B0604020202020204" pitchFamily="34" charset="0"/>
              <a:buChar char="•"/>
            </a:pPr>
            <a:r>
              <a:rPr lang="en-IN" sz="2800" dirty="0">
                <a:cs typeface="Arial" panose="020B0604020202020204" pitchFamily="34" charset="0"/>
              </a:rPr>
              <a:t>In this tutorial, we studied the main definitions of semiconductor and their devices with characteristic properties.</a:t>
            </a:r>
          </a:p>
          <a:p>
            <a:pPr marL="342900" indent="-342900" algn="just">
              <a:buFont typeface="Arial" panose="020B0604020202020204" pitchFamily="34" charset="0"/>
              <a:buChar char="•"/>
            </a:pPr>
            <a:r>
              <a:rPr lang="en-IN" sz="2800" dirty="0">
                <a:cs typeface="Arial" panose="020B0604020202020204" pitchFamily="34" charset="0"/>
              </a:rPr>
              <a:t>Responsible factors on which the rate of generation and recombination depends in semiconductors. </a:t>
            </a:r>
          </a:p>
          <a:p>
            <a:pPr marL="342900" indent="-342900" algn="just">
              <a:buFont typeface="Arial" panose="020B0604020202020204" pitchFamily="34" charset="0"/>
              <a:buChar char="•"/>
            </a:pPr>
            <a:r>
              <a:rPr lang="en-IN" sz="2800" dirty="0">
                <a:cs typeface="Arial" panose="020B0604020202020204" pitchFamily="34" charset="0"/>
              </a:rPr>
              <a:t>We also looked at that carrier concentration in n-type and p-type semiconductors.</a:t>
            </a:r>
          </a:p>
          <a:p>
            <a:pPr marL="342900" indent="-342900" algn="just">
              <a:buFont typeface="Arial" panose="020B0604020202020204" pitchFamily="34" charset="0"/>
              <a:buChar char="•"/>
            </a:pPr>
            <a:r>
              <a:rPr lang="en-IN" sz="2800" dirty="0">
                <a:cs typeface="Arial" panose="020B0604020202020204" pitchFamily="34" charset="0"/>
              </a:rPr>
              <a:t>We also looked at that carrier recombination rate is proportional to the product of electron and hole concentrations. </a:t>
            </a:r>
          </a:p>
          <a:p>
            <a:pPr marL="342900" indent="-342900" algn="just">
              <a:buFont typeface="Arial" panose="020B0604020202020204" pitchFamily="34" charset="0"/>
              <a:buChar char="•"/>
            </a:pPr>
            <a:r>
              <a:rPr lang="en-IN" sz="2800" dirty="0">
                <a:cs typeface="Arial" panose="020B0604020202020204" pitchFamily="34" charset="0"/>
              </a:rPr>
              <a:t>In the end, we discussed some applications of the semiconductor devices in the different fields.</a:t>
            </a:r>
            <a:endParaRPr lang="en-US" sz="2000" dirty="0">
              <a:cs typeface="Arial" panose="020B0604020202020204" pitchFamily="34" charset="0"/>
            </a:endParaRPr>
          </a:p>
        </p:txBody>
      </p:sp>
    </p:spTree>
    <p:extLst>
      <p:ext uri="{BB962C8B-B14F-4D97-AF65-F5344CB8AC3E}">
        <p14:creationId xmlns:p14="http://schemas.microsoft.com/office/powerpoint/2010/main" xmlns="" val="484195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dirty="0">
                <a:latin typeface="Casper Bold" panose="02000806040000020004" pitchFamily="2" charset="0"/>
                <a:cs typeface="Arial" panose="020B0604020202020204" pitchFamily="34" charset="0"/>
              </a:rPr>
              <a:t>ASSESSMENT PATTERN </a:t>
            </a:r>
            <a:r>
              <a:rPr lang="en-US" sz="2800" dirty="0"/>
              <a:t>  </a:t>
            </a: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Content Placeholder 2"/>
          <p:cNvSpPr>
            <a:spLocks noGrp="1"/>
          </p:cNvSpPr>
          <p:nvPr>
            <p:ph idx="1"/>
          </p:nvPr>
        </p:nvSpPr>
        <p:spPr>
          <a:xfrm>
            <a:off x="838200" y="1825624"/>
            <a:ext cx="10756900" cy="4530725"/>
          </a:xfrm>
          <a:ln>
            <a:noFill/>
          </a:ln>
        </p:spPr>
        <p:style>
          <a:lnRef idx="2">
            <a:schemeClr val="dk1"/>
          </a:lnRef>
          <a:fillRef idx="1">
            <a:schemeClr val="lt1"/>
          </a:fillRef>
          <a:effectRef idx="0">
            <a:schemeClr val="dk1"/>
          </a:effectRef>
          <a:fontRef idx="minor">
            <a:schemeClr val="dk1"/>
          </a:fontRef>
        </p:style>
        <p:txBody>
          <a:bodyPr>
            <a:normAutofit fontScale="70000" lnSpcReduction="20000"/>
          </a:bodyPr>
          <a:lstStyle/>
          <a:p>
            <a:pPr marL="0" lvl="0" indent="0" algn="ctr">
              <a:buNone/>
            </a:pPr>
            <a:r>
              <a:rPr lang="en-IN" sz="3400" dirty="0">
                <a:solidFill>
                  <a:prstClr val="black"/>
                </a:solidFill>
                <a:cs typeface="Arial" panose="020B0604020202020204" pitchFamily="34" charset="0"/>
              </a:rPr>
              <a:t>Section- A</a:t>
            </a:r>
          </a:p>
          <a:p>
            <a:pPr marL="0" lvl="0" indent="0" algn="just">
              <a:buNone/>
            </a:pPr>
            <a:r>
              <a:rPr lang="en-IN" sz="3400" dirty="0">
                <a:solidFill>
                  <a:prstClr val="black"/>
                </a:solidFill>
                <a:cs typeface="Arial" panose="020B0604020202020204" pitchFamily="34" charset="0"/>
              </a:rPr>
              <a:t>1. All questions are mandatory. Each question carry 2 marks each</a:t>
            </a:r>
          </a:p>
          <a:p>
            <a:pPr marL="342900" lvl="0" indent="-342900" algn="just">
              <a:buAutoNum type="alphaLcParenBoth"/>
            </a:pPr>
            <a:r>
              <a:rPr lang="en-IN" sz="3400" dirty="0">
                <a:solidFill>
                  <a:prstClr val="black"/>
                </a:solidFill>
                <a:cs typeface="Arial" panose="020B0604020202020204" pitchFamily="34" charset="0"/>
              </a:rPr>
              <a:t> </a:t>
            </a:r>
            <a:r>
              <a:rPr lang="en-IN" sz="3400" dirty="0" smtClean="0">
                <a:solidFill>
                  <a:prstClr val="black"/>
                </a:solidFill>
                <a:cs typeface="Arial" panose="020B0604020202020204" pitchFamily="34" charset="0"/>
              </a:rPr>
              <a:t>Explain </a:t>
            </a:r>
            <a:r>
              <a:rPr lang="en-IN" sz="3400" dirty="0">
                <a:solidFill>
                  <a:prstClr val="black"/>
                </a:solidFill>
                <a:cs typeface="Arial" panose="020B0604020202020204" pitchFamily="34" charset="0"/>
              </a:rPr>
              <a:t>“carrier Generation in semiconductors</a:t>
            </a:r>
            <a:r>
              <a:rPr lang="en-IN" sz="3400" dirty="0" smtClean="0">
                <a:solidFill>
                  <a:prstClr val="black"/>
                </a:solidFill>
                <a:cs typeface="Arial" panose="020B0604020202020204" pitchFamily="34" charset="0"/>
              </a:rPr>
              <a:t>”</a:t>
            </a:r>
            <a:endParaRPr lang="en-IN" sz="3400" dirty="0">
              <a:solidFill>
                <a:prstClr val="black"/>
              </a:solidFill>
              <a:cs typeface="Arial" panose="020B0604020202020204" pitchFamily="34" charset="0"/>
            </a:endParaRPr>
          </a:p>
          <a:p>
            <a:pPr marL="342900" lvl="0" indent="-342900" algn="just">
              <a:buAutoNum type="alphaLcParenBoth"/>
            </a:pPr>
            <a:r>
              <a:rPr lang="en-IN" sz="3400" dirty="0">
                <a:solidFill>
                  <a:prstClr val="black"/>
                </a:solidFill>
                <a:cs typeface="Arial" panose="020B0604020202020204" pitchFamily="34" charset="0"/>
              </a:rPr>
              <a:t>Why the we prefer mostly semiconductor devices based technology ?</a:t>
            </a:r>
          </a:p>
          <a:p>
            <a:pPr marL="0" lvl="0" indent="0" algn="ctr">
              <a:buNone/>
            </a:pPr>
            <a:r>
              <a:rPr lang="en-IN" sz="3400" dirty="0">
                <a:solidFill>
                  <a:prstClr val="black"/>
                </a:solidFill>
                <a:cs typeface="Arial" panose="020B0604020202020204" pitchFamily="34" charset="0"/>
              </a:rPr>
              <a:t>Section- B</a:t>
            </a:r>
          </a:p>
          <a:p>
            <a:pPr marL="0" lvl="0" indent="0" algn="just">
              <a:buNone/>
            </a:pPr>
            <a:r>
              <a:rPr lang="en-IN" sz="3400" dirty="0">
                <a:solidFill>
                  <a:prstClr val="black"/>
                </a:solidFill>
                <a:cs typeface="Arial" panose="020B0604020202020204" pitchFamily="34" charset="0"/>
              </a:rPr>
              <a:t>Following questions carry 10 marks each</a:t>
            </a:r>
          </a:p>
          <a:p>
            <a:pPr marL="0" lvl="0" indent="0" algn="just">
              <a:buNone/>
            </a:pPr>
            <a:r>
              <a:rPr lang="en-IN" sz="3400" dirty="0">
                <a:solidFill>
                  <a:prstClr val="black"/>
                </a:solidFill>
                <a:cs typeface="Arial" panose="020B0604020202020204" pitchFamily="34" charset="0"/>
              </a:rPr>
              <a:t>2. </a:t>
            </a:r>
            <a:r>
              <a:rPr lang="en-US" sz="3400" dirty="0">
                <a:solidFill>
                  <a:prstClr val="black"/>
                </a:solidFill>
                <a:cs typeface="Arial" panose="020B0604020202020204" pitchFamily="34" charset="0"/>
              </a:rPr>
              <a:t>Explain  </a:t>
            </a:r>
          </a:p>
          <a:p>
            <a:pPr marL="0" lvl="0" indent="0" algn="just">
              <a:buNone/>
            </a:pPr>
            <a:r>
              <a:rPr lang="en-US" sz="3400" dirty="0">
                <a:solidFill>
                  <a:prstClr val="black"/>
                </a:solidFill>
                <a:cs typeface="Arial" panose="020B0604020202020204" pitchFamily="34" charset="0"/>
              </a:rPr>
              <a:t>    a) </a:t>
            </a:r>
            <a:r>
              <a:rPr lang="en-US" sz="3400" dirty="0" smtClean="0">
                <a:solidFill>
                  <a:prstClr val="black"/>
                </a:solidFill>
                <a:cs typeface="Arial" panose="020B0604020202020204" pitchFamily="34" charset="0"/>
              </a:rPr>
              <a:t>Illustrate </a:t>
            </a:r>
            <a:r>
              <a:rPr lang="en-US" sz="3400" dirty="0">
                <a:solidFill>
                  <a:prstClr val="black"/>
                </a:solidFill>
                <a:cs typeface="Arial" panose="020B0604020202020204" pitchFamily="34" charset="0"/>
              </a:rPr>
              <a:t>carrier concentration in n-type </a:t>
            </a:r>
            <a:r>
              <a:rPr lang="en-US" sz="3400" dirty="0" smtClean="0">
                <a:solidFill>
                  <a:prstClr val="black"/>
                </a:solidFill>
                <a:cs typeface="Arial" panose="020B0604020202020204" pitchFamily="34" charset="0"/>
              </a:rPr>
              <a:t>semiconductor.</a:t>
            </a:r>
            <a:endParaRPr lang="en-US" sz="3400" dirty="0">
              <a:solidFill>
                <a:prstClr val="black"/>
              </a:solidFill>
              <a:cs typeface="Arial" panose="020B0604020202020204" pitchFamily="34" charset="0"/>
            </a:endParaRPr>
          </a:p>
          <a:p>
            <a:pPr marL="0" lvl="0" indent="0" algn="just">
              <a:buNone/>
            </a:pPr>
            <a:r>
              <a:rPr lang="en-US" sz="3400" dirty="0">
                <a:solidFill>
                  <a:prstClr val="black"/>
                </a:solidFill>
                <a:cs typeface="Arial" panose="020B0604020202020204" pitchFamily="34" charset="0"/>
              </a:rPr>
              <a:t>    b) </a:t>
            </a:r>
            <a:r>
              <a:rPr lang="en-US" sz="3400" dirty="0" smtClean="0">
                <a:solidFill>
                  <a:prstClr val="black"/>
                </a:solidFill>
                <a:cs typeface="Arial" panose="020B0604020202020204" pitchFamily="34" charset="0"/>
              </a:rPr>
              <a:t>Tabulate </a:t>
            </a:r>
            <a:r>
              <a:rPr lang="en-US" sz="3400" dirty="0">
                <a:solidFill>
                  <a:prstClr val="black"/>
                </a:solidFill>
                <a:cs typeface="Arial" panose="020B0604020202020204" pitchFamily="34" charset="0"/>
              </a:rPr>
              <a:t>the main factors which affects carrier generation and recombination </a:t>
            </a:r>
          </a:p>
          <a:p>
            <a:pPr marL="0" lvl="0" indent="0" algn="just">
              <a:buNone/>
            </a:pPr>
            <a:endParaRPr lang="en-US" sz="3400" dirty="0">
              <a:solidFill>
                <a:prstClr val="black"/>
              </a:solidFill>
              <a:cs typeface="Arial" panose="020B0604020202020204" pitchFamily="34" charset="0"/>
            </a:endParaRPr>
          </a:p>
          <a:p>
            <a:pPr marL="0" lvl="0" indent="0" algn="just">
              <a:buNone/>
            </a:pPr>
            <a:r>
              <a:rPr lang="en-US" sz="3400" dirty="0" smtClean="0">
                <a:solidFill>
                  <a:prstClr val="black"/>
                </a:solidFill>
                <a:cs typeface="Arial" panose="020B0604020202020204" pitchFamily="34" charset="0"/>
              </a:rPr>
              <a:t>3. Express </a:t>
            </a:r>
            <a:r>
              <a:rPr lang="en-US" sz="3400" dirty="0">
                <a:solidFill>
                  <a:prstClr val="black"/>
                </a:solidFill>
                <a:cs typeface="Arial" panose="020B0604020202020204" pitchFamily="34" charset="0"/>
              </a:rPr>
              <a:t>your views on the various applications of semiconductor devices like diodes, transistors </a:t>
            </a:r>
            <a:r>
              <a:rPr lang="en-US" sz="3400" dirty="0" err="1" smtClean="0">
                <a:solidFill>
                  <a:prstClr val="black"/>
                </a:solidFill>
                <a:cs typeface="Arial" panose="020B0604020202020204" pitchFamily="34" charset="0"/>
              </a:rPr>
              <a:t>etc</a:t>
            </a:r>
            <a:endParaRPr lang="en-US" sz="3400" dirty="0"/>
          </a:p>
          <a:p>
            <a:pPr marL="0" lvl="0" indent="0" algn="just">
              <a:buNone/>
            </a:pPr>
            <a:endParaRPr lang="en-US" dirty="0"/>
          </a:p>
        </p:txBody>
      </p:sp>
    </p:spTree>
    <p:extLst>
      <p:ext uri="{BB962C8B-B14F-4D97-AF65-F5344CB8AC3E}">
        <p14:creationId xmlns:p14="http://schemas.microsoft.com/office/powerpoint/2010/main" xmlns="" val="42113015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8BC291-DE7E-4E73-A48A-90DE92EBFE1B}"/>
              </a:ext>
            </a:extLst>
          </p:cNvPr>
          <p:cNvSpPr>
            <a:spLocks noGrp="1"/>
          </p:cNvSpPr>
          <p:nvPr>
            <p:ph type="title"/>
          </p:nvPr>
        </p:nvSpPr>
        <p:spPr/>
        <p:txBody>
          <a:bodyPr>
            <a:normAutofit/>
          </a:bodyPr>
          <a:lstStyle/>
          <a:p>
            <a:r>
              <a:rPr lang="en-US" dirty="0">
                <a:latin typeface="+mn-lt"/>
              </a:rPr>
              <a:t>                              </a:t>
            </a:r>
            <a:r>
              <a:rPr lang="en-US" b="1" dirty="0">
                <a:latin typeface="+mn-lt"/>
              </a:rPr>
              <a:t>QUIZ- BUCKET</a:t>
            </a:r>
          </a:p>
        </p:txBody>
      </p:sp>
      <p:sp>
        <p:nvSpPr>
          <p:cNvPr id="3" name="Content Placeholder 2">
            <a:extLst>
              <a:ext uri="{FF2B5EF4-FFF2-40B4-BE49-F238E27FC236}">
                <a16:creationId xmlns="" xmlns:a16="http://schemas.microsoft.com/office/drawing/2014/main" id="{B6A4B4BA-7669-4F74-9C78-A0F35AA17C1D}"/>
              </a:ext>
            </a:extLst>
          </p:cNvPr>
          <p:cNvSpPr>
            <a:spLocks noGrp="1"/>
          </p:cNvSpPr>
          <p:nvPr>
            <p:ph idx="1"/>
          </p:nvPr>
        </p:nvSpPr>
        <p:spPr>
          <a:xfrm>
            <a:off x="838200" y="1825625"/>
            <a:ext cx="10515600" cy="4667250"/>
          </a:xfrm>
        </p:spPr>
        <p:txBody>
          <a:bodyPr>
            <a:noAutofit/>
          </a:bodyPr>
          <a:lstStyle/>
          <a:p>
            <a:pPr marL="0" indent="0" algn="just">
              <a:buNone/>
            </a:pPr>
            <a:r>
              <a:rPr lang="en-US" sz="2400" dirty="0"/>
              <a:t>1.Q: Electron-hole pairs are produced by </a:t>
            </a:r>
          </a:p>
          <a:p>
            <a:pPr marL="514350" indent="-514350" algn="just">
              <a:buAutoNum type="alphaLcParenR"/>
            </a:pPr>
            <a:r>
              <a:rPr lang="en-US" sz="2400" dirty="0"/>
              <a:t>Recombination</a:t>
            </a:r>
          </a:p>
          <a:p>
            <a:pPr marL="514350" indent="-514350" algn="just">
              <a:buAutoNum type="alphaLcParenR"/>
            </a:pPr>
            <a:r>
              <a:rPr lang="en-US" sz="2400" dirty="0"/>
              <a:t>Thermal Energy </a:t>
            </a:r>
          </a:p>
          <a:p>
            <a:pPr marL="0" indent="0" algn="just">
              <a:buNone/>
            </a:pPr>
            <a:r>
              <a:rPr lang="en-US" sz="2400" dirty="0"/>
              <a:t>c)     Ionization</a:t>
            </a:r>
          </a:p>
          <a:p>
            <a:pPr marL="0" indent="0" algn="just">
              <a:buNone/>
            </a:pPr>
            <a:r>
              <a:rPr lang="en-US" sz="2400" dirty="0"/>
              <a:t>d)     Doping.</a:t>
            </a:r>
          </a:p>
          <a:p>
            <a:pPr marL="0" indent="0" algn="just">
              <a:buNone/>
            </a:pPr>
            <a:r>
              <a:rPr lang="en-US" sz="2400" dirty="0"/>
              <a:t>2.Q: Which of the following statements is not  diode application in semiconductor? </a:t>
            </a:r>
          </a:p>
          <a:p>
            <a:pPr marL="514350" indent="-514350" algn="just">
              <a:buAutoNum type="alphaLcParenR"/>
            </a:pPr>
            <a:r>
              <a:rPr lang="en-US" sz="2400" dirty="0"/>
              <a:t>Diode as voltage regulator </a:t>
            </a:r>
          </a:p>
          <a:p>
            <a:pPr marL="514350" indent="-514350" algn="just">
              <a:buFont typeface="Arial" panose="020B0604020202020204" pitchFamily="34" charset="0"/>
              <a:buAutoNum type="alphaLcParenR"/>
            </a:pPr>
            <a:r>
              <a:rPr lang="en-US" sz="2400" dirty="0"/>
              <a:t>Diode as amplifier </a:t>
            </a:r>
          </a:p>
          <a:p>
            <a:pPr marL="514350" indent="-514350" algn="just">
              <a:buFont typeface="Arial" panose="020B0604020202020204" pitchFamily="34" charset="0"/>
              <a:buAutoNum type="alphaLcParenR"/>
            </a:pPr>
            <a:r>
              <a:rPr lang="en-US" sz="2400" dirty="0"/>
              <a:t>Diode as rectifier </a:t>
            </a:r>
          </a:p>
          <a:p>
            <a:pPr marL="514350" indent="-514350" algn="just">
              <a:buFont typeface="Arial" panose="020B0604020202020204" pitchFamily="34" charset="0"/>
              <a:buAutoNum type="alphaLcParenR"/>
            </a:pPr>
            <a:r>
              <a:rPr lang="en-US" sz="2400" dirty="0"/>
              <a:t>Diode as solar cell </a:t>
            </a:r>
          </a:p>
          <a:p>
            <a:pPr marL="514350" indent="-514350" algn="just">
              <a:buAutoNum type="alphaLcParenR"/>
            </a:pPr>
            <a:endParaRPr lang="en-US" sz="2400" dirty="0"/>
          </a:p>
        </p:txBody>
      </p:sp>
      <p:sp>
        <p:nvSpPr>
          <p:cNvPr id="4" name="Slide Number Placeholder 3">
            <a:extLst>
              <a:ext uri="{FF2B5EF4-FFF2-40B4-BE49-F238E27FC236}">
                <a16:creationId xmlns="" xmlns:a16="http://schemas.microsoft.com/office/drawing/2014/main" id="{7945E9EB-C7DF-433B-81ED-460E4DAF306D}"/>
              </a:ext>
            </a:extLst>
          </p:cNvPr>
          <p:cNvSpPr>
            <a:spLocks noGrp="1"/>
          </p:cNvSpPr>
          <p:nvPr>
            <p:ph type="sldNum" sz="quarter" idx="12"/>
          </p:nvPr>
        </p:nvSpPr>
        <p:spPr/>
        <p:txBody>
          <a:bodyPr/>
          <a:lstStyle/>
          <a:p>
            <a:fld id="{BDCDBBEF-AA6C-4BA6-85B2-A17D7F280E38}" type="slidenum">
              <a:rPr lang="en-US" smtClean="0"/>
              <a:pPr/>
              <a:t>22</a:t>
            </a:fld>
            <a:endParaRPr lang="en-US"/>
          </a:p>
        </p:txBody>
      </p:sp>
    </p:spTree>
    <p:extLst>
      <p:ext uri="{BB962C8B-B14F-4D97-AF65-F5344CB8AC3E}">
        <p14:creationId xmlns:p14="http://schemas.microsoft.com/office/powerpoint/2010/main" xmlns="" val="349849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D044D21-B1E7-4871-8049-82F849BEDB43}"/>
              </a:ext>
            </a:extLst>
          </p:cNvPr>
          <p:cNvSpPr>
            <a:spLocks noGrp="1"/>
          </p:cNvSpPr>
          <p:nvPr>
            <p:ph type="title"/>
          </p:nvPr>
        </p:nvSpPr>
        <p:spPr/>
        <p:txBody>
          <a:bodyPr/>
          <a:lstStyle/>
          <a:p>
            <a:r>
              <a:rPr lang="en-US" dirty="0"/>
              <a:t>                             </a:t>
            </a:r>
            <a:r>
              <a:rPr lang="en-US" b="1" dirty="0">
                <a:latin typeface="+mn-lt"/>
              </a:rPr>
              <a:t>QUIZ- BUCKET</a:t>
            </a:r>
          </a:p>
        </p:txBody>
      </p:sp>
      <p:sp>
        <p:nvSpPr>
          <p:cNvPr id="3" name="Content Placeholder 2">
            <a:extLst>
              <a:ext uri="{FF2B5EF4-FFF2-40B4-BE49-F238E27FC236}">
                <a16:creationId xmlns="" xmlns:a16="http://schemas.microsoft.com/office/drawing/2014/main" id="{70F76D47-B90A-40E7-9D17-0BF3EB6226BD}"/>
              </a:ext>
            </a:extLst>
          </p:cNvPr>
          <p:cNvSpPr>
            <a:spLocks noGrp="1"/>
          </p:cNvSpPr>
          <p:nvPr>
            <p:ph idx="1"/>
          </p:nvPr>
        </p:nvSpPr>
        <p:spPr>
          <a:xfrm>
            <a:off x="838200" y="1825625"/>
            <a:ext cx="10515600" cy="4667250"/>
          </a:xfrm>
        </p:spPr>
        <p:txBody>
          <a:bodyPr>
            <a:noAutofit/>
          </a:bodyPr>
          <a:lstStyle/>
          <a:p>
            <a:pPr marL="0" indent="0">
              <a:buNone/>
            </a:pPr>
            <a:r>
              <a:rPr lang="en-US" sz="2400" dirty="0"/>
              <a:t>3.Q: The most widely used semi-conductive material in electronic devices </a:t>
            </a:r>
            <a:r>
              <a:rPr lang="en-US" sz="2400" dirty="0" smtClean="0"/>
              <a:t> </a:t>
            </a:r>
            <a:endParaRPr lang="en-US" sz="2400" dirty="0"/>
          </a:p>
          <a:p>
            <a:pPr marL="0" indent="0">
              <a:buNone/>
            </a:pPr>
            <a:r>
              <a:rPr lang="en-US" sz="2400" dirty="0"/>
              <a:t>a) Germanium</a:t>
            </a:r>
          </a:p>
          <a:p>
            <a:pPr marL="0" indent="0">
              <a:buNone/>
            </a:pPr>
            <a:r>
              <a:rPr lang="en-US" sz="2400" dirty="0"/>
              <a:t>b) Carbon</a:t>
            </a:r>
          </a:p>
          <a:p>
            <a:pPr marL="0" indent="0">
              <a:buNone/>
            </a:pPr>
            <a:r>
              <a:rPr lang="en-US" sz="2400" dirty="0"/>
              <a:t>c) Silicon</a:t>
            </a:r>
          </a:p>
          <a:p>
            <a:pPr marL="0" indent="0">
              <a:buNone/>
            </a:pPr>
            <a:r>
              <a:rPr lang="en-US" sz="2400" dirty="0"/>
              <a:t>d) Copper </a:t>
            </a:r>
          </a:p>
          <a:p>
            <a:pPr marL="0" indent="0">
              <a:buNone/>
            </a:pPr>
            <a:r>
              <a:rPr lang="en-US" sz="2400" dirty="0"/>
              <a:t>4.Q: The random motion of holes and electrons due to thermal agitation is </a:t>
            </a:r>
            <a:r>
              <a:rPr lang="en-US" sz="2400" dirty="0" smtClean="0"/>
              <a:t>called </a:t>
            </a:r>
            <a:endParaRPr lang="en-US" sz="2400" dirty="0"/>
          </a:p>
          <a:p>
            <a:pPr marL="0" indent="0">
              <a:buNone/>
            </a:pPr>
            <a:r>
              <a:rPr lang="en-US" sz="2400" dirty="0"/>
              <a:t>a) Ionization </a:t>
            </a:r>
          </a:p>
          <a:p>
            <a:pPr marL="0" indent="0">
              <a:buNone/>
            </a:pPr>
            <a:r>
              <a:rPr lang="en-US" sz="2400" dirty="0"/>
              <a:t>b) Pressure</a:t>
            </a:r>
          </a:p>
          <a:p>
            <a:pPr marL="0" indent="0">
              <a:buNone/>
            </a:pPr>
            <a:r>
              <a:rPr lang="en-US" sz="2400" dirty="0"/>
              <a:t>c) Diffusion</a:t>
            </a:r>
          </a:p>
          <a:p>
            <a:pPr marL="0" indent="0">
              <a:buNone/>
            </a:pPr>
            <a:r>
              <a:rPr lang="en-US" sz="2400" dirty="0"/>
              <a:t>d) None of above </a:t>
            </a:r>
          </a:p>
        </p:txBody>
      </p:sp>
      <p:sp>
        <p:nvSpPr>
          <p:cNvPr id="4" name="Slide Number Placeholder 3">
            <a:extLst>
              <a:ext uri="{FF2B5EF4-FFF2-40B4-BE49-F238E27FC236}">
                <a16:creationId xmlns="" xmlns:a16="http://schemas.microsoft.com/office/drawing/2014/main" id="{7B68775F-CB77-40A5-A769-3B2B300C64A6}"/>
              </a:ext>
            </a:extLst>
          </p:cNvPr>
          <p:cNvSpPr>
            <a:spLocks noGrp="1"/>
          </p:cNvSpPr>
          <p:nvPr>
            <p:ph type="sldNum" sz="quarter" idx="12"/>
          </p:nvPr>
        </p:nvSpPr>
        <p:spPr/>
        <p:txBody>
          <a:bodyPr/>
          <a:lstStyle/>
          <a:p>
            <a:fld id="{BDCDBBEF-AA6C-4BA6-85B2-A17D7F280E38}" type="slidenum">
              <a:rPr lang="en-US" smtClean="0"/>
              <a:pPr/>
              <a:t>23</a:t>
            </a:fld>
            <a:endParaRPr lang="en-US"/>
          </a:p>
        </p:txBody>
      </p:sp>
    </p:spTree>
    <p:extLst>
      <p:ext uri="{BB962C8B-B14F-4D97-AF65-F5344CB8AC3E}">
        <p14:creationId xmlns:p14="http://schemas.microsoft.com/office/powerpoint/2010/main" xmlns="" val="35908941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mn-lt"/>
                <a:cs typeface="Arial" panose="020B0604020202020204" pitchFamily="34" charset="0"/>
              </a:rPr>
              <a:t>REFERENCES </a:t>
            </a:r>
            <a:r>
              <a:rPr lang="en-US" b="1" dirty="0">
                <a:latin typeface="+mn-lt"/>
              </a:rPr>
              <a:t>  </a:t>
            </a:r>
          </a:p>
        </p:txBody>
      </p:sp>
      <p:sp>
        <p:nvSpPr>
          <p:cNvPr id="3" name="Content Placeholder 2"/>
          <p:cNvSpPr>
            <a:spLocks noGrp="1"/>
          </p:cNvSpPr>
          <p:nvPr>
            <p:ph idx="1"/>
          </p:nvPr>
        </p:nvSpPr>
        <p:spPr>
          <a:xfrm>
            <a:off x="838200" y="1825624"/>
            <a:ext cx="6907306" cy="4723093"/>
          </a:xfrm>
        </p:spPr>
        <p:txBody>
          <a:bodyPr>
            <a:noAutofit/>
          </a:bodyPr>
          <a:lstStyle/>
          <a:p>
            <a:pPr marL="0" indent="0" algn="just">
              <a:buNone/>
            </a:pPr>
            <a:r>
              <a:rPr lang="en-IN" sz="2000" b="1" dirty="0" smtClean="0">
                <a:latin typeface="Casper" panose="02000506000000020004" pitchFamily="2" charset="0"/>
                <a:cs typeface="Arial" panose="020B0604020202020204" pitchFamily="34" charset="0"/>
              </a:rPr>
              <a:t>Websites &amp; Books:</a:t>
            </a:r>
            <a:endParaRPr lang="en-IN" sz="1600" dirty="0">
              <a:latin typeface="Casper"/>
            </a:endParaRPr>
          </a:p>
          <a:p>
            <a:r>
              <a:rPr lang="en-US" sz="1600" dirty="0" smtClean="0"/>
              <a:t>https://slideplayer.com/slide/11412380/</a:t>
            </a:r>
          </a:p>
          <a:p>
            <a:r>
              <a:rPr lang="en-US" sz="1600" dirty="0" smtClean="0"/>
              <a:t>file:///C:Physics_of_Semiconductor_Devices.pdf</a:t>
            </a:r>
          </a:p>
          <a:p>
            <a:r>
              <a:rPr lang="en-US" sz="1600" dirty="0" smtClean="0"/>
              <a:t>http://engineering.nyu.edu/gk12/amps-cbri/pdf/Basic%20Electronics.pdf</a:t>
            </a:r>
          </a:p>
          <a:p>
            <a:r>
              <a:rPr lang="en-US" sz="1600" dirty="0" smtClean="0"/>
              <a:t>https://ecee.colorado.edu/~bart/book/book/chapter7/ch7_1.htm</a:t>
            </a:r>
          </a:p>
          <a:p>
            <a:r>
              <a:rPr lang="en-US" sz="1600" dirty="0" smtClean="0"/>
              <a:t>https://www2.mvcc.edu/users/faculty/jfiore/Linear/SemiconductorDevices.pdf</a:t>
            </a:r>
          </a:p>
          <a:p>
            <a:r>
              <a:rPr lang="en-US" sz="1600" dirty="0" err="1" smtClean="0"/>
              <a:t>Sze</a:t>
            </a:r>
            <a:r>
              <a:rPr lang="en-US" sz="1600" dirty="0" smtClean="0"/>
              <a:t> S.M., K. Ng Kwok., Physics of </a:t>
            </a:r>
            <a:r>
              <a:rPr lang="en-US" sz="1600" dirty="0" err="1" smtClean="0"/>
              <a:t>SemiconductorDevices</a:t>
            </a:r>
            <a:r>
              <a:rPr lang="en-US" sz="1600" dirty="0" smtClean="0"/>
              <a:t>, Edition 3rd , (2011), Wiley India.</a:t>
            </a:r>
          </a:p>
          <a:p>
            <a:r>
              <a:rPr lang="en-US" sz="1600" dirty="0" err="1" smtClean="0"/>
              <a:t>KasapS.O.,Principles</a:t>
            </a:r>
            <a:r>
              <a:rPr lang="en-US" sz="1600" dirty="0" smtClean="0"/>
              <a:t> of </a:t>
            </a:r>
            <a:r>
              <a:rPr lang="en-US" sz="1600" dirty="0" err="1" smtClean="0"/>
              <a:t>Electronicand</a:t>
            </a:r>
            <a:r>
              <a:rPr lang="en-US" sz="1600" dirty="0" smtClean="0"/>
              <a:t> materials and </a:t>
            </a:r>
            <a:r>
              <a:rPr lang="en-US" sz="1600" dirty="0" err="1" smtClean="0"/>
              <a:t>devices,Edition</a:t>
            </a:r>
            <a:r>
              <a:rPr lang="en-US" sz="1600" dirty="0" smtClean="0"/>
              <a:t> 1st, (2007), Tata McGraw-Hill, Noida</a:t>
            </a:r>
          </a:p>
          <a:p>
            <a:r>
              <a:rPr lang="en-US" sz="1600" dirty="0" smtClean="0"/>
              <a:t>Garcia N., Damask A., Physics </a:t>
            </a:r>
            <a:r>
              <a:rPr lang="en-US" sz="1600" dirty="0" err="1" smtClean="0"/>
              <a:t>forcomputer</a:t>
            </a:r>
            <a:r>
              <a:rPr lang="en-US" sz="1600" dirty="0" smtClean="0"/>
              <a:t> science, students,Edition1st, (1991), Springer-</a:t>
            </a:r>
            <a:r>
              <a:rPr lang="en-US" sz="1600" dirty="0" err="1" smtClean="0"/>
              <a:t>Verlag</a:t>
            </a:r>
            <a:r>
              <a:rPr lang="en-US" sz="1600" dirty="0" smtClean="0"/>
              <a:t>, </a:t>
            </a:r>
            <a:r>
              <a:rPr lang="en-US" sz="1600" dirty="0" err="1" smtClean="0"/>
              <a:t>NewYork</a:t>
            </a:r>
            <a:r>
              <a:rPr lang="en-US" sz="1600" dirty="0" smtClean="0"/>
              <a:t>.</a:t>
            </a:r>
          </a:p>
          <a:p>
            <a:pPr marL="0" indent="0" algn="just">
              <a:buNone/>
            </a:pPr>
            <a:endParaRPr lang="en-US" sz="2000" b="1"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Rectangle 4"/>
          <p:cNvSpPr/>
          <p:nvPr/>
        </p:nvSpPr>
        <p:spPr>
          <a:xfrm>
            <a:off x="838199" y="1803400"/>
            <a:ext cx="7109013" cy="46942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23290"/>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 xmlns:a16="http://schemas.microsoft.com/office/drawing/2014/main" id="{3DF4D996-D4E4-4043-8E39-621048B7568F}"/>
              </a:ext>
            </a:extLst>
          </p:cNvPr>
          <p:cNvPicPr>
            <a:picLocks noChangeAspect="1"/>
          </p:cNvPicPr>
          <p:nvPr/>
        </p:nvPicPr>
        <p:blipFill>
          <a:blip r:embed="rId2"/>
          <a:stretch>
            <a:fillRect/>
          </a:stretch>
        </p:blipFill>
        <p:spPr>
          <a:xfrm>
            <a:off x="7745506" y="1940959"/>
            <a:ext cx="3747799" cy="4364313"/>
          </a:xfrm>
          <a:prstGeom prst="rect">
            <a:avLst/>
          </a:prstGeom>
        </p:spPr>
      </p:pic>
    </p:spTree>
    <p:extLst>
      <p:ext uri="{BB962C8B-B14F-4D97-AF65-F5344CB8AC3E}">
        <p14:creationId xmlns:p14="http://schemas.microsoft.com/office/powerpoint/2010/main" xmlns="" val="3361918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mn-lt"/>
                <a:cs typeface="Arial" panose="020B0604020202020204" pitchFamily="34" charset="0"/>
              </a:rPr>
              <a:t>REFERENCES </a:t>
            </a:r>
            <a:r>
              <a:rPr lang="en-US" b="1" dirty="0">
                <a:latin typeface="+mn-lt"/>
              </a:rPr>
              <a:t>  </a:t>
            </a:r>
          </a:p>
        </p:txBody>
      </p:sp>
      <p:sp>
        <p:nvSpPr>
          <p:cNvPr id="3" name="Content Placeholder 2"/>
          <p:cNvSpPr>
            <a:spLocks noGrp="1"/>
          </p:cNvSpPr>
          <p:nvPr>
            <p:ph idx="1"/>
          </p:nvPr>
        </p:nvSpPr>
        <p:spPr>
          <a:xfrm>
            <a:off x="838200" y="1825624"/>
            <a:ext cx="6907306" cy="4723093"/>
          </a:xfrm>
        </p:spPr>
        <p:txBody>
          <a:bodyPr>
            <a:normAutofit fontScale="92500" lnSpcReduction="10000"/>
          </a:bodyPr>
          <a:lstStyle/>
          <a:p>
            <a:pPr marL="0" indent="0" algn="just">
              <a:buNone/>
            </a:pPr>
            <a:r>
              <a:rPr lang="en-US" sz="1600" b="1" dirty="0" smtClean="0">
                <a:latin typeface="Calibri" pitchFamily="34" charset="0"/>
                <a:cs typeface="Calibri" pitchFamily="34" charset="0"/>
              </a:rPr>
              <a:t>Images</a:t>
            </a:r>
          </a:p>
          <a:p>
            <a:pPr algn="just"/>
            <a:r>
              <a:rPr lang="en-IN" sz="1600" u="sng" dirty="0" smtClean="0">
                <a:latin typeface="Casper"/>
                <a:hlinkClick r:id="rId2">
                  <a:extLst>
                    <a:ext uri="{A12FA001-AC4F-418D-AE19-62706E023703}">
                      <ahyp:hlinkClr xmlns:lc="http://schemas.openxmlformats.org/drawingml/2006/lockedCanvas" xmlns:ahyp="http://schemas.microsoft.com/office/drawing/2018/hyperlinkcolor" xmlns="" val="tx"/>
                    </a:ext>
                  </a:extLst>
                </a:hlinkClick>
              </a:rPr>
              <a:t>https</a:t>
            </a:r>
            <a:r>
              <a:rPr lang="en-IN" sz="1600" u="sng" dirty="0">
                <a:latin typeface="Casper"/>
                <a:hlinkClick r:id="rId2">
                  <a:extLst>
                    <a:ext uri="{A12FA001-AC4F-418D-AE19-62706E023703}">
                      <ahyp:hlinkClr xmlns:lc="http://schemas.openxmlformats.org/drawingml/2006/lockedCanvas" xmlns:ahyp="http://schemas.microsoft.com/office/drawing/2018/hyperlinkcolor" xmlns="" val="tx"/>
                    </a:ext>
                  </a:extLst>
                </a:hlinkClick>
              </a:rPr>
              <a:t>://fortune.com/2020/06/30/america-tech-semiconductor-manufacturing-investment</a:t>
            </a:r>
            <a:r>
              <a:rPr lang="en-IN" sz="1600" u="sng" dirty="0" smtClean="0">
                <a:latin typeface="Casper"/>
                <a:hlinkClick r:id="rId2">
                  <a:extLst>
                    <a:ext uri="{A12FA001-AC4F-418D-AE19-62706E023703}">
                      <ahyp:hlinkClr xmlns:lc="http://schemas.openxmlformats.org/drawingml/2006/lockedCanvas" xmlns:ahyp="http://schemas.microsoft.com/office/drawing/2018/hyperlinkcolor" xmlns="" val="tx"/>
                    </a:ext>
                  </a:extLst>
                </a:hlinkClick>
              </a:rPr>
              <a:t>/</a:t>
            </a:r>
            <a:endParaRPr lang="en-US" sz="1600" b="1" dirty="0">
              <a:latin typeface="Calibri" pitchFamily="34" charset="0"/>
              <a:cs typeface="Calibri" pitchFamily="34" charset="0"/>
            </a:endParaRP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://www.cbronline.com/what-is/what-is-a-semiconductor-4946084/</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://www.elprocus.com/vi-characteristics-of-pn-junction-diode/</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://www.physics-and-radio-electronics.com/electronic-devices-and-circuits/semiconductor-diodes/pnjunctionsemiconductordiode.html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://physics.stackexchange.com/questions/400321/reverse-biasing-of-pn-junction-diode?rq=1</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://electricalstudy.sarutech.com/p-n-junction-diode/index.html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://slideplayer.com/slide/7245886/</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://www.slideshare.net/chinkitkit/chapter-4b</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://circuitglobe.com/zener-diode.html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://www.electronics-tutorials.ws/diode/diode_7.html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://www.miniphysics.com/uy1-hall-effect.html</a:t>
            </a:r>
          </a:p>
          <a:p>
            <a:r>
              <a:rPr lang="en-US" sz="1600" dirty="0" smtClean="0">
                <a:latin typeface="Calibri" pitchFamily="34" charset="0"/>
                <a:cs typeface="Calibri" pitchFamily="34" charset="0"/>
              </a:rPr>
              <a:t>https</a:t>
            </a:r>
            <a:r>
              <a:rPr lang="en-US" sz="1600" dirty="0">
                <a:latin typeface="Calibri" pitchFamily="34" charset="0"/>
                <a:cs typeface="Calibri" pitchFamily="34" charset="0"/>
              </a:rPr>
              <a:t>://www.elprocus.com/semiconductor-devices-types-and-applications</a:t>
            </a:r>
          </a:p>
          <a:p>
            <a:pPr marL="0" indent="0">
              <a:buNone/>
            </a:pPr>
            <a:endParaRPr lang="en-US" sz="1600" dirty="0">
              <a:latin typeface="Calibri" pitchFamily="34" charset="0"/>
              <a:cs typeface="Calibri" pitchFamily="34" charset="0"/>
            </a:endParaRPr>
          </a:p>
          <a:p>
            <a:pPr marL="0" indent="0" algn="just">
              <a:buNone/>
            </a:pPr>
            <a:endParaRPr lang="en-US" sz="1600" dirty="0">
              <a:latin typeface="Calibri" pitchFamily="34" charset="0"/>
              <a:cs typeface="Calibri"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25</a:t>
            </a:fld>
            <a:endParaRPr lang="en-US"/>
          </a:p>
        </p:txBody>
      </p:sp>
      <p:sp>
        <p:nvSpPr>
          <p:cNvPr id="5" name="Rectangle 4"/>
          <p:cNvSpPr/>
          <p:nvPr/>
        </p:nvSpPr>
        <p:spPr>
          <a:xfrm>
            <a:off x="838199" y="1803400"/>
            <a:ext cx="7109013" cy="469424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utoShape 4" descr="Image result for learn 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 xmlns:a16="http://schemas.microsoft.com/office/drawing/2014/main" id="{3DF4D996-D4E4-4043-8E39-621048B7568F}"/>
              </a:ext>
            </a:extLst>
          </p:cNvPr>
          <p:cNvPicPr>
            <a:picLocks noChangeAspect="1"/>
          </p:cNvPicPr>
          <p:nvPr/>
        </p:nvPicPr>
        <p:blipFill>
          <a:blip r:embed="rId3"/>
          <a:stretch>
            <a:fillRect/>
          </a:stretch>
        </p:blipFill>
        <p:spPr>
          <a:xfrm>
            <a:off x="7745506" y="1940959"/>
            <a:ext cx="3747799" cy="4364313"/>
          </a:xfrm>
          <a:prstGeom prst="rect">
            <a:avLst/>
          </a:prstGeom>
        </p:spPr>
      </p:pic>
    </p:spTree>
    <p:extLst>
      <p:ext uri="{BB962C8B-B14F-4D97-AF65-F5344CB8AC3E}">
        <p14:creationId xmlns:p14="http://schemas.microsoft.com/office/powerpoint/2010/main" xmlns="" val="33619184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 xmlns:a16="http://schemas.microsoft.com/office/drawing/2014/main" id="{AFBA4B1A-59E0-42F9-8062-FE9B4E00A99F}"/>
              </a:ext>
            </a:extLst>
          </p:cNvPr>
          <p:cNvSpPr/>
          <p:nvPr/>
        </p:nvSpPr>
        <p:spPr>
          <a:xfrm>
            <a:off x="2641599" y="1186143"/>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xmlns="" val="4059142145"/>
                </p:ext>
              </p:extLst>
            </p:nvPr>
          </p:nvGraphicFramePr>
          <p:xfrm>
            <a:off x="100420" y="236973"/>
            <a:ext cx="183878" cy="183422"/>
          </p:xfrm>
          <a:graphic>
            <a:graphicData uri="http://schemas.openxmlformats.org/presentationml/2006/ole">
              <p:oleObj spid="_x0000_s9395" name="CorelDRAW" r:id="rId3" imgW="2169000" imgH="2169360" progId="">
                <p:embed/>
              </p:oleObj>
            </a:graphicData>
          </a:graphic>
        </p:graphicFrame>
      </p:grpSp>
      <p:sp>
        <p:nvSpPr>
          <p:cNvPr id="2" name="Rectangle 1"/>
          <p:cNvSpPr/>
          <p:nvPr/>
        </p:nvSpPr>
        <p:spPr>
          <a:xfrm>
            <a:off x="4114005" y="5394447"/>
            <a:ext cx="353500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a:t>
            </a:r>
            <a:r>
              <a:rPr lang="en-US" dirty="0" smtClean="0">
                <a:latin typeface="Casper" panose="02000506000000020004" pitchFamily="2" charset="0"/>
                <a:cs typeface="Segoe UI" panose="020B0502040204020203" pitchFamily="34" charset="0"/>
              </a:rPr>
              <a:t>navjeetkaur.ee</a:t>
            </a:r>
            <a:r>
              <a:rPr lang="en-US" dirty="0" smtClean="0">
                <a:latin typeface="Casper" panose="02000506000000020004" pitchFamily="2" charset="0"/>
                <a:cs typeface="Segoe UI" panose="020B0502040204020203" pitchFamily="34" charset="0"/>
              </a:rPr>
              <a:t>@cumail.in</a:t>
            </a:r>
            <a:endParaRPr lang="en-US" dirty="0"/>
          </a:p>
        </p:txBody>
      </p:sp>
    </p:spTree>
    <p:extLst>
      <p:ext uri="{BB962C8B-B14F-4D97-AF65-F5344CB8AC3E}">
        <p14:creationId xmlns:p14="http://schemas.microsoft.com/office/powerpoint/2010/main" xmlns="" val="26565012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ENSWF_SLIDE_UID" val="{D36BF853-1C0E-423B-B089-9C7A2B5C2856}:412"/>
  <p:tag name="AUDIO_ID" val="412"/>
  <p:tag name="ARTICULATE_USED_LAYOUT" val="8"/>
</p:tagLst>
</file>

<file path=ppt/tags/tag2.xml><?xml version="1.0" encoding="utf-8"?>
<p:tagLst xmlns:a="http://schemas.openxmlformats.org/drawingml/2006/main" xmlns:r="http://schemas.openxmlformats.org/officeDocument/2006/relationships" xmlns:p="http://schemas.openxmlformats.org/presentationml/2006/main">
  <p:tag name="GENSWF_SLIDE_UID" val="{32D49604-FA59-40F6-94EB-BC24D15E597E}:370"/>
  <p:tag name="AUDIO_ID" val="370"/>
  <p:tag name="ARTICULATE_USED_LAYOUT" val="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2593</TotalTime>
  <Words>1565</Words>
  <Application>Microsoft Office PowerPoint</Application>
  <PresentationFormat>Custom</PresentationFormat>
  <Paragraphs>249</Paragraphs>
  <Slides>26</Slides>
  <Notes>2</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29" baseType="lpstr">
      <vt:lpstr>1_Office Theme</vt:lpstr>
      <vt:lpstr>Contents Slide Master</vt:lpstr>
      <vt:lpstr>CorelDRAW</vt:lpstr>
      <vt:lpstr>Slide 1</vt:lpstr>
      <vt:lpstr>Course Objectives</vt:lpstr>
      <vt:lpstr>Course Outcomes</vt:lpstr>
      <vt:lpstr>WHAT ROLE DOES PHYSICS PLAY IN ENGINEERING?</vt:lpstr>
      <vt:lpstr>LECTURE OBJECTIVES AND LECTURE OUTCOMES </vt:lpstr>
      <vt:lpstr>CONTENTS   </vt:lpstr>
      <vt:lpstr>WHY TO STUDY SEMICONDUCTORS</vt:lpstr>
      <vt:lpstr>SEMICONDUCTORS   </vt:lpstr>
      <vt:lpstr>CARRIER GENERATION AND RECOMBINATION IN SEMICONDUCTORS   </vt:lpstr>
      <vt:lpstr>Slide 10</vt:lpstr>
      <vt:lpstr>  CARRIER RECOMBINATION IN SEMICONDUCTORS</vt:lpstr>
      <vt:lpstr>CARRIER CONCENTRATION IN N-TYPE AND P-TYPE SEMICONDUCTORS</vt:lpstr>
      <vt:lpstr>   FOR  N-TYPE  SEMICONDUCTOR</vt:lpstr>
      <vt:lpstr>   FOR  P-TYPE  SEMICONDUCTOR </vt:lpstr>
      <vt:lpstr>         SEMICONDUCTOR DEVICES</vt:lpstr>
      <vt:lpstr> APPLICATIONS OF SEMICONDUCTOR DEVICES</vt:lpstr>
      <vt:lpstr>                           CONTINUE</vt:lpstr>
      <vt:lpstr>MOST FREQUENTLY ASKED QUESTIONS </vt:lpstr>
      <vt:lpstr>MOST FREQUENTLY ASKED QUESTIONS </vt:lpstr>
      <vt:lpstr>SUMMARY</vt:lpstr>
      <vt:lpstr>ASSESSMENT PATTERN   </vt:lpstr>
      <vt:lpstr>                              QUIZ- BUCKET</vt:lpstr>
      <vt:lpstr>                             QUIZ- BUCKET</vt:lpstr>
      <vt:lpstr>REFERENCES   </vt:lpstr>
      <vt:lpstr>REFERENCES   </vt:lpstr>
      <vt:lpstr>Slide 26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Acer</cp:lastModifiedBy>
  <cp:revision>262</cp:revision>
  <dcterms:created xsi:type="dcterms:W3CDTF">2019-01-09T10:33:58Z</dcterms:created>
  <dcterms:modified xsi:type="dcterms:W3CDTF">2023-06-19T10:10:05Z</dcterms:modified>
</cp:coreProperties>
</file>