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2"/>
  </p:notesMasterIdLst>
  <p:handoutMasterIdLst>
    <p:handoutMasterId r:id="rId33"/>
  </p:handoutMasterIdLst>
  <p:sldIdLst>
    <p:sldId id="502" r:id="rId3"/>
    <p:sldId id="503" r:id="rId4"/>
    <p:sldId id="504" r:id="rId5"/>
    <p:sldId id="491" r:id="rId6"/>
    <p:sldId id="326" r:id="rId7"/>
    <p:sldId id="327" r:id="rId8"/>
    <p:sldId id="492" r:id="rId9"/>
    <p:sldId id="493" r:id="rId10"/>
    <p:sldId id="494" r:id="rId11"/>
    <p:sldId id="495" r:id="rId12"/>
    <p:sldId id="496" r:id="rId13"/>
    <p:sldId id="497" r:id="rId14"/>
    <p:sldId id="498" r:id="rId15"/>
    <p:sldId id="410" r:id="rId16"/>
    <p:sldId id="499" r:id="rId17"/>
    <p:sldId id="500" r:id="rId18"/>
    <p:sldId id="501" r:id="rId19"/>
    <p:sldId id="408" r:id="rId20"/>
    <p:sldId id="506" r:id="rId21"/>
    <p:sldId id="419" r:id="rId22"/>
    <p:sldId id="418" r:id="rId23"/>
    <p:sldId id="505" r:id="rId24"/>
    <p:sldId id="375" r:id="rId25"/>
    <p:sldId id="394" r:id="rId26"/>
    <p:sldId id="377" r:id="rId27"/>
    <p:sldId id="384" r:id="rId28"/>
    <p:sldId id="413" r:id="rId29"/>
    <p:sldId id="414" r:id="rId30"/>
    <p:sldId id="420" r:id="rId31"/>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853" autoAdjust="0"/>
    <p:restoredTop sz="94660"/>
  </p:normalViewPr>
  <p:slideViewPr>
    <p:cSldViewPr snapToGrid="0">
      <p:cViewPr varScale="1">
        <p:scale>
          <a:sx n="65" d="100"/>
          <a:sy n="65" d="100"/>
        </p:scale>
        <p:origin x="-726"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6/19/2023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Fig-3</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6/19/2023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881522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hyperlink" Target="https://components101.com/1n4001-diode-pinout-datasheet"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hyperlink" Target="https://components101.com/1n4001-diode-pinout-datasheet"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 xmlns:p14="http://schemas.microsoft.com/office/powerpoint/2010/main"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 xmlns:a14="http://schemas.microsoft.com/office/drawing/2010/main">
                  <a14:imgLayer r:embed="rId6">
                    <a14:imgEffect>
                      <a14:colorTemperature colorTemp="5742"/>
                    </a14:imgEffect>
                    <a14:imgEffect>
                      <a14:saturation sat="238000"/>
                    </a14:imgEffect>
                  </a14:imgLayer>
                </a14:imgProps>
              </a:ext>
              <a:ext uri="{28A0092B-C50C-407E-A947-70E740481C1C}">
                <a14:useLocalDpi xmlns=""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 1.1.4</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b="1" dirty="0" smtClean="0">
                <a:solidFill>
                  <a:prstClr val="black">
                    <a:lumMod val="85000"/>
                    <a:lumOff val="15000"/>
                  </a:prstClr>
                </a:solidFill>
                <a:latin typeface="Times New Roman" pitchFamily="18" charset="0"/>
                <a:cs typeface="Times New Roman" pitchFamily="18" charset="0"/>
              </a:rPr>
              <a:t>Biasing of P-N Junction diode.</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a16="http://schemas.microsoft.com/office/drawing/2014/main" xmlns="" val="20000"/>
                    </a:ext>
                  </a:extLst>
                </a:gridCol>
                <a:gridCol w="5959928">
                  <a:extLst>
                    <a:ext uri="{9D8B030D-6E8A-4147-A177-3AD203B41FA5}">
                      <a16:colId xmlns:a16="http://schemas.microsoft.com/office/drawing/2014/main" xmlns=""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a16="http://schemas.microsoft.com/office/drawing/2014/main" xmlns="" id="{CF519C70-D760-42E7-8BD2-6D327CBFDD43}"/>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p14="http://schemas.microsoft.com/office/powerpoint/2010/main" xmlns=""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a16="http://schemas.microsoft.com/office/drawing/2014/main" xmlns="" id="{8162587E-E0B8-4626-8CC1-A1300E812FD3}"/>
              </a:ext>
            </a:extLst>
          </p:cNvPr>
          <p:cNvGraphicFramePr>
            <a:graphicFrameLocks noGrp="1"/>
          </p:cNvGraphicFramePr>
          <p:nvPr>
            <p:extLst>
              <p:ext uri="{D42A27DB-BD31-4B8C-83A1-F6EECF244321}">
                <p14:modId xmlns:p14="http://schemas.microsoft.com/office/powerpoint/2010/main" xmlns=""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a16="http://schemas.microsoft.com/office/drawing/2014/main" xmlns="" val="3145357031"/>
                    </a:ext>
                  </a:extLst>
                </a:gridCol>
                <a:gridCol w="3525847">
                  <a:extLst>
                    <a:ext uri="{9D8B030D-6E8A-4147-A177-3AD203B41FA5}">
                      <a16:colId xmlns:a16="http://schemas.microsoft.com/office/drawing/2014/main" xmlns="" val="1912344179"/>
                    </a:ext>
                  </a:extLst>
                </a:gridCol>
                <a:gridCol w="2118474">
                  <a:extLst>
                    <a:ext uri="{9D8B030D-6E8A-4147-A177-3AD203B41FA5}">
                      <a16:colId xmlns:a16="http://schemas.microsoft.com/office/drawing/2014/main" xmlns=""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1993640399"/>
                  </a:ext>
                </a:extLst>
              </a:tr>
            </a:tbl>
          </a:graphicData>
        </a:graphic>
      </p:graphicFrame>
      <p:pic>
        <p:nvPicPr>
          <p:cNvPr id="4" name="Picture 3">
            <a:extLst>
              <a:ext uri="{FF2B5EF4-FFF2-40B4-BE49-F238E27FC236}">
                <a16:creationId xmlns:a16="http://schemas.microsoft.com/office/drawing/2014/main" xmlns="" id="{72E5EA36-20D2-4DE4-BBC5-F5A55DBA5C10}"/>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p14="http://schemas.microsoft.com/office/powerpoint/2010/main" xmlns=""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886" y="1655810"/>
            <a:ext cx="10571389" cy="4351338"/>
          </a:xfrm>
        </p:spPr>
        <p:txBody>
          <a:bodyPr>
            <a:noAutofit/>
          </a:bodyPr>
          <a:lstStyle/>
          <a:p>
            <a:pPr marL="342900" indent="-342900" algn="just"/>
            <a:r>
              <a:rPr lang="en-IN" dirty="0"/>
              <a:t>Electronics is the science of how to control electric energy, energy which the electrons have a fundamental role. </a:t>
            </a:r>
          </a:p>
          <a:p>
            <a:pPr marL="342900" indent="-342900" algn="just"/>
            <a:r>
              <a:rPr lang="en-IN" dirty="0"/>
              <a:t>Its also deals with electrical circuits that involve active electrical components such as vacuum tubes, transistors, diodes and integrated circuits, and associated passive electrical components and interconnection technologies. </a:t>
            </a:r>
          </a:p>
          <a:p>
            <a:pPr marL="342900" indent="-342900" algn="just"/>
            <a:r>
              <a:rPr lang="en-IN" dirty="0"/>
              <a:t>You will work with a number of basic electronic components when building electronic circuits, including resistors, capacitors, diodes, transistors, and integrated circuits. Here is a brief overview of the functions of each of these basic electronic components.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7" name="Title 1"/>
          <p:cNvSpPr txBox="1">
            <a:spLocks/>
          </p:cNvSpPr>
          <p:nvPr/>
        </p:nvSpPr>
        <p:spPr>
          <a:xfrm>
            <a:off x="1059542" y="244658"/>
            <a:ext cx="10435771" cy="1119686"/>
          </a:xfrm>
          <a:prstGeom prst="rect">
            <a:avLst/>
          </a:prstGeom>
          <a:ln>
            <a:solidFill>
              <a:srgbClr val="FFFFFF"/>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kumimoji="0" lang="en-IN" sz="4400" b="1" i="0" u="none" strike="noStrike" kern="1200" cap="none" spc="0" normalizeH="0" baseline="0" noProof="0" dirty="0">
                <a:ln>
                  <a:noFill/>
                </a:ln>
                <a:solidFill>
                  <a:schemeClr val="dk1"/>
                </a:solidFill>
                <a:effectLst/>
                <a:uLnTx/>
                <a:uFillTx/>
                <a:latin typeface="+mj-lt"/>
                <a:ea typeface="+mn-ea"/>
                <a:cs typeface="+mn-cs"/>
              </a:rPr>
              <a:t>   </a:t>
            </a:r>
            <a:r>
              <a:rPr lang="en-IN" sz="4400" b="1" dirty="0">
                <a:latin typeface="+mj-lt"/>
              </a:rPr>
              <a:t>What is Electronics</a:t>
            </a:r>
            <a:endParaRPr kumimoji="0" lang="en-IN" sz="4400" b="1" i="0" strike="noStrike" kern="1200" cap="none" spc="0" normalizeH="0" baseline="0" noProof="0" dirty="0">
              <a:ln>
                <a:noFill/>
              </a:ln>
              <a:solidFill>
                <a:schemeClr val="dk1"/>
              </a:solidFill>
              <a:effectLst/>
              <a:uLnTx/>
              <a:uFillTx/>
              <a:latin typeface="+mj-lt"/>
            </a:endParaRPr>
          </a:p>
        </p:txBody>
      </p:sp>
    </p:spTree>
    <p:custDataLst>
      <p:tags r:id="rId1"/>
    </p:custDataLst>
    <p:extLst>
      <p:ext uri="{BB962C8B-B14F-4D97-AF65-F5344CB8AC3E}">
        <p14:creationId xmlns:p14="http://schemas.microsoft.com/office/powerpoint/2010/main" xmlns="" val="2680234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 </a:t>
            </a:r>
            <a:r>
              <a:rPr lang="en-US" b="1" dirty="0"/>
              <a:t> </a:t>
            </a:r>
          </a:p>
        </p:txBody>
      </p:sp>
      <p:sp>
        <p:nvSpPr>
          <p:cNvPr id="3" name="Content Placeholder 2"/>
          <p:cNvSpPr>
            <a:spLocks noGrp="1"/>
          </p:cNvSpPr>
          <p:nvPr>
            <p:ph idx="1"/>
          </p:nvPr>
        </p:nvSpPr>
        <p:spPr>
          <a:xfrm>
            <a:off x="838200" y="1959429"/>
            <a:ext cx="10515600" cy="4217534"/>
          </a:xfrm>
        </p:spPr>
        <p:txBody>
          <a:bodyPr>
            <a:normAutofit/>
          </a:bodyPr>
          <a:lstStyle/>
          <a:p>
            <a:pPr lvl="0">
              <a:lnSpc>
                <a:spcPct val="100000"/>
              </a:lnSpc>
              <a:spcBef>
                <a:spcPts val="0"/>
              </a:spcBef>
              <a:buFont typeface="Wingdings" panose="05000000000000000000" pitchFamily="2" charset="2"/>
              <a:buChar char="§"/>
            </a:pPr>
            <a:r>
              <a:rPr lang="en-IN" sz="3600" dirty="0"/>
              <a:t>Formation of depletion zone </a:t>
            </a:r>
          </a:p>
          <a:p>
            <a:pPr lvl="0">
              <a:lnSpc>
                <a:spcPct val="100000"/>
              </a:lnSpc>
              <a:spcBef>
                <a:spcPts val="0"/>
              </a:spcBef>
              <a:buFont typeface="Wingdings" panose="05000000000000000000" pitchFamily="2" charset="2"/>
              <a:buChar char="§"/>
            </a:pPr>
            <a:r>
              <a:rPr lang="en-IN" sz="3600" dirty="0"/>
              <a:t>Introduction to PN Junction diode</a:t>
            </a:r>
          </a:p>
          <a:p>
            <a:pPr lvl="0">
              <a:lnSpc>
                <a:spcPct val="100000"/>
              </a:lnSpc>
              <a:spcBef>
                <a:spcPts val="0"/>
              </a:spcBef>
              <a:buFont typeface="Wingdings" panose="05000000000000000000" pitchFamily="2" charset="2"/>
              <a:buChar char="§"/>
            </a:pPr>
            <a:r>
              <a:rPr lang="en-IN" sz="3600" dirty="0"/>
              <a:t>Forward biased PN junction diode</a:t>
            </a:r>
          </a:p>
          <a:p>
            <a:pPr lvl="0">
              <a:lnSpc>
                <a:spcPct val="100000"/>
              </a:lnSpc>
              <a:spcBef>
                <a:spcPts val="0"/>
              </a:spcBef>
              <a:buFont typeface="Wingdings" panose="05000000000000000000" pitchFamily="2" charset="2"/>
              <a:buChar char="§"/>
            </a:pPr>
            <a:r>
              <a:rPr lang="en-IN" sz="3600" dirty="0"/>
              <a:t>Reverse biased PN junction diode </a:t>
            </a:r>
          </a:p>
          <a:p>
            <a:pPr lvl="0">
              <a:lnSpc>
                <a:spcPct val="100000"/>
              </a:lnSpc>
              <a:spcBef>
                <a:spcPts val="0"/>
              </a:spcBef>
              <a:buFont typeface="Wingdings" panose="05000000000000000000" pitchFamily="2" charset="2"/>
              <a:buChar char="§"/>
            </a:pPr>
            <a:r>
              <a:rPr lang="en-IN" sz="3600" dirty="0"/>
              <a:t>Advantages &amp; applications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N-TYPE EXTRINSIC SEMICONDUCTOR</a:t>
            </a:r>
            <a:endParaRPr lang="en-IN" b="1" dirty="0">
              <a:cs typeface="Times New Roman" pitchFamily="18" charset="0"/>
            </a:endParaRPr>
          </a:p>
        </p:txBody>
      </p:sp>
      <p:sp>
        <p:nvSpPr>
          <p:cNvPr id="3" name="Content Placeholder 2"/>
          <p:cNvSpPr>
            <a:spLocks noGrp="1"/>
          </p:cNvSpPr>
          <p:nvPr>
            <p:ph idx="1"/>
          </p:nvPr>
        </p:nvSpPr>
        <p:spPr>
          <a:xfrm>
            <a:off x="1053500" y="1851753"/>
            <a:ext cx="5373804" cy="4351338"/>
          </a:xfrm>
        </p:spPr>
        <p:txBody>
          <a:bodyPr>
            <a:noAutofit/>
          </a:bodyPr>
          <a:lstStyle/>
          <a:p>
            <a:pPr algn="just">
              <a:defRPr/>
            </a:pPr>
            <a:r>
              <a:rPr lang="en-US" dirty="0">
                <a:cs typeface="Times New Roman" pitchFamily="18" charset="0"/>
              </a:rPr>
              <a:t>An extrinsic semiconductor which has been doped with electron donor atoms is called an n-type semiconductor, because the majority of charge carriers in the crystal are negative electrons.</a:t>
            </a:r>
          </a:p>
          <a:p>
            <a:pPr algn="just">
              <a:defRPr/>
            </a:pPr>
            <a:r>
              <a:rPr lang="en-US" dirty="0">
                <a:cs typeface="Times New Roman" pitchFamily="18" charset="0"/>
              </a:rPr>
              <a:t>Since silicon is a tetravalent element, the normal crystal structure contains 4 covalent bonds from four valence electrons.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6" name="TextBox 5"/>
          <p:cNvSpPr txBox="1"/>
          <p:nvPr/>
        </p:nvSpPr>
        <p:spPr>
          <a:xfrm>
            <a:off x="6893236" y="5508908"/>
            <a:ext cx="4045146" cy="369332"/>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a:t>
            </a:r>
            <a:r>
              <a:rPr lang="en-US" b="1" dirty="0">
                <a:solidFill>
                  <a:schemeClr val="tx1"/>
                </a:solidFill>
                <a:cs typeface="Times New Roman" panose="02020603050405020304" pitchFamily="18" charset="0"/>
              </a:rPr>
              <a:t>N-type Extrinsic Semiconductor</a:t>
            </a:r>
          </a:p>
        </p:txBody>
      </p:sp>
      <p:sp>
        <p:nvSpPr>
          <p:cNvPr id="7" name="Rectangle 6"/>
          <p:cNvSpPr/>
          <p:nvPr/>
        </p:nvSpPr>
        <p:spPr>
          <a:xfrm>
            <a:off x="6268279" y="5878240"/>
            <a:ext cx="5373804" cy="923330"/>
          </a:xfrm>
          <a:prstGeom prst="rect">
            <a:avLst/>
          </a:prstGeom>
        </p:spPr>
        <p:txBody>
          <a:bodyPr wrap="square">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7030A0"/>
                </a:solidFill>
                <a:effectLst/>
                <a:ea typeface="Calibri" panose="020F0502020204030204" pitchFamily="34" charset="0"/>
                <a:cs typeface="Times New Roman" panose="02020603050405020304" pitchFamily="18" charset="0"/>
              </a:rPr>
              <a:t>https://www.nuclear-power.net/wp-content/uploads/2019/02/extrinsic-doped-semiconductor-n-type-donor.png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9" name="Content Placeholder 5">
            <a:extLst>
              <a:ext uri="{FF2B5EF4-FFF2-40B4-BE49-F238E27FC236}">
                <a16:creationId xmlns:a16="http://schemas.microsoft.com/office/drawing/2014/main" xmlns="" id="{68F0A6ED-C956-41F5-812D-007F091BA1E7}"/>
              </a:ext>
            </a:extLst>
          </p:cNvPr>
          <p:cNvPicPr>
            <a:picLocks noChangeAspect="1"/>
          </p:cNvPicPr>
          <p:nvPr/>
        </p:nvPicPr>
        <p:blipFill>
          <a:blip r:embed="rId3"/>
          <a:stretch>
            <a:fillRect/>
          </a:stretch>
        </p:blipFill>
        <p:spPr>
          <a:xfrm>
            <a:off x="6662530" y="1881595"/>
            <a:ext cx="5100118" cy="3580518"/>
          </a:xfrm>
          <a:prstGeom prst="rect">
            <a:avLst/>
          </a:prstGeom>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N-TYPE EXTRINSIC SEMICONDUCTOR</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p:txBody>
          <a:bodyPr/>
          <a:lstStyle/>
          <a:p>
            <a:pPr algn="just"/>
            <a:r>
              <a:rPr lang="en-US" dirty="0"/>
              <a:t>In silicon, the most common dopants are group III and group V elements. Group V elements (pentavalent) have five valence electrons, which allows them to act as a donor.</a:t>
            </a:r>
          </a:p>
          <a:p>
            <a:pPr algn="just"/>
            <a:r>
              <a:rPr lang="en-US" dirty="0"/>
              <a:t>That means, the addition of these pentavalent impurities such as arsenic, antimony or phosphorus contributes free electrons, greatly increasing the conductivity of the intrinsic semiconductor. </a:t>
            </a:r>
          </a:p>
          <a:p>
            <a:pPr algn="just"/>
            <a:r>
              <a:rPr lang="en-US" dirty="0"/>
              <a:t>For example, a silicon crystal doped with boron (group III) creates a p-type semiconductor whereas a crystal doped with phosphorus (group V) results in an n-type semiconductor.</a:t>
            </a:r>
            <a:endParaRPr lang="en-IN" dirty="0"/>
          </a:p>
        </p:txBody>
      </p:sp>
    </p:spTree>
    <p:custDataLst>
      <p:tags r:id="rId1"/>
    </p:custDataLst>
    <p:extLst>
      <p:ext uri="{BB962C8B-B14F-4D97-AF65-F5344CB8AC3E}">
        <p14:creationId xmlns:p14="http://schemas.microsoft.com/office/powerpoint/2010/main" xmlns="" val="1908925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N-TYPE EXTRINSIC SEMICONDUCTOR</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p:txBody>
          <a:bodyPr/>
          <a:lstStyle/>
          <a:p>
            <a:pPr algn="just"/>
            <a:r>
              <a:rPr lang="en-US" dirty="0"/>
              <a:t>The conduction electrons are completely dominated by the number of donor electrons.</a:t>
            </a:r>
          </a:p>
          <a:p>
            <a:pPr algn="just"/>
            <a:r>
              <a:rPr lang="en-US" dirty="0"/>
              <a:t>Therefore</a:t>
            </a:r>
          </a:p>
          <a:p>
            <a:pPr lvl="1" algn="just"/>
            <a:r>
              <a:rPr lang="en-US" dirty="0"/>
              <a:t>The total number of conduction electrons is approximately equal to the number of donor sites, </a:t>
            </a:r>
            <a:r>
              <a:rPr lang="en-US" dirty="0" err="1"/>
              <a:t>n≈ND</a:t>
            </a:r>
            <a:r>
              <a:rPr lang="en-US" dirty="0"/>
              <a:t>.</a:t>
            </a:r>
          </a:p>
          <a:p>
            <a:pPr marL="0" indent="0" algn="just">
              <a:buNone/>
            </a:pPr>
            <a:endParaRPr lang="en-IN" dirty="0"/>
          </a:p>
        </p:txBody>
      </p:sp>
    </p:spTree>
    <p:custDataLst>
      <p:tags r:id="rId1"/>
    </p:custDataLst>
    <p:extLst>
      <p:ext uri="{BB962C8B-B14F-4D97-AF65-F5344CB8AC3E}">
        <p14:creationId xmlns:p14="http://schemas.microsoft.com/office/powerpoint/2010/main" xmlns="" val="2070015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Donor Level</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a:xfrm>
            <a:off x="838200" y="1524000"/>
            <a:ext cx="10515600" cy="4832350"/>
          </a:xfrm>
        </p:spPr>
        <p:txBody>
          <a:bodyPr>
            <a:normAutofit fontScale="92500" lnSpcReduction="20000"/>
          </a:bodyPr>
          <a:lstStyle/>
          <a:p>
            <a:pPr algn="just"/>
            <a:r>
              <a:rPr lang="en-US" dirty="0"/>
              <a:t>From the energy gap viewpoint, such impurities “create” energy levels in the band gap close to conduction band so that electrons can be easily excited from these levels into the conduction band.</a:t>
            </a:r>
          </a:p>
          <a:p>
            <a:pPr algn="just"/>
            <a:r>
              <a:rPr lang="en-US" dirty="0"/>
              <a:t>The electrons are said to be the “majority carriers” for current flow in an n-type semiconductor. </a:t>
            </a:r>
          </a:p>
          <a:p>
            <a:pPr algn="just"/>
            <a:r>
              <a:rPr lang="en-US" dirty="0"/>
              <a:t>This shifts the effective Fermi level to a point about halfway between the donor levels and the conduction band. </a:t>
            </a:r>
          </a:p>
          <a:p>
            <a:pPr algn="just"/>
            <a:r>
              <a:rPr lang="en-US" dirty="0"/>
              <a:t>Fermi level is the term used to describe the top of the collection of electron energy levels at absolute zero temperature. </a:t>
            </a:r>
          </a:p>
          <a:p>
            <a:pPr algn="just"/>
            <a:r>
              <a:rPr lang="en-US" dirty="0"/>
              <a:t>The Fermi level is the surface of Fermi sea at absolute zero where no electrons will have enough energy to rise above the surface. </a:t>
            </a:r>
          </a:p>
          <a:p>
            <a:pPr algn="just"/>
            <a:r>
              <a:rPr lang="en-US" dirty="0"/>
              <a:t>In pure semiconductors the position of the Fermi level is within the band gap, approximately in the middle of the band gap.</a:t>
            </a:r>
          </a:p>
        </p:txBody>
      </p:sp>
    </p:spTree>
    <p:custDataLst>
      <p:tags r:id="rId1"/>
    </p:custDataLst>
    <p:extLst>
      <p:ext uri="{BB962C8B-B14F-4D97-AF65-F5344CB8AC3E}">
        <p14:creationId xmlns:p14="http://schemas.microsoft.com/office/powerpoint/2010/main" xmlns="" val="243770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P-TYPE EXTRINSIC SEMICONDUCTOR</a:t>
            </a:r>
            <a:endParaRPr lang="en-IN" b="1" dirty="0">
              <a:cs typeface="Times New Roman" pitchFamily="18" charset="0"/>
            </a:endParaRPr>
          </a:p>
        </p:txBody>
      </p:sp>
      <p:sp>
        <p:nvSpPr>
          <p:cNvPr id="3" name="Content Placeholder 2"/>
          <p:cNvSpPr>
            <a:spLocks noGrp="1"/>
          </p:cNvSpPr>
          <p:nvPr>
            <p:ph idx="1"/>
          </p:nvPr>
        </p:nvSpPr>
        <p:spPr>
          <a:xfrm>
            <a:off x="1053500" y="1851753"/>
            <a:ext cx="5373804" cy="4351338"/>
          </a:xfrm>
        </p:spPr>
        <p:txBody>
          <a:bodyPr>
            <a:noAutofit/>
          </a:bodyPr>
          <a:lstStyle/>
          <a:p>
            <a:pPr algn="just">
              <a:defRPr/>
            </a:pPr>
            <a:r>
              <a:rPr lang="en-US" dirty="0">
                <a:cs typeface="Times New Roman" pitchFamily="18" charset="0"/>
              </a:rPr>
              <a:t>An extrinsic semiconductor which has been doped with electron acceptor atoms is called a p-type semiconductor, because the majority of charge carriers in the crystal are electron holes (positive charge carriers). </a:t>
            </a:r>
          </a:p>
          <a:p>
            <a:pPr algn="just">
              <a:defRPr/>
            </a:pPr>
            <a:r>
              <a:rPr lang="en-US" dirty="0">
                <a:cs typeface="Times New Roman" pitchFamily="18" charset="0"/>
              </a:rPr>
              <a:t>The pure semiconductor silicon is a tetravalent element, the normal crystal structure contains 4 covalent bonds from four valence electrons.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TextBox 5"/>
          <p:cNvSpPr txBox="1"/>
          <p:nvPr/>
        </p:nvSpPr>
        <p:spPr>
          <a:xfrm>
            <a:off x="6893236" y="5508908"/>
            <a:ext cx="3963393" cy="369332"/>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2 P</a:t>
            </a:r>
            <a:r>
              <a:rPr lang="en-US" b="1" dirty="0">
                <a:solidFill>
                  <a:schemeClr val="tx1"/>
                </a:solidFill>
                <a:cs typeface="Times New Roman" panose="02020603050405020304" pitchFamily="18" charset="0"/>
              </a:rPr>
              <a:t>-type Extrinsic Semiconductor</a:t>
            </a:r>
          </a:p>
        </p:txBody>
      </p:sp>
      <p:sp>
        <p:nvSpPr>
          <p:cNvPr id="7" name="Rectangle 6"/>
          <p:cNvSpPr/>
          <p:nvPr/>
        </p:nvSpPr>
        <p:spPr>
          <a:xfrm>
            <a:off x="6268279" y="5878240"/>
            <a:ext cx="5373804" cy="923330"/>
          </a:xfrm>
          <a:prstGeom prst="rect">
            <a:avLst/>
          </a:prstGeom>
        </p:spPr>
        <p:txBody>
          <a:bodyPr wrap="square">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7030A0"/>
                </a:solidFill>
                <a:effectLst/>
                <a:ea typeface="Calibri" panose="020F0502020204030204" pitchFamily="34" charset="0"/>
                <a:cs typeface="Times New Roman" panose="02020603050405020304" pitchFamily="18" charset="0"/>
              </a:rPr>
              <a:t>https://www.nuclear-power.net/wp-content/uploads/2019/02/extrinsic-doped-semiconductor-n-type-donor.png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470FD7F7-A9DB-4D4C-8785-EC4A152938F8}"/>
              </a:ext>
            </a:extLst>
          </p:cNvPr>
          <p:cNvPicPr>
            <a:picLocks noChangeAspect="1"/>
          </p:cNvPicPr>
          <p:nvPr/>
        </p:nvPicPr>
        <p:blipFill>
          <a:blip r:embed="rId3"/>
          <a:stretch>
            <a:fillRect/>
          </a:stretch>
        </p:blipFill>
        <p:spPr>
          <a:xfrm>
            <a:off x="6533322" y="1803776"/>
            <a:ext cx="5373804" cy="3705132"/>
          </a:xfrm>
          <a:prstGeom prst="rect">
            <a:avLst/>
          </a:prstGeom>
        </p:spPr>
      </p:pic>
    </p:spTree>
    <p:custDataLst>
      <p:tags r:id="rId1"/>
    </p:custDataLst>
    <p:extLst>
      <p:ext uri="{BB962C8B-B14F-4D97-AF65-F5344CB8AC3E}">
        <p14:creationId xmlns:p14="http://schemas.microsoft.com/office/powerpoint/2010/main" xmlns="" val="71855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P-TYPE EXTRINSIC SEMICONDUCTOR</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p:txBody>
          <a:bodyPr/>
          <a:lstStyle/>
          <a:p>
            <a:pPr algn="just"/>
            <a:r>
              <a:rPr lang="en-US" dirty="0"/>
              <a:t>In silicon, the most common dopants are group III and group V elements. Group III elements (trivalent) all contain three valence electrons, causing them to function as acceptors when used to dope silicon. </a:t>
            </a:r>
          </a:p>
          <a:p>
            <a:pPr algn="just"/>
            <a:r>
              <a:rPr lang="en-US" dirty="0"/>
              <a:t>When an acceptor atom replaces a tetravalent silicon atom in the crystal, a vacant state (an electron hole) is created. </a:t>
            </a:r>
          </a:p>
          <a:p>
            <a:pPr algn="just"/>
            <a:r>
              <a:rPr lang="en-US" dirty="0"/>
              <a:t>An electron hole (often simply called a hole) is the lack of an electron at a position where one could exist in an atom or atomic lattice.</a:t>
            </a:r>
            <a:endParaRPr lang="en-IN" dirty="0"/>
          </a:p>
        </p:txBody>
      </p:sp>
    </p:spTree>
    <p:custDataLst>
      <p:tags r:id="rId1"/>
    </p:custDataLst>
    <p:extLst>
      <p:ext uri="{BB962C8B-B14F-4D97-AF65-F5344CB8AC3E}">
        <p14:creationId xmlns:p14="http://schemas.microsoft.com/office/powerpoint/2010/main" xmlns="" val="241251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P-TYPE EXTRINSIC SEMICONDUCTOR</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p:txBody>
          <a:bodyPr/>
          <a:lstStyle/>
          <a:p>
            <a:pPr algn="just"/>
            <a:r>
              <a:rPr lang="en-US" dirty="0"/>
              <a:t>It is one of the two types of charge carriers that are responsible for creating electric current in semiconducting materials. </a:t>
            </a:r>
          </a:p>
          <a:p>
            <a:pPr algn="just"/>
            <a:r>
              <a:rPr lang="en-US" dirty="0"/>
              <a:t>These positively charged holes can move from atom to atom in semiconducting materials as electrons leave their positions. </a:t>
            </a:r>
          </a:p>
          <a:p>
            <a:pPr algn="just"/>
            <a:r>
              <a:rPr lang="en-US" dirty="0"/>
              <a:t>The addition of trivalent impurities such as boron, aluminum or gallium to an intrinsic semiconductor creates these positive electron holes in the structure. </a:t>
            </a:r>
          </a:p>
          <a:p>
            <a:pPr algn="just"/>
            <a:r>
              <a:rPr lang="en-US" dirty="0"/>
              <a:t>Therefore</a:t>
            </a:r>
          </a:p>
          <a:p>
            <a:pPr lvl="1" algn="just"/>
            <a:r>
              <a:rPr lang="en-US" dirty="0"/>
              <a:t>The total number of holes is approximately equal to the number of donor sites, p ≈ NA.</a:t>
            </a:r>
          </a:p>
          <a:p>
            <a:pPr marL="0" indent="0" algn="just">
              <a:buNone/>
            </a:pPr>
            <a:endParaRPr lang="en-IN" dirty="0"/>
          </a:p>
        </p:txBody>
      </p:sp>
    </p:spTree>
    <p:custDataLst>
      <p:tags r:id="rId1"/>
    </p:custDataLst>
    <p:extLst>
      <p:ext uri="{BB962C8B-B14F-4D97-AF65-F5344CB8AC3E}">
        <p14:creationId xmlns:p14="http://schemas.microsoft.com/office/powerpoint/2010/main" xmlns="" val="114171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8466F-413A-4E5A-BFDA-6D4A91007E12}"/>
              </a:ext>
            </a:extLst>
          </p:cNvPr>
          <p:cNvSpPr>
            <a:spLocks noGrp="1"/>
          </p:cNvSpPr>
          <p:nvPr>
            <p:ph type="title"/>
          </p:nvPr>
        </p:nvSpPr>
        <p:spPr/>
        <p:txBody>
          <a:bodyPr/>
          <a:lstStyle/>
          <a:p>
            <a:pPr algn="ctr"/>
            <a:r>
              <a:rPr lang="en-US" b="1" dirty="0">
                <a:cs typeface="Times New Roman" pitchFamily="18" charset="0"/>
              </a:rPr>
              <a:t>Acceptor Level</a:t>
            </a:r>
            <a:endParaRPr lang="en-IN" dirty="0"/>
          </a:p>
        </p:txBody>
      </p:sp>
      <p:sp>
        <p:nvSpPr>
          <p:cNvPr id="4" name="Slide Number Placeholder 3">
            <a:extLst>
              <a:ext uri="{FF2B5EF4-FFF2-40B4-BE49-F238E27FC236}">
                <a16:creationId xmlns:a16="http://schemas.microsoft.com/office/drawing/2014/main" xmlns="" id="{6521A12D-1EF1-49E4-85F8-6052E731E545}"/>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8" name="Content Placeholder 7">
            <a:extLst>
              <a:ext uri="{FF2B5EF4-FFF2-40B4-BE49-F238E27FC236}">
                <a16:creationId xmlns:a16="http://schemas.microsoft.com/office/drawing/2014/main" xmlns="" id="{C5A81362-12B8-496E-9A44-3507D29ECD86}"/>
              </a:ext>
            </a:extLst>
          </p:cNvPr>
          <p:cNvSpPr>
            <a:spLocks noGrp="1"/>
          </p:cNvSpPr>
          <p:nvPr>
            <p:ph idx="1"/>
          </p:nvPr>
        </p:nvSpPr>
        <p:spPr>
          <a:xfrm>
            <a:off x="838200" y="1524000"/>
            <a:ext cx="10515600" cy="4832350"/>
          </a:xfrm>
        </p:spPr>
        <p:txBody>
          <a:bodyPr>
            <a:normAutofit lnSpcReduction="10000"/>
          </a:bodyPr>
          <a:lstStyle/>
          <a:p>
            <a:pPr algn="just"/>
            <a:r>
              <a:rPr lang="en-US" dirty="0"/>
              <a:t>From the energy gap viewpoint, such impurities “create” energy levels within the band gap close to the valence band so that electrons can be easily excited from the valence band into these levels, leaving mobile holes in the valence band. </a:t>
            </a:r>
          </a:p>
          <a:p>
            <a:pPr algn="just"/>
            <a:r>
              <a:rPr lang="en-US" dirty="0"/>
              <a:t>They create “shallow” levels, levels that are very close to the valence band, so the energy required to ionize the atom (accept the electron that fills the hole and creates another hole further from the substituted atom) is small. </a:t>
            </a:r>
          </a:p>
          <a:p>
            <a:pPr algn="just"/>
            <a:r>
              <a:rPr lang="en-US" dirty="0"/>
              <a:t>This shifts the effective Fermi level to a point about halfway between the acceptor levels and the valence band. </a:t>
            </a:r>
          </a:p>
          <a:p>
            <a:pPr algn="just"/>
            <a:r>
              <a:rPr lang="en-US" dirty="0"/>
              <a:t>Fermi level is the term used to describe the top of the collection of electron energy levels at absolute zero temperature.</a:t>
            </a:r>
          </a:p>
        </p:txBody>
      </p:sp>
    </p:spTree>
    <p:custDataLst>
      <p:tags r:id="rId1"/>
    </p:custDataLst>
    <p:extLst>
      <p:ext uri="{BB962C8B-B14F-4D97-AF65-F5344CB8AC3E}">
        <p14:creationId xmlns:p14="http://schemas.microsoft.com/office/powerpoint/2010/main" xmlns="" val="3876844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a:cs typeface="Times New Roman" pitchFamily="18" charset="0"/>
              </a:rPr>
              <a:t>Introduction to PN junction diode</a:t>
            </a:r>
          </a:p>
        </p:txBody>
      </p:sp>
      <p:sp>
        <p:nvSpPr>
          <p:cNvPr id="3" name="Content Placeholder 2"/>
          <p:cNvSpPr>
            <a:spLocks noGrp="1"/>
          </p:cNvSpPr>
          <p:nvPr>
            <p:ph idx="1"/>
          </p:nvPr>
        </p:nvSpPr>
        <p:spPr>
          <a:xfrm>
            <a:off x="772886" y="1655810"/>
            <a:ext cx="10515600" cy="4351338"/>
          </a:xfrm>
        </p:spPr>
        <p:txBody>
          <a:bodyPr>
            <a:noAutofit/>
          </a:bodyPr>
          <a:lstStyle/>
          <a:p>
            <a:pPr algn="just">
              <a:defRPr/>
            </a:pPr>
            <a:r>
              <a:rPr lang="en-US" dirty="0"/>
              <a:t>When a p-type semiconductor is suitably joined to n-type semiconductor, the contact surface is called </a:t>
            </a:r>
            <a:r>
              <a:rPr lang="en-US" dirty="0" err="1"/>
              <a:t>pn</a:t>
            </a:r>
            <a:r>
              <a:rPr lang="en-US" dirty="0"/>
              <a:t> junction.</a:t>
            </a:r>
          </a:p>
          <a:p>
            <a:pPr algn="just">
              <a:defRPr/>
            </a:pPr>
            <a:r>
              <a:rPr lang="en-US" dirty="0">
                <a:cs typeface="Times New Roman" pitchFamily="18" charset="0"/>
              </a:rPr>
              <a:t>The p-n junction is also called a semiconductor diode. </a:t>
            </a:r>
          </a:p>
          <a:p>
            <a:pPr algn="just">
              <a:defRPr/>
            </a:pPr>
            <a:r>
              <a:rPr lang="en-US" dirty="0"/>
              <a:t>In actual practice, the characteristic properties of </a:t>
            </a:r>
            <a:r>
              <a:rPr lang="en-US" dirty="0" err="1"/>
              <a:t>pn</a:t>
            </a:r>
            <a:r>
              <a:rPr lang="en-US" dirty="0"/>
              <a:t> junction will not be apparent if a p-type block is just brought in contact with n-type block. </a:t>
            </a:r>
          </a:p>
          <a:p>
            <a:pPr algn="just">
              <a:defRPr/>
            </a:pPr>
            <a:r>
              <a:rPr lang="en-US" dirty="0"/>
              <a:t>In fact, </a:t>
            </a:r>
            <a:r>
              <a:rPr lang="en-US" dirty="0" err="1"/>
              <a:t>pn</a:t>
            </a:r>
            <a:r>
              <a:rPr lang="en-US" dirty="0"/>
              <a:t> junction is fabricated by special techniques. One common method of making </a:t>
            </a:r>
            <a:r>
              <a:rPr lang="en-US" dirty="0" err="1"/>
              <a:t>pn</a:t>
            </a:r>
            <a:r>
              <a:rPr lang="en-US" dirty="0"/>
              <a:t> junction is called alloying.</a:t>
            </a: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CBDD95-5A77-40C2-84F0-814FDA99F5D5}"/>
              </a:ext>
            </a:extLst>
          </p:cNvPr>
          <p:cNvSpPr>
            <a:spLocks noGrp="1"/>
          </p:cNvSpPr>
          <p:nvPr>
            <p:ph type="title"/>
          </p:nvPr>
        </p:nvSpPr>
        <p:spPr/>
        <p:txBody>
          <a:bodyPr/>
          <a:lstStyle/>
          <a:p>
            <a:pPr algn="ctr"/>
            <a:r>
              <a:rPr lang="en-IN" b="1" dirty="0"/>
              <a:t>Properties of </a:t>
            </a:r>
            <a:r>
              <a:rPr lang="en-IN" b="1" dirty="0" err="1"/>
              <a:t>pn</a:t>
            </a:r>
            <a:r>
              <a:rPr lang="en-IN" b="1" dirty="0"/>
              <a:t> Junction</a:t>
            </a:r>
          </a:p>
        </p:txBody>
      </p:sp>
      <p:sp>
        <p:nvSpPr>
          <p:cNvPr id="3" name="Content Placeholder 2">
            <a:extLst>
              <a:ext uri="{FF2B5EF4-FFF2-40B4-BE49-F238E27FC236}">
                <a16:creationId xmlns:a16="http://schemas.microsoft.com/office/drawing/2014/main" xmlns="" id="{7BA7608C-B74F-4FE0-8329-D1E2CAE05A18}"/>
              </a:ext>
            </a:extLst>
          </p:cNvPr>
          <p:cNvSpPr>
            <a:spLocks noGrp="1"/>
          </p:cNvSpPr>
          <p:nvPr>
            <p:ph idx="1"/>
          </p:nvPr>
        </p:nvSpPr>
        <p:spPr/>
        <p:txBody>
          <a:bodyPr>
            <a:normAutofit fontScale="92500"/>
          </a:bodyPr>
          <a:lstStyle/>
          <a:p>
            <a:pPr algn="just"/>
            <a:r>
              <a:rPr lang="en-US" dirty="0"/>
              <a:t>At the instant of </a:t>
            </a:r>
            <a:r>
              <a:rPr lang="en-US" dirty="0" err="1"/>
              <a:t>pn</a:t>
            </a:r>
            <a:r>
              <a:rPr lang="en-US" dirty="0"/>
              <a:t>-junction formation, the free electrons near the junction in the n region begin to diffuse across the junction into the p region where they combine with holes near the junction. </a:t>
            </a:r>
          </a:p>
          <a:p>
            <a:pPr algn="just"/>
            <a:r>
              <a:rPr lang="en-US" dirty="0"/>
              <a:t>The result is that n region loses free electrons as they diffuse into the junction. </a:t>
            </a:r>
          </a:p>
          <a:p>
            <a:pPr algn="just"/>
            <a:r>
              <a:rPr lang="en-US" dirty="0"/>
              <a:t>This creates a layer of positive charges (pentavalent ions) near the junction. </a:t>
            </a:r>
          </a:p>
          <a:p>
            <a:pPr algn="just"/>
            <a:r>
              <a:rPr lang="en-US" dirty="0"/>
              <a:t>As the electrons move across the junction, the p region loses holes as the electrons and holes combine. </a:t>
            </a:r>
          </a:p>
          <a:p>
            <a:pPr algn="just"/>
            <a:r>
              <a:rPr lang="en-US" dirty="0"/>
              <a:t>The result is that there is a layer of negative charges (trivalent ions) near the junction.</a:t>
            </a:r>
            <a:endParaRPr lang="en-IN" dirty="0"/>
          </a:p>
        </p:txBody>
      </p:sp>
      <p:sp>
        <p:nvSpPr>
          <p:cNvPr id="4" name="Slide Number Placeholder 3">
            <a:extLst>
              <a:ext uri="{FF2B5EF4-FFF2-40B4-BE49-F238E27FC236}">
                <a16:creationId xmlns:a16="http://schemas.microsoft.com/office/drawing/2014/main" xmlns="" id="{BB38C8F1-E9B6-4CA6-9B4B-5D3127D07CFD}"/>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custDataLst>
      <p:tags r:id="rId1"/>
    </p:custDataLst>
    <p:extLst>
      <p:ext uri="{BB962C8B-B14F-4D97-AF65-F5344CB8AC3E}">
        <p14:creationId xmlns:p14="http://schemas.microsoft.com/office/powerpoint/2010/main" xmlns="" val="1334571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CBDD95-5A77-40C2-84F0-814FDA99F5D5}"/>
              </a:ext>
            </a:extLst>
          </p:cNvPr>
          <p:cNvSpPr>
            <a:spLocks noGrp="1"/>
          </p:cNvSpPr>
          <p:nvPr>
            <p:ph type="title"/>
          </p:nvPr>
        </p:nvSpPr>
        <p:spPr/>
        <p:txBody>
          <a:bodyPr/>
          <a:lstStyle/>
          <a:p>
            <a:pPr algn="ctr"/>
            <a:r>
              <a:rPr lang="en-IN" b="1" dirty="0"/>
              <a:t>Properties of </a:t>
            </a:r>
            <a:r>
              <a:rPr lang="en-IN" b="1" dirty="0" err="1"/>
              <a:t>pn</a:t>
            </a:r>
            <a:r>
              <a:rPr lang="en-IN" b="1" dirty="0"/>
              <a:t> Junction</a:t>
            </a:r>
          </a:p>
        </p:txBody>
      </p:sp>
      <p:sp>
        <p:nvSpPr>
          <p:cNvPr id="3" name="Content Placeholder 2">
            <a:extLst>
              <a:ext uri="{FF2B5EF4-FFF2-40B4-BE49-F238E27FC236}">
                <a16:creationId xmlns:a16="http://schemas.microsoft.com/office/drawing/2014/main" xmlns="" id="{7BA7608C-B74F-4FE0-8329-D1E2CAE05A18}"/>
              </a:ext>
            </a:extLst>
          </p:cNvPr>
          <p:cNvSpPr>
            <a:spLocks noGrp="1"/>
          </p:cNvSpPr>
          <p:nvPr>
            <p:ph idx="1"/>
          </p:nvPr>
        </p:nvSpPr>
        <p:spPr>
          <a:xfrm>
            <a:off x="838200" y="1825625"/>
            <a:ext cx="10161104" cy="4351338"/>
          </a:xfrm>
        </p:spPr>
        <p:txBody>
          <a:bodyPr>
            <a:normAutofit/>
          </a:bodyPr>
          <a:lstStyle/>
          <a:p>
            <a:pPr algn="just"/>
            <a:r>
              <a:rPr lang="en-US" dirty="0"/>
              <a:t>These two layers of positive and negative charges form the depletion region (or depletion layer). </a:t>
            </a:r>
          </a:p>
          <a:p>
            <a:pPr algn="just"/>
            <a:r>
              <a:rPr lang="en-US" dirty="0"/>
              <a:t>The term depletion is due to the fact that near the junction, the region is depleted (i.e. emptied) of charge carries (free electrons and holes) due to diffusion across the junction</a:t>
            </a:r>
            <a:endParaRPr lang="en-IN" dirty="0"/>
          </a:p>
        </p:txBody>
      </p:sp>
      <p:sp>
        <p:nvSpPr>
          <p:cNvPr id="4" name="Slide Number Placeholder 3">
            <a:extLst>
              <a:ext uri="{FF2B5EF4-FFF2-40B4-BE49-F238E27FC236}">
                <a16:creationId xmlns:a16="http://schemas.microsoft.com/office/drawing/2014/main" xmlns="" id="{BB38C8F1-E9B6-4CA6-9B4B-5D3127D07CFD}"/>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custDataLst>
      <p:tags r:id="rId1"/>
    </p:custDataLst>
    <p:extLst>
      <p:ext uri="{BB962C8B-B14F-4D97-AF65-F5344CB8AC3E}">
        <p14:creationId xmlns:p14="http://schemas.microsoft.com/office/powerpoint/2010/main" xmlns="" val="2921342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CBDD95-5A77-40C2-84F0-814FDA99F5D5}"/>
              </a:ext>
            </a:extLst>
          </p:cNvPr>
          <p:cNvSpPr>
            <a:spLocks noGrp="1"/>
          </p:cNvSpPr>
          <p:nvPr>
            <p:ph type="title"/>
          </p:nvPr>
        </p:nvSpPr>
        <p:spPr/>
        <p:txBody>
          <a:bodyPr/>
          <a:lstStyle/>
          <a:p>
            <a:pPr algn="ctr"/>
            <a:r>
              <a:rPr lang="en-IN" b="1" dirty="0"/>
              <a:t>Properties of </a:t>
            </a:r>
            <a:r>
              <a:rPr lang="en-IN" b="1" dirty="0" err="1"/>
              <a:t>pn</a:t>
            </a:r>
            <a:r>
              <a:rPr lang="en-IN" b="1" dirty="0"/>
              <a:t> Junction</a:t>
            </a:r>
          </a:p>
        </p:txBody>
      </p:sp>
      <p:sp>
        <p:nvSpPr>
          <p:cNvPr id="3" name="Content Placeholder 2">
            <a:extLst>
              <a:ext uri="{FF2B5EF4-FFF2-40B4-BE49-F238E27FC236}">
                <a16:creationId xmlns:a16="http://schemas.microsoft.com/office/drawing/2014/main" xmlns="" id="{7BA7608C-B74F-4FE0-8329-D1E2CAE05A18}"/>
              </a:ext>
            </a:extLst>
          </p:cNvPr>
          <p:cNvSpPr>
            <a:spLocks noGrp="1"/>
          </p:cNvSpPr>
          <p:nvPr>
            <p:ph idx="1"/>
          </p:nvPr>
        </p:nvSpPr>
        <p:spPr>
          <a:xfrm>
            <a:off x="838200" y="1825625"/>
            <a:ext cx="4634948" cy="4351338"/>
          </a:xfrm>
        </p:spPr>
        <p:txBody>
          <a:bodyPr>
            <a:normAutofit fontScale="92500"/>
          </a:bodyPr>
          <a:lstStyle/>
          <a:p>
            <a:pPr algn="just"/>
            <a:r>
              <a:rPr lang="en-US" dirty="0"/>
              <a:t>Once </a:t>
            </a:r>
            <a:r>
              <a:rPr lang="en-US" dirty="0" err="1"/>
              <a:t>pn</a:t>
            </a:r>
            <a:r>
              <a:rPr lang="en-US" dirty="0"/>
              <a:t> junction is formed and depletion layer created, the diffusion of free electrons stops. </a:t>
            </a:r>
          </a:p>
          <a:p>
            <a:pPr algn="just"/>
            <a:r>
              <a:rPr lang="en-US" dirty="0"/>
              <a:t>In other words, the depletion region acts as a barrier to the further movement of free electrons across the junction. </a:t>
            </a:r>
          </a:p>
          <a:p>
            <a:pPr algn="just"/>
            <a:r>
              <a:rPr lang="en-US" dirty="0"/>
              <a:t>The positive and negative charges set up an electric field</a:t>
            </a:r>
            <a:endParaRPr lang="en-IN" dirty="0"/>
          </a:p>
        </p:txBody>
      </p:sp>
      <p:sp>
        <p:nvSpPr>
          <p:cNvPr id="4" name="Slide Number Placeholder 3">
            <a:extLst>
              <a:ext uri="{FF2B5EF4-FFF2-40B4-BE49-F238E27FC236}">
                <a16:creationId xmlns:a16="http://schemas.microsoft.com/office/drawing/2014/main" xmlns="" id="{BB38C8F1-E9B6-4CA6-9B4B-5D3127D07CFD}"/>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6" name="Picture 5">
            <a:extLst>
              <a:ext uri="{FF2B5EF4-FFF2-40B4-BE49-F238E27FC236}">
                <a16:creationId xmlns:a16="http://schemas.microsoft.com/office/drawing/2014/main" xmlns="" id="{6B6EF67C-5191-446B-B90B-D64E0393743D}"/>
              </a:ext>
            </a:extLst>
          </p:cNvPr>
          <p:cNvPicPr>
            <a:picLocks noChangeAspect="1"/>
          </p:cNvPicPr>
          <p:nvPr/>
        </p:nvPicPr>
        <p:blipFill>
          <a:blip r:embed="rId3"/>
          <a:stretch>
            <a:fillRect/>
          </a:stretch>
        </p:blipFill>
        <p:spPr>
          <a:xfrm>
            <a:off x="7068254" y="1524000"/>
            <a:ext cx="3599745" cy="3458818"/>
          </a:xfrm>
          <a:prstGeom prst="rect">
            <a:avLst/>
          </a:prstGeom>
        </p:spPr>
      </p:pic>
      <p:sp>
        <p:nvSpPr>
          <p:cNvPr id="7" name="TextBox 6">
            <a:extLst>
              <a:ext uri="{FF2B5EF4-FFF2-40B4-BE49-F238E27FC236}">
                <a16:creationId xmlns:a16="http://schemas.microsoft.com/office/drawing/2014/main" xmlns="" id="{924781DB-E026-4208-A424-FF638953FE10}"/>
              </a:ext>
            </a:extLst>
          </p:cNvPr>
          <p:cNvSpPr txBox="1"/>
          <p:nvPr/>
        </p:nvSpPr>
        <p:spPr>
          <a:xfrm>
            <a:off x="6919740" y="5200213"/>
            <a:ext cx="3963393" cy="369332"/>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3 P</a:t>
            </a:r>
            <a:r>
              <a:rPr lang="en-US" b="1" dirty="0">
                <a:solidFill>
                  <a:schemeClr val="tx1"/>
                </a:solidFill>
                <a:cs typeface="Times New Roman" panose="02020603050405020304" pitchFamily="18" charset="0"/>
              </a:rPr>
              <a:t>-type Extrinsic Semiconductor</a:t>
            </a:r>
          </a:p>
        </p:txBody>
      </p:sp>
      <p:sp>
        <p:nvSpPr>
          <p:cNvPr id="8" name="Rectangle 7">
            <a:extLst>
              <a:ext uri="{FF2B5EF4-FFF2-40B4-BE49-F238E27FC236}">
                <a16:creationId xmlns:a16="http://schemas.microsoft.com/office/drawing/2014/main" xmlns="" id="{C24DA21B-61F1-434E-B7F1-D7D0E883070C}"/>
              </a:ext>
            </a:extLst>
          </p:cNvPr>
          <p:cNvSpPr/>
          <p:nvPr/>
        </p:nvSpPr>
        <p:spPr>
          <a:xfrm>
            <a:off x="6294783" y="5569545"/>
            <a:ext cx="5373804" cy="646331"/>
          </a:xfrm>
          <a:prstGeom prst="rect">
            <a:avLst/>
          </a:prstGeom>
        </p:spPr>
        <p:txBody>
          <a:bodyPr wrap="square">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7030A0"/>
                </a:solidFill>
                <a:effectLst/>
                <a:ea typeface="Calibri" panose="020F0502020204030204" pitchFamily="34" charset="0"/>
                <a:cs typeface="Times New Roman" panose="02020603050405020304" pitchFamily="18" charset="0"/>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xmlns="" val="938066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i="0" dirty="0">
                <a:solidFill>
                  <a:srgbClr val="262626"/>
                </a:solidFill>
                <a:effectLst/>
                <a:ea typeface="Open Sans" panose="020B0606030504020204" pitchFamily="34" charset="0"/>
                <a:cs typeface="Open Sans" panose="020B0606030504020204" pitchFamily="34" charset="0"/>
              </a:rPr>
              <a:t>Biasing of a PN junction diode</a:t>
            </a:r>
            <a:endParaRPr lang="en-IN" b="1" dirty="0">
              <a:ea typeface="Open Sans" panose="020B0606030504020204" pitchFamily="34" charset="0"/>
              <a:cs typeface="Open Sans" panose="020B0606030504020204" pitchFamily="34" charset="0"/>
            </a:endParaRPr>
          </a:p>
        </p:txBody>
      </p:sp>
      <p:sp>
        <p:nvSpPr>
          <p:cNvPr id="3" name="Content Placeholder 2"/>
          <p:cNvSpPr>
            <a:spLocks noGrp="1"/>
          </p:cNvSpPr>
          <p:nvPr>
            <p:ph idx="1"/>
          </p:nvPr>
        </p:nvSpPr>
        <p:spPr>
          <a:xfrm>
            <a:off x="772886" y="1655810"/>
            <a:ext cx="10515600" cy="4351338"/>
          </a:xfrm>
        </p:spPr>
        <p:txBody>
          <a:bodyPr>
            <a:noAutofit/>
          </a:bodyPr>
          <a:lstStyle/>
          <a:p>
            <a:r>
              <a:rPr lang="en-US" dirty="0" smtClean="0"/>
              <a:t>VI </a:t>
            </a:r>
            <a:r>
              <a:rPr lang="en-US" dirty="0" smtClean="0"/>
              <a:t>characteristics of P-N junction diodes is a curve between the voltage and current through the circuit. Voltage is taken along the x-axis while the current is taken along the y-axis. The above graph is the V-I characteristics curve of the P-N junction diode. With the help of the curve, we can understand that there are three regions in which the diode works, and they are:</a:t>
            </a:r>
          </a:p>
          <a:p>
            <a:r>
              <a:rPr lang="en-US" dirty="0" smtClean="0"/>
              <a:t>Zero bias </a:t>
            </a:r>
          </a:p>
          <a:p>
            <a:r>
              <a:rPr lang="en-US" dirty="0" smtClean="0"/>
              <a:t>Forward bias</a:t>
            </a:r>
          </a:p>
          <a:p>
            <a:r>
              <a:rPr lang="en-US" dirty="0" smtClean="0"/>
              <a:t>Reverse bias</a:t>
            </a:r>
          </a:p>
          <a:p>
            <a:pPr marL="0" indent="0" algn="just">
              <a:buNone/>
            </a:pPr>
            <a:endParaRPr lang="en-US" b="0" i="0" dirty="0">
              <a:solidFill>
                <a:srgbClr val="262626"/>
              </a:solidFill>
              <a:effectLst/>
              <a:ea typeface="Open Sans" panose="020B0606030504020204" pitchFamily="34" charset="0"/>
              <a:cs typeface="Open Sans" panose="020B0606030504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Zero bias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When the P-N junction diode is in zero bias condition, there is no external voltage applied and this means that the potential barrier at the junction does not allow the flow of current.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634C9A8C-5C72-4BA7-8263-65B82B93B7D1}"/>
              </a:ext>
            </a:extLst>
          </p:cNvPr>
          <p:cNvSpPr>
            <a:spLocks noGrp="1"/>
          </p:cNvSpPr>
          <p:nvPr>
            <p:ph type="title"/>
          </p:nvPr>
        </p:nvSpPr>
        <p:spPr/>
        <p:txBody>
          <a:bodyPr>
            <a:normAutofit/>
          </a:bodyPr>
          <a:lstStyle/>
          <a:p>
            <a:r>
              <a:rPr lang="en-US" sz="4000" b="1" dirty="0">
                <a:effectLst/>
                <a:ea typeface="Calibri" panose="020F0502020204030204" pitchFamily="34" charset="0"/>
                <a:cs typeface="Times New Roman" panose="02020603050405020304" pitchFamily="18" charset="0"/>
              </a:rPr>
              <a:t>Function of a P-N junction diode in Forward Bias</a:t>
            </a:r>
            <a:endParaRPr lang="en-IN" sz="8000" dirty="0"/>
          </a:p>
        </p:txBody>
      </p:sp>
      <p:sp>
        <p:nvSpPr>
          <p:cNvPr id="7" name="Content Placeholder 6">
            <a:extLst>
              <a:ext uri="{FF2B5EF4-FFF2-40B4-BE49-F238E27FC236}">
                <a16:creationId xmlns:a16="http://schemas.microsoft.com/office/drawing/2014/main" xmlns="" id="{F6D26FA0-B474-4D56-8F4C-C285592066CE}"/>
              </a:ext>
            </a:extLst>
          </p:cNvPr>
          <p:cNvSpPr>
            <a:spLocks noGrp="1"/>
          </p:cNvSpPr>
          <p:nvPr>
            <p:ph idx="1"/>
          </p:nvPr>
        </p:nvSpPr>
        <p:spPr>
          <a:xfrm>
            <a:off x="688145" y="1767135"/>
            <a:ext cx="5732644" cy="4351338"/>
          </a:xfrm>
        </p:spPr>
        <p:txBody>
          <a:bodyPr>
            <a:noAutofit/>
          </a:bodyPr>
          <a:lstStyle/>
          <a:p>
            <a:pPr marL="0" indent="0" algn="just">
              <a:buNone/>
            </a:pPr>
            <a:r>
              <a:rPr lang="en-US" sz="2800" dirty="0">
                <a:effectLst/>
                <a:ea typeface="Calibri" panose="020F0502020204030204" pitchFamily="34" charset="0"/>
              </a:rPr>
              <a:t>The </a:t>
            </a:r>
            <a:r>
              <a:rPr lang="en-US" sz="2800" b="1" dirty="0">
                <a:solidFill>
                  <a:srgbClr val="C00000"/>
                </a:solidFill>
                <a:effectLst/>
                <a:ea typeface="Calibri" panose="020F0502020204030204" pitchFamily="34" charset="0"/>
              </a:rPr>
              <a:t>positive terminal</a:t>
            </a:r>
            <a:r>
              <a:rPr lang="en-US" sz="2800" dirty="0">
                <a:effectLst/>
                <a:ea typeface="Calibri" panose="020F0502020204030204" pitchFamily="34" charset="0"/>
              </a:rPr>
              <a:t> of battery is connected to the </a:t>
            </a:r>
            <a:r>
              <a:rPr lang="en-US" sz="2800" b="1" dirty="0">
                <a:solidFill>
                  <a:srgbClr val="C00000"/>
                </a:solidFill>
                <a:effectLst/>
                <a:ea typeface="Calibri" panose="020F0502020204030204" pitchFamily="34" charset="0"/>
              </a:rPr>
              <a:t>P side (anode) </a:t>
            </a:r>
            <a:r>
              <a:rPr lang="en-US" sz="2800" dirty="0">
                <a:effectLst/>
                <a:ea typeface="Calibri" panose="020F0502020204030204" pitchFamily="34" charset="0"/>
              </a:rPr>
              <a:t>and the </a:t>
            </a:r>
            <a:r>
              <a:rPr lang="en-US" sz="2800" b="1" dirty="0">
                <a:solidFill>
                  <a:srgbClr val="C00000"/>
                </a:solidFill>
                <a:effectLst/>
                <a:ea typeface="Calibri" panose="020F0502020204030204" pitchFamily="34" charset="0"/>
              </a:rPr>
              <a:t>negative terminal</a:t>
            </a:r>
            <a:r>
              <a:rPr lang="en-US" sz="2800" dirty="0">
                <a:effectLst/>
                <a:ea typeface="Calibri" panose="020F0502020204030204" pitchFamily="34" charset="0"/>
              </a:rPr>
              <a:t> of battery is connected to the </a:t>
            </a:r>
            <a:r>
              <a:rPr lang="en-US" sz="2800" dirty="0">
                <a:solidFill>
                  <a:srgbClr val="C00000"/>
                </a:solidFill>
                <a:effectLst/>
                <a:ea typeface="Calibri" panose="020F0502020204030204" pitchFamily="34" charset="0"/>
              </a:rPr>
              <a:t>N side (cathode)</a:t>
            </a:r>
            <a:r>
              <a:rPr lang="en-US" sz="2800" dirty="0">
                <a:effectLst/>
                <a:ea typeface="Calibri" panose="020F0502020204030204" pitchFamily="34" charset="0"/>
              </a:rPr>
              <a:t> of a diode, the holes in the p-type region and the electrons in the n-type region are pushed toward the junction and start to neutralize the depletion zone, reducing its width.</a:t>
            </a:r>
          </a:p>
          <a:p>
            <a:pPr algn="just"/>
            <a:endParaRPr lang="en-IN" sz="2800" dirty="0"/>
          </a:p>
        </p:txBody>
      </p:sp>
      <p:sp>
        <p:nvSpPr>
          <p:cNvPr id="5" name="Slide Number Placeholder 4">
            <a:extLst>
              <a:ext uri="{FF2B5EF4-FFF2-40B4-BE49-F238E27FC236}">
                <a16:creationId xmlns:a16="http://schemas.microsoft.com/office/drawing/2014/main" xmlns="" id="{CBA9604B-8293-476A-9470-647ECDF7AA45}"/>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2" name="Rectangle 2">
            <a:extLst>
              <a:ext uri="{FF2B5EF4-FFF2-40B4-BE49-F238E27FC236}">
                <a16:creationId xmlns:a16="http://schemas.microsoft.com/office/drawing/2014/main" xmlns="" id="{34C132BB-E26F-4A29-9C94-F979C4A4270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xmlns="" id="{4868A47C-DF4F-4E91-83CF-CA2FD6175FA3}"/>
              </a:ext>
            </a:extLst>
          </p:cNvPr>
          <p:cNvPicPr/>
          <p:nvPr/>
        </p:nvPicPr>
        <p:blipFill>
          <a:blip r:embed="rId3"/>
          <a:stretch>
            <a:fillRect/>
          </a:stretch>
        </p:blipFill>
        <p:spPr>
          <a:xfrm>
            <a:off x="7612863" y="2055813"/>
            <a:ext cx="3310655" cy="2509255"/>
          </a:xfrm>
          <a:prstGeom prst="rect">
            <a:avLst/>
          </a:prstGeom>
        </p:spPr>
      </p:pic>
      <p:sp>
        <p:nvSpPr>
          <p:cNvPr id="9" name="TextBox 8">
            <a:extLst>
              <a:ext uri="{FF2B5EF4-FFF2-40B4-BE49-F238E27FC236}">
                <a16:creationId xmlns:a16="http://schemas.microsoft.com/office/drawing/2014/main" xmlns="" id="{6ACC91E0-FD27-46CF-8C81-A30290F3D62A}"/>
              </a:ext>
            </a:extLst>
          </p:cNvPr>
          <p:cNvSpPr txBox="1"/>
          <p:nvPr/>
        </p:nvSpPr>
        <p:spPr>
          <a:xfrm>
            <a:off x="6420789" y="4833939"/>
            <a:ext cx="539998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4: </a:t>
            </a:r>
            <a:r>
              <a:rPr lang="en-US" sz="1800" b="1" dirty="0">
                <a:effectLst/>
                <a:ea typeface="Calibri" panose="020F0502020204030204" pitchFamily="34" charset="0"/>
                <a:cs typeface="Times New Roman" panose="02020603050405020304" pitchFamily="18" charset="0"/>
              </a:rPr>
              <a:t>P-N junction diode in forward </a:t>
            </a:r>
            <a:r>
              <a:rPr lang="en-US" b="1" dirty="0">
                <a:ea typeface="Calibri" panose="020F0502020204030204" pitchFamily="34" charset="0"/>
                <a:cs typeface="Times New Roman" panose="02020603050405020304" pitchFamily="18" charset="0"/>
              </a:rPr>
              <a:t>b</a:t>
            </a:r>
            <a:r>
              <a:rPr lang="en-US" sz="1800" b="1" dirty="0">
                <a:effectLst/>
                <a:ea typeface="Calibri" panose="020F0502020204030204" pitchFamily="34" charset="0"/>
                <a:cs typeface="Times New Roman" panose="02020603050405020304" pitchFamily="18" charset="0"/>
              </a:rPr>
              <a:t>ias condition</a:t>
            </a:r>
            <a:endParaRPr kumimoji="0" lang="en-US" altLang="en-US" sz="1600" b="0" i="0" u="none" strike="noStrike" cap="none" normalizeH="0" baseline="0" dirty="0">
              <a:ln>
                <a:noFill/>
              </a:ln>
              <a:solidFill>
                <a:schemeClr val="tx1"/>
              </a:solidFill>
              <a:effectLst/>
              <a:cs typeface="Times New Roman" panose="02020603050405020304" pitchFamily="18" charset="0"/>
            </a:endParaRPr>
          </a:p>
        </p:txBody>
      </p:sp>
      <p:sp>
        <p:nvSpPr>
          <p:cNvPr id="10" name="TextBox 9">
            <a:extLst>
              <a:ext uri="{FF2B5EF4-FFF2-40B4-BE49-F238E27FC236}">
                <a16:creationId xmlns:a16="http://schemas.microsoft.com/office/drawing/2014/main" xmlns="" id="{F4A2DE18-7A02-458C-A15D-7E7844F81BB9}"/>
              </a:ext>
            </a:extLst>
          </p:cNvPr>
          <p:cNvSpPr txBox="1"/>
          <p:nvPr/>
        </p:nvSpPr>
        <p:spPr>
          <a:xfrm>
            <a:off x="6481833" y="5472142"/>
            <a:ext cx="527789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a:t>
            </a:r>
            <a:r>
              <a:rPr kumimoji="0" lang="en-US" altLang="en-US" b="1" i="0" u="none" strike="noStrike" cap="none" normalizeH="0" baseline="0" dirty="0">
                <a:ln>
                  <a:noFill/>
                </a:ln>
                <a:solidFill>
                  <a:srgbClr val="0563C1"/>
                </a:solidFill>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xmlns="" val="tx"/>
                    </a:ext>
                  </a:extLst>
                </a:hlinkClick>
              </a:rPr>
              <a:t> </a:t>
            </a:r>
            <a:r>
              <a:rPr kumimoji="0" lang="en-US" altLang="en-US" b="1" i="0" u="none" strike="noStrike" cap="none" normalizeH="0" baseline="0" dirty="0">
                <a:ln>
                  <a:noFill/>
                </a:ln>
                <a:solidFill>
                  <a:srgbClr val="7030A0"/>
                </a:solidFill>
                <a:effectLst/>
                <a:ea typeface="Calibri" panose="020F0502020204030204" pitchFamily="34" charset="0"/>
                <a:cs typeface="Times New Roman" panose="02020603050405020304" pitchFamily="18" charset="0"/>
              </a:rPr>
              <a:t>https://www.gadgetronicx.com/diode-tutorial-construction-working-vi-characteristics/)</a:t>
            </a:r>
            <a:endParaRPr lang="en-US" sz="1600" b="1" dirty="0">
              <a:solidFill>
                <a:srgbClr val="7030A0"/>
              </a:solidFill>
            </a:endParaRPr>
          </a:p>
        </p:txBody>
      </p:sp>
    </p:spTree>
    <p:custDataLst>
      <p:tags r:id="rId1"/>
    </p:custDataLst>
    <p:extLst>
      <p:ext uri="{BB962C8B-B14F-4D97-AF65-F5344CB8AC3E}">
        <p14:creationId xmlns:p14="http://schemas.microsoft.com/office/powerpoint/2010/main" xmlns="" val="668608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634C9A8C-5C72-4BA7-8263-65B82B93B7D1}"/>
              </a:ext>
            </a:extLst>
          </p:cNvPr>
          <p:cNvSpPr>
            <a:spLocks noGrp="1"/>
          </p:cNvSpPr>
          <p:nvPr>
            <p:ph type="title"/>
          </p:nvPr>
        </p:nvSpPr>
        <p:spPr/>
        <p:txBody>
          <a:bodyPr>
            <a:normAutofit/>
          </a:bodyPr>
          <a:lstStyle/>
          <a:p>
            <a:r>
              <a:rPr lang="en-US" sz="4000" b="1" dirty="0">
                <a:effectLst/>
                <a:ea typeface="Calibri" panose="020F0502020204030204" pitchFamily="34" charset="0"/>
                <a:cs typeface="Times New Roman" panose="02020603050405020304" pitchFamily="18" charset="0"/>
              </a:rPr>
              <a:t>Function of a P-N junction diode in Reverse Bias</a:t>
            </a:r>
            <a:endParaRPr lang="en-IN" sz="8000" dirty="0"/>
          </a:p>
        </p:txBody>
      </p:sp>
      <p:sp>
        <p:nvSpPr>
          <p:cNvPr id="7" name="Content Placeholder 6">
            <a:extLst>
              <a:ext uri="{FF2B5EF4-FFF2-40B4-BE49-F238E27FC236}">
                <a16:creationId xmlns:a16="http://schemas.microsoft.com/office/drawing/2014/main" xmlns="" id="{F6D26FA0-B474-4D56-8F4C-C285592066CE}"/>
              </a:ext>
            </a:extLst>
          </p:cNvPr>
          <p:cNvSpPr>
            <a:spLocks noGrp="1"/>
          </p:cNvSpPr>
          <p:nvPr>
            <p:ph idx="1"/>
          </p:nvPr>
        </p:nvSpPr>
        <p:spPr>
          <a:xfrm>
            <a:off x="838200" y="1825625"/>
            <a:ext cx="5140569" cy="4351338"/>
          </a:xfrm>
        </p:spPr>
        <p:txBody>
          <a:bodyPr>
            <a:normAutofit/>
          </a:bodyPr>
          <a:lstStyle/>
          <a:p>
            <a:pPr marL="0" indent="0" algn="just">
              <a:buNone/>
            </a:pPr>
            <a:r>
              <a:rPr lang="en-US" sz="2800" dirty="0">
                <a:effectLst/>
                <a:ea typeface="Calibri" panose="020F0502020204030204" pitchFamily="34" charset="0"/>
              </a:rPr>
              <a:t>The </a:t>
            </a:r>
            <a:r>
              <a:rPr lang="en-US" sz="2800" b="1" dirty="0">
                <a:solidFill>
                  <a:srgbClr val="C00000"/>
                </a:solidFill>
                <a:effectLst/>
                <a:ea typeface="Calibri" panose="020F0502020204030204" pitchFamily="34" charset="0"/>
              </a:rPr>
              <a:t>positive terminal</a:t>
            </a:r>
            <a:r>
              <a:rPr lang="en-US" sz="2800" dirty="0">
                <a:effectLst/>
                <a:ea typeface="Calibri" panose="020F0502020204030204" pitchFamily="34" charset="0"/>
              </a:rPr>
              <a:t> of battery is connected to the </a:t>
            </a:r>
            <a:r>
              <a:rPr lang="en-US" sz="2800" b="1" dirty="0">
                <a:solidFill>
                  <a:srgbClr val="C00000"/>
                </a:solidFill>
                <a:effectLst/>
                <a:ea typeface="Calibri" panose="020F0502020204030204" pitchFamily="34" charset="0"/>
              </a:rPr>
              <a:t>N side (cathode) </a:t>
            </a:r>
            <a:r>
              <a:rPr lang="en-US" sz="2800" dirty="0">
                <a:effectLst/>
                <a:ea typeface="Calibri" panose="020F0502020204030204" pitchFamily="34" charset="0"/>
              </a:rPr>
              <a:t>and the </a:t>
            </a:r>
            <a:r>
              <a:rPr lang="en-US" sz="2800" b="1" dirty="0">
                <a:solidFill>
                  <a:srgbClr val="C00000"/>
                </a:solidFill>
                <a:effectLst/>
                <a:ea typeface="Calibri" panose="020F0502020204030204" pitchFamily="34" charset="0"/>
              </a:rPr>
              <a:t>negative terminal </a:t>
            </a:r>
            <a:r>
              <a:rPr lang="en-US" sz="2800" dirty="0">
                <a:effectLst/>
                <a:ea typeface="Calibri" panose="020F0502020204030204" pitchFamily="34" charset="0"/>
              </a:rPr>
              <a:t>of battery is connected to the </a:t>
            </a:r>
            <a:r>
              <a:rPr lang="en-US" sz="2800" b="1" dirty="0">
                <a:solidFill>
                  <a:srgbClr val="C00000"/>
                </a:solidFill>
                <a:effectLst/>
                <a:ea typeface="Calibri" panose="020F0502020204030204" pitchFamily="34" charset="0"/>
              </a:rPr>
              <a:t>P side (anode)</a:t>
            </a:r>
            <a:r>
              <a:rPr lang="en-US" sz="2800" dirty="0">
                <a:effectLst/>
                <a:ea typeface="Calibri" panose="020F0502020204030204" pitchFamily="34" charset="0"/>
              </a:rPr>
              <a:t> of a diode. </a:t>
            </a:r>
          </a:p>
          <a:p>
            <a:pPr marL="0" indent="0" algn="just">
              <a:buNone/>
            </a:pPr>
            <a:r>
              <a:rPr lang="en-US" sz="2800" dirty="0">
                <a:effectLst/>
                <a:ea typeface="Calibri" panose="020F0502020204030204" pitchFamily="34" charset="0"/>
              </a:rPr>
              <a:t>Therefore, very little current will flow until the diode breaks down.</a:t>
            </a:r>
          </a:p>
          <a:p>
            <a:pPr algn="just"/>
            <a:endParaRPr lang="en-IN" sz="2800" dirty="0"/>
          </a:p>
        </p:txBody>
      </p:sp>
      <p:sp>
        <p:nvSpPr>
          <p:cNvPr id="5" name="Slide Number Placeholder 4">
            <a:extLst>
              <a:ext uri="{FF2B5EF4-FFF2-40B4-BE49-F238E27FC236}">
                <a16:creationId xmlns:a16="http://schemas.microsoft.com/office/drawing/2014/main" xmlns="" id="{CBA9604B-8293-476A-9470-647ECDF7AA45}"/>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2" name="Rectangle 2">
            <a:extLst>
              <a:ext uri="{FF2B5EF4-FFF2-40B4-BE49-F238E27FC236}">
                <a16:creationId xmlns:a16="http://schemas.microsoft.com/office/drawing/2014/main" xmlns="" id="{34C132BB-E26F-4A29-9C94-F979C4A4270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xmlns="" id="{B616BE3F-C425-496D-93E2-41DCF1C57610}"/>
              </a:ext>
            </a:extLst>
          </p:cNvPr>
          <p:cNvPicPr/>
          <p:nvPr/>
        </p:nvPicPr>
        <p:blipFill>
          <a:blip r:embed="rId3"/>
          <a:stretch>
            <a:fillRect/>
          </a:stretch>
        </p:blipFill>
        <p:spPr>
          <a:xfrm>
            <a:off x="6778210" y="1856588"/>
            <a:ext cx="4208658" cy="3254214"/>
          </a:xfrm>
          <a:prstGeom prst="rect">
            <a:avLst/>
          </a:prstGeom>
        </p:spPr>
      </p:pic>
      <p:sp>
        <p:nvSpPr>
          <p:cNvPr id="10" name="TextBox 9">
            <a:extLst>
              <a:ext uri="{FF2B5EF4-FFF2-40B4-BE49-F238E27FC236}">
                <a16:creationId xmlns:a16="http://schemas.microsoft.com/office/drawing/2014/main" xmlns="" id="{7C039A50-25C3-41EE-B898-3D2EF7A2798D}"/>
              </a:ext>
            </a:extLst>
          </p:cNvPr>
          <p:cNvSpPr txBox="1"/>
          <p:nvPr/>
        </p:nvSpPr>
        <p:spPr>
          <a:xfrm>
            <a:off x="6420788" y="4999110"/>
            <a:ext cx="539998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5: </a:t>
            </a:r>
            <a:r>
              <a:rPr lang="en-US" sz="1800" b="1" dirty="0">
                <a:effectLst/>
                <a:ea typeface="Calibri" panose="020F0502020204030204" pitchFamily="34" charset="0"/>
                <a:cs typeface="Times New Roman" panose="02020603050405020304" pitchFamily="18" charset="0"/>
              </a:rPr>
              <a:t>P-N junction diode in Reverse bias condition</a:t>
            </a:r>
            <a:endParaRPr kumimoji="0" lang="en-US" altLang="en-US" sz="1600" b="0" i="0" u="none" strike="noStrike" cap="none" normalizeH="0" baseline="0" dirty="0">
              <a:ln>
                <a:noFill/>
              </a:ln>
              <a:solidFill>
                <a:schemeClr val="tx1"/>
              </a:solidFill>
              <a:effectLst/>
              <a:cs typeface="Times New Roman" panose="02020603050405020304" pitchFamily="18" charset="0"/>
            </a:endParaRPr>
          </a:p>
        </p:txBody>
      </p:sp>
      <p:sp>
        <p:nvSpPr>
          <p:cNvPr id="11" name="TextBox 10">
            <a:extLst>
              <a:ext uri="{FF2B5EF4-FFF2-40B4-BE49-F238E27FC236}">
                <a16:creationId xmlns:a16="http://schemas.microsoft.com/office/drawing/2014/main" xmlns="" id="{120D76D4-3968-4D7E-988B-DF03160EA437}"/>
              </a:ext>
            </a:extLst>
          </p:cNvPr>
          <p:cNvSpPr txBox="1"/>
          <p:nvPr/>
        </p:nvSpPr>
        <p:spPr>
          <a:xfrm>
            <a:off x="6359745" y="5472142"/>
            <a:ext cx="539998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a:t>
            </a:r>
            <a:r>
              <a:rPr kumimoji="0" lang="en-US" altLang="en-US" b="1" i="0" u="none" strike="noStrike" cap="none" normalizeH="0" baseline="0" dirty="0">
                <a:ln>
                  <a:noFill/>
                </a:ln>
                <a:solidFill>
                  <a:srgbClr val="0563C1"/>
                </a:solidFill>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xmlns="" val="tx"/>
                    </a:ext>
                  </a:extLst>
                </a:hlinkClick>
              </a:rPr>
              <a:t> </a:t>
            </a:r>
            <a:r>
              <a:rPr kumimoji="0" lang="en-US" altLang="en-US" b="1" i="0" u="none" strike="noStrike" cap="none" normalizeH="0" baseline="0" dirty="0">
                <a:ln>
                  <a:noFill/>
                </a:ln>
                <a:solidFill>
                  <a:srgbClr val="7030A0"/>
                </a:solidFill>
                <a:effectLst/>
                <a:ea typeface="Calibri" panose="020F0502020204030204" pitchFamily="34" charset="0"/>
                <a:cs typeface="Times New Roman" panose="02020603050405020304" pitchFamily="18" charset="0"/>
              </a:rPr>
              <a:t>https://www.gadgetronicx.com/diode-tutorial-construction-working-vi-characteristics/)</a:t>
            </a:r>
            <a:endParaRPr lang="en-US" sz="1600" b="1" dirty="0">
              <a:solidFill>
                <a:srgbClr val="7030A0"/>
              </a:solidFill>
            </a:endParaRPr>
          </a:p>
        </p:txBody>
      </p:sp>
    </p:spTree>
    <p:custDataLst>
      <p:tags r:id="rId1"/>
    </p:custDataLst>
    <p:extLst>
      <p:ext uri="{BB962C8B-B14F-4D97-AF65-F5344CB8AC3E}">
        <p14:creationId xmlns:p14="http://schemas.microsoft.com/office/powerpoint/2010/main" xmlns="" val="4011455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 Characteristics of P-N Junction Diode</a:t>
            </a:r>
            <a:br>
              <a:rPr lang="en-US" b="1" dirty="0" smtClean="0"/>
            </a:br>
            <a:endParaRPr lang="en-US" dirty="0"/>
          </a:p>
        </p:txBody>
      </p:sp>
      <p:pic>
        <p:nvPicPr>
          <p:cNvPr id="5" name="Content Placeholder 4" descr="v-I characteristics of P-N Junction.png"/>
          <p:cNvPicPr>
            <a:picLocks noGrp="1" noChangeAspect="1"/>
          </p:cNvPicPr>
          <p:nvPr>
            <p:ph idx="1"/>
          </p:nvPr>
        </p:nvPicPr>
        <p:blipFill>
          <a:blip r:embed="rId2"/>
          <a:stretch>
            <a:fillRect/>
          </a:stretch>
        </p:blipFill>
        <p:spPr>
          <a:xfrm>
            <a:off x="2684206" y="1825625"/>
            <a:ext cx="6563033" cy="4351338"/>
          </a:xfrm>
        </p:spPr>
      </p:pic>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ADVANTAGES</a:t>
            </a:r>
          </a:p>
        </p:txBody>
      </p:sp>
      <p:sp>
        <p:nvSpPr>
          <p:cNvPr id="3" name="Content Placeholder 2"/>
          <p:cNvSpPr>
            <a:spLocks noGrp="1"/>
          </p:cNvSpPr>
          <p:nvPr>
            <p:ph idx="1"/>
          </p:nvPr>
        </p:nvSpPr>
        <p:spPr>
          <a:xfrm>
            <a:off x="825137" y="1381488"/>
            <a:ext cx="10515600" cy="4351338"/>
          </a:xfrm>
        </p:spPr>
        <p:txBody>
          <a:bodyPr>
            <a:noAutofit/>
          </a:bodyPr>
          <a:lstStyle/>
          <a:p>
            <a:r>
              <a:rPr lang="en-US" dirty="0"/>
              <a:t>No filament is necessary </a:t>
            </a:r>
          </a:p>
          <a:p>
            <a:r>
              <a:rPr lang="en-US" dirty="0"/>
              <a:t>Occupies lesser space</a:t>
            </a:r>
          </a:p>
          <a:p>
            <a:r>
              <a:rPr lang="en-US" dirty="0"/>
              <a:t>Long life.</a:t>
            </a:r>
          </a:p>
          <a:p>
            <a:pPr>
              <a:buNone/>
            </a:pPr>
            <a:r>
              <a:rPr lang="en-IN" b="1" u="sng" dirty="0"/>
              <a:t>APPLICATIONS:</a:t>
            </a:r>
            <a:endParaRPr lang="en-US" u="sng" dirty="0"/>
          </a:p>
          <a:p>
            <a:r>
              <a:rPr lang="en-US" dirty="0"/>
              <a:t>PN Junction diode used </a:t>
            </a:r>
          </a:p>
          <a:p>
            <a:r>
              <a:rPr lang="en-US" dirty="0"/>
              <a:t>as rectifiers to convert AC into DC. </a:t>
            </a:r>
          </a:p>
          <a:p>
            <a:r>
              <a:rPr lang="en-US" dirty="0"/>
              <a:t>As an switch in computer circuits.</a:t>
            </a:r>
          </a:p>
          <a:p>
            <a:r>
              <a:rPr lang="en-US" dirty="0"/>
              <a:t> As detectors in radios to detect audio signals</a:t>
            </a:r>
          </a:p>
          <a:p>
            <a:r>
              <a:rPr lang="en-US" dirty="0"/>
              <a:t> As LED to emit different colors.</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PN Junction diode.</a:t>
            </a:r>
          </a:p>
          <a:p>
            <a:pPr>
              <a:buFont typeface="Wingdings" pitchFamily="2" charset="2"/>
              <a:buChar char="ü"/>
            </a:pPr>
            <a:r>
              <a:rPr lang="en-US" dirty="0"/>
              <a:t>Block diagram of PN junction diode</a:t>
            </a:r>
          </a:p>
          <a:p>
            <a:pPr>
              <a:buFont typeface="Wingdings" pitchFamily="2" charset="2"/>
              <a:buChar char="ü"/>
            </a:pPr>
            <a:r>
              <a:rPr lang="en-US" dirty="0"/>
              <a:t>Forward and Reverse bias PN Junction diode.</a:t>
            </a:r>
          </a:p>
          <a:p>
            <a:pPr>
              <a:buFont typeface="Wingdings" pitchFamily="2" charset="2"/>
              <a:buChar char="ü"/>
            </a:pPr>
            <a:r>
              <a:rPr lang="en-US" dirty="0"/>
              <a:t>Applications of PN junction diode.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custDataLst>
      <p:tags r:id="rId1"/>
    </p:custDataLst>
    <p:extLst>
      <p:ext uri="{BB962C8B-B14F-4D97-AF65-F5344CB8AC3E}">
        <p14:creationId xmlns:p14="http://schemas.microsoft.com/office/powerpoint/2010/main" xmlns="" val="28354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IN" dirty="0"/>
              <a:t>Explain Formation of depletion layer?</a:t>
            </a:r>
          </a:p>
          <a:p>
            <a:pPr marL="514350" indent="-514350" algn="just">
              <a:buFont typeface="+mj-lt"/>
              <a:buAutoNum type="arabicPeriod"/>
            </a:pPr>
            <a:r>
              <a:rPr lang="en-US" dirty="0"/>
              <a:t>What is Reverse bias PN junction diode?</a:t>
            </a:r>
          </a:p>
          <a:p>
            <a:pPr marL="514350" indent="-514350" algn="just">
              <a:buFont typeface="+mj-lt"/>
              <a:buAutoNum type="arabicPeriod"/>
            </a:pPr>
            <a:r>
              <a:rPr lang="en-US" dirty="0"/>
              <a:t>What is  forward bias PN junction diode ?</a:t>
            </a:r>
          </a:p>
          <a:p>
            <a:pPr marL="514350" indent="-514350" algn="just">
              <a:buFont typeface="+mj-lt"/>
              <a:buAutoNum type="arabicPeriod"/>
            </a:pPr>
            <a:r>
              <a:rPr lang="en-US" dirty="0"/>
              <a:t>What are the applications of PN junction diode?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cs typeface="Times New Roman" pitchFamily="18" charset="0"/>
              </a:rPr>
              <a:t> To make students understand</a:t>
            </a:r>
          </a:p>
          <a:p>
            <a:r>
              <a:rPr lang="en-US" sz="2800" dirty="0"/>
              <a:t>Concepts of </a:t>
            </a:r>
            <a:r>
              <a:rPr lang="en-US" sz="2800" dirty="0" err="1"/>
              <a:t>pn</a:t>
            </a:r>
            <a:r>
              <a:rPr lang="en-US" sz="2800" dirty="0"/>
              <a:t> junction diode</a:t>
            </a:r>
          </a:p>
          <a:p>
            <a:r>
              <a:rPr lang="en-US" sz="2800" dirty="0"/>
              <a:t>Formation of </a:t>
            </a:r>
            <a:r>
              <a:rPr lang="en-US" sz="2800" dirty="0" err="1"/>
              <a:t>pn</a:t>
            </a:r>
            <a:r>
              <a:rPr lang="en-US" sz="2800" dirty="0"/>
              <a:t> junction</a:t>
            </a:r>
          </a:p>
          <a:p>
            <a:r>
              <a:rPr lang="en-US" sz="2800" dirty="0"/>
              <a:t>Advantages and applications of </a:t>
            </a:r>
            <a:r>
              <a:rPr lang="en-US" sz="2800" dirty="0" err="1"/>
              <a:t>pn</a:t>
            </a:r>
            <a:r>
              <a:rPr lang="en-US" sz="2800" dirty="0"/>
              <a:t> junction diode.</a:t>
            </a:r>
          </a:p>
          <a:p>
            <a:r>
              <a:rPr lang="en-US" sz="2800" dirty="0"/>
              <a:t>Fundamentals of </a:t>
            </a:r>
            <a:r>
              <a:rPr lang="en-US" sz="2800" dirty="0" err="1"/>
              <a:t>pn</a:t>
            </a:r>
            <a:r>
              <a:rPr lang="en-US" sz="2800" dirty="0"/>
              <a:t> junction diode and their operation.</a:t>
            </a:r>
            <a:endParaRPr lang="en-US" sz="2400" dirty="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26</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r>
              <a:rPr lang="en-US" sz="4400" b="1" dirty="0">
                <a:solidFill>
                  <a:srgbClr val="FF00FF"/>
                </a:solidFill>
                <a:latin typeface="Casper"/>
                <a:ea typeface="Karla" pitchFamily="2" charset="0"/>
                <a:cs typeface="Karla" pitchFamily="2" charset="0"/>
              </a:rPr>
              <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693801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xmlns="" id="{6FD56E32-EE27-43F7-95F1-8E65978E1C4A}"/>
              </a:ext>
            </a:extLst>
          </p:cNvPr>
          <p:cNvSpPr>
            <a:spLocks noGrp="1"/>
          </p:cNvSpPr>
          <p:nvPr>
            <p:ph type="ftr" sz="quarter" idx="11"/>
          </p:nvPr>
        </p:nvSpPr>
        <p:spPr/>
        <p:txBody>
          <a:bodyPr/>
          <a:lstStyle/>
          <a:p>
            <a:r>
              <a:rPr lang="en-US">
                <a:solidFill>
                  <a:prstClr val="black">
                    <a:tint val="75000"/>
                  </a:prstClr>
                </a:solidFill>
              </a:rPr>
              <a:t>PRINCIPLES OF ELECTRONICS LAB (20ECP170)</a:t>
            </a:r>
          </a:p>
        </p:txBody>
      </p:sp>
      <p:pic>
        <p:nvPicPr>
          <p:cNvPr id="11" name="Content Placeholder 10">
            <a:extLst>
              <a:ext uri="{FF2B5EF4-FFF2-40B4-BE49-F238E27FC236}">
                <a16:creationId xmlns:a16="http://schemas.microsoft.com/office/drawing/2014/main" xmlns=""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xmlns="" id="{EC0BEE70-8D19-4E67-8D5D-2E879F5CC12C}"/>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xmlns="" val="2059936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7"/>
  <p:tag name="ARTICULATE_PROJECT_OPEN" val="1"/>
  <p:tag name="ARTICULATE_REFERENCE_ID" val="ee428b08-9117-4ac5-a210-7b88da534b19"/>
  <p:tag name="TAG_BACKING_FORM_KEY" val="7211388-l:\2021_even_semester\poe\theory\unit-1\unit_1_ppt\lecture 8.pptx"/>
  <p:tag name="ARTICULATE_PRESENTER_VERSION" val="7"/>
  <p:tag name="ARTICULATE_USED_PAGE_ORIENTATION" val="1"/>
  <p:tag name="ARTICULATE_USED_PAGE_SIZE" val="7"/>
  <p:tag name="ARTICULATE_REFERENCE_COUNT" val="0"/>
  <p:tag name="ARTICULATE_PLAYER_GLOSSARY_XML" val="&lt;?xml version=&quot;1.0&quot; encoding=&quot;utf-16&quot;?&gt;&lt;glossary xmlns:xsi=&quot;http://www.w3.org/2001/XMLSchema-instance&quot; xmlns:xsd=&quot;http://www.w3.org/2001/XMLSchema&quot;&gt;&lt;terms /&gt;&lt;/glossary&gt;"/>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UDIO_ID" val="491"/>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5.xml><?xml version="1.0" encoding="utf-8"?>
<p:tagLst xmlns:a="http://schemas.openxmlformats.org/drawingml/2006/main" xmlns:r="http://schemas.openxmlformats.org/officeDocument/2006/relationships" xmlns:p="http://schemas.openxmlformats.org/presentationml/2006/main">
  <p:tag name="AUDIO_ID" val="326"/>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6.xml><?xml version="1.0" encoding="utf-8"?>
<p:tagLst xmlns:a="http://schemas.openxmlformats.org/drawingml/2006/main" xmlns:r="http://schemas.openxmlformats.org/officeDocument/2006/relationships" xmlns:p="http://schemas.openxmlformats.org/presentationml/2006/main">
  <p:tag name="AUDIO_ID" val="327"/>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7.xml><?xml version="1.0" encoding="utf-8"?>
<p:tagLst xmlns:a="http://schemas.openxmlformats.org/drawingml/2006/main" xmlns:r="http://schemas.openxmlformats.org/officeDocument/2006/relationships" xmlns:p="http://schemas.openxmlformats.org/presentationml/2006/main">
  <p:tag name="AUDIO_ID" val="492"/>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8.xml><?xml version="1.0" encoding="utf-8"?>
<p:tagLst xmlns:a="http://schemas.openxmlformats.org/drawingml/2006/main" xmlns:r="http://schemas.openxmlformats.org/officeDocument/2006/relationships" xmlns:p="http://schemas.openxmlformats.org/presentationml/2006/main">
  <p:tag name="AUDIO_ID" val="493"/>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9.xml><?xml version="1.0" encoding="utf-8"?>
<p:tagLst xmlns:a="http://schemas.openxmlformats.org/drawingml/2006/main" xmlns:r="http://schemas.openxmlformats.org/officeDocument/2006/relationships" xmlns:p="http://schemas.openxmlformats.org/presentationml/2006/main">
  <p:tag name="AUDIO_ID" val="494"/>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0.xml><?xml version="1.0" encoding="utf-8"?>
<p:tagLst xmlns:a="http://schemas.openxmlformats.org/drawingml/2006/main" xmlns:r="http://schemas.openxmlformats.org/officeDocument/2006/relationships" xmlns:p="http://schemas.openxmlformats.org/presentationml/2006/main">
  <p:tag name="AUDIO_ID" val="495"/>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1.xml><?xml version="1.0" encoding="utf-8"?>
<p:tagLst xmlns:a="http://schemas.openxmlformats.org/drawingml/2006/main" xmlns:r="http://schemas.openxmlformats.org/officeDocument/2006/relationships" xmlns:p="http://schemas.openxmlformats.org/presentationml/2006/main">
  <p:tag name="AUDIO_ID" val="496"/>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2.xml><?xml version="1.0" encoding="utf-8"?>
<p:tagLst xmlns:a="http://schemas.openxmlformats.org/drawingml/2006/main" xmlns:r="http://schemas.openxmlformats.org/officeDocument/2006/relationships" xmlns:p="http://schemas.openxmlformats.org/presentationml/2006/main">
  <p:tag name="AUDIO_ID" val="497"/>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3.xml><?xml version="1.0" encoding="utf-8"?>
<p:tagLst xmlns:a="http://schemas.openxmlformats.org/drawingml/2006/main" xmlns:r="http://schemas.openxmlformats.org/officeDocument/2006/relationships" xmlns:p="http://schemas.openxmlformats.org/presentationml/2006/main">
  <p:tag name="AUDIO_ID" val="498"/>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4.xml><?xml version="1.0" encoding="utf-8"?>
<p:tagLst xmlns:a="http://schemas.openxmlformats.org/drawingml/2006/main" xmlns:r="http://schemas.openxmlformats.org/officeDocument/2006/relationships" xmlns:p="http://schemas.openxmlformats.org/presentationml/2006/main">
  <p:tag name="AUDIO_ID" val="410"/>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5.xml><?xml version="1.0" encoding="utf-8"?>
<p:tagLst xmlns:a="http://schemas.openxmlformats.org/drawingml/2006/main" xmlns:r="http://schemas.openxmlformats.org/officeDocument/2006/relationships" xmlns:p="http://schemas.openxmlformats.org/presentationml/2006/main">
  <p:tag name="AUDIO_ID" val="499"/>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6.xml><?xml version="1.0" encoding="utf-8"?>
<p:tagLst xmlns:a="http://schemas.openxmlformats.org/drawingml/2006/main" xmlns:r="http://schemas.openxmlformats.org/officeDocument/2006/relationships" xmlns:p="http://schemas.openxmlformats.org/presentationml/2006/main">
  <p:tag name="AUDIO_ID" val="500"/>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501"/>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408"/>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GENSWF_SLIDE_UID" val="{B0242D09-0A3D-46D6-AB6B-55C86DF9A1C6}:419"/>
  <p:tag name="AUDIO_ID" val="419"/>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GENSWF_SLIDE_UID" val="{64E33FF2-A535-4BA2-A64A-3E2206726FDC}:418"/>
  <p:tag name="AUDIO_ID" val="418"/>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375"/>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2.xml><?xml version="1.0" encoding="utf-8"?>
<p:tagLst xmlns:a="http://schemas.openxmlformats.org/drawingml/2006/main" xmlns:r="http://schemas.openxmlformats.org/officeDocument/2006/relationships" xmlns:p="http://schemas.openxmlformats.org/presentationml/2006/main">
  <p:tag name="AUDIO_ID" val="394"/>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3.xml><?xml version="1.0" encoding="utf-8"?>
<p:tagLst xmlns:a="http://schemas.openxmlformats.org/drawingml/2006/main" xmlns:r="http://schemas.openxmlformats.org/officeDocument/2006/relationships" xmlns:p="http://schemas.openxmlformats.org/presentationml/2006/main">
  <p:tag name="AUDIO_ID" val="377"/>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4.xml><?xml version="1.0" encoding="utf-8"?>
<p:tagLst xmlns:a="http://schemas.openxmlformats.org/drawingml/2006/main" xmlns:r="http://schemas.openxmlformats.org/officeDocument/2006/relationships" xmlns:p="http://schemas.openxmlformats.org/presentationml/2006/main">
  <p:tag name="AUDIO_ID" val="384"/>
  <p:tag name="ARTICULATE_USED_LAYOUT" val="8"/>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5.xml><?xml version="1.0" encoding="utf-8"?>
<p:tagLst xmlns:a="http://schemas.openxmlformats.org/drawingml/2006/main" xmlns:r="http://schemas.openxmlformats.org/officeDocument/2006/relationships" xmlns:p="http://schemas.openxmlformats.org/presentationml/2006/main">
  <p:tag name="AUDIO_ID" val="413"/>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6.xml><?xml version="1.0" encoding="utf-8"?>
<p:tagLst xmlns:a="http://schemas.openxmlformats.org/drawingml/2006/main" xmlns:r="http://schemas.openxmlformats.org/officeDocument/2006/relationships" xmlns:p="http://schemas.openxmlformats.org/presentationml/2006/main">
  <p:tag name="AUDIO_ID" val="414"/>
  <p:tag name="ARTICULATE_USED_LAYOUT" val="2"/>
  <p:tag name="ARTICULATE_NAV_LEVEL" val="1"/>
  <p:tag name="ARTICULATE_SLIDE_PRESENTER_GUID" val="b3112f20-3e8e-42e3-b655-eb0447da4976"/>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2486</TotalTime>
  <Words>1998</Words>
  <Application>Microsoft Office PowerPoint</Application>
  <PresentationFormat>Custom</PresentationFormat>
  <Paragraphs>200</Paragraphs>
  <Slides>29</Slides>
  <Notes>2</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32" baseType="lpstr">
      <vt:lpstr>1_Office Theme</vt:lpstr>
      <vt:lpstr>Contents Slide Master</vt:lpstr>
      <vt:lpstr>CorelDRAW</vt:lpstr>
      <vt:lpstr>Slide 1</vt:lpstr>
      <vt:lpstr>Course Objectives</vt:lpstr>
      <vt:lpstr>Course Outcomes</vt:lpstr>
      <vt:lpstr>Slide 4</vt:lpstr>
      <vt:lpstr>Content  </vt:lpstr>
      <vt:lpstr>N-TYPE EXTRINSIC SEMICONDUCTOR</vt:lpstr>
      <vt:lpstr>N-TYPE EXTRINSIC SEMICONDUCTOR</vt:lpstr>
      <vt:lpstr>N-TYPE EXTRINSIC SEMICONDUCTOR</vt:lpstr>
      <vt:lpstr>Donor Level</vt:lpstr>
      <vt:lpstr>P-TYPE EXTRINSIC SEMICONDUCTOR</vt:lpstr>
      <vt:lpstr>P-TYPE EXTRINSIC SEMICONDUCTOR</vt:lpstr>
      <vt:lpstr>P-TYPE EXTRINSIC SEMICONDUCTOR</vt:lpstr>
      <vt:lpstr>Acceptor Level</vt:lpstr>
      <vt:lpstr>Introduction to PN junction diode</vt:lpstr>
      <vt:lpstr>Properties of pn Junction</vt:lpstr>
      <vt:lpstr>Properties of pn Junction</vt:lpstr>
      <vt:lpstr>Properties of pn Junction</vt:lpstr>
      <vt:lpstr>Biasing of a PN junction diode</vt:lpstr>
      <vt:lpstr>Zero bias  </vt:lpstr>
      <vt:lpstr>Function of a P-N junction diode in Forward Bias</vt:lpstr>
      <vt:lpstr>Function of a P-N junction diode in Reverse Bias</vt:lpstr>
      <vt:lpstr>V-I Characteristics of P-N Junction Diode </vt:lpstr>
      <vt:lpstr>ADVANTAGES</vt:lpstr>
      <vt:lpstr>Summary</vt:lpstr>
      <vt:lpstr>Frequently Asked Questions</vt:lpstr>
      <vt:lpstr>LEARNING OUTCOMES </vt:lpstr>
      <vt:lpstr>References</vt:lpstr>
      <vt:lpstr>Assessment Pattern</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277</cp:revision>
  <dcterms:created xsi:type="dcterms:W3CDTF">2019-01-09T10:33:58Z</dcterms:created>
  <dcterms:modified xsi:type="dcterms:W3CDTF">2023-06-19T09:54:51Z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9A82E3A5-5840-44AA-9064-D6F1EF6D9F43</vt:lpwstr>
  </property>
  <property fmtid="{D5CDD505-2E9C-101B-9397-08002B2CF9AE}" pid="3" name="ArticulatePath">
    <vt:lpwstr>Lecture 8</vt:lpwstr>
  </property>
  <property fmtid="{D5CDD505-2E9C-101B-9397-08002B2CF9AE}" pid="4" name="ArticulateProjectVersion">
    <vt:lpwstr>7</vt:lpwstr>
  </property>
  <property fmtid="{D5CDD505-2E9C-101B-9397-08002B2CF9AE}" pid="5" name="ArticulateUseProject">
    <vt:lpwstr>1</vt:lpwstr>
  </property>
  <property fmtid="{D5CDD505-2E9C-101B-9397-08002B2CF9AE}" pid="6" name="ArticulateProjectFull">
    <vt:lpwstr>L:\2021_Even_Semester\POE\Theory\UNIT-1\Unit_1_PPT\Lecture 8.ppta</vt:lpwstr>
  </property>
</Properties>
</file>