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336" r:id="rId3"/>
    <p:sldId id="337" r:id="rId4"/>
    <p:sldId id="338" r:id="rId5"/>
    <p:sldId id="320" r:id="rId6"/>
    <p:sldId id="265" r:id="rId7"/>
    <p:sldId id="281" r:id="rId8"/>
    <p:sldId id="321" r:id="rId9"/>
    <p:sldId id="280" r:id="rId10"/>
    <p:sldId id="344" r:id="rId11"/>
    <p:sldId id="339" r:id="rId12"/>
    <p:sldId id="340" r:id="rId13"/>
    <p:sldId id="345" r:id="rId14"/>
    <p:sldId id="346" r:id="rId15"/>
    <p:sldId id="341" r:id="rId16"/>
    <p:sldId id="347" r:id="rId17"/>
    <p:sldId id="348" r:id="rId18"/>
    <p:sldId id="349" r:id="rId19"/>
    <p:sldId id="342" r:id="rId20"/>
    <p:sldId id="343" r:id="rId21"/>
    <p:sldId id="319" r:id="rId22"/>
    <p:sldId id="308" r:id="rId23"/>
    <p:sldId id="332" r:id="rId24"/>
    <p:sldId id="333" r:id="rId25"/>
    <p:sldId id="334" r:id="rId26"/>
    <p:sldId id="284"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rpreet kaur" initials="Gk" lastIdx="1" clrIdx="0">
    <p:extLst>
      <p:ext uri="{19B8F6BF-5375-455C-9EA6-DF929625EA0E}">
        <p15:presenceInfo xmlns="" xmlns:p15="http://schemas.microsoft.com/office/powerpoint/2012/main" userId="d9ab6decf214539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860000"/>
    <a:srgbClr val="ED8137"/>
    <a:srgbClr val="BC8F00"/>
    <a:srgbClr val="00B0F0"/>
    <a:srgbClr val="1B3F5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434" autoAdjust="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 xmlns:p14="http://schemas.microsoft.com/office/powerpoint/2010/main" val="4186024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70909644"/>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227159557"/>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3804378142"/>
      </p:ext>
    </p:extLst>
  </p:cSld>
  <p:clrMapOvr>
    <a:masterClrMapping/>
  </p:clrMapOvr>
  <p:extLst>
    <p:ext uri="{DCECCB84-F9BA-43D5-87BE-67443E8EF086}">
      <p15:sldGuideLst xmlns=""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elprocus.com/ohms-law-calculator/"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fortune.com/2020/06/30/america-tech-semiconductor-manufacturing-investmen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65538"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53984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Lecture-1.2.2</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Carrier </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transport: diffusion and drift of carriers, </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04FBCF-0122-468F-8BB5-53AF02271A65}"/>
              </a:ext>
            </a:extLst>
          </p:cNvPr>
          <p:cNvSpPr>
            <a:spLocks noGrp="1"/>
          </p:cNvSpPr>
          <p:nvPr>
            <p:ph type="title"/>
          </p:nvPr>
        </p:nvSpPr>
        <p:spPr>
          <a:xfrm>
            <a:off x="1159564" y="487189"/>
            <a:ext cx="10515600" cy="1325563"/>
          </a:xfrm>
        </p:spPr>
        <p:txBody>
          <a:bodyPr>
            <a:normAutofit/>
          </a:bodyPr>
          <a:lstStyle/>
          <a:p>
            <a:r>
              <a:rPr lang="en-US" b="1" dirty="0">
                <a:latin typeface="+mn-lt"/>
              </a:rPr>
              <a:t>WHAT ROLE DOES PHYSICS PLAY IN ENGINEERING?</a:t>
            </a:r>
          </a:p>
        </p:txBody>
      </p:sp>
      <p:sp>
        <p:nvSpPr>
          <p:cNvPr id="3" name="Content Placeholder 2">
            <a:extLst>
              <a:ext uri="{FF2B5EF4-FFF2-40B4-BE49-F238E27FC236}">
                <a16:creationId xmlns:a16="http://schemas.microsoft.com/office/drawing/2014/main" xmlns="" id="{63A876A7-1333-4F86-A3B3-000572AEEBE2}"/>
              </a:ext>
            </a:extLst>
          </p:cNvPr>
          <p:cNvSpPr>
            <a:spLocks noGrp="1"/>
          </p:cNvSpPr>
          <p:nvPr>
            <p:ph idx="1"/>
          </p:nvPr>
        </p:nvSpPr>
        <p:spPr>
          <a:xfrm>
            <a:off x="838200" y="2236573"/>
            <a:ext cx="5507182" cy="4376262"/>
          </a:xfrm>
        </p:spPr>
        <p:txBody>
          <a:bodyPr>
            <a:normAutofit/>
          </a:bodyPr>
          <a:lstStyle/>
          <a:p>
            <a:pPr marL="0" indent="0">
              <a:buNone/>
            </a:pPr>
            <a:r>
              <a:rPr lang="en-US" sz="2400" b="1" dirty="0"/>
              <a:t>Engineering</a:t>
            </a:r>
            <a:r>
              <a:rPr lang="en-US" sz="2400" dirty="0"/>
              <a:t> is concerned with figuring out how to design, build and use structures and machines. To do that requires </a:t>
            </a:r>
            <a:r>
              <a:rPr lang="en-US" sz="2400" b="1" dirty="0"/>
              <a:t>physics</a:t>
            </a:r>
            <a:r>
              <a:rPr lang="en-US" sz="2400" dirty="0"/>
              <a:t> because you have to take into account forces, fluid flow, heat transfer, and many other </a:t>
            </a:r>
            <a:r>
              <a:rPr lang="en-US" sz="2400" b="1" dirty="0"/>
              <a:t>physics</a:t>
            </a:r>
            <a:r>
              <a:rPr lang="en-US" sz="2400" dirty="0"/>
              <a:t> concepts. </a:t>
            </a:r>
            <a:r>
              <a:rPr lang="en-US" sz="2400" b="1" dirty="0"/>
              <a:t>Engineering</a:t>
            </a:r>
            <a:r>
              <a:rPr lang="en-US" sz="2400" dirty="0"/>
              <a:t> and technical applications of </a:t>
            </a:r>
            <a:r>
              <a:rPr lang="en-US" sz="2400" b="1" dirty="0"/>
              <a:t>physics</a:t>
            </a:r>
            <a:r>
              <a:rPr lang="en-US" sz="2400" dirty="0"/>
              <a:t> are numerous.</a:t>
            </a:r>
          </a:p>
        </p:txBody>
      </p:sp>
      <p:sp>
        <p:nvSpPr>
          <p:cNvPr id="4" name="Slide Number Placeholder 3">
            <a:extLst>
              <a:ext uri="{FF2B5EF4-FFF2-40B4-BE49-F238E27FC236}">
                <a16:creationId xmlns:a16="http://schemas.microsoft.com/office/drawing/2014/main" xmlns="" id="{649CCE7C-41BD-48FA-9248-F7BD5041835F}"/>
              </a:ext>
            </a:extLst>
          </p:cNvPr>
          <p:cNvSpPr>
            <a:spLocks noGrp="1"/>
          </p:cNvSpPr>
          <p:nvPr>
            <p:ph type="sldNum" sz="quarter" idx="12"/>
          </p:nvPr>
        </p:nvSpPr>
        <p:spPr/>
        <p:txBody>
          <a:bodyPr/>
          <a:lstStyle/>
          <a:p>
            <a:fld id="{BDCDBBEF-AA6C-4BA6-85B2-A17D7F280E38}" type="slidenum">
              <a:rPr lang="en-US" smtClean="0"/>
              <a:pPr/>
              <a:t>4</a:t>
            </a:fld>
            <a:endParaRPr lang="en-US" dirty="0"/>
          </a:p>
        </p:txBody>
      </p:sp>
      <p:pic>
        <p:nvPicPr>
          <p:cNvPr id="10242" name="Picture 2" descr="Physics Vs Engineering | Which Is Best For You? - YouTube">
            <a:extLst>
              <a:ext uri="{FF2B5EF4-FFF2-40B4-BE49-F238E27FC236}">
                <a16:creationId xmlns:a16="http://schemas.microsoft.com/office/drawing/2014/main" xmlns="" id="{CB56D719-2AEB-4970-9521-5D7EA6D8B548}"/>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559825" y="1690689"/>
            <a:ext cx="5115339" cy="3725374"/>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DA7C6753-B275-45DC-933C-6D784AA7787C}"/>
              </a:ext>
            </a:extLst>
          </p:cNvPr>
          <p:cNvSpPr txBox="1"/>
          <p:nvPr/>
        </p:nvSpPr>
        <p:spPr>
          <a:xfrm>
            <a:off x="7385538" y="5880295"/>
            <a:ext cx="3840480" cy="400110"/>
          </a:xfrm>
          <a:prstGeom prst="rect">
            <a:avLst/>
          </a:prstGeom>
          <a:noFill/>
        </p:spPr>
        <p:txBody>
          <a:bodyPr wrap="square" rtlCol="0">
            <a:spAutoFit/>
          </a:bodyPr>
          <a:lstStyle/>
          <a:p>
            <a:r>
              <a:rPr lang="en-US" sz="2000" dirty="0"/>
              <a:t>Figure.1.1 Physics </a:t>
            </a:r>
            <a:r>
              <a:rPr lang="en-US" sz="2000" dirty="0" err="1"/>
              <a:t>vs</a:t>
            </a:r>
            <a:r>
              <a:rPr lang="en-US" sz="2000" dirty="0"/>
              <a:t> </a:t>
            </a:r>
            <a:r>
              <a:rPr lang="en-US" sz="2000" dirty="0" smtClean="0"/>
              <a:t>Engineering[1]</a:t>
            </a:r>
            <a:endParaRPr lang="en-US" sz="2000" dirty="0"/>
          </a:p>
        </p:txBody>
      </p:sp>
    </p:spTree>
    <p:extLst>
      <p:ext uri="{BB962C8B-B14F-4D97-AF65-F5344CB8AC3E}">
        <p14:creationId xmlns="" xmlns:p14="http://schemas.microsoft.com/office/powerpoint/2010/main" val="230408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838200" y="261543"/>
            <a:ext cx="10515600" cy="15327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b="1" dirty="0" smtClean="0">
                <a:latin typeface="+mn-lt"/>
                <a:ea typeface="Karla" pitchFamily="2" charset="0"/>
                <a:cs typeface="Karla" pitchFamily="2" charset="0"/>
              </a:rPr>
              <a:t>LECTURE</a:t>
            </a:r>
            <a:r>
              <a:rPr lang="en-US" sz="4400" b="1" dirty="0" smtClean="0">
                <a:latin typeface="+mn-lt"/>
                <a:ea typeface="Karla" pitchFamily="2" charset="0"/>
                <a:cs typeface="Karla" pitchFamily="2" charset="0"/>
              </a:rPr>
              <a:t> </a:t>
            </a:r>
            <a:r>
              <a:rPr lang="en-US" sz="4400" b="1" dirty="0">
                <a:latin typeface="+mn-lt"/>
                <a:ea typeface="Karla" pitchFamily="2" charset="0"/>
                <a:cs typeface="Karla" pitchFamily="2" charset="0"/>
              </a:rPr>
              <a:t>OBJECTIVES AND </a:t>
            </a:r>
            <a:r>
              <a:rPr lang="en-US" b="1" dirty="0" smtClean="0">
                <a:latin typeface="+mn-lt"/>
                <a:ea typeface="Karla" pitchFamily="2" charset="0"/>
                <a:cs typeface="Karla" pitchFamily="2" charset="0"/>
              </a:rPr>
              <a:t>LECTURE</a:t>
            </a:r>
            <a:r>
              <a:rPr lang="en-US" sz="4400" b="1" dirty="0" smtClean="0">
                <a:latin typeface="+mn-lt"/>
                <a:ea typeface="Karla" pitchFamily="2" charset="0"/>
                <a:cs typeface="Karla" pitchFamily="2" charset="0"/>
              </a:rPr>
              <a:t> </a:t>
            </a:r>
            <a:r>
              <a:rPr lang="en-US" sz="4400" b="1" dirty="0">
                <a:latin typeface="+mn-lt"/>
                <a:ea typeface="Karla" pitchFamily="2" charset="0"/>
                <a:cs typeface="Karla" pitchFamily="2" charset="0"/>
              </a:rPr>
              <a:t>OUTCOMES</a:t>
            </a:r>
            <a:br>
              <a:rPr lang="en-US" sz="4400" b="1" dirty="0">
                <a:latin typeface="+mn-lt"/>
                <a:ea typeface="Karla" pitchFamily="2" charset="0"/>
                <a:cs typeface="Karla" pitchFamily="2" charset="0"/>
              </a:rPr>
            </a:br>
            <a:endParaRPr lang="en-US" sz="1600" dirty="0">
              <a:latin typeface="+mn-lt"/>
            </a:endParaRPr>
          </a:p>
        </p:txBody>
      </p:sp>
      <p:sp>
        <p:nvSpPr>
          <p:cNvPr id="3" name="Content Placeholder 2"/>
          <p:cNvSpPr>
            <a:spLocks noGrp="1"/>
          </p:cNvSpPr>
          <p:nvPr>
            <p:ph idx="1"/>
          </p:nvPr>
        </p:nvSpPr>
        <p:spPr>
          <a:xfrm>
            <a:off x="1143779" y="1746488"/>
            <a:ext cx="9126655" cy="4351338"/>
          </a:xfrm>
        </p:spPr>
        <p:txBody>
          <a:bodyPr>
            <a:normAutofit/>
          </a:bodyPr>
          <a:lstStyle/>
          <a:p>
            <a:pPr marL="0" indent="0" algn="just">
              <a:buNone/>
            </a:pPr>
            <a:r>
              <a:rPr lang="en-US" sz="2400" dirty="0" smtClean="0">
                <a:cs typeface="Arial" panose="020B0604020202020204" pitchFamily="34" charset="0"/>
              </a:rPr>
              <a:t>LECTURE </a:t>
            </a:r>
            <a:r>
              <a:rPr lang="en-US" sz="2400" dirty="0">
                <a:cs typeface="Arial" panose="020B0604020202020204" pitchFamily="34" charset="0"/>
              </a:rPr>
              <a:t>OBJECTIVES</a:t>
            </a:r>
          </a:p>
          <a:p>
            <a:r>
              <a:rPr lang="en-US" sz="2400" dirty="0">
                <a:cs typeface="Arial" panose="020B0604020202020204" pitchFamily="34" charset="0"/>
              </a:rPr>
              <a:t>To learn about the main factors upon which carrier generation and recombination depends in semiconductors.</a:t>
            </a:r>
          </a:p>
          <a:p>
            <a:pPr marL="0" indent="0" algn="just">
              <a:buNone/>
            </a:pPr>
            <a:endParaRPr lang="en-US" sz="2400" dirty="0">
              <a:cs typeface="Arial" panose="020B0604020202020204" pitchFamily="34" charset="0"/>
            </a:endParaRPr>
          </a:p>
          <a:p>
            <a:pPr marL="0" indent="0" algn="just">
              <a:buNone/>
            </a:pPr>
            <a:r>
              <a:rPr lang="en-US" sz="2400" dirty="0" smtClean="0">
                <a:cs typeface="Arial" panose="020B0604020202020204" pitchFamily="34" charset="0"/>
              </a:rPr>
              <a:t>LECTURE </a:t>
            </a:r>
            <a:r>
              <a:rPr lang="en-US" sz="2400" dirty="0">
                <a:cs typeface="Arial" panose="020B0604020202020204" pitchFamily="34" charset="0"/>
              </a:rPr>
              <a:t>OUTCOMES</a:t>
            </a:r>
          </a:p>
          <a:p>
            <a:pPr algn="just"/>
            <a:r>
              <a:rPr lang="en-US" sz="2400" dirty="0">
                <a:cs typeface="Arial" panose="020B0604020202020204" pitchFamily="34" charset="0"/>
              </a:rPr>
              <a:t>At the end of this lesson, student would gain knowledge about generation and recombination of charges in semiconductors .</a:t>
            </a:r>
          </a:p>
          <a:p>
            <a:pPr algn="just"/>
            <a:r>
              <a:rPr lang="en-US" sz="2400" dirty="0">
                <a:cs typeface="Arial" panose="020B0604020202020204" pitchFamily="34" charset="0"/>
              </a:rPr>
              <a:t>Also, student would be able to </a:t>
            </a:r>
            <a:r>
              <a:rPr lang="en-US" sz="2400" dirty="0">
                <a:ea typeface="Times New Roman"/>
                <a:cs typeface="Times New Roman"/>
              </a:rPr>
              <a:t>explain the basic concepts of semiconductor physics, use its principles in design of semiconductor devices and its applications</a:t>
            </a:r>
            <a:r>
              <a:rPr lang="en-US" sz="2400" dirty="0">
                <a:ea typeface="Times New Roman"/>
                <a:cs typeface="Arial" panose="020B0604020202020204" pitchFamily="34" charset="0"/>
              </a:rPr>
              <a:t>.</a:t>
            </a:r>
            <a:endParaRPr lang="en-US" sz="2400" dirty="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dirty="0"/>
          </a:p>
        </p:txBody>
      </p:sp>
    </p:spTree>
    <p:extLst>
      <p:ext uri="{BB962C8B-B14F-4D97-AF65-F5344CB8AC3E}">
        <p14:creationId xmlns="" xmlns:p14="http://schemas.microsoft.com/office/powerpoint/2010/main" val="4018097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31802" y="1668589"/>
            <a:ext cx="5164198" cy="4739316"/>
          </a:xfrm>
        </p:spPr>
        <p:txBody>
          <a:bodyPr>
            <a:noAutofit/>
          </a:bodyPr>
          <a:lstStyle/>
          <a:p>
            <a:pPr marL="285750" indent="-285750">
              <a:buFont typeface="Arial" panose="020B0604020202020204" pitchFamily="34" charset="0"/>
              <a:buChar char="•"/>
            </a:pPr>
            <a:r>
              <a:rPr lang="en-US" sz="2400" dirty="0"/>
              <a:t>Introduction: Basics and  importance of Semiconductors.</a:t>
            </a:r>
          </a:p>
          <a:p>
            <a:pPr marL="285750" indent="-285750">
              <a:buFont typeface="Arial" panose="020B0604020202020204" pitchFamily="34" charset="0"/>
              <a:buChar char="•"/>
            </a:pPr>
            <a:r>
              <a:rPr lang="en-US" sz="2400" dirty="0"/>
              <a:t>Definition of Semiconductors. </a:t>
            </a:r>
          </a:p>
          <a:p>
            <a:pPr marL="285750" indent="-285750">
              <a:buFont typeface="Arial" panose="020B0604020202020204" pitchFamily="34" charset="0"/>
              <a:buChar char="•"/>
            </a:pPr>
            <a:r>
              <a:rPr lang="en-US" sz="2400" dirty="0"/>
              <a:t>Carrier Generation and Recombination in semiconductors. </a:t>
            </a:r>
          </a:p>
          <a:p>
            <a:pPr marL="285750" indent="-285750">
              <a:buFont typeface="Arial" panose="020B0604020202020204" pitchFamily="34" charset="0"/>
              <a:buChar char="•"/>
            </a:pPr>
            <a:r>
              <a:rPr lang="en-US" sz="2400" dirty="0"/>
              <a:t> Semiconductor Devices.</a:t>
            </a:r>
            <a:endParaRPr lang="en-US" sz="2400" dirty="0">
              <a:cs typeface="Times New Roman" pitchFamily="18" charset="0"/>
            </a:endParaRPr>
          </a:p>
          <a:p>
            <a:pPr marL="285750" indent="-285750">
              <a:buFont typeface="Arial" panose="020B0604020202020204" pitchFamily="34" charset="0"/>
              <a:buChar char="•"/>
            </a:pPr>
            <a:r>
              <a:rPr lang="en-US" sz="2400" dirty="0">
                <a:cs typeface="Times New Roman" pitchFamily="18" charset="0"/>
              </a:rPr>
              <a:t>Applications of Semiconductor Devices.</a:t>
            </a:r>
            <a:endParaRPr lang="en-US" sz="2400" dirty="0"/>
          </a:p>
          <a:p>
            <a:endParaRPr lang="en-US" sz="2400" dirty="0"/>
          </a:p>
          <a:p>
            <a:endParaRPr lang="en-US" sz="2400"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1092200" y="689860"/>
            <a:ext cx="3784600" cy="9787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r>
              <a:rPr lang="en-US" sz="2000" b="1" dirty="0">
                <a:latin typeface="Karla" pitchFamily="2" charset="0"/>
                <a:ea typeface="Karla" pitchFamily="2" charset="0"/>
                <a:cs typeface="Karla" pitchFamily="2" charset="0"/>
              </a:rPr>
              <a:t>  </a:t>
            </a: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9AC1FF21-6BDA-42A2-8336-2764170E5852}"/>
              </a:ext>
            </a:extLst>
          </p:cNvPr>
          <p:cNvSpPr txBox="1"/>
          <p:nvPr/>
        </p:nvSpPr>
        <p:spPr>
          <a:xfrm>
            <a:off x="6346208" y="5740310"/>
            <a:ext cx="4308539" cy="1015663"/>
          </a:xfrm>
          <a:prstGeom prst="rect">
            <a:avLst/>
          </a:prstGeom>
          <a:noFill/>
        </p:spPr>
        <p:txBody>
          <a:bodyPr wrap="square" rtlCol="0">
            <a:spAutoFit/>
          </a:bodyPr>
          <a:lstStyle/>
          <a:p>
            <a:endParaRPr lang="en-US" sz="2000" dirty="0"/>
          </a:p>
          <a:p>
            <a:r>
              <a:rPr lang="en-US" sz="2000" dirty="0"/>
              <a:t>Figure.1.2 Semiconductor </a:t>
            </a:r>
            <a:r>
              <a:rPr lang="en-US" sz="2000" dirty="0" smtClean="0"/>
              <a:t>Structure[2]</a:t>
            </a:r>
            <a:endParaRPr lang="en-US" sz="2000" dirty="0"/>
          </a:p>
          <a:p>
            <a:endParaRPr lang="en-US" sz="2000" dirty="0"/>
          </a:p>
        </p:txBody>
      </p:sp>
      <p:pic>
        <p:nvPicPr>
          <p:cNvPr id="12" name="Picture 11" descr="diode-diode2.gif">
            <a:extLst>
              <a:ext uri="{FF2B5EF4-FFF2-40B4-BE49-F238E27FC236}">
                <a16:creationId xmlns:a16="http://schemas.microsoft.com/office/drawing/2014/main" xmlns="" id="{123F0801-622D-41A4-BD14-BC5B46DFDCCF}"/>
              </a:ext>
            </a:extLst>
          </p:cNvPr>
          <p:cNvPicPr>
            <a:picLocks noChangeAspect="1"/>
          </p:cNvPicPr>
          <p:nvPr/>
        </p:nvPicPr>
        <p:blipFill>
          <a:blip r:embed="rId3" cstate="print"/>
          <a:stretch>
            <a:fillRect/>
          </a:stretch>
        </p:blipFill>
        <p:spPr>
          <a:xfrm>
            <a:off x="6096000" y="834887"/>
            <a:ext cx="5347855" cy="4988156"/>
          </a:xfrm>
          <a:prstGeom prst="rect">
            <a:avLst/>
          </a:prstGeom>
          <a:ln>
            <a:solidFill>
              <a:schemeClr val="tx1"/>
            </a:solidFill>
          </a:ln>
        </p:spPr>
      </p:pic>
    </p:spTree>
    <p:extLst>
      <p:ext uri="{BB962C8B-B14F-4D97-AF65-F5344CB8AC3E}">
        <p14:creationId xmlns="" xmlns:p14="http://schemas.microsoft.com/office/powerpoint/2010/main"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FB8A8FD3-2216-4D1A-A117-643049D48EFB}"/>
              </a:ext>
            </a:extLst>
          </p:cNvPr>
          <p:cNvSpPr>
            <a:spLocks noGrp="1"/>
          </p:cNvSpPr>
          <p:nvPr>
            <p:ph type="body" sz="half" idx="2"/>
          </p:nvPr>
        </p:nvSpPr>
        <p:spPr>
          <a:xfrm>
            <a:off x="92766" y="1257300"/>
            <a:ext cx="7633251" cy="6521726"/>
          </a:xfrm>
        </p:spPr>
        <p:txBody>
          <a:bodyPr>
            <a:noAutofit/>
          </a:bodyPr>
          <a:lstStyle/>
          <a:p>
            <a:pPr marL="342900" indent="-342900" algn="just">
              <a:buFont typeface="Arial" panose="020B0604020202020204" pitchFamily="34" charset="0"/>
              <a:buChar char="•"/>
            </a:pPr>
            <a:r>
              <a:rPr lang="en-US" sz="2200" dirty="0"/>
              <a:t>Semiconductors are the foundation of modern day electronics such as radio, computers and mobile phones. Semiconductor material is used in the manufacturing of electrical components and used in electronic devices such as transistors and diodes. </a:t>
            </a:r>
            <a:r>
              <a:rPr lang="en-US" sz="2200" dirty="0">
                <a:cs typeface="Calibri" panose="020F0502020204030204" pitchFamily="34" charset="0"/>
              </a:rPr>
              <a:t> </a:t>
            </a:r>
          </a:p>
          <a:p>
            <a:pPr marL="342900" indent="-342900" algn="just">
              <a:buFont typeface="Arial" panose="020B0604020202020204" pitchFamily="34" charset="0"/>
              <a:buChar char="•"/>
            </a:pPr>
            <a:r>
              <a:rPr lang="en-US" sz="2200" dirty="0"/>
              <a:t>Semiconductors are especially important as varying conditions like temperature and impurity content can easily change their conductivity. The combination of various semiconductor types together generates devices with special electrical properties, which allow control of electrical signals. </a:t>
            </a:r>
          </a:p>
          <a:p>
            <a:pPr marL="342900" indent="-342900" algn="just">
              <a:buFont typeface="Arial" panose="020B0604020202020204" pitchFamily="34" charset="0"/>
              <a:buChar char="•"/>
            </a:pPr>
            <a:r>
              <a:rPr lang="en-US" sz="2200" dirty="0"/>
              <a:t>Imagine a world without electronics if these materials were not discovered. Despite the fact that vacuum tubes can be used to replace them, using semiconductors has made electronics faster, reliable and a lot smaller in size. </a:t>
            </a:r>
          </a:p>
          <a:p>
            <a:pPr marL="342900" indent="-342900" algn="just">
              <a:buFont typeface="Arial" panose="020B0604020202020204" pitchFamily="34" charset="0"/>
              <a:buChar char="•"/>
            </a:pPr>
            <a:r>
              <a:rPr lang="en-US" sz="2200" dirty="0"/>
              <a:t>Also, they have allowed for creation of electrical devices with special capabilities which can be used for various purposes.</a:t>
            </a:r>
            <a:endParaRPr lang="en-US" sz="2200" dirty="0">
              <a:cs typeface="Calibri" panose="020F0502020204030204" pitchFamily="34" charset="0"/>
            </a:endParaRPr>
          </a:p>
        </p:txBody>
      </p:sp>
      <p:sp>
        <p:nvSpPr>
          <p:cNvPr id="5" name="Slide Number Placeholder 4">
            <a:extLst>
              <a:ext uri="{FF2B5EF4-FFF2-40B4-BE49-F238E27FC236}">
                <a16:creationId xmlns:a16="http://schemas.microsoft.com/office/drawing/2014/main" xmlns="" id="{B89F61E9-A092-4046-AE99-53D670CFDFEB}"/>
              </a:ext>
            </a:extLst>
          </p:cNvPr>
          <p:cNvSpPr>
            <a:spLocks noGrp="1"/>
          </p:cNvSpPr>
          <p:nvPr>
            <p:ph type="sldNum" sz="quarter" idx="12"/>
          </p:nvPr>
        </p:nvSpPr>
        <p:spPr>
          <a:xfrm>
            <a:off x="7726017" y="5662820"/>
            <a:ext cx="3896140" cy="931944"/>
          </a:xfrm>
        </p:spPr>
        <p:txBody>
          <a:bodyPr/>
          <a:lstStyle/>
          <a:p>
            <a:r>
              <a:rPr lang="en-US" sz="2000" dirty="0">
                <a:solidFill>
                  <a:schemeClr val="tx1"/>
                </a:solidFill>
              </a:rPr>
              <a:t>Figure 1.3   Introduction  to </a:t>
            </a:r>
            <a:r>
              <a:rPr lang="en-US" sz="2000" dirty="0" smtClean="0">
                <a:solidFill>
                  <a:schemeClr val="tx1"/>
                </a:solidFill>
              </a:rPr>
              <a:t>semiconductors[3] </a:t>
            </a:r>
            <a:endParaRPr lang="en-US" sz="2000" dirty="0"/>
          </a:p>
          <a:p>
            <a:endParaRPr lang="en-US" dirty="0"/>
          </a:p>
        </p:txBody>
      </p:sp>
      <p:sp>
        <p:nvSpPr>
          <p:cNvPr id="8" name="Title 7">
            <a:extLst>
              <a:ext uri="{FF2B5EF4-FFF2-40B4-BE49-F238E27FC236}">
                <a16:creationId xmlns:a16="http://schemas.microsoft.com/office/drawing/2014/main" xmlns="" id="{A5A0E24F-D82A-42A9-A894-07ECB81CF88A}"/>
              </a:ext>
            </a:extLst>
          </p:cNvPr>
          <p:cNvSpPr>
            <a:spLocks noGrp="1"/>
          </p:cNvSpPr>
          <p:nvPr>
            <p:ph type="title"/>
          </p:nvPr>
        </p:nvSpPr>
        <p:spPr>
          <a:xfrm>
            <a:off x="1189163" y="273703"/>
            <a:ext cx="7633251" cy="909731"/>
          </a:xfrm>
        </p:spPr>
        <p:txBody>
          <a:bodyPr>
            <a:normAutofit fontScale="90000"/>
          </a:bodyPr>
          <a:lstStyle/>
          <a:p>
            <a:pPr algn="just"/>
            <a:r>
              <a:rPr lang="en-US" sz="4400" b="1" dirty="0">
                <a:latin typeface="+mn-lt"/>
              </a:rPr>
              <a:t>WHY TO STUDY SEMICONDUCTORS</a:t>
            </a:r>
          </a:p>
        </p:txBody>
      </p:sp>
      <p:pic>
        <p:nvPicPr>
          <p:cNvPr id="7" name="Picture 2" descr="Image result for semiconductor">
            <a:extLst>
              <a:ext uri="{FF2B5EF4-FFF2-40B4-BE49-F238E27FC236}">
                <a16:creationId xmlns:a16="http://schemas.microsoft.com/office/drawing/2014/main" xmlns="" id="{D5A10283-BB60-4FB7-B0CB-F2C3A8E44A7D}"/>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792085" y="1351722"/>
            <a:ext cx="4031185" cy="431109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69002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181775"/>
          </a:xfrm>
        </p:spPr>
        <p:txBody>
          <a:bodyPr/>
          <a:lstStyle/>
          <a:p>
            <a:pPr algn="ctr"/>
            <a:r>
              <a:rPr lang="en-US" dirty="0">
                <a:latin typeface="+mn-lt"/>
              </a:rPr>
              <a:t>SEMICONDUCTORS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38200" y="2220533"/>
            <a:ext cx="10515600" cy="4277106"/>
          </a:xfrm>
        </p:spPr>
        <p:txBody>
          <a:bodyPr>
            <a:noAutofit/>
          </a:bodyPr>
          <a:lstStyle/>
          <a:p>
            <a:pPr>
              <a:buNone/>
            </a:pPr>
            <a:r>
              <a:rPr lang="en-US" sz="2400" b="1" dirty="0">
                <a:solidFill>
                  <a:srgbClr val="002060"/>
                </a:solidFill>
              </a:rPr>
              <a:t>   </a:t>
            </a:r>
          </a:p>
          <a:p>
            <a:pPr algn="just"/>
            <a:r>
              <a:rPr lang="en-US" sz="2400" b="1" dirty="0">
                <a:cs typeface="Calibri" panose="020F0502020204030204" pitchFamily="34" charset="0"/>
              </a:rPr>
              <a:t>Semiconductors </a:t>
            </a:r>
            <a:r>
              <a:rPr lang="en-US" sz="2400" dirty="0">
                <a:cs typeface="Calibri" panose="020F0502020204030204" pitchFamily="34" charset="0"/>
              </a:rPr>
              <a:t>are materials that have electrical conductivity between conductors such as most metals and nonconductors and insulators like ceramics. </a:t>
            </a:r>
            <a:r>
              <a:rPr lang="en-US" sz="2400" b="1" dirty="0">
                <a:cs typeface="Calibri" panose="020F0502020204030204" pitchFamily="34" charset="0"/>
              </a:rPr>
              <a:t>How much electricity </a:t>
            </a:r>
            <a:r>
              <a:rPr lang="en-US" sz="2400" dirty="0">
                <a:cs typeface="Calibri" panose="020F0502020204030204" pitchFamily="34" charset="0"/>
              </a:rPr>
              <a:t>a semiconductor can conduct depends upon material and its mixture content. </a:t>
            </a:r>
            <a:endParaRPr lang="en-US" sz="2400" b="1" dirty="0">
              <a:cs typeface="Adobe Hebrew" pitchFamily="18" charset="-79"/>
            </a:endParaRPr>
          </a:p>
          <a:p>
            <a:r>
              <a:rPr lang="en-US" sz="2400" dirty="0">
                <a:cs typeface="Calibri" panose="020F0502020204030204" pitchFamily="34" charset="0"/>
              </a:rPr>
              <a:t>Semiconductors can be insulators </a:t>
            </a:r>
            <a:r>
              <a:rPr lang="en-US" sz="2400" b="1" dirty="0">
                <a:cs typeface="Calibri" panose="020F0502020204030204" pitchFamily="34" charset="0"/>
              </a:rPr>
              <a:t>at low temperature</a:t>
            </a:r>
            <a:r>
              <a:rPr lang="en-US" sz="2400" dirty="0">
                <a:cs typeface="Calibri" panose="020F0502020204030204" pitchFamily="34" charset="0"/>
              </a:rPr>
              <a:t> and conductor </a:t>
            </a:r>
            <a:r>
              <a:rPr lang="en-US" sz="2400" b="1" dirty="0">
                <a:cs typeface="Calibri" panose="020F0502020204030204" pitchFamily="34" charset="0"/>
              </a:rPr>
              <a:t>at high temperature.</a:t>
            </a:r>
          </a:p>
          <a:p>
            <a:r>
              <a:rPr lang="en-US" sz="2400" dirty="0"/>
              <a:t>As they are used in the fabrication of electronic devices, semiconductors play an important role in our lives.</a:t>
            </a:r>
            <a:endParaRPr lang="en-US" sz="2400" b="1" dirty="0"/>
          </a:p>
          <a:p>
            <a:pPr marL="0" indent="0" algn="just">
              <a:buNone/>
            </a:pPr>
            <a:endParaRPr lang="en-IN" sz="2400" dirty="0"/>
          </a:p>
          <a:p>
            <a:pPr algn="just"/>
            <a:endParaRPr lang="en-IN" sz="24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378226"/>
            <a:ext cx="10515600" cy="480722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07352"/>
            <a:ext cx="10515600" cy="127690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3">
            <a:extLst>
              <a:ext uri="{FF2B5EF4-FFF2-40B4-BE49-F238E27FC236}">
                <a16:creationId xmlns:a16="http://schemas.microsoft.com/office/drawing/2014/main" xmlns="" id="{676B28E0-14A0-45D5-B04B-73ECA1E08CF3}"/>
              </a:ext>
            </a:extLst>
          </p:cNvPr>
          <p:cNvSpPr>
            <a:spLocks noChangeArrowheads="1"/>
          </p:cNvSpPr>
          <p:nvPr/>
        </p:nvSpPr>
        <p:spPr bwMode="auto">
          <a:xfrm>
            <a:off x="5867400" y="1542136"/>
            <a:ext cx="457200" cy="762000"/>
          </a:xfrm>
          <a:prstGeom prst="downArrow">
            <a:avLst>
              <a:gd name="adj1" fmla="val 50000"/>
              <a:gd name="adj2" fmla="val 50000"/>
            </a:avLst>
          </a:prstGeom>
          <a:solidFill>
            <a:srgbClr val="860000"/>
          </a:solidFill>
          <a:ln w="9525" algn="ctr">
            <a:solidFill>
              <a:schemeClr val="tx1"/>
            </a:solidFill>
            <a:round/>
            <a:headEnd/>
            <a:tailEnd/>
          </a:ln>
        </p:spPr>
        <p:txBody>
          <a:bodyPr/>
          <a:lstStyle/>
          <a:p>
            <a:pPr eaLnBrk="0" hangingPunct="0"/>
            <a:endParaRPr lang="en-IN"/>
          </a:p>
        </p:txBody>
      </p:sp>
    </p:spTree>
    <p:extLst>
      <p:ext uri="{BB962C8B-B14F-4D97-AF65-F5344CB8AC3E}">
        <p14:creationId xmlns="" xmlns:p14="http://schemas.microsoft.com/office/powerpoint/2010/main" val="82370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Carrier Transport</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net flow of the ‘electron and holes’ in a semiconductor generates </a:t>
            </a:r>
            <a:r>
              <a:rPr lang="en-US" dirty="0" smtClean="0"/>
              <a:t>the Current</a:t>
            </a:r>
            <a:r>
              <a:rPr lang="en-US" dirty="0" smtClean="0"/>
              <a:t>. The process through which these charged particles move is </a:t>
            </a:r>
            <a:r>
              <a:rPr lang="en-US" dirty="0" smtClean="0"/>
              <a:t>called transport</a:t>
            </a:r>
            <a:r>
              <a:rPr lang="en-US" dirty="0" smtClean="0"/>
              <a:t>.</a:t>
            </a:r>
          </a:p>
          <a:p>
            <a:r>
              <a:rPr lang="en-US" dirty="0" smtClean="0"/>
              <a:t>Two basic modes of transport namely : </a:t>
            </a:r>
            <a:endParaRPr lang="en-US" dirty="0" smtClean="0"/>
          </a:p>
          <a:p>
            <a:pPr>
              <a:buNone/>
            </a:pPr>
            <a:r>
              <a:rPr lang="en-US" dirty="0" smtClean="0"/>
              <a:t>      Drift </a:t>
            </a:r>
            <a:r>
              <a:rPr lang="en-US" dirty="0" smtClean="0"/>
              <a:t>&amp; Diffusion</a:t>
            </a:r>
            <a:r>
              <a:rPr lang="en-US" dirty="0" smtClean="0"/>
              <a:t>.</a:t>
            </a:r>
          </a:p>
          <a:p>
            <a:r>
              <a:rPr lang="en-US" dirty="0" smtClean="0"/>
              <a:t>The carrier transport phenomena are the foundation for finally </a:t>
            </a:r>
            <a:r>
              <a:rPr lang="en-US" dirty="0" smtClean="0"/>
              <a:t>determining the </a:t>
            </a:r>
            <a:r>
              <a:rPr lang="en-US" dirty="0" smtClean="0"/>
              <a:t>current-voltage characteristics of semiconductor devices.</a:t>
            </a:r>
          </a:p>
          <a:p>
            <a:r>
              <a:rPr lang="en-US" dirty="0" smtClean="0"/>
              <a:t>I</a:t>
            </a:r>
            <a:r>
              <a:rPr lang="en-US" dirty="0" smtClean="0"/>
              <a:t>. Carrier Drift</a:t>
            </a:r>
          </a:p>
          <a:p>
            <a:r>
              <a:rPr lang="en-US" dirty="0" smtClean="0"/>
              <a:t>II. Carrier Diffusion</a:t>
            </a:r>
          </a:p>
          <a:p>
            <a:pPr>
              <a:buNone/>
            </a:pPr>
            <a:endParaRPr lang="en-US" dirty="0" smtClean="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Drift Current </a:t>
            </a:r>
            <a:endParaRPr lang="en-US" b="1" dirty="0"/>
          </a:p>
        </p:txBody>
      </p:sp>
      <p:sp>
        <p:nvSpPr>
          <p:cNvPr id="3" name="Content Placeholder 2"/>
          <p:cNvSpPr>
            <a:spLocks noGrp="1"/>
          </p:cNvSpPr>
          <p:nvPr>
            <p:ph idx="1"/>
          </p:nvPr>
        </p:nvSpPr>
        <p:spPr/>
        <p:txBody>
          <a:bodyPr/>
          <a:lstStyle/>
          <a:p>
            <a:r>
              <a:rPr lang="en-US" dirty="0" smtClean="0"/>
              <a:t>Drift current can be defined as the charge carrier’s moves in a semiconductor because of the electric field. There are two kinds of charge carriers in a semiconductor like holes and electrons. Once the voltage is applied to a semiconductor, then electrons move toward the +</a:t>
            </a:r>
            <a:r>
              <a:rPr lang="en-US" dirty="0" err="1" smtClean="0"/>
              <a:t>Ve</a:t>
            </a:r>
            <a:r>
              <a:rPr lang="en-US" dirty="0" smtClean="0"/>
              <a:t> terminal of a battery whereas the holes travel toward the –</a:t>
            </a:r>
            <a:r>
              <a:rPr lang="en-US" dirty="0" err="1" smtClean="0"/>
              <a:t>Ve</a:t>
            </a:r>
            <a:r>
              <a:rPr lang="en-US" dirty="0" smtClean="0"/>
              <a:t> terminal of a battery.</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Diffusion Current</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diffusion current can be defined as the flow of charge carriers within a semiconductor travels from a higher concentration region to a lower concentration region. A higher concentration region is nothing but where the number of electrons present in the semiconductor. Similarly, a lower concentration region is where the less number of electrons present in the semiconductor. The process of diffusion mainly occurs when a semiconductor is doped non-uniformly.</a:t>
            </a:r>
          </a:p>
          <a:p>
            <a:r>
              <a:rPr lang="en-US" dirty="0" smtClean="0"/>
              <a:t>In an N-type semiconductor, when it is doped non-uniformly then a higher concentration region can be formed at the left side whereas the lower concentration region can be formed at the right side. The electrons in the higher concentration region are more in the semiconductor so they will experience a repulsive force from each other.</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Drift Current Equation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average velocity that an electron or hole achieved due to the applied voltage or electric field is called drift velocity. </a:t>
            </a:r>
            <a:endParaRPr lang="en-US" dirty="0" smtClean="0"/>
          </a:p>
          <a:p>
            <a:r>
              <a:rPr lang="en-US" dirty="0" smtClean="0"/>
              <a:t>The </a:t>
            </a:r>
            <a:r>
              <a:rPr lang="en-US" dirty="0" smtClean="0"/>
              <a:t>drift velocity of electrons is given by </a:t>
            </a:r>
            <a:r>
              <a:rPr lang="en-US" dirty="0" err="1" smtClean="0"/>
              <a:t>Vn</a:t>
            </a:r>
            <a:r>
              <a:rPr lang="en-US" dirty="0" smtClean="0"/>
              <a:t> = µ</a:t>
            </a:r>
            <a:r>
              <a:rPr lang="en-US" dirty="0" err="1" smtClean="0"/>
              <a:t>nE</a:t>
            </a:r>
            <a:r>
              <a:rPr lang="en-US" dirty="0" smtClean="0"/>
              <a:t> </a:t>
            </a:r>
            <a:r>
              <a:rPr lang="en-US" dirty="0" smtClean="0"/>
              <a:t>T</a:t>
            </a:r>
          </a:p>
          <a:p>
            <a:r>
              <a:rPr lang="en-US" dirty="0" smtClean="0"/>
              <a:t>he </a:t>
            </a:r>
            <a:r>
              <a:rPr lang="en-US" dirty="0" smtClean="0"/>
              <a:t>drift velocity of holes is given by </a:t>
            </a:r>
            <a:r>
              <a:rPr lang="en-US" dirty="0" err="1" smtClean="0"/>
              <a:t>Vp</a:t>
            </a:r>
            <a:r>
              <a:rPr lang="en-US" dirty="0" smtClean="0"/>
              <a:t> = µ</a:t>
            </a:r>
            <a:r>
              <a:rPr lang="en-US" dirty="0" err="1" smtClean="0"/>
              <a:t>pE</a:t>
            </a:r>
            <a:r>
              <a:rPr lang="en-US" dirty="0" smtClean="0"/>
              <a:t> </a:t>
            </a:r>
            <a:endParaRPr lang="en-US" dirty="0" smtClean="0"/>
          </a:p>
          <a:p>
            <a:r>
              <a:rPr lang="en-US" dirty="0" smtClean="0"/>
              <a:t>Where </a:t>
            </a:r>
            <a:r>
              <a:rPr lang="en-US" dirty="0" err="1" smtClean="0"/>
              <a:t>vn</a:t>
            </a:r>
            <a:r>
              <a:rPr lang="en-US" dirty="0" smtClean="0"/>
              <a:t> = drift velocity of electrons </a:t>
            </a:r>
            <a:endParaRPr lang="en-US" dirty="0" smtClean="0"/>
          </a:p>
          <a:p>
            <a:r>
              <a:rPr lang="en-US" dirty="0" err="1" smtClean="0"/>
              <a:t>vp</a:t>
            </a:r>
            <a:r>
              <a:rPr lang="en-US" dirty="0" smtClean="0"/>
              <a:t> </a:t>
            </a:r>
            <a:r>
              <a:rPr lang="en-US" dirty="0" smtClean="0"/>
              <a:t>= drift velocity of </a:t>
            </a:r>
            <a:r>
              <a:rPr lang="en-US" dirty="0" smtClean="0"/>
              <a:t>holes</a:t>
            </a:r>
          </a:p>
          <a:p>
            <a:r>
              <a:rPr lang="en-US" dirty="0" smtClean="0"/>
              <a:t> </a:t>
            </a:r>
            <a:r>
              <a:rPr lang="en-US" dirty="0" smtClean="0"/>
              <a:t>µn = mobility of electrons </a:t>
            </a:r>
            <a:endParaRPr lang="en-US" dirty="0" smtClean="0"/>
          </a:p>
          <a:p>
            <a:r>
              <a:rPr lang="en-US" dirty="0" smtClean="0"/>
              <a:t>µp </a:t>
            </a:r>
            <a:r>
              <a:rPr lang="en-US" dirty="0" smtClean="0"/>
              <a:t>= mobility of </a:t>
            </a:r>
            <a:r>
              <a:rPr lang="en-US" dirty="0" smtClean="0"/>
              <a:t>holes</a:t>
            </a:r>
          </a:p>
          <a:p>
            <a:r>
              <a:rPr lang="en-US" dirty="0" smtClean="0"/>
              <a:t> </a:t>
            </a:r>
            <a:r>
              <a:rPr lang="en-US" dirty="0" smtClean="0"/>
              <a:t>E = applied electric field The drift current density due to free electrons is given by J n = </a:t>
            </a:r>
            <a:r>
              <a:rPr lang="en-US" dirty="0" err="1" smtClean="0"/>
              <a:t>enµn</a:t>
            </a:r>
            <a:r>
              <a:rPr lang="en-US" dirty="0" smtClean="0"/>
              <a:t> E </a:t>
            </a:r>
            <a:endParaRPr lang="en-US"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Drift Current Equation </a:t>
            </a:r>
            <a:endParaRPr lang="en-US" dirty="0"/>
          </a:p>
        </p:txBody>
      </p:sp>
      <p:sp>
        <p:nvSpPr>
          <p:cNvPr id="3" name="Content Placeholder 2"/>
          <p:cNvSpPr>
            <a:spLocks noGrp="1"/>
          </p:cNvSpPr>
          <p:nvPr>
            <p:ph idx="1"/>
          </p:nvPr>
        </p:nvSpPr>
        <p:spPr/>
        <p:txBody>
          <a:bodyPr>
            <a:normAutofit lnSpcReduction="10000"/>
          </a:bodyPr>
          <a:lstStyle/>
          <a:p>
            <a:r>
              <a:rPr lang="en-US" dirty="0" smtClean="0"/>
              <a:t>and the drift current density due to holes is given by </a:t>
            </a:r>
            <a:endParaRPr lang="en-US" dirty="0" smtClean="0"/>
          </a:p>
          <a:p>
            <a:r>
              <a:rPr lang="en-US" dirty="0" smtClean="0"/>
              <a:t>J </a:t>
            </a:r>
            <a:r>
              <a:rPr lang="en-US" dirty="0" smtClean="0"/>
              <a:t>p = </a:t>
            </a:r>
            <a:r>
              <a:rPr lang="en-US" dirty="0" err="1" smtClean="0"/>
              <a:t>epµp</a:t>
            </a:r>
            <a:r>
              <a:rPr lang="en-US" dirty="0" smtClean="0"/>
              <a:t> E </a:t>
            </a:r>
            <a:r>
              <a:rPr lang="en-US" dirty="0" smtClean="0"/>
              <a:t>Where</a:t>
            </a:r>
          </a:p>
          <a:p>
            <a:r>
              <a:rPr lang="en-US" dirty="0" smtClean="0"/>
              <a:t> </a:t>
            </a:r>
            <a:r>
              <a:rPr lang="en-US" dirty="0" err="1" smtClean="0"/>
              <a:t>Jn</a:t>
            </a:r>
            <a:r>
              <a:rPr lang="en-US" dirty="0" smtClean="0"/>
              <a:t> = drift current density due to electrons </a:t>
            </a:r>
            <a:endParaRPr lang="en-US" dirty="0" smtClean="0"/>
          </a:p>
          <a:p>
            <a:r>
              <a:rPr lang="en-US" dirty="0" err="1" smtClean="0"/>
              <a:t>Jp</a:t>
            </a:r>
            <a:r>
              <a:rPr lang="en-US" dirty="0" smtClean="0"/>
              <a:t> </a:t>
            </a:r>
            <a:r>
              <a:rPr lang="en-US" dirty="0" smtClean="0"/>
              <a:t>= drift current density due to holes e = charge of an electron = 1.602 × 10-19 Coulombs (C). </a:t>
            </a:r>
            <a:endParaRPr lang="en-US" dirty="0" smtClean="0"/>
          </a:p>
          <a:p>
            <a:r>
              <a:rPr lang="en-US" dirty="0" smtClean="0"/>
              <a:t>n </a:t>
            </a:r>
            <a:r>
              <a:rPr lang="en-US" dirty="0" smtClean="0"/>
              <a:t>= number of </a:t>
            </a:r>
            <a:r>
              <a:rPr lang="en-US" dirty="0" smtClean="0"/>
              <a:t>electrons</a:t>
            </a:r>
          </a:p>
          <a:p>
            <a:r>
              <a:rPr lang="en-US" dirty="0" smtClean="0"/>
              <a:t> </a:t>
            </a:r>
            <a:r>
              <a:rPr lang="en-US" dirty="0" smtClean="0"/>
              <a:t>p = number of holes Then the total drift current density is</a:t>
            </a:r>
          </a:p>
          <a:p>
            <a:r>
              <a:rPr lang="pt-BR" dirty="0" smtClean="0"/>
              <a:t>J = J n + J p = enµn E + epµp E </a:t>
            </a:r>
            <a:endParaRPr lang="pt-BR" dirty="0" smtClean="0"/>
          </a:p>
          <a:p>
            <a:r>
              <a:rPr lang="pt-BR" dirty="0" smtClean="0"/>
              <a:t>J </a:t>
            </a:r>
            <a:r>
              <a:rPr lang="pt-BR" dirty="0" smtClean="0"/>
              <a:t>= e (nµn + pµp ) E</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Drift and Diffusion Current</a:t>
            </a:r>
            <a:endParaRPr lang="en-US" b="1" dirty="0"/>
          </a:p>
        </p:txBody>
      </p:sp>
      <p:pic>
        <p:nvPicPr>
          <p:cNvPr id="5" name="Content Placeholder 4" descr="drift-current-diffusion-current.jpg"/>
          <p:cNvPicPr>
            <a:picLocks noGrp="1" noChangeAspect="1"/>
          </p:cNvPicPr>
          <p:nvPr>
            <p:ph idx="1"/>
          </p:nvPr>
        </p:nvPicPr>
        <p:blipFill>
          <a:blip r:embed="rId2"/>
          <a:stretch>
            <a:fillRect/>
          </a:stretch>
        </p:blipFill>
        <p:spPr>
          <a:xfrm>
            <a:off x="2610466" y="2138516"/>
            <a:ext cx="6799006" cy="3598607"/>
          </a:xfrm>
        </p:spPr>
      </p:pic>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Diffusion Current Density Equation</a:t>
            </a:r>
            <a:endParaRPr lang="en-US" b="1" dirty="0"/>
          </a:p>
        </p:txBody>
      </p:sp>
      <p:sp>
        <p:nvSpPr>
          <p:cNvPr id="3" name="Content Placeholder 2"/>
          <p:cNvSpPr>
            <a:spLocks noGrp="1"/>
          </p:cNvSpPr>
          <p:nvPr>
            <p:ph idx="1"/>
          </p:nvPr>
        </p:nvSpPr>
        <p:spPr/>
        <p:txBody>
          <a:bodyPr/>
          <a:lstStyle/>
          <a:p>
            <a:r>
              <a:rPr lang="en-US" dirty="0" smtClean="0"/>
              <a:t/>
            </a:r>
            <a:br>
              <a:rPr lang="en-US" dirty="0" smtClean="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5" name="Picture 4" descr="1.png"/>
          <p:cNvPicPr>
            <a:picLocks noChangeAspect="1"/>
          </p:cNvPicPr>
          <p:nvPr/>
        </p:nvPicPr>
        <p:blipFill>
          <a:blip r:embed="rId2"/>
          <a:stretch>
            <a:fillRect/>
          </a:stretch>
        </p:blipFill>
        <p:spPr>
          <a:xfrm>
            <a:off x="1607574" y="1849463"/>
            <a:ext cx="8170607" cy="413838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Diffusion current density</a:t>
            </a:r>
            <a:endParaRPr lang="en-US" b="1" dirty="0"/>
          </a:p>
        </p:txBody>
      </p:sp>
      <p:pic>
        <p:nvPicPr>
          <p:cNvPr id="5" name="Content Placeholder 4" descr="2.png"/>
          <p:cNvPicPr>
            <a:picLocks noGrp="1" noChangeAspect="1"/>
          </p:cNvPicPr>
          <p:nvPr>
            <p:ph idx="1"/>
          </p:nvPr>
        </p:nvPicPr>
        <p:blipFill>
          <a:blip r:embed="rId2"/>
          <a:stretch>
            <a:fillRect/>
          </a:stretch>
        </p:blipFill>
        <p:spPr>
          <a:xfrm>
            <a:off x="1902541" y="2090236"/>
            <a:ext cx="7492181" cy="3691132"/>
          </a:xfrm>
        </p:spPr>
      </p:pic>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Diffusion current density</a:t>
            </a:r>
            <a:endParaRPr lang="en-US" dirty="0"/>
          </a:p>
        </p:txBody>
      </p:sp>
      <p:sp>
        <p:nvSpPr>
          <p:cNvPr id="3" name="Content Placeholder 2"/>
          <p:cNvSpPr>
            <a:spLocks noGrp="1"/>
          </p:cNvSpPr>
          <p:nvPr>
            <p:ph idx="1"/>
          </p:nvPr>
        </p:nvSpPr>
        <p:spPr/>
        <p:txBody>
          <a:bodyPr/>
          <a:lstStyle/>
          <a:p>
            <a:r>
              <a:rPr lang="en-US" dirty="0" smtClean="0"/>
              <a:t>The overall diffusion density with respect to electrons can be given as</a:t>
            </a:r>
          </a:p>
          <a:p>
            <a:r>
              <a:rPr lang="en-US" dirty="0" smtClean="0"/>
              <a:t/>
            </a:r>
            <a:br>
              <a:rPr lang="en-US" dirty="0" smtClean="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Picture 4" descr="3.png"/>
          <p:cNvPicPr>
            <a:picLocks noChangeAspect="1"/>
          </p:cNvPicPr>
          <p:nvPr/>
        </p:nvPicPr>
        <p:blipFill>
          <a:blip r:embed="rId2"/>
          <a:stretch>
            <a:fillRect/>
          </a:stretch>
        </p:blipFill>
        <p:spPr>
          <a:xfrm>
            <a:off x="2802074" y="2357444"/>
            <a:ext cx="6115904" cy="42963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Difference Between Drift &amp; Diffusion Current</a:t>
            </a:r>
            <a:endParaRPr lang="en-US" b="1" dirty="0"/>
          </a:p>
        </p:txBody>
      </p:sp>
      <p:graphicFrame>
        <p:nvGraphicFramePr>
          <p:cNvPr id="5" name="Content Placeholder 4"/>
          <p:cNvGraphicFramePr>
            <a:graphicFrameLocks noGrp="1"/>
          </p:cNvGraphicFramePr>
          <p:nvPr>
            <p:ph idx="1"/>
          </p:nvPr>
        </p:nvGraphicFramePr>
        <p:xfrm>
          <a:off x="838200" y="1825625"/>
          <a:ext cx="10515600" cy="4302760"/>
        </p:xfrm>
        <a:graphic>
          <a:graphicData uri="http://schemas.openxmlformats.org/drawingml/2006/table">
            <a:tbl>
              <a:tblPr firstRow="1" bandRow="1">
                <a:tableStyleId>{5C22544A-7EE6-4342-B048-85BDC9FD1C3A}</a:tableStyleId>
              </a:tblPr>
              <a:tblGrid>
                <a:gridCol w="975852"/>
                <a:gridCol w="5117690"/>
                <a:gridCol w="4422058"/>
              </a:tblGrid>
              <a:tr h="370840">
                <a:tc>
                  <a:txBody>
                    <a:bodyPr/>
                    <a:lstStyle/>
                    <a:p>
                      <a:r>
                        <a:rPr lang="en-US" dirty="0" err="1" smtClean="0"/>
                        <a:t>S.No</a:t>
                      </a:r>
                      <a:endParaRPr lang="en-US" dirty="0"/>
                    </a:p>
                  </a:txBody>
                  <a:tcPr/>
                </a:tc>
                <a:tc>
                  <a:txBody>
                    <a:bodyPr/>
                    <a:lstStyle/>
                    <a:p>
                      <a:r>
                        <a:rPr lang="en-US" dirty="0" smtClean="0"/>
                        <a:t>Drift Current </a:t>
                      </a:r>
                      <a:endParaRPr lang="en-US" dirty="0"/>
                    </a:p>
                  </a:txBody>
                  <a:tcPr anchor="ctr"/>
                </a:tc>
                <a:tc>
                  <a:txBody>
                    <a:bodyPr/>
                    <a:lstStyle/>
                    <a:p>
                      <a:r>
                        <a:rPr lang="en-US" dirty="0" smtClean="0"/>
                        <a:t>Diffusion Current</a:t>
                      </a:r>
                      <a:endParaRPr lang="en-US" dirty="0"/>
                    </a:p>
                  </a:txBody>
                  <a:tcPr anchor="ctr"/>
                </a:tc>
              </a:tr>
              <a:tr h="370840">
                <a:tc>
                  <a:txBody>
                    <a:bodyPr/>
                    <a:lstStyle/>
                    <a:p>
                      <a:r>
                        <a:rPr lang="en-US" dirty="0" smtClean="0"/>
                        <a:t>1.</a:t>
                      </a:r>
                      <a:endParaRPr lang="en-US" dirty="0"/>
                    </a:p>
                  </a:txBody>
                  <a:tcPr/>
                </a:tc>
                <a:tc>
                  <a:txBody>
                    <a:bodyPr/>
                    <a:lstStyle/>
                    <a:p>
                      <a:pPr algn="l" fontAlgn="base"/>
                      <a:r>
                        <a:rPr lang="en-US" b="0" dirty="0">
                          <a:latin typeface="inherit"/>
                        </a:rPr>
                        <a:t>The movement of charge carriers is because of the applied electric field is known as drift current.</a:t>
                      </a:r>
                      <a:endParaRPr lang="en-US" b="0" dirty="0">
                        <a:solidFill>
                          <a:srgbClr val="666666"/>
                        </a:solidFill>
                        <a:latin typeface="Arial"/>
                      </a:endParaRPr>
                    </a:p>
                    <a:p>
                      <a:pPr algn="l" fontAlgn="base"/>
                      <a:r>
                        <a:rPr lang="en-US" b="0" dirty="0">
                          <a:solidFill>
                            <a:srgbClr val="666666"/>
                          </a:solidFill>
                          <a:latin typeface="Arial"/>
                        </a:rPr>
                        <a:t> </a:t>
                      </a:r>
                    </a:p>
                  </a:txBody>
                  <a:tcPr anchor="ctr"/>
                </a:tc>
                <a:tc>
                  <a:txBody>
                    <a:bodyPr/>
                    <a:lstStyle/>
                    <a:p>
                      <a:pPr algn="l" fontAlgn="base"/>
                      <a:r>
                        <a:rPr lang="en-US" b="0">
                          <a:latin typeface="inherit"/>
                        </a:rPr>
                        <a:t>The diffusion current can be occurred because of the diffusion in charge carriers.</a:t>
                      </a:r>
                      <a:endParaRPr lang="en-US" b="0">
                        <a:solidFill>
                          <a:srgbClr val="666666"/>
                        </a:solidFill>
                        <a:latin typeface="Arial"/>
                      </a:endParaRPr>
                    </a:p>
                    <a:p>
                      <a:pPr algn="l" fontAlgn="base"/>
                      <a:r>
                        <a:rPr lang="en-US" b="0">
                          <a:solidFill>
                            <a:srgbClr val="666666"/>
                          </a:solidFill>
                          <a:latin typeface="Arial"/>
                        </a:rPr>
                        <a:t> </a:t>
                      </a:r>
                    </a:p>
                  </a:txBody>
                  <a:tcPr anchor="ctr"/>
                </a:tc>
              </a:tr>
              <a:tr h="370840">
                <a:tc>
                  <a:txBody>
                    <a:bodyPr/>
                    <a:lstStyle/>
                    <a:p>
                      <a:r>
                        <a:rPr lang="en-US" dirty="0" smtClean="0"/>
                        <a:t>2.</a:t>
                      </a:r>
                      <a:endParaRPr lang="en-US" dirty="0"/>
                    </a:p>
                  </a:txBody>
                  <a:tcPr/>
                </a:tc>
                <a:tc>
                  <a:txBody>
                    <a:bodyPr/>
                    <a:lstStyle/>
                    <a:p>
                      <a:pPr algn="l" fontAlgn="base"/>
                      <a:r>
                        <a:rPr lang="en-US" b="0" dirty="0">
                          <a:latin typeface="inherit"/>
                        </a:rPr>
                        <a:t>It requires electrical energy for the process of drift current.</a:t>
                      </a:r>
                      <a:endParaRPr lang="en-US" b="0" dirty="0">
                        <a:solidFill>
                          <a:srgbClr val="666666"/>
                        </a:solidFill>
                        <a:latin typeface="Arial"/>
                      </a:endParaRPr>
                    </a:p>
                    <a:p>
                      <a:pPr algn="l" fontAlgn="base"/>
                      <a:r>
                        <a:rPr lang="en-US" b="0" dirty="0">
                          <a:solidFill>
                            <a:srgbClr val="666666"/>
                          </a:solidFill>
                          <a:latin typeface="Arial"/>
                        </a:rPr>
                        <a:t> </a:t>
                      </a:r>
                    </a:p>
                  </a:txBody>
                  <a:tcPr anchor="ctr"/>
                </a:tc>
                <a:tc>
                  <a:txBody>
                    <a:bodyPr/>
                    <a:lstStyle/>
                    <a:p>
                      <a:pPr algn="l" fontAlgn="base"/>
                      <a:r>
                        <a:rPr lang="en-US" b="0" dirty="0">
                          <a:latin typeface="inherit"/>
                        </a:rPr>
                        <a:t>Some amount of external energy is enough for the process of diffusion current.</a:t>
                      </a:r>
                      <a:endParaRPr lang="en-US" b="0" dirty="0">
                        <a:solidFill>
                          <a:srgbClr val="666666"/>
                        </a:solidFill>
                        <a:latin typeface="Arial"/>
                      </a:endParaRPr>
                    </a:p>
                    <a:p>
                      <a:pPr algn="l" fontAlgn="base"/>
                      <a:r>
                        <a:rPr lang="en-US" b="0" dirty="0">
                          <a:solidFill>
                            <a:srgbClr val="666666"/>
                          </a:solidFill>
                          <a:latin typeface="Arial"/>
                        </a:rPr>
                        <a:t> </a:t>
                      </a:r>
                    </a:p>
                  </a:txBody>
                  <a:tcPr anchor="ctr"/>
                </a:tc>
              </a:tr>
              <a:tr h="370840">
                <a:tc>
                  <a:txBody>
                    <a:bodyPr/>
                    <a:lstStyle/>
                    <a:p>
                      <a:r>
                        <a:rPr lang="en-US" dirty="0" smtClean="0"/>
                        <a:t>3.</a:t>
                      </a:r>
                      <a:endParaRPr lang="en-US" dirty="0"/>
                    </a:p>
                  </a:txBody>
                  <a:tcPr/>
                </a:tc>
                <a:tc>
                  <a:txBody>
                    <a:bodyPr/>
                    <a:lstStyle/>
                    <a:p>
                      <a:pPr algn="l" fontAlgn="base"/>
                      <a:r>
                        <a:rPr lang="en-US" b="0">
                          <a:latin typeface="inherit"/>
                        </a:rPr>
                        <a:t>This current obeys </a:t>
                      </a:r>
                      <a:r>
                        <a:rPr lang="en-US" b="0" u="none" strike="noStrike">
                          <a:solidFill>
                            <a:srgbClr val="E03800"/>
                          </a:solidFill>
                          <a:latin typeface="inherit"/>
                          <a:hlinkClick r:id="rId2"/>
                        </a:rPr>
                        <a:t>Ohm’s Law</a:t>
                      </a:r>
                      <a:r>
                        <a:rPr lang="en-US" b="0">
                          <a:latin typeface="inherit"/>
                        </a:rPr>
                        <a:t>.</a:t>
                      </a:r>
                      <a:endParaRPr lang="en-US" b="0">
                        <a:solidFill>
                          <a:srgbClr val="666666"/>
                        </a:solidFill>
                        <a:latin typeface="Arial"/>
                      </a:endParaRPr>
                    </a:p>
                    <a:p>
                      <a:pPr algn="l" fontAlgn="base"/>
                      <a:r>
                        <a:rPr lang="en-US" b="0">
                          <a:solidFill>
                            <a:srgbClr val="666666"/>
                          </a:solidFill>
                          <a:latin typeface="Arial"/>
                        </a:rPr>
                        <a:t> </a:t>
                      </a:r>
                    </a:p>
                  </a:txBody>
                  <a:tcPr anchor="ctr"/>
                </a:tc>
                <a:tc>
                  <a:txBody>
                    <a:bodyPr/>
                    <a:lstStyle/>
                    <a:p>
                      <a:pPr algn="l" fontAlgn="base"/>
                      <a:r>
                        <a:rPr lang="en-US" b="0" dirty="0">
                          <a:latin typeface="inherit"/>
                        </a:rPr>
                        <a:t> This current obeys </a:t>
                      </a:r>
                      <a:r>
                        <a:rPr lang="en-US" b="0" dirty="0" err="1">
                          <a:latin typeface="inherit"/>
                        </a:rPr>
                        <a:t>Fick’s</a:t>
                      </a:r>
                      <a:r>
                        <a:rPr lang="en-US" b="0" dirty="0">
                          <a:latin typeface="inherit"/>
                        </a:rPr>
                        <a:t> Law.</a:t>
                      </a:r>
                      <a:endParaRPr lang="en-US" b="0" dirty="0">
                        <a:solidFill>
                          <a:srgbClr val="666666"/>
                        </a:solidFill>
                        <a:latin typeface="Arial"/>
                      </a:endParaRPr>
                    </a:p>
                    <a:p>
                      <a:pPr algn="l" fontAlgn="base"/>
                      <a:r>
                        <a:rPr lang="en-US" b="0" dirty="0">
                          <a:solidFill>
                            <a:srgbClr val="666666"/>
                          </a:solidFill>
                          <a:latin typeface="Arial"/>
                        </a:rPr>
                        <a:t> </a:t>
                      </a:r>
                    </a:p>
                  </a:txBody>
                  <a:tcPr anchor="ctr"/>
                </a:tc>
              </a:tr>
              <a:tr h="370840">
                <a:tc>
                  <a:txBody>
                    <a:bodyPr/>
                    <a:lstStyle/>
                    <a:p>
                      <a:r>
                        <a:rPr lang="en-US" dirty="0" smtClean="0"/>
                        <a:t>4.</a:t>
                      </a:r>
                      <a:endParaRPr lang="en-US" dirty="0"/>
                    </a:p>
                  </a:txBody>
                  <a:tcPr/>
                </a:tc>
                <a:tc>
                  <a:txBody>
                    <a:bodyPr/>
                    <a:lstStyle/>
                    <a:p>
                      <a:pPr algn="l" fontAlgn="base"/>
                      <a:r>
                        <a:rPr lang="en-US" b="0">
                          <a:latin typeface="inherit"/>
                        </a:rPr>
                        <a:t>The direction of charge carriers in the semiconductor is reverse to each other.</a:t>
                      </a:r>
                    </a:p>
                  </a:txBody>
                  <a:tcPr anchor="ctr"/>
                </a:tc>
                <a:tc>
                  <a:txBody>
                    <a:bodyPr/>
                    <a:lstStyle/>
                    <a:p>
                      <a:pPr algn="l" fontAlgn="base"/>
                      <a:r>
                        <a:rPr lang="en-US" b="0" dirty="0">
                          <a:latin typeface="inherit"/>
                        </a:rPr>
                        <a:t>For charge carriers, the densities of diffusion are reverse in symbol to each other.</a:t>
                      </a:r>
                    </a:p>
                  </a:txBody>
                  <a:tcPr anchor="ctr"/>
                </a:tc>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Difference Between Drift &amp; Diffusion Current</a:t>
            </a:r>
            <a:endParaRPr lang="en-US" dirty="0"/>
          </a:p>
        </p:txBody>
      </p:sp>
      <p:graphicFrame>
        <p:nvGraphicFramePr>
          <p:cNvPr id="5" name="Content Placeholder 4"/>
          <p:cNvGraphicFramePr>
            <a:graphicFrameLocks noGrp="1"/>
          </p:cNvGraphicFramePr>
          <p:nvPr>
            <p:ph idx="1"/>
          </p:nvPr>
        </p:nvGraphicFramePr>
        <p:xfrm>
          <a:off x="838200" y="1825625"/>
          <a:ext cx="10515600" cy="3114040"/>
        </p:xfrm>
        <a:graphic>
          <a:graphicData uri="http://schemas.openxmlformats.org/drawingml/2006/table">
            <a:tbl>
              <a:tblPr firstRow="1" bandRow="1">
                <a:tableStyleId>{5C22544A-7EE6-4342-B048-85BDC9FD1C3A}</a:tableStyleId>
              </a:tblPr>
              <a:tblGrid>
                <a:gridCol w="828368"/>
                <a:gridCol w="6182032"/>
                <a:gridCol w="3505200"/>
              </a:tblGrid>
              <a:tr h="370840">
                <a:tc>
                  <a:txBody>
                    <a:bodyPr/>
                    <a:lstStyle/>
                    <a:p>
                      <a:r>
                        <a:rPr lang="en-US" dirty="0" err="1" smtClean="0"/>
                        <a:t>S.No</a:t>
                      </a:r>
                      <a:endParaRPr lang="en-US" dirty="0"/>
                    </a:p>
                  </a:txBody>
                  <a:tcPr/>
                </a:tc>
                <a:tc>
                  <a:txBody>
                    <a:bodyPr/>
                    <a:lstStyle/>
                    <a:p>
                      <a:r>
                        <a:rPr lang="en-US" dirty="0" smtClean="0"/>
                        <a:t>Drift Current</a:t>
                      </a:r>
                      <a:endParaRPr lang="en-US" dirty="0"/>
                    </a:p>
                  </a:txBody>
                  <a:tcPr/>
                </a:tc>
                <a:tc>
                  <a:txBody>
                    <a:bodyPr/>
                    <a:lstStyle/>
                    <a:p>
                      <a:r>
                        <a:rPr lang="en-US" dirty="0" smtClean="0"/>
                        <a:t>Diffusion Current </a:t>
                      </a:r>
                      <a:endParaRPr lang="en-US" dirty="0"/>
                    </a:p>
                  </a:txBody>
                  <a:tcPr/>
                </a:tc>
              </a:tr>
              <a:tr h="370840">
                <a:tc>
                  <a:txBody>
                    <a:bodyPr/>
                    <a:lstStyle/>
                    <a:p>
                      <a:r>
                        <a:rPr lang="en-US" dirty="0" smtClean="0"/>
                        <a:t>5.</a:t>
                      </a:r>
                      <a:endParaRPr lang="en-US" dirty="0"/>
                    </a:p>
                  </a:txBody>
                  <a:tcPr/>
                </a:tc>
                <a:tc>
                  <a:txBody>
                    <a:bodyPr/>
                    <a:lstStyle/>
                    <a:p>
                      <a:pPr algn="l" fontAlgn="base"/>
                      <a:r>
                        <a:rPr lang="en-US" b="0" dirty="0">
                          <a:latin typeface="inherit"/>
                        </a:rPr>
                        <a:t>The direction of the drift current, as well as the electric field, will be the same.</a:t>
                      </a:r>
                      <a:endParaRPr lang="en-US" b="0" dirty="0">
                        <a:solidFill>
                          <a:srgbClr val="666666"/>
                        </a:solidFill>
                        <a:latin typeface="Arial"/>
                      </a:endParaRPr>
                    </a:p>
                    <a:p>
                      <a:pPr algn="l" fontAlgn="base"/>
                      <a:r>
                        <a:rPr lang="en-US" b="0" dirty="0">
                          <a:solidFill>
                            <a:srgbClr val="666666"/>
                          </a:solidFill>
                          <a:latin typeface="Arial"/>
                        </a:rPr>
                        <a:t> </a:t>
                      </a:r>
                    </a:p>
                  </a:txBody>
                  <a:tcPr anchor="ctr"/>
                </a:tc>
                <a:tc>
                  <a:txBody>
                    <a:bodyPr/>
                    <a:lstStyle/>
                    <a:p>
                      <a:pPr algn="l" fontAlgn="base"/>
                      <a:r>
                        <a:rPr lang="en-US" b="0">
                          <a:latin typeface="inherit"/>
                        </a:rPr>
                        <a:t>The direction of this current can be decided by the concentration of the carrier slope.</a:t>
                      </a:r>
                    </a:p>
                  </a:txBody>
                  <a:tcPr anchor="ctr"/>
                </a:tc>
              </a:tr>
              <a:tr h="370840">
                <a:tc>
                  <a:txBody>
                    <a:bodyPr/>
                    <a:lstStyle/>
                    <a:p>
                      <a:r>
                        <a:rPr lang="en-US" dirty="0" smtClean="0"/>
                        <a:t>6.</a:t>
                      </a:r>
                      <a:endParaRPr lang="en-US" dirty="0"/>
                    </a:p>
                  </a:txBody>
                  <a:tcPr/>
                </a:tc>
                <a:tc>
                  <a:txBody>
                    <a:bodyPr/>
                    <a:lstStyle/>
                    <a:p>
                      <a:pPr algn="l" fontAlgn="base"/>
                      <a:r>
                        <a:rPr lang="en-US" b="0" dirty="0">
                          <a:latin typeface="inherit"/>
                        </a:rPr>
                        <a:t>It depends on the permittivity</a:t>
                      </a:r>
                      <a:endParaRPr lang="en-US" b="0" dirty="0">
                        <a:solidFill>
                          <a:srgbClr val="666666"/>
                        </a:solidFill>
                        <a:latin typeface="Arial"/>
                      </a:endParaRPr>
                    </a:p>
                    <a:p>
                      <a:pPr algn="l" fontAlgn="base"/>
                      <a:r>
                        <a:rPr lang="en-US" b="0" dirty="0">
                          <a:solidFill>
                            <a:srgbClr val="666666"/>
                          </a:solidFill>
                          <a:latin typeface="Arial"/>
                        </a:rPr>
                        <a:t> </a:t>
                      </a:r>
                    </a:p>
                  </a:txBody>
                  <a:tcPr anchor="ctr"/>
                </a:tc>
                <a:tc>
                  <a:txBody>
                    <a:bodyPr/>
                    <a:lstStyle/>
                    <a:p>
                      <a:pPr algn="l" fontAlgn="base"/>
                      <a:r>
                        <a:rPr lang="en-US" b="0">
                          <a:latin typeface="inherit"/>
                        </a:rPr>
                        <a:t> It is independent of permittivity</a:t>
                      </a:r>
                      <a:endParaRPr lang="en-US" b="0">
                        <a:solidFill>
                          <a:srgbClr val="666666"/>
                        </a:solidFill>
                        <a:latin typeface="Arial"/>
                      </a:endParaRPr>
                    </a:p>
                    <a:p>
                      <a:pPr algn="l" fontAlgn="base"/>
                      <a:r>
                        <a:rPr lang="en-US" b="0">
                          <a:solidFill>
                            <a:srgbClr val="666666"/>
                          </a:solidFill>
                          <a:latin typeface="Arial"/>
                        </a:rPr>
                        <a:t> </a:t>
                      </a:r>
                    </a:p>
                  </a:txBody>
                  <a:tcPr anchor="ctr"/>
                </a:tc>
              </a:tr>
              <a:tr h="370840">
                <a:tc>
                  <a:txBody>
                    <a:bodyPr/>
                    <a:lstStyle/>
                    <a:p>
                      <a:r>
                        <a:rPr lang="en-US" dirty="0" smtClean="0"/>
                        <a:t>7.</a:t>
                      </a:r>
                      <a:endParaRPr lang="en-US" dirty="0"/>
                    </a:p>
                  </a:txBody>
                  <a:tcPr/>
                </a:tc>
                <a:tc>
                  <a:txBody>
                    <a:bodyPr/>
                    <a:lstStyle/>
                    <a:p>
                      <a:pPr algn="l" fontAlgn="base"/>
                      <a:r>
                        <a:rPr lang="en-US" b="0" dirty="0">
                          <a:latin typeface="inherit"/>
                        </a:rPr>
                        <a:t>The direction of this current mainly depends on the polarity of the applied electric field.</a:t>
                      </a:r>
                      <a:endParaRPr lang="en-US" b="0" dirty="0">
                        <a:solidFill>
                          <a:srgbClr val="666666"/>
                        </a:solidFill>
                        <a:latin typeface="Arial"/>
                      </a:endParaRPr>
                    </a:p>
                    <a:p>
                      <a:pPr algn="l" fontAlgn="base"/>
                      <a:r>
                        <a:rPr lang="en-US" b="0" dirty="0">
                          <a:solidFill>
                            <a:srgbClr val="666666"/>
                          </a:solidFill>
                          <a:latin typeface="Arial"/>
                        </a:rPr>
                        <a:t> </a:t>
                      </a:r>
                    </a:p>
                  </a:txBody>
                  <a:tcPr anchor="ctr"/>
                </a:tc>
                <a:tc>
                  <a:txBody>
                    <a:bodyPr/>
                    <a:lstStyle/>
                    <a:p>
                      <a:pPr algn="l" fontAlgn="base"/>
                      <a:r>
                        <a:rPr lang="en-US" b="0" dirty="0">
                          <a:latin typeface="inherit"/>
                        </a:rPr>
                        <a:t> The direction of this current mainly depends on the charge within the concentrations of carrier</a:t>
                      </a:r>
                    </a:p>
                  </a:txBody>
                  <a:tcPr anchor="ctr"/>
                </a:tc>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a:ln>
            <a:solidFill>
              <a:schemeClr val="bg1"/>
            </a:solidFill>
          </a:ln>
        </p:spPr>
        <p:txBody>
          <a:bodyPr>
            <a:normAutofit/>
          </a:bodyPr>
          <a:lstStyle/>
          <a:p>
            <a:pPr algn="ctr"/>
            <a:r>
              <a:rPr lang="en-US" dirty="0">
                <a:latin typeface="Casper Bold" panose="02000806040000020004" pitchFamily="2" charset="0"/>
                <a:cs typeface="Arial" panose="020B0604020202020204" pitchFamily="34" charset="0"/>
              </a:rPr>
              <a:t>SUMMARY</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6" name="Rectangle 5"/>
          <p:cNvSpPr/>
          <p:nvPr/>
        </p:nvSpPr>
        <p:spPr>
          <a:xfrm>
            <a:off x="838199" y="360361"/>
            <a:ext cx="10515601"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xmlns="" id="{0EE9F461-FF65-491D-AC59-EC4CEDF85A15}"/>
              </a:ext>
            </a:extLst>
          </p:cNvPr>
          <p:cNvSpPr/>
          <p:nvPr/>
        </p:nvSpPr>
        <p:spPr>
          <a:xfrm>
            <a:off x="838198" y="1582341"/>
            <a:ext cx="10303414" cy="4401205"/>
          </a:xfrm>
          <a:prstGeom prst="rect">
            <a:avLst/>
          </a:prstGeom>
        </p:spPr>
        <p:txBody>
          <a:bodyPr wrap="square">
            <a:spAutoFit/>
          </a:bodyPr>
          <a:lstStyle/>
          <a:p>
            <a:pPr marL="342900" indent="-342900" algn="just">
              <a:buFont typeface="Arial" panose="020B0604020202020204" pitchFamily="34" charset="0"/>
              <a:buChar char="•"/>
            </a:pPr>
            <a:r>
              <a:rPr lang="en-IN" sz="2800" dirty="0">
                <a:cs typeface="Arial" panose="020B0604020202020204" pitchFamily="34" charset="0"/>
              </a:rPr>
              <a:t>In this tutorial, we studied the main definitions of semiconductor and their devices with characteristic properties.</a:t>
            </a:r>
          </a:p>
          <a:p>
            <a:pPr marL="342900" indent="-342900" algn="just">
              <a:buFont typeface="Arial" panose="020B0604020202020204" pitchFamily="34" charset="0"/>
              <a:buChar char="•"/>
            </a:pPr>
            <a:r>
              <a:rPr lang="en-IN" sz="2800" dirty="0">
                <a:cs typeface="Arial" panose="020B0604020202020204" pitchFamily="34" charset="0"/>
              </a:rPr>
              <a:t>Responsible factors on which the rate of generation and recombination depends in semiconductors. </a:t>
            </a:r>
          </a:p>
          <a:p>
            <a:pPr marL="342900" indent="-342900" algn="just">
              <a:buFont typeface="Arial" panose="020B0604020202020204" pitchFamily="34" charset="0"/>
              <a:buChar char="•"/>
            </a:pPr>
            <a:r>
              <a:rPr lang="en-IN" sz="2800" dirty="0">
                <a:cs typeface="Arial" panose="020B0604020202020204" pitchFamily="34" charset="0"/>
              </a:rPr>
              <a:t>We also looked at that carrier concentration in n-type and p-type semiconductors.</a:t>
            </a:r>
          </a:p>
          <a:p>
            <a:pPr marL="342900" indent="-342900" algn="just">
              <a:buFont typeface="Arial" panose="020B0604020202020204" pitchFamily="34" charset="0"/>
              <a:buChar char="•"/>
            </a:pPr>
            <a:r>
              <a:rPr lang="en-IN" sz="2800" dirty="0">
                <a:cs typeface="Arial" panose="020B0604020202020204" pitchFamily="34" charset="0"/>
              </a:rPr>
              <a:t>We also looked at that carrier recombination rate is proportional to the product of electron and hole concentrations. </a:t>
            </a:r>
          </a:p>
          <a:p>
            <a:pPr marL="342900" indent="-342900" algn="just">
              <a:buFont typeface="Arial" panose="020B0604020202020204" pitchFamily="34" charset="0"/>
              <a:buChar char="•"/>
            </a:pPr>
            <a:r>
              <a:rPr lang="en-IN" sz="2800" dirty="0">
                <a:cs typeface="Arial" panose="020B0604020202020204" pitchFamily="34" charset="0"/>
              </a:rPr>
              <a:t>In the end, we discussed some applications of the semiconductor devices in the different fields.</a:t>
            </a:r>
            <a:endParaRPr lang="en-US" sz="2000" dirty="0">
              <a:cs typeface="Arial" panose="020B0604020202020204" pitchFamily="34" charset="0"/>
            </a:endParaRPr>
          </a:p>
        </p:txBody>
      </p:sp>
    </p:spTree>
    <p:extLst>
      <p:ext uri="{BB962C8B-B14F-4D97-AF65-F5344CB8AC3E}">
        <p14:creationId xmlns="" xmlns:p14="http://schemas.microsoft.com/office/powerpoint/2010/main" val="484195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ASSESSMENT PATTERN </a:t>
            </a:r>
            <a:r>
              <a:rPr lang="en-US" sz="2800" dirty="0"/>
              <a: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Content Placeholder 2"/>
          <p:cNvSpPr>
            <a:spLocks noGrp="1"/>
          </p:cNvSpPr>
          <p:nvPr>
            <p:ph idx="1"/>
          </p:nvPr>
        </p:nvSpPr>
        <p:spPr>
          <a:xfrm>
            <a:off x="838200" y="1825624"/>
            <a:ext cx="10756900" cy="4530725"/>
          </a:xfrm>
          <a:ln>
            <a:noFill/>
          </a:ln>
        </p:spPr>
        <p:style>
          <a:lnRef idx="2">
            <a:schemeClr val="dk1"/>
          </a:lnRef>
          <a:fillRef idx="1">
            <a:schemeClr val="lt1"/>
          </a:fillRef>
          <a:effectRef idx="0">
            <a:schemeClr val="dk1"/>
          </a:effectRef>
          <a:fontRef idx="minor">
            <a:schemeClr val="dk1"/>
          </a:fontRef>
        </p:style>
        <p:txBody>
          <a:bodyPr>
            <a:normAutofit fontScale="70000" lnSpcReduction="20000"/>
          </a:bodyPr>
          <a:lstStyle/>
          <a:p>
            <a:pPr marL="0" lvl="0" indent="0" algn="ctr">
              <a:buNone/>
            </a:pPr>
            <a:r>
              <a:rPr lang="en-IN" sz="3400" dirty="0">
                <a:solidFill>
                  <a:prstClr val="black"/>
                </a:solidFill>
                <a:cs typeface="Arial" panose="020B0604020202020204" pitchFamily="34" charset="0"/>
              </a:rPr>
              <a:t>Section- A</a:t>
            </a:r>
          </a:p>
          <a:p>
            <a:pPr marL="0" lvl="0" indent="0" algn="just">
              <a:buNone/>
            </a:pPr>
            <a:r>
              <a:rPr lang="en-IN" sz="3400" dirty="0">
                <a:solidFill>
                  <a:prstClr val="black"/>
                </a:solidFill>
                <a:cs typeface="Arial" panose="020B0604020202020204" pitchFamily="34" charset="0"/>
              </a:rPr>
              <a:t>1. All questions are mandatory. Each question carry 2 marks each</a:t>
            </a:r>
          </a:p>
          <a:p>
            <a:pPr marL="342900" lvl="0" indent="-342900" algn="just">
              <a:buAutoNum type="alphaLcParenBoth"/>
            </a:pPr>
            <a:r>
              <a:rPr lang="en-IN" sz="3400" dirty="0">
                <a:solidFill>
                  <a:prstClr val="black"/>
                </a:solidFill>
                <a:cs typeface="Arial" panose="020B0604020202020204" pitchFamily="34" charset="0"/>
              </a:rPr>
              <a:t> </a:t>
            </a:r>
            <a:r>
              <a:rPr lang="en-IN" sz="3400" dirty="0" smtClean="0">
                <a:solidFill>
                  <a:prstClr val="black"/>
                </a:solidFill>
                <a:cs typeface="Arial" panose="020B0604020202020204" pitchFamily="34" charset="0"/>
              </a:rPr>
              <a:t>Explain </a:t>
            </a:r>
            <a:r>
              <a:rPr lang="en-IN" sz="3400" dirty="0">
                <a:solidFill>
                  <a:prstClr val="black"/>
                </a:solidFill>
                <a:cs typeface="Arial" panose="020B0604020202020204" pitchFamily="34" charset="0"/>
              </a:rPr>
              <a:t>“carrier Generation in semiconductors</a:t>
            </a:r>
            <a:r>
              <a:rPr lang="en-IN" sz="3400" dirty="0" smtClean="0">
                <a:solidFill>
                  <a:prstClr val="black"/>
                </a:solidFill>
                <a:cs typeface="Arial" panose="020B0604020202020204" pitchFamily="34" charset="0"/>
              </a:rPr>
              <a:t>”</a:t>
            </a:r>
            <a:endParaRPr lang="en-IN" sz="3400" dirty="0">
              <a:solidFill>
                <a:prstClr val="black"/>
              </a:solidFill>
              <a:cs typeface="Arial" panose="020B0604020202020204" pitchFamily="34" charset="0"/>
            </a:endParaRPr>
          </a:p>
          <a:p>
            <a:pPr marL="342900" lvl="0" indent="-342900" algn="just">
              <a:buAutoNum type="alphaLcParenBoth"/>
            </a:pPr>
            <a:r>
              <a:rPr lang="en-IN" sz="3400" dirty="0">
                <a:solidFill>
                  <a:prstClr val="black"/>
                </a:solidFill>
                <a:cs typeface="Arial" panose="020B0604020202020204" pitchFamily="34" charset="0"/>
              </a:rPr>
              <a:t>Why the we prefer mostly semiconductor devices based technology ?</a:t>
            </a:r>
          </a:p>
          <a:p>
            <a:pPr marL="0" lvl="0" indent="0" algn="ctr">
              <a:buNone/>
            </a:pPr>
            <a:r>
              <a:rPr lang="en-IN" sz="3400" dirty="0">
                <a:solidFill>
                  <a:prstClr val="black"/>
                </a:solidFill>
                <a:cs typeface="Arial" panose="020B0604020202020204" pitchFamily="34" charset="0"/>
              </a:rPr>
              <a:t>Section- B</a:t>
            </a:r>
          </a:p>
          <a:p>
            <a:pPr marL="0" lvl="0" indent="0" algn="just">
              <a:buNone/>
            </a:pPr>
            <a:r>
              <a:rPr lang="en-IN" sz="3400" dirty="0">
                <a:solidFill>
                  <a:prstClr val="black"/>
                </a:solidFill>
                <a:cs typeface="Arial" panose="020B0604020202020204" pitchFamily="34" charset="0"/>
              </a:rPr>
              <a:t>Following questions carry 10 marks each</a:t>
            </a:r>
          </a:p>
          <a:p>
            <a:pPr marL="0" lvl="0" indent="0" algn="just">
              <a:buNone/>
            </a:pPr>
            <a:r>
              <a:rPr lang="en-IN" sz="3400" dirty="0">
                <a:solidFill>
                  <a:prstClr val="black"/>
                </a:solidFill>
                <a:cs typeface="Arial" panose="020B0604020202020204" pitchFamily="34" charset="0"/>
              </a:rPr>
              <a:t>2. </a:t>
            </a:r>
            <a:r>
              <a:rPr lang="en-US" sz="3400" dirty="0">
                <a:solidFill>
                  <a:prstClr val="black"/>
                </a:solidFill>
                <a:cs typeface="Arial" panose="020B0604020202020204" pitchFamily="34" charset="0"/>
              </a:rPr>
              <a:t>Explain  </a:t>
            </a:r>
          </a:p>
          <a:p>
            <a:pPr marL="0" lvl="0" indent="0" algn="just">
              <a:buNone/>
            </a:pPr>
            <a:r>
              <a:rPr lang="en-US" sz="3400" dirty="0">
                <a:solidFill>
                  <a:prstClr val="black"/>
                </a:solidFill>
                <a:cs typeface="Arial" panose="020B0604020202020204" pitchFamily="34" charset="0"/>
              </a:rPr>
              <a:t>    a) </a:t>
            </a:r>
            <a:r>
              <a:rPr lang="en-US" sz="3400" dirty="0" smtClean="0">
                <a:solidFill>
                  <a:prstClr val="black"/>
                </a:solidFill>
                <a:cs typeface="Arial" panose="020B0604020202020204" pitchFamily="34" charset="0"/>
              </a:rPr>
              <a:t>Illustrate </a:t>
            </a:r>
            <a:r>
              <a:rPr lang="en-US" sz="3400" dirty="0">
                <a:solidFill>
                  <a:prstClr val="black"/>
                </a:solidFill>
                <a:cs typeface="Arial" panose="020B0604020202020204" pitchFamily="34" charset="0"/>
              </a:rPr>
              <a:t>carrier concentration in n-type </a:t>
            </a:r>
            <a:r>
              <a:rPr lang="en-US" sz="3400" dirty="0" smtClean="0">
                <a:solidFill>
                  <a:prstClr val="black"/>
                </a:solidFill>
                <a:cs typeface="Arial" panose="020B0604020202020204" pitchFamily="34" charset="0"/>
              </a:rPr>
              <a:t>semiconductor.</a:t>
            </a:r>
            <a:endParaRPr lang="en-US" sz="3400" dirty="0">
              <a:solidFill>
                <a:prstClr val="black"/>
              </a:solidFill>
              <a:cs typeface="Arial" panose="020B0604020202020204" pitchFamily="34" charset="0"/>
            </a:endParaRPr>
          </a:p>
          <a:p>
            <a:pPr marL="0" lvl="0" indent="0" algn="just">
              <a:buNone/>
            </a:pPr>
            <a:r>
              <a:rPr lang="en-US" sz="3400" dirty="0">
                <a:solidFill>
                  <a:prstClr val="black"/>
                </a:solidFill>
                <a:cs typeface="Arial" panose="020B0604020202020204" pitchFamily="34" charset="0"/>
              </a:rPr>
              <a:t>    b) </a:t>
            </a:r>
            <a:r>
              <a:rPr lang="en-US" sz="3400" dirty="0" smtClean="0">
                <a:solidFill>
                  <a:prstClr val="black"/>
                </a:solidFill>
                <a:cs typeface="Arial" panose="020B0604020202020204" pitchFamily="34" charset="0"/>
              </a:rPr>
              <a:t>Tabulate </a:t>
            </a:r>
            <a:r>
              <a:rPr lang="en-US" sz="3400" dirty="0">
                <a:solidFill>
                  <a:prstClr val="black"/>
                </a:solidFill>
                <a:cs typeface="Arial" panose="020B0604020202020204" pitchFamily="34" charset="0"/>
              </a:rPr>
              <a:t>the main factors which affects carrier generation and recombination </a:t>
            </a:r>
          </a:p>
          <a:p>
            <a:pPr marL="0" lvl="0" indent="0" algn="just">
              <a:buNone/>
            </a:pPr>
            <a:endParaRPr lang="en-US" sz="3400" dirty="0">
              <a:solidFill>
                <a:prstClr val="black"/>
              </a:solidFill>
              <a:cs typeface="Arial" panose="020B0604020202020204" pitchFamily="34" charset="0"/>
            </a:endParaRPr>
          </a:p>
          <a:p>
            <a:pPr marL="0" lvl="0" indent="0" algn="just">
              <a:buNone/>
            </a:pPr>
            <a:r>
              <a:rPr lang="en-US" sz="3400" dirty="0" smtClean="0">
                <a:solidFill>
                  <a:prstClr val="black"/>
                </a:solidFill>
                <a:cs typeface="Arial" panose="020B0604020202020204" pitchFamily="34" charset="0"/>
              </a:rPr>
              <a:t>3. Express </a:t>
            </a:r>
            <a:r>
              <a:rPr lang="en-US" sz="3400" dirty="0">
                <a:solidFill>
                  <a:prstClr val="black"/>
                </a:solidFill>
                <a:cs typeface="Arial" panose="020B0604020202020204" pitchFamily="34" charset="0"/>
              </a:rPr>
              <a:t>your views on the various applications of semiconductor devices like diodes, transistors </a:t>
            </a:r>
            <a:r>
              <a:rPr lang="en-US" sz="3400" dirty="0" err="1" smtClean="0">
                <a:solidFill>
                  <a:prstClr val="black"/>
                </a:solidFill>
                <a:cs typeface="Arial" panose="020B0604020202020204" pitchFamily="34" charset="0"/>
              </a:rPr>
              <a:t>etc</a:t>
            </a:r>
            <a:endParaRPr lang="en-US" sz="3400" dirty="0"/>
          </a:p>
          <a:p>
            <a:pPr marL="0" lvl="0" indent="0" algn="just">
              <a:buNone/>
            </a:pPr>
            <a:endParaRPr lang="en-US" dirty="0"/>
          </a:p>
        </p:txBody>
      </p:sp>
    </p:spTree>
    <p:extLst>
      <p:ext uri="{BB962C8B-B14F-4D97-AF65-F5344CB8AC3E}">
        <p14:creationId xmlns="" xmlns:p14="http://schemas.microsoft.com/office/powerpoint/2010/main" val="4211301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8BC291-DE7E-4E73-A48A-90DE92EBFE1B}"/>
              </a:ext>
            </a:extLst>
          </p:cNvPr>
          <p:cNvSpPr>
            <a:spLocks noGrp="1"/>
          </p:cNvSpPr>
          <p:nvPr>
            <p:ph type="title"/>
          </p:nvPr>
        </p:nvSpPr>
        <p:spPr/>
        <p:txBody>
          <a:bodyPr>
            <a:normAutofit/>
          </a:bodyPr>
          <a:lstStyle/>
          <a:p>
            <a:r>
              <a:rPr lang="en-US" dirty="0">
                <a:latin typeface="+mn-lt"/>
              </a:rPr>
              <a:t>                              </a:t>
            </a:r>
            <a:r>
              <a:rPr lang="en-US" b="1" dirty="0">
                <a:latin typeface="+mn-lt"/>
              </a:rPr>
              <a:t>QUIZ- BUCKET</a:t>
            </a:r>
          </a:p>
        </p:txBody>
      </p:sp>
      <p:sp>
        <p:nvSpPr>
          <p:cNvPr id="3" name="Content Placeholder 2">
            <a:extLst>
              <a:ext uri="{FF2B5EF4-FFF2-40B4-BE49-F238E27FC236}">
                <a16:creationId xmlns:a16="http://schemas.microsoft.com/office/drawing/2014/main" xmlns="" id="{B6A4B4BA-7669-4F74-9C78-A0F35AA17C1D}"/>
              </a:ext>
            </a:extLst>
          </p:cNvPr>
          <p:cNvSpPr>
            <a:spLocks noGrp="1"/>
          </p:cNvSpPr>
          <p:nvPr>
            <p:ph idx="1"/>
          </p:nvPr>
        </p:nvSpPr>
        <p:spPr>
          <a:xfrm>
            <a:off x="838200" y="1825625"/>
            <a:ext cx="10515600" cy="4667250"/>
          </a:xfrm>
        </p:spPr>
        <p:txBody>
          <a:bodyPr>
            <a:noAutofit/>
          </a:bodyPr>
          <a:lstStyle/>
          <a:p>
            <a:pPr marL="0" indent="0" algn="just">
              <a:buNone/>
            </a:pPr>
            <a:r>
              <a:rPr lang="en-US" sz="2400" dirty="0"/>
              <a:t>1.Q: Electron-hole pairs are produced by </a:t>
            </a:r>
          </a:p>
          <a:p>
            <a:pPr marL="514350" indent="-514350" algn="just">
              <a:buAutoNum type="alphaLcParenR"/>
            </a:pPr>
            <a:r>
              <a:rPr lang="en-US" sz="2400" dirty="0"/>
              <a:t>Recombination</a:t>
            </a:r>
          </a:p>
          <a:p>
            <a:pPr marL="514350" indent="-514350" algn="just">
              <a:buAutoNum type="alphaLcParenR"/>
            </a:pPr>
            <a:r>
              <a:rPr lang="en-US" sz="2400" dirty="0"/>
              <a:t>Thermal Energy </a:t>
            </a:r>
          </a:p>
          <a:p>
            <a:pPr marL="0" indent="0" algn="just">
              <a:buNone/>
            </a:pPr>
            <a:r>
              <a:rPr lang="en-US" sz="2400" dirty="0"/>
              <a:t>c)     Ionization</a:t>
            </a:r>
          </a:p>
          <a:p>
            <a:pPr marL="0" indent="0" algn="just">
              <a:buNone/>
            </a:pPr>
            <a:r>
              <a:rPr lang="en-US" sz="2400" dirty="0"/>
              <a:t>d)     Doping.</a:t>
            </a:r>
          </a:p>
          <a:p>
            <a:pPr marL="0" indent="0" algn="just">
              <a:buNone/>
            </a:pPr>
            <a:r>
              <a:rPr lang="en-US" sz="2400" dirty="0"/>
              <a:t>2.Q: Which of the following statements is not  diode application in semiconductor? </a:t>
            </a:r>
          </a:p>
          <a:p>
            <a:pPr marL="514350" indent="-514350" algn="just">
              <a:buAutoNum type="alphaLcParenR"/>
            </a:pPr>
            <a:r>
              <a:rPr lang="en-US" sz="2400" dirty="0"/>
              <a:t>Diode as voltage regulator </a:t>
            </a:r>
          </a:p>
          <a:p>
            <a:pPr marL="514350" indent="-514350" algn="just">
              <a:buFont typeface="Arial" panose="020B0604020202020204" pitchFamily="34" charset="0"/>
              <a:buAutoNum type="alphaLcParenR"/>
            </a:pPr>
            <a:r>
              <a:rPr lang="en-US" sz="2400" dirty="0"/>
              <a:t>Diode as amplifier </a:t>
            </a:r>
          </a:p>
          <a:p>
            <a:pPr marL="514350" indent="-514350" algn="just">
              <a:buFont typeface="Arial" panose="020B0604020202020204" pitchFamily="34" charset="0"/>
              <a:buAutoNum type="alphaLcParenR"/>
            </a:pPr>
            <a:r>
              <a:rPr lang="en-US" sz="2400" dirty="0"/>
              <a:t>Diode as rectifier </a:t>
            </a:r>
          </a:p>
          <a:p>
            <a:pPr marL="514350" indent="-514350" algn="just">
              <a:buFont typeface="Arial" panose="020B0604020202020204" pitchFamily="34" charset="0"/>
              <a:buAutoNum type="alphaLcParenR"/>
            </a:pPr>
            <a:r>
              <a:rPr lang="en-US" sz="2400" dirty="0"/>
              <a:t>Diode as solar cell </a:t>
            </a:r>
          </a:p>
          <a:p>
            <a:pPr marL="514350" indent="-514350" algn="just">
              <a:buAutoNum type="alphaLcParenR"/>
            </a:pPr>
            <a:endParaRPr lang="en-US" sz="2400" dirty="0"/>
          </a:p>
        </p:txBody>
      </p:sp>
      <p:sp>
        <p:nvSpPr>
          <p:cNvPr id="4" name="Slide Number Placeholder 3">
            <a:extLst>
              <a:ext uri="{FF2B5EF4-FFF2-40B4-BE49-F238E27FC236}">
                <a16:creationId xmlns:a16="http://schemas.microsoft.com/office/drawing/2014/main" xmlns="" id="{7945E9EB-C7DF-433B-81ED-460E4DAF306D}"/>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 xmlns:p14="http://schemas.microsoft.com/office/powerpoint/2010/main" val="349849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44D21-B1E7-4871-8049-82F849BEDB43}"/>
              </a:ext>
            </a:extLst>
          </p:cNvPr>
          <p:cNvSpPr>
            <a:spLocks noGrp="1"/>
          </p:cNvSpPr>
          <p:nvPr>
            <p:ph type="title"/>
          </p:nvPr>
        </p:nvSpPr>
        <p:spPr/>
        <p:txBody>
          <a:bodyPr/>
          <a:lstStyle/>
          <a:p>
            <a:r>
              <a:rPr lang="en-US" dirty="0"/>
              <a:t>                             </a:t>
            </a:r>
            <a:r>
              <a:rPr lang="en-US" b="1" dirty="0">
                <a:latin typeface="+mn-lt"/>
              </a:rPr>
              <a:t>QUIZ- BUCKET</a:t>
            </a:r>
          </a:p>
        </p:txBody>
      </p:sp>
      <p:sp>
        <p:nvSpPr>
          <p:cNvPr id="3" name="Content Placeholder 2">
            <a:extLst>
              <a:ext uri="{FF2B5EF4-FFF2-40B4-BE49-F238E27FC236}">
                <a16:creationId xmlns:a16="http://schemas.microsoft.com/office/drawing/2014/main" xmlns="" id="{70F76D47-B90A-40E7-9D17-0BF3EB6226BD}"/>
              </a:ext>
            </a:extLst>
          </p:cNvPr>
          <p:cNvSpPr>
            <a:spLocks noGrp="1"/>
          </p:cNvSpPr>
          <p:nvPr>
            <p:ph idx="1"/>
          </p:nvPr>
        </p:nvSpPr>
        <p:spPr>
          <a:xfrm>
            <a:off x="838200" y="1825625"/>
            <a:ext cx="10515600" cy="4667250"/>
          </a:xfrm>
        </p:spPr>
        <p:txBody>
          <a:bodyPr>
            <a:noAutofit/>
          </a:bodyPr>
          <a:lstStyle/>
          <a:p>
            <a:pPr marL="0" indent="0">
              <a:buNone/>
            </a:pPr>
            <a:r>
              <a:rPr lang="en-US" sz="2400" dirty="0"/>
              <a:t>3.Q: The most widely used semi-conductive material in electronic devices </a:t>
            </a:r>
            <a:r>
              <a:rPr lang="en-US" sz="2400" dirty="0" smtClean="0"/>
              <a:t> </a:t>
            </a:r>
            <a:endParaRPr lang="en-US" sz="2400" dirty="0"/>
          </a:p>
          <a:p>
            <a:pPr marL="0" indent="0">
              <a:buNone/>
            </a:pPr>
            <a:r>
              <a:rPr lang="en-US" sz="2400" dirty="0"/>
              <a:t>a) Germanium</a:t>
            </a:r>
          </a:p>
          <a:p>
            <a:pPr marL="0" indent="0">
              <a:buNone/>
            </a:pPr>
            <a:r>
              <a:rPr lang="en-US" sz="2400" dirty="0"/>
              <a:t>b) Carbon</a:t>
            </a:r>
          </a:p>
          <a:p>
            <a:pPr marL="0" indent="0">
              <a:buNone/>
            </a:pPr>
            <a:r>
              <a:rPr lang="en-US" sz="2400" dirty="0"/>
              <a:t>c) Silicon</a:t>
            </a:r>
          </a:p>
          <a:p>
            <a:pPr marL="0" indent="0">
              <a:buNone/>
            </a:pPr>
            <a:r>
              <a:rPr lang="en-US" sz="2400" dirty="0"/>
              <a:t>d) Copper </a:t>
            </a:r>
          </a:p>
          <a:p>
            <a:pPr marL="0" indent="0">
              <a:buNone/>
            </a:pPr>
            <a:r>
              <a:rPr lang="en-US" sz="2400" dirty="0"/>
              <a:t>4.Q: The random motion of holes and electrons due to thermal agitation is </a:t>
            </a:r>
            <a:r>
              <a:rPr lang="en-US" sz="2400" dirty="0" smtClean="0"/>
              <a:t>called </a:t>
            </a:r>
            <a:endParaRPr lang="en-US" sz="2400" dirty="0"/>
          </a:p>
          <a:p>
            <a:pPr marL="0" indent="0">
              <a:buNone/>
            </a:pPr>
            <a:r>
              <a:rPr lang="en-US" sz="2400" dirty="0"/>
              <a:t>a) Ionization </a:t>
            </a:r>
          </a:p>
          <a:p>
            <a:pPr marL="0" indent="0">
              <a:buNone/>
            </a:pPr>
            <a:r>
              <a:rPr lang="en-US" sz="2400" dirty="0"/>
              <a:t>b) Pressure</a:t>
            </a:r>
          </a:p>
          <a:p>
            <a:pPr marL="0" indent="0">
              <a:buNone/>
            </a:pPr>
            <a:r>
              <a:rPr lang="en-US" sz="2400" dirty="0"/>
              <a:t>c) Diffusion</a:t>
            </a:r>
          </a:p>
          <a:p>
            <a:pPr marL="0" indent="0">
              <a:buNone/>
            </a:pPr>
            <a:r>
              <a:rPr lang="en-US" sz="2400" dirty="0"/>
              <a:t>d) None of above </a:t>
            </a:r>
          </a:p>
        </p:txBody>
      </p:sp>
      <p:sp>
        <p:nvSpPr>
          <p:cNvPr id="4" name="Slide Number Placeholder 3">
            <a:extLst>
              <a:ext uri="{FF2B5EF4-FFF2-40B4-BE49-F238E27FC236}">
                <a16:creationId xmlns:a16="http://schemas.microsoft.com/office/drawing/2014/main" xmlns="" id="{7B68775F-CB77-40A5-A769-3B2B300C64A6}"/>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 xmlns:p14="http://schemas.microsoft.com/office/powerpoint/2010/main" val="359089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mn-lt"/>
                <a:cs typeface="Arial" panose="020B0604020202020204" pitchFamily="34" charset="0"/>
              </a:rPr>
              <a:t>REFERENCES </a:t>
            </a:r>
            <a:r>
              <a:rPr lang="en-US" b="1" dirty="0">
                <a:latin typeface="+mn-lt"/>
              </a:rPr>
              <a:t>  </a:t>
            </a:r>
          </a:p>
        </p:txBody>
      </p:sp>
      <p:sp>
        <p:nvSpPr>
          <p:cNvPr id="3" name="Content Placeholder 2"/>
          <p:cNvSpPr>
            <a:spLocks noGrp="1"/>
          </p:cNvSpPr>
          <p:nvPr>
            <p:ph idx="1"/>
          </p:nvPr>
        </p:nvSpPr>
        <p:spPr>
          <a:xfrm>
            <a:off x="838200" y="1825624"/>
            <a:ext cx="6907306" cy="4723093"/>
          </a:xfrm>
        </p:spPr>
        <p:txBody>
          <a:bodyPr>
            <a:noAutofit/>
          </a:bodyPr>
          <a:lstStyle/>
          <a:p>
            <a:pPr marL="0" indent="0" algn="just">
              <a:buNone/>
            </a:pPr>
            <a:r>
              <a:rPr lang="en-IN" sz="2000" b="1" dirty="0" smtClean="0">
                <a:latin typeface="Casper" panose="02000506000000020004" pitchFamily="2" charset="0"/>
                <a:cs typeface="Arial" panose="020B0604020202020204" pitchFamily="34" charset="0"/>
              </a:rPr>
              <a:t>Websites &amp; Books:</a:t>
            </a:r>
            <a:endParaRPr lang="en-IN" sz="1600" dirty="0">
              <a:latin typeface="Casper"/>
            </a:endParaRPr>
          </a:p>
          <a:p>
            <a:r>
              <a:rPr lang="en-US" sz="1600" dirty="0" smtClean="0"/>
              <a:t>https://slideplayer.com/slide/11412380/</a:t>
            </a:r>
          </a:p>
          <a:p>
            <a:r>
              <a:rPr lang="en-US" sz="1600" dirty="0" smtClean="0"/>
              <a:t>file:///C:Physics_of_Semiconductor_Devices.pdf</a:t>
            </a:r>
          </a:p>
          <a:p>
            <a:r>
              <a:rPr lang="en-US" sz="1600" dirty="0" smtClean="0"/>
              <a:t>http://engineering.nyu.edu/gk12/amps-cbri/pdf/Basic%20Electronics.pdf</a:t>
            </a:r>
          </a:p>
          <a:p>
            <a:r>
              <a:rPr lang="en-US" sz="1600" dirty="0" smtClean="0"/>
              <a:t>https://ecee.colorado.edu/~bart/book/book/chapter7/ch7_1.htm</a:t>
            </a:r>
          </a:p>
          <a:p>
            <a:r>
              <a:rPr lang="en-US" sz="1600" dirty="0" smtClean="0"/>
              <a:t>https://www2.mvcc.edu/users/faculty/jfiore/Linear/SemiconductorDevices.pdf</a:t>
            </a:r>
          </a:p>
          <a:p>
            <a:r>
              <a:rPr lang="en-US" sz="1600" dirty="0" err="1" smtClean="0"/>
              <a:t>Sze</a:t>
            </a:r>
            <a:r>
              <a:rPr lang="en-US" sz="1600" dirty="0" smtClean="0"/>
              <a:t> S.M., K. Ng Kwok., Physics of </a:t>
            </a:r>
            <a:r>
              <a:rPr lang="en-US" sz="1600" dirty="0" err="1" smtClean="0"/>
              <a:t>SemiconductorDevices</a:t>
            </a:r>
            <a:r>
              <a:rPr lang="en-US" sz="1600" dirty="0" smtClean="0"/>
              <a:t>, Edition 3rd , (2011), Wiley India.</a:t>
            </a:r>
          </a:p>
          <a:p>
            <a:r>
              <a:rPr lang="en-US" sz="1600" dirty="0" err="1" smtClean="0"/>
              <a:t>KasapS.O.,Principles</a:t>
            </a:r>
            <a:r>
              <a:rPr lang="en-US" sz="1600" dirty="0" smtClean="0"/>
              <a:t> of </a:t>
            </a:r>
            <a:r>
              <a:rPr lang="en-US" sz="1600" dirty="0" err="1" smtClean="0"/>
              <a:t>Electronicand</a:t>
            </a:r>
            <a:r>
              <a:rPr lang="en-US" sz="1600" dirty="0" smtClean="0"/>
              <a:t> materials and </a:t>
            </a:r>
            <a:r>
              <a:rPr lang="en-US" sz="1600" dirty="0" err="1" smtClean="0"/>
              <a:t>devices,Edition</a:t>
            </a:r>
            <a:r>
              <a:rPr lang="en-US" sz="1600" dirty="0" smtClean="0"/>
              <a:t> 1st, (2007), Tata McGraw-Hill, Noida</a:t>
            </a:r>
          </a:p>
          <a:p>
            <a:r>
              <a:rPr lang="en-US" sz="1600" dirty="0" smtClean="0"/>
              <a:t>Garcia N., Damask A., Physics </a:t>
            </a:r>
            <a:r>
              <a:rPr lang="en-US" sz="1600" dirty="0" err="1" smtClean="0"/>
              <a:t>forcomputer</a:t>
            </a:r>
            <a:r>
              <a:rPr lang="en-US" sz="1600" dirty="0" smtClean="0"/>
              <a:t> science, students,Edition1st, (1991), Springer-</a:t>
            </a:r>
            <a:r>
              <a:rPr lang="en-US" sz="1600" dirty="0" err="1" smtClean="0"/>
              <a:t>Verlag</a:t>
            </a:r>
            <a:r>
              <a:rPr lang="en-US" sz="1600" dirty="0" smtClean="0"/>
              <a:t>, </a:t>
            </a:r>
            <a:r>
              <a:rPr lang="en-US" sz="1600" dirty="0" err="1" smtClean="0"/>
              <a:t>NewYork</a:t>
            </a:r>
            <a:r>
              <a:rPr lang="en-US" sz="1600" dirty="0" smtClean="0"/>
              <a:t>.</a:t>
            </a:r>
          </a:p>
          <a:p>
            <a:pPr marL="0" indent="0" algn="just">
              <a:buNone/>
            </a:pPr>
            <a:endParaRPr lang="en-US" sz="2000" b="1"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p:cNvSpPr/>
          <p:nvPr/>
        </p:nvSpPr>
        <p:spPr>
          <a:xfrm>
            <a:off x="838199" y="1803400"/>
            <a:ext cx="7109013" cy="46942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23290"/>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xmlns="" id="{3DF4D996-D4E4-4043-8E39-621048B7568F}"/>
              </a:ext>
            </a:extLst>
          </p:cNvPr>
          <p:cNvPicPr>
            <a:picLocks noChangeAspect="1"/>
          </p:cNvPicPr>
          <p:nvPr/>
        </p:nvPicPr>
        <p:blipFill>
          <a:blip r:embed="rId2"/>
          <a:stretch>
            <a:fillRect/>
          </a:stretch>
        </p:blipFill>
        <p:spPr>
          <a:xfrm>
            <a:off x="7745506" y="1940959"/>
            <a:ext cx="3747799" cy="4364313"/>
          </a:xfrm>
          <a:prstGeom prst="rect">
            <a:avLst/>
          </a:prstGeom>
        </p:spPr>
      </p:pic>
    </p:spTree>
    <p:extLst>
      <p:ext uri="{BB962C8B-B14F-4D97-AF65-F5344CB8AC3E}">
        <p14:creationId xmlns="" xmlns:p14="http://schemas.microsoft.com/office/powerpoint/2010/main" val="3361918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mn-lt"/>
                <a:cs typeface="Arial" panose="020B0604020202020204" pitchFamily="34" charset="0"/>
              </a:rPr>
              <a:t>REFERENCES </a:t>
            </a:r>
            <a:r>
              <a:rPr lang="en-US" b="1" dirty="0">
                <a:latin typeface="+mn-lt"/>
              </a:rPr>
              <a:t>  </a:t>
            </a:r>
          </a:p>
        </p:txBody>
      </p:sp>
      <p:sp>
        <p:nvSpPr>
          <p:cNvPr id="3" name="Content Placeholder 2"/>
          <p:cNvSpPr>
            <a:spLocks noGrp="1"/>
          </p:cNvSpPr>
          <p:nvPr>
            <p:ph idx="1"/>
          </p:nvPr>
        </p:nvSpPr>
        <p:spPr>
          <a:xfrm>
            <a:off x="838200" y="1825624"/>
            <a:ext cx="6907306" cy="4723093"/>
          </a:xfrm>
        </p:spPr>
        <p:txBody>
          <a:bodyPr>
            <a:normAutofit fontScale="92500" lnSpcReduction="10000"/>
          </a:bodyPr>
          <a:lstStyle/>
          <a:p>
            <a:pPr marL="0" indent="0" algn="just">
              <a:buNone/>
            </a:pPr>
            <a:r>
              <a:rPr lang="en-US" sz="1600" b="1" dirty="0" smtClean="0">
                <a:latin typeface="Calibri" pitchFamily="34" charset="0"/>
                <a:cs typeface="Calibri" pitchFamily="34" charset="0"/>
              </a:rPr>
              <a:t>Images</a:t>
            </a:r>
          </a:p>
          <a:p>
            <a:pPr algn="just"/>
            <a:r>
              <a:rPr lang="en-IN" sz="1600" u="sng" dirty="0" smtClean="0">
                <a:latin typeface="Casper"/>
                <a:hlinkClick r:id="rId2">
                  <a:extLst>
                    <a:ext uri="{A12FA001-AC4F-418D-AE19-62706E023703}">
                      <ahyp:hlinkClr xmlns="" xmlns:ahyp="http://schemas.microsoft.com/office/drawing/2018/hyperlinkcolor" xmlns:lc="http://schemas.openxmlformats.org/drawingml/2006/lockedCanvas" val="tx"/>
                    </a:ext>
                  </a:extLst>
                </a:hlinkClick>
              </a:rPr>
              <a:t>https</a:t>
            </a:r>
            <a:r>
              <a:rPr lang="en-IN" sz="1600" u="sng" dirty="0">
                <a:latin typeface="Casper"/>
                <a:hlinkClick r:id="rId2">
                  <a:extLst>
                    <a:ext uri="{A12FA001-AC4F-418D-AE19-62706E023703}">
                      <ahyp:hlinkClr xmlns="" xmlns:ahyp="http://schemas.microsoft.com/office/drawing/2018/hyperlinkcolor" xmlns:lc="http://schemas.openxmlformats.org/drawingml/2006/lockedCanvas" val="tx"/>
                    </a:ext>
                  </a:extLst>
                </a:hlinkClick>
              </a:rPr>
              <a:t>://fortune.com/2020/06/30/america-tech-semiconductor-manufacturing-investment</a:t>
            </a:r>
            <a:r>
              <a:rPr lang="en-IN" sz="1600" u="sng" dirty="0" smtClean="0">
                <a:latin typeface="Casper"/>
                <a:hlinkClick r:id="rId2">
                  <a:extLst>
                    <a:ext uri="{A12FA001-AC4F-418D-AE19-62706E023703}">
                      <ahyp:hlinkClr xmlns="" xmlns:ahyp="http://schemas.microsoft.com/office/drawing/2018/hyperlinkcolor" xmlns:lc="http://schemas.openxmlformats.org/drawingml/2006/lockedCanvas" val="tx"/>
                    </a:ext>
                  </a:extLst>
                </a:hlinkClick>
              </a:rPr>
              <a:t>/</a:t>
            </a:r>
            <a:endParaRPr lang="en-US" sz="1600" b="1" dirty="0">
              <a:latin typeface="Calibri" pitchFamily="34" charset="0"/>
              <a:cs typeface="Calibri" pitchFamily="34" charset="0"/>
            </a:endParaRP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://www.cbronline.com/what-is/what-is-a-semiconductor-4946084/</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://www.elprocus.com/vi-characteristics-of-pn-junction-diode/</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://www.physics-and-radio-electronics.com/electronic-devices-and-circuits/semiconductor-diodes/pnjunctionsemiconductordiode.html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://physics.stackexchange.com/questions/400321/reverse-biasing-of-pn-junction-diode?rq=1</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://electricalstudy.sarutech.com/p-n-junction-diode/index.html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://slideplayer.com/slide/7245886/</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://www.slideshare.net/chinkitkit/chapter-4b</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://circuitglobe.com/zener-diode.html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://www.electronics-tutorials.ws/diode/diode_7.html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://www.miniphysics.com/uy1-hall-effect.html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://www.elprocus.com/semiconductor-devices-types-and-applications</a:t>
            </a:r>
          </a:p>
          <a:p>
            <a:pPr marL="0" indent="0">
              <a:buNone/>
            </a:pPr>
            <a:endParaRPr lang="en-US" sz="1600" dirty="0">
              <a:latin typeface="Calibri" pitchFamily="34" charset="0"/>
              <a:cs typeface="Calibri" pitchFamily="34" charset="0"/>
            </a:endParaRPr>
          </a:p>
          <a:p>
            <a:pPr marL="0" indent="0" algn="just">
              <a:buNone/>
            </a:pPr>
            <a:endParaRPr lang="en-US" sz="1600" dirty="0">
              <a:latin typeface="Calibri" pitchFamily="34" charset="0"/>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Rectangle 4"/>
          <p:cNvSpPr/>
          <p:nvPr/>
        </p:nvSpPr>
        <p:spPr>
          <a:xfrm>
            <a:off x="838199" y="1803400"/>
            <a:ext cx="7109013" cy="46942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xmlns="" id="{3DF4D996-D4E4-4043-8E39-621048B7568F}"/>
              </a:ext>
            </a:extLst>
          </p:cNvPr>
          <p:cNvPicPr>
            <a:picLocks noChangeAspect="1"/>
          </p:cNvPicPr>
          <p:nvPr/>
        </p:nvPicPr>
        <p:blipFill>
          <a:blip r:embed="rId3"/>
          <a:stretch>
            <a:fillRect/>
          </a:stretch>
        </p:blipFill>
        <p:spPr>
          <a:xfrm>
            <a:off x="7745506" y="1940959"/>
            <a:ext cx="3747799" cy="4364313"/>
          </a:xfrm>
          <a:prstGeom prst="rect">
            <a:avLst/>
          </a:prstGeom>
        </p:spPr>
      </p:pic>
    </p:spTree>
    <p:extLst>
      <p:ext uri="{BB962C8B-B14F-4D97-AF65-F5344CB8AC3E}">
        <p14:creationId xmlns="" xmlns:p14="http://schemas.microsoft.com/office/powerpoint/2010/main" val="3361918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xmlns=""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xmlns=""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xmlns=""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xmlns="" id="{AFBA4B1A-59E0-42F9-8062-FE9B4E00A99F}"/>
              </a:ext>
            </a:extLst>
          </p:cNvPr>
          <p:cNvSpPr/>
          <p:nvPr/>
        </p:nvSpPr>
        <p:spPr>
          <a:xfrm>
            <a:off x="2641599" y="1186143"/>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xmlns=""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 xmlns:p14="http://schemas.microsoft.com/office/powerpoint/2010/main" val="4059142145"/>
                </p:ext>
              </p:extLst>
            </p:nvPr>
          </p:nvGraphicFramePr>
          <p:xfrm>
            <a:off x="100420" y="236973"/>
            <a:ext cx="183878" cy="183422"/>
          </p:xfrm>
          <a:graphic>
            <a:graphicData uri="http://schemas.openxmlformats.org/presentationml/2006/ole">
              <p:oleObj spid="_x0000_s9395" name="CorelDRAW" r:id="rId3" imgW="2169000" imgH="2169360" progId="">
                <p:embed/>
              </p:oleObj>
            </a:graphicData>
          </a:graphic>
        </p:graphicFrame>
      </p:grpSp>
      <p:sp>
        <p:nvSpPr>
          <p:cNvPr id="2" name="Rectangle 1"/>
          <p:cNvSpPr/>
          <p:nvPr/>
        </p:nvSpPr>
        <p:spPr>
          <a:xfrm>
            <a:off x="4114005" y="5394447"/>
            <a:ext cx="353500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rPr>
              <a:t>navjeetkaur.ee@cumail.in</a:t>
            </a:r>
            <a:endParaRPr lang="en-US" dirty="0"/>
          </a:p>
        </p:txBody>
      </p:sp>
    </p:spTree>
    <p:extLst>
      <p:ext uri="{BB962C8B-B14F-4D97-AF65-F5344CB8AC3E}">
        <p14:creationId xmlns="" xmlns:p14="http://schemas.microsoft.com/office/powerpoint/2010/main"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2.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2784</TotalTime>
  <Words>1724</Words>
  <Application>Microsoft Office PowerPoint</Application>
  <PresentationFormat>Custom</PresentationFormat>
  <Paragraphs>249</Paragraphs>
  <Slides>26</Slides>
  <Notes>2</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29" baseType="lpstr">
      <vt:lpstr>1_Office Theme</vt:lpstr>
      <vt:lpstr>Contents Slide Master</vt:lpstr>
      <vt:lpstr>CorelDRAW</vt:lpstr>
      <vt:lpstr>Slide 1</vt:lpstr>
      <vt:lpstr>Course Objectives</vt:lpstr>
      <vt:lpstr>Course Outcomes</vt:lpstr>
      <vt:lpstr>WHAT ROLE DOES PHYSICS PLAY IN ENGINEERING?</vt:lpstr>
      <vt:lpstr>LECTURE OBJECTIVES AND LECTURE OUTCOMES </vt:lpstr>
      <vt:lpstr>CONTENTS   </vt:lpstr>
      <vt:lpstr>WHY TO STUDY SEMICONDUCTORS</vt:lpstr>
      <vt:lpstr>SEMICONDUCTORS   </vt:lpstr>
      <vt:lpstr>Carrier Transport</vt:lpstr>
      <vt:lpstr>Drift Current </vt:lpstr>
      <vt:lpstr>Diffusion Current</vt:lpstr>
      <vt:lpstr>Drift Current Equation </vt:lpstr>
      <vt:lpstr>Drift Current Equation </vt:lpstr>
      <vt:lpstr>Drift and Diffusion Current</vt:lpstr>
      <vt:lpstr>Diffusion Current Density Equation</vt:lpstr>
      <vt:lpstr>Diffusion current density</vt:lpstr>
      <vt:lpstr>Diffusion current density</vt:lpstr>
      <vt:lpstr>Difference Between Drift &amp; Diffusion Current</vt:lpstr>
      <vt:lpstr>Difference Between Drift &amp; Diffusion Current</vt:lpstr>
      <vt:lpstr>SUMMARY</vt:lpstr>
      <vt:lpstr>ASSESSMENT PATTERN   </vt:lpstr>
      <vt:lpstr>                              QUIZ- BUCKET</vt:lpstr>
      <vt:lpstr>                             QUIZ- BUCKET</vt:lpstr>
      <vt:lpstr>REFERENCES   </vt:lpstr>
      <vt:lpstr>REFERENCES   </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265</cp:revision>
  <dcterms:created xsi:type="dcterms:W3CDTF">2019-01-09T10:33:58Z</dcterms:created>
  <dcterms:modified xsi:type="dcterms:W3CDTF">2023-07-24T10:21:57Z</dcterms:modified>
</cp:coreProperties>
</file>