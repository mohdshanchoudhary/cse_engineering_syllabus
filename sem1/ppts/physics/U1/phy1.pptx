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commentAuthors.xml" ContentType="application/vnd.openxmlformats-officedocument.presentationml.commentAuthors+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diagrams/colors2.xml" ContentType="application/vnd.openxmlformats-officedocument.drawingml.diagramColors+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Default Extension="wdp" ContentType="image/vnd.ms-photo"/>
  <Override PartName="/ppt/slideLayouts/slideLayout10.xml" ContentType="application/vnd.openxmlformats-officedocument.presentationml.slideLayout+xml"/>
  <Default Extension="vml" ContentType="application/vnd.openxmlformats-officedocument.vmlDrawing"/>
  <Override PartName="/ppt/diagrams/layout2.xml" ContentType="application/vnd.openxmlformats-officedocument.drawingml.diagramLayout+xml"/>
  <Override PartName="/ppt/slides/slide8.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3"/>
  </p:notesMasterIdLst>
  <p:handoutMasterIdLst>
    <p:handoutMasterId r:id="rId34"/>
  </p:handoutMasterIdLst>
  <p:sldIdLst>
    <p:sldId id="479" r:id="rId3"/>
    <p:sldId id="480" r:id="rId4"/>
    <p:sldId id="481" r:id="rId5"/>
    <p:sldId id="475" r:id="rId6"/>
    <p:sldId id="259" r:id="rId7"/>
    <p:sldId id="295" r:id="rId8"/>
    <p:sldId id="465" r:id="rId9"/>
    <p:sldId id="297" r:id="rId10"/>
    <p:sldId id="336" r:id="rId11"/>
    <p:sldId id="466" r:id="rId12"/>
    <p:sldId id="296" r:id="rId13"/>
    <p:sldId id="468" r:id="rId14"/>
    <p:sldId id="470" r:id="rId15"/>
    <p:sldId id="471" r:id="rId16"/>
    <p:sldId id="335" r:id="rId17"/>
    <p:sldId id="337" r:id="rId18"/>
    <p:sldId id="482" r:id="rId19"/>
    <p:sldId id="483" r:id="rId20"/>
    <p:sldId id="485" r:id="rId21"/>
    <p:sldId id="484" r:id="rId22"/>
    <p:sldId id="486" r:id="rId23"/>
    <p:sldId id="487" r:id="rId24"/>
    <p:sldId id="472" r:id="rId25"/>
    <p:sldId id="302" r:id="rId26"/>
    <p:sldId id="311" r:id="rId27"/>
    <p:sldId id="284" r:id="rId28"/>
    <p:sldId id="304" r:id="rId29"/>
    <p:sldId id="303" r:id="rId30"/>
    <p:sldId id="478" r:id="rId31"/>
    <p:sldId id="27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minder kaur" initials="ak" lastIdx="20" clrIdx="0">
    <p:extLst>
      <p:ext uri="{19B8F6BF-5375-455C-9EA6-DF929625EA0E}">
        <p15:presenceInfo xmlns:p15="http://schemas.microsoft.com/office/powerpoint/2012/main" xmlns="" userId="a22e12bbabfcda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33CC33"/>
    <a:srgbClr val="ED8137"/>
    <a:srgbClr val="BC8F00"/>
    <a:srgbClr val="860000"/>
    <a:srgbClr val="00B0F0"/>
    <a:srgbClr val="1B3F5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515" autoAdjust="0"/>
    <p:restoredTop sz="94394" autoAdjust="0"/>
  </p:normalViewPr>
  <p:slideViewPr>
    <p:cSldViewPr snapToGrid="0">
      <p:cViewPr varScale="1">
        <p:scale>
          <a:sx n="65" d="100"/>
          <a:sy n="65" d="100"/>
        </p:scale>
        <p:origin x="-702" y="-11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1C9E00-C35F-4852-81DC-62A20454CD52}" type="doc">
      <dgm:prSet loTypeId="urn:microsoft.com/office/officeart/2011/layout/CircleProcess" loCatId="process" qsTypeId="urn:microsoft.com/office/officeart/2005/8/quickstyle/simple1" qsCatId="simple" csTypeId="urn:microsoft.com/office/officeart/2005/8/colors/colorful2" csCatId="colorful" phldr="1"/>
      <dgm:spPr/>
      <dgm:t>
        <a:bodyPr/>
        <a:lstStyle/>
        <a:p>
          <a:endParaRPr lang="en-IN"/>
        </a:p>
      </dgm:t>
    </dgm:pt>
    <dgm:pt modelId="{3555F372-BF6E-4D70-B96A-A8F57E387DC4}">
      <dgm:prSet phldrT="[Text]" custT="1"/>
      <dgm:spPr/>
      <dgm:t>
        <a:bodyPr/>
        <a:lstStyle/>
        <a:p>
          <a:pPr algn="ctr"/>
          <a:r>
            <a:rPr lang="en-IN" sz="2400" b="1" dirty="0">
              <a:latin typeface="Casper" panose="02000506000000020004"/>
            </a:rPr>
            <a:t>UNIT </a:t>
          </a:r>
          <a:r>
            <a:rPr lang="en-IN" sz="2400" b="1" dirty="0" smtClean="0">
              <a:latin typeface="Casper" panose="02000506000000020004"/>
            </a:rPr>
            <a:t>-1</a:t>
          </a:r>
          <a:r>
            <a:rPr lang="en-IN" sz="2400" dirty="0" smtClean="0">
              <a:latin typeface="Casper" panose="02000506000000020004"/>
            </a:rPr>
            <a:t> </a:t>
          </a:r>
          <a:endParaRPr lang="en-IN" sz="2400" dirty="0">
            <a:latin typeface="Casper" panose="02000506000000020004"/>
          </a:endParaRPr>
        </a:p>
        <a:p>
          <a:pPr algn="ctr"/>
          <a:r>
            <a:rPr lang="en-IN" sz="1600" b="1" dirty="0">
              <a:latin typeface="Casper Bold" panose="02000806040000020004"/>
              <a:cs typeface="Arial" panose="020B0604020202020204" pitchFamily="34" charset="0"/>
            </a:rPr>
            <a:t/>
          </a:r>
          <a:br>
            <a:rPr lang="en-IN" sz="1600" b="1" dirty="0">
              <a:latin typeface="Casper Bold" panose="02000806040000020004"/>
              <a:cs typeface="Arial" panose="020B0604020202020204" pitchFamily="34" charset="0"/>
            </a:rPr>
          </a:br>
          <a:endParaRPr lang="en-IN" sz="1600" dirty="0"/>
        </a:p>
      </dgm:t>
    </dgm:pt>
    <dgm:pt modelId="{87CF7B05-C9EF-4245-8587-08783C85F0D4}" type="parTrans" cxnId="{A72D103D-5B1D-47E8-AA83-427D561C0341}">
      <dgm:prSet/>
      <dgm:spPr/>
      <dgm:t>
        <a:bodyPr/>
        <a:lstStyle/>
        <a:p>
          <a:endParaRPr lang="en-IN"/>
        </a:p>
      </dgm:t>
    </dgm:pt>
    <dgm:pt modelId="{60E1D986-97C4-48A2-9E05-F970597D8BA9}" type="sibTrans" cxnId="{A72D103D-5B1D-47E8-AA83-427D561C0341}">
      <dgm:prSet/>
      <dgm:spPr/>
      <dgm:t>
        <a:bodyPr/>
        <a:lstStyle/>
        <a:p>
          <a:endParaRPr lang="en-IN"/>
        </a:p>
      </dgm:t>
    </dgm:pt>
    <dgm:pt modelId="{A5AFC7F1-8BB0-41D1-813B-609A60DF9870}">
      <dgm:prSet phldrT="[Text]" custT="1"/>
      <dgm:spPr/>
      <dgm:t>
        <a:bodyPr/>
        <a:lstStyle/>
        <a:p>
          <a:pPr algn="ctr"/>
          <a:r>
            <a:rPr lang="en-IN" sz="1600" b="1" dirty="0">
              <a:latin typeface="Casper" panose="02000506000000020004"/>
              <a:cs typeface="Arial" panose="020B0604020202020204" pitchFamily="34" charset="0"/>
            </a:rPr>
            <a:t>CHAPTER </a:t>
          </a:r>
          <a:r>
            <a:rPr lang="en-IN" sz="1600" b="1" dirty="0" smtClean="0">
              <a:latin typeface="Casper" panose="02000506000000020004"/>
              <a:cs typeface="Arial" panose="020B0604020202020204" pitchFamily="34" charset="0"/>
            </a:rPr>
            <a:t>1 </a:t>
          </a:r>
          <a:r>
            <a:rPr lang="en-IN" sz="1600" b="1" dirty="0" smtClean="0">
              <a:latin typeface="Casper" panose="02000506000000020004"/>
              <a:cs typeface="Arial" panose="020B0604020202020204" pitchFamily="34" charset="0"/>
            </a:rPr>
            <a:t>Semiconductor Physics </a:t>
          </a:r>
          <a:endParaRPr lang="en-IN" sz="1600" dirty="0">
            <a:latin typeface="Casper" panose="02000506000000020004"/>
          </a:endParaRPr>
        </a:p>
      </dgm:t>
    </dgm:pt>
    <dgm:pt modelId="{F7C134EE-B2C0-4130-BA90-CDA40B415D71}" type="parTrans" cxnId="{C5BCE058-81D0-409F-8262-237B13CB9B61}">
      <dgm:prSet/>
      <dgm:spPr/>
      <dgm:t>
        <a:bodyPr/>
        <a:lstStyle/>
        <a:p>
          <a:endParaRPr lang="en-IN"/>
        </a:p>
      </dgm:t>
    </dgm:pt>
    <dgm:pt modelId="{FBD71D7E-440B-4C5E-A033-32AEEFCA543C}" type="sibTrans" cxnId="{C5BCE058-81D0-409F-8262-237B13CB9B61}">
      <dgm:prSet/>
      <dgm:spPr/>
      <dgm:t>
        <a:bodyPr/>
        <a:lstStyle/>
        <a:p>
          <a:endParaRPr lang="en-IN"/>
        </a:p>
      </dgm:t>
    </dgm:pt>
    <dgm:pt modelId="{32F0F454-A9E7-47F9-ADF2-020F37E6AB10}">
      <dgm:prSet phldrT="[Text]" custT="1"/>
      <dgm:spPr/>
      <dgm:t>
        <a:bodyPr/>
        <a:lstStyle/>
        <a:p>
          <a:r>
            <a:rPr lang="en-IN" sz="1800" dirty="0">
              <a:solidFill>
                <a:schemeClr val="tx1"/>
              </a:solidFill>
            </a:rPr>
            <a:t>Band</a:t>
          </a:r>
          <a:r>
            <a:rPr lang="en-IN" sz="1800" baseline="0" dirty="0">
              <a:solidFill>
                <a:schemeClr val="tx1"/>
              </a:solidFill>
            </a:rPr>
            <a:t> theory of solids, Direct and Indirect band gap, </a:t>
          </a:r>
          <a:r>
            <a:rPr lang="en-IN" sz="1800" baseline="0" dirty="0" smtClean="0">
              <a:solidFill>
                <a:schemeClr val="tx1"/>
              </a:solidFill>
            </a:rPr>
            <a:t>Introduction to Semi-Conductor and its Types</a:t>
          </a:r>
          <a:endParaRPr lang="en-IN" sz="1800" dirty="0">
            <a:solidFill>
              <a:schemeClr val="tx1"/>
            </a:solidFill>
          </a:endParaRPr>
        </a:p>
      </dgm:t>
    </dgm:pt>
    <dgm:pt modelId="{B409CC0C-A15A-4786-9FE9-8EBE4D57E1AB}" type="parTrans" cxnId="{9368DE8C-0351-4ACE-964E-3C5D2BE227C0}">
      <dgm:prSet/>
      <dgm:spPr/>
      <dgm:t>
        <a:bodyPr/>
        <a:lstStyle/>
        <a:p>
          <a:endParaRPr lang="en-IN"/>
        </a:p>
      </dgm:t>
    </dgm:pt>
    <dgm:pt modelId="{243E4063-E6E3-4D9A-89F4-C3F0C1DF317A}" type="sibTrans" cxnId="{9368DE8C-0351-4ACE-964E-3C5D2BE227C0}">
      <dgm:prSet/>
      <dgm:spPr/>
      <dgm:t>
        <a:bodyPr/>
        <a:lstStyle/>
        <a:p>
          <a:endParaRPr lang="en-IN"/>
        </a:p>
      </dgm:t>
    </dgm:pt>
    <dgm:pt modelId="{FC56AE59-F05F-4DFA-868E-1E818951EE13}" type="pres">
      <dgm:prSet presAssocID="{8D1C9E00-C35F-4852-81DC-62A20454CD52}" presName="Name0" presStyleCnt="0">
        <dgm:presLayoutVars>
          <dgm:chMax val="11"/>
          <dgm:chPref val="11"/>
          <dgm:dir/>
          <dgm:resizeHandles/>
        </dgm:presLayoutVars>
      </dgm:prSet>
      <dgm:spPr/>
      <dgm:t>
        <a:bodyPr/>
        <a:lstStyle/>
        <a:p>
          <a:endParaRPr lang="en-US"/>
        </a:p>
      </dgm:t>
    </dgm:pt>
    <dgm:pt modelId="{04611AD7-A462-4510-B31D-C599A09DE233}" type="pres">
      <dgm:prSet presAssocID="{32F0F454-A9E7-47F9-ADF2-020F37E6AB10}" presName="Accent3" presStyleCnt="0"/>
      <dgm:spPr/>
    </dgm:pt>
    <dgm:pt modelId="{7C38AA5F-F769-44EF-9CFA-F6779E15FC15}" type="pres">
      <dgm:prSet presAssocID="{32F0F454-A9E7-47F9-ADF2-020F37E6AB10}" presName="Accent" presStyleLbl="node1" presStyleIdx="0" presStyleCnt="3" custScaleX="116589"/>
      <dgm:spPr/>
    </dgm:pt>
    <dgm:pt modelId="{993AEA66-0DF6-4910-B7BC-94680B75D3D4}" type="pres">
      <dgm:prSet presAssocID="{32F0F454-A9E7-47F9-ADF2-020F37E6AB10}" presName="ParentBackground3" presStyleCnt="0"/>
      <dgm:spPr/>
    </dgm:pt>
    <dgm:pt modelId="{DFF276AB-0E9C-4A75-8E80-44B45C89AEF1}" type="pres">
      <dgm:prSet presAssocID="{32F0F454-A9E7-47F9-ADF2-020F37E6AB10}" presName="ParentBackground" presStyleLbl="fgAcc1" presStyleIdx="0" presStyleCnt="3"/>
      <dgm:spPr/>
      <dgm:t>
        <a:bodyPr/>
        <a:lstStyle/>
        <a:p>
          <a:endParaRPr lang="en-US"/>
        </a:p>
      </dgm:t>
    </dgm:pt>
    <dgm:pt modelId="{E65D9CC3-9582-496C-9CEF-E4AE433C9260}" type="pres">
      <dgm:prSet presAssocID="{32F0F454-A9E7-47F9-ADF2-020F37E6AB10}" presName="Parent3" presStyleLbl="revTx" presStyleIdx="0" presStyleCnt="0">
        <dgm:presLayoutVars>
          <dgm:chMax val="1"/>
          <dgm:chPref val="1"/>
          <dgm:bulletEnabled val="1"/>
        </dgm:presLayoutVars>
      </dgm:prSet>
      <dgm:spPr/>
      <dgm:t>
        <a:bodyPr/>
        <a:lstStyle/>
        <a:p>
          <a:endParaRPr lang="en-US"/>
        </a:p>
      </dgm:t>
    </dgm:pt>
    <dgm:pt modelId="{BFE1FBE1-8CB4-458B-9F95-257C03C144DB}" type="pres">
      <dgm:prSet presAssocID="{A5AFC7F1-8BB0-41D1-813B-609A60DF9870}" presName="Accent2" presStyleCnt="0"/>
      <dgm:spPr/>
    </dgm:pt>
    <dgm:pt modelId="{B02380DE-4CE9-4460-8F8C-15A6CB7E7965}" type="pres">
      <dgm:prSet presAssocID="{A5AFC7F1-8BB0-41D1-813B-609A60DF9870}" presName="Accent" presStyleLbl="node1" presStyleIdx="1" presStyleCnt="3"/>
      <dgm:spPr/>
    </dgm:pt>
    <dgm:pt modelId="{2BCFDE1B-B047-4BF7-9413-A761FD45C90A}" type="pres">
      <dgm:prSet presAssocID="{A5AFC7F1-8BB0-41D1-813B-609A60DF9870}" presName="ParentBackground2" presStyleCnt="0"/>
      <dgm:spPr/>
    </dgm:pt>
    <dgm:pt modelId="{95594674-E10A-4B60-BC2F-E726A27985C0}" type="pres">
      <dgm:prSet presAssocID="{A5AFC7F1-8BB0-41D1-813B-609A60DF9870}" presName="ParentBackground" presStyleLbl="fgAcc1" presStyleIdx="1" presStyleCnt="3" custScaleY="92888"/>
      <dgm:spPr/>
      <dgm:t>
        <a:bodyPr/>
        <a:lstStyle/>
        <a:p>
          <a:endParaRPr lang="en-US"/>
        </a:p>
      </dgm:t>
    </dgm:pt>
    <dgm:pt modelId="{DFAC4CE7-6163-4ADD-8E46-AAAC323228CD}" type="pres">
      <dgm:prSet presAssocID="{A5AFC7F1-8BB0-41D1-813B-609A60DF9870}" presName="Parent2" presStyleLbl="revTx" presStyleIdx="0" presStyleCnt="0">
        <dgm:presLayoutVars>
          <dgm:chMax val="1"/>
          <dgm:chPref val="1"/>
          <dgm:bulletEnabled val="1"/>
        </dgm:presLayoutVars>
      </dgm:prSet>
      <dgm:spPr/>
      <dgm:t>
        <a:bodyPr/>
        <a:lstStyle/>
        <a:p>
          <a:endParaRPr lang="en-US"/>
        </a:p>
      </dgm:t>
    </dgm:pt>
    <dgm:pt modelId="{4660DA35-E530-41CB-A460-9000012137F2}" type="pres">
      <dgm:prSet presAssocID="{3555F372-BF6E-4D70-B96A-A8F57E387DC4}" presName="Accent1" presStyleCnt="0"/>
      <dgm:spPr/>
    </dgm:pt>
    <dgm:pt modelId="{43A0729A-F7C9-46FB-8D04-78EEA5B211FD}" type="pres">
      <dgm:prSet presAssocID="{3555F372-BF6E-4D70-B96A-A8F57E387DC4}" presName="Accent" presStyleLbl="node1" presStyleIdx="2" presStyleCnt="3"/>
      <dgm:spPr/>
    </dgm:pt>
    <dgm:pt modelId="{9E5F23F8-51EE-4859-BD1B-D0854AD1932D}" type="pres">
      <dgm:prSet presAssocID="{3555F372-BF6E-4D70-B96A-A8F57E387DC4}" presName="ParentBackground1" presStyleCnt="0"/>
      <dgm:spPr/>
    </dgm:pt>
    <dgm:pt modelId="{A05D114E-871A-4376-B994-98D65EF3728E}" type="pres">
      <dgm:prSet presAssocID="{3555F372-BF6E-4D70-B96A-A8F57E387DC4}" presName="ParentBackground" presStyleLbl="fgAcc1" presStyleIdx="2" presStyleCnt="3" custScaleY="102942"/>
      <dgm:spPr/>
      <dgm:t>
        <a:bodyPr/>
        <a:lstStyle/>
        <a:p>
          <a:endParaRPr lang="en-US"/>
        </a:p>
      </dgm:t>
    </dgm:pt>
    <dgm:pt modelId="{8CDF23CA-F556-4780-BA48-E1E105101521}" type="pres">
      <dgm:prSet presAssocID="{3555F372-BF6E-4D70-B96A-A8F57E387DC4}" presName="Parent1" presStyleLbl="revTx" presStyleIdx="0" presStyleCnt="0">
        <dgm:presLayoutVars>
          <dgm:chMax val="1"/>
          <dgm:chPref val="1"/>
          <dgm:bulletEnabled val="1"/>
        </dgm:presLayoutVars>
      </dgm:prSet>
      <dgm:spPr/>
      <dgm:t>
        <a:bodyPr/>
        <a:lstStyle/>
        <a:p>
          <a:endParaRPr lang="en-US"/>
        </a:p>
      </dgm:t>
    </dgm:pt>
  </dgm:ptLst>
  <dgm:cxnLst>
    <dgm:cxn modelId="{4F0D5F40-2107-43CD-A27E-F11BF9BA9FFD}" type="presOf" srcId="{3555F372-BF6E-4D70-B96A-A8F57E387DC4}" destId="{A05D114E-871A-4376-B994-98D65EF3728E}" srcOrd="0" destOrd="0" presId="urn:microsoft.com/office/officeart/2011/layout/CircleProcess"/>
    <dgm:cxn modelId="{AA4A4764-77CC-429F-A592-0C07959A97B5}" type="presOf" srcId="{3555F372-BF6E-4D70-B96A-A8F57E387DC4}" destId="{8CDF23CA-F556-4780-BA48-E1E105101521}" srcOrd="1" destOrd="0" presId="urn:microsoft.com/office/officeart/2011/layout/CircleProcess"/>
    <dgm:cxn modelId="{50DE5F19-330B-44AD-B90B-370A4C508322}" type="presOf" srcId="{A5AFC7F1-8BB0-41D1-813B-609A60DF9870}" destId="{95594674-E10A-4B60-BC2F-E726A27985C0}" srcOrd="0" destOrd="0" presId="urn:microsoft.com/office/officeart/2011/layout/CircleProcess"/>
    <dgm:cxn modelId="{9368DE8C-0351-4ACE-964E-3C5D2BE227C0}" srcId="{8D1C9E00-C35F-4852-81DC-62A20454CD52}" destId="{32F0F454-A9E7-47F9-ADF2-020F37E6AB10}" srcOrd="2" destOrd="0" parTransId="{B409CC0C-A15A-4786-9FE9-8EBE4D57E1AB}" sibTransId="{243E4063-E6E3-4D9A-89F4-C3F0C1DF317A}"/>
    <dgm:cxn modelId="{10586304-CBB1-4BF7-84A6-F2C221922783}" type="presOf" srcId="{8D1C9E00-C35F-4852-81DC-62A20454CD52}" destId="{FC56AE59-F05F-4DFA-868E-1E818951EE13}" srcOrd="0" destOrd="0" presId="urn:microsoft.com/office/officeart/2011/layout/CircleProcess"/>
    <dgm:cxn modelId="{A72D103D-5B1D-47E8-AA83-427D561C0341}" srcId="{8D1C9E00-C35F-4852-81DC-62A20454CD52}" destId="{3555F372-BF6E-4D70-B96A-A8F57E387DC4}" srcOrd="0" destOrd="0" parTransId="{87CF7B05-C9EF-4245-8587-08783C85F0D4}" sibTransId="{60E1D986-97C4-48A2-9E05-F970597D8BA9}"/>
    <dgm:cxn modelId="{570DA84F-A6C9-40D7-96D2-61377F5627B4}" type="presOf" srcId="{32F0F454-A9E7-47F9-ADF2-020F37E6AB10}" destId="{E65D9CC3-9582-496C-9CEF-E4AE433C9260}" srcOrd="1" destOrd="0" presId="urn:microsoft.com/office/officeart/2011/layout/CircleProcess"/>
    <dgm:cxn modelId="{A0A4404C-3C74-4309-86F6-BD52FDB447E3}" type="presOf" srcId="{32F0F454-A9E7-47F9-ADF2-020F37E6AB10}" destId="{DFF276AB-0E9C-4A75-8E80-44B45C89AEF1}" srcOrd="0" destOrd="0" presId="urn:microsoft.com/office/officeart/2011/layout/CircleProcess"/>
    <dgm:cxn modelId="{C5BCE058-81D0-409F-8262-237B13CB9B61}" srcId="{8D1C9E00-C35F-4852-81DC-62A20454CD52}" destId="{A5AFC7F1-8BB0-41D1-813B-609A60DF9870}" srcOrd="1" destOrd="0" parTransId="{F7C134EE-B2C0-4130-BA90-CDA40B415D71}" sibTransId="{FBD71D7E-440B-4C5E-A033-32AEEFCA543C}"/>
    <dgm:cxn modelId="{FCFF32B2-EF38-4977-A736-DA593B19C9B9}" type="presOf" srcId="{A5AFC7F1-8BB0-41D1-813B-609A60DF9870}" destId="{DFAC4CE7-6163-4ADD-8E46-AAAC323228CD}" srcOrd="1" destOrd="0" presId="urn:microsoft.com/office/officeart/2011/layout/CircleProcess"/>
    <dgm:cxn modelId="{8EF55D34-1D62-491F-B279-A82E609A82DC}" type="presParOf" srcId="{FC56AE59-F05F-4DFA-868E-1E818951EE13}" destId="{04611AD7-A462-4510-B31D-C599A09DE233}" srcOrd="0" destOrd="0" presId="urn:microsoft.com/office/officeart/2011/layout/CircleProcess"/>
    <dgm:cxn modelId="{937DCAE4-BD67-4075-9108-A4BFB11FE309}" type="presParOf" srcId="{04611AD7-A462-4510-B31D-C599A09DE233}" destId="{7C38AA5F-F769-44EF-9CFA-F6779E15FC15}" srcOrd="0" destOrd="0" presId="urn:microsoft.com/office/officeart/2011/layout/CircleProcess"/>
    <dgm:cxn modelId="{084B3566-BE09-4DD9-B7A1-7DA19A40A149}" type="presParOf" srcId="{FC56AE59-F05F-4DFA-868E-1E818951EE13}" destId="{993AEA66-0DF6-4910-B7BC-94680B75D3D4}" srcOrd="1" destOrd="0" presId="urn:microsoft.com/office/officeart/2011/layout/CircleProcess"/>
    <dgm:cxn modelId="{627295D4-482F-4E6E-909D-4852DBF841F8}" type="presParOf" srcId="{993AEA66-0DF6-4910-B7BC-94680B75D3D4}" destId="{DFF276AB-0E9C-4A75-8E80-44B45C89AEF1}" srcOrd="0" destOrd="0" presId="urn:microsoft.com/office/officeart/2011/layout/CircleProcess"/>
    <dgm:cxn modelId="{EC083BEE-C5FD-49FA-B8EF-833DBA1C09CD}" type="presParOf" srcId="{FC56AE59-F05F-4DFA-868E-1E818951EE13}" destId="{E65D9CC3-9582-496C-9CEF-E4AE433C9260}" srcOrd="2" destOrd="0" presId="urn:microsoft.com/office/officeart/2011/layout/CircleProcess"/>
    <dgm:cxn modelId="{AEAE2169-AF2A-4FDE-A1AF-15A738A6C028}" type="presParOf" srcId="{FC56AE59-F05F-4DFA-868E-1E818951EE13}" destId="{BFE1FBE1-8CB4-458B-9F95-257C03C144DB}" srcOrd="3" destOrd="0" presId="urn:microsoft.com/office/officeart/2011/layout/CircleProcess"/>
    <dgm:cxn modelId="{23F188F3-EF76-4B49-AB75-4E880D256300}" type="presParOf" srcId="{BFE1FBE1-8CB4-458B-9F95-257C03C144DB}" destId="{B02380DE-4CE9-4460-8F8C-15A6CB7E7965}" srcOrd="0" destOrd="0" presId="urn:microsoft.com/office/officeart/2011/layout/CircleProcess"/>
    <dgm:cxn modelId="{1D4F887E-26A0-4866-9E15-C960771E1F9E}" type="presParOf" srcId="{FC56AE59-F05F-4DFA-868E-1E818951EE13}" destId="{2BCFDE1B-B047-4BF7-9413-A761FD45C90A}" srcOrd="4" destOrd="0" presId="urn:microsoft.com/office/officeart/2011/layout/CircleProcess"/>
    <dgm:cxn modelId="{291E4FBC-3354-4A2C-B500-F9850739EB72}" type="presParOf" srcId="{2BCFDE1B-B047-4BF7-9413-A761FD45C90A}" destId="{95594674-E10A-4B60-BC2F-E726A27985C0}" srcOrd="0" destOrd="0" presId="urn:microsoft.com/office/officeart/2011/layout/CircleProcess"/>
    <dgm:cxn modelId="{013724F3-62F5-4442-91BF-436ADB6D690E}" type="presParOf" srcId="{FC56AE59-F05F-4DFA-868E-1E818951EE13}" destId="{DFAC4CE7-6163-4ADD-8E46-AAAC323228CD}" srcOrd="5" destOrd="0" presId="urn:microsoft.com/office/officeart/2011/layout/CircleProcess"/>
    <dgm:cxn modelId="{56A24A42-6E19-44FE-8DA4-B4E7F6C8CB95}" type="presParOf" srcId="{FC56AE59-F05F-4DFA-868E-1E818951EE13}" destId="{4660DA35-E530-41CB-A460-9000012137F2}" srcOrd="6" destOrd="0" presId="urn:microsoft.com/office/officeart/2011/layout/CircleProcess"/>
    <dgm:cxn modelId="{4C1BA67E-0792-4DAB-BCEF-A9532EFF8992}" type="presParOf" srcId="{4660DA35-E530-41CB-A460-9000012137F2}" destId="{43A0729A-F7C9-46FB-8D04-78EEA5B211FD}" srcOrd="0" destOrd="0" presId="urn:microsoft.com/office/officeart/2011/layout/CircleProcess"/>
    <dgm:cxn modelId="{C7F44D14-154B-49A3-B449-5D83A54B01F6}" type="presParOf" srcId="{FC56AE59-F05F-4DFA-868E-1E818951EE13}" destId="{9E5F23F8-51EE-4859-BD1B-D0854AD1932D}" srcOrd="7" destOrd="0" presId="urn:microsoft.com/office/officeart/2011/layout/CircleProcess"/>
    <dgm:cxn modelId="{A7A3B48A-519E-4DE2-80A7-CE1A7ED59FED}" type="presParOf" srcId="{9E5F23F8-51EE-4859-BD1B-D0854AD1932D}" destId="{A05D114E-871A-4376-B994-98D65EF3728E}" srcOrd="0" destOrd="0" presId="urn:microsoft.com/office/officeart/2011/layout/CircleProcess"/>
    <dgm:cxn modelId="{06273205-4201-4430-B1DB-A127D9C53044}" type="presParOf" srcId="{FC56AE59-F05F-4DFA-868E-1E818951EE13}" destId="{8CDF23CA-F556-4780-BA48-E1E105101521}" srcOrd="8" destOrd="0" presId="urn:microsoft.com/office/officeart/2011/layout/CircleProcess"/>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5DE1F7-6372-42D8-ADEB-05FC339B48A4}" type="doc">
      <dgm:prSet loTypeId="urn:microsoft.com/office/officeart/2005/8/layout/pyramid2" loCatId="list" qsTypeId="urn:microsoft.com/office/officeart/2005/8/quickstyle/simple1" qsCatId="simple" csTypeId="urn:microsoft.com/office/officeart/2005/8/colors/colorful1#2" csCatId="colorful" phldr="1"/>
      <dgm:spPr/>
    </dgm:pt>
    <dgm:pt modelId="{0C913B6E-D4BE-46E1-BC23-497C173D6DF9}">
      <dgm:prSet phldrT="[Text]" custT="1"/>
      <dgm:spPr/>
      <dgm:t>
        <a:bodyPr/>
        <a:lstStyle/>
        <a:p>
          <a:pPr algn="ctr">
            <a:buFont typeface="Symbol" panose="05050102010706020507" pitchFamily="18" charset="2"/>
            <a:buChar char=""/>
          </a:pPr>
          <a:endParaRPr lang="en-US" sz="2000" dirty="0">
            <a:latin typeface="Casper"/>
          </a:endParaRPr>
        </a:p>
        <a:p>
          <a:pPr algn="just">
            <a:buFont typeface="Symbol" panose="05050102010706020507" pitchFamily="18" charset="2"/>
            <a:buChar char=""/>
          </a:pPr>
          <a:r>
            <a:rPr lang="en-US" sz="2000" dirty="0">
              <a:latin typeface="Casper"/>
            </a:rPr>
            <a:t>Students will have clear view about how formation of solids take place</a:t>
          </a:r>
        </a:p>
        <a:p>
          <a:pPr algn="ctr">
            <a:buFont typeface="Symbol" panose="05050102010706020507" pitchFamily="18" charset="2"/>
            <a:buChar char=""/>
          </a:pPr>
          <a:endParaRPr lang="en-US" sz="1500" dirty="0"/>
        </a:p>
      </dgm:t>
    </dgm:pt>
    <dgm:pt modelId="{E806790F-A414-4D27-8181-C6CA061DB7D5}" type="parTrans" cxnId="{7251879B-73F3-4C92-9C8E-2394D3D36025}">
      <dgm:prSet/>
      <dgm:spPr/>
      <dgm:t>
        <a:bodyPr/>
        <a:lstStyle/>
        <a:p>
          <a:endParaRPr lang="en-US"/>
        </a:p>
      </dgm:t>
    </dgm:pt>
    <dgm:pt modelId="{7EF95083-4BDE-4B28-A42C-DB3F792DD7FD}" type="sibTrans" cxnId="{7251879B-73F3-4C92-9C8E-2394D3D36025}">
      <dgm:prSet/>
      <dgm:spPr/>
      <dgm:t>
        <a:bodyPr/>
        <a:lstStyle/>
        <a:p>
          <a:endParaRPr lang="en-US"/>
        </a:p>
      </dgm:t>
    </dgm:pt>
    <dgm:pt modelId="{318076E3-5605-41F8-97E1-715359DB166D}">
      <dgm:prSet custT="1"/>
      <dgm:spPr/>
      <dgm:t>
        <a:bodyPr/>
        <a:lstStyle/>
        <a:p>
          <a:pPr algn="just">
            <a:buFont typeface="Symbol" panose="05050102010706020507" pitchFamily="18" charset="2"/>
            <a:buChar char=""/>
          </a:pPr>
          <a:r>
            <a:rPr lang="en-US" sz="2000" dirty="0">
              <a:latin typeface="Casper"/>
            </a:rPr>
            <a:t>Students will learn about different type of semiconductor based upon E-k Diagram.</a:t>
          </a:r>
        </a:p>
      </dgm:t>
    </dgm:pt>
    <dgm:pt modelId="{E42D2AE8-10DC-4385-83D8-333947594DAB}" type="parTrans" cxnId="{301C7616-2A5A-4066-904B-2B4CF8D6951A}">
      <dgm:prSet/>
      <dgm:spPr/>
      <dgm:t>
        <a:bodyPr/>
        <a:lstStyle/>
        <a:p>
          <a:endParaRPr lang="en-US"/>
        </a:p>
      </dgm:t>
    </dgm:pt>
    <dgm:pt modelId="{3D6E9AE3-6EA1-4153-9ECD-8618E1F81EC7}" type="sibTrans" cxnId="{301C7616-2A5A-4066-904B-2B4CF8D6951A}">
      <dgm:prSet/>
      <dgm:spPr/>
      <dgm:t>
        <a:bodyPr/>
        <a:lstStyle/>
        <a:p>
          <a:endParaRPr lang="en-US"/>
        </a:p>
      </dgm:t>
    </dgm:pt>
    <dgm:pt modelId="{1B255DBA-F25F-4DB1-9B4C-CFD2DBF3168A}">
      <dgm:prSet custT="1"/>
      <dgm:spPr/>
      <dgm:t>
        <a:bodyPr/>
        <a:lstStyle/>
        <a:p>
          <a:pPr algn="just">
            <a:buFont typeface="Symbol" panose="05050102010706020507" pitchFamily="18" charset="2"/>
            <a:buChar char=""/>
          </a:pPr>
          <a:r>
            <a:rPr lang="en-US" sz="2000" dirty="0">
              <a:latin typeface="Casper" panose="02000506000000020004"/>
            </a:rPr>
            <a:t>Students will learn about Fermi distribution function.</a:t>
          </a:r>
        </a:p>
      </dgm:t>
    </dgm:pt>
    <dgm:pt modelId="{1A803E5C-6C0E-4900-8A80-E0E8C995C644}" type="parTrans" cxnId="{E2E8BBF1-74DC-432D-B06F-FA613E81EEF0}">
      <dgm:prSet/>
      <dgm:spPr/>
      <dgm:t>
        <a:bodyPr/>
        <a:lstStyle/>
        <a:p>
          <a:endParaRPr lang="en-US"/>
        </a:p>
      </dgm:t>
    </dgm:pt>
    <dgm:pt modelId="{2C988676-181B-4AC4-8644-90E8A29F8B31}" type="sibTrans" cxnId="{E2E8BBF1-74DC-432D-B06F-FA613E81EEF0}">
      <dgm:prSet/>
      <dgm:spPr/>
      <dgm:t>
        <a:bodyPr/>
        <a:lstStyle/>
        <a:p>
          <a:endParaRPr lang="en-US"/>
        </a:p>
      </dgm:t>
    </dgm:pt>
    <dgm:pt modelId="{EEB9D956-DC3A-49E4-A434-119453E2EE40}">
      <dgm:prSet custT="1"/>
      <dgm:spPr/>
      <dgm:t>
        <a:bodyPr/>
        <a:lstStyle/>
        <a:p>
          <a:pPr algn="just"/>
          <a:r>
            <a:rPr lang="en-US" sz="2000" dirty="0">
              <a:latin typeface="Casper" panose="02000506000000020004"/>
            </a:rPr>
            <a:t>Students will learn the difference between metals, semiconductors and insulator.</a:t>
          </a:r>
        </a:p>
      </dgm:t>
    </dgm:pt>
    <dgm:pt modelId="{5B335B66-9C6B-455E-8469-0CC04D52AA77}" type="parTrans" cxnId="{D6EDBC02-38E3-46BF-905D-D1687EC2FFE2}">
      <dgm:prSet/>
      <dgm:spPr/>
      <dgm:t>
        <a:bodyPr/>
        <a:lstStyle/>
        <a:p>
          <a:endParaRPr lang="en-US"/>
        </a:p>
      </dgm:t>
    </dgm:pt>
    <dgm:pt modelId="{B8AA2C90-570A-47C4-8AED-72C00BF77109}" type="sibTrans" cxnId="{D6EDBC02-38E3-46BF-905D-D1687EC2FFE2}">
      <dgm:prSet/>
      <dgm:spPr/>
      <dgm:t>
        <a:bodyPr/>
        <a:lstStyle/>
        <a:p>
          <a:endParaRPr lang="en-US"/>
        </a:p>
      </dgm:t>
    </dgm:pt>
    <dgm:pt modelId="{8F13D8AC-EF62-4756-951A-7E8688D32FED}" type="pres">
      <dgm:prSet presAssocID="{EF5DE1F7-6372-42D8-ADEB-05FC339B48A4}" presName="compositeShape" presStyleCnt="0">
        <dgm:presLayoutVars>
          <dgm:dir/>
          <dgm:resizeHandles/>
        </dgm:presLayoutVars>
      </dgm:prSet>
      <dgm:spPr/>
    </dgm:pt>
    <dgm:pt modelId="{F2905BD3-D0EB-42D7-B973-C2EBC32320A3}" type="pres">
      <dgm:prSet presAssocID="{EF5DE1F7-6372-42D8-ADEB-05FC339B48A4}" presName="pyramid" presStyleLbl="node1" presStyleIdx="0" presStyleCnt="1"/>
      <dgm:spPr/>
    </dgm:pt>
    <dgm:pt modelId="{5305BF7B-7ADA-4B1C-B0E6-FAF2946CA89B}" type="pres">
      <dgm:prSet presAssocID="{EF5DE1F7-6372-42D8-ADEB-05FC339B48A4}" presName="theList" presStyleCnt="0"/>
      <dgm:spPr/>
    </dgm:pt>
    <dgm:pt modelId="{24A31D15-3493-4683-AF0F-F6B3442ECE70}" type="pres">
      <dgm:prSet presAssocID="{0C913B6E-D4BE-46E1-BC23-497C173D6DF9}" presName="aNode" presStyleLbl="fgAcc1" presStyleIdx="0" presStyleCnt="4" custScaleX="107952">
        <dgm:presLayoutVars>
          <dgm:bulletEnabled val="1"/>
        </dgm:presLayoutVars>
      </dgm:prSet>
      <dgm:spPr/>
      <dgm:t>
        <a:bodyPr/>
        <a:lstStyle/>
        <a:p>
          <a:endParaRPr lang="en-US"/>
        </a:p>
      </dgm:t>
    </dgm:pt>
    <dgm:pt modelId="{69641BB5-8D6C-4897-AD31-961326D54737}" type="pres">
      <dgm:prSet presAssocID="{0C913B6E-D4BE-46E1-BC23-497C173D6DF9}" presName="aSpace" presStyleCnt="0"/>
      <dgm:spPr/>
    </dgm:pt>
    <dgm:pt modelId="{551901D9-FA20-47A7-83BF-2DEB2276DFD3}" type="pres">
      <dgm:prSet presAssocID="{EEB9D956-DC3A-49E4-A434-119453E2EE40}" presName="aNode" presStyleLbl="fgAcc1" presStyleIdx="1" presStyleCnt="4" custScaleX="118179">
        <dgm:presLayoutVars>
          <dgm:bulletEnabled val="1"/>
        </dgm:presLayoutVars>
      </dgm:prSet>
      <dgm:spPr/>
      <dgm:t>
        <a:bodyPr/>
        <a:lstStyle/>
        <a:p>
          <a:endParaRPr lang="en-US"/>
        </a:p>
      </dgm:t>
    </dgm:pt>
    <dgm:pt modelId="{4A598444-63C5-4FB4-9406-064A8C42DE7E}" type="pres">
      <dgm:prSet presAssocID="{EEB9D956-DC3A-49E4-A434-119453E2EE40}" presName="aSpace" presStyleCnt="0"/>
      <dgm:spPr/>
    </dgm:pt>
    <dgm:pt modelId="{75AE4FB8-3AF8-4CB1-ACE4-1024A8DAD83F}" type="pres">
      <dgm:prSet presAssocID="{318076E3-5605-41F8-97E1-715359DB166D}" presName="aNode" presStyleLbl="fgAcc1" presStyleIdx="2" presStyleCnt="4" custScaleX="126000">
        <dgm:presLayoutVars>
          <dgm:bulletEnabled val="1"/>
        </dgm:presLayoutVars>
      </dgm:prSet>
      <dgm:spPr/>
      <dgm:t>
        <a:bodyPr/>
        <a:lstStyle/>
        <a:p>
          <a:endParaRPr lang="en-US"/>
        </a:p>
      </dgm:t>
    </dgm:pt>
    <dgm:pt modelId="{00BEF73C-885F-4011-9AB5-CF1F11168734}" type="pres">
      <dgm:prSet presAssocID="{318076E3-5605-41F8-97E1-715359DB166D}" presName="aSpace" presStyleCnt="0"/>
      <dgm:spPr/>
    </dgm:pt>
    <dgm:pt modelId="{634B4FE8-DE6D-4D26-B5D9-EEF357E50C37}" type="pres">
      <dgm:prSet presAssocID="{1B255DBA-F25F-4DB1-9B4C-CFD2DBF3168A}" presName="aNode" presStyleLbl="fgAcc1" presStyleIdx="3" presStyleCnt="4" custScaleX="137926">
        <dgm:presLayoutVars>
          <dgm:bulletEnabled val="1"/>
        </dgm:presLayoutVars>
      </dgm:prSet>
      <dgm:spPr/>
      <dgm:t>
        <a:bodyPr/>
        <a:lstStyle/>
        <a:p>
          <a:endParaRPr lang="en-US"/>
        </a:p>
      </dgm:t>
    </dgm:pt>
    <dgm:pt modelId="{0CFA323B-D708-4B0B-B39A-0701E8EEC2AF}" type="pres">
      <dgm:prSet presAssocID="{1B255DBA-F25F-4DB1-9B4C-CFD2DBF3168A}" presName="aSpace" presStyleCnt="0"/>
      <dgm:spPr/>
    </dgm:pt>
  </dgm:ptLst>
  <dgm:cxnLst>
    <dgm:cxn modelId="{FF6D02FA-A299-4CAE-8CF9-C3C8AF2EFC2D}" type="presOf" srcId="{0C913B6E-D4BE-46E1-BC23-497C173D6DF9}" destId="{24A31D15-3493-4683-AF0F-F6B3442ECE70}" srcOrd="0" destOrd="0" presId="urn:microsoft.com/office/officeart/2005/8/layout/pyramid2"/>
    <dgm:cxn modelId="{E0C0886C-DE38-46B3-8BA4-C8081C022A01}" type="presOf" srcId="{1B255DBA-F25F-4DB1-9B4C-CFD2DBF3168A}" destId="{634B4FE8-DE6D-4D26-B5D9-EEF357E50C37}" srcOrd="0" destOrd="0" presId="urn:microsoft.com/office/officeart/2005/8/layout/pyramid2"/>
    <dgm:cxn modelId="{D6EDBC02-38E3-46BF-905D-D1687EC2FFE2}" srcId="{EF5DE1F7-6372-42D8-ADEB-05FC339B48A4}" destId="{EEB9D956-DC3A-49E4-A434-119453E2EE40}" srcOrd="1" destOrd="0" parTransId="{5B335B66-9C6B-455E-8469-0CC04D52AA77}" sibTransId="{B8AA2C90-570A-47C4-8AED-72C00BF77109}"/>
    <dgm:cxn modelId="{E17512AA-354D-4B1F-BEE1-3A733912839D}" type="presOf" srcId="{EEB9D956-DC3A-49E4-A434-119453E2EE40}" destId="{551901D9-FA20-47A7-83BF-2DEB2276DFD3}" srcOrd="0" destOrd="0" presId="urn:microsoft.com/office/officeart/2005/8/layout/pyramid2"/>
    <dgm:cxn modelId="{301C7616-2A5A-4066-904B-2B4CF8D6951A}" srcId="{EF5DE1F7-6372-42D8-ADEB-05FC339B48A4}" destId="{318076E3-5605-41F8-97E1-715359DB166D}" srcOrd="2" destOrd="0" parTransId="{E42D2AE8-10DC-4385-83D8-333947594DAB}" sibTransId="{3D6E9AE3-6EA1-4153-9ECD-8618E1F81EC7}"/>
    <dgm:cxn modelId="{37224F3B-6B6B-4E52-BE24-F87F9120700C}" type="presOf" srcId="{EF5DE1F7-6372-42D8-ADEB-05FC339B48A4}" destId="{8F13D8AC-EF62-4756-951A-7E8688D32FED}" srcOrd="0" destOrd="0" presId="urn:microsoft.com/office/officeart/2005/8/layout/pyramid2"/>
    <dgm:cxn modelId="{7EA4AF72-37DE-413D-AC04-E58263E16C62}" type="presOf" srcId="{318076E3-5605-41F8-97E1-715359DB166D}" destId="{75AE4FB8-3AF8-4CB1-ACE4-1024A8DAD83F}" srcOrd="0" destOrd="0" presId="urn:microsoft.com/office/officeart/2005/8/layout/pyramid2"/>
    <dgm:cxn modelId="{7251879B-73F3-4C92-9C8E-2394D3D36025}" srcId="{EF5DE1F7-6372-42D8-ADEB-05FC339B48A4}" destId="{0C913B6E-D4BE-46E1-BC23-497C173D6DF9}" srcOrd="0" destOrd="0" parTransId="{E806790F-A414-4D27-8181-C6CA061DB7D5}" sibTransId="{7EF95083-4BDE-4B28-A42C-DB3F792DD7FD}"/>
    <dgm:cxn modelId="{E2E8BBF1-74DC-432D-B06F-FA613E81EEF0}" srcId="{EF5DE1F7-6372-42D8-ADEB-05FC339B48A4}" destId="{1B255DBA-F25F-4DB1-9B4C-CFD2DBF3168A}" srcOrd="3" destOrd="0" parTransId="{1A803E5C-6C0E-4900-8A80-E0E8C995C644}" sibTransId="{2C988676-181B-4AC4-8644-90E8A29F8B31}"/>
    <dgm:cxn modelId="{52E9CE06-1185-4DF0-8187-6F4DDF59A8D5}" type="presParOf" srcId="{8F13D8AC-EF62-4756-951A-7E8688D32FED}" destId="{F2905BD3-D0EB-42D7-B973-C2EBC32320A3}" srcOrd="0" destOrd="0" presId="urn:microsoft.com/office/officeart/2005/8/layout/pyramid2"/>
    <dgm:cxn modelId="{FF3CC201-FB8D-4B8E-9DA1-F512E5003F1D}" type="presParOf" srcId="{8F13D8AC-EF62-4756-951A-7E8688D32FED}" destId="{5305BF7B-7ADA-4B1C-B0E6-FAF2946CA89B}" srcOrd="1" destOrd="0" presId="urn:microsoft.com/office/officeart/2005/8/layout/pyramid2"/>
    <dgm:cxn modelId="{1BC39B1C-ED84-42CA-A27A-DC3A46EE59BC}" type="presParOf" srcId="{5305BF7B-7ADA-4B1C-B0E6-FAF2946CA89B}" destId="{24A31D15-3493-4683-AF0F-F6B3442ECE70}" srcOrd="0" destOrd="0" presId="urn:microsoft.com/office/officeart/2005/8/layout/pyramid2"/>
    <dgm:cxn modelId="{2DA656BC-EC81-4DDE-B7F5-3C7F504949C7}" type="presParOf" srcId="{5305BF7B-7ADA-4B1C-B0E6-FAF2946CA89B}" destId="{69641BB5-8D6C-4897-AD31-961326D54737}" srcOrd="1" destOrd="0" presId="urn:microsoft.com/office/officeart/2005/8/layout/pyramid2"/>
    <dgm:cxn modelId="{397F5BE6-7DF8-49FA-9748-A65B386AFA5C}" type="presParOf" srcId="{5305BF7B-7ADA-4B1C-B0E6-FAF2946CA89B}" destId="{551901D9-FA20-47A7-83BF-2DEB2276DFD3}" srcOrd="2" destOrd="0" presId="urn:microsoft.com/office/officeart/2005/8/layout/pyramid2"/>
    <dgm:cxn modelId="{5C895D23-8F55-426B-8BEF-C8444C688586}" type="presParOf" srcId="{5305BF7B-7ADA-4B1C-B0E6-FAF2946CA89B}" destId="{4A598444-63C5-4FB4-9406-064A8C42DE7E}" srcOrd="3" destOrd="0" presId="urn:microsoft.com/office/officeart/2005/8/layout/pyramid2"/>
    <dgm:cxn modelId="{75D80926-7284-4DF8-9A30-D269D90A49F9}" type="presParOf" srcId="{5305BF7B-7ADA-4B1C-B0E6-FAF2946CA89B}" destId="{75AE4FB8-3AF8-4CB1-ACE4-1024A8DAD83F}" srcOrd="4" destOrd="0" presId="urn:microsoft.com/office/officeart/2005/8/layout/pyramid2"/>
    <dgm:cxn modelId="{FCE966E8-69F4-4CA3-BB8F-CDD884687CF2}" type="presParOf" srcId="{5305BF7B-7ADA-4B1C-B0E6-FAF2946CA89B}" destId="{00BEF73C-885F-4011-9AB5-CF1F11168734}" srcOrd="5" destOrd="0" presId="urn:microsoft.com/office/officeart/2005/8/layout/pyramid2"/>
    <dgm:cxn modelId="{F8A793CC-B2F6-4264-B12C-D6BF66A60C6C}" type="presParOf" srcId="{5305BF7B-7ADA-4B1C-B0E6-FAF2946CA89B}" destId="{634B4FE8-DE6D-4D26-B5D9-EEF357E50C37}" srcOrd="6" destOrd="0" presId="urn:microsoft.com/office/officeart/2005/8/layout/pyramid2"/>
    <dgm:cxn modelId="{0AE9FB70-9C60-4309-973E-AD9AC54C029A}" type="presParOf" srcId="{5305BF7B-7ADA-4B1C-B0E6-FAF2946CA89B}" destId="{0CFA323B-D708-4B0B-B39A-0701E8EEC2AF}" srcOrd="7" destOrd="0" presId="urn:microsoft.com/office/officeart/2005/8/layout/pyramid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6/18/2023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xmlns=""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xmlns=""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xmlns=""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6/18/2023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70909644"/>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227159557"/>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804378142"/>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xmlns=""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1.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3.nd.edu/~amoukasi/CBE30361/Lecture__crystallography_A.pdf" TargetMode="External"/><Relationship Id="rId2" Type="http://schemas.openxmlformats.org/officeDocument/2006/relationships/hyperlink" Target="https://ocw.mit.edu/courses/materials-science-and-engineering/3-091sc-introduction-to-solid-state-chemistry-fall-2010/amorphous-materials/21-introduction-to-glasses/" TargetMode="External"/><Relationship Id="rId1" Type="http://schemas.openxmlformats.org/officeDocument/2006/relationships/slideLayout" Target="../slideLayouts/slideLayout2.xml"/><Relationship Id="rId5" Type="http://schemas.openxmlformats.org/officeDocument/2006/relationships/hyperlink" Target="https://swayam.gov.in/nd1_noc20_mm17" TargetMode="External"/><Relationship Id="rId4" Type="http://schemas.openxmlformats.org/officeDocument/2006/relationships/hyperlink" Target="http://ctc.xmu.edu.cn/jiegou/ppt/chapter7.pdf"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www.teqipiitk.in/workshop/2016/xrd/ppt/Prof%20Rajesh/crystallography.pdf" TargetMode="External"/><Relationship Id="rId2" Type="http://schemas.openxmlformats.org/officeDocument/2006/relationships/hyperlink" Target="http://indico.ictp.it/event/a10148/session/22/contribution/16/material/0/0.pdf" TargetMode="External"/><Relationship Id="rId1" Type="http://schemas.openxmlformats.org/officeDocument/2006/relationships/slideLayout" Target="../slideLayouts/slideLayout2.xml"/><Relationship Id="rId5" Type="http://schemas.openxmlformats.org/officeDocument/2006/relationships/hyperlink" Target="http://alpha.science.unitn.it/~rx/Dakar_school/1_Fornasini_a_cryst.pdf" TargetMode="External"/><Relationship Id="rId4" Type="http://schemas.openxmlformats.org/officeDocument/2006/relationships/hyperlink" Target="http://users.encs.concordia.ca/~mmedraj/TMG-Library/books/Crystallography_and_the_World_of_Symmetry.pdf"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coursera.org/lecture/materials-science/crystallography-and-the-electron-microscope-YhPAB" TargetMode="External"/><Relationship Id="rId2" Type="http://schemas.openxmlformats.org/officeDocument/2006/relationships/hyperlink" Target="https://nptel.ac.in/courses/104/106/104106093/" TargetMode="External"/><Relationship Id="rId1" Type="http://schemas.openxmlformats.org/officeDocument/2006/relationships/slideLayout" Target="../slideLayouts/slideLayout2.xml"/><Relationship Id="rId6" Type="http://schemas.openxmlformats.org/officeDocument/2006/relationships/hyperlink" Target="https://www.youtube.com/watch?v=x3LOTaEVLak" TargetMode="External"/><Relationship Id="rId5" Type="http://schemas.openxmlformats.org/officeDocument/2006/relationships/hyperlink" Target="http://www.youtube.com/watch?v=zdmEaXnB-5Q" TargetMode="External"/><Relationship Id="rId4" Type="http://schemas.openxmlformats.org/officeDocument/2006/relationships/hyperlink" Target="http://www.youtube.com/watch?v=mwlWIfNvt1w"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www.elprocus.com/fermi-dirac-distribution-energy-band-diagram-and-boltzmann-approximation/" TargetMode="External"/><Relationship Id="rId3" Type="http://schemas.openxmlformats.org/officeDocument/2006/relationships/hyperlink" Target="https://physics.stackexchange.com/questions/150730/can-a-strained-diamond-actually-become-conductive" TargetMode="External"/><Relationship Id="rId7" Type="http://schemas.openxmlformats.org/officeDocument/2006/relationships/hyperlink" Target="https://physics.stackexchange.com/questions/275126/fermi-dirac-distribution-definition-and-meaning" TargetMode="External"/><Relationship Id="rId2" Type="http://schemas.openxmlformats.org/officeDocument/2006/relationships/hyperlink" Target="https://fortune.com/2020/06/30/america-tech-semiconductor-manufacturing-investment/" TargetMode="External"/><Relationship Id="rId1" Type="http://schemas.openxmlformats.org/officeDocument/2006/relationships/slideLayout" Target="../slideLayouts/slideLayout2.xml"/><Relationship Id="rId6" Type="http://schemas.openxmlformats.org/officeDocument/2006/relationships/hyperlink" Target="http://hyperphysics.phy-astr.gsu.edu/hbase/quantum/disfd.html" TargetMode="External"/><Relationship Id="rId5" Type="http://schemas.openxmlformats.org/officeDocument/2006/relationships/hyperlink" Target="http://edetec106.blogspot.com/2016/01/differentiate-between-direct-and.html" TargetMode="External"/><Relationship Id="rId4" Type="http://schemas.openxmlformats.org/officeDocument/2006/relationships/hyperlink" Target="https://en.wikipedia.org/wiki/Valence_and_conduction_bands" TargetMode="External"/><Relationship Id="rId9" Type="http://schemas.openxmlformats.org/officeDocument/2006/relationships/hyperlink" Target="http://hyperphysics.phy-astr.gsu.edu/hbase/Solids/Fermi.html" TargetMode="Externa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xmlns=""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xmlns="" id="{CAD0D7B8-E462-453C-B296-CA0154FA54AE}"/>
              </a:ext>
            </a:extLst>
          </p:cNvPr>
          <p:cNvGraphicFramePr>
            <a:graphicFrameLocks noChangeAspect="1"/>
          </p:cNvGraphicFramePr>
          <p:nvPr>
            <p:extLst>
              <p:ext uri="{D42A27DB-BD31-4B8C-83A1-F6EECF244321}">
                <p14:modId xmlns="" xmlns:p14="http://schemas.microsoft.com/office/powerpoint/2010/main" val="689304721"/>
              </p:ext>
            </p:extLst>
          </p:nvPr>
        </p:nvGraphicFramePr>
        <p:xfrm>
          <a:off x="494804" y="4023363"/>
          <a:ext cx="2631143" cy="2507676"/>
        </p:xfrm>
        <a:graphic>
          <a:graphicData uri="http://schemas.openxmlformats.org/presentationml/2006/ole">
            <p:oleObj spid="_x0000_s68610" name="CorelDRAW" r:id="rId4" imgW="2169000" imgH="2169360" progId="">
              <p:embed/>
            </p:oleObj>
          </a:graphicData>
        </a:graphic>
      </p:graphicFrame>
      <p:sp>
        <p:nvSpPr>
          <p:cNvPr id="37" name="Right Triangle 36">
            <a:extLst>
              <a:ext uri="{FF2B5EF4-FFF2-40B4-BE49-F238E27FC236}">
                <a16:creationId xmlns:a16="http://schemas.microsoft.com/office/drawing/2014/main" xmlns="" id="{0983CA01-DED8-4A8A-82CA-5B1BE1DADB0C}"/>
              </a:ext>
            </a:extLst>
          </p:cNvPr>
          <p:cNvSpPr/>
          <p:nvPr/>
        </p:nvSpPr>
        <p:spPr>
          <a:xfrm flipH="1">
            <a:off x="1795011" y="583969"/>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 xmlns:a14="http://schemas.microsoft.com/office/drawing/2010/main">
                  <a14:imgLayer r:embed="rId6">
                    <a14:imgEffect>
                      <a14:colorTemperature colorTemp="5742"/>
                    </a14:imgEffect>
                    <a14:imgEffect>
                      <a14:saturation sat="238000"/>
                    </a14:imgEffect>
                  </a14:imgLayer>
                </a14:imgProps>
              </a:ext>
              <a:ext uri="{28A0092B-C50C-407E-A947-70E740481C1C}">
                <a14:useLocalDpi xmlns=""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14846" y="1281237"/>
            <a:ext cx="9832638" cy="6032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UIE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UNIT-1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&amp;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Name Semi Conductor Physics</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23SPH-143</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Navjeet</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Kaur</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Lecture-1.1</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US" sz="2400" dirty="0" smtClean="0">
                <a:latin typeface="Times New Roman" pitchFamily="18" charset="0"/>
                <a:cs typeface="Times New Roman" pitchFamily="18" charset="0"/>
              </a:rPr>
              <a:t>Introduction to Semi Conductors and its Types</a:t>
            </a:r>
            <a:endParaRPr lang="en-US" sz="2400" b="1" dirty="0" smtClean="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 xmlns:p14="http://schemas.microsoft.com/office/powerpoint/2010/main"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xmlns="" val="2453015479"/>
              </p:ext>
            </p:extLst>
          </p:nvPr>
        </p:nvGraphicFramePr>
        <p:xfrm>
          <a:off x="293914" y="2226079"/>
          <a:ext cx="6547757" cy="4158391"/>
        </p:xfrm>
        <a:graphic>
          <a:graphicData uri="http://schemas.openxmlformats.org/drawingml/2006/table">
            <a:tbl>
              <a:tblPr firstRow="1" firstCol="1" bandRow="1"/>
              <a:tblGrid>
                <a:gridCol w="587829">
                  <a:extLst>
                    <a:ext uri="{9D8B030D-6E8A-4147-A177-3AD203B41FA5}">
                      <a16:colId xmlns:a16="http://schemas.microsoft.com/office/drawing/2014/main" xmlns="" val="20000"/>
                    </a:ext>
                  </a:extLst>
                </a:gridCol>
                <a:gridCol w="5959928">
                  <a:extLst>
                    <a:ext uri="{9D8B030D-6E8A-4147-A177-3AD203B41FA5}">
                      <a16:colId xmlns:a16="http://schemas.microsoft.com/office/drawing/2014/main" xmlns="" val="20001"/>
                    </a:ext>
                  </a:extLst>
                </a:gridCol>
              </a:tblGrid>
              <a:tr h="772932">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1042403">
                <a:tc>
                  <a:txBody>
                    <a:bodyPr/>
                    <a:lstStyle/>
                    <a:p>
                      <a:pPr algn="ctr" fontAlgn="ctr"/>
                      <a:r>
                        <a:rPr lang="en-US" sz="1800" b="0" i="0" u="none" strike="noStrike" dirty="0">
                          <a:solidFill>
                            <a:schemeClr val="tx1"/>
                          </a:solidFill>
                          <a:effectLst/>
                          <a:latin typeface="Times New Roman" pitchFamily="18" charset="0"/>
                          <a:cs typeface="Times New Roman"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To understand the basic materials and properties of semiconductors.</a:t>
                      </a:r>
                      <a:endParaRPr lang="en-US" sz="1800" kern="1200" dirty="0">
                        <a:solidFill>
                          <a:schemeClr val="tx1"/>
                        </a:solidFill>
                        <a:latin typeface="Times New Roman" pitchFamily="18" charset="0"/>
                        <a:ea typeface="+mn-ea"/>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997251">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Understand the basic of semiconductor and components like diode, transistor, FET, MOSFET and Energy Sources.</a:t>
                      </a: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1345805">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800" kern="1200" dirty="0" smtClean="0">
                          <a:solidFill>
                            <a:schemeClr val="tx1"/>
                          </a:solidFill>
                          <a:latin typeface="Times New Roman" pitchFamily="18" charset="0"/>
                          <a:ea typeface="+mn-ea"/>
                          <a:cs typeface="Times New Roman" pitchFamily="18" charset="0"/>
                        </a:rPr>
                        <a:t>To give knowledge about semiconductor physics and discus working and applications of basic devices, including p-n junctions, BJTs and FETs.</a:t>
                      </a:r>
                      <a:endParaRPr lang="en-US" sz="1800" kern="1200" dirty="0" smtClean="0">
                        <a:solidFill>
                          <a:schemeClr val="tx1"/>
                        </a:solidFill>
                        <a:latin typeface="Times New Roman" pitchFamily="18" charset="0"/>
                        <a:ea typeface="+mn-ea"/>
                        <a:cs typeface="Times New Roman" pitchFamily="18" charset="0"/>
                      </a:endParaRP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7" name="Content Placeholder 6"/>
          <p:cNvSpPr>
            <a:spLocks noGrp="1"/>
          </p:cNvSpPr>
          <p:nvPr>
            <p:ph idx="1"/>
          </p:nvPr>
        </p:nvSpPr>
        <p:spPr>
          <a:xfrm>
            <a:off x="7104849" y="5050301"/>
            <a:ext cx="4706194" cy="745588"/>
          </a:xfrm>
        </p:spPr>
        <p:txBody>
          <a:bodyPr>
            <a:noAutofit/>
          </a:bodyPr>
          <a:lstStyle/>
          <a:p>
            <a:pPr algn="ctr">
              <a:buNone/>
            </a:pPr>
            <a:r>
              <a:rPr lang="en-US" sz="1800" b="1" dirty="0">
                <a:solidFill>
                  <a:srgbClr val="7030A0"/>
                </a:solidFill>
                <a:hlinkClick r:id="rId3">
                  <a:extLst>
                    <a:ext uri="{A12FA001-AC4F-418D-AE19-62706E023703}">
                      <ahyp:hlinkClr xmlns:ahyp="http://schemas.microsoft.com/office/drawing/2018/hyperlinkcolor" xmlns="" val="tx"/>
                    </a:ext>
                  </a:extLst>
                </a:hlinkClick>
              </a:rPr>
              <a:t>https://www.iqsdirectory.com/resources/everything-you-ever-wanted-to-know-about-semiconductors/</a:t>
            </a:r>
            <a:endParaRPr lang="en-US" sz="1800" b="1" dirty="0">
              <a:solidFill>
                <a:srgbClr val="7030A0"/>
              </a:solidFill>
            </a:endParaRPr>
          </a:p>
        </p:txBody>
      </p:sp>
      <p:pic>
        <p:nvPicPr>
          <p:cNvPr id="3" name="Picture 2">
            <a:extLst>
              <a:ext uri="{FF2B5EF4-FFF2-40B4-BE49-F238E27FC236}">
                <a16:creationId xmlns:a16="http://schemas.microsoft.com/office/drawing/2014/main" xmlns="" id="{CF519C70-D760-42E7-8BD2-6D327CBFDD43}"/>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7094509" y="2226079"/>
            <a:ext cx="4716534" cy="2655409"/>
          </a:xfrm>
          <a:prstGeom prst="rect">
            <a:avLst/>
          </a:prstGeom>
        </p:spPr>
      </p:pic>
    </p:spTree>
    <p:custDataLst>
      <p:tags r:id="rId1"/>
    </p:custDataLst>
    <p:extLst>
      <p:ext uri="{BB962C8B-B14F-4D97-AF65-F5344CB8AC3E}">
        <p14:creationId xmlns:p14="http://schemas.microsoft.com/office/powerpoint/2010/main" xmlns=""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854211" y="214063"/>
            <a:ext cx="4456567" cy="1311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566485" y="5421087"/>
            <a:ext cx="5214762" cy="518341"/>
          </a:xfrm>
        </p:spPr>
        <p:txBody>
          <a:bodyPr>
            <a:noAutofit/>
          </a:bodyPr>
          <a:lstStyle/>
          <a:p>
            <a:pPr algn="ctr">
              <a:buNone/>
            </a:pPr>
            <a:r>
              <a:rPr lang="en-US" sz="1800" b="1" dirty="0">
                <a:solidFill>
                  <a:srgbClr val="7030A0"/>
                </a:solidFill>
                <a:hlinkClick r:id="rId3">
                  <a:extLst>
                    <a:ext uri="{A12FA001-AC4F-418D-AE19-62706E023703}">
                      <ahyp:hlinkClr xmlns:ahyp="http://schemas.microsoft.com/office/drawing/2018/hyperlinkcolor" xmlns="" val="tx"/>
                    </a:ext>
                  </a:extLst>
                </a:hlinkClick>
              </a:rPr>
              <a:t>https://lot.dhl.com/5-things-the-current-semiconductor-slowdown-tells-us-about-the-global-economy/</a:t>
            </a:r>
            <a:endParaRPr lang="en-US" sz="1800" b="1" dirty="0">
              <a:solidFill>
                <a:srgbClr val="7030A0"/>
              </a:solidFill>
            </a:endParaRPr>
          </a:p>
        </p:txBody>
      </p:sp>
      <p:graphicFrame>
        <p:nvGraphicFramePr>
          <p:cNvPr id="2" name="Table 1">
            <a:extLst>
              <a:ext uri="{FF2B5EF4-FFF2-40B4-BE49-F238E27FC236}">
                <a16:creationId xmlns:a16="http://schemas.microsoft.com/office/drawing/2014/main" xmlns="" id="{8162587E-E0B8-4626-8CC1-A1300E812FD3}"/>
              </a:ext>
            </a:extLst>
          </p:cNvPr>
          <p:cNvGraphicFramePr>
            <a:graphicFrameLocks noGrp="1"/>
          </p:cNvGraphicFramePr>
          <p:nvPr>
            <p:extLst>
              <p:ext uri="{D42A27DB-BD31-4B8C-83A1-F6EECF244321}">
                <p14:modId xmlns:p14="http://schemas.microsoft.com/office/powerpoint/2010/main" xmlns="" val="637862230"/>
              </p:ext>
            </p:extLst>
          </p:nvPr>
        </p:nvGraphicFramePr>
        <p:xfrm>
          <a:off x="307925" y="1881052"/>
          <a:ext cx="6354132" cy="4778877"/>
        </p:xfrm>
        <a:graphic>
          <a:graphicData uri="http://schemas.openxmlformats.org/drawingml/2006/table">
            <a:tbl>
              <a:tblPr firstRow="1" firstCol="1" bandRow="1">
                <a:tableStyleId>{5940675A-B579-460E-94D1-54222C63F5DA}</a:tableStyleId>
              </a:tblPr>
              <a:tblGrid>
                <a:gridCol w="709811">
                  <a:extLst>
                    <a:ext uri="{9D8B030D-6E8A-4147-A177-3AD203B41FA5}">
                      <a16:colId xmlns:a16="http://schemas.microsoft.com/office/drawing/2014/main" xmlns="" val="3145357031"/>
                    </a:ext>
                  </a:extLst>
                </a:gridCol>
                <a:gridCol w="3525847">
                  <a:extLst>
                    <a:ext uri="{9D8B030D-6E8A-4147-A177-3AD203B41FA5}">
                      <a16:colId xmlns:a16="http://schemas.microsoft.com/office/drawing/2014/main" xmlns="" val="1912344179"/>
                    </a:ext>
                  </a:extLst>
                </a:gridCol>
                <a:gridCol w="2118474">
                  <a:extLst>
                    <a:ext uri="{9D8B030D-6E8A-4147-A177-3AD203B41FA5}">
                      <a16:colId xmlns:a16="http://schemas.microsoft.com/office/drawing/2014/main" xmlns="" val="1723345131"/>
                    </a:ext>
                  </a:extLst>
                </a:gridCol>
              </a:tblGrid>
              <a:tr h="919098">
                <a:tc>
                  <a:txBody>
                    <a:bodyPr/>
                    <a:lstStyle/>
                    <a:p>
                      <a:pPr algn="just">
                        <a:spcBef>
                          <a:spcPts val="600"/>
                        </a:spcBef>
                        <a:spcAft>
                          <a:spcPts val="600"/>
                        </a:spcAft>
                      </a:pPr>
                      <a:r>
                        <a:rPr lang="en-US" sz="1600" dirty="0">
                          <a:effectLst/>
                        </a:rPr>
                        <a:t>S.NO</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Description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Blooms’ Taxonomy Level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035748488"/>
                  </a:ext>
                </a:extLst>
              </a:tr>
              <a:tr h="660601">
                <a:tc>
                  <a:txBody>
                    <a:bodyPr/>
                    <a:lstStyle/>
                    <a:p>
                      <a:pPr marR="53975" algn="ctr">
                        <a:lnSpc>
                          <a:spcPct val="107000"/>
                        </a:lnSpc>
                        <a:spcAft>
                          <a:spcPts val="0"/>
                        </a:spcAft>
                      </a:pPr>
                      <a:r>
                        <a:rPr lang="en-IN" sz="1400" dirty="0">
                          <a:latin typeface="Times New Roman"/>
                          <a:ea typeface="Times New Roman"/>
                          <a:cs typeface="Raavi"/>
                        </a:rPr>
                        <a:t>CO1</a:t>
                      </a:r>
                      <a:endParaRPr lang="en-US" sz="1400" dirty="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latin typeface="Times New Roman"/>
                          <a:ea typeface="Adobe Garamond Pro"/>
                          <a:cs typeface="Raavi"/>
                        </a:rPr>
                        <a:t>To apply the knowledge of basic semiconductor material physics and understand fabrication processes.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EASY</a:t>
                      </a:r>
                      <a:endParaRPr lang="en-US" sz="1400" dirty="0">
                        <a:latin typeface="Calibri"/>
                        <a:ea typeface="Calibri"/>
                        <a:cs typeface="Raavi"/>
                      </a:endParaRPr>
                    </a:p>
                  </a:txBody>
                  <a:tcPr marL="68580" marR="68580" marT="0" marB="0" anchor="ctr"/>
                </a:tc>
                <a:extLst>
                  <a:ext uri="{0D108BD9-81ED-4DB2-BD59-A6C34878D82A}">
                    <a16:rowId xmlns:a16="http://schemas.microsoft.com/office/drawing/2014/main" xmlns="" val="2905167788"/>
                  </a:ext>
                </a:extLst>
              </a:tr>
              <a:tr h="660601">
                <a:tc>
                  <a:txBody>
                    <a:bodyPr/>
                    <a:lstStyle/>
                    <a:p>
                      <a:pPr marR="53975" algn="ctr">
                        <a:lnSpc>
                          <a:spcPct val="107000"/>
                        </a:lnSpc>
                        <a:spcAft>
                          <a:spcPts val="0"/>
                        </a:spcAft>
                      </a:pPr>
                      <a:r>
                        <a:rPr lang="en-IN" sz="1400">
                          <a:latin typeface="Times New Roman"/>
                          <a:ea typeface="Times New Roman"/>
                          <a:cs typeface="Raavi"/>
                        </a:rPr>
                        <a:t>CO2</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understand </a:t>
                      </a:r>
                      <a:r>
                        <a:rPr lang="en-IN" sz="1400" dirty="0">
                          <a:latin typeface="Times New Roman"/>
                          <a:cs typeface="Raavi"/>
                        </a:rPr>
                        <a:t> the characteristics of different electronic devices such as diodes, transistors.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a16="http://schemas.microsoft.com/office/drawing/2014/main" xmlns="" val="1036068956"/>
                  </a:ext>
                </a:extLst>
              </a:tr>
              <a:tr h="660601">
                <a:tc>
                  <a:txBody>
                    <a:bodyPr/>
                    <a:lstStyle/>
                    <a:p>
                      <a:pPr marR="53975" algn="ctr">
                        <a:lnSpc>
                          <a:spcPct val="107000"/>
                        </a:lnSpc>
                        <a:spcAft>
                          <a:spcPts val="0"/>
                        </a:spcAft>
                      </a:pPr>
                      <a:r>
                        <a:rPr lang="en-IN" sz="1400">
                          <a:latin typeface="Times New Roman"/>
                          <a:ea typeface="Times New Roman"/>
                          <a:cs typeface="Raavi"/>
                        </a:rPr>
                        <a:t>CO3</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latin typeface="Times New Roman"/>
                          <a:ea typeface="Adobe Garamond Pro"/>
                          <a:cs typeface="Raavi"/>
                        </a:rPr>
                        <a:t>To derive the relationships between the parameters in diode, FET, configurations of Transistor and MOSFETs.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a16="http://schemas.microsoft.com/office/drawing/2014/main" xmlns="" val="1044161678"/>
                  </a:ext>
                </a:extLst>
              </a:tr>
              <a:tr h="990902">
                <a:tc>
                  <a:txBody>
                    <a:bodyPr/>
                    <a:lstStyle/>
                    <a:p>
                      <a:pPr marR="53975" algn="ctr">
                        <a:lnSpc>
                          <a:spcPct val="107000"/>
                        </a:lnSpc>
                        <a:spcAft>
                          <a:spcPts val="0"/>
                        </a:spcAft>
                      </a:pPr>
                      <a:r>
                        <a:rPr lang="en-IN" sz="1400">
                          <a:latin typeface="Times New Roman"/>
                          <a:ea typeface="Times New Roman"/>
                          <a:cs typeface="Raavi"/>
                        </a:rPr>
                        <a:t>CO4</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describe the working and design considerations for the various photonic devices like photo detectors, solar-cells and LEDs.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a16="http://schemas.microsoft.com/office/drawing/2014/main" xmlns="" val="3677875048"/>
                  </a:ext>
                </a:extLst>
              </a:tr>
              <a:tr h="660601">
                <a:tc>
                  <a:txBody>
                    <a:bodyPr/>
                    <a:lstStyle/>
                    <a:p>
                      <a:pPr marR="53975" algn="ctr">
                        <a:lnSpc>
                          <a:spcPct val="107000"/>
                        </a:lnSpc>
                        <a:spcAft>
                          <a:spcPts val="0"/>
                        </a:spcAft>
                      </a:pPr>
                      <a:r>
                        <a:rPr lang="en-IN" sz="1400">
                          <a:latin typeface="Times New Roman"/>
                          <a:ea typeface="Times New Roman"/>
                          <a:cs typeface="Raavi"/>
                        </a:rPr>
                        <a:t>CO5</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solidFill>
                            <a:srgbClr val="000000"/>
                          </a:solidFill>
                          <a:latin typeface="Times New Roman"/>
                          <a:ea typeface="Times New Roman"/>
                          <a:cs typeface="Raavi"/>
                        </a:rPr>
                        <a:t>To provide problem solving experience and learning of concepts through it in semiconductor physics.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a16="http://schemas.microsoft.com/office/drawing/2014/main" xmlns="" val="1993640399"/>
                  </a:ext>
                </a:extLst>
              </a:tr>
            </a:tbl>
          </a:graphicData>
        </a:graphic>
      </p:graphicFrame>
      <p:pic>
        <p:nvPicPr>
          <p:cNvPr id="4" name="Picture 3">
            <a:extLst>
              <a:ext uri="{FF2B5EF4-FFF2-40B4-BE49-F238E27FC236}">
                <a16:creationId xmlns:a16="http://schemas.microsoft.com/office/drawing/2014/main" xmlns="" id="{72E5EA36-20D2-4DE4-BBC5-F5A55DBA5C10}"/>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6701247" y="2368915"/>
            <a:ext cx="5080000" cy="2667000"/>
          </a:xfrm>
          <a:prstGeom prst="rect">
            <a:avLst/>
          </a:prstGeom>
        </p:spPr>
      </p:pic>
    </p:spTree>
    <p:custDataLst>
      <p:tags r:id="rId1"/>
    </p:custDataLst>
    <p:extLst>
      <p:ext uri="{BB962C8B-B14F-4D97-AF65-F5344CB8AC3E}">
        <p14:creationId xmlns:p14="http://schemas.microsoft.com/office/powerpoint/2010/main" xmlns="" val="3901693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359166" y="6356350"/>
            <a:ext cx="223234" cy="365125"/>
          </a:xfrm>
          <a:ln>
            <a:solidFill>
              <a:schemeClr val="accent1"/>
            </a:solidFill>
          </a:ln>
        </p:spPr>
        <p:txBody>
          <a:bodyPr/>
          <a:lstStyle/>
          <a:p>
            <a:fld id="{BDCDBBEF-AA6C-4BA6-85B2-A17D7F280E38}" type="slidenum">
              <a:rPr lang="en-US" smtClean="0"/>
              <a:pPr/>
              <a:t>4</a:t>
            </a:fld>
            <a:endParaRPr lang="en-US" dirty="0"/>
          </a:p>
        </p:txBody>
      </p:sp>
      <p:sp>
        <p:nvSpPr>
          <p:cNvPr id="10" name="Oval 9"/>
          <p:cNvSpPr/>
          <p:nvPr/>
        </p:nvSpPr>
        <p:spPr>
          <a:xfrm>
            <a:off x="11217276" y="6324600"/>
            <a:ext cx="444500" cy="42227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 xmlns:a16="http://schemas.microsoft.com/office/drawing/2014/main" id="{596EF3AC-12D8-4376-826F-0CDE220D0DD9}"/>
              </a:ext>
            </a:extLst>
          </p:cNvPr>
          <p:cNvSpPr txBox="1"/>
          <p:nvPr/>
        </p:nvSpPr>
        <p:spPr>
          <a:xfrm>
            <a:off x="1376833" y="515155"/>
            <a:ext cx="10062693" cy="769441"/>
          </a:xfrm>
          <a:prstGeom prst="rect">
            <a:avLst/>
          </a:prstGeom>
          <a:solidFill>
            <a:schemeClr val="bg1"/>
          </a:solidFill>
          <a:ln>
            <a:solidFill>
              <a:srgbClr val="C00000"/>
            </a:solidFill>
          </a:ln>
        </p:spPr>
        <p:txBody>
          <a:bodyPr wrap="square" rtlCol="0">
            <a:spAutoFit/>
          </a:bodyPr>
          <a:lstStyle/>
          <a:p>
            <a:pPr algn="ctr"/>
            <a:r>
              <a:rPr lang="en-IN" sz="4400" b="1" dirty="0">
                <a:latin typeface="Casper Bold"/>
              </a:rPr>
              <a:t>COURSE OBJECTIVES</a:t>
            </a:r>
          </a:p>
        </p:txBody>
      </p:sp>
      <p:sp>
        <p:nvSpPr>
          <p:cNvPr id="2" name="Rectangle 1">
            <a:extLst>
              <a:ext uri="{FF2B5EF4-FFF2-40B4-BE49-F238E27FC236}">
                <a16:creationId xmlns="" xmlns:a16="http://schemas.microsoft.com/office/drawing/2014/main" id="{9E9E0D1A-55C5-463F-89FE-BD77E41FFD1A}"/>
              </a:ext>
            </a:extLst>
          </p:cNvPr>
          <p:cNvSpPr/>
          <p:nvPr/>
        </p:nvSpPr>
        <p:spPr>
          <a:xfrm>
            <a:off x="741405" y="1837121"/>
            <a:ext cx="10698121" cy="3785652"/>
          </a:xfrm>
          <a:prstGeom prst="rect">
            <a:avLst/>
          </a:prstGeom>
          <a:ln>
            <a:solidFill>
              <a:schemeClr val="accent1"/>
            </a:solidFill>
          </a:ln>
        </p:spPr>
        <p:txBody>
          <a:bodyPr wrap="square">
            <a:spAutoFit/>
          </a:bodyPr>
          <a:lstStyle/>
          <a:p>
            <a:pPr marL="342900" marR="38100" lvl="0" indent="-342900" algn="just">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The course is designed to make the students industry ready to contribute in the growing demand of the industry at local, national and international level.</a:t>
            </a:r>
          </a:p>
          <a:p>
            <a:pPr marL="342900" marR="38100" lvl="0" indent="-342900" algn="just">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make the students competent to understand basic concepts and applications of advanced engineering physics and apply its principles in their respective fields at global platform.</a:t>
            </a:r>
          </a:p>
          <a:p>
            <a:pPr marL="342900" marR="38100" lvl="0" indent="-342900" algn="just">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enhance the skill level of the students and shall make them preferred choice for getting employment in industry and research labs.</a:t>
            </a:r>
          </a:p>
          <a:p>
            <a:pPr marL="342900" marR="38100" lvl="0" indent="-342900" algn="just">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give thorough knowledge of the discipline to enable students to disseminate knowledge in pursuing excellence in academic areas</a:t>
            </a:r>
            <a:r>
              <a:rPr lang="en-IN" sz="2400" dirty="0" smtClean="0">
                <a:latin typeface="Casper" panose="02000506000000020004"/>
                <a:ea typeface="Times New Roman" panose="02020603050405020304" pitchFamily="18" charset="0"/>
              </a:rPr>
              <a:t>.</a:t>
            </a:r>
          </a:p>
        </p:txBody>
      </p:sp>
    </p:spTree>
    <p:extLst>
      <p:ext uri="{BB962C8B-B14F-4D97-AF65-F5344CB8AC3E}">
        <p14:creationId xmlns:p14="http://schemas.microsoft.com/office/powerpoint/2010/main" xmlns="" val="2124139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 xmlns:a16="http://schemas.microsoft.com/office/drawing/2014/main" id="{8AC7EE2D-EA09-47AE-8E42-93B7EFA7BE8D}"/>
              </a:ext>
            </a:extLst>
          </p:cNvPr>
          <p:cNvGraphicFramePr/>
          <p:nvPr>
            <p:extLst>
              <p:ext uri="{D42A27DB-BD31-4B8C-83A1-F6EECF244321}">
                <p14:modId xmlns:p14="http://schemas.microsoft.com/office/powerpoint/2010/main" xmlns="" val="2398776145"/>
              </p:ext>
            </p:extLst>
          </p:nvPr>
        </p:nvGraphicFramePr>
        <p:xfrm>
          <a:off x="545910" y="1455312"/>
          <a:ext cx="10399594" cy="51306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 xmlns:a16="http://schemas.microsoft.com/office/drawing/2014/main" id="{4DD4BA6F-458C-471C-8C28-91ED72EAB6B6}"/>
              </a:ext>
            </a:extLst>
          </p:cNvPr>
          <p:cNvSpPr txBox="1"/>
          <p:nvPr/>
        </p:nvSpPr>
        <p:spPr>
          <a:xfrm>
            <a:off x="1416676" y="259122"/>
            <a:ext cx="10045521" cy="769441"/>
          </a:xfrm>
          <a:prstGeom prst="rect">
            <a:avLst/>
          </a:prstGeom>
          <a:noFill/>
          <a:ln>
            <a:solidFill>
              <a:srgbClr val="C00000"/>
            </a:solidFill>
          </a:ln>
        </p:spPr>
        <p:txBody>
          <a:bodyPr wrap="square" rtlCol="0">
            <a:spAutoFit/>
          </a:bodyPr>
          <a:lstStyle/>
          <a:p>
            <a:pPr algn="ctr"/>
            <a:r>
              <a:rPr lang="en-IN" sz="4400" b="1" dirty="0">
                <a:latin typeface="Casper Bold" panose="02000806040000020004"/>
              </a:rPr>
              <a:t>INTRODUCTION</a:t>
            </a:r>
          </a:p>
        </p:txBody>
      </p:sp>
    </p:spTree>
    <p:extLst>
      <p:ext uri="{BB962C8B-B14F-4D97-AF65-F5344CB8AC3E}">
        <p14:creationId xmlns:p14="http://schemas.microsoft.com/office/powerpoint/2010/main" xmlns="" val="2261593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7C0BE1E-5618-42FF-A3DC-86E1176236B9}"/>
              </a:ext>
            </a:extLst>
          </p:cNvPr>
          <p:cNvSpPr>
            <a:spLocks noGrp="1"/>
          </p:cNvSpPr>
          <p:nvPr>
            <p:ph type="title"/>
          </p:nvPr>
        </p:nvSpPr>
        <p:spPr>
          <a:xfrm>
            <a:off x="1262130" y="321973"/>
            <a:ext cx="10091670" cy="888642"/>
          </a:xfrm>
          <a:ln>
            <a:solidFill>
              <a:srgbClr val="C00000"/>
            </a:solidFill>
          </a:ln>
        </p:spPr>
        <p:txBody>
          <a:bodyPr anchor="t">
            <a:normAutofit fontScale="90000"/>
          </a:bodyPr>
          <a:lstStyle/>
          <a:p>
            <a:pPr algn="ctr"/>
            <a:r>
              <a:rPr lang="en-IN" b="1" dirty="0">
                <a:latin typeface="Casper Bold"/>
              </a:rPr>
              <a:t>LECTURE OBJECTIVE </a:t>
            </a:r>
            <a:r>
              <a:rPr lang="en-IN" b="1" dirty="0"/>
              <a:t/>
            </a:r>
            <a:br>
              <a:rPr lang="en-IN" b="1" dirty="0"/>
            </a:br>
            <a:endParaRPr lang="en-IN" b="1" dirty="0"/>
          </a:p>
        </p:txBody>
      </p:sp>
      <p:sp>
        <p:nvSpPr>
          <p:cNvPr id="4" name="Slide Number Placeholder 3">
            <a:extLst>
              <a:ext uri="{FF2B5EF4-FFF2-40B4-BE49-F238E27FC236}">
                <a16:creationId xmlns="" xmlns:a16="http://schemas.microsoft.com/office/drawing/2014/main" id="{914A127A-A5D6-4126-AE36-C5A092704CA9}"/>
              </a:ext>
            </a:extLst>
          </p:cNvPr>
          <p:cNvSpPr>
            <a:spLocks noGrp="1"/>
          </p:cNvSpPr>
          <p:nvPr>
            <p:ph type="sldNum" sz="quarter" idx="12"/>
          </p:nvPr>
        </p:nvSpPr>
        <p:spPr/>
        <p:txBody>
          <a:bodyPr/>
          <a:lstStyle/>
          <a:p>
            <a:fld id="{BDCDBBEF-AA6C-4BA6-85B2-A17D7F280E38}" type="slidenum">
              <a:rPr lang="en-US" smtClean="0"/>
              <a:pPr/>
              <a:t>6</a:t>
            </a:fld>
            <a:endParaRPr lang="en-US"/>
          </a:p>
        </p:txBody>
      </p:sp>
      <p:graphicFrame>
        <p:nvGraphicFramePr>
          <p:cNvPr id="3" name="Diagram 2">
            <a:extLst>
              <a:ext uri="{FF2B5EF4-FFF2-40B4-BE49-F238E27FC236}">
                <a16:creationId xmlns="" xmlns:a16="http://schemas.microsoft.com/office/drawing/2014/main" id="{163DBA1A-D0EF-41F5-AD30-D33102F46AB7}"/>
              </a:ext>
            </a:extLst>
          </p:cNvPr>
          <p:cNvGraphicFramePr/>
          <p:nvPr>
            <p:extLst>
              <p:ext uri="{D42A27DB-BD31-4B8C-83A1-F6EECF244321}">
                <p14:modId xmlns:p14="http://schemas.microsoft.com/office/powerpoint/2010/main" xmlns="" val="4095461461"/>
              </p:ext>
            </p:extLst>
          </p:nvPr>
        </p:nvGraphicFramePr>
        <p:xfrm>
          <a:off x="2032000" y="1210615"/>
          <a:ext cx="8128000" cy="49277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2157139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40352E62-FACD-4858-995D-AB1584CB79F9}"/>
              </a:ext>
            </a:extLst>
          </p:cNvPr>
          <p:cNvSpPr/>
          <p:nvPr/>
        </p:nvSpPr>
        <p:spPr>
          <a:xfrm>
            <a:off x="619432" y="1991031"/>
            <a:ext cx="10279626" cy="3416320"/>
          </a:xfrm>
          <a:prstGeom prst="rect">
            <a:avLst/>
          </a:prstGeom>
          <a:ln>
            <a:solidFill>
              <a:schemeClr val="accent1"/>
            </a:solidFill>
          </a:ln>
        </p:spPr>
        <p:txBody>
          <a:bodyPr wrap="square">
            <a:spAutoFit/>
          </a:bodyPr>
          <a:lstStyle/>
          <a:p>
            <a:pPr marL="457200" indent="-457200">
              <a:buFont typeface="Wingdings" panose="05000000000000000000" pitchFamily="2" charset="2"/>
              <a:buChar char="q"/>
            </a:pPr>
            <a:r>
              <a:rPr lang="en-US" sz="2400" dirty="0" smtClean="0">
                <a:solidFill>
                  <a:srgbClr val="222222"/>
                </a:solidFill>
                <a:latin typeface="Casper"/>
              </a:rPr>
              <a:t>Semiconductor materials are useful because their behavior can be easily manipulated by the deliberate addition of impurities, known as doping</a:t>
            </a:r>
            <a:r>
              <a:rPr lang="en-US" sz="2400" dirty="0" smtClean="0">
                <a:solidFill>
                  <a:srgbClr val="222222"/>
                </a:solidFill>
                <a:latin typeface="Casper"/>
              </a:rPr>
              <a:t>.</a:t>
            </a:r>
          </a:p>
          <a:p>
            <a:pPr marL="457200" indent="-457200"/>
            <a:endParaRPr lang="en-US" sz="2400" dirty="0" smtClean="0">
              <a:solidFill>
                <a:srgbClr val="222222"/>
              </a:solidFill>
              <a:latin typeface="Casper"/>
            </a:endParaRPr>
          </a:p>
          <a:p>
            <a:pPr marL="457200" indent="-457200" algn="just">
              <a:buFont typeface="Wingdings" panose="05000000000000000000" pitchFamily="2" charset="2"/>
              <a:buChar char="q"/>
            </a:pPr>
            <a:r>
              <a:rPr lang="en-US" sz="2400" dirty="0" smtClean="0">
                <a:latin typeface="Casper"/>
              </a:rPr>
              <a:t>Semiconductor Physics is the fact that the microscopic properties it deals with are responsible for the majority of modern technology</a:t>
            </a:r>
            <a:r>
              <a:rPr lang="en-US" sz="2400" dirty="0" smtClean="0">
                <a:latin typeface="Casper"/>
              </a:rPr>
              <a:t>.</a:t>
            </a:r>
          </a:p>
          <a:p>
            <a:pPr marL="457200" indent="-457200" algn="ctr"/>
            <a:endParaRPr lang="en-US" sz="2400" dirty="0" smtClean="0">
              <a:latin typeface="Casper"/>
            </a:endParaRPr>
          </a:p>
          <a:p>
            <a:pPr marL="457200" indent="-457200" algn="just">
              <a:buFont typeface="Wingdings" panose="05000000000000000000" pitchFamily="2" charset="2"/>
              <a:buChar char="q"/>
            </a:pPr>
            <a:r>
              <a:rPr lang="en-US" sz="2400" dirty="0" smtClean="0">
                <a:latin typeface="Casper"/>
              </a:rPr>
              <a:t>Semiconductor, any of a class of crystalline solids intermediate in electrical conductivity between a conductor and an insulator. </a:t>
            </a:r>
          </a:p>
        </p:txBody>
      </p:sp>
      <p:sp>
        <p:nvSpPr>
          <p:cNvPr id="9" name="TextBox 8">
            <a:extLst>
              <a:ext uri="{FF2B5EF4-FFF2-40B4-BE49-F238E27FC236}">
                <a16:creationId xmlns="" xmlns:a16="http://schemas.microsoft.com/office/drawing/2014/main" id="{9103F664-2227-480D-9C20-4314BF6D2E3C}"/>
              </a:ext>
            </a:extLst>
          </p:cNvPr>
          <p:cNvSpPr txBox="1"/>
          <p:nvPr/>
        </p:nvSpPr>
        <p:spPr>
          <a:xfrm flipH="1">
            <a:off x="1275008" y="369507"/>
            <a:ext cx="8995280" cy="769441"/>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IN" sz="4400" b="1" dirty="0">
                <a:latin typeface="Casper Bold" panose="02000806040000020004"/>
              </a:rPr>
              <a:t>WHY TO STUDY SEMICONDUCTOR</a:t>
            </a:r>
          </a:p>
        </p:txBody>
      </p:sp>
    </p:spTree>
    <p:extLst>
      <p:ext uri="{BB962C8B-B14F-4D97-AF65-F5344CB8AC3E}">
        <p14:creationId xmlns:p14="http://schemas.microsoft.com/office/powerpoint/2010/main" xmlns="" val="15029956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38569"/>
          </a:xfrm>
          <a:ln>
            <a:solidFill>
              <a:srgbClr val="C00000"/>
            </a:solidFill>
          </a:ln>
        </p:spPr>
        <p:style>
          <a:lnRef idx="2">
            <a:schemeClr val="accent2"/>
          </a:lnRef>
          <a:fillRef idx="1">
            <a:schemeClr val="lt1"/>
          </a:fillRef>
          <a:effectRef idx="0">
            <a:schemeClr val="accent2"/>
          </a:effectRef>
          <a:fontRef idx="minor">
            <a:schemeClr val="dk1"/>
          </a:fontRef>
        </p:style>
        <p:txBody>
          <a:bodyPr>
            <a:noAutofit/>
          </a:bodyPr>
          <a:lstStyle/>
          <a:p>
            <a:pPr algn="ctr"/>
            <a:r>
              <a:rPr lang="en-US" b="1" dirty="0">
                <a:solidFill>
                  <a:srgbClr val="C00000"/>
                </a:solidFill>
                <a:latin typeface="Casper Bold"/>
                <a:cs typeface="Arial" pitchFamily="34" charset="0"/>
              </a:rPr>
              <a:t> </a:t>
            </a:r>
            <a:r>
              <a:rPr lang="en-US" b="1" dirty="0">
                <a:latin typeface="Casper Bold"/>
                <a:cs typeface="Times New Roman" pitchFamily="18" charset="0"/>
              </a:rPr>
              <a:t>FORMATION OF ENERGY BANDS IN SOLIDS</a:t>
            </a:r>
            <a:endParaRPr lang="en-US" dirty="0">
              <a:latin typeface="Casper Bold"/>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12" descr="energy-levels-splitting-process.jpeg"/>
          <p:cNvPicPr>
            <a:picLocks noChangeAspect="1"/>
          </p:cNvPicPr>
          <p:nvPr/>
        </p:nvPicPr>
        <p:blipFill>
          <a:blip r:embed="rId2" cstate="print"/>
          <a:stretch>
            <a:fillRect/>
          </a:stretch>
        </p:blipFill>
        <p:spPr>
          <a:xfrm>
            <a:off x="838201" y="1825625"/>
            <a:ext cx="10526486" cy="4323806"/>
          </a:xfrm>
          <a:prstGeom prst="rect">
            <a:avLst/>
          </a:prstGeom>
          <a:ln>
            <a:solidFill>
              <a:schemeClr val="accent1"/>
            </a:solidFill>
          </a:ln>
        </p:spPr>
      </p:pic>
      <p:sp>
        <p:nvSpPr>
          <p:cNvPr id="8" name="TextBox 7">
            <a:extLst>
              <a:ext uri="{FF2B5EF4-FFF2-40B4-BE49-F238E27FC236}">
                <a16:creationId xmlns="" xmlns:a16="http://schemas.microsoft.com/office/drawing/2014/main" id="{239BFFEC-2508-4127-A129-BC178A4DD68D}"/>
              </a:ext>
            </a:extLst>
          </p:cNvPr>
          <p:cNvSpPr txBox="1"/>
          <p:nvPr/>
        </p:nvSpPr>
        <p:spPr>
          <a:xfrm>
            <a:off x="2696307" y="6312973"/>
            <a:ext cx="5914293" cy="369332"/>
          </a:xfrm>
          <a:prstGeom prst="rect">
            <a:avLst/>
          </a:prstGeom>
          <a:noFill/>
        </p:spPr>
        <p:txBody>
          <a:bodyPr wrap="square" rtlCol="0">
            <a:spAutoFit/>
          </a:bodyPr>
          <a:lstStyle/>
          <a:p>
            <a:r>
              <a:rPr lang="en-US" sz="1600" dirty="0">
                <a:latin typeface="Casper"/>
              </a:rPr>
              <a:t>                       </a:t>
            </a:r>
            <a:r>
              <a:rPr lang="en-US" b="1" dirty="0"/>
              <a:t>Figure 4.2 splitting of energy band  [2</a:t>
            </a:r>
            <a:r>
              <a:rPr lang="en-US" sz="1600" dirty="0">
                <a:latin typeface="Casper"/>
              </a:rPr>
              <a:t>]</a:t>
            </a:r>
          </a:p>
        </p:txBody>
      </p:sp>
    </p:spTree>
    <p:extLst>
      <p:ext uri="{BB962C8B-B14F-4D97-AF65-F5344CB8AC3E}">
        <p14:creationId xmlns:p14="http://schemas.microsoft.com/office/powerpoint/2010/main" xmlns="" val="1330598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9B8781-2547-4C40-8434-791DA43A103B}"/>
              </a:ext>
            </a:extLst>
          </p:cNvPr>
          <p:cNvSpPr>
            <a:spLocks noGrp="1"/>
          </p:cNvSpPr>
          <p:nvPr>
            <p:ph type="title"/>
          </p:nvPr>
        </p:nvSpPr>
        <p:spPr>
          <a:xfrm>
            <a:off x="1159098" y="365125"/>
            <a:ext cx="10194701" cy="1325563"/>
          </a:xfrm>
          <a:ln>
            <a:solidFill>
              <a:srgbClr val="C00000"/>
            </a:solidFill>
          </a:ln>
        </p:spPr>
        <p:txBody>
          <a:bodyPr/>
          <a:lstStyle/>
          <a:p>
            <a:pPr algn="ctr"/>
            <a:r>
              <a:rPr lang="en-US" b="1" dirty="0">
                <a:latin typeface="Casper Bold"/>
                <a:cs typeface="Times New Roman" pitchFamily="18" charset="0"/>
              </a:rPr>
              <a:t>FORMATION OF ENERGY BANDS IN SOLIDS</a:t>
            </a:r>
            <a:endParaRPr lang="en-IN" dirty="0"/>
          </a:p>
        </p:txBody>
      </p:sp>
      <p:sp>
        <p:nvSpPr>
          <p:cNvPr id="4" name="Slide Number Placeholder 3">
            <a:extLst>
              <a:ext uri="{FF2B5EF4-FFF2-40B4-BE49-F238E27FC236}">
                <a16:creationId xmlns="" xmlns:a16="http://schemas.microsoft.com/office/drawing/2014/main" id="{BCEE0914-B15E-4B99-A102-BD99AD5A84FC}"/>
              </a:ext>
            </a:extLst>
          </p:cNvPr>
          <p:cNvSpPr>
            <a:spLocks noGrp="1"/>
          </p:cNvSpPr>
          <p:nvPr>
            <p:ph type="sldNum" sz="quarter" idx="12"/>
          </p:nvPr>
        </p:nvSpPr>
        <p:spPr/>
        <p:txBody>
          <a:bodyPr/>
          <a:lstStyle/>
          <a:p>
            <a:fld id="{BDCDBBEF-AA6C-4BA6-85B2-A17D7F280E38}" type="slidenum">
              <a:rPr lang="en-US" smtClean="0"/>
              <a:pPr/>
              <a:t>9</a:t>
            </a:fld>
            <a:endParaRPr lang="en-US"/>
          </a:p>
        </p:txBody>
      </p:sp>
      <p:sp>
        <p:nvSpPr>
          <p:cNvPr id="5" name="Content Placeholder 2">
            <a:extLst>
              <a:ext uri="{FF2B5EF4-FFF2-40B4-BE49-F238E27FC236}">
                <a16:creationId xmlns="" xmlns:a16="http://schemas.microsoft.com/office/drawing/2014/main" id="{8337E211-2093-4389-A918-A3AE18D0B297}"/>
              </a:ext>
            </a:extLst>
          </p:cNvPr>
          <p:cNvSpPr txBox="1">
            <a:spLocks noGrp="1"/>
          </p:cNvSpPr>
          <p:nvPr>
            <p:ph idx="1"/>
          </p:nvPr>
        </p:nvSpPr>
        <p:spPr>
          <a:xfrm>
            <a:off x="838200" y="1825625"/>
            <a:ext cx="10515600" cy="4351338"/>
          </a:xfrm>
          <a:prstGeom prst="rect">
            <a:avLst/>
          </a:prstGeom>
          <a:ln>
            <a:solidFill>
              <a:schemeClr val="accent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sz="2000" dirty="0">
                <a:cs typeface="Times New Roman" pitchFamily="18" charset="0"/>
              </a:rPr>
              <a:t>In a single isolated atom, the electrons in each orbit have definite energy associated with it. </a:t>
            </a:r>
            <a:endParaRPr lang="en-US" sz="2000" dirty="0" smtClean="0">
              <a:cs typeface="Times New Roman" pitchFamily="18" charset="0"/>
            </a:endParaRPr>
          </a:p>
          <a:p>
            <a:pPr algn="just">
              <a:lnSpc>
                <a:spcPct val="150000"/>
              </a:lnSpc>
            </a:pPr>
            <a:r>
              <a:rPr lang="en-US" sz="2000" dirty="0" smtClean="0">
                <a:cs typeface="Times New Roman" pitchFamily="18" charset="0"/>
              </a:rPr>
              <a:t>But </a:t>
            </a:r>
            <a:r>
              <a:rPr lang="en-US" sz="2000" dirty="0">
                <a:cs typeface="Times New Roman" pitchFamily="18" charset="0"/>
              </a:rPr>
              <a:t>in case of solids all the atoms are close to each other, so the energy levels of outermost orbit electrons are affected by the neighboring atoms.  </a:t>
            </a:r>
            <a:endParaRPr lang="en-US" sz="2000" dirty="0" smtClean="0">
              <a:cs typeface="Times New Roman" pitchFamily="18" charset="0"/>
            </a:endParaRPr>
          </a:p>
          <a:p>
            <a:pPr algn="just">
              <a:lnSpc>
                <a:spcPct val="150000"/>
              </a:lnSpc>
            </a:pPr>
            <a:r>
              <a:rPr lang="en-US" sz="2000" dirty="0" smtClean="0">
                <a:cs typeface="Times New Roman" pitchFamily="18" charset="0"/>
              </a:rPr>
              <a:t>Due </a:t>
            </a:r>
            <a:r>
              <a:rPr lang="en-US" sz="2000" dirty="0">
                <a:cs typeface="Times New Roman" pitchFamily="18" charset="0"/>
              </a:rPr>
              <a:t>to this, </a:t>
            </a:r>
            <a:r>
              <a:rPr lang="en-US" sz="2000" dirty="0" smtClean="0">
                <a:cs typeface="Times New Roman" pitchFamily="18" charset="0"/>
              </a:rPr>
              <a:t>the </a:t>
            </a:r>
            <a:r>
              <a:rPr lang="en-US" sz="2000" dirty="0">
                <a:cs typeface="Times New Roman" pitchFamily="18" charset="0"/>
              </a:rPr>
              <a:t>electrons in same orbit exhibits different energy levels. The grouping of this different energy levels is called energy band. Due to influence of high electric field between the core of the atoms and the shared electrons, energy levels are split-up or spread out forming energy bands.</a:t>
            </a:r>
          </a:p>
          <a:p>
            <a:pPr algn="just">
              <a:lnSpc>
                <a:spcPct val="100000"/>
              </a:lnSpc>
              <a:buNone/>
            </a:pPr>
            <a:endParaRPr lang="en-US" sz="2400" dirty="0">
              <a:latin typeface="Casper "/>
              <a:cs typeface="Times New Roman" pitchFamily="18" charset="0"/>
            </a:endParaRPr>
          </a:p>
        </p:txBody>
      </p:sp>
    </p:spTree>
    <p:extLst>
      <p:ext uri="{BB962C8B-B14F-4D97-AF65-F5344CB8AC3E}">
        <p14:creationId xmlns:p14="http://schemas.microsoft.com/office/powerpoint/2010/main" xmlns="" val="1137264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9B8781-2547-4C40-8434-791DA43A103B}"/>
              </a:ext>
            </a:extLst>
          </p:cNvPr>
          <p:cNvSpPr>
            <a:spLocks noGrp="1"/>
          </p:cNvSpPr>
          <p:nvPr>
            <p:ph type="title"/>
          </p:nvPr>
        </p:nvSpPr>
        <p:spPr>
          <a:xfrm>
            <a:off x="1159098" y="365125"/>
            <a:ext cx="10194701" cy="1325563"/>
          </a:xfrm>
          <a:ln>
            <a:solidFill>
              <a:srgbClr val="C00000"/>
            </a:solidFill>
          </a:ln>
        </p:spPr>
        <p:txBody>
          <a:bodyPr anchor="t">
            <a:normAutofit fontScale="90000"/>
          </a:bodyPr>
          <a:lstStyle/>
          <a:p>
            <a:pPr algn="ctr">
              <a:lnSpc>
                <a:spcPct val="100000"/>
              </a:lnSpc>
            </a:pPr>
            <a:r>
              <a:rPr lang="en-US" b="1" dirty="0">
                <a:latin typeface="Casper Bold"/>
                <a:cs typeface="Times New Roman" pitchFamily="18" charset="0"/>
              </a:rPr>
              <a:t>FORMATION OF VALENCE BAND AND CONDUCTION BAND IN SOLIDS</a:t>
            </a:r>
            <a:endParaRPr lang="en-IN" dirty="0"/>
          </a:p>
        </p:txBody>
      </p:sp>
      <p:sp>
        <p:nvSpPr>
          <p:cNvPr id="4" name="Slide Number Placeholder 3">
            <a:extLst>
              <a:ext uri="{FF2B5EF4-FFF2-40B4-BE49-F238E27FC236}">
                <a16:creationId xmlns="" xmlns:a16="http://schemas.microsoft.com/office/drawing/2014/main" id="{BCEE0914-B15E-4B99-A102-BD99AD5A84FC}"/>
              </a:ext>
            </a:extLst>
          </p:cNvPr>
          <p:cNvSpPr>
            <a:spLocks noGrp="1"/>
          </p:cNvSpPr>
          <p:nvPr>
            <p:ph type="sldNum" sz="quarter" idx="12"/>
          </p:nvPr>
        </p:nvSpPr>
        <p:spPr/>
        <p:txBody>
          <a:bodyPr/>
          <a:lstStyle/>
          <a:p>
            <a:fld id="{BDCDBBEF-AA6C-4BA6-85B2-A17D7F280E38}" type="slidenum">
              <a:rPr lang="en-US" smtClean="0"/>
              <a:pPr/>
              <a:t>10</a:t>
            </a:fld>
            <a:endParaRPr lang="en-US" dirty="0"/>
          </a:p>
        </p:txBody>
      </p:sp>
      <p:sp>
        <p:nvSpPr>
          <p:cNvPr id="8" name="Rectangle 5">
            <a:extLst>
              <a:ext uri="{FF2B5EF4-FFF2-40B4-BE49-F238E27FC236}">
                <a16:creationId xmlns="" xmlns:a16="http://schemas.microsoft.com/office/drawing/2014/main" id="{8980E79B-DEC6-4054-A15C-617AA5124E52}"/>
              </a:ext>
            </a:extLst>
          </p:cNvPr>
          <p:cNvSpPr>
            <a:spLocks noChangeArrowheads="1"/>
          </p:cNvSpPr>
          <p:nvPr/>
        </p:nvSpPr>
        <p:spPr bwMode="auto">
          <a:xfrm>
            <a:off x="2893325" y="2279176"/>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 name="Picture 8">
            <a:extLst>
              <a:ext uri="{FF2B5EF4-FFF2-40B4-BE49-F238E27FC236}">
                <a16:creationId xmlns="" xmlns:a16="http://schemas.microsoft.com/office/drawing/2014/main" id="{BAD546A3-B7C7-46C5-8490-F96EE121908B}"/>
              </a:ext>
            </a:extLst>
          </p:cNvPr>
          <p:cNvPicPr/>
          <p:nvPr/>
        </p:nvPicPr>
        <p:blipFill>
          <a:blip r:embed="rId2">
            <a:extLst>
              <a:ext uri="{28A0092B-C50C-407E-A947-70E740481C1C}">
                <a14:useLocalDpi xmlns:a14="http://schemas.microsoft.com/office/drawing/2010/main" xmlns="" val="0"/>
              </a:ext>
            </a:extLst>
          </a:blip>
          <a:srcRect/>
          <a:stretch>
            <a:fillRect/>
          </a:stretch>
        </p:blipFill>
        <p:spPr bwMode="auto">
          <a:xfrm>
            <a:off x="1285874" y="2028825"/>
            <a:ext cx="10194701" cy="4040671"/>
          </a:xfrm>
          <a:prstGeom prst="rect">
            <a:avLst/>
          </a:prstGeom>
          <a:ln w="88900" cap="sq" cmpd="thickThin">
            <a:solidFill>
              <a:srgbClr val="000000"/>
            </a:solidFill>
            <a:prstDash val="solid"/>
            <a:miter lim="800000"/>
          </a:ln>
          <a:effectLst>
            <a:innerShdw blurRad="76200">
              <a:srgbClr val="000000"/>
            </a:innerShdw>
          </a:effectLst>
        </p:spPr>
      </p:pic>
      <p:sp>
        <p:nvSpPr>
          <p:cNvPr id="6" name="TextBox 5">
            <a:extLst>
              <a:ext uri="{FF2B5EF4-FFF2-40B4-BE49-F238E27FC236}">
                <a16:creationId xmlns="" xmlns:a16="http://schemas.microsoft.com/office/drawing/2014/main" id="{7014DC65-E596-4228-A8FF-117F81317ED5}"/>
              </a:ext>
            </a:extLst>
          </p:cNvPr>
          <p:cNvSpPr txBox="1"/>
          <p:nvPr/>
        </p:nvSpPr>
        <p:spPr>
          <a:xfrm>
            <a:off x="2696307" y="6312973"/>
            <a:ext cx="7077888" cy="369332"/>
          </a:xfrm>
          <a:prstGeom prst="rect">
            <a:avLst/>
          </a:prstGeom>
          <a:noFill/>
        </p:spPr>
        <p:txBody>
          <a:bodyPr wrap="square" rtlCol="0">
            <a:spAutoFit/>
          </a:bodyPr>
          <a:lstStyle/>
          <a:p>
            <a:r>
              <a:rPr lang="en-US" sz="1600" dirty="0">
                <a:latin typeface="Casper"/>
              </a:rPr>
              <a:t>                       </a:t>
            </a:r>
            <a:r>
              <a:rPr lang="en-US" b="1" dirty="0"/>
              <a:t>Figure 4.3 valance band and conduction band  [3</a:t>
            </a:r>
            <a:r>
              <a:rPr lang="en-US" sz="1600" dirty="0">
                <a:latin typeface="Casper"/>
              </a:rPr>
              <a:t>]</a:t>
            </a:r>
          </a:p>
        </p:txBody>
      </p:sp>
    </p:spTree>
    <p:extLst>
      <p:ext uri="{BB962C8B-B14F-4D97-AF65-F5344CB8AC3E}">
        <p14:creationId xmlns:p14="http://schemas.microsoft.com/office/powerpoint/2010/main" xmlns="" val="2610285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a:ln>
            <a:solidFill>
              <a:srgbClr val="C00000"/>
            </a:solidFill>
          </a:ln>
        </p:spPr>
        <p:style>
          <a:lnRef idx="2">
            <a:schemeClr val="accent2"/>
          </a:lnRef>
          <a:fillRef idx="1">
            <a:schemeClr val="lt1"/>
          </a:fillRef>
          <a:effectRef idx="0">
            <a:schemeClr val="accent2"/>
          </a:effectRef>
          <a:fontRef idx="minor">
            <a:schemeClr val="dk1"/>
          </a:fontRef>
        </p:style>
        <p:txBody>
          <a:bodyPr>
            <a:noAutofit/>
          </a:bodyPr>
          <a:lstStyle/>
          <a:p>
            <a:r>
              <a:rPr lang="en-US" b="1" dirty="0"/>
              <a:t>CLASSIFICATION OF METAL,SEMICONDUCTOR AND INSULATOR</a:t>
            </a:r>
          </a:p>
        </p:txBody>
      </p:sp>
      <p:sp>
        <p:nvSpPr>
          <p:cNvPr id="4" name="Slide Number Placeholder 3"/>
          <p:cNvSpPr>
            <a:spLocks noGrp="1"/>
          </p:cNvSpPr>
          <p:nvPr>
            <p:ph type="sldNum" sz="quarter" idx="12"/>
          </p:nvPr>
        </p:nvSpPr>
        <p:spPr>
          <a:xfrm>
            <a:off x="8610600" y="6339919"/>
            <a:ext cx="2743200" cy="365125"/>
          </a:xfrm>
        </p:spPr>
        <p:txBody>
          <a:bodyPr/>
          <a:lstStyle/>
          <a:p>
            <a:fld id="{BDCDBBEF-AA6C-4BA6-85B2-A17D7F280E38}" type="slidenum">
              <a:rPr lang="en-US" smtClean="0"/>
              <a:pPr/>
              <a:t>11</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descr="C:\Users\Administrator\Desktop\energy_band_gaps_in_materials.jpg"/>
          <p:cNvPicPr>
            <a:picLocks noGrp="1" noChangeAspect="1" noChangeArrowheads="1"/>
          </p:cNvPicPr>
          <p:nvPr>
            <p:ph idx="1"/>
          </p:nvPr>
        </p:nvPicPr>
        <p:blipFill>
          <a:blip r:embed="rId2" cstate="print"/>
          <a:srcRect/>
          <a:stretch>
            <a:fillRect/>
          </a:stretch>
        </p:blipFill>
        <p:spPr bwMode="auto">
          <a:xfrm>
            <a:off x="838201" y="1867989"/>
            <a:ext cx="10526486" cy="4297679"/>
          </a:xfrm>
          <a:prstGeom prst="rect">
            <a:avLst/>
          </a:prstGeom>
          <a:noFill/>
          <a:ln>
            <a:solidFill>
              <a:schemeClr val="accent1"/>
            </a:solidFill>
          </a:ln>
        </p:spPr>
      </p:pic>
      <p:sp>
        <p:nvSpPr>
          <p:cNvPr id="8" name="TextBox 7">
            <a:extLst>
              <a:ext uri="{FF2B5EF4-FFF2-40B4-BE49-F238E27FC236}">
                <a16:creationId xmlns="" xmlns:a16="http://schemas.microsoft.com/office/drawing/2014/main" id="{4D76EDC7-748F-4BD8-A3AA-A2DE23527842}"/>
              </a:ext>
            </a:extLst>
          </p:cNvPr>
          <p:cNvSpPr txBox="1"/>
          <p:nvPr/>
        </p:nvSpPr>
        <p:spPr>
          <a:xfrm>
            <a:off x="2183134" y="6335712"/>
            <a:ext cx="7825732" cy="369332"/>
          </a:xfrm>
          <a:prstGeom prst="rect">
            <a:avLst/>
          </a:prstGeom>
          <a:noFill/>
        </p:spPr>
        <p:txBody>
          <a:bodyPr wrap="square" rtlCol="0">
            <a:spAutoFit/>
          </a:bodyPr>
          <a:lstStyle/>
          <a:p>
            <a:r>
              <a:rPr lang="en-US" sz="1600" dirty="0">
                <a:latin typeface="Casper"/>
              </a:rPr>
              <a:t>                       </a:t>
            </a:r>
            <a:r>
              <a:rPr lang="en-US" b="1" dirty="0"/>
              <a:t>Figure 4.4 energy band gap insulator, semiconductor, conductor[4</a:t>
            </a:r>
            <a:r>
              <a:rPr lang="en-US" sz="1600" dirty="0">
                <a:latin typeface="Casper"/>
              </a:rPr>
              <a:t>]</a:t>
            </a:r>
          </a:p>
        </p:txBody>
      </p:sp>
    </p:spTree>
    <p:extLst>
      <p:ext uri="{BB962C8B-B14F-4D97-AF65-F5344CB8AC3E}">
        <p14:creationId xmlns:p14="http://schemas.microsoft.com/office/powerpoint/2010/main" xmlns="" val="1719799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9B8781-2547-4C40-8434-791DA43A103B}"/>
              </a:ext>
            </a:extLst>
          </p:cNvPr>
          <p:cNvSpPr>
            <a:spLocks noGrp="1"/>
          </p:cNvSpPr>
          <p:nvPr>
            <p:ph type="title"/>
          </p:nvPr>
        </p:nvSpPr>
        <p:spPr>
          <a:xfrm>
            <a:off x="840260" y="365125"/>
            <a:ext cx="10513540" cy="1325563"/>
          </a:xfrm>
          <a:ln>
            <a:solidFill>
              <a:srgbClr val="C00000"/>
            </a:solidFill>
          </a:ln>
        </p:spPr>
        <p:txBody>
          <a:bodyPr>
            <a:normAutofit/>
          </a:bodyPr>
          <a:lstStyle/>
          <a:p>
            <a:r>
              <a:rPr lang="en-US" b="1" dirty="0">
                <a:latin typeface="Calibri body"/>
              </a:rPr>
              <a:t>CLASSIFICATION OF METAL</a:t>
            </a:r>
            <a:r>
              <a:rPr lang="en-US" b="1" dirty="0" smtClean="0">
                <a:latin typeface="Calibri body"/>
              </a:rPr>
              <a:t>, SEMICONDUCTOR </a:t>
            </a:r>
            <a:r>
              <a:rPr lang="en-US" b="1" dirty="0">
                <a:latin typeface="Calibri body"/>
              </a:rPr>
              <a:t>AND INSULATOR</a:t>
            </a:r>
            <a:endParaRPr lang="en-IN" dirty="0">
              <a:latin typeface="Calibri body"/>
            </a:endParaRPr>
          </a:p>
        </p:txBody>
      </p:sp>
      <p:sp>
        <p:nvSpPr>
          <p:cNvPr id="4" name="Slide Number Placeholder 3">
            <a:extLst>
              <a:ext uri="{FF2B5EF4-FFF2-40B4-BE49-F238E27FC236}">
                <a16:creationId xmlns="" xmlns:a16="http://schemas.microsoft.com/office/drawing/2014/main" id="{BCEE0914-B15E-4B99-A102-BD99AD5A84FC}"/>
              </a:ext>
            </a:extLst>
          </p:cNvPr>
          <p:cNvSpPr>
            <a:spLocks noGrp="1"/>
          </p:cNvSpPr>
          <p:nvPr>
            <p:ph type="sldNum" sz="quarter" idx="12"/>
          </p:nvPr>
        </p:nvSpPr>
        <p:spPr/>
        <p:txBody>
          <a:bodyPr/>
          <a:lstStyle/>
          <a:p>
            <a:fld id="{BDCDBBEF-AA6C-4BA6-85B2-A17D7F280E38}" type="slidenum">
              <a:rPr lang="en-US" smtClean="0"/>
              <a:pPr/>
              <a:t>12</a:t>
            </a:fld>
            <a:endParaRPr lang="en-US"/>
          </a:p>
        </p:txBody>
      </p:sp>
      <p:sp>
        <p:nvSpPr>
          <p:cNvPr id="5" name="Content Placeholder 2">
            <a:extLst>
              <a:ext uri="{FF2B5EF4-FFF2-40B4-BE49-F238E27FC236}">
                <a16:creationId xmlns="" xmlns:a16="http://schemas.microsoft.com/office/drawing/2014/main" id="{8337E211-2093-4389-A918-A3AE18D0B297}"/>
              </a:ext>
            </a:extLst>
          </p:cNvPr>
          <p:cNvSpPr txBox="1">
            <a:spLocks noGrp="1"/>
          </p:cNvSpPr>
          <p:nvPr>
            <p:ph idx="1"/>
          </p:nvPr>
        </p:nvSpPr>
        <p:spPr>
          <a:xfrm>
            <a:off x="838200" y="1825625"/>
            <a:ext cx="10515600" cy="4351338"/>
          </a:xfrm>
          <a:prstGeom prst="rect">
            <a:avLst/>
          </a:prstGeom>
          <a:ln>
            <a:solidFill>
              <a:schemeClr val="accent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p>
          <a:p>
            <a:pPr>
              <a:buFont typeface="Wingdings" panose="05000000000000000000" pitchFamily="2" charset="2"/>
              <a:buChar char="q"/>
            </a:pPr>
            <a:r>
              <a:rPr lang="en-US" sz="2400" b="1" dirty="0"/>
              <a:t>CONDUCTOR</a:t>
            </a:r>
            <a:endParaRPr lang="en-US" sz="2400" dirty="0"/>
          </a:p>
          <a:p>
            <a:pPr algn="just"/>
            <a:r>
              <a:rPr lang="en-US" sz="2400" dirty="0"/>
              <a:t>The </a:t>
            </a:r>
            <a:r>
              <a:rPr lang="en-US" sz="2400" dirty="0" smtClean="0"/>
              <a:t>possible </a:t>
            </a:r>
            <a:r>
              <a:rPr lang="en-US" sz="2400" dirty="0"/>
              <a:t>energy band diagram shows that the conduction band is overlapping with the valence band.</a:t>
            </a:r>
          </a:p>
          <a:p>
            <a:pPr algn="just"/>
            <a:r>
              <a:rPr lang="en-US" sz="2400" dirty="0"/>
              <a:t>This is because the lowest levels in the conduction band needs less energy than the highest levels in the valence band.</a:t>
            </a:r>
          </a:p>
          <a:p>
            <a:pPr algn="just"/>
            <a:r>
              <a:rPr lang="en-US" sz="2400" dirty="0"/>
              <a:t>The electrons in valence band overflow into conduction band and are free to move about in the crystal for conduction.</a:t>
            </a:r>
          </a:p>
          <a:p>
            <a:pPr algn="just">
              <a:lnSpc>
                <a:spcPct val="100000"/>
              </a:lnSpc>
              <a:buNone/>
            </a:pPr>
            <a:endParaRPr lang="en-US" sz="2400" dirty="0">
              <a:latin typeface="Casper "/>
              <a:cs typeface="Times New Roman" pitchFamily="18" charset="0"/>
            </a:endParaRPr>
          </a:p>
        </p:txBody>
      </p:sp>
    </p:spTree>
    <p:extLst>
      <p:ext uri="{BB962C8B-B14F-4D97-AF65-F5344CB8AC3E}">
        <p14:creationId xmlns:p14="http://schemas.microsoft.com/office/powerpoint/2010/main" xmlns="" val="3847114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9B8781-2547-4C40-8434-791DA43A103B}"/>
              </a:ext>
            </a:extLst>
          </p:cNvPr>
          <p:cNvSpPr>
            <a:spLocks noGrp="1"/>
          </p:cNvSpPr>
          <p:nvPr>
            <p:ph type="title"/>
          </p:nvPr>
        </p:nvSpPr>
        <p:spPr>
          <a:xfrm>
            <a:off x="790832" y="365125"/>
            <a:ext cx="10562967" cy="1325563"/>
          </a:xfrm>
          <a:ln>
            <a:solidFill>
              <a:srgbClr val="C00000"/>
            </a:solidFill>
          </a:ln>
        </p:spPr>
        <p:txBody>
          <a:bodyPr>
            <a:normAutofit/>
          </a:bodyPr>
          <a:lstStyle/>
          <a:p>
            <a:r>
              <a:rPr lang="en-US" b="1" dirty="0">
                <a:latin typeface="Casper Bold"/>
              </a:rPr>
              <a:t>CLASSIFICATION OF METAL</a:t>
            </a:r>
            <a:r>
              <a:rPr lang="en-US" b="1" dirty="0" smtClean="0">
                <a:latin typeface="Casper Bold"/>
              </a:rPr>
              <a:t>, SEMICONDUCTOR </a:t>
            </a:r>
            <a:r>
              <a:rPr lang="en-US" b="1" dirty="0">
                <a:latin typeface="Casper Bold"/>
              </a:rPr>
              <a:t>AND INSULATOR</a:t>
            </a:r>
            <a:endParaRPr lang="en-IN" dirty="0"/>
          </a:p>
        </p:txBody>
      </p:sp>
      <p:sp>
        <p:nvSpPr>
          <p:cNvPr id="4" name="Slide Number Placeholder 3">
            <a:extLst>
              <a:ext uri="{FF2B5EF4-FFF2-40B4-BE49-F238E27FC236}">
                <a16:creationId xmlns="" xmlns:a16="http://schemas.microsoft.com/office/drawing/2014/main" id="{BCEE0914-B15E-4B99-A102-BD99AD5A84FC}"/>
              </a:ext>
            </a:extLst>
          </p:cNvPr>
          <p:cNvSpPr>
            <a:spLocks noGrp="1"/>
          </p:cNvSpPr>
          <p:nvPr>
            <p:ph type="sldNum" sz="quarter" idx="12"/>
          </p:nvPr>
        </p:nvSpPr>
        <p:spPr/>
        <p:txBody>
          <a:bodyPr/>
          <a:lstStyle/>
          <a:p>
            <a:fld id="{BDCDBBEF-AA6C-4BA6-85B2-A17D7F280E38}" type="slidenum">
              <a:rPr lang="en-US" smtClean="0"/>
              <a:pPr/>
              <a:t>13</a:t>
            </a:fld>
            <a:endParaRPr lang="en-US"/>
          </a:p>
        </p:txBody>
      </p:sp>
      <p:sp>
        <p:nvSpPr>
          <p:cNvPr id="5" name="Content Placeholder 2">
            <a:extLst>
              <a:ext uri="{FF2B5EF4-FFF2-40B4-BE49-F238E27FC236}">
                <a16:creationId xmlns="" xmlns:a16="http://schemas.microsoft.com/office/drawing/2014/main" id="{8337E211-2093-4389-A918-A3AE18D0B297}"/>
              </a:ext>
            </a:extLst>
          </p:cNvPr>
          <p:cNvSpPr txBox="1">
            <a:spLocks noGrp="1"/>
          </p:cNvSpPr>
          <p:nvPr>
            <p:ph idx="1"/>
          </p:nvPr>
        </p:nvSpPr>
        <p:spPr>
          <a:xfrm>
            <a:off x="838200" y="1825625"/>
            <a:ext cx="10515600" cy="4351338"/>
          </a:xfrm>
          <a:prstGeom prst="rect">
            <a:avLst/>
          </a:prstGeom>
          <a:ln>
            <a:solidFill>
              <a:schemeClr val="accent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p>
          <a:p>
            <a:pPr>
              <a:buFont typeface="Wingdings" panose="05000000000000000000" pitchFamily="2" charset="2"/>
              <a:buChar char="q"/>
            </a:pPr>
            <a:r>
              <a:rPr lang="en-US" sz="2400" b="1" dirty="0">
                <a:latin typeface="Casper"/>
              </a:rPr>
              <a:t>SEMICONDUCTOR</a:t>
            </a:r>
            <a:endParaRPr lang="en-US" sz="2400" dirty="0">
              <a:latin typeface="Casper"/>
            </a:endParaRPr>
          </a:p>
          <a:p>
            <a:r>
              <a:rPr lang="en-US" sz="2400" dirty="0">
                <a:latin typeface="Casper"/>
              </a:rPr>
              <a:t>The first possible energy band diagram shows that at absolute zero temperature, no electron has energy to jump from valence band to conduction band and hence the crystal is an insulator.</a:t>
            </a:r>
          </a:p>
          <a:p>
            <a:r>
              <a:rPr lang="en-US" sz="2400" dirty="0">
                <a:latin typeface="Casper"/>
              </a:rPr>
              <a:t>At room temperature, some valence electrons gain energy more than the energy gap and move to conduction band to conduct even under the influence of a weak electric field. For example Band gap of Ge is 0.7eV and for Si 1.1eV.</a:t>
            </a:r>
          </a:p>
          <a:p>
            <a:r>
              <a:rPr lang="en-US" sz="2400" dirty="0">
                <a:latin typeface="Casper"/>
              </a:rPr>
              <a:t>To increase conductivity of  semiconductor doping is used.</a:t>
            </a:r>
          </a:p>
          <a:p>
            <a:pPr algn="just">
              <a:lnSpc>
                <a:spcPct val="100000"/>
              </a:lnSpc>
              <a:buNone/>
            </a:pPr>
            <a:endParaRPr lang="en-US" sz="2400" dirty="0">
              <a:latin typeface="Casper "/>
              <a:cs typeface="Times New Roman" pitchFamily="18" charset="0"/>
            </a:endParaRPr>
          </a:p>
        </p:txBody>
      </p:sp>
    </p:spTree>
    <p:extLst>
      <p:ext uri="{BB962C8B-B14F-4D97-AF65-F5344CB8AC3E}">
        <p14:creationId xmlns:p14="http://schemas.microsoft.com/office/powerpoint/2010/main" xmlns="" val="3352361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9B8781-2547-4C40-8434-791DA43A103B}"/>
              </a:ext>
            </a:extLst>
          </p:cNvPr>
          <p:cNvSpPr>
            <a:spLocks noGrp="1"/>
          </p:cNvSpPr>
          <p:nvPr>
            <p:ph type="title"/>
          </p:nvPr>
        </p:nvSpPr>
        <p:spPr>
          <a:xfrm>
            <a:off x="827904" y="365125"/>
            <a:ext cx="10525896" cy="1325563"/>
          </a:xfrm>
          <a:ln>
            <a:solidFill>
              <a:srgbClr val="C00000"/>
            </a:solidFill>
          </a:ln>
        </p:spPr>
        <p:txBody>
          <a:bodyPr>
            <a:normAutofit/>
          </a:bodyPr>
          <a:lstStyle/>
          <a:p>
            <a:r>
              <a:rPr lang="en-US" b="1" dirty="0">
                <a:latin typeface="Casper Bold"/>
              </a:rPr>
              <a:t>CLASSIFICATION OF METAL</a:t>
            </a:r>
            <a:r>
              <a:rPr lang="en-US" b="1" dirty="0" smtClean="0">
                <a:latin typeface="Casper Bold"/>
              </a:rPr>
              <a:t>, SEMICONDUCTOR </a:t>
            </a:r>
            <a:r>
              <a:rPr lang="en-US" b="1" dirty="0">
                <a:latin typeface="Casper Bold"/>
              </a:rPr>
              <a:t>AND INSULATOR</a:t>
            </a:r>
            <a:endParaRPr lang="en-IN" dirty="0"/>
          </a:p>
        </p:txBody>
      </p:sp>
      <p:sp>
        <p:nvSpPr>
          <p:cNvPr id="4" name="Slide Number Placeholder 3">
            <a:extLst>
              <a:ext uri="{FF2B5EF4-FFF2-40B4-BE49-F238E27FC236}">
                <a16:creationId xmlns="" xmlns:a16="http://schemas.microsoft.com/office/drawing/2014/main" id="{BCEE0914-B15E-4B99-A102-BD99AD5A84FC}"/>
              </a:ext>
            </a:extLst>
          </p:cNvPr>
          <p:cNvSpPr>
            <a:spLocks noGrp="1"/>
          </p:cNvSpPr>
          <p:nvPr>
            <p:ph type="sldNum" sz="quarter" idx="12"/>
          </p:nvPr>
        </p:nvSpPr>
        <p:spPr/>
        <p:txBody>
          <a:bodyPr/>
          <a:lstStyle/>
          <a:p>
            <a:fld id="{BDCDBBEF-AA6C-4BA6-85B2-A17D7F280E38}" type="slidenum">
              <a:rPr lang="en-US" smtClean="0"/>
              <a:pPr/>
              <a:t>14</a:t>
            </a:fld>
            <a:endParaRPr lang="en-US"/>
          </a:p>
        </p:txBody>
      </p:sp>
      <p:sp>
        <p:nvSpPr>
          <p:cNvPr id="5" name="Content Placeholder 2">
            <a:extLst>
              <a:ext uri="{FF2B5EF4-FFF2-40B4-BE49-F238E27FC236}">
                <a16:creationId xmlns="" xmlns:a16="http://schemas.microsoft.com/office/drawing/2014/main" id="{8337E211-2093-4389-A918-A3AE18D0B297}"/>
              </a:ext>
            </a:extLst>
          </p:cNvPr>
          <p:cNvSpPr txBox="1">
            <a:spLocks noGrp="1"/>
          </p:cNvSpPr>
          <p:nvPr>
            <p:ph idx="1"/>
          </p:nvPr>
        </p:nvSpPr>
        <p:spPr>
          <a:xfrm>
            <a:off x="838200" y="1825625"/>
            <a:ext cx="10515600" cy="4351338"/>
          </a:xfrm>
          <a:prstGeom prst="rect">
            <a:avLst/>
          </a:prstGeom>
          <a:ln>
            <a:solidFill>
              <a:schemeClr val="accent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sz="2400" b="1" dirty="0"/>
              <a:t>INSULATOR</a:t>
            </a:r>
            <a:endParaRPr lang="en-US" sz="2400" dirty="0"/>
          </a:p>
          <a:p>
            <a:pPr algn="just"/>
            <a:r>
              <a:rPr lang="en-US" sz="2400" dirty="0">
                <a:latin typeface="Casper"/>
              </a:rPr>
              <a:t>The third possible energy band diagram shows that electrons, however heated, cannot practically jump to conduction band from valence band due to a large energy gap. Therefore, conduction is not possible in insulators.</a:t>
            </a:r>
          </a:p>
          <a:p>
            <a:pPr algn="just"/>
            <a:r>
              <a:rPr lang="en-US" sz="2400" dirty="0">
                <a:latin typeface="Casper"/>
              </a:rPr>
              <a:t>Example -e.g.-Diamond = 7 eV</a:t>
            </a:r>
          </a:p>
          <a:p>
            <a:pPr algn="just"/>
            <a:r>
              <a:rPr lang="en-US" sz="2400" dirty="0">
                <a:latin typeface="Casper"/>
              </a:rPr>
              <a:t>They don’t conduct electricity even at high temperatures.</a:t>
            </a:r>
          </a:p>
          <a:p>
            <a:pPr algn="just"/>
            <a:r>
              <a:rPr lang="en-US" sz="2400" dirty="0">
                <a:latin typeface="Casper"/>
              </a:rPr>
              <a:t>Examples-wood, plastic</a:t>
            </a:r>
          </a:p>
          <a:p>
            <a:endParaRPr lang="en-US" sz="2400" dirty="0"/>
          </a:p>
          <a:p>
            <a:endParaRPr lang="en-US" sz="2400" dirty="0"/>
          </a:p>
          <a:p>
            <a:endParaRPr lang="en-US" sz="2400" dirty="0"/>
          </a:p>
          <a:p>
            <a:endParaRPr lang="en-US" sz="2400" dirty="0"/>
          </a:p>
          <a:p>
            <a:endParaRPr lang="en-US" sz="2400" dirty="0"/>
          </a:p>
          <a:p>
            <a:pPr algn="just">
              <a:lnSpc>
                <a:spcPct val="100000"/>
              </a:lnSpc>
              <a:buFont typeface="Wingdings" panose="05000000000000000000" pitchFamily="2" charset="2"/>
              <a:buChar char="q"/>
            </a:pPr>
            <a:endParaRPr lang="en-US" sz="2400" dirty="0">
              <a:latin typeface="Casper "/>
              <a:cs typeface="Times New Roman" pitchFamily="18" charset="0"/>
            </a:endParaRPr>
          </a:p>
        </p:txBody>
      </p:sp>
    </p:spTree>
    <p:extLst>
      <p:ext uri="{BB962C8B-B14F-4D97-AF65-F5344CB8AC3E}">
        <p14:creationId xmlns:p14="http://schemas.microsoft.com/office/powerpoint/2010/main" xmlns="" val="331697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340" y="360361"/>
            <a:ext cx="10220459" cy="1279527"/>
          </a:xfrm>
          <a:ln>
            <a:solidFill>
              <a:srgbClr val="C00000"/>
            </a:solidFill>
          </a:ln>
        </p:spPr>
        <p:txBody>
          <a:bodyPr>
            <a:normAutofit/>
          </a:bodyPr>
          <a:lstStyle/>
          <a:p>
            <a:pPr algn="ctr"/>
            <a:r>
              <a:rPr lang="en-US" dirty="0">
                <a:solidFill>
                  <a:srgbClr val="C00000"/>
                </a:solidFill>
                <a:latin typeface="Casper Bold"/>
              </a:rPr>
              <a:t> </a:t>
            </a:r>
            <a:r>
              <a:rPr lang="en-US" b="1" dirty="0">
                <a:latin typeface="Casper Bold"/>
                <a:cs typeface="Times New Roman" pitchFamily="18" charset="0"/>
              </a:rPr>
              <a:t>DIRECT AND INDIRECT BAND GAP </a:t>
            </a:r>
            <a:endParaRPr lang="en-US" dirty="0">
              <a:latin typeface="Casper Bold"/>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pic>
        <p:nvPicPr>
          <p:cNvPr id="7" name="Content Placeholder 5" descr="ed1.png"/>
          <p:cNvPicPr>
            <a:picLocks noGrp="1" noChangeAspect="1"/>
          </p:cNvPicPr>
          <p:nvPr>
            <p:ph idx="1"/>
          </p:nvPr>
        </p:nvPicPr>
        <p:blipFill>
          <a:blip r:embed="rId2" cstate="print"/>
          <a:stretch>
            <a:fillRect/>
          </a:stretch>
        </p:blipFill>
        <p:spPr>
          <a:xfrm>
            <a:off x="1262130" y="1825626"/>
            <a:ext cx="9985948" cy="3828200"/>
          </a:xfrm>
          <a:ln>
            <a:solidFill>
              <a:schemeClr val="accent1"/>
            </a:solidFill>
          </a:ln>
        </p:spPr>
      </p:pic>
      <p:sp>
        <p:nvSpPr>
          <p:cNvPr id="6" name="TextBox 5">
            <a:extLst>
              <a:ext uri="{FF2B5EF4-FFF2-40B4-BE49-F238E27FC236}">
                <a16:creationId xmlns="" xmlns:a16="http://schemas.microsoft.com/office/drawing/2014/main" id="{9D2A1471-98FB-4442-931D-841C21A17765}"/>
              </a:ext>
            </a:extLst>
          </p:cNvPr>
          <p:cNvSpPr txBox="1"/>
          <p:nvPr/>
        </p:nvSpPr>
        <p:spPr>
          <a:xfrm>
            <a:off x="1609859" y="5987018"/>
            <a:ext cx="9195515" cy="369332"/>
          </a:xfrm>
          <a:prstGeom prst="rect">
            <a:avLst/>
          </a:prstGeom>
          <a:noFill/>
        </p:spPr>
        <p:txBody>
          <a:bodyPr wrap="square" rtlCol="0">
            <a:spAutoFit/>
          </a:bodyPr>
          <a:lstStyle/>
          <a:p>
            <a:r>
              <a:rPr lang="en-US" sz="1600" dirty="0">
                <a:latin typeface="Casper"/>
              </a:rPr>
              <a:t>                       </a:t>
            </a:r>
            <a:r>
              <a:rPr lang="en-US" b="1" dirty="0"/>
              <a:t>Figure 4.5 </a:t>
            </a:r>
            <a:r>
              <a:rPr lang="en-US" b="1" dirty="0" smtClean="0"/>
              <a:t>Direct </a:t>
            </a:r>
            <a:r>
              <a:rPr lang="en-US" b="1" dirty="0"/>
              <a:t>and indirect band gap difference between momentum vector [5</a:t>
            </a:r>
            <a:r>
              <a:rPr lang="en-US" sz="1600" dirty="0">
                <a:latin typeface="Casper"/>
              </a:rPr>
              <a:t>]</a:t>
            </a:r>
          </a:p>
        </p:txBody>
      </p:sp>
    </p:spTree>
    <p:extLst>
      <p:ext uri="{BB962C8B-B14F-4D97-AF65-F5344CB8AC3E}">
        <p14:creationId xmlns:p14="http://schemas.microsoft.com/office/powerpoint/2010/main" xmlns="" val="2271245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0BFC53F-C72D-49B6-B4F0-FA6D51D478FC}"/>
              </a:ext>
            </a:extLst>
          </p:cNvPr>
          <p:cNvSpPr>
            <a:spLocks noGrp="1"/>
          </p:cNvSpPr>
          <p:nvPr>
            <p:ph type="title"/>
          </p:nvPr>
        </p:nvSpPr>
        <p:spPr>
          <a:xfrm>
            <a:off x="1068946" y="365125"/>
            <a:ext cx="10284854" cy="1281113"/>
          </a:xfrm>
          <a:ln>
            <a:solidFill>
              <a:srgbClr val="C00000"/>
            </a:solidFill>
          </a:ln>
        </p:spPr>
        <p:txBody>
          <a:bodyPr/>
          <a:lstStyle/>
          <a:p>
            <a:pPr algn="ctr"/>
            <a:r>
              <a:rPr lang="en-US" b="1" dirty="0">
                <a:latin typeface="Casper Bold"/>
                <a:cs typeface="Times New Roman" pitchFamily="18" charset="0"/>
              </a:rPr>
              <a:t>DIRECT AND INDIRECT BAND GAP</a:t>
            </a:r>
            <a:endParaRPr lang="en-IN" dirty="0"/>
          </a:p>
        </p:txBody>
      </p:sp>
      <p:sp>
        <p:nvSpPr>
          <p:cNvPr id="3" name="Content Placeholder 2">
            <a:extLst>
              <a:ext uri="{FF2B5EF4-FFF2-40B4-BE49-F238E27FC236}">
                <a16:creationId xmlns="" xmlns:a16="http://schemas.microsoft.com/office/drawing/2014/main" id="{42EE7EBF-9780-4D89-A6F6-477391D1136F}"/>
              </a:ext>
            </a:extLst>
          </p:cNvPr>
          <p:cNvSpPr>
            <a:spLocks noGrp="1"/>
          </p:cNvSpPr>
          <p:nvPr>
            <p:ph idx="1"/>
          </p:nvPr>
        </p:nvSpPr>
        <p:spPr>
          <a:ln>
            <a:solidFill>
              <a:schemeClr val="accent1"/>
            </a:solidFill>
          </a:ln>
        </p:spPr>
        <p:txBody>
          <a:bodyPr>
            <a:normAutofit lnSpcReduction="10000"/>
          </a:bodyPr>
          <a:lstStyle/>
          <a:p>
            <a:pPr algn="just">
              <a:lnSpc>
                <a:spcPct val="150000"/>
              </a:lnSpc>
              <a:buFont typeface="Wingdings" panose="05000000000000000000" pitchFamily="2" charset="2"/>
              <a:buChar char="q"/>
            </a:pPr>
            <a:r>
              <a:rPr lang="en-US" sz="2400" dirty="0">
                <a:latin typeface="Casper" panose="02000506000000020004"/>
              </a:rPr>
              <a:t>Direct band gap semiconductor-Those materials for which maximum of valence band and minimum of conduction band lie for same value of k, called direct bandgap materials (i.e. satisfies the condition of energy and momentum conservation).  For example: GaAs, InP, CdS. etc.</a:t>
            </a:r>
          </a:p>
          <a:p>
            <a:pPr algn="just">
              <a:lnSpc>
                <a:spcPct val="150000"/>
              </a:lnSpc>
              <a:buFont typeface="Wingdings" panose="05000000000000000000" pitchFamily="2" charset="2"/>
              <a:buChar char="q"/>
            </a:pPr>
            <a:r>
              <a:rPr lang="en-US" sz="2400" dirty="0">
                <a:latin typeface="Casper" panose="02000506000000020004"/>
              </a:rPr>
              <a:t>Indirect bandgap semiconductors-Indirect bandgap semiconductors Those materials for which maximum of valence band and minimum of conduction band do not occur at same value of k, called indirect bandgap materials. For example: Si and Ge</a:t>
            </a:r>
            <a:endParaRPr lang="en-IN" sz="2400" dirty="0">
              <a:latin typeface="Casper" panose="02000506000000020004"/>
            </a:endParaRPr>
          </a:p>
        </p:txBody>
      </p:sp>
      <p:sp>
        <p:nvSpPr>
          <p:cNvPr id="4" name="Slide Number Placeholder 3">
            <a:extLst>
              <a:ext uri="{FF2B5EF4-FFF2-40B4-BE49-F238E27FC236}">
                <a16:creationId xmlns="" xmlns:a16="http://schemas.microsoft.com/office/drawing/2014/main" id="{2661F00C-C325-4136-B0AB-D21875B7EFA1}"/>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xmlns="" val="1639587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Introduction to Semi-Conductor</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t>A semiconductor material is one whose electrical properties lie in between those of insulators and good conductors. Examples are: germanium and silicon.</a:t>
            </a:r>
          </a:p>
          <a:p>
            <a:r>
              <a:rPr lang="en-US" dirty="0" smtClean="0"/>
              <a:t>In terms of energy bands, semiconductors can be defined as those materials which have almost an empty conduction band and almost filled valence band with a very narrow energy gap (of the order of 1 </a:t>
            </a:r>
            <a:r>
              <a:rPr lang="en-US" dirty="0" err="1" smtClean="0"/>
              <a:t>eV</a:t>
            </a:r>
            <a:r>
              <a:rPr lang="en-US" dirty="0" smtClean="0"/>
              <a:t>) separating the two.</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Types of Semi Conductor</a:t>
            </a:r>
            <a:endParaRPr lang="en-US" b="1" dirty="0"/>
          </a:p>
        </p:txBody>
      </p:sp>
      <p:sp>
        <p:nvSpPr>
          <p:cNvPr id="3" name="Content Placeholder 2"/>
          <p:cNvSpPr>
            <a:spLocks noGrp="1"/>
          </p:cNvSpPr>
          <p:nvPr>
            <p:ph idx="1"/>
          </p:nvPr>
        </p:nvSpPr>
        <p:spPr/>
        <p:txBody>
          <a:bodyPr/>
          <a:lstStyle/>
          <a:p>
            <a:r>
              <a:rPr lang="en-US" dirty="0" smtClean="0"/>
              <a:t>Semiconductor may be classified as under:</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pic>
        <p:nvPicPr>
          <p:cNvPr id="5" name="image1.png"/>
          <p:cNvPicPr/>
          <p:nvPr/>
        </p:nvPicPr>
        <p:blipFill>
          <a:blip r:embed="rId2" cstate="print"/>
          <a:stretch>
            <a:fillRect/>
          </a:stretch>
        </p:blipFill>
        <p:spPr>
          <a:xfrm>
            <a:off x="2890684" y="2619375"/>
            <a:ext cx="5781367" cy="307350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lgn="ctr"/>
            <a:r>
              <a:rPr lang="en-US" b="1" u="sng" dirty="0" smtClean="0"/>
              <a:t>Intrinsic Semiconductors</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An intrinsic semiconductor is one which is made of the semiconductor material in its extremely pure form.</a:t>
            </a:r>
          </a:p>
          <a:p>
            <a:r>
              <a:rPr lang="en-US" dirty="0" smtClean="0"/>
              <a:t>Examples of such semiconductors are: pure germanium and silicon which have forbidden energy gaps of 0.72 </a:t>
            </a:r>
            <a:r>
              <a:rPr lang="en-US" dirty="0" err="1" smtClean="0"/>
              <a:t>eV</a:t>
            </a:r>
            <a:r>
              <a:rPr lang="en-US" dirty="0" smtClean="0"/>
              <a:t> and 1.1 </a:t>
            </a:r>
            <a:r>
              <a:rPr lang="en-US" dirty="0" err="1" smtClean="0"/>
              <a:t>eV</a:t>
            </a:r>
            <a:r>
              <a:rPr lang="en-US" dirty="0" smtClean="0"/>
              <a:t> respectively. The energy gap is so small that even at ordinary room temperature; there are many electrons which possess sufficient energy to jump across the small energy gap between the valence and the conduction bands.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lgn="ctr"/>
            <a:r>
              <a:rPr lang="en-US" b="1" dirty="0" smtClean="0"/>
              <a:t>Extrinsic Semiconductors:</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Those intrinsic semiconductors to which some suitable impurity or doping agent or doping has been added in extremely small amounts (about 1 part in 10</a:t>
            </a:r>
            <a:r>
              <a:rPr lang="en-US" baseline="30000" dirty="0" smtClean="0"/>
              <a:t>8</a:t>
            </a:r>
            <a:r>
              <a:rPr lang="en-US" dirty="0" smtClean="0"/>
              <a:t>) are called extrinsic or impurity semiconductors.</a:t>
            </a:r>
          </a:p>
          <a:p>
            <a:r>
              <a:rPr lang="en-US" dirty="0" smtClean="0"/>
              <a:t>Depending on the type of doping material used, extrinsic semiconductors can be sub-divided into two classes:</a:t>
            </a:r>
          </a:p>
          <a:p>
            <a:pPr lvl="0"/>
            <a:r>
              <a:rPr lang="en-US" dirty="0" smtClean="0"/>
              <a:t>N-type semiconductors and</a:t>
            </a:r>
          </a:p>
          <a:p>
            <a:pPr lvl="0"/>
            <a:r>
              <a:rPr lang="en-US" dirty="0" smtClean="0"/>
              <a:t>P-type semiconductors.</a:t>
            </a:r>
          </a:p>
          <a:p>
            <a:endParaRPr lang="en-US" dirty="0" smtClean="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lgn="ctr"/>
            <a:r>
              <a:rPr lang="en-US" b="1" dirty="0" smtClean="0"/>
              <a:t>P-type Extrinsic Semiconductor:</a:t>
            </a:r>
            <a:r>
              <a:rPr lang="en-US" b="1" u="sng" dirty="0" smtClean="0"/>
              <a:t/>
            </a:r>
            <a:br>
              <a:rPr lang="en-US" b="1" u="sng" dirty="0" smtClean="0"/>
            </a:br>
            <a:endParaRPr lang="en-US" dirty="0"/>
          </a:p>
        </p:txBody>
      </p:sp>
      <p:sp>
        <p:nvSpPr>
          <p:cNvPr id="3" name="Content Placeholder 2"/>
          <p:cNvSpPr>
            <a:spLocks noGrp="1"/>
          </p:cNvSpPr>
          <p:nvPr>
            <p:ph idx="1"/>
          </p:nvPr>
        </p:nvSpPr>
        <p:spPr/>
        <p:txBody>
          <a:bodyPr>
            <a:normAutofit/>
          </a:bodyPr>
          <a:lstStyle/>
          <a:p>
            <a:r>
              <a:rPr lang="en-US" dirty="0" smtClean="0"/>
              <a:t>This </a:t>
            </a:r>
            <a:r>
              <a:rPr lang="en-US" dirty="0" smtClean="0"/>
              <a:t>type of semiconductor is obtained when traces of a trivalent like boron (B) are added to a pure germanium crystal. In this case, the three valence electrons of boron atom form covalent bonds with four surrounding germanium atoms but one bond is left incomplete and gives rise to a hole as shown in Fig. below.</a:t>
            </a:r>
          </a:p>
          <a:p>
            <a:r>
              <a:rPr lang="en-US" dirty="0" smtClean="0"/>
              <a:t>Thus, boron which is called an acceptor impurity causes as many positive holes in a germanium crystal as there are boron atoms thereby producing a P-type (P for positive) extrinsic semiconductor.</a:t>
            </a:r>
          </a:p>
          <a:p>
            <a:r>
              <a:rPr lang="en-US" dirty="0" smtClean="0"/>
              <a:t>In this type of semiconductor, conduction is by the movement of holes in the valence band.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lgn="ctr"/>
            <a:r>
              <a:rPr lang="en-US" b="1" dirty="0" smtClean="0"/>
              <a:t>N-type Extrinsic Semiconductor</a:t>
            </a:r>
            <a:r>
              <a:rPr lang="en-US" dirty="0" smtClean="0"/>
              <a:t>:</a:t>
            </a:r>
            <a:r>
              <a:rPr lang="en-US" b="1" u="sng" dirty="0" smtClean="0"/>
              <a:t/>
            </a:r>
            <a:br>
              <a:rPr lang="en-US" b="1" u="sng"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This </a:t>
            </a:r>
            <a:r>
              <a:rPr lang="en-US" dirty="0" smtClean="0"/>
              <a:t>type of semiconductor is obtained when a </a:t>
            </a:r>
            <a:r>
              <a:rPr lang="en-US" dirty="0" err="1" smtClean="0"/>
              <a:t>pentavalent</a:t>
            </a:r>
            <a:r>
              <a:rPr lang="en-US" dirty="0" smtClean="0"/>
              <a:t> material like </a:t>
            </a:r>
            <a:r>
              <a:rPr lang="en-US" dirty="0" smtClean="0"/>
              <a:t>antimony </a:t>
            </a:r>
            <a:r>
              <a:rPr lang="en-US" dirty="0" smtClean="0"/>
              <a:t>(</a:t>
            </a:r>
            <a:r>
              <a:rPr lang="en-US" dirty="0" err="1" smtClean="0"/>
              <a:t>Sb</a:t>
            </a:r>
            <a:r>
              <a:rPr lang="en-US" dirty="0" smtClean="0"/>
              <a:t>) is added to pure germanium crystal. As shown in Fig. below, each antimony atom forms covalent bonds with the surrounding four germanium atoms with the help of four of its five electrons. The fifth electron is superfluous and is loosely bound to the antimony atom.</a:t>
            </a:r>
          </a:p>
          <a:p>
            <a:r>
              <a:rPr lang="en-US" dirty="0" smtClean="0"/>
              <a:t>Hence, it can be easily excited from the valence band to the conduction band by the application of electric field or increase in thermal energy. It is seen from the above description that in N-type semiconductors, electrons are the majority carriers while holes constitute the minority carriers.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9B8781-2547-4C40-8434-791DA43A103B}"/>
              </a:ext>
            </a:extLst>
          </p:cNvPr>
          <p:cNvSpPr>
            <a:spLocks noGrp="1"/>
          </p:cNvSpPr>
          <p:nvPr>
            <p:ph type="title"/>
          </p:nvPr>
        </p:nvSpPr>
        <p:spPr>
          <a:xfrm>
            <a:off x="1159098" y="365125"/>
            <a:ext cx="10194701" cy="1325563"/>
          </a:xfrm>
          <a:ln>
            <a:solidFill>
              <a:srgbClr val="C00000"/>
            </a:solidFill>
          </a:ln>
        </p:spPr>
        <p:txBody>
          <a:bodyPr/>
          <a:lstStyle/>
          <a:p>
            <a:pPr algn="ctr"/>
            <a:r>
              <a:rPr lang="en-IN" b="1" dirty="0">
                <a:latin typeface="Casper Bold"/>
              </a:rPr>
              <a:t>SUMMARY</a:t>
            </a:r>
          </a:p>
        </p:txBody>
      </p:sp>
      <p:sp>
        <p:nvSpPr>
          <p:cNvPr id="4" name="Slide Number Placeholder 3">
            <a:extLst>
              <a:ext uri="{FF2B5EF4-FFF2-40B4-BE49-F238E27FC236}">
                <a16:creationId xmlns="" xmlns:a16="http://schemas.microsoft.com/office/drawing/2014/main" id="{BCEE0914-B15E-4B99-A102-BD99AD5A84FC}"/>
              </a:ext>
            </a:extLst>
          </p:cNvPr>
          <p:cNvSpPr>
            <a:spLocks noGrp="1"/>
          </p:cNvSpPr>
          <p:nvPr>
            <p:ph type="sldNum" sz="quarter" idx="12"/>
          </p:nvPr>
        </p:nvSpPr>
        <p:spPr/>
        <p:txBody>
          <a:bodyPr/>
          <a:lstStyle/>
          <a:p>
            <a:fld id="{BDCDBBEF-AA6C-4BA6-85B2-A17D7F280E38}" type="slidenum">
              <a:rPr lang="en-US" smtClean="0"/>
              <a:pPr/>
              <a:t>23</a:t>
            </a:fld>
            <a:endParaRPr lang="en-US"/>
          </a:p>
        </p:txBody>
      </p:sp>
      <p:sp>
        <p:nvSpPr>
          <p:cNvPr id="5" name="Content Placeholder 2">
            <a:extLst>
              <a:ext uri="{FF2B5EF4-FFF2-40B4-BE49-F238E27FC236}">
                <a16:creationId xmlns="" xmlns:a16="http://schemas.microsoft.com/office/drawing/2014/main" id="{8337E211-2093-4389-A918-A3AE18D0B297}"/>
              </a:ext>
            </a:extLst>
          </p:cNvPr>
          <p:cNvSpPr txBox="1">
            <a:spLocks noGrp="1"/>
          </p:cNvSpPr>
          <p:nvPr>
            <p:ph idx="1"/>
          </p:nvPr>
        </p:nvSpPr>
        <p:spPr>
          <a:xfrm>
            <a:off x="838200" y="1825625"/>
            <a:ext cx="10515600" cy="4351338"/>
          </a:xfrm>
          <a:prstGeom prst="rect">
            <a:avLst/>
          </a:prstGeom>
          <a:ln>
            <a:solidFill>
              <a:schemeClr val="accent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400" dirty="0"/>
          </a:p>
          <a:p>
            <a:pPr lvl="0" algn="just"/>
            <a:r>
              <a:rPr lang="en-US" sz="2400" dirty="0">
                <a:latin typeface="Casper" panose="02000506000000020004"/>
              </a:rPr>
              <a:t>Band theory of solids explain the formation of bands which helps to differentiate between metals, semiconductors and insulator. </a:t>
            </a:r>
          </a:p>
          <a:p>
            <a:pPr lvl="0" algn="just"/>
            <a:r>
              <a:rPr lang="en-US" sz="2400" dirty="0">
                <a:latin typeface="Casper" panose="02000506000000020004"/>
              </a:rPr>
              <a:t>Conductivity of metals, semiconductors and insulator depends upon the band gap.</a:t>
            </a:r>
            <a:r>
              <a:rPr lang="en-US" sz="2400" b="1" dirty="0">
                <a:latin typeface="Casper" panose="02000506000000020004"/>
              </a:rPr>
              <a:t>  </a:t>
            </a:r>
            <a:endParaRPr lang="en-US" sz="2400" dirty="0">
              <a:latin typeface="Casper" panose="02000506000000020004"/>
            </a:endParaRPr>
          </a:p>
          <a:p>
            <a:pPr lvl="0" algn="just"/>
            <a:r>
              <a:rPr lang="en-US" sz="2400" dirty="0">
                <a:latin typeface="Casper" panose="02000506000000020004"/>
              </a:rPr>
              <a:t>To have efficient LED’s and LASER’s, one should choose materials having direct band gaps.</a:t>
            </a:r>
          </a:p>
          <a:p>
            <a:pPr lvl="0" algn="just"/>
            <a:r>
              <a:rPr lang="en-US" sz="2400" dirty="0">
                <a:latin typeface="Casper" panose="02000506000000020004"/>
              </a:rPr>
              <a:t>To find the occupancy of level Fermi distribution function is preferred.</a:t>
            </a:r>
          </a:p>
          <a:p>
            <a:pPr algn="just"/>
            <a:r>
              <a:rPr lang="en-US" sz="2400" dirty="0">
                <a:latin typeface="Casper" panose="02000506000000020004"/>
              </a:rPr>
              <a:t>Fermi energy corresponds to fermi level.</a:t>
            </a:r>
          </a:p>
          <a:p>
            <a:endParaRPr lang="en-US" sz="2400" dirty="0"/>
          </a:p>
          <a:p>
            <a:endParaRPr lang="en-US" sz="2400" dirty="0"/>
          </a:p>
          <a:p>
            <a:endParaRPr lang="en-US" sz="2400" dirty="0"/>
          </a:p>
          <a:p>
            <a:endParaRPr lang="en-US" sz="2400" dirty="0"/>
          </a:p>
          <a:p>
            <a:pPr algn="just">
              <a:lnSpc>
                <a:spcPct val="100000"/>
              </a:lnSpc>
              <a:buFont typeface="Wingdings" panose="05000000000000000000" pitchFamily="2" charset="2"/>
              <a:buChar char="q"/>
            </a:pPr>
            <a:endParaRPr lang="en-US" sz="2400" dirty="0">
              <a:latin typeface="Casper "/>
              <a:cs typeface="Times New Roman" pitchFamily="18" charset="0"/>
            </a:endParaRPr>
          </a:p>
        </p:txBody>
      </p:sp>
    </p:spTree>
    <p:extLst>
      <p:ext uri="{BB962C8B-B14F-4D97-AF65-F5344CB8AC3E}">
        <p14:creationId xmlns:p14="http://schemas.microsoft.com/office/powerpoint/2010/main" xmlns="" val="1792231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17A7B7-4A3D-485A-BFDC-769E54111A22}"/>
              </a:ext>
            </a:extLst>
          </p:cNvPr>
          <p:cNvSpPr>
            <a:spLocks noGrp="1"/>
          </p:cNvSpPr>
          <p:nvPr>
            <p:ph type="title"/>
          </p:nvPr>
        </p:nvSpPr>
        <p:spPr>
          <a:xfrm>
            <a:off x="1313644" y="365126"/>
            <a:ext cx="10040155" cy="987156"/>
          </a:xfrm>
          <a:ln>
            <a:solidFill>
              <a:srgbClr val="C00000"/>
            </a:solidFill>
          </a:ln>
        </p:spPr>
        <p:txBody>
          <a:bodyPr/>
          <a:lstStyle/>
          <a:p>
            <a:pPr algn="ctr"/>
            <a:r>
              <a:rPr lang="en-IN" b="1" dirty="0">
                <a:latin typeface="Casper Bold" panose="02000806040000020004"/>
              </a:rPr>
              <a:t>FREQUENTLY ASKED QUESTIONS</a:t>
            </a:r>
          </a:p>
        </p:txBody>
      </p:sp>
      <p:sp>
        <p:nvSpPr>
          <p:cNvPr id="3" name="Content Placeholder 2">
            <a:extLst>
              <a:ext uri="{FF2B5EF4-FFF2-40B4-BE49-F238E27FC236}">
                <a16:creationId xmlns="" xmlns:a16="http://schemas.microsoft.com/office/drawing/2014/main" id="{99975001-1248-4EB2-9B11-2CD2D1F028BE}"/>
              </a:ext>
            </a:extLst>
          </p:cNvPr>
          <p:cNvSpPr>
            <a:spLocks noGrp="1"/>
          </p:cNvSpPr>
          <p:nvPr>
            <p:ph idx="1"/>
          </p:nvPr>
        </p:nvSpPr>
        <p:spPr>
          <a:xfrm>
            <a:off x="838200" y="1825625"/>
            <a:ext cx="10515600" cy="4384106"/>
          </a:xfrm>
          <a:ln>
            <a:solidFill>
              <a:schemeClr val="accent1"/>
            </a:solidFill>
          </a:ln>
        </p:spPr>
        <p:txBody>
          <a:bodyPr/>
          <a:lstStyle/>
          <a:p>
            <a:pPr marL="514350" indent="-514350">
              <a:buFont typeface="+mj-lt"/>
              <a:buAutoNum type="arabicPeriod"/>
            </a:pPr>
            <a:endParaRPr lang="en-IN" dirty="0">
              <a:latin typeface="Casper"/>
            </a:endParaRPr>
          </a:p>
          <a:p>
            <a:endParaRPr lang="en-IN" dirty="0"/>
          </a:p>
          <a:p>
            <a:pPr marL="0" indent="0">
              <a:buNone/>
            </a:pPr>
            <a:endParaRPr lang="en-IN" dirty="0"/>
          </a:p>
          <a:p>
            <a:endParaRPr lang="en-IN" dirty="0"/>
          </a:p>
        </p:txBody>
      </p:sp>
      <p:sp>
        <p:nvSpPr>
          <p:cNvPr id="4" name="Slide Number Placeholder 3">
            <a:extLst>
              <a:ext uri="{FF2B5EF4-FFF2-40B4-BE49-F238E27FC236}">
                <a16:creationId xmlns="" xmlns:a16="http://schemas.microsoft.com/office/drawing/2014/main" id="{8352D217-ACCB-4A4F-94FC-ED9A12B1000D}"/>
              </a:ext>
            </a:extLst>
          </p:cNvPr>
          <p:cNvSpPr>
            <a:spLocks noGrp="1"/>
          </p:cNvSpPr>
          <p:nvPr>
            <p:ph type="sldNum" sz="quarter" idx="12"/>
          </p:nvPr>
        </p:nvSpPr>
        <p:spPr/>
        <p:txBody>
          <a:bodyPr/>
          <a:lstStyle/>
          <a:p>
            <a:fld id="{BDCDBBEF-AA6C-4BA6-85B2-A17D7F280E38}" type="slidenum">
              <a:rPr lang="en-US" smtClean="0"/>
              <a:pPr/>
              <a:t>24</a:t>
            </a:fld>
            <a:endParaRPr lang="en-US"/>
          </a:p>
        </p:txBody>
      </p:sp>
      <p:sp>
        <p:nvSpPr>
          <p:cNvPr id="5" name="Rectangle 4">
            <a:extLst>
              <a:ext uri="{FF2B5EF4-FFF2-40B4-BE49-F238E27FC236}">
                <a16:creationId xmlns="" xmlns:a16="http://schemas.microsoft.com/office/drawing/2014/main" id="{F233F103-DFB7-461A-9733-BC871A160D51}"/>
              </a:ext>
            </a:extLst>
          </p:cNvPr>
          <p:cNvSpPr/>
          <p:nvPr/>
        </p:nvSpPr>
        <p:spPr>
          <a:xfrm>
            <a:off x="838200" y="1784970"/>
            <a:ext cx="10612272" cy="4601003"/>
          </a:xfrm>
          <a:prstGeom prst="rect">
            <a:avLst/>
          </a:prstGeom>
        </p:spPr>
        <p:txBody>
          <a:bodyPr wrap="square">
            <a:spAutoFit/>
          </a:bodyPr>
          <a:lstStyle/>
          <a:p>
            <a:pPr algn="just">
              <a:lnSpc>
                <a:spcPct val="150000"/>
              </a:lnSpc>
              <a:spcAft>
                <a:spcPts val="800"/>
              </a:spcAft>
            </a:pPr>
            <a:r>
              <a:rPr lang="en-US" sz="2400" dirty="0">
                <a:latin typeface="Casper"/>
                <a:ea typeface="Calibri" panose="020F0502020204030204" pitchFamily="34" charset="0"/>
                <a:cs typeface="Raavi" panose="020B0502040204020203" pitchFamily="34" charset="0"/>
              </a:rPr>
              <a:t>1.Classify metals, semiconductors and insulators on the basis of band theory.</a:t>
            </a:r>
          </a:p>
          <a:p>
            <a:pPr algn="just">
              <a:lnSpc>
                <a:spcPct val="150000"/>
              </a:lnSpc>
              <a:spcAft>
                <a:spcPts val="800"/>
              </a:spcAft>
            </a:pPr>
            <a:r>
              <a:rPr lang="en-US" sz="2400" dirty="0" smtClean="0">
                <a:latin typeface="Casper"/>
                <a:ea typeface="Calibri" panose="020F0502020204030204" pitchFamily="34" charset="0"/>
                <a:cs typeface="Raavi" panose="020B0502040204020203" pitchFamily="34" charset="0"/>
              </a:rPr>
              <a:t>2. Mention </a:t>
            </a:r>
            <a:r>
              <a:rPr lang="en-US" sz="2400" dirty="0">
                <a:latin typeface="Casper"/>
                <a:ea typeface="Calibri" panose="020F0502020204030204" pitchFamily="34" charset="0"/>
                <a:cs typeface="Raavi" panose="020B0502040204020203" pitchFamily="34" charset="0"/>
              </a:rPr>
              <a:t>band gap of Ge and </a:t>
            </a:r>
            <a:r>
              <a:rPr lang="en-US" sz="2400" dirty="0" smtClean="0">
                <a:latin typeface="Casper"/>
                <a:ea typeface="Calibri" panose="020F0502020204030204" pitchFamily="34" charset="0"/>
                <a:cs typeface="Raavi" panose="020B0502040204020203" pitchFamily="34" charset="0"/>
              </a:rPr>
              <a:t>Si</a:t>
            </a:r>
            <a:endParaRPr lang="en-US" sz="2400" dirty="0">
              <a:latin typeface="Casper"/>
              <a:ea typeface="Calibri" panose="020F0502020204030204" pitchFamily="34" charset="0"/>
              <a:cs typeface="Raavi" panose="020B0502040204020203" pitchFamily="34" charset="0"/>
            </a:endParaRPr>
          </a:p>
          <a:p>
            <a:pPr algn="just">
              <a:lnSpc>
                <a:spcPct val="150000"/>
              </a:lnSpc>
              <a:spcAft>
                <a:spcPts val="800"/>
              </a:spcAft>
            </a:pPr>
            <a:r>
              <a:rPr lang="en-US" sz="2400" dirty="0">
                <a:latin typeface="Casper"/>
                <a:ea typeface="Calibri" panose="020F0502020204030204" pitchFamily="34" charset="0"/>
                <a:cs typeface="Raavi" panose="020B0502040204020203" pitchFamily="34" charset="0"/>
              </a:rPr>
              <a:t>3.Draw the diagram of band gap for metals, semiconductors and insulators.</a:t>
            </a:r>
          </a:p>
          <a:p>
            <a:pPr algn="just">
              <a:lnSpc>
                <a:spcPct val="150000"/>
              </a:lnSpc>
              <a:spcAft>
                <a:spcPts val="800"/>
              </a:spcAft>
            </a:pPr>
            <a:r>
              <a:rPr lang="en-US" sz="2400" dirty="0">
                <a:latin typeface="Casper"/>
                <a:ea typeface="Calibri" panose="020F0502020204030204" pitchFamily="34" charset="0"/>
                <a:cs typeface="Raavi" panose="020B0502040204020203" pitchFamily="34" charset="0"/>
              </a:rPr>
              <a:t>4.How formation of bands take place?</a:t>
            </a:r>
          </a:p>
          <a:p>
            <a:pPr lvl="0">
              <a:lnSpc>
                <a:spcPct val="150000"/>
              </a:lnSpc>
            </a:pPr>
            <a:r>
              <a:rPr lang="en-US" sz="2400" dirty="0" smtClean="0">
                <a:latin typeface="Casper"/>
              </a:rPr>
              <a:t>5.Differentiate </a:t>
            </a:r>
            <a:r>
              <a:rPr lang="en-US" sz="2400" dirty="0">
                <a:latin typeface="Casper"/>
              </a:rPr>
              <a:t>between direct and indirect band gap </a:t>
            </a:r>
            <a:r>
              <a:rPr lang="en-US" sz="2400" dirty="0" smtClean="0">
                <a:latin typeface="Casper"/>
              </a:rPr>
              <a:t>materials</a:t>
            </a:r>
            <a:endParaRPr lang="en-US" sz="2400" dirty="0">
              <a:latin typeface="Casper"/>
            </a:endParaRPr>
          </a:p>
          <a:p>
            <a:pPr lvl="0">
              <a:lnSpc>
                <a:spcPct val="150000"/>
              </a:lnSpc>
            </a:pPr>
            <a:r>
              <a:rPr lang="en-US" sz="2400" dirty="0" smtClean="0">
                <a:latin typeface="Casper"/>
              </a:rPr>
              <a:t>6. Explain the role of </a:t>
            </a:r>
            <a:r>
              <a:rPr lang="en-US" sz="2400" dirty="0">
                <a:latin typeface="Casper"/>
              </a:rPr>
              <a:t>F</a:t>
            </a:r>
            <a:r>
              <a:rPr lang="en-US" sz="2400" dirty="0" smtClean="0">
                <a:latin typeface="Casper"/>
              </a:rPr>
              <a:t>ermi </a:t>
            </a:r>
            <a:r>
              <a:rPr lang="en-US" sz="2400" dirty="0">
                <a:latin typeface="Casper"/>
              </a:rPr>
              <a:t>distribution </a:t>
            </a:r>
            <a:r>
              <a:rPr lang="en-US" sz="2400" dirty="0" smtClean="0">
                <a:latin typeface="Casper"/>
              </a:rPr>
              <a:t>function</a:t>
            </a:r>
            <a:endParaRPr lang="en-US" sz="2400" dirty="0">
              <a:latin typeface="Casper"/>
            </a:endParaRPr>
          </a:p>
          <a:p>
            <a:pPr lvl="0">
              <a:lnSpc>
                <a:spcPct val="150000"/>
              </a:lnSpc>
            </a:pPr>
            <a:r>
              <a:rPr lang="en-US" sz="2400" dirty="0" smtClean="0">
                <a:latin typeface="Casper"/>
              </a:rPr>
              <a:t>7. Justify the </a:t>
            </a:r>
            <a:r>
              <a:rPr lang="en-US" sz="2400" dirty="0">
                <a:latin typeface="Casper"/>
              </a:rPr>
              <a:t>need of </a:t>
            </a:r>
            <a:r>
              <a:rPr lang="en-US" sz="2400" dirty="0" smtClean="0">
                <a:latin typeface="Casper"/>
              </a:rPr>
              <a:t>Fermi </a:t>
            </a:r>
            <a:r>
              <a:rPr lang="en-US" sz="2400" dirty="0">
                <a:latin typeface="Casper"/>
              </a:rPr>
              <a:t>distribution </a:t>
            </a:r>
            <a:r>
              <a:rPr lang="en-US" sz="2400" dirty="0" smtClean="0">
                <a:latin typeface="Casper"/>
              </a:rPr>
              <a:t>function</a:t>
            </a:r>
            <a:endParaRPr lang="en-US" sz="2400" dirty="0">
              <a:latin typeface="Casper"/>
            </a:endParaRPr>
          </a:p>
          <a:p>
            <a:pPr algn="just">
              <a:lnSpc>
                <a:spcPct val="107000"/>
              </a:lnSpc>
              <a:spcAft>
                <a:spcPts val="800"/>
              </a:spcAft>
            </a:pPr>
            <a:endParaRPr lang="en-US" sz="1400" dirty="0">
              <a:effectLst/>
              <a:latin typeface="Calibri" panose="020F0502020204030204" pitchFamily="34" charset="0"/>
              <a:ea typeface="Calibri" panose="020F0502020204030204" pitchFamily="34" charset="0"/>
              <a:cs typeface="Raavi" panose="020B0502040204020203" pitchFamily="34" charset="0"/>
            </a:endParaRPr>
          </a:p>
        </p:txBody>
      </p:sp>
    </p:spTree>
    <p:extLst>
      <p:ext uri="{BB962C8B-B14F-4D97-AF65-F5344CB8AC3E}">
        <p14:creationId xmlns:p14="http://schemas.microsoft.com/office/powerpoint/2010/main" xmlns="" val="836869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70E67A-1677-4D74-A20D-E482B9C14BA0}"/>
              </a:ext>
            </a:extLst>
          </p:cNvPr>
          <p:cNvSpPr>
            <a:spLocks noGrp="1"/>
          </p:cNvSpPr>
          <p:nvPr>
            <p:ph type="title"/>
          </p:nvPr>
        </p:nvSpPr>
        <p:spPr>
          <a:xfrm>
            <a:off x="1390918" y="365126"/>
            <a:ext cx="9962882" cy="974278"/>
          </a:xfrm>
          <a:ln>
            <a:solidFill>
              <a:srgbClr val="C00000"/>
            </a:solidFill>
          </a:ln>
        </p:spPr>
        <p:txBody>
          <a:bodyPr/>
          <a:lstStyle/>
          <a:p>
            <a:pPr algn="ctr"/>
            <a:r>
              <a:rPr lang="en-IN" b="1" dirty="0">
                <a:latin typeface="Casper Bold" panose="02000806040000020004"/>
              </a:rPr>
              <a:t>ASSESSMENT </a:t>
            </a:r>
          </a:p>
        </p:txBody>
      </p:sp>
      <p:sp>
        <p:nvSpPr>
          <p:cNvPr id="3" name="Content Placeholder 2">
            <a:extLst>
              <a:ext uri="{FF2B5EF4-FFF2-40B4-BE49-F238E27FC236}">
                <a16:creationId xmlns="" xmlns:a16="http://schemas.microsoft.com/office/drawing/2014/main" id="{0D006648-6D08-4C25-93E0-741193728B83}"/>
              </a:ext>
            </a:extLst>
          </p:cNvPr>
          <p:cNvSpPr>
            <a:spLocks noGrp="1"/>
          </p:cNvSpPr>
          <p:nvPr>
            <p:ph idx="1"/>
          </p:nvPr>
        </p:nvSpPr>
        <p:spPr>
          <a:ln>
            <a:solidFill>
              <a:schemeClr val="accent1"/>
            </a:solidFill>
          </a:ln>
        </p:spPr>
        <p:txBody>
          <a:bodyPr>
            <a:normAutofit/>
          </a:bodyPr>
          <a:lstStyle/>
          <a:p>
            <a:pPr marL="0" indent="0" algn="ctr">
              <a:buNone/>
            </a:pPr>
            <a:r>
              <a:rPr lang="en-IN" sz="2400" dirty="0"/>
              <a:t>SECTION A</a:t>
            </a:r>
          </a:p>
          <a:p>
            <a:pPr marL="0" indent="0" algn="ctr">
              <a:buNone/>
            </a:pPr>
            <a:r>
              <a:rPr lang="en-IN" sz="2400" dirty="0"/>
              <a:t>Each question carry 2 marks</a:t>
            </a:r>
          </a:p>
          <a:p>
            <a:pPr marL="0" indent="0">
              <a:buNone/>
            </a:pPr>
            <a:r>
              <a:rPr lang="en-IN" sz="2400" dirty="0"/>
              <a:t>1.Define Band gap.</a:t>
            </a:r>
          </a:p>
          <a:p>
            <a:pPr marL="0" indent="0">
              <a:buNone/>
            </a:pPr>
            <a:r>
              <a:rPr lang="en-IN" sz="2400" dirty="0"/>
              <a:t>2.What is significance of Fermi level?</a:t>
            </a:r>
          </a:p>
          <a:p>
            <a:pPr marL="0" indent="0" algn="ctr">
              <a:buNone/>
            </a:pPr>
            <a:r>
              <a:rPr lang="en-IN" sz="2400" dirty="0"/>
              <a:t>SECTION B</a:t>
            </a:r>
          </a:p>
          <a:p>
            <a:pPr marL="0" indent="0">
              <a:buNone/>
            </a:pPr>
            <a:r>
              <a:rPr lang="en-IN" sz="2400" dirty="0"/>
              <a:t>Question carries 15 marks</a:t>
            </a:r>
          </a:p>
          <a:p>
            <a:pPr marL="0" indent="0">
              <a:buNone/>
            </a:pPr>
            <a:r>
              <a:rPr lang="en-IN" sz="2400" dirty="0"/>
              <a:t>1.Explain band theory of solids.</a:t>
            </a:r>
          </a:p>
          <a:p>
            <a:pPr marL="0" indent="0">
              <a:buNone/>
            </a:pPr>
            <a:r>
              <a:rPr lang="en-IN" sz="2400" dirty="0"/>
              <a:t>2.What is Fermi distribution function? Plot it for different temperature. Discuss cases</a:t>
            </a:r>
          </a:p>
          <a:p>
            <a:pPr marL="514350" indent="-514350">
              <a:buAutoNum type="alphaLcParenBoth"/>
            </a:pPr>
            <a:endParaRPr lang="en-IN" dirty="0"/>
          </a:p>
        </p:txBody>
      </p:sp>
      <p:sp>
        <p:nvSpPr>
          <p:cNvPr id="4" name="Slide Number Placeholder 3">
            <a:extLst>
              <a:ext uri="{FF2B5EF4-FFF2-40B4-BE49-F238E27FC236}">
                <a16:creationId xmlns="" xmlns:a16="http://schemas.microsoft.com/office/drawing/2014/main" id="{D6A5BF57-7A81-4210-A778-DC11E8D07F34}"/>
              </a:ext>
            </a:extLst>
          </p:cNvPr>
          <p:cNvSpPr>
            <a:spLocks noGrp="1"/>
          </p:cNvSpPr>
          <p:nvPr>
            <p:ph type="sldNum" sz="quarter" idx="12"/>
          </p:nvPr>
        </p:nvSpPr>
        <p:spPr/>
        <p:txBody>
          <a:bodyPr/>
          <a:lstStyle/>
          <a:p>
            <a:fld id="{BDCDBBEF-AA6C-4BA6-85B2-A17D7F280E38}" type="slidenum">
              <a:rPr lang="en-US" smtClean="0"/>
              <a:pPr/>
              <a:t>25</a:t>
            </a:fld>
            <a:endParaRPr lang="en-US"/>
          </a:p>
        </p:txBody>
      </p:sp>
    </p:spTree>
    <p:extLst>
      <p:ext uri="{BB962C8B-B14F-4D97-AF65-F5344CB8AC3E}">
        <p14:creationId xmlns:p14="http://schemas.microsoft.com/office/powerpoint/2010/main" xmlns="" val="25685254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188" y="360361"/>
            <a:ext cx="10310611" cy="1030557"/>
          </a:xfrm>
          <a:ln>
            <a:solidFill>
              <a:srgbClr val="C00000"/>
            </a:solidFill>
          </a:ln>
        </p:spPr>
        <p:txBody>
          <a:bodyPr/>
          <a:lstStyle/>
          <a:p>
            <a:pPr algn="ctr"/>
            <a:r>
              <a:rPr lang="en-US" dirty="0">
                <a:latin typeface="Casper Bold" panose="02000806040000020004" pitchFamily="2" charset="0"/>
                <a:cs typeface="Arial" panose="020B0604020202020204" pitchFamily="34" charset="0"/>
              </a:rPr>
              <a:t>REFERENCES </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940693" y="1619250"/>
            <a:ext cx="10515600" cy="4351338"/>
          </a:xfrm>
          <a:ln>
            <a:solidFill>
              <a:schemeClr val="accent1"/>
            </a:solidFill>
          </a:ln>
        </p:spPr>
        <p:txBody>
          <a:bodyPr>
            <a:normAutofit fontScale="92500" lnSpcReduction="10000"/>
          </a:bodyPr>
          <a:lstStyle/>
          <a:p>
            <a:pPr>
              <a:buFont typeface="Wingdings" panose="05000000000000000000" pitchFamily="2" charset="2"/>
              <a:buChar char="v"/>
            </a:pPr>
            <a:r>
              <a:rPr lang="en-IN" sz="2600" dirty="0">
                <a:latin typeface="Casper" panose="02000506000000020004"/>
                <a:hlinkClick r:id="rId2">
                  <a:extLst>
                    <a:ext uri="{A12FA001-AC4F-418D-AE19-62706E023703}">
                      <ahyp:hlinkClr xmlns="" xmlns:ahyp="http://schemas.microsoft.com/office/drawing/2018/hyperlinkcolor" val="tx"/>
                    </a:ext>
                  </a:extLst>
                </a:hlinkClick>
              </a:rPr>
              <a:t>https://ocw.mit.edu/courses/materials-science-and-engineering/3-091sc-introduction-to-solid-state-chemistry-fall-2010/amorphous-materials/21-introduction-to-glasses/</a:t>
            </a:r>
            <a:endParaRPr lang="en-IN" sz="2600" dirty="0">
              <a:latin typeface="Casper" panose="02000506000000020004"/>
            </a:endParaRPr>
          </a:p>
          <a:p>
            <a:pPr>
              <a:buFont typeface="Wingdings" panose="05000000000000000000" pitchFamily="2" charset="2"/>
              <a:buChar char="v"/>
            </a:pPr>
            <a:r>
              <a:rPr lang="en-IN" sz="2600" dirty="0">
                <a:latin typeface="Casper" panose="02000506000000020004"/>
                <a:hlinkClick r:id="rId3">
                  <a:extLst>
                    <a:ext uri="{A12FA001-AC4F-418D-AE19-62706E023703}">
                      <ahyp:hlinkClr xmlns="" xmlns:ahyp="http://schemas.microsoft.com/office/drawing/2018/hyperlinkcolor" val="tx"/>
                    </a:ext>
                  </a:extLst>
                </a:hlinkClick>
              </a:rPr>
              <a:t>https://www3.nd.edu/~amoukasi/CBE30361/Lecture__crystallography_A.pdf</a:t>
            </a:r>
            <a:endParaRPr lang="en-IN" sz="2600" dirty="0">
              <a:latin typeface="Casper" panose="02000506000000020004"/>
            </a:endParaRPr>
          </a:p>
          <a:p>
            <a:pPr>
              <a:buFont typeface="Wingdings" panose="05000000000000000000" pitchFamily="2" charset="2"/>
              <a:buChar char="v"/>
            </a:pPr>
            <a:r>
              <a:rPr lang="en-IN" sz="2600" dirty="0">
                <a:latin typeface="Casper" panose="02000506000000020004"/>
                <a:hlinkClick r:id="rId4">
                  <a:extLst>
                    <a:ext uri="{A12FA001-AC4F-418D-AE19-62706E023703}">
                      <ahyp:hlinkClr xmlns="" xmlns:ahyp="http://schemas.microsoft.com/office/drawing/2018/hyperlinkcolor" val="tx"/>
                    </a:ext>
                  </a:extLst>
                </a:hlinkClick>
              </a:rPr>
              <a:t>http://ctc.xmu.edu.cn/jiegou/ppt/chapter7.pdf</a:t>
            </a:r>
            <a:endParaRPr lang="en-IN" sz="2600" dirty="0">
              <a:latin typeface="Casper" panose="02000506000000020004"/>
            </a:endParaRPr>
          </a:p>
          <a:p>
            <a:pPr>
              <a:buFont typeface="Wingdings" panose="05000000000000000000" pitchFamily="2" charset="2"/>
              <a:buChar char="v"/>
            </a:pPr>
            <a:r>
              <a:rPr lang="en-US" sz="2600" u="sng" dirty="0">
                <a:latin typeface="Casper" panose="02000506000000020004"/>
                <a:hlinkClick r:id="rId5">
                  <a:extLst>
                    <a:ext uri="{A12FA001-AC4F-418D-AE19-62706E023703}">
                      <ahyp:hlinkClr xmlns="" xmlns:ahyp="http://schemas.microsoft.com/office/drawing/2018/hyperlinkcolor" val="tx"/>
                    </a:ext>
                  </a:extLst>
                </a:hlinkClick>
              </a:rPr>
              <a:t>https://swayam.gov.in/nd1_noc20_mm17</a:t>
            </a:r>
            <a:endParaRPr lang="en-US" sz="2600" u="sng" dirty="0">
              <a:latin typeface="Casper" panose="02000506000000020004"/>
            </a:endParaRPr>
          </a:p>
          <a:p>
            <a:pPr lvl="0">
              <a:buFont typeface="Wingdings" panose="05000000000000000000" pitchFamily="2" charset="2"/>
              <a:buChar char="v"/>
            </a:pPr>
            <a:r>
              <a:rPr lang="en-US" sz="2600" dirty="0">
                <a:latin typeface="Casper" panose="02000506000000020004"/>
              </a:rPr>
              <a:t>eng.libretexts.org/Bookshelves/</a:t>
            </a:r>
            <a:r>
              <a:rPr lang="en-US" sz="2600" dirty="0" err="1">
                <a:latin typeface="Casper" panose="02000506000000020004"/>
              </a:rPr>
              <a:t>Materials_Science</a:t>
            </a:r>
            <a:endParaRPr lang="en-US" sz="2600" dirty="0">
              <a:latin typeface="Casper" panose="02000506000000020004"/>
            </a:endParaRPr>
          </a:p>
          <a:p>
            <a:pPr lvl="0">
              <a:buFont typeface="Wingdings" panose="05000000000000000000" pitchFamily="2" charset="2"/>
              <a:buChar char="v"/>
            </a:pPr>
            <a:r>
              <a:rPr lang="en-US" sz="2600" dirty="0">
                <a:latin typeface="Casper" panose="02000506000000020004"/>
              </a:rPr>
              <a:t>Supplemental_Modul_es (Materials_Science)/Semiconductors/Band_Theory_of_SemiconduCtors</a:t>
            </a:r>
          </a:p>
          <a:p>
            <a:pPr lvl="0">
              <a:buFont typeface="Wingdings" panose="05000000000000000000" pitchFamily="2" charset="2"/>
              <a:buChar char="v"/>
            </a:pPr>
            <a:r>
              <a:rPr lang="en-US" sz="2600" dirty="0">
                <a:latin typeface="Casper" panose="02000506000000020004"/>
              </a:rPr>
              <a:t>hyperphysics.phy-astr.gsu.edu/</a:t>
            </a:r>
            <a:r>
              <a:rPr lang="en-US" sz="2600" dirty="0" err="1">
                <a:latin typeface="Casper" panose="02000506000000020004"/>
              </a:rPr>
              <a:t>hbase</a:t>
            </a:r>
            <a:r>
              <a:rPr lang="en-US" sz="2600" dirty="0">
                <a:latin typeface="Casper" panose="02000506000000020004"/>
              </a:rPr>
              <a:t>/Solids/band.html</a:t>
            </a:r>
          </a:p>
          <a:p>
            <a:pPr marL="0" indent="0">
              <a:buNone/>
            </a:pPr>
            <a:endParaRPr lang="en-US" u="sng" dirty="0"/>
          </a:p>
          <a:p>
            <a:pPr>
              <a:buFont typeface="Wingdings" panose="05000000000000000000" pitchFamily="2" charset="2"/>
              <a:buChar char="v"/>
            </a:pPr>
            <a:endParaRPr lang="en-US" dirty="0"/>
          </a:p>
          <a:p>
            <a:pPr>
              <a:buFont typeface="Wingdings" panose="05000000000000000000" pitchFamily="2" charset="2"/>
              <a:buChar char="v"/>
            </a:pPr>
            <a:endParaRPr lang="en-IN" sz="2400" dirty="0">
              <a:latin typeface="Casper" panose="02000506000000020004"/>
            </a:endParaRPr>
          </a:p>
          <a:p>
            <a:pPr>
              <a:buFont typeface="Wingdings" panose="05000000000000000000" pitchFamily="2" charset="2"/>
              <a:buChar char="v"/>
            </a:pPr>
            <a:endParaRPr lang="en-IN" sz="2400" dirty="0">
              <a:latin typeface="Casper" panose="02000506000000020004"/>
            </a:endParaRP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Tree>
    <p:extLst>
      <p:ext uri="{BB962C8B-B14F-4D97-AF65-F5344CB8AC3E}">
        <p14:creationId xmlns:p14="http://schemas.microsoft.com/office/powerpoint/2010/main" xmlns="" val="33619184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F1B0A7-00AE-4BF7-BFDF-16BB05FC703F}"/>
              </a:ext>
            </a:extLst>
          </p:cNvPr>
          <p:cNvSpPr>
            <a:spLocks noGrp="1"/>
          </p:cNvSpPr>
          <p:nvPr>
            <p:ph type="title"/>
          </p:nvPr>
        </p:nvSpPr>
        <p:spPr>
          <a:xfrm>
            <a:off x="1609858" y="365125"/>
            <a:ext cx="9743941" cy="1025793"/>
          </a:xfrm>
          <a:ln>
            <a:solidFill>
              <a:srgbClr val="C00000"/>
            </a:solidFill>
          </a:ln>
        </p:spPr>
        <p:txBody>
          <a:bodyPr/>
          <a:lstStyle/>
          <a:p>
            <a:pPr algn="ctr"/>
            <a:r>
              <a:rPr lang="en-IN" b="1" dirty="0">
                <a:latin typeface="Casper Bold"/>
              </a:rPr>
              <a:t>REFERENCE BOOKS</a:t>
            </a:r>
          </a:p>
        </p:txBody>
      </p:sp>
      <p:sp>
        <p:nvSpPr>
          <p:cNvPr id="3" name="Content Placeholder 2">
            <a:extLst>
              <a:ext uri="{FF2B5EF4-FFF2-40B4-BE49-F238E27FC236}">
                <a16:creationId xmlns="" xmlns:a16="http://schemas.microsoft.com/office/drawing/2014/main" id="{8F2C1E89-CBD6-4AE7-AA4E-D68CCACE81AF}"/>
              </a:ext>
            </a:extLst>
          </p:cNvPr>
          <p:cNvSpPr>
            <a:spLocks noGrp="1"/>
          </p:cNvSpPr>
          <p:nvPr>
            <p:ph idx="1"/>
          </p:nvPr>
        </p:nvSpPr>
        <p:spPr>
          <a:xfrm>
            <a:off x="1005626" y="1606684"/>
            <a:ext cx="10515600" cy="4351338"/>
          </a:xfrm>
          <a:ln>
            <a:solidFill>
              <a:schemeClr val="accent1"/>
            </a:solidFill>
          </a:ln>
        </p:spPr>
        <p:txBody>
          <a:bodyPr>
            <a:normAutofit/>
          </a:bodyPr>
          <a:lstStyle/>
          <a:p>
            <a:pPr>
              <a:buFont typeface="Wingdings" panose="05000000000000000000" pitchFamily="2" charset="2"/>
              <a:buChar char="v"/>
            </a:pPr>
            <a:r>
              <a:rPr lang="en-IN" sz="2400" dirty="0">
                <a:latin typeface="Casper"/>
                <a:hlinkClick r:id="rId2">
                  <a:extLst>
                    <a:ext uri="{A12FA001-AC4F-418D-AE19-62706E023703}">
                      <ahyp:hlinkClr xmlns="" xmlns:ahyp="http://schemas.microsoft.com/office/drawing/2018/hyperlinkcolor" val="tx"/>
                    </a:ext>
                  </a:extLst>
                </a:hlinkClick>
              </a:rPr>
              <a:t>http://indico.ictp.it/event/a10148/session/22/contribution/16/material/0/0.pdf</a:t>
            </a:r>
            <a:endParaRPr lang="en-IN" sz="2400" dirty="0">
              <a:latin typeface="Casper"/>
            </a:endParaRPr>
          </a:p>
          <a:p>
            <a:pPr>
              <a:buFont typeface="Wingdings" panose="05000000000000000000" pitchFamily="2" charset="2"/>
              <a:buChar char="v"/>
            </a:pPr>
            <a:r>
              <a:rPr lang="en-IN" sz="2400" dirty="0">
                <a:latin typeface="Casper"/>
                <a:hlinkClick r:id="rId3">
                  <a:extLst>
                    <a:ext uri="{A12FA001-AC4F-418D-AE19-62706E023703}">
                      <ahyp:hlinkClr xmlns="" xmlns:ahyp="http://schemas.microsoft.com/office/drawing/2018/hyperlinkcolor" val="tx"/>
                    </a:ext>
                  </a:extLst>
                </a:hlinkClick>
              </a:rPr>
              <a:t>http://www.teqipiitk.in/workshop/2016/xrd/ppt/Prof%20Rajesh/crystallography.pdf</a:t>
            </a:r>
            <a:endParaRPr lang="en-IN" sz="2400" dirty="0">
              <a:latin typeface="Casper"/>
            </a:endParaRPr>
          </a:p>
          <a:p>
            <a:pPr>
              <a:buFont typeface="Wingdings" panose="05000000000000000000" pitchFamily="2" charset="2"/>
              <a:buChar char="v"/>
            </a:pPr>
            <a:r>
              <a:rPr lang="en-IN" sz="2400" dirty="0">
                <a:latin typeface="Casper"/>
                <a:hlinkClick r:id="rId4">
                  <a:extLst>
                    <a:ext uri="{A12FA001-AC4F-418D-AE19-62706E023703}">
                      <ahyp:hlinkClr xmlns="" xmlns:ahyp="http://schemas.microsoft.com/office/drawing/2018/hyperlinkcolor" val="tx"/>
                    </a:ext>
                  </a:extLst>
                </a:hlinkClick>
              </a:rPr>
              <a:t>http://users.encs.concordia.ca/~mmedraj/TMG-Library/books/Crystallography_and_the_World_of_Symmetry.pdf</a:t>
            </a:r>
            <a:endParaRPr lang="en-IN" sz="2400" dirty="0">
              <a:latin typeface="Casper"/>
            </a:endParaRPr>
          </a:p>
          <a:p>
            <a:pPr>
              <a:buFont typeface="Wingdings" panose="05000000000000000000" pitchFamily="2" charset="2"/>
              <a:buChar char="v"/>
            </a:pPr>
            <a:r>
              <a:rPr lang="en-IN" sz="2400" dirty="0">
                <a:latin typeface="Casper"/>
                <a:hlinkClick r:id="rId5">
                  <a:extLst>
                    <a:ext uri="{A12FA001-AC4F-418D-AE19-62706E023703}">
                      <ahyp:hlinkClr xmlns="" xmlns:ahyp="http://schemas.microsoft.com/office/drawing/2018/hyperlinkcolor" val="tx"/>
                    </a:ext>
                  </a:extLst>
                </a:hlinkClick>
              </a:rPr>
              <a:t>http://alpha.science.unitn.it/~rx/Dakar_school/1_Fornasini_a_cryst.pdf</a:t>
            </a:r>
            <a:endParaRPr lang="en-IN" sz="2400" dirty="0">
              <a:latin typeface="Casper"/>
            </a:endParaRPr>
          </a:p>
          <a:p>
            <a:pPr>
              <a:buFont typeface="Wingdings" panose="05000000000000000000" pitchFamily="2" charset="2"/>
              <a:buChar char="v"/>
            </a:pPr>
            <a:r>
              <a:rPr lang="en-IN" sz="2400" dirty="0">
                <a:latin typeface="Casper"/>
              </a:rPr>
              <a:t>Malik H.K, Singh A.K. (2011) Engineering Physics, TMH, New Delhi. ISBN: 9780070671539</a:t>
            </a:r>
          </a:p>
          <a:p>
            <a:pPr>
              <a:buFont typeface="Wingdings" panose="05000000000000000000" pitchFamily="2" charset="2"/>
              <a:buChar char="v"/>
            </a:pPr>
            <a:r>
              <a:rPr lang="en-IN" sz="2400" b="1" dirty="0">
                <a:latin typeface="Casper" panose="02000506000000020004"/>
              </a:rPr>
              <a:t>T2</a:t>
            </a:r>
            <a:r>
              <a:rPr lang="en-IN" sz="2400" dirty="0">
                <a:latin typeface="Casper" panose="02000506000000020004"/>
              </a:rPr>
              <a:t>. Beiser A. (2002) Concepts of Modern Physics, McGraw Hill Education. ISBN:   9780070495531</a:t>
            </a:r>
          </a:p>
        </p:txBody>
      </p:sp>
      <p:sp>
        <p:nvSpPr>
          <p:cNvPr id="4" name="Slide Number Placeholder 3">
            <a:extLst>
              <a:ext uri="{FF2B5EF4-FFF2-40B4-BE49-F238E27FC236}">
                <a16:creationId xmlns="" xmlns:a16="http://schemas.microsoft.com/office/drawing/2014/main" id="{1CD1EA7C-F284-4999-AAD5-77597FC29F5E}"/>
              </a:ext>
            </a:extLst>
          </p:cNvPr>
          <p:cNvSpPr>
            <a:spLocks noGrp="1"/>
          </p:cNvSpPr>
          <p:nvPr>
            <p:ph type="sldNum" sz="quarter" idx="12"/>
          </p:nvPr>
        </p:nvSpPr>
        <p:spPr/>
        <p:txBody>
          <a:bodyPr/>
          <a:lstStyle/>
          <a:p>
            <a:fld id="{BDCDBBEF-AA6C-4BA6-85B2-A17D7F280E38}" type="slidenum">
              <a:rPr lang="en-US" smtClean="0"/>
              <a:pPr/>
              <a:t>27</a:t>
            </a:fld>
            <a:endParaRPr lang="en-US"/>
          </a:p>
        </p:txBody>
      </p:sp>
    </p:spTree>
    <p:extLst>
      <p:ext uri="{BB962C8B-B14F-4D97-AF65-F5344CB8AC3E}">
        <p14:creationId xmlns:p14="http://schemas.microsoft.com/office/powerpoint/2010/main" xmlns="" val="3196228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41F366A-6702-418C-AFC0-8C706F0349C5}"/>
              </a:ext>
            </a:extLst>
          </p:cNvPr>
          <p:cNvSpPr>
            <a:spLocks noGrp="1"/>
          </p:cNvSpPr>
          <p:nvPr>
            <p:ph type="title"/>
          </p:nvPr>
        </p:nvSpPr>
        <p:spPr>
          <a:xfrm>
            <a:off x="1416676" y="365126"/>
            <a:ext cx="9937124" cy="1038672"/>
          </a:xfrm>
          <a:ln>
            <a:solidFill>
              <a:srgbClr val="FF0000"/>
            </a:solidFill>
          </a:ln>
        </p:spPr>
        <p:txBody>
          <a:bodyPr/>
          <a:lstStyle/>
          <a:p>
            <a:pPr algn="ctr"/>
            <a:r>
              <a:rPr lang="en-IN" b="1" dirty="0" smtClean="0">
                <a:latin typeface="Casper Bold"/>
              </a:rPr>
              <a:t>REFERENCE </a:t>
            </a:r>
            <a:r>
              <a:rPr lang="en-IN" b="1" dirty="0">
                <a:latin typeface="Casper Bold"/>
              </a:rPr>
              <a:t>VIDEOS </a:t>
            </a:r>
          </a:p>
        </p:txBody>
      </p:sp>
      <p:sp>
        <p:nvSpPr>
          <p:cNvPr id="3" name="Content Placeholder 2">
            <a:extLst>
              <a:ext uri="{FF2B5EF4-FFF2-40B4-BE49-F238E27FC236}">
                <a16:creationId xmlns="" xmlns:a16="http://schemas.microsoft.com/office/drawing/2014/main" id="{B9AB43FA-B45C-44AE-9A8E-260B2DF3DEF0}"/>
              </a:ext>
            </a:extLst>
          </p:cNvPr>
          <p:cNvSpPr>
            <a:spLocks noGrp="1"/>
          </p:cNvSpPr>
          <p:nvPr>
            <p:ph idx="1"/>
          </p:nvPr>
        </p:nvSpPr>
        <p:spPr>
          <a:xfrm>
            <a:off x="838200" y="1584102"/>
            <a:ext cx="10515600" cy="4772248"/>
          </a:xfrm>
          <a:ln>
            <a:solidFill>
              <a:schemeClr val="accent1"/>
            </a:solidFill>
          </a:ln>
        </p:spPr>
        <p:txBody>
          <a:bodyPr>
            <a:noAutofit/>
          </a:bodyPr>
          <a:lstStyle/>
          <a:p>
            <a:pPr>
              <a:lnSpc>
                <a:spcPct val="100000"/>
              </a:lnSpc>
              <a:buFont typeface="Wingdings" panose="05000000000000000000" pitchFamily="2" charset="2"/>
              <a:buChar char="v"/>
            </a:pPr>
            <a:r>
              <a:rPr lang="en-IN" sz="2400" dirty="0">
                <a:latin typeface="Casper" panose="02000506000000020004"/>
                <a:hlinkClick r:id="rId2">
                  <a:extLst>
                    <a:ext uri="{A12FA001-AC4F-418D-AE19-62706E023703}">
                      <ahyp:hlinkClr xmlns="" xmlns:ahyp="http://schemas.microsoft.com/office/drawing/2018/hyperlinkcolor" val="tx"/>
                    </a:ext>
                  </a:extLst>
                </a:hlinkClick>
              </a:rPr>
              <a:t>https://nptel.ac.in/courses/104/106/104106093/</a:t>
            </a:r>
            <a:endParaRPr lang="en-IN" sz="2400" dirty="0">
              <a:latin typeface="Casper" panose="02000506000000020004"/>
            </a:endParaRPr>
          </a:p>
          <a:p>
            <a:pPr>
              <a:lnSpc>
                <a:spcPct val="100000"/>
              </a:lnSpc>
              <a:buFont typeface="Wingdings" panose="05000000000000000000" pitchFamily="2" charset="2"/>
              <a:buChar char="v"/>
            </a:pPr>
            <a:r>
              <a:rPr lang="en-IN" sz="2400" dirty="0">
                <a:latin typeface="Casper" panose="02000506000000020004"/>
                <a:hlinkClick r:id="rId3">
                  <a:extLst>
                    <a:ext uri="{A12FA001-AC4F-418D-AE19-62706E023703}">
                      <ahyp:hlinkClr xmlns="" xmlns:ahyp="http://schemas.microsoft.com/office/drawing/2018/hyperlinkcolor" val="tx"/>
                    </a:ext>
                  </a:extLst>
                </a:hlinkClick>
              </a:rPr>
              <a:t>https://www.coursera.org/lecture/materials-science/crystallography-and-the-electron-microscope-YhPAB</a:t>
            </a:r>
            <a:endParaRPr lang="en-IN" sz="2400" dirty="0">
              <a:latin typeface="Casper" panose="02000506000000020004"/>
            </a:endParaRPr>
          </a:p>
          <a:p>
            <a:pPr lvl="0">
              <a:buFont typeface="Wingdings" panose="05000000000000000000" pitchFamily="2" charset="2"/>
              <a:buChar char="v"/>
            </a:pPr>
            <a:r>
              <a:rPr lang="en-US" sz="2400" dirty="0">
                <a:latin typeface="Casper" panose="02000506000000020004"/>
                <a:hlinkClick r:id="rId4">
                  <a:extLst>
                    <a:ext uri="{A12FA001-AC4F-418D-AE19-62706E023703}">
                      <ahyp:hlinkClr xmlns="" xmlns:ahyp="http://schemas.microsoft.com/office/drawing/2018/hyperlinkcolor" val="tx"/>
                    </a:ext>
                  </a:extLst>
                </a:hlinkClick>
              </a:rPr>
              <a:t>www.youtube.com/watch?v=mwlWIfNvt1w</a:t>
            </a:r>
            <a:endParaRPr lang="en-US" sz="2400" dirty="0">
              <a:latin typeface="Casper" panose="02000506000000020004"/>
            </a:endParaRPr>
          </a:p>
          <a:p>
            <a:pPr>
              <a:buFont typeface="Wingdings" panose="05000000000000000000" pitchFamily="2" charset="2"/>
              <a:buChar char="v"/>
            </a:pPr>
            <a:r>
              <a:rPr lang="en-US" sz="2400" dirty="0">
                <a:latin typeface="Casper" panose="02000506000000020004"/>
                <a:hlinkClick r:id="rId5">
                  <a:extLst>
                    <a:ext uri="{A12FA001-AC4F-418D-AE19-62706E023703}">
                      <ahyp:hlinkClr xmlns="" xmlns:ahyp="http://schemas.microsoft.com/office/drawing/2018/hyperlinkcolor" val="tx"/>
                    </a:ext>
                  </a:extLst>
                </a:hlinkClick>
              </a:rPr>
              <a:t>www.youtube.com/watch?v=zdmEaXnB-5Q</a:t>
            </a:r>
            <a:endParaRPr lang="en-US" sz="2400" dirty="0">
              <a:latin typeface="Casper" panose="02000506000000020004"/>
            </a:endParaRPr>
          </a:p>
          <a:p>
            <a:pPr>
              <a:buFont typeface="Wingdings" panose="05000000000000000000" pitchFamily="2" charset="2"/>
              <a:buChar char="v"/>
            </a:pPr>
            <a:r>
              <a:rPr lang="en-US" sz="2400" dirty="0">
                <a:latin typeface="Casper" panose="02000506000000020004"/>
              </a:rPr>
              <a:t>https://www.youtube.com/watch?v=A56UtkYYExg</a:t>
            </a:r>
          </a:p>
          <a:p>
            <a:pPr lvl="0">
              <a:buFont typeface="Wingdings" panose="05000000000000000000" pitchFamily="2" charset="2"/>
              <a:buChar char="v"/>
            </a:pPr>
            <a:r>
              <a:rPr lang="en-US" sz="2400" dirty="0">
                <a:latin typeface="Casper" panose="02000506000000020004"/>
              </a:rPr>
              <a:t> </a:t>
            </a:r>
            <a:r>
              <a:rPr lang="en-US" sz="2400" u="sng" dirty="0">
                <a:latin typeface="Casper" panose="02000506000000020004"/>
                <a:hlinkClick r:id="rId6">
                  <a:extLst>
                    <a:ext uri="{A12FA001-AC4F-418D-AE19-62706E023703}">
                      <ahyp:hlinkClr xmlns="" xmlns:ahyp="http://schemas.microsoft.com/office/drawing/2018/hyperlinkcolor" val="tx"/>
                    </a:ext>
                  </a:extLst>
                </a:hlinkClick>
              </a:rPr>
              <a:t>https://www.youtube.com/watch?v=x3LOTaEVLak</a:t>
            </a:r>
            <a:endParaRPr lang="en-US" sz="2400" dirty="0">
              <a:latin typeface="Casper" panose="02000506000000020004"/>
            </a:endParaRPr>
          </a:p>
          <a:p>
            <a:pPr lvl="0">
              <a:buFont typeface="Wingdings" panose="05000000000000000000" pitchFamily="2" charset="2"/>
              <a:buChar char="v"/>
            </a:pPr>
            <a:r>
              <a:rPr lang="en-US" sz="2400" dirty="0">
                <a:latin typeface="Casper" panose="02000506000000020004"/>
              </a:rPr>
              <a:t>https://www.youtube.com/watch?v=1DHCV3LgITY</a:t>
            </a:r>
          </a:p>
          <a:p>
            <a:pPr>
              <a:buFont typeface="Wingdings" panose="05000000000000000000" pitchFamily="2" charset="2"/>
              <a:buChar char="v"/>
            </a:pPr>
            <a:endParaRPr lang="en-US" dirty="0"/>
          </a:p>
          <a:p>
            <a:pPr>
              <a:buFont typeface="Wingdings" panose="05000000000000000000" pitchFamily="2" charset="2"/>
              <a:buChar char="v"/>
            </a:pPr>
            <a:endParaRPr lang="en-US" dirty="0"/>
          </a:p>
          <a:p>
            <a:pPr>
              <a:lnSpc>
                <a:spcPct val="100000"/>
              </a:lnSpc>
              <a:buFont typeface="Wingdings" panose="05000000000000000000" pitchFamily="2" charset="2"/>
              <a:buChar char="v"/>
            </a:pPr>
            <a:endParaRPr lang="en-IN" sz="2400" dirty="0">
              <a:latin typeface="Casper" panose="02000506000000020004"/>
            </a:endParaRPr>
          </a:p>
          <a:p>
            <a:pPr>
              <a:lnSpc>
                <a:spcPct val="100000"/>
              </a:lnSpc>
            </a:pPr>
            <a:endParaRPr lang="en-IN" sz="2400" dirty="0"/>
          </a:p>
          <a:p>
            <a:pPr marL="0" indent="0">
              <a:lnSpc>
                <a:spcPct val="100000"/>
              </a:lnSpc>
              <a:buNone/>
            </a:pPr>
            <a:endParaRPr lang="en-IN" sz="2400" dirty="0"/>
          </a:p>
        </p:txBody>
      </p:sp>
      <p:sp>
        <p:nvSpPr>
          <p:cNvPr id="4" name="Slide Number Placeholder 3">
            <a:extLst>
              <a:ext uri="{FF2B5EF4-FFF2-40B4-BE49-F238E27FC236}">
                <a16:creationId xmlns="" xmlns:a16="http://schemas.microsoft.com/office/drawing/2014/main" id="{E38EB16A-CD51-4DD1-ACF2-43C1E5C2675E}"/>
              </a:ext>
            </a:extLst>
          </p:cNvPr>
          <p:cNvSpPr>
            <a:spLocks noGrp="1"/>
          </p:cNvSpPr>
          <p:nvPr>
            <p:ph type="sldNum" sz="quarter" idx="12"/>
          </p:nvPr>
        </p:nvSpPr>
        <p:spPr/>
        <p:txBody>
          <a:bodyPr/>
          <a:lstStyle/>
          <a:p>
            <a:fld id="{BDCDBBEF-AA6C-4BA6-85B2-A17D7F280E38}" type="slidenum">
              <a:rPr lang="en-US" smtClean="0"/>
              <a:pPr/>
              <a:t>28</a:t>
            </a:fld>
            <a:endParaRPr lang="en-US"/>
          </a:p>
        </p:txBody>
      </p:sp>
    </p:spTree>
    <p:extLst>
      <p:ext uri="{BB962C8B-B14F-4D97-AF65-F5344CB8AC3E}">
        <p14:creationId xmlns:p14="http://schemas.microsoft.com/office/powerpoint/2010/main" xmlns="" val="1220529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DE3E9E9-D797-4DCE-80E6-C8BC7C5C0FD3}"/>
              </a:ext>
            </a:extLst>
          </p:cNvPr>
          <p:cNvSpPr>
            <a:spLocks noGrp="1"/>
          </p:cNvSpPr>
          <p:nvPr>
            <p:ph type="title"/>
          </p:nvPr>
        </p:nvSpPr>
        <p:spPr>
          <a:xfrm>
            <a:off x="838200" y="365125"/>
            <a:ext cx="10515600" cy="1064429"/>
          </a:xfrm>
          <a:ln>
            <a:solidFill>
              <a:srgbClr val="C00000"/>
            </a:solidFill>
          </a:ln>
        </p:spPr>
        <p:txBody>
          <a:bodyPr/>
          <a:lstStyle/>
          <a:p>
            <a:pPr algn="ctr"/>
            <a:r>
              <a:rPr lang="en-IN" b="1" dirty="0">
                <a:latin typeface="Casper Bold" panose="02000806040000020004"/>
              </a:rPr>
              <a:t>IMAGES REFERENCE </a:t>
            </a:r>
          </a:p>
        </p:txBody>
      </p:sp>
      <p:sp>
        <p:nvSpPr>
          <p:cNvPr id="3" name="Content Placeholder 2">
            <a:extLst>
              <a:ext uri="{FF2B5EF4-FFF2-40B4-BE49-F238E27FC236}">
                <a16:creationId xmlns="" xmlns:a16="http://schemas.microsoft.com/office/drawing/2014/main" id="{3066B848-D530-41CC-920E-ADFB9BE5ED33}"/>
              </a:ext>
            </a:extLst>
          </p:cNvPr>
          <p:cNvSpPr>
            <a:spLocks noGrp="1"/>
          </p:cNvSpPr>
          <p:nvPr>
            <p:ph idx="1"/>
          </p:nvPr>
        </p:nvSpPr>
        <p:spPr>
          <a:xfrm>
            <a:off x="838200" y="1738648"/>
            <a:ext cx="10515600" cy="4438315"/>
          </a:xfrm>
          <a:ln>
            <a:solidFill>
              <a:schemeClr val="accent1"/>
            </a:solidFill>
          </a:ln>
        </p:spPr>
        <p:txBody>
          <a:bodyPr>
            <a:normAutofit fontScale="62500" lnSpcReduction="20000"/>
          </a:bodyPr>
          <a:lstStyle/>
          <a:p>
            <a:pPr marL="0" indent="0">
              <a:lnSpc>
                <a:spcPct val="170000"/>
              </a:lnSpc>
              <a:buNone/>
            </a:pPr>
            <a:r>
              <a:rPr lang="en-IN" dirty="0">
                <a:latin typeface="Casper Bold" panose="02000806040000020004"/>
              </a:rPr>
              <a:t>[1] </a:t>
            </a:r>
            <a:r>
              <a:rPr lang="en-IN" sz="2400" u="sng" dirty="0">
                <a:latin typeface="Casper Bold" panose="02000806040000020004"/>
                <a:hlinkClick r:id="rId2">
                  <a:extLst>
                    <a:ext uri="{A12FA001-AC4F-418D-AE19-62706E023703}">
                      <ahyp:hlinkClr xmlns="" xmlns:ahyp="http://schemas.microsoft.com/office/drawing/2018/hyperlinkcolor" val="tx"/>
                    </a:ext>
                  </a:extLst>
                </a:hlinkClick>
              </a:rPr>
              <a:t>https://fortune.com/2020/06/30/america-tech-semiconductor-manufacturing-investment/</a:t>
            </a:r>
            <a:endParaRPr lang="en-IN" sz="2400" dirty="0">
              <a:latin typeface="Casper Bold" panose="02000806040000020004"/>
            </a:endParaRPr>
          </a:p>
          <a:p>
            <a:pPr marL="0" indent="0">
              <a:lnSpc>
                <a:spcPct val="170000"/>
              </a:lnSpc>
              <a:buNone/>
            </a:pPr>
            <a:r>
              <a:rPr lang="en-IN" sz="2400" dirty="0">
                <a:latin typeface="Casper Bold" panose="02000806040000020004"/>
              </a:rPr>
              <a:t>[2] </a:t>
            </a:r>
            <a:r>
              <a:rPr lang="en-IN" sz="2400" u="sng" dirty="0">
                <a:latin typeface="Casper Bold" panose="02000806040000020004"/>
                <a:hlinkClick r:id="rId3">
                  <a:extLst>
                    <a:ext uri="{A12FA001-AC4F-418D-AE19-62706E023703}">
                      <ahyp:hlinkClr xmlns="" xmlns:ahyp="http://schemas.microsoft.com/office/drawing/2018/hyperlinkcolor" val="tx"/>
                    </a:ext>
                  </a:extLst>
                </a:hlinkClick>
              </a:rPr>
              <a:t>https://physics.stackexchange.com/questions/150730/can-a-strained-diamond-actually-become-conductive</a:t>
            </a:r>
            <a:endParaRPr lang="en-IN" sz="2400" dirty="0">
              <a:latin typeface="Casper Bold" panose="02000806040000020004"/>
            </a:endParaRPr>
          </a:p>
          <a:p>
            <a:pPr marL="0" indent="0">
              <a:lnSpc>
                <a:spcPct val="170000"/>
              </a:lnSpc>
              <a:buNone/>
            </a:pPr>
            <a:r>
              <a:rPr lang="en-IN" sz="2400" dirty="0">
                <a:latin typeface="Casper Bold" panose="02000806040000020004"/>
              </a:rPr>
              <a:t>[3] </a:t>
            </a:r>
            <a:r>
              <a:rPr lang="en-IN" sz="2400" u="sng" dirty="0">
                <a:latin typeface="Casper Bold" panose="02000806040000020004"/>
                <a:hlinkClick r:id="rId4">
                  <a:extLst>
                    <a:ext uri="{A12FA001-AC4F-418D-AE19-62706E023703}">
                      <ahyp:hlinkClr xmlns="" xmlns:ahyp="http://schemas.microsoft.com/office/drawing/2018/hyperlinkcolor" val="tx"/>
                    </a:ext>
                  </a:extLst>
                </a:hlinkClick>
              </a:rPr>
              <a:t>https://en.wikipedia.org/wiki/Valence_and_conduction_bands</a:t>
            </a:r>
            <a:endParaRPr lang="en-IN" sz="2400" dirty="0">
              <a:latin typeface="Casper Bold" panose="02000806040000020004"/>
            </a:endParaRPr>
          </a:p>
          <a:p>
            <a:pPr marL="0" indent="0">
              <a:lnSpc>
                <a:spcPct val="170000"/>
              </a:lnSpc>
              <a:buNone/>
            </a:pPr>
            <a:r>
              <a:rPr lang="en-IN" sz="2400" dirty="0">
                <a:latin typeface="Casper Bold" panose="02000806040000020004"/>
              </a:rPr>
              <a:t>[4] </a:t>
            </a:r>
            <a:r>
              <a:rPr lang="en-IN" sz="2400" u="sng" dirty="0">
                <a:latin typeface="Casper Bold" panose="02000806040000020004"/>
                <a:hlinkClick r:id="rId4">
                  <a:extLst>
                    <a:ext uri="{A12FA001-AC4F-418D-AE19-62706E023703}">
                      <ahyp:hlinkClr xmlns="" xmlns:ahyp="http://schemas.microsoft.com/office/drawing/2018/hyperlinkcolor" val="tx"/>
                    </a:ext>
                  </a:extLst>
                </a:hlinkClick>
              </a:rPr>
              <a:t>https://en.wikipedia.org/wiki/Valence_and_conduction_bands</a:t>
            </a:r>
            <a:endParaRPr lang="en-IN" sz="2400" dirty="0">
              <a:latin typeface="Casper Bold" panose="02000806040000020004"/>
            </a:endParaRPr>
          </a:p>
          <a:p>
            <a:pPr marL="0" indent="0">
              <a:lnSpc>
                <a:spcPct val="170000"/>
              </a:lnSpc>
              <a:buNone/>
            </a:pPr>
            <a:r>
              <a:rPr lang="en-IN" sz="2400" dirty="0">
                <a:latin typeface="Casper Bold" panose="02000806040000020004"/>
              </a:rPr>
              <a:t>[5] </a:t>
            </a:r>
            <a:r>
              <a:rPr lang="en-IN" sz="2400" u="sng" dirty="0">
                <a:latin typeface="Casper Bold" panose="02000806040000020004"/>
                <a:hlinkClick r:id="rId5">
                  <a:extLst>
                    <a:ext uri="{A12FA001-AC4F-418D-AE19-62706E023703}">
                      <ahyp:hlinkClr xmlns="" xmlns:ahyp="http://schemas.microsoft.com/office/drawing/2018/hyperlinkcolor" val="tx"/>
                    </a:ext>
                  </a:extLst>
                </a:hlinkClick>
              </a:rPr>
              <a:t>http://edetec106.blogspot.com/2016/01/differentiate-between-direct-and.html</a:t>
            </a:r>
            <a:endParaRPr lang="en-IN" sz="2400" dirty="0">
              <a:latin typeface="Casper Bold" panose="02000806040000020004"/>
            </a:endParaRPr>
          </a:p>
          <a:p>
            <a:pPr marL="0" indent="0">
              <a:lnSpc>
                <a:spcPct val="170000"/>
              </a:lnSpc>
              <a:buNone/>
            </a:pPr>
            <a:r>
              <a:rPr lang="en-IN" sz="2400" dirty="0">
                <a:latin typeface="Casper Bold" panose="02000806040000020004"/>
              </a:rPr>
              <a:t>[6] </a:t>
            </a:r>
            <a:r>
              <a:rPr lang="en-IN" sz="2400" u="sng" dirty="0">
                <a:latin typeface="Casper Bold" panose="02000806040000020004"/>
                <a:hlinkClick r:id="rId6">
                  <a:extLst>
                    <a:ext uri="{A12FA001-AC4F-418D-AE19-62706E023703}">
                      <ahyp:hlinkClr xmlns="" xmlns:ahyp="http://schemas.microsoft.com/office/drawing/2018/hyperlinkcolor" val="tx"/>
                    </a:ext>
                  </a:extLst>
                </a:hlinkClick>
              </a:rPr>
              <a:t>http://hyperphysics.phy-astr.gsu.edu/hbase/quantum/disfd.html</a:t>
            </a:r>
            <a:endParaRPr lang="en-IN" sz="2400" dirty="0">
              <a:latin typeface="Casper Bold" panose="02000806040000020004"/>
            </a:endParaRPr>
          </a:p>
          <a:p>
            <a:pPr marL="0" indent="0">
              <a:lnSpc>
                <a:spcPct val="170000"/>
              </a:lnSpc>
              <a:buNone/>
            </a:pPr>
            <a:r>
              <a:rPr lang="en-IN" sz="2400" dirty="0">
                <a:latin typeface="Casper Bold" panose="02000806040000020004"/>
              </a:rPr>
              <a:t>[7] </a:t>
            </a:r>
            <a:r>
              <a:rPr lang="en-IN" sz="2400" u="sng" dirty="0">
                <a:latin typeface="Casper Bold" panose="02000806040000020004"/>
                <a:hlinkClick r:id="rId7">
                  <a:extLst>
                    <a:ext uri="{A12FA001-AC4F-418D-AE19-62706E023703}">
                      <ahyp:hlinkClr xmlns="" xmlns:ahyp="http://schemas.microsoft.com/office/drawing/2018/hyperlinkcolor" val="tx"/>
                    </a:ext>
                  </a:extLst>
                </a:hlinkClick>
              </a:rPr>
              <a:t>https://physics.stackexchange.com/questions/275126/fermi-dirac-distribution-definition-and-meaning</a:t>
            </a:r>
            <a:endParaRPr lang="en-IN" sz="2400" dirty="0">
              <a:latin typeface="Casper Bold" panose="02000806040000020004"/>
            </a:endParaRPr>
          </a:p>
          <a:p>
            <a:pPr marL="0" indent="0">
              <a:lnSpc>
                <a:spcPct val="170000"/>
              </a:lnSpc>
              <a:buNone/>
            </a:pPr>
            <a:r>
              <a:rPr lang="en-IN" sz="2400" dirty="0">
                <a:latin typeface="Casper Bold" panose="02000806040000020004"/>
              </a:rPr>
              <a:t>[8] </a:t>
            </a:r>
            <a:r>
              <a:rPr lang="en-IN" sz="2400" u="sng" dirty="0">
                <a:latin typeface="Casper Bold" panose="02000806040000020004"/>
                <a:hlinkClick r:id="rId8">
                  <a:extLst>
                    <a:ext uri="{A12FA001-AC4F-418D-AE19-62706E023703}">
                      <ahyp:hlinkClr xmlns="" xmlns:ahyp="http://schemas.microsoft.com/office/drawing/2018/hyperlinkcolor" val="tx"/>
                    </a:ext>
                  </a:extLst>
                </a:hlinkClick>
              </a:rPr>
              <a:t>https://www.elprocus.com/fermi-dirac-distribution-energy-band-diagram-and-boltzmann-approximation/</a:t>
            </a:r>
            <a:endParaRPr lang="en-IN" sz="2400" dirty="0">
              <a:latin typeface="Casper Bold" panose="02000806040000020004"/>
            </a:endParaRPr>
          </a:p>
          <a:p>
            <a:pPr marL="0" indent="0">
              <a:lnSpc>
                <a:spcPct val="170000"/>
              </a:lnSpc>
              <a:buNone/>
            </a:pPr>
            <a:r>
              <a:rPr lang="en-IN" sz="2400" dirty="0">
                <a:latin typeface="Casper Bold" panose="02000806040000020004"/>
              </a:rPr>
              <a:t>[9] </a:t>
            </a:r>
            <a:r>
              <a:rPr lang="en-IN" sz="2400" u="sng" dirty="0">
                <a:latin typeface="Casper Bold" panose="02000806040000020004"/>
                <a:hlinkClick r:id="rId9">
                  <a:extLst>
                    <a:ext uri="{A12FA001-AC4F-418D-AE19-62706E023703}">
                      <ahyp:hlinkClr xmlns="" xmlns:ahyp="http://schemas.microsoft.com/office/drawing/2018/hyperlinkcolor" val="tx"/>
                    </a:ext>
                  </a:extLst>
                </a:hlinkClick>
              </a:rPr>
              <a:t>http://hyperphysics.phy-astr.gsu.edu/hbase/Solids/Fermi.html</a:t>
            </a:r>
            <a:endParaRPr lang="en-IN" sz="2400" dirty="0">
              <a:latin typeface="Casper Bold" panose="02000806040000020004"/>
            </a:endParaRPr>
          </a:p>
          <a:p>
            <a:endParaRPr lang="en-IN" dirty="0"/>
          </a:p>
        </p:txBody>
      </p:sp>
      <p:sp>
        <p:nvSpPr>
          <p:cNvPr id="4" name="Slide Number Placeholder 3">
            <a:extLst>
              <a:ext uri="{FF2B5EF4-FFF2-40B4-BE49-F238E27FC236}">
                <a16:creationId xmlns="" xmlns:a16="http://schemas.microsoft.com/office/drawing/2014/main" id="{EE2F9D75-089D-449E-BEB2-9A6B1154CEED}"/>
              </a:ext>
            </a:extLst>
          </p:cNvPr>
          <p:cNvSpPr>
            <a:spLocks noGrp="1"/>
          </p:cNvSpPr>
          <p:nvPr>
            <p:ph type="sldNum" sz="quarter" idx="12"/>
          </p:nvPr>
        </p:nvSpPr>
        <p:spPr/>
        <p:txBody>
          <a:bodyPr/>
          <a:lstStyle/>
          <a:p>
            <a:fld id="{BDCDBBEF-AA6C-4BA6-85B2-A17D7F280E38}" type="slidenum">
              <a:rPr lang="en-US" smtClean="0"/>
              <a:pPr/>
              <a:t>29</a:t>
            </a:fld>
            <a:endParaRPr lang="en-US"/>
          </a:p>
        </p:txBody>
      </p:sp>
    </p:spTree>
    <p:extLst>
      <p:ext uri="{BB962C8B-B14F-4D97-AF65-F5344CB8AC3E}">
        <p14:creationId xmlns:p14="http://schemas.microsoft.com/office/powerpoint/2010/main" xmlns="" val="7010649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xmlns="" val="4059142145"/>
                </p:ext>
              </p:extLst>
            </p:nvPr>
          </p:nvGraphicFramePr>
          <p:xfrm>
            <a:off x="100420" y="236973"/>
            <a:ext cx="183878" cy="183422"/>
          </p:xfrm>
          <a:graphic>
            <a:graphicData uri="http://schemas.openxmlformats.org/presentationml/2006/ole">
              <p:oleObj spid="_x0000_s9286" name="CorelDRAW" r:id="rId3" imgW="2169000" imgH="2169360" progId="">
                <p:embed/>
              </p:oleObj>
            </a:graphicData>
          </a:graphic>
        </p:graphicFrame>
      </p:grpSp>
      <p:sp>
        <p:nvSpPr>
          <p:cNvPr id="2" name="Rectangle 1"/>
          <p:cNvSpPr/>
          <p:nvPr/>
        </p:nvSpPr>
        <p:spPr>
          <a:xfrm>
            <a:off x="4114005" y="5394447"/>
            <a:ext cx="3961049" cy="646331"/>
          </a:xfrm>
          <a:prstGeom prst="rect">
            <a:avLst/>
          </a:prstGeom>
        </p:spPr>
        <p:txBody>
          <a:bodyPr wrap="squar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a:t>
            </a:r>
            <a:r>
              <a:rPr lang="en-US" dirty="0" smtClean="0">
                <a:latin typeface="Casper" panose="02000506000000020004" pitchFamily="2" charset="0"/>
                <a:cs typeface="Segoe UI" panose="020B0502040204020203" pitchFamily="34" charset="0"/>
              </a:rPr>
              <a:t>arminder.uis@cumail.in</a:t>
            </a:r>
            <a:endParaRPr lang="en-US" dirty="0"/>
          </a:p>
        </p:txBody>
      </p:sp>
    </p:spTree>
    <p:extLst>
      <p:ext uri="{BB962C8B-B14F-4D97-AF65-F5344CB8AC3E}">
        <p14:creationId xmlns:p14="http://schemas.microsoft.com/office/powerpoint/2010/main" xmlns="" val="26565012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ENSWF_SLIDE_UID" val="{D36BF853-1C0E-423B-B089-9C7A2B5C2856}:412"/>
  <p:tag name="AUDIO_ID" val="412"/>
  <p:tag name="ARTICULATE_USED_LAYOUT" val="8"/>
</p:tagLst>
</file>

<file path=ppt/tags/tag2.xml><?xml version="1.0" encoding="utf-8"?>
<p:tagLst xmlns:a="http://schemas.openxmlformats.org/drawingml/2006/main" xmlns:r="http://schemas.openxmlformats.org/officeDocument/2006/relationships" xmlns:p="http://schemas.openxmlformats.org/presentationml/2006/main">
  <p:tag name="GENSWF_SLIDE_UID" val="{32D49604-FA59-40F6-94EB-BC24D15E597E}:370"/>
  <p:tag name="AUDIO_ID" val="370"/>
  <p:tag name="ARTICULATE_USED_LAYOUT" val="8"/>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1829</TotalTime>
  <Words>1601</Words>
  <Application>Microsoft Office PowerPoint</Application>
  <PresentationFormat>Custom</PresentationFormat>
  <Paragraphs>220</Paragraphs>
  <Slides>30</Slides>
  <Notes>1</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30</vt:i4>
      </vt:variant>
    </vt:vector>
  </HeadingPairs>
  <TitlesOfParts>
    <vt:vector size="33" baseType="lpstr">
      <vt:lpstr>1_Office Theme</vt:lpstr>
      <vt:lpstr>Contents Slide Master</vt:lpstr>
      <vt:lpstr>CorelDRAW</vt:lpstr>
      <vt:lpstr>Slide 1</vt:lpstr>
      <vt:lpstr>Course Objectives</vt:lpstr>
      <vt:lpstr>Course Outcomes</vt:lpstr>
      <vt:lpstr>Slide 4</vt:lpstr>
      <vt:lpstr>Slide 5</vt:lpstr>
      <vt:lpstr>LECTURE OBJECTIVE  </vt:lpstr>
      <vt:lpstr>Slide 7</vt:lpstr>
      <vt:lpstr> FORMATION OF ENERGY BANDS IN SOLIDS</vt:lpstr>
      <vt:lpstr>FORMATION OF ENERGY BANDS IN SOLIDS</vt:lpstr>
      <vt:lpstr>FORMATION OF VALENCE BAND AND CONDUCTION BAND IN SOLIDS</vt:lpstr>
      <vt:lpstr>CLASSIFICATION OF METAL,SEMICONDUCTOR AND INSULATOR</vt:lpstr>
      <vt:lpstr>CLASSIFICATION OF METAL, SEMICONDUCTOR AND INSULATOR</vt:lpstr>
      <vt:lpstr>CLASSIFICATION OF METAL, SEMICONDUCTOR AND INSULATOR</vt:lpstr>
      <vt:lpstr>CLASSIFICATION OF METAL, SEMICONDUCTOR AND INSULATOR</vt:lpstr>
      <vt:lpstr> DIRECT AND INDIRECT BAND GAP </vt:lpstr>
      <vt:lpstr>DIRECT AND INDIRECT BAND GAP</vt:lpstr>
      <vt:lpstr>Introduction to Semi-Conductor</vt:lpstr>
      <vt:lpstr>Types of Semi Conductor</vt:lpstr>
      <vt:lpstr>Intrinsic Semiconductors </vt:lpstr>
      <vt:lpstr>Extrinsic Semiconductors: </vt:lpstr>
      <vt:lpstr>P-type Extrinsic Semiconductor: </vt:lpstr>
      <vt:lpstr>N-type Extrinsic Semiconductor: </vt:lpstr>
      <vt:lpstr>SUMMARY</vt:lpstr>
      <vt:lpstr>FREQUENTLY ASKED QUESTIONS</vt:lpstr>
      <vt:lpstr>ASSESSMENT </vt:lpstr>
      <vt:lpstr>REFERENCES    </vt:lpstr>
      <vt:lpstr>REFERENCE BOOKS</vt:lpstr>
      <vt:lpstr>REFERENCE VIDEOS </vt:lpstr>
      <vt:lpstr>IMAGES REFERENCE </vt:lpstr>
      <vt:lpstr>Slide 30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Acer</cp:lastModifiedBy>
  <cp:revision>160</cp:revision>
  <dcterms:created xsi:type="dcterms:W3CDTF">2019-01-09T10:33:58Z</dcterms:created>
  <dcterms:modified xsi:type="dcterms:W3CDTF">2023-06-18T07:27:00Z</dcterms:modified>
</cp:coreProperties>
</file>