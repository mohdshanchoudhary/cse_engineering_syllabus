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9"/>
  </p:notesMasterIdLst>
  <p:handoutMasterIdLst>
    <p:handoutMasterId r:id="rId30"/>
  </p:handoutMasterIdLst>
  <p:sldIdLst>
    <p:sldId id="474" r:id="rId3"/>
    <p:sldId id="475" r:id="rId4"/>
    <p:sldId id="476" r:id="rId5"/>
    <p:sldId id="471" r:id="rId6"/>
    <p:sldId id="326" r:id="rId7"/>
    <p:sldId id="327" r:id="rId8"/>
    <p:sldId id="473" r:id="rId9"/>
    <p:sldId id="413" r:id="rId10"/>
    <p:sldId id="414" r:id="rId11"/>
    <p:sldId id="415" r:id="rId12"/>
    <p:sldId id="417" r:id="rId13"/>
    <p:sldId id="416" r:id="rId14"/>
    <p:sldId id="419" r:id="rId15"/>
    <p:sldId id="477" r:id="rId16"/>
    <p:sldId id="478" r:id="rId17"/>
    <p:sldId id="479" r:id="rId18"/>
    <p:sldId id="480" r:id="rId19"/>
    <p:sldId id="481" r:id="rId20"/>
    <p:sldId id="482" r:id="rId21"/>
    <p:sldId id="483" r:id="rId22"/>
    <p:sldId id="418" r:id="rId23"/>
    <p:sldId id="472" r:id="rId24"/>
    <p:sldId id="448" r:id="rId25"/>
    <p:sldId id="405" r:id="rId26"/>
    <p:sldId id="324" r:id="rId27"/>
    <p:sldId id="420" r:id="rId28"/>
  </p:sldIdLst>
  <p:sldSz cx="12192000" cy="6858000"/>
  <p:notesSz cx="6858000" cy="9144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5" autoAdjust="0"/>
    <p:restoredTop sz="94660"/>
  </p:normalViewPr>
  <p:slideViewPr>
    <p:cSldViewPr snapToGrid="0">
      <p:cViewPr varScale="1">
        <p:scale>
          <a:sx n="65" d="100"/>
          <a:sy n="65" d="100"/>
        </p:scale>
        <p:origin x="752" y="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Fig-3</a:t>
            </a:r>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4</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p:spPr>
        <p:txBody>
          <a:bodyPr/>
          <a:lstStyle/>
          <a:p>
            <a:endParaRPr lang="en-IN"/>
          </a:p>
        </p:txBody>
      </p:sp>
      <p:sp>
        <p:nvSpPr>
          <p:cNvPr id="40964" name="Slide Number Placeholder 3"/>
          <p:cNvSpPr>
            <a:spLocks noGrp="1"/>
          </p:cNvSpPr>
          <p:nvPr>
            <p:ph type="sldNum" sz="quarter" idx="5"/>
          </p:nvPr>
        </p:nvSpPr>
        <p:spPr>
          <a:noFill/>
        </p:spPr>
        <p:txBody>
          <a:bodyPr/>
          <a:lstStyle/>
          <a:p>
            <a:fld id="{3D5E7DB5-269C-4E94-BCAC-2C1AAAEE8F92}" type="slidenum">
              <a:rPr lang="en-IN" smtClean="0"/>
              <a:pPr/>
              <a:t>21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8.xml"/><Relationship Id="rId1" Type="http://schemas.openxmlformats.org/officeDocument/2006/relationships/tags" Target="../tags/tag2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image" Target="../media/image2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494804" y="4023363"/>
          <a:ext cx="2631143" cy="2507676"/>
        </p:xfrm>
        <a:graphic>
          <a:graphicData uri="http://schemas.openxmlformats.org/presentationml/2006/ole">
            <mc:AlternateContent xmlns:mc="http://schemas.openxmlformats.org/markup-compatibility/2006">
              <mc:Choice xmlns:v="urn:schemas-microsoft-com:vml" Requires="v">
                <p:oleObj spid="_x0000_s1026" name="CorelDRAW" r:id="rId3" imgW="2169000" imgH="2169360" progId="">
                  <p:embed/>
                </p:oleObj>
              </mc:Choice>
              <mc:Fallback>
                <p:oleObj name="CorelDRAW" r:id="rId3" imgW="2169000" imgH="2169360" progId="">
                  <p:embed/>
                  <p:pic>
                    <p:nvPicPr>
                      <p:cNvPr id="0" name="Picture 2"/>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494804" y="4023363"/>
                        <a:ext cx="2631143" cy="25076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187437" y="-176981"/>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6032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UIE </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UNIT-1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Lecture-1.1.2</a:t>
            </a:r>
          </a:p>
          <a:p>
            <a:pPr lvl="0" algn="ctr" defTabSz="622300">
              <a:lnSpc>
                <a:spcPct val="90000"/>
              </a:lnSpc>
              <a:spcBef>
                <a:spcPct val="0"/>
              </a:spcBef>
              <a:spcAft>
                <a:spcPct val="350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Basic P-N junction diode, structure</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a16="http://schemas.microsoft.com/office/drawing/2014/main" val="20000"/>
                    </a:ext>
                  </a:extLst>
                </a:gridCol>
                <a:gridCol w="5959928">
                  <a:extLst>
                    <a:ext uri="{9D8B030D-6E8A-4147-A177-3AD203B41FA5}">
                      <a16:colId xmlns:a16="http://schemas.microsoft.com/office/drawing/2014/main"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a:solidFill>
                            <a:schemeClr val="tx1"/>
                          </a:solidFill>
                          <a:latin typeface="Times New Roman" pitchFamily="18" charset="0"/>
                          <a:ea typeface="+mn-ea"/>
                          <a:cs typeface="Times New Roman" pitchFamily="18" charset="0"/>
                        </a:rPr>
                        <a:t>To understand the basic materials and properties of semiconductors.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a16="http://schemas.microsoft.com/office/drawing/2014/main" id="{CF519C70-D760-42E7-8BD2-6D327CBFDD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p14="http://schemas.microsoft.com/office/powerpoint/2010/main"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a16="http://schemas.microsoft.com/office/drawing/2014/main" id="{8162587E-E0B8-4626-8CC1-A1300E812FD3}"/>
              </a:ext>
            </a:extLst>
          </p:cNvPr>
          <p:cNvGraphicFramePr>
            <a:graphicFrameLocks noGrp="1"/>
          </p:cNvGraphicFramePr>
          <p:nvPr>
            <p:extLst>
              <p:ext uri="{D42A27DB-BD31-4B8C-83A1-F6EECF244321}">
                <p14:modId xmlns:p14="http://schemas.microsoft.com/office/powerpoint/2010/main"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a16="http://schemas.microsoft.com/office/drawing/2014/main" val="3145357031"/>
                    </a:ext>
                  </a:extLst>
                </a:gridCol>
                <a:gridCol w="3525847">
                  <a:extLst>
                    <a:ext uri="{9D8B030D-6E8A-4147-A177-3AD203B41FA5}">
                      <a16:colId xmlns:a16="http://schemas.microsoft.com/office/drawing/2014/main" val="1912344179"/>
                    </a:ext>
                  </a:extLst>
                </a:gridCol>
                <a:gridCol w="2118474">
                  <a:extLst>
                    <a:ext uri="{9D8B030D-6E8A-4147-A177-3AD203B41FA5}">
                      <a16:colId xmlns:a16="http://schemas.microsoft.com/office/drawing/2014/main"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val="1993640399"/>
                  </a:ext>
                </a:extLst>
              </a:tr>
            </a:tbl>
          </a:graphicData>
        </a:graphic>
      </p:graphicFrame>
      <p:pic>
        <p:nvPicPr>
          <p:cNvPr id="4" name="Picture 3">
            <a:extLst>
              <a:ext uri="{FF2B5EF4-FFF2-40B4-BE49-F238E27FC236}">
                <a16:creationId xmlns:a16="http://schemas.microsoft.com/office/drawing/2014/main" id="{72E5EA36-20D2-4DE4-BBC5-F5A55DBA5C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p14="http://schemas.microsoft.com/office/powerpoint/2010/main"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2886" y="1655810"/>
            <a:ext cx="10571389" cy="4351338"/>
          </a:xfrm>
        </p:spPr>
        <p:txBody>
          <a:bodyPr>
            <a:noAutofit/>
          </a:bodyPr>
          <a:lstStyle/>
          <a:p>
            <a:pPr marL="342900" indent="-342900" algn="just"/>
            <a:r>
              <a:rPr lang="en-IN" dirty="0"/>
              <a:t>Electronics is the science of how to control electric energy, energy which the electrons have a fundamental role. </a:t>
            </a:r>
          </a:p>
          <a:p>
            <a:pPr marL="342900" indent="-342900" algn="just"/>
            <a:r>
              <a:rPr lang="en-IN" dirty="0"/>
              <a:t>Its also deals with electrical circuits that involve active electrical components such as vacuum tubes, transistors, diodes and integrated circuits, and associated passive electrical components and interconnection technologies. </a:t>
            </a:r>
          </a:p>
          <a:p>
            <a:pPr marL="342900" indent="-342900" algn="just"/>
            <a:r>
              <a:rPr lang="en-IN" dirty="0"/>
              <a:t>You will work with a number of basic electronic components when building electronic circuits, including resistors, capacitors, diodes, transistors, and integrated circuits. Here is a brief overview of the functions of each of these basic electronic components.</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7" name="Title 1"/>
          <p:cNvSpPr txBox="1">
            <a:spLocks/>
          </p:cNvSpPr>
          <p:nvPr/>
        </p:nvSpPr>
        <p:spPr>
          <a:xfrm>
            <a:off x="1059543" y="361523"/>
            <a:ext cx="9575074" cy="1119686"/>
          </a:xfrm>
          <a:prstGeom prst="rect">
            <a:avLst/>
          </a:prstGeom>
          <a:ln>
            <a:solidFill>
              <a:srgbClr val="FFFFFF"/>
            </a:solidFill>
          </a:ln>
        </p:spPr>
        <p:style>
          <a:lnRef idx="2">
            <a:schemeClr val="dk1"/>
          </a:lnRef>
          <a:fillRef idx="1">
            <a:schemeClr val="lt1"/>
          </a:fillRef>
          <a:effectRef idx="0">
            <a:schemeClr val="dk1"/>
          </a:effectRef>
          <a:fontRef idx="minor">
            <a:schemeClr val="dk1"/>
          </a:fontRef>
        </p:style>
        <p:txBody>
          <a:bodyPr vert="horz" lIns="91440" tIns="45720" rIns="91440" bIns="45720" rtlCol="0" anchor="ctr">
            <a:noAutofit/>
          </a:bodyPr>
          <a:lstStyle/>
          <a:p>
            <a:pPr lvl="0" algn="ctr">
              <a:lnSpc>
                <a:spcPct val="90000"/>
              </a:lnSpc>
              <a:spcBef>
                <a:spcPct val="0"/>
              </a:spcBef>
              <a:defRPr/>
            </a:pPr>
            <a:r>
              <a:rPr kumimoji="0" lang="en-IN" sz="4400" b="1" i="0" u="none" strike="noStrike" kern="1200" cap="none" spc="0" normalizeH="0" baseline="0" noProof="0" dirty="0">
                <a:ln>
                  <a:noFill/>
                </a:ln>
                <a:solidFill>
                  <a:schemeClr val="dk1"/>
                </a:solidFill>
                <a:effectLst/>
                <a:uLnTx/>
                <a:uFillTx/>
                <a:latin typeface="+mj-lt"/>
                <a:ea typeface="+mn-ea"/>
                <a:cs typeface="+mn-cs"/>
              </a:rPr>
              <a:t>   </a:t>
            </a:r>
            <a:r>
              <a:rPr lang="en-IN" sz="4400" b="1" dirty="0">
                <a:latin typeface="+mj-lt"/>
              </a:rPr>
              <a:t>What is Electronics</a:t>
            </a:r>
            <a:endParaRPr kumimoji="0" lang="en-IN" sz="4400" b="1" i="0" strike="noStrike" kern="1200" cap="none" spc="0" normalizeH="0" baseline="0" noProof="0" dirty="0">
              <a:ln>
                <a:noFill/>
              </a:ln>
              <a:solidFill>
                <a:schemeClr val="dk1"/>
              </a:solidFill>
              <a:effectLst/>
              <a:uLnTx/>
              <a:uFillTx/>
              <a:latin typeface="+mj-lt"/>
            </a:endParaRPr>
          </a:p>
        </p:txBody>
      </p:sp>
    </p:spTree>
    <p:custDataLst>
      <p:tags r:id="rId1"/>
    </p:custDataLst>
    <p:extLst>
      <p:ext uri="{BB962C8B-B14F-4D97-AF65-F5344CB8AC3E}">
        <p14:creationId xmlns:p14="http://schemas.microsoft.com/office/powerpoint/2010/main" val="405273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cs typeface="Arial" panose="020B0604020202020204" pitchFamily="34" charset="0"/>
              </a:rPr>
              <a:t>Content</a:t>
            </a:r>
            <a:r>
              <a:rPr lang="en-US" b="1" dirty="0">
                <a:latin typeface="Casper"/>
                <a:cs typeface="Arial" panose="020B0604020202020204" pitchFamily="34" charset="0"/>
              </a:rPr>
              <a:t> </a:t>
            </a:r>
            <a:r>
              <a:rPr lang="en-US" b="1" dirty="0">
                <a:latin typeface="Casper"/>
              </a:rPr>
              <a:t>  </a:t>
            </a:r>
          </a:p>
        </p:txBody>
      </p:sp>
      <p:sp>
        <p:nvSpPr>
          <p:cNvPr id="3" name="Content Placeholder 2"/>
          <p:cNvSpPr>
            <a:spLocks noGrp="1"/>
          </p:cNvSpPr>
          <p:nvPr>
            <p:ph idx="1"/>
          </p:nvPr>
        </p:nvSpPr>
        <p:spPr>
          <a:xfrm>
            <a:off x="838200" y="1959429"/>
            <a:ext cx="10515600" cy="4217534"/>
          </a:xfrm>
        </p:spPr>
        <p:txBody>
          <a:bodyPr>
            <a:normAutofit/>
          </a:bodyPr>
          <a:lstStyle/>
          <a:p>
            <a:pPr lvl="0">
              <a:lnSpc>
                <a:spcPct val="100000"/>
              </a:lnSpc>
              <a:spcBef>
                <a:spcPts val="0"/>
              </a:spcBef>
              <a:buFont typeface="Wingdings" panose="05000000000000000000" pitchFamily="2" charset="2"/>
              <a:buChar char="q"/>
            </a:pPr>
            <a:r>
              <a:rPr lang="en-IN" sz="3600" dirty="0"/>
              <a:t>Introduction to Semiconductor</a:t>
            </a:r>
          </a:p>
          <a:p>
            <a:pPr lvl="0">
              <a:lnSpc>
                <a:spcPct val="100000"/>
              </a:lnSpc>
              <a:spcBef>
                <a:spcPts val="0"/>
              </a:spcBef>
              <a:buFont typeface="Wingdings" panose="05000000000000000000" pitchFamily="2" charset="2"/>
              <a:buChar char="q"/>
            </a:pPr>
            <a:r>
              <a:rPr lang="en-IN" sz="3600" dirty="0"/>
              <a:t>Energy band for semiconductor device</a:t>
            </a:r>
          </a:p>
          <a:p>
            <a:pPr lvl="0">
              <a:buFont typeface="Wingdings" panose="05000000000000000000" pitchFamily="2" charset="2"/>
              <a:buChar char="q"/>
            </a:pPr>
            <a:r>
              <a:rPr lang="en-IN" sz="3600" dirty="0"/>
              <a:t>Introduction to n-type semiconductor </a:t>
            </a:r>
          </a:p>
          <a:p>
            <a:pPr lvl="1">
              <a:buFont typeface="Wingdings" panose="05000000000000000000" pitchFamily="2" charset="2"/>
              <a:buChar char="q"/>
            </a:pPr>
            <a:r>
              <a:rPr lang="en-IN" sz="3200" b="1" dirty="0"/>
              <a:t>n-type conductivity</a:t>
            </a:r>
            <a:endParaRPr lang="en-IN" sz="3200" dirty="0"/>
          </a:p>
          <a:p>
            <a:pPr lvl="0">
              <a:buFont typeface="Wingdings" panose="05000000000000000000" pitchFamily="2" charset="2"/>
              <a:buChar char="q"/>
            </a:pPr>
            <a:r>
              <a:rPr lang="en-IN" sz="3600" dirty="0"/>
              <a:t>Introduction to p-type semiconductor</a:t>
            </a:r>
          </a:p>
          <a:p>
            <a:pPr lvl="1">
              <a:lnSpc>
                <a:spcPct val="100000"/>
              </a:lnSpc>
              <a:spcBef>
                <a:spcPts val="0"/>
              </a:spcBef>
              <a:buFont typeface="Wingdings" panose="05000000000000000000" pitchFamily="2" charset="2"/>
              <a:buChar char="q"/>
            </a:pPr>
            <a:r>
              <a:rPr lang="en-IN" sz="3200" b="1" dirty="0"/>
              <a:t>p-type conductivity</a:t>
            </a:r>
            <a:endParaRPr lang="en-IN" sz="3200" dirty="0"/>
          </a:p>
          <a:p>
            <a:pPr lvl="0">
              <a:lnSpc>
                <a:spcPct val="100000"/>
              </a:lnSpc>
              <a:spcBef>
                <a:spcPts val="0"/>
              </a:spcBef>
              <a:buFont typeface="Wingdings" panose="05000000000000000000" pitchFamily="2" charset="2"/>
              <a:buChar char="q"/>
            </a:pPr>
            <a:endParaRPr lang="en-IN" sz="36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36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823702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6" dur="500"/>
                                        <p:tgtEl>
                                          <p:spTgt spid="3">
                                            <p:txEl>
                                              <p:pRg st="1" end="1"/>
                                            </p:txEl>
                                          </p:spTgt>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500" fill="hold"/>
                                        <p:tgtEl>
                                          <p:spTgt spid="3">
                                            <p:txEl>
                                              <p:pRg st="2" end="2"/>
                                            </p:txEl>
                                          </p:spTgt>
                                        </p:tgtEl>
                                        <p:attrNameLst>
                                          <p:attrName>style.rotation</p:attrName>
                                        </p:attrNameLst>
                                      </p:cBhvr>
                                      <p:tavLst>
                                        <p:tav tm="0">
                                          <p:val>
                                            <p:fltVal val="360"/>
                                          </p:val>
                                        </p:tav>
                                        <p:tav tm="100000">
                                          <p:val>
                                            <p:fltVal val="0"/>
                                          </p:val>
                                        </p:tav>
                                      </p:tavLst>
                                    </p:anim>
                                    <p:animEffect transition="in" filter="fade">
                                      <p:cBhvr>
                                        <p:cTn id="22" dur="500"/>
                                        <p:tgtEl>
                                          <p:spTgt spid="3">
                                            <p:txEl>
                                              <p:pRg st="2" end="2"/>
                                            </p:txEl>
                                          </p:spTgt>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7" dur="500" fill="hold"/>
                                        <p:tgtEl>
                                          <p:spTgt spid="3">
                                            <p:txEl>
                                              <p:pRg st="3" end="3"/>
                                            </p:txEl>
                                          </p:spTgt>
                                        </p:tgtEl>
                                        <p:attrNameLst>
                                          <p:attrName>style.rotation</p:attrName>
                                        </p:attrNameLst>
                                      </p:cBhvr>
                                      <p:tavLst>
                                        <p:tav tm="0">
                                          <p:val>
                                            <p:fltVal val="360"/>
                                          </p:val>
                                        </p:tav>
                                        <p:tav tm="100000">
                                          <p:val>
                                            <p:fltVal val="0"/>
                                          </p:val>
                                        </p:tav>
                                      </p:tavLst>
                                    </p:anim>
                                    <p:animEffect transition="in" filter="fade">
                                      <p:cBhvr>
                                        <p:cTn id="28" dur="500"/>
                                        <p:tgtEl>
                                          <p:spTgt spid="3">
                                            <p:txEl>
                                              <p:pRg st="3" end="3"/>
                                            </p:txEl>
                                          </p:spTgt>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3">
                                            <p:txEl>
                                              <p:pRg st="4" end="4"/>
                                            </p:txEl>
                                          </p:spTgt>
                                        </p:tgtEl>
                                        <p:attrNameLst>
                                          <p:attrName>style.rotation</p:attrName>
                                        </p:attrNameLst>
                                      </p:cBhvr>
                                      <p:tavLst>
                                        <p:tav tm="0">
                                          <p:val>
                                            <p:fltVal val="360"/>
                                          </p:val>
                                        </p:tav>
                                        <p:tav tm="100000">
                                          <p:val>
                                            <p:fltVal val="0"/>
                                          </p:val>
                                        </p:tav>
                                      </p:tavLst>
                                    </p:anim>
                                    <p:animEffect transition="in" filter="fade">
                                      <p:cBhvr>
                                        <p:cTn id="34" dur="500"/>
                                        <p:tgtEl>
                                          <p:spTgt spid="3">
                                            <p:txEl>
                                              <p:pRg st="4" end="4"/>
                                            </p:txEl>
                                          </p:spTgt>
                                        </p:tgtEl>
                                      </p:cBhvr>
                                    </p:animEffect>
                                  </p:childTnLst>
                                </p:cTn>
                              </p:par>
                              <p:par>
                                <p:cTn id="35" presetID="49" presetClass="entr" presetSubtype="0" decel="100000" fill="hold"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5" end="5"/>
                                            </p:txEl>
                                          </p:spTgt>
                                        </p:tgtEl>
                                        <p:attrNameLst>
                                          <p:attrName>ppt_h</p:attrName>
                                        </p:attrNameLst>
                                      </p:cBhvr>
                                      <p:tavLst>
                                        <p:tav tm="0">
                                          <p:val>
                                            <p:fltVal val="0"/>
                                          </p:val>
                                        </p:tav>
                                        <p:tav tm="100000">
                                          <p:val>
                                            <p:strVal val="#ppt_h"/>
                                          </p:val>
                                        </p:tav>
                                      </p:tavLst>
                                    </p:anim>
                                    <p:anim calcmode="lin" valueType="num">
                                      <p:cBhvr>
                                        <p:cTn id="39" dur="500" fill="hold"/>
                                        <p:tgtEl>
                                          <p:spTgt spid="3">
                                            <p:txEl>
                                              <p:pRg st="5" end="5"/>
                                            </p:txEl>
                                          </p:spTgt>
                                        </p:tgtEl>
                                        <p:attrNameLst>
                                          <p:attrName>style.rotation</p:attrName>
                                        </p:attrNameLst>
                                      </p:cBhvr>
                                      <p:tavLst>
                                        <p:tav tm="0">
                                          <p:val>
                                            <p:fltVal val="360"/>
                                          </p:val>
                                        </p:tav>
                                        <p:tav tm="100000">
                                          <p:val>
                                            <p:fltVal val="0"/>
                                          </p:val>
                                        </p:tav>
                                      </p:tavLst>
                                    </p:anim>
                                    <p:animEffect transition="in" filter="fade">
                                      <p:cBhvr>
                                        <p:cTn id="4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dirty="0">
                <a:cs typeface="Times New Roman" pitchFamily="18" charset="0"/>
              </a:rPr>
              <a:t>SEMICONDUCTOR</a:t>
            </a:r>
            <a:endParaRPr lang="en-IN" b="1" dirty="0">
              <a:cs typeface="Times New Roman" pitchFamily="18" charset="0"/>
            </a:endParaRPr>
          </a:p>
        </p:txBody>
      </p:sp>
      <p:sp>
        <p:nvSpPr>
          <p:cNvPr id="3" name="Content Placeholder 2"/>
          <p:cNvSpPr>
            <a:spLocks noGrp="1"/>
          </p:cNvSpPr>
          <p:nvPr>
            <p:ph idx="1"/>
          </p:nvPr>
        </p:nvSpPr>
        <p:spPr>
          <a:xfrm>
            <a:off x="838199" y="1618753"/>
            <a:ext cx="9790043" cy="4351338"/>
          </a:xfrm>
        </p:spPr>
        <p:txBody>
          <a:bodyPr>
            <a:noAutofit/>
          </a:bodyPr>
          <a:lstStyle/>
          <a:p>
            <a:pPr algn="just">
              <a:defRPr/>
            </a:pPr>
            <a:r>
              <a:rPr lang="en-IN" dirty="0">
                <a:effectLst/>
                <a:ea typeface="Calibri" panose="020F0502020204030204" pitchFamily="34" charset="0"/>
                <a:cs typeface="Times New Roman" panose="02020603050405020304" pitchFamily="18" charset="0"/>
              </a:rPr>
              <a:t>A semiconductor is a substance which has very few free electrons at room temperature. Consequently, under the influence of potential difference, a semiconductor practically conducts no current.</a:t>
            </a:r>
          </a:p>
          <a:p>
            <a:pPr algn="just">
              <a:defRPr/>
            </a:pPr>
            <a:r>
              <a:rPr lang="en-IN" dirty="0">
                <a:effectLst/>
                <a:ea typeface="Calibri" panose="020F0502020204030204" pitchFamily="34" charset="0"/>
              </a:rPr>
              <a:t>Semiconductors (e.g. germanium, silicon etc.) are those substances whose electrical conductivity lies in between conductors and insulators. </a:t>
            </a:r>
          </a:p>
          <a:p>
            <a:pPr algn="just">
              <a:defRPr/>
            </a:pPr>
            <a:endParaRPr lang="en-US" sz="4000"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ustDataLst>
      <p:tags r:id="rId1"/>
    </p:custDataLst>
    <p:extLst>
      <p:ext uri="{BB962C8B-B14F-4D97-AF65-F5344CB8AC3E}">
        <p14:creationId xmlns:p14="http://schemas.microsoft.com/office/powerpoint/2010/main" val="604911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US" b="1" dirty="0">
                <a:cs typeface="Times New Roman" pitchFamily="18" charset="0"/>
              </a:rPr>
              <a:t>SEMICONDUCTOR</a:t>
            </a:r>
            <a:endParaRPr lang="en-IN" b="1" dirty="0">
              <a:cs typeface="Times New Roman" pitchFamily="18" charset="0"/>
            </a:endParaRPr>
          </a:p>
        </p:txBody>
      </p:sp>
      <p:sp>
        <p:nvSpPr>
          <p:cNvPr id="3" name="Content Placeholder 2"/>
          <p:cNvSpPr>
            <a:spLocks noGrp="1"/>
          </p:cNvSpPr>
          <p:nvPr>
            <p:ph idx="1"/>
          </p:nvPr>
        </p:nvSpPr>
        <p:spPr>
          <a:xfrm>
            <a:off x="838200" y="1618753"/>
            <a:ext cx="5671930" cy="4351338"/>
          </a:xfrm>
        </p:spPr>
        <p:txBody>
          <a:bodyPr>
            <a:noAutofit/>
          </a:bodyPr>
          <a:lstStyle/>
          <a:p>
            <a:pPr algn="just">
              <a:defRPr/>
            </a:pPr>
            <a:r>
              <a:rPr lang="en-IN" dirty="0">
                <a:effectLst/>
                <a:ea typeface="Calibri" panose="020F0502020204030204" pitchFamily="34" charset="0"/>
              </a:rPr>
              <a:t>In terms of energy band, the valence band is almost filled and conduction band is almost empty.</a:t>
            </a:r>
          </a:p>
          <a:p>
            <a:pPr algn="just">
              <a:defRPr/>
            </a:pPr>
            <a:r>
              <a:rPr lang="en-IN" dirty="0">
                <a:effectLst/>
                <a:ea typeface="Calibri" panose="020F0502020204030204" pitchFamily="34" charset="0"/>
              </a:rPr>
              <a:t>Further, the energy gap between valence and conduction bands is very small as shown in Fig. 1</a:t>
            </a:r>
            <a:endParaRPr lang="en-US" sz="4000" dirty="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pic>
        <p:nvPicPr>
          <p:cNvPr id="8" name="Picture 7">
            <a:extLst>
              <a:ext uri="{FF2B5EF4-FFF2-40B4-BE49-F238E27FC236}">
                <a16:creationId xmlns:a16="http://schemas.microsoft.com/office/drawing/2014/main" id="{36D29184-FECD-4494-8E92-552C082C2827}"/>
              </a:ext>
            </a:extLst>
          </p:cNvPr>
          <p:cNvPicPr/>
          <p:nvPr/>
        </p:nvPicPr>
        <p:blipFill>
          <a:blip r:embed="rId3"/>
          <a:stretch>
            <a:fillRect/>
          </a:stretch>
        </p:blipFill>
        <p:spPr>
          <a:xfrm>
            <a:off x="6818361" y="1851753"/>
            <a:ext cx="4143553" cy="3343099"/>
          </a:xfrm>
          <a:prstGeom prst="rect">
            <a:avLst/>
          </a:prstGeom>
        </p:spPr>
      </p:pic>
      <p:sp>
        <p:nvSpPr>
          <p:cNvPr id="9" name="TextBox 8">
            <a:extLst>
              <a:ext uri="{FF2B5EF4-FFF2-40B4-BE49-F238E27FC236}">
                <a16:creationId xmlns:a16="http://schemas.microsoft.com/office/drawing/2014/main" id="{9F17D406-95B8-48C1-8455-28CFA10BD88A}"/>
              </a:ext>
            </a:extLst>
          </p:cNvPr>
          <p:cNvSpPr txBox="1"/>
          <p:nvPr/>
        </p:nvSpPr>
        <p:spPr>
          <a:xfrm>
            <a:off x="6243533" y="5221603"/>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1: Energy band for semiconductor device</a:t>
            </a:r>
            <a:endParaRPr lang="en-US" dirty="0"/>
          </a:p>
        </p:txBody>
      </p:sp>
      <p:sp>
        <p:nvSpPr>
          <p:cNvPr id="10" name="TextBox 9">
            <a:extLst>
              <a:ext uri="{FF2B5EF4-FFF2-40B4-BE49-F238E27FC236}">
                <a16:creationId xmlns:a16="http://schemas.microsoft.com/office/drawing/2014/main" id="{0B8C4BD3-47B3-4DE4-87F1-D899C85AA07D}"/>
              </a:ext>
            </a:extLst>
          </p:cNvPr>
          <p:cNvSpPr txBox="1"/>
          <p:nvPr/>
        </p:nvSpPr>
        <p:spPr>
          <a:xfrm>
            <a:off x="6612835" y="5650477"/>
            <a:ext cx="474096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val="357652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8DE86-B9AE-4E3F-B7CF-1FCF7B3DB8E2}"/>
              </a:ext>
            </a:extLst>
          </p:cNvPr>
          <p:cNvSpPr>
            <a:spLocks noGrp="1"/>
          </p:cNvSpPr>
          <p:nvPr>
            <p:ph type="title"/>
          </p:nvPr>
        </p:nvSpPr>
        <p:spPr/>
        <p:txBody>
          <a:bodyPr/>
          <a:lstStyle/>
          <a:p>
            <a:pPr algn="ctr"/>
            <a:r>
              <a:rPr lang="en-US" b="1" dirty="0">
                <a:cs typeface="Times New Roman" pitchFamily="18" charset="0"/>
              </a:rPr>
              <a:t>SEMICONDUCTOR</a:t>
            </a:r>
            <a:endParaRPr lang="en-IN" dirty="0"/>
          </a:p>
        </p:txBody>
      </p:sp>
      <p:sp>
        <p:nvSpPr>
          <p:cNvPr id="3" name="Content Placeholder 2">
            <a:extLst>
              <a:ext uri="{FF2B5EF4-FFF2-40B4-BE49-F238E27FC236}">
                <a16:creationId xmlns:a16="http://schemas.microsoft.com/office/drawing/2014/main" id="{1EEA46E8-57B9-4A40-8EC7-9B7251F63B4E}"/>
              </a:ext>
            </a:extLst>
          </p:cNvPr>
          <p:cNvSpPr>
            <a:spLocks noGrp="1"/>
          </p:cNvSpPr>
          <p:nvPr>
            <p:ph idx="1"/>
          </p:nvPr>
        </p:nvSpPr>
        <p:spPr/>
        <p:txBody>
          <a:bodyPr>
            <a:normAutofit/>
          </a:bodyPr>
          <a:lstStyle/>
          <a:p>
            <a:pPr algn="just">
              <a:lnSpc>
                <a:spcPct val="107000"/>
              </a:lnSpc>
              <a:spcAft>
                <a:spcPts val="800"/>
              </a:spcAft>
            </a:pPr>
            <a:r>
              <a:rPr lang="en-IN" sz="2400" b="1" i="1" dirty="0">
                <a:effectLst/>
                <a:ea typeface="Calibri" panose="020F0502020204030204" pitchFamily="34" charset="0"/>
                <a:cs typeface="Times New Roman" panose="02020603050405020304" pitchFamily="18" charset="0"/>
              </a:rPr>
              <a:t>Semiconductor is a substance which has resistivity (10</a:t>
            </a:r>
            <a:r>
              <a:rPr lang="en-IN" sz="2400" b="1" i="1" baseline="30000" dirty="0">
                <a:effectLst/>
                <a:ea typeface="Calibri" panose="020F0502020204030204" pitchFamily="34" charset="0"/>
                <a:cs typeface="Times New Roman" panose="02020603050405020304" pitchFamily="18" charset="0"/>
              </a:rPr>
              <a:t>−4</a:t>
            </a:r>
            <a:r>
              <a:rPr lang="en-IN" sz="2400" b="1" i="1" dirty="0">
                <a:effectLst/>
                <a:ea typeface="Calibri" panose="020F0502020204030204" pitchFamily="34" charset="0"/>
                <a:cs typeface="Times New Roman" panose="02020603050405020304" pitchFamily="18" charset="0"/>
              </a:rPr>
              <a:t> to 0.5 </a:t>
            </a:r>
            <a:r>
              <a:rPr lang="en-IN" sz="2400" b="1" i="1" dirty="0" err="1">
                <a:effectLst/>
                <a:ea typeface="Calibri" panose="020F0502020204030204" pitchFamily="34" charset="0"/>
                <a:cs typeface="Times New Roman" panose="02020603050405020304" pitchFamily="18" charset="0"/>
              </a:rPr>
              <a:t>Ωm</a:t>
            </a:r>
            <a:r>
              <a:rPr lang="en-IN" sz="2400" b="1" i="1" dirty="0">
                <a:effectLst/>
                <a:ea typeface="Calibri" panose="020F0502020204030204" pitchFamily="34" charset="0"/>
                <a:cs typeface="Times New Roman" panose="02020603050405020304" pitchFamily="18" charset="0"/>
              </a:rPr>
              <a:t>) in between conductors and insulators e.g. germanium, silicon, selenium, carbon etc.</a:t>
            </a:r>
            <a:endParaRPr lang="en-IN" sz="2400" dirty="0">
              <a:effectLst/>
              <a:ea typeface="Calibri" panose="020F0502020204030204" pitchFamily="34" charset="0"/>
              <a:cs typeface="Times New Roman" panose="02020603050405020304" pitchFamily="18" charset="0"/>
            </a:endParaRPr>
          </a:p>
          <a:p>
            <a:pPr algn="just">
              <a:lnSpc>
                <a:spcPct val="107000"/>
              </a:lnSpc>
              <a:spcAft>
                <a:spcPts val="800"/>
              </a:spcAft>
            </a:pPr>
            <a:r>
              <a:rPr lang="en-IN" sz="2400" dirty="0">
                <a:effectLst/>
                <a:ea typeface="Calibri" panose="020F0502020204030204" pitchFamily="34" charset="0"/>
                <a:cs typeface="Times New Roman" panose="02020603050405020304" pitchFamily="18" charset="0"/>
              </a:rPr>
              <a:t>The two most frequently used materials are germanium (Ge) and silicon (Si). It is because the energy required to break their co-valent bonds (i.e. energy required to release an electron from their valence bands) is very small; being about 0.7 eV for germanium and about 1.1 eV for silicon.</a:t>
            </a:r>
          </a:p>
          <a:p>
            <a:pPr algn="just">
              <a:lnSpc>
                <a:spcPct val="107000"/>
              </a:lnSpc>
              <a:spcAft>
                <a:spcPts val="800"/>
              </a:spcAft>
            </a:pPr>
            <a:r>
              <a:rPr lang="en-IN" sz="2400" dirty="0">
                <a:effectLst/>
                <a:ea typeface="Calibri" panose="020F0502020204030204" pitchFamily="34" charset="0"/>
                <a:cs typeface="Times New Roman" panose="02020603050405020304" pitchFamily="18" charset="0"/>
              </a:rPr>
              <a:t>A semiconductor in an extremely pure form is known as an </a:t>
            </a:r>
            <a:r>
              <a:rPr lang="en-IN" sz="2400" b="1" i="1" dirty="0">
                <a:effectLst/>
                <a:ea typeface="Calibri" panose="020F0502020204030204" pitchFamily="34" charset="0"/>
                <a:cs typeface="Times New Roman" panose="02020603050405020304" pitchFamily="18" charset="0"/>
              </a:rPr>
              <a:t>intrinsic semiconductor</a:t>
            </a:r>
            <a:r>
              <a:rPr lang="en-IN" sz="2400" dirty="0">
                <a:effectLst/>
                <a:ea typeface="Calibri" panose="020F0502020204030204" pitchFamily="34" charset="0"/>
                <a:cs typeface="Times New Roman" panose="02020603050405020304" pitchFamily="18" charset="0"/>
              </a:rPr>
              <a:t>, whereas by adding small amount of impurity to a semiconductor it is known as </a:t>
            </a:r>
            <a:r>
              <a:rPr lang="en-IN" sz="2400" b="1" i="1" dirty="0">
                <a:effectLst/>
                <a:ea typeface="Calibri" panose="020F0502020204030204" pitchFamily="34" charset="0"/>
                <a:cs typeface="Times New Roman" panose="02020603050405020304" pitchFamily="18" charset="0"/>
              </a:rPr>
              <a:t>extrinsic semiconductor</a:t>
            </a:r>
            <a:r>
              <a:rPr lang="en-IN" sz="2400" dirty="0">
                <a:effectLst/>
                <a:ea typeface="Calibri" panose="020F0502020204030204" pitchFamily="34"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30B19EF0-9B92-413D-BB49-69E92EA2D705}"/>
              </a:ext>
            </a:extLst>
          </p:cNvPr>
          <p:cNvSpPr>
            <a:spLocks noGrp="1"/>
          </p:cNvSpPr>
          <p:nvPr>
            <p:ph type="sldNum" sz="quarter" idx="12"/>
          </p:nvPr>
        </p:nvSpPr>
        <p:spPr/>
        <p:txBody>
          <a:bodyPr/>
          <a:lstStyle/>
          <a:p>
            <a:fld id="{BDCDBBEF-AA6C-4BA6-85B2-A17D7F280E38}" type="slidenum">
              <a:rPr lang="en-US" smtClean="0"/>
              <a:pPr/>
              <a:t>8</a:t>
            </a:fld>
            <a:endParaRPr lang="en-US"/>
          </a:p>
        </p:txBody>
      </p:sp>
    </p:spTree>
    <p:custDataLst>
      <p:tags r:id="rId1"/>
    </p:custDataLst>
    <p:extLst>
      <p:ext uri="{BB962C8B-B14F-4D97-AF65-F5344CB8AC3E}">
        <p14:creationId xmlns:p14="http://schemas.microsoft.com/office/powerpoint/2010/main" val="3009979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976B4DB-744E-4EB6-93A9-84596E58E969}"/>
              </a:ext>
            </a:extLst>
          </p:cNvPr>
          <p:cNvSpPr>
            <a:spLocks noGrp="1"/>
          </p:cNvSpPr>
          <p:nvPr>
            <p:ph type="title"/>
          </p:nvPr>
        </p:nvSpPr>
        <p:spPr/>
        <p:txBody>
          <a:bodyPr/>
          <a:lstStyle/>
          <a:p>
            <a:pPr algn="ctr"/>
            <a:r>
              <a:rPr lang="en-IN" b="1" dirty="0">
                <a:cs typeface="Times New Roman" panose="02020603050405020304" pitchFamily="18" charset="0"/>
              </a:rPr>
              <a:t>Types of Semiconductors</a:t>
            </a:r>
          </a:p>
        </p:txBody>
      </p:sp>
      <p:sp>
        <p:nvSpPr>
          <p:cNvPr id="11" name="Content Placeholder 10">
            <a:extLst>
              <a:ext uri="{FF2B5EF4-FFF2-40B4-BE49-F238E27FC236}">
                <a16:creationId xmlns:a16="http://schemas.microsoft.com/office/drawing/2014/main" id="{6651C0AB-9BC0-477F-A53A-A1927FA664A7}"/>
              </a:ext>
            </a:extLst>
          </p:cNvPr>
          <p:cNvSpPr>
            <a:spLocks noGrp="1"/>
          </p:cNvSpPr>
          <p:nvPr>
            <p:ph idx="1"/>
          </p:nvPr>
        </p:nvSpPr>
        <p:spPr/>
        <p:txBody>
          <a:bodyPr>
            <a:normAutofit/>
          </a:bodyPr>
          <a:lstStyle/>
          <a:p>
            <a:pPr marL="0" indent="0" algn="just">
              <a:lnSpc>
                <a:spcPct val="107000"/>
              </a:lnSpc>
              <a:spcAft>
                <a:spcPts val="800"/>
              </a:spcAft>
              <a:buNone/>
            </a:pPr>
            <a:r>
              <a:rPr lang="en-IN" sz="3200" dirty="0">
                <a:effectLst/>
                <a:ea typeface="Calibri" panose="020F0502020204030204" pitchFamily="34" charset="0"/>
                <a:cs typeface="Times New Roman" panose="02020603050405020304" pitchFamily="18" charset="0"/>
              </a:rPr>
              <a:t>Depending upon the type of impurity added, extrinsic semiconductors are classified into: </a:t>
            </a:r>
          </a:p>
          <a:p>
            <a:pPr marL="342900" lvl="0" indent="-342900" algn="just">
              <a:lnSpc>
                <a:spcPct val="107000"/>
              </a:lnSpc>
              <a:buFont typeface="+mj-lt"/>
              <a:buAutoNum type="romanLcParenBoth"/>
            </a:pPr>
            <a:r>
              <a:rPr lang="en-IN" sz="3200" dirty="0">
                <a:effectLst/>
                <a:ea typeface="Calibri" panose="020F0502020204030204" pitchFamily="34" charset="0"/>
                <a:cs typeface="Times New Roman" panose="02020603050405020304" pitchFamily="18" charset="0"/>
              </a:rPr>
              <a:t>  n-type semiconductor </a:t>
            </a:r>
          </a:p>
          <a:p>
            <a:pPr marL="342900" lvl="0" indent="-342900" algn="just">
              <a:lnSpc>
                <a:spcPct val="107000"/>
              </a:lnSpc>
              <a:buFont typeface="+mj-lt"/>
              <a:buAutoNum type="romanLcParenBoth"/>
            </a:pPr>
            <a:r>
              <a:rPr lang="en-IN" sz="3200" dirty="0">
                <a:effectLst/>
                <a:ea typeface="Calibri" panose="020F0502020204030204" pitchFamily="34" charset="0"/>
                <a:cs typeface="Times New Roman" panose="02020603050405020304" pitchFamily="18" charset="0"/>
              </a:rPr>
              <a:t> p-type semiconductor </a:t>
            </a:r>
          </a:p>
          <a:p>
            <a:endParaRPr lang="en-IN" sz="4400" dirty="0"/>
          </a:p>
        </p:txBody>
      </p:sp>
      <p:sp>
        <p:nvSpPr>
          <p:cNvPr id="4" name="Slide Number Placeholder 3">
            <a:extLst>
              <a:ext uri="{FF2B5EF4-FFF2-40B4-BE49-F238E27FC236}">
                <a16:creationId xmlns:a16="http://schemas.microsoft.com/office/drawing/2014/main" id="{3717E5F8-79BA-4319-9662-6C8B6151C5F4}"/>
              </a:ext>
            </a:extLst>
          </p:cNvPr>
          <p:cNvSpPr>
            <a:spLocks noGrp="1"/>
          </p:cNvSpPr>
          <p:nvPr>
            <p:ph type="sldNum" sz="quarter" idx="12"/>
          </p:nvPr>
        </p:nvSpPr>
        <p:spPr/>
        <p:txBody>
          <a:bodyPr/>
          <a:lstStyle/>
          <a:p>
            <a:fld id="{BDCDBBEF-AA6C-4BA6-85B2-A17D7F280E38}" type="slidenum">
              <a:rPr lang="en-US" smtClean="0"/>
              <a:pPr/>
              <a:t>9</a:t>
            </a:fld>
            <a:endParaRPr lang="en-US"/>
          </a:p>
        </p:txBody>
      </p:sp>
    </p:spTree>
    <p:custDataLst>
      <p:tags r:id="rId1"/>
    </p:custDataLst>
    <p:extLst>
      <p:ext uri="{BB962C8B-B14F-4D97-AF65-F5344CB8AC3E}">
        <p14:creationId xmlns:p14="http://schemas.microsoft.com/office/powerpoint/2010/main" val="1923602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E9D6-D302-43FE-8AB5-B42376F13C1B}"/>
              </a:ext>
            </a:extLst>
          </p:cNvPr>
          <p:cNvSpPr>
            <a:spLocks noGrp="1"/>
          </p:cNvSpPr>
          <p:nvPr>
            <p:ph type="title"/>
          </p:nvPr>
        </p:nvSpPr>
        <p:spPr/>
        <p:txBody>
          <a:bodyPr>
            <a:normAutofit/>
          </a:bodyPr>
          <a:lstStyle/>
          <a:p>
            <a:pPr algn="ctr"/>
            <a:r>
              <a:rPr lang="en-IN" b="1" dirty="0">
                <a:effectLst/>
                <a:ea typeface="Calibri" panose="020F0502020204030204" pitchFamily="34" charset="0"/>
                <a:cs typeface="Times New Roman" panose="02020603050405020304" pitchFamily="18" charset="0"/>
              </a:rPr>
              <a:t>n-type Semiconductor</a:t>
            </a:r>
            <a:endParaRPr lang="en-IN" sz="8800" dirty="0"/>
          </a:p>
        </p:txBody>
      </p:sp>
      <p:sp>
        <p:nvSpPr>
          <p:cNvPr id="5" name="Content Placeholder 4">
            <a:extLst>
              <a:ext uri="{FF2B5EF4-FFF2-40B4-BE49-F238E27FC236}">
                <a16:creationId xmlns:a16="http://schemas.microsoft.com/office/drawing/2014/main" id="{57D9BCF2-8F3C-40DE-8305-9B5392F1D5E1}"/>
              </a:ext>
            </a:extLst>
          </p:cNvPr>
          <p:cNvSpPr>
            <a:spLocks noGrp="1"/>
          </p:cNvSpPr>
          <p:nvPr>
            <p:ph sz="half" idx="1"/>
          </p:nvPr>
        </p:nvSpPr>
        <p:spPr/>
        <p:txBody>
          <a:bodyPr>
            <a:normAutofit lnSpcReduction="10000"/>
          </a:bodyPr>
          <a:lstStyle/>
          <a:p>
            <a:pPr algn="just">
              <a:lnSpc>
                <a:spcPct val="107000"/>
              </a:lnSpc>
              <a:spcAft>
                <a:spcPts val="800"/>
              </a:spcAft>
            </a:pPr>
            <a:r>
              <a:rPr lang="en-IN" sz="2000" dirty="0">
                <a:effectLst/>
                <a:ea typeface="Calibri" panose="020F0502020204030204" pitchFamily="34" charset="0"/>
                <a:cs typeface="Times New Roman" panose="02020603050405020304" pitchFamily="18" charset="0"/>
              </a:rPr>
              <a:t>When a small amount of pentavalent impurity is added to a pure semiconductor, it is known as n-type semiconductor.</a:t>
            </a:r>
          </a:p>
          <a:p>
            <a:pPr algn="just">
              <a:lnSpc>
                <a:spcPct val="107000"/>
              </a:lnSpc>
              <a:spcAft>
                <a:spcPts val="800"/>
              </a:spcAft>
            </a:pPr>
            <a:r>
              <a:rPr lang="en-IN" sz="2000" dirty="0">
                <a:effectLst/>
                <a:ea typeface="Calibri" panose="020F0502020204030204" pitchFamily="34" charset="0"/>
                <a:cs typeface="Times New Roman" panose="02020603050405020304" pitchFamily="18" charset="0"/>
              </a:rPr>
              <a:t>The addition of pentavalent impurity provides a large number of free electrons in the semiconductor crystal. Typical examples of pentavalent impurities are arsenic and antimony. </a:t>
            </a:r>
          </a:p>
          <a:p>
            <a:pPr algn="just">
              <a:lnSpc>
                <a:spcPct val="107000"/>
              </a:lnSpc>
              <a:spcAft>
                <a:spcPts val="800"/>
              </a:spcAft>
            </a:pPr>
            <a:r>
              <a:rPr lang="en-IN" sz="2000" b="1" i="1" dirty="0">
                <a:effectLst/>
                <a:ea typeface="Calibri" panose="020F0502020204030204" pitchFamily="34" charset="0"/>
                <a:cs typeface="Times New Roman" panose="02020603050405020304" pitchFamily="18" charset="0"/>
              </a:rPr>
              <a:t>Such impurities which produce n-type semiconductor are known as donor impurities because they donate or provide free electrons to the semiconductor crystal.</a:t>
            </a:r>
            <a:endParaRPr lang="en-IN" sz="2000" dirty="0">
              <a:effectLs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9B06A2F-38DE-4DEC-8657-5CB7D4F22249}"/>
              </a:ext>
            </a:extLst>
          </p:cNvPr>
          <p:cNvSpPr>
            <a:spLocks noGrp="1"/>
          </p:cNvSpPr>
          <p:nvPr>
            <p:ph type="sldNum" sz="quarter" idx="12"/>
          </p:nvPr>
        </p:nvSpPr>
        <p:spPr/>
        <p:txBody>
          <a:bodyPr/>
          <a:lstStyle/>
          <a:p>
            <a:fld id="{BDCDBBEF-AA6C-4BA6-85B2-A17D7F280E38}" type="slidenum">
              <a:rPr lang="en-US" smtClean="0"/>
              <a:pPr/>
              <a:t>10</a:t>
            </a:fld>
            <a:endParaRPr lang="en-US"/>
          </a:p>
        </p:txBody>
      </p:sp>
      <p:pic>
        <p:nvPicPr>
          <p:cNvPr id="7" name="Content Placeholder 6">
            <a:extLst>
              <a:ext uri="{FF2B5EF4-FFF2-40B4-BE49-F238E27FC236}">
                <a16:creationId xmlns:a16="http://schemas.microsoft.com/office/drawing/2014/main" id="{0F081734-2025-44A7-9560-262574AD1433}"/>
              </a:ext>
            </a:extLst>
          </p:cNvPr>
          <p:cNvPicPr>
            <a:picLocks noGrp="1"/>
          </p:cNvPicPr>
          <p:nvPr>
            <p:ph sz="half" idx="2"/>
          </p:nvPr>
        </p:nvPicPr>
        <p:blipFill>
          <a:blip r:embed="rId3"/>
          <a:stretch>
            <a:fillRect/>
          </a:stretch>
        </p:blipFill>
        <p:spPr>
          <a:xfrm>
            <a:off x="6864626" y="1825625"/>
            <a:ext cx="4121426" cy="3594514"/>
          </a:xfrm>
          <a:prstGeom prst="rect">
            <a:avLst/>
          </a:prstGeom>
        </p:spPr>
      </p:pic>
      <p:sp>
        <p:nvSpPr>
          <p:cNvPr id="8" name="TextBox 7">
            <a:extLst>
              <a:ext uri="{FF2B5EF4-FFF2-40B4-BE49-F238E27FC236}">
                <a16:creationId xmlns:a16="http://schemas.microsoft.com/office/drawing/2014/main" id="{28960A53-ADF3-48BE-8E21-5A729728967F}"/>
              </a:ext>
            </a:extLst>
          </p:cNvPr>
          <p:cNvSpPr txBox="1"/>
          <p:nvPr/>
        </p:nvSpPr>
        <p:spPr>
          <a:xfrm>
            <a:off x="6172202" y="5454845"/>
            <a:ext cx="5272959" cy="646331"/>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2: Formation of n-type semiconductor using Ge and As Energy band for semiconductor device</a:t>
            </a:r>
            <a:endParaRPr lang="en-US" dirty="0"/>
          </a:p>
        </p:txBody>
      </p:sp>
      <p:sp>
        <p:nvSpPr>
          <p:cNvPr id="10" name="TextBox 9">
            <a:extLst>
              <a:ext uri="{FF2B5EF4-FFF2-40B4-BE49-F238E27FC236}">
                <a16:creationId xmlns:a16="http://schemas.microsoft.com/office/drawing/2014/main" id="{441F56BD-7BEB-45FB-AAB2-352470CA036B}"/>
              </a:ext>
            </a:extLst>
          </p:cNvPr>
          <p:cNvSpPr txBox="1"/>
          <p:nvPr/>
        </p:nvSpPr>
        <p:spPr>
          <a:xfrm>
            <a:off x="6254673" y="6033184"/>
            <a:ext cx="474096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val="3131797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CDE862-469A-4732-9EF7-566FFC06F6D7}"/>
              </a:ext>
            </a:extLst>
          </p:cNvPr>
          <p:cNvSpPr>
            <a:spLocks noGrp="1"/>
          </p:cNvSpPr>
          <p:nvPr>
            <p:ph type="title"/>
          </p:nvPr>
        </p:nvSpPr>
        <p:spPr/>
        <p:txBody>
          <a:bodyPr>
            <a:normAutofit/>
          </a:bodyPr>
          <a:lstStyle/>
          <a:p>
            <a:pPr algn="ctr"/>
            <a:r>
              <a:rPr lang="en-IN" b="1" dirty="0">
                <a:effectLst/>
                <a:ea typeface="Calibri" panose="020F0502020204030204" pitchFamily="34" charset="0"/>
                <a:cs typeface="Times New Roman" panose="02020603050405020304" pitchFamily="18" charset="0"/>
              </a:rPr>
              <a:t>n-type conductivity</a:t>
            </a:r>
            <a:endParaRPr lang="en-IN" sz="8800" dirty="0"/>
          </a:p>
        </p:txBody>
      </p:sp>
      <p:sp>
        <p:nvSpPr>
          <p:cNvPr id="7" name="Content Placeholder 6">
            <a:extLst>
              <a:ext uri="{FF2B5EF4-FFF2-40B4-BE49-F238E27FC236}">
                <a16:creationId xmlns:a16="http://schemas.microsoft.com/office/drawing/2014/main" id="{EE3B0ACB-1FF4-4FF0-82D5-728E8895BB1D}"/>
              </a:ext>
            </a:extLst>
          </p:cNvPr>
          <p:cNvSpPr>
            <a:spLocks noGrp="1"/>
          </p:cNvSpPr>
          <p:nvPr>
            <p:ph idx="1"/>
          </p:nvPr>
        </p:nvSpPr>
        <p:spPr>
          <a:xfrm>
            <a:off x="838200" y="1825625"/>
            <a:ext cx="5734878" cy="4351338"/>
          </a:xfrm>
        </p:spPr>
        <p:txBody>
          <a:bodyPr>
            <a:normAutofit fontScale="92500"/>
          </a:bodyPr>
          <a:lstStyle/>
          <a:p>
            <a:pPr algn="just"/>
            <a:r>
              <a:rPr lang="en-IN" sz="2400" dirty="0">
                <a:effectLst/>
                <a:ea typeface="Calibri" panose="020F0502020204030204" pitchFamily="34" charset="0"/>
              </a:rPr>
              <a:t>The current conduction in an n-type semiconductor is predominantly by free electrons i.e. negative charges and is called n-type or electron type conductivity.</a:t>
            </a:r>
          </a:p>
          <a:p>
            <a:pPr algn="just"/>
            <a:r>
              <a:rPr lang="en-IN" sz="2400" dirty="0">
                <a:effectLst/>
                <a:ea typeface="Calibri" panose="020F0502020204030204" pitchFamily="34" charset="0"/>
              </a:rPr>
              <a:t>When </a:t>
            </a:r>
            <a:r>
              <a:rPr lang="en-IN" sz="2400" dirty="0" err="1">
                <a:effectLst/>
                <a:ea typeface="Calibri" panose="020F0502020204030204" pitchFamily="34" charset="0"/>
              </a:rPr>
              <a:t>p.d.</a:t>
            </a:r>
            <a:r>
              <a:rPr lang="en-IN" sz="2400" dirty="0">
                <a:effectLst/>
                <a:ea typeface="Calibri" panose="020F0502020204030204" pitchFamily="34" charset="0"/>
              </a:rPr>
              <a:t> is applied across the n-type semiconductor, the free electrons (donated by impurity) in the crystal will be directed towards the positive terminal, constituting electric current. </a:t>
            </a:r>
          </a:p>
          <a:p>
            <a:pPr algn="just"/>
            <a:r>
              <a:rPr lang="en-IN" sz="2400" dirty="0">
                <a:effectLst/>
                <a:ea typeface="Calibri" panose="020F0502020204030204" pitchFamily="34" charset="0"/>
              </a:rPr>
              <a:t>As the current flow through the crystal is by free electrons which are carriers of negative charge, therefore, this type of conductivity is called negative or n-type conductivity.</a:t>
            </a:r>
            <a:endParaRPr lang="en-IN" sz="2400" dirty="0"/>
          </a:p>
        </p:txBody>
      </p:sp>
      <p:sp>
        <p:nvSpPr>
          <p:cNvPr id="5" name="Slide Number Placeholder 4">
            <a:extLst>
              <a:ext uri="{FF2B5EF4-FFF2-40B4-BE49-F238E27FC236}">
                <a16:creationId xmlns:a16="http://schemas.microsoft.com/office/drawing/2014/main" id="{B03534DE-DE4D-4B88-9C7E-FCF0F5F9A548}"/>
              </a:ext>
            </a:extLst>
          </p:cNvPr>
          <p:cNvSpPr>
            <a:spLocks noGrp="1"/>
          </p:cNvSpPr>
          <p:nvPr>
            <p:ph type="sldNum" sz="quarter" idx="12"/>
          </p:nvPr>
        </p:nvSpPr>
        <p:spPr/>
        <p:txBody>
          <a:bodyPr/>
          <a:lstStyle/>
          <a:p>
            <a:fld id="{BDCDBBEF-AA6C-4BA6-85B2-A17D7F280E38}" type="slidenum">
              <a:rPr lang="en-US" smtClean="0"/>
              <a:pPr/>
              <a:t>11</a:t>
            </a:fld>
            <a:endParaRPr lang="en-US"/>
          </a:p>
        </p:txBody>
      </p:sp>
      <p:pic>
        <p:nvPicPr>
          <p:cNvPr id="11" name="Picture 10">
            <a:extLst>
              <a:ext uri="{FF2B5EF4-FFF2-40B4-BE49-F238E27FC236}">
                <a16:creationId xmlns:a16="http://schemas.microsoft.com/office/drawing/2014/main" id="{1B1A21F1-A138-4872-A153-8334800D61A1}"/>
              </a:ext>
            </a:extLst>
          </p:cNvPr>
          <p:cNvPicPr/>
          <p:nvPr/>
        </p:nvPicPr>
        <p:blipFill>
          <a:blip r:embed="rId3"/>
          <a:stretch>
            <a:fillRect/>
          </a:stretch>
        </p:blipFill>
        <p:spPr>
          <a:xfrm>
            <a:off x="7345224" y="2065102"/>
            <a:ext cx="3905872" cy="2571482"/>
          </a:xfrm>
          <a:prstGeom prst="rect">
            <a:avLst/>
          </a:prstGeom>
        </p:spPr>
      </p:pic>
      <p:sp>
        <p:nvSpPr>
          <p:cNvPr id="8" name="TextBox 7">
            <a:extLst>
              <a:ext uri="{FF2B5EF4-FFF2-40B4-BE49-F238E27FC236}">
                <a16:creationId xmlns:a16="http://schemas.microsoft.com/office/drawing/2014/main" id="{25C0C18A-1B20-4109-8EE3-6D67F09EC0E9}"/>
              </a:ext>
            </a:extLst>
          </p:cNvPr>
          <p:cNvSpPr txBox="1"/>
          <p:nvPr/>
        </p:nvSpPr>
        <p:spPr>
          <a:xfrm>
            <a:off x="6538993" y="4755409"/>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3: Conductivity of n-type semiconductor</a:t>
            </a:r>
            <a:endParaRPr lang="en-US" dirty="0"/>
          </a:p>
        </p:txBody>
      </p:sp>
      <p:sp>
        <p:nvSpPr>
          <p:cNvPr id="9" name="TextBox 8">
            <a:extLst>
              <a:ext uri="{FF2B5EF4-FFF2-40B4-BE49-F238E27FC236}">
                <a16:creationId xmlns:a16="http://schemas.microsoft.com/office/drawing/2014/main" id="{A7B29DD7-D135-4D9C-B97D-51BEE78FE7DA}"/>
              </a:ext>
            </a:extLst>
          </p:cNvPr>
          <p:cNvSpPr txBox="1"/>
          <p:nvPr/>
        </p:nvSpPr>
        <p:spPr>
          <a:xfrm>
            <a:off x="6822032" y="5243566"/>
            <a:ext cx="474096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val="2079837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1E9D6-D302-43FE-8AB5-B42376F13C1B}"/>
              </a:ext>
            </a:extLst>
          </p:cNvPr>
          <p:cNvSpPr>
            <a:spLocks noGrp="1"/>
          </p:cNvSpPr>
          <p:nvPr>
            <p:ph type="title"/>
          </p:nvPr>
        </p:nvSpPr>
        <p:spPr/>
        <p:txBody>
          <a:bodyPr>
            <a:normAutofit/>
          </a:bodyPr>
          <a:lstStyle/>
          <a:p>
            <a:pPr algn="ctr"/>
            <a:r>
              <a:rPr lang="en-IN" b="1" dirty="0">
                <a:ea typeface="Calibri" panose="020F0502020204030204" pitchFamily="34" charset="0"/>
                <a:cs typeface="Times New Roman" panose="02020603050405020304" pitchFamily="18" charset="0"/>
              </a:rPr>
              <a:t>p</a:t>
            </a:r>
            <a:r>
              <a:rPr lang="en-IN" b="1" dirty="0">
                <a:effectLst/>
                <a:ea typeface="Calibri" panose="020F0502020204030204" pitchFamily="34" charset="0"/>
                <a:cs typeface="Times New Roman" panose="02020603050405020304" pitchFamily="18" charset="0"/>
              </a:rPr>
              <a:t>-type Semiconductor</a:t>
            </a:r>
            <a:endParaRPr lang="en-IN" sz="8800" dirty="0"/>
          </a:p>
        </p:txBody>
      </p:sp>
      <p:sp>
        <p:nvSpPr>
          <p:cNvPr id="5" name="Content Placeholder 4">
            <a:extLst>
              <a:ext uri="{FF2B5EF4-FFF2-40B4-BE49-F238E27FC236}">
                <a16:creationId xmlns:a16="http://schemas.microsoft.com/office/drawing/2014/main" id="{57D9BCF2-8F3C-40DE-8305-9B5392F1D5E1}"/>
              </a:ext>
            </a:extLst>
          </p:cNvPr>
          <p:cNvSpPr>
            <a:spLocks noGrp="1"/>
          </p:cNvSpPr>
          <p:nvPr>
            <p:ph sz="half" idx="1"/>
          </p:nvPr>
        </p:nvSpPr>
        <p:spPr/>
        <p:txBody>
          <a:bodyPr>
            <a:normAutofit fontScale="92500" lnSpcReduction="10000"/>
          </a:bodyPr>
          <a:lstStyle/>
          <a:p>
            <a:pPr algn="just">
              <a:lnSpc>
                <a:spcPct val="107000"/>
              </a:lnSpc>
              <a:spcAft>
                <a:spcPts val="800"/>
              </a:spcAft>
            </a:pPr>
            <a:r>
              <a:rPr lang="en-IN" sz="2400" dirty="0">
                <a:effectLst/>
                <a:ea typeface="Calibri" panose="020F0502020204030204" pitchFamily="34" charset="0"/>
                <a:cs typeface="Times New Roman" panose="02020603050405020304" pitchFamily="18" charset="0"/>
              </a:rPr>
              <a:t>When a small amount of trivalent impurity is added to a pure semiconductor, it is called p-type semiconductor. The addition of trivalent impurity provides a large number of holes in the semiconductor. Typical examples of trivalent impurities are gallium and indium. </a:t>
            </a:r>
          </a:p>
          <a:p>
            <a:pPr algn="just"/>
            <a:r>
              <a:rPr lang="en-IN" sz="2400" b="1" i="1" dirty="0">
                <a:effectLst/>
                <a:ea typeface="Calibri" panose="020F0502020204030204" pitchFamily="34" charset="0"/>
              </a:rPr>
              <a:t>Such impurities which produce p-type semiconductor are known as acceptor impurities because the holes created can accept the electrons</a:t>
            </a:r>
            <a:endParaRPr lang="en-IN" dirty="0">
              <a:effectLs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9B06A2F-38DE-4DEC-8657-5CB7D4F22249}"/>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10" name="Picture 9">
            <a:extLst>
              <a:ext uri="{FF2B5EF4-FFF2-40B4-BE49-F238E27FC236}">
                <a16:creationId xmlns:a16="http://schemas.microsoft.com/office/drawing/2014/main" id="{BCF5784A-A2D5-4F13-B4C2-6DC7703CB1D3}"/>
              </a:ext>
            </a:extLst>
          </p:cNvPr>
          <p:cNvPicPr/>
          <p:nvPr/>
        </p:nvPicPr>
        <p:blipFill>
          <a:blip r:embed="rId3">
            <a:extLst>
              <a:ext uri="{28A0092B-C50C-407E-A947-70E740481C1C}">
                <a14:useLocalDpi xmlns:a14="http://schemas.microsoft.com/office/drawing/2010/main" val="0"/>
              </a:ext>
            </a:extLst>
          </a:blip>
          <a:stretch>
            <a:fillRect/>
          </a:stretch>
        </p:blipFill>
        <p:spPr>
          <a:xfrm>
            <a:off x="6567280" y="2022599"/>
            <a:ext cx="4391439" cy="3133972"/>
          </a:xfrm>
          <a:prstGeom prst="rect">
            <a:avLst/>
          </a:prstGeom>
        </p:spPr>
      </p:pic>
      <p:sp>
        <p:nvSpPr>
          <p:cNvPr id="7" name="TextBox 6">
            <a:extLst>
              <a:ext uri="{FF2B5EF4-FFF2-40B4-BE49-F238E27FC236}">
                <a16:creationId xmlns:a16="http://schemas.microsoft.com/office/drawing/2014/main" id="{115C0B0F-F40B-4700-A853-E6F55319C74F}"/>
              </a:ext>
            </a:extLst>
          </p:cNvPr>
          <p:cNvSpPr txBox="1"/>
          <p:nvPr/>
        </p:nvSpPr>
        <p:spPr>
          <a:xfrm>
            <a:off x="6408254" y="5185748"/>
            <a:ext cx="5272959" cy="646331"/>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4: Formation of p-type semiconductor using Ge and Ga </a:t>
            </a:r>
            <a:endParaRPr lang="en-US" dirty="0"/>
          </a:p>
        </p:txBody>
      </p:sp>
      <p:sp>
        <p:nvSpPr>
          <p:cNvPr id="8" name="TextBox 7">
            <a:extLst>
              <a:ext uri="{FF2B5EF4-FFF2-40B4-BE49-F238E27FC236}">
                <a16:creationId xmlns:a16="http://schemas.microsoft.com/office/drawing/2014/main" id="{00C33309-BEA7-41B5-B6C5-0660E49A6923}"/>
              </a:ext>
            </a:extLst>
          </p:cNvPr>
          <p:cNvSpPr txBox="1"/>
          <p:nvPr/>
        </p:nvSpPr>
        <p:spPr>
          <a:xfrm>
            <a:off x="6567280" y="5832079"/>
            <a:ext cx="474096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val="1957106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CDE862-469A-4732-9EF7-566FFC06F6D7}"/>
              </a:ext>
            </a:extLst>
          </p:cNvPr>
          <p:cNvSpPr>
            <a:spLocks noGrp="1"/>
          </p:cNvSpPr>
          <p:nvPr>
            <p:ph type="title"/>
          </p:nvPr>
        </p:nvSpPr>
        <p:spPr/>
        <p:txBody>
          <a:bodyPr>
            <a:normAutofit/>
          </a:bodyPr>
          <a:lstStyle/>
          <a:p>
            <a:pPr algn="ctr"/>
            <a:r>
              <a:rPr lang="en-IN" b="1" dirty="0">
                <a:ea typeface="Calibri" panose="020F0502020204030204" pitchFamily="34" charset="0"/>
                <a:cs typeface="Times New Roman" panose="02020603050405020304" pitchFamily="18" charset="0"/>
              </a:rPr>
              <a:t>p</a:t>
            </a:r>
            <a:r>
              <a:rPr lang="en-IN" b="1" dirty="0">
                <a:effectLst/>
                <a:ea typeface="Calibri" panose="020F0502020204030204" pitchFamily="34" charset="0"/>
                <a:cs typeface="Times New Roman" panose="02020603050405020304" pitchFamily="18" charset="0"/>
              </a:rPr>
              <a:t>-type conductivity</a:t>
            </a:r>
            <a:endParaRPr lang="en-IN" sz="8800" dirty="0"/>
          </a:p>
        </p:txBody>
      </p:sp>
      <p:sp>
        <p:nvSpPr>
          <p:cNvPr id="7" name="Content Placeholder 6">
            <a:extLst>
              <a:ext uri="{FF2B5EF4-FFF2-40B4-BE49-F238E27FC236}">
                <a16:creationId xmlns:a16="http://schemas.microsoft.com/office/drawing/2014/main" id="{EE3B0ACB-1FF4-4FF0-82D5-728E8895BB1D}"/>
              </a:ext>
            </a:extLst>
          </p:cNvPr>
          <p:cNvSpPr>
            <a:spLocks noGrp="1"/>
          </p:cNvSpPr>
          <p:nvPr>
            <p:ph idx="1"/>
          </p:nvPr>
        </p:nvSpPr>
        <p:spPr>
          <a:xfrm>
            <a:off x="715618" y="1825625"/>
            <a:ext cx="6072270" cy="4351338"/>
          </a:xfrm>
        </p:spPr>
        <p:txBody>
          <a:bodyPr>
            <a:noAutofit/>
          </a:bodyPr>
          <a:lstStyle/>
          <a:p>
            <a:pPr algn="just">
              <a:lnSpc>
                <a:spcPct val="100000"/>
              </a:lnSpc>
              <a:spcAft>
                <a:spcPts val="800"/>
              </a:spcAft>
            </a:pPr>
            <a:r>
              <a:rPr lang="en-IN" sz="2000" dirty="0">
                <a:effectLst/>
                <a:ea typeface="Calibri" panose="020F0502020204030204" pitchFamily="34" charset="0"/>
                <a:cs typeface="Times New Roman" panose="02020603050405020304" pitchFamily="18" charset="0"/>
              </a:rPr>
              <a:t>The current conduction in p-type semiconductor is predominantly by holes i.e. positive charges and is called p-type or hole-type conductivity.</a:t>
            </a:r>
          </a:p>
          <a:p>
            <a:pPr algn="just">
              <a:lnSpc>
                <a:spcPct val="100000"/>
              </a:lnSpc>
              <a:spcAft>
                <a:spcPts val="800"/>
              </a:spcAft>
            </a:pPr>
            <a:r>
              <a:rPr lang="en-IN" sz="2000" dirty="0">
                <a:effectLst/>
                <a:ea typeface="Calibri" panose="020F0502020204030204" pitchFamily="34" charset="0"/>
                <a:cs typeface="Times New Roman" panose="02020603050405020304" pitchFamily="18" charset="0"/>
              </a:rPr>
              <a:t>When </a:t>
            </a:r>
            <a:r>
              <a:rPr lang="en-IN" sz="2000" dirty="0" err="1">
                <a:effectLst/>
                <a:ea typeface="Calibri" panose="020F0502020204030204" pitchFamily="34" charset="0"/>
                <a:cs typeface="Times New Roman" panose="02020603050405020304" pitchFamily="18" charset="0"/>
              </a:rPr>
              <a:t>p.d.</a:t>
            </a:r>
            <a:r>
              <a:rPr lang="en-IN" sz="2000" dirty="0">
                <a:effectLst/>
                <a:ea typeface="Calibri" panose="020F0502020204030204" pitchFamily="34" charset="0"/>
                <a:cs typeface="Times New Roman" panose="02020603050405020304" pitchFamily="18" charset="0"/>
              </a:rPr>
              <a:t> is applied to the p-type semiconductor, the holes (donated by the impurity) are shifted from one co-valent bond to another. </a:t>
            </a:r>
          </a:p>
          <a:p>
            <a:pPr algn="just">
              <a:lnSpc>
                <a:spcPct val="100000"/>
              </a:lnSpc>
              <a:spcAft>
                <a:spcPts val="800"/>
              </a:spcAft>
            </a:pPr>
            <a:r>
              <a:rPr lang="en-IN" sz="2000" dirty="0">
                <a:effectLst/>
                <a:ea typeface="Calibri" panose="020F0502020204030204" pitchFamily="34" charset="0"/>
                <a:cs typeface="Times New Roman" panose="02020603050405020304" pitchFamily="18" charset="0"/>
              </a:rPr>
              <a:t>As the holes are positively charged, therefore, they are directed towards the negative terminal, constituting what is known as hole current. </a:t>
            </a:r>
          </a:p>
          <a:p>
            <a:pPr algn="just">
              <a:lnSpc>
                <a:spcPct val="100000"/>
              </a:lnSpc>
              <a:spcAft>
                <a:spcPts val="800"/>
              </a:spcAft>
            </a:pPr>
            <a:r>
              <a:rPr lang="en-IN" sz="2000" dirty="0">
                <a:effectLst/>
                <a:ea typeface="Calibri" panose="020F0502020204030204" pitchFamily="34" charset="0"/>
                <a:cs typeface="Times New Roman" panose="02020603050405020304" pitchFamily="18" charset="0"/>
              </a:rPr>
              <a:t>It may be noted that in p-type conductivity, the valence electrons move from one co-valent bond to another unlike the n-type where current conduction is by free electrons.</a:t>
            </a:r>
            <a:endParaRPr lang="en-IN" sz="2000" dirty="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03534DE-DE4D-4B88-9C7E-FCF0F5F9A548}"/>
              </a:ext>
            </a:extLst>
          </p:cNvPr>
          <p:cNvSpPr>
            <a:spLocks noGrp="1"/>
          </p:cNvSpPr>
          <p:nvPr>
            <p:ph type="sldNum" sz="quarter" idx="12"/>
          </p:nvPr>
        </p:nvSpPr>
        <p:spPr/>
        <p:txBody>
          <a:bodyPr/>
          <a:lstStyle/>
          <a:p>
            <a:fld id="{BDCDBBEF-AA6C-4BA6-85B2-A17D7F280E38}" type="slidenum">
              <a:rPr lang="en-US" smtClean="0"/>
              <a:pPr/>
              <a:t>13</a:t>
            </a:fld>
            <a:endParaRPr lang="en-US"/>
          </a:p>
        </p:txBody>
      </p:sp>
      <p:pic>
        <p:nvPicPr>
          <p:cNvPr id="8" name="Picture 7">
            <a:extLst>
              <a:ext uri="{FF2B5EF4-FFF2-40B4-BE49-F238E27FC236}">
                <a16:creationId xmlns:a16="http://schemas.microsoft.com/office/drawing/2014/main" id="{A0784DCE-1951-4E2B-9860-FD6A7C287862}"/>
              </a:ext>
            </a:extLst>
          </p:cNvPr>
          <p:cNvPicPr/>
          <p:nvPr/>
        </p:nvPicPr>
        <p:blipFill>
          <a:blip r:embed="rId3"/>
          <a:stretch>
            <a:fillRect/>
          </a:stretch>
        </p:blipFill>
        <p:spPr>
          <a:xfrm>
            <a:off x="7334249" y="1690688"/>
            <a:ext cx="4142133" cy="3066842"/>
          </a:xfrm>
          <a:prstGeom prst="rect">
            <a:avLst/>
          </a:prstGeom>
        </p:spPr>
      </p:pic>
      <p:sp>
        <p:nvSpPr>
          <p:cNvPr id="9" name="TextBox 8">
            <a:extLst>
              <a:ext uri="{FF2B5EF4-FFF2-40B4-BE49-F238E27FC236}">
                <a16:creationId xmlns:a16="http://schemas.microsoft.com/office/drawing/2014/main" id="{FB8EE405-81BF-4231-A44A-56E9DC1580ED}"/>
              </a:ext>
            </a:extLst>
          </p:cNvPr>
          <p:cNvSpPr txBox="1"/>
          <p:nvPr/>
        </p:nvSpPr>
        <p:spPr>
          <a:xfrm>
            <a:off x="6787887" y="5161300"/>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5: Conductivity of p-type semiconductor</a:t>
            </a:r>
            <a:endParaRPr lang="en-US" dirty="0"/>
          </a:p>
        </p:txBody>
      </p:sp>
      <p:sp>
        <p:nvSpPr>
          <p:cNvPr id="10" name="TextBox 9">
            <a:extLst>
              <a:ext uri="{FF2B5EF4-FFF2-40B4-BE49-F238E27FC236}">
                <a16:creationId xmlns:a16="http://schemas.microsoft.com/office/drawing/2014/main" id="{01F627DE-274A-4718-B662-30705654A237}"/>
              </a:ext>
            </a:extLst>
          </p:cNvPr>
          <p:cNvSpPr txBox="1"/>
          <p:nvPr/>
        </p:nvSpPr>
        <p:spPr>
          <a:xfrm>
            <a:off x="6905814" y="5665569"/>
            <a:ext cx="474096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val="1257015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976B4DB-744E-4EB6-93A9-84596E58E969}"/>
              </a:ext>
            </a:extLst>
          </p:cNvPr>
          <p:cNvSpPr>
            <a:spLocks noGrp="1"/>
          </p:cNvSpPr>
          <p:nvPr>
            <p:ph type="title"/>
          </p:nvPr>
        </p:nvSpPr>
        <p:spPr/>
        <p:txBody>
          <a:bodyPr/>
          <a:lstStyle/>
          <a:p>
            <a:r>
              <a:rPr lang="en-IN" b="1" dirty="0">
                <a:cs typeface="Times New Roman" panose="02020603050405020304" pitchFamily="18" charset="0"/>
              </a:rPr>
              <a:t>Types of Semiconductors</a:t>
            </a:r>
          </a:p>
        </p:txBody>
      </p:sp>
      <p:sp>
        <p:nvSpPr>
          <p:cNvPr id="11" name="Content Placeholder 10">
            <a:extLst>
              <a:ext uri="{FF2B5EF4-FFF2-40B4-BE49-F238E27FC236}">
                <a16:creationId xmlns:a16="http://schemas.microsoft.com/office/drawing/2014/main" id="{6651C0AB-9BC0-477F-A53A-A1927FA664A7}"/>
              </a:ext>
            </a:extLst>
          </p:cNvPr>
          <p:cNvSpPr>
            <a:spLocks noGrp="1"/>
          </p:cNvSpPr>
          <p:nvPr>
            <p:ph idx="1"/>
          </p:nvPr>
        </p:nvSpPr>
        <p:spPr/>
        <p:txBody>
          <a:bodyPr>
            <a:normAutofit/>
          </a:bodyPr>
          <a:lstStyle/>
          <a:p>
            <a:pPr marL="0" indent="0" algn="just">
              <a:lnSpc>
                <a:spcPct val="107000"/>
              </a:lnSpc>
              <a:spcAft>
                <a:spcPts val="800"/>
              </a:spcAft>
              <a:buNone/>
            </a:pPr>
            <a:r>
              <a:rPr lang="en-IN" sz="3600" dirty="0">
                <a:effectLst/>
                <a:ea typeface="Calibri" panose="020F0502020204030204" pitchFamily="34" charset="0"/>
                <a:cs typeface="Times New Roman" panose="02020603050405020304" pitchFamily="18" charset="0"/>
              </a:rPr>
              <a:t>Depending upon the type of impurity added, extrinsic semiconductors are classified into: </a:t>
            </a:r>
          </a:p>
          <a:p>
            <a:pPr marL="342900" lvl="0" indent="-342900" algn="just">
              <a:lnSpc>
                <a:spcPct val="107000"/>
              </a:lnSpc>
              <a:buFont typeface="+mj-lt"/>
              <a:buAutoNum type="romanLcParenBoth"/>
            </a:pPr>
            <a:r>
              <a:rPr lang="en-IN" sz="3600" dirty="0">
                <a:effectLst/>
                <a:ea typeface="Calibri" panose="020F0502020204030204" pitchFamily="34" charset="0"/>
                <a:cs typeface="Times New Roman" panose="02020603050405020304" pitchFamily="18" charset="0"/>
              </a:rPr>
              <a:t>  n-type semiconductor </a:t>
            </a:r>
          </a:p>
          <a:p>
            <a:pPr marL="342900" lvl="0" indent="-342900" algn="just">
              <a:lnSpc>
                <a:spcPct val="107000"/>
              </a:lnSpc>
              <a:buFont typeface="+mj-lt"/>
              <a:buAutoNum type="romanLcParenBoth"/>
            </a:pPr>
            <a:r>
              <a:rPr lang="en-IN" sz="3600" dirty="0">
                <a:effectLst/>
                <a:ea typeface="Calibri" panose="020F0502020204030204" pitchFamily="34" charset="0"/>
                <a:cs typeface="Times New Roman" panose="02020603050405020304" pitchFamily="18" charset="0"/>
              </a:rPr>
              <a:t> p-type semiconductor </a:t>
            </a:r>
          </a:p>
          <a:p>
            <a:endParaRPr lang="en-IN" sz="4800" dirty="0"/>
          </a:p>
        </p:txBody>
      </p:sp>
      <p:sp>
        <p:nvSpPr>
          <p:cNvPr id="4" name="Slide Number Placeholder 3">
            <a:extLst>
              <a:ext uri="{FF2B5EF4-FFF2-40B4-BE49-F238E27FC236}">
                <a16:creationId xmlns:a16="http://schemas.microsoft.com/office/drawing/2014/main" id="{3717E5F8-79BA-4319-9662-6C8B6151C5F4}"/>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custDataLst>
      <p:tags r:id="rId1"/>
    </p:custDataLst>
    <p:extLst>
      <p:ext uri="{BB962C8B-B14F-4D97-AF65-F5344CB8AC3E}">
        <p14:creationId xmlns:p14="http://schemas.microsoft.com/office/powerpoint/2010/main" val="1923602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CE1B-F4EB-49CA-8629-75A8CE5EC269}"/>
              </a:ext>
            </a:extLst>
          </p:cNvPr>
          <p:cNvSpPr>
            <a:spLocks noGrp="1"/>
          </p:cNvSpPr>
          <p:nvPr>
            <p:ph type="title"/>
          </p:nvPr>
        </p:nvSpPr>
        <p:spPr/>
        <p:txBody>
          <a:bodyPr>
            <a:normAutofit/>
          </a:bodyPr>
          <a:lstStyle/>
          <a:p>
            <a:r>
              <a:rPr lang="en-IN" b="1" dirty="0">
                <a:effectLst/>
                <a:ea typeface="Calibri" panose="020F0502020204030204" pitchFamily="34" charset="0"/>
                <a:cs typeface="Times New Roman" panose="02020603050405020304" pitchFamily="18" charset="0"/>
              </a:rPr>
              <a:t>Formation of </a:t>
            </a:r>
            <a:r>
              <a:rPr lang="en-IN" b="1" dirty="0">
                <a:ea typeface="Calibri" panose="020F0502020204030204" pitchFamily="34" charset="0"/>
                <a:cs typeface="Times New Roman" panose="02020603050405020304" pitchFamily="18" charset="0"/>
              </a:rPr>
              <a:t>P-N</a:t>
            </a:r>
            <a:r>
              <a:rPr lang="en-IN" b="1" dirty="0">
                <a:effectLst/>
                <a:ea typeface="Calibri" panose="020F0502020204030204" pitchFamily="34" charset="0"/>
                <a:cs typeface="Times New Roman" panose="02020603050405020304" pitchFamily="18" charset="0"/>
              </a:rPr>
              <a:t> junction</a:t>
            </a:r>
            <a:endParaRPr lang="en-IN" sz="8800" dirty="0"/>
          </a:p>
        </p:txBody>
      </p:sp>
      <p:sp>
        <p:nvSpPr>
          <p:cNvPr id="3" name="Content Placeholder 2">
            <a:extLst>
              <a:ext uri="{FF2B5EF4-FFF2-40B4-BE49-F238E27FC236}">
                <a16:creationId xmlns:a16="http://schemas.microsoft.com/office/drawing/2014/main" id="{BC813163-052F-4B2A-89D9-F50E7B3987F4}"/>
              </a:ext>
            </a:extLst>
          </p:cNvPr>
          <p:cNvSpPr>
            <a:spLocks noGrp="1"/>
          </p:cNvSpPr>
          <p:nvPr>
            <p:ph idx="1"/>
          </p:nvPr>
        </p:nvSpPr>
        <p:spPr>
          <a:xfrm>
            <a:off x="838200" y="1825625"/>
            <a:ext cx="5403574" cy="4351338"/>
          </a:xfrm>
        </p:spPr>
        <p:txBody>
          <a:bodyPr>
            <a:normAutofit lnSpcReduction="10000"/>
          </a:bodyPr>
          <a:lstStyle/>
          <a:p>
            <a:pPr algn="just"/>
            <a:r>
              <a:rPr lang="en-IN" sz="2000" dirty="0">
                <a:effectLst/>
                <a:ea typeface="Calibri" panose="020F0502020204030204" pitchFamily="34" charset="0"/>
                <a:cs typeface="Times New Roman" panose="02020603050405020304" pitchFamily="18" charset="0"/>
              </a:rPr>
              <a:t>A </a:t>
            </a:r>
            <a:r>
              <a:rPr lang="en-IN" sz="2000" dirty="0" err="1">
                <a:effectLst/>
                <a:ea typeface="Calibri" panose="020F0502020204030204" pitchFamily="34" charset="0"/>
                <a:cs typeface="Times New Roman" panose="02020603050405020304" pitchFamily="18" charset="0"/>
              </a:rPr>
              <a:t>pn</a:t>
            </a:r>
            <a:r>
              <a:rPr lang="en-IN" sz="2000" dirty="0">
                <a:effectLst/>
                <a:ea typeface="Calibri" panose="020F0502020204030204" pitchFamily="34" charset="0"/>
                <a:cs typeface="Times New Roman" panose="02020603050405020304" pitchFamily="18" charset="0"/>
              </a:rPr>
              <a:t> junction is fabricated by special techniques. One common method of making </a:t>
            </a:r>
            <a:r>
              <a:rPr lang="en-IN" sz="2000" dirty="0" err="1">
                <a:effectLst/>
                <a:ea typeface="Calibri" panose="020F0502020204030204" pitchFamily="34" charset="0"/>
                <a:cs typeface="Times New Roman" panose="02020603050405020304" pitchFamily="18" charset="0"/>
              </a:rPr>
              <a:t>pn</a:t>
            </a:r>
            <a:r>
              <a:rPr lang="en-IN" sz="2000" dirty="0">
                <a:effectLst/>
                <a:ea typeface="Calibri" panose="020F0502020204030204" pitchFamily="34" charset="0"/>
                <a:cs typeface="Times New Roman" panose="02020603050405020304" pitchFamily="18" charset="0"/>
              </a:rPr>
              <a:t> junction is called alloying. In this method, a small block of indium (</a:t>
            </a:r>
            <a:r>
              <a:rPr lang="en-IN" sz="2000" dirty="0" err="1">
                <a:ea typeface="Calibri" panose="020F0502020204030204" pitchFamily="34" charset="0"/>
                <a:cs typeface="Times New Roman" panose="02020603050405020304" pitchFamily="18" charset="0"/>
              </a:rPr>
              <a:t>penta</a:t>
            </a:r>
            <a:r>
              <a:rPr lang="en-IN" sz="2000" dirty="0">
                <a:ea typeface="Calibri" panose="020F0502020204030204" pitchFamily="34" charset="0"/>
                <a:cs typeface="Times New Roman" panose="02020603050405020304" pitchFamily="18" charset="0"/>
              </a:rPr>
              <a:t> valent </a:t>
            </a:r>
            <a:r>
              <a:rPr lang="en-IN" sz="2000" dirty="0">
                <a:effectLst/>
                <a:ea typeface="Calibri" panose="020F0502020204030204" pitchFamily="34" charset="0"/>
                <a:cs typeface="Times New Roman" panose="02020603050405020304" pitchFamily="18" charset="0"/>
              </a:rPr>
              <a:t> impurity) is placed on an n-type germanium slab as shown in Fig. 2 (</a:t>
            </a:r>
            <a:r>
              <a:rPr lang="en-IN" sz="2000" dirty="0" err="1">
                <a:effectLst/>
                <a:ea typeface="Calibri" panose="020F0502020204030204" pitchFamily="34" charset="0"/>
                <a:cs typeface="Times New Roman" panose="02020603050405020304" pitchFamily="18" charset="0"/>
              </a:rPr>
              <a:t>i</a:t>
            </a:r>
            <a:r>
              <a:rPr lang="en-IN" sz="2000" dirty="0">
                <a:effectLst/>
                <a:ea typeface="Calibri" panose="020F0502020204030204" pitchFamily="34" charset="0"/>
                <a:cs typeface="Times New Roman" panose="02020603050405020304" pitchFamily="18" charset="0"/>
              </a:rPr>
              <a:t>). </a:t>
            </a:r>
          </a:p>
          <a:p>
            <a:pPr algn="just"/>
            <a:r>
              <a:rPr lang="en-IN" sz="2000" dirty="0">
                <a:effectLst/>
                <a:ea typeface="Calibri" panose="020F0502020204030204" pitchFamily="34" charset="0"/>
              </a:rPr>
              <a:t>The system is then heated to a temperature of about 500ºC. The indium and some of the germanium melt to form a small puddle of molten germanium-indium mixture as shown in Fig. 2 (ii). </a:t>
            </a:r>
          </a:p>
          <a:p>
            <a:pPr algn="just"/>
            <a:r>
              <a:rPr lang="en-IN" sz="2000" dirty="0">
                <a:effectLst/>
                <a:ea typeface="Calibri" panose="020F0502020204030204" pitchFamily="34" charset="0"/>
              </a:rPr>
              <a:t>When all germanium has been redeposited, the remaining material appears as indium button which is frozen on to the outer surface of the crystallised portion as shown in Fig. 2 (iii)</a:t>
            </a:r>
            <a:endParaRPr lang="en-IN" sz="2000" dirty="0">
              <a:effectLst/>
              <a:ea typeface="Calibri" panose="020F0502020204030204" pitchFamily="34" charset="0"/>
              <a:cs typeface="Times New Roman" panose="02020603050405020304" pitchFamily="18" charset="0"/>
            </a:endParaRPr>
          </a:p>
          <a:p>
            <a:pPr algn="just"/>
            <a:endParaRPr lang="en-IN" sz="3200" dirty="0"/>
          </a:p>
        </p:txBody>
      </p:sp>
      <p:sp>
        <p:nvSpPr>
          <p:cNvPr id="4" name="Slide Number Placeholder 3">
            <a:extLst>
              <a:ext uri="{FF2B5EF4-FFF2-40B4-BE49-F238E27FC236}">
                <a16:creationId xmlns:a16="http://schemas.microsoft.com/office/drawing/2014/main" id="{FBC7D5A3-D862-4F93-905D-9F75652FD9D7}"/>
              </a:ext>
            </a:extLst>
          </p:cNvPr>
          <p:cNvSpPr>
            <a:spLocks noGrp="1"/>
          </p:cNvSpPr>
          <p:nvPr>
            <p:ph type="sldNum" sz="quarter" idx="12"/>
          </p:nvPr>
        </p:nvSpPr>
        <p:spPr/>
        <p:txBody>
          <a:bodyPr/>
          <a:lstStyle/>
          <a:p>
            <a:fld id="{BDCDBBEF-AA6C-4BA6-85B2-A17D7F280E38}" type="slidenum">
              <a:rPr lang="en-US" smtClean="0"/>
              <a:pPr/>
              <a:t>15</a:t>
            </a:fld>
            <a:endParaRPr lang="en-US"/>
          </a:p>
        </p:txBody>
      </p:sp>
      <p:pic>
        <p:nvPicPr>
          <p:cNvPr id="8" name="Picture 7">
            <a:extLst>
              <a:ext uri="{FF2B5EF4-FFF2-40B4-BE49-F238E27FC236}">
                <a16:creationId xmlns:a16="http://schemas.microsoft.com/office/drawing/2014/main" id="{6C7FE521-729B-47D9-B264-898F8E902DF3}"/>
              </a:ext>
            </a:extLst>
          </p:cNvPr>
          <p:cNvPicPr/>
          <p:nvPr/>
        </p:nvPicPr>
        <p:blipFill>
          <a:blip r:embed="rId3"/>
          <a:stretch>
            <a:fillRect/>
          </a:stretch>
        </p:blipFill>
        <p:spPr>
          <a:xfrm>
            <a:off x="7484579" y="530088"/>
            <a:ext cx="3236430" cy="5009322"/>
          </a:xfrm>
          <a:prstGeom prst="rect">
            <a:avLst/>
          </a:prstGeom>
        </p:spPr>
      </p:pic>
      <p:sp>
        <p:nvSpPr>
          <p:cNvPr id="9" name="TextBox 8">
            <a:extLst>
              <a:ext uri="{FF2B5EF4-FFF2-40B4-BE49-F238E27FC236}">
                <a16:creationId xmlns:a16="http://schemas.microsoft.com/office/drawing/2014/main" id="{859920D3-E74B-48B5-9E41-5081166E8DEB}"/>
              </a:ext>
            </a:extLst>
          </p:cNvPr>
          <p:cNvSpPr txBox="1"/>
          <p:nvPr/>
        </p:nvSpPr>
        <p:spPr>
          <a:xfrm>
            <a:off x="6241774" y="5406975"/>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2: Formation of </a:t>
            </a:r>
            <a:r>
              <a:rPr kumimoji="0" lang="en-US" altLang="en-US" b="1" i="0" u="none" strike="noStrike" cap="none" normalizeH="0" baseline="0" dirty="0" err="1">
                <a:ln>
                  <a:noFill/>
                </a:ln>
                <a:solidFill>
                  <a:schemeClr val="tx1"/>
                </a:solidFill>
                <a:effectLst/>
                <a:ea typeface="Calibri" panose="020F0502020204030204" pitchFamily="34" charset="0"/>
                <a:cs typeface="Times New Roman" panose="02020603050405020304" pitchFamily="18" charset="0"/>
              </a:rPr>
              <a:t>pn</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junction</a:t>
            </a:r>
            <a:endParaRPr lang="en-US" dirty="0"/>
          </a:p>
        </p:txBody>
      </p:sp>
      <p:sp>
        <p:nvSpPr>
          <p:cNvPr id="10" name="TextBox 9">
            <a:extLst>
              <a:ext uri="{FF2B5EF4-FFF2-40B4-BE49-F238E27FC236}">
                <a16:creationId xmlns:a16="http://schemas.microsoft.com/office/drawing/2014/main" id="{21374CEB-3A5F-4CB3-9C62-F73ABB4EC6E9}"/>
              </a:ext>
            </a:extLst>
          </p:cNvPr>
          <p:cNvSpPr txBox="1"/>
          <p:nvPr/>
        </p:nvSpPr>
        <p:spPr>
          <a:xfrm>
            <a:off x="6612835" y="5846544"/>
            <a:ext cx="4740965"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val="731184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CE1B-F4EB-49CA-8629-75A8CE5EC269}"/>
              </a:ext>
            </a:extLst>
          </p:cNvPr>
          <p:cNvSpPr>
            <a:spLocks noGrp="1"/>
          </p:cNvSpPr>
          <p:nvPr>
            <p:ph type="title"/>
          </p:nvPr>
        </p:nvSpPr>
        <p:spPr/>
        <p:txBody>
          <a:bodyPr>
            <a:normAutofit/>
          </a:bodyPr>
          <a:lstStyle/>
          <a:p>
            <a:r>
              <a:rPr lang="en-US" b="1" dirty="0">
                <a:effectLst/>
                <a:ea typeface="Calibri" panose="020F0502020204030204" pitchFamily="34" charset="0"/>
                <a:cs typeface="Times New Roman" panose="02020603050405020304" pitchFamily="18" charset="0"/>
              </a:rPr>
              <a:t>Properties of </a:t>
            </a:r>
            <a:r>
              <a:rPr lang="en-US" b="1" dirty="0">
                <a:ea typeface="Calibri" panose="020F0502020204030204" pitchFamily="34" charset="0"/>
                <a:cs typeface="Times New Roman" panose="02020603050405020304" pitchFamily="18" charset="0"/>
              </a:rPr>
              <a:t>P-N</a:t>
            </a:r>
            <a:r>
              <a:rPr lang="en-US" b="1" dirty="0">
                <a:effectLst/>
                <a:ea typeface="Calibri" panose="020F0502020204030204" pitchFamily="34" charset="0"/>
                <a:cs typeface="Times New Roman" panose="02020603050405020304" pitchFamily="18" charset="0"/>
              </a:rPr>
              <a:t> Junction</a:t>
            </a:r>
            <a:endParaRPr lang="en-IN" sz="8800" dirty="0"/>
          </a:p>
        </p:txBody>
      </p:sp>
      <p:sp>
        <p:nvSpPr>
          <p:cNvPr id="3" name="Content Placeholder 2">
            <a:extLst>
              <a:ext uri="{FF2B5EF4-FFF2-40B4-BE49-F238E27FC236}">
                <a16:creationId xmlns:a16="http://schemas.microsoft.com/office/drawing/2014/main" id="{BC813163-052F-4B2A-89D9-F50E7B3987F4}"/>
              </a:ext>
            </a:extLst>
          </p:cNvPr>
          <p:cNvSpPr>
            <a:spLocks noGrp="1"/>
          </p:cNvSpPr>
          <p:nvPr>
            <p:ph sz="half" idx="1"/>
          </p:nvPr>
        </p:nvSpPr>
        <p:spPr/>
        <p:txBody>
          <a:bodyPr>
            <a:normAutofit lnSpcReduction="10000"/>
          </a:bodyPr>
          <a:lstStyle/>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At the instant of P-N -junction formation, the free electrons near the junction in the n region begin to diffuse across the junction into the p region where they combine with holes near the junction. The result is that n region loses free electrons as they diffuse into the junction. This creates a layer of positive charges (pentavalent ions) near the junction. </a:t>
            </a:r>
          </a:p>
          <a:p>
            <a:pPr algn="just">
              <a:lnSpc>
                <a:spcPct val="107000"/>
              </a:lnSpc>
              <a:spcAft>
                <a:spcPts val="800"/>
              </a:spcAft>
            </a:pPr>
            <a:r>
              <a:rPr lang="en-IN" sz="1800" dirty="0">
                <a:effectLst/>
                <a:ea typeface="Calibri" panose="020F0502020204030204" pitchFamily="34" charset="0"/>
                <a:cs typeface="Times New Roman" panose="02020603050405020304" pitchFamily="18" charset="0"/>
              </a:rPr>
              <a:t>As the electrons move across the junction, the p region loses holes as the electrons and holes combine. The result is that there is a layer of negative charges (trivalent ions) near the junction. These two layers of positive and negative charges form the depletion region (or depletion layer). </a:t>
            </a:r>
          </a:p>
        </p:txBody>
      </p:sp>
      <p:sp>
        <p:nvSpPr>
          <p:cNvPr id="5" name="Content Placeholder 4">
            <a:extLst>
              <a:ext uri="{FF2B5EF4-FFF2-40B4-BE49-F238E27FC236}">
                <a16:creationId xmlns:a16="http://schemas.microsoft.com/office/drawing/2014/main" id="{EBC854CA-95D7-4615-93E0-5A9882135D0B}"/>
              </a:ext>
            </a:extLst>
          </p:cNvPr>
          <p:cNvSpPr>
            <a:spLocks noGrp="1"/>
          </p:cNvSpPr>
          <p:nvPr>
            <p:ph sz="half" idx="2"/>
          </p:nvPr>
        </p:nvSpPr>
        <p:spPr/>
        <p:txBody>
          <a:bodyPr>
            <a:normAutofit lnSpcReduction="10000"/>
          </a:bodyPr>
          <a:lstStyle/>
          <a:p>
            <a:endParaRPr lang="en-IN" dirty="0"/>
          </a:p>
        </p:txBody>
      </p:sp>
      <p:sp>
        <p:nvSpPr>
          <p:cNvPr id="4" name="Slide Number Placeholder 3">
            <a:extLst>
              <a:ext uri="{FF2B5EF4-FFF2-40B4-BE49-F238E27FC236}">
                <a16:creationId xmlns:a16="http://schemas.microsoft.com/office/drawing/2014/main" id="{FBC7D5A3-D862-4F93-905D-9F75652FD9D7}"/>
              </a:ext>
            </a:extLst>
          </p:cNvPr>
          <p:cNvSpPr>
            <a:spLocks noGrp="1"/>
          </p:cNvSpPr>
          <p:nvPr>
            <p:ph type="sldNum" sz="quarter" idx="12"/>
          </p:nvPr>
        </p:nvSpPr>
        <p:spPr/>
        <p:txBody>
          <a:bodyPr/>
          <a:lstStyle/>
          <a:p>
            <a:fld id="{BDCDBBEF-AA6C-4BA6-85B2-A17D7F280E38}" type="slidenum">
              <a:rPr lang="en-US" smtClean="0"/>
              <a:pPr/>
              <a:t>16</a:t>
            </a:fld>
            <a:endParaRPr lang="en-US"/>
          </a:p>
        </p:txBody>
      </p:sp>
      <p:pic>
        <p:nvPicPr>
          <p:cNvPr id="6" name="Picture 5">
            <a:extLst>
              <a:ext uri="{FF2B5EF4-FFF2-40B4-BE49-F238E27FC236}">
                <a16:creationId xmlns:a16="http://schemas.microsoft.com/office/drawing/2014/main" id="{90E51736-04A3-4DE3-863D-5E0091ED1458}"/>
              </a:ext>
            </a:extLst>
          </p:cNvPr>
          <p:cNvPicPr/>
          <p:nvPr/>
        </p:nvPicPr>
        <p:blipFill>
          <a:blip r:embed="rId3"/>
          <a:stretch>
            <a:fillRect/>
          </a:stretch>
        </p:blipFill>
        <p:spPr>
          <a:xfrm>
            <a:off x="7298220" y="1133710"/>
            <a:ext cx="3539159" cy="4154833"/>
          </a:xfrm>
          <a:prstGeom prst="rect">
            <a:avLst/>
          </a:prstGeom>
        </p:spPr>
      </p:pic>
      <p:sp>
        <p:nvSpPr>
          <p:cNvPr id="10" name="TextBox 9">
            <a:extLst>
              <a:ext uri="{FF2B5EF4-FFF2-40B4-BE49-F238E27FC236}">
                <a16:creationId xmlns:a16="http://schemas.microsoft.com/office/drawing/2014/main" id="{BACE0C78-4F7D-4840-9914-59467547C3DE}"/>
              </a:ext>
            </a:extLst>
          </p:cNvPr>
          <p:cNvSpPr txBox="1"/>
          <p:nvPr/>
        </p:nvSpPr>
        <p:spPr>
          <a:xfrm>
            <a:off x="6236678" y="5354958"/>
            <a:ext cx="5272959" cy="369332"/>
          </a:xfrm>
          <a:prstGeom prst="rect">
            <a:avLst/>
          </a:prstGeom>
          <a:noFill/>
        </p:spPr>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Figure </a:t>
            </a:r>
            <a:r>
              <a:rPr lang="en-US" altLang="en-US" b="1" dirty="0">
                <a:ea typeface="Calibri" panose="020F0502020204030204" pitchFamily="34" charset="0"/>
                <a:cs typeface="Times New Roman" panose="02020603050405020304" pitchFamily="18" charset="0"/>
              </a:rPr>
              <a:t>3</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 Formation of depletion and electric field</a:t>
            </a:r>
            <a:endParaRPr lang="en-US" dirty="0"/>
          </a:p>
        </p:txBody>
      </p:sp>
      <p:sp>
        <p:nvSpPr>
          <p:cNvPr id="11" name="TextBox 10">
            <a:extLst>
              <a:ext uri="{FF2B5EF4-FFF2-40B4-BE49-F238E27FC236}">
                <a16:creationId xmlns:a16="http://schemas.microsoft.com/office/drawing/2014/main" id="{F02531EF-5A6F-469C-A9FE-745AA7742AC4}"/>
              </a:ext>
            </a:extLst>
          </p:cNvPr>
          <p:cNvSpPr txBox="1"/>
          <p:nvPr/>
        </p:nvSpPr>
        <p:spPr>
          <a:xfrm>
            <a:off x="6392516" y="5790705"/>
            <a:ext cx="4961284"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(Source</a:t>
            </a:r>
            <a:r>
              <a:rPr kumimoji="0" lang="en-US" altLang="en-US" b="1" i="0" u="none" strike="noStrike" cap="none" normalizeH="0" baseline="0" dirty="0">
                <a:ln>
                  <a:noFill/>
                </a:ln>
                <a:solidFill>
                  <a:srgbClr val="002060"/>
                </a:solidFill>
                <a:effectLst/>
                <a:ea typeface="Calibri" panose="020F0502020204030204" pitchFamily="34" charset="0"/>
                <a:cs typeface="Times New Roman" panose="02020603050405020304" pitchFamily="18" charset="0"/>
              </a:rPr>
              <a:t>: </a:t>
            </a:r>
            <a:r>
              <a:rPr lang="en-US" sz="1800" b="1" dirty="0">
                <a:solidFill>
                  <a:srgbClr val="7030A0"/>
                </a:solidFill>
              </a:rPr>
              <a:t>V K Mehta , Rohit Mehta "Principles of Electronics" 12/e , S. Chand Publishing</a:t>
            </a:r>
            <a:r>
              <a:rPr kumimoji="0" lang="en-US" altLang="en-US" b="1" i="0" u="none" strike="noStrike" cap="none" normalizeH="0" baseline="0" dirty="0">
                <a:ln>
                  <a:noFill/>
                </a:ln>
                <a:solidFill>
                  <a:schemeClr val="tx1"/>
                </a:solidFill>
                <a:effectLst/>
                <a:ea typeface="Calibri" panose="020F0502020204030204" pitchFamily="34" charset="0"/>
                <a:cs typeface="Times New Roman" panose="02020603050405020304" pitchFamily="18" charset="0"/>
              </a:rPr>
              <a:t>)</a:t>
            </a:r>
            <a:endParaRPr lang="en-US" sz="1600" dirty="0"/>
          </a:p>
        </p:txBody>
      </p:sp>
    </p:spTree>
    <p:custDataLst>
      <p:tags r:id="rId1"/>
    </p:custDataLst>
    <p:extLst>
      <p:ext uri="{BB962C8B-B14F-4D97-AF65-F5344CB8AC3E}">
        <p14:creationId xmlns:p14="http://schemas.microsoft.com/office/powerpoint/2010/main" val="2955911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CE1B-F4EB-49CA-8629-75A8CE5EC269}"/>
              </a:ext>
            </a:extLst>
          </p:cNvPr>
          <p:cNvSpPr>
            <a:spLocks noGrp="1"/>
          </p:cNvSpPr>
          <p:nvPr>
            <p:ph type="title"/>
          </p:nvPr>
        </p:nvSpPr>
        <p:spPr/>
        <p:txBody>
          <a:bodyPr>
            <a:normAutofit/>
          </a:bodyPr>
          <a:lstStyle/>
          <a:p>
            <a:r>
              <a:rPr lang="en-US" b="1" dirty="0">
                <a:effectLst/>
                <a:ea typeface="Calibri" panose="020F0502020204030204" pitchFamily="34" charset="0"/>
                <a:cs typeface="Times New Roman" panose="02020603050405020304" pitchFamily="18" charset="0"/>
              </a:rPr>
              <a:t>Properties of </a:t>
            </a:r>
            <a:r>
              <a:rPr lang="en-US" b="1" dirty="0">
                <a:ea typeface="Calibri" panose="020F0502020204030204" pitchFamily="34" charset="0"/>
                <a:cs typeface="Times New Roman" panose="02020603050405020304" pitchFamily="18" charset="0"/>
              </a:rPr>
              <a:t>P-N</a:t>
            </a:r>
            <a:r>
              <a:rPr lang="en-US" b="1" dirty="0">
                <a:effectLst/>
                <a:ea typeface="Calibri" panose="020F0502020204030204" pitchFamily="34" charset="0"/>
                <a:cs typeface="Times New Roman" panose="02020603050405020304" pitchFamily="18" charset="0"/>
              </a:rPr>
              <a:t> Junction</a:t>
            </a:r>
            <a:endParaRPr lang="en-IN" sz="8800" dirty="0"/>
          </a:p>
        </p:txBody>
      </p:sp>
      <p:sp>
        <p:nvSpPr>
          <p:cNvPr id="3" name="Content Placeholder 2">
            <a:extLst>
              <a:ext uri="{FF2B5EF4-FFF2-40B4-BE49-F238E27FC236}">
                <a16:creationId xmlns:a16="http://schemas.microsoft.com/office/drawing/2014/main" id="{BC813163-052F-4B2A-89D9-F50E7B3987F4}"/>
              </a:ext>
            </a:extLst>
          </p:cNvPr>
          <p:cNvSpPr>
            <a:spLocks noGrp="1"/>
          </p:cNvSpPr>
          <p:nvPr>
            <p:ph sz="half" idx="1"/>
          </p:nvPr>
        </p:nvSpPr>
        <p:spPr>
          <a:xfrm>
            <a:off x="838199" y="1825625"/>
            <a:ext cx="10200861" cy="4351338"/>
          </a:xfrm>
        </p:spPr>
        <p:txBody>
          <a:bodyPr>
            <a:normAutofit/>
          </a:bodyPr>
          <a:lstStyle/>
          <a:p>
            <a:pPr algn="just">
              <a:lnSpc>
                <a:spcPct val="107000"/>
              </a:lnSpc>
              <a:spcAft>
                <a:spcPts val="800"/>
              </a:spcAft>
            </a:pPr>
            <a:r>
              <a:rPr lang="en-IN" sz="2400" dirty="0">
                <a:effectLst/>
                <a:ea typeface="Calibri" panose="020F0502020204030204" pitchFamily="34" charset="0"/>
                <a:cs typeface="Times New Roman" panose="02020603050405020304" pitchFamily="18" charset="0"/>
              </a:rPr>
              <a:t>The term depletion is due to the fact that near the junction, the region is depleted (i.e. emptied) of charge carries (free electrons and holes) due to diffusion across the junction. It may be noted that depletion layer is formed very quickly and is very thin compared to the n region and the p region.</a:t>
            </a:r>
          </a:p>
          <a:p>
            <a:pPr algn="just">
              <a:lnSpc>
                <a:spcPct val="107000"/>
              </a:lnSpc>
              <a:spcAft>
                <a:spcPts val="800"/>
              </a:spcAft>
            </a:pPr>
            <a:r>
              <a:rPr lang="en-IN" sz="2400" dirty="0">
                <a:effectLst/>
                <a:ea typeface="Calibri" panose="020F0502020204030204" pitchFamily="34" charset="0"/>
              </a:rPr>
              <a:t>Once </a:t>
            </a:r>
            <a:r>
              <a:rPr lang="en-IN" sz="2400" dirty="0" err="1">
                <a:effectLst/>
                <a:ea typeface="Calibri" panose="020F0502020204030204" pitchFamily="34" charset="0"/>
              </a:rPr>
              <a:t>pn</a:t>
            </a:r>
            <a:r>
              <a:rPr lang="en-IN" sz="2400" dirty="0">
                <a:effectLst/>
                <a:ea typeface="Calibri" panose="020F0502020204030204" pitchFamily="34" charset="0"/>
              </a:rPr>
              <a:t> junction is formed and depletion layer created, the diffusion of free electrons stops. In other words, the depletion region acts as a barrier to the further movement of free electrons across the junction. The positive and negative charges set up an electric field. </a:t>
            </a:r>
            <a:endParaRPr lang="en-IN" sz="2400" dirty="0">
              <a:effectLst/>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BC7D5A3-D862-4F93-905D-9F75652FD9D7}"/>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custDataLst>
      <p:tags r:id="rId1"/>
    </p:custDataLst>
    <p:extLst>
      <p:ext uri="{BB962C8B-B14F-4D97-AF65-F5344CB8AC3E}">
        <p14:creationId xmlns:p14="http://schemas.microsoft.com/office/powerpoint/2010/main" val="3589861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Basic Structure of P-N Junction</a:t>
            </a:r>
            <a:endParaRPr lang="en-US" b="1" dirty="0"/>
          </a:p>
        </p:txBody>
      </p:sp>
      <p:sp>
        <p:nvSpPr>
          <p:cNvPr id="3" name="Content Placeholder 2"/>
          <p:cNvSpPr>
            <a:spLocks noGrp="1"/>
          </p:cNvSpPr>
          <p:nvPr>
            <p:ph sz="half" idx="1"/>
          </p:nvPr>
        </p:nvSpPr>
        <p:spPr/>
        <p:txBody>
          <a:bodyPr>
            <a:normAutofit fontScale="92500" lnSpcReduction="10000"/>
          </a:bodyPr>
          <a:lstStyle/>
          <a:p>
            <a:r>
              <a:rPr lang="en-US" dirty="0">
                <a:solidFill>
                  <a:srgbClr val="444444"/>
                </a:solidFill>
                <a:latin typeface="Poppins"/>
              </a:rPr>
              <a:t> A P-N junction is an interface or a boundary between two semiconductor material types, namely the p-type and the n-type, inside a semiconductor.</a:t>
            </a:r>
          </a:p>
          <a:p>
            <a:r>
              <a:rPr lang="en-US" dirty="0">
                <a:solidFill>
                  <a:srgbClr val="444444"/>
                </a:solidFill>
                <a:latin typeface="Poppins"/>
              </a:rPr>
              <a:t>In a semiconductor, the P-N junction is created by the method of doping. The p-side or the positive side of the semiconductor has an excess of holes, and the n-side or the negative side has an excess of electrons.</a:t>
            </a:r>
          </a:p>
          <a:p>
            <a:endParaRPr lang="en-US" dirty="0"/>
          </a:p>
        </p:txBody>
      </p:sp>
      <p:pic>
        <p:nvPicPr>
          <p:cNvPr id="6" name="Content Placeholder 5" descr="Basic P-N Structure.png"/>
          <p:cNvPicPr>
            <a:picLocks noGrp="1" noChangeAspect="1"/>
          </p:cNvPicPr>
          <p:nvPr>
            <p:ph sz="half" idx="2"/>
          </p:nvPr>
        </p:nvPicPr>
        <p:blipFill>
          <a:blip r:embed="rId2"/>
          <a:stretch>
            <a:fillRect/>
          </a:stretch>
        </p:blipFill>
        <p:spPr>
          <a:xfrm>
            <a:off x="6276628" y="1769806"/>
            <a:ext cx="4972744" cy="3937820"/>
          </a:xfrm>
        </p:spPr>
      </p:pic>
      <p:sp>
        <p:nvSpPr>
          <p:cNvPr id="5" name="Slide Number Placeholder 4"/>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P-N Junction Diode</a:t>
            </a:r>
            <a:endParaRPr lang="en-US" b="1" dirty="0"/>
          </a:p>
        </p:txBody>
      </p:sp>
      <p:sp>
        <p:nvSpPr>
          <p:cNvPr id="3" name="Content Placeholder 2"/>
          <p:cNvSpPr>
            <a:spLocks noGrp="1"/>
          </p:cNvSpPr>
          <p:nvPr>
            <p:ph sz="half" idx="1"/>
          </p:nvPr>
        </p:nvSpPr>
        <p:spPr>
          <a:xfrm>
            <a:off x="838200" y="1825625"/>
            <a:ext cx="9588910" cy="4351338"/>
          </a:xfrm>
        </p:spPr>
        <p:txBody>
          <a:bodyPr>
            <a:normAutofit/>
          </a:bodyPr>
          <a:lstStyle/>
          <a:p>
            <a:r>
              <a:rPr lang="en-US" dirty="0"/>
              <a:t>The formula used in the P-N junction depends upon the built-in potential difference created by the electric field is given as:</a:t>
            </a:r>
          </a:p>
          <a:p>
            <a:pPr>
              <a:buNone/>
            </a:pPr>
            <a:endParaRPr lang="en-IN" dirty="0"/>
          </a:p>
          <a:p>
            <a:pPr>
              <a:buNone/>
            </a:pPr>
            <a:endParaRPr lang="en-US" dirty="0"/>
          </a:p>
          <a:p>
            <a:r>
              <a:rPr lang="en-US" dirty="0"/>
              <a:t>E</a:t>
            </a:r>
            <a:r>
              <a:rPr lang="en-US" baseline="-25000" dirty="0"/>
              <a:t>0</a:t>
            </a:r>
            <a:r>
              <a:rPr lang="en-US" dirty="0"/>
              <a:t> is the zero bias junction voltage</a:t>
            </a:r>
          </a:p>
          <a:p>
            <a:r>
              <a:rPr lang="en-US" dirty="0"/>
              <a:t>V</a:t>
            </a:r>
            <a:r>
              <a:rPr lang="en-US" baseline="-25000" dirty="0"/>
              <a:t>T</a:t>
            </a:r>
            <a:r>
              <a:rPr lang="en-US" dirty="0"/>
              <a:t> is the thermal voltage of 26mV at room temperature</a:t>
            </a:r>
          </a:p>
          <a:p>
            <a:r>
              <a:rPr lang="en-US" dirty="0"/>
              <a:t>N</a:t>
            </a:r>
            <a:r>
              <a:rPr lang="en-US" baseline="-25000" dirty="0"/>
              <a:t>D</a:t>
            </a:r>
            <a:r>
              <a:rPr lang="en-US" dirty="0"/>
              <a:t> and N</a:t>
            </a:r>
            <a:r>
              <a:rPr lang="en-US" baseline="-25000" dirty="0"/>
              <a:t>A</a:t>
            </a:r>
            <a:r>
              <a:rPr lang="en-US" dirty="0"/>
              <a:t> are the impurity concentrations</a:t>
            </a:r>
          </a:p>
          <a:p>
            <a:r>
              <a:rPr lang="en-US" dirty="0" err="1"/>
              <a:t>n</a:t>
            </a:r>
            <a:r>
              <a:rPr lang="en-US" baseline="-25000" dirty="0" err="1"/>
              <a:t>i</a:t>
            </a:r>
            <a:r>
              <a:rPr lang="en-US" dirty="0"/>
              <a:t> is the intrinsic concentration.</a:t>
            </a:r>
          </a:p>
          <a:p>
            <a:endParaRPr lang="en-US" dirty="0"/>
          </a:p>
        </p:txBody>
      </p:sp>
      <p:sp>
        <p:nvSpPr>
          <p:cNvPr id="5" name="Slide Number Placeholder 4"/>
          <p:cNvSpPr>
            <a:spLocks noGrp="1"/>
          </p:cNvSpPr>
          <p:nvPr>
            <p:ph type="sldNum" sz="quarter" idx="12"/>
          </p:nvPr>
        </p:nvSpPr>
        <p:spPr/>
        <p:txBody>
          <a:bodyPr/>
          <a:lstStyle/>
          <a:p>
            <a:fld id="{BDCDBBEF-AA6C-4BA6-85B2-A17D7F280E38}" type="slidenum">
              <a:rPr lang="en-US" smtClean="0"/>
              <a:pPr/>
              <a:t>19</a:t>
            </a:fld>
            <a:endParaRPr lang="en-US"/>
          </a:p>
        </p:txBody>
      </p:sp>
      <p:pic>
        <p:nvPicPr>
          <p:cNvPr id="7" name="Picture 6" descr="P-N Formula.png"/>
          <p:cNvPicPr>
            <a:picLocks noChangeAspect="1"/>
          </p:cNvPicPr>
          <p:nvPr/>
        </p:nvPicPr>
        <p:blipFill>
          <a:blip r:embed="rId2"/>
          <a:stretch>
            <a:fillRect/>
          </a:stretch>
        </p:blipFill>
        <p:spPr>
          <a:xfrm>
            <a:off x="1696065" y="2732089"/>
            <a:ext cx="7713406" cy="104349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Symbol of P-N Junction Diode</a:t>
            </a:r>
            <a:endParaRPr lang="en-US" b="1" dirty="0"/>
          </a:p>
        </p:txBody>
      </p:sp>
      <p:sp>
        <p:nvSpPr>
          <p:cNvPr id="3" name="Content Placeholder 2"/>
          <p:cNvSpPr>
            <a:spLocks noGrp="1"/>
          </p:cNvSpPr>
          <p:nvPr>
            <p:ph sz="half" idx="1"/>
          </p:nvPr>
        </p:nvSpPr>
        <p:spPr>
          <a:xfrm>
            <a:off x="838199" y="1825625"/>
            <a:ext cx="9544665" cy="2215433"/>
          </a:xfrm>
        </p:spPr>
        <p:txBody>
          <a:bodyPr>
            <a:normAutofit fontScale="85000" lnSpcReduction="20000"/>
          </a:bodyPr>
          <a:lstStyle/>
          <a:p>
            <a:r>
              <a:rPr lang="en-US" dirty="0"/>
              <a:t>When a p-n junction is formed, the electrons diffuse across the junction from n-type to p-type crystal. Similarly, holes diffuse from p-type to n-type crystals. As a result, the n-type crystal acquires a positive potential and the p-type crystal acquires a negative potential. The potential difference created across the p-n junction due to the diffusion of electrons and holes; is called a potential barrier. Then, a thin layer is formed on both the sides of the p-n junction where the mobile charge carriers have been diffused away. This is the depletion layer.</a:t>
            </a:r>
          </a:p>
        </p:txBody>
      </p:sp>
      <p:pic>
        <p:nvPicPr>
          <p:cNvPr id="6" name="Content Placeholder 5" descr="Basic Symbol of P-N Junction.png"/>
          <p:cNvPicPr>
            <a:picLocks noGrp="1" noChangeAspect="1"/>
          </p:cNvPicPr>
          <p:nvPr>
            <p:ph sz="half" idx="2"/>
          </p:nvPr>
        </p:nvPicPr>
        <p:blipFill>
          <a:blip r:embed="rId2"/>
          <a:stretch>
            <a:fillRect/>
          </a:stretch>
        </p:blipFill>
        <p:spPr>
          <a:xfrm>
            <a:off x="1622323" y="4055806"/>
            <a:ext cx="8008373" cy="2138517"/>
          </a:xfrm>
        </p:spPr>
      </p:pic>
      <p:sp>
        <p:nvSpPr>
          <p:cNvPr id="5" name="Slide Number Placeholder 4"/>
          <p:cNvSpPr>
            <a:spLocks noGrp="1"/>
          </p:cNvSpPr>
          <p:nvPr>
            <p:ph type="sldNum" sz="quarter" idx="12"/>
          </p:nvPr>
        </p:nvSpPr>
        <p:spPr/>
        <p:txBody>
          <a:bodyPr/>
          <a:lstStyle/>
          <a:p>
            <a:fld id="{BDCDBBEF-AA6C-4BA6-85B2-A17D7F280E38}"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8"/>
          <p:cNvSpPr txBox="1">
            <a:spLocks noChangeArrowheads="1"/>
          </p:cNvSpPr>
          <p:nvPr/>
        </p:nvSpPr>
        <p:spPr bwMode="auto">
          <a:xfrm>
            <a:off x="627016" y="1489166"/>
            <a:ext cx="10254343" cy="2438488"/>
          </a:xfrm>
          <a:prstGeom prst="rect">
            <a:avLst/>
          </a:prstGeom>
          <a:noFill/>
          <a:ln w="9525">
            <a:noFill/>
            <a:miter lim="800000"/>
            <a:headEnd/>
            <a:tailEnd/>
          </a:ln>
        </p:spPr>
        <p:txBody>
          <a:bodyPr wrap="square">
            <a:spAutoFit/>
          </a:bodyPr>
          <a:lstStyle/>
          <a:p>
            <a:pPr lvl="0">
              <a:lnSpc>
                <a:spcPct val="110000"/>
              </a:lnSpc>
              <a:spcBef>
                <a:spcPts val="0"/>
              </a:spcBef>
              <a:buFont typeface="Wingdings" pitchFamily="2" charset="2"/>
              <a:buChar char="Ø"/>
            </a:pPr>
            <a:r>
              <a:rPr lang="en-US" sz="2800" dirty="0"/>
              <a:t>Introduction to Semiconductor</a:t>
            </a:r>
          </a:p>
          <a:p>
            <a:pPr lvl="0">
              <a:lnSpc>
                <a:spcPct val="110000"/>
              </a:lnSpc>
              <a:spcBef>
                <a:spcPts val="0"/>
              </a:spcBef>
              <a:buFont typeface="Wingdings" pitchFamily="2" charset="2"/>
              <a:buChar char="Ø"/>
            </a:pPr>
            <a:r>
              <a:rPr lang="en-US" sz="2800" dirty="0"/>
              <a:t>Energy band for semiconductor device</a:t>
            </a:r>
          </a:p>
          <a:p>
            <a:pPr lvl="0">
              <a:lnSpc>
                <a:spcPct val="110000"/>
              </a:lnSpc>
              <a:spcBef>
                <a:spcPts val="0"/>
              </a:spcBef>
              <a:buFont typeface="Wingdings" pitchFamily="2" charset="2"/>
              <a:buChar char="Ø"/>
            </a:pPr>
            <a:r>
              <a:rPr lang="en-US" sz="2800" dirty="0"/>
              <a:t>Introduction to n-type semiconductor </a:t>
            </a:r>
          </a:p>
          <a:p>
            <a:pPr lvl="0">
              <a:lnSpc>
                <a:spcPct val="110000"/>
              </a:lnSpc>
              <a:spcBef>
                <a:spcPts val="0"/>
              </a:spcBef>
              <a:buFont typeface="Wingdings" pitchFamily="2" charset="2"/>
              <a:buChar char="Ø"/>
            </a:pPr>
            <a:r>
              <a:rPr lang="en-US" sz="2800" dirty="0"/>
              <a:t>Introduction to p-type semiconductor</a:t>
            </a:r>
          </a:p>
          <a:p>
            <a:pPr lvl="0">
              <a:lnSpc>
                <a:spcPct val="110000"/>
              </a:lnSpc>
              <a:spcBef>
                <a:spcPts val="0"/>
              </a:spcBef>
              <a:buFont typeface="Wingdings" pitchFamily="2" charset="2"/>
              <a:buChar char="Ø"/>
            </a:pPr>
            <a:endParaRPr lang="en-IN" sz="2800" dirty="0"/>
          </a:p>
        </p:txBody>
      </p:sp>
      <p:sp>
        <p:nvSpPr>
          <p:cNvPr id="8" name="Title 1"/>
          <p:cNvSpPr txBox="1">
            <a:spLocks/>
          </p:cNvSpPr>
          <p:nvPr/>
        </p:nvSpPr>
        <p:spPr>
          <a:xfrm>
            <a:off x="1255486" y="293914"/>
            <a:ext cx="9970702" cy="838200"/>
          </a:xfrm>
          <a:prstGeom prst="rect">
            <a:avLst/>
          </a:prstGeom>
          <a:solidFill>
            <a:schemeClr val="bg1"/>
          </a:solidFill>
          <a:ln>
            <a:noFill/>
          </a:ln>
        </p:spPr>
        <p:txBody>
          <a:bodyPr>
            <a:normAutofit/>
          </a:bodyPr>
          <a:lstStyle/>
          <a:p>
            <a:pPr algn="ctr">
              <a:defRPr/>
            </a:pPr>
            <a:r>
              <a:rPr lang="en-US" sz="4400" cap="all" dirty="0">
                <a:solidFill>
                  <a:schemeClr val="bg1"/>
                </a:solidFill>
                <a:latin typeface="+mj-lt"/>
                <a:cs typeface="Arial" charset="0"/>
              </a:rPr>
              <a:t> </a:t>
            </a:r>
            <a:r>
              <a:rPr lang="en-US" sz="4400" b="1" dirty="0">
                <a:latin typeface="+mj-lt"/>
                <a:cs typeface="Times New Roman" pitchFamily="18" charset="0"/>
              </a:rPr>
              <a:t>Summary</a:t>
            </a:r>
          </a:p>
          <a:p>
            <a:pPr algn="ctr">
              <a:defRPr/>
            </a:pPr>
            <a:endParaRPr lang="en-US" sz="4400" b="1" cap="all" dirty="0">
              <a:solidFill>
                <a:schemeClr val="bg1"/>
              </a:solidFill>
              <a:latin typeface="+mj-lt"/>
              <a:cs typeface="Times New Roman" pitchFamily="18" charset="0"/>
            </a:endParaRPr>
          </a:p>
        </p:txBody>
      </p:sp>
      <p:sp>
        <p:nvSpPr>
          <p:cNvPr id="17413" name="AutoShape 2" descr="https://learning.oreilly.com/library/view/understanding-dc-circuits/9780750671101/images/B9780080519944500061/f01-11-9780750671101.jpg"/>
          <p:cNvSpPr>
            <a:spLocks noChangeAspect="1" noChangeArrowheads="1"/>
          </p:cNvSpPr>
          <p:nvPr/>
        </p:nvSpPr>
        <p:spPr bwMode="auto">
          <a:xfrm>
            <a:off x="207433" y="-144463"/>
            <a:ext cx="406400" cy="304801"/>
          </a:xfrm>
          <a:prstGeom prst="rect">
            <a:avLst/>
          </a:prstGeom>
          <a:noFill/>
          <a:ln w="9525">
            <a:noFill/>
            <a:miter lim="800000"/>
            <a:headEnd/>
            <a:tailEnd/>
          </a:ln>
        </p:spPr>
        <p:txBody>
          <a:bodyPr/>
          <a:lstStyle/>
          <a:p>
            <a:endParaRPr lang="en-US"/>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Grp="1" noChangeArrowheads="1"/>
          </p:cNvSpPr>
          <p:nvPr>
            <p:ph type="body" idx="1"/>
          </p:nvPr>
        </p:nvSpPr>
        <p:spPr>
          <a:xfrm>
            <a:off x="609600" y="1134737"/>
            <a:ext cx="10972800" cy="4961263"/>
          </a:xfrm>
        </p:spPr>
        <p:txBody>
          <a:bodyPr/>
          <a:lstStyle/>
          <a:p>
            <a:pPr eaLnBrk="1" hangingPunct="1">
              <a:lnSpc>
                <a:spcPct val="80000"/>
              </a:lnSpc>
              <a:buFontTx/>
              <a:buNone/>
            </a:pPr>
            <a:r>
              <a:rPr lang="en-US" sz="2400" dirty="0"/>
              <a:t> </a:t>
            </a:r>
          </a:p>
        </p:txBody>
      </p:sp>
      <p:sp>
        <p:nvSpPr>
          <p:cNvPr id="7" name="Title 1"/>
          <p:cNvSpPr txBox="1">
            <a:spLocks/>
          </p:cNvSpPr>
          <p:nvPr/>
        </p:nvSpPr>
        <p:spPr>
          <a:xfrm>
            <a:off x="798286" y="404083"/>
            <a:ext cx="10493828" cy="849086"/>
          </a:xfrm>
          <a:prstGeom prst="rect">
            <a:avLst/>
          </a:prstGeom>
          <a:solidFill>
            <a:schemeClr val="bg1"/>
          </a:solidFill>
          <a:ln>
            <a:noFill/>
          </a:ln>
        </p:spPr>
        <p:txBody>
          <a:bodyPr/>
          <a:lstStyle/>
          <a:p>
            <a:pPr algn="ctr" eaLnBrk="0" hangingPunct="0">
              <a:defRPr/>
            </a:pPr>
            <a:r>
              <a:rPr lang="en-US" sz="4400" b="1" dirty="0">
                <a:latin typeface="+mj-lt"/>
                <a:cs typeface="Times New Roman" pitchFamily="18" charset="0"/>
              </a:rPr>
              <a:t>Frequently Asked Questions</a:t>
            </a:r>
          </a:p>
          <a:p>
            <a:pPr algn="ctr" eaLnBrk="0" hangingPunct="0">
              <a:defRPr/>
            </a:pPr>
            <a:endParaRPr lang="en-IN" sz="4400" b="1" kern="0" dirty="0">
              <a:solidFill>
                <a:schemeClr val="bg1"/>
              </a:solidFill>
              <a:latin typeface="+mj-lt"/>
              <a:ea typeface="+mj-ea"/>
            </a:endParaRPr>
          </a:p>
        </p:txBody>
      </p:sp>
      <p:sp>
        <p:nvSpPr>
          <p:cNvPr id="2055" name="Text Box 7"/>
          <p:cNvSpPr txBox="1">
            <a:spLocks noChangeArrowheads="1"/>
          </p:cNvSpPr>
          <p:nvPr/>
        </p:nvSpPr>
        <p:spPr bwMode="auto">
          <a:xfrm>
            <a:off x="459317" y="1371601"/>
            <a:ext cx="11427883" cy="3754874"/>
          </a:xfrm>
          <a:prstGeom prst="rect">
            <a:avLst/>
          </a:prstGeom>
          <a:noFill/>
          <a:ln w="9525">
            <a:noFill/>
            <a:miter lim="800000"/>
            <a:headEnd/>
            <a:tailEnd/>
          </a:ln>
        </p:spPr>
        <p:txBody>
          <a:bodyPr>
            <a:spAutoFit/>
          </a:bodyPr>
          <a:lstStyle/>
          <a:p>
            <a:pPr marL="514350" lvl="0" indent="-514350">
              <a:lnSpc>
                <a:spcPct val="110000"/>
              </a:lnSpc>
              <a:spcBef>
                <a:spcPts val="0"/>
              </a:spcBef>
              <a:buFont typeface="+mj-lt"/>
              <a:buAutoNum type="arabicPeriod"/>
            </a:pPr>
            <a:r>
              <a:rPr lang="en-IN" sz="2800" dirty="0"/>
              <a:t>Define the </a:t>
            </a:r>
            <a:r>
              <a:rPr lang="en-US" sz="2800" dirty="0"/>
              <a:t>semiconductor material.</a:t>
            </a:r>
            <a:endParaRPr lang="en-IN" sz="2800" dirty="0"/>
          </a:p>
          <a:p>
            <a:pPr marL="514350" lvl="0" indent="-514350">
              <a:lnSpc>
                <a:spcPct val="110000"/>
              </a:lnSpc>
              <a:spcBef>
                <a:spcPts val="0"/>
              </a:spcBef>
              <a:buFont typeface="+mj-lt"/>
              <a:buAutoNum type="arabicPeriod"/>
            </a:pPr>
            <a:r>
              <a:rPr lang="en-IN" sz="2800" dirty="0"/>
              <a:t>Define e</a:t>
            </a:r>
            <a:r>
              <a:rPr lang="en-US" sz="2800" dirty="0" err="1"/>
              <a:t>nergy</a:t>
            </a:r>
            <a:r>
              <a:rPr lang="en-US" sz="2800" dirty="0"/>
              <a:t> band for semiconductor device.</a:t>
            </a:r>
          </a:p>
          <a:p>
            <a:pPr marL="514350" lvl="0" indent="-514350">
              <a:lnSpc>
                <a:spcPct val="110000"/>
              </a:lnSpc>
              <a:spcBef>
                <a:spcPts val="0"/>
              </a:spcBef>
              <a:buFont typeface="+mj-lt"/>
              <a:buAutoNum type="arabicPeriod"/>
            </a:pPr>
            <a:r>
              <a:rPr lang="en-US" sz="2800" dirty="0"/>
              <a:t>Explain n-type semiconductor. </a:t>
            </a:r>
          </a:p>
          <a:p>
            <a:pPr marL="514350" lvl="0" indent="-514350">
              <a:lnSpc>
                <a:spcPct val="110000"/>
              </a:lnSpc>
              <a:spcBef>
                <a:spcPts val="0"/>
              </a:spcBef>
              <a:buFont typeface="+mj-lt"/>
              <a:buAutoNum type="arabicPeriod"/>
            </a:pPr>
            <a:r>
              <a:rPr lang="en-US" sz="2800" dirty="0"/>
              <a:t>Explain p-type semiconductor </a:t>
            </a:r>
          </a:p>
          <a:p>
            <a:pPr marL="514350" lvl="0" indent="-514350">
              <a:lnSpc>
                <a:spcPct val="110000"/>
              </a:lnSpc>
              <a:spcBef>
                <a:spcPts val="0"/>
              </a:spcBef>
              <a:buFont typeface="+mj-lt"/>
              <a:buAutoNum type="arabicPeriod"/>
            </a:pPr>
            <a:endParaRPr lang="en-US" sz="2800" dirty="0"/>
          </a:p>
          <a:p>
            <a:pPr marL="514350" indent="-514350">
              <a:buFont typeface="+mj-lt"/>
              <a:buAutoNum type="arabicPeriod"/>
            </a:pP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1" y="1028702"/>
            <a:ext cx="5778500" cy="4873625"/>
          </a:xfrm>
        </p:spPr>
        <p:txBody>
          <a:bodyPr>
            <a:normAutofit/>
          </a:bodyPr>
          <a:lstStyle/>
          <a:p>
            <a:pPr marL="0" indent="0" algn="just">
              <a:buNone/>
            </a:pPr>
            <a:r>
              <a:rPr lang="en-IN" sz="2800" dirty="0">
                <a:cs typeface="Times New Roman" pitchFamily="18" charset="0"/>
              </a:rPr>
              <a:t> To make students understand</a:t>
            </a:r>
          </a:p>
          <a:p>
            <a:pPr lvl="0">
              <a:lnSpc>
                <a:spcPct val="110000"/>
              </a:lnSpc>
              <a:spcBef>
                <a:spcPts val="0"/>
              </a:spcBef>
            </a:pPr>
            <a:r>
              <a:rPr lang="en-US" sz="2800" dirty="0"/>
              <a:t>Energy band for semiconductor device</a:t>
            </a:r>
          </a:p>
          <a:p>
            <a:pPr lvl="0">
              <a:lnSpc>
                <a:spcPct val="110000"/>
              </a:lnSpc>
              <a:spcBef>
                <a:spcPts val="0"/>
              </a:spcBef>
              <a:buFont typeface="Wingdings" pitchFamily="2" charset="2"/>
              <a:buChar char="Ø"/>
            </a:pPr>
            <a:r>
              <a:rPr lang="en-US" sz="2800" dirty="0"/>
              <a:t>Fundamentals of n-type and p-type semiconductor.</a:t>
            </a:r>
          </a:p>
          <a:p>
            <a:pPr algn="just"/>
            <a:endParaRPr lang="en-US" sz="2400" dirty="0"/>
          </a:p>
          <a:p>
            <a:pPr algn="just"/>
            <a:endParaRPr lang="en-US" sz="2400" dirty="0">
              <a:cs typeface="Arial" panose="020B0604020202020204" pitchFamily="34" charset="0"/>
            </a:endParaRPr>
          </a:p>
          <a:p>
            <a:pPr marL="0" indent="0" algn="just">
              <a:buNone/>
            </a:pPr>
            <a:endParaRPr lang="en-US" sz="2400" dirty="0">
              <a:cs typeface="Arial" panose="020B0604020202020204" pitchFamily="34" charset="0"/>
            </a:endParaRPr>
          </a:p>
        </p:txBody>
      </p:sp>
      <p:sp>
        <p:nvSpPr>
          <p:cNvPr id="5" name="Slide Number Placeholder 4"/>
          <p:cNvSpPr>
            <a:spLocks noGrp="1"/>
          </p:cNvSpPr>
          <p:nvPr>
            <p:ph type="sldNum" sz="quarter" idx="12"/>
          </p:nvPr>
        </p:nvSpPr>
        <p:spPr>
          <a:xfrm>
            <a:off x="8839200" y="6356352"/>
            <a:ext cx="2743200" cy="365125"/>
          </a:xfrm>
        </p:spPr>
        <p:txBody>
          <a:bodyPr/>
          <a:lstStyle/>
          <a:p>
            <a:fld id="{BDCDBBEF-AA6C-4BA6-85B2-A17D7F280E38}" type="slidenum">
              <a:rPr lang="en-US" smtClean="0"/>
              <a:pPr/>
              <a:t>23</a:t>
            </a:fld>
            <a:endParaRPr lang="en-US" dirty="0"/>
          </a:p>
        </p:txBody>
      </p:sp>
      <p:sp>
        <p:nvSpPr>
          <p:cNvPr id="8" name="Title 7"/>
          <p:cNvSpPr txBox="1">
            <a:spLocks noGrp="1" noChangeArrowheads="1"/>
          </p:cNvSpPr>
          <p:nvPr>
            <p:ph type="title"/>
          </p:nvPr>
        </p:nvSpPr>
        <p:spPr bwMode="auto">
          <a:xfrm>
            <a:off x="383949" y="1681522"/>
            <a:ext cx="4456567"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ea typeface="Karla" pitchFamily="2" charset="0"/>
                <a:cs typeface="Karla" pitchFamily="2" charset="0"/>
              </a:rPr>
              <a:t>LEARNING OUTCOMES</a:t>
            </a:r>
            <a:br>
              <a:rPr lang="en-US" sz="4400" b="1" dirty="0">
                <a:solidFill>
                  <a:srgbClr val="FF00FF"/>
                </a:solidFill>
                <a:latin typeface="Casper"/>
                <a:ea typeface="Karla" pitchFamily="2" charset="0"/>
                <a:cs typeface="Karla" pitchFamily="2" charset="0"/>
              </a:rPr>
            </a:br>
            <a:endParaRPr lang="en-US" sz="4400" dirty="0">
              <a:solidFill>
                <a:srgbClr val="FF00FF"/>
              </a:solidFill>
              <a:latin typeface="Casper"/>
            </a:endParaRPr>
          </a:p>
        </p:txBody>
      </p:sp>
      <p:sp>
        <p:nvSpPr>
          <p:cNvPr id="2" name="Rectangle 1"/>
          <p:cNvSpPr/>
          <p:nvPr/>
        </p:nvSpPr>
        <p:spPr>
          <a:xfrm>
            <a:off x="5295900" y="511627"/>
            <a:ext cx="5867400" cy="58369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7" y="6324602"/>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5"/>
          <p:cNvPicPr>
            <a:picLocks noChangeAspect="1" noChangeArrowheads="1"/>
          </p:cNvPicPr>
          <p:nvPr/>
        </p:nvPicPr>
        <p:blipFill>
          <a:blip r:embed="rId3" cstate="print"/>
          <a:srcRect/>
          <a:stretch>
            <a:fillRect/>
          </a:stretch>
        </p:blipFill>
        <p:spPr bwMode="auto">
          <a:xfrm>
            <a:off x="304800" y="304801"/>
            <a:ext cx="812800" cy="976065"/>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693801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1" y="1560582"/>
            <a:ext cx="10683240" cy="4679678"/>
          </a:xfrm>
        </p:spPr>
        <p:txBody>
          <a:bodyPr>
            <a:normAutofit fontScale="92500" lnSpcReduction="20000"/>
          </a:bodyPr>
          <a:lstStyle/>
          <a:p>
            <a:pPr marL="0" indent="0">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 Circuits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Adel 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Sedra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and Kenneth Carless Smith, Oxford University Press.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buFont typeface="+mj-lt"/>
              <a:buAutoNum type="arabicPeriod"/>
            </a:pP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Millman’s</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Integrated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Christos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Halkias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Chetan Parikh, McGraw Hill Education.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Digital Logic &amp; Computer Design,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M. Morris Mano, Pearson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Bef>
                <a:spcPts val="600"/>
              </a:spcBef>
              <a:spcAft>
                <a:spcPts val="600"/>
              </a:spcAft>
              <a:buNone/>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Principles of 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V K Mehta , Rohit Mehta,  12/e , S. Chand Publishing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Solid State Electronic Devices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,6</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Ben Streetman, Sanjay Banerjee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Principle</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Albert Paul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Malvino</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Circuits:Discrete</a:t>
            </a: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 &amp; Integrated</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D Schilling C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BeloveTApelewiczRSaccardi</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Microelectronics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Jacob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Millman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Arvin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Grabel</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Electronics Devices &amp;</a:t>
            </a:r>
            <a:r>
              <a:rPr lang="en-IN" sz="1800" i="1" dirty="0" err="1">
                <a:effectLst/>
                <a:latin typeface="Times New Roman" panose="02020603050405020304" pitchFamily="18" charset="0"/>
                <a:ea typeface="Calibri" panose="020F0502020204030204" pitchFamily="34" charset="0"/>
                <a:cs typeface="Times New Roman" panose="02020603050405020304" pitchFamily="18" charset="0"/>
              </a:rPr>
              <a:t>Circuits</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Salivahanan</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N. Suresh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Kumar,A</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Vallavaraj</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Bef>
                <a:spcPts val="600"/>
              </a:spcBef>
              <a:spcAft>
                <a:spcPts val="600"/>
              </a:spcAft>
              <a:buFont typeface="+mj-lt"/>
              <a:buAutoNum type="arabicPeriod"/>
            </a:pPr>
            <a:r>
              <a:rPr lang="en-IN" sz="1800" i="1" dirty="0">
                <a:effectLst/>
                <a:latin typeface="Times New Roman" panose="02020603050405020304" pitchFamily="18" charset="0"/>
                <a:ea typeface="Calibri" panose="020F0502020204030204" pitchFamily="34" charset="0"/>
                <a:cs typeface="Times New Roman" panose="02020603050405020304" pitchFamily="18" charset="0"/>
              </a:rPr>
              <a:t>Electronic Devices &amp; Circuit Theory</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11</a:t>
            </a:r>
            <a:r>
              <a:rPr lang="en-IN" sz="1800" baseline="30000" dirty="0">
                <a:effectLst/>
                <a:latin typeface="Times New Roman" panose="02020603050405020304" pitchFamily="18" charset="0"/>
                <a:ea typeface="Calibri" panose="020F0502020204030204" pitchFamily="34" charset="0"/>
                <a:cs typeface="Times New Roman" panose="02020603050405020304" pitchFamily="18" charset="0"/>
              </a:rPr>
              <a:t>th</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Edition, Robert L. </a:t>
            </a:r>
            <a:r>
              <a:rPr lang="en-IN" sz="1800" dirty="0" err="1">
                <a:effectLst/>
                <a:latin typeface="Times New Roman" panose="02020603050405020304" pitchFamily="18" charset="0"/>
                <a:ea typeface="Calibri" panose="020F0502020204030204" pitchFamily="34" charset="0"/>
                <a:cs typeface="Times New Roman" panose="02020603050405020304" pitchFamily="18" charset="0"/>
              </a:rPr>
              <a:t>Boylestad,LouisNashelsky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dirty="0"/>
          </a:p>
        </p:txBody>
      </p:sp>
      <p:sp>
        <p:nvSpPr>
          <p:cNvPr id="5" name="Title 4"/>
          <p:cNvSpPr>
            <a:spLocks noGrp="1"/>
          </p:cNvSpPr>
          <p:nvPr>
            <p:ph type="title"/>
          </p:nvPr>
        </p:nvSpPr>
        <p:spPr/>
        <p:txBody>
          <a:bodyPr/>
          <a:lstStyle/>
          <a:p>
            <a:pPr algn="ctr"/>
            <a:r>
              <a:rPr lang="en-US" b="1" dirty="0"/>
              <a:t>References</a:t>
            </a: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E9DA-BC31-44D3-9700-4F4473874B1B}"/>
              </a:ext>
            </a:extLst>
          </p:cNvPr>
          <p:cNvSpPr>
            <a:spLocks noGrp="1"/>
          </p:cNvSpPr>
          <p:nvPr>
            <p:ph type="title"/>
          </p:nvPr>
        </p:nvSpPr>
        <p:spPr/>
        <p:txBody>
          <a:bodyPr>
            <a:normAutofit/>
          </a:bodyPr>
          <a:lstStyle/>
          <a:p>
            <a:r>
              <a:rPr lang="en-US" dirty="0"/>
              <a:t>Assessment Pattern</a:t>
            </a:r>
            <a:endParaRPr lang="en-IN" dirty="0"/>
          </a:p>
        </p:txBody>
      </p:sp>
      <p:sp>
        <p:nvSpPr>
          <p:cNvPr id="4" name="Footer Placeholder 3">
            <a:extLst>
              <a:ext uri="{FF2B5EF4-FFF2-40B4-BE49-F238E27FC236}">
                <a16:creationId xmlns:a16="http://schemas.microsoft.com/office/drawing/2014/main" id="{6FD56E32-EE27-43F7-95F1-8E65978E1C4A}"/>
              </a:ext>
            </a:extLst>
          </p:cNvPr>
          <p:cNvSpPr>
            <a:spLocks noGrp="1"/>
          </p:cNvSpPr>
          <p:nvPr>
            <p:ph type="ftr" sz="quarter" idx="11"/>
          </p:nvPr>
        </p:nvSpPr>
        <p:spPr/>
        <p:txBody>
          <a:bodyPr/>
          <a:lstStyle/>
          <a:p>
            <a:r>
              <a:rPr lang="en-US">
                <a:solidFill>
                  <a:prstClr val="black">
                    <a:tint val="75000"/>
                  </a:prstClr>
                </a:solidFill>
              </a:rPr>
              <a:t>PRINCIPLES OF ELECTRONICS LAB (20ECP170)</a:t>
            </a:r>
          </a:p>
        </p:txBody>
      </p:sp>
      <p:pic>
        <p:nvPicPr>
          <p:cNvPr id="11" name="Content Placeholder 10">
            <a:extLst>
              <a:ext uri="{FF2B5EF4-FFF2-40B4-BE49-F238E27FC236}">
                <a16:creationId xmlns:a16="http://schemas.microsoft.com/office/drawing/2014/main" id="{ECF37D14-C487-44CB-91C1-3B586E56E01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99930" y="1516756"/>
            <a:ext cx="5383295" cy="4619000"/>
          </a:xfrm>
        </p:spPr>
      </p:pic>
      <p:pic>
        <p:nvPicPr>
          <p:cNvPr id="13" name="Picture 12">
            <a:extLst>
              <a:ext uri="{FF2B5EF4-FFF2-40B4-BE49-F238E27FC236}">
                <a16:creationId xmlns:a16="http://schemas.microsoft.com/office/drawing/2014/main" id="{EC0BEE70-8D19-4E67-8D5D-2E879F5CC1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8403" y="1503012"/>
            <a:ext cx="4637127" cy="4605257"/>
          </a:xfrm>
          <a:prstGeom prst="rect">
            <a:avLst/>
          </a:prstGeom>
        </p:spPr>
      </p:pic>
    </p:spTree>
    <p:custDataLst>
      <p:tags r:id="rId1"/>
    </p:custDataLst>
    <p:extLst>
      <p:ext uri="{BB962C8B-B14F-4D97-AF65-F5344CB8AC3E}">
        <p14:creationId xmlns:p14="http://schemas.microsoft.com/office/powerpoint/2010/main" val="20599366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Thank You</a:t>
            </a:r>
            <a:endParaRPr lang="en-US" dirty="0"/>
          </a:p>
        </p:txBody>
      </p:sp>
      <p:sp>
        <p:nvSpPr>
          <p:cNvPr id="3" name="Subtitle 2"/>
          <p:cNvSpPr>
            <a:spLocks noGrp="1"/>
          </p:cNvSpPr>
          <p:nvPr>
            <p:ph type="subTitle" idx="1"/>
          </p:nvPr>
        </p:nvSpPr>
        <p:spPr>
          <a:xfrm>
            <a:off x="1524000" y="4527754"/>
            <a:ext cx="9144000" cy="730045"/>
          </a:xfrm>
        </p:spPr>
        <p:txBody>
          <a:bodyPr/>
          <a:lstStyle/>
          <a:p>
            <a:r>
              <a:rPr lang="en-IN" dirty="0"/>
              <a:t>navjeetkaur.ee@cumail.in</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9"/>
  <p:tag name="ARTICULATE_PROJECT_OPEN" val="1"/>
  <p:tag name="TAG_BACKING_FORM_KEY" val="1705656-l:\2021_even_semester\poe\theory\unit-1\chapter 5\lecture 5.pptx"/>
  <p:tag name="ARTICULATE_PRESENTER_VERSION" val="7"/>
  <p:tag name="ARTICULATE_USED_PAGE_ORIENTATION" val="1"/>
  <p:tag name="ARTICULATE_USED_PAGE_SIZE" val="7"/>
  <p:tag name="ARTICULATE_REFERENCE_ID" val="8533a3a8-8b31-403c-8aff-6fe24fab4ce4"/>
  <p:tag name="ARTICULATE_REFERENCE_COUNT" val="0"/>
  <p:tag name="ARTICULATE_PLAYER_GLOSSARY_XML" val="&lt;?xml version=&quot;1.0&quot; encoding=&quot;utf-16&quot;?&gt;&lt;glossary xmlns:xsi=&quot;http://www.w3.org/2001/XMLSchema-instance&quot; xmlns:xsd=&quot;http://www.w3.org/2001/XMLSchema&quot;&gt;&lt;terms /&gt;&lt;/glossary&gt;"/>
</p:tagLst>
</file>

<file path=ppt/tags/tag2.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3.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ags/tag4.xml><?xml version="1.0" encoding="utf-8"?>
<p:tagLst xmlns:a="http://schemas.openxmlformats.org/drawingml/2006/main" xmlns:r="http://schemas.openxmlformats.org/officeDocument/2006/relationships" xmlns:p="http://schemas.openxmlformats.org/presentationml/2006/main">
  <p:tag name="AUDIO_ID" val="471"/>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5.xml><?xml version="1.0" encoding="utf-8"?>
<p:tagLst xmlns:a="http://schemas.openxmlformats.org/drawingml/2006/main" xmlns:r="http://schemas.openxmlformats.org/officeDocument/2006/relationships" xmlns:p="http://schemas.openxmlformats.org/presentationml/2006/main">
  <p:tag name="AUDIO_ID" val="326"/>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6.xml><?xml version="1.0" encoding="utf-8"?>
<p:tagLst xmlns:a="http://schemas.openxmlformats.org/drawingml/2006/main" xmlns:r="http://schemas.openxmlformats.org/officeDocument/2006/relationships" xmlns:p="http://schemas.openxmlformats.org/presentationml/2006/main">
  <p:tag name="AUDIO_ID" val="327"/>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7.xml><?xml version="1.0" encoding="utf-8"?>
<p:tagLst xmlns:a="http://schemas.openxmlformats.org/drawingml/2006/main" xmlns:r="http://schemas.openxmlformats.org/officeDocument/2006/relationships" xmlns:p="http://schemas.openxmlformats.org/presentationml/2006/main">
  <p:tag name="AUDIO_ID" val="473"/>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8.xml><?xml version="1.0" encoding="utf-8"?>
<p:tagLst xmlns:a="http://schemas.openxmlformats.org/drawingml/2006/main" xmlns:r="http://schemas.openxmlformats.org/officeDocument/2006/relationships" xmlns:p="http://schemas.openxmlformats.org/presentationml/2006/main">
  <p:tag name="AUDIO_ID" val="413"/>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9.xml><?xml version="1.0" encoding="utf-8"?>
<p:tagLst xmlns:a="http://schemas.openxmlformats.org/drawingml/2006/main" xmlns:r="http://schemas.openxmlformats.org/officeDocument/2006/relationships" xmlns:p="http://schemas.openxmlformats.org/presentationml/2006/main">
  <p:tag name="AUDIO_ID" val="414"/>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0.xml><?xml version="1.0" encoding="utf-8"?>
<p:tagLst xmlns:a="http://schemas.openxmlformats.org/drawingml/2006/main" xmlns:r="http://schemas.openxmlformats.org/officeDocument/2006/relationships" xmlns:p="http://schemas.openxmlformats.org/presentationml/2006/main">
  <p:tag name="AUDIO_ID" val="415"/>
  <p:tag name="ARTICULATE_USED_LAYOUT" val="4"/>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1.xml><?xml version="1.0" encoding="utf-8"?>
<p:tagLst xmlns:a="http://schemas.openxmlformats.org/drawingml/2006/main" xmlns:r="http://schemas.openxmlformats.org/officeDocument/2006/relationships" xmlns:p="http://schemas.openxmlformats.org/presentationml/2006/main">
  <p:tag name="AUDIO_ID" val="417"/>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2.xml><?xml version="1.0" encoding="utf-8"?>
<p:tagLst xmlns:a="http://schemas.openxmlformats.org/drawingml/2006/main" xmlns:r="http://schemas.openxmlformats.org/officeDocument/2006/relationships" xmlns:p="http://schemas.openxmlformats.org/presentationml/2006/main">
  <p:tag name="AUDIO_ID" val="416"/>
  <p:tag name="ARTICULATE_USED_LAYOUT" val="4"/>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3.xml><?xml version="1.0" encoding="utf-8"?>
<p:tagLst xmlns:a="http://schemas.openxmlformats.org/drawingml/2006/main" xmlns:r="http://schemas.openxmlformats.org/officeDocument/2006/relationships" xmlns:p="http://schemas.openxmlformats.org/presentationml/2006/main">
  <p:tag name="AUDIO_ID" val="419"/>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4.xml><?xml version="1.0" encoding="utf-8"?>
<p:tagLst xmlns:a="http://schemas.openxmlformats.org/drawingml/2006/main" xmlns:r="http://schemas.openxmlformats.org/officeDocument/2006/relationships" xmlns:p="http://schemas.openxmlformats.org/presentationml/2006/main">
  <p:tag name="AUDIO_ID" val="414"/>
  <p:tag name="ARTICULATE_USED_LAYOUT" val="2"/>
  <p:tag name="ARTICULATE_NAV_LEVEL" val="1"/>
  <p:tag name="ARTICULATE_SLIDE_PRESENTER_GUID" val="16ca2aa7-00d3-4eea-b80c-64fa7bef6797"/>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5.xml><?xml version="1.0" encoding="utf-8"?>
<p:tagLst xmlns:a="http://schemas.openxmlformats.org/drawingml/2006/main" xmlns:r="http://schemas.openxmlformats.org/officeDocument/2006/relationships" xmlns:p="http://schemas.openxmlformats.org/presentationml/2006/main">
  <p:tag name="AUDIO_ID" val="421"/>
  <p:tag name="ARTICULATE_USED_LAYOUT" val="2"/>
  <p:tag name="ARTICULATE_NAV_LEVEL" val="1"/>
  <p:tag name="ARTICULATE_SLIDE_PRESENTER_GUID" val="16ca2aa7-00d3-4eea-b80c-64fa7bef6797"/>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6.xml><?xml version="1.0" encoding="utf-8"?>
<p:tagLst xmlns:a="http://schemas.openxmlformats.org/drawingml/2006/main" xmlns:r="http://schemas.openxmlformats.org/officeDocument/2006/relationships" xmlns:p="http://schemas.openxmlformats.org/presentationml/2006/main">
  <p:tag name="AUDIO_ID" val="423"/>
  <p:tag name="ARTICULATE_USED_LAYOUT" val="4"/>
  <p:tag name="ARTICULATE_NAV_LEVEL" val="1"/>
  <p:tag name="ARTICULATE_SLIDE_PRESENTER_GUID" val="16ca2aa7-00d3-4eea-b80c-64fa7bef6797"/>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7.xml><?xml version="1.0" encoding="utf-8"?>
<p:tagLst xmlns:a="http://schemas.openxmlformats.org/drawingml/2006/main" xmlns:r="http://schemas.openxmlformats.org/officeDocument/2006/relationships" xmlns:p="http://schemas.openxmlformats.org/presentationml/2006/main">
  <p:tag name="AUDIO_ID" val="424"/>
  <p:tag name="ARTICULATE_USED_LAYOUT" val="4"/>
  <p:tag name="ARTICULATE_NAV_LEVEL" val="1"/>
  <p:tag name="ARTICULATE_SLIDE_PRESENTER_GUID" val="16ca2aa7-00d3-4eea-b80c-64fa7bef6797"/>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8.xml><?xml version="1.0" encoding="utf-8"?>
<p:tagLst xmlns:a="http://schemas.openxmlformats.org/drawingml/2006/main" xmlns:r="http://schemas.openxmlformats.org/officeDocument/2006/relationships" xmlns:p="http://schemas.openxmlformats.org/presentationml/2006/main">
  <p:tag name="AUDIO_ID" val="418"/>
  <p:tag name="ARTICULATE_USED_LAYOUT" val="7"/>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19.xml><?xml version="1.0" encoding="utf-8"?>
<p:tagLst xmlns:a="http://schemas.openxmlformats.org/drawingml/2006/main" xmlns:r="http://schemas.openxmlformats.org/officeDocument/2006/relationships" xmlns:p="http://schemas.openxmlformats.org/presentationml/2006/main">
  <p:tag name="AUDIO_ID" val="472"/>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0.xml><?xml version="1.0" encoding="utf-8"?>
<p:tagLst xmlns:a="http://schemas.openxmlformats.org/drawingml/2006/main" xmlns:r="http://schemas.openxmlformats.org/officeDocument/2006/relationships" xmlns:p="http://schemas.openxmlformats.org/presentationml/2006/main">
  <p:tag name="AUDIO_ID" val="448"/>
  <p:tag name="ARTICULATE_USED_LAYOUT" val="8"/>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1.xml><?xml version="1.0" encoding="utf-8"?>
<p:tagLst xmlns:a="http://schemas.openxmlformats.org/drawingml/2006/main" xmlns:r="http://schemas.openxmlformats.org/officeDocument/2006/relationships" xmlns:p="http://schemas.openxmlformats.org/presentationml/2006/main">
  <p:tag name="AUDIO_ID" val="405"/>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ags/tag22.xml><?xml version="1.0" encoding="utf-8"?>
<p:tagLst xmlns:a="http://schemas.openxmlformats.org/drawingml/2006/main" xmlns:r="http://schemas.openxmlformats.org/officeDocument/2006/relationships" xmlns:p="http://schemas.openxmlformats.org/presentationml/2006/main">
  <p:tag name="AUDIO_ID" val="324"/>
  <p:tag name="ARTICULATE_USED_LAYOUT" val="2"/>
  <p:tag name="ARTICULATE_NAV_LEVEL" val="1"/>
  <p:tag name="ARTICULATE_SLIDE_PRESENTER_GUID" val="ce3fc8d1-6d2a-41f9-a8e5-90a7540dbf1e"/>
  <p:tag name="ARTICULATE_SLIDE_PAUSE" val="0"/>
  <p:tag name="ARTICULATE_LOCK_SLIDE" val="0"/>
  <p:tag name="ARTICULATE_HIDE_SLIDE" val="0"/>
  <p:tag name="ARTICULATE_PLAYER_CONTROL_PREVIOUS" val="True"/>
  <p:tag name="ARTICULATE_PLAYER_CONTROL_NEXT" val="True"/>
  <p:tag name="ARTICULATE_PLAYER_CONTROL_RESOURCES" val="False"/>
  <p:tag name="ARTICULATE_PLAYER_CONTROL_MENU" val="False"/>
  <p:tag name="ARTICULATE_PLAYER_SEEKBAR" val="False"/>
  <p:tag name="ARTICULATE_PLAYER_CONTROL_PLAYPAUSE" val="False"/>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2542</TotalTime>
  <Words>2047</Words>
  <Application>Microsoft Office PowerPoint</Application>
  <PresentationFormat>Widescreen</PresentationFormat>
  <Paragraphs>185</Paragraphs>
  <Slides>26</Slides>
  <Notes>3</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8" baseType="lpstr">
      <vt:lpstr>Arial</vt:lpstr>
      <vt:lpstr>Arial Black</vt:lpstr>
      <vt:lpstr>Calibri</vt:lpstr>
      <vt:lpstr>Calibri Light</vt:lpstr>
      <vt:lpstr>Casper</vt:lpstr>
      <vt:lpstr>Poppins</vt:lpstr>
      <vt:lpstr>Raleway ExtraBold</vt:lpstr>
      <vt:lpstr>Times New Roman</vt:lpstr>
      <vt:lpstr>Wingdings</vt:lpstr>
      <vt:lpstr>1_Office Theme</vt:lpstr>
      <vt:lpstr>Contents Slide Master</vt:lpstr>
      <vt:lpstr>CorelDRAW</vt:lpstr>
      <vt:lpstr>PowerPoint Presentation</vt:lpstr>
      <vt:lpstr>Course Objectives</vt:lpstr>
      <vt:lpstr>Course Outcomes</vt:lpstr>
      <vt:lpstr>PowerPoint Presentation</vt:lpstr>
      <vt:lpstr>Content   </vt:lpstr>
      <vt:lpstr>SEMICONDUCTOR</vt:lpstr>
      <vt:lpstr>SEMICONDUCTOR</vt:lpstr>
      <vt:lpstr>SEMICONDUCTOR</vt:lpstr>
      <vt:lpstr>Types of Semiconductors</vt:lpstr>
      <vt:lpstr>n-type Semiconductor</vt:lpstr>
      <vt:lpstr>n-type conductivity</vt:lpstr>
      <vt:lpstr>p-type Semiconductor</vt:lpstr>
      <vt:lpstr>p-type conductivity</vt:lpstr>
      <vt:lpstr>Types of Semiconductors</vt:lpstr>
      <vt:lpstr>Formation of P-N junction</vt:lpstr>
      <vt:lpstr>Properties of P-N Junction</vt:lpstr>
      <vt:lpstr>Properties of P-N Junction</vt:lpstr>
      <vt:lpstr>Basic Structure of P-N Junction</vt:lpstr>
      <vt:lpstr>P-N Junction Diode</vt:lpstr>
      <vt:lpstr>Symbol of P-N Junction Diode</vt:lpstr>
      <vt:lpstr>PowerPoint Presentation</vt:lpstr>
      <vt:lpstr>PowerPoint Presentation</vt:lpstr>
      <vt:lpstr>LEARNING OUTCOMES </vt:lpstr>
      <vt:lpstr>References</vt:lpstr>
      <vt:lpstr>Assessment Pattern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MOHD SHAN</cp:lastModifiedBy>
  <cp:revision>283</cp:revision>
  <dcterms:created xsi:type="dcterms:W3CDTF">2019-01-09T10:33:58Z</dcterms:created>
  <dcterms:modified xsi:type="dcterms:W3CDTF">2023-11-24T17:53:12Z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B770E60C-827C-43C7-BBCF-E4FED3652414</vt:lpwstr>
  </property>
  <property fmtid="{D5CDD505-2E9C-101B-9397-08002B2CF9AE}" pid="3" name="ArticulatePath">
    <vt:lpwstr>Lecture 5</vt:lpwstr>
  </property>
  <property fmtid="{D5CDD505-2E9C-101B-9397-08002B2CF9AE}" pid="4" name="ArticulateProjectVersion">
    <vt:lpwstr>7</vt:lpwstr>
  </property>
  <property fmtid="{D5CDD505-2E9C-101B-9397-08002B2CF9AE}" pid="5" name="ArticulateUseProject">
    <vt:lpwstr>1</vt:lpwstr>
  </property>
  <property fmtid="{D5CDD505-2E9C-101B-9397-08002B2CF9AE}" pid="6" name="ArticulateProjectFull">
    <vt:lpwstr>L:\2021_Even_Semester\POE\Theory\UNIT-1\Chapter 5\Lecture 5.ppta</vt:lpwstr>
  </property>
</Properties>
</file>