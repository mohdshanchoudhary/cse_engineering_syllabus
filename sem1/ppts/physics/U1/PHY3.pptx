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ppt/notesSlides/notesSlide2.xml" ContentType="application/vnd.openxmlformats-officedocument.presentationml.notesSlide+xml"/>
  <Override PartName="/ppt/diagrams/colors1.xml" ContentType="application/vnd.openxmlformats-officedocument.drawingml.diagramColors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15.xml" ContentType="application/vnd.openxmlformats-officedocument.presentationml.slideLayout+xml"/>
  <Override PartName="/ppt/tags/tag2.xml" ContentType="application/vnd.openxmlformats-officedocument.presentationml.tags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3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20.xml" ContentType="application/vnd.openxmlformats-officedocument.presentationml.slideLayout+xml"/>
  <Override PartName="/ppt/diagrams/layout1.xml" ContentType="application/vnd.openxmlformats-officedocument.drawingml.diagram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diagrams/data1.xml" ContentType="application/vnd.openxmlformats-officedocument.drawingml.diagramData+xml"/>
  <Override PartName="/docProps/core.xml" ContentType="application/vnd.openxmlformats-package.core-properties+xml"/>
  <Override PartName="/ppt/slideMasters/slideMaster2.xml" ContentType="application/vnd.openxmlformats-officedocument.presentationml.slideMaster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theme/theme4.xml" ContentType="application/vnd.openxmlformats-officedocument.theme+xml"/>
  <Override PartName="/ppt/notesSlides/notesSlide1.xml" ContentType="application/vnd.openxmlformats-officedocument.presentationml.notesSlide+xml"/>
  <Default Extension="bin" ContentType="application/vnd.openxmlformats-officedocument.oleObject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diagrams/drawing1.xml" ContentType="application/vnd.ms-office.drawingml.diagramDrawing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Default Extension="jpeg" ContentType="image/jpeg"/>
  <Override PartName="/ppt/slideLayouts/slideLayout3.xml" ContentType="application/vnd.openxmlformats-officedocument.presentationml.slideLayout+xml"/>
  <Override PartName="/ppt/slideLayouts/slideLayout16.xml" ContentType="application/vnd.openxmlformats-officedocument.presentationml.slideLayout+xml"/>
  <Default Extension="emf" ContentType="image/x-emf"/>
  <Override PartName="/ppt/diagrams/quickStyle1.xml" ContentType="application/vnd.openxmlformats-officedocument.drawingml.diagramStyl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3.xml" ContentType="application/vnd.openxmlformats-officedocument.presentationml.slideLayout+xml"/>
  <Override PartName="/ppt/tags/tag1.xml" ContentType="application/vnd.openxmlformats-officedocument.presentationml.tags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Layouts/slideLayout12.xml" ContentType="application/vnd.openxmlformats-officedocument.presentationml.slideLayout+xml"/>
  <Override PartName="/ppt/slideLayouts/slideLayout21.xml" ContentType="application/vnd.openxmlformats-officedocument.presentationml.slideLayout+xml"/>
  <Default Extension="wdp" ContentType="image/vnd.ms-photo"/>
  <Override PartName="/ppt/slideLayouts/slideLayout10.xml" ContentType="application/vnd.openxmlformats-officedocument.presentationml.slideLayout+xml"/>
  <Default Extension="vml" ContentType="application/vnd.openxmlformats-officedocument.vmlDrawing"/>
  <Default Extension="gif" ContentType="image/gif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  <p:sldMasterId id="2147483684" r:id="rId2"/>
  </p:sldMasterIdLst>
  <p:notesMasterIdLst>
    <p:notesMasterId r:id="rId30"/>
  </p:notesMasterIdLst>
  <p:handoutMasterIdLst>
    <p:handoutMasterId r:id="rId31"/>
  </p:handoutMasterIdLst>
  <p:sldIdLst>
    <p:sldId id="284" r:id="rId3"/>
    <p:sldId id="285" r:id="rId4"/>
    <p:sldId id="286" r:id="rId5"/>
    <p:sldId id="258" r:id="rId6"/>
    <p:sldId id="259" r:id="rId7"/>
    <p:sldId id="280" r:id="rId8"/>
    <p:sldId id="260" r:id="rId9"/>
    <p:sldId id="261" r:id="rId10"/>
    <p:sldId id="268" r:id="rId11"/>
    <p:sldId id="262" r:id="rId12"/>
    <p:sldId id="263" r:id="rId13"/>
    <p:sldId id="269" r:id="rId14"/>
    <p:sldId id="264" r:id="rId15"/>
    <p:sldId id="270" r:id="rId16"/>
    <p:sldId id="271" r:id="rId17"/>
    <p:sldId id="265" r:id="rId18"/>
    <p:sldId id="272" r:id="rId19"/>
    <p:sldId id="266" r:id="rId20"/>
    <p:sldId id="273" r:id="rId21"/>
    <p:sldId id="267" r:id="rId22"/>
    <p:sldId id="274" r:id="rId23"/>
    <p:sldId id="281" r:id="rId24"/>
    <p:sldId id="275" r:id="rId25"/>
    <p:sldId id="276" r:id="rId26"/>
    <p:sldId id="283" r:id="rId27"/>
    <p:sldId id="277" r:id="rId28"/>
    <p:sldId id="278" r:id="rId2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103" autoAdjust="0"/>
    <p:restoredTop sz="94660"/>
  </p:normalViewPr>
  <p:slideViewPr>
    <p:cSldViewPr>
      <p:cViewPr varScale="1">
        <p:scale>
          <a:sx n="60" d="100"/>
          <a:sy n="60" d="100"/>
        </p:scale>
        <p:origin x="-1416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handoutMaster" Target="handoutMasters/handout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F2035AB-03B7-47CE-BFA3-C21B7B8CDE3F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33D17C1-7C4B-4AE8-8AA5-5157063E4C69}">
      <dgm:prSet phldrT="[Text]" custT="1"/>
      <dgm:spPr/>
      <dgm:t>
        <a:bodyPr/>
        <a:lstStyle/>
        <a:p>
          <a:r>
            <a:rPr lang="en-US" sz="2400" b="1" dirty="0" smtClean="0">
              <a:solidFill>
                <a:schemeClr val="bg1"/>
              </a:solidFill>
              <a:latin typeface="Cambria" pitchFamily="18" charset="0"/>
            </a:rPr>
            <a:t>1.Difference between diffusion current density and drift current density</a:t>
          </a:r>
          <a:endParaRPr lang="en-US" sz="2400" b="1" dirty="0">
            <a:solidFill>
              <a:schemeClr val="bg1"/>
            </a:solidFill>
          </a:endParaRPr>
        </a:p>
      </dgm:t>
    </dgm:pt>
    <dgm:pt modelId="{69470F9B-6430-4517-84A6-B29641D46B0A}" type="parTrans" cxnId="{0D21AF6C-9E98-446F-BD87-60D0C3196B45}">
      <dgm:prSet/>
      <dgm:spPr/>
      <dgm:t>
        <a:bodyPr/>
        <a:lstStyle/>
        <a:p>
          <a:endParaRPr lang="en-US"/>
        </a:p>
      </dgm:t>
    </dgm:pt>
    <dgm:pt modelId="{0487CF82-EBE7-47F0-8D83-12F1C44C81AD}" type="sibTrans" cxnId="{0D21AF6C-9E98-446F-BD87-60D0C3196B45}">
      <dgm:prSet/>
      <dgm:spPr/>
      <dgm:t>
        <a:bodyPr/>
        <a:lstStyle/>
        <a:p>
          <a:endParaRPr lang="en-US"/>
        </a:p>
      </dgm:t>
    </dgm:pt>
    <dgm:pt modelId="{8F61D3F7-C543-4F70-A6DF-D14B09CC708E}">
      <dgm:prSet phldrT="[Text]" custT="1"/>
      <dgm:spPr/>
      <dgm:t>
        <a:bodyPr/>
        <a:lstStyle/>
        <a:p>
          <a:r>
            <a:rPr lang="en-US" sz="2400" dirty="0" smtClean="0">
              <a:solidFill>
                <a:schemeClr val="bg1"/>
              </a:solidFill>
              <a:latin typeface="Cambria" pitchFamily="18" charset="0"/>
            </a:rPr>
            <a:t>2</a:t>
          </a:r>
          <a:r>
            <a:rPr lang="en-US" sz="2400" b="1" dirty="0" smtClean="0">
              <a:solidFill>
                <a:schemeClr val="bg1"/>
              </a:solidFill>
              <a:latin typeface="Cambria" pitchFamily="18" charset="0"/>
            </a:rPr>
            <a:t>. Discuss effect of temperature on depletion layer</a:t>
          </a:r>
          <a:endParaRPr lang="en-US" sz="2400" b="1" dirty="0">
            <a:solidFill>
              <a:schemeClr val="bg1"/>
            </a:solidFill>
            <a:latin typeface="Cambria" pitchFamily="18" charset="0"/>
          </a:endParaRPr>
        </a:p>
      </dgm:t>
    </dgm:pt>
    <dgm:pt modelId="{B982676E-6207-4A92-9098-669D352D4309}" type="parTrans" cxnId="{C2549315-C647-40F8-8170-D6B75B66745C}">
      <dgm:prSet/>
      <dgm:spPr/>
      <dgm:t>
        <a:bodyPr/>
        <a:lstStyle/>
        <a:p>
          <a:endParaRPr lang="en-US"/>
        </a:p>
      </dgm:t>
    </dgm:pt>
    <dgm:pt modelId="{5A95A072-241F-42B1-8E3A-7AD463C8A8EF}" type="sibTrans" cxnId="{C2549315-C647-40F8-8170-D6B75B66745C}">
      <dgm:prSet/>
      <dgm:spPr/>
      <dgm:t>
        <a:bodyPr/>
        <a:lstStyle/>
        <a:p>
          <a:endParaRPr lang="en-US"/>
        </a:p>
      </dgm:t>
    </dgm:pt>
    <dgm:pt modelId="{DD708444-2D9C-42DA-BB51-4C99C3550035}">
      <dgm:prSet phldrT="[Text]" custT="1"/>
      <dgm:spPr/>
      <dgm:t>
        <a:bodyPr/>
        <a:lstStyle/>
        <a:p>
          <a:r>
            <a:rPr lang="en-US" sz="2400" b="1" dirty="0" smtClean="0">
              <a:solidFill>
                <a:schemeClr val="bg1"/>
              </a:solidFill>
              <a:latin typeface="Cambria" pitchFamily="18" charset="0"/>
            </a:rPr>
            <a:t>3. Few examples of semiconductor devices</a:t>
          </a:r>
          <a:endParaRPr lang="en-US" sz="2400" b="1" dirty="0">
            <a:solidFill>
              <a:schemeClr val="bg1"/>
            </a:solidFill>
            <a:latin typeface="Cambria" pitchFamily="18" charset="0"/>
          </a:endParaRPr>
        </a:p>
      </dgm:t>
    </dgm:pt>
    <dgm:pt modelId="{92E7F319-0EE0-4E91-9D59-49ABEEEC7D71}" type="parTrans" cxnId="{8BC90827-CC07-4613-B277-18733D4A8826}">
      <dgm:prSet/>
      <dgm:spPr/>
      <dgm:t>
        <a:bodyPr/>
        <a:lstStyle/>
        <a:p>
          <a:endParaRPr lang="en-US"/>
        </a:p>
      </dgm:t>
    </dgm:pt>
    <dgm:pt modelId="{CB86CDAE-5296-489E-B1F3-A607BE127E9A}" type="sibTrans" cxnId="{8BC90827-CC07-4613-B277-18733D4A8826}">
      <dgm:prSet/>
      <dgm:spPr/>
      <dgm:t>
        <a:bodyPr/>
        <a:lstStyle/>
        <a:p>
          <a:endParaRPr lang="en-US"/>
        </a:p>
      </dgm:t>
    </dgm:pt>
    <dgm:pt modelId="{E0BB00B6-42BD-4F5D-BBB4-357226645B4A}" type="pres">
      <dgm:prSet presAssocID="{AF2035AB-03B7-47CE-BFA3-C21B7B8CDE3F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1F3BCB4B-D880-42A3-AAC4-0D7201466A7A}" type="pres">
      <dgm:prSet presAssocID="{333D17C1-7C4B-4AE8-8AA5-5157063E4C69}" presName="parentLin" presStyleCnt="0"/>
      <dgm:spPr/>
    </dgm:pt>
    <dgm:pt modelId="{06655409-1CFF-4A30-A4C9-B94950EEC6B2}" type="pres">
      <dgm:prSet presAssocID="{333D17C1-7C4B-4AE8-8AA5-5157063E4C69}" presName="parentLeftMargin" presStyleLbl="node1" presStyleIdx="0" presStyleCnt="3"/>
      <dgm:spPr/>
      <dgm:t>
        <a:bodyPr/>
        <a:lstStyle/>
        <a:p>
          <a:endParaRPr lang="en-US"/>
        </a:p>
      </dgm:t>
    </dgm:pt>
    <dgm:pt modelId="{2A765ED1-E422-46A6-848B-A0ECCD3CDF87}" type="pres">
      <dgm:prSet presAssocID="{333D17C1-7C4B-4AE8-8AA5-5157063E4C69}" presName="parentText" presStyleLbl="node1" presStyleIdx="0" presStyleCnt="3" custScaleX="142997" custScaleY="377101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6D338D9-0D6E-4D58-9C9A-90DC56AC3D12}" type="pres">
      <dgm:prSet presAssocID="{333D17C1-7C4B-4AE8-8AA5-5157063E4C69}" presName="negativeSpace" presStyleCnt="0"/>
      <dgm:spPr/>
    </dgm:pt>
    <dgm:pt modelId="{45383EAB-96E4-42BB-9989-4ED58978FC1A}" type="pres">
      <dgm:prSet presAssocID="{333D17C1-7C4B-4AE8-8AA5-5157063E4C69}" presName="childText" presStyleLbl="conFgAcc1" presStyleIdx="0" presStyleCnt="3">
        <dgm:presLayoutVars>
          <dgm:bulletEnabled val="1"/>
        </dgm:presLayoutVars>
      </dgm:prSet>
      <dgm:spPr/>
    </dgm:pt>
    <dgm:pt modelId="{156E25B8-855F-44B4-9C7D-C3CEA48F1924}" type="pres">
      <dgm:prSet presAssocID="{0487CF82-EBE7-47F0-8D83-12F1C44C81AD}" presName="spaceBetweenRectangles" presStyleCnt="0"/>
      <dgm:spPr/>
    </dgm:pt>
    <dgm:pt modelId="{61CF3495-148C-4A3A-B070-DAB669BAAFB6}" type="pres">
      <dgm:prSet presAssocID="{8F61D3F7-C543-4F70-A6DF-D14B09CC708E}" presName="parentLin" presStyleCnt="0"/>
      <dgm:spPr/>
    </dgm:pt>
    <dgm:pt modelId="{35D84057-C3F4-4A71-BB7C-F8540BE1D296}" type="pres">
      <dgm:prSet presAssocID="{8F61D3F7-C543-4F70-A6DF-D14B09CC708E}" presName="parentLeftMargin" presStyleLbl="node1" presStyleIdx="0" presStyleCnt="3"/>
      <dgm:spPr/>
      <dgm:t>
        <a:bodyPr/>
        <a:lstStyle/>
        <a:p>
          <a:endParaRPr lang="en-US"/>
        </a:p>
      </dgm:t>
    </dgm:pt>
    <dgm:pt modelId="{10A260E6-AB7F-48AE-B75A-D27B34DE04C9}" type="pres">
      <dgm:prSet presAssocID="{8F61D3F7-C543-4F70-A6DF-D14B09CC708E}" presName="parentText" presStyleLbl="node1" presStyleIdx="1" presStyleCnt="3" custScaleX="142857" custScaleY="193010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4F74A41-666F-4FCA-B2EF-324B08F15DAA}" type="pres">
      <dgm:prSet presAssocID="{8F61D3F7-C543-4F70-A6DF-D14B09CC708E}" presName="negativeSpace" presStyleCnt="0"/>
      <dgm:spPr/>
    </dgm:pt>
    <dgm:pt modelId="{7B5F1149-5B8F-4404-ACF7-6F1D794975E1}" type="pres">
      <dgm:prSet presAssocID="{8F61D3F7-C543-4F70-A6DF-D14B09CC708E}" presName="childText" presStyleLbl="conFgAcc1" presStyleIdx="1" presStyleCnt="3">
        <dgm:presLayoutVars>
          <dgm:bulletEnabled val="1"/>
        </dgm:presLayoutVars>
      </dgm:prSet>
      <dgm:spPr/>
    </dgm:pt>
    <dgm:pt modelId="{65E1992F-72AE-4090-913C-4D1D0B8992F6}" type="pres">
      <dgm:prSet presAssocID="{5A95A072-241F-42B1-8E3A-7AD463C8A8EF}" presName="spaceBetweenRectangles" presStyleCnt="0"/>
      <dgm:spPr/>
    </dgm:pt>
    <dgm:pt modelId="{58E7E3BE-3B52-4B20-9934-D32EAC761D28}" type="pres">
      <dgm:prSet presAssocID="{DD708444-2D9C-42DA-BB51-4C99C3550035}" presName="parentLin" presStyleCnt="0"/>
      <dgm:spPr/>
    </dgm:pt>
    <dgm:pt modelId="{7BD38150-854A-4C70-BEEE-E67E1CC9CE4F}" type="pres">
      <dgm:prSet presAssocID="{DD708444-2D9C-42DA-BB51-4C99C3550035}" presName="parentLeftMargin" presStyleLbl="node1" presStyleIdx="1" presStyleCnt="3"/>
      <dgm:spPr/>
      <dgm:t>
        <a:bodyPr/>
        <a:lstStyle/>
        <a:p>
          <a:endParaRPr lang="en-US"/>
        </a:p>
      </dgm:t>
    </dgm:pt>
    <dgm:pt modelId="{2B8B57E0-8B9A-4B65-8A54-CE79A525DDB8}" type="pres">
      <dgm:prSet presAssocID="{DD708444-2D9C-42DA-BB51-4C99C3550035}" presName="parentText" presStyleLbl="node1" presStyleIdx="2" presStyleCnt="3" custScaleX="142857" custScaleY="325926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74E3AD6-8429-4394-9344-C56068F73430}" type="pres">
      <dgm:prSet presAssocID="{DD708444-2D9C-42DA-BB51-4C99C3550035}" presName="negativeSpace" presStyleCnt="0"/>
      <dgm:spPr/>
    </dgm:pt>
    <dgm:pt modelId="{3AA357E1-2384-4C85-B212-3D49CC3FBF59}" type="pres">
      <dgm:prSet presAssocID="{DD708444-2D9C-42DA-BB51-4C99C3550035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B5AA3855-90B2-441B-BA95-2CAC87F1D4B6}" type="presOf" srcId="{DD708444-2D9C-42DA-BB51-4C99C3550035}" destId="{2B8B57E0-8B9A-4B65-8A54-CE79A525DDB8}" srcOrd="1" destOrd="0" presId="urn:microsoft.com/office/officeart/2005/8/layout/list1"/>
    <dgm:cxn modelId="{5FC28F4E-D5E5-4E0F-A266-D9B80CB2F04D}" type="presOf" srcId="{8F61D3F7-C543-4F70-A6DF-D14B09CC708E}" destId="{10A260E6-AB7F-48AE-B75A-D27B34DE04C9}" srcOrd="1" destOrd="0" presId="urn:microsoft.com/office/officeart/2005/8/layout/list1"/>
    <dgm:cxn modelId="{6E54B8E2-E404-4414-94C7-6B9748D4AA76}" type="presOf" srcId="{333D17C1-7C4B-4AE8-8AA5-5157063E4C69}" destId="{2A765ED1-E422-46A6-848B-A0ECCD3CDF87}" srcOrd="1" destOrd="0" presId="urn:microsoft.com/office/officeart/2005/8/layout/list1"/>
    <dgm:cxn modelId="{97BE6EAA-4357-4C62-9E1D-D29ACF8FF1B7}" type="presOf" srcId="{8F61D3F7-C543-4F70-A6DF-D14B09CC708E}" destId="{35D84057-C3F4-4A71-BB7C-F8540BE1D296}" srcOrd="0" destOrd="0" presId="urn:microsoft.com/office/officeart/2005/8/layout/list1"/>
    <dgm:cxn modelId="{8BC90827-CC07-4613-B277-18733D4A8826}" srcId="{AF2035AB-03B7-47CE-BFA3-C21B7B8CDE3F}" destId="{DD708444-2D9C-42DA-BB51-4C99C3550035}" srcOrd="2" destOrd="0" parTransId="{92E7F319-0EE0-4E91-9D59-49ABEEEC7D71}" sibTransId="{CB86CDAE-5296-489E-B1F3-A607BE127E9A}"/>
    <dgm:cxn modelId="{EBD55FCE-C2A8-49EA-B704-43868B87312B}" type="presOf" srcId="{333D17C1-7C4B-4AE8-8AA5-5157063E4C69}" destId="{06655409-1CFF-4A30-A4C9-B94950EEC6B2}" srcOrd="0" destOrd="0" presId="urn:microsoft.com/office/officeart/2005/8/layout/list1"/>
    <dgm:cxn modelId="{82AEC34A-6C7B-42A4-BD7E-9CB3897B73CE}" type="presOf" srcId="{DD708444-2D9C-42DA-BB51-4C99C3550035}" destId="{7BD38150-854A-4C70-BEEE-E67E1CC9CE4F}" srcOrd="0" destOrd="0" presId="urn:microsoft.com/office/officeart/2005/8/layout/list1"/>
    <dgm:cxn modelId="{8E162207-F015-44FE-BEBB-3F82F356193E}" type="presOf" srcId="{AF2035AB-03B7-47CE-BFA3-C21B7B8CDE3F}" destId="{E0BB00B6-42BD-4F5D-BBB4-357226645B4A}" srcOrd="0" destOrd="0" presId="urn:microsoft.com/office/officeart/2005/8/layout/list1"/>
    <dgm:cxn modelId="{0D21AF6C-9E98-446F-BD87-60D0C3196B45}" srcId="{AF2035AB-03B7-47CE-BFA3-C21B7B8CDE3F}" destId="{333D17C1-7C4B-4AE8-8AA5-5157063E4C69}" srcOrd="0" destOrd="0" parTransId="{69470F9B-6430-4517-84A6-B29641D46B0A}" sibTransId="{0487CF82-EBE7-47F0-8D83-12F1C44C81AD}"/>
    <dgm:cxn modelId="{C2549315-C647-40F8-8170-D6B75B66745C}" srcId="{AF2035AB-03B7-47CE-BFA3-C21B7B8CDE3F}" destId="{8F61D3F7-C543-4F70-A6DF-D14B09CC708E}" srcOrd="1" destOrd="0" parTransId="{B982676E-6207-4A92-9098-669D352D4309}" sibTransId="{5A95A072-241F-42B1-8E3A-7AD463C8A8EF}"/>
    <dgm:cxn modelId="{1394E36E-348F-466F-8905-541A23B90346}" type="presParOf" srcId="{E0BB00B6-42BD-4F5D-BBB4-357226645B4A}" destId="{1F3BCB4B-D880-42A3-AAC4-0D7201466A7A}" srcOrd="0" destOrd="0" presId="urn:microsoft.com/office/officeart/2005/8/layout/list1"/>
    <dgm:cxn modelId="{D4C7DE64-96D0-4A18-B081-0DD08B1B38B8}" type="presParOf" srcId="{1F3BCB4B-D880-42A3-AAC4-0D7201466A7A}" destId="{06655409-1CFF-4A30-A4C9-B94950EEC6B2}" srcOrd="0" destOrd="0" presId="urn:microsoft.com/office/officeart/2005/8/layout/list1"/>
    <dgm:cxn modelId="{7500F0F3-8C05-4DC7-90A4-8C28C060D58B}" type="presParOf" srcId="{1F3BCB4B-D880-42A3-AAC4-0D7201466A7A}" destId="{2A765ED1-E422-46A6-848B-A0ECCD3CDF87}" srcOrd="1" destOrd="0" presId="urn:microsoft.com/office/officeart/2005/8/layout/list1"/>
    <dgm:cxn modelId="{C9403EB9-E929-416B-9A7A-7649353A423F}" type="presParOf" srcId="{E0BB00B6-42BD-4F5D-BBB4-357226645B4A}" destId="{76D338D9-0D6E-4D58-9C9A-90DC56AC3D12}" srcOrd="1" destOrd="0" presId="urn:microsoft.com/office/officeart/2005/8/layout/list1"/>
    <dgm:cxn modelId="{139B88C5-2827-4303-8098-1839EA75197D}" type="presParOf" srcId="{E0BB00B6-42BD-4F5D-BBB4-357226645B4A}" destId="{45383EAB-96E4-42BB-9989-4ED58978FC1A}" srcOrd="2" destOrd="0" presId="urn:microsoft.com/office/officeart/2005/8/layout/list1"/>
    <dgm:cxn modelId="{3EBF8481-E050-40CA-9BB1-78749E14E42B}" type="presParOf" srcId="{E0BB00B6-42BD-4F5D-BBB4-357226645B4A}" destId="{156E25B8-855F-44B4-9C7D-C3CEA48F1924}" srcOrd="3" destOrd="0" presId="urn:microsoft.com/office/officeart/2005/8/layout/list1"/>
    <dgm:cxn modelId="{9B5A062E-128A-4A71-93E9-97DE1BFFEC5D}" type="presParOf" srcId="{E0BB00B6-42BD-4F5D-BBB4-357226645B4A}" destId="{61CF3495-148C-4A3A-B070-DAB669BAAFB6}" srcOrd="4" destOrd="0" presId="urn:microsoft.com/office/officeart/2005/8/layout/list1"/>
    <dgm:cxn modelId="{F5BEE200-39B6-4B34-94E4-420B4F94A6A6}" type="presParOf" srcId="{61CF3495-148C-4A3A-B070-DAB669BAAFB6}" destId="{35D84057-C3F4-4A71-BB7C-F8540BE1D296}" srcOrd="0" destOrd="0" presId="urn:microsoft.com/office/officeart/2005/8/layout/list1"/>
    <dgm:cxn modelId="{1A403ABA-18E6-4A3F-8203-982D0DB75E7B}" type="presParOf" srcId="{61CF3495-148C-4A3A-B070-DAB669BAAFB6}" destId="{10A260E6-AB7F-48AE-B75A-D27B34DE04C9}" srcOrd="1" destOrd="0" presId="urn:microsoft.com/office/officeart/2005/8/layout/list1"/>
    <dgm:cxn modelId="{B2449870-149C-4DF9-B60D-7097B81B6AD3}" type="presParOf" srcId="{E0BB00B6-42BD-4F5D-BBB4-357226645B4A}" destId="{A4F74A41-666F-4FCA-B2EF-324B08F15DAA}" srcOrd="5" destOrd="0" presId="urn:microsoft.com/office/officeart/2005/8/layout/list1"/>
    <dgm:cxn modelId="{4B3E02B4-E0C2-4FEC-A6F5-B9E498D74B27}" type="presParOf" srcId="{E0BB00B6-42BD-4F5D-BBB4-357226645B4A}" destId="{7B5F1149-5B8F-4404-ACF7-6F1D794975E1}" srcOrd="6" destOrd="0" presId="urn:microsoft.com/office/officeart/2005/8/layout/list1"/>
    <dgm:cxn modelId="{3CF4C66E-12EC-4DEF-B34D-19EAB2DE5381}" type="presParOf" srcId="{E0BB00B6-42BD-4F5D-BBB4-357226645B4A}" destId="{65E1992F-72AE-4090-913C-4D1D0B8992F6}" srcOrd="7" destOrd="0" presId="urn:microsoft.com/office/officeart/2005/8/layout/list1"/>
    <dgm:cxn modelId="{AB844120-A9C3-422D-A8B9-A4B320A6BB2C}" type="presParOf" srcId="{E0BB00B6-42BD-4F5D-BBB4-357226645B4A}" destId="{58E7E3BE-3B52-4B20-9934-D32EAC761D28}" srcOrd="8" destOrd="0" presId="urn:microsoft.com/office/officeart/2005/8/layout/list1"/>
    <dgm:cxn modelId="{63379879-B6EE-44F8-85AD-EDEFC2524A83}" type="presParOf" srcId="{58E7E3BE-3B52-4B20-9934-D32EAC761D28}" destId="{7BD38150-854A-4C70-BEEE-E67E1CC9CE4F}" srcOrd="0" destOrd="0" presId="urn:microsoft.com/office/officeart/2005/8/layout/list1"/>
    <dgm:cxn modelId="{0FA1A130-57CB-4E49-8E54-E93733E1EF21}" type="presParOf" srcId="{58E7E3BE-3B52-4B20-9934-D32EAC761D28}" destId="{2B8B57E0-8B9A-4B65-8A54-CE79A525DDB8}" srcOrd="1" destOrd="0" presId="urn:microsoft.com/office/officeart/2005/8/layout/list1"/>
    <dgm:cxn modelId="{FCDCA7AB-35CF-4500-8DE8-181730176F9A}" type="presParOf" srcId="{E0BB00B6-42BD-4F5D-BBB4-357226645B4A}" destId="{074E3AD6-8429-4394-9344-C56068F73430}" srcOrd="9" destOrd="0" presId="urn:microsoft.com/office/officeart/2005/8/layout/list1"/>
    <dgm:cxn modelId="{C485253E-098F-4DE0-93B5-844BDB2753F8}" type="presParOf" srcId="{E0BB00B6-42BD-4F5D-BBB4-357226645B4A}" destId="{3AA357E1-2384-4C85-B212-3D49CC3FBF59}" srcOrd="10" destOrd="0" presId="urn:microsoft.com/office/officeart/2005/8/layout/list1"/>
  </dgm:cxnLst>
  <dgm:bg/>
  <dgm:whole/>
  <dgm:extLst>
    <a:ext uri="http://schemas.microsoft.com/office/drawing/2008/diagram">
      <dsp:dataModelExt xmlns=""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9438A7-50F8-45B4-A38B-ED0349F2CE5C}" type="datetimeFigureOut">
              <a:rPr lang="en-US" smtClean="0"/>
              <a:pPr/>
              <a:t>6/19/2023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0A7BCE-1D99-4D36-A884-E12A3123668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30025607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A0C066-46C7-4721-9083-8CAD8471F3BE}" type="datetimeFigureOut">
              <a:rPr lang="en-US" smtClean="0"/>
              <a:pPr/>
              <a:t>6/19/2023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489231-2BEB-456E-A758-458444F874E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96145265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732FBC-CC67-4B17-8935-02F23E3364AC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489231-2BEB-456E-A758-458444F874E9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4838889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489231-2BEB-456E-A758-458444F874E9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41940000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457200" y="3699804"/>
            <a:ext cx="8305800" cy="1143000"/>
          </a:xfrm>
        </p:spPr>
        <p:txBody>
          <a:bodyPr>
            <a:noAutofit/>
          </a:bodyPr>
          <a:lstStyle>
            <a:lvl1pPr marL="0" indent="0" algn="ctr">
              <a:buNone/>
              <a:defRPr sz="2200" spc="10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Title 27"/>
          <p:cNvSpPr>
            <a:spLocks noGrp="1"/>
          </p:cNvSpPr>
          <p:nvPr>
            <p:ph type="ctrTitle"/>
          </p:nvPr>
        </p:nvSpPr>
        <p:spPr>
          <a:xfrm>
            <a:off x="457200" y="1433732"/>
            <a:ext cx="8305800" cy="1981200"/>
          </a:xfrm>
          <a:ln w="6350" cap="rnd">
            <a:noFill/>
          </a:ln>
        </p:spPr>
        <p:txBody>
          <a:bodyPr anchor="b" anchorCtr="0">
            <a:noAutofit/>
          </a:bodyPr>
          <a:lstStyle>
            <a:lvl1pPr algn="ctr">
              <a:defRPr lang="en-US" sz="4800" b="0" dirty="0">
                <a:ln w="3200">
                  <a:solidFill>
                    <a:schemeClr val="bg2">
                      <a:shade val="75000"/>
                      <a:alpha val="25000"/>
                    </a:schemeClr>
                  </a:solidFill>
                  <a:prstDash val="solid"/>
                  <a:round/>
                </a:ln>
                <a:solidFill>
                  <a:srgbClr val="F9F9F9"/>
                </a:solidFill>
                <a:effectLst>
                  <a:innerShdw blurRad="50800" dist="25400" dir="13500000">
                    <a:srgbClr val="000000">
                      <a:alpha val="70000"/>
                    </a:srgbClr>
                  </a:inn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1463626" y="3550126"/>
            <a:ext cx="2971800" cy="1588"/>
          </a:xfrm>
          <a:prstGeom prst="line">
            <a:avLst/>
          </a:prstGeom>
          <a:ln w="9525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708574" y="3550126"/>
            <a:ext cx="2971800" cy="1588"/>
          </a:xfrm>
          <a:prstGeom prst="line">
            <a:avLst/>
          </a:prstGeom>
          <a:ln w="9525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4540348" y="3526302"/>
            <a:ext cx="45720" cy="45720"/>
          </a:xfrm>
          <a:prstGeom prst="ellipse">
            <a:avLst/>
          </a:prstGeom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2">
            <a:schemeClr val="accent2"/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5" name="Date Placeholder 1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F419C4-8A9E-4848-B1C3-41275DA7729C}" type="datetime1">
              <a:rPr lang="en-US" smtClean="0"/>
              <a:pPr/>
              <a:t>6/19/2023</a:t>
            </a:fld>
            <a:endParaRPr lang="en-US" dirty="0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CE59D94-4DE0-4C81-B8BE-16B5DB9825E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803D1F23-887A-4A4B-899A-70BB23FC9360}" type="datetime1">
              <a:rPr lang="en-US" smtClean="0"/>
              <a:pPr/>
              <a:t>6/19/2023</a:t>
            </a:fld>
            <a:endParaRPr lang="en-US" dirty="0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 algn="ctr">
              <a:defRPr/>
            </a:lvl1pPr>
          </a:lstStyle>
          <a:p>
            <a:fld id="{0CE59D94-4DE0-4C81-B8BE-16B5DB9825E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7" name="Title 16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91964E-1066-4D27-AF6E-DFA1F14AB030}" type="datetime1">
              <a:rPr lang="en-US" smtClean="0"/>
              <a:pPr/>
              <a:t>6/19/2023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59D94-4DE0-4C81-B8BE-16B5DB9825E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505200"/>
            <a:ext cx="7924800" cy="1371600"/>
          </a:xfrm>
        </p:spPr>
        <p:txBody>
          <a:bodyPr>
            <a:noAutofit/>
          </a:bodyPr>
          <a:lstStyle>
            <a:lvl1pPr algn="l" rtl="0">
              <a:spcBef>
                <a:spcPct val="0"/>
              </a:spcBef>
              <a:buNone/>
              <a:defRPr lang="en-US" sz="4800" b="0" dirty="0">
                <a:ln w="3200">
                  <a:solidFill>
                    <a:schemeClr val="bg2">
                      <a:shade val="25000"/>
                      <a:alpha val="25000"/>
                    </a:schemeClr>
                  </a:solidFill>
                  <a:prstDash val="solid"/>
                  <a:round/>
                </a:ln>
                <a:solidFill>
                  <a:srgbClr val="F9F9F9"/>
                </a:solidFill>
                <a:effectLst>
                  <a:innerShdw blurRad="38100" dist="25400" dir="13500000">
                    <a:prstClr val="black">
                      <a:alpha val="70000"/>
                    </a:prstClr>
                  </a:inn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958864"/>
            <a:ext cx="7924800" cy="984736"/>
          </a:xfrm>
        </p:spPr>
        <p:txBody>
          <a:bodyPr anchor="t"/>
          <a:lstStyle>
            <a:lvl1pPr marL="0" indent="0">
              <a:buNone/>
              <a:defRPr sz="2000" spc="10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cxnSp>
        <p:nvCxnSpPr>
          <p:cNvPr id="7" name="Straight Connector 6"/>
          <p:cNvCxnSpPr/>
          <p:nvPr/>
        </p:nvCxnSpPr>
        <p:spPr>
          <a:xfrm>
            <a:off x="685800" y="4916996"/>
            <a:ext cx="7924800" cy="4301"/>
          </a:xfrm>
          <a:prstGeom prst="line">
            <a:avLst/>
          </a:prstGeom>
          <a:noFill/>
          <a:ln w="9525" cap="flat" cmpd="sng" algn="ctr">
            <a:solidFill>
              <a:srgbClr val="E9E9E8"/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89525-775E-4727-BAE0-04F32965D287}" type="datetime1">
              <a:rPr lang="en-US" smtClean="0"/>
              <a:pPr/>
              <a:t>6/19/2023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59D94-4DE0-4C81-B8BE-16B5DB9825E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half" idx="1"/>
          </p:nvPr>
        </p:nvSpPr>
        <p:spPr>
          <a:xfrm>
            <a:off x="457200" y="1524000"/>
            <a:ext cx="4059936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2"/>
          </p:nvPr>
        </p:nvSpPr>
        <p:spPr>
          <a:xfrm>
            <a:off x="4648200" y="1524000"/>
            <a:ext cx="4059936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59D94-4DE0-4C81-B8BE-16B5DB9825E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BA1DEB-3C47-42FA-95EE-5D8E7841F2BE}" type="datetime1">
              <a:rPr lang="en-US" smtClean="0"/>
              <a:pPr/>
              <a:t>6/19/2023</a:t>
            </a:fld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399593"/>
            <a:ext cx="4040188" cy="762000"/>
          </a:xfrm>
          <a:noFill/>
          <a:ln w="25400" cap="rnd" cmpd="sng" algn="ctr">
            <a:noFill/>
            <a:prstDash val="solid"/>
          </a:ln>
          <a:effectLst>
            <a:softEdge rad="63500"/>
          </a:effectLst>
          <a:sp3d prstMaterial="flat"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91440" tIns="45720" rIns="91440" bIns="4572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2600" b="1">
                <a:solidFill>
                  <a:schemeClr val="tx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32" name="Content Placeholder 31"/>
          <p:cNvSpPr>
            <a:spLocks noGrp="1"/>
          </p:cNvSpPr>
          <p:nvPr>
            <p:ph sz="half" idx="2"/>
          </p:nvPr>
        </p:nvSpPr>
        <p:spPr>
          <a:xfrm>
            <a:off x="457200" y="2201896"/>
            <a:ext cx="4038600" cy="391363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34" name="Content Placeholder 33"/>
          <p:cNvSpPr>
            <a:spLocks noGrp="1"/>
          </p:cNvSpPr>
          <p:nvPr>
            <p:ph sz="quarter" idx="4"/>
          </p:nvPr>
        </p:nvSpPr>
        <p:spPr>
          <a:xfrm>
            <a:off x="4649788" y="2201896"/>
            <a:ext cx="4038600" cy="391363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5448"/>
            <a:ext cx="82296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idx="3"/>
          </p:nvPr>
        </p:nvSpPr>
        <p:spPr>
          <a:xfrm>
            <a:off x="4648200" y="1399593"/>
            <a:ext cx="4040188" cy="762000"/>
          </a:xfrm>
          <a:noFill/>
          <a:ln w="25400" cap="rnd" cmpd="sng" algn="ctr">
            <a:noFill/>
            <a:prstDash val="solid"/>
          </a:ln>
          <a:effectLst>
            <a:softEdge rad="63500"/>
          </a:effectLst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91440" tIns="45720" rIns="91440" bIns="4572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2600" b="1" baseline="0">
                <a:solidFill>
                  <a:schemeClr val="tx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cxnSp>
        <p:nvCxnSpPr>
          <p:cNvPr id="10" name="Straight Connector 9"/>
          <p:cNvCxnSpPr/>
          <p:nvPr/>
        </p:nvCxnSpPr>
        <p:spPr>
          <a:xfrm>
            <a:off x="562945" y="2180219"/>
            <a:ext cx="3749040" cy="1588"/>
          </a:xfrm>
          <a:prstGeom prst="line">
            <a:avLst/>
          </a:prstGeom>
          <a:noFill/>
          <a:ln w="12700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4925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4754880" y="2180219"/>
            <a:ext cx="3749040" cy="1588"/>
          </a:xfrm>
          <a:prstGeom prst="line">
            <a:avLst/>
          </a:prstGeom>
          <a:noFill/>
          <a:ln w="12700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4925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586DC-4C75-4E6F-BC04-369551928520}" type="datetime1">
              <a:rPr lang="en-US" smtClean="0"/>
              <a:pPr/>
              <a:t>6/19/2023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59D94-4DE0-4C81-B8BE-16B5DB9825E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7A90E-D532-463A-8DFF-1C998E0EFB7B}" type="datetime1">
              <a:rPr lang="en-US" smtClean="0"/>
              <a:pPr/>
              <a:t>6/19/2023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59D94-4DE0-4C81-B8BE-16B5DB9825E0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Content Placeholder 28"/>
          <p:cNvSpPr>
            <a:spLocks noGrp="1"/>
          </p:cNvSpPr>
          <p:nvPr>
            <p:ph sz="quarter" idx="1"/>
          </p:nvPr>
        </p:nvSpPr>
        <p:spPr>
          <a:xfrm>
            <a:off x="457200" y="457200"/>
            <a:ext cx="6248400" cy="5715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781800" y="1600200"/>
            <a:ext cx="1984248" cy="3733800"/>
          </a:xfrm>
        </p:spPr>
        <p:txBody>
          <a:bodyPr tIns="45720" bIns="45720" anchor="t" anchorCtr="0"/>
          <a:lstStyle>
            <a:lvl1pPr marL="0" indent="0">
              <a:lnSpc>
                <a:spcPct val="1250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31" name="Title 30"/>
          <p:cNvSpPr>
            <a:spLocks noGrp="1"/>
          </p:cNvSpPr>
          <p:nvPr>
            <p:ph type="title"/>
          </p:nvPr>
        </p:nvSpPr>
        <p:spPr>
          <a:xfrm>
            <a:off x="6781800" y="457200"/>
            <a:ext cx="1981200" cy="1066800"/>
          </a:xfrm>
        </p:spPr>
        <p:txBody>
          <a:bodyPr lIns="91440" tIns="91440" anchor="b" anchorCtr="0"/>
          <a:lstStyle>
            <a:lvl1pPr algn="l">
              <a:buNone/>
              <a:defRPr sz="1800" b="1" spc="-50" baseline="0">
                <a:ln w="3175"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59A0A28-8637-4426-B426-244F27A73AF8}" type="datetime1">
              <a:rPr lang="en-US" smtClean="0"/>
              <a:pPr/>
              <a:t>6/19/2023</a:t>
            </a:fld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0CE59D94-4DE0-4C81-B8BE-16B5DB9825E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29400" y="457200"/>
            <a:ext cx="2057400" cy="1066800"/>
          </a:xfrm>
        </p:spPr>
        <p:txBody>
          <a:bodyPr lIns="91440" tIns="91440" anchor="b" anchorCtr="0"/>
          <a:lstStyle>
            <a:lvl1pPr algn="l">
              <a:buNone/>
              <a:defRPr sz="1800" b="1" spc="-50" baseline="0">
                <a:ln w="3175"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457200"/>
            <a:ext cx="6019800" cy="5562600"/>
          </a:xfrm>
          <a:solidFill>
            <a:schemeClr val="tx2">
              <a:tint val="40000"/>
            </a:schemeClr>
          </a:solidFill>
          <a:effectLst>
            <a:outerShdw blurRad="88900" sx="103000" sy="103000" algn="ctr" rotWithShape="0">
              <a:prstClr val="black">
                <a:alpha val="32000"/>
              </a:prstClr>
            </a:outerShdw>
            <a:softEdge rad="127000"/>
          </a:effectLst>
        </p:spPr>
        <p:txBody>
          <a:bodyPr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</a:lstStyle>
          <a:p>
            <a:r>
              <a:rPr kumimoji="0" lang="en-US" dirty="0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29400" y="1600200"/>
            <a:ext cx="2057400" cy="4419600"/>
          </a:xfrm>
        </p:spPr>
        <p:txBody>
          <a:bodyPr anchor="t" anchorCtr="0"/>
          <a:lstStyle>
            <a:lvl1pPr marL="0" indent="0">
              <a:lnSpc>
                <a:spcPct val="125000"/>
              </a:lnSpc>
              <a:spcAft>
                <a:spcPts val="1000"/>
              </a:spcAft>
              <a:buFontTx/>
              <a:buNone/>
              <a:defRPr sz="1600" b="0">
                <a:solidFill>
                  <a:schemeClr val="tx2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0653B-4270-448E-9D80-28A152DA61EB}" type="datetime1">
              <a:rPr lang="en-US" smtClean="0"/>
              <a:pPr/>
              <a:t>6/19/2023</a:t>
            </a:fld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CE59D94-4DE0-4C81-B8BE-16B5DB9825E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E93277-5DB7-4ADE-B3D9-FD3FB97B390B}" type="datetime1">
              <a:rPr lang="en-US" smtClean="0"/>
              <a:pPr/>
              <a:t>6/19/2023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59D94-4DE0-4C81-B8BE-16B5DB9825E0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2"/>
            <a:ext cx="2057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2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DAA86-7D09-42FB-8EFA-9416A5CE5D3F}" type="datetime1">
              <a:rPr lang="en-US" smtClean="0"/>
              <a:pPr/>
              <a:t>6/19/2023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59D94-4DE0-4C81-B8BE-16B5DB9825E0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PRINCIPLES OF ELECTRONICS LAB (20ECP170)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210169148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8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400" b="1"/>
            </a:lvl1pPr>
          </a:lstStyle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PRINCIPLES OF ELECTRONICS LAB (20ECP170)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19452670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43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8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PRINCIPLES OF ELECTRONICS LAB (20ECP170)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9618225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PRINCIPLES OF ELECTRONICS LAB (20ECP170)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348311112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9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2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2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PRINCIPLES OF ELECTRONICS LAB (20ECP170)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397467832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PRINCIPLES OF ELECTRONICS LAB (20ECP170)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132165726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PRINCIPLES OF ELECTRONICS LAB (20ECP170)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301164935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30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PRINCIPLES OF ELECTRONICS LAB (20ECP170)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225498258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30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PRINCIPLES OF ELECTRONICS LAB (20ECP170)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252322800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PRINCIPLES OF ELECTRONICS LAB (20ECP170)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38886379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2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PRINCIPLES OF ELECTRONICS LAB (20ECP170)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148730178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1"/>
          <p:cNvSpPr/>
          <p:nvPr userDrawn="1"/>
        </p:nvSpPr>
        <p:spPr>
          <a:xfrm>
            <a:off x="-14288" y="1905000"/>
            <a:ext cx="9158288" cy="4953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 dirty="0">
              <a:solidFill>
                <a:prstClr val="white"/>
              </a:solidFill>
            </a:endParaRPr>
          </a:p>
        </p:txBody>
      </p:sp>
      <p:sp>
        <p:nvSpPr>
          <p:cNvPr id="4" name="Прямоугольник 8"/>
          <p:cNvSpPr/>
          <p:nvPr userDrawn="1"/>
        </p:nvSpPr>
        <p:spPr>
          <a:xfrm>
            <a:off x="-14288" y="0"/>
            <a:ext cx="9158288" cy="4438650"/>
          </a:xfrm>
          <a:custGeom>
            <a:avLst/>
            <a:gdLst>
              <a:gd name="connsiteX0" fmla="*/ 0 w 12192000"/>
              <a:gd name="connsiteY0" fmla="*/ 0 h 4133850"/>
              <a:gd name="connsiteX1" fmla="*/ 12192000 w 12192000"/>
              <a:gd name="connsiteY1" fmla="*/ 0 h 4133850"/>
              <a:gd name="connsiteX2" fmla="*/ 12192000 w 12192000"/>
              <a:gd name="connsiteY2" fmla="*/ 4133850 h 4133850"/>
              <a:gd name="connsiteX3" fmla="*/ 0 w 12192000"/>
              <a:gd name="connsiteY3" fmla="*/ 4133850 h 4133850"/>
              <a:gd name="connsiteX4" fmla="*/ 0 w 12192000"/>
              <a:gd name="connsiteY4" fmla="*/ 0 h 4133850"/>
              <a:gd name="connsiteX0" fmla="*/ 19050 w 12211050"/>
              <a:gd name="connsiteY0" fmla="*/ 0 h 4133850"/>
              <a:gd name="connsiteX1" fmla="*/ 12211050 w 12211050"/>
              <a:gd name="connsiteY1" fmla="*/ 0 h 4133850"/>
              <a:gd name="connsiteX2" fmla="*/ 12211050 w 12211050"/>
              <a:gd name="connsiteY2" fmla="*/ 4133850 h 4133850"/>
              <a:gd name="connsiteX3" fmla="*/ 0 w 12211050"/>
              <a:gd name="connsiteY3" fmla="*/ 3219450 h 4133850"/>
              <a:gd name="connsiteX4" fmla="*/ 19050 w 12211050"/>
              <a:gd name="connsiteY4" fmla="*/ 0 h 4133850"/>
              <a:gd name="connsiteX0" fmla="*/ 19050 w 12211050"/>
              <a:gd name="connsiteY0" fmla="*/ 0 h 4438650"/>
              <a:gd name="connsiteX1" fmla="*/ 12211050 w 12211050"/>
              <a:gd name="connsiteY1" fmla="*/ 0 h 4438650"/>
              <a:gd name="connsiteX2" fmla="*/ 12211050 w 12211050"/>
              <a:gd name="connsiteY2" fmla="*/ 4438650 h 4438650"/>
              <a:gd name="connsiteX3" fmla="*/ 0 w 12211050"/>
              <a:gd name="connsiteY3" fmla="*/ 3219450 h 4438650"/>
              <a:gd name="connsiteX4" fmla="*/ 19050 w 12211050"/>
              <a:gd name="connsiteY4" fmla="*/ 0 h 4438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11050" h="4438650">
                <a:moveTo>
                  <a:pt x="19050" y="0"/>
                </a:moveTo>
                <a:lnTo>
                  <a:pt x="12211050" y="0"/>
                </a:lnTo>
                <a:lnTo>
                  <a:pt x="12211050" y="4438650"/>
                </a:lnTo>
                <a:lnTo>
                  <a:pt x="0" y="3219450"/>
                </a:lnTo>
                <a:lnTo>
                  <a:pt x="19050" y="0"/>
                </a:lnTo>
                <a:close/>
              </a:path>
            </a:pathLst>
          </a:cu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 dirty="0">
              <a:solidFill>
                <a:prstClr val="white"/>
              </a:solidFill>
            </a:endParaRPr>
          </a:p>
        </p:txBody>
      </p:sp>
      <p:sp>
        <p:nvSpPr>
          <p:cNvPr id="5" name="Прямоугольник 3"/>
          <p:cNvSpPr/>
          <p:nvPr userDrawn="1"/>
        </p:nvSpPr>
        <p:spPr>
          <a:xfrm>
            <a:off x="814388" y="1009650"/>
            <a:ext cx="7515225" cy="5238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 dirty="0">
              <a:solidFill>
                <a:prstClr val="white"/>
              </a:solidFill>
            </a:endParaRPr>
          </a:p>
        </p:txBody>
      </p:sp>
      <p:sp>
        <p:nvSpPr>
          <p:cNvPr id="8" name="Рисунок 7"/>
          <p:cNvSpPr>
            <a:spLocks noGrp="1"/>
          </p:cNvSpPr>
          <p:nvPr>
            <p:ph type="pic" sz="quarter" idx="10"/>
          </p:nvPr>
        </p:nvSpPr>
        <p:spPr>
          <a:xfrm>
            <a:off x="1385888" y="2819400"/>
            <a:ext cx="6372225" cy="2800350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="" xmlns:p14="http://schemas.microsoft.com/office/powerpoint/2010/main" val="316715931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B3ACE-D620-4EC3-88A7-3E317E64F19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6/19/2023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A48AB-23F1-45F1-98E5-D2CDC7A5261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27262451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457200" y="1447800"/>
            <a:ext cx="8229600" cy="46783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5791200" y="6203667"/>
            <a:ext cx="2590800" cy="384048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5DC26664-1FCE-4036-B548-E8BB6EA85A6F}" type="datetime1">
              <a:rPr lang="en-US" smtClean="0"/>
              <a:pPr/>
              <a:t>6/19/2023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2133600" y="6203667"/>
            <a:ext cx="358140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410575" y="6181531"/>
            <a:ext cx="609600" cy="457200"/>
          </a:xfrm>
          <a:prstGeom prst="rect">
            <a:avLst/>
          </a:prstGeom>
          <a:noFill/>
        </p:spPr>
        <p:txBody>
          <a:bodyPr vert="horz" lIns="0" tIns="0" rIns="0" bIns="0" anchor="ctr" anchorCtr="0">
            <a:noAutofit/>
          </a:bodyPr>
          <a:lstStyle>
            <a:lvl1pPr algn="ctr" eaLnBrk="1" latinLnBrk="0" hangingPunct="1">
              <a:defRPr kumimoji="0" sz="1600" baseline="0">
                <a:solidFill>
                  <a:schemeClr val="tx2"/>
                </a:solidFill>
              </a:defRPr>
            </a:lvl1pPr>
          </a:lstStyle>
          <a:p>
            <a:fld id="{0CE59D94-4DE0-4C81-B8BE-16B5DB9825E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219200"/>
          </a:xfrm>
          <a:prstGeom prst="rect">
            <a:avLst/>
          </a:prstGeom>
          <a:ln w="6350" cap="rnd">
            <a:noFill/>
          </a:ln>
        </p:spPr>
        <p:txBody>
          <a:bodyPr vert="horz" anchor="b" anchorCtr="0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lang="en-US" sz="4200" b="0" kern="1200" spc="-100" baseline="0" dirty="0">
          <a:ln w="3200">
            <a:solidFill>
              <a:schemeClr val="bg2">
                <a:shade val="75000"/>
                <a:alpha val="25000"/>
              </a:schemeClr>
            </a:solidFill>
            <a:prstDash val="solid"/>
            <a:round/>
          </a:ln>
          <a:solidFill>
            <a:srgbClr val="F9F9F9"/>
          </a:solidFill>
          <a:effectLst>
            <a:innerShdw blurRad="50800" dist="25400" dir="13500000">
              <a:prstClr val="black">
                <a:alpha val="70000"/>
              </a:prstClr>
            </a:innerShdw>
          </a:effectLst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2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300"/>
        </a:spcBef>
        <a:buClr>
          <a:schemeClr val="accent2">
            <a:shade val="75000"/>
          </a:schemeClr>
        </a:buClr>
        <a:buSzPct val="85000"/>
        <a:buFont typeface="Wingdings 2"/>
        <a:buChar char=""/>
        <a:defRPr kumimoji="0" sz="2400" kern="1200">
          <a:solidFill>
            <a:schemeClr val="tx2"/>
          </a:solidFill>
          <a:latin typeface="+mn-lt"/>
          <a:ea typeface="+mn-ea"/>
          <a:cs typeface="+mn-cs"/>
        </a:defRPr>
      </a:lvl2pPr>
      <a:lvl3pPr marL="1005840" indent="-228600" algn="l" rtl="0" eaLnBrk="1" latinLnBrk="0" hangingPunct="1">
        <a:spcBef>
          <a:spcPts val="300"/>
        </a:spcBef>
        <a:buClr>
          <a:schemeClr val="accent2">
            <a:shade val="50000"/>
          </a:schemeClr>
        </a:buClr>
        <a:buSzPct val="85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rtl="0" eaLnBrk="1" latinLnBrk="0" hangingPunct="1">
        <a:spcBef>
          <a:spcPts val="30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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800" indent="-22860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5" cstate="print">
            <a:lum/>
          </a:blip>
          <a:srcRect/>
          <a:stretch>
            <a:fillRect l="1000" t="-1000" r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9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5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5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PRINCIPLES OF ELECTRONICS LAB (20ECP170)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5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CDBBEF-AA6C-4BA6-85B2-A17D7F280E3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13136941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1.vml"/><Relationship Id="rId6" Type="http://schemas.microsoft.com/office/2007/relationships/hdphoto" Target="../media/hdphoto1.wdp"/><Relationship Id="rId5" Type="http://schemas.openxmlformats.org/officeDocument/2006/relationships/image" Target="../media/image5.png"/><Relationship Id="rId4" Type="http://schemas.openxmlformats.org/officeDocument/2006/relationships/oleObject" Target="../embeddings/oleObject1.bin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library.automationdirect.com/basic-electrical-theory/" TargetMode="External"/><Relationship Id="rId2" Type="http://schemas.openxmlformats.org/officeDocument/2006/relationships/slideLayout" Target="../slideLayouts/slideLayout19.xml"/><Relationship Id="rId1" Type="http://schemas.openxmlformats.org/officeDocument/2006/relationships/tags" Target="../tags/tag1.xml"/><Relationship Id="rId4" Type="http://schemas.openxmlformats.org/officeDocument/2006/relationships/image" Target="../media/image6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library.automationdirect.com/basic-electrical-theory/" TargetMode="External"/><Relationship Id="rId2" Type="http://schemas.openxmlformats.org/officeDocument/2006/relationships/slideLayout" Target="../slideLayouts/slideLayout19.xml"/><Relationship Id="rId1" Type="http://schemas.openxmlformats.org/officeDocument/2006/relationships/tags" Target="../tags/tag2.xml"/><Relationship Id="rId4" Type="http://schemas.openxmlformats.org/officeDocument/2006/relationships/image" Target="../media/image7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6.gif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gif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microsoft.com/office/2007/relationships/diagramDrawing" Target="../diagrams/drawing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mazon.in/dp/8126517026/ref=cm_sw_r_em_apa_i_vkT8EbV0892MJ" TargetMode="External"/><Relationship Id="rId2" Type="http://schemas.openxmlformats.org/officeDocument/2006/relationships/hyperlink" Target="https://www.amazon.in/dp/8126556757/ref=cm_sw_r_em_apa_i_gMS8Eb61QD3EW" TargetMode="Externa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hyperlink" Target="https://youtu.be/YiDs8ZnpVD4" TargetMode="External"/><Relationship Id="rId4" Type="http://schemas.openxmlformats.org/officeDocument/2006/relationships/hyperlink" Target="https://youtu.be/4SlfaocMfdA" TargetMode="Externa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/>
          <p:cNvSpPr/>
          <p:nvPr/>
        </p:nvSpPr>
        <p:spPr>
          <a:xfrm>
            <a:off x="-3316" y="5427348"/>
            <a:ext cx="9147315" cy="15185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226651" y="5901992"/>
            <a:ext cx="34289" cy="613881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Slide Number Placeholder 2"/>
          <p:cNvSpPr txBox="1">
            <a:spLocks/>
          </p:cNvSpPr>
          <p:nvPr/>
        </p:nvSpPr>
        <p:spPr>
          <a:xfrm>
            <a:off x="6572250" y="6508757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46" name="Right Triangle 45">
            <a:extLst>
              <a:ext uri="{FF2B5EF4-FFF2-40B4-BE49-F238E27FC236}">
                <a16:creationId xmlns="" xmlns:a16="http://schemas.microsoft.com/office/drawing/2014/main" id="{0983CA01-DED8-4A8A-82CA-5B1BE1DADB0C}"/>
              </a:ext>
            </a:extLst>
          </p:cNvPr>
          <p:cNvSpPr/>
          <p:nvPr/>
        </p:nvSpPr>
        <p:spPr>
          <a:xfrm flipV="1">
            <a:off x="7130144" y="5939880"/>
            <a:ext cx="968829" cy="1157606"/>
          </a:xfrm>
          <a:prstGeom prst="rtTriangle">
            <a:avLst/>
          </a:prstGeom>
          <a:solidFill>
            <a:srgbClr val="FFFFFF">
              <a:lumMod val="95000"/>
              <a:alpha val="1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</a:endParaRPr>
          </a:p>
        </p:txBody>
      </p:sp>
      <p:graphicFrame>
        <p:nvGraphicFramePr>
          <p:cNvPr id="48" name="Object 47">
            <a:extLst>
              <a:ext uri="{FF2B5EF4-FFF2-40B4-BE49-F238E27FC236}">
                <a16:creationId xmlns="" xmlns:a16="http://schemas.microsoft.com/office/drawing/2014/main" id="{CAD0D7B8-E462-453C-B296-CA0154FA54A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689304721"/>
              </p:ext>
            </p:extLst>
          </p:nvPr>
        </p:nvGraphicFramePr>
        <p:xfrm>
          <a:off x="371107" y="4023363"/>
          <a:ext cx="1973357" cy="2507676"/>
        </p:xfrm>
        <a:graphic>
          <a:graphicData uri="http://schemas.openxmlformats.org/presentationml/2006/ole">
            <p:oleObj spid="_x0000_s17410" name="CorelDRAW" r:id="rId4" imgW="2169000" imgH="2169360" progId="">
              <p:embed/>
            </p:oleObj>
          </a:graphicData>
        </a:graphic>
      </p:graphicFrame>
      <p:sp>
        <p:nvSpPr>
          <p:cNvPr id="37" name="Right Triangle 36">
            <a:extLst>
              <a:ext uri="{FF2B5EF4-FFF2-40B4-BE49-F238E27FC236}">
                <a16:creationId xmlns="" xmlns:a16="http://schemas.microsoft.com/office/drawing/2014/main" id="{0983CA01-DED8-4A8A-82CA-5B1BE1DADB0C}"/>
              </a:ext>
            </a:extLst>
          </p:cNvPr>
          <p:cNvSpPr/>
          <p:nvPr/>
        </p:nvSpPr>
        <p:spPr>
          <a:xfrm flipH="1">
            <a:off x="5284078" y="-64960"/>
            <a:ext cx="3859922" cy="5852440"/>
          </a:xfrm>
          <a:prstGeom prst="rtTriangle">
            <a:avLst/>
          </a:prstGeom>
          <a:solidFill>
            <a:srgbClr val="FFFFFF">
              <a:lumMod val="95000"/>
              <a:alpha val="1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1593059" y="2025532"/>
            <a:ext cx="5122069" cy="1580679"/>
          </a:xfrm>
          <a:prstGeom prst="rect">
            <a:avLst/>
          </a:prstGeom>
          <a:gradFill flip="none" rotWithShape="1">
            <a:gsLst>
              <a:gs pos="15000">
                <a:srgbClr val="FFFFFF">
                  <a:alpha val="34000"/>
                </a:srgbClr>
              </a:gs>
              <a:gs pos="94000">
                <a:srgbClr val="FFFFFF">
                  <a:alpha val="34000"/>
                </a:srgbClr>
              </a:gs>
              <a:gs pos="2655">
                <a:schemeClr val="bg1">
                  <a:alpha val="0"/>
                </a:schemeClr>
              </a:gs>
              <a:gs pos="51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" name="Picture 29"/>
          <p:cNvPicPr>
            <a:picLocks noChangeAspect="1"/>
          </p:cNvPicPr>
          <p:nvPr/>
        </p:nvPicPr>
        <p:blipFill>
          <a:blip r:embed="rId5" cstate="print">
            <a:extLst>
              <a:ext uri="{BEBA8EAE-BF5A-486C-A8C5-ECC9F3942E4B}">
                <a14:imgProps xmlns:a14="http://schemas.microsoft.com/office/drawing/2010/main" xmlns="">
                  <a14:imgLayer r:embed="rId6">
                    <a14:imgEffect>
                      <a14:colorTemperature colorTemp="5742"/>
                    </a14:imgEffect>
                    <a14:imgEffect>
                      <a14:saturation sat="238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9081" y="24501"/>
            <a:ext cx="2894815" cy="1538254"/>
          </a:xfrm>
          <a:prstGeom prst="rect">
            <a:avLst/>
          </a:prstGeom>
        </p:spPr>
      </p:pic>
      <p:sp>
        <p:nvSpPr>
          <p:cNvPr id="43" name="Right Triangle 42"/>
          <p:cNvSpPr/>
          <p:nvPr/>
        </p:nvSpPr>
        <p:spPr>
          <a:xfrm rot="10800000" flipV="1">
            <a:off x="7372351" y="5334006"/>
            <a:ext cx="1774967" cy="1600201"/>
          </a:xfrm>
          <a:prstGeom prst="rtTriangl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/>
          <p:cNvSpPr txBox="1">
            <a:spLocks noChangeArrowheads="1"/>
          </p:cNvSpPr>
          <p:nvPr/>
        </p:nvSpPr>
        <p:spPr bwMode="auto">
          <a:xfrm>
            <a:off x="5161019" y="6019567"/>
            <a:ext cx="3696456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/>
            <a:r>
              <a:rPr lang="en-US" sz="20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DISCOVER . </a:t>
            </a:r>
            <a:r>
              <a:rPr lang="en-US" sz="2000" b="1" dirty="0">
                <a:solidFill>
                  <a:srgbClr val="C00000"/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LEARN</a:t>
            </a:r>
            <a:r>
              <a:rPr lang="en-US" sz="20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 . EMPOWER</a:t>
            </a:r>
            <a:endParaRPr lang="en-US" sz="1200" b="1" dirty="0">
              <a:solidFill>
                <a:prstClr val="black"/>
              </a:solidFill>
              <a:latin typeface="Casper" panose="02000506000000020004" pitchFamily="2" charset="0"/>
            </a:endParaRPr>
          </a:p>
          <a:p>
            <a:pPr eaLnBrk="1" hangingPunct="1"/>
            <a:endParaRPr lang="en-US" sz="1600" b="1" dirty="0">
              <a:latin typeface="Casper" panose="02000506000000020004" pitchFamily="2" charset="0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5164339" y="6043646"/>
            <a:ext cx="34289" cy="3706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/>
          <p:cNvSpPr txBox="1">
            <a:spLocks noChangeArrowheads="1"/>
          </p:cNvSpPr>
          <p:nvPr/>
        </p:nvSpPr>
        <p:spPr bwMode="auto">
          <a:xfrm>
            <a:off x="571473" y="1214427"/>
            <a:ext cx="8072494" cy="52629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400" b="1" dirty="0" smtClean="0">
                <a:latin typeface="Times New Roman" pitchFamily="18" charset="0"/>
                <a:ea typeface="Karla" pitchFamily="2" charset="0"/>
                <a:cs typeface="Times New Roman" pitchFamily="18" charset="0"/>
              </a:rPr>
              <a:t>INSTITUTE UIE </a:t>
            </a:r>
            <a:endParaRPr lang="en-US" sz="2400" b="1" dirty="0">
              <a:latin typeface="Times New Roman" pitchFamily="18" charset="0"/>
              <a:ea typeface="Karla" pitchFamily="2" charset="0"/>
              <a:cs typeface="Times New Roman" pitchFamily="18" charset="0"/>
            </a:endParaRP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400" b="1" dirty="0">
                <a:latin typeface="Times New Roman" pitchFamily="18" charset="0"/>
                <a:ea typeface="Karla" pitchFamily="2" charset="0"/>
                <a:cs typeface="Times New Roman" pitchFamily="18" charset="0"/>
              </a:rPr>
              <a:t>DEPARTMENT ACADEMIC </a:t>
            </a:r>
            <a:r>
              <a:rPr lang="en-US" sz="2400" b="1" dirty="0" smtClean="0">
                <a:latin typeface="Times New Roman" pitchFamily="18" charset="0"/>
                <a:ea typeface="Karla" pitchFamily="2" charset="0"/>
                <a:cs typeface="Times New Roman" pitchFamily="18" charset="0"/>
              </a:rPr>
              <a:t>UNIT-1 </a:t>
            </a:r>
            <a:endParaRPr lang="en-US" sz="2400" b="1" dirty="0">
              <a:latin typeface="Times New Roman" pitchFamily="18" charset="0"/>
              <a:ea typeface="Karla" pitchFamily="2" charset="0"/>
              <a:cs typeface="Times New Roman" pitchFamily="18" charset="0"/>
            </a:endParaRP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400" dirty="0" smtClean="0">
                <a:latin typeface="Times New Roman" pitchFamily="18" charset="0"/>
                <a:ea typeface="Calibri" panose="020F0502020204030204" pitchFamily="34" charset="0"/>
                <a:cs typeface="Times New Roman" pitchFamily="18" charset="0"/>
              </a:rPr>
              <a:t>Bachelor </a:t>
            </a:r>
            <a:r>
              <a:rPr lang="en-US" sz="2400" dirty="0">
                <a:latin typeface="Times New Roman" pitchFamily="18" charset="0"/>
                <a:ea typeface="Calibri" panose="020F0502020204030204" pitchFamily="34" charset="0"/>
                <a:cs typeface="Times New Roman" pitchFamily="18" charset="0"/>
              </a:rPr>
              <a:t>of </a:t>
            </a:r>
            <a:r>
              <a:rPr lang="en-US" sz="2400" dirty="0" smtClean="0">
                <a:latin typeface="Times New Roman" pitchFamily="18" charset="0"/>
                <a:ea typeface="Calibri" panose="020F0502020204030204" pitchFamily="34" charset="0"/>
                <a:cs typeface="Times New Roman" pitchFamily="18" charset="0"/>
              </a:rPr>
              <a:t>Engineering (Computer Science &amp; Engineering) 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400" dirty="0" smtClean="0">
                <a:latin typeface="Times New Roman" pitchFamily="18" charset="0"/>
                <a:ea typeface="Calibri" panose="020F0502020204030204" pitchFamily="34" charset="0"/>
                <a:cs typeface="Times New Roman" pitchFamily="18" charset="0"/>
              </a:rPr>
              <a:t>Subject Name Semi Conductor Physics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400" dirty="0" smtClean="0">
                <a:latin typeface="Times New Roman" pitchFamily="18" charset="0"/>
                <a:ea typeface="Calibri" panose="020F0502020204030204" pitchFamily="34" charset="0"/>
                <a:cs typeface="Times New Roman" pitchFamily="18" charset="0"/>
              </a:rPr>
              <a:t>Subject Code 23SPH-143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400" dirty="0" smtClean="0">
                <a:latin typeface="Times New Roman" pitchFamily="18" charset="0"/>
                <a:ea typeface="Calibri" panose="020F0502020204030204" pitchFamily="34" charset="0"/>
                <a:cs typeface="Times New Roman" pitchFamily="18" charset="0"/>
              </a:rPr>
              <a:t>Prepared By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400" dirty="0" err="1" smtClean="0">
                <a:latin typeface="Times New Roman" pitchFamily="18" charset="0"/>
                <a:ea typeface="Calibri" panose="020F0502020204030204" pitchFamily="34" charset="0"/>
                <a:cs typeface="Times New Roman" pitchFamily="18" charset="0"/>
              </a:rPr>
              <a:t>Navjeet</a:t>
            </a:r>
            <a:r>
              <a:rPr lang="en-US" sz="2400" dirty="0" smtClean="0">
                <a:latin typeface="Times New Roman" pitchFamily="18" charset="0"/>
                <a:ea typeface="Calibri" panose="020F0502020204030204" pitchFamily="34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Times New Roman" pitchFamily="18" charset="0"/>
                <a:ea typeface="Calibri" panose="020F0502020204030204" pitchFamily="34" charset="0"/>
                <a:cs typeface="Times New Roman" pitchFamily="18" charset="0"/>
              </a:rPr>
              <a:t>Kaur</a:t>
            </a:r>
            <a:endParaRPr lang="en-US" sz="2400" dirty="0" smtClean="0">
              <a:latin typeface="Times New Roman" pitchFamily="18" charset="0"/>
              <a:ea typeface="Calibri" panose="020F0502020204030204" pitchFamily="34" charset="0"/>
              <a:cs typeface="Times New Roman" pitchFamily="18" charset="0"/>
            </a:endParaRP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400" dirty="0" smtClean="0">
                <a:latin typeface="Times New Roman" pitchFamily="18" charset="0"/>
                <a:ea typeface="Calibri" panose="020F0502020204030204" pitchFamily="34" charset="0"/>
                <a:cs typeface="Times New Roman" pitchFamily="18" charset="0"/>
              </a:rPr>
              <a:t>Lecture-1.1.3</a:t>
            </a:r>
            <a:endParaRPr lang="en-US" sz="2400" dirty="0" smtClean="0">
              <a:latin typeface="Times New Roman" pitchFamily="18" charset="0"/>
              <a:ea typeface="Calibri" panose="020F0502020204030204" pitchFamily="34" charset="0"/>
              <a:cs typeface="Times New Roman" pitchFamily="18" charset="0"/>
            </a:endParaRP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400" dirty="0" err="1" smtClean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Baising</a:t>
            </a:r>
            <a:r>
              <a:rPr lang="en-US" sz="240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of P-N Junction</a:t>
            </a:r>
            <a:endParaRPr lang="en-US" sz="2400" dirty="0">
              <a:solidFill>
                <a:prstClr val="black">
                  <a:lumMod val="85000"/>
                  <a:lumOff val="15000"/>
                </a:prst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3200" b="1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		</a:t>
            </a:r>
            <a:endParaRPr lang="en-US" sz="3200" b="1" dirty="0">
              <a:solidFill>
                <a:prstClr val="black">
                  <a:lumMod val="85000"/>
                  <a:lumOff val="15000"/>
                </a:prst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endParaRPr lang="en-US" sz="1600" dirty="0">
              <a:latin typeface="Raleway ExtraBold" pitchFamily="34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4565021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629400" y="6356353"/>
            <a:ext cx="2057400" cy="365125"/>
          </a:xfrm>
        </p:spPr>
        <p:txBody>
          <a:bodyPr/>
          <a:lstStyle/>
          <a:p>
            <a:fld id="{BDCDBBEF-AA6C-4BA6-85B2-A17D7F280E38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8" name="Title 7"/>
          <p:cNvSpPr txBox="1">
            <a:spLocks noGrp="1" noChangeArrowheads="1"/>
          </p:cNvSpPr>
          <p:nvPr>
            <p:ph type="title"/>
          </p:nvPr>
        </p:nvSpPr>
        <p:spPr bwMode="auto">
          <a:xfrm>
            <a:off x="444717" y="605949"/>
            <a:ext cx="3342425" cy="13111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algn="ctr"/>
            <a:r>
              <a:rPr lang="en-US" sz="4400" b="1" dirty="0">
                <a:latin typeface="Casper"/>
              </a:rPr>
              <a:t>Course Objectives</a:t>
            </a:r>
          </a:p>
        </p:txBody>
      </p:sp>
      <p:sp>
        <p:nvSpPr>
          <p:cNvPr id="10" name="Oval 9"/>
          <p:cNvSpPr/>
          <p:nvPr/>
        </p:nvSpPr>
        <p:spPr>
          <a:xfrm>
            <a:off x="8412958" y="6324603"/>
            <a:ext cx="333375" cy="42227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2453015479"/>
              </p:ext>
            </p:extLst>
          </p:nvPr>
        </p:nvGraphicFramePr>
        <p:xfrm>
          <a:off x="220437" y="2226082"/>
          <a:ext cx="4910818" cy="4299455"/>
        </p:xfrm>
        <a:graphic>
          <a:graphicData uri="http://schemas.openxmlformats.org/drawingml/2006/table">
            <a:tbl>
              <a:tblPr firstRow="1" firstCol="1" bandRow="1"/>
              <a:tblGrid>
                <a:gridCol w="440872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4469946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77293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S. No.</a:t>
                      </a:r>
                    </a:p>
                  </a:txBody>
                  <a:tcPr marL="5715" marR="5715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Objectives</a:t>
                      </a:r>
                    </a:p>
                  </a:txBody>
                  <a:tcPr marL="5715" marR="5715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104240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5715" marR="5715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/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To understand the basic materials and properties of semiconductors.</a:t>
                      </a:r>
                      <a:endParaRPr lang="en-US" sz="1800" kern="1200" dirty="0">
                        <a:solidFill>
                          <a:schemeClr val="tx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5715" marR="5715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99725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</a:p>
                  </a:txBody>
                  <a:tcPr marL="5715" marR="5715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/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Understand the basic of semiconductor and components like diode, transistor, FET, MOSFET and Energy Sources.</a:t>
                      </a:r>
                    </a:p>
                    <a:p>
                      <a:pPr algn="l" fontAlgn="ctr"/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5715" marR="5715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134580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</a:p>
                  </a:txBody>
                  <a:tcPr marL="5715" marR="5715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kern="12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To give knowledge about semiconductor physics and discus working and applications of basic devices, including p-n junctions, BJTs and FETs.</a:t>
                      </a:r>
                      <a:endParaRPr lang="en-US" sz="1800" kern="1200" dirty="0" smtClean="0">
                        <a:solidFill>
                          <a:schemeClr val="tx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  <a:p>
                      <a:pPr algn="l" fontAlgn="ctr"/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5715" marR="5715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5328637" y="5050301"/>
            <a:ext cx="3529646" cy="745588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en-US" sz="1800" b="1" dirty="0">
                <a:solidFill>
                  <a:srgbClr val="7030A0"/>
                </a:solidFill>
                <a:hlinkClick r:id="rId3">
                  <a:extLst>
                    <a:ext uri="{A12FA001-AC4F-418D-AE19-62706E023703}">
                      <ahyp:hlinkClr xmlns="" xmlns:ahyp="http://schemas.microsoft.com/office/drawing/2018/hyperlinkcolor" val="tx"/>
                    </a:ext>
                  </a:extLst>
                </a:hlinkClick>
              </a:rPr>
              <a:t>https://www.iqsdirectory.com/resources/everything-you-ever-wanted-to-know-about-semiconductors/</a:t>
            </a:r>
            <a:endParaRPr lang="en-US" sz="1800" b="1" dirty="0">
              <a:solidFill>
                <a:srgbClr val="7030A0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CF519C70-D760-42E7-8BD2-6D327CBFDD4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0883" y="2226082"/>
            <a:ext cx="3537401" cy="265540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="" xmlns:p14="http://schemas.microsoft.com/office/powerpoint/2010/main" val="40180973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629400" y="6356351"/>
            <a:ext cx="2057400" cy="365125"/>
          </a:xfrm>
        </p:spPr>
        <p:txBody>
          <a:bodyPr/>
          <a:lstStyle/>
          <a:p>
            <a:fld id="{BDCDBBEF-AA6C-4BA6-85B2-A17D7F280E38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8" name="Title 7"/>
          <p:cNvSpPr txBox="1">
            <a:spLocks noGrp="1" noChangeArrowheads="1"/>
          </p:cNvSpPr>
          <p:nvPr>
            <p:ph type="title"/>
          </p:nvPr>
        </p:nvSpPr>
        <p:spPr bwMode="auto">
          <a:xfrm>
            <a:off x="640659" y="214063"/>
            <a:ext cx="3342425" cy="13111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algn="ctr"/>
            <a:r>
              <a:rPr lang="en-US" sz="4400" b="1" dirty="0">
                <a:latin typeface="Casper"/>
              </a:rPr>
              <a:t>Course Outcomes</a:t>
            </a:r>
          </a:p>
        </p:txBody>
      </p:sp>
      <p:sp>
        <p:nvSpPr>
          <p:cNvPr id="10" name="Oval 9"/>
          <p:cNvSpPr/>
          <p:nvPr/>
        </p:nvSpPr>
        <p:spPr>
          <a:xfrm>
            <a:off x="8412957" y="6324601"/>
            <a:ext cx="333375" cy="42227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4924864" y="5421088"/>
            <a:ext cx="3911072" cy="518341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en-US" sz="1800" b="1" dirty="0">
                <a:solidFill>
                  <a:srgbClr val="7030A0"/>
                </a:solidFill>
                <a:hlinkClick r:id="rId3">
                  <a:extLst>
                    <a:ext uri="{A12FA001-AC4F-418D-AE19-62706E023703}">
                      <ahyp:hlinkClr xmlns="" xmlns:ahyp="http://schemas.microsoft.com/office/drawing/2018/hyperlinkcolor" val="tx"/>
                    </a:ext>
                  </a:extLst>
                </a:hlinkClick>
              </a:rPr>
              <a:t>https://lot.dhl.com/5-things-the-current-semiconductor-slowdown-tells-us-about-the-global-economy/</a:t>
            </a:r>
            <a:endParaRPr lang="en-US" sz="1800" b="1" dirty="0">
              <a:solidFill>
                <a:srgbClr val="7030A0"/>
              </a:solidFill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="" xmlns:a16="http://schemas.microsoft.com/office/drawing/2014/main" id="{8162587E-E0B8-4626-8CC1-A1300E812F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637862230"/>
              </p:ext>
            </p:extLst>
          </p:nvPr>
        </p:nvGraphicFramePr>
        <p:xfrm>
          <a:off x="230944" y="1881053"/>
          <a:ext cx="4765599" cy="559046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532358">
                  <a:extLst>
                    <a:ext uri="{9D8B030D-6E8A-4147-A177-3AD203B41FA5}">
                      <a16:colId xmlns="" xmlns:a16="http://schemas.microsoft.com/office/drawing/2014/main" val="3145357031"/>
                    </a:ext>
                  </a:extLst>
                </a:gridCol>
                <a:gridCol w="2644385">
                  <a:extLst>
                    <a:ext uri="{9D8B030D-6E8A-4147-A177-3AD203B41FA5}">
                      <a16:colId xmlns="" xmlns:a16="http://schemas.microsoft.com/office/drawing/2014/main" val="1912344179"/>
                    </a:ext>
                  </a:extLst>
                </a:gridCol>
                <a:gridCol w="1588856">
                  <a:extLst>
                    <a:ext uri="{9D8B030D-6E8A-4147-A177-3AD203B41FA5}">
                      <a16:colId xmlns="" xmlns:a16="http://schemas.microsoft.com/office/drawing/2014/main" val="1723345131"/>
                    </a:ext>
                  </a:extLst>
                </a:gridCol>
              </a:tblGrid>
              <a:tr h="919098">
                <a:tc>
                  <a:txBody>
                    <a:bodyPr/>
                    <a:lstStyle/>
                    <a:p>
                      <a:pPr algn="just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600" dirty="0">
                          <a:effectLst/>
                        </a:rPr>
                        <a:t>S.NO</a:t>
                      </a:r>
                      <a:endParaRPr lang="en-IN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600">
                          <a:effectLst/>
                        </a:rPr>
                        <a:t>Description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600">
                          <a:effectLst/>
                        </a:rPr>
                        <a:t>Blooms’ Taxonomy Level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extLst>
                  <a:ext uri="{0D108BD9-81ED-4DB2-BD59-A6C34878D82A}">
                    <a16:rowId xmlns="" xmlns:a16="http://schemas.microsoft.com/office/drawing/2014/main" val="1035748488"/>
                  </a:ext>
                </a:extLst>
              </a:tr>
              <a:tr h="660601">
                <a:tc>
                  <a:txBody>
                    <a:bodyPr/>
                    <a:lstStyle/>
                    <a:p>
                      <a:pPr marR="5397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400" dirty="0">
                          <a:latin typeface="Times New Roman"/>
                          <a:ea typeface="Times New Roman"/>
                          <a:cs typeface="Raavi"/>
                        </a:rPr>
                        <a:t>CO1</a:t>
                      </a:r>
                      <a:endParaRPr lang="en-US" sz="1400" dirty="0">
                        <a:latin typeface="Calibri"/>
                        <a:ea typeface="Calibri"/>
                        <a:cs typeface="Raavi"/>
                      </a:endParaRP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400" dirty="0">
                          <a:latin typeface="Times New Roman"/>
                          <a:ea typeface="Adobe Garamond Pro"/>
                          <a:cs typeface="Raavi"/>
                        </a:rPr>
                        <a:t>To apply the knowledge of basic semiconductor material physics and understand fabrication processes.</a:t>
                      </a:r>
                      <a:endParaRPr lang="en-US" sz="1400" dirty="0">
                        <a:latin typeface="Calibri"/>
                        <a:cs typeface="Raavi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400" dirty="0">
                          <a:latin typeface="Times New Roman"/>
                          <a:ea typeface="Times New Roman"/>
                          <a:cs typeface="Raavi"/>
                        </a:rPr>
                        <a:t>EASY</a:t>
                      </a:r>
                      <a:endParaRPr lang="en-US" sz="1400" dirty="0">
                        <a:latin typeface="Calibri"/>
                        <a:ea typeface="Calibri"/>
                        <a:cs typeface="Raavi"/>
                      </a:endParaRPr>
                    </a:p>
                  </a:txBody>
                  <a:tcPr marL="51435" marR="51435" marT="0" marB="0" anchor="ctr"/>
                </a:tc>
                <a:extLst>
                  <a:ext uri="{0D108BD9-81ED-4DB2-BD59-A6C34878D82A}">
                    <a16:rowId xmlns="" xmlns:a16="http://schemas.microsoft.com/office/drawing/2014/main" val="2905167788"/>
                  </a:ext>
                </a:extLst>
              </a:tr>
              <a:tr h="660601">
                <a:tc>
                  <a:txBody>
                    <a:bodyPr/>
                    <a:lstStyle/>
                    <a:p>
                      <a:pPr marR="5397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400">
                          <a:latin typeface="Times New Roman"/>
                          <a:ea typeface="Times New Roman"/>
                          <a:cs typeface="Raavi"/>
                        </a:rPr>
                        <a:t>CO2</a:t>
                      </a:r>
                      <a:endParaRPr lang="en-US" sz="1400">
                        <a:latin typeface="Calibri"/>
                        <a:ea typeface="Calibri"/>
                        <a:cs typeface="Raavi"/>
                      </a:endParaRP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Raavi"/>
                        </a:rPr>
                        <a:t>To understand </a:t>
                      </a:r>
                      <a:r>
                        <a:rPr lang="en-IN" sz="1400" dirty="0">
                          <a:latin typeface="Times New Roman"/>
                          <a:cs typeface="Raavi"/>
                        </a:rPr>
                        <a:t> the characteristics of different electronic devices such as diodes, transistors.</a:t>
                      </a:r>
                      <a:endParaRPr lang="en-US" sz="1400" dirty="0">
                        <a:latin typeface="Calibri"/>
                        <a:cs typeface="Raavi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400">
                          <a:latin typeface="Times New Roman"/>
                          <a:ea typeface="Times New Roman"/>
                          <a:cs typeface="Raavi"/>
                        </a:rPr>
                        <a:t>MEDIUM</a:t>
                      </a:r>
                      <a:endParaRPr lang="en-US" sz="1400">
                        <a:latin typeface="Calibri"/>
                        <a:ea typeface="Calibri"/>
                        <a:cs typeface="Raavi"/>
                      </a:endParaRPr>
                    </a:p>
                  </a:txBody>
                  <a:tcPr marL="51435" marR="51435" marT="0" marB="0" anchor="ctr"/>
                </a:tc>
                <a:extLst>
                  <a:ext uri="{0D108BD9-81ED-4DB2-BD59-A6C34878D82A}">
                    <a16:rowId xmlns="" xmlns:a16="http://schemas.microsoft.com/office/drawing/2014/main" val="1036068956"/>
                  </a:ext>
                </a:extLst>
              </a:tr>
              <a:tr h="660601">
                <a:tc>
                  <a:txBody>
                    <a:bodyPr/>
                    <a:lstStyle/>
                    <a:p>
                      <a:pPr marR="5397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400">
                          <a:latin typeface="Times New Roman"/>
                          <a:ea typeface="Times New Roman"/>
                          <a:cs typeface="Raavi"/>
                        </a:rPr>
                        <a:t>CO3</a:t>
                      </a:r>
                      <a:endParaRPr lang="en-US" sz="1400">
                        <a:latin typeface="Calibri"/>
                        <a:ea typeface="Calibri"/>
                        <a:cs typeface="Raavi"/>
                      </a:endParaRP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 indent="311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400" dirty="0">
                          <a:latin typeface="Times New Roman"/>
                          <a:ea typeface="Adobe Garamond Pro"/>
                          <a:cs typeface="Raavi"/>
                        </a:rPr>
                        <a:t>To derive the relationships between the parameters in diode, FET, configurations of Transistor and MOSFETs.</a:t>
                      </a:r>
                      <a:endParaRPr lang="en-US" sz="1400" dirty="0">
                        <a:latin typeface="Calibri"/>
                        <a:cs typeface="Raavi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indent="3111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400">
                          <a:latin typeface="Times New Roman"/>
                          <a:ea typeface="Times New Roman"/>
                          <a:cs typeface="Raavi"/>
                        </a:rPr>
                        <a:t>MEDIUM</a:t>
                      </a:r>
                      <a:endParaRPr lang="en-US" sz="1400">
                        <a:latin typeface="Calibri"/>
                        <a:ea typeface="Calibri"/>
                        <a:cs typeface="Raavi"/>
                      </a:endParaRPr>
                    </a:p>
                  </a:txBody>
                  <a:tcPr marL="51435" marR="51435" marT="0" marB="0" anchor="ctr"/>
                </a:tc>
                <a:extLst>
                  <a:ext uri="{0D108BD9-81ED-4DB2-BD59-A6C34878D82A}">
                    <a16:rowId xmlns="" xmlns:a16="http://schemas.microsoft.com/office/drawing/2014/main" val="1044161678"/>
                  </a:ext>
                </a:extLst>
              </a:tr>
              <a:tr h="990902">
                <a:tc>
                  <a:txBody>
                    <a:bodyPr/>
                    <a:lstStyle/>
                    <a:p>
                      <a:pPr marR="5397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400">
                          <a:latin typeface="Times New Roman"/>
                          <a:ea typeface="Times New Roman"/>
                          <a:cs typeface="Raavi"/>
                        </a:rPr>
                        <a:t>CO4</a:t>
                      </a:r>
                      <a:endParaRPr lang="en-US" sz="1400">
                        <a:latin typeface="Calibri"/>
                        <a:ea typeface="Calibri"/>
                        <a:cs typeface="Raavi"/>
                      </a:endParaRP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Raavi"/>
                        </a:rPr>
                        <a:t>To describe the working and design considerations for the various photonic devices like photo detectors, solar-cells and LEDs.</a:t>
                      </a:r>
                      <a:endParaRPr lang="en-US" sz="1400" dirty="0">
                        <a:latin typeface="Calibri"/>
                        <a:cs typeface="Raavi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400" dirty="0">
                          <a:latin typeface="Times New Roman"/>
                          <a:ea typeface="Times New Roman"/>
                          <a:cs typeface="Raavi"/>
                        </a:rPr>
                        <a:t>HARD</a:t>
                      </a:r>
                      <a:endParaRPr lang="en-US" sz="1400" dirty="0">
                        <a:latin typeface="Calibri"/>
                        <a:ea typeface="Calibri"/>
                        <a:cs typeface="Raavi"/>
                      </a:endParaRPr>
                    </a:p>
                  </a:txBody>
                  <a:tcPr marL="51435" marR="51435" marT="0" marB="0" anchor="ctr"/>
                </a:tc>
                <a:extLst>
                  <a:ext uri="{0D108BD9-81ED-4DB2-BD59-A6C34878D82A}">
                    <a16:rowId xmlns="" xmlns:a16="http://schemas.microsoft.com/office/drawing/2014/main" val="3677875048"/>
                  </a:ext>
                </a:extLst>
              </a:tr>
              <a:tr h="660601">
                <a:tc>
                  <a:txBody>
                    <a:bodyPr/>
                    <a:lstStyle/>
                    <a:p>
                      <a:pPr marR="5397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400">
                          <a:latin typeface="Times New Roman"/>
                          <a:ea typeface="Times New Roman"/>
                          <a:cs typeface="Raavi"/>
                        </a:rPr>
                        <a:t>CO5</a:t>
                      </a:r>
                      <a:endParaRPr lang="en-US" sz="1400">
                        <a:latin typeface="Calibri"/>
                        <a:ea typeface="Calibri"/>
                        <a:cs typeface="Raavi"/>
                      </a:endParaRP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 indent="-311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Raavi"/>
                        </a:rPr>
                        <a:t>To provide problem solving experience and learning of concepts through it in semiconductor physics.</a:t>
                      </a:r>
                      <a:endParaRPr lang="en-US" sz="1400" dirty="0">
                        <a:latin typeface="Calibri"/>
                        <a:cs typeface="Raavi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indent="-3111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400" dirty="0">
                          <a:latin typeface="Times New Roman"/>
                          <a:ea typeface="Times New Roman"/>
                          <a:cs typeface="Raavi"/>
                        </a:rPr>
                        <a:t>HARD</a:t>
                      </a:r>
                      <a:endParaRPr lang="en-US" sz="1400" dirty="0">
                        <a:latin typeface="Calibri"/>
                        <a:ea typeface="Calibri"/>
                        <a:cs typeface="Raavi"/>
                      </a:endParaRPr>
                    </a:p>
                  </a:txBody>
                  <a:tcPr marL="51435" marR="51435" marT="0" marB="0" anchor="ctr"/>
                </a:tc>
                <a:extLst>
                  <a:ext uri="{0D108BD9-81ED-4DB2-BD59-A6C34878D82A}">
                    <a16:rowId xmlns="" xmlns:a16="http://schemas.microsoft.com/office/drawing/2014/main" val="1993640399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72E5EA36-20D2-4DE4-BBC5-F5A55DBA5C1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5935" y="2368915"/>
            <a:ext cx="3810000" cy="2667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="" xmlns:p14="http://schemas.microsoft.com/office/powerpoint/2010/main" val="39016935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1295400" y="1143004"/>
            <a:ext cx="6324600" cy="83099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400" dirty="0" smtClean="0">
                <a:latin typeface="Cambria" pitchFamily="18" charset="0"/>
              </a:rPr>
              <a:t>UNIT-1</a:t>
            </a:r>
          </a:p>
          <a:p>
            <a:pPr algn="ctr"/>
            <a:r>
              <a:rPr lang="en-US" sz="2400" dirty="0" smtClean="0">
                <a:latin typeface="Cambria" pitchFamily="18" charset="0"/>
              </a:rPr>
              <a:t>SEMICONDUCTOR PHYSICS</a:t>
            </a:r>
            <a:endParaRPr lang="en-US" sz="2400" dirty="0">
              <a:latin typeface="Cambria" pitchFamily="18" charset="0"/>
            </a:endParaRPr>
          </a:p>
        </p:txBody>
      </p:sp>
      <p:sp>
        <p:nvSpPr>
          <p:cNvPr id="9" name="Down Arrow 8"/>
          <p:cNvSpPr/>
          <p:nvPr/>
        </p:nvSpPr>
        <p:spPr>
          <a:xfrm>
            <a:off x="4038600" y="2362200"/>
            <a:ext cx="484632" cy="978408"/>
          </a:xfrm>
          <a:prstGeom prst="downArrow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1219200" y="3505200"/>
            <a:ext cx="6477000" cy="73866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  <a:latin typeface="Cambria" pitchFamily="18" charset="0"/>
              </a:rPr>
              <a:t>                                      </a:t>
            </a:r>
            <a:endParaRPr lang="en-US" sz="2400" dirty="0" smtClean="0">
              <a:solidFill>
                <a:schemeClr val="bg1"/>
              </a:solidFill>
              <a:latin typeface="Cambria" pitchFamily="18" charset="0"/>
            </a:endParaRPr>
          </a:p>
          <a:p>
            <a:r>
              <a:rPr lang="en-US" sz="2400" dirty="0" smtClean="0">
                <a:solidFill>
                  <a:schemeClr val="bg1"/>
                </a:solidFill>
                <a:latin typeface="Cambria" pitchFamily="18" charset="0"/>
              </a:rPr>
              <a:t>                     PN JUNCTION DIODE</a:t>
            </a:r>
            <a:endParaRPr lang="en-US" sz="2400" dirty="0">
              <a:solidFill>
                <a:schemeClr val="bg1"/>
              </a:solidFill>
              <a:latin typeface="Cambria" pitchFamily="18" charset="0"/>
            </a:endParaRPr>
          </a:p>
        </p:txBody>
      </p:sp>
      <p:pic>
        <p:nvPicPr>
          <p:cNvPr id="12" name="Picture 4" descr="https://prod-c2i.s3.amazonaws.com/articles/14956962445926837495300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562602" y="4572000"/>
            <a:ext cx="3255283" cy="211593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3" name="Picture 2" descr="https://encrypted-tbn0.gstatic.com/images?q=tbn:ANd9GcR3XfHDzFxfNtotWXfjHPosZ8MpCxkiK007TZaVtJtuLpmU21o8zA&amp;s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57200" y="4572000"/>
            <a:ext cx="3467100" cy="21336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5" name="Cloud Callout 14"/>
          <p:cNvSpPr/>
          <p:nvPr/>
        </p:nvSpPr>
        <p:spPr>
          <a:xfrm>
            <a:off x="7924800" y="228600"/>
            <a:ext cx="914400" cy="612648"/>
          </a:xfrm>
          <a:prstGeom prst="cloud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Content Placeholder 8">
            <a:extLst>
              <a:ext uri="{FF2B5EF4-FFF2-40B4-BE49-F238E27FC236}">
                <a16:creationId xmlns="" xmlns:a16="http://schemas.microsoft.com/office/drawing/2014/main" id="{F8E92CEE-8AC4-F540-991C-C737DC66989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4033"/>
            <a:ext cx="675139" cy="1074083"/>
          </a:xfrm>
          <a:prstGeom prst="rect">
            <a:avLst/>
          </a:prstGeom>
        </p:spPr>
      </p:pic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59D94-4DE0-4C81-B8BE-16B5DB9825E0}" type="slidenum">
              <a:rPr lang="en-US" smtClean="0"/>
              <a:pPr/>
              <a:t>4</a:t>
            </a:fld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133600" y="609603"/>
            <a:ext cx="43434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 smtClean="0">
                <a:solidFill>
                  <a:schemeClr val="bg1"/>
                </a:solidFill>
              </a:rPr>
              <a:t>    </a:t>
            </a:r>
            <a:r>
              <a:rPr lang="en-US" sz="4400" b="1" dirty="0" smtClean="0">
                <a:solidFill>
                  <a:schemeClr val="bg1"/>
                </a:solidFill>
                <a:latin typeface="Cambria" pitchFamily="18" charset="0"/>
              </a:rPr>
              <a:t>CONTENTS</a:t>
            </a:r>
            <a:endParaRPr lang="en-US" sz="4400" b="1" dirty="0">
              <a:solidFill>
                <a:schemeClr val="bg1"/>
              </a:solidFill>
              <a:latin typeface="Cambria" pitchFamily="18" charset="0"/>
            </a:endParaRPr>
          </a:p>
        </p:txBody>
      </p:sp>
      <p:sp>
        <p:nvSpPr>
          <p:cNvPr id="18433" name="Rectangle 1"/>
          <p:cNvSpPr>
            <a:spLocks noChangeArrowheads="1"/>
          </p:cNvSpPr>
          <p:nvPr/>
        </p:nvSpPr>
        <p:spPr bwMode="auto">
          <a:xfrm>
            <a:off x="457200" y="1752600"/>
            <a:ext cx="7848600" cy="26776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Cambria" pitchFamily="18" charset="0"/>
                <a:ea typeface="Calibri" pitchFamily="34" charset="0"/>
                <a:cs typeface="Times New Roman" pitchFamily="18" charset="0"/>
              </a:rPr>
              <a:t>Introduction of</a:t>
            </a:r>
            <a:r>
              <a:rPr kumimoji="0" lang="en-US" sz="24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latin typeface="Cambria" pitchFamily="18" charset="0"/>
                <a:ea typeface="Calibri" pitchFamily="34" charset="0"/>
                <a:cs typeface="Times New Roman" pitchFamily="18" charset="0"/>
              </a:rPr>
              <a:t> pn junction diode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Cambria" pitchFamily="18" charset="0"/>
              <a:ea typeface="Calibri" pitchFamily="34" charset="0"/>
              <a:cs typeface="Times New Roman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Cambria" pitchFamily="18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Cambria" pitchFamily="18" charset="0"/>
                <a:ea typeface="Calibri" pitchFamily="34" charset="0"/>
                <a:cs typeface="Times New Roman" pitchFamily="18" charset="0"/>
              </a:rPr>
              <a:t>Application of pn junction diode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sz="2400" dirty="0" smtClean="0">
              <a:solidFill>
                <a:schemeClr val="bg1"/>
              </a:solidFill>
              <a:latin typeface="Cambria" pitchFamily="18" charset="0"/>
              <a:ea typeface="Calibri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Cambria" pitchFamily="18" charset="0"/>
                <a:ea typeface="Calibri" pitchFamily="34" charset="0"/>
                <a:cs typeface="Times New Roman" pitchFamily="18" charset="0"/>
              </a:rPr>
              <a:t>Formation of pn junction diode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Cambria" pitchFamily="18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Cambria" pitchFamily="18" charset="0"/>
                <a:ea typeface="Calibri" pitchFamily="34" charset="0"/>
                <a:cs typeface="Times New Roman" pitchFamily="18" charset="0"/>
              </a:rPr>
              <a:t>Summary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Cambria" pitchFamily="18" charset="0"/>
              <a:cs typeface="Arial" pitchFamily="34" charset="0"/>
            </a:endParaRPr>
          </a:p>
        </p:txBody>
      </p:sp>
      <p:pic>
        <p:nvPicPr>
          <p:cNvPr id="7" name="Picture 6" descr="2016-06-10_11-36-5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676402"/>
            <a:ext cx="3352800" cy="3663065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9" name="Content Placeholder 8">
            <a:extLst>
              <a:ext uri="{FF2B5EF4-FFF2-40B4-BE49-F238E27FC236}">
                <a16:creationId xmlns="" xmlns:a16="http://schemas.microsoft.com/office/drawing/2014/main" id="{F8E92CEE-8AC4-F540-991C-C737DC66989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4"/>
            <a:ext cx="675139" cy="1074083"/>
          </a:xfrm>
          <a:prstGeom prst="rect">
            <a:avLst/>
          </a:prstGeom>
        </p:spPr>
      </p:pic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59D94-4DE0-4C81-B8BE-16B5DB9825E0}" type="slidenum">
              <a:rPr lang="en-US" smtClean="0"/>
              <a:pPr/>
              <a:t>5</a:t>
            </a:fld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447800" y="914404"/>
            <a:ext cx="69342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 smtClean="0">
                <a:solidFill>
                  <a:schemeClr val="bg1"/>
                </a:solidFill>
                <a:latin typeface="Cambria" pitchFamily="18" charset="0"/>
              </a:rPr>
              <a:t>LEARNING OBJECTIVES</a:t>
            </a:r>
            <a:endParaRPr lang="en-US" sz="4400" b="1" dirty="0">
              <a:solidFill>
                <a:schemeClr val="bg1"/>
              </a:solidFill>
              <a:latin typeface="Cambria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33400" y="2133604"/>
            <a:ext cx="7620000" cy="83099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v"/>
            </a:pPr>
            <a:r>
              <a:rPr lang="en-US" sz="2400" dirty="0" smtClean="0">
                <a:solidFill>
                  <a:schemeClr val="bg1"/>
                </a:solidFill>
                <a:latin typeface="Cambria" pitchFamily="18" charset="0"/>
              </a:rPr>
              <a:t>Develop an understanding of the PN junction  diode and its behavior.</a:t>
            </a:r>
            <a:endParaRPr lang="en-US" sz="2400" dirty="0">
              <a:solidFill>
                <a:schemeClr val="bg1"/>
              </a:solidFill>
              <a:latin typeface="Cambria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09600" y="3733800"/>
            <a:ext cx="7543800" cy="46166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v"/>
            </a:pPr>
            <a:r>
              <a:rPr lang="en-US" sz="2400" dirty="0" smtClean="0">
                <a:solidFill>
                  <a:schemeClr val="bg1"/>
                </a:solidFill>
              </a:rPr>
              <a:t>Develop an ability to analyze diode circuits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85800" y="4876804"/>
            <a:ext cx="7391400" cy="83099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v"/>
            </a:pPr>
            <a:r>
              <a:rPr lang="en-US" sz="2400" dirty="0" smtClean="0">
                <a:solidFill>
                  <a:schemeClr val="bg1"/>
                </a:solidFill>
              </a:rPr>
              <a:t>Demonstrate current flow in a pn junction in forward and reverse bias.</a:t>
            </a:r>
            <a:endParaRPr lang="en-US" sz="2400" dirty="0">
              <a:solidFill>
                <a:schemeClr val="bg1"/>
              </a:solidFill>
            </a:endParaRPr>
          </a:p>
        </p:txBody>
      </p:sp>
      <p:pic>
        <p:nvPicPr>
          <p:cNvPr id="8" name="Content Placeholder 8">
            <a:extLst>
              <a:ext uri="{FF2B5EF4-FFF2-40B4-BE49-F238E27FC236}">
                <a16:creationId xmlns="" xmlns:a16="http://schemas.microsoft.com/office/drawing/2014/main" id="{F8E92CEE-8AC4-F540-991C-C737DC66989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4033"/>
            <a:ext cx="675139" cy="1074083"/>
          </a:xfrm>
          <a:prstGeom prst="rect">
            <a:avLst/>
          </a:prstGeom>
        </p:spPr>
      </p:pic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59D94-4DE0-4C81-B8BE-16B5DB9825E0}" type="slidenum">
              <a:rPr lang="en-US" smtClean="0"/>
              <a:pPr/>
              <a:t>6</a:t>
            </a:fld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371600" y="2743200"/>
            <a:ext cx="3352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533400" y="1600201"/>
            <a:ext cx="3962400" cy="517064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just">
              <a:buFont typeface="Wingdings" pitchFamily="2" charset="2"/>
              <a:buChar char="v"/>
            </a:pPr>
            <a:r>
              <a:rPr lang="en-US" sz="2400" dirty="0">
                <a:solidFill>
                  <a:schemeClr val="bg1"/>
                </a:solidFill>
                <a:latin typeface="Cambria" pitchFamily="18" charset="0"/>
              </a:rPr>
              <a:t>A p-n junction is a boundary or interface between two types of semiconductor materials, p-type and n-type inside a single crystal of </a:t>
            </a:r>
            <a:r>
              <a:rPr lang="en-US" sz="2400" dirty="0" smtClean="0">
                <a:solidFill>
                  <a:schemeClr val="bg1"/>
                </a:solidFill>
                <a:latin typeface="Cambria" pitchFamily="18" charset="0"/>
              </a:rPr>
              <a:t>semiconductor(fig1).</a:t>
            </a:r>
          </a:p>
          <a:p>
            <a:pPr algn="just">
              <a:buFont typeface="Wingdings" pitchFamily="2" charset="2"/>
              <a:buChar char="v"/>
            </a:pPr>
            <a:r>
              <a:rPr lang="en-US" sz="2400" dirty="0" smtClean="0">
                <a:solidFill>
                  <a:schemeClr val="bg1"/>
                </a:solidFill>
                <a:latin typeface="Cambria" pitchFamily="18" charset="0"/>
              </a:rPr>
              <a:t>A </a:t>
            </a:r>
            <a:r>
              <a:rPr lang="en-US" sz="2400" dirty="0">
                <a:solidFill>
                  <a:schemeClr val="bg1"/>
                </a:solidFill>
                <a:latin typeface="Cambria" pitchFamily="18" charset="0"/>
              </a:rPr>
              <a:t>PN junction cannot be produced by simply pushing two pieces together or by welding etc…. Because it gives rise to discontinuities across the crystal structure. </a:t>
            </a:r>
            <a:endParaRPr lang="en-US" sz="2400" dirty="0" smtClean="0">
              <a:latin typeface="Cambria" pitchFamily="18" charset="0"/>
            </a:endParaRPr>
          </a:p>
          <a:p>
            <a:pPr algn="just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514600" y="457204"/>
            <a:ext cx="3810000" cy="76944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4400" b="1" dirty="0" smtClean="0">
                <a:solidFill>
                  <a:schemeClr val="bg1"/>
                </a:solidFill>
                <a:latin typeface="Cambria" pitchFamily="18" charset="0"/>
              </a:rPr>
              <a:t>PN JUNCTION</a:t>
            </a:r>
            <a:endParaRPr lang="en-US" sz="4400" b="1" dirty="0">
              <a:solidFill>
                <a:schemeClr val="bg1"/>
              </a:solidFill>
              <a:latin typeface="Cambria" pitchFamily="18" charset="0"/>
            </a:endParaRPr>
          </a:p>
        </p:txBody>
      </p:sp>
      <p:pic>
        <p:nvPicPr>
          <p:cNvPr id="12" name="Content Placeholder 8">
            <a:extLst>
              <a:ext uri="{FF2B5EF4-FFF2-40B4-BE49-F238E27FC236}">
                <a16:creationId xmlns="" xmlns:a16="http://schemas.microsoft.com/office/drawing/2014/main" id="{F8E92CEE-8AC4-F540-991C-C737DC66989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4033"/>
            <a:ext cx="675139" cy="1074083"/>
          </a:xfrm>
          <a:prstGeom prst="rect">
            <a:avLst/>
          </a:prstGeom>
        </p:spPr>
      </p:pic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59D94-4DE0-4C81-B8BE-16B5DB9825E0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5715000" y="6172204"/>
            <a:ext cx="2819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solidFill>
                  <a:schemeClr val="bg1"/>
                </a:solidFill>
                <a:latin typeface="Cambria" pitchFamily="18" charset="0"/>
              </a:rPr>
              <a:t>Fig 1: p-n junction[1]</a:t>
            </a:r>
            <a:endParaRPr lang="en-US" sz="1400" dirty="0">
              <a:solidFill>
                <a:schemeClr val="bg1"/>
              </a:solidFill>
              <a:latin typeface="Cambria" pitchFamily="18" charset="0"/>
            </a:endParaRPr>
          </a:p>
        </p:txBody>
      </p:sp>
      <p:pic>
        <p:nvPicPr>
          <p:cNvPr id="10" name="Picture 9" descr="imag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5400" y="1676400"/>
            <a:ext cx="3505200" cy="44196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57200" y="1676403"/>
            <a:ext cx="7696200" cy="366254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just">
              <a:buFont typeface="Wingdings" pitchFamily="2" charset="2"/>
              <a:buChar char="Ø"/>
            </a:pPr>
            <a:endParaRPr lang="en-US" sz="2000" dirty="0" smtClean="0">
              <a:solidFill>
                <a:schemeClr val="bg1"/>
              </a:solidFill>
              <a:latin typeface="Cambria" pitchFamily="18" charset="0"/>
            </a:endParaRPr>
          </a:p>
          <a:p>
            <a:pPr algn="just">
              <a:buFont typeface="Wingdings" pitchFamily="2" charset="2"/>
              <a:buChar char="Ø"/>
            </a:pPr>
            <a:r>
              <a:rPr lang="en-US" sz="2400" dirty="0" smtClean="0">
                <a:solidFill>
                  <a:schemeClr val="bg1"/>
                </a:solidFill>
                <a:latin typeface="Cambria" pitchFamily="18" charset="0"/>
              </a:rPr>
              <a:t>A </a:t>
            </a:r>
            <a:r>
              <a:rPr lang="en-US" sz="2400" dirty="0">
                <a:solidFill>
                  <a:schemeClr val="bg1"/>
                </a:solidFill>
                <a:latin typeface="Cambria" pitchFamily="18" charset="0"/>
              </a:rPr>
              <a:t>PN junction is a device formed by </a:t>
            </a:r>
            <a:r>
              <a:rPr lang="en-US" sz="2400" dirty="0" smtClean="0">
                <a:solidFill>
                  <a:schemeClr val="bg1"/>
                </a:solidFill>
                <a:latin typeface="Cambria" pitchFamily="18" charset="0"/>
              </a:rPr>
              <a:t>joining </a:t>
            </a:r>
            <a:r>
              <a:rPr lang="en-US" sz="2400" b="1" dirty="0" smtClean="0">
                <a:solidFill>
                  <a:schemeClr val="bg1"/>
                </a:solidFill>
                <a:latin typeface="Cambria" pitchFamily="18" charset="0"/>
              </a:rPr>
              <a:t>p-type </a:t>
            </a:r>
            <a:r>
              <a:rPr lang="en-US" sz="2400" b="1" dirty="0">
                <a:solidFill>
                  <a:schemeClr val="bg1"/>
                </a:solidFill>
                <a:latin typeface="Cambria" pitchFamily="18" charset="0"/>
              </a:rPr>
              <a:t>(doped with B, Al)</a:t>
            </a:r>
            <a:r>
              <a:rPr lang="en-US" sz="2400" dirty="0">
                <a:solidFill>
                  <a:schemeClr val="bg1"/>
                </a:solidFill>
                <a:latin typeface="Cambria" pitchFamily="18" charset="0"/>
              </a:rPr>
              <a:t> with </a:t>
            </a:r>
            <a:r>
              <a:rPr lang="en-US" sz="2400" b="1" dirty="0">
                <a:solidFill>
                  <a:schemeClr val="bg1"/>
                </a:solidFill>
                <a:latin typeface="Cambria" pitchFamily="18" charset="0"/>
              </a:rPr>
              <a:t>n-type (doped with P, As, Sb)</a:t>
            </a:r>
            <a:r>
              <a:rPr lang="en-US" sz="2400" dirty="0">
                <a:solidFill>
                  <a:schemeClr val="bg1"/>
                </a:solidFill>
                <a:latin typeface="Cambria" pitchFamily="18" charset="0"/>
              </a:rPr>
              <a:t> </a:t>
            </a:r>
            <a:r>
              <a:rPr lang="en-US" sz="2400" dirty="0" smtClean="0">
                <a:solidFill>
                  <a:schemeClr val="bg1"/>
                </a:solidFill>
                <a:latin typeface="Cambria" pitchFamily="18" charset="0"/>
              </a:rPr>
              <a:t>semiconductors and </a:t>
            </a:r>
            <a:r>
              <a:rPr lang="en-US" sz="2400" dirty="0">
                <a:solidFill>
                  <a:schemeClr val="bg1"/>
                </a:solidFill>
                <a:latin typeface="Cambria" pitchFamily="18" charset="0"/>
              </a:rPr>
              <a:t>separated by a thin junction is called PN Junction diode</a:t>
            </a:r>
            <a:r>
              <a:rPr lang="en-US" sz="2400" dirty="0" smtClean="0">
                <a:solidFill>
                  <a:schemeClr val="bg1"/>
                </a:solidFill>
                <a:latin typeface="Cambria" pitchFamily="18" charset="0"/>
              </a:rPr>
              <a:t>.</a:t>
            </a:r>
          </a:p>
          <a:p>
            <a:pPr algn="just">
              <a:buFont typeface="Wingdings" pitchFamily="2" charset="2"/>
              <a:buChar char="Ø"/>
            </a:pPr>
            <a:endParaRPr lang="en-US" sz="2400" dirty="0">
              <a:solidFill>
                <a:schemeClr val="bg1"/>
              </a:solidFill>
              <a:latin typeface="Cambria" pitchFamily="18" charset="0"/>
            </a:endParaRPr>
          </a:p>
          <a:p>
            <a:pPr algn="just">
              <a:buFont typeface="Wingdings" pitchFamily="2" charset="2"/>
              <a:buChar char="Ø"/>
            </a:pPr>
            <a:r>
              <a:rPr lang="en-US" sz="2400" dirty="0" smtClean="0">
                <a:solidFill>
                  <a:schemeClr val="bg1"/>
                </a:solidFill>
                <a:latin typeface="Cambria" pitchFamily="18" charset="0"/>
              </a:rPr>
              <a:t>A PN junction diode is one of the simplest semiconductor devices around and has characteristic of passing current in one direction(Fig2) </a:t>
            </a:r>
            <a:r>
              <a:rPr lang="en-US" sz="2000" dirty="0" smtClean="0">
                <a:solidFill>
                  <a:schemeClr val="bg1"/>
                </a:solidFill>
                <a:latin typeface="Cambria" pitchFamily="18" charset="0"/>
              </a:rPr>
              <a:t>.</a:t>
            </a:r>
          </a:p>
          <a:p>
            <a:pPr algn="just"/>
            <a:endParaRPr lang="en-US" sz="2000" dirty="0">
              <a:solidFill>
                <a:schemeClr val="bg1"/>
              </a:solidFill>
              <a:latin typeface="Cambria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905000" y="304804"/>
            <a:ext cx="5791200" cy="76944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4400" b="1" dirty="0" smtClean="0">
                <a:solidFill>
                  <a:schemeClr val="bg1"/>
                </a:solidFill>
                <a:latin typeface="Cambria" pitchFamily="18" charset="0"/>
              </a:rPr>
              <a:t>PN JUNCTION DIODE</a:t>
            </a:r>
            <a:endParaRPr lang="en-US" sz="4400" b="1" dirty="0">
              <a:solidFill>
                <a:schemeClr val="bg1"/>
              </a:solidFill>
              <a:latin typeface="Cambria" pitchFamily="18" charset="0"/>
            </a:endParaRPr>
          </a:p>
        </p:txBody>
      </p:sp>
      <p:pic>
        <p:nvPicPr>
          <p:cNvPr id="7" name="Picture 6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52600" y="5638800"/>
            <a:ext cx="5334000" cy="6096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8" name="Content Placeholder 8">
            <a:extLst>
              <a:ext uri="{FF2B5EF4-FFF2-40B4-BE49-F238E27FC236}">
                <a16:creationId xmlns="" xmlns:a16="http://schemas.microsoft.com/office/drawing/2014/main" id="{F8E92CEE-8AC4-F540-991C-C737DC66989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4033"/>
            <a:ext cx="675139" cy="1074083"/>
          </a:xfrm>
          <a:prstGeom prst="rect">
            <a:avLst/>
          </a:prstGeom>
        </p:spPr>
      </p:pic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59D94-4DE0-4C81-B8BE-16B5DB9825E0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2438400" y="6477004"/>
            <a:ext cx="3733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solidFill>
                  <a:schemeClr val="bg1"/>
                </a:solidFill>
                <a:latin typeface="Cambria" pitchFamily="18" charset="0"/>
              </a:rPr>
              <a:t>                Fig 2 :Symbol of PN diode[2]</a:t>
            </a:r>
            <a:endParaRPr lang="en-US" sz="1400" dirty="0">
              <a:solidFill>
                <a:schemeClr val="bg1"/>
              </a:solidFill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7-Point Star 1"/>
          <p:cNvSpPr/>
          <p:nvPr/>
        </p:nvSpPr>
        <p:spPr>
          <a:xfrm>
            <a:off x="457200" y="1905000"/>
            <a:ext cx="2590800" cy="2362200"/>
          </a:xfrm>
          <a:prstGeom prst="star7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4"/>
            <a:ext cx="1600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S</a:t>
            </a:r>
            <a:endParaRPr lang="en-US" dirty="0" smtClean="0">
              <a:solidFill>
                <a:schemeClr val="bg1"/>
              </a:solidFill>
            </a:endParaRPr>
          </a:p>
          <a:p>
            <a:r>
              <a:rPr lang="en-US" b="1" dirty="0" smtClean="0">
                <a:solidFill>
                  <a:schemeClr val="bg1"/>
                </a:solidFill>
              </a:rPr>
              <a:t>DIFFUSION</a:t>
            </a:r>
            <a:endParaRPr lang="en-US" b="1" dirty="0"/>
          </a:p>
        </p:txBody>
      </p:sp>
      <p:sp>
        <p:nvSpPr>
          <p:cNvPr id="4" name="7-Point Star 3"/>
          <p:cNvSpPr/>
          <p:nvPr/>
        </p:nvSpPr>
        <p:spPr>
          <a:xfrm>
            <a:off x="3352800" y="3352800"/>
            <a:ext cx="2590800" cy="2590800"/>
          </a:xfrm>
          <a:prstGeom prst="star7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3810000" y="4572004"/>
            <a:ext cx="1600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DEPLETION</a:t>
            </a:r>
          </a:p>
          <a:p>
            <a:r>
              <a:rPr lang="en-US" b="1" dirty="0" smtClean="0">
                <a:solidFill>
                  <a:schemeClr val="bg1"/>
                </a:solidFill>
              </a:rPr>
              <a:t>    REGION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6" name="7-Point Star 5"/>
          <p:cNvSpPr/>
          <p:nvPr/>
        </p:nvSpPr>
        <p:spPr>
          <a:xfrm>
            <a:off x="5943600" y="2133600"/>
            <a:ext cx="2438400" cy="2209800"/>
          </a:xfrm>
          <a:prstGeom prst="star7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6400800" y="2819400"/>
            <a:ext cx="1524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b="1" dirty="0" smtClean="0">
              <a:solidFill>
                <a:schemeClr val="bg1"/>
              </a:solidFill>
            </a:endParaRPr>
          </a:p>
          <a:p>
            <a:r>
              <a:rPr lang="en-US" b="1" dirty="0" smtClean="0">
                <a:solidFill>
                  <a:schemeClr val="bg1"/>
                </a:solidFill>
              </a:rPr>
              <a:t>POTENTIAL BARRIER</a:t>
            </a:r>
            <a:endParaRPr lang="en-US" b="1" dirty="0">
              <a:solidFill>
                <a:schemeClr val="bg1"/>
              </a:solidFill>
            </a:endParaRPr>
          </a:p>
        </p:txBody>
      </p:sp>
      <p:cxnSp>
        <p:nvCxnSpPr>
          <p:cNvPr id="13" name="Straight Arrow Connector 12"/>
          <p:cNvCxnSpPr/>
          <p:nvPr/>
        </p:nvCxnSpPr>
        <p:spPr>
          <a:xfrm rot="16200000" flipH="1">
            <a:off x="2895600" y="3733800"/>
            <a:ext cx="457200" cy="45720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V="1">
            <a:off x="5867400" y="3810000"/>
            <a:ext cx="457200" cy="38100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838200" y="1371600"/>
            <a:ext cx="152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    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295400" y="2514600"/>
            <a:ext cx="990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Step -1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114800" y="4114804"/>
            <a:ext cx="1066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Step -2</a:t>
            </a:r>
          </a:p>
          <a:p>
            <a:endParaRPr lang="en-US" dirty="0"/>
          </a:p>
        </p:txBody>
      </p:sp>
      <p:sp>
        <p:nvSpPr>
          <p:cNvPr id="23" name="TextBox 22"/>
          <p:cNvSpPr txBox="1"/>
          <p:nvPr/>
        </p:nvSpPr>
        <p:spPr>
          <a:xfrm>
            <a:off x="6781800" y="2743204"/>
            <a:ext cx="914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Step -3</a:t>
            </a:r>
          </a:p>
          <a:p>
            <a:endParaRPr lang="en-US" dirty="0"/>
          </a:p>
        </p:txBody>
      </p:sp>
      <p:sp>
        <p:nvSpPr>
          <p:cNvPr id="25" name="TextBox 24"/>
          <p:cNvSpPr txBox="1"/>
          <p:nvPr/>
        </p:nvSpPr>
        <p:spPr>
          <a:xfrm>
            <a:off x="228600" y="609603"/>
            <a:ext cx="92202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smtClean="0"/>
              <a:t>    </a:t>
            </a:r>
            <a:r>
              <a:rPr lang="en-US" sz="4400" b="1" dirty="0" smtClean="0">
                <a:solidFill>
                  <a:schemeClr val="bg1"/>
                </a:solidFill>
                <a:latin typeface="Cambria" pitchFamily="18" charset="0"/>
              </a:rPr>
              <a:t>FORMATION  OF P-N JUNCTION</a:t>
            </a:r>
            <a:endParaRPr lang="en-US" sz="4400" b="1" dirty="0">
              <a:solidFill>
                <a:schemeClr val="bg1"/>
              </a:solidFill>
              <a:latin typeface="Cambria" pitchFamily="18" charset="0"/>
            </a:endParaRPr>
          </a:p>
        </p:txBody>
      </p:sp>
      <p:pic>
        <p:nvPicPr>
          <p:cNvPr id="26" name="Content Placeholder 8">
            <a:extLst>
              <a:ext uri="{FF2B5EF4-FFF2-40B4-BE49-F238E27FC236}">
                <a16:creationId xmlns="" xmlns:a16="http://schemas.microsoft.com/office/drawing/2014/main" id="{F8E92CEE-8AC4-F540-991C-C737DC66989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4033"/>
            <a:ext cx="675139" cy="1074083"/>
          </a:xfrm>
          <a:prstGeom prst="rect">
            <a:avLst/>
          </a:prstGeom>
        </p:spPr>
      </p:pic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59D94-4DE0-4C81-B8BE-16B5DB9825E0}" type="slidenum">
              <a:rPr lang="en-US" smtClean="0"/>
              <a:pPr/>
              <a:t>9</a:t>
            </a:fld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33400" y="1295404"/>
            <a:ext cx="7772400" cy="526297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just"/>
            <a:endParaRPr lang="en-US" sz="2400" dirty="0" smtClean="0">
              <a:solidFill>
                <a:schemeClr val="bg1"/>
              </a:solidFill>
              <a:latin typeface="Cambria" pitchFamily="18" charset="0"/>
            </a:endParaRPr>
          </a:p>
          <a:p>
            <a:pPr marL="457200" indent="-457200" algn="just">
              <a:buFont typeface="+mj-lt"/>
              <a:buAutoNum type="arabicPeriod"/>
            </a:pPr>
            <a:r>
              <a:rPr lang="en-US" sz="2400" dirty="0" smtClean="0">
                <a:solidFill>
                  <a:schemeClr val="bg1"/>
                </a:solidFill>
                <a:latin typeface="Cambria" pitchFamily="18" charset="0"/>
              </a:rPr>
              <a:t>The </a:t>
            </a:r>
            <a:r>
              <a:rPr lang="en-US" sz="2400" dirty="0">
                <a:solidFill>
                  <a:schemeClr val="bg1"/>
                </a:solidFill>
                <a:latin typeface="Cambria" pitchFamily="18" charset="0"/>
              </a:rPr>
              <a:t>N-type semiconductor and P-type semiconductor materials are first joined together a very large density gradient exists between both sides of the PN junction</a:t>
            </a:r>
            <a:r>
              <a:rPr lang="en-US" sz="2400" dirty="0" smtClean="0">
                <a:solidFill>
                  <a:schemeClr val="bg1"/>
                </a:solidFill>
                <a:latin typeface="Cambria" pitchFamily="18" charset="0"/>
              </a:rPr>
              <a:t>. </a:t>
            </a:r>
          </a:p>
          <a:p>
            <a:pPr marL="457200" indent="-457200" algn="just">
              <a:buFont typeface="+mj-lt"/>
              <a:buAutoNum type="arabicPeriod"/>
            </a:pPr>
            <a:endParaRPr lang="en-US" sz="2400" dirty="0" smtClean="0">
              <a:solidFill>
                <a:schemeClr val="bg1"/>
              </a:solidFill>
              <a:latin typeface="Cambria" pitchFamily="18" charset="0"/>
            </a:endParaRPr>
          </a:p>
          <a:p>
            <a:pPr marL="457200" indent="-457200" algn="just">
              <a:buFont typeface="+mj-lt"/>
              <a:buAutoNum type="arabicPeriod"/>
            </a:pPr>
            <a:r>
              <a:rPr lang="en-US" sz="2400" dirty="0" smtClean="0">
                <a:solidFill>
                  <a:schemeClr val="bg1"/>
                </a:solidFill>
                <a:latin typeface="Cambria" pitchFamily="18" charset="0"/>
              </a:rPr>
              <a:t>The </a:t>
            </a:r>
            <a:r>
              <a:rPr lang="en-US" sz="2400" dirty="0">
                <a:solidFill>
                  <a:schemeClr val="bg1"/>
                </a:solidFill>
                <a:latin typeface="Cambria" pitchFamily="18" charset="0"/>
              </a:rPr>
              <a:t>free electrons from the donor impurity atoms begin to migrate across this newly formed junction to fill up the holes in the P-type material producing negative </a:t>
            </a:r>
            <a:r>
              <a:rPr lang="en-US" sz="2400" dirty="0" smtClean="0">
                <a:solidFill>
                  <a:schemeClr val="bg1"/>
                </a:solidFill>
                <a:latin typeface="Cambria" pitchFamily="18" charset="0"/>
              </a:rPr>
              <a:t>ions.</a:t>
            </a:r>
          </a:p>
          <a:p>
            <a:pPr marL="457200" indent="-457200" algn="just">
              <a:buFont typeface="+mj-lt"/>
              <a:buAutoNum type="arabicPeriod"/>
            </a:pPr>
            <a:endParaRPr lang="en-US" sz="2400" dirty="0" smtClean="0">
              <a:solidFill>
                <a:schemeClr val="bg1"/>
              </a:solidFill>
              <a:latin typeface="Cambria" pitchFamily="18" charset="0"/>
            </a:endParaRPr>
          </a:p>
          <a:p>
            <a:pPr marL="457200" indent="-457200" algn="just">
              <a:buFont typeface="+mj-lt"/>
              <a:buAutoNum type="arabicPeriod"/>
            </a:pPr>
            <a:r>
              <a:rPr lang="en-US" sz="2400" dirty="0">
                <a:solidFill>
                  <a:schemeClr val="bg1"/>
                </a:solidFill>
                <a:latin typeface="Cambria" pitchFamily="18" charset="0"/>
              </a:rPr>
              <a:t>E</a:t>
            </a:r>
            <a:r>
              <a:rPr lang="en-US" sz="2400" dirty="0" smtClean="0">
                <a:solidFill>
                  <a:schemeClr val="bg1"/>
                </a:solidFill>
                <a:latin typeface="Cambria" pitchFamily="18" charset="0"/>
              </a:rPr>
              <a:t>lectrons </a:t>
            </a:r>
            <a:r>
              <a:rPr lang="en-US" sz="2400" dirty="0">
                <a:solidFill>
                  <a:schemeClr val="bg1"/>
                </a:solidFill>
                <a:latin typeface="Cambria" pitchFamily="18" charset="0"/>
              </a:rPr>
              <a:t>have moved across the PN junction from the N-type silicon to the P-type silicon, they leave behind positively charged donor ions ( Nd ) on the negative </a:t>
            </a:r>
            <a:r>
              <a:rPr lang="en-US" sz="2400" dirty="0" smtClean="0">
                <a:solidFill>
                  <a:schemeClr val="bg1"/>
                </a:solidFill>
                <a:latin typeface="Cambria" pitchFamily="18" charset="0"/>
              </a:rPr>
              <a:t>side.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4800" y="304804"/>
            <a:ext cx="8382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 smtClean="0">
                <a:solidFill>
                  <a:schemeClr val="bg1"/>
                </a:solidFill>
              </a:rPr>
              <a:t>    </a:t>
            </a:r>
            <a:r>
              <a:rPr lang="en-US" sz="4400" b="1" dirty="0" smtClean="0">
                <a:solidFill>
                  <a:schemeClr val="bg1"/>
                </a:solidFill>
                <a:latin typeface="Cambria" pitchFamily="18" charset="0"/>
              </a:rPr>
              <a:t>DIFFUSION IN P-N JUNCTION</a:t>
            </a:r>
            <a:endParaRPr lang="en-US" sz="4400" b="1" dirty="0">
              <a:solidFill>
                <a:schemeClr val="bg1"/>
              </a:solidFill>
              <a:latin typeface="Cambria" pitchFamily="18" charset="0"/>
            </a:endParaRPr>
          </a:p>
        </p:txBody>
      </p:sp>
      <p:pic>
        <p:nvPicPr>
          <p:cNvPr id="5" name="Content Placeholder 8">
            <a:extLst>
              <a:ext uri="{FF2B5EF4-FFF2-40B4-BE49-F238E27FC236}">
                <a16:creationId xmlns="" xmlns:a16="http://schemas.microsoft.com/office/drawing/2014/main" id="{F8E92CEE-8AC4-F540-991C-C737DC66989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4033"/>
            <a:ext cx="675139" cy="1074083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59D94-4DE0-4C81-B8BE-16B5DB9825E0}" type="slidenum">
              <a:rPr lang="en-US" smtClean="0"/>
              <a:pPr/>
              <a:t>10</a:t>
            </a:fld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8600" y="1295405"/>
            <a:ext cx="8610600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dirty="0" smtClean="0">
                <a:solidFill>
                  <a:schemeClr val="bg1"/>
                </a:solidFill>
                <a:latin typeface="Cambria" pitchFamily="18" charset="0"/>
              </a:rPr>
              <a:t>4. The </a:t>
            </a:r>
            <a:r>
              <a:rPr lang="en-US" sz="2400" dirty="0">
                <a:solidFill>
                  <a:schemeClr val="bg1"/>
                </a:solidFill>
                <a:latin typeface="Cambria" pitchFamily="18" charset="0"/>
              </a:rPr>
              <a:t>charge density of the P-type along the junction is filled with negatively charged acceptor ions (Na), and the charge density of the N-type along the junction becomes positive. This charge transfer of electrons and holes across the PN junction is known as </a:t>
            </a:r>
            <a:r>
              <a:rPr lang="en-US" sz="2400" b="1" u="sng" dirty="0">
                <a:solidFill>
                  <a:schemeClr val="bg1"/>
                </a:solidFill>
                <a:latin typeface="Cambria" pitchFamily="18" charset="0"/>
              </a:rPr>
              <a:t>diffusion</a:t>
            </a:r>
            <a:r>
              <a:rPr lang="en-US" sz="2400" b="1" u="sng" dirty="0" smtClean="0">
                <a:solidFill>
                  <a:schemeClr val="bg1"/>
                </a:solidFill>
                <a:latin typeface="Cambria" pitchFamily="18" charset="0"/>
              </a:rPr>
              <a:t>.(</a:t>
            </a:r>
            <a:r>
              <a:rPr lang="en-US" sz="2400" b="1" dirty="0" smtClean="0">
                <a:solidFill>
                  <a:schemeClr val="bg1"/>
                </a:solidFill>
                <a:latin typeface="Cambria" pitchFamily="18" charset="0"/>
              </a:rPr>
              <a:t>fig 3)</a:t>
            </a:r>
          </a:p>
          <a:p>
            <a:pPr algn="just">
              <a:buFont typeface="Wingdings" pitchFamily="2" charset="2"/>
              <a:buChar char="v"/>
            </a:pPr>
            <a:endParaRPr lang="en-US" sz="2400" b="1" u="sng" dirty="0" smtClean="0">
              <a:solidFill>
                <a:schemeClr val="bg1"/>
              </a:solidFill>
              <a:latin typeface="Cambria" pitchFamily="18" charset="0"/>
            </a:endParaRPr>
          </a:p>
          <a:p>
            <a:pPr algn="just"/>
            <a:endParaRPr lang="en-US" sz="2400" dirty="0">
              <a:solidFill>
                <a:schemeClr val="bg1"/>
              </a:solidFill>
              <a:latin typeface="Cambria" pitchFamily="18" charset="0"/>
            </a:endParaRPr>
          </a:p>
          <a:p>
            <a:endParaRPr lang="en-US" dirty="0"/>
          </a:p>
        </p:txBody>
      </p:sp>
      <p:pic>
        <p:nvPicPr>
          <p:cNvPr id="4" name="Picture 3" descr="375px-Pn_Junction_Diffusion_and_Drift.sv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600" y="3383280"/>
            <a:ext cx="5410200" cy="32461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90600" y="381004"/>
            <a:ext cx="8001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 smtClean="0">
                <a:solidFill>
                  <a:schemeClr val="bg1"/>
                </a:solidFill>
                <a:latin typeface="Cambria" pitchFamily="18" charset="0"/>
              </a:rPr>
              <a:t>DIFFUSION IN P-N JUNCTION</a:t>
            </a:r>
            <a:endParaRPr lang="en-US" sz="4400" b="1" dirty="0">
              <a:latin typeface="Cambria" pitchFamily="18" charset="0"/>
            </a:endParaRPr>
          </a:p>
        </p:txBody>
      </p:sp>
      <p:pic>
        <p:nvPicPr>
          <p:cNvPr id="8" name="Content Placeholder 8">
            <a:extLst>
              <a:ext uri="{FF2B5EF4-FFF2-40B4-BE49-F238E27FC236}">
                <a16:creationId xmlns="" xmlns:a16="http://schemas.microsoft.com/office/drawing/2014/main" id="{F8E92CEE-8AC4-F540-991C-C737DC66989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4033"/>
            <a:ext cx="675139" cy="1074083"/>
          </a:xfrm>
          <a:prstGeom prst="rect">
            <a:avLst/>
          </a:prstGeom>
        </p:spPr>
      </p:pic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59D94-4DE0-4C81-B8BE-16B5DB9825E0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2819400" y="6400804"/>
            <a:ext cx="3200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   Fig3:Diffusion in p-n junction[3]</a:t>
            </a:r>
            <a:endParaRPr lang="en-US" sz="1400" dirty="0">
              <a:solidFill>
                <a:schemeClr val="bg1"/>
              </a:solidFill>
              <a:latin typeface="Calibri" pitchFamily="34" charset="0"/>
              <a:cs typeface="Calibri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1219205"/>
            <a:ext cx="7391400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buFont typeface="Wingdings" pitchFamily="2" charset="2"/>
              <a:buChar char="v"/>
            </a:pPr>
            <a:r>
              <a:rPr lang="en-US" sz="2400" dirty="0" smtClean="0">
                <a:solidFill>
                  <a:schemeClr val="bg1"/>
                </a:solidFill>
                <a:latin typeface="Cambria" pitchFamily="18" charset="0"/>
              </a:rPr>
              <a:t>The width of these P and N layers depends on how heavily each side is doped with acceptor density NA, and donor density ND, respectively.</a:t>
            </a:r>
          </a:p>
          <a:p>
            <a:pPr algn="just">
              <a:buFont typeface="Wingdings" pitchFamily="2" charset="2"/>
              <a:buChar char="v"/>
            </a:pPr>
            <a:endParaRPr lang="en-US" sz="2400" dirty="0" smtClean="0">
              <a:solidFill>
                <a:schemeClr val="bg1"/>
              </a:solidFill>
              <a:latin typeface="Cambria" pitchFamily="18" charset="0"/>
            </a:endParaRPr>
          </a:p>
          <a:p>
            <a:pPr algn="just">
              <a:buFont typeface="Wingdings" pitchFamily="2" charset="2"/>
              <a:buChar char="v"/>
            </a:pPr>
            <a:r>
              <a:rPr lang="en-US" sz="2400" dirty="0" smtClean="0">
                <a:solidFill>
                  <a:schemeClr val="bg1"/>
                </a:solidFill>
                <a:latin typeface="Cambria" pitchFamily="18" charset="0"/>
              </a:rPr>
              <a:t>This area around the </a:t>
            </a:r>
            <a:r>
              <a:rPr lang="en-US" sz="2400" b="1" dirty="0" smtClean="0">
                <a:solidFill>
                  <a:schemeClr val="bg1"/>
                </a:solidFill>
                <a:latin typeface="Cambria" pitchFamily="18" charset="0"/>
              </a:rPr>
              <a:t>PN Junction</a:t>
            </a:r>
            <a:r>
              <a:rPr lang="en-US" sz="2400" dirty="0" smtClean="0">
                <a:solidFill>
                  <a:schemeClr val="bg1"/>
                </a:solidFill>
                <a:latin typeface="Cambria" pitchFamily="18" charset="0"/>
              </a:rPr>
              <a:t> is now called the </a:t>
            </a:r>
            <a:r>
              <a:rPr lang="en-US" sz="2400" b="1" dirty="0" smtClean="0">
                <a:solidFill>
                  <a:schemeClr val="bg1"/>
                </a:solidFill>
                <a:latin typeface="Cambria" pitchFamily="18" charset="0"/>
              </a:rPr>
              <a:t>Depletion Layer (fig 4).</a:t>
            </a:r>
            <a:endParaRPr lang="en-US" sz="2400" dirty="0" smtClean="0">
              <a:solidFill>
                <a:schemeClr val="bg1"/>
              </a:solidFill>
              <a:latin typeface="Cambria" pitchFamily="18" charset="0"/>
            </a:endParaRPr>
          </a:p>
          <a:p>
            <a:pPr algn="just"/>
            <a:endParaRPr lang="en-US" dirty="0">
              <a:solidFill>
                <a:schemeClr val="bg1"/>
              </a:solidFill>
              <a:latin typeface="Cambria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600200" y="304804"/>
            <a:ext cx="6019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 smtClean="0">
                <a:solidFill>
                  <a:schemeClr val="bg1"/>
                </a:solidFill>
                <a:latin typeface="Cambria" pitchFamily="18" charset="0"/>
              </a:rPr>
              <a:t>DEPLETION REGION</a:t>
            </a:r>
            <a:endParaRPr lang="en-US" sz="4400" b="1" dirty="0">
              <a:solidFill>
                <a:schemeClr val="bg1"/>
              </a:solidFill>
              <a:latin typeface="Cambria" pitchFamily="18" charset="0"/>
            </a:endParaRPr>
          </a:p>
        </p:txBody>
      </p:sp>
      <p:pic>
        <p:nvPicPr>
          <p:cNvPr id="6" name="Picture 5" descr="pn-jun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3886200"/>
            <a:ext cx="6629400" cy="23622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7" name="Content Placeholder 8">
            <a:extLst>
              <a:ext uri="{FF2B5EF4-FFF2-40B4-BE49-F238E27FC236}">
                <a16:creationId xmlns="" xmlns:a16="http://schemas.microsoft.com/office/drawing/2014/main" id="{F8E92CEE-8AC4-F540-991C-C737DC66989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4033"/>
            <a:ext cx="675139" cy="1074083"/>
          </a:xfrm>
          <a:prstGeom prst="rect">
            <a:avLst/>
          </a:prstGeom>
        </p:spPr>
      </p:pic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59D94-4DE0-4C81-B8BE-16B5DB9825E0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2438400" y="6477004"/>
            <a:ext cx="3810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solidFill>
                  <a:schemeClr val="bg1"/>
                </a:solidFill>
                <a:latin typeface="Cambria" pitchFamily="18" charset="0"/>
              </a:rPr>
              <a:t>               Fig4 : Formation of depletion region[4]</a:t>
            </a:r>
            <a:endParaRPr lang="en-US" sz="1400" dirty="0">
              <a:solidFill>
                <a:schemeClr val="bg1"/>
              </a:solidFill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381000" y="1371602"/>
            <a:ext cx="8534400" cy="489364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just">
              <a:buFont typeface="Wingdings" pitchFamily="2" charset="2"/>
              <a:buChar char="Ø"/>
            </a:pPr>
            <a:r>
              <a:rPr lang="en-US" sz="2400" dirty="0" smtClean="0">
                <a:solidFill>
                  <a:schemeClr val="bg1"/>
                </a:solidFill>
                <a:latin typeface="Cambria" pitchFamily="18" charset="0"/>
              </a:rPr>
              <a:t>The total charge on each side of a </a:t>
            </a:r>
            <a:r>
              <a:rPr lang="en-US" sz="2400" i="1" dirty="0" smtClean="0">
                <a:solidFill>
                  <a:schemeClr val="bg1"/>
                </a:solidFill>
                <a:latin typeface="Cambria" pitchFamily="18" charset="0"/>
              </a:rPr>
              <a:t>PN Junction</a:t>
            </a:r>
            <a:r>
              <a:rPr lang="en-US" sz="2400" dirty="0" smtClean="0">
                <a:solidFill>
                  <a:schemeClr val="bg1"/>
                </a:solidFill>
                <a:latin typeface="Cambria" pitchFamily="18" charset="0"/>
              </a:rPr>
              <a:t> must be equal and opposite to maintain a neutral charge condition around the junction.</a:t>
            </a:r>
          </a:p>
          <a:p>
            <a:pPr algn="just">
              <a:buFont typeface="Wingdings" pitchFamily="2" charset="2"/>
              <a:buChar char="Ø"/>
            </a:pPr>
            <a:endParaRPr lang="en-US" sz="2400" dirty="0" smtClean="0">
              <a:solidFill>
                <a:schemeClr val="bg1"/>
              </a:solidFill>
              <a:latin typeface="Cambria" pitchFamily="18" charset="0"/>
            </a:endParaRPr>
          </a:p>
          <a:p>
            <a:pPr algn="just">
              <a:buFont typeface="Wingdings" pitchFamily="2" charset="2"/>
              <a:buChar char="Ø"/>
            </a:pPr>
            <a:r>
              <a:rPr lang="en-US" sz="2400" dirty="0" smtClean="0">
                <a:solidFill>
                  <a:schemeClr val="bg1"/>
                </a:solidFill>
                <a:latin typeface="Cambria" pitchFamily="18" charset="0"/>
              </a:rPr>
              <a:t>The </a:t>
            </a:r>
            <a:r>
              <a:rPr lang="en-US" sz="2400" dirty="0">
                <a:solidFill>
                  <a:schemeClr val="bg1"/>
                </a:solidFill>
                <a:latin typeface="Cambria" pitchFamily="18" charset="0"/>
              </a:rPr>
              <a:t>depletion layer region has a distance D, it therefore must therefore penetrate into the silicon by a distance of Dp for the positive side, and a distance of Dn for the negative side giving a relationship between the two of:  Dp*NA = Dn*ND in order to maintain charge neutrality also called </a:t>
            </a:r>
            <a:r>
              <a:rPr lang="en-US" sz="2400" dirty="0" smtClean="0">
                <a:solidFill>
                  <a:schemeClr val="bg1"/>
                </a:solidFill>
                <a:latin typeface="Cambria" pitchFamily="18" charset="0"/>
              </a:rPr>
              <a:t>equilibrium.</a:t>
            </a:r>
          </a:p>
          <a:p>
            <a:pPr algn="just">
              <a:buFont typeface="Wingdings" pitchFamily="2" charset="2"/>
              <a:buChar char="Ø"/>
            </a:pPr>
            <a:endParaRPr lang="en-US" sz="2400" dirty="0">
              <a:solidFill>
                <a:schemeClr val="bg1"/>
              </a:solidFill>
              <a:latin typeface="Cambria" pitchFamily="18" charset="0"/>
            </a:endParaRPr>
          </a:p>
          <a:p>
            <a:pPr algn="just">
              <a:buFont typeface="Wingdings" pitchFamily="2" charset="2"/>
              <a:buChar char="Ø"/>
            </a:pPr>
            <a:r>
              <a:rPr lang="en-US" sz="2400" dirty="0">
                <a:solidFill>
                  <a:schemeClr val="bg1"/>
                </a:solidFill>
                <a:latin typeface="Cambria" pitchFamily="18" charset="0"/>
              </a:rPr>
              <a:t>This electric field created by the diffusion process has created a “built-in potential difference” across the junction called POTENTIAL </a:t>
            </a:r>
            <a:r>
              <a:rPr lang="en-US" sz="2400" dirty="0" smtClean="0">
                <a:solidFill>
                  <a:schemeClr val="bg1"/>
                </a:solidFill>
                <a:latin typeface="Cambria" pitchFamily="18" charset="0"/>
              </a:rPr>
              <a:t>BARRIER (fig5).</a:t>
            </a:r>
            <a:endParaRPr lang="en-US" sz="2400" dirty="0">
              <a:solidFill>
                <a:schemeClr val="bg1"/>
              </a:solidFill>
              <a:latin typeface="Cambria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676400" y="381004"/>
            <a:ext cx="58674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 smtClean="0">
                <a:solidFill>
                  <a:schemeClr val="bg1"/>
                </a:solidFill>
                <a:latin typeface="Cambria" pitchFamily="18" charset="0"/>
              </a:rPr>
              <a:t>POTENTIAL BARRIER</a:t>
            </a:r>
            <a:endParaRPr lang="en-US" sz="4400" b="1" dirty="0">
              <a:solidFill>
                <a:schemeClr val="bg1"/>
              </a:solidFill>
              <a:latin typeface="Cambria" pitchFamily="18" charset="0"/>
            </a:endParaRPr>
          </a:p>
        </p:txBody>
      </p:sp>
      <p:pic>
        <p:nvPicPr>
          <p:cNvPr id="4" name="Content Placeholder 8">
            <a:extLst>
              <a:ext uri="{FF2B5EF4-FFF2-40B4-BE49-F238E27FC236}">
                <a16:creationId xmlns="" xmlns:a16="http://schemas.microsoft.com/office/drawing/2014/main" id="{F8E92CEE-8AC4-F540-991C-C737DC66989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4033"/>
            <a:ext cx="675139" cy="1074083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59D94-4DE0-4C81-B8BE-16B5DB9825E0}" type="slidenum">
              <a:rPr lang="en-US" smtClean="0"/>
              <a:pPr/>
              <a:t>13</a:t>
            </a:fld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:\Users\abc\Downloads\15929675719795957353304832731559 (1).gif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66800" y="1676404"/>
            <a:ext cx="7239000" cy="4262437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3" name="TextBox 2"/>
          <p:cNvSpPr txBox="1"/>
          <p:nvPr/>
        </p:nvSpPr>
        <p:spPr>
          <a:xfrm>
            <a:off x="2133600" y="6260068"/>
            <a:ext cx="4800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         Fig5: Potential barrier in pn junction[5]</a:t>
            </a:r>
            <a:endParaRPr lang="en-US" dirty="0">
              <a:solidFill>
                <a:schemeClr val="bg1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286000" y="457204"/>
            <a:ext cx="57912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 smtClean="0">
                <a:solidFill>
                  <a:schemeClr val="bg1"/>
                </a:solidFill>
                <a:latin typeface="Cambria" pitchFamily="18" charset="0"/>
              </a:rPr>
              <a:t>POTENTIAL BARRIER</a:t>
            </a:r>
            <a:endParaRPr lang="en-US" sz="4400" b="1" dirty="0">
              <a:solidFill>
                <a:schemeClr val="bg1"/>
              </a:solidFill>
              <a:latin typeface="Cambria" pitchFamily="18" charset="0"/>
            </a:endParaRPr>
          </a:p>
        </p:txBody>
      </p:sp>
      <p:pic>
        <p:nvPicPr>
          <p:cNvPr id="6" name="Content Placeholder 8">
            <a:extLst>
              <a:ext uri="{FF2B5EF4-FFF2-40B4-BE49-F238E27FC236}">
                <a16:creationId xmlns="" xmlns:a16="http://schemas.microsoft.com/office/drawing/2014/main" id="{F8E92CEE-8AC4-F540-991C-C737DC66989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4033"/>
            <a:ext cx="675139" cy="1074083"/>
          </a:xfrm>
          <a:prstGeom prst="rect">
            <a:avLst/>
          </a:prstGeom>
        </p:spPr>
      </p:pic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59D94-4DE0-4C81-B8BE-16B5DB9825E0}" type="slidenum">
              <a:rPr lang="en-US" smtClean="0"/>
              <a:pPr/>
              <a:t>14</a:t>
            </a:fld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85800" y="609603"/>
            <a:ext cx="84582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 smtClean="0">
                <a:solidFill>
                  <a:schemeClr val="bg1"/>
                </a:solidFill>
                <a:latin typeface="Cambria" pitchFamily="18" charset="0"/>
              </a:rPr>
              <a:t>Three Possible Biasing Conditions</a:t>
            </a:r>
            <a:endParaRPr lang="en-US" sz="4400" dirty="0">
              <a:solidFill>
                <a:schemeClr val="bg1"/>
              </a:solidFill>
              <a:latin typeface="Cambria" pitchFamily="18" charset="0"/>
            </a:endParaRPr>
          </a:p>
        </p:txBody>
      </p:sp>
      <p:sp>
        <p:nvSpPr>
          <p:cNvPr id="4" name="Rounded Rectangular Callout 3"/>
          <p:cNvSpPr/>
          <p:nvPr/>
        </p:nvSpPr>
        <p:spPr>
          <a:xfrm>
            <a:off x="762000" y="2209800"/>
            <a:ext cx="2133600" cy="1676400"/>
          </a:xfrm>
          <a:prstGeom prst="wedgeRoundRectCallo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838200" y="2819404"/>
            <a:ext cx="2286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chemeClr val="bg1"/>
                </a:solidFill>
              </a:rPr>
              <a:t>No  biasing</a:t>
            </a:r>
            <a:endParaRPr lang="en-US" sz="2400" b="1" dirty="0">
              <a:solidFill>
                <a:schemeClr val="bg1"/>
              </a:solidFill>
            </a:endParaRPr>
          </a:p>
        </p:txBody>
      </p:sp>
      <p:sp>
        <p:nvSpPr>
          <p:cNvPr id="6" name="Rounded Rectangular Callout 5"/>
          <p:cNvSpPr/>
          <p:nvPr/>
        </p:nvSpPr>
        <p:spPr>
          <a:xfrm>
            <a:off x="3657600" y="4419600"/>
            <a:ext cx="1981200" cy="1676400"/>
          </a:xfrm>
          <a:prstGeom prst="wedgeRoundRectCallo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3962400" y="4876804"/>
            <a:ext cx="1447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chemeClr val="bg1"/>
                </a:solidFill>
              </a:rPr>
              <a:t>Forward biasing</a:t>
            </a:r>
            <a:endParaRPr lang="en-US" sz="2400" b="1" dirty="0">
              <a:solidFill>
                <a:schemeClr val="bg1"/>
              </a:solidFill>
            </a:endParaRPr>
          </a:p>
        </p:txBody>
      </p:sp>
      <p:sp>
        <p:nvSpPr>
          <p:cNvPr id="8" name="Rounded Rectangular Callout 7"/>
          <p:cNvSpPr/>
          <p:nvPr/>
        </p:nvSpPr>
        <p:spPr>
          <a:xfrm>
            <a:off x="6324600" y="2209800"/>
            <a:ext cx="1905000" cy="1600200"/>
          </a:xfrm>
          <a:prstGeom prst="wedgeRoundRectCallo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6629400" y="2667004"/>
            <a:ext cx="1371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chemeClr val="bg1"/>
                </a:solidFill>
              </a:rPr>
              <a:t>Reverse biasing</a:t>
            </a:r>
            <a:endParaRPr lang="en-US" sz="2400" b="1" dirty="0">
              <a:solidFill>
                <a:schemeClr val="bg1"/>
              </a:solidFill>
            </a:endParaRPr>
          </a:p>
        </p:txBody>
      </p:sp>
      <p:pic>
        <p:nvPicPr>
          <p:cNvPr id="10" name="Content Placeholder 8">
            <a:extLst>
              <a:ext uri="{FF2B5EF4-FFF2-40B4-BE49-F238E27FC236}">
                <a16:creationId xmlns="" xmlns:a16="http://schemas.microsoft.com/office/drawing/2014/main" id="{F8E92CEE-8AC4-F540-991C-C737DC66989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4033"/>
            <a:ext cx="675139" cy="1074083"/>
          </a:xfrm>
          <a:prstGeom prst="rect">
            <a:avLst/>
          </a:prstGeom>
        </p:spPr>
      </p:pic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59D94-4DE0-4C81-B8BE-16B5DB9825E0}" type="slidenum">
              <a:rPr lang="en-US" smtClean="0"/>
              <a:pPr/>
              <a:t>15</a:t>
            </a:fld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04800" y="152404"/>
            <a:ext cx="86106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 smtClean="0">
                <a:solidFill>
                  <a:schemeClr val="bg1"/>
                </a:solidFill>
              </a:rPr>
              <a:t>                  </a:t>
            </a:r>
            <a:r>
              <a:rPr lang="en-US" sz="4400" b="1" dirty="0" smtClean="0">
                <a:solidFill>
                  <a:schemeClr val="bg1"/>
                </a:solidFill>
                <a:latin typeface="Cambria" pitchFamily="18" charset="0"/>
              </a:rPr>
              <a:t>NO BIASING</a:t>
            </a:r>
            <a:endParaRPr lang="en-US" sz="4400" dirty="0">
              <a:solidFill>
                <a:schemeClr val="bg1"/>
              </a:solidFill>
              <a:latin typeface="Cambria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09600" y="1371602"/>
            <a:ext cx="3657600" cy="507831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just">
              <a:buFont typeface="Wingdings" pitchFamily="2" charset="2"/>
              <a:buChar char="§"/>
            </a:pPr>
            <a:r>
              <a:rPr lang="en-US" sz="2400" dirty="0" smtClean="0">
                <a:solidFill>
                  <a:schemeClr val="bg1"/>
                </a:solidFill>
                <a:latin typeface="Cambria" pitchFamily="18" charset="0"/>
              </a:rPr>
              <a:t>No </a:t>
            </a:r>
            <a:r>
              <a:rPr lang="en-US" sz="2400" dirty="0">
                <a:solidFill>
                  <a:schemeClr val="bg1"/>
                </a:solidFill>
                <a:latin typeface="Cambria" pitchFamily="18" charset="0"/>
              </a:rPr>
              <a:t>external voltage potential is applied to the PN junction </a:t>
            </a:r>
            <a:r>
              <a:rPr lang="en-US" sz="2400" dirty="0" smtClean="0">
                <a:solidFill>
                  <a:schemeClr val="bg1"/>
                </a:solidFill>
                <a:latin typeface="Cambria" pitchFamily="18" charset="0"/>
              </a:rPr>
              <a:t>diode(fig6). </a:t>
            </a:r>
          </a:p>
          <a:p>
            <a:pPr algn="just"/>
            <a:endParaRPr lang="en-US" sz="2400" dirty="0" smtClean="0">
              <a:solidFill>
                <a:schemeClr val="bg1"/>
              </a:solidFill>
              <a:latin typeface="Cambria" pitchFamily="18" charset="0"/>
            </a:endParaRPr>
          </a:p>
          <a:p>
            <a:pPr algn="just">
              <a:buFont typeface="Wingdings" pitchFamily="2" charset="2"/>
              <a:buChar char="§"/>
            </a:pPr>
            <a:r>
              <a:rPr lang="en-US" sz="2400" dirty="0" smtClean="0">
                <a:solidFill>
                  <a:schemeClr val="bg1"/>
                </a:solidFill>
                <a:latin typeface="Cambria" pitchFamily="18" charset="0"/>
              </a:rPr>
              <a:t>The </a:t>
            </a:r>
            <a:r>
              <a:rPr lang="en-US" sz="2400" dirty="0">
                <a:solidFill>
                  <a:schemeClr val="bg1"/>
                </a:solidFill>
                <a:latin typeface="Cambria" pitchFamily="18" charset="0"/>
              </a:rPr>
              <a:t>potential barrier helps minority carriers (few free electrons in the P-region and few holes in the N-region) to drift across the </a:t>
            </a:r>
            <a:r>
              <a:rPr lang="en-US" sz="2400" dirty="0" smtClean="0">
                <a:solidFill>
                  <a:schemeClr val="bg1"/>
                </a:solidFill>
                <a:latin typeface="Cambria" pitchFamily="18" charset="0"/>
              </a:rPr>
              <a:t>junction. Equilibrium” </a:t>
            </a:r>
            <a:r>
              <a:rPr lang="en-US" sz="2400" dirty="0">
                <a:solidFill>
                  <a:schemeClr val="bg1"/>
                </a:solidFill>
                <a:latin typeface="Cambria" pitchFamily="18" charset="0"/>
              </a:rPr>
              <a:t>or balance will be </a:t>
            </a:r>
            <a:r>
              <a:rPr lang="en-US" sz="2400" dirty="0" smtClean="0">
                <a:solidFill>
                  <a:schemeClr val="bg1"/>
                </a:solidFill>
                <a:latin typeface="Cambria" pitchFamily="18" charset="0"/>
              </a:rPr>
              <a:t>established. </a:t>
            </a:r>
            <a:endParaRPr lang="en-US" sz="2400" dirty="0">
              <a:solidFill>
                <a:schemeClr val="bg1"/>
              </a:solidFill>
              <a:latin typeface="Cambria" pitchFamily="18" charset="0"/>
            </a:endParaRPr>
          </a:p>
          <a:p>
            <a:pPr algn="just">
              <a:buFont typeface="Wingdings" pitchFamily="2" charset="2"/>
              <a:buChar char="§"/>
            </a:pPr>
            <a:endParaRPr lang="en-US" dirty="0" smtClean="0"/>
          </a:p>
          <a:p>
            <a:pPr algn="just"/>
            <a:endParaRPr lang="en-US" dirty="0"/>
          </a:p>
        </p:txBody>
      </p:sp>
      <p:pic>
        <p:nvPicPr>
          <p:cNvPr id="12" name="Content Placeholder 8">
            <a:extLst>
              <a:ext uri="{FF2B5EF4-FFF2-40B4-BE49-F238E27FC236}">
                <a16:creationId xmlns="" xmlns:a16="http://schemas.microsoft.com/office/drawing/2014/main" id="{F8E92CEE-8AC4-F540-991C-C737DC66989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4033"/>
            <a:ext cx="675139" cy="1074083"/>
          </a:xfrm>
          <a:prstGeom prst="rect">
            <a:avLst/>
          </a:prstGeom>
        </p:spPr>
      </p:pic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59D94-4DE0-4C81-B8BE-16B5DB9825E0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5181600" y="5486404"/>
            <a:ext cx="32766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solidFill>
                  <a:schemeClr val="bg1"/>
                </a:solidFill>
              </a:rPr>
              <a:t>            </a:t>
            </a:r>
          </a:p>
          <a:p>
            <a:endParaRPr lang="en-US" sz="1400" dirty="0" smtClean="0">
              <a:solidFill>
                <a:schemeClr val="bg1"/>
              </a:solidFill>
            </a:endParaRPr>
          </a:p>
          <a:p>
            <a:r>
              <a:rPr lang="en-US" sz="1400" dirty="0" smtClean="0">
                <a:solidFill>
                  <a:schemeClr val="bg1"/>
                </a:solidFill>
              </a:rPr>
              <a:t>         </a:t>
            </a:r>
          </a:p>
          <a:p>
            <a:r>
              <a:rPr lang="en-US" sz="1400" dirty="0" smtClean="0">
                <a:solidFill>
                  <a:schemeClr val="bg1"/>
                </a:solidFill>
              </a:rPr>
              <a:t>         Fig 6:  No external voltage[6]</a:t>
            </a:r>
            <a:endParaRPr lang="en-US" sz="1400" dirty="0">
              <a:solidFill>
                <a:schemeClr val="bg1"/>
              </a:solidFill>
            </a:endParaRPr>
          </a:p>
        </p:txBody>
      </p:sp>
      <p:pic>
        <p:nvPicPr>
          <p:cNvPr id="8" name="Picture 7" descr="rec101-unit-1-part-ii-pn-junction-diode-3-63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4400" y="1371600"/>
            <a:ext cx="3962400" cy="45720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unBIAS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1981200"/>
            <a:ext cx="7239000" cy="40386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4" name="TextBox 3"/>
          <p:cNvSpPr txBox="1"/>
          <p:nvPr/>
        </p:nvSpPr>
        <p:spPr>
          <a:xfrm>
            <a:off x="304800" y="381000"/>
            <a:ext cx="88392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 smtClean="0">
                <a:solidFill>
                  <a:schemeClr val="bg1"/>
                </a:solidFill>
                <a:latin typeface="Cambria" pitchFamily="18" charset="0"/>
              </a:rPr>
              <a:t>   ENERGY LEVEL DIAGRAM OF                     UNBIASED PN JUNCTION  </a:t>
            </a:r>
            <a:endParaRPr lang="en-US" sz="4400" b="1" dirty="0">
              <a:solidFill>
                <a:schemeClr val="bg1"/>
              </a:solidFill>
              <a:latin typeface="Cambria" pitchFamily="18" charset="0"/>
            </a:endParaRPr>
          </a:p>
        </p:txBody>
      </p:sp>
      <p:pic>
        <p:nvPicPr>
          <p:cNvPr id="5" name="Content Placeholder 8">
            <a:extLst>
              <a:ext uri="{FF2B5EF4-FFF2-40B4-BE49-F238E27FC236}">
                <a16:creationId xmlns="" xmlns:a16="http://schemas.microsoft.com/office/drawing/2014/main" id="{F8E92CEE-8AC4-F540-991C-C737DC66989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4033"/>
            <a:ext cx="675139" cy="1074083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59D94-4DE0-4C81-B8BE-16B5DB9825E0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2667000" y="6400804"/>
            <a:ext cx="3886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solidFill>
                  <a:schemeClr val="bg1"/>
                </a:solidFill>
                <a:latin typeface="Cambria" pitchFamily="18" charset="0"/>
              </a:rPr>
              <a:t>Fig 7: Unbiased energy level diagram[7]</a:t>
            </a:r>
            <a:endParaRPr lang="en-US" sz="1400" dirty="0">
              <a:solidFill>
                <a:schemeClr val="bg1"/>
              </a:solidFill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04800" y="1371604"/>
            <a:ext cx="4343400" cy="526297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just">
              <a:buFont typeface="Wingdings" pitchFamily="2" charset="2"/>
              <a:buChar char="v"/>
            </a:pPr>
            <a:r>
              <a:rPr lang="en-US" sz="2400" dirty="0">
                <a:solidFill>
                  <a:schemeClr val="bg1"/>
                </a:solidFill>
                <a:latin typeface="Cambria" pitchFamily="18" charset="0"/>
              </a:rPr>
              <a:t>Pn–junction is forward biased when the n–type is more negative than the p–type. </a:t>
            </a:r>
            <a:r>
              <a:rPr lang="en-US" sz="2400" dirty="0" smtClean="0">
                <a:solidFill>
                  <a:schemeClr val="bg1"/>
                </a:solidFill>
                <a:latin typeface="Cambria" pitchFamily="18" charset="0"/>
              </a:rPr>
              <a:t>In </a:t>
            </a:r>
            <a:r>
              <a:rPr lang="en-US" sz="2400" dirty="0">
                <a:solidFill>
                  <a:schemeClr val="bg1"/>
                </a:solidFill>
                <a:latin typeface="Cambria" pitchFamily="18" charset="0"/>
              </a:rPr>
              <a:t>forward bias mode and when </a:t>
            </a:r>
            <a:r>
              <a:rPr lang="en-US" sz="2400" b="1" i="1" dirty="0">
                <a:solidFill>
                  <a:schemeClr val="bg1"/>
                </a:solidFill>
                <a:latin typeface="Cambria" pitchFamily="18" charset="0"/>
              </a:rPr>
              <a:t>VF </a:t>
            </a:r>
            <a:r>
              <a:rPr lang="en-US" sz="2400" b="1" dirty="0">
                <a:solidFill>
                  <a:schemeClr val="bg1"/>
                </a:solidFill>
                <a:latin typeface="Cambria" pitchFamily="18" charset="0"/>
              </a:rPr>
              <a:t>&gt;barrier potential</a:t>
            </a:r>
            <a:r>
              <a:rPr lang="en-US" sz="2400" dirty="0">
                <a:solidFill>
                  <a:schemeClr val="bg1"/>
                </a:solidFill>
                <a:latin typeface="Cambria" pitchFamily="18" charset="0"/>
              </a:rPr>
              <a:t> the </a:t>
            </a:r>
            <a:r>
              <a:rPr lang="en-US" sz="2400" i="1" dirty="0">
                <a:solidFill>
                  <a:schemeClr val="bg1"/>
                </a:solidFill>
                <a:latin typeface="Cambria" pitchFamily="18" charset="0"/>
              </a:rPr>
              <a:t>pn</a:t>
            </a:r>
            <a:r>
              <a:rPr lang="en-US" sz="2400" dirty="0">
                <a:solidFill>
                  <a:schemeClr val="bg1"/>
                </a:solidFill>
                <a:latin typeface="Cambria" pitchFamily="18" charset="0"/>
              </a:rPr>
              <a:t>–junction</a:t>
            </a:r>
            <a:r>
              <a:rPr lang="en-US" sz="2400" b="1" dirty="0">
                <a:solidFill>
                  <a:schemeClr val="bg1"/>
                </a:solidFill>
                <a:latin typeface="Cambria" pitchFamily="18" charset="0"/>
              </a:rPr>
              <a:t> </a:t>
            </a:r>
            <a:r>
              <a:rPr lang="en-US" sz="2400" dirty="0">
                <a:solidFill>
                  <a:schemeClr val="bg1"/>
                </a:solidFill>
                <a:latin typeface="Cambria" pitchFamily="18" charset="0"/>
              </a:rPr>
              <a:t>begins to conduct</a:t>
            </a:r>
            <a:r>
              <a:rPr lang="en-US" sz="2400" dirty="0" smtClean="0">
                <a:solidFill>
                  <a:schemeClr val="bg1"/>
                </a:solidFill>
                <a:latin typeface="Cambria" pitchFamily="18" charset="0"/>
              </a:rPr>
              <a:t>.</a:t>
            </a:r>
          </a:p>
          <a:p>
            <a:pPr algn="just">
              <a:buFont typeface="Wingdings" pitchFamily="2" charset="2"/>
              <a:buChar char="v"/>
            </a:pPr>
            <a:r>
              <a:rPr lang="en-US" sz="2400" dirty="0" smtClean="0">
                <a:solidFill>
                  <a:schemeClr val="bg1"/>
                </a:solidFill>
                <a:latin typeface="Cambria" pitchFamily="18" charset="0"/>
              </a:rPr>
              <a:t> </a:t>
            </a:r>
            <a:r>
              <a:rPr lang="en-US" sz="2400" dirty="0">
                <a:solidFill>
                  <a:schemeClr val="bg1"/>
                </a:solidFill>
                <a:latin typeface="Cambria" pitchFamily="18" charset="0"/>
              </a:rPr>
              <a:t>The majority carriers, for example,</a:t>
            </a:r>
            <a:r>
              <a:rPr lang="en-US" sz="2400" b="1" dirty="0">
                <a:solidFill>
                  <a:schemeClr val="bg1"/>
                </a:solidFill>
                <a:latin typeface="Cambria" pitchFamily="18" charset="0"/>
              </a:rPr>
              <a:t> </a:t>
            </a:r>
            <a:r>
              <a:rPr lang="en-US" sz="2400" dirty="0">
                <a:solidFill>
                  <a:schemeClr val="bg1"/>
                </a:solidFill>
                <a:latin typeface="Cambria" pitchFamily="18" charset="0"/>
              </a:rPr>
              <a:t>electrons, from </a:t>
            </a:r>
            <a:r>
              <a:rPr lang="en-US" sz="2400" i="1" dirty="0">
                <a:solidFill>
                  <a:schemeClr val="bg1"/>
                </a:solidFill>
                <a:latin typeface="Cambria" pitchFamily="18" charset="0"/>
              </a:rPr>
              <a:t>n </a:t>
            </a:r>
            <a:r>
              <a:rPr lang="en-US" sz="2400" dirty="0">
                <a:solidFill>
                  <a:schemeClr val="bg1"/>
                </a:solidFill>
                <a:latin typeface="Cambria" pitchFamily="18" charset="0"/>
              </a:rPr>
              <a:t>side cross the </a:t>
            </a:r>
            <a:r>
              <a:rPr lang="en-US" sz="2400" i="1" dirty="0">
                <a:solidFill>
                  <a:schemeClr val="bg1"/>
                </a:solidFill>
                <a:latin typeface="Cambria" pitchFamily="18" charset="0"/>
              </a:rPr>
              <a:t>pn</a:t>
            </a:r>
            <a:r>
              <a:rPr lang="en-US" sz="2400" dirty="0">
                <a:solidFill>
                  <a:schemeClr val="bg1"/>
                </a:solidFill>
                <a:latin typeface="Cambria" pitchFamily="18" charset="0"/>
              </a:rPr>
              <a:t>–junction and move into the </a:t>
            </a:r>
            <a:r>
              <a:rPr lang="en-US" sz="2400" i="1" dirty="0">
                <a:solidFill>
                  <a:schemeClr val="bg1"/>
                </a:solidFill>
                <a:latin typeface="Cambria" pitchFamily="18" charset="0"/>
              </a:rPr>
              <a:t>p </a:t>
            </a:r>
            <a:r>
              <a:rPr lang="en-US" sz="2400" dirty="0">
                <a:solidFill>
                  <a:schemeClr val="bg1"/>
                </a:solidFill>
                <a:latin typeface="Cambria" pitchFamily="18" charset="0"/>
              </a:rPr>
              <a:t>side with little opposition and conduction occurs. </a:t>
            </a:r>
            <a:r>
              <a:rPr lang="en-US" sz="2400" dirty="0" smtClean="0">
                <a:solidFill>
                  <a:schemeClr val="bg1"/>
                </a:solidFill>
                <a:latin typeface="Cambria" pitchFamily="18" charset="0"/>
              </a:rPr>
              <a:t>The </a:t>
            </a:r>
            <a:r>
              <a:rPr lang="en-US" sz="2400" dirty="0">
                <a:solidFill>
                  <a:schemeClr val="bg1"/>
                </a:solidFill>
                <a:latin typeface="Cambria" pitchFamily="18" charset="0"/>
              </a:rPr>
              <a:t>depletion region becomes</a:t>
            </a:r>
            <a:r>
              <a:rPr lang="en-US" sz="2400" b="1" dirty="0">
                <a:solidFill>
                  <a:schemeClr val="bg1"/>
                </a:solidFill>
                <a:latin typeface="Cambria" pitchFamily="18" charset="0"/>
              </a:rPr>
              <a:t> </a:t>
            </a:r>
            <a:r>
              <a:rPr lang="en-US" sz="2400" dirty="0" smtClean="0">
                <a:solidFill>
                  <a:schemeClr val="bg1"/>
                </a:solidFill>
                <a:latin typeface="Cambria" pitchFamily="18" charset="0"/>
              </a:rPr>
              <a:t>narrower(fig8).</a:t>
            </a:r>
          </a:p>
          <a:p>
            <a:pPr algn="just">
              <a:buFont typeface="Wingdings" pitchFamily="2" charset="2"/>
              <a:buChar char="§"/>
            </a:pP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057400" y="533404"/>
            <a:ext cx="61722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 smtClean="0">
                <a:solidFill>
                  <a:schemeClr val="bg1"/>
                </a:solidFill>
                <a:latin typeface="Cambria" pitchFamily="18" charset="0"/>
              </a:rPr>
              <a:t>FORWARD BIASING</a:t>
            </a:r>
            <a:endParaRPr lang="en-US" sz="4400" b="1" dirty="0">
              <a:solidFill>
                <a:schemeClr val="bg1"/>
              </a:solidFill>
              <a:latin typeface="Cambria" pitchFamily="18" charset="0"/>
            </a:endParaRPr>
          </a:p>
        </p:txBody>
      </p:sp>
      <p:pic>
        <p:nvPicPr>
          <p:cNvPr id="6" name="Content Placeholder 8">
            <a:extLst>
              <a:ext uri="{FF2B5EF4-FFF2-40B4-BE49-F238E27FC236}">
                <a16:creationId xmlns="" xmlns:a16="http://schemas.microsoft.com/office/drawing/2014/main" id="{F8E92CEE-8AC4-F540-991C-C737DC66989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4033"/>
            <a:ext cx="675139" cy="1074083"/>
          </a:xfrm>
          <a:prstGeom prst="rect">
            <a:avLst/>
          </a:prstGeom>
        </p:spPr>
      </p:pic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59D94-4DE0-4C81-B8BE-16B5DB9825E0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5105400" y="6400804"/>
            <a:ext cx="3276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solidFill>
                  <a:schemeClr val="bg1"/>
                </a:solidFill>
                <a:latin typeface="Cambria" pitchFamily="18" charset="0"/>
              </a:rPr>
              <a:t>              Fig 8: Forward biasing[8]</a:t>
            </a:r>
            <a:endParaRPr lang="en-US" sz="1400" dirty="0">
              <a:solidFill>
                <a:schemeClr val="bg1"/>
              </a:solidFill>
              <a:latin typeface="Cambria" pitchFamily="18" charset="0"/>
            </a:endParaRPr>
          </a:p>
        </p:txBody>
      </p:sp>
      <p:pic>
        <p:nvPicPr>
          <p:cNvPr id="8" name="Picture 7" descr="forward-biased-condition-of-diode-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0" y="1371600"/>
            <a:ext cx="3810000" cy="47244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orw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981200"/>
            <a:ext cx="7924800" cy="37338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3" name="TextBox 2"/>
          <p:cNvSpPr txBox="1"/>
          <p:nvPr/>
        </p:nvSpPr>
        <p:spPr>
          <a:xfrm>
            <a:off x="609600" y="304800"/>
            <a:ext cx="83058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 smtClean="0">
                <a:solidFill>
                  <a:schemeClr val="bg1"/>
                </a:solidFill>
                <a:latin typeface="Cambria" pitchFamily="18" charset="0"/>
              </a:rPr>
              <a:t>ENERGY LEVEL DIAGRAM OF  FORWARD BIASING</a:t>
            </a:r>
            <a:endParaRPr lang="en-US" sz="4400" b="1" dirty="0">
              <a:solidFill>
                <a:schemeClr val="bg1"/>
              </a:solidFill>
              <a:latin typeface="Cambria" pitchFamily="18" charset="0"/>
            </a:endParaRPr>
          </a:p>
        </p:txBody>
      </p:sp>
      <p:pic>
        <p:nvPicPr>
          <p:cNvPr id="4" name="Content Placeholder 8">
            <a:extLst>
              <a:ext uri="{FF2B5EF4-FFF2-40B4-BE49-F238E27FC236}">
                <a16:creationId xmlns="" xmlns:a16="http://schemas.microsoft.com/office/drawing/2014/main" id="{F8E92CEE-8AC4-F540-991C-C737DC66989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4033"/>
            <a:ext cx="675139" cy="1074083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59D94-4DE0-4C81-B8BE-16B5DB9825E0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2514600" y="6096004"/>
            <a:ext cx="4114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solidFill>
                  <a:schemeClr val="bg1"/>
                </a:solidFill>
                <a:latin typeface="Cambria" pitchFamily="18" charset="0"/>
              </a:rPr>
              <a:t>Fig 9 : Forward biasing energy level diagram[9] </a:t>
            </a:r>
            <a:endParaRPr lang="en-US" sz="1400" dirty="0">
              <a:solidFill>
                <a:schemeClr val="bg1"/>
              </a:solidFill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1000" y="1219201"/>
            <a:ext cx="4572000" cy="553997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just"/>
            <a:r>
              <a:rPr lang="en-US" sz="2400" dirty="0">
                <a:solidFill>
                  <a:schemeClr val="bg1"/>
                </a:solidFill>
                <a:latin typeface="Cambria" pitchFamily="18" charset="0"/>
              </a:rPr>
              <a:t>A </a:t>
            </a:r>
            <a:r>
              <a:rPr lang="en-US" sz="2400" i="1" dirty="0">
                <a:solidFill>
                  <a:schemeClr val="bg1"/>
                </a:solidFill>
                <a:latin typeface="Cambria" pitchFamily="18" charset="0"/>
              </a:rPr>
              <a:t>pn</a:t>
            </a:r>
            <a:r>
              <a:rPr lang="en-US" sz="2400" dirty="0">
                <a:solidFill>
                  <a:schemeClr val="bg1"/>
                </a:solidFill>
                <a:latin typeface="Cambria" pitchFamily="18" charset="0"/>
              </a:rPr>
              <a:t>–junction is reverse biased when the </a:t>
            </a:r>
            <a:r>
              <a:rPr lang="en-US" sz="2400" i="1" dirty="0">
                <a:solidFill>
                  <a:schemeClr val="bg1"/>
                </a:solidFill>
                <a:latin typeface="Cambria" pitchFamily="18" charset="0"/>
              </a:rPr>
              <a:t>n</a:t>
            </a:r>
            <a:r>
              <a:rPr lang="en-US" sz="2400" dirty="0">
                <a:solidFill>
                  <a:schemeClr val="bg1"/>
                </a:solidFill>
                <a:latin typeface="Cambria" pitchFamily="18" charset="0"/>
              </a:rPr>
              <a:t>–type is more positive than the </a:t>
            </a:r>
            <a:r>
              <a:rPr lang="en-US" sz="2400" i="1" dirty="0" smtClean="0">
                <a:solidFill>
                  <a:schemeClr val="bg1"/>
                </a:solidFill>
                <a:latin typeface="Cambria" pitchFamily="18" charset="0"/>
              </a:rPr>
              <a:t>p</a:t>
            </a:r>
            <a:r>
              <a:rPr lang="en-US" sz="2400" dirty="0" smtClean="0">
                <a:solidFill>
                  <a:schemeClr val="bg1"/>
                </a:solidFill>
                <a:latin typeface="Cambria" pitchFamily="18" charset="0"/>
              </a:rPr>
              <a:t>–type . Electrons </a:t>
            </a:r>
            <a:r>
              <a:rPr lang="en-US" sz="2400" dirty="0">
                <a:solidFill>
                  <a:schemeClr val="bg1"/>
                </a:solidFill>
                <a:latin typeface="Cambria" pitchFamily="18" charset="0"/>
              </a:rPr>
              <a:t>in the </a:t>
            </a:r>
            <a:r>
              <a:rPr lang="en-US" sz="2400" i="1" dirty="0">
                <a:solidFill>
                  <a:schemeClr val="bg1"/>
                </a:solidFill>
                <a:latin typeface="Cambria" pitchFamily="18" charset="0"/>
              </a:rPr>
              <a:t>n</a:t>
            </a:r>
            <a:r>
              <a:rPr lang="en-US" sz="2400" dirty="0">
                <a:solidFill>
                  <a:schemeClr val="bg1"/>
                </a:solidFill>
                <a:latin typeface="Cambria" pitchFamily="18" charset="0"/>
              </a:rPr>
              <a:t>–type will head toward the positive terminal of the source. This will further deplete the electrons in the </a:t>
            </a:r>
            <a:r>
              <a:rPr lang="en-US" sz="2400" i="1" dirty="0">
                <a:solidFill>
                  <a:schemeClr val="bg1"/>
                </a:solidFill>
                <a:latin typeface="Cambria" pitchFamily="18" charset="0"/>
              </a:rPr>
              <a:t>n</a:t>
            </a:r>
            <a:r>
              <a:rPr lang="en-US" sz="2400" dirty="0">
                <a:solidFill>
                  <a:schemeClr val="bg1"/>
                </a:solidFill>
                <a:latin typeface="Cambria" pitchFamily="18" charset="0"/>
              </a:rPr>
              <a:t>–type near the </a:t>
            </a:r>
            <a:r>
              <a:rPr lang="en-US" sz="2400" dirty="0" smtClean="0">
                <a:solidFill>
                  <a:schemeClr val="bg1"/>
                </a:solidFill>
                <a:latin typeface="Cambria" pitchFamily="18" charset="0"/>
              </a:rPr>
              <a:t>junction. The </a:t>
            </a:r>
            <a:r>
              <a:rPr lang="en-US" sz="2400" dirty="0">
                <a:solidFill>
                  <a:schemeClr val="bg1"/>
                </a:solidFill>
                <a:latin typeface="Cambria" pitchFamily="18" charset="0"/>
              </a:rPr>
              <a:t>same principle applies to the holes in </a:t>
            </a:r>
            <a:r>
              <a:rPr lang="en-US" sz="2400" i="1" dirty="0">
                <a:solidFill>
                  <a:schemeClr val="bg1"/>
                </a:solidFill>
                <a:latin typeface="Cambria" pitchFamily="18" charset="0"/>
              </a:rPr>
              <a:t>p</a:t>
            </a:r>
            <a:r>
              <a:rPr lang="en-US" sz="2400" dirty="0">
                <a:solidFill>
                  <a:schemeClr val="bg1"/>
                </a:solidFill>
                <a:latin typeface="Cambria" pitchFamily="18" charset="0"/>
              </a:rPr>
              <a:t>–type. The depletion layer is then </a:t>
            </a:r>
            <a:r>
              <a:rPr lang="en-US" sz="2400" dirty="0" smtClean="0">
                <a:solidFill>
                  <a:schemeClr val="bg1"/>
                </a:solidFill>
                <a:latin typeface="Cambria" pitchFamily="18" charset="0"/>
              </a:rPr>
              <a:t>widened(fig10). This </a:t>
            </a:r>
            <a:r>
              <a:rPr lang="en-US" sz="2400" dirty="0">
                <a:solidFill>
                  <a:schemeClr val="bg1"/>
                </a:solidFill>
                <a:latin typeface="Cambria" pitchFamily="18" charset="0"/>
              </a:rPr>
              <a:t>increases the resistance of the junction and conduction drops to near zero. </a:t>
            </a:r>
          </a:p>
          <a:p>
            <a:pPr algn="just"/>
            <a:r>
              <a:rPr lang="en-US" sz="2400" dirty="0">
                <a:solidFill>
                  <a:schemeClr val="bg1"/>
                </a:solidFill>
                <a:latin typeface="Cambria" pitchFamily="18" charset="0"/>
              </a:rPr>
              <a:t> </a:t>
            </a:r>
          </a:p>
          <a:p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1981200" y="228604"/>
            <a:ext cx="51816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 smtClean="0">
                <a:solidFill>
                  <a:schemeClr val="bg1"/>
                </a:solidFill>
                <a:latin typeface="Cambria" pitchFamily="18" charset="0"/>
              </a:rPr>
              <a:t>REVERSE BIASING</a:t>
            </a:r>
            <a:endParaRPr lang="en-US" sz="4400" b="1" dirty="0">
              <a:solidFill>
                <a:schemeClr val="bg1"/>
              </a:solidFill>
              <a:latin typeface="Cambria" pitchFamily="18" charset="0"/>
            </a:endParaRPr>
          </a:p>
        </p:txBody>
      </p:sp>
      <p:pic>
        <p:nvPicPr>
          <p:cNvPr id="5" name="Content Placeholder 8">
            <a:extLst>
              <a:ext uri="{FF2B5EF4-FFF2-40B4-BE49-F238E27FC236}">
                <a16:creationId xmlns="" xmlns:a16="http://schemas.microsoft.com/office/drawing/2014/main" id="{F8E92CEE-8AC4-F540-991C-C737DC66989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4033"/>
            <a:ext cx="675139" cy="1074083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59D94-4DE0-4C81-B8BE-16B5DB9825E0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5486400" y="6400804"/>
            <a:ext cx="3124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solidFill>
                  <a:schemeClr val="bg1"/>
                </a:solidFill>
                <a:latin typeface="Cambria" pitchFamily="18" charset="0"/>
              </a:rPr>
              <a:t>Fig 10 : Reverse biasing[10]</a:t>
            </a:r>
            <a:endParaRPr lang="en-US" sz="1400" dirty="0">
              <a:solidFill>
                <a:schemeClr val="bg1"/>
              </a:solidFill>
              <a:latin typeface="Cambria" pitchFamily="18" charset="0"/>
            </a:endParaRPr>
          </a:p>
        </p:txBody>
      </p:sp>
      <p:pic>
        <p:nvPicPr>
          <p:cNvPr id="8" name="Picture 7" descr="YN62e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0200" y="1295400"/>
            <a:ext cx="3429000" cy="49530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86868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 smtClean="0">
                <a:solidFill>
                  <a:schemeClr val="bg1"/>
                </a:solidFill>
                <a:latin typeface="Cambria" pitchFamily="18" charset="0"/>
              </a:rPr>
              <a:t>  ENERGY LEVEL DIAGRAM OF        REVERSE BIASING</a:t>
            </a:r>
            <a:endParaRPr lang="en-US" sz="4400" b="1" dirty="0">
              <a:solidFill>
                <a:schemeClr val="bg1"/>
              </a:solidFill>
              <a:latin typeface="Cambria" pitchFamily="18" charset="0"/>
            </a:endParaRPr>
          </a:p>
        </p:txBody>
      </p:sp>
      <p:pic>
        <p:nvPicPr>
          <p:cNvPr id="4" name="Picture 3" descr="REVER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52605"/>
            <a:ext cx="8001000" cy="403859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6" name="Content Placeholder 8">
            <a:extLst>
              <a:ext uri="{FF2B5EF4-FFF2-40B4-BE49-F238E27FC236}">
                <a16:creationId xmlns="" xmlns:a16="http://schemas.microsoft.com/office/drawing/2014/main" id="{F8E92CEE-8AC4-F540-991C-C737DC66989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4033"/>
            <a:ext cx="675139" cy="1074083"/>
          </a:xfrm>
          <a:prstGeom prst="rect">
            <a:avLst/>
          </a:prstGeom>
        </p:spPr>
      </p:pic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59D94-4DE0-4C81-B8BE-16B5DB9825E0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286000" y="6172204"/>
            <a:ext cx="457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solidFill>
                  <a:schemeClr val="bg1"/>
                </a:solidFill>
                <a:latin typeface="Cambria" pitchFamily="18" charset="0"/>
              </a:rPr>
              <a:t>Fig 11: Reverse biasing energy level diagram [11]</a:t>
            </a:r>
            <a:endParaRPr lang="en-US" sz="1400" dirty="0">
              <a:solidFill>
                <a:schemeClr val="bg1"/>
              </a:solidFill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28800" y="533404"/>
            <a:ext cx="47244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 smtClean="0">
                <a:solidFill>
                  <a:schemeClr val="bg1"/>
                </a:solidFill>
                <a:latin typeface="Cambria" pitchFamily="18" charset="0"/>
              </a:rPr>
              <a:t>    APPLICATIONS</a:t>
            </a:r>
            <a:endParaRPr lang="en-US" sz="4400" b="1" dirty="0">
              <a:solidFill>
                <a:schemeClr val="bg1"/>
              </a:solidFill>
              <a:latin typeface="Cambria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38200" y="1828802"/>
            <a:ext cx="7772400" cy="406265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 smtClean="0"/>
              <a:t> </a:t>
            </a:r>
          </a:p>
          <a:p>
            <a:pPr algn="just">
              <a:buFont typeface="Wingdings" pitchFamily="2" charset="2"/>
              <a:buChar char="v"/>
            </a:pPr>
            <a:r>
              <a:rPr lang="en-US" sz="2400" dirty="0" smtClean="0">
                <a:solidFill>
                  <a:schemeClr val="bg1"/>
                </a:solidFill>
              </a:rPr>
              <a:t> </a:t>
            </a:r>
            <a:r>
              <a:rPr lang="en-US" sz="2400" dirty="0" smtClean="0">
                <a:solidFill>
                  <a:schemeClr val="bg1"/>
                </a:solidFill>
                <a:latin typeface="Cambria" pitchFamily="18" charset="0"/>
              </a:rPr>
              <a:t>RECTIFIER: Diode as rectifier converts AC signal into DC. There are many rectifier circuits. A) Half wave rectifier b) Full wave rectifier; bridge type and centre tapped. Practical rectifiers consist of: Transformer, Rectifier, Filter and regulator stage</a:t>
            </a:r>
            <a:r>
              <a:rPr lang="en-US" sz="2400" dirty="0" smtClean="0">
                <a:solidFill>
                  <a:schemeClr val="bg1"/>
                </a:solidFill>
              </a:rPr>
              <a:t>.</a:t>
            </a:r>
          </a:p>
          <a:p>
            <a:pPr algn="just">
              <a:buFont typeface="Wingdings" pitchFamily="2" charset="2"/>
              <a:buChar char="v"/>
            </a:pPr>
            <a:r>
              <a:rPr lang="en-US" sz="2400" dirty="0" smtClean="0">
                <a:solidFill>
                  <a:schemeClr val="bg1"/>
                </a:solidFill>
                <a:latin typeface="Cambria" pitchFamily="18" charset="0"/>
              </a:rPr>
              <a:t> CLIPPERS: clippers are networks that employ diodes to clip away a portion of an input signal without distorting the remaining part of the applied waveform.</a:t>
            </a:r>
          </a:p>
          <a:p>
            <a:pPr algn="just">
              <a:buFont typeface="Wingdings" pitchFamily="2" charset="2"/>
              <a:buChar char="v"/>
            </a:pPr>
            <a:r>
              <a:rPr lang="en-US" sz="2400" dirty="0" smtClean="0">
                <a:solidFill>
                  <a:schemeClr val="bg1"/>
                </a:solidFill>
                <a:latin typeface="Cambria" pitchFamily="18" charset="0"/>
              </a:rPr>
              <a:t>Clampers: clamping networks have capacitor connected in series with a diode and resistance in parallel. </a:t>
            </a:r>
          </a:p>
        </p:txBody>
      </p:sp>
      <p:pic>
        <p:nvPicPr>
          <p:cNvPr id="4" name="Content Placeholder 8">
            <a:extLst>
              <a:ext uri="{FF2B5EF4-FFF2-40B4-BE49-F238E27FC236}">
                <a16:creationId xmlns="" xmlns:a16="http://schemas.microsoft.com/office/drawing/2014/main" id="{F8E92CEE-8AC4-F540-991C-C737DC66989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4033"/>
            <a:ext cx="675139" cy="1074083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59D94-4DE0-4C81-B8BE-16B5DB9825E0}" type="slidenum">
              <a:rPr lang="en-US" smtClean="0"/>
              <a:pPr/>
              <a:t>22</a:t>
            </a:fld>
            <a:endParaRPr 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62000" y="990603"/>
            <a:ext cx="7620000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>
              <a:buFont typeface="Wingdings" pitchFamily="2" charset="2"/>
              <a:buChar char="v"/>
            </a:pPr>
            <a:r>
              <a:rPr lang="en-US" sz="2400" dirty="0" smtClean="0">
                <a:solidFill>
                  <a:schemeClr val="bg1"/>
                </a:solidFill>
              </a:rPr>
              <a:t>The junction region itself has no charge carriers and is known as the depletion region.</a:t>
            </a:r>
          </a:p>
          <a:p>
            <a:pPr algn="just">
              <a:buFont typeface="Wingdings" pitchFamily="2" charset="2"/>
              <a:buChar char="v"/>
            </a:pPr>
            <a:r>
              <a:rPr lang="en-US" sz="2400" dirty="0" smtClean="0">
                <a:solidFill>
                  <a:schemeClr val="bg1"/>
                </a:solidFill>
                <a:latin typeface="Cambria" pitchFamily="18" charset="0"/>
              </a:rPr>
              <a:t>When a diode is </a:t>
            </a:r>
            <a:r>
              <a:rPr lang="en-US" sz="2400" b="1" dirty="0" smtClean="0">
                <a:solidFill>
                  <a:schemeClr val="bg1"/>
                </a:solidFill>
                <a:latin typeface="Cambria" pitchFamily="18" charset="0"/>
              </a:rPr>
              <a:t>Zero Biased</a:t>
            </a:r>
            <a:r>
              <a:rPr lang="en-US" sz="2400" dirty="0" smtClean="0">
                <a:solidFill>
                  <a:schemeClr val="bg1"/>
                </a:solidFill>
                <a:latin typeface="Cambria" pitchFamily="18" charset="0"/>
              </a:rPr>
              <a:t> no external energy source is applied and a natural </a:t>
            </a:r>
            <a:r>
              <a:rPr lang="en-US" sz="2400" b="1" dirty="0" smtClean="0">
                <a:solidFill>
                  <a:schemeClr val="bg1"/>
                </a:solidFill>
                <a:latin typeface="Cambria" pitchFamily="18" charset="0"/>
              </a:rPr>
              <a:t>Potential Barrier</a:t>
            </a:r>
            <a:r>
              <a:rPr lang="en-US" sz="2400" dirty="0" smtClean="0">
                <a:solidFill>
                  <a:schemeClr val="bg1"/>
                </a:solidFill>
                <a:latin typeface="Cambria" pitchFamily="18" charset="0"/>
              </a:rPr>
              <a:t> is developed across a depletion layer which is approximately 0.5 to 0.7v for silicon diodes and approximately 0.3 of a volt for germanium diodes.</a:t>
            </a:r>
          </a:p>
          <a:p>
            <a:pPr lvl="0" algn="just">
              <a:buFont typeface="Wingdings" pitchFamily="2" charset="2"/>
              <a:buChar char="v"/>
            </a:pPr>
            <a:r>
              <a:rPr lang="en-US" sz="2400" dirty="0" smtClean="0">
                <a:solidFill>
                  <a:schemeClr val="bg1"/>
                </a:solidFill>
                <a:latin typeface="Cambria" pitchFamily="18" charset="0"/>
              </a:rPr>
              <a:t>When a junction diode is </a:t>
            </a:r>
            <a:r>
              <a:rPr lang="en-US" sz="2400" b="1" dirty="0" smtClean="0">
                <a:solidFill>
                  <a:schemeClr val="bg1"/>
                </a:solidFill>
                <a:latin typeface="Cambria" pitchFamily="18" charset="0"/>
              </a:rPr>
              <a:t>Forward Biased</a:t>
            </a:r>
            <a:r>
              <a:rPr lang="en-US" sz="2400" dirty="0" smtClean="0">
                <a:solidFill>
                  <a:schemeClr val="bg1"/>
                </a:solidFill>
                <a:latin typeface="Cambria" pitchFamily="18" charset="0"/>
              </a:rPr>
              <a:t> the thickness of the depletion region reduces and the diode acts like a short circuit allowing full current to flow.</a:t>
            </a:r>
          </a:p>
          <a:p>
            <a:pPr lvl="0" algn="just">
              <a:buFont typeface="Wingdings" pitchFamily="2" charset="2"/>
              <a:buChar char="v"/>
            </a:pPr>
            <a:r>
              <a:rPr lang="en-US" sz="2400" dirty="0" smtClean="0">
                <a:solidFill>
                  <a:schemeClr val="bg1"/>
                </a:solidFill>
                <a:latin typeface="Cambria" pitchFamily="18" charset="0"/>
              </a:rPr>
              <a:t>When a junction diode is </a:t>
            </a:r>
            <a:r>
              <a:rPr lang="en-US" sz="2400" b="1" dirty="0" smtClean="0">
                <a:solidFill>
                  <a:schemeClr val="bg1"/>
                </a:solidFill>
                <a:latin typeface="Cambria" pitchFamily="18" charset="0"/>
              </a:rPr>
              <a:t>Reverse Biased</a:t>
            </a:r>
            <a:r>
              <a:rPr lang="en-US" sz="2400" dirty="0" smtClean="0">
                <a:solidFill>
                  <a:schemeClr val="bg1"/>
                </a:solidFill>
                <a:latin typeface="Cambria" pitchFamily="18" charset="0"/>
              </a:rPr>
              <a:t> the thickness of the depletion region increases and the diode acts like an open circuit blocking any current flow, (only a very small leakage current).  </a:t>
            </a:r>
          </a:p>
          <a:p>
            <a:pPr algn="just">
              <a:buFont typeface="Wingdings" pitchFamily="2" charset="2"/>
              <a:buChar char="v"/>
            </a:pPr>
            <a:endParaRPr lang="en-US" sz="2400" dirty="0" smtClean="0">
              <a:solidFill>
                <a:schemeClr val="bg1"/>
              </a:solidFill>
              <a:latin typeface="Cambria" pitchFamily="18" charset="0"/>
            </a:endParaRPr>
          </a:p>
          <a:p>
            <a:pPr algn="just">
              <a:buFont typeface="Wingdings" pitchFamily="2" charset="2"/>
              <a:buChar char="v"/>
            </a:pPr>
            <a:endParaRPr lang="en-US" dirty="0" smtClean="0">
              <a:solidFill>
                <a:schemeClr val="bg1"/>
              </a:solidFill>
            </a:endParaRPr>
          </a:p>
          <a:p>
            <a:pPr lvl="0" algn="just">
              <a:buFont typeface="Wingdings" pitchFamily="2" charset="2"/>
              <a:buChar char="v"/>
            </a:pP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447800" y="381004"/>
            <a:ext cx="65532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 smtClean="0">
                <a:solidFill>
                  <a:schemeClr val="bg1"/>
                </a:solidFill>
              </a:rPr>
              <a:t>           </a:t>
            </a:r>
            <a:r>
              <a:rPr lang="en-US" sz="4400" b="1" dirty="0" smtClean="0">
                <a:solidFill>
                  <a:schemeClr val="bg1"/>
                </a:solidFill>
              </a:rPr>
              <a:t>SUMMARY</a:t>
            </a:r>
            <a:endParaRPr lang="en-US" sz="4400" b="1" dirty="0">
              <a:solidFill>
                <a:schemeClr val="bg1"/>
              </a:solidFill>
            </a:endParaRPr>
          </a:p>
        </p:txBody>
      </p:sp>
      <p:pic>
        <p:nvPicPr>
          <p:cNvPr id="5" name="Content Placeholder 8">
            <a:extLst>
              <a:ext uri="{FF2B5EF4-FFF2-40B4-BE49-F238E27FC236}">
                <a16:creationId xmlns="" xmlns:a16="http://schemas.microsoft.com/office/drawing/2014/main" id="{F8E92CEE-8AC4-F540-991C-C737DC66989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4033"/>
            <a:ext cx="675139" cy="1074083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59D94-4DE0-4C81-B8BE-16B5DB9825E0}" type="slidenum">
              <a:rPr lang="en-US" smtClean="0"/>
              <a:pPr/>
              <a:t>23</a:t>
            </a:fld>
            <a:endParaRPr 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Diagram 2"/>
          <p:cNvGraphicFramePr/>
          <p:nvPr>
            <p:extLst>
              <p:ext uri="{D42A27DB-BD31-4B8C-83A1-F6EECF244321}">
                <p14:modId xmlns="" xmlns:p14="http://schemas.microsoft.com/office/powerpoint/2010/main" val="2734295654"/>
              </p:ext>
            </p:extLst>
          </p:nvPr>
        </p:nvGraphicFramePr>
        <p:xfrm>
          <a:off x="1524000" y="1397000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600200" y="381004"/>
            <a:ext cx="6019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 smtClean="0">
                <a:solidFill>
                  <a:schemeClr val="bg1"/>
                </a:solidFill>
              </a:rPr>
              <a:t>DISCUSSION FORUM</a:t>
            </a:r>
            <a:endParaRPr lang="en-US" sz="4400" b="1" dirty="0">
              <a:solidFill>
                <a:schemeClr val="bg1"/>
              </a:solidFill>
            </a:endParaRPr>
          </a:p>
        </p:txBody>
      </p:sp>
      <p:pic>
        <p:nvPicPr>
          <p:cNvPr id="6" name="Content Placeholder 8">
            <a:extLst>
              <a:ext uri="{FF2B5EF4-FFF2-40B4-BE49-F238E27FC236}">
                <a16:creationId xmlns="" xmlns:a16="http://schemas.microsoft.com/office/drawing/2014/main" id="{F8E92CEE-8AC4-F540-991C-C737DC669895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4033"/>
            <a:ext cx="675139" cy="1074083"/>
          </a:xfrm>
          <a:prstGeom prst="rect">
            <a:avLst/>
          </a:prstGeom>
        </p:spPr>
      </p:pic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59D94-4DE0-4C81-B8BE-16B5DB9825E0}" type="slidenum">
              <a:rPr lang="en-US" smtClean="0"/>
              <a:pPr/>
              <a:t>24</a:t>
            </a:fld>
            <a:endParaRPr lang="en-US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59D94-4DE0-4C81-B8BE-16B5DB9825E0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762000" y="-304800"/>
            <a:ext cx="63246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4400" dirty="0" smtClean="0">
              <a:solidFill>
                <a:schemeClr val="bg1"/>
              </a:solidFill>
              <a:latin typeface="Cambria" pitchFamily="18" charset="0"/>
            </a:endParaRPr>
          </a:p>
          <a:p>
            <a:r>
              <a:rPr lang="en-US" sz="4400" dirty="0" smtClean="0">
                <a:solidFill>
                  <a:schemeClr val="bg1"/>
                </a:solidFill>
                <a:latin typeface="Cambria" pitchFamily="18" charset="0"/>
              </a:rPr>
              <a:t>      </a:t>
            </a:r>
            <a:r>
              <a:rPr lang="en-US" sz="4400" b="1" dirty="0" smtClean="0">
                <a:solidFill>
                  <a:schemeClr val="bg1"/>
                </a:solidFill>
                <a:latin typeface="Cambria" pitchFamily="18" charset="0"/>
              </a:rPr>
              <a:t>RELEVANT IMAGES</a:t>
            </a:r>
            <a:endParaRPr lang="en-US" sz="4400" b="1" dirty="0">
              <a:solidFill>
                <a:schemeClr val="bg1"/>
              </a:solidFill>
              <a:latin typeface="Cambria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38200" y="1371600"/>
            <a:ext cx="7239000" cy="78790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dirty="0" smtClean="0">
                <a:solidFill>
                  <a:srgbClr val="00B0F0"/>
                </a:solidFill>
                <a:latin typeface="Cambria" pitchFamily="18" charset="0"/>
              </a:rPr>
              <a:t>[1]     </a:t>
            </a:r>
            <a:r>
              <a:rPr lang="en-US" sz="2000" dirty="0" smtClean="0">
                <a:solidFill>
                  <a:srgbClr val="00B0F0"/>
                </a:solidFill>
                <a:latin typeface="Cambria" pitchFamily="18" charset="0"/>
              </a:rPr>
              <a:t>https://images.app.goo.gl/1oN68pfnm3hE7E658</a:t>
            </a:r>
          </a:p>
          <a:p>
            <a:pPr algn="just">
              <a:lnSpc>
                <a:spcPct val="150000"/>
              </a:lnSpc>
            </a:pPr>
            <a:r>
              <a:rPr lang="en-US" sz="2000" dirty="0" smtClean="0">
                <a:solidFill>
                  <a:srgbClr val="00B0F0"/>
                </a:solidFill>
                <a:latin typeface="Cambria" pitchFamily="18" charset="0"/>
              </a:rPr>
              <a:t>[2]   https://images.app.goo.gl/3zwhabuHBraaz7my6</a:t>
            </a:r>
          </a:p>
          <a:p>
            <a:pPr algn="just">
              <a:lnSpc>
                <a:spcPct val="150000"/>
              </a:lnSpc>
            </a:pPr>
            <a:r>
              <a:rPr lang="en-US" sz="2000" dirty="0" smtClean="0">
                <a:solidFill>
                  <a:srgbClr val="00B0F0"/>
                </a:solidFill>
                <a:latin typeface="Cambria" pitchFamily="18" charset="0"/>
              </a:rPr>
              <a:t>[3]    https://images.app.goo.gl/55fSoHfhqBdKUuWu6</a:t>
            </a:r>
          </a:p>
          <a:p>
            <a:pPr algn="just">
              <a:lnSpc>
                <a:spcPct val="150000"/>
              </a:lnSpc>
            </a:pPr>
            <a:r>
              <a:rPr lang="en-US" sz="2000" dirty="0" smtClean="0">
                <a:solidFill>
                  <a:srgbClr val="00B0F0"/>
                </a:solidFill>
                <a:latin typeface="Cambria" pitchFamily="18" charset="0"/>
              </a:rPr>
              <a:t>[4]    https://images.app.goo.gl/nSFN1jMVDHtdsFMh7</a:t>
            </a:r>
          </a:p>
          <a:p>
            <a:pPr algn="just">
              <a:lnSpc>
                <a:spcPct val="150000"/>
              </a:lnSpc>
            </a:pPr>
            <a:r>
              <a:rPr lang="en-US" sz="2000" dirty="0" smtClean="0">
                <a:solidFill>
                  <a:srgbClr val="00B0F0"/>
                </a:solidFill>
                <a:latin typeface="Cambria" pitchFamily="18" charset="0"/>
              </a:rPr>
              <a:t>[5]    http://images.app.goo.gl/ikgGTJzBTdS4tdt17</a:t>
            </a:r>
          </a:p>
          <a:p>
            <a:pPr algn="just">
              <a:lnSpc>
                <a:spcPct val="150000"/>
              </a:lnSpc>
            </a:pPr>
            <a:r>
              <a:rPr lang="en-US" sz="2000" dirty="0" smtClean="0">
                <a:solidFill>
                  <a:srgbClr val="00B0F0"/>
                </a:solidFill>
                <a:latin typeface="Cambria" pitchFamily="18" charset="0"/>
              </a:rPr>
              <a:t>[6]     https://images.app.goo.gl/s2zTsVfyvCziTXt3A</a:t>
            </a:r>
          </a:p>
          <a:p>
            <a:pPr algn="just">
              <a:lnSpc>
                <a:spcPct val="150000"/>
              </a:lnSpc>
            </a:pPr>
            <a:r>
              <a:rPr lang="en-US" sz="2000" dirty="0" smtClean="0">
                <a:solidFill>
                  <a:srgbClr val="00B0F0"/>
                </a:solidFill>
                <a:latin typeface="Cambria" pitchFamily="18" charset="0"/>
              </a:rPr>
              <a:t> [7]    https://images.app.goo.gl/8VMbgSsjhhgrj1jY6</a:t>
            </a:r>
          </a:p>
          <a:p>
            <a:pPr algn="just">
              <a:lnSpc>
                <a:spcPct val="150000"/>
              </a:lnSpc>
            </a:pPr>
            <a:r>
              <a:rPr lang="en-US" sz="2000" dirty="0" smtClean="0">
                <a:solidFill>
                  <a:srgbClr val="00B0F0"/>
                </a:solidFill>
                <a:latin typeface="Cambria" pitchFamily="18" charset="0"/>
              </a:rPr>
              <a:t> [8]    https://images.app.goo.gl/dgUuLfWDYToG3VQV9</a:t>
            </a:r>
          </a:p>
          <a:p>
            <a:pPr algn="just">
              <a:lnSpc>
                <a:spcPct val="150000"/>
              </a:lnSpc>
            </a:pPr>
            <a:r>
              <a:rPr lang="en-US" sz="2000" dirty="0" smtClean="0">
                <a:solidFill>
                  <a:srgbClr val="00B0F0"/>
                </a:solidFill>
                <a:latin typeface="Cambria" pitchFamily="18" charset="0"/>
              </a:rPr>
              <a:t>[9]     https://images.app.goo.gl/WjQjuK8X82QVAH1C8</a:t>
            </a:r>
          </a:p>
          <a:p>
            <a:pPr algn="just">
              <a:lnSpc>
                <a:spcPct val="150000"/>
              </a:lnSpc>
            </a:pPr>
            <a:r>
              <a:rPr lang="en-US" sz="2000" dirty="0" smtClean="0">
                <a:solidFill>
                  <a:srgbClr val="00B0F0"/>
                </a:solidFill>
                <a:latin typeface="Cambria" pitchFamily="18" charset="0"/>
              </a:rPr>
              <a:t>[10]   https://images.app.goo.gl/dcZmvyzR5n9qWUWv6</a:t>
            </a:r>
          </a:p>
          <a:p>
            <a:pPr algn="just">
              <a:lnSpc>
                <a:spcPct val="150000"/>
              </a:lnSpc>
            </a:pPr>
            <a:r>
              <a:rPr lang="en-US" sz="2000" dirty="0" smtClean="0">
                <a:solidFill>
                  <a:srgbClr val="00B0F0"/>
                </a:solidFill>
                <a:latin typeface="Cambria" pitchFamily="18" charset="0"/>
              </a:rPr>
              <a:t>[11]   https://images.app.goo.gl/W5aH5EXpSWbJ9bePA</a:t>
            </a:r>
          </a:p>
          <a:p>
            <a:pPr algn="just">
              <a:lnSpc>
                <a:spcPct val="150000"/>
              </a:lnSpc>
            </a:pPr>
            <a:endParaRPr lang="en-US" sz="2000" dirty="0" smtClean="0">
              <a:solidFill>
                <a:srgbClr val="00B0F0"/>
              </a:solidFill>
              <a:latin typeface="Cambria" pitchFamily="18" charset="0"/>
            </a:endParaRPr>
          </a:p>
          <a:p>
            <a:endParaRPr lang="en-US" sz="2000" dirty="0" smtClean="0">
              <a:latin typeface="Cambria" pitchFamily="18" charset="0"/>
            </a:endParaRPr>
          </a:p>
          <a:p>
            <a:endParaRPr lang="en-US" dirty="0" smtClean="0">
              <a:latin typeface="Cambria" pitchFamily="18" charset="0"/>
            </a:endParaRPr>
          </a:p>
          <a:p>
            <a:endParaRPr lang="en-US" dirty="0" smtClean="0">
              <a:latin typeface="Cambria" pitchFamily="18" charset="0"/>
            </a:endParaRPr>
          </a:p>
          <a:p>
            <a:r>
              <a:rPr lang="en-US" dirty="0" smtClean="0">
                <a:latin typeface="Cambria" pitchFamily="18" charset="0"/>
              </a:rPr>
              <a:t> </a:t>
            </a:r>
          </a:p>
          <a:p>
            <a:endParaRPr lang="en-US" dirty="0" smtClean="0"/>
          </a:p>
          <a:p>
            <a:r>
              <a:rPr lang="en-US" dirty="0" smtClean="0"/>
              <a:t> </a:t>
            </a:r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304800"/>
            <a:ext cx="8153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smtClean="0">
                <a:solidFill>
                  <a:schemeClr val="bg1"/>
                </a:solidFill>
                <a:latin typeface="Cambria" pitchFamily="18" charset="0"/>
              </a:rPr>
              <a:t>   </a:t>
            </a:r>
            <a:r>
              <a:rPr lang="en-US" sz="4000" b="1" dirty="0" smtClean="0">
                <a:solidFill>
                  <a:schemeClr val="bg1"/>
                </a:solidFill>
                <a:latin typeface="Cambria" pitchFamily="18" charset="0"/>
              </a:rPr>
              <a:t>REFRENCE BOOKS AND VIDEOS</a:t>
            </a:r>
            <a:endParaRPr lang="en-US" sz="4000" b="1" dirty="0">
              <a:solidFill>
                <a:schemeClr val="bg1"/>
              </a:solidFill>
              <a:latin typeface="Cambria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62000" y="990602"/>
            <a:ext cx="7543800" cy="5262979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lvl="0">
              <a:buFont typeface="Wingdings" pitchFamily="2" charset="2"/>
              <a:buChar char="v"/>
            </a:pPr>
            <a:r>
              <a:rPr lang="en-US" sz="2400" dirty="0" smtClean="0"/>
              <a:t>Semiconductor Devices, Physics and Technology, 3ed, ISV (WSE) </a:t>
            </a:r>
            <a:r>
              <a:rPr lang="en-US" sz="2400" dirty="0" smtClean="0">
                <a:hlinkClick r:id="rId2"/>
              </a:rPr>
              <a:t>https://www.amazon.in/dp/8126556757/ref=cm_sw_r_em_apa_i_gMS8Eb61QD3EW</a:t>
            </a:r>
            <a:endParaRPr lang="en-US" sz="2400" dirty="0" smtClean="0"/>
          </a:p>
          <a:p>
            <a:pPr lvl="0">
              <a:buFont typeface="Wingdings" pitchFamily="2" charset="2"/>
              <a:buChar char="v"/>
            </a:pPr>
            <a:endParaRPr lang="en-US" sz="2400" dirty="0" smtClean="0"/>
          </a:p>
          <a:p>
            <a:pPr lvl="0">
              <a:buFont typeface="Wingdings" pitchFamily="2" charset="2"/>
              <a:buChar char="v"/>
            </a:pPr>
            <a:r>
              <a:rPr lang="en-US" sz="2400" dirty="0" smtClean="0"/>
              <a:t>Physics of Semiconductor Devices, 3ed </a:t>
            </a:r>
            <a:r>
              <a:rPr lang="en-US" sz="2400" dirty="0" smtClean="0">
                <a:hlinkClick r:id="rId3"/>
              </a:rPr>
              <a:t>https://www.amazon.in/dp/8126517026/ref=cm_sw_r_em_apa_i_vkT8EbV0892MJ</a:t>
            </a:r>
            <a:endParaRPr lang="en-US" sz="2400" dirty="0" smtClean="0"/>
          </a:p>
          <a:p>
            <a:pPr lvl="0">
              <a:buFont typeface="Wingdings" pitchFamily="2" charset="2"/>
              <a:buChar char="v"/>
            </a:pPr>
            <a:endParaRPr lang="en-US" sz="2400" dirty="0" smtClean="0"/>
          </a:p>
          <a:p>
            <a:pPr lvl="0">
              <a:buFont typeface="Wingdings" pitchFamily="2" charset="2"/>
              <a:buChar char="v"/>
            </a:pPr>
            <a:r>
              <a:rPr lang="en-US" sz="2400" u="sng" dirty="0" smtClean="0">
                <a:latin typeface="Cambria" pitchFamily="18" charset="0"/>
                <a:hlinkClick r:id="rId4"/>
              </a:rPr>
              <a:t>https://youtu.be/4SlfaocMfdA</a:t>
            </a:r>
            <a:endParaRPr lang="en-US" sz="2400" u="sng" dirty="0" smtClean="0">
              <a:latin typeface="Cambria" pitchFamily="18" charset="0"/>
            </a:endParaRPr>
          </a:p>
          <a:p>
            <a:pPr lvl="0">
              <a:buFont typeface="Wingdings" pitchFamily="2" charset="2"/>
              <a:buChar char="v"/>
            </a:pPr>
            <a:endParaRPr lang="en-US" sz="2400" dirty="0" smtClean="0">
              <a:latin typeface="Cambria" pitchFamily="18" charset="0"/>
            </a:endParaRPr>
          </a:p>
          <a:p>
            <a:pPr lvl="0">
              <a:buFont typeface="Wingdings" pitchFamily="2" charset="2"/>
              <a:buChar char="v"/>
            </a:pPr>
            <a:r>
              <a:rPr lang="en-US" sz="2400" u="sng" dirty="0" smtClean="0">
                <a:latin typeface="Cambria" pitchFamily="18" charset="0"/>
                <a:hlinkClick r:id="rId5"/>
              </a:rPr>
              <a:t>https://youtu.be/YiDs8ZnpVD4</a:t>
            </a:r>
            <a:endParaRPr lang="en-US" sz="2400" u="sng" dirty="0" smtClean="0">
              <a:latin typeface="Cambria" pitchFamily="18" charset="0"/>
            </a:endParaRPr>
          </a:p>
          <a:p>
            <a:pPr lvl="0">
              <a:buFont typeface="Wingdings" pitchFamily="2" charset="2"/>
              <a:buChar char="v"/>
            </a:pPr>
            <a:endParaRPr lang="en-US" sz="2400" dirty="0" smtClean="0"/>
          </a:p>
          <a:p>
            <a:pPr>
              <a:buFont typeface="Wingdings" pitchFamily="2" charset="2"/>
              <a:buChar char="v"/>
            </a:pPr>
            <a:endParaRPr lang="en-US" sz="2400" dirty="0"/>
          </a:p>
        </p:txBody>
      </p:sp>
      <p:pic>
        <p:nvPicPr>
          <p:cNvPr id="5" name="Content Placeholder 8">
            <a:extLst>
              <a:ext uri="{FF2B5EF4-FFF2-40B4-BE49-F238E27FC236}">
                <a16:creationId xmlns="" xmlns:a16="http://schemas.microsoft.com/office/drawing/2014/main" id="{F8E92CEE-8AC4-F540-991C-C737DC669895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4033"/>
            <a:ext cx="675139" cy="1074083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59D94-4DE0-4C81-B8BE-16B5DB9825E0}" type="slidenum">
              <a:rPr lang="en-US" smtClean="0"/>
              <a:pPr/>
              <a:t>26</a:t>
            </a:fld>
            <a:endParaRPr lang="en-US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3400" y="762000"/>
            <a:ext cx="8610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 smtClean="0"/>
              <a:t>         </a:t>
            </a:r>
            <a:r>
              <a:rPr lang="en-US" sz="4000" b="1" dirty="0" smtClean="0">
                <a:solidFill>
                  <a:schemeClr val="bg1"/>
                </a:solidFill>
              </a:rPr>
              <a:t>REFERENCE COURSES</a:t>
            </a:r>
            <a:endParaRPr lang="en-US" sz="4000" b="1" dirty="0">
              <a:solidFill>
                <a:schemeClr val="bg1"/>
              </a:solidFill>
            </a:endParaRPr>
          </a:p>
        </p:txBody>
      </p:sp>
      <p:sp>
        <p:nvSpPr>
          <p:cNvPr id="37890" name="Rectangle 2"/>
          <p:cNvSpPr>
            <a:spLocks noChangeArrowheads="1"/>
          </p:cNvSpPr>
          <p:nvPr/>
        </p:nvSpPr>
        <p:spPr bwMode="auto">
          <a:xfrm>
            <a:off x="990600" y="1676400"/>
            <a:ext cx="5867400" cy="261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100" b="0" i="0" u="none" strike="noStrike" cap="none" normalizeH="0" baseline="0" dirty="0" smtClean="0">
                <a:ln>
                  <a:noFill/>
                </a:ln>
                <a:solidFill>
                  <a:srgbClr val="222222"/>
                </a:solidFill>
                <a:effectLst/>
                <a:latin typeface="Calibri"/>
                <a:ea typeface="Calibri" pitchFamily="34" charset="0"/>
                <a:cs typeface="Arial" pitchFamily="34" charset="0"/>
              </a:rPr>
              <a:t> </a:t>
            </a:r>
            <a:endParaRPr kumimoji="0" lang="en-US" sz="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9" name="Rectangle 3"/>
          <p:cNvSpPr>
            <a:spLocks noChangeArrowheads="1"/>
          </p:cNvSpPr>
          <p:nvPr/>
        </p:nvSpPr>
        <p:spPr bwMode="auto">
          <a:xfrm>
            <a:off x="838200" y="2514600"/>
            <a:ext cx="70104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2" name="Rectangle 4"/>
          <p:cNvSpPr>
            <a:spLocks noChangeArrowheads="1"/>
          </p:cNvSpPr>
          <p:nvPr/>
        </p:nvSpPr>
        <p:spPr bwMode="auto">
          <a:xfrm flipH="1">
            <a:off x="264816" y="0"/>
            <a:ext cx="156398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62000" y="1371602"/>
            <a:ext cx="7772400" cy="480131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1600" b="1" u="sng" dirty="0" smtClean="0">
                <a:latin typeface="Calibri" pitchFamily="34" charset="0"/>
                <a:cs typeface="Calibri" pitchFamily="34" charset="0"/>
              </a:rPr>
              <a:t>https://nptel.ac.in/courses/117/107/117107095/</a:t>
            </a:r>
          </a:p>
          <a:p>
            <a:pPr lvl="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1600" b="1" u="sng" dirty="0" smtClean="0">
                <a:latin typeface="Calibri" pitchFamily="34" charset="0"/>
                <a:cs typeface="Calibri" pitchFamily="34" charset="0"/>
              </a:rPr>
              <a:t>https://www.mooc-list.com/course/principle-semiconductor-devices-part-i-semiconductors-pn-junctions-and-bipolar-junction?__cf_chl_jschl_tk__=5d5c4e3011067563daec2c74c20afa4658689dfe-1593003362-0-AQjOCDclImzTEZv8nCNn0hGj8uiLGHTa_2EV64jJNRnwyuDNwHaCurIC5JqmGaBsGmglOA44WTCS-0teAwQHMMtxN8rKX0WvG9r9doj7Nf1VBi03205jYaaIw41ngyobLJUdWnqoEcsdhF95o0tyyR-r2ilOtbyObe7fac0wfepFeP8hTzsYXoBBd6IYNjQye91XQzXSJlEBoyRHIOugA1ABR4WiD2z-cqXwKpMQfCwuhKnvMTN9MPUjq7h6k3MgW_iyb5HCjsZDmrxCSAFlNVLqKaZSXqs7dvJjAO2XIJrCrTKU9zwk2JCW6tMx3r2JdCACTu9KWafAr2Alm6wJlZORka9PAZ8ynNylIyPto_SuTZMDxKOhLzXmJ5gvIoIbzCpq9nRMfBOMLmfuanwE3Jk</a:t>
            </a:r>
            <a:endParaRPr lang="en-US" sz="1600" b="1" dirty="0" smtClean="0">
              <a:latin typeface="Calibri" pitchFamily="34" charset="0"/>
              <a:cs typeface="Calibri" pitchFamily="34" charset="0"/>
            </a:endParaRPr>
          </a:p>
          <a:p>
            <a:r>
              <a:rPr lang="en-US" b="1" dirty="0" smtClean="0">
                <a:latin typeface="Calibri" pitchFamily="34" charset="0"/>
                <a:cs typeface="Calibri" pitchFamily="34" charset="0"/>
              </a:rPr>
              <a:t> </a:t>
            </a:r>
          </a:p>
        </p:txBody>
      </p:sp>
      <p:pic>
        <p:nvPicPr>
          <p:cNvPr id="14" name="Content Placeholder 8">
            <a:extLst>
              <a:ext uri="{FF2B5EF4-FFF2-40B4-BE49-F238E27FC236}">
                <a16:creationId xmlns="" xmlns:a16="http://schemas.microsoft.com/office/drawing/2014/main" id="{F8E92CEE-8AC4-F540-991C-C737DC66989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4033"/>
            <a:ext cx="675139" cy="1074083"/>
          </a:xfrm>
          <a:prstGeom prst="rect">
            <a:avLst/>
          </a:prstGeom>
        </p:spPr>
      </p:pic>
      <p:sp>
        <p:nvSpPr>
          <p:cNvPr id="15" name="Slide Number Placeholder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59D94-4DE0-4C81-B8BE-16B5DB9825E0}" type="slidenum">
              <a:rPr lang="en-US" smtClean="0"/>
              <a:pPr/>
              <a:t>27</a:t>
            </a:fld>
            <a:endParaRPr lang="en-US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D36BF853-1C0E-423B-B089-9C7A2B5C2856}:412"/>
  <p:tag name="AUDIO_ID" val="412"/>
  <p:tag name="ARTICULATE_USED_LAYOUT" val="8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32D49604-FA59-40F6-94EB-BC24D15E597E}:370"/>
  <p:tag name="AUDIO_ID" val="370"/>
  <p:tag name="ARTICULATE_USED_LAYOUT" val="8"/>
</p:tagLst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per">
  <a:themeElements>
    <a:clrScheme name="Paper">
      <a:dk1>
        <a:sysClr val="windowText" lastClr="000000"/>
      </a:dk1>
      <a:lt1>
        <a:sysClr val="window" lastClr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Paper">
      <a:majorFont>
        <a:latin typeface="Constantia"/>
        <a:ea typeface=""/>
        <a:cs typeface=""/>
        <a:font script="Jpan" typeface="HG明朝E"/>
        <a:font script="Hang" typeface="궁서"/>
        <a:font script="Hans" typeface="华文新魏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onstantia"/>
        <a:ea typeface=""/>
        <a:cs typeface=""/>
        <a:font script="Jpan" typeface="HG明朝E"/>
        <a:font script="Hang" typeface="궁서"/>
        <a:font script="Hans" typeface="华文新魏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Paper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63000"/>
                <a:tint val="82000"/>
              </a:schemeClr>
              <a:schemeClr val="phClr">
                <a:tint val="10000"/>
                <a:satMod val="400000"/>
              </a:schemeClr>
            </a:duotone>
          </a:blip>
          <a:tile tx="0" ty="0" sx="40000" sy="40000" flip="none" algn="tl"/>
        </a:blipFill>
        <a:blipFill>
          <a:blip xmlns:r="http://schemas.openxmlformats.org/officeDocument/2006/relationships" r:embed="rId1">
            <a:duotone>
              <a:schemeClr val="phClr">
                <a:shade val="40000"/>
              </a:schemeClr>
              <a:schemeClr val="phClr">
                <a:tint val="42000"/>
              </a:schemeClr>
            </a:duotone>
          </a:blip>
          <a:tile tx="0" ty="0" sx="40000" sy="40000" flip="none" algn="tl"/>
        </a:blipFill>
      </a:fillStyleLst>
      <a:lnStyleLst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635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algn="tl" rotWithShape="0">
              <a:srgbClr val="000000">
                <a:alpha val="50000"/>
              </a:srgbClr>
            </a:outerShdw>
          </a:effectLst>
          <a:scene3d>
            <a:camera prst="orthographicFront"/>
            <a:lightRig rig="soft" dir="t">
              <a:rot lat="0" lon="0" rev="18000000"/>
            </a:lightRig>
          </a:scene3d>
          <a:sp3d prstMaterial="dkEdge">
            <a:bevelT w="73660" h="44450" prst="riblet"/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55000"/>
                <a:alpha val="20000"/>
              </a:schemeClr>
              <a:schemeClr val="phClr">
                <a:tint val="40000"/>
                <a:shade val="90000"/>
                <a:satMod val="60000"/>
                <a:alpha val="20000"/>
              </a:schemeClr>
            </a:duotone>
          </a:blip>
          <a:tile tx="0" ty="0" sx="58000" sy="38000" flip="none" algn="tl"/>
        </a:blipFill>
        <a:blipFill>
          <a:blip xmlns:r="http://schemas.openxmlformats.org/officeDocument/2006/relationships" r:embed="rId2">
            <a:duotone>
              <a:schemeClr val="phClr">
                <a:shade val="12000"/>
                <a:satMod val="240000"/>
              </a:schemeClr>
              <a:schemeClr val="phClr">
                <a:tint val="65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2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Paper</Template>
  <TotalTime>990</TotalTime>
  <Words>1039</Words>
  <Application>Microsoft Office PowerPoint</Application>
  <PresentationFormat>On-screen Show (4:3)</PresentationFormat>
  <Paragraphs>205</Paragraphs>
  <Slides>27</Slides>
  <Notes>3</Notes>
  <HiddenSlides>0</HiddenSlides>
  <MMClips>0</MMClips>
  <ScaleCrop>false</ScaleCrop>
  <HeadingPairs>
    <vt:vector size="6" baseType="variant"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Paper</vt:lpstr>
      <vt:lpstr>1_Office Theme</vt:lpstr>
      <vt:lpstr>CorelDRAW</vt:lpstr>
      <vt:lpstr>Slide 1</vt:lpstr>
      <vt:lpstr>Course Objectives</vt:lpstr>
      <vt:lpstr>Course Outcomes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abc</dc:creator>
  <cp:lastModifiedBy>Acer</cp:lastModifiedBy>
  <cp:revision>86</cp:revision>
  <dcterms:created xsi:type="dcterms:W3CDTF">2020-06-25T08:18:12Z</dcterms:created>
  <dcterms:modified xsi:type="dcterms:W3CDTF">2023-06-19T09:46:28Z</dcterms:modified>
</cp:coreProperties>
</file>