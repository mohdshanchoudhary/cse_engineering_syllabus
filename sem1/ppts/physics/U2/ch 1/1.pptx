
<file path=[Content_Types].xml><?xml version="1.0" encoding="utf-8"?>
<Types xmlns="http://schemas.openxmlformats.org/package/2006/content-types">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ags/tag17.xml" ContentType="application/vnd.openxmlformats-officedocument.presentationml.tags+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478" r:id="rId3"/>
    <p:sldId id="479" r:id="rId4"/>
    <p:sldId id="480" r:id="rId5"/>
    <p:sldId id="471" r:id="rId6"/>
    <p:sldId id="326" r:id="rId7"/>
    <p:sldId id="415" r:id="rId8"/>
    <p:sldId id="472" r:id="rId9"/>
    <p:sldId id="473" r:id="rId10"/>
    <p:sldId id="416" r:id="rId11"/>
    <p:sldId id="417" r:id="rId12"/>
    <p:sldId id="418" r:id="rId13"/>
    <p:sldId id="474" r:id="rId14"/>
    <p:sldId id="477" r:id="rId15"/>
    <p:sldId id="476" r:id="rId16"/>
    <p:sldId id="475" r:id="rId17"/>
    <p:sldId id="481" r:id="rId18"/>
    <p:sldId id="482" r:id="rId19"/>
    <p:sldId id="483" r:id="rId20"/>
    <p:sldId id="484" r:id="rId21"/>
    <p:sldId id="485" r:id="rId22"/>
    <p:sldId id="486" r:id="rId23"/>
    <p:sldId id="394" r:id="rId24"/>
    <p:sldId id="377" r:id="rId25"/>
    <p:sldId id="384" r:id="rId26"/>
    <p:sldId id="424" r:id="rId27"/>
    <p:sldId id="425" r:id="rId28"/>
    <p:sldId id="380" r:id="rId29"/>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Fig-3</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8.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Lecture-2.1.1</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Introduction of  BJT Transistor and its Types &amp; Applications</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886" y="1655810"/>
            <a:ext cx="10571389" cy="4351338"/>
          </a:xfrm>
        </p:spPr>
        <p:txBody>
          <a:bodyPr>
            <a:noAutofit/>
          </a:bodyPr>
          <a:lstStyle/>
          <a:p>
            <a:pPr marL="342900" indent="-342900" algn="just"/>
            <a:r>
              <a:rPr lang="en-IN" dirty="0"/>
              <a:t>Electronics is the science of how to control electric energy, energy which the electrons have a fundamental role. </a:t>
            </a:r>
          </a:p>
          <a:p>
            <a:pPr marL="342900" indent="-342900" algn="just"/>
            <a:r>
              <a:rPr lang="en-IN" dirty="0"/>
              <a:t>Its also deals with electrical circuits that involve active electrical components such as vacuum tubes, transistors, diodes and integrated circuits, and associated passive electrical components and interconnection technologies. </a:t>
            </a:r>
          </a:p>
          <a:p>
            <a:pPr marL="342900" indent="-342900" algn="just"/>
            <a:r>
              <a:rPr lang="en-IN" dirty="0"/>
              <a:t>You will work with a number of basic electronic components when building electronic circuits, including resistors, capacitors, diodes, transistors, and integrated circuits. Here is a brief overview of the functions of each of these basic electronic components.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7" name="Title 1"/>
          <p:cNvSpPr txBox="1">
            <a:spLocks/>
          </p:cNvSpPr>
          <p:nvPr/>
        </p:nvSpPr>
        <p:spPr>
          <a:xfrm>
            <a:off x="1059543" y="361523"/>
            <a:ext cx="9575074" cy="1119686"/>
          </a:xfrm>
          <a:prstGeom prst="rect">
            <a:avLst/>
          </a:prstGeom>
          <a:ln>
            <a:solidFill>
              <a:srgbClr val="FFFFFF"/>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kumimoji="0" lang="en-IN" sz="4400" b="1" i="0" u="none" strike="noStrike" kern="1200" cap="none" spc="0" normalizeH="0" baseline="0" noProof="0" dirty="0">
                <a:ln>
                  <a:noFill/>
                </a:ln>
                <a:solidFill>
                  <a:schemeClr val="dk1"/>
                </a:solidFill>
                <a:effectLst/>
                <a:uLnTx/>
                <a:uFillTx/>
                <a:latin typeface="+mj-lt"/>
                <a:ea typeface="+mn-ea"/>
                <a:cs typeface="+mn-cs"/>
              </a:rPr>
              <a:t>   </a:t>
            </a:r>
            <a:r>
              <a:rPr lang="en-IN" sz="4400" b="1" dirty="0">
                <a:latin typeface="+mj-lt"/>
              </a:rPr>
              <a:t>What is Electronics</a:t>
            </a:r>
            <a:endParaRPr kumimoji="0" lang="en-IN" sz="4400" b="1" i="0" strike="noStrike" kern="1200" cap="none" spc="0" normalizeH="0" baseline="0" noProof="0" dirty="0">
              <a:ln>
                <a:noFill/>
              </a:ln>
              <a:solidFill>
                <a:schemeClr val="dk1"/>
              </a:solidFill>
              <a:effectLst/>
              <a:uLnTx/>
              <a:uFillTx/>
              <a:latin typeface="+mj-lt"/>
            </a:endParaRPr>
          </a:p>
        </p:txBody>
      </p:sp>
    </p:spTree>
    <p:custDataLst>
      <p:tags r:id="rId1"/>
    </p:custDataLst>
    <p:extLst>
      <p:ext uri="{BB962C8B-B14F-4D97-AF65-F5344CB8AC3E}">
        <p14:creationId xmlns:p14="http://schemas.microsoft.com/office/powerpoint/2010/main" xmlns="" val="405273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a:xfrm>
            <a:off x="838200" y="1959429"/>
            <a:ext cx="10515600" cy="4217534"/>
          </a:xfrm>
        </p:spPr>
        <p:txBody>
          <a:bodyPr>
            <a:normAutofit/>
          </a:bodyPr>
          <a:lstStyle/>
          <a:p>
            <a:pPr marL="342900" lvl="0" indent="-342900">
              <a:lnSpc>
                <a:spcPct val="100000"/>
              </a:lnSpc>
              <a:spcBef>
                <a:spcPts val="0"/>
              </a:spcBef>
              <a:buFont typeface="Wingdings" pitchFamily="2" charset="2"/>
              <a:buChar char="v"/>
            </a:pPr>
            <a:r>
              <a:rPr lang="en-IN" dirty="0"/>
              <a:t>n-p-n transistor</a:t>
            </a:r>
          </a:p>
          <a:p>
            <a:pPr marL="342900" lvl="0" indent="-342900">
              <a:lnSpc>
                <a:spcPct val="100000"/>
              </a:lnSpc>
              <a:spcBef>
                <a:spcPts val="0"/>
              </a:spcBef>
              <a:buFont typeface="Wingdings" pitchFamily="2" charset="2"/>
              <a:buChar char="v"/>
            </a:pPr>
            <a:r>
              <a:rPr lang="en-US" dirty="0"/>
              <a:t>p-n-p transistor</a:t>
            </a:r>
          </a:p>
          <a:p>
            <a:pPr marL="342900" lvl="0" indent="-342900">
              <a:lnSpc>
                <a:spcPct val="100000"/>
              </a:lnSpc>
              <a:spcBef>
                <a:spcPts val="0"/>
              </a:spcBef>
              <a:buFont typeface="Wingdings" pitchFamily="2" charset="2"/>
              <a:buChar char="v"/>
            </a:pPr>
            <a:r>
              <a:rPr lang="en-IN" dirty="0"/>
              <a:t>Fact about Transistor </a:t>
            </a:r>
            <a:r>
              <a:rPr lang="en-IN" dirty="0" smtClean="0"/>
              <a:t>Terminals</a:t>
            </a:r>
          </a:p>
          <a:p>
            <a:pPr marL="342900" lvl="0" indent="-342900">
              <a:lnSpc>
                <a:spcPct val="100000"/>
              </a:lnSpc>
              <a:spcBef>
                <a:spcPts val="0"/>
              </a:spcBef>
              <a:buFont typeface="Wingdings" pitchFamily="2" charset="2"/>
              <a:buChar char="v"/>
            </a:pPr>
            <a:r>
              <a:rPr lang="en-IN" dirty="0" smtClean="0"/>
              <a:t>Applications of Transistor</a:t>
            </a:r>
          </a:p>
          <a:p>
            <a:pPr marL="342900" lvl="0" indent="-342900">
              <a:lnSpc>
                <a:spcPct val="100000"/>
              </a:lnSpc>
              <a:spcBef>
                <a:spcPts val="0"/>
              </a:spcBef>
              <a:buFont typeface="Wingdings" pitchFamily="2" charset="2"/>
              <a:buChar char="v"/>
            </a:pPr>
            <a:r>
              <a:rPr lang="en-IN" dirty="0" smtClean="0"/>
              <a:t>Transistor as an amplifier &amp; Switch</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Times New Roman" pitchFamily="18" charset="0"/>
              </a:rPr>
              <a:t>Introduction to Transistor</a:t>
            </a:r>
            <a:endParaRPr lang="en-US" b="1" dirty="0">
              <a:latin typeface="Casper"/>
            </a:endParaRPr>
          </a:p>
        </p:txBody>
      </p:sp>
      <p:sp>
        <p:nvSpPr>
          <p:cNvPr id="3" name="Content Placeholder 2"/>
          <p:cNvSpPr>
            <a:spLocks noGrp="1"/>
          </p:cNvSpPr>
          <p:nvPr>
            <p:ph idx="1"/>
          </p:nvPr>
        </p:nvSpPr>
        <p:spPr>
          <a:xfrm>
            <a:off x="838200" y="1958975"/>
            <a:ext cx="10515600" cy="4217988"/>
          </a:xfrm>
        </p:spPr>
        <p:txBody>
          <a:bodyPr/>
          <a:lstStyle/>
          <a:p>
            <a:pPr marL="0" indent="0">
              <a:lnSpc>
                <a:spcPct val="100000"/>
              </a:lnSpc>
              <a:spcBef>
                <a:spcPct val="0"/>
              </a:spcBef>
              <a:buNone/>
            </a:pPr>
            <a:r>
              <a:rPr lang="en-US" dirty="0"/>
              <a:t>A transistor consists of two </a:t>
            </a:r>
            <a:r>
              <a:rPr lang="en-US" dirty="0" err="1"/>
              <a:t>pn</a:t>
            </a:r>
            <a:r>
              <a:rPr lang="en-US" dirty="0"/>
              <a:t> junctions formed by *sandwiching either p-type or n-type semiconductor between a pair of opposite types. Accordingly ; there are two types of transistors, namely;</a:t>
            </a:r>
          </a:p>
          <a:p>
            <a:pPr marL="0" indent="0">
              <a:lnSpc>
                <a:spcPct val="100000"/>
              </a:lnSpc>
              <a:spcBef>
                <a:spcPct val="0"/>
              </a:spcBef>
              <a:buNone/>
            </a:pPr>
            <a:r>
              <a:rPr lang="en-US" dirty="0"/>
              <a:t>1.</a:t>
            </a:r>
            <a:r>
              <a:rPr lang="en-US" dirty="0">
                <a:solidFill>
                  <a:srgbClr val="FF00FF"/>
                </a:solidFill>
              </a:rPr>
              <a:t>	</a:t>
            </a:r>
            <a:r>
              <a:rPr lang="en-US" dirty="0"/>
              <a:t>n-p-n transistor</a:t>
            </a:r>
          </a:p>
          <a:p>
            <a:pPr marL="0" indent="0">
              <a:lnSpc>
                <a:spcPct val="100000"/>
              </a:lnSpc>
              <a:spcBef>
                <a:spcPct val="0"/>
              </a:spcBef>
              <a:buNone/>
            </a:pPr>
            <a:r>
              <a:rPr lang="en-US" dirty="0"/>
              <a:t>2.</a:t>
            </a:r>
            <a:r>
              <a:rPr lang="en-US" dirty="0">
                <a:solidFill>
                  <a:srgbClr val="FF00FF"/>
                </a:solidFill>
              </a:rPr>
              <a:t>	</a:t>
            </a:r>
            <a:r>
              <a:rPr lang="en-US" dirty="0"/>
              <a:t>p-n-p transistor</a:t>
            </a:r>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6</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Introduction to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7</a:t>
            </a:fld>
            <a:endParaRPr lang="en-US"/>
          </a:p>
        </p:txBody>
      </p:sp>
      <p:sp>
        <p:nvSpPr>
          <p:cNvPr id="13" name="Rectangle 12"/>
          <p:cNvSpPr/>
          <p:nvPr/>
        </p:nvSpPr>
        <p:spPr>
          <a:xfrm>
            <a:off x="851711" y="2170317"/>
            <a:ext cx="5532938" cy="3539430"/>
          </a:xfrm>
          <a:prstGeom prst="rect">
            <a:avLst/>
          </a:prstGeom>
        </p:spPr>
        <p:txBody>
          <a:bodyPr wrap="square">
            <a:spAutoFit/>
          </a:bodyPr>
          <a:lstStyle/>
          <a:p>
            <a:pPr>
              <a:buFont typeface="Wingdings" pitchFamily="2" charset="2"/>
              <a:buChar char="Ø"/>
            </a:pPr>
            <a:r>
              <a:rPr lang="en-US" sz="2800" dirty="0">
                <a:latin typeface="+mn-lt"/>
                <a:cs typeface="Times New Roman" pitchFamily="18" charset="0"/>
              </a:rPr>
              <a:t>An n-p-n transistor is composed of two n-type semiconductors separated by a thin section of p-type as shown in Fig. 1.1 (</a:t>
            </a:r>
            <a:r>
              <a:rPr lang="en-US" sz="2800" dirty="0" err="1">
                <a:latin typeface="+mn-lt"/>
                <a:cs typeface="Times New Roman" pitchFamily="18" charset="0"/>
              </a:rPr>
              <a:t>i</a:t>
            </a:r>
            <a:r>
              <a:rPr lang="en-US" sz="2800" dirty="0">
                <a:latin typeface="+mn-lt"/>
                <a:cs typeface="Times New Roman" pitchFamily="18" charset="0"/>
              </a:rPr>
              <a:t>).</a:t>
            </a:r>
          </a:p>
          <a:p>
            <a:pPr>
              <a:buFont typeface="Wingdings" pitchFamily="2" charset="2"/>
              <a:buChar char="Ø"/>
            </a:pPr>
            <a:r>
              <a:rPr lang="en-US" sz="2800" dirty="0">
                <a:latin typeface="+mn-lt"/>
                <a:cs typeface="Times New Roman" pitchFamily="18" charset="0"/>
              </a:rPr>
              <a:t>However, a p-n-p transistor is formed by two p-sections separated by a thin section of n-type as shown in Fig. 1.1 (ii).</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384649" y="5151708"/>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Formation of n-p-n transistor and p-n-p transistor</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869858"/>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8585302F-F675-4037-B7D1-24C7EED69D2A}"/>
              </a:ext>
            </a:extLst>
          </p:cNvPr>
          <p:cNvPicPr/>
          <p:nvPr/>
        </p:nvPicPr>
        <p:blipFill>
          <a:blip r:embed="rId3"/>
          <a:stretch>
            <a:fillRect/>
          </a:stretch>
        </p:blipFill>
        <p:spPr>
          <a:xfrm>
            <a:off x="6735652" y="2326359"/>
            <a:ext cx="4258369" cy="2472534"/>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Introduction to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8</a:t>
            </a:fld>
            <a:endParaRPr lang="en-US"/>
          </a:p>
        </p:txBody>
      </p:sp>
      <p:sp>
        <p:nvSpPr>
          <p:cNvPr id="13" name="Rectangle 12"/>
          <p:cNvSpPr/>
          <p:nvPr/>
        </p:nvSpPr>
        <p:spPr>
          <a:xfrm>
            <a:off x="851711" y="2170317"/>
            <a:ext cx="5532938" cy="3539430"/>
          </a:xfrm>
          <a:prstGeom prst="rect">
            <a:avLst/>
          </a:prstGeom>
        </p:spPr>
        <p:txBody>
          <a:bodyPr wrap="square">
            <a:spAutoFit/>
          </a:bodyPr>
          <a:lstStyle/>
          <a:p>
            <a:pPr>
              <a:buFont typeface="Wingdings" pitchFamily="2" charset="2"/>
              <a:buChar char="Ø"/>
            </a:pPr>
            <a:r>
              <a:rPr lang="en-US" sz="2800" dirty="0">
                <a:latin typeface="+mn-lt"/>
                <a:cs typeface="Times New Roman" pitchFamily="18" charset="0"/>
              </a:rPr>
              <a:t>An n-p-n transistor is composed of two n-type semiconductors separated by a thin section of p-type as shown in Fig. 1.1 (</a:t>
            </a:r>
            <a:r>
              <a:rPr lang="en-US" sz="2800" dirty="0" err="1">
                <a:latin typeface="+mn-lt"/>
                <a:cs typeface="Times New Roman" pitchFamily="18" charset="0"/>
              </a:rPr>
              <a:t>i</a:t>
            </a:r>
            <a:r>
              <a:rPr lang="en-US" sz="2800" dirty="0">
                <a:latin typeface="+mn-lt"/>
                <a:cs typeface="Times New Roman" pitchFamily="18" charset="0"/>
              </a:rPr>
              <a:t>).</a:t>
            </a:r>
          </a:p>
          <a:p>
            <a:pPr>
              <a:buFont typeface="Wingdings" pitchFamily="2" charset="2"/>
              <a:buChar char="Ø"/>
            </a:pPr>
            <a:r>
              <a:rPr lang="en-US" sz="2800" dirty="0">
                <a:latin typeface="+mn-lt"/>
                <a:cs typeface="Times New Roman" pitchFamily="18" charset="0"/>
              </a:rPr>
              <a:t>However, a p-n-p transistor is formed by two p-sections separated by a thin section of n-type as shown in Fig. 1.1 (ii).</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384649" y="5151708"/>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Formation of n-p-n transistor and p-n-p transistor</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650719"/>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8585302F-F675-4037-B7D1-24C7EED69D2A}"/>
              </a:ext>
            </a:extLst>
          </p:cNvPr>
          <p:cNvPicPr/>
          <p:nvPr/>
        </p:nvPicPr>
        <p:blipFill>
          <a:blip r:embed="rId3"/>
          <a:stretch>
            <a:fillRect/>
          </a:stretch>
        </p:blipFill>
        <p:spPr>
          <a:xfrm>
            <a:off x="6735652" y="2326359"/>
            <a:ext cx="4258369" cy="2472534"/>
          </a:xfrm>
          <a:prstGeom prst="rect">
            <a:avLst/>
          </a:prstGeom>
        </p:spPr>
      </p:pic>
    </p:spTree>
    <p:custDataLst>
      <p:tags r:id="rId1"/>
    </p:custDataLst>
    <p:extLst>
      <p:ext uri="{BB962C8B-B14F-4D97-AF65-F5344CB8AC3E}">
        <p14:creationId xmlns:p14="http://schemas.microsoft.com/office/powerpoint/2010/main" xmlns="" val="1132838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Times New Roman" pitchFamily="18" charset="0"/>
              </a:rPr>
              <a:t>Introduction to Transistor</a:t>
            </a:r>
            <a:endParaRPr lang="en-US" b="1" dirty="0">
              <a:cs typeface="Arial" charset="0"/>
            </a:endParaRPr>
          </a:p>
        </p:txBody>
      </p:sp>
      <p:sp>
        <p:nvSpPr>
          <p:cNvPr id="3" name="Content Placeholder 2"/>
          <p:cNvSpPr>
            <a:spLocks noGrp="1"/>
          </p:cNvSpPr>
          <p:nvPr>
            <p:ph idx="1"/>
          </p:nvPr>
        </p:nvSpPr>
        <p:spPr>
          <a:xfrm>
            <a:off x="838200" y="1684655"/>
            <a:ext cx="10515600" cy="4217988"/>
          </a:xfrm>
        </p:spPr>
        <p:txBody>
          <a:bodyPr>
            <a:normAutofit/>
          </a:bodyPr>
          <a:lstStyle/>
          <a:p>
            <a:r>
              <a:rPr lang="en-US" dirty="0"/>
              <a:t>In each type of transistor, the following points may be noted: </a:t>
            </a:r>
            <a:endParaRPr lang="en-IN" dirty="0"/>
          </a:p>
          <a:p>
            <a:pPr lvl="0"/>
            <a:r>
              <a:rPr lang="en-US" dirty="0"/>
              <a:t>These are two </a:t>
            </a:r>
            <a:r>
              <a:rPr lang="en-US" dirty="0" err="1"/>
              <a:t>pn</a:t>
            </a:r>
            <a:r>
              <a:rPr lang="en-US" dirty="0"/>
              <a:t> junctions. Therefore, a transistor may be regarded as a combination of two diodes connected back-to-back. </a:t>
            </a:r>
            <a:endParaRPr lang="en-IN" dirty="0"/>
          </a:p>
          <a:p>
            <a:pPr lvl="0"/>
            <a:r>
              <a:rPr lang="en-US" dirty="0"/>
              <a:t>There are three terminals, one taken from each type of semiconductor. </a:t>
            </a:r>
            <a:endParaRPr lang="en-IN" dirty="0"/>
          </a:p>
          <a:p>
            <a:pPr lvl="0"/>
            <a:r>
              <a:rPr lang="en-US" dirty="0"/>
              <a:t>The middle section is a very thin layer. This is the most important factor in the function of a transistor.</a:t>
            </a:r>
            <a:endParaRPr lang="en-IN" dirty="0"/>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9</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Arial" charset="0"/>
              </a:rPr>
              <a:t>Origin of the name “Transistor</a:t>
            </a:r>
          </a:p>
        </p:txBody>
      </p:sp>
      <p:sp>
        <p:nvSpPr>
          <p:cNvPr id="3" name="Content Placeholder 2"/>
          <p:cNvSpPr>
            <a:spLocks noGrp="1"/>
          </p:cNvSpPr>
          <p:nvPr>
            <p:ph idx="1"/>
          </p:nvPr>
        </p:nvSpPr>
        <p:spPr>
          <a:xfrm>
            <a:off x="825138" y="1632404"/>
            <a:ext cx="10515600" cy="4217988"/>
          </a:xfrm>
        </p:spPr>
        <p:txBody>
          <a:bodyPr>
            <a:normAutofit/>
          </a:bodyPr>
          <a:lstStyle/>
          <a:p>
            <a:pPr algn="just">
              <a:lnSpc>
                <a:spcPct val="100000"/>
              </a:lnSpc>
              <a:spcBef>
                <a:spcPct val="0"/>
              </a:spcBef>
            </a:pPr>
            <a:r>
              <a:rPr lang="en-US" sz="2400" dirty="0">
                <a:cs typeface="Times New Roman" pitchFamily="18" charset="0"/>
              </a:rPr>
              <a:t>A transistor has two </a:t>
            </a:r>
            <a:r>
              <a:rPr lang="en-US" sz="2400" dirty="0" err="1">
                <a:cs typeface="Times New Roman" pitchFamily="18" charset="0"/>
              </a:rPr>
              <a:t>pn</a:t>
            </a:r>
            <a:r>
              <a:rPr lang="en-US" sz="2400" dirty="0">
                <a:cs typeface="Times New Roman" pitchFamily="18" charset="0"/>
              </a:rPr>
              <a:t> junctions. One junction is forward biased and the other is reverse biased. </a:t>
            </a:r>
          </a:p>
          <a:p>
            <a:pPr algn="just">
              <a:lnSpc>
                <a:spcPct val="100000"/>
              </a:lnSpc>
              <a:spcBef>
                <a:spcPct val="0"/>
              </a:spcBef>
            </a:pPr>
            <a:r>
              <a:rPr lang="en-US" sz="2400" dirty="0">
                <a:cs typeface="Times New Roman" pitchFamily="18" charset="0"/>
              </a:rPr>
              <a:t>The forward biased junction has a low resistance path whereas a reverse biased junction has a high resistance path. </a:t>
            </a:r>
          </a:p>
          <a:p>
            <a:pPr algn="just">
              <a:lnSpc>
                <a:spcPct val="100000"/>
              </a:lnSpc>
              <a:spcBef>
                <a:spcPct val="0"/>
              </a:spcBef>
            </a:pPr>
            <a:r>
              <a:rPr lang="en-US" sz="2400" dirty="0">
                <a:cs typeface="Times New Roman" pitchFamily="18" charset="0"/>
              </a:rPr>
              <a:t>The weak signal is introduced in the low resistance circuit and output is taken from the high resistance circuit. </a:t>
            </a:r>
          </a:p>
          <a:p>
            <a:pPr algn="just">
              <a:lnSpc>
                <a:spcPct val="100000"/>
              </a:lnSpc>
              <a:spcBef>
                <a:spcPct val="0"/>
              </a:spcBef>
            </a:pPr>
            <a:r>
              <a:rPr lang="en-US" sz="2400" dirty="0">
                <a:cs typeface="Times New Roman" pitchFamily="18" charset="0"/>
              </a:rPr>
              <a:t>Therefore, a transistor transfers a signal from a low resistance to high resistance. The prefix ‘</a:t>
            </a:r>
            <a:r>
              <a:rPr lang="en-US" sz="2400" b="1" dirty="0">
                <a:cs typeface="Times New Roman" pitchFamily="18" charset="0"/>
              </a:rPr>
              <a:t>trans</a:t>
            </a:r>
            <a:r>
              <a:rPr lang="en-US" sz="2400" dirty="0">
                <a:cs typeface="Times New Roman" pitchFamily="18" charset="0"/>
              </a:rPr>
              <a:t>’ means the signal transfer property of the device while ‘</a:t>
            </a:r>
            <a:r>
              <a:rPr lang="en-US" sz="2400" b="1" dirty="0" err="1">
                <a:cs typeface="Times New Roman" pitchFamily="18" charset="0"/>
              </a:rPr>
              <a:t>istor</a:t>
            </a:r>
            <a:r>
              <a:rPr lang="en-US" sz="2400" dirty="0">
                <a:cs typeface="Times New Roman" pitchFamily="18" charset="0"/>
              </a:rPr>
              <a:t>’ classifies it as a solid element in the same general family with resistors.</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10</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Arial" charset="0"/>
              </a:rPr>
              <a:t>Naming the Transistor Terminals</a:t>
            </a:r>
          </a:p>
        </p:txBody>
      </p:sp>
      <p:sp>
        <p:nvSpPr>
          <p:cNvPr id="3" name="Content Placeholder 2"/>
          <p:cNvSpPr>
            <a:spLocks noGrp="1"/>
          </p:cNvSpPr>
          <p:nvPr>
            <p:ph idx="1"/>
          </p:nvPr>
        </p:nvSpPr>
        <p:spPr>
          <a:xfrm>
            <a:off x="825138" y="1632404"/>
            <a:ext cx="5655175" cy="4217988"/>
          </a:xfrm>
        </p:spPr>
        <p:txBody>
          <a:bodyPr/>
          <a:lstStyle/>
          <a:p>
            <a:pPr algn="just"/>
            <a:r>
              <a:rPr lang="en-US" dirty="0"/>
              <a:t>A transistor (</a:t>
            </a:r>
            <a:r>
              <a:rPr lang="en-US" dirty="0" err="1"/>
              <a:t>pnp</a:t>
            </a:r>
            <a:r>
              <a:rPr lang="en-US" dirty="0"/>
              <a:t> or </a:t>
            </a:r>
            <a:r>
              <a:rPr lang="en-US" dirty="0" err="1"/>
              <a:t>npn</a:t>
            </a:r>
            <a:r>
              <a:rPr lang="en-US" dirty="0"/>
              <a:t>) has three sections of doped semiconductors. The section on one side is the emitter and the section on the opposite side is the collector. </a:t>
            </a:r>
          </a:p>
          <a:p>
            <a:pPr algn="just"/>
            <a:r>
              <a:rPr lang="en-US" dirty="0"/>
              <a:t>The middle section is called the base and forms two junctions between the emitter and collector.</a:t>
            </a:r>
            <a:endParaRPr lang="en-IN" dirty="0"/>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11</a:t>
            </a:fld>
            <a:endParaRPr lang="en-US"/>
          </a:p>
        </p:txBody>
      </p:sp>
      <p:pic>
        <p:nvPicPr>
          <p:cNvPr id="5" name="Picture 4">
            <a:extLst>
              <a:ext uri="{FF2B5EF4-FFF2-40B4-BE49-F238E27FC236}">
                <a16:creationId xmlns:a16="http://schemas.microsoft.com/office/drawing/2014/main" xmlns="" id="{4AC5B931-EED1-41AA-9DCB-CA0F10700514}"/>
              </a:ext>
            </a:extLst>
          </p:cNvPr>
          <p:cNvPicPr/>
          <p:nvPr/>
        </p:nvPicPr>
        <p:blipFill>
          <a:blip r:embed="rId3"/>
          <a:stretch>
            <a:fillRect/>
          </a:stretch>
        </p:blipFill>
        <p:spPr>
          <a:xfrm>
            <a:off x="6630315" y="1954439"/>
            <a:ext cx="5162550" cy="1941699"/>
          </a:xfrm>
          <a:prstGeom prst="rect">
            <a:avLst/>
          </a:prstGeom>
        </p:spPr>
      </p:pic>
      <p:sp>
        <p:nvSpPr>
          <p:cNvPr id="6" name="TextBox 5">
            <a:extLst>
              <a:ext uri="{FF2B5EF4-FFF2-40B4-BE49-F238E27FC236}">
                <a16:creationId xmlns:a16="http://schemas.microsoft.com/office/drawing/2014/main" xmlns="" id="{9D7C338E-A504-4CC8-96B7-DCE971E582F4}"/>
              </a:ext>
            </a:extLst>
          </p:cNvPr>
          <p:cNvSpPr txBox="1"/>
          <p:nvPr/>
        </p:nvSpPr>
        <p:spPr>
          <a:xfrm>
            <a:off x="6630315" y="4478074"/>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2: Sectioning of the transistor</a:t>
            </a:r>
            <a:endParaRPr lang="en-US" dirty="0"/>
          </a:p>
        </p:txBody>
      </p:sp>
      <p:sp>
        <p:nvSpPr>
          <p:cNvPr id="7" name="TextBox 6">
            <a:extLst>
              <a:ext uri="{FF2B5EF4-FFF2-40B4-BE49-F238E27FC236}">
                <a16:creationId xmlns:a16="http://schemas.microsoft.com/office/drawing/2014/main" xmlns="" id="{C70E49C2-FFF7-4AE4-9313-4CF3598EDEC8}"/>
              </a:ext>
            </a:extLst>
          </p:cNvPr>
          <p:cNvSpPr txBox="1"/>
          <p:nvPr/>
        </p:nvSpPr>
        <p:spPr>
          <a:xfrm>
            <a:off x="6474024" y="4977085"/>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Emitter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12</a:t>
            </a:fld>
            <a:endParaRPr lang="en-US"/>
          </a:p>
        </p:txBody>
      </p:sp>
      <p:sp>
        <p:nvSpPr>
          <p:cNvPr id="13" name="Rectangle 12"/>
          <p:cNvSpPr/>
          <p:nvPr/>
        </p:nvSpPr>
        <p:spPr>
          <a:xfrm>
            <a:off x="838200" y="1690688"/>
            <a:ext cx="10330146" cy="3539430"/>
          </a:xfrm>
          <a:prstGeom prst="rect">
            <a:avLst/>
          </a:prstGeom>
        </p:spPr>
        <p:txBody>
          <a:bodyPr wrap="square">
            <a:spAutoFit/>
          </a:bodyPr>
          <a:lstStyle/>
          <a:p>
            <a:pPr algn="just">
              <a:buFont typeface="Wingdings" pitchFamily="2" charset="2"/>
              <a:buChar char="Ø"/>
            </a:pPr>
            <a:r>
              <a:rPr lang="en-US" sz="2800" dirty="0">
                <a:latin typeface="+mn-lt"/>
                <a:cs typeface="Times New Roman" pitchFamily="18" charset="0"/>
              </a:rPr>
              <a:t>The section on one side that supplies charge carriers (electrons or holes) is called the emitter. The emitter is always forward biased </a:t>
            </a:r>
            <a:r>
              <a:rPr lang="en-US" sz="2800" dirty="0" err="1">
                <a:latin typeface="+mn-lt"/>
                <a:cs typeface="Times New Roman" pitchFamily="18" charset="0"/>
              </a:rPr>
              <a:t>w.r.t.</a:t>
            </a:r>
            <a:r>
              <a:rPr lang="en-US" sz="2800" dirty="0">
                <a:latin typeface="+mn-lt"/>
                <a:cs typeface="Times New Roman" pitchFamily="18" charset="0"/>
              </a:rPr>
              <a:t> base so that it can supply a large number of majority carrier (Holes if emitter is p-type and electrons if the emitter is n-type.). </a:t>
            </a:r>
          </a:p>
          <a:p>
            <a:pPr algn="just">
              <a:buFont typeface="Wingdings" pitchFamily="2" charset="2"/>
              <a:buChar char="Ø"/>
            </a:pPr>
            <a:r>
              <a:rPr lang="en-US" sz="2800" dirty="0">
                <a:latin typeface="+mn-lt"/>
                <a:cs typeface="Times New Roman" pitchFamily="18" charset="0"/>
              </a:rPr>
              <a:t>In Fig. 2 (</a:t>
            </a:r>
            <a:r>
              <a:rPr lang="en-US" sz="2800" dirty="0" err="1">
                <a:latin typeface="+mn-lt"/>
                <a:cs typeface="Times New Roman" pitchFamily="18" charset="0"/>
              </a:rPr>
              <a:t>i</a:t>
            </a:r>
            <a:r>
              <a:rPr lang="en-US" sz="2800" dirty="0">
                <a:latin typeface="+mn-lt"/>
                <a:cs typeface="Times New Roman" pitchFamily="18" charset="0"/>
              </a:rPr>
              <a:t>), the emitter (p-type) of </a:t>
            </a:r>
            <a:r>
              <a:rPr lang="en-US" sz="2800" dirty="0" err="1">
                <a:latin typeface="+mn-lt"/>
                <a:cs typeface="Times New Roman" pitchFamily="18" charset="0"/>
              </a:rPr>
              <a:t>pnp</a:t>
            </a:r>
            <a:r>
              <a:rPr lang="en-US" sz="2800" dirty="0">
                <a:latin typeface="+mn-lt"/>
                <a:cs typeface="Times New Roman" pitchFamily="18" charset="0"/>
              </a:rPr>
              <a:t> transistor is forward biased and supplies hole charges to its junction with the base. Similarly, in Fig. 2 (ii), the emitter (n-type) of </a:t>
            </a:r>
            <a:r>
              <a:rPr lang="en-US" sz="2800" dirty="0" err="1">
                <a:latin typeface="+mn-lt"/>
                <a:cs typeface="Times New Roman" pitchFamily="18" charset="0"/>
              </a:rPr>
              <a:t>npn</a:t>
            </a:r>
            <a:r>
              <a:rPr lang="en-US" sz="2800" dirty="0">
                <a:latin typeface="+mn-lt"/>
                <a:cs typeface="Times New Roman" pitchFamily="18" charset="0"/>
              </a:rPr>
              <a:t> transistor has a forward bias and supplies free electrons to its junction with the base</a:t>
            </a:r>
          </a:p>
        </p:txBody>
      </p:sp>
    </p:spTree>
    <p:custDataLst>
      <p:tags r:id="rId1"/>
    </p:custDataLst>
    <p:extLst>
      <p:ext uri="{BB962C8B-B14F-4D97-AF65-F5344CB8AC3E}">
        <p14:creationId xmlns:p14="http://schemas.microsoft.com/office/powerpoint/2010/main" xmlns="" val="566089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Collector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13</a:t>
            </a:fld>
            <a:endParaRPr lang="en-US"/>
          </a:p>
        </p:txBody>
      </p:sp>
      <p:sp>
        <p:nvSpPr>
          <p:cNvPr id="13" name="Rectangle 12"/>
          <p:cNvSpPr/>
          <p:nvPr/>
        </p:nvSpPr>
        <p:spPr>
          <a:xfrm>
            <a:off x="838200" y="1690688"/>
            <a:ext cx="10330146" cy="3108543"/>
          </a:xfrm>
          <a:prstGeom prst="rect">
            <a:avLst/>
          </a:prstGeom>
        </p:spPr>
        <p:txBody>
          <a:bodyPr wrap="square">
            <a:spAutoFit/>
          </a:bodyPr>
          <a:lstStyle/>
          <a:p>
            <a:pPr algn="just">
              <a:buFont typeface="Wingdings" pitchFamily="2" charset="2"/>
              <a:buChar char="Ø"/>
            </a:pPr>
            <a:r>
              <a:rPr lang="en-US" sz="2800" dirty="0">
                <a:latin typeface="+mn-lt"/>
                <a:cs typeface="Times New Roman" pitchFamily="18" charset="0"/>
              </a:rPr>
              <a:t>The section on the other side that collects the charges is called the collector. The collector is always reverse biased. Its function is to remove charges from its junction with the base. In Fig. 1.2 (</a:t>
            </a:r>
            <a:r>
              <a:rPr lang="en-US" sz="2800" dirty="0" err="1">
                <a:latin typeface="+mn-lt"/>
                <a:cs typeface="Times New Roman" pitchFamily="18" charset="0"/>
              </a:rPr>
              <a:t>i</a:t>
            </a:r>
            <a:r>
              <a:rPr lang="en-US" sz="2800" dirty="0">
                <a:latin typeface="+mn-lt"/>
                <a:cs typeface="Times New Roman" pitchFamily="18" charset="0"/>
              </a:rPr>
              <a:t>), the collector (p-type) of </a:t>
            </a:r>
            <a:r>
              <a:rPr lang="en-US" sz="2800" dirty="0" err="1">
                <a:latin typeface="+mn-lt"/>
                <a:cs typeface="Times New Roman" pitchFamily="18" charset="0"/>
              </a:rPr>
              <a:t>pnp</a:t>
            </a:r>
            <a:r>
              <a:rPr lang="en-US" sz="2800" dirty="0">
                <a:latin typeface="+mn-lt"/>
                <a:cs typeface="Times New Roman" pitchFamily="18" charset="0"/>
              </a:rPr>
              <a:t> transistor has a reverse bias and receives hole charges that flow in the output circuit. Similarly, in Fig. 1.2 (ii), the collector (n-type) of </a:t>
            </a:r>
            <a:r>
              <a:rPr lang="en-US" sz="2800" dirty="0" err="1">
                <a:latin typeface="+mn-lt"/>
                <a:cs typeface="Times New Roman" pitchFamily="18" charset="0"/>
              </a:rPr>
              <a:t>npn</a:t>
            </a:r>
            <a:r>
              <a:rPr lang="en-US" sz="2800" dirty="0">
                <a:latin typeface="+mn-lt"/>
                <a:cs typeface="Times New Roman" pitchFamily="18" charset="0"/>
              </a:rPr>
              <a:t> transistor has reverse bias and receives electrons.</a:t>
            </a:r>
          </a:p>
        </p:txBody>
      </p:sp>
    </p:spTree>
    <p:custDataLst>
      <p:tags r:id="rId1"/>
    </p:custDataLst>
    <p:extLst>
      <p:ext uri="{BB962C8B-B14F-4D97-AF65-F5344CB8AC3E}">
        <p14:creationId xmlns:p14="http://schemas.microsoft.com/office/powerpoint/2010/main" xmlns="" val="1601556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Base</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14</a:t>
            </a:fld>
            <a:endParaRPr lang="en-US"/>
          </a:p>
        </p:txBody>
      </p:sp>
      <p:sp>
        <p:nvSpPr>
          <p:cNvPr id="13" name="Rectangle 12"/>
          <p:cNvSpPr/>
          <p:nvPr/>
        </p:nvSpPr>
        <p:spPr>
          <a:xfrm>
            <a:off x="838200" y="1690688"/>
            <a:ext cx="10330146" cy="2246769"/>
          </a:xfrm>
          <a:prstGeom prst="rect">
            <a:avLst/>
          </a:prstGeom>
        </p:spPr>
        <p:txBody>
          <a:bodyPr wrap="square">
            <a:spAutoFit/>
          </a:bodyPr>
          <a:lstStyle/>
          <a:p>
            <a:pPr algn="just">
              <a:buFont typeface="Wingdings" pitchFamily="2" charset="2"/>
              <a:buChar char="Ø"/>
            </a:pPr>
            <a:r>
              <a:rPr lang="en-US" sz="2800" dirty="0">
                <a:latin typeface="+mn-lt"/>
                <a:cs typeface="Times New Roman" pitchFamily="18" charset="0"/>
              </a:rPr>
              <a:t>The middle section which forms two </a:t>
            </a:r>
            <a:r>
              <a:rPr lang="en-US" sz="2800" dirty="0" err="1">
                <a:latin typeface="+mn-lt"/>
                <a:cs typeface="Times New Roman" pitchFamily="18" charset="0"/>
              </a:rPr>
              <a:t>pn</a:t>
            </a:r>
            <a:r>
              <a:rPr lang="en-US" sz="2800" dirty="0">
                <a:latin typeface="+mn-lt"/>
                <a:cs typeface="Times New Roman" pitchFamily="18" charset="0"/>
              </a:rPr>
              <a:t>-junctions between the emitter and collector is called the base. The base-emitter junction is forward biased, allowing low resistance for the emitter circuit. The base-collector junction is reverse biased and provides high resistance in the collector circuit. </a:t>
            </a:r>
          </a:p>
        </p:txBody>
      </p:sp>
    </p:spTree>
    <p:custDataLst>
      <p:tags r:id="rId1"/>
    </p:custDataLst>
    <p:extLst>
      <p:ext uri="{BB962C8B-B14F-4D97-AF65-F5344CB8AC3E}">
        <p14:creationId xmlns:p14="http://schemas.microsoft.com/office/powerpoint/2010/main" xmlns="" val="2194560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Introduction to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15</a:t>
            </a:fld>
            <a:endParaRPr lang="en-US"/>
          </a:p>
        </p:txBody>
      </p:sp>
      <p:sp>
        <p:nvSpPr>
          <p:cNvPr id="13" name="Rectangle 12"/>
          <p:cNvSpPr/>
          <p:nvPr/>
        </p:nvSpPr>
        <p:spPr>
          <a:xfrm>
            <a:off x="851711" y="2170317"/>
            <a:ext cx="5532938" cy="3539430"/>
          </a:xfrm>
          <a:prstGeom prst="rect">
            <a:avLst/>
          </a:prstGeom>
        </p:spPr>
        <p:txBody>
          <a:bodyPr wrap="square">
            <a:spAutoFit/>
          </a:bodyPr>
          <a:lstStyle/>
          <a:p>
            <a:pPr>
              <a:buFont typeface="Wingdings" pitchFamily="2" charset="2"/>
              <a:buChar char="Ø"/>
            </a:pPr>
            <a:r>
              <a:rPr lang="en-US" sz="2800" dirty="0">
                <a:latin typeface="+mn-lt"/>
                <a:cs typeface="Times New Roman" pitchFamily="18" charset="0"/>
              </a:rPr>
              <a:t>An n-p-n transistor is composed of two n-type semiconductors separated by a thin section of p-type as shown in Fig. 1.1 (</a:t>
            </a:r>
            <a:r>
              <a:rPr lang="en-US" sz="2800" dirty="0" err="1">
                <a:latin typeface="+mn-lt"/>
                <a:cs typeface="Times New Roman" pitchFamily="18" charset="0"/>
              </a:rPr>
              <a:t>i</a:t>
            </a:r>
            <a:r>
              <a:rPr lang="en-US" sz="2800" dirty="0">
                <a:latin typeface="+mn-lt"/>
                <a:cs typeface="Times New Roman" pitchFamily="18" charset="0"/>
              </a:rPr>
              <a:t>).</a:t>
            </a:r>
          </a:p>
          <a:p>
            <a:pPr>
              <a:buFont typeface="Wingdings" pitchFamily="2" charset="2"/>
              <a:buChar char="Ø"/>
            </a:pPr>
            <a:r>
              <a:rPr lang="en-US" sz="2800" dirty="0">
                <a:latin typeface="+mn-lt"/>
                <a:cs typeface="Times New Roman" pitchFamily="18" charset="0"/>
              </a:rPr>
              <a:t>However, a p-n-p transistor is formed by two p-sections separated by a thin section of n-type as shown in Fig. 1.1 (ii).</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384649" y="5151708"/>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Formation of n-p-n transistor and p-n-p transistor</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650719"/>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8" name="Picture 7">
            <a:extLst>
              <a:ext uri="{FF2B5EF4-FFF2-40B4-BE49-F238E27FC236}">
                <a16:creationId xmlns:a16="http://schemas.microsoft.com/office/drawing/2014/main" xmlns="" id="{8585302F-F675-4037-B7D1-24C7EED69D2A}"/>
              </a:ext>
            </a:extLst>
          </p:cNvPr>
          <p:cNvPicPr/>
          <p:nvPr/>
        </p:nvPicPr>
        <p:blipFill>
          <a:blip r:embed="rId3"/>
          <a:stretch>
            <a:fillRect/>
          </a:stretch>
        </p:blipFill>
        <p:spPr>
          <a:xfrm>
            <a:off x="6735652" y="2326359"/>
            <a:ext cx="4258369" cy="2472534"/>
          </a:xfrm>
          <a:prstGeom prst="rect">
            <a:avLst/>
          </a:prstGeom>
        </p:spPr>
      </p:pic>
    </p:spTree>
    <p:custDataLst>
      <p:tags r:id="rId1"/>
    </p:custDataLst>
    <p:extLst>
      <p:ext uri="{BB962C8B-B14F-4D97-AF65-F5344CB8AC3E}">
        <p14:creationId xmlns:p14="http://schemas.microsoft.com/office/powerpoint/2010/main" xmlns="" val="596034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Working of </a:t>
            </a:r>
            <a:r>
              <a:rPr lang="en-US" b="1" dirty="0" err="1">
                <a:cs typeface="Times New Roman" pitchFamily="18" charset="0"/>
              </a:rPr>
              <a:t>npn</a:t>
            </a:r>
            <a:r>
              <a:rPr lang="en-US" b="1" dirty="0">
                <a:cs typeface="Times New Roman" pitchFamily="18" charset="0"/>
              </a:rPr>
              <a:t>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16</a:t>
            </a:fld>
            <a:endParaRPr lang="en-US"/>
          </a:p>
        </p:txBody>
      </p:sp>
      <p:sp>
        <p:nvSpPr>
          <p:cNvPr id="13" name="Rectangle 12"/>
          <p:cNvSpPr/>
          <p:nvPr/>
        </p:nvSpPr>
        <p:spPr>
          <a:xfrm>
            <a:off x="851711" y="2170317"/>
            <a:ext cx="5532938" cy="3539430"/>
          </a:xfrm>
          <a:prstGeom prst="rect">
            <a:avLst/>
          </a:prstGeom>
        </p:spPr>
        <p:txBody>
          <a:bodyPr wrap="square">
            <a:spAutoFit/>
          </a:bodyPr>
          <a:lstStyle/>
          <a:p>
            <a:pPr algn="just"/>
            <a:r>
              <a:rPr lang="en-US" sz="2800" dirty="0">
                <a:latin typeface="+mn-lt"/>
                <a:cs typeface="Times New Roman" pitchFamily="18" charset="0"/>
              </a:rPr>
              <a:t>The </a:t>
            </a:r>
            <a:r>
              <a:rPr lang="en-US" sz="2800" dirty="0" err="1">
                <a:latin typeface="+mn-lt"/>
                <a:cs typeface="Times New Roman" pitchFamily="18" charset="0"/>
              </a:rPr>
              <a:t>npn</a:t>
            </a:r>
            <a:r>
              <a:rPr lang="en-US" sz="2800" dirty="0">
                <a:latin typeface="+mn-lt"/>
                <a:cs typeface="Times New Roman" pitchFamily="18" charset="0"/>
              </a:rPr>
              <a:t> transistor with forward bias to emitter base junction and reverse bias to collector-base junction is shown in Fig. 1. </a:t>
            </a:r>
          </a:p>
          <a:p>
            <a:pPr algn="just"/>
            <a:r>
              <a:rPr lang="en-US" sz="2800" dirty="0">
                <a:latin typeface="+mn-lt"/>
                <a:cs typeface="Times New Roman" pitchFamily="18" charset="0"/>
              </a:rPr>
              <a:t>The forward bias causes the electrons in the n-type emitter to flow towards the base. This constitutes the emitter current IE. </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384649" y="5151708"/>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Basic connection of </a:t>
            </a:r>
            <a:r>
              <a:rPr kumimoji="0" lang="en-US" altLang="en-US" b="1" i="0"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npn</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transistor</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228358" y="5650719"/>
            <a:ext cx="527295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11" name="Picture 10">
            <a:extLst>
              <a:ext uri="{FF2B5EF4-FFF2-40B4-BE49-F238E27FC236}">
                <a16:creationId xmlns:a16="http://schemas.microsoft.com/office/drawing/2014/main" xmlns="" id="{742E9450-C636-4DC3-8704-02A937F4480F}"/>
              </a:ext>
            </a:extLst>
          </p:cNvPr>
          <p:cNvPicPr/>
          <p:nvPr/>
        </p:nvPicPr>
        <p:blipFill>
          <a:blip r:embed="rId3"/>
          <a:stretch>
            <a:fillRect/>
          </a:stretch>
        </p:blipFill>
        <p:spPr>
          <a:xfrm>
            <a:off x="6934355" y="2419764"/>
            <a:ext cx="4405934" cy="2525368"/>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Working of </a:t>
            </a:r>
            <a:r>
              <a:rPr lang="en-US" b="1" dirty="0" err="1">
                <a:cs typeface="Times New Roman" pitchFamily="18" charset="0"/>
              </a:rPr>
              <a:t>npn</a:t>
            </a:r>
            <a:r>
              <a:rPr lang="en-US" b="1" dirty="0">
                <a:cs typeface="Times New Roman" pitchFamily="18" charset="0"/>
              </a:rPr>
              <a:t>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17</a:t>
            </a:fld>
            <a:endParaRPr lang="en-US"/>
          </a:p>
        </p:txBody>
      </p:sp>
      <p:sp>
        <p:nvSpPr>
          <p:cNvPr id="13" name="Rectangle 12"/>
          <p:cNvSpPr/>
          <p:nvPr/>
        </p:nvSpPr>
        <p:spPr>
          <a:xfrm>
            <a:off x="838200" y="1690688"/>
            <a:ext cx="10502089" cy="4832092"/>
          </a:xfrm>
          <a:prstGeom prst="rect">
            <a:avLst/>
          </a:prstGeom>
        </p:spPr>
        <p:txBody>
          <a:bodyPr wrap="square">
            <a:spAutoFit/>
          </a:bodyPr>
          <a:lstStyle/>
          <a:p>
            <a:pPr algn="just"/>
            <a:r>
              <a:rPr lang="en-US" sz="2800" dirty="0">
                <a:latin typeface="+mn-lt"/>
                <a:cs typeface="Times New Roman" pitchFamily="18" charset="0"/>
              </a:rPr>
              <a:t>As these electrons flow through the p-type base, they tend to combine with holes. As the base is lightly doped and very thin, therefore, only a few electrons (less than 5%) combine with holes to constitute base current IB.</a:t>
            </a:r>
          </a:p>
          <a:p>
            <a:pPr algn="just"/>
            <a:r>
              <a:rPr lang="en-US" sz="2800" dirty="0">
                <a:latin typeface="+mn-lt"/>
                <a:cs typeface="Times New Roman" pitchFamily="18" charset="0"/>
              </a:rPr>
              <a:t>The remainder (more than 95%) cross over into the collector region to constitute collector current IC. In this way, almost the entire emitter current flows in the collector circuit. It is clear that emitter current is the sum of collector and base currents i.e.</a:t>
            </a:r>
          </a:p>
          <a:p>
            <a:pPr algn="just"/>
            <a:endParaRPr lang="en-US" sz="2800" dirty="0">
              <a:latin typeface="+mn-lt"/>
              <a:cs typeface="Times New Roman" pitchFamily="18" charset="0"/>
            </a:endParaRPr>
          </a:p>
          <a:p>
            <a:pPr algn="ctr"/>
            <a:r>
              <a:rPr lang="en-US" sz="2800" dirty="0" err="1">
                <a:latin typeface="+mn-lt"/>
                <a:cs typeface="Times New Roman" pitchFamily="18" charset="0"/>
              </a:rPr>
              <a:t>Ie</a:t>
            </a:r>
            <a:r>
              <a:rPr lang="en-US" sz="2800" dirty="0">
                <a:latin typeface="+mn-lt"/>
                <a:cs typeface="Times New Roman" pitchFamily="18" charset="0"/>
              </a:rPr>
              <a:t>=</a:t>
            </a:r>
            <a:r>
              <a:rPr lang="en-US" sz="2800" dirty="0" err="1">
                <a:latin typeface="+mn-lt"/>
                <a:cs typeface="Times New Roman" pitchFamily="18" charset="0"/>
              </a:rPr>
              <a:t>Ib+Ic</a:t>
            </a:r>
            <a:endParaRPr lang="en-US" sz="2800" dirty="0">
              <a:latin typeface="+mn-lt"/>
              <a:cs typeface="Times New Roman" pitchFamily="18" charset="0"/>
            </a:endParaRPr>
          </a:p>
          <a:p>
            <a:pPr algn="just"/>
            <a:endParaRPr lang="en-US" sz="2800" dirty="0">
              <a:latin typeface="+mn-lt"/>
              <a:cs typeface="Times New Roman" pitchFamily="18" charset="0"/>
            </a:endParaRPr>
          </a:p>
        </p:txBody>
      </p:sp>
    </p:spTree>
    <p:custDataLst>
      <p:tags r:id="rId1"/>
    </p:custDataLst>
    <p:extLst>
      <p:ext uri="{BB962C8B-B14F-4D97-AF65-F5344CB8AC3E}">
        <p14:creationId xmlns:p14="http://schemas.microsoft.com/office/powerpoint/2010/main" xmlns="" val="3447822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Working of </a:t>
            </a:r>
            <a:r>
              <a:rPr lang="en-US" b="1" dirty="0" err="1">
                <a:cs typeface="Times New Roman" pitchFamily="18" charset="0"/>
              </a:rPr>
              <a:t>pnp</a:t>
            </a:r>
            <a:r>
              <a:rPr lang="en-US" b="1" dirty="0">
                <a:cs typeface="Times New Roman" pitchFamily="18" charset="0"/>
              </a:rPr>
              <a:t> transistor</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18</a:t>
            </a:fld>
            <a:endParaRPr lang="en-US"/>
          </a:p>
        </p:txBody>
      </p:sp>
      <p:sp>
        <p:nvSpPr>
          <p:cNvPr id="13" name="Rectangle 12"/>
          <p:cNvSpPr/>
          <p:nvPr/>
        </p:nvSpPr>
        <p:spPr>
          <a:xfrm>
            <a:off x="838200" y="1690688"/>
            <a:ext cx="10502089" cy="4031873"/>
          </a:xfrm>
          <a:prstGeom prst="rect">
            <a:avLst/>
          </a:prstGeom>
        </p:spPr>
        <p:txBody>
          <a:bodyPr wrap="square">
            <a:spAutoFit/>
          </a:bodyPr>
          <a:lstStyle/>
          <a:p>
            <a:pPr algn="just"/>
            <a:r>
              <a:rPr lang="en-US" sz="3200" dirty="0">
                <a:latin typeface="+mn-lt"/>
                <a:cs typeface="Times New Roman" pitchFamily="18" charset="0"/>
              </a:rPr>
              <a:t>As the base is lightly doped and very thin, therefore, only a few holes (less than 5%) combine with the electrons. The remainder (more than 95%) cross into the collector region to constitute collector current IC. </a:t>
            </a:r>
          </a:p>
          <a:p>
            <a:pPr algn="just"/>
            <a:r>
              <a:rPr lang="en-US" sz="3200" dirty="0">
                <a:latin typeface="+mn-lt"/>
                <a:cs typeface="Times New Roman" pitchFamily="18" charset="0"/>
              </a:rPr>
              <a:t>In this way, almost the entire emitter current flows in the collector circuit. It may be noted that current conduction within </a:t>
            </a:r>
            <a:r>
              <a:rPr lang="en-US" sz="3200" dirty="0" err="1">
                <a:latin typeface="+mn-lt"/>
                <a:cs typeface="Times New Roman" pitchFamily="18" charset="0"/>
              </a:rPr>
              <a:t>pnp</a:t>
            </a:r>
            <a:r>
              <a:rPr lang="en-US" sz="3200" dirty="0">
                <a:latin typeface="+mn-lt"/>
                <a:cs typeface="Times New Roman" pitchFamily="18" charset="0"/>
              </a:rPr>
              <a:t> transistor is by holes. However, in the external connecting wires, the current is still by electrons.</a:t>
            </a:r>
          </a:p>
        </p:txBody>
      </p:sp>
    </p:spTree>
    <p:custDataLst>
      <p:tags r:id="rId1"/>
    </p:custDataLst>
    <p:extLst>
      <p:ext uri="{BB962C8B-B14F-4D97-AF65-F5344CB8AC3E}">
        <p14:creationId xmlns:p14="http://schemas.microsoft.com/office/powerpoint/2010/main" xmlns="" val="2999583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838200" y="509588"/>
            <a:ext cx="10515600" cy="1181100"/>
          </a:xfrm>
        </p:spPr>
        <p:txBody>
          <a:bodyPr/>
          <a:lstStyle/>
          <a:p>
            <a:pPr algn="ctr" eaLnBrk="1" hangingPunct="1"/>
            <a:r>
              <a:rPr lang="en-US" b="1" dirty="0">
                <a:cs typeface="Times New Roman" pitchFamily="18" charset="0"/>
              </a:rPr>
              <a:t>Transistor Symbols</a:t>
            </a:r>
          </a:p>
        </p:txBody>
      </p:sp>
      <p:sp>
        <p:nvSpPr>
          <p:cNvPr id="4" name="Slide Number Placeholder 3"/>
          <p:cNvSpPr>
            <a:spLocks noGrp="1"/>
          </p:cNvSpPr>
          <p:nvPr>
            <p:ph type="sldNum" sz="quarter" idx="12"/>
          </p:nvPr>
        </p:nvSpPr>
        <p:spPr/>
        <p:txBody>
          <a:bodyPr/>
          <a:lstStyle/>
          <a:p>
            <a:pPr>
              <a:defRPr/>
            </a:pPr>
            <a:fld id="{E17FDEEA-E7DD-4C62-90CB-6EC3B8CB4F4B}" type="slidenum">
              <a:rPr lang="en-US"/>
              <a:pPr>
                <a:defRPr/>
              </a:pPr>
              <a:t>19</a:t>
            </a:fld>
            <a:endParaRPr lang="en-US"/>
          </a:p>
        </p:txBody>
      </p:sp>
      <p:sp>
        <p:nvSpPr>
          <p:cNvPr id="13" name="Rectangle 12"/>
          <p:cNvSpPr/>
          <p:nvPr/>
        </p:nvSpPr>
        <p:spPr>
          <a:xfrm>
            <a:off x="814931" y="1467952"/>
            <a:ext cx="5996685" cy="3539430"/>
          </a:xfrm>
          <a:prstGeom prst="rect">
            <a:avLst/>
          </a:prstGeom>
        </p:spPr>
        <p:txBody>
          <a:bodyPr wrap="square">
            <a:spAutoFit/>
          </a:bodyPr>
          <a:lstStyle/>
          <a:p>
            <a:pPr>
              <a:buFont typeface="Wingdings" pitchFamily="2" charset="2"/>
              <a:buChar char="Ø"/>
            </a:pPr>
            <a:r>
              <a:rPr lang="en-US" sz="3200" dirty="0">
                <a:latin typeface="+mn-lt"/>
                <a:cs typeface="Times New Roman" pitchFamily="18" charset="0"/>
              </a:rPr>
              <a:t>The symbols used for </a:t>
            </a:r>
            <a:r>
              <a:rPr lang="en-US" sz="3200" dirty="0" err="1">
                <a:latin typeface="+mn-lt"/>
                <a:cs typeface="Times New Roman" pitchFamily="18" charset="0"/>
              </a:rPr>
              <a:t>npn</a:t>
            </a:r>
            <a:r>
              <a:rPr lang="en-US" sz="3200" dirty="0">
                <a:latin typeface="+mn-lt"/>
                <a:cs typeface="Times New Roman" pitchFamily="18" charset="0"/>
              </a:rPr>
              <a:t> and </a:t>
            </a:r>
            <a:r>
              <a:rPr lang="en-US" sz="3200" dirty="0" err="1">
                <a:latin typeface="+mn-lt"/>
                <a:cs typeface="Times New Roman" pitchFamily="18" charset="0"/>
              </a:rPr>
              <a:t>pnp</a:t>
            </a:r>
            <a:r>
              <a:rPr lang="en-US" sz="3200" dirty="0">
                <a:latin typeface="+mn-lt"/>
                <a:cs typeface="Times New Roman" pitchFamily="18" charset="0"/>
              </a:rPr>
              <a:t> transistors are shown in Figure 3. </a:t>
            </a:r>
          </a:p>
          <a:p>
            <a:pPr>
              <a:buFont typeface="Wingdings" pitchFamily="2" charset="2"/>
              <a:buChar char="Ø"/>
            </a:pPr>
            <a:r>
              <a:rPr lang="en-US" sz="3200" dirty="0">
                <a:latin typeface="+mn-lt"/>
                <a:cs typeface="Times New Roman" pitchFamily="18" charset="0"/>
              </a:rPr>
              <a:t>Note that emitter is shown by an arrow which indicates the direction of conventional current flow with forward bias. </a:t>
            </a:r>
          </a:p>
        </p:txBody>
      </p:sp>
      <p:sp>
        <p:nvSpPr>
          <p:cNvPr id="9" name="TextBox 8">
            <a:extLst>
              <a:ext uri="{FF2B5EF4-FFF2-40B4-BE49-F238E27FC236}">
                <a16:creationId xmlns:a16="http://schemas.microsoft.com/office/drawing/2014/main" xmlns="" id="{2CF431D2-E1DC-43DD-AA22-749BFD3E4FA9}"/>
              </a:ext>
            </a:extLst>
          </p:cNvPr>
          <p:cNvSpPr txBox="1"/>
          <p:nvPr/>
        </p:nvSpPr>
        <p:spPr>
          <a:xfrm>
            <a:off x="6715954" y="5154602"/>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3: Symbol of transistor and their current flow</a:t>
            </a:r>
            <a:endParaRPr lang="en-US" dirty="0"/>
          </a:p>
        </p:txBody>
      </p:sp>
      <p:sp>
        <p:nvSpPr>
          <p:cNvPr id="10" name="TextBox 9">
            <a:extLst>
              <a:ext uri="{FF2B5EF4-FFF2-40B4-BE49-F238E27FC236}">
                <a16:creationId xmlns:a16="http://schemas.microsoft.com/office/drawing/2014/main" xmlns="" id="{86D827A0-447C-4DA6-AFDB-7E0A33D26C95}"/>
              </a:ext>
            </a:extLst>
          </p:cNvPr>
          <p:cNvSpPr txBox="1"/>
          <p:nvPr/>
        </p:nvSpPr>
        <p:spPr>
          <a:xfrm>
            <a:off x="6811617" y="5650719"/>
            <a:ext cx="46897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Principles of Electronics, V K Mehta , Rohit Mehta,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pic>
        <p:nvPicPr>
          <p:cNvPr id="11" name="Picture 10">
            <a:extLst>
              <a:ext uri="{FF2B5EF4-FFF2-40B4-BE49-F238E27FC236}">
                <a16:creationId xmlns:a16="http://schemas.microsoft.com/office/drawing/2014/main" xmlns="" id="{92982C9E-DE4B-4707-BFB2-BBD1C8BDD7A9}"/>
              </a:ext>
            </a:extLst>
          </p:cNvPr>
          <p:cNvPicPr/>
          <p:nvPr/>
        </p:nvPicPr>
        <p:blipFill>
          <a:blip r:embed="rId3"/>
          <a:stretch>
            <a:fillRect/>
          </a:stretch>
        </p:blipFill>
        <p:spPr>
          <a:xfrm>
            <a:off x="6715954" y="2170317"/>
            <a:ext cx="5143500" cy="2857500"/>
          </a:xfrm>
          <a:prstGeom prst="rect">
            <a:avLst/>
          </a:prstGeom>
        </p:spPr>
      </p:pic>
    </p:spTree>
    <p:custDataLst>
      <p:tags r:id="rId1"/>
    </p:custDataLst>
    <p:extLst>
      <p:ext uri="{BB962C8B-B14F-4D97-AF65-F5344CB8AC3E}">
        <p14:creationId xmlns:p14="http://schemas.microsoft.com/office/powerpoint/2010/main" xmlns="" val="1132838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360363"/>
            <a:ext cx="10515600" cy="1279525"/>
          </a:xfrm>
        </p:spPr>
        <p:txBody>
          <a:bodyPr/>
          <a:lstStyle/>
          <a:p>
            <a:pPr algn="ctr" eaLnBrk="1" hangingPunct="1"/>
            <a:r>
              <a:rPr lang="en-US" b="1" dirty="0">
                <a:cs typeface="Times New Roman" pitchFamily="18" charset="0"/>
              </a:rPr>
              <a:t>Transistor Symbols</a:t>
            </a:r>
            <a:endParaRPr lang="en-US" b="1" dirty="0">
              <a:cs typeface="Arial" charset="0"/>
            </a:endParaRPr>
          </a:p>
        </p:txBody>
      </p:sp>
      <p:sp>
        <p:nvSpPr>
          <p:cNvPr id="3" name="Content Placeholder 2"/>
          <p:cNvSpPr>
            <a:spLocks noGrp="1"/>
          </p:cNvSpPr>
          <p:nvPr>
            <p:ph idx="1"/>
          </p:nvPr>
        </p:nvSpPr>
        <p:spPr>
          <a:xfrm>
            <a:off x="838200" y="1684655"/>
            <a:ext cx="10515600" cy="4217988"/>
          </a:xfrm>
        </p:spPr>
        <p:txBody>
          <a:bodyPr>
            <a:normAutofit/>
          </a:bodyPr>
          <a:lstStyle/>
          <a:p>
            <a:pPr>
              <a:buFont typeface="Wingdings" pitchFamily="2" charset="2"/>
              <a:buChar char="Ø"/>
            </a:pPr>
            <a:r>
              <a:rPr lang="en-US" sz="3200" dirty="0">
                <a:cs typeface="Times New Roman" pitchFamily="18" charset="0"/>
              </a:rPr>
              <a:t>For </a:t>
            </a:r>
            <a:r>
              <a:rPr lang="en-US" sz="3200" dirty="0" err="1">
                <a:cs typeface="Times New Roman" pitchFamily="18" charset="0"/>
              </a:rPr>
              <a:t>npn</a:t>
            </a:r>
            <a:r>
              <a:rPr lang="en-US" sz="3200" dirty="0">
                <a:cs typeface="Times New Roman" pitchFamily="18" charset="0"/>
              </a:rPr>
              <a:t> connection, it is clear that conventional current flows out of the emitter as indicated by the outgoing arrow.</a:t>
            </a:r>
          </a:p>
          <a:p>
            <a:pPr>
              <a:buFont typeface="Wingdings" pitchFamily="2" charset="2"/>
              <a:buChar char="Ø"/>
            </a:pPr>
            <a:r>
              <a:rPr lang="en-US" sz="3200" dirty="0">
                <a:cs typeface="Times New Roman" pitchFamily="18" charset="0"/>
              </a:rPr>
              <a:t>Similarly, for </a:t>
            </a:r>
            <a:r>
              <a:rPr lang="en-US" sz="3200" dirty="0" err="1">
                <a:cs typeface="Times New Roman" pitchFamily="18" charset="0"/>
              </a:rPr>
              <a:t>pnp</a:t>
            </a:r>
            <a:r>
              <a:rPr lang="en-US" sz="3200" dirty="0">
                <a:cs typeface="Times New Roman" pitchFamily="18" charset="0"/>
              </a:rPr>
              <a:t> connection, the conventional current flows into the emitter as indicated by inward arrow.</a:t>
            </a:r>
          </a:p>
        </p:txBody>
      </p:sp>
      <p:sp>
        <p:nvSpPr>
          <p:cNvPr id="4" name="Slide Number Placeholder 3"/>
          <p:cNvSpPr>
            <a:spLocks noGrp="1"/>
          </p:cNvSpPr>
          <p:nvPr>
            <p:ph type="sldNum" sz="quarter" idx="12"/>
          </p:nvPr>
        </p:nvSpPr>
        <p:spPr/>
        <p:txBody>
          <a:bodyPr/>
          <a:lstStyle/>
          <a:p>
            <a:pPr>
              <a:defRPr/>
            </a:pPr>
            <a:fld id="{6EAF260A-7733-48C1-AFBC-9C24F5C57CF8}" type="slidenum">
              <a:rPr lang="en-US"/>
              <a:pPr>
                <a:defRPr/>
              </a:pPr>
              <a:t>20</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Applications of Transistor</a:t>
            </a:r>
            <a:endParaRPr lang="en-US" b="1" dirty="0"/>
          </a:p>
        </p:txBody>
      </p:sp>
      <p:sp>
        <p:nvSpPr>
          <p:cNvPr id="3" name="Content Placeholder 2"/>
          <p:cNvSpPr>
            <a:spLocks noGrp="1"/>
          </p:cNvSpPr>
          <p:nvPr>
            <p:ph idx="1"/>
          </p:nvPr>
        </p:nvSpPr>
        <p:spPr/>
        <p:txBody>
          <a:bodyPr/>
          <a:lstStyle/>
          <a:p>
            <a:r>
              <a:rPr lang="en-IN" dirty="0" smtClean="0"/>
              <a:t>Transistor as Switch</a:t>
            </a:r>
          </a:p>
          <a:p>
            <a:r>
              <a:rPr lang="en-IN" dirty="0" smtClean="0"/>
              <a:t>Transistor as Amplifier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a:t>Introduction to Transistor</a:t>
            </a:r>
            <a:r>
              <a:rPr lang="en-US" dirty="0">
                <a:latin typeface="Times New Roman" pitchFamily="18" charset="0"/>
                <a:cs typeface="Times New Roman" pitchFamily="18" charset="0"/>
              </a:rPr>
              <a:t>.</a:t>
            </a:r>
          </a:p>
          <a:p>
            <a:pPr lvl="1"/>
            <a:r>
              <a:rPr lang="en-US" dirty="0"/>
              <a:t>n-p-n transistor</a:t>
            </a:r>
            <a:endParaRPr lang="en-IN" dirty="0"/>
          </a:p>
          <a:p>
            <a:pPr lvl="1"/>
            <a:r>
              <a:rPr lang="en-US" dirty="0"/>
              <a:t>p-n-p transistor</a:t>
            </a:r>
            <a:endParaRPr lang="en-IN" dirty="0"/>
          </a:p>
          <a:p>
            <a:pPr>
              <a:buFont typeface="Wingdings" pitchFamily="2" charset="2"/>
              <a:buChar char="ü"/>
            </a:pPr>
            <a:r>
              <a:rPr lang="en-US" dirty="0"/>
              <a:t>Transistor Terminal</a:t>
            </a:r>
          </a:p>
          <a:p>
            <a:pPr>
              <a:buFont typeface="Wingdings" pitchFamily="2" charset="2"/>
              <a:buChar char="ü"/>
            </a:pPr>
            <a:r>
              <a:rPr lang="en-US" dirty="0"/>
              <a:t>Doping of the </a:t>
            </a:r>
            <a:r>
              <a:rPr lang="en-US" dirty="0" smtClean="0"/>
              <a:t>Transistor</a:t>
            </a:r>
          </a:p>
          <a:p>
            <a:pPr>
              <a:buFont typeface="Wingdings" pitchFamily="2" charset="2"/>
              <a:buChar char="ü"/>
            </a:pPr>
            <a:r>
              <a:rPr lang="en-IN" dirty="0" smtClean="0"/>
              <a:t>Types of Transistor</a:t>
            </a:r>
          </a:p>
          <a:p>
            <a:pPr>
              <a:buFont typeface="Wingdings" pitchFamily="2" charset="2"/>
              <a:buChar char="ü"/>
            </a:pPr>
            <a:r>
              <a:rPr lang="en-IN" dirty="0" smtClean="0"/>
              <a:t>Applications of Transistor</a:t>
            </a:r>
            <a:endParaRPr lang="en-US" dirty="0"/>
          </a:p>
          <a:p>
            <a:pPr lvl="0">
              <a:buFont typeface="Wingdings" pitchFamily="2" charset="2"/>
              <a:buChar char="ü"/>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ustDataLst>
      <p:tags r:id="rId1"/>
    </p:custDataLst>
    <p:extLst>
      <p:ext uri="{BB962C8B-B14F-4D97-AF65-F5344CB8AC3E}">
        <p14:creationId xmlns:p14="http://schemas.microsoft.com/office/powerpoint/2010/main" xmlns="" val="28354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a:xfrm>
            <a:off x="838200" y="1982379"/>
            <a:ext cx="10515600" cy="4351338"/>
          </a:xfrm>
        </p:spPr>
        <p:txBody>
          <a:bodyPr>
            <a:normAutofit/>
          </a:bodyPr>
          <a:lstStyle/>
          <a:p>
            <a:pPr marL="514350" indent="-514350" algn="just">
              <a:buFont typeface="+mj-lt"/>
              <a:buAutoNum type="arabicPeriod"/>
            </a:pPr>
            <a:r>
              <a:rPr lang="en-IN" dirty="0"/>
              <a:t>Explain the meaning of transistor.</a:t>
            </a:r>
          </a:p>
          <a:p>
            <a:pPr marL="514350" indent="-514350" algn="just">
              <a:buFont typeface="+mj-lt"/>
              <a:buAutoNum type="arabicPeriod"/>
            </a:pPr>
            <a:r>
              <a:rPr lang="en-IN" dirty="0"/>
              <a:t>Explain </a:t>
            </a:r>
            <a:r>
              <a:rPr lang="en-IN" dirty="0" err="1"/>
              <a:t>npn</a:t>
            </a:r>
            <a:r>
              <a:rPr lang="en-IN" dirty="0"/>
              <a:t> transistor.</a:t>
            </a:r>
          </a:p>
          <a:p>
            <a:pPr marL="514350" indent="-514350" algn="just">
              <a:buFont typeface="+mj-lt"/>
              <a:buAutoNum type="arabicPeriod"/>
            </a:pPr>
            <a:r>
              <a:rPr lang="en-IN" dirty="0"/>
              <a:t>Explain </a:t>
            </a:r>
            <a:r>
              <a:rPr lang="en-IN" dirty="0" err="1"/>
              <a:t>pnp</a:t>
            </a:r>
            <a:r>
              <a:rPr lang="en-IN" dirty="0"/>
              <a:t> transistor.</a:t>
            </a:r>
          </a:p>
          <a:p>
            <a:pPr marL="514350" indent="-514350" algn="just">
              <a:buFont typeface="+mj-lt"/>
              <a:buAutoNum type="arabicPeriod"/>
            </a:pPr>
            <a:r>
              <a:rPr lang="en-US" dirty="0"/>
              <a:t>How is the doping level change in transistor.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pPr>
              <a:buFont typeface="Wingdings" pitchFamily="2" charset="2"/>
              <a:buChar char="ü"/>
            </a:pPr>
            <a:r>
              <a:rPr lang="en-US" sz="2800" dirty="0">
                <a:latin typeface="Casper"/>
              </a:rPr>
              <a:t> </a:t>
            </a:r>
            <a:r>
              <a:rPr lang="en-US" dirty="0"/>
              <a:t>Introduction to Transistor</a:t>
            </a:r>
            <a:r>
              <a:rPr lang="en-US" dirty="0">
                <a:latin typeface="Times New Roman" pitchFamily="18" charset="0"/>
                <a:cs typeface="Times New Roman" pitchFamily="18" charset="0"/>
              </a:rPr>
              <a:t>.</a:t>
            </a:r>
          </a:p>
          <a:p>
            <a:pPr lvl="1"/>
            <a:r>
              <a:rPr lang="en-US" dirty="0"/>
              <a:t>n-p-n transistor</a:t>
            </a:r>
            <a:endParaRPr lang="en-IN" dirty="0"/>
          </a:p>
          <a:p>
            <a:pPr lvl="1"/>
            <a:r>
              <a:rPr lang="en-US" dirty="0"/>
              <a:t>p-n-p transistor</a:t>
            </a:r>
            <a:endParaRPr lang="en-IN" dirty="0"/>
          </a:p>
          <a:p>
            <a:pPr>
              <a:buFont typeface="Wingdings" pitchFamily="2" charset="2"/>
              <a:buChar char="ü"/>
            </a:pPr>
            <a:r>
              <a:rPr lang="en-US" dirty="0"/>
              <a:t>Transistor Terminal</a:t>
            </a:r>
          </a:p>
          <a:p>
            <a:pPr>
              <a:buFont typeface="Wingdings" pitchFamily="2" charset="2"/>
              <a:buChar char="ü"/>
            </a:pPr>
            <a:r>
              <a:rPr lang="en-US" dirty="0"/>
              <a:t>Doping of the Transistor</a:t>
            </a:r>
          </a:p>
          <a:p>
            <a:endParaRPr lang="en-US" sz="2400" dirty="0"/>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24</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r>
              <a:rPr lang="en-US" sz="4400" b="1" dirty="0">
                <a:solidFill>
                  <a:srgbClr val="FF00FF"/>
                </a:solidFill>
                <a:latin typeface="Casper"/>
                <a:ea typeface="Karla" pitchFamily="2" charset="0"/>
                <a:cs typeface="Karla" pitchFamily="2" charset="0"/>
              </a:rPr>
              <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xmlns="" val="693801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xmlns="" id="{6FD56E32-EE27-43F7-95F1-8E65978E1C4A}"/>
              </a:ext>
            </a:extLst>
          </p:cNvPr>
          <p:cNvSpPr>
            <a:spLocks noGrp="1"/>
          </p:cNvSpPr>
          <p:nvPr>
            <p:ph type="ftr" sz="quarter" idx="11"/>
          </p:nvPr>
        </p:nvSpPr>
        <p:spPr/>
        <p:txBody>
          <a:bodyPr/>
          <a:lstStyle/>
          <a:p>
            <a:r>
              <a:rPr lang="en-US" dirty="0" smtClean="0">
                <a:solidFill>
                  <a:prstClr val="black">
                    <a:tint val="75000"/>
                  </a:prstClr>
                </a:solidFill>
              </a:rPr>
              <a:t>Semi Conductor Physics</a:t>
            </a:r>
            <a:endParaRPr lang="en-US" dirty="0">
              <a:solidFill>
                <a:prstClr val="black">
                  <a:tint val="75000"/>
                </a:prstClr>
              </a:solidFill>
            </a:endParaRPr>
          </a:p>
        </p:txBody>
      </p:sp>
      <p:pic>
        <p:nvPicPr>
          <p:cNvPr id="11" name="Content Placeholder 10">
            <a:extLst>
              <a:ext uri="{FF2B5EF4-FFF2-40B4-BE49-F238E27FC236}">
                <a16:creationId xmlns:a16="http://schemas.microsoft.com/office/drawing/2014/main" xmlns=""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xmlns="" id="{EC0BEE70-8D19-4E67-8D5D-2E879F5CC12C}"/>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xmlns="" val="2059936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2"/>
  <p:tag name="ARTICULATE_PROJECT_OPEN" val="1"/>
  <p:tag name="ARTICULATE_REFERENCE_ID" val="529bc094-fa81-4288-8092-2b4a4a63e36d"/>
  <p:tag name="ARTICULATE_REFERENCE_COUNT" val="0"/>
  <p:tag name="ARTICULATE_PLAYER_GLOSSARY_XML" val="&lt;?xml version=&quot;1.0&quot; encoding=&quot;utf-16&quot;?&gt;&lt;glossary xmlns:xsi=&quot;http://www.w3.org/2001/XMLSchema-instance&quot; xmlns:xsd=&quot;http://www.w3.org/2001/XMLSchema&quot;&gt;&lt;terms /&gt;&lt;/glossary&gt;"/>
  <p:tag name="TAG_BACKING_FORM_KEY" val="6227070-l:\2021_even_semester\poe\theory\unit-2\unit 2 ppt\lecture 1.pptx"/>
  <p:tag name="ARTICULATE_PRESENTER_VERSION" val="7"/>
  <p:tag name="ARTICULATE_USED_PAGE_ORIENTATION" val="1"/>
  <p:tag name="ARTICULATE_USED_PAGE_SIZE" val="7"/>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UDIO_ID" val="471"/>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5.xml><?xml version="1.0" encoding="utf-8"?>
<p:tagLst xmlns:a="http://schemas.openxmlformats.org/drawingml/2006/main" xmlns:r="http://schemas.openxmlformats.org/officeDocument/2006/relationships" xmlns:p="http://schemas.openxmlformats.org/presentationml/2006/main">
  <p:tag name="AUDIO_ID" val="326"/>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6.xml><?xml version="1.0" encoding="utf-8"?>
<p:tagLst xmlns:a="http://schemas.openxmlformats.org/drawingml/2006/main" xmlns:r="http://schemas.openxmlformats.org/officeDocument/2006/relationships" xmlns:p="http://schemas.openxmlformats.org/presentationml/2006/main">
  <p:tag name="AUDIO_ID" val="415"/>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7.xml><?xml version="1.0" encoding="utf-8"?>
<p:tagLst xmlns:a="http://schemas.openxmlformats.org/drawingml/2006/main" xmlns:r="http://schemas.openxmlformats.org/officeDocument/2006/relationships" xmlns:p="http://schemas.openxmlformats.org/presentationml/2006/main">
  <p:tag name="AUDIO_ID" val="472"/>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8.xml><?xml version="1.0" encoding="utf-8"?>
<p:tagLst xmlns:a="http://schemas.openxmlformats.org/drawingml/2006/main" xmlns:r="http://schemas.openxmlformats.org/officeDocument/2006/relationships" xmlns:p="http://schemas.openxmlformats.org/presentationml/2006/main">
  <p:tag name="AUDIO_ID" val="473"/>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9.xml><?xml version="1.0" encoding="utf-8"?>
<p:tagLst xmlns:a="http://schemas.openxmlformats.org/drawingml/2006/main" xmlns:r="http://schemas.openxmlformats.org/officeDocument/2006/relationships" xmlns:p="http://schemas.openxmlformats.org/presentationml/2006/main">
  <p:tag name="AUDIO_ID" val="416"/>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0.xml><?xml version="1.0" encoding="utf-8"?>
<p:tagLst xmlns:a="http://schemas.openxmlformats.org/drawingml/2006/main" xmlns:r="http://schemas.openxmlformats.org/officeDocument/2006/relationships" xmlns:p="http://schemas.openxmlformats.org/presentationml/2006/main">
  <p:tag name="AUDIO_ID" val="417"/>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1.xml><?xml version="1.0" encoding="utf-8"?>
<p:tagLst xmlns:a="http://schemas.openxmlformats.org/drawingml/2006/main" xmlns:r="http://schemas.openxmlformats.org/officeDocument/2006/relationships" xmlns:p="http://schemas.openxmlformats.org/presentationml/2006/main">
  <p:tag name="AUDIO_ID" val="418"/>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2.xml><?xml version="1.0" encoding="utf-8"?>
<p:tagLst xmlns:a="http://schemas.openxmlformats.org/drawingml/2006/main" xmlns:r="http://schemas.openxmlformats.org/officeDocument/2006/relationships" xmlns:p="http://schemas.openxmlformats.org/presentationml/2006/main">
  <p:tag name="AUDIO_ID" val="474"/>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3.xml><?xml version="1.0" encoding="utf-8"?>
<p:tagLst xmlns:a="http://schemas.openxmlformats.org/drawingml/2006/main" xmlns:r="http://schemas.openxmlformats.org/officeDocument/2006/relationships" xmlns:p="http://schemas.openxmlformats.org/presentationml/2006/main">
  <p:tag name="AUDIO_ID" val="477"/>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4.xml><?xml version="1.0" encoding="utf-8"?>
<p:tagLst xmlns:a="http://schemas.openxmlformats.org/drawingml/2006/main" xmlns:r="http://schemas.openxmlformats.org/officeDocument/2006/relationships" xmlns:p="http://schemas.openxmlformats.org/presentationml/2006/main">
  <p:tag name="AUDIO_ID" val="476"/>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5.xml><?xml version="1.0" encoding="utf-8"?>
<p:tagLst xmlns:a="http://schemas.openxmlformats.org/drawingml/2006/main" xmlns:r="http://schemas.openxmlformats.org/officeDocument/2006/relationships" xmlns:p="http://schemas.openxmlformats.org/presentationml/2006/main">
  <p:tag name="AUDIO_ID" val="475"/>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16.xml><?xml version="1.0" encoding="utf-8"?>
<p:tagLst xmlns:a="http://schemas.openxmlformats.org/drawingml/2006/main" xmlns:r="http://schemas.openxmlformats.org/officeDocument/2006/relationships" xmlns:p="http://schemas.openxmlformats.org/presentationml/2006/main">
  <p:tag name="AUDIO_ID" val="472"/>
  <p:tag name="ARTICULATE_USED_LAYOUT" val="2"/>
  <p:tag name="ARTICULATE_NAV_LEVEL" val="1"/>
  <p:tag name="ARTICULATE_SLIDE_PRESENTER_GUID" val="6bbd2be9-83b5-416f-b034-50c44ed39520"/>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478"/>
  <p:tag name="ARTICULATE_USED_LAYOUT" val="2"/>
  <p:tag name="ARTICULATE_NAV_LEVEL" val="1"/>
  <p:tag name="ARTICULATE_SLIDE_PRESENTER_GUID" val="6bbd2be9-83b5-416f-b034-50c44ed39520"/>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480"/>
  <p:tag name="ARTICULATE_USED_LAYOUT" val="2"/>
  <p:tag name="ARTICULATE_NAV_LEVEL" val="1"/>
  <p:tag name="ARTICULATE_SLIDE_PRESENTER_GUID" val="6bbd2be9-83b5-416f-b034-50c44ed39520"/>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AUDIO_ID" val="473"/>
  <p:tag name="ARTICULATE_USED_LAYOUT" val="2"/>
  <p:tag name="ARTICULATE_NAV_LEVEL" val="1"/>
  <p:tag name="ARTICULATE_SLIDE_PRESENTER_GUID" val="6bbd2be9-83b5-416f-b034-50c44ed39520"/>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AUDIO_ID" val="416"/>
  <p:tag name="ARTICULATE_USED_LAYOUT" val="2"/>
  <p:tag name="ARTICULATE_NAV_LEVEL" val="1"/>
  <p:tag name="ARTICULATE_SLIDE_PRESENTER_GUID" val="6bbd2be9-83b5-416f-b034-50c44ed39520"/>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394"/>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22.xml><?xml version="1.0" encoding="utf-8"?>
<p:tagLst xmlns:a="http://schemas.openxmlformats.org/drawingml/2006/main" xmlns:r="http://schemas.openxmlformats.org/officeDocument/2006/relationships" xmlns:p="http://schemas.openxmlformats.org/presentationml/2006/main">
  <p:tag name="AUDIO_ID" val="377"/>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23.xml><?xml version="1.0" encoding="utf-8"?>
<p:tagLst xmlns:a="http://schemas.openxmlformats.org/drawingml/2006/main" xmlns:r="http://schemas.openxmlformats.org/officeDocument/2006/relationships" xmlns:p="http://schemas.openxmlformats.org/presentationml/2006/main">
  <p:tag name="AUDIO_ID" val="384"/>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UDIO_ID" val="424"/>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ags/tag25.xml><?xml version="1.0" encoding="utf-8"?>
<p:tagLst xmlns:a="http://schemas.openxmlformats.org/drawingml/2006/main" xmlns:r="http://schemas.openxmlformats.org/officeDocument/2006/relationships" xmlns:p="http://schemas.openxmlformats.org/presentationml/2006/main">
  <p:tag name="AUDIO_ID" val="425"/>
  <p:tag name="ARTICULATE_NAV_LEVEL" val="1"/>
  <p:tag name="ARTICULATE_SLIDE_PRESENTER_GUID" val="502c1afb-e1eb-42ae-bb72-38b88bad4afc"/>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 name="ARTICULATE_USED_LAYOUT" val="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2540</TotalTime>
  <Words>1764</Words>
  <Application>Microsoft Office PowerPoint</Application>
  <PresentationFormat>Custom</PresentationFormat>
  <Paragraphs>181</Paragraphs>
  <Slides>27</Slides>
  <Notes>2</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0" baseType="lpstr">
      <vt:lpstr>1_Office Theme</vt:lpstr>
      <vt:lpstr>Contents Slide Master</vt:lpstr>
      <vt:lpstr>CorelDRAW</vt:lpstr>
      <vt:lpstr>Slide 1</vt:lpstr>
      <vt:lpstr>Course Objectives</vt:lpstr>
      <vt:lpstr>Course Outcomes</vt:lpstr>
      <vt:lpstr>Slide 4</vt:lpstr>
      <vt:lpstr>Content   </vt:lpstr>
      <vt:lpstr>Introduction to Transistor</vt:lpstr>
      <vt:lpstr>Introduction to Transistor</vt:lpstr>
      <vt:lpstr>Introduction to Transistor</vt:lpstr>
      <vt:lpstr>Introduction to Transistor</vt:lpstr>
      <vt:lpstr>Origin of the name “Transistor</vt:lpstr>
      <vt:lpstr>Naming the Transistor Terminals</vt:lpstr>
      <vt:lpstr>Emitter</vt:lpstr>
      <vt:lpstr>Collector</vt:lpstr>
      <vt:lpstr>Base</vt:lpstr>
      <vt:lpstr>Introduction to Transistor</vt:lpstr>
      <vt:lpstr>Working of npn transistor</vt:lpstr>
      <vt:lpstr>Working of npn transistor</vt:lpstr>
      <vt:lpstr>Working of pnp transistor</vt:lpstr>
      <vt:lpstr>Transistor Symbols</vt:lpstr>
      <vt:lpstr>Transistor Symbols</vt:lpstr>
      <vt:lpstr>Applications of Transistor</vt:lpstr>
      <vt:lpstr>Summary</vt:lpstr>
      <vt:lpstr>Frequently Asked Questions</vt:lpstr>
      <vt:lpstr>LEARNING OUTCOMES </vt:lpstr>
      <vt:lpstr>References</vt:lpstr>
      <vt:lpstr>Assessment Pattern</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304</cp:revision>
  <dcterms:created xsi:type="dcterms:W3CDTF">2019-01-09T10:33:58Z</dcterms:created>
  <dcterms:modified xsi:type="dcterms:W3CDTF">2023-06-20T06:46:25Z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Lecture 4</vt:lpwstr>
  </property>
  <property fmtid="{D5CDD505-2E9C-101B-9397-08002B2CF9AE}" pid="3" name="ArticulateProjectVersion">
    <vt:lpwstr>7</vt:lpwstr>
  </property>
  <property fmtid="{D5CDD505-2E9C-101B-9397-08002B2CF9AE}" pid="4" name="ArticulateUseProject">
    <vt:lpwstr>1</vt:lpwstr>
  </property>
  <property fmtid="{D5CDD505-2E9C-101B-9397-08002B2CF9AE}" pid="5" name="ArticulateGUID">
    <vt:lpwstr>343E75A5-71C0-4956-BE97-C8D264AED953</vt:lpwstr>
  </property>
  <property fmtid="{D5CDD505-2E9C-101B-9397-08002B2CF9AE}" pid="6" name="ArticulateProjectFull">
    <vt:lpwstr>L:\2021_Even_Semester\POE\Theory\UNIT-2\Unit 2 PPT\Lecture 1.ppta</vt:lpwstr>
  </property>
</Properties>
</file>