
<file path=[Content_Types].xml><?xml version="1.0" encoding="utf-8"?>
<Types xmlns="http://schemas.openxmlformats.org/package/2006/content-types">
  <Override PartName="/ppt/notesSlides/notesSlide2.xml" ContentType="application/vnd.openxmlformats-officedocument.presentationml.notesSlide+xml"/>
  <Override PartName="/ppt/tags/tag8.xml" ContentType="application/vnd.openxmlformats-officedocument.presentationml.tag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docProps/custom.xml" ContentType="application/vnd.openxmlformats-officedocument.custom-properties+xml"/>
  <Override PartName="/ppt/tags/tag14.xml" ContentType="application/vnd.openxmlformats-officedocument.presentationml.tags+xml"/>
  <Override PartName="/ppt/tags/tag12.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tags/tag7.xml" ContentType="application/vnd.openxmlformats-officedocument.presentationml.tags+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tags/tag19.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tags/tag17.xml" ContentType="application/vnd.openxmlformats-officedocument.presentationml.tags+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13.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5"/>
  </p:notesMasterIdLst>
  <p:handoutMasterIdLst>
    <p:handoutMasterId r:id="rId26"/>
  </p:handoutMasterIdLst>
  <p:sldIdLst>
    <p:sldId id="421" r:id="rId3"/>
    <p:sldId id="416" r:id="rId4"/>
    <p:sldId id="422" r:id="rId5"/>
    <p:sldId id="423" r:id="rId6"/>
    <p:sldId id="326" r:id="rId7"/>
    <p:sldId id="327" r:id="rId8"/>
    <p:sldId id="409" r:id="rId9"/>
    <p:sldId id="408" r:id="rId10"/>
    <p:sldId id="411" r:id="rId11"/>
    <p:sldId id="412" r:id="rId12"/>
    <p:sldId id="410" r:id="rId13"/>
    <p:sldId id="343" r:id="rId14"/>
    <p:sldId id="344" r:id="rId15"/>
    <p:sldId id="401" r:id="rId16"/>
    <p:sldId id="406" r:id="rId17"/>
    <p:sldId id="407" r:id="rId18"/>
    <p:sldId id="394" r:id="rId19"/>
    <p:sldId id="377" r:id="rId20"/>
    <p:sldId id="384" r:id="rId21"/>
    <p:sldId id="413" r:id="rId22"/>
    <p:sldId id="414" r:id="rId23"/>
    <p:sldId id="420" r:id="rId24"/>
  </p:sldIdLst>
  <p:sldSz cx="12192000"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D8137"/>
    <a:srgbClr val="BC8F00"/>
    <a:srgbClr val="8600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03" autoAdjust="0"/>
    <p:restoredTop sz="99104" autoAdjust="0"/>
  </p:normalViewPr>
  <p:slideViewPr>
    <p:cSldViewPr snapToGrid="0">
      <p:cViewPr varScale="1">
        <p:scale>
          <a:sx n="65" d="100"/>
          <a:sy n="65" d="100"/>
        </p:scale>
        <p:origin x="-696"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6/20/2023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err="1"/>
              <a:t>Source:https</a:t>
            </a:r>
            <a:r>
              <a:rPr lang="en-US" sz="1200" dirty="0"/>
              <a:t>://</a:t>
            </a:r>
            <a:r>
              <a:rPr lang="en-US" sz="1200" dirty="0" err="1"/>
              <a:t>www.physics</a:t>
            </a:r>
            <a:r>
              <a:rPr lang="en-US" sz="1200" dirty="0"/>
              <a:t>-and-radio-</a:t>
            </a:r>
            <a:r>
              <a:rPr lang="en-US" sz="1200" dirty="0" err="1"/>
              <a:t>electronics.com</a:t>
            </a:r>
            <a:r>
              <a:rPr lang="en-US" sz="1200" dirty="0"/>
              <a:t>/electronic-devices-and-circuits/transistors/</a:t>
            </a:r>
            <a:r>
              <a:rPr lang="en-US" sz="1200" dirty="0" err="1"/>
              <a:t>bipolarjunctiontransistor</a:t>
            </a:r>
            <a:r>
              <a:rPr lang="en-US" sz="1200" dirty="0"/>
              <a:t>/images/</a:t>
            </a:r>
            <a:r>
              <a:rPr lang="en-US" sz="1200" dirty="0" err="1"/>
              <a:t>commonemitterconfiguration.png</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err="1"/>
              <a:t>Source:https</a:t>
            </a:r>
            <a:r>
              <a:rPr lang="en-US" sz="1200" dirty="0"/>
              <a:t>://</a:t>
            </a:r>
            <a:r>
              <a:rPr lang="en-US" sz="1200" dirty="0" err="1"/>
              <a:t>i.stack.imgur.com</a:t>
            </a:r>
            <a:r>
              <a:rPr lang="en-US" sz="1200" dirty="0"/>
              <a:t>/49eBH.jpg</a:t>
            </a:r>
          </a:p>
          <a:p>
            <a:endParaRPr lang="en-US" dirty="0"/>
          </a:p>
          <a:p>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6/20/2023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hyperlink" Target="https://www.atlearner.com/2019/07/pn-junction-diode.html/"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4.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hyperlink" Target="https://www.physics-and-radio-electronics.com/electromagnetics/electrostatics/potential-difference.html" TargetMode="Externa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hyperlink" Target="https://www.physics-and-radio-electronics.com/electronic-devices-and-circuits/introduction/electriccurrent-howelectriccurrentproduced.html" TargetMode="Externa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hyperlink" Target="https://www.physics-and-radio-electronics.com/electronic-devices-and-circuits/transistors/transistors-introduction.html" TargetMode="Externa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hyperlink" Target="https://www.physics-and-radio-electronics.com/electronic-devices-and-circuits/semiconductor-diodes/pnjunctionsemiconductordiode.html" TargetMode="Externa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hyperlink" Target="https://www.physics-and-radio-electronics.com/electronic-devices-and-circuits/transistors/bipolarjunctiontransistor/commonbaseconfiguration.html" TargetMode="Externa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8.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1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1026" name="CorelDRAW" r:id="rId4" imgW="2169000" imgH="2169360" progId="">
              <p:embed/>
            </p:oleObj>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6">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Navjeet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Experiment-2.1.4</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IN" sz="2400" dirty="0" smtClean="0">
                <a:latin typeface="Times New Roman"/>
                <a:ea typeface="Calibri"/>
              </a:rPr>
              <a:t>Emitter efficiency and Transport </a:t>
            </a:r>
            <a:r>
              <a:rPr lang="en-IN" sz="2400" dirty="0" smtClean="0">
                <a:latin typeface="Times New Roman"/>
                <a:ea typeface="Calibri"/>
              </a:rPr>
              <a:t>factor</a:t>
            </a:r>
            <a:r>
              <a:rPr lang="en-IN" sz="2400" dirty="0" smtClean="0">
                <a:latin typeface="Times New Roman" pitchFamily="18" charset="0"/>
                <a:cs typeface="Times New Roman" pitchFamily="18" charset="0"/>
              </a:rPr>
              <a:t>.</a:t>
            </a:r>
            <a:endParaRPr lang="en-US" sz="2400" b="1" dirty="0" smtClean="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Lecture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xmlns="" val="1025663270"/>
              </p:ext>
            </p:extLst>
          </p:nvPr>
        </p:nvGraphicFramePr>
        <p:xfrm>
          <a:off x="282009" y="1776547"/>
          <a:ext cx="6536802" cy="4355349"/>
        </p:xfrm>
        <a:graphic>
          <a:graphicData uri="http://schemas.openxmlformats.org/drawingml/2006/table">
            <a:tbl>
              <a:tblPr firstRow="1" firstCol="1" bandRow="1"/>
              <a:tblGrid>
                <a:gridCol w="608945">
                  <a:extLst>
                    <a:ext uri="{9D8B030D-6E8A-4147-A177-3AD203B41FA5}">
                      <a16:colId xmlns:a16="http://schemas.microsoft.com/office/drawing/2014/main" xmlns="" val="20000"/>
                    </a:ext>
                  </a:extLst>
                </a:gridCol>
                <a:gridCol w="5927857">
                  <a:extLst>
                    <a:ext uri="{9D8B030D-6E8A-4147-A177-3AD203B41FA5}">
                      <a16:colId xmlns:a16="http://schemas.microsoft.com/office/drawing/2014/main" xmlns="" val="20001"/>
                    </a:ext>
                  </a:extLst>
                </a:gridCol>
              </a:tblGrid>
              <a:tr h="678329">
                <a:tc>
                  <a:txBody>
                    <a:bodyPr/>
                    <a:lstStyle/>
                    <a:p>
                      <a:pPr algn="ctr" fontAlgn="ctr"/>
                      <a:r>
                        <a:rPr lang="en-US" sz="1200" b="1" i="0" u="none" strike="noStrike" dirty="0">
                          <a:solidFill>
                            <a:srgbClr val="000000"/>
                          </a:solidFill>
                          <a:effectLst/>
                          <a:latin typeface="+mn-lt"/>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mn-lt"/>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845118">
                <a:tc>
                  <a:txBody>
                    <a:bodyPr/>
                    <a:lstStyle/>
                    <a:p>
                      <a:pPr algn="ctr" fontAlgn="ctr"/>
                      <a:r>
                        <a:rPr lang="en-US" sz="1200" b="0" i="0" u="none" strike="noStrike" dirty="0">
                          <a:solidFill>
                            <a:schemeClr val="tx1"/>
                          </a:solidFill>
                          <a:effectLst/>
                          <a:latin typeface="+mn-lt"/>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Times New Roman" pitchFamily="18" charset="0"/>
                          <a:ea typeface="+mn-ea"/>
                          <a:cs typeface="Times New Roman" pitchFamily="18" charset="0"/>
                        </a:rPr>
                        <a:t>To make student</a:t>
                      </a:r>
                      <a:r>
                        <a:rPr lang="en-US" sz="1200" b="0" i="0" kern="1200" baseline="0" dirty="0">
                          <a:solidFill>
                            <a:schemeClr val="tx1"/>
                          </a:solidFill>
                          <a:latin typeface="Times New Roman" pitchFamily="18" charset="0"/>
                          <a:ea typeface="+mn-ea"/>
                          <a:cs typeface="Times New Roman" pitchFamily="18" charset="0"/>
                        </a:rPr>
                        <a:t> aware about the basic concept of </a:t>
                      </a:r>
                      <a:r>
                        <a:rPr lang="en-IN" sz="1200" dirty="0">
                          <a:latin typeface="Times New Roman" pitchFamily="18" charset="0"/>
                          <a:ea typeface="Calibri"/>
                          <a:cs typeface="Times New Roman" pitchFamily="18" charset="0"/>
                        </a:rPr>
                        <a:t>CE configuration.</a:t>
                      </a:r>
                      <a:endParaRPr lang="en-US" sz="1200" b="0" i="0" u="none" strike="noStrike" dirty="0">
                        <a:solidFill>
                          <a:schemeClr val="tx1"/>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701445">
                <a:tc>
                  <a:txBody>
                    <a:bodyPr/>
                    <a:lstStyle/>
                    <a:p>
                      <a:pPr algn="ctr" fontAlgn="ctr"/>
                      <a:r>
                        <a:rPr lang="en-US" sz="1200" b="0" i="0" u="none" strike="noStrike" dirty="0">
                          <a:solidFill>
                            <a:srgbClr val="000000"/>
                          </a:solidFill>
                          <a:effectLst/>
                          <a:latin typeface="+mn-lt"/>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Times New Roman" pitchFamily="18" charset="0"/>
                          <a:ea typeface="+mn-ea"/>
                          <a:cs typeface="Times New Roman" pitchFamily="18" charset="0"/>
                        </a:rPr>
                        <a:t>To aware about</a:t>
                      </a:r>
                      <a:r>
                        <a:rPr lang="en-US" sz="1200" b="0" i="0" kern="1200" baseline="0" dirty="0">
                          <a:solidFill>
                            <a:schemeClr val="tx1"/>
                          </a:solidFill>
                          <a:latin typeface="Times New Roman" pitchFamily="18" charset="0"/>
                          <a:ea typeface="+mn-ea"/>
                          <a:cs typeface="Times New Roman" pitchFamily="18" charset="0"/>
                        </a:rPr>
                        <a:t> working of  CE configuration.</a:t>
                      </a:r>
                      <a:endParaRPr lang="en-US" sz="12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727567">
                <a:tc>
                  <a:txBody>
                    <a:bodyPr/>
                    <a:lstStyle/>
                    <a:p>
                      <a:pPr algn="ctr" fontAlgn="ctr"/>
                      <a:r>
                        <a:rPr lang="en-US" sz="1200" b="0" i="0" u="none" strike="noStrike" dirty="0">
                          <a:solidFill>
                            <a:srgbClr val="000000"/>
                          </a:solidFill>
                          <a:effectLst/>
                          <a:latin typeface="+mn-lt"/>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Times New Roman" pitchFamily="18" charset="0"/>
                          <a:ea typeface="+mn-ea"/>
                          <a:cs typeface="Times New Roman" pitchFamily="18" charset="0"/>
                        </a:rPr>
                        <a:t>To provide knowledge about input and output characteristic of CE configuration </a:t>
                      </a:r>
                      <a:endParaRPr lang="en-US" sz="12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701445">
                <a:tc>
                  <a:txBody>
                    <a:bodyPr/>
                    <a:lstStyle/>
                    <a:p>
                      <a:pPr algn="ctr" fontAlgn="ctr"/>
                      <a:r>
                        <a:rPr lang="en-US" sz="1200" b="0" i="0" u="none" strike="noStrike" dirty="0">
                          <a:solidFill>
                            <a:srgbClr val="000000"/>
                          </a:solidFill>
                          <a:effectLst/>
                          <a:latin typeface="+mn-lt"/>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Times New Roman" pitchFamily="18" charset="0"/>
                          <a:ea typeface="+mn-ea"/>
                          <a:cs typeface="Times New Roman" pitchFamily="18" charset="0"/>
                        </a:rPr>
                        <a:t>To make familiar with formation of depletion zone</a:t>
                      </a:r>
                      <a:endParaRPr lang="en-US" sz="12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701445">
                <a:tc>
                  <a:txBody>
                    <a:bodyPr/>
                    <a:lstStyle/>
                    <a:p>
                      <a:pPr algn="ctr" fontAlgn="ctr"/>
                      <a:r>
                        <a:rPr lang="en-US" sz="1200" b="0" i="0" u="none" strike="noStrike" dirty="0">
                          <a:solidFill>
                            <a:srgbClr val="000000"/>
                          </a:solidFill>
                          <a:effectLst/>
                          <a:latin typeface="+mn-lt"/>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Times New Roman" pitchFamily="18" charset="0"/>
                          <a:ea typeface="+mn-ea"/>
                          <a:cs typeface="Times New Roman" pitchFamily="18" charset="0"/>
                        </a:rPr>
                        <a:t>To give brief knowledge about</a:t>
                      </a:r>
                      <a:r>
                        <a:rPr lang="en-US" sz="1200" b="0" i="0" kern="1200" baseline="0" dirty="0">
                          <a:solidFill>
                            <a:schemeClr val="tx1"/>
                          </a:solidFill>
                          <a:latin typeface="Times New Roman" pitchFamily="18" charset="0"/>
                          <a:ea typeface="+mn-ea"/>
                          <a:cs typeface="Times New Roman" pitchFamily="18" charset="0"/>
                        </a:rPr>
                        <a:t> depletion layer</a:t>
                      </a:r>
                      <a:endParaRPr lang="en-US" sz="12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
        <p:nvSpPr>
          <p:cNvPr id="258050" name="AutoShape 2" descr="PN junction diode and diode characteristics curv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8052" name="AutoShape 4" descr="PN junction diode and diode characteristics curv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8054" name="AutoShape 6" descr="PN junction diode and diode characteristics curv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8056" name="AutoShape 8" descr="PN junction diode and diode characteristics curv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8058" name="AutoShape 10" descr="PN junction diode and diode characteristics curv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8060" name="AutoShape 12" descr="PN junction diode and diode characteristics curv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AutoShape 2" descr="Common emitter - Wikiped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58051" name="Picture 3"/>
          <p:cNvPicPr>
            <a:picLocks noChangeAspect="1" noChangeArrowheads="1"/>
          </p:cNvPicPr>
          <p:nvPr/>
        </p:nvPicPr>
        <p:blipFill>
          <a:blip r:embed="rId3"/>
          <a:srcRect/>
          <a:stretch>
            <a:fillRect/>
          </a:stretch>
        </p:blipFill>
        <p:spPr bwMode="auto">
          <a:xfrm>
            <a:off x="7798526" y="2005420"/>
            <a:ext cx="3004457" cy="2533650"/>
          </a:xfrm>
          <a:prstGeom prst="rect">
            <a:avLst/>
          </a:prstGeom>
          <a:noFill/>
          <a:ln w="9525">
            <a:noFill/>
            <a:miter lim="800000"/>
            <a:headEnd/>
            <a:tailEnd/>
          </a:ln>
          <a:effectLst/>
        </p:spPr>
      </p:pic>
      <p:pic>
        <p:nvPicPr>
          <p:cNvPr id="16" name="Picture 3"/>
          <p:cNvPicPr>
            <a:picLocks noChangeAspect="1" noChangeArrowheads="1"/>
          </p:cNvPicPr>
          <p:nvPr/>
        </p:nvPicPr>
        <p:blipFill>
          <a:blip r:embed="rId3"/>
          <a:srcRect/>
          <a:stretch>
            <a:fillRect/>
          </a:stretch>
        </p:blipFill>
        <p:spPr bwMode="auto">
          <a:xfrm>
            <a:off x="7950926" y="2157820"/>
            <a:ext cx="3004457" cy="2533650"/>
          </a:xfrm>
          <a:prstGeom prst="rect">
            <a:avLst/>
          </a:prstGeom>
          <a:noFill/>
          <a:ln w="9525">
            <a:noFill/>
            <a:miter lim="800000"/>
            <a:headEnd/>
            <a:tailEnd/>
          </a:ln>
          <a:effectLst/>
        </p:spPr>
      </p:pic>
      <p:sp>
        <p:nvSpPr>
          <p:cNvPr id="18" name="Content Placeholder 6"/>
          <p:cNvSpPr txBox="1">
            <a:spLocks noGrp="1"/>
          </p:cNvSpPr>
          <p:nvPr>
            <p:ph idx="1"/>
          </p:nvPr>
        </p:nvSpPr>
        <p:spPr>
          <a:xfrm>
            <a:off x="7119938" y="4924425"/>
            <a:ext cx="4427537" cy="609600"/>
          </a:xfrm>
          <a:prstGeom prst="rect">
            <a:avLst/>
          </a:prstGeom>
        </p:spPr>
        <p:txBody>
          <a:bodyPr vert="horz" lIns="91440" tIns="45720" rIns="91440" bIns="45720" rtlCol="0">
            <a:noAutofit/>
          </a:bodyPr>
          <a:lstStyle/>
          <a:p>
            <a:pPr marL="228600" lvl="0" indent="-228600" algn="ctr">
              <a:lnSpc>
                <a:spcPct val="90000"/>
              </a:lnSpc>
              <a:spcBef>
                <a:spcPts val="1000"/>
              </a:spcBef>
              <a:buNone/>
              <a:defRPr/>
            </a:pPr>
            <a:r>
              <a:rPr lang="en-US" sz="1900" b="1" dirty="0" err="1">
                <a:hlinkClick r:id="rId4"/>
              </a:rPr>
              <a:t>Source:https</a:t>
            </a:r>
            <a:r>
              <a:rPr lang="en-US" sz="1900" b="1" dirty="0">
                <a:hlinkClick r:id="rId4"/>
              </a:rPr>
              <a:t>://upload.wikimedia.org/wikipedia/commons/thumb/a/a0/NPN_common_emitter.svg/1200px-NPN_common_emitter.svg.png /</a:t>
            </a:r>
            <a:endParaRPr kumimoji="0" lang="en-US" sz="1900" b="1" i="0" u="none" strike="noStrike" kern="1200" cap="none" spc="0" normalizeH="0" baseline="0" noProof="0" dirty="0">
              <a:ln>
                <a:noFill/>
              </a:ln>
              <a:solidFill>
                <a:srgbClr val="00B0F0"/>
              </a:solidFill>
              <a:effectLst/>
              <a:uLnTx/>
              <a:uFillTx/>
              <a:latin typeface="+mn-lt"/>
              <a:ea typeface="+mn-ea"/>
              <a:cs typeface="+mn-cs"/>
            </a:endParaRPr>
          </a:p>
        </p:txBody>
      </p:sp>
    </p:spTree>
    <p:custDataLst>
      <p:tags r:id="rId1"/>
    </p:custDataLst>
    <p:extLst>
      <p:ext uri="{BB962C8B-B14F-4D97-AF65-F5344CB8AC3E}">
        <p14:creationId xmlns:p14="http://schemas.microsoft.com/office/powerpoint/2010/main" xmlns="" val="3739820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 xmlns:p14="http://schemas.microsoft.com/office/powerpoint/2010/main"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 xmlns:a16="http://schemas.microsoft.com/office/drawing/2014/main" val="20000"/>
                    </a:ext>
                  </a:extLst>
                </a:gridCol>
                <a:gridCol w="5959928">
                  <a:extLst>
                    <a:ext uri="{9D8B030D-6E8A-4147-A177-3AD203B41FA5}">
                      <a16:colId xmlns="" xmlns:a16="http://schemas.microsoft.com/office/drawing/2014/main"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 xmlns:a16="http://schemas.microsoft.com/office/drawing/2014/main" id="{CF519C70-D760-42E7-8BD2-6D327CBFDD43}"/>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 xmlns:a16="http://schemas.microsoft.com/office/drawing/2014/main" id="{8162587E-E0B8-4626-8CC1-A1300E812FD3}"/>
              </a:ext>
            </a:extLst>
          </p:cNvPr>
          <p:cNvGraphicFramePr>
            <a:graphicFrameLocks noGrp="1"/>
          </p:cNvGraphicFramePr>
          <p:nvPr>
            <p:extLst>
              <p:ext uri="{D42A27DB-BD31-4B8C-83A1-F6EECF244321}">
                <p14:modId xmlns="" xmlns:p14="http://schemas.microsoft.com/office/powerpoint/2010/main"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 xmlns:a16="http://schemas.microsoft.com/office/drawing/2014/main" val="3145357031"/>
                    </a:ext>
                  </a:extLst>
                </a:gridCol>
                <a:gridCol w="3525847">
                  <a:extLst>
                    <a:ext uri="{9D8B030D-6E8A-4147-A177-3AD203B41FA5}">
                      <a16:colId xmlns="" xmlns:a16="http://schemas.microsoft.com/office/drawing/2014/main" val="1912344179"/>
                    </a:ext>
                  </a:extLst>
                </a:gridCol>
                <a:gridCol w="2118474">
                  <a:extLst>
                    <a:ext uri="{9D8B030D-6E8A-4147-A177-3AD203B41FA5}">
                      <a16:colId xmlns="" xmlns:a16="http://schemas.microsoft.com/office/drawing/2014/main"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 xmlns:a16="http://schemas.microsoft.com/office/drawing/2014/main"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1993640399"/>
                  </a:ext>
                </a:extLst>
              </a:tr>
            </a:tbl>
          </a:graphicData>
        </a:graphic>
      </p:graphicFrame>
      <p:pic>
        <p:nvPicPr>
          <p:cNvPr id="4" name="Picture 3">
            <a:extLst>
              <a:ext uri="{FF2B5EF4-FFF2-40B4-BE49-F238E27FC236}">
                <a16:creationId xmlns="" xmlns:a16="http://schemas.microsoft.com/office/drawing/2014/main" id="{72E5EA36-20D2-4DE4-BBC5-F5A55DBA5C10}"/>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 xmlns:p14="http://schemas.microsoft.com/office/powerpoint/2010/main" val="3901693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cs typeface="Arial" panose="020B0604020202020204" pitchFamily="34" charset="0"/>
              </a:rPr>
              <a:t>Content</a:t>
            </a:r>
            <a:r>
              <a:rPr lang="en-US" b="1" dirty="0">
                <a:latin typeface="Casper"/>
                <a:cs typeface="Arial" panose="020B0604020202020204" pitchFamily="34" charset="0"/>
              </a:rPr>
              <a:t> </a:t>
            </a:r>
            <a:r>
              <a:rPr lang="en-US" b="1" dirty="0">
                <a:latin typeface="Casper"/>
              </a:rPr>
              <a:t>  </a:t>
            </a:r>
          </a:p>
        </p:txBody>
      </p:sp>
      <p:sp>
        <p:nvSpPr>
          <p:cNvPr id="3" name="Content Placeholder 2"/>
          <p:cNvSpPr>
            <a:spLocks noGrp="1"/>
          </p:cNvSpPr>
          <p:nvPr>
            <p:ph idx="1"/>
          </p:nvPr>
        </p:nvSpPr>
        <p:spPr>
          <a:xfrm>
            <a:off x="838200" y="1959429"/>
            <a:ext cx="10515600" cy="4217534"/>
          </a:xfrm>
        </p:spPr>
        <p:txBody>
          <a:bodyPr>
            <a:normAutofit/>
          </a:bodyPr>
          <a:lstStyle/>
          <a:p>
            <a:pPr marL="342900" lvl="0" indent="-342900">
              <a:lnSpc>
                <a:spcPct val="100000"/>
              </a:lnSpc>
              <a:spcBef>
                <a:spcPts val="0"/>
              </a:spcBef>
              <a:buFont typeface="Wingdings" pitchFamily="2" charset="2"/>
              <a:buChar char="v"/>
            </a:pPr>
            <a:r>
              <a:rPr lang="en-IN" dirty="0"/>
              <a:t>Common Emitter Configuration</a:t>
            </a:r>
          </a:p>
          <a:p>
            <a:pPr marL="342900" lvl="0" indent="-342900">
              <a:lnSpc>
                <a:spcPct val="100000"/>
              </a:lnSpc>
              <a:spcBef>
                <a:spcPts val="0"/>
              </a:spcBef>
              <a:buFont typeface="Wingdings" pitchFamily="2" charset="2"/>
              <a:buChar char="v"/>
            </a:pPr>
            <a:r>
              <a:rPr lang="en-IN" dirty="0"/>
              <a:t>Input characteristics</a:t>
            </a:r>
          </a:p>
          <a:p>
            <a:pPr marL="342900" lvl="0" indent="-342900">
              <a:lnSpc>
                <a:spcPct val="100000"/>
              </a:lnSpc>
              <a:spcBef>
                <a:spcPts val="0"/>
              </a:spcBef>
              <a:buFont typeface="Wingdings" pitchFamily="2" charset="2"/>
              <a:buChar char="v"/>
            </a:pPr>
            <a:r>
              <a:rPr lang="en-IN" dirty="0"/>
              <a:t>Output characteristics</a:t>
            </a:r>
          </a:p>
          <a:p>
            <a:pPr marL="342900" lvl="0" indent="-342900">
              <a:lnSpc>
                <a:spcPct val="100000"/>
              </a:lnSpc>
              <a:spcBef>
                <a:spcPts val="0"/>
              </a:spcBef>
              <a:buFont typeface="Wingdings" pitchFamily="2" charset="2"/>
              <a:buChar char="v"/>
            </a:pPr>
            <a:r>
              <a:rPr lang="en-IN" dirty="0"/>
              <a:t>Advantages &amp; applications</a:t>
            </a:r>
          </a:p>
          <a:p>
            <a:pPr marL="342900" lvl="0" indent="-342900">
              <a:lnSpc>
                <a:spcPct val="100000"/>
              </a:lnSpc>
              <a:spcBef>
                <a:spcPts val="0"/>
              </a:spcBef>
              <a:buFont typeface="Wingdings" pitchFamily="2" charset="2"/>
              <a:buChar char="v"/>
            </a:pPr>
            <a:r>
              <a:rPr lang="en-US" dirty="0"/>
              <a:t>Injection efficiency</a:t>
            </a:r>
          </a:p>
          <a:p>
            <a:pPr marL="342900" lvl="0" indent="-342900">
              <a:lnSpc>
                <a:spcPct val="100000"/>
              </a:lnSpc>
              <a:spcBef>
                <a:spcPts val="0"/>
              </a:spcBef>
              <a:buFont typeface="Wingdings" pitchFamily="2" charset="2"/>
              <a:buChar char="v"/>
            </a:pPr>
            <a:r>
              <a:rPr lang="en-US" dirty="0" err="1"/>
              <a:t>Tansport</a:t>
            </a:r>
            <a:r>
              <a:rPr lang="en-US" dirty="0"/>
              <a:t> factor</a:t>
            </a:r>
          </a:p>
          <a:p>
            <a:pPr marL="342900" lvl="0" indent="-342900">
              <a:lnSpc>
                <a:spcPct val="100000"/>
              </a:lnSpc>
              <a:spcBef>
                <a:spcPts val="0"/>
              </a:spcBef>
              <a:buFont typeface="Wingdings" pitchFamily="2" charset="2"/>
              <a:buChar char="v"/>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xmlns=""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28" dur="500"/>
                                        <p:tgtEl>
                                          <p:spTgt spid="3">
                                            <p:txEl>
                                              <p:pRg st="3" end="3"/>
                                            </p:txEl>
                                          </p:spTgt>
                                        </p:tgtEl>
                                      </p:cBhvr>
                                    </p:animEffect>
                                  </p:childTnLst>
                                </p:cTn>
                              </p:par>
                              <p:par>
                                <p:cTn id="29" presetID="49" presetClass="entr" presetSubtype="0" decel="10000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3"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34" dur="500"/>
                                        <p:tgtEl>
                                          <p:spTgt spid="3">
                                            <p:txEl>
                                              <p:pRg st="4" end="4"/>
                                            </p:txEl>
                                          </p:spTgt>
                                        </p:tgtEl>
                                      </p:cBhvr>
                                    </p:animEffect>
                                  </p:childTnLst>
                                </p:cTn>
                              </p:par>
                              <p:par>
                                <p:cTn id="35" presetID="49" presetClass="entr" presetSubtype="0" decel="10000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5" end="5"/>
                                            </p:txEl>
                                          </p:spTgt>
                                        </p:tgtEl>
                                        <p:attrNameLst>
                                          <p:attrName>ppt_h</p:attrName>
                                        </p:attrNameLst>
                                      </p:cBhvr>
                                      <p:tavLst>
                                        <p:tav tm="0">
                                          <p:val>
                                            <p:fltVal val="0"/>
                                          </p:val>
                                        </p:tav>
                                        <p:tav tm="100000">
                                          <p:val>
                                            <p:strVal val="#ppt_h"/>
                                          </p:val>
                                        </p:tav>
                                      </p:tavLst>
                                    </p:anim>
                                    <p:anim calcmode="lin" valueType="num">
                                      <p:cBhvr>
                                        <p:cTn id="39" dur="500" fill="hold"/>
                                        <p:tgtEl>
                                          <p:spTgt spid="3">
                                            <p:txEl>
                                              <p:pRg st="5" end="5"/>
                                            </p:txEl>
                                          </p:spTgt>
                                        </p:tgtEl>
                                        <p:attrNameLst>
                                          <p:attrName>style.rotation</p:attrName>
                                        </p:attrNameLst>
                                      </p:cBhvr>
                                      <p:tavLst>
                                        <p:tav tm="0">
                                          <p:val>
                                            <p:fltVal val="360"/>
                                          </p:val>
                                        </p:tav>
                                        <p:tav tm="100000">
                                          <p:val>
                                            <p:fltVal val="0"/>
                                          </p:val>
                                        </p:tav>
                                      </p:tavLst>
                                    </p:anim>
                                    <p:animEffect transition="in" filter="fade">
                                      <p:cBhvr>
                                        <p:cTn id="4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Common Emitter Configuration</a:t>
            </a:r>
            <a:endParaRPr lang="en-IN" b="1" dirty="0"/>
          </a:p>
        </p:txBody>
      </p:sp>
      <p:sp>
        <p:nvSpPr>
          <p:cNvPr id="3" name="Content Placeholder 2"/>
          <p:cNvSpPr>
            <a:spLocks noGrp="1"/>
          </p:cNvSpPr>
          <p:nvPr>
            <p:ph idx="1"/>
          </p:nvPr>
        </p:nvSpPr>
        <p:spPr>
          <a:xfrm>
            <a:off x="1230086" y="1851753"/>
            <a:ext cx="9168283" cy="4351338"/>
          </a:xfrm>
        </p:spPr>
        <p:txBody>
          <a:bodyPr>
            <a:noAutofit/>
          </a:bodyPr>
          <a:lstStyle/>
          <a:p>
            <a:pPr algn="just"/>
            <a:r>
              <a:rPr lang="en-IN" dirty="0"/>
              <a:t>In common emitter configuration, base is the input terminal, collector is the output terminal and emitter is the common terminal for both input and output. That means the base terminal and common emitter terminal are known as input terminals whereas collector terminal and common emitter terminal are known as output terminals.</a:t>
            </a:r>
          </a:p>
          <a:p>
            <a:pPr algn="just"/>
            <a:r>
              <a:rPr lang="en-IN" dirty="0"/>
              <a:t>In common emitter configuration, the emitter terminal is grounded so the common emitter configuration is also known as grounded emitter configuration. Sometimes common emitter configuration is also referred to as CE configuration, common emitter amplifier, or CE amplifier. The common emitter (CE) configuration is the most widely used transistor configuration.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dirty="0"/>
              <a:t>Common Emitter Configuration</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2977662" y="5603630"/>
            <a:ext cx="7045569" cy="375139"/>
          </a:xfrm>
        </p:spPr>
        <p:txBody>
          <a:bodyPr>
            <a:noAutofit/>
          </a:bodyPr>
          <a:lstStyle/>
          <a:p>
            <a:pPr marL="0" indent="0" algn="ctr">
              <a:buNone/>
              <a:defRPr/>
            </a:pPr>
            <a:r>
              <a:rPr lang="en-US" sz="1600" dirty="0"/>
              <a:t>Fig-1 common emitter configuration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dirty="0"/>
          </a:p>
        </p:txBody>
      </p:sp>
      <p:pic>
        <p:nvPicPr>
          <p:cNvPr id="205826"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2579077" y="2068513"/>
            <a:ext cx="6224954" cy="33988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Rectangle 5"/>
          <p:cNvSpPr/>
          <p:nvPr/>
        </p:nvSpPr>
        <p:spPr>
          <a:xfrm>
            <a:off x="914400" y="6107723"/>
            <a:ext cx="8581291" cy="646331"/>
          </a:xfrm>
          <a:prstGeom prst="rect">
            <a:avLst/>
          </a:prstGeom>
        </p:spPr>
        <p:txBody>
          <a:bodyPr wrap="square">
            <a:spAutoFit/>
          </a:bodyPr>
          <a:lstStyle/>
          <a:p>
            <a:pPr algn="ctr"/>
            <a:r>
              <a:rPr lang="en-US" dirty="0" err="1"/>
              <a:t>Source:https</a:t>
            </a:r>
            <a:r>
              <a:rPr lang="en-US" dirty="0"/>
              <a:t>://</a:t>
            </a:r>
            <a:r>
              <a:rPr lang="en-US" dirty="0" err="1"/>
              <a:t>www.physics</a:t>
            </a:r>
            <a:r>
              <a:rPr lang="en-US" dirty="0"/>
              <a:t>-and-radio-</a:t>
            </a:r>
            <a:r>
              <a:rPr lang="en-US" dirty="0" err="1"/>
              <a:t>electronics.com</a:t>
            </a:r>
            <a:r>
              <a:rPr lang="en-US" dirty="0"/>
              <a:t>/electronic-devices-and-circuits/transistors/</a:t>
            </a:r>
            <a:r>
              <a:rPr lang="en-US" dirty="0" err="1"/>
              <a:t>bipolarjunctiontransistor</a:t>
            </a:r>
            <a:r>
              <a:rPr lang="en-US" dirty="0"/>
              <a:t>/images/</a:t>
            </a:r>
            <a:r>
              <a:rPr lang="en-US" dirty="0" err="1"/>
              <a:t>commonemitterconfiguration.png</a:t>
            </a:r>
            <a:endParaRPr lang="en-US" dirty="0"/>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dirty="0"/>
              <a:t>Common Emitter Configuration</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772886" y="1655810"/>
            <a:ext cx="10515600" cy="4351338"/>
          </a:xfrm>
        </p:spPr>
        <p:txBody>
          <a:bodyPr>
            <a:noAutofit/>
          </a:bodyPr>
          <a:lstStyle/>
          <a:p>
            <a:r>
              <a:rPr lang="en-IN" dirty="0"/>
              <a:t>The common emitter (CE) amplifiers are used when large current gain is needed.</a:t>
            </a:r>
          </a:p>
          <a:p>
            <a:r>
              <a:rPr lang="en-IN" dirty="0"/>
              <a:t>The input signal is applied between the base and emitter terminals while the output signal is taken between the collector and emitter terminals. Thus, the emitter terminal of a transistor is common for both input and output and hence it is named as common emitter configuration.</a:t>
            </a:r>
          </a:p>
          <a:p>
            <a:r>
              <a:rPr lang="en-IN" dirty="0"/>
              <a:t>The supply </a:t>
            </a:r>
            <a:r>
              <a:rPr lang="en-IN" dirty="0">
                <a:hlinkClick r:id="rId3"/>
              </a:rPr>
              <a:t>voltage </a:t>
            </a:r>
            <a:r>
              <a:rPr lang="en-IN" dirty="0"/>
              <a:t>between base and emitter is denoted by V</a:t>
            </a:r>
            <a:r>
              <a:rPr lang="en-IN" baseline="-25000" dirty="0"/>
              <a:t>BE</a:t>
            </a:r>
            <a:r>
              <a:rPr lang="en-IN" dirty="0"/>
              <a:t> while the supply voltage between collector and emitter is denoted by V</a:t>
            </a:r>
            <a:r>
              <a:rPr lang="en-IN" baseline="-25000" dirty="0"/>
              <a:t>CE</a:t>
            </a:r>
            <a:r>
              <a:rPr lang="en-IN" dirty="0"/>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dirty="0"/>
              <a:t>Common Emitter Configuration</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772886" y="1655810"/>
            <a:ext cx="10515600" cy="4351338"/>
          </a:xfrm>
        </p:spPr>
        <p:txBody>
          <a:bodyPr>
            <a:noAutofit/>
          </a:bodyPr>
          <a:lstStyle/>
          <a:p>
            <a:r>
              <a:rPr lang="en-IN" dirty="0"/>
              <a:t>In common emitter (CE) configuration, input </a:t>
            </a:r>
            <a:r>
              <a:rPr lang="en-IN" dirty="0">
                <a:hlinkClick r:id="rId3"/>
              </a:rPr>
              <a:t>current </a:t>
            </a:r>
            <a:r>
              <a:rPr lang="en-IN" dirty="0"/>
              <a:t>or base current is denoted by I</a:t>
            </a:r>
            <a:r>
              <a:rPr lang="en-IN" baseline="-25000" dirty="0"/>
              <a:t>B</a:t>
            </a:r>
            <a:r>
              <a:rPr lang="en-IN" dirty="0"/>
              <a:t> and output current or collector current is denoted by I</a:t>
            </a:r>
            <a:r>
              <a:rPr lang="en-IN" baseline="-25000" dirty="0"/>
              <a:t>C.</a:t>
            </a:r>
            <a:endParaRPr lang="en-IN" dirty="0"/>
          </a:p>
          <a:p>
            <a:r>
              <a:rPr lang="en-IN" dirty="0"/>
              <a:t>The common emitter amplifier has medium input and output impedance levels. So the current gain and voltage gain of the common emitter amplifier is medium. However, the power gain is high.</a:t>
            </a:r>
          </a:p>
          <a:p>
            <a:r>
              <a:rPr lang="en-IN" dirty="0"/>
              <a:t>To fully describe the </a:t>
            </a:r>
            <a:r>
              <a:rPr lang="en-IN" dirty="0" err="1"/>
              <a:t>behavior</a:t>
            </a:r>
            <a:r>
              <a:rPr lang="en-IN" dirty="0"/>
              <a:t> of a </a:t>
            </a:r>
            <a:r>
              <a:rPr lang="en-IN" dirty="0">
                <a:hlinkClick r:id="rId4"/>
              </a:rPr>
              <a:t>transistor </a:t>
            </a:r>
            <a:r>
              <a:rPr lang="en-IN" dirty="0"/>
              <a:t>with CE configuration, we need two set of characteristics – input characteristics and output characteristics.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Input characteristics</a:t>
            </a:r>
            <a:endParaRPr lang="en-IN" b="1" dirty="0"/>
          </a:p>
        </p:txBody>
      </p:sp>
      <p:sp>
        <p:nvSpPr>
          <p:cNvPr id="3" name="Content Placeholder 2"/>
          <p:cNvSpPr>
            <a:spLocks noGrp="1"/>
          </p:cNvSpPr>
          <p:nvPr>
            <p:ph idx="1"/>
          </p:nvPr>
        </p:nvSpPr>
        <p:spPr>
          <a:xfrm>
            <a:off x="772886" y="1655810"/>
            <a:ext cx="10515600" cy="4351338"/>
          </a:xfrm>
        </p:spPr>
        <p:txBody>
          <a:bodyPr>
            <a:noAutofit/>
          </a:bodyPr>
          <a:lstStyle/>
          <a:p>
            <a:r>
              <a:rPr lang="en-IN" dirty="0"/>
              <a:t>The input characteristics describe the relationship between input current or base current (I</a:t>
            </a:r>
            <a:r>
              <a:rPr lang="en-IN" baseline="-25000" dirty="0"/>
              <a:t>B</a:t>
            </a:r>
            <a:r>
              <a:rPr lang="en-IN" dirty="0"/>
              <a:t>) and input voltage or base-emitter voltage (V</a:t>
            </a:r>
            <a:r>
              <a:rPr lang="en-IN" baseline="-25000" dirty="0"/>
              <a:t>BE</a:t>
            </a:r>
            <a:r>
              <a:rPr lang="en-IN" dirty="0"/>
              <a:t>).</a:t>
            </a:r>
          </a:p>
          <a:p>
            <a:r>
              <a:rPr lang="en-IN" dirty="0"/>
              <a:t>First, draw a vertical line and a horizontal line. The vertical line represents y-axis and horizontal line represents x-axis. The input current or base current (I</a:t>
            </a:r>
            <a:r>
              <a:rPr lang="en-IN" baseline="-25000" dirty="0"/>
              <a:t>B</a:t>
            </a:r>
            <a:r>
              <a:rPr lang="en-IN" dirty="0"/>
              <a:t>) is taken along y-axis (vertical line) and the input voltage (V</a:t>
            </a:r>
            <a:r>
              <a:rPr lang="en-IN" baseline="-25000" dirty="0"/>
              <a:t>BE</a:t>
            </a:r>
            <a:r>
              <a:rPr lang="en-IN" dirty="0"/>
              <a:t>)</a:t>
            </a:r>
            <a:r>
              <a:rPr lang="en-IN" baseline="-25000" dirty="0"/>
              <a:t> </a:t>
            </a:r>
            <a:r>
              <a:rPr lang="en-IN" dirty="0"/>
              <a:t>is taken along x-axis (horizontal line).</a:t>
            </a:r>
          </a:p>
          <a:p>
            <a:r>
              <a:rPr lang="en-IN" dirty="0"/>
              <a:t>To determine the input characteristics, the output voltage V</a:t>
            </a:r>
            <a:r>
              <a:rPr lang="en-IN" baseline="-25000" dirty="0"/>
              <a:t>CE</a:t>
            </a:r>
            <a:r>
              <a:rPr lang="en-IN" dirty="0"/>
              <a:t> is kept constant at zero volts and the input voltage V</a:t>
            </a:r>
            <a:r>
              <a:rPr lang="en-IN" baseline="-25000" dirty="0"/>
              <a:t>BE</a:t>
            </a:r>
            <a:r>
              <a:rPr lang="en-IN" dirty="0"/>
              <a:t> is increased from zero volts to different voltage levels. For each voltage level of input voltage (V</a:t>
            </a:r>
            <a:r>
              <a:rPr lang="en-IN" baseline="-25000" dirty="0"/>
              <a:t>BE</a:t>
            </a:r>
            <a:r>
              <a:rPr lang="en-IN" dirty="0"/>
              <a:t>), the corresponding input current (I</a:t>
            </a:r>
            <a:r>
              <a:rPr lang="en-IN" baseline="-25000" dirty="0"/>
              <a:t>B</a:t>
            </a:r>
            <a:r>
              <a:rPr lang="en-IN" dirty="0"/>
              <a:t>) is recorded.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t>Input characteristics</a:t>
            </a:r>
            <a:endParaRPr lang="en-IN" b="1" dirty="0"/>
          </a:p>
        </p:txBody>
      </p:sp>
      <p:sp>
        <p:nvSpPr>
          <p:cNvPr id="3" name="Content Placeholder 2"/>
          <p:cNvSpPr>
            <a:spLocks noGrp="1"/>
          </p:cNvSpPr>
          <p:nvPr>
            <p:ph idx="1"/>
          </p:nvPr>
        </p:nvSpPr>
        <p:spPr>
          <a:xfrm>
            <a:off x="738554" y="5462954"/>
            <a:ext cx="9460523" cy="339969"/>
          </a:xfrm>
        </p:spPr>
        <p:txBody>
          <a:bodyPr>
            <a:noAutofit/>
          </a:bodyPr>
          <a:lstStyle/>
          <a:p>
            <a:pPr marL="0" indent="0" algn="ctr">
              <a:buNone/>
              <a:defRPr/>
            </a:pPr>
            <a:r>
              <a:rPr lang="en-US" sz="1600" dirty="0">
                <a:latin typeface="Times New Roman" pitchFamily="18" charset="0"/>
                <a:cs typeface="Times New Roman" pitchFamily="18" charset="0"/>
              </a:rPr>
              <a:t>Fig-2 input </a:t>
            </a:r>
            <a:r>
              <a:rPr lang="en-US" sz="1600" dirty="0" err="1">
                <a:latin typeface="Times New Roman" pitchFamily="18" charset="0"/>
                <a:cs typeface="Times New Roman" pitchFamily="18" charset="0"/>
              </a:rPr>
              <a:t>chaacteristics</a:t>
            </a:r>
            <a:r>
              <a:rPr lang="en-US" sz="1600" dirty="0">
                <a:latin typeface="Times New Roman" pitchFamily="18" charset="0"/>
                <a:cs typeface="Times New Roman" pitchFamily="18" charset="0"/>
              </a:rPr>
              <a:t> </a:t>
            </a:r>
          </a:p>
          <a:p>
            <a:pPr algn="ctr">
              <a:buNone/>
              <a:defRPr/>
            </a:pPr>
            <a:r>
              <a:rPr lang="en-US" sz="1400" dirty="0" err="1">
                <a:latin typeface="Times New Roman" pitchFamily="18" charset="0"/>
                <a:cs typeface="Times New Roman" pitchFamily="18" charset="0"/>
              </a:rPr>
              <a:t>Source:https</a:t>
            </a:r>
            <a:r>
              <a:rPr lang="en-US" sz="1400" dirty="0">
                <a:latin typeface="Times New Roman" pitchFamily="18" charset="0"/>
                <a:cs typeface="Times New Roman" pitchFamily="18" charset="0"/>
              </a:rPr>
              <a:t>://</a:t>
            </a:r>
            <a:r>
              <a:rPr lang="en-US" sz="1400" dirty="0" err="1">
                <a:latin typeface="Times New Roman" pitchFamily="18" charset="0"/>
                <a:cs typeface="Times New Roman" pitchFamily="18" charset="0"/>
              </a:rPr>
              <a:t>qph.fs.quoracdn.net</a:t>
            </a:r>
            <a:r>
              <a:rPr lang="en-US" sz="1400" dirty="0">
                <a:latin typeface="Times New Roman" pitchFamily="18" charset="0"/>
                <a:cs typeface="Times New Roman" pitchFamily="18" charset="0"/>
              </a:rPr>
              <a:t>/main-qimg-0472d889e300e0e4fa01a557f19c2243</a:t>
            </a:r>
          </a:p>
          <a:p>
            <a:pPr>
              <a:defRPr/>
            </a:pPr>
            <a:endParaRPr lang="en-US" dirty="0">
              <a:latin typeface="Times New Roman" pitchFamily="18" charset="0"/>
              <a:cs typeface="Times New Roman" pitchFamily="18" charset="0"/>
            </a:endParaRPr>
          </a:p>
          <a:p>
            <a:pPr>
              <a:defRPr/>
            </a:pPr>
            <a:r>
              <a:rPr lang="en-US" dirty="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pic>
        <p:nvPicPr>
          <p:cNvPr id="206851" name="Picture 3"/>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3598985" y="1766888"/>
            <a:ext cx="5146430" cy="3324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xmlns="" val="604911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Input characteristics</a:t>
            </a:r>
            <a:endParaRPr lang="en-IN" b="1" dirty="0"/>
          </a:p>
        </p:txBody>
      </p:sp>
      <p:sp>
        <p:nvSpPr>
          <p:cNvPr id="3" name="Content Placeholder 2"/>
          <p:cNvSpPr>
            <a:spLocks noGrp="1"/>
          </p:cNvSpPr>
          <p:nvPr>
            <p:ph idx="1"/>
          </p:nvPr>
        </p:nvSpPr>
        <p:spPr>
          <a:xfrm>
            <a:off x="838200" y="1590494"/>
            <a:ext cx="10515600" cy="4351338"/>
          </a:xfrm>
        </p:spPr>
        <p:txBody>
          <a:bodyPr>
            <a:normAutofit fontScale="92500" lnSpcReduction="10000"/>
          </a:bodyPr>
          <a:lstStyle/>
          <a:p>
            <a:pPr marL="342900" indent="-342900">
              <a:spcBef>
                <a:spcPct val="20000"/>
              </a:spcBef>
              <a:buClr>
                <a:schemeClr val="hlink"/>
              </a:buClr>
              <a:buSzPct val="70000"/>
              <a:defRPr/>
            </a:pPr>
            <a:endParaRPr lang="en-US" dirty="0"/>
          </a:p>
          <a:p>
            <a:r>
              <a:rPr lang="en-IN" dirty="0"/>
              <a:t>A curve is then drawn between input current I</a:t>
            </a:r>
            <a:r>
              <a:rPr lang="en-IN" baseline="-25000" dirty="0"/>
              <a:t>B</a:t>
            </a:r>
            <a:r>
              <a:rPr lang="en-IN" dirty="0"/>
              <a:t> and input voltage V</a:t>
            </a:r>
            <a:r>
              <a:rPr lang="en-IN" baseline="-25000" dirty="0"/>
              <a:t>BE</a:t>
            </a:r>
            <a:r>
              <a:rPr lang="en-IN" dirty="0"/>
              <a:t> at constant output voltage V</a:t>
            </a:r>
            <a:r>
              <a:rPr lang="en-IN" baseline="-25000" dirty="0"/>
              <a:t>CE </a:t>
            </a:r>
            <a:r>
              <a:rPr lang="en-IN" dirty="0"/>
              <a:t>(0 volts).</a:t>
            </a:r>
          </a:p>
          <a:p>
            <a:r>
              <a:rPr lang="en-IN" dirty="0"/>
              <a:t>Next, the output voltage (V</a:t>
            </a:r>
            <a:r>
              <a:rPr lang="en-IN" baseline="-25000" dirty="0"/>
              <a:t>CE</a:t>
            </a:r>
            <a:r>
              <a:rPr lang="en-IN" dirty="0"/>
              <a:t>) is increased from zero volts to certain voltage level (10 volts) and the output voltage (V</a:t>
            </a:r>
            <a:r>
              <a:rPr lang="en-IN" baseline="-25000" dirty="0"/>
              <a:t>CE</a:t>
            </a:r>
            <a:r>
              <a:rPr lang="en-IN" dirty="0"/>
              <a:t>) is kept constant at 10 volts. While increasing the output voltage (V</a:t>
            </a:r>
            <a:r>
              <a:rPr lang="en-IN" baseline="-25000" dirty="0"/>
              <a:t>CE</a:t>
            </a:r>
            <a:r>
              <a:rPr lang="en-IN" dirty="0"/>
              <a:t>), the input voltage (V</a:t>
            </a:r>
            <a:r>
              <a:rPr lang="en-IN" baseline="-25000" dirty="0"/>
              <a:t>BE</a:t>
            </a:r>
            <a:r>
              <a:rPr lang="en-IN" dirty="0"/>
              <a:t>) is kept constant at zero volts. After we kept the output voltage (V</a:t>
            </a:r>
            <a:r>
              <a:rPr lang="en-IN" baseline="-25000" dirty="0"/>
              <a:t>CE</a:t>
            </a:r>
            <a:r>
              <a:rPr lang="en-IN" dirty="0"/>
              <a:t>) constant at 10 volts, the input voltage V</a:t>
            </a:r>
            <a:r>
              <a:rPr lang="en-IN" baseline="-25000" dirty="0"/>
              <a:t>BE</a:t>
            </a:r>
            <a:r>
              <a:rPr lang="en-IN" dirty="0"/>
              <a:t> is increased from zero volts to different voltage levels. For each voltage level of input voltage (V</a:t>
            </a:r>
            <a:r>
              <a:rPr lang="en-IN" baseline="-25000" dirty="0"/>
              <a:t>BE</a:t>
            </a:r>
            <a:r>
              <a:rPr lang="en-IN" dirty="0"/>
              <a:t>), the corresponding input current (I</a:t>
            </a:r>
            <a:r>
              <a:rPr lang="en-IN" baseline="-25000" dirty="0"/>
              <a:t>B</a:t>
            </a:r>
            <a:r>
              <a:rPr lang="en-IN" dirty="0"/>
              <a:t>) is recorded.</a:t>
            </a:r>
          </a:p>
          <a:p>
            <a:r>
              <a:rPr lang="en-IN" dirty="0"/>
              <a:t>A curve is then drawn between input current I</a:t>
            </a:r>
            <a:r>
              <a:rPr lang="en-IN" baseline="-25000" dirty="0"/>
              <a:t>B</a:t>
            </a:r>
            <a:r>
              <a:rPr lang="en-IN" dirty="0"/>
              <a:t> and input voltage V</a:t>
            </a:r>
            <a:r>
              <a:rPr lang="en-IN" baseline="-25000" dirty="0"/>
              <a:t>BE</a:t>
            </a:r>
            <a:r>
              <a:rPr lang="en-IN" dirty="0"/>
              <a:t> at constant output voltage V</a:t>
            </a:r>
            <a:r>
              <a:rPr lang="en-IN" baseline="-25000" dirty="0"/>
              <a:t>CE </a:t>
            </a:r>
            <a:r>
              <a:rPr lang="en-IN" dirty="0"/>
              <a:t>(10 volts).</a:t>
            </a:r>
          </a:p>
          <a:p>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1234" y="365126"/>
            <a:ext cx="9642566" cy="954224"/>
          </a:xfrm>
        </p:spPr>
        <p:txBody>
          <a:bodyPr>
            <a:normAutofit fontScale="90000"/>
          </a:bodyPr>
          <a:lstStyle/>
          <a:p>
            <a:pPr algn="ctr"/>
            <a:r>
              <a:rPr lang="en-IN" b="1" dirty="0">
                <a:latin typeface="Times New Roman" pitchFamily="18" charset="0"/>
                <a:cs typeface="Times New Roman" pitchFamily="18" charset="0"/>
              </a:rPr>
              <a:t> </a:t>
            </a:r>
            <a:r>
              <a:rPr lang="en-IN" dirty="0"/>
              <a:t>Input characteristics</a:t>
            </a:r>
            <a:r>
              <a:rPr lang="en-IN" b="1" dirty="0">
                <a:solidFill>
                  <a:srgbClr val="FF00FF"/>
                </a:solidFill>
              </a:rPr>
              <a:t/>
            </a:r>
            <a:br>
              <a:rPr lang="en-IN" b="1" dirty="0">
                <a:solidFill>
                  <a:srgbClr val="FF00FF"/>
                </a:solidFill>
              </a:rPr>
            </a:br>
            <a:endParaRPr lang="en-US" b="1" dirty="0">
              <a:solidFill>
                <a:srgbClr val="FF00FF"/>
              </a:solidFill>
              <a:latin typeface="Times New Roman" pitchFamily="18" charset="0"/>
              <a:cs typeface="Times New Roman" pitchFamily="18" charset="0"/>
            </a:endParaRPr>
          </a:p>
        </p:txBody>
      </p:sp>
      <p:sp>
        <p:nvSpPr>
          <p:cNvPr id="3" name="Content Placeholder 2"/>
          <p:cNvSpPr>
            <a:spLocks noGrp="1"/>
          </p:cNvSpPr>
          <p:nvPr>
            <p:ph idx="1"/>
          </p:nvPr>
        </p:nvSpPr>
        <p:spPr>
          <a:xfrm>
            <a:off x="812074" y="1263922"/>
            <a:ext cx="10515600" cy="4351338"/>
          </a:xfrm>
        </p:spPr>
        <p:txBody>
          <a:bodyPr>
            <a:normAutofit lnSpcReduction="10000"/>
          </a:bodyPr>
          <a:lstStyle/>
          <a:p>
            <a:r>
              <a:rPr lang="en-IN" dirty="0"/>
              <a:t>This process is repeated for higher fixed values of output voltage (V</a:t>
            </a:r>
            <a:r>
              <a:rPr lang="en-IN" baseline="-25000" dirty="0"/>
              <a:t>CE</a:t>
            </a:r>
            <a:r>
              <a:rPr lang="en-IN" dirty="0"/>
              <a:t>).</a:t>
            </a:r>
          </a:p>
          <a:p>
            <a:r>
              <a:rPr lang="en-IN" dirty="0"/>
              <a:t>When output voltage (V</a:t>
            </a:r>
            <a:r>
              <a:rPr lang="en-IN" baseline="-25000" dirty="0"/>
              <a:t>CE</a:t>
            </a:r>
            <a:r>
              <a:rPr lang="en-IN" dirty="0"/>
              <a:t>) is at zero volts and emitter-base junction is forward biased by input voltage (V</a:t>
            </a:r>
            <a:r>
              <a:rPr lang="en-IN" baseline="-25000" dirty="0"/>
              <a:t>BE</a:t>
            </a:r>
            <a:r>
              <a:rPr lang="en-IN" dirty="0"/>
              <a:t>), the emitter-base junction acts like a normal</a:t>
            </a:r>
            <a:r>
              <a:rPr lang="en-IN" dirty="0">
                <a:hlinkClick r:id="rId3"/>
              </a:rPr>
              <a:t> p-n junction diode</a:t>
            </a:r>
            <a:r>
              <a:rPr lang="en-IN" dirty="0"/>
              <a:t>. So the input characteristics of the CE configuration is same as the characteristics of a normal </a:t>
            </a:r>
            <a:r>
              <a:rPr lang="en-IN" dirty="0" err="1"/>
              <a:t>pn</a:t>
            </a:r>
            <a:r>
              <a:rPr lang="en-IN" dirty="0"/>
              <a:t> junction diode.</a:t>
            </a:r>
          </a:p>
          <a:p>
            <a:r>
              <a:rPr lang="en-IN" dirty="0"/>
              <a:t>The cut in voltage of a silicon transistor is 0.7 volts and germanium transistor is 0.3 volts. In our case, it is a silicon transistor. So from the above graph, we can see that after 0.7 volts, a small increase in input voltage (V</a:t>
            </a:r>
            <a:r>
              <a:rPr lang="en-IN" baseline="-25000" dirty="0"/>
              <a:t>BE</a:t>
            </a:r>
            <a:r>
              <a:rPr lang="en-IN" dirty="0"/>
              <a:t>) will rapidly increases the input current (I</a:t>
            </a:r>
            <a:r>
              <a:rPr lang="en-IN" baseline="-25000" dirty="0"/>
              <a:t>B</a:t>
            </a:r>
            <a:r>
              <a:rPr lang="en-IN" dirty="0"/>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Input characteristics</a:t>
            </a:r>
            <a:endParaRPr lang="en-IN" b="1" dirty="0"/>
          </a:p>
        </p:txBody>
      </p:sp>
      <p:sp>
        <p:nvSpPr>
          <p:cNvPr id="3" name="Content Placeholder 2"/>
          <p:cNvSpPr>
            <a:spLocks noGrp="1"/>
          </p:cNvSpPr>
          <p:nvPr>
            <p:ph idx="1"/>
          </p:nvPr>
        </p:nvSpPr>
        <p:spPr>
          <a:xfrm>
            <a:off x="772885" y="1577429"/>
            <a:ext cx="9789607" cy="5093002"/>
          </a:xfrm>
        </p:spPr>
        <p:txBody>
          <a:bodyPr>
            <a:normAutofit fontScale="92500" lnSpcReduction="10000"/>
          </a:bodyPr>
          <a:lstStyle/>
          <a:p>
            <a:pPr algn="just"/>
            <a:r>
              <a:rPr lang="en-IN" dirty="0"/>
              <a:t>In common emitter (CE) configuration, the input current (I</a:t>
            </a:r>
            <a:r>
              <a:rPr lang="en-IN" baseline="-25000" dirty="0"/>
              <a:t>B</a:t>
            </a:r>
            <a:r>
              <a:rPr lang="en-IN" dirty="0"/>
              <a:t>) is very small as compared to the input current  (I</a:t>
            </a:r>
            <a:r>
              <a:rPr lang="en-IN" baseline="-25000" dirty="0"/>
              <a:t>E</a:t>
            </a:r>
            <a:r>
              <a:rPr lang="en-IN" dirty="0"/>
              <a:t>) in </a:t>
            </a:r>
            <a:r>
              <a:rPr lang="en-IN" dirty="0">
                <a:hlinkClick r:id="rId3"/>
              </a:rPr>
              <a:t>common base (CB) configuration</a:t>
            </a:r>
            <a:r>
              <a:rPr lang="en-IN" dirty="0"/>
              <a:t>. The input current in CE configuration is measured in microamperes (</a:t>
            </a:r>
            <a:r>
              <a:rPr lang="en-IN" dirty="0" err="1"/>
              <a:t>μA</a:t>
            </a:r>
            <a:r>
              <a:rPr lang="en-IN" dirty="0"/>
              <a:t>) whereas the input current in CB configuration is measured in </a:t>
            </a:r>
            <a:r>
              <a:rPr lang="en-IN" dirty="0" err="1"/>
              <a:t>milliamperes</a:t>
            </a:r>
            <a:r>
              <a:rPr lang="en-IN" dirty="0"/>
              <a:t> (mA).</a:t>
            </a:r>
          </a:p>
          <a:p>
            <a:pPr algn="just"/>
            <a:r>
              <a:rPr lang="en-IN" dirty="0"/>
              <a:t>In common emitter (CE) configuration, the input current (I</a:t>
            </a:r>
            <a:r>
              <a:rPr lang="en-IN" baseline="-25000" dirty="0"/>
              <a:t>B</a:t>
            </a:r>
            <a:r>
              <a:rPr lang="en-IN" dirty="0"/>
              <a:t>) is produced in the base region which is lightly doped and has small width. So the base region produces only a small input current (I</a:t>
            </a:r>
            <a:r>
              <a:rPr lang="en-IN" baseline="-25000" dirty="0"/>
              <a:t>B</a:t>
            </a:r>
            <a:r>
              <a:rPr lang="en-IN" dirty="0"/>
              <a:t>). On the other hand, in common base (CB) configuration, the input current (I</a:t>
            </a:r>
            <a:r>
              <a:rPr lang="en-IN" baseline="-25000" dirty="0"/>
              <a:t>E</a:t>
            </a:r>
            <a:r>
              <a:rPr lang="en-IN" dirty="0"/>
              <a:t>) is produced in the emitter region which is heavily doped and has large width. So the emitter region produces a large input current (I</a:t>
            </a:r>
            <a:r>
              <a:rPr lang="en-IN" baseline="-25000" dirty="0"/>
              <a:t>E</a:t>
            </a:r>
            <a:r>
              <a:rPr lang="en-IN" dirty="0"/>
              <a:t>). Therefore, the input current (I</a:t>
            </a:r>
            <a:r>
              <a:rPr lang="en-IN" baseline="-25000" dirty="0"/>
              <a:t>B</a:t>
            </a:r>
            <a:r>
              <a:rPr lang="en-IN" dirty="0"/>
              <a:t>) produced in the common emitter (CE) configuration is small as compared to the common base (CB) configuration.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Output characteristics</a:t>
            </a:r>
            <a:endParaRPr lang="en-IN" b="1" dirty="0"/>
          </a:p>
        </p:txBody>
      </p:sp>
      <p:sp>
        <p:nvSpPr>
          <p:cNvPr id="3" name="Content Placeholder 2"/>
          <p:cNvSpPr>
            <a:spLocks noGrp="1"/>
          </p:cNvSpPr>
          <p:nvPr>
            <p:ph idx="1"/>
          </p:nvPr>
        </p:nvSpPr>
        <p:spPr>
          <a:xfrm>
            <a:off x="1148862" y="5533291"/>
            <a:ext cx="8628184" cy="492371"/>
          </a:xfrm>
        </p:spPr>
        <p:txBody>
          <a:bodyPr>
            <a:noAutofit/>
          </a:bodyPr>
          <a:lstStyle/>
          <a:p>
            <a:pPr algn="ctr"/>
            <a:r>
              <a:rPr lang="en-US" sz="1400" dirty="0">
                <a:latin typeface="Times New Roman" pitchFamily="18" charset="0"/>
                <a:cs typeface="Times New Roman" pitchFamily="18" charset="0"/>
              </a:rPr>
              <a:t>Fig-3 </a:t>
            </a:r>
            <a:r>
              <a:rPr lang="en-IN" sz="1400" dirty="0">
                <a:latin typeface="Times New Roman" pitchFamily="18" charset="0"/>
                <a:cs typeface="Times New Roman" pitchFamily="18" charset="0"/>
              </a:rPr>
              <a:t>Output characteristics</a:t>
            </a:r>
            <a:endParaRPr lang="en-US" sz="1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pic>
        <p:nvPicPr>
          <p:cNvPr id="206850" name="Picture 2" descr="https://i.stack.imgur.com/49eBH.jpg"/>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2813538" y="1535724"/>
            <a:ext cx="6359013" cy="3751384"/>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p:cNvSpPr/>
          <p:nvPr/>
        </p:nvSpPr>
        <p:spPr>
          <a:xfrm>
            <a:off x="738555" y="6198984"/>
            <a:ext cx="7501430" cy="369332"/>
          </a:xfrm>
          <a:prstGeom prst="rect">
            <a:avLst/>
          </a:prstGeom>
        </p:spPr>
        <p:txBody>
          <a:bodyPr wrap="square">
            <a:spAutoFit/>
          </a:bodyPr>
          <a:lstStyle/>
          <a:p>
            <a:pPr algn="ctr">
              <a:defRPr/>
            </a:pPr>
            <a:r>
              <a:rPr lang="en-US" dirty="0" err="1"/>
              <a:t>Source:https</a:t>
            </a:r>
            <a:r>
              <a:rPr lang="en-US" dirty="0"/>
              <a:t>://</a:t>
            </a:r>
            <a:r>
              <a:rPr lang="en-US" dirty="0" err="1"/>
              <a:t>i.stack.imgur.com</a:t>
            </a:r>
            <a:r>
              <a:rPr lang="en-US" dirty="0"/>
              <a:t>/49eBH.jpg</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t>Injection </a:t>
            </a:r>
            <a:r>
              <a:rPr lang="en-IN" dirty="0" err="1"/>
              <a:t>efficicency</a:t>
            </a:r>
            <a:r>
              <a:rPr lang="en-IN"/>
              <a:t> </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1203961" y="1590493"/>
            <a:ext cx="9862624" cy="4351338"/>
          </a:xfrm>
        </p:spPr>
        <p:txBody>
          <a:bodyPr>
            <a:noAutofit/>
          </a:bodyPr>
          <a:lstStyle/>
          <a:p>
            <a:r>
              <a:rPr lang="en-IN" dirty="0"/>
              <a:t>A curve is then drawn between output current I</a:t>
            </a:r>
            <a:r>
              <a:rPr lang="en-IN" baseline="-25000" dirty="0"/>
              <a:t>C</a:t>
            </a:r>
            <a:r>
              <a:rPr lang="en-IN" dirty="0"/>
              <a:t> and output voltage V</a:t>
            </a:r>
            <a:r>
              <a:rPr lang="en-IN" baseline="-25000" dirty="0"/>
              <a:t>CE</a:t>
            </a:r>
            <a:r>
              <a:rPr lang="en-IN" dirty="0"/>
              <a:t> at constant input current I</a:t>
            </a:r>
            <a:r>
              <a:rPr lang="en-IN" baseline="-25000" dirty="0"/>
              <a:t>B </a:t>
            </a:r>
            <a:r>
              <a:rPr lang="en-IN" dirty="0"/>
              <a:t>(0 </a:t>
            </a:r>
            <a:r>
              <a:rPr lang="en-IN" dirty="0" err="1"/>
              <a:t>μA</a:t>
            </a:r>
            <a:r>
              <a:rPr lang="en-IN" dirty="0"/>
              <a:t>).</a:t>
            </a:r>
          </a:p>
          <a:p>
            <a:r>
              <a:rPr lang="en-IN" dirty="0"/>
              <a:t>When the base current or input current I</a:t>
            </a:r>
            <a:r>
              <a:rPr lang="en-IN" baseline="-25000" dirty="0"/>
              <a:t>B</a:t>
            </a:r>
            <a:r>
              <a:rPr lang="en-IN" dirty="0"/>
              <a:t> = 0 </a:t>
            </a:r>
            <a:r>
              <a:rPr lang="en-IN" dirty="0" err="1"/>
              <a:t>μA</a:t>
            </a:r>
            <a:r>
              <a:rPr lang="en-IN" dirty="0"/>
              <a:t>, the transistor operates in the cut-off region. In this region, both junctions are reverse biased.</a:t>
            </a:r>
          </a:p>
          <a:p>
            <a:r>
              <a:rPr lang="en-IN" dirty="0"/>
              <a:t>Next, the input current (I</a:t>
            </a:r>
            <a:r>
              <a:rPr lang="en-IN" baseline="-25000" dirty="0"/>
              <a:t>B</a:t>
            </a:r>
            <a:r>
              <a:rPr lang="en-IN" dirty="0"/>
              <a:t>) is increased from 0 </a:t>
            </a:r>
            <a:r>
              <a:rPr lang="en-IN" dirty="0" err="1"/>
              <a:t>μA</a:t>
            </a:r>
            <a:r>
              <a:rPr lang="en-IN" dirty="0"/>
              <a:t> to 20 </a:t>
            </a:r>
            <a:r>
              <a:rPr lang="en-IN" dirty="0" err="1"/>
              <a:t>μA</a:t>
            </a:r>
            <a:r>
              <a:rPr lang="en-IN" dirty="0"/>
              <a:t> by adjusting the input voltage (V</a:t>
            </a:r>
            <a:r>
              <a:rPr lang="en-IN" baseline="-25000" dirty="0"/>
              <a:t>BE</a:t>
            </a:r>
            <a:r>
              <a:rPr lang="en-IN" dirty="0"/>
              <a:t>). The input current (I</a:t>
            </a:r>
            <a:r>
              <a:rPr lang="en-IN" baseline="-25000" dirty="0"/>
              <a:t>B</a:t>
            </a:r>
            <a:r>
              <a:rPr lang="en-IN" dirty="0"/>
              <a:t>)</a:t>
            </a:r>
            <a:r>
              <a:rPr lang="en-IN" baseline="-25000" dirty="0"/>
              <a:t> </a:t>
            </a:r>
            <a:r>
              <a:rPr lang="en-IN" dirty="0"/>
              <a:t>is kept constant at 20 </a:t>
            </a:r>
            <a:r>
              <a:rPr lang="en-IN" dirty="0" err="1"/>
              <a:t>μA</a:t>
            </a:r>
            <a:r>
              <a:rPr lang="en-IN" dirty="0"/>
              <a:t>.</a:t>
            </a:r>
          </a:p>
          <a:p>
            <a:r>
              <a:rPr lang="en-IN" dirty="0"/>
              <a:t>While increasing the input current (I</a:t>
            </a:r>
            <a:r>
              <a:rPr lang="en-IN" baseline="-25000" dirty="0"/>
              <a:t>B</a:t>
            </a:r>
            <a:r>
              <a:rPr lang="en-IN" dirty="0"/>
              <a:t>), the output voltage (V</a:t>
            </a:r>
            <a:r>
              <a:rPr lang="en-IN" baseline="-25000" dirty="0"/>
              <a:t>CE</a:t>
            </a:r>
            <a:r>
              <a:rPr lang="en-IN" dirty="0"/>
              <a:t>) is kept constant at 0 volts.</a:t>
            </a:r>
          </a:p>
          <a:p>
            <a:r>
              <a:rPr lang="en-IN" dirty="0"/>
              <a:t>After we kept the input current (I</a:t>
            </a:r>
            <a:r>
              <a:rPr lang="en-IN" baseline="-25000" dirty="0"/>
              <a:t>B</a:t>
            </a:r>
            <a:r>
              <a:rPr lang="en-IN" dirty="0"/>
              <a:t>) constant at 20 </a:t>
            </a:r>
            <a:r>
              <a:rPr lang="en-IN" dirty="0" err="1"/>
              <a:t>μA</a:t>
            </a:r>
            <a:r>
              <a:rPr lang="en-IN" dirty="0"/>
              <a:t>, the output voltage (V</a:t>
            </a:r>
            <a:r>
              <a:rPr lang="en-IN" baseline="-25000" dirty="0"/>
              <a:t>CE</a:t>
            </a:r>
            <a:r>
              <a:rPr lang="en-IN" dirty="0"/>
              <a:t>) is increased from zero volts to different voltage levels. For each voltage level of output voltage (V</a:t>
            </a:r>
            <a:r>
              <a:rPr lang="en-IN" baseline="-25000" dirty="0"/>
              <a:t>CE</a:t>
            </a:r>
            <a:r>
              <a:rPr lang="en-IN" dirty="0"/>
              <a:t>), the corresponding output current (I</a:t>
            </a:r>
            <a:r>
              <a:rPr lang="en-IN" baseline="-25000" dirty="0"/>
              <a:t>C</a:t>
            </a:r>
            <a:r>
              <a:rPr lang="en-IN" dirty="0"/>
              <a:t>) is recorded.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Summary</a:t>
            </a:r>
          </a:p>
        </p:txBody>
      </p:sp>
      <p:sp>
        <p:nvSpPr>
          <p:cNvPr id="3" name="Content Placeholder 2"/>
          <p:cNvSpPr>
            <a:spLocks noGrp="1"/>
          </p:cNvSpPr>
          <p:nvPr>
            <p:ph idx="1"/>
          </p:nvPr>
        </p:nvSpPr>
        <p:spPr>
          <a:xfrm>
            <a:off x="825137" y="1603557"/>
            <a:ext cx="10515600" cy="4351338"/>
          </a:xfrm>
        </p:spPr>
        <p:txBody>
          <a:bodyPr/>
          <a:lstStyle/>
          <a:p>
            <a:pPr>
              <a:buFont typeface="Wingdings" pitchFamily="2" charset="2"/>
              <a:buChar char="ü"/>
            </a:pPr>
            <a:r>
              <a:rPr lang="en-US" dirty="0"/>
              <a:t>Introduction to </a:t>
            </a:r>
            <a:r>
              <a:rPr lang="en-IN" dirty="0"/>
              <a:t>Common Emitter Configuration</a:t>
            </a:r>
            <a:r>
              <a:rPr lang="en-US" dirty="0"/>
              <a:t>.</a:t>
            </a:r>
          </a:p>
          <a:p>
            <a:pPr>
              <a:buFont typeface="Wingdings" pitchFamily="2" charset="2"/>
              <a:buChar char="ü"/>
            </a:pPr>
            <a:r>
              <a:rPr lang="en-US" dirty="0"/>
              <a:t>Block diagram of </a:t>
            </a:r>
            <a:r>
              <a:rPr lang="en-IN" dirty="0"/>
              <a:t>Input characteristics</a:t>
            </a:r>
          </a:p>
          <a:p>
            <a:pPr>
              <a:buFont typeface="Wingdings" pitchFamily="2" charset="2"/>
              <a:buChar char="ü"/>
            </a:pPr>
            <a:r>
              <a:rPr lang="en-IN" dirty="0"/>
              <a:t>Input characteristics AND Output characteristics</a:t>
            </a:r>
            <a:r>
              <a:rPr lang="en-US" dirty="0"/>
              <a:t>.</a:t>
            </a:r>
          </a:p>
          <a:p>
            <a:pPr>
              <a:buFont typeface="Wingdings" pitchFamily="2" charset="2"/>
              <a:buChar char="ü"/>
            </a:pPr>
            <a:r>
              <a:rPr lang="en-US" dirty="0"/>
              <a:t>Applications of </a:t>
            </a:r>
            <a:r>
              <a:rPr lang="en-IN" dirty="0"/>
              <a:t>Common Emitter Configuration</a:t>
            </a:r>
            <a:r>
              <a:rPr lang="en-US" dirty="0"/>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ustDataLst>
      <p:tags r:id="rId1"/>
    </p:custDataLst>
    <p:extLst>
      <p:ext uri="{BB962C8B-B14F-4D97-AF65-F5344CB8AC3E}">
        <p14:creationId xmlns:p14="http://schemas.microsoft.com/office/powerpoint/2010/main" xmlns="" val="283549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Frequently Asked Questions</a:t>
            </a:r>
          </a:p>
        </p:txBody>
      </p:sp>
      <p:sp>
        <p:nvSpPr>
          <p:cNvPr id="3" name="Content Placeholder 2"/>
          <p:cNvSpPr>
            <a:spLocks noGrp="1"/>
          </p:cNvSpPr>
          <p:nvPr>
            <p:ph idx="1"/>
          </p:nvPr>
        </p:nvSpPr>
        <p:spPr/>
        <p:txBody>
          <a:bodyPr/>
          <a:lstStyle/>
          <a:p>
            <a:pPr marL="514350" indent="-514350" algn="just">
              <a:buFont typeface="+mj-lt"/>
              <a:buAutoNum type="arabicPeriod"/>
            </a:pPr>
            <a:r>
              <a:rPr lang="en-IN" dirty="0">
                <a:latin typeface="Times New Roman" pitchFamily="18" charset="0"/>
                <a:cs typeface="Times New Roman" pitchFamily="18" charset="0"/>
              </a:rPr>
              <a:t>Explain </a:t>
            </a:r>
            <a:r>
              <a:rPr lang="en-IN" dirty="0"/>
              <a:t>Input characteristics</a:t>
            </a:r>
            <a:r>
              <a:rPr lang="en-IN" dirty="0">
                <a:latin typeface="Times New Roman" pitchFamily="18" charset="0"/>
                <a:cs typeface="Times New Roman" pitchFamily="18" charset="0"/>
              </a:rPr>
              <a:t>?</a:t>
            </a:r>
          </a:p>
          <a:p>
            <a:pPr marL="514350" indent="-514350" algn="just">
              <a:buFont typeface="+mj-lt"/>
              <a:buAutoNum type="arabicPeriod"/>
            </a:pPr>
            <a:endParaRPr lang="en-IN" dirty="0">
              <a:latin typeface="Times New Roman" pitchFamily="18" charset="0"/>
              <a:cs typeface="Times New Roman" pitchFamily="18" charset="0"/>
            </a:endParaRPr>
          </a:p>
          <a:p>
            <a:pPr marL="514350" indent="-514350" algn="just">
              <a:buFont typeface="+mj-lt"/>
              <a:buAutoNum type="arabicPeriod"/>
            </a:pPr>
            <a:r>
              <a:rPr lang="en-IN" dirty="0">
                <a:latin typeface="Times New Roman" pitchFamily="18" charset="0"/>
                <a:cs typeface="Times New Roman" pitchFamily="18" charset="0"/>
              </a:rPr>
              <a:t>Explain </a:t>
            </a:r>
            <a:r>
              <a:rPr lang="en-IN" dirty="0"/>
              <a:t>Output characteristics</a:t>
            </a:r>
            <a:r>
              <a:rPr lang="en-IN" dirty="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buNone/>
            </a:pPr>
            <a:r>
              <a:rPr lang="en-IN" sz="2800" dirty="0">
                <a:latin typeface="Times New Roman" pitchFamily="18" charset="0"/>
                <a:cs typeface="Times New Roman" pitchFamily="18" charset="0"/>
              </a:rPr>
              <a:t> </a:t>
            </a:r>
            <a:r>
              <a:rPr lang="en-IN" sz="2000" dirty="0">
                <a:latin typeface="Times New Roman" pitchFamily="18" charset="0"/>
                <a:cs typeface="Times New Roman" pitchFamily="18" charset="0"/>
              </a:rPr>
              <a:t>To make students understand</a:t>
            </a:r>
          </a:p>
          <a:p>
            <a:r>
              <a:rPr lang="en-US" sz="2000" dirty="0">
                <a:latin typeface="Times New Roman" pitchFamily="18" charset="0"/>
                <a:cs typeface="Times New Roman" pitchFamily="18" charset="0"/>
              </a:rPr>
              <a:t> Concepts of CE configuration</a:t>
            </a:r>
          </a:p>
          <a:p>
            <a:r>
              <a:rPr lang="en-US" sz="2000" dirty="0">
                <a:latin typeface="Times New Roman" pitchFamily="18" charset="0"/>
                <a:cs typeface="Times New Roman" pitchFamily="18" charset="0"/>
              </a:rPr>
              <a:t>Concepts of </a:t>
            </a:r>
            <a:r>
              <a:rPr lang="en-IN" sz="2000" dirty="0">
                <a:latin typeface="Times New Roman" pitchFamily="18" charset="0"/>
                <a:cs typeface="Times New Roman" pitchFamily="18" charset="0"/>
              </a:rPr>
              <a:t>Input characteristics</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Concepts of </a:t>
            </a:r>
            <a:r>
              <a:rPr lang="en-IN" sz="2000" dirty="0">
                <a:latin typeface="Times New Roman" pitchFamily="18" charset="0"/>
                <a:cs typeface="Times New Roman" pitchFamily="18" charset="0"/>
              </a:rPr>
              <a:t>Output characteristics</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19</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ea typeface="Karla" pitchFamily="2" charset="0"/>
                <a:cs typeface="Karla" pitchFamily="2" charset="0"/>
              </a:rPr>
              <a:t>LEARNING OUTCOMES</a:t>
            </a:r>
            <a:r>
              <a:rPr lang="en-US" sz="4400" b="1" dirty="0">
                <a:solidFill>
                  <a:srgbClr val="FF00FF"/>
                </a:solidFill>
                <a:latin typeface="Casper"/>
                <a:ea typeface="Karla" pitchFamily="2" charset="0"/>
                <a:cs typeface="Karla" pitchFamily="2" charset="0"/>
              </a:rPr>
              <a:t/>
            </a:r>
            <a:br>
              <a:rPr lang="en-US" sz="4400" b="1" dirty="0">
                <a:solidFill>
                  <a:srgbClr val="FF00FF"/>
                </a:solidFill>
                <a:latin typeface="Casper"/>
                <a:ea typeface="Karla" pitchFamily="2" charset="0"/>
                <a:cs typeface="Karla" pitchFamily="2" charset="0"/>
              </a:rPr>
            </a:br>
            <a:endParaRPr lang="en-US" sz="4400" dirty="0">
              <a:solidFill>
                <a:srgbClr val="FF00FF"/>
              </a:solidFill>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3" cstate="print"/>
          <a:srcRect/>
          <a:stretch>
            <a:fillRect/>
          </a:stretch>
        </p:blipFill>
        <p:spPr bwMode="auto">
          <a:xfrm>
            <a:off x="304800" y="304801"/>
            <a:ext cx="812800" cy="97606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xmlns="" val="693801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1" y="1560582"/>
            <a:ext cx="10683240" cy="4679678"/>
          </a:xfrm>
        </p:spPr>
        <p:txBody>
          <a:bodyPr>
            <a:normAutofit fontScale="92500" lnSpcReduction="20000"/>
          </a:bodyPr>
          <a:lstStyle/>
          <a:p>
            <a:pPr marL="0" indent="0">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 Circuits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Adel 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Sedra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and Kenneth Carless Smith, Oxford University Press.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Millman’s</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Integrated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Christos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Halkias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Chetan Parikh, McGraw Hill Education.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Digital Logic &amp; Computer Design,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M. Morris Mano, Pearson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Principles of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V K Mehta , Rohit Mehta,  12/e , S. Chand Publishing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Solid State Electronic Devices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,6</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Ben Streetman, Sanjay Banerjee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Principle</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Albert Paul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Malvino</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Circuits:Discrete</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&amp; Integrated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D Schilling C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BeloveTApelewiczRSaccardi</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Arvin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Grabel</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Devices &amp;</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Salivahanan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N. Suresh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Kumar,A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Vallavaraj</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Devices &amp; Circuit Theory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11</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Robert 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Boylestad,LouisNashelsky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dirty="0"/>
          </a:p>
        </p:txBody>
      </p:sp>
      <p:sp>
        <p:nvSpPr>
          <p:cNvPr id="5" name="Title 4"/>
          <p:cNvSpPr>
            <a:spLocks noGrp="1"/>
          </p:cNvSpPr>
          <p:nvPr>
            <p:ph type="title"/>
          </p:nvPr>
        </p:nvSpPr>
        <p:spPr/>
        <p:txBody>
          <a:bodyPr/>
          <a:lstStyle/>
          <a:p>
            <a:pPr algn="ctr"/>
            <a:r>
              <a:rPr lang="en-US" b="1" dirty="0"/>
              <a:t>References</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EDE9DA-BC31-44D3-9700-4F4473874B1B}"/>
              </a:ext>
            </a:extLst>
          </p:cNvPr>
          <p:cNvSpPr>
            <a:spLocks noGrp="1"/>
          </p:cNvSpPr>
          <p:nvPr>
            <p:ph type="title"/>
          </p:nvPr>
        </p:nvSpPr>
        <p:spPr/>
        <p:txBody>
          <a:bodyPr>
            <a:normAutofit/>
          </a:bodyPr>
          <a:lstStyle/>
          <a:p>
            <a:r>
              <a:rPr lang="en-US" dirty="0"/>
              <a:t>Assessment Pattern</a:t>
            </a:r>
            <a:endParaRPr lang="en-IN" dirty="0"/>
          </a:p>
        </p:txBody>
      </p:sp>
      <p:sp>
        <p:nvSpPr>
          <p:cNvPr id="4" name="Footer Placeholder 3">
            <a:extLst>
              <a:ext uri="{FF2B5EF4-FFF2-40B4-BE49-F238E27FC236}">
                <a16:creationId xmlns:a16="http://schemas.microsoft.com/office/drawing/2014/main" xmlns="" id="{6FD56E32-EE27-43F7-95F1-8E65978E1C4A}"/>
              </a:ext>
            </a:extLst>
          </p:cNvPr>
          <p:cNvSpPr>
            <a:spLocks noGrp="1"/>
          </p:cNvSpPr>
          <p:nvPr>
            <p:ph type="ftr" sz="quarter" idx="11"/>
          </p:nvPr>
        </p:nvSpPr>
        <p:spPr/>
        <p:txBody>
          <a:bodyPr/>
          <a:lstStyle/>
          <a:p>
            <a:r>
              <a:rPr lang="en-US" dirty="0" smtClean="0">
                <a:solidFill>
                  <a:prstClr val="black">
                    <a:tint val="75000"/>
                  </a:prstClr>
                </a:solidFill>
              </a:rPr>
              <a:t>Semi Conductor Physics 23SPH-143</a:t>
            </a:r>
            <a:endParaRPr lang="en-US" dirty="0">
              <a:solidFill>
                <a:prstClr val="black">
                  <a:tint val="75000"/>
                </a:prstClr>
              </a:solidFill>
            </a:endParaRPr>
          </a:p>
        </p:txBody>
      </p:sp>
      <p:pic>
        <p:nvPicPr>
          <p:cNvPr id="11" name="Content Placeholder 10">
            <a:extLst>
              <a:ext uri="{FF2B5EF4-FFF2-40B4-BE49-F238E27FC236}">
                <a16:creationId xmlns:a16="http://schemas.microsoft.com/office/drawing/2014/main" xmlns="" id="{ECF37D14-C487-44CB-91C1-3B586E56E019}"/>
              </a:ext>
            </a:extLst>
          </p:cNvPr>
          <p:cNvPicPr>
            <a:picLocks noGrp="1" noChangeAspect="1"/>
          </p:cNvPicPr>
          <p:nvPr>
            <p:ph idx="1"/>
          </p:nvPr>
        </p:nvPicPr>
        <p:blipFill>
          <a:blip r:embed="rId3">
            <a:extLst>
              <a:ext uri="{28A0092B-C50C-407E-A947-70E740481C1C}">
                <a14:useLocalDpi xmlns:a14="http://schemas.microsoft.com/office/drawing/2010/main" xmlns="" val="0"/>
              </a:ext>
            </a:extLst>
          </a:blip>
          <a:stretch>
            <a:fillRect/>
          </a:stretch>
        </p:blipFill>
        <p:spPr>
          <a:xfrm>
            <a:off x="1099930" y="1516756"/>
            <a:ext cx="5383295" cy="4619000"/>
          </a:xfrm>
        </p:spPr>
      </p:pic>
      <p:pic>
        <p:nvPicPr>
          <p:cNvPr id="13" name="Picture 12">
            <a:extLst>
              <a:ext uri="{FF2B5EF4-FFF2-40B4-BE49-F238E27FC236}">
                <a16:creationId xmlns:a16="http://schemas.microsoft.com/office/drawing/2014/main" xmlns="" id="{EC0BEE70-8D19-4E67-8D5D-2E879F5CC12C}"/>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978403" y="1503012"/>
            <a:ext cx="4637127" cy="4605257"/>
          </a:xfrm>
          <a:prstGeom prst="rect">
            <a:avLst/>
          </a:prstGeom>
        </p:spPr>
      </p:pic>
    </p:spTree>
    <p:custDataLst>
      <p:tags r:id="rId1"/>
    </p:custDataLst>
    <p:extLst>
      <p:ext uri="{BB962C8B-B14F-4D97-AF65-F5344CB8AC3E}">
        <p14:creationId xmlns:p14="http://schemas.microsoft.com/office/powerpoint/2010/main" xmlns="" val="2059936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2"/>
  <p:tag name="ARTICULATE_PROJECT_OPEN" val="1"/>
  <p:tag name="TAG_BACKING_FORM_KEY" val="3408788-l:\2021_even_semester\poe\theory\unit-2\unit 2 ppt\lecture 8.pptx"/>
  <p:tag name="ARTICULATE_PRESENTER_VERSION" val="7"/>
  <p:tag name="ARTICULATE_USED_PAGE_ORIENTATION" val="1"/>
  <p:tag name="ARTICULATE_USED_PAGE_SIZE" val="7"/>
  <p:tag name="ARTICULATE_REFERENCE_ID" val="023c7a90-9d09-404a-8870-7ceaeedeea4d"/>
  <p:tag name="ARTICULATE_REFERENCE_COUNT" val="0"/>
  <p:tag name="ARTICULATE_PLAYER_GLOSSARY_XML" val="&lt;?xml version=&quot;1.0&quot; encoding=&quot;utf-16&quot;?&gt;&lt;glossary xmlns:xsi=&quot;http://www.w3.org/2001/XMLSchema-instance&quot; xmlns:xsd=&quot;http://www.w3.org/2001/XMLSchema&quot;&gt;&lt;terms /&gt;&lt;/glossary&gt;"/>
</p:tagLst>
</file>

<file path=ppt/tags/tag2.xml><?xml version="1.0" encoding="utf-8"?>
<p:tagLst xmlns:a="http://schemas.openxmlformats.org/drawingml/2006/main" xmlns:r="http://schemas.openxmlformats.org/officeDocument/2006/relationships" xmlns:p="http://schemas.openxmlformats.org/presentationml/2006/main">
  <p:tag name="AUDIO_ID" val="416"/>
  <p:tag name="ARTICULATE_USED_LAYOUT" val="8"/>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3.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4.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ags/tag5.xml><?xml version="1.0" encoding="utf-8"?>
<p:tagLst xmlns:a="http://schemas.openxmlformats.org/drawingml/2006/main" xmlns:r="http://schemas.openxmlformats.org/officeDocument/2006/relationships" xmlns:p="http://schemas.openxmlformats.org/presentationml/2006/main">
  <p:tag name="AUDIO_ID" val="326"/>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6.xml><?xml version="1.0" encoding="utf-8"?>
<p:tagLst xmlns:a="http://schemas.openxmlformats.org/drawingml/2006/main" xmlns:r="http://schemas.openxmlformats.org/officeDocument/2006/relationships" xmlns:p="http://schemas.openxmlformats.org/presentationml/2006/main">
  <p:tag name="AUDIO_ID" val="327"/>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7.xml><?xml version="1.0" encoding="utf-8"?>
<p:tagLst xmlns:a="http://schemas.openxmlformats.org/drawingml/2006/main" xmlns:r="http://schemas.openxmlformats.org/officeDocument/2006/relationships" xmlns:p="http://schemas.openxmlformats.org/presentationml/2006/main">
  <p:tag name="AUDIO_ID" val="409"/>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8.xml><?xml version="1.0" encoding="utf-8"?>
<p:tagLst xmlns:a="http://schemas.openxmlformats.org/drawingml/2006/main" xmlns:r="http://schemas.openxmlformats.org/officeDocument/2006/relationships" xmlns:p="http://schemas.openxmlformats.org/presentationml/2006/main">
  <p:tag name="AUDIO_ID" val="408"/>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9.xml><?xml version="1.0" encoding="utf-8"?>
<p:tagLst xmlns:a="http://schemas.openxmlformats.org/drawingml/2006/main" xmlns:r="http://schemas.openxmlformats.org/officeDocument/2006/relationships" xmlns:p="http://schemas.openxmlformats.org/presentationml/2006/main">
  <p:tag name="AUDIO_ID" val="411"/>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0.xml><?xml version="1.0" encoding="utf-8"?>
<p:tagLst xmlns:a="http://schemas.openxmlformats.org/drawingml/2006/main" xmlns:r="http://schemas.openxmlformats.org/officeDocument/2006/relationships" xmlns:p="http://schemas.openxmlformats.org/presentationml/2006/main">
  <p:tag name="AUDIO_ID" val="412"/>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1.xml><?xml version="1.0" encoding="utf-8"?>
<p:tagLst xmlns:a="http://schemas.openxmlformats.org/drawingml/2006/main" xmlns:r="http://schemas.openxmlformats.org/officeDocument/2006/relationships" xmlns:p="http://schemas.openxmlformats.org/presentationml/2006/main">
  <p:tag name="AUDIO_ID" val="410"/>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2.xml><?xml version="1.0" encoding="utf-8"?>
<p:tagLst xmlns:a="http://schemas.openxmlformats.org/drawingml/2006/main" xmlns:r="http://schemas.openxmlformats.org/officeDocument/2006/relationships" xmlns:p="http://schemas.openxmlformats.org/presentationml/2006/main">
  <p:tag name="AUDIO_ID" val="343"/>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3.xml><?xml version="1.0" encoding="utf-8"?>
<p:tagLst xmlns:a="http://schemas.openxmlformats.org/drawingml/2006/main" xmlns:r="http://schemas.openxmlformats.org/officeDocument/2006/relationships" xmlns:p="http://schemas.openxmlformats.org/presentationml/2006/main">
  <p:tag name="AUDIO_ID" val="344"/>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4.xml><?xml version="1.0" encoding="utf-8"?>
<p:tagLst xmlns:a="http://schemas.openxmlformats.org/drawingml/2006/main" xmlns:r="http://schemas.openxmlformats.org/officeDocument/2006/relationships" xmlns:p="http://schemas.openxmlformats.org/presentationml/2006/main">
  <p:tag name="AUDIO_ID" val="401"/>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5.xml><?xml version="1.0" encoding="utf-8"?>
<p:tagLst xmlns:a="http://schemas.openxmlformats.org/drawingml/2006/main" xmlns:r="http://schemas.openxmlformats.org/officeDocument/2006/relationships" xmlns:p="http://schemas.openxmlformats.org/presentationml/2006/main">
  <p:tag name="AUDIO_ID" val="406"/>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6.xml><?xml version="1.0" encoding="utf-8"?>
<p:tagLst xmlns:a="http://schemas.openxmlformats.org/drawingml/2006/main" xmlns:r="http://schemas.openxmlformats.org/officeDocument/2006/relationships" xmlns:p="http://schemas.openxmlformats.org/presentationml/2006/main">
  <p:tag name="AUDIO_ID" val="407"/>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7.xml><?xml version="1.0" encoding="utf-8"?>
<p:tagLst xmlns:a="http://schemas.openxmlformats.org/drawingml/2006/main" xmlns:r="http://schemas.openxmlformats.org/officeDocument/2006/relationships" xmlns:p="http://schemas.openxmlformats.org/presentationml/2006/main">
  <p:tag name="AUDIO_ID" val="394"/>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8.xml><?xml version="1.0" encoding="utf-8"?>
<p:tagLst xmlns:a="http://schemas.openxmlformats.org/drawingml/2006/main" xmlns:r="http://schemas.openxmlformats.org/officeDocument/2006/relationships" xmlns:p="http://schemas.openxmlformats.org/presentationml/2006/main">
  <p:tag name="AUDIO_ID" val="377"/>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9.xml><?xml version="1.0" encoding="utf-8"?>
<p:tagLst xmlns:a="http://schemas.openxmlformats.org/drawingml/2006/main" xmlns:r="http://schemas.openxmlformats.org/officeDocument/2006/relationships" xmlns:p="http://schemas.openxmlformats.org/presentationml/2006/main">
  <p:tag name="AUDIO_ID" val="384"/>
  <p:tag name="ARTICULATE_USED_LAYOUT" val="8"/>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0.xml><?xml version="1.0" encoding="utf-8"?>
<p:tagLst xmlns:a="http://schemas.openxmlformats.org/drawingml/2006/main" xmlns:r="http://schemas.openxmlformats.org/officeDocument/2006/relationships" xmlns:p="http://schemas.openxmlformats.org/presentationml/2006/main">
  <p:tag name="AUDIO_ID" val="413"/>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1.xml><?xml version="1.0" encoding="utf-8"?>
<p:tagLst xmlns:a="http://schemas.openxmlformats.org/drawingml/2006/main" xmlns:r="http://schemas.openxmlformats.org/officeDocument/2006/relationships" xmlns:p="http://schemas.openxmlformats.org/presentationml/2006/main">
  <p:tag name="AUDIO_ID" val="414"/>
  <p:tag name="ARTICULATE_USED_LAYOUT" val="2"/>
  <p:tag name="ARTICULATE_NAV_LEVEL" val="1"/>
  <p:tag name="ARTICULATE_SLIDE_PRESENTER_GUID" val="ad7d9238-cbb6-4746-9902-731f34ffc7bf"/>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2556</TotalTime>
  <Words>898</Words>
  <Application>Microsoft Office PowerPoint</Application>
  <PresentationFormat>Custom</PresentationFormat>
  <Paragraphs>163</Paragraphs>
  <Slides>22</Slides>
  <Notes>4</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25" baseType="lpstr">
      <vt:lpstr>1_Office Theme</vt:lpstr>
      <vt:lpstr>Contents Slide Master</vt:lpstr>
      <vt:lpstr>CorelDRAW</vt:lpstr>
      <vt:lpstr>Slide 1</vt:lpstr>
      <vt:lpstr>Lecture Objectives</vt:lpstr>
      <vt:lpstr>Course Objectives</vt:lpstr>
      <vt:lpstr>Course Outcomes</vt:lpstr>
      <vt:lpstr>Content   </vt:lpstr>
      <vt:lpstr>Common Emitter Configuration</vt:lpstr>
      <vt:lpstr>Common Emitter Configuration</vt:lpstr>
      <vt:lpstr>Common Emitter Configuration</vt:lpstr>
      <vt:lpstr>Common Emitter Configuration</vt:lpstr>
      <vt:lpstr>Input characteristics</vt:lpstr>
      <vt:lpstr>Input characteristics</vt:lpstr>
      <vt:lpstr>Input characteristics</vt:lpstr>
      <vt:lpstr> Input characteristics </vt:lpstr>
      <vt:lpstr>Input characteristics</vt:lpstr>
      <vt:lpstr>Output characteristics</vt:lpstr>
      <vt:lpstr>Injection efficicency </vt:lpstr>
      <vt:lpstr>Summary</vt:lpstr>
      <vt:lpstr>Frequently Asked Questions</vt:lpstr>
      <vt:lpstr>LEARNING OUTCOMES </vt:lpstr>
      <vt:lpstr>References</vt:lpstr>
      <vt:lpstr>Assessment Pattern</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284</cp:revision>
  <dcterms:created xsi:type="dcterms:W3CDTF">2019-01-09T10:33:58Z</dcterms:created>
  <dcterms:modified xsi:type="dcterms:W3CDTF">2023-06-20T07:25:00Z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9C9BDC41-56BB-4E87-89C6-690B791C4C4F</vt:lpwstr>
  </property>
  <property fmtid="{D5CDD505-2E9C-101B-9397-08002B2CF9AE}" pid="3" name="ArticulatePath">
    <vt:lpwstr>Lecture 8</vt:lpwstr>
  </property>
  <property fmtid="{D5CDD505-2E9C-101B-9397-08002B2CF9AE}" pid="4" name="ArticulateProjectVersion">
    <vt:lpwstr>7</vt:lpwstr>
  </property>
  <property fmtid="{D5CDD505-2E9C-101B-9397-08002B2CF9AE}" pid="5" name="ArticulateUseProject">
    <vt:lpwstr>1</vt:lpwstr>
  </property>
  <property fmtid="{D5CDD505-2E9C-101B-9397-08002B2CF9AE}" pid="6" name="ArticulateProjectFull">
    <vt:lpwstr>L:\2021_Even_Semester\POE\Theory\UNIT-2\Unit 2 PPT\Lecture 8.ppta</vt:lpwstr>
  </property>
</Properties>
</file>