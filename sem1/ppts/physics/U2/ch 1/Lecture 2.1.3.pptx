
<file path=[Content_Types].xml><?xml version="1.0" encoding="utf-8"?>
<Types xmlns="http://schemas.openxmlformats.org/package/2006/content-types">
  <Override PartName="/ppt/slides/slide29.xml" ContentType="application/vnd.openxmlformats-officedocument.presentationml.slide+xml"/>
  <Override PartName="/ppt/notesSlides/notesSlide2.xml" ContentType="application/vnd.openxmlformats-officedocument.presentationml.notesSlide+xml"/>
  <Override PartName="/ppt/tags/tag8.xml" ContentType="application/vnd.openxmlformats-officedocument.presentationml.tags+xml"/>
  <Override PartName="/ppt/slides/slide4.xml" ContentType="application/vnd.openxmlformats-officedocument.presentationml.slide+xml"/>
  <Override PartName="/ppt/slides/slide18.xml" ContentType="application/vnd.openxmlformats-officedocument.presentationml.slide+xml"/>
  <Override PartName="/ppt/slideLayouts/slideLayout6.xml" ContentType="application/vnd.openxmlformats-officedocument.presentationml.slideLayout+xml"/>
  <Override PartName="/ppt/slideLayouts/slideLayout17.xml" ContentType="application/vnd.openxmlformats-officedocument.presentationml.slideLayout+xml"/>
  <Override PartName="/ppt/tags/tag4.xml" ContentType="application/vnd.openxmlformats-officedocument.presentationml.tags+xml"/>
  <Override PartName="/ppt/slides/slide2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xml" ContentType="application/xml"/>
  <Override PartName="/ppt/slides/slide14.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slideLayouts/slideLayout13.xml" ContentType="application/vnd.openxmlformats-officedocument.presentationml.slideLayout+xml"/>
  <Override PartName="/ppt/slideLayouts/slideLayout24.xml" ContentType="application/vnd.openxmlformats-officedocument.presentationml.slideLayout+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20.xml" ContentType="application/vnd.openxmlformats-officedocument.presentationml.slideLayout+xml"/>
  <Override PartName="/ppt/tags/tag16.xml" ContentType="application/vnd.openxmlformats-officedocument.presentationml.tags+xml"/>
  <Override PartName="/ppt/tags/tag18.xml" ContentType="application/vnd.openxmlformats-officedocument.presentationml.tags+xml"/>
  <Override PartName="/ppt/tags/tag27.xml" ContentType="application/vnd.openxmlformats-officedocument.presentationml.tags+xml"/>
  <Override PartName="/docProps/custom.xml" ContentType="application/vnd.openxmlformats-officedocument.custom-properties+xml"/>
  <Override PartName="/ppt/tags/tag14.xml" ContentType="application/vnd.openxmlformats-officedocument.presentationml.tags+xml"/>
  <Override PartName="/ppt/tags/tag25.xml" ContentType="application/vnd.openxmlformats-officedocument.presentationml.tags+xml"/>
  <Override PartName="/ppt/tags/tag12.xml" ContentType="application/vnd.openxmlformats-officedocument.presentationml.tags+xml"/>
  <Override PartName="/ppt/tags/tag23.xml" ContentType="application/vnd.openxmlformats-officedocument.presentationml.tags+xml"/>
  <Override PartName="/ppt/tags/tag32.xml" ContentType="application/vnd.openxmlformats-officedocument.presentationml.tags+xml"/>
  <Override PartName="/ppt/slides/slide7.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tags/tag9.xml" ContentType="application/vnd.openxmlformats-officedocument.presentationml.tags+xml"/>
  <Override PartName="/ppt/tags/tag10.xml" ContentType="application/vnd.openxmlformats-officedocument.presentationml.tags+xml"/>
  <Override PartName="/ppt/tags/tag21.xml" ContentType="application/vnd.openxmlformats-officedocument.presentationml.tags+xml"/>
  <Override PartName="/ppt/tags/tag30.xml" ContentType="application/vnd.openxmlformats-officedocument.presentationml.tags+xml"/>
  <Override PartName="/ppt/slideMasters/slideMaster2.xml" ContentType="application/vnd.openxmlformats-officedocument.presentationml.slideMaster+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Layouts/slideLayout7.xml" ContentType="application/vnd.openxmlformats-officedocument.presentationml.slideLayout+xml"/>
  <Default Extension="png" ContentType="image/png"/>
  <Override PartName="/ppt/theme/theme4.xml" ContentType="application/vnd.openxmlformats-officedocument.theme+xml"/>
  <Override PartName="/ppt/notesSlides/notesSlide1.xml" ContentType="application/vnd.openxmlformats-officedocument.presentationml.notesSlide+xml"/>
  <Default Extension="bin" ContentType="application/vnd.openxmlformats-officedocument.oleObject"/>
  <Override PartName="/ppt/tags/tag7.xml" ContentType="application/vnd.openxmlformats-officedocument.presentationml.tags+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slideLayouts/slideLayout18.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tags/tag5.xml" ContentType="application/vnd.openxmlformats-officedocument.presentationml.tags+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Layouts/slideLayout3.xml" ContentType="application/vnd.openxmlformats-officedocument.presentationml.slideLayout+xml"/>
  <Override PartName="/ppt/slideLayouts/slideLayout16.xml" ContentType="application/vnd.openxmlformats-officedocument.presentationml.slideLayout+xml"/>
  <Override PartName="/ppt/slideLayouts/slideLayout25.xml" ContentType="application/vnd.openxmlformats-officedocument.presentationml.slideLayout+xml"/>
  <Default Extension="jpeg" ContentType="image/jpeg"/>
  <Default Extension="emf" ContentType="image/x-emf"/>
  <Override PartName="/ppt/tags/tag3.xml" ContentType="application/vnd.openxmlformats-officedocument.presentationml.tags+xml"/>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tags/tag1.xml" ContentType="application/vnd.openxmlformats-officedocument.presentationml.tags+xml"/>
  <Override PartName="/ppt/slideLayouts/slideLayout1.xml" ContentType="application/vnd.openxmlformats-officedocument.presentationml.slideLayout+xml"/>
  <Override PartName="/ppt/slideLayouts/slideLayout14.xml" ContentType="application/vnd.openxmlformats-officedocument.presentationml.slideLayout+xml"/>
  <Override PartName="/ppt/slideLayouts/slideLayout23.xml" ContentType="application/vnd.openxmlformats-officedocument.presentationml.slideLayout+xml"/>
  <Override PartName="/ppt/tags/tag19.xml" ContentType="application/vnd.openxmlformats-officedocument.presentationml.tags+xml"/>
  <Override PartName="/ppt/tags/tag28.xml" ContentType="application/vnd.openxmlformats-officedocument.presentationml.tags+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Layouts/slideLayout12.xml" ContentType="application/vnd.openxmlformats-officedocument.presentationml.slideLayout+xml"/>
  <Override PartName="/ppt/slideLayouts/slideLayout21.xml" ContentType="application/vnd.openxmlformats-officedocument.presentationml.slideLayout+xml"/>
  <Override PartName="/ppt/tags/tag17.xml" ContentType="application/vnd.openxmlformats-officedocument.presentationml.tags+xml"/>
  <Override PartName="/ppt/tags/tag26.xml" ContentType="application/vnd.openxmlformats-officedocument.presentationml.tags+xml"/>
  <Default Extension="wdp" ContentType="image/vnd.ms-photo"/>
  <Override PartName="/ppt/slideLayouts/slideLayout10.xml" ContentType="application/vnd.openxmlformats-officedocument.presentationml.slideLayout+xml"/>
  <Default Extension="vml" ContentType="application/vnd.openxmlformats-officedocument.vmlDrawing"/>
  <Override PartName="/ppt/tags/tag15.xml" ContentType="application/vnd.openxmlformats-officedocument.presentationml.tags+xml"/>
  <Override PartName="/ppt/tags/tag24.xml" ContentType="application/vnd.openxmlformats-officedocument.presentationml.tags+xml"/>
  <Override PartName="/ppt/tags/tag13.xml" ContentType="application/vnd.openxmlformats-officedocument.presentationml.tags+xml"/>
  <Override PartName="/ppt/tags/tag22.xml" ContentType="application/vnd.openxmlformats-officedocument.presentationml.tags+xml"/>
  <Override PartName="/ppt/tags/tag31.xml" ContentType="application/vnd.openxmlformats-officedocument.presentationml.tags+xml"/>
  <Override PartName="/ppt/slides/slide8.xml" ContentType="application/vnd.openxmlformats-officedocument.presentationml.slide+xml"/>
  <Override PartName="/ppt/handoutMasters/handoutMaster1.xml" ContentType="application/vnd.openxmlformats-officedocument.presentationml.handoutMaster+xml"/>
  <Override PartName="/ppt/tags/tag11.xml" ContentType="application/vnd.openxmlformats-officedocument.presentationml.tags+xml"/>
  <Override PartName="/ppt/tags/tag20.xml" ContentType="application/vnd.openxmlformats-officedocument.presentationml.tags+xml"/>
  <Override PartName="/docProps/core.xml" ContentType="application/vnd.openxmlformats-package.core-properties+xml"/>
  <Override PartName="/ppt/slides/slide6.xml" ContentType="application/vnd.openxmlformats-officedocument.presentationml.slide+xml"/>
  <Override PartName="/ppt/slideLayouts/slideLayout8.xml" ContentType="application/vnd.openxmlformats-officedocument.presentationml.slideLayout+xml"/>
  <Override PartName="/ppt/slideLayouts/slideLayout19.xml" ContentType="application/vnd.openxmlformats-officedocument.presentationml.slideLayout+xml"/>
  <Override PartName="/ppt/tags/tag6.xml" ContentType="application/vnd.openxmlformats-officedocument.presentationml.tags+xml"/>
  <Override PartName="/ppt/slideMasters/slideMaster1.xml" ContentType="application/vnd.openxmlformats-officedocument.presentationml.slideMaster+xml"/>
  <Override PartName="/ppt/slides/slide27.xml" ContentType="application/vnd.openxmlformats-officedocument.presentationml.slide+xml"/>
  <Override PartName="/ppt/slideLayouts/slideLayout4.xml" ContentType="application/vnd.openxmlformats-officedocument.presentationml.slideLayout+xml"/>
  <Override PartName="/ppt/theme/theme3.xml" ContentType="application/vnd.openxmlformats-officedocument.theme+xml"/>
  <Override PartName="/ppt/slides/slide2.xml" ContentType="application/vnd.openxmlformats-officedocument.presentationml.slide+xml"/>
  <Override PartName="/ppt/slides/slide16.xml" ContentType="application/vnd.openxmlformats-officedocument.presentationml.slide+xml"/>
  <Override PartName="/ppt/slideLayouts/slideLayout15.xml" ContentType="application/vnd.openxmlformats-officedocument.presentationml.slideLayout+xml"/>
  <Override PartName="/ppt/slideLayouts/slideLayout26.xml" ContentType="application/vnd.openxmlformats-officedocument.presentationml.slideLayout+xml"/>
  <Override PartName="/ppt/tags/tag2.xml" ContentType="application/vnd.openxmlformats-officedocument.presentationml.tags+xml"/>
  <Default Extension="rels" ContentType="application/vnd.openxmlformats-package.relationships+xml"/>
  <Override PartName="/ppt/slides/slide23.xml" ContentType="application/vnd.openxmlformats-officedocument.presentationml.slide+xml"/>
  <Override PartName="/ppt/slideLayouts/slideLayout22.xml" ContentType="application/vnd.openxmlformats-officedocument.presentationml.slideLayout+xml"/>
  <Override PartName="/ppt/tags/tag29.xml" ContentType="application/vnd.openxmlformats-officedocument.presentationml.tag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4" r:id="rId1"/>
    <p:sldMasterId id="2147483686" r:id="rId2"/>
  </p:sldMasterIdLst>
  <p:notesMasterIdLst>
    <p:notesMasterId r:id="rId36"/>
  </p:notesMasterIdLst>
  <p:handoutMasterIdLst>
    <p:handoutMasterId r:id="rId37"/>
  </p:handoutMasterIdLst>
  <p:sldIdLst>
    <p:sldId id="497" r:id="rId3"/>
    <p:sldId id="498" r:id="rId4"/>
    <p:sldId id="499" r:id="rId5"/>
    <p:sldId id="471" r:id="rId6"/>
    <p:sldId id="326" r:id="rId7"/>
    <p:sldId id="415" r:id="rId8"/>
    <p:sldId id="472" r:id="rId9"/>
    <p:sldId id="481" r:id="rId10"/>
    <p:sldId id="478" r:id="rId11"/>
    <p:sldId id="482" r:id="rId12"/>
    <p:sldId id="479" r:id="rId13"/>
    <p:sldId id="480" r:id="rId14"/>
    <p:sldId id="473" r:id="rId15"/>
    <p:sldId id="483" r:id="rId16"/>
    <p:sldId id="484" r:id="rId17"/>
    <p:sldId id="485" r:id="rId18"/>
    <p:sldId id="486" r:id="rId19"/>
    <p:sldId id="487" r:id="rId20"/>
    <p:sldId id="488" r:id="rId21"/>
    <p:sldId id="489" r:id="rId22"/>
    <p:sldId id="490" r:id="rId23"/>
    <p:sldId id="491" r:id="rId24"/>
    <p:sldId id="492" r:id="rId25"/>
    <p:sldId id="493" r:id="rId26"/>
    <p:sldId id="494" r:id="rId27"/>
    <p:sldId id="495" r:id="rId28"/>
    <p:sldId id="496" r:id="rId29"/>
    <p:sldId id="394" r:id="rId30"/>
    <p:sldId id="377" r:id="rId31"/>
    <p:sldId id="384" r:id="rId32"/>
    <p:sldId id="424" r:id="rId33"/>
    <p:sldId id="425" r:id="rId34"/>
    <p:sldId id="380" r:id="rId35"/>
  </p:sldIdLst>
  <p:sldSz cx="12192000" cy="6858000"/>
  <p:notesSz cx="6858000" cy="9144000"/>
  <p:custDataLst>
    <p:tags r:id="rId38"/>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browse/>
    <p:sldAll/>
    <p:penClr>
      <a:srgbClr val="FF0000"/>
    </p:penClr>
    <p:extLst>
      <p:ext uri="{EC167BDD-8182-4AB7-AECC-EB403E3ABB37}">
        <p14:laserClr xmlns:p14="http://schemas.microsoft.com/office/powerpoint/2010/main" xmlns="">
          <a:srgbClr val="FF0000"/>
        </p14:laserClr>
      </p:ext>
      <p:ext uri="{2FDB2607-1784-4EEB-B798-7EB5836EED8A}">
        <p14:showMediaCtrls xmlns:p14="http://schemas.microsoft.com/office/powerpoint/2010/main" xmlns="" val="1"/>
      </p:ext>
    </p:extLst>
  </p:showPr>
  <p:clrMru>
    <a:srgbClr val="ED8137"/>
    <a:srgbClr val="BC8F00"/>
    <a:srgbClr val="860000"/>
    <a:srgbClr val="00B0F0"/>
    <a:srgbClr val="1B3F5B"/>
  </p:clrMru>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horzBarState="maximized">
    <p:restoredLeft sz="15515" autoAdjust="0"/>
    <p:restoredTop sz="94660"/>
  </p:normalViewPr>
  <p:slideViewPr>
    <p:cSldViewPr snapToGrid="0">
      <p:cViewPr varScale="1">
        <p:scale>
          <a:sx n="65" d="100"/>
          <a:sy n="65" d="100"/>
        </p:scale>
        <p:origin x="-702" y="-114"/>
      </p:cViewPr>
      <p:guideLst>
        <p:guide orient="horz" pos="2160"/>
        <p:guide pos="3840"/>
      </p:guideLst>
    </p:cSldViewPr>
  </p:slideViewPr>
  <p:notesTextViewPr>
    <p:cViewPr>
      <p:scale>
        <a:sx n="1" d="1"/>
        <a:sy n="1" d="1"/>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presProps" Target="presProps.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tableStyles" Target="tableStyle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tags" Target="tags/tag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handoutMaster" Target="handoutMasters/handoutMaster1.xml"/><Relationship Id="rId40"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notesMaster" Target="notesMasters/notesMaster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6.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2CDA8E9-9948-4BC7-A1DE-415AE6D34228}" type="datetimeFigureOut">
              <a:rPr lang="en-US" smtClean="0"/>
              <a:pPr/>
              <a:t>6/20/2023</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9B5F544-A886-482E-AF73-1D6364AAC657}" type="slidenum">
              <a:rPr lang="en-US" smtClean="0"/>
              <a:pPr/>
              <a:t>‹#›</a:t>
            </a:fld>
            <a:endParaRPr lang="en-US"/>
          </a:p>
        </p:txBody>
      </p:sp>
    </p:spTree>
    <p:extLst>
      <p:ext uri="{BB962C8B-B14F-4D97-AF65-F5344CB8AC3E}">
        <p14:creationId xmlns:p14="http://schemas.microsoft.com/office/powerpoint/2010/main" xmlns="" val="225191961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5A4AE53-78AB-4E30-A376-70F5FA87A326}" type="datetimeFigureOut">
              <a:rPr lang="en-US" smtClean="0"/>
              <a:pPr/>
              <a:t>6/20/2023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0732FBC-CC67-4B17-8935-02F23E3364AC}" type="slidenum">
              <a:rPr lang="en-US" smtClean="0"/>
              <a:pPr/>
              <a:t>‹#›</a:t>
            </a:fld>
            <a:endParaRPr lang="en-US"/>
          </a:p>
        </p:txBody>
      </p:sp>
    </p:spTree>
    <p:extLst>
      <p:ext uri="{BB962C8B-B14F-4D97-AF65-F5344CB8AC3E}">
        <p14:creationId xmlns:p14="http://schemas.microsoft.com/office/powerpoint/2010/main" xmlns="" val="2540555822"/>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60732FBC-CC67-4B17-8935-02F23E3364AC}" type="slidenum">
              <a:rPr lang="en-US" smtClean="0"/>
              <a:pPr/>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Fig-3</a:t>
            </a:r>
            <a:endParaRPr lang="en-IN" dirty="0"/>
          </a:p>
        </p:txBody>
      </p:sp>
      <p:sp>
        <p:nvSpPr>
          <p:cNvPr id="4" name="Slide Number Placeholder 3"/>
          <p:cNvSpPr>
            <a:spLocks noGrp="1"/>
          </p:cNvSpPr>
          <p:nvPr>
            <p:ph type="sldNum" sz="quarter" idx="10"/>
          </p:nvPr>
        </p:nvSpPr>
        <p:spPr/>
        <p:txBody>
          <a:bodyPr/>
          <a:lstStyle/>
          <a:p>
            <a:fld id="{60732FBC-CC67-4B17-8935-02F23E3364AC}" type="slidenum">
              <a:rPr lang="en-US" smtClean="0"/>
              <a:pPr/>
              <a:t>4</a:t>
            </a:fld>
            <a:endParaRPr lang="en-US"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xmlns="" val="3722197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xmlns="" val="14513695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xmlns="" val="4117143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xmlns="" val="17122016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xmlns="" val="18012169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xmlns="" val="8812041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xmlns="" val="2783193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xmlns="" val="26918609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xmlns="" val="5247627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xmlns="" val="40508157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xmlns="" val="213449416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Титульный слайд">
    <p:spTree>
      <p:nvGrpSpPr>
        <p:cNvPr id="1" name=""/>
        <p:cNvGrpSpPr/>
        <p:nvPr/>
      </p:nvGrpSpPr>
      <p:grpSpPr>
        <a:xfrm>
          <a:off x="0" y="0"/>
          <a:ext cx="0" cy="0"/>
          <a:chOff x="0" y="0"/>
          <a:chExt cx="0" cy="0"/>
        </a:xfrm>
      </p:grpSpPr>
      <p:sp>
        <p:nvSpPr>
          <p:cNvPr id="3" name="Прямоугольник 1"/>
          <p:cNvSpPr/>
          <p:nvPr userDrawn="1"/>
        </p:nvSpPr>
        <p:spPr>
          <a:xfrm>
            <a:off x="-19050" y="1905000"/>
            <a:ext cx="12211050" cy="4953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4" name="Прямоугольник 8"/>
          <p:cNvSpPr/>
          <p:nvPr userDrawn="1"/>
        </p:nvSpPr>
        <p:spPr>
          <a:xfrm>
            <a:off x="-19050" y="0"/>
            <a:ext cx="12211050" cy="4438650"/>
          </a:xfrm>
          <a:custGeom>
            <a:avLst/>
            <a:gdLst>
              <a:gd name="connsiteX0" fmla="*/ 0 w 12192000"/>
              <a:gd name="connsiteY0" fmla="*/ 0 h 4133850"/>
              <a:gd name="connsiteX1" fmla="*/ 12192000 w 12192000"/>
              <a:gd name="connsiteY1" fmla="*/ 0 h 4133850"/>
              <a:gd name="connsiteX2" fmla="*/ 12192000 w 12192000"/>
              <a:gd name="connsiteY2" fmla="*/ 4133850 h 4133850"/>
              <a:gd name="connsiteX3" fmla="*/ 0 w 12192000"/>
              <a:gd name="connsiteY3" fmla="*/ 4133850 h 4133850"/>
              <a:gd name="connsiteX4" fmla="*/ 0 w 12192000"/>
              <a:gd name="connsiteY4" fmla="*/ 0 h 4133850"/>
              <a:gd name="connsiteX0" fmla="*/ 19050 w 12211050"/>
              <a:gd name="connsiteY0" fmla="*/ 0 h 4133850"/>
              <a:gd name="connsiteX1" fmla="*/ 12211050 w 12211050"/>
              <a:gd name="connsiteY1" fmla="*/ 0 h 4133850"/>
              <a:gd name="connsiteX2" fmla="*/ 12211050 w 12211050"/>
              <a:gd name="connsiteY2" fmla="*/ 4133850 h 4133850"/>
              <a:gd name="connsiteX3" fmla="*/ 0 w 12211050"/>
              <a:gd name="connsiteY3" fmla="*/ 3219450 h 4133850"/>
              <a:gd name="connsiteX4" fmla="*/ 19050 w 12211050"/>
              <a:gd name="connsiteY4" fmla="*/ 0 h 4133850"/>
              <a:gd name="connsiteX0" fmla="*/ 19050 w 12211050"/>
              <a:gd name="connsiteY0" fmla="*/ 0 h 4438650"/>
              <a:gd name="connsiteX1" fmla="*/ 12211050 w 12211050"/>
              <a:gd name="connsiteY1" fmla="*/ 0 h 4438650"/>
              <a:gd name="connsiteX2" fmla="*/ 12211050 w 12211050"/>
              <a:gd name="connsiteY2" fmla="*/ 4438650 h 4438650"/>
              <a:gd name="connsiteX3" fmla="*/ 0 w 12211050"/>
              <a:gd name="connsiteY3" fmla="*/ 3219450 h 4438650"/>
              <a:gd name="connsiteX4" fmla="*/ 19050 w 12211050"/>
              <a:gd name="connsiteY4" fmla="*/ 0 h 4438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11050" h="4438650">
                <a:moveTo>
                  <a:pt x="19050" y="0"/>
                </a:moveTo>
                <a:lnTo>
                  <a:pt x="12211050" y="0"/>
                </a:lnTo>
                <a:lnTo>
                  <a:pt x="12211050" y="4438650"/>
                </a:lnTo>
                <a:lnTo>
                  <a:pt x="0" y="3219450"/>
                </a:lnTo>
                <a:lnTo>
                  <a:pt x="19050" y="0"/>
                </a:lnTo>
                <a:close/>
              </a:path>
            </a:pathLst>
          </a:custGeom>
          <a:solidFill>
            <a:schemeClr val="bg2">
              <a:lumMod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5" name="Прямоугольник 3"/>
          <p:cNvSpPr/>
          <p:nvPr userDrawn="1"/>
        </p:nvSpPr>
        <p:spPr>
          <a:xfrm>
            <a:off x="1085850" y="1009650"/>
            <a:ext cx="10020300" cy="52387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8" name="Рисунок 7"/>
          <p:cNvSpPr>
            <a:spLocks noGrp="1"/>
          </p:cNvSpPr>
          <p:nvPr>
            <p:ph type="pic" sz="quarter" idx="10"/>
          </p:nvPr>
        </p:nvSpPr>
        <p:spPr>
          <a:xfrm>
            <a:off x="1847850" y="2819400"/>
            <a:ext cx="8496300" cy="2800350"/>
          </a:xfrm>
          <a:prstGeom prst="rect">
            <a:avLst/>
          </a:prstGeom>
        </p:spPr>
        <p:txBody>
          <a:bodyPr/>
          <a:lstStyle/>
          <a:p>
            <a:pPr lvl="0"/>
            <a:endParaRPr lang="ru-RU" noProof="0" dirty="0"/>
          </a:p>
        </p:txBody>
      </p:sp>
    </p:spTree>
    <p:extLst>
      <p:ext uri="{BB962C8B-B14F-4D97-AF65-F5344CB8AC3E}">
        <p14:creationId xmlns:p14="http://schemas.microsoft.com/office/powerpoint/2010/main" xmlns="" val="397408168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77FB3ACE-D620-4EC3-88A7-3E317E64F19F}" type="datetimeFigureOut">
              <a:rPr lang="en-US" smtClean="0">
                <a:solidFill>
                  <a:prstClr val="black">
                    <a:tint val="75000"/>
                  </a:prstClr>
                </a:solidFill>
              </a:rPr>
              <a:pPr/>
              <a:t>6/20/2023</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FC9A48AB-23F1-45F1-98E5-D2CDC7A5261D}"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xmlns="" val="210683537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Agenda Layout">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xmlns="" val="253302043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Basic Layout">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0" y="932723"/>
            <a:ext cx="12192000" cy="384043"/>
          </a:xfrm>
          <a:prstGeom prst="rect">
            <a:avLst/>
          </a:prstGeom>
        </p:spPr>
        <p:txBody>
          <a:bodyPr anchor="ctr"/>
          <a:lstStyle>
            <a:lvl1pPr marL="0" indent="0" algn="ctr">
              <a:buNone/>
              <a:defRPr sz="1867" b="0" baseline="0">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5" name="Rectangle 4"/>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xmlns="" val="270909644"/>
      </p:ext>
    </p:extLst>
  </p:cSld>
  <p:clrMapOvr>
    <a:masterClrMapping/>
  </p:clrMapOvr>
  <p:extLst>
    <p:ext uri="{DCECCB84-F9BA-43D5-87BE-67443E8EF086}">
      <p15:sldGuideLst xmlns:p15="http://schemas.microsoft.com/office/powerpoint/2012/main" xmlns="">
        <p15:guide id="1" orient="horz" pos="1620">
          <p15:clr>
            <a:srgbClr val="FBAE40"/>
          </p15:clr>
        </p15:guide>
        <p15:guide id="2" pos="2880">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Basic Layout">
    <p:bg>
      <p:bgPr>
        <a:solidFill>
          <a:schemeClr val="bg1"/>
        </a:solid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0" y="932723"/>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5" name="Rectangle 4"/>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xmlns="" val="3227159557"/>
      </p:ext>
    </p:extLst>
  </p:cSld>
  <p:clrMapOvr>
    <a:masterClrMapping/>
  </p:clrMapOvr>
  <p:extLst>
    <p:ext uri="{DCECCB84-F9BA-43D5-87BE-67443E8EF086}">
      <p15:sldGuideLst xmlns:p15="http://schemas.microsoft.com/office/powerpoint/2012/main" xmlns="">
        <p15:guide id="1" orient="horz" pos="1620">
          <p15:clr>
            <a:srgbClr val="FBAE40"/>
          </p15:clr>
        </p15:guide>
        <p15:guide id="2" pos="2880">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2_Basic Layout">
    <p:bg>
      <p:bgPr>
        <a:solidFill>
          <a:schemeClr val="bg1"/>
        </a:solid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2735627" y="164638"/>
            <a:ext cx="9456373" cy="768085"/>
          </a:xfrm>
          <a:prstGeom prst="rect">
            <a:avLst/>
          </a:prstGeom>
        </p:spPr>
        <p:txBody>
          <a:bodyPr anchor="ctr"/>
          <a:lstStyle>
            <a:lvl1pPr marL="0" indent="0" algn="l">
              <a:buNone/>
              <a:defRPr sz="4800" b="0" baseline="0">
                <a:solidFill>
                  <a:schemeClr val="tx1">
                    <a:lumMod val="75000"/>
                    <a:lumOff val="25000"/>
                  </a:schemeClr>
                </a:solidFill>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2735627" y="932723"/>
            <a:ext cx="9456373" cy="384043"/>
          </a:xfrm>
          <a:prstGeom prst="rect">
            <a:avLst/>
          </a:prstGeom>
        </p:spPr>
        <p:txBody>
          <a:bodyPr anchor="ctr"/>
          <a:lstStyle>
            <a:lvl1pPr marL="0" indent="0" algn="l">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5" name="Rectangle 4"/>
          <p:cNvSpPr/>
          <p:nvPr userDrawn="1"/>
        </p:nvSpPr>
        <p:spPr>
          <a:xfrm>
            <a:off x="0" y="1"/>
            <a:ext cx="2543605" cy="68641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xmlns="" val="3804378142"/>
      </p:ext>
    </p:extLst>
  </p:cSld>
  <p:clrMapOvr>
    <a:masterClrMapping/>
  </p:clrMapOvr>
  <p:extLst>
    <p:ext uri="{DCECCB84-F9BA-43D5-87BE-67443E8EF086}">
      <p15:sldGuideLst xmlns:p15="http://schemas.microsoft.com/office/powerpoint/2012/main" xmlns="">
        <p15:guide id="1" orient="horz" pos="1620">
          <p15:clr>
            <a:srgbClr val="FBAE40"/>
          </p15:clr>
        </p15:guide>
        <p15:guide id="2" pos="288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0" y="2276872"/>
            <a:ext cx="12192000" cy="240026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3" name="Isosceles Triangle 2"/>
          <p:cNvSpPr/>
          <p:nvPr userDrawn="1"/>
        </p:nvSpPr>
        <p:spPr>
          <a:xfrm rot="10800000">
            <a:off x="158339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2" name="Isosceles Triangle 11"/>
          <p:cNvSpPr/>
          <p:nvPr userDrawn="1"/>
        </p:nvSpPr>
        <p:spPr>
          <a:xfrm rot="10800000">
            <a:off x="446371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3" name="Isosceles Triangle 12"/>
          <p:cNvSpPr/>
          <p:nvPr userDrawn="1"/>
        </p:nvSpPr>
        <p:spPr>
          <a:xfrm rot="10800000">
            <a:off x="734403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4" name="Isosceles Triangle 13"/>
          <p:cNvSpPr/>
          <p:nvPr userDrawn="1"/>
        </p:nvSpPr>
        <p:spPr>
          <a:xfrm rot="10800000">
            <a:off x="10224348"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5" name="Rectangle 14"/>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6" name="Rectangle 15"/>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7" name="Picture Placeholder 2"/>
          <p:cNvSpPr>
            <a:spLocks noGrp="1"/>
          </p:cNvSpPr>
          <p:nvPr>
            <p:ph type="pic" idx="1" hasCustomPrompt="1"/>
          </p:nvPr>
        </p:nvSpPr>
        <p:spPr>
          <a:xfrm>
            <a:off x="815413"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8" name="Picture Placeholder 2"/>
          <p:cNvSpPr>
            <a:spLocks noGrp="1"/>
          </p:cNvSpPr>
          <p:nvPr>
            <p:ph type="pic" idx="12" hasCustomPrompt="1"/>
          </p:nvPr>
        </p:nvSpPr>
        <p:spPr>
          <a:xfrm>
            <a:off x="3695732"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9" name="Picture Placeholder 2"/>
          <p:cNvSpPr>
            <a:spLocks noGrp="1"/>
          </p:cNvSpPr>
          <p:nvPr>
            <p:ph type="pic" idx="13" hasCustomPrompt="1"/>
          </p:nvPr>
        </p:nvSpPr>
        <p:spPr>
          <a:xfrm>
            <a:off x="6576051"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20" name="Picture Placeholder 2"/>
          <p:cNvSpPr>
            <a:spLocks noGrp="1"/>
          </p:cNvSpPr>
          <p:nvPr>
            <p:ph type="pic" idx="14" hasCustomPrompt="1"/>
          </p:nvPr>
        </p:nvSpPr>
        <p:spPr>
          <a:xfrm>
            <a:off x="9456369"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xmlns="" val="277721753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_Images and Contents Layout">
    <p:spTree>
      <p:nvGrpSpPr>
        <p:cNvPr id="1" name=""/>
        <p:cNvGrpSpPr/>
        <p:nvPr/>
      </p:nvGrpSpPr>
      <p:grpSpPr>
        <a:xfrm>
          <a:off x="0" y="0"/>
          <a:ext cx="0" cy="0"/>
          <a:chOff x="0" y="0"/>
          <a:chExt cx="0" cy="0"/>
        </a:xfrm>
      </p:grpSpPr>
      <p:sp>
        <p:nvSpPr>
          <p:cNvPr id="2" name="Rectangle 1"/>
          <p:cNvSpPr/>
          <p:nvPr userDrawn="1"/>
        </p:nvSpPr>
        <p:spPr>
          <a:xfrm>
            <a:off x="5231904" y="2276872"/>
            <a:ext cx="5711957" cy="393643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black">
                  <a:lumMod val="75000"/>
                  <a:lumOff val="25000"/>
                </a:prstClr>
              </a:solidFill>
            </a:endParaRPr>
          </a:p>
        </p:txBody>
      </p:sp>
      <p:sp>
        <p:nvSpPr>
          <p:cNvPr id="7" name="Picture Placeholder 2"/>
          <p:cNvSpPr>
            <a:spLocks noGrp="1"/>
          </p:cNvSpPr>
          <p:nvPr>
            <p:ph type="pic" idx="1" hasCustomPrompt="1"/>
          </p:nvPr>
        </p:nvSpPr>
        <p:spPr>
          <a:xfrm>
            <a:off x="1103445" y="1412776"/>
            <a:ext cx="4560000" cy="3696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xmlns="" val="56200522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2_Images and Contents Layout">
    <p:spTree>
      <p:nvGrpSpPr>
        <p:cNvPr id="1" name=""/>
        <p:cNvGrpSpPr/>
        <p:nvPr/>
      </p:nvGrpSpPr>
      <p:grpSpPr>
        <a:xfrm>
          <a:off x="0" y="0"/>
          <a:ext cx="0" cy="0"/>
          <a:chOff x="0" y="0"/>
          <a:chExt cx="0" cy="0"/>
        </a:xfrm>
      </p:grpSpPr>
      <p:sp>
        <p:nvSpPr>
          <p:cNvPr id="7" name="Picture Placeholder 2"/>
          <p:cNvSpPr>
            <a:spLocks noGrp="1"/>
          </p:cNvSpPr>
          <p:nvPr>
            <p:ph type="pic" idx="1" hasCustomPrompt="1"/>
          </p:nvPr>
        </p:nvSpPr>
        <p:spPr>
          <a:xfrm>
            <a:off x="0" y="990600"/>
            <a:ext cx="3887755" cy="58674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8" name="Picture Placeholder 2"/>
          <p:cNvSpPr>
            <a:spLocks noGrp="1"/>
          </p:cNvSpPr>
          <p:nvPr>
            <p:ph type="pic" idx="11" hasCustomPrompt="1"/>
          </p:nvPr>
        </p:nvSpPr>
        <p:spPr>
          <a:xfrm>
            <a:off x="4079776" y="0"/>
            <a:ext cx="8112224" cy="3621021"/>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xmlns="" val="15957474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3_Images and Contents Layout">
    <p:spTree>
      <p:nvGrpSpPr>
        <p:cNvPr id="1" name=""/>
        <p:cNvGrpSpPr/>
        <p:nvPr/>
      </p:nvGrpSpPr>
      <p:grpSpPr>
        <a:xfrm>
          <a:off x="0" y="0"/>
          <a:ext cx="0" cy="0"/>
          <a:chOff x="0" y="0"/>
          <a:chExt cx="0" cy="0"/>
        </a:xfrm>
      </p:grpSpPr>
      <p:sp>
        <p:nvSpPr>
          <p:cNvPr id="9" name="Picture Placeholder 2"/>
          <p:cNvSpPr>
            <a:spLocks noGrp="1"/>
          </p:cNvSpPr>
          <p:nvPr>
            <p:ph type="pic" idx="1" hasCustomPrompt="1"/>
          </p:nvPr>
        </p:nvSpPr>
        <p:spPr>
          <a:xfrm>
            <a:off x="0" y="1013496"/>
            <a:ext cx="3887755" cy="356763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2" name="Picture Placeholder 2"/>
          <p:cNvSpPr>
            <a:spLocks noGrp="1"/>
          </p:cNvSpPr>
          <p:nvPr>
            <p:ph type="pic" idx="10" hasCustomPrompt="1"/>
          </p:nvPr>
        </p:nvSpPr>
        <p:spPr>
          <a:xfrm>
            <a:off x="8304245" y="0"/>
            <a:ext cx="3887755" cy="45811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3" name="Picture Placeholder 2"/>
          <p:cNvSpPr>
            <a:spLocks noGrp="1"/>
          </p:cNvSpPr>
          <p:nvPr>
            <p:ph type="pic" idx="11" hasCustomPrompt="1"/>
          </p:nvPr>
        </p:nvSpPr>
        <p:spPr>
          <a:xfrm>
            <a:off x="0" y="4773149"/>
            <a:ext cx="6096000" cy="2084851"/>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xmlns="" val="394759519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4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595027" y="4101331"/>
            <a:ext cx="2400000" cy="2304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1600">
              <a:solidFill>
                <a:prstClr val="black">
                  <a:lumMod val="75000"/>
                  <a:lumOff val="25000"/>
                </a:prstClr>
              </a:solidFill>
            </a:endParaRPr>
          </a:p>
        </p:txBody>
      </p:sp>
      <p:sp>
        <p:nvSpPr>
          <p:cNvPr id="12" name="Rectangle 11"/>
          <p:cNvSpPr/>
          <p:nvPr userDrawn="1"/>
        </p:nvSpPr>
        <p:spPr>
          <a:xfrm>
            <a:off x="9196973" y="1700808"/>
            <a:ext cx="2400000" cy="2304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1600">
              <a:solidFill>
                <a:prstClr val="black">
                  <a:lumMod val="75000"/>
                  <a:lumOff val="25000"/>
                </a:prstClr>
              </a:solidFill>
            </a:endParaRPr>
          </a:p>
        </p:txBody>
      </p:sp>
      <p:sp>
        <p:nvSpPr>
          <p:cNvPr id="13" name="Picture Placeholder 2"/>
          <p:cNvSpPr>
            <a:spLocks noGrp="1"/>
          </p:cNvSpPr>
          <p:nvPr>
            <p:ph type="pic" idx="12" hasCustomPrompt="1"/>
          </p:nvPr>
        </p:nvSpPr>
        <p:spPr>
          <a:xfrm>
            <a:off x="595027" y="1700808"/>
            <a:ext cx="2400000"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4" name="Picture Placeholder 2"/>
          <p:cNvSpPr>
            <a:spLocks noGrp="1"/>
          </p:cNvSpPr>
          <p:nvPr>
            <p:ph type="pic" idx="13" hasCustomPrompt="1"/>
          </p:nvPr>
        </p:nvSpPr>
        <p:spPr>
          <a:xfrm>
            <a:off x="9196973" y="4101331"/>
            <a:ext cx="2400000"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5" name="Picture Placeholder 2"/>
          <p:cNvSpPr>
            <a:spLocks noGrp="1"/>
          </p:cNvSpPr>
          <p:nvPr>
            <p:ph type="pic" idx="14" hasCustomPrompt="1"/>
          </p:nvPr>
        </p:nvSpPr>
        <p:spPr>
          <a:xfrm>
            <a:off x="3119669" y="4101331"/>
            <a:ext cx="5952663"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6" name="Picture Placeholder 2"/>
          <p:cNvSpPr>
            <a:spLocks noGrp="1"/>
          </p:cNvSpPr>
          <p:nvPr>
            <p:ph type="pic" idx="15" hasCustomPrompt="1"/>
          </p:nvPr>
        </p:nvSpPr>
        <p:spPr>
          <a:xfrm>
            <a:off x="3119669" y="1700808"/>
            <a:ext cx="5952663"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xmlns="" val="427835944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5_Images and Contents Layout">
    <p:spTree>
      <p:nvGrpSpPr>
        <p:cNvPr id="1" name=""/>
        <p:cNvGrpSpPr/>
        <p:nvPr/>
      </p:nvGrpSpPr>
      <p:grpSpPr>
        <a:xfrm>
          <a:off x="0" y="0"/>
          <a:ext cx="0" cy="0"/>
          <a:chOff x="0" y="0"/>
          <a:chExt cx="0" cy="0"/>
        </a:xfrm>
      </p:grpSpPr>
      <p:sp>
        <p:nvSpPr>
          <p:cNvPr id="16" name="Picture Placeholder 2"/>
          <p:cNvSpPr>
            <a:spLocks noGrp="1"/>
          </p:cNvSpPr>
          <p:nvPr>
            <p:ph type="pic" idx="12" hasCustomPrompt="1"/>
          </p:nvPr>
        </p:nvSpPr>
        <p:spPr>
          <a:xfrm>
            <a:off x="709650" y="480055"/>
            <a:ext cx="4224469" cy="4197085"/>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7" name="Picture Placeholder 2"/>
          <p:cNvSpPr>
            <a:spLocks noGrp="1"/>
          </p:cNvSpPr>
          <p:nvPr>
            <p:ph type="pic" idx="13" hasCustomPrompt="1"/>
          </p:nvPr>
        </p:nvSpPr>
        <p:spPr>
          <a:xfrm>
            <a:off x="5126140" y="480056"/>
            <a:ext cx="6336704" cy="2296105"/>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8" name="Picture Placeholder 2"/>
          <p:cNvSpPr>
            <a:spLocks noGrp="1"/>
          </p:cNvSpPr>
          <p:nvPr>
            <p:ph type="pic" idx="14" hasCustomPrompt="1"/>
          </p:nvPr>
        </p:nvSpPr>
        <p:spPr>
          <a:xfrm>
            <a:off x="5126140"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9" name="Picture Placeholder 2"/>
          <p:cNvSpPr>
            <a:spLocks noGrp="1"/>
          </p:cNvSpPr>
          <p:nvPr>
            <p:ph type="pic" idx="16" hasCustomPrompt="1"/>
          </p:nvPr>
        </p:nvSpPr>
        <p:spPr>
          <a:xfrm>
            <a:off x="7310492"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20" name="Picture Placeholder 2"/>
          <p:cNvSpPr>
            <a:spLocks noGrp="1"/>
          </p:cNvSpPr>
          <p:nvPr>
            <p:ph type="pic" idx="17" hasCustomPrompt="1"/>
          </p:nvPr>
        </p:nvSpPr>
        <p:spPr>
          <a:xfrm>
            <a:off x="9494844"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xmlns="" val="270230215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7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pic>
        <p:nvPicPr>
          <p:cNvPr id="5" name="그림 1"/>
          <p:cNvPicPr>
            <a:picLocks noChangeAspect="1"/>
          </p:cNvPicPr>
          <p:nvPr userDrawn="1"/>
        </p:nvPicPr>
        <p:blipFill>
          <a:blip r:embed="rId2" cstate="print">
            <a:extLst>
              <a:ext uri="{28A0092B-C50C-407E-A947-70E740481C1C}">
                <a14:useLocalDpi xmlns:a14="http://schemas.microsoft.com/office/drawing/2010/main" xmlns="" val="0"/>
              </a:ext>
            </a:extLst>
          </a:blip>
          <a:stretch>
            <a:fillRect/>
          </a:stretch>
        </p:blipFill>
        <p:spPr>
          <a:xfrm>
            <a:off x="4546767" y="2276873"/>
            <a:ext cx="7238124" cy="3966041"/>
          </a:xfrm>
          <a:prstGeom prst="rect">
            <a:avLst/>
          </a:prstGeom>
        </p:spPr>
      </p:pic>
      <p:sp>
        <p:nvSpPr>
          <p:cNvPr id="7" name="Picture Placeholder 2"/>
          <p:cNvSpPr>
            <a:spLocks noGrp="1"/>
          </p:cNvSpPr>
          <p:nvPr>
            <p:ph type="pic" idx="1" hasCustomPrompt="1"/>
          </p:nvPr>
        </p:nvSpPr>
        <p:spPr>
          <a:xfrm>
            <a:off x="5705875" y="2485912"/>
            <a:ext cx="4832891" cy="3124239"/>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8" name="Rectangle 7"/>
          <p:cNvSpPr/>
          <p:nvPr userDrawn="1"/>
        </p:nvSpPr>
        <p:spPr>
          <a:xfrm>
            <a:off x="4037371" y="1"/>
            <a:ext cx="4128459" cy="60959"/>
          </a:xfrm>
          <a:prstGeom prst="rect">
            <a:avLst/>
          </a:prstGeom>
          <a:solidFill>
            <a:srgbClr val="EB49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9" name="Rectangle 8"/>
          <p:cNvSpPr/>
          <p:nvPr userDrawn="1"/>
        </p:nvSpPr>
        <p:spPr>
          <a:xfrm>
            <a:off x="0" y="6753308"/>
            <a:ext cx="12192000" cy="110875"/>
          </a:xfrm>
          <a:prstGeom prst="rect">
            <a:avLst/>
          </a:prstGeom>
          <a:solidFill>
            <a:srgbClr val="EB49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xmlns="" val="221804153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8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pic>
        <p:nvPicPr>
          <p:cNvPr id="5" name="Picture 4" descr="D:\Fullppt\005-PNG이미지\모니터.png"/>
          <p:cNvPicPr>
            <a:picLocks noChangeAspect="1" noChangeArrowheads="1"/>
          </p:cNvPicPr>
          <p:nvPr userDrawn="1"/>
        </p:nvPicPr>
        <p:blipFill>
          <a:blip r:embed="rId2" cstate="print">
            <a:extLst>
              <a:ext uri="{28A0092B-C50C-407E-A947-70E740481C1C}">
                <a14:useLocalDpi xmlns:a14="http://schemas.microsoft.com/office/drawing/2010/main" xmlns="" val="0"/>
              </a:ext>
            </a:extLst>
          </a:blip>
          <a:srcRect/>
          <a:stretch>
            <a:fillRect/>
          </a:stretch>
        </p:blipFill>
        <p:spPr bwMode="auto">
          <a:xfrm>
            <a:off x="776400" y="1815747"/>
            <a:ext cx="3360373" cy="3350541"/>
          </a:xfrm>
          <a:prstGeom prst="rect">
            <a:avLst/>
          </a:prstGeom>
          <a:noFill/>
          <a:extLst>
            <a:ext uri="{909E8E84-426E-40DD-AFC4-6F175D3DCCD1}">
              <a14:hiddenFill xmlns:a14="http://schemas.microsoft.com/office/drawing/2010/main" xmlns="">
                <a:solidFill>
                  <a:srgbClr val="FFFFFF"/>
                </a:solidFill>
              </a14:hiddenFill>
            </a:ext>
          </a:extLst>
        </p:spPr>
      </p:pic>
      <p:pic>
        <p:nvPicPr>
          <p:cNvPr id="7" name="Picture 6" descr="D:\Fullppt\005-PNG이미지\모니터.png"/>
          <p:cNvPicPr>
            <a:picLocks noChangeAspect="1" noChangeArrowheads="1"/>
          </p:cNvPicPr>
          <p:nvPr userDrawn="1"/>
        </p:nvPicPr>
        <p:blipFill>
          <a:blip r:embed="rId2" cstate="print">
            <a:extLst>
              <a:ext uri="{28A0092B-C50C-407E-A947-70E740481C1C}">
                <a14:useLocalDpi xmlns:a14="http://schemas.microsoft.com/office/drawing/2010/main" xmlns="" val="0"/>
              </a:ext>
            </a:extLst>
          </a:blip>
          <a:srcRect/>
          <a:stretch>
            <a:fillRect/>
          </a:stretch>
        </p:blipFill>
        <p:spPr bwMode="auto">
          <a:xfrm>
            <a:off x="4406826" y="1815747"/>
            <a:ext cx="3360373" cy="3350541"/>
          </a:xfrm>
          <a:prstGeom prst="rect">
            <a:avLst/>
          </a:prstGeom>
          <a:noFill/>
          <a:extLst>
            <a:ext uri="{909E8E84-426E-40DD-AFC4-6F175D3DCCD1}">
              <a14:hiddenFill xmlns:a14="http://schemas.microsoft.com/office/drawing/2010/main" xmlns="">
                <a:solidFill>
                  <a:srgbClr val="FFFFFF"/>
                </a:solidFill>
              </a14:hiddenFill>
            </a:ext>
          </a:extLst>
        </p:spPr>
      </p:pic>
      <p:pic>
        <p:nvPicPr>
          <p:cNvPr id="9" name="Picture 8" descr="D:\Fullppt\005-PNG이미지\모니터.png"/>
          <p:cNvPicPr>
            <a:picLocks noChangeAspect="1" noChangeArrowheads="1"/>
          </p:cNvPicPr>
          <p:nvPr userDrawn="1"/>
        </p:nvPicPr>
        <p:blipFill>
          <a:blip r:embed="rId2" cstate="print">
            <a:extLst>
              <a:ext uri="{28A0092B-C50C-407E-A947-70E740481C1C}">
                <a14:useLocalDpi xmlns:a14="http://schemas.microsoft.com/office/drawing/2010/main" xmlns="" val="0"/>
              </a:ext>
            </a:extLst>
          </a:blip>
          <a:srcRect/>
          <a:stretch>
            <a:fillRect/>
          </a:stretch>
        </p:blipFill>
        <p:spPr bwMode="auto">
          <a:xfrm>
            <a:off x="8037251" y="1815747"/>
            <a:ext cx="3360373" cy="3350541"/>
          </a:xfrm>
          <a:prstGeom prst="rect">
            <a:avLst/>
          </a:prstGeom>
          <a:noFill/>
          <a:extLst>
            <a:ext uri="{909E8E84-426E-40DD-AFC4-6F175D3DCCD1}">
              <a14:hiddenFill xmlns:a14="http://schemas.microsoft.com/office/drawing/2010/main" xmlns="">
                <a:solidFill>
                  <a:srgbClr val="FFFFFF"/>
                </a:solidFill>
              </a14:hiddenFill>
            </a:ext>
          </a:extLst>
        </p:spPr>
      </p:pic>
      <p:sp>
        <p:nvSpPr>
          <p:cNvPr id="13" name="Picture Placeholder 2"/>
          <p:cNvSpPr>
            <a:spLocks noGrp="1"/>
          </p:cNvSpPr>
          <p:nvPr>
            <p:ph type="pic" idx="1" hasCustomPrompt="1"/>
          </p:nvPr>
        </p:nvSpPr>
        <p:spPr>
          <a:xfrm>
            <a:off x="90990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4" name="Picture Placeholder 2"/>
          <p:cNvSpPr>
            <a:spLocks noGrp="1"/>
          </p:cNvSpPr>
          <p:nvPr>
            <p:ph type="pic" idx="12" hasCustomPrompt="1"/>
          </p:nvPr>
        </p:nvSpPr>
        <p:spPr>
          <a:xfrm>
            <a:off x="453956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5" name="Picture Placeholder 2"/>
          <p:cNvSpPr>
            <a:spLocks noGrp="1"/>
          </p:cNvSpPr>
          <p:nvPr>
            <p:ph type="pic" idx="13" hasCustomPrompt="1"/>
          </p:nvPr>
        </p:nvSpPr>
        <p:spPr>
          <a:xfrm>
            <a:off x="816922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6" name="Rectangle 15"/>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7" name="Rectangle 16"/>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xmlns="" val="407940683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9_Images and Contents Layout">
    <p:spTree>
      <p:nvGrpSpPr>
        <p:cNvPr id="1" name=""/>
        <p:cNvGrpSpPr/>
        <p:nvPr/>
      </p:nvGrpSpPr>
      <p:grpSpPr>
        <a:xfrm>
          <a:off x="0" y="0"/>
          <a:ext cx="0" cy="0"/>
          <a:chOff x="0" y="0"/>
          <a:chExt cx="0" cy="0"/>
        </a:xfrm>
      </p:grpSpPr>
      <p:sp>
        <p:nvSpPr>
          <p:cNvPr id="6" name="Picture Placeholder 2"/>
          <p:cNvSpPr>
            <a:spLocks noGrp="1"/>
          </p:cNvSpPr>
          <p:nvPr>
            <p:ph type="pic" idx="1" hasCustomPrompt="1"/>
          </p:nvPr>
        </p:nvSpPr>
        <p:spPr>
          <a:xfrm>
            <a:off x="0" y="0"/>
            <a:ext cx="12192000" cy="4101075"/>
          </a:xfrm>
          <a:prstGeom prst="rect">
            <a:avLst/>
          </a:prstGeom>
          <a:solidFill>
            <a:schemeClr val="bg1">
              <a:lumMod val="8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xmlns="" val="201465714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icon se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ICON SETS LAYOUT</a:t>
            </a:r>
          </a:p>
        </p:txBody>
      </p:sp>
      <p:grpSp>
        <p:nvGrpSpPr>
          <p:cNvPr id="5" name="Group 4"/>
          <p:cNvGrpSpPr/>
          <p:nvPr userDrawn="1"/>
        </p:nvGrpSpPr>
        <p:grpSpPr>
          <a:xfrm>
            <a:off x="472011" y="1508786"/>
            <a:ext cx="3799787" cy="4865561"/>
            <a:chOff x="354008" y="1131589"/>
            <a:chExt cx="2849840" cy="3649171"/>
          </a:xfrm>
        </p:grpSpPr>
        <p:sp>
          <p:nvSpPr>
            <p:cNvPr id="6" name="Rounded Rectangle 5"/>
            <p:cNvSpPr/>
            <p:nvPr/>
          </p:nvSpPr>
          <p:spPr>
            <a:xfrm>
              <a:off x="354008" y="1131589"/>
              <a:ext cx="2849840" cy="3649171"/>
            </a:xfrm>
            <a:prstGeom prst="roundRect">
              <a:avLst>
                <a:gd name="adj" fmla="val 3968"/>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dirty="0">
                <a:solidFill>
                  <a:prstClr val="white"/>
                </a:solidFill>
              </a:endParaRPr>
            </a:p>
          </p:txBody>
        </p:sp>
        <p:sp>
          <p:nvSpPr>
            <p:cNvPr id="9" name="Rounded Rectangle 8"/>
            <p:cNvSpPr/>
            <p:nvPr/>
          </p:nvSpPr>
          <p:spPr>
            <a:xfrm>
              <a:off x="531932" y="1347500"/>
              <a:ext cx="108520" cy="3240473"/>
            </a:xfrm>
            <a:prstGeom prst="roundRect">
              <a:avLst>
                <a:gd name="adj" fmla="val 50000"/>
              </a:avLst>
            </a:prstGeom>
            <a:solidFill>
              <a:schemeClr val="bg1">
                <a:alpha val="4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a:solidFill>
                  <a:prstClr val="white"/>
                </a:solidFill>
              </a:endParaRPr>
            </a:p>
          </p:txBody>
        </p:sp>
        <p:sp>
          <p:nvSpPr>
            <p:cNvPr id="12" name="Half Frame 11"/>
            <p:cNvSpPr/>
            <p:nvPr/>
          </p:nvSpPr>
          <p:spPr>
            <a:xfrm rot="5400000">
              <a:off x="2592642" y="1238201"/>
              <a:ext cx="502331" cy="502331"/>
            </a:xfrm>
            <a:prstGeom prst="halfFrame">
              <a:avLst>
                <a:gd name="adj1" fmla="val 23728"/>
                <a:gd name="adj2" fmla="val 24642"/>
              </a:avLst>
            </a:prstGeom>
            <a:solidFill>
              <a:schemeClr val="bg1">
                <a:alpha val="2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a:solidFill>
                  <a:prstClr val="black"/>
                </a:solidFill>
              </a:endParaRPr>
            </a:p>
          </p:txBody>
        </p:sp>
      </p:grpSp>
    </p:spTree>
    <p:extLst>
      <p:ext uri="{BB962C8B-B14F-4D97-AF65-F5344CB8AC3E}">
        <p14:creationId xmlns:p14="http://schemas.microsoft.com/office/powerpoint/2010/main" xmlns="" val="26219781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slideLayout" Target="../slideLayouts/slideLayout26.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5" Type="http://schemas.openxmlformats.org/officeDocument/2006/relationships/theme" Target="../theme/theme2.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5" cstate="print">
            <a:lum/>
          </a:blip>
          <a:srcRect/>
          <a:stretch>
            <a:fillRect l="1000" t="-1000" r="1000"/>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DCDBBEF-AA6C-4BA6-85B2-A17D7F280E38}" type="slidenum">
              <a:rPr lang="en-US" smtClean="0"/>
              <a:pPr/>
              <a:t>‹#›</a:t>
            </a:fld>
            <a:endParaRPr lang="en-US"/>
          </a:p>
        </p:txBody>
      </p:sp>
    </p:spTree>
    <p:extLst>
      <p:ext uri="{BB962C8B-B14F-4D97-AF65-F5344CB8AC3E}">
        <p14:creationId xmlns:p14="http://schemas.microsoft.com/office/powerpoint/2010/main" xmlns="" val="3333391393"/>
      </p:ext>
    </p:extLst>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60" r:id="rId12"/>
    <p:sldLayoutId id="2147483701" r:id="rId13"/>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xmlns="" val="1048544627"/>
      </p:ext>
    </p:extLst>
  </p:cSld>
  <p:clrMap bg1="lt1" tx1="dk1" bg2="lt2" tx2="dk2" accent1="accent1" accent2="accent2" accent3="accent3" accent4="accent4" accent5="accent5" accent6="accent6" hlink="hlink" folHlink="folHlink"/>
  <p:sldLayoutIdLst>
    <p:sldLayoutId id="2147483687" r:id="rId1"/>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 id="2147483698" r:id="rId12"/>
    <p:sldLayoutId id="2147483699" r:id="rId13"/>
    <p:sldLayoutId id="2147483700" r:id="rId14"/>
  </p:sldLayoutIdLst>
  <p:txStyles>
    <p:titleStyle>
      <a:lvl1pPr algn="ctr" defTabSz="1219170" rtl="0" eaLnBrk="1" latinLnBrk="1" hangingPunct="1">
        <a:spcBef>
          <a:spcPct val="0"/>
        </a:spcBef>
        <a:buNone/>
        <a:defRPr sz="5867" kern="1200">
          <a:solidFill>
            <a:schemeClr val="tx1"/>
          </a:solidFill>
          <a:latin typeface="+mj-lt"/>
          <a:ea typeface="+mj-ea"/>
          <a:cs typeface="+mj-cs"/>
        </a:defRPr>
      </a:lvl1pPr>
    </p:titleStyle>
    <p:bodyStyle>
      <a:lvl1pPr marL="457189" indent="-457189" algn="l" defTabSz="1219170" rtl="0" eaLnBrk="1" latinLnBrk="1" hangingPunct="1">
        <a:spcBef>
          <a:spcPct val="20000"/>
        </a:spcBef>
        <a:buFont typeface="Arial" pitchFamily="34" charset="0"/>
        <a:buChar char="•"/>
        <a:defRPr sz="4267" kern="1200">
          <a:solidFill>
            <a:schemeClr val="tx1"/>
          </a:solidFill>
          <a:latin typeface="+mn-lt"/>
          <a:ea typeface="+mn-ea"/>
          <a:cs typeface="+mn-cs"/>
        </a:defRPr>
      </a:lvl1pPr>
      <a:lvl2pPr marL="990575" indent="-380990" algn="l" defTabSz="1219170" rtl="0" eaLnBrk="1" latinLnBrk="1" hangingPunct="1">
        <a:spcBef>
          <a:spcPct val="20000"/>
        </a:spcBef>
        <a:buFont typeface="Arial" pitchFamily="34" charset="0"/>
        <a:buChar char="–"/>
        <a:defRPr sz="3733" kern="1200">
          <a:solidFill>
            <a:schemeClr val="tx1"/>
          </a:solidFill>
          <a:latin typeface="+mn-lt"/>
          <a:ea typeface="+mn-ea"/>
          <a:cs typeface="+mn-cs"/>
        </a:defRPr>
      </a:lvl2pPr>
      <a:lvl3pPr marL="1523962" indent="-304792" algn="l" defTabSz="1219170" rtl="0" eaLnBrk="1" latinLnBrk="1" hangingPunct="1">
        <a:spcBef>
          <a:spcPct val="20000"/>
        </a:spcBef>
        <a:buFont typeface="Arial" pitchFamily="34" charset="0"/>
        <a:buChar char="•"/>
        <a:defRPr sz="3200" kern="1200">
          <a:solidFill>
            <a:schemeClr val="tx1"/>
          </a:solidFill>
          <a:latin typeface="+mn-lt"/>
          <a:ea typeface="+mn-ea"/>
          <a:cs typeface="+mn-cs"/>
        </a:defRPr>
      </a:lvl3pPr>
      <a:lvl4pPr marL="2133547"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4pPr>
      <a:lvl5pPr marL="2743131"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5pPr>
      <a:lvl6pPr marL="3352716"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9pPr>
    </p:bodyStyle>
    <p:otherStyle>
      <a:defPPr>
        <a:defRPr lang="ko-KR"/>
      </a:defPPr>
      <a:lvl1pPr marL="0" algn="l" defTabSz="1219170" rtl="0" eaLnBrk="1" latinLnBrk="1" hangingPunct="1">
        <a:defRPr sz="2400" kern="1200">
          <a:solidFill>
            <a:schemeClr val="tx1"/>
          </a:solidFill>
          <a:latin typeface="+mn-lt"/>
          <a:ea typeface="+mn-ea"/>
          <a:cs typeface="+mn-cs"/>
        </a:defRPr>
      </a:lvl1pPr>
      <a:lvl2pPr marL="609585" algn="l" defTabSz="1219170" rtl="0" eaLnBrk="1" latinLnBrk="1" hangingPunct="1">
        <a:defRPr sz="2400" kern="1200">
          <a:solidFill>
            <a:schemeClr val="tx1"/>
          </a:solidFill>
          <a:latin typeface="+mn-lt"/>
          <a:ea typeface="+mn-ea"/>
          <a:cs typeface="+mn-cs"/>
        </a:defRPr>
      </a:lvl2pPr>
      <a:lvl3pPr marL="1219170" algn="l" defTabSz="1219170" rtl="0" eaLnBrk="1" latinLnBrk="1" hangingPunct="1">
        <a:defRPr sz="2400" kern="1200">
          <a:solidFill>
            <a:schemeClr val="tx1"/>
          </a:solidFill>
          <a:latin typeface="+mn-lt"/>
          <a:ea typeface="+mn-ea"/>
          <a:cs typeface="+mn-cs"/>
        </a:defRPr>
      </a:lvl3pPr>
      <a:lvl4pPr marL="1828754" algn="l" defTabSz="1219170" rtl="0" eaLnBrk="1" latinLnBrk="1" hangingPunct="1">
        <a:defRPr sz="2400" kern="1200">
          <a:solidFill>
            <a:schemeClr val="tx1"/>
          </a:solidFill>
          <a:latin typeface="+mn-lt"/>
          <a:ea typeface="+mn-ea"/>
          <a:cs typeface="+mn-cs"/>
        </a:defRPr>
      </a:lvl4pPr>
      <a:lvl5pPr marL="2438339" algn="l" defTabSz="1219170" rtl="0" eaLnBrk="1" latinLnBrk="1" hangingPunct="1">
        <a:defRPr sz="2400" kern="1200">
          <a:solidFill>
            <a:schemeClr val="tx1"/>
          </a:solidFill>
          <a:latin typeface="+mn-lt"/>
          <a:ea typeface="+mn-ea"/>
          <a:cs typeface="+mn-cs"/>
        </a:defRPr>
      </a:lvl5pPr>
      <a:lvl6pPr marL="3047924" algn="l" defTabSz="1219170" rtl="0" eaLnBrk="1" latinLnBrk="1" hangingPunct="1">
        <a:defRPr sz="2400" kern="1200">
          <a:solidFill>
            <a:schemeClr val="tx1"/>
          </a:solidFill>
          <a:latin typeface="+mn-lt"/>
          <a:ea typeface="+mn-ea"/>
          <a:cs typeface="+mn-cs"/>
        </a:defRPr>
      </a:lvl6pPr>
      <a:lvl7pPr marL="3657509" algn="l" defTabSz="1219170" rtl="0" eaLnBrk="1" latinLnBrk="1" hangingPunct="1">
        <a:defRPr sz="2400" kern="1200">
          <a:solidFill>
            <a:schemeClr val="tx1"/>
          </a:solidFill>
          <a:latin typeface="+mn-lt"/>
          <a:ea typeface="+mn-ea"/>
          <a:cs typeface="+mn-cs"/>
        </a:defRPr>
      </a:lvl7pPr>
      <a:lvl8pPr marL="4267093" algn="l" defTabSz="1219170" rtl="0" eaLnBrk="1" latinLnBrk="1" hangingPunct="1">
        <a:defRPr sz="2400" kern="1200">
          <a:solidFill>
            <a:schemeClr val="tx1"/>
          </a:solidFill>
          <a:latin typeface="+mn-lt"/>
          <a:ea typeface="+mn-ea"/>
          <a:cs typeface="+mn-cs"/>
        </a:defRPr>
      </a:lvl8pPr>
      <a:lvl9pPr marL="4876678" algn="l" defTabSz="1219170" rtl="0" eaLnBrk="1" latinLnBrk="1"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microsoft.com/office/2007/relationships/hdphoto" Target="../media/hdphoto1.wdp"/><Relationship Id="rId5" Type="http://schemas.openxmlformats.org/officeDocument/2006/relationships/image" Target="../media/image7.png"/><Relationship Id="rId4" Type="http://schemas.openxmlformats.org/officeDocument/2006/relationships/oleObject" Target="../embeddings/oleObject1.bin"/></Relationships>
</file>

<file path=ppt/slides/_rels/slide2.xml.rels><?xml version="1.0" encoding="UTF-8" standalone="yes"?>
<Relationships xmlns="http://schemas.openxmlformats.org/package/2006/relationships"><Relationship Id="rId3" Type="http://schemas.openxmlformats.org/officeDocument/2006/relationships/hyperlink" Target="https://library.automationdirect.com/basic-electrical-theory/" TargetMode="External"/><Relationship Id="rId2" Type="http://schemas.openxmlformats.org/officeDocument/2006/relationships/slideLayout" Target="../slideLayouts/slideLayout8.xml"/><Relationship Id="rId1" Type="http://schemas.openxmlformats.org/officeDocument/2006/relationships/tags" Target="../tags/tag2.xml"/><Relationship Id="rId4" Type="http://schemas.openxmlformats.org/officeDocument/2006/relationships/image" Target="../media/image8.jpeg"/></Relationships>
</file>

<file path=ppt/slides/_rels/slide3.xml.rels><?xml version="1.0" encoding="UTF-8" standalone="yes"?>
<Relationships xmlns="http://schemas.openxmlformats.org/package/2006/relationships"><Relationship Id="rId3" Type="http://schemas.openxmlformats.org/officeDocument/2006/relationships/hyperlink" Target="https://library.automationdirect.com/basic-electrical-theory/" TargetMode="External"/><Relationship Id="rId2" Type="http://schemas.openxmlformats.org/officeDocument/2006/relationships/slideLayout" Target="../slideLayouts/slideLayout8.xml"/><Relationship Id="rId1" Type="http://schemas.openxmlformats.org/officeDocument/2006/relationships/tags" Target="../tags/tag3.xml"/><Relationship Id="rId4" Type="http://schemas.openxmlformats.org/officeDocument/2006/relationships/image" Target="../media/image9.jpe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ags" Target="../tags/tag4.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5.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6.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slideLayout" Target="../slideLayouts/slideLayout2.xml"/><Relationship Id="rId1" Type="http://schemas.openxmlformats.org/officeDocument/2006/relationships/tags" Target="../tags/tag8.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9.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0.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slideLayout" Target="../slideLayouts/slideLayout2.xml"/><Relationship Id="rId1" Type="http://schemas.openxmlformats.org/officeDocument/2006/relationships/tags" Target="../tags/tag11.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slideLayout" Target="../slideLayouts/slideLayout2.xml"/><Relationship Id="rId1" Type="http://schemas.openxmlformats.org/officeDocument/2006/relationships/tags" Target="../tags/tag12.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slideLayout" Target="../slideLayouts/slideLayout2.xml"/><Relationship Id="rId1" Type="http://schemas.openxmlformats.org/officeDocument/2006/relationships/tags" Target="../tags/tag13.xml"/></Relationships>
</file>

<file path=ppt/slides/_rels/slide14.xml.rels><?xml version="1.0" encoding="UTF-8" standalone="yes"?>
<Relationships xmlns="http://schemas.openxmlformats.org/package/2006/relationships"><Relationship Id="rId3" Type="http://schemas.openxmlformats.org/officeDocument/2006/relationships/hyperlink" Target="https://www.physics-and-radio-electronics.com/electronic-devices-and-circuits/transistors/bipolarjunctiontransistor/commonemitterconfiguration.html" TargetMode="External"/><Relationship Id="rId2" Type="http://schemas.openxmlformats.org/officeDocument/2006/relationships/slideLayout" Target="../slideLayouts/slideLayout2.xml"/><Relationship Id="rId1" Type="http://schemas.openxmlformats.org/officeDocument/2006/relationships/tags" Target="../tags/tag14.xml"/><Relationship Id="rId4" Type="http://schemas.openxmlformats.org/officeDocument/2006/relationships/image" Target="../media/image14.png"/></Relationships>
</file>

<file path=ppt/slides/_rels/slide15.xml.rels><?xml version="1.0" encoding="UTF-8" standalone="yes"?>
<Relationships xmlns="http://schemas.openxmlformats.org/package/2006/relationships"><Relationship Id="rId3" Type="http://schemas.openxmlformats.org/officeDocument/2006/relationships/hyperlink" Target="https://www.physics-and-radio-electronics.com/electronic-devices-and-circuits/transistors/bipolarjunctiontransistor/commonemitterconfiguration.html" TargetMode="External"/><Relationship Id="rId2" Type="http://schemas.openxmlformats.org/officeDocument/2006/relationships/slideLayout" Target="../slideLayouts/slideLayout2.xml"/><Relationship Id="rId1" Type="http://schemas.openxmlformats.org/officeDocument/2006/relationships/tags" Target="../tags/tag15.xml"/><Relationship Id="rId4" Type="http://schemas.openxmlformats.org/officeDocument/2006/relationships/image" Target="../media/image15.png"/></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slideLayout" Target="../slideLayouts/slideLayout2.xml"/><Relationship Id="rId1" Type="http://schemas.openxmlformats.org/officeDocument/2006/relationships/tags" Target="../tags/tag16.xml"/><Relationship Id="rId4" Type="http://schemas.openxmlformats.org/officeDocument/2006/relationships/hyperlink" Target="https://www.physics-and-radio-electronics.com/electronic-devices-and-circuits/transistors/bipolarjunctiontransistor/commonemitterconfiguration.html" TargetMode="External"/></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7.xml"/></Relationships>
</file>

<file path=ppt/slides/_rels/slide18.xml.rels><?xml version="1.0" encoding="UTF-8" standalone="yes"?>
<Relationships xmlns="http://schemas.openxmlformats.org/package/2006/relationships"><Relationship Id="rId3" Type="http://schemas.openxmlformats.org/officeDocument/2006/relationships/hyperlink" Target="https://www.physics-and-radio-electronics.com/electronic-devices-and-circuits/transistors/bipolarjunctiontransistor/commonemitterconfiguration.html" TargetMode="External"/><Relationship Id="rId2" Type="http://schemas.openxmlformats.org/officeDocument/2006/relationships/slideLayout" Target="../slideLayouts/slideLayout2.xml"/><Relationship Id="rId1" Type="http://schemas.openxmlformats.org/officeDocument/2006/relationships/tags" Target="../tags/tag18.xml"/><Relationship Id="rId4" Type="http://schemas.openxmlformats.org/officeDocument/2006/relationships/image" Target="../media/image17.png"/></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9.xml"/></Relationships>
</file>

<file path=ppt/slides/_rels/slide2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slideLayout" Target="../slideLayouts/slideLayout2.xml"/><Relationship Id="rId1" Type="http://schemas.openxmlformats.org/officeDocument/2006/relationships/tags" Target="../tags/tag20.xml"/><Relationship Id="rId4" Type="http://schemas.openxmlformats.org/officeDocument/2006/relationships/image" Target="../media/image19.png"/></Relationships>
</file>

<file path=ppt/slides/_rels/slide21.xml.rels><?xml version="1.0" encoding="UTF-8" standalone="yes"?>
<Relationships xmlns="http://schemas.openxmlformats.org/package/2006/relationships"><Relationship Id="rId3" Type="http://schemas.openxmlformats.org/officeDocument/2006/relationships/hyperlink" Target="https://www.physics-and-radio-electronics.com/electronic-devices-and-circuits/transistors/bipolarjunctiontransistor/commoncollectorconfiguration.html" TargetMode="External"/><Relationship Id="rId2" Type="http://schemas.openxmlformats.org/officeDocument/2006/relationships/slideLayout" Target="../slideLayouts/slideLayout2.xml"/><Relationship Id="rId1" Type="http://schemas.openxmlformats.org/officeDocument/2006/relationships/tags" Target="../tags/tag21.xml"/><Relationship Id="rId4" Type="http://schemas.openxmlformats.org/officeDocument/2006/relationships/image" Target="../media/image20.png"/></Relationships>
</file>

<file path=ppt/slides/_rels/slide2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slideLayout" Target="../slideLayouts/slideLayout2.xml"/><Relationship Id="rId1" Type="http://schemas.openxmlformats.org/officeDocument/2006/relationships/tags" Target="../tags/tag22.xml"/><Relationship Id="rId4" Type="http://schemas.openxmlformats.org/officeDocument/2006/relationships/hyperlink" Target="https://www.physics-and-radio-electronics.com/electronic-devices-and-circuits/transistors/bipolarjunctiontransistor/commoncollectorconfiguration.html" TargetMode="External"/></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3.xml"/></Relationships>
</file>

<file path=ppt/slides/_rels/slide2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slideLayout" Target="../slideLayouts/slideLayout2.xml"/><Relationship Id="rId1" Type="http://schemas.openxmlformats.org/officeDocument/2006/relationships/tags" Target="../tags/tag24.xml"/><Relationship Id="rId4" Type="http://schemas.openxmlformats.org/officeDocument/2006/relationships/hyperlink" Target="https://www.physics-and-radio-electronics.com/electronic-devices-and-circuits/transistors/bipolarjunctiontransistor/commoncollectorconfiguration.html" TargetMode="External"/></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5.xml"/></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6.xml"/></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7.xml"/></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8.xml"/></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9.xml"/></Relationships>
</file>

<file path=ppt/slides/_rels/slide3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slideLayout" Target="../slideLayouts/slideLayout8.xml"/><Relationship Id="rId1" Type="http://schemas.openxmlformats.org/officeDocument/2006/relationships/tags" Target="../tags/tag30.xml"/></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1.xml"/></Relationships>
</file>

<file path=ppt/slides/_rels/slide32.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slideLayout" Target="../slideLayouts/slideLayout2.xml"/><Relationship Id="rId1" Type="http://schemas.openxmlformats.org/officeDocument/2006/relationships/tags" Target="../tags/tag32.xml"/><Relationship Id="rId4" Type="http://schemas.openxmlformats.org/officeDocument/2006/relationships/image" Target="../media/image25.jpe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Rectangle 30"/>
          <p:cNvSpPr/>
          <p:nvPr/>
        </p:nvSpPr>
        <p:spPr>
          <a:xfrm>
            <a:off x="-4421" y="5427341"/>
            <a:ext cx="12196420" cy="1518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p:cNvSpPr/>
          <p:nvPr/>
        </p:nvSpPr>
        <p:spPr>
          <a:xfrm>
            <a:off x="302197" y="5901985"/>
            <a:ext cx="45719" cy="613881"/>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Slide Number Placeholder 2"/>
          <p:cNvSpPr txBox="1">
            <a:spLocks/>
          </p:cNvSpPr>
          <p:nvPr/>
        </p:nvSpPr>
        <p:spPr>
          <a:xfrm>
            <a:off x="8763000" y="65087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46" name="Right Triangle 45">
            <a:extLst>
              <a:ext uri="{FF2B5EF4-FFF2-40B4-BE49-F238E27FC236}">
                <a16:creationId xmlns="" xmlns:a16="http://schemas.microsoft.com/office/drawing/2014/main" id="{0983CA01-DED8-4A8A-82CA-5B1BE1DADB0C}"/>
              </a:ext>
            </a:extLst>
          </p:cNvPr>
          <p:cNvSpPr/>
          <p:nvPr/>
        </p:nvSpPr>
        <p:spPr>
          <a:xfrm flipV="1">
            <a:off x="9506857" y="5939880"/>
            <a:ext cx="1291772" cy="1157606"/>
          </a:xfrm>
          <a:prstGeom prst="rtTriangle">
            <a:avLst/>
          </a:prstGeom>
          <a:solidFill>
            <a:srgbClr val="FFFFFF">
              <a:lumMod val="95000"/>
              <a:alpha val="17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D" sz="1800" b="0" i="0" u="none" strike="noStrike" kern="0" cap="none" spc="0" normalizeH="0" baseline="0" noProof="0" smtClean="0">
              <a:ln>
                <a:noFill/>
              </a:ln>
              <a:solidFill>
                <a:srgbClr val="FFFFFF"/>
              </a:solidFill>
              <a:effectLst/>
              <a:uLnTx/>
              <a:uFillTx/>
              <a:latin typeface="Calibri" panose="020F0502020204030204"/>
            </a:endParaRPr>
          </a:p>
        </p:txBody>
      </p:sp>
      <p:graphicFrame>
        <p:nvGraphicFramePr>
          <p:cNvPr id="48" name="Object 47">
            <a:extLst>
              <a:ext uri="{FF2B5EF4-FFF2-40B4-BE49-F238E27FC236}">
                <a16:creationId xmlns="" xmlns:a16="http://schemas.microsoft.com/office/drawing/2014/main" id="{CAD0D7B8-E462-453C-B296-CA0154FA54AE}"/>
              </a:ext>
            </a:extLst>
          </p:cNvPr>
          <p:cNvGraphicFramePr>
            <a:graphicFrameLocks noChangeAspect="1"/>
          </p:cNvGraphicFramePr>
          <p:nvPr>
            <p:extLst>
              <p:ext uri="{D42A27DB-BD31-4B8C-83A1-F6EECF244321}">
                <p14:modId xmlns:p14="http://schemas.microsoft.com/office/powerpoint/2010/main" xmlns="" val="689304721"/>
              </p:ext>
            </p:extLst>
          </p:nvPr>
        </p:nvGraphicFramePr>
        <p:xfrm>
          <a:off x="494804" y="4023363"/>
          <a:ext cx="2631143" cy="2507676"/>
        </p:xfrm>
        <a:graphic>
          <a:graphicData uri="http://schemas.openxmlformats.org/presentationml/2006/ole">
            <p:oleObj spid="_x0000_s1026" name="CorelDRAW" r:id="rId4" imgW="2169000" imgH="2169360" progId="">
              <p:embed/>
            </p:oleObj>
          </a:graphicData>
        </a:graphic>
      </p:graphicFrame>
      <p:sp>
        <p:nvSpPr>
          <p:cNvPr id="37" name="Right Triangle 36">
            <a:extLst>
              <a:ext uri="{FF2B5EF4-FFF2-40B4-BE49-F238E27FC236}">
                <a16:creationId xmlns="" xmlns:a16="http://schemas.microsoft.com/office/drawing/2014/main" id="{0983CA01-DED8-4A8A-82CA-5B1BE1DADB0C}"/>
              </a:ext>
            </a:extLst>
          </p:cNvPr>
          <p:cNvSpPr/>
          <p:nvPr/>
        </p:nvSpPr>
        <p:spPr>
          <a:xfrm flipH="1">
            <a:off x="7045437" y="-64960"/>
            <a:ext cx="5146562" cy="5852440"/>
          </a:xfrm>
          <a:prstGeom prst="rtTriangle">
            <a:avLst/>
          </a:prstGeom>
          <a:solidFill>
            <a:srgbClr val="FFFFFF">
              <a:lumMod val="95000"/>
              <a:alpha val="17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D" sz="1800" b="0" i="0" u="none" strike="noStrike" kern="0" cap="none" spc="0" normalizeH="0" baseline="0" noProof="0" smtClean="0">
              <a:ln>
                <a:noFill/>
              </a:ln>
              <a:solidFill>
                <a:srgbClr val="FFFFFF"/>
              </a:solidFill>
              <a:effectLst/>
              <a:uLnTx/>
              <a:uFillTx/>
              <a:latin typeface="Calibri" panose="020F0502020204030204"/>
            </a:endParaRPr>
          </a:p>
        </p:txBody>
      </p:sp>
      <p:sp>
        <p:nvSpPr>
          <p:cNvPr id="45" name="Rectangle 44"/>
          <p:cNvSpPr/>
          <p:nvPr/>
        </p:nvSpPr>
        <p:spPr>
          <a:xfrm>
            <a:off x="2124074" y="2025525"/>
            <a:ext cx="6829425" cy="1580679"/>
          </a:xfrm>
          <a:prstGeom prst="rect">
            <a:avLst/>
          </a:prstGeom>
          <a:gradFill flip="none" rotWithShape="1">
            <a:gsLst>
              <a:gs pos="15000">
                <a:srgbClr val="FFFFFF">
                  <a:alpha val="34000"/>
                </a:srgbClr>
              </a:gs>
              <a:gs pos="94000">
                <a:srgbClr val="FFFFFF">
                  <a:alpha val="34000"/>
                </a:srgbClr>
              </a:gs>
              <a:gs pos="2655">
                <a:schemeClr val="bg1">
                  <a:alpha val="0"/>
                </a:schemeClr>
              </a:gs>
              <a:gs pos="51000">
                <a:schemeClr val="bg1"/>
              </a:gs>
              <a:gs pos="100000">
                <a:schemeClr val="bg1">
                  <a:alpha val="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0" name="Picture 29"/>
          <p:cNvPicPr>
            <a:picLocks noChangeAspect="1"/>
          </p:cNvPicPr>
          <p:nvPr/>
        </p:nvPicPr>
        <p:blipFill>
          <a:blip r:embed="rId5" cstate="print">
            <a:extLst>
              <a:ext uri="{BEBA8EAE-BF5A-486C-A8C5-ECC9F3942E4B}">
                <a14:imgProps xmlns:a14="http://schemas.microsoft.com/office/drawing/2010/main" xmlns="">
                  <a14:imgLayer r:embed="rId6">
                    <a14:imgEffect>
                      <a14:colorTemperature colorTemp="5742"/>
                    </a14:imgEffect>
                    <a14:imgEffect>
                      <a14:saturation sat="238000"/>
                    </a14:imgEffect>
                  </a14:imgLayer>
                </a14:imgProps>
              </a:ext>
              <a:ext uri="{28A0092B-C50C-407E-A947-70E740481C1C}">
                <a14:useLocalDpi xmlns:a14="http://schemas.microsoft.com/office/drawing/2010/main" xmlns="" val="0"/>
              </a:ext>
            </a:extLst>
          </a:blip>
          <a:stretch>
            <a:fillRect/>
          </a:stretch>
        </p:blipFill>
        <p:spPr>
          <a:xfrm>
            <a:off x="12104" y="24501"/>
            <a:ext cx="3859753" cy="1538254"/>
          </a:xfrm>
          <a:prstGeom prst="rect">
            <a:avLst/>
          </a:prstGeom>
        </p:spPr>
      </p:pic>
      <p:sp>
        <p:nvSpPr>
          <p:cNvPr id="43" name="Right Triangle 42"/>
          <p:cNvSpPr/>
          <p:nvPr/>
        </p:nvSpPr>
        <p:spPr>
          <a:xfrm rot="10800000" flipV="1">
            <a:off x="9829797" y="5333999"/>
            <a:ext cx="2366623" cy="1600201"/>
          </a:xfrm>
          <a:prstGeom prst="rtTriangl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TextBox 35"/>
          <p:cNvSpPr txBox="1">
            <a:spLocks noChangeArrowheads="1"/>
          </p:cNvSpPr>
          <p:nvPr/>
        </p:nvSpPr>
        <p:spPr bwMode="auto">
          <a:xfrm>
            <a:off x="6881359" y="6019560"/>
            <a:ext cx="4928608" cy="64633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lvl="0"/>
            <a:r>
              <a:rPr lang="en-US" sz="2000" b="1" dirty="0">
                <a:solidFill>
                  <a:prstClr val="black">
                    <a:lumMod val="65000"/>
                    <a:lumOff val="35000"/>
                  </a:prstClr>
                </a:solidFill>
                <a:latin typeface="Casper" panose="02000506000000020004" pitchFamily="2" charset="0"/>
                <a:ea typeface="Karla" pitchFamily="2" charset="0"/>
                <a:cs typeface="Karla" pitchFamily="2" charset="0"/>
              </a:rPr>
              <a:t>DISCOVER . </a:t>
            </a:r>
            <a:r>
              <a:rPr lang="en-US" sz="2000" b="1" dirty="0">
                <a:solidFill>
                  <a:srgbClr val="C00000"/>
                </a:solidFill>
                <a:latin typeface="Casper" panose="02000506000000020004" pitchFamily="2" charset="0"/>
                <a:ea typeface="Karla" pitchFamily="2" charset="0"/>
                <a:cs typeface="Karla" pitchFamily="2" charset="0"/>
              </a:rPr>
              <a:t>LEARN</a:t>
            </a:r>
            <a:r>
              <a:rPr lang="en-US" sz="2000" b="1" dirty="0">
                <a:solidFill>
                  <a:prstClr val="black">
                    <a:lumMod val="65000"/>
                    <a:lumOff val="35000"/>
                  </a:prstClr>
                </a:solidFill>
                <a:latin typeface="Casper" panose="02000506000000020004" pitchFamily="2" charset="0"/>
                <a:ea typeface="Karla" pitchFamily="2" charset="0"/>
                <a:cs typeface="Karla" pitchFamily="2" charset="0"/>
              </a:rPr>
              <a:t> . EMPOWER</a:t>
            </a:r>
            <a:endParaRPr lang="en-US" sz="1200" b="1" dirty="0">
              <a:solidFill>
                <a:prstClr val="black"/>
              </a:solidFill>
              <a:latin typeface="Casper" panose="02000506000000020004" pitchFamily="2" charset="0"/>
            </a:endParaRPr>
          </a:p>
          <a:p>
            <a:pPr eaLnBrk="1" hangingPunct="1"/>
            <a:endParaRPr lang="en-US" sz="1600" b="1" dirty="0">
              <a:latin typeface="Casper" panose="02000506000000020004" pitchFamily="2" charset="0"/>
            </a:endParaRPr>
          </a:p>
        </p:txBody>
      </p:sp>
      <p:sp>
        <p:nvSpPr>
          <p:cNvPr id="52" name="Rectangle 51"/>
          <p:cNvSpPr/>
          <p:nvPr/>
        </p:nvSpPr>
        <p:spPr>
          <a:xfrm>
            <a:off x="6885780" y="6043646"/>
            <a:ext cx="45719" cy="37062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Box 25"/>
          <p:cNvSpPr txBox="1">
            <a:spLocks noChangeArrowheads="1"/>
          </p:cNvSpPr>
          <p:nvPr/>
        </p:nvSpPr>
        <p:spPr bwMode="auto">
          <a:xfrm>
            <a:off x="1214846" y="1281237"/>
            <a:ext cx="9832638" cy="603242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lvl="0" algn="ctr" defTabSz="622300">
              <a:lnSpc>
                <a:spcPct val="90000"/>
              </a:lnSpc>
              <a:spcBef>
                <a:spcPct val="0"/>
              </a:spcBef>
              <a:spcAft>
                <a:spcPct val="35000"/>
              </a:spcAft>
            </a:pPr>
            <a:r>
              <a:rPr lang="en-US" sz="3200" b="1" dirty="0" smtClean="0">
                <a:latin typeface="Arial Black" panose="020B0A04020102020204" pitchFamily="34" charset="0"/>
                <a:ea typeface="Karla" pitchFamily="2" charset="0"/>
                <a:cs typeface="Karla" pitchFamily="2" charset="0"/>
              </a:rPr>
              <a:t>INSTITUTE UIE </a:t>
            </a:r>
            <a:endParaRPr lang="en-US" sz="3200" b="1" dirty="0">
              <a:latin typeface="Arial Black" panose="020B0A04020102020204" pitchFamily="34" charset="0"/>
              <a:ea typeface="Karla" pitchFamily="2" charset="0"/>
              <a:cs typeface="Karla" pitchFamily="2" charset="0"/>
            </a:endParaRPr>
          </a:p>
          <a:p>
            <a:pPr lvl="0" algn="ctr" defTabSz="622300">
              <a:lnSpc>
                <a:spcPct val="90000"/>
              </a:lnSpc>
              <a:spcBef>
                <a:spcPct val="0"/>
              </a:spcBef>
              <a:spcAft>
                <a:spcPct val="35000"/>
              </a:spcAft>
            </a:pPr>
            <a:r>
              <a:rPr lang="en-US" sz="3200" b="1" dirty="0">
                <a:latin typeface="Arial Black" panose="020B0A04020102020204" pitchFamily="34" charset="0"/>
                <a:ea typeface="Karla" pitchFamily="2" charset="0"/>
                <a:cs typeface="Karla" pitchFamily="2" charset="0"/>
              </a:rPr>
              <a:t>DEPARTMENT ACADEMIC </a:t>
            </a:r>
            <a:r>
              <a:rPr lang="en-US" sz="3200" b="1" dirty="0" smtClean="0">
                <a:latin typeface="Arial Black" panose="020B0A04020102020204" pitchFamily="34" charset="0"/>
                <a:ea typeface="Karla" pitchFamily="2" charset="0"/>
                <a:cs typeface="Karla" pitchFamily="2" charset="0"/>
              </a:rPr>
              <a:t>UNIT-1 </a:t>
            </a:r>
            <a:endParaRPr lang="en-US" sz="3200" b="1" dirty="0">
              <a:latin typeface="Arial Black" panose="020B0A04020102020204" pitchFamily="34" charset="0"/>
              <a:ea typeface="Karla" pitchFamily="2" charset="0"/>
              <a:cs typeface="Karla" pitchFamily="2" charset="0"/>
            </a:endParaRPr>
          </a:p>
          <a:p>
            <a:pPr lvl="0" algn="ctr" defTabSz="622300">
              <a:lnSpc>
                <a:spcPct val="90000"/>
              </a:lnSpc>
              <a:spcBef>
                <a:spcPct val="0"/>
              </a:spcBef>
              <a:spcAft>
                <a:spcPct val="35000"/>
              </a:spcAft>
            </a:pPr>
            <a:r>
              <a:rPr lang="en-US" sz="2400" dirty="0" smtClean="0">
                <a:latin typeface="Times New Roman" panose="02020603050405020304" pitchFamily="18" charset="0"/>
                <a:ea typeface="Calibri" panose="020F0502020204030204" pitchFamily="34" charset="0"/>
                <a:cs typeface="Times New Roman" panose="02020603050405020304" pitchFamily="18" charset="0"/>
              </a:rPr>
              <a:t>Bachelor </a:t>
            </a:r>
            <a:r>
              <a:rPr lang="en-US" sz="2400" dirty="0">
                <a:latin typeface="Times New Roman" panose="02020603050405020304" pitchFamily="18" charset="0"/>
                <a:ea typeface="Calibri" panose="020F0502020204030204" pitchFamily="34" charset="0"/>
                <a:cs typeface="Times New Roman" panose="02020603050405020304" pitchFamily="18" charset="0"/>
              </a:rPr>
              <a:t>of </a:t>
            </a:r>
            <a:r>
              <a:rPr lang="en-US" sz="2400" dirty="0" smtClean="0">
                <a:latin typeface="Times New Roman" panose="02020603050405020304" pitchFamily="18" charset="0"/>
                <a:ea typeface="Calibri" panose="020F0502020204030204" pitchFamily="34" charset="0"/>
                <a:cs typeface="Times New Roman" panose="02020603050405020304" pitchFamily="18" charset="0"/>
              </a:rPr>
              <a:t>Engineering (Computer Science &amp; Engineering) </a:t>
            </a:r>
          </a:p>
          <a:p>
            <a:pPr lvl="0" algn="ctr" defTabSz="622300">
              <a:lnSpc>
                <a:spcPct val="90000"/>
              </a:lnSpc>
              <a:spcBef>
                <a:spcPct val="0"/>
              </a:spcBef>
              <a:spcAft>
                <a:spcPct val="35000"/>
              </a:spcAft>
            </a:pPr>
            <a:r>
              <a:rPr lang="en-US" sz="2400" dirty="0" smtClean="0">
                <a:latin typeface="Times New Roman" panose="02020603050405020304" pitchFamily="18" charset="0"/>
                <a:ea typeface="Calibri" panose="020F0502020204030204" pitchFamily="34" charset="0"/>
                <a:cs typeface="Times New Roman" panose="02020603050405020304" pitchFamily="18" charset="0"/>
              </a:rPr>
              <a:t>Subject Name Semi Conductor Physics</a:t>
            </a:r>
          </a:p>
          <a:p>
            <a:pPr lvl="0" algn="ctr" defTabSz="622300">
              <a:lnSpc>
                <a:spcPct val="90000"/>
              </a:lnSpc>
              <a:spcBef>
                <a:spcPct val="0"/>
              </a:spcBef>
              <a:spcAft>
                <a:spcPct val="35000"/>
              </a:spcAft>
            </a:pPr>
            <a:r>
              <a:rPr lang="en-US" sz="2400" dirty="0" smtClean="0">
                <a:latin typeface="Times New Roman" panose="02020603050405020304" pitchFamily="18" charset="0"/>
                <a:ea typeface="Calibri" panose="020F0502020204030204" pitchFamily="34" charset="0"/>
                <a:cs typeface="Times New Roman" panose="02020603050405020304" pitchFamily="18" charset="0"/>
              </a:rPr>
              <a:t>Subject Code 23SPH-143</a:t>
            </a:r>
          </a:p>
          <a:p>
            <a:pPr lvl="0" algn="ctr" defTabSz="622300">
              <a:lnSpc>
                <a:spcPct val="90000"/>
              </a:lnSpc>
              <a:spcBef>
                <a:spcPct val="0"/>
              </a:spcBef>
              <a:spcAft>
                <a:spcPct val="35000"/>
              </a:spcAft>
            </a:pPr>
            <a:r>
              <a:rPr lang="en-US" sz="2400" dirty="0" smtClean="0">
                <a:latin typeface="Times New Roman" panose="02020603050405020304" pitchFamily="18" charset="0"/>
                <a:ea typeface="Calibri" panose="020F0502020204030204" pitchFamily="34" charset="0"/>
                <a:cs typeface="Times New Roman" panose="02020603050405020304" pitchFamily="18" charset="0"/>
              </a:rPr>
              <a:t>Prepared By</a:t>
            </a:r>
          </a:p>
          <a:p>
            <a:pPr lvl="0" algn="ctr" defTabSz="622300">
              <a:lnSpc>
                <a:spcPct val="90000"/>
              </a:lnSpc>
              <a:spcBef>
                <a:spcPct val="0"/>
              </a:spcBef>
              <a:spcAft>
                <a:spcPct val="35000"/>
              </a:spcAft>
            </a:pPr>
            <a:r>
              <a:rPr lang="en-US" sz="2400" dirty="0" err="1" smtClean="0">
                <a:latin typeface="Times New Roman" panose="02020603050405020304" pitchFamily="18" charset="0"/>
                <a:ea typeface="Calibri" panose="020F0502020204030204" pitchFamily="34" charset="0"/>
                <a:cs typeface="Times New Roman" panose="02020603050405020304" pitchFamily="18" charset="0"/>
              </a:rPr>
              <a:t>Navjeet</a:t>
            </a:r>
            <a:r>
              <a:rPr lang="en-US" sz="2400" dirty="0" smtClean="0">
                <a:latin typeface="Times New Roman" panose="02020603050405020304" pitchFamily="18" charset="0"/>
                <a:ea typeface="Calibri" panose="020F0502020204030204" pitchFamily="34" charset="0"/>
                <a:cs typeface="Times New Roman" panose="02020603050405020304" pitchFamily="18" charset="0"/>
              </a:rPr>
              <a:t> </a:t>
            </a:r>
            <a:r>
              <a:rPr lang="en-US" sz="2400" dirty="0" err="1" smtClean="0">
                <a:latin typeface="Times New Roman" panose="02020603050405020304" pitchFamily="18" charset="0"/>
                <a:ea typeface="Calibri" panose="020F0502020204030204" pitchFamily="34" charset="0"/>
                <a:cs typeface="Times New Roman" panose="02020603050405020304" pitchFamily="18" charset="0"/>
              </a:rPr>
              <a:t>Kaur</a:t>
            </a:r>
            <a:endParaRPr lang="en-US" sz="2400" dirty="0" smtClean="0">
              <a:latin typeface="Times New Roman" panose="02020603050405020304" pitchFamily="18" charset="0"/>
              <a:ea typeface="Calibri" panose="020F0502020204030204" pitchFamily="34" charset="0"/>
              <a:cs typeface="Times New Roman" panose="02020603050405020304" pitchFamily="18" charset="0"/>
            </a:endParaRPr>
          </a:p>
          <a:p>
            <a:pPr lvl="0" algn="ctr" defTabSz="622300">
              <a:lnSpc>
                <a:spcPct val="90000"/>
              </a:lnSpc>
              <a:spcBef>
                <a:spcPct val="0"/>
              </a:spcBef>
              <a:spcAft>
                <a:spcPct val="35000"/>
              </a:spcAft>
            </a:pPr>
            <a:r>
              <a:rPr lang="en-US" sz="2400" dirty="0" smtClean="0">
                <a:latin typeface="Times New Roman" panose="02020603050405020304" pitchFamily="18" charset="0"/>
                <a:ea typeface="Calibri" panose="020F0502020204030204" pitchFamily="34" charset="0"/>
                <a:cs typeface="Times New Roman" panose="02020603050405020304" pitchFamily="18" charset="0"/>
              </a:rPr>
              <a:t>Experiment-2.1.3</a:t>
            </a:r>
            <a:endParaRPr lang="en-US" sz="2400" dirty="0" smtClean="0">
              <a:latin typeface="Times New Roman" panose="02020603050405020304" pitchFamily="18" charset="0"/>
              <a:ea typeface="Calibri" panose="020F0502020204030204" pitchFamily="34" charset="0"/>
              <a:cs typeface="Times New Roman" panose="02020603050405020304" pitchFamily="18" charset="0"/>
            </a:endParaRPr>
          </a:p>
          <a:p>
            <a:pPr algn="ctr" defTabSz="622300">
              <a:lnSpc>
                <a:spcPct val="90000"/>
              </a:lnSpc>
              <a:spcBef>
                <a:spcPct val="0"/>
              </a:spcBef>
              <a:spcAft>
                <a:spcPct val="35000"/>
              </a:spcAft>
            </a:pPr>
            <a:r>
              <a:rPr lang="en-IN" sz="2400" dirty="0" smtClean="0">
                <a:latin typeface="Times New Roman" pitchFamily="18" charset="0"/>
                <a:cs typeface="Times New Roman" pitchFamily="18" charset="0"/>
              </a:rPr>
              <a:t>Types of Transistor and its Configuration.</a:t>
            </a:r>
            <a:endParaRPr lang="en-US" sz="2400" b="1" dirty="0" smtClean="0">
              <a:solidFill>
                <a:prstClr val="black">
                  <a:lumMod val="85000"/>
                  <a:lumOff val="15000"/>
                </a:prstClr>
              </a:solidFill>
              <a:latin typeface="Times New Roman" pitchFamily="18" charset="0"/>
              <a:cs typeface="Times New Roman" pitchFamily="18" charset="0"/>
            </a:endParaRPr>
          </a:p>
          <a:p>
            <a:pPr lvl="0" algn="ctr" defTabSz="622300">
              <a:lnSpc>
                <a:spcPct val="90000"/>
              </a:lnSpc>
              <a:spcBef>
                <a:spcPct val="0"/>
              </a:spcBef>
              <a:spcAft>
                <a:spcPct val="35000"/>
              </a:spcAft>
            </a:pPr>
            <a:endParaRPr lang="en-US" sz="3200" b="1" dirty="0">
              <a:solidFill>
                <a:prstClr val="black">
                  <a:lumMod val="85000"/>
                  <a:lumOff val="15000"/>
                </a:prstClr>
              </a:solidFill>
              <a:latin typeface="Times New Roman" panose="02020603050405020304" pitchFamily="18" charset="0"/>
              <a:cs typeface="Times New Roman" panose="02020603050405020304" pitchFamily="18" charset="0"/>
            </a:endParaRPr>
          </a:p>
          <a:p>
            <a:pPr lvl="0" algn="ctr" defTabSz="622300">
              <a:lnSpc>
                <a:spcPct val="90000"/>
              </a:lnSpc>
              <a:spcBef>
                <a:spcPct val="0"/>
              </a:spcBef>
              <a:spcAft>
                <a:spcPct val="35000"/>
              </a:spcAft>
            </a:pPr>
            <a:r>
              <a:rPr lang="en-US" sz="3200" b="1" dirty="0" smtClean="0">
                <a:solidFill>
                  <a:prstClr val="black">
                    <a:lumMod val="85000"/>
                    <a:lumOff val="15000"/>
                  </a:prstClr>
                </a:solidFill>
                <a:latin typeface="Times New Roman" panose="02020603050405020304" pitchFamily="18" charset="0"/>
                <a:cs typeface="Times New Roman" panose="02020603050405020304" pitchFamily="18" charset="0"/>
              </a:rPr>
              <a:t>					</a:t>
            </a:r>
            <a:endParaRPr lang="en-US" sz="3200" b="1" dirty="0">
              <a:solidFill>
                <a:prstClr val="black">
                  <a:lumMod val="85000"/>
                  <a:lumOff val="15000"/>
                </a:prstClr>
              </a:solidFill>
              <a:latin typeface="Times New Roman" panose="02020603050405020304" pitchFamily="18" charset="0"/>
              <a:cs typeface="Times New Roman" panose="02020603050405020304" pitchFamily="18" charset="0"/>
            </a:endParaRPr>
          </a:p>
          <a:p>
            <a:pPr eaLnBrk="1" hangingPunct="1"/>
            <a:endParaRPr lang="en-US" sz="1600" dirty="0">
              <a:latin typeface="Raleway ExtraBold" pitchFamily="34" charset="-52"/>
            </a:endParaRPr>
          </a:p>
        </p:txBody>
      </p:sp>
    </p:spTree>
    <p:extLst>
      <p:ext uri="{BB962C8B-B14F-4D97-AF65-F5344CB8AC3E}">
        <p14:creationId xmlns:p14="http://schemas.microsoft.com/office/powerpoint/2010/main" xmlns="" val="456502190"/>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a:xfrm>
            <a:off x="8839200" y="6356350"/>
            <a:ext cx="2743200" cy="365125"/>
          </a:xfrm>
        </p:spPr>
        <p:txBody>
          <a:bodyPr/>
          <a:lstStyle/>
          <a:p>
            <a:fld id="{BDCDBBEF-AA6C-4BA6-85B2-A17D7F280E38}" type="slidenum">
              <a:rPr lang="en-US" smtClean="0"/>
              <a:pPr/>
              <a:t>2</a:t>
            </a:fld>
            <a:endParaRPr lang="en-US" dirty="0"/>
          </a:p>
        </p:txBody>
      </p:sp>
      <p:sp>
        <p:nvSpPr>
          <p:cNvPr id="8" name="Title 7"/>
          <p:cNvSpPr txBox="1">
            <a:spLocks noGrp="1" noChangeArrowheads="1"/>
          </p:cNvSpPr>
          <p:nvPr>
            <p:ph type="title"/>
          </p:nvPr>
        </p:nvSpPr>
        <p:spPr bwMode="auto">
          <a:xfrm>
            <a:off x="592954" y="605949"/>
            <a:ext cx="4456567" cy="131112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algn="ctr"/>
            <a:r>
              <a:rPr lang="en-US" sz="4400" b="1" dirty="0">
                <a:latin typeface="Casper"/>
              </a:rPr>
              <a:t>Course Objectives</a:t>
            </a:r>
          </a:p>
        </p:txBody>
      </p:sp>
      <p:sp>
        <p:nvSpPr>
          <p:cNvPr id="10" name="Oval 9"/>
          <p:cNvSpPr/>
          <p:nvPr/>
        </p:nvSpPr>
        <p:spPr>
          <a:xfrm>
            <a:off x="11217276" y="6324600"/>
            <a:ext cx="444500" cy="42227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2" name="Table 11"/>
          <p:cNvGraphicFramePr>
            <a:graphicFrameLocks noGrp="1"/>
          </p:cNvGraphicFramePr>
          <p:nvPr>
            <p:extLst>
              <p:ext uri="{D42A27DB-BD31-4B8C-83A1-F6EECF244321}">
                <p14:modId xmlns="" xmlns:p14="http://schemas.microsoft.com/office/powerpoint/2010/main" val="2453015479"/>
              </p:ext>
            </p:extLst>
          </p:nvPr>
        </p:nvGraphicFramePr>
        <p:xfrm>
          <a:off x="293914" y="2226079"/>
          <a:ext cx="6547757" cy="4158391"/>
        </p:xfrm>
        <a:graphic>
          <a:graphicData uri="http://schemas.openxmlformats.org/drawingml/2006/table">
            <a:tbl>
              <a:tblPr firstRow="1" firstCol="1" bandRow="1"/>
              <a:tblGrid>
                <a:gridCol w="587829">
                  <a:extLst>
                    <a:ext uri="{9D8B030D-6E8A-4147-A177-3AD203B41FA5}">
                      <a16:colId xmlns="" xmlns:a16="http://schemas.microsoft.com/office/drawing/2014/main" val="20000"/>
                    </a:ext>
                  </a:extLst>
                </a:gridCol>
                <a:gridCol w="5959928">
                  <a:extLst>
                    <a:ext uri="{9D8B030D-6E8A-4147-A177-3AD203B41FA5}">
                      <a16:colId xmlns="" xmlns:a16="http://schemas.microsoft.com/office/drawing/2014/main" val="20001"/>
                    </a:ext>
                  </a:extLst>
                </a:gridCol>
              </a:tblGrid>
              <a:tr h="772932">
                <a:tc>
                  <a:txBody>
                    <a:bodyPr/>
                    <a:lstStyle/>
                    <a:p>
                      <a:pPr algn="ctr" fontAlgn="ctr"/>
                      <a:r>
                        <a:rPr lang="en-US" sz="1800" b="1" i="0" u="none" strike="noStrike" dirty="0">
                          <a:solidFill>
                            <a:srgbClr val="000000"/>
                          </a:solidFill>
                          <a:effectLst/>
                          <a:latin typeface="Times New Roman" pitchFamily="18" charset="0"/>
                          <a:cs typeface="Times New Roman" pitchFamily="18" charset="0"/>
                        </a:rPr>
                        <a:t>S. No.</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800" b="1" i="0" u="none" strike="noStrike" dirty="0">
                          <a:solidFill>
                            <a:srgbClr val="000000"/>
                          </a:solidFill>
                          <a:effectLst/>
                          <a:latin typeface="Times New Roman" pitchFamily="18" charset="0"/>
                          <a:cs typeface="Times New Roman" pitchFamily="18" charset="0"/>
                        </a:rPr>
                        <a:t>Objectives</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10000"/>
                  </a:ext>
                </a:extLst>
              </a:tr>
              <a:tr h="1042403">
                <a:tc>
                  <a:txBody>
                    <a:bodyPr/>
                    <a:lstStyle/>
                    <a:p>
                      <a:pPr algn="ctr" fontAlgn="ctr"/>
                      <a:r>
                        <a:rPr lang="en-US" sz="1800" b="0" i="0" u="none" strike="noStrike" dirty="0">
                          <a:solidFill>
                            <a:schemeClr val="tx1"/>
                          </a:solidFill>
                          <a:effectLst/>
                          <a:latin typeface="Times New Roman" pitchFamily="18" charset="0"/>
                          <a:cs typeface="Times New Roman" pitchFamily="18" charset="0"/>
                        </a:rPr>
                        <a:t>1</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lvl="0" algn="l"/>
                      <a:r>
                        <a:rPr lang="en-US" sz="1800" kern="1200" dirty="0" smtClean="0">
                          <a:solidFill>
                            <a:schemeClr val="tx1"/>
                          </a:solidFill>
                          <a:latin typeface="Times New Roman" pitchFamily="18" charset="0"/>
                          <a:ea typeface="+mn-ea"/>
                          <a:cs typeface="Times New Roman" pitchFamily="18" charset="0"/>
                        </a:rPr>
                        <a:t>To understand the basic materials and properties of semiconductors.</a:t>
                      </a:r>
                      <a:endParaRPr lang="en-US" sz="1800" kern="1200" dirty="0">
                        <a:solidFill>
                          <a:schemeClr val="tx1"/>
                        </a:solidFill>
                        <a:latin typeface="Times New Roman" pitchFamily="18" charset="0"/>
                        <a:ea typeface="+mn-ea"/>
                        <a:cs typeface="Times New Roman" pitchFamily="18" charset="0"/>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10001"/>
                  </a:ext>
                </a:extLst>
              </a:tr>
              <a:tr h="997251">
                <a:tc>
                  <a:txBody>
                    <a:bodyPr/>
                    <a:lstStyle/>
                    <a:p>
                      <a:pPr algn="ctr" fontAlgn="ctr"/>
                      <a:r>
                        <a:rPr lang="en-US" sz="1800" b="0" i="0" u="none" strike="noStrike" dirty="0">
                          <a:solidFill>
                            <a:srgbClr val="000000"/>
                          </a:solidFill>
                          <a:effectLst/>
                          <a:latin typeface="Times New Roman" pitchFamily="18" charset="0"/>
                          <a:cs typeface="Times New Roman" pitchFamily="18" charset="0"/>
                        </a:rPr>
                        <a:t>2</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lvl="0" algn="l"/>
                      <a:r>
                        <a:rPr lang="en-US" sz="1800" kern="1200" dirty="0" smtClean="0">
                          <a:solidFill>
                            <a:schemeClr val="tx1"/>
                          </a:solidFill>
                          <a:latin typeface="Times New Roman" pitchFamily="18" charset="0"/>
                          <a:ea typeface="+mn-ea"/>
                          <a:cs typeface="Times New Roman" pitchFamily="18" charset="0"/>
                        </a:rPr>
                        <a:t>Understand the basic of semiconductor and components like diode, transistor, FET, MOSFET and Energy Sources.</a:t>
                      </a:r>
                    </a:p>
                    <a:p>
                      <a:pPr algn="l" fontAlgn="ctr"/>
                      <a:endParaRPr lang="en-US" sz="1800" b="0" i="0" u="none" strike="noStrike" dirty="0">
                        <a:solidFill>
                          <a:srgbClr val="000000"/>
                        </a:solidFill>
                        <a:effectLst/>
                        <a:latin typeface="Times New Roman" pitchFamily="18" charset="0"/>
                        <a:cs typeface="Times New Roman" pitchFamily="18" charset="0"/>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10002"/>
                  </a:ext>
                </a:extLst>
              </a:tr>
              <a:tr h="1345805">
                <a:tc>
                  <a:txBody>
                    <a:bodyPr/>
                    <a:lstStyle/>
                    <a:p>
                      <a:pPr algn="ctr" fontAlgn="ctr"/>
                      <a:r>
                        <a:rPr lang="en-US" sz="1800" b="0" i="0" u="none" strike="noStrike" dirty="0">
                          <a:solidFill>
                            <a:srgbClr val="000000"/>
                          </a:solidFill>
                          <a:effectLst/>
                          <a:latin typeface="Times New Roman" pitchFamily="18" charset="0"/>
                          <a:cs typeface="Times New Roman" pitchFamily="18" charset="0"/>
                        </a:rPr>
                        <a:t>3</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en-IN" sz="1800" kern="1200" dirty="0" smtClean="0">
                          <a:solidFill>
                            <a:schemeClr val="tx1"/>
                          </a:solidFill>
                          <a:latin typeface="Times New Roman" pitchFamily="18" charset="0"/>
                          <a:ea typeface="+mn-ea"/>
                          <a:cs typeface="Times New Roman" pitchFamily="18" charset="0"/>
                        </a:rPr>
                        <a:t>To give knowledge about semiconductor physics and discus working and applications of basic devices, including p-n junctions, BJTs and FETs.</a:t>
                      </a:r>
                      <a:endParaRPr lang="en-US" sz="1800" kern="1200" dirty="0" smtClean="0">
                        <a:solidFill>
                          <a:schemeClr val="tx1"/>
                        </a:solidFill>
                        <a:latin typeface="Times New Roman" pitchFamily="18" charset="0"/>
                        <a:ea typeface="+mn-ea"/>
                        <a:cs typeface="Times New Roman" pitchFamily="18" charset="0"/>
                      </a:endParaRPr>
                    </a:p>
                    <a:p>
                      <a:pPr algn="l" fontAlgn="ctr"/>
                      <a:endParaRPr lang="en-US" sz="1800" b="0" i="0" u="none" strike="noStrike" dirty="0">
                        <a:solidFill>
                          <a:srgbClr val="000000"/>
                        </a:solidFill>
                        <a:effectLst/>
                        <a:latin typeface="Times New Roman" pitchFamily="18" charset="0"/>
                        <a:cs typeface="Times New Roman" pitchFamily="18" charset="0"/>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10003"/>
                  </a:ext>
                </a:extLst>
              </a:tr>
            </a:tbl>
          </a:graphicData>
        </a:graphic>
      </p:graphicFrame>
      <p:sp>
        <p:nvSpPr>
          <p:cNvPr id="7" name="Content Placeholder 6"/>
          <p:cNvSpPr>
            <a:spLocks noGrp="1"/>
          </p:cNvSpPr>
          <p:nvPr>
            <p:ph idx="1"/>
          </p:nvPr>
        </p:nvSpPr>
        <p:spPr>
          <a:xfrm>
            <a:off x="7104849" y="5050301"/>
            <a:ext cx="4706194" cy="745588"/>
          </a:xfrm>
        </p:spPr>
        <p:txBody>
          <a:bodyPr>
            <a:noAutofit/>
          </a:bodyPr>
          <a:lstStyle/>
          <a:p>
            <a:pPr algn="ctr">
              <a:buNone/>
            </a:pPr>
            <a:r>
              <a:rPr lang="en-US" sz="1800" b="1" dirty="0">
                <a:solidFill>
                  <a:srgbClr val="7030A0"/>
                </a:solidFill>
                <a:hlinkClick r:id="rId3">
                  <a:extLst>
                    <a:ext uri="{A12FA001-AC4F-418D-AE19-62706E023703}">
                      <ahyp:hlinkClr xmlns="" xmlns:ahyp="http://schemas.microsoft.com/office/drawing/2018/hyperlinkcolor" val="tx"/>
                    </a:ext>
                  </a:extLst>
                </a:hlinkClick>
              </a:rPr>
              <a:t>https://www.iqsdirectory.com/resources/everything-you-ever-wanted-to-know-about-semiconductors/</a:t>
            </a:r>
            <a:endParaRPr lang="en-US" sz="1800" b="1" dirty="0">
              <a:solidFill>
                <a:srgbClr val="7030A0"/>
              </a:solidFill>
            </a:endParaRPr>
          </a:p>
        </p:txBody>
      </p:sp>
      <p:pic>
        <p:nvPicPr>
          <p:cNvPr id="3" name="Picture 2">
            <a:extLst>
              <a:ext uri="{FF2B5EF4-FFF2-40B4-BE49-F238E27FC236}">
                <a16:creationId xmlns="" xmlns:a16="http://schemas.microsoft.com/office/drawing/2014/main" id="{CF519C70-D760-42E7-8BD2-6D327CBFDD43}"/>
              </a:ext>
            </a:extLst>
          </p:cNvPr>
          <p:cNvPicPr>
            <a:picLocks noChangeAspect="1"/>
          </p:cNvPicPr>
          <p:nvPr/>
        </p:nvPicPr>
        <p:blipFill>
          <a:blip r:embed="rId4">
            <a:extLst>
              <a:ext uri="{28A0092B-C50C-407E-A947-70E740481C1C}">
                <a14:useLocalDpi xmlns="" xmlns:a14="http://schemas.microsoft.com/office/drawing/2010/main" val="0"/>
              </a:ext>
            </a:extLst>
          </a:blip>
          <a:stretch>
            <a:fillRect/>
          </a:stretch>
        </p:blipFill>
        <p:spPr>
          <a:xfrm>
            <a:off x="7094509" y="2226079"/>
            <a:ext cx="4716534" cy="2655409"/>
          </a:xfrm>
          <a:prstGeom prst="rect">
            <a:avLst/>
          </a:prstGeom>
        </p:spPr>
      </p:pic>
    </p:spTree>
    <p:custDataLst>
      <p:tags r:id="rId1"/>
    </p:custDataLst>
    <p:extLst>
      <p:ext uri="{BB962C8B-B14F-4D97-AF65-F5344CB8AC3E}">
        <p14:creationId xmlns="" xmlns:p14="http://schemas.microsoft.com/office/powerpoint/2010/main" val="40180973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a:xfrm>
            <a:off x="8839200" y="6356350"/>
            <a:ext cx="2743200" cy="365125"/>
          </a:xfrm>
        </p:spPr>
        <p:txBody>
          <a:bodyPr/>
          <a:lstStyle/>
          <a:p>
            <a:fld id="{BDCDBBEF-AA6C-4BA6-85B2-A17D7F280E38}" type="slidenum">
              <a:rPr lang="en-US" smtClean="0"/>
              <a:pPr/>
              <a:t>3</a:t>
            </a:fld>
            <a:endParaRPr lang="en-US" dirty="0"/>
          </a:p>
        </p:txBody>
      </p:sp>
      <p:sp>
        <p:nvSpPr>
          <p:cNvPr id="8" name="Title 7"/>
          <p:cNvSpPr txBox="1">
            <a:spLocks noGrp="1" noChangeArrowheads="1"/>
          </p:cNvSpPr>
          <p:nvPr>
            <p:ph type="title"/>
          </p:nvPr>
        </p:nvSpPr>
        <p:spPr bwMode="auto">
          <a:xfrm>
            <a:off x="854211" y="214063"/>
            <a:ext cx="4456567" cy="131112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algn="ctr"/>
            <a:r>
              <a:rPr lang="en-US" sz="4400" b="1" dirty="0">
                <a:latin typeface="Casper"/>
              </a:rPr>
              <a:t>Course Outcomes</a:t>
            </a:r>
          </a:p>
        </p:txBody>
      </p:sp>
      <p:sp>
        <p:nvSpPr>
          <p:cNvPr id="10" name="Oval 9"/>
          <p:cNvSpPr/>
          <p:nvPr/>
        </p:nvSpPr>
        <p:spPr>
          <a:xfrm>
            <a:off x="11217276" y="6324600"/>
            <a:ext cx="444500" cy="42227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Content Placeholder 8"/>
          <p:cNvSpPr>
            <a:spLocks noGrp="1"/>
          </p:cNvSpPr>
          <p:nvPr>
            <p:ph idx="1"/>
          </p:nvPr>
        </p:nvSpPr>
        <p:spPr>
          <a:xfrm>
            <a:off x="6566485" y="5421087"/>
            <a:ext cx="5214762" cy="518341"/>
          </a:xfrm>
        </p:spPr>
        <p:txBody>
          <a:bodyPr>
            <a:noAutofit/>
          </a:bodyPr>
          <a:lstStyle/>
          <a:p>
            <a:pPr algn="ctr">
              <a:buNone/>
            </a:pPr>
            <a:r>
              <a:rPr lang="en-US" sz="1800" b="1" dirty="0">
                <a:solidFill>
                  <a:srgbClr val="7030A0"/>
                </a:solidFill>
                <a:hlinkClick r:id="rId3">
                  <a:extLst>
                    <a:ext uri="{A12FA001-AC4F-418D-AE19-62706E023703}">
                      <ahyp:hlinkClr xmlns="" xmlns:ahyp="http://schemas.microsoft.com/office/drawing/2018/hyperlinkcolor" val="tx"/>
                    </a:ext>
                  </a:extLst>
                </a:hlinkClick>
              </a:rPr>
              <a:t>https://lot.dhl.com/5-things-the-current-semiconductor-slowdown-tells-us-about-the-global-economy/</a:t>
            </a:r>
            <a:endParaRPr lang="en-US" sz="1800" b="1" dirty="0">
              <a:solidFill>
                <a:srgbClr val="7030A0"/>
              </a:solidFill>
            </a:endParaRPr>
          </a:p>
        </p:txBody>
      </p:sp>
      <p:graphicFrame>
        <p:nvGraphicFramePr>
          <p:cNvPr id="2" name="Table 1">
            <a:extLst>
              <a:ext uri="{FF2B5EF4-FFF2-40B4-BE49-F238E27FC236}">
                <a16:creationId xmlns="" xmlns:a16="http://schemas.microsoft.com/office/drawing/2014/main" id="{8162587E-E0B8-4626-8CC1-A1300E812FD3}"/>
              </a:ext>
            </a:extLst>
          </p:cNvPr>
          <p:cNvGraphicFramePr>
            <a:graphicFrameLocks noGrp="1"/>
          </p:cNvGraphicFramePr>
          <p:nvPr>
            <p:extLst>
              <p:ext uri="{D42A27DB-BD31-4B8C-83A1-F6EECF244321}">
                <p14:modId xmlns="" xmlns:p14="http://schemas.microsoft.com/office/powerpoint/2010/main" val="637862230"/>
              </p:ext>
            </p:extLst>
          </p:nvPr>
        </p:nvGraphicFramePr>
        <p:xfrm>
          <a:off x="307925" y="1881052"/>
          <a:ext cx="6354132" cy="4778877"/>
        </p:xfrm>
        <a:graphic>
          <a:graphicData uri="http://schemas.openxmlformats.org/drawingml/2006/table">
            <a:tbl>
              <a:tblPr firstRow="1" firstCol="1" bandRow="1">
                <a:tableStyleId>{5940675A-B579-460E-94D1-54222C63F5DA}</a:tableStyleId>
              </a:tblPr>
              <a:tblGrid>
                <a:gridCol w="709811">
                  <a:extLst>
                    <a:ext uri="{9D8B030D-6E8A-4147-A177-3AD203B41FA5}">
                      <a16:colId xmlns="" xmlns:a16="http://schemas.microsoft.com/office/drawing/2014/main" val="3145357031"/>
                    </a:ext>
                  </a:extLst>
                </a:gridCol>
                <a:gridCol w="3525847">
                  <a:extLst>
                    <a:ext uri="{9D8B030D-6E8A-4147-A177-3AD203B41FA5}">
                      <a16:colId xmlns="" xmlns:a16="http://schemas.microsoft.com/office/drawing/2014/main" val="1912344179"/>
                    </a:ext>
                  </a:extLst>
                </a:gridCol>
                <a:gridCol w="2118474">
                  <a:extLst>
                    <a:ext uri="{9D8B030D-6E8A-4147-A177-3AD203B41FA5}">
                      <a16:colId xmlns="" xmlns:a16="http://schemas.microsoft.com/office/drawing/2014/main" val="1723345131"/>
                    </a:ext>
                  </a:extLst>
                </a:gridCol>
              </a:tblGrid>
              <a:tr h="919098">
                <a:tc>
                  <a:txBody>
                    <a:bodyPr/>
                    <a:lstStyle/>
                    <a:p>
                      <a:pPr algn="just">
                        <a:spcBef>
                          <a:spcPts val="600"/>
                        </a:spcBef>
                        <a:spcAft>
                          <a:spcPts val="600"/>
                        </a:spcAft>
                      </a:pPr>
                      <a:r>
                        <a:rPr lang="en-US" sz="1600" dirty="0">
                          <a:effectLst/>
                        </a:rPr>
                        <a:t>S.NO</a:t>
                      </a:r>
                      <a:endParaRPr lang="en-IN" sz="1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just">
                        <a:spcBef>
                          <a:spcPts val="600"/>
                        </a:spcBef>
                        <a:spcAft>
                          <a:spcPts val="600"/>
                        </a:spcAft>
                      </a:pPr>
                      <a:r>
                        <a:rPr lang="en-US" sz="1600">
                          <a:effectLst/>
                        </a:rPr>
                        <a:t>Description</a:t>
                      </a:r>
                      <a:endParaRPr lang="en-IN"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just">
                        <a:spcBef>
                          <a:spcPts val="600"/>
                        </a:spcBef>
                        <a:spcAft>
                          <a:spcPts val="600"/>
                        </a:spcAft>
                      </a:pPr>
                      <a:r>
                        <a:rPr lang="en-US" sz="1600">
                          <a:effectLst/>
                        </a:rPr>
                        <a:t>Blooms’ Taxonomy Level</a:t>
                      </a:r>
                      <a:endParaRPr lang="en-IN"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 xmlns:a16="http://schemas.microsoft.com/office/drawing/2014/main" val="1035748488"/>
                  </a:ext>
                </a:extLst>
              </a:tr>
              <a:tr h="660601">
                <a:tc>
                  <a:txBody>
                    <a:bodyPr/>
                    <a:lstStyle/>
                    <a:p>
                      <a:pPr marR="53975" algn="ctr">
                        <a:lnSpc>
                          <a:spcPct val="107000"/>
                        </a:lnSpc>
                        <a:spcAft>
                          <a:spcPts val="0"/>
                        </a:spcAft>
                      </a:pPr>
                      <a:r>
                        <a:rPr lang="en-IN" sz="1400" dirty="0">
                          <a:latin typeface="Times New Roman"/>
                          <a:ea typeface="Times New Roman"/>
                          <a:cs typeface="Raavi"/>
                        </a:rPr>
                        <a:t>CO1</a:t>
                      </a:r>
                      <a:endParaRPr lang="en-US" sz="1400" dirty="0">
                        <a:latin typeface="Calibri"/>
                        <a:ea typeface="Calibri"/>
                        <a:cs typeface="Raavi"/>
                      </a:endParaRPr>
                    </a:p>
                  </a:txBody>
                  <a:tcPr marL="68580" marR="68580" marT="0" marB="0" anchor="ctr"/>
                </a:tc>
                <a:tc>
                  <a:txBody>
                    <a:bodyPr/>
                    <a:lstStyle/>
                    <a:p>
                      <a:pPr algn="just">
                        <a:lnSpc>
                          <a:spcPct val="115000"/>
                        </a:lnSpc>
                        <a:spcAft>
                          <a:spcPts val="0"/>
                        </a:spcAft>
                      </a:pPr>
                      <a:r>
                        <a:rPr lang="en-IN" sz="1400" dirty="0">
                          <a:latin typeface="Times New Roman"/>
                          <a:ea typeface="Adobe Garamond Pro"/>
                          <a:cs typeface="Raavi"/>
                        </a:rPr>
                        <a:t>To apply the knowledge of basic semiconductor material physics and understand fabrication processes.</a:t>
                      </a:r>
                      <a:endParaRPr lang="en-US" sz="1400" dirty="0">
                        <a:latin typeface="Calibri"/>
                        <a:cs typeface="Raavi"/>
                      </a:endParaRPr>
                    </a:p>
                  </a:txBody>
                  <a:tcPr marL="68580" marR="68580" marT="0" marB="0"/>
                </a:tc>
                <a:tc>
                  <a:txBody>
                    <a:bodyPr/>
                    <a:lstStyle/>
                    <a:p>
                      <a:pPr algn="ctr">
                        <a:lnSpc>
                          <a:spcPct val="107000"/>
                        </a:lnSpc>
                        <a:spcAft>
                          <a:spcPts val="0"/>
                        </a:spcAft>
                      </a:pPr>
                      <a:r>
                        <a:rPr lang="en-IN" sz="1400" dirty="0">
                          <a:latin typeface="Times New Roman"/>
                          <a:ea typeface="Times New Roman"/>
                          <a:cs typeface="Raavi"/>
                        </a:rPr>
                        <a:t>EASY</a:t>
                      </a:r>
                      <a:endParaRPr lang="en-US" sz="1400" dirty="0">
                        <a:latin typeface="Calibri"/>
                        <a:ea typeface="Calibri"/>
                        <a:cs typeface="Raavi"/>
                      </a:endParaRPr>
                    </a:p>
                  </a:txBody>
                  <a:tcPr marL="68580" marR="68580" marT="0" marB="0" anchor="ctr"/>
                </a:tc>
                <a:extLst>
                  <a:ext uri="{0D108BD9-81ED-4DB2-BD59-A6C34878D82A}">
                    <a16:rowId xmlns="" xmlns:a16="http://schemas.microsoft.com/office/drawing/2014/main" val="2905167788"/>
                  </a:ext>
                </a:extLst>
              </a:tr>
              <a:tr h="660601">
                <a:tc>
                  <a:txBody>
                    <a:bodyPr/>
                    <a:lstStyle/>
                    <a:p>
                      <a:pPr marR="53975" algn="ctr">
                        <a:lnSpc>
                          <a:spcPct val="107000"/>
                        </a:lnSpc>
                        <a:spcAft>
                          <a:spcPts val="0"/>
                        </a:spcAft>
                      </a:pPr>
                      <a:r>
                        <a:rPr lang="en-IN" sz="1400">
                          <a:latin typeface="Times New Roman"/>
                          <a:ea typeface="Times New Roman"/>
                          <a:cs typeface="Raavi"/>
                        </a:rPr>
                        <a:t>CO2</a:t>
                      </a:r>
                      <a:endParaRPr lang="en-US" sz="1400">
                        <a:latin typeface="Calibri"/>
                        <a:ea typeface="Calibri"/>
                        <a:cs typeface="Raavi"/>
                      </a:endParaRPr>
                    </a:p>
                  </a:txBody>
                  <a:tcPr marL="68580" marR="68580" marT="0" marB="0" anchor="ctr"/>
                </a:tc>
                <a:tc>
                  <a:txBody>
                    <a:bodyPr/>
                    <a:lstStyle/>
                    <a:p>
                      <a:pPr algn="just">
                        <a:lnSpc>
                          <a:spcPct val="115000"/>
                        </a:lnSpc>
                        <a:spcAft>
                          <a:spcPts val="0"/>
                        </a:spcAft>
                      </a:pPr>
                      <a:r>
                        <a:rPr lang="en-IN" sz="1400" dirty="0">
                          <a:solidFill>
                            <a:srgbClr val="000000"/>
                          </a:solidFill>
                          <a:latin typeface="Times New Roman"/>
                          <a:ea typeface="Times New Roman"/>
                          <a:cs typeface="Raavi"/>
                        </a:rPr>
                        <a:t>To understand </a:t>
                      </a:r>
                      <a:r>
                        <a:rPr lang="en-IN" sz="1400" dirty="0">
                          <a:latin typeface="Times New Roman"/>
                          <a:cs typeface="Raavi"/>
                        </a:rPr>
                        <a:t> the characteristics of different electronic devices such as diodes, transistors.</a:t>
                      </a:r>
                      <a:endParaRPr lang="en-US" sz="1400" dirty="0">
                        <a:latin typeface="Calibri"/>
                        <a:cs typeface="Raavi"/>
                      </a:endParaRPr>
                    </a:p>
                  </a:txBody>
                  <a:tcPr marL="68580" marR="68580" marT="0" marB="0"/>
                </a:tc>
                <a:tc>
                  <a:txBody>
                    <a:bodyPr/>
                    <a:lstStyle/>
                    <a:p>
                      <a:pPr algn="ctr">
                        <a:lnSpc>
                          <a:spcPct val="107000"/>
                        </a:lnSpc>
                        <a:spcAft>
                          <a:spcPts val="0"/>
                        </a:spcAft>
                      </a:pPr>
                      <a:r>
                        <a:rPr lang="en-IN" sz="1400">
                          <a:latin typeface="Times New Roman"/>
                          <a:ea typeface="Times New Roman"/>
                          <a:cs typeface="Raavi"/>
                        </a:rPr>
                        <a:t>MEDIUM</a:t>
                      </a:r>
                      <a:endParaRPr lang="en-US" sz="1400">
                        <a:latin typeface="Calibri"/>
                        <a:ea typeface="Calibri"/>
                        <a:cs typeface="Raavi"/>
                      </a:endParaRPr>
                    </a:p>
                  </a:txBody>
                  <a:tcPr marL="68580" marR="68580" marT="0" marB="0" anchor="ctr"/>
                </a:tc>
                <a:extLst>
                  <a:ext uri="{0D108BD9-81ED-4DB2-BD59-A6C34878D82A}">
                    <a16:rowId xmlns="" xmlns:a16="http://schemas.microsoft.com/office/drawing/2014/main" val="1036068956"/>
                  </a:ext>
                </a:extLst>
              </a:tr>
              <a:tr h="660601">
                <a:tc>
                  <a:txBody>
                    <a:bodyPr/>
                    <a:lstStyle/>
                    <a:p>
                      <a:pPr marR="53975" algn="ctr">
                        <a:lnSpc>
                          <a:spcPct val="107000"/>
                        </a:lnSpc>
                        <a:spcAft>
                          <a:spcPts val="0"/>
                        </a:spcAft>
                      </a:pPr>
                      <a:r>
                        <a:rPr lang="en-IN" sz="1400">
                          <a:latin typeface="Times New Roman"/>
                          <a:ea typeface="Times New Roman"/>
                          <a:cs typeface="Raavi"/>
                        </a:rPr>
                        <a:t>CO3</a:t>
                      </a:r>
                      <a:endParaRPr lang="en-US" sz="1400">
                        <a:latin typeface="Calibri"/>
                        <a:ea typeface="Calibri"/>
                        <a:cs typeface="Raavi"/>
                      </a:endParaRPr>
                    </a:p>
                  </a:txBody>
                  <a:tcPr marL="68580" marR="68580" marT="0" marB="0" anchor="ctr"/>
                </a:tc>
                <a:tc>
                  <a:txBody>
                    <a:bodyPr/>
                    <a:lstStyle/>
                    <a:p>
                      <a:pPr indent="31115" algn="just">
                        <a:lnSpc>
                          <a:spcPct val="115000"/>
                        </a:lnSpc>
                        <a:spcAft>
                          <a:spcPts val="0"/>
                        </a:spcAft>
                      </a:pPr>
                      <a:r>
                        <a:rPr lang="en-IN" sz="1400" dirty="0">
                          <a:latin typeface="Times New Roman"/>
                          <a:ea typeface="Adobe Garamond Pro"/>
                          <a:cs typeface="Raavi"/>
                        </a:rPr>
                        <a:t>To derive the relationships between the parameters in diode, FET, configurations of Transistor and MOSFETs.</a:t>
                      </a:r>
                      <a:endParaRPr lang="en-US" sz="1400" dirty="0">
                        <a:latin typeface="Calibri"/>
                        <a:cs typeface="Raavi"/>
                      </a:endParaRPr>
                    </a:p>
                  </a:txBody>
                  <a:tcPr marL="68580" marR="68580" marT="0" marB="0"/>
                </a:tc>
                <a:tc>
                  <a:txBody>
                    <a:bodyPr/>
                    <a:lstStyle/>
                    <a:p>
                      <a:pPr indent="31115" algn="ctr">
                        <a:lnSpc>
                          <a:spcPct val="107000"/>
                        </a:lnSpc>
                        <a:spcAft>
                          <a:spcPts val="0"/>
                        </a:spcAft>
                      </a:pPr>
                      <a:r>
                        <a:rPr lang="en-IN" sz="1400">
                          <a:latin typeface="Times New Roman"/>
                          <a:ea typeface="Times New Roman"/>
                          <a:cs typeface="Raavi"/>
                        </a:rPr>
                        <a:t>MEDIUM</a:t>
                      </a:r>
                      <a:endParaRPr lang="en-US" sz="1400">
                        <a:latin typeface="Calibri"/>
                        <a:ea typeface="Calibri"/>
                        <a:cs typeface="Raavi"/>
                      </a:endParaRPr>
                    </a:p>
                  </a:txBody>
                  <a:tcPr marL="68580" marR="68580" marT="0" marB="0" anchor="ctr"/>
                </a:tc>
                <a:extLst>
                  <a:ext uri="{0D108BD9-81ED-4DB2-BD59-A6C34878D82A}">
                    <a16:rowId xmlns="" xmlns:a16="http://schemas.microsoft.com/office/drawing/2014/main" val="1044161678"/>
                  </a:ext>
                </a:extLst>
              </a:tr>
              <a:tr h="990902">
                <a:tc>
                  <a:txBody>
                    <a:bodyPr/>
                    <a:lstStyle/>
                    <a:p>
                      <a:pPr marR="53975" algn="ctr">
                        <a:lnSpc>
                          <a:spcPct val="107000"/>
                        </a:lnSpc>
                        <a:spcAft>
                          <a:spcPts val="0"/>
                        </a:spcAft>
                      </a:pPr>
                      <a:r>
                        <a:rPr lang="en-IN" sz="1400">
                          <a:latin typeface="Times New Roman"/>
                          <a:ea typeface="Times New Roman"/>
                          <a:cs typeface="Raavi"/>
                        </a:rPr>
                        <a:t>CO4</a:t>
                      </a:r>
                      <a:endParaRPr lang="en-US" sz="1400">
                        <a:latin typeface="Calibri"/>
                        <a:ea typeface="Calibri"/>
                        <a:cs typeface="Raavi"/>
                      </a:endParaRPr>
                    </a:p>
                  </a:txBody>
                  <a:tcPr marL="68580" marR="68580" marT="0" marB="0" anchor="ctr"/>
                </a:tc>
                <a:tc>
                  <a:txBody>
                    <a:bodyPr/>
                    <a:lstStyle/>
                    <a:p>
                      <a:pPr algn="just">
                        <a:lnSpc>
                          <a:spcPct val="115000"/>
                        </a:lnSpc>
                        <a:spcAft>
                          <a:spcPts val="0"/>
                        </a:spcAft>
                      </a:pPr>
                      <a:r>
                        <a:rPr lang="en-IN" sz="1400" dirty="0">
                          <a:solidFill>
                            <a:srgbClr val="000000"/>
                          </a:solidFill>
                          <a:latin typeface="Times New Roman"/>
                          <a:ea typeface="Times New Roman"/>
                          <a:cs typeface="Raavi"/>
                        </a:rPr>
                        <a:t>To describe the working and design considerations for the various photonic devices like photo detectors, solar-cells and LEDs.</a:t>
                      </a:r>
                      <a:endParaRPr lang="en-US" sz="1400" dirty="0">
                        <a:latin typeface="Calibri"/>
                        <a:cs typeface="Raavi"/>
                      </a:endParaRPr>
                    </a:p>
                  </a:txBody>
                  <a:tcPr marL="68580" marR="68580" marT="0" marB="0"/>
                </a:tc>
                <a:tc>
                  <a:txBody>
                    <a:bodyPr/>
                    <a:lstStyle/>
                    <a:p>
                      <a:pPr algn="ctr">
                        <a:lnSpc>
                          <a:spcPct val="107000"/>
                        </a:lnSpc>
                        <a:spcAft>
                          <a:spcPts val="0"/>
                        </a:spcAft>
                      </a:pPr>
                      <a:r>
                        <a:rPr lang="en-IN" sz="1400" dirty="0">
                          <a:latin typeface="Times New Roman"/>
                          <a:ea typeface="Times New Roman"/>
                          <a:cs typeface="Raavi"/>
                        </a:rPr>
                        <a:t>HARD</a:t>
                      </a:r>
                      <a:endParaRPr lang="en-US" sz="1400" dirty="0">
                        <a:latin typeface="Calibri"/>
                        <a:ea typeface="Calibri"/>
                        <a:cs typeface="Raavi"/>
                      </a:endParaRPr>
                    </a:p>
                  </a:txBody>
                  <a:tcPr marL="68580" marR="68580" marT="0" marB="0" anchor="ctr"/>
                </a:tc>
                <a:extLst>
                  <a:ext uri="{0D108BD9-81ED-4DB2-BD59-A6C34878D82A}">
                    <a16:rowId xmlns="" xmlns:a16="http://schemas.microsoft.com/office/drawing/2014/main" val="3677875048"/>
                  </a:ext>
                </a:extLst>
              </a:tr>
              <a:tr h="660601">
                <a:tc>
                  <a:txBody>
                    <a:bodyPr/>
                    <a:lstStyle/>
                    <a:p>
                      <a:pPr marR="53975" algn="ctr">
                        <a:lnSpc>
                          <a:spcPct val="107000"/>
                        </a:lnSpc>
                        <a:spcAft>
                          <a:spcPts val="0"/>
                        </a:spcAft>
                      </a:pPr>
                      <a:r>
                        <a:rPr lang="en-IN" sz="1400">
                          <a:latin typeface="Times New Roman"/>
                          <a:ea typeface="Times New Roman"/>
                          <a:cs typeface="Raavi"/>
                        </a:rPr>
                        <a:t>CO5</a:t>
                      </a:r>
                      <a:endParaRPr lang="en-US" sz="1400">
                        <a:latin typeface="Calibri"/>
                        <a:ea typeface="Calibri"/>
                        <a:cs typeface="Raavi"/>
                      </a:endParaRPr>
                    </a:p>
                  </a:txBody>
                  <a:tcPr marL="68580" marR="68580" marT="0" marB="0" anchor="ctr"/>
                </a:tc>
                <a:tc>
                  <a:txBody>
                    <a:bodyPr/>
                    <a:lstStyle/>
                    <a:p>
                      <a:pPr indent="-31115" algn="just">
                        <a:lnSpc>
                          <a:spcPct val="115000"/>
                        </a:lnSpc>
                        <a:spcAft>
                          <a:spcPts val="0"/>
                        </a:spcAft>
                      </a:pPr>
                      <a:r>
                        <a:rPr lang="en-IN" sz="1400" dirty="0">
                          <a:solidFill>
                            <a:srgbClr val="000000"/>
                          </a:solidFill>
                          <a:latin typeface="Times New Roman"/>
                          <a:ea typeface="Times New Roman"/>
                          <a:cs typeface="Raavi"/>
                        </a:rPr>
                        <a:t>To provide problem solving experience and learning of concepts through it in semiconductor physics.</a:t>
                      </a:r>
                      <a:endParaRPr lang="en-US" sz="1400" dirty="0">
                        <a:latin typeface="Calibri"/>
                        <a:cs typeface="Raavi"/>
                      </a:endParaRPr>
                    </a:p>
                  </a:txBody>
                  <a:tcPr marL="68580" marR="68580" marT="0" marB="0"/>
                </a:tc>
                <a:tc>
                  <a:txBody>
                    <a:bodyPr/>
                    <a:lstStyle/>
                    <a:p>
                      <a:pPr indent="-31115" algn="ctr">
                        <a:lnSpc>
                          <a:spcPct val="107000"/>
                        </a:lnSpc>
                        <a:spcAft>
                          <a:spcPts val="0"/>
                        </a:spcAft>
                      </a:pPr>
                      <a:r>
                        <a:rPr lang="en-IN" sz="1400" dirty="0">
                          <a:latin typeface="Times New Roman"/>
                          <a:ea typeface="Times New Roman"/>
                          <a:cs typeface="Raavi"/>
                        </a:rPr>
                        <a:t>HARD</a:t>
                      </a:r>
                      <a:endParaRPr lang="en-US" sz="1400" dirty="0">
                        <a:latin typeface="Calibri"/>
                        <a:ea typeface="Calibri"/>
                        <a:cs typeface="Raavi"/>
                      </a:endParaRPr>
                    </a:p>
                  </a:txBody>
                  <a:tcPr marL="68580" marR="68580" marT="0" marB="0" anchor="ctr"/>
                </a:tc>
                <a:extLst>
                  <a:ext uri="{0D108BD9-81ED-4DB2-BD59-A6C34878D82A}">
                    <a16:rowId xmlns="" xmlns:a16="http://schemas.microsoft.com/office/drawing/2014/main" val="1993640399"/>
                  </a:ext>
                </a:extLst>
              </a:tr>
            </a:tbl>
          </a:graphicData>
        </a:graphic>
      </p:graphicFrame>
      <p:pic>
        <p:nvPicPr>
          <p:cNvPr id="4" name="Picture 3">
            <a:extLst>
              <a:ext uri="{FF2B5EF4-FFF2-40B4-BE49-F238E27FC236}">
                <a16:creationId xmlns="" xmlns:a16="http://schemas.microsoft.com/office/drawing/2014/main" id="{72E5EA36-20D2-4DE4-BBC5-F5A55DBA5C10}"/>
              </a:ext>
            </a:extLst>
          </p:cNvPr>
          <p:cNvPicPr>
            <a:picLocks noChangeAspect="1"/>
          </p:cNvPicPr>
          <p:nvPr/>
        </p:nvPicPr>
        <p:blipFill>
          <a:blip r:embed="rId4">
            <a:extLst>
              <a:ext uri="{28A0092B-C50C-407E-A947-70E740481C1C}">
                <a14:useLocalDpi xmlns="" xmlns:a14="http://schemas.microsoft.com/office/drawing/2010/main" val="0"/>
              </a:ext>
            </a:extLst>
          </a:blip>
          <a:stretch>
            <a:fillRect/>
          </a:stretch>
        </p:blipFill>
        <p:spPr>
          <a:xfrm>
            <a:off x="6701247" y="2368915"/>
            <a:ext cx="5080000" cy="2667000"/>
          </a:xfrm>
          <a:prstGeom prst="rect">
            <a:avLst/>
          </a:prstGeom>
        </p:spPr>
      </p:pic>
    </p:spTree>
    <p:custDataLst>
      <p:tags r:id="rId1"/>
    </p:custDataLst>
    <p:extLst>
      <p:ext uri="{BB962C8B-B14F-4D97-AF65-F5344CB8AC3E}">
        <p14:creationId xmlns="" xmlns:p14="http://schemas.microsoft.com/office/powerpoint/2010/main" val="39016935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72886" y="1655810"/>
            <a:ext cx="10571389" cy="4351338"/>
          </a:xfrm>
        </p:spPr>
        <p:txBody>
          <a:bodyPr>
            <a:noAutofit/>
          </a:bodyPr>
          <a:lstStyle/>
          <a:p>
            <a:pPr marL="342900" indent="-342900" algn="just"/>
            <a:r>
              <a:rPr lang="en-IN" dirty="0"/>
              <a:t>Electronics is the science of how to control electric energy, energy which the electrons have a fundamental role. </a:t>
            </a:r>
          </a:p>
          <a:p>
            <a:pPr marL="342900" indent="-342900" algn="just"/>
            <a:r>
              <a:rPr lang="en-IN" dirty="0"/>
              <a:t>Its also deals with electrical circuits that involve active electrical components such as vacuum tubes, transistors, diodes and integrated circuits, and associated passive electrical components and interconnection technologies. </a:t>
            </a:r>
          </a:p>
          <a:p>
            <a:pPr marL="342900" indent="-342900" algn="just"/>
            <a:r>
              <a:rPr lang="en-IN" dirty="0"/>
              <a:t>You will work with a number of basic electronic components when building electronic circuits, including resistors, capacitors, diodes, transistors, and integrated circuits. Here is a brief overview of the functions of each of these basic electronic components.</a:t>
            </a:r>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4</a:t>
            </a:fld>
            <a:endParaRPr lang="en-US"/>
          </a:p>
        </p:txBody>
      </p:sp>
      <p:sp>
        <p:nvSpPr>
          <p:cNvPr id="7" name="Title 1"/>
          <p:cNvSpPr txBox="1">
            <a:spLocks/>
          </p:cNvSpPr>
          <p:nvPr/>
        </p:nvSpPr>
        <p:spPr>
          <a:xfrm>
            <a:off x="1059543" y="361523"/>
            <a:ext cx="9575074" cy="1119686"/>
          </a:xfrm>
          <a:prstGeom prst="rect">
            <a:avLst/>
          </a:prstGeom>
          <a:ln>
            <a:solidFill>
              <a:srgbClr val="FFFFFF"/>
            </a:solidFill>
          </a:ln>
        </p:spPr>
        <p:style>
          <a:lnRef idx="2">
            <a:schemeClr val="dk1"/>
          </a:lnRef>
          <a:fillRef idx="1">
            <a:schemeClr val="lt1"/>
          </a:fillRef>
          <a:effectRef idx="0">
            <a:schemeClr val="dk1"/>
          </a:effectRef>
          <a:fontRef idx="minor">
            <a:schemeClr val="dk1"/>
          </a:fontRef>
        </p:style>
        <p:txBody>
          <a:bodyPr vert="horz" lIns="91440" tIns="45720" rIns="91440" bIns="45720" rtlCol="0" anchor="ctr">
            <a:noAutofit/>
          </a:bodyPr>
          <a:lstStyle/>
          <a:p>
            <a:pPr lvl="0" algn="ctr">
              <a:lnSpc>
                <a:spcPct val="90000"/>
              </a:lnSpc>
              <a:spcBef>
                <a:spcPct val="0"/>
              </a:spcBef>
              <a:defRPr/>
            </a:pPr>
            <a:r>
              <a:rPr kumimoji="0" lang="en-IN" sz="4400" b="1" i="0" u="none" strike="noStrike" kern="1200" cap="none" spc="0" normalizeH="0" baseline="0" noProof="0" dirty="0">
                <a:ln>
                  <a:noFill/>
                </a:ln>
                <a:solidFill>
                  <a:schemeClr val="dk1"/>
                </a:solidFill>
                <a:effectLst/>
                <a:uLnTx/>
                <a:uFillTx/>
                <a:latin typeface="+mj-lt"/>
                <a:ea typeface="+mn-ea"/>
                <a:cs typeface="+mn-cs"/>
              </a:rPr>
              <a:t>   </a:t>
            </a:r>
            <a:r>
              <a:rPr lang="en-IN" sz="4400" b="1" dirty="0">
                <a:latin typeface="+mj-lt"/>
              </a:rPr>
              <a:t>What is Electronics</a:t>
            </a:r>
            <a:endParaRPr kumimoji="0" lang="en-IN" sz="4400" b="1" i="0" strike="noStrike" kern="1200" cap="none" spc="0" normalizeH="0" baseline="0" noProof="0" dirty="0">
              <a:ln>
                <a:noFill/>
              </a:ln>
              <a:solidFill>
                <a:schemeClr val="dk1"/>
              </a:solidFill>
              <a:effectLst/>
              <a:uLnTx/>
              <a:uFillTx/>
              <a:latin typeface="+mj-lt"/>
            </a:endParaRPr>
          </a:p>
        </p:txBody>
      </p:sp>
    </p:spTree>
    <p:custDataLst>
      <p:tags r:id="rId1"/>
    </p:custDataLst>
    <p:extLst>
      <p:ext uri="{BB962C8B-B14F-4D97-AF65-F5344CB8AC3E}">
        <p14:creationId xmlns:p14="http://schemas.microsoft.com/office/powerpoint/2010/main" xmlns="" val="405273927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0361"/>
            <a:ext cx="10515600" cy="1279527"/>
          </a:xfrm>
        </p:spPr>
        <p:txBody>
          <a:bodyPr>
            <a:normAutofit/>
          </a:bodyPr>
          <a:lstStyle/>
          <a:p>
            <a:pPr algn="ctr"/>
            <a:r>
              <a:rPr lang="en-US" b="1" dirty="0">
                <a:cs typeface="Arial" panose="020B0604020202020204" pitchFamily="34" charset="0"/>
              </a:rPr>
              <a:t>Content</a:t>
            </a:r>
            <a:r>
              <a:rPr lang="en-US" b="1" dirty="0">
                <a:latin typeface="Casper"/>
                <a:cs typeface="Arial" panose="020B0604020202020204" pitchFamily="34" charset="0"/>
              </a:rPr>
              <a:t> </a:t>
            </a:r>
            <a:r>
              <a:rPr lang="en-US" b="1" dirty="0">
                <a:latin typeface="Casper"/>
              </a:rPr>
              <a:t>  </a:t>
            </a:r>
          </a:p>
        </p:txBody>
      </p:sp>
      <p:sp>
        <p:nvSpPr>
          <p:cNvPr id="3" name="Content Placeholder 2"/>
          <p:cNvSpPr>
            <a:spLocks noGrp="1"/>
          </p:cNvSpPr>
          <p:nvPr>
            <p:ph idx="1"/>
          </p:nvPr>
        </p:nvSpPr>
        <p:spPr>
          <a:xfrm>
            <a:off x="838200" y="1959429"/>
            <a:ext cx="10515600" cy="4217534"/>
          </a:xfrm>
        </p:spPr>
        <p:txBody>
          <a:bodyPr>
            <a:normAutofit/>
          </a:bodyPr>
          <a:lstStyle/>
          <a:p>
            <a:pPr marL="342900" lvl="0" indent="-342900">
              <a:lnSpc>
                <a:spcPct val="100000"/>
              </a:lnSpc>
              <a:spcBef>
                <a:spcPts val="0"/>
              </a:spcBef>
              <a:buFont typeface="Wingdings" pitchFamily="2" charset="2"/>
              <a:buChar char="v"/>
            </a:pPr>
            <a:r>
              <a:rPr lang="en-IN" dirty="0"/>
              <a:t>n-p-n transistor</a:t>
            </a:r>
          </a:p>
          <a:p>
            <a:pPr marL="342900" lvl="0" indent="-342900">
              <a:lnSpc>
                <a:spcPct val="100000"/>
              </a:lnSpc>
              <a:spcBef>
                <a:spcPts val="0"/>
              </a:spcBef>
              <a:buFont typeface="Wingdings" pitchFamily="2" charset="2"/>
              <a:buChar char="v"/>
            </a:pPr>
            <a:r>
              <a:rPr lang="en-US" dirty="0"/>
              <a:t>p-n-p transistor</a:t>
            </a:r>
          </a:p>
          <a:p>
            <a:pPr marL="342900" lvl="0" indent="-342900">
              <a:lnSpc>
                <a:spcPct val="100000"/>
              </a:lnSpc>
              <a:spcBef>
                <a:spcPts val="0"/>
              </a:spcBef>
              <a:buFont typeface="Wingdings" pitchFamily="2" charset="2"/>
              <a:buChar char="v"/>
            </a:pPr>
            <a:r>
              <a:rPr lang="en-IN" dirty="0"/>
              <a:t>Fact about Transistor </a:t>
            </a:r>
            <a:r>
              <a:rPr lang="en-IN" dirty="0" smtClean="0"/>
              <a:t>Terminals</a:t>
            </a:r>
          </a:p>
          <a:p>
            <a:pPr marL="342900" lvl="0" indent="-342900">
              <a:lnSpc>
                <a:spcPct val="100000"/>
              </a:lnSpc>
              <a:spcBef>
                <a:spcPts val="0"/>
              </a:spcBef>
              <a:buFont typeface="Wingdings" pitchFamily="2" charset="2"/>
              <a:buChar char="v"/>
            </a:pPr>
            <a:r>
              <a:rPr lang="en-IN" dirty="0" smtClean="0"/>
              <a:t>Configuration of Transistor</a:t>
            </a:r>
          </a:p>
          <a:p>
            <a:pPr marL="342900" lvl="0" indent="-342900">
              <a:lnSpc>
                <a:spcPct val="100000"/>
              </a:lnSpc>
              <a:spcBef>
                <a:spcPts val="0"/>
              </a:spcBef>
              <a:buFont typeface="Wingdings" pitchFamily="2" charset="2"/>
              <a:buChar char="v"/>
            </a:pPr>
            <a:r>
              <a:rPr lang="en-IN" dirty="0" smtClean="0"/>
              <a:t>CE Configuration</a:t>
            </a:r>
            <a:endParaRPr lang="en-IN" dirty="0" smtClean="0"/>
          </a:p>
          <a:p>
            <a:pPr marL="342900" lvl="0" indent="-342900">
              <a:lnSpc>
                <a:spcPct val="100000"/>
              </a:lnSpc>
              <a:spcBef>
                <a:spcPts val="0"/>
              </a:spcBef>
              <a:buFont typeface="Wingdings" pitchFamily="2" charset="2"/>
              <a:buChar char="v"/>
            </a:pPr>
            <a:r>
              <a:rPr lang="en-IN" dirty="0" smtClean="0"/>
              <a:t>CB </a:t>
            </a:r>
            <a:r>
              <a:rPr lang="en-IN" dirty="0" smtClean="0"/>
              <a:t>Configuration</a:t>
            </a:r>
            <a:endParaRPr lang="en-IN" dirty="0" smtClean="0"/>
          </a:p>
          <a:p>
            <a:pPr marL="342900" lvl="0" indent="-342900">
              <a:lnSpc>
                <a:spcPct val="100000"/>
              </a:lnSpc>
              <a:spcBef>
                <a:spcPts val="0"/>
              </a:spcBef>
              <a:buFont typeface="Wingdings" pitchFamily="2" charset="2"/>
              <a:buChar char="v"/>
            </a:pPr>
            <a:r>
              <a:rPr lang="en-IN" dirty="0" smtClean="0"/>
              <a:t>CC </a:t>
            </a:r>
            <a:r>
              <a:rPr lang="en-IN" dirty="0" smtClean="0"/>
              <a:t>Configuration</a:t>
            </a:r>
            <a:endParaRPr lang="en-IN"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5</a:t>
            </a:fld>
            <a:endParaRPr lang="en-US"/>
          </a:p>
        </p:txBody>
      </p:sp>
      <p:sp>
        <p:nvSpPr>
          <p:cNvPr id="5" name="Rectangle 4"/>
          <p:cNvSpPr/>
          <p:nvPr/>
        </p:nvSpPr>
        <p:spPr>
          <a:xfrm>
            <a:off x="838200" y="1803400"/>
            <a:ext cx="10515600" cy="436880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838200" y="360361"/>
            <a:ext cx="10515600" cy="1263651"/>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ustDataLst>
      <p:tags r:id="rId1"/>
    </p:custDataLst>
    <p:extLst>
      <p:ext uri="{BB962C8B-B14F-4D97-AF65-F5344CB8AC3E}">
        <p14:creationId xmlns:p14="http://schemas.microsoft.com/office/powerpoint/2010/main" xmlns="" val="8237023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9" presetClass="entr" presetSubtype="0" decel="10000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p:cTn id="7" dur="500" fill="hold"/>
                                        <p:tgtEl>
                                          <p:spTgt spid="3">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3">
                                            <p:txEl>
                                              <p:pRg st="0" end="0"/>
                                            </p:txEl>
                                          </p:spTgt>
                                        </p:tgtEl>
                                        <p:attrNameLst>
                                          <p:attrName>ppt_h</p:attrName>
                                        </p:attrNameLst>
                                      </p:cBhvr>
                                      <p:tavLst>
                                        <p:tav tm="0">
                                          <p:val>
                                            <p:fltVal val="0"/>
                                          </p:val>
                                        </p:tav>
                                        <p:tav tm="100000">
                                          <p:val>
                                            <p:strVal val="#ppt_h"/>
                                          </p:val>
                                        </p:tav>
                                      </p:tavLst>
                                    </p:anim>
                                    <p:anim calcmode="lin" valueType="num">
                                      <p:cBhvr>
                                        <p:cTn id="9" dur="500" fill="hold"/>
                                        <p:tgtEl>
                                          <p:spTgt spid="3">
                                            <p:txEl>
                                              <p:pRg st="0" end="0"/>
                                            </p:txEl>
                                          </p:spTgt>
                                        </p:tgtEl>
                                        <p:attrNameLst>
                                          <p:attrName>style.rotation</p:attrName>
                                        </p:attrNameLst>
                                      </p:cBhvr>
                                      <p:tavLst>
                                        <p:tav tm="0">
                                          <p:val>
                                            <p:fltVal val="360"/>
                                          </p:val>
                                        </p:tav>
                                        <p:tav tm="100000">
                                          <p:val>
                                            <p:fltVal val="0"/>
                                          </p:val>
                                        </p:tav>
                                      </p:tavLst>
                                    </p:anim>
                                    <p:animEffect transition="in" filter="fade">
                                      <p:cBhvr>
                                        <p:cTn id="10" dur="500"/>
                                        <p:tgtEl>
                                          <p:spTgt spid="3">
                                            <p:txEl>
                                              <p:pRg st="0" end="0"/>
                                            </p:txEl>
                                          </p:spTgt>
                                        </p:tgtEl>
                                      </p:cBhvr>
                                    </p:animEffect>
                                  </p:childTnLst>
                                </p:cTn>
                              </p:par>
                              <p:par>
                                <p:cTn id="11" presetID="49" presetClass="entr" presetSubtype="0" decel="100000" fill="hold" nodeType="with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p:cTn id="13" dur="500" fill="hold"/>
                                        <p:tgtEl>
                                          <p:spTgt spid="3">
                                            <p:txEl>
                                              <p:pRg st="1" end="1"/>
                                            </p:txEl>
                                          </p:spTgt>
                                        </p:tgtEl>
                                        <p:attrNameLst>
                                          <p:attrName>ppt_w</p:attrName>
                                        </p:attrNameLst>
                                      </p:cBhvr>
                                      <p:tavLst>
                                        <p:tav tm="0">
                                          <p:val>
                                            <p:fltVal val="0"/>
                                          </p:val>
                                        </p:tav>
                                        <p:tav tm="100000">
                                          <p:val>
                                            <p:strVal val="#ppt_w"/>
                                          </p:val>
                                        </p:tav>
                                      </p:tavLst>
                                    </p:anim>
                                    <p:anim calcmode="lin" valueType="num">
                                      <p:cBhvr>
                                        <p:cTn id="14" dur="500" fill="hold"/>
                                        <p:tgtEl>
                                          <p:spTgt spid="3">
                                            <p:txEl>
                                              <p:pRg st="1" end="1"/>
                                            </p:txEl>
                                          </p:spTgt>
                                        </p:tgtEl>
                                        <p:attrNameLst>
                                          <p:attrName>ppt_h</p:attrName>
                                        </p:attrNameLst>
                                      </p:cBhvr>
                                      <p:tavLst>
                                        <p:tav tm="0">
                                          <p:val>
                                            <p:fltVal val="0"/>
                                          </p:val>
                                        </p:tav>
                                        <p:tav tm="100000">
                                          <p:val>
                                            <p:strVal val="#ppt_h"/>
                                          </p:val>
                                        </p:tav>
                                      </p:tavLst>
                                    </p:anim>
                                    <p:anim calcmode="lin" valueType="num">
                                      <p:cBhvr>
                                        <p:cTn id="15" dur="500" fill="hold"/>
                                        <p:tgtEl>
                                          <p:spTgt spid="3">
                                            <p:txEl>
                                              <p:pRg st="1" end="1"/>
                                            </p:txEl>
                                          </p:spTgt>
                                        </p:tgtEl>
                                        <p:attrNameLst>
                                          <p:attrName>style.rotation</p:attrName>
                                        </p:attrNameLst>
                                      </p:cBhvr>
                                      <p:tavLst>
                                        <p:tav tm="0">
                                          <p:val>
                                            <p:fltVal val="360"/>
                                          </p:val>
                                        </p:tav>
                                        <p:tav tm="100000">
                                          <p:val>
                                            <p:fltVal val="0"/>
                                          </p:val>
                                        </p:tav>
                                      </p:tavLst>
                                    </p:anim>
                                    <p:animEffect transition="in" filter="fade">
                                      <p:cBhvr>
                                        <p:cTn id="16" dur="500"/>
                                        <p:tgtEl>
                                          <p:spTgt spid="3">
                                            <p:txEl>
                                              <p:pRg st="1" end="1"/>
                                            </p:txEl>
                                          </p:spTgt>
                                        </p:tgtEl>
                                      </p:cBhvr>
                                    </p:animEffect>
                                  </p:childTnLst>
                                </p:cTn>
                              </p:par>
                              <p:par>
                                <p:cTn id="17" presetID="49" presetClass="entr" presetSubtype="0" decel="100000" fill="hold" nodeType="with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p:cTn id="19" dur="500" fill="hold"/>
                                        <p:tgtEl>
                                          <p:spTgt spid="3">
                                            <p:txEl>
                                              <p:pRg st="2" end="2"/>
                                            </p:txEl>
                                          </p:spTgt>
                                        </p:tgtEl>
                                        <p:attrNameLst>
                                          <p:attrName>ppt_w</p:attrName>
                                        </p:attrNameLst>
                                      </p:cBhvr>
                                      <p:tavLst>
                                        <p:tav tm="0">
                                          <p:val>
                                            <p:fltVal val="0"/>
                                          </p:val>
                                        </p:tav>
                                        <p:tav tm="100000">
                                          <p:val>
                                            <p:strVal val="#ppt_w"/>
                                          </p:val>
                                        </p:tav>
                                      </p:tavLst>
                                    </p:anim>
                                    <p:anim calcmode="lin" valueType="num">
                                      <p:cBhvr>
                                        <p:cTn id="20" dur="500" fill="hold"/>
                                        <p:tgtEl>
                                          <p:spTgt spid="3">
                                            <p:txEl>
                                              <p:pRg st="2" end="2"/>
                                            </p:txEl>
                                          </p:spTgt>
                                        </p:tgtEl>
                                        <p:attrNameLst>
                                          <p:attrName>ppt_h</p:attrName>
                                        </p:attrNameLst>
                                      </p:cBhvr>
                                      <p:tavLst>
                                        <p:tav tm="0">
                                          <p:val>
                                            <p:fltVal val="0"/>
                                          </p:val>
                                        </p:tav>
                                        <p:tav tm="100000">
                                          <p:val>
                                            <p:strVal val="#ppt_h"/>
                                          </p:val>
                                        </p:tav>
                                      </p:tavLst>
                                    </p:anim>
                                    <p:anim calcmode="lin" valueType="num">
                                      <p:cBhvr>
                                        <p:cTn id="21" dur="500" fill="hold"/>
                                        <p:tgtEl>
                                          <p:spTgt spid="3">
                                            <p:txEl>
                                              <p:pRg st="2" end="2"/>
                                            </p:txEl>
                                          </p:spTgt>
                                        </p:tgtEl>
                                        <p:attrNameLst>
                                          <p:attrName>style.rotation</p:attrName>
                                        </p:attrNameLst>
                                      </p:cBhvr>
                                      <p:tavLst>
                                        <p:tav tm="0">
                                          <p:val>
                                            <p:fltVal val="360"/>
                                          </p:val>
                                        </p:tav>
                                        <p:tav tm="100000">
                                          <p:val>
                                            <p:fltVal val="0"/>
                                          </p:val>
                                        </p:tav>
                                      </p:tavLst>
                                    </p:anim>
                                    <p:animEffect transition="in" filter="fade">
                                      <p:cBhvr>
                                        <p:cTn id="22" dur="500"/>
                                        <p:tgtEl>
                                          <p:spTgt spid="3">
                                            <p:txEl>
                                              <p:pRg st="2" end="2"/>
                                            </p:txEl>
                                          </p:spTgt>
                                        </p:tgtEl>
                                      </p:cBhvr>
                                    </p:animEffect>
                                  </p:childTnLst>
                                </p:cTn>
                              </p:par>
                              <p:par>
                                <p:cTn id="23" presetID="49" presetClass="entr" presetSubtype="0" decel="100000" fill="hold" nodeType="with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p:cTn id="25" dur="500" fill="hold"/>
                                        <p:tgtEl>
                                          <p:spTgt spid="3">
                                            <p:txEl>
                                              <p:pRg st="3" end="3"/>
                                            </p:txEl>
                                          </p:spTgt>
                                        </p:tgtEl>
                                        <p:attrNameLst>
                                          <p:attrName>ppt_w</p:attrName>
                                        </p:attrNameLst>
                                      </p:cBhvr>
                                      <p:tavLst>
                                        <p:tav tm="0">
                                          <p:val>
                                            <p:fltVal val="0"/>
                                          </p:val>
                                        </p:tav>
                                        <p:tav tm="100000">
                                          <p:val>
                                            <p:strVal val="#ppt_w"/>
                                          </p:val>
                                        </p:tav>
                                      </p:tavLst>
                                    </p:anim>
                                    <p:anim calcmode="lin" valueType="num">
                                      <p:cBhvr>
                                        <p:cTn id="26" dur="500" fill="hold"/>
                                        <p:tgtEl>
                                          <p:spTgt spid="3">
                                            <p:txEl>
                                              <p:pRg st="3" end="3"/>
                                            </p:txEl>
                                          </p:spTgt>
                                        </p:tgtEl>
                                        <p:attrNameLst>
                                          <p:attrName>ppt_h</p:attrName>
                                        </p:attrNameLst>
                                      </p:cBhvr>
                                      <p:tavLst>
                                        <p:tav tm="0">
                                          <p:val>
                                            <p:fltVal val="0"/>
                                          </p:val>
                                        </p:tav>
                                        <p:tav tm="100000">
                                          <p:val>
                                            <p:strVal val="#ppt_h"/>
                                          </p:val>
                                        </p:tav>
                                      </p:tavLst>
                                    </p:anim>
                                    <p:anim calcmode="lin" valueType="num">
                                      <p:cBhvr>
                                        <p:cTn id="27" dur="500" fill="hold"/>
                                        <p:tgtEl>
                                          <p:spTgt spid="3">
                                            <p:txEl>
                                              <p:pRg st="3" end="3"/>
                                            </p:txEl>
                                          </p:spTgt>
                                        </p:tgtEl>
                                        <p:attrNameLst>
                                          <p:attrName>style.rotation</p:attrName>
                                        </p:attrNameLst>
                                      </p:cBhvr>
                                      <p:tavLst>
                                        <p:tav tm="0">
                                          <p:val>
                                            <p:fltVal val="360"/>
                                          </p:val>
                                        </p:tav>
                                        <p:tav tm="100000">
                                          <p:val>
                                            <p:fltVal val="0"/>
                                          </p:val>
                                        </p:tav>
                                      </p:tavLst>
                                    </p:anim>
                                    <p:animEffect transition="in" filter="fade">
                                      <p:cBhvr>
                                        <p:cTn id="28" dur="500"/>
                                        <p:tgtEl>
                                          <p:spTgt spid="3">
                                            <p:txEl>
                                              <p:pRg st="3" end="3"/>
                                            </p:txEl>
                                          </p:spTgt>
                                        </p:tgtEl>
                                      </p:cBhvr>
                                    </p:animEffect>
                                  </p:childTnLst>
                                </p:cTn>
                              </p:par>
                              <p:par>
                                <p:cTn id="29" presetID="49" presetClass="entr" presetSubtype="0" decel="100000" fill="hold" nodeType="with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p:cTn id="31" dur="500" fill="hold"/>
                                        <p:tgtEl>
                                          <p:spTgt spid="3">
                                            <p:txEl>
                                              <p:pRg st="4" end="4"/>
                                            </p:txEl>
                                          </p:spTgt>
                                        </p:tgtEl>
                                        <p:attrNameLst>
                                          <p:attrName>ppt_w</p:attrName>
                                        </p:attrNameLst>
                                      </p:cBhvr>
                                      <p:tavLst>
                                        <p:tav tm="0">
                                          <p:val>
                                            <p:fltVal val="0"/>
                                          </p:val>
                                        </p:tav>
                                        <p:tav tm="100000">
                                          <p:val>
                                            <p:strVal val="#ppt_w"/>
                                          </p:val>
                                        </p:tav>
                                      </p:tavLst>
                                    </p:anim>
                                    <p:anim calcmode="lin" valueType="num">
                                      <p:cBhvr>
                                        <p:cTn id="32" dur="500" fill="hold"/>
                                        <p:tgtEl>
                                          <p:spTgt spid="3">
                                            <p:txEl>
                                              <p:pRg st="4" end="4"/>
                                            </p:txEl>
                                          </p:spTgt>
                                        </p:tgtEl>
                                        <p:attrNameLst>
                                          <p:attrName>ppt_h</p:attrName>
                                        </p:attrNameLst>
                                      </p:cBhvr>
                                      <p:tavLst>
                                        <p:tav tm="0">
                                          <p:val>
                                            <p:fltVal val="0"/>
                                          </p:val>
                                        </p:tav>
                                        <p:tav tm="100000">
                                          <p:val>
                                            <p:strVal val="#ppt_h"/>
                                          </p:val>
                                        </p:tav>
                                      </p:tavLst>
                                    </p:anim>
                                    <p:anim calcmode="lin" valueType="num">
                                      <p:cBhvr>
                                        <p:cTn id="33" dur="500" fill="hold"/>
                                        <p:tgtEl>
                                          <p:spTgt spid="3">
                                            <p:txEl>
                                              <p:pRg st="4" end="4"/>
                                            </p:txEl>
                                          </p:spTgt>
                                        </p:tgtEl>
                                        <p:attrNameLst>
                                          <p:attrName>style.rotation</p:attrName>
                                        </p:attrNameLst>
                                      </p:cBhvr>
                                      <p:tavLst>
                                        <p:tav tm="0">
                                          <p:val>
                                            <p:fltVal val="360"/>
                                          </p:val>
                                        </p:tav>
                                        <p:tav tm="100000">
                                          <p:val>
                                            <p:fltVal val="0"/>
                                          </p:val>
                                        </p:tav>
                                      </p:tavLst>
                                    </p:anim>
                                    <p:animEffect transition="in" filter="fade">
                                      <p:cBhvr>
                                        <p:cTn id="34" dur="500"/>
                                        <p:tgtEl>
                                          <p:spTgt spid="3">
                                            <p:txEl>
                                              <p:pRg st="4" end="4"/>
                                            </p:txEl>
                                          </p:spTgt>
                                        </p:tgtEl>
                                      </p:cBhvr>
                                    </p:animEffect>
                                  </p:childTnLst>
                                </p:cTn>
                              </p:par>
                              <p:par>
                                <p:cTn id="35" presetID="49" presetClass="entr" presetSubtype="0" decel="100000" fill="hold" nodeType="with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p:cTn id="37" dur="500" fill="hold"/>
                                        <p:tgtEl>
                                          <p:spTgt spid="3">
                                            <p:txEl>
                                              <p:pRg st="5" end="5"/>
                                            </p:txEl>
                                          </p:spTgt>
                                        </p:tgtEl>
                                        <p:attrNameLst>
                                          <p:attrName>ppt_w</p:attrName>
                                        </p:attrNameLst>
                                      </p:cBhvr>
                                      <p:tavLst>
                                        <p:tav tm="0">
                                          <p:val>
                                            <p:fltVal val="0"/>
                                          </p:val>
                                        </p:tav>
                                        <p:tav tm="100000">
                                          <p:val>
                                            <p:strVal val="#ppt_w"/>
                                          </p:val>
                                        </p:tav>
                                      </p:tavLst>
                                    </p:anim>
                                    <p:anim calcmode="lin" valueType="num">
                                      <p:cBhvr>
                                        <p:cTn id="38" dur="500" fill="hold"/>
                                        <p:tgtEl>
                                          <p:spTgt spid="3">
                                            <p:txEl>
                                              <p:pRg st="5" end="5"/>
                                            </p:txEl>
                                          </p:spTgt>
                                        </p:tgtEl>
                                        <p:attrNameLst>
                                          <p:attrName>ppt_h</p:attrName>
                                        </p:attrNameLst>
                                      </p:cBhvr>
                                      <p:tavLst>
                                        <p:tav tm="0">
                                          <p:val>
                                            <p:fltVal val="0"/>
                                          </p:val>
                                        </p:tav>
                                        <p:tav tm="100000">
                                          <p:val>
                                            <p:strVal val="#ppt_h"/>
                                          </p:val>
                                        </p:tav>
                                      </p:tavLst>
                                    </p:anim>
                                    <p:anim calcmode="lin" valueType="num">
                                      <p:cBhvr>
                                        <p:cTn id="39" dur="500" fill="hold"/>
                                        <p:tgtEl>
                                          <p:spTgt spid="3">
                                            <p:txEl>
                                              <p:pRg st="5" end="5"/>
                                            </p:txEl>
                                          </p:spTgt>
                                        </p:tgtEl>
                                        <p:attrNameLst>
                                          <p:attrName>style.rotation</p:attrName>
                                        </p:attrNameLst>
                                      </p:cBhvr>
                                      <p:tavLst>
                                        <p:tav tm="0">
                                          <p:val>
                                            <p:fltVal val="360"/>
                                          </p:val>
                                        </p:tav>
                                        <p:tav tm="100000">
                                          <p:val>
                                            <p:fltVal val="0"/>
                                          </p:val>
                                        </p:tav>
                                      </p:tavLst>
                                    </p:anim>
                                    <p:animEffect transition="in" filter="fade">
                                      <p:cBhvr>
                                        <p:cTn id="40" dur="500"/>
                                        <p:tgtEl>
                                          <p:spTgt spid="3">
                                            <p:txEl>
                                              <p:pRg st="5" end="5"/>
                                            </p:txEl>
                                          </p:spTgt>
                                        </p:tgtEl>
                                      </p:cBhvr>
                                    </p:animEffect>
                                  </p:childTnLst>
                                </p:cTn>
                              </p:par>
                              <p:par>
                                <p:cTn id="41" presetID="49" presetClass="entr" presetSubtype="0" decel="100000" fill="hold" nodeType="withEffect">
                                  <p:stCondLst>
                                    <p:cond delay="0"/>
                                  </p:stCondLst>
                                  <p:childTnLst>
                                    <p:set>
                                      <p:cBhvr>
                                        <p:cTn id="42" dur="1" fill="hold">
                                          <p:stCondLst>
                                            <p:cond delay="0"/>
                                          </p:stCondLst>
                                        </p:cTn>
                                        <p:tgtEl>
                                          <p:spTgt spid="3">
                                            <p:txEl>
                                              <p:pRg st="6" end="6"/>
                                            </p:txEl>
                                          </p:spTgt>
                                        </p:tgtEl>
                                        <p:attrNameLst>
                                          <p:attrName>style.visibility</p:attrName>
                                        </p:attrNameLst>
                                      </p:cBhvr>
                                      <p:to>
                                        <p:strVal val="visible"/>
                                      </p:to>
                                    </p:set>
                                    <p:anim calcmode="lin" valueType="num">
                                      <p:cBhvr>
                                        <p:cTn id="43" dur="500" fill="hold"/>
                                        <p:tgtEl>
                                          <p:spTgt spid="3">
                                            <p:txEl>
                                              <p:pRg st="6" end="6"/>
                                            </p:txEl>
                                          </p:spTgt>
                                        </p:tgtEl>
                                        <p:attrNameLst>
                                          <p:attrName>ppt_w</p:attrName>
                                        </p:attrNameLst>
                                      </p:cBhvr>
                                      <p:tavLst>
                                        <p:tav tm="0">
                                          <p:val>
                                            <p:fltVal val="0"/>
                                          </p:val>
                                        </p:tav>
                                        <p:tav tm="100000">
                                          <p:val>
                                            <p:strVal val="#ppt_w"/>
                                          </p:val>
                                        </p:tav>
                                      </p:tavLst>
                                    </p:anim>
                                    <p:anim calcmode="lin" valueType="num">
                                      <p:cBhvr>
                                        <p:cTn id="44" dur="500" fill="hold"/>
                                        <p:tgtEl>
                                          <p:spTgt spid="3">
                                            <p:txEl>
                                              <p:pRg st="6" end="6"/>
                                            </p:txEl>
                                          </p:spTgt>
                                        </p:tgtEl>
                                        <p:attrNameLst>
                                          <p:attrName>ppt_h</p:attrName>
                                        </p:attrNameLst>
                                      </p:cBhvr>
                                      <p:tavLst>
                                        <p:tav tm="0">
                                          <p:val>
                                            <p:fltVal val="0"/>
                                          </p:val>
                                        </p:tav>
                                        <p:tav tm="100000">
                                          <p:val>
                                            <p:strVal val="#ppt_h"/>
                                          </p:val>
                                        </p:tav>
                                      </p:tavLst>
                                    </p:anim>
                                    <p:anim calcmode="lin" valueType="num">
                                      <p:cBhvr>
                                        <p:cTn id="45" dur="500" fill="hold"/>
                                        <p:tgtEl>
                                          <p:spTgt spid="3">
                                            <p:txEl>
                                              <p:pRg st="6" end="6"/>
                                            </p:txEl>
                                          </p:spTgt>
                                        </p:tgtEl>
                                        <p:attrNameLst>
                                          <p:attrName>style.rotation</p:attrName>
                                        </p:attrNameLst>
                                      </p:cBhvr>
                                      <p:tavLst>
                                        <p:tav tm="0">
                                          <p:val>
                                            <p:fltVal val="360"/>
                                          </p:val>
                                        </p:tav>
                                        <p:tav tm="100000">
                                          <p:val>
                                            <p:fltVal val="0"/>
                                          </p:val>
                                        </p:tav>
                                      </p:tavLst>
                                    </p:anim>
                                    <p:animEffect transition="in" filter="fade">
                                      <p:cBhvr>
                                        <p:cTn id="46"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a:xfrm>
            <a:off x="838200" y="360363"/>
            <a:ext cx="10515600" cy="1279525"/>
          </a:xfrm>
        </p:spPr>
        <p:txBody>
          <a:bodyPr/>
          <a:lstStyle/>
          <a:p>
            <a:pPr algn="ctr" eaLnBrk="1" hangingPunct="1"/>
            <a:r>
              <a:rPr lang="en-US" b="1" dirty="0">
                <a:cs typeface="Times New Roman" pitchFamily="18" charset="0"/>
              </a:rPr>
              <a:t>Introduction to Transistor</a:t>
            </a:r>
            <a:endParaRPr lang="en-US" b="1" dirty="0">
              <a:latin typeface="Casper"/>
            </a:endParaRPr>
          </a:p>
        </p:txBody>
      </p:sp>
      <p:sp>
        <p:nvSpPr>
          <p:cNvPr id="3" name="Content Placeholder 2"/>
          <p:cNvSpPr>
            <a:spLocks noGrp="1"/>
          </p:cNvSpPr>
          <p:nvPr>
            <p:ph idx="1"/>
          </p:nvPr>
        </p:nvSpPr>
        <p:spPr>
          <a:xfrm>
            <a:off x="838200" y="1958975"/>
            <a:ext cx="10515600" cy="4217988"/>
          </a:xfrm>
        </p:spPr>
        <p:txBody>
          <a:bodyPr>
            <a:noAutofit/>
          </a:bodyPr>
          <a:lstStyle/>
          <a:p>
            <a:pPr marL="0" indent="0" algn="just">
              <a:lnSpc>
                <a:spcPct val="100000"/>
              </a:lnSpc>
              <a:spcBef>
                <a:spcPct val="0"/>
              </a:spcBef>
              <a:buNone/>
            </a:pPr>
            <a:r>
              <a:rPr lang="en-IN" dirty="0"/>
              <a:t>There are three leads in a transistor viz., emitter, base and collector terminals. However, when a transistor is to be connected in a circuit, we require four terminals; two for the input and two for the output. </a:t>
            </a:r>
          </a:p>
          <a:p>
            <a:pPr marL="0" indent="0" algn="just">
              <a:lnSpc>
                <a:spcPct val="100000"/>
              </a:lnSpc>
              <a:spcBef>
                <a:spcPct val="0"/>
              </a:spcBef>
              <a:buNone/>
            </a:pPr>
            <a:r>
              <a:rPr lang="en-IN" dirty="0"/>
              <a:t>This difficulty is overcome by making one terminal of the transistor common to both input and output terminals. The input is fed between this common terminal and one of the other two terminals. The output is obtained between the common terminal and the remaining terminal. </a:t>
            </a:r>
            <a:endParaRPr lang="en-US" sz="2400" dirty="0"/>
          </a:p>
        </p:txBody>
      </p:sp>
      <p:sp>
        <p:nvSpPr>
          <p:cNvPr id="4" name="Slide Number Placeholder 3"/>
          <p:cNvSpPr>
            <a:spLocks noGrp="1"/>
          </p:cNvSpPr>
          <p:nvPr>
            <p:ph type="sldNum" sz="quarter" idx="12"/>
          </p:nvPr>
        </p:nvSpPr>
        <p:spPr/>
        <p:txBody>
          <a:bodyPr/>
          <a:lstStyle/>
          <a:p>
            <a:pPr>
              <a:defRPr/>
            </a:pPr>
            <a:fld id="{6EAF260A-7733-48C1-AFBC-9C24F5C57CF8}" type="slidenum">
              <a:rPr lang="en-US"/>
              <a:pPr>
                <a:defRPr/>
              </a:pPr>
              <a:t>6</a:t>
            </a:fld>
            <a:endParaRPr lang="en-US"/>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9" presetClass="entr" presetSubtype="0" decel="10000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p:cTn id="7" dur="500" fill="hold"/>
                                        <p:tgtEl>
                                          <p:spTgt spid="3">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3">
                                            <p:txEl>
                                              <p:pRg st="0" end="0"/>
                                            </p:txEl>
                                          </p:spTgt>
                                        </p:tgtEl>
                                        <p:attrNameLst>
                                          <p:attrName>ppt_h</p:attrName>
                                        </p:attrNameLst>
                                      </p:cBhvr>
                                      <p:tavLst>
                                        <p:tav tm="0">
                                          <p:val>
                                            <p:fltVal val="0"/>
                                          </p:val>
                                        </p:tav>
                                        <p:tav tm="100000">
                                          <p:val>
                                            <p:strVal val="#ppt_h"/>
                                          </p:val>
                                        </p:tav>
                                      </p:tavLst>
                                    </p:anim>
                                    <p:anim calcmode="lin" valueType="num">
                                      <p:cBhvr>
                                        <p:cTn id="9" dur="500" fill="hold"/>
                                        <p:tgtEl>
                                          <p:spTgt spid="3">
                                            <p:txEl>
                                              <p:pRg st="0" end="0"/>
                                            </p:txEl>
                                          </p:spTgt>
                                        </p:tgtEl>
                                        <p:attrNameLst>
                                          <p:attrName>style.rotation</p:attrName>
                                        </p:attrNameLst>
                                      </p:cBhvr>
                                      <p:tavLst>
                                        <p:tav tm="0">
                                          <p:val>
                                            <p:fltVal val="360"/>
                                          </p:val>
                                        </p:tav>
                                        <p:tav tm="100000">
                                          <p:val>
                                            <p:fltVal val="0"/>
                                          </p:val>
                                        </p:tav>
                                      </p:tavLst>
                                    </p:anim>
                                    <p:animEffect transition="in" filter="fade">
                                      <p:cBhvr>
                                        <p:cTn id="10" dur="500"/>
                                        <p:tgtEl>
                                          <p:spTgt spid="3">
                                            <p:txEl>
                                              <p:pRg st="0" end="0"/>
                                            </p:txEl>
                                          </p:spTgt>
                                        </p:tgtEl>
                                      </p:cBhvr>
                                    </p:animEffect>
                                  </p:childTnLst>
                                </p:cTn>
                              </p:par>
                              <p:par>
                                <p:cTn id="11" presetID="49" presetClass="entr" presetSubtype="0" decel="100000" fill="hold" nodeType="with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p:cTn id="13" dur="500" fill="hold"/>
                                        <p:tgtEl>
                                          <p:spTgt spid="3">
                                            <p:txEl>
                                              <p:pRg st="1" end="1"/>
                                            </p:txEl>
                                          </p:spTgt>
                                        </p:tgtEl>
                                        <p:attrNameLst>
                                          <p:attrName>ppt_w</p:attrName>
                                        </p:attrNameLst>
                                      </p:cBhvr>
                                      <p:tavLst>
                                        <p:tav tm="0">
                                          <p:val>
                                            <p:fltVal val="0"/>
                                          </p:val>
                                        </p:tav>
                                        <p:tav tm="100000">
                                          <p:val>
                                            <p:strVal val="#ppt_w"/>
                                          </p:val>
                                        </p:tav>
                                      </p:tavLst>
                                    </p:anim>
                                    <p:anim calcmode="lin" valueType="num">
                                      <p:cBhvr>
                                        <p:cTn id="14" dur="500" fill="hold"/>
                                        <p:tgtEl>
                                          <p:spTgt spid="3">
                                            <p:txEl>
                                              <p:pRg st="1" end="1"/>
                                            </p:txEl>
                                          </p:spTgt>
                                        </p:tgtEl>
                                        <p:attrNameLst>
                                          <p:attrName>ppt_h</p:attrName>
                                        </p:attrNameLst>
                                      </p:cBhvr>
                                      <p:tavLst>
                                        <p:tav tm="0">
                                          <p:val>
                                            <p:fltVal val="0"/>
                                          </p:val>
                                        </p:tav>
                                        <p:tav tm="100000">
                                          <p:val>
                                            <p:strVal val="#ppt_h"/>
                                          </p:val>
                                        </p:tav>
                                      </p:tavLst>
                                    </p:anim>
                                    <p:anim calcmode="lin" valueType="num">
                                      <p:cBhvr>
                                        <p:cTn id="15" dur="500" fill="hold"/>
                                        <p:tgtEl>
                                          <p:spTgt spid="3">
                                            <p:txEl>
                                              <p:pRg st="1" end="1"/>
                                            </p:txEl>
                                          </p:spTgt>
                                        </p:tgtEl>
                                        <p:attrNameLst>
                                          <p:attrName>style.rotation</p:attrName>
                                        </p:attrNameLst>
                                      </p:cBhvr>
                                      <p:tavLst>
                                        <p:tav tm="0">
                                          <p:val>
                                            <p:fltVal val="360"/>
                                          </p:val>
                                        </p:tav>
                                        <p:tav tm="100000">
                                          <p:val>
                                            <p:fltVal val="0"/>
                                          </p:val>
                                        </p:tav>
                                      </p:tavLst>
                                    </p:anim>
                                    <p:animEffect transition="in" filter="fade">
                                      <p:cBhvr>
                                        <p:cTn id="16"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p:cNvSpPr>
            <a:spLocks noGrp="1"/>
          </p:cNvSpPr>
          <p:nvPr>
            <p:ph type="title"/>
          </p:nvPr>
        </p:nvSpPr>
        <p:spPr>
          <a:xfrm>
            <a:off x="838200" y="509588"/>
            <a:ext cx="10515600" cy="1181100"/>
          </a:xfrm>
        </p:spPr>
        <p:txBody>
          <a:bodyPr/>
          <a:lstStyle/>
          <a:p>
            <a:pPr algn="ctr" eaLnBrk="1" hangingPunct="1"/>
            <a:r>
              <a:rPr lang="en-US" b="1" dirty="0">
                <a:cs typeface="Times New Roman" pitchFamily="18" charset="0"/>
              </a:rPr>
              <a:t>Transistor Configuration</a:t>
            </a:r>
          </a:p>
        </p:txBody>
      </p:sp>
      <p:sp>
        <p:nvSpPr>
          <p:cNvPr id="4" name="Slide Number Placeholder 3"/>
          <p:cNvSpPr>
            <a:spLocks noGrp="1"/>
          </p:cNvSpPr>
          <p:nvPr>
            <p:ph type="sldNum" sz="quarter" idx="12"/>
          </p:nvPr>
        </p:nvSpPr>
        <p:spPr/>
        <p:txBody>
          <a:bodyPr/>
          <a:lstStyle/>
          <a:p>
            <a:pPr>
              <a:defRPr/>
            </a:pPr>
            <a:fld id="{E17FDEEA-E7DD-4C62-90CB-6EC3B8CB4F4B}" type="slidenum">
              <a:rPr lang="en-US"/>
              <a:pPr>
                <a:defRPr/>
              </a:pPr>
              <a:t>7</a:t>
            </a:fld>
            <a:endParaRPr lang="en-US"/>
          </a:p>
        </p:txBody>
      </p:sp>
      <p:sp>
        <p:nvSpPr>
          <p:cNvPr id="13" name="Rectangle 12"/>
          <p:cNvSpPr/>
          <p:nvPr/>
        </p:nvSpPr>
        <p:spPr>
          <a:xfrm>
            <a:off x="838200" y="1560717"/>
            <a:ext cx="10306619" cy="4524315"/>
          </a:xfrm>
          <a:prstGeom prst="rect">
            <a:avLst/>
          </a:prstGeom>
        </p:spPr>
        <p:txBody>
          <a:bodyPr wrap="square">
            <a:spAutoFit/>
          </a:bodyPr>
          <a:lstStyle/>
          <a:p>
            <a:pPr algn="just"/>
            <a:r>
              <a:rPr lang="en-US" sz="3200" dirty="0">
                <a:latin typeface="+mn-lt"/>
                <a:cs typeface="Times New Roman" pitchFamily="18" charset="0"/>
              </a:rPr>
              <a:t>Accordingly; a transistor can be connected in a circuit in the following three ways:</a:t>
            </a:r>
          </a:p>
          <a:p>
            <a:pPr algn="just"/>
            <a:r>
              <a:rPr lang="en-US" sz="3200" dirty="0">
                <a:latin typeface="+mn-lt"/>
                <a:cs typeface="Times New Roman" pitchFamily="18" charset="0"/>
              </a:rPr>
              <a:t>•</a:t>
            </a:r>
            <a:r>
              <a:rPr lang="en-US" sz="3200" dirty="0">
                <a:solidFill>
                  <a:srgbClr val="FF00FF"/>
                </a:solidFill>
                <a:latin typeface="+mn-lt"/>
                <a:cs typeface="Times New Roman" pitchFamily="18" charset="0"/>
              </a:rPr>
              <a:t>	</a:t>
            </a:r>
            <a:r>
              <a:rPr lang="en-US" sz="3200" dirty="0">
                <a:latin typeface="+mn-lt"/>
                <a:cs typeface="Times New Roman" pitchFamily="18" charset="0"/>
              </a:rPr>
              <a:t>Common Base Connection </a:t>
            </a:r>
          </a:p>
          <a:p>
            <a:pPr algn="just"/>
            <a:r>
              <a:rPr lang="en-US" sz="3200" dirty="0">
                <a:latin typeface="+mn-lt"/>
                <a:cs typeface="Times New Roman" pitchFamily="18" charset="0"/>
              </a:rPr>
              <a:t>•</a:t>
            </a:r>
            <a:r>
              <a:rPr lang="en-US" sz="3200" dirty="0">
                <a:solidFill>
                  <a:srgbClr val="FF00FF"/>
                </a:solidFill>
                <a:latin typeface="+mn-lt"/>
                <a:cs typeface="Times New Roman" pitchFamily="18" charset="0"/>
              </a:rPr>
              <a:t>	</a:t>
            </a:r>
            <a:r>
              <a:rPr lang="en-US" sz="3200" dirty="0">
                <a:latin typeface="+mn-lt"/>
                <a:cs typeface="Times New Roman" pitchFamily="18" charset="0"/>
              </a:rPr>
              <a:t>Common Emitter Connection </a:t>
            </a:r>
          </a:p>
          <a:p>
            <a:pPr algn="just"/>
            <a:r>
              <a:rPr lang="en-US" sz="3200" dirty="0">
                <a:latin typeface="+mn-lt"/>
                <a:cs typeface="Times New Roman" pitchFamily="18" charset="0"/>
              </a:rPr>
              <a:t>•</a:t>
            </a:r>
            <a:r>
              <a:rPr lang="en-US" sz="3200" dirty="0">
                <a:solidFill>
                  <a:srgbClr val="FF00FF"/>
                </a:solidFill>
                <a:latin typeface="+mn-lt"/>
                <a:cs typeface="Times New Roman" pitchFamily="18" charset="0"/>
              </a:rPr>
              <a:t>	</a:t>
            </a:r>
            <a:r>
              <a:rPr lang="en-US" sz="3200" dirty="0">
                <a:latin typeface="+mn-lt"/>
                <a:cs typeface="Times New Roman" pitchFamily="18" charset="0"/>
              </a:rPr>
              <a:t>Common Collector Connection</a:t>
            </a:r>
          </a:p>
          <a:p>
            <a:pPr algn="just"/>
            <a:r>
              <a:rPr lang="en-US" sz="3200" dirty="0">
                <a:latin typeface="+mn-lt"/>
                <a:cs typeface="Times New Roman" pitchFamily="18" charset="0"/>
              </a:rPr>
              <a:t>Each circuit connection has specific advantages and disadvantages. It may be noted here that regardless of circuit connection, the emitter is always biased in the forward direction, while the collector always has a reverse bias.</a:t>
            </a:r>
          </a:p>
        </p:txBody>
      </p:sp>
    </p:spTree>
    <p:custDataLst>
      <p:tags r:id="rId1"/>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p:cNvSpPr>
            <a:spLocks noGrp="1"/>
          </p:cNvSpPr>
          <p:nvPr>
            <p:ph type="title"/>
          </p:nvPr>
        </p:nvSpPr>
        <p:spPr>
          <a:xfrm>
            <a:off x="838200" y="509588"/>
            <a:ext cx="10515600" cy="1181100"/>
          </a:xfrm>
        </p:spPr>
        <p:txBody>
          <a:bodyPr>
            <a:normAutofit/>
          </a:bodyPr>
          <a:lstStyle/>
          <a:p>
            <a:pPr algn="ctr" eaLnBrk="1" hangingPunct="1"/>
            <a:r>
              <a:rPr lang="en-US" b="1" dirty="0">
                <a:cs typeface="Times New Roman" pitchFamily="18" charset="0"/>
              </a:rPr>
              <a:t>Common Base Connection</a:t>
            </a:r>
          </a:p>
        </p:txBody>
      </p:sp>
      <p:sp>
        <p:nvSpPr>
          <p:cNvPr id="4" name="Slide Number Placeholder 3"/>
          <p:cNvSpPr>
            <a:spLocks noGrp="1"/>
          </p:cNvSpPr>
          <p:nvPr>
            <p:ph type="sldNum" sz="quarter" idx="12"/>
          </p:nvPr>
        </p:nvSpPr>
        <p:spPr/>
        <p:txBody>
          <a:bodyPr/>
          <a:lstStyle/>
          <a:p>
            <a:pPr>
              <a:defRPr/>
            </a:pPr>
            <a:fld id="{E17FDEEA-E7DD-4C62-90CB-6EC3B8CB4F4B}" type="slidenum">
              <a:rPr lang="en-US"/>
              <a:pPr>
                <a:defRPr/>
              </a:pPr>
              <a:t>8</a:t>
            </a:fld>
            <a:endParaRPr lang="en-US"/>
          </a:p>
        </p:txBody>
      </p:sp>
      <p:sp>
        <p:nvSpPr>
          <p:cNvPr id="13" name="Rectangle 12"/>
          <p:cNvSpPr/>
          <p:nvPr/>
        </p:nvSpPr>
        <p:spPr>
          <a:xfrm>
            <a:off x="695420" y="1458496"/>
            <a:ext cx="5532938" cy="5262979"/>
          </a:xfrm>
          <a:prstGeom prst="rect">
            <a:avLst/>
          </a:prstGeom>
        </p:spPr>
        <p:txBody>
          <a:bodyPr wrap="square">
            <a:spAutoFit/>
          </a:bodyPr>
          <a:lstStyle/>
          <a:p>
            <a:pPr algn="just"/>
            <a:r>
              <a:rPr lang="en-US" sz="2800" dirty="0">
                <a:latin typeface="+mn-lt"/>
                <a:cs typeface="Times New Roman" pitchFamily="18" charset="0"/>
              </a:rPr>
              <a:t>In this circuit arrangement, input is applied between emitter and base and output is taken from collector and base. </a:t>
            </a:r>
          </a:p>
          <a:p>
            <a:pPr algn="just"/>
            <a:r>
              <a:rPr lang="en-US" sz="2800" dirty="0">
                <a:latin typeface="+mn-lt"/>
                <a:cs typeface="Times New Roman" pitchFamily="18" charset="0"/>
              </a:rPr>
              <a:t>Here, base of the transistor is common to both input and output circuits and hence the name common base connection.</a:t>
            </a:r>
          </a:p>
          <a:p>
            <a:pPr algn="just"/>
            <a:r>
              <a:rPr lang="en-US" sz="2800" dirty="0">
                <a:latin typeface="+mn-lt"/>
                <a:cs typeface="Times New Roman" pitchFamily="18" charset="0"/>
              </a:rPr>
              <a:t>In Fig. 1 (</a:t>
            </a:r>
            <a:r>
              <a:rPr lang="en-US" sz="2800" dirty="0" err="1">
                <a:latin typeface="+mn-lt"/>
                <a:cs typeface="Times New Roman" pitchFamily="18" charset="0"/>
              </a:rPr>
              <a:t>i</a:t>
            </a:r>
            <a:r>
              <a:rPr lang="en-US" sz="2800" dirty="0">
                <a:latin typeface="+mn-lt"/>
                <a:cs typeface="Times New Roman" pitchFamily="18" charset="0"/>
              </a:rPr>
              <a:t>), a common base </a:t>
            </a:r>
            <a:r>
              <a:rPr lang="en-US" sz="2800" dirty="0" err="1">
                <a:latin typeface="+mn-lt"/>
                <a:cs typeface="Times New Roman" pitchFamily="18" charset="0"/>
              </a:rPr>
              <a:t>npn</a:t>
            </a:r>
            <a:r>
              <a:rPr lang="en-US" sz="2800" dirty="0">
                <a:latin typeface="+mn-lt"/>
                <a:cs typeface="Times New Roman" pitchFamily="18" charset="0"/>
              </a:rPr>
              <a:t> transistor circuit is shown whereas Fig. </a:t>
            </a:r>
            <a:r>
              <a:rPr lang="en-US" sz="2800" dirty="0">
                <a:cs typeface="Times New Roman" pitchFamily="18" charset="0"/>
              </a:rPr>
              <a:t>1</a:t>
            </a:r>
            <a:r>
              <a:rPr lang="en-US" sz="2800" dirty="0">
                <a:latin typeface="+mn-lt"/>
                <a:cs typeface="Times New Roman" pitchFamily="18" charset="0"/>
              </a:rPr>
              <a:t> (ii) shows the common base </a:t>
            </a:r>
            <a:r>
              <a:rPr lang="en-US" sz="2800" dirty="0" err="1">
                <a:latin typeface="+mn-lt"/>
                <a:cs typeface="Times New Roman" pitchFamily="18" charset="0"/>
              </a:rPr>
              <a:t>pnp</a:t>
            </a:r>
            <a:r>
              <a:rPr lang="en-US" sz="2800" dirty="0">
                <a:latin typeface="+mn-lt"/>
                <a:cs typeface="Times New Roman" pitchFamily="18" charset="0"/>
              </a:rPr>
              <a:t> transistor circuit.  </a:t>
            </a:r>
          </a:p>
        </p:txBody>
      </p:sp>
      <p:sp>
        <p:nvSpPr>
          <p:cNvPr id="9" name="TextBox 8">
            <a:extLst>
              <a:ext uri="{FF2B5EF4-FFF2-40B4-BE49-F238E27FC236}">
                <a16:creationId xmlns:a16="http://schemas.microsoft.com/office/drawing/2014/main" xmlns="" id="{2CF431D2-E1DC-43DD-AA22-749BFD3E4FA9}"/>
              </a:ext>
            </a:extLst>
          </p:cNvPr>
          <p:cNvSpPr txBox="1"/>
          <p:nvPr/>
        </p:nvSpPr>
        <p:spPr>
          <a:xfrm>
            <a:off x="6384649" y="5151708"/>
            <a:ext cx="5272959" cy="369332"/>
          </a:xfrm>
          <a:prstGeom prst="rect">
            <a:avLst/>
          </a:prstGeom>
          <a:noFill/>
        </p:spPr>
        <p:txBody>
          <a:bodyPr wrap="square" rtlCol="0">
            <a:spAutoFit/>
          </a:bodyPr>
          <a:lstStyle/>
          <a:p>
            <a:pPr algn="ctr"/>
            <a:r>
              <a:rPr kumimoji="0" lang="en-US" altLang="en-US" b="1" i="0" u="none" strike="noStrike" cap="none" normalizeH="0" baseline="0" dirty="0">
                <a:ln>
                  <a:noFill/>
                </a:ln>
                <a:solidFill>
                  <a:schemeClr val="tx1"/>
                </a:solidFill>
                <a:effectLst/>
                <a:ea typeface="Calibri" panose="020F0502020204030204" pitchFamily="34" charset="0"/>
                <a:cs typeface="Times New Roman" panose="02020603050405020304" pitchFamily="18" charset="0"/>
              </a:rPr>
              <a:t>Figure 1: Common Base Configuration</a:t>
            </a:r>
            <a:endParaRPr lang="en-US" dirty="0"/>
          </a:p>
        </p:txBody>
      </p:sp>
      <p:sp>
        <p:nvSpPr>
          <p:cNvPr id="10" name="TextBox 9">
            <a:extLst>
              <a:ext uri="{FF2B5EF4-FFF2-40B4-BE49-F238E27FC236}">
                <a16:creationId xmlns:a16="http://schemas.microsoft.com/office/drawing/2014/main" xmlns="" id="{86D827A0-447C-4DA6-AFDB-7E0A33D26C95}"/>
              </a:ext>
            </a:extLst>
          </p:cNvPr>
          <p:cNvSpPr txBox="1"/>
          <p:nvPr/>
        </p:nvSpPr>
        <p:spPr>
          <a:xfrm>
            <a:off x="6228358" y="5650719"/>
            <a:ext cx="5272959" cy="646331"/>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algn="ctr"/>
            <a:r>
              <a:rPr kumimoji="0" lang="en-US" altLang="en-US" b="1" i="0" u="none" strike="noStrike" cap="none" normalizeH="0" baseline="0" dirty="0">
                <a:ln>
                  <a:noFill/>
                </a:ln>
                <a:solidFill>
                  <a:schemeClr val="tx1"/>
                </a:solidFill>
                <a:effectLst/>
                <a:ea typeface="Calibri" panose="020F0502020204030204" pitchFamily="34" charset="0"/>
                <a:cs typeface="Times New Roman" panose="02020603050405020304" pitchFamily="18" charset="0"/>
              </a:rPr>
              <a:t>(Source</a:t>
            </a:r>
            <a:r>
              <a:rPr kumimoji="0" lang="en-US" altLang="en-US" b="1" i="0" u="none" strike="noStrike" cap="none" normalizeH="0" baseline="0" dirty="0">
                <a:ln>
                  <a:noFill/>
                </a:ln>
                <a:solidFill>
                  <a:srgbClr val="002060"/>
                </a:solidFill>
                <a:effectLst/>
                <a:ea typeface="Calibri" panose="020F0502020204030204" pitchFamily="34" charset="0"/>
                <a:cs typeface="Times New Roman" panose="02020603050405020304" pitchFamily="18" charset="0"/>
              </a:rPr>
              <a:t>: </a:t>
            </a:r>
            <a:r>
              <a:rPr lang="en-US" sz="1800" b="1" dirty="0">
                <a:solidFill>
                  <a:srgbClr val="7030A0"/>
                </a:solidFill>
              </a:rPr>
              <a:t>Principles of Electronics, V K Mehta , Rohit Mehta, 12/e , S. Chand Publishing</a:t>
            </a:r>
            <a:r>
              <a:rPr kumimoji="0" lang="en-US" altLang="en-US" b="1" i="0" u="none" strike="noStrike" cap="none" normalizeH="0" baseline="0" dirty="0">
                <a:ln>
                  <a:noFill/>
                </a:ln>
                <a:solidFill>
                  <a:schemeClr val="tx1"/>
                </a:solidFill>
                <a:effectLst/>
                <a:ea typeface="Calibri" panose="020F0502020204030204" pitchFamily="34" charset="0"/>
                <a:cs typeface="Times New Roman" panose="02020603050405020304" pitchFamily="18" charset="0"/>
              </a:rPr>
              <a:t>)</a:t>
            </a:r>
            <a:endParaRPr lang="en-US" sz="1600" dirty="0"/>
          </a:p>
        </p:txBody>
      </p:sp>
      <p:pic>
        <p:nvPicPr>
          <p:cNvPr id="8" name="Picture 7">
            <a:extLst>
              <a:ext uri="{FF2B5EF4-FFF2-40B4-BE49-F238E27FC236}">
                <a16:creationId xmlns:a16="http://schemas.microsoft.com/office/drawing/2014/main" xmlns="" id="{161C0DAD-61AB-4E68-946F-6080F29AEE93}"/>
              </a:ext>
            </a:extLst>
          </p:cNvPr>
          <p:cNvPicPr/>
          <p:nvPr/>
        </p:nvPicPr>
        <p:blipFill>
          <a:blip r:embed="rId3"/>
          <a:stretch>
            <a:fillRect/>
          </a:stretch>
        </p:blipFill>
        <p:spPr>
          <a:xfrm>
            <a:off x="6618883" y="2449313"/>
            <a:ext cx="5038725" cy="2572716"/>
          </a:xfrm>
          <a:prstGeom prst="rect">
            <a:avLst/>
          </a:prstGeom>
        </p:spPr>
      </p:pic>
    </p:spTree>
    <p:custDataLst>
      <p:tags r:id="rId1"/>
    </p:custDataLst>
    <p:extLst>
      <p:ext uri="{BB962C8B-B14F-4D97-AF65-F5344CB8AC3E}">
        <p14:creationId xmlns:p14="http://schemas.microsoft.com/office/powerpoint/2010/main" xmlns="" val="277512869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p:cNvSpPr>
            <a:spLocks noGrp="1"/>
          </p:cNvSpPr>
          <p:nvPr>
            <p:ph type="title"/>
          </p:nvPr>
        </p:nvSpPr>
        <p:spPr>
          <a:xfrm>
            <a:off x="838200" y="509588"/>
            <a:ext cx="10515600" cy="1181100"/>
          </a:xfrm>
        </p:spPr>
        <p:txBody>
          <a:bodyPr>
            <a:normAutofit/>
          </a:bodyPr>
          <a:lstStyle/>
          <a:p>
            <a:pPr algn="ctr" eaLnBrk="1" hangingPunct="1"/>
            <a:r>
              <a:rPr lang="en-US" b="1" dirty="0">
                <a:cs typeface="Times New Roman" pitchFamily="18" charset="0"/>
              </a:rPr>
              <a:t>Current amplification factor (</a:t>
            </a:r>
            <a:r>
              <a:rPr lang="el-GR" b="1" dirty="0">
                <a:cs typeface="Times New Roman" pitchFamily="18" charset="0"/>
              </a:rPr>
              <a:t>α)</a:t>
            </a:r>
            <a:endParaRPr lang="en-US" b="1" dirty="0">
              <a:cs typeface="Times New Roman" pitchFamily="18" charset="0"/>
            </a:endParaRPr>
          </a:p>
        </p:txBody>
      </p:sp>
      <p:sp>
        <p:nvSpPr>
          <p:cNvPr id="4" name="Slide Number Placeholder 3"/>
          <p:cNvSpPr>
            <a:spLocks noGrp="1"/>
          </p:cNvSpPr>
          <p:nvPr>
            <p:ph type="sldNum" sz="quarter" idx="12"/>
          </p:nvPr>
        </p:nvSpPr>
        <p:spPr/>
        <p:txBody>
          <a:bodyPr/>
          <a:lstStyle/>
          <a:p>
            <a:pPr>
              <a:defRPr/>
            </a:pPr>
            <a:fld id="{E17FDEEA-E7DD-4C62-90CB-6EC3B8CB4F4B}" type="slidenum">
              <a:rPr lang="en-US"/>
              <a:pPr>
                <a:defRPr/>
              </a:pPr>
              <a:t>9</a:t>
            </a:fld>
            <a:endParaRPr lang="en-US"/>
          </a:p>
        </p:txBody>
      </p:sp>
      <p:sp>
        <p:nvSpPr>
          <p:cNvPr id="13" name="Rectangle 12"/>
          <p:cNvSpPr/>
          <p:nvPr/>
        </p:nvSpPr>
        <p:spPr>
          <a:xfrm>
            <a:off x="838200" y="1690688"/>
            <a:ext cx="10502089" cy="4832092"/>
          </a:xfrm>
          <a:prstGeom prst="rect">
            <a:avLst/>
          </a:prstGeom>
        </p:spPr>
        <p:txBody>
          <a:bodyPr wrap="square">
            <a:spAutoFit/>
          </a:bodyPr>
          <a:lstStyle/>
          <a:p>
            <a:pPr algn="just"/>
            <a:r>
              <a:rPr lang="en-US" sz="2800" dirty="0">
                <a:latin typeface="+mn-lt"/>
                <a:cs typeface="Times New Roman" pitchFamily="18" charset="0"/>
              </a:rPr>
              <a:t>It is the ratio of output current to input current. In a common base connection, the input current is the emitter current IE and output current is the collector current IC.</a:t>
            </a:r>
          </a:p>
          <a:p>
            <a:pPr algn="just"/>
            <a:r>
              <a:rPr lang="en-US" sz="2800" dirty="0">
                <a:latin typeface="+mn-lt"/>
                <a:cs typeface="Times New Roman" pitchFamily="18" charset="0"/>
              </a:rPr>
              <a:t>The ratio of change in collector current to the change in emitter current at constant collector base voltage VCB is known as current amplification factor.</a:t>
            </a:r>
          </a:p>
          <a:p>
            <a:pPr algn="just"/>
            <a:r>
              <a:rPr lang="en-US" sz="2800" dirty="0">
                <a:latin typeface="+mn-lt"/>
                <a:cs typeface="Times New Roman" pitchFamily="18" charset="0"/>
              </a:rPr>
              <a:t>This is achieved by making the base thin and doping it lightly. Practical values of α in commercial transistors range from 0.9 to 0.99.</a:t>
            </a:r>
          </a:p>
          <a:p>
            <a:pPr algn="just"/>
            <a:endParaRPr lang="en-US" sz="2800" dirty="0">
              <a:latin typeface="+mn-lt"/>
              <a:cs typeface="Times New Roman" pitchFamily="18" charset="0"/>
            </a:endParaRPr>
          </a:p>
          <a:p>
            <a:pPr algn="ctr"/>
            <a:r>
              <a:rPr lang="en-US" sz="2800" dirty="0">
                <a:latin typeface="+mn-lt"/>
                <a:cs typeface="Times New Roman" pitchFamily="18" charset="0"/>
              </a:rPr>
              <a:t>α=(∆I</a:t>
            </a:r>
            <a:r>
              <a:rPr lang="en-US" sz="2800" baseline="-25000" dirty="0">
                <a:latin typeface="+mn-lt"/>
                <a:cs typeface="Times New Roman" pitchFamily="18" charset="0"/>
              </a:rPr>
              <a:t>C</a:t>
            </a:r>
            <a:r>
              <a:rPr lang="en-US" sz="2800" dirty="0">
                <a:latin typeface="+mn-lt"/>
                <a:cs typeface="Times New Roman" pitchFamily="18" charset="0"/>
              </a:rPr>
              <a:t>)/(∆I</a:t>
            </a:r>
            <a:r>
              <a:rPr lang="en-US" sz="2800" baseline="-25000" dirty="0">
                <a:latin typeface="+mn-lt"/>
                <a:cs typeface="Times New Roman" pitchFamily="18" charset="0"/>
              </a:rPr>
              <a:t>E</a:t>
            </a:r>
            <a:r>
              <a:rPr lang="en-US" sz="2800" dirty="0">
                <a:latin typeface="+mn-lt"/>
                <a:cs typeface="Times New Roman" pitchFamily="18" charset="0"/>
              </a:rPr>
              <a:t> )  at constant V</a:t>
            </a:r>
            <a:r>
              <a:rPr lang="en-US" sz="2800" baseline="-25000" dirty="0">
                <a:latin typeface="+mn-lt"/>
                <a:cs typeface="Times New Roman" pitchFamily="18" charset="0"/>
              </a:rPr>
              <a:t>CB</a:t>
            </a:r>
            <a:r>
              <a:rPr lang="en-US" sz="2800" dirty="0">
                <a:latin typeface="+mn-lt"/>
                <a:cs typeface="Times New Roman" pitchFamily="18" charset="0"/>
              </a:rPr>
              <a:t> </a:t>
            </a:r>
            <a:r>
              <a:rPr lang="en-US" sz="2800" dirty="0">
                <a:solidFill>
                  <a:srgbClr val="FF00FF"/>
                </a:solidFill>
                <a:latin typeface="+mn-lt"/>
                <a:cs typeface="Times New Roman" pitchFamily="18" charset="0"/>
              </a:rPr>
              <a:t>		</a:t>
            </a:r>
            <a:r>
              <a:rPr lang="en-US" sz="2800" dirty="0">
                <a:latin typeface="+mn-lt"/>
                <a:cs typeface="Times New Roman" pitchFamily="18" charset="0"/>
              </a:rPr>
              <a:t>(1)</a:t>
            </a:r>
          </a:p>
          <a:p>
            <a:pPr algn="just"/>
            <a:endParaRPr lang="en-US" sz="2800" dirty="0">
              <a:latin typeface="+mn-lt"/>
              <a:cs typeface="Times New Roman" pitchFamily="18" charset="0"/>
            </a:endParaRPr>
          </a:p>
        </p:txBody>
      </p:sp>
    </p:spTree>
    <p:custDataLst>
      <p:tags r:id="rId1"/>
    </p:custDataLst>
    <p:extLst>
      <p:ext uri="{BB962C8B-B14F-4D97-AF65-F5344CB8AC3E}">
        <p14:creationId xmlns:p14="http://schemas.microsoft.com/office/powerpoint/2010/main" xmlns="" val="344782298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p:cNvSpPr>
            <a:spLocks noGrp="1"/>
          </p:cNvSpPr>
          <p:nvPr>
            <p:ph type="title"/>
          </p:nvPr>
        </p:nvSpPr>
        <p:spPr>
          <a:xfrm>
            <a:off x="838200" y="509588"/>
            <a:ext cx="10515600" cy="1181100"/>
          </a:xfrm>
        </p:spPr>
        <p:txBody>
          <a:bodyPr>
            <a:normAutofit/>
          </a:bodyPr>
          <a:lstStyle/>
          <a:p>
            <a:pPr algn="ctr" eaLnBrk="1" hangingPunct="1"/>
            <a:r>
              <a:rPr lang="en-US" b="1" dirty="0">
                <a:cs typeface="Times New Roman" pitchFamily="18" charset="0"/>
              </a:rPr>
              <a:t>Expression for collector current</a:t>
            </a:r>
          </a:p>
        </p:txBody>
      </p:sp>
      <p:sp>
        <p:nvSpPr>
          <p:cNvPr id="4" name="Slide Number Placeholder 3"/>
          <p:cNvSpPr>
            <a:spLocks noGrp="1"/>
          </p:cNvSpPr>
          <p:nvPr>
            <p:ph type="sldNum" sz="quarter" idx="12"/>
          </p:nvPr>
        </p:nvSpPr>
        <p:spPr/>
        <p:txBody>
          <a:bodyPr/>
          <a:lstStyle/>
          <a:p>
            <a:pPr>
              <a:defRPr/>
            </a:pPr>
            <a:fld id="{E17FDEEA-E7DD-4C62-90CB-6EC3B8CB4F4B}" type="slidenum">
              <a:rPr lang="en-US"/>
              <a:pPr>
                <a:defRPr/>
              </a:pPr>
              <a:t>10</a:t>
            </a:fld>
            <a:endParaRPr lang="en-US"/>
          </a:p>
        </p:txBody>
      </p:sp>
      <p:sp>
        <p:nvSpPr>
          <p:cNvPr id="13" name="Rectangle 12"/>
          <p:cNvSpPr/>
          <p:nvPr/>
        </p:nvSpPr>
        <p:spPr>
          <a:xfrm>
            <a:off x="838200" y="1690688"/>
            <a:ext cx="10502089" cy="3493264"/>
          </a:xfrm>
          <a:prstGeom prst="rect">
            <a:avLst/>
          </a:prstGeom>
        </p:spPr>
        <p:txBody>
          <a:bodyPr wrap="square">
            <a:spAutoFit/>
          </a:bodyPr>
          <a:lstStyle/>
          <a:p>
            <a:pPr algn="just"/>
            <a:r>
              <a:rPr lang="en-US" sz="2800" dirty="0">
                <a:latin typeface="+mn-lt"/>
                <a:cs typeface="Times New Roman" pitchFamily="18" charset="0"/>
              </a:rPr>
              <a:t>The whole of emitter current does not reach the collector. It is because a small percentage of it, as a result of electron-hole combinations occurring in base area, gives rise to base current. </a:t>
            </a:r>
          </a:p>
          <a:p>
            <a:pPr algn="just">
              <a:lnSpc>
                <a:spcPts val="1950"/>
              </a:lnSpc>
              <a:spcAft>
                <a:spcPts val="1000"/>
              </a:spcAft>
            </a:pPr>
            <a:r>
              <a:rPr lang="en-IN" sz="2800" dirty="0">
                <a:cs typeface="Times New Roman" pitchFamily="18" charset="0"/>
              </a:rPr>
              <a:t>Total collector current,</a:t>
            </a:r>
          </a:p>
          <a:p>
            <a:pPr algn="ctr"/>
            <a:r>
              <a:rPr lang="en-IN" sz="2800" dirty="0">
                <a:cs typeface="Times New Roman" pitchFamily="18" charset="0"/>
              </a:rPr>
              <a:t>IC = α I</a:t>
            </a:r>
            <a:r>
              <a:rPr lang="en-IN" sz="2800" baseline="-25000" dirty="0">
                <a:cs typeface="Times New Roman" pitchFamily="18" charset="0"/>
              </a:rPr>
              <a:t>E</a:t>
            </a:r>
            <a:r>
              <a:rPr lang="en-IN" sz="2800" dirty="0">
                <a:cs typeface="Times New Roman" pitchFamily="18" charset="0"/>
              </a:rPr>
              <a:t> + I</a:t>
            </a:r>
            <a:r>
              <a:rPr lang="en-IN" sz="2800" baseline="-25000" dirty="0">
                <a:cs typeface="Times New Roman" pitchFamily="18" charset="0"/>
              </a:rPr>
              <a:t>leakage</a:t>
            </a:r>
            <a:r>
              <a:rPr lang="en-IN" sz="2800" dirty="0">
                <a:cs typeface="Times New Roman" pitchFamily="18" charset="0"/>
              </a:rPr>
              <a:t> </a:t>
            </a:r>
            <a:r>
              <a:rPr lang="en-IN" sz="2800" dirty="0">
                <a:solidFill>
                  <a:srgbClr val="FF00FF"/>
                </a:solidFill>
                <a:cs typeface="Times New Roman" pitchFamily="18" charset="0"/>
              </a:rPr>
              <a:t>	</a:t>
            </a:r>
            <a:r>
              <a:rPr lang="en-US" sz="2800" dirty="0">
                <a:latin typeface="+mn-lt"/>
                <a:cs typeface="Times New Roman" pitchFamily="18" charset="0"/>
              </a:rPr>
              <a:t> (2)</a:t>
            </a:r>
            <a:endParaRPr lang="en-IN" sz="2800" dirty="0">
              <a:cs typeface="Times New Roman" pitchFamily="18" charset="0"/>
            </a:endParaRPr>
          </a:p>
          <a:p>
            <a:endParaRPr lang="en-US" sz="2800" dirty="0">
              <a:cs typeface="Times New Roman" pitchFamily="18" charset="0"/>
            </a:endParaRPr>
          </a:p>
          <a:p>
            <a:r>
              <a:rPr lang="en-US" sz="2800" dirty="0">
                <a:cs typeface="Times New Roman" pitchFamily="18" charset="0"/>
              </a:rPr>
              <a:t>it is clear that if </a:t>
            </a:r>
            <a:r>
              <a:rPr lang="en-IN" sz="2800" dirty="0">
                <a:cs typeface="Times New Roman" pitchFamily="18" charset="0"/>
              </a:rPr>
              <a:t>I</a:t>
            </a:r>
            <a:r>
              <a:rPr lang="en-IN" sz="2800" baseline="-25000" dirty="0">
                <a:cs typeface="Times New Roman" pitchFamily="18" charset="0"/>
              </a:rPr>
              <a:t>E</a:t>
            </a:r>
            <a:r>
              <a:rPr lang="en-US" sz="2800" dirty="0">
                <a:cs typeface="Times New Roman" pitchFamily="18" charset="0"/>
              </a:rPr>
              <a:t> = 0 (i.e., emitter circuit is open), a small leakage current still flows in the collector circuit.</a:t>
            </a:r>
          </a:p>
        </p:txBody>
      </p:sp>
    </p:spTree>
    <p:custDataLst>
      <p:tags r:id="rId1"/>
    </p:custDataLst>
    <p:extLst>
      <p:ext uri="{BB962C8B-B14F-4D97-AF65-F5344CB8AC3E}">
        <p14:creationId xmlns:p14="http://schemas.microsoft.com/office/powerpoint/2010/main" xmlns="" val="256959490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p:cNvSpPr>
            <a:spLocks noGrp="1"/>
          </p:cNvSpPr>
          <p:nvPr>
            <p:ph type="title"/>
          </p:nvPr>
        </p:nvSpPr>
        <p:spPr>
          <a:xfrm>
            <a:off x="838200" y="509588"/>
            <a:ext cx="10515600" cy="1181100"/>
          </a:xfrm>
        </p:spPr>
        <p:txBody>
          <a:bodyPr/>
          <a:lstStyle/>
          <a:p>
            <a:pPr algn="ctr" eaLnBrk="1" hangingPunct="1"/>
            <a:r>
              <a:rPr lang="en-US" b="1" dirty="0">
                <a:cs typeface="Times New Roman" pitchFamily="18" charset="0"/>
              </a:rPr>
              <a:t>Expression for collector current</a:t>
            </a:r>
          </a:p>
        </p:txBody>
      </p:sp>
      <p:sp>
        <p:nvSpPr>
          <p:cNvPr id="4" name="Slide Number Placeholder 3"/>
          <p:cNvSpPr>
            <a:spLocks noGrp="1"/>
          </p:cNvSpPr>
          <p:nvPr>
            <p:ph type="sldNum" sz="quarter" idx="12"/>
          </p:nvPr>
        </p:nvSpPr>
        <p:spPr/>
        <p:txBody>
          <a:bodyPr/>
          <a:lstStyle/>
          <a:p>
            <a:pPr>
              <a:defRPr/>
            </a:pPr>
            <a:fld id="{E17FDEEA-E7DD-4C62-90CB-6EC3B8CB4F4B}" type="slidenum">
              <a:rPr lang="en-US"/>
              <a:pPr>
                <a:defRPr/>
              </a:pPr>
              <a:t>11</a:t>
            </a:fld>
            <a:endParaRPr lang="en-US"/>
          </a:p>
        </p:txBody>
      </p:sp>
      <p:sp>
        <p:nvSpPr>
          <p:cNvPr id="13" name="Rectangle 12"/>
          <p:cNvSpPr/>
          <p:nvPr/>
        </p:nvSpPr>
        <p:spPr>
          <a:xfrm>
            <a:off x="851711" y="2170317"/>
            <a:ext cx="5532938" cy="1815882"/>
          </a:xfrm>
          <a:prstGeom prst="rect">
            <a:avLst/>
          </a:prstGeom>
        </p:spPr>
        <p:txBody>
          <a:bodyPr wrap="square">
            <a:spAutoFit/>
          </a:bodyPr>
          <a:lstStyle/>
          <a:p>
            <a:pPr algn="just"/>
            <a:r>
              <a:rPr lang="en-US" sz="2800" dirty="0">
                <a:latin typeface="+mn-lt"/>
                <a:cs typeface="Times New Roman" pitchFamily="18" charset="0"/>
              </a:rPr>
              <a:t>This I</a:t>
            </a:r>
            <a:r>
              <a:rPr lang="en-US" sz="2800" baseline="-25000" dirty="0">
                <a:latin typeface="+mn-lt"/>
                <a:cs typeface="Times New Roman" pitchFamily="18" charset="0"/>
              </a:rPr>
              <a:t>leakage</a:t>
            </a:r>
            <a:r>
              <a:rPr lang="en-US" sz="2800" dirty="0">
                <a:latin typeface="+mn-lt"/>
                <a:cs typeface="Times New Roman" pitchFamily="18" charset="0"/>
              </a:rPr>
              <a:t> is abbreviated as I</a:t>
            </a:r>
            <a:r>
              <a:rPr lang="en-US" sz="2800" baseline="-25000" dirty="0">
                <a:latin typeface="+mn-lt"/>
                <a:cs typeface="Times New Roman" pitchFamily="18" charset="0"/>
              </a:rPr>
              <a:t>CBO</a:t>
            </a:r>
            <a:r>
              <a:rPr lang="en-US" sz="2800" dirty="0">
                <a:latin typeface="+mn-lt"/>
                <a:cs typeface="Times New Roman" pitchFamily="18" charset="0"/>
              </a:rPr>
              <a:t>, meaning collector-base current with emitter open. The I</a:t>
            </a:r>
            <a:r>
              <a:rPr lang="en-US" sz="2800" baseline="-25000" dirty="0">
                <a:latin typeface="+mn-lt"/>
                <a:cs typeface="Times New Roman" pitchFamily="18" charset="0"/>
              </a:rPr>
              <a:t>CBO</a:t>
            </a:r>
            <a:r>
              <a:rPr lang="en-US" sz="2800" dirty="0">
                <a:latin typeface="+mn-lt"/>
                <a:cs typeface="Times New Roman" pitchFamily="18" charset="0"/>
              </a:rPr>
              <a:t> is indicated in Fig. 2.</a:t>
            </a:r>
          </a:p>
        </p:txBody>
      </p:sp>
      <p:sp>
        <p:nvSpPr>
          <p:cNvPr id="9" name="TextBox 8">
            <a:extLst>
              <a:ext uri="{FF2B5EF4-FFF2-40B4-BE49-F238E27FC236}">
                <a16:creationId xmlns:a16="http://schemas.microsoft.com/office/drawing/2014/main" xmlns="" id="{2CF431D2-E1DC-43DD-AA22-749BFD3E4FA9}"/>
              </a:ext>
            </a:extLst>
          </p:cNvPr>
          <p:cNvSpPr txBox="1"/>
          <p:nvPr/>
        </p:nvSpPr>
        <p:spPr>
          <a:xfrm>
            <a:off x="6096000" y="4932615"/>
            <a:ext cx="5821587" cy="646331"/>
          </a:xfrm>
          <a:prstGeom prst="rect">
            <a:avLst/>
          </a:prstGeom>
          <a:noFill/>
        </p:spPr>
        <p:txBody>
          <a:bodyPr wrap="square" rtlCol="0">
            <a:spAutoFit/>
          </a:bodyPr>
          <a:lstStyle/>
          <a:p>
            <a:pPr algn="ctr"/>
            <a:r>
              <a:rPr kumimoji="0" lang="en-US" altLang="en-US" b="1" i="0" u="none" strike="noStrike" cap="none" normalizeH="0" baseline="0" dirty="0">
                <a:ln>
                  <a:noFill/>
                </a:ln>
                <a:solidFill>
                  <a:schemeClr val="tx1"/>
                </a:solidFill>
                <a:effectLst/>
                <a:ea typeface="Calibri" panose="020F0502020204030204" pitchFamily="34" charset="0"/>
                <a:cs typeface="Times New Roman" panose="02020603050405020304" pitchFamily="18" charset="0"/>
              </a:rPr>
              <a:t>Figure 2: Leakage current I</a:t>
            </a:r>
            <a:r>
              <a:rPr kumimoji="0" lang="en-US" altLang="en-US" b="1" i="0" u="none" strike="noStrike" cap="none" normalizeH="0" baseline="-25000" dirty="0">
                <a:ln>
                  <a:noFill/>
                </a:ln>
                <a:solidFill>
                  <a:schemeClr val="tx1"/>
                </a:solidFill>
                <a:effectLst/>
                <a:ea typeface="Calibri" panose="020F0502020204030204" pitchFamily="34" charset="0"/>
                <a:cs typeface="Times New Roman" panose="02020603050405020304" pitchFamily="18" charset="0"/>
              </a:rPr>
              <a:t>CBO</a:t>
            </a:r>
            <a:r>
              <a:rPr kumimoji="0" lang="en-US" altLang="en-US" b="1" i="0" u="none" strike="noStrike" cap="none" normalizeH="0" baseline="0" dirty="0">
                <a:ln>
                  <a:noFill/>
                </a:ln>
                <a:solidFill>
                  <a:schemeClr val="tx1"/>
                </a:solidFill>
                <a:effectLst/>
                <a:ea typeface="Calibri" panose="020F0502020204030204" pitchFamily="34" charset="0"/>
                <a:cs typeface="Times New Roman" panose="02020603050405020304" pitchFamily="18" charset="0"/>
              </a:rPr>
              <a:t> in Common Base Configuration </a:t>
            </a:r>
            <a:endParaRPr lang="en-US" dirty="0"/>
          </a:p>
        </p:txBody>
      </p:sp>
      <p:sp>
        <p:nvSpPr>
          <p:cNvPr id="10" name="TextBox 9">
            <a:extLst>
              <a:ext uri="{FF2B5EF4-FFF2-40B4-BE49-F238E27FC236}">
                <a16:creationId xmlns:a16="http://schemas.microsoft.com/office/drawing/2014/main" xmlns="" id="{86D827A0-447C-4DA6-AFDB-7E0A33D26C95}"/>
              </a:ext>
            </a:extLst>
          </p:cNvPr>
          <p:cNvSpPr txBox="1"/>
          <p:nvPr/>
        </p:nvSpPr>
        <p:spPr>
          <a:xfrm>
            <a:off x="6228358" y="5650719"/>
            <a:ext cx="5272959" cy="646331"/>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algn="ctr"/>
            <a:r>
              <a:rPr kumimoji="0" lang="en-US" altLang="en-US" b="1" i="0" u="none" strike="noStrike" cap="none" normalizeH="0" baseline="0" dirty="0">
                <a:ln>
                  <a:noFill/>
                </a:ln>
                <a:solidFill>
                  <a:schemeClr val="tx1"/>
                </a:solidFill>
                <a:effectLst/>
                <a:ea typeface="Calibri" panose="020F0502020204030204" pitchFamily="34" charset="0"/>
                <a:cs typeface="Times New Roman" panose="02020603050405020304" pitchFamily="18" charset="0"/>
              </a:rPr>
              <a:t>(Source</a:t>
            </a:r>
            <a:r>
              <a:rPr kumimoji="0" lang="en-US" altLang="en-US" b="1" i="0" u="none" strike="noStrike" cap="none" normalizeH="0" baseline="0" dirty="0">
                <a:ln>
                  <a:noFill/>
                </a:ln>
                <a:solidFill>
                  <a:srgbClr val="002060"/>
                </a:solidFill>
                <a:effectLst/>
                <a:ea typeface="Calibri" panose="020F0502020204030204" pitchFamily="34" charset="0"/>
                <a:cs typeface="Times New Roman" panose="02020603050405020304" pitchFamily="18" charset="0"/>
              </a:rPr>
              <a:t>: </a:t>
            </a:r>
            <a:r>
              <a:rPr lang="en-US" sz="1800" b="1" dirty="0">
                <a:solidFill>
                  <a:srgbClr val="7030A0"/>
                </a:solidFill>
              </a:rPr>
              <a:t>Principles of Electronics, V K Mehta , Rohit Mehta, 12/e , S. Chand Publishing</a:t>
            </a:r>
            <a:r>
              <a:rPr kumimoji="0" lang="en-US" altLang="en-US" b="1" i="0" u="none" strike="noStrike" cap="none" normalizeH="0" baseline="0" dirty="0">
                <a:ln>
                  <a:noFill/>
                </a:ln>
                <a:solidFill>
                  <a:schemeClr val="tx1"/>
                </a:solidFill>
                <a:effectLst/>
                <a:ea typeface="Calibri" panose="020F0502020204030204" pitchFamily="34" charset="0"/>
                <a:cs typeface="Times New Roman" panose="02020603050405020304" pitchFamily="18" charset="0"/>
              </a:rPr>
              <a:t>)</a:t>
            </a:r>
            <a:endParaRPr lang="en-US" sz="1600" dirty="0"/>
          </a:p>
        </p:txBody>
      </p:sp>
      <p:pic>
        <p:nvPicPr>
          <p:cNvPr id="11" name="Picture 10">
            <a:extLst>
              <a:ext uri="{FF2B5EF4-FFF2-40B4-BE49-F238E27FC236}">
                <a16:creationId xmlns:a16="http://schemas.microsoft.com/office/drawing/2014/main" xmlns="" id="{09730E35-F7E2-4FBF-BD89-CB360F247380}"/>
              </a:ext>
            </a:extLst>
          </p:cNvPr>
          <p:cNvPicPr/>
          <p:nvPr/>
        </p:nvPicPr>
        <p:blipFill>
          <a:blip r:embed="rId3"/>
          <a:stretch>
            <a:fillRect/>
          </a:stretch>
        </p:blipFill>
        <p:spPr>
          <a:xfrm>
            <a:off x="7417490" y="2216687"/>
            <a:ext cx="3754093" cy="2644156"/>
          </a:xfrm>
          <a:prstGeom prst="rect">
            <a:avLst/>
          </a:prstGeom>
        </p:spPr>
      </p:pic>
    </p:spTree>
    <p:custDataLst>
      <p:tags r:id="rId1"/>
    </p:custDataLst>
    <p:extLst>
      <p:ext uri="{BB962C8B-B14F-4D97-AF65-F5344CB8AC3E}">
        <p14:creationId xmlns:p14="http://schemas.microsoft.com/office/powerpoint/2010/main" xmlns="" val="120420203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p:cNvSpPr>
            <a:spLocks noGrp="1"/>
          </p:cNvSpPr>
          <p:nvPr>
            <p:ph type="title"/>
          </p:nvPr>
        </p:nvSpPr>
        <p:spPr>
          <a:xfrm>
            <a:off x="838200" y="509588"/>
            <a:ext cx="10515600" cy="1181100"/>
          </a:xfrm>
        </p:spPr>
        <p:txBody>
          <a:bodyPr/>
          <a:lstStyle/>
          <a:p>
            <a:pPr algn="ctr" eaLnBrk="1" hangingPunct="1"/>
            <a:r>
              <a:rPr lang="en-US" b="1" dirty="0">
                <a:cs typeface="Times New Roman" pitchFamily="18" charset="0"/>
              </a:rPr>
              <a:t>Expression for collector current</a:t>
            </a:r>
          </a:p>
        </p:txBody>
      </p:sp>
      <p:sp>
        <p:nvSpPr>
          <p:cNvPr id="4" name="Slide Number Placeholder 3"/>
          <p:cNvSpPr>
            <a:spLocks noGrp="1"/>
          </p:cNvSpPr>
          <p:nvPr>
            <p:ph type="sldNum" sz="quarter" idx="12"/>
          </p:nvPr>
        </p:nvSpPr>
        <p:spPr/>
        <p:txBody>
          <a:bodyPr/>
          <a:lstStyle/>
          <a:p>
            <a:pPr>
              <a:defRPr/>
            </a:pPr>
            <a:fld id="{E17FDEEA-E7DD-4C62-90CB-6EC3B8CB4F4B}" type="slidenum">
              <a:rPr lang="en-US"/>
              <a:pPr>
                <a:defRPr/>
              </a:pPr>
              <a:t>12</a:t>
            </a:fld>
            <a:endParaRPr lang="en-US"/>
          </a:p>
        </p:txBody>
      </p:sp>
      <mc:AlternateContent xmlns:mc="http://schemas.openxmlformats.org/markup-compatibility/2006">
        <mc:Choice xmlns:a14="http://schemas.microsoft.com/office/drawing/2010/main" xmlns="" Requires="a14">
          <p:sp>
            <p:nvSpPr>
              <p:cNvPr id="13" name="Rectangle 12"/>
              <p:cNvSpPr/>
              <p:nvPr/>
            </p:nvSpPr>
            <p:spPr>
              <a:xfrm>
                <a:off x="838200" y="1690688"/>
                <a:ext cx="10502089" cy="4067396"/>
              </a:xfrm>
              <a:prstGeom prst="rect">
                <a:avLst/>
              </a:prstGeom>
            </p:spPr>
            <p:txBody>
              <a:bodyPr wrap="square">
                <a:spAutoFit/>
              </a:bodyPr>
              <a:lstStyle/>
              <a:p>
                <a:pPr algn="r">
                  <a:spcAft>
                    <a:spcPts val="1000"/>
                  </a:spcAft>
                </a:pPr>
                <a:r>
                  <a:rPr lang="en-IN" sz="2800" dirty="0">
                    <a:cs typeface="Times New Roman" pitchFamily="18" charset="0"/>
                  </a:rPr>
                  <a:t>IC = α IE + ICBO</a:t>
                </a:r>
                <a:r>
                  <a:rPr lang="en-IN" sz="2800" dirty="0">
                    <a:solidFill>
                      <a:srgbClr val="FF00FF"/>
                    </a:solidFill>
                    <a:cs typeface="Times New Roman" pitchFamily="18" charset="0"/>
                  </a:rPr>
                  <a:t/>
                </a:r>
                <a:r>
                  <a:rPr lang="en-IN" sz="2800" dirty="0">
                    <a:cs typeface="Times New Roman" pitchFamily="18" charset="0"/>
                  </a:rPr>
                  <a:t> (3)</a:t>
                </a:r>
              </a:p>
              <a:p>
                <a:pPr algn="r">
                  <a:spcAft>
                    <a:spcPts val="1000"/>
                  </a:spcAft>
                </a:pPr>
                <a:r>
                  <a:rPr lang="en-IN" sz="2800" dirty="0">
                    <a:cs typeface="Times New Roman" pitchFamily="18" charset="0"/>
                  </a:rPr>
                  <a:t>IE = IC + IB </a:t>
                </a:r>
                <a:r>
                  <a:rPr lang="en-IN" sz="2800" dirty="0">
                    <a:solidFill>
                      <a:srgbClr val="FF00FF"/>
                    </a:solidFill>
                    <a:cs typeface="Times New Roman" pitchFamily="18" charset="0"/>
                  </a:rPr>
                  <a:t/>
                </a:r>
                <a:r>
                  <a:rPr lang="en-IN" sz="2800" dirty="0">
                    <a:cs typeface="Times New Roman" pitchFamily="18" charset="0"/>
                  </a:rPr>
                  <a:t>(4)</a:t>
                </a:r>
              </a:p>
              <a:p>
                <a:pPr algn="r">
                  <a:spcAft>
                    <a:spcPts val="1000"/>
                  </a:spcAft>
                </a:pPr>
                <a:r>
                  <a:rPr lang="en-IN" sz="2800" dirty="0">
                    <a:cs typeface="Times New Roman" pitchFamily="18" charset="0"/>
                  </a:rPr>
                  <a:t>IC = α (IC + IB) + ICBO </a:t>
                </a:r>
                <a:r>
                  <a:rPr lang="en-IN" sz="2800" dirty="0">
                    <a:solidFill>
                      <a:srgbClr val="FF00FF"/>
                    </a:solidFill>
                    <a:cs typeface="Times New Roman" pitchFamily="18" charset="0"/>
                  </a:rPr>
                  <a:t/>
                </a:r>
                <a:r>
                  <a:rPr lang="en-IN" sz="2800" dirty="0">
                    <a:cs typeface="Times New Roman" pitchFamily="18" charset="0"/>
                  </a:rPr>
                  <a:t>(5)</a:t>
                </a:r>
              </a:p>
              <a:p>
                <a:pPr algn="just">
                  <a:spcAft>
                    <a:spcPts val="1000"/>
                  </a:spcAft>
                </a:pPr>
                <a:r>
                  <a:rPr lang="en-IN" sz="2800" dirty="0">
                    <a:cs typeface="Times New Roman" pitchFamily="18" charset="0"/>
                  </a:rPr>
                  <a:t>or</a:t>
                </a:r>
              </a:p>
              <a:p>
                <a:pPr algn="r">
                  <a:spcAft>
                    <a:spcPts val="1000"/>
                  </a:spcAft>
                </a:pPr>
                <a:r>
                  <a:rPr lang="en-IN" sz="2800" dirty="0">
                    <a:cs typeface="Times New Roman" pitchFamily="18" charset="0"/>
                  </a:rPr>
                  <a:t>IC (1 − α) = α IB + ICBO </a:t>
                </a:r>
                <a:r>
                  <a:rPr lang="en-IN" sz="2800" dirty="0">
                    <a:solidFill>
                      <a:srgbClr val="FF00FF"/>
                    </a:solidFill>
                    <a:cs typeface="Times New Roman" pitchFamily="18" charset="0"/>
                  </a:rPr>
                  <a:t/>
                </a:r>
                <a:r>
                  <a:rPr lang="en-IN" sz="2800" dirty="0">
                    <a:cs typeface="Times New Roman" pitchFamily="18" charset="0"/>
                  </a:rPr>
                  <a:t>(6)</a:t>
                </a:r>
              </a:p>
              <a:p>
                <a:pPr algn="just">
                  <a:spcAft>
                    <a:spcPts val="1000"/>
                  </a:spcAft>
                </a:pPr>
                <a:r>
                  <a:rPr lang="en-IN" sz="2800" dirty="0">
                    <a:cs typeface="Times New Roman" pitchFamily="18" charset="0"/>
                  </a:rPr>
                  <a:t>Thus, </a:t>
                </a:r>
              </a:p>
              <a:p>
                <a:pPr algn="r">
                  <a:spcAft>
                    <a:spcPts val="1000"/>
                  </a:spcAft>
                </a:pPr>
                <a14:m>
                  <m:oMath xmlns:m="http://schemas.openxmlformats.org/officeDocument/2006/math">
                    <m:sSub>
                      <m:sSubPr>
                        <m:ctrlPr>
                          <a:rPr lang="en-IN" sz="2800" i="1">
                            <a:latin typeface="Cambria Math" panose="02040503050406030204" pitchFamily="18" charset="0"/>
                          </a:rPr>
                        </m:ctrlPr>
                      </m:sSubPr>
                      <m:e>
                        <m:r>
                          <a:rPr lang="en-IN" sz="2800">
                            <a:latin typeface="Cambria Math" panose="02040503050406030204" pitchFamily="18" charset="0"/>
                          </a:rPr>
                          <m:t>𝐼</m:t>
                        </m:r>
                      </m:e>
                      <m:sub>
                        <m:r>
                          <a:rPr lang="en-IN" sz="2800">
                            <a:latin typeface="Cambria Math" panose="02040503050406030204" pitchFamily="18" charset="0"/>
                          </a:rPr>
                          <m:t>𝐶</m:t>
                        </m:r>
                      </m:sub>
                    </m:sSub>
                    <m:r>
                      <a:rPr lang="en-IN" sz="2800">
                        <a:latin typeface="Cambria Math" panose="02040503050406030204" pitchFamily="18" charset="0"/>
                      </a:rPr>
                      <m:t>=</m:t>
                    </m:r>
                    <m:f>
                      <m:fPr>
                        <m:ctrlPr>
                          <a:rPr lang="en-IN" sz="2800" i="1">
                            <a:latin typeface="Cambria Math" panose="02040503050406030204" pitchFamily="18" charset="0"/>
                          </a:rPr>
                        </m:ctrlPr>
                      </m:fPr>
                      <m:num>
                        <m:r>
                          <a:rPr lang="en-IN" sz="2800">
                            <a:latin typeface="Cambria Math" panose="02040503050406030204" pitchFamily="18" charset="0"/>
                          </a:rPr>
                          <m:t>𝛼</m:t>
                        </m:r>
                      </m:num>
                      <m:den>
                        <m:r>
                          <a:rPr lang="en-IN" sz="2800">
                            <a:latin typeface="Cambria Math" panose="02040503050406030204" pitchFamily="18" charset="0"/>
                          </a:rPr>
                          <m:t>1−</m:t>
                        </m:r>
                        <m:r>
                          <a:rPr lang="en-IN" sz="2800">
                            <a:latin typeface="Cambria Math" panose="02040503050406030204" pitchFamily="18" charset="0"/>
                          </a:rPr>
                          <m:t>𝛼</m:t>
                        </m:r>
                      </m:den>
                    </m:f>
                    <m:r>
                      <a:rPr lang="en-IN" sz="2800">
                        <a:latin typeface="Cambria Math" panose="02040503050406030204" pitchFamily="18" charset="0"/>
                      </a:rPr>
                      <m:t> </m:t>
                    </m:r>
                    <m:sSub>
                      <m:sSubPr>
                        <m:ctrlPr>
                          <a:rPr lang="en-IN" sz="2800" i="1">
                            <a:latin typeface="Cambria Math" panose="02040503050406030204" pitchFamily="18" charset="0"/>
                          </a:rPr>
                        </m:ctrlPr>
                      </m:sSubPr>
                      <m:e>
                        <m:r>
                          <a:rPr lang="en-IN" sz="2800">
                            <a:latin typeface="Cambria Math" panose="02040503050406030204" pitchFamily="18" charset="0"/>
                          </a:rPr>
                          <m:t>𝐼</m:t>
                        </m:r>
                      </m:e>
                      <m:sub>
                        <m:r>
                          <a:rPr lang="en-IN" sz="2800">
                            <a:latin typeface="Cambria Math" panose="02040503050406030204" pitchFamily="18" charset="0"/>
                          </a:rPr>
                          <m:t>𝐵</m:t>
                        </m:r>
                      </m:sub>
                    </m:sSub>
                    <m:r>
                      <a:rPr lang="en-IN" sz="2800">
                        <a:latin typeface="Cambria Math" panose="02040503050406030204" pitchFamily="18" charset="0"/>
                      </a:rPr>
                      <m:t>+</m:t>
                    </m:r>
                    <m:f>
                      <m:fPr>
                        <m:ctrlPr>
                          <a:rPr lang="en-IN" sz="2800" i="1">
                            <a:latin typeface="Cambria Math" panose="02040503050406030204" pitchFamily="18" charset="0"/>
                          </a:rPr>
                        </m:ctrlPr>
                      </m:fPr>
                      <m:num>
                        <m:sSub>
                          <m:sSubPr>
                            <m:ctrlPr>
                              <a:rPr lang="en-IN" sz="2800" i="1">
                                <a:latin typeface="Cambria Math" panose="02040503050406030204" pitchFamily="18" charset="0"/>
                              </a:rPr>
                            </m:ctrlPr>
                          </m:sSubPr>
                          <m:e>
                            <m:r>
                              <a:rPr lang="en-IN" sz="2800">
                                <a:latin typeface="Cambria Math" panose="02040503050406030204" pitchFamily="18" charset="0"/>
                              </a:rPr>
                              <m:t>𝐼</m:t>
                            </m:r>
                          </m:e>
                          <m:sub>
                            <m:r>
                              <a:rPr lang="en-IN" sz="2800">
                                <a:latin typeface="Cambria Math" panose="02040503050406030204" pitchFamily="18" charset="0"/>
                              </a:rPr>
                              <m:t>𝐶𝐵𝑂</m:t>
                            </m:r>
                          </m:sub>
                        </m:sSub>
                      </m:num>
                      <m:den>
                        <m:r>
                          <a:rPr lang="en-IN" sz="2800">
                            <a:latin typeface="Cambria Math" panose="02040503050406030204" pitchFamily="18" charset="0"/>
                          </a:rPr>
                          <m:t>1−</m:t>
                        </m:r>
                        <m:r>
                          <a:rPr lang="en-IN" sz="2800">
                            <a:latin typeface="Cambria Math" panose="02040503050406030204" pitchFamily="18" charset="0"/>
                          </a:rPr>
                          <m:t>𝛼</m:t>
                        </m:r>
                      </m:den>
                    </m:f>
                  </m:oMath>
                </a14:m>
                <a:r>
                  <a:rPr lang="en-IN" sz="2800" dirty="0">
                    <a:cs typeface="Times New Roman" pitchFamily="18" charset="0"/>
                  </a:rPr>
                  <a:t/>
                </a:r>
                <a:r>
                  <a:rPr lang="en-IN" sz="2800" dirty="0">
                    <a:solidFill>
                      <a:srgbClr val="FF00FF"/>
                    </a:solidFill>
                    <a:cs typeface="Times New Roman" pitchFamily="18" charset="0"/>
                  </a:rPr>
                  <a:t/>
                </a:r>
                <a:r>
                  <a:rPr lang="en-IN" sz="2800" dirty="0">
                    <a:cs typeface="Times New Roman" pitchFamily="18" charset="0"/>
                  </a:rPr>
                  <a:t>(7)</a:t>
                </a:r>
              </a:p>
            </p:txBody>
          </p:sp>
        </mc:Choice>
        <mc:Fallback>
          <p:sp>
            <p:nvSpPr>
              <p:cNvPr id="13" name="Rectangle 12"/>
              <p:cNvSpPr>
                <a:spLocks noRot="1" noChangeAspect="1" noMove="1" noResize="1" noEditPoints="1" noAdjustHandles="1" noChangeArrowheads="1" noChangeShapeType="1" noTextEdit="1"/>
              </p:cNvSpPr>
              <p:nvPr/>
            </p:nvSpPr>
            <p:spPr>
              <a:xfrm>
                <a:off x="838200" y="1690688"/>
                <a:ext cx="10502089" cy="4067396"/>
              </a:xfrm>
              <a:prstGeom prst="rect">
                <a:avLst/>
              </a:prstGeom>
              <a:blipFill>
                <a:blip r:embed="rId3"/>
                <a:stretch>
                  <a:fillRect l="-1220" t="-1347" r="-1220" b="-898"/>
                </a:stretch>
              </a:blipFill>
            </p:spPr>
            <p:txBody>
              <a:bodyPr/>
              <a:lstStyle/>
              <a:p>
                <a:r>
                  <a:rPr lang="en-IN">
                    <a:noFill/>
                  </a:rPr>
                  <a:t> </a:t>
                </a:r>
              </a:p>
            </p:txBody>
          </p:sp>
        </mc:Fallback>
      </mc:AlternateContent>
    </p:spTree>
    <p:custDataLst>
      <p:tags r:id="rId1"/>
    </p:custDataLst>
    <p:extLst>
      <p:ext uri="{BB962C8B-B14F-4D97-AF65-F5344CB8AC3E}">
        <p14:creationId xmlns:p14="http://schemas.microsoft.com/office/powerpoint/2010/main" xmlns="" val="299958301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p:cNvSpPr>
            <a:spLocks noGrp="1"/>
          </p:cNvSpPr>
          <p:nvPr>
            <p:ph type="title"/>
          </p:nvPr>
        </p:nvSpPr>
        <p:spPr>
          <a:xfrm>
            <a:off x="838200" y="509588"/>
            <a:ext cx="10515600" cy="1181100"/>
          </a:xfrm>
        </p:spPr>
        <p:txBody>
          <a:bodyPr/>
          <a:lstStyle/>
          <a:p>
            <a:pPr algn="ctr" eaLnBrk="1" hangingPunct="1"/>
            <a:r>
              <a:rPr lang="en-US" sz="4400" dirty="0">
                <a:cs typeface="Times New Roman" pitchFamily="18" charset="0"/>
              </a:rPr>
              <a:t>Concept of I</a:t>
            </a:r>
            <a:r>
              <a:rPr lang="en-US" sz="4400" baseline="-25000" dirty="0">
                <a:cs typeface="Times New Roman" pitchFamily="18" charset="0"/>
              </a:rPr>
              <a:t>CBO</a:t>
            </a:r>
            <a:endParaRPr lang="en-US" b="1" dirty="0">
              <a:cs typeface="Times New Roman" pitchFamily="18" charset="0"/>
            </a:endParaRPr>
          </a:p>
        </p:txBody>
      </p:sp>
      <p:sp>
        <p:nvSpPr>
          <p:cNvPr id="4" name="Slide Number Placeholder 3"/>
          <p:cNvSpPr>
            <a:spLocks noGrp="1"/>
          </p:cNvSpPr>
          <p:nvPr>
            <p:ph type="sldNum" sz="quarter" idx="12"/>
          </p:nvPr>
        </p:nvSpPr>
        <p:spPr/>
        <p:txBody>
          <a:bodyPr/>
          <a:lstStyle/>
          <a:p>
            <a:pPr>
              <a:defRPr/>
            </a:pPr>
            <a:fld id="{E17FDEEA-E7DD-4C62-90CB-6EC3B8CB4F4B}" type="slidenum">
              <a:rPr lang="en-US"/>
              <a:pPr>
                <a:defRPr/>
              </a:pPr>
              <a:t>13</a:t>
            </a:fld>
            <a:endParaRPr lang="en-US"/>
          </a:p>
        </p:txBody>
      </p:sp>
      <p:sp>
        <p:nvSpPr>
          <p:cNvPr id="13" name="Rectangle 12"/>
          <p:cNvSpPr/>
          <p:nvPr/>
        </p:nvSpPr>
        <p:spPr>
          <a:xfrm>
            <a:off x="814931" y="1467952"/>
            <a:ext cx="5996685" cy="3970318"/>
          </a:xfrm>
          <a:prstGeom prst="rect">
            <a:avLst/>
          </a:prstGeom>
        </p:spPr>
        <p:txBody>
          <a:bodyPr wrap="square">
            <a:spAutoFit/>
          </a:bodyPr>
          <a:lstStyle/>
          <a:p>
            <a:pPr algn="just"/>
            <a:r>
              <a:rPr lang="en-US" sz="2800" dirty="0">
                <a:latin typeface="+mn-lt"/>
                <a:cs typeface="Times New Roman" pitchFamily="18" charset="0"/>
              </a:rPr>
              <a:t>In CB configuration, a small collector current flows even when the emitter current is zero. </a:t>
            </a:r>
          </a:p>
          <a:p>
            <a:pPr algn="just"/>
            <a:r>
              <a:rPr lang="en-US" sz="2800" dirty="0">
                <a:latin typeface="+mn-lt"/>
                <a:cs typeface="Times New Roman" pitchFamily="18" charset="0"/>
              </a:rPr>
              <a:t>This is the leakage collector current (i.e. the collector current when emitter is open) and is denoted by I</a:t>
            </a:r>
            <a:r>
              <a:rPr lang="en-US" sz="2800" baseline="-25000" dirty="0">
                <a:latin typeface="+mn-lt"/>
                <a:cs typeface="Times New Roman" pitchFamily="18" charset="0"/>
              </a:rPr>
              <a:t>CBO</a:t>
            </a:r>
            <a:r>
              <a:rPr lang="en-US" sz="2800" dirty="0">
                <a:latin typeface="+mn-lt"/>
                <a:cs typeface="Times New Roman" pitchFamily="18" charset="0"/>
              </a:rPr>
              <a:t>. </a:t>
            </a:r>
          </a:p>
          <a:p>
            <a:pPr algn="just"/>
            <a:r>
              <a:rPr lang="en-US" sz="2800" dirty="0">
                <a:latin typeface="+mn-lt"/>
                <a:cs typeface="Times New Roman" pitchFamily="18" charset="0"/>
              </a:rPr>
              <a:t>When the emitter voltage V</a:t>
            </a:r>
            <a:r>
              <a:rPr lang="en-US" sz="2800" baseline="-25000" dirty="0">
                <a:latin typeface="+mn-lt"/>
                <a:cs typeface="Times New Roman" pitchFamily="18" charset="0"/>
              </a:rPr>
              <a:t>EE</a:t>
            </a:r>
            <a:r>
              <a:rPr lang="en-US" sz="2800" dirty="0">
                <a:latin typeface="+mn-lt"/>
                <a:cs typeface="Times New Roman" pitchFamily="18" charset="0"/>
              </a:rPr>
              <a:t> is also applied, the various currents are as shown in Fig. 3 (ii).</a:t>
            </a:r>
          </a:p>
        </p:txBody>
      </p:sp>
      <p:sp>
        <p:nvSpPr>
          <p:cNvPr id="9" name="TextBox 8">
            <a:extLst>
              <a:ext uri="{FF2B5EF4-FFF2-40B4-BE49-F238E27FC236}">
                <a16:creationId xmlns:a16="http://schemas.microsoft.com/office/drawing/2014/main" xmlns="" id="{2CF431D2-E1DC-43DD-AA22-749BFD3E4FA9}"/>
              </a:ext>
            </a:extLst>
          </p:cNvPr>
          <p:cNvSpPr txBox="1"/>
          <p:nvPr/>
        </p:nvSpPr>
        <p:spPr>
          <a:xfrm>
            <a:off x="6715952" y="4869838"/>
            <a:ext cx="5272959" cy="646331"/>
          </a:xfrm>
          <a:prstGeom prst="rect">
            <a:avLst/>
          </a:prstGeom>
          <a:noFill/>
        </p:spPr>
        <p:txBody>
          <a:bodyPr wrap="square" rtlCol="0">
            <a:spAutoFit/>
          </a:bodyPr>
          <a:lstStyle/>
          <a:p>
            <a:pPr algn="ctr"/>
            <a:r>
              <a:rPr kumimoji="0" lang="en-US" altLang="en-US" b="1" i="0" u="none" strike="noStrike" cap="none" normalizeH="0" baseline="0" dirty="0">
                <a:ln>
                  <a:noFill/>
                </a:ln>
                <a:solidFill>
                  <a:schemeClr val="tx1"/>
                </a:solidFill>
                <a:effectLst/>
                <a:ea typeface="Calibri" panose="020F0502020204030204" pitchFamily="34" charset="0"/>
                <a:cs typeface="Times New Roman" panose="02020603050405020304" pitchFamily="18" charset="0"/>
              </a:rPr>
              <a:t>Figure 3: Concept of Leakage current ICBO in Common Base Configuration</a:t>
            </a:r>
            <a:endParaRPr lang="en-US" dirty="0"/>
          </a:p>
        </p:txBody>
      </p:sp>
      <p:sp>
        <p:nvSpPr>
          <p:cNvPr id="10" name="TextBox 9">
            <a:extLst>
              <a:ext uri="{FF2B5EF4-FFF2-40B4-BE49-F238E27FC236}">
                <a16:creationId xmlns:a16="http://schemas.microsoft.com/office/drawing/2014/main" xmlns="" id="{86D827A0-447C-4DA6-AFDB-7E0A33D26C95}"/>
              </a:ext>
            </a:extLst>
          </p:cNvPr>
          <p:cNvSpPr txBox="1"/>
          <p:nvPr/>
        </p:nvSpPr>
        <p:spPr>
          <a:xfrm>
            <a:off x="6811617" y="5650719"/>
            <a:ext cx="4689700" cy="646331"/>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algn="ctr"/>
            <a:r>
              <a:rPr kumimoji="0" lang="en-US" altLang="en-US" b="1" i="0" u="none" strike="noStrike" cap="none" normalizeH="0" baseline="0" dirty="0">
                <a:ln>
                  <a:noFill/>
                </a:ln>
                <a:solidFill>
                  <a:schemeClr val="tx1"/>
                </a:solidFill>
                <a:effectLst/>
                <a:ea typeface="Calibri" panose="020F0502020204030204" pitchFamily="34" charset="0"/>
                <a:cs typeface="Times New Roman" panose="02020603050405020304" pitchFamily="18" charset="0"/>
              </a:rPr>
              <a:t>(Source</a:t>
            </a:r>
            <a:r>
              <a:rPr kumimoji="0" lang="en-US" altLang="en-US" b="1" i="0" u="none" strike="noStrike" cap="none" normalizeH="0" baseline="0" dirty="0">
                <a:ln>
                  <a:noFill/>
                </a:ln>
                <a:solidFill>
                  <a:srgbClr val="002060"/>
                </a:solidFill>
                <a:effectLst/>
                <a:ea typeface="Calibri" panose="020F0502020204030204" pitchFamily="34" charset="0"/>
                <a:cs typeface="Times New Roman" panose="02020603050405020304" pitchFamily="18" charset="0"/>
              </a:rPr>
              <a:t>: </a:t>
            </a:r>
            <a:r>
              <a:rPr lang="en-US" sz="1800" b="1" dirty="0">
                <a:solidFill>
                  <a:srgbClr val="7030A0"/>
                </a:solidFill>
              </a:rPr>
              <a:t>Principles of Electronics, V K Mehta , Rohit Mehta, 12/e , S. Chand Publishing</a:t>
            </a:r>
            <a:r>
              <a:rPr kumimoji="0" lang="en-US" altLang="en-US" b="1" i="0" u="none" strike="noStrike" cap="none" normalizeH="0" baseline="0" dirty="0">
                <a:ln>
                  <a:noFill/>
                </a:ln>
                <a:solidFill>
                  <a:schemeClr val="tx1"/>
                </a:solidFill>
                <a:effectLst/>
                <a:ea typeface="Calibri" panose="020F0502020204030204" pitchFamily="34" charset="0"/>
                <a:cs typeface="Times New Roman" panose="02020603050405020304" pitchFamily="18" charset="0"/>
              </a:rPr>
              <a:t>)</a:t>
            </a:r>
            <a:endParaRPr lang="en-US" sz="1600" dirty="0"/>
          </a:p>
        </p:txBody>
      </p:sp>
      <p:pic>
        <p:nvPicPr>
          <p:cNvPr id="8" name="Picture 7">
            <a:extLst>
              <a:ext uri="{FF2B5EF4-FFF2-40B4-BE49-F238E27FC236}">
                <a16:creationId xmlns:a16="http://schemas.microsoft.com/office/drawing/2014/main" xmlns="" id="{86EBCD87-D0F5-4F4B-BE48-9E6D392B5FA5}"/>
              </a:ext>
            </a:extLst>
          </p:cNvPr>
          <p:cNvPicPr/>
          <p:nvPr/>
        </p:nvPicPr>
        <p:blipFill>
          <a:blip r:embed="rId3"/>
          <a:stretch>
            <a:fillRect/>
          </a:stretch>
        </p:blipFill>
        <p:spPr>
          <a:xfrm>
            <a:off x="6910747" y="2277601"/>
            <a:ext cx="4883371" cy="2532937"/>
          </a:xfrm>
          <a:prstGeom prst="rect">
            <a:avLst/>
          </a:prstGeom>
        </p:spPr>
      </p:pic>
    </p:spTree>
    <p:custDataLst>
      <p:tags r:id="rId1"/>
    </p:custDataLst>
    <p:extLst>
      <p:ext uri="{BB962C8B-B14F-4D97-AF65-F5344CB8AC3E}">
        <p14:creationId xmlns:p14="http://schemas.microsoft.com/office/powerpoint/2010/main" xmlns="" val="113283831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defRPr/>
            </a:pPr>
            <a:r>
              <a:rPr lang="en-US" b="1" dirty="0">
                <a:cs typeface="Times New Roman" pitchFamily="18" charset="0"/>
              </a:rPr>
              <a:t>Common Emitter Configuration</a:t>
            </a:r>
          </a:p>
        </p:txBody>
      </p:sp>
      <p:sp>
        <p:nvSpPr>
          <p:cNvPr id="3" name="Content Placeholder 2"/>
          <p:cNvSpPr>
            <a:spLocks noGrp="1"/>
          </p:cNvSpPr>
          <p:nvPr>
            <p:ph idx="1"/>
          </p:nvPr>
        </p:nvSpPr>
        <p:spPr>
          <a:xfrm>
            <a:off x="862149" y="1789611"/>
            <a:ext cx="5590901" cy="4101738"/>
          </a:xfrm>
        </p:spPr>
        <p:txBody>
          <a:bodyPr>
            <a:noAutofit/>
          </a:bodyPr>
          <a:lstStyle/>
          <a:p>
            <a:pPr algn="just">
              <a:defRPr/>
            </a:pPr>
            <a:r>
              <a:rPr lang="en-US" dirty="0">
                <a:cs typeface="Times New Roman" pitchFamily="18" charset="0"/>
              </a:rPr>
              <a:t>In common emitter configuration, base is the input terminal, collector is the output terminal and emitter is the common terminal for both input and output. </a:t>
            </a:r>
          </a:p>
          <a:p>
            <a:pPr algn="just">
              <a:defRPr/>
            </a:pPr>
            <a:r>
              <a:rPr lang="en-US" dirty="0">
                <a:cs typeface="Times New Roman" pitchFamily="18" charset="0"/>
              </a:rPr>
              <a:t>That means the base terminal and common emitter terminal are known as input terminals whereas collector terminal and common emitter terminal are known as output terminals.</a:t>
            </a:r>
          </a:p>
          <a:p>
            <a:pPr algn="just">
              <a:buNone/>
              <a:defRPr/>
            </a:pPr>
            <a:r>
              <a:rPr lang="en-US" dirty="0">
                <a:cs typeface="Times New Roman" pitchFamily="18" charset="0"/>
              </a:rPr>
              <a:t>   </a:t>
            </a:r>
          </a:p>
        </p:txBody>
      </p:sp>
      <p:sp>
        <p:nvSpPr>
          <p:cNvPr id="4" name="Slide Number Placeholder 3"/>
          <p:cNvSpPr>
            <a:spLocks noGrp="1"/>
          </p:cNvSpPr>
          <p:nvPr>
            <p:ph type="sldNum" sz="quarter" idx="12"/>
          </p:nvPr>
        </p:nvSpPr>
        <p:spPr/>
        <p:txBody>
          <a:bodyPr/>
          <a:lstStyle/>
          <a:p>
            <a:fld id="{BDCDBBEF-AA6C-4BA6-85B2-A17D7F280E38}" type="slidenum">
              <a:rPr lang="en-US" smtClean="0"/>
              <a:pPr/>
              <a:t>14</a:t>
            </a:fld>
            <a:endParaRPr lang="en-US"/>
          </a:p>
        </p:txBody>
      </p:sp>
      <p:sp>
        <p:nvSpPr>
          <p:cNvPr id="6" name="TextBox 5"/>
          <p:cNvSpPr txBox="1"/>
          <p:nvPr/>
        </p:nvSpPr>
        <p:spPr>
          <a:xfrm>
            <a:off x="7296385" y="4771786"/>
            <a:ext cx="3694088" cy="369332"/>
          </a:xfrm>
          <a:prstGeom prst="rect">
            <a:avLst/>
          </a:prstGeom>
        </p:spPr>
        <p:style>
          <a:lnRef idx="2">
            <a:schemeClr val="dk1"/>
          </a:lnRef>
          <a:fillRef idx="1">
            <a:schemeClr val="lt1"/>
          </a:fillRef>
          <a:effectRef idx="0">
            <a:schemeClr val="dk1"/>
          </a:effectRef>
          <a:fontRef idx="minor">
            <a:schemeClr val="dk1"/>
          </a:fontRef>
        </p:style>
        <p:txBody>
          <a:bodyPr wrap="none" rtlCol="0">
            <a:spAutoFit/>
          </a:bodyPr>
          <a:lstStyle/>
          <a:p>
            <a:r>
              <a:rPr lang="en-US" dirty="0"/>
              <a:t>Fig.1 Common Emitter Configuration</a:t>
            </a:r>
          </a:p>
        </p:txBody>
      </p:sp>
      <p:sp>
        <p:nvSpPr>
          <p:cNvPr id="7" name="Rectangle 6"/>
          <p:cNvSpPr/>
          <p:nvPr/>
        </p:nvSpPr>
        <p:spPr>
          <a:xfrm>
            <a:off x="6635163" y="5488269"/>
            <a:ext cx="4898572" cy="954107"/>
          </a:xfrm>
          <a:prstGeom prst="rect">
            <a:avLst/>
          </a:prstGeom>
        </p:spPr>
        <p:txBody>
          <a:bodyPr wrap="square">
            <a:spAutoFit/>
          </a:bodyPr>
          <a:lstStyle/>
          <a:p>
            <a:r>
              <a:rPr lang="en-US" sz="1400" b="1" dirty="0">
                <a:hlinkClick r:id="rId3"/>
              </a:rPr>
              <a:t>(Source: https://www.physics-and-radio-electronics.com/electronic-devices-and circuits/transistors/</a:t>
            </a:r>
            <a:r>
              <a:rPr lang="en-US" sz="1400" b="1" dirty="0" err="1">
                <a:hlinkClick r:id="rId3"/>
              </a:rPr>
              <a:t>bipolarjunctiontransistor</a:t>
            </a:r>
            <a:r>
              <a:rPr lang="en-US" sz="1400" b="1" dirty="0">
                <a:hlinkClick r:id="rId3"/>
              </a:rPr>
              <a:t>/commonemitterconfiguration.htm</a:t>
            </a:r>
            <a:r>
              <a:rPr lang="en-US" sz="1400" b="1" dirty="0"/>
              <a:t>)</a:t>
            </a:r>
          </a:p>
        </p:txBody>
      </p:sp>
      <p:sp>
        <p:nvSpPr>
          <p:cNvPr id="253954" name="AutoShape 2" descr="In common emitter configuration, the emitter terminal is grounded so the common emitter configuration is also known as grounded emitter configuration."/>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pic>
        <p:nvPicPr>
          <p:cNvPr id="253955" name="Picture 3"/>
          <p:cNvPicPr>
            <a:picLocks noChangeAspect="1" noChangeArrowheads="1"/>
          </p:cNvPicPr>
          <p:nvPr/>
        </p:nvPicPr>
        <p:blipFill>
          <a:blip r:embed="rId4"/>
          <a:srcRect/>
          <a:stretch>
            <a:fillRect/>
          </a:stretch>
        </p:blipFill>
        <p:spPr bwMode="auto">
          <a:xfrm>
            <a:off x="7134377" y="1774243"/>
            <a:ext cx="3857625" cy="2475027"/>
          </a:xfrm>
          <a:prstGeom prst="rect">
            <a:avLst/>
          </a:prstGeom>
          <a:noFill/>
          <a:ln w="9525">
            <a:noFill/>
            <a:miter lim="800000"/>
            <a:headEnd/>
            <a:tailEnd/>
          </a:ln>
          <a:effectLst/>
        </p:spPr>
      </p:pic>
    </p:spTree>
    <p:custDataLst>
      <p:tags r:id="rId1"/>
    </p:custDataLst>
    <p:extLst>
      <p:ext uri="{BB962C8B-B14F-4D97-AF65-F5344CB8AC3E}">
        <p14:creationId xmlns:p14="http://schemas.microsoft.com/office/powerpoint/2010/main" xmlns="" val="60491197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defRPr/>
            </a:pPr>
            <a:r>
              <a:rPr lang="en-US" b="1" dirty="0">
                <a:cs typeface="Times New Roman" pitchFamily="18" charset="0"/>
              </a:rPr>
              <a:t>Common Emitter Configuration</a:t>
            </a:r>
          </a:p>
        </p:txBody>
      </p:sp>
      <p:sp>
        <p:nvSpPr>
          <p:cNvPr id="3" name="Content Placeholder 2"/>
          <p:cNvSpPr>
            <a:spLocks noGrp="1"/>
          </p:cNvSpPr>
          <p:nvPr>
            <p:ph idx="1"/>
          </p:nvPr>
        </p:nvSpPr>
        <p:spPr>
          <a:xfrm>
            <a:off x="901338" y="1541417"/>
            <a:ext cx="5590901" cy="4258492"/>
          </a:xfrm>
        </p:spPr>
        <p:txBody>
          <a:bodyPr>
            <a:noAutofit/>
          </a:bodyPr>
          <a:lstStyle/>
          <a:p>
            <a:pPr algn="just">
              <a:defRPr/>
            </a:pPr>
            <a:r>
              <a:rPr lang="en-US" dirty="0">
                <a:cs typeface="Times New Roman" pitchFamily="18" charset="0"/>
              </a:rPr>
              <a:t>In common emitter configuration, the emitter terminal is grounded so the common emitter configuration is also known as grounded emitter configuration. </a:t>
            </a:r>
          </a:p>
          <a:p>
            <a:pPr algn="just">
              <a:defRPr/>
            </a:pPr>
            <a:r>
              <a:rPr lang="en-US" dirty="0">
                <a:cs typeface="Times New Roman" pitchFamily="18" charset="0"/>
              </a:rPr>
              <a:t>Sometimes common emitter configuration is also referred to as CE configuration, common emitter amplifier, or CE amplifier. The common emitter (CE) configuration is the most widely used transistor configuration.   </a:t>
            </a:r>
          </a:p>
        </p:txBody>
      </p:sp>
      <p:sp>
        <p:nvSpPr>
          <p:cNvPr id="4" name="Slide Number Placeholder 3"/>
          <p:cNvSpPr>
            <a:spLocks noGrp="1"/>
          </p:cNvSpPr>
          <p:nvPr>
            <p:ph type="sldNum" sz="quarter" idx="12"/>
          </p:nvPr>
        </p:nvSpPr>
        <p:spPr/>
        <p:txBody>
          <a:bodyPr/>
          <a:lstStyle/>
          <a:p>
            <a:fld id="{BDCDBBEF-AA6C-4BA6-85B2-A17D7F280E38}" type="slidenum">
              <a:rPr lang="en-US" smtClean="0"/>
              <a:pPr/>
              <a:t>15</a:t>
            </a:fld>
            <a:endParaRPr lang="en-US"/>
          </a:p>
        </p:txBody>
      </p:sp>
      <p:sp>
        <p:nvSpPr>
          <p:cNvPr id="7" name="Rectangle 6"/>
          <p:cNvSpPr/>
          <p:nvPr/>
        </p:nvSpPr>
        <p:spPr>
          <a:xfrm>
            <a:off x="6635163" y="5488269"/>
            <a:ext cx="4898572" cy="954107"/>
          </a:xfrm>
          <a:prstGeom prst="rect">
            <a:avLst/>
          </a:prstGeom>
        </p:spPr>
        <p:txBody>
          <a:bodyPr wrap="square">
            <a:spAutoFit/>
          </a:bodyPr>
          <a:lstStyle/>
          <a:p>
            <a:r>
              <a:rPr lang="en-US" sz="1400" b="1" dirty="0">
                <a:hlinkClick r:id="rId3"/>
              </a:rPr>
              <a:t>(Source: https://www.physics-and-radio-electronics.com/electronic-devices-and circuits/transistors/</a:t>
            </a:r>
            <a:r>
              <a:rPr lang="en-US" sz="1400" b="1" dirty="0" err="1">
                <a:hlinkClick r:id="rId3"/>
              </a:rPr>
              <a:t>bipolarjunctiontransistor</a:t>
            </a:r>
            <a:r>
              <a:rPr lang="en-US" sz="1400" b="1" dirty="0">
                <a:hlinkClick r:id="rId3"/>
              </a:rPr>
              <a:t>/commonemitterconfiguration.html</a:t>
            </a:r>
            <a:r>
              <a:rPr lang="en-US" sz="1400" b="1" dirty="0"/>
              <a:t>)</a:t>
            </a:r>
          </a:p>
        </p:txBody>
      </p:sp>
      <p:sp>
        <p:nvSpPr>
          <p:cNvPr id="253954" name="AutoShape 2" descr="In common emitter configuration, the emitter terminal is grounded so the common emitter configuration is also known as grounded emitter configuration."/>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pic>
        <p:nvPicPr>
          <p:cNvPr id="260098" name="Picture 2"/>
          <p:cNvPicPr>
            <a:picLocks noChangeAspect="1" noChangeArrowheads="1"/>
          </p:cNvPicPr>
          <p:nvPr/>
        </p:nvPicPr>
        <p:blipFill>
          <a:blip r:embed="rId4"/>
          <a:srcRect/>
          <a:stretch>
            <a:fillRect/>
          </a:stretch>
        </p:blipFill>
        <p:spPr bwMode="auto">
          <a:xfrm>
            <a:off x="7180898" y="1645513"/>
            <a:ext cx="4048125" cy="2600325"/>
          </a:xfrm>
          <a:prstGeom prst="rect">
            <a:avLst/>
          </a:prstGeom>
          <a:noFill/>
          <a:ln w="9525">
            <a:noFill/>
            <a:miter lim="800000"/>
            <a:headEnd/>
            <a:tailEnd/>
          </a:ln>
          <a:effectLst/>
        </p:spPr>
      </p:pic>
      <p:sp>
        <p:nvSpPr>
          <p:cNvPr id="9" name="TextBox 8"/>
          <p:cNvSpPr txBox="1"/>
          <p:nvPr/>
        </p:nvSpPr>
        <p:spPr>
          <a:xfrm>
            <a:off x="7296385" y="4771786"/>
            <a:ext cx="3613938" cy="369332"/>
          </a:xfrm>
          <a:prstGeom prst="rect">
            <a:avLst/>
          </a:prstGeom>
        </p:spPr>
        <p:style>
          <a:lnRef idx="2">
            <a:schemeClr val="dk1"/>
          </a:lnRef>
          <a:fillRef idx="1">
            <a:schemeClr val="lt1"/>
          </a:fillRef>
          <a:effectRef idx="0">
            <a:schemeClr val="dk1"/>
          </a:effectRef>
          <a:fontRef idx="minor">
            <a:schemeClr val="dk1"/>
          </a:fontRef>
        </p:style>
        <p:txBody>
          <a:bodyPr wrap="none" rtlCol="0">
            <a:spAutoFit/>
          </a:bodyPr>
          <a:lstStyle/>
          <a:p>
            <a:r>
              <a:rPr lang="en-US" dirty="0"/>
              <a:t>Fig.2 Common Emitter Configuration</a:t>
            </a:r>
          </a:p>
        </p:txBody>
      </p:sp>
    </p:spTree>
    <p:custDataLst>
      <p:tags r:id="rId1"/>
    </p:custDataLst>
    <p:extLst>
      <p:ext uri="{BB962C8B-B14F-4D97-AF65-F5344CB8AC3E}">
        <p14:creationId xmlns:p14="http://schemas.microsoft.com/office/powerpoint/2010/main" xmlns="" val="60491197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901972"/>
          </a:xfrm>
        </p:spPr>
        <p:txBody>
          <a:bodyPr>
            <a:normAutofit/>
          </a:bodyPr>
          <a:lstStyle/>
          <a:p>
            <a:pPr algn="ctr">
              <a:defRPr/>
            </a:pPr>
            <a:r>
              <a:rPr lang="en-US" b="1" dirty="0">
                <a:cs typeface="Times New Roman" pitchFamily="18" charset="0"/>
              </a:rPr>
              <a:t>Input Characteristics</a:t>
            </a:r>
          </a:p>
        </p:txBody>
      </p:sp>
      <p:sp>
        <p:nvSpPr>
          <p:cNvPr id="3" name="Content Placeholder 2"/>
          <p:cNvSpPr>
            <a:spLocks noGrp="1"/>
          </p:cNvSpPr>
          <p:nvPr>
            <p:ph idx="1"/>
          </p:nvPr>
        </p:nvSpPr>
        <p:spPr>
          <a:xfrm>
            <a:off x="1347651" y="1172485"/>
            <a:ext cx="5118463" cy="4601298"/>
          </a:xfrm>
        </p:spPr>
        <p:txBody>
          <a:bodyPr>
            <a:noAutofit/>
          </a:bodyPr>
          <a:lstStyle/>
          <a:p>
            <a:pPr algn="just">
              <a:defRPr/>
            </a:pPr>
            <a:r>
              <a:rPr lang="en-US" dirty="0">
                <a:cs typeface="Times New Roman" pitchFamily="18" charset="0"/>
              </a:rPr>
              <a:t>The input characteristics describe the relationship between input current or base current (I</a:t>
            </a:r>
            <a:r>
              <a:rPr lang="en-US" baseline="-25000" dirty="0">
                <a:cs typeface="Times New Roman" pitchFamily="18" charset="0"/>
              </a:rPr>
              <a:t>B</a:t>
            </a:r>
            <a:r>
              <a:rPr lang="en-US" dirty="0">
                <a:cs typeface="Times New Roman" pitchFamily="18" charset="0"/>
              </a:rPr>
              <a:t>) and input voltage or base-emitter voltage (V</a:t>
            </a:r>
            <a:r>
              <a:rPr lang="en-US" baseline="-25000" dirty="0">
                <a:cs typeface="Times New Roman" pitchFamily="18" charset="0"/>
              </a:rPr>
              <a:t>BE</a:t>
            </a:r>
            <a:r>
              <a:rPr lang="en-US" dirty="0">
                <a:cs typeface="Times New Roman" pitchFamily="18" charset="0"/>
              </a:rPr>
              <a:t>).</a:t>
            </a:r>
          </a:p>
          <a:p>
            <a:pPr algn="just">
              <a:defRPr/>
            </a:pPr>
            <a:r>
              <a:rPr lang="en-US" dirty="0">
                <a:cs typeface="Times New Roman" pitchFamily="18" charset="0"/>
              </a:rPr>
              <a:t>To determine the input characteristics, the output voltage V</a:t>
            </a:r>
            <a:r>
              <a:rPr lang="en-US" baseline="-25000" dirty="0">
                <a:cs typeface="Times New Roman" pitchFamily="18" charset="0"/>
              </a:rPr>
              <a:t>CE</a:t>
            </a:r>
            <a:r>
              <a:rPr lang="en-US" dirty="0">
                <a:cs typeface="Times New Roman" pitchFamily="18" charset="0"/>
              </a:rPr>
              <a:t> is kept constant at zero volts and the input voltage V</a:t>
            </a:r>
            <a:r>
              <a:rPr lang="en-US" baseline="-25000" dirty="0">
                <a:cs typeface="Times New Roman" pitchFamily="18" charset="0"/>
              </a:rPr>
              <a:t>BE</a:t>
            </a:r>
            <a:r>
              <a:rPr lang="en-US" dirty="0">
                <a:cs typeface="Times New Roman" pitchFamily="18" charset="0"/>
              </a:rPr>
              <a:t> is increased from zero volts to different voltage levels. For each voltage level of input voltage (V</a:t>
            </a:r>
            <a:r>
              <a:rPr lang="en-US" baseline="-25000" dirty="0">
                <a:cs typeface="Times New Roman" pitchFamily="18" charset="0"/>
              </a:rPr>
              <a:t>BE</a:t>
            </a:r>
            <a:r>
              <a:rPr lang="en-US" dirty="0">
                <a:cs typeface="Times New Roman" pitchFamily="18" charset="0"/>
              </a:rPr>
              <a:t>), the corresponding input current (I</a:t>
            </a:r>
            <a:r>
              <a:rPr lang="en-US" baseline="-25000" dirty="0">
                <a:cs typeface="Times New Roman" pitchFamily="18" charset="0"/>
              </a:rPr>
              <a:t>B</a:t>
            </a:r>
            <a:r>
              <a:rPr lang="en-US" dirty="0">
                <a:cs typeface="Times New Roman" pitchFamily="18" charset="0"/>
              </a:rPr>
              <a:t>) is recorded.</a:t>
            </a:r>
          </a:p>
        </p:txBody>
      </p:sp>
      <p:sp>
        <p:nvSpPr>
          <p:cNvPr id="4" name="Slide Number Placeholder 3"/>
          <p:cNvSpPr>
            <a:spLocks noGrp="1"/>
          </p:cNvSpPr>
          <p:nvPr>
            <p:ph type="sldNum" sz="quarter" idx="12"/>
          </p:nvPr>
        </p:nvSpPr>
        <p:spPr/>
        <p:txBody>
          <a:bodyPr/>
          <a:lstStyle/>
          <a:p>
            <a:fld id="{BDCDBBEF-AA6C-4BA6-85B2-A17D7F280E38}" type="slidenum">
              <a:rPr lang="en-US" smtClean="0"/>
              <a:pPr/>
              <a:t>16</a:t>
            </a:fld>
            <a:endParaRPr lang="en-US"/>
          </a:p>
        </p:txBody>
      </p:sp>
      <p:sp>
        <p:nvSpPr>
          <p:cNvPr id="8" name="TextBox 7"/>
          <p:cNvSpPr txBox="1"/>
          <p:nvPr/>
        </p:nvSpPr>
        <p:spPr>
          <a:xfrm>
            <a:off x="6754278" y="5277394"/>
            <a:ext cx="4491551" cy="369332"/>
          </a:xfrm>
          <a:prstGeom prst="rect">
            <a:avLst/>
          </a:prstGeom>
        </p:spPr>
        <p:style>
          <a:lnRef idx="2">
            <a:schemeClr val="dk1"/>
          </a:lnRef>
          <a:fillRef idx="1">
            <a:schemeClr val="lt1"/>
          </a:fillRef>
          <a:effectRef idx="0">
            <a:schemeClr val="dk1"/>
          </a:effectRef>
          <a:fontRef idx="minor">
            <a:schemeClr val="dk1"/>
          </a:fontRef>
        </p:style>
        <p:txBody>
          <a:bodyPr wrap="none" rtlCol="0">
            <a:spAutoFit/>
          </a:bodyPr>
          <a:lstStyle/>
          <a:p>
            <a:r>
              <a:rPr lang="en-US" dirty="0"/>
              <a:t>Fig.3 Input characteristics of CE Configuration </a:t>
            </a:r>
          </a:p>
        </p:txBody>
      </p:sp>
      <p:pic>
        <p:nvPicPr>
          <p:cNvPr id="252929" name="Picture 1"/>
          <p:cNvPicPr>
            <a:picLocks noChangeAspect="1" noChangeArrowheads="1"/>
          </p:cNvPicPr>
          <p:nvPr/>
        </p:nvPicPr>
        <p:blipFill>
          <a:blip r:embed="rId3"/>
          <a:srcRect/>
          <a:stretch>
            <a:fillRect/>
          </a:stretch>
        </p:blipFill>
        <p:spPr bwMode="auto">
          <a:xfrm>
            <a:off x="6583681" y="1606731"/>
            <a:ext cx="4699636" cy="3540035"/>
          </a:xfrm>
          <a:prstGeom prst="rect">
            <a:avLst/>
          </a:prstGeom>
          <a:noFill/>
          <a:ln w="9525">
            <a:noFill/>
            <a:miter lim="800000"/>
            <a:headEnd/>
            <a:tailEnd/>
          </a:ln>
          <a:effectLst/>
        </p:spPr>
      </p:pic>
      <p:sp>
        <p:nvSpPr>
          <p:cNvPr id="10" name="Rectangle 9"/>
          <p:cNvSpPr/>
          <p:nvPr/>
        </p:nvSpPr>
        <p:spPr>
          <a:xfrm>
            <a:off x="6530661" y="5721013"/>
            <a:ext cx="4898572" cy="954107"/>
          </a:xfrm>
          <a:prstGeom prst="rect">
            <a:avLst/>
          </a:prstGeom>
        </p:spPr>
        <p:txBody>
          <a:bodyPr wrap="square">
            <a:spAutoFit/>
          </a:bodyPr>
          <a:lstStyle/>
          <a:p>
            <a:r>
              <a:rPr lang="en-US" sz="1400" b="1" dirty="0">
                <a:hlinkClick r:id="rId4"/>
              </a:rPr>
              <a:t>(Source: https://www.physics-and-radio-electronics.com/electronic-devices-and circuits/transistors/</a:t>
            </a:r>
            <a:r>
              <a:rPr lang="en-US" sz="1400" b="1" dirty="0" err="1">
                <a:hlinkClick r:id="rId4"/>
              </a:rPr>
              <a:t>bipolarjunctiontransistor</a:t>
            </a:r>
            <a:r>
              <a:rPr lang="en-US" sz="1400" b="1" dirty="0">
                <a:hlinkClick r:id="rId4"/>
              </a:rPr>
              <a:t>/commonemitterconfiguration.html</a:t>
            </a:r>
            <a:r>
              <a:rPr lang="en-US" sz="1400" b="1" dirty="0"/>
              <a:t>)</a:t>
            </a:r>
          </a:p>
        </p:txBody>
      </p:sp>
    </p:spTree>
    <p:custDataLst>
      <p:tags r:id="rId1"/>
    </p:custDataLst>
    <p:extLst>
      <p:ext uri="{BB962C8B-B14F-4D97-AF65-F5344CB8AC3E}">
        <p14:creationId xmlns:p14="http://schemas.microsoft.com/office/powerpoint/2010/main" xmlns="" val="60491197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18457" y="365126"/>
            <a:ext cx="11234057" cy="993412"/>
          </a:xfrm>
        </p:spPr>
        <p:txBody>
          <a:bodyPr>
            <a:normAutofit/>
          </a:bodyPr>
          <a:lstStyle/>
          <a:p>
            <a:pPr algn="ctr">
              <a:defRPr/>
            </a:pPr>
            <a:r>
              <a:rPr lang="en-US" b="1" dirty="0">
                <a:cs typeface="Times New Roman" pitchFamily="18" charset="0"/>
              </a:rPr>
              <a:t>Input Characteristics</a:t>
            </a:r>
            <a:endParaRPr lang="en-US" sz="4900" b="1" dirty="0">
              <a:cs typeface="Times New Roman" pitchFamily="18" charset="0"/>
            </a:endParaRPr>
          </a:p>
        </p:txBody>
      </p:sp>
      <p:sp>
        <p:nvSpPr>
          <p:cNvPr id="3" name="Content Placeholder 2"/>
          <p:cNvSpPr>
            <a:spLocks noGrp="1"/>
          </p:cNvSpPr>
          <p:nvPr>
            <p:ph idx="1"/>
          </p:nvPr>
        </p:nvSpPr>
        <p:spPr>
          <a:xfrm>
            <a:off x="1360714" y="1658982"/>
            <a:ext cx="9794966" cy="4284617"/>
          </a:xfrm>
        </p:spPr>
        <p:txBody>
          <a:bodyPr>
            <a:noAutofit/>
          </a:bodyPr>
          <a:lstStyle/>
          <a:p>
            <a:pPr algn="just">
              <a:defRPr/>
            </a:pPr>
            <a:r>
              <a:rPr lang="en-US" sz="2400" dirty="0"/>
              <a:t> </a:t>
            </a:r>
            <a:r>
              <a:rPr lang="en-US" sz="2400" dirty="0">
                <a:cs typeface="Times New Roman" pitchFamily="18" charset="0"/>
              </a:rPr>
              <a:t>Th</a:t>
            </a:r>
            <a:r>
              <a:rPr lang="en-US" dirty="0">
                <a:cs typeface="Times New Roman" pitchFamily="18" charset="0"/>
              </a:rPr>
              <a:t>e output voltage (V</a:t>
            </a:r>
            <a:r>
              <a:rPr lang="en-US" baseline="-25000" dirty="0">
                <a:cs typeface="Times New Roman" pitchFamily="18" charset="0"/>
              </a:rPr>
              <a:t>CE</a:t>
            </a:r>
            <a:r>
              <a:rPr lang="en-US" dirty="0">
                <a:cs typeface="Times New Roman" pitchFamily="18" charset="0"/>
              </a:rPr>
              <a:t>) is increased from zero volts to certain voltage level (10 volts) and the output voltage (V</a:t>
            </a:r>
            <a:r>
              <a:rPr lang="en-US" baseline="-25000" dirty="0">
                <a:cs typeface="Times New Roman" pitchFamily="18" charset="0"/>
              </a:rPr>
              <a:t>CE</a:t>
            </a:r>
            <a:r>
              <a:rPr lang="en-US" dirty="0">
                <a:cs typeface="Times New Roman" pitchFamily="18" charset="0"/>
              </a:rPr>
              <a:t>) is kept constant at 10 volts. While increasing the output voltage (V</a:t>
            </a:r>
            <a:r>
              <a:rPr lang="en-US" baseline="-25000" dirty="0">
                <a:cs typeface="Times New Roman" pitchFamily="18" charset="0"/>
              </a:rPr>
              <a:t>CE</a:t>
            </a:r>
            <a:r>
              <a:rPr lang="en-US" dirty="0">
                <a:cs typeface="Times New Roman" pitchFamily="18" charset="0"/>
              </a:rPr>
              <a:t>), the input voltage (V</a:t>
            </a:r>
            <a:r>
              <a:rPr lang="en-US" baseline="-25000" dirty="0">
                <a:cs typeface="Times New Roman" pitchFamily="18" charset="0"/>
              </a:rPr>
              <a:t>BE</a:t>
            </a:r>
            <a:r>
              <a:rPr lang="en-US" dirty="0">
                <a:cs typeface="Times New Roman" pitchFamily="18" charset="0"/>
              </a:rPr>
              <a:t>) is kept constant at zero volts. </a:t>
            </a:r>
          </a:p>
          <a:p>
            <a:pPr algn="just">
              <a:defRPr/>
            </a:pPr>
            <a:r>
              <a:rPr lang="en-US" dirty="0">
                <a:cs typeface="Times New Roman" pitchFamily="18" charset="0"/>
              </a:rPr>
              <a:t>After we kept the output voltage (V</a:t>
            </a:r>
            <a:r>
              <a:rPr lang="en-US" baseline="-25000" dirty="0">
                <a:cs typeface="Times New Roman" pitchFamily="18" charset="0"/>
              </a:rPr>
              <a:t>CE</a:t>
            </a:r>
            <a:r>
              <a:rPr lang="en-US" dirty="0">
                <a:cs typeface="Times New Roman" pitchFamily="18" charset="0"/>
              </a:rPr>
              <a:t>) constant at 10 volts, the input voltage V</a:t>
            </a:r>
            <a:r>
              <a:rPr lang="en-US" baseline="-25000" dirty="0">
                <a:cs typeface="Times New Roman" pitchFamily="18" charset="0"/>
              </a:rPr>
              <a:t>BE</a:t>
            </a:r>
            <a:r>
              <a:rPr lang="en-US" dirty="0">
                <a:cs typeface="Times New Roman" pitchFamily="18" charset="0"/>
              </a:rPr>
              <a:t> is increased from zero volts to different voltage levels. For each voltage level of input voltage (V</a:t>
            </a:r>
            <a:r>
              <a:rPr lang="en-US" baseline="-25000" dirty="0">
                <a:cs typeface="Times New Roman" pitchFamily="18" charset="0"/>
              </a:rPr>
              <a:t>BE</a:t>
            </a:r>
            <a:r>
              <a:rPr lang="en-US" dirty="0">
                <a:cs typeface="Times New Roman" pitchFamily="18" charset="0"/>
              </a:rPr>
              <a:t>), the corresponding input current (I</a:t>
            </a:r>
            <a:r>
              <a:rPr lang="en-US" baseline="-25000" dirty="0">
                <a:cs typeface="Times New Roman" pitchFamily="18" charset="0"/>
              </a:rPr>
              <a:t>B</a:t>
            </a:r>
            <a:r>
              <a:rPr lang="en-US" dirty="0">
                <a:cs typeface="Times New Roman" pitchFamily="18" charset="0"/>
              </a:rPr>
              <a:t>) is recorded.</a:t>
            </a:r>
          </a:p>
        </p:txBody>
      </p:sp>
      <p:sp>
        <p:nvSpPr>
          <p:cNvPr id="4" name="Slide Number Placeholder 3"/>
          <p:cNvSpPr>
            <a:spLocks noGrp="1"/>
          </p:cNvSpPr>
          <p:nvPr>
            <p:ph type="sldNum" sz="quarter" idx="12"/>
          </p:nvPr>
        </p:nvSpPr>
        <p:spPr/>
        <p:txBody>
          <a:bodyPr/>
          <a:lstStyle/>
          <a:p>
            <a:fld id="{BDCDBBEF-AA6C-4BA6-85B2-A17D7F280E38}" type="slidenum">
              <a:rPr lang="en-US" smtClean="0"/>
              <a:pPr/>
              <a:t>17</a:t>
            </a:fld>
            <a:endParaRPr lang="en-US"/>
          </a:p>
        </p:txBody>
      </p:sp>
    </p:spTree>
    <p:custDataLst>
      <p:tags r:id="rId1"/>
    </p:custDataLst>
    <p:extLst>
      <p:ext uri="{BB962C8B-B14F-4D97-AF65-F5344CB8AC3E}">
        <p14:creationId xmlns:p14="http://schemas.microsoft.com/office/powerpoint/2010/main" xmlns="" val="60491197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64326" y="247561"/>
            <a:ext cx="10515600" cy="562338"/>
          </a:xfrm>
        </p:spPr>
        <p:txBody>
          <a:bodyPr>
            <a:normAutofit fontScale="90000"/>
          </a:bodyPr>
          <a:lstStyle/>
          <a:p>
            <a:pPr algn="ctr">
              <a:defRPr/>
            </a:pPr>
            <a:r>
              <a:rPr lang="en-US" b="1" dirty="0">
                <a:cs typeface="Times New Roman" pitchFamily="18" charset="0"/>
              </a:rPr>
              <a:t>Output Characteristics</a:t>
            </a:r>
          </a:p>
        </p:txBody>
      </p:sp>
      <p:sp>
        <p:nvSpPr>
          <p:cNvPr id="3" name="Content Placeholder 2"/>
          <p:cNvSpPr>
            <a:spLocks noGrp="1"/>
          </p:cNvSpPr>
          <p:nvPr>
            <p:ph idx="1"/>
          </p:nvPr>
        </p:nvSpPr>
        <p:spPr>
          <a:xfrm>
            <a:off x="1058091" y="819788"/>
            <a:ext cx="6126479" cy="4601298"/>
          </a:xfrm>
        </p:spPr>
        <p:txBody>
          <a:bodyPr>
            <a:noAutofit/>
          </a:bodyPr>
          <a:lstStyle/>
          <a:p>
            <a:pPr algn="just"/>
            <a:r>
              <a:rPr lang="en-US" sz="2400" dirty="0">
                <a:cs typeface="Times New Roman" pitchFamily="18" charset="0"/>
              </a:rPr>
              <a:t>The output characteristics describe the relationship between output current (I</a:t>
            </a:r>
            <a:r>
              <a:rPr lang="en-US" sz="2400" baseline="-25000" dirty="0">
                <a:cs typeface="Times New Roman" pitchFamily="18" charset="0"/>
              </a:rPr>
              <a:t>C</a:t>
            </a:r>
            <a:r>
              <a:rPr lang="en-US" sz="2400" dirty="0">
                <a:cs typeface="Times New Roman" pitchFamily="18" charset="0"/>
              </a:rPr>
              <a:t>) and output voltage (V</a:t>
            </a:r>
            <a:r>
              <a:rPr lang="en-US" sz="2400" baseline="-25000" dirty="0">
                <a:cs typeface="Times New Roman" pitchFamily="18" charset="0"/>
              </a:rPr>
              <a:t>CE</a:t>
            </a:r>
            <a:r>
              <a:rPr lang="en-US" sz="2400" dirty="0">
                <a:cs typeface="Times New Roman" pitchFamily="18" charset="0"/>
              </a:rPr>
              <a:t>).  </a:t>
            </a:r>
          </a:p>
          <a:p>
            <a:pPr algn="just"/>
            <a:r>
              <a:rPr lang="en-US" sz="2400" dirty="0">
                <a:cs typeface="Times New Roman" pitchFamily="18" charset="0"/>
              </a:rPr>
              <a:t>First, draw a vertical line and a horizontal line. The vertical line represents y-axis and horizontal line represents x-axis. The output current or collector current (I</a:t>
            </a:r>
            <a:r>
              <a:rPr lang="en-US" sz="2400" baseline="-25000" dirty="0">
                <a:cs typeface="Times New Roman" pitchFamily="18" charset="0"/>
              </a:rPr>
              <a:t>C</a:t>
            </a:r>
            <a:r>
              <a:rPr lang="en-US" sz="2400" dirty="0">
                <a:cs typeface="Times New Roman" pitchFamily="18" charset="0"/>
              </a:rPr>
              <a:t>) is taken along y-axis (vertical line) and the output voltage (V</a:t>
            </a:r>
            <a:r>
              <a:rPr lang="en-US" sz="2400" baseline="-25000" dirty="0">
                <a:cs typeface="Times New Roman" pitchFamily="18" charset="0"/>
              </a:rPr>
              <a:t>CE</a:t>
            </a:r>
            <a:r>
              <a:rPr lang="en-US" sz="2400" dirty="0">
                <a:cs typeface="Times New Roman" pitchFamily="18" charset="0"/>
              </a:rPr>
              <a:t>)</a:t>
            </a:r>
            <a:r>
              <a:rPr lang="en-US" sz="2400" baseline="-25000" dirty="0">
                <a:cs typeface="Times New Roman" pitchFamily="18" charset="0"/>
              </a:rPr>
              <a:t> </a:t>
            </a:r>
            <a:r>
              <a:rPr lang="en-US" sz="2400" dirty="0">
                <a:cs typeface="Times New Roman" pitchFamily="18" charset="0"/>
              </a:rPr>
              <a:t>is taken along x-axis (horizontal line).</a:t>
            </a:r>
          </a:p>
          <a:p>
            <a:pPr algn="just"/>
            <a:r>
              <a:rPr lang="en-US" sz="2400" dirty="0">
                <a:cs typeface="Times New Roman" pitchFamily="18" charset="0"/>
              </a:rPr>
              <a:t>To determine the output characteristics, the input current or base current I</a:t>
            </a:r>
            <a:r>
              <a:rPr lang="en-US" sz="2400" baseline="-25000" dirty="0">
                <a:cs typeface="Times New Roman" pitchFamily="18" charset="0"/>
              </a:rPr>
              <a:t>B</a:t>
            </a:r>
            <a:r>
              <a:rPr lang="en-US" sz="2400" dirty="0">
                <a:cs typeface="Times New Roman" pitchFamily="18" charset="0"/>
              </a:rPr>
              <a:t> is kept constant at 0 </a:t>
            </a:r>
            <a:r>
              <a:rPr lang="en-US" sz="2400" dirty="0" err="1">
                <a:cs typeface="Times New Roman" pitchFamily="18" charset="0"/>
              </a:rPr>
              <a:t>μA</a:t>
            </a:r>
            <a:r>
              <a:rPr lang="en-US" sz="2400" dirty="0">
                <a:cs typeface="Times New Roman" pitchFamily="18" charset="0"/>
              </a:rPr>
              <a:t> and the output voltage V</a:t>
            </a:r>
            <a:r>
              <a:rPr lang="en-US" sz="2400" baseline="-25000" dirty="0">
                <a:cs typeface="Times New Roman" pitchFamily="18" charset="0"/>
              </a:rPr>
              <a:t>CE</a:t>
            </a:r>
            <a:r>
              <a:rPr lang="en-US" sz="2400" dirty="0">
                <a:cs typeface="Times New Roman" pitchFamily="18" charset="0"/>
              </a:rPr>
              <a:t> is increased from zero volts to different voltage levels. For each level of output voltage, the corresponding output current (I</a:t>
            </a:r>
            <a:r>
              <a:rPr lang="en-US" sz="2400" baseline="-25000" dirty="0">
                <a:cs typeface="Times New Roman" pitchFamily="18" charset="0"/>
              </a:rPr>
              <a:t>C</a:t>
            </a:r>
            <a:r>
              <a:rPr lang="en-US" sz="2400" dirty="0">
                <a:cs typeface="Times New Roman" pitchFamily="18" charset="0"/>
              </a:rPr>
              <a:t>) is recorded.</a:t>
            </a:r>
          </a:p>
        </p:txBody>
      </p:sp>
      <p:sp>
        <p:nvSpPr>
          <p:cNvPr id="4" name="Slide Number Placeholder 3"/>
          <p:cNvSpPr>
            <a:spLocks noGrp="1"/>
          </p:cNvSpPr>
          <p:nvPr>
            <p:ph type="sldNum" sz="quarter" idx="12"/>
          </p:nvPr>
        </p:nvSpPr>
        <p:spPr/>
        <p:txBody>
          <a:bodyPr/>
          <a:lstStyle/>
          <a:p>
            <a:fld id="{BDCDBBEF-AA6C-4BA6-85B2-A17D7F280E38}" type="slidenum">
              <a:rPr lang="en-US" smtClean="0"/>
              <a:pPr/>
              <a:t>18</a:t>
            </a:fld>
            <a:endParaRPr lang="en-US"/>
          </a:p>
        </p:txBody>
      </p:sp>
      <p:sp>
        <p:nvSpPr>
          <p:cNvPr id="8" name="TextBox 7"/>
          <p:cNvSpPr txBox="1"/>
          <p:nvPr/>
        </p:nvSpPr>
        <p:spPr>
          <a:xfrm>
            <a:off x="7506487" y="4937760"/>
            <a:ext cx="4685513" cy="369332"/>
          </a:xfrm>
          <a:prstGeom prst="rect">
            <a:avLst/>
          </a:prstGeom>
        </p:spPr>
        <p:style>
          <a:lnRef idx="2">
            <a:schemeClr val="dk1"/>
          </a:lnRef>
          <a:fillRef idx="1">
            <a:schemeClr val="lt1"/>
          </a:fillRef>
          <a:effectRef idx="0">
            <a:schemeClr val="dk1"/>
          </a:effectRef>
          <a:fontRef idx="minor">
            <a:schemeClr val="dk1"/>
          </a:fontRef>
        </p:style>
        <p:txBody>
          <a:bodyPr wrap="none" rtlCol="0">
            <a:spAutoFit/>
          </a:bodyPr>
          <a:lstStyle/>
          <a:p>
            <a:r>
              <a:rPr lang="en-US" dirty="0"/>
              <a:t>Fig.4 output  characteristics of CE Configuration </a:t>
            </a:r>
          </a:p>
        </p:txBody>
      </p:sp>
      <p:sp>
        <p:nvSpPr>
          <p:cNvPr id="10" name="Rectangle 9"/>
          <p:cNvSpPr/>
          <p:nvPr/>
        </p:nvSpPr>
        <p:spPr>
          <a:xfrm>
            <a:off x="7293428" y="5394442"/>
            <a:ext cx="4898572" cy="954107"/>
          </a:xfrm>
          <a:prstGeom prst="rect">
            <a:avLst/>
          </a:prstGeom>
        </p:spPr>
        <p:txBody>
          <a:bodyPr wrap="square">
            <a:spAutoFit/>
          </a:bodyPr>
          <a:lstStyle/>
          <a:p>
            <a:r>
              <a:rPr lang="en-US" sz="1400" b="1" dirty="0">
                <a:hlinkClick r:id="rId3"/>
              </a:rPr>
              <a:t>(Source: https://www.physics-and-radio-electronics.com/electronic-devices-and circuits/transistors/</a:t>
            </a:r>
            <a:r>
              <a:rPr lang="en-US" sz="1400" b="1" dirty="0" err="1">
                <a:hlinkClick r:id="rId3"/>
              </a:rPr>
              <a:t>bipolarjunctiontransistor</a:t>
            </a:r>
            <a:r>
              <a:rPr lang="en-US" sz="1400" b="1" dirty="0">
                <a:hlinkClick r:id="rId3"/>
              </a:rPr>
              <a:t>/commonemitterconfiguration.html</a:t>
            </a:r>
            <a:r>
              <a:rPr lang="en-US" sz="1400" b="1" dirty="0"/>
              <a:t>)</a:t>
            </a:r>
          </a:p>
        </p:txBody>
      </p:sp>
      <p:pic>
        <p:nvPicPr>
          <p:cNvPr id="261122" name="Picture 2"/>
          <p:cNvPicPr>
            <a:picLocks noChangeAspect="1" noChangeArrowheads="1"/>
          </p:cNvPicPr>
          <p:nvPr/>
        </p:nvPicPr>
        <p:blipFill>
          <a:blip r:embed="rId4"/>
          <a:srcRect/>
          <a:stretch>
            <a:fillRect/>
          </a:stretch>
        </p:blipFill>
        <p:spPr bwMode="auto">
          <a:xfrm>
            <a:off x="7292068" y="1182460"/>
            <a:ext cx="4638675" cy="3448050"/>
          </a:xfrm>
          <a:prstGeom prst="rect">
            <a:avLst/>
          </a:prstGeom>
          <a:noFill/>
          <a:ln w="9525">
            <a:noFill/>
            <a:miter lim="800000"/>
            <a:headEnd/>
            <a:tailEnd/>
          </a:ln>
          <a:effectLst/>
        </p:spPr>
      </p:pic>
    </p:spTree>
    <p:custDataLst>
      <p:tags r:id="rId1"/>
    </p:custDataLst>
    <p:extLst>
      <p:ext uri="{BB962C8B-B14F-4D97-AF65-F5344CB8AC3E}">
        <p14:creationId xmlns:p14="http://schemas.microsoft.com/office/powerpoint/2010/main" xmlns="" val="60491197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18457" y="365126"/>
            <a:ext cx="11234057" cy="993412"/>
          </a:xfrm>
        </p:spPr>
        <p:txBody>
          <a:bodyPr>
            <a:normAutofit/>
          </a:bodyPr>
          <a:lstStyle/>
          <a:p>
            <a:pPr algn="ctr">
              <a:defRPr/>
            </a:pPr>
            <a:r>
              <a:rPr lang="en-US" b="1" dirty="0">
                <a:cs typeface="Times New Roman" pitchFamily="18" charset="0"/>
              </a:rPr>
              <a:t>Output Characteristics</a:t>
            </a:r>
            <a:endParaRPr lang="en-US" b="1" dirty="0">
              <a:latin typeface="Times New Roman" pitchFamily="18" charset="0"/>
              <a:cs typeface="Times New Roman" pitchFamily="18" charset="0"/>
            </a:endParaRPr>
          </a:p>
        </p:txBody>
      </p:sp>
      <p:sp>
        <p:nvSpPr>
          <p:cNvPr id="3" name="Content Placeholder 2"/>
          <p:cNvSpPr>
            <a:spLocks noGrp="1"/>
          </p:cNvSpPr>
          <p:nvPr>
            <p:ph idx="1"/>
          </p:nvPr>
        </p:nvSpPr>
        <p:spPr>
          <a:xfrm>
            <a:off x="942703" y="1528354"/>
            <a:ext cx="10356668" cy="4284617"/>
          </a:xfrm>
        </p:spPr>
        <p:txBody>
          <a:bodyPr>
            <a:noAutofit/>
          </a:bodyPr>
          <a:lstStyle/>
          <a:p>
            <a:pPr algn="just"/>
            <a:r>
              <a:rPr lang="en-US" sz="2400" dirty="0">
                <a:latin typeface="Times New Roman" pitchFamily="18" charset="0"/>
                <a:cs typeface="Times New Roman" pitchFamily="18" charset="0"/>
              </a:rPr>
              <a:t> </a:t>
            </a:r>
            <a:r>
              <a:rPr lang="en-US" sz="2400" dirty="0">
                <a:cs typeface="Times New Roman" pitchFamily="18" charset="0"/>
              </a:rPr>
              <a:t>A curve is then drawn between output current I</a:t>
            </a:r>
            <a:r>
              <a:rPr lang="en-US" sz="2400" baseline="-25000" dirty="0">
                <a:cs typeface="Times New Roman" pitchFamily="18" charset="0"/>
              </a:rPr>
              <a:t>C</a:t>
            </a:r>
            <a:r>
              <a:rPr lang="en-US" sz="2400" dirty="0">
                <a:cs typeface="Times New Roman" pitchFamily="18" charset="0"/>
              </a:rPr>
              <a:t> and output voltage V</a:t>
            </a:r>
            <a:r>
              <a:rPr lang="en-US" sz="2400" baseline="-25000" dirty="0">
                <a:cs typeface="Times New Roman" pitchFamily="18" charset="0"/>
              </a:rPr>
              <a:t>CE</a:t>
            </a:r>
            <a:r>
              <a:rPr lang="en-US" sz="2400" dirty="0">
                <a:cs typeface="Times New Roman" pitchFamily="18" charset="0"/>
              </a:rPr>
              <a:t> at constant input current I</a:t>
            </a:r>
            <a:r>
              <a:rPr lang="en-US" sz="2400" baseline="-25000" dirty="0">
                <a:cs typeface="Times New Roman" pitchFamily="18" charset="0"/>
              </a:rPr>
              <a:t>B</a:t>
            </a:r>
            <a:r>
              <a:rPr lang="en-US" sz="2400" dirty="0">
                <a:cs typeface="Times New Roman" pitchFamily="18" charset="0"/>
              </a:rPr>
              <a:t> (20 </a:t>
            </a:r>
            <a:r>
              <a:rPr lang="en-US" sz="2400" dirty="0" err="1">
                <a:cs typeface="Times New Roman" pitchFamily="18" charset="0"/>
              </a:rPr>
              <a:t>μA</a:t>
            </a:r>
            <a:r>
              <a:rPr lang="en-US" sz="2400" dirty="0">
                <a:cs typeface="Times New Roman" pitchFamily="18" charset="0"/>
              </a:rPr>
              <a:t>). This region is known as the active region of a transistor. In this region, emitter-base junction is forward biased and the collector-base junction is reverse biased.</a:t>
            </a:r>
          </a:p>
          <a:p>
            <a:pPr algn="just"/>
            <a:r>
              <a:rPr lang="en-US" sz="2400" dirty="0">
                <a:cs typeface="Times New Roman" pitchFamily="18" charset="0"/>
              </a:rPr>
              <a:t>This steps are repeated for higher fixed values of input current I</a:t>
            </a:r>
            <a:r>
              <a:rPr lang="en-US" sz="2400" baseline="-25000" dirty="0">
                <a:cs typeface="Times New Roman" pitchFamily="18" charset="0"/>
              </a:rPr>
              <a:t>B</a:t>
            </a:r>
            <a:r>
              <a:rPr lang="en-US" sz="2400" dirty="0">
                <a:cs typeface="Times New Roman" pitchFamily="18" charset="0"/>
              </a:rPr>
              <a:t> (I.e. 40 </a:t>
            </a:r>
            <a:r>
              <a:rPr lang="en-US" sz="2400" dirty="0" err="1">
                <a:cs typeface="Times New Roman" pitchFamily="18" charset="0"/>
              </a:rPr>
              <a:t>μA</a:t>
            </a:r>
            <a:r>
              <a:rPr lang="en-US" sz="2400" dirty="0">
                <a:cs typeface="Times New Roman" pitchFamily="18" charset="0"/>
              </a:rPr>
              <a:t>, 60 </a:t>
            </a:r>
            <a:r>
              <a:rPr lang="en-US" sz="2400" dirty="0" err="1">
                <a:cs typeface="Times New Roman" pitchFamily="18" charset="0"/>
              </a:rPr>
              <a:t>μA</a:t>
            </a:r>
            <a:r>
              <a:rPr lang="en-US" sz="2400" dirty="0">
                <a:cs typeface="Times New Roman" pitchFamily="18" charset="0"/>
              </a:rPr>
              <a:t>, 80 </a:t>
            </a:r>
            <a:r>
              <a:rPr lang="en-US" sz="2400" dirty="0" err="1">
                <a:cs typeface="Times New Roman" pitchFamily="18" charset="0"/>
              </a:rPr>
              <a:t>μA</a:t>
            </a:r>
            <a:r>
              <a:rPr lang="en-US" sz="2400" dirty="0">
                <a:cs typeface="Times New Roman" pitchFamily="18" charset="0"/>
              </a:rPr>
              <a:t> and so on).</a:t>
            </a:r>
          </a:p>
          <a:p>
            <a:pPr algn="just"/>
            <a:r>
              <a:rPr lang="en-US" sz="2400" dirty="0">
                <a:cs typeface="Times New Roman" pitchFamily="18" charset="0"/>
              </a:rPr>
              <a:t>When output voltage V</a:t>
            </a:r>
            <a:r>
              <a:rPr lang="en-US" sz="2400" baseline="-25000" dirty="0">
                <a:cs typeface="Times New Roman" pitchFamily="18" charset="0"/>
              </a:rPr>
              <a:t>CE</a:t>
            </a:r>
            <a:r>
              <a:rPr lang="en-US" sz="2400" dirty="0">
                <a:cs typeface="Times New Roman" pitchFamily="18" charset="0"/>
              </a:rPr>
              <a:t> is reduced to a small value (0.2 V), the collector-base junction becomes forward biased. This is because the output voltage V</a:t>
            </a:r>
            <a:r>
              <a:rPr lang="en-US" sz="2400" baseline="-25000" dirty="0">
                <a:cs typeface="Times New Roman" pitchFamily="18" charset="0"/>
              </a:rPr>
              <a:t>CE</a:t>
            </a:r>
            <a:r>
              <a:rPr lang="en-US" sz="2400" dirty="0">
                <a:cs typeface="Times New Roman" pitchFamily="18" charset="0"/>
              </a:rPr>
              <a:t> has less effect on collector-base junction than input voltage V</a:t>
            </a:r>
            <a:r>
              <a:rPr lang="en-US" sz="2400" baseline="-25000" dirty="0">
                <a:cs typeface="Times New Roman" pitchFamily="18" charset="0"/>
              </a:rPr>
              <a:t>BE</a:t>
            </a:r>
            <a:r>
              <a:rPr lang="en-US" sz="2400" dirty="0">
                <a:cs typeface="Times New Roman" pitchFamily="18" charset="0"/>
              </a:rPr>
              <a:t>.</a:t>
            </a:r>
          </a:p>
          <a:p>
            <a:pPr algn="just"/>
            <a:r>
              <a:rPr lang="en-US" sz="2400" dirty="0">
                <a:cs typeface="Times New Roman" pitchFamily="18" charset="0"/>
              </a:rPr>
              <a:t>As we know that the emitter-base junction is already forward biased. Therefore, when both the junctions are forward biased, the transistor operates in the saturation region. In this region, a small increase in output voltage V</a:t>
            </a:r>
            <a:r>
              <a:rPr lang="en-US" sz="2400" baseline="-25000" dirty="0">
                <a:cs typeface="Times New Roman" pitchFamily="18" charset="0"/>
              </a:rPr>
              <a:t>CE</a:t>
            </a:r>
            <a:r>
              <a:rPr lang="en-US" sz="2400" dirty="0">
                <a:cs typeface="Times New Roman" pitchFamily="18" charset="0"/>
              </a:rPr>
              <a:t> will rapidly increases the output current I</a:t>
            </a:r>
            <a:r>
              <a:rPr lang="en-US" sz="2400" baseline="-25000" dirty="0">
                <a:cs typeface="Times New Roman" pitchFamily="18" charset="0"/>
              </a:rPr>
              <a:t>C</a:t>
            </a:r>
            <a:r>
              <a:rPr lang="en-US" sz="2400" dirty="0">
                <a:cs typeface="Times New Roman" pitchFamily="18" charset="0"/>
              </a:rPr>
              <a:t>.</a:t>
            </a:r>
          </a:p>
          <a:p>
            <a:pPr algn="just">
              <a:defRPr/>
            </a:pPr>
            <a:endParaRPr lang="en-US"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BDCDBBEF-AA6C-4BA6-85B2-A17D7F280E38}" type="slidenum">
              <a:rPr lang="en-US" smtClean="0"/>
              <a:pPr/>
              <a:t>19</a:t>
            </a:fld>
            <a:endParaRPr lang="en-US"/>
          </a:p>
        </p:txBody>
      </p:sp>
    </p:spTree>
    <p:custDataLst>
      <p:tags r:id="rId1"/>
    </p:custDataLst>
    <p:extLst>
      <p:ext uri="{BB962C8B-B14F-4D97-AF65-F5344CB8AC3E}">
        <p14:creationId xmlns:p14="http://schemas.microsoft.com/office/powerpoint/2010/main" xmlns="" val="60491197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941161"/>
          </a:xfrm>
        </p:spPr>
        <p:txBody>
          <a:bodyPr>
            <a:normAutofit/>
          </a:bodyPr>
          <a:lstStyle/>
          <a:p>
            <a:pPr algn="ctr">
              <a:defRPr/>
            </a:pPr>
            <a:r>
              <a:rPr lang="en-IN" b="1" dirty="0">
                <a:cs typeface="Times New Roman" pitchFamily="18" charset="0"/>
              </a:rPr>
              <a:t>Transistor parameters</a:t>
            </a:r>
          </a:p>
        </p:txBody>
      </p:sp>
      <p:sp>
        <p:nvSpPr>
          <p:cNvPr id="3" name="Content Placeholder 2"/>
          <p:cNvSpPr>
            <a:spLocks noGrp="1"/>
          </p:cNvSpPr>
          <p:nvPr>
            <p:ph idx="1"/>
          </p:nvPr>
        </p:nvSpPr>
        <p:spPr>
          <a:xfrm>
            <a:off x="655320" y="1433742"/>
            <a:ext cx="10515600" cy="4351338"/>
          </a:xfrm>
        </p:spPr>
        <p:txBody>
          <a:bodyPr>
            <a:noAutofit/>
          </a:bodyPr>
          <a:lstStyle/>
          <a:p>
            <a:pPr algn="just">
              <a:defRPr/>
            </a:pPr>
            <a:r>
              <a:rPr lang="en-US" sz="2400" b="1" u="sng" dirty="0">
                <a:cs typeface="Times New Roman" pitchFamily="18" charset="0"/>
              </a:rPr>
              <a:t>Dynamic input resistance (</a:t>
            </a:r>
            <a:r>
              <a:rPr lang="en-US" sz="2400" b="1" u="sng" dirty="0" err="1">
                <a:cs typeface="Times New Roman" pitchFamily="18" charset="0"/>
              </a:rPr>
              <a:t>r</a:t>
            </a:r>
            <a:r>
              <a:rPr lang="en-US" sz="2400" b="1" u="sng" baseline="-25000" dirty="0" err="1">
                <a:cs typeface="Times New Roman" pitchFamily="18" charset="0"/>
              </a:rPr>
              <a:t>i</a:t>
            </a:r>
            <a:r>
              <a:rPr lang="en-US" sz="2400" b="1" u="sng" dirty="0">
                <a:cs typeface="Times New Roman" pitchFamily="18" charset="0"/>
              </a:rPr>
              <a:t>):-</a:t>
            </a:r>
            <a:r>
              <a:rPr lang="en-US" sz="2400" dirty="0">
                <a:cs typeface="Times New Roman" pitchFamily="18" charset="0"/>
              </a:rPr>
              <a:t>Dynamic input resistance is defined as the ratio of change in input voltage or base voltage (V</a:t>
            </a:r>
            <a:r>
              <a:rPr lang="en-US" sz="2400" baseline="-25000" dirty="0">
                <a:cs typeface="Times New Roman" pitchFamily="18" charset="0"/>
              </a:rPr>
              <a:t>BE</a:t>
            </a:r>
            <a:r>
              <a:rPr lang="en-US" sz="2400" dirty="0">
                <a:cs typeface="Times New Roman" pitchFamily="18" charset="0"/>
              </a:rPr>
              <a:t>) to the corresponding change in input current or base current (I</a:t>
            </a:r>
            <a:r>
              <a:rPr lang="en-US" sz="2400" baseline="-25000" dirty="0">
                <a:cs typeface="Times New Roman" pitchFamily="18" charset="0"/>
              </a:rPr>
              <a:t>B</a:t>
            </a:r>
            <a:r>
              <a:rPr lang="en-US" sz="2400" dirty="0">
                <a:cs typeface="Times New Roman" pitchFamily="18" charset="0"/>
              </a:rPr>
              <a:t>), with the output voltage or collector voltage (V</a:t>
            </a:r>
            <a:r>
              <a:rPr lang="en-US" sz="2400" baseline="-25000" dirty="0">
                <a:cs typeface="Times New Roman" pitchFamily="18" charset="0"/>
              </a:rPr>
              <a:t>CE</a:t>
            </a:r>
            <a:r>
              <a:rPr lang="en-US" sz="2400" dirty="0">
                <a:cs typeface="Times New Roman" pitchFamily="18" charset="0"/>
              </a:rPr>
              <a:t>) kept at constant. In CE configuration, the input resistance is very low</a:t>
            </a:r>
            <a:r>
              <a:rPr lang="en-US" dirty="0">
                <a:cs typeface="Times New Roman" pitchFamily="18" charset="0"/>
              </a:rPr>
              <a:t>.</a:t>
            </a:r>
          </a:p>
          <a:p>
            <a:pPr algn="just">
              <a:defRPr/>
            </a:pPr>
            <a:endParaRPr lang="en-US" dirty="0">
              <a:cs typeface="Times New Roman" pitchFamily="18" charset="0"/>
            </a:endParaRPr>
          </a:p>
          <a:p>
            <a:pPr algn="just">
              <a:defRPr/>
            </a:pPr>
            <a:endParaRPr lang="en-US" dirty="0">
              <a:cs typeface="Times New Roman" pitchFamily="18" charset="0"/>
            </a:endParaRPr>
          </a:p>
          <a:p>
            <a:pPr algn="just">
              <a:defRPr/>
            </a:pPr>
            <a:r>
              <a:rPr lang="en-US" sz="2400" b="1" u="sng" dirty="0">
                <a:cs typeface="Times New Roman" pitchFamily="18" charset="0"/>
              </a:rPr>
              <a:t>Dynamic output resistance (</a:t>
            </a:r>
            <a:r>
              <a:rPr lang="en-US" sz="2400" b="1" u="sng" dirty="0" err="1">
                <a:cs typeface="Times New Roman" pitchFamily="18" charset="0"/>
              </a:rPr>
              <a:t>r</a:t>
            </a:r>
            <a:r>
              <a:rPr lang="en-US" sz="2400" b="1" u="sng" baseline="-25000" dirty="0" err="1">
                <a:cs typeface="Times New Roman" pitchFamily="18" charset="0"/>
              </a:rPr>
              <a:t>o</a:t>
            </a:r>
            <a:r>
              <a:rPr lang="en-US" sz="2400" b="1" u="sng" dirty="0">
                <a:cs typeface="Times New Roman" pitchFamily="18" charset="0"/>
              </a:rPr>
              <a:t>) :-</a:t>
            </a:r>
            <a:r>
              <a:rPr lang="en-US" sz="2400" dirty="0">
                <a:cs typeface="Times New Roman" pitchFamily="18" charset="0"/>
              </a:rPr>
              <a:t>Dynamic output resistance is defined as the ratio of change in output voltage or collector voltage (V</a:t>
            </a:r>
            <a:r>
              <a:rPr lang="en-US" sz="2400" baseline="-25000" dirty="0">
                <a:cs typeface="Times New Roman" pitchFamily="18" charset="0"/>
              </a:rPr>
              <a:t>CE</a:t>
            </a:r>
            <a:r>
              <a:rPr lang="en-US" sz="2400" dirty="0">
                <a:cs typeface="Times New Roman" pitchFamily="18" charset="0"/>
              </a:rPr>
              <a:t>) to the corresponding change in output current or collector current (I</a:t>
            </a:r>
            <a:r>
              <a:rPr lang="en-US" sz="2400" baseline="-25000" dirty="0">
                <a:cs typeface="Times New Roman" pitchFamily="18" charset="0"/>
              </a:rPr>
              <a:t>C</a:t>
            </a:r>
            <a:r>
              <a:rPr lang="en-US" sz="2400" dirty="0">
                <a:cs typeface="Times New Roman" pitchFamily="18" charset="0"/>
              </a:rPr>
              <a:t>), with the input current or base current (I</a:t>
            </a:r>
            <a:r>
              <a:rPr lang="en-US" sz="2400" baseline="-25000" dirty="0">
                <a:cs typeface="Times New Roman" pitchFamily="18" charset="0"/>
              </a:rPr>
              <a:t>B</a:t>
            </a:r>
            <a:r>
              <a:rPr lang="en-US" sz="2400" dirty="0">
                <a:cs typeface="Times New Roman" pitchFamily="18" charset="0"/>
              </a:rPr>
              <a:t>) kept at constant</a:t>
            </a:r>
            <a:r>
              <a:rPr lang="en-US" dirty="0">
                <a:cs typeface="Times New Roman" pitchFamily="18" charset="0"/>
              </a:rPr>
              <a:t>. </a:t>
            </a:r>
            <a:r>
              <a:rPr lang="en-US" sz="2400" dirty="0">
                <a:cs typeface="Times New Roman" pitchFamily="18" charset="0"/>
              </a:rPr>
              <a:t>In CE configuration, the output resistance is high.</a:t>
            </a:r>
          </a:p>
          <a:p>
            <a:pPr algn="just">
              <a:defRPr/>
            </a:pPr>
            <a:endParaRPr lang="en-US" dirty="0">
              <a:cs typeface="Times New Roman" pitchFamily="18" charset="0"/>
            </a:endParaRPr>
          </a:p>
        </p:txBody>
      </p:sp>
      <p:sp>
        <p:nvSpPr>
          <p:cNvPr id="4" name="Slide Number Placeholder 3"/>
          <p:cNvSpPr>
            <a:spLocks noGrp="1"/>
          </p:cNvSpPr>
          <p:nvPr>
            <p:ph type="sldNum" sz="quarter" idx="12"/>
          </p:nvPr>
        </p:nvSpPr>
        <p:spPr/>
        <p:txBody>
          <a:bodyPr/>
          <a:lstStyle/>
          <a:p>
            <a:fld id="{BDCDBBEF-AA6C-4BA6-85B2-A17D7F280E38}" type="slidenum">
              <a:rPr lang="en-US" smtClean="0"/>
              <a:pPr/>
              <a:t>20</a:t>
            </a:fld>
            <a:endParaRPr lang="en-US"/>
          </a:p>
        </p:txBody>
      </p:sp>
      <p:pic>
        <p:nvPicPr>
          <p:cNvPr id="250882" name="Picture 2"/>
          <p:cNvPicPr>
            <a:picLocks noChangeAspect="1" noChangeArrowheads="1"/>
          </p:cNvPicPr>
          <p:nvPr/>
        </p:nvPicPr>
        <p:blipFill>
          <a:blip r:embed="rId3"/>
          <a:srcRect/>
          <a:stretch>
            <a:fillRect/>
          </a:stretch>
        </p:blipFill>
        <p:spPr bwMode="auto">
          <a:xfrm>
            <a:off x="3553099" y="3030582"/>
            <a:ext cx="4532811" cy="783771"/>
          </a:xfrm>
          <a:prstGeom prst="rect">
            <a:avLst/>
          </a:prstGeom>
          <a:noFill/>
          <a:ln w="9525">
            <a:noFill/>
            <a:miter lim="800000"/>
            <a:headEnd/>
            <a:tailEnd/>
          </a:ln>
          <a:effectLst/>
        </p:spPr>
      </p:pic>
      <p:pic>
        <p:nvPicPr>
          <p:cNvPr id="250883" name="Picture 3"/>
          <p:cNvPicPr>
            <a:picLocks noChangeAspect="1" noChangeArrowheads="1"/>
          </p:cNvPicPr>
          <p:nvPr/>
        </p:nvPicPr>
        <p:blipFill>
          <a:blip r:embed="rId4"/>
          <a:srcRect/>
          <a:stretch>
            <a:fillRect/>
          </a:stretch>
        </p:blipFill>
        <p:spPr bwMode="auto">
          <a:xfrm>
            <a:off x="3843201" y="5546815"/>
            <a:ext cx="3667942" cy="840921"/>
          </a:xfrm>
          <a:prstGeom prst="rect">
            <a:avLst/>
          </a:prstGeom>
          <a:noFill/>
          <a:ln w="9525">
            <a:noFill/>
            <a:miter lim="800000"/>
            <a:headEnd/>
            <a:tailEnd/>
          </a:ln>
          <a:effectLst/>
        </p:spPr>
      </p:pic>
    </p:spTree>
    <p:custDataLst>
      <p:tags r:id="rId1"/>
    </p:custDataLst>
    <p:extLst>
      <p:ext uri="{BB962C8B-B14F-4D97-AF65-F5344CB8AC3E}">
        <p14:creationId xmlns:p14="http://schemas.microsoft.com/office/powerpoint/2010/main" xmlns="" val="60491197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defRPr/>
            </a:pPr>
            <a:r>
              <a:rPr lang="en-US" b="1" dirty="0">
                <a:cs typeface="Times New Roman" pitchFamily="18" charset="0"/>
              </a:rPr>
              <a:t>Common Collector Configuration</a:t>
            </a:r>
          </a:p>
        </p:txBody>
      </p:sp>
      <p:sp>
        <p:nvSpPr>
          <p:cNvPr id="3" name="Content Placeholder 2"/>
          <p:cNvSpPr>
            <a:spLocks noGrp="1"/>
          </p:cNvSpPr>
          <p:nvPr>
            <p:ph idx="1"/>
          </p:nvPr>
        </p:nvSpPr>
        <p:spPr>
          <a:xfrm>
            <a:off x="927463" y="1358536"/>
            <a:ext cx="5590901" cy="4101738"/>
          </a:xfrm>
        </p:spPr>
        <p:txBody>
          <a:bodyPr>
            <a:noAutofit/>
          </a:bodyPr>
          <a:lstStyle/>
          <a:p>
            <a:pPr algn="just">
              <a:defRPr/>
            </a:pPr>
            <a:r>
              <a:rPr lang="en-US" sz="2400" dirty="0">
                <a:cs typeface="Times New Roman" pitchFamily="18" charset="0"/>
              </a:rPr>
              <a:t>In this configuration, the base terminal of the transistor serves as the input, the emitter terminal is the output and the collector terminal is common for both input and output. Hence, it is named as common collector configuration. The input is applied between the base and collector while the output is taken from the emitter and collector.  </a:t>
            </a:r>
          </a:p>
          <a:p>
            <a:pPr algn="just">
              <a:defRPr/>
            </a:pPr>
            <a:r>
              <a:rPr lang="en-US" sz="2400" dirty="0">
                <a:cs typeface="Times New Roman" pitchFamily="18" charset="0"/>
              </a:rPr>
              <a:t> In common collector configuration, the collector terminal is grounded so the common collector configuration is also known as grounded collector configuration.</a:t>
            </a:r>
          </a:p>
        </p:txBody>
      </p:sp>
      <p:sp>
        <p:nvSpPr>
          <p:cNvPr id="4" name="Slide Number Placeholder 3"/>
          <p:cNvSpPr>
            <a:spLocks noGrp="1"/>
          </p:cNvSpPr>
          <p:nvPr>
            <p:ph type="sldNum" sz="quarter" idx="12"/>
          </p:nvPr>
        </p:nvSpPr>
        <p:spPr/>
        <p:txBody>
          <a:bodyPr/>
          <a:lstStyle/>
          <a:p>
            <a:fld id="{BDCDBBEF-AA6C-4BA6-85B2-A17D7F280E38}" type="slidenum">
              <a:rPr lang="en-US" smtClean="0"/>
              <a:pPr/>
              <a:t>21</a:t>
            </a:fld>
            <a:endParaRPr lang="en-US"/>
          </a:p>
        </p:txBody>
      </p:sp>
      <p:sp>
        <p:nvSpPr>
          <p:cNvPr id="6" name="TextBox 5"/>
          <p:cNvSpPr txBox="1"/>
          <p:nvPr/>
        </p:nvSpPr>
        <p:spPr>
          <a:xfrm>
            <a:off x="7296385" y="4771786"/>
            <a:ext cx="3761735" cy="369332"/>
          </a:xfrm>
          <a:prstGeom prst="rect">
            <a:avLst/>
          </a:prstGeom>
        </p:spPr>
        <p:style>
          <a:lnRef idx="2">
            <a:schemeClr val="dk1"/>
          </a:lnRef>
          <a:fillRef idx="1">
            <a:schemeClr val="lt1"/>
          </a:fillRef>
          <a:effectRef idx="0">
            <a:schemeClr val="dk1"/>
          </a:effectRef>
          <a:fontRef idx="minor">
            <a:schemeClr val="dk1"/>
          </a:fontRef>
        </p:style>
        <p:txBody>
          <a:bodyPr wrap="none" rtlCol="0">
            <a:spAutoFit/>
          </a:bodyPr>
          <a:lstStyle/>
          <a:p>
            <a:r>
              <a:rPr lang="en-US" dirty="0"/>
              <a:t>Fig.1 Common Collector Configuration</a:t>
            </a:r>
          </a:p>
        </p:txBody>
      </p:sp>
      <p:sp>
        <p:nvSpPr>
          <p:cNvPr id="7" name="Rectangle 6"/>
          <p:cNvSpPr/>
          <p:nvPr/>
        </p:nvSpPr>
        <p:spPr>
          <a:xfrm>
            <a:off x="6635163" y="5488269"/>
            <a:ext cx="4898572" cy="954107"/>
          </a:xfrm>
          <a:prstGeom prst="rect">
            <a:avLst/>
          </a:prstGeom>
        </p:spPr>
        <p:txBody>
          <a:bodyPr wrap="square">
            <a:spAutoFit/>
          </a:bodyPr>
          <a:lstStyle/>
          <a:p>
            <a:r>
              <a:rPr lang="en-US" sz="1400" b="1" dirty="0">
                <a:hlinkClick r:id="rId3"/>
              </a:rPr>
              <a:t>(</a:t>
            </a:r>
            <a:r>
              <a:rPr lang="en-US" sz="1400" b="1" dirty="0" err="1">
                <a:hlinkClick r:id="rId3"/>
              </a:rPr>
              <a:t>Source:https</a:t>
            </a:r>
            <a:r>
              <a:rPr lang="en-US" sz="1400" b="1" dirty="0">
                <a:hlinkClick r:id="rId3"/>
              </a:rPr>
              <a:t>://</a:t>
            </a:r>
            <a:r>
              <a:rPr lang="en-US" sz="1400" b="1" dirty="0" err="1">
                <a:hlinkClick r:id="rId3"/>
              </a:rPr>
              <a:t>www.physics</a:t>
            </a:r>
            <a:r>
              <a:rPr lang="en-US" sz="1400" b="1" dirty="0">
                <a:hlinkClick r:id="rId3"/>
              </a:rPr>
              <a:t>-and-radio-</a:t>
            </a:r>
            <a:r>
              <a:rPr lang="en-US" sz="1400" b="1" dirty="0" err="1">
                <a:hlinkClick r:id="rId3"/>
              </a:rPr>
              <a:t>electronics.com</a:t>
            </a:r>
            <a:r>
              <a:rPr lang="en-US" sz="1400" b="1" dirty="0">
                <a:hlinkClick r:id="rId3"/>
              </a:rPr>
              <a:t>/electronic-devices-and-circuits/transistors/</a:t>
            </a:r>
            <a:r>
              <a:rPr lang="en-US" sz="1400" b="1" dirty="0" err="1">
                <a:hlinkClick r:id="rId3"/>
              </a:rPr>
              <a:t>bipolarjunctiontransistor</a:t>
            </a:r>
            <a:r>
              <a:rPr lang="en-US" sz="1400" b="1" dirty="0">
                <a:hlinkClick r:id="rId3"/>
              </a:rPr>
              <a:t>/</a:t>
            </a:r>
            <a:r>
              <a:rPr lang="en-US" sz="1400" b="1" dirty="0" err="1">
                <a:hlinkClick r:id="rId3"/>
              </a:rPr>
              <a:t>commoncollectorconfiguration.html</a:t>
            </a:r>
            <a:r>
              <a:rPr lang="en-US" sz="1400" b="1" dirty="0"/>
              <a:t>)</a:t>
            </a:r>
          </a:p>
        </p:txBody>
      </p:sp>
      <p:sp>
        <p:nvSpPr>
          <p:cNvPr id="253954" name="AutoShape 2" descr="In common emitter configuration, the emitter terminal is grounded so the common emitter configuration is also known as grounded emitter configuration."/>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pic>
        <p:nvPicPr>
          <p:cNvPr id="253956" name="Picture 4"/>
          <p:cNvPicPr>
            <a:picLocks noChangeAspect="1" noChangeArrowheads="1"/>
          </p:cNvPicPr>
          <p:nvPr/>
        </p:nvPicPr>
        <p:blipFill>
          <a:blip r:embed="rId4"/>
          <a:srcRect/>
          <a:stretch>
            <a:fillRect/>
          </a:stretch>
        </p:blipFill>
        <p:spPr bwMode="auto">
          <a:xfrm>
            <a:off x="6822893" y="1406299"/>
            <a:ext cx="4476750" cy="3000375"/>
          </a:xfrm>
          <a:prstGeom prst="rect">
            <a:avLst/>
          </a:prstGeom>
          <a:noFill/>
          <a:ln w="9525">
            <a:noFill/>
            <a:miter lim="800000"/>
            <a:headEnd/>
            <a:tailEnd/>
          </a:ln>
          <a:effectLst/>
        </p:spPr>
      </p:pic>
    </p:spTree>
    <p:custDataLst>
      <p:tags r:id="rId1"/>
    </p:custDataLst>
    <p:extLst>
      <p:ext uri="{BB962C8B-B14F-4D97-AF65-F5344CB8AC3E}">
        <p14:creationId xmlns:p14="http://schemas.microsoft.com/office/powerpoint/2010/main" xmlns="" val="60491197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23595"/>
          </a:xfrm>
        </p:spPr>
        <p:txBody>
          <a:bodyPr>
            <a:normAutofit/>
          </a:bodyPr>
          <a:lstStyle/>
          <a:p>
            <a:pPr algn="ctr">
              <a:defRPr/>
            </a:pPr>
            <a:r>
              <a:rPr lang="en-US" b="1" dirty="0">
                <a:cs typeface="Times New Roman" pitchFamily="18" charset="0"/>
              </a:rPr>
              <a:t>Input Characteristics</a:t>
            </a:r>
          </a:p>
        </p:txBody>
      </p:sp>
      <p:sp>
        <p:nvSpPr>
          <p:cNvPr id="3" name="Content Placeholder 2"/>
          <p:cNvSpPr>
            <a:spLocks noGrp="1"/>
          </p:cNvSpPr>
          <p:nvPr>
            <p:ph idx="1"/>
          </p:nvPr>
        </p:nvSpPr>
        <p:spPr>
          <a:xfrm>
            <a:off x="1386840" y="1316176"/>
            <a:ext cx="5118463" cy="4601298"/>
          </a:xfrm>
        </p:spPr>
        <p:txBody>
          <a:bodyPr>
            <a:noAutofit/>
          </a:bodyPr>
          <a:lstStyle/>
          <a:p>
            <a:pPr algn="just">
              <a:defRPr/>
            </a:pPr>
            <a:r>
              <a:rPr lang="en-US" sz="2400" dirty="0">
                <a:cs typeface="Times New Roman" pitchFamily="18" charset="0"/>
              </a:rPr>
              <a:t>The input characteristics describe the relationship between input current or base current (IB) and input voltage or base-collector voltage (VBC).</a:t>
            </a:r>
            <a:r>
              <a:rPr lang="en-US" sz="2400" dirty="0">
                <a:solidFill>
                  <a:srgbClr val="FF00FF"/>
                </a:solidFill>
                <a:cs typeface="Times New Roman" pitchFamily="18" charset="0"/>
              </a:rPr>
              <a:t/>
            </a:r>
            <a:br>
              <a:rPr lang="en-US" sz="2400" dirty="0">
                <a:solidFill>
                  <a:srgbClr val="FF00FF"/>
                </a:solidFill>
                <a:cs typeface="Times New Roman" pitchFamily="18" charset="0"/>
              </a:rPr>
            </a:br>
            <a:endParaRPr lang="en-US" sz="2400" dirty="0">
              <a:solidFill>
                <a:srgbClr val="FF00FF"/>
              </a:solidFill>
              <a:cs typeface="Times New Roman" pitchFamily="18" charset="0"/>
            </a:endParaRPr>
          </a:p>
          <a:p>
            <a:pPr algn="just">
              <a:defRPr/>
            </a:pPr>
            <a:r>
              <a:rPr lang="en-US" sz="2400" dirty="0">
                <a:cs typeface="Times New Roman" pitchFamily="18" charset="0"/>
              </a:rPr>
              <a:t>First, draw a vertical line and a horizontal line. The vertical line represents y-axis and horizontal line represents x-ax</a:t>
            </a:r>
          </a:p>
          <a:p>
            <a:pPr algn="just">
              <a:defRPr/>
            </a:pPr>
            <a:r>
              <a:rPr lang="en-US" sz="2400" dirty="0">
                <a:cs typeface="Times New Roman" pitchFamily="18" charset="0"/>
              </a:rPr>
              <a:t>The input current or base current (IB) is taken along y-axis (vertical line) and the input voltage or base-collector voltage (VBC) is taken along x-axis (horizontal line). </a:t>
            </a:r>
          </a:p>
        </p:txBody>
      </p:sp>
      <p:sp>
        <p:nvSpPr>
          <p:cNvPr id="4" name="Slide Number Placeholder 3"/>
          <p:cNvSpPr>
            <a:spLocks noGrp="1"/>
          </p:cNvSpPr>
          <p:nvPr>
            <p:ph type="sldNum" sz="quarter" idx="12"/>
          </p:nvPr>
        </p:nvSpPr>
        <p:spPr/>
        <p:txBody>
          <a:bodyPr/>
          <a:lstStyle/>
          <a:p>
            <a:fld id="{BDCDBBEF-AA6C-4BA6-85B2-A17D7F280E38}" type="slidenum">
              <a:rPr lang="en-US" smtClean="0"/>
              <a:pPr/>
              <a:t>22</a:t>
            </a:fld>
            <a:endParaRPr lang="en-US"/>
          </a:p>
        </p:txBody>
      </p:sp>
      <p:sp>
        <p:nvSpPr>
          <p:cNvPr id="8" name="TextBox 7"/>
          <p:cNvSpPr txBox="1"/>
          <p:nvPr/>
        </p:nvSpPr>
        <p:spPr>
          <a:xfrm>
            <a:off x="6845718" y="4963885"/>
            <a:ext cx="4491551" cy="369332"/>
          </a:xfrm>
          <a:prstGeom prst="rect">
            <a:avLst/>
          </a:prstGeom>
        </p:spPr>
        <p:style>
          <a:lnRef idx="2">
            <a:schemeClr val="dk1"/>
          </a:lnRef>
          <a:fillRef idx="1">
            <a:schemeClr val="lt1"/>
          </a:fillRef>
          <a:effectRef idx="0">
            <a:schemeClr val="dk1"/>
          </a:effectRef>
          <a:fontRef idx="minor">
            <a:schemeClr val="dk1"/>
          </a:fontRef>
        </p:style>
        <p:txBody>
          <a:bodyPr wrap="none" rtlCol="0">
            <a:spAutoFit/>
          </a:bodyPr>
          <a:lstStyle/>
          <a:p>
            <a:r>
              <a:rPr lang="en-US" dirty="0"/>
              <a:t>Fig.3 Input characteristics of CC Configuration </a:t>
            </a:r>
          </a:p>
        </p:txBody>
      </p:sp>
      <p:pic>
        <p:nvPicPr>
          <p:cNvPr id="252930" name="Picture 2"/>
          <p:cNvPicPr>
            <a:picLocks noChangeAspect="1" noChangeArrowheads="1"/>
          </p:cNvPicPr>
          <p:nvPr/>
        </p:nvPicPr>
        <p:blipFill>
          <a:blip r:embed="rId3"/>
          <a:srcRect/>
          <a:stretch>
            <a:fillRect/>
          </a:stretch>
        </p:blipFill>
        <p:spPr bwMode="auto">
          <a:xfrm>
            <a:off x="7040881" y="1515291"/>
            <a:ext cx="4075610" cy="3409406"/>
          </a:xfrm>
          <a:prstGeom prst="rect">
            <a:avLst/>
          </a:prstGeom>
          <a:noFill/>
          <a:ln w="9525">
            <a:noFill/>
            <a:miter lim="800000"/>
            <a:headEnd/>
            <a:tailEnd/>
          </a:ln>
          <a:effectLst/>
        </p:spPr>
      </p:pic>
      <p:sp>
        <p:nvSpPr>
          <p:cNvPr id="11" name="Rectangle 10"/>
          <p:cNvSpPr/>
          <p:nvPr/>
        </p:nvSpPr>
        <p:spPr>
          <a:xfrm>
            <a:off x="6829426" y="5469893"/>
            <a:ext cx="4661398" cy="954107"/>
          </a:xfrm>
          <a:prstGeom prst="rect">
            <a:avLst/>
          </a:prstGeom>
        </p:spPr>
        <p:txBody>
          <a:bodyPr wrap="square">
            <a:spAutoFit/>
          </a:bodyPr>
          <a:lstStyle/>
          <a:p>
            <a:r>
              <a:rPr lang="en-US" sz="1400" b="1" dirty="0">
                <a:hlinkClick r:id="rId4"/>
              </a:rPr>
              <a:t>(</a:t>
            </a:r>
            <a:r>
              <a:rPr lang="en-US" sz="1400" b="1" dirty="0" err="1">
                <a:hlinkClick r:id="rId4"/>
              </a:rPr>
              <a:t>Source:https</a:t>
            </a:r>
            <a:r>
              <a:rPr lang="en-US" sz="1400" b="1" dirty="0">
                <a:hlinkClick r:id="rId4"/>
              </a:rPr>
              <a:t>://</a:t>
            </a:r>
            <a:r>
              <a:rPr lang="en-US" sz="1400" b="1" dirty="0" err="1">
                <a:hlinkClick r:id="rId4"/>
              </a:rPr>
              <a:t>www.physics</a:t>
            </a:r>
            <a:r>
              <a:rPr lang="en-US" sz="1400" b="1" dirty="0">
                <a:hlinkClick r:id="rId4"/>
              </a:rPr>
              <a:t>-and-radio-</a:t>
            </a:r>
            <a:r>
              <a:rPr lang="en-US" sz="1400" b="1" dirty="0" err="1">
                <a:hlinkClick r:id="rId4"/>
              </a:rPr>
              <a:t>electronics.com</a:t>
            </a:r>
            <a:r>
              <a:rPr lang="en-US" sz="1400" b="1" dirty="0">
                <a:hlinkClick r:id="rId4"/>
              </a:rPr>
              <a:t>/electronic-devices-and-circuits/transistors/</a:t>
            </a:r>
            <a:r>
              <a:rPr lang="en-US" sz="1400" b="1" dirty="0" err="1">
                <a:hlinkClick r:id="rId4"/>
              </a:rPr>
              <a:t>bipolarjunctiontransistor</a:t>
            </a:r>
            <a:r>
              <a:rPr lang="en-US" sz="1400" b="1" dirty="0">
                <a:hlinkClick r:id="rId4"/>
              </a:rPr>
              <a:t>/</a:t>
            </a:r>
            <a:r>
              <a:rPr lang="en-US" sz="1400" b="1" dirty="0" err="1">
                <a:hlinkClick r:id="rId4"/>
              </a:rPr>
              <a:t>commoncollectorconfiguration.html</a:t>
            </a:r>
            <a:r>
              <a:rPr lang="en-US" sz="1400" b="1" dirty="0"/>
              <a:t>)</a:t>
            </a:r>
          </a:p>
        </p:txBody>
      </p:sp>
    </p:spTree>
    <p:custDataLst>
      <p:tags r:id="rId1"/>
    </p:custDataLst>
    <p:extLst>
      <p:ext uri="{BB962C8B-B14F-4D97-AF65-F5344CB8AC3E}">
        <p14:creationId xmlns:p14="http://schemas.microsoft.com/office/powerpoint/2010/main" xmlns="" val="60491197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18457" y="365126"/>
            <a:ext cx="11234057" cy="993412"/>
          </a:xfrm>
        </p:spPr>
        <p:txBody>
          <a:bodyPr>
            <a:normAutofit fontScale="90000"/>
          </a:bodyPr>
          <a:lstStyle/>
          <a:p>
            <a:pPr algn="ctr">
              <a:defRPr/>
            </a:pPr>
            <a:r>
              <a:rPr lang="en-US" b="1" dirty="0">
                <a:cs typeface="Times New Roman" pitchFamily="18" charset="0"/>
              </a:rPr>
              <a:t>Curve between input current IB and input voltage VBC</a:t>
            </a:r>
          </a:p>
        </p:txBody>
      </p:sp>
      <p:sp>
        <p:nvSpPr>
          <p:cNvPr id="3" name="Content Placeholder 2"/>
          <p:cNvSpPr>
            <a:spLocks noGrp="1"/>
          </p:cNvSpPr>
          <p:nvPr>
            <p:ph idx="1"/>
          </p:nvPr>
        </p:nvSpPr>
        <p:spPr>
          <a:xfrm>
            <a:off x="1295399" y="1254033"/>
            <a:ext cx="9794966" cy="4284617"/>
          </a:xfrm>
        </p:spPr>
        <p:txBody>
          <a:bodyPr>
            <a:noAutofit/>
          </a:bodyPr>
          <a:lstStyle/>
          <a:p>
            <a:pPr algn="just">
              <a:defRPr/>
            </a:pPr>
            <a:r>
              <a:rPr lang="en-US" sz="2400" dirty="0"/>
              <a:t> </a:t>
            </a:r>
            <a:r>
              <a:rPr lang="en-US" dirty="0"/>
              <a:t>T</a:t>
            </a:r>
            <a:r>
              <a:rPr lang="en-US" dirty="0">
                <a:cs typeface="Times New Roman" pitchFamily="18" charset="0"/>
              </a:rPr>
              <a:t>o determine the input characteristics, the output voltage VEC is kept constant at 3V and the input voltage VBC is increased from zero volts to different voltage levels. For each level of input voltage VBC, the corresponding input current IB is noted. A curve is then drawn between input current IB and input voltage VBC at constant output voltage VEC (3V).</a:t>
            </a:r>
          </a:p>
          <a:p>
            <a:pPr algn="just">
              <a:defRPr/>
            </a:pPr>
            <a:r>
              <a:rPr lang="en-US" dirty="0">
                <a:cs typeface="Times New Roman" pitchFamily="18" charset="0"/>
              </a:rPr>
              <a:t>After we kept the output voltage VEC constant at 5V, the input voltage VBC is increased from zero volts to different voltage levels. For each level of input voltage VBC, the corresponding input current IB is noted. A curve is then drawn between input current IB and input voltage VBC at constant output voltage VEC (5V).</a:t>
            </a:r>
          </a:p>
          <a:p>
            <a:pPr algn="just">
              <a:defRPr/>
            </a:pPr>
            <a:r>
              <a:rPr lang="en-US" dirty="0">
                <a:cs typeface="Times New Roman" pitchFamily="18" charset="0"/>
              </a:rPr>
              <a:t>This process is repeated for higher fixed values of output voltage (VEC).</a:t>
            </a:r>
          </a:p>
          <a:p>
            <a:pPr algn="just">
              <a:defRPr/>
            </a:pPr>
            <a:endParaRPr lang="en-US" dirty="0">
              <a:cs typeface="Times New Roman" pitchFamily="18" charset="0"/>
            </a:endParaRPr>
          </a:p>
        </p:txBody>
      </p:sp>
      <p:sp>
        <p:nvSpPr>
          <p:cNvPr id="4" name="Slide Number Placeholder 3"/>
          <p:cNvSpPr>
            <a:spLocks noGrp="1"/>
          </p:cNvSpPr>
          <p:nvPr>
            <p:ph type="sldNum" sz="quarter" idx="12"/>
          </p:nvPr>
        </p:nvSpPr>
        <p:spPr/>
        <p:txBody>
          <a:bodyPr/>
          <a:lstStyle/>
          <a:p>
            <a:fld id="{BDCDBBEF-AA6C-4BA6-85B2-A17D7F280E38}" type="slidenum">
              <a:rPr lang="en-US" smtClean="0"/>
              <a:pPr/>
              <a:t>23</a:t>
            </a:fld>
            <a:endParaRPr lang="en-US"/>
          </a:p>
        </p:txBody>
      </p:sp>
    </p:spTree>
    <p:custDataLst>
      <p:tags r:id="rId1"/>
    </p:custDataLst>
    <p:extLst>
      <p:ext uri="{BB962C8B-B14F-4D97-AF65-F5344CB8AC3E}">
        <p14:creationId xmlns:p14="http://schemas.microsoft.com/office/powerpoint/2010/main" xmlns="" val="60491197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64326" y="247560"/>
            <a:ext cx="10515600" cy="915033"/>
          </a:xfrm>
        </p:spPr>
        <p:txBody>
          <a:bodyPr>
            <a:normAutofit/>
          </a:bodyPr>
          <a:lstStyle/>
          <a:p>
            <a:pPr algn="ctr">
              <a:defRPr/>
            </a:pPr>
            <a:r>
              <a:rPr lang="en-US" b="1" dirty="0">
                <a:cs typeface="Times New Roman" pitchFamily="18" charset="0"/>
              </a:rPr>
              <a:t>Output Characteristics</a:t>
            </a:r>
          </a:p>
        </p:txBody>
      </p:sp>
      <p:sp>
        <p:nvSpPr>
          <p:cNvPr id="3" name="Content Placeholder 2"/>
          <p:cNvSpPr>
            <a:spLocks noGrp="1"/>
          </p:cNvSpPr>
          <p:nvPr>
            <p:ph idx="1"/>
          </p:nvPr>
        </p:nvSpPr>
        <p:spPr>
          <a:xfrm>
            <a:off x="1005840" y="1146359"/>
            <a:ext cx="6126479" cy="4601298"/>
          </a:xfrm>
        </p:spPr>
        <p:txBody>
          <a:bodyPr>
            <a:noAutofit/>
          </a:bodyPr>
          <a:lstStyle/>
          <a:p>
            <a:pPr algn="just"/>
            <a:r>
              <a:rPr lang="en-US" dirty="0">
                <a:cs typeface="Times New Roman" pitchFamily="18" charset="0"/>
              </a:rPr>
              <a:t>The output characteristics describe the relationship between output current or emitter current (IE) and output voltage or emitter-collector voltage (VEC).</a:t>
            </a:r>
          </a:p>
          <a:p>
            <a:pPr algn="just"/>
            <a:r>
              <a:rPr lang="en-US" dirty="0">
                <a:cs typeface="Times New Roman" pitchFamily="18" charset="0"/>
              </a:rPr>
              <a:t>First, draw a vertical line and a horizontal line. The vertical line represents y-axis and horizontal line represents x-axis. </a:t>
            </a:r>
          </a:p>
          <a:p>
            <a:pPr algn="just"/>
            <a:r>
              <a:rPr lang="en-US" dirty="0">
                <a:cs typeface="Times New Roman" pitchFamily="18" charset="0"/>
              </a:rPr>
              <a:t>The output current or emitter current (IE) is taken along y-axis (vertical line) and the output voltage or emitter-collector voltage (VEC) is taken along x-axis (horizontal line).</a:t>
            </a:r>
          </a:p>
          <a:p>
            <a:pPr algn="just">
              <a:buNone/>
            </a:pPr>
            <a:endParaRPr lang="en-US" sz="2400"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BDCDBBEF-AA6C-4BA6-85B2-A17D7F280E38}" type="slidenum">
              <a:rPr lang="en-US" smtClean="0"/>
              <a:pPr/>
              <a:t>24</a:t>
            </a:fld>
            <a:endParaRPr lang="en-US"/>
          </a:p>
        </p:txBody>
      </p:sp>
      <p:sp>
        <p:nvSpPr>
          <p:cNvPr id="8" name="TextBox 7"/>
          <p:cNvSpPr txBox="1"/>
          <p:nvPr/>
        </p:nvSpPr>
        <p:spPr>
          <a:xfrm>
            <a:off x="7101538" y="5172892"/>
            <a:ext cx="4685513" cy="369332"/>
          </a:xfrm>
          <a:prstGeom prst="rect">
            <a:avLst/>
          </a:prstGeom>
        </p:spPr>
        <p:style>
          <a:lnRef idx="2">
            <a:schemeClr val="dk1"/>
          </a:lnRef>
          <a:fillRef idx="1">
            <a:schemeClr val="lt1"/>
          </a:fillRef>
          <a:effectRef idx="0">
            <a:schemeClr val="dk1"/>
          </a:effectRef>
          <a:fontRef idx="minor">
            <a:schemeClr val="dk1"/>
          </a:fontRef>
        </p:style>
        <p:txBody>
          <a:bodyPr wrap="none" rtlCol="0">
            <a:spAutoFit/>
          </a:bodyPr>
          <a:lstStyle/>
          <a:p>
            <a:r>
              <a:rPr lang="en-US" dirty="0"/>
              <a:t>Fig.4 output  characteristics of CE Configuration </a:t>
            </a:r>
          </a:p>
        </p:txBody>
      </p:sp>
      <p:pic>
        <p:nvPicPr>
          <p:cNvPr id="261123" name="Picture 3"/>
          <p:cNvPicPr>
            <a:picLocks noChangeAspect="1" noChangeArrowheads="1"/>
          </p:cNvPicPr>
          <p:nvPr/>
        </p:nvPicPr>
        <p:blipFill>
          <a:blip r:embed="rId3"/>
          <a:srcRect/>
          <a:stretch>
            <a:fillRect/>
          </a:stretch>
        </p:blipFill>
        <p:spPr bwMode="auto">
          <a:xfrm>
            <a:off x="7289074" y="1187087"/>
            <a:ext cx="4400278" cy="3620044"/>
          </a:xfrm>
          <a:prstGeom prst="rect">
            <a:avLst/>
          </a:prstGeom>
          <a:noFill/>
          <a:ln w="9525">
            <a:noFill/>
            <a:miter lim="800000"/>
            <a:headEnd/>
            <a:tailEnd/>
          </a:ln>
          <a:effectLst/>
        </p:spPr>
      </p:pic>
      <p:sp>
        <p:nvSpPr>
          <p:cNvPr id="12" name="Rectangle 11"/>
          <p:cNvSpPr/>
          <p:nvPr/>
        </p:nvSpPr>
        <p:spPr>
          <a:xfrm>
            <a:off x="7289073" y="5683798"/>
            <a:ext cx="4284617" cy="954107"/>
          </a:xfrm>
          <a:prstGeom prst="rect">
            <a:avLst/>
          </a:prstGeom>
        </p:spPr>
        <p:txBody>
          <a:bodyPr wrap="square">
            <a:spAutoFit/>
          </a:bodyPr>
          <a:lstStyle/>
          <a:p>
            <a:r>
              <a:rPr lang="en-US" sz="1400" b="1" dirty="0">
                <a:hlinkClick r:id="rId4"/>
              </a:rPr>
              <a:t>(</a:t>
            </a:r>
            <a:r>
              <a:rPr lang="en-US" sz="1400" b="1" dirty="0" err="1">
                <a:hlinkClick r:id="rId4"/>
              </a:rPr>
              <a:t>Source:https</a:t>
            </a:r>
            <a:r>
              <a:rPr lang="en-US" sz="1400" b="1" dirty="0">
                <a:hlinkClick r:id="rId4"/>
              </a:rPr>
              <a:t>://</a:t>
            </a:r>
            <a:r>
              <a:rPr lang="en-US" sz="1400" b="1" dirty="0" err="1">
                <a:hlinkClick r:id="rId4"/>
              </a:rPr>
              <a:t>www.physics</a:t>
            </a:r>
            <a:r>
              <a:rPr lang="en-US" sz="1400" b="1" dirty="0">
                <a:hlinkClick r:id="rId4"/>
              </a:rPr>
              <a:t>-and-radio-</a:t>
            </a:r>
            <a:r>
              <a:rPr lang="en-US" sz="1400" b="1" dirty="0" err="1">
                <a:hlinkClick r:id="rId4"/>
              </a:rPr>
              <a:t>electronics.com</a:t>
            </a:r>
            <a:r>
              <a:rPr lang="en-US" sz="1400" b="1" dirty="0">
                <a:hlinkClick r:id="rId4"/>
              </a:rPr>
              <a:t>/electronic-devices-and-circuits/transistors/</a:t>
            </a:r>
            <a:r>
              <a:rPr lang="en-US" sz="1400" b="1" dirty="0" err="1">
                <a:hlinkClick r:id="rId4"/>
              </a:rPr>
              <a:t>bipolarjunctiontransistor</a:t>
            </a:r>
            <a:r>
              <a:rPr lang="en-US" sz="1400" b="1" dirty="0">
                <a:hlinkClick r:id="rId4"/>
              </a:rPr>
              <a:t>/</a:t>
            </a:r>
            <a:r>
              <a:rPr lang="en-US" sz="1400" b="1" dirty="0" err="1">
                <a:hlinkClick r:id="rId4"/>
              </a:rPr>
              <a:t>commoncollectorconfiguration.html</a:t>
            </a:r>
            <a:r>
              <a:rPr lang="en-US" sz="1400" b="1" dirty="0"/>
              <a:t>)</a:t>
            </a:r>
          </a:p>
        </p:txBody>
      </p:sp>
    </p:spTree>
    <p:custDataLst>
      <p:tags r:id="rId1"/>
    </p:custDataLst>
    <p:extLst>
      <p:ext uri="{BB962C8B-B14F-4D97-AF65-F5344CB8AC3E}">
        <p14:creationId xmlns:p14="http://schemas.microsoft.com/office/powerpoint/2010/main" xmlns="" val="60491197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18457" y="365126"/>
            <a:ext cx="11234057" cy="993412"/>
          </a:xfrm>
        </p:spPr>
        <p:txBody>
          <a:bodyPr>
            <a:normAutofit fontScale="90000"/>
          </a:bodyPr>
          <a:lstStyle/>
          <a:p>
            <a:pPr algn="ctr">
              <a:defRPr/>
            </a:pPr>
            <a:r>
              <a:rPr lang="en-US" b="1" dirty="0">
                <a:latin typeface="Times New Roman" pitchFamily="18" charset="0"/>
                <a:cs typeface="Times New Roman" pitchFamily="18" charset="0"/>
              </a:rPr>
              <a:t> </a:t>
            </a:r>
            <a:r>
              <a:rPr lang="en-US" b="1" dirty="0">
                <a:cs typeface="Times New Roman" pitchFamily="18" charset="0"/>
              </a:rPr>
              <a:t>Curve between output current IE and output voltage VEC</a:t>
            </a:r>
          </a:p>
        </p:txBody>
      </p:sp>
      <p:sp>
        <p:nvSpPr>
          <p:cNvPr id="3" name="Content Placeholder 2"/>
          <p:cNvSpPr>
            <a:spLocks noGrp="1"/>
          </p:cNvSpPr>
          <p:nvPr>
            <p:ph idx="1"/>
          </p:nvPr>
        </p:nvSpPr>
        <p:spPr>
          <a:xfrm>
            <a:off x="1112519" y="1371599"/>
            <a:ext cx="10461171" cy="4506685"/>
          </a:xfrm>
        </p:spPr>
        <p:txBody>
          <a:bodyPr>
            <a:noAutofit/>
          </a:bodyPr>
          <a:lstStyle/>
          <a:p>
            <a:pPr algn="just">
              <a:defRPr/>
            </a:pPr>
            <a:r>
              <a:rPr lang="en-US" sz="2400" dirty="0"/>
              <a:t> </a:t>
            </a:r>
            <a:r>
              <a:rPr lang="en-US" dirty="0">
                <a:cs typeface="Times New Roman" pitchFamily="18" charset="0"/>
              </a:rPr>
              <a:t>In common collector configuration, if the input current or base current is zero then the output current or emitter current is also zero. As a result, no current flows through the transistor. So the transistor will be in the cutoff region.</a:t>
            </a:r>
          </a:p>
          <a:p>
            <a:pPr algn="just">
              <a:defRPr/>
            </a:pPr>
            <a:r>
              <a:rPr lang="en-US" dirty="0">
                <a:cs typeface="Times New Roman" pitchFamily="18" charset="0"/>
              </a:rPr>
              <a:t> If the base current is slightly increased then the output current or emitter current also increases. So the transistor falls into the active region. If the base current is heavily increased then the current flowing through the transistor also heavily increases. As a result, the transistor falls into the saturation region. </a:t>
            </a:r>
          </a:p>
          <a:p>
            <a:pPr algn="just">
              <a:defRPr/>
            </a:pPr>
            <a:endParaRPr lang="en-US"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BDCDBBEF-AA6C-4BA6-85B2-A17D7F280E38}" type="slidenum">
              <a:rPr lang="en-US" smtClean="0"/>
              <a:pPr/>
              <a:t>25</a:t>
            </a:fld>
            <a:endParaRPr lang="en-US"/>
          </a:p>
        </p:txBody>
      </p:sp>
    </p:spTree>
    <p:custDataLst>
      <p:tags r:id="rId1"/>
    </p:custDataLst>
    <p:extLst>
      <p:ext uri="{BB962C8B-B14F-4D97-AF65-F5344CB8AC3E}">
        <p14:creationId xmlns:p14="http://schemas.microsoft.com/office/powerpoint/2010/main" xmlns="" val="60491197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18457" y="365126"/>
            <a:ext cx="11234057" cy="993412"/>
          </a:xfrm>
        </p:spPr>
        <p:txBody>
          <a:bodyPr>
            <a:normAutofit fontScale="90000"/>
          </a:bodyPr>
          <a:lstStyle/>
          <a:p>
            <a:pPr algn="ctr">
              <a:defRPr/>
            </a:pPr>
            <a:r>
              <a:rPr lang="en-US" b="1" dirty="0">
                <a:latin typeface="Times New Roman" pitchFamily="18" charset="0"/>
                <a:cs typeface="Times New Roman" pitchFamily="18" charset="0"/>
              </a:rPr>
              <a:t> </a:t>
            </a:r>
            <a:r>
              <a:rPr lang="en-US" b="1" dirty="0">
                <a:cs typeface="Times New Roman" pitchFamily="18" charset="0"/>
              </a:rPr>
              <a:t>Curve between output current IE and output voltage VEC</a:t>
            </a:r>
          </a:p>
        </p:txBody>
      </p:sp>
      <p:sp>
        <p:nvSpPr>
          <p:cNvPr id="3" name="Content Placeholder 2"/>
          <p:cNvSpPr>
            <a:spLocks noGrp="1"/>
          </p:cNvSpPr>
          <p:nvPr>
            <p:ph idx="1"/>
          </p:nvPr>
        </p:nvSpPr>
        <p:spPr>
          <a:xfrm>
            <a:off x="1112519" y="1371599"/>
            <a:ext cx="10461171" cy="4506685"/>
          </a:xfrm>
        </p:spPr>
        <p:txBody>
          <a:bodyPr>
            <a:noAutofit/>
          </a:bodyPr>
          <a:lstStyle/>
          <a:p>
            <a:pPr algn="just">
              <a:defRPr/>
            </a:pPr>
            <a:r>
              <a:rPr lang="en-US" sz="2400" dirty="0"/>
              <a:t> </a:t>
            </a:r>
            <a:r>
              <a:rPr lang="en-US" dirty="0">
                <a:cs typeface="Times New Roman" pitchFamily="18" charset="0"/>
              </a:rPr>
              <a:t>In common collector configuration, if the input current or base current is zero then the output current or emitter current is also zero. As a result, no current flows through the transistor. So the transistor will be in the cutoff region.</a:t>
            </a:r>
          </a:p>
          <a:p>
            <a:pPr algn="just">
              <a:defRPr/>
            </a:pPr>
            <a:r>
              <a:rPr lang="en-US" dirty="0">
                <a:cs typeface="Times New Roman" pitchFamily="18" charset="0"/>
              </a:rPr>
              <a:t> If the base current is slightly increased then the output current or emitter current also increases. So the transistor falls into the active region. If the base current is heavily increased then the current flowing through the transistor also heavily increases. As a result, the transistor falls into the saturation region. </a:t>
            </a:r>
          </a:p>
          <a:p>
            <a:pPr algn="just">
              <a:defRPr/>
            </a:pPr>
            <a:endParaRPr lang="en-US"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BDCDBBEF-AA6C-4BA6-85B2-A17D7F280E38}" type="slidenum">
              <a:rPr lang="en-US" smtClean="0"/>
              <a:pPr/>
              <a:t>26</a:t>
            </a:fld>
            <a:endParaRPr lang="en-US"/>
          </a:p>
        </p:txBody>
      </p:sp>
    </p:spTree>
    <p:custDataLst>
      <p:tags r:id="rId1"/>
    </p:custDataLst>
    <p:extLst>
      <p:ext uri="{BB962C8B-B14F-4D97-AF65-F5344CB8AC3E}">
        <p14:creationId xmlns:p14="http://schemas.microsoft.com/office/powerpoint/2010/main" xmlns="" val="60491197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18457" y="365126"/>
            <a:ext cx="11234057" cy="562337"/>
          </a:xfrm>
        </p:spPr>
        <p:txBody>
          <a:bodyPr>
            <a:normAutofit fontScale="90000"/>
          </a:bodyPr>
          <a:lstStyle/>
          <a:p>
            <a:pPr algn="ctr">
              <a:defRPr/>
            </a:pPr>
            <a:r>
              <a:rPr lang="en-US" b="1" dirty="0">
                <a:latin typeface="Times New Roman" pitchFamily="18" charset="0"/>
                <a:cs typeface="Times New Roman" pitchFamily="18" charset="0"/>
              </a:rPr>
              <a:t> </a:t>
            </a:r>
            <a:r>
              <a:rPr lang="en-US" b="1" dirty="0">
                <a:cs typeface="Times New Roman" pitchFamily="18" charset="0"/>
              </a:rPr>
              <a:t>Curve between output current IC and output voltage VCE </a:t>
            </a:r>
          </a:p>
        </p:txBody>
      </p:sp>
      <p:sp>
        <p:nvSpPr>
          <p:cNvPr id="3" name="Content Placeholder 2"/>
          <p:cNvSpPr>
            <a:spLocks noGrp="1"/>
          </p:cNvSpPr>
          <p:nvPr>
            <p:ph idx="1"/>
          </p:nvPr>
        </p:nvSpPr>
        <p:spPr>
          <a:xfrm>
            <a:off x="1008018" y="1188720"/>
            <a:ext cx="10356668" cy="3997234"/>
          </a:xfrm>
        </p:spPr>
        <p:txBody>
          <a:bodyPr>
            <a:noAutofit/>
          </a:bodyPr>
          <a:lstStyle/>
          <a:p>
            <a:pPr algn="just"/>
            <a:r>
              <a:rPr lang="en-US" sz="2400" dirty="0">
                <a:latin typeface="Times New Roman" pitchFamily="18" charset="0"/>
                <a:cs typeface="Times New Roman" pitchFamily="18" charset="0"/>
              </a:rPr>
              <a:t> </a:t>
            </a:r>
            <a:r>
              <a:rPr lang="en-US" dirty="0">
                <a:cs typeface="Times New Roman" pitchFamily="18" charset="0"/>
              </a:rPr>
              <a:t>A curve is then drawn between output current I</a:t>
            </a:r>
            <a:r>
              <a:rPr lang="en-US" baseline="-25000" dirty="0">
                <a:cs typeface="Times New Roman" pitchFamily="18" charset="0"/>
              </a:rPr>
              <a:t>C</a:t>
            </a:r>
            <a:r>
              <a:rPr lang="en-US" dirty="0">
                <a:cs typeface="Times New Roman" pitchFamily="18" charset="0"/>
              </a:rPr>
              <a:t> and output voltage V</a:t>
            </a:r>
            <a:r>
              <a:rPr lang="en-US" baseline="-25000" dirty="0">
                <a:cs typeface="Times New Roman" pitchFamily="18" charset="0"/>
              </a:rPr>
              <a:t>CE</a:t>
            </a:r>
            <a:r>
              <a:rPr lang="en-US" dirty="0">
                <a:cs typeface="Times New Roman" pitchFamily="18" charset="0"/>
              </a:rPr>
              <a:t> at constant input current I</a:t>
            </a:r>
            <a:r>
              <a:rPr lang="en-US" baseline="-25000" dirty="0">
                <a:cs typeface="Times New Roman" pitchFamily="18" charset="0"/>
              </a:rPr>
              <a:t>B</a:t>
            </a:r>
            <a:r>
              <a:rPr lang="en-US" dirty="0">
                <a:cs typeface="Times New Roman" pitchFamily="18" charset="0"/>
              </a:rPr>
              <a:t> (20 </a:t>
            </a:r>
            <a:r>
              <a:rPr lang="en-US" dirty="0" err="1">
                <a:cs typeface="Times New Roman" pitchFamily="18" charset="0"/>
              </a:rPr>
              <a:t>μA</a:t>
            </a:r>
            <a:r>
              <a:rPr lang="en-US" dirty="0">
                <a:cs typeface="Times New Roman" pitchFamily="18" charset="0"/>
              </a:rPr>
              <a:t>). This region is known as the active region of a transistor. In this region, emitter-base junction is forward biased and the collector-base junction is reverse biased.</a:t>
            </a:r>
          </a:p>
          <a:p>
            <a:pPr algn="just"/>
            <a:r>
              <a:rPr lang="en-US" dirty="0">
                <a:cs typeface="Times New Roman" pitchFamily="18" charset="0"/>
              </a:rPr>
              <a:t>This steps are repeated for higher fixed values of input current I</a:t>
            </a:r>
            <a:r>
              <a:rPr lang="en-US" baseline="-25000" dirty="0">
                <a:cs typeface="Times New Roman" pitchFamily="18" charset="0"/>
              </a:rPr>
              <a:t>B</a:t>
            </a:r>
            <a:r>
              <a:rPr lang="en-US" dirty="0">
                <a:cs typeface="Times New Roman" pitchFamily="18" charset="0"/>
              </a:rPr>
              <a:t> (I.e. 40 </a:t>
            </a:r>
            <a:r>
              <a:rPr lang="en-US" dirty="0" err="1">
                <a:cs typeface="Times New Roman" pitchFamily="18" charset="0"/>
              </a:rPr>
              <a:t>μA</a:t>
            </a:r>
            <a:r>
              <a:rPr lang="en-US" dirty="0">
                <a:cs typeface="Times New Roman" pitchFamily="18" charset="0"/>
              </a:rPr>
              <a:t>, 60 </a:t>
            </a:r>
            <a:r>
              <a:rPr lang="en-US" dirty="0" err="1">
                <a:cs typeface="Times New Roman" pitchFamily="18" charset="0"/>
              </a:rPr>
              <a:t>μA</a:t>
            </a:r>
            <a:r>
              <a:rPr lang="en-US" dirty="0">
                <a:cs typeface="Times New Roman" pitchFamily="18" charset="0"/>
              </a:rPr>
              <a:t>, 80 </a:t>
            </a:r>
            <a:r>
              <a:rPr lang="en-US" dirty="0" err="1">
                <a:cs typeface="Times New Roman" pitchFamily="18" charset="0"/>
              </a:rPr>
              <a:t>μA</a:t>
            </a:r>
            <a:r>
              <a:rPr lang="en-US" dirty="0">
                <a:cs typeface="Times New Roman" pitchFamily="18" charset="0"/>
              </a:rPr>
              <a:t> and so on).</a:t>
            </a:r>
          </a:p>
          <a:p>
            <a:pPr algn="just"/>
            <a:r>
              <a:rPr lang="en-US" dirty="0">
                <a:cs typeface="Times New Roman" pitchFamily="18" charset="0"/>
              </a:rPr>
              <a:t>When output voltage V</a:t>
            </a:r>
            <a:r>
              <a:rPr lang="en-US" baseline="-25000" dirty="0">
                <a:cs typeface="Times New Roman" pitchFamily="18" charset="0"/>
              </a:rPr>
              <a:t>CE</a:t>
            </a:r>
            <a:r>
              <a:rPr lang="en-US" dirty="0">
                <a:cs typeface="Times New Roman" pitchFamily="18" charset="0"/>
              </a:rPr>
              <a:t> is reduced to a small value (0.2 V), the collector-base junction becomes forward biased. This is because the output voltage V</a:t>
            </a:r>
            <a:r>
              <a:rPr lang="en-US" baseline="-25000" dirty="0">
                <a:cs typeface="Times New Roman" pitchFamily="18" charset="0"/>
              </a:rPr>
              <a:t>CE</a:t>
            </a:r>
            <a:r>
              <a:rPr lang="en-US" dirty="0">
                <a:cs typeface="Times New Roman" pitchFamily="18" charset="0"/>
              </a:rPr>
              <a:t> has less effect on collector-base junction than input voltage V</a:t>
            </a:r>
            <a:r>
              <a:rPr lang="en-US" baseline="-25000" dirty="0">
                <a:cs typeface="Times New Roman" pitchFamily="18" charset="0"/>
              </a:rPr>
              <a:t>BE</a:t>
            </a:r>
            <a:r>
              <a:rPr lang="en-US" dirty="0">
                <a:cs typeface="Times New Roman" pitchFamily="18" charset="0"/>
              </a:rPr>
              <a:t>.</a:t>
            </a:r>
          </a:p>
          <a:p>
            <a:pPr algn="just"/>
            <a:r>
              <a:rPr lang="en-US" dirty="0">
                <a:cs typeface="Times New Roman" pitchFamily="18" charset="0"/>
              </a:rPr>
              <a:t>As we know that the emitter-base junction is already forward biased. Therefore, when both the junctions are forward biased, the transistor operates in the saturation region. </a:t>
            </a:r>
          </a:p>
          <a:p>
            <a:pPr algn="just">
              <a:defRPr/>
            </a:pPr>
            <a:endParaRPr lang="en-US"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BDCDBBEF-AA6C-4BA6-85B2-A17D7F280E38}" type="slidenum">
              <a:rPr lang="en-US" smtClean="0"/>
              <a:pPr/>
              <a:t>27</a:t>
            </a:fld>
            <a:endParaRPr lang="en-US"/>
          </a:p>
        </p:txBody>
      </p:sp>
    </p:spTree>
    <p:custDataLst>
      <p:tags r:id="rId1"/>
    </p:custDataLst>
    <p:extLst>
      <p:ext uri="{BB962C8B-B14F-4D97-AF65-F5344CB8AC3E}">
        <p14:creationId xmlns:p14="http://schemas.microsoft.com/office/powerpoint/2010/main" xmlns="" val="60491197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Summary</a:t>
            </a:r>
          </a:p>
        </p:txBody>
      </p:sp>
      <p:sp>
        <p:nvSpPr>
          <p:cNvPr id="3" name="Content Placeholder 2"/>
          <p:cNvSpPr>
            <a:spLocks noGrp="1"/>
          </p:cNvSpPr>
          <p:nvPr>
            <p:ph idx="1"/>
          </p:nvPr>
        </p:nvSpPr>
        <p:spPr>
          <a:xfrm>
            <a:off x="825137" y="1603557"/>
            <a:ext cx="10515600" cy="4351338"/>
          </a:xfrm>
        </p:spPr>
        <p:txBody>
          <a:bodyPr/>
          <a:lstStyle/>
          <a:p>
            <a:pPr>
              <a:buFont typeface="Wingdings" pitchFamily="2" charset="2"/>
              <a:buChar char="ü"/>
            </a:pPr>
            <a:r>
              <a:rPr lang="en-US" dirty="0"/>
              <a:t>Transistor Connection</a:t>
            </a:r>
          </a:p>
          <a:p>
            <a:pPr>
              <a:buFont typeface="Wingdings" pitchFamily="2" charset="2"/>
              <a:buChar char="ü"/>
            </a:pPr>
            <a:r>
              <a:rPr lang="en-US" dirty="0"/>
              <a:t>Common Base Connection</a:t>
            </a:r>
          </a:p>
          <a:p>
            <a:pPr>
              <a:buFont typeface="Wingdings" pitchFamily="2" charset="2"/>
              <a:buChar char="ü"/>
            </a:pPr>
            <a:r>
              <a:rPr lang="en-US" dirty="0"/>
              <a:t>Current amplification factor (</a:t>
            </a:r>
            <a:r>
              <a:rPr lang="el-GR" dirty="0"/>
              <a:t>α)</a:t>
            </a:r>
            <a:endParaRPr lang="en-IN" dirty="0"/>
          </a:p>
          <a:p>
            <a:pPr>
              <a:buFont typeface="Wingdings" pitchFamily="2" charset="2"/>
              <a:buChar char="ü"/>
            </a:pPr>
            <a:r>
              <a:rPr lang="en-IN" dirty="0"/>
              <a:t>Expression for collector current.</a:t>
            </a:r>
          </a:p>
          <a:p>
            <a:pPr>
              <a:buFont typeface="Wingdings" pitchFamily="2" charset="2"/>
              <a:buChar char="ü"/>
            </a:pPr>
            <a:endParaRPr lang="en-US" dirty="0"/>
          </a:p>
          <a:p>
            <a:pPr marL="0" lvl="0" indent="0">
              <a:buNone/>
            </a:pPr>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28</a:t>
            </a:fld>
            <a:endParaRPr lang="en-US"/>
          </a:p>
        </p:txBody>
      </p:sp>
    </p:spTree>
    <p:custDataLst>
      <p:tags r:id="rId1"/>
    </p:custDataLst>
    <p:extLst>
      <p:ext uri="{BB962C8B-B14F-4D97-AF65-F5344CB8AC3E}">
        <p14:creationId xmlns:p14="http://schemas.microsoft.com/office/powerpoint/2010/main" xmlns="" val="28354946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Frequently Asked Questions</a:t>
            </a:r>
          </a:p>
        </p:txBody>
      </p:sp>
      <p:sp>
        <p:nvSpPr>
          <p:cNvPr id="3" name="Content Placeholder 2"/>
          <p:cNvSpPr>
            <a:spLocks noGrp="1"/>
          </p:cNvSpPr>
          <p:nvPr>
            <p:ph idx="1"/>
          </p:nvPr>
        </p:nvSpPr>
        <p:spPr>
          <a:xfrm>
            <a:off x="838200" y="1982379"/>
            <a:ext cx="10515600" cy="4351338"/>
          </a:xfrm>
        </p:spPr>
        <p:txBody>
          <a:bodyPr>
            <a:normAutofit/>
          </a:bodyPr>
          <a:lstStyle/>
          <a:p>
            <a:pPr marL="514350" indent="-514350" algn="just">
              <a:buFont typeface="+mj-lt"/>
              <a:buAutoNum type="arabicPeriod"/>
            </a:pPr>
            <a:r>
              <a:rPr lang="en-IN" dirty="0"/>
              <a:t>Explain different type of transistor connection</a:t>
            </a:r>
          </a:p>
          <a:p>
            <a:pPr marL="514350" indent="-514350" algn="just">
              <a:buFont typeface="+mj-lt"/>
              <a:buAutoNum type="arabicPeriod"/>
            </a:pPr>
            <a:r>
              <a:rPr lang="en-IN" dirty="0"/>
              <a:t>Explain Common Base Connection</a:t>
            </a:r>
          </a:p>
          <a:p>
            <a:pPr marL="514350" indent="-514350" algn="just">
              <a:buFont typeface="+mj-lt"/>
              <a:buAutoNum type="arabicPeriod"/>
            </a:pPr>
            <a:r>
              <a:rPr lang="en-IN" dirty="0"/>
              <a:t>Explain Current amplification factor (</a:t>
            </a:r>
            <a:r>
              <a:rPr lang="el-GR" dirty="0"/>
              <a:t>α)</a:t>
            </a:r>
          </a:p>
          <a:p>
            <a:pPr marL="514350" indent="-514350" algn="just">
              <a:buFont typeface="+mj-lt"/>
              <a:buAutoNum type="arabicPeriod"/>
            </a:pPr>
            <a:r>
              <a:rPr lang="en-IN" dirty="0"/>
              <a:t>Derive the expression for collector current.</a:t>
            </a:r>
          </a:p>
          <a:p>
            <a:pPr marL="514350" indent="-514350" algn="just">
              <a:buFont typeface="+mj-lt"/>
              <a:buAutoNum type="arabicPeriod"/>
            </a:pPr>
            <a:r>
              <a:rPr lang="en-IN" dirty="0"/>
              <a:t>What is meant by leakage current.</a:t>
            </a:r>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29</a:t>
            </a:fld>
            <a:endParaRPr lang="en-US"/>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down)">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down)">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wipe(down)">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wipe(down)">
                                      <p:cBhvr>
                                        <p:cTn id="2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84801" y="1028702"/>
            <a:ext cx="5778500" cy="4873625"/>
          </a:xfrm>
        </p:spPr>
        <p:txBody>
          <a:bodyPr>
            <a:normAutofit/>
          </a:bodyPr>
          <a:lstStyle/>
          <a:p>
            <a:pPr marL="0" indent="0">
              <a:buNone/>
            </a:pPr>
            <a:r>
              <a:rPr lang="en-IN" sz="2800" dirty="0">
                <a:latin typeface="Times New Roman" pitchFamily="18" charset="0"/>
                <a:cs typeface="Times New Roman" pitchFamily="18" charset="0"/>
              </a:rPr>
              <a:t> </a:t>
            </a:r>
            <a:r>
              <a:rPr lang="en-IN" sz="2800" dirty="0">
                <a:latin typeface="Casper"/>
                <a:cs typeface="Times New Roman" pitchFamily="18" charset="0"/>
              </a:rPr>
              <a:t>To make students understand</a:t>
            </a:r>
          </a:p>
          <a:p>
            <a:pPr>
              <a:buFont typeface="Wingdings" pitchFamily="2" charset="2"/>
              <a:buChar char="ü"/>
            </a:pPr>
            <a:r>
              <a:rPr lang="en-US" sz="2800" dirty="0">
                <a:latin typeface="Casper"/>
              </a:rPr>
              <a:t> </a:t>
            </a:r>
            <a:r>
              <a:rPr lang="en-US" dirty="0"/>
              <a:t>Transistor Connection</a:t>
            </a:r>
          </a:p>
          <a:p>
            <a:pPr>
              <a:buFont typeface="Wingdings" pitchFamily="2" charset="2"/>
              <a:buChar char="ü"/>
            </a:pPr>
            <a:r>
              <a:rPr lang="en-US" dirty="0"/>
              <a:t>Common Base Connection</a:t>
            </a:r>
          </a:p>
          <a:p>
            <a:pPr>
              <a:buFont typeface="Wingdings" pitchFamily="2" charset="2"/>
              <a:buChar char="ü"/>
            </a:pPr>
            <a:r>
              <a:rPr lang="en-US" dirty="0"/>
              <a:t>Current amplification factor (</a:t>
            </a:r>
            <a:r>
              <a:rPr lang="el-GR" dirty="0"/>
              <a:t>α)</a:t>
            </a:r>
          </a:p>
          <a:p>
            <a:pPr>
              <a:buFont typeface="Wingdings" pitchFamily="2" charset="2"/>
              <a:buChar char="ü"/>
            </a:pPr>
            <a:r>
              <a:rPr lang="en-US" dirty="0"/>
              <a:t>Expression for collector current.</a:t>
            </a:r>
          </a:p>
          <a:p>
            <a:endParaRPr lang="en-US" sz="2400" dirty="0">
              <a:latin typeface="Casper" panose="02000506000000020004" pitchFamily="2" charset="0"/>
              <a:cs typeface="Arial" panose="020B0604020202020204" pitchFamily="34" charset="0"/>
            </a:endParaRPr>
          </a:p>
          <a:p>
            <a:pPr marL="0" indent="0">
              <a:buNone/>
            </a:pPr>
            <a:endParaRPr lang="en-US" sz="2400" dirty="0">
              <a:latin typeface="Casper" panose="02000506000000020004" pitchFamily="2" charset="0"/>
              <a:cs typeface="Arial" panose="020B0604020202020204" pitchFamily="34" charset="0"/>
            </a:endParaRPr>
          </a:p>
        </p:txBody>
      </p:sp>
      <p:sp>
        <p:nvSpPr>
          <p:cNvPr id="5" name="Slide Number Placeholder 4"/>
          <p:cNvSpPr>
            <a:spLocks noGrp="1"/>
          </p:cNvSpPr>
          <p:nvPr>
            <p:ph type="sldNum" sz="quarter" idx="12"/>
          </p:nvPr>
        </p:nvSpPr>
        <p:spPr>
          <a:xfrm>
            <a:off x="8839200" y="6356352"/>
            <a:ext cx="2743200" cy="365125"/>
          </a:xfrm>
        </p:spPr>
        <p:txBody>
          <a:bodyPr/>
          <a:lstStyle/>
          <a:p>
            <a:fld id="{BDCDBBEF-AA6C-4BA6-85B2-A17D7F280E38}" type="slidenum">
              <a:rPr lang="en-US" smtClean="0"/>
              <a:pPr/>
              <a:t>30</a:t>
            </a:fld>
            <a:endParaRPr lang="en-US" dirty="0"/>
          </a:p>
        </p:txBody>
      </p:sp>
      <p:sp>
        <p:nvSpPr>
          <p:cNvPr id="8" name="Title 7"/>
          <p:cNvSpPr txBox="1">
            <a:spLocks noGrp="1" noChangeArrowheads="1"/>
          </p:cNvSpPr>
          <p:nvPr>
            <p:ph type="title"/>
          </p:nvPr>
        </p:nvSpPr>
        <p:spPr bwMode="auto">
          <a:xfrm>
            <a:off x="383949" y="1681522"/>
            <a:ext cx="4456567" cy="192052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algn="ctr"/>
            <a:r>
              <a:rPr lang="en-US" sz="4400" b="1" dirty="0">
                <a:latin typeface="Casper"/>
                <a:ea typeface="Karla" pitchFamily="2" charset="0"/>
                <a:cs typeface="Karla" pitchFamily="2" charset="0"/>
              </a:rPr>
              <a:t>LEARNING OUTCOMES</a:t>
            </a:r>
            <a:r>
              <a:rPr lang="en-US" sz="4400" b="1" dirty="0">
                <a:solidFill>
                  <a:srgbClr val="FF00FF"/>
                </a:solidFill>
                <a:latin typeface="Casper"/>
                <a:ea typeface="Karla" pitchFamily="2" charset="0"/>
                <a:cs typeface="Karla" pitchFamily="2" charset="0"/>
              </a:rPr>
              <a:t/>
            </a:r>
            <a:br>
              <a:rPr lang="en-US" sz="4400" b="1" dirty="0">
                <a:solidFill>
                  <a:srgbClr val="FF00FF"/>
                </a:solidFill>
                <a:latin typeface="Casper"/>
                <a:ea typeface="Karla" pitchFamily="2" charset="0"/>
                <a:cs typeface="Karla" pitchFamily="2" charset="0"/>
              </a:rPr>
            </a:br>
            <a:endParaRPr lang="en-US" sz="4400" dirty="0">
              <a:solidFill>
                <a:srgbClr val="FF00FF"/>
              </a:solidFill>
              <a:latin typeface="Casper"/>
            </a:endParaRPr>
          </a:p>
        </p:txBody>
      </p:sp>
      <p:sp>
        <p:nvSpPr>
          <p:cNvPr id="2" name="Rectangle 1"/>
          <p:cNvSpPr/>
          <p:nvPr/>
        </p:nvSpPr>
        <p:spPr>
          <a:xfrm>
            <a:off x="5295900" y="511627"/>
            <a:ext cx="5867400" cy="583692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p:cNvSpPr/>
          <p:nvPr/>
        </p:nvSpPr>
        <p:spPr>
          <a:xfrm>
            <a:off x="11217277" y="6324602"/>
            <a:ext cx="444500" cy="42227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5"/>
          <p:cNvPicPr>
            <a:picLocks noChangeAspect="1" noChangeArrowheads="1"/>
          </p:cNvPicPr>
          <p:nvPr/>
        </p:nvPicPr>
        <p:blipFill>
          <a:blip r:embed="rId3" cstate="print"/>
          <a:srcRect/>
          <a:stretch>
            <a:fillRect/>
          </a:stretch>
        </p:blipFill>
        <p:spPr bwMode="auto">
          <a:xfrm>
            <a:off x="304800" y="304801"/>
            <a:ext cx="812800" cy="976065"/>
          </a:xfrm>
          <a:prstGeom prst="rect">
            <a:avLst/>
          </a:prstGeom>
          <a:noFill/>
          <a:ln w="9525">
            <a:noFill/>
            <a:miter lim="800000"/>
            <a:headEnd/>
            <a:tailEnd/>
          </a:ln>
        </p:spPr>
      </p:pic>
    </p:spTree>
    <p:custDataLst>
      <p:tags r:id="rId1"/>
    </p:custDataLst>
    <p:extLst>
      <p:ext uri="{BB962C8B-B14F-4D97-AF65-F5344CB8AC3E}">
        <p14:creationId xmlns:p14="http://schemas.microsoft.com/office/powerpoint/2010/main" xmlns="" val="69380159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62001" y="1560582"/>
            <a:ext cx="10683240" cy="4679678"/>
          </a:xfrm>
        </p:spPr>
        <p:txBody>
          <a:bodyPr>
            <a:normAutofit fontScale="92500" lnSpcReduction="20000"/>
          </a:bodyPr>
          <a:lstStyle/>
          <a:p>
            <a:pPr marL="0" indent="0">
              <a:lnSpc>
                <a:spcPct val="107000"/>
              </a:lnSpc>
              <a:spcBef>
                <a:spcPts val="600"/>
              </a:spcBef>
              <a:spcAft>
                <a:spcPts val="600"/>
              </a:spcAft>
              <a:buNone/>
            </a:pPr>
            <a:r>
              <a:rPr lang="en-IN" sz="1800" b="1" dirty="0">
                <a:effectLst/>
                <a:latin typeface="Times New Roman" panose="02020603050405020304" pitchFamily="18" charset="0"/>
                <a:ea typeface="Calibri" panose="020F0502020204030204" pitchFamily="34" charset="0"/>
                <a:cs typeface="Times New Roman" panose="02020603050405020304" pitchFamily="18" charset="0"/>
              </a:rPr>
              <a:t>Text Books:</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spcBef>
                <a:spcPts val="600"/>
              </a:spcBef>
              <a:buFont typeface="+mj-lt"/>
              <a:buAutoNum type="arabicPeriod"/>
            </a:pPr>
            <a:r>
              <a:rPr lang="en-IN" sz="1800" i="1" dirty="0">
                <a:effectLst/>
                <a:latin typeface="Times New Roman" panose="02020603050405020304" pitchFamily="18" charset="0"/>
                <a:ea typeface="Calibri" panose="020F0502020204030204" pitchFamily="34" charset="0"/>
                <a:cs typeface="Times New Roman" panose="02020603050405020304" pitchFamily="18" charset="0"/>
              </a:rPr>
              <a:t>Microelectronics Circuits</a:t>
            </a: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 Adel S. </a:t>
            </a:r>
            <a:r>
              <a:rPr lang="en-IN" sz="1800" dirty="0" err="1">
                <a:effectLst/>
                <a:latin typeface="Times New Roman" panose="02020603050405020304" pitchFamily="18" charset="0"/>
                <a:ea typeface="Calibri" panose="020F0502020204030204" pitchFamily="34" charset="0"/>
                <a:cs typeface="Times New Roman" panose="02020603050405020304" pitchFamily="18" charset="0"/>
              </a:rPr>
              <a:t>Sedra</a:t>
            </a: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 and Kenneth Carless Smith, Oxford University Press.</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spcBef>
                <a:spcPts val="600"/>
              </a:spcBef>
              <a:buFont typeface="+mj-lt"/>
              <a:buAutoNum type="arabicPeriod"/>
            </a:pPr>
            <a:r>
              <a:rPr lang="en-IN" sz="1800" i="1" dirty="0" err="1">
                <a:effectLst/>
                <a:latin typeface="Times New Roman" panose="02020603050405020304" pitchFamily="18" charset="0"/>
                <a:ea typeface="Calibri" panose="020F0502020204030204" pitchFamily="34" charset="0"/>
                <a:cs typeface="Times New Roman" panose="02020603050405020304" pitchFamily="18" charset="0"/>
              </a:rPr>
              <a:t>Millman’s</a:t>
            </a:r>
            <a:r>
              <a:rPr lang="en-IN" sz="1800" i="1" dirty="0">
                <a:effectLst/>
                <a:latin typeface="Times New Roman" panose="02020603050405020304" pitchFamily="18" charset="0"/>
                <a:ea typeface="Calibri" panose="020F0502020204030204" pitchFamily="34" charset="0"/>
                <a:cs typeface="Times New Roman" panose="02020603050405020304" pitchFamily="18" charset="0"/>
              </a:rPr>
              <a:t> Integrated Electronics</a:t>
            </a: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 Jacob </a:t>
            </a:r>
            <a:r>
              <a:rPr lang="en-IN" sz="1800" dirty="0" err="1">
                <a:effectLst/>
                <a:latin typeface="Times New Roman" panose="02020603050405020304" pitchFamily="18" charset="0"/>
                <a:ea typeface="Calibri" panose="020F0502020204030204" pitchFamily="34" charset="0"/>
                <a:cs typeface="Times New Roman" panose="02020603050405020304" pitchFamily="18" charset="0"/>
              </a:rPr>
              <a:t>Millman</a:t>
            </a: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 Christos </a:t>
            </a:r>
            <a:r>
              <a:rPr lang="en-IN" sz="1800" dirty="0" err="1">
                <a:effectLst/>
                <a:latin typeface="Times New Roman" panose="02020603050405020304" pitchFamily="18" charset="0"/>
                <a:ea typeface="Calibri" panose="020F0502020204030204" pitchFamily="34" charset="0"/>
                <a:cs typeface="Times New Roman" panose="02020603050405020304" pitchFamily="18" charset="0"/>
              </a:rPr>
              <a:t>Halkias</a:t>
            </a: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 Chetan Parikh, McGraw Hill Education.</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spcAft>
                <a:spcPts val="800"/>
              </a:spcAft>
              <a:buFont typeface="+mj-lt"/>
              <a:buAutoNum type="arabicPeriod"/>
            </a:pPr>
            <a:r>
              <a:rPr lang="en-IN" sz="1800" i="1" dirty="0">
                <a:effectLst/>
                <a:latin typeface="Times New Roman" panose="02020603050405020304" pitchFamily="18" charset="0"/>
                <a:ea typeface="Calibri" panose="020F0502020204030204" pitchFamily="34" charset="0"/>
                <a:cs typeface="Times New Roman" panose="02020603050405020304" pitchFamily="18" charset="0"/>
              </a:rPr>
              <a:t>Digital Logic &amp; Computer Design,</a:t>
            </a: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 M. Morris Mano, Pearson</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gn="just">
              <a:lnSpc>
                <a:spcPct val="107000"/>
              </a:lnSpc>
              <a:spcBef>
                <a:spcPts val="600"/>
              </a:spcBef>
              <a:spcAft>
                <a:spcPts val="600"/>
              </a:spcAft>
              <a:buNone/>
            </a:pPr>
            <a:r>
              <a:rPr lang="en-IN" sz="1800" b="1" dirty="0">
                <a:effectLst/>
                <a:latin typeface="Times New Roman" panose="02020603050405020304" pitchFamily="18" charset="0"/>
                <a:ea typeface="Calibri" panose="020F0502020204030204" pitchFamily="34" charset="0"/>
                <a:cs typeface="Times New Roman" panose="02020603050405020304" pitchFamily="18" charset="0"/>
              </a:rPr>
              <a:t>Reference Books:</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spcBef>
                <a:spcPts val="600"/>
              </a:spcBef>
              <a:spcAft>
                <a:spcPts val="600"/>
              </a:spcAft>
              <a:buFont typeface="+mj-lt"/>
              <a:buAutoNum type="arabicPeriod"/>
            </a:pPr>
            <a:r>
              <a:rPr lang="en-IN" sz="1800" i="1" dirty="0">
                <a:effectLst/>
                <a:latin typeface="Times New Roman" panose="02020603050405020304" pitchFamily="18" charset="0"/>
                <a:ea typeface="Calibri" panose="020F0502020204030204" pitchFamily="34" charset="0"/>
                <a:cs typeface="Times New Roman" panose="02020603050405020304" pitchFamily="18" charset="0"/>
              </a:rPr>
              <a:t>Principles of Electronics</a:t>
            </a: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 V K Mehta , Rohit Mehta,  12/e , S. Chand Publishing</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spcBef>
                <a:spcPts val="600"/>
              </a:spcBef>
              <a:spcAft>
                <a:spcPts val="600"/>
              </a:spcAft>
              <a:buFont typeface="+mj-lt"/>
              <a:buAutoNum type="arabicPeriod"/>
            </a:pPr>
            <a:r>
              <a:rPr lang="en-IN" sz="1800" i="1" dirty="0">
                <a:effectLst/>
                <a:latin typeface="Times New Roman" panose="02020603050405020304" pitchFamily="18" charset="0"/>
                <a:ea typeface="Calibri" panose="020F0502020204030204" pitchFamily="34" charset="0"/>
                <a:cs typeface="Times New Roman" panose="02020603050405020304" pitchFamily="18" charset="0"/>
              </a:rPr>
              <a:t>Solid State Electronic Devices</a:t>
            </a: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,6</a:t>
            </a:r>
            <a:r>
              <a:rPr lang="en-IN" sz="1800" baseline="30000" dirty="0">
                <a:effectLst/>
                <a:latin typeface="Times New Roman" panose="02020603050405020304" pitchFamily="18" charset="0"/>
                <a:ea typeface="Calibri" panose="020F0502020204030204" pitchFamily="34" charset="0"/>
                <a:cs typeface="Times New Roman" panose="02020603050405020304" pitchFamily="18" charset="0"/>
              </a:rPr>
              <a:t>th</a:t>
            </a: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 Edition, Ben Streetman, Sanjay Banerjee</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spcBef>
                <a:spcPts val="600"/>
              </a:spcBef>
              <a:spcAft>
                <a:spcPts val="600"/>
              </a:spcAft>
              <a:buFont typeface="+mj-lt"/>
              <a:buAutoNum type="arabicPeriod"/>
            </a:pPr>
            <a:r>
              <a:rPr lang="en-IN" sz="1800" i="1" dirty="0">
                <a:effectLst/>
                <a:latin typeface="Times New Roman" panose="02020603050405020304" pitchFamily="18" charset="0"/>
                <a:ea typeface="Calibri" panose="020F0502020204030204" pitchFamily="34" charset="0"/>
                <a:cs typeface="Times New Roman" panose="02020603050405020304" pitchFamily="18" charset="0"/>
              </a:rPr>
              <a:t>Electronic Principle</a:t>
            </a: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 Albert Paul </a:t>
            </a:r>
            <a:r>
              <a:rPr lang="en-IN" sz="1800" dirty="0" err="1">
                <a:effectLst/>
                <a:latin typeface="Times New Roman" panose="02020603050405020304" pitchFamily="18" charset="0"/>
                <a:ea typeface="Calibri" panose="020F0502020204030204" pitchFamily="34" charset="0"/>
                <a:cs typeface="Times New Roman" panose="02020603050405020304" pitchFamily="18" charset="0"/>
              </a:rPr>
              <a:t>Malvino</a:t>
            </a: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spcBef>
                <a:spcPts val="600"/>
              </a:spcBef>
              <a:spcAft>
                <a:spcPts val="600"/>
              </a:spcAft>
              <a:buFont typeface="+mj-lt"/>
              <a:buAutoNum type="arabicPeriod"/>
            </a:pPr>
            <a:r>
              <a:rPr lang="en-IN" sz="1800" i="1" dirty="0">
                <a:effectLst/>
                <a:latin typeface="Times New Roman" panose="02020603050405020304" pitchFamily="18" charset="0"/>
                <a:ea typeface="Calibri" panose="020F0502020204030204" pitchFamily="34" charset="0"/>
                <a:cs typeface="Times New Roman" panose="02020603050405020304" pitchFamily="18" charset="0"/>
              </a:rPr>
              <a:t>Electronics </a:t>
            </a:r>
            <a:r>
              <a:rPr lang="en-IN" sz="1800" i="1" dirty="0" err="1">
                <a:effectLst/>
                <a:latin typeface="Times New Roman" panose="02020603050405020304" pitchFamily="18" charset="0"/>
                <a:ea typeface="Calibri" panose="020F0502020204030204" pitchFamily="34" charset="0"/>
                <a:cs typeface="Times New Roman" panose="02020603050405020304" pitchFamily="18" charset="0"/>
              </a:rPr>
              <a:t>Circuits:Discrete</a:t>
            </a:r>
            <a:r>
              <a:rPr lang="en-IN" sz="1800" i="1" dirty="0">
                <a:effectLst/>
                <a:latin typeface="Times New Roman" panose="02020603050405020304" pitchFamily="18" charset="0"/>
                <a:ea typeface="Calibri" panose="020F0502020204030204" pitchFamily="34" charset="0"/>
                <a:cs typeface="Times New Roman" panose="02020603050405020304" pitchFamily="18" charset="0"/>
              </a:rPr>
              <a:t> &amp; Integrated</a:t>
            </a: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 D Schilling C </a:t>
            </a:r>
            <a:r>
              <a:rPr lang="en-IN" sz="1800" dirty="0" err="1">
                <a:effectLst/>
                <a:latin typeface="Times New Roman" panose="02020603050405020304" pitchFamily="18" charset="0"/>
                <a:ea typeface="Calibri" panose="020F0502020204030204" pitchFamily="34" charset="0"/>
                <a:cs typeface="Times New Roman" panose="02020603050405020304" pitchFamily="18" charset="0"/>
              </a:rPr>
              <a:t>BeloveTApelewiczRSaccardi</a:t>
            </a: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spcBef>
                <a:spcPts val="600"/>
              </a:spcBef>
              <a:spcAft>
                <a:spcPts val="600"/>
              </a:spcAft>
              <a:buFont typeface="+mj-lt"/>
              <a:buAutoNum type="arabicPeriod"/>
            </a:pPr>
            <a:r>
              <a:rPr lang="en-IN" sz="1800" i="1" dirty="0">
                <a:effectLst/>
                <a:latin typeface="Times New Roman" panose="02020603050405020304" pitchFamily="18" charset="0"/>
                <a:ea typeface="Calibri" panose="020F0502020204030204" pitchFamily="34" charset="0"/>
                <a:cs typeface="Times New Roman" panose="02020603050405020304" pitchFamily="18" charset="0"/>
              </a:rPr>
              <a:t>Microelectronics</a:t>
            </a: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 Jacob </a:t>
            </a:r>
            <a:r>
              <a:rPr lang="en-IN" sz="1800" dirty="0" err="1">
                <a:effectLst/>
                <a:latin typeface="Times New Roman" panose="02020603050405020304" pitchFamily="18" charset="0"/>
                <a:ea typeface="Calibri" panose="020F0502020204030204" pitchFamily="34" charset="0"/>
                <a:cs typeface="Times New Roman" panose="02020603050405020304" pitchFamily="18" charset="0"/>
              </a:rPr>
              <a:t>Millman</a:t>
            </a: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 Arvin </a:t>
            </a:r>
            <a:r>
              <a:rPr lang="en-IN" sz="1800" dirty="0" err="1">
                <a:effectLst/>
                <a:latin typeface="Times New Roman" panose="02020603050405020304" pitchFamily="18" charset="0"/>
                <a:ea typeface="Calibri" panose="020F0502020204030204" pitchFamily="34" charset="0"/>
                <a:cs typeface="Times New Roman" panose="02020603050405020304" pitchFamily="18" charset="0"/>
              </a:rPr>
              <a:t>Grabel</a:t>
            </a: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spcBef>
                <a:spcPts val="600"/>
              </a:spcBef>
              <a:spcAft>
                <a:spcPts val="600"/>
              </a:spcAft>
              <a:buFont typeface="+mj-lt"/>
              <a:buAutoNum type="arabicPeriod"/>
            </a:pPr>
            <a:r>
              <a:rPr lang="en-IN" sz="1800" i="1" dirty="0">
                <a:effectLst/>
                <a:latin typeface="Times New Roman" panose="02020603050405020304" pitchFamily="18" charset="0"/>
                <a:ea typeface="Calibri" panose="020F0502020204030204" pitchFamily="34" charset="0"/>
                <a:cs typeface="Times New Roman" panose="02020603050405020304" pitchFamily="18" charset="0"/>
              </a:rPr>
              <a:t>Electronics Devices &amp;</a:t>
            </a:r>
            <a:r>
              <a:rPr lang="en-IN" sz="1800" i="1" dirty="0" err="1">
                <a:effectLst/>
                <a:latin typeface="Times New Roman" panose="02020603050405020304" pitchFamily="18" charset="0"/>
                <a:ea typeface="Calibri" panose="020F0502020204030204" pitchFamily="34" charset="0"/>
                <a:cs typeface="Times New Roman" panose="02020603050405020304" pitchFamily="18" charset="0"/>
              </a:rPr>
              <a:t>Circuits</a:t>
            </a:r>
            <a:r>
              <a:rPr lang="en-IN" sz="1800" dirty="0" err="1">
                <a:effectLst/>
                <a:latin typeface="Times New Roman" panose="02020603050405020304" pitchFamily="18" charset="0"/>
                <a:ea typeface="Calibri" panose="020F0502020204030204" pitchFamily="34" charset="0"/>
                <a:cs typeface="Times New Roman" panose="02020603050405020304" pitchFamily="18" charset="0"/>
              </a:rPr>
              <a:t>,S</a:t>
            </a: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IN" sz="1800" dirty="0" err="1">
                <a:effectLst/>
                <a:latin typeface="Times New Roman" panose="02020603050405020304" pitchFamily="18" charset="0"/>
                <a:ea typeface="Calibri" panose="020F0502020204030204" pitchFamily="34" charset="0"/>
                <a:cs typeface="Times New Roman" panose="02020603050405020304" pitchFamily="18" charset="0"/>
              </a:rPr>
              <a:t>Salivahanan</a:t>
            </a: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 N. Suresh </a:t>
            </a:r>
            <a:r>
              <a:rPr lang="en-IN" sz="1800" dirty="0" err="1">
                <a:effectLst/>
                <a:latin typeface="Times New Roman" panose="02020603050405020304" pitchFamily="18" charset="0"/>
                <a:ea typeface="Calibri" panose="020F0502020204030204" pitchFamily="34" charset="0"/>
                <a:cs typeface="Times New Roman" panose="02020603050405020304" pitchFamily="18" charset="0"/>
              </a:rPr>
              <a:t>Kumar,A</a:t>
            </a: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IN" sz="1800" dirty="0" err="1">
                <a:effectLst/>
                <a:latin typeface="Times New Roman" panose="02020603050405020304" pitchFamily="18" charset="0"/>
                <a:ea typeface="Calibri" panose="020F0502020204030204" pitchFamily="34" charset="0"/>
                <a:cs typeface="Times New Roman" panose="02020603050405020304" pitchFamily="18" charset="0"/>
              </a:rPr>
              <a:t>Vallavaraj</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spcBef>
                <a:spcPts val="600"/>
              </a:spcBef>
              <a:spcAft>
                <a:spcPts val="600"/>
              </a:spcAft>
              <a:buFont typeface="+mj-lt"/>
              <a:buAutoNum type="arabicPeriod"/>
            </a:pPr>
            <a:r>
              <a:rPr lang="en-IN" sz="1800" i="1" dirty="0">
                <a:effectLst/>
                <a:latin typeface="Times New Roman" panose="02020603050405020304" pitchFamily="18" charset="0"/>
                <a:ea typeface="Calibri" panose="020F0502020204030204" pitchFamily="34" charset="0"/>
                <a:cs typeface="Times New Roman" panose="02020603050405020304" pitchFamily="18" charset="0"/>
              </a:rPr>
              <a:t>Electronic Devices &amp; Circuit Theory</a:t>
            </a: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 11</a:t>
            </a:r>
            <a:r>
              <a:rPr lang="en-IN" sz="1800" baseline="30000" dirty="0">
                <a:effectLst/>
                <a:latin typeface="Times New Roman" panose="02020603050405020304" pitchFamily="18" charset="0"/>
                <a:ea typeface="Calibri" panose="020F0502020204030204" pitchFamily="34" charset="0"/>
                <a:cs typeface="Times New Roman" panose="02020603050405020304" pitchFamily="18" charset="0"/>
              </a:rPr>
              <a:t>th</a:t>
            </a: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 Edition, Robert L. </a:t>
            </a:r>
            <a:r>
              <a:rPr lang="en-IN" sz="1800" dirty="0" err="1">
                <a:effectLst/>
                <a:latin typeface="Times New Roman" panose="02020603050405020304" pitchFamily="18" charset="0"/>
                <a:ea typeface="Calibri" panose="020F0502020204030204" pitchFamily="34" charset="0"/>
                <a:cs typeface="Times New Roman" panose="02020603050405020304" pitchFamily="18" charset="0"/>
              </a:rPr>
              <a:t>Boylestad,LouisNashelsky</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buNone/>
            </a:pPr>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31</a:t>
            </a:fld>
            <a:endParaRPr lang="en-US" dirty="0"/>
          </a:p>
        </p:txBody>
      </p:sp>
      <p:sp>
        <p:nvSpPr>
          <p:cNvPr id="5" name="Title 4"/>
          <p:cNvSpPr>
            <a:spLocks noGrp="1"/>
          </p:cNvSpPr>
          <p:nvPr>
            <p:ph type="title"/>
          </p:nvPr>
        </p:nvSpPr>
        <p:spPr/>
        <p:txBody>
          <a:bodyPr/>
          <a:lstStyle/>
          <a:p>
            <a:pPr algn="ctr"/>
            <a:r>
              <a:rPr lang="en-US" b="1" dirty="0"/>
              <a:t>References</a:t>
            </a:r>
          </a:p>
        </p:txBody>
      </p:sp>
    </p:spTree>
    <p:custDataLst>
      <p:tags r:id="rId1"/>
    </p:custData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5EDE9DA-BC31-44D3-9700-4F4473874B1B}"/>
              </a:ext>
            </a:extLst>
          </p:cNvPr>
          <p:cNvSpPr>
            <a:spLocks noGrp="1"/>
          </p:cNvSpPr>
          <p:nvPr>
            <p:ph type="title"/>
          </p:nvPr>
        </p:nvSpPr>
        <p:spPr/>
        <p:txBody>
          <a:bodyPr>
            <a:normAutofit/>
          </a:bodyPr>
          <a:lstStyle/>
          <a:p>
            <a:r>
              <a:rPr lang="en-US" dirty="0"/>
              <a:t>Assessment Pattern</a:t>
            </a:r>
            <a:endParaRPr lang="en-IN" dirty="0"/>
          </a:p>
        </p:txBody>
      </p:sp>
      <p:sp>
        <p:nvSpPr>
          <p:cNvPr id="4" name="Footer Placeholder 3">
            <a:extLst>
              <a:ext uri="{FF2B5EF4-FFF2-40B4-BE49-F238E27FC236}">
                <a16:creationId xmlns:a16="http://schemas.microsoft.com/office/drawing/2014/main" xmlns="" id="{6FD56E32-EE27-43F7-95F1-8E65978E1C4A}"/>
              </a:ext>
            </a:extLst>
          </p:cNvPr>
          <p:cNvSpPr>
            <a:spLocks noGrp="1"/>
          </p:cNvSpPr>
          <p:nvPr>
            <p:ph type="ftr" sz="quarter" idx="11"/>
          </p:nvPr>
        </p:nvSpPr>
        <p:spPr/>
        <p:txBody>
          <a:bodyPr/>
          <a:lstStyle/>
          <a:p>
            <a:r>
              <a:rPr lang="en-US">
                <a:solidFill>
                  <a:prstClr val="black">
                    <a:tint val="75000"/>
                  </a:prstClr>
                </a:solidFill>
              </a:rPr>
              <a:t>PRINCIPLES OF ELECTRONICS LAB (20ECP170)</a:t>
            </a:r>
          </a:p>
        </p:txBody>
      </p:sp>
      <p:pic>
        <p:nvPicPr>
          <p:cNvPr id="11" name="Content Placeholder 10">
            <a:extLst>
              <a:ext uri="{FF2B5EF4-FFF2-40B4-BE49-F238E27FC236}">
                <a16:creationId xmlns:a16="http://schemas.microsoft.com/office/drawing/2014/main" xmlns="" id="{ECF37D14-C487-44CB-91C1-3B586E56E019}"/>
              </a:ext>
            </a:extLst>
          </p:cNvPr>
          <p:cNvPicPr>
            <a:picLocks noGrp="1" noChangeAspect="1"/>
          </p:cNvPicPr>
          <p:nvPr>
            <p:ph idx="1"/>
          </p:nvPr>
        </p:nvPicPr>
        <p:blipFill>
          <a:blip r:embed="rId3">
            <a:extLst>
              <a:ext uri="{28A0092B-C50C-407E-A947-70E740481C1C}">
                <a14:useLocalDpi xmlns:a14="http://schemas.microsoft.com/office/drawing/2010/main" xmlns="" val="0"/>
              </a:ext>
            </a:extLst>
          </a:blip>
          <a:stretch>
            <a:fillRect/>
          </a:stretch>
        </p:blipFill>
        <p:spPr>
          <a:xfrm>
            <a:off x="1099930" y="1516756"/>
            <a:ext cx="5383295" cy="4619000"/>
          </a:xfrm>
        </p:spPr>
      </p:pic>
      <p:pic>
        <p:nvPicPr>
          <p:cNvPr id="13" name="Picture 12">
            <a:extLst>
              <a:ext uri="{FF2B5EF4-FFF2-40B4-BE49-F238E27FC236}">
                <a16:creationId xmlns:a16="http://schemas.microsoft.com/office/drawing/2014/main" xmlns="" id="{EC0BEE70-8D19-4E67-8D5D-2E879F5CC12C}"/>
              </a:ext>
            </a:extLst>
          </p:cNvPr>
          <p:cNvPicPr>
            <a:picLocks noChangeAspect="1"/>
          </p:cNvPicPr>
          <p:nvPr/>
        </p:nvPicPr>
        <p:blipFill>
          <a:blip r:embed="rId4">
            <a:extLst>
              <a:ext uri="{28A0092B-C50C-407E-A947-70E740481C1C}">
                <a14:useLocalDpi xmlns:a14="http://schemas.microsoft.com/office/drawing/2010/main" xmlns="" val="0"/>
              </a:ext>
            </a:extLst>
          </a:blip>
          <a:stretch>
            <a:fillRect/>
          </a:stretch>
        </p:blipFill>
        <p:spPr>
          <a:xfrm>
            <a:off x="6978403" y="1503012"/>
            <a:ext cx="4637127" cy="4605257"/>
          </a:xfrm>
          <a:prstGeom prst="rect">
            <a:avLst/>
          </a:prstGeom>
        </p:spPr>
      </p:pic>
    </p:spTree>
    <p:custDataLst>
      <p:tags r:id="rId1"/>
    </p:custDataLst>
    <p:extLst>
      <p:ext uri="{BB962C8B-B14F-4D97-AF65-F5344CB8AC3E}">
        <p14:creationId xmlns:p14="http://schemas.microsoft.com/office/powerpoint/2010/main" xmlns="" val="205993667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endParaRPr lang="en-US"/>
          </a:p>
        </p:txBody>
      </p:sp>
      <p:sp>
        <p:nvSpPr>
          <p:cNvPr id="3" name="Subtitle 2"/>
          <p:cNvSpPr>
            <a:spLocks noGrp="1"/>
          </p:cNvSpPr>
          <p:nvPr>
            <p:ph type="subTitle" idx="1"/>
          </p:nvPr>
        </p:nvSpPr>
        <p:spPr/>
        <p:txBody>
          <a:bodyPr/>
          <a:lstStyle/>
          <a:p>
            <a:endParaRPr lang="en-US"/>
          </a:p>
        </p:txBody>
      </p:sp>
      <p:sp>
        <p:nvSpPr>
          <p:cNvPr id="4" name="Slide Number Placeholder 3"/>
          <p:cNvSpPr>
            <a:spLocks noGrp="1"/>
          </p:cNvSpPr>
          <p:nvPr>
            <p:ph type="sldNum" sz="quarter" idx="12"/>
          </p:nvPr>
        </p:nvSpPr>
        <p:spPr/>
        <p:txBody>
          <a:bodyPr/>
          <a:lstStyle/>
          <a:p>
            <a:fld id="{BDCDBBEF-AA6C-4BA6-85B2-A17D7F280E38}" type="slidenum">
              <a:rPr lang="en-US" smtClean="0"/>
              <a:pPr/>
              <a:t>33</a:t>
            </a:fld>
            <a:endParaRPr lang="en-US"/>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COUNT" val="20"/>
  <p:tag name="ARTICULATE_PROJECT_OPEN" val="1"/>
  <p:tag name="ARTICULATE_REFERENCE_COUNT" val="0"/>
  <p:tag name="ARTICULATE_PLAYER_GLOSSARY_XML" val="&lt;?xml version=&quot;1.0&quot; encoding=&quot;utf-16&quot;?&gt;&lt;glossary xmlns:xsi=&quot;http://www.w3.org/2001/XMLSchema-instance&quot; xmlns:xsd=&quot;http://www.w3.org/2001/XMLSchema&quot;&gt;&lt;terms /&gt;&lt;/glossary&gt;"/>
  <p:tag name="TAG_BACKING_FORM_KEY" val="853968-l:\2021_even_semester\poe\theory\unit-2\unit 2 ppt\lecture 3.pptx"/>
  <p:tag name="ARTICULATE_PRESENTER_VERSION" val="7"/>
  <p:tag name="ARTICULATE_USED_PAGE_ORIENTATION" val="1"/>
  <p:tag name="ARTICULATE_USED_PAGE_SIZE" val="7"/>
  <p:tag name="ARTICULATE_REFERENCE_ID" val="172960aa-2225-4f4f-887f-499faff0942e"/>
</p:tagLst>
</file>

<file path=ppt/tags/tag2.xml><?xml version="1.0" encoding="utf-8"?>
<p:tagLst xmlns:a="http://schemas.openxmlformats.org/drawingml/2006/main" xmlns:r="http://schemas.openxmlformats.org/officeDocument/2006/relationships" xmlns:p="http://schemas.openxmlformats.org/presentationml/2006/main">
  <p:tag name="GENSWF_SLIDE_UID" val="{D36BF853-1C0E-423B-B089-9C7A2B5C2856}:412"/>
  <p:tag name="AUDIO_ID" val="412"/>
  <p:tag name="ARTICULATE_USED_LAYOUT" val="8"/>
</p:tagLst>
</file>

<file path=ppt/tags/tag3.xml><?xml version="1.0" encoding="utf-8"?>
<p:tagLst xmlns:a="http://schemas.openxmlformats.org/drawingml/2006/main" xmlns:r="http://schemas.openxmlformats.org/officeDocument/2006/relationships" xmlns:p="http://schemas.openxmlformats.org/presentationml/2006/main">
  <p:tag name="GENSWF_SLIDE_UID" val="{32D49604-FA59-40F6-94EB-BC24D15E597E}:370"/>
  <p:tag name="AUDIO_ID" val="370"/>
  <p:tag name="ARTICULATE_USED_LAYOUT" val="8"/>
</p:tagLst>
</file>

<file path=ppt/tags/tag4.xml><?xml version="1.0" encoding="utf-8"?>
<p:tagLst xmlns:a="http://schemas.openxmlformats.org/drawingml/2006/main" xmlns:r="http://schemas.openxmlformats.org/officeDocument/2006/relationships" xmlns:p="http://schemas.openxmlformats.org/presentationml/2006/main">
  <p:tag name="AUDIO_ID" val="471"/>
  <p:tag name="ARTICULATE_NAV_LEVEL" val="1"/>
  <p:tag name="ARTICULATE_SLIDE_PRESENTER_GUID" val="db468d3a-670b-4e7f-884c-4f290a89136c"/>
  <p:tag name="ARTICULATE_SLIDE_PAUSE" val="0"/>
  <p:tag name="ARTICULATE_LOCK_SLIDE" val="0"/>
  <p:tag name="ARTICULATE_HIDE_SLIDE" val="0"/>
  <p:tag name="ARTICULATE_PLAYER_CONTROL_PREVIOUS" val="True"/>
  <p:tag name="ARTICULATE_PLAYER_CONTROL_NEXT" val="True"/>
  <p:tag name="ARTICULATE_PLAYER_CONTROL_RESOURCES" val="False"/>
  <p:tag name="ARTICULATE_PLAYER_CONTROL_MENU" val="False"/>
  <p:tag name="ARTICULATE_PLAYER_SEEKBAR" val="False"/>
  <p:tag name="ARTICULATE_PLAYER_CONTROL_PLAYPAUSE" val="False"/>
  <p:tag name="ARTICULATE_USED_LAYOUT" val="2"/>
</p:tagLst>
</file>

<file path=ppt/tags/tag5.xml><?xml version="1.0" encoding="utf-8"?>
<p:tagLst xmlns:a="http://schemas.openxmlformats.org/drawingml/2006/main" xmlns:r="http://schemas.openxmlformats.org/officeDocument/2006/relationships" xmlns:p="http://schemas.openxmlformats.org/presentationml/2006/main">
  <p:tag name="ARTICULATE_NAV_LEVEL" val="1"/>
  <p:tag name="ARTICULATE_SLIDE_PRESENTER_GUID" val="db468d3a-670b-4e7f-884c-4f290a89136c"/>
  <p:tag name="ARTICULATE_SLIDE_PAUSE" val="0"/>
  <p:tag name="ARTICULATE_LOCK_SLIDE" val="0"/>
  <p:tag name="ARTICULATE_HIDE_SLIDE" val="0"/>
  <p:tag name="ARTICULATE_PLAYER_CONTROL_PREVIOUS" val="True"/>
  <p:tag name="ARTICULATE_PLAYER_CONTROL_NEXT" val="True"/>
  <p:tag name="ARTICULATE_PLAYER_CONTROL_RESOURCES" val="False"/>
  <p:tag name="ARTICULATE_PLAYER_CONTROL_MENU" val="False"/>
  <p:tag name="ARTICULATE_PLAYER_SEEKBAR" val="False"/>
  <p:tag name="ARTICULATE_PLAYER_CONTROL_PLAYPAUSE" val="False"/>
  <p:tag name="AUDIO_ID" val="326"/>
  <p:tag name="ARTICULATE_USED_LAYOUT" val="2"/>
</p:tagLst>
</file>

<file path=ppt/tags/tag6.xml><?xml version="1.0" encoding="utf-8"?>
<p:tagLst xmlns:a="http://schemas.openxmlformats.org/drawingml/2006/main" xmlns:r="http://schemas.openxmlformats.org/officeDocument/2006/relationships" xmlns:p="http://schemas.openxmlformats.org/presentationml/2006/main">
  <p:tag name="AUDIO_ID" val="415"/>
  <p:tag name="ARTICULATE_NAV_LEVEL" val="1"/>
  <p:tag name="ARTICULATE_SLIDE_PRESENTER_GUID" val="db468d3a-670b-4e7f-884c-4f290a89136c"/>
  <p:tag name="ARTICULATE_SLIDE_PAUSE" val="0"/>
  <p:tag name="ARTICULATE_LOCK_SLIDE" val="0"/>
  <p:tag name="ARTICULATE_HIDE_SLIDE" val="0"/>
  <p:tag name="ARTICULATE_PLAYER_CONTROL_PREVIOUS" val="True"/>
  <p:tag name="ARTICULATE_PLAYER_CONTROL_NEXT" val="True"/>
  <p:tag name="ARTICULATE_PLAYER_CONTROL_RESOURCES" val="False"/>
  <p:tag name="ARTICULATE_PLAYER_CONTROL_MENU" val="False"/>
  <p:tag name="ARTICULATE_PLAYER_SEEKBAR" val="False"/>
  <p:tag name="ARTICULATE_PLAYER_CONTROL_PLAYPAUSE" val="False"/>
  <p:tag name="ARTICULATE_USED_LAYOUT" val="2"/>
</p:tagLst>
</file>

<file path=ppt/tags/tag7.xml><?xml version="1.0" encoding="utf-8"?>
<p:tagLst xmlns:a="http://schemas.openxmlformats.org/drawingml/2006/main" xmlns:r="http://schemas.openxmlformats.org/officeDocument/2006/relationships" xmlns:p="http://schemas.openxmlformats.org/presentationml/2006/main">
  <p:tag name="ARTICULATE_NAV_LEVEL" val="1"/>
  <p:tag name="ARTICULATE_SLIDE_PRESENTER_GUID" val="db468d3a-670b-4e7f-884c-4f290a89136c"/>
  <p:tag name="ARTICULATE_SLIDE_PAUSE" val="0"/>
  <p:tag name="ARTICULATE_LOCK_SLIDE" val="0"/>
  <p:tag name="ARTICULATE_HIDE_SLIDE" val="0"/>
  <p:tag name="ARTICULATE_PLAYER_CONTROL_PREVIOUS" val="True"/>
  <p:tag name="ARTICULATE_PLAYER_CONTROL_NEXT" val="True"/>
  <p:tag name="ARTICULATE_PLAYER_CONTROL_RESOURCES" val="False"/>
  <p:tag name="ARTICULATE_PLAYER_CONTROL_MENU" val="False"/>
  <p:tag name="ARTICULATE_PLAYER_SEEKBAR" val="False"/>
  <p:tag name="ARTICULATE_PLAYER_CONTROL_PLAYPAUSE" val="False"/>
  <p:tag name="AUDIO_ID" val="472"/>
  <p:tag name="ARTICULATE_USED_LAYOUT" val="2"/>
</p:tagLst>
</file>

<file path=ppt/tags/tag8.xml><?xml version="1.0" encoding="utf-8"?>
<p:tagLst xmlns:a="http://schemas.openxmlformats.org/drawingml/2006/main" xmlns:r="http://schemas.openxmlformats.org/officeDocument/2006/relationships" xmlns:p="http://schemas.openxmlformats.org/presentationml/2006/main">
  <p:tag name="ARTICULATE_NAV_LEVEL" val="1"/>
  <p:tag name="ARTICULATE_SLIDE_PRESENTER_GUID" val="db468d3a-670b-4e7f-884c-4f290a89136c"/>
  <p:tag name="ARTICULATE_SLIDE_PAUSE" val="0"/>
  <p:tag name="ARTICULATE_LOCK_SLIDE" val="0"/>
  <p:tag name="ARTICULATE_HIDE_SLIDE" val="0"/>
  <p:tag name="ARTICULATE_PLAYER_CONTROL_PREVIOUS" val="True"/>
  <p:tag name="ARTICULATE_PLAYER_CONTROL_NEXT" val="True"/>
  <p:tag name="ARTICULATE_PLAYER_CONTROL_RESOURCES" val="False"/>
  <p:tag name="ARTICULATE_PLAYER_CONTROL_MENU" val="False"/>
  <p:tag name="ARTICULATE_PLAYER_SEEKBAR" val="False"/>
  <p:tag name="ARTICULATE_PLAYER_CONTROL_PLAYPAUSE" val="False"/>
  <p:tag name="AUDIO_ID" val="481"/>
  <p:tag name="ARTICULATE_USED_LAYOUT" val="2"/>
</p:tagLst>
</file>

<file path=ppt/tags/tag9.xml><?xml version="1.0" encoding="utf-8"?>
<p:tagLst xmlns:a="http://schemas.openxmlformats.org/drawingml/2006/main" xmlns:r="http://schemas.openxmlformats.org/officeDocument/2006/relationships" xmlns:p="http://schemas.openxmlformats.org/presentationml/2006/main">
  <p:tag name="ARTICULATE_NAV_LEVEL" val="1"/>
  <p:tag name="ARTICULATE_SLIDE_PRESENTER_GUID" val="db468d3a-670b-4e7f-884c-4f290a89136c"/>
  <p:tag name="ARTICULATE_SLIDE_PAUSE" val="0"/>
  <p:tag name="ARTICULATE_LOCK_SLIDE" val="0"/>
  <p:tag name="ARTICULATE_HIDE_SLIDE" val="0"/>
  <p:tag name="ARTICULATE_PLAYER_CONTROL_PREVIOUS" val="True"/>
  <p:tag name="ARTICULATE_PLAYER_CONTROL_NEXT" val="True"/>
  <p:tag name="ARTICULATE_PLAYER_CONTROL_RESOURCES" val="False"/>
  <p:tag name="ARTICULATE_PLAYER_CONTROL_MENU" val="False"/>
  <p:tag name="ARTICULATE_PLAYER_SEEKBAR" val="False"/>
  <p:tag name="ARTICULATE_PLAYER_CONTROL_PLAYPAUSE" val="False"/>
  <p:tag name="AUDIO_ID" val="478"/>
  <p:tag name="ARTICULATE_USED_LAYOUT" val="2"/>
</p:tagLst>
</file>

<file path=ppt/tags/tag10.xml><?xml version="1.0" encoding="utf-8"?>
<p:tagLst xmlns:a="http://schemas.openxmlformats.org/drawingml/2006/main" xmlns:r="http://schemas.openxmlformats.org/officeDocument/2006/relationships" xmlns:p="http://schemas.openxmlformats.org/presentationml/2006/main">
  <p:tag name="ARTICULATE_NAV_LEVEL" val="1"/>
  <p:tag name="ARTICULATE_SLIDE_PRESENTER_GUID" val="db468d3a-670b-4e7f-884c-4f290a89136c"/>
  <p:tag name="ARTICULATE_SLIDE_PAUSE" val="0"/>
  <p:tag name="ARTICULATE_LOCK_SLIDE" val="0"/>
  <p:tag name="ARTICULATE_HIDE_SLIDE" val="0"/>
  <p:tag name="ARTICULATE_PLAYER_CONTROL_PREVIOUS" val="True"/>
  <p:tag name="ARTICULATE_PLAYER_CONTROL_NEXT" val="True"/>
  <p:tag name="ARTICULATE_PLAYER_CONTROL_RESOURCES" val="False"/>
  <p:tag name="ARTICULATE_PLAYER_CONTROL_MENU" val="False"/>
  <p:tag name="ARTICULATE_PLAYER_SEEKBAR" val="False"/>
  <p:tag name="ARTICULATE_PLAYER_CONTROL_PLAYPAUSE" val="False"/>
  <p:tag name="AUDIO_ID" val="482"/>
  <p:tag name="ARTICULATE_USED_LAYOUT" val="2"/>
</p:tagLst>
</file>

<file path=ppt/tags/tag11.xml><?xml version="1.0" encoding="utf-8"?>
<p:tagLst xmlns:a="http://schemas.openxmlformats.org/drawingml/2006/main" xmlns:r="http://schemas.openxmlformats.org/officeDocument/2006/relationships" xmlns:p="http://schemas.openxmlformats.org/presentationml/2006/main">
  <p:tag name="ARTICULATE_NAV_LEVEL" val="1"/>
  <p:tag name="ARTICULATE_SLIDE_PRESENTER_GUID" val="db468d3a-670b-4e7f-884c-4f290a89136c"/>
  <p:tag name="ARTICULATE_SLIDE_PAUSE" val="0"/>
  <p:tag name="ARTICULATE_LOCK_SLIDE" val="0"/>
  <p:tag name="ARTICULATE_HIDE_SLIDE" val="0"/>
  <p:tag name="ARTICULATE_PLAYER_CONTROL_PREVIOUS" val="True"/>
  <p:tag name="ARTICULATE_PLAYER_CONTROL_NEXT" val="True"/>
  <p:tag name="ARTICULATE_PLAYER_CONTROL_RESOURCES" val="False"/>
  <p:tag name="ARTICULATE_PLAYER_CONTROL_MENU" val="False"/>
  <p:tag name="ARTICULATE_PLAYER_SEEKBAR" val="False"/>
  <p:tag name="ARTICULATE_PLAYER_CONTROL_PLAYPAUSE" val="False"/>
  <p:tag name="AUDIO_ID" val="479"/>
  <p:tag name="ARTICULATE_USED_LAYOUT" val="2"/>
</p:tagLst>
</file>

<file path=ppt/tags/tag12.xml><?xml version="1.0" encoding="utf-8"?>
<p:tagLst xmlns:a="http://schemas.openxmlformats.org/drawingml/2006/main" xmlns:r="http://schemas.openxmlformats.org/officeDocument/2006/relationships" xmlns:p="http://schemas.openxmlformats.org/presentationml/2006/main">
  <p:tag name="ARTICULATE_NAV_LEVEL" val="1"/>
  <p:tag name="ARTICULATE_SLIDE_PRESENTER_GUID" val="db468d3a-670b-4e7f-884c-4f290a89136c"/>
  <p:tag name="ARTICULATE_SLIDE_PAUSE" val="0"/>
  <p:tag name="ARTICULATE_LOCK_SLIDE" val="0"/>
  <p:tag name="ARTICULATE_HIDE_SLIDE" val="0"/>
  <p:tag name="ARTICULATE_PLAYER_CONTROL_PREVIOUS" val="True"/>
  <p:tag name="ARTICULATE_PLAYER_CONTROL_NEXT" val="True"/>
  <p:tag name="ARTICULATE_PLAYER_CONTROL_RESOURCES" val="False"/>
  <p:tag name="ARTICULATE_PLAYER_CONTROL_MENU" val="False"/>
  <p:tag name="ARTICULATE_PLAYER_SEEKBAR" val="False"/>
  <p:tag name="ARTICULATE_PLAYER_CONTROL_PLAYPAUSE" val="False"/>
  <p:tag name="AUDIO_ID" val="480"/>
  <p:tag name="ARTICULATE_USED_LAYOUT" val="2"/>
</p:tagLst>
</file>

<file path=ppt/tags/tag13.xml><?xml version="1.0" encoding="utf-8"?>
<p:tagLst xmlns:a="http://schemas.openxmlformats.org/drawingml/2006/main" xmlns:r="http://schemas.openxmlformats.org/officeDocument/2006/relationships" xmlns:p="http://schemas.openxmlformats.org/presentationml/2006/main">
  <p:tag name="ARTICULATE_NAV_LEVEL" val="1"/>
  <p:tag name="ARTICULATE_SLIDE_PRESENTER_GUID" val="db468d3a-670b-4e7f-884c-4f290a89136c"/>
  <p:tag name="ARTICULATE_SLIDE_PAUSE" val="0"/>
  <p:tag name="ARTICULATE_LOCK_SLIDE" val="0"/>
  <p:tag name="ARTICULATE_HIDE_SLIDE" val="0"/>
  <p:tag name="ARTICULATE_PLAYER_CONTROL_PREVIOUS" val="True"/>
  <p:tag name="ARTICULATE_PLAYER_CONTROL_NEXT" val="True"/>
  <p:tag name="ARTICULATE_PLAYER_CONTROL_RESOURCES" val="False"/>
  <p:tag name="ARTICULATE_PLAYER_CONTROL_MENU" val="False"/>
  <p:tag name="ARTICULATE_PLAYER_SEEKBAR" val="False"/>
  <p:tag name="ARTICULATE_PLAYER_CONTROL_PLAYPAUSE" val="False"/>
  <p:tag name="AUDIO_ID" val="473"/>
  <p:tag name="ARTICULATE_USED_LAYOUT" val="2"/>
</p:tagLst>
</file>

<file path=ppt/tags/tag14.xml><?xml version="1.0" encoding="utf-8"?>
<p:tagLst xmlns:a="http://schemas.openxmlformats.org/drawingml/2006/main" xmlns:r="http://schemas.openxmlformats.org/officeDocument/2006/relationships" xmlns:p="http://schemas.openxmlformats.org/presentationml/2006/main">
  <p:tag name="AUDIO_ID" val="327"/>
  <p:tag name="ARTICULATE_USED_LAYOUT" val="2"/>
  <p:tag name="ARTICULATE_NAV_LEVEL" val="1"/>
  <p:tag name="ARTICULATE_SLIDE_PRESENTER_GUID" val="3342dbf6-b8a8-4e0f-9c3b-6378ae645392"/>
  <p:tag name="ARTICULATE_SLIDE_PAUSE" val="0"/>
  <p:tag name="ARTICULATE_LOCK_SLIDE" val="0"/>
  <p:tag name="ARTICULATE_HIDE_SLIDE" val="0"/>
  <p:tag name="ARTICULATE_PLAYER_CONTROL_PREVIOUS" val="True"/>
  <p:tag name="ARTICULATE_PLAYER_CONTROL_NEXT" val="True"/>
  <p:tag name="ARTICULATE_PLAYER_CONTROL_RESOURCES" val="False"/>
  <p:tag name="ARTICULATE_PLAYER_CONTROL_MENU" val="False"/>
  <p:tag name="ARTICULATE_PLAYER_SEEKBAR" val="False"/>
  <p:tag name="ARTICULATE_PLAYER_CONTROL_PLAYPAUSE" val="False"/>
</p:tagLst>
</file>

<file path=ppt/tags/tag15.xml><?xml version="1.0" encoding="utf-8"?>
<p:tagLst xmlns:a="http://schemas.openxmlformats.org/drawingml/2006/main" xmlns:r="http://schemas.openxmlformats.org/officeDocument/2006/relationships" xmlns:p="http://schemas.openxmlformats.org/presentationml/2006/main">
  <p:tag name="AUDIO_ID" val="413"/>
  <p:tag name="ARTICULATE_USED_LAYOUT" val="2"/>
  <p:tag name="ARTICULATE_NAV_LEVEL" val="1"/>
  <p:tag name="ARTICULATE_SLIDE_PRESENTER_GUID" val="3342dbf6-b8a8-4e0f-9c3b-6378ae645392"/>
  <p:tag name="ARTICULATE_SLIDE_PAUSE" val="0"/>
  <p:tag name="ARTICULATE_LOCK_SLIDE" val="0"/>
  <p:tag name="ARTICULATE_HIDE_SLIDE" val="0"/>
  <p:tag name="ARTICULATE_PLAYER_CONTROL_PREVIOUS" val="True"/>
  <p:tag name="ARTICULATE_PLAYER_CONTROL_NEXT" val="True"/>
  <p:tag name="ARTICULATE_PLAYER_CONTROL_RESOURCES" val="False"/>
  <p:tag name="ARTICULATE_PLAYER_CONTROL_MENU" val="False"/>
  <p:tag name="ARTICULATE_PLAYER_SEEKBAR" val="False"/>
  <p:tag name="ARTICULATE_PLAYER_CONTROL_PLAYPAUSE" val="False"/>
</p:tagLst>
</file>

<file path=ppt/tags/tag16.xml><?xml version="1.0" encoding="utf-8"?>
<p:tagLst xmlns:a="http://schemas.openxmlformats.org/drawingml/2006/main" xmlns:r="http://schemas.openxmlformats.org/officeDocument/2006/relationships" xmlns:p="http://schemas.openxmlformats.org/presentationml/2006/main">
  <p:tag name="AUDIO_ID" val="409"/>
  <p:tag name="ARTICULATE_USED_LAYOUT" val="2"/>
  <p:tag name="ARTICULATE_NAV_LEVEL" val="1"/>
  <p:tag name="ARTICULATE_SLIDE_PRESENTER_GUID" val="3342dbf6-b8a8-4e0f-9c3b-6378ae645392"/>
  <p:tag name="ARTICULATE_SLIDE_PAUSE" val="0"/>
  <p:tag name="ARTICULATE_LOCK_SLIDE" val="0"/>
  <p:tag name="ARTICULATE_HIDE_SLIDE" val="0"/>
  <p:tag name="ARTICULATE_PLAYER_CONTROL_PREVIOUS" val="True"/>
  <p:tag name="ARTICULATE_PLAYER_CONTROL_NEXT" val="True"/>
  <p:tag name="ARTICULATE_PLAYER_CONTROL_RESOURCES" val="False"/>
  <p:tag name="ARTICULATE_PLAYER_CONTROL_MENU" val="False"/>
  <p:tag name="ARTICULATE_PLAYER_SEEKBAR" val="False"/>
  <p:tag name="ARTICULATE_PLAYER_CONTROL_PLAYPAUSE" val="False"/>
</p:tagLst>
</file>

<file path=ppt/tags/tag17.xml><?xml version="1.0" encoding="utf-8"?>
<p:tagLst xmlns:a="http://schemas.openxmlformats.org/drawingml/2006/main" xmlns:r="http://schemas.openxmlformats.org/officeDocument/2006/relationships" xmlns:p="http://schemas.openxmlformats.org/presentationml/2006/main">
  <p:tag name="AUDIO_ID" val="420"/>
  <p:tag name="ARTICULATE_USED_LAYOUT" val="2"/>
  <p:tag name="ARTICULATE_NAV_LEVEL" val="1"/>
  <p:tag name="ARTICULATE_SLIDE_PRESENTER_GUID" val="3342dbf6-b8a8-4e0f-9c3b-6378ae645392"/>
  <p:tag name="ARTICULATE_SLIDE_PAUSE" val="0"/>
  <p:tag name="ARTICULATE_LOCK_SLIDE" val="0"/>
  <p:tag name="ARTICULATE_HIDE_SLIDE" val="0"/>
  <p:tag name="ARTICULATE_PLAYER_CONTROL_PREVIOUS" val="True"/>
  <p:tag name="ARTICULATE_PLAYER_CONTROL_NEXT" val="True"/>
  <p:tag name="ARTICULATE_PLAYER_CONTROL_RESOURCES" val="False"/>
  <p:tag name="ARTICULATE_PLAYER_CONTROL_MENU" val="False"/>
  <p:tag name="ARTICULATE_PLAYER_SEEKBAR" val="False"/>
  <p:tag name="ARTICULATE_PLAYER_CONTROL_PLAYPAUSE" val="False"/>
</p:tagLst>
</file>

<file path=ppt/tags/tag18.xml><?xml version="1.0" encoding="utf-8"?>
<p:tagLst xmlns:a="http://schemas.openxmlformats.org/drawingml/2006/main" xmlns:r="http://schemas.openxmlformats.org/officeDocument/2006/relationships" xmlns:p="http://schemas.openxmlformats.org/presentationml/2006/main">
  <p:tag name="AUDIO_ID" val="417"/>
  <p:tag name="ARTICULATE_USED_LAYOUT" val="2"/>
  <p:tag name="ARTICULATE_NAV_LEVEL" val="1"/>
  <p:tag name="ARTICULATE_SLIDE_PRESENTER_GUID" val="3342dbf6-b8a8-4e0f-9c3b-6378ae645392"/>
  <p:tag name="ARTICULATE_SLIDE_PAUSE" val="0"/>
  <p:tag name="ARTICULATE_LOCK_SLIDE" val="0"/>
  <p:tag name="ARTICULATE_HIDE_SLIDE" val="0"/>
  <p:tag name="ARTICULATE_PLAYER_CONTROL_PREVIOUS" val="True"/>
  <p:tag name="ARTICULATE_PLAYER_CONTROL_NEXT" val="True"/>
  <p:tag name="ARTICULATE_PLAYER_CONTROL_RESOURCES" val="False"/>
  <p:tag name="ARTICULATE_PLAYER_CONTROL_MENU" val="False"/>
  <p:tag name="ARTICULATE_PLAYER_SEEKBAR" val="False"/>
  <p:tag name="ARTICULATE_PLAYER_CONTROL_PLAYPAUSE" val="False"/>
</p:tagLst>
</file>

<file path=ppt/tags/tag19.xml><?xml version="1.0" encoding="utf-8"?>
<p:tagLst xmlns:a="http://schemas.openxmlformats.org/drawingml/2006/main" xmlns:r="http://schemas.openxmlformats.org/officeDocument/2006/relationships" xmlns:p="http://schemas.openxmlformats.org/presentationml/2006/main">
  <p:tag name="AUDIO_ID" val="421"/>
  <p:tag name="ARTICULATE_USED_LAYOUT" val="2"/>
  <p:tag name="ARTICULATE_NAV_LEVEL" val="1"/>
  <p:tag name="ARTICULATE_SLIDE_PRESENTER_GUID" val="3342dbf6-b8a8-4e0f-9c3b-6378ae645392"/>
  <p:tag name="ARTICULATE_SLIDE_PAUSE" val="0"/>
  <p:tag name="ARTICULATE_LOCK_SLIDE" val="0"/>
  <p:tag name="ARTICULATE_HIDE_SLIDE" val="0"/>
  <p:tag name="ARTICULATE_PLAYER_CONTROL_PREVIOUS" val="True"/>
  <p:tag name="ARTICULATE_PLAYER_CONTROL_NEXT" val="True"/>
  <p:tag name="ARTICULATE_PLAYER_CONTROL_RESOURCES" val="False"/>
  <p:tag name="ARTICULATE_PLAYER_CONTROL_MENU" val="False"/>
  <p:tag name="ARTICULATE_PLAYER_SEEKBAR" val="False"/>
  <p:tag name="ARTICULATE_PLAYER_CONTROL_PLAYPAUSE" val="False"/>
</p:tagLst>
</file>

<file path=ppt/tags/tag20.xml><?xml version="1.0" encoding="utf-8"?>
<p:tagLst xmlns:a="http://schemas.openxmlformats.org/drawingml/2006/main" xmlns:r="http://schemas.openxmlformats.org/officeDocument/2006/relationships" xmlns:p="http://schemas.openxmlformats.org/presentationml/2006/main">
  <p:tag name="AUDIO_ID" val="411"/>
  <p:tag name="ARTICULATE_USED_LAYOUT" val="2"/>
  <p:tag name="ARTICULATE_NAV_LEVEL" val="1"/>
  <p:tag name="ARTICULATE_SLIDE_PRESENTER_GUID" val="3342dbf6-b8a8-4e0f-9c3b-6378ae645392"/>
  <p:tag name="ARTICULATE_SLIDE_PAUSE" val="0"/>
  <p:tag name="ARTICULATE_LOCK_SLIDE" val="0"/>
  <p:tag name="ARTICULATE_HIDE_SLIDE" val="0"/>
  <p:tag name="ARTICULATE_PLAYER_CONTROL_PREVIOUS" val="True"/>
  <p:tag name="ARTICULATE_PLAYER_CONTROL_NEXT" val="True"/>
  <p:tag name="ARTICULATE_PLAYER_CONTROL_RESOURCES" val="False"/>
  <p:tag name="ARTICULATE_PLAYER_CONTROL_MENU" val="False"/>
  <p:tag name="ARTICULATE_PLAYER_SEEKBAR" val="False"/>
  <p:tag name="ARTICULATE_PLAYER_CONTROL_PLAYPAUSE" val="False"/>
</p:tagLst>
</file>

<file path=ppt/tags/tag21.xml><?xml version="1.0" encoding="utf-8"?>
<p:tagLst xmlns:a="http://schemas.openxmlformats.org/drawingml/2006/main" xmlns:r="http://schemas.openxmlformats.org/officeDocument/2006/relationships" xmlns:p="http://schemas.openxmlformats.org/presentationml/2006/main">
  <p:tag name="AUDIO_ID" val="327"/>
  <p:tag name="ARTICULATE_USED_LAYOUT" val="2"/>
  <p:tag name="ARTICULATE_NAV_LEVEL" val="1"/>
  <p:tag name="ARTICULATE_SLIDE_PRESENTER_GUID" val="b8c75b45-25fb-4e99-ad3f-a293b124d98a"/>
  <p:tag name="ARTICULATE_SLIDE_PAUSE" val="0"/>
  <p:tag name="ARTICULATE_LOCK_SLIDE" val="0"/>
  <p:tag name="ARTICULATE_HIDE_SLIDE" val="0"/>
  <p:tag name="ARTICULATE_PLAYER_CONTROL_PREVIOUS" val="True"/>
  <p:tag name="ARTICULATE_PLAYER_CONTROL_NEXT" val="True"/>
  <p:tag name="ARTICULATE_PLAYER_CONTROL_RESOURCES" val="False"/>
  <p:tag name="ARTICULATE_PLAYER_CONTROL_MENU" val="False"/>
  <p:tag name="ARTICULATE_PLAYER_SEEKBAR" val="False"/>
  <p:tag name="ARTICULATE_PLAYER_CONTROL_PLAYPAUSE" val="False"/>
</p:tagLst>
</file>

<file path=ppt/tags/tag22.xml><?xml version="1.0" encoding="utf-8"?>
<p:tagLst xmlns:a="http://schemas.openxmlformats.org/drawingml/2006/main" xmlns:r="http://schemas.openxmlformats.org/officeDocument/2006/relationships" xmlns:p="http://schemas.openxmlformats.org/presentationml/2006/main">
  <p:tag name="AUDIO_ID" val="409"/>
  <p:tag name="ARTICULATE_USED_LAYOUT" val="2"/>
  <p:tag name="ARTICULATE_NAV_LEVEL" val="1"/>
  <p:tag name="ARTICULATE_SLIDE_PRESENTER_GUID" val="b8c75b45-25fb-4e99-ad3f-a293b124d98a"/>
  <p:tag name="ARTICULATE_SLIDE_PAUSE" val="0"/>
  <p:tag name="ARTICULATE_LOCK_SLIDE" val="0"/>
  <p:tag name="ARTICULATE_HIDE_SLIDE" val="0"/>
  <p:tag name="ARTICULATE_PLAYER_CONTROL_PREVIOUS" val="True"/>
  <p:tag name="ARTICULATE_PLAYER_CONTROL_NEXT" val="True"/>
  <p:tag name="ARTICULATE_PLAYER_CONTROL_RESOURCES" val="False"/>
  <p:tag name="ARTICULATE_PLAYER_CONTROL_MENU" val="False"/>
  <p:tag name="ARTICULATE_PLAYER_SEEKBAR" val="False"/>
  <p:tag name="ARTICULATE_PLAYER_CONTROL_PLAYPAUSE" val="False"/>
</p:tagLst>
</file>

<file path=ppt/tags/tag23.xml><?xml version="1.0" encoding="utf-8"?>
<p:tagLst xmlns:a="http://schemas.openxmlformats.org/drawingml/2006/main" xmlns:r="http://schemas.openxmlformats.org/officeDocument/2006/relationships" xmlns:p="http://schemas.openxmlformats.org/presentationml/2006/main">
  <p:tag name="AUDIO_ID" val="420"/>
  <p:tag name="ARTICULATE_USED_LAYOUT" val="2"/>
  <p:tag name="ARTICULATE_NAV_LEVEL" val="1"/>
  <p:tag name="ARTICULATE_SLIDE_PRESENTER_GUID" val="b8c75b45-25fb-4e99-ad3f-a293b124d98a"/>
  <p:tag name="ARTICULATE_SLIDE_PAUSE" val="0"/>
  <p:tag name="ARTICULATE_LOCK_SLIDE" val="0"/>
  <p:tag name="ARTICULATE_HIDE_SLIDE" val="0"/>
  <p:tag name="ARTICULATE_PLAYER_CONTROL_PREVIOUS" val="True"/>
  <p:tag name="ARTICULATE_PLAYER_CONTROL_NEXT" val="True"/>
  <p:tag name="ARTICULATE_PLAYER_CONTROL_RESOURCES" val="False"/>
  <p:tag name="ARTICULATE_PLAYER_CONTROL_MENU" val="False"/>
  <p:tag name="ARTICULATE_PLAYER_SEEKBAR" val="False"/>
  <p:tag name="ARTICULATE_PLAYER_CONTROL_PLAYPAUSE" val="False"/>
</p:tagLst>
</file>

<file path=ppt/tags/tag24.xml><?xml version="1.0" encoding="utf-8"?>
<p:tagLst xmlns:a="http://schemas.openxmlformats.org/drawingml/2006/main" xmlns:r="http://schemas.openxmlformats.org/officeDocument/2006/relationships" xmlns:p="http://schemas.openxmlformats.org/presentationml/2006/main">
  <p:tag name="AUDIO_ID" val="417"/>
  <p:tag name="ARTICULATE_USED_LAYOUT" val="2"/>
  <p:tag name="ARTICULATE_NAV_LEVEL" val="1"/>
  <p:tag name="ARTICULATE_SLIDE_PRESENTER_GUID" val="b8c75b45-25fb-4e99-ad3f-a293b124d98a"/>
  <p:tag name="ARTICULATE_SLIDE_PAUSE" val="0"/>
  <p:tag name="ARTICULATE_LOCK_SLIDE" val="0"/>
  <p:tag name="ARTICULATE_HIDE_SLIDE" val="0"/>
  <p:tag name="ARTICULATE_PLAYER_CONTROL_PREVIOUS" val="True"/>
  <p:tag name="ARTICULATE_PLAYER_CONTROL_NEXT" val="True"/>
  <p:tag name="ARTICULATE_PLAYER_CONTROL_RESOURCES" val="False"/>
  <p:tag name="ARTICULATE_PLAYER_CONTROL_MENU" val="False"/>
  <p:tag name="ARTICULATE_PLAYER_SEEKBAR" val="False"/>
  <p:tag name="ARTICULATE_PLAYER_CONTROL_PLAYPAUSE" val="False"/>
</p:tagLst>
</file>

<file path=ppt/tags/tag25.xml><?xml version="1.0" encoding="utf-8"?>
<p:tagLst xmlns:a="http://schemas.openxmlformats.org/drawingml/2006/main" xmlns:r="http://schemas.openxmlformats.org/officeDocument/2006/relationships" xmlns:p="http://schemas.openxmlformats.org/presentationml/2006/main">
  <p:tag name="AUDIO_ID" val="425"/>
  <p:tag name="ARTICULATE_USED_LAYOUT" val="2"/>
  <p:tag name="ARTICULATE_NAV_LEVEL" val="1"/>
  <p:tag name="ARTICULATE_SLIDE_PRESENTER_GUID" val="b8c75b45-25fb-4e99-ad3f-a293b124d98a"/>
  <p:tag name="ARTICULATE_SLIDE_PAUSE" val="0"/>
  <p:tag name="ARTICULATE_LOCK_SLIDE" val="0"/>
  <p:tag name="ARTICULATE_HIDE_SLIDE" val="0"/>
  <p:tag name="ARTICULATE_PLAYER_CONTROL_PREVIOUS" val="True"/>
  <p:tag name="ARTICULATE_PLAYER_CONTROL_NEXT" val="True"/>
  <p:tag name="ARTICULATE_PLAYER_CONTROL_RESOURCES" val="False"/>
  <p:tag name="ARTICULATE_PLAYER_CONTROL_MENU" val="False"/>
  <p:tag name="ARTICULATE_PLAYER_SEEKBAR" val="False"/>
  <p:tag name="ARTICULATE_PLAYER_CONTROL_PLAYPAUSE" val="False"/>
</p:tagLst>
</file>

<file path=ppt/tags/tag26.xml><?xml version="1.0" encoding="utf-8"?>
<p:tagLst xmlns:a="http://schemas.openxmlformats.org/drawingml/2006/main" xmlns:r="http://schemas.openxmlformats.org/officeDocument/2006/relationships" xmlns:p="http://schemas.openxmlformats.org/presentationml/2006/main">
  <p:tag name="AUDIO_ID" val="425"/>
  <p:tag name="ARTICULATE_USED_LAYOUT" val="2"/>
  <p:tag name="ARTICULATE_NAV_LEVEL" val="1"/>
  <p:tag name="ARTICULATE_SLIDE_PRESENTER_GUID" val="b8c75b45-25fb-4e99-ad3f-a293b124d98a"/>
  <p:tag name="ARTICULATE_SLIDE_PAUSE" val="0"/>
  <p:tag name="ARTICULATE_LOCK_SLIDE" val="0"/>
  <p:tag name="ARTICULATE_HIDE_SLIDE" val="0"/>
  <p:tag name="ARTICULATE_PLAYER_CONTROL_PREVIOUS" val="True"/>
  <p:tag name="ARTICULATE_PLAYER_CONTROL_NEXT" val="True"/>
  <p:tag name="ARTICULATE_PLAYER_CONTROL_RESOURCES" val="False"/>
  <p:tag name="ARTICULATE_PLAYER_CONTROL_MENU" val="False"/>
  <p:tag name="ARTICULATE_PLAYER_SEEKBAR" val="False"/>
  <p:tag name="ARTICULATE_PLAYER_CONTROL_PLAYPAUSE" val="False"/>
</p:tagLst>
</file>

<file path=ppt/tags/tag27.xml><?xml version="1.0" encoding="utf-8"?>
<p:tagLst xmlns:a="http://schemas.openxmlformats.org/drawingml/2006/main" xmlns:r="http://schemas.openxmlformats.org/officeDocument/2006/relationships" xmlns:p="http://schemas.openxmlformats.org/presentationml/2006/main">
  <p:tag name="AUDIO_ID" val="421"/>
  <p:tag name="ARTICULATE_USED_LAYOUT" val="2"/>
  <p:tag name="ARTICULATE_NAV_LEVEL" val="1"/>
  <p:tag name="ARTICULATE_SLIDE_PRESENTER_GUID" val="b8c75b45-25fb-4e99-ad3f-a293b124d98a"/>
  <p:tag name="ARTICULATE_SLIDE_PAUSE" val="0"/>
  <p:tag name="ARTICULATE_LOCK_SLIDE" val="0"/>
  <p:tag name="ARTICULATE_HIDE_SLIDE" val="0"/>
  <p:tag name="ARTICULATE_PLAYER_CONTROL_PREVIOUS" val="True"/>
  <p:tag name="ARTICULATE_PLAYER_CONTROL_NEXT" val="True"/>
  <p:tag name="ARTICULATE_PLAYER_CONTROL_RESOURCES" val="False"/>
  <p:tag name="ARTICULATE_PLAYER_CONTROL_MENU" val="False"/>
  <p:tag name="ARTICULATE_PLAYER_SEEKBAR" val="False"/>
  <p:tag name="ARTICULATE_PLAYER_CONTROL_PLAYPAUSE" val="False"/>
</p:tagLst>
</file>

<file path=ppt/tags/tag28.xml><?xml version="1.0" encoding="utf-8"?>
<p:tagLst xmlns:a="http://schemas.openxmlformats.org/drawingml/2006/main" xmlns:r="http://schemas.openxmlformats.org/officeDocument/2006/relationships" xmlns:p="http://schemas.openxmlformats.org/presentationml/2006/main">
  <p:tag name="ARTICULATE_NAV_LEVEL" val="1"/>
  <p:tag name="ARTICULATE_SLIDE_PRESENTER_GUID" val="db468d3a-670b-4e7f-884c-4f290a89136c"/>
  <p:tag name="ARTICULATE_SLIDE_PAUSE" val="0"/>
  <p:tag name="ARTICULATE_LOCK_SLIDE" val="0"/>
  <p:tag name="ARTICULATE_HIDE_SLIDE" val="0"/>
  <p:tag name="ARTICULATE_PLAYER_CONTROL_PREVIOUS" val="True"/>
  <p:tag name="ARTICULATE_PLAYER_CONTROL_NEXT" val="True"/>
  <p:tag name="ARTICULATE_PLAYER_CONTROL_RESOURCES" val="False"/>
  <p:tag name="ARTICULATE_PLAYER_CONTROL_MENU" val="False"/>
  <p:tag name="ARTICULATE_PLAYER_SEEKBAR" val="False"/>
  <p:tag name="ARTICULATE_PLAYER_CONTROL_PLAYPAUSE" val="False"/>
  <p:tag name="AUDIO_ID" val="394"/>
  <p:tag name="ARTICULATE_USED_LAYOUT" val="2"/>
</p:tagLst>
</file>

<file path=ppt/tags/tag29.xml><?xml version="1.0" encoding="utf-8"?>
<p:tagLst xmlns:a="http://schemas.openxmlformats.org/drawingml/2006/main" xmlns:r="http://schemas.openxmlformats.org/officeDocument/2006/relationships" xmlns:p="http://schemas.openxmlformats.org/presentationml/2006/main">
  <p:tag name="ARTICULATE_NAV_LEVEL" val="1"/>
  <p:tag name="ARTICULATE_SLIDE_PRESENTER_GUID" val="db468d3a-670b-4e7f-884c-4f290a89136c"/>
  <p:tag name="ARTICULATE_SLIDE_PAUSE" val="0"/>
  <p:tag name="ARTICULATE_LOCK_SLIDE" val="0"/>
  <p:tag name="ARTICULATE_HIDE_SLIDE" val="0"/>
  <p:tag name="ARTICULATE_PLAYER_CONTROL_PREVIOUS" val="True"/>
  <p:tag name="ARTICULATE_PLAYER_CONTROL_NEXT" val="True"/>
  <p:tag name="ARTICULATE_PLAYER_CONTROL_RESOURCES" val="False"/>
  <p:tag name="ARTICULATE_PLAYER_CONTROL_MENU" val="False"/>
  <p:tag name="ARTICULATE_PLAYER_SEEKBAR" val="False"/>
  <p:tag name="ARTICULATE_PLAYER_CONTROL_PLAYPAUSE" val="False"/>
  <p:tag name="AUDIO_ID" val="377"/>
  <p:tag name="ARTICULATE_USED_LAYOUT" val="2"/>
</p:tagLst>
</file>

<file path=ppt/tags/tag30.xml><?xml version="1.0" encoding="utf-8"?>
<p:tagLst xmlns:a="http://schemas.openxmlformats.org/drawingml/2006/main" xmlns:r="http://schemas.openxmlformats.org/officeDocument/2006/relationships" xmlns:p="http://schemas.openxmlformats.org/presentationml/2006/main">
  <p:tag name="ARTICULATE_NAV_LEVEL" val="1"/>
  <p:tag name="ARTICULATE_SLIDE_PRESENTER_GUID" val="db468d3a-670b-4e7f-884c-4f290a89136c"/>
  <p:tag name="ARTICULATE_SLIDE_PAUSE" val="0"/>
  <p:tag name="ARTICULATE_LOCK_SLIDE" val="0"/>
  <p:tag name="ARTICULATE_HIDE_SLIDE" val="0"/>
  <p:tag name="ARTICULATE_PLAYER_CONTROL_PREVIOUS" val="True"/>
  <p:tag name="ARTICULATE_PLAYER_CONTROL_NEXT" val="True"/>
  <p:tag name="ARTICULATE_PLAYER_CONTROL_RESOURCES" val="False"/>
  <p:tag name="ARTICULATE_PLAYER_CONTROL_MENU" val="False"/>
  <p:tag name="ARTICULATE_PLAYER_SEEKBAR" val="False"/>
  <p:tag name="ARTICULATE_PLAYER_CONTROL_PLAYPAUSE" val="False"/>
  <p:tag name="AUDIO_ID" val="384"/>
  <p:tag name="ARTICULATE_USED_LAYOUT" val="8"/>
</p:tagLst>
</file>

<file path=ppt/tags/tag31.xml><?xml version="1.0" encoding="utf-8"?>
<p:tagLst xmlns:a="http://schemas.openxmlformats.org/drawingml/2006/main" xmlns:r="http://schemas.openxmlformats.org/officeDocument/2006/relationships" xmlns:p="http://schemas.openxmlformats.org/presentationml/2006/main">
  <p:tag name="ARTICULATE_NAV_LEVEL" val="1"/>
  <p:tag name="ARTICULATE_SLIDE_PRESENTER_GUID" val="db468d3a-670b-4e7f-884c-4f290a89136c"/>
  <p:tag name="ARTICULATE_SLIDE_PAUSE" val="0"/>
  <p:tag name="ARTICULATE_LOCK_SLIDE" val="0"/>
  <p:tag name="ARTICULATE_HIDE_SLIDE" val="0"/>
  <p:tag name="ARTICULATE_PLAYER_CONTROL_PREVIOUS" val="True"/>
  <p:tag name="ARTICULATE_PLAYER_CONTROL_NEXT" val="True"/>
  <p:tag name="ARTICULATE_PLAYER_CONTROL_RESOURCES" val="False"/>
  <p:tag name="ARTICULATE_PLAYER_CONTROL_MENU" val="False"/>
  <p:tag name="ARTICULATE_PLAYER_SEEKBAR" val="False"/>
  <p:tag name="ARTICULATE_PLAYER_CONTROL_PLAYPAUSE" val="False"/>
  <p:tag name="AUDIO_ID" val="424"/>
  <p:tag name="ARTICULATE_USED_LAYOUT" val="2"/>
</p:tagLst>
</file>

<file path=ppt/tags/tag32.xml><?xml version="1.0" encoding="utf-8"?>
<p:tagLst xmlns:a="http://schemas.openxmlformats.org/drawingml/2006/main" xmlns:r="http://schemas.openxmlformats.org/officeDocument/2006/relationships" xmlns:p="http://schemas.openxmlformats.org/presentationml/2006/main">
  <p:tag name="ARTICULATE_NAV_LEVEL" val="1"/>
  <p:tag name="ARTICULATE_SLIDE_PRESENTER_GUID" val="db468d3a-670b-4e7f-884c-4f290a89136c"/>
  <p:tag name="ARTICULATE_SLIDE_PAUSE" val="0"/>
  <p:tag name="ARTICULATE_LOCK_SLIDE" val="0"/>
  <p:tag name="ARTICULATE_HIDE_SLIDE" val="0"/>
  <p:tag name="ARTICULATE_PLAYER_CONTROL_PREVIOUS" val="True"/>
  <p:tag name="ARTICULATE_PLAYER_CONTROL_NEXT" val="True"/>
  <p:tag name="ARTICULATE_PLAYER_CONTROL_RESOURCES" val="False"/>
  <p:tag name="ARTICULATE_PLAYER_CONTROL_MENU" val="False"/>
  <p:tag name="ARTICULATE_PLAYER_SEEKBAR" val="False"/>
  <p:tag name="ARTICULATE_PLAYER_CONTROL_PLAYPAUSE" val="False"/>
  <p:tag name="AUDIO_ID" val="425"/>
  <p:tag name="ARTICULATE_USED_LAYOUT" val="2"/>
</p:tagLst>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2.xml><?xml version="1.0" encoding="utf-8"?>
<a:theme xmlns:a="http://schemas.openxmlformats.org/drawingml/2006/main" name="Contents Slide Master">
  <a:themeElements>
    <a:clrScheme name="ALLPPT-COLOR-A33">
      <a:dk1>
        <a:sysClr val="windowText" lastClr="000000"/>
      </a:dk1>
      <a:lt1>
        <a:sysClr val="window" lastClr="FFFFFF"/>
      </a:lt1>
      <a:dk2>
        <a:srgbClr val="1F497D"/>
      </a:dk2>
      <a:lt2>
        <a:srgbClr val="EEECE1"/>
      </a:lt2>
      <a:accent1>
        <a:srgbClr val="EF4A4A"/>
      </a:accent1>
      <a:accent2>
        <a:srgbClr val="262626"/>
      </a:accent2>
      <a:accent3>
        <a:srgbClr val="EF4A4A"/>
      </a:accent3>
      <a:accent4>
        <a:srgbClr val="262626"/>
      </a:accent4>
      <a:accent5>
        <a:srgbClr val="EF4A4A"/>
      </a:accent5>
      <a:accent6>
        <a:srgbClr val="262626"/>
      </a:accent6>
      <a:hlink>
        <a:srgbClr val="0000FF"/>
      </a:hlink>
      <a:folHlink>
        <a:srgbClr val="800080"/>
      </a:folHlink>
    </a:clrScheme>
    <a:fontScheme name="ALLPPT FONT">
      <a:majorFont>
        <a:latin typeface="Arial"/>
        <a:ea typeface="Arial Unicode MS"/>
        <a:cs typeface=""/>
      </a:majorFont>
      <a:minorFont>
        <a:latin typeface="Arial"/>
        <a:ea typeface="Arial Unicode MS"/>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smaple</Template>
  <TotalTime>2626</TotalTime>
  <Words>2037</Words>
  <Application>Microsoft Office PowerPoint</Application>
  <PresentationFormat>Custom</PresentationFormat>
  <Paragraphs>226</Paragraphs>
  <Slides>33</Slides>
  <Notes>2</Notes>
  <HiddenSlides>0</HiddenSlides>
  <MMClips>0</MMClips>
  <ScaleCrop>false</ScaleCrop>
  <HeadingPairs>
    <vt:vector size="6" baseType="variant">
      <vt:variant>
        <vt:lpstr>Theme</vt:lpstr>
      </vt:variant>
      <vt:variant>
        <vt:i4>2</vt:i4>
      </vt:variant>
      <vt:variant>
        <vt:lpstr>Embedded OLE Servers</vt:lpstr>
      </vt:variant>
      <vt:variant>
        <vt:i4>1</vt:i4>
      </vt:variant>
      <vt:variant>
        <vt:lpstr>Slide Titles</vt:lpstr>
      </vt:variant>
      <vt:variant>
        <vt:i4>33</vt:i4>
      </vt:variant>
    </vt:vector>
  </HeadingPairs>
  <TitlesOfParts>
    <vt:vector size="36" baseType="lpstr">
      <vt:lpstr>1_Office Theme</vt:lpstr>
      <vt:lpstr>Contents Slide Master</vt:lpstr>
      <vt:lpstr>CorelDRAW</vt:lpstr>
      <vt:lpstr>Slide 1</vt:lpstr>
      <vt:lpstr>Course Objectives</vt:lpstr>
      <vt:lpstr>Course Outcomes</vt:lpstr>
      <vt:lpstr>Slide 4</vt:lpstr>
      <vt:lpstr>Content   </vt:lpstr>
      <vt:lpstr>Introduction to Transistor</vt:lpstr>
      <vt:lpstr>Transistor Configuration</vt:lpstr>
      <vt:lpstr>Common Base Connection</vt:lpstr>
      <vt:lpstr>Current amplification factor (α)</vt:lpstr>
      <vt:lpstr>Expression for collector current</vt:lpstr>
      <vt:lpstr>Expression for collector current</vt:lpstr>
      <vt:lpstr>Expression for collector current</vt:lpstr>
      <vt:lpstr>Concept of ICBO</vt:lpstr>
      <vt:lpstr>Common Emitter Configuration</vt:lpstr>
      <vt:lpstr>Common Emitter Configuration</vt:lpstr>
      <vt:lpstr>Input Characteristics</vt:lpstr>
      <vt:lpstr>Input Characteristics</vt:lpstr>
      <vt:lpstr>Output Characteristics</vt:lpstr>
      <vt:lpstr>Output Characteristics</vt:lpstr>
      <vt:lpstr>Transistor parameters</vt:lpstr>
      <vt:lpstr>Common Collector Configuration</vt:lpstr>
      <vt:lpstr>Input Characteristics</vt:lpstr>
      <vt:lpstr>Curve between input current IB and input voltage VBC</vt:lpstr>
      <vt:lpstr>Output Characteristics</vt:lpstr>
      <vt:lpstr> Curve between output current IE and output voltage VEC</vt:lpstr>
      <vt:lpstr> Curve between output current IE and output voltage VEC</vt:lpstr>
      <vt:lpstr> Curve between output current IC and output voltage VCE </vt:lpstr>
      <vt:lpstr>Summary</vt:lpstr>
      <vt:lpstr>Frequently Asked Questions</vt:lpstr>
      <vt:lpstr>LEARNING OUTCOMES </vt:lpstr>
      <vt:lpstr>References</vt:lpstr>
      <vt:lpstr>Assessment Pattern</vt:lpstr>
      <vt:lpstr>Slide 33</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Branding</dc:creator>
  <cp:lastModifiedBy>Acer</cp:lastModifiedBy>
  <cp:revision>316</cp:revision>
  <dcterms:created xsi:type="dcterms:W3CDTF">2019-01-09T10:33:58Z</dcterms:created>
  <dcterms:modified xsi:type="dcterms:W3CDTF">2023-06-20T07:14:03Z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10D34DAE-4002-49BD-8660-CFA01CDEE92F</vt:lpwstr>
  </property>
  <property fmtid="{D5CDD505-2E9C-101B-9397-08002B2CF9AE}" pid="3" name="ArticulatePath">
    <vt:lpwstr>Lecture 4</vt:lpwstr>
  </property>
  <property fmtid="{D5CDD505-2E9C-101B-9397-08002B2CF9AE}" pid="4" name="ArticulateProjectVersion">
    <vt:lpwstr>7</vt:lpwstr>
  </property>
  <property fmtid="{D5CDD505-2E9C-101B-9397-08002B2CF9AE}" pid="5" name="ArticulateUseProject">
    <vt:lpwstr>1</vt:lpwstr>
  </property>
  <property fmtid="{D5CDD505-2E9C-101B-9397-08002B2CF9AE}" pid="6" name="ArticulateProjectFull">
    <vt:lpwstr>L:\2021_Even_Semester\POE\Theory\UNIT-2\Unit 2 PPT\Lecture 3.ppta</vt:lpwstr>
  </property>
</Properties>
</file>