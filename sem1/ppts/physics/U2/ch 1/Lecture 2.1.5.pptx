
<file path=[Content_Types].xml><?xml version="1.0" encoding="utf-8"?>
<Types xmlns="http://schemas.openxmlformats.org/package/2006/content-types">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tags/tag17.xml" ContentType="application/vnd.openxmlformats-officedocument.presentationml.tags+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428" r:id="rId3"/>
    <p:sldId id="326" r:id="rId4"/>
    <p:sldId id="343" r:id="rId5"/>
    <p:sldId id="344" r:id="rId6"/>
    <p:sldId id="345" r:id="rId7"/>
    <p:sldId id="401" r:id="rId8"/>
    <p:sldId id="328" r:id="rId9"/>
    <p:sldId id="346" r:id="rId10"/>
    <p:sldId id="347" r:id="rId11"/>
    <p:sldId id="393" r:id="rId12"/>
    <p:sldId id="348" r:id="rId13"/>
    <p:sldId id="349" r:id="rId14"/>
    <p:sldId id="350" r:id="rId15"/>
    <p:sldId id="391" r:id="rId16"/>
    <p:sldId id="421" r:id="rId17"/>
    <p:sldId id="422" r:id="rId18"/>
    <p:sldId id="423" r:id="rId19"/>
    <p:sldId id="424" r:id="rId20"/>
    <p:sldId id="425" r:id="rId21"/>
    <p:sldId id="426" r:id="rId22"/>
    <p:sldId id="427" r:id="rId23"/>
    <p:sldId id="394" r:id="rId24"/>
    <p:sldId id="377" r:id="rId25"/>
    <p:sldId id="384" r:id="rId26"/>
    <p:sldId id="405" r:id="rId27"/>
    <p:sldId id="406" r:id="rId28"/>
    <p:sldId id="420" r:id="rId29"/>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15" autoAdjust="0"/>
    <p:restoredTop sz="96270" autoAdjust="0"/>
  </p:normalViewPr>
  <p:slideViewPr>
    <p:cSldViewPr snapToGrid="0">
      <p:cViewPr varScale="1">
        <p:scale>
          <a:sx n="63" d="100"/>
          <a:sy n="63" d="100"/>
        </p:scale>
        <p:origin x="-780"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a:t>Source:https</a:t>
            </a:r>
            <a:r>
              <a:rPr lang="en-IN" dirty="0"/>
              <a:t>://</a:t>
            </a:r>
            <a:r>
              <a:rPr lang="en-IN" dirty="0" err="1"/>
              <a:t>www.polytechnichub.com</a:t>
            </a:r>
            <a:r>
              <a:rPr lang="en-IN" dirty="0"/>
              <a:t>/</a:t>
            </a:r>
            <a:r>
              <a:rPr lang="en-IN" dirty="0" err="1"/>
              <a:t>wp</a:t>
            </a:r>
            <a:r>
              <a:rPr lang="en-IN" dirty="0"/>
              <a:t>-content/uploads/2017/04/biasing-of-</a:t>
            </a:r>
            <a:r>
              <a:rPr lang="en-IN" dirty="0" err="1"/>
              <a:t>jfet.jpg</a:t>
            </a:r>
            <a:endParaRPr lang="en-IN" dirty="0"/>
          </a:p>
          <a:p>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err="1"/>
              <a:t>Source:http</a:t>
            </a:r>
            <a:r>
              <a:rPr lang="en-IN" dirty="0"/>
              <a:t>://</a:t>
            </a:r>
            <a:r>
              <a:rPr lang="en-IN" dirty="0" err="1"/>
              <a:t>www.circuitstoday.com</a:t>
            </a:r>
            <a:r>
              <a:rPr lang="en-IN" dirty="0"/>
              <a:t>/</a:t>
            </a:r>
            <a:r>
              <a:rPr lang="en-IN" dirty="0" err="1"/>
              <a:t>wp</a:t>
            </a:r>
            <a:r>
              <a:rPr lang="en-IN" dirty="0"/>
              <a:t>-content/uploads/2009/08/n-channel-p-channel-</a:t>
            </a:r>
            <a:r>
              <a:rPr lang="en-IN" dirty="0" err="1"/>
              <a:t>jfet.jpg</a:t>
            </a:r>
            <a:endParaRPr lang="en-IN" dirty="0"/>
          </a:p>
          <a:p>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Source:https</a:t>
            </a:r>
            <a:r>
              <a:rPr lang="en-US" dirty="0"/>
              <a:t>://</a:t>
            </a:r>
            <a:r>
              <a:rPr lang="en-US" dirty="0" err="1"/>
              <a:t>www.polytechnichub.com</a:t>
            </a:r>
            <a:r>
              <a:rPr lang="en-US" dirty="0"/>
              <a:t>/</a:t>
            </a:r>
            <a:r>
              <a:rPr lang="en-US" dirty="0" err="1"/>
              <a:t>wp</a:t>
            </a:r>
            <a:r>
              <a:rPr lang="en-US" dirty="0"/>
              <a:t>-content/uploads/2017/04/biasing-of-</a:t>
            </a:r>
            <a:r>
              <a:rPr lang="en-US" dirty="0" err="1"/>
              <a:t>jfet.jpg</a:t>
            </a:r>
            <a:endParaRPr lang="en-US" dirty="0"/>
          </a:p>
          <a:p>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xmlns="" val="1655558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Source:https</a:t>
            </a:r>
            <a:r>
              <a:rPr lang="en-US" dirty="0"/>
              <a:t>://</a:t>
            </a:r>
            <a:r>
              <a:rPr lang="en-US" dirty="0" err="1"/>
              <a:t>www.polytechnichub.com</a:t>
            </a:r>
            <a:r>
              <a:rPr lang="en-US" dirty="0"/>
              <a:t>/</a:t>
            </a:r>
            <a:r>
              <a:rPr lang="en-US" dirty="0" err="1"/>
              <a:t>wp</a:t>
            </a:r>
            <a:r>
              <a:rPr lang="en-US" dirty="0"/>
              <a:t>-content/uploads/2017/04/biasing-of-</a:t>
            </a:r>
            <a:r>
              <a:rPr lang="en-US" dirty="0" err="1"/>
              <a:t>jfet.jpg</a:t>
            </a:r>
            <a:endParaRPr lang="en-US" dirty="0"/>
          </a:p>
          <a:p>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hyperlink" Target="https://www.doeeet.com/content/wp-content/uploads/2019/06/Basic-Digital-to-Analog-Converter.png"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 Id="rId5" Type="http://schemas.openxmlformats.org/officeDocument/2006/relationships/image" Target="../media/image9.emf"/><Relationship Id="rId4" Type="http://schemas.openxmlformats.org/officeDocument/2006/relationships/hyperlink" Target="https://www.doeeet.com/content/wp-content/uploads/2019/06/Basic-Digital-to-Analog-Converter.png"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8.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Experiment-2.1.5</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pitchFamily="18" charset="0"/>
                <a:cs typeface="Times New Roman" pitchFamily="18" charset="0"/>
              </a:rPr>
              <a:t>Introduction to FET &amp; MOSFET and its Applications.</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Font typeface="Wingdings" pitchFamily="2" charset="2"/>
              <a:buChar char="v"/>
            </a:pPr>
            <a:r>
              <a:rPr lang="en-IN" dirty="0"/>
              <a:t>Types of Field Effect Transistors</a:t>
            </a:r>
          </a:p>
          <a:p>
            <a:pPr marL="342900" lvl="0" indent="-342900">
              <a:lnSpc>
                <a:spcPct val="100000"/>
              </a:lnSpc>
              <a:spcBef>
                <a:spcPts val="0"/>
              </a:spcBef>
              <a:buFont typeface="Wingdings" pitchFamily="2" charset="2"/>
              <a:buChar char="v"/>
            </a:pPr>
            <a:r>
              <a:rPr lang="en-IN" dirty="0"/>
              <a:t>Junction Field Effect Transistor (JFET) </a:t>
            </a:r>
          </a:p>
          <a:p>
            <a:pPr marL="342900" lvl="0" indent="-342900">
              <a:lnSpc>
                <a:spcPct val="100000"/>
              </a:lnSpc>
              <a:spcBef>
                <a:spcPts val="0"/>
              </a:spcBef>
              <a:buFont typeface="Wingdings" pitchFamily="2" charset="2"/>
              <a:buChar char="v"/>
            </a:pPr>
            <a:r>
              <a:rPr lang="en-IN" dirty="0"/>
              <a:t>Constructional Details</a:t>
            </a:r>
          </a:p>
          <a:p>
            <a:pPr marL="342900" lvl="0" indent="-342900">
              <a:lnSpc>
                <a:spcPct val="100000"/>
              </a:lnSpc>
              <a:spcBef>
                <a:spcPts val="0"/>
              </a:spcBef>
              <a:buFont typeface="Wingdings" pitchFamily="2" charset="2"/>
              <a:buChar char="v"/>
            </a:pPr>
            <a:r>
              <a:rPr lang="en-IN" dirty="0"/>
              <a:t>Schematic Symbol of </a:t>
            </a:r>
            <a:r>
              <a:rPr lang="en-IN" dirty="0" smtClean="0"/>
              <a:t>JFET</a:t>
            </a:r>
          </a:p>
          <a:p>
            <a:pPr marL="342900" lvl="0" indent="-342900">
              <a:lnSpc>
                <a:spcPct val="100000"/>
              </a:lnSpc>
              <a:spcBef>
                <a:spcPts val="0"/>
              </a:spcBef>
              <a:buFont typeface="Wingdings" pitchFamily="2" charset="2"/>
              <a:buChar char="v"/>
            </a:pPr>
            <a:r>
              <a:rPr lang="en-IN" dirty="0" smtClean="0"/>
              <a:t>Introduction MOSFET</a:t>
            </a:r>
          </a:p>
          <a:p>
            <a:pPr marL="342900" lvl="0" indent="-342900">
              <a:lnSpc>
                <a:spcPct val="100000"/>
              </a:lnSpc>
              <a:spcBef>
                <a:spcPts val="0"/>
              </a:spcBef>
              <a:buFont typeface="Wingdings" pitchFamily="2" charset="2"/>
              <a:buChar char="v"/>
            </a:pPr>
            <a:r>
              <a:rPr lang="en-IN" dirty="0" smtClean="0"/>
              <a:t>Applications of MOSFET</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Types of Field Effect Transistors</a:t>
            </a:r>
            <a:endParaRPr lang="en-US" b="1" dirty="0"/>
          </a:p>
        </p:txBody>
      </p:sp>
      <p:sp>
        <p:nvSpPr>
          <p:cNvPr id="3" name="Content Placeholder 2"/>
          <p:cNvSpPr>
            <a:spLocks noGrp="1"/>
          </p:cNvSpPr>
          <p:nvPr>
            <p:ph idx="1"/>
          </p:nvPr>
        </p:nvSpPr>
        <p:spPr>
          <a:xfrm>
            <a:off x="838200" y="1590494"/>
            <a:ext cx="10515600" cy="4351338"/>
          </a:xfrm>
        </p:spPr>
        <p:txBody>
          <a:bodyPr>
            <a:normAutofit/>
          </a:bodyPr>
          <a:lstStyle/>
          <a:p>
            <a:pPr algn="just"/>
            <a:r>
              <a:rPr lang="en-IN" dirty="0"/>
              <a:t>A bipolar junction transistor (BJT) is a current controlled device i.e., output characteristics of the device are controlled by base current and not by base voltage.</a:t>
            </a:r>
          </a:p>
          <a:p>
            <a:pPr algn="just"/>
            <a:r>
              <a:rPr lang="en-IN" dirty="0"/>
              <a:t>However, in a field effect transistor (FET), the output characteristics are controlled by input voltage (i.e., electric field) and not by input current.</a:t>
            </a:r>
          </a:p>
          <a:p>
            <a:pPr algn="just"/>
            <a:r>
              <a:rPr lang="en-IN" dirty="0"/>
              <a:t>There are two basic types of field effect transistors:</a:t>
            </a:r>
          </a:p>
          <a:p>
            <a:pPr marL="0" indent="0" algn="just">
              <a:buNone/>
            </a:pPr>
            <a:r>
              <a:rPr lang="en-IN" dirty="0"/>
              <a:t> (i) Junction field effect transistor (JFET) </a:t>
            </a:r>
          </a:p>
          <a:p>
            <a:pPr marL="0" indent="0" algn="just">
              <a:buNone/>
            </a:pPr>
            <a:r>
              <a:rPr lang="en-IN" dirty="0"/>
              <a:t>(ii) Metal oxide semiconductor field effect transistor (MOSFET)</a:t>
            </a: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Junction Field Effect Transistor (JFET) </a:t>
            </a:r>
            <a:endParaRPr lang="en-US" b="1" dirty="0"/>
          </a:p>
        </p:txBody>
      </p:sp>
      <p:sp>
        <p:nvSpPr>
          <p:cNvPr id="3" name="Content Placeholder 2"/>
          <p:cNvSpPr>
            <a:spLocks noGrp="1"/>
          </p:cNvSpPr>
          <p:nvPr>
            <p:ph idx="1"/>
          </p:nvPr>
        </p:nvSpPr>
        <p:spPr>
          <a:xfrm>
            <a:off x="838200" y="1449977"/>
            <a:ext cx="10515600" cy="5003074"/>
          </a:xfrm>
        </p:spPr>
        <p:txBody>
          <a:bodyPr>
            <a:noAutofit/>
          </a:bodyPr>
          <a:lstStyle/>
          <a:p>
            <a:pPr algn="just"/>
            <a:r>
              <a:rPr lang="en-IN" sz="2400" dirty="0"/>
              <a:t>A junction field effect transistor is a three terminal semiconductor device in which current conduction is by one type of carrier i.e., electrons or holes.</a:t>
            </a:r>
          </a:p>
          <a:p>
            <a:pPr marL="0" indent="0" algn="just">
              <a:buNone/>
            </a:pPr>
            <a:r>
              <a:rPr lang="en-IN" sz="2400" dirty="0"/>
              <a:t> </a:t>
            </a:r>
            <a:r>
              <a:rPr lang="en-IN" sz="2400" b="1" dirty="0"/>
              <a:t>Constructional details </a:t>
            </a:r>
          </a:p>
          <a:p>
            <a:pPr algn="just"/>
            <a:r>
              <a:rPr lang="en-IN" sz="2400" dirty="0"/>
              <a:t> A JFET consists of a p-type or n-type silicon bar containing two </a:t>
            </a:r>
            <a:r>
              <a:rPr lang="en-IN" sz="2400" dirty="0" err="1"/>
              <a:t>pn</a:t>
            </a:r>
            <a:r>
              <a:rPr lang="en-IN" sz="2400" dirty="0"/>
              <a:t> junctions at the sides as shown in Fig. 1.</a:t>
            </a:r>
          </a:p>
          <a:p>
            <a:pPr algn="just"/>
            <a:r>
              <a:rPr lang="en-IN" sz="2400" dirty="0"/>
              <a:t>The bar forms the conducting channel for the charge carriers. If the bar is of n-type, it is called n-channel JFET as shown in Fig. (i) and if the bar is of p-type, it is called a p-channel JFET as shown in Fig. (ii). </a:t>
            </a:r>
          </a:p>
          <a:p>
            <a:pPr algn="just"/>
            <a:r>
              <a:rPr lang="en-IN" sz="2400" dirty="0"/>
              <a:t>The two </a:t>
            </a:r>
            <a:r>
              <a:rPr lang="en-IN" sz="2400" dirty="0" err="1"/>
              <a:t>pn</a:t>
            </a:r>
            <a:r>
              <a:rPr lang="en-IN" sz="2400" dirty="0"/>
              <a:t> junctions forming diodes are connected internally and a common terminal called gate is taken out. Other terminals are source and drain taken out from the bar as shown. Thus a JFET has essentially three terminals viz., gate (G), source (S) and drain (D). </a:t>
            </a:r>
            <a:endParaRPr lang="en-US" sz="24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AutoShape 2" descr="https://www.electricaltechnology.org/wp-content/uploads/2020/04/Digital-to-Analog-Converter-DAC-%E2%80%93-Types-Working-Block-Diagram-Applications.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https://www.electricaltechnology.org/wp-content/uploads/2020/04/Digital-to-Analog-Converter-DAC-%E2%80%93-Types-Working-Block-Diagram-Applications.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https://www.electricaltechnology.org/wp-content/uploads/2020/04/Digital-to-Analog-Converter-DAC-%E2%80%93-Types-Working-Block-Diagram-Applications.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2" name="Title 1"/>
          <p:cNvSpPr>
            <a:spLocks noGrp="1"/>
          </p:cNvSpPr>
          <p:nvPr>
            <p:ph type="title" idx="4294967295"/>
          </p:nvPr>
        </p:nvSpPr>
        <p:spPr>
          <a:xfrm>
            <a:off x="0" y="365125"/>
            <a:ext cx="10515600" cy="1325563"/>
          </a:xfrm>
        </p:spPr>
        <p:txBody>
          <a:bodyPr/>
          <a:lstStyle/>
          <a:p>
            <a:pPr algn="ctr"/>
            <a:r>
              <a:rPr lang="en-IN" dirty="0"/>
              <a:t>Constructional Details</a:t>
            </a:r>
            <a:endParaRPr lang="en-US" b="1" dirty="0"/>
          </a:p>
        </p:txBody>
      </p:sp>
      <p:sp>
        <p:nvSpPr>
          <p:cNvPr id="6" name="Rectangle 5"/>
          <p:cNvSpPr/>
          <p:nvPr/>
        </p:nvSpPr>
        <p:spPr>
          <a:xfrm>
            <a:off x="953590" y="4813994"/>
            <a:ext cx="9927770" cy="369332"/>
          </a:xfrm>
          <a:prstGeom prst="rect">
            <a:avLst/>
          </a:prstGeom>
        </p:spPr>
        <p:txBody>
          <a:bodyPr wrap="square">
            <a:spAutoFit/>
          </a:bodyPr>
          <a:lstStyle/>
          <a:p>
            <a:pPr algn="ctr"/>
            <a:r>
              <a:rPr lang="en-IN" dirty="0">
                <a:hlinkClick r:id="rId4"/>
              </a:rPr>
              <a:t>Fig-1 </a:t>
            </a:r>
            <a:r>
              <a:rPr lang="en-IN" dirty="0"/>
              <a:t> Constructional Details</a:t>
            </a:r>
            <a:endParaRPr lang="en-IN" dirty="0">
              <a:hlinkClick r:id="rId4"/>
            </a:endParaRPr>
          </a:p>
        </p:txBody>
      </p:sp>
      <p:pic>
        <p:nvPicPr>
          <p:cNvPr id="205827" name="Picture 3"/>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1201783" y="1724297"/>
            <a:ext cx="9209313" cy="30524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ectangle 6"/>
          <p:cNvSpPr/>
          <p:nvPr/>
        </p:nvSpPr>
        <p:spPr>
          <a:xfrm>
            <a:off x="2464904" y="5340626"/>
            <a:ext cx="6679096" cy="646331"/>
          </a:xfrm>
          <a:prstGeom prst="rect">
            <a:avLst/>
          </a:prstGeom>
        </p:spPr>
        <p:txBody>
          <a:bodyPr wrap="square">
            <a:spAutoFit/>
          </a:bodyPr>
          <a:lstStyle/>
          <a:p>
            <a:pPr>
              <a:defRPr/>
            </a:pPr>
            <a:r>
              <a:rPr lang="en-IN" dirty="0" err="1"/>
              <a:t>Source:https</a:t>
            </a:r>
            <a:r>
              <a:rPr lang="en-IN" dirty="0"/>
              <a:t>://</a:t>
            </a:r>
            <a:r>
              <a:rPr lang="en-IN" dirty="0" err="1"/>
              <a:t>www.polytechnichub.com</a:t>
            </a:r>
            <a:r>
              <a:rPr lang="en-IN" dirty="0"/>
              <a:t>/</a:t>
            </a:r>
            <a:r>
              <a:rPr lang="en-IN" dirty="0" err="1"/>
              <a:t>wp</a:t>
            </a:r>
            <a:r>
              <a:rPr lang="en-IN" dirty="0"/>
              <a:t>-content/uploads/2017/04/biasing-of-</a:t>
            </a:r>
            <a:r>
              <a:rPr lang="en-IN" dirty="0" err="1"/>
              <a:t>jfet.jpg</a:t>
            </a:r>
            <a:endParaRPr lang="en-IN"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2" name="Title 1"/>
          <p:cNvSpPr>
            <a:spLocks noGrp="1"/>
          </p:cNvSpPr>
          <p:nvPr>
            <p:ph type="title" idx="4294967295"/>
          </p:nvPr>
        </p:nvSpPr>
        <p:spPr>
          <a:xfrm>
            <a:off x="940525" y="365125"/>
            <a:ext cx="9940833" cy="1325563"/>
          </a:xfrm>
        </p:spPr>
        <p:txBody>
          <a:bodyPr/>
          <a:lstStyle/>
          <a:p>
            <a:pPr algn="ctr"/>
            <a:r>
              <a:rPr lang="en-IN" dirty="0"/>
              <a:t>Schematic Symbol of JFET</a:t>
            </a:r>
            <a:endParaRPr lang="en-US" b="1" dirty="0"/>
          </a:p>
        </p:txBody>
      </p:sp>
      <p:sp>
        <p:nvSpPr>
          <p:cNvPr id="6" name="Rectangle 5"/>
          <p:cNvSpPr/>
          <p:nvPr/>
        </p:nvSpPr>
        <p:spPr>
          <a:xfrm>
            <a:off x="5512526" y="4813994"/>
            <a:ext cx="5368833" cy="369332"/>
          </a:xfrm>
          <a:prstGeom prst="rect">
            <a:avLst/>
          </a:prstGeom>
        </p:spPr>
        <p:txBody>
          <a:bodyPr wrap="square">
            <a:spAutoFit/>
          </a:bodyPr>
          <a:lstStyle/>
          <a:p>
            <a:pPr algn="ctr"/>
            <a:r>
              <a:rPr lang="en-IN" dirty="0">
                <a:hlinkClick r:id="rId4"/>
              </a:rPr>
              <a:t>Fig-2  </a:t>
            </a:r>
            <a:r>
              <a:rPr lang="en-IN" dirty="0"/>
              <a:t>Symbol of JFET</a:t>
            </a:r>
            <a:r>
              <a:rPr lang="en-IN" dirty="0">
                <a:hlinkClick r:id="rId4"/>
              </a:rPr>
              <a:t> </a:t>
            </a:r>
          </a:p>
        </p:txBody>
      </p:sp>
      <p:pic>
        <p:nvPicPr>
          <p:cNvPr id="205826" name="Picture 2"/>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6113417" y="1894114"/>
            <a:ext cx="4506686" cy="29198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ectangle 6"/>
          <p:cNvSpPr/>
          <p:nvPr/>
        </p:nvSpPr>
        <p:spPr>
          <a:xfrm>
            <a:off x="940526" y="1776549"/>
            <a:ext cx="5172891" cy="3970318"/>
          </a:xfrm>
          <a:prstGeom prst="rect">
            <a:avLst/>
          </a:prstGeom>
        </p:spPr>
        <p:txBody>
          <a:bodyPr wrap="square">
            <a:spAutoFit/>
          </a:bodyPr>
          <a:lstStyle/>
          <a:p>
            <a:pPr algn="just"/>
            <a:r>
              <a:rPr lang="en-IN" sz="2800" dirty="0"/>
              <a:t>Fig. shows the schematic symbol of JFET. The vertical line in the symbol may be thought channel is n-type, the arrow on the gate points towards the channel as shown in Fig. (i). </a:t>
            </a:r>
          </a:p>
          <a:p>
            <a:pPr algn="just"/>
            <a:r>
              <a:rPr lang="en-IN" sz="2800" dirty="0"/>
              <a:t>However, for p-type channel, the arrow on the gate points from channel to gate .</a:t>
            </a:r>
          </a:p>
        </p:txBody>
      </p:sp>
      <p:sp>
        <p:nvSpPr>
          <p:cNvPr id="8" name="Rectangle 7"/>
          <p:cNvSpPr/>
          <p:nvPr/>
        </p:nvSpPr>
        <p:spPr>
          <a:xfrm>
            <a:off x="6162261" y="5691157"/>
            <a:ext cx="5327373" cy="646331"/>
          </a:xfrm>
          <a:prstGeom prst="rect">
            <a:avLst/>
          </a:prstGeom>
        </p:spPr>
        <p:txBody>
          <a:bodyPr wrap="square">
            <a:spAutoFit/>
          </a:bodyPr>
          <a:lstStyle/>
          <a:p>
            <a:pPr>
              <a:defRPr/>
            </a:pPr>
            <a:r>
              <a:rPr lang="en-IN" dirty="0" err="1"/>
              <a:t>Source:http</a:t>
            </a:r>
            <a:r>
              <a:rPr lang="en-IN" dirty="0"/>
              <a:t>://</a:t>
            </a:r>
            <a:r>
              <a:rPr lang="en-IN" dirty="0" err="1"/>
              <a:t>www.circuitstoday.com</a:t>
            </a:r>
            <a:r>
              <a:rPr lang="en-IN" dirty="0"/>
              <a:t>/</a:t>
            </a:r>
            <a:r>
              <a:rPr lang="en-IN" dirty="0" err="1"/>
              <a:t>wp</a:t>
            </a:r>
            <a:r>
              <a:rPr lang="en-IN" dirty="0"/>
              <a:t>-content/uploads/2009/08/n-channel-p-channel-</a:t>
            </a:r>
            <a:r>
              <a:rPr lang="en-IN" dirty="0" err="1"/>
              <a:t>jfet.jpg</a:t>
            </a:r>
            <a:endParaRPr lang="en-IN" dirty="0"/>
          </a:p>
        </p:txBody>
      </p:sp>
    </p:spTree>
    <p:custDataLst>
      <p:tags r:id="rId1"/>
    </p:custDataLst>
    <p:extLst>
      <p:ext uri="{BB962C8B-B14F-4D97-AF65-F5344CB8AC3E}">
        <p14:creationId xmlns:p14="http://schemas.microsoft.com/office/powerpoint/2010/main" xmlns="" val="2987308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JFET polarities </a:t>
            </a:r>
            <a:endParaRPr lang="en-IN" b="1" dirty="0">
              <a:solidFill>
                <a:schemeClr val="tx1">
                  <a:lumMod val="75000"/>
                  <a:lumOff val="25000"/>
                </a:schemeClr>
              </a:solidFill>
            </a:endParaRPr>
          </a:p>
        </p:txBody>
      </p:sp>
      <p:sp>
        <p:nvSpPr>
          <p:cNvPr id="3" name="Content Placeholder 2"/>
          <p:cNvSpPr>
            <a:spLocks noGrp="1"/>
          </p:cNvSpPr>
          <p:nvPr>
            <p:ph idx="1"/>
          </p:nvPr>
        </p:nvSpPr>
        <p:spPr>
          <a:xfrm>
            <a:off x="759821" y="1551305"/>
            <a:ext cx="10056223" cy="1753598"/>
          </a:xfrm>
        </p:spPr>
        <p:txBody>
          <a:bodyPr>
            <a:normAutofit lnSpcReduction="10000"/>
          </a:bodyPr>
          <a:lstStyle/>
          <a:p>
            <a:pPr algn="just"/>
            <a:r>
              <a:rPr lang="en-IN" dirty="0"/>
              <a:t>Fig. (i) shows n-channel JFET polarities whereas </a:t>
            </a:r>
          </a:p>
          <a:p>
            <a:pPr algn="just"/>
            <a:r>
              <a:rPr lang="en-IN" dirty="0"/>
              <a:t>Fig. (ii) shows the p-channel JFET polarities. Note that in each case, the voltage between the gate and source is such that the gate is reverse biased.</a:t>
            </a:r>
            <a:endParaRPr lang="en-IN" b="1"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206850"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254034" y="3106271"/>
            <a:ext cx="8843555" cy="24585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4"/>
          <p:cNvSpPr/>
          <p:nvPr/>
        </p:nvSpPr>
        <p:spPr>
          <a:xfrm flipH="1">
            <a:off x="1254034" y="5934108"/>
            <a:ext cx="8414400" cy="369332"/>
          </a:xfrm>
          <a:prstGeom prst="rect">
            <a:avLst/>
          </a:prstGeom>
        </p:spPr>
        <p:txBody>
          <a:bodyPr wrap="square">
            <a:spAutoFit/>
          </a:bodyPr>
          <a:lstStyle/>
          <a:p>
            <a:pPr algn="ctr"/>
            <a:r>
              <a:rPr lang="en-US" dirty="0"/>
              <a:t>Fig-3 </a:t>
            </a:r>
            <a:r>
              <a:rPr lang="en-IN" dirty="0"/>
              <a:t>JFET polarities</a:t>
            </a:r>
            <a:endParaRPr lang="en-US" dirty="0"/>
          </a:p>
        </p:txBody>
      </p:sp>
      <p:sp>
        <p:nvSpPr>
          <p:cNvPr id="7" name="Rectangle 6"/>
          <p:cNvSpPr/>
          <p:nvPr/>
        </p:nvSpPr>
        <p:spPr>
          <a:xfrm>
            <a:off x="1086677" y="6162261"/>
            <a:ext cx="8415131" cy="646331"/>
          </a:xfrm>
          <a:prstGeom prst="rect">
            <a:avLst/>
          </a:prstGeom>
        </p:spPr>
        <p:txBody>
          <a:bodyPr wrap="square">
            <a:spAutoFit/>
          </a:bodyPr>
          <a:lstStyle/>
          <a:p>
            <a:pPr>
              <a:defRPr/>
            </a:pPr>
            <a:r>
              <a:rPr lang="en-US" dirty="0" err="1"/>
              <a:t>Source:https</a:t>
            </a:r>
            <a:r>
              <a:rPr lang="en-US" dirty="0"/>
              <a:t>://</a:t>
            </a:r>
            <a:r>
              <a:rPr lang="en-US" dirty="0" err="1"/>
              <a:t>www.polytechnichub.com</a:t>
            </a:r>
            <a:r>
              <a:rPr lang="en-US" dirty="0"/>
              <a:t>/</a:t>
            </a:r>
            <a:r>
              <a:rPr lang="en-US" dirty="0" err="1"/>
              <a:t>wp</a:t>
            </a:r>
            <a:r>
              <a:rPr lang="en-US" dirty="0"/>
              <a:t>-content/uploads/2017/04/biasing-of-</a:t>
            </a:r>
            <a:r>
              <a:rPr lang="en-US" dirty="0" err="1"/>
              <a:t>jfet.jpg</a:t>
            </a:r>
            <a:endParaRPr lang="en-US" dirty="0"/>
          </a:p>
        </p:txBody>
      </p:sp>
    </p:spTree>
    <p:custDataLst>
      <p:tags r:id="rId1"/>
    </p:custDataLst>
    <p:extLst>
      <p:ext uri="{BB962C8B-B14F-4D97-AF65-F5344CB8AC3E}">
        <p14:creationId xmlns:p14="http://schemas.microsoft.com/office/powerpoint/2010/main" xmlns="" val="2117538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JFET polarities</a:t>
            </a:r>
            <a:endParaRPr lang="en-US" b="1" dirty="0"/>
          </a:p>
        </p:txBody>
      </p:sp>
      <p:sp>
        <p:nvSpPr>
          <p:cNvPr id="3" name="Content Placeholder 2"/>
          <p:cNvSpPr>
            <a:spLocks noGrp="1"/>
          </p:cNvSpPr>
          <p:nvPr>
            <p:ph idx="1"/>
          </p:nvPr>
        </p:nvSpPr>
        <p:spPr>
          <a:xfrm>
            <a:off x="940525" y="2063931"/>
            <a:ext cx="9718765" cy="3786460"/>
          </a:xfrm>
        </p:spPr>
        <p:txBody>
          <a:bodyPr>
            <a:normAutofit/>
          </a:bodyPr>
          <a:lstStyle/>
          <a:p>
            <a:pPr algn="just"/>
            <a:r>
              <a:rPr lang="en-IN" dirty="0"/>
              <a:t>The following points may be noted :</a:t>
            </a:r>
          </a:p>
          <a:p>
            <a:pPr algn="just"/>
            <a:r>
              <a:rPr lang="en-IN" dirty="0"/>
              <a:t> (i) The input circuit (i.e. gate to source) of a JFET is reverse biased. This means that the device has high input impedance.</a:t>
            </a:r>
          </a:p>
          <a:p>
            <a:pPr algn="just"/>
            <a:r>
              <a:rPr lang="en-IN" dirty="0"/>
              <a:t> (ii) The drain is so biased w.r.t. source that drain current ID flows from the source to drain.</a:t>
            </a:r>
          </a:p>
          <a:p>
            <a:pPr algn="just"/>
            <a:r>
              <a:rPr lang="en-IN" dirty="0"/>
              <a:t> (iii) In all JFETs, source current IS </a:t>
            </a:r>
            <a:r>
              <a:rPr lang="en-IN" dirty="0" err="1"/>
              <a:t>is</a:t>
            </a:r>
            <a:r>
              <a:rPr lang="en-IN" dirty="0"/>
              <a:t> equal to the drain current i.e. IS = ID.</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Difference Between JFET and Bipolar Transistor</a:t>
            </a:r>
            <a:endParaRPr lang="en-US" b="1" dirty="0"/>
          </a:p>
        </p:txBody>
      </p:sp>
      <p:sp>
        <p:nvSpPr>
          <p:cNvPr id="3" name="Content Placeholder 2"/>
          <p:cNvSpPr>
            <a:spLocks noGrp="1"/>
          </p:cNvSpPr>
          <p:nvPr>
            <p:ph idx="1"/>
          </p:nvPr>
        </p:nvSpPr>
        <p:spPr>
          <a:xfrm>
            <a:off x="632012" y="1801906"/>
            <a:ext cx="10721787" cy="5338482"/>
          </a:xfrm>
        </p:spPr>
        <p:txBody>
          <a:bodyPr>
            <a:noAutofit/>
          </a:bodyPr>
          <a:lstStyle/>
          <a:p>
            <a:pPr algn="just"/>
            <a:r>
              <a:rPr lang="en-IN" sz="2400" dirty="0"/>
              <a:t>In a JFET, there is only one type of carrier, holes in p-type channel and electrons in n-type channel. For this reason, it is also called a unipolar transistor. However, in an ordinary transistor, both holes and electrons play part in conduction. Therefore, an ordinary transistor is sometimes called a bipolar transistor.</a:t>
            </a:r>
          </a:p>
          <a:p>
            <a:pPr algn="just"/>
            <a:r>
              <a:rPr lang="en-IN" sz="2400" dirty="0"/>
              <a:t> As the input circuit (i.e., gate to source) of a JFET is reverse biased, therefore, the device has high input impedance. However, the input circuit of an ordinary transistor is forward biased and hence has low input impedance.</a:t>
            </a:r>
          </a:p>
          <a:p>
            <a:pPr algn="just"/>
            <a:r>
              <a:rPr lang="en-IN" sz="2400" dirty="0"/>
              <a:t>The primary functional difference between the JFET and the BJT is that no current (actually, a very, very small current) enters the gate of JFET (i.e. IG = 0A). However, typical BJT base current might be a few </a:t>
            </a:r>
            <a:r>
              <a:rPr lang="en-IN" sz="2400" dirty="0" err="1"/>
              <a:t>μA</a:t>
            </a:r>
            <a:r>
              <a:rPr lang="en-IN" sz="2400" dirty="0"/>
              <a:t> while JFET gate current a thousand times </a:t>
            </a:r>
            <a:r>
              <a:rPr lang="en-IN" sz="2400" dirty="0" smtClean="0"/>
              <a:t>smaller.</a:t>
            </a:r>
            <a:endParaRPr lang="en-IN"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Difference Between JFET and Bipolar Transistor</a:t>
            </a:r>
            <a:endParaRPr lang="en-US" b="1" dirty="0"/>
          </a:p>
        </p:txBody>
      </p:sp>
      <p:sp>
        <p:nvSpPr>
          <p:cNvPr id="3" name="Content Placeholder 2"/>
          <p:cNvSpPr>
            <a:spLocks noGrp="1"/>
          </p:cNvSpPr>
          <p:nvPr>
            <p:ph idx="1"/>
          </p:nvPr>
        </p:nvSpPr>
        <p:spPr/>
        <p:txBody>
          <a:bodyPr>
            <a:noAutofit/>
          </a:bodyPr>
          <a:lstStyle/>
          <a:p>
            <a:pPr algn="just">
              <a:buFont typeface="Wingdings" pitchFamily="2" charset="2"/>
              <a:buChar char="§"/>
            </a:pPr>
            <a:r>
              <a:rPr lang="en-IN" dirty="0"/>
              <a:t>A bipolar transistor uses a current into its base to control a large current between collector and emitter whereas a JFET uses voltage on the ‘gate’ ( = base) terminal to control the current between drain (= collector) and source ( = emitter).</a:t>
            </a:r>
          </a:p>
          <a:p>
            <a:pPr algn="just">
              <a:buFont typeface="Wingdings" pitchFamily="2" charset="2"/>
              <a:buChar char="§"/>
            </a:pPr>
            <a:r>
              <a:rPr lang="en-IN" dirty="0"/>
              <a:t> Thus a bipolar transistor gain is characterized by current gain whereas the JFET gain is characterized as a </a:t>
            </a:r>
            <a:r>
              <a:rPr lang="en-IN" dirty="0" err="1"/>
              <a:t>transconductance</a:t>
            </a:r>
            <a:r>
              <a:rPr lang="en-IN" dirty="0"/>
              <a:t> i.e., the ratio of change in output current (drain current) to the input (gate) voltage. (v) In JFET, there are no junctions as in an ordinary transistor. The conduction is through an n- type or p-type semi-conductor material. For this reason, noise level in JFET is very small.</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ustDataLst>
      <p:tags r:id="rId1"/>
    </p:custDataLst>
    <p:extLst>
      <p:ext uri="{BB962C8B-B14F-4D97-AF65-F5344CB8AC3E}">
        <p14:creationId xmlns:p14="http://schemas.microsoft.com/office/powerpoint/2010/main" xmlns="" val="2441073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Principle and Working of JFET</a:t>
            </a:r>
            <a:endParaRPr lang="en-IN" b="1" dirty="0"/>
          </a:p>
        </p:txBody>
      </p:sp>
      <p:sp>
        <p:nvSpPr>
          <p:cNvPr id="3" name="Content Placeholder 2"/>
          <p:cNvSpPr>
            <a:spLocks noGrp="1"/>
          </p:cNvSpPr>
          <p:nvPr>
            <p:ph idx="1"/>
          </p:nvPr>
        </p:nvSpPr>
        <p:spPr>
          <a:xfrm>
            <a:off x="838199" y="1452282"/>
            <a:ext cx="10349753" cy="4724681"/>
          </a:xfrm>
        </p:spPr>
        <p:txBody>
          <a:bodyPr>
            <a:noAutofit/>
          </a:bodyPr>
          <a:lstStyle/>
          <a:p>
            <a:pPr algn="just"/>
            <a:r>
              <a:rPr lang="en-IN" sz="2400" dirty="0"/>
              <a:t>Principle. The two </a:t>
            </a:r>
            <a:r>
              <a:rPr lang="en-IN" sz="2400" dirty="0" err="1"/>
              <a:t>pn</a:t>
            </a:r>
            <a:r>
              <a:rPr lang="en-IN" sz="2400" dirty="0"/>
              <a:t> junctions at the sides form two depletion layers. The current conduction by charge carriers (i.e. free electrons in this case) is through the channel between the two depletion layers and out of the drain. </a:t>
            </a:r>
          </a:p>
          <a:p>
            <a:pPr algn="just"/>
            <a:r>
              <a:rPr lang="en-IN" sz="2400" dirty="0"/>
              <a:t>The width and hence resistance of this channel can be controlled by changing the input voltage VGS. The greater the reverse voltage VGS, the wider will be the depletion layers and narrower will be the conducting channel.</a:t>
            </a:r>
          </a:p>
          <a:p>
            <a:pPr algn="just"/>
            <a:r>
              <a:rPr lang="en-IN" sz="2400" dirty="0"/>
              <a:t>The narrower channel means greater resistance and hence source to drain current decreases. Reverse will happen should VGS decrease. Thus JFET operates on the principle that width and hence resistance of the conducting channel can be varied by changing the reverse voltage VGS. In other words, the magnitude of drain current (ID) can be changed by altering VGS.</a:t>
            </a:r>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Working of JFET</a:t>
            </a: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207874"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83341" y="1839913"/>
            <a:ext cx="9238130" cy="3178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Rectangle 2"/>
          <p:cNvSpPr/>
          <p:nvPr/>
        </p:nvSpPr>
        <p:spPr>
          <a:xfrm>
            <a:off x="1385047" y="4921623"/>
            <a:ext cx="8821271" cy="369332"/>
          </a:xfrm>
          <a:prstGeom prst="rect">
            <a:avLst/>
          </a:prstGeom>
        </p:spPr>
        <p:txBody>
          <a:bodyPr wrap="square">
            <a:spAutoFit/>
          </a:bodyPr>
          <a:lstStyle/>
          <a:p>
            <a:pPr algn="ctr"/>
            <a:r>
              <a:rPr lang="en-US" dirty="0"/>
              <a:t>Fig-4 </a:t>
            </a:r>
            <a:r>
              <a:rPr lang="en-IN" dirty="0"/>
              <a:t>Working of JFET</a:t>
            </a:r>
            <a:endParaRPr lang="en-US" dirty="0"/>
          </a:p>
        </p:txBody>
      </p:sp>
      <p:sp>
        <p:nvSpPr>
          <p:cNvPr id="6" name="Rectangle 5"/>
          <p:cNvSpPr/>
          <p:nvPr/>
        </p:nvSpPr>
        <p:spPr>
          <a:xfrm>
            <a:off x="3048000" y="5691157"/>
            <a:ext cx="6096000" cy="646331"/>
          </a:xfrm>
          <a:prstGeom prst="rect">
            <a:avLst/>
          </a:prstGeom>
        </p:spPr>
        <p:txBody>
          <a:bodyPr wrap="square">
            <a:spAutoFit/>
          </a:bodyPr>
          <a:lstStyle/>
          <a:p>
            <a:pPr>
              <a:defRPr/>
            </a:pPr>
            <a:r>
              <a:rPr lang="en-US" dirty="0" err="1"/>
              <a:t>Source:https</a:t>
            </a:r>
            <a:r>
              <a:rPr lang="en-US" dirty="0"/>
              <a:t>://</a:t>
            </a:r>
            <a:r>
              <a:rPr lang="en-US" dirty="0" err="1"/>
              <a:t>www.polytechnichub.com</a:t>
            </a:r>
            <a:r>
              <a:rPr lang="en-US" dirty="0"/>
              <a:t>/</a:t>
            </a:r>
            <a:r>
              <a:rPr lang="en-US" dirty="0" err="1"/>
              <a:t>wp</a:t>
            </a:r>
            <a:r>
              <a:rPr lang="en-US" dirty="0"/>
              <a:t>-content/uploads/2017/04/biasing-of-</a:t>
            </a:r>
            <a:r>
              <a:rPr lang="en-US" dirty="0" err="1"/>
              <a:t>jfet.jpg</a:t>
            </a:r>
            <a:endParaRPr lang="en-US"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Working of JFET</a:t>
            </a: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Content Placeholder 4"/>
          <p:cNvSpPr>
            <a:spLocks noGrp="1"/>
          </p:cNvSpPr>
          <p:nvPr>
            <p:ph idx="1"/>
          </p:nvPr>
        </p:nvSpPr>
        <p:spPr>
          <a:xfrm>
            <a:off x="838200" y="1532965"/>
            <a:ext cx="10515600" cy="4643998"/>
          </a:xfrm>
        </p:spPr>
        <p:txBody>
          <a:bodyPr>
            <a:noAutofit/>
          </a:bodyPr>
          <a:lstStyle/>
          <a:p>
            <a:pPr marL="0" indent="0" algn="just">
              <a:buNone/>
            </a:pPr>
            <a:r>
              <a:rPr lang="en-IN" dirty="0"/>
              <a:t>  </a:t>
            </a:r>
            <a:r>
              <a:rPr lang="en-IN" sz="2400" dirty="0"/>
              <a:t>(i) When a voltage VDS is applied between drain and source terminals and voltage on the gate is zero [Fig. (i) ], the two </a:t>
            </a:r>
            <a:r>
              <a:rPr lang="en-IN" sz="2400" dirty="0" err="1"/>
              <a:t>pn</a:t>
            </a:r>
            <a:r>
              <a:rPr lang="en-IN" sz="2400" dirty="0"/>
              <a:t> junctions at the sides of the bar establish depletion layers. </a:t>
            </a:r>
          </a:p>
          <a:p>
            <a:pPr algn="just"/>
            <a:r>
              <a:rPr lang="en-IN" sz="2400" dirty="0"/>
              <a:t>The electrons will flow from source to drain through a channel between the depletion layers. The size of these layers determines the width of the channel and hence the current conduction through the bar. </a:t>
            </a:r>
          </a:p>
          <a:p>
            <a:pPr marL="0" indent="0" algn="just">
              <a:buNone/>
            </a:pPr>
            <a:r>
              <a:rPr lang="en-IN" sz="2400" dirty="0"/>
              <a:t>(ii) When a reverse voltage VGS is applied between the gate and source [Fig. (ii)], the width of the depletion layers is increased. This reduces the width of conducting channel, thereby increasing the resistance of n-type bar. </a:t>
            </a:r>
          </a:p>
          <a:p>
            <a:pPr algn="just"/>
            <a:r>
              <a:rPr lang="en-IN" sz="2400" dirty="0"/>
              <a:t> Consequently, the current from source to drain is decreased. On the other hand, if the reverse voltage on the gate is decreased, the width of the depletion layers also decreases. This increases the width of the conducting channel and hence source to drain current.</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Important Terms</a:t>
            </a:r>
            <a:r>
              <a:rPr lang="en-IN" dirty="0">
                <a:solidFill>
                  <a:srgbClr val="FF00FF"/>
                </a:solidFill>
              </a:rPr>
              <a:t/>
            </a:r>
            <a:br>
              <a:rPr lang="en-IN" dirty="0">
                <a:solidFill>
                  <a:srgbClr val="FF00FF"/>
                </a:solidFill>
              </a:rPr>
            </a:br>
            <a:endParaRPr lang="en-IN" b="1" dirty="0">
              <a:solidFill>
                <a:srgbClr val="FF00FF"/>
              </a:solidFill>
            </a:endParaRPr>
          </a:p>
        </p:txBody>
      </p:sp>
      <p:sp>
        <p:nvSpPr>
          <p:cNvPr id="3" name="Content Placeholder 2"/>
          <p:cNvSpPr>
            <a:spLocks noGrp="1"/>
          </p:cNvSpPr>
          <p:nvPr>
            <p:ph idx="1"/>
          </p:nvPr>
        </p:nvSpPr>
        <p:spPr>
          <a:xfrm>
            <a:off x="354874" y="1459865"/>
            <a:ext cx="11244943" cy="4351338"/>
          </a:xfrm>
        </p:spPr>
        <p:txBody>
          <a:bodyPr>
            <a:normAutofit/>
          </a:bodyPr>
          <a:lstStyle/>
          <a:p>
            <a:pPr algn="just">
              <a:buFont typeface="Wingdings" pitchFamily="2" charset="2"/>
              <a:buChar char="§"/>
            </a:pPr>
            <a:r>
              <a:rPr lang="en-IN" dirty="0"/>
              <a:t>In the analysis of a JFET circuit, the following important terms are often used :</a:t>
            </a:r>
          </a:p>
          <a:p>
            <a:pPr marL="514350" indent="-514350" algn="just">
              <a:buAutoNum type="arabicPeriod"/>
            </a:pPr>
            <a:r>
              <a:rPr lang="en-IN" dirty="0"/>
              <a:t>Shorted-gate drain current (IDSS) </a:t>
            </a:r>
          </a:p>
          <a:p>
            <a:pPr marL="0" indent="0" algn="just">
              <a:buNone/>
            </a:pPr>
            <a:r>
              <a:rPr lang="en-IN" dirty="0"/>
              <a:t>2. Pinch off voltage (VP) </a:t>
            </a:r>
          </a:p>
          <a:p>
            <a:pPr marL="0" indent="0" algn="just">
              <a:buNone/>
            </a:pPr>
            <a:r>
              <a:rPr lang="en-IN" dirty="0"/>
              <a:t>3. Gate-source cut off voltage [VGS (off)] </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ustDataLst>
      <p:tags r:id="rId1"/>
    </p:custDataLst>
    <p:extLst>
      <p:ext uri="{BB962C8B-B14F-4D97-AF65-F5344CB8AC3E}">
        <p14:creationId xmlns:p14="http://schemas.microsoft.com/office/powerpoint/2010/main" xmlns="" val="3273018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dirty="0"/>
              <a:t>APPLICATION OF JFET AS AMPILFIER</a:t>
            </a: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Content Placeholder 4"/>
          <p:cNvSpPr>
            <a:spLocks noGrp="1"/>
          </p:cNvSpPr>
          <p:nvPr>
            <p:ph idx="1"/>
          </p:nvPr>
        </p:nvSpPr>
        <p:spPr>
          <a:xfrm>
            <a:off x="838200" y="1532965"/>
            <a:ext cx="10515600" cy="4643998"/>
          </a:xfrm>
        </p:spPr>
        <p:txBody>
          <a:bodyPr>
            <a:noAutofit/>
          </a:bodyPr>
          <a:lstStyle/>
          <a:p>
            <a:pPr algn="just"/>
            <a:r>
              <a:rPr lang="en-IN" dirty="0"/>
              <a:t> Low-Noise Amplifier </a:t>
            </a:r>
          </a:p>
          <a:p>
            <a:pPr algn="just"/>
            <a:r>
              <a:rPr lang="en-IN" dirty="0"/>
              <a:t>Differential Amplifier </a:t>
            </a:r>
          </a:p>
          <a:p>
            <a:pPr algn="just"/>
            <a:r>
              <a:rPr lang="en-IN" dirty="0"/>
              <a:t>Constant Current Source </a:t>
            </a:r>
          </a:p>
          <a:p>
            <a:pPr algn="just"/>
            <a:r>
              <a:rPr lang="en-IN" dirty="0" smtClean="0"/>
              <a:t>Analogue </a:t>
            </a:r>
            <a:r>
              <a:rPr lang="en-IN" dirty="0"/>
              <a:t>Switch or Gate </a:t>
            </a:r>
          </a:p>
          <a:p>
            <a:pPr algn="just"/>
            <a:r>
              <a:rPr lang="en-IN" dirty="0"/>
              <a:t>Voltage Controlled Resistor</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MOSFET</a:t>
            </a:r>
          </a:p>
        </p:txBody>
      </p:sp>
      <p:sp>
        <p:nvSpPr>
          <p:cNvPr id="3" name="Content Placeholder 2"/>
          <p:cNvSpPr>
            <a:spLocks noGrp="1"/>
          </p:cNvSpPr>
          <p:nvPr>
            <p:ph idx="1"/>
          </p:nvPr>
        </p:nvSpPr>
        <p:spPr/>
        <p:txBody>
          <a:bodyPr>
            <a:normAutofit/>
          </a:bodyPr>
          <a:lstStyle/>
          <a:p>
            <a:pPr algn="just"/>
            <a:r>
              <a:rPr lang="en-IN" dirty="0"/>
              <a:t>FETs have a few disadvantages like high drain resistance, moderate input impedance and slower operation. </a:t>
            </a:r>
          </a:p>
          <a:p>
            <a:pPr algn="just"/>
            <a:r>
              <a:rPr lang="en-IN" dirty="0"/>
              <a:t>To overcome these disadvantages, the MOSFET which is an advanced FET is invented. </a:t>
            </a:r>
          </a:p>
          <a:p>
            <a:pPr algn="just"/>
            <a:r>
              <a:rPr lang="en-IN" dirty="0"/>
              <a:t>MOSFET stands for Metal Oxide Silicon Field Effect Transistor or Metal Oxide Semiconductor Field Effect Transistor. </a:t>
            </a:r>
          </a:p>
          <a:p>
            <a:pPr algn="just"/>
            <a:r>
              <a:rPr lang="en-IN" dirty="0"/>
              <a:t>This is also called as IGFET meaning Insulated Gate Field Effect Transistor. The FET is operated in both depletion and enhancement modes of operation.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Types of MOSFETs</a:t>
            </a:r>
            <a:endParaRPr lang="en-IN" dirty="0"/>
          </a:p>
        </p:txBody>
      </p:sp>
      <p:sp>
        <p:nvSpPr>
          <p:cNvPr id="3" name="Content Placeholder 2"/>
          <p:cNvSpPr>
            <a:spLocks noGrp="1"/>
          </p:cNvSpPr>
          <p:nvPr>
            <p:ph idx="1"/>
          </p:nvPr>
        </p:nvSpPr>
        <p:spPr/>
        <p:txBody>
          <a:bodyPr/>
          <a:lstStyle/>
          <a:p>
            <a:pPr algn="just"/>
            <a:r>
              <a:rPr lang="en-IN" dirty="0"/>
              <a:t>There are two basic types of MOSFETs:</a:t>
            </a:r>
          </a:p>
          <a:p>
            <a:pPr algn="just">
              <a:buNone/>
            </a:pPr>
            <a:endParaRPr lang="en-IN" dirty="0"/>
          </a:p>
          <a:p>
            <a:pPr marL="514350" indent="-514350" algn="just">
              <a:buAutoNum type="arabicPeriod"/>
            </a:pPr>
            <a:r>
              <a:rPr lang="en-IN" dirty="0"/>
              <a:t>Depletion-type MOSFET or </a:t>
            </a:r>
            <a:r>
              <a:rPr lang="en-IN" b="1" dirty="0"/>
              <a:t>D-MOSFET : </a:t>
            </a:r>
            <a:r>
              <a:rPr lang="en-IN" dirty="0"/>
              <a:t>The D-MOSFET can be operated in both the depletion- mode and the enhancement-mode. For this reason, a D-MOSFET is sometimes called depletion/enhancement MOSFET.</a:t>
            </a:r>
          </a:p>
          <a:p>
            <a:pPr marL="514350" indent="-514350" algn="just">
              <a:buNone/>
            </a:pPr>
            <a:endParaRPr lang="en-IN" dirty="0"/>
          </a:p>
          <a:p>
            <a:pPr algn="just">
              <a:buNone/>
            </a:pPr>
            <a:r>
              <a:rPr lang="en-IN" dirty="0"/>
              <a:t>2. Enhancement-type MOSFET or </a:t>
            </a:r>
            <a:r>
              <a:rPr lang="en-IN" b="1" dirty="0"/>
              <a:t>E-MOSFET : </a:t>
            </a:r>
            <a:r>
              <a:rPr lang="en-IN" dirty="0"/>
              <a:t>The E-MOSFET can be operated only in enhancement-mode.</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Symbols for D-MOSFET</a:t>
            </a:r>
            <a:endParaRPr lang="en-IN" dirty="0"/>
          </a:p>
        </p:txBody>
      </p:sp>
      <p:sp>
        <p:nvSpPr>
          <p:cNvPr id="3" name="Content Placeholder 2"/>
          <p:cNvSpPr>
            <a:spLocks noGrp="1"/>
          </p:cNvSpPr>
          <p:nvPr>
            <p:ph idx="1"/>
          </p:nvPr>
        </p:nvSpPr>
        <p:spPr>
          <a:xfrm>
            <a:off x="838200" y="1825625"/>
            <a:ext cx="5288280" cy="4351338"/>
          </a:xfrm>
        </p:spPr>
        <p:txBody>
          <a:bodyPr>
            <a:normAutofit fontScale="85000" lnSpcReduction="20000"/>
          </a:bodyPr>
          <a:lstStyle/>
          <a:p>
            <a:pPr algn="just"/>
            <a:r>
              <a:rPr lang="en-IN" dirty="0"/>
              <a:t>There are two types of D-MOSFETs.</a:t>
            </a:r>
          </a:p>
          <a:p>
            <a:pPr algn="just">
              <a:buNone/>
            </a:pPr>
            <a:r>
              <a:rPr lang="en-IN" dirty="0"/>
              <a:t> (</a:t>
            </a:r>
            <a:r>
              <a:rPr lang="en-IN" dirty="0" err="1"/>
              <a:t>i</a:t>
            </a:r>
            <a:r>
              <a:rPr lang="en-IN" dirty="0"/>
              <a:t>) n-channel D-MOSFET and </a:t>
            </a:r>
          </a:p>
          <a:p>
            <a:pPr algn="just">
              <a:buNone/>
            </a:pPr>
            <a:r>
              <a:rPr lang="en-IN" dirty="0"/>
              <a:t>(ii) p-channel D-MOSFET.</a:t>
            </a:r>
          </a:p>
          <a:p>
            <a:pPr algn="just">
              <a:buNone/>
            </a:pPr>
            <a:endParaRPr lang="en-IN" dirty="0"/>
          </a:p>
          <a:p>
            <a:pPr algn="just"/>
            <a:r>
              <a:rPr lang="en-IN" b="1" dirty="0"/>
              <a:t>(</a:t>
            </a:r>
            <a:r>
              <a:rPr lang="en-IN" b="1" dirty="0" err="1"/>
              <a:t>i</a:t>
            </a:r>
            <a:r>
              <a:rPr lang="en-IN" b="1" dirty="0"/>
              <a:t>) n-channel D-MOSFET. </a:t>
            </a:r>
            <a:r>
              <a:rPr lang="en-IN" dirty="0"/>
              <a:t>Fig. 3(</a:t>
            </a:r>
            <a:r>
              <a:rPr lang="en-IN" dirty="0" err="1"/>
              <a:t>i</a:t>
            </a:r>
            <a:r>
              <a:rPr lang="en-IN" dirty="0"/>
              <a:t>) shows the various parts of n-channel D-MOSFET. </a:t>
            </a:r>
          </a:p>
          <a:p>
            <a:pPr algn="just"/>
            <a:r>
              <a:rPr lang="en-IN" dirty="0"/>
              <a:t>The </a:t>
            </a:r>
            <a:r>
              <a:rPr lang="en-IN" i="1" dirty="0"/>
              <a:t>p</a:t>
            </a:r>
            <a:r>
              <a:rPr lang="en-IN" dirty="0"/>
              <a:t>-type substrate constricts the channel between the source and drain so that only a small passage remains at the left side. Electrons flowing from source (when drain is positive </a:t>
            </a:r>
            <a:r>
              <a:rPr lang="en-IN" dirty="0" err="1"/>
              <a:t>w.r.t</a:t>
            </a:r>
            <a:r>
              <a:rPr lang="en-IN" dirty="0"/>
              <a:t>. source) must pass through this narrow channel. </a:t>
            </a:r>
          </a:p>
          <a:p>
            <a:pPr algn="just">
              <a:buNone/>
            </a:pPr>
            <a:endParaRPr lang="en-IN" dirty="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258050" name="Picture 2" descr="C:\Users\SAANVI\Videos\Desktop\POE\mosfet\n channel D-MOSFET.JPG"/>
          <p:cNvPicPr>
            <a:picLocks noChangeAspect="1" noChangeArrowheads="1"/>
          </p:cNvPicPr>
          <p:nvPr/>
        </p:nvPicPr>
        <p:blipFill>
          <a:blip r:embed="rId3"/>
          <a:srcRect/>
          <a:stretch>
            <a:fillRect/>
          </a:stretch>
        </p:blipFill>
        <p:spPr bwMode="auto">
          <a:xfrm>
            <a:off x="7001691" y="1686333"/>
            <a:ext cx="4140926" cy="3171825"/>
          </a:xfrm>
          <a:prstGeom prst="rect">
            <a:avLst/>
          </a:prstGeom>
          <a:noFill/>
        </p:spPr>
      </p:pic>
      <p:sp>
        <p:nvSpPr>
          <p:cNvPr id="6" name="Content Placeholder 6"/>
          <p:cNvSpPr txBox="1">
            <a:spLocks/>
          </p:cNvSpPr>
          <p:nvPr/>
        </p:nvSpPr>
        <p:spPr>
          <a:xfrm>
            <a:off x="6897188" y="5643153"/>
            <a:ext cx="4428309" cy="609781"/>
          </a:xfrm>
          <a:prstGeom prst="rect">
            <a:avLst/>
          </a:prstGeom>
        </p:spPr>
        <p:txBody>
          <a:bodyPr vert="horz" lIns="91440" tIns="45720" rIns="91440" bIns="45720" rtlCol="0">
            <a:no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Source: V K Mehta , </a:t>
            </a:r>
            <a:r>
              <a:rPr kumimoji="0" lang="en-IN" sz="1800" b="0" i="0" u="none" strike="noStrike" kern="1200" cap="none" spc="0" normalizeH="0" baseline="0" noProof="0" dirty="0" err="1">
                <a:ln>
                  <a:noFill/>
                </a:ln>
                <a:solidFill>
                  <a:schemeClr val="tx1"/>
                </a:solidFill>
                <a:effectLst/>
                <a:uLnTx/>
                <a:uFillTx/>
                <a:latin typeface="Times New Roman" panose="02020603050405020304" pitchFamily="18" charset="0"/>
                <a:ea typeface="Calibri" panose="020F0502020204030204" pitchFamily="34" charset="0"/>
                <a:cs typeface="+mn-cs"/>
              </a:rPr>
              <a:t>Rohit</a:t>
            </a: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 Mehta "Principles of Electronics" 12/e , S. </a:t>
            </a:r>
            <a:r>
              <a:rPr kumimoji="0" lang="en-IN" sz="1800" b="0" i="0" u="none" strike="noStrike" kern="1200" cap="none" spc="0" normalizeH="0" baseline="0" noProof="0" dirty="0" err="1">
                <a:ln>
                  <a:noFill/>
                </a:ln>
                <a:solidFill>
                  <a:schemeClr val="tx1"/>
                </a:solidFill>
                <a:effectLst/>
                <a:uLnTx/>
                <a:uFillTx/>
                <a:latin typeface="Times New Roman" panose="02020603050405020304" pitchFamily="18" charset="0"/>
                <a:ea typeface="Calibri" panose="020F0502020204030204" pitchFamily="34" charset="0"/>
                <a:cs typeface="+mn-cs"/>
              </a:rPr>
              <a:t>Chand</a:t>
            </a: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 Publishing</a:t>
            </a:r>
            <a:endParaRPr kumimoji="0" lang="en-US" sz="1900" b="0" i="0" u="none" strike="noStrike" kern="1200" cap="none" spc="0" normalizeH="0" baseline="0" noProof="0" dirty="0">
              <a:ln>
                <a:noFill/>
              </a:ln>
              <a:solidFill>
                <a:srgbClr val="00B0F0"/>
              </a:solidFill>
              <a:effectLst/>
              <a:uLnTx/>
              <a:uFillTx/>
              <a:latin typeface="+mn-lt"/>
              <a:ea typeface="+mn-ea"/>
              <a:cs typeface="+mn-cs"/>
            </a:endParaRPr>
          </a:p>
        </p:txBody>
      </p:sp>
      <p:sp>
        <p:nvSpPr>
          <p:cNvPr id="7" name="TextBox 6"/>
          <p:cNvSpPr txBox="1"/>
          <p:nvPr/>
        </p:nvSpPr>
        <p:spPr>
          <a:xfrm>
            <a:off x="7001692" y="5055325"/>
            <a:ext cx="4480560" cy="369332"/>
          </a:xfrm>
          <a:prstGeom prst="rect">
            <a:avLst/>
          </a:prstGeom>
          <a:noFill/>
        </p:spPr>
        <p:txBody>
          <a:bodyPr wrap="square" rtlCol="0">
            <a:spAutoFit/>
          </a:bodyPr>
          <a:lstStyle/>
          <a:p>
            <a:r>
              <a:rPr lang="en-IN" dirty="0"/>
              <a:t>Fig.3: n-Channel E-MOSFET</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Symbols for n-channel D-MOSFET</a:t>
            </a:r>
            <a:endParaRPr lang="en-IN" dirty="0"/>
          </a:p>
        </p:txBody>
      </p:sp>
      <p:sp>
        <p:nvSpPr>
          <p:cNvPr id="3" name="Content Placeholder 2"/>
          <p:cNvSpPr>
            <a:spLocks noGrp="1"/>
          </p:cNvSpPr>
          <p:nvPr>
            <p:ph idx="1"/>
          </p:nvPr>
        </p:nvSpPr>
        <p:spPr>
          <a:xfrm>
            <a:off x="838200" y="1825625"/>
            <a:ext cx="5288280" cy="4351338"/>
          </a:xfrm>
        </p:spPr>
        <p:txBody>
          <a:bodyPr>
            <a:normAutofit fontScale="85000" lnSpcReduction="20000"/>
          </a:bodyPr>
          <a:lstStyle/>
          <a:p>
            <a:pPr algn="just"/>
            <a:r>
              <a:rPr lang="en-IN" dirty="0"/>
              <a:t>The symbol for </a:t>
            </a:r>
            <a:r>
              <a:rPr lang="en-IN" i="1" dirty="0"/>
              <a:t>n</a:t>
            </a:r>
            <a:r>
              <a:rPr lang="en-IN" dirty="0"/>
              <a:t>-channel </a:t>
            </a:r>
            <a:r>
              <a:rPr lang="en-IN" i="1" dirty="0"/>
              <a:t>D-MOSFET </a:t>
            </a:r>
            <a:r>
              <a:rPr lang="en-IN" dirty="0"/>
              <a:t>is shown in Fig. 4. </a:t>
            </a:r>
          </a:p>
          <a:p>
            <a:pPr algn="just"/>
            <a:r>
              <a:rPr lang="en-IN" dirty="0"/>
              <a:t>The gate appears like a capacitor plate. Just to the right of the gate is a thick vertical line representing the channel. The drain lead comes out of the top of the channel and the source lead connects to the bottom. </a:t>
            </a:r>
          </a:p>
          <a:p>
            <a:pPr algn="just"/>
            <a:r>
              <a:rPr lang="en-IN" dirty="0"/>
              <a:t>The arrow is on the substrate and points to the </a:t>
            </a:r>
            <a:r>
              <a:rPr lang="en-IN" i="1" dirty="0"/>
              <a:t>n</a:t>
            </a:r>
            <a:r>
              <a:rPr lang="en-IN" dirty="0"/>
              <a:t>-material, therefore we have </a:t>
            </a:r>
            <a:r>
              <a:rPr lang="en-IN" i="1" dirty="0"/>
              <a:t>n</a:t>
            </a:r>
            <a:r>
              <a:rPr lang="en-IN" dirty="0"/>
              <a:t>-channel </a:t>
            </a:r>
            <a:r>
              <a:rPr lang="en-IN" i="1" dirty="0"/>
              <a:t>DMOSFET</a:t>
            </a:r>
            <a:r>
              <a:rPr lang="en-IN" dirty="0"/>
              <a:t>.</a:t>
            </a:r>
          </a:p>
          <a:p>
            <a:pPr algn="just"/>
            <a:r>
              <a:rPr lang="en-IN" dirty="0"/>
              <a:t>It is a usual practice to connect the substrate to source internally as shown in Fig. 4 (</a:t>
            </a:r>
            <a:r>
              <a:rPr lang="en-IN" i="1" dirty="0"/>
              <a:t>iii</a:t>
            </a:r>
            <a:r>
              <a:rPr lang="en-IN" dirty="0"/>
              <a:t>). This gives rise to a three-terminal device.</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6" name="Content Placeholder 6"/>
          <p:cNvSpPr txBox="1">
            <a:spLocks/>
          </p:cNvSpPr>
          <p:nvPr/>
        </p:nvSpPr>
        <p:spPr>
          <a:xfrm>
            <a:off x="6897188" y="5643153"/>
            <a:ext cx="4428309" cy="609781"/>
          </a:xfrm>
          <a:prstGeom prst="rect">
            <a:avLst/>
          </a:prstGeom>
        </p:spPr>
        <p:txBody>
          <a:bodyPr vert="horz" lIns="91440" tIns="45720" rIns="91440" bIns="45720" rtlCol="0">
            <a:no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Source: V K Mehta , </a:t>
            </a:r>
            <a:r>
              <a:rPr kumimoji="0" lang="en-IN" sz="1800" b="0" i="0" u="none" strike="noStrike" kern="1200" cap="none" spc="0" normalizeH="0" baseline="0" noProof="0" dirty="0" err="1">
                <a:ln>
                  <a:noFill/>
                </a:ln>
                <a:solidFill>
                  <a:schemeClr val="tx1"/>
                </a:solidFill>
                <a:effectLst/>
                <a:uLnTx/>
                <a:uFillTx/>
                <a:latin typeface="Times New Roman" panose="02020603050405020304" pitchFamily="18" charset="0"/>
                <a:ea typeface="Calibri" panose="020F0502020204030204" pitchFamily="34" charset="0"/>
                <a:cs typeface="+mn-cs"/>
              </a:rPr>
              <a:t>Rohit</a:t>
            </a: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 Mehta "Principles of Electronics" 12/e , S. </a:t>
            </a:r>
            <a:r>
              <a:rPr kumimoji="0" lang="en-IN" sz="1800" b="0" i="0" u="none" strike="noStrike" kern="1200" cap="none" spc="0" normalizeH="0" baseline="0" noProof="0" dirty="0" err="1">
                <a:ln>
                  <a:noFill/>
                </a:ln>
                <a:solidFill>
                  <a:schemeClr val="tx1"/>
                </a:solidFill>
                <a:effectLst/>
                <a:uLnTx/>
                <a:uFillTx/>
                <a:latin typeface="Times New Roman" panose="02020603050405020304" pitchFamily="18" charset="0"/>
                <a:ea typeface="Calibri" panose="020F0502020204030204" pitchFamily="34" charset="0"/>
                <a:cs typeface="+mn-cs"/>
              </a:rPr>
              <a:t>Chand</a:t>
            </a: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 Publishing</a:t>
            </a:r>
            <a:endParaRPr kumimoji="0" lang="en-US" sz="1900" b="0" i="0" u="none" strike="noStrike" kern="1200" cap="none" spc="0" normalizeH="0" baseline="0" noProof="0" dirty="0">
              <a:ln>
                <a:noFill/>
              </a:ln>
              <a:solidFill>
                <a:srgbClr val="00B0F0"/>
              </a:solidFill>
              <a:effectLst/>
              <a:uLnTx/>
              <a:uFillTx/>
              <a:latin typeface="+mn-lt"/>
              <a:ea typeface="+mn-ea"/>
              <a:cs typeface="+mn-cs"/>
            </a:endParaRPr>
          </a:p>
        </p:txBody>
      </p:sp>
      <p:sp>
        <p:nvSpPr>
          <p:cNvPr id="7" name="TextBox 6"/>
          <p:cNvSpPr txBox="1"/>
          <p:nvPr/>
        </p:nvSpPr>
        <p:spPr>
          <a:xfrm>
            <a:off x="7001692" y="5055325"/>
            <a:ext cx="4480560" cy="369332"/>
          </a:xfrm>
          <a:prstGeom prst="rect">
            <a:avLst/>
          </a:prstGeom>
          <a:noFill/>
        </p:spPr>
        <p:txBody>
          <a:bodyPr wrap="square" rtlCol="0">
            <a:spAutoFit/>
          </a:bodyPr>
          <a:lstStyle/>
          <a:p>
            <a:r>
              <a:rPr lang="en-IN" dirty="0"/>
              <a:t>Fig.4: n-Channel E-MOSFET</a:t>
            </a:r>
          </a:p>
        </p:txBody>
      </p:sp>
      <p:pic>
        <p:nvPicPr>
          <p:cNvPr id="259074" name="Picture 2" descr="C:\Users\SAANVI\Videos\Desktop\POE\mosfet\Symbol D-MOSFET.JPG"/>
          <p:cNvPicPr>
            <a:picLocks noChangeAspect="1" noChangeArrowheads="1"/>
          </p:cNvPicPr>
          <p:nvPr/>
        </p:nvPicPr>
        <p:blipFill>
          <a:blip r:embed="rId3"/>
          <a:srcRect/>
          <a:stretch>
            <a:fillRect/>
          </a:stretch>
        </p:blipFill>
        <p:spPr bwMode="auto">
          <a:xfrm>
            <a:off x="6764655" y="1910852"/>
            <a:ext cx="4514850" cy="3114675"/>
          </a:xfrm>
          <a:prstGeom prst="rect">
            <a:avLst/>
          </a:prstGeom>
          <a:noFill/>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Symbols for p-channel D-MOSFET</a:t>
            </a:r>
            <a:endParaRPr lang="en-IN" dirty="0"/>
          </a:p>
        </p:txBody>
      </p:sp>
      <p:sp>
        <p:nvSpPr>
          <p:cNvPr id="3" name="Content Placeholder 2"/>
          <p:cNvSpPr>
            <a:spLocks noGrp="1"/>
          </p:cNvSpPr>
          <p:nvPr>
            <p:ph idx="1"/>
          </p:nvPr>
        </p:nvSpPr>
        <p:spPr>
          <a:xfrm>
            <a:off x="838200" y="1825625"/>
            <a:ext cx="5275217" cy="4351338"/>
          </a:xfrm>
        </p:spPr>
        <p:txBody>
          <a:bodyPr>
            <a:normAutofit lnSpcReduction="10000"/>
          </a:bodyPr>
          <a:lstStyle/>
          <a:p>
            <a:pPr algn="just"/>
            <a:r>
              <a:rPr lang="en-IN" b="1" dirty="0"/>
              <a:t>(ii) p-channel D-MOSFET. </a:t>
            </a:r>
            <a:r>
              <a:rPr lang="en-IN" dirty="0"/>
              <a:t>Fig. 5. shows the various parts of p-channel D-MOSFET.</a:t>
            </a:r>
          </a:p>
          <a:p>
            <a:pPr algn="just"/>
            <a:r>
              <a:rPr lang="en-IN" dirty="0"/>
              <a:t>The n-type substrate constricts the channel between the source and drain so that only a small passage remains at the left side. The conduction takes place by the flow of holes from source to drain through this narrow channel.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6" name="Content Placeholder 6"/>
          <p:cNvSpPr txBox="1">
            <a:spLocks/>
          </p:cNvSpPr>
          <p:nvPr/>
        </p:nvSpPr>
        <p:spPr>
          <a:xfrm>
            <a:off x="6897188" y="5643153"/>
            <a:ext cx="4428309" cy="609781"/>
          </a:xfrm>
          <a:prstGeom prst="rect">
            <a:avLst/>
          </a:prstGeom>
        </p:spPr>
        <p:txBody>
          <a:bodyPr vert="horz" lIns="91440" tIns="45720" rIns="91440" bIns="45720" rtlCol="0">
            <a:no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Source: V K Mehta , </a:t>
            </a:r>
            <a:r>
              <a:rPr kumimoji="0" lang="en-IN" sz="1800" b="0" i="0" u="none" strike="noStrike" kern="1200" cap="none" spc="0" normalizeH="0" baseline="0" noProof="0" dirty="0" err="1">
                <a:ln>
                  <a:noFill/>
                </a:ln>
                <a:solidFill>
                  <a:schemeClr val="tx1"/>
                </a:solidFill>
                <a:effectLst/>
                <a:uLnTx/>
                <a:uFillTx/>
                <a:latin typeface="Times New Roman" panose="02020603050405020304" pitchFamily="18" charset="0"/>
                <a:ea typeface="Calibri" panose="020F0502020204030204" pitchFamily="34" charset="0"/>
                <a:cs typeface="+mn-cs"/>
              </a:rPr>
              <a:t>Rohit</a:t>
            </a: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 Mehta "Principles of Electronics" 12/e , S. </a:t>
            </a:r>
            <a:r>
              <a:rPr kumimoji="0" lang="en-IN" sz="1800" b="0" i="0" u="none" strike="noStrike" kern="1200" cap="none" spc="0" normalizeH="0" baseline="0" noProof="0" dirty="0" err="1">
                <a:ln>
                  <a:noFill/>
                </a:ln>
                <a:solidFill>
                  <a:schemeClr val="tx1"/>
                </a:solidFill>
                <a:effectLst/>
                <a:uLnTx/>
                <a:uFillTx/>
                <a:latin typeface="Times New Roman" panose="02020603050405020304" pitchFamily="18" charset="0"/>
                <a:ea typeface="Calibri" panose="020F0502020204030204" pitchFamily="34" charset="0"/>
                <a:cs typeface="+mn-cs"/>
              </a:rPr>
              <a:t>Chand</a:t>
            </a:r>
            <a:r>
              <a:rPr kumimoji="0" lang="en-IN" sz="18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mn-cs"/>
              </a:rPr>
              <a:t> Publishing</a:t>
            </a:r>
            <a:endParaRPr kumimoji="0" lang="en-US" sz="1900" b="0" i="0" u="none" strike="noStrike" kern="1200" cap="none" spc="0" normalizeH="0" baseline="0" noProof="0" dirty="0">
              <a:ln>
                <a:noFill/>
              </a:ln>
              <a:solidFill>
                <a:srgbClr val="00B0F0"/>
              </a:solidFill>
              <a:effectLst/>
              <a:uLnTx/>
              <a:uFillTx/>
              <a:latin typeface="+mn-lt"/>
              <a:ea typeface="+mn-ea"/>
              <a:cs typeface="+mn-cs"/>
            </a:endParaRPr>
          </a:p>
        </p:txBody>
      </p:sp>
      <p:sp>
        <p:nvSpPr>
          <p:cNvPr id="7" name="TextBox 6"/>
          <p:cNvSpPr txBox="1"/>
          <p:nvPr/>
        </p:nvSpPr>
        <p:spPr>
          <a:xfrm>
            <a:off x="7001692" y="5055325"/>
            <a:ext cx="4480560" cy="369332"/>
          </a:xfrm>
          <a:prstGeom prst="rect">
            <a:avLst/>
          </a:prstGeom>
          <a:noFill/>
        </p:spPr>
        <p:txBody>
          <a:bodyPr wrap="square" rtlCol="0">
            <a:spAutoFit/>
          </a:bodyPr>
          <a:lstStyle/>
          <a:p>
            <a:r>
              <a:rPr lang="en-IN" dirty="0"/>
              <a:t>Fig.5: p-Channel E-MOSFET</a:t>
            </a:r>
          </a:p>
        </p:txBody>
      </p:sp>
      <p:pic>
        <p:nvPicPr>
          <p:cNvPr id="260099" name="Picture 3" descr="C:\Users\SAANVI\Videos\Desktop\POE\mosfet\P channel D-MOSFET.JPG"/>
          <p:cNvPicPr>
            <a:picLocks noChangeAspect="1" noChangeArrowheads="1"/>
          </p:cNvPicPr>
          <p:nvPr/>
        </p:nvPicPr>
        <p:blipFill>
          <a:blip r:embed="rId3"/>
          <a:srcRect/>
          <a:stretch>
            <a:fillRect/>
          </a:stretch>
        </p:blipFill>
        <p:spPr bwMode="auto">
          <a:xfrm>
            <a:off x="7119257" y="1752603"/>
            <a:ext cx="4140925" cy="3232104"/>
          </a:xfrm>
          <a:prstGeom prst="rect">
            <a:avLst/>
          </a:prstGeom>
          <a:noFill/>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9315"/>
          </a:xfrm>
        </p:spPr>
        <p:txBody>
          <a:bodyPr>
            <a:normAutofit fontScale="90000"/>
          </a:bodyPr>
          <a:lstStyle/>
          <a:p>
            <a:pPr algn="ctr"/>
            <a:r>
              <a:rPr lang="en-US" b="1" dirty="0" smtClean="0"/>
              <a:t>List of the Applications of MOSFET</a:t>
            </a:r>
            <a:br>
              <a:rPr lang="en-US" b="1" dirty="0" smtClean="0"/>
            </a:br>
            <a:endParaRPr lang="en-US" dirty="0"/>
          </a:p>
        </p:txBody>
      </p:sp>
      <p:sp>
        <p:nvSpPr>
          <p:cNvPr id="3" name="Content Placeholder 2"/>
          <p:cNvSpPr>
            <a:spLocks noGrp="1"/>
          </p:cNvSpPr>
          <p:nvPr>
            <p:ph idx="1"/>
          </p:nvPr>
        </p:nvSpPr>
        <p:spPr>
          <a:xfrm>
            <a:off x="792480" y="1371601"/>
            <a:ext cx="9723120" cy="4988242"/>
          </a:xfrm>
        </p:spPr>
        <p:txBody>
          <a:bodyPr>
            <a:normAutofit fontScale="70000" lnSpcReduction="20000"/>
          </a:bodyPr>
          <a:lstStyle/>
          <a:p>
            <a:r>
              <a:rPr lang="en-US" sz="3100" dirty="0" smtClean="0"/>
              <a:t>MOSFET </a:t>
            </a:r>
            <a:r>
              <a:rPr lang="en-US" sz="3100" dirty="0" smtClean="0"/>
              <a:t>is a voltage controlled device and has some decent applications. There are some advantages of using MOSFET in electronics circuits. Some important applications of MOSFET are given below :</a:t>
            </a:r>
          </a:p>
          <a:p>
            <a:r>
              <a:rPr lang="en-US" sz="3100" dirty="0" smtClean="0"/>
              <a:t>1. </a:t>
            </a:r>
            <a:r>
              <a:rPr lang="en-US" sz="3100" dirty="0" smtClean="0"/>
              <a:t>MOSFET </a:t>
            </a:r>
            <a:r>
              <a:rPr lang="en-US" sz="3100" dirty="0" smtClean="0"/>
              <a:t>is used for some switching applications an in electronics device.</a:t>
            </a:r>
          </a:p>
          <a:p>
            <a:r>
              <a:rPr lang="en-US" sz="3100" dirty="0" smtClean="0"/>
              <a:t>2. It is used in some amplifying circuits.</a:t>
            </a:r>
          </a:p>
          <a:p>
            <a:r>
              <a:rPr lang="en-US" sz="3100" dirty="0" smtClean="0"/>
              <a:t>3. It is used in chopper circuits</a:t>
            </a:r>
          </a:p>
          <a:p>
            <a:r>
              <a:rPr lang="en-US" sz="3100" dirty="0" smtClean="0"/>
              <a:t>4. MOSFET can be used as a high-frequency amplifier.</a:t>
            </a:r>
          </a:p>
          <a:p>
            <a:r>
              <a:rPr lang="en-US" sz="3100" dirty="0" smtClean="0"/>
              <a:t>5. It can be used in voltage regulator circuits.</a:t>
            </a:r>
          </a:p>
          <a:p>
            <a:r>
              <a:rPr lang="en-US" sz="3100" dirty="0" smtClean="0"/>
              <a:t>6. It is used as an inverter in some of the electronics circuits.</a:t>
            </a:r>
          </a:p>
          <a:p>
            <a:r>
              <a:rPr lang="en-US" sz="3100" dirty="0" smtClean="0"/>
              <a:t>7. It can be used as a passive element e.g. resistor, inductor used in a circuit.</a:t>
            </a:r>
          </a:p>
          <a:p>
            <a:r>
              <a:rPr lang="en-US" sz="3100" dirty="0" smtClean="0"/>
              <a:t>8. It is used in SMPS ( switch mode power supply ).</a:t>
            </a:r>
          </a:p>
          <a:p>
            <a:r>
              <a:rPr lang="en-US" sz="3100" dirty="0" smtClean="0"/>
              <a:t>9. It is used in some DC brushless motor drives.</a:t>
            </a:r>
          </a:p>
          <a:p>
            <a:r>
              <a:rPr lang="en-US" sz="3100" dirty="0" smtClean="0"/>
              <a:t>10. It is used in DC relay in electronics.</a:t>
            </a:r>
          </a:p>
          <a:p>
            <a:r>
              <a:rPr lang="en-US" sz="3100" dirty="0" smtClean="0"/>
              <a:t>11. It can be used in digital circuits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Introduction to </a:t>
            </a:r>
            <a:r>
              <a:rPr lang="en-IN" dirty="0"/>
              <a:t>Types of Field Effect Transistors</a:t>
            </a:r>
            <a:r>
              <a:rPr lang="en-US" dirty="0"/>
              <a:t>.</a:t>
            </a:r>
          </a:p>
          <a:p>
            <a:pPr>
              <a:buFont typeface="Wingdings" pitchFamily="2" charset="2"/>
              <a:buChar char="ü"/>
            </a:pPr>
            <a:r>
              <a:rPr lang="en-US" dirty="0"/>
              <a:t>Application </a:t>
            </a:r>
            <a:r>
              <a:rPr lang="en-IN" dirty="0"/>
              <a:t> Field Effect Transistors</a:t>
            </a:r>
            <a:r>
              <a:rPr lang="en-US" dirty="0"/>
              <a:t>.</a:t>
            </a:r>
          </a:p>
          <a:p>
            <a:pPr>
              <a:buFont typeface="Wingdings" pitchFamily="2" charset="2"/>
              <a:buChar char="ü"/>
            </a:pPr>
            <a:r>
              <a:rPr lang="en-US" dirty="0"/>
              <a:t>Different </a:t>
            </a:r>
            <a:r>
              <a:rPr lang="en-IN" dirty="0"/>
              <a:t>Types of  Field Effect Transistors</a:t>
            </a:r>
            <a:r>
              <a:rPr lang="en-US" dirty="0" smtClean="0"/>
              <a:t>.</a:t>
            </a:r>
          </a:p>
          <a:p>
            <a:pPr>
              <a:buFont typeface="Wingdings" pitchFamily="2" charset="2"/>
              <a:buChar char="ü"/>
            </a:pPr>
            <a:r>
              <a:rPr lang="en-US" dirty="0" smtClean="0"/>
              <a:t>Introduction to </a:t>
            </a:r>
            <a:r>
              <a:rPr lang="en-IN" dirty="0" smtClean="0"/>
              <a:t>MOSFET.</a:t>
            </a:r>
          </a:p>
          <a:p>
            <a:pPr>
              <a:buFont typeface="Wingdings" pitchFamily="2" charset="2"/>
              <a:buChar char="ü"/>
            </a:pPr>
            <a:r>
              <a:rPr lang="en-US" dirty="0" smtClean="0"/>
              <a:t>Application </a:t>
            </a:r>
            <a:r>
              <a:rPr lang="en-IN" dirty="0" smtClean="0"/>
              <a:t>of MOSFET</a:t>
            </a:r>
            <a:r>
              <a:rPr lang="en-US" dirty="0" smtClean="0"/>
              <a:t>.</a:t>
            </a:r>
            <a:endParaRPr lang="en-US" dirty="0" smtClean="0"/>
          </a:p>
          <a:p>
            <a:pPr>
              <a:buFont typeface="Wingdings" pitchFamily="2" charset="2"/>
              <a:buChar char="ü"/>
            </a:pPr>
            <a:endParaRPr lang="en-US" dirty="0" smtClean="0"/>
          </a:p>
          <a:p>
            <a:pPr>
              <a:buFont typeface="Wingdings" pitchFamily="2" charset="2"/>
              <a:buChar char="ü"/>
            </a:pPr>
            <a:endParaRPr lang="en-US" dirty="0" smtClean="0"/>
          </a:p>
          <a:p>
            <a:pPr>
              <a:buFont typeface="Wingdings" pitchFamily="2" charset="2"/>
              <a:buChar char="ü"/>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custDataLst>
      <p:tags r:id="rId1"/>
    </p:custDataLst>
    <p:extLst>
      <p:ext uri="{BB962C8B-B14F-4D97-AF65-F5344CB8AC3E}">
        <p14:creationId xmlns:p14="http://schemas.microsoft.com/office/powerpoint/2010/main" xmlns="" val="28354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p:txBody>
          <a:bodyPr/>
          <a:lstStyle/>
          <a:p>
            <a:pPr algn="just">
              <a:buFont typeface="Wingdings" pitchFamily="2" charset="2"/>
              <a:buChar char="q"/>
            </a:pPr>
            <a:r>
              <a:rPr lang="en-US" dirty="0"/>
              <a:t>What is the difference </a:t>
            </a:r>
            <a:r>
              <a:rPr lang="en-IN" dirty="0"/>
              <a:t>Between JFET and Bipolar Transistor</a:t>
            </a:r>
            <a:r>
              <a:rPr lang="en-US" dirty="0"/>
              <a:t>?</a:t>
            </a:r>
          </a:p>
          <a:p>
            <a:pPr algn="just">
              <a:buFont typeface="Wingdings" pitchFamily="2" charset="2"/>
              <a:buChar char="q"/>
            </a:pPr>
            <a:r>
              <a:rPr lang="en-US" dirty="0"/>
              <a:t>What is the function </a:t>
            </a:r>
            <a:r>
              <a:rPr lang="en-IN" dirty="0"/>
              <a:t>JFET polarities</a:t>
            </a:r>
            <a:r>
              <a:rPr lang="en-US" dirty="0"/>
              <a:t>.</a:t>
            </a:r>
          </a:p>
          <a:p>
            <a:pPr algn="just">
              <a:buFont typeface="Wingdings" pitchFamily="2" charset="2"/>
              <a:buChar char="q"/>
            </a:pPr>
            <a:r>
              <a:rPr lang="en-US" dirty="0"/>
              <a:t>What is the function </a:t>
            </a:r>
            <a:r>
              <a:rPr lang="en-IN" dirty="0"/>
              <a:t>JFET</a:t>
            </a:r>
            <a:r>
              <a:rPr lang="en-US" dirty="0"/>
              <a:t>.</a:t>
            </a:r>
          </a:p>
          <a:p>
            <a:pPr algn="just">
              <a:buFont typeface="Wingdings" pitchFamily="2" charset="2"/>
              <a:buChar char="q"/>
            </a:pPr>
            <a:r>
              <a:rPr lang="en-US" dirty="0"/>
              <a:t>What are the </a:t>
            </a:r>
            <a:r>
              <a:rPr lang="en-IN" dirty="0"/>
              <a:t>Principle and Working of JFET.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800" dirty="0">
                <a:latin typeface="Casper"/>
                <a:cs typeface="Times New Roman" pitchFamily="18" charset="0"/>
              </a:rPr>
              <a:t>To make students understand</a:t>
            </a:r>
          </a:p>
          <a:p>
            <a:r>
              <a:rPr lang="en-US" sz="2800" dirty="0">
                <a:latin typeface="Casper"/>
              </a:rPr>
              <a:t> </a:t>
            </a:r>
            <a:r>
              <a:rPr lang="en-US" sz="1800" dirty="0">
                <a:latin typeface="Times New Roman" pitchFamily="18" charset="0"/>
                <a:cs typeface="Times New Roman" pitchFamily="18" charset="0"/>
              </a:rPr>
              <a:t>Concepts of </a:t>
            </a:r>
            <a:r>
              <a:rPr lang="en-IN" sz="1800" dirty="0">
                <a:latin typeface="Times New Roman" pitchFamily="18" charset="0"/>
                <a:cs typeface="Times New Roman" pitchFamily="18" charset="0"/>
              </a:rPr>
              <a:t>JFET polarities. </a:t>
            </a:r>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Importance of comprehension of </a:t>
            </a:r>
            <a:r>
              <a:rPr lang="en-IN" sz="1800" dirty="0">
                <a:latin typeface="Times New Roman" pitchFamily="18" charset="0"/>
                <a:cs typeface="Times New Roman" pitchFamily="18" charset="0"/>
              </a:rPr>
              <a:t>JFET and Bipolar Transistor</a:t>
            </a:r>
            <a:r>
              <a:rPr lang="en-US" sz="1800" dirty="0">
                <a:latin typeface="Times New Roman" pitchFamily="18" charset="0"/>
                <a:cs typeface="Times New Roman" pitchFamily="18" charset="0"/>
              </a:rPr>
              <a:t>.</a:t>
            </a:r>
          </a:p>
          <a:p>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Fundamentals of </a:t>
            </a:r>
            <a:r>
              <a:rPr lang="en-IN" sz="1800" dirty="0">
                <a:latin typeface="Times New Roman" pitchFamily="18" charset="0"/>
                <a:cs typeface="Times New Roman" pitchFamily="18" charset="0"/>
              </a:rPr>
              <a:t>Field Effect Transistors</a:t>
            </a:r>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2400" dirty="0"/>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24</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r>
              <a:rPr lang="en-US" sz="4400" b="1" dirty="0">
                <a:solidFill>
                  <a:srgbClr val="FF00FF"/>
                </a:solidFill>
                <a:latin typeface="Casper"/>
                <a:ea typeface="Karla" pitchFamily="2" charset="0"/>
                <a:cs typeface="Karla" pitchFamily="2" charset="0"/>
              </a:rPr>
              <a:t/>
            </a:r>
            <a:br>
              <a:rPr lang="en-US" sz="4400" b="1" dirty="0">
                <a:solidFill>
                  <a:srgbClr val="FF00FF"/>
                </a:solidFill>
                <a:latin typeface="Casper"/>
                <a:ea typeface="Karla" pitchFamily="2" charset="0"/>
                <a:cs typeface="Karla" pitchFamily="2" charset="0"/>
              </a:rPr>
            </a:br>
            <a:endParaRPr lang="en-US" sz="4400" dirty="0">
              <a:solidFill>
                <a:srgbClr val="FF00FF"/>
              </a:solidFill>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3" cstate="print"/>
          <a:srcRect/>
          <a:stretch>
            <a:fillRect/>
          </a:stretch>
        </p:blipFill>
        <p:spPr bwMode="auto">
          <a:xfrm>
            <a:off x="304800" y="304801"/>
            <a:ext cx="812800" cy="97606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xmlns="" val="693801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560582"/>
            <a:ext cx="10683240" cy="4679678"/>
          </a:xfrm>
        </p:spPr>
        <p:txBody>
          <a:bodyPr>
            <a:normAutofit fontScale="92500" lnSpcReduction="20000"/>
          </a:bodyPr>
          <a:lstStyle/>
          <a:p>
            <a:pPr marL="0" indent="0">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 Circuits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Adel 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Sedra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Kenneth Carless Smith, Oxford University Press.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Millman’s</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Integrated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Christos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Halkias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Chetan Parikh, McGraw Hill Education.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Digital Logic &amp; Computer Design,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 Morris Mano, Pearson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V K Mehta , Rohit Mehta,  12/e , S. Chand Publishing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Ben Streetman, Sanjay Banerjee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Principle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Albert Paul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Malvino</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Circuits:Discrete</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&amp; Integrated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 Schilling C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BeloveTApelewiczRSaccardi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Arvin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Grabel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Devices &amp;</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Salivahanan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 Suresh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Kumar,A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Vallavaraj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Devices &amp; Circuit Theory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11</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Robert 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Boylestad,LouisNashelsky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dirty="0"/>
          </a:p>
        </p:txBody>
      </p:sp>
      <p:sp>
        <p:nvSpPr>
          <p:cNvPr id="5" name="Title 4"/>
          <p:cNvSpPr>
            <a:spLocks noGrp="1"/>
          </p:cNvSpPr>
          <p:nvPr>
            <p:ph type="title"/>
          </p:nvPr>
        </p:nvSpPr>
        <p:spPr/>
        <p:txBody>
          <a:bodyPr/>
          <a:lstStyle/>
          <a:p>
            <a:pPr algn="ctr"/>
            <a:r>
              <a:rPr lang="en-US" b="1" dirty="0"/>
              <a:t>References</a:t>
            </a:r>
          </a:p>
        </p:txBody>
      </p:sp>
    </p:spTree>
    <p:custDataLst>
      <p:tags r:id="rId1"/>
    </p:custDataLst>
    <p:extLst>
      <p:ext uri="{BB962C8B-B14F-4D97-AF65-F5344CB8AC3E}">
        <p14:creationId xmlns:p14="http://schemas.microsoft.com/office/powerpoint/2010/main" xmlns="" val="707699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EDE9DA-BC31-44D3-9700-4F4473874B1B}"/>
              </a:ext>
            </a:extLst>
          </p:cNvPr>
          <p:cNvSpPr>
            <a:spLocks noGrp="1"/>
          </p:cNvSpPr>
          <p:nvPr>
            <p:ph type="title"/>
          </p:nvPr>
        </p:nvSpPr>
        <p:spPr/>
        <p:txBody>
          <a:bodyPr>
            <a:normAutofit/>
          </a:bodyPr>
          <a:lstStyle/>
          <a:p>
            <a:r>
              <a:rPr lang="en-US" dirty="0"/>
              <a:t>Assessment Pattern</a:t>
            </a:r>
            <a:endParaRPr lang="en-IN" dirty="0"/>
          </a:p>
        </p:txBody>
      </p:sp>
      <p:sp>
        <p:nvSpPr>
          <p:cNvPr id="4" name="Footer Placeholder 3">
            <a:extLst>
              <a:ext uri="{FF2B5EF4-FFF2-40B4-BE49-F238E27FC236}">
                <a16:creationId xmlns:a16="http://schemas.microsoft.com/office/drawing/2014/main" xmlns="" id="{6FD56E32-EE27-43F7-95F1-8E65978E1C4A}"/>
              </a:ext>
            </a:extLst>
          </p:cNvPr>
          <p:cNvSpPr>
            <a:spLocks noGrp="1"/>
          </p:cNvSpPr>
          <p:nvPr>
            <p:ph type="ftr" sz="quarter" idx="11"/>
          </p:nvPr>
        </p:nvSpPr>
        <p:spPr/>
        <p:txBody>
          <a:bodyPr/>
          <a:lstStyle/>
          <a:p>
            <a:r>
              <a:rPr lang="en-US" dirty="0" smtClean="0">
                <a:solidFill>
                  <a:prstClr val="black">
                    <a:tint val="75000"/>
                  </a:prstClr>
                </a:solidFill>
              </a:rPr>
              <a:t>Semi Conductor Physics 23SPH-143</a:t>
            </a:r>
            <a:endParaRPr lang="en-US" dirty="0">
              <a:solidFill>
                <a:prstClr val="black">
                  <a:tint val="75000"/>
                </a:prstClr>
              </a:solidFill>
            </a:endParaRPr>
          </a:p>
        </p:txBody>
      </p:sp>
      <p:pic>
        <p:nvPicPr>
          <p:cNvPr id="11" name="Content Placeholder 10">
            <a:extLst>
              <a:ext uri="{FF2B5EF4-FFF2-40B4-BE49-F238E27FC236}">
                <a16:creationId xmlns:a16="http://schemas.microsoft.com/office/drawing/2014/main" xmlns="" id="{ECF37D14-C487-44CB-91C1-3B586E56E019}"/>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tretch>
            <a:fillRect/>
          </a:stretch>
        </p:blipFill>
        <p:spPr>
          <a:xfrm>
            <a:off x="1099930" y="1516756"/>
            <a:ext cx="5383295" cy="4619000"/>
          </a:xfrm>
        </p:spPr>
      </p:pic>
      <p:pic>
        <p:nvPicPr>
          <p:cNvPr id="13" name="Picture 12">
            <a:extLst>
              <a:ext uri="{FF2B5EF4-FFF2-40B4-BE49-F238E27FC236}">
                <a16:creationId xmlns:a16="http://schemas.microsoft.com/office/drawing/2014/main" xmlns="" id="{EC0BEE70-8D19-4E67-8D5D-2E879F5CC12C}"/>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78403" y="1503012"/>
            <a:ext cx="4637127" cy="4605257"/>
          </a:xfrm>
          <a:prstGeom prst="rect">
            <a:avLst/>
          </a:prstGeom>
        </p:spPr>
      </p:pic>
    </p:spTree>
    <p:custDataLst>
      <p:tags r:id="rId1"/>
    </p:custDataLst>
    <p:extLst>
      <p:ext uri="{BB962C8B-B14F-4D97-AF65-F5344CB8AC3E}">
        <p14:creationId xmlns:p14="http://schemas.microsoft.com/office/powerpoint/2010/main" xmlns="" val="2861674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4"/>
  <p:tag name="ARTICULATE_PROJECT_OPEN" val="1"/>
  <p:tag name="TAG_BACKING_FORM_KEY" val="1247924-l:\2021_even_semester\poe\theory\unit-2\unit 2 ppt\lecture 10.pptx"/>
  <p:tag name="ARTICULATE_PRESENTER_VERSION" val="7"/>
  <p:tag name="ARTICULATE_USED_PAGE_ORIENTATION" val="1"/>
  <p:tag name="ARTICULATE_USED_PAGE_SIZE" val="7"/>
  <p:tag name="ARTICULATE_REFERENCE_ID" val="8be36771-22d4-4d53-bbfa-72106f3db3e1"/>
  <p:tag name="ARTICULATE_REFERENCE_COUNT" val="0"/>
  <p:tag name="ARTICULATE_PLAYER_GLOSSARY_XML" val="&lt;?xml version=&quot;1.0&quot; encoding=&quot;utf-16&quot;?&gt;&lt;glossary xmlns:xsi=&quot;http://www.w3.org/2001/XMLSchema-instance&quot; xmlns:xsd=&quot;http://www.w3.org/2001/XMLSchema&quot;&gt;&lt;terms /&gt;&lt;/glossary&gt;"/>
</p:tagLst>
</file>

<file path=ppt/tags/tag2.xml><?xml version="1.0" encoding="utf-8"?>
<p:tagLst xmlns:a="http://schemas.openxmlformats.org/drawingml/2006/main" xmlns:r="http://schemas.openxmlformats.org/officeDocument/2006/relationships" xmlns:p="http://schemas.openxmlformats.org/presentationml/2006/main">
  <p:tag name="AUDIO_ID" val="326"/>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3.xml><?xml version="1.0" encoding="utf-8"?>
<p:tagLst xmlns:a="http://schemas.openxmlformats.org/drawingml/2006/main" xmlns:r="http://schemas.openxmlformats.org/officeDocument/2006/relationships" xmlns:p="http://schemas.openxmlformats.org/presentationml/2006/main">
  <p:tag name="AUDIO_ID" val="343"/>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4.xml><?xml version="1.0" encoding="utf-8"?>
<p:tagLst xmlns:a="http://schemas.openxmlformats.org/drawingml/2006/main" xmlns:r="http://schemas.openxmlformats.org/officeDocument/2006/relationships" xmlns:p="http://schemas.openxmlformats.org/presentationml/2006/main">
  <p:tag name="AUDIO_ID" val="344"/>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5.xml><?xml version="1.0" encoding="utf-8"?>
<p:tagLst xmlns:a="http://schemas.openxmlformats.org/drawingml/2006/main" xmlns:r="http://schemas.openxmlformats.org/officeDocument/2006/relationships" xmlns:p="http://schemas.openxmlformats.org/presentationml/2006/main">
  <p:tag name="AUDIO_ID" val="345"/>
  <p:tag name="ARTICULATE_USED_LAYOUT" val="13"/>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6.xml><?xml version="1.0" encoding="utf-8"?>
<p:tagLst xmlns:a="http://schemas.openxmlformats.org/drawingml/2006/main" xmlns:r="http://schemas.openxmlformats.org/officeDocument/2006/relationships" xmlns:p="http://schemas.openxmlformats.org/presentationml/2006/main">
  <p:tag name="AUDIO_ID" val="401"/>
  <p:tag name="ARTICULATE_USED_LAYOUT" val="13"/>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7.xml><?xml version="1.0" encoding="utf-8"?>
<p:tagLst xmlns:a="http://schemas.openxmlformats.org/drawingml/2006/main" xmlns:r="http://schemas.openxmlformats.org/officeDocument/2006/relationships" xmlns:p="http://schemas.openxmlformats.org/presentationml/2006/main">
  <p:tag name="AUDIO_ID" val="328"/>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8.xml><?xml version="1.0" encoding="utf-8"?>
<p:tagLst xmlns:a="http://schemas.openxmlformats.org/drawingml/2006/main" xmlns:r="http://schemas.openxmlformats.org/officeDocument/2006/relationships" xmlns:p="http://schemas.openxmlformats.org/presentationml/2006/main">
  <p:tag name="AUDIO_ID" val="346"/>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9.xml><?xml version="1.0" encoding="utf-8"?>
<p:tagLst xmlns:a="http://schemas.openxmlformats.org/drawingml/2006/main" xmlns:r="http://schemas.openxmlformats.org/officeDocument/2006/relationships" xmlns:p="http://schemas.openxmlformats.org/presentationml/2006/main">
  <p:tag name="AUDIO_ID" val="347"/>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0.xml><?xml version="1.0" encoding="utf-8"?>
<p:tagLst xmlns:a="http://schemas.openxmlformats.org/drawingml/2006/main" xmlns:r="http://schemas.openxmlformats.org/officeDocument/2006/relationships" xmlns:p="http://schemas.openxmlformats.org/presentationml/2006/main">
  <p:tag name="AUDIO_ID" val="393"/>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1.xml><?xml version="1.0" encoding="utf-8"?>
<p:tagLst xmlns:a="http://schemas.openxmlformats.org/drawingml/2006/main" xmlns:r="http://schemas.openxmlformats.org/officeDocument/2006/relationships" xmlns:p="http://schemas.openxmlformats.org/presentationml/2006/main">
  <p:tag name="AUDIO_ID" val="348"/>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2.xml><?xml version="1.0" encoding="utf-8"?>
<p:tagLst xmlns:a="http://schemas.openxmlformats.org/drawingml/2006/main" xmlns:r="http://schemas.openxmlformats.org/officeDocument/2006/relationships" xmlns:p="http://schemas.openxmlformats.org/presentationml/2006/main">
  <p:tag name="AUDIO_ID" val="349"/>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3.xml><?xml version="1.0" encoding="utf-8"?>
<p:tagLst xmlns:a="http://schemas.openxmlformats.org/drawingml/2006/main" xmlns:r="http://schemas.openxmlformats.org/officeDocument/2006/relationships" xmlns:p="http://schemas.openxmlformats.org/presentationml/2006/main">
  <p:tag name="AUDIO_ID" val="350"/>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4.xml><?xml version="1.0" encoding="utf-8"?>
<p:tagLst xmlns:a="http://schemas.openxmlformats.org/drawingml/2006/main" xmlns:r="http://schemas.openxmlformats.org/officeDocument/2006/relationships" xmlns:p="http://schemas.openxmlformats.org/presentationml/2006/main">
  <p:tag name="AUDIO_ID" val="391"/>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5.xml><?xml version="1.0" encoding="utf-8"?>
<p:tagLst xmlns:a="http://schemas.openxmlformats.org/drawingml/2006/main" xmlns:r="http://schemas.openxmlformats.org/officeDocument/2006/relationships" xmlns:p="http://schemas.openxmlformats.org/presentationml/2006/main">
  <p:tag name="AUDIO_ID" val="350"/>
  <p:tag name="ARTICULATE_USED_LAYOUT" val="2"/>
  <p:tag name="ARTICULATE_NAV_LEVEL" val="1"/>
  <p:tag name="ARTICULATE_SLIDE_PRESENTER_GUID" val="e318d2ee-5c87-449d-9f85-fa4a02595eb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6.xml><?xml version="1.0" encoding="utf-8"?>
<p:tagLst xmlns:a="http://schemas.openxmlformats.org/drawingml/2006/main" xmlns:r="http://schemas.openxmlformats.org/officeDocument/2006/relationships" xmlns:p="http://schemas.openxmlformats.org/presentationml/2006/main">
  <p:tag name="AUDIO_ID" val="423"/>
  <p:tag name="ARTICULATE_USED_LAYOUT" val="2"/>
  <p:tag name="ARTICULATE_NAV_LEVEL" val="1"/>
  <p:tag name="ARTICULATE_SLIDE_PRESENTER_GUID" val="d2f9cd17-fd9a-497e-b841-fdca638d2b6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7.xml><?xml version="1.0" encoding="utf-8"?>
<p:tagLst xmlns:a="http://schemas.openxmlformats.org/drawingml/2006/main" xmlns:r="http://schemas.openxmlformats.org/officeDocument/2006/relationships" xmlns:p="http://schemas.openxmlformats.org/presentationml/2006/main">
  <p:tag name="AUDIO_ID" val="424"/>
  <p:tag name="ARTICULATE_USED_LAYOUT" val="2"/>
  <p:tag name="ARTICULATE_NAV_LEVEL" val="1"/>
  <p:tag name="ARTICULATE_SLIDE_PRESENTER_GUID" val="d2f9cd17-fd9a-497e-b841-fdca638d2b6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8.xml><?xml version="1.0" encoding="utf-8"?>
<p:tagLst xmlns:a="http://schemas.openxmlformats.org/drawingml/2006/main" xmlns:r="http://schemas.openxmlformats.org/officeDocument/2006/relationships" xmlns:p="http://schemas.openxmlformats.org/presentationml/2006/main">
  <p:tag name="AUDIO_ID" val="427"/>
  <p:tag name="ARTICULATE_USED_LAYOUT" val="2"/>
  <p:tag name="ARTICULATE_NAV_LEVEL" val="1"/>
  <p:tag name="ARTICULATE_SLIDE_PRESENTER_GUID" val="d2f9cd17-fd9a-497e-b841-fdca638d2b6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9.xml><?xml version="1.0" encoding="utf-8"?>
<p:tagLst xmlns:a="http://schemas.openxmlformats.org/drawingml/2006/main" xmlns:r="http://schemas.openxmlformats.org/officeDocument/2006/relationships" xmlns:p="http://schemas.openxmlformats.org/presentationml/2006/main">
  <p:tag name="AUDIO_ID" val="429"/>
  <p:tag name="ARTICULATE_USED_LAYOUT" val="2"/>
  <p:tag name="ARTICULATE_NAV_LEVEL" val="1"/>
  <p:tag name="ARTICULATE_SLIDE_PRESENTER_GUID" val="d2f9cd17-fd9a-497e-b841-fdca638d2b6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0.xml><?xml version="1.0" encoding="utf-8"?>
<p:tagLst xmlns:a="http://schemas.openxmlformats.org/drawingml/2006/main" xmlns:r="http://schemas.openxmlformats.org/officeDocument/2006/relationships" xmlns:p="http://schemas.openxmlformats.org/presentationml/2006/main">
  <p:tag name="AUDIO_ID" val="430"/>
  <p:tag name="ARTICULATE_USED_LAYOUT" val="2"/>
  <p:tag name="ARTICULATE_NAV_LEVEL" val="1"/>
  <p:tag name="ARTICULATE_SLIDE_PRESENTER_GUID" val="d2f9cd17-fd9a-497e-b841-fdca638d2b6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1.xml><?xml version="1.0" encoding="utf-8"?>
<p:tagLst xmlns:a="http://schemas.openxmlformats.org/drawingml/2006/main" xmlns:r="http://schemas.openxmlformats.org/officeDocument/2006/relationships" xmlns:p="http://schemas.openxmlformats.org/presentationml/2006/main">
  <p:tag name="AUDIO_ID" val="394"/>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2.xml><?xml version="1.0" encoding="utf-8"?>
<p:tagLst xmlns:a="http://schemas.openxmlformats.org/drawingml/2006/main" xmlns:r="http://schemas.openxmlformats.org/officeDocument/2006/relationships" xmlns:p="http://schemas.openxmlformats.org/presentationml/2006/main">
  <p:tag name="AUDIO_ID" val="377"/>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3.xml><?xml version="1.0" encoding="utf-8"?>
<p:tagLst xmlns:a="http://schemas.openxmlformats.org/drawingml/2006/main" xmlns:r="http://schemas.openxmlformats.org/officeDocument/2006/relationships" xmlns:p="http://schemas.openxmlformats.org/presentationml/2006/main">
  <p:tag name="AUDIO_ID" val="384"/>
  <p:tag name="ARTICULATE_USED_LAYOUT" val="8"/>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4.xml><?xml version="1.0" encoding="utf-8"?>
<p:tagLst xmlns:a="http://schemas.openxmlformats.org/drawingml/2006/main" xmlns:r="http://schemas.openxmlformats.org/officeDocument/2006/relationships" xmlns:p="http://schemas.openxmlformats.org/presentationml/2006/main">
  <p:tag name="AUDIO_ID" val="405"/>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5.xml><?xml version="1.0" encoding="utf-8"?>
<p:tagLst xmlns:a="http://schemas.openxmlformats.org/drawingml/2006/main" xmlns:r="http://schemas.openxmlformats.org/officeDocument/2006/relationships" xmlns:p="http://schemas.openxmlformats.org/presentationml/2006/main">
  <p:tag name="AUDIO_ID" val="406"/>
  <p:tag name="ARTICULATE_USED_LAYOUT" val="2"/>
  <p:tag name="ARTICULATE_NAV_LEVEL" val="1"/>
  <p:tag name="ARTICULATE_SLIDE_PRESENTER_GUID" val="16fb4c04-ac22-41f9-88fb-55020083ddc8"/>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4359</TotalTime>
  <Words>2156</Words>
  <Application>Microsoft Office PowerPoint</Application>
  <PresentationFormat>Custom</PresentationFormat>
  <Paragraphs>194</Paragraphs>
  <Slides>27</Slides>
  <Notes>5</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0" baseType="lpstr">
      <vt:lpstr>1_Office Theme</vt:lpstr>
      <vt:lpstr>Contents Slide Master</vt:lpstr>
      <vt:lpstr>CorelDRAW</vt:lpstr>
      <vt:lpstr>Slide 1</vt:lpstr>
      <vt:lpstr>Content   </vt:lpstr>
      <vt:lpstr>Types of Field Effect Transistors</vt:lpstr>
      <vt:lpstr>Junction Field Effect Transistor (JFET) </vt:lpstr>
      <vt:lpstr>Constructional Details</vt:lpstr>
      <vt:lpstr>Schematic Symbol of JFET</vt:lpstr>
      <vt:lpstr>JFET polarities </vt:lpstr>
      <vt:lpstr>JFET polarities</vt:lpstr>
      <vt:lpstr>Difference Between JFET and Bipolar Transistor</vt:lpstr>
      <vt:lpstr>Difference Between JFET and Bipolar Transistor</vt:lpstr>
      <vt:lpstr>Principle and Working of JFET</vt:lpstr>
      <vt:lpstr>Working of JFET</vt:lpstr>
      <vt:lpstr>Working of JFET</vt:lpstr>
      <vt:lpstr>Important Terms </vt:lpstr>
      <vt:lpstr>APPLICATION OF JFET AS AMPILFIER</vt:lpstr>
      <vt:lpstr>MOSFET</vt:lpstr>
      <vt:lpstr>Types of MOSFETs</vt:lpstr>
      <vt:lpstr>Symbols for D-MOSFET</vt:lpstr>
      <vt:lpstr>Symbols for n-channel D-MOSFET</vt:lpstr>
      <vt:lpstr>Symbols for p-channel D-MOSFET</vt:lpstr>
      <vt:lpstr>List of the Applications of MOSFET </vt:lpstr>
      <vt:lpstr>Summary</vt:lpstr>
      <vt:lpstr>Frequently Asked Questions</vt:lpstr>
      <vt:lpstr>LEARNING OUTCOMES </vt:lpstr>
      <vt:lpstr>References</vt:lpstr>
      <vt:lpstr>Assessment Pattern</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245</cp:revision>
  <dcterms:created xsi:type="dcterms:W3CDTF">2019-01-09T10:33:58Z</dcterms:created>
  <dcterms:modified xsi:type="dcterms:W3CDTF">2023-06-20T07:43:21Z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3BB2DA16-F073-412B-9B7F-1A121CAAFFD1</vt:lpwstr>
  </property>
  <property fmtid="{D5CDD505-2E9C-101B-9397-08002B2CF9AE}" pid="3" name="ArticulatePath">
    <vt:lpwstr>Lecture 10</vt:lpwstr>
  </property>
  <property fmtid="{D5CDD505-2E9C-101B-9397-08002B2CF9AE}" pid="4" name="ArticulateProjectVersion">
    <vt:lpwstr>7</vt:lpwstr>
  </property>
  <property fmtid="{D5CDD505-2E9C-101B-9397-08002B2CF9AE}" pid="5" name="ArticulateUseProject">
    <vt:lpwstr>1</vt:lpwstr>
  </property>
  <property fmtid="{D5CDD505-2E9C-101B-9397-08002B2CF9AE}" pid="6" name="ArticulateProjectFull">
    <vt:lpwstr>L:\2021_Even_Semester\POE\Theory\UNIT-2\Unit 2 PPT\Lecture 10.ppta</vt:lpwstr>
  </property>
</Properties>
</file>