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Default Extension="wdp" ContentType="image/vnd.ms-photo"/>
  <Override PartName="/ppt/slideLayouts/slideLayout10.xml" ContentType="application/vnd.openxmlformats-officedocument.presentationml.slideLayout+xml"/>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40"/>
  </p:notesMasterIdLst>
  <p:handoutMasterIdLst>
    <p:handoutMasterId r:id="rId41"/>
  </p:handoutMasterIdLst>
  <p:sldIdLst>
    <p:sldId id="389" r:id="rId3"/>
    <p:sldId id="388" r:id="rId4"/>
    <p:sldId id="387" r:id="rId5"/>
    <p:sldId id="370" r:id="rId6"/>
    <p:sldId id="326" r:id="rId7"/>
    <p:sldId id="263" r:id="rId8"/>
    <p:sldId id="264" r:id="rId9"/>
    <p:sldId id="265" r:id="rId10"/>
    <p:sldId id="266" r:id="rId11"/>
    <p:sldId id="267" r:id="rId12"/>
    <p:sldId id="268" r:id="rId13"/>
    <p:sldId id="269" r:id="rId14"/>
    <p:sldId id="270" r:id="rId15"/>
    <p:sldId id="271" r:id="rId16"/>
    <p:sldId id="272" r:id="rId17"/>
    <p:sldId id="283" r:id="rId18"/>
    <p:sldId id="285" r:id="rId19"/>
    <p:sldId id="275" r:id="rId20"/>
    <p:sldId id="273" r:id="rId21"/>
    <p:sldId id="281" r:id="rId22"/>
    <p:sldId id="276" r:id="rId23"/>
    <p:sldId id="282" r:id="rId24"/>
    <p:sldId id="274" r:id="rId25"/>
    <p:sldId id="284" r:id="rId26"/>
    <p:sldId id="277" r:id="rId27"/>
    <p:sldId id="279" r:id="rId28"/>
    <p:sldId id="278" r:id="rId29"/>
    <p:sldId id="280" r:id="rId30"/>
    <p:sldId id="290" r:id="rId31"/>
    <p:sldId id="291" r:id="rId32"/>
    <p:sldId id="375" r:id="rId33"/>
    <p:sldId id="377" r:id="rId34"/>
    <p:sldId id="384" r:id="rId35"/>
    <p:sldId id="379" r:id="rId36"/>
    <p:sldId id="381" r:id="rId37"/>
    <p:sldId id="368" r:id="rId38"/>
    <p:sldId id="380" r:id="rId39"/>
  </p:sldIdLst>
  <p:sldSz cx="12192000" cy="6858000"/>
  <p:notesSz cx="6858000" cy="9144000"/>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D8137"/>
    <a:srgbClr val="BC8F00"/>
    <a:srgbClr val="860000"/>
    <a:srgbClr val="00B0F0"/>
    <a:srgbClr val="1B3F5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515" autoAdjust="0"/>
    <p:restoredTop sz="94660"/>
  </p:normalViewPr>
  <p:slideViewPr>
    <p:cSldViewPr snapToGrid="0">
      <p:cViewPr varScale="1">
        <p:scale>
          <a:sx n="65" d="100"/>
          <a:sy n="65" d="100"/>
        </p:scale>
        <p:origin x="-702" y="42"/>
      </p:cViewPr>
      <p:guideLst>
        <p:guide orient="horz" pos="2160"/>
        <p:guide pos="3840"/>
      </p:guideLst>
    </p:cSldViewPr>
  </p:slideViewPr>
  <p:notesTextViewPr>
    <p:cViewPr>
      <p:scale>
        <a:sx n="1" d="1"/>
        <a:sy n="1" d="1"/>
      </p:scale>
      <p:origin x="0" y="0"/>
    </p:cViewPr>
  </p:notesTextViewPr>
  <p:sorterViewPr>
    <p:cViewPr>
      <p:scale>
        <a:sx n="100" d="100"/>
        <a:sy n="100" d="100"/>
      </p:scale>
      <p:origin x="0" y="-13638"/>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xmlns=""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xmlns=""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xmlns=""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70909644"/>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227159557"/>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804378142"/>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xmlns=""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library.automationdirect.com/basic-electrical-theory/" TargetMode="Externa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library.automationdirect.com/basic-electrical-theory/" TargetMode="Externa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library.automationdirect.com/basic-electrical-theory/" TargetMode="Externa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 Id="rId5" Type="http://schemas.openxmlformats.org/officeDocument/2006/relationships/image" Target="../media/image31.jpeg"/><Relationship Id="rId4" Type="http://schemas.openxmlformats.org/officeDocument/2006/relationships/image" Target="../media/image30.jpeg"/></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 Id="rId5" Type="http://schemas.openxmlformats.org/officeDocument/2006/relationships/image" Target="../media/image35.jpeg"/><Relationship Id="rId4" Type="http://schemas.openxmlformats.org/officeDocument/2006/relationships/image" Target="../media/image34.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xmlns="" val="689304721"/>
              </p:ext>
            </p:extLst>
          </p:nvPr>
        </p:nvGraphicFramePr>
        <p:xfrm>
          <a:off x="494804" y="4023363"/>
          <a:ext cx="2631143" cy="2507676"/>
        </p:xfrm>
        <a:graphic>
          <a:graphicData uri="http://schemas.openxmlformats.org/presentationml/2006/ole">
            <p:oleObj spid="_x0000_s2050" name="CorelDRAW" r:id="rId4" imgW="2169000" imgH="2169360" progId="">
              <p:embed/>
            </p:oleObj>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xmlns="">
                  <a14:imgLayer r:embed="rId6">
                    <a14:imgEffect>
                      <a14:colorTemperature colorTemp="5742"/>
                    </a14:imgEffect>
                    <a14:imgEffect>
                      <a14:saturation sat="238000"/>
                    </a14:imgEffect>
                  </a14:imgLayer>
                </a14:imgProps>
              </a:ext>
              <a:ext uri="{28A0092B-C50C-407E-A947-70E740481C1C}">
                <a14:useLocalDpi xmlns:a14="http://schemas.microsoft.com/office/drawing/2010/main" xmlns=""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214846" y="1281237"/>
            <a:ext cx="9832638" cy="6032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INSTITUTE UIE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UNIT-1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400" dirty="0">
                <a:latin typeface="Times New Roman" panose="02020603050405020304" pitchFamily="18" charset="0"/>
                <a:ea typeface="Calibri" panose="020F0502020204030204" pitchFamily="34" charset="0"/>
                <a:cs typeface="Times New Roman" panose="02020603050405020304" pitchFamily="18" charset="0"/>
              </a:rPr>
              <a:t>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 (Computer Science &amp; Engineering) </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Name Semi Conductor Physics</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Code 23SPH-143</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Prepared By</a:t>
            </a:r>
          </a:p>
          <a:p>
            <a:pPr algn="ctr" defTabSz="622300">
              <a:lnSpc>
                <a:spcPct val="90000"/>
              </a:lnSpc>
              <a:spcBef>
                <a:spcPct val="0"/>
              </a:spcBef>
              <a:spcAft>
                <a:spcPct val="35000"/>
              </a:spcAft>
            </a:pPr>
            <a:r>
              <a:rPr lang="en-IN" sz="2400" dirty="0" err="1" smtClean="0">
                <a:latin typeface="Times New Roman" pitchFamily="18" charset="0"/>
                <a:cs typeface="Times New Roman" pitchFamily="18" charset="0"/>
              </a:rPr>
              <a:t>Dr.Anuj</a:t>
            </a:r>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K</a:t>
            </a:r>
            <a:r>
              <a:rPr lang="en-IN" sz="2400" dirty="0" smtClean="0">
                <a:latin typeface="Times New Roman" pitchFamily="18" charset="0"/>
                <a:cs typeface="Times New Roman" pitchFamily="18" charset="0"/>
              </a:rPr>
              <a:t>umar </a:t>
            </a:r>
            <a:r>
              <a:rPr lang="en-IN" sz="2400" dirty="0" err="1" smtClean="0">
                <a:latin typeface="Times New Roman" pitchFamily="18" charset="0"/>
                <a:cs typeface="Times New Roman" pitchFamily="18" charset="0"/>
              </a:rPr>
              <a:t>Goel</a:t>
            </a:r>
            <a:endParaRPr lang="en-IN" sz="2400" dirty="0" smtClean="0">
              <a:latin typeface="Times New Roman" pitchFamily="18" charset="0"/>
              <a:cs typeface="Times New Roman" pitchFamily="18" charset="0"/>
            </a:endParaRPr>
          </a:p>
          <a:p>
            <a:pPr algn="ctr" defTabSz="622300">
              <a:lnSpc>
                <a:spcPct val="90000"/>
              </a:lnSpc>
              <a:spcBef>
                <a:spcPct val="0"/>
              </a:spcBef>
              <a:spcAft>
                <a:spcPct val="35000"/>
              </a:spcAft>
            </a:pPr>
            <a:r>
              <a:rPr lang="en-IN" sz="2400" dirty="0" smtClean="0">
                <a:latin typeface="Times New Roman" pitchFamily="18" charset="0"/>
                <a:cs typeface="Times New Roman" pitchFamily="18" charset="0"/>
              </a:rPr>
              <a:t>Lecture-2.2.3</a:t>
            </a:r>
            <a:endParaRPr lang="en-IN" sz="2400" dirty="0" smtClean="0">
              <a:latin typeface="Times New Roman" pitchFamily="18" charset="0"/>
              <a:cs typeface="Times New Roman" pitchFamily="18" charset="0"/>
            </a:endParaRPr>
          </a:p>
          <a:p>
            <a:pPr algn="ctr" defTabSz="622300">
              <a:lnSpc>
                <a:spcPct val="90000"/>
              </a:lnSpc>
              <a:spcBef>
                <a:spcPct val="0"/>
              </a:spcBef>
              <a:spcAft>
                <a:spcPct val="35000"/>
              </a:spcAft>
            </a:pPr>
            <a:r>
              <a:rPr lang="en-US" sz="2400" dirty="0" smtClean="0">
                <a:latin typeface="Times New Roman" pitchFamily="18" charset="0"/>
                <a:cs typeface="Times New Roman" pitchFamily="18" charset="0"/>
              </a:rPr>
              <a:t>Visible Light Emitting Diodes and Displays</a:t>
            </a:r>
            <a:r>
              <a:rPr lang="en-IN" sz="2400" dirty="0" smtClean="0">
                <a:latin typeface="Times New Roman" pitchFamily="18" charset="0"/>
                <a:cs typeface="Times New Roman" pitchFamily="18" charset="0"/>
              </a:rPr>
              <a:t>.</a:t>
            </a:r>
            <a:endParaRPr lang="en-US" sz="2400" b="1" dirty="0" smtClean="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xmlns=""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Lecture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xmlns="" val="1125166868"/>
              </p:ext>
            </p:extLst>
          </p:nvPr>
        </p:nvGraphicFramePr>
        <p:xfrm>
          <a:off x="282009" y="2226080"/>
          <a:ext cx="6536802" cy="3968322"/>
        </p:xfrm>
        <a:graphic>
          <a:graphicData uri="http://schemas.openxmlformats.org/drawingml/2006/table">
            <a:tbl>
              <a:tblPr firstRow="1" firstCol="1" bandRow="1"/>
              <a:tblGrid>
                <a:gridCol w="556819">
                  <a:extLst>
                    <a:ext uri="{9D8B030D-6E8A-4147-A177-3AD203B41FA5}">
                      <a16:colId xmlns:a16="http://schemas.microsoft.com/office/drawing/2014/main" xmlns="" val="20000"/>
                    </a:ext>
                  </a:extLst>
                </a:gridCol>
                <a:gridCol w="5979983">
                  <a:extLst>
                    <a:ext uri="{9D8B030D-6E8A-4147-A177-3AD203B41FA5}">
                      <a16:colId xmlns:a16="http://schemas.microsoft.com/office/drawing/2014/main" xmlns="" val="20001"/>
                    </a:ext>
                  </a:extLst>
                </a:gridCol>
              </a:tblGrid>
              <a:tr h="608316">
                <a:tc>
                  <a:txBody>
                    <a:bodyPr/>
                    <a:lstStyle/>
                    <a:p>
                      <a:pPr algn="ctr" fontAlgn="ctr"/>
                      <a:r>
                        <a:rPr lang="en-US" sz="1600" b="1" i="0" u="none" strike="noStrike" dirty="0">
                          <a:solidFill>
                            <a:srgbClr val="000000"/>
                          </a:solidFill>
                          <a:effectLst/>
                          <a:latin typeface="+mn-lt"/>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600" b="1" i="0" u="none" strike="noStrike" dirty="0">
                          <a:solidFill>
                            <a:srgbClr val="000000"/>
                          </a:solidFill>
                          <a:effectLst/>
                          <a:latin typeface="+mn-lt"/>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820396">
                <a:tc>
                  <a:txBody>
                    <a:bodyPr/>
                    <a:lstStyle/>
                    <a:p>
                      <a:pPr algn="ctr" fontAlgn="ctr"/>
                      <a:r>
                        <a:rPr lang="en-US" sz="1600" b="0" i="0" u="none" strike="noStrike" dirty="0">
                          <a:solidFill>
                            <a:schemeClr val="tx1"/>
                          </a:solidFill>
                          <a:effectLst/>
                          <a:latin typeface="+mn-lt"/>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600" b="0" i="0" kern="1200" dirty="0">
                          <a:solidFill>
                            <a:schemeClr val="tx1"/>
                          </a:solidFill>
                          <a:latin typeface="+mn-lt"/>
                          <a:ea typeface="+mn-ea"/>
                          <a:cs typeface="+mn-cs"/>
                        </a:rPr>
                        <a:t>To make student</a:t>
                      </a:r>
                      <a:r>
                        <a:rPr lang="en-US" sz="1600" b="0" i="0" kern="1200" baseline="0" dirty="0">
                          <a:solidFill>
                            <a:schemeClr val="tx1"/>
                          </a:solidFill>
                          <a:latin typeface="+mn-lt"/>
                          <a:ea typeface="+mn-ea"/>
                          <a:cs typeface="+mn-cs"/>
                        </a:rPr>
                        <a:t> aware about the basic  concept of Light emitting diodes.</a:t>
                      </a:r>
                      <a:endParaRPr lang="en-US" sz="16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629046">
                <a:tc>
                  <a:txBody>
                    <a:bodyPr/>
                    <a:lstStyle/>
                    <a:p>
                      <a:pPr algn="ctr" fontAlgn="ctr"/>
                      <a:r>
                        <a:rPr lang="en-US" sz="1600" b="0" i="0" u="none" strike="noStrike" dirty="0">
                          <a:solidFill>
                            <a:srgbClr val="000000"/>
                          </a:solidFill>
                          <a:effectLst/>
                          <a:latin typeface="+mn-lt"/>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600" b="0" i="0" kern="1200" dirty="0">
                          <a:solidFill>
                            <a:schemeClr val="tx1"/>
                          </a:solidFill>
                          <a:latin typeface="+mn-lt"/>
                          <a:ea typeface="+mn-ea"/>
                          <a:cs typeface="+mn-cs"/>
                        </a:rPr>
                        <a:t>To aware about</a:t>
                      </a:r>
                      <a:r>
                        <a:rPr lang="en-US" sz="1600" b="0" i="0" kern="1200" baseline="0" dirty="0">
                          <a:solidFill>
                            <a:schemeClr val="tx1"/>
                          </a:solidFill>
                          <a:latin typeface="+mn-lt"/>
                          <a:ea typeface="+mn-ea"/>
                          <a:cs typeface="+mn-cs"/>
                        </a:rPr>
                        <a:t> working principle of LED.</a:t>
                      </a:r>
                      <a:endParaRPr lang="en-US" sz="16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652472">
                <a:tc>
                  <a:txBody>
                    <a:bodyPr/>
                    <a:lstStyle/>
                    <a:p>
                      <a:pPr algn="ctr" fontAlgn="ctr"/>
                      <a:r>
                        <a:rPr lang="en-US" sz="1600" b="0" i="0" u="none" strike="noStrike" dirty="0">
                          <a:solidFill>
                            <a:srgbClr val="000000"/>
                          </a:solidFill>
                          <a:effectLst/>
                          <a:latin typeface="+mn-lt"/>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600" b="0" i="0" kern="1200" dirty="0">
                          <a:solidFill>
                            <a:schemeClr val="tx1"/>
                          </a:solidFill>
                          <a:latin typeface="+mn-lt"/>
                          <a:ea typeface="+mn-ea"/>
                          <a:cs typeface="+mn-cs"/>
                        </a:rPr>
                        <a:t>To provide knowledge about types and construction of LED.</a:t>
                      </a:r>
                      <a:endParaRPr lang="en-US" sz="16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629046">
                <a:tc>
                  <a:txBody>
                    <a:bodyPr/>
                    <a:lstStyle/>
                    <a:p>
                      <a:pPr algn="ctr" fontAlgn="ctr"/>
                      <a:r>
                        <a:rPr lang="en-US" sz="1600" b="0" i="0" u="none" strike="noStrike" dirty="0">
                          <a:solidFill>
                            <a:srgbClr val="000000"/>
                          </a:solidFill>
                          <a:effectLst/>
                          <a:latin typeface="+mn-lt"/>
                        </a:rPr>
                        <a:t>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600" b="0" i="0" kern="1200" dirty="0">
                          <a:solidFill>
                            <a:schemeClr val="tx1"/>
                          </a:solidFill>
                          <a:latin typeface="+mn-lt"/>
                          <a:ea typeface="+mn-ea"/>
                          <a:cs typeface="+mn-cs"/>
                        </a:rPr>
                        <a:t>To make familiar with the features of LEDs.</a:t>
                      </a:r>
                      <a:endParaRPr lang="en-US" sz="16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629046">
                <a:tc>
                  <a:txBody>
                    <a:bodyPr/>
                    <a:lstStyle/>
                    <a:p>
                      <a:pPr algn="ctr" fontAlgn="ctr"/>
                      <a:r>
                        <a:rPr lang="en-US" sz="1600" b="0" i="0" u="none" strike="noStrike" dirty="0">
                          <a:solidFill>
                            <a:srgbClr val="000000"/>
                          </a:solidFill>
                          <a:effectLst/>
                          <a:latin typeface="+mn-lt"/>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a:r>
                        <a:rPr lang="en-US" sz="1600" b="0" i="0" kern="1200" dirty="0">
                          <a:solidFill>
                            <a:schemeClr val="tx1"/>
                          </a:solidFill>
                          <a:latin typeface="+mn-lt"/>
                          <a:ea typeface="+mn-ea"/>
                          <a:cs typeface="+mn-cs"/>
                        </a:rPr>
                        <a:t>To give brief knowledge about applications of LEDs.</a:t>
                      </a:r>
                      <a:endParaRPr lang="en-US" sz="16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sp>
        <p:nvSpPr>
          <p:cNvPr id="7" name="Content Placeholder 6"/>
          <p:cNvSpPr>
            <a:spLocks noGrp="1"/>
          </p:cNvSpPr>
          <p:nvPr>
            <p:ph idx="1"/>
          </p:nvPr>
        </p:nvSpPr>
        <p:spPr>
          <a:xfrm>
            <a:off x="7093130" y="5251268"/>
            <a:ext cx="4428309" cy="609781"/>
          </a:xfrm>
        </p:spPr>
        <p:txBody>
          <a:bodyPr>
            <a:normAutofit/>
          </a:bodyPr>
          <a:lstStyle/>
          <a:p>
            <a:pPr algn="ctr">
              <a:buNone/>
            </a:pPr>
            <a:r>
              <a:rPr lang="en-US" sz="1800" dirty="0">
                <a:hlinkClick r:id="rId2"/>
              </a:rPr>
              <a:t>https://library.automationdirect.com/basic-electrical-theory/</a:t>
            </a:r>
            <a:endParaRPr lang="en-US" sz="1800" dirty="0">
              <a:solidFill>
                <a:srgbClr val="00B0F0"/>
              </a:solidFill>
            </a:endParaRPr>
          </a:p>
        </p:txBody>
      </p:sp>
      <p:pic>
        <p:nvPicPr>
          <p:cNvPr id="3" name="Picture 2">
            <a:extLst>
              <a:ext uri="{FF2B5EF4-FFF2-40B4-BE49-F238E27FC236}">
                <a16:creationId xmlns:a16="http://schemas.microsoft.com/office/drawing/2014/main" xmlns="" id="{A26A728B-591D-762E-3DC8-A3C82D22F598}"/>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7816506" y="2022062"/>
            <a:ext cx="2981555" cy="2981555"/>
          </a:xfrm>
          <a:prstGeom prst="rect">
            <a:avLst/>
          </a:prstGeom>
        </p:spPr>
      </p:pic>
    </p:spTree>
    <p:extLst>
      <p:ext uri="{BB962C8B-B14F-4D97-AF65-F5344CB8AC3E}">
        <p14:creationId xmlns:p14="http://schemas.microsoft.com/office/powerpoint/2010/main" xmlns=""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xmlns="" val="2962838257"/>
              </p:ext>
            </p:extLst>
          </p:nvPr>
        </p:nvGraphicFramePr>
        <p:xfrm>
          <a:off x="282009" y="2226080"/>
          <a:ext cx="6536802" cy="2687274"/>
        </p:xfrm>
        <a:graphic>
          <a:graphicData uri="http://schemas.openxmlformats.org/drawingml/2006/table">
            <a:tbl>
              <a:tblPr firstRow="1" firstCol="1" bandRow="1"/>
              <a:tblGrid>
                <a:gridCol w="556819">
                  <a:extLst>
                    <a:ext uri="{9D8B030D-6E8A-4147-A177-3AD203B41FA5}">
                      <a16:colId xmlns:a16="http://schemas.microsoft.com/office/drawing/2014/main" xmlns="" val="20000"/>
                    </a:ext>
                  </a:extLst>
                </a:gridCol>
                <a:gridCol w="5979983">
                  <a:extLst>
                    <a:ext uri="{9D8B030D-6E8A-4147-A177-3AD203B41FA5}">
                      <a16:colId xmlns:a16="http://schemas.microsoft.com/office/drawing/2014/main" xmlns="" val="20001"/>
                    </a:ext>
                  </a:extLst>
                </a:gridCol>
              </a:tblGrid>
              <a:tr h="658993">
                <a:tc>
                  <a:txBody>
                    <a:bodyPr/>
                    <a:lstStyle/>
                    <a:p>
                      <a:pPr algn="ctr" fontAlgn="ctr"/>
                      <a:r>
                        <a:rPr lang="en-US" sz="1400" b="1" i="0" u="none" strike="noStrike" dirty="0">
                          <a:solidFill>
                            <a:srgbClr val="000000"/>
                          </a:solidFill>
                          <a:effectLst/>
                          <a:latin typeface="+mn-lt"/>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mn-lt"/>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640005">
                <a:tc>
                  <a:txBody>
                    <a:bodyPr/>
                    <a:lstStyle/>
                    <a:p>
                      <a:pPr algn="ctr" fontAlgn="ctr"/>
                      <a:r>
                        <a:rPr lang="en-US" sz="1400" b="0" i="0" u="none" strike="noStrike" dirty="0">
                          <a:solidFill>
                            <a:schemeClr val="tx1"/>
                          </a:solidFill>
                          <a:effectLst/>
                          <a:latin typeface="+mn-lt"/>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spcBef>
                          <a:spcPts val="0"/>
                        </a:spcBef>
                        <a:spcAft>
                          <a:spcPts val="0"/>
                        </a:spcAft>
                        <a:buFont typeface="Times New Roman" panose="02020603050405020304" pitchFamily="18" charset="0"/>
                        <a:buNone/>
                      </a:pPr>
                      <a:r>
                        <a:rPr lang="en-US" sz="1400" dirty="0">
                          <a:effectLst/>
                          <a:latin typeface="+mn-lt"/>
                          <a:ea typeface="Adobe Garamond Pro"/>
                          <a:cs typeface="Times New Roman" panose="02020603050405020304" pitchFamily="18" charset="0"/>
                        </a:rPr>
                        <a:t>To understand the basic materials and properties of semiconductors.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681449">
                <a:tc>
                  <a:txBody>
                    <a:bodyPr/>
                    <a:lstStyle/>
                    <a:p>
                      <a:pPr algn="ctr" fontAlgn="ctr"/>
                      <a:r>
                        <a:rPr lang="en-US" sz="1400" b="0" i="0" u="none" strike="noStrike" dirty="0">
                          <a:solidFill>
                            <a:srgbClr val="000000"/>
                          </a:solidFill>
                          <a:effectLst/>
                          <a:latin typeface="+mn-lt"/>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spcBef>
                          <a:spcPts val="0"/>
                        </a:spcBef>
                        <a:spcAft>
                          <a:spcPts val="0"/>
                        </a:spcAft>
                        <a:buFont typeface="Times New Roman" panose="02020603050405020304" pitchFamily="18" charset="0"/>
                        <a:buNone/>
                      </a:pPr>
                      <a:r>
                        <a:rPr lang="en-US" sz="1400" dirty="0">
                          <a:effectLst/>
                          <a:latin typeface="+mn-lt"/>
                          <a:ea typeface="Adobe Garamond Pro"/>
                          <a:cs typeface="Times New Roman" panose="02020603050405020304" pitchFamily="18" charset="0"/>
                        </a:rPr>
                        <a:t>Understand the basic of semiconductor and components like diode, transistor, FET, MOSFET and Energy Sources.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706827">
                <a:tc>
                  <a:txBody>
                    <a:bodyPr/>
                    <a:lstStyle/>
                    <a:p>
                      <a:pPr algn="ctr" fontAlgn="ctr"/>
                      <a:r>
                        <a:rPr lang="en-US" sz="1400" b="0" i="0" u="none" strike="noStrike" dirty="0">
                          <a:solidFill>
                            <a:srgbClr val="000000"/>
                          </a:solidFill>
                          <a:effectLst/>
                          <a:latin typeface="+mn-lt"/>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53975" lvl="0" indent="0" algn="just">
                        <a:spcBef>
                          <a:spcPts val="0"/>
                        </a:spcBef>
                        <a:spcAft>
                          <a:spcPts val="0"/>
                        </a:spcAft>
                        <a:buFont typeface="Times New Roman" panose="02020603050405020304" pitchFamily="18" charset="0"/>
                        <a:buNone/>
                      </a:pPr>
                      <a:r>
                        <a:rPr lang="en-IN" sz="1400" dirty="0">
                          <a:effectLst/>
                          <a:latin typeface="+mn-lt"/>
                          <a:ea typeface="Adobe Garamond Pro"/>
                          <a:cs typeface="Times New Roman" panose="02020603050405020304" pitchFamily="18" charset="0"/>
                        </a:rPr>
                        <a:t>To give knowledge about semiconductor physics and discus working and applications of basic devices, including p-n junctions, BJTs and FETs.</a:t>
                      </a:r>
                      <a:endParaRPr lang="en-US" sz="1400" dirty="0">
                        <a:effectLst/>
                        <a:latin typeface="+mn-lt"/>
                        <a:ea typeface="Adobe Garamond Pro"/>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7" name="Content Placeholder 6"/>
          <p:cNvSpPr>
            <a:spLocks noGrp="1"/>
          </p:cNvSpPr>
          <p:nvPr>
            <p:ph idx="1"/>
          </p:nvPr>
        </p:nvSpPr>
        <p:spPr>
          <a:xfrm>
            <a:off x="7093130" y="5251268"/>
            <a:ext cx="4428309" cy="609781"/>
          </a:xfrm>
        </p:spPr>
        <p:txBody>
          <a:bodyPr>
            <a:normAutofit/>
          </a:bodyPr>
          <a:lstStyle/>
          <a:p>
            <a:pPr algn="ctr">
              <a:buNone/>
            </a:pPr>
            <a:r>
              <a:rPr lang="en-US" sz="1800" dirty="0">
                <a:hlinkClick r:id="rId2"/>
              </a:rPr>
              <a:t>https://library.automationdirect.com/basic-electrical-theory/</a:t>
            </a:r>
            <a:endParaRPr lang="en-US" sz="1800" dirty="0">
              <a:solidFill>
                <a:srgbClr val="00B0F0"/>
              </a:solidFill>
            </a:endParaRPr>
          </a:p>
        </p:txBody>
      </p:sp>
      <p:pic>
        <p:nvPicPr>
          <p:cNvPr id="3" name="Picture 2">
            <a:extLst>
              <a:ext uri="{FF2B5EF4-FFF2-40B4-BE49-F238E27FC236}">
                <a16:creationId xmlns:a16="http://schemas.microsoft.com/office/drawing/2014/main" xmlns="" id="{FFCC7A79-F3B6-686C-1FD0-5EECD4B5D60B}"/>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7859914" y="2226080"/>
            <a:ext cx="3357362" cy="2304315"/>
          </a:xfrm>
          <a:prstGeom prst="rect">
            <a:avLst/>
          </a:prstGeom>
        </p:spPr>
      </p:pic>
    </p:spTree>
    <p:extLst>
      <p:ext uri="{BB962C8B-B14F-4D97-AF65-F5344CB8AC3E}">
        <p14:creationId xmlns:p14="http://schemas.microsoft.com/office/powerpoint/2010/main" xmlns="" val="401809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xmlns="" val="3685900362"/>
              </p:ext>
            </p:extLst>
          </p:nvPr>
        </p:nvGraphicFramePr>
        <p:xfrm>
          <a:off x="361523" y="2027572"/>
          <a:ext cx="6251312" cy="3812796"/>
        </p:xfrm>
        <a:graphic>
          <a:graphicData uri="http://schemas.openxmlformats.org/drawingml/2006/table">
            <a:tbl>
              <a:tblPr firstRow="1" firstCol="1" bandRow="1"/>
              <a:tblGrid>
                <a:gridCol w="685399">
                  <a:extLst>
                    <a:ext uri="{9D8B030D-6E8A-4147-A177-3AD203B41FA5}">
                      <a16:colId xmlns:a16="http://schemas.microsoft.com/office/drawing/2014/main" xmlns="" val="20000"/>
                    </a:ext>
                  </a:extLst>
                </a:gridCol>
                <a:gridCol w="4678017">
                  <a:extLst>
                    <a:ext uri="{9D8B030D-6E8A-4147-A177-3AD203B41FA5}">
                      <a16:colId xmlns:a16="http://schemas.microsoft.com/office/drawing/2014/main" xmlns="" val="20001"/>
                    </a:ext>
                  </a:extLst>
                </a:gridCol>
                <a:gridCol w="887896">
                  <a:extLst>
                    <a:ext uri="{9D8B030D-6E8A-4147-A177-3AD203B41FA5}">
                      <a16:colId xmlns:a16="http://schemas.microsoft.com/office/drawing/2014/main" xmlns="" val="20002"/>
                    </a:ext>
                  </a:extLst>
                </a:gridCol>
              </a:tblGrid>
              <a:tr h="548641">
                <a:tc>
                  <a:txBody>
                    <a:bodyPr/>
                    <a:lstStyle/>
                    <a:p>
                      <a:pPr algn="ctr" fontAlgn="ctr"/>
                      <a:r>
                        <a:rPr lang="en-US" sz="1400" b="1" i="0" u="none" strike="noStrike" dirty="0">
                          <a:solidFill>
                            <a:srgbClr val="000000"/>
                          </a:solidFill>
                          <a:effectLst/>
                          <a:latin typeface="+mn-lt"/>
                        </a:rPr>
                        <a:t>CO Number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mn-lt"/>
                        </a:rPr>
                        <a:t>Title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mn-lt"/>
                        </a:rPr>
                        <a:t>Level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639465">
                <a:tc>
                  <a:txBody>
                    <a:bodyPr/>
                    <a:lstStyle/>
                    <a:p>
                      <a:pPr algn="ctr" fontAlgn="ctr"/>
                      <a:r>
                        <a:rPr lang="en-US" sz="1400" b="0" i="0" u="none" strike="noStrike" dirty="0">
                          <a:solidFill>
                            <a:schemeClr val="tx1"/>
                          </a:solidFill>
                          <a:effectLst/>
                          <a:latin typeface="+mn-lt"/>
                        </a:rPr>
                        <a:t>CO1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IN" sz="1400" dirty="0">
                          <a:effectLst/>
                          <a:latin typeface="Times New Roman" panose="02020603050405020304" pitchFamily="18" charset="0"/>
                          <a:ea typeface="Adobe Garamond Pro"/>
                          <a:cs typeface="Raavi" panose="020B0502040204020203" pitchFamily="34" charset="0"/>
                        </a:rPr>
                        <a:t>To apply the knowledge of basic semiconductor material physics and understand fabrication processes.</a:t>
                      </a:r>
                      <a:endParaRPr lang="en-US" sz="1400"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0" i="0" u="none" strike="noStrike" dirty="0">
                          <a:solidFill>
                            <a:schemeClr val="tx1"/>
                          </a:solidFill>
                          <a:effectLst/>
                          <a:latin typeface="+mn-lt"/>
                        </a:rPr>
                        <a:t>Remember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583096">
                <a:tc>
                  <a:txBody>
                    <a:bodyPr/>
                    <a:lstStyle/>
                    <a:p>
                      <a:pPr algn="ctr" fontAlgn="ctr"/>
                      <a:r>
                        <a:rPr lang="en-US" sz="1400" b="0" i="0" u="none" strike="noStrike">
                          <a:solidFill>
                            <a:srgbClr val="000000"/>
                          </a:solidFill>
                          <a:effectLst/>
                          <a:latin typeface="+mn-lt"/>
                        </a:rPr>
                        <a:t>CO2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IN" sz="1400">
                          <a:solidFill>
                            <a:srgbClr val="000000"/>
                          </a:solidFill>
                          <a:effectLst/>
                          <a:latin typeface="Times New Roman" panose="02020603050405020304" pitchFamily="18" charset="0"/>
                          <a:ea typeface="Times New Roman" panose="02020603050405020304" pitchFamily="18" charset="0"/>
                          <a:cs typeface="Raavi" panose="020B0502040204020203" pitchFamily="34" charset="0"/>
                        </a:rPr>
                        <a:t>To understand </a:t>
                      </a:r>
                      <a:r>
                        <a:rPr lang="en-IN" sz="1400">
                          <a:effectLst/>
                          <a:latin typeface="Times New Roman" panose="02020603050405020304" pitchFamily="18" charset="0"/>
                          <a:ea typeface="Calibri" panose="020F0502020204030204" pitchFamily="34" charset="0"/>
                          <a:cs typeface="Raavi" panose="020B0502040204020203" pitchFamily="34" charset="0"/>
                        </a:rPr>
                        <a:t> the characteristics of different electronic devices such as diodes, transistors.</a:t>
                      </a:r>
                      <a:endParaRPr lang="en-US" sz="140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0" i="0" u="none" strike="noStrike" dirty="0">
                          <a:solidFill>
                            <a:srgbClr val="000000"/>
                          </a:solidFill>
                          <a:effectLst/>
                          <a:latin typeface="+mn-lt"/>
                        </a:rPr>
                        <a:t>Understand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569844">
                <a:tc>
                  <a:txBody>
                    <a:bodyPr/>
                    <a:lstStyle/>
                    <a:p>
                      <a:pPr algn="ctr" fontAlgn="ctr"/>
                      <a:r>
                        <a:rPr lang="en-US" sz="1400" b="0" i="0" u="none" strike="noStrike">
                          <a:solidFill>
                            <a:srgbClr val="000000"/>
                          </a:solidFill>
                          <a:effectLst/>
                          <a:latin typeface="+mn-lt"/>
                        </a:rPr>
                        <a:t>CO3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31115" algn="just">
                        <a:lnSpc>
                          <a:spcPct val="107000"/>
                        </a:lnSpc>
                        <a:spcBef>
                          <a:spcPts val="0"/>
                        </a:spcBef>
                        <a:spcAft>
                          <a:spcPts val="0"/>
                        </a:spcAft>
                      </a:pPr>
                      <a:r>
                        <a:rPr lang="en-IN" sz="1400">
                          <a:effectLst/>
                          <a:latin typeface="Times New Roman" panose="02020603050405020304" pitchFamily="18" charset="0"/>
                          <a:ea typeface="Adobe Garamond Pro"/>
                          <a:cs typeface="Raavi" panose="020B0502040204020203" pitchFamily="34" charset="0"/>
                        </a:rPr>
                        <a:t>To derive the relationships between the parameters in diode, FET, configurations of Transistor and MOSFETs.</a:t>
                      </a:r>
                      <a:endParaRPr lang="en-US" sz="140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0" i="0" u="none" strike="noStrike" dirty="0">
                          <a:solidFill>
                            <a:srgbClr val="000000"/>
                          </a:solidFill>
                          <a:effectLst/>
                          <a:latin typeface="+mn-lt"/>
                        </a:rPr>
                        <a:t>Analyze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735875">
                <a:tc>
                  <a:txBody>
                    <a:bodyPr/>
                    <a:lstStyle/>
                    <a:p>
                      <a:pPr algn="ctr" fontAlgn="ctr"/>
                      <a:r>
                        <a:rPr lang="en-US" sz="1400" b="0" i="0" u="none" strike="noStrike" dirty="0">
                          <a:solidFill>
                            <a:srgbClr val="000000"/>
                          </a:solidFill>
                          <a:effectLst/>
                          <a:latin typeface="+mn-lt"/>
                        </a:rPr>
                        <a:t>CO4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IN" sz="1400">
                          <a:solidFill>
                            <a:srgbClr val="000000"/>
                          </a:solidFill>
                          <a:effectLst/>
                          <a:latin typeface="Times New Roman" panose="02020603050405020304" pitchFamily="18" charset="0"/>
                          <a:ea typeface="Times New Roman" panose="02020603050405020304" pitchFamily="18" charset="0"/>
                          <a:cs typeface="Raavi" panose="020B0502040204020203" pitchFamily="34" charset="0"/>
                        </a:rPr>
                        <a:t>To describe the working and design considerations for the various photonic devices like photo detectors, solar-cells and LEDs.</a:t>
                      </a:r>
                      <a:endParaRPr lang="en-US" sz="140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0" i="0" u="none" strike="noStrike" dirty="0">
                          <a:solidFill>
                            <a:srgbClr val="000000"/>
                          </a:solidFill>
                          <a:effectLst/>
                          <a:latin typeface="+mn-lt"/>
                        </a:rPr>
                        <a:t>Evaluate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735875">
                <a:tc>
                  <a:txBody>
                    <a:bodyPr/>
                    <a:lstStyle/>
                    <a:p>
                      <a:pPr algn="ctr" fontAlgn="ctr"/>
                      <a:r>
                        <a:rPr lang="en-US" sz="1400" b="0" i="0" u="none" strike="noStrike" dirty="0">
                          <a:solidFill>
                            <a:srgbClr val="000000"/>
                          </a:solidFill>
                          <a:effectLst/>
                          <a:latin typeface="+mn-lt"/>
                        </a:rPr>
                        <a:t>CO5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31115" algn="just">
                        <a:lnSpc>
                          <a:spcPct val="107000"/>
                        </a:lnSpc>
                        <a:spcBef>
                          <a:spcPts val="0"/>
                        </a:spcBef>
                        <a:spcAft>
                          <a:spcPts val="0"/>
                        </a:spcAft>
                      </a:pPr>
                      <a:r>
                        <a:rPr lang="en-IN" sz="1400" dirty="0">
                          <a:solidFill>
                            <a:srgbClr val="000000"/>
                          </a:solidFill>
                          <a:effectLst/>
                          <a:latin typeface="Times New Roman" panose="02020603050405020304" pitchFamily="18" charset="0"/>
                          <a:ea typeface="Times New Roman" panose="02020603050405020304" pitchFamily="18" charset="0"/>
                          <a:cs typeface="Raavi" panose="020B0502040204020203" pitchFamily="34" charset="0"/>
                        </a:rPr>
                        <a:t>To provide problem solving experience and learning of concepts through it in semiconductor physics.</a:t>
                      </a:r>
                      <a:endParaRPr lang="en-US" sz="1400"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400" b="0" i="0" u="none" strike="noStrike" dirty="0">
                          <a:solidFill>
                            <a:srgbClr val="000000"/>
                          </a:solidFill>
                          <a:effectLst/>
                          <a:latin typeface="+mn-lt"/>
                        </a:rPr>
                        <a:t>Create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sp>
        <p:nvSpPr>
          <p:cNvPr id="9" name="Content Placeholder 8"/>
          <p:cNvSpPr>
            <a:spLocks noGrp="1"/>
          </p:cNvSpPr>
          <p:nvPr>
            <p:ph idx="1"/>
          </p:nvPr>
        </p:nvSpPr>
        <p:spPr>
          <a:xfrm>
            <a:off x="6609807" y="5329646"/>
            <a:ext cx="4915398" cy="518341"/>
          </a:xfrm>
        </p:spPr>
        <p:txBody>
          <a:bodyPr>
            <a:normAutofit fontScale="92500" lnSpcReduction="20000"/>
          </a:bodyPr>
          <a:lstStyle/>
          <a:p>
            <a:pPr algn="ctr">
              <a:buNone/>
            </a:pPr>
            <a:r>
              <a:rPr lang="en-US" sz="2000" dirty="0">
                <a:hlinkClick r:id="rId2"/>
              </a:rPr>
              <a:t>https://library.automationdirect.com/basic-electrical-theory/</a:t>
            </a:r>
            <a:endParaRPr lang="en-US" sz="2000" dirty="0">
              <a:solidFill>
                <a:srgbClr val="00B0F0"/>
              </a:solidFill>
            </a:endParaRPr>
          </a:p>
        </p:txBody>
      </p:sp>
      <p:pic>
        <p:nvPicPr>
          <p:cNvPr id="3" name="Picture 2">
            <a:extLst>
              <a:ext uri="{FF2B5EF4-FFF2-40B4-BE49-F238E27FC236}">
                <a16:creationId xmlns:a16="http://schemas.microsoft.com/office/drawing/2014/main" xmlns="" id="{1AE5C83E-2249-8C2A-94A3-E857CF916394}"/>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7280794" y="2501166"/>
            <a:ext cx="3573424" cy="2239681"/>
          </a:xfrm>
          <a:prstGeom prst="rect">
            <a:avLst/>
          </a:prstGeom>
        </p:spPr>
      </p:pic>
    </p:spTree>
    <p:extLst>
      <p:ext uri="{BB962C8B-B14F-4D97-AF65-F5344CB8AC3E}">
        <p14:creationId xmlns:p14="http://schemas.microsoft.com/office/powerpoint/2010/main" xmlns="" val="4018097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cs typeface="Arial" panose="020B0604020202020204" pitchFamily="34" charset="0"/>
              </a:rPr>
              <a:t>Content</a:t>
            </a:r>
            <a:r>
              <a:rPr lang="en-US" b="1" dirty="0">
                <a:latin typeface="Casper"/>
                <a:cs typeface="Arial" panose="020B0604020202020204" pitchFamily="34" charset="0"/>
              </a:rPr>
              <a:t> </a:t>
            </a:r>
            <a:r>
              <a:rPr lang="en-US" b="1" dirty="0">
                <a:latin typeface="Casper"/>
              </a:rPr>
              <a:t>  </a:t>
            </a:r>
          </a:p>
        </p:txBody>
      </p:sp>
      <p:sp>
        <p:nvSpPr>
          <p:cNvPr id="3" name="Content Placeholder 2"/>
          <p:cNvSpPr>
            <a:spLocks noGrp="1"/>
          </p:cNvSpPr>
          <p:nvPr>
            <p:ph idx="1"/>
          </p:nvPr>
        </p:nvSpPr>
        <p:spPr/>
        <p:txBody>
          <a:bodyPr>
            <a:normAutofit fontScale="92500" lnSpcReduction="10000"/>
          </a:bodyPr>
          <a:lstStyle/>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Introduction to visible LEDs.</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What is an LED?</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How LED works.</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Energy band diagram of LED.</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Construction of LED.</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Electrical characteristics of LED.</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What determines the </a:t>
            </a:r>
            <a:r>
              <a:rPr lang="en-IN" dirty="0" err="1">
                <a:solidFill>
                  <a:prstClr val="black"/>
                </a:solidFill>
                <a:cs typeface="Times New Roman" pitchFamily="18" charset="0"/>
              </a:rPr>
              <a:t>color</a:t>
            </a:r>
            <a:r>
              <a:rPr lang="en-IN" dirty="0">
                <a:solidFill>
                  <a:prstClr val="black"/>
                </a:solidFill>
                <a:cs typeface="Times New Roman" pitchFamily="18" charset="0"/>
              </a:rPr>
              <a:t> of LED.</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How much light do LEDs produce.</a:t>
            </a:r>
          </a:p>
          <a:p>
            <a:pPr marL="342900" lvl="0" indent="-342900">
              <a:lnSpc>
                <a:spcPct val="100000"/>
              </a:lnSpc>
              <a:spcBef>
                <a:spcPts val="0"/>
              </a:spcBef>
              <a:buFont typeface="Wingdings" pitchFamily="2" charset="2"/>
              <a:buChar char="v"/>
            </a:pPr>
            <a:r>
              <a:rPr lang="en-US" dirty="0">
                <a:solidFill>
                  <a:prstClr val="black"/>
                </a:solidFill>
                <a:cs typeface="Times New Roman" pitchFamily="18" charset="0"/>
              </a:rPr>
              <a:t>What makes LEDs suitable for illumination applications?</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Features and Benefits of LED.</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Applications of LEDs.</a:t>
            </a:r>
          </a:p>
          <a:p>
            <a:pPr marL="342900" lvl="0" indent="-342900">
              <a:lnSpc>
                <a:spcPct val="100000"/>
              </a:lnSpc>
              <a:spcBef>
                <a:spcPts val="0"/>
              </a:spcBef>
              <a:buFont typeface="Wingdings" pitchFamily="2" charset="2"/>
              <a:buChar char="v"/>
            </a:pPr>
            <a:endParaRPr lang="en-IN" dirty="0">
              <a:solidFill>
                <a:prstClr val="black"/>
              </a:solidFill>
              <a:cs typeface="Times New Roman" pitchFamily="18" charset="0"/>
            </a:endParaRPr>
          </a:p>
          <a:p>
            <a:pPr marL="342900" lvl="0" indent="-342900">
              <a:lnSpc>
                <a:spcPct val="100000"/>
              </a:lnSpc>
              <a:spcBef>
                <a:spcPts val="0"/>
              </a:spcBef>
              <a:buFont typeface="Wingdings" pitchFamily="2" charset="2"/>
              <a:buChar char="v"/>
            </a:pPr>
            <a:endParaRPr lang="en-IN" dirty="0">
              <a:solidFill>
                <a:prstClr val="black"/>
              </a:solidFill>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823702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6" dur="5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p:cTn id="31"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3" end="3"/>
                                            </p:txEl>
                                          </p:spTgt>
                                        </p:tgtEl>
                                        <p:attrNameLst>
                                          <p:attrName>ppt_h</p:attrName>
                                        </p:attrNameLst>
                                      </p:cBhvr>
                                      <p:tavLst>
                                        <p:tav tm="0">
                                          <p:val>
                                            <p:fltVal val="0"/>
                                          </p:val>
                                        </p:tav>
                                        <p:tav tm="100000">
                                          <p:val>
                                            <p:strVal val="#ppt_h"/>
                                          </p:val>
                                        </p:tav>
                                      </p:tavLst>
                                    </p:anim>
                                    <p:anim calcmode="lin" valueType="num">
                                      <p:cBhvr>
                                        <p:cTn id="33" dur="500" fill="hold"/>
                                        <p:tgtEl>
                                          <p:spTgt spid="3">
                                            <p:txEl>
                                              <p:pRg st="3" end="3"/>
                                            </p:txEl>
                                          </p:spTgt>
                                        </p:tgtEl>
                                        <p:attrNameLst>
                                          <p:attrName>style.rotation</p:attrName>
                                        </p:attrNameLst>
                                      </p:cBhvr>
                                      <p:tavLst>
                                        <p:tav tm="0">
                                          <p:val>
                                            <p:fltVal val="360"/>
                                          </p:val>
                                        </p:tav>
                                        <p:tav tm="100000">
                                          <p:val>
                                            <p:fltVal val="0"/>
                                          </p:val>
                                        </p:tav>
                                      </p:tavLst>
                                    </p:anim>
                                    <p:animEffect transition="in" filter="fade">
                                      <p:cBhvr>
                                        <p:cTn id="34" dur="500"/>
                                        <p:tgtEl>
                                          <p:spTgt spid="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9" presetClass="entr" presetSubtype="0" decel="10000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 calcmode="lin" valueType="num">
                                      <p:cBhvr>
                                        <p:cTn id="39"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3">
                                            <p:txEl>
                                              <p:pRg st="4" end="4"/>
                                            </p:txEl>
                                          </p:spTgt>
                                        </p:tgtEl>
                                        <p:attrNameLst>
                                          <p:attrName>ppt_h</p:attrName>
                                        </p:attrNameLst>
                                      </p:cBhvr>
                                      <p:tavLst>
                                        <p:tav tm="0">
                                          <p:val>
                                            <p:fltVal val="0"/>
                                          </p:val>
                                        </p:tav>
                                        <p:tav tm="100000">
                                          <p:val>
                                            <p:strVal val="#ppt_h"/>
                                          </p:val>
                                        </p:tav>
                                      </p:tavLst>
                                    </p:anim>
                                    <p:anim calcmode="lin" valueType="num">
                                      <p:cBhvr>
                                        <p:cTn id="41" dur="500" fill="hold"/>
                                        <p:tgtEl>
                                          <p:spTgt spid="3">
                                            <p:txEl>
                                              <p:pRg st="4" end="4"/>
                                            </p:txEl>
                                          </p:spTgt>
                                        </p:tgtEl>
                                        <p:attrNameLst>
                                          <p:attrName>style.rotation</p:attrName>
                                        </p:attrNameLst>
                                      </p:cBhvr>
                                      <p:tavLst>
                                        <p:tav tm="0">
                                          <p:val>
                                            <p:fltVal val="360"/>
                                          </p:val>
                                        </p:tav>
                                        <p:tav tm="100000">
                                          <p:val>
                                            <p:fltVal val="0"/>
                                          </p:val>
                                        </p:tav>
                                      </p:tavLst>
                                    </p:anim>
                                    <p:animEffect transition="in" filter="fade">
                                      <p:cBhvr>
                                        <p:cTn id="42" dur="500"/>
                                        <p:tgtEl>
                                          <p:spTgt spid="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9" presetClass="entr" presetSubtype="0" decel="100000"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 calcmode="lin" valueType="num">
                                      <p:cBhvr>
                                        <p:cTn id="47"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3">
                                            <p:txEl>
                                              <p:pRg st="5" end="5"/>
                                            </p:txEl>
                                          </p:spTgt>
                                        </p:tgtEl>
                                        <p:attrNameLst>
                                          <p:attrName>ppt_h</p:attrName>
                                        </p:attrNameLst>
                                      </p:cBhvr>
                                      <p:tavLst>
                                        <p:tav tm="0">
                                          <p:val>
                                            <p:fltVal val="0"/>
                                          </p:val>
                                        </p:tav>
                                        <p:tav tm="100000">
                                          <p:val>
                                            <p:strVal val="#ppt_h"/>
                                          </p:val>
                                        </p:tav>
                                      </p:tavLst>
                                    </p:anim>
                                    <p:anim calcmode="lin" valueType="num">
                                      <p:cBhvr>
                                        <p:cTn id="49" dur="500" fill="hold"/>
                                        <p:tgtEl>
                                          <p:spTgt spid="3">
                                            <p:txEl>
                                              <p:pRg st="5" end="5"/>
                                            </p:txEl>
                                          </p:spTgt>
                                        </p:tgtEl>
                                        <p:attrNameLst>
                                          <p:attrName>style.rotation</p:attrName>
                                        </p:attrNameLst>
                                      </p:cBhvr>
                                      <p:tavLst>
                                        <p:tav tm="0">
                                          <p:val>
                                            <p:fltVal val="360"/>
                                          </p:val>
                                        </p:tav>
                                        <p:tav tm="100000">
                                          <p:val>
                                            <p:fltVal val="0"/>
                                          </p:val>
                                        </p:tav>
                                      </p:tavLst>
                                    </p:anim>
                                    <p:animEffect transition="in" filter="fade">
                                      <p:cBhvr>
                                        <p:cTn id="50" dur="500"/>
                                        <p:tgtEl>
                                          <p:spTgt spid="3">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49" presetClass="entr" presetSubtype="0" decel="100000" fill="hold"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 calcmode="lin" valueType="num">
                                      <p:cBhvr>
                                        <p:cTn id="55"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6" dur="500" fill="hold"/>
                                        <p:tgtEl>
                                          <p:spTgt spid="3">
                                            <p:txEl>
                                              <p:pRg st="6" end="6"/>
                                            </p:txEl>
                                          </p:spTgt>
                                        </p:tgtEl>
                                        <p:attrNameLst>
                                          <p:attrName>ppt_h</p:attrName>
                                        </p:attrNameLst>
                                      </p:cBhvr>
                                      <p:tavLst>
                                        <p:tav tm="0">
                                          <p:val>
                                            <p:fltVal val="0"/>
                                          </p:val>
                                        </p:tav>
                                        <p:tav tm="100000">
                                          <p:val>
                                            <p:strVal val="#ppt_h"/>
                                          </p:val>
                                        </p:tav>
                                      </p:tavLst>
                                    </p:anim>
                                    <p:anim calcmode="lin" valueType="num">
                                      <p:cBhvr>
                                        <p:cTn id="57" dur="500" fill="hold"/>
                                        <p:tgtEl>
                                          <p:spTgt spid="3">
                                            <p:txEl>
                                              <p:pRg st="6" end="6"/>
                                            </p:txEl>
                                          </p:spTgt>
                                        </p:tgtEl>
                                        <p:attrNameLst>
                                          <p:attrName>style.rotation</p:attrName>
                                        </p:attrNameLst>
                                      </p:cBhvr>
                                      <p:tavLst>
                                        <p:tav tm="0">
                                          <p:val>
                                            <p:fltVal val="360"/>
                                          </p:val>
                                        </p:tav>
                                        <p:tav tm="100000">
                                          <p:val>
                                            <p:fltVal val="0"/>
                                          </p:val>
                                        </p:tav>
                                      </p:tavLst>
                                    </p:anim>
                                    <p:animEffect transition="in" filter="fade">
                                      <p:cBhvr>
                                        <p:cTn id="58" dur="500"/>
                                        <p:tgtEl>
                                          <p:spTgt spid="3">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49" presetClass="entr" presetSubtype="0" decel="100000" fill="hold"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 calcmode="lin" valueType="num">
                                      <p:cBhvr>
                                        <p:cTn id="63"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64" dur="500" fill="hold"/>
                                        <p:tgtEl>
                                          <p:spTgt spid="3">
                                            <p:txEl>
                                              <p:pRg st="7" end="7"/>
                                            </p:txEl>
                                          </p:spTgt>
                                        </p:tgtEl>
                                        <p:attrNameLst>
                                          <p:attrName>ppt_h</p:attrName>
                                        </p:attrNameLst>
                                      </p:cBhvr>
                                      <p:tavLst>
                                        <p:tav tm="0">
                                          <p:val>
                                            <p:fltVal val="0"/>
                                          </p:val>
                                        </p:tav>
                                        <p:tav tm="100000">
                                          <p:val>
                                            <p:strVal val="#ppt_h"/>
                                          </p:val>
                                        </p:tav>
                                      </p:tavLst>
                                    </p:anim>
                                    <p:anim calcmode="lin" valueType="num">
                                      <p:cBhvr>
                                        <p:cTn id="65" dur="500" fill="hold"/>
                                        <p:tgtEl>
                                          <p:spTgt spid="3">
                                            <p:txEl>
                                              <p:pRg st="7" end="7"/>
                                            </p:txEl>
                                          </p:spTgt>
                                        </p:tgtEl>
                                        <p:attrNameLst>
                                          <p:attrName>style.rotation</p:attrName>
                                        </p:attrNameLst>
                                      </p:cBhvr>
                                      <p:tavLst>
                                        <p:tav tm="0">
                                          <p:val>
                                            <p:fltVal val="360"/>
                                          </p:val>
                                        </p:tav>
                                        <p:tav tm="100000">
                                          <p:val>
                                            <p:fltVal val="0"/>
                                          </p:val>
                                        </p:tav>
                                      </p:tavLst>
                                    </p:anim>
                                    <p:animEffect transition="in" filter="fade">
                                      <p:cBhvr>
                                        <p:cTn id="66" dur="500"/>
                                        <p:tgtEl>
                                          <p:spTgt spid="3">
                                            <p:txEl>
                                              <p:pRg st="7" end="7"/>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49" presetClass="entr" presetSubtype="0" decel="100000" fill="hold" nodeType="clickEffect">
                                  <p:stCondLst>
                                    <p:cond delay="0"/>
                                  </p:stCondLst>
                                  <p:childTnLst>
                                    <p:set>
                                      <p:cBhvr>
                                        <p:cTn id="70" dur="1" fill="hold">
                                          <p:stCondLst>
                                            <p:cond delay="0"/>
                                          </p:stCondLst>
                                        </p:cTn>
                                        <p:tgtEl>
                                          <p:spTgt spid="3">
                                            <p:txEl>
                                              <p:pRg st="8" end="8"/>
                                            </p:txEl>
                                          </p:spTgt>
                                        </p:tgtEl>
                                        <p:attrNameLst>
                                          <p:attrName>style.visibility</p:attrName>
                                        </p:attrNameLst>
                                      </p:cBhvr>
                                      <p:to>
                                        <p:strVal val="visible"/>
                                      </p:to>
                                    </p:set>
                                    <p:anim calcmode="lin" valueType="num">
                                      <p:cBhvr>
                                        <p:cTn id="71"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72" dur="500" fill="hold"/>
                                        <p:tgtEl>
                                          <p:spTgt spid="3">
                                            <p:txEl>
                                              <p:pRg st="8" end="8"/>
                                            </p:txEl>
                                          </p:spTgt>
                                        </p:tgtEl>
                                        <p:attrNameLst>
                                          <p:attrName>ppt_h</p:attrName>
                                        </p:attrNameLst>
                                      </p:cBhvr>
                                      <p:tavLst>
                                        <p:tav tm="0">
                                          <p:val>
                                            <p:fltVal val="0"/>
                                          </p:val>
                                        </p:tav>
                                        <p:tav tm="100000">
                                          <p:val>
                                            <p:strVal val="#ppt_h"/>
                                          </p:val>
                                        </p:tav>
                                      </p:tavLst>
                                    </p:anim>
                                    <p:anim calcmode="lin" valueType="num">
                                      <p:cBhvr>
                                        <p:cTn id="73" dur="500" fill="hold"/>
                                        <p:tgtEl>
                                          <p:spTgt spid="3">
                                            <p:txEl>
                                              <p:pRg st="8" end="8"/>
                                            </p:txEl>
                                          </p:spTgt>
                                        </p:tgtEl>
                                        <p:attrNameLst>
                                          <p:attrName>style.rotation</p:attrName>
                                        </p:attrNameLst>
                                      </p:cBhvr>
                                      <p:tavLst>
                                        <p:tav tm="0">
                                          <p:val>
                                            <p:fltVal val="360"/>
                                          </p:val>
                                        </p:tav>
                                        <p:tav tm="100000">
                                          <p:val>
                                            <p:fltVal val="0"/>
                                          </p:val>
                                        </p:tav>
                                      </p:tavLst>
                                    </p:anim>
                                    <p:animEffect transition="in" filter="fade">
                                      <p:cBhvr>
                                        <p:cTn id="74" dur="500"/>
                                        <p:tgtEl>
                                          <p:spTgt spid="3">
                                            <p:txEl>
                                              <p:pRg st="8" end="8"/>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49" presetClass="entr" presetSubtype="0" decel="100000" fill="hold" nodeType="clickEffect">
                                  <p:stCondLst>
                                    <p:cond delay="0"/>
                                  </p:stCondLst>
                                  <p:childTnLst>
                                    <p:set>
                                      <p:cBhvr>
                                        <p:cTn id="78" dur="1" fill="hold">
                                          <p:stCondLst>
                                            <p:cond delay="0"/>
                                          </p:stCondLst>
                                        </p:cTn>
                                        <p:tgtEl>
                                          <p:spTgt spid="3">
                                            <p:txEl>
                                              <p:pRg st="9" end="9"/>
                                            </p:txEl>
                                          </p:spTgt>
                                        </p:tgtEl>
                                        <p:attrNameLst>
                                          <p:attrName>style.visibility</p:attrName>
                                        </p:attrNameLst>
                                      </p:cBhvr>
                                      <p:to>
                                        <p:strVal val="visible"/>
                                      </p:to>
                                    </p:set>
                                    <p:anim calcmode="lin" valueType="num">
                                      <p:cBhvr>
                                        <p:cTn id="79" dur="500" fill="hold"/>
                                        <p:tgtEl>
                                          <p:spTgt spid="3">
                                            <p:txEl>
                                              <p:pRg st="9" end="9"/>
                                            </p:txEl>
                                          </p:spTgt>
                                        </p:tgtEl>
                                        <p:attrNameLst>
                                          <p:attrName>ppt_w</p:attrName>
                                        </p:attrNameLst>
                                      </p:cBhvr>
                                      <p:tavLst>
                                        <p:tav tm="0">
                                          <p:val>
                                            <p:fltVal val="0"/>
                                          </p:val>
                                        </p:tav>
                                        <p:tav tm="100000">
                                          <p:val>
                                            <p:strVal val="#ppt_w"/>
                                          </p:val>
                                        </p:tav>
                                      </p:tavLst>
                                    </p:anim>
                                    <p:anim calcmode="lin" valueType="num">
                                      <p:cBhvr>
                                        <p:cTn id="80" dur="500" fill="hold"/>
                                        <p:tgtEl>
                                          <p:spTgt spid="3">
                                            <p:txEl>
                                              <p:pRg st="9" end="9"/>
                                            </p:txEl>
                                          </p:spTgt>
                                        </p:tgtEl>
                                        <p:attrNameLst>
                                          <p:attrName>ppt_h</p:attrName>
                                        </p:attrNameLst>
                                      </p:cBhvr>
                                      <p:tavLst>
                                        <p:tav tm="0">
                                          <p:val>
                                            <p:fltVal val="0"/>
                                          </p:val>
                                        </p:tav>
                                        <p:tav tm="100000">
                                          <p:val>
                                            <p:strVal val="#ppt_h"/>
                                          </p:val>
                                        </p:tav>
                                      </p:tavLst>
                                    </p:anim>
                                    <p:anim calcmode="lin" valueType="num">
                                      <p:cBhvr>
                                        <p:cTn id="81" dur="500" fill="hold"/>
                                        <p:tgtEl>
                                          <p:spTgt spid="3">
                                            <p:txEl>
                                              <p:pRg st="9" end="9"/>
                                            </p:txEl>
                                          </p:spTgt>
                                        </p:tgtEl>
                                        <p:attrNameLst>
                                          <p:attrName>style.rotation</p:attrName>
                                        </p:attrNameLst>
                                      </p:cBhvr>
                                      <p:tavLst>
                                        <p:tav tm="0">
                                          <p:val>
                                            <p:fltVal val="360"/>
                                          </p:val>
                                        </p:tav>
                                        <p:tav tm="100000">
                                          <p:val>
                                            <p:fltVal val="0"/>
                                          </p:val>
                                        </p:tav>
                                      </p:tavLst>
                                    </p:anim>
                                    <p:animEffect transition="in" filter="fade">
                                      <p:cBhvr>
                                        <p:cTn id="82" dur="500"/>
                                        <p:tgtEl>
                                          <p:spTgt spid="3">
                                            <p:txEl>
                                              <p:pRg st="9" end="9"/>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49" presetClass="entr" presetSubtype="0" decel="100000" fill="hold" nodeType="clickEffect">
                                  <p:stCondLst>
                                    <p:cond delay="0"/>
                                  </p:stCondLst>
                                  <p:childTnLst>
                                    <p:set>
                                      <p:cBhvr>
                                        <p:cTn id="86" dur="1" fill="hold">
                                          <p:stCondLst>
                                            <p:cond delay="0"/>
                                          </p:stCondLst>
                                        </p:cTn>
                                        <p:tgtEl>
                                          <p:spTgt spid="3">
                                            <p:txEl>
                                              <p:pRg st="10" end="10"/>
                                            </p:txEl>
                                          </p:spTgt>
                                        </p:tgtEl>
                                        <p:attrNameLst>
                                          <p:attrName>style.visibility</p:attrName>
                                        </p:attrNameLst>
                                      </p:cBhvr>
                                      <p:to>
                                        <p:strVal val="visible"/>
                                      </p:to>
                                    </p:set>
                                    <p:anim calcmode="lin" valueType="num">
                                      <p:cBhvr>
                                        <p:cTn id="87" dur="5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88" dur="500" fill="hold"/>
                                        <p:tgtEl>
                                          <p:spTgt spid="3">
                                            <p:txEl>
                                              <p:pRg st="10" end="10"/>
                                            </p:txEl>
                                          </p:spTgt>
                                        </p:tgtEl>
                                        <p:attrNameLst>
                                          <p:attrName>ppt_h</p:attrName>
                                        </p:attrNameLst>
                                      </p:cBhvr>
                                      <p:tavLst>
                                        <p:tav tm="0">
                                          <p:val>
                                            <p:fltVal val="0"/>
                                          </p:val>
                                        </p:tav>
                                        <p:tav tm="100000">
                                          <p:val>
                                            <p:strVal val="#ppt_h"/>
                                          </p:val>
                                        </p:tav>
                                      </p:tavLst>
                                    </p:anim>
                                    <p:anim calcmode="lin" valueType="num">
                                      <p:cBhvr>
                                        <p:cTn id="89" dur="500" fill="hold"/>
                                        <p:tgtEl>
                                          <p:spTgt spid="3">
                                            <p:txEl>
                                              <p:pRg st="10" end="10"/>
                                            </p:txEl>
                                          </p:spTgt>
                                        </p:tgtEl>
                                        <p:attrNameLst>
                                          <p:attrName>style.rotation</p:attrName>
                                        </p:attrNameLst>
                                      </p:cBhvr>
                                      <p:tavLst>
                                        <p:tav tm="0">
                                          <p:val>
                                            <p:fltVal val="360"/>
                                          </p:val>
                                        </p:tav>
                                        <p:tav tm="100000">
                                          <p:val>
                                            <p:fltVal val="0"/>
                                          </p:val>
                                        </p:tav>
                                      </p:tavLst>
                                    </p:anim>
                                    <p:animEffect transition="in" filter="fade">
                                      <p:cBhvr>
                                        <p:cTn id="9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a:bodyPr>
          <a:lstStyle/>
          <a:p>
            <a:r>
              <a:rPr lang="en-US" sz="3200" b="1" dirty="0">
                <a:solidFill>
                  <a:schemeClr val="tx2">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Introduction to LEDs</a:t>
            </a:r>
          </a:p>
        </p:txBody>
      </p:sp>
      <p:sp>
        <p:nvSpPr>
          <p:cNvPr id="3" name="Content Placeholder 2"/>
          <p:cNvSpPr>
            <a:spLocks noGrp="1"/>
          </p:cNvSpPr>
          <p:nvPr>
            <p:ph idx="1"/>
          </p:nvPr>
        </p:nvSpPr>
        <p:spPr>
          <a:xfrm>
            <a:off x="1981200" y="1417638"/>
            <a:ext cx="8229600" cy="5135563"/>
          </a:xfrm>
        </p:spPr>
        <p:txBody>
          <a:bodyPr>
            <a:normAutofit fontScale="92500"/>
          </a:bodyPr>
          <a:lstStyle/>
          <a:p>
            <a:pPr algn="just">
              <a:lnSpc>
                <a:spcPct val="150000"/>
              </a:lnSpc>
              <a:spcBef>
                <a:spcPts val="0"/>
              </a:spcBef>
              <a:buFont typeface="Wingdings" pitchFamily="2" charset="2"/>
              <a:buChar char="v"/>
            </a:pPr>
            <a:r>
              <a:rPr lang="en-US" sz="2400" dirty="0">
                <a:latin typeface="Times New Roman" pitchFamily="18" charset="0"/>
                <a:cs typeface="Times New Roman" pitchFamily="18" charset="0"/>
              </a:rPr>
              <a:t>LEDs are promising light source whose efficiency was 10 times greater than the incandescent lighting.</a:t>
            </a:r>
          </a:p>
          <a:p>
            <a:pPr algn="just">
              <a:lnSpc>
                <a:spcPct val="150000"/>
              </a:lnSpc>
              <a:spcBef>
                <a:spcPts val="0"/>
              </a:spcBef>
              <a:buFont typeface="Wingdings" pitchFamily="2" charset="2"/>
              <a:buChar char="v"/>
            </a:pPr>
            <a:r>
              <a:rPr lang="en-US" sz="2400" dirty="0">
                <a:latin typeface="Times New Roman" pitchFamily="18" charset="0"/>
                <a:cs typeface="Times New Roman" pitchFamily="18" charset="0"/>
              </a:rPr>
              <a:t>Long operating life and reliability has made LEDs as a potential choice for next generation lighting systems, including automotive, emergency, backlight, indoor and outdoor. </a:t>
            </a:r>
          </a:p>
          <a:p>
            <a:pPr algn="just">
              <a:lnSpc>
                <a:spcPct val="150000"/>
              </a:lnSpc>
              <a:spcBef>
                <a:spcPts val="0"/>
              </a:spcBef>
              <a:buFont typeface="Wingdings" pitchFamily="2" charset="2"/>
              <a:buChar char="v"/>
            </a:pPr>
            <a:r>
              <a:rPr lang="en-US" sz="2400" dirty="0"/>
              <a:t> </a:t>
            </a:r>
            <a:r>
              <a:rPr lang="en-US" sz="2400" dirty="0">
                <a:latin typeface="Times New Roman" pitchFamily="18" charset="0"/>
                <a:cs typeface="Times New Roman" pitchFamily="18" charset="0"/>
              </a:rPr>
              <a:t>LED lighting can also be referred to as solid-state lighting (SSL) because an LED is solid-state technology</a:t>
            </a:r>
            <a:r>
              <a:rPr lang="en-US" sz="2400" i="1" dirty="0">
                <a:latin typeface="Times New Roman" pitchFamily="18" charset="0"/>
                <a:cs typeface="Times New Roman" pitchFamily="18" charset="0"/>
              </a:rPr>
              <a:t>.</a:t>
            </a:r>
            <a:r>
              <a:rPr lang="en-US" sz="2400" b="1" i="1" dirty="0">
                <a:solidFill>
                  <a:srgbClr val="FF0000"/>
                </a:solidFill>
                <a:latin typeface="Times New Roman" pitchFamily="18" charset="0"/>
                <a:cs typeface="Times New Roman" pitchFamily="18" charset="0"/>
              </a:rPr>
              <a:t>[Solid State Semiconductor Device]</a:t>
            </a:r>
          </a:p>
          <a:p>
            <a:pPr algn="just">
              <a:lnSpc>
                <a:spcPct val="150000"/>
              </a:lnSpc>
              <a:spcBef>
                <a:spcPts val="0"/>
              </a:spcBef>
              <a:buFont typeface="Wingdings" pitchFamily="2" charset="2"/>
              <a:buChar char="v"/>
            </a:pPr>
            <a:r>
              <a:rPr lang="en-US" sz="2400" dirty="0">
                <a:latin typeface="Times New Roman" pitchFamily="18" charset="0"/>
                <a:cs typeface="Times New Roman" pitchFamily="18" charset="0"/>
              </a:rPr>
              <a:t>LEDs were first developed in 1960s and its characteristics decides this light source is suitable for </a:t>
            </a:r>
            <a:r>
              <a:rPr lang="en-US" sz="2400" b="1" i="1" dirty="0">
                <a:solidFill>
                  <a:srgbClr val="FF0000"/>
                </a:solidFill>
                <a:latin typeface="Times New Roman" pitchFamily="18" charset="0"/>
                <a:cs typeface="Times New Roman" pitchFamily="18" charset="0"/>
              </a:rPr>
              <a:t>indication</a:t>
            </a:r>
            <a:r>
              <a:rPr lang="en-US" sz="2400" dirty="0">
                <a:latin typeface="Times New Roman" pitchFamily="18" charset="0"/>
                <a:cs typeface="Times New Roman" pitchFamily="18" charset="0"/>
              </a:rPr>
              <a:t> not </a:t>
            </a:r>
            <a:r>
              <a:rPr lang="en-US" sz="2400" b="1" i="1" dirty="0">
                <a:solidFill>
                  <a:srgbClr val="FF0000"/>
                </a:solidFill>
                <a:latin typeface="Times New Roman" pitchFamily="18" charset="0"/>
                <a:cs typeface="Times New Roman" pitchFamily="18" charset="0"/>
              </a:rPr>
              <a:t>illumination</a:t>
            </a:r>
            <a:r>
              <a:rPr lang="en-US" sz="2400" dirty="0">
                <a:latin typeface="Times New Roman" pitchFamily="18" charset="0"/>
                <a:cs typeface="Times New Roman" pitchFamily="18" charset="0"/>
              </a:rPr>
              <a:t>.</a:t>
            </a:r>
          </a:p>
        </p:txBody>
      </p:sp>
    </p:spTree>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715962"/>
          </a:xfrm>
        </p:spPr>
        <p:txBody>
          <a:bodyPr>
            <a:normAutofit/>
          </a:bodyPr>
          <a:lstStyle/>
          <a:p>
            <a:r>
              <a:rPr lang="en-US" sz="3200" b="1" dirty="0">
                <a:solidFill>
                  <a:schemeClr val="tx2">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Introduction to LEDs</a:t>
            </a:r>
            <a:endParaRPr lang="en-US" sz="3200" b="1" dirty="0">
              <a:solidFill>
                <a:schemeClr val="tx2">
                  <a:lumMod val="75000"/>
                </a:schemeClr>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981200" y="685800"/>
            <a:ext cx="8229600" cy="5867400"/>
          </a:xfrm>
        </p:spPr>
        <p:txBody>
          <a:bodyPr>
            <a:normAutofit/>
          </a:bodyPr>
          <a:lstStyle/>
          <a:p>
            <a:pPr algn="just">
              <a:buNone/>
            </a:pPr>
            <a:r>
              <a:rPr lang="en-US" sz="2200" dirty="0">
                <a:latin typeface="Times New Roman" pitchFamily="18" charset="0"/>
                <a:cs typeface="Times New Roman" pitchFamily="18" charset="0"/>
              </a:rPr>
              <a:t>Indication:</a:t>
            </a:r>
          </a:p>
          <a:p>
            <a:pPr algn="just">
              <a:buFont typeface="Wingdings" pitchFamily="2" charset="2"/>
              <a:buChar char="ü"/>
            </a:pPr>
            <a:r>
              <a:rPr lang="en-US" sz="2200" dirty="0">
                <a:latin typeface="Times New Roman" pitchFamily="18" charset="0"/>
                <a:cs typeface="Times New Roman" pitchFamily="18" charset="0"/>
              </a:rPr>
              <a:t>Indication – refers – use of light source – viewed directly – self luminous object. </a:t>
            </a:r>
          </a:p>
          <a:p>
            <a:pPr algn="just">
              <a:buNone/>
            </a:pPr>
            <a:r>
              <a:rPr lang="en-US" sz="2200" dirty="0">
                <a:latin typeface="Times New Roman" pitchFamily="18" charset="0"/>
                <a:cs typeface="Times New Roman" pitchFamily="18" charset="0"/>
              </a:rPr>
              <a:t>Ex: Signs, signals, indicator lights in electronic equipments.</a:t>
            </a:r>
          </a:p>
          <a:p>
            <a:pPr algn="just">
              <a:buNone/>
            </a:pPr>
            <a:r>
              <a:rPr lang="en-US" sz="2200" dirty="0">
                <a:latin typeface="Times New Roman" pitchFamily="18" charset="0"/>
                <a:cs typeface="Times New Roman" pitchFamily="18" charset="0"/>
              </a:rPr>
              <a:t>Illumination:</a:t>
            </a:r>
          </a:p>
          <a:p>
            <a:pPr algn="just">
              <a:buFont typeface="Wingdings" pitchFamily="2" charset="2"/>
              <a:buChar char="ü"/>
            </a:pPr>
            <a:r>
              <a:rPr lang="en-US" sz="2200" dirty="0">
                <a:latin typeface="Times New Roman" pitchFamily="18" charset="0"/>
                <a:cs typeface="Times New Roman" pitchFamily="18" charset="0"/>
              </a:rPr>
              <a:t>Illumination – refers – use of light source – view other object by the light reflected from those object.</a:t>
            </a:r>
          </a:p>
          <a:p>
            <a:pPr algn="just">
              <a:buNone/>
            </a:pPr>
            <a:r>
              <a:rPr lang="en-US" sz="2200" dirty="0">
                <a:latin typeface="Times New Roman" pitchFamily="18" charset="0"/>
                <a:cs typeface="Times New Roman" pitchFamily="18" charset="0"/>
              </a:rPr>
              <a:t>Ex: Lightings found in rooms and Task lightings in desk.</a:t>
            </a:r>
          </a:p>
          <a:p>
            <a:pPr algn="just">
              <a:buNone/>
            </a:pPr>
            <a:endParaRPr lang="en-US" sz="2200" dirty="0">
              <a:latin typeface="Times New Roman" pitchFamily="18" charset="0"/>
              <a:cs typeface="Times New Roman" pitchFamily="18" charset="0"/>
            </a:endParaRPr>
          </a:p>
        </p:txBody>
      </p:sp>
      <p:sp>
        <p:nvSpPr>
          <p:cNvPr id="8" name="Rounded Rectangle 7"/>
          <p:cNvSpPr/>
          <p:nvPr/>
        </p:nvSpPr>
        <p:spPr>
          <a:xfrm>
            <a:off x="3962400" y="5943600"/>
            <a:ext cx="1752600" cy="533400"/>
          </a:xfrm>
          <a:prstGeom prst="round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LED - Indicator</a:t>
            </a:r>
          </a:p>
        </p:txBody>
      </p:sp>
      <p:sp>
        <p:nvSpPr>
          <p:cNvPr id="9" name="Rounded Rectangle 8"/>
          <p:cNvSpPr/>
          <p:nvPr/>
        </p:nvSpPr>
        <p:spPr>
          <a:xfrm>
            <a:off x="7543800" y="5943600"/>
            <a:ext cx="1981200" cy="533400"/>
          </a:xfrm>
          <a:prstGeom prst="round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LED - Illuminator</a:t>
            </a:r>
          </a:p>
        </p:txBody>
      </p:sp>
      <p:pic>
        <p:nvPicPr>
          <p:cNvPr id="1029" name="Picture 5" descr="C:\Users\admin\Desktop\2.JPG"/>
          <p:cNvPicPr>
            <a:picLocks noChangeAspect="1" noChangeArrowheads="1"/>
          </p:cNvPicPr>
          <p:nvPr/>
        </p:nvPicPr>
        <p:blipFill>
          <a:blip r:embed="rId2"/>
          <a:srcRect/>
          <a:stretch>
            <a:fillRect/>
          </a:stretch>
        </p:blipFill>
        <p:spPr bwMode="auto">
          <a:xfrm>
            <a:off x="4419600" y="3810001"/>
            <a:ext cx="704850" cy="1914525"/>
          </a:xfrm>
          <a:prstGeom prst="rect">
            <a:avLst/>
          </a:prstGeom>
          <a:noFill/>
        </p:spPr>
      </p:pic>
      <p:pic>
        <p:nvPicPr>
          <p:cNvPr id="1030" name="Picture 6" descr="C:\Users\admin\Desktop\3.JPG"/>
          <p:cNvPicPr>
            <a:picLocks noChangeAspect="1" noChangeArrowheads="1"/>
          </p:cNvPicPr>
          <p:nvPr/>
        </p:nvPicPr>
        <p:blipFill>
          <a:blip r:embed="rId3"/>
          <a:srcRect/>
          <a:stretch>
            <a:fillRect/>
          </a:stretch>
        </p:blipFill>
        <p:spPr bwMode="auto">
          <a:xfrm>
            <a:off x="7696200" y="4419600"/>
            <a:ext cx="1276350" cy="1085850"/>
          </a:xfrm>
          <a:prstGeom prst="rect">
            <a:avLst/>
          </a:prstGeom>
          <a:noFill/>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29"/>
                                        </p:tgtEl>
                                        <p:attrNameLst>
                                          <p:attrName>style.visibility</p:attrName>
                                        </p:attrNameLst>
                                      </p:cBhvr>
                                      <p:to>
                                        <p:strVal val="visible"/>
                                      </p:to>
                                    </p:set>
                                    <p:animEffect transition="in" filter="checkerboard(across)">
                                      <p:cBhvr>
                                        <p:cTn id="7" dur="1000"/>
                                        <p:tgtEl>
                                          <p:spTgt spid="102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1000" fill="hold"/>
                                        <p:tgtEl>
                                          <p:spTgt spid="8"/>
                                        </p:tgtEl>
                                        <p:attrNameLst>
                                          <p:attrName>ppt_x</p:attrName>
                                        </p:attrNameLst>
                                      </p:cBhvr>
                                      <p:tavLst>
                                        <p:tav tm="0">
                                          <p:val>
                                            <p:strVal val="#ppt_x"/>
                                          </p:val>
                                        </p:tav>
                                        <p:tav tm="100000">
                                          <p:val>
                                            <p:strVal val="#ppt_x"/>
                                          </p:val>
                                        </p:tav>
                                      </p:tavLst>
                                    </p:anim>
                                    <p:anim calcmode="lin" valueType="num">
                                      <p:cBhvr additive="base">
                                        <p:cTn id="13"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1030"/>
                                        </p:tgtEl>
                                        <p:attrNameLst>
                                          <p:attrName>style.visibility</p:attrName>
                                        </p:attrNameLst>
                                      </p:cBhvr>
                                      <p:to>
                                        <p:strVal val="visible"/>
                                      </p:to>
                                    </p:set>
                                    <p:animEffect transition="in" filter="checkerboard(across)">
                                      <p:cBhvr>
                                        <p:cTn id="18" dur="1000"/>
                                        <p:tgtEl>
                                          <p:spTgt spid="1030"/>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1000" fill="hold"/>
                                        <p:tgtEl>
                                          <p:spTgt spid="9"/>
                                        </p:tgtEl>
                                        <p:attrNameLst>
                                          <p:attrName>ppt_x</p:attrName>
                                        </p:attrNameLst>
                                      </p:cBhvr>
                                      <p:tavLst>
                                        <p:tav tm="0">
                                          <p:val>
                                            <p:strVal val="#ppt_x"/>
                                          </p:val>
                                        </p:tav>
                                        <p:tav tm="100000">
                                          <p:val>
                                            <p:strVal val="#ppt_x"/>
                                          </p:val>
                                        </p:tav>
                                      </p:tavLst>
                                    </p:anim>
                                    <p:anim calcmode="lin" valueType="num">
                                      <p:cBhvr additive="base">
                                        <p:cTn id="24"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03238"/>
            <a:ext cx="8229600" cy="868362"/>
          </a:xfrm>
        </p:spPr>
        <p:txBody>
          <a:bodyPr>
            <a:normAutofit/>
          </a:bodyPr>
          <a:lstStyle/>
          <a:p>
            <a:r>
              <a:rPr lang="en-US" sz="3200" b="1" dirty="0">
                <a:solidFill>
                  <a:schemeClr val="tx2">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Introduction to LEDs</a:t>
            </a:r>
            <a:endParaRPr lang="en-US" sz="3200" b="1" dirty="0">
              <a:solidFill>
                <a:schemeClr val="tx2">
                  <a:lumMod val="75000"/>
                </a:schemeClr>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981200" y="1524000"/>
            <a:ext cx="8229600" cy="4724400"/>
          </a:xfrm>
        </p:spPr>
        <p:txBody>
          <a:bodyPr>
            <a:noAutofit/>
          </a:bodyPr>
          <a:lstStyle/>
          <a:p>
            <a:pPr algn="just">
              <a:lnSpc>
                <a:spcPct val="150000"/>
              </a:lnSpc>
              <a:spcBef>
                <a:spcPts val="0"/>
              </a:spcBef>
              <a:buFont typeface="Wingdings" pitchFamily="2" charset="2"/>
              <a:buChar char="Ø"/>
            </a:pPr>
            <a:r>
              <a:rPr lang="en-US" sz="2200" dirty="0">
                <a:latin typeface="Times New Roman" pitchFamily="18" charset="0"/>
                <a:cs typeface="Times New Roman" pitchFamily="18" charset="0"/>
              </a:rPr>
              <a:t>LEDs are quite effective and efficient for </a:t>
            </a:r>
            <a:r>
              <a:rPr lang="en-US" sz="2200" b="1" i="1" dirty="0">
                <a:solidFill>
                  <a:srgbClr val="FF0000"/>
                </a:solidFill>
                <a:latin typeface="Times New Roman" pitchFamily="18" charset="0"/>
                <a:cs typeface="Times New Roman" pitchFamily="18" charset="0"/>
              </a:rPr>
              <a:t>colored light applications</a:t>
            </a:r>
            <a:r>
              <a:rPr lang="en-US" sz="2200" dirty="0">
                <a:latin typeface="Times New Roman" pitchFamily="18" charset="0"/>
                <a:cs typeface="Times New Roman" pitchFamily="18" charset="0"/>
              </a:rPr>
              <a:t>. </a:t>
            </a:r>
          </a:p>
          <a:p>
            <a:pPr algn="just">
              <a:lnSpc>
                <a:spcPct val="150000"/>
              </a:lnSpc>
              <a:spcBef>
                <a:spcPts val="0"/>
              </a:spcBef>
              <a:buFont typeface="Wingdings" pitchFamily="2" charset="2"/>
              <a:buChar char="Ø"/>
            </a:pPr>
            <a:r>
              <a:rPr lang="en-US" sz="2200" dirty="0">
                <a:latin typeface="Times New Roman" pitchFamily="18" charset="0"/>
                <a:cs typeface="Times New Roman" pitchFamily="18" charset="0"/>
              </a:rPr>
              <a:t>Unlike conventional signs and signals which use a nominally white light source and a colored glass or plastic filter or lens to create the sign or signal, colored LEDs require no filtering. </a:t>
            </a:r>
          </a:p>
          <a:p>
            <a:pPr algn="just">
              <a:lnSpc>
                <a:spcPct val="150000"/>
              </a:lnSpc>
              <a:spcBef>
                <a:spcPts val="0"/>
              </a:spcBef>
              <a:buFont typeface="Wingdings" pitchFamily="2" charset="2"/>
              <a:buChar char="Ø"/>
            </a:pPr>
            <a:r>
              <a:rPr lang="en-US" sz="2200" dirty="0">
                <a:latin typeface="Times New Roman" pitchFamily="18" charset="0"/>
                <a:cs typeface="Times New Roman" pitchFamily="18" charset="0"/>
              </a:rPr>
              <a:t>The light absorbed by the filters in the conventional products is essentially wasted, and because of this waste, the luminous efficacy of LED signs and signals is often higher than those using conventional white light sources.</a:t>
            </a:r>
          </a:p>
          <a:p>
            <a:pPr algn="just">
              <a:lnSpc>
                <a:spcPct val="150000"/>
              </a:lnSpc>
              <a:spcBef>
                <a:spcPts val="0"/>
              </a:spcBef>
              <a:buNone/>
            </a:pP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endParaRPr lang="en-US" sz="2200" dirty="0">
              <a:latin typeface="Times New Roman" pitchFamily="18" charset="0"/>
              <a:cs typeface="Times New Roman" pitchFamily="18" charset="0"/>
            </a:endParaRPr>
          </a:p>
        </p:txBody>
      </p:sp>
    </p:spTree>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chemeClr val="tx2">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             Introduction to LEDs</a:t>
            </a:r>
            <a:endParaRPr lang="en-US" sz="3200" b="1" dirty="0">
              <a:solidFill>
                <a:schemeClr val="tx2">
                  <a:lumMod val="75000"/>
                </a:schemeClr>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981200" y="1295400"/>
            <a:ext cx="8229600" cy="5257800"/>
          </a:xfrm>
        </p:spPr>
        <p:txBody>
          <a:bodyPr>
            <a:noAutofit/>
          </a:bodyPr>
          <a:lstStyle/>
          <a:p>
            <a:pPr algn="just">
              <a:lnSpc>
                <a:spcPct val="150000"/>
              </a:lnSpc>
              <a:spcBef>
                <a:spcPts val="0"/>
              </a:spcBef>
            </a:pPr>
            <a:r>
              <a:rPr lang="en-US" sz="2200" dirty="0">
                <a:latin typeface="Times New Roman" pitchFamily="18" charset="0"/>
                <a:cs typeface="Times New Roman" pitchFamily="18" charset="0"/>
              </a:rPr>
              <a:t>The development of white light LEDs in the mid-1990s, have made LED illumination systems feasible for some applications, and a number of products are now available on the market. </a:t>
            </a:r>
          </a:p>
          <a:p>
            <a:pPr algn="just">
              <a:lnSpc>
                <a:spcPct val="150000"/>
              </a:lnSpc>
              <a:spcBef>
                <a:spcPts val="0"/>
              </a:spcBef>
            </a:pPr>
            <a:r>
              <a:rPr lang="en-US" sz="2200" dirty="0">
                <a:latin typeface="Times New Roman" pitchFamily="18" charset="0"/>
                <a:cs typeface="Times New Roman" pitchFamily="18" charset="0"/>
              </a:rPr>
              <a:t>At present, typical indicator LEDs have light outputs on the order of one to several lumens, whereas LEDs for illumination produce on the order of tens to hundreds of </a:t>
            </a:r>
            <a:r>
              <a:rPr lang="en-US" sz="2200" i="1" dirty="0">
                <a:solidFill>
                  <a:srgbClr val="FF0000"/>
                </a:solidFill>
                <a:latin typeface="Times New Roman" pitchFamily="18" charset="0"/>
                <a:cs typeface="Times New Roman" pitchFamily="18" charset="0"/>
              </a:rPr>
              <a:t>lumens</a:t>
            </a:r>
            <a:r>
              <a:rPr lang="en-US" sz="2200" dirty="0">
                <a:latin typeface="Times New Roman" pitchFamily="18" charset="0"/>
                <a:cs typeface="Times New Roman" pitchFamily="18" charset="0"/>
              </a:rPr>
              <a:t>.</a:t>
            </a:r>
          </a:p>
          <a:p>
            <a:pPr algn="just">
              <a:spcBef>
                <a:spcPts val="0"/>
              </a:spcBef>
              <a:buNone/>
            </a:pPr>
            <a:r>
              <a:rPr lang="en-US" sz="2200" dirty="0">
                <a:latin typeface="Times New Roman" pitchFamily="18" charset="0"/>
                <a:cs typeface="Times New Roman" pitchFamily="18" charset="0"/>
              </a:rPr>
              <a:t>	</a:t>
            </a:r>
            <a:r>
              <a:rPr lang="en-US" sz="2200" i="1" dirty="0">
                <a:latin typeface="Times New Roman" pitchFamily="18" charset="0"/>
                <a:cs typeface="Times New Roman" pitchFamily="18" charset="0"/>
              </a:rPr>
              <a:t>[lumens - (denoted by lm) are a measure of the total amount of visible light (to the human eye) from a lamp or light source. The higher the </a:t>
            </a:r>
            <a:r>
              <a:rPr lang="en-US" sz="2200" b="1" i="1" dirty="0">
                <a:latin typeface="Times New Roman" pitchFamily="18" charset="0"/>
                <a:cs typeface="Times New Roman" pitchFamily="18" charset="0"/>
              </a:rPr>
              <a:t>lumen</a:t>
            </a:r>
            <a:r>
              <a:rPr lang="en-US" sz="2200" i="1" dirty="0">
                <a:latin typeface="Times New Roman" pitchFamily="18" charset="0"/>
                <a:cs typeface="Times New Roman" pitchFamily="18" charset="0"/>
              </a:rPr>
              <a:t> rating the “brighter” the lamp will appear.]</a:t>
            </a:r>
          </a:p>
          <a:p>
            <a:pPr algn="just">
              <a:lnSpc>
                <a:spcPct val="150000"/>
              </a:lnSpc>
              <a:spcBef>
                <a:spcPts val="0"/>
              </a:spcBef>
            </a:pPr>
            <a:r>
              <a:rPr lang="en-US" sz="2000" dirty="0">
                <a:latin typeface="Times New Roman" pitchFamily="18" charset="0"/>
                <a:cs typeface="Times New Roman" pitchFamily="18" charset="0"/>
              </a:rPr>
              <a:t>As the LED technology revolutionize the lighting industry so it’s important to understand how an LED light source works.</a:t>
            </a:r>
          </a:p>
          <a:p>
            <a:pPr algn="just">
              <a:spcBef>
                <a:spcPts val="0"/>
              </a:spcBef>
              <a:buNone/>
            </a:pPr>
            <a:endParaRPr lang="en-US" sz="2200" i="1" dirty="0">
              <a:latin typeface="Times New Roman" pitchFamily="18" charset="0"/>
              <a:cs typeface="Times New Roman" pitchFamily="18" charset="0"/>
            </a:endParaRPr>
          </a:p>
        </p:txBody>
      </p:sp>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609600"/>
          </a:xfrm>
        </p:spPr>
        <p:txBody>
          <a:bodyPr>
            <a:normAutofit/>
          </a:bodyPr>
          <a:lstStyle/>
          <a:p>
            <a:r>
              <a:rPr lang="en-US" sz="3200"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What is an LED?</a:t>
            </a:r>
          </a:p>
        </p:txBody>
      </p:sp>
      <p:sp>
        <p:nvSpPr>
          <p:cNvPr id="3" name="Content Placeholder 2"/>
          <p:cNvSpPr>
            <a:spLocks noGrp="1"/>
          </p:cNvSpPr>
          <p:nvPr>
            <p:ph idx="1"/>
          </p:nvPr>
        </p:nvSpPr>
        <p:spPr>
          <a:xfrm>
            <a:off x="1981200" y="533401"/>
            <a:ext cx="8229600" cy="3657600"/>
          </a:xfrm>
        </p:spPr>
        <p:txBody>
          <a:bodyPr>
            <a:normAutofit/>
          </a:bodyPr>
          <a:lstStyle/>
          <a:p>
            <a:pPr>
              <a:lnSpc>
                <a:spcPct val="150000"/>
              </a:lnSpc>
              <a:spcBef>
                <a:spcPts val="0"/>
              </a:spcBef>
              <a:buFont typeface="Wingdings" pitchFamily="2" charset="2"/>
              <a:buChar char="q"/>
            </a:pPr>
            <a:r>
              <a:rPr lang="en-US" sz="2200" dirty="0">
                <a:latin typeface="Times New Roman" pitchFamily="18" charset="0"/>
                <a:cs typeface="Times New Roman" pitchFamily="18" charset="0"/>
              </a:rPr>
              <a:t> LEDs are </a:t>
            </a:r>
            <a:r>
              <a:rPr lang="en-US" sz="2200" b="1" i="1" dirty="0">
                <a:solidFill>
                  <a:srgbClr val="FF0000"/>
                </a:solidFill>
                <a:latin typeface="Times New Roman" pitchFamily="18" charset="0"/>
                <a:cs typeface="Times New Roman" pitchFamily="18" charset="0"/>
              </a:rPr>
              <a:t>semiconductor diodes</a:t>
            </a:r>
            <a:r>
              <a:rPr lang="en-US" sz="2200" dirty="0">
                <a:latin typeface="Times New Roman" pitchFamily="18" charset="0"/>
                <a:cs typeface="Times New Roman" pitchFamily="18" charset="0"/>
              </a:rPr>
              <a:t>, electronic devices that permit current to flow in only one direction. </a:t>
            </a:r>
          </a:p>
          <a:p>
            <a:pPr>
              <a:lnSpc>
                <a:spcPct val="150000"/>
              </a:lnSpc>
              <a:spcBef>
                <a:spcPts val="0"/>
              </a:spcBef>
              <a:buFont typeface="Wingdings" pitchFamily="2" charset="2"/>
              <a:buChar char="q"/>
            </a:pPr>
            <a:r>
              <a:rPr lang="en-US" sz="2200" dirty="0">
                <a:latin typeface="Times New Roman" pitchFamily="18" charset="0"/>
                <a:cs typeface="Times New Roman" pitchFamily="18" charset="0"/>
              </a:rPr>
              <a:t>The diode is formed by bringing two slightly different materials together to form a </a:t>
            </a:r>
            <a:r>
              <a:rPr lang="en-US" sz="2200" b="1" i="1" dirty="0">
                <a:solidFill>
                  <a:srgbClr val="FF0000"/>
                </a:solidFill>
                <a:latin typeface="Times New Roman" pitchFamily="18" charset="0"/>
                <a:cs typeface="Times New Roman" pitchFamily="18" charset="0"/>
              </a:rPr>
              <a:t>PN junction </a:t>
            </a:r>
            <a:r>
              <a:rPr lang="en-US" sz="2200" dirty="0">
                <a:latin typeface="Times New Roman" pitchFamily="18" charset="0"/>
                <a:cs typeface="Times New Roman" pitchFamily="18" charset="0"/>
              </a:rPr>
              <a:t>. </a:t>
            </a:r>
          </a:p>
          <a:p>
            <a:pPr>
              <a:lnSpc>
                <a:spcPct val="150000"/>
              </a:lnSpc>
              <a:spcBef>
                <a:spcPts val="0"/>
              </a:spcBef>
              <a:buFont typeface="Wingdings" pitchFamily="2" charset="2"/>
              <a:buChar char="q"/>
            </a:pPr>
            <a:r>
              <a:rPr lang="en-US" sz="2200" dirty="0">
                <a:latin typeface="Times New Roman" pitchFamily="18" charset="0"/>
                <a:cs typeface="Times New Roman" pitchFamily="18" charset="0"/>
              </a:rPr>
              <a:t>In a PN junction, the </a:t>
            </a:r>
            <a:r>
              <a:rPr lang="en-US" sz="2200" b="1" i="1" dirty="0">
                <a:solidFill>
                  <a:srgbClr val="FF0000"/>
                </a:solidFill>
                <a:latin typeface="Times New Roman" pitchFamily="18" charset="0"/>
                <a:cs typeface="Times New Roman" pitchFamily="18" charset="0"/>
              </a:rPr>
              <a:t>P</a:t>
            </a:r>
            <a:r>
              <a:rPr lang="en-US" sz="2200" dirty="0">
                <a:latin typeface="Times New Roman" pitchFamily="18" charset="0"/>
                <a:cs typeface="Times New Roman" pitchFamily="18" charset="0"/>
              </a:rPr>
              <a:t> side contains excess positive charge ("</a:t>
            </a:r>
            <a:r>
              <a:rPr lang="en-US" sz="2200" b="1" dirty="0">
                <a:solidFill>
                  <a:srgbClr val="FF0000"/>
                </a:solidFill>
                <a:latin typeface="Times New Roman" pitchFamily="18" charset="0"/>
                <a:cs typeface="Times New Roman" pitchFamily="18" charset="0"/>
              </a:rPr>
              <a:t>holes</a:t>
            </a:r>
            <a:r>
              <a:rPr lang="en-US" sz="2200" dirty="0">
                <a:latin typeface="Times New Roman" pitchFamily="18" charset="0"/>
                <a:cs typeface="Times New Roman" pitchFamily="18" charset="0"/>
              </a:rPr>
              <a:t>," indicating the absence of electrons) while the </a:t>
            </a:r>
            <a:r>
              <a:rPr lang="en-US" sz="2200" b="1" dirty="0">
                <a:solidFill>
                  <a:srgbClr val="FF0000"/>
                </a:solidFill>
                <a:latin typeface="Times New Roman" pitchFamily="18" charset="0"/>
                <a:cs typeface="Times New Roman" pitchFamily="18" charset="0"/>
              </a:rPr>
              <a:t>N</a:t>
            </a:r>
            <a:r>
              <a:rPr lang="en-US" sz="2200" dirty="0">
                <a:latin typeface="Times New Roman" pitchFamily="18" charset="0"/>
                <a:cs typeface="Times New Roman" pitchFamily="18" charset="0"/>
              </a:rPr>
              <a:t> side contains excess negative charge (</a:t>
            </a:r>
            <a:r>
              <a:rPr lang="en-US" sz="2200" b="1" dirty="0">
                <a:solidFill>
                  <a:srgbClr val="FF0000"/>
                </a:solidFill>
                <a:latin typeface="Times New Roman" pitchFamily="18" charset="0"/>
                <a:cs typeface="Times New Roman" pitchFamily="18" charset="0"/>
              </a:rPr>
              <a:t>electrons</a:t>
            </a:r>
            <a:r>
              <a:rPr lang="en-US" sz="2200" dirty="0">
                <a:latin typeface="Times New Roman" pitchFamily="18" charset="0"/>
                <a:cs typeface="Times New Roman" pitchFamily="18" charset="0"/>
              </a:rPr>
              <a:t>).</a:t>
            </a:r>
          </a:p>
          <a:p>
            <a:pPr>
              <a:lnSpc>
                <a:spcPct val="150000"/>
              </a:lnSpc>
              <a:spcBef>
                <a:spcPts val="0"/>
              </a:spcBef>
              <a:buFont typeface="Wingdings" pitchFamily="2" charset="2"/>
              <a:buChar char="q"/>
            </a:pPr>
            <a:endParaRPr lang="en-US" sz="2200" dirty="0">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2"/>
          <a:srcRect/>
          <a:stretch>
            <a:fillRect/>
          </a:stretch>
        </p:blipFill>
        <p:spPr bwMode="auto">
          <a:xfrm>
            <a:off x="3581400" y="4055752"/>
            <a:ext cx="5029200" cy="2802248"/>
          </a:xfrm>
          <a:prstGeom prst="rect">
            <a:avLst/>
          </a:prstGeom>
          <a:noFill/>
          <a:ln w="9525">
            <a:noFill/>
            <a:miter lim="800000"/>
            <a:headEnd/>
            <a:tailEnd/>
          </a:ln>
          <a:effectLst/>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 calcmode="lin" valueType="num">
                                      <p:cBhvr additive="base">
                                        <p:cTn id="7" dur="2000" fill="hold"/>
                                        <p:tgtEl>
                                          <p:spTgt spid="2051"/>
                                        </p:tgtEl>
                                        <p:attrNameLst>
                                          <p:attrName>ppt_x</p:attrName>
                                        </p:attrNameLst>
                                      </p:cBhvr>
                                      <p:tavLst>
                                        <p:tav tm="0">
                                          <p:val>
                                            <p:strVal val="#ppt_x"/>
                                          </p:val>
                                        </p:tav>
                                        <p:tav tm="100000">
                                          <p:val>
                                            <p:strVal val="#ppt_x"/>
                                          </p:val>
                                        </p:tav>
                                      </p:tavLst>
                                    </p:anim>
                                    <p:anim calcmode="lin" valueType="num">
                                      <p:cBhvr additive="base">
                                        <p:cTn id="8" dur="2000" fill="hold"/>
                                        <p:tgtEl>
                                          <p:spTgt spid="20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normAutofit/>
          </a:bodyPr>
          <a:lstStyle/>
          <a:p>
            <a:r>
              <a:rPr lang="en-US" sz="3200" b="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How LED Works?</a:t>
            </a:r>
          </a:p>
        </p:txBody>
      </p:sp>
      <p:pic>
        <p:nvPicPr>
          <p:cNvPr id="4" name="Picture 2"/>
          <p:cNvPicPr>
            <a:picLocks noChangeAspect="1" noChangeArrowheads="1"/>
          </p:cNvPicPr>
          <p:nvPr/>
        </p:nvPicPr>
        <p:blipFill>
          <a:blip r:embed="rId2"/>
          <a:srcRect/>
          <a:stretch>
            <a:fillRect/>
          </a:stretch>
        </p:blipFill>
        <p:spPr>
          <a:xfrm>
            <a:off x="1524000" y="1143000"/>
            <a:ext cx="4648200" cy="4491038"/>
          </a:xfrm>
          <a:prstGeom prst="rect">
            <a:avLst/>
          </a:prstGeom>
          <a:noFill/>
        </p:spPr>
      </p:pic>
      <p:pic>
        <p:nvPicPr>
          <p:cNvPr id="5" name="Picture 4"/>
          <p:cNvPicPr>
            <a:picLocks noChangeAspect="1" noChangeArrowheads="1"/>
          </p:cNvPicPr>
          <p:nvPr/>
        </p:nvPicPr>
        <p:blipFill>
          <a:blip r:embed="rId3"/>
          <a:srcRect/>
          <a:stretch>
            <a:fillRect/>
          </a:stretch>
        </p:blipFill>
        <p:spPr>
          <a:xfrm>
            <a:off x="6248400" y="1143001"/>
            <a:ext cx="4419600" cy="4562475"/>
          </a:xfrm>
          <a:prstGeom prst="rect">
            <a:avLst/>
          </a:prstGeom>
          <a:noFill/>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How LED Works?</a:t>
            </a:r>
          </a:p>
        </p:txBody>
      </p:sp>
      <p:pic>
        <p:nvPicPr>
          <p:cNvPr id="4" name="Picture 6"/>
          <p:cNvPicPr>
            <a:picLocks noGrp="1" noChangeAspect="1" noChangeArrowheads="1"/>
          </p:cNvPicPr>
          <p:nvPr>
            <p:ph idx="1"/>
          </p:nvPr>
        </p:nvPicPr>
        <p:blipFill>
          <a:blip r:embed="rId2"/>
          <a:srcRect/>
          <a:stretch>
            <a:fillRect/>
          </a:stretch>
        </p:blipFill>
        <p:spPr bwMode="auto">
          <a:xfrm>
            <a:off x="1905000" y="1828800"/>
            <a:ext cx="4724400" cy="4114800"/>
          </a:xfrm>
          <a:prstGeom prst="rect">
            <a:avLst/>
          </a:prstGeom>
          <a:noFill/>
          <a:ln w="9525">
            <a:noFill/>
            <a:miter lim="800000"/>
            <a:headEnd/>
            <a:tailEnd/>
          </a:ln>
        </p:spPr>
      </p:pic>
      <p:sp>
        <p:nvSpPr>
          <p:cNvPr id="5" name="Rectangle 7"/>
          <p:cNvSpPr txBox="1">
            <a:spLocks noChangeArrowheads="1"/>
          </p:cNvSpPr>
          <p:nvPr/>
        </p:nvSpPr>
        <p:spPr>
          <a:xfrm>
            <a:off x="5410200" y="3886200"/>
            <a:ext cx="4343400" cy="1905000"/>
          </a:xfrm>
          <a:prstGeom prst="rect">
            <a:avLst/>
          </a:prstGeom>
        </p:spPr>
        <p:txBody>
          <a:bodyPr vert="horz" lIns="91440" tIns="45720" rIns="91440" bIns="45720" rtlCol="0">
            <a:normAutofit/>
          </a:bodyPr>
          <a:lstStyle/>
          <a:p>
            <a:pPr marL="342900" indent="-342900">
              <a:spcBef>
                <a:spcPct val="20000"/>
              </a:spcBef>
              <a:buFont typeface="Wingdings" pitchFamily="2" charset="2"/>
              <a:buChar char="Ø"/>
              <a:defRPr/>
            </a:pPr>
            <a:r>
              <a:rPr lang="en-US" sz="2200" dirty="0">
                <a:latin typeface="Times New Roman" pitchFamily="18" charset="0"/>
                <a:cs typeface="Times New Roman" pitchFamily="18" charset="0"/>
              </a:rPr>
              <a:t>When current flows across a diode.</a:t>
            </a:r>
          </a:p>
          <a:p>
            <a:pPr marL="342900" indent="-342900">
              <a:spcBef>
                <a:spcPct val="20000"/>
              </a:spcBef>
              <a:buFont typeface="Wingdings" pitchFamily="2" charset="2"/>
              <a:buChar char="Ø"/>
            </a:pPr>
            <a:r>
              <a:rPr lang="en-US" sz="2200" dirty="0">
                <a:latin typeface="Times New Roman" pitchFamily="18" charset="0"/>
                <a:cs typeface="Times New Roman" pitchFamily="18" charset="0"/>
              </a:rPr>
              <a:t>Negative electrons move one way and positive holes move the other way</a:t>
            </a:r>
          </a:p>
          <a:p>
            <a:pPr marL="342900" indent="-342900">
              <a:spcBef>
                <a:spcPct val="20000"/>
              </a:spcBef>
              <a:buFont typeface="Wingdings" pitchFamily="2" charset="2"/>
              <a:buChar char="Ø"/>
              <a:defRPr/>
            </a:pPr>
            <a:endParaRPr lang="en-US" sz="2200" dirty="0">
              <a:latin typeface="Times New Roman" pitchFamily="18" charset="0"/>
              <a:cs typeface="Times New Roman" pitchFamily="18" charset="0"/>
            </a:endParaRPr>
          </a:p>
          <a:p>
            <a:pPr marL="342900" indent="-342900">
              <a:spcBef>
                <a:spcPct val="20000"/>
              </a:spcBef>
              <a:defRPr/>
            </a:pPr>
            <a:endParaRPr lang="en-US" sz="2200" dirty="0">
              <a:latin typeface="Times New Roman" pitchFamily="18" charset="0"/>
              <a:cs typeface="Times New Roman" pitchFamily="18" charset="0"/>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1000" fill="hold"/>
                                        <p:tgtEl>
                                          <p:spTgt spid="5"/>
                                        </p:tgtEl>
                                        <p:attrNameLst>
                                          <p:attrName>ppt_x</p:attrName>
                                        </p:attrNameLst>
                                      </p:cBhvr>
                                      <p:tavLst>
                                        <p:tav tm="0">
                                          <p:val>
                                            <p:strVal val="#ppt_x"/>
                                          </p:val>
                                        </p:tav>
                                        <p:tav tm="100000">
                                          <p:val>
                                            <p:strVal val="#ppt_x"/>
                                          </p:val>
                                        </p:tav>
                                      </p:tavLst>
                                    </p:anim>
                                    <p:anim calcmode="lin" valueType="num">
                                      <p:cBhvr additive="base">
                                        <p:cTn id="13"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How LED Works?</a:t>
            </a:r>
            <a:endParaRPr lang="en-US" sz="3200" dirty="0">
              <a:solidFill>
                <a:srgbClr val="0070C0"/>
              </a:solidFill>
              <a:effectLst>
                <a:outerShdw blurRad="38100" dist="38100" dir="2700000" algn="tl">
                  <a:srgbClr val="000000">
                    <a:alpha val="43137"/>
                  </a:srgbClr>
                </a:outerShdw>
              </a:effectLst>
            </a:endParaRPr>
          </a:p>
        </p:txBody>
      </p:sp>
      <p:pic>
        <p:nvPicPr>
          <p:cNvPr id="4" name="Picture 6"/>
          <p:cNvPicPr>
            <a:picLocks noGrp="1" noChangeAspect="1" noChangeArrowheads="1"/>
          </p:cNvPicPr>
          <p:nvPr>
            <p:ph idx="1"/>
          </p:nvPr>
        </p:nvPicPr>
        <p:blipFill>
          <a:blip r:embed="rId2"/>
          <a:srcRect/>
          <a:stretch>
            <a:fillRect/>
          </a:stretch>
        </p:blipFill>
        <p:spPr bwMode="auto">
          <a:xfrm>
            <a:off x="1676400" y="1752600"/>
            <a:ext cx="4343400" cy="4648200"/>
          </a:xfrm>
          <a:prstGeom prst="rect">
            <a:avLst/>
          </a:prstGeom>
          <a:noFill/>
          <a:ln w="9525">
            <a:noFill/>
            <a:miter lim="800000"/>
            <a:headEnd/>
            <a:tailEnd/>
          </a:ln>
        </p:spPr>
      </p:pic>
      <p:sp>
        <p:nvSpPr>
          <p:cNvPr id="5" name="Rectangle 3"/>
          <p:cNvSpPr txBox="1">
            <a:spLocks noChangeArrowheads="1"/>
          </p:cNvSpPr>
          <p:nvPr/>
        </p:nvSpPr>
        <p:spPr>
          <a:xfrm>
            <a:off x="4953000" y="4191000"/>
            <a:ext cx="5029200" cy="1981200"/>
          </a:xfrm>
          <a:prstGeom prst="rect">
            <a:avLst/>
          </a:prstGeom>
        </p:spPr>
        <p:txBody>
          <a:bodyPr vert="horz" lIns="91440" tIns="45720" rIns="91440" bIns="45720" rtlCol="0">
            <a:normAutofit/>
          </a:bodyPr>
          <a:lstStyle/>
          <a:p>
            <a:pPr marL="342900" indent="-342900">
              <a:spcBef>
                <a:spcPct val="20000"/>
              </a:spcBef>
              <a:buFont typeface="Wingdings" pitchFamily="2" charset="2"/>
              <a:buChar char="§"/>
              <a:defRPr/>
            </a:pPr>
            <a:r>
              <a:rPr lang="en-US" sz="2600" dirty="0">
                <a:latin typeface="Times New Roman" pitchFamily="18" charset="0"/>
                <a:cs typeface="Times New Roman" pitchFamily="18" charset="0"/>
              </a:rPr>
              <a:t>The holes exist at a lower energy level than the free electrons.</a:t>
            </a:r>
          </a:p>
          <a:p>
            <a:pPr marL="342900" indent="-342900">
              <a:spcBef>
                <a:spcPct val="20000"/>
              </a:spcBef>
              <a:buFont typeface="Wingdings" pitchFamily="2" charset="2"/>
              <a:buChar char="§"/>
            </a:pPr>
            <a:r>
              <a:rPr lang="en-US" sz="2600" dirty="0">
                <a:latin typeface="Times New Roman" pitchFamily="18" charset="0"/>
                <a:cs typeface="Times New Roman" pitchFamily="18" charset="0"/>
              </a:rPr>
              <a:t>Therefore when a free electrons falls it losses energy </a:t>
            </a:r>
          </a:p>
          <a:p>
            <a:pPr marL="342900" indent="-342900">
              <a:spcBef>
                <a:spcPct val="20000"/>
              </a:spcBef>
              <a:buFont typeface="Wingdings" pitchFamily="2" charset="2"/>
              <a:buChar char="§"/>
              <a:defRPr/>
            </a:pPr>
            <a:endParaRPr lang="en-US" sz="2600" dirty="0">
              <a:latin typeface="Times New Roman" pitchFamily="18" charset="0"/>
              <a:cs typeface="Times New Roman" pitchFamily="18" charset="0"/>
            </a:endParaRPr>
          </a:p>
          <a:p>
            <a:pPr marL="342900" indent="-342900">
              <a:spcBef>
                <a:spcPct val="20000"/>
              </a:spcBef>
              <a:defRPr/>
            </a:pPr>
            <a:endParaRPr lang="en-US" sz="2600" dirty="0">
              <a:latin typeface="Times New Roman" pitchFamily="18" charset="0"/>
              <a:cs typeface="Times New Roman" pitchFamily="18"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1000" fill="hold"/>
                                        <p:tgtEl>
                                          <p:spTgt spid="5"/>
                                        </p:tgtEl>
                                        <p:attrNameLst>
                                          <p:attrName>ppt_x</p:attrName>
                                        </p:attrNameLst>
                                      </p:cBhvr>
                                      <p:tavLst>
                                        <p:tav tm="0">
                                          <p:val>
                                            <p:strVal val="#ppt_x"/>
                                          </p:val>
                                        </p:tav>
                                        <p:tav tm="100000">
                                          <p:val>
                                            <p:strVal val="#ppt_x"/>
                                          </p:val>
                                        </p:tav>
                                      </p:tavLst>
                                    </p:anim>
                                    <p:anim calcmode="lin" valueType="num">
                                      <p:cBhvr additive="base">
                                        <p:cTn id="13"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How LED Works?</a:t>
            </a:r>
            <a:endParaRPr lang="en-US" sz="3200" dirty="0">
              <a:solidFill>
                <a:srgbClr val="0070C0"/>
              </a:solidFill>
              <a:effectLst>
                <a:outerShdw blurRad="38100" dist="38100" dir="2700000" algn="tl">
                  <a:srgbClr val="000000">
                    <a:alpha val="43137"/>
                  </a:srgbClr>
                </a:outerShdw>
              </a:effectLst>
            </a:endParaRPr>
          </a:p>
        </p:txBody>
      </p:sp>
      <p:pic>
        <p:nvPicPr>
          <p:cNvPr id="4" name="Picture 6"/>
          <p:cNvPicPr>
            <a:picLocks noGrp="1" noChangeAspect="1" noChangeArrowheads="1"/>
          </p:cNvPicPr>
          <p:nvPr>
            <p:ph idx="1"/>
          </p:nvPr>
        </p:nvPicPr>
        <p:blipFill>
          <a:blip r:embed="rId2"/>
          <a:srcRect/>
          <a:stretch>
            <a:fillRect/>
          </a:stretch>
        </p:blipFill>
        <p:spPr bwMode="auto">
          <a:xfrm>
            <a:off x="1828800" y="1981200"/>
            <a:ext cx="4191000" cy="4114800"/>
          </a:xfrm>
          <a:prstGeom prst="rect">
            <a:avLst/>
          </a:prstGeom>
          <a:noFill/>
          <a:ln w="9525">
            <a:noFill/>
            <a:miter lim="800000"/>
            <a:headEnd/>
            <a:tailEnd/>
          </a:ln>
        </p:spPr>
      </p:pic>
      <p:sp>
        <p:nvSpPr>
          <p:cNvPr id="5" name="Rectangle 3"/>
          <p:cNvSpPr txBox="1">
            <a:spLocks noChangeArrowheads="1"/>
          </p:cNvSpPr>
          <p:nvPr/>
        </p:nvSpPr>
        <p:spPr>
          <a:xfrm>
            <a:off x="4800600" y="3962400"/>
            <a:ext cx="5410200" cy="2133600"/>
          </a:xfrm>
          <a:prstGeom prst="rect">
            <a:avLst/>
          </a:prstGeom>
        </p:spPr>
        <p:txBody>
          <a:bodyPr vert="horz" lIns="91440" tIns="45720" rIns="91440" bIns="45720" rtlCol="0">
            <a:normAutofit lnSpcReduction="10000"/>
          </a:bodyPr>
          <a:lstStyle/>
          <a:p>
            <a:pPr marL="342900" indent="-342900">
              <a:spcBef>
                <a:spcPct val="20000"/>
              </a:spcBef>
              <a:buFont typeface="Arial" pitchFamily="34" charset="0"/>
              <a:buChar char="•"/>
              <a:defRPr/>
            </a:pPr>
            <a:r>
              <a:rPr lang="en-US" sz="2600" dirty="0">
                <a:latin typeface="Times New Roman" pitchFamily="18" charset="0"/>
                <a:cs typeface="Times New Roman" pitchFamily="18" charset="0"/>
              </a:rPr>
              <a:t>This energy is emitted in a form of a photon, which causes light.</a:t>
            </a:r>
          </a:p>
          <a:p>
            <a:pPr marL="342900" indent="-342900">
              <a:spcBef>
                <a:spcPct val="20000"/>
              </a:spcBef>
              <a:buFont typeface="Arial" pitchFamily="34" charset="0"/>
              <a:buChar char="•"/>
            </a:pPr>
            <a:r>
              <a:rPr lang="en-US" sz="2600" dirty="0">
                <a:latin typeface="Times New Roman" pitchFamily="18" charset="0"/>
                <a:cs typeface="Times New Roman" pitchFamily="18" charset="0"/>
              </a:rPr>
              <a:t>The color of the light is determined by the fall of the electron and hence energy level of the photon.</a:t>
            </a:r>
          </a:p>
          <a:p>
            <a:pPr marL="342900" indent="-342900">
              <a:spcBef>
                <a:spcPct val="20000"/>
              </a:spcBef>
              <a:buFont typeface="Arial" pitchFamily="34" charset="0"/>
              <a:buChar char="•"/>
              <a:defRPr/>
            </a:pPr>
            <a:endParaRPr lang="en-US" sz="2600" dirty="0">
              <a:latin typeface="Times New Roman" pitchFamily="18" charset="0"/>
              <a:cs typeface="Times New Roman" pitchFamily="18" charset="0"/>
            </a:endParaRPr>
          </a:p>
          <a:p>
            <a:pPr marL="342900" indent="-342900">
              <a:spcBef>
                <a:spcPct val="20000"/>
              </a:spcBef>
              <a:defRPr/>
            </a:pPr>
            <a:endParaRPr lang="en-US" sz="2600" dirty="0">
              <a:latin typeface="Times New Roman" pitchFamily="18" charset="0"/>
              <a:cs typeface="Times New Roman" pitchFamily="18" charset="0"/>
            </a:endParaRPr>
          </a:p>
        </p:txBody>
      </p:sp>
      <p:sp>
        <p:nvSpPr>
          <p:cNvPr id="6" name="Rectangle 5"/>
          <p:cNvSpPr txBox="1">
            <a:spLocks noChangeArrowheads="1"/>
          </p:cNvSpPr>
          <p:nvPr/>
        </p:nvSpPr>
        <p:spPr>
          <a:xfrm>
            <a:off x="4495800" y="3810000"/>
            <a:ext cx="5791200" cy="2209800"/>
          </a:xfrm>
          <a:prstGeom prst="rect">
            <a:avLst/>
          </a:prstGeom>
        </p:spPr>
        <p:txBody>
          <a:bodyPr/>
          <a:lstStyle/>
          <a:p>
            <a:pPr marL="342900" indent="-342900">
              <a:spcBef>
                <a:spcPct val="20000"/>
              </a:spcBef>
              <a:buFont typeface="Arial" pitchFamily="34" charset="0"/>
              <a:buChar char="•"/>
              <a:defRPr/>
            </a:pPr>
            <a:endParaRPr lang="en-US" sz="2600" dirty="0"/>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Energy band diagram of LED</a:t>
            </a:r>
          </a:p>
        </p:txBody>
      </p:sp>
      <p:pic>
        <p:nvPicPr>
          <p:cNvPr id="3074" name="Picture 2" descr="C:\Users\admin\Desktop\4.JPG"/>
          <p:cNvPicPr>
            <a:picLocks noGrp="1" noChangeAspect="1" noChangeArrowheads="1"/>
          </p:cNvPicPr>
          <p:nvPr>
            <p:ph idx="1"/>
          </p:nvPr>
        </p:nvPicPr>
        <p:blipFill>
          <a:blip r:embed="rId2"/>
          <a:srcRect/>
          <a:stretch>
            <a:fillRect/>
          </a:stretch>
        </p:blipFill>
        <p:spPr bwMode="auto">
          <a:xfrm>
            <a:off x="2743200" y="1600200"/>
            <a:ext cx="7086600" cy="4038600"/>
          </a:xfrm>
          <a:prstGeom prst="rect">
            <a:avLst/>
          </a:prstGeom>
          <a:noFill/>
        </p:spPr>
      </p:pic>
      <p:sp>
        <p:nvSpPr>
          <p:cNvPr id="5" name="TextBox 4"/>
          <p:cNvSpPr txBox="1"/>
          <p:nvPr/>
        </p:nvSpPr>
        <p:spPr>
          <a:xfrm>
            <a:off x="6172200" y="5715000"/>
            <a:ext cx="4495800" cy="400110"/>
          </a:xfrm>
          <a:prstGeom prst="rect">
            <a:avLst/>
          </a:prstGeom>
          <a:noFill/>
        </p:spPr>
        <p:txBody>
          <a:bodyPr wrap="square" rtlCol="0">
            <a:spAutoFit/>
          </a:bodyPr>
          <a:lstStyle/>
          <a:p>
            <a:pPr>
              <a:buFont typeface="Wingdings" pitchFamily="2" charset="2"/>
              <a:buChar char="Ø"/>
            </a:pPr>
            <a:r>
              <a:rPr lang="en-US" sz="2000" b="1" dirty="0">
                <a:solidFill>
                  <a:srgbClr val="FF0000"/>
                </a:solidFill>
                <a:latin typeface="Times New Roman" pitchFamily="18" charset="0"/>
                <a:cs typeface="Times New Roman" pitchFamily="18" charset="0"/>
              </a:rPr>
              <a:t>  Electron – Hole recombination</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checkerboard(across)">
                                      <p:cBhvr>
                                        <p:cTn id="7" dur="10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1000" fill="hold"/>
                                        <p:tgtEl>
                                          <p:spTgt spid="5"/>
                                        </p:tgtEl>
                                        <p:attrNameLst>
                                          <p:attrName>ppt_x</p:attrName>
                                        </p:attrNameLst>
                                      </p:cBhvr>
                                      <p:tavLst>
                                        <p:tav tm="0">
                                          <p:val>
                                            <p:strVal val="#ppt_x"/>
                                          </p:val>
                                        </p:tav>
                                        <p:tav tm="100000">
                                          <p:val>
                                            <p:strVal val="#ppt_x"/>
                                          </p:val>
                                        </p:tav>
                                      </p:tavLst>
                                    </p:anim>
                                    <p:anim calcmode="lin" valueType="num">
                                      <p:cBhvr additive="base">
                                        <p:cTn id="13"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LED Construction</a:t>
            </a:r>
          </a:p>
        </p:txBody>
      </p:sp>
      <p:pic>
        <p:nvPicPr>
          <p:cNvPr id="9218" name="Picture 2"/>
          <p:cNvPicPr>
            <a:picLocks noGrp="1" noChangeAspect="1" noChangeArrowheads="1"/>
          </p:cNvPicPr>
          <p:nvPr>
            <p:ph idx="1"/>
          </p:nvPr>
        </p:nvPicPr>
        <p:blipFill>
          <a:blip r:embed="rId2"/>
          <a:srcRect/>
          <a:stretch>
            <a:fillRect/>
          </a:stretch>
        </p:blipFill>
        <p:spPr bwMode="auto">
          <a:xfrm>
            <a:off x="2819400" y="1600200"/>
            <a:ext cx="6400800" cy="4648200"/>
          </a:xfrm>
          <a:prstGeom prst="rect">
            <a:avLst/>
          </a:prstGeom>
          <a:noFill/>
          <a:ln w="9525">
            <a:noFill/>
            <a:miter lim="800000"/>
            <a:headEnd/>
            <a:tailEnd/>
          </a:ln>
          <a:effectLst/>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checkerboard(across)">
                                      <p:cBhvr>
                                        <p:cTn id="7" dur="1000"/>
                                        <p:tgtEl>
                                          <p:spTgt spid="9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92D050"/>
                </a:solidFill>
                <a:effectLst>
                  <a:outerShdw blurRad="38100" dist="38100" dir="2700000" algn="tl">
                    <a:srgbClr val="000000">
                      <a:alpha val="43137"/>
                    </a:srgbClr>
                  </a:outerShdw>
                </a:effectLst>
                <a:latin typeface="Times New Roman" pitchFamily="18" charset="0"/>
                <a:cs typeface="Times New Roman" pitchFamily="18" charset="0"/>
              </a:rPr>
              <a:t>How to Connect a LED?</a:t>
            </a:r>
            <a:endParaRPr lang="en-US" sz="3200" dirty="0">
              <a:solidFill>
                <a:srgbClr val="92D05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a:t>Requires 1.5~2.5V and 10 </a:t>
            </a:r>
            <a:r>
              <a:rPr lang="en-US" dirty="0" err="1"/>
              <a:t>mA</a:t>
            </a:r>
            <a:endParaRPr lang="en-US" dirty="0"/>
          </a:p>
          <a:p>
            <a:r>
              <a:rPr lang="en-US" dirty="0"/>
              <a:t>To prevent overloading, use resistor 470 </a:t>
            </a:r>
            <a:r>
              <a:rPr lang="el-GR" dirty="0"/>
              <a:t>Ω</a:t>
            </a:r>
            <a:r>
              <a:rPr lang="en-US" dirty="0"/>
              <a:t>  </a:t>
            </a:r>
          </a:p>
          <a:p>
            <a:endParaRPr lang="en-US" dirty="0"/>
          </a:p>
          <a:p>
            <a:pPr>
              <a:buNone/>
            </a:pPr>
            <a:endParaRPr lang="en-US" dirty="0"/>
          </a:p>
        </p:txBody>
      </p:sp>
      <p:pic>
        <p:nvPicPr>
          <p:cNvPr id="4" name="Picture 4"/>
          <p:cNvPicPr>
            <a:picLocks noChangeAspect="1" noChangeArrowheads="1"/>
          </p:cNvPicPr>
          <p:nvPr/>
        </p:nvPicPr>
        <p:blipFill>
          <a:blip r:embed="rId2"/>
          <a:srcRect/>
          <a:stretch>
            <a:fillRect/>
          </a:stretch>
        </p:blipFill>
        <p:spPr bwMode="auto">
          <a:xfrm>
            <a:off x="4800600" y="2819400"/>
            <a:ext cx="2393950" cy="3276600"/>
          </a:xfrm>
          <a:prstGeom prst="rect">
            <a:avLst/>
          </a:prstGeom>
          <a:noFill/>
          <a:ln w="9525">
            <a:noFill/>
            <a:miter lim="800000"/>
            <a:headEnd/>
            <a:tailEnd/>
          </a:ln>
        </p:spPr>
      </p:pic>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715962"/>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Electrical characteristics of LEDs</a:t>
            </a:r>
          </a:p>
        </p:txBody>
      </p:sp>
      <p:sp>
        <p:nvSpPr>
          <p:cNvPr id="3" name="Content Placeholder 2"/>
          <p:cNvSpPr>
            <a:spLocks noGrp="1"/>
          </p:cNvSpPr>
          <p:nvPr>
            <p:ph idx="1"/>
          </p:nvPr>
        </p:nvSpPr>
        <p:spPr>
          <a:xfrm>
            <a:off x="1981200" y="304800"/>
            <a:ext cx="8229600" cy="5181600"/>
          </a:xfrm>
        </p:spPr>
        <p:txBody>
          <a:bodyPr>
            <a:noAutofit/>
          </a:bodyPr>
          <a:lstStyle/>
          <a:p>
            <a:pPr algn="just">
              <a:lnSpc>
                <a:spcPct val="150000"/>
              </a:lnSpc>
              <a:spcBef>
                <a:spcPts val="0"/>
              </a:spcBef>
              <a:buFontTx/>
              <a:buChar char="-"/>
            </a:pPr>
            <a:r>
              <a:rPr lang="en-US" sz="2200" dirty="0">
                <a:latin typeface="Times New Roman" pitchFamily="18" charset="0"/>
                <a:cs typeface="Times New Roman" pitchFamily="18" charset="0"/>
              </a:rPr>
              <a:t>Individual LEDs are low voltage devices. </a:t>
            </a:r>
          </a:p>
          <a:p>
            <a:pPr algn="just">
              <a:lnSpc>
                <a:spcPct val="150000"/>
              </a:lnSpc>
              <a:spcBef>
                <a:spcPts val="0"/>
              </a:spcBef>
              <a:buFontTx/>
              <a:buChar char="-"/>
            </a:pPr>
            <a:r>
              <a:rPr lang="en-US" sz="2200" dirty="0">
                <a:latin typeface="Times New Roman" pitchFamily="18" charset="0"/>
                <a:cs typeface="Times New Roman" pitchFamily="18" charset="0"/>
              </a:rPr>
              <a:t>Single indicator LEDs require 2 to 4 volts of direct current, with current in the range from 1 to 50 </a:t>
            </a:r>
            <a:r>
              <a:rPr lang="en-US" sz="2200" dirty="0" err="1">
                <a:latin typeface="Times New Roman" pitchFamily="18" charset="0"/>
                <a:cs typeface="Times New Roman" pitchFamily="18" charset="0"/>
              </a:rPr>
              <a:t>milliamperes</a:t>
            </a:r>
            <a:r>
              <a:rPr lang="en-US" sz="2200" dirty="0">
                <a:latin typeface="Times New Roman" pitchFamily="18" charset="0"/>
                <a:cs typeface="Times New Roman" pitchFamily="18" charset="0"/>
              </a:rPr>
              <a:t>. </a:t>
            </a:r>
          </a:p>
          <a:p>
            <a:pPr algn="just">
              <a:lnSpc>
                <a:spcPct val="150000"/>
              </a:lnSpc>
              <a:spcBef>
                <a:spcPts val="0"/>
              </a:spcBef>
              <a:buFontTx/>
              <a:buChar char="-"/>
            </a:pPr>
            <a:r>
              <a:rPr lang="en-US" sz="2200" dirty="0">
                <a:latin typeface="Times New Roman" pitchFamily="18" charset="0"/>
                <a:cs typeface="Times New Roman" pitchFamily="18" charset="0"/>
              </a:rPr>
              <a:t>An illumination-grade LED containing a single semiconducting element requires the same voltage, but operating currents are much higher, typically several hundred </a:t>
            </a:r>
            <a:r>
              <a:rPr lang="en-US" sz="2200" dirty="0" err="1">
                <a:latin typeface="Times New Roman" pitchFamily="18" charset="0"/>
                <a:cs typeface="Times New Roman" pitchFamily="18" charset="0"/>
              </a:rPr>
              <a:t>milliamperes</a:t>
            </a:r>
            <a:r>
              <a:rPr lang="en-US" sz="2200" dirty="0">
                <a:latin typeface="Times New Roman" pitchFamily="18" charset="0"/>
                <a:cs typeface="Times New Roman" pitchFamily="18" charset="0"/>
              </a:rPr>
              <a:t>. </a:t>
            </a:r>
          </a:p>
          <a:p>
            <a:pPr algn="just">
              <a:lnSpc>
                <a:spcPct val="150000"/>
              </a:lnSpc>
              <a:spcBef>
                <a:spcPts val="0"/>
              </a:spcBef>
              <a:buFontTx/>
              <a:buChar char="-"/>
            </a:pPr>
            <a:r>
              <a:rPr lang="en-US" sz="2200" dirty="0">
                <a:latin typeface="Times New Roman" pitchFamily="18" charset="0"/>
                <a:cs typeface="Times New Roman" pitchFamily="18" charset="0"/>
              </a:rPr>
              <a:t>A device containing multiple elements connected in series will require higher voltage corresponding to the larger number of individual elements in the device.</a:t>
            </a:r>
          </a:p>
          <a:p>
            <a:pPr algn="just">
              <a:lnSpc>
                <a:spcPct val="150000"/>
              </a:lnSpc>
              <a:spcBef>
                <a:spcPts val="0"/>
              </a:spcBef>
              <a:buFontTx/>
              <a:buChar char="-"/>
            </a:pPr>
            <a:r>
              <a:rPr lang="en-US" sz="2200" dirty="0">
                <a:latin typeface="Times New Roman" pitchFamily="18" charset="0"/>
                <a:cs typeface="Times New Roman" pitchFamily="18" charset="0"/>
              </a:rPr>
              <a:t>Reverse polarity destroys an LED.</a:t>
            </a:r>
          </a:p>
          <a:p>
            <a:pPr algn="just">
              <a:lnSpc>
                <a:spcPct val="150000"/>
              </a:lnSpc>
              <a:spcBef>
                <a:spcPts val="0"/>
              </a:spcBef>
              <a:buFontTx/>
              <a:buChar char="-"/>
            </a:pPr>
            <a:r>
              <a:rPr lang="en-US" sz="2200" dirty="0">
                <a:latin typeface="Times New Roman" pitchFamily="18" charset="0"/>
                <a:cs typeface="Times New Roman" pitchFamily="18" charset="0"/>
              </a:rPr>
              <a:t>Manufacturers provide specifications about the maximum reverse voltages acceptable for LED devices; 5 volts is a typical maximum rating. </a:t>
            </a:r>
          </a:p>
        </p:txBody>
      </p:sp>
    </p:spTree>
  </p:cSld>
  <p:clrMapOvr>
    <a:masterClrMapping/>
  </p:clrMapOvr>
  <p:transition>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effectLst>
                  <a:outerShdw blurRad="38100" dist="38100" dir="2700000" algn="tl">
                    <a:srgbClr val="000000">
                      <a:alpha val="43137"/>
                    </a:srgbClr>
                  </a:outerShdw>
                </a:effectLst>
                <a:latin typeface="Times New Roman" pitchFamily="18" charset="0"/>
                <a:cs typeface="Times New Roman" pitchFamily="18" charset="0"/>
              </a:rPr>
              <a:t>What Determines the color of the LED</a:t>
            </a:r>
          </a:p>
        </p:txBody>
      </p:sp>
      <p:sp>
        <p:nvSpPr>
          <p:cNvPr id="3" name="Content Placeholder 2"/>
          <p:cNvSpPr>
            <a:spLocks noGrp="1"/>
          </p:cNvSpPr>
          <p:nvPr>
            <p:ph idx="1"/>
          </p:nvPr>
        </p:nvSpPr>
        <p:spPr/>
        <p:txBody>
          <a:bodyPr>
            <a:noAutofit/>
          </a:bodyPr>
          <a:lstStyle/>
          <a:p>
            <a:pPr>
              <a:lnSpc>
                <a:spcPct val="160000"/>
              </a:lnSpc>
              <a:spcBef>
                <a:spcPts val="0"/>
              </a:spcBef>
              <a:buFont typeface="Wingdings" pitchFamily="2" charset="2"/>
              <a:buChar char="v"/>
            </a:pPr>
            <a:r>
              <a:rPr lang="en-US" sz="2200" dirty="0">
                <a:latin typeface="Times New Roman" pitchFamily="18" charset="0"/>
                <a:cs typeface="Times New Roman" pitchFamily="18" charset="0"/>
              </a:rPr>
              <a:t>The material used in the semiconducting element of an LED determines its color. </a:t>
            </a:r>
          </a:p>
          <a:p>
            <a:pPr>
              <a:lnSpc>
                <a:spcPct val="160000"/>
              </a:lnSpc>
              <a:spcBef>
                <a:spcPts val="0"/>
              </a:spcBef>
              <a:buFont typeface="Wingdings" pitchFamily="2" charset="2"/>
              <a:buChar char="v"/>
            </a:pPr>
            <a:r>
              <a:rPr lang="en-US" sz="2200" dirty="0">
                <a:latin typeface="Times New Roman" pitchFamily="18" charset="0"/>
                <a:cs typeface="Times New Roman" pitchFamily="18" charset="0"/>
              </a:rPr>
              <a:t>The two main types of LEDs presently used for lighting systems are aluminum gallium indium </a:t>
            </a:r>
            <a:r>
              <a:rPr lang="en-US" sz="2200" dirty="0" err="1">
                <a:latin typeface="Times New Roman" pitchFamily="18" charset="0"/>
                <a:cs typeface="Times New Roman" pitchFamily="18" charset="0"/>
              </a:rPr>
              <a:t>phosphide</a:t>
            </a:r>
            <a:r>
              <a:rPr lang="en-US" sz="2200" dirty="0">
                <a:latin typeface="Times New Roman" pitchFamily="18" charset="0"/>
                <a:cs typeface="Times New Roman" pitchFamily="18" charset="0"/>
              </a:rPr>
              <a:t> (</a:t>
            </a:r>
            <a:r>
              <a:rPr lang="en-US" sz="2200" b="1" i="1" dirty="0" err="1">
                <a:solidFill>
                  <a:srgbClr val="FF0000"/>
                </a:solidFill>
                <a:latin typeface="Times New Roman" pitchFamily="18" charset="0"/>
                <a:cs typeface="Times New Roman" pitchFamily="18" charset="0"/>
              </a:rPr>
              <a:t>AlGaInP</a:t>
            </a:r>
            <a:r>
              <a:rPr lang="en-US" sz="2200" dirty="0">
                <a:latin typeface="Times New Roman" pitchFamily="18" charset="0"/>
                <a:cs typeface="Times New Roman" pitchFamily="18" charset="0"/>
              </a:rPr>
              <a:t>, sometimes rearranged as </a:t>
            </a:r>
            <a:r>
              <a:rPr lang="en-US" sz="2200" b="1" i="1" dirty="0" err="1">
                <a:solidFill>
                  <a:srgbClr val="FF0000"/>
                </a:solidFill>
                <a:latin typeface="Times New Roman" pitchFamily="18" charset="0"/>
                <a:cs typeface="Times New Roman" pitchFamily="18" charset="0"/>
              </a:rPr>
              <a:t>AlInGaP</a:t>
            </a:r>
            <a:r>
              <a:rPr lang="en-US" sz="2200" dirty="0">
                <a:latin typeface="Times New Roman" pitchFamily="18" charset="0"/>
                <a:cs typeface="Times New Roman" pitchFamily="18" charset="0"/>
              </a:rPr>
              <a:t>) alloys for red, orange and yellow LEDs. </a:t>
            </a:r>
          </a:p>
          <a:p>
            <a:pPr>
              <a:lnSpc>
                <a:spcPct val="160000"/>
              </a:lnSpc>
              <a:spcBef>
                <a:spcPts val="0"/>
              </a:spcBef>
              <a:buFont typeface="Wingdings" pitchFamily="2" charset="2"/>
              <a:buChar char="v"/>
            </a:pPr>
            <a:r>
              <a:rPr lang="en-US" sz="2200" dirty="0">
                <a:latin typeface="Times New Roman" pitchFamily="18" charset="0"/>
                <a:cs typeface="Times New Roman" pitchFamily="18" charset="0"/>
              </a:rPr>
              <a:t>Indium gallium nitride </a:t>
            </a:r>
            <a:r>
              <a:rPr lang="en-US" sz="2200" b="1" i="1" dirty="0">
                <a:solidFill>
                  <a:srgbClr val="FF0000"/>
                </a:solidFill>
                <a:latin typeface="Times New Roman" pitchFamily="18" charset="0"/>
                <a:cs typeface="Times New Roman" pitchFamily="18" charset="0"/>
              </a:rPr>
              <a:t>(</a:t>
            </a:r>
            <a:r>
              <a:rPr lang="en-US" sz="2200" b="1" i="1" dirty="0" err="1">
                <a:solidFill>
                  <a:srgbClr val="FF0000"/>
                </a:solidFill>
                <a:latin typeface="Times New Roman" pitchFamily="18" charset="0"/>
                <a:cs typeface="Times New Roman" pitchFamily="18" charset="0"/>
              </a:rPr>
              <a:t>InGaN</a:t>
            </a:r>
            <a:r>
              <a:rPr lang="en-US" sz="2200" b="1" i="1" dirty="0">
                <a:solidFill>
                  <a:srgbClr val="FF0000"/>
                </a:solidFill>
                <a:latin typeface="Times New Roman" pitchFamily="18" charset="0"/>
                <a:cs typeface="Times New Roman" pitchFamily="18" charset="0"/>
              </a:rPr>
              <a:t>) </a:t>
            </a:r>
            <a:r>
              <a:rPr lang="en-US" sz="2200" dirty="0">
                <a:latin typeface="Times New Roman" pitchFamily="18" charset="0"/>
                <a:cs typeface="Times New Roman" pitchFamily="18" charset="0"/>
              </a:rPr>
              <a:t>alloys for green, blue and white LEDs. Slight changes in the composition of these alloys changes the color of the emitted light.</a:t>
            </a:r>
            <a:br>
              <a:rPr lang="en-US" sz="2200" dirty="0">
                <a:latin typeface="Times New Roman" pitchFamily="18" charset="0"/>
                <a:cs typeface="Times New Roman" pitchFamily="18" charset="0"/>
              </a:rPr>
            </a:br>
            <a:endParaRPr lang="en-US" sz="2200" dirty="0">
              <a:latin typeface="Times New Roman" pitchFamily="18" charset="0"/>
              <a:cs typeface="Times New Roman" pitchFamily="18" charset="0"/>
            </a:endParaRPr>
          </a:p>
          <a:p>
            <a:pPr>
              <a:lnSpc>
                <a:spcPct val="160000"/>
              </a:lnSpc>
              <a:spcBef>
                <a:spcPts val="0"/>
              </a:spcBef>
              <a:buNone/>
            </a:pPr>
            <a:endParaRPr lang="en-US" sz="2200" dirty="0"/>
          </a:p>
          <a:p>
            <a:pPr>
              <a:lnSpc>
                <a:spcPct val="160000"/>
              </a:lnSpc>
              <a:spcBef>
                <a:spcPts val="0"/>
              </a:spcBef>
              <a:buFont typeface="Wingdings" pitchFamily="2" charset="2"/>
              <a:buChar char="v"/>
            </a:pPr>
            <a:endParaRPr lang="en-US" sz="2200" dirty="0">
              <a:latin typeface="Times New Roman" pitchFamily="18" charset="0"/>
              <a:cs typeface="Times New Roman" pitchFamily="18" charset="0"/>
            </a:endParaRPr>
          </a:p>
          <a:p>
            <a:pPr>
              <a:lnSpc>
                <a:spcPct val="160000"/>
              </a:lnSpc>
              <a:spcBef>
                <a:spcPts val="0"/>
              </a:spcBef>
              <a:buFont typeface="Wingdings" pitchFamily="2" charset="2"/>
              <a:buChar char="v"/>
            </a:pPr>
            <a:endParaRPr lang="en-US" sz="2200" dirty="0">
              <a:latin typeface="Times New Roman" pitchFamily="18" charset="0"/>
              <a:cs typeface="Times New Roman" pitchFamily="18" charset="0"/>
            </a:endParaRP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effectLst>
                  <a:outerShdw blurRad="38100" dist="38100" dir="2700000" algn="tl">
                    <a:srgbClr val="000000">
                      <a:alpha val="43137"/>
                    </a:srgbClr>
                  </a:outerShdw>
                </a:effectLst>
                <a:latin typeface="Times New Roman" pitchFamily="18" charset="0"/>
                <a:cs typeface="Times New Roman" pitchFamily="18" charset="0"/>
              </a:rPr>
              <a:t>How much light do LEDs produce?</a:t>
            </a:r>
            <a:br>
              <a:rPr lang="en-US" sz="3200" b="1" dirty="0">
                <a:effectLst>
                  <a:outerShdw blurRad="38100" dist="38100" dir="2700000" algn="tl">
                    <a:srgbClr val="000000">
                      <a:alpha val="43137"/>
                    </a:srgbClr>
                  </a:outerShdw>
                </a:effectLst>
                <a:latin typeface="Times New Roman" pitchFamily="18" charset="0"/>
                <a:cs typeface="Times New Roman" pitchFamily="18" charset="0"/>
              </a:rPr>
            </a:br>
            <a:endParaRPr lang="en-US" sz="3200" dirty="0">
              <a:effectLst>
                <a:outerShdw blurRad="38100" dist="38100" dir="2700000" algn="tl">
                  <a:srgbClr val="000000">
                    <a:alpha val="43137"/>
                  </a:srgbClr>
                </a:outerShdw>
              </a:effectLst>
            </a:endParaRPr>
          </a:p>
        </p:txBody>
      </p:sp>
      <p:pic>
        <p:nvPicPr>
          <p:cNvPr id="7170" name="Picture 2"/>
          <p:cNvPicPr>
            <a:picLocks noGrp="1" noChangeAspect="1" noChangeArrowheads="1"/>
          </p:cNvPicPr>
          <p:nvPr>
            <p:ph idx="1"/>
          </p:nvPr>
        </p:nvPicPr>
        <p:blipFill>
          <a:blip r:embed="rId2"/>
          <a:srcRect/>
          <a:stretch>
            <a:fillRect/>
          </a:stretch>
        </p:blipFill>
        <p:spPr bwMode="auto">
          <a:xfrm>
            <a:off x="2819400" y="1600201"/>
            <a:ext cx="6553200" cy="3810794"/>
          </a:xfrm>
          <a:prstGeom prst="rect">
            <a:avLst/>
          </a:prstGeom>
          <a:noFill/>
          <a:ln w="9525">
            <a:noFill/>
            <a:miter lim="800000"/>
            <a:headEnd/>
            <a:tailEnd/>
          </a:ln>
          <a:effectLst/>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checkerboard(across)">
                                      <p:cBhvr>
                                        <p:cTn id="7" dur="10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itchFamily="18" charset="0"/>
                <a:cs typeface="Times New Roman" pitchFamily="18" charset="0"/>
              </a:rPr>
              <a:t>How much light do LEDs produce?</a:t>
            </a:r>
            <a:br>
              <a:rPr lang="en-US" sz="3200" b="1" dirty="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pic>
        <p:nvPicPr>
          <p:cNvPr id="5122" name="Picture 2" descr="C:\Users\admin\Desktop\5.JPG"/>
          <p:cNvPicPr>
            <a:picLocks noGrp="1" noChangeAspect="1" noChangeArrowheads="1"/>
          </p:cNvPicPr>
          <p:nvPr>
            <p:ph idx="1"/>
          </p:nvPr>
        </p:nvPicPr>
        <p:blipFill>
          <a:blip r:embed="rId2"/>
          <a:srcRect/>
          <a:stretch>
            <a:fillRect/>
          </a:stretch>
        </p:blipFill>
        <p:spPr bwMode="auto">
          <a:xfrm>
            <a:off x="3810000" y="1752600"/>
            <a:ext cx="4876800" cy="3352800"/>
          </a:xfrm>
          <a:prstGeom prst="rect">
            <a:avLst/>
          </a:prstGeom>
          <a:noFill/>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checkerboard(across)">
                                      <p:cBhvr>
                                        <p:cTn id="7" dur="10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itchFamily="18" charset="0"/>
                <a:cs typeface="Times New Roman" pitchFamily="18" charset="0"/>
              </a:rPr>
              <a:t>V-I Characteristics of LED</a:t>
            </a:r>
          </a:p>
        </p:txBody>
      </p:sp>
      <p:pic>
        <p:nvPicPr>
          <p:cNvPr id="8194" name="Picture 2"/>
          <p:cNvPicPr>
            <a:picLocks noGrp="1" noChangeAspect="1" noChangeArrowheads="1"/>
          </p:cNvPicPr>
          <p:nvPr>
            <p:ph idx="1"/>
          </p:nvPr>
        </p:nvPicPr>
        <p:blipFill>
          <a:blip r:embed="rId2"/>
          <a:srcRect/>
          <a:stretch>
            <a:fillRect/>
          </a:stretch>
        </p:blipFill>
        <p:spPr bwMode="auto">
          <a:xfrm>
            <a:off x="2819400" y="1524000"/>
            <a:ext cx="6477000" cy="4495800"/>
          </a:xfrm>
          <a:prstGeom prst="rect">
            <a:avLst/>
          </a:prstGeom>
          <a:noFill/>
          <a:ln w="9525">
            <a:noFill/>
            <a:miter lim="800000"/>
            <a:headEnd/>
            <a:tailEnd/>
          </a:ln>
          <a:effectLst/>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checkerboard(across)">
                                      <p:cBhvr>
                                        <p:cTn id="7" dur="10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03238"/>
            <a:ext cx="8229600" cy="868362"/>
          </a:xfrm>
        </p:spPr>
        <p:txBody>
          <a:bodyPr>
            <a:noAutofit/>
          </a:bodyPr>
          <a:lstStyle/>
          <a:p>
            <a:r>
              <a:rPr lang="en-US" sz="3200" b="1" dirty="0">
                <a:solidFill>
                  <a:schemeClr val="tx2">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What now makes LEDs suitable for illumination applications?</a:t>
            </a:r>
            <a:br>
              <a:rPr lang="en-US" sz="3200" b="1" dirty="0">
                <a:solidFill>
                  <a:schemeClr val="tx2">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br>
            <a:endParaRPr lang="en-US" sz="3200" dirty="0">
              <a:solidFill>
                <a:schemeClr val="tx2">
                  <a:lumMod val="50000"/>
                </a:schemeClr>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4098" name="Picture 2"/>
          <p:cNvPicPr>
            <a:picLocks noGrp="1" noChangeAspect="1" noChangeArrowheads="1"/>
          </p:cNvPicPr>
          <p:nvPr>
            <p:ph idx="1"/>
          </p:nvPr>
        </p:nvPicPr>
        <p:blipFill>
          <a:blip r:embed="rId2"/>
          <a:srcRect/>
          <a:stretch>
            <a:fillRect/>
          </a:stretch>
        </p:blipFill>
        <p:spPr bwMode="auto">
          <a:xfrm>
            <a:off x="1752600" y="1447800"/>
            <a:ext cx="3657600" cy="3657600"/>
          </a:xfrm>
          <a:prstGeom prst="rect">
            <a:avLst/>
          </a:prstGeom>
          <a:noFill/>
          <a:ln w="9525">
            <a:noFill/>
            <a:miter lim="800000"/>
            <a:headEnd/>
            <a:tailEnd/>
          </a:ln>
          <a:effectLst/>
        </p:spPr>
      </p:pic>
      <p:sp>
        <p:nvSpPr>
          <p:cNvPr id="5" name="Rectangle 4"/>
          <p:cNvSpPr/>
          <p:nvPr/>
        </p:nvSpPr>
        <p:spPr>
          <a:xfrm>
            <a:off x="5638800" y="1447801"/>
            <a:ext cx="5257800" cy="4662815"/>
          </a:xfrm>
          <a:prstGeom prst="rect">
            <a:avLst/>
          </a:prstGeom>
        </p:spPr>
        <p:txBody>
          <a:bodyPr wrap="square">
            <a:spAutoFit/>
          </a:bodyPr>
          <a:lstStyle/>
          <a:p>
            <a:pPr>
              <a:lnSpc>
                <a:spcPct val="150000"/>
              </a:lnSpc>
              <a:buFont typeface="Wingdings" pitchFamily="2" charset="2"/>
              <a:buChar char="ü"/>
            </a:pPr>
            <a:r>
              <a:rPr lang="en-US" sz="2200" dirty="0">
                <a:latin typeface="Times New Roman" pitchFamily="18" charset="0"/>
                <a:cs typeface="Times New Roman" pitchFamily="18" charset="0"/>
              </a:rPr>
              <a:t>LED construction has also changed to make them more efficient. </a:t>
            </a:r>
          </a:p>
          <a:p>
            <a:pPr>
              <a:lnSpc>
                <a:spcPct val="150000"/>
              </a:lnSpc>
              <a:buFont typeface="Wingdings" pitchFamily="2" charset="2"/>
              <a:buChar char="ü"/>
            </a:pPr>
            <a:r>
              <a:rPr lang="en-US" sz="2200" dirty="0">
                <a:latin typeface="Times New Roman" pitchFamily="18" charset="0"/>
                <a:cs typeface="Times New Roman" pitchFamily="18" charset="0"/>
              </a:rPr>
              <a:t>The crystals forming early LED junctions were grown on light-absorbing </a:t>
            </a:r>
            <a:r>
              <a:rPr lang="en-US" sz="2200" b="1" dirty="0">
                <a:latin typeface="Times New Roman" pitchFamily="18" charset="0"/>
                <a:cs typeface="Times New Roman" pitchFamily="18" charset="0"/>
              </a:rPr>
              <a:t>substrate</a:t>
            </a:r>
            <a:r>
              <a:rPr lang="en-US" sz="2200" dirty="0">
                <a:latin typeface="Times New Roman" pitchFamily="18" charset="0"/>
                <a:cs typeface="Times New Roman" pitchFamily="18" charset="0"/>
              </a:rPr>
              <a:t> materials. </a:t>
            </a:r>
          </a:p>
          <a:p>
            <a:pPr>
              <a:lnSpc>
                <a:spcPct val="150000"/>
              </a:lnSpc>
              <a:buFont typeface="Wingdings" pitchFamily="2" charset="2"/>
              <a:buChar char="ü"/>
            </a:pPr>
            <a:r>
              <a:rPr lang="en-US" sz="2200" dirty="0">
                <a:latin typeface="Times New Roman" pitchFamily="18" charset="0"/>
                <a:cs typeface="Times New Roman" pitchFamily="18" charset="0"/>
              </a:rPr>
              <a:t>Using transparent substrates and optimizing the shape of the semiconducting element have increased the amount of light able to leave the device</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checkerboard(across)">
                                      <p:cBhvr>
                                        <p:cTn id="7" dur="10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1000" fill="hold"/>
                                        <p:tgtEl>
                                          <p:spTgt spid="5"/>
                                        </p:tgtEl>
                                        <p:attrNameLst>
                                          <p:attrName>ppt_x</p:attrName>
                                        </p:attrNameLst>
                                      </p:cBhvr>
                                      <p:tavLst>
                                        <p:tav tm="0">
                                          <p:val>
                                            <p:strVal val="#ppt_x"/>
                                          </p:val>
                                        </p:tav>
                                        <p:tav tm="100000">
                                          <p:val>
                                            <p:strVal val="#ppt_x"/>
                                          </p:val>
                                        </p:tav>
                                      </p:tavLst>
                                    </p:anim>
                                    <p:anim calcmode="lin" valueType="num">
                                      <p:cBhvr additive="base">
                                        <p:cTn id="13"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chemeClr val="tx1">
                    <a:lumMod val="65000"/>
                    <a:lumOff val="35000"/>
                  </a:schemeClr>
                </a:solidFill>
                <a:effectLst>
                  <a:outerShdw blurRad="38100" dist="38100" dir="2700000" algn="tl">
                    <a:srgbClr val="000000">
                      <a:alpha val="43137"/>
                    </a:srgbClr>
                  </a:outerShdw>
                </a:effectLst>
                <a:latin typeface="Times New Roman" pitchFamily="18" charset="0"/>
                <a:cs typeface="Times New Roman" pitchFamily="18" charset="0"/>
              </a:rPr>
              <a:t>Kinds of LEDs</a:t>
            </a:r>
            <a:endParaRPr lang="en-US" sz="3200" dirty="0">
              <a:solidFill>
                <a:schemeClr val="tx1">
                  <a:lumMod val="65000"/>
                  <a:lumOff val="35000"/>
                </a:schemeClr>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4" name="Picture 4"/>
          <p:cNvPicPr>
            <a:picLocks noGrp="1" noChangeAspect="1" noChangeArrowheads="1"/>
          </p:cNvPicPr>
          <p:nvPr>
            <p:ph idx="1"/>
          </p:nvPr>
        </p:nvPicPr>
        <p:blipFill>
          <a:blip r:embed="rId2"/>
          <a:srcRect/>
          <a:stretch>
            <a:fillRect/>
          </a:stretch>
        </p:blipFill>
        <p:spPr bwMode="auto">
          <a:xfrm>
            <a:off x="2262667" y="1767390"/>
            <a:ext cx="7666667" cy="4191585"/>
          </a:xfrm>
          <a:prstGeom prst="rect">
            <a:avLst/>
          </a:prstGeom>
          <a:noFill/>
          <a:ln w="9525">
            <a:noFill/>
            <a:miter lim="800000"/>
            <a:headEnd/>
            <a:tailEnd/>
          </a:ln>
        </p:spPr>
      </p:pic>
    </p:spTree>
  </p:cSld>
  <p:clrMapOvr>
    <a:masterClrMapping/>
  </p:clrMapOvr>
  <p:transition>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55638"/>
            <a:ext cx="8229600" cy="868362"/>
          </a:xfrm>
        </p:spPr>
        <p:txBody>
          <a:bodyPr>
            <a:noAutofit/>
          </a:bodyPr>
          <a:lstStyle/>
          <a:p>
            <a:r>
              <a:rPr lang="en-US" sz="3200" b="1" dirty="0">
                <a:solidFill>
                  <a:schemeClr val="accent6"/>
                </a:solidFill>
                <a:effectLst>
                  <a:outerShdw blurRad="38100" dist="38100" dir="2700000" algn="tl">
                    <a:srgbClr val="000000">
                      <a:alpha val="43137"/>
                    </a:srgbClr>
                  </a:outerShdw>
                </a:effectLst>
                <a:latin typeface="Times New Roman" pitchFamily="18" charset="0"/>
                <a:cs typeface="Times New Roman" pitchFamily="18" charset="0"/>
              </a:rPr>
              <a:t>How are LEDs packaged into systems for lighting applications?</a:t>
            </a:r>
            <a:br>
              <a:rPr lang="en-US" sz="3200" b="1" dirty="0">
                <a:solidFill>
                  <a:schemeClr val="accent6"/>
                </a:solidFill>
                <a:effectLst>
                  <a:outerShdw blurRad="38100" dist="38100" dir="2700000" algn="tl">
                    <a:srgbClr val="000000">
                      <a:alpha val="43137"/>
                    </a:srgbClr>
                  </a:outerShdw>
                </a:effectLst>
                <a:latin typeface="Times New Roman" pitchFamily="18" charset="0"/>
                <a:cs typeface="Times New Roman" pitchFamily="18" charset="0"/>
              </a:rPr>
            </a:br>
            <a:endParaRPr lang="en-US" sz="3200" dirty="0">
              <a:solidFill>
                <a:schemeClr val="accent6"/>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6146" name="Picture 2" descr="C:\Users\admin\Desktop\6.JPG"/>
          <p:cNvPicPr>
            <a:picLocks noGrp="1" noChangeAspect="1" noChangeArrowheads="1"/>
          </p:cNvPicPr>
          <p:nvPr>
            <p:ph idx="1"/>
          </p:nvPr>
        </p:nvPicPr>
        <p:blipFill>
          <a:blip r:embed="rId2"/>
          <a:srcRect/>
          <a:stretch>
            <a:fillRect/>
          </a:stretch>
        </p:blipFill>
        <p:spPr bwMode="auto">
          <a:xfrm>
            <a:off x="3429001" y="1905000"/>
            <a:ext cx="5562600" cy="3810000"/>
          </a:xfrm>
          <a:prstGeom prst="rect">
            <a:avLst/>
          </a:prstGeom>
          <a:noFill/>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checkerboard(across)">
                                      <p:cBhvr>
                                        <p:cTn id="7" dur="10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85800"/>
            <a:ext cx="8229600" cy="1143000"/>
          </a:xfrm>
        </p:spPr>
        <p:txBody>
          <a:bodyPr>
            <a:normAutofit/>
          </a:bodyPr>
          <a:lstStyle/>
          <a:p>
            <a:r>
              <a:rPr lang="en-US" sz="3200" b="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Features &amp; Benefits of LED</a:t>
            </a:r>
            <a:br>
              <a:rPr lang="en-US" sz="3200" b="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br>
            <a:endParaRPr lang="en-US" sz="3200"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1981200" y="1722438"/>
            <a:ext cx="8229600" cy="5135563"/>
          </a:xfrm>
        </p:spPr>
        <p:txBody>
          <a:bodyPr>
            <a:noAutofit/>
          </a:bodyPr>
          <a:lstStyle/>
          <a:p>
            <a:pPr marL="514350" indent="-514350">
              <a:lnSpc>
                <a:spcPct val="160000"/>
              </a:lnSpc>
              <a:spcBef>
                <a:spcPts val="0"/>
              </a:spcBef>
              <a:buFont typeface="Wingdings" pitchFamily="2" charset="2"/>
              <a:buChar char="q"/>
            </a:pPr>
            <a:r>
              <a:rPr lang="en-US" sz="2200" dirty="0">
                <a:latin typeface="Times New Roman" pitchFamily="18" charset="0"/>
                <a:cs typeface="Times New Roman" pitchFamily="18" charset="0"/>
              </a:rPr>
              <a:t>LED’s are extremely efficient low energy light sources.</a:t>
            </a:r>
          </a:p>
          <a:p>
            <a:pPr marL="514350" indent="-514350">
              <a:lnSpc>
                <a:spcPct val="160000"/>
              </a:lnSpc>
              <a:spcBef>
                <a:spcPts val="0"/>
              </a:spcBef>
              <a:buFont typeface="Wingdings" pitchFamily="2" charset="2"/>
              <a:buChar char="q"/>
            </a:pPr>
            <a:r>
              <a:rPr lang="en-US" sz="2200" dirty="0">
                <a:latin typeface="Times New Roman" pitchFamily="18" charset="0"/>
                <a:cs typeface="Times New Roman" pitchFamily="18" charset="0"/>
              </a:rPr>
              <a:t>In 2005 white LED’s had reached outputs of over 30 lumens/Watt and coloured versions 50 lumens/Watt. </a:t>
            </a:r>
          </a:p>
          <a:p>
            <a:pPr marL="514350" indent="-514350">
              <a:lnSpc>
                <a:spcPct val="160000"/>
              </a:lnSpc>
              <a:spcBef>
                <a:spcPts val="0"/>
              </a:spcBef>
              <a:buFont typeface="Wingdings" pitchFamily="2" charset="2"/>
              <a:buChar char="q"/>
            </a:pPr>
            <a:r>
              <a:rPr lang="en-US" sz="2200" dirty="0">
                <a:latin typeface="Times New Roman" pitchFamily="18" charset="0"/>
                <a:cs typeface="Times New Roman" pitchFamily="18" charset="0"/>
              </a:rPr>
              <a:t>The light gains continue to grow, doubling about every two years.</a:t>
            </a:r>
          </a:p>
          <a:p>
            <a:pPr marL="514350" indent="-514350">
              <a:lnSpc>
                <a:spcPct val="160000"/>
              </a:lnSpc>
              <a:spcBef>
                <a:spcPts val="0"/>
              </a:spcBef>
              <a:buFont typeface="Wingdings" pitchFamily="2" charset="2"/>
              <a:buChar char="q"/>
            </a:pPr>
            <a:r>
              <a:rPr lang="en-US" sz="2200" dirty="0">
                <a:latin typeface="Times New Roman" pitchFamily="18" charset="0"/>
                <a:cs typeface="Times New Roman" pitchFamily="18" charset="0"/>
              </a:rPr>
              <a:t>Long operational life of up to 50,000 hours.</a:t>
            </a:r>
          </a:p>
          <a:p>
            <a:pPr marL="514350" indent="-514350">
              <a:lnSpc>
                <a:spcPct val="160000"/>
              </a:lnSpc>
              <a:spcBef>
                <a:spcPts val="0"/>
              </a:spcBef>
              <a:buFont typeface="Wingdings" pitchFamily="2" charset="2"/>
              <a:buChar char="q"/>
            </a:pPr>
            <a:r>
              <a:rPr lang="en-US" sz="2200" dirty="0">
                <a:latin typeface="Times New Roman" pitchFamily="18" charset="0"/>
                <a:cs typeface="Times New Roman" pitchFamily="18" charset="0"/>
              </a:rPr>
              <a:t>Compact light source, no other lamp possesses such small dimensions for a comparative light output.</a:t>
            </a:r>
          </a:p>
          <a:p>
            <a:pPr marL="514350" indent="-514350">
              <a:lnSpc>
                <a:spcPct val="160000"/>
              </a:lnSpc>
              <a:spcBef>
                <a:spcPts val="0"/>
              </a:spcBef>
              <a:buNone/>
            </a:pPr>
            <a:endParaRPr lang="en-US" sz="2200" dirty="0">
              <a:latin typeface="Times New Roman" pitchFamily="18" charset="0"/>
              <a:cs typeface="Times New Roman" pitchFamily="18" charset="0"/>
            </a:endParaRPr>
          </a:p>
        </p:txBody>
      </p:sp>
    </p:spTree>
  </p:cSld>
  <p:clrMapOvr>
    <a:masterClrMapping/>
  </p:clrMapOvr>
  <p:transition>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Features &amp; Benefits of LED</a:t>
            </a:r>
            <a:br>
              <a:rPr lang="en-US" sz="3200" b="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br>
            <a:endParaRPr lang="en-US" sz="3200" dirty="0">
              <a:solidFill>
                <a:schemeClr val="accent3">
                  <a:lumMod val="75000"/>
                </a:schemeClr>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marL="514350" indent="-514350">
              <a:lnSpc>
                <a:spcPct val="150000"/>
              </a:lnSpc>
              <a:spcBef>
                <a:spcPts val="0"/>
              </a:spcBef>
              <a:buFont typeface="Wingdings" pitchFamily="2" charset="2"/>
              <a:buChar char="q"/>
            </a:pPr>
            <a:r>
              <a:rPr lang="en-US" sz="2200" dirty="0">
                <a:latin typeface="Times New Roman" pitchFamily="18" charset="0"/>
                <a:cs typeface="Times New Roman" pitchFamily="18" charset="0"/>
              </a:rPr>
              <a:t>LED’s do not emit ultraviolet (UV) or infrared (IR) radiation. They do not radiate heat in the direction of the illuminated object, they can therefore be used to illuminate materials that fade easily, food, works of art etc.</a:t>
            </a:r>
          </a:p>
          <a:p>
            <a:pPr marL="514350" indent="-514350">
              <a:lnSpc>
                <a:spcPct val="150000"/>
              </a:lnSpc>
              <a:spcBef>
                <a:spcPts val="0"/>
              </a:spcBef>
              <a:buFont typeface="Wingdings" pitchFamily="2" charset="2"/>
              <a:buChar char="q"/>
            </a:pPr>
            <a:r>
              <a:rPr lang="en-US" sz="2200" dirty="0">
                <a:latin typeface="Times New Roman" pitchFamily="18" charset="0"/>
                <a:cs typeface="Times New Roman" pitchFamily="18" charset="0"/>
              </a:rPr>
              <a:t>LED’s are durable against impact and vibration.</a:t>
            </a:r>
          </a:p>
          <a:p>
            <a:pPr marL="514350" indent="-514350">
              <a:lnSpc>
                <a:spcPct val="150000"/>
              </a:lnSpc>
              <a:spcBef>
                <a:spcPts val="0"/>
              </a:spcBef>
              <a:buFont typeface="Wingdings" pitchFamily="2" charset="2"/>
              <a:buChar char="q"/>
            </a:pPr>
            <a:r>
              <a:rPr lang="en-US" sz="2200" dirty="0">
                <a:latin typeface="Times New Roman" pitchFamily="18" charset="0"/>
                <a:cs typeface="Times New Roman" pitchFamily="18" charset="0"/>
              </a:rPr>
              <a:t>LED’s can be dimmed.</a:t>
            </a:r>
          </a:p>
          <a:p>
            <a:pPr marL="514350" indent="-514350">
              <a:lnSpc>
                <a:spcPct val="150000"/>
              </a:lnSpc>
              <a:spcBef>
                <a:spcPts val="0"/>
              </a:spcBef>
              <a:buFont typeface="Wingdings" pitchFamily="2" charset="2"/>
              <a:buChar char="q"/>
            </a:pPr>
            <a:r>
              <a:rPr lang="en-US" sz="2200" dirty="0">
                <a:latin typeface="Times New Roman" pitchFamily="18" charset="0"/>
                <a:cs typeface="Times New Roman" pitchFamily="18" charset="0"/>
              </a:rPr>
              <a:t>Coloured light can be produced effectively - over 16 million </a:t>
            </a:r>
            <a:r>
              <a:rPr lang="en-US" sz="2200" dirty="0" err="1">
                <a:latin typeface="Times New Roman" pitchFamily="18" charset="0"/>
                <a:cs typeface="Times New Roman" pitchFamily="18" charset="0"/>
              </a:rPr>
              <a:t>colours</a:t>
            </a:r>
            <a:r>
              <a:rPr lang="en-US" sz="2200" dirty="0">
                <a:latin typeface="Times New Roman" pitchFamily="18" charset="0"/>
                <a:cs typeface="Times New Roman" pitchFamily="18" charset="0"/>
              </a:rPr>
              <a:t>.</a:t>
            </a:r>
          </a:p>
          <a:p>
            <a:pPr>
              <a:lnSpc>
                <a:spcPct val="150000"/>
              </a:lnSpc>
              <a:buNone/>
            </a:pPr>
            <a:endParaRPr lang="en-US" sz="2200" dirty="0"/>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Common Application</a:t>
            </a:r>
          </a:p>
        </p:txBody>
      </p:sp>
      <p:sp>
        <p:nvSpPr>
          <p:cNvPr id="3" name="Content Placeholder 2"/>
          <p:cNvSpPr>
            <a:spLocks noGrp="1"/>
          </p:cNvSpPr>
          <p:nvPr>
            <p:ph idx="1"/>
          </p:nvPr>
        </p:nvSpPr>
        <p:spPr>
          <a:xfrm>
            <a:off x="1981200" y="1295400"/>
            <a:ext cx="8229600" cy="5257800"/>
          </a:xfrm>
        </p:spPr>
        <p:txBody>
          <a:bodyPr>
            <a:noAutofit/>
          </a:bodyPr>
          <a:lstStyle/>
          <a:p>
            <a:pPr>
              <a:lnSpc>
                <a:spcPct val="120000"/>
              </a:lnSpc>
              <a:spcBef>
                <a:spcPts val="0"/>
              </a:spcBef>
              <a:buNone/>
            </a:pPr>
            <a:r>
              <a:rPr lang="en-US" sz="2000" dirty="0">
                <a:latin typeface="Times New Roman" pitchFamily="18" charset="0"/>
                <a:cs typeface="Times New Roman" pitchFamily="18" charset="0"/>
              </a:rPr>
              <a:t>	- Display lighting - compact displays are possible with low operating temperatures</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Display case, museum and shop lighting - illumination of sensitive objects at close range with ultraviolet (UV) and infrared(IR) free light</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Underwater lighting - low voltage supply for safety and low maintenance</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Outside lighting - coloured effects to enhance outdoor spaces</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Sign lighting - strips of LED’s can be used to light signage in many different </a:t>
            </a:r>
            <a:r>
              <a:rPr lang="en-US" sz="2000" dirty="0" err="1">
                <a:latin typeface="Times New Roman" pitchFamily="18" charset="0"/>
                <a:cs typeface="Times New Roman" pitchFamily="18" charset="0"/>
              </a:rPr>
              <a:t>colours</a:t>
            </a: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Low level lighting - LED </a:t>
            </a:r>
            <a:r>
              <a:rPr lang="en-US" sz="2000" dirty="0" err="1">
                <a:latin typeface="Times New Roman" pitchFamily="18" charset="0"/>
                <a:cs typeface="Times New Roman" pitchFamily="18" charset="0"/>
              </a:rPr>
              <a:t>luminaires</a:t>
            </a:r>
            <a:r>
              <a:rPr lang="en-US" sz="2000" dirty="0">
                <a:latin typeface="Times New Roman" pitchFamily="18" charset="0"/>
                <a:cs typeface="Times New Roman" pitchFamily="18" charset="0"/>
              </a:rPr>
              <a:t> are cool to touch and are therefore suitable for us in domestic situations where children may come into contact with them</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Architectural detail lighting.</a:t>
            </a:r>
          </a:p>
          <a:p>
            <a:pPr>
              <a:lnSpc>
                <a:spcPct val="120000"/>
              </a:lnSpc>
              <a:spcBef>
                <a:spcPts val="0"/>
              </a:spcBef>
              <a:buNone/>
            </a:pPr>
            <a:r>
              <a:rPr lang="en-US" sz="2000" dirty="0">
                <a:latin typeface="Times New Roman" pitchFamily="18" charset="0"/>
                <a:cs typeface="Times New Roman" pitchFamily="18" charset="0"/>
              </a:rPr>
              <a:t>	 - LED’s can be used in applications which traditionally used neon or cold cathode.</a:t>
            </a:r>
          </a:p>
        </p:txBody>
      </p:sp>
    </p:spTree>
  </p:cSld>
  <p:clrMapOvr>
    <a:masterClrMapping/>
  </p:clrMapOvr>
  <p:transition>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dmin\Desktop\1.jpg"/>
          <p:cNvPicPr>
            <a:picLocks noChangeAspect="1" noChangeArrowheads="1"/>
          </p:cNvPicPr>
          <p:nvPr/>
        </p:nvPicPr>
        <p:blipFill>
          <a:blip r:embed="rId2"/>
          <a:srcRect/>
          <a:stretch>
            <a:fillRect/>
          </a:stretch>
        </p:blipFill>
        <p:spPr bwMode="auto">
          <a:xfrm>
            <a:off x="1905000" y="228600"/>
            <a:ext cx="3962400" cy="3200400"/>
          </a:xfrm>
          <a:prstGeom prst="rect">
            <a:avLst/>
          </a:prstGeom>
          <a:noFill/>
        </p:spPr>
      </p:pic>
      <p:pic>
        <p:nvPicPr>
          <p:cNvPr id="1027" name="Picture 3" descr="C:\Users\admin\Desktop\2.jpg"/>
          <p:cNvPicPr>
            <a:picLocks noChangeAspect="1" noChangeArrowheads="1"/>
          </p:cNvPicPr>
          <p:nvPr/>
        </p:nvPicPr>
        <p:blipFill>
          <a:blip r:embed="rId3"/>
          <a:srcRect/>
          <a:stretch>
            <a:fillRect/>
          </a:stretch>
        </p:blipFill>
        <p:spPr bwMode="auto">
          <a:xfrm>
            <a:off x="6248400" y="228600"/>
            <a:ext cx="3962400" cy="3200400"/>
          </a:xfrm>
          <a:prstGeom prst="rect">
            <a:avLst/>
          </a:prstGeom>
          <a:noFill/>
        </p:spPr>
      </p:pic>
      <p:pic>
        <p:nvPicPr>
          <p:cNvPr id="1028" name="Picture 4" descr="C:\Users\admin\Desktop\3.jpg"/>
          <p:cNvPicPr>
            <a:picLocks noGrp="1" noChangeAspect="1" noChangeArrowheads="1"/>
          </p:cNvPicPr>
          <p:nvPr>
            <p:ph idx="1"/>
          </p:nvPr>
        </p:nvPicPr>
        <p:blipFill>
          <a:blip r:embed="rId4"/>
          <a:srcRect/>
          <a:stretch>
            <a:fillRect/>
          </a:stretch>
        </p:blipFill>
        <p:spPr bwMode="auto">
          <a:xfrm>
            <a:off x="1905000" y="3657600"/>
            <a:ext cx="4038600" cy="2819400"/>
          </a:xfrm>
          <a:prstGeom prst="rect">
            <a:avLst/>
          </a:prstGeom>
          <a:noFill/>
        </p:spPr>
      </p:pic>
      <p:pic>
        <p:nvPicPr>
          <p:cNvPr id="1029" name="Picture 5" descr="C:\Users\admin\Desktop\4.jpg"/>
          <p:cNvPicPr>
            <a:picLocks noChangeAspect="1" noChangeArrowheads="1"/>
          </p:cNvPicPr>
          <p:nvPr/>
        </p:nvPicPr>
        <p:blipFill>
          <a:blip r:embed="rId5"/>
          <a:srcRect/>
          <a:stretch>
            <a:fillRect/>
          </a:stretch>
        </p:blipFill>
        <p:spPr bwMode="auto">
          <a:xfrm>
            <a:off x="6248400" y="3657600"/>
            <a:ext cx="3962400" cy="28194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checkerboard(across)">
                                      <p:cBhvr>
                                        <p:cTn id="7" dur="10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5" fill="hold" nodeType="clickEffect">
                                  <p:stCondLst>
                                    <p:cond delay="0"/>
                                  </p:stCondLst>
                                  <p:childTnLst>
                                    <p:set>
                                      <p:cBhvr>
                                        <p:cTn id="11" dur="1" fill="hold">
                                          <p:stCondLst>
                                            <p:cond delay="0"/>
                                          </p:stCondLst>
                                        </p:cTn>
                                        <p:tgtEl>
                                          <p:spTgt spid="1027"/>
                                        </p:tgtEl>
                                        <p:attrNameLst>
                                          <p:attrName>style.visibility</p:attrName>
                                        </p:attrNameLst>
                                      </p:cBhvr>
                                      <p:to>
                                        <p:strVal val="visible"/>
                                      </p:to>
                                    </p:set>
                                    <p:animEffect transition="in" filter="checkerboard(down)">
                                      <p:cBhvr>
                                        <p:cTn id="12" dur="1000"/>
                                        <p:tgtEl>
                                          <p:spTgt spid="102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028"/>
                                        </p:tgtEl>
                                        <p:attrNameLst>
                                          <p:attrName>style.visibility</p:attrName>
                                        </p:attrNameLst>
                                      </p:cBhvr>
                                      <p:to>
                                        <p:strVal val="visible"/>
                                      </p:to>
                                    </p:set>
                                    <p:animEffect transition="in" filter="checkerboard(across)">
                                      <p:cBhvr>
                                        <p:cTn id="17" dur="1000"/>
                                        <p:tgtEl>
                                          <p:spTgt spid="102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5" fill="hold" nodeType="clickEffect">
                                  <p:stCondLst>
                                    <p:cond delay="0"/>
                                  </p:stCondLst>
                                  <p:childTnLst>
                                    <p:set>
                                      <p:cBhvr>
                                        <p:cTn id="21" dur="1" fill="hold">
                                          <p:stCondLst>
                                            <p:cond delay="0"/>
                                          </p:stCondLst>
                                        </p:cTn>
                                        <p:tgtEl>
                                          <p:spTgt spid="1029"/>
                                        </p:tgtEl>
                                        <p:attrNameLst>
                                          <p:attrName>style.visibility</p:attrName>
                                        </p:attrNameLst>
                                      </p:cBhvr>
                                      <p:to>
                                        <p:strVal val="visible"/>
                                      </p:to>
                                    </p:set>
                                    <p:animEffect transition="in" filter="checkerboard(down)">
                                      <p:cBhvr>
                                        <p:cTn id="22" dur="1000"/>
                                        <p:tgtEl>
                                          <p:spTgt spid="1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descr="C:\Users\admin\Desktop\5.jpg"/>
          <p:cNvPicPr>
            <a:picLocks noChangeAspect="1" noChangeArrowheads="1"/>
          </p:cNvPicPr>
          <p:nvPr/>
        </p:nvPicPr>
        <p:blipFill>
          <a:blip r:embed="rId2"/>
          <a:srcRect/>
          <a:stretch>
            <a:fillRect/>
          </a:stretch>
        </p:blipFill>
        <p:spPr bwMode="auto">
          <a:xfrm>
            <a:off x="1981200" y="304800"/>
            <a:ext cx="4038600" cy="3048000"/>
          </a:xfrm>
          <a:prstGeom prst="rect">
            <a:avLst/>
          </a:prstGeom>
          <a:noFill/>
        </p:spPr>
      </p:pic>
      <p:pic>
        <p:nvPicPr>
          <p:cNvPr id="2051" name="Picture 3" descr="C:\Users\admin\Desktop\6.jpg"/>
          <p:cNvPicPr>
            <a:picLocks noChangeAspect="1" noChangeArrowheads="1"/>
          </p:cNvPicPr>
          <p:nvPr/>
        </p:nvPicPr>
        <p:blipFill>
          <a:blip r:embed="rId3"/>
          <a:srcRect/>
          <a:stretch>
            <a:fillRect/>
          </a:stretch>
        </p:blipFill>
        <p:spPr bwMode="auto">
          <a:xfrm>
            <a:off x="6324600" y="304800"/>
            <a:ext cx="3886200" cy="3048000"/>
          </a:xfrm>
          <a:prstGeom prst="rect">
            <a:avLst/>
          </a:prstGeom>
          <a:noFill/>
        </p:spPr>
      </p:pic>
      <p:pic>
        <p:nvPicPr>
          <p:cNvPr id="2052" name="Picture 4" descr="C:\Users\admin\Desktop\7.jpg"/>
          <p:cNvPicPr>
            <a:picLocks noChangeAspect="1" noChangeArrowheads="1"/>
          </p:cNvPicPr>
          <p:nvPr/>
        </p:nvPicPr>
        <p:blipFill>
          <a:blip r:embed="rId4"/>
          <a:srcRect/>
          <a:stretch>
            <a:fillRect/>
          </a:stretch>
        </p:blipFill>
        <p:spPr bwMode="auto">
          <a:xfrm>
            <a:off x="1981200" y="3657600"/>
            <a:ext cx="4038600" cy="2819400"/>
          </a:xfrm>
          <a:prstGeom prst="rect">
            <a:avLst/>
          </a:prstGeom>
          <a:noFill/>
        </p:spPr>
      </p:pic>
      <p:pic>
        <p:nvPicPr>
          <p:cNvPr id="2053" name="Picture 5" descr="C:\Users\admin\Desktop\8.jpg"/>
          <p:cNvPicPr>
            <a:picLocks noChangeAspect="1" noChangeArrowheads="1"/>
          </p:cNvPicPr>
          <p:nvPr/>
        </p:nvPicPr>
        <p:blipFill>
          <a:blip r:embed="rId5"/>
          <a:srcRect/>
          <a:stretch>
            <a:fillRect/>
          </a:stretch>
        </p:blipFill>
        <p:spPr bwMode="auto">
          <a:xfrm>
            <a:off x="6400800" y="3733800"/>
            <a:ext cx="3810000" cy="27432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checkerboard(down)">
                                      <p:cBhvr>
                                        <p:cTn id="7" dur="10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051"/>
                                        </p:tgtEl>
                                        <p:attrNameLst>
                                          <p:attrName>style.visibility</p:attrName>
                                        </p:attrNameLst>
                                      </p:cBhvr>
                                      <p:to>
                                        <p:strVal val="visible"/>
                                      </p:to>
                                    </p:set>
                                    <p:animEffect transition="in" filter="checkerboard(across)">
                                      <p:cBhvr>
                                        <p:cTn id="12" dur="1000"/>
                                        <p:tgtEl>
                                          <p:spTgt spid="205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5" fill="hold" nodeType="clickEffect">
                                  <p:stCondLst>
                                    <p:cond delay="0"/>
                                  </p:stCondLst>
                                  <p:childTnLst>
                                    <p:set>
                                      <p:cBhvr>
                                        <p:cTn id="16" dur="1" fill="hold">
                                          <p:stCondLst>
                                            <p:cond delay="0"/>
                                          </p:stCondLst>
                                        </p:cTn>
                                        <p:tgtEl>
                                          <p:spTgt spid="2052"/>
                                        </p:tgtEl>
                                        <p:attrNameLst>
                                          <p:attrName>style.visibility</p:attrName>
                                        </p:attrNameLst>
                                      </p:cBhvr>
                                      <p:to>
                                        <p:strVal val="visible"/>
                                      </p:to>
                                    </p:set>
                                    <p:animEffect transition="in" filter="checkerboard(down)">
                                      <p:cBhvr>
                                        <p:cTn id="17" dur="1000"/>
                                        <p:tgtEl>
                                          <p:spTgt spid="205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053"/>
                                        </p:tgtEl>
                                        <p:attrNameLst>
                                          <p:attrName>style.visibility</p:attrName>
                                        </p:attrNameLst>
                                      </p:cBhvr>
                                      <p:to>
                                        <p:strVal val="visible"/>
                                      </p:to>
                                    </p:set>
                                    <p:animEffect transition="in" filter="checkerboard(across)">
                                      <p:cBhvr>
                                        <p:cTn id="22" dur="1000"/>
                                        <p:tgtEl>
                                          <p:spTgt spid="2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Summary</a:t>
            </a:r>
          </a:p>
        </p:txBody>
      </p:sp>
      <p:sp>
        <p:nvSpPr>
          <p:cNvPr id="3" name="Content Placeholder 2"/>
          <p:cNvSpPr>
            <a:spLocks noGrp="1"/>
          </p:cNvSpPr>
          <p:nvPr>
            <p:ph idx="1"/>
          </p:nvPr>
        </p:nvSpPr>
        <p:spPr>
          <a:xfrm>
            <a:off x="825137" y="1603557"/>
            <a:ext cx="10515600" cy="4351338"/>
          </a:xfrm>
        </p:spPr>
        <p:txBody>
          <a:bodyPr/>
          <a:lstStyle/>
          <a:p>
            <a:pPr>
              <a:buFont typeface="Wingdings" pitchFamily="2" charset="2"/>
              <a:buChar char="ü"/>
            </a:pPr>
            <a:r>
              <a:rPr lang="en-US" dirty="0"/>
              <a:t>Introduction to Visible LEDs.</a:t>
            </a:r>
          </a:p>
          <a:p>
            <a:pPr>
              <a:buFont typeface="Wingdings" pitchFamily="2" charset="2"/>
              <a:buChar char="ü"/>
            </a:pPr>
            <a:r>
              <a:rPr lang="en-US" dirty="0"/>
              <a:t>Various types of LEDs.</a:t>
            </a:r>
          </a:p>
          <a:p>
            <a:pPr>
              <a:buFont typeface="Wingdings" pitchFamily="2" charset="2"/>
              <a:buChar char="ü"/>
            </a:pPr>
            <a:r>
              <a:rPr lang="en-US" dirty="0"/>
              <a:t>Electrical and V-I Characteristics of visible LED.</a:t>
            </a:r>
          </a:p>
          <a:p>
            <a:pPr>
              <a:buFont typeface="Wingdings" pitchFamily="2" charset="2"/>
              <a:buChar char="ü"/>
            </a:pPr>
            <a:r>
              <a:rPr lang="en-US" dirty="0"/>
              <a:t>How to connect a LED.</a:t>
            </a:r>
          </a:p>
          <a:p>
            <a:pPr>
              <a:buFont typeface="Wingdings" pitchFamily="2" charset="2"/>
              <a:buChar char="ü"/>
            </a:pPr>
            <a:r>
              <a:rPr lang="en-US" dirty="0"/>
              <a:t>Features and Applications of Visible LEDs and Displays.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Frequently Asked Questions</a:t>
            </a:r>
          </a:p>
        </p:txBody>
      </p:sp>
      <p:sp>
        <p:nvSpPr>
          <p:cNvPr id="3" name="Content Placeholder 2"/>
          <p:cNvSpPr>
            <a:spLocks noGrp="1"/>
          </p:cNvSpPr>
          <p:nvPr>
            <p:ph idx="1"/>
          </p:nvPr>
        </p:nvSpPr>
        <p:spPr/>
        <p:txBody>
          <a:bodyPr/>
          <a:lstStyle/>
          <a:p>
            <a:pPr algn="just">
              <a:buFont typeface="Wingdings" pitchFamily="2" charset="2"/>
              <a:buChar char="q"/>
            </a:pPr>
            <a:r>
              <a:rPr lang="en-US" dirty="0"/>
              <a:t>What is the working principle of LED?</a:t>
            </a:r>
          </a:p>
          <a:p>
            <a:pPr algn="just">
              <a:buFont typeface="Wingdings" pitchFamily="2" charset="2"/>
              <a:buChar char="q"/>
            </a:pPr>
            <a:r>
              <a:rPr lang="en-US" dirty="0"/>
              <a:t>Give the example of different colored LEDs.</a:t>
            </a:r>
          </a:p>
          <a:p>
            <a:pPr algn="just">
              <a:buFont typeface="Wingdings" pitchFamily="2" charset="2"/>
              <a:buChar char="q"/>
            </a:pPr>
            <a:r>
              <a:rPr lang="en-US" dirty="0"/>
              <a:t>How to make 7 segment display?</a:t>
            </a:r>
          </a:p>
          <a:p>
            <a:pPr algn="just">
              <a:buFont typeface="Wingdings" pitchFamily="2" charset="2"/>
              <a:buChar char="q"/>
            </a:pPr>
            <a:r>
              <a:rPr lang="en-US" dirty="0"/>
              <a:t>Define construction of LED.</a:t>
            </a:r>
          </a:p>
          <a:p>
            <a:pPr algn="just">
              <a:buFont typeface="Wingdings" pitchFamily="2" charset="2"/>
              <a:buChar char="q"/>
            </a:pPr>
            <a:r>
              <a:rPr lang="en-US" dirty="0"/>
              <a:t>What are the applications of LEDs?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1" y="1028702"/>
            <a:ext cx="5778500" cy="4873625"/>
          </a:xfrm>
        </p:spPr>
        <p:txBody>
          <a:bodyPr>
            <a:normAutofit/>
          </a:bodyPr>
          <a:lstStyle/>
          <a:p>
            <a:pPr marL="0" indent="0">
              <a:buNone/>
            </a:pPr>
            <a:r>
              <a:rPr lang="en-IN" sz="2800" dirty="0">
                <a:latin typeface="Times New Roman" pitchFamily="18" charset="0"/>
                <a:cs typeface="Times New Roman" pitchFamily="18" charset="0"/>
              </a:rPr>
              <a:t> </a:t>
            </a:r>
            <a:r>
              <a:rPr lang="en-IN" sz="2800" dirty="0">
                <a:latin typeface="Casper"/>
                <a:cs typeface="Times New Roman" pitchFamily="18" charset="0"/>
              </a:rPr>
              <a:t>To make students understand</a:t>
            </a:r>
          </a:p>
          <a:p>
            <a:r>
              <a:rPr lang="en-US" sz="2800" dirty="0">
                <a:latin typeface="Casper"/>
              </a:rPr>
              <a:t> Concepts of visible LED and relate them to practical engineering systems.</a:t>
            </a:r>
          </a:p>
          <a:p>
            <a:endParaRPr lang="en-US" sz="2800" dirty="0">
              <a:latin typeface="Casper"/>
            </a:endParaRPr>
          </a:p>
          <a:p>
            <a:r>
              <a:rPr lang="en-US" sz="2800" dirty="0">
                <a:latin typeface="Casper"/>
              </a:rPr>
              <a:t>Importance of light spectrum.</a:t>
            </a:r>
          </a:p>
          <a:p>
            <a:endParaRPr lang="en-US" sz="2800" dirty="0">
              <a:latin typeface="Casper"/>
            </a:endParaRPr>
          </a:p>
          <a:p>
            <a:r>
              <a:rPr lang="en-US" sz="2800" dirty="0">
                <a:latin typeface="Casper"/>
              </a:rPr>
              <a:t>Understanding of electrical characteristics of LEDs.</a:t>
            </a:r>
          </a:p>
          <a:p>
            <a:endParaRPr lang="en-US" sz="2400" dirty="0">
              <a:latin typeface="Times New Roman" pitchFamily="18" charset="0"/>
              <a:cs typeface="Times New Roman" pitchFamily="18" charset="0"/>
            </a:endParaRPr>
          </a:p>
          <a:p>
            <a:endParaRPr lang="en-US" sz="2400" dirty="0"/>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2"/>
            <a:ext cx="2743200" cy="365125"/>
          </a:xfrm>
        </p:spPr>
        <p:txBody>
          <a:bodyPr/>
          <a:lstStyle/>
          <a:p>
            <a:fld id="{BDCDBBEF-AA6C-4BA6-85B2-A17D7F280E38}" type="slidenum">
              <a:rPr lang="en-US" smtClean="0"/>
              <a:pPr/>
              <a:t>33</a:t>
            </a:fld>
            <a:endParaRPr lang="en-US" dirty="0"/>
          </a:p>
        </p:txBody>
      </p:sp>
      <p:sp>
        <p:nvSpPr>
          <p:cNvPr id="8" name="Title 7"/>
          <p:cNvSpPr txBox="1">
            <a:spLocks noGrp="1" noChangeArrowheads="1"/>
          </p:cNvSpPr>
          <p:nvPr>
            <p:ph type="title"/>
          </p:nvPr>
        </p:nvSpPr>
        <p:spPr bwMode="auto">
          <a:xfrm>
            <a:off x="383949" y="1681522"/>
            <a:ext cx="4456567" cy="19205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ea typeface="Karla" pitchFamily="2" charset="0"/>
                <a:cs typeface="Karla" pitchFamily="2" charset="0"/>
              </a:rPr>
              <a:t>LEARNING OUTCOMES</a:t>
            </a:r>
            <a:br>
              <a:rPr lang="en-US" sz="4400" b="1" dirty="0">
                <a:latin typeface="Casper"/>
                <a:ea typeface="Karla" pitchFamily="2" charset="0"/>
                <a:cs typeface="Karla" pitchFamily="2" charset="0"/>
              </a:rPr>
            </a:br>
            <a:endParaRPr lang="en-US" sz="4400" dirty="0">
              <a:latin typeface="Casper"/>
            </a:endParaRPr>
          </a:p>
        </p:txBody>
      </p:sp>
      <p:sp>
        <p:nvSpPr>
          <p:cNvPr id="2" name="Rectangle 1"/>
          <p:cNvSpPr/>
          <p:nvPr/>
        </p:nvSpPr>
        <p:spPr>
          <a:xfrm>
            <a:off x="5295900" y="511627"/>
            <a:ext cx="5867400" cy="58369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7" y="6324602"/>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5"/>
          <p:cNvPicPr>
            <a:picLocks noChangeAspect="1" noChangeArrowheads="1"/>
          </p:cNvPicPr>
          <p:nvPr/>
        </p:nvPicPr>
        <p:blipFill>
          <a:blip r:embed="rId2" cstate="print"/>
          <a:srcRect/>
          <a:stretch>
            <a:fillRect/>
          </a:stretch>
        </p:blipFill>
        <p:spPr bwMode="auto">
          <a:xfrm>
            <a:off x="304800" y="304801"/>
            <a:ext cx="812800" cy="976065"/>
          </a:xfrm>
          <a:prstGeom prst="rect">
            <a:avLst/>
          </a:prstGeom>
          <a:noFill/>
          <a:ln w="9525">
            <a:noFill/>
            <a:miter lim="800000"/>
            <a:headEnd/>
            <a:tailEnd/>
          </a:ln>
        </p:spPr>
      </p:pic>
    </p:spTree>
    <p:extLst>
      <p:ext uri="{BB962C8B-B14F-4D97-AF65-F5344CB8AC3E}">
        <p14:creationId xmlns:p14="http://schemas.microsoft.com/office/powerpoint/2010/main" xmlns="" val="6938015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Course Outcome to Program Outcome Relationship</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34</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xmlns="" val="78537422"/>
              </p:ext>
            </p:extLst>
          </p:nvPr>
        </p:nvGraphicFramePr>
        <p:xfrm>
          <a:off x="352693" y="1750431"/>
          <a:ext cx="10907489" cy="4650372"/>
        </p:xfrm>
        <a:graphic>
          <a:graphicData uri="http://schemas.openxmlformats.org/drawingml/2006/table">
            <a:tbl>
              <a:tblPr/>
              <a:tblGrid>
                <a:gridCol w="753222">
                  <a:extLst>
                    <a:ext uri="{9D8B030D-6E8A-4147-A177-3AD203B41FA5}">
                      <a16:colId xmlns:a16="http://schemas.microsoft.com/office/drawing/2014/main" xmlns="" val="20000"/>
                    </a:ext>
                  </a:extLst>
                </a:gridCol>
                <a:gridCol w="506776">
                  <a:extLst>
                    <a:ext uri="{9D8B030D-6E8A-4147-A177-3AD203B41FA5}">
                      <a16:colId xmlns:a16="http://schemas.microsoft.com/office/drawing/2014/main" xmlns="" val="20001"/>
                    </a:ext>
                  </a:extLst>
                </a:gridCol>
                <a:gridCol w="629551">
                  <a:extLst>
                    <a:ext uri="{9D8B030D-6E8A-4147-A177-3AD203B41FA5}">
                      <a16:colId xmlns:a16="http://schemas.microsoft.com/office/drawing/2014/main" xmlns="" val="20002"/>
                    </a:ext>
                  </a:extLst>
                </a:gridCol>
                <a:gridCol w="629551">
                  <a:extLst>
                    <a:ext uri="{9D8B030D-6E8A-4147-A177-3AD203B41FA5}">
                      <a16:colId xmlns:a16="http://schemas.microsoft.com/office/drawing/2014/main" xmlns="" val="20003"/>
                    </a:ext>
                  </a:extLst>
                </a:gridCol>
                <a:gridCol w="630448">
                  <a:extLst>
                    <a:ext uri="{9D8B030D-6E8A-4147-A177-3AD203B41FA5}">
                      <a16:colId xmlns:a16="http://schemas.microsoft.com/office/drawing/2014/main" xmlns="" val="20004"/>
                    </a:ext>
                  </a:extLst>
                </a:gridCol>
                <a:gridCol w="630448">
                  <a:extLst>
                    <a:ext uri="{9D8B030D-6E8A-4147-A177-3AD203B41FA5}">
                      <a16:colId xmlns:a16="http://schemas.microsoft.com/office/drawing/2014/main" xmlns="" val="20005"/>
                    </a:ext>
                  </a:extLst>
                </a:gridCol>
                <a:gridCol w="631346">
                  <a:extLst>
                    <a:ext uri="{9D8B030D-6E8A-4147-A177-3AD203B41FA5}">
                      <a16:colId xmlns:a16="http://schemas.microsoft.com/office/drawing/2014/main" xmlns="" val="20006"/>
                    </a:ext>
                  </a:extLst>
                </a:gridCol>
                <a:gridCol w="631346">
                  <a:extLst>
                    <a:ext uri="{9D8B030D-6E8A-4147-A177-3AD203B41FA5}">
                      <a16:colId xmlns:a16="http://schemas.microsoft.com/office/drawing/2014/main" xmlns="" val="20007"/>
                    </a:ext>
                  </a:extLst>
                </a:gridCol>
                <a:gridCol w="631346">
                  <a:extLst>
                    <a:ext uri="{9D8B030D-6E8A-4147-A177-3AD203B41FA5}">
                      <a16:colId xmlns:a16="http://schemas.microsoft.com/office/drawing/2014/main" xmlns="" val="20008"/>
                    </a:ext>
                  </a:extLst>
                </a:gridCol>
                <a:gridCol w="631346">
                  <a:extLst>
                    <a:ext uri="{9D8B030D-6E8A-4147-A177-3AD203B41FA5}">
                      <a16:colId xmlns:a16="http://schemas.microsoft.com/office/drawing/2014/main" xmlns="" val="20009"/>
                    </a:ext>
                  </a:extLst>
                </a:gridCol>
                <a:gridCol w="802304">
                  <a:extLst>
                    <a:ext uri="{9D8B030D-6E8A-4147-A177-3AD203B41FA5}">
                      <a16:colId xmlns:a16="http://schemas.microsoft.com/office/drawing/2014/main" xmlns="" val="20010"/>
                    </a:ext>
                  </a:extLst>
                </a:gridCol>
                <a:gridCol w="766917">
                  <a:extLst>
                    <a:ext uri="{9D8B030D-6E8A-4147-A177-3AD203B41FA5}">
                      <a16:colId xmlns:a16="http://schemas.microsoft.com/office/drawing/2014/main" xmlns="" val="20011"/>
                    </a:ext>
                  </a:extLst>
                </a:gridCol>
                <a:gridCol w="758222">
                  <a:extLst>
                    <a:ext uri="{9D8B030D-6E8A-4147-A177-3AD203B41FA5}">
                      <a16:colId xmlns:a16="http://schemas.microsoft.com/office/drawing/2014/main" xmlns="" val="20012"/>
                    </a:ext>
                  </a:extLst>
                </a:gridCol>
                <a:gridCol w="758222">
                  <a:extLst>
                    <a:ext uri="{9D8B030D-6E8A-4147-A177-3AD203B41FA5}">
                      <a16:colId xmlns:a16="http://schemas.microsoft.com/office/drawing/2014/main" xmlns="" val="20013"/>
                    </a:ext>
                  </a:extLst>
                </a:gridCol>
                <a:gridCol w="758222">
                  <a:extLst>
                    <a:ext uri="{9D8B030D-6E8A-4147-A177-3AD203B41FA5}">
                      <a16:colId xmlns:a16="http://schemas.microsoft.com/office/drawing/2014/main" xmlns="" val="20014"/>
                    </a:ext>
                  </a:extLst>
                </a:gridCol>
                <a:gridCol w="758222">
                  <a:extLst>
                    <a:ext uri="{9D8B030D-6E8A-4147-A177-3AD203B41FA5}">
                      <a16:colId xmlns:a16="http://schemas.microsoft.com/office/drawing/2014/main" xmlns="" val="20015"/>
                    </a:ext>
                  </a:extLst>
                </a:gridCol>
              </a:tblGrid>
              <a:tr h="375590">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6">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     (21ELH-101) BEEE</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569971">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854956">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CO↓</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PO2</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PO4</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PO5</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PO6</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PO7</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PO8</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PO9</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PO11</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PO12</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latin typeface="Calibri"/>
                          <a:ea typeface="Calibri"/>
                          <a:cs typeface="Times New Roman"/>
                        </a:rPr>
                        <a:t>PSO1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latin typeface="Calibri"/>
                          <a:ea typeface="Calibri"/>
                          <a:cs typeface="Times New Roman"/>
                        </a:rPr>
                        <a:t>PSO2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latin typeface="Calibri"/>
                          <a:ea typeface="Calibri"/>
                          <a:cs typeface="Times New Roman"/>
                        </a:rPr>
                        <a:t>PSO3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569971">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3</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2</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1</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2</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569971">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CO2</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3</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2</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1</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2</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569971">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3</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2</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1</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2</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r h="569971">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CO4</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3</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2</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1</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2</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6"/>
                  </a:ext>
                </a:extLst>
              </a:tr>
              <a:tr h="569971">
                <a:tc>
                  <a:txBody>
                    <a:bodyPr/>
                    <a:lstStyle/>
                    <a:p>
                      <a:pPr marL="457200" marR="0" indent="-457200" algn="r">
                        <a:lnSpc>
                          <a:spcPct val="107000"/>
                        </a:lnSpc>
                        <a:spcBef>
                          <a:spcPts val="0"/>
                        </a:spcBef>
                        <a:spcAft>
                          <a:spcPts val="0"/>
                        </a:spcAft>
                      </a:pPr>
                      <a:r>
                        <a:rPr lang="en-US" sz="2000" b="1" dirty="0">
                          <a:latin typeface="Calibri"/>
                          <a:ea typeface="Calibri"/>
                          <a:cs typeface="Times New Roman"/>
                        </a:rPr>
                        <a:t>CO5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3</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2</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1</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a:solidFill>
                            <a:srgbClr val="000000"/>
                          </a:solidFill>
                          <a:effectLst/>
                          <a:latin typeface="Times New Roman" panose="02020603050405020304" pitchFamily="18" charset="0"/>
                          <a:ea typeface="Calibri" panose="020F0502020204030204" pitchFamily="34" charset="0"/>
                          <a:cs typeface="Raavi" panose="020B0502040204020203" pitchFamily="34" charset="0"/>
                        </a:rPr>
                        <a:t>2</a:t>
                      </a:r>
                      <a:endParaRPr lang="en-US" sz="2800" b="1">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0</a:t>
                      </a:r>
                      <a:endParaRPr lang="en-US" sz="2800" b="1" dirty="0">
                        <a:effectLst/>
                        <a:latin typeface="Calibri" panose="020F0502020204030204" pitchFamily="34" charset="0"/>
                        <a:ea typeface="Calibri" panose="020F0502020204030204" pitchFamily="34" charset="0"/>
                        <a:cs typeface="Raavi" panose="020B0502040204020203"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7"/>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550"/>
            <a:ext cx="10515600" cy="1325563"/>
          </a:xfrm>
        </p:spPr>
        <p:txBody>
          <a:bodyPr/>
          <a:lstStyle/>
          <a:p>
            <a:pPr algn="ctr"/>
            <a:r>
              <a:rPr lang="en-US" b="1" dirty="0"/>
              <a:t>Assessment Pattern</a:t>
            </a:r>
          </a:p>
        </p:txBody>
      </p:sp>
      <p:sp>
        <p:nvSpPr>
          <p:cNvPr id="3" name="Content Placeholder 2"/>
          <p:cNvSpPr>
            <a:spLocks noGrp="1"/>
          </p:cNvSpPr>
          <p:nvPr>
            <p:ph idx="1"/>
          </p:nvPr>
        </p:nvSpPr>
        <p:spPr>
          <a:xfrm>
            <a:off x="838199" y="1146352"/>
            <a:ext cx="10696303" cy="4940939"/>
          </a:xfrm>
        </p:spPr>
        <p:txBody>
          <a:bodyPr>
            <a:normAutofit/>
          </a:bodyPr>
          <a:lstStyle/>
          <a:p>
            <a:pPr marL="514350" indent="-514350">
              <a:buNone/>
            </a:pPr>
            <a:endParaRPr lang="en-US" dirty="0"/>
          </a:p>
          <a:p>
            <a:pPr marL="514350" indent="-514350">
              <a:buNone/>
            </a:pPr>
            <a:endParaRPr lang="en-US" dirty="0"/>
          </a:p>
          <a:p>
            <a:pPr marL="514350" indent="-514350">
              <a:buNone/>
            </a:pPr>
            <a:endParaRPr lang="en-US" dirty="0"/>
          </a:p>
          <a:p>
            <a:pPr marL="514350" indent="-514350">
              <a:buNone/>
            </a:pPr>
            <a:endParaRPr lang="en-US" dirty="0"/>
          </a:p>
          <a:p>
            <a:pPr marL="514350" indent="-514350">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35</a:t>
            </a:fld>
            <a:endParaRPr lang="en-US"/>
          </a:p>
        </p:txBody>
      </p:sp>
      <p:graphicFrame>
        <p:nvGraphicFramePr>
          <p:cNvPr id="5" name="Table 4"/>
          <p:cNvGraphicFramePr>
            <a:graphicFrameLocks noGrp="1"/>
          </p:cNvGraphicFramePr>
          <p:nvPr/>
        </p:nvGraphicFramePr>
        <p:xfrm>
          <a:off x="770711" y="1968136"/>
          <a:ext cx="10855229" cy="2115978"/>
        </p:xfrm>
        <a:graphic>
          <a:graphicData uri="http://schemas.openxmlformats.org/drawingml/2006/table">
            <a:tbl>
              <a:tblPr firstRow="1" bandRow="1">
                <a:tableStyleId>{073A0DAA-6AF3-43AB-8588-CEC1D06C72B9}</a:tableStyleId>
              </a:tblPr>
              <a:tblGrid>
                <a:gridCol w="1550747">
                  <a:extLst>
                    <a:ext uri="{9D8B030D-6E8A-4147-A177-3AD203B41FA5}">
                      <a16:colId xmlns:a16="http://schemas.microsoft.com/office/drawing/2014/main" xmlns="" val="20000"/>
                    </a:ext>
                  </a:extLst>
                </a:gridCol>
                <a:gridCol w="1550747">
                  <a:extLst>
                    <a:ext uri="{9D8B030D-6E8A-4147-A177-3AD203B41FA5}">
                      <a16:colId xmlns:a16="http://schemas.microsoft.com/office/drawing/2014/main" xmlns="" val="20001"/>
                    </a:ext>
                  </a:extLst>
                </a:gridCol>
                <a:gridCol w="1550747">
                  <a:extLst>
                    <a:ext uri="{9D8B030D-6E8A-4147-A177-3AD203B41FA5}">
                      <a16:colId xmlns:a16="http://schemas.microsoft.com/office/drawing/2014/main" xmlns="" val="20002"/>
                    </a:ext>
                  </a:extLst>
                </a:gridCol>
                <a:gridCol w="1550747">
                  <a:extLst>
                    <a:ext uri="{9D8B030D-6E8A-4147-A177-3AD203B41FA5}">
                      <a16:colId xmlns:a16="http://schemas.microsoft.com/office/drawing/2014/main" xmlns="" val="20003"/>
                    </a:ext>
                  </a:extLst>
                </a:gridCol>
                <a:gridCol w="1550747">
                  <a:extLst>
                    <a:ext uri="{9D8B030D-6E8A-4147-A177-3AD203B41FA5}">
                      <a16:colId xmlns:a16="http://schemas.microsoft.com/office/drawing/2014/main" xmlns="" val="20004"/>
                    </a:ext>
                  </a:extLst>
                </a:gridCol>
                <a:gridCol w="1550747">
                  <a:extLst>
                    <a:ext uri="{9D8B030D-6E8A-4147-A177-3AD203B41FA5}">
                      <a16:colId xmlns:a16="http://schemas.microsoft.com/office/drawing/2014/main" xmlns="" val="20005"/>
                    </a:ext>
                  </a:extLst>
                </a:gridCol>
                <a:gridCol w="1550747">
                  <a:extLst>
                    <a:ext uri="{9D8B030D-6E8A-4147-A177-3AD203B41FA5}">
                      <a16:colId xmlns:a16="http://schemas.microsoft.com/office/drawing/2014/main" xmlns="" val="20006"/>
                    </a:ext>
                  </a:extLst>
                </a:gridCol>
              </a:tblGrid>
              <a:tr h="1493725">
                <a:tc>
                  <a:txBody>
                    <a:bodyPr/>
                    <a:lstStyle/>
                    <a:p>
                      <a:pPr algn="ctr"/>
                      <a:r>
                        <a:rPr lang="en-US" dirty="0"/>
                        <a:t>     A</a:t>
                      </a:r>
                    </a:p>
                    <a:p>
                      <a:pPr algn="ctr"/>
                      <a:r>
                        <a:rPr lang="en-US" dirty="0"/>
                        <a:t>Assignment (each assignment)</a:t>
                      </a:r>
                    </a:p>
                  </a:txBody>
                  <a:tcPr/>
                </a:tc>
                <a:tc>
                  <a:txBody>
                    <a:bodyPr/>
                    <a:lstStyle/>
                    <a:p>
                      <a:pPr algn="ctr"/>
                      <a:r>
                        <a:rPr lang="en-US" dirty="0"/>
                        <a:t>   B</a:t>
                      </a:r>
                    </a:p>
                    <a:p>
                      <a:pPr algn="ctr"/>
                      <a:r>
                        <a:rPr lang="en-US" dirty="0"/>
                        <a:t>Time Bound Surprise</a:t>
                      </a:r>
                      <a:r>
                        <a:rPr lang="en-US" baseline="0" dirty="0"/>
                        <a:t> Test (each test)</a:t>
                      </a:r>
                      <a:endParaRPr lang="en-US" dirty="0"/>
                    </a:p>
                  </a:txBody>
                  <a:tcPr/>
                </a:tc>
                <a:tc>
                  <a:txBody>
                    <a:bodyPr/>
                    <a:lstStyle/>
                    <a:p>
                      <a:pPr algn="ctr"/>
                      <a:r>
                        <a:rPr lang="en-US" dirty="0"/>
                        <a:t>C</a:t>
                      </a:r>
                    </a:p>
                    <a:p>
                      <a:pPr algn="ctr"/>
                      <a:r>
                        <a:rPr lang="en-US" dirty="0"/>
                        <a:t>Quiz (each quiz)</a:t>
                      </a:r>
                    </a:p>
                  </a:txBody>
                  <a:tcPr/>
                </a:tc>
                <a:tc>
                  <a:txBody>
                    <a:bodyPr/>
                    <a:lstStyle/>
                    <a:p>
                      <a:pPr algn="ctr"/>
                      <a:r>
                        <a:rPr lang="en-US" dirty="0"/>
                        <a:t>   D</a:t>
                      </a:r>
                    </a:p>
                    <a:p>
                      <a:pPr algn="ctr"/>
                      <a:r>
                        <a:rPr lang="en-US" dirty="0"/>
                        <a:t>Mid</a:t>
                      </a:r>
                      <a:r>
                        <a:rPr lang="en-US" baseline="0" dirty="0"/>
                        <a:t> Semester Test(one per test)</a:t>
                      </a:r>
                      <a:endParaRPr lang="en-US" dirty="0"/>
                    </a:p>
                  </a:txBody>
                  <a:tcPr/>
                </a:tc>
                <a:tc>
                  <a:txBody>
                    <a:bodyPr/>
                    <a:lstStyle/>
                    <a:p>
                      <a:pPr algn="ctr"/>
                      <a:r>
                        <a:rPr lang="en-US" dirty="0"/>
                        <a:t>    E</a:t>
                      </a:r>
                    </a:p>
                    <a:p>
                      <a:pPr algn="ctr"/>
                      <a:r>
                        <a:rPr lang="en-US" dirty="0"/>
                        <a:t>Homework</a:t>
                      </a:r>
                    </a:p>
                  </a:txBody>
                  <a:tcPr/>
                </a:tc>
                <a:tc>
                  <a:txBody>
                    <a:bodyPr/>
                    <a:lstStyle/>
                    <a:p>
                      <a:pPr algn="ctr"/>
                      <a:r>
                        <a:rPr lang="en-US" dirty="0"/>
                        <a:t>     F</a:t>
                      </a:r>
                    </a:p>
                    <a:p>
                      <a:pPr algn="ctr"/>
                      <a:r>
                        <a:rPr lang="en-US" dirty="0"/>
                        <a:t>Discussion Forums</a:t>
                      </a:r>
                    </a:p>
                  </a:txBody>
                  <a:tcPr/>
                </a:tc>
                <a:tc>
                  <a:txBody>
                    <a:bodyPr/>
                    <a:lstStyle/>
                    <a:p>
                      <a:pPr algn="ctr"/>
                      <a:r>
                        <a:rPr lang="en-US" dirty="0"/>
                        <a:t>    G</a:t>
                      </a:r>
                    </a:p>
                    <a:p>
                      <a:pPr marL="0" marR="0" indent="0" algn="ctr" defTabSz="914400" rtl="0" eaLnBrk="1" fontAlgn="auto" latinLnBrk="0" hangingPunct="1">
                        <a:lnSpc>
                          <a:spcPct val="100000"/>
                        </a:lnSpc>
                        <a:spcBef>
                          <a:spcPts val="0"/>
                        </a:spcBef>
                        <a:spcAft>
                          <a:spcPts val="0"/>
                        </a:spcAft>
                        <a:buClrTx/>
                        <a:buSzTx/>
                        <a:buFontTx/>
                        <a:buNone/>
                        <a:tabLst/>
                        <a:defRPr/>
                      </a:pPr>
                      <a:r>
                        <a:rPr lang="en-US" dirty="0"/>
                        <a:t>Attendance and  engagement Score on BB</a:t>
                      </a:r>
                    </a:p>
                    <a:p>
                      <a:pPr algn="ctr"/>
                      <a:endParaRPr lang="en-US" dirty="0"/>
                    </a:p>
                  </a:txBody>
                  <a:tcPr/>
                </a:tc>
                <a:extLst>
                  <a:ext uri="{0D108BD9-81ED-4DB2-BD59-A6C34878D82A}">
                    <a16:rowId xmlns:a16="http://schemas.microsoft.com/office/drawing/2014/main" xmlns="" val="10000"/>
                  </a:ext>
                </a:extLst>
              </a:tr>
              <a:tr h="378618">
                <a:tc>
                  <a:txBody>
                    <a:bodyPr/>
                    <a:lstStyle/>
                    <a:p>
                      <a:pPr algn="ctr"/>
                      <a:r>
                        <a:rPr lang="en-US" dirty="0"/>
                        <a:t>10</a:t>
                      </a:r>
                    </a:p>
                  </a:txBody>
                  <a:tcPr/>
                </a:tc>
                <a:tc>
                  <a:txBody>
                    <a:bodyPr/>
                    <a:lstStyle/>
                    <a:p>
                      <a:pPr algn="ctr"/>
                      <a:r>
                        <a:rPr lang="en-US" dirty="0"/>
                        <a:t>   12</a:t>
                      </a:r>
                    </a:p>
                  </a:txBody>
                  <a:tcPr/>
                </a:tc>
                <a:tc>
                  <a:txBody>
                    <a:bodyPr/>
                    <a:lstStyle/>
                    <a:p>
                      <a:pPr algn="ctr"/>
                      <a:r>
                        <a:rPr lang="en-US" dirty="0"/>
                        <a:t>4</a:t>
                      </a:r>
                    </a:p>
                  </a:txBody>
                  <a:tcPr/>
                </a:tc>
                <a:tc>
                  <a:txBody>
                    <a:bodyPr/>
                    <a:lstStyle/>
                    <a:p>
                      <a:pPr algn="ctr"/>
                      <a:r>
                        <a:rPr lang="en-US" dirty="0"/>
                        <a:t>   20</a:t>
                      </a:r>
                    </a:p>
                  </a:txBody>
                  <a:tcPr/>
                </a:tc>
                <a:tc>
                  <a:txBody>
                    <a:bodyPr/>
                    <a:lstStyle/>
                    <a:p>
                      <a:pPr algn="ctr"/>
                      <a:r>
                        <a:rPr lang="en-US" dirty="0"/>
                        <a:t>NA</a:t>
                      </a:r>
                    </a:p>
                  </a:txBody>
                  <a:tcPr/>
                </a:tc>
                <a:tc>
                  <a:txBody>
                    <a:bodyPr/>
                    <a:lstStyle/>
                    <a:p>
                      <a:pPr algn="ctr"/>
                      <a:r>
                        <a:rPr lang="en-US" dirty="0"/>
                        <a:t>    NA</a:t>
                      </a:r>
                    </a:p>
                  </a:txBody>
                  <a:tcPr/>
                </a:tc>
                <a:tc>
                  <a:txBody>
                    <a:bodyPr/>
                    <a:lstStyle/>
                    <a:p>
                      <a:pPr algn="ctr"/>
                      <a:r>
                        <a:rPr lang="en-US" dirty="0"/>
                        <a:t>    2</a:t>
                      </a:r>
                    </a:p>
                  </a:txBody>
                  <a:tcPr/>
                </a:tc>
                <a:extLst>
                  <a:ext uri="{0D108BD9-81ED-4DB2-BD59-A6C34878D82A}">
                    <a16:rowId xmlns:a16="http://schemas.microsoft.com/office/drawing/2014/main" xmlns="" val="1000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References</a:t>
            </a:r>
          </a:p>
        </p:txBody>
      </p:sp>
      <p:sp>
        <p:nvSpPr>
          <p:cNvPr id="3" name="Content Placeholder 2"/>
          <p:cNvSpPr>
            <a:spLocks noGrp="1"/>
          </p:cNvSpPr>
          <p:nvPr>
            <p:ph idx="1"/>
          </p:nvPr>
        </p:nvSpPr>
        <p:spPr>
          <a:xfrm>
            <a:off x="785948" y="1603556"/>
            <a:ext cx="10515600" cy="4351338"/>
          </a:xfrm>
        </p:spPr>
        <p:txBody>
          <a:bodyPr>
            <a:normAutofit fontScale="92500" lnSpcReduction="10000"/>
          </a:bodyPr>
          <a:lstStyle/>
          <a:p>
            <a:pPr marL="457200" marR="53975" indent="0" algn="just">
              <a:spcBef>
                <a:spcPts val="0"/>
              </a:spcBef>
              <a:spcAft>
                <a:spcPts val="0"/>
              </a:spcAft>
              <a:buNone/>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Text Books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53975" lvl="0" indent="-342900" algn="just">
              <a:spcBef>
                <a:spcPts val="0"/>
              </a:spcBef>
              <a:spcAft>
                <a:spcPts val="0"/>
              </a:spcAft>
              <a:buSzPts val="1400"/>
              <a:buFont typeface="+mj-lt"/>
              <a:buAutoNum type="arabicPeriod"/>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Semi-Conductor Physics &amp; devices- Basic Principles, </a:t>
            </a:r>
            <a:r>
              <a:rPr lang="en-IN" sz="2400" dirty="0" err="1">
                <a:effectLst/>
                <a:latin typeface="Times New Roman" panose="02020603050405020304" pitchFamily="18" charset="0"/>
                <a:ea typeface="Calibri" panose="020F0502020204030204" pitchFamily="34" charset="0"/>
                <a:cs typeface="Times New Roman" panose="02020603050405020304" pitchFamily="18" charset="0"/>
              </a:rPr>
              <a:t>Donald.A</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Maemen,4</a:t>
            </a:r>
            <a:r>
              <a:rPr lang="en-IN" sz="24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Edition, </a:t>
            </a:r>
            <a:r>
              <a:rPr lang="en-IN" sz="2400" dirty="0" err="1">
                <a:effectLst/>
                <a:latin typeface="Times New Roman" panose="02020603050405020304" pitchFamily="18" charset="0"/>
                <a:ea typeface="Calibri" panose="020F0502020204030204" pitchFamily="34" charset="0"/>
                <a:cs typeface="Times New Roman" panose="02020603050405020304" pitchFamily="18" charset="0"/>
              </a:rPr>
              <a:t>MacGraw</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Hill,2021.</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53975" lvl="0" indent="-342900" algn="just">
              <a:spcBef>
                <a:spcPts val="0"/>
              </a:spcBef>
              <a:spcAft>
                <a:spcPts val="0"/>
              </a:spcAft>
              <a:buSzPts val="1400"/>
              <a:buFont typeface="+mj-lt"/>
              <a:buAutoNum type="arabicPeriod"/>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Physics of Semiconductor Devices By Pearson, </a:t>
            </a:r>
            <a:r>
              <a:rPr lang="en-IN" sz="2400" dirty="0" err="1">
                <a:effectLst/>
                <a:latin typeface="Times New Roman" panose="02020603050405020304" pitchFamily="18" charset="0"/>
                <a:ea typeface="Calibri" panose="020F0502020204030204" pitchFamily="34" charset="0"/>
                <a:cs typeface="Times New Roman" panose="02020603050405020304" pitchFamily="18" charset="0"/>
              </a:rPr>
              <a:t>M.Shur</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4</a:t>
            </a:r>
            <a:r>
              <a:rPr lang="en-IN" sz="24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Edition , Pearson.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53975" lvl="0" indent="-342900" algn="just">
              <a:spcBef>
                <a:spcPts val="0"/>
              </a:spcBef>
              <a:spcAft>
                <a:spcPts val="0"/>
              </a:spcAft>
              <a:buSzPts val="1400"/>
              <a:buFont typeface="+mj-lt"/>
              <a:buAutoNum type="arabicPeriod"/>
            </a:pPr>
            <a:r>
              <a:rPr lang="en-IN" sz="2400" dirty="0">
                <a:solidFill>
                  <a:srgbClr val="0F1111"/>
                </a:solidFill>
                <a:effectLst/>
                <a:latin typeface="Times New Roman" panose="02020603050405020304" pitchFamily="18" charset="0"/>
                <a:ea typeface="Calibri" panose="020F0502020204030204" pitchFamily="34" charset="0"/>
                <a:cs typeface="Times New Roman" panose="02020603050405020304" pitchFamily="18" charset="0"/>
              </a:rPr>
              <a:t>Principles Of Physics, </a:t>
            </a:r>
            <a:r>
              <a:rPr lang="en-US" sz="2400" dirty="0">
                <a:solidFill>
                  <a:srgbClr val="0F1111"/>
                </a:solidFill>
                <a:effectLst/>
                <a:latin typeface="Times New Roman" panose="02020603050405020304" pitchFamily="18" charset="0"/>
                <a:ea typeface="Calibri" panose="020F0502020204030204" pitchFamily="34" charset="0"/>
                <a:cs typeface="Times New Roman" panose="02020603050405020304" pitchFamily="18" charset="0"/>
              </a:rPr>
              <a:t>Robert Resnick Jearl Walker, David Holliday 10</a:t>
            </a:r>
            <a:r>
              <a:rPr lang="en-US" sz="2400" baseline="30000" dirty="0">
                <a:solidFill>
                  <a:srgbClr val="0F1111"/>
                </a:solidFill>
                <a:effectLst/>
                <a:latin typeface="Times New Roman" panose="02020603050405020304" pitchFamily="18" charset="0"/>
                <a:ea typeface="Calibri" panose="020F0502020204030204" pitchFamily="34" charset="0"/>
                <a:cs typeface="Times New Roman" panose="02020603050405020304" pitchFamily="18" charset="0"/>
              </a:rPr>
              <a:t>th</a:t>
            </a:r>
            <a:r>
              <a:rPr lang="en-US" sz="2400" dirty="0">
                <a:solidFill>
                  <a:srgbClr val="0F1111"/>
                </a:solidFill>
                <a:effectLst/>
                <a:latin typeface="Times New Roman" panose="02020603050405020304" pitchFamily="18" charset="0"/>
                <a:ea typeface="Calibri" panose="020F0502020204030204" pitchFamily="34" charset="0"/>
                <a:cs typeface="Times New Roman" panose="02020603050405020304" pitchFamily="18" charset="0"/>
              </a:rPr>
              <a:t> Edition 2015.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53975" lvl="0" indent="-342900" algn="just">
              <a:spcBef>
                <a:spcPts val="0"/>
              </a:spcBef>
              <a:spcAft>
                <a:spcPts val="0"/>
              </a:spcAft>
              <a:buSzPts val="1400"/>
              <a:buFont typeface="+mj-lt"/>
              <a:buAutoNum type="arabicPeriod"/>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Battery Reference book, Thomas Crompton, </a:t>
            </a:r>
            <a:r>
              <a:rPr lang="en-IN" sz="2400" dirty="0" err="1">
                <a:effectLst/>
                <a:latin typeface="Times New Roman" panose="02020603050405020304" pitchFamily="18" charset="0"/>
                <a:ea typeface="Calibri" panose="020F0502020204030204" pitchFamily="34" charset="0"/>
                <a:cs typeface="Times New Roman" panose="02020603050405020304" pitchFamily="18" charset="0"/>
              </a:rPr>
              <a:t>Newnes</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3rd edition,2000.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53975" algn="just">
              <a:spcBef>
                <a:spcPts val="0"/>
              </a:spcBef>
              <a:spcAft>
                <a:spcPts val="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53975" indent="0" algn="just">
              <a:spcBef>
                <a:spcPts val="0"/>
              </a:spcBef>
              <a:spcAft>
                <a:spcPts val="0"/>
              </a:spcAft>
              <a:buNone/>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Reference Books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53975" lvl="0" indent="-342900" algn="just">
              <a:spcBef>
                <a:spcPts val="0"/>
              </a:spcBef>
              <a:spcAft>
                <a:spcPts val="0"/>
              </a:spcAft>
              <a:buSzPts val="1400"/>
              <a:buFont typeface="+mj-lt"/>
              <a:buAutoNum type="arabicPeriod"/>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Semiconductor Devices, </a:t>
            </a:r>
            <a:r>
              <a:rPr lang="en-IN" sz="2400" dirty="0" err="1">
                <a:effectLst/>
                <a:latin typeface="Times New Roman" panose="02020603050405020304" pitchFamily="18" charset="0"/>
                <a:ea typeface="Calibri" panose="020F0502020204030204" pitchFamily="34" charset="0"/>
                <a:cs typeface="Times New Roman" panose="02020603050405020304" pitchFamily="18" charset="0"/>
              </a:rPr>
              <a:t>S.Szee,Ming-Kwel</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Lee,3</a:t>
            </a:r>
            <a:r>
              <a:rPr lang="en-IN" sz="2400" baseline="30000" dirty="0">
                <a:effectLst/>
                <a:latin typeface="Times New Roman" panose="02020603050405020304" pitchFamily="18" charset="0"/>
                <a:ea typeface="Calibri" panose="020F0502020204030204" pitchFamily="34" charset="0"/>
                <a:cs typeface="Times New Roman" panose="02020603050405020304" pitchFamily="18" charset="0"/>
              </a:rPr>
              <a:t>rd</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Edition,Wiley,2021.</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53975" lvl="0" indent="-342900" algn="just">
              <a:spcBef>
                <a:spcPts val="0"/>
              </a:spcBef>
              <a:spcAft>
                <a:spcPts val="0"/>
              </a:spcAft>
              <a:buSzPts val="1400"/>
              <a:buFont typeface="+mj-lt"/>
              <a:buAutoNum type="arabicPeriod"/>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Semiconductor Devices, Physics and </a:t>
            </a:r>
            <a:r>
              <a:rPr lang="en-IN" sz="2400" dirty="0" err="1">
                <a:effectLst/>
                <a:latin typeface="Times New Roman" panose="02020603050405020304" pitchFamily="18" charset="0"/>
                <a:ea typeface="Calibri" panose="020F0502020204030204" pitchFamily="34" charset="0"/>
                <a:cs typeface="Times New Roman" panose="02020603050405020304" pitchFamily="18" charset="0"/>
              </a:rPr>
              <a:t>Tech.S.Szee</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Ming-</a:t>
            </a:r>
            <a:r>
              <a:rPr lang="en-IN" sz="2400" dirty="0" err="1">
                <a:effectLst/>
                <a:latin typeface="Times New Roman" panose="02020603050405020304" pitchFamily="18" charset="0"/>
                <a:ea typeface="Calibri" panose="020F0502020204030204" pitchFamily="34" charset="0"/>
                <a:cs typeface="Times New Roman" panose="02020603050405020304" pitchFamily="18" charset="0"/>
              </a:rPr>
              <a:t>Kwel</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Lee,3</a:t>
            </a:r>
            <a:r>
              <a:rPr lang="en-IN" sz="2400" baseline="30000" dirty="0">
                <a:effectLst/>
                <a:latin typeface="Times New Roman" panose="02020603050405020304" pitchFamily="18" charset="0"/>
                <a:ea typeface="Calibri" panose="020F0502020204030204" pitchFamily="34" charset="0"/>
                <a:cs typeface="Times New Roman" panose="02020603050405020304" pitchFamily="18" charset="0"/>
              </a:rPr>
              <a:t>rd</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dirty="0" err="1">
                <a:effectLst/>
                <a:latin typeface="Times New Roman" panose="02020603050405020304" pitchFamily="18" charset="0"/>
                <a:ea typeface="Calibri" panose="020F0502020204030204" pitchFamily="34" charset="0"/>
                <a:cs typeface="Times New Roman" panose="02020603050405020304" pitchFamily="18" charset="0"/>
              </a:rPr>
              <a:t>Edition,Wiley</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2015.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53975" lvl="0" indent="-342900" algn="just">
              <a:spcBef>
                <a:spcPts val="0"/>
              </a:spcBef>
              <a:spcAft>
                <a:spcPts val="0"/>
              </a:spcAft>
              <a:buSzPts val="1400"/>
              <a:buFont typeface="+mj-lt"/>
              <a:buAutoNum type="arabicPeriod"/>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Principles of Electronics, VK Mehta, Rohit Mehta, 12th Edition, S. Chand Publishing, 2014.</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53975" lvl="0" indent="-342900" algn="just">
              <a:spcBef>
                <a:spcPts val="0"/>
              </a:spcBef>
              <a:spcAft>
                <a:spcPts val="0"/>
              </a:spcAft>
              <a:buSzPts val="1400"/>
              <a:buFont typeface="+mj-lt"/>
              <a:buAutoNum type="arabicPeriod"/>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Solid State Electronic Devices, Ben Streetman and Sanjay Banerjee, Seventh Edition, Pearson Education India, 2015.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37</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UID" val="{0E2DCEFA-CE10-41FF-AD08-D8937F9F8661}"/>
  <p:tag name="ISPRING_RESOURCE_FOLDER" val="D:\BEEE 2021 ODD SEM\Theory\UNIT-1\PPTS\Lecture 1\"/>
  <p:tag name="ISPRING_PRESENTATION_PATH" val="D:\BEEE 2021 ODD SEM\Theory\UNIT-1\PPTS\Lecture 1.pptx"/>
  <p:tag name="ISPRING_PROJECT_VERSION" val="9.32"/>
  <p:tag name="ISPRING_PROJECT_FOLDER_UPDATED"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2238</TotalTime>
  <Words>1482</Words>
  <Application>Microsoft Office PowerPoint</Application>
  <PresentationFormat>Custom</PresentationFormat>
  <Paragraphs>316</Paragraphs>
  <Slides>37</Slides>
  <Notes>1</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37</vt:i4>
      </vt:variant>
    </vt:vector>
  </HeadingPairs>
  <TitlesOfParts>
    <vt:vector size="40" baseType="lpstr">
      <vt:lpstr>1_Office Theme</vt:lpstr>
      <vt:lpstr>Contents Slide Master</vt:lpstr>
      <vt:lpstr>CorelDRAW</vt:lpstr>
      <vt:lpstr>Slide 1</vt:lpstr>
      <vt:lpstr>Lecture Objectives</vt:lpstr>
      <vt:lpstr>Course Objectives</vt:lpstr>
      <vt:lpstr>Course Outcomes</vt:lpstr>
      <vt:lpstr>Content   </vt:lpstr>
      <vt:lpstr>Introduction to LEDs</vt:lpstr>
      <vt:lpstr>Introduction to LEDs</vt:lpstr>
      <vt:lpstr>Introduction to LEDs</vt:lpstr>
      <vt:lpstr>             Introduction to LEDs</vt:lpstr>
      <vt:lpstr>What is an LED?</vt:lpstr>
      <vt:lpstr>How LED Works?</vt:lpstr>
      <vt:lpstr>How LED Works?</vt:lpstr>
      <vt:lpstr>How LED Works?</vt:lpstr>
      <vt:lpstr>How LED Works?</vt:lpstr>
      <vt:lpstr>Energy band diagram of LED</vt:lpstr>
      <vt:lpstr>LED Construction</vt:lpstr>
      <vt:lpstr>How to Connect a LED?</vt:lpstr>
      <vt:lpstr>Electrical characteristics of LEDs</vt:lpstr>
      <vt:lpstr>What Determines the color of the LED</vt:lpstr>
      <vt:lpstr>How much light do LEDs produce? </vt:lpstr>
      <vt:lpstr>How much light do LEDs produce? </vt:lpstr>
      <vt:lpstr>V-I Characteristics of LED</vt:lpstr>
      <vt:lpstr>What now makes LEDs suitable for illumination applications? </vt:lpstr>
      <vt:lpstr>Kinds of LEDs</vt:lpstr>
      <vt:lpstr>How are LEDs packaged into systems for lighting applications? </vt:lpstr>
      <vt:lpstr>Features &amp; Benefits of LED </vt:lpstr>
      <vt:lpstr>Features &amp; Benefits of LED </vt:lpstr>
      <vt:lpstr>Common Application</vt:lpstr>
      <vt:lpstr>Slide 29</vt:lpstr>
      <vt:lpstr>Slide 30</vt:lpstr>
      <vt:lpstr>Summary</vt:lpstr>
      <vt:lpstr>Frequently Asked Questions</vt:lpstr>
      <vt:lpstr>LEARNING OUTCOMES </vt:lpstr>
      <vt:lpstr>Course Outcome to Program Outcome Relationship</vt:lpstr>
      <vt:lpstr>Assessment Pattern</vt:lpstr>
      <vt:lpstr>References</vt:lpstr>
      <vt:lpstr>Slide 37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Acer</cp:lastModifiedBy>
  <cp:revision>211</cp:revision>
  <dcterms:created xsi:type="dcterms:W3CDTF">2019-01-09T10:33:58Z</dcterms:created>
  <dcterms:modified xsi:type="dcterms:W3CDTF">2023-06-21T06:15:44Z</dcterms:modified>
</cp:coreProperties>
</file>