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slideLayouts/slideLayout19.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theme/theme3.xml" ContentType="application/vnd.openxmlformats-officedocument.theme+xml"/>
  <Override PartName="/ppt/slides/slide2.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15.xml" ContentType="application/vnd.openxmlformats-officedocument.presentationml.slideLayout+xml"/>
  <Override PartName="/ppt/slideLayouts/slideLayout26.xml" ContentType="application/vnd.openxmlformats-officedocument.presentationml.slideLayout+xml"/>
  <Override PartName="/ppt/tags/tag2.xml" ContentType="application/vnd.openxmlformats-officedocument.presentationml.tags+xml"/>
  <Default Extension="rels" ContentType="application/vnd.openxmlformats-package.relationships+xml"/>
  <Default Extension="xml" ContentType="application/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3.xml" ContentType="application/vnd.openxmlformats-officedocument.presentationml.slideLayout+xml"/>
  <Override PartName="/ppt/slideLayouts/slideLayout22.xml" ContentType="application/vnd.openxmlformats-officedocument.presentationml.slideLayout+xml"/>
  <Override PartName="/ppt/slideLayouts/slideLayout24.xml" ContentType="application/vnd.openxmlformats-officedocument.presentationml.slideLayout+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Default Extension="wdp" ContentType="image/vnd.ms-photo"/>
  <Override PartName="/ppt/slideLayouts/slideLayout10.xml" ContentType="application/vnd.openxmlformats-officedocument.presentationml.slideLayout+xml"/>
  <Default Extension="vml" ContentType="application/vnd.openxmlformats-officedocument.vmlDrawing"/>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handoutMasters/handoutMaster1.xml" ContentType="application/vnd.openxmlformats-officedocument.presentationml.handoutMaster+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Masters/slideMaster2.xml" ContentType="application/vnd.openxmlformats-officedocument.presentationml.slideMaster+xml"/>
  <Override PartName="/ppt/slides/slide5.xml" ContentType="application/vnd.openxmlformats-officedocument.presentationml.slide+xml"/>
  <Override PartName="/ppt/slideLayouts/slideLayout7.xml" ContentType="application/vnd.openxmlformats-officedocument.presentationml.slideLayout+xml"/>
  <Default Extension="png" ContentType="image/png"/>
  <Override PartName="/ppt/theme/theme4.xml" ContentType="application/vnd.openxmlformats-officedocument.theme+xml"/>
  <Override PartName="/ppt/notesSlides/notesSlide1.xml" ContentType="application/vnd.openxmlformats-officedocument.presentationml.notesSlide+xml"/>
  <Default Extension="bin" ContentType="application/vnd.openxmlformats-officedocument.oleObject"/>
  <Override PartName="/ppt/slides/slide3.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Layouts/slideLayout3.xml" ContentType="application/vnd.openxmlformats-officedocument.presentationml.slideLayout+xml"/>
  <Override PartName="/ppt/slideLayouts/slideLayout16.xml" ContentType="application/vnd.openxmlformats-officedocument.presentationml.slideLayout+xml"/>
  <Override PartName="/ppt/slideLayouts/slideLayout25.xml" ContentType="application/vnd.openxmlformats-officedocument.presentationml.slideLayout+xml"/>
  <Default Extension="jpeg" ContentType="image/jpeg"/>
  <Default Extension="emf" ContentType="image/x-emf"/>
  <Override PartName="/ppt/tags/tag3.xml" ContentType="application/vnd.openxmlformats-officedocument.presentationml.tags+xml"/>
  <Override PartName="/ppt/presentation.xml" ContentType="application/vnd.openxmlformats-officedocument.presentationml.presentation.main+xml"/>
  <Override PartName="/ppt/slides/slide13.xml" ContentType="application/vnd.openxmlformats-officedocument.presentationml.slide+xml"/>
  <Override PartName="/ppt/tags/tag1.xml" ContentType="application/vnd.openxmlformats-officedocument.presentationml.tags+xml"/>
  <Override PartName="/ppt/slideLayouts/slideLayout1.xml" ContentType="application/vnd.openxmlformats-officedocument.presentationml.slideLayout+xml"/>
  <Override PartName="/ppt/slideLayouts/slideLayout14.xml" ContentType="application/vnd.openxmlformats-officedocument.presentationml.slideLayout+xml"/>
  <Override PartName="/ppt/slideLayouts/slideLayout23.xml" ContentType="application/vnd.openxmlformats-officedocument.presentationml.slideLayout+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 id="2147483686" r:id="rId2"/>
  </p:sldMasterIdLst>
  <p:notesMasterIdLst>
    <p:notesMasterId r:id="rId19"/>
  </p:notesMasterIdLst>
  <p:handoutMasterIdLst>
    <p:handoutMasterId r:id="rId20"/>
  </p:handoutMasterIdLst>
  <p:sldIdLst>
    <p:sldId id="353" r:id="rId3"/>
    <p:sldId id="354" r:id="rId4"/>
    <p:sldId id="355" r:id="rId5"/>
    <p:sldId id="326" r:id="rId6"/>
    <p:sldId id="327" r:id="rId7"/>
    <p:sldId id="343" r:id="rId8"/>
    <p:sldId id="344" r:id="rId9"/>
    <p:sldId id="345" r:id="rId10"/>
    <p:sldId id="328" r:id="rId11"/>
    <p:sldId id="346" r:id="rId12"/>
    <p:sldId id="347" r:id="rId13"/>
    <p:sldId id="348" r:id="rId14"/>
    <p:sldId id="349" r:id="rId15"/>
    <p:sldId id="350" r:id="rId16"/>
    <p:sldId id="351" r:id="rId17"/>
    <p:sldId id="352" r:id="rId18"/>
  </p:sldIdLst>
  <p:sldSz cx="12192000" cy="6858000"/>
  <p:notesSz cx="6858000" cy="9144000"/>
  <p:custDataLst>
    <p:tags r:id="rId21"/>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srgbClr val="FF0000"/>
    </p:penClr>
    <p:extLst>
      <p:ext uri="{EC167BDD-8182-4AB7-AECC-EB403E3ABB37}">
        <p14:laserClr xmlns="" xmlns:p14="http://schemas.microsoft.com/office/powerpoint/2010/main">
          <a:srgbClr val="FF0000"/>
        </p14:laserClr>
      </p:ext>
      <p:ext uri="{2FDB2607-1784-4EEB-B798-7EB5836EED8A}">
        <p14:showMediaCtrls xmlns="" xmlns:p14="http://schemas.microsoft.com/office/powerpoint/2010/main" val="1"/>
      </p:ext>
    </p:extLst>
  </p:showPr>
  <p:clrMru>
    <a:srgbClr val="ED8137"/>
    <a:srgbClr val="BC8F00"/>
    <a:srgbClr val="860000"/>
    <a:srgbClr val="00B0F0"/>
    <a:srgbClr val="1B3F5B"/>
  </p:clrMru>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horzBarState="maximized">
    <p:restoredLeft sz="15515" autoAdjust="0"/>
    <p:restoredTop sz="94660"/>
  </p:normalViewPr>
  <p:slideViewPr>
    <p:cSldViewPr snapToGrid="0">
      <p:cViewPr varScale="1">
        <p:scale>
          <a:sx n="65" d="100"/>
          <a:sy n="65" d="100"/>
        </p:scale>
        <p:origin x="-702" y="-114"/>
      </p:cViewPr>
      <p:guideLst>
        <p:guide orient="horz" pos="2160"/>
        <p:guide pos="3840"/>
      </p:guideLst>
    </p:cSldViewPr>
  </p:slideViewPr>
  <p:notesTextViewPr>
    <p:cViewPr>
      <p:scale>
        <a:sx n="1" d="1"/>
        <a:sy n="1" d="1"/>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3" Type="http://schemas.openxmlformats.org/officeDocument/2006/relationships/slide" Target="slides/slide1.xml"/><Relationship Id="rId21" Type="http://schemas.openxmlformats.org/officeDocument/2006/relationships/tags" Target="tags/tag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presProps" Target="presProp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6.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2CDA8E9-9948-4BC7-A1DE-415AE6D34228}" type="datetimeFigureOut">
              <a:rPr lang="en-US" smtClean="0"/>
              <a:pPr/>
              <a:t>6/21/2023</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9B5F544-A886-482E-AF73-1D6364AAC657}" type="slidenum">
              <a:rPr lang="en-US" smtClean="0"/>
              <a:pPr/>
              <a:t>‹#›</a:t>
            </a:fld>
            <a:endParaRPr lang="en-US"/>
          </a:p>
        </p:txBody>
      </p:sp>
    </p:spTree>
    <p:extLst>
      <p:ext uri="{BB962C8B-B14F-4D97-AF65-F5344CB8AC3E}">
        <p14:creationId xmlns="" xmlns:p14="http://schemas.microsoft.com/office/powerpoint/2010/main" val="225191961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5A4AE53-78AB-4E30-A376-70F5FA87A326}" type="datetimeFigureOut">
              <a:rPr lang="en-US" smtClean="0"/>
              <a:pPr/>
              <a:t>6/21/2023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0732FBC-CC67-4B17-8935-02F23E3364AC}" type="slidenum">
              <a:rPr lang="en-US" smtClean="0"/>
              <a:pPr/>
              <a:t>‹#›</a:t>
            </a:fld>
            <a:endParaRPr lang="en-US"/>
          </a:p>
        </p:txBody>
      </p:sp>
    </p:spTree>
    <p:extLst>
      <p:ext uri="{BB962C8B-B14F-4D97-AF65-F5344CB8AC3E}">
        <p14:creationId xmlns="" xmlns:p14="http://schemas.microsoft.com/office/powerpoint/2010/main" val="2540555822"/>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60732FBC-CC67-4B17-8935-02F23E3364AC}" type="slidenum">
              <a:rPr lang="en-US" smtClean="0"/>
              <a:pPr/>
              <a:t>1</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 xmlns:p14="http://schemas.microsoft.com/office/powerpoint/2010/main" val="3722197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 xmlns:p14="http://schemas.microsoft.com/office/powerpoint/2010/main" val="14513695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 xmlns:p14="http://schemas.microsoft.com/office/powerpoint/2010/main" val="4117143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 xmlns:p14="http://schemas.microsoft.com/office/powerpoint/2010/main" val="17122016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 xmlns:p14="http://schemas.microsoft.com/office/powerpoint/2010/main" val="18012169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 xmlns:p14="http://schemas.microsoft.com/office/powerpoint/2010/main" val="8812041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 xmlns:p14="http://schemas.microsoft.com/office/powerpoint/2010/main" val="2783193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 xmlns:p14="http://schemas.microsoft.com/office/powerpoint/2010/main" val="26918609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 xmlns:p14="http://schemas.microsoft.com/office/powerpoint/2010/main" val="5247627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 xmlns:p14="http://schemas.microsoft.com/office/powerpoint/2010/main" val="40508157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 xmlns:p14="http://schemas.microsoft.com/office/powerpoint/2010/main" val="213449416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Титульный слайд">
    <p:spTree>
      <p:nvGrpSpPr>
        <p:cNvPr id="1" name=""/>
        <p:cNvGrpSpPr/>
        <p:nvPr/>
      </p:nvGrpSpPr>
      <p:grpSpPr>
        <a:xfrm>
          <a:off x="0" y="0"/>
          <a:ext cx="0" cy="0"/>
          <a:chOff x="0" y="0"/>
          <a:chExt cx="0" cy="0"/>
        </a:xfrm>
      </p:grpSpPr>
      <p:sp>
        <p:nvSpPr>
          <p:cNvPr id="3" name="Прямоугольник 1"/>
          <p:cNvSpPr/>
          <p:nvPr userDrawn="1"/>
        </p:nvSpPr>
        <p:spPr>
          <a:xfrm>
            <a:off x="-19050" y="1905000"/>
            <a:ext cx="12211050" cy="4953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4" name="Прямоугольник 8"/>
          <p:cNvSpPr/>
          <p:nvPr userDrawn="1"/>
        </p:nvSpPr>
        <p:spPr>
          <a:xfrm>
            <a:off x="-19050" y="0"/>
            <a:ext cx="12211050" cy="4438650"/>
          </a:xfrm>
          <a:custGeom>
            <a:avLst/>
            <a:gdLst>
              <a:gd name="connsiteX0" fmla="*/ 0 w 12192000"/>
              <a:gd name="connsiteY0" fmla="*/ 0 h 4133850"/>
              <a:gd name="connsiteX1" fmla="*/ 12192000 w 12192000"/>
              <a:gd name="connsiteY1" fmla="*/ 0 h 4133850"/>
              <a:gd name="connsiteX2" fmla="*/ 12192000 w 12192000"/>
              <a:gd name="connsiteY2" fmla="*/ 4133850 h 4133850"/>
              <a:gd name="connsiteX3" fmla="*/ 0 w 12192000"/>
              <a:gd name="connsiteY3" fmla="*/ 4133850 h 4133850"/>
              <a:gd name="connsiteX4" fmla="*/ 0 w 12192000"/>
              <a:gd name="connsiteY4" fmla="*/ 0 h 4133850"/>
              <a:gd name="connsiteX0" fmla="*/ 19050 w 12211050"/>
              <a:gd name="connsiteY0" fmla="*/ 0 h 4133850"/>
              <a:gd name="connsiteX1" fmla="*/ 12211050 w 12211050"/>
              <a:gd name="connsiteY1" fmla="*/ 0 h 4133850"/>
              <a:gd name="connsiteX2" fmla="*/ 12211050 w 12211050"/>
              <a:gd name="connsiteY2" fmla="*/ 4133850 h 4133850"/>
              <a:gd name="connsiteX3" fmla="*/ 0 w 12211050"/>
              <a:gd name="connsiteY3" fmla="*/ 3219450 h 4133850"/>
              <a:gd name="connsiteX4" fmla="*/ 19050 w 12211050"/>
              <a:gd name="connsiteY4" fmla="*/ 0 h 4133850"/>
              <a:gd name="connsiteX0" fmla="*/ 19050 w 12211050"/>
              <a:gd name="connsiteY0" fmla="*/ 0 h 4438650"/>
              <a:gd name="connsiteX1" fmla="*/ 12211050 w 12211050"/>
              <a:gd name="connsiteY1" fmla="*/ 0 h 4438650"/>
              <a:gd name="connsiteX2" fmla="*/ 12211050 w 12211050"/>
              <a:gd name="connsiteY2" fmla="*/ 4438650 h 4438650"/>
              <a:gd name="connsiteX3" fmla="*/ 0 w 12211050"/>
              <a:gd name="connsiteY3" fmla="*/ 3219450 h 4438650"/>
              <a:gd name="connsiteX4" fmla="*/ 19050 w 12211050"/>
              <a:gd name="connsiteY4" fmla="*/ 0 h 4438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11050" h="4438650">
                <a:moveTo>
                  <a:pt x="19050" y="0"/>
                </a:moveTo>
                <a:lnTo>
                  <a:pt x="12211050" y="0"/>
                </a:lnTo>
                <a:lnTo>
                  <a:pt x="12211050" y="4438650"/>
                </a:lnTo>
                <a:lnTo>
                  <a:pt x="0" y="3219450"/>
                </a:lnTo>
                <a:lnTo>
                  <a:pt x="19050" y="0"/>
                </a:lnTo>
                <a:close/>
              </a:path>
            </a:pathLst>
          </a:cu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5" name="Прямоугольник 3"/>
          <p:cNvSpPr/>
          <p:nvPr userDrawn="1"/>
        </p:nvSpPr>
        <p:spPr>
          <a:xfrm>
            <a:off x="1085850" y="1009650"/>
            <a:ext cx="10020300" cy="5238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8" name="Рисунок 7"/>
          <p:cNvSpPr>
            <a:spLocks noGrp="1"/>
          </p:cNvSpPr>
          <p:nvPr>
            <p:ph type="pic" sz="quarter" idx="10"/>
          </p:nvPr>
        </p:nvSpPr>
        <p:spPr>
          <a:xfrm>
            <a:off x="1847850" y="2819400"/>
            <a:ext cx="8496300" cy="2800350"/>
          </a:xfrm>
          <a:prstGeom prst="rect">
            <a:avLst/>
          </a:prstGeom>
        </p:spPr>
        <p:txBody>
          <a:bodyPr/>
          <a:lstStyle/>
          <a:p>
            <a:pPr lvl="0"/>
            <a:endParaRPr lang="ru-RU" noProof="0" dirty="0"/>
          </a:p>
        </p:txBody>
      </p:sp>
    </p:spTree>
    <p:extLst>
      <p:ext uri="{BB962C8B-B14F-4D97-AF65-F5344CB8AC3E}">
        <p14:creationId xmlns="" xmlns:p14="http://schemas.microsoft.com/office/powerpoint/2010/main" val="397408168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Agenda Layout">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 xmlns:p14="http://schemas.microsoft.com/office/powerpoint/2010/main" val="253302043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Basic Layout">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5" name="Rectangle 4"/>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 xmlns:p14="http://schemas.microsoft.com/office/powerpoint/2010/main" val="270909644"/>
      </p:ext>
    </p:extLst>
  </p:cSld>
  <p:clrMapOvr>
    <a:masterClrMapping/>
  </p:clrMapOvr>
  <p:extLst mod="1">
    <p:ext uri="{DCECCB84-F9BA-43D5-87BE-67443E8EF086}">
      <p15:sldGuideLst xmlns:p15="http://schemas.microsoft.com/office/powerpoint/2012/main" xmlns="">
        <p15:guide id="1" orient="horz" pos="1620">
          <p15:clr>
            <a:srgbClr val="FBAE40"/>
          </p15:clr>
        </p15:guide>
        <p15:guide id="2" pos="2880">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5" name="Rectangle 4"/>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 xmlns:p14="http://schemas.microsoft.com/office/powerpoint/2010/main" val="3227159557"/>
      </p:ext>
    </p:extLst>
  </p:cSld>
  <p:clrMapOvr>
    <a:masterClrMapping/>
  </p:clrMapOvr>
  <p:extLst mod="1">
    <p:ext uri="{DCECCB84-F9BA-43D5-87BE-67443E8EF086}">
      <p15:sldGuideLst xmlns:p15="http://schemas.microsoft.com/office/powerpoint/2012/main" xmlns="">
        <p15:guide id="1" orient="horz" pos="1620">
          <p15:clr>
            <a:srgbClr val="FBAE40"/>
          </p15:clr>
        </p15:guide>
        <p15:guide id="2" pos="288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2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2735627" y="164638"/>
            <a:ext cx="9456373" cy="768085"/>
          </a:xfrm>
          <a:prstGeom prst="rect">
            <a:avLst/>
          </a:prstGeom>
        </p:spPr>
        <p:txBody>
          <a:bodyPr anchor="ctr"/>
          <a:lstStyle>
            <a:lvl1pPr marL="0" indent="0" algn="l">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2735627" y="932723"/>
            <a:ext cx="9456373" cy="384043"/>
          </a:xfrm>
          <a:prstGeom prst="rect">
            <a:avLst/>
          </a:prstGeom>
        </p:spPr>
        <p:txBody>
          <a:bodyPr anchor="ctr"/>
          <a:lstStyle>
            <a:lvl1pPr marL="0" indent="0" algn="l">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5" name="Rectangle 4"/>
          <p:cNvSpPr/>
          <p:nvPr userDrawn="1"/>
        </p:nvSpPr>
        <p:spPr>
          <a:xfrm>
            <a:off x="0" y="1"/>
            <a:ext cx="2543605" cy="68641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 xmlns:p14="http://schemas.microsoft.com/office/powerpoint/2010/main" val="3804378142"/>
      </p:ext>
    </p:extLst>
  </p:cSld>
  <p:clrMapOvr>
    <a:masterClrMapping/>
  </p:clrMapOvr>
  <p:extLst mod="1">
    <p:ext uri="{DCECCB84-F9BA-43D5-87BE-67443E8EF086}">
      <p15:sldGuideLst xmlns:p15="http://schemas.microsoft.com/office/powerpoint/2012/main" xmlns="">
        <p15:guide id="1" orient="horz" pos="1620">
          <p15:clr>
            <a:srgbClr val="FBAE40"/>
          </p15:clr>
        </p15:guide>
        <p15:guide id="2" pos="288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0" y="2276872"/>
            <a:ext cx="12192000" cy="240026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3" name="Isosceles Triangle 2"/>
          <p:cNvSpPr/>
          <p:nvPr userDrawn="1"/>
        </p:nvSpPr>
        <p:spPr>
          <a:xfrm rot="10800000">
            <a:off x="158339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2" name="Isosceles Triangle 11"/>
          <p:cNvSpPr/>
          <p:nvPr userDrawn="1"/>
        </p:nvSpPr>
        <p:spPr>
          <a:xfrm rot="10800000">
            <a:off x="446371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3" name="Isosceles Triangle 12"/>
          <p:cNvSpPr/>
          <p:nvPr userDrawn="1"/>
        </p:nvSpPr>
        <p:spPr>
          <a:xfrm rot="10800000">
            <a:off x="734403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4" name="Isosceles Triangle 13"/>
          <p:cNvSpPr/>
          <p:nvPr userDrawn="1"/>
        </p:nvSpPr>
        <p:spPr>
          <a:xfrm rot="10800000">
            <a:off x="10224348"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5" name="Rectangle 14"/>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6" name="Rectangle 15"/>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7" name="Picture Placeholder 2"/>
          <p:cNvSpPr>
            <a:spLocks noGrp="1"/>
          </p:cNvSpPr>
          <p:nvPr>
            <p:ph type="pic" idx="1" hasCustomPrompt="1"/>
          </p:nvPr>
        </p:nvSpPr>
        <p:spPr>
          <a:xfrm>
            <a:off x="815413"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8" name="Picture Placeholder 2"/>
          <p:cNvSpPr>
            <a:spLocks noGrp="1"/>
          </p:cNvSpPr>
          <p:nvPr>
            <p:ph type="pic" idx="12" hasCustomPrompt="1"/>
          </p:nvPr>
        </p:nvSpPr>
        <p:spPr>
          <a:xfrm>
            <a:off x="3695732"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9" name="Picture Placeholder 2"/>
          <p:cNvSpPr>
            <a:spLocks noGrp="1"/>
          </p:cNvSpPr>
          <p:nvPr>
            <p:ph type="pic" idx="13" hasCustomPrompt="1"/>
          </p:nvPr>
        </p:nvSpPr>
        <p:spPr>
          <a:xfrm>
            <a:off x="6576051"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20" name="Picture Placeholder 2"/>
          <p:cNvSpPr>
            <a:spLocks noGrp="1"/>
          </p:cNvSpPr>
          <p:nvPr>
            <p:ph type="pic" idx="14" hasCustomPrompt="1"/>
          </p:nvPr>
        </p:nvSpPr>
        <p:spPr>
          <a:xfrm>
            <a:off x="9456369"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 xmlns:p14="http://schemas.microsoft.com/office/powerpoint/2010/main" val="277721753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Images and Contents Layout">
    <p:spTree>
      <p:nvGrpSpPr>
        <p:cNvPr id="1" name=""/>
        <p:cNvGrpSpPr/>
        <p:nvPr/>
      </p:nvGrpSpPr>
      <p:grpSpPr>
        <a:xfrm>
          <a:off x="0" y="0"/>
          <a:ext cx="0" cy="0"/>
          <a:chOff x="0" y="0"/>
          <a:chExt cx="0" cy="0"/>
        </a:xfrm>
      </p:grpSpPr>
      <p:sp>
        <p:nvSpPr>
          <p:cNvPr id="2" name="Rectangle 1"/>
          <p:cNvSpPr/>
          <p:nvPr userDrawn="1"/>
        </p:nvSpPr>
        <p:spPr>
          <a:xfrm>
            <a:off x="5231904" y="2276872"/>
            <a:ext cx="5711957" cy="393643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black">
                  <a:lumMod val="75000"/>
                  <a:lumOff val="25000"/>
                </a:prstClr>
              </a:solidFill>
            </a:endParaRPr>
          </a:p>
        </p:txBody>
      </p:sp>
      <p:sp>
        <p:nvSpPr>
          <p:cNvPr id="7" name="Picture Placeholder 2"/>
          <p:cNvSpPr>
            <a:spLocks noGrp="1"/>
          </p:cNvSpPr>
          <p:nvPr>
            <p:ph type="pic" idx="1" hasCustomPrompt="1"/>
          </p:nvPr>
        </p:nvSpPr>
        <p:spPr>
          <a:xfrm>
            <a:off x="1103445" y="1412776"/>
            <a:ext cx="4560000" cy="3696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 xmlns:p14="http://schemas.microsoft.com/office/powerpoint/2010/main" val="56200522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2_Images and Contents Layout">
    <p:spTree>
      <p:nvGrpSpPr>
        <p:cNvPr id="1" name=""/>
        <p:cNvGrpSpPr/>
        <p:nvPr/>
      </p:nvGrpSpPr>
      <p:grpSpPr>
        <a:xfrm>
          <a:off x="0" y="0"/>
          <a:ext cx="0" cy="0"/>
          <a:chOff x="0" y="0"/>
          <a:chExt cx="0" cy="0"/>
        </a:xfrm>
      </p:grpSpPr>
      <p:sp>
        <p:nvSpPr>
          <p:cNvPr id="7" name="Picture Placeholder 2"/>
          <p:cNvSpPr>
            <a:spLocks noGrp="1"/>
          </p:cNvSpPr>
          <p:nvPr>
            <p:ph type="pic" idx="1" hasCustomPrompt="1"/>
          </p:nvPr>
        </p:nvSpPr>
        <p:spPr>
          <a:xfrm>
            <a:off x="0" y="990600"/>
            <a:ext cx="3887755" cy="58674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8" name="Picture Placeholder 2"/>
          <p:cNvSpPr>
            <a:spLocks noGrp="1"/>
          </p:cNvSpPr>
          <p:nvPr>
            <p:ph type="pic" idx="11" hasCustomPrompt="1"/>
          </p:nvPr>
        </p:nvSpPr>
        <p:spPr>
          <a:xfrm>
            <a:off x="4079776" y="0"/>
            <a:ext cx="8112224" cy="362102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 xmlns:p14="http://schemas.microsoft.com/office/powerpoint/2010/main" val="15957474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3_Images and Contents Layout">
    <p:spTree>
      <p:nvGrpSpPr>
        <p:cNvPr id="1" name=""/>
        <p:cNvGrpSpPr/>
        <p:nvPr/>
      </p:nvGrpSpPr>
      <p:grpSpPr>
        <a:xfrm>
          <a:off x="0" y="0"/>
          <a:ext cx="0" cy="0"/>
          <a:chOff x="0" y="0"/>
          <a:chExt cx="0" cy="0"/>
        </a:xfrm>
      </p:grpSpPr>
      <p:sp>
        <p:nvSpPr>
          <p:cNvPr id="9" name="Picture Placeholder 2"/>
          <p:cNvSpPr>
            <a:spLocks noGrp="1"/>
          </p:cNvSpPr>
          <p:nvPr>
            <p:ph type="pic" idx="1" hasCustomPrompt="1"/>
          </p:nvPr>
        </p:nvSpPr>
        <p:spPr>
          <a:xfrm>
            <a:off x="0" y="1013496"/>
            <a:ext cx="3887755" cy="356763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2" name="Picture Placeholder 2"/>
          <p:cNvSpPr>
            <a:spLocks noGrp="1"/>
          </p:cNvSpPr>
          <p:nvPr>
            <p:ph type="pic" idx="10" hasCustomPrompt="1"/>
          </p:nvPr>
        </p:nvSpPr>
        <p:spPr>
          <a:xfrm>
            <a:off x="8304245" y="0"/>
            <a:ext cx="3887755" cy="45811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3" name="Picture Placeholder 2"/>
          <p:cNvSpPr>
            <a:spLocks noGrp="1"/>
          </p:cNvSpPr>
          <p:nvPr>
            <p:ph type="pic" idx="11" hasCustomPrompt="1"/>
          </p:nvPr>
        </p:nvSpPr>
        <p:spPr>
          <a:xfrm>
            <a:off x="0" y="4773149"/>
            <a:ext cx="6096000" cy="208485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 xmlns:p14="http://schemas.microsoft.com/office/powerpoint/2010/main" val="394759519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4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595027" y="4101331"/>
            <a:ext cx="2400000" cy="2304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1600">
              <a:solidFill>
                <a:prstClr val="black">
                  <a:lumMod val="75000"/>
                  <a:lumOff val="25000"/>
                </a:prstClr>
              </a:solidFill>
            </a:endParaRPr>
          </a:p>
        </p:txBody>
      </p:sp>
      <p:sp>
        <p:nvSpPr>
          <p:cNvPr id="12" name="Rectangle 11"/>
          <p:cNvSpPr/>
          <p:nvPr userDrawn="1"/>
        </p:nvSpPr>
        <p:spPr>
          <a:xfrm>
            <a:off x="9196973" y="1700808"/>
            <a:ext cx="2400000" cy="2304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1600">
              <a:solidFill>
                <a:prstClr val="black">
                  <a:lumMod val="75000"/>
                  <a:lumOff val="25000"/>
                </a:prstClr>
              </a:solidFill>
            </a:endParaRPr>
          </a:p>
        </p:txBody>
      </p:sp>
      <p:sp>
        <p:nvSpPr>
          <p:cNvPr id="13" name="Picture Placeholder 2"/>
          <p:cNvSpPr>
            <a:spLocks noGrp="1"/>
          </p:cNvSpPr>
          <p:nvPr>
            <p:ph type="pic" idx="12" hasCustomPrompt="1"/>
          </p:nvPr>
        </p:nvSpPr>
        <p:spPr>
          <a:xfrm>
            <a:off x="595027" y="1700808"/>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4" name="Picture Placeholder 2"/>
          <p:cNvSpPr>
            <a:spLocks noGrp="1"/>
          </p:cNvSpPr>
          <p:nvPr>
            <p:ph type="pic" idx="13" hasCustomPrompt="1"/>
          </p:nvPr>
        </p:nvSpPr>
        <p:spPr>
          <a:xfrm>
            <a:off x="9196973" y="4101331"/>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5" name="Picture Placeholder 2"/>
          <p:cNvSpPr>
            <a:spLocks noGrp="1"/>
          </p:cNvSpPr>
          <p:nvPr>
            <p:ph type="pic" idx="14" hasCustomPrompt="1"/>
          </p:nvPr>
        </p:nvSpPr>
        <p:spPr>
          <a:xfrm>
            <a:off x="3119669" y="4101331"/>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6" name="Picture Placeholder 2"/>
          <p:cNvSpPr>
            <a:spLocks noGrp="1"/>
          </p:cNvSpPr>
          <p:nvPr>
            <p:ph type="pic" idx="15" hasCustomPrompt="1"/>
          </p:nvPr>
        </p:nvSpPr>
        <p:spPr>
          <a:xfrm>
            <a:off x="3119669" y="1700808"/>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 xmlns:p14="http://schemas.microsoft.com/office/powerpoint/2010/main" val="427835944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5_Images and Contents Layout">
    <p:spTree>
      <p:nvGrpSpPr>
        <p:cNvPr id="1" name=""/>
        <p:cNvGrpSpPr/>
        <p:nvPr/>
      </p:nvGrpSpPr>
      <p:grpSpPr>
        <a:xfrm>
          <a:off x="0" y="0"/>
          <a:ext cx="0" cy="0"/>
          <a:chOff x="0" y="0"/>
          <a:chExt cx="0" cy="0"/>
        </a:xfrm>
      </p:grpSpPr>
      <p:sp>
        <p:nvSpPr>
          <p:cNvPr id="16" name="Picture Placeholder 2"/>
          <p:cNvSpPr>
            <a:spLocks noGrp="1"/>
          </p:cNvSpPr>
          <p:nvPr>
            <p:ph type="pic" idx="12" hasCustomPrompt="1"/>
          </p:nvPr>
        </p:nvSpPr>
        <p:spPr>
          <a:xfrm>
            <a:off x="709650" y="480055"/>
            <a:ext cx="4224469" cy="419708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7" name="Picture Placeholder 2"/>
          <p:cNvSpPr>
            <a:spLocks noGrp="1"/>
          </p:cNvSpPr>
          <p:nvPr>
            <p:ph type="pic" idx="13" hasCustomPrompt="1"/>
          </p:nvPr>
        </p:nvSpPr>
        <p:spPr>
          <a:xfrm>
            <a:off x="5126140" y="480056"/>
            <a:ext cx="6336704" cy="229610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8" name="Picture Placeholder 2"/>
          <p:cNvSpPr>
            <a:spLocks noGrp="1"/>
          </p:cNvSpPr>
          <p:nvPr>
            <p:ph type="pic" idx="14" hasCustomPrompt="1"/>
          </p:nvPr>
        </p:nvSpPr>
        <p:spPr>
          <a:xfrm>
            <a:off x="5126140"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9" name="Picture Placeholder 2"/>
          <p:cNvSpPr>
            <a:spLocks noGrp="1"/>
          </p:cNvSpPr>
          <p:nvPr>
            <p:ph type="pic" idx="16" hasCustomPrompt="1"/>
          </p:nvPr>
        </p:nvSpPr>
        <p:spPr>
          <a:xfrm>
            <a:off x="7310492"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20" name="Picture Placeholder 2"/>
          <p:cNvSpPr>
            <a:spLocks noGrp="1"/>
          </p:cNvSpPr>
          <p:nvPr>
            <p:ph type="pic" idx="17" hasCustomPrompt="1"/>
          </p:nvPr>
        </p:nvSpPr>
        <p:spPr>
          <a:xfrm>
            <a:off x="9494844"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 xmlns:p14="http://schemas.microsoft.com/office/powerpoint/2010/main" val="270230215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7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5" name="그림 1"/>
          <p:cNvPicPr>
            <a:picLocks noChangeAspect="1"/>
          </p:cNvPicPr>
          <p:nvPr userDrawn="1"/>
        </p:nvPicPr>
        <p:blipFill>
          <a:blip r:embed="rId2" cstate="print">
            <a:extLst>
              <a:ext uri="{28A0092B-C50C-407E-A947-70E740481C1C}">
                <a14:useLocalDpi xmlns="" xmlns:a14="http://schemas.microsoft.com/office/drawing/2010/main" val="0"/>
              </a:ext>
            </a:extLst>
          </a:blip>
          <a:stretch>
            <a:fillRect/>
          </a:stretch>
        </p:blipFill>
        <p:spPr>
          <a:xfrm>
            <a:off x="4546767" y="2276873"/>
            <a:ext cx="7238124" cy="3966041"/>
          </a:xfrm>
          <a:prstGeom prst="rect">
            <a:avLst/>
          </a:prstGeom>
        </p:spPr>
      </p:pic>
      <p:sp>
        <p:nvSpPr>
          <p:cNvPr id="7" name="Picture Placeholder 2"/>
          <p:cNvSpPr>
            <a:spLocks noGrp="1"/>
          </p:cNvSpPr>
          <p:nvPr>
            <p:ph type="pic" idx="1" hasCustomPrompt="1"/>
          </p:nvPr>
        </p:nvSpPr>
        <p:spPr>
          <a:xfrm>
            <a:off x="5705875" y="2485912"/>
            <a:ext cx="4832891" cy="3124239"/>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8" name="Rectangle 7"/>
          <p:cNvSpPr/>
          <p:nvPr userDrawn="1"/>
        </p:nvSpPr>
        <p:spPr>
          <a:xfrm>
            <a:off x="4037371" y="1"/>
            <a:ext cx="4128459" cy="60959"/>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9" name="Rectangle 8"/>
          <p:cNvSpPr/>
          <p:nvPr userDrawn="1"/>
        </p:nvSpPr>
        <p:spPr>
          <a:xfrm>
            <a:off x="0" y="6753308"/>
            <a:ext cx="12192000" cy="110875"/>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 xmlns:p14="http://schemas.microsoft.com/office/powerpoint/2010/main" val="221804153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8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5" name="Picture 4" descr="D:\Fullppt\005-PNG이미지\모니터.png"/>
          <p:cNvPicPr>
            <a:picLocks noChangeAspect="1" noChangeArrowheads="1"/>
          </p:cNvPicPr>
          <p:nvPr userDrawn="1"/>
        </p:nvPicPr>
        <p:blipFill>
          <a:blip r:embed="rId2" cstate="print">
            <a:extLst>
              <a:ext uri="{28A0092B-C50C-407E-A947-70E740481C1C}">
                <a14:useLocalDpi xmlns="" xmlns:a14="http://schemas.microsoft.com/office/drawing/2010/main" val="0"/>
              </a:ext>
            </a:extLst>
          </a:blip>
          <a:srcRect/>
          <a:stretch>
            <a:fillRect/>
          </a:stretch>
        </p:blipFill>
        <p:spPr bwMode="auto">
          <a:xfrm>
            <a:off x="776400" y="1815747"/>
            <a:ext cx="3360373" cy="3350541"/>
          </a:xfrm>
          <a:prstGeom prst="rect">
            <a:avLst/>
          </a:prstGeom>
          <a:noFill/>
          <a:extLst>
            <a:ext uri="{909E8E84-426E-40DD-AFC4-6F175D3DCCD1}">
              <a14:hiddenFill xmlns="" xmlns:a14="http://schemas.microsoft.com/office/drawing/2010/main">
                <a:solidFill>
                  <a:srgbClr val="FFFFFF"/>
                </a:solidFill>
              </a14:hiddenFill>
            </a:ext>
          </a:extLst>
        </p:spPr>
      </p:pic>
      <p:pic>
        <p:nvPicPr>
          <p:cNvPr id="7" name="Picture 6" descr="D:\Fullppt\005-PNG이미지\모니터.png"/>
          <p:cNvPicPr>
            <a:picLocks noChangeAspect="1" noChangeArrowheads="1"/>
          </p:cNvPicPr>
          <p:nvPr userDrawn="1"/>
        </p:nvPicPr>
        <p:blipFill>
          <a:blip r:embed="rId2" cstate="print">
            <a:extLst>
              <a:ext uri="{28A0092B-C50C-407E-A947-70E740481C1C}">
                <a14:useLocalDpi xmlns="" xmlns:a14="http://schemas.microsoft.com/office/drawing/2010/main" val="0"/>
              </a:ext>
            </a:extLst>
          </a:blip>
          <a:srcRect/>
          <a:stretch>
            <a:fillRect/>
          </a:stretch>
        </p:blipFill>
        <p:spPr bwMode="auto">
          <a:xfrm>
            <a:off x="4406826" y="1815747"/>
            <a:ext cx="3360373" cy="3350541"/>
          </a:xfrm>
          <a:prstGeom prst="rect">
            <a:avLst/>
          </a:prstGeom>
          <a:noFill/>
          <a:extLst>
            <a:ext uri="{909E8E84-426E-40DD-AFC4-6F175D3DCCD1}">
              <a14:hiddenFill xmlns="" xmlns:a14="http://schemas.microsoft.com/office/drawing/2010/main">
                <a:solidFill>
                  <a:srgbClr val="FFFFFF"/>
                </a:solidFill>
              </a14:hiddenFill>
            </a:ext>
          </a:extLst>
        </p:spPr>
      </p:pic>
      <p:pic>
        <p:nvPicPr>
          <p:cNvPr id="9" name="Picture 8" descr="D:\Fullppt\005-PNG이미지\모니터.png"/>
          <p:cNvPicPr>
            <a:picLocks noChangeAspect="1" noChangeArrowheads="1"/>
          </p:cNvPicPr>
          <p:nvPr userDrawn="1"/>
        </p:nvPicPr>
        <p:blipFill>
          <a:blip r:embed="rId2" cstate="print">
            <a:extLst>
              <a:ext uri="{28A0092B-C50C-407E-A947-70E740481C1C}">
                <a14:useLocalDpi xmlns="" xmlns:a14="http://schemas.microsoft.com/office/drawing/2010/main" val="0"/>
              </a:ext>
            </a:extLst>
          </a:blip>
          <a:srcRect/>
          <a:stretch>
            <a:fillRect/>
          </a:stretch>
        </p:blipFill>
        <p:spPr bwMode="auto">
          <a:xfrm>
            <a:off x="8037251" y="1815747"/>
            <a:ext cx="3360373" cy="3350541"/>
          </a:xfrm>
          <a:prstGeom prst="rect">
            <a:avLst/>
          </a:prstGeom>
          <a:noFill/>
          <a:extLst>
            <a:ext uri="{909E8E84-426E-40DD-AFC4-6F175D3DCCD1}">
              <a14:hiddenFill xmlns="" xmlns:a14="http://schemas.microsoft.com/office/drawing/2010/main">
                <a:solidFill>
                  <a:srgbClr val="FFFFFF"/>
                </a:solidFill>
              </a14:hiddenFill>
            </a:ext>
          </a:extLst>
        </p:spPr>
      </p:pic>
      <p:sp>
        <p:nvSpPr>
          <p:cNvPr id="13" name="Picture Placeholder 2"/>
          <p:cNvSpPr>
            <a:spLocks noGrp="1"/>
          </p:cNvSpPr>
          <p:nvPr>
            <p:ph type="pic" idx="1" hasCustomPrompt="1"/>
          </p:nvPr>
        </p:nvSpPr>
        <p:spPr>
          <a:xfrm>
            <a:off x="90990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4" name="Picture Placeholder 2"/>
          <p:cNvSpPr>
            <a:spLocks noGrp="1"/>
          </p:cNvSpPr>
          <p:nvPr>
            <p:ph type="pic" idx="12" hasCustomPrompt="1"/>
          </p:nvPr>
        </p:nvSpPr>
        <p:spPr>
          <a:xfrm>
            <a:off x="453956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5" name="Picture Placeholder 2"/>
          <p:cNvSpPr>
            <a:spLocks noGrp="1"/>
          </p:cNvSpPr>
          <p:nvPr>
            <p:ph type="pic" idx="13" hasCustomPrompt="1"/>
          </p:nvPr>
        </p:nvSpPr>
        <p:spPr>
          <a:xfrm>
            <a:off x="816922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6" name="Rectangle 15"/>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7" name="Rectangle 16"/>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 xmlns:p14="http://schemas.microsoft.com/office/powerpoint/2010/main" val="407940683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9_Images and Contents Layout">
    <p:spTree>
      <p:nvGrpSpPr>
        <p:cNvPr id="1" name=""/>
        <p:cNvGrpSpPr/>
        <p:nvPr/>
      </p:nvGrpSpPr>
      <p:grpSpPr>
        <a:xfrm>
          <a:off x="0" y="0"/>
          <a:ext cx="0" cy="0"/>
          <a:chOff x="0" y="0"/>
          <a:chExt cx="0" cy="0"/>
        </a:xfrm>
      </p:grpSpPr>
      <p:sp>
        <p:nvSpPr>
          <p:cNvPr id="6" name="Picture Placeholder 2"/>
          <p:cNvSpPr>
            <a:spLocks noGrp="1"/>
          </p:cNvSpPr>
          <p:nvPr>
            <p:ph type="pic" idx="1" hasCustomPrompt="1"/>
          </p:nvPr>
        </p:nvSpPr>
        <p:spPr>
          <a:xfrm>
            <a:off x="0" y="0"/>
            <a:ext cx="12192000" cy="4101075"/>
          </a:xfrm>
          <a:prstGeom prst="rect">
            <a:avLst/>
          </a:prstGeom>
          <a:solidFill>
            <a:schemeClr val="bg1">
              <a:lumMod val="8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 xmlns:p14="http://schemas.microsoft.com/office/powerpoint/2010/main" val="201465714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icon se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ICON SETS LAYOUT</a:t>
            </a:r>
          </a:p>
        </p:txBody>
      </p:sp>
      <p:grpSp>
        <p:nvGrpSpPr>
          <p:cNvPr id="5" name="Group 4"/>
          <p:cNvGrpSpPr/>
          <p:nvPr userDrawn="1"/>
        </p:nvGrpSpPr>
        <p:grpSpPr>
          <a:xfrm>
            <a:off x="472011" y="1508786"/>
            <a:ext cx="3799787" cy="4865561"/>
            <a:chOff x="354008" y="1131589"/>
            <a:chExt cx="2849840" cy="3649171"/>
          </a:xfrm>
        </p:grpSpPr>
        <p:sp>
          <p:nvSpPr>
            <p:cNvPr id="6" name="Rounded Rectangle 5"/>
            <p:cNvSpPr/>
            <p:nvPr/>
          </p:nvSpPr>
          <p:spPr>
            <a:xfrm>
              <a:off x="354008" y="1131589"/>
              <a:ext cx="2849840" cy="3649171"/>
            </a:xfrm>
            <a:prstGeom prst="roundRect">
              <a:avLst>
                <a:gd name="adj" fmla="val 396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dirty="0">
                <a:solidFill>
                  <a:prstClr val="white"/>
                </a:solidFill>
              </a:endParaRPr>
            </a:p>
          </p:txBody>
        </p:sp>
        <p:sp>
          <p:nvSpPr>
            <p:cNvPr id="9" name="Rounded Rectangle 8"/>
            <p:cNvSpPr/>
            <p:nvPr/>
          </p:nvSpPr>
          <p:spPr>
            <a:xfrm>
              <a:off x="531932" y="1347500"/>
              <a:ext cx="108520" cy="3240473"/>
            </a:xfrm>
            <a:prstGeom prst="roundRect">
              <a:avLst>
                <a:gd name="adj" fmla="val 50000"/>
              </a:avLst>
            </a:prstGeom>
            <a:solidFill>
              <a:schemeClr val="bg1">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white"/>
                </a:solidFill>
              </a:endParaRPr>
            </a:p>
          </p:txBody>
        </p:sp>
        <p:sp>
          <p:nvSpPr>
            <p:cNvPr id="12" name="Half Frame 11"/>
            <p:cNvSpPr/>
            <p:nvPr/>
          </p:nvSpPr>
          <p:spPr>
            <a:xfrm rot="5400000">
              <a:off x="2592642" y="1238201"/>
              <a:ext cx="502331" cy="502331"/>
            </a:xfrm>
            <a:prstGeom prst="halfFrame">
              <a:avLst>
                <a:gd name="adj1" fmla="val 23728"/>
                <a:gd name="adj2" fmla="val 24642"/>
              </a:avLst>
            </a:prstGeom>
            <a:solidFill>
              <a:schemeClr val="bg1">
                <a:alpha val="2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black"/>
                </a:solidFill>
              </a:endParaRPr>
            </a:p>
          </p:txBody>
        </p:sp>
      </p:grpSp>
    </p:spTree>
    <p:extLst>
      <p:ext uri="{BB962C8B-B14F-4D97-AF65-F5344CB8AC3E}">
        <p14:creationId xmlns="" xmlns:p14="http://schemas.microsoft.com/office/powerpoint/2010/main" val="26219781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slideLayout" Target="../slideLayouts/slideLayout25.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5" Type="http://schemas.openxmlformats.org/officeDocument/2006/relationships/theme" Target="../theme/theme2.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slideLayout" Target="../slideLayouts/slideLayout2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4" cstate="print">
            <a:lum/>
          </a:blip>
          <a:srcRect/>
          <a:stretch>
            <a:fillRect l="1000" t="-1000" r="1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DCDBBEF-AA6C-4BA6-85B2-A17D7F280E38}" type="slidenum">
              <a:rPr lang="en-US" smtClean="0"/>
              <a:pPr/>
              <a:t>‹#›</a:t>
            </a:fld>
            <a:endParaRPr lang="en-US"/>
          </a:p>
        </p:txBody>
      </p:sp>
    </p:spTree>
    <p:extLst>
      <p:ext uri="{BB962C8B-B14F-4D97-AF65-F5344CB8AC3E}">
        <p14:creationId xmlns="" xmlns:p14="http://schemas.microsoft.com/office/powerpoint/2010/main" val="3333391393"/>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60" r:id="rId1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 xmlns:p14="http://schemas.microsoft.com/office/powerpoint/2010/main" val="1048544627"/>
      </p:ext>
    </p:extLst>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 id="2147483700" r:id="rId14"/>
  </p:sldLayoutIdLst>
  <p:txStyles>
    <p:titleStyle>
      <a:lvl1pPr algn="ctr" defTabSz="1219170" rtl="0" eaLnBrk="1" latinLnBrk="1" hangingPunct="1">
        <a:spcBef>
          <a:spcPct val="0"/>
        </a:spcBef>
        <a:buNone/>
        <a:defRPr sz="5867" kern="1200">
          <a:solidFill>
            <a:schemeClr val="tx1"/>
          </a:solidFill>
          <a:latin typeface="+mj-lt"/>
          <a:ea typeface="+mj-ea"/>
          <a:cs typeface="+mj-cs"/>
        </a:defRPr>
      </a:lvl1pPr>
    </p:titleStyle>
    <p:bodyStyle>
      <a:lvl1pPr marL="457189" indent="-457189" algn="l" defTabSz="1219170" rtl="0" eaLnBrk="1" latinLnBrk="1" hangingPunct="1">
        <a:spcBef>
          <a:spcPct val="20000"/>
        </a:spcBef>
        <a:buFont typeface="Arial" pitchFamily="34" charset="0"/>
        <a:buChar char="•"/>
        <a:defRPr sz="4267" kern="1200">
          <a:solidFill>
            <a:schemeClr val="tx1"/>
          </a:solidFill>
          <a:latin typeface="+mn-lt"/>
          <a:ea typeface="+mn-ea"/>
          <a:cs typeface="+mn-cs"/>
        </a:defRPr>
      </a:lvl1pPr>
      <a:lvl2pPr marL="990575" indent="-380990" algn="l" defTabSz="1219170" rtl="0" eaLnBrk="1" latinLnBrk="1" hangingPunct="1">
        <a:spcBef>
          <a:spcPct val="20000"/>
        </a:spcBef>
        <a:buFont typeface="Arial" pitchFamily="34" charset="0"/>
        <a:buChar char="–"/>
        <a:defRPr sz="3733" kern="1200">
          <a:solidFill>
            <a:schemeClr val="tx1"/>
          </a:solidFill>
          <a:latin typeface="+mn-lt"/>
          <a:ea typeface="+mn-ea"/>
          <a:cs typeface="+mn-cs"/>
        </a:defRPr>
      </a:lvl2pPr>
      <a:lvl3pPr marL="1523962" indent="-304792" algn="l" defTabSz="1219170" rtl="0" eaLnBrk="1" latinLnBrk="1" hangingPunct="1">
        <a:spcBef>
          <a:spcPct val="20000"/>
        </a:spcBef>
        <a:buFont typeface="Arial" pitchFamily="34" charset="0"/>
        <a:buChar char="•"/>
        <a:defRPr sz="3200" kern="1200">
          <a:solidFill>
            <a:schemeClr val="tx1"/>
          </a:solidFill>
          <a:latin typeface="+mn-lt"/>
          <a:ea typeface="+mn-ea"/>
          <a:cs typeface="+mn-cs"/>
        </a:defRPr>
      </a:lvl3pPr>
      <a:lvl4pPr marL="2133547"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4pPr>
      <a:lvl5pPr marL="274313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5pPr>
      <a:lvl6pPr marL="335271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ko-KR"/>
      </a:defPPr>
      <a:lvl1pPr marL="0" algn="l" defTabSz="1219170" rtl="0" eaLnBrk="1" latinLnBrk="1" hangingPunct="1">
        <a:defRPr sz="2400" kern="1200">
          <a:solidFill>
            <a:schemeClr val="tx1"/>
          </a:solidFill>
          <a:latin typeface="+mn-lt"/>
          <a:ea typeface="+mn-ea"/>
          <a:cs typeface="+mn-cs"/>
        </a:defRPr>
      </a:lvl1pPr>
      <a:lvl2pPr marL="609585" algn="l" defTabSz="1219170" rtl="0" eaLnBrk="1" latinLnBrk="1" hangingPunct="1">
        <a:defRPr sz="2400" kern="1200">
          <a:solidFill>
            <a:schemeClr val="tx1"/>
          </a:solidFill>
          <a:latin typeface="+mn-lt"/>
          <a:ea typeface="+mn-ea"/>
          <a:cs typeface="+mn-cs"/>
        </a:defRPr>
      </a:lvl2pPr>
      <a:lvl3pPr marL="1219170" algn="l" defTabSz="1219170" rtl="0" eaLnBrk="1" latinLnBrk="1" hangingPunct="1">
        <a:defRPr sz="2400" kern="1200">
          <a:solidFill>
            <a:schemeClr val="tx1"/>
          </a:solidFill>
          <a:latin typeface="+mn-lt"/>
          <a:ea typeface="+mn-ea"/>
          <a:cs typeface="+mn-cs"/>
        </a:defRPr>
      </a:lvl3pPr>
      <a:lvl4pPr marL="1828754" algn="l" defTabSz="1219170" rtl="0" eaLnBrk="1" latinLnBrk="1" hangingPunct="1">
        <a:defRPr sz="2400" kern="1200">
          <a:solidFill>
            <a:schemeClr val="tx1"/>
          </a:solidFill>
          <a:latin typeface="+mn-lt"/>
          <a:ea typeface="+mn-ea"/>
          <a:cs typeface="+mn-cs"/>
        </a:defRPr>
      </a:lvl4pPr>
      <a:lvl5pPr marL="2438339" algn="l" defTabSz="1219170" rtl="0" eaLnBrk="1" latinLnBrk="1" hangingPunct="1">
        <a:defRPr sz="2400" kern="1200">
          <a:solidFill>
            <a:schemeClr val="tx1"/>
          </a:solidFill>
          <a:latin typeface="+mn-lt"/>
          <a:ea typeface="+mn-ea"/>
          <a:cs typeface="+mn-cs"/>
        </a:defRPr>
      </a:lvl5pPr>
      <a:lvl6pPr marL="3047924" algn="l" defTabSz="1219170" rtl="0" eaLnBrk="1" latinLnBrk="1" hangingPunct="1">
        <a:defRPr sz="2400" kern="1200">
          <a:solidFill>
            <a:schemeClr val="tx1"/>
          </a:solidFill>
          <a:latin typeface="+mn-lt"/>
          <a:ea typeface="+mn-ea"/>
          <a:cs typeface="+mn-cs"/>
        </a:defRPr>
      </a:lvl6pPr>
      <a:lvl7pPr marL="3657509" algn="l" defTabSz="1219170" rtl="0" eaLnBrk="1" latinLnBrk="1" hangingPunct="1">
        <a:defRPr sz="2400" kern="1200">
          <a:solidFill>
            <a:schemeClr val="tx1"/>
          </a:solidFill>
          <a:latin typeface="+mn-lt"/>
          <a:ea typeface="+mn-ea"/>
          <a:cs typeface="+mn-cs"/>
        </a:defRPr>
      </a:lvl7pPr>
      <a:lvl8pPr marL="4267093" algn="l" defTabSz="1219170" rtl="0" eaLnBrk="1" latinLnBrk="1" hangingPunct="1">
        <a:defRPr sz="2400" kern="1200">
          <a:solidFill>
            <a:schemeClr val="tx1"/>
          </a:solidFill>
          <a:latin typeface="+mn-lt"/>
          <a:ea typeface="+mn-ea"/>
          <a:cs typeface="+mn-cs"/>
        </a:defRPr>
      </a:lvl8pPr>
      <a:lvl9pPr marL="4876678" algn="l" defTabSz="1219170" rtl="0" eaLnBrk="1" latinLnBrk="1"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microsoft.com/office/2007/relationships/hdphoto" Target="../media/hdphoto1.wdp"/><Relationship Id="rId5" Type="http://schemas.openxmlformats.org/officeDocument/2006/relationships/image" Target="../media/image7.png"/><Relationship Id="rId4" Type="http://schemas.openxmlformats.org/officeDocument/2006/relationships/oleObject" Target="../embeddings/oleObject1.bin"/></Relationships>
</file>

<file path=ppt/slides/_rels/slide2.xml.rels><?xml version="1.0" encoding="UTF-8" standalone="yes"?>
<Relationships xmlns="http://schemas.openxmlformats.org/package/2006/relationships"><Relationship Id="rId3" Type="http://schemas.openxmlformats.org/officeDocument/2006/relationships/hyperlink" Target="https://library.automationdirect.com/basic-electrical-theory/" TargetMode="External"/><Relationship Id="rId2" Type="http://schemas.openxmlformats.org/officeDocument/2006/relationships/slideLayout" Target="../slideLayouts/slideLayout8.xml"/><Relationship Id="rId1" Type="http://schemas.openxmlformats.org/officeDocument/2006/relationships/tags" Target="../tags/tag2.xml"/><Relationship Id="rId4" Type="http://schemas.openxmlformats.org/officeDocument/2006/relationships/image" Target="../media/image8.jpeg"/></Relationships>
</file>

<file path=ppt/slides/_rels/slide3.xml.rels><?xml version="1.0" encoding="UTF-8" standalone="yes"?>
<Relationships xmlns="http://schemas.openxmlformats.org/package/2006/relationships"><Relationship Id="rId3" Type="http://schemas.openxmlformats.org/officeDocument/2006/relationships/hyperlink" Target="https://library.automationdirect.com/basic-electrical-theory/" TargetMode="External"/><Relationship Id="rId2" Type="http://schemas.openxmlformats.org/officeDocument/2006/relationships/slideLayout" Target="../slideLayouts/slideLayout8.xml"/><Relationship Id="rId1" Type="http://schemas.openxmlformats.org/officeDocument/2006/relationships/tags" Target="../tags/tag3.xml"/><Relationship Id="rId4" Type="http://schemas.openxmlformats.org/officeDocument/2006/relationships/image" Target="../media/image9.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hyperlink" Target="https://www.elprocus.com/explain-different-types-leds-working-applications-engineering-students/"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hyperlink" Target="https://www.britannica.com/science/electronic-configuration" TargetMode="External"/><Relationship Id="rId2" Type="http://schemas.openxmlformats.org/officeDocument/2006/relationships/hyperlink" Target="https://www.britannica.com/science/quantum-mechanics-physics" TargetMode="External"/><Relationship Id="rId1" Type="http://schemas.openxmlformats.org/officeDocument/2006/relationships/slideLayout" Target="../slideLayouts/slideLayout2.xml"/><Relationship Id="rId6" Type="http://schemas.openxmlformats.org/officeDocument/2006/relationships/hyperlink" Target="https://www.britannica.com/science/atom" TargetMode="External"/><Relationship Id="rId5" Type="http://schemas.openxmlformats.org/officeDocument/2006/relationships/hyperlink" Target="https://www.britannica.com/art/conductor-music" TargetMode="External"/><Relationship Id="rId4" Type="http://schemas.openxmlformats.org/officeDocument/2006/relationships/hyperlink" Target="https://www.britannica.com/science/valence-band" TargetMode="External"/></Relationships>
</file>

<file path=ppt/slides/_rels/slide16.xml.rels><?xml version="1.0" encoding="UTF-8" standalone="yes"?>
<Relationships xmlns="http://schemas.openxmlformats.org/package/2006/relationships"><Relationship Id="rId3" Type="http://schemas.openxmlformats.org/officeDocument/2006/relationships/hyperlink" Target="https://www.britannica.com/technology/photoelectric-cell" TargetMode="External"/><Relationship Id="rId2" Type="http://schemas.openxmlformats.org/officeDocument/2006/relationships/hyperlink" Target="https://www.britannica.com/science/luminous-intensity" TargetMode="External"/><Relationship Id="rId1" Type="http://schemas.openxmlformats.org/officeDocument/2006/relationships/slideLayout" Target="../slideLayouts/slideLayout2.xml"/><Relationship Id="rId6" Type="http://schemas.openxmlformats.org/officeDocument/2006/relationships/hyperlink" Target="https://www.britannica.com/science/work-physics" TargetMode="External"/><Relationship Id="rId5" Type="http://schemas.openxmlformats.org/officeDocument/2006/relationships/hyperlink" Target="https://www.britannica.com/technology/cathode" TargetMode="External"/><Relationship Id="rId4" Type="http://schemas.openxmlformats.org/officeDocument/2006/relationships/hyperlink" Target="https://www.britannica.com/technology/electron-tube"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Rectangle 30"/>
          <p:cNvSpPr/>
          <p:nvPr/>
        </p:nvSpPr>
        <p:spPr>
          <a:xfrm>
            <a:off x="-4421" y="5427341"/>
            <a:ext cx="12196420" cy="1518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p:cNvSpPr/>
          <p:nvPr/>
        </p:nvSpPr>
        <p:spPr>
          <a:xfrm>
            <a:off x="302197" y="5901985"/>
            <a:ext cx="45719" cy="613881"/>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Slide Number Placeholder 2"/>
          <p:cNvSpPr txBox="1">
            <a:spLocks/>
          </p:cNvSpPr>
          <p:nvPr/>
        </p:nvSpPr>
        <p:spPr>
          <a:xfrm>
            <a:off x="8763000" y="65087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46" name="Right Triangle 45">
            <a:extLst>
              <a:ext uri="{FF2B5EF4-FFF2-40B4-BE49-F238E27FC236}">
                <a16:creationId xmlns="" xmlns:a16="http://schemas.microsoft.com/office/drawing/2014/main" id="{0983CA01-DED8-4A8A-82CA-5B1BE1DADB0C}"/>
              </a:ext>
            </a:extLst>
          </p:cNvPr>
          <p:cNvSpPr/>
          <p:nvPr/>
        </p:nvSpPr>
        <p:spPr>
          <a:xfrm flipV="1">
            <a:off x="9506857" y="5939880"/>
            <a:ext cx="1291772" cy="1157606"/>
          </a:xfrm>
          <a:prstGeom prst="rtTriangle">
            <a:avLst/>
          </a:prstGeom>
          <a:solidFill>
            <a:srgbClr val="FFFFFF">
              <a:lumMod val="95000"/>
              <a:alpha val="17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D" sz="1800" b="0" i="0" u="none" strike="noStrike" kern="0" cap="none" spc="0" normalizeH="0" baseline="0" noProof="0" smtClean="0">
              <a:ln>
                <a:noFill/>
              </a:ln>
              <a:solidFill>
                <a:srgbClr val="FFFFFF"/>
              </a:solidFill>
              <a:effectLst/>
              <a:uLnTx/>
              <a:uFillTx/>
              <a:latin typeface="Calibri" panose="020F0502020204030204"/>
            </a:endParaRPr>
          </a:p>
        </p:txBody>
      </p:sp>
      <p:graphicFrame>
        <p:nvGraphicFramePr>
          <p:cNvPr id="48" name="Object 47">
            <a:extLst>
              <a:ext uri="{FF2B5EF4-FFF2-40B4-BE49-F238E27FC236}">
                <a16:creationId xmlns="" xmlns:a16="http://schemas.microsoft.com/office/drawing/2014/main" id="{CAD0D7B8-E462-453C-B296-CA0154FA54AE}"/>
              </a:ext>
            </a:extLst>
          </p:cNvPr>
          <p:cNvGraphicFramePr>
            <a:graphicFrameLocks noChangeAspect="1"/>
          </p:cNvGraphicFramePr>
          <p:nvPr>
            <p:extLst>
              <p:ext uri="{D42A27DB-BD31-4B8C-83A1-F6EECF244321}">
                <p14:modId xmlns:p14="http://schemas.microsoft.com/office/powerpoint/2010/main" xmlns="" val="689304721"/>
              </p:ext>
            </p:extLst>
          </p:nvPr>
        </p:nvGraphicFramePr>
        <p:xfrm>
          <a:off x="494804" y="4023363"/>
          <a:ext cx="2631143" cy="2507676"/>
        </p:xfrm>
        <a:graphic>
          <a:graphicData uri="http://schemas.openxmlformats.org/presentationml/2006/ole">
            <p:oleObj spid="_x0000_s1026" name="CorelDRAW" r:id="rId4" imgW="2169000" imgH="2169360" progId="">
              <p:embed/>
            </p:oleObj>
          </a:graphicData>
        </a:graphic>
      </p:graphicFrame>
      <p:sp>
        <p:nvSpPr>
          <p:cNvPr id="37" name="Right Triangle 36">
            <a:extLst>
              <a:ext uri="{FF2B5EF4-FFF2-40B4-BE49-F238E27FC236}">
                <a16:creationId xmlns="" xmlns:a16="http://schemas.microsoft.com/office/drawing/2014/main" id="{0983CA01-DED8-4A8A-82CA-5B1BE1DADB0C}"/>
              </a:ext>
            </a:extLst>
          </p:cNvPr>
          <p:cNvSpPr/>
          <p:nvPr/>
        </p:nvSpPr>
        <p:spPr>
          <a:xfrm flipH="1">
            <a:off x="7045437" y="-64960"/>
            <a:ext cx="5146562" cy="5852440"/>
          </a:xfrm>
          <a:prstGeom prst="rtTriangle">
            <a:avLst/>
          </a:prstGeom>
          <a:solidFill>
            <a:srgbClr val="FFFFFF">
              <a:lumMod val="95000"/>
              <a:alpha val="17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D" sz="1800" b="0" i="0" u="none" strike="noStrike" kern="0" cap="none" spc="0" normalizeH="0" baseline="0" noProof="0" smtClean="0">
              <a:ln>
                <a:noFill/>
              </a:ln>
              <a:solidFill>
                <a:srgbClr val="FFFFFF"/>
              </a:solidFill>
              <a:effectLst/>
              <a:uLnTx/>
              <a:uFillTx/>
              <a:latin typeface="Calibri" panose="020F0502020204030204"/>
            </a:endParaRPr>
          </a:p>
        </p:txBody>
      </p:sp>
      <p:sp>
        <p:nvSpPr>
          <p:cNvPr id="45" name="Rectangle 44"/>
          <p:cNvSpPr/>
          <p:nvPr/>
        </p:nvSpPr>
        <p:spPr>
          <a:xfrm>
            <a:off x="2124074" y="2025525"/>
            <a:ext cx="6829425" cy="1580679"/>
          </a:xfrm>
          <a:prstGeom prst="rect">
            <a:avLst/>
          </a:prstGeom>
          <a:gradFill flip="none" rotWithShape="1">
            <a:gsLst>
              <a:gs pos="15000">
                <a:srgbClr val="FFFFFF">
                  <a:alpha val="34000"/>
                </a:srgbClr>
              </a:gs>
              <a:gs pos="94000">
                <a:srgbClr val="FFFFFF">
                  <a:alpha val="34000"/>
                </a:srgbClr>
              </a:gs>
              <a:gs pos="2655">
                <a:schemeClr val="bg1">
                  <a:alpha val="0"/>
                </a:schemeClr>
              </a:gs>
              <a:gs pos="51000">
                <a:schemeClr val="bg1"/>
              </a:gs>
              <a:gs pos="100000">
                <a:schemeClr val="bg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 name="Picture 29"/>
          <p:cNvPicPr>
            <a:picLocks noChangeAspect="1"/>
          </p:cNvPicPr>
          <p:nvPr/>
        </p:nvPicPr>
        <p:blipFill>
          <a:blip r:embed="rId5" cstate="print">
            <a:extLst>
              <a:ext uri="{BEBA8EAE-BF5A-486C-A8C5-ECC9F3942E4B}">
                <a14:imgProps xmlns:a14="http://schemas.microsoft.com/office/drawing/2010/main" xmlns="">
                  <a14:imgLayer r:embed="rId6">
                    <a14:imgEffect>
                      <a14:colorTemperature colorTemp="5742"/>
                    </a14:imgEffect>
                    <a14:imgEffect>
                      <a14:saturation sat="238000"/>
                    </a14:imgEffect>
                  </a14:imgLayer>
                </a14:imgProps>
              </a:ext>
              <a:ext uri="{28A0092B-C50C-407E-A947-70E740481C1C}">
                <a14:useLocalDpi xmlns:a14="http://schemas.microsoft.com/office/drawing/2010/main" xmlns="" val="0"/>
              </a:ext>
            </a:extLst>
          </a:blip>
          <a:stretch>
            <a:fillRect/>
          </a:stretch>
        </p:blipFill>
        <p:spPr>
          <a:xfrm>
            <a:off x="12104" y="24501"/>
            <a:ext cx="3859753" cy="1538254"/>
          </a:xfrm>
          <a:prstGeom prst="rect">
            <a:avLst/>
          </a:prstGeom>
        </p:spPr>
      </p:pic>
      <p:sp>
        <p:nvSpPr>
          <p:cNvPr id="43" name="Right Triangle 42"/>
          <p:cNvSpPr/>
          <p:nvPr/>
        </p:nvSpPr>
        <p:spPr>
          <a:xfrm rot="10800000" flipV="1">
            <a:off x="9829797" y="5333999"/>
            <a:ext cx="2366623" cy="1600201"/>
          </a:xfrm>
          <a:prstGeom prst="rtTriangl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Box 35"/>
          <p:cNvSpPr txBox="1">
            <a:spLocks noChangeArrowheads="1"/>
          </p:cNvSpPr>
          <p:nvPr/>
        </p:nvSpPr>
        <p:spPr bwMode="auto">
          <a:xfrm>
            <a:off x="6881359" y="6019560"/>
            <a:ext cx="4928608" cy="64633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r>
              <a:rPr lang="en-US" sz="2000" b="1" dirty="0">
                <a:solidFill>
                  <a:prstClr val="black">
                    <a:lumMod val="65000"/>
                    <a:lumOff val="35000"/>
                  </a:prstClr>
                </a:solidFill>
                <a:latin typeface="Casper" panose="02000506000000020004" pitchFamily="2" charset="0"/>
                <a:ea typeface="Karla" pitchFamily="2" charset="0"/>
                <a:cs typeface="Karla" pitchFamily="2" charset="0"/>
              </a:rPr>
              <a:t>DISCOVER . </a:t>
            </a:r>
            <a:r>
              <a:rPr lang="en-US" sz="2000" b="1" dirty="0">
                <a:solidFill>
                  <a:srgbClr val="C00000"/>
                </a:solidFill>
                <a:latin typeface="Casper" panose="02000506000000020004" pitchFamily="2" charset="0"/>
                <a:ea typeface="Karla" pitchFamily="2" charset="0"/>
                <a:cs typeface="Karla" pitchFamily="2" charset="0"/>
              </a:rPr>
              <a:t>LEARN</a:t>
            </a:r>
            <a:r>
              <a:rPr lang="en-US" sz="2000" b="1" dirty="0">
                <a:solidFill>
                  <a:prstClr val="black">
                    <a:lumMod val="65000"/>
                    <a:lumOff val="35000"/>
                  </a:prstClr>
                </a:solidFill>
                <a:latin typeface="Casper" panose="02000506000000020004" pitchFamily="2" charset="0"/>
                <a:ea typeface="Karla" pitchFamily="2" charset="0"/>
                <a:cs typeface="Karla" pitchFamily="2" charset="0"/>
              </a:rPr>
              <a:t> . EMPOWER</a:t>
            </a:r>
            <a:endParaRPr lang="en-US" sz="1200" b="1" dirty="0">
              <a:solidFill>
                <a:prstClr val="black"/>
              </a:solidFill>
              <a:latin typeface="Casper" panose="02000506000000020004" pitchFamily="2" charset="0"/>
            </a:endParaRPr>
          </a:p>
          <a:p>
            <a:pPr eaLnBrk="1" hangingPunct="1"/>
            <a:endParaRPr lang="en-US" sz="1600" b="1" dirty="0">
              <a:latin typeface="Casper" panose="02000506000000020004" pitchFamily="2" charset="0"/>
            </a:endParaRPr>
          </a:p>
        </p:txBody>
      </p:sp>
      <p:sp>
        <p:nvSpPr>
          <p:cNvPr id="52" name="Rectangle 51"/>
          <p:cNvSpPr/>
          <p:nvPr/>
        </p:nvSpPr>
        <p:spPr>
          <a:xfrm>
            <a:off x="6885780" y="6043646"/>
            <a:ext cx="45719" cy="37062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p:cNvSpPr txBox="1">
            <a:spLocks noChangeArrowheads="1"/>
          </p:cNvSpPr>
          <p:nvPr/>
        </p:nvSpPr>
        <p:spPr bwMode="auto">
          <a:xfrm>
            <a:off x="1214846" y="1281237"/>
            <a:ext cx="9832638" cy="603242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lgn="ctr" defTabSz="622300">
              <a:lnSpc>
                <a:spcPct val="90000"/>
              </a:lnSpc>
              <a:spcBef>
                <a:spcPct val="0"/>
              </a:spcBef>
              <a:spcAft>
                <a:spcPct val="35000"/>
              </a:spcAft>
            </a:pPr>
            <a:r>
              <a:rPr lang="en-US" sz="3200" b="1" dirty="0" smtClean="0">
                <a:latin typeface="Arial Black" panose="020B0A04020102020204" pitchFamily="34" charset="0"/>
                <a:ea typeface="Karla" pitchFamily="2" charset="0"/>
                <a:cs typeface="Karla" pitchFamily="2" charset="0"/>
              </a:rPr>
              <a:t>INSTITUTE UIE </a:t>
            </a:r>
            <a:endParaRPr lang="en-US" sz="3200" b="1" dirty="0">
              <a:latin typeface="Arial Black" panose="020B0A04020102020204" pitchFamily="34" charset="0"/>
              <a:ea typeface="Karla" pitchFamily="2" charset="0"/>
              <a:cs typeface="Karla" pitchFamily="2" charset="0"/>
            </a:endParaRPr>
          </a:p>
          <a:p>
            <a:pPr lvl="0" algn="ctr" defTabSz="622300">
              <a:lnSpc>
                <a:spcPct val="90000"/>
              </a:lnSpc>
              <a:spcBef>
                <a:spcPct val="0"/>
              </a:spcBef>
              <a:spcAft>
                <a:spcPct val="35000"/>
              </a:spcAft>
            </a:pPr>
            <a:r>
              <a:rPr lang="en-US" sz="3200" b="1" dirty="0">
                <a:latin typeface="Arial Black" panose="020B0A04020102020204" pitchFamily="34" charset="0"/>
                <a:ea typeface="Karla" pitchFamily="2" charset="0"/>
                <a:cs typeface="Karla" pitchFamily="2" charset="0"/>
              </a:rPr>
              <a:t>DEPARTMENT ACADEMIC </a:t>
            </a:r>
            <a:r>
              <a:rPr lang="en-US" sz="3200" b="1" dirty="0" smtClean="0">
                <a:latin typeface="Arial Black" panose="020B0A04020102020204" pitchFamily="34" charset="0"/>
                <a:ea typeface="Karla" pitchFamily="2" charset="0"/>
                <a:cs typeface="Karla" pitchFamily="2" charset="0"/>
              </a:rPr>
              <a:t>UNIT-1 </a:t>
            </a:r>
            <a:endParaRPr lang="en-US" sz="3200" b="1" dirty="0">
              <a:latin typeface="Arial Black" panose="020B0A04020102020204" pitchFamily="34" charset="0"/>
              <a:ea typeface="Karla" pitchFamily="2" charset="0"/>
              <a:cs typeface="Karla" pitchFamily="2" charset="0"/>
            </a:endParaRPr>
          </a:p>
          <a:p>
            <a:pPr lvl="0" algn="ctr" defTabSz="622300">
              <a:lnSpc>
                <a:spcPct val="90000"/>
              </a:lnSpc>
              <a:spcBef>
                <a:spcPct val="0"/>
              </a:spcBef>
              <a:spcAft>
                <a:spcPct val="35000"/>
              </a:spcAft>
            </a:pPr>
            <a:r>
              <a:rPr lang="en-US" sz="2400" dirty="0" smtClean="0">
                <a:latin typeface="Times New Roman" panose="02020603050405020304" pitchFamily="18" charset="0"/>
                <a:ea typeface="Calibri" panose="020F0502020204030204" pitchFamily="34" charset="0"/>
                <a:cs typeface="Times New Roman" panose="02020603050405020304" pitchFamily="18" charset="0"/>
              </a:rPr>
              <a:t>Bachelor </a:t>
            </a:r>
            <a:r>
              <a:rPr lang="en-US" sz="2400" dirty="0">
                <a:latin typeface="Times New Roman" panose="02020603050405020304" pitchFamily="18" charset="0"/>
                <a:ea typeface="Calibri" panose="020F0502020204030204" pitchFamily="34" charset="0"/>
                <a:cs typeface="Times New Roman" panose="02020603050405020304" pitchFamily="18" charset="0"/>
              </a:rPr>
              <a:t>of </a:t>
            </a:r>
            <a:r>
              <a:rPr lang="en-US" sz="2400" dirty="0" smtClean="0">
                <a:latin typeface="Times New Roman" panose="02020603050405020304" pitchFamily="18" charset="0"/>
                <a:ea typeface="Calibri" panose="020F0502020204030204" pitchFamily="34" charset="0"/>
                <a:cs typeface="Times New Roman" panose="02020603050405020304" pitchFamily="18" charset="0"/>
              </a:rPr>
              <a:t>Engineering (Computer Science &amp; Engineering) </a:t>
            </a:r>
          </a:p>
          <a:p>
            <a:pPr lvl="0" algn="ctr" defTabSz="622300">
              <a:lnSpc>
                <a:spcPct val="90000"/>
              </a:lnSpc>
              <a:spcBef>
                <a:spcPct val="0"/>
              </a:spcBef>
              <a:spcAft>
                <a:spcPct val="35000"/>
              </a:spcAft>
            </a:pPr>
            <a:r>
              <a:rPr lang="en-US" sz="2400" dirty="0" smtClean="0">
                <a:latin typeface="Times New Roman" panose="02020603050405020304" pitchFamily="18" charset="0"/>
                <a:ea typeface="Calibri" panose="020F0502020204030204" pitchFamily="34" charset="0"/>
                <a:cs typeface="Times New Roman" panose="02020603050405020304" pitchFamily="18" charset="0"/>
              </a:rPr>
              <a:t>Subject Name Semi Conductor Physics</a:t>
            </a:r>
          </a:p>
          <a:p>
            <a:pPr lvl="0" algn="ctr" defTabSz="622300">
              <a:lnSpc>
                <a:spcPct val="90000"/>
              </a:lnSpc>
              <a:spcBef>
                <a:spcPct val="0"/>
              </a:spcBef>
              <a:spcAft>
                <a:spcPct val="35000"/>
              </a:spcAft>
            </a:pPr>
            <a:r>
              <a:rPr lang="en-US" sz="2400" dirty="0" smtClean="0">
                <a:latin typeface="Times New Roman" panose="02020603050405020304" pitchFamily="18" charset="0"/>
                <a:ea typeface="Calibri" panose="020F0502020204030204" pitchFamily="34" charset="0"/>
                <a:cs typeface="Times New Roman" panose="02020603050405020304" pitchFamily="18" charset="0"/>
              </a:rPr>
              <a:t>Subject Code 23SPH-143</a:t>
            </a:r>
          </a:p>
          <a:p>
            <a:pPr lvl="0" algn="ctr" defTabSz="622300">
              <a:lnSpc>
                <a:spcPct val="90000"/>
              </a:lnSpc>
              <a:spcBef>
                <a:spcPct val="0"/>
              </a:spcBef>
              <a:spcAft>
                <a:spcPct val="35000"/>
              </a:spcAft>
            </a:pPr>
            <a:r>
              <a:rPr lang="en-US" sz="2400" dirty="0" smtClean="0">
                <a:latin typeface="Times New Roman" panose="02020603050405020304" pitchFamily="18" charset="0"/>
                <a:ea typeface="Calibri" panose="020F0502020204030204" pitchFamily="34" charset="0"/>
                <a:cs typeface="Times New Roman" panose="02020603050405020304" pitchFamily="18" charset="0"/>
              </a:rPr>
              <a:t>Prepared By</a:t>
            </a:r>
          </a:p>
          <a:p>
            <a:pPr lvl="0" algn="ctr" defTabSz="622300">
              <a:lnSpc>
                <a:spcPct val="90000"/>
              </a:lnSpc>
              <a:spcBef>
                <a:spcPct val="0"/>
              </a:spcBef>
              <a:spcAft>
                <a:spcPct val="35000"/>
              </a:spcAft>
            </a:pPr>
            <a:r>
              <a:rPr lang="en-IN" sz="2400" dirty="0" smtClean="0">
                <a:latin typeface="Times New Roman" panose="02020603050405020304" pitchFamily="18" charset="0"/>
                <a:ea typeface="Calibri" panose="020F0502020204030204" pitchFamily="34" charset="0"/>
                <a:cs typeface="Times New Roman" panose="02020603050405020304" pitchFamily="18" charset="0"/>
              </a:rPr>
              <a:t>Dr. </a:t>
            </a:r>
            <a:r>
              <a:rPr lang="en-IN" sz="2400" dirty="0" err="1" smtClean="0">
                <a:latin typeface="Times New Roman" panose="02020603050405020304" pitchFamily="18" charset="0"/>
                <a:ea typeface="Calibri" panose="020F0502020204030204" pitchFamily="34" charset="0"/>
                <a:cs typeface="Times New Roman" panose="02020603050405020304" pitchFamily="18" charset="0"/>
              </a:rPr>
              <a:t>Sandeep</a:t>
            </a:r>
            <a:r>
              <a:rPr lang="en-IN" sz="2400" dirty="0" smtClean="0">
                <a:latin typeface="Times New Roman" panose="02020603050405020304" pitchFamily="18" charset="0"/>
                <a:ea typeface="Calibri" panose="020F0502020204030204" pitchFamily="34" charset="0"/>
                <a:cs typeface="Times New Roman" panose="02020603050405020304" pitchFamily="18" charset="0"/>
              </a:rPr>
              <a:t> </a:t>
            </a:r>
            <a:r>
              <a:rPr lang="en-IN" sz="2400" dirty="0" err="1" smtClean="0">
                <a:latin typeface="Times New Roman" panose="02020603050405020304" pitchFamily="18" charset="0"/>
                <a:ea typeface="Calibri" panose="020F0502020204030204" pitchFamily="34" charset="0"/>
                <a:cs typeface="Times New Roman" panose="02020603050405020304" pitchFamily="18" charset="0"/>
              </a:rPr>
              <a:t>Kaur</a:t>
            </a:r>
            <a:endParaRPr lang="en-US" sz="2400" dirty="0" smtClean="0">
              <a:latin typeface="Times New Roman" panose="02020603050405020304" pitchFamily="18" charset="0"/>
              <a:ea typeface="Calibri" panose="020F0502020204030204" pitchFamily="34" charset="0"/>
              <a:cs typeface="Times New Roman" panose="02020603050405020304" pitchFamily="18" charset="0"/>
            </a:endParaRPr>
          </a:p>
          <a:p>
            <a:pPr lvl="0" algn="ctr" defTabSz="622300">
              <a:lnSpc>
                <a:spcPct val="90000"/>
              </a:lnSpc>
              <a:spcBef>
                <a:spcPct val="0"/>
              </a:spcBef>
              <a:spcAft>
                <a:spcPct val="35000"/>
              </a:spcAft>
            </a:pPr>
            <a:r>
              <a:rPr lang="en-US" sz="2400" dirty="0" smtClean="0">
                <a:latin typeface="Times New Roman" panose="02020603050405020304" pitchFamily="18" charset="0"/>
                <a:ea typeface="Calibri" panose="020F0502020204030204" pitchFamily="34" charset="0"/>
                <a:cs typeface="Times New Roman" panose="02020603050405020304" pitchFamily="18" charset="0"/>
              </a:rPr>
              <a:t>Lecture-2.2.1</a:t>
            </a:r>
            <a:endParaRPr lang="en-US" sz="2400" dirty="0" smtClean="0">
              <a:latin typeface="Times New Roman" panose="02020603050405020304" pitchFamily="18" charset="0"/>
              <a:ea typeface="Calibri" panose="020F0502020204030204" pitchFamily="34" charset="0"/>
              <a:cs typeface="Times New Roman" panose="02020603050405020304" pitchFamily="18" charset="0"/>
            </a:endParaRPr>
          </a:p>
          <a:p>
            <a:pPr algn="ctr" defTabSz="622300">
              <a:lnSpc>
                <a:spcPct val="90000"/>
              </a:lnSpc>
              <a:spcBef>
                <a:spcPct val="0"/>
              </a:spcBef>
              <a:spcAft>
                <a:spcPct val="35000"/>
              </a:spcAft>
            </a:pPr>
            <a:r>
              <a:rPr lang="en-IN" sz="2400" dirty="0" smtClean="0">
                <a:latin typeface="Times New Roman" pitchFamily="18" charset="0"/>
                <a:cs typeface="Times New Roman" pitchFamily="18" charset="0"/>
              </a:rPr>
              <a:t>Introduction to Optoelectronics </a:t>
            </a:r>
            <a:r>
              <a:rPr lang="en-IN" sz="2400" dirty="0" err="1" smtClean="0">
                <a:latin typeface="Times New Roman" pitchFamily="18" charset="0"/>
                <a:cs typeface="Times New Roman" pitchFamily="18" charset="0"/>
              </a:rPr>
              <a:t>Devics</a:t>
            </a:r>
            <a:r>
              <a:rPr lang="en-IN" sz="2400" dirty="0" err="1" smtClean="0">
                <a:latin typeface="Times New Roman" pitchFamily="18" charset="0"/>
                <a:cs typeface="Times New Roman" pitchFamily="18" charset="0"/>
              </a:rPr>
              <a:t>es</a:t>
            </a:r>
            <a:r>
              <a:rPr lang="en-IN" sz="2400" dirty="0" smtClean="0">
                <a:latin typeface="Times New Roman" pitchFamily="18" charset="0"/>
                <a:cs typeface="Times New Roman" pitchFamily="18" charset="0"/>
              </a:rPr>
              <a:t> and Photo-Transistor</a:t>
            </a:r>
            <a:r>
              <a:rPr lang="en-IN" sz="2400" dirty="0" smtClean="0">
                <a:latin typeface="Times New Roman" pitchFamily="18" charset="0"/>
                <a:cs typeface="Times New Roman" pitchFamily="18" charset="0"/>
              </a:rPr>
              <a:t>.</a:t>
            </a:r>
            <a:endParaRPr lang="en-US" sz="2400" b="1" dirty="0" smtClean="0">
              <a:solidFill>
                <a:prstClr val="black">
                  <a:lumMod val="85000"/>
                  <a:lumOff val="15000"/>
                </a:prstClr>
              </a:solidFill>
              <a:latin typeface="Times New Roman" pitchFamily="18" charset="0"/>
              <a:cs typeface="Times New Roman" pitchFamily="18" charset="0"/>
            </a:endParaRPr>
          </a:p>
          <a:p>
            <a:pPr lvl="0" algn="ctr" defTabSz="622300">
              <a:lnSpc>
                <a:spcPct val="90000"/>
              </a:lnSpc>
              <a:spcBef>
                <a:spcPct val="0"/>
              </a:spcBef>
              <a:spcAft>
                <a:spcPct val="35000"/>
              </a:spcAft>
            </a:pPr>
            <a:endParaRPr lang="en-US" sz="3200" b="1" dirty="0">
              <a:solidFill>
                <a:prstClr val="black">
                  <a:lumMod val="85000"/>
                  <a:lumOff val="15000"/>
                </a:prstClr>
              </a:solidFill>
              <a:latin typeface="Times New Roman" panose="02020603050405020304" pitchFamily="18" charset="0"/>
              <a:cs typeface="Times New Roman" panose="02020603050405020304" pitchFamily="18" charset="0"/>
            </a:endParaRPr>
          </a:p>
          <a:p>
            <a:pPr lvl="0" algn="ctr" defTabSz="622300">
              <a:lnSpc>
                <a:spcPct val="90000"/>
              </a:lnSpc>
              <a:spcBef>
                <a:spcPct val="0"/>
              </a:spcBef>
              <a:spcAft>
                <a:spcPct val="35000"/>
              </a:spcAft>
            </a:pPr>
            <a:r>
              <a:rPr lang="en-US" sz="3200" b="1" dirty="0" smtClean="0">
                <a:solidFill>
                  <a:prstClr val="black">
                    <a:lumMod val="85000"/>
                    <a:lumOff val="15000"/>
                  </a:prstClr>
                </a:solidFill>
                <a:latin typeface="Times New Roman" panose="02020603050405020304" pitchFamily="18" charset="0"/>
                <a:cs typeface="Times New Roman" panose="02020603050405020304" pitchFamily="18" charset="0"/>
              </a:rPr>
              <a:t>					</a:t>
            </a:r>
            <a:endParaRPr lang="en-US" sz="3200" b="1" dirty="0">
              <a:solidFill>
                <a:prstClr val="black">
                  <a:lumMod val="85000"/>
                  <a:lumOff val="15000"/>
                </a:prstClr>
              </a:solidFill>
              <a:latin typeface="Times New Roman" panose="02020603050405020304" pitchFamily="18" charset="0"/>
              <a:cs typeface="Times New Roman" panose="02020603050405020304" pitchFamily="18" charset="0"/>
            </a:endParaRPr>
          </a:p>
          <a:p>
            <a:pPr eaLnBrk="1" hangingPunct="1"/>
            <a:endParaRPr lang="en-US" sz="1600" dirty="0">
              <a:latin typeface="Raleway ExtraBold" pitchFamily="34" charset="-52"/>
            </a:endParaRPr>
          </a:p>
        </p:txBody>
      </p:sp>
    </p:spTree>
    <p:extLst>
      <p:ext uri="{BB962C8B-B14F-4D97-AF65-F5344CB8AC3E}">
        <p14:creationId xmlns:p14="http://schemas.microsoft.com/office/powerpoint/2010/main" xmlns="" val="45650219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a:xfrm>
            <a:off x="8839200" y="6356350"/>
            <a:ext cx="2743200" cy="365125"/>
          </a:xfrm>
        </p:spPr>
        <p:txBody>
          <a:bodyPr/>
          <a:lstStyle/>
          <a:p>
            <a:fld id="{BDCDBBEF-AA6C-4BA6-85B2-A17D7F280E38}" type="slidenum">
              <a:rPr lang="en-US" smtClean="0"/>
              <a:pPr/>
              <a:t>2</a:t>
            </a:fld>
            <a:endParaRPr lang="en-US" dirty="0"/>
          </a:p>
        </p:txBody>
      </p:sp>
      <p:sp>
        <p:nvSpPr>
          <p:cNvPr id="8" name="Title 7"/>
          <p:cNvSpPr txBox="1">
            <a:spLocks noGrp="1" noChangeArrowheads="1"/>
          </p:cNvSpPr>
          <p:nvPr>
            <p:ph type="title"/>
          </p:nvPr>
        </p:nvSpPr>
        <p:spPr bwMode="auto">
          <a:xfrm>
            <a:off x="592954" y="605949"/>
            <a:ext cx="4456567" cy="131112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algn="ctr"/>
            <a:r>
              <a:rPr lang="en-US" sz="4400" b="1" dirty="0">
                <a:latin typeface="Casper"/>
              </a:rPr>
              <a:t>Course Objectives</a:t>
            </a:r>
          </a:p>
        </p:txBody>
      </p:sp>
      <p:sp>
        <p:nvSpPr>
          <p:cNvPr id="10" name="Oval 9"/>
          <p:cNvSpPr/>
          <p:nvPr/>
        </p:nvSpPr>
        <p:spPr>
          <a:xfrm>
            <a:off x="11217276" y="6324600"/>
            <a:ext cx="444500" cy="4222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2" name="Table 11"/>
          <p:cNvGraphicFramePr>
            <a:graphicFrameLocks noGrp="1"/>
          </p:cNvGraphicFramePr>
          <p:nvPr>
            <p:extLst>
              <p:ext uri="{D42A27DB-BD31-4B8C-83A1-F6EECF244321}">
                <p14:modId xmlns="" xmlns:p14="http://schemas.microsoft.com/office/powerpoint/2010/main" val="2453015479"/>
              </p:ext>
            </p:extLst>
          </p:nvPr>
        </p:nvGraphicFramePr>
        <p:xfrm>
          <a:off x="293914" y="2226079"/>
          <a:ext cx="6547757" cy="4158391"/>
        </p:xfrm>
        <a:graphic>
          <a:graphicData uri="http://schemas.openxmlformats.org/drawingml/2006/table">
            <a:tbl>
              <a:tblPr firstRow="1" firstCol="1" bandRow="1"/>
              <a:tblGrid>
                <a:gridCol w="587829">
                  <a:extLst>
                    <a:ext uri="{9D8B030D-6E8A-4147-A177-3AD203B41FA5}">
                      <a16:colId xmlns="" xmlns:a16="http://schemas.microsoft.com/office/drawing/2014/main" val="20000"/>
                    </a:ext>
                  </a:extLst>
                </a:gridCol>
                <a:gridCol w="5959928">
                  <a:extLst>
                    <a:ext uri="{9D8B030D-6E8A-4147-A177-3AD203B41FA5}">
                      <a16:colId xmlns="" xmlns:a16="http://schemas.microsoft.com/office/drawing/2014/main" val="20001"/>
                    </a:ext>
                  </a:extLst>
                </a:gridCol>
              </a:tblGrid>
              <a:tr h="772932">
                <a:tc>
                  <a:txBody>
                    <a:bodyPr/>
                    <a:lstStyle/>
                    <a:p>
                      <a:pPr algn="ctr" fontAlgn="ctr"/>
                      <a:r>
                        <a:rPr lang="en-US" sz="1800" b="1" i="0" u="none" strike="noStrike" dirty="0">
                          <a:solidFill>
                            <a:srgbClr val="000000"/>
                          </a:solidFill>
                          <a:effectLst/>
                          <a:latin typeface="Times New Roman" pitchFamily="18" charset="0"/>
                          <a:cs typeface="Times New Roman" pitchFamily="18" charset="0"/>
                        </a:rPr>
                        <a:t>S. No.</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800" b="1" i="0" u="none" strike="noStrike" dirty="0">
                          <a:solidFill>
                            <a:srgbClr val="000000"/>
                          </a:solidFill>
                          <a:effectLst/>
                          <a:latin typeface="Times New Roman" pitchFamily="18" charset="0"/>
                          <a:cs typeface="Times New Roman" pitchFamily="18" charset="0"/>
                        </a:rPr>
                        <a:t>Objectives</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0000"/>
                  </a:ext>
                </a:extLst>
              </a:tr>
              <a:tr h="1042403">
                <a:tc>
                  <a:txBody>
                    <a:bodyPr/>
                    <a:lstStyle/>
                    <a:p>
                      <a:pPr algn="ctr" fontAlgn="ctr"/>
                      <a:r>
                        <a:rPr lang="en-US" sz="1800" b="0" i="0" u="none" strike="noStrike" dirty="0">
                          <a:solidFill>
                            <a:schemeClr val="tx1"/>
                          </a:solidFill>
                          <a:effectLst/>
                          <a:latin typeface="Times New Roman" pitchFamily="18" charset="0"/>
                          <a:cs typeface="Times New Roman" pitchFamily="18" charset="0"/>
                        </a:rPr>
                        <a:t>1</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lvl="0" algn="l"/>
                      <a:r>
                        <a:rPr lang="en-US" sz="1800" kern="1200" dirty="0" smtClean="0">
                          <a:solidFill>
                            <a:schemeClr val="tx1"/>
                          </a:solidFill>
                          <a:latin typeface="Times New Roman" pitchFamily="18" charset="0"/>
                          <a:ea typeface="+mn-ea"/>
                          <a:cs typeface="Times New Roman" pitchFamily="18" charset="0"/>
                        </a:rPr>
                        <a:t>To understand the basic materials and properties of semiconductors.</a:t>
                      </a:r>
                      <a:endParaRPr lang="en-US" sz="1800" kern="1200" dirty="0">
                        <a:solidFill>
                          <a:schemeClr val="tx1"/>
                        </a:solidFill>
                        <a:latin typeface="Times New Roman" pitchFamily="18" charset="0"/>
                        <a:ea typeface="+mn-ea"/>
                        <a:cs typeface="Times New Roman" pitchFamily="18" charset="0"/>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0001"/>
                  </a:ext>
                </a:extLst>
              </a:tr>
              <a:tr h="997251">
                <a:tc>
                  <a:txBody>
                    <a:bodyPr/>
                    <a:lstStyle/>
                    <a:p>
                      <a:pPr algn="ctr" fontAlgn="ctr"/>
                      <a:r>
                        <a:rPr lang="en-US" sz="1800" b="0" i="0" u="none" strike="noStrike" dirty="0">
                          <a:solidFill>
                            <a:srgbClr val="000000"/>
                          </a:solidFill>
                          <a:effectLst/>
                          <a:latin typeface="Times New Roman" pitchFamily="18" charset="0"/>
                          <a:cs typeface="Times New Roman" pitchFamily="18" charset="0"/>
                        </a:rPr>
                        <a:t>2</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lvl="0" algn="l"/>
                      <a:r>
                        <a:rPr lang="en-US" sz="1800" kern="1200" dirty="0" smtClean="0">
                          <a:solidFill>
                            <a:schemeClr val="tx1"/>
                          </a:solidFill>
                          <a:latin typeface="Times New Roman" pitchFamily="18" charset="0"/>
                          <a:ea typeface="+mn-ea"/>
                          <a:cs typeface="Times New Roman" pitchFamily="18" charset="0"/>
                        </a:rPr>
                        <a:t>Understand the basic of semiconductor and components like diode, transistor, FET, MOSFET and Energy Sources.</a:t>
                      </a:r>
                    </a:p>
                    <a:p>
                      <a:pPr algn="l" fontAlgn="ctr"/>
                      <a:endParaRPr lang="en-US" sz="1800" b="0" i="0" u="none" strike="noStrike" dirty="0">
                        <a:solidFill>
                          <a:srgbClr val="000000"/>
                        </a:solidFill>
                        <a:effectLst/>
                        <a:latin typeface="Times New Roman" pitchFamily="18" charset="0"/>
                        <a:cs typeface="Times New Roman" pitchFamily="18" charset="0"/>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0002"/>
                  </a:ext>
                </a:extLst>
              </a:tr>
              <a:tr h="1345805">
                <a:tc>
                  <a:txBody>
                    <a:bodyPr/>
                    <a:lstStyle/>
                    <a:p>
                      <a:pPr algn="ctr" fontAlgn="ctr"/>
                      <a:r>
                        <a:rPr lang="en-US" sz="1800" b="0" i="0" u="none" strike="noStrike" dirty="0">
                          <a:solidFill>
                            <a:srgbClr val="000000"/>
                          </a:solidFill>
                          <a:effectLst/>
                          <a:latin typeface="Times New Roman" pitchFamily="18" charset="0"/>
                          <a:cs typeface="Times New Roman" pitchFamily="18" charset="0"/>
                        </a:rPr>
                        <a:t>3</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IN" sz="1800" kern="1200" dirty="0" smtClean="0">
                          <a:solidFill>
                            <a:schemeClr val="tx1"/>
                          </a:solidFill>
                          <a:latin typeface="Times New Roman" pitchFamily="18" charset="0"/>
                          <a:ea typeface="+mn-ea"/>
                          <a:cs typeface="Times New Roman" pitchFamily="18" charset="0"/>
                        </a:rPr>
                        <a:t>To give knowledge about semiconductor physics and discus working and applications of basic devices, including p-n junctions, BJTs and FETs.</a:t>
                      </a:r>
                      <a:endParaRPr lang="en-US" sz="1800" kern="1200" dirty="0" smtClean="0">
                        <a:solidFill>
                          <a:schemeClr val="tx1"/>
                        </a:solidFill>
                        <a:latin typeface="Times New Roman" pitchFamily="18" charset="0"/>
                        <a:ea typeface="+mn-ea"/>
                        <a:cs typeface="Times New Roman" pitchFamily="18" charset="0"/>
                      </a:endParaRPr>
                    </a:p>
                    <a:p>
                      <a:pPr algn="l" fontAlgn="ctr"/>
                      <a:endParaRPr lang="en-US" sz="1800" b="0" i="0" u="none" strike="noStrike" dirty="0">
                        <a:solidFill>
                          <a:srgbClr val="000000"/>
                        </a:solidFill>
                        <a:effectLst/>
                        <a:latin typeface="Times New Roman" pitchFamily="18" charset="0"/>
                        <a:cs typeface="Times New Roman" pitchFamily="18" charset="0"/>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0003"/>
                  </a:ext>
                </a:extLst>
              </a:tr>
            </a:tbl>
          </a:graphicData>
        </a:graphic>
      </p:graphicFrame>
      <p:sp>
        <p:nvSpPr>
          <p:cNvPr id="7" name="Content Placeholder 6"/>
          <p:cNvSpPr>
            <a:spLocks noGrp="1"/>
          </p:cNvSpPr>
          <p:nvPr>
            <p:ph idx="1"/>
          </p:nvPr>
        </p:nvSpPr>
        <p:spPr>
          <a:xfrm>
            <a:off x="7104849" y="5050301"/>
            <a:ext cx="4706194" cy="745588"/>
          </a:xfrm>
        </p:spPr>
        <p:txBody>
          <a:bodyPr>
            <a:noAutofit/>
          </a:bodyPr>
          <a:lstStyle/>
          <a:p>
            <a:pPr algn="ctr">
              <a:buNone/>
            </a:pPr>
            <a:r>
              <a:rPr lang="en-US" sz="1800" b="1" dirty="0">
                <a:solidFill>
                  <a:srgbClr val="7030A0"/>
                </a:solidFill>
                <a:hlinkClick r:id="rId3">
                  <a:extLst>
                    <a:ext uri="{A12FA001-AC4F-418D-AE19-62706E023703}">
                      <ahyp:hlinkClr xmlns="" xmlns:ahyp="http://schemas.microsoft.com/office/drawing/2018/hyperlinkcolor" val="tx"/>
                    </a:ext>
                  </a:extLst>
                </a:hlinkClick>
              </a:rPr>
              <a:t>https://www.iqsdirectory.com/resources/everything-you-ever-wanted-to-know-about-semiconductors/</a:t>
            </a:r>
            <a:endParaRPr lang="en-US" sz="1800" b="1" dirty="0">
              <a:solidFill>
                <a:srgbClr val="7030A0"/>
              </a:solidFill>
            </a:endParaRPr>
          </a:p>
        </p:txBody>
      </p:sp>
      <p:pic>
        <p:nvPicPr>
          <p:cNvPr id="3" name="Picture 2">
            <a:extLst>
              <a:ext uri="{FF2B5EF4-FFF2-40B4-BE49-F238E27FC236}">
                <a16:creationId xmlns="" xmlns:a16="http://schemas.microsoft.com/office/drawing/2014/main" id="{CF519C70-D760-42E7-8BD2-6D327CBFDD43}"/>
              </a:ext>
            </a:extLst>
          </p:cNvPr>
          <p:cNvPicPr>
            <a:picLocks noChangeAspect="1"/>
          </p:cNvPicPr>
          <p:nvPr/>
        </p:nvPicPr>
        <p:blipFill>
          <a:blip r:embed="rId4">
            <a:extLst>
              <a:ext uri="{28A0092B-C50C-407E-A947-70E740481C1C}">
                <a14:useLocalDpi xmlns="" xmlns:a14="http://schemas.microsoft.com/office/drawing/2010/main" val="0"/>
              </a:ext>
            </a:extLst>
          </a:blip>
          <a:stretch>
            <a:fillRect/>
          </a:stretch>
        </p:blipFill>
        <p:spPr>
          <a:xfrm>
            <a:off x="7094509" y="2226079"/>
            <a:ext cx="4716534" cy="2655409"/>
          </a:xfrm>
          <a:prstGeom prst="rect">
            <a:avLst/>
          </a:prstGeom>
        </p:spPr>
      </p:pic>
    </p:spTree>
    <p:custDataLst>
      <p:tags r:id="rId1"/>
    </p:custDataLst>
    <p:extLst>
      <p:ext uri="{BB962C8B-B14F-4D97-AF65-F5344CB8AC3E}">
        <p14:creationId xmlns="" xmlns:p14="http://schemas.microsoft.com/office/powerpoint/2010/main" val="40180973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a:xfrm>
            <a:off x="8839200" y="6356350"/>
            <a:ext cx="2743200" cy="365125"/>
          </a:xfrm>
        </p:spPr>
        <p:txBody>
          <a:bodyPr/>
          <a:lstStyle/>
          <a:p>
            <a:fld id="{BDCDBBEF-AA6C-4BA6-85B2-A17D7F280E38}" type="slidenum">
              <a:rPr lang="en-US" smtClean="0"/>
              <a:pPr/>
              <a:t>3</a:t>
            </a:fld>
            <a:endParaRPr lang="en-US" dirty="0"/>
          </a:p>
        </p:txBody>
      </p:sp>
      <p:sp>
        <p:nvSpPr>
          <p:cNvPr id="8" name="Title 7"/>
          <p:cNvSpPr txBox="1">
            <a:spLocks noGrp="1" noChangeArrowheads="1"/>
          </p:cNvSpPr>
          <p:nvPr>
            <p:ph type="title"/>
          </p:nvPr>
        </p:nvSpPr>
        <p:spPr bwMode="auto">
          <a:xfrm>
            <a:off x="854211" y="214063"/>
            <a:ext cx="4456567" cy="131112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algn="ctr"/>
            <a:r>
              <a:rPr lang="en-US" sz="4400" b="1" dirty="0">
                <a:latin typeface="Casper"/>
              </a:rPr>
              <a:t>Course Outcomes</a:t>
            </a:r>
          </a:p>
        </p:txBody>
      </p:sp>
      <p:sp>
        <p:nvSpPr>
          <p:cNvPr id="10" name="Oval 9"/>
          <p:cNvSpPr/>
          <p:nvPr/>
        </p:nvSpPr>
        <p:spPr>
          <a:xfrm>
            <a:off x="11217276" y="6324600"/>
            <a:ext cx="444500" cy="4222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ontent Placeholder 8"/>
          <p:cNvSpPr>
            <a:spLocks noGrp="1"/>
          </p:cNvSpPr>
          <p:nvPr>
            <p:ph idx="1"/>
          </p:nvPr>
        </p:nvSpPr>
        <p:spPr>
          <a:xfrm>
            <a:off x="6566485" y="5421087"/>
            <a:ext cx="5214762" cy="518341"/>
          </a:xfrm>
        </p:spPr>
        <p:txBody>
          <a:bodyPr>
            <a:noAutofit/>
          </a:bodyPr>
          <a:lstStyle/>
          <a:p>
            <a:pPr algn="ctr">
              <a:buNone/>
            </a:pPr>
            <a:r>
              <a:rPr lang="en-US" sz="1800" b="1" dirty="0">
                <a:solidFill>
                  <a:srgbClr val="7030A0"/>
                </a:solidFill>
                <a:hlinkClick r:id="rId3">
                  <a:extLst>
                    <a:ext uri="{A12FA001-AC4F-418D-AE19-62706E023703}">
                      <ahyp:hlinkClr xmlns="" xmlns:ahyp="http://schemas.microsoft.com/office/drawing/2018/hyperlinkcolor" val="tx"/>
                    </a:ext>
                  </a:extLst>
                </a:hlinkClick>
              </a:rPr>
              <a:t>https://lot.dhl.com/5-things-the-current-semiconductor-slowdown-tells-us-about-the-global-economy/</a:t>
            </a:r>
            <a:endParaRPr lang="en-US" sz="1800" b="1" dirty="0">
              <a:solidFill>
                <a:srgbClr val="7030A0"/>
              </a:solidFill>
            </a:endParaRPr>
          </a:p>
        </p:txBody>
      </p:sp>
      <p:graphicFrame>
        <p:nvGraphicFramePr>
          <p:cNvPr id="2" name="Table 1">
            <a:extLst>
              <a:ext uri="{FF2B5EF4-FFF2-40B4-BE49-F238E27FC236}">
                <a16:creationId xmlns="" xmlns:a16="http://schemas.microsoft.com/office/drawing/2014/main" id="{8162587E-E0B8-4626-8CC1-A1300E812FD3}"/>
              </a:ext>
            </a:extLst>
          </p:cNvPr>
          <p:cNvGraphicFramePr>
            <a:graphicFrameLocks noGrp="1"/>
          </p:cNvGraphicFramePr>
          <p:nvPr>
            <p:extLst>
              <p:ext uri="{D42A27DB-BD31-4B8C-83A1-F6EECF244321}">
                <p14:modId xmlns="" xmlns:p14="http://schemas.microsoft.com/office/powerpoint/2010/main" val="637862230"/>
              </p:ext>
            </p:extLst>
          </p:nvPr>
        </p:nvGraphicFramePr>
        <p:xfrm>
          <a:off x="307925" y="1881052"/>
          <a:ext cx="6354132" cy="4778877"/>
        </p:xfrm>
        <a:graphic>
          <a:graphicData uri="http://schemas.openxmlformats.org/drawingml/2006/table">
            <a:tbl>
              <a:tblPr firstRow="1" firstCol="1" bandRow="1">
                <a:tableStyleId>{5940675A-B579-460E-94D1-54222C63F5DA}</a:tableStyleId>
              </a:tblPr>
              <a:tblGrid>
                <a:gridCol w="709811">
                  <a:extLst>
                    <a:ext uri="{9D8B030D-6E8A-4147-A177-3AD203B41FA5}">
                      <a16:colId xmlns="" xmlns:a16="http://schemas.microsoft.com/office/drawing/2014/main" val="3145357031"/>
                    </a:ext>
                  </a:extLst>
                </a:gridCol>
                <a:gridCol w="3525847">
                  <a:extLst>
                    <a:ext uri="{9D8B030D-6E8A-4147-A177-3AD203B41FA5}">
                      <a16:colId xmlns="" xmlns:a16="http://schemas.microsoft.com/office/drawing/2014/main" val="1912344179"/>
                    </a:ext>
                  </a:extLst>
                </a:gridCol>
                <a:gridCol w="2118474">
                  <a:extLst>
                    <a:ext uri="{9D8B030D-6E8A-4147-A177-3AD203B41FA5}">
                      <a16:colId xmlns="" xmlns:a16="http://schemas.microsoft.com/office/drawing/2014/main" val="1723345131"/>
                    </a:ext>
                  </a:extLst>
                </a:gridCol>
              </a:tblGrid>
              <a:tr h="919098">
                <a:tc>
                  <a:txBody>
                    <a:bodyPr/>
                    <a:lstStyle/>
                    <a:p>
                      <a:pPr algn="just">
                        <a:spcBef>
                          <a:spcPts val="600"/>
                        </a:spcBef>
                        <a:spcAft>
                          <a:spcPts val="600"/>
                        </a:spcAft>
                      </a:pPr>
                      <a:r>
                        <a:rPr lang="en-US" sz="1600" dirty="0">
                          <a:effectLst/>
                        </a:rPr>
                        <a:t>S.NO</a:t>
                      </a:r>
                      <a:endParaRPr lang="en-IN"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spcBef>
                          <a:spcPts val="600"/>
                        </a:spcBef>
                        <a:spcAft>
                          <a:spcPts val="600"/>
                        </a:spcAft>
                      </a:pPr>
                      <a:r>
                        <a:rPr lang="en-US" sz="1600">
                          <a:effectLst/>
                        </a:rPr>
                        <a:t>Description</a:t>
                      </a:r>
                      <a:endParaRPr lang="en-IN"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spcBef>
                          <a:spcPts val="600"/>
                        </a:spcBef>
                        <a:spcAft>
                          <a:spcPts val="600"/>
                        </a:spcAft>
                      </a:pPr>
                      <a:r>
                        <a:rPr lang="en-US" sz="1600">
                          <a:effectLst/>
                        </a:rPr>
                        <a:t>Blooms’ Taxonomy Level</a:t>
                      </a:r>
                      <a:endParaRPr lang="en-IN"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 xmlns:a16="http://schemas.microsoft.com/office/drawing/2014/main" val="1035748488"/>
                  </a:ext>
                </a:extLst>
              </a:tr>
              <a:tr h="660601">
                <a:tc>
                  <a:txBody>
                    <a:bodyPr/>
                    <a:lstStyle/>
                    <a:p>
                      <a:pPr marR="53975" algn="ctr">
                        <a:lnSpc>
                          <a:spcPct val="107000"/>
                        </a:lnSpc>
                        <a:spcAft>
                          <a:spcPts val="0"/>
                        </a:spcAft>
                      </a:pPr>
                      <a:r>
                        <a:rPr lang="en-IN" sz="1400" dirty="0">
                          <a:latin typeface="Times New Roman"/>
                          <a:ea typeface="Times New Roman"/>
                          <a:cs typeface="Raavi"/>
                        </a:rPr>
                        <a:t>CO1</a:t>
                      </a:r>
                      <a:endParaRPr lang="en-US" sz="1400" dirty="0">
                        <a:latin typeface="Calibri"/>
                        <a:ea typeface="Calibri"/>
                        <a:cs typeface="Raavi"/>
                      </a:endParaRPr>
                    </a:p>
                  </a:txBody>
                  <a:tcPr marL="68580" marR="68580" marT="0" marB="0" anchor="ctr"/>
                </a:tc>
                <a:tc>
                  <a:txBody>
                    <a:bodyPr/>
                    <a:lstStyle/>
                    <a:p>
                      <a:pPr algn="just">
                        <a:lnSpc>
                          <a:spcPct val="115000"/>
                        </a:lnSpc>
                        <a:spcAft>
                          <a:spcPts val="0"/>
                        </a:spcAft>
                      </a:pPr>
                      <a:r>
                        <a:rPr lang="en-IN" sz="1400" dirty="0">
                          <a:latin typeface="Times New Roman"/>
                          <a:ea typeface="Adobe Garamond Pro"/>
                          <a:cs typeface="Raavi"/>
                        </a:rPr>
                        <a:t>To apply the knowledge of basic semiconductor material physics and understand fabrication processes.</a:t>
                      </a:r>
                      <a:endParaRPr lang="en-US" sz="1400" dirty="0">
                        <a:latin typeface="Calibri"/>
                        <a:cs typeface="Raavi"/>
                      </a:endParaRPr>
                    </a:p>
                  </a:txBody>
                  <a:tcPr marL="68580" marR="68580" marT="0" marB="0"/>
                </a:tc>
                <a:tc>
                  <a:txBody>
                    <a:bodyPr/>
                    <a:lstStyle/>
                    <a:p>
                      <a:pPr algn="ctr">
                        <a:lnSpc>
                          <a:spcPct val="107000"/>
                        </a:lnSpc>
                        <a:spcAft>
                          <a:spcPts val="0"/>
                        </a:spcAft>
                      </a:pPr>
                      <a:r>
                        <a:rPr lang="en-IN" sz="1400" dirty="0">
                          <a:latin typeface="Times New Roman"/>
                          <a:ea typeface="Times New Roman"/>
                          <a:cs typeface="Raavi"/>
                        </a:rPr>
                        <a:t>EASY</a:t>
                      </a:r>
                      <a:endParaRPr lang="en-US" sz="1400" dirty="0">
                        <a:latin typeface="Calibri"/>
                        <a:ea typeface="Calibri"/>
                        <a:cs typeface="Raavi"/>
                      </a:endParaRPr>
                    </a:p>
                  </a:txBody>
                  <a:tcPr marL="68580" marR="68580" marT="0" marB="0" anchor="ctr"/>
                </a:tc>
                <a:extLst>
                  <a:ext uri="{0D108BD9-81ED-4DB2-BD59-A6C34878D82A}">
                    <a16:rowId xmlns="" xmlns:a16="http://schemas.microsoft.com/office/drawing/2014/main" val="2905167788"/>
                  </a:ext>
                </a:extLst>
              </a:tr>
              <a:tr h="660601">
                <a:tc>
                  <a:txBody>
                    <a:bodyPr/>
                    <a:lstStyle/>
                    <a:p>
                      <a:pPr marR="53975" algn="ctr">
                        <a:lnSpc>
                          <a:spcPct val="107000"/>
                        </a:lnSpc>
                        <a:spcAft>
                          <a:spcPts val="0"/>
                        </a:spcAft>
                      </a:pPr>
                      <a:r>
                        <a:rPr lang="en-IN" sz="1400">
                          <a:latin typeface="Times New Roman"/>
                          <a:ea typeface="Times New Roman"/>
                          <a:cs typeface="Raavi"/>
                        </a:rPr>
                        <a:t>CO2</a:t>
                      </a:r>
                      <a:endParaRPr lang="en-US" sz="1400">
                        <a:latin typeface="Calibri"/>
                        <a:ea typeface="Calibri"/>
                        <a:cs typeface="Raavi"/>
                      </a:endParaRPr>
                    </a:p>
                  </a:txBody>
                  <a:tcPr marL="68580" marR="68580" marT="0" marB="0" anchor="ctr"/>
                </a:tc>
                <a:tc>
                  <a:txBody>
                    <a:bodyPr/>
                    <a:lstStyle/>
                    <a:p>
                      <a:pPr algn="just">
                        <a:lnSpc>
                          <a:spcPct val="115000"/>
                        </a:lnSpc>
                        <a:spcAft>
                          <a:spcPts val="0"/>
                        </a:spcAft>
                      </a:pPr>
                      <a:r>
                        <a:rPr lang="en-IN" sz="1400" dirty="0">
                          <a:solidFill>
                            <a:srgbClr val="000000"/>
                          </a:solidFill>
                          <a:latin typeface="Times New Roman"/>
                          <a:ea typeface="Times New Roman"/>
                          <a:cs typeface="Raavi"/>
                        </a:rPr>
                        <a:t>To understand </a:t>
                      </a:r>
                      <a:r>
                        <a:rPr lang="en-IN" sz="1400" dirty="0">
                          <a:latin typeface="Times New Roman"/>
                          <a:cs typeface="Raavi"/>
                        </a:rPr>
                        <a:t> the characteristics of different electronic devices such as diodes, transistors.</a:t>
                      </a:r>
                      <a:endParaRPr lang="en-US" sz="1400" dirty="0">
                        <a:latin typeface="Calibri"/>
                        <a:cs typeface="Raavi"/>
                      </a:endParaRPr>
                    </a:p>
                  </a:txBody>
                  <a:tcPr marL="68580" marR="68580" marT="0" marB="0"/>
                </a:tc>
                <a:tc>
                  <a:txBody>
                    <a:bodyPr/>
                    <a:lstStyle/>
                    <a:p>
                      <a:pPr algn="ctr">
                        <a:lnSpc>
                          <a:spcPct val="107000"/>
                        </a:lnSpc>
                        <a:spcAft>
                          <a:spcPts val="0"/>
                        </a:spcAft>
                      </a:pPr>
                      <a:r>
                        <a:rPr lang="en-IN" sz="1400">
                          <a:latin typeface="Times New Roman"/>
                          <a:ea typeface="Times New Roman"/>
                          <a:cs typeface="Raavi"/>
                        </a:rPr>
                        <a:t>MEDIUM</a:t>
                      </a:r>
                      <a:endParaRPr lang="en-US" sz="1400">
                        <a:latin typeface="Calibri"/>
                        <a:ea typeface="Calibri"/>
                        <a:cs typeface="Raavi"/>
                      </a:endParaRPr>
                    </a:p>
                  </a:txBody>
                  <a:tcPr marL="68580" marR="68580" marT="0" marB="0" anchor="ctr"/>
                </a:tc>
                <a:extLst>
                  <a:ext uri="{0D108BD9-81ED-4DB2-BD59-A6C34878D82A}">
                    <a16:rowId xmlns="" xmlns:a16="http://schemas.microsoft.com/office/drawing/2014/main" val="1036068956"/>
                  </a:ext>
                </a:extLst>
              </a:tr>
              <a:tr h="660601">
                <a:tc>
                  <a:txBody>
                    <a:bodyPr/>
                    <a:lstStyle/>
                    <a:p>
                      <a:pPr marR="53975" algn="ctr">
                        <a:lnSpc>
                          <a:spcPct val="107000"/>
                        </a:lnSpc>
                        <a:spcAft>
                          <a:spcPts val="0"/>
                        </a:spcAft>
                      </a:pPr>
                      <a:r>
                        <a:rPr lang="en-IN" sz="1400">
                          <a:latin typeface="Times New Roman"/>
                          <a:ea typeface="Times New Roman"/>
                          <a:cs typeface="Raavi"/>
                        </a:rPr>
                        <a:t>CO3</a:t>
                      </a:r>
                      <a:endParaRPr lang="en-US" sz="1400">
                        <a:latin typeface="Calibri"/>
                        <a:ea typeface="Calibri"/>
                        <a:cs typeface="Raavi"/>
                      </a:endParaRPr>
                    </a:p>
                  </a:txBody>
                  <a:tcPr marL="68580" marR="68580" marT="0" marB="0" anchor="ctr"/>
                </a:tc>
                <a:tc>
                  <a:txBody>
                    <a:bodyPr/>
                    <a:lstStyle/>
                    <a:p>
                      <a:pPr indent="31115" algn="just">
                        <a:lnSpc>
                          <a:spcPct val="115000"/>
                        </a:lnSpc>
                        <a:spcAft>
                          <a:spcPts val="0"/>
                        </a:spcAft>
                      </a:pPr>
                      <a:r>
                        <a:rPr lang="en-IN" sz="1400" dirty="0">
                          <a:latin typeface="Times New Roman"/>
                          <a:ea typeface="Adobe Garamond Pro"/>
                          <a:cs typeface="Raavi"/>
                        </a:rPr>
                        <a:t>To derive the relationships between the parameters in diode, FET, configurations of Transistor and MOSFETs.</a:t>
                      </a:r>
                      <a:endParaRPr lang="en-US" sz="1400" dirty="0">
                        <a:latin typeface="Calibri"/>
                        <a:cs typeface="Raavi"/>
                      </a:endParaRPr>
                    </a:p>
                  </a:txBody>
                  <a:tcPr marL="68580" marR="68580" marT="0" marB="0"/>
                </a:tc>
                <a:tc>
                  <a:txBody>
                    <a:bodyPr/>
                    <a:lstStyle/>
                    <a:p>
                      <a:pPr indent="31115" algn="ctr">
                        <a:lnSpc>
                          <a:spcPct val="107000"/>
                        </a:lnSpc>
                        <a:spcAft>
                          <a:spcPts val="0"/>
                        </a:spcAft>
                      </a:pPr>
                      <a:r>
                        <a:rPr lang="en-IN" sz="1400">
                          <a:latin typeface="Times New Roman"/>
                          <a:ea typeface="Times New Roman"/>
                          <a:cs typeface="Raavi"/>
                        </a:rPr>
                        <a:t>MEDIUM</a:t>
                      </a:r>
                      <a:endParaRPr lang="en-US" sz="1400">
                        <a:latin typeface="Calibri"/>
                        <a:ea typeface="Calibri"/>
                        <a:cs typeface="Raavi"/>
                      </a:endParaRPr>
                    </a:p>
                  </a:txBody>
                  <a:tcPr marL="68580" marR="68580" marT="0" marB="0" anchor="ctr"/>
                </a:tc>
                <a:extLst>
                  <a:ext uri="{0D108BD9-81ED-4DB2-BD59-A6C34878D82A}">
                    <a16:rowId xmlns="" xmlns:a16="http://schemas.microsoft.com/office/drawing/2014/main" val="1044161678"/>
                  </a:ext>
                </a:extLst>
              </a:tr>
              <a:tr h="990902">
                <a:tc>
                  <a:txBody>
                    <a:bodyPr/>
                    <a:lstStyle/>
                    <a:p>
                      <a:pPr marR="53975" algn="ctr">
                        <a:lnSpc>
                          <a:spcPct val="107000"/>
                        </a:lnSpc>
                        <a:spcAft>
                          <a:spcPts val="0"/>
                        </a:spcAft>
                      </a:pPr>
                      <a:r>
                        <a:rPr lang="en-IN" sz="1400">
                          <a:latin typeface="Times New Roman"/>
                          <a:ea typeface="Times New Roman"/>
                          <a:cs typeface="Raavi"/>
                        </a:rPr>
                        <a:t>CO4</a:t>
                      </a:r>
                      <a:endParaRPr lang="en-US" sz="1400">
                        <a:latin typeface="Calibri"/>
                        <a:ea typeface="Calibri"/>
                        <a:cs typeface="Raavi"/>
                      </a:endParaRPr>
                    </a:p>
                  </a:txBody>
                  <a:tcPr marL="68580" marR="68580" marT="0" marB="0" anchor="ctr"/>
                </a:tc>
                <a:tc>
                  <a:txBody>
                    <a:bodyPr/>
                    <a:lstStyle/>
                    <a:p>
                      <a:pPr algn="just">
                        <a:lnSpc>
                          <a:spcPct val="115000"/>
                        </a:lnSpc>
                        <a:spcAft>
                          <a:spcPts val="0"/>
                        </a:spcAft>
                      </a:pPr>
                      <a:r>
                        <a:rPr lang="en-IN" sz="1400" dirty="0">
                          <a:solidFill>
                            <a:srgbClr val="000000"/>
                          </a:solidFill>
                          <a:latin typeface="Times New Roman"/>
                          <a:ea typeface="Times New Roman"/>
                          <a:cs typeface="Raavi"/>
                        </a:rPr>
                        <a:t>To describe the working and design considerations for the various photonic devices like photo detectors, solar-cells and LEDs.</a:t>
                      </a:r>
                      <a:endParaRPr lang="en-US" sz="1400" dirty="0">
                        <a:latin typeface="Calibri"/>
                        <a:cs typeface="Raavi"/>
                      </a:endParaRPr>
                    </a:p>
                  </a:txBody>
                  <a:tcPr marL="68580" marR="68580" marT="0" marB="0"/>
                </a:tc>
                <a:tc>
                  <a:txBody>
                    <a:bodyPr/>
                    <a:lstStyle/>
                    <a:p>
                      <a:pPr algn="ctr">
                        <a:lnSpc>
                          <a:spcPct val="107000"/>
                        </a:lnSpc>
                        <a:spcAft>
                          <a:spcPts val="0"/>
                        </a:spcAft>
                      </a:pPr>
                      <a:r>
                        <a:rPr lang="en-IN" sz="1400" dirty="0">
                          <a:latin typeface="Times New Roman"/>
                          <a:ea typeface="Times New Roman"/>
                          <a:cs typeface="Raavi"/>
                        </a:rPr>
                        <a:t>HARD</a:t>
                      </a:r>
                      <a:endParaRPr lang="en-US" sz="1400" dirty="0">
                        <a:latin typeface="Calibri"/>
                        <a:ea typeface="Calibri"/>
                        <a:cs typeface="Raavi"/>
                      </a:endParaRPr>
                    </a:p>
                  </a:txBody>
                  <a:tcPr marL="68580" marR="68580" marT="0" marB="0" anchor="ctr"/>
                </a:tc>
                <a:extLst>
                  <a:ext uri="{0D108BD9-81ED-4DB2-BD59-A6C34878D82A}">
                    <a16:rowId xmlns="" xmlns:a16="http://schemas.microsoft.com/office/drawing/2014/main" val="3677875048"/>
                  </a:ext>
                </a:extLst>
              </a:tr>
              <a:tr h="660601">
                <a:tc>
                  <a:txBody>
                    <a:bodyPr/>
                    <a:lstStyle/>
                    <a:p>
                      <a:pPr marR="53975" algn="ctr">
                        <a:lnSpc>
                          <a:spcPct val="107000"/>
                        </a:lnSpc>
                        <a:spcAft>
                          <a:spcPts val="0"/>
                        </a:spcAft>
                      </a:pPr>
                      <a:r>
                        <a:rPr lang="en-IN" sz="1400">
                          <a:latin typeface="Times New Roman"/>
                          <a:ea typeface="Times New Roman"/>
                          <a:cs typeface="Raavi"/>
                        </a:rPr>
                        <a:t>CO5</a:t>
                      </a:r>
                      <a:endParaRPr lang="en-US" sz="1400">
                        <a:latin typeface="Calibri"/>
                        <a:ea typeface="Calibri"/>
                        <a:cs typeface="Raavi"/>
                      </a:endParaRPr>
                    </a:p>
                  </a:txBody>
                  <a:tcPr marL="68580" marR="68580" marT="0" marB="0" anchor="ctr"/>
                </a:tc>
                <a:tc>
                  <a:txBody>
                    <a:bodyPr/>
                    <a:lstStyle/>
                    <a:p>
                      <a:pPr indent="-31115" algn="just">
                        <a:lnSpc>
                          <a:spcPct val="115000"/>
                        </a:lnSpc>
                        <a:spcAft>
                          <a:spcPts val="0"/>
                        </a:spcAft>
                      </a:pPr>
                      <a:r>
                        <a:rPr lang="en-IN" sz="1400" dirty="0">
                          <a:solidFill>
                            <a:srgbClr val="000000"/>
                          </a:solidFill>
                          <a:latin typeface="Times New Roman"/>
                          <a:ea typeface="Times New Roman"/>
                          <a:cs typeface="Raavi"/>
                        </a:rPr>
                        <a:t>To provide problem solving experience and learning of concepts through it in semiconductor physics.</a:t>
                      </a:r>
                      <a:endParaRPr lang="en-US" sz="1400" dirty="0">
                        <a:latin typeface="Calibri"/>
                        <a:cs typeface="Raavi"/>
                      </a:endParaRPr>
                    </a:p>
                  </a:txBody>
                  <a:tcPr marL="68580" marR="68580" marT="0" marB="0"/>
                </a:tc>
                <a:tc>
                  <a:txBody>
                    <a:bodyPr/>
                    <a:lstStyle/>
                    <a:p>
                      <a:pPr indent="-31115" algn="ctr">
                        <a:lnSpc>
                          <a:spcPct val="107000"/>
                        </a:lnSpc>
                        <a:spcAft>
                          <a:spcPts val="0"/>
                        </a:spcAft>
                      </a:pPr>
                      <a:r>
                        <a:rPr lang="en-IN" sz="1400" dirty="0">
                          <a:latin typeface="Times New Roman"/>
                          <a:ea typeface="Times New Roman"/>
                          <a:cs typeface="Raavi"/>
                        </a:rPr>
                        <a:t>HARD</a:t>
                      </a:r>
                      <a:endParaRPr lang="en-US" sz="1400" dirty="0">
                        <a:latin typeface="Calibri"/>
                        <a:ea typeface="Calibri"/>
                        <a:cs typeface="Raavi"/>
                      </a:endParaRPr>
                    </a:p>
                  </a:txBody>
                  <a:tcPr marL="68580" marR="68580" marT="0" marB="0" anchor="ctr"/>
                </a:tc>
                <a:extLst>
                  <a:ext uri="{0D108BD9-81ED-4DB2-BD59-A6C34878D82A}">
                    <a16:rowId xmlns="" xmlns:a16="http://schemas.microsoft.com/office/drawing/2014/main" val="1993640399"/>
                  </a:ext>
                </a:extLst>
              </a:tr>
            </a:tbl>
          </a:graphicData>
        </a:graphic>
      </p:graphicFrame>
      <p:pic>
        <p:nvPicPr>
          <p:cNvPr id="4" name="Picture 3">
            <a:extLst>
              <a:ext uri="{FF2B5EF4-FFF2-40B4-BE49-F238E27FC236}">
                <a16:creationId xmlns="" xmlns:a16="http://schemas.microsoft.com/office/drawing/2014/main" id="{72E5EA36-20D2-4DE4-BBC5-F5A55DBA5C10}"/>
              </a:ext>
            </a:extLst>
          </p:cNvPr>
          <p:cNvPicPr>
            <a:picLocks noChangeAspect="1"/>
          </p:cNvPicPr>
          <p:nvPr/>
        </p:nvPicPr>
        <p:blipFill>
          <a:blip r:embed="rId4">
            <a:extLst>
              <a:ext uri="{28A0092B-C50C-407E-A947-70E740481C1C}">
                <a14:useLocalDpi xmlns="" xmlns:a14="http://schemas.microsoft.com/office/drawing/2010/main" val="0"/>
              </a:ext>
            </a:extLst>
          </a:blip>
          <a:stretch>
            <a:fillRect/>
          </a:stretch>
        </p:blipFill>
        <p:spPr>
          <a:xfrm>
            <a:off x="6701247" y="2368915"/>
            <a:ext cx="5080000" cy="2667000"/>
          </a:xfrm>
          <a:prstGeom prst="rect">
            <a:avLst/>
          </a:prstGeom>
        </p:spPr>
      </p:pic>
    </p:spTree>
    <p:custDataLst>
      <p:tags r:id="rId1"/>
    </p:custDataLst>
    <p:extLst>
      <p:ext uri="{BB962C8B-B14F-4D97-AF65-F5344CB8AC3E}">
        <p14:creationId xmlns="" xmlns:p14="http://schemas.microsoft.com/office/powerpoint/2010/main" val="39016935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0361"/>
            <a:ext cx="10515600" cy="1279527"/>
          </a:xfrm>
        </p:spPr>
        <p:txBody>
          <a:bodyPr>
            <a:normAutofit/>
          </a:bodyPr>
          <a:lstStyle/>
          <a:p>
            <a:pPr algn="ctr"/>
            <a:r>
              <a:rPr lang="en-US" b="1" dirty="0" smtClean="0">
                <a:cs typeface="Arial" panose="020B0604020202020204" pitchFamily="34" charset="0"/>
              </a:rPr>
              <a:t>Content</a:t>
            </a:r>
            <a:r>
              <a:rPr lang="en-US" b="1" dirty="0" smtClean="0">
                <a:latin typeface="Casper"/>
                <a:cs typeface="Arial" panose="020B0604020202020204" pitchFamily="34" charset="0"/>
              </a:rPr>
              <a:t> </a:t>
            </a:r>
            <a:r>
              <a:rPr lang="en-US" b="1" dirty="0" smtClean="0">
                <a:latin typeface="Casper"/>
              </a:rPr>
              <a:t>  </a:t>
            </a:r>
            <a:endParaRPr lang="en-US" b="1" dirty="0">
              <a:latin typeface="Casper"/>
            </a:endParaRPr>
          </a:p>
        </p:txBody>
      </p:sp>
      <p:sp>
        <p:nvSpPr>
          <p:cNvPr id="3" name="Content Placeholder 2"/>
          <p:cNvSpPr>
            <a:spLocks noGrp="1"/>
          </p:cNvSpPr>
          <p:nvPr>
            <p:ph idx="1"/>
          </p:nvPr>
        </p:nvSpPr>
        <p:spPr/>
        <p:txBody>
          <a:bodyPr>
            <a:normAutofit/>
          </a:bodyPr>
          <a:lstStyle/>
          <a:p>
            <a:pPr>
              <a:buFont typeface="Wingdings" pitchFamily="2" charset="2"/>
              <a:buChar char="v"/>
            </a:pPr>
            <a:r>
              <a:rPr lang="en-US" dirty="0" smtClean="0">
                <a:latin typeface="Times New Roman" pitchFamily="18" charset="0"/>
                <a:cs typeface="Times New Roman" pitchFamily="18" charset="0"/>
              </a:rPr>
              <a:t>Introduction to </a:t>
            </a:r>
            <a:r>
              <a:rPr lang="en-US" dirty="0" smtClean="0"/>
              <a:t>Optoelectronics</a:t>
            </a:r>
            <a:endParaRPr lang="en-US" dirty="0" smtClean="0">
              <a:latin typeface="Times New Roman" pitchFamily="18" charset="0"/>
              <a:cs typeface="Times New Roman" pitchFamily="18" charset="0"/>
            </a:endParaRPr>
          </a:p>
          <a:p>
            <a:pPr lvl="0">
              <a:buFont typeface="Wingdings" pitchFamily="2" charset="2"/>
              <a:buChar char="v"/>
            </a:pPr>
            <a:r>
              <a:rPr lang="en-US" dirty="0" smtClean="0"/>
              <a:t>Types of Optoelectronics Devices</a:t>
            </a:r>
          </a:p>
          <a:p>
            <a:pPr marL="342900" indent="-342900">
              <a:lnSpc>
                <a:spcPct val="100000"/>
              </a:lnSpc>
              <a:spcBef>
                <a:spcPts val="0"/>
              </a:spcBef>
              <a:buFont typeface="Wingdings" pitchFamily="2" charset="2"/>
              <a:buChar char="v"/>
            </a:pPr>
            <a:r>
              <a:rPr lang="en-US" dirty="0" smtClean="0"/>
              <a:t>APPLICATIONS OF OPTOELECTRONICS DEVICES</a:t>
            </a:r>
          </a:p>
          <a:p>
            <a:pPr>
              <a:buFont typeface="Wingdings" pitchFamily="2" charset="2"/>
              <a:buChar char="v"/>
            </a:pPr>
            <a:r>
              <a:rPr lang="en-US" dirty="0" smtClean="0"/>
              <a:t>PHOTOELECTRIC EFFECT IN SEMICONDUCTORS </a:t>
            </a:r>
          </a:p>
          <a:p>
            <a:pPr>
              <a:buNone/>
            </a:pPr>
            <a:endParaRPr lang="en-US" dirty="0" smtClean="0"/>
          </a:p>
        </p:txBody>
      </p:sp>
      <p:sp>
        <p:nvSpPr>
          <p:cNvPr id="4" name="Slide Number Placeholder 3"/>
          <p:cNvSpPr>
            <a:spLocks noGrp="1"/>
          </p:cNvSpPr>
          <p:nvPr>
            <p:ph type="sldNum" sz="quarter" idx="12"/>
          </p:nvPr>
        </p:nvSpPr>
        <p:spPr/>
        <p:txBody>
          <a:bodyPr/>
          <a:lstStyle/>
          <a:p>
            <a:fld id="{BDCDBBEF-AA6C-4BA6-85B2-A17D7F280E38}" type="slidenum">
              <a:rPr lang="en-US" smtClean="0"/>
              <a:pPr/>
              <a:t>4</a:t>
            </a:fld>
            <a:endParaRPr lang="en-US"/>
          </a:p>
        </p:txBody>
      </p:sp>
      <p:sp>
        <p:nvSpPr>
          <p:cNvPr id="5" name="Rectangle 4"/>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838200" y="360361"/>
            <a:ext cx="10515600" cy="126365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 xmlns:p14="http://schemas.microsoft.com/office/powerpoint/2010/main" val="8237023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9" presetClass="entr" presetSubtype="0" decel="10000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p:cTn id="7" dur="500" fill="hold"/>
                                        <p:tgtEl>
                                          <p:spTgt spid="3">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3">
                                            <p:txEl>
                                              <p:pRg st="0" end="0"/>
                                            </p:txEl>
                                          </p:spTgt>
                                        </p:tgtEl>
                                        <p:attrNameLst>
                                          <p:attrName>ppt_h</p:attrName>
                                        </p:attrNameLst>
                                      </p:cBhvr>
                                      <p:tavLst>
                                        <p:tav tm="0">
                                          <p:val>
                                            <p:fltVal val="0"/>
                                          </p:val>
                                        </p:tav>
                                        <p:tav tm="100000">
                                          <p:val>
                                            <p:strVal val="#ppt_h"/>
                                          </p:val>
                                        </p:tav>
                                      </p:tavLst>
                                    </p:anim>
                                    <p:anim calcmode="lin" valueType="num">
                                      <p:cBhvr>
                                        <p:cTn id="9" dur="500" fill="hold"/>
                                        <p:tgtEl>
                                          <p:spTgt spid="3">
                                            <p:txEl>
                                              <p:pRg st="0" end="0"/>
                                            </p:txEl>
                                          </p:spTgt>
                                        </p:tgtEl>
                                        <p:attrNameLst>
                                          <p:attrName>style.rotation</p:attrName>
                                        </p:attrNameLst>
                                      </p:cBhvr>
                                      <p:tavLst>
                                        <p:tav tm="0">
                                          <p:val>
                                            <p:fltVal val="360"/>
                                          </p:val>
                                        </p:tav>
                                        <p:tav tm="100000">
                                          <p:val>
                                            <p:fltVal val="0"/>
                                          </p:val>
                                        </p:tav>
                                      </p:tavLst>
                                    </p:anim>
                                    <p:animEffect transition="in" filter="fade">
                                      <p:cBhvr>
                                        <p:cTn id="10" dur="500"/>
                                        <p:tgtEl>
                                          <p:spTgt spid="3">
                                            <p:txEl>
                                              <p:pRg st="0" end="0"/>
                                            </p:txEl>
                                          </p:spTgt>
                                        </p:tgtEl>
                                      </p:cBhvr>
                                    </p:animEffect>
                                  </p:childTnLst>
                                </p:cTn>
                              </p:par>
                              <p:par>
                                <p:cTn id="11" presetID="49" presetClass="entr" presetSubtype="0" decel="100000" fill="hold" nodeType="with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p:cTn id="13" dur="500" fill="hold"/>
                                        <p:tgtEl>
                                          <p:spTgt spid="3">
                                            <p:txEl>
                                              <p:pRg st="1" end="1"/>
                                            </p:txEl>
                                          </p:spTgt>
                                        </p:tgtEl>
                                        <p:attrNameLst>
                                          <p:attrName>ppt_w</p:attrName>
                                        </p:attrNameLst>
                                      </p:cBhvr>
                                      <p:tavLst>
                                        <p:tav tm="0">
                                          <p:val>
                                            <p:fltVal val="0"/>
                                          </p:val>
                                        </p:tav>
                                        <p:tav tm="100000">
                                          <p:val>
                                            <p:strVal val="#ppt_w"/>
                                          </p:val>
                                        </p:tav>
                                      </p:tavLst>
                                    </p:anim>
                                    <p:anim calcmode="lin" valueType="num">
                                      <p:cBhvr>
                                        <p:cTn id="14" dur="500" fill="hold"/>
                                        <p:tgtEl>
                                          <p:spTgt spid="3">
                                            <p:txEl>
                                              <p:pRg st="1" end="1"/>
                                            </p:txEl>
                                          </p:spTgt>
                                        </p:tgtEl>
                                        <p:attrNameLst>
                                          <p:attrName>ppt_h</p:attrName>
                                        </p:attrNameLst>
                                      </p:cBhvr>
                                      <p:tavLst>
                                        <p:tav tm="0">
                                          <p:val>
                                            <p:fltVal val="0"/>
                                          </p:val>
                                        </p:tav>
                                        <p:tav tm="100000">
                                          <p:val>
                                            <p:strVal val="#ppt_h"/>
                                          </p:val>
                                        </p:tav>
                                      </p:tavLst>
                                    </p:anim>
                                    <p:anim calcmode="lin" valueType="num">
                                      <p:cBhvr>
                                        <p:cTn id="15" dur="500" fill="hold"/>
                                        <p:tgtEl>
                                          <p:spTgt spid="3">
                                            <p:txEl>
                                              <p:pRg st="1" end="1"/>
                                            </p:txEl>
                                          </p:spTgt>
                                        </p:tgtEl>
                                        <p:attrNameLst>
                                          <p:attrName>style.rotation</p:attrName>
                                        </p:attrNameLst>
                                      </p:cBhvr>
                                      <p:tavLst>
                                        <p:tav tm="0">
                                          <p:val>
                                            <p:fltVal val="360"/>
                                          </p:val>
                                        </p:tav>
                                        <p:tav tm="100000">
                                          <p:val>
                                            <p:fltVal val="0"/>
                                          </p:val>
                                        </p:tav>
                                      </p:tavLst>
                                    </p:anim>
                                    <p:animEffect transition="in" filter="fade">
                                      <p:cBhvr>
                                        <p:cTn id="16"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defRPr/>
            </a:pPr>
            <a:r>
              <a:rPr lang="en-IN" sz="3600" b="1" dirty="0" smtClean="0">
                <a:latin typeface="Times New Roman" pitchFamily="18" charset="0"/>
                <a:cs typeface="Times New Roman" pitchFamily="18" charset="0"/>
              </a:rPr>
              <a:t>An Introduction to Optoelectronics</a:t>
            </a:r>
          </a:p>
        </p:txBody>
      </p:sp>
      <p:sp>
        <p:nvSpPr>
          <p:cNvPr id="3" name="Content Placeholder 2"/>
          <p:cNvSpPr>
            <a:spLocks noGrp="1"/>
          </p:cNvSpPr>
          <p:nvPr>
            <p:ph idx="1"/>
          </p:nvPr>
        </p:nvSpPr>
        <p:spPr>
          <a:xfrm>
            <a:off x="772886" y="1655810"/>
            <a:ext cx="10515600" cy="4351338"/>
          </a:xfrm>
        </p:spPr>
        <p:txBody>
          <a:bodyPr>
            <a:noAutofit/>
          </a:bodyPr>
          <a:lstStyle/>
          <a:p>
            <a:pPr algn="just"/>
            <a:r>
              <a:rPr lang="en-US" dirty="0" smtClean="0">
                <a:solidFill>
                  <a:schemeClr val="tx1">
                    <a:lumMod val="95000"/>
                    <a:lumOff val="5000"/>
                  </a:schemeClr>
                </a:solidFill>
                <a:latin typeface="Times New Roman" pitchFamily="18" charset="0"/>
                <a:cs typeface="Times New Roman" pitchFamily="18" charset="0"/>
              </a:rPr>
              <a:t>Optoelectronics is the communication between optics and electronics which includes the study, design and manufacture of a hardware device that converts electrical energy into light and light into energy through semiconductors. </a:t>
            </a:r>
          </a:p>
          <a:p>
            <a:pPr algn="just"/>
            <a:r>
              <a:rPr lang="en-US" dirty="0" smtClean="0">
                <a:solidFill>
                  <a:schemeClr val="tx1">
                    <a:lumMod val="95000"/>
                    <a:lumOff val="5000"/>
                  </a:schemeClr>
                </a:solidFill>
                <a:latin typeface="Times New Roman" pitchFamily="18" charset="0"/>
                <a:cs typeface="Times New Roman" pitchFamily="18" charset="0"/>
              </a:rPr>
              <a:t>This device is made from solid crystalline materials which are lighter than metals and heavier than insulators. Optoelectronics device is basically an electronic device involving light. This device can be found in many optoelectronics applications like military services, telecommunications, automatic access control systems and medical equipments.</a:t>
            </a:r>
          </a:p>
        </p:txBody>
      </p:sp>
      <p:sp>
        <p:nvSpPr>
          <p:cNvPr id="4" name="Slide Number Placeholder 3"/>
          <p:cNvSpPr>
            <a:spLocks noGrp="1"/>
          </p:cNvSpPr>
          <p:nvPr>
            <p:ph type="sldNum" sz="quarter" idx="12"/>
          </p:nvPr>
        </p:nvSpPr>
        <p:spPr/>
        <p:txBody>
          <a:bodyPr/>
          <a:lstStyle/>
          <a:p>
            <a:fld id="{BDCDBBEF-AA6C-4BA6-85B2-A17D7F280E38}" type="slidenum">
              <a:rPr lang="en-US" smtClean="0"/>
              <a:pPr/>
              <a:t>5</a:t>
            </a:fld>
            <a:endParaRPr lang="en-US"/>
          </a:p>
        </p:txBody>
      </p:sp>
    </p:spTree>
    <p:extLst>
      <p:ext uri="{BB962C8B-B14F-4D97-AF65-F5344CB8AC3E}">
        <p14:creationId xmlns="" xmlns:p14="http://schemas.microsoft.com/office/powerpoint/2010/main" val="60491197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dirty="0" smtClean="0"/>
              <a:t>Types of Optoelectronics Devices</a:t>
            </a:r>
          </a:p>
        </p:txBody>
      </p:sp>
      <p:sp>
        <p:nvSpPr>
          <p:cNvPr id="3" name="Content Placeholder 2"/>
          <p:cNvSpPr>
            <a:spLocks noGrp="1"/>
          </p:cNvSpPr>
          <p:nvPr>
            <p:ph idx="1"/>
          </p:nvPr>
        </p:nvSpPr>
        <p:spPr>
          <a:xfrm>
            <a:off x="838200" y="1590494"/>
            <a:ext cx="10515600" cy="4351338"/>
          </a:xfrm>
        </p:spPr>
        <p:txBody>
          <a:bodyPr>
            <a:normAutofit/>
          </a:bodyPr>
          <a:lstStyle/>
          <a:p>
            <a:pPr>
              <a:buNone/>
            </a:pPr>
            <a:r>
              <a:rPr lang="en-US" dirty="0" smtClean="0"/>
              <a:t>Optoelectronics are classified into different types such as</a:t>
            </a:r>
          </a:p>
          <a:p>
            <a:pPr lvl="0"/>
            <a:r>
              <a:rPr lang="en-US" dirty="0" smtClean="0"/>
              <a:t>Photodiode</a:t>
            </a:r>
          </a:p>
          <a:p>
            <a:pPr lvl="0"/>
            <a:r>
              <a:rPr lang="en-US" dirty="0" smtClean="0"/>
              <a:t>Solar Cells</a:t>
            </a:r>
          </a:p>
          <a:p>
            <a:pPr lvl="0"/>
            <a:r>
              <a:rPr lang="en-US" dirty="0" smtClean="0"/>
              <a:t>Light Emitting Diodes</a:t>
            </a:r>
          </a:p>
          <a:p>
            <a:pPr lvl="0"/>
            <a:r>
              <a:rPr lang="en-US" dirty="0" smtClean="0"/>
              <a:t>Optical Fiber</a:t>
            </a:r>
          </a:p>
          <a:p>
            <a:pPr lvl="0"/>
            <a:r>
              <a:rPr lang="en-US" dirty="0" smtClean="0"/>
              <a:t>Laser Diodes</a:t>
            </a:r>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6</a:t>
            </a:fld>
            <a:endParaRPr lang="en-US"/>
          </a:p>
        </p:txBody>
      </p:sp>
      <p:sp>
        <p:nvSpPr>
          <p:cNvPr id="128002" name="AutoShape 2" descr="Is the symbol of resistance and resistor the same? - Quora"/>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28004" name="AutoShape 4" descr="Is the symbol of resistance and resistor the same? - Quora"/>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Photo Diode</a:t>
            </a:r>
          </a:p>
        </p:txBody>
      </p:sp>
      <p:sp>
        <p:nvSpPr>
          <p:cNvPr id="3" name="Content Placeholder 2"/>
          <p:cNvSpPr>
            <a:spLocks noGrp="1"/>
          </p:cNvSpPr>
          <p:nvPr>
            <p:ph idx="1"/>
          </p:nvPr>
        </p:nvSpPr>
        <p:spPr>
          <a:xfrm>
            <a:off x="838200" y="1616619"/>
            <a:ext cx="10515600" cy="4351338"/>
          </a:xfrm>
        </p:spPr>
        <p:txBody>
          <a:bodyPr>
            <a:normAutofit/>
          </a:bodyPr>
          <a:lstStyle/>
          <a:p>
            <a:pPr algn="just"/>
            <a:r>
              <a:rPr lang="en-US" dirty="0" smtClean="0"/>
              <a:t>A photo diode is a semiconductor light sensor that generates a voltage or current when light falls on the junction. It consists of an active P-N junction, which is operated in reverse bias. When a photon with plenty of energy strikes the semiconductor, an electron or hole pair is created. The electrons diffuse to the junction to form an electric field.</a:t>
            </a:r>
          </a:p>
          <a:p>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7</a:t>
            </a:fld>
            <a:endParaRPr lang="en-US"/>
          </a:p>
        </p:txBody>
      </p:sp>
      <p:pic>
        <p:nvPicPr>
          <p:cNvPr id="5" name="Picture 4" descr="Photo Diode"/>
          <p:cNvPicPr/>
          <p:nvPr/>
        </p:nvPicPr>
        <p:blipFill>
          <a:blip r:embed="rId2"/>
          <a:srcRect/>
          <a:stretch>
            <a:fillRect/>
          </a:stretch>
        </p:blipFill>
        <p:spPr bwMode="auto">
          <a:xfrm>
            <a:off x="4376738" y="3866606"/>
            <a:ext cx="2524125" cy="2258242"/>
          </a:xfrm>
          <a:prstGeom prst="rect">
            <a:avLst/>
          </a:prstGeom>
          <a:noFill/>
          <a:ln w="9525">
            <a:noFill/>
            <a:miter lim="800000"/>
            <a:headEnd/>
            <a:tailEnd/>
          </a:ln>
        </p:spPr>
      </p:pic>
      <p:sp>
        <p:nvSpPr>
          <p:cNvPr id="6" name="Rectangle 5"/>
          <p:cNvSpPr/>
          <p:nvPr/>
        </p:nvSpPr>
        <p:spPr>
          <a:xfrm>
            <a:off x="4767882" y="6261854"/>
            <a:ext cx="1846339" cy="369332"/>
          </a:xfrm>
          <a:prstGeom prst="rect">
            <a:avLst/>
          </a:prstGeom>
        </p:spPr>
        <p:txBody>
          <a:bodyPr wrap="none">
            <a:spAutoFit/>
          </a:bodyPr>
          <a:lstStyle/>
          <a:p>
            <a:pPr algn="just"/>
            <a:r>
              <a:rPr lang="en-US" dirty="0" smtClean="0"/>
              <a:t>Fig.1 Photo Diode</a:t>
            </a: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55766" y="391251"/>
            <a:ext cx="10515600" cy="1325563"/>
          </a:xfrm>
        </p:spPr>
        <p:txBody>
          <a:bodyPr/>
          <a:lstStyle/>
          <a:p>
            <a:pPr algn="ctr"/>
            <a:r>
              <a:rPr lang="en-US" b="1" dirty="0" smtClean="0"/>
              <a:t>Solar Cells</a:t>
            </a:r>
          </a:p>
        </p:txBody>
      </p:sp>
      <p:sp>
        <p:nvSpPr>
          <p:cNvPr id="3" name="Content Placeholder 2"/>
          <p:cNvSpPr>
            <a:spLocks noGrp="1"/>
          </p:cNvSpPr>
          <p:nvPr>
            <p:ph idx="1"/>
          </p:nvPr>
        </p:nvSpPr>
        <p:spPr>
          <a:xfrm>
            <a:off x="851263" y="1564368"/>
            <a:ext cx="10160726" cy="4351338"/>
          </a:xfrm>
        </p:spPr>
        <p:txBody>
          <a:bodyPr>
            <a:normAutofit/>
          </a:bodyPr>
          <a:lstStyle/>
          <a:p>
            <a:r>
              <a:rPr lang="en-US" b="1" dirty="0" smtClean="0"/>
              <a:t> </a:t>
            </a:r>
            <a:r>
              <a:rPr lang="en-US" sz="2400" dirty="0" smtClean="0"/>
              <a:t>A solar cell or photo-voltaic cell is an electronic device that directly converts sun’s energy into electricity. When sunlight falls on a solar cell, it produces both a current and a voltage to produce electric power. Sunlight, which is composed of photons, radiates from the sun. When photons hit the silicon atoms of the solar cell, they transfer their energy to lose electrons; and then, these high-energy electron flow to an external circuit.</a:t>
            </a:r>
          </a:p>
          <a:p>
            <a:pPr algn="just"/>
            <a:endParaRPr lang="en-US" sz="2200" b="1"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8</a:t>
            </a:fld>
            <a:endParaRPr lang="en-US"/>
          </a:p>
        </p:txBody>
      </p:sp>
      <p:pic>
        <p:nvPicPr>
          <p:cNvPr id="5" name="Picture 4" descr="Solar Cells"/>
          <p:cNvPicPr/>
          <p:nvPr/>
        </p:nvPicPr>
        <p:blipFill>
          <a:blip r:embed="rId2"/>
          <a:srcRect/>
          <a:stretch>
            <a:fillRect/>
          </a:stretch>
        </p:blipFill>
        <p:spPr bwMode="auto">
          <a:xfrm>
            <a:off x="4249238" y="3671752"/>
            <a:ext cx="2857500" cy="2362200"/>
          </a:xfrm>
          <a:prstGeom prst="rect">
            <a:avLst/>
          </a:prstGeom>
          <a:noFill/>
          <a:ln w="9525">
            <a:noFill/>
            <a:miter lim="800000"/>
            <a:headEnd/>
            <a:tailEnd/>
          </a:ln>
        </p:spPr>
      </p:pic>
      <p:sp>
        <p:nvSpPr>
          <p:cNvPr id="4098" name="Rectangle 2"/>
          <p:cNvSpPr>
            <a:spLocks noChangeArrowheads="1"/>
          </p:cNvSpPr>
          <p:nvPr/>
        </p:nvSpPr>
        <p:spPr bwMode="auto">
          <a:xfrm>
            <a:off x="4271555" y="6217920"/>
            <a:ext cx="2573383" cy="307777"/>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dirty="0" smtClean="0">
                <a:ln>
                  <a:noFill/>
                </a:ln>
                <a:solidFill>
                  <a:srgbClr val="000000"/>
                </a:solidFill>
                <a:effectLst/>
                <a:latin typeface="Times New Roman" pitchFamily="18" charset="0"/>
                <a:ea typeface="Calibri" pitchFamily="34" charset="0"/>
                <a:cs typeface="Times New Roman" pitchFamily="18" charset="0"/>
              </a:rPr>
              <a:t>Fig.2 Solar Cells</a:t>
            </a:r>
            <a:endParaRPr kumimoji="0" lang="en-US" sz="1800" b="0" i="0" u="none" strike="noStrike" cap="none" normalizeH="0" baseline="0" dirty="0" smtClean="0">
              <a:ln>
                <a:noFill/>
              </a:ln>
              <a:solidFill>
                <a:schemeClr val="tx1"/>
              </a:solidFill>
              <a:effectLst/>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Light-Emitting Diodes</a:t>
            </a:r>
          </a:p>
        </p:txBody>
      </p:sp>
      <p:sp>
        <p:nvSpPr>
          <p:cNvPr id="3" name="Content Placeholder 2"/>
          <p:cNvSpPr>
            <a:spLocks noGrp="1"/>
          </p:cNvSpPr>
          <p:nvPr>
            <p:ph idx="1"/>
          </p:nvPr>
        </p:nvSpPr>
        <p:spPr>
          <a:xfrm>
            <a:off x="812073" y="1551305"/>
            <a:ext cx="9847217" cy="4351338"/>
          </a:xfrm>
        </p:spPr>
        <p:txBody>
          <a:bodyPr>
            <a:normAutofit/>
          </a:bodyPr>
          <a:lstStyle/>
          <a:p>
            <a:pPr lvl="0"/>
            <a:r>
              <a:rPr lang="en-US" dirty="0" smtClean="0">
                <a:hlinkClick r:id="rId2"/>
              </a:rPr>
              <a:t>Light-emitting diode</a:t>
            </a:r>
            <a:r>
              <a:rPr lang="en-US" dirty="0" smtClean="0"/>
              <a:t> is a P-N semiconductor diode in which the recombination of electrons and holes yields a photon. When the diode is electrically biased in the forward direction, it emits incoherent narrow spectrum light.</a:t>
            </a:r>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9</a:t>
            </a:fld>
            <a:endParaRPr lang="en-US"/>
          </a:p>
        </p:txBody>
      </p:sp>
      <p:pic>
        <p:nvPicPr>
          <p:cNvPr id="5" name="Picture 4" descr="Light Emitting Diode"/>
          <p:cNvPicPr/>
          <p:nvPr/>
        </p:nvPicPr>
        <p:blipFill>
          <a:blip r:embed="rId3"/>
          <a:srcRect/>
          <a:stretch>
            <a:fillRect/>
          </a:stretch>
        </p:blipFill>
        <p:spPr bwMode="auto">
          <a:xfrm>
            <a:off x="3583033" y="3239589"/>
            <a:ext cx="5234396" cy="2233748"/>
          </a:xfrm>
          <a:prstGeom prst="rect">
            <a:avLst/>
          </a:prstGeom>
          <a:noFill/>
          <a:ln w="9525">
            <a:noFill/>
            <a:miter lim="800000"/>
            <a:headEnd/>
            <a:tailEnd/>
          </a:ln>
        </p:spPr>
      </p:pic>
      <p:sp>
        <p:nvSpPr>
          <p:cNvPr id="3073" name="Rectangle 1"/>
          <p:cNvSpPr>
            <a:spLocks noChangeArrowheads="1"/>
          </p:cNvSpPr>
          <p:nvPr/>
        </p:nvSpPr>
        <p:spPr bwMode="auto">
          <a:xfrm>
            <a:off x="4219302" y="6021977"/>
            <a:ext cx="3879670" cy="307777"/>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dirty="0" smtClean="0">
                <a:ln>
                  <a:noFill/>
                </a:ln>
                <a:solidFill>
                  <a:srgbClr val="000000"/>
                </a:solidFill>
                <a:effectLst/>
                <a:latin typeface="Times New Roman" pitchFamily="18" charset="0"/>
                <a:ea typeface="Calibri" pitchFamily="34" charset="0"/>
                <a:cs typeface="Times New Roman" pitchFamily="18" charset="0"/>
              </a:rPr>
              <a:t>Fig.3 Light Emitting Diode</a:t>
            </a:r>
            <a:endParaRPr kumimoji="0" lang="en-US" sz="1800" b="0" i="0" u="none" strike="noStrike" cap="none" normalizeH="0" baseline="0" dirty="0" smtClean="0">
              <a:ln>
                <a:noFill/>
              </a:ln>
              <a:solidFill>
                <a:schemeClr val="tx1"/>
              </a:solidFill>
              <a:effectLst/>
              <a:latin typeface="Arial" pitchFamily="34" charset="0"/>
              <a:cs typeface="Arial" pitchFamily="34" charset="0"/>
            </a:endParaRPr>
          </a:p>
        </p:txBody>
      </p:sp>
    </p:spTree>
    <p:extLst>
      <p:ext uri="{BB962C8B-B14F-4D97-AF65-F5344CB8AC3E}">
        <p14:creationId xmlns="" xmlns:p14="http://schemas.microsoft.com/office/powerpoint/2010/main" val="211753865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algn="ctr"/>
            <a:r>
              <a:rPr lang="en-US" b="1" dirty="0" smtClean="0"/>
              <a:t>Optical Fiber</a:t>
            </a:r>
            <a:endParaRPr lang="en-US" dirty="0"/>
          </a:p>
        </p:txBody>
      </p:sp>
      <p:sp>
        <p:nvSpPr>
          <p:cNvPr id="3" name="Content Placeholder 2"/>
          <p:cNvSpPr>
            <a:spLocks noGrp="1"/>
          </p:cNvSpPr>
          <p:nvPr>
            <p:ph idx="1"/>
          </p:nvPr>
        </p:nvSpPr>
        <p:spPr/>
        <p:txBody>
          <a:bodyPr>
            <a:normAutofit/>
          </a:bodyPr>
          <a:lstStyle/>
          <a:p>
            <a:r>
              <a:rPr lang="en-US" dirty="0" smtClean="0"/>
              <a:t>An optical fiber or optic </a:t>
            </a:r>
            <a:r>
              <a:rPr lang="en-US" dirty="0" err="1" smtClean="0"/>
              <a:t>fibre</a:t>
            </a:r>
            <a:r>
              <a:rPr lang="en-US" dirty="0" smtClean="0"/>
              <a:t> is a plastic and transparent fiber made of plastic or glass. It is somewhat thicker than a human hair. It can function as a light pipe or waveguide to transmit light between the two ends of the fiber.</a:t>
            </a:r>
          </a:p>
          <a:p>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10</a:t>
            </a:fld>
            <a:endParaRPr lang="en-US"/>
          </a:p>
        </p:txBody>
      </p:sp>
      <p:pic>
        <p:nvPicPr>
          <p:cNvPr id="5" name="Picture 4" descr="Optical Fiber"/>
          <p:cNvPicPr/>
          <p:nvPr/>
        </p:nvPicPr>
        <p:blipFill>
          <a:blip r:embed="rId2"/>
          <a:srcRect/>
          <a:stretch>
            <a:fillRect/>
          </a:stretch>
        </p:blipFill>
        <p:spPr bwMode="auto">
          <a:xfrm>
            <a:off x="4333058" y="3306536"/>
            <a:ext cx="2324100" cy="2857500"/>
          </a:xfrm>
          <a:prstGeom prst="rect">
            <a:avLst/>
          </a:prstGeom>
          <a:noFill/>
          <a:ln w="9525">
            <a:noFill/>
            <a:miter lim="800000"/>
            <a:headEnd/>
            <a:tailEnd/>
          </a:ln>
        </p:spPr>
      </p:pic>
      <p:sp>
        <p:nvSpPr>
          <p:cNvPr id="2049" name="Rectangle 1"/>
          <p:cNvSpPr>
            <a:spLocks noChangeArrowheads="1"/>
          </p:cNvSpPr>
          <p:nvPr/>
        </p:nvSpPr>
        <p:spPr bwMode="auto">
          <a:xfrm>
            <a:off x="3866606" y="6165669"/>
            <a:ext cx="3605348" cy="307777"/>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dirty="0" smtClean="0">
                <a:ln>
                  <a:noFill/>
                </a:ln>
                <a:solidFill>
                  <a:srgbClr val="000000"/>
                </a:solidFill>
                <a:effectLst/>
                <a:latin typeface="Times New Roman" pitchFamily="18" charset="0"/>
                <a:ea typeface="Calibri" pitchFamily="34" charset="0"/>
                <a:cs typeface="Times New Roman" pitchFamily="18" charset="0"/>
              </a:rPr>
              <a:t>Fig.4 Optical Fiber</a:t>
            </a:r>
            <a:endParaRPr kumimoji="0" lang="en-US" sz="1800" b="0" i="0" u="none" strike="noStrike" cap="none" normalizeH="0" baseline="0" dirty="0" smtClean="0">
              <a:ln>
                <a:noFill/>
              </a:ln>
              <a:solidFill>
                <a:schemeClr val="tx1"/>
              </a:solidFill>
              <a:effectLst/>
              <a:latin typeface="Arial" pitchFamily="34" charset="0"/>
              <a:cs typeface="Arial" pitchFamily="34"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algn="ctr"/>
            <a:r>
              <a:rPr lang="en-US" b="1" dirty="0" smtClean="0"/>
              <a:t>Laser Diodes</a:t>
            </a:r>
            <a:r>
              <a:rPr lang="en-US" dirty="0" smtClean="0"/>
              <a:t/>
            </a:r>
            <a:br>
              <a:rPr lang="en-US" dirty="0" smtClean="0"/>
            </a:br>
            <a:endParaRPr lang="en-US" dirty="0"/>
          </a:p>
        </p:txBody>
      </p:sp>
      <p:sp>
        <p:nvSpPr>
          <p:cNvPr id="3" name="Content Placeholder 2"/>
          <p:cNvSpPr>
            <a:spLocks noGrp="1"/>
          </p:cNvSpPr>
          <p:nvPr>
            <p:ph idx="1"/>
          </p:nvPr>
        </p:nvSpPr>
        <p:spPr>
          <a:xfrm>
            <a:off x="799012" y="1211671"/>
            <a:ext cx="10515600" cy="4351338"/>
          </a:xfrm>
        </p:spPr>
        <p:txBody>
          <a:bodyPr/>
          <a:lstStyle/>
          <a:p>
            <a:r>
              <a:rPr lang="en-US" dirty="0" smtClean="0"/>
              <a:t>Laser (light amplification by stimulated emission of radiation) is a source of highly monochromatic, coherent and directional light. It operates under stimulated emission condition. The function of a laser diode is to convert electrical energy into light energy like infrared diodes or LEDs. </a:t>
            </a:r>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11</a:t>
            </a:fld>
            <a:endParaRPr lang="en-US"/>
          </a:p>
        </p:txBody>
      </p:sp>
      <p:pic>
        <p:nvPicPr>
          <p:cNvPr id="5" name="Picture 4" descr="Laser Diodes"/>
          <p:cNvPicPr/>
          <p:nvPr/>
        </p:nvPicPr>
        <p:blipFill>
          <a:blip r:embed="rId2"/>
          <a:srcRect/>
          <a:stretch>
            <a:fillRect/>
          </a:stretch>
        </p:blipFill>
        <p:spPr bwMode="auto">
          <a:xfrm>
            <a:off x="4010297" y="3097803"/>
            <a:ext cx="3422469" cy="1733550"/>
          </a:xfrm>
          <a:prstGeom prst="rect">
            <a:avLst/>
          </a:prstGeom>
          <a:noFill/>
          <a:ln w="9525">
            <a:noFill/>
            <a:miter lim="800000"/>
            <a:headEnd/>
            <a:tailEnd/>
          </a:ln>
        </p:spPr>
      </p:pic>
      <p:sp>
        <p:nvSpPr>
          <p:cNvPr id="38913" name="Rectangle 1"/>
          <p:cNvSpPr>
            <a:spLocks noChangeArrowheads="1"/>
          </p:cNvSpPr>
          <p:nvPr/>
        </p:nvSpPr>
        <p:spPr bwMode="auto">
          <a:xfrm>
            <a:off x="3291839" y="5355771"/>
            <a:ext cx="4376058" cy="307777"/>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dirty="0" smtClean="0">
                <a:ln>
                  <a:noFill/>
                </a:ln>
                <a:solidFill>
                  <a:srgbClr val="000000"/>
                </a:solidFill>
                <a:effectLst/>
                <a:latin typeface="Times New Roman" pitchFamily="18" charset="0"/>
                <a:ea typeface="Calibri" pitchFamily="34" charset="0"/>
                <a:cs typeface="Times New Roman" pitchFamily="18" charset="0"/>
              </a:rPr>
              <a:t>Fig 5. Laser Diodes</a:t>
            </a:r>
            <a:endParaRPr kumimoji="0" lang="en-US" sz="1800" b="0" i="0" u="none" strike="noStrike" cap="none" normalizeH="0" baseline="0" dirty="0" smtClean="0">
              <a:ln>
                <a:noFill/>
              </a:ln>
              <a:solidFill>
                <a:schemeClr val="tx1"/>
              </a:solidFill>
              <a:effectLst/>
              <a:latin typeface="Arial" pitchFamily="34" charset="0"/>
              <a:cs typeface="Arial" pitchFamily="34"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b="1" dirty="0" smtClean="0"/>
              <a:t>APPLICATIONS OF OPTOELECTRONICS DEVICES</a:t>
            </a:r>
            <a:r>
              <a:rPr lang="en-US" dirty="0" smtClean="0"/>
              <a:t/>
            </a:r>
            <a:br>
              <a:rPr lang="en-US" dirty="0" smtClean="0"/>
            </a:br>
            <a:endParaRPr lang="en-US" dirty="0"/>
          </a:p>
        </p:txBody>
      </p:sp>
      <p:sp>
        <p:nvSpPr>
          <p:cNvPr id="3" name="Content Placeholder 2"/>
          <p:cNvSpPr>
            <a:spLocks noGrp="1"/>
          </p:cNvSpPr>
          <p:nvPr>
            <p:ph idx="1"/>
          </p:nvPr>
        </p:nvSpPr>
        <p:spPr/>
        <p:txBody>
          <a:bodyPr>
            <a:normAutofit fontScale="92500" lnSpcReduction="20000"/>
          </a:bodyPr>
          <a:lstStyle/>
          <a:p>
            <a:pPr lvl="0"/>
            <a:r>
              <a:rPr lang="en-US" dirty="0" smtClean="0"/>
              <a:t>Propeller Display of Message by Virtual LEDs</a:t>
            </a:r>
          </a:p>
          <a:p>
            <a:pPr lvl="0"/>
            <a:r>
              <a:rPr lang="en-US" dirty="0" smtClean="0"/>
              <a:t>LED Based Automatic Emergency Light</a:t>
            </a:r>
          </a:p>
          <a:p>
            <a:pPr lvl="0"/>
            <a:r>
              <a:rPr lang="en-US" dirty="0" smtClean="0"/>
              <a:t>Mains Operated LED Light</a:t>
            </a:r>
          </a:p>
          <a:p>
            <a:pPr lvl="0"/>
            <a:r>
              <a:rPr lang="en-US" dirty="0" smtClean="0"/>
              <a:t>Display of Dialed Telephone Numbers on Seven Segment Display</a:t>
            </a:r>
          </a:p>
          <a:p>
            <a:pPr lvl="0"/>
            <a:r>
              <a:rPr lang="en-US" dirty="0" smtClean="0"/>
              <a:t>Solar Powered Led Street Light with Auto Intensity Control</a:t>
            </a:r>
          </a:p>
          <a:p>
            <a:pPr lvl="0"/>
            <a:r>
              <a:rPr lang="en-US" dirty="0" smtClean="0"/>
              <a:t>Solar Energy Measurement System</a:t>
            </a:r>
          </a:p>
          <a:p>
            <a:pPr lvl="0"/>
            <a:r>
              <a:rPr lang="en-US" dirty="0" err="1" smtClean="0"/>
              <a:t>Arduino</a:t>
            </a:r>
            <a:r>
              <a:rPr lang="en-US" dirty="0" smtClean="0"/>
              <a:t> based Solar Street Light</a:t>
            </a:r>
          </a:p>
          <a:p>
            <a:pPr lvl="0"/>
            <a:r>
              <a:rPr lang="en-US" dirty="0" smtClean="0"/>
              <a:t>Solar Powered Auto Irrigation System</a:t>
            </a:r>
          </a:p>
          <a:p>
            <a:pPr lvl="0"/>
            <a:r>
              <a:rPr lang="en-US" dirty="0" smtClean="0"/>
              <a:t>Solar Power Charge Controller</a:t>
            </a:r>
          </a:p>
          <a:p>
            <a:pPr lvl="0"/>
            <a:r>
              <a:rPr lang="en-US" dirty="0" smtClean="0"/>
              <a:t>Sun Tracking Solar Panel</a:t>
            </a:r>
          </a:p>
          <a:p>
            <a:pPr>
              <a:buNone/>
            </a:pPr>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b="1" dirty="0" smtClean="0"/>
              <a:t>PHOTOELECTRIC EFFECT IN SEMICONDUCTORS </a:t>
            </a:r>
            <a:r>
              <a:rPr lang="en-US" dirty="0" smtClean="0"/>
              <a:t/>
            </a:r>
            <a:br>
              <a:rPr lang="en-US" dirty="0" smtClean="0"/>
            </a:br>
            <a:endParaRPr lang="en-US" dirty="0"/>
          </a:p>
        </p:txBody>
      </p:sp>
      <p:sp>
        <p:nvSpPr>
          <p:cNvPr id="3" name="Content Placeholder 2"/>
          <p:cNvSpPr>
            <a:spLocks noGrp="1"/>
          </p:cNvSpPr>
          <p:nvPr>
            <p:ph idx="1"/>
          </p:nvPr>
        </p:nvSpPr>
        <p:spPr/>
        <p:txBody>
          <a:bodyPr/>
          <a:lstStyle/>
          <a:p>
            <a:r>
              <a:rPr lang="en-US" b="1" u="sng" dirty="0" smtClean="0"/>
              <a:t>Photoelectric Effect- </a:t>
            </a:r>
            <a:r>
              <a:rPr lang="en-US" dirty="0" smtClean="0"/>
              <a:t>The photoelectric effect is a material's ability to create an electric voltage or current upon light exposure. PV cells have to be material with the photoelectric effect. </a:t>
            </a:r>
          </a:p>
          <a:p>
            <a:r>
              <a:rPr lang="en-US" dirty="0" smtClean="0"/>
              <a:t>When In the previous page the amount of electrical power potential was explored; this page looks at a much smaller scale where the electromagnetic particles are interacting with objects of relatively small surface area</a:t>
            </a:r>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b="1" u="sng" dirty="0" smtClean="0"/>
              <a:t>Photon Interaction with Semiconductors</a:t>
            </a:r>
            <a:r>
              <a:rPr lang="en-US" sz="4000" dirty="0" smtClean="0"/>
              <a:t/>
            </a:r>
            <a:br>
              <a:rPr lang="en-US" sz="4000" dirty="0" smtClean="0"/>
            </a:br>
            <a:endParaRPr lang="en-US" sz="4000" dirty="0"/>
          </a:p>
        </p:txBody>
      </p:sp>
      <p:sp>
        <p:nvSpPr>
          <p:cNvPr id="3" name="Content Placeholder 2"/>
          <p:cNvSpPr>
            <a:spLocks noGrp="1"/>
          </p:cNvSpPr>
          <p:nvPr>
            <p:ph idx="1"/>
          </p:nvPr>
        </p:nvSpPr>
        <p:spPr/>
        <p:txBody>
          <a:bodyPr/>
          <a:lstStyle/>
          <a:p>
            <a:r>
              <a:rPr lang="en-US" dirty="0" smtClean="0"/>
              <a:t>Semiconductor material has a characteristic called the band gap. The band gap is a measure of energy in electron-volts (</a:t>
            </a:r>
            <a:r>
              <a:rPr lang="en-US" dirty="0" err="1" smtClean="0"/>
              <a:t>eV</a:t>
            </a:r>
            <a:r>
              <a:rPr lang="en-US" dirty="0" smtClean="0"/>
              <a:t>) or Joules. If a photon comes into contact with a semiconductor the energy level of the photon and the band gap of the semiconductor will determine what will happen next. </a:t>
            </a:r>
          </a:p>
          <a:p>
            <a:r>
              <a:rPr lang="en-US" dirty="0" smtClean="0"/>
              <a:t>When a photon has a lower energy than the semiconductor's band gap it passes through the semiconductor with little effect. </a:t>
            </a:r>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Photoelectric principles</a:t>
            </a:r>
            <a:endParaRPr lang="en-US" b="1" dirty="0"/>
          </a:p>
        </p:txBody>
      </p:sp>
      <p:sp>
        <p:nvSpPr>
          <p:cNvPr id="3" name="Content Placeholder 2"/>
          <p:cNvSpPr>
            <a:spLocks noGrp="1"/>
          </p:cNvSpPr>
          <p:nvPr>
            <p:ph idx="1"/>
          </p:nvPr>
        </p:nvSpPr>
        <p:spPr/>
        <p:txBody>
          <a:bodyPr/>
          <a:lstStyle/>
          <a:p>
            <a:pPr algn="just"/>
            <a:r>
              <a:rPr lang="en-US" dirty="0" smtClean="0"/>
              <a:t>According to </a:t>
            </a:r>
            <a:r>
              <a:rPr lang="en-US" dirty="0" smtClean="0">
                <a:hlinkClick r:id="rId2"/>
              </a:rPr>
              <a:t>quantum mechanics</a:t>
            </a:r>
            <a:r>
              <a:rPr lang="en-US" dirty="0" smtClean="0"/>
              <a:t>, electrons bound to atoms occur in specific </a:t>
            </a:r>
            <a:r>
              <a:rPr lang="en-US" dirty="0" smtClean="0">
                <a:hlinkClick r:id="rId3"/>
              </a:rPr>
              <a:t>electronic configurations</a:t>
            </a:r>
            <a:r>
              <a:rPr lang="en-US" dirty="0" smtClean="0"/>
              <a:t>. The highest energy configuration (or energy band) that is normally occupied by electrons for a given material is known as the </a:t>
            </a:r>
            <a:r>
              <a:rPr lang="en-US" dirty="0" smtClean="0">
                <a:hlinkClick r:id="rId4"/>
              </a:rPr>
              <a:t>valence band</a:t>
            </a:r>
            <a:r>
              <a:rPr lang="en-US" dirty="0" smtClean="0"/>
              <a:t>, and the degree to which it is filled largely determines the material’s electrical conductivity. </a:t>
            </a:r>
          </a:p>
          <a:p>
            <a:pPr algn="just"/>
            <a:r>
              <a:rPr lang="en-US" dirty="0" smtClean="0"/>
              <a:t>In a typical </a:t>
            </a:r>
            <a:r>
              <a:rPr lang="en-US" dirty="0" smtClean="0">
                <a:hlinkClick r:id="rId5"/>
              </a:rPr>
              <a:t>conductor</a:t>
            </a:r>
            <a:r>
              <a:rPr lang="en-US" dirty="0" smtClean="0"/>
              <a:t> (metal), the valence band is about half filled with electrons, which readily move from </a:t>
            </a:r>
            <a:r>
              <a:rPr lang="en-US" dirty="0" smtClean="0">
                <a:hlinkClick r:id="rId6"/>
              </a:rPr>
              <a:t>atom</a:t>
            </a:r>
            <a:r>
              <a:rPr lang="en-US" dirty="0" smtClean="0"/>
              <a:t> to atom, carrying a current. </a:t>
            </a:r>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Applications</a:t>
            </a:r>
            <a:br>
              <a:rPr lang="en-US" b="1" dirty="0" smtClean="0"/>
            </a:br>
            <a:endParaRPr lang="en-US" dirty="0"/>
          </a:p>
        </p:txBody>
      </p:sp>
      <p:sp>
        <p:nvSpPr>
          <p:cNvPr id="3" name="Content Placeholder 2"/>
          <p:cNvSpPr>
            <a:spLocks noGrp="1"/>
          </p:cNvSpPr>
          <p:nvPr>
            <p:ph idx="1"/>
          </p:nvPr>
        </p:nvSpPr>
        <p:spPr/>
        <p:txBody>
          <a:bodyPr/>
          <a:lstStyle/>
          <a:p>
            <a:pPr algn="just"/>
            <a:r>
              <a:rPr lang="en-US" dirty="0" smtClean="0"/>
              <a:t>Devices based on the photoelectric effect have several desirable properties, including producing a current that is directly proportional to </a:t>
            </a:r>
            <a:r>
              <a:rPr lang="en-US" dirty="0" smtClean="0">
                <a:hlinkClick r:id="rId2"/>
              </a:rPr>
              <a:t>light intensity</a:t>
            </a:r>
            <a:r>
              <a:rPr lang="en-US" dirty="0" smtClean="0"/>
              <a:t> and a very fast response time. One basic device is the </a:t>
            </a:r>
            <a:r>
              <a:rPr lang="en-US" dirty="0" smtClean="0">
                <a:hlinkClick r:id="rId3"/>
              </a:rPr>
              <a:t>photoelectric cell</a:t>
            </a:r>
            <a:r>
              <a:rPr lang="en-US" dirty="0" smtClean="0"/>
              <a:t>, or photodiode. Originally, this was a phototube, a </a:t>
            </a:r>
            <a:r>
              <a:rPr lang="en-US" dirty="0" smtClean="0">
                <a:hlinkClick r:id="rId4"/>
              </a:rPr>
              <a:t>vacuum tube</a:t>
            </a:r>
            <a:r>
              <a:rPr lang="en-US" dirty="0" smtClean="0"/>
              <a:t> containing a </a:t>
            </a:r>
            <a:r>
              <a:rPr lang="en-US" dirty="0" smtClean="0">
                <a:hlinkClick r:id="rId5"/>
              </a:rPr>
              <a:t>cathode</a:t>
            </a:r>
            <a:r>
              <a:rPr lang="en-US" dirty="0" smtClean="0"/>
              <a:t> made of a metal with a small </a:t>
            </a:r>
            <a:r>
              <a:rPr lang="en-US" dirty="0" smtClean="0">
                <a:hlinkClick r:id="rId6"/>
              </a:rPr>
              <a:t>work</a:t>
            </a:r>
            <a:r>
              <a:rPr lang="en-US" dirty="0" smtClean="0"/>
              <a:t> function so that electrons would be easily emitted.</a:t>
            </a:r>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16</a:t>
            </a:fld>
            <a:endParaRPr lang="en-US"/>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PRING_UUID" val="{0E2DCEFA-CE10-41FF-AD08-D8937F9F8661}"/>
  <p:tag name="ISPRING_RESOURCE_FOLDER" val="D:\BEEE 2021 ODD SEM\Theory\UNIT-1\PPTS\Lecture 1\"/>
  <p:tag name="ISPRING_PRESENTATION_PATH" val="D:\BEEE 2021 ODD SEM\Theory\UNIT-1\PPTS\Lecture 1.pptx"/>
  <p:tag name="ISPRING_PROJECT_VERSION" val="9.32"/>
  <p:tag name="ISPRING_PROJECT_FOLDER_UPDATED" val="1"/>
</p:tagLst>
</file>

<file path=ppt/tags/tag2.xml><?xml version="1.0" encoding="utf-8"?>
<p:tagLst xmlns:a="http://schemas.openxmlformats.org/drawingml/2006/main" xmlns:r="http://schemas.openxmlformats.org/officeDocument/2006/relationships" xmlns:p="http://schemas.openxmlformats.org/presentationml/2006/main">
  <p:tag name="GENSWF_SLIDE_UID" val="{D36BF853-1C0E-423B-B089-9C7A2B5C2856}:412"/>
  <p:tag name="AUDIO_ID" val="412"/>
  <p:tag name="ARTICULATE_USED_LAYOUT" val="8"/>
</p:tagLst>
</file>

<file path=ppt/tags/tag3.xml><?xml version="1.0" encoding="utf-8"?>
<p:tagLst xmlns:a="http://schemas.openxmlformats.org/drawingml/2006/main" xmlns:r="http://schemas.openxmlformats.org/officeDocument/2006/relationships" xmlns:p="http://schemas.openxmlformats.org/presentationml/2006/main">
  <p:tag name="GENSWF_SLIDE_UID" val="{32D49604-FA59-40F6-94EB-BC24D15E597E}:370"/>
  <p:tag name="AUDIO_ID" val="370"/>
  <p:tag name="ARTICULATE_USED_LAYOUT" val="8"/>
</p:tagLst>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Contents Slide Master">
  <a:themeElements>
    <a:clrScheme name="ALLPPT-COLOR-A33">
      <a:dk1>
        <a:sysClr val="windowText" lastClr="000000"/>
      </a:dk1>
      <a:lt1>
        <a:sysClr val="window" lastClr="FFFFFF"/>
      </a:lt1>
      <a:dk2>
        <a:srgbClr val="1F497D"/>
      </a:dk2>
      <a:lt2>
        <a:srgbClr val="EEECE1"/>
      </a:lt2>
      <a:accent1>
        <a:srgbClr val="EF4A4A"/>
      </a:accent1>
      <a:accent2>
        <a:srgbClr val="262626"/>
      </a:accent2>
      <a:accent3>
        <a:srgbClr val="EF4A4A"/>
      </a:accent3>
      <a:accent4>
        <a:srgbClr val="262626"/>
      </a:accent4>
      <a:accent5>
        <a:srgbClr val="EF4A4A"/>
      </a:accent5>
      <a:accent6>
        <a:srgbClr val="262626"/>
      </a:accent6>
      <a:hlink>
        <a:srgbClr val="0000FF"/>
      </a:hlink>
      <a:folHlink>
        <a:srgbClr val="800080"/>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smaple</Template>
  <TotalTime>2306</TotalTime>
  <Words>760</Words>
  <Application>Microsoft Office PowerPoint</Application>
  <PresentationFormat>Custom</PresentationFormat>
  <Paragraphs>110</Paragraphs>
  <Slides>16</Slides>
  <Notes>1</Notes>
  <HiddenSlides>0</HiddenSlides>
  <MMClips>0</MMClips>
  <ScaleCrop>false</ScaleCrop>
  <HeadingPairs>
    <vt:vector size="6" baseType="variant">
      <vt:variant>
        <vt:lpstr>Theme</vt:lpstr>
      </vt:variant>
      <vt:variant>
        <vt:i4>2</vt:i4>
      </vt:variant>
      <vt:variant>
        <vt:lpstr>Embedded OLE Servers</vt:lpstr>
      </vt:variant>
      <vt:variant>
        <vt:i4>1</vt:i4>
      </vt:variant>
      <vt:variant>
        <vt:lpstr>Slide Titles</vt:lpstr>
      </vt:variant>
      <vt:variant>
        <vt:i4>16</vt:i4>
      </vt:variant>
    </vt:vector>
  </HeadingPairs>
  <TitlesOfParts>
    <vt:vector size="19" baseType="lpstr">
      <vt:lpstr>1_Office Theme</vt:lpstr>
      <vt:lpstr>Contents Slide Master</vt:lpstr>
      <vt:lpstr>CorelDRAW</vt:lpstr>
      <vt:lpstr>Slide 1</vt:lpstr>
      <vt:lpstr>Course Objectives</vt:lpstr>
      <vt:lpstr>Course Outcomes</vt:lpstr>
      <vt:lpstr>Content   </vt:lpstr>
      <vt:lpstr>An Introduction to Optoelectronics</vt:lpstr>
      <vt:lpstr>Types of Optoelectronics Devices</vt:lpstr>
      <vt:lpstr>Photo Diode</vt:lpstr>
      <vt:lpstr>Solar Cells</vt:lpstr>
      <vt:lpstr>Light-Emitting Diodes</vt:lpstr>
      <vt:lpstr>Optical Fiber</vt:lpstr>
      <vt:lpstr>Laser Diodes </vt:lpstr>
      <vt:lpstr>APPLICATIONS OF OPTOELECTRONICS DEVICES </vt:lpstr>
      <vt:lpstr>PHOTOELECTRIC EFFECT IN SEMICONDUCTORS  </vt:lpstr>
      <vt:lpstr>Photon Interaction with Semiconductors </vt:lpstr>
      <vt:lpstr>Photoelectric principles</vt:lpstr>
      <vt:lpstr>Applications </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Branding</dc:creator>
  <cp:lastModifiedBy>Acer</cp:lastModifiedBy>
  <cp:revision>237</cp:revision>
  <dcterms:created xsi:type="dcterms:W3CDTF">2019-01-09T10:33:58Z</dcterms:created>
  <dcterms:modified xsi:type="dcterms:W3CDTF">2023-06-21T06:09:09Z</dcterms:modified>
</cp:coreProperties>
</file>