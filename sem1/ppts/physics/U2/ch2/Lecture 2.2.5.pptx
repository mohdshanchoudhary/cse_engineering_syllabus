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Default Extension="wdp" ContentType="image/vnd.ms-photo"/>
  <Override PartName="/ppt/slideLayouts/slideLayout10.xml" ContentType="application/vnd.openxmlformats-officedocument.presentationml.slideLayout+xml"/>
  <Default Extension="vml" ContentType="application/vnd.openxmlformats-officedocument.vmlDrawing"/>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4"/>
  </p:notesMasterIdLst>
  <p:handoutMasterIdLst>
    <p:handoutMasterId r:id="rId35"/>
  </p:handoutMasterIdLst>
  <p:sldIdLst>
    <p:sldId id="385" r:id="rId3"/>
    <p:sldId id="408" r:id="rId4"/>
    <p:sldId id="409" r:id="rId5"/>
    <p:sldId id="326" r:id="rId6"/>
    <p:sldId id="327" r:id="rId7"/>
    <p:sldId id="391" r:id="rId8"/>
    <p:sldId id="389" r:id="rId9"/>
    <p:sldId id="267" r:id="rId10"/>
    <p:sldId id="392" r:id="rId11"/>
    <p:sldId id="393" r:id="rId12"/>
    <p:sldId id="394" r:id="rId13"/>
    <p:sldId id="395" r:id="rId14"/>
    <p:sldId id="396" r:id="rId15"/>
    <p:sldId id="398" r:id="rId16"/>
    <p:sldId id="399" r:id="rId17"/>
    <p:sldId id="400" r:id="rId18"/>
    <p:sldId id="401" r:id="rId19"/>
    <p:sldId id="402" r:id="rId20"/>
    <p:sldId id="403" r:id="rId21"/>
    <p:sldId id="344" r:id="rId22"/>
    <p:sldId id="406" r:id="rId23"/>
    <p:sldId id="405" r:id="rId24"/>
    <p:sldId id="404" r:id="rId25"/>
    <p:sldId id="375" r:id="rId26"/>
    <p:sldId id="377" r:id="rId27"/>
    <p:sldId id="386" r:id="rId28"/>
    <p:sldId id="384" r:id="rId29"/>
    <p:sldId id="381" r:id="rId30"/>
    <p:sldId id="368" r:id="rId31"/>
    <p:sldId id="407" r:id="rId32"/>
    <p:sldId id="380" r:id="rId33"/>
  </p:sldIdLst>
  <p:sldSz cx="12192000" cy="6858000"/>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515" autoAdjust="0"/>
    <p:restoredTop sz="94660"/>
  </p:normalViewPr>
  <p:slideViewPr>
    <p:cSldViewPr snapToGrid="0">
      <p:cViewPr varScale="1">
        <p:scale>
          <a:sx n="65" d="100"/>
          <a:sy n="65" d="100"/>
        </p:scale>
        <p:origin x="-702"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circuitglobe.com/independent-dependent-voltage-and-current-source.html" TargetMode="External"/><Relationship Id="rId2" Type="http://schemas.openxmlformats.org/officeDocument/2006/relationships/hyperlink" Target="https://www.electronics-tutorials.ws/dccircuits/dcp_4.html" TargetMode="External"/><Relationship Id="rId1" Type="http://schemas.openxmlformats.org/officeDocument/2006/relationships/slideLayout" Target="../slideLayouts/slideLayout2.xml"/><Relationship Id="rId4" Type="http://schemas.openxmlformats.org/officeDocument/2006/relationships/hyperlink" Target="https://www.youtube.com/watch?v=mCgXsEyQZSI"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electrical4u.com/solar-cell/" TargetMode="External"/><Relationship Id="rId2" Type="http://schemas.openxmlformats.org/officeDocument/2006/relationships/hyperlink" Target="https://www.electronics-tutorials.ws/dccircuits/dcp_4.ht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xmlns=""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204835" name="CorelDRAW" r:id="rId4" imgW="2169000" imgH="2169360" progId="">
              <p:embed/>
            </p:oleObj>
          </a:graphicData>
        </a:graphic>
      </p:graphicFrame>
      <p:sp>
        <p:nvSpPr>
          <p:cNvPr id="37" name="Right Triangle 36">
            <a:extLst>
              <a:ext uri="{FF2B5EF4-FFF2-40B4-BE49-F238E27FC236}">
                <a16:creationId xmlns:a16="http://schemas.microsoft.com/office/drawing/2014/main" xmlns=""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7">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186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UIE </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UNIT-1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Name: Semiconductor Physics</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Code: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23SPH-143</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Dr. </a:t>
            </a:r>
            <a:r>
              <a:rPr lang="en-US" sz="2400" dirty="0" err="1">
                <a:latin typeface="Times New Roman" panose="02020603050405020304" pitchFamily="18" charset="0"/>
                <a:ea typeface="Calibri" panose="020F0502020204030204" pitchFamily="34" charset="0"/>
                <a:cs typeface="Times New Roman" panose="02020603050405020304" pitchFamily="18" charset="0"/>
              </a:rPr>
              <a:t>Harjeevan</a:t>
            </a:r>
            <a:r>
              <a:rPr lang="en-US" sz="2400" dirty="0">
                <a:latin typeface="Times New Roman" panose="02020603050405020304" pitchFamily="18" charset="0"/>
                <a:ea typeface="Calibri" panose="020F0502020204030204" pitchFamily="34" charset="0"/>
                <a:cs typeface="Times New Roman" panose="02020603050405020304" pitchFamily="18" charset="0"/>
              </a:rPr>
              <a:t> Singh</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P-N Junction, Solar cell and Characteristics</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 xmlns:a16="http://schemas.microsoft.com/office/drawing/2014/main" val="20000"/>
                    </a:ext>
                  </a:extLst>
                </a:gridCol>
                <a:gridCol w="5959928">
                  <a:extLst>
                    <a:ext uri="{9D8B030D-6E8A-4147-A177-3AD203B41FA5}">
                      <a16:colId xmlns=""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 xmlns:a16="http://schemas.microsoft.com/office/drawing/2014/main" id="{CF519C70-D760-42E7-8BD2-6D327CBFDD43}"/>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 xmlns:a16="http://schemas.microsoft.com/office/drawing/2014/main" id="{8162587E-E0B8-4626-8CC1-A1300E812FD3}"/>
              </a:ext>
            </a:extLst>
          </p:cNvPr>
          <p:cNvGraphicFramePr>
            <a:graphicFrameLocks noGrp="1"/>
          </p:cNvGraphicFramePr>
          <p:nvPr>
            <p:extLst>
              <p:ext uri="{D42A27DB-BD31-4B8C-83A1-F6EECF244321}">
                <p14:modId xmlns=""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 xmlns:a16="http://schemas.microsoft.com/office/drawing/2014/main" val="3145357031"/>
                    </a:ext>
                  </a:extLst>
                </a:gridCol>
                <a:gridCol w="3525847">
                  <a:extLst>
                    <a:ext uri="{9D8B030D-6E8A-4147-A177-3AD203B41FA5}">
                      <a16:colId xmlns="" xmlns:a16="http://schemas.microsoft.com/office/drawing/2014/main" val="1912344179"/>
                    </a:ext>
                  </a:extLst>
                </a:gridCol>
                <a:gridCol w="2118474">
                  <a:extLst>
                    <a:ext uri="{9D8B030D-6E8A-4147-A177-3AD203B41FA5}">
                      <a16:colId xmlns=""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1993640399"/>
                  </a:ext>
                </a:extLst>
              </a:tr>
            </a:tbl>
          </a:graphicData>
        </a:graphic>
      </p:graphicFrame>
      <p:pic>
        <p:nvPicPr>
          <p:cNvPr id="4" name="Picture 3">
            <a:extLst>
              <a:ext uri="{FF2B5EF4-FFF2-40B4-BE49-F238E27FC236}">
                <a16:creationId xmlns="" xmlns:a16="http://schemas.microsoft.com/office/drawing/2014/main" id="{72E5EA36-20D2-4DE4-BBC5-F5A55DBA5C1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 xmlns:p14="http://schemas.microsoft.com/office/powerpoint/2010/main"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Casper"/>
                <a:cs typeface="Arial" panose="020B0604020202020204" pitchFamily="34" charset="0"/>
              </a:rPr>
              <a:t>Content</a:t>
            </a:r>
            <a:endParaRPr lang="en-US" b="1" dirty="0">
              <a:latin typeface="Casper"/>
            </a:endParaRPr>
          </a:p>
        </p:txBody>
      </p:sp>
      <p:sp>
        <p:nvSpPr>
          <p:cNvPr id="3" name="Content Placeholder 2"/>
          <p:cNvSpPr>
            <a:spLocks noGrp="1"/>
          </p:cNvSpPr>
          <p:nvPr>
            <p:ph idx="1"/>
          </p:nvPr>
        </p:nvSpPr>
        <p:spPr/>
        <p:txBody>
          <a:bodyPr>
            <a:normAutofit/>
          </a:bodyPr>
          <a:lstStyle/>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Semiconductor and types</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P-N Junction</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Biasing of p-n junction</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Characteristics of p-n junction.</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Solar cell.</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Construction of solar cell.</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Working of solar cell.</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Characteristics of solar cell</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Applications of solar cells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par>
                                <p:cTn id="29" presetID="49" presetClass="entr" presetSubtype="0" decel="10000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4" end="4"/>
                                            </p:txEl>
                                          </p:spTgt>
                                        </p:tgtEl>
                                      </p:cBhvr>
                                    </p:animEffect>
                                  </p:childTnLst>
                                </p:cTn>
                              </p:par>
                              <p:par>
                                <p:cTn id="35" presetID="49" presetClass="entr" presetSubtype="0" decel="10000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9" dur="500" fill="hold"/>
                                        <p:tgtEl>
                                          <p:spTgt spid="3">
                                            <p:txEl>
                                              <p:pRg st="5" end="5"/>
                                            </p:txEl>
                                          </p:spTgt>
                                        </p:tgtEl>
                                        <p:attrNameLst>
                                          <p:attrName>style.rotation</p:attrName>
                                        </p:attrNameLst>
                                      </p:cBhvr>
                                      <p:tavLst>
                                        <p:tav tm="0">
                                          <p:val>
                                            <p:fltVal val="360"/>
                                          </p:val>
                                        </p:tav>
                                        <p:tav tm="100000">
                                          <p:val>
                                            <p:fltVal val="0"/>
                                          </p:val>
                                        </p:tav>
                                      </p:tavLst>
                                    </p:anim>
                                    <p:animEffect transition="in" filter="fade">
                                      <p:cBhvr>
                                        <p:cTn id="40" dur="500"/>
                                        <p:tgtEl>
                                          <p:spTgt spid="3">
                                            <p:txEl>
                                              <p:pRg st="5" end="5"/>
                                            </p:txEl>
                                          </p:spTgt>
                                        </p:tgtEl>
                                      </p:cBhvr>
                                    </p:animEffect>
                                  </p:childTnLst>
                                </p:cTn>
                              </p:par>
                              <p:par>
                                <p:cTn id="41" presetID="49" presetClass="entr" presetSubtype="0" decel="100000" fill="hold"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p:cTn id="43"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3">
                                            <p:txEl>
                                              <p:pRg st="6" end="6"/>
                                            </p:txEl>
                                          </p:spTgt>
                                        </p:tgtEl>
                                        <p:attrNameLst>
                                          <p:attrName>ppt_h</p:attrName>
                                        </p:attrNameLst>
                                      </p:cBhvr>
                                      <p:tavLst>
                                        <p:tav tm="0">
                                          <p:val>
                                            <p:fltVal val="0"/>
                                          </p:val>
                                        </p:tav>
                                        <p:tav tm="100000">
                                          <p:val>
                                            <p:strVal val="#ppt_h"/>
                                          </p:val>
                                        </p:tav>
                                      </p:tavLst>
                                    </p:anim>
                                    <p:anim calcmode="lin" valueType="num">
                                      <p:cBhvr>
                                        <p:cTn id="45" dur="500" fill="hold"/>
                                        <p:tgtEl>
                                          <p:spTgt spid="3">
                                            <p:txEl>
                                              <p:pRg st="6" end="6"/>
                                            </p:txEl>
                                          </p:spTgt>
                                        </p:tgtEl>
                                        <p:attrNameLst>
                                          <p:attrName>style.rotation</p:attrName>
                                        </p:attrNameLst>
                                      </p:cBhvr>
                                      <p:tavLst>
                                        <p:tav tm="0">
                                          <p:val>
                                            <p:fltVal val="360"/>
                                          </p:val>
                                        </p:tav>
                                        <p:tav tm="100000">
                                          <p:val>
                                            <p:fltVal val="0"/>
                                          </p:val>
                                        </p:tav>
                                      </p:tavLst>
                                    </p:anim>
                                    <p:animEffect transition="in" filter="fade">
                                      <p:cBhvr>
                                        <p:cTn id="46" dur="500"/>
                                        <p:tgtEl>
                                          <p:spTgt spid="3">
                                            <p:txEl>
                                              <p:pRg st="6" end="6"/>
                                            </p:txEl>
                                          </p:spTgt>
                                        </p:tgtEl>
                                      </p:cBhvr>
                                    </p:animEffect>
                                  </p:childTnLst>
                                </p:cTn>
                              </p:par>
                              <p:par>
                                <p:cTn id="47" presetID="49" presetClass="entr" presetSubtype="0" decel="100000" fill="hold" nodeType="with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p:cTn id="49"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7" end="7"/>
                                            </p:txEl>
                                          </p:spTgt>
                                        </p:tgtEl>
                                        <p:attrNameLst>
                                          <p:attrName>ppt_h</p:attrName>
                                        </p:attrNameLst>
                                      </p:cBhvr>
                                      <p:tavLst>
                                        <p:tav tm="0">
                                          <p:val>
                                            <p:fltVal val="0"/>
                                          </p:val>
                                        </p:tav>
                                        <p:tav tm="100000">
                                          <p:val>
                                            <p:strVal val="#ppt_h"/>
                                          </p:val>
                                        </p:tav>
                                      </p:tavLst>
                                    </p:anim>
                                    <p:anim calcmode="lin" valueType="num">
                                      <p:cBhvr>
                                        <p:cTn id="51" dur="500" fill="hold"/>
                                        <p:tgtEl>
                                          <p:spTgt spid="3">
                                            <p:txEl>
                                              <p:pRg st="7" end="7"/>
                                            </p:txEl>
                                          </p:spTgt>
                                        </p:tgtEl>
                                        <p:attrNameLst>
                                          <p:attrName>style.rotation</p:attrName>
                                        </p:attrNameLst>
                                      </p:cBhvr>
                                      <p:tavLst>
                                        <p:tav tm="0">
                                          <p:val>
                                            <p:fltVal val="360"/>
                                          </p:val>
                                        </p:tav>
                                        <p:tav tm="100000">
                                          <p:val>
                                            <p:fltVal val="0"/>
                                          </p:val>
                                        </p:tav>
                                      </p:tavLst>
                                    </p:anim>
                                    <p:animEffect transition="in" filter="fade">
                                      <p:cBhvr>
                                        <p:cTn id="52" dur="500"/>
                                        <p:tgtEl>
                                          <p:spTgt spid="3">
                                            <p:txEl>
                                              <p:pRg st="7" end="7"/>
                                            </p:txEl>
                                          </p:spTgt>
                                        </p:tgtEl>
                                      </p:cBhvr>
                                    </p:animEffect>
                                  </p:childTnLst>
                                </p:cTn>
                              </p:par>
                              <p:par>
                                <p:cTn id="53" presetID="49" presetClass="entr" presetSubtype="0" decel="100000" fill="hold" nodeType="with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p:cTn id="55"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56" dur="500" fill="hold"/>
                                        <p:tgtEl>
                                          <p:spTgt spid="3">
                                            <p:txEl>
                                              <p:pRg st="8" end="8"/>
                                            </p:txEl>
                                          </p:spTgt>
                                        </p:tgtEl>
                                        <p:attrNameLst>
                                          <p:attrName>ppt_h</p:attrName>
                                        </p:attrNameLst>
                                      </p:cBhvr>
                                      <p:tavLst>
                                        <p:tav tm="0">
                                          <p:val>
                                            <p:fltVal val="0"/>
                                          </p:val>
                                        </p:tav>
                                        <p:tav tm="100000">
                                          <p:val>
                                            <p:strVal val="#ppt_h"/>
                                          </p:val>
                                        </p:tav>
                                      </p:tavLst>
                                    </p:anim>
                                    <p:anim calcmode="lin" valueType="num">
                                      <p:cBhvr>
                                        <p:cTn id="57" dur="500" fill="hold"/>
                                        <p:tgtEl>
                                          <p:spTgt spid="3">
                                            <p:txEl>
                                              <p:pRg st="8" end="8"/>
                                            </p:txEl>
                                          </p:spTgt>
                                        </p:tgtEl>
                                        <p:attrNameLst>
                                          <p:attrName>style.rotation</p:attrName>
                                        </p:attrNameLst>
                                      </p:cBhvr>
                                      <p:tavLst>
                                        <p:tav tm="0">
                                          <p:val>
                                            <p:fltVal val="360"/>
                                          </p:val>
                                        </p:tav>
                                        <p:tav tm="100000">
                                          <p:val>
                                            <p:fltVal val="0"/>
                                          </p:val>
                                        </p:tav>
                                      </p:tavLst>
                                    </p:anim>
                                    <p:animEffect transition="in" filter="fade">
                                      <p:cBhvr>
                                        <p:cTn id="5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200" b="1" dirty="0">
                <a:latin typeface="+mn-lt"/>
              </a:rPr>
              <a:t>Semiconductors</a:t>
            </a:r>
          </a:p>
        </p:txBody>
      </p:sp>
      <p:sp>
        <p:nvSpPr>
          <p:cNvPr id="3" name="Content Placeholder 2"/>
          <p:cNvSpPr>
            <a:spLocks noGrp="1"/>
          </p:cNvSpPr>
          <p:nvPr>
            <p:ph idx="1"/>
          </p:nvPr>
        </p:nvSpPr>
        <p:spPr>
          <a:xfrm>
            <a:off x="772886" y="1655810"/>
            <a:ext cx="10580914" cy="4351338"/>
          </a:xfrm>
        </p:spPr>
        <p:txBody>
          <a:bodyPr>
            <a:noAutofit/>
          </a:bodyPr>
          <a:lstStyle/>
          <a:p>
            <a:pPr marL="342900" indent="-342900" algn="just"/>
            <a:r>
              <a:rPr lang="en-IN" dirty="0"/>
              <a:t>A semiconductor is a material which has an electrical conductivity value falling between that of a conductor, such as copper, and an insulator, such as glass. </a:t>
            </a:r>
          </a:p>
          <a:p>
            <a:pPr marL="342900" indent="-342900" algn="just"/>
            <a:r>
              <a:rPr lang="en-IN" dirty="0"/>
              <a:t>Semiconductors are classified as intrinsic semiconductors and extrinsic semiconductors. Extrinsic semiconductors are further classified as N-type and P-type semiconductors.</a:t>
            </a:r>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xmlns="" val="604911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200" b="1" dirty="0">
                <a:latin typeface="+mn-lt"/>
              </a:rPr>
              <a:t>N-Type Material</a:t>
            </a:r>
          </a:p>
        </p:txBody>
      </p:sp>
      <p:sp>
        <p:nvSpPr>
          <p:cNvPr id="3" name="Content Placeholder 2"/>
          <p:cNvSpPr>
            <a:spLocks noGrp="1"/>
          </p:cNvSpPr>
          <p:nvPr>
            <p:ph idx="1"/>
          </p:nvPr>
        </p:nvSpPr>
        <p:spPr>
          <a:xfrm>
            <a:off x="772886" y="1655810"/>
            <a:ext cx="5323114" cy="4351338"/>
          </a:xfrm>
        </p:spPr>
        <p:txBody>
          <a:bodyPr>
            <a:noAutofit/>
          </a:bodyPr>
          <a:lstStyle/>
          <a:p>
            <a:pPr marL="342900" indent="-342900" algn="just"/>
            <a:r>
              <a:rPr lang="en-IN" sz="2400" dirty="0"/>
              <a:t>When extra valence electrons are introduced into a material such as silicon an n-type material is produced.  The extra valence electrons are introduced by putting impurities or dopant into the silicon.  The dopant used to create an n-type material are Group V elements.  The most commonly used dopant from Group V are arsenic, antimony and phosphorus.</a:t>
            </a:r>
          </a:p>
          <a:p>
            <a:pPr marL="342900" indent="-342900" algn="just"/>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pic>
        <p:nvPicPr>
          <p:cNvPr id="6" name="Picture 5">
            <a:extLst>
              <a:ext uri="{FF2B5EF4-FFF2-40B4-BE49-F238E27FC236}">
                <a16:creationId xmlns:a16="http://schemas.microsoft.com/office/drawing/2014/main" xmlns="" id="{6C9088DB-B29F-4CED-BA24-25735E12A487}"/>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811447" y="1690688"/>
            <a:ext cx="2438740" cy="2543530"/>
          </a:xfrm>
          <a:prstGeom prst="rect">
            <a:avLst/>
          </a:prstGeom>
        </p:spPr>
      </p:pic>
      <p:sp>
        <p:nvSpPr>
          <p:cNvPr id="7" name="TextBox 6">
            <a:extLst>
              <a:ext uri="{FF2B5EF4-FFF2-40B4-BE49-F238E27FC236}">
                <a16:creationId xmlns:a16="http://schemas.microsoft.com/office/drawing/2014/main" xmlns="" id="{C64A9D2F-7E01-47DA-AA2B-CC0D8BC9012D}"/>
              </a:ext>
            </a:extLst>
          </p:cNvPr>
          <p:cNvSpPr txBox="1"/>
          <p:nvPr/>
        </p:nvSpPr>
        <p:spPr>
          <a:xfrm>
            <a:off x="6916890" y="4511986"/>
            <a:ext cx="2343270" cy="369332"/>
          </a:xfrm>
          <a:prstGeom prst="rect">
            <a:avLst/>
          </a:prstGeom>
          <a:noFill/>
        </p:spPr>
        <p:txBody>
          <a:bodyPr wrap="none" rtlCol="0">
            <a:spAutoFit/>
          </a:bodyPr>
          <a:lstStyle/>
          <a:p>
            <a:r>
              <a:rPr lang="en-US" dirty="0"/>
              <a:t>Fig. 1:  N-Type material</a:t>
            </a:r>
          </a:p>
        </p:txBody>
      </p:sp>
    </p:spTree>
    <p:extLst>
      <p:ext uri="{BB962C8B-B14F-4D97-AF65-F5344CB8AC3E}">
        <p14:creationId xmlns:p14="http://schemas.microsoft.com/office/powerpoint/2010/main" xmlns="" val="550959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200" b="1" dirty="0">
                <a:latin typeface="+mn-lt"/>
              </a:rPr>
              <a:t>P-Type Material</a:t>
            </a:r>
          </a:p>
        </p:txBody>
      </p:sp>
      <p:sp>
        <p:nvSpPr>
          <p:cNvPr id="3" name="Content Placeholder 2"/>
          <p:cNvSpPr>
            <a:spLocks noGrp="1"/>
          </p:cNvSpPr>
          <p:nvPr>
            <p:ph idx="1"/>
          </p:nvPr>
        </p:nvSpPr>
        <p:spPr>
          <a:xfrm>
            <a:off x="772886" y="1655810"/>
            <a:ext cx="5323114" cy="4351338"/>
          </a:xfrm>
        </p:spPr>
        <p:txBody>
          <a:bodyPr>
            <a:noAutofit/>
          </a:bodyPr>
          <a:lstStyle/>
          <a:p>
            <a:pPr marL="342900" indent="-342900" algn="just"/>
            <a:r>
              <a:rPr lang="en-IN" sz="2400" dirty="0"/>
              <a:t>P-type material is produced when the dopant that is introduced is from Group III.   Group III elements have only 3 valence electrons and therefore there is an electron missing.  This creates a hole (h+), or a positive charge that can move around in the material.  Commonly used Group III dopant are </a:t>
            </a:r>
            <a:r>
              <a:rPr lang="en-IN" sz="2400" dirty="0" err="1"/>
              <a:t>aluminum</a:t>
            </a:r>
            <a:r>
              <a:rPr lang="en-IN" sz="2400" dirty="0"/>
              <a:t>, boron, and gallium.</a:t>
            </a:r>
          </a:p>
          <a:p>
            <a:pPr marL="342900" indent="-342900" algn="just"/>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7" name="Picture 6">
            <a:extLst>
              <a:ext uri="{FF2B5EF4-FFF2-40B4-BE49-F238E27FC236}">
                <a16:creationId xmlns:a16="http://schemas.microsoft.com/office/drawing/2014/main" xmlns="" id="{9BF47AC3-FDB2-4B72-8BA4-AFF999E99B97}"/>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7030510" y="1690688"/>
            <a:ext cx="2610214" cy="2562583"/>
          </a:xfrm>
          <a:prstGeom prst="rect">
            <a:avLst/>
          </a:prstGeom>
        </p:spPr>
      </p:pic>
      <p:sp>
        <p:nvSpPr>
          <p:cNvPr id="8" name="TextBox 7">
            <a:extLst>
              <a:ext uri="{FF2B5EF4-FFF2-40B4-BE49-F238E27FC236}">
                <a16:creationId xmlns:a16="http://schemas.microsoft.com/office/drawing/2014/main" xmlns="" id="{71E613EC-C416-4659-BA1F-0B8802B96689}"/>
              </a:ext>
            </a:extLst>
          </p:cNvPr>
          <p:cNvSpPr txBox="1"/>
          <p:nvPr/>
        </p:nvSpPr>
        <p:spPr>
          <a:xfrm>
            <a:off x="6916890" y="4511986"/>
            <a:ext cx="2312813" cy="369332"/>
          </a:xfrm>
          <a:prstGeom prst="rect">
            <a:avLst/>
          </a:prstGeom>
          <a:noFill/>
        </p:spPr>
        <p:txBody>
          <a:bodyPr wrap="none" rtlCol="0">
            <a:spAutoFit/>
          </a:bodyPr>
          <a:lstStyle/>
          <a:p>
            <a:r>
              <a:rPr lang="en-US" dirty="0"/>
              <a:t>Fig. 2:  P-Type material</a:t>
            </a:r>
          </a:p>
        </p:txBody>
      </p:sp>
    </p:spTree>
    <p:extLst>
      <p:ext uri="{BB962C8B-B14F-4D97-AF65-F5344CB8AC3E}">
        <p14:creationId xmlns:p14="http://schemas.microsoft.com/office/powerpoint/2010/main" xmlns="" val="648448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defRPr/>
            </a:pPr>
            <a:r>
              <a:rPr lang="en-IN" sz="3200" b="1" dirty="0"/>
              <a:t>                       P-N Junction</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8</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2308324"/>
          </a:xfrm>
          <a:prstGeom prst="rect">
            <a:avLst/>
          </a:prstGeom>
        </p:spPr>
        <p:txBody>
          <a:bodyPr wrap="square">
            <a:spAutoFit/>
          </a:bodyPr>
          <a:lstStyle/>
          <a:p>
            <a:pPr marL="285750" indent="-285750">
              <a:buFont typeface="Arial" panose="020B0604020202020204" pitchFamily="34" charset="0"/>
              <a:buChar char="•"/>
            </a:pPr>
            <a:r>
              <a:rPr lang="en-IN" sz="1600" i="1" dirty="0"/>
              <a:t>A P-N junction is an interface or a boundary between two semiconductor material types, namely the p-type and the n-type, inside a semiconductor.</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In a semiconductor, the P-N junction is created by the method of doping. The p-side or the positive side of the semiconductor has an excess of holes, and the n-side or the negative side has an excess of electrons. The process of doping is explained in further detail in the next section.</a:t>
            </a:r>
          </a:p>
          <a:p>
            <a:pPr marL="285750" indent="-285750" algn="just">
              <a:buFont typeface="Arial" panose="020B0604020202020204" pitchFamily="34" charset="0"/>
              <a:buChar char="•"/>
              <a:defRPr/>
            </a:pPr>
            <a:endParaRPr lang="en-US" sz="1600" dirty="0">
              <a:effectLst>
                <a:outerShdw blurRad="38100" dist="38100" dir="2700000" algn="tl">
                  <a:srgbClr val="C0C0C0"/>
                </a:outerShdw>
              </a:effectLst>
            </a:endParaRPr>
          </a:p>
          <a:p>
            <a:pPr marL="285750" indent="-285750" algn="just">
              <a:buFont typeface="Arial" panose="020B0604020202020204" pitchFamily="34" charset="0"/>
              <a:buChar char="•"/>
              <a:defRPr/>
            </a:pPr>
            <a:r>
              <a:rPr lang="en-US" sz="1600" dirty="0">
                <a:effectLst>
                  <a:outerShdw blurRad="38100" dist="38100" dir="2700000" algn="tl">
                    <a:srgbClr val="C0C0C0"/>
                  </a:outerShdw>
                </a:effectLst>
              </a:rPr>
              <a:t>When no external source is connected to the </a:t>
            </a:r>
            <a:r>
              <a:rPr lang="en-US" sz="1600" dirty="0" err="1">
                <a:effectLst>
                  <a:outerShdw blurRad="38100" dist="38100" dir="2700000" algn="tl">
                    <a:srgbClr val="C0C0C0"/>
                  </a:outerShdw>
                </a:effectLst>
              </a:rPr>
              <a:t>pn</a:t>
            </a:r>
            <a:r>
              <a:rPr lang="en-US" sz="1600" dirty="0">
                <a:effectLst>
                  <a:outerShdw blurRad="38100" dist="38100" dir="2700000" algn="tl">
                    <a:srgbClr val="C0C0C0"/>
                  </a:outerShdw>
                </a:effectLst>
              </a:rPr>
              <a:t> junction, diffusion and drift balance each other out for both the holes and electrons</a:t>
            </a:r>
          </a:p>
        </p:txBody>
      </p:sp>
      <p:pic>
        <p:nvPicPr>
          <p:cNvPr id="4" name="Picture 3">
            <a:extLst>
              <a:ext uri="{FF2B5EF4-FFF2-40B4-BE49-F238E27FC236}">
                <a16:creationId xmlns:a16="http://schemas.microsoft.com/office/drawing/2014/main" xmlns="" id="{F37B0EE0-440A-42CC-9B9C-F33211DE531F}"/>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438400" y="3726974"/>
            <a:ext cx="7460973" cy="2342471"/>
          </a:xfrm>
          <a:prstGeom prst="rect">
            <a:avLst/>
          </a:prstGeom>
        </p:spPr>
      </p:pic>
      <p:sp>
        <p:nvSpPr>
          <p:cNvPr id="61" name="TextBox 60">
            <a:extLst>
              <a:ext uri="{FF2B5EF4-FFF2-40B4-BE49-F238E27FC236}">
                <a16:creationId xmlns:a16="http://schemas.microsoft.com/office/drawing/2014/main" xmlns="" id="{7D9CA8BF-CD8D-4025-896A-D1CE94C9BBE9}"/>
              </a:ext>
            </a:extLst>
          </p:cNvPr>
          <p:cNvSpPr txBox="1"/>
          <p:nvPr/>
        </p:nvSpPr>
        <p:spPr>
          <a:xfrm>
            <a:off x="4889308" y="6171684"/>
            <a:ext cx="2028119" cy="369332"/>
          </a:xfrm>
          <a:prstGeom prst="rect">
            <a:avLst/>
          </a:prstGeom>
          <a:noFill/>
        </p:spPr>
        <p:txBody>
          <a:bodyPr wrap="none" rtlCol="0">
            <a:spAutoFit/>
          </a:bodyPr>
          <a:lstStyle/>
          <a:p>
            <a:r>
              <a:rPr lang="en-US" dirty="0"/>
              <a:t>Fig. 3:  P-N Junction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defRPr/>
            </a:pPr>
            <a:r>
              <a:rPr lang="en-IN" sz="3200" b="1" dirty="0"/>
              <a:t>                       P-N Junction</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9</a:t>
            </a:fld>
            <a:endParaRPr lang="en-US"/>
          </a:p>
        </p:txBody>
      </p:sp>
      <mc:AlternateContent xmlns:mc="http://schemas.openxmlformats.org/markup-compatibility/2006">
        <mc:Choice xmlns:a14="http://schemas.microsoft.com/office/drawing/2010/main" xmlns="" Requires="a14">
          <p:sp>
            <p:nvSpPr>
              <p:cNvPr id="2" name="Rectangle 1">
                <a:extLst>
                  <a:ext uri="{FF2B5EF4-FFF2-40B4-BE49-F238E27FC236}">
                    <a16:creationId xmlns:a16="http://schemas.microsoft.com/office/drawing/2014/main" id="{BF27944A-C7AB-41BC-90A4-8FBAF55694C3}"/>
                  </a:ext>
                </a:extLst>
              </p:cNvPr>
              <p:cNvSpPr/>
              <p:nvPr/>
            </p:nvSpPr>
            <p:spPr>
              <a:xfrm>
                <a:off x="838200" y="1418650"/>
                <a:ext cx="9644684" cy="3797193"/>
              </a:xfrm>
              <a:prstGeom prst="rect">
                <a:avLst/>
              </a:prstGeom>
            </p:spPr>
            <p:txBody>
              <a:bodyPr wrap="square">
                <a:spAutoFit/>
              </a:bodyPr>
              <a:lstStyle/>
              <a:p>
                <a:pPr marL="285750" indent="-285750">
                  <a:buFont typeface="Arial" panose="020B0604020202020204" pitchFamily="34" charset="0"/>
                  <a:buChar char="•"/>
                </a:pPr>
                <a:r>
                  <a:rPr lang="en-IN" sz="2000" b="1" i="1" dirty="0"/>
                  <a:t>Space Charge Region:</a:t>
                </a:r>
                <a:r>
                  <a:rPr lang="en-IN" sz="2000" i="1" dirty="0"/>
                  <a:t>  Also called the depletion region.  This region includes the net positively and negatively charged regions.  The space charge region does not have any free carriers.</a:t>
                </a:r>
              </a:p>
              <a:p>
                <a:endParaRPr lang="en-IN" sz="2000" i="1" dirty="0"/>
              </a:p>
              <a:p>
                <a:pPr marL="285750" indent="-285750">
                  <a:buFont typeface="Arial" panose="020B0604020202020204" pitchFamily="34" charset="0"/>
                  <a:buChar char="•"/>
                </a:pPr>
                <a:r>
                  <a:rPr lang="en-IN" sz="2000" b="1" i="1" dirty="0"/>
                  <a:t>Metallurgical Junction:  </a:t>
                </a:r>
                <a:r>
                  <a:rPr lang="en-IN" sz="2000" i="1" dirty="0"/>
                  <a:t>The interface where the p- and n-type materials meet.</a:t>
                </a:r>
              </a:p>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r>
                  <a:rPr lang="en-IN" sz="2000" b="1" i="1" dirty="0"/>
                  <a:t>Na &amp; Nd:  </a:t>
                </a:r>
                <a:r>
                  <a:rPr lang="en-IN" sz="2000" i="1" dirty="0"/>
                  <a:t>Represent the amount of negative and positive doping in number of carriers per </a:t>
                </a:r>
                <a:r>
                  <a:rPr lang="en-IN" sz="2000" i="1" dirty="0" err="1"/>
                  <a:t>centimeter</a:t>
                </a:r>
                <a:r>
                  <a:rPr lang="en-IN" sz="2000" i="1" dirty="0"/>
                  <a:t> cubed.  Usually in the range of </a:t>
                </a:r>
                <a14:m>
                  <m:oMath xmlns:m="http://schemas.openxmlformats.org/officeDocument/2006/math">
                    <m:sSup>
                      <m:sSupPr>
                        <m:ctrlPr>
                          <a:rPr lang="en-IN" sz="2000" i="1" smtClean="0">
                            <a:latin typeface="Cambria Math" panose="02040503050406030204" pitchFamily="18" charset="0"/>
                          </a:rPr>
                        </m:ctrlPr>
                      </m:sSupPr>
                      <m:e>
                        <m:r>
                          <a:rPr lang="en-IN" sz="2000" b="0" i="1" smtClean="0">
                            <a:latin typeface="Cambria Math" panose="02040503050406030204" pitchFamily="18" charset="0"/>
                          </a:rPr>
                          <m:t>10</m:t>
                        </m:r>
                      </m:e>
                      <m:sup>
                        <m:r>
                          <a:rPr lang="en-IN" sz="2000" b="0" i="1" smtClean="0">
                            <a:latin typeface="Cambria Math" panose="02040503050406030204" pitchFamily="18" charset="0"/>
                          </a:rPr>
                          <m:t>15</m:t>
                        </m:r>
                      </m:sup>
                    </m:sSup>
                  </m:oMath>
                </a14:m>
                <a:r>
                  <a:rPr lang="en-IN" sz="2000" i="1" dirty="0"/>
                  <a:t> to </a:t>
                </a:r>
                <a14:m>
                  <m:oMath xmlns:m="http://schemas.openxmlformats.org/officeDocument/2006/math">
                    <m:sSup>
                      <m:sSupPr>
                        <m:ctrlPr>
                          <a:rPr lang="en-IN" sz="2000" i="1">
                            <a:latin typeface="Cambria Math" panose="02040503050406030204" pitchFamily="18" charset="0"/>
                          </a:rPr>
                        </m:ctrlPr>
                      </m:sSupPr>
                      <m:e>
                        <m:r>
                          <a:rPr lang="en-IN" sz="2000" i="1">
                            <a:latin typeface="Cambria Math" panose="02040503050406030204" pitchFamily="18" charset="0"/>
                          </a:rPr>
                          <m:t>10</m:t>
                        </m:r>
                      </m:e>
                      <m:sup>
                        <m:r>
                          <a:rPr lang="en-IN" sz="2000" b="0" i="1" smtClean="0">
                            <a:latin typeface="Cambria Math" panose="02040503050406030204" pitchFamily="18" charset="0"/>
                          </a:rPr>
                          <m:t>20</m:t>
                        </m:r>
                      </m:sup>
                    </m:sSup>
                  </m:oMath>
                </a14:m>
                <a:r>
                  <a:rPr lang="en-IN" sz="2000" i="1" dirty="0"/>
                  <a:t>.</a:t>
                </a:r>
              </a:p>
              <a:p>
                <a:pPr marL="285750" indent="-285750">
                  <a:buFont typeface="Arial" panose="020B0604020202020204" pitchFamily="34" charset="0"/>
                  <a:buChar char="•"/>
                </a:pPr>
                <a:endParaRPr lang="en-IN" sz="2000" i="1" dirty="0"/>
              </a:p>
              <a:p>
                <a:endParaRPr lang="en-IN" sz="2000" i="1" dirty="0"/>
              </a:p>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mc:Choice>
        <mc:Fallback>
          <p:sp>
            <p:nvSpPr>
              <p:cNvPr id="2" name="Rectangle 1">
                <a:extLst>
                  <a:ext uri="{FF2B5EF4-FFF2-40B4-BE49-F238E27FC236}">
                    <a16:creationId xmlns:a16="http://schemas.microsoft.com/office/drawing/2014/main" xmlns="" xmlns:a14="http://schemas.microsoft.com/office/drawing/2010/main" id="{BF27944A-C7AB-41BC-90A4-8FBAF55694C3}"/>
                  </a:ext>
                </a:extLst>
              </p:cNvPr>
              <p:cNvSpPr>
                <a:spLocks noRot="1" noChangeAspect="1" noMove="1" noResize="1" noEditPoints="1" noAdjustHandles="1" noChangeArrowheads="1" noChangeShapeType="1" noTextEdit="1"/>
              </p:cNvSpPr>
              <p:nvPr/>
            </p:nvSpPr>
            <p:spPr>
              <a:xfrm>
                <a:off x="838200" y="1418650"/>
                <a:ext cx="9644684" cy="3797193"/>
              </a:xfrm>
              <a:prstGeom prst="rect">
                <a:avLst/>
              </a:prstGeom>
              <a:blipFill>
                <a:blip r:embed="rId2"/>
                <a:stretch>
                  <a:fillRect l="-569" t="-963"/>
                </a:stretch>
              </a:blipFill>
            </p:spPr>
            <p:txBody>
              <a:bodyPr/>
              <a:lstStyle/>
              <a:p>
                <a:r>
                  <a:rPr lang="en-IN">
                    <a:noFill/>
                  </a:rPr>
                  <a:t> </a:t>
                </a:r>
              </a:p>
            </p:txBody>
          </p:sp>
        </mc:Fallback>
      </mc:AlternateContent>
    </p:spTree>
    <p:extLst>
      <p:ext uri="{BB962C8B-B14F-4D97-AF65-F5344CB8AC3E}">
        <p14:creationId xmlns:p14="http://schemas.microsoft.com/office/powerpoint/2010/main" xmlns="" val="195813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defRPr/>
            </a:pPr>
            <a:r>
              <a:rPr lang="en-IN" sz="3200" b="1" dirty="0"/>
              <a:t>                       Biased P-N Junction</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10</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p:pic>
        <p:nvPicPr>
          <p:cNvPr id="4" name="Picture 3">
            <a:extLst>
              <a:ext uri="{FF2B5EF4-FFF2-40B4-BE49-F238E27FC236}">
                <a16:creationId xmlns:a16="http://schemas.microsoft.com/office/drawing/2014/main" xmlns="" id="{C3ED7057-8DD4-4F1C-BA84-A7C14F51A2B6}"/>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580274" y="1177236"/>
            <a:ext cx="7173326" cy="3064207"/>
          </a:xfrm>
          <a:prstGeom prst="rect">
            <a:avLst/>
          </a:prstGeom>
        </p:spPr>
      </p:pic>
      <p:sp>
        <p:nvSpPr>
          <p:cNvPr id="6" name="Rectangle 5">
            <a:extLst>
              <a:ext uri="{FF2B5EF4-FFF2-40B4-BE49-F238E27FC236}">
                <a16:creationId xmlns:a16="http://schemas.microsoft.com/office/drawing/2014/main" xmlns="" id="{D822CB1A-C339-4C7B-8E13-0A7CB522B1EF}"/>
              </a:ext>
            </a:extLst>
          </p:cNvPr>
          <p:cNvSpPr/>
          <p:nvPr/>
        </p:nvSpPr>
        <p:spPr>
          <a:xfrm>
            <a:off x="838200" y="5022388"/>
            <a:ext cx="10515600" cy="646331"/>
          </a:xfrm>
          <a:prstGeom prst="rect">
            <a:avLst/>
          </a:prstGeom>
        </p:spPr>
        <p:txBody>
          <a:bodyPr wrap="square">
            <a:spAutoFit/>
          </a:bodyPr>
          <a:lstStyle/>
          <a:p>
            <a:pPr marL="285750" indent="-285750">
              <a:buFont typeface="Arial" panose="020B0604020202020204" pitchFamily="34" charset="0"/>
              <a:buChar char="•"/>
            </a:pPr>
            <a:r>
              <a:rPr lang="en-IN" dirty="0"/>
              <a:t>The </a:t>
            </a:r>
            <a:r>
              <a:rPr lang="en-IN" dirty="0" err="1"/>
              <a:t>pn</a:t>
            </a:r>
            <a:r>
              <a:rPr lang="en-IN" dirty="0"/>
              <a:t> junction is considered biased when an external voltage is applied.  There are two types of biasing:  Forward bias and Reverse bias. </a:t>
            </a:r>
          </a:p>
        </p:txBody>
      </p:sp>
      <p:sp>
        <p:nvSpPr>
          <p:cNvPr id="10" name="TextBox 9">
            <a:extLst>
              <a:ext uri="{FF2B5EF4-FFF2-40B4-BE49-F238E27FC236}">
                <a16:creationId xmlns:a16="http://schemas.microsoft.com/office/drawing/2014/main" xmlns="" id="{15649089-ED36-48A0-B3C8-13417C82DFDB}"/>
              </a:ext>
            </a:extLst>
          </p:cNvPr>
          <p:cNvSpPr txBox="1"/>
          <p:nvPr/>
        </p:nvSpPr>
        <p:spPr>
          <a:xfrm>
            <a:off x="5339882" y="4393271"/>
            <a:ext cx="2696572" cy="369332"/>
          </a:xfrm>
          <a:prstGeom prst="rect">
            <a:avLst/>
          </a:prstGeom>
          <a:noFill/>
        </p:spPr>
        <p:txBody>
          <a:bodyPr wrap="none" rtlCol="0">
            <a:spAutoFit/>
          </a:bodyPr>
          <a:lstStyle/>
          <a:p>
            <a:r>
              <a:rPr lang="en-US" dirty="0"/>
              <a:t>Fig. 4:  Biased P-N Junction</a:t>
            </a:r>
          </a:p>
        </p:txBody>
      </p:sp>
    </p:spTree>
    <p:extLst>
      <p:ext uri="{BB962C8B-B14F-4D97-AF65-F5344CB8AC3E}">
        <p14:creationId xmlns:p14="http://schemas.microsoft.com/office/powerpoint/2010/main" xmlns="" val="4246053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defRPr/>
            </a:pPr>
            <a:r>
              <a:rPr lang="en-IN" sz="3200" b="1" dirty="0"/>
              <a:t>                       Biased P-N Junction</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11</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mc:AlternateContent xmlns:mc="http://schemas.openxmlformats.org/markup-compatibility/2006">
        <mc:Choice xmlns:a14="http://schemas.microsoft.com/office/drawing/2010/main" xmlns="" Requires="a14">
          <p:sp>
            <p:nvSpPr>
              <p:cNvPr id="6" name="Rectangle 5">
                <a:extLst>
                  <a:ext uri="{FF2B5EF4-FFF2-40B4-BE49-F238E27FC236}">
                    <a16:creationId xmlns:a16="http://schemas.microsoft.com/office/drawing/2014/main" id="{D822CB1A-C339-4C7B-8E13-0A7CB522B1EF}"/>
                  </a:ext>
                </a:extLst>
              </p:cNvPr>
              <p:cNvSpPr/>
              <p:nvPr/>
            </p:nvSpPr>
            <p:spPr>
              <a:xfrm>
                <a:off x="639417" y="1803370"/>
                <a:ext cx="10515600" cy="3080074"/>
              </a:xfrm>
              <a:prstGeom prst="rect">
                <a:avLst/>
              </a:prstGeom>
            </p:spPr>
            <p:txBody>
              <a:bodyPr wrap="square">
                <a:spAutoFit/>
              </a:bodyPr>
              <a:lstStyle/>
              <a:p>
                <a:pPr marL="285750" indent="-285750" algn="just">
                  <a:buFont typeface="Arial" panose="020B0604020202020204" pitchFamily="34" charset="0"/>
                  <a:buChar char="•"/>
                </a:pPr>
                <a:r>
                  <a:rPr lang="en-IN" sz="2400" b="1" dirty="0"/>
                  <a:t>Forward Bias: </a:t>
                </a:r>
                <a14:m>
                  <m:oMath xmlns:m="http://schemas.openxmlformats.org/officeDocument/2006/math">
                    <m:sSub>
                      <m:sSubPr>
                        <m:ctrlPr>
                          <a:rPr lang="en-IN" sz="2400" b="1" i="1" smtClean="0">
                            <a:latin typeface="Cambria Math" panose="02040503050406030204" pitchFamily="18" charset="0"/>
                          </a:rPr>
                        </m:ctrlPr>
                      </m:sSubPr>
                      <m:e>
                        <m:r>
                          <a:rPr lang="en-IN" sz="2400" b="1" i="1" smtClean="0">
                            <a:latin typeface="Cambria Math" panose="02040503050406030204" pitchFamily="18" charset="0"/>
                          </a:rPr>
                          <m:t>𝑽</m:t>
                        </m:r>
                      </m:e>
                      <m:sub>
                        <m:r>
                          <a:rPr lang="en-IN" sz="2400" b="1" i="1" smtClean="0">
                            <a:latin typeface="Cambria Math" panose="02040503050406030204" pitchFamily="18" charset="0"/>
                          </a:rPr>
                          <m:t>𝒂𝒑𝒑𝒍𝒊𝒆𝒅</m:t>
                        </m:r>
                      </m:sub>
                    </m:sSub>
                    <m:r>
                      <a:rPr lang="en-IN" sz="2400" b="1" i="1" smtClean="0">
                        <a:latin typeface="Cambria Math" panose="02040503050406030204" pitchFamily="18" charset="0"/>
                      </a:rPr>
                      <m:t>&gt;</m:t>
                    </m:r>
                    <m:r>
                      <a:rPr lang="en-IN" sz="2400" b="1" i="1" smtClean="0">
                        <a:latin typeface="Cambria Math" panose="02040503050406030204" pitchFamily="18" charset="0"/>
                      </a:rPr>
                      <m:t>𝟎</m:t>
                    </m:r>
                  </m:oMath>
                </a14:m>
                <a:endParaRPr lang="en-IN" sz="2400" b="1" dirty="0"/>
              </a:p>
              <a:p>
                <a:pPr marL="285750" indent="-285750" algn="just">
                  <a:buFont typeface="Arial" panose="020B0604020202020204" pitchFamily="34" charset="0"/>
                  <a:buChar char="•"/>
                </a:pPr>
                <a:endParaRPr lang="en-IN" sz="2400" dirty="0"/>
              </a:p>
              <a:p>
                <a:pPr algn="just"/>
                <a:r>
                  <a:rPr lang="en-IN" sz="2400" dirty="0"/>
                  <a:t>In forward bias the depletion region shrinks slightly in width.  With this shrinking the energy required for charge carriers to cross the depletion region decreases exponentially.  Therefore, as the applied voltage increases, current starts to flow across the junction.  The barrier potential of the diode is the voltage at which appreciable current starts to flow through the diode.  The barrier potential varies for different materials.</a:t>
                </a:r>
              </a:p>
            </p:txBody>
          </p:sp>
        </mc:Choice>
        <mc:Fallback>
          <p:sp>
            <p:nvSpPr>
              <p:cNvPr id="6" name="Rectangle 5">
                <a:extLst>
                  <a:ext uri="{FF2B5EF4-FFF2-40B4-BE49-F238E27FC236}">
                    <a16:creationId xmlns:a16="http://schemas.microsoft.com/office/drawing/2014/main" xmlns="" xmlns:a14="http://schemas.microsoft.com/office/drawing/2010/main" id="{D822CB1A-C339-4C7B-8E13-0A7CB522B1EF}"/>
                  </a:ext>
                </a:extLst>
              </p:cNvPr>
              <p:cNvSpPr>
                <a:spLocks noRot="1" noChangeAspect="1" noMove="1" noResize="1" noEditPoints="1" noAdjustHandles="1" noChangeArrowheads="1" noChangeShapeType="1" noTextEdit="1"/>
              </p:cNvSpPr>
              <p:nvPr/>
            </p:nvSpPr>
            <p:spPr>
              <a:xfrm>
                <a:off x="639417" y="1803370"/>
                <a:ext cx="10515600" cy="3080074"/>
              </a:xfrm>
              <a:prstGeom prst="rect">
                <a:avLst/>
              </a:prstGeom>
              <a:blipFill>
                <a:blip r:embed="rId2"/>
                <a:stretch>
                  <a:fillRect l="-928" t="-1386" r="-870" b="-3564"/>
                </a:stretch>
              </a:blipFill>
            </p:spPr>
            <p:txBody>
              <a:bodyPr/>
              <a:lstStyle/>
              <a:p>
                <a:r>
                  <a:rPr lang="en-IN">
                    <a:noFill/>
                  </a:rPr>
                  <a:t> </a:t>
                </a:r>
              </a:p>
            </p:txBody>
          </p:sp>
        </mc:Fallback>
      </mc:AlternateContent>
    </p:spTree>
    <p:extLst>
      <p:ext uri="{BB962C8B-B14F-4D97-AF65-F5344CB8AC3E}">
        <p14:creationId xmlns:p14="http://schemas.microsoft.com/office/powerpoint/2010/main" xmlns="" val="3604968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defRPr/>
            </a:pPr>
            <a:r>
              <a:rPr lang="en-IN" sz="3200" b="1" dirty="0"/>
              <a:t>                       Biased P-N Junction</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12</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mc:AlternateContent xmlns:mc="http://schemas.openxmlformats.org/markup-compatibility/2006">
        <mc:Choice xmlns:a14="http://schemas.microsoft.com/office/drawing/2010/main" xmlns="" Requires="a14">
          <p:sp>
            <p:nvSpPr>
              <p:cNvPr id="6" name="Rectangle 5">
                <a:extLst>
                  <a:ext uri="{FF2B5EF4-FFF2-40B4-BE49-F238E27FC236}">
                    <a16:creationId xmlns:a16="http://schemas.microsoft.com/office/drawing/2014/main" id="{D822CB1A-C339-4C7B-8E13-0A7CB522B1EF}"/>
                  </a:ext>
                </a:extLst>
              </p:cNvPr>
              <p:cNvSpPr/>
              <p:nvPr/>
            </p:nvSpPr>
            <p:spPr>
              <a:xfrm>
                <a:off x="639417" y="1803370"/>
                <a:ext cx="10515600" cy="3080074"/>
              </a:xfrm>
              <a:prstGeom prst="rect">
                <a:avLst/>
              </a:prstGeom>
            </p:spPr>
            <p:txBody>
              <a:bodyPr wrap="square">
                <a:spAutoFit/>
              </a:bodyPr>
              <a:lstStyle/>
              <a:p>
                <a:pPr marL="285750" indent="-285750" algn="just">
                  <a:buFont typeface="Arial" panose="020B0604020202020204" pitchFamily="34" charset="0"/>
                  <a:buChar char="•"/>
                </a:pPr>
                <a:r>
                  <a:rPr lang="en-IN" sz="2400" b="1" dirty="0"/>
                  <a:t>Reverse Bias : </a:t>
                </a:r>
                <a14:m>
                  <m:oMath xmlns:m="http://schemas.openxmlformats.org/officeDocument/2006/math">
                    <m:sSub>
                      <m:sSubPr>
                        <m:ctrlPr>
                          <a:rPr lang="en-IN" sz="2400" b="1" i="1" smtClean="0">
                            <a:latin typeface="Cambria Math" panose="02040503050406030204" pitchFamily="18" charset="0"/>
                          </a:rPr>
                        </m:ctrlPr>
                      </m:sSubPr>
                      <m:e>
                        <m:r>
                          <a:rPr lang="en-IN" sz="2400" b="1" i="1" smtClean="0">
                            <a:latin typeface="Cambria Math" panose="02040503050406030204" pitchFamily="18" charset="0"/>
                          </a:rPr>
                          <m:t>𝑽</m:t>
                        </m:r>
                      </m:e>
                      <m:sub>
                        <m:r>
                          <a:rPr lang="en-IN" sz="2400" b="1" i="1" smtClean="0">
                            <a:latin typeface="Cambria Math" panose="02040503050406030204" pitchFamily="18" charset="0"/>
                          </a:rPr>
                          <m:t>𝒂𝒑𝒑𝒍𝒊𝒆𝒅</m:t>
                        </m:r>
                      </m:sub>
                    </m:sSub>
                    <m:r>
                      <a:rPr lang="en-IN" sz="2400" b="1" i="1" smtClean="0">
                        <a:latin typeface="Cambria Math" panose="02040503050406030204" pitchFamily="18" charset="0"/>
                      </a:rPr>
                      <m:t>&lt; </m:t>
                    </m:r>
                    <m:r>
                      <a:rPr lang="en-IN" sz="2400" b="1" i="1" smtClean="0">
                        <a:latin typeface="Cambria Math" panose="02040503050406030204" pitchFamily="18" charset="0"/>
                      </a:rPr>
                      <m:t>𝟎</m:t>
                    </m:r>
                  </m:oMath>
                </a14:m>
                <a:endParaRPr lang="en-IN" sz="2400" b="1" dirty="0"/>
              </a:p>
              <a:p>
                <a:pPr marL="285750" indent="-285750" algn="just">
                  <a:buFont typeface="Arial" panose="020B0604020202020204" pitchFamily="34" charset="0"/>
                  <a:buChar char="•"/>
                </a:pPr>
                <a:endParaRPr lang="en-IN" sz="2400" dirty="0"/>
              </a:p>
              <a:p>
                <a:pPr algn="just"/>
                <a:r>
                  <a:rPr lang="en-IN" sz="2400" dirty="0"/>
                  <a:t>Under reverse bias the depletion region widens.  This causes the electric field produced by the ions to cancel out the applied reverse bias voltage.   A small leakage current, Is (saturation current) flows under reverse bias conditions.  This saturation current is made up of electron-hole pairs being produced in the depletion region.  Saturation current is sometimes referred to as scale current because of it’s relationship to junction temperature.</a:t>
                </a:r>
              </a:p>
            </p:txBody>
          </p:sp>
        </mc:Choice>
        <mc:Fallback>
          <p:sp>
            <p:nvSpPr>
              <p:cNvPr id="6" name="Rectangle 5">
                <a:extLst>
                  <a:ext uri="{FF2B5EF4-FFF2-40B4-BE49-F238E27FC236}">
                    <a16:creationId xmlns:a16="http://schemas.microsoft.com/office/drawing/2014/main" xmlns="" xmlns:a14="http://schemas.microsoft.com/office/drawing/2010/main" id="{D822CB1A-C339-4C7B-8E13-0A7CB522B1EF}"/>
                  </a:ext>
                </a:extLst>
              </p:cNvPr>
              <p:cNvSpPr>
                <a:spLocks noRot="1" noChangeAspect="1" noMove="1" noResize="1" noEditPoints="1" noAdjustHandles="1" noChangeArrowheads="1" noChangeShapeType="1" noTextEdit="1"/>
              </p:cNvSpPr>
              <p:nvPr/>
            </p:nvSpPr>
            <p:spPr>
              <a:xfrm>
                <a:off x="639417" y="1803370"/>
                <a:ext cx="10515600" cy="3080074"/>
              </a:xfrm>
              <a:prstGeom prst="rect">
                <a:avLst/>
              </a:prstGeom>
              <a:blipFill>
                <a:blip r:embed="rId2"/>
                <a:stretch>
                  <a:fillRect l="-928" t="-1386" r="-870" b="-3564"/>
                </a:stretch>
              </a:blipFill>
            </p:spPr>
            <p:txBody>
              <a:bodyPr/>
              <a:lstStyle/>
              <a:p>
                <a:r>
                  <a:rPr lang="en-IN">
                    <a:noFill/>
                  </a:rPr>
                  <a:t> </a:t>
                </a:r>
              </a:p>
            </p:txBody>
          </p:sp>
        </mc:Fallback>
      </mc:AlternateContent>
    </p:spTree>
    <p:extLst>
      <p:ext uri="{BB962C8B-B14F-4D97-AF65-F5344CB8AC3E}">
        <p14:creationId xmlns:p14="http://schemas.microsoft.com/office/powerpoint/2010/main" xmlns="" val="3405838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lgn="ctr">
              <a:defRPr/>
            </a:pPr>
            <a:r>
              <a:rPr lang="en-IN" sz="3200" b="1" dirty="0"/>
              <a:t>Diode Properties</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13</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p:pic>
        <p:nvPicPr>
          <p:cNvPr id="4" name="Picture 3">
            <a:extLst>
              <a:ext uri="{FF2B5EF4-FFF2-40B4-BE49-F238E27FC236}">
                <a16:creationId xmlns:a16="http://schemas.microsoft.com/office/drawing/2014/main" xmlns="" id="{9069E9A2-9DC3-4074-AA51-EB4B27F74A40}"/>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061864" y="1485629"/>
            <a:ext cx="6068272" cy="3886742"/>
          </a:xfrm>
          <a:prstGeom prst="rect">
            <a:avLst/>
          </a:prstGeom>
        </p:spPr>
      </p:pic>
      <p:sp>
        <p:nvSpPr>
          <p:cNvPr id="9" name="TextBox 8">
            <a:extLst>
              <a:ext uri="{FF2B5EF4-FFF2-40B4-BE49-F238E27FC236}">
                <a16:creationId xmlns:a16="http://schemas.microsoft.com/office/drawing/2014/main" xmlns="" id="{1D501150-DC74-42E2-8F82-0EF0A64C8CFE}"/>
              </a:ext>
            </a:extLst>
          </p:cNvPr>
          <p:cNvSpPr txBox="1"/>
          <p:nvPr/>
        </p:nvSpPr>
        <p:spPr>
          <a:xfrm>
            <a:off x="4571256" y="5679694"/>
            <a:ext cx="3010440" cy="369332"/>
          </a:xfrm>
          <a:prstGeom prst="rect">
            <a:avLst/>
          </a:prstGeom>
          <a:noFill/>
        </p:spPr>
        <p:txBody>
          <a:bodyPr wrap="none" rtlCol="0">
            <a:spAutoFit/>
          </a:bodyPr>
          <a:lstStyle/>
          <a:p>
            <a:r>
              <a:rPr lang="en-US" dirty="0"/>
              <a:t>Fig. 5:  V-I Characteristic curve</a:t>
            </a:r>
          </a:p>
        </p:txBody>
      </p:sp>
    </p:spTree>
    <p:extLst>
      <p:ext uri="{BB962C8B-B14F-4D97-AF65-F5344CB8AC3E}">
        <p14:creationId xmlns:p14="http://schemas.microsoft.com/office/powerpoint/2010/main" xmlns="" val="2317212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lgn="ctr">
              <a:defRPr/>
            </a:pPr>
            <a:r>
              <a:rPr lang="en-IN" sz="3200" b="1" dirty="0"/>
              <a:t>Diode Properties</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14</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mc:AlternateContent xmlns:mc="http://schemas.openxmlformats.org/markup-compatibility/2006">
        <mc:Choice xmlns:a14="http://schemas.microsoft.com/office/drawing/2010/main" xmlns="" Requires="a14">
          <p:sp>
            <p:nvSpPr>
              <p:cNvPr id="5" name="Rectangle 4">
                <a:extLst>
                  <a:ext uri="{FF2B5EF4-FFF2-40B4-BE49-F238E27FC236}">
                    <a16:creationId xmlns:a16="http://schemas.microsoft.com/office/drawing/2014/main" id="{3B2123E2-C3B4-4FF1-BECA-6DB5EBA899F2}"/>
                  </a:ext>
                </a:extLst>
              </p:cNvPr>
              <p:cNvSpPr/>
              <p:nvPr/>
            </p:nvSpPr>
            <p:spPr>
              <a:xfrm>
                <a:off x="1205618" y="967631"/>
                <a:ext cx="9277266" cy="6773714"/>
              </a:xfrm>
              <a:prstGeom prst="rect">
                <a:avLst/>
              </a:prstGeom>
            </p:spPr>
            <p:txBody>
              <a:bodyPr wrap="square">
                <a:spAutoFit/>
              </a:bodyPr>
              <a:lstStyle/>
              <a:p>
                <a:pPr marL="285750" indent="-285750">
                  <a:buFont typeface="Arial" panose="020B0604020202020204" pitchFamily="34" charset="0"/>
                  <a:buChar char="•"/>
                </a:pPr>
                <a:r>
                  <a:rPr lang="en-IN" dirty="0"/>
                  <a:t>The curve on the previous slide is characterized by the following equation (Shockley equation):</a:t>
                </a:r>
              </a:p>
              <a:p>
                <a:r>
                  <a:rPr lang="en-IN" dirty="0"/>
                  <a:t/>
                </a:r>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𝐷</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𝑆</m:t>
                        </m:r>
                      </m:sub>
                    </m:sSub>
                  </m:oMath>
                </a14:m>
                <a:r>
                  <a:rPr lang="en-IN" dirty="0"/>
                  <a:t> (</a:t>
                </a:r>
                <a14:m>
                  <m:oMath xmlns:m="http://schemas.openxmlformats.org/officeDocument/2006/math">
                    <m:sSup>
                      <m:sSupPr>
                        <m:ctrlPr>
                          <a:rPr lang="en-IN" i="1" dirty="0" smtClean="0">
                            <a:latin typeface="Cambria Math" panose="02040503050406030204" pitchFamily="18" charset="0"/>
                          </a:rPr>
                        </m:ctrlPr>
                      </m:sSupPr>
                      <m:e>
                        <m:r>
                          <a:rPr lang="en-IN" b="0" i="1" dirty="0" smtClean="0">
                            <a:latin typeface="Cambria Math" panose="02040503050406030204" pitchFamily="18" charset="0"/>
                          </a:rPr>
                          <m:t>𝑒</m:t>
                        </m:r>
                      </m:e>
                      <m:sup>
                        <m:f>
                          <m:fPr>
                            <m:ctrlPr>
                              <a:rPr lang="en-IN" i="1" dirty="0" smtClean="0">
                                <a:latin typeface="Cambria Math" panose="02040503050406030204" pitchFamily="18" charset="0"/>
                              </a:rPr>
                            </m:ctrlPr>
                          </m:fPr>
                          <m:num>
                            <m:sSub>
                              <m:sSubPr>
                                <m:ctrlPr>
                                  <a:rPr lang="en-IN" i="1" dirty="0" smtClean="0">
                                    <a:latin typeface="Cambria Math" panose="02040503050406030204" pitchFamily="18" charset="0"/>
                                  </a:rPr>
                                </m:ctrlPr>
                              </m:sSubPr>
                              <m:e>
                                <m:r>
                                  <a:rPr lang="en-IN" b="0" i="1" dirty="0" smtClean="0">
                                    <a:latin typeface="Cambria Math" panose="02040503050406030204" pitchFamily="18" charset="0"/>
                                  </a:rPr>
                                  <m:t>𝑉</m:t>
                                </m:r>
                              </m:e>
                              <m:sub>
                                <m:r>
                                  <a:rPr lang="en-IN" b="0" i="1" dirty="0" smtClean="0">
                                    <a:latin typeface="Cambria Math" panose="02040503050406030204" pitchFamily="18" charset="0"/>
                                  </a:rPr>
                                  <m:t>𝐷</m:t>
                                </m:r>
                              </m:sub>
                            </m:sSub>
                          </m:num>
                          <m:den>
                            <m:r>
                              <m:rPr>
                                <m:sty m:val="p"/>
                              </m:rPr>
                              <a:rPr lang="el-GR" i="1" dirty="0" smtClean="0">
                                <a:latin typeface="Cambria Math" panose="02040503050406030204" pitchFamily="18" charset="0"/>
                              </a:rPr>
                              <m:t>η</m:t>
                            </m:r>
                            <m:sSub>
                              <m:sSubPr>
                                <m:ctrlPr>
                                  <a:rPr lang="el-GR" i="1" dirty="0" smtClean="0">
                                    <a:latin typeface="Cambria Math" panose="02040503050406030204" pitchFamily="18" charset="0"/>
                                  </a:rPr>
                                </m:ctrlPr>
                              </m:sSubPr>
                              <m:e>
                                <m:r>
                                  <a:rPr lang="en-IN" b="0" i="1" dirty="0" smtClean="0">
                                    <a:latin typeface="Cambria Math" panose="02040503050406030204" pitchFamily="18" charset="0"/>
                                  </a:rPr>
                                  <m:t>𝑉</m:t>
                                </m:r>
                              </m:e>
                              <m:sub>
                                <m:r>
                                  <a:rPr lang="en-IN" b="0" i="1" dirty="0" smtClean="0">
                                    <a:latin typeface="Cambria Math" panose="02040503050406030204" pitchFamily="18" charset="0"/>
                                  </a:rPr>
                                  <m:t>𝑇</m:t>
                                </m:r>
                              </m:sub>
                            </m:sSub>
                          </m:den>
                        </m:f>
                      </m:sup>
                    </m:sSup>
                  </m:oMath>
                </a14:m>
                <a:r>
                  <a:rPr lang="en-IN" dirty="0"/>
                  <a:t>- 1)</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𝐼</m:t>
                        </m:r>
                      </m:e>
                      <m:sub>
                        <m:r>
                          <a:rPr lang="en-IN" i="1">
                            <a:latin typeface="Cambria Math" panose="02040503050406030204" pitchFamily="18" charset="0"/>
                          </a:rPr>
                          <m:t>𝐷</m:t>
                        </m:r>
                      </m:sub>
                    </m:sSub>
                  </m:oMath>
                </a14:m>
                <a:r>
                  <a:rPr lang="en-IN" dirty="0"/>
                  <a:t> is the current through the diode,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𝐼</m:t>
                        </m:r>
                      </m:e>
                      <m:sub>
                        <m:r>
                          <a:rPr lang="en-IN" b="0" i="1" smtClean="0">
                            <a:latin typeface="Cambria Math" panose="02040503050406030204" pitchFamily="18" charset="0"/>
                          </a:rPr>
                          <m:t>𝑆</m:t>
                        </m:r>
                      </m:sub>
                    </m:sSub>
                  </m:oMath>
                </a14:m>
                <a:r>
                  <a:rPr lang="en-IN" dirty="0"/>
                  <a:t> is the saturation current and  </a:t>
                </a:r>
                <a14:m>
                  <m:oMath xmlns:m="http://schemas.openxmlformats.org/officeDocument/2006/math">
                    <m:sSub>
                      <m:sSubPr>
                        <m:ctrlPr>
                          <a:rPr lang="en-IN" i="1">
                            <a:latin typeface="Cambria Math" panose="02040503050406030204" pitchFamily="18" charset="0"/>
                          </a:rPr>
                        </m:ctrlPr>
                      </m:sSubPr>
                      <m:e>
                        <m:r>
                          <a:rPr lang="en-IN" b="0" i="1" smtClean="0">
                            <a:latin typeface="Cambria Math" panose="02040503050406030204" pitchFamily="18" charset="0"/>
                          </a:rPr>
                          <m:t>𝑉</m:t>
                        </m:r>
                      </m:e>
                      <m:sub>
                        <m:r>
                          <a:rPr lang="en-IN" i="1">
                            <a:latin typeface="Cambria Math" panose="02040503050406030204" pitchFamily="18" charset="0"/>
                          </a:rPr>
                          <m:t>𝐷</m:t>
                        </m:r>
                      </m:sub>
                    </m:sSub>
                  </m:oMath>
                </a14:m>
                <a:r>
                  <a:rPr lang="en-IN" dirty="0"/>
                  <a:t> is the applied biasing voltage.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IN" b="0" i="1" smtClean="0">
                            <a:latin typeface="Cambria Math" panose="02040503050406030204" pitchFamily="18" charset="0"/>
                          </a:rPr>
                          <m:t>𝑉</m:t>
                        </m:r>
                      </m:e>
                      <m:sub>
                        <m:r>
                          <a:rPr lang="en-IN" b="0" i="1" smtClean="0">
                            <a:latin typeface="Cambria Math" panose="02040503050406030204" pitchFamily="18" charset="0"/>
                          </a:rPr>
                          <m:t>𝑇</m:t>
                        </m:r>
                      </m:sub>
                    </m:sSub>
                  </m:oMath>
                </a14:m>
                <a:r>
                  <a:rPr lang="en-IN" dirty="0"/>
                  <a:t> is the thermal equivalent voltage and is approximately 26 mV at room temperature.  The equation to find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𝑉</m:t>
                        </m:r>
                      </m:e>
                      <m:sub>
                        <m:r>
                          <a:rPr lang="en-IN" i="1">
                            <a:latin typeface="Cambria Math" panose="02040503050406030204" pitchFamily="18" charset="0"/>
                          </a:rPr>
                          <m:t>𝑇</m:t>
                        </m:r>
                      </m:sub>
                    </m:sSub>
                  </m:oMath>
                </a14:m>
                <a:r>
                  <a:rPr lang="en-IN" dirty="0"/>
                  <a:t> at various temperatures is:</a:t>
                </a:r>
              </a:p>
              <a:p>
                <a:r>
                  <a:rPr lang="en-IN" dirty="0"/>
                  <a:t/>
                </a:r>
              </a:p>
              <a:p>
                <a:r>
                  <a:rPr lang="en-IN" dirty="0"/>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𝑉</m:t>
                        </m:r>
                      </m:e>
                      <m:sub>
                        <m:r>
                          <a:rPr lang="en-IN" i="1">
                            <a:latin typeface="Cambria Math" panose="02040503050406030204" pitchFamily="18" charset="0"/>
                          </a:rPr>
                          <m:t>𝑇</m:t>
                        </m:r>
                      </m:sub>
                    </m:sSub>
                  </m:oMath>
                </a14:m>
                <a:r>
                  <a:rPr lang="en-IN" dirty="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𝑘𝑇</m:t>
                        </m:r>
                      </m:num>
                      <m:den>
                        <m:r>
                          <a:rPr lang="en-IN" b="0" i="1" smtClean="0">
                            <a:latin typeface="Cambria Math" panose="02040503050406030204" pitchFamily="18" charset="0"/>
                          </a:rPr>
                          <m:t>𝑞</m:t>
                        </m:r>
                      </m:den>
                    </m:f>
                  </m:oMath>
                </a14:m>
                <a:endParaRPr lang="en-IN" dirty="0"/>
              </a:p>
              <a:p>
                <a:endParaRPr lang="en-IN" dirty="0"/>
              </a:p>
              <a:p>
                <a:r>
                  <a:rPr lang="de-DE" dirty="0"/>
                  <a:t>      k = 1.38 x </a:t>
                </a:r>
                <a14:m>
                  <m:oMath xmlns:m="http://schemas.openxmlformats.org/officeDocument/2006/math">
                    <m:sSup>
                      <m:sSupPr>
                        <m:ctrlPr>
                          <a:rPr lang="de-DE" i="1" smtClean="0">
                            <a:latin typeface="Cambria Math" panose="02040503050406030204" pitchFamily="18" charset="0"/>
                          </a:rPr>
                        </m:ctrlPr>
                      </m:sSupPr>
                      <m:e>
                        <m:r>
                          <a:rPr lang="en-IN" b="0" i="1" smtClean="0">
                            <a:latin typeface="Cambria Math" panose="02040503050406030204" pitchFamily="18" charset="0"/>
                          </a:rPr>
                          <m:t>10</m:t>
                        </m:r>
                      </m:e>
                      <m:sup>
                        <m:r>
                          <a:rPr lang="en-IN" b="0" i="1" smtClean="0">
                            <a:latin typeface="Cambria Math" panose="02040503050406030204" pitchFamily="18" charset="0"/>
                          </a:rPr>
                          <m:t>−23</m:t>
                        </m:r>
                      </m:sup>
                    </m:sSup>
                  </m:oMath>
                </a14:m>
                <a:r>
                  <a:rPr lang="de-DE" dirty="0"/>
                  <a:t> J/K , T = temperature in Kelvin and q = 1.6 x </a:t>
                </a:r>
                <a14:m>
                  <m:oMath xmlns:m="http://schemas.openxmlformats.org/officeDocument/2006/math">
                    <m:sSup>
                      <m:sSupPr>
                        <m:ctrlPr>
                          <a:rPr lang="de-DE" i="1">
                            <a:latin typeface="Cambria Math" panose="02040503050406030204" pitchFamily="18" charset="0"/>
                          </a:rPr>
                        </m:ctrlPr>
                      </m:sSupPr>
                      <m:e>
                        <m:r>
                          <a:rPr lang="en-IN" i="1">
                            <a:latin typeface="Cambria Math" panose="02040503050406030204" pitchFamily="18" charset="0"/>
                          </a:rPr>
                          <m:t>10</m:t>
                        </m:r>
                      </m:e>
                      <m:sup>
                        <m:r>
                          <a:rPr lang="en-IN" i="1">
                            <a:latin typeface="Cambria Math" panose="02040503050406030204" pitchFamily="18" charset="0"/>
                          </a:rPr>
                          <m:t>−23</m:t>
                        </m:r>
                      </m:sup>
                    </m:sSup>
                  </m:oMath>
                </a14:m>
                <a:r>
                  <a:rPr lang="de-DE" dirty="0"/>
                  <a:t> C</a:t>
                </a:r>
              </a:p>
              <a:p>
                <a:endParaRPr lang="de-DE" dirty="0"/>
              </a:p>
              <a:p>
                <a:pPr marL="285750" indent="-285750" algn="just">
                  <a:buFont typeface="Arial" panose="020B0604020202020204" pitchFamily="34" charset="0"/>
                  <a:buChar char="•"/>
                </a:pPr>
                <a14:m>
                  <m:oMath xmlns:m="http://schemas.openxmlformats.org/officeDocument/2006/math">
                    <m:r>
                      <m:rPr>
                        <m:sty m:val="p"/>
                      </m:rPr>
                      <a:rPr lang="el-GR" i="1" dirty="0">
                        <a:latin typeface="Cambria Math" panose="02040503050406030204" pitchFamily="18" charset="0"/>
                      </a:rPr>
                      <m:t>η</m:t>
                    </m:r>
                  </m:oMath>
                </a14:m>
                <a:r>
                  <a:rPr lang="en-IN" dirty="0"/>
                  <a:t> is the emission coefficient for the diode.  It is determined by the way the diode is constructed.  It somewhat varies with diode current.  For a silicon diode </a:t>
                </a:r>
                <a14:m>
                  <m:oMath xmlns:m="http://schemas.openxmlformats.org/officeDocument/2006/math">
                    <m:r>
                      <m:rPr>
                        <m:sty m:val="p"/>
                      </m:rPr>
                      <a:rPr lang="el-GR" i="1" dirty="0">
                        <a:latin typeface="Cambria Math" panose="02040503050406030204" pitchFamily="18" charset="0"/>
                      </a:rPr>
                      <m:t>η</m:t>
                    </m:r>
                  </m:oMath>
                </a14:m>
                <a:r>
                  <a:rPr lang="en-IN" dirty="0"/>
                  <a:t> is around 2 for low currents and goes down to about 1 at higher currents</a:t>
                </a:r>
              </a:p>
              <a:p>
                <a:pPr marL="285750" indent="-285750" algn="just">
                  <a:buFont typeface="Arial" panose="020B0604020202020204" pitchFamily="34" charset="0"/>
                  <a:buChar char="•"/>
                </a:pPr>
                <a:endParaRPr lang="de-DE" dirty="0"/>
              </a:p>
              <a:p>
                <a:endParaRPr lang="en-IN" dirty="0"/>
              </a:p>
              <a:p>
                <a:endParaRPr lang="en-IN" dirty="0"/>
              </a:p>
              <a:p>
                <a:endParaRPr lang="en-IN" dirty="0"/>
              </a:p>
              <a:p>
                <a:endParaRPr lang="en-IN" dirty="0"/>
              </a:p>
              <a:p>
                <a:endParaRPr lang="en-IN" dirty="0"/>
              </a:p>
              <a:p>
                <a:endParaRPr lang="en-IN" dirty="0"/>
              </a:p>
            </p:txBody>
          </p:sp>
        </mc:Choice>
        <mc:Fallback>
          <p:sp>
            <p:nvSpPr>
              <p:cNvPr id="5" name="Rectangle 4">
                <a:extLst>
                  <a:ext uri="{FF2B5EF4-FFF2-40B4-BE49-F238E27FC236}">
                    <a16:creationId xmlns:a16="http://schemas.microsoft.com/office/drawing/2014/main" xmlns="" xmlns:a14="http://schemas.microsoft.com/office/drawing/2010/main" id="{3B2123E2-C3B4-4FF1-BECA-6DB5EBA899F2}"/>
                  </a:ext>
                </a:extLst>
              </p:cNvPr>
              <p:cNvSpPr>
                <a:spLocks noRot="1" noChangeAspect="1" noMove="1" noResize="1" noEditPoints="1" noAdjustHandles="1" noChangeArrowheads="1" noChangeShapeType="1" noTextEdit="1"/>
              </p:cNvSpPr>
              <p:nvPr/>
            </p:nvSpPr>
            <p:spPr>
              <a:xfrm>
                <a:off x="1205618" y="967631"/>
                <a:ext cx="9277266" cy="6773714"/>
              </a:xfrm>
              <a:prstGeom prst="rect">
                <a:avLst/>
              </a:prstGeom>
              <a:blipFill>
                <a:blip r:embed="rId2"/>
                <a:stretch>
                  <a:fillRect l="-460" t="-540" r="-526"/>
                </a:stretch>
              </a:blipFill>
            </p:spPr>
            <p:txBody>
              <a:bodyPr/>
              <a:lstStyle/>
              <a:p>
                <a:r>
                  <a:rPr lang="en-IN">
                    <a:noFill/>
                  </a:rPr>
                  <a:t> </a:t>
                </a:r>
              </a:p>
            </p:txBody>
          </p:sp>
        </mc:Fallback>
      </mc:AlternateContent>
    </p:spTree>
    <p:extLst>
      <p:ext uri="{BB962C8B-B14F-4D97-AF65-F5344CB8AC3E}">
        <p14:creationId xmlns:p14="http://schemas.microsoft.com/office/powerpoint/2010/main" xmlns="" val="2024020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lgn="ctr">
              <a:defRPr/>
            </a:pPr>
            <a:r>
              <a:rPr lang="en-IN" sz="3200" b="1" dirty="0"/>
              <a:t>Solar Cell</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15</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p:sp>
        <p:nvSpPr>
          <p:cNvPr id="5" name="Rectangle 4">
            <a:extLst>
              <a:ext uri="{FF2B5EF4-FFF2-40B4-BE49-F238E27FC236}">
                <a16:creationId xmlns:a16="http://schemas.microsoft.com/office/drawing/2014/main" xmlns="" id="{3B2123E2-C3B4-4FF1-BECA-6DB5EBA899F2}"/>
              </a:ext>
            </a:extLst>
          </p:cNvPr>
          <p:cNvSpPr/>
          <p:nvPr/>
        </p:nvSpPr>
        <p:spPr>
          <a:xfrm>
            <a:off x="1205618" y="1375236"/>
            <a:ext cx="9277266" cy="4524315"/>
          </a:xfrm>
          <a:prstGeom prst="rect">
            <a:avLst/>
          </a:prstGeom>
        </p:spPr>
        <p:txBody>
          <a:bodyPr wrap="square">
            <a:spAutoFit/>
          </a:bodyPr>
          <a:lstStyle/>
          <a:p>
            <a:pPr marL="285750" indent="-285750" algn="just">
              <a:buFont typeface="Arial" panose="020B0604020202020204" pitchFamily="34" charset="0"/>
              <a:buChar char="•"/>
            </a:pPr>
            <a:r>
              <a:rPr lang="en-IN" sz="2400" dirty="0"/>
              <a:t>A solar cell (also known as a photovoltaic cell or PV cell) is defined as an electrical device that converts light energy into electrical energy through the photovoltaic effect. A solar cell is basically a p-n junction diode. Solar cells are a form of photoelectric cell, defined as a device whose electrical characteristics – such as current, voltage, or resistance – vary when exposed to light.</a:t>
            </a:r>
          </a:p>
          <a:p>
            <a:pPr marL="285750" indent="-285750" algn="just">
              <a:buFont typeface="Arial" panose="020B0604020202020204" pitchFamily="34" charset="0"/>
              <a:buChar char="•"/>
            </a:pPr>
            <a:r>
              <a:rPr lang="en-IN" sz="2400" dirty="0"/>
              <a:t>Individual solar cells can be combined to form modules commonly known as solar panels. The common single junction silicon solar cell can produce a maximum open-circuit voltage of approximately 0.5 to 0.6 volts. By itself this isn’t much – but remember these solar cells are tiny. When combined into a large solar panel, considerable amounts of renewable energy can be generated.</a:t>
            </a:r>
          </a:p>
        </p:txBody>
      </p:sp>
    </p:spTree>
    <p:extLst>
      <p:ext uri="{BB962C8B-B14F-4D97-AF65-F5344CB8AC3E}">
        <p14:creationId xmlns:p14="http://schemas.microsoft.com/office/powerpoint/2010/main" xmlns="" val="859205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lgn="ctr">
              <a:defRPr/>
            </a:pPr>
            <a:r>
              <a:rPr lang="en-IN" sz="3200" b="1" dirty="0"/>
              <a:t>Solar Cell</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16</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p:pic>
        <p:nvPicPr>
          <p:cNvPr id="6" name="Picture 5">
            <a:extLst>
              <a:ext uri="{FF2B5EF4-FFF2-40B4-BE49-F238E27FC236}">
                <a16:creationId xmlns:a16="http://schemas.microsoft.com/office/drawing/2014/main" xmlns="" id="{23E5CA71-3E2D-41C2-9504-0492AEE5D51E}"/>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842052" y="1563758"/>
            <a:ext cx="8044070" cy="3710608"/>
          </a:xfrm>
          <a:prstGeom prst="rect">
            <a:avLst/>
          </a:prstGeom>
        </p:spPr>
      </p:pic>
      <p:sp>
        <p:nvSpPr>
          <p:cNvPr id="10" name="TextBox 9">
            <a:extLst>
              <a:ext uri="{FF2B5EF4-FFF2-40B4-BE49-F238E27FC236}">
                <a16:creationId xmlns:a16="http://schemas.microsoft.com/office/drawing/2014/main" xmlns="" id="{B605AFB7-7AF6-43E5-BFF6-3A042D46473E}"/>
              </a:ext>
            </a:extLst>
          </p:cNvPr>
          <p:cNvSpPr txBox="1"/>
          <p:nvPr/>
        </p:nvSpPr>
        <p:spPr>
          <a:xfrm>
            <a:off x="4571256" y="5679694"/>
            <a:ext cx="1691489" cy="369332"/>
          </a:xfrm>
          <a:prstGeom prst="rect">
            <a:avLst/>
          </a:prstGeom>
          <a:noFill/>
        </p:spPr>
        <p:txBody>
          <a:bodyPr wrap="none" rtlCol="0">
            <a:spAutoFit/>
          </a:bodyPr>
          <a:lstStyle/>
          <a:p>
            <a:r>
              <a:rPr lang="en-US" dirty="0"/>
              <a:t>Fig. 6:  Solar cell</a:t>
            </a:r>
          </a:p>
        </p:txBody>
      </p:sp>
    </p:spTree>
    <p:extLst>
      <p:ext uri="{BB962C8B-B14F-4D97-AF65-F5344CB8AC3E}">
        <p14:creationId xmlns:p14="http://schemas.microsoft.com/office/powerpoint/2010/main" xmlns="" val="3498238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lgn="ctr">
              <a:defRPr/>
            </a:pPr>
            <a:r>
              <a:rPr lang="en-IN" sz="3200" b="1" dirty="0"/>
              <a:t>Construction of Solar Cell</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17</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p:sp>
        <p:nvSpPr>
          <p:cNvPr id="5" name="Rectangle 4">
            <a:extLst>
              <a:ext uri="{FF2B5EF4-FFF2-40B4-BE49-F238E27FC236}">
                <a16:creationId xmlns:a16="http://schemas.microsoft.com/office/drawing/2014/main" xmlns="" id="{3B2123E2-C3B4-4FF1-BECA-6DB5EBA899F2}"/>
              </a:ext>
            </a:extLst>
          </p:cNvPr>
          <p:cNvSpPr/>
          <p:nvPr/>
        </p:nvSpPr>
        <p:spPr>
          <a:xfrm>
            <a:off x="1205618" y="1375236"/>
            <a:ext cx="9277266" cy="4154984"/>
          </a:xfrm>
          <a:prstGeom prst="rect">
            <a:avLst/>
          </a:prstGeom>
        </p:spPr>
        <p:txBody>
          <a:bodyPr wrap="square">
            <a:spAutoFit/>
          </a:bodyPr>
          <a:lstStyle/>
          <a:p>
            <a:pPr marL="285750" indent="-285750" algn="just">
              <a:buFont typeface="Arial" panose="020B0604020202020204" pitchFamily="34" charset="0"/>
              <a:buChar char="•"/>
            </a:pPr>
            <a:r>
              <a:rPr lang="en-IN" sz="2400" dirty="0"/>
              <a:t>A solar cell is basically a junction diode, although its construction it is little bit different from conventional p-n junction diodes. A very thin layer of p-type semiconductor is grown on a relatively thicker n-type semiconductor. We then apply a few finer electrodes on the top of the p-type semiconductor layer.</a:t>
            </a:r>
          </a:p>
          <a:p>
            <a:pPr algn="just"/>
            <a:endParaRPr lang="en-IN" sz="2400" dirty="0"/>
          </a:p>
          <a:p>
            <a:pPr marL="285750" indent="-285750" algn="just">
              <a:buFont typeface="Arial" panose="020B0604020202020204" pitchFamily="34" charset="0"/>
              <a:buChar char="•"/>
            </a:pPr>
            <a:r>
              <a:rPr lang="en-IN" sz="2400" dirty="0"/>
              <a:t>These electrodes do not obstruct light to reach the thin p-type layer. Just below the p-type layer there is a p-n junction. We also provide a current collecting electrode at the bottom of the n-type layer. We encapsulate the entire assembly by thin glass to protect the solar cell from any mechanical shock</a:t>
            </a:r>
          </a:p>
        </p:txBody>
      </p:sp>
    </p:spTree>
    <p:extLst>
      <p:ext uri="{BB962C8B-B14F-4D97-AF65-F5344CB8AC3E}">
        <p14:creationId xmlns:p14="http://schemas.microsoft.com/office/powerpoint/2010/main" xmlns="" val="1584818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lgn="ctr">
              <a:defRPr/>
            </a:pPr>
            <a:r>
              <a:rPr lang="en-IN" sz="3200" b="1" dirty="0"/>
              <a:t>Working of Solar Cell</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18</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p:sp>
        <p:nvSpPr>
          <p:cNvPr id="5" name="Rectangle 4">
            <a:extLst>
              <a:ext uri="{FF2B5EF4-FFF2-40B4-BE49-F238E27FC236}">
                <a16:creationId xmlns:a16="http://schemas.microsoft.com/office/drawing/2014/main" xmlns="" id="{3B2123E2-C3B4-4FF1-BECA-6DB5EBA899F2}"/>
              </a:ext>
            </a:extLst>
          </p:cNvPr>
          <p:cNvSpPr/>
          <p:nvPr/>
        </p:nvSpPr>
        <p:spPr>
          <a:xfrm>
            <a:off x="1205618" y="1375236"/>
            <a:ext cx="9277266" cy="4154984"/>
          </a:xfrm>
          <a:prstGeom prst="rect">
            <a:avLst/>
          </a:prstGeom>
        </p:spPr>
        <p:txBody>
          <a:bodyPr wrap="square">
            <a:spAutoFit/>
          </a:bodyPr>
          <a:lstStyle/>
          <a:p>
            <a:pPr marL="285750" indent="-285750" algn="just">
              <a:buFont typeface="Arial" panose="020B0604020202020204" pitchFamily="34" charset="0"/>
              <a:buChar char="•"/>
            </a:pPr>
            <a:r>
              <a:rPr lang="en-IN" sz="2400" dirty="0"/>
              <a:t>When light reaches the p-n junction, the light photons can easily enter in the junction, through very thin p-type layer. The light energy, in the form of photons, supplies sufficient energy to the junction to create a number of electron-hole pairs. The incident light breaks the thermal equilibrium condition of the junction. The free electrons in the depletion region can quickly come to the n-type side of the junction.</a:t>
            </a:r>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r>
              <a:rPr lang="en-IN" sz="2400" dirty="0"/>
              <a:t>Similarly, the holes in the depletion can quickly come to the p-type side of the junction. Once, the newly created free electrons come to the n-type side, cannot further cross the junction because of barrier potential of the junction.</a:t>
            </a:r>
          </a:p>
        </p:txBody>
      </p:sp>
    </p:spTree>
    <p:extLst>
      <p:ext uri="{BB962C8B-B14F-4D97-AF65-F5344CB8AC3E}">
        <p14:creationId xmlns:p14="http://schemas.microsoft.com/office/powerpoint/2010/main" xmlns="" val="3262412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lgn="ctr">
              <a:defRPr/>
            </a:pPr>
            <a:r>
              <a:rPr lang="en-IN" sz="3200" b="1" dirty="0"/>
              <a:t>Working of Solar Cell</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19</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p:sp>
        <p:nvSpPr>
          <p:cNvPr id="5" name="Rectangle 4">
            <a:extLst>
              <a:ext uri="{FF2B5EF4-FFF2-40B4-BE49-F238E27FC236}">
                <a16:creationId xmlns:a16="http://schemas.microsoft.com/office/drawing/2014/main" xmlns="" id="{3B2123E2-C3B4-4FF1-BECA-6DB5EBA899F2}"/>
              </a:ext>
            </a:extLst>
          </p:cNvPr>
          <p:cNvSpPr/>
          <p:nvPr/>
        </p:nvSpPr>
        <p:spPr>
          <a:xfrm>
            <a:off x="1205618" y="1375236"/>
            <a:ext cx="9277266" cy="3046988"/>
          </a:xfrm>
          <a:prstGeom prst="rect">
            <a:avLst/>
          </a:prstGeom>
        </p:spPr>
        <p:txBody>
          <a:bodyPr wrap="square">
            <a:spAutoFit/>
          </a:bodyPr>
          <a:lstStyle/>
          <a:p>
            <a:pPr marL="285750" indent="-285750" algn="just">
              <a:buFont typeface="Arial" panose="020B0604020202020204" pitchFamily="34" charset="0"/>
              <a:buChar char="•"/>
            </a:pPr>
            <a:r>
              <a:rPr lang="en-IN" sz="2400" dirty="0"/>
              <a:t>Similarly, the newly created holes once come to the p-type side cannot further cross the junction became of same barrier potential of the junction. As the concentration of electrons becomes higher in one side, i.e. n-type side of the junction and concentration of holes becomes more in another side, i.e. the p-type side of the junction, the p-n junction will behave like a small battery cell. A voltage is set up which is known as photo voltage. If we connect a small load across the junction, there will be a tiny current flowing through it.</a:t>
            </a:r>
          </a:p>
        </p:txBody>
      </p:sp>
    </p:spTree>
    <p:extLst>
      <p:ext uri="{BB962C8B-B14F-4D97-AF65-F5344CB8AC3E}">
        <p14:creationId xmlns:p14="http://schemas.microsoft.com/office/powerpoint/2010/main" xmlns="" val="3851775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latin typeface="+mn-lt"/>
              </a:rPr>
              <a:t>Materials Used in Solar Cell</a:t>
            </a:r>
            <a:endParaRPr lang="en-US" sz="3200" b="1" dirty="0">
              <a:latin typeface="+mn-lt"/>
            </a:endParaRP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838200" y="1616619"/>
                <a:ext cx="10515600" cy="4351338"/>
              </a:xfrm>
            </p:spPr>
            <p:txBody>
              <a:bodyPr>
                <a:normAutofit/>
              </a:bodyPr>
              <a:lstStyle/>
              <a:p>
                <a:pPr marL="0" indent="0" algn="just">
                  <a:buNone/>
                </a:pPr>
                <a:r>
                  <a:rPr lang="en-IN" dirty="0"/>
                  <a:t>The materials which are used for this purpose must have band gap close to 1.5ev. Commonly used materials are-</a:t>
                </a:r>
              </a:p>
              <a:p>
                <a:pPr algn="just"/>
                <a:endParaRPr lang="en-IN" dirty="0"/>
              </a:p>
              <a:p>
                <a:pPr algn="just"/>
                <a:r>
                  <a:rPr lang="en-IN" dirty="0"/>
                  <a:t>Silicon</a:t>
                </a:r>
              </a:p>
              <a:p>
                <a:pPr algn="just"/>
                <a:r>
                  <a:rPr lang="en-IN" dirty="0"/>
                  <a:t>GaAs</a:t>
                </a:r>
              </a:p>
              <a:p>
                <a:pPr algn="just"/>
                <a:r>
                  <a:rPr lang="en-IN" dirty="0" err="1"/>
                  <a:t>CdTe</a:t>
                </a:r>
                <a:endParaRPr lang="en-IN" dirty="0"/>
              </a:p>
              <a:p>
                <a:pPr algn="just"/>
                <a14:m>
                  <m:oMath xmlns:m="http://schemas.openxmlformats.org/officeDocument/2006/math">
                    <m:sSub>
                      <m:sSubPr>
                        <m:ctrlPr>
                          <a:rPr lang="en-IN" i="1" dirty="0" smtClean="0">
                            <a:latin typeface="Cambria Math" panose="02040503050406030204" pitchFamily="18" charset="0"/>
                          </a:rPr>
                        </m:ctrlPr>
                      </m:sSubPr>
                      <m:e>
                        <m:r>
                          <m:rPr>
                            <m:nor/>
                          </m:rPr>
                          <a:rPr lang="en-IN" dirty="0"/>
                          <m:t>CuInSe</m:t>
                        </m:r>
                        <m:r>
                          <m:rPr>
                            <m:nor/>
                          </m:rPr>
                          <a:rPr lang="en-US" dirty="0"/>
                          <m:t> </m:t>
                        </m:r>
                      </m:e>
                      <m:sub>
                        <m:r>
                          <a:rPr lang="en-IN" b="0" i="1" dirty="0" smtClean="0">
                            <a:latin typeface="Cambria Math" panose="02040503050406030204" pitchFamily="18" charset="0"/>
                          </a:rPr>
                          <m:t>2</m:t>
                        </m:r>
                      </m:sub>
                    </m:sSub>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616619"/>
                <a:ext cx="10515600" cy="4351338"/>
              </a:xfrm>
              <a:blipFill>
                <a:blip r:embed="rId2"/>
                <a:stretch>
                  <a:fillRect l="-1217" t="-2241" r="-1159"/>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latin typeface="+mn-lt"/>
              </a:rPr>
              <a:t>Criteria for Materials to be Used in Solar Cell</a:t>
            </a:r>
            <a:endParaRPr lang="en-US" sz="3200" b="1" dirty="0">
              <a:latin typeface="+mn-lt"/>
            </a:endParaRPr>
          </a:p>
        </p:txBody>
      </p:sp>
      <p:sp>
        <p:nvSpPr>
          <p:cNvPr id="3" name="Content Placeholder 2"/>
          <p:cNvSpPr>
            <a:spLocks noGrp="1"/>
          </p:cNvSpPr>
          <p:nvPr>
            <p:ph idx="1"/>
          </p:nvPr>
        </p:nvSpPr>
        <p:spPr>
          <a:xfrm>
            <a:off x="838200" y="1616619"/>
            <a:ext cx="10515600" cy="4351338"/>
          </a:xfrm>
        </p:spPr>
        <p:txBody>
          <a:bodyPr>
            <a:normAutofit/>
          </a:bodyPr>
          <a:lstStyle/>
          <a:p>
            <a:pPr algn="just"/>
            <a:r>
              <a:rPr lang="en-IN" dirty="0"/>
              <a:t>Must have band gap from 1ev to 1.8ev.</a:t>
            </a:r>
          </a:p>
          <a:p>
            <a:pPr algn="just"/>
            <a:r>
              <a:rPr lang="en-IN" dirty="0"/>
              <a:t>It must have high optical absorption.</a:t>
            </a:r>
          </a:p>
          <a:p>
            <a:pPr algn="just"/>
            <a:r>
              <a:rPr lang="en-IN" dirty="0"/>
              <a:t>It must have high electrical conductivity.</a:t>
            </a:r>
          </a:p>
          <a:p>
            <a:pPr algn="just"/>
            <a:r>
              <a:rPr lang="en-IN" dirty="0"/>
              <a:t>The raw material must be available in abundance and the cost of the material must be low.</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xmlns="" val="1922360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lgn="ctr">
              <a:defRPr/>
            </a:pPr>
            <a:r>
              <a:rPr lang="en-IN" sz="3200" b="1" dirty="0"/>
              <a:t>V-I Characteristics</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22</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dirty="0"/>
          </a:p>
          <a:p>
            <a:pPr marL="285750" indent="-285750">
              <a:buFont typeface="Arial" panose="020B0604020202020204" pitchFamily="34" charset="0"/>
              <a:buChar char="•"/>
            </a:pPr>
            <a:endParaRPr lang="en-IN" sz="2000" i="1" dirty="0"/>
          </a:p>
        </p:txBody>
      </p:sp>
      <p:pic>
        <p:nvPicPr>
          <p:cNvPr id="206852" name="Picture 4" descr="v-i characteristics of a photovoltaic cell">
            <a:extLst>
              <a:ext uri="{FF2B5EF4-FFF2-40B4-BE49-F238E27FC236}">
                <a16:creationId xmlns:a16="http://schemas.microsoft.com/office/drawing/2014/main" xmlns="" id="{E8B205A6-0427-48CA-920C-2B45F7DFDB87}"/>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926038" y="1272209"/>
            <a:ext cx="5684562" cy="3737113"/>
          </a:xfrm>
          <a:prstGeom prst="rect">
            <a:avLst/>
          </a:prstGeom>
          <a:noFill/>
          <a:extLst>
            <a:ext uri="{909E8E84-426E-40DD-AFC4-6F175D3DCCD1}">
              <a14:hiddenFill xmlns:a14="http://schemas.microsoft.com/office/drawing/2010/main" xmlns="">
                <a:solidFill>
                  <a:srgbClr val="FFFFFF"/>
                </a:solidFill>
              </a14:hiddenFill>
            </a:ext>
          </a:extLst>
        </p:spPr>
      </p:pic>
      <p:sp>
        <p:nvSpPr>
          <p:cNvPr id="9" name="TextBox 8">
            <a:extLst>
              <a:ext uri="{FF2B5EF4-FFF2-40B4-BE49-F238E27FC236}">
                <a16:creationId xmlns:a16="http://schemas.microsoft.com/office/drawing/2014/main" xmlns="" id="{7F6E42C3-6F12-4916-A433-7F7B80A735A1}"/>
              </a:ext>
            </a:extLst>
          </p:cNvPr>
          <p:cNvSpPr txBox="1"/>
          <p:nvPr/>
        </p:nvSpPr>
        <p:spPr>
          <a:xfrm>
            <a:off x="4571256" y="5679694"/>
            <a:ext cx="3627724" cy="369332"/>
          </a:xfrm>
          <a:prstGeom prst="rect">
            <a:avLst/>
          </a:prstGeom>
          <a:noFill/>
        </p:spPr>
        <p:txBody>
          <a:bodyPr wrap="none" rtlCol="0">
            <a:spAutoFit/>
          </a:bodyPr>
          <a:lstStyle/>
          <a:p>
            <a:r>
              <a:rPr lang="en-US" dirty="0"/>
              <a:t>Fig. 6:  V-I characteristics of solar cell</a:t>
            </a:r>
          </a:p>
        </p:txBody>
      </p:sp>
    </p:spTree>
    <p:extLst>
      <p:ext uri="{BB962C8B-B14F-4D97-AF65-F5344CB8AC3E}">
        <p14:creationId xmlns:p14="http://schemas.microsoft.com/office/powerpoint/2010/main" xmlns="" val="643836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8" name="Text Box 60"/>
          <p:cNvSpPr txBox="1">
            <a:spLocks noChangeArrowheads="1"/>
          </p:cNvSpPr>
          <p:nvPr/>
        </p:nvSpPr>
        <p:spPr bwMode="auto">
          <a:xfrm>
            <a:off x="2438400" y="318052"/>
            <a:ext cx="7315200" cy="579438"/>
          </a:xfrm>
          <a:prstGeom prst="rect">
            <a:avLst/>
          </a:prstGeom>
          <a:noFill/>
          <a:ln w="25400">
            <a:noFill/>
            <a:miter lim="800000"/>
            <a:headEnd/>
            <a:tailEnd/>
          </a:ln>
          <a:effectLst/>
        </p:spPr>
        <p:txBody>
          <a:bodyPr>
            <a:spAutoFit/>
          </a:bodyPr>
          <a:lstStyle/>
          <a:p>
            <a:pPr algn="ctr">
              <a:defRPr/>
            </a:pPr>
            <a:r>
              <a:rPr lang="en-IN" sz="3200" b="1" dirty="0"/>
              <a:t>Applications of solar cells</a:t>
            </a:r>
            <a:endParaRPr lang="en-US" sz="3200" u="sng" dirty="0">
              <a:solidFill>
                <a:schemeClr val="bg1"/>
              </a:solidFill>
              <a:effectLst>
                <a:outerShdw blurRad="38100" dist="38100" dir="2700000" algn="tl">
                  <a:srgbClr val="000000"/>
                </a:outerShdw>
              </a:effectLst>
            </a:endParaRPr>
          </a:p>
        </p:txBody>
      </p:sp>
      <p:sp>
        <p:nvSpPr>
          <p:cNvPr id="69" name="Date Placeholder 68"/>
          <p:cNvSpPr>
            <a:spLocks noGrp="1"/>
          </p:cNvSpPr>
          <p:nvPr>
            <p:ph type="dt" sz="half" idx="10"/>
          </p:nvPr>
        </p:nvSpPr>
        <p:spPr/>
        <p:txBody>
          <a:bodyPr/>
          <a:lstStyle/>
          <a:p>
            <a:pPr>
              <a:defRPr/>
            </a:pPr>
            <a:fld id="{980ED82E-AB59-49DA-956E-88839AA15670}" type="datetime1">
              <a:rPr lang="en-US" smtClean="0"/>
              <a:pPr>
                <a:defRPr/>
              </a:pPr>
              <a:t>6/21/2023</a:t>
            </a:fld>
            <a:endParaRPr lang="en-US"/>
          </a:p>
        </p:txBody>
      </p:sp>
      <p:sp>
        <p:nvSpPr>
          <p:cNvPr id="71" name="Slide Number Placeholder 70"/>
          <p:cNvSpPr>
            <a:spLocks noGrp="1"/>
          </p:cNvSpPr>
          <p:nvPr>
            <p:ph type="sldNum" sz="quarter" idx="12"/>
          </p:nvPr>
        </p:nvSpPr>
        <p:spPr/>
        <p:txBody>
          <a:bodyPr/>
          <a:lstStyle/>
          <a:p>
            <a:pPr>
              <a:defRPr/>
            </a:pPr>
            <a:fld id="{313A3DEE-37DC-4602-9687-B4D56009411F}" type="slidenum">
              <a:rPr lang="en-US" smtClean="0"/>
              <a:pPr>
                <a:defRPr/>
              </a:pPr>
              <a:t>23</a:t>
            </a:fld>
            <a:endParaRPr lang="en-US"/>
          </a:p>
        </p:txBody>
      </p:sp>
      <p:sp>
        <p:nvSpPr>
          <p:cNvPr id="2" name="Rectangle 1">
            <a:extLst>
              <a:ext uri="{FF2B5EF4-FFF2-40B4-BE49-F238E27FC236}">
                <a16:creationId xmlns:a16="http://schemas.microsoft.com/office/drawing/2014/main" xmlns="" id="{BF27944A-C7AB-41BC-90A4-8FBAF55694C3}"/>
              </a:ext>
            </a:extLst>
          </p:cNvPr>
          <p:cNvSpPr/>
          <p:nvPr/>
        </p:nvSpPr>
        <p:spPr>
          <a:xfrm>
            <a:off x="838200" y="1418650"/>
            <a:ext cx="9644684" cy="707886"/>
          </a:xfrm>
          <a:prstGeom prst="rect">
            <a:avLst/>
          </a:prstGeom>
        </p:spPr>
        <p:txBody>
          <a:bodyPr wrap="square">
            <a:spAutoFit/>
          </a:bodyPr>
          <a:lstStyle/>
          <a:p>
            <a:pPr marL="285750" indent="-285750">
              <a:buFont typeface="Arial" panose="020B0604020202020204" pitchFamily="34" charset="0"/>
              <a:buChar char="•"/>
            </a:pPr>
            <a:endParaRPr lang="en-IN" sz="2000" i="1"/>
          </a:p>
          <a:p>
            <a:pPr marL="285750" indent="-285750">
              <a:buFont typeface="Arial" panose="020B0604020202020204" pitchFamily="34" charset="0"/>
              <a:buChar char="•"/>
            </a:pPr>
            <a:endParaRPr lang="en-IN" sz="2000" i="1" dirty="0"/>
          </a:p>
        </p:txBody>
      </p:sp>
      <p:sp>
        <p:nvSpPr>
          <p:cNvPr id="4" name="Rectangle 3">
            <a:extLst>
              <a:ext uri="{FF2B5EF4-FFF2-40B4-BE49-F238E27FC236}">
                <a16:creationId xmlns:a16="http://schemas.microsoft.com/office/drawing/2014/main" xmlns="" id="{9FBF5E77-0211-44BB-B8B4-8FDDEF0763D5}"/>
              </a:ext>
            </a:extLst>
          </p:cNvPr>
          <p:cNvSpPr/>
          <p:nvPr/>
        </p:nvSpPr>
        <p:spPr>
          <a:xfrm>
            <a:off x="838200" y="1526739"/>
            <a:ext cx="6096000" cy="2031325"/>
          </a:xfrm>
          <a:prstGeom prst="rect">
            <a:avLst/>
          </a:prstGeom>
        </p:spPr>
        <p:txBody>
          <a:bodyPr>
            <a:spAutoFit/>
          </a:bodyPr>
          <a:lstStyle/>
          <a:p>
            <a:pPr marL="285750" indent="-285750">
              <a:buFont typeface="Arial" panose="020B0604020202020204" pitchFamily="34" charset="0"/>
              <a:buChar char="•"/>
            </a:pPr>
            <a:r>
              <a:rPr lang="en-IN" dirty="0"/>
              <a:t>It is used in calculators and in wrist watches</a:t>
            </a:r>
          </a:p>
          <a:p>
            <a:pPr marL="285750" indent="-285750">
              <a:buFont typeface="Arial" panose="020B0604020202020204" pitchFamily="34" charset="0"/>
              <a:buChar char="•"/>
            </a:pPr>
            <a:r>
              <a:rPr lang="en-IN" dirty="0"/>
              <a:t>Used in storage batteries</a:t>
            </a:r>
          </a:p>
          <a:p>
            <a:pPr marL="285750" indent="-285750">
              <a:buFont typeface="Arial" panose="020B0604020202020204" pitchFamily="34" charset="0"/>
              <a:buChar char="•"/>
            </a:pPr>
            <a:r>
              <a:rPr lang="en-IN" dirty="0"/>
              <a:t>Street lights</a:t>
            </a:r>
          </a:p>
          <a:p>
            <a:pPr marL="285750" indent="-285750">
              <a:buFont typeface="Arial" panose="020B0604020202020204" pitchFamily="34" charset="0"/>
              <a:buChar char="•"/>
            </a:pPr>
            <a:r>
              <a:rPr lang="en-IN" dirty="0"/>
              <a:t>Portable power supplies</a:t>
            </a:r>
          </a:p>
          <a:p>
            <a:pPr marL="285750" indent="-285750">
              <a:buFont typeface="Arial" panose="020B0604020202020204" pitchFamily="34" charset="0"/>
              <a:buChar char="•"/>
            </a:pPr>
            <a:r>
              <a:rPr lang="en-IN" dirty="0"/>
              <a:t>Satellite</a:t>
            </a:r>
          </a:p>
          <a:p>
            <a:pPr marL="285750" indent="-285750">
              <a:buFont typeface="Arial" panose="020B0604020202020204" pitchFamily="34" charset="0"/>
              <a:buChar char="•"/>
            </a:pPr>
            <a:r>
              <a:rPr lang="en-IN" dirty="0"/>
              <a:t>Transportation</a:t>
            </a:r>
          </a:p>
          <a:p>
            <a:pPr marL="285750" indent="-285750">
              <a:buFont typeface="Arial" panose="020B0604020202020204" pitchFamily="34" charset="0"/>
              <a:buChar char="•"/>
            </a:pPr>
            <a:r>
              <a:rPr lang="en-IN" dirty="0"/>
              <a:t>Solar cell panels</a:t>
            </a:r>
          </a:p>
        </p:txBody>
      </p:sp>
    </p:spTree>
    <p:extLst>
      <p:ext uri="{BB962C8B-B14F-4D97-AF65-F5344CB8AC3E}">
        <p14:creationId xmlns:p14="http://schemas.microsoft.com/office/powerpoint/2010/main" xmlns="" val="1211082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Summary</a:t>
            </a:r>
          </a:p>
        </p:txBody>
      </p:sp>
      <p:sp>
        <p:nvSpPr>
          <p:cNvPr id="3" name="Content Placeholder 2"/>
          <p:cNvSpPr>
            <a:spLocks noGrp="1"/>
          </p:cNvSpPr>
          <p:nvPr>
            <p:ph idx="1"/>
          </p:nvPr>
        </p:nvSpPr>
        <p:spPr>
          <a:xfrm>
            <a:off x="825137" y="1603557"/>
            <a:ext cx="10515600" cy="4351338"/>
          </a:xfrm>
        </p:spPr>
        <p:txBody>
          <a:bodyPr/>
          <a:lstStyle/>
          <a:p>
            <a:pPr>
              <a:buFont typeface="Wingdings" pitchFamily="2" charset="2"/>
              <a:buChar char="ü"/>
            </a:pPr>
            <a:r>
              <a:rPr lang="en-US" dirty="0"/>
              <a:t>Introduction to semiconductors.</a:t>
            </a:r>
          </a:p>
          <a:p>
            <a:pPr>
              <a:buFont typeface="Wingdings" pitchFamily="2" charset="2"/>
              <a:buChar char="ü"/>
            </a:pPr>
            <a:r>
              <a:rPr lang="en-US" dirty="0"/>
              <a:t>Various types of semiconductors.</a:t>
            </a:r>
          </a:p>
          <a:p>
            <a:pPr>
              <a:buFont typeface="Wingdings" pitchFamily="2" charset="2"/>
              <a:buChar char="ü"/>
            </a:pPr>
            <a:r>
              <a:rPr lang="en-US" dirty="0"/>
              <a:t>Basics of diode and its biasing.</a:t>
            </a:r>
          </a:p>
          <a:p>
            <a:pPr>
              <a:buFont typeface="Wingdings" pitchFamily="2" charset="2"/>
              <a:buChar char="ü"/>
            </a:pPr>
            <a:r>
              <a:rPr lang="en-US" dirty="0"/>
              <a:t>Introduction to Solar cell.</a:t>
            </a:r>
          </a:p>
          <a:p>
            <a:pPr>
              <a:buFont typeface="Wingdings" pitchFamily="2" charset="2"/>
              <a:buChar char="ü"/>
            </a:pPr>
            <a:r>
              <a:rPr lang="en-US" dirty="0"/>
              <a:t>Construction and working of solar cell.</a:t>
            </a:r>
          </a:p>
          <a:p>
            <a:pPr>
              <a:buFont typeface="Wingdings" pitchFamily="2" charset="2"/>
              <a:buChar char="ü"/>
            </a:pPr>
            <a:r>
              <a:rPr lang="en-US" dirty="0"/>
              <a:t>Applications of solar cells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Frequently Asked Questions</a:t>
            </a:r>
          </a:p>
        </p:txBody>
      </p:sp>
      <p:sp>
        <p:nvSpPr>
          <p:cNvPr id="3" name="Content Placeholder 2"/>
          <p:cNvSpPr>
            <a:spLocks noGrp="1"/>
          </p:cNvSpPr>
          <p:nvPr>
            <p:ph idx="1"/>
          </p:nvPr>
        </p:nvSpPr>
        <p:spPr/>
        <p:txBody>
          <a:bodyPr/>
          <a:lstStyle/>
          <a:p>
            <a:pPr algn="just">
              <a:buFont typeface="Wingdings" pitchFamily="2" charset="2"/>
              <a:buChar char="q"/>
            </a:pPr>
            <a:r>
              <a:rPr lang="en-US" dirty="0"/>
              <a:t>What is the difference between N-Type and p-Type materials?</a:t>
            </a:r>
          </a:p>
          <a:p>
            <a:pPr algn="just">
              <a:buFont typeface="Wingdings" pitchFamily="2" charset="2"/>
              <a:buChar char="q"/>
            </a:pPr>
            <a:r>
              <a:rPr lang="en-US" dirty="0"/>
              <a:t>Give the difference between forward bias and reverse bias.</a:t>
            </a:r>
          </a:p>
          <a:p>
            <a:pPr algn="just">
              <a:buFont typeface="Wingdings" pitchFamily="2" charset="2"/>
              <a:buChar char="q"/>
            </a:pPr>
            <a:r>
              <a:rPr lang="en-US" dirty="0"/>
              <a:t>What do you mean by breakdown voltage?</a:t>
            </a:r>
          </a:p>
          <a:p>
            <a:pPr algn="just">
              <a:buFont typeface="Wingdings" pitchFamily="2" charset="2"/>
              <a:buChar char="q"/>
            </a:pPr>
            <a:r>
              <a:rPr lang="en-US" dirty="0"/>
              <a:t>Explain working of solar cells.</a:t>
            </a:r>
          </a:p>
          <a:p>
            <a:pPr algn="just">
              <a:buFont typeface="Wingdings" pitchFamily="2" charset="2"/>
              <a:buChar char="q"/>
            </a:pPr>
            <a:r>
              <a:rPr lang="en-US" dirty="0"/>
              <a:t>What are the applications of solar cells?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Practice Questions</a:t>
            </a:r>
          </a:p>
        </p:txBody>
      </p:sp>
      <p:sp>
        <p:nvSpPr>
          <p:cNvPr id="3" name="Content Placeholder 2"/>
          <p:cNvSpPr>
            <a:spLocks noGrp="1"/>
          </p:cNvSpPr>
          <p:nvPr>
            <p:ph idx="1"/>
          </p:nvPr>
        </p:nvSpPr>
        <p:spPr/>
        <p:txBody>
          <a:bodyPr/>
          <a:lstStyle/>
          <a:p>
            <a:r>
              <a:rPr lang="en-US" dirty="0"/>
              <a:t>Elaborate the practical applications of diode in real life scenarios.</a:t>
            </a:r>
          </a:p>
          <a:p>
            <a:r>
              <a:rPr lang="en-US" dirty="0"/>
              <a:t>Study the datasheet and design characteristics of a typical solar panel, used for powering a house or a building.</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a:latin typeface="Times New Roman" pitchFamily="18" charset="0"/>
                <a:cs typeface="Times New Roman" pitchFamily="18" charset="0"/>
              </a:rPr>
              <a:t> </a:t>
            </a:r>
            <a:r>
              <a:rPr lang="en-IN" sz="2800" dirty="0">
                <a:latin typeface="Casper"/>
                <a:cs typeface="Times New Roman" pitchFamily="18" charset="0"/>
              </a:rPr>
              <a:t>To make students understand</a:t>
            </a:r>
          </a:p>
          <a:p>
            <a:r>
              <a:rPr lang="en-US" sz="2800" dirty="0">
                <a:latin typeface="Casper"/>
              </a:rPr>
              <a:t> Concepts of </a:t>
            </a:r>
            <a:r>
              <a:rPr lang="en-US" sz="2800" dirty="0" err="1">
                <a:latin typeface="Casper"/>
              </a:rPr>
              <a:t>semicnonductors</a:t>
            </a:r>
            <a:endParaRPr lang="en-US" sz="2800" dirty="0">
              <a:latin typeface="Casper"/>
            </a:endParaRPr>
          </a:p>
          <a:p>
            <a:endParaRPr lang="en-US" sz="2800" dirty="0">
              <a:latin typeface="Casper"/>
            </a:endParaRPr>
          </a:p>
          <a:p>
            <a:r>
              <a:rPr lang="en-US" sz="2800" dirty="0">
                <a:latin typeface="Casper"/>
              </a:rPr>
              <a:t>Basics of diode </a:t>
            </a:r>
            <a:r>
              <a:rPr lang="en-US" sz="2800" dirty="0" err="1">
                <a:latin typeface="Casper"/>
              </a:rPr>
              <a:t>cicuits</a:t>
            </a:r>
            <a:r>
              <a:rPr lang="en-US" sz="2800" dirty="0">
                <a:latin typeface="Casper"/>
              </a:rPr>
              <a:t>.</a:t>
            </a:r>
          </a:p>
          <a:p>
            <a:endParaRPr lang="en-US" sz="2800" dirty="0">
              <a:latin typeface="Casper"/>
            </a:endParaRPr>
          </a:p>
          <a:p>
            <a:r>
              <a:rPr lang="en-US" sz="2800" dirty="0">
                <a:latin typeface="Casper"/>
              </a:rPr>
              <a:t>Fundamentals of solar cells and their applications.</a:t>
            </a:r>
          </a:p>
          <a:p>
            <a:endParaRPr lang="en-US" sz="2400" dirty="0">
              <a:latin typeface="Times New Roman" pitchFamily="18" charset="0"/>
              <a:cs typeface="Times New Roman" pitchFamily="18" charset="0"/>
            </a:endParaRPr>
          </a:p>
          <a:p>
            <a:endParaRPr lang="en-US" sz="2400" dirty="0"/>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27</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ea typeface="Karla" pitchFamily="2" charset="0"/>
                <a:cs typeface="Karla" pitchFamily="2" charset="0"/>
              </a:rPr>
              <a:t>LEARNING OUTCOMES</a:t>
            </a:r>
            <a:br>
              <a:rPr lang="en-US" sz="4400" b="1" dirty="0">
                <a:latin typeface="Casper"/>
                <a:ea typeface="Karla" pitchFamily="2" charset="0"/>
                <a:cs typeface="Karla" pitchFamily="2" charset="0"/>
              </a:rPr>
            </a:br>
            <a:endParaRPr lang="en-US" sz="4400" dirty="0">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2" cstate="print"/>
          <a:srcRect/>
          <a:stretch>
            <a:fillRect/>
          </a:stretch>
        </p:blipFill>
        <p:spPr bwMode="auto">
          <a:xfrm>
            <a:off x="304800" y="304801"/>
            <a:ext cx="812800" cy="976065"/>
          </a:xfrm>
          <a:prstGeom prst="rect">
            <a:avLst/>
          </a:prstGeom>
          <a:noFill/>
          <a:ln w="9525">
            <a:noFill/>
            <a:miter lim="800000"/>
            <a:headEnd/>
            <a:tailEnd/>
          </a:ln>
        </p:spPr>
      </p:pic>
    </p:spTree>
    <p:extLst>
      <p:ext uri="{BB962C8B-B14F-4D97-AF65-F5344CB8AC3E}">
        <p14:creationId xmlns:p14="http://schemas.microsoft.com/office/powerpoint/2010/main" xmlns="" val="693801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550"/>
            <a:ext cx="10515600" cy="1325563"/>
          </a:xfrm>
        </p:spPr>
        <p:txBody>
          <a:bodyPr/>
          <a:lstStyle/>
          <a:p>
            <a:pPr algn="ctr"/>
            <a:r>
              <a:rPr lang="en-US" b="1" dirty="0"/>
              <a:t>Assessment Pattern</a:t>
            </a:r>
          </a:p>
        </p:txBody>
      </p:sp>
      <p:sp>
        <p:nvSpPr>
          <p:cNvPr id="3" name="Content Placeholder 2"/>
          <p:cNvSpPr>
            <a:spLocks noGrp="1"/>
          </p:cNvSpPr>
          <p:nvPr>
            <p:ph idx="1"/>
          </p:nvPr>
        </p:nvSpPr>
        <p:spPr>
          <a:xfrm>
            <a:off x="838199" y="1146352"/>
            <a:ext cx="10696303" cy="4940939"/>
          </a:xfrm>
        </p:spPr>
        <p:txBody>
          <a:bodyPr>
            <a:normAutofit/>
          </a:bodyPr>
          <a:lstStyle/>
          <a:p>
            <a:pPr marL="514350" indent="-514350">
              <a:buNone/>
            </a:pPr>
            <a:endParaRPr lang="en-US" dirty="0"/>
          </a:p>
          <a:p>
            <a:pPr marL="514350" indent="-514350">
              <a:buNone/>
            </a:pPr>
            <a:endParaRPr lang="en-US" dirty="0"/>
          </a:p>
          <a:p>
            <a:pPr marL="514350" indent="-514350">
              <a:buNone/>
            </a:pPr>
            <a:endParaRPr lang="en-US" dirty="0"/>
          </a:p>
          <a:p>
            <a:pPr marL="514350" indent="-514350">
              <a:buNone/>
            </a:pPr>
            <a:endParaRPr lang="en-US" dirty="0"/>
          </a:p>
          <a:p>
            <a:pPr marL="514350" indent="-51435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graphicFrame>
        <p:nvGraphicFramePr>
          <p:cNvPr id="5" name="Table 4"/>
          <p:cNvGraphicFramePr>
            <a:graphicFrameLocks noGrp="1"/>
          </p:cNvGraphicFramePr>
          <p:nvPr/>
        </p:nvGraphicFramePr>
        <p:xfrm>
          <a:off x="770711" y="1968136"/>
          <a:ext cx="10855229" cy="2115978"/>
        </p:xfrm>
        <a:graphic>
          <a:graphicData uri="http://schemas.openxmlformats.org/drawingml/2006/table">
            <a:tbl>
              <a:tblPr firstRow="1" bandRow="1">
                <a:tableStyleId>{073A0DAA-6AF3-43AB-8588-CEC1D06C72B9}</a:tableStyleId>
              </a:tblPr>
              <a:tblGrid>
                <a:gridCol w="1550747">
                  <a:extLst>
                    <a:ext uri="{9D8B030D-6E8A-4147-A177-3AD203B41FA5}">
                      <a16:colId xmlns:a16="http://schemas.microsoft.com/office/drawing/2014/main" xmlns="" val="20000"/>
                    </a:ext>
                  </a:extLst>
                </a:gridCol>
                <a:gridCol w="1550747">
                  <a:extLst>
                    <a:ext uri="{9D8B030D-6E8A-4147-A177-3AD203B41FA5}">
                      <a16:colId xmlns:a16="http://schemas.microsoft.com/office/drawing/2014/main" xmlns="" val="20001"/>
                    </a:ext>
                  </a:extLst>
                </a:gridCol>
                <a:gridCol w="1550747">
                  <a:extLst>
                    <a:ext uri="{9D8B030D-6E8A-4147-A177-3AD203B41FA5}">
                      <a16:colId xmlns:a16="http://schemas.microsoft.com/office/drawing/2014/main" xmlns="" val="20002"/>
                    </a:ext>
                  </a:extLst>
                </a:gridCol>
                <a:gridCol w="1550747">
                  <a:extLst>
                    <a:ext uri="{9D8B030D-6E8A-4147-A177-3AD203B41FA5}">
                      <a16:colId xmlns:a16="http://schemas.microsoft.com/office/drawing/2014/main" xmlns="" val="20003"/>
                    </a:ext>
                  </a:extLst>
                </a:gridCol>
                <a:gridCol w="1550747">
                  <a:extLst>
                    <a:ext uri="{9D8B030D-6E8A-4147-A177-3AD203B41FA5}">
                      <a16:colId xmlns:a16="http://schemas.microsoft.com/office/drawing/2014/main" xmlns="" val="20004"/>
                    </a:ext>
                  </a:extLst>
                </a:gridCol>
                <a:gridCol w="1550747">
                  <a:extLst>
                    <a:ext uri="{9D8B030D-6E8A-4147-A177-3AD203B41FA5}">
                      <a16:colId xmlns:a16="http://schemas.microsoft.com/office/drawing/2014/main" xmlns="" val="20005"/>
                    </a:ext>
                  </a:extLst>
                </a:gridCol>
                <a:gridCol w="1550747">
                  <a:extLst>
                    <a:ext uri="{9D8B030D-6E8A-4147-A177-3AD203B41FA5}">
                      <a16:colId xmlns:a16="http://schemas.microsoft.com/office/drawing/2014/main" xmlns="" val="20006"/>
                    </a:ext>
                  </a:extLst>
                </a:gridCol>
              </a:tblGrid>
              <a:tr h="1493725">
                <a:tc>
                  <a:txBody>
                    <a:bodyPr/>
                    <a:lstStyle/>
                    <a:p>
                      <a:pPr algn="ctr"/>
                      <a:r>
                        <a:rPr lang="en-US" dirty="0"/>
                        <a:t>     A</a:t>
                      </a:r>
                    </a:p>
                    <a:p>
                      <a:pPr algn="ctr"/>
                      <a:r>
                        <a:rPr lang="en-US" dirty="0"/>
                        <a:t>Assignment (each assignment)</a:t>
                      </a:r>
                    </a:p>
                  </a:txBody>
                  <a:tcPr/>
                </a:tc>
                <a:tc>
                  <a:txBody>
                    <a:bodyPr/>
                    <a:lstStyle/>
                    <a:p>
                      <a:pPr algn="ctr"/>
                      <a:r>
                        <a:rPr lang="en-US" dirty="0"/>
                        <a:t>   B</a:t>
                      </a:r>
                    </a:p>
                    <a:p>
                      <a:pPr algn="ctr"/>
                      <a:r>
                        <a:rPr lang="en-US" dirty="0"/>
                        <a:t>Time Bound Surprise</a:t>
                      </a:r>
                      <a:r>
                        <a:rPr lang="en-US" baseline="0" dirty="0"/>
                        <a:t> Test (each test)</a:t>
                      </a:r>
                      <a:endParaRPr lang="en-US" dirty="0"/>
                    </a:p>
                  </a:txBody>
                  <a:tcPr/>
                </a:tc>
                <a:tc>
                  <a:txBody>
                    <a:bodyPr/>
                    <a:lstStyle/>
                    <a:p>
                      <a:pPr algn="ctr"/>
                      <a:r>
                        <a:rPr lang="en-US" dirty="0"/>
                        <a:t>C</a:t>
                      </a:r>
                    </a:p>
                    <a:p>
                      <a:pPr algn="ctr"/>
                      <a:r>
                        <a:rPr lang="en-US" dirty="0"/>
                        <a:t>Quiz (each quiz)</a:t>
                      </a:r>
                    </a:p>
                  </a:txBody>
                  <a:tcPr/>
                </a:tc>
                <a:tc>
                  <a:txBody>
                    <a:bodyPr/>
                    <a:lstStyle/>
                    <a:p>
                      <a:pPr algn="ctr"/>
                      <a:r>
                        <a:rPr lang="en-US" dirty="0"/>
                        <a:t>   D</a:t>
                      </a:r>
                    </a:p>
                    <a:p>
                      <a:pPr algn="ctr"/>
                      <a:r>
                        <a:rPr lang="en-US" dirty="0"/>
                        <a:t>Mid</a:t>
                      </a:r>
                      <a:r>
                        <a:rPr lang="en-US" baseline="0" dirty="0"/>
                        <a:t> Semester Test(one per test)</a:t>
                      </a:r>
                      <a:endParaRPr lang="en-US" dirty="0"/>
                    </a:p>
                  </a:txBody>
                  <a:tcPr/>
                </a:tc>
                <a:tc>
                  <a:txBody>
                    <a:bodyPr/>
                    <a:lstStyle/>
                    <a:p>
                      <a:pPr algn="ctr"/>
                      <a:r>
                        <a:rPr lang="en-US" dirty="0"/>
                        <a:t>    E</a:t>
                      </a:r>
                    </a:p>
                    <a:p>
                      <a:pPr algn="ctr"/>
                      <a:r>
                        <a:rPr lang="en-US" dirty="0"/>
                        <a:t>Homework</a:t>
                      </a:r>
                    </a:p>
                  </a:txBody>
                  <a:tcPr/>
                </a:tc>
                <a:tc>
                  <a:txBody>
                    <a:bodyPr/>
                    <a:lstStyle/>
                    <a:p>
                      <a:pPr algn="ctr"/>
                      <a:r>
                        <a:rPr lang="en-US" dirty="0"/>
                        <a:t>     F</a:t>
                      </a:r>
                    </a:p>
                    <a:p>
                      <a:pPr algn="ctr"/>
                      <a:r>
                        <a:rPr lang="en-US" dirty="0"/>
                        <a:t>Discussion Forums</a:t>
                      </a:r>
                    </a:p>
                  </a:txBody>
                  <a:tcPr/>
                </a:tc>
                <a:tc>
                  <a:txBody>
                    <a:bodyPr/>
                    <a:lstStyle/>
                    <a:p>
                      <a:pPr algn="ctr"/>
                      <a:r>
                        <a:rPr lang="en-US" dirty="0"/>
                        <a:t>    G</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a:t>Attendance and  engagement Score on BB</a:t>
                      </a:r>
                    </a:p>
                    <a:p>
                      <a:pPr algn="ctr"/>
                      <a:endParaRPr lang="en-US" dirty="0"/>
                    </a:p>
                  </a:txBody>
                  <a:tcPr/>
                </a:tc>
                <a:extLst>
                  <a:ext uri="{0D108BD9-81ED-4DB2-BD59-A6C34878D82A}">
                    <a16:rowId xmlns:a16="http://schemas.microsoft.com/office/drawing/2014/main" xmlns="" val="10000"/>
                  </a:ext>
                </a:extLst>
              </a:tr>
              <a:tr h="378618">
                <a:tc>
                  <a:txBody>
                    <a:bodyPr/>
                    <a:lstStyle/>
                    <a:p>
                      <a:pPr algn="ctr"/>
                      <a:r>
                        <a:rPr lang="en-US" dirty="0"/>
                        <a:t>10</a:t>
                      </a:r>
                    </a:p>
                  </a:txBody>
                  <a:tcPr/>
                </a:tc>
                <a:tc>
                  <a:txBody>
                    <a:bodyPr/>
                    <a:lstStyle/>
                    <a:p>
                      <a:pPr algn="ctr"/>
                      <a:r>
                        <a:rPr lang="en-US" dirty="0"/>
                        <a:t>   12</a:t>
                      </a:r>
                    </a:p>
                  </a:txBody>
                  <a:tcPr/>
                </a:tc>
                <a:tc>
                  <a:txBody>
                    <a:bodyPr/>
                    <a:lstStyle/>
                    <a:p>
                      <a:pPr algn="ctr"/>
                      <a:r>
                        <a:rPr lang="en-US" dirty="0"/>
                        <a:t>4</a:t>
                      </a:r>
                    </a:p>
                  </a:txBody>
                  <a:tcPr/>
                </a:tc>
                <a:tc>
                  <a:txBody>
                    <a:bodyPr/>
                    <a:lstStyle/>
                    <a:p>
                      <a:pPr algn="ctr"/>
                      <a:r>
                        <a:rPr lang="en-US" dirty="0"/>
                        <a:t>   20</a:t>
                      </a:r>
                    </a:p>
                  </a:txBody>
                  <a:tcPr/>
                </a:tc>
                <a:tc>
                  <a:txBody>
                    <a:bodyPr/>
                    <a:lstStyle/>
                    <a:p>
                      <a:pPr algn="ctr"/>
                      <a:r>
                        <a:rPr lang="en-US" dirty="0"/>
                        <a:t>NA</a:t>
                      </a:r>
                    </a:p>
                  </a:txBody>
                  <a:tcPr/>
                </a:tc>
                <a:tc>
                  <a:txBody>
                    <a:bodyPr/>
                    <a:lstStyle/>
                    <a:p>
                      <a:pPr algn="ctr"/>
                      <a:r>
                        <a:rPr lang="en-US" dirty="0"/>
                        <a:t>    NA</a:t>
                      </a:r>
                    </a:p>
                  </a:txBody>
                  <a:tcPr/>
                </a:tc>
                <a:tc>
                  <a:txBody>
                    <a:bodyPr/>
                    <a:lstStyle/>
                    <a:p>
                      <a:pPr algn="ctr"/>
                      <a:r>
                        <a:rPr lang="en-US" dirty="0"/>
                        <a:t>    2</a:t>
                      </a:r>
                    </a:p>
                  </a:txBody>
                  <a:tcPr/>
                </a:tc>
                <a:extLst>
                  <a:ext uri="{0D108BD9-81ED-4DB2-BD59-A6C34878D82A}">
                    <a16:rowId xmlns:a16="http://schemas.microsoft.com/office/drawing/2014/main" xmlns="" val="10001"/>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References</a:t>
            </a:r>
          </a:p>
        </p:txBody>
      </p:sp>
      <p:sp>
        <p:nvSpPr>
          <p:cNvPr id="3" name="Content Placeholder 2"/>
          <p:cNvSpPr>
            <a:spLocks noGrp="1"/>
          </p:cNvSpPr>
          <p:nvPr>
            <p:ph idx="1"/>
          </p:nvPr>
        </p:nvSpPr>
        <p:spPr>
          <a:xfrm>
            <a:off x="785948" y="1603556"/>
            <a:ext cx="10515600" cy="4351338"/>
          </a:xfrm>
        </p:spPr>
        <p:txBody>
          <a:bodyPr>
            <a:normAutofit fontScale="92500" lnSpcReduction="20000"/>
          </a:bodyPr>
          <a:lstStyle/>
          <a:p>
            <a:pPr>
              <a:buNone/>
            </a:pPr>
            <a:r>
              <a:rPr lang="en-US" sz="3000" b="1" dirty="0"/>
              <a:t>Textbooks of Basic Electrical &amp; Electronics Engineering:</a:t>
            </a:r>
            <a:endParaRPr lang="en-US" sz="3000" dirty="0"/>
          </a:p>
          <a:p>
            <a:pPr>
              <a:buFont typeface="Wingdings" pitchFamily="2" charset="2"/>
              <a:buChar char="Ø"/>
            </a:pPr>
            <a:r>
              <a:rPr lang="en-US" sz="3000" dirty="0"/>
              <a:t>Fundamentals of Electrical Circuits by Charles k.</a:t>
            </a:r>
          </a:p>
          <a:p>
            <a:pPr>
              <a:buFont typeface="Wingdings" pitchFamily="2" charset="2"/>
              <a:buChar char="Ø"/>
            </a:pPr>
            <a:r>
              <a:rPr lang="en-US" sz="3000" dirty="0"/>
              <a:t>Electrical Technology by Surinder Pal Bali, Pearson Publications. </a:t>
            </a:r>
          </a:p>
          <a:p>
            <a:pPr>
              <a:buNone/>
            </a:pPr>
            <a:endParaRPr lang="en-US" sz="3000" dirty="0"/>
          </a:p>
          <a:p>
            <a:pPr>
              <a:buNone/>
            </a:pPr>
            <a:r>
              <a:rPr lang="en-US" sz="3000" b="1" dirty="0"/>
              <a:t>Video Links:</a:t>
            </a:r>
            <a:endParaRPr lang="en-US" sz="3000" b="1" u="sng" dirty="0">
              <a:hlinkClick r:id="rId2"/>
            </a:endParaRPr>
          </a:p>
          <a:p>
            <a:pPr>
              <a:buFont typeface="Wingdings" pitchFamily="2" charset="2"/>
              <a:buChar char="Ø"/>
            </a:pPr>
            <a:r>
              <a:rPr lang="en-US" u="sng" dirty="0">
                <a:hlinkClick r:id="rId3"/>
              </a:rPr>
              <a:t>https://www.youtube.com/watch?v=L28F1Oenyds</a:t>
            </a:r>
          </a:p>
          <a:p>
            <a:pPr marL="0" indent="0">
              <a:buNone/>
            </a:pPr>
            <a:endParaRPr lang="en-US" u="sng" dirty="0">
              <a:hlinkClick r:id="rId3"/>
            </a:endParaRPr>
          </a:p>
          <a:p>
            <a:pPr>
              <a:buFont typeface="Wingdings" pitchFamily="2" charset="2"/>
              <a:buChar char="Ø"/>
            </a:pPr>
            <a:r>
              <a:rPr lang="en-US" u="sng" dirty="0">
                <a:hlinkClick r:id="rId4"/>
              </a:rPr>
              <a:t>https://www.youtube.com/watch?v=mCgXsEyQZSI</a:t>
            </a:r>
            <a:endParaRPr lang="en-US" u="sng" dirty="0"/>
          </a:p>
          <a:p>
            <a:pPr marL="0" indent="0">
              <a:buNone/>
            </a:pPr>
            <a:endParaRPr lang="en-US" u="sng" dirty="0"/>
          </a:p>
          <a:p>
            <a:pPr>
              <a:buFont typeface="Wingdings" pitchFamily="2" charset="2"/>
              <a:buChar char="Ø"/>
            </a:pPr>
            <a:r>
              <a:rPr lang="en-US" u="sng" dirty="0"/>
              <a:t>https://www.youtube.com/watch?v=ZYO83TkM0To</a:t>
            </a:r>
          </a:p>
          <a:p>
            <a:pPr>
              <a:buFont typeface="Wingdings" pitchFamily="2" charset="2"/>
              <a:buChar char="Ø"/>
            </a:pPr>
            <a:endParaRPr lang="en-US" u="sng" dirty="0"/>
          </a:p>
          <a:p>
            <a:pPr>
              <a:buFont typeface="Wingdings" pitchFamily="2" charset="2"/>
              <a:buChar char="Ø"/>
            </a:pPr>
            <a:endParaRPr lang="en-US" u="sng"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References</a:t>
            </a:r>
          </a:p>
        </p:txBody>
      </p:sp>
      <p:sp>
        <p:nvSpPr>
          <p:cNvPr id="3" name="Content Placeholder 2"/>
          <p:cNvSpPr>
            <a:spLocks noGrp="1"/>
          </p:cNvSpPr>
          <p:nvPr>
            <p:ph idx="1"/>
          </p:nvPr>
        </p:nvSpPr>
        <p:spPr>
          <a:xfrm>
            <a:off x="785948" y="1603556"/>
            <a:ext cx="10515600" cy="4351338"/>
          </a:xfrm>
        </p:spPr>
        <p:txBody>
          <a:bodyPr>
            <a:normAutofit/>
          </a:bodyPr>
          <a:lstStyle/>
          <a:p>
            <a:pPr>
              <a:buNone/>
            </a:pPr>
            <a:endParaRPr lang="en-US" sz="3000" dirty="0"/>
          </a:p>
          <a:p>
            <a:pPr>
              <a:buNone/>
            </a:pPr>
            <a:r>
              <a:rPr lang="en-US" sz="3000" b="1" dirty="0"/>
              <a:t>Website Links:</a:t>
            </a:r>
            <a:endParaRPr lang="en-US" sz="3000" b="1" u="sng" dirty="0">
              <a:hlinkClick r:id="rId2"/>
            </a:endParaRPr>
          </a:p>
          <a:p>
            <a:pPr lvl="0"/>
            <a:r>
              <a:rPr lang="en-US" dirty="0">
                <a:hlinkClick r:id="rId3"/>
              </a:rPr>
              <a:t>https://www.electrical4u.com/solar-cell/</a:t>
            </a:r>
            <a:endParaRPr lang="en-IN" dirty="0"/>
          </a:p>
          <a:p>
            <a:pPr lvl="0"/>
            <a:r>
              <a:rPr lang="en-US" dirty="0"/>
              <a:t>https://energyeducation.ca/encyclopedia/Diode_operation</a:t>
            </a:r>
            <a:endParaRPr lang="en-IN" dirty="0"/>
          </a:p>
          <a:p>
            <a:pPr lvl="0"/>
            <a:r>
              <a:rPr lang="en-US" dirty="0"/>
              <a:t>https://ecstudiosystems.com/discover/textbooks/solid-state-devices/semiconductor-diodes/pn-junction-operation/</a:t>
            </a:r>
            <a:endParaRPr lang="en-IN" dirty="0"/>
          </a:p>
          <a:p>
            <a:pPr lvl="0"/>
            <a:r>
              <a:rPr lang="en-US" dirty="0"/>
              <a:t>https://www.tutorialspoint.com/semiconductor_devices/semiconductor_devices_diode_characteristics.htm</a:t>
            </a:r>
            <a:endParaRPr lang="en-IN" dirty="0"/>
          </a:p>
          <a:p>
            <a:pPr>
              <a:buFont typeface="Wingdings" pitchFamily="2" charset="2"/>
              <a:buChar char="Ø"/>
            </a:pPr>
            <a:endParaRPr lang="en-US" u="sng" dirty="0"/>
          </a:p>
          <a:p>
            <a:pPr>
              <a:buFont typeface="Wingdings" pitchFamily="2" charset="2"/>
              <a:buChar char="Ø"/>
            </a:pPr>
            <a:endParaRPr lang="en-US" u="sng"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Tree>
    <p:extLst>
      <p:ext uri="{BB962C8B-B14F-4D97-AF65-F5344CB8AC3E}">
        <p14:creationId xmlns:p14="http://schemas.microsoft.com/office/powerpoint/2010/main" xmlns="" val="1863196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xmlns=""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xmlns=""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8E1879BF-80CB-413D-9BC1-C05963A116D7}"/>
              </a:ext>
            </a:extLst>
          </p:cNvPr>
          <p:cNvCxnSpPr>
            <a:cxnSpLocks/>
          </p:cNvCxnSpPr>
          <p:nvPr/>
        </p:nvCxnSpPr>
        <p:spPr>
          <a:xfrm>
            <a:off x="10169129"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ED354CBC-26FA-4C5C-B91C-AD6F2AE53BC2}"/>
              </a:ext>
            </a:extLst>
          </p:cNvPr>
          <p:cNvCxnSpPr>
            <a:cxnSpLocks/>
          </p:cNvCxnSpPr>
          <p:nvPr/>
        </p:nvCxnSpPr>
        <p:spPr>
          <a:xfrm>
            <a:off x="733427" y="6294599"/>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B6F6E02B-7F30-40ED-9667-2C98864546BE}"/>
              </a:ext>
            </a:extLst>
          </p:cNvPr>
          <p:cNvCxnSpPr>
            <a:cxnSpLocks/>
          </p:cNvCxnSpPr>
          <p:nvPr/>
        </p:nvCxnSpPr>
        <p:spPr>
          <a:xfrm>
            <a:off x="390527" y="5129691"/>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3"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xmlns="" id="{AFBA4B1A-59E0-42F9-8062-FE9B4E00A99F}"/>
              </a:ext>
            </a:extLst>
          </p:cNvPr>
          <p:cNvSpPr/>
          <p:nvPr/>
        </p:nvSpPr>
        <p:spPr>
          <a:xfrm>
            <a:off x="2641601"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xmlns="" id="{4F0CA98B-3337-4AC3-8305-ED6C9C731FFB}"/>
              </a:ext>
            </a:extLst>
          </p:cNvPr>
          <p:cNvSpPr/>
          <p:nvPr/>
        </p:nvSpPr>
        <p:spPr>
          <a:xfrm>
            <a:off x="2898775"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3" name="Group 28"/>
          <p:cNvGrpSpPr/>
          <p:nvPr/>
        </p:nvGrpSpPr>
        <p:grpSpPr>
          <a:xfrm>
            <a:off x="237521"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p14="http://schemas.microsoft.com/office/powerpoint/2010/main" xmlns="" val="4059142145"/>
                </p:ext>
              </p:extLst>
            </p:nvPr>
          </p:nvGraphicFramePr>
          <p:xfrm>
            <a:off x="100420" y="236973"/>
            <a:ext cx="183878" cy="183422"/>
          </p:xfrm>
          <a:graphic>
            <a:graphicData uri="http://schemas.openxmlformats.org/presentationml/2006/ole">
              <p:oleObj spid="_x0000_s158755" name="CorelDRAW" r:id="rId3" imgW="2169000" imgH="2169360" progId="">
                <p:embed/>
              </p:oleObj>
            </a:graphicData>
          </a:graphic>
        </p:graphicFrame>
      </p:grpSp>
      <p:sp>
        <p:nvSpPr>
          <p:cNvPr id="2" name="Rectangle 1"/>
          <p:cNvSpPr/>
          <p:nvPr/>
        </p:nvSpPr>
        <p:spPr>
          <a:xfrm>
            <a:off x="4114005" y="5394449"/>
            <a:ext cx="1239506"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a:t>
            </a:r>
            <a:endParaRPr lang="en-US" dirty="0"/>
          </a:p>
        </p:txBody>
      </p:sp>
    </p:spTree>
    <p:extLst>
      <p:ext uri="{BB962C8B-B14F-4D97-AF65-F5344CB8AC3E}">
        <p14:creationId xmlns:p14="http://schemas.microsoft.com/office/powerpoint/2010/main" xmlns="" val="26565012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UID" val="{0E2DCEFA-CE10-41FF-AD08-D8937F9F8661}"/>
  <p:tag name="ISPRING_RESOURCE_FOLDER" val="D:\BEEE 2021 ODD SEM\Theory\UNIT-1\PPTS\Lecture 1\"/>
  <p:tag name="ISPRING_PRESENTATION_PATH" val="D:\BEEE 2021 ODD SEM\Theory\UNIT-1\PPTS\Lecture 1.pptx"/>
  <p:tag name="ISPRING_PROJECT_VERSION" val="9.32"/>
  <p:tag name="ISPRING_PROJECT_FOLDER_UPDATED" val="1"/>
</p:tagLst>
</file>

<file path=ppt/tags/tag2.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3.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2355</TotalTime>
  <Words>1424</Words>
  <Application>Microsoft Office PowerPoint</Application>
  <PresentationFormat>Custom</PresentationFormat>
  <Paragraphs>229</Paragraphs>
  <Slides>31</Slides>
  <Notes>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34" baseType="lpstr">
      <vt:lpstr>1_Office Theme</vt:lpstr>
      <vt:lpstr>Contents Slide Master</vt:lpstr>
      <vt:lpstr>CorelDRAW</vt:lpstr>
      <vt:lpstr>Slide 1</vt:lpstr>
      <vt:lpstr>Course Objectives</vt:lpstr>
      <vt:lpstr>Course Outcomes</vt:lpstr>
      <vt:lpstr>Content</vt:lpstr>
      <vt:lpstr>Semiconductors</vt:lpstr>
      <vt:lpstr>N-Type Material</vt:lpstr>
      <vt:lpstr>P-Type Material</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Materials Used in Solar Cell</vt:lpstr>
      <vt:lpstr>Criteria for Materials to be Used in Solar Cell</vt:lpstr>
      <vt:lpstr>Slide 22</vt:lpstr>
      <vt:lpstr>Slide 23</vt:lpstr>
      <vt:lpstr>Summary</vt:lpstr>
      <vt:lpstr>Frequently Asked Questions</vt:lpstr>
      <vt:lpstr>Practice Questions</vt:lpstr>
      <vt:lpstr>LEARNING OUTCOMES </vt:lpstr>
      <vt:lpstr>Assessment Pattern</vt:lpstr>
      <vt:lpstr>References</vt:lpstr>
      <vt:lpstr>References</vt:lpstr>
      <vt:lpstr>Slide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230</cp:revision>
  <dcterms:created xsi:type="dcterms:W3CDTF">2019-01-09T10:33:58Z</dcterms:created>
  <dcterms:modified xsi:type="dcterms:W3CDTF">2023-06-21T06:59:48Z</dcterms:modified>
</cp:coreProperties>
</file>