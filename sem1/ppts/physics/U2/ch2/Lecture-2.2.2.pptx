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Override PartName="/ppt/slideLayouts/slideLayout34.xml" ContentType="application/vnd.openxmlformats-officedocument.presentationml.slideLayout+xml"/>
  <Default Extension="emf" ContentType="image/x-emf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  <p:sldMasterId id="2147483701" r:id="rId3"/>
  </p:sldMasterIdLst>
  <p:notesMasterIdLst>
    <p:notesMasterId r:id="rId18"/>
  </p:notesMasterIdLst>
  <p:handoutMasterIdLst>
    <p:handoutMasterId r:id="rId19"/>
  </p:handoutMasterIdLst>
  <p:sldIdLst>
    <p:sldId id="347" r:id="rId4"/>
    <p:sldId id="348" r:id="rId5"/>
    <p:sldId id="349" r:id="rId6"/>
    <p:sldId id="326" r:id="rId7"/>
    <p:sldId id="327" r:id="rId8"/>
    <p:sldId id="343" r:id="rId9"/>
    <p:sldId id="344" r:id="rId10"/>
    <p:sldId id="345" r:id="rId11"/>
    <p:sldId id="328" r:id="rId12"/>
    <p:sldId id="346" r:id="rId13"/>
    <p:sldId id="351" r:id="rId14"/>
    <p:sldId id="352" r:id="rId15"/>
    <p:sldId id="353" r:id="rId16"/>
    <p:sldId id="354" r:id="rId17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515" autoAdjust="0"/>
    <p:restoredTop sz="94660"/>
  </p:normalViewPr>
  <p:slideViewPr>
    <p:cSldViewPr snapToGrid="0">
      <p:cViewPr varScale="1">
        <p:scale>
          <a:sx n="65" d="100"/>
          <a:sy n="65" d="100"/>
        </p:scale>
        <p:origin x="-702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xmlns="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533020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909644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2715955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4378142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772175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562005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9574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947595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78359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023021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18041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794068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146571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6219781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22197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13695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7143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12201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01216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12041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319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18609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47627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08157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344941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xmlns="" val="39740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automationdirect.com/basic-electrical-theory/" TargetMode="Externa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automationdirect.com/basic-electrical-theory/" TargetMode="Externa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lprocus.com/electrical-conductivity-and-its-derivation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lprocus.com/what-is-a-schmitt-trigger-working-and-application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ysics-and-radio-electronics.com/physics/energy/what-is-energy.html" TargetMode="External"/><Relationship Id="rId2" Type="http://schemas.openxmlformats.org/officeDocument/2006/relationships/hyperlink" Target="https://www.physics-and-radio-electronics.com/electronic-devices-and-circuits/introduction/valence-electrons.html" TargetMode="Externa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.png"/><Relationship Id="rId5" Type="http://schemas.openxmlformats.org/officeDocument/2006/relationships/hyperlink" Target="https://www.physics-and-radio-electronics.com/electronic-devices-and-circuits/introduction/free-electrons.html" TargetMode="External"/><Relationship Id="rId4" Type="http://schemas.openxmlformats.org/officeDocument/2006/relationships/hyperlink" Target="https://www.physics-and-radio-electronics.com/electronic-devices-and-circuits/introduction/atom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=""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=""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89304721"/>
              </p:ext>
            </p:extLst>
          </p:nvPr>
        </p:nvGraphicFramePr>
        <p:xfrm>
          <a:off x="494804" y="4023363"/>
          <a:ext cx="2631143" cy="2507676"/>
        </p:xfrm>
        <a:graphic>
          <a:graphicData uri="http://schemas.openxmlformats.org/presentationml/2006/ole">
            <p:oleObj spid="_x0000_s1026" name="CorelDRAW" r:id="rId4" imgW="2169000" imgH="2169360" progId="">
              <p:embed/>
            </p:oleObj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=""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6856251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14846" y="1281237"/>
            <a:ext cx="9832638" cy="603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UNIT-1 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Semi Conductor Physics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23SPH-143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Sandeep Kaur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Lecture-2.2.2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Introduction to Photo Resistor &amp; Photo Conductor with Applications.</a:t>
            </a:r>
            <a:endParaRPr lang="en-US" sz="24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53015479"/>
              </p:ext>
            </p:extLst>
          </p:nvPr>
        </p:nvGraphicFramePr>
        <p:xfrm>
          <a:off x="293914" y="2226079"/>
          <a:ext cx="6547757" cy="4158391"/>
        </p:xfrm>
        <a:graphic>
          <a:graphicData uri="http://schemas.openxmlformats.org/drawingml/2006/table">
            <a:tbl>
              <a:tblPr firstRow="1" firstCol="1" bandRow="1"/>
              <a:tblGrid>
                <a:gridCol w="5878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599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7729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 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Objectives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424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To understand the basic materials and properties of semiconductors.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972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Understand the basic of semiconductor and components like diode, transistor, FET, MOSFET and Energy Sources.</a:t>
                      </a:r>
                    </a:p>
                    <a:p>
                      <a:pPr algn="l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45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To give knowledge about semiconductor physics and discus working and applications of basic devices, including p-n junctions, BJTs and FETs.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l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104849" y="5050301"/>
            <a:ext cx="4706194" cy="7455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7030A0"/>
                </a:solidFill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https://www.iqsdirectory.com/resources/everything-you-ever-wanted-to-know-about-semiconductors/</a:t>
            </a:r>
            <a:endParaRPr lang="en-US" sz="1800" b="1" dirty="0">
              <a:solidFill>
                <a:srgbClr val="7030A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F519C70-D760-42E7-8BD2-6D327CBFD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509" y="2226079"/>
            <a:ext cx="4716534" cy="26554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="" xmlns:p14="http://schemas.microsoft.com/office/powerpoint/2010/main" val="401809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54211" y="214063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566485" y="5421087"/>
            <a:ext cx="5214762" cy="51834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7030A0"/>
                </a:solidFill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https://lot.dhl.com/5-things-the-current-semiconductor-slowdown-tells-us-about-the-global-economy/</a:t>
            </a:r>
            <a:endParaRPr lang="en-US" sz="1800" b="1" dirty="0">
              <a:solidFill>
                <a:srgbClr val="7030A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8162587E-E0B8-4626-8CC1-A1300E812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37862230"/>
              </p:ext>
            </p:extLst>
          </p:nvPr>
        </p:nvGraphicFramePr>
        <p:xfrm>
          <a:off x="307925" y="1881052"/>
          <a:ext cx="6354132" cy="477887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09811">
                  <a:extLst>
                    <a:ext uri="{9D8B030D-6E8A-4147-A177-3AD203B41FA5}">
                      <a16:colId xmlns="" xmlns:a16="http://schemas.microsoft.com/office/drawing/2014/main" val="3145357031"/>
                    </a:ext>
                  </a:extLst>
                </a:gridCol>
                <a:gridCol w="3525847">
                  <a:extLst>
                    <a:ext uri="{9D8B030D-6E8A-4147-A177-3AD203B41FA5}">
                      <a16:colId xmlns="" xmlns:a16="http://schemas.microsoft.com/office/drawing/2014/main" val="1912344179"/>
                    </a:ext>
                  </a:extLst>
                </a:gridCol>
                <a:gridCol w="2118474">
                  <a:extLst>
                    <a:ext uri="{9D8B030D-6E8A-4147-A177-3AD203B41FA5}">
                      <a16:colId xmlns="" xmlns:a16="http://schemas.microsoft.com/office/drawing/2014/main" val="1723345131"/>
                    </a:ext>
                  </a:extLst>
                </a:gridCol>
              </a:tblGrid>
              <a:tr h="919098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S.NO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Blooms’ Taxonomy Level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35748488"/>
                  </a:ext>
                </a:extLst>
              </a:tr>
              <a:tr h="660601">
                <a:tc>
                  <a:txBody>
                    <a:bodyPr/>
                    <a:lstStyle/>
                    <a:p>
                      <a:pPr marR="539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Raavi"/>
                        </a:rPr>
                        <a:t>CO1</a:t>
                      </a:r>
                      <a:endParaRPr lang="en-US" sz="1400" dirty="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Adobe Garamond Pro"/>
                          <a:cs typeface="Raavi"/>
                        </a:rPr>
                        <a:t>To apply the knowledge of basic semiconductor material physics and understand fabrication processes.</a:t>
                      </a:r>
                      <a:endParaRPr lang="en-US" sz="1400" dirty="0">
                        <a:latin typeface="Calibri"/>
                        <a:cs typeface="Raav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Raavi"/>
                        </a:rPr>
                        <a:t>EASY</a:t>
                      </a:r>
                      <a:endParaRPr lang="en-US" sz="1400" dirty="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905167788"/>
                  </a:ext>
                </a:extLst>
              </a:tr>
              <a:tr h="660601">
                <a:tc>
                  <a:txBody>
                    <a:bodyPr/>
                    <a:lstStyle/>
                    <a:p>
                      <a:pPr marR="539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CO2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Raavi"/>
                        </a:rPr>
                        <a:t>To understand </a:t>
                      </a:r>
                      <a:r>
                        <a:rPr lang="en-IN" sz="1400" dirty="0">
                          <a:latin typeface="Times New Roman"/>
                          <a:cs typeface="Raavi"/>
                        </a:rPr>
                        <a:t> the characteristics of different electronic devices such as diodes, transistors.</a:t>
                      </a:r>
                      <a:endParaRPr lang="en-US" sz="1400" dirty="0">
                        <a:latin typeface="Calibri"/>
                        <a:cs typeface="Raav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MEDIUM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36068956"/>
                  </a:ext>
                </a:extLst>
              </a:tr>
              <a:tr h="660601">
                <a:tc>
                  <a:txBody>
                    <a:bodyPr/>
                    <a:lstStyle/>
                    <a:p>
                      <a:pPr marR="539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CO3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Adobe Garamond Pro"/>
                          <a:cs typeface="Raavi"/>
                        </a:rPr>
                        <a:t>To derive the relationships between the parameters in diode, FET, configurations of Transistor and MOSFETs.</a:t>
                      </a:r>
                      <a:endParaRPr lang="en-US" sz="1400" dirty="0">
                        <a:latin typeface="Calibri"/>
                        <a:cs typeface="Raav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111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MEDIUM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44161678"/>
                  </a:ext>
                </a:extLst>
              </a:tr>
              <a:tr h="990902">
                <a:tc>
                  <a:txBody>
                    <a:bodyPr/>
                    <a:lstStyle/>
                    <a:p>
                      <a:pPr marR="539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CO4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Raavi"/>
                        </a:rPr>
                        <a:t>To describe the working and design considerations for the various photonic devices like photo detectors, solar-cells and LEDs.</a:t>
                      </a:r>
                      <a:endParaRPr lang="en-US" sz="1400" dirty="0">
                        <a:latin typeface="Calibri"/>
                        <a:cs typeface="Raav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Raavi"/>
                        </a:rPr>
                        <a:t>HARD</a:t>
                      </a:r>
                      <a:endParaRPr lang="en-US" sz="1400" dirty="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677875048"/>
                  </a:ext>
                </a:extLst>
              </a:tr>
              <a:tr h="660601">
                <a:tc>
                  <a:txBody>
                    <a:bodyPr/>
                    <a:lstStyle/>
                    <a:p>
                      <a:pPr marR="539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CO5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Raavi"/>
                        </a:rPr>
                        <a:t>To provide problem solving experience and learning of concepts through it in semiconductor physics.</a:t>
                      </a:r>
                      <a:endParaRPr lang="en-US" sz="1400" dirty="0">
                        <a:latin typeface="Calibri"/>
                        <a:cs typeface="Raav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3111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Raavi"/>
                        </a:rPr>
                        <a:t>HARD</a:t>
                      </a:r>
                      <a:endParaRPr lang="en-US" sz="1400" dirty="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99364039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2E5EA36-20D2-4DE4-BBC5-F5A55DBA5C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247" y="2368915"/>
            <a:ext cx="5080000" cy="2667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="" xmlns:p14="http://schemas.microsoft.com/office/powerpoint/2010/main" val="390169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Content</a:t>
            </a:r>
            <a:r>
              <a:rPr lang="en-US" b="1" dirty="0" smtClean="0">
                <a:latin typeface="Casper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Casper"/>
              </a:rPr>
              <a:t>  </a:t>
            </a:r>
            <a:endParaRPr lang="en-US" b="1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 to </a:t>
            </a:r>
            <a:r>
              <a:rPr lang="en-US" dirty="0" smtClean="0"/>
              <a:t>Photoconductor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Photoconductor Construction &amp; Working Principle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/>
              <a:t>Photoconductor Working</a:t>
            </a:r>
            <a:endParaRPr lang="en-IN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Advantages and Disadvantages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What is the use of a Photoconductor</a:t>
            </a:r>
            <a:r>
              <a:rPr lang="en-US" dirty="0" smtClean="0"/>
              <a:t>?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 to Photo resistor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 photo resistor works?</a:t>
            </a:r>
            <a:endParaRPr lang="en-IN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Photo resistors classification </a:t>
            </a: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Applications of photo resistors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Advantages and disadvantages of photo resistor</a:t>
            </a:r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2370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IN" sz="3600" b="1" dirty="0" smtClean="0">
                <a:latin typeface="Times New Roman" pitchFamily="18" charset="0"/>
                <a:cs typeface="Times New Roman" pitchFamily="18" charset="0"/>
              </a:rPr>
              <a:t>What is a Photoconductor 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1655810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 photoconductor or Photoconductivity is an electrical &amp; optical phenomenon where a material turns into conductive more electrically because of the electromagnetic radiation absorption like infrared light, ultraviolet light, visible light, or gamma radiation. </a:t>
            </a:r>
          </a:p>
          <a:p>
            <a:pPr algn="just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Once a semiconductor material absorbs light, then the number of charge carriers &amp; also its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electrical conductivity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 will be increased.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Photoconductor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0494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photoconductor includes a light-sensitive material that is arranged in a long strip zigzag form across a base that is in a disc shape. The connecting terminals are fixed to the conducting material on every side of the strip. So, the light-sensitive material is a wide strip in between the two conductors and a transparent plastic cover is used for its protection. </a:t>
            </a:r>
          </a:p>
          <a:p>
            <a:pPr algn="just">
              <a:buNone/>
            </a:pPr>
            <a:endParaRPr lang="en-US" sz="2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28002" name="AutoShape 2" descr="Is the symbol of resistance and resistor the same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004" name="AutoShape 4" descr="Is the symbol of resistance and resistor the same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898571" y="5969725"/>
            <a:ext cx="2252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Fig.1  photoconductor</a:t>
            </a:r>
          </a:p>
          <a:p>
            <a:endParaRPr lang="en-US" dirty="0"/>
          </a:p>
        </p:txBody>
      </p:sp>
      <p:pic>
        <p:nvPicPr>
          <p:cNvPr id="12" name="Picture 11" descr="Photoconductor Construction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95788" y="3989479"/>
            <a:ext cx="248602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Photoconductor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6619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Once the light ray strikes the surface of a photoconductive material then it provides enough energy to cause electrons in the material to move away from their atoms. </a:t>
            </a:r>
          </a:p>
          <a:p>
            <a:pPr algn="just"/>
            <a:r>
              <a:rPr lang="en-US" dirty="0" smtClean="0"/>
              <a:t>Therefore, free charge carriers like holes &amp; electrons can be created within the material, its resistance will be decreased. So this is called the Photoconductive effect.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263" y="1564368"/>
            <a:ext cx="10160726" cy="4351338"/>
          </a:xfrm>
        </p:spPr>
        <p:txBody>
          <a:bodyPr>
            <a:normAutofit/>
          </a:bodyPr>
          <a:lstStyle/>
          <a:p>
            <a:r>
              <a:rPr lang="en-US" b="1" dirty="0" smtClean="0"/>
              <a:t> The advantages of a photoconductor include the following.</a:t>
            </a:r>
            <a:endParaRPr lang="en-US" dirty="0" smtClean="0"/>
          </a:p>
          <a:p>
            <a:pPr lvl="0"/>
            <a:r>
              <a:rPr lang="en-US" dirty="0" smtClean="0"/>
              <a:t>It mainly depends on the light, so its resistance will be decreased once light drops on it &amp; enhances in the dark.</a:t>
            </a:r>
          </a:p>
          <a:p>
            <a:pPr lvl="0"/>
            <a:r>
              <a:rPr lang="en-US" dirty="0" smtClean="0"/>
              <a:t>These are cheap &amp; available in different sizes &amp; shapes</a:t>
            </a:r>
          </a:p>
          <a:p>
            <a:pPr lvl="0"/>
            <a:r>
              <a:rPr lang="en-US" dirty="0" smtClean="0"/>
              <a:t>They need less power &amp; voltage for their operation.</a:t>
            </a:r>
          </a:p>
          <a:p>
            <a:pPr lvl="0"/>
            <a:r>
              <a:rPr lang="en-US" dirty="0" smtClean="0"/>
              <a:t>These are used to make simple circuits</a:t>
            </a:r>
          </a:p>
          <a:p>
            <a:pPr algn="just"/>
            <a:endParaRPr lang="en-US" sz="2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073" y="1551305"/>
            <a:ext cx="9847217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 smtClean="0"/>
              <a:t>These are less responsive as compared to phototransistors or photodiodes.</a:t>
            </a:r>
          </a:p>
          <a:p>
            <a:pPr lvl="0"/>
            <a:r>
              <a:rPr lang="en-US" dirty="0" smtClean="0"/>
              <a:t>When the Cadmium sulfide (</a:t>
            </a:r>
            <a:r>
              <a:rPr lang="en-US" dirty="0" err="1" smtClean="0"/>
              <a:t>CdS</a:t>
            </a:r>
            <a:r>
              <a:rPr lang="en-US" dirty="0" smtClean="0"/>
              <a:t>) is used in the construction of a </a:t>
            </a:r>
            <a:r>
              <a:rPr lang="en-US" dirty="0" err="1" smtClean="0"/>
              <a:t>photoresistor</a:t>
            </a:r>
            <a:r>
              <a:rPr lang="en-US" dirty="0" smtClean="0"/>
              <a:t>, then it is dangerous to the atmosphere. Therefore they are accessible simply in preferred countries.</a:t>
            </a:r>
          </a:p>
          <a:p>
            <a:pPr lvl="0"/>
            <a:r>
              <a:rPr lang="en-US" dirty="0" smtClean="0"/>
              <a:t>Once applied voltage increases the maximum voltage then it will cause damage to the photoconductor.</a:t>
            </a:r>
          </a:p>
          <a:p>
            <a:pPr lvl="0"/>
            <a:r>
              <a:rPr lang="en-US" dirty="0" smtClean="0"/>
              <a:t>Its response time is very slow like 10sec or 100 milliseconds.</a:t>
            </a:r>
          </a:p>
          <a:p>
            <a:pPr lvl="0"/>
            <a:r>
              <a:rPr lang="en-US" dirty="0" smtClean="0"/>
              <a:t>It is sensitive to temperature</a:t>
            </a:r>
          </a:p>
          <a:p>
            <a:pPr lvl="0"/>
            <a:r>
              <a:rPr lang="en-US" dirty="0" smtClean="0"/>
              <a:t>These characteristics are nonlinear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753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What is the use of a Photoconductor?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Photoconductors are used in some practical applications like the following.</a:t>
            </a:r>
          </a:p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Photo-diode</a:t>
            </a:r>
          </a:p>
          <a:p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Photoresistor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Photoconductors are used for X-Ray image detectors</a:t>
            </a:r>
          </a:p>
          <a:p>
            <a:pPr lvl="0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These are used for relay control</a:t>
            </a:r>
          </a:p>
          <a:p>
            <a:pPr lvl="0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These are used to switch on &amp; off transistors.</a:t>
            </a:r>
          </a:p>
          <a:p>
            <a:pPr lvl="0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These can be used with an op-amp-based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Schmitt trigger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 circuit.</a:t>
            </a:r>
          </a:p>
          <a:p>
            <a:pPr lvl="0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These are used to control the level of current flow within an LED.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IN" sz="3600" b="1" dirty="0" smtClean="0">
                <a:latin typeface="Times New Roman" pitchFamily="18" charset="0"/>
                <a:cs typeface="Times New Roman" pitchFamily="18" charset="0"/>
              </a:rPr>
              <a:t>Introduction to </a:t>
            </a:r>
            <a:r>
              <a:rPr lang="en-IN" sz="3600" b="1" dirty="0" smtClean="0">
                <a:latin typeface="Times New Roman" pitchFamily="18" charset="0"/>
                <a:cs typeface="Times New Roman" pitchFamily="18" charset="0"/>
              </a:rPr>
              <a:t>Photo resistor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1655810"/>
            <a:ext cx="10515600" cy="4351338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n-US" dirty="0" smtClean="0"/>
              <a:t>The name </a:t>
            </a:r>
            <a:r>
              <a:rPr lang="en-US" dirty="0" smtClean="0"/>
              <a:t>photo resistor </a:t>
            </a:r>
            <a:r>
              <a:rPr lang="en-US" dirty="0" smtClean="0"/>
              <a:t>is the combination of words: photon (light particles) and resistor. A </a:t>
            </a:r>
            <a:r>
              <a:rPr lang="en-US" dirty="0" smtClean="0"/>
              <a:t>photo resistor </a:t>
            </a:r>
            <a:r>
              <a:rPr lang="en-US" dirty="0" smtClean="0"/>
              <a:t>is a type of resistor whose resistance decreases when the intensity of light increases. In other words, the flow of electric current through the </a:t>
            </a:r>
            <a:r>
              <a:rPr lang="en-US" dirty="0" smtClean="0"/>
              <a:t>photo resistor </a:t>
            </a:r>
            <a:r>
              <a:rPr lang="en-US" dirty="0" smtClean="0"/>
              <a:t>increases when the intensity of light increases.</a:t>
            </a:r>
          </a:p>
          <a:p>
            <a:pPr marL="342900" indent="-342900" algn="just"/>
            <a:r>
              <a:rPr lang="en-US" dirty="0" smtClean="0"/>
              <a:t>Photo resistors </a:t>
            </a:r>
            <a:r>
              <a:rPr lang="en-US" dirty="0" smtClean="0"/>
              <a:t>are also sometimes referred as LDR (Light Dependent Resistor), semiconductor </a:t>
            </a:r>
            <a:r>
              <a:rPr lang="en-US" dirty="0" smtClean="0"/>
              <a:t>photo resistor</a:t>
            </a:r>
            <a:r>
              <a:rPr lang="en-US" dirty="0" smtClean="0"/>
              <a:t>, photoconductor, or photocell. </a:t>
            </a:r>
            <a:r>
              <a:rPr lang="en-US" dirty="0" smtClean="0"/>
              <a:t>Photo  resistor </a:t>
            </a:r>
            <a:r>
              <a:rPr lang="en-US" dirty="0" smtClean="0"/>
              <a:t>changes its resistance only when it is exposed to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How </a:t>
            </a:r>
            <a:r>
              <a:rPr lang="en-US" b="1" dirty="0" smtClean="0"/>
              <a:t>photo resistor </a:t>
            </a:r>
            <a:r>
              <a:rPr lang="en-US" b="1" dirty="0" smtClean="0"/>
              <a:t>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049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When the light falls on the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photo resistor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some of the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valence electrons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 absorbs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energy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from the light and breaks the bonding with the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atoms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The valence electrons, which break the bonding with the atoms, are called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5"/>
              </a:rPr>
              <a:t>free electrons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>
              <a:buNone/>
            </a:pPr>
            <a:endParaRPr lang="en-US" sz="2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28002" name="AutoShape 2" descr="Is the symbol of resistance and resistor the same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004" name="AutoShape 4" descr="Is the symbol of resistance and resistor the same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898571" y="5969725"/>
            <a:ext cx="1994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Fig.1  </a:t>
            </a:r>
            <a:r>
              <a:rPr lang="en-US" dirty="0" err="1" smtClean="0"/>
              <a:t>photoresistor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" name="Picture 9" descr="A photoresistor is a type of resistor whose resistance decreases when the intensity of light increases. 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06239" y="3500846"/>
            <a:ext cx="5143500" cy="1758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Types of </a:t>
            </a:r>
            <a:r>
              <a:rPr lang="en-US" b="1" dirty="0" smtClean="0"/>
              <a:t>Photo resistors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6619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Photo resistors </a:t>
            </a:r>
            <a:r>
              <a:rPr lang="en-US" dirty="0" smtClean="0"/>
              <a:t>are classified into two types based on the material used to construct them:</a:t>
            </a:r>
          </a:p>
          <a:p>
            <a:pPr lvl="0"/>
            <a:r>
              <a:rPr lang="en-US" dirty="0" smtClean="0"/>
              <a:t>Intrinsic </a:t>
            </a:r>
            <a:r>
              <a:rPr lang="en-US" dirty="0" smtClean="0"/>
              <a:t>photo resistor</a:t>
            </a:r>
            <a:endParaRPr lang="en-US" dirty="0" smtClean="0"/>
          </a:p>
          <a:p>
            <a:pPr lvl="0"/>
            <a:r>
              <a:rPr lang="en-US" dirty="0" smtClean="0"/>
              <a:t>Extrinsic </a:t>
            </a:r>
            <a:r>
              <a:rPr lang="en-US" dirty="0" smtClean="0"/>
              <a:t>photo resistor</a:t>
            </a:r>
            <a:endParaRPr lang="en-US" dirty="0" smtClean="0"/>
          </a:p>
          <a:p>
            <a:pPr lvl="0"/>
            <a:r>
              <a:rPr lang="en-US" dirty="0" smtClean="0"/>
              <a:t>Intrinsic </a:t>
            </a:r>
            <a:r>
              <a:rPr lang="en-US" dirty="0" smtClean="0"/>
              <a:t>photo resistor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Advantages and disadvantages of </a:t>
            </a:r>
            <a:r>
              <a:rPr lang="en-US" b="1" dirty="0" err="1" smtClean="0"/>
              <a:t>photoresistor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073" y="1551305"/>
            <a:ext cx="9847217" cy="4351338"/>
          </a:xfrm>
        </p:spPr>
        <p:txBody>
          <a:bodyPr>
            <a:normAutofit/>
          </a:bodyPr>
          <a:lstStyle/>
          <a:p>
            <a:r>
              <a:rPr lang="en-US" b="1" dirty="0" smtClean="0"/>
              <a:t>Advantages of </a:t>
            </a:r>
            <a:r>
              <a:rPr lang="en-US" b="1" dirty="0" err="1" smtClean="0"/>
              <a:t>photoresistor</a:t>
            </a:r>
            <a:endParaRPr lang="en-US" dirty="0" smtClean="0"/>
          </a:p>
          <a:p>
            <a:pPr lvl="0"/>
            <a:r>
              <a:rPr lang="en-US" dirty="0" smtClean="0"/>
              <a:t>Small in size</a:t>
            </a:r>
          </a:p>
          <a:p>
            <a:pPr lvl="0"/>
            <a:r>
              <a:rPr lang="en-US" dirty="0" smtClean="0"/>
              <a:t>Low cost</a:t>
            </a:r>
          </a:p>
          <a:p>
            <a:pPr lvl="0"/>
            <a:r>
              <a:rPr lang="en-US" dirty="0" smtClean="0"/>
              <a:t>It is easy to carry from one place to another place.</a:t>
            </a:r>
          </a:p>
          <a:p>
            <a:r>
              <a:rPr lang="en-US" b="1" dirty="0" smtClean="0"/>
              <a:t>Disadvantages of </a:t>
            </a:r>
            <a:r>
              <a:rPr lang="en-US" b="1" dirty="0" err="1" smtClean="0"/>
              <a:t>photoresistor</a:t>
            </a:r>
            <a:endParaRPr lang="en-US" dirty="0" smtClean="0"/>
          </a:p>
          <a:p>
            <a:pPr lvl="0"/>
            <a:r>
              <a:rPr lang="en-US" dirty="0" smtClean="0"/>
              <a:t>The accuracy of </a:t>
            </a:r>
            <a:r>
              <a:rPr lang="en-US" dirty="0" err="1" smtClean="0"/>
              <a:t>photoresistor</a:t>
            </a:r>
            <a:r>
              <a:rPr lang="en-US" dirty="0" smtClean="0"/>
              <a:t> is very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753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0E2DCEFA-CE10-41FF-AD08-D8937F9F8661}"/>
  <p:tag name="ISPRING_RESOURCE_FOLDER" val="D:\BEEE 2021 ODD SEM\Theory\UNIT-1\PPTS\Lecture 1\"/>
  <p:tag name="ISPRING_PRESENTATION_PATH" val="D:\BEEE 2021 ODD SEM\Theory\UNIT-1\PPTS\Lecture 1.pptx"/>
  <p:tag name="ISPRING_PROJECT_VERSION" val="9.32"/>
  <p:tag name="ISPRING_PROJECT_FOLDER_UPDA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36BF853-1C0E-423B-B089-9C7A2B5C2856}:412"/>
  <p:tag name="AUDIO_ID" val="412"/>
  <p:tag name="ARTICULATE_USED_LAYOUT" val="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2D49604-FA59-40F6-94EB-BC24D15E597E}:370"/>
  <p:tag name="AUDIO_ID" val="370"/>
  <p:tag name="ARTICULATE_USED_LAYOUT" val="8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2293</TotalTime>
  <Words>710</Words>
  <Application>Microsoft Office PowerPoint</Application>
  <PresentationFormat>Custom</PresentationFormat>
  <Paragraphs>116</Paragraphs>
  <Slides>14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1_Office Theme</vt:lpstr>
      <vt:lpstr>Contents Slide Master</vt:lpstr>
      <vt:lpstr>2_Office Theme</vt:lpstr>
      <vt:lpstr>CorelDRAW</vt:lpstr>
      <vt:lpstr>Slide 1</vt:lpstr>
      <vt:lpstr>Course Objectives</vt:lpstr>
      <vt:lpstr>Course Outcomes</vt:lpstr>
      <vt:lpstr>Content   </vt:lpstr>
      <vt:lpstr>What is a Photoconductor </vt:lpstr>
      <vt:lpstr>Photoconductor Construction</vt:lpstr>
      <vt:lpstr>Photoconductor Working</vt:lpstr>
      <vt:lpstr>Advantages</vt:lpstr>
      <vt:lpstr>Disadvantages</vt:lpstr>
      <vt:lpstr>What is the use of a Photoconductor? </vt:lpstr>
      <vt:lpstr>Introduction to Photo resistor</vt:lpstr>
      <vt:lpstr>How photo resistor works?</vt:lpstr>
      <vt:lpstr>Types of Photo resistors </vt:lpstr>
      <vt:lpstr>Advantages and disadvantages of photoresistor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Acer</cp:lastModifiedBy>
  <cp:revision>223</cp:revision>
  <dcterms:created xsi:type="dcterms:W3CDTF">2019-01-09T10:33:58Z</dcterms:created>
  <dcterms:modified xsi:type="dcterms:W3CDTF">2023-06-21T06:24:07Z</dcterms:modified>
</cp:coreProperties>
</file>