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36"/>
  </p:notesMasterIdLst>
  <p:handoutMasterIdLst>
    <p:handoutMasterId r:id="rId37"/>
  </p:handoutMasterIdLst>
  <p:sldIdLst>
    <p:sldId id="354" r:id="rId3"/>
    <p:sldId id="355" r:id="rId4"/>
    <p:sldId id="366" r:id="rId5"/>
    <p:sldId id="367" r:id="rId6"/>
    <p:sldId id="358" r:id="rId7"/>
    <p:sldId id="281" r:id="rId8"/>
    <p:sldId id="328" r:id="rId9"/>
    <p:sldId id="334" r:id="rId10"/>
    <p:sldId id="335" r:id="rId11"/>
    <p:sldId id="336" r:id="rId12"/>
    <p:sldId id="337" r:id="rId13"/>
    <p:sldId id="331" r:id="rId14"/>
    <p:sldId id="343" r:id="rId15"/>
    <p:sldId id="332" r:id="rId16"/>
    <p:sldId id="282" r:id="rId17"/>
    <p:sldId id="361" r:id="rId18"/>
    <p:sldId id="292" r:id="rId19"/>
    <p:sldId id="294" r:id="rId20"/>
    <p:sldId id="341" r:id="rId21"/>
    <p:sldId id="340" r:id="rId22"/>
    <p:sldId id="295" r:id="rId23"/>
    <p:sldId id="339" r:id="rId24"/>
    <p:sldId id="342" r:id="rId25"/>
    <p:sldId id="362" r:id="rId26"/>
    <p:sldId id="350" r:id="rId27"/>
    <p:sldId id="351" r:id="rId28"/>
    <p:sldId id="359" r:id="rId29"/>
    <p:sldId id="360" r:id="rId30"/>
    <p:sldId id="329" r:id="rId31"/>
    <p:sldId id="330" r:id="rId32"/>
    <p:sldId id="352" r:id="rId33"/>
    <p:sldId id="284" r:id="rId34"/>
    <p:sldId id="353" r:id="rId35"/>
  </p:sldIdLst>
  <p:sldSz cx="12192000" cy="6858000"/>
  <p:notesSz cx="6858000" cy="9144000"/>
  <p:custDataLst>
    <p:tags r:id="rId3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6B7B0"/>
    <a:srgbClr val="4BDAE5"/>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21" autoAdjust="0"/>
    <p:restoredTop sz="94291" autoAdjust="0"/>
  </p:normalViewPr>
  <p:slideViewPr>
    <p:cSldViewPr snapToGrid="0">
      <p:cViewPr varScale="1">
        <p:scale>
          <a:sx n="69" d="100"/>
          <a:sy n="69" d="100"/>
        </p:scale>
        <p:origin x="768" y="72"/>
      </p:cViewPr>
      <p:guideLst>
        <p:guide orient="horz" pos="2160"/>
        <p:guide pos="3840"/>
      </p:guideLst>
    </p:cSldViewPr>
  </p:slideViewPr>
  <p:notesTextViewPr>
    <p:cViewPr>
      <p:scale>
        <a:sx n="3" d="2"/>
        <a:sy n="3" d="2"/>
      </p:scale>
      <p:origin x="0" y="0"/>
    </p:cViewPr>
  </p:notesTextViewPr>
  <p:sorterViewPr>
    <p:cViewPr>
      <p:scale>
        <a:sx n="100" d="100"/>
        <a:sy n="100" d="100"/>
      </p:scale>
      <p:origin x="0" y="-132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presProps" Target="presProps.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handoutMaster" Target="handoutMasters/handoutMaster1.xml"/><Relationship Id="rId40"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ags" Target="tags/tag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30D818A-DE61-492C-9F49-4330F19690E3}" type="doc">
      <dgm:prSet loTypeId="urn:microsoft.com/office/officeart/2005/8/layout/default" loCatId="list" qsTypeId="urn:microsoft.com/office/officeart/2005/8/quickstyle/simple1" qsCatId="simple" csTypeId="urn:microsoft.com/office/officeart/2005/8/colors/colorful1" csCatId="colorful" phldr="1"/>
      <dgm:spPr/>
      <dgm:t>
        <a:bodyPr/>
        <a:lstStyle/>
        <a:p>
          <a:endParaRPr lang="en-IN"/>
        </a:p>
      </dgm:t>
    </dgm:pt>
    <dgm:pt modelId="{72067E99-1C3B-406E-B0E9-FC347F914FA8}">
      <dgm:prSet phldrT="[Text]" custT="1"/>
      <dgm:spPr/>
      <dgm:t>
        <a:bodyPr/>
        <a:lstStyle/>
        <a:p>
          <a:r>
            <a:rPr lang="en-US" sz="2400" b="1" dirty="0">
              <a:solidFill>
                <a:schemeClr val="bg2">
                  <a:lumMod val="10000"/>
                </a:schemeClr>
              </a:solidFill>
            </a:rPr>
            <a:t>In this lecture we have discussed about programming languages, need of programming language.</a:t>
          </a:r>
          <a:endParaRPr lang="en-IN" sz="2400" b="1" dirty="0">
            <a:solidFill>
              <a:schemeClr val="bg2">
                <a:lumMod val="10000"/>
              </a:schemeClr>
            </a:solidFill>
          </a:endParaRPr>
        </a:p>
      </dgm:t>
    </dgm:pt>
    <dgm:pt modelId="{E295694A-E3FF-4E4D-B786-E47583760C4E}" type="parTrans" cxnId="{AAE49CDE-EE1C-4041-8DCB-69A3B80087AD}">
      <dgm:prSet/>
      <dgm:spPr/>
      <dgm:t>
        <a:bodyPr/>
        <a:lstStyle/>
        <a:p>
          <a:endParaRPr lang="en-IN"/>
        </a:p>
      </dgm:t>
    </dgm:pt>
    <dgm:pt modelId="{E2FCE763-C2C6-41BB-BE42-2FC9B40C0439}" type="sibTrans" cxnId="{AAE49CDE-EE1C-4041-8DCB-69A3B80087AD}">
      <dgm:prSet/>
      <dgm:spPr/>
      <dgm:t>
        <a:bodyPr/>
        <a:lstStyle/>
        <a:p>
          <a:endParaRPr lang="en-IN"/>
        </a:p>
      </dgm:t>
    </dgm:pt>
    <dgm:pt modelId="{A7DE4063-2DA9-4CA0-9DDC-11769B7332D8}">
      <dgm:prSet phldrT="[Text]" custT="1"/>
      <dgm:spPr/>
      <dgm:t>
        <a:bodyPr/>
        <a:lstStyle/>
        <a:p>
          <a:r>
            <a:rPr lang="en-US" sz="2400" b="1" dirty="0">
              <a:solidFill>
                <a:schemeClr val="bg2">
                  <a:lumMod val="10000"/>
                </a:schemeClr>
              </a:solidFill>
            </a:rPr>
            <a:t>We have discussed about c programming language , covered some features of C and language translators.</a:t>
          </a:r>
          <a:endParaRPr lang="en-IN" sz="2400" b="1" dirty="0">
            <a:solidFill>
              <a:schemeClr val="bg2">
                <a:lumMod val="10000"/>
              </a:schemeClr>
            </a:solidFill>
          </a:endParaRPr>
        </a:p>
      </dgm:t>
    </dgm:pt>
    <dgm:pt modelId="{ED3D644F-FD3E-48AA-A0DA-12CED9DB591C}" type="parTrans" cxnId="{CB715DCB-B8A2-400C-A562-D0851701E2C1}">
      <dgm:prSet/>
      <dgm:spPr/>
      <dgm:t>
        <a:bodyPr/>
        <a:lstStyle/>
        <a:p>
          <a:endParaRPr lang="en-IN"/>
        </a:p>
      </dgm:t>
    </dgm:pt>
    <dgm:pt modelId="{EA51BD59-3F69-42AA-902C-6B9694E16D92}" type="sibTrans" cxnId="{CB715DCB-B8A2-400C-A562-D0851701E2C1}">
      <dgm:prSet/>
      <dgm:spPr/>
      <dgm:t>
        <a:bodyPr/>
        <a:lstStyle/>
        <a:p>
          <a:endParaRPr lang="en-IN"/>
        </a:p>
      </dgm:t>
    </dgm:pt>
    <dgm:pt modelId="{0621545F-95F6-44EB-825F-83C24ABAE76E}">
      <dgm:prSet phldrT="[Text]" custT="1"/>
      <dgm:spPr/>
      <dgm:t>
        <a:bodyPr/>
        <a:lstStyle/>
        <a:p>
          <a:r>
            <a:rPr lang="en-US" sz="2400" b="1" dirty="0">
              <a:solidFill>
                <a:schemeClr val="tx1">
                  <a:lumMod val="95000"/>
                  <a:lumOff val="5000"/>
                </a:schemeClr>
              </a:solidFill>
            </a:rPr>
            <a:t>Moreover we have learnt about algorithms , need of algorithms in programming and we have designed some algorithms</a:t>
          </a:r>
          <a:endParaRPr lang="en-IN" sz="2400" b="1" dirty="0">
            <a:solidFill>
              <a:schemeClr val="tx1">
                <a:lumMod val="95000"/>
                <a:lumOff val="5000"/>
              </a:schemeClr>
            </a:solidFill>
          </a:endParaRPr>
        </a:p>
      </dgm:t>
    </dgm:pt>
    <dgm:pt modelId="{0DC4AED1-1C4B-492D-B362-E4F34DA21582}" type="parTrans" cxnId="{57421435-2741-45ED-8B76-658C1BDCB734}">
      <dgm:prSet/>
      <dgm:spPr/>
      <dgm:t>
        <a:bodyPr/>
        <a:lstStyle/>
        <a:p>
          <a:endParaRPr lang="en-IN"/>
        </a:p>
      </dgm:t>
    </dgm:pt>
    <dgm:pt modelId="{93AF2E2B-5524-48E6-96A4-F1B0B555DF04}" type="sibTrans" cxnId="{57421435-2741-45ED-8B76-658C1BDCB734}">
      <dgm:prSet/>
      <dgm:spPr/>
      <dgm:t>
        <a:bodyPr/>
        <a:lstStyle/>
        <a:p>
          <a:endParaRPr lang="en-IN"/>
        </a:p>
      </dgm:t>
    </dgm:pt>
    <dgm:pt modelId="{A01C6F03-8F64-4572-A415-227584B1F1D4}">
      <dgm:prSet custT="1"/>
      <dgm:spPr>
        <a:solidFill>
          <a:schemeClr val="accent1">
            <a:lumMod val="40000"/>
            <a:lumOff val="60000"/>
          </a:schemeClr>
        </a:solidFill>
      </dgm:spPr>
      <dgm:t>
        <a:bodyPr/>
        <a:lstStyle/>
        <a:p>
          <a:r>
            <a:rPr lang="en-US" sz="2400" b="1" dirty="0">
              <a:solidFill>
                <a:schemeClr val="bg2">
                  <a:lumMod val="10000"/>
                </a:schemeClr>
              </a:solidFill>
              <a:sym typeface="Wingdings" panose="05000000000000000000" pitchFamily="2" charset="2"/>
            </a:rPr>
            <a:t>Discussed about advantages ,  disadvantages and applications of algorithm</a:t>
          </a:r>
        </a:p>
      </dgm:t>
    </dgm:pt>
    <dgm:pt modelId="{4DA968A8-0948-417F-9134-FA754EAB92DA}" type="parTrans" cxnId="{9495434F-F7C9-45D7-B8C6-CCE0B7994591}">
      <dgm:prSet/>
      <dgm:spPr/>
      <dgm:t>
        <a:bodyPr/>
        <a:lstStyle/>
        <a:p>
          <a:endParaRPr lang="en-IN"/>
        </a:p>
      </dgm:t>
    </dgm:pt>
    <dgm:pt modelId="{14056E56-91CB-4AD0-BDAA-2A69C7D39824}" type="sibTrans" cxnId="{9495434F-F7C9-45D7-B8C6-CCE0B7994591}">
      <dgm:prSet/>
      <dgm:spPr/>
      <dgm:t>
        <a:bodyPr/>
        <a:lstStyle/>
        <a:p>
          <a:endParaRPr lang="en-IN"/>
        </a:p>
      </dgm:t>
    </dgm:pt>
    <dgm:pt modelId="{097EF926-1259-452F-A448-711C22076917}" type="pres">
      <dgm:prSet presAssocID="{A30D818A-DE61-492C-9F49-4330F19690E3}" presName="diagram" presStyleCnt="0">
        <dgm:presLayoutVars>
          <dgm:dir/>
          <dgm:resizeHandles val="exact"/>
        </dgm:presLayoutVars>
      </dgm:prSet>
      <dgm:spPr/>
      <dgm:t>
        <a:bodyPr/>
        <a:lstStyle/>
        <a:p>
          <a:endParaRPr lang="en-US"/>
        </a:p>
      </dgm:t>
    </dgm:pt>
    <dgm:pt modelId="{2F0A59F6-A053-4340-A4F0-E60DDF039046}" type="pres">
      <dgm:prSet presAssocID="{72067E99-1C3B-406E-B0E9-FC347F914FA8}" presName="node" presStyleLbl="node1" presStyleIdx="0" presStyleCnt="4" custLinFactNeighborX="-5593" custLinFactNeighborY="843">
        <dgm:presLayoutVars>
          <dgm:bulletEnabled val="1"/>
        </dgm:presLayoutVars>
      </dgm:prSet>
      <dgm:spPr/>
      <dgm:t>
        <a:bodyPr/>
        <a:lstStyle/>
        <a:p>
          <a:endParaRPr lang="en-US"/>
        </a:p>
      </dgm:t>
    </dgm:pt>
    <dgm:pt modelId="{B7110241-4B56-449E-BE7E-CE03E41DECBD}" type="pres">
      <dgm:prSet presAssocID="{E2FCE763-C2C6-41BB-BE42-2FC9B40C0439}" presName="sibTrans" presStyleCnt="0"/>
      <dgm:spPr/>
    </dgm:pt>
    <dgm:pt modelId="{DE45F2CF-0A49-462B-B901-AD08FACBBB0E}" type="pres">
      <dgm:prSet presAssocID="{A7DE4063-2DA9-4CA0-9DDC-11769B7332D8}" presName="node" presStyleLbl="node1" presStyleIdx="1" presStyleCnt="4">
        <dgm:presLayoutVars>
          <dgm:bulletEnabled val="1"/>
        </dgm:presLayoutVars>
      </dgm:prSet>
      <dgm:spPr/>
      <dgm:t>
        <a:bodyPr/>
        <a:lstStyle/>
        <a:p>
          <a:endParaRPr lang="en-US"/>
        </a:p>
      </dgm:t>
    </dgm:pt>
    <dgm:pt modelId="{E15D8264-6CE6-4D91-B2D2-1EAC00783183}" type="pres">
      <dgm:prSet presAssocID="{EA51BD59-3F69-42AA-902C-6B9694E16D92}" presName="sibTrans" presStyleCnt="0"/>
      <dgm:spPr/>
    </dgm:pt>
    <dgm:pt modelId="{45C74EF1-9A11-4F71-A1B7-79F2B3452A9C}" type="pres">
      <dgm:prSet presAssocID="{0621545F-95F6-44EB-825F-83C24ABAE76E}" presName="node" presStyleLbl="node1" presStyleIdx="2" presStyleCnt="4" custLinFactNeighborX="229" custLinFactNeighborY="-776">
        <dgm:presLayoutVars>
          <dgm:bulletEnabled val="1"/>
        </dgm:presLayoutVars>
      </dgm:prSet>
      <dgm:spPr/>
      <dgm:t>
        <a:bodyPr/>
        <a:lstStyle/>
        <a:p>
          <a:endParaRPr lang="en-US"/>
        </a:p>
      </dgm:t>
    </dgm:pt>
    <dgm:pt modelId="{0CC0DE93-1BD7-4691-B76E-8B0327162FB5}" type="pres">
      <dgm:prSet presAssocID="{93AF2E2B-5524-48E6-96A4-F1B0B555DF04}" presName="sibTrans" presStyleCnt="0"/>
      <dgm:spPr/>
    </dgm:pt>
    <dgm:pt modelId="{125214B9-F360-433C-AD02-087D02D43A08}" type="pres">
      <dgm:prSet presAssocID="{A01C6F03-8F64-4572-A415-227584B1F1D4}" presName="node" presStyleLbl="node1" presStyleIdx="3" presStyleCnt="4">
        <dgm:presLayoutVars>
          <dgm:bulletEnabled val="1"/>
        </dgm:presLayoutVars>
      </dgm:prSet>
      <dgm:spPr/>
      <dgm:t>
        <a:bodyPr/>
        <a:lstStyle/>
        <a:p>
          <a:endParaRPr lang="en-US"/>
        </a:p>
      </dgm:t>
    </dgm:pt>
  </dgm:ptLst>
  <dgm:cxnLst>
    <dgm:cxn modelId="{9495434F-F7C9-45D7-B8C6-CCE0B7994591}" srcId="{A30D818A-DE61-492C-9F49-4330F19690E3}" destId="{A01C6F03-8F64-4572-A415-227584B1F1D4}" srcOrd="3" destOrd="0" parTransId="{4DA968A8-0948-417F-9134-FA754EAB92DA}" sibTransId="{14056E56-91CB-4AD0-BDAA-2A69C7D39824}"/>
    <dgm:cxn modelId="{CB715DCB-B8A2-400C-A562-D0851701E2C1}" srcId="{A30D818A-DE61-492C-9F49-4330F19690E3}" destId="{A7DE4063-2DA9-4CA0-9DDC-11769B7332D8}" srcOrd="1" destOrd="0" parTransId="{ED3D644F-FD3E-48AA-A0DA-12CED9DB591C}" sibTransId="{EA51BD59-3F69-42AA-902C-6B9694E16D92}"/>
    <dgm:cxn modelId="{7DDA5D15-540F-4782-AC07-9170D87AA5BA}" type="presOf" srcId="{A7DE4063-2DA9-4CA0-9DDC-11769B7332D8}" destId="{DE45F2CF-0A49-462B-B901-AD08FACBBB0E}" srcOrd="0" destOrd="0" presId="urn:microsoft.com/office/officeart/2005/8/layout/default"/>
    <dgm:cxn modelId="{57421435-2741-45ED-8B76-658C1BDCB734}" srcId="{A30D818A-DE61-492C-9F49-4330F19690E3}" destId="{0621545F-95F6-44EB-825F-83C24ABAE76E}" srcOrd="2" destOrd="0" parTransId="{0DC4AED1-1C4B-492D-B362-E4F34DA21582}" sibTransId="{93AF2E2B-5524-48E6-96A4-F1B0B555DF04}"/>
    <dgm:cxn modelId="{537F3816-8AD7-4A36-A251-136F9CB6EDBD}" type="presOf" srcId="{A01C6F03-8F64-4572-A415-227584B1F1D4}" destId="{125214B9-F360-433C-AD02-087D02D43A08}" srcOrd="0" destOrd="0" presId="urn:microsoft.com/office/officeart/2005/8/layout/default"/>
    <dgm:cxn modelId="{D00252CB-9D61-4788-A959-DB99FAB8CBDB}" type="presOf" srcId="{A30D818A-DE61-492C-9F49-4330F19690E3}" destId="{097EF926-1259-452F-A448-711C22076917}" srcOrd="0" destOrd="0" presId="urn:microsoft.com/office/officeart/2005/8/layout/default"/>
    <dgm:cxn modelId="{AAE49CDE-EE1C-4041-8DCB-69A3B80087AD}" srcId="{A30D818A-DE61-492C-9F49-4330F19690E3}" destId="{72067E99-1C3B-406E-B0E9-FC347F914FA8}" srcOrd="0" destOrd="0" parTransId="{E295694A-E3FF-4E4D-B786-E47583760C4E}" sibTransId="{E2FCE763-C2C6-41BB-BE42-2FC9B40C0439}"/>
    <dgm:cxn modelId="{FB907561-3042-443C-9925-0235425570A1}" type="presOf" srcId="{0621545F-95F6-44EB-825F-83C24ABAE76E}" destId="{45C74EF1-9A11-4F71-A1B7-79F2B3452A9C}" srcOrd="0" destOrd="0" presId="urn:microsoft.com/office/officeart/2005/8/layout/default"/>
    <dgm:cxn modelId="{ECCE3782-0BA7-4D11-9D3C-49385FC334F5}" type="presOf" srcId="{72067E99-1C3B-406E-B0E9-FC347F914FA8}" destId="{2F0A59F6-A053-4340-A4F0-E60DDF039046}" srcOrd="0" destOrd="0" presId="urn:microsoft.com/office/officeart/2005/8/layout/default"/>
    <dgm:cxn modelId="{699A32D2-8395-47D4-BE2B-5B8EF202D093}" type="presParOf" srcId="{097EF926-1259-452F-A448-711C22076917}" destId="{2F0A59F6-A053-4340-A4F0-E60DDF039046}" srcOrd="0" destOrd="0" presId="urn:microsoft.com/office/officeart/2005/8/layout/default"/>
    <dgm:cxn modelId="{02491696-24B3-49AC-8F8C-9C3FB5FD4A79}" type="presParOf" srcId="{097EF926-1259-452F-A448-711C22076917}" destId="{B7110241-4B56-449E-BE7E-CE03E41DECBD}" srcOrd="1" destOrd="0" presId="urn:microsoft.com/office/officeart/2005/8/layout/default"/>
    <dgm:cxn modelId="{74690019-F115-4FDC-B1CB-756CF730DB81}" type="presParOf" srcId="{097EF926-1259-452F-A448-711C22076917}" destId="{DE45F2CF-0A49-462B-B901-AD08FACBBB0E}" srcOrd="2" destOrd="0" presId="urn:microsoft.com/office/officeart/2005/8/layout/default"/>
    <dgm:cxn modelId="{5AB02E86-EE83-4357-B54B-6448622334B5}" type="presParOf" srcId="{097EF926-1259-452F-A448-711C22076917}" destId="{E15D8264-6CE6-4D91-B2D2-1EAC00783183}" srcOrd="3" destOrd="0" presId="urn:microsoft.com/office/officeart/2005/8/layout/default"/>
    <dgm:cxn modelId="{5E671BA3-C945-46E3-8A16-A759A8BB1E41}" type="presParOf" srcId="{097EF926-1259-452F-A448-711C22076917}" destId="{45C74EF1-9A11-4F71-A1B7-79F2B3452A9C}" srcOrd="4" destOrd="0" presId="urn:microsoft.com/office/officeart/2005/8/layout/default"/>
    <dgm:cxn modelId="{83814BDA-AC59-4D7F-A37F-B0624856D23C}" type="presParOf" srcId="{097EF926-1259-452F-A448-711C22076917}" destId="{0CC0DE93-1BD7-4691-B76E-8B0327162FB5}" srcOrd="5" destOrd="0" presId="urn:microsoft.com/office/officeart/2005/8/layout/default"/>
    <dgm:cxn modelId="{CEF43F2E-179B-44AB-B9A4-9CF127E089EE}" type="presParOf" srcId="{097EF926-1259-452F-A448-711C22076917}" destId="{125214B9-F360-433C-AD02-087D02D43A08}" srcOrd="6"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0A59F6-A053-4340-A4F0-E60DDF039046}">
      <dsp:nvSpPr>
        <dsp:cNvPr id="0" name=""/>
        <dsp:cNvSpPr/>
      </dsp:nvSpPr>
      <dsp:spPr>
        <a:xfrm>
          <a:off x="0" y="22329"/>
          <a:ext cx="4166272" cy="2499763"/>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1" kern="1200" dirty="0">
              <a:solidFill>
                <a:schemeClr val="bg2">
                  <a:lumMod val="10000"/>
                </a:schemeClr>
              </a:solidFill>
            </a:rPr>
            <a:t>In this lecture we have discussed about programming languages, need of programming language.</a:t>
          </a:r>
          <a:endParaRPr lang="en-IN" sz="2400" b="1" kern="1200" dirty="0">
            <a:solidFill>
              <a:schemeClr val="bg2">
                <a:lumMod val="10000"/>
              </a:schemeClr>
            </a:solidFill>
          </a:endParaRPr>
        </a:p>
      </dsp:txBody>
      <dsp:txXfrm>
        <a:off x="0" y="22329"/>
        <a:ext cx="4166272" cy="2499763"/>
      </dsp:txXfrm>
    </dsp:sp>
    <dsp:sp modelId="{DE45F2CF-0A49-462B-B901-AD08FACBBB0E}">
      <dsp:nvSpPr>
        <dsp:cNvPr id="0" name=""/>
        <dsp:cNvSpPr/>
      </dsp:nvSpPr>
      <dsp:spPr>
        <a:xfrm>
          <a:off x="4656972" y="1256"/>
          <a:ext cx="4166272" cy="2499763"/>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1" kern="1200" dirty="0">
              <a:solidFill>
                <a:schemeClr val="bg2">
                  <a:lumMod val="10000"/>
                </a:schemeClr>
              </a:solidFill>
            </a:rPr>
            <a:t>We have discussed about c programming language , covered some features of C and language translators.</a:t>
          </a:r>
          <a:endParaRPr lang="en-IN" sz="2400" b="1" kern="1200" dirty="0">
            <a:solidFill>
              <a:schemeClr val="bg2">
                <a:lumMod val="10000"/>
              </a:schemeClr>
            </a:solidFill>
          </a:endParaRPr>
        </a:p>
      </dsp:txBody>
      <dsp:txXfrm>
        <a:off x="4656972" y="1256"/>
        <a:ext cx="4166272" cy="2499763"/>
      </dsp:txXfrm>
    </dsp:sp>
    <dsp:sp modelId="{45C74EF1-9A11-4F71-A1B7-79F2B3452A9C}">
      <dsp:nvSpPr>
        <dsp:cNvPr id="0" name=""/>
        <dsp:cNvSpPr/>
      </dsp:nvSpPr>
      <dsp:spPr>
        <a:xfrm>
          <a:off x="83612" y="2898248"/>
          <a:ext cx="4166272" cy="2499763"/>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1" kern="1200" dirty="0">
              <a:solidFill>
                <a:schemeClr val="tx1">
                  <a:lumMod val="95000"/>
                  <a:lumOff val="5000"/>
                </a:schemeClr>
              </a:solidFill>
            </a:rPr>
            <a:t>Moreover we have learnt about algorithms , need of algorithms in programming and we have designed some algorithms</a:t>
          </a:r>
          <a:endParaRPr lang="en-IN" sz="2400" b="1" kern="1200" dirty="0">
            <a:solidFill>
              <a:schemeClr val="tx1">
                <a:lumMod val="95000"/>
                <a:lumOff val="5000"/>
              </a:schemeClr>
            </a:solidFill>
          </a:endParaRPr>
        </a:p>
      </dsp:txBody>
      <dsp:txXfrm>
        <a:off x="83612" y="2898248"/>
        <a:ext cx="4166272" cy="2499763"/>
      </dsp:txXfrm>
    </dsp:sp>
    <dsp:sp modelId="{125214B9-F360-433C-AD02-087D02D43A08}">
      <dsp:nvSpPr>
        <dsp:cNvPr id="0" name=""/>
        <dsp:cNvSpPr/>
      </dsp:nvSpPr>
      <dsp:spPr>
        <a:xfrm>
          <a:off x="4656972" y="2917647"/>
          <a:ext cx="4166272" cy="2499763"/>
        </a:xfrm>
        <a:prstGeom prst="rect">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1" kern="1200" dirty="0">
              <a:solidFill>
                <a:schemeClr val="bg2">
                  <a:lumMod val="10000"/>
                </a:schemeClr>
              </a:solidFill>
              <a:sym typeface="Wingdings" panose="05000000000000000000" pitchFamily="2" charset="2"/>
            </a:rPr>
            <a:t>Discussed about advantages ,  disadvantages and applications of algorithm</a:t>
          </a:r>
        </a:p>
      </dsp:txBody>
      <dsp:txXfrm>
        <a:off x="4656972" y="2917647"/>
        <a:ext cx="4166272" cy="2499763"/>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6/1/2023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6/1/2023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a:t>
            </a:fld>
            <a:endParaRPr lang="en-US"/>
          </a:p>
        </p:txBody>
      </p:sp>
    </p:spTree>
    <p:extLst>
      <p:ext uri="{BB962C8B-B14F-4D97-AF65-F5344CB8AC3E}">
        <p14:creationId xmlns:p14="http://schemas.microsoft.com/office/powerpoint/2010/main" val="21521072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a:t>
            </a:fld>
            <a:endParaRPr lang="en-US"/>
          </a:p>
        </p:txBody>
      </p:sp>
    </p:spTree>
    <p:extLst>
      <p:ext uri="{BB962C8B-B14F-4D97-AF65-F5344CB8AC3E}">
        <p14:creationId xmlns:p14="http://schemas.microsoft.com/office/powerpoint/2010/main" val="19805665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3</a:t>
            </a:fld>
            <a:endParaRPr lang="en-US"/>
          </a:p>
        </p:txBody>
      </p:sp>
    </p:spTree>
    <p:extLst>
      <p:ext uri="{BB962C8B-B14F-4D97-AF65-F5344CB8AC3E}">
        <p14:creationId xmlns:p14="http://schemas.microsoft.com/office/powerpoint/2010/main" val="9712183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4</a:t>
            </a:fld>
            <a:endParaRPr lang="en-US"/>
          </a:p>
        </p:txBody>
      </p:sp>
    </p:spTree>
    <p:extLst>
      <p:ext uri="{BB962C8B-B14F-4D97-AF65-F5344CB8AC3E}">
        <p14:creationId xmlns:p14="http://schemas.microsoft.com/office/powerpoint/2010/main" val="6330304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5</a:t>
            </a:fld>
            <a:endParaRPr lang="en-US"/>
          </a:p>
        </p:txBody>
      </p:sp>
    </p:spTree>
    <p:extLst>
      <p:ext uri="{BB962C8B-B14F-4D97-AF65-F5344CB8AC3E}">
        <p14:creationId xmlns:p14="http://schemas.microsoft.com/office/powerpoint/2010/main" val="40741595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Computer in the diagram is 3</a:t>
            </a:r>
            <a:r>
              <a:rPr lang="en-US" baseline="30000" dirty="0"/>
              <a:t>rd</a:t>
            </a:r>
            <a:r>
              <a:rPr lang="en-US" dirty="0"/>
              <a:t> generation</a:t>
            </a:r>
            <a:r>
              <a:rPr lang="en-US" baseline="0" dirty="0"/>
              <a:t> computer. The period of third generation was from 1965-1971. The computers of third generation used Integrated Circuits (ICs) in place of transistors. A single IC has many transistors, resistors, and capacitors along with the associated circuitry. The main features of third generation are −</a:t>
            </a:r>
          </a:p>
          <a:p>
            <a:r>
              <a:rPr lang="en-US" baseline="0" dirty="0"/>
              <a:t>IC used</a:t>
            </a:r>
          </a:p>
          <a:p>
            <a:r>
              <a:rPr lang="en-US" baseline="0" dirty="0"/>
              <a:t>More reliable in comparison to previous two generations</a:t>
            </a:r>
          </a:p>
          <a:p>
            <a:r>
              <a:rPr lang="en-US" baseline="0" dirty="0"/>
              <a:t>Smaller size</a:t>
            </a:r>
          </a:p>
          <a:p>
            <a:r>
              <a:rPr lang="en-US" baseline="0" dirty="0"/>
              <a:t>Generated less heat</a:t>
            </a:r>
          </a:p>
          <a:p>
            <a:r>
              <a:rPr lang="en-US" baseline="0" dirty="0"/>
              <a:t>Faster</a:t>
            </a:r>
          </a:p>
          <a:p>
            <a:r>
              <a:rPr lang="en-US" baseline="0" dirty="0"/>
              <a:t>Lesser maintenance</a:t>
            </a:r>
          </a:p>
          <a:p>
            <a:r>
              <a:rPr lang="en-US" baseline="0" dirty="0"/>
              <a:t>Costly</a:t>
            </a:r>
          </a:p>
          <a:p>
            <a:r>
              <a:rPr lang="en-US" baseline="0" dirty="0"/>
              <a:t>AC required</a:t>
            </a:r>
          </a:p>
          <a:p>
            <a:r>
              <a:rPr lang="en-US" baseline="0" dirty="0"/>
              <a:t>Consumed lesser electricity</a:t>
            </a:r>
          </a:p>
          <a:p>
            <a:r>
              <a:rPr lang="en-US" baseline="0" dirty="0"/>
              <a:t>Supported high-level language</a:t>
            </a:r>
            <a:endParaRPr lang="en-US" dirty="0"/>
          </a:p>
        </p:txBody>
      </p:sp>
      <p:sp>
        <p:nvSpPr>
          <p:cNvPr id="4" name="Slide Number Placeholder 3"/>
          <p:cNvSpPr>
            <a:spLocks noGrp="1"/>
          </p:cNvSpPr>
          <p:nvPr>
            <p:ph type="sldNum" sz="quarter" idx="10"/>
          </p:nvPr>
        </p:nvSpPr>
        <p:spPr/>
        <p:txBody>
          <a:bodyPr/>
          <a:lstStyle/>
          <a:p>
            <a:fld id="{60732FBC-CC67-4B17-8935-02F23E3364AC}" type="slidenum">
              <a:rPr lang="en-US" smtClean="0"/>
              <a:pPr/>
              <a:t>6</a:t>
            </a:fld>
            <a:endParaRPr lang="en-US"/>
          </a:p>
        </p:txBody>
      </p:sp>
    </p:spTree>
    <p:extLst>
      <p:ext uri="{BB962C8B-B14F-4D97-AF65-F5344CB8AC3E}">
        <p14:creationId xmlns:p14="http://schemas.microsoft.com/office/powerpoint/2010/main" val="41860240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7</a:t>
            </a:fld>
            <a:endParaRPr lang="en-US"/>
          </a:p>
        </p:txBody>
      </p:sp>
    </p:spTree>
    <p:extLst>
      <p:ext uri="{BB962C8B-B14F-4D97-AF65-F5344CB8AC3E}">
        <p14:creationId xmlns:p14="http://schemas.microsoft.com/office/powerpoint/2010/main" val="6697888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8</a:t>
            </a:fld>
            <a:endParaRPr lang="en-US"/>
          </a:p>
        </p:txBody>
      </p:sp>
    </p:spTree>
    <p:extLst>
      <p:ext uri="{BB962C8B-B14F-4D97-AF65-F5344CB8AC3E}">
        <p14:creationId xmlns:p14="http://schemas.microsoft.com/office/powerpoint/2010/main" val="22793237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9</a:t>
            </a:fld>
            <a:endParaRPr lang="en-US"/>
          </a:p>
        </p:txBody>
      </p:sp>
    </p:spTree>
    <p:extLst>
      <p:ext uri="{BB962C8B-B14F-4D97-AF65-F5344CB8AC3E}">
        <p14:creationId xmlns:p14="http://schemas.microsoft.com/office/powerpoint/2010/main" val="42190383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10</a:t>
            </a:fld>
            <a:endParaRPr lang="en-US"/>
          </a:p>
        </p:txBody>
      </p:sp>
    </p:spTree>
    <p:extLst>
      <p:ext uri="{BB962C8B-B14F-4D97-AF65-F5344CB8AC3E}">
        <p14:creationId xmlns:p14="http://schemas.microsoft.com/office/powerpoint/2010/main" val="20739036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11</a:t>
            </a:fld>
            <a:endParaRPr lang="en-US"/>
          </a:p>
        </p:txBody>
      </p:sp>
    </p:spTree>
    <p:extLst>
      <p:ext uri="{BB962C8B-B14F-4D97-AF65-F5344CB8AC3E}">
        <p14:creationId xmlns:p14="http://schemas.microsoft.com/office/powerpoint/2010/main" val="12844202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12</a:t>
            </a:fld>
            <a:endParaRPr lang="en-US"/>
          </a:p>
        </p:txBody>
      </p:sp>
    </p:spTree>
    <p:extLst>
      <p:ext uri="{BB962C8B-B14F-4D97-AF65-F5344CB8AC3E}">
        <p14:creationId xmlns:p14="http://schemas.microsoft.com/office/powerpoint/2010/main" val="5892650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13</a:t>
            </a:fld>
            <a:endParaRPr lang="en-US"/>
          </a:p>
        </p:txBody>
      </p:sp>
    </p:spTree>
    <p:extLst>
      <p:ext uri="{BB962C8B-B14F-4D97-AF65-F5344CB8AC3E}">
        <p14:creationId xmlns:p14="http://schemas.microsoft.com/office/powerpoint/2010/main" val="29777393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14</a:t>
            </a:fld>
            <a:endParaRPr lang="en-US"/>
          </a:p>
        </p:txBody>
      </p:sp>
    </p:spTree>
    <p:extLst>
      <p:ext uri="{BB962C8B-B14F-4D97-AF65-F5344CB8AC3E}">
        <p14:creationId xmlns:p14="http://schemas.microsoft.com/office/powerpoint/2010/main" val="38650178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15</a:t>
            </a:fld>
            <a:endParaRPr lang="en-US"/>
          </a:p>
        </p:txBody>
      </p:sp>
    </p:spTree>
    <p:extLst>
      <p:ext uri="{BB962C8B-B14F-4D97-AF65-F5344CB8AC3E}">
        <p14:creationId xmlns:p14="http://schemas.microsoft.com/office/powerpoint/2010/main" val="20759492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16</a:t>
            </a:fld>
            <a:endParaRPr lang="en-US"/>
          </a:p>
        </p:txBody>
      </p:sp>
    </p:spTree>
    <p:extLst>
      <p:ext uri="{BB962C8B-B14F-4D97-AF65-F5344CB8AC3E}">
        <p14:creationId xmlns:p14="http://schemas.microsoft.com/office/powerpoint/2010/main" val="34001338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17</a:t>
            </a:fld>
            <a:endParaRPr lang="en-US"/>
          </a:p>
        </p:txBody>
      </p:sp>
    </p:spTree>
    <p:extLst>
      <p:ext uri="{BB962C8B-B14F-4D97-AF65-F5344CB8AC3E}">
        <p14:creationId xmlns:p14="http://schemas.microsoft.com/office/powerpoint/2010/main" val="7600801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18</a:t>
            </a:fld>
            <a:endParaRPr lang="en-US"/>
          </a:p>
        </p:txBody>
      </p:sp>
    </p:spTree>
    <p:extLst>
      <p:ext uri="{BB962C8B-B14F-4D97-AF65-F5344CB8AC3E}">
        <p14:creationId xmlns:p14="http://schemas.microsoft.com/office/powerpoint/2010/main" val="113420963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19</a:t>
            </a:fld>
            <a:endParaRPr lang="en-US"/>
          </a:p>
        </p:txBody>
      </p:sp>
    </p:spTree>
    <p:extLst>
      <p:ext uri="{BB962C8B-B14F-4D97-AF65-F5344CB8AC3E}">
        <p14:creationId xmlns:p14="http://schemas.microsoft.com/office/powerpoint/2010/main" val="256803640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20</a:t>
            </a:fld>
            <a:endParaRPr lang="en-US"/>
          </a:p>
        </p:txBody>
      </p:sp>
    </p:spTree>
    <p:extLst>
      <p:ext uri="{BB962C8B-B14F-4D97-AF65-F5344CB8AC3E}">
        <p14:creationId xmlns:p14="http://schemas.microsoft.com/office/powerpoint/2010/main" val="6094766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21</a:t>
            </a:fld>
            <a:endParaRPr lang="en-US"/>
          </a:p>
        </p:txBody>
      </p:sp>
    </p:spTree>
    <p:extLst>
      <p:ext uri="{BB962C8B-B14F-4D97-AF65-F5344CB8AC3E}">
        <p14:creationId xmlns:p14="http://schemas.microsoft.com/office/powerpoint/2010/main" val="17287573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22</a:t>
            </a:fld>
            <a:endParaRPr lang="en-US"/>
          </a:p>
        </p:txBody>
      </p:sp>
    </p:spTree>
    <p:extLst>
      <p:ext uri="{BB962C8B-B14F-4D97-AF65-F5344CB8AC3E}">
        <p14:creationId xmlns:p14="http://schemas.microsoft.com/office/powerpoint/2010/main" val="65344231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23</a:t>
            </a:fld>
            <a:endParaRPr lang="en-US"/>
          </a:p>
        </p:txBody>
      </p:sp>
    </p:spTree>
    <p:extLst>
      <p:ext uri="{BB962C8B-B14F-4D97-AF65-F5344CB8AC3E}">
        <p14:creationId xmlns:p14="http://schemas.microsoft.com/office/powerpoint/2010/main" val="6932960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24</a:t>
            </a:fld>
            <a:endParaRPr lang="en-US"/>
          </a:p>
        </p:txBody>
      </p:sp>
    </p:spTree>
    <p:extLst>
      <p:ext uri="{BB962C8B-B14F-4D97-AF65-F5344CB8AC3E}">
        <p14:creationId xmlns:p14="http://schemas.microsoft.com/office/powerpoint/2010/main" val="348648140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25</a:t>
            </a:fld>
            <a:endParaRPr lang="en-US"/>
          </a:p>
        </p:txBody>
      </p:sp>
    </p:spTree>
    <p:extLst>
      <p:ext uri="{BB962C8B-B14F-4D97-AF65-F5344CB8AC3E}">
        <p14:creationId xmlns:p14="http://schemas.microsoft.com/office/powerpoint/2010/main" val="385629350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26</a:t>
            </a:fld>
            <a:endParaRPr lang="en-US"/>
          </a:p>
        </p:txBody>
      </p:sp>
    </p:spTree>
    <p:extLst>
      <p:ext uri="{BB962C8B-B14F-4D97-AF65-F5344CB8AC3E}">
        <p14:creationId xmlns:p14="http://schemas.microsoft.com/office/powerpoint/2010/main" val="70347693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27</a:t>
            </a:fld>
            <a:endParaRPr lang="en-US"/>
          </a:p>
        </p:txBody>
      </p:sp>
    </p:spTree>
    <p:extLst>
      <p:ext uri="{BB962C8B-B14F-4D97-AF65-F5344CB8AC3E}">
        <p14:creationId xmlns:p14="http://schemas.microsoft.com/office/powerpoint/2010/main" val="177520356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28</a:t>
            </a:fld>
            <a:endParaRPr lang="en-US"/>
          </a:p>
        </p:txBody>
      </p:sp>
    </p:spTree>
    <p:extLst>
      <p:ext uri="{BB962C8B-B14F-4D97-AF65-F5344CB8AC3E}">
        <p14:creationId xmlns:p14="http://schemas.microsoft.com/office/powerpoint/2010/main" val="173110673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29</a:t>
            </a:fld>
            <a:endParaRPr lang="en-US"/>
          </a:p>
        </p:txBody>
      </p:sp>
    </p:spTree>
    <p:extLst>
      <p:ext uri="{BB962C8B-B14F-4D97-AF65-F5344CB8AC3E}">
        <p14:creationId xmlns:p14="http://schemas.microsoft.com/office/powerpoint/2010/main" val="287890686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30</a:t>
            </a:fld>
            <a:endParaRPr lang="en-US"/>
          </a:p>
        </p:txBody>
      </p:sp>
    </p:spTree>
    <p:extLst>
      <p:ext uri="{BB962C8B-B14F-4D97-AF65-F5344CB8AC3E}">
        <p14:creationId xmlns:p14="http://schemas.microsoft.com/office/powerpoint/2010/main" val="409216121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31</a:t>
            </a:fld>
            <a:endParaRPr lang="en-US"/>
          </a:p>
        </p:txBody>
      </p:sp>
    </p:spTree>
    <p:extLst>
      <p:ext uri="{BB962C8B-B14F-4D97-AF65-F5344CB8AC3E}">
        <p14:creationId xmlns:p14="http://schemas.microsoft.com/office/powerpoint/2010/main" val="93247365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32</a:t>
            </a:fld>
            <a:endParaRPr lang="en-US"/>
          </a:p>
        </p:txBody>
      </p:sp>
    </p:spTree>
    <p:extLst>
      <p:ext uri="{BB962C8B-B14F-4D97-AF65-F5344CB8AC3E}">
        <p14:creationId xmlns:p14="http://schemas.microsoft.com/office/powerpoint/2010/main" val="372528391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33</a:t>
            </a:fld>
            <a:endParaRPr lang="en-US"/>
          </a:p>
        </p:txBody>
      </p:sp>
    </p:spTree>
    <p:extLst>
      <p:ext uri="{BB962C8B-B14F-4D97-AF65-F5344CB8AC3E}">
        <p14:creationId xmlns:p14="http://schemas.microsoft.com/office/powerpoint/2010/main" val="99920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6/1/2023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cstate="print">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7" Type="http://schemas.microsoft.com/office/2007/relationships/hdphoto" Target="../media/hdphoto1.wdp"/><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7.png"/><Relationship Id="rId5" Type="http://schemas.openxmlformats.org/officeDocument/2006/relationships/image" Target="../media/image6.emf"/><Relationship Id="rId4"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8.xml"/><Relationship Id="rId5" Type="http://schemas.openxmlformats.org/officeDocument/2006/relationships/image" Target="../media/image12.jp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s://www.youtube.com/watch?v=CvSOaYi89B4" TargetMode="External"/><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32.xml.rels><?xml version="1.0" encoding="UTF-8" standalone="yes"?>
<Relationships xmlns="http://schemas.openxmlformats.org/package/2006/relationships"><Relationship Id="rId8" Type="http://schemas.openxmlformats.org/officeDocument/2006/relationships/image" Target="../media/image22.jpeg"/><Relationship Id="rId3" Type="http://schemas.openxmlformats.org/officeDocument/2006/relationships/hyperlink" Target="https://en.wikipedia.org/wiki/Algorithm" TargetMode="External"/><Relationship Id="rId7" Type="http://schemas.openxmlformats.org/officeDocument/2006/relationships/hyperlink" Target="https://youtu.be/FbYzBWdhMb0" TargetMode="External"/><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hyperlink" Target="https://youtu.be/6hfOvs8pY1k" TargetMode="External"/><Relationship Id="rId5" Type="http://schemas.openxmlformats.org/officeDocument/2006/relationships/hyperlink" Target="https://study.com/academy/lesson/what-is-an-algorithm-definition-examples.html" TargetMode="External"/><Relationship Id="rId4" Type="http://schemas.openxmlformats.org/officeDocument/2006/relationships/hyperlink" Target="https://fiftyexamples.readthedocs.io/en/latest/algorithms.html" TargetMode="Externa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3.xml"/><Relationship Id="rId1" Type="http://schemas.openxmlformats.org/officeDocument/2006/relationships/vmlDrawing" Target="../drawings/vmlDrawing2.vml"/><Relationship Id="rId5" Type="http://schemas.openxmlformats.org/officeDocument/2006/relationships/image" Target="../media/image6.emf"/><Relationship Id="rId4" Type="http://schemas.openxmlformats.org/officeDocument/2006/relationships/oleObject" Target="../embeddings/oleObject2.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0" y="5369340"/>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p:cNvSpPr/>
          <p:nvPr/>
        </p:nvSpPr>
        <p:spPr>
          <a:xfrm>
            <a:off x="236408" y="592201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dirty="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a16="http://schemas.microsoft.com/office/drawing/2014/main" id="{CAD0D7B8-E462-453C-B296-CA0154FA54AE}"/>
              </a:ext>
            </a:extLst>
          </p:cNvPr>
          <p:cNvGraphicFramePr>
            <a:graphicFrameLocks noChangeAspect="1"/>
          </p:cNvGraphicFramePr>
          <p:nvPr/>
        </p:nvGraphicFramePr>
        <p:xfrm>
          <a:off x="76788" y="3121720"/>
          <a:ext cx="3303056" cy="3148059"/>
        </p:xfrm>
        <a:graphic>
          <a:graphicData uri="http://schemas.openxmlformats.org/presentationml/2006/ole">
            <mc:AlternateContent xmlns:mc="http://schemas.openxmlformats.org/markup-compatibility/2006">
              <mc:Choice xmlns:v="urn:schemas-microsoft-com:vml" Requires="v">
                <p:oleObj spid="_x0000_s1032" name="CorelDRAW" r:id="rId4" imgW="2169000" imgH="2169360" progId="">
                  <p:embed/>
                </p:oleObj>
              </mc:Choice>
              <mc:Fallback>
                <p:oleObj name="CorelDRAW" r:id="rId4" imgW="2169000" imgH="2169360" progId="">
                  <p:embed/>
                  <p:pic>
                    <p:nvPicPr>
                      <p:cNvPr id="48" name="Object 47">
                        <a:extLst>
                          <a:ext uri="{FF2B5EF4-FFF2-40B4-BE49-F238E27FC236}">
                            <a16:creationId xmlns:a16="http://schemas.microsoft.com/office/drawing/2014/main" id="{CAD0D7B8-E462-453C-B296-CA0154FA54AE}"/>
                          </a:ext>
                        </a:extLst>
                      </p:cNvPr>
                      <p:cNvPicPr>
                        <a:picLocks noChangeAspect="1" noChangeArrowheads="1"/>
                      </p:cNvPicPr>
                      <p:nvPr/>
                    </p:nvPicPr>
                    <p:blipFill>
                      <a:blip r:embed="rId5">
                        <a:lum bright="76000"/>
                        <a:extLst>
                          <a:ext uri="{28A0092B-C50C-407E-A947-70E740481C1C}">
                            <a14:useLocalDpi xmlns:a14="http://schemas.microsoft.com/office/drawing/2010/main" val="0"/>
                          </a:ext>
                        </a:extLst>
                      </a:blip>
                      <a:srcRect/>
                      <a:stretch>
                        <a:fillRect/>
                      </a:stretch>
                    </p:blipFill>
                    <p:spPr bwMode="auto">
                      <a:xfrm>
                        <a:off x="76788" y="3121720"/>
                        <a:ext cx="3303056" cy="31480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Right Triangle 36">
            <a:extLst>
              <a:ext uri="{FF2B5EF4-FFF2-40B4-BE49-F238E27FC236}">
                <a16:creationId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dirty="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0" name="Picture 29"/>
          <p:cNvPicPr>
            <a:picLocks noChangeAspect="1"/>
          </p:cNvPicPr>
          <p:nvPr/>
        </p:nvPicPr>
        <p:blipFill>
          <a:blip r:embed="rId6" cstate="print">
            <a:extLst>
              <a:ext uri="{BEBA8EAE-BF5A-486C-A8C5-ECC9F3942E4B}">
                <a14:imgProps xmlns:a14="http://schemas.microsoft.com/office/drawing/2010/main">
                  <a14:imgLayer r:embed="rId7">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TextBox 52"/>
          <p:cNvSpPr txBox="1">
            <a:spLocks noChangeArrowheads="1"/>
          </p:cNvSpPr>
          <p:nvPr/>
        </p:nvSpPr>
        <p:spPr bwMode="auto">
          <a:xfrm>
            <a:off x="240610" y="5988169"/>
            <a:ext cx="6432043" cy="800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2400" b="1" dirty="0" smtClean="0">
                <a:solidFill>
                  <a:prstClr val="black">
                    <a:lumMod val="85000"/>
                    <a:lumOff val="15000"/>
                  </a:prstClr>
                </a:solidFill>
                <a:latin typeface="Times New Roman" panose="02020603050405020304" pitchFamily="18" charset="0"/>
                <a:cs typeface="Times New Roman" panose="02020603050405020304" pitchFamily="18" charset="0"/>
              </a:rPr>
              <a:t>Algorithm</a:t>
            </a:r>
            <a:endParaRPr lang="en-US" sz="2400" b="1" dirty="0">
              <a:solidFill>
                <a:prstClr val="black">
                  <a:lumMod val="85000"/>
                  <a:lumOff val="15000"/>
                </a:prstClr>
              </a:solidFill>
              <a:latin typeface="Times New Roman" panose="02020603050405020304" pitchFamily="18" charset="0"/>
              <a:cs typeface="Times New Roman" panose="02020603050405020304" pitchFamily="18" charset="0"/>
            </a:endParaRPr>
          </a:p>
          <a:p>
            <a:pPr eaLnBrk="1" hangingPunct="1"/>
            <a:endParaRPr lang="en-US" sz="1600" dirty="0">
              <a:latin typeface="Raleway ExtraBold" pitchFamily="34" charset="-52"/>
            </a:endParaRPr>
          </a:p>
        </p:txBody>
      </p:sp>
      <p:sp>
        <p:nvSpPr>
          <p:cNvPr id="15" name="TextBox 14">
            <a:extLst>
              <a:ext uri="{FF2B5EF4-FFF2-40B4-BE49-F238E27FC236}">
                <a16:creationId xmlns:a16="http://schemas.microsoft.com/office/drawing/2014/main" id="{9E825B68-996A-4025-AE15-7A01BFFCF419}"/>
              </a:ext>
            </a:extLst>
          </p:cNvPr>
          <p:cNvSpPr txBox="1">
            <a:spLocks noChangeArrowheads="1"/>
          </p:cNvSpPr>
          <p:nvPr/>
        </p:nvSpPr>
        <p:spPr bwMode="auto">
          <a:xfrm>
            <a:off x="1030403" y="1632908"/>
            <a:ext cx="9884238" cy="327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INSTITUTE - UIE</a:t>
            </a: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ACADEMIC UNIT-2</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Bachelor of Engineering (Computer Science &amp; Engineering) </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Subject Name: </a:t>
            </a:r>
            <a:r>
              <a:rPr lang="en-US" sz="2800" dirty="0" smtClean="0">
                <a:latin typeface="Times New Roman" panose="02020603050405020304" pitchFamily="18" charset="0"/>
                <a:ea typeface="Calibri" panose="020F0502020204030204" pitchFamily="34" charset="0"/>
                <a:cs typeface="Times New Roman" panose="02020603050405020304" pitchFamily="18" charset="0"/>
              </a:rPr>
              <a:t>Introduction to Problem Solving</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lvl="0" algn="ctr" defTabSz="622300">
              <a:lnSpc>
                <a:spcPct val="90000"/>
              </a:lnSpc>
              <a:spcBef>
                <a:spcPct val="0"/>
              </a:spcBef>
              <a:spcAft>
                <a:spcPct val="35000"/>
              </a:spcAft>
            </a:pPr>
            <a:r>
              <a:rPr lang="en-US" sz="2800" dirty="0" smtClean="0">
                <a:latin typeface="Times New Roman" panose="02020603050405020304" pitchFamily="18" charset="0"/>
                <a:ea typeface="Calibri" panose="020F0502020204030204" pitchFamily="34" charset="0"/>
                <a:cs typeface="Times New Roman" panose="02020603050405020304" pitchFamily="18" charset="0"/>
              </a:rPr>
              <a:t>Code:23CSH-101</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lvl="0" algn="ctr" defTabSz="622300">
              <a:lnSpc>
                <a:spcPct val="90000"/>
              </a:lnSpc>
              <a:spcBef>
                <a:spcPct val="0"/>
              </a:spcBef>
              <a:spcAft>
                <a:spcPct val="35000"/>
              </a:spcAft>
            </a:pPr>
            <a:endParaRPr lang="en-US" sz="2400" b="1"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700986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D4AFE-B27C-4A9A-A9F5-7F62354B01A2}"/>
              </a:ext>
            </a:extLst>
          </p:cNvPr>
          <p:cNvSpPr>
            <a:spLocks noGrp="1"/>
          </p:cNvSpPr>
          <p:nvPr>
            <p:ph type="title"/>
          </p:nvPr>
        </p:nvSpPr>
        <p:spPr>
          <a:xfrm>
            <a:off x="600075" y="0"/>
            <a:ext cx="4277328" cy="2619374"/>
          </a:xfrm>
        </p:spPr>
        <p:txBody>
          <a:bodyPr>
            <a:normAutofit/>
          </a:bodyPr>
          <a:lstStyle/>
          <a:p>
            <a:pPr algn="ctr"/>
            <a:r>
              <a:rPr lang="en-US" sz="4400" dirty="0" smtClean="0">
                <a:latin typeface="Times New Roman" panose="02020603050405020304" pitchFamily="18" charset="0"/>
                <a:ea typeface="Calibri" panose="020F0502020204030204" pitchFamily="34" charset="0"/>
                <a:cs typeface="Times New Roman" panose="02020603050405020304" pitchFamily="18" charset="0"/>
              </a:rPr>
              <a:t>Introduction to Problem Solving</a:t>
            </a:r>
            <a:endParaRPr lang="en-IN" dirty="0"/>
          </a:p>
        </p:txBody>
      </p:sp>
      <p:sp>
        <p:nvSpPr>
          <p:cNvPr id="3" name="Content Placeholder 2">
            <a:extLst>
              <a:ext uri="{FF2B5EF4-FFF2-40B4-BE49-F238E27FC236}">
                <a16:creationId xmlns:a16="http://schemas.microsoft.com/office/drawing/2014/main" id="{A09B5602-926A-470D-BC2B-78EBF425FF1F}"/>
              </a:ext>
            </a:extLst>
          </p:cNvPr>
          <p:cNvSpPr>
            <a:spLocks noGrp="1"/>
          </p:cNvSpPr>
          <p:nvPr>
            <p:ph idx="1"/>
          </p:nvPr>
        </p:nvSpPr>
        <p:spPr/>
        <p:txBody>
          <a:bodyPr>
            <a:normAutofit/>
          </a:bodyPr>
          <a:lstStyle/>
          <a:p>
            <a:pPr marL="0" lvl="0" indent="0">
              <a:buNone/>
            </a:pPr>
            <a:r>
              <a:rPr lang="en-US" dirty="0"/>
              <a:t/>
            </a:r>
            <a:br>
              <a:rPr lang="en-US" dirty="0"/>
            </a:br>
            <a:endParaRPr lang="en-IN" b="1" dirty="0"/>
          </a:p>
          <a:p>
            <a:endParaRPr lang="en-IN" dirty="0"/>
          </a:p>
        </p:txBody>
      </p:sp>
      <p:sp>
        <p:nvSpPr>
          <p:cNvPr id="4" name="Text Placeholder 3">
            <a:extLst>
              <a:ext uri="{FF2B5EF4-FFF2-40B4-BE49-F238E27FC236}">
                <a16:creationId xmlns:a16="http://schemas.microsoft.com/office/drawing/2014/main" id="{467BF1DB-555C-464C-9D63-BB68417BDF76}"/>
              </a:ext>
            </a:extLst>
          </p:cNvPr>
          <p:cNvSpPr>
            <a:spLocks noGrp="1"/>
          </p:cNvSpPr>
          <p:nvPr>
            <p:ph type="body" sz="half" idx="2"/>
          </p:nvPr>
        </p:nvSpPr>
        <p:spPr>
          <a:xfrm>
            <a:off x="450248" y="3457574"/>
            <a:ext cx="3683602" cy="333376"/>
          </a:xfrm>
        </p:spPr>
        <p:txBody>
          <a:bodyPr>
            <a:normAutofit fontScale="92500" lnSpcReduction="20000"/>
          </a:bodyPr>
          <a:lstStyle/>
          <a:p>
            <a:r>
              <a:rPr lang="en-US" sz="2400" b="1" dirty="0"/>
              <a:t>Course Objectives</a:t>
            </a:r>
          </a:p>
          <a:p>
            <a:endParaRPr lang="en-US" b="1" i="1" u="sng" dirty="0"/>
          </a:p>
          <a:p>
            <a:endParaRPr lang="en-US" b="1" i="1" u="sng" dirty="0"/>
          </a:p>
        </p:txBody>
      </p:sp>
      <p:sp>
        <p:nvSpPr>
          <p:cNvPr id="5" name="Slide Number Placeholder 4">
            <a:extLst>
              <a:ext uri="{FF2B5EF4-FFF2-40B4-BE49-F238E27FC236}">
                <a16:creationId xmlns:a16="http://schemas.microsoft.com/office/drawing/2014/main" id="{6817145E-8450-434E-A8F0-1114075FB9BF}"/>
              </a:ext>
            </a:extLst>
          </p:cNvPr>
          <p:cNvSpPr>
            <a:spLocks noGrp="1"/>
          </p:cNvSpPr>
          <p:nvPr>
            <p:ph type="sldNum" sz="quarter" idx="12"/>
          </p:nvPr>
        </p:nvSpPr>
        <p:spPr/>
        <p:txBody>
          <a:bodyPr/>
          <a:lstStyle/>
          <a:p>
            <a:fld id="{BDCDBBEF-AA6C-4BA6-85B2-A17D7F280E38}" type="slidenum">
              <a:rPr lang="en-US" smtClean="0"/>
              <a:pPr/>
              <a:t>2</a:t>
            </a:fld>
            <a:endParaRPr lang="en-US" dirty="0"/>
          </a:p>
        </p:txBody>
      </p:sp>
      <p:graphicFrame>
        <p:nvGraphicFramePr>
          <p:cNvPr id="10" name="Table 10">
            <a:extLst>
              <a:ext uri="{FF2B5EF4-FFF2-40B4-BE49-F238E27FC236}">
                <a16:creationId xmlns:a16="http://schemas.microsoft.com/office/drawing/2014/main" id="{61791A24-3CC5-4ACD-B2EC-2F300FCC8BF6}"/>
              </a:ext>
            </a:extLst>
          </p:cNvPr>
          <p:cNvGraphicFramePr>
            <a:graphicFrameLocks noGrp="1"/>
          </p:cNvGraphicFramePr>
          <p:nvPr/>
        </p:nvGraphicFramePr>
        <p:xfrm>
          <a:off x="450248" y="3952876"/>
          <a:ext cx="5398102" cy="2768599"/>
        </p:xfrm>
        <a:graphic>
          <a:graphicData uri="http://schemas.openxmlformats.org/drawingml/2006/table">
            <a:tbl>
              <a:tblPr firstRow="1" bandRow="1">
                <a:tableStyleId>{5940675A-B579-460E-94D1-54222C63F5DA}</a:tableStyleId>
              </a:tblPr>
              <a:tblGrid>
                <a:gridCol w="5398102">
                  <a:extLst>
                    <a:ext uri="{9D8B030D-6E8A-4147-A177-3AD203B41FA5}">
                      <a16:colId xmlns:a16="http://schemas.microsoft.com/office/drawing/2014/main" val="529727568"/>
                    </a:ext>
                  </a:extLst>
                </a:gridCol>
              </a:tblGrid>
              <a:tr h="784159">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b="1" kern="1200" dirty="0">
                          <a:solidFill>
                            <a:srgbClr val="FF0000"/>
                          </a:solidFill>
                          <a:effectLst/>
                          <a:latin typeface="+mn-lt"/>
                          <a:ea typeface="+mn-ea"/>
                          <a:cs typeface="+mn-cs"/>
                        </a:rPr>
                        <a:t>The course aims to provide exposure to problem-solving through programming.</a:t>
                      </a:r>
                      <a:endParaRPr lang="en-IN" sz="2000" b="1" kern="1200" dirty="0">
                        <a:solidFill>
                          <a:srgbClr val="FF0000"/>
                        </a:solidFill>
                        <a:effectLst/>
                        <a:latin typeface="+mn-lt"/>
                        <a:ea typeface="+mn-ea"/>
                        <a:cs typeface="+mn-cs"/>
                      </a:endParaRPr>
                    </a:p>
                  </a:txBody>
                  <a:tcPr/>
                </a:tc>
                <a:extLst>
                  <a:ext uri="{0D108BD9-81ED-4DB2-BD59-A6C34878D82A}">
                    <a16:rowId xmlns:a16="http://schemas.microsoft.com/office/drawing/2014/main" val="1055258708"/>
                  </a:ext>
                </a:extLst>
              </a:tr>
              <a:tr h="790538">
                <a:tc>
                  <a:txBody>
                    <a:bodyPr/>
                    <a:lstStyle/>
                    <a:p>
                      <a:pPr marL="0" lvl="0" indent="0" algn="just">
                        <a:buFont typeface="Arial" panose="020B0604020202020204" pitchFamily="34" charset="0"/>
                        <a:buNone/>
                      </a:pPr>
                      <a:r>
                        <a:rPr lang="en-US" sz="2000" b="1" kern="1200" dirty="0">
                          <a:solidFill>
                            <a:srgbClr val="FF0000"/>
                          </a:solidFill>
                          <a:effectLst/>
                          <a:latin typeface="+mn-lt"/>
                          <a:ea typeface="+mn-ea"/>
                          <a:cs typeface="+mn-cs"/>
                        </a:rPr>
                        <a:t>The course aims to raise the programming skills of students via logic building capability.</a:t>
                      </a:r>
                      <a:endParaRPr lang="en-IN" sz="2000" b="1" kern="1200" dirty="0">
                        <a:solidFill>
                          <a:srgbClr val="FF0000"/>
                        </a:solidFill>
                        <a:effectLst/>
                        <a:latin typeface="+mn-lt"/>
                        <a:ea typeface="+mn-ea"/>
                        <a:cs typeface="+mn-cs"/>
                      </a:endParaRPr>
                    </a:p>
                  </a:txBody>
                  <a:tcPr/>
                </a:tc>
                <a:extLst>
                  <a:ext uri="{0D108BD9-81ED-4DB2-BD59-A6C34878D82A}">
                    <a16:rowId xmlns:a16="http://schemas.microsoft.com/office/drawing/2014/main" val="2990456970"/>
                  </a:ext>
                </a:extLst>
              </a:tr>
              <a:tr h="1193902">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b="1" kern="1200" dirty="0">
                          <a:solidFill>
                            <a:srgbClr val="FF0000"/>
                          </a:solidFill>
                          <a:effectLst/>
                          <a:latin typeface="+mn-lt"/>
                          <a:ea typeface="+mn-ea"/>
                          <a:cs typeface="+mn-cs"/>
                        </a:rPr>
                        <a:t>With knowledge of C programming language, students would be able to model real world problems.</a:t>
                      </a:r>
                      <a:endParaRPr lang="en-IN" sz="2000" b="1" kern="1200" dirty="0">
                        <a:solidFill>
                          <a:srgbClr val="FF0000"/>
                        </a:solidFill>
                        <a:effectLst/>
                        <a:latin typeface="+mn-lt"/>
                        <a:ea typeface="+mn-ea"/>
                        <a:cs typeface="+mn-cs"/>
                      </a:endParaRPr>
                    </a:p>
                  </a:txBody>
                  <a:tcPr/>
                </a:tc>
                <a:extLst>
                  <a:ext uri="{0D108BD9-81ED-4DB2-BD59-A6C34878D82A}">
                    <a16:rowId xmlns:a16="http://schemas.microsoft.com/office/drawing/2014/main" val="2557340115"/>
                  </a:ext>
                </a:extLst>
              </a:tr>
            </a:tbl>
          </a:graphicData>
        </a:graphic>
      </p:graphicFrame>
      <p:pic>
        <p:nvPicPr>
          <p:cNvPr id="7" name="Picture 6">
            <a:extLst>
              <a:ext uri="{FF2B5EF4-FFF2-40B4-BE49-F238E27FC236}">
                <a16:creationId xmlns:a16="http://schemas.microsoft.com/office/drawing/2014/main" id="{4F45ED97-A37D-4BD5-9BB8-9A010CD2A3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05329" y="3901327"/>
            <a:ext cx="2581941" cy="2520950"/>
          </a:xfrm>
          <a:prstGeom prst="rect">
            <a:avLst/>
          </a:prstGeom>
        </p:spPr>
      </p:pic>
      <p:pic>
        <p:nvPicPr>
          <p:cNvPr id="9" name="Picture 8">
            <a:extLst>
              <a:ext uri="{FF2B5EF4-FFF2-40B4-BE49-F238E27FC236}">
                <a16:creationId xmlns:a16="http://schemas.microsoft.com/office/drawing/2014/main" id="{E4C0D224-3882-4701-BE24-7AC23C1C37A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48350" y="481100"/>
            <a:ext cx="5812823" cy="3390813"/>
          </a:xfrm>
          <a:prstGeom prst="rect">
            <a:avLst/>
          </a:prstGeom>
        </p:spPr>
      </p:pic>
    </p:spTree>
    <p:extLst>
      <p:ext uri="{BB962C8B-B14F-4D97-AF65-F5344CB8AC3E}">
        <p14:creationId xmlns:p14="http://schemas.microsoft.com/office/powerpoint/2010/main" val="23540375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123583" y="1144447"/>
            <a:ext cx="3755334" cy="4728357"/>
          </a:xfrm>
        </p:spPr>
        <p:txBody>
          <a:bodyPr>
            <a:normAutofit/>
          </a:bodyPr>
          <a:lstStyle/>
          <a:p>
            <a:endParaRPr lang="en-US" sz="2400" dirty="0">
              <a:latin typeface="Casper" panose="02000506000000020004" pitchFamily="2" charset="0"/>
              <a:cs typeface="Arial" panose="020B0604020202020204" pitchFamily="34" charset="0"/>
            </a:endParaRPr>
          </a:p>
          <a:p>
            <a:endParaRPr lang="en-US" sz="2400" dirty="0">
              <a:latin typeface="Casper" panose="02000506000000020004" pitchFamily="2" charset="0"/>
              <a:cs typeface="Arial" panose="020B0604020202020204" pitchFamily="34" charset="0"/>
            </a:endParaRPr>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3</a:t>
            </a:fld>
            <a:endParaRPr lang="en-US" dirty="0"/>
          </a:p>
        </p:txBody>
      </p:sp>
      <p:sp>
        <p:nvSpPr>
          <p:cNvPr id="2" name="Rectangle 1"/>
          <p:cNvSpPr/>
          <p:nvPr/>
        </p:nvSpPr>
        <p:spPr>
          <a:xfrm>
            <a:off x="8297137" y="1566862"/>
            <a:ext cx="3364639" cy="412142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1905500596"/>
              </p:ext>
            </p:extLst>
          </p:nvPr>
        </p:nvGraphicFramePr>
        <p:xfrm>
          <a:off x="374073" y="1801092"/>
          <a:ext cx="7532369" cy="4071711"/>
        </p:xfrm>
        <a:graphic>
          <a:graphicData uri="http://schemas.openxmlformats.org/drawingml/2006/table">
            <a:tbl>
              <a:tblPr firstRow="1" firstCol="1" bandRow="1">
                <a:tableStyleId>{5940675A-B579-460E-94D1-54222C63F5DA}</a:tableStyleId>
              </a:tblPr>
              <a:tblGrid>
                <a:gridCol w="1092249">
                  <a:extLst>
                    <a:ext uri="{9D8B030D-6E8A-4147-A177-3AD203B41FA5}">
                      <a16:colId xmlns:a16="http://schemas.microsoft.com/office/drawing/2014/main" val="20000"/>
                    </a:ext>
                  </a:extLst>
                </a:gridCol>
                <a:gridCol w="6440120">
                  <a:extLst>
                    <a:ext uri="{9D8B030D-6E8A-4147-A177-3AD203B41FA5}">
                      <a16:colId xmlns:a16="http://schemas.microsoft.com/office/drawing/2014/main" val="20001"/>
                    </a:ext>
                  </a:extLst>
                </a:gridCol>
              </a:tblGrid>
              <a:tr h="719836">
                <a:tc>
                  <a:txBody>
                    <a:bodyPr/>
                    <a:lstStyle/>
                    <a:p>
                      <a:pPr marL="0" marR="0">
                        <a:lnSpc>
                          <a:spcPct val="100000"/>
                        </a:lnSpc>
                        <a:spcBef>
                          <a:spcPts val="0"/>
                        </a:spcBef>
                        <a:spcAft>
                          <a:spcPts val="0"/>
                        </a:spcAft>
                      </a:pPr>
                      <a:r>
                        <a:rPr lang="en-US" sz="1800" b="1" dirty="0">
                          <a:solidFill>
                            <a:schemeClr val="tx1"/>
                          </a:solidFill>
                          <a:effectLst/>
                        </a:rPr>
                        <a:t>CO Number</a:t>
                      </a:r>
                      <a:endParaRPr lang="en-US" sz="18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00000"/>
                        </a:lnSpc>
                        <a:spcBef>
                          <a:spcPts val="0"/>
                        </a:spcBef>
                        <a:spcAft>
                          <a:spcPts val="0"/>
                        </a:spcAft>
                      </a:pPr>
                      <a:r>
                        <a:rPr lang="en-US" sz="1800" b="1" dirty="0" smtClean="0">
                          <a:solidFill>
                            <a:schemeClr val="tx1"/>
                          </a:solidFill>
                          <a:effectLst/>
                          <a:latin typeface="+mn-lt"/>
                          <a:ea typeface="+mn-ea"/>
                          <a:cs typeface="+mn-cs"/>
                        </a:rPr>
                        <a:t>Course</a:t>
                      </a:r>
                      <a:r>
                        <a:rPr lang="en-US" sz="1800" b="1" baseline="0" dirty="0" smtClean="0">
                          <a:solidFill>
                            <a:schemeClr val="tx1"/>
                          </a:solidFill>
                          <a:effectLst/>
                          <a:latin typeface="+mn-lt"/>
                          <a:ea typeface="+mn-ea"/>
                          <a:cs typeface="+mn-cs"/>
                        </a:rPr>
                        <a:t> Outcome</a:t>
                      </a:r>
                      <a:endParaRPr lang="en-US" sz="18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683534">
                <a:tc>
                  <a:txBody>
                    <a:bodyPr/>
                    <a:lstStyle/>
                    <a:p>
                      <a:pPr marL="0" marR="0">
                        <a:lnSpc>
                          <a:spcPct val="100000"/>
                        </a:lnSpc>
                        <a:spcBef>
                          <a:spcPts val="0"/>
                        </a:spcBef>
                        <a:spcAft>
                          <a:spcPts val="0"/>
                        </a:spcAft>
                      </a:pPr>
                      <a:r>
                        <a:rPr lang="en-US" sz="1800" b="1" dirty="0">
                          <a:solidFill>
                            <a:schemeClr val="tx1"/>
                          </a:solidFill>
                          <a:effectLst/>
                        </a:rPr>
                        <a:t>CO1</a:t>
                      </a:r>
                      <a:endParaRPr lang="en-US" sz="18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R="53975" algn="just">
                        <a:lnSpc>
                          <a:spcPct val="100000"/>
                        </a:lnSpc>
                        <a:spcAft>
                          <a:spcPts val="0"/>
                        </a:spcAft>
                      </a:pPr>
                      <a:r>
                        <a:rPr lang="en-US" sz="1800" b="1" dirty="0">
                          <a:effectLst/>
                          <a:latin typeface="Calibri" panose="020F0502020204030204" pitchFamily="34" charset="0"/>
                          <a:ea typeface="Calibri" panose="020F0502020204030204" pitchFamily="34" charset="0"/>
                          <a:cs typeface="Calibri" panose="020F0502020204030204" pitchFamily="34" charset="0"/>
                        </a:rPr>
                        <a:t>Remember the concepts related to fundamentals of C language, draw flowcharts and write algorithm/pseudocode.</a:t>
                      </a:r>
                      <a:endParaRPr lang="en-IN"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625510">
                <a:tc>
                  <a:txBody>
                    <a:bodyPr/>
                    <a:lstStyle/>
                    <a:p>
                      <a:pPr marL="0" marR="0">
                        <a:lnSpc>
                          <a:spcPct val="100000"/>
                        </a:lnSpc>
                        <a:spcBef>
                          <a:spcPts val="0"/>
                        </a:spcBef>
                        <a:spcAft>
                          <a:spcPts val="0"/>
                        </a:spcAft>
                      </a:pPr>
                      <a:r>
                        <a:rPr lang="en-US" sz="1800" b="1" dirty="0">
                          <a:solidFill>
                            <a:schemeClr val="tx1"/>
                          </a:solidFill>
                          <a:effectLst/>
                        </a:rPr>
                        <a:t>CO2</a:t>
                      </a:r>
                      <a:endParaRPr lang="en-US" sz="18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R="53975" algn="just">
                        <a:lnSpc>
                          <a:spcPct val="100000"/>
                        </a:lnSpc>
                        <a:spcAft>
                          <a:spcPts val="0"/>
                        </a:spcAft>
                      </a:pPr>
                      <a:r>
                        <a:rPr lang="en-US" sz="1800" b="1" dirty="0">
                          <a:effectLst/>
                          <a:latin typeface="Calibri" panose="020F0502020204030204" pitchFamily="34" charset="0"/>
                          <a:ea typeface="Calibri" panose="020F0502020204030204" pitchFamily="34" charset="0"/>
                          <a:cs typeface="Calibri" panose="020F0502020204030204" pitchFamily="34" charset="0"/>
                        </a:rPr>
                        <a:t>Understand the way of execution and debug programs in C language.</a:t>
                      </a:r>
                      <a:endParaRPr lang="en-IN"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655163">
                <a:tc>
                  <a:txBody>
                    <a:bodyPr/>
                    <a:lstStyle/>
                    <a:p>
                      <a:pPr marL="0" marR="0">
                        <a:lnSpc>
                          <a:spcPct val="100000"/>
                        </a:lnSpc>
                        <a:spcBef>
                          <a:spcPts val="0"/>
                        </a:spcBef>
                        <a:spcAft>
                          <a:spcPts val="0"/>
                        </a:spcAft>
                      </a:pPr>
                      <a:r>
                        <a:rPr lang="en-US" sz="1800" b="1" dirty="0">
                          <a:solidFill>
                            <a:schemeClr val="tx1"/>
                          </a:solidFill>
                          <a:effectLst/>
                        </a:rPr>
                        <a:t>CO3</a:t>
                      </a:r>
                      <a:endParaRPr lang="en-US" sz="18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R="53975" algn="just">
                        <a:lnSpc>
                          <a:spcPct val="100000"/>
                        </a:lnSpc>
                        <a:spcAft>
                          <a:spcPts val="0"/>
                        </a:spcAft>
                      </a:pPr>
                      <a:r>
                        <a:rPr lang="en-US" sz="1800" b="1" dirty="0">
                          <a:effectLst/>
                          <a:latin typeface="Calibri" panose="020F0502020204030204" pitchFamily="34" charset="0"/>
                          <a:ea typeface="Calibri" panose="020F0502020204030204" pitchFamily="34" charset="0"/>
                          <a:cs typeface="Calibri" panose="020F0502020204030204" pitchFamily="34" charset="0"/>
                        </a:rPr>
                        <a:t>Apply various constructs, loops, functions to solve mathematical and scientific problem.</a:t>
                      </a:r>
                      <a:endParaRPr lang="en-IN"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628422">
                <a:tc>
                  <a:txBody>
                    <a:bodyPr/>
                    <a:lstStyle/>
                    <a:p>
                      <a:pPr marL="0" marR="0">
                        <a:lnSpc>
                          <a:spcPct val="100000"/>
                        </a:lnSpc>
                        <a:spcBef>
                          <a:spcPts val="0"/>
                        </a:spcBef>
                        <a:spcAft>
                          <a:spcPts val="0"/>
                        </a:spcAft>
                      </a:pPr>
                      <a:r>
                        <a:rPr lang="en-US" sz="1800" b="1" dirty="0">
                          <a:solidFill>
                            <a:schemeClr val="tx1"/>
                          </a:solidFill>
                          <a:effectLst/>
                        </a:rPr>
                        <a:t>CO4</a:t>
                      </a:r>
                      <a:endParaRPr lang="en-US" sz="18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R="53975" algn="just">
                        <a:lnSpc>
                          <a:spcPct val="100000"/>
                        </a:lnSpc>
                        <a:spcAft>
                          <a:spcPts val="0"/>
                        </a:spcAft>
                      </a:pPr>
                      <a:r>
                        <a:rPr lang="en-US" sz="1800" b="1" dirty="0">
                          <a:effectLst/>
                          <a:latin typeface="Calibri" panose="020F0502020204030204" pitchFamily="34" charset="0"/>
                          <a:ea typeface="Calibri" panose="020F0502020204030204" pitchFamily="34" charset="0"/>
                          <a:cs typeface="Calibri" panose="020F0502020204030204" pitchFamily="34" charset="0"/>
                        </a:rPr>
                        <a:t>Analyze the dynamic behavior of memory by the use of pointers.</a:t>
                      </a:r>
                      <a:endParaRPr lang="en-IN"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r h="759246">
                <a:tc>
                  <a:txBody>
                    <a:bodyPr/>
                    <a:lstStyle/>
                    <a:p>
                      <a:pPr marL="0" marR="0">
                        <a:lnSpc>
                          <a:spcPct val="100000"/>
                        </a:lnSpc>
                        <a:spcBef>
                          <a:spcPts val="0"/>
                        </a:spcBef>
                        <a:spcAft>
                          <a:spcPts val="0"/>
                        </a:spcAft>
                      </a:pPr>
                      <a:r>
                        <a:rPr lang="en-US" sz="1800" b="1" dirty="0" smtClean="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CO5</a:t>
                      </a:r>
                      <a:endParaRPr lang="en-US" sz="18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R="53975" algn="just">
                        <a:lnSpc>
                          <a:spcPct val="100000"/>
                        </a:lnSpc>
                        <a:spcAft>
                          <a:spcPts val="0"/>
                        </a:spcAft>
                      </a:pPr>
                      <a:r>
                        <a:rPr lang="en-US" sz="1800" b="1" dirty="0">
                          <a:effectLst/>
                          <a:latin typeface="Calibri" panose="020F0502020204030204" pitchFamily="34" charset="0"/>
                          <a:ea typeface="Calibri" panose="020F0502020204030204" pitchFamily="34" charset="0"/>
                          <a:cs typeface="Calibri" panose="020F0502020204030204" pitchFamily="34" charset="0"/>
                        </a:rPr>
                        <a:t>Design and develop modular programs for real world problems using control structure and selection structure.</a:t>
                      </a:r>
                      <a:endParaRPr lang="en-IN"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838883604"/>
                  </a:ext>
                </a:extLst>
              </a:tr>
            </a:tbl>
          </a:graphicData>
        </a:graphic>
      </p:graphicFrame>
      <p:sp>
        <p:nvSpPr>
          <p:cNvPr id="11" name="Rectangle 10"/>
          <p:cNvSpPr/>
          <p:nvPr/>
        </p:nvSpPr>
        <p:spPr>
          <a:xfrm>
            <a:off x="546270" y="1144447"/>
            <a:ext cx="2635080" cy="461665"/>
          </a:xfrm>
          <a:prstGeom prst="rect">
            <a:avLst/>
          </a:prstGeom>
        </p:spPr>
        <p:txBody>
          <a:bodyPr wrap="square">
            <a:spAutoFit/>
          </a:bodyPr>
          <a:lstStyle/>
          <a:p>
            <a:r>
              <a:rPr lang="en-US" sz="2400" b="1" dirty="0"/>
              <a:t>Course Outcomes </a:t>
            </a:r>
          </a:p>
        </p:txBody>
      </p:sp>
      <p:pic>
        <p:nvPicPr>
          <p:cNvPr id="16" name="Picture 15"/>
          <p:cNvPicPr>
            <a:picLocks noChangeAspect="1"/>
          </p:cNvPicPr>
          <p:nvPr/>
        </p:nvPicPr>
        <p:blipFill>
          <a:blip r:embed="rId3" cstate="print"/>
          <a:stretch>
            <a:fillRect/>
          </a:stretch>
        </p:blipFill>
        <p:spPr>
          <a:xfrm>
            <a:off x="8352861" y="2024947"/>
            <a:ext cx="3183156" cy="3407607"/>
          </a:xfrm>
          <a:prstGeom prst="rect">
            <a:avLst/>
          </a:prstGeom>
        </p:spPr>
      </p:pic>
      <p:pic>
        <p:nvPicPr>
          <p:cNvPr id="18" name="Picture 17"/>
          <p:cNvPicPr>
            <a:picLocks noChangeAspect="1"/>
          </p:cNvPicPr>
          <p:nvPr/>
        </p:nvPicPr>
        <p:blipFill>
          <a:blip r:embed="rId4" cstate="print"/>
          <a:stretch>
            <a:fillRect/>
          </a:stretch>
        </p:blipFill>
        <p:spPr>
          <a:xfrm>
            <a:off x="8360776" y="1701556"/>
            <a:ext cx="895189" cy="916170"/>
          </a:xfrm>
          <a:prstGeom prst="rect">
            <a:avLst/>
          </a:prstGeom>
        </p:spPr>
      </p:pic>
      <p:pic>
        <p:nvPicPr>
          <p:cNvPr id="9" name="Picture 8">
            <a:extLst>
              <a:ext uri="{FF2B5EF4-FFF2-40B4-BE49-F238E27FC236}">
                <a16:creationId xmlns:a16="http://schemas.microsoft.com/office/drawing/2014/main" id="{39FBA091-1FD7-4CFB-ACD7-85BE3251E75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2677" y="109537"/>
            <a:ext cx="2686050" cy="1457325"/>
          </a:xfrm>
          <a:prstGeom prst="rect">
            <a:avLst/>
          </a:prstGeom>
        </p:spPr>
      </p:pic>
    </p:spTree>
    <p:extLst>
      <p:ext uri="{BB962C8B-B14F-4D97-AF65-F5344CB8AC3E}">
        <p14:creationId xmlns:p14="http://schemas.microsoft.com/office/powerpoint/2010/main" val="10768056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89376" y="346479"/>
            <a:ext cx="7685314" cy="1147360"/>
          </a:xfrm>
        </p:spPr>
        <p:txBody>
          <a:bodyPr>
            <a:normAutofit fontScale="90000"/>
          </a:bodyPr>
          <a:lstStyle/>
          <a:p>
            <a:r>
              <a:rPr lang="en-US" b="1" dirty="0"/>
              <a:t/>
            </a:r>
            <a:br>
              <a:rPr lang="en-US" b="1" dirty="0"/>
            </a:br>
            <a:r>
              <a:rPr lang="en-US" sz="4900" b="1" dirty="0">
                <a:solidFill>
                  <a:srgbClr val="FF0000"/>
                </a:solidFill>
                <a:latin typeface="+mn-lt"/>
              </a:rPr>
              <a:t>Scheme of Evaluation </a:t>
            </a:r>
            <a:r>
              <a:rPr lang="en-US" dirty="0">
                <a:solidFill>
                  <a:srgbClr val="FF0000"/>
                </a:solidFill>
              </a:rPr>
              <a:t/>
            </a:r>
            <a:br>
              <a:rPr lang="en-US" dirty="0">
                <a:solidFill>
                  <a:srgbClr val="FF0000"/>
                </a:solidFill>
              </a:rPr>
            </a:br>
            <a:endParaRPr lang="en-US" dirty="0">
              <a:solidFill>
                <a:srgbClr val="FF0000"/>
              </a:solidFill>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4</a:t>
            </a:fld>
            <a:endParaRPr lang="en-US"/>
          </a:p>
        </p:txBody>
      </p:sp>
      <p:sp>
        <p:nvSpPr>
          <p:cNvPr id="5" name="Rectangle 4"/>
          <p:cNvSpPr/>
          <p:nvPr/>
        </p:nvSpPr>
        <p:spPr>
          <a:xfrm>
            <a:off x="871728" y="261543"/>
            <a:ext cx="10515600" cy="123229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2"/>
          <p:cNvSpPr txBox="1">
            <a:spLocks/>
          </p:cNvSpPr>
          <p:nvPr/>
        </p:nvSpPr>
        <p:spPr>
          <a:xfrm>
            <a:off x="1082040" y="1789278"/>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pic>
        <p:nvPicPr>
          <p:cNvPr id="6" name="Picture 5"/>
          <p:cNvPicPr>
            <a:picLocks noChangeAspect="1"/>
          </p:cNvPicPr>
          <p:nvPr/>
        </p:nvPicPr>
        <p:blipFill>
          <a:blip r:embed="rId3"/>
          <a:stretch>
            <a:fillRect/>
          </a:stretch>
        </p:blipFill>
        <p:spPr>
          <a:xfrm>
            <a:off x="873905" y="1578775"/>
            <a:ext cx="10515600" cy="5153025"/>
          </a:xfrm>
          <a:prstGeom prst="rect">
            <a:avLst/>
          </a:prstGeom>
        </p:spPr>
      </p:pic>
    </p:spTree>
    <p:extLst>
      <p:ext uri="{BB962C8B-B14F-4D97-AF65-F5344CB8AC3E}">
        <p14:creationId xmlns:p14="http://schemas.microsoft.com/office/powerpoint/2010/main" val="304470146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AF4C94B-33A8-4423-9E3C-594F2DF570E0}"/>
              </a:ext>
            </a:extLst>
          </p:cNvPr>
          <p:cNvSpPr>
            <a:spLocks noGrp="1"/>
          </p:cNvSpPr>
          <p:nvPr>
            <p:ph idx="1"/>
          </p:nvPr>
        </p:nvSpPr>
        <p:spPr>
          <a:xfrm>
            <a:off x="5850529" y="1685381"/>
            <a:ext cx="5216434" cy="4670969"/>
          </a:xfrm>
        </p:spPr>
        <p:txBody>
          <a:bodyPr>
            <a:noAutofit/>
          </a:bodyPr>
          <a:lstStyle/>
          <a:p>
            <a:pPr marL="0" indent="0" algn="ctr">
              <a:lnSpc>
                <a:spcPct val="100000"/>
              </a:lnSpc>
              <a:buNone/>
            </a:pPr>
            <a:r>
              <a:rPr lang="en-US" sz="2400" b="1" dirty="0">
                <a:solidFill>
                  <a:srgbClr val="FF0000"/>
                </a:solidFill>
              </a:rPr>
              <a:t>Why</a:t>
            </a:r>
          </a:p>
          <a:p>
            <a:pPr marL="0" indent="0" algn="ctr">
              <a:lnSpc>
                <a:spcPct val="100000"/>
              </a:lnSpc>
              <a:buNone/>
            </a:pPr>
            <a:r>
              <a:rPr lang="en-US" b="1" dirty="0"/>
              <a:t>Algorithms</a:t>
            </a:r>
            <a:r>
              <a:rPr lang="en-US" dirty="0"/>
              <a:t> are a very </a:t>
            </a:r>
            <a:r>
              <a:rPr lang="en-US" b="1" dirty="0"/>
              <a:t>important</a:t>
            </a:r>
            <a:r>
              <a:rPr lang="en-US" dirty="0"/>
              <a:t> topic in </a:t>
            </a:r>
            <a:r>
              <a:rPr lang="en-US" b="1" dirty="0"/>
              <a:t>Computer Science</a:t>
            </a:r>
            <a:r>
              <a:rPr lang="en-US" dirty="0"/>
              <a:t> because they help software developers create efficient and error free programs.</a:t>
            </a:r>
            <a:r>
              <a:rPr lang="en-US" sz="2400" b="1" dirty="0">
                <a:solidFill>
                  <a:srgbClr val="FF0000"/>
                </a:solidFill>
              </a:rPr>
              <a:t> </a:t>
            </a:r>
          </a:p>
        </p:txBody>
      </p:sp>
      <p:sp>
        <p:nvSpPr>
          <p:cNvPr id="4" name="Slide Number Placeholder 3">
            <a:extLst>
              <a:ext uri="{FF2B5EF4-FFF2-40B4-BE49-F238E27FC236}">
                <a16:creationId xmlns:a16="http://schemas.microsoft.com/office/drawing/2014/main" id="{E4935F3D-C314-4E26-97BC-73BA026B555D}"/>
              </a:ext>
            </a:extLst>
          </p:cNvPr>
          <p:cNvSpPr>
            <a:spLocks noGrp="1"/>
          </p:cNvSpPr>
          <p:nvPr>
            <p:ph type="sldNum" sz="quarter" idx="12"/>
          </p:nvPr>
        </p:nvSpPr>
        <p:spPr/>
        <p:txBody>
          <a:bodyPr/>
          <a:lstStyle/>
          <a:p>
            <a:fld id="{BDCDBBEF-AA6C-4BA6-85B2-A17D7F280E38}" type="slidenum">
              <a:rPr lang="en-US" smtClean="0"/>
              <a:pPr/>
              <a:t>5</a:t>
            </a:fld>
            <a:endParaRPr lang="en-US"/>
          </a:p>
        </p:txBody>
      </p:sp>
      <p:sp>
        <p:nvSpPr>
          <p:cNvPr id="5" name="TextBox 4">
            <a:extLst>
              <a:ext uri="{FF2B5EF4-FFF2-40B4-BE49-F238E27FC236}">
                <a16:creationId xmlns:a16="http://schemas.microsoft.com/office/drawing/2014/main" id="{A5F5E4B6-2F2D-4512-A3F8-BF729BD8C562}"/>
              </a:ext>
            </a:extLst>
          </p:cNvPr>
          <p:cNvSpPr txBox="1"/>
          <p:nvPr/>
        </p:nvSpPr>
        <p:spPr>
          <a:xfrm>
            <a:off x="1013188" y="400050"/>
            <a:ext cx="4130312" cy="5324535"/>
          </a:xfrm>
          <a:prstGeom prst="rect">
            <a:avLst/>
          </a:prstGeom>
          <a:noFill/>
        </p:spPr>
        <p:txBody>
          <a:bodyPr wrap="square" rtlCol="0">
            <a:spAutoFit/>
          </a:bodyPr>
          <a:lstStyle/>
          <a:p>
            <a:pPr algn="ctr"/>
            <a:r>
              <a:rPr lang="en-US" sz="2400" b="1" dirty="0">
                <a:solidFill>
                  <a:srgbClr val="FF0000"/>
                </a:solidFill>
              </a:rPr>
              <a:t>What</a:t>
            </a:r>
          </a:p>
          <a:p>
            <a:pPr algn="ctr"/>
            <a:r>
              <a:rPr lang="en-US" sz="2800" dirty="0"/>
              <a:t>An </a:t>
            </a:r>
            <a:r>
              <a:rPr lang="en-US" sz="2800" b="1" dirty="0"/>
              <a:t>algorithm</a:t>
            </a:r>
            <a:r>
              <a:rPr lang="en-US" sz="2800" dirty="0"/>
              <a:t> is a set of instructions designed to perform a specific task, In computer </a:t>
            </a:r>
            <a:r>
              <a:rPr lang="en-US" sz="2800" b="1" dirty="0"/>
              <a:t>programming</a:t>
            </a:r>
            <a:r>
              <a:rPr lang="en-US" sz="2800" dirty="0"/>
              <a:t>, </a:t>
            </a:r>
            <a:r>
              <a:rPr lang="en-US" sz="2800" b="1" dirty="0"/>
              <a:t>algorithms</a:t>
            </a:r>
            <a:r>
              <a:rPr lang="en-US" sz="2800" dirty="0"/>
              <a:t> are often created as functions. These functions serve as small programs that can be referenced by a larger </a:t>
            </a:r>
            <a:r>
              <a:rPr lang="en-US" sz="2800" b="1" dirty="0"/>
              <a:t>program</a:t>
            </a:r>
            <a:endParaRPr lang="en-US" sz="2800" b="1" dirty="0">
              <a:solidFill>
                <a:srgbClr val="FF0000"/>
              </a:solidFill>
            </a:endParaRPr>
          </a:p>
          <a:p>
            <a:pPr algn="ctr"/>
            <a:endParaRPr lang="en-US" b="1" dirty="0">
              <a:solidFill>
                <a:srgbClr val="FF0000"/>
              </a:solidFill>
            </a:endParaRPr>
          </a:p>
          <a:p>
            <a:pPr algn="ctr"/>
            <a:endParaRPr lang="en-IN" b="1" dirty="0">
              <a:solidFill>
                <a:srgbClr val="FF0000"/>
              </a:solidFill>
            </a:endParaRPr>
          </a:p>
        </p:txBody>
      </p:sp>
    </p:spTree>
    <p:extLst>
      <p:ext uri="{BB962C8B-B14F-4D97-AF65-F5344CB8AC3E}">
        <p14:creationId xmlns:p14="http://schemas.microsoft.com/office/powerpoint/2010/main" val="49429449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84800" y="1028700"/>
            <a:ext cx="5778500" cy="4873625"/>
          </a:xfrm>
        </p:spPr>
        <p:txBody>
          <a:bodyPr>
            <a:normAutofit/>
          </a:bodyPr>
          <a:lstStyle/>
          <a:p>
            <a:r>
              <a:rPr lang="en-US" sz="2400" dirty="0">
                <a:latin typeface="Casper" panose="02000506000000020004" pitchFamily="2" charset="0"/>
                <a:cs typeface="Arial" panose="020B0604020202020204" pitchFamily="34" charset="0"/>
              </a:rPr>
              <a:t>Space for visual (size 24)</a:t>
            </a:r>
          </a:p>
          <a:p>
            <a:endParaRPr lang="en-US" sz="2400" dirty="0">
              <a:latin typeface="Casper" panose="02000506000000020004" pitchFamily="2" charset="0"/>
              <a:cs typeface="Arial" panose="020B0604020202020204" pitchFamily="34" charset="0"/>
            </a:endParaRPr>
          </a:p>
          <a:p>
            <a:pPr marL="0" indent="0">
              <a:buNone/>
            </a:pPr>
            <a:endParaRPr lang="en-US" sz="2400" dirty="0">
              <a:latin typeface="Casper" panose="02000506000000020004" pitchFamily="2" charset="0"/>
              <a:cs typeface="Arial" panose="020B0604020202020204" pitchFamily="34" charset="0"/>
            </a:endParaRPr>
          </a:p>
        </p:txBody>
      </p:sp>
      <p:sp>
        <p:nvSpPr>
          <p:cNvPr id="4" name="Text Placeholder 3"/>
          <p:cNvSpPr>
            <a:spLocks noGrp="1"/>
          </p:cNvSpPr>
          <p:nvPr>
            <p:ph type="body" sz="half" idx="2"/>
          </p:nvPr>
        </p:nvSpPr>
        <p:spPr>
          <a:xfrm>
            <a:off x="839787" y="3955256"/>
            <a:ext cx="3932237" cy="2045494"/>
          </a:xfrm>
        </p:spPr>
        <p:txBody>
          <a:bodyPr/>
          <a:lstStyle/>
          <a:p>
            <a:pPr marL="285750" indent="-285750">
              <a:buFont typeface="Arial" panose="020B0604020202020204" pitchFamily="34" charset="0"/>
              <a:buChar char="•"/>
            </a:pPr>
            <a:r>
              <a:rPr lang="en-US" b="1" dirty="0">
                <a:latin typeface="Casper"/>
              </a:rPr>
              <a:t>Introduction to C Programming </a:t>
            </a:r>
          </a:p>
          <a:p>
            <a:pPr marL="285750" indent="-285750">
              <a:buFont typeface="Arial" panose="020B0604020202020204" pitchFamily="34" charset="0"/>
              <a:buChar char="•"/>
            </a:pPr>
            <a:r>
              <a:rPr lang="en-US" b="1" dirty="0">
                <a:latin typeface="Casper"/>
              </a:rPr>
              <a:t>Features of C programming </a:t>
            </a:r>
          </a:p>
          <a:p>
            <a:pPr marL="285750" indent="-285750">
              <a:buFont typeface="Arial" panose="020B0604020202020204" pitchFamily="34" charset="0"/>
              <a:buChar char="•"/>
            </a:pPr>
            <a:r>
              <a:rPr lang="en-US" b="1" dirty="0">
                <a:latin typeface="Casper"/>
              </a:rPr>
              <a:t>Algorithms</a:t>
            </a:r>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6</a:t>
            </a:fld>
            <a:endParaRPr lang="en-US" dirty="0"/>
          </a:p>
        </p:txBody>
      </p:sp>
      <p:sp>
        <p:nvSpPr>
          <p:cNvPr id="8" name="Title 7"/>
          <p:cNvSpPr txBox="1">
            <a:spLocks noGrp="1" noChangeArrowheads="1"/>
          </p:cNvSpPr>
          <p:nvPr>
            <p:ph type="title"/>
          </p:nvPr>
        </p:nvSpPr>
        <p:spPr bwMode="auto">
          <a:xfrm>
            <a:off x="449262" y="2343863"/>
            <a:ext cx="4456567"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Casper Bold" panose="02000806040000020004" pitchFamily="2" charset="0"/>
                <a:ea typeface="Karla" pitchFamily="2" charset="0"/>
                <a:cs typeface="Karla" pitchFamily="2" charset="0"/>
              </a:rPr>
              <a:t>CONTENTS</a:t>
            </a:r>
            <a:r>
              <a:rPr lang="en-US" sz="2000" b="1" dirty="0">
                <a:latin typeface="Karla" pitchFamily="2" charset="0"/>
                <a:ea typeface="Karla" pitchFamily="2" charset="0"/>
                <a:cs typeface="Karla" pitchFamily="2" charset="0"/>
              </a:rPr>
              <a:t/>
            </a:r>
            <a:br>
              <a:rPr lang="en-US" sz="2000" b="1" dirty="0">
                <a:latin typeface="Karla" pitchFamily="2" charset="0"/>
                <a:ea typeface="Karla" pitchFamily="2" charset="0"/>
                <a:cs typeface="Karla" pitchFamily="2" charset="0"/>
              </a:rPr>
            </a:br>
            <a:endParaRPr lang="en-US" sz="1600" dirty="0">
              <a:latin typeface="Raleway ExtraBold" pitchFamily="34" charset="-52"/>
            </a:endParaRPr>
          </a:p>
        </p:txBody>
      </p:sp>
      <p:sp>
        <p:nvSpPr>
          <p:cNvPr id="2" name="Rectangle 1"/>
          <p:cNvSpPr/>
          <p:nvPr/>
        </p:nvSpPr>
        <p:spPr>
          <a:xfrm>
            <a:off x="5295900" y="838200"/>
            <a:ext cx="5867400" cy="55181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516164" y="3479800"/>
            <a:ext cx="4322762" cy="25209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41FEBE20-7F3E-4107-A68B-63E5D8CB51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4834" y="946150"/>
            <a:ext cx="5828466" cy="5302250"/>
          </a:xfrm>
          <a:prstGeom prst="rect">
            <a:avLst/>
          </a:prstGeom>
        </p:spPr>
      </p:pic>
    </p:spTree>
    <p:extLst>
      <p:ext uri="{BB962C8B-B14F-4D97-AF65-F5344CB8AC3E}">
        <p14:creationId xmlns:p14="http://schemas.microsoft.com/office/powerpoint/2010/main" val="693801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8959A-E274-48FD-824C-42FC29C0345B}"/>
              </a:ext>
            </a:extLst>
          </p:cNvPr>
          <p:cNvSpPr>
            <a:spLocks noGrp="1"/>
          </p:cNvSpPr>
          <p:nvPr>
            <p:ph type="title"/>
          </p:nvPr>
        </p:nvSpPr>
        <p:spPr/>
        <p:txBody>
          <a:bodyPr/>
          <a:lstStyle/>
          <a:p>
            <a:r>
              <a:rPr lang="en-US" dirty="0"/>
              <a:t>Programming Language</a:t>
            </a:r>
            <a:endParaRPr lang="en-IN" dirty="0"/>
          </a:p>
        </p:txBody>
      </p:sp>
      <p:sp>
        <p:nvSpPr>
          <p:cNvPr id="3" name="Content Placeholder 2">
            <a:extLst>
              <a:ext uri="{FF2B5EF4-FFF2-40B4-BE49-F238E27FC236}">
                <a16:creationId xmlns:a16="http://schemas.microsoft.com/office/drawing/2014/main" id="{33B5843A-DD22-4C0F-846E-9CD268E98161}"/>
              </a:ext>
            </a:extLst>
          </p:cNvPr>
          <p:cNvSpPr>
            <a:spLocks noGrp="1"/>
          </p:cNvSpPr>
          <p:nvPr>
            <p:ph idx="1"/>
          </p:nvPr>
        </p:nvSpPr>
        <p:spPr>
          <a:xfrm>
            <a:off x="838200" y="1419225"/>
            <a:ext cx="10515600" cy="981075"/>
          </a:xfrm>
        </p:spPr>
        <p:txBody>
          <a:bodyPr>
            <a:normAutofit/>
          </a:bodyPr>
          <a:lstStyle/>
          <a:p>
            <a:r>
              <a:rPr lang="en-IN" dirty="0"/>
              <a:t>The language, through which user can interact with computer is known as computer language or programming language.</a:t>
            </a:r>
          </a:p>
          <a:p>
            <a:endParaRPr lang="en-IN" dirty="0"/>
          </a:p>
          <a:p>
            <a:endParaRPr lang="en-IN" dirty="0"/>
          </a:p>
        </p:txBody>
      </p:sp>
      <p:sp>
        <p:nvSpPr>
          <p:cNvPr id="4" name="Slide Number Placeholder 3">
            <a:extLst>
              <a:ext uri="{FF2B5EF4-FFF2-40B4-BE49-F238E27FC236}">
                <a16:creationId xmlns:a16="http://schemas.microsoft.com/office/drawing/2014/main" id="{EC4390CB-5263-4801-8FAE-57C800310CB8}"/>
              </a:ext>
            </a:extLst>
          </p:cNvPr>
          <p:cNvSpPr>
            <a:spLocks noGrp="1"/>
          </p:cNvSpPr>
          <p:nvPr>
            <p:ph type="sldNum" sz="quarter" idx="12"/>
          </p:nvPr>
        </p:nvSpPr>
        <p:spPr/>
        <p:txBody>
          <a:bodyPr/>
          <a:lstStyle/>
          <a:p>
            <a:fld id="{BDCDBBEF-AA6C-4BA6-85B2-A17D7F280E38}" type="slidenum">
              <a:rPr lang="en-US" smtClean="0"/>
              <a:pPr/>
              <a:t>7</a:t>
            </a:fld>
            <a:endParaRPr lang="en-US"/>
          </a:p>
        </p:txBody>
      </p:sp>
      <p:sp>
        <p:nvSpPr>
          <p:cNvPr id="9" name="Content Placeholder 2">
            <a:extLst>
              <a:ext uri="{FF2B5EF4-FFF2-40B4-BE49-F238E27FC236}">
                <a16:creationId xmlns:a16="http://schemas.microsoft.com/office/drawing/2014/main" id="{DD4BF05F-0AA7-4891-A774-91A417052B38}"/>
              </a:ext>
            </a:extLst>
          </p:cNvPr>
          <p:cNvSpPr txBox="1">
            <a:spLocks/>
          </p:cNvSpPr>
          <p:nvPr/>
        </p:nvSpPr>
        <p:spPr>
          <a:xfrm>
            <a:off x="838200" y="1419225"/>
            <a:ext cx="10515600" cy="47577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dirty="0"/>
          </a:p>
          <a:p>
            <a:endParaRPr lang="en-IN" dirty="0"/>
          </a:p>
        </p:txBody>
      </p:sp>
      <p:pic>
        <p:nvPicPr>
          <p:cNvPr id="10244" name="Picture 4" descr="Low Level Language - Tutorial And Example">
            <a:extLst>
              <a:ext uri="{FF2B5EF4-FFF2-40B4-BE49-F238E27FC236}">
                <a16:creationId xmlns:a16="http://schemas.microsoft.com/office/drawing/2014/main" id="{E6440E00-20C4-4443-961A-C781805FDF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1401" y="2744788"/>
            <a:ext cx="4729146" cy="36115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24225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31985-3FAB-48C2-AA5B-7647D91107E2}"/>
              </a:ext>
            </a:extLst>
          </p:cNvPr>
          <p:cNvSpPr>
            <a:spLocks noGrp="1"/>
          </p:cNvSpPr>
          <p:nvPr>
            <p:ph type="title"/>
          </p:nvPr>
        </p:nvSpPr>
        <p:spPr/>
        <p:txBody>
          <a:bodyPr/>
          <a:lstStyle/>
          <a:p>
            <a:r>
              <a:rPr lang="en-IN" b="1" dirty="0"/>
              <a:t>Types of Programming language:</a:t>
            </a:r>
          </a:p>
        </p:txBody>
      </p:sp>
      <p:sp>
        <p:nvSpPr>
          <p:cNvPr id="3" name="Content Placeholder 2">
            <a:extLst>
              <a:ext uri="{FF2B5EF4-FFF2-40B4-BE49-F238E27FC236}">
                <a16:creationId xmlns:a16="http://schemas.microsoft.com/office/drawing/2014/main" id="{6CFEC9A2-B69A-4277-9D03-E512981DF1FF}"/>
              </a:ext>
            </a:extLst>
          </p:cNvPr>
          <p:cNvSpPr>
            <a:spLocks noGrp="1"/>
          </p:cNvSpPr>
          <p:nvPr>
            <p:ph idx="1"/>
          </p:nvPr>
        </p:nvSpPr>
        <p:spPr/>
        <p:txBody>
          <a:bodyPr/>
          <a:lstStyle/>
          <a:p>
            <a:pPr algn="just"/>
            <a:r>
              <a:rPr lang="en-US" b="1" dirty="0"/>
              <a:t>Machine language</a:t>
            </a:r>
            <a:r>
              <a:rPr lang="en-US" dirty="0"/>
              <a:t> is the low level programming </a:t>
            </a:r>
            <a:r>
              <a:rPr lang="en-US" b="1" dirty="0"/>
              <a:t>language</a:t>
            </a:r>
            <a:r>
              <a:rPr lang="en-US" dirty="0"/>
              <a:t>. </a:t>
            </a:r>
            <a:r>
              <a:rPr lang="en-US" b="1" dirty="0"/>
              <a:t>Machine language</a:t>
            </a:r>
            <a:r>
              <a:rPr lang="en-US" dirty="0"/>
              <a:t> can only be represented by 0s and 1s, it is a collection of binary digits or bits that the computer reads and interprets directly </a:t>
            </a:r>
          </a:p>
          <a:p>
            <a:pPr algn="just"/>
            <a:r>
              <a:rPr lang="en-US" dirty="0"/>
              <a:t>In earlier when we have to create a picture or show data on the screen of the computer then it is very difficult to draw using only binary digits(0s and 1s). For example: To write 120 in the computer system its representation is 1111000. So it is very difficult to learn.</a:t>
            </a:r>
          </a:p>
          <a:p>
            <a:pPr marL="0" indent="0" algn="just">
              <a:buNone/>
            </a:pPr>
            <a:endParaRPr lang="en-US" dirty="0"/>
          </a:p>
          <a:p>
            <a:pPr marL="0" indent="0" algn="just">
              <a:buNone/>
            </a:pPr>
            <a:r>
              <a:rPr lang="en-US" b="1" dirty="0"/>
              <a:t> To overcome this problem the assembly language is invented.</a:t>
            </a:r>
            <a:endParaRPr lang="en-IN" b="1" dirty="0"/>
          </a:p>
        </p:txBody>
      </p:sp>
      <p:sp>
        <p:nvSpPr>
          <p:cNvPr id="4" name="Slide Number Placeholder 3">
            <a:extLst>
              <a:ext uri="{FF2B5EF4-FFF2-40B4-BE49-F238E27FC236}">
                <a16:creationId xmlns:a16="http://schemas.microsoft.com/office/drawing/2014/main" id="{1A697050-BFAD-4381-94E2-DB5D802DD8B6}"/>
              </a:ext>
            </a:extLst>
          </p:cNvPr>
          <p:cNvSpPr>
            <a:spLocks noGrp="1"/>
          </p:cNvSpPr>
          <p:nvPr>
            <p:ph type="sldNum" sz="quarter" idx="12"/>
          </p:nvPr>
        </p:nvSpPr>
        <p:spPr/>
        <p:txBody>
          <a:bodyPr/>
          <a:lstStyle/>
          <a:p>
            <a:fld id="{BDCDBBEF-AA6C-4BA6-85B2-A17D7F280E38}" type="slidenum">
              <a:rPr lang="en-US" smtClean="0"/>
              <a:pPr/>
              <a:t>8</a:t>
            </a:fld>
            <a:endParaRPr lang="en-US"/>
          </a:p>
        </p:txBody>
      </p:sp>
    </p:spTree>
    <p:extLst>
      <p:ext uri="{BB962C8B-B14F-4D97-AF65-F5344CB8AC3E}">
        <p14:creationId xmlns:p14="http://schemas.microsoft.com/office/powerpoint/2010/main" val="31330717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71AAADB-9FBE-48AF-822A-096B03FB1D7E}"/>
              </a:ext>
            </a:extLst>
          </p:cNvPr>
          <p:cNvSpPr>
            <a:spLocks noGrp="1"/>
          </p:cNvSpPr>
          <p:nvPr>
            <p:ph idx="1"/>
          </p:nvPr>
        </p:nvSpPr>
        <p:spPr>
          <a:xfrm>
            <a:off x="838200" y="1095375"/>
            <a:ext cx="10515600" cy="4667250"/>
          </a:xfrm>
        </p:spPr>
        <p:txBody>
          <a:bodyPr>
            <a:normAutofit fontScale="92500" lnSpcReduction="10000"/>
          </a:bodyPr>
          <a:lstStyle/>
          <a:p>
            <a:r>
              <a:rPr lang="en-US" b="1" dirty="0"/>
              <a:t>Assembly language </a:t>
            </a:r>
            <a:r>
              <a:rPr lang="en-US" dirty="0"/>
              <a:t>is the more than low level and less than high-level language so it is intermediary language. Assembly languages use numbers, symbols, and abbreviations instead of 0s and 1s.For example: For addition, subtraction and multiplications it uses symbols likes Add, Sub and </a:t>
            </a:r>
            <a:r>
              <a:rPr lang="en-US" dirty="0" err="1"/>
              <a:t>Mul</a:t>
            </a:r>
            <a:r>
              <a:rPr lang="en-US" dirty="0"/>
              <a:t>, etc.</a:t>
            </a:r>
          </a:p>
          <a:p>
            <a:endParaRPr lang="en-US" b="1" dirty="0"/>
          </a:p>
          <a:p>
            <a:r>
              <a:rPr lang="en-US" b="1" dirty="0"/>
              <a:t>High-level languages </a:t>
            </a:r>
            <a:r>
              <a:rPr lang="en-US" dirty="0"/>
              <a:t>are designed to be used by the human operator or the programmer. They are referred to as "closer to humans." In other words, their programming style and context is easier to learn and implement than low-level languages</a:t>
            </a:r>
          </a:p>
          <a:p>
            <a:pPr marL="0" indent="0">
              <a:buNone/>
            </a:pPr>
            <a:r>
              <a:rPr lang="en-US" b="1" dirty="0"/>
              <a:t>Examples</a:t>
            </a:r>
            <a:r>
              <a:rPr lang="en-US" dirty="0"/>
              <a:t> of </a:t>
            </a:r>
            <a:r>
              <a:rPr lang="en-US" b="1" dirty="0"/>
              <a:t>high</a:t>
            </a:r>
            <a:r>
              <a:rPr lang="en-US" dirty="0"/>
              <a:t>-</a:t>
            </a:r>
            <a:r>
              <a:rPr lang="en-US" b="1" dirty="0"/>
              <a:t>level programming languages</a:t>
            </a:r>
            <a:r>
              <a:rPr lang="en-US" dirty="0"/>
              <a:t> in active use today include Python, Visual Basic, Delphi, Perl, PHP, ECMAScript, Ruby, C#, Java and many others. </a:t>
            </a:r>
            <a:endParaRPr lang="en-IN" dirty="0"/>
          </a:p>
        </p:txBody>
      </p:sp>
      <p:sp>
        <p:nvSpPr>
          <p:cNvPr id="4" name="Slide Number Placeholder 3">
            <a:extLst>
              <a:ext uri="{FF2B5EF4-FFF2-40B4-BE49-F238E27FC236}">
                <a16:creationId xmlns:a16="http://schemas.microsoft.com/office/drawing/2014/main" id="{1515AD99-9A50-4D07-80F9-12E8CE5E866E}"/>
              </a:ext>
            </a:extLst>
          </p:cNvPr>
          <p:cNvSpPr>
            <a:spLocks noGrp="1"/>
          </p:cNvSpPr>
          <p:nvPr>
            <p:ph type="sldNum" sz="quarter" idx="12"/>
          </p:nvPr>
        </p:nvSpPr>
        <p:spPr/>
        <p:txBody>
          <a:bodyPr/>
          <a:lstStyle/>
          <a:p>
            <a:fld id="{BDCDBBEF-AA6C-4BA6-85B2-A17D7F280E38}" type="slidenum">
              <a:rPr lang="en-US" smtClean="0"/>
              <a:pPr/>
              <a:t>9</a:t>
            </a:fld>
            <a:endParaRPr lang="en-US"/>
          </a:p>
        </p:txBody>
      </p:sp>
    </p:spTree>
    <p:extLst>
      <p:ext uri="{BB962C8B-B14F-4D97-AF65-F5344CB8AC3E}">
        <p14:creationId xmlns:p14="http://schemas.microsoft.com/office/powerpoint/2010/main" val="3133394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A26F4-B92B-4BB8-855B-1C0A612AA7D5}"/>
              </a:ext>
            </a:extLst>
          </p:cNvPr>
          <p:cNvSpPr>
            <a:spLocks noGrp="1"/>
          </p:cNvSpPr>
          <p:nvPr>
            <p:ph type="title"/>
          </p:nvPr>
        </p:nvSpPr>
        <p:spPr>
          <a:xfrm>
            <a:off x="838200" y="136525"/>
            <a:ext cx="10515600" cy="1325563"/>
          </a:xfrm>
        </p:spPr>
        <p:txBody>
          <a:bodyPr/>
          <a:lstStyle/>
          <a:p>
            <a:r>
              <a:rPr lang="en-IN" dirty="0"/>
              <a:t>Language Translator:</a:t>
            </a:r>
          </a:p>
        </p:txBody>
      </p:sp>
      <p:sp>
        <p:nvSpPr>
          <p:cNvPr id="4" name="Slide Number Placeholder 3">
            <a:extLst>
              <a:ext uri="{FF2B5EF4-FFF2-40B4-BE49-F238E27FC236}">
                <a16:creationId xmlns:a16="http://schemas.microsoft.com/office/drawing/2014/main" id="{591912EA-1099-4AD1-92D5-66B1F259D53C}"/>
              </a:ext>
            </a:extLst>
          </p:cNvPr>
          <p:cNvSpPr>
            <a:spLocks noGrp="1"/>
          </p:cNvSpPr>
          <p:nvPr>
            <p:ph type="sldNum" sz="quarter" idx="12"/>
          </p:nvPr>
        </p:nvSpPr>
        <p:spPr/>
        <p:txBody>
          <a:bodyPr/>
          <a:lstStyle/>
          <a:p>
            <a:fld id="{BDCDBBEF-AA6C-4BA6-85B2-A17D7F280E38}" type="slidenum">
              <a:rPr lang="en-US" smtClean="0"/>
              <a:pPr/>
              <a:t>10</a:t>
            </a:fld>
            <a:endParaRPr lang="en-US"/>
          </a:p>
        </p:txBody>
      </p:sp>
      <p:pic>
        <p:nvPicPr>
          <p:cNvPr id="5" name="Picture 4">
            <a:extLst>
              <a:ext uri="{FF2B5EF4-FFF2-40B4-BE49-F238E27FC236}">
                <a16:creationId xmlns:a16="http://schemas.microsoft.com/office/drawing/2014/main" id="{B062F2C2-EF74-4485-86C0-B0A78ADB4ECA}"/>
              </a:ext>
            </a:extLst>
          </p:cNvPr>
          <p:cNvPicPr>
            <a:picLocks noChangeAspect="1"/>
          </p:cNvPicPr>
          <p:nvPr/>
        </p:nvPicPr>
        <p:blipFill>
          <a:blip r:embed="rId3"/>
          <a:stretch>
            <a:fillRect/>
          </a:stretch>
        </p:blipFill>
        <p:spPr>
          <a:xfrm>
            <a:off x="3951058" y="1462088"/>
            <a:ext cx="4400550" cy="1952625"/>
          </a:xfrm>
          <a:prstGeom prst="rect">
            <a:avLst/>
          </a:prstGeom>
        </p:spPr>
      </p:pic>
      <p:pic>
        <p:nvPicPr>
          <p:cNvPr id="12294" name="Picture 6" descr="Assembly Language">
            <a:extLst>
              <a:ext uri="{FF2B5EF4-FFF2-40B4-BE49-F238E27FC236}">
                <a16:creationId xmlns:a16="http://schemas.microsoft.com/office/drawing/2014/main" id="{8A0EC573-154A-4254-85A9-ECB9BF856389}"/>
              </a:ext>
            </a:extLst>
          </p:cNvPr>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3821562" y="4172807"/>
            <a:ext cx="4659542" cy="1778451"/>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9620CD9E-23C5-4D7B-9C96-C979AF0F4850}"/>
              </a:ext>
            </a:extLst>
          </p:cNvPr>
          <p:cNvSpPr/>
          <p:nvPr/>
        </p:nvSpPr>
        <p:spPr>
          <a:xfrm>
            <a:off x="1149896" y="3539887"/>
            <a:ext cx="2888704" cy="523220"/>
          </a:xfrm>
          <a:prstGeom prst="rect">
            <a:avLst/>
          </a:prstGeom>
        </p:spPr>
        <p:txBody>
          <a:bodyPr wrap="square">
            <a:spAutoFit/>
          </a:bodyPr>
          <a:lstStyle/>
          <a:p>
            <a:r>
              <a:rPr lang="en-IN" sz="2800" u="sng" dirty="0">
                <a:solidFill>
                  <a:srgbClr val="FF0000"/>
                </a:solidFill>
              </a:rPr>
              <a:t>Job of Assembler:</a:t>
            </a:r>
          </a:p>
        </p:txBody>
      </p:sp>
    </p:spTree>
    <p:extLst>
      <p:ext uri="{BB962C8B-B14F-4D97-AF65-F5344CB8AC3E}">
        <p14:creationId xmlns:p14="http://schemas.microsoft.com/office/powerpoint/2010/main" val="41771259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2294"/>
                                        </p:tgtEl>
                                        <p:attrNameLst>
                                          <p:attrName>style.visibility</p:attrName>
                                        </p:attrNameLst>
                                      </p:cBhvr>
                                      <p:to>
                                        <p:strVal val="visible"/>
                                      </p:to>
                                    </p:set>
                                    <p:anim calcmode="lin" valueType="num">
                                      <p:cBhvr>
                                        <p:cTn id="7" dur="500" fill="hold"/>
                                        <p:tgtEl>
                                          <p:spTgt spid="12294"/>
                                        </p:tgtEl>
                                        <p:attrNameLst>
                                          <p:attrName>ppt_w</p:attrName>
                                        </p:attrNameLst>
                                      </p:cBhvr>
                                      <p:tavLst>
                                        <p:tav tm="0">
                                          <p:val>
                                            <p:fltVal val="0"/>
                                          </p:val>
                                        </p:tav>
                                        <p:tav tm="100000">
                                          <p:val>
                                            <p:strVal val="#ppt_w"/>
                                          </p:val>
                                        </p:tav>
                                      </p:tavLst>
                                    </p:anim>
                                    <p:anim calcmode="lin" valueType="num">
                                      <p:cBhvr>
                                        <p:cTn id="8" dur="500" fill="hold"/>
                                        <p:tgtEl>
                                          <p:spTgt spid="12294"/>
                                        </p:tgtEl>
                                        <p:attrNameLst>
                                          <p:attrName>ppt_h</p:attrName>
                                        </p:attrNameLst>
                                      </p:cBhvr>
                                      <p:tavLst>
                                        <p:tav tm="0">
                                          <p:val>
                                            <p:fltVal val="0"/>
                                          </p:val>
                                        </p:tav>
                                        <p:tav tm="100000">
                                          <p:val>
                                            <p:strVal val="#ppt_h"/>
                                          </p:val>
                                        </p:tav>
                                      </p:tavLst>
                                    </p:anim>
                                    <p:animEffect transition="in" filter="fade">
                                      <p:cBhvr>
                                        <p:cTn id="9" dur="500"/>
                                        <p:tgtEl>
                                          <p:spTgt spid="122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D40AB-7C0B-4858-9355-7320488964C0}"/>
              </a:ext>
            </a:extLst>
          </p:cNvPr>
          <p:cNvSpPr>
            <a:spLocks noGrp="1"/>
          </p:cNvSpPr>
          <p:nvPr>
            <p:ph type="title"/>
          </p:nvPr>
        </p:nvSpPr>
        <p:spPr/>
        <p:txBody>
          <a:bodyPr/>
          <a:lstStyle/>
          <a:p>
            <a:r>
              <a:rPr lang="en-IN" b="1" dirty="0"/>
              <a:t>Compiler &amp; interpreter</a:t>
            </a:r>
          </a:p>
        </p:txBody>
      </p:sp>
      <p:sp>
        <p:nvSpPr>
          <p:cNvPr id="4" name="Slide Number Placeholder 3">
            <a:extLst>
              <a:ext uri="{FF2B5EF4-FFF2-40B4-BE49-F238E27FC236}">
                <a16:creationId xmlns:a16="http://schemas.microsoft.com/office/drawing/2014/main" id="{6CB90A77-5BAF-4141-BF8A-9F443ED35A13}"/>
              </a:ext>
            </a:extLst>
          </p:cNvPr>
          <p:cNvSpPr>
            <a:spLocks noGrp="1"/>
          </p:cNvSpPr>
          <p:nvPr>
            <p:ph type="sldNum" sz="quarter" idx="12"/>
          </p:nvPr>
        </p:nvSpPr>
        <p:spPr/>
        <p:txBody>
          <a:bodyPr/>
          <a:lstStyle/>
          <a:p>
            <a:fld id="{BDCDBBEF-AA6C-4BA6-85B2-A17D7F280E38}" type="slidenum">
              <a:rPr lang="en-US" smtClean="0"/>
              <a:pPr/>
              <a:t>11</a:t>
            </a:fld>
            <a:endParaRPr lang="en-US"/>
          </a:p>
        </p:txBody>
      </p:sp>
      <p:pic>
        <p:nvPicPr>
          <p:cNvPr id="7" name="Picture 2" descr="What is the purpose of compiling code? - Quora">
            <a:extLst>
              <a:ext uri="{FF2B5EF4-FFF2-40B4-BE49-F238E27FC236}">
                <a16:creationId xmlns:a16="http://schemas.microsoft.com/office/drawing/2014/main" id="{DEB21E7B-0ED9-4BE6-BAF9-04DFB2A92A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09714" y="1690688"/>
            <a:ext cx="5377186" cy="2137087"/>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a:extLst>
              <a:ext uri="{FF2B5EF4-FFF2-40B4-BE49-F238E27FC236}">
                <a16:creationId xmlns:a16="http://schemas.microsoft.com/office/drawing/2014/main" id="{98D3B094-1417-438B-BCFA-0D49DB606AA7}"/>
              </a:ext>
            </a:extLst>
          </p:cNvPr>
          <p:cNvSpPr/>
          <p:nvPr/>
        </p:nvSpPr>
        <p:spPr>
          <a:xfrm>
            <a:off x="1200150" y="4475887"/>
            <a:ext cx="10153650" cy="1938992"/>
          </a:xfrm>
          <a:prstGeom prst="rect">
            <a:avLst/>
          </a:prstGeom>
        </p:spPr>
        <p:txBody>
          <a:bodyPr wrap="square">
            <a:spAutoFit/>
          </a:bodyPr>
          <a:lstStyle/>
          <a:p>
            <a:pPr algn="just"/>
            <a:r>
              <a:rPr lang="en-US" sz="2400" b="1" dirty="0"/>
              <a:t>Compiler</a:t>
            </a:r>
            <a:r>
              <a:rPr lang="en-US" sz="2400" dirty="0"/>
              <a:t> transforms code written in a high-level programming language into the machine code, at once, before program runs, whereas an </a:t>
            </a:r>
            <a:r>
              <a:rPr lang="en-US" sz="2400" b="1" dirty="0"/>
              <a:t>Interpreter</a:t>
            </a:r>
            <a:r>
              <a:rPr lang="en-US" sz="2400" dirty="0"/>
              <a:t> coverts each high-level program statement, one by one, into the machine code, during program run. </a:t>
            </a:r>
          </a:p>
          <a:p>
            <a:pPr algn="just"/>
            <a:r>
              <a:rPr lang="en-US" sz="2400" b="1" dirty="0"/>
              <a:t>Compiled code runs faster while interpreted code runs slower.</a:t>
            </a:r>
            <a:endParaRPr lang="en-IN" sz="2400" b="1" dirty="0"/>
          </a:p>
        </p:txBody>
      </p:sp>
    </p:spTree>
    <p:extLst>
      <p:ext uri="{BB962C8B-B14F-4D97-AF65-F5344CB8AC3E}">
        <p14:creationId xmlns:p14="http://schemas.microsoft.com/office/powerpoint/2010/main" val="7176079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7"/>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0718D-A84A-4424-A12D-29392897B864}"/>
              </a:ext>
            </a:extLst>
          </p:cNvPr>
          <p:cNvSpPr>
            <a:spLocks noGrp="1"/>
          </p:cNvSpPr>
          <p:nvPr>
            <p:ph type="title"/>
          </p:nvPr>
        </p:nvSpPr>
        <p:spPr/>
        <p:txBody>
          <a:bodyPr/>
          <a:lstStyle/>
          <a:p>
            <a:r>
              <a:rPr lang="en-IN" b="1" dirty="0"/>
              <a:t>C language </a:t>
            </a:r>
          </a:p>
        </p:txBody>
      </p:sp>
      <p:sp>
        <p:nvSpPr>
          <p:cNvPr id="3" name="Content Placeholder 2">
            <a:extLst>
              <a:ext uri="{FF2B5EF4-FFF2-40B4-BE49-F238E27FC236}">
                <a16:creationId xmlns:a16="http://schemas.microsoft.com/office/drawing/2014/main" id="{7C2ABE99-E415-44A2-A521-D1E264B8770F}"/>
              </a:ext>
            </a:extLst>
          </p:cNvPr>
          <p:cNvSpPr>
            <a:spLocks noGrp="1"/>
          </p:cNvSpPr>
          <p:nvPr>
            <p:ph idx="1"/>
          </p:nvPr>
        </p:nvSpPr>
        <p:spPr>
          <a:xfrm>
            <a:off x="838200" y="1371600"/>
            <a:ext cx="10515600" cy="5349875"/>
          </a:xfrm>
        </p:spPr>
        <p:txBody>
          <a:bodyPr>
            <a:normAutofit/>
          </a:bodyPr>
          <a:lstStyle/>
          <a:p>
            <a:pPr marL="0" indent="0" algn="just">
              <a:buNone/>
            </a:pPr>
            <a:r>
              <a:rPr lang="en-US" dirty="0"/>
              <a:t>C is a structured programming language. It was initially developed by Dennis Ritchie in the year 1972. It was mainly developed as a system programing language to write an operating system.</a:t>
            </a:r>
          </a:p>
          <a:p>
            <a:pPr marL="0" indent="0" algn="just">
              <a:buNone/>
            </a:pPr>
            <a:r>
              <a:rPr lang="en-US" b="1" dirty="0"/>
              <a:t>Features of C language:</a:t>
            </a:r>
          </a:p>
          <a:p>
            <a:pPr marL="0" indent="0" algn="just" fontAlgn="base">
              <a:buNone/>
            </a:pPr>
            <a:endParaRPr lang="en-US" dirty="0"/>
          </a:p>
        </p:txBody>
      </p:sp>
      <p:sp>
        <p:nvSpPr>
          <p:cNvPr id="4" name="Slide Number Placeholder 3">
            <a:extLst>
              <a:ext uri="{FF2B5EF4-FFF2-40B4-BE49-F238E27FC236}">
                <a16:creationId xmlns:a16="http://schemas.microsoft.com/office/drawing/2014/main" id="{25A449AC-AE41-4281-8DF6-20A18355241F}"/>
              </a:ext>
            </a:extLst>
          </p:cNvPr>
          <p:cNvSpPr>
            <a:spLocks noGrp="1"/>
          </p:cNvSpPr>
          <p:nvPr>
            <p:ph type="sldNum" sz="quarter" idx="12"/>
          </p:nvPr>
        </p:nvSpPr>
        <p:spPr/>
        <p:txBody>
          <a:bodyPr/>
          <a:lstStyle/>
          <a:p>
            <a:fld id="{BDCDBBEF-AA6C-4BA6-85B2-A17D7F280E38}" type="slidenum">
              <a:rPr lang="en-US" smtClean="0"/>
              <a:pPr/>
              <a:t>12</a:t>
            </a:fld>
            <a:endParaRPr lang="en-US"/>
          </a:p>
        </p:txBody>
      </p:sp>
      <p:pic>
        <p:nvPicPr>
          <p:cNvPr id="5" name="Picture 4">
            <a:extLst>
              <a:ext uri="{FF2B5EF4-FFF2-40B4-BE49-F238E27FC236}">
                <a16:creationId xmlns:a16="http://schemas.microsoft.com/office/drawing/2014/main" id="{E326CD07-00F4-4401-9130-FB635C084064}"/>
              </a:ext>
            </a:extLst>
          </p:cNvPr>
          <p:cNvPicPr>
            <a:picLocks noChangeAspect="1"/>
          </p:cNvPicPr>
          <p:nvPr/>
        </p:nvPicPr>
        <p:blipFill>
          <a:blip r:embed="rId3"/>
          <a:stretch>
            <a:fillRect/>
          </a:stretch>
        </p:blipFill>
        <p:spPr>
          <a:xfrm>
            <a:off x="4667250" y="2712623"/>
            <a:ext cx="4686300" cy="3950435"/>
          </a:xfrm>
          <a:prstGeom prst="rect">
            <a:avLst/>
          </a:prstGeom>
        </p:spPr>
      </p:pic>
    </p:spTree>
    <p:extLst>
      <p:ext uri="{BB962C8B-B14F-4D97-AF65-F5344CB8AC3E}">
        <p14:creationId xmlns:p14="http://schemas.microsoft.com/office/powerpoint/2010/main" val="29257699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5"/>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F1E1EF4-714C-47A4-BD82-D60639437F02}"/>
              </a:ext>
            </a:extLst>
          </p:cNvPr>
          <p:cNvSpPr>
            <a:spLocks noGrp="1"/>
          </p:cNvSpPr>
          <p:nvPr>
            <p:ph type="sldNum" sz="quarter" idx="12"/>
          </p:nvPr>
        </p:nvSpPr>
        <p:spPr/>
        <p:txBody>
          <a:bodyPr/>
          <a:lstStyle/>
          <a:p>
            <a:fld id="{BDCDBBEF-AA6C-4BA6-85B2-A17D7F280E38}" type="slidenum">
              <a:rPr lang="en-US" smtClean="0"/>
              <a:pPr/>
              <a:t>13</a:t>
            </a:fld>
            <a:endParaRPr lang="en-US"/>
          </a:p>
        </p:txBody>
      </p:sp>
      <p:sp>
        <p:nvSpPr>
          <p:cNvPr id="6" name="Rectangle 5">
            <a:extLst>
              <a:ext uri="{FF2B5EF4-FFF2-40B4-BE49-F238E27FC236}">
                <a16:creationId xmlns:a16="http://schemas.microsoft.com/office/drawing/2014/main" id="{D3D856DE-B87A-49C3-BFB4-ACDB7EC65831}"/>
              </a:ext>
            </a:extLst>
          </p:cNvPr>
          <p:cNvSpPr/>
          <p:nvPr/>
        </p:nvSpPr>
        <p:spPr>
          <a:xfrm>
            <a:off x="942975" y="581025"/>
            <a:ext cx="9867900" cy="8802410"/>
          </a:xfrm>
          <a:prstGeom prst="rect">
            <a:avLst/>
          </a:prstGeom>
        </p:spPr>
        <p:txBody>
          <a:bodyPr wrap="square">
            <a:spAutoFit/>
          </a:bodyPr>
          <a:lstStyle/>
          <a:p>
            <a:pPr algn="just"/>
            <a:r>
              <a:rPr lang="en-US" sz="2600" b="1" u="sng" dirty="0"/>
              <a:t>Structured programming language :</a:t>
            </a:r>
            <a:r>
              <a:rPr lang="en-US" sz="2600" dirty="0"/>
              <a:t>C is a structured programming language in the sense that </a:t>
            </a:r>
            <a:r>
              <a:rPr lang="en-US" sz="2600" b="1" dirty="0"/>
              <a:t>we can break the program into parts using functions</a:t>
            </a:r>
            <a:r>
              <a:rPr lang="en-US" sz="2600" dirty="0"/>
              <a:t>. So, it is easy to understand and modify. Functions also provide code reusability.</a:t>
            </a:r>
          </a:p>
          <a:p>
            <a:pPr algn="just" fontAlgn="base"/>
            <a:r>
              <a:rPr lang="en-US" sz="2600" b="1" u="sng" dirty="0"/>
              <a:t>Portability:</a:t>
            </a:r>
            <a:r>
              <a:rPr lang="en-US" sz="2600" u="sng" dirty="0"/>
              <a:t> </a:t>
            </a:r>
            <a:r>
              <a:rPr lang="en-US" sz="2600" dirty="0"/>
              <a:t>C language is lavishly portable as programs which are written in C language can run and compile on any system with either none or small changes.</a:t>
            </a:r>
          </a:p>
          <a:p>
            <a:pPr algn="just" fontAlgn="base"/>
            <a:r>
              <a:rPr lang="en-US" sz="2600" b="1" u="sng" dirty="0"/>
              <a:t>Fast and Efficient: </a:t>
            </a:r>
            <a:r>
              <a:rPr lang="en-US" sz="2600" dirty="0"/>
              <a:t>Programs Written in C are efficient and fast because of its variety of data type and powerful operators.</a:t>
            </a:r>
          </a:p>
          <a:p>
            <a:pPr algn="just" fontAlgn="base"/>
            <a:r>
              <a:rPr lang="en-US" sz="2600" b="1" u="sng" dirty="0"/>
              <a:t>Mid-level programming language:</a:t>
            </a:r>
            <a:r>
              <a:rPr lang="en-US" sz="2600" u="sng" dirty="0"/>
              <a:t> </a:t>
            </a:r>
            <a:r>
              <a:rPr lang="en-US" sz="2600" dirty="0"/>
              <a:t>As it is a middle-level language so it has the combined form of both, capabilities of assembly language and features of the high level language.</a:t>
            </a:r>
          </a:p>
          <a:p>
            <a:pPr algn="just" fontAlgn="base"/>
            <a:r>
              <a:rPr lang="en-US" sz="2800" b="1" u="sng" dirty="0"/>
              <a:t>Rich set of built-in Operators: </a:t>
            </a:r>
            <a:r>
              <a:rPr lang="en-US" sz="2800" dirty="0"/>
              <a:t>It is a diversified language with a rich set of built-in operators which are used in writing complex or simplified C programs.</a:t>
            </a:r>
          </a:p>
          <a:p>
            <a:pPr algn="just" fontAlgn="base"/>
            <a:endParaRPr lang="en-US" sz="2600" dirty="0"/>
          </a:p>
          <a:p>
            <a:pPr algn="just" fontAlgn="base"/>
            <a:endParaRPr lang="en-US" dirty="0"/>
          </a:p>
          <a:p>
            <a:pPr algn="just" fontAlgn="base"/>
            <a:endParaRPr lang="en-US" dirty="0"/>
          </a:p>
          <a:p>
            <a:pPr algn="just" fontAlgn="base"/>
            <a:endParaRPr lang="en-US" dirty="0"/>
          </a:p>
          <a:p>
            <a:pPr algn="just" fontAlgn="base"/>
            <a:endParaRPr lang="en-US" dirty="0"/>
          </a:p>
          <a:p>
            <a:pPr algn="just" fontAlgn="base"/>
            <a:endParaRPr lang="en-US" dirty="0"/>
          </a:p>
          <a:p>
            <a:pPr algn="just" fontAlgn="base"/>
            <a:endParaRPr lang="en-US" dirty="0"/>
          </a:p>
          <a:p>
            <a:pPr algn="just" fontAlgn="base"/>
            <a:endParaRPr lang="en-US" dirty="0"/>
          </a:p>
          <a:p>
            <a:pPr algn="just" fontAlgn="base"/>
            <a:endParaRPr lang="en-US" dirty="0"/>
          </a:p>
        </p:txBody>
      </p:sp>
    </p:spTree>
    <p:extLst>
      <p:ext uri="{BB962C8B-B14F-4D97-AF65-F5344CB8AC3E}">
        <p14:creationId xmlns:p14="http://schemas.microsoft.com/office/powerpoint/2010/main" val="3301104809"/>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910D392-44C6-4E56-85CC-E5D8C4EDB351}"/>
              </a:ext>
            </a:extLst>
          </p:cNvPr>
          <p:cNvSpPr>
            <a:spLocks noGrp="1"/>
          </p:cNvSpPr>
          <p:nvPr>
            <p:ph type="sldNum" sz="quarter" idx="12"/>
          </p:nvPr>
        </p:nvSpPr>
        <p:spPr/>
        <p:txBody>
          <a:bodyPr/>
          <a:lstStyle/>
          <a:p>
            <a:fld id="{BDCDBBEF-AA6C-4BA6-85B2-A17D7F280E38}" type="slidenum">
              <a:rPr lang="en-US" smtClean="0"/>
              <a:pPr/>
              <a:t>14</a:t>
            </a:fld>
            <a:endParaRPr lang="en-US"/>
          </a:p>
        </p:txBody>
      </p:sp>
      <p:sp>
        <p:nvSpPr>
          <p:cNvPr id="13" name="Content Placeholder 12">
            <a:extLst>
              <a:ext uri="{FF2B5EF4-FFF2-40B4-BE49-F238E27FC236}">
                <a16:creationId xmlns:a16="http://schemas.microsoft.com/office/drawing/2014/main" id="{2E6EB341-46D1-4485-A657-A561FB7C8120}"/>
              </a:ext>
            </a:extLst>
          </p:cNvPr>
          <p:cNvSpPr>
            <a:spLocks noGrp="1"/>
          </p:cNvSpPr>
          <p:nvPr>
            <p:ph idx="1"/>
          </p:nvPr>
        </p:nvSpPr>
        <p:spPr>
          <a:xfrm>
            <a:off x="1009649" y="460479"/>
            <a:ext cx="10344151" cy="6260996"/>
          </a:xfrm>
        </p:spPr>
        <p:txBody>
          <a:bodyPr>
            <a:normAutofit/>
          </a:bodyPr>
          <a:lstStyle/>
          <a:p>
            <a:pPr marL="0" indent="0">
              <a:buNone/>
            </a:pPr>
            <a:r>
              <a:rPr lang="en-US" b="1" u="sng" dirty="0"/>
              <a:t>Libraries with rich functions: </a:t>
            </a:r>
            <a:r>
              <a:rPr lang="en-US" dirty="0"/>
              <a:t>C provides a lot of inbuilt functions that make the development fast.</a:t>
            </a:r>
          </a:p>
          <a:p>
            <a:pPr marL="0" indent="0">
              <a:buNone/>
            </a:pPr>
            <a:r>
              <a:rPr lang="en-US" b="1" u="sng" dirty="0"/>
              <a:t>Memory Management: </a:t>
            </a:r>
            <a:r>
              <a:rPr lang="en-US" dirty="0"/>
              <a:t>It supports the feature of dynamic memory allocation. In C language, we can free the allocated memory at any time by calling the free() function.</a:t>
            </a:r>
          </a:p>
          <a:p>
            <a:pPr marL="0" indent="0" algn="just">
              <a:buNone/>
            </a:pPr>
            <a:r>
              <a:rPr lang="en-US" b="1" u="sng" dirty="0"/>
              <a:t>Pointer: </a:t>
            </a:r>
            <a:r>
              <a:rPr lang="en-US" dirty="0"/>
              <a:t>C provides the feature of pointers. We can directly interact with the memory by using the pointers. </a:t>
            </a:r>
          </a:p>
          <a:p>
            <a:pPr marL="0" indent="0" algn="just">
              <a:buNone/>
            </a:pPr>
            <a:r>
              <a:rPr lang="en-US" b="1" u="sng" dirty="0"/>
              <a:t>Recursion:</a:t>
            </a:r>
            <a:r>
              <a:rPr lang="en-US" dirty="0"/>
              <a:t> In C, we </a:t>
            </a:r>
            <a:r>
              <a:rPr lang="en-US" b="1" dirty="0"/>
              <a:t>can call the function within the function</a:t>
            </a:r>
            <a:r>
              <a:rPr lang="en-US" dirty="0"/>
              <a:t>. It provides code reusability for every function. Recursion enables us to use the approach of backtracking.</a:t>
            </a:r>
          </a:p>
          <a:p>
            <a:pPr marL="0" indent="0" algn="just" fontAlgn="base">
              <a:buNone/>
            </a:pPr>
            <a:r>
              <a:rPr lang="en-US" b="1" u="sng" dirty="0"/>
              <a:t>Easy to Extend:</a:t>
            </a:r>
            <a:r>
              <a:rPr lang="en-US" u="sng" dirty="0"/>
              <a:t> </a:t>
            </a:r>
            <a:r>
              <a:rPr lang="en-US" dirty="0"/>
              <a:t>Programs written in C language can be extended means when a program is already written in it then some more features and operations can be added into it.</a:t>
            </a:r>
          </a:p>
          <a:p>
            <a:pPr marL="0" indent="0">
              <a:buNone/>
            </a:pPr>
            <a:endParaRPr lang="en-US" dirty="0"/>
          </a:p>
          <a:p>
            <a:endParaRPr lang="en-US" dirty="0"/>
          </a:p>
          <a:p>
            <a:pPr marL="0" indent="0">
              <a:buNone/>
            </a:pPr>
            <a:endParaRPr lang="en-US" dirty="0"/>
          </a:p>
          <a:p>
            <a:endParaRPr lang="en-IN" dirty="0"/>
          </a:p>
        </p:txBody>
      </p:sp>
    </p:spTree>
    <p:extLst>
      <p:ext uri="{BB962C8B-B14F-4D97-AF65-F5344CB8AC3E}">
        <p14:creationId xmlns:p14="http://schemas.microsoft.com/office/powerpoint/2010/main" val="1612450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lgn="ctr"/>
            <a:r>
              <a:rPr lang="en-US" dirty="0">
                <a:latin typeface="Casper Bold" panose="02000806040000020004" pitchFamily="2" charset="0"/>
                <a:cs typeface="Arial" panose="020B0604020202020204" pitchFamily="34" charset="0"/>
              </a:rPr>
              <a:t>ALGORITHM</a:t>
            </a:r>
            <a:endParaRPr lang="en-US" dirty="0"/>
          </a:p>
        </p:txBody>
      </p:sp>
      <p:sp>
        <p:nvSpPr>
          <p:cNvPr id="3" name="Content Placeholder 2"/>
          <p:cNvSpPr>
            <a:spLocks noGrp="1"/>
          </p:cNvSpPr>
          <p:nvPr>
            <p:ph idx="1"/>
          </p:nvPr>
        </p:nvSpPr>
        <p:spPr/>
        <p:txBody>
          <a:bodyPr>
            <a:normAutofit/>
          </a:bodyPr>
          <a:lstStyle/>
          <a:p>
            <a:pPr algn="just"/>
            <a:r>
              <a:rPr lang="en-IN" sz="2400" dirty="0">
                <a:latin typeface="Casper" panose="02000506000000020004" pitchFamily="2" charset="0"/>
                <a:cs typeface="Arial" panose="020B0604020202020204" pitchFamily="34" charset="0"/>
              </a:rPr>
              <a:t>An algorithm is a series of instructions for carrying out an operation or solving a problem. </a:t>
            </a:r>
          </a:p>
          <a:p>
            <a:pPr algn="just"/>
            <a:r>
              <a:rPr lang="en-IN" sz="2400" dirty="0">
                <a:latin typeface="Casper" panose="02000506000000020004" pitchFamily="2" charset="0"/>
                <a:cs typeface="Arial" panose="020B0604020202020204" pitchFamily="34" charset="0"/>
              </a:rPr>
              <a:t>It is important to write computer programs without any logical error to generate the proper output, so it is recommended that the programmer prepare a rough design to solve the problem by showing the steps involved in the program. This is called algorithm. </a:t>
            </a:r>
          </a:p>
          <a:p>
            <a:pPr algn="just"/>
            <a:r>
              <a:rPr lang="en-IN" sz="2400" dirty="0">
                <a:latin typeface="Casper" panose="02000506000000020004" pitchFamily="2" charset="0"/>
                <a:cs typeface="Arial" panose="020B0604020202020204" pitchFamily="34" charset="0"/>
              </a:rPr>
              <a:t>In simple words, an algorithm is a step by step procedure to describe the solution of a particular problem.</a:t>
            </a:r>
          </a:p>
          <a:p>
            <a:pPr algn="just"/>
            <a:r>
              <a:rPr lang="en-IN" sz="2400" dirty="0">
                <a:latin typeface="Casper" panose="02000506000000020004" pitchFamily="2" charset="0"/>
                <a:cs typeface="Arial" panose="020B0604020202020204" pitchFamily="34" charset="0"/>
              </a:rPr>
              <a:t>Let’s take a real-world example, a simple algorithm to make a coffee! So, what are the steps involved in making a Tea? Let’s write down all the steps one by one.</a:t>
            </a:r>
          </a:p>
          <a:p>
            <a:endParaRPr lang="en-IN" sz="1600" dirty="0">
              <a:latin typeface="Casper" panose="02000506000000020004" pitchFamily="2" charset="0"/>
              <a:cs typeface="Arial" panose="020B0604020202020204" pitchFamily="34" charset="0"/>
            </a:endParaRPr>
          </a:p>
          <a:p>
            <a:pPr marL="0" indent="0">
              <a:buNone/>
            </a:pPr>
            <a:endParaRPr lang="en-US" sz="1600" dirty="0">
              <a:latin typeface="Casper" panose="02000506000000020004" pitchFamily="2"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15</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4884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78D3C-0502-4878-B6DB-6014467EA397}"/>
              </a:ext>
            </a:extLst>
          </p:cNvPr>
          <p:cNvSpPr>
            <a:spLocks noGrp="1"/>
          </p:cNvSpPr>
          <p:nvPr>
            <p:ph type="title"/>
          </p:nvPr>
        </p:nvSpPr>
        <p:spPr/>
        <p:txBody>
          <a:bodyPr/>
          <a:lstStyle/>
          <a:p>
            <a:r>
              <a:rPr lang="en-US" b="1" dirty="0">
                <a:solidFill>
                  <a:srgbClr val="232C39"/>
                </a:solidFill>
                <a:latin typeface="Nunito Sans"/>
              </a:rPr>
              <a:t>Characteristics of Algorithm</a:t>
            </a:r>
            <a:br>
              <a:rPr lang="en-US" b="1" dirty="0">
                <a:solidFill>
                  <a:srgbClr val="232C39"/>
                </a:solidFill>
                <a:latin typeface="Nunito Sans"/>
              </a:rPr>
            </a:br>
            <a:endParaRPr lang="en-IN" dirty="0"/>
          </a:p>
        </p:txBody>
      </p:sp>
      <p:sp>
        <p:nvSpPr>
          <p:cNvPr id="3" name="Content Placeholder 2">
            <a:extLst>
              <a:ext uri="{FF2B5EF4-FFF2-40B4-BE49-F238E27FC236}">
                <a16:creationId xmlns:a16="http://schemas.microsoft.com/office/drawing/2014/main" id="{93875472-262D-4FA3-865C-25D5BC7B6F84}"/>
              </a:ext>
            </a:extLst>
          </p:cNvPr>
          <p:cNvSpPr>
            <a:spLocks noGrp="1"/>
          </p:cNvSpPr>
          <p:nvPr>
            <p:ph idx="1"/>
          </p:nvPr>
        </p:nvSpPr>
        <p:spPr>
          <a:xfrm>
            <a:off x="838200" y="1095375"/>
            <a:ext cx="10515600" cy="5081588"/>
          </a:xfrm>
        </p:spPr>
        <p:txBody>
          <a:bodyPr>
            <a:normAutofit fontScale="92500" lnSpcReduction="20000"/>
          </a:bodyPr>
          <a:lstStyle/>
          <a:p>
            <a:pPr>
              <a:buFont typeface="Wingdings" panose="05000000000000000000" pitchFamily="2" charset="2"/>
              <a:buChar char="Ø"/>
            </a:pPr>
            <a:r>
              <a:rPr lang="en-US" b="1" dirty="0">
                <a:solidFill>
                  <a:schemeClr val="tx1">
                    <a:lumMod val="95000"/>
                    <a:lumOff val="5000"/>
                  </a:schemeClr>
                </a:solidFill>
                <a:latin typeface="Nunito Sans"/>
              </a:rPr>
              <a:t>Finiteness: </a:t>
            </a:r>
            <a:r>
              <a:rPr lang="en-US" dirty="0">
                <a:solidFill>
                  <a:schemeClr val="tx1">
                    <a:lumMod val="95000"/>
                    <a:lumOff val="5000"/>
                  </a:schemeClr>
                </a:solidFill>
                <a:latin typeface="Nunito Sans"/>
              </a:rPr>
              <a:t>Any algorithm should complete at one particular time and this is very important for any algorithm otherwise your algorithm will go in infinite state and it will not complete ever.</a:t>
            </a:r>
          </a:p>
          <a:p>
            <a:pPr>
              <a:buFont typeface="Wingdings" panose="05000000000000000000" pitchFamily="2" charset="2"/>
              <a:buChar char="Ø"/>
            </a:pPr>
            <a:r>
              <a:rPr lang="en-US" b="1" dirty="0">
                <a:solidFill>
                  <a:schemeClr val="tx1">
                    <a:lumMod val="95000"/>
                    <a:lumOff val="5000"/>
                  </a:schemeClr>
                </a:solidFill>
                <a:latin typeface="Nunito Sans"/>
              </a:rPr>
              <a:t>Definiteness: </a:t>
            </a:r>
            <a:r>
              <a:rPr lang="en-US" dirty="0">
                <a:solidFill>
                  <a:schemeClr val="tx1">
                    <a:lumMod val="95000"/>
                    <a:lumOff val="5000"/>
                  </a:schemeClr>
                </a:solidFill>
                <a:latin typeface="Nunito Sans"/>
              </a:rPr>
              <a:t>Each algorithm should be clear and unambiguous.</a:t>
            </a:r>
          </a:p>
          <a:p>
            <a:pPr>
              <a:buFont typeface="Wingdings" panose="05000000000000000000" pitchFamily="2" charset="2"/>
              <a:buChar char="Ø"/>
            </a:pPr>
            <a:r>
              <a:rPr lang="en-US" b="1" dirty="0">
                <a:solidFill>
                  <a:schemeClr val="tx1">
                    <a:lumMod val="95000"/>
                    <a:lumOff val="5000"/>
                  </a:schemeClr>
                </a:solidFill>
                <a:latin typeface="Nunito Sans"/>
              </a:rPr>
              <a:t>Effectiveness: </a:t>
            </a:r>
            <a:r>
              <a:rPr lang="en-US" dirty="0">
                <a:solidFill>
                  <a:schemeClr val="tx1">
                    <a:lumMod val="95000"/>
                    <a:lumOff val="5000"/>
                  </a:schemeClr>
                </a:solidFill>
                <a:latin typeface="Nunito Sans"/>
              </a:rPr>
              <a:t>Each line of an algorithm should be essentials. We should try to write in a simple way so it would be basic.</a:t>
            </a:r>
          </a:p>
          <a:p>
            <a:pPr>
              <a:buFont typeface="Wingdings" panose="05000000000000000000" pitchFamily="2" charset="2"/>
              <a:buChar char="Ø"/>
            </a:pPr>
            <a:r>
              <a:rPr lang="en-US" b="1" dirty="0">
                <a:solidFill>
                  <a:schemeClr val="tx1">
                    <a:lumMod val="95000"/>
                    <a:lumOff val="5000"/>
                  </a:schemeClr>
                </a:solidFill>
                <a:latin typeface="Nunito Sans"/>
              </a:rPr>
              <a:t>Input: </a:t>
            </a:r>
            <a:r>
              <a:rPr lang="en-US" dirty="0">
                <a:solidFill>
                  <a:schemeClr val="tx1">
                    <a:lumMod val="95000"/>
                    <a:lumOff val="5000"/>
                  </a:schemeClr>
                </a:solidFill>
                <a:latin typeface="Nunito Sans"/>
              </a:rPr>
              <a:t>Every algorithm should take input it can be Zero or one or more. So according to the conditions user can use.</a:t>
            </a:r>
          </a:p>
          <a:p>
            <a:pPr>
              <a:buFont typeface="Wingdings" panose="05000000000000000000" pitchFamily="2" charset="2"/>
              <a:buChar char="Ø"/>
            </a:pPr>
            <a:r>
              <a:rPr lang="en-US" b="1" dirty="0">
                <a:solidFill>
                  <a:schemeClr val="tx1">
                    <a:lumMod val="95000"/>
                    <a:lumOff val="5000"/>
                  </a:schemeClr>
                </a:solidFill>
                <a:latin typeface="Nunito Sans"/>
              </a:rPr>
              <a:t>Output: </a:t>
            </a:r>
            <a:r>
              <a:rPr lang="en-US" dirty="0">
                <a:solidFill>
                  <a:schemeClr val="tx1">
                    <a:lumMod val="95000"/>
                    <a:lumOff val="5000"/>
                  </a:schemeClr>
                </a:solidFill>
                <a:latin typeface="Nunito Sans"/>
              </a:rPr>
              <a:t>For any work some output should come, this is must otherwise there is no meaning of any work. In the same way, each algorithm should generate one or more output.</a:t>
            </a:r>
          </a:p>
          <a:p>
            <a:pPr>
              <a:buFont typeface="Wingdings" panose="05000000000000000000" pitchFamily="2" charset="2"/>
              <a:buChar char="Ø"/>
            </a:pPr>
            <a:r>
              <a:rPr lang="en-US" b="1" dirty="0">
                <a:solidFill>
                  <a:schemeClr val="tx1">
                    <a:lumMod val="95000"/>
                    <a:lumOff val="5000"/>
                  </a:schemeClr>
                </a:solidFill>
                <a:latin typeface="Nunito Sans"/>
              </a:rPr>
              <a:t>Generality: </a:t>
            </a:r>
            <a:r>
              <a:rPr lang="en-US" dirty="0">
                <a:solidFill>
                  <a:schemeClr val="tx1">
                    <a:lumMod val="95000"/>
                    <a:lumOff val="5000"/>
                  </a:schemeClr>
                </a:solidFill>
                <a:latin typeface="Nunito Sans"/>
              </a:rPr>
              <a:t>The algorithm should be common for the set of input and requirements so the same algorithm can apply in multiple places according to the user’s requirements.</a:t>
            </a:r>
          </a:p>
          <a:p>
            <a:endParaRPr lang="en-IN" dirty="0"/>
          </a:p>
        </p:txBody>
      </p:sp>
      <p:sp>
        <p:nvSpPr>
          <p:cNvPr id="4" name="Slide Number Placeholder 3">
            <a:extLst>
              <a:ext uri="{FF2B5EF4-FFF2-40B4-BE49-F238E27FC236}">
                <a16:creationId xmlns:a16="http://schemas.microsoft.com/office/drawing/2014/main" id="{C1D5BC48-4339-44C2-B014-3E2261A65392}"/>
              </a:ext>
            </a:extLst>
          </p:cNvPr>
          <p:cNvSpPr>
            <a:spLocks noGrp="1"/>
          </p:cNvSpPr>
          <p:nvPr>
            <p:ph type="sldNum" sz="quarter" idx="12"/>
          </p:nvPr>
        </p:nvSpPr>
        <p:spPr/>
        <p:txBody>
          <a:bodyPr/>
          <a:lstStyle/>
          <a:p>
            <a:fld id="{BDCDBBEF-AA6C-4BA6-85B2-A17D7F280E38}" type="slidenum">
              <a:rPr lang="en-US" smtClean="0"/>
              <a:pPr/>
              <a:t>16</a:t>
            </a:fld>
            <a:endParaRPr lang="en-US"/>
          </a:p>
        </p:txBody>
      </p:sp>
    </p:spTree>
    <p:extLst>
      <p:ext uri="{BB962C8B-B14F-4D97-AF65-F5344CB8AC3E}">
        <p14:creationId xmlns:p14="http://schemas.microsoft.com/office/powerpoint/2010/main" val="1033316336"/>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lgn="ctr"/>
            <a:r>
              <a:rPr lang="en-US" dirty="0">
                <a:latin typeface="Casper Bold" panose="02000806040000020004" pitchFamily="2" charset="0"/>
                <a:cs typeface="Arial" panose="020B0604020202020204" pitchFamily="34" charset="0"/>
              </a:rPr>
              <a:t>ALGORITHM TO MAKE TEA</a:t>
            </a:r>
            <a:endParaRPr lang="en-US" dirty="0"/>
          </a:p>
        </p:txBody>
      </p:sp>
      <p:sp>
        <p:nvSpPr>
          <p:cNvPr id="3" name="Content Placeholder 2"/>
          <p:cNvSpPr>
            <a:spLocks noGrp="1"/>
          </p:cNvSpPr>
          <p:nvPr>
            <p:ph idx="1"/>
          </p:nvPr>
        </p:nvSpPr>
        <p:spPr/>
        <p:txBody>
          <a:bodyPr>
            <a:normAutofit fontScale="92500" lnSpcReduction="20000"/>
          </a:bodyPr>
          <a:lstStyle/>
          <a:p>
            <a:pPr marL="0" indent="0">
              <a:buNone/>
            </a:pPr>
            <a:r>
              <a:rPr lang="en-US" dirty="0"/>
              <a:t>Step 1- Start</a:t>
            </a:r>
            <a:endParaRPr lang="en-IN" dirty="0"/>
          </a:p>
          <a:p>
            <a:pPr marL="0" indent="0">
              <a:buNone/>
            </a:pPr>
            <a:r>
              <a:rPr lang="en-US" dirty="0"/>
              <a:t>Step 2-Take a cup and tea bag </a:t>
            </a:r>
            <a:endParaRPr lang="en-IN" dirty="0"/>
          </a:p>
          <a:p>
            <a:pPr marL="0" indent="0">
              <a:buNone/>
            </a:pPr>
            <a:r>
              <a:rPr lang="en-US" dirty="0"/>
              <a:t>Step 3-Put the teabag in cup.</a:t>
            </a:r>
          </a:p>
          <a:p>
            <a:pPr marL="0" indent="0">
              <a:buNone/>
            </a:pPr>
            <a:r>
              <a:rPr lang="en-US" dirty="0"/>
              <a:t>Step 4-Fill the kettle with water.</a:t>
            </a:r>
          </a:p>
          <a:p>
            <a:pPr marL="0" indent="0">
              <a:buNone/>
            </a:pPr>
            <a:r>
              <a:rPr lang="en-US" dirty="0"/>
              <a:t>Step 5-Boil the water for few seconds</a:t>
            </a:r>
          </a:p>
          <a:p>
            <a:pPr marL="0" indent="0">
              <a:buNone/>
            </a:pPr>
            <a:r>
              <a:rPr lang="en-US" dirty="0"/>
              <a:t>Step 6-Pour some of the boiled water into the cup.</a:t>
            </a:r>
          </a:p>
          <a:p>
            <a:pPr marL="0" indent="0">
              <a:buNone/>
            </a:pPr>
            <a:r>
              <a:rPr lang="en-US" dirty="0"/>
              <a:t>Step 7-Add milk to the cup.</a:t>
            </a:r>
          </a:p>
          <a:p>
            <a:pPr marL="0" indent="0">
              <a:buNone/>
            </a:pPr>
            <a:r>
              <a:rPr lang="en-US" dirty="0"/>
              <a:t>Step 8-Add required sugar to the cup.</a:t>
            </a:r>
          </a:p>
          <a:p>
            <a:pPr marL="0" indent="0">
              <a:buNone/>
            </a:pPr>
            <a:r>
              <a:rPr lang="en-US" dirty="0"/>
              <a:t>Step 9- Stir the cup for few seconds and the tea is ready</a:t>
            </a:r>
            <a:endParaRPr lang="en-IN" dirty="0"/>
          </a:p>
          <a:p>
            <a:pPr marL="0" indent="0">
              <a:buNone/>
            </a:pPr>
            <a:r>
              <a:rPr lang="en-US" dirty="0"/>
              <a:t>Step 10- Stop</a:t>
            </a:r>
            <a:endParaRPr lang="en-IN" dirty="0"/>
          </a:p>
          <a:p>
            <a:pPr marL="0" indent="0">
              <a:buNone/>
            </a:pPr>
            <a:endParaRPr lang="en-IN" sz="1600" dirty="0">
              <a:latin typeface="Casper" panose="02000506000000020004" pitchFamily="2" charset="0"/>
              <a:cs typeface="Arial" panose="020B0604020202020204" pitchFamily="34" charset="0"/>
            </a:endParaRPr>
          </a:p>
          <a:p>
            <a:pPr marL="0" indent="0">
              <a:buNone/>
            </a:pPr>
            <a:endParaRPr lang="en-US" sz="1600" dirty="0">
              <a:latin typeface="Casper" panose="02000506000000020004" pitchFamily="2"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17</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p:cNvPicPr>
            <a:picLocks noChangeAspect="1"/>
          </p:cNvPicPr>
          <p:nvPr/>
        </p:nvPicPr>
        <p:blipFill>
          <a:blip r:embed="rId3" cstate="print"/>
          <a:stretch>
            <a:fillRect/>
          </a:stretch>
        </p:blipFill>
        <p:spPr>
          <a:xfrm>
            <a:off x="7587507" y="1362075"/>
            <a:ext cx="3632943" cy="2371725"/>
          </a:xfrm>
          <a:prstGeom prst="rect">
            <a:avLst/>
          </a:prstGeom>
        </p:spPr>
      </p:pic>
    </p:spTree>
    <p:extLst>
      <p:ext uri="{BB962C8B-B14F-4D97-AF65-F5344CB8AC3E}">
        <p14:creationId xmlns:p14="http://schemas.microsoft.com/office/powerpoint/2010/main" val="20345806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 calcmode="lin" valueType="num">
                                      <p:cBhvr>
                                        <p:cTn id="14"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p:cTn id="21"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2" dur="500" fill="hold"/>
                                        <p:tgtEl>
                                          <p:spTgt spid="3">
                                            <p:txEl>
                                              <p:pRg st="2" end="2"/>
                                            </p:txEl>
                                          </p:spTgt>
                                        </p:tgtEl>
                                        <p:attrNameLst>
                                          <p:attrName>ppt_h</p:attrName>
                                        </p:attrNameLst>
                                      </p:cBhvr>
                                      <p:tavLst>
                                        <p:tav tm="0">
                                          <p:val>
                                            <p:fltVal val="0"/>
                                          </p:val>
                                        </p:tav>
                                        <p:tav tm="100000">
                                          <p:val>
                                            <p:strVal val="#ppt_h"/>
                                          </p:val>
                                        </p:tav>
                                      </p:tavLst>
                                    </p:anim>
                                    <p:animEffect transition="in" filter="fade">
                                      <p:cBhvr>
                                        <p:cTn id="23" dur="500"/>
                                        <p:tgtEl>
                                          <p:spTgt spid="3">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 calcmode="lin" valueType="num">
                                      <p:cBhvr>
                                        <p:cTn id="28"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29" dur="500" fill="hold"/>
                                        <p:tgtEl>
                                          <p:spTgt spid="3">
                                            <p:txEl>
                                              <p:pRg st="3" end="3"/>
                                            </p:txEl>
                                          </p:spTgt>
                                        </p:tgtEl>
                                        <p:attrNameLst>
                                          <p:attrName>ppt_h</p:attrName>
                                        </p:attrNameLst>
                                      </p:cBhvr>
                                      <p:tavLst>
                                        <p:tav tm="0">
                                          <p:val>
                                            <p:fltVal val="0"/>
                                          </p:val>
                                        </p:tav>
                                        <p:tav tm="100000">
                                          <p:val>
                                            <p:strVal val="#ppt_h"/>
                                          </p:val>
                                        </p:tav>
                                      </p:tavLst>
                                    </p:anim>
                                    <p:animEffect transition="in" filter="fade">
                                      <p:cBhvr>
                                        <p:cTn id="30" dur="500"/>
                                        <p:tgtEl>
                                          <p:spTgt spid="3">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 calcmode="lin" valueType="num">
                                      <p:cBhvr>
                                        <p:cTn id="35" dur="500" fill="hold"/>
                                        <p:tgtEl>
                                          <p:spTgt spid="3">
                                            <p:txEl>
                                              <p:pRg st="4" end="4"/>
                                            </p:txEl>
                                          </p:spTgt>
                                        </p:tgtEl>
                                        <p:attrNameLst>
                                          <p:attrName>ppt_w</p:attrName>
                                        </p:attrNameLst>
                                      </p:cBhvr>
                                      <p:tavLst>
                                        <p:tav tm="0">
                                          <p:val>
                                            <p:fltVal val="0"/>
                                          </p:val>
                                        </p:tav>
                                        <p:tav tm="100000">
                                          <p:val>
                                            <p:strVal val="#ppt_w"/>
                                          </p:val>
                                        </p:tav>
                                      </p:tavLst>
                                    </p:anim>
                                    <p:anim calcmode="lin" valueType="num">
                                      <p:cBhvr>
                                        <p:cTn id="36" dur="500" fill="hold"/>
                                        <p:tgtEl>
                                          <p:spTgt spid="3">
                                            <p:txEl>
                                              <p:pRg st="4" end="4"/>
                                            </p:txEl>
                                          </p:spTgt>
                                        </p:tgtEl>
                                        <p:attrNameLst>
                                          <p:attrName>ppt_h</p:attrName>
                                        </p:attrNameLst>
                                      </p:cBhvr>
                                      <p:tavLst>
                                        <p:tav tm="0">
                                          <p:val>
                                            <p:fltVal val="0"/>
                                          </p:val>
                                        </p:tav>
                                        <p:tav tm="100000">
                                          <p:val>
                                            <p:strVal val="#ppt_h"/>
                                          </p:val>
                                        </p:tav>
                                      </p:tavLst>
                                    </p:anim>
                                    <p:animEffect transition="in" filter="fade">
                                      <p:cBhvr>
                                        <p:cTn id="37" dur="500"/>
                                        <p:tgtEl>
                                          <p:spTgt spid="3">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 calcmode="lin" valueType="num">
                                      <p:cBhvr>
                                        <p:cTn id="42" dur="500" fill="hold"/>
                                        <p:tgtEl>
                                          <p:spTgt spid="3">
                                            <p:txEl>
                                              <p:pRg st="5" end="5"/>
                                            </p:txEl>
                                          </p:spTgt>
                                        </p:tgtEl>
                                        <p:attrNameLst>
                                          <p:attrName>ppt_w</p:attrName>
                                        </p:attrNameLst>
                                      </p:cBhvr>
                                      <p:tavLst>
                                        <p:tav tm="0">
                                          <p:val>
                                            <p:fltVal val="0"/>
                                          </p:val>
                                        </p:tav>
                                        <p:tav tm="100000">
                                          <p:val>
                                            <p:strVal val="#ppt_w"/>
                                          </p:val>
                                        </p:tav>
                                      </p:tavLst>
                                    </p:anim>
                                    <p:anim calcmode="lin" valueType="num">
                                      <p:cBhvr>
                                        <p:cTn id="43" dur="500" fill="hold"/>
                                        <p:tgtEl>
                                          <p:spTgt spid="3">
                                            <p:txEl>
                                              <p:pRg st="5" end="5"/>
                                            </p:txEl>
                                          </p:spTgt>
                                        </p:tgtEl>
                                        <p:attrNameLst>
                                          <p:attrName>ppt_h</p:attrName>
                                        </p:attrNameLst>
                                      </p:cBhvr>
                                      <p:tavLst>
                                        <p:tav tm="0">
                                          <p:val>
                                            <p:fltVal val="0"/>
                                          </p:val>
                                        </p:tav>
                                        <p:tav tm="100000">
                                          <p:val>
                                            <p:strVal val="#ppt_h"/>
                                          </p:val>
                                        </p:tav>
                                      </p:tavLst>
                                    </p:anim>
                                    <p:animEffect transition="in" filter="fade">
                                      <p:cBhvr>
                                        <p:cTn id="44" dur="500"/>
                                        <p:tgtEl>
                                          <p:spTgt spid="3">
                                            <p:txEl>
                                              <p:pRg st="5" end="5"/>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53" presetClass="entr" presetSubtype="16" fill="hold"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 calcmode="lin" valueType="num">
                                      <p:cBhvr>
                                        <p:cTn id="49" dur="500" fill="hold"/>
                                        <p:tgtEl>
                                          <p:spTgt spid="3">
                                            <p:txEl>
                                              <p:pRg st="6" end="6"/>
                                            </p:txEl>
                                          </p:spTgt>
                                        </p:tgtEl>
                                        <p:attrNameLst>
                                          <p:attrName>ppt_w</p:attrName>
                                        </p:attrNameLst>
                                      </p:cBhvr>
                                      <p:tavLst>
                                        <p:tav tm="0">
                                          <p:val>
                                            <p:fltVal val="0"/>
                                          </p:val>
                                        </p:tav>
                                        <p:tav tm="100000">
                                          <p:val>
                                            <p:strVal val="#ppt_w"/>
                                          </p:val>
                                        </p:tav>
                                      </p:tavLst>
                                    </p:anim>
                                    <p:anim calcmode="lin" valueType="num">
                                      <p:cBhvr>
                                        <p:cTn id="50" dur="500" fill="hold"/>
                                        <p:tgtEl>
                                          <p:spTgt spid="3">
                                            <p:txEl>
                                              <p:pRg st="6" end="6"/>
                                            </p:txEl>
                                          </p:spTgt>
                                        </p:tgtEl>
                                        <p:attrNameLst>
                                          <p:attrName>ppt_h</p:attrName>
                                        </p:attrNameLst>
                                      </p:cBhvr>
                                      <p:tavLst>
                                        <p:tav tm="0">
                                          <p:val>
                                            <p:fltVal val="0"/>
                                          </p:val>
                                        </p:tav>
                                        <p:tav tm="100000">
                                          <p:val>
                                            <p:strVal val="#ppt_h"/>
                                          </p:val>
                                        </p:tav>
                                      </p:tavLst>
                                    </p:anim>
                                    <p:animEffect transition="in" filter="fade">
                                      <p:cBhvr>
                                        <p:cTn id="51" dur="500"/>
                                        <p:tgtEl>
                                          <p:spTgt spid="3">
                                            <p:txEl>
                                              <p:pRg st="6" end="6"/>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53" presetClass="entr" presetSubtype="16" fill="hold"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 calcmode="lin" valueType="num">
                                      <p:cBhvr>
                                        <p:cTn id="56" dur="500" fill="hold"/>
                                        <p:tgtEl>
                                          <p:spTgt spid="3">
                                            <p:txEl>
                                              <p:pRg st="7" end="7"/>
                                            </p:txEl>
                                          </p:spTgt>
                                        </p:tgtEl>
                                        <p:attrNameLst>
                                          <p:attrName>ppt_w</p:attrName>
                                        </p:attrNameLst>
                                      </p:cBhvr>
                                      <p:tavLst>
                                        <p:tav tm="0">
                                          <p:val>
                                            <p:fltVal val="0"/>
                                          </p:val>
                                        </p:tav>
                                        <p:tav tm="100000">
                                          <p:val>
                                            <p:strVal val="#ppt_w"/>
                                          </p:val>
                                        </p:tav>
                                      </p:tavLst>
                                    </p:anim>
                                    <p:anim calcmode="lin" valueType="num">
                                      <p:cBhvr>
                                        <p:cTn id="57" dur="500" fill="hold"/>
                                        <p:tgtEl>
                                          <p:spTgt spid="3">
                                            <p:txEl>
                                              <p:pRg st="7" end="7"/>
                                            </p:txEl>
                                          </p:spTgt>
                                        </p:tgtEl>
                                        <p:attrNameLst>
                                          <p:attrName>ppt_h</p:attrName>
                                        </p:attrNameLst>
                                      </p:cBhvr>
                                      <p:tavLst>
                                        <p:tav tm="0">
                                          <p:val>
                                            <p:fltVal val="0"/>
                                          </p:val>
                                        </p:tav>
                                        <p:tav tm="100000">
                                          <p:val>
                                            <p:strVal val="#ppt_h"/>
                                          </p:val>
                                        </p:tav>
                                      </p:tavLst>
                                    </p:anim>
                                    <p:animEffect transition="in" filter="fade">
                                      <p:cBhvr>
                                        <p:cTn id="58" dur="500"/>
                                        <p:tgtEl>
                                          <p:spTgt spid="3">
                                            <p:txEl>
                                              <p:pRg st="7" end="7"/>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53" presetClass="entr" presetSubtype="16" fill="hold"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anim calcmode="lin" valueType="num">
                                      <p:cBhvr>
                                        <p:cTn id="63" dur="500" fill="hold"/>
                                        <p:tgtEl>
                                          <p:spTgt spid="3">
                                            <p:txEl>
                                              <p:pRg st="8" end="8"/>
                                            </p:txEl>
                                          </p:spTgt>
                                        </p:tgtEl>
                                        <p:attrNameLst>
                                          <p:attrName>ppt_w</p:attrName>
                                        </p:attrNameLst>
                                      </p:cBhvr>
                                      <p:tavLst>
                                        <p:tav tm="0">
                                          <p:val>
                                            <p:fltVal val="0"/>
                                          </p:val>
                                        </p:tav>
                                        <p:tav tm="100000">
                                          <p:val>
                                            <p:strVal val="#ppt_w"/>
                                          </p:val>
                                        </p:tav>
                                      </p:tavLst>
                                    </p:anim>
                                    <p:anim calcmode="lin" valueType="num">
                                      <p:cBhvr>
                                        <p:cTn id="64" dur="500" fill="hold"/>
                                        <p:tgtEl>
                                          <p:spTgt spid="3">
                                            <p:txEl>
                                              <p:pRg st="8" end="8"/>
                                            </p:txEl>
                                          </p:spTgt>
                                        </p:tgtEl>
                                        <p:attrNameLst>
                                          <p:attrName>ppt_h</p:attrName>
                                        </p:attrNameLst>
                                      </p:cBhvr>
                                      <p:tavLst>
                                        <p:tav tm="0">
                                          <p:val>
                                            <p:fltVal val="0"/>
                                          </p:val>
                                        </p:tav>
                                        <p:tav tm="100000">
                                          <p:val>
                                            <p:strVal val="#ppt_h"/>
                                          </p:val>
                                        </p:tav>
                                      </p:tavLst>
                                    </p:anim>
                                    <p:animEffect transition="in" filter="fade">
                                      <p:cBhvr>
                                        <p:cTn id="65" dur="500"/>
                                        <p:tgtEl>
                                          <p:spTgt spid="3">
                                            <p:txEl>
                                              <p:pRg st="8" end="8"/>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53" presetClass="entr" presetSubtype="16" fill="hold" nodeType="clickEffect">
                                  <p:stCondLst>
                                    <p:cond delay="0"/>
                                  </p:stCondLst>
                                  <p:childTnLst>
                                    <p:set>
                                      <p:cBhvr>
                                        <p:cTn id="69" dur="1" fill="hold">
                                          <p:stCondLst>
                                            <p:cond delay="0"/>
                                          </p:stCondLst>
                                        </p:cTn>
                                        <p:tgtEl>
                                          <p:spTgt spid="3">
                                            <p:txEl>
                                              <p:pRg st="9" end="9"/>
                                            </p:txEl>
                                          </p:spTgt>
                                        </p:tgtEl>
                                        <p:attrNameLst>
                                          <p:attrName>style.visibility</p:attrName>
                                        </p:attrNameLst>
                                      </p:cBhvr>
                                      <p:to>
                                        <p:strVal val="visible"/>
                                      </p:to>
                                    </p:set>
                                    <p:anim calcmode="lin" valueType="num">
                                      <p:cBhvr>
                                        <p:cTn id="70" dur="500" fill="hold"/>
                                        <p:tgtEl>
                                          <p:spTgt spid="3">
                                            <p:txEl>
                                              <p:pRg st="9" end="9"/>
                                            </p:txEl>
                                          </p:spTgt>
                                        </p:tgtEl>
                                        <p:attrNameLst>
                                          <p:attrName>ppt_w</p:attrName>
                                        </p:attrNameLst>
                                      </p:cBhvr>
                                      <p:tavLst>
                                        <p:tav tm="0">
                                          <p:val>
                                            <p:fltVal val="0"/>
                                          </p:val>
                                        </p:tav>
                                        <p:tav tm="100000">
                                          <p:val>
                                            <p:strVal val="#ppt_w"/>
                                          </p:val>
                                        </p:tav>
                                      </p:tavLst>
                                    </p:anim>
                                    <p:anim calcmode="lin" valueType="num">
                                      <p:cBhvr>
                                        <p:cTn id="71" dur="500" fill="hold"/>
                                        <p:tgtEl>
                                          <p:spTgt spid="3">
                                            <p:txEl>
                                              <p:pRg st="9" end="9"/>
                                            </p:txEl>
                                          </p:spTgt>
                                        </p:tgtEl>
                                        <p:attrNameLst>
                                          <p:attrName>ppt_h</p:attrName>
                                        </p:attrNameLst>
                                      </p:cBhvr>
                                      <p:tavLst>
                                        <p:tav tm="0">
                                          <p:val>
                                            <p:fltVal val="0"/>
                                          </p:val>
                                        </p:tav>
                                        <p:tav tm="100000">
                                          <p:val>
                                            <p:strVal val="#ppt_h"/>
                                          </p:val>
                                        </p:tav>
                                      </p:tavLst>
                                    </p:anim>
                                    <p:animEffect transition="in" filter="fade">
                                      <p:cBhvr>
                                        <p:cTn id="72"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lgn="ctr"/>
            <a:r>
              <a:rPr lang="en-US" dirty="0">
                <a:latin typeface="Casper Bold" panose="02000806040000020004" pitchFamily="2" charset="0"/>
                <a:cs typeface="Arial" panose="020B0604020202020204" pitchFamily="34" charset="0"/>
              </a:rPr>
              <a:t>Example: Add Two Numbers</a:t>
            </a:r>
            <a:endParaRPr lang="en-US" dirty="0"/>
          </a:p>
        </p:txBody>
      </p:sp>
      <p:sp>
        <p:nvSpPr>
          <p:cNvPr id="3" name="Content Placeholder 2"/>
          <p:cNvSpPr>
            <a:spLocks noGrp="1"/>
          </p:cNvSpPr>
          <p:nvPr>
            <p:ph idx="1"/>
          </p:nvPr>
        </p:nvSpPr>
        <p:spPr>
          <a:ln>
            <a:solidFill>
              <a:schemeClr val="accent1"/>
            </a:solidFill>
          </a:ln>
        </p:spPr>
        <p:txBody>
          <a:bodyPr>
            <a:normAutofit/>
          </a:bodyPr>
          <a:lstStyle/>
          <a:p>
            <a:pPr marL="0" indent="0" algn="just">
              <a:buNone/>
            </a:pPr>
            <a:r>
              <a:rPr lang="en-US" sz="2400" dirty="0">
                <a:latin typeface="Casper" panose="02000506000000020004" pitchFamily="2" charset="0"/>
                <a:cs typeface="Arial" panose="020B0604020202020204" pitchFamily="34" charset="0"/>
              </a:rPr>
              <a:t>Step 1 </a:t>
            </a:r>
            <a:r>
              <a:rPr lang="en-US" sz="2400" b="1" dirty="0">
                <a:latin typeface="Casper" panose="02000506000000020004" pitchFamily="2" charset="0"/>
                <a:cs typeface="Arial" panose="020B0604020202020204" pitchFamily="34" charset="0"/>
              </a:rPr>
              <a:t>Start</a:t>
            </a:r>
          </a:p>
          <a:p>
            <a:pPr marL="0" indent="0" algn="just">
              <a:buNone/>
            </a:pPr>
            <a:r>
              <a:rPr lang="en-US" sz="2400" dirty="0">
                <a:latin typeface="Casper" panose="02000506000000020004" pitchFamily="2" charset="0"/>
                <a:cs typeface="Arial" panose="020B0604020202020204" pitchFamily="34" charset="0"/>
              </a:rPr>
              <a:t>Step 2 </a:t>
            </a:r>
            <a:r>
              <a:rPr lang="en-US" sz="2400" b="1" dirty="0">
                <a:latin typeface="Casper" panose="02000506000000020004" pitchFamily="2" charset="0"/>
                <a:cs typeface="Arial" panose="020B0604020202020204" pitchFamily="34" charset="0"/>
              </a:rPr>
              <a:t>Accept or Read</a:t>
            </a:r>
            <a:r>
              <a:rPr lang="en-US" sz="2400" dirty="0">
                <a:latin typeface="Casper" panose="02000506000000020004" pitchFamily="2" charset="0"/>
                <a:cs typeface="Arial" panose="020B0604020202020204" pitchFamily="34" charset="0"/>
              </a:rPr>
              <a:t> number1</a:t>
            </a:r>
          </a:p>
          <a:p>
            <a:pPr marL="0" indent="0" algn="just">
              <a:buNone/>
            </a:pPr>
            <a:r>
              <a:rPr lang="en-US" sz="2400" dirty="0">
                <a:latin typeface="Casper" panose="02000506000000020004" pitchFamily="2" charset="0"/>
                <a:cs typeface="Arial" panose="020B0604020202020204" pitchFamily="34" charset="0"/>
              </a:rPr>
              <a:t>Step 3 </a:t>
            </a:r>
            <a:r>
              <a:rPr lang="en-US" sz="2400" b="1" dirty="0">
                <a:latin typeface="Casper" panose="02000506000000020004" pitchFamily="2" charset="0"/>
                <a:cs typeface="Arial" panose="020B0604020202020204" pitchFamily="34" charset="0"/>
              </a:rPr>
              <a:t>Accept or Read </a:t>
            </a:r>
            <a:r>
              <a:rPr lang="en-US" sz="2400" dirty="0">
                <a:latin typeface="Casper" panose="02000506000000020004" pitchFamily="2" charset="0"/>
                <a:cs typeface="Arial" panose="020B0604020202020204" pitchFamily="34" charset="0"/>
              </a:rPr>
              <a:t>number2</a:t>
            </a:r>
          </a:p>
          <a:p>
            <a:pPr marL="0" indent="0" algn="just">
              <a:buNone/>
            </a:pPr>
            <a:r>
              <a:rPr lang="en-US" sz="2400" dirty="0">
                <a:latin typeface="Casper" panose="02000506000000020004" pitchFamily="2" charset="0"/>
                <a:cs typeface="Arial" panose="020B0604020202020204" pitchFamily="34" charset="0"/>
              </a:rPr>
              <a:t>Step 4 Add number1 and number2 and store the result in sum</a:t>
            </a:r>
          </a:p>
          <a:p>
            <a:pPr marL="0" indent="0" algn="just">
              <a:buNone/>
            </a:pPr>
            <a:r>
              <a:rPr lang="en-US" sz="2400" dirty="0">
                <a:latin typeface="Casper" panose="02000506000000020004" pitchFamily="2" charset="0"/>
                <a:cs typeface="Arial" panose="020B0604020202020204" pitchFamily="34" charset="0"/>
              </a:rPr>
              <a:t>	Sum=number1+number2 </a:t>
            </a:r>
          </a:p>
          <a:p>
            <a:pPr marL="0" indent="0" algn="just">
              <a:buNone/>
            </a:pPr>
            <a:r>
              <a:rPr lang="en-US" sz="2400" dirty="0">
                <a:latin typeface="Casper" panose="02000506000000020004" pitchFamily="2" charset="0"/>
                <a:cs typeface="Arial" panose="020B0604020202020204" pitchFamily="34" charset="0"/>
              </a:rPr>
              <a:t>Step 5 </a:t>
            </a:r>
            <a:r>
              <a:rPr lang="en-US" sz="2400" b="1" dirty="0">
                <a:latin typeface="Casper" panose="02000506000000020004" pitchFamily="2" charset="0"/>
                <a:cs typeface="Arial" panose="020B0604020202020204" pitchFamily="34" charset="0"/>
              </a:rPr>
              <a:t>Display</a:t>
            </a:r>
            <a:r>
              <a:rPr lang="en-US" sz="2400" dirty="0">
                <a:latin typeface="Casper" panose="02000506000000020004" pitchFamily="2" charset="0"/>
                <a:cs typeface="Arial" panose="020B0604020202020204" pitchFamily="34" charset="0"/>
              </a:rPr>
              <a:t> sum</a:t>
            </a:r>
          </a:p>
          <a:p>
            <a:pPr marL="0" indent="0" algn="just">
              <a:buNone/>
            </a:pPr>
            <a:r>
              <a:rPr lang="en-US" sz="2400" dirty="0">
                <a:latin typeface="Casper" panose="02000506000000020004" pitchFamily="2" charset="0"/>
                <a:cs typeface="Arial" panose="020B0604020202020204" pitchFamily="34" charset="0"/>
              </a:rPr>
              <a:t>Step 6 </a:t>
            </a:r>
            <a:r>
              <a:rPr lang="en-US" sz="2400" b="1" dirty="0">
                <a:latin typeface="Casper" panose="02000506000000020004" pitchFamily="2" charset="0"/>
                <a:cs typeface="Arial" panose="020B0604020202020204" pitchFamily="34" charset="0"/>
              </a:rPr>
              <a:t>Stop</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18</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Arrow: Left 7">
            <a:extLst>
              <a:ext uri="{FF2B5EF4-FFF2-40B4-BE49-F238E27FC236}">
                <a16:creationId xmlns:a16="http://schemas.microsoft.com/office/drawing/2014/main" id="{1290504E-FADB-46BC-B4EF-FEA74BB655D0}"/>
              </a:ext>
            </a:extLst>
          </p:cNvPr>
          <p:cNvSpPr/>
          <p:nvPr/>
        </p:nvSpPr>
        <p:spPr>
          <a:xfrm>
            <a:off x="5105400" y="2305050"/>
            <a:ext cx="3914775" cy="809625"/>
          </a:xfrm>
          <a:prstGeom prst="leftArrow">
            <a:avLst/>
          </a:prstGeom>
          <a:solidFill>
            <a:srgbClr val="F6B7B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Inputs</a:t>
            </a:r>
          </a:p>
        </p:txBody>
      </p:sp>
      <p:sp>
        <p:nvSpPr>
          <p:cNvPr id="9" name="Arrow: Left 8">
            <a:extLst>
              <a:ext uri="{FF2B5EF4-FFF2-40B4-BE49-F238E27FC236}">
                <a16:creationId xmlns:a16="http://schemas.microsoft.com/office/drawing/2014/main" id="{506AA4F4-EDE7-430E-B731-64859A6CA6C3}"/>
              </a:ext>
            </a:extLst>
          </p:cNvPr>
          <p:cNvSpPr/>
          <p:nvPr/>
        </p:nvSpPr>
        <p:spPr>
          <a:xfrm>
            <a:off x="5419725" y="3336129"/>
            <a:ext cx="3819525" cy="809625"/>
          </a:xfrm>
          <a:prstGeom prst="leftArrow">
            <a:avLst/>
          </a:prstGeom>
          <a:solidFill>
            <a:srgbClr val="4BDAE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Process</a:t>
            </a:r>
          </a:p>
        </p:txBody>
      </p:sp>
      <p:sp>
        <p:nvSpPr>
          <p:cNvPr id="11" name="Arrow: Up 10">
            <a:extLst>
              <a:ext uri="{FF2B5EF4-FFF2-40B4-BE49-F238E27FC236}">
                <a16:creationId xmlns:a16="http://schemas.microsoft.com/office/drawing/2014/main" id="{055475B9-F6C7-4BBD-AADA-5896552754FD}"/>
              </a:ext>
            </a:extLst>
          </p:cNvPr>
          <p:cNvSpPr/>
          <p:nvPr/>
        </p:nvSpPr>
        <p:spPr>
          <a:xfrm>
            <a:off x="2085974" y="4400550"/>
            <a:ext cx="1743075" cy="1352550"/>
          </a:xfrm>
          <a:prstGeom prst="upArrow">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Output</a:t>
            </a:r>
          </a:p>
        </p:txBody>
      </p:sp>
    </p:spTree>
    <p:extLst>
      <p:ext uri="{BB962C8B-B14F-4D97-AF65-F5344CB8AC3E}">
        <p14:creationId xmlns:p14="http://schemas.microsoft.com/office/powerpoint/2010/main" val="41226129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 calcmode="lin" valueType="num">
                                      <p:cBhvr>
                                        <p:cTn id="14" dur="500" fill="hold"/>
                                        <p:tgtEl>
                                          <p:spTgt spid="9"/>
                                        </p:tgtEl>
                                        <p:attrNameLst>
                                          <p:attrName>ppt_w</p:attrName>
                                        </p:attrNameLst>
                                      </p:cBhvr>
                                      <p:tavLst>
                                        <p:tav tm="0">
                                          <p:val>
                                            <p:fltVal val="0"/>
                                          </p:val>
                                        </p:tav>
                                        <p:tav tm="100000">
                                          <p:val>
                                            <p:strVal val="#ppt_w"/>
                                          </p:val>
                                        </p:tav>
                                      </p:tavLst>
                                    </p:anim>
                                    <p:anim calcmode="lin" valueType="num">
                                      <p:cBhvr>
                                        <p:cTn id="15" dur="500" fill="hold"/>
                                        <p:tgtEl>
                                          <p:spTgt spid="9"/>
                                        </p:tgtEl>
                                        <p:attrNameLst>
                                          <p:attrName>ppt_h</p:attrName>
                                        </p:attrNameLst>
                                      </p:cBhvr>
                                      <p:tavLst>
                                        <p:tav tm="0">
                                          <p:val>
                                            <p:fltVal val="0"/>
                                          </p:val>
                                        </p:tav>
                                        <p:tav tm="100000">
                                          <p:val>
                                            <p:strVal val="#ppt_h"/>
                                          </p:val>
                                        </p:tav>
                                      </p:tavLst>
                                    </p:anim>
                                    <p:animEffect transition="in" filter="fade">
                                      <p:cBhvr>
                                        <p:cTn id="16" dur="5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 calcmode="lin" valueType="num">
                                      <p:cBhvr>
                                        <p:cTn id="21" dur="500" fill="hold"/>
                                        <p:tgtEl>
                                          <p:spTgt spid="11"/>
                                        </p:tgtEl>
                                        <p:attrNameLst>
                                          <p:attrName>ppt_w</p:attrName>
                                        </p:attrNameLst>
                                      </p:cBhvr>
                                      <p:tavLst>
                                        <p:tav tm="0">
                                          <p:val>
                                            <p:fltVal val="0"/>
                                          </p:val>
                                        </p:tav>
                                        <p:tav tm="100000">
                                          <p:val>
                                            <p:strVal val="#ppt_w"/>
                                          </p:val>
                                        </p:tav>
                                      </p:tavLst>
                                    </p:anim>
                                    <p:anim calcmode="lin" valueType="num">
                                      <p:cBhvr>
                                        <p:cTn id="22" dur="500" fill="hold"/>
                                        <p:tgtEl>
                                          <p:spTgt spid="11"/>
                                        </p:tgtEl>
                                        <p:attrNameLst>
                                          <p:attrName>ppt_h</p:attrName>
                                        </p:attrNameLst>
                                      </p:cBhvr>
                                      <p:tavLst>
                                        <p:tav tm="0">
                                          <p:val>
                                            <p:fltVal val="0"/>
                                          </p:val>
                                        </p:tav>
                                        <p:tav tm="100000">
                                          <p:val>
                                            <p:strVal val="#ppt_h"/>
                                          </p:val>
                                        </p:tav>
                                      </p:tavLst>
                                    </p:anim>
                                    <p:animEffect transition="in" filter="fade">
                                      <p:cBhvr>
                                        <p:cTn id="2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80EFD-B350-4421-9324-6FE13E013C45}"/>
              </a:ext>
            </a:extLst>
          </p:cNvPr>
          <p:cNvSpPr>
            <a:spLocks noGrp="1"/>
          </p:cNvSpPr>
          <p:nvPr>
            <p:ph type="title"/>
          </p:nvPr>
        </p:nvSpPr>
        <p:spPr/>
        <p:txBody>
          <a:bodyPr>
            <a:normAutofit fontScale="90000"/>
          </a:bodyPr>
          <a:lstStyle/>
          <a:p>
            <a:pPr marL="0" indent="0"/>
            <a:r>
              <a:rPr lang="en-US" dirty="0"/>
              <a:t/>
            </a:r>
            <a:br>
              <a:rPr lang="en-US" dirty="0"/>
            </a:br>
            <a:r>
              <a:rPr lang="en-US" sz="4900" dirty="0">
                <a:latin typeface="Casper Bold" panose="02000806040000020004" pitchFamily="2" charset="0"/>
                <a:cs typeface="Arial" panose="020B0604020202020204" pitchFamily="34" charset="0"/>
              </a:rPr>
              <a:t>Example: Calculate area of Rectangle</a:t>
            </a:r>
            <a:r>
              <a:rPr lang="en-US" dirty="0"/>
              <a:t/>
            </a:r>
            <a:br>
              <a:rPr lang="en-US" dirty="0"/>
            </a:br>
            <a:endParaRPr lang="en-IN" dirty="0"/>
          </a:p>
        </p:txBody>
      </p:sp>
      <p:sp>
        <p:nvSpPr>
          <p:cNvPr id="3" name="Content Placeholder 2">
            <a:extLst>
              <a:ext uri="{FF2B5EF4-FFF2-40B4-BE49-F238E27FC236}">
                <a16:creationId xmlns:a16="http://schemas.microsoft.com/office/drawing/2014/main" id="{7F61DCD2-9DB6-453D-A79D-A755DDF07A29}"/>
              </a:ext>
            </a:extLst>
          </p:cNvPr>
          <p:cNvSpPr>
            <a:spLocks noGrp="1"/>
          </p:cNvSpPr>
          <p:nvPr>
            <p:ph idx="1"/>
          </p:nvPr>
        </p:nvSpPr>
        <p:spPr/>
        <p:txBody>
          <a:bodyPr/>
          <a:lstStyle/>
          <a:p>
            <a:pPr marL="0" indent="0">
              <a:buNone/>
            </a:pPr>
            <a:r>
              <a:rPr lang="en-US" dirty="0"/>
              <a:t>STEP 1 : Start</a:t>
            </a:r>
          </a:p>
          <a:p>
            <a:pPr marL="0" indent="0">
              <a:buNone/>
            </a:pPr>
            <a:r>
              <a:rPr lang="en-US" dirty="0"/>
              <a:t>STEP 2 : Read  W of Rectangle</a:t>
            </a:r>
          </a:p>
          <a:p>
            <a:pPr marL="0" indent="0">
              <a:buNone/>
            </a:pPr>
            <a:r>
              <a:rPr lang="en-US" dirty="0"/>
              <a:t>STEP 3 : Read  h of Rectangle</a:t>
            </a:r>
          </a:p>
          <a:p>
            <a:pPr marL="0" indent="0">
              <a:buNone/>
            </a:pPr>
            <a:r>
              <a:rPr lang="en-US" dirty="0"/>
              <a:t>STEP 4 : calculate area </a:t>
            </a:r>
          </a:p>
          <a:p>
            <a:pPr marL="0" indent="0">
              <a:buNone/>
            </a:pPr>
            <a:r>
              <a:rPr lang="en-US" dirty="0"/>
              <a:t>		Area = w × h </a:t>
            </a:r>
          </a:p>
          <a:p>
            <a:pPr marL="0" indent="0">
              <a:buNone/>
            </a:pPr>
            <a:r>
              <a:rPr lang="en-US" dirty="0"/>
              <a:t>STEP 5 : Display Area</a:t>
            </a:r>
          </a:p>
          <a:p>
            <a:pPr marL="0" indent="0">
              <a:buNone/>
            </a:pPr>
            <a:r>
              <a:rPr lang="en-US" dirty="0"/>
              <a:t>STEP 6 : Stop</a:t>
            </a:r>
            <a:endParaRPr lang="en-IN" dirty="0"/>
          </a:p>
        </p:txBody>
      </p:sp>
      <p:sp>
        <p:nvSpPr>
          <p:cNvPr id="4" name="Slide Number Placeholder 3">
            <a:extLst>
              <a:ext uri="{FF2B5EF4-FFF2-40B4-BE49-F238E27FC236}">
                <a16:creationId xmlns:a16="http://schemas.microsoft.com/office/drawing/2014/main" id="{FF866097-FD9A-447C-B516-6B40073E54AE}"/>
              </a:ext>
            </a:extLst>
          </p:cNvPr>
          <p:cNvSpPr>
            <a:spLocks noGrp="1"/>
          </p:cNvSpPr>
          <p:nvPr>
            <p:ph type="sldNum" sz="quarter" idx="12"/>
          </p:nvPr>
        </p:nvSpPr>
        <p:spPr/>
        <p:txBody>
          <a:bodyPr/>
          <a:lstStyle/>
          <a:p>
            <a:fld id="{BDCDBBEF-AA6C-4BA6-85B2-A17D7F280E38}" type="slidenum">
              <a:rPr lang="en-US" smtClean="0"/>
              <a:pPr/>
              <a:t>19</a:t>
            </a:fld>
            <a:endParaRPr lang="en-US"/>
          </a:p>
        </p:txBody>
      </p:sp>
    </p:spTree>
    <p:extLst>
      <p:ext uri="{BB962C8B-B14F-4D97-AF65-F5344CB8AC3E}">
        <p14:creationId xmlns:p14="http://schemas.microsoft.com/office/powerpoint/2010/main" val="61886729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51681-1907-4421-B299-30CD6B263C5B}"/>
              </a:ext>
            </a:extLst>
          </p:cNvPr>
          <p:cNvSpPr>
            <a:spLocks noGrp="1"/>
          </p:cNvSpPr>
          <p:nvPr>
            <p:ph type="title"/>
          </p:nvPr>
        </p:nvSpPr>
        <p:spPr/>
        <p:txBody>
          <a:bodyPr/>
          <a:lstStyle/>
          <a:p>
            <a:r>
              <a:rPr lang="en-US" dirty="0">
                <a:latin typeface="Casper Bold" panose="02000806040000020004" pitchFamily="2" charset="0"/>
                <a:cs typeface="Arial" panose="020B0604020202020204" pitchFamily="34" charset="0"/>
              </a:rPr>
              <a:t>CALCULATE INTEREST OF BANK DEPOSIT</a:t>
            </a:r>
            <a:endParaRPr lang="en-IN" dirty="0"/>
          </a:p>
        </p:txBody>
      </p:sp>
      <p:sp>
        <p:nvSpPr>
          <p:cNvPr id="3" name="Content Placeholder 2">
            <a:extLst>
              <a:ext uri="{FF2B5EF4-FFF2-40B4-BE49-F238E27FC236}">
                <a16:creationId xmlns:a16="http://schemas.microsoft.com/office/drawing/2014/main" id="{14B23F15-5B59-4F0A-BD95-494B8B7BE0C7}"/>
              </a:ext>
            </a:extLst>
          </p:cNvPr>
          <p:cNvSpPr>
            <a:spLocks noGrp="1"/>
          </p:cNvSpPr>
          <p:nvPr>
            <p:ph idx="1"/>
          </p:nvPr>
        </p:nvSpPr>
        <p:spPr/>
        <p:txBody>
          <a:bodyPr/>
          <a:lstStyle/>
          <a:p>
            <a:r>
              <a:rPr lang="en-IN" dirty="0">
                <a:latin typeface="Casper" panose="02000506000000020004" pitchFamily="2" charset="0"/>
                <a:cs typeface="Arial" panose="020B0604020202020204" pitchFamily="34" charset="0"/>
              </a:rPr>
              <a:t>Step 1: Start</a:t>
            </a:r>
          </a:p>
          <a:p>
            <a:r>
              <a:rPr lang="en-IN" dirty="0">
                <a:latin typeface="Casper" panose="02000506000000020004" pitchFamily="2" charset="0"/>
                <a:cs typeface="Arial" panose="020B0604020202020204" pitchFamily="34" charset="0"/>
              </a:rPr>
              <a:t>Step 2: Read Amount</a:t>
            </a:r>
          </a:p>
          <a:p>
            <a:r>
              <a:rPr lang="en-IN" dirty="0">
                <a:latin typeface="Casper" panose="02000506000000020004" pitchFamily="2" charset="0"/>
                <a:cs typeface="Arial" panose="020B0604020202020204" pitchFamily="34" charset="0"/>
              </a:rPr>
              <a:t>Step 3: Read Years</a:t>
            </a:r>
          </a:p>
          <a:p>
            <a:r>
              <a:rPr lang="en-IN" dirty="0">
                <a:latin typeface="Casper" panose="02000506000000020004" pitchFamily="2" charset="0"/>
                <a:cs typeface="Arial" panose="020B0604020202020204" pitchFamily="34" charset="0"/>
              </a:rPr>
              <a:t>Step 4: Read Rate</a:t>
            </a:r>
          </a:p>
          <a:p>
            <a:r>
              <a:rPr lang="en-IN" dirty="0">
                <a:latin typeface="Casper" panose="02000506000000020004" pitchFamily="2" charset="0"/>
                <a:cs typeface="Arial" panose="020B0604020202020204" pitchFamily="34" charset="0"/>
              </a:rPr>
              <a:t>Step 5: Calculate the interest with formula     				Interest=Amount*Years*Rate/100</a:t>
            </a:r>
          </a:p>
          <a:p>
            <a:r>
              <a:rPr lang="en-IN" dirty="0">
                <a:latin typeface="Casper" panose="02000506000000020004" pitchFamily="2" charset="0"/>
                <a:cs typeface="Arial" panose="020B0604020202020204" pitchFamily="34" charset="0"/>
              </a:rPr>
              <a:t>Step 6: Display interest</a:t>
            </a:r>
          </a:p>
          <a:p>
            <a:endParaRPr lang="en-IN" dirty="0"/>
          </a:p>
        </p:txBody>
      </p:sp>
      <p:sp>
        <p:nvSpPr>
          <p:cNvPr id="4" name="Slide Number Placeholder 3">
            <a:extLst>
              <a:ext uri="{FF2B5EF4-FFF2-40B4-BE49-F238E27FC236}">
                <a16:creationId xmlns:a16="http://schemas.microsoft.com/office/drawing/2014/main" id="{DC709C75-F3BA-4EB2-9FE3-E63722ED80F6}"/>
              </a:ext>
            </a:extLst>
          </p:cNvPr>
          <p:cNvSpPr>
            <a:spLocks noGrp="1"/>
          </p:cNvSpPr>
          <p:nvPr>
            <p:ph type="sldNum" sz="quarter" idx="12"/>
          </p:nvPr>
        </p:nvSpPr>
        <p:spPr/>
        <p:txBody>
          <a:bodyPr/>
          <a:lstStyle/>
          <a:p>
            <a:fld id="{BDCDBBEF-AA6C-4BA6-85B2-A17D7F280E38}" type="slidenum">
              <a:rPr lang="en-US" smtClean="0"/>
              <a:pPr/>
              <a:t>20</a:t>
            </a:fld>
            <a:endParaRPr lang="en-US"/>
          </a:p>
        </p:txBody>
      </p:sp>
    </p:spTree>
    <p:extLst>
      <p:ext uri="{BB962C8B-B14F-4D97-AF65-F5344CB8AC3E}">
        <p14:creationId xmlns:p14="http://schemas.microsoft.com/office/powerpoint/2010/main" val="155297795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460500"/>
          </a:xfrm>
        </p:spPr>
        <p:txBody>
          <a:bodyPr/>
          <a:lstStyle/>
          <a:p>
            <a:r>
              <a:rPr lang="en-US" dirty="0">
                <a:latin typeface="Casper Bold" panose="02000806040000020004" pitchFamily="2" charset="0"/>
                <a:cs typeface="Arial" panose="020B0604020202020204" pitchFamily="34" charset="0"/>
              </a:rPr>
              <a:t>DETERMINE WHETHER STUDENT PASSED THE 				EXAM OR NOT</a:t>
            </a:r>
            <a:endParaRPr lang="en-IN" dirty="0">
              <a:latin typeface="Casper Bold"/>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21</a:t>
            </a:fld>
            <a:endParaRPr lang="en-US"/>
          </a:p>
        </p:txBody>
      </p:sp>
      <p:sp>
        <p:nvSpPr>
          <p:cNvPr id="7" name="Content Placeholder 6">
            <a:extLst>
              <a:ext uri="{FF2B5EF4-FFF2-40B4-BE49-F238E27FC236}">
                <a16:creationId xmlns:a16="http://schemas.microsoft.com/office/drawing/2014/main" id="{61A832DB-6330-4822-9D60-D9EDADDB4DDE}"/>
              </a:ext>
            </a:extLst>
          </p:cNvPr>
          <p:cNvSpPr>
            <a:spLocks noGrp="1"/>
          </p:cNvSpPr>
          <p:nvPr>
            <p:ph idx="1"/>
          </p:nvPr>
        </p:nvSpPr>
        <p:spPr/>
        <p:txBody>
          <a:bodyPr/>
          <a:lstStyle/>
          <a:p>
            <a:r>
              <a:rPr lang="en-IN" dirty="0">
                <a:latin typeface="Casper" panose="02000506000000020004" pitchFamily="2" charset="0"/>
                <a:cs typeface="Arial" panose="020B0604020202020204" pitchFamily="34" charset="0"/>
              </a:rPr>
              <a:t>Step 1: Start</a:t>
            </a:r>
          </a:p>
          <a:p>
            <a:r>
              <a:rPr lang="en-IN" dirty="0">
                <a:latin typeface="Casper" panose="02000506000000020004" pitchFamily="2" charset="0"/>
                <a:cs typeface="Arial" panose="020B0604020202020204" pitchFamily="34" charset="0"/>
              </a:rPr>
              <a:t>Step 2: Read grades of 4 courses M1, M2, M3 and M4,</a:t>
            </a:r>
          </a:p>
          <a:p>
            <a:r>
              <a:rPr lang="en-IN" dirty="0">
                <a:latin typeface="Casper" panose="02000506000000020004" pitchFamily="2" charset="0"/>
                <a:cs typeface="Arial" panose="020B0604020202020204" pitchFamily="34" charset="0"/>
              </a:rPr>
              <a:t>Step 3: Calculate the average grade with formula 	"Grade=(M1+M2+M3+M4)/4"</a:t>
            </a:r>
          </a:p>
          <a:p>
            <a:pPr marL="0" indent="0">
              <a:buNone/>
            </a:pPr>
            <a:r>
              <a:rPr lang="en-IN" dirty="0">
                <a:latin typeface="Casper" panose="02000506000000020004" pitchFamily="2" charset="0"/>
                <a:cs typeface="Arial" panose="020B0604020202020204" pitchFamily="34" charset="0"/>
              </a:rPr>
              <a:t>Step 4: If the average grade is less than 60, Display "FAIL", else Display 	"PASS".</a:t>
            </a:r>
          </a:p>
          <a:p>
            <a:pPr marL="0" indent="0">
              <a:buNone/>
            </a:pPr>
            <a:r>
              <a:rPr lang="en-IN" dirty="0">
                <a:latin typeface="Casper" panose="02000506000000020004" pitchFamily="2" charset="0"/>
                <a:cs typeface="Arial" panose="020B0604020202020204" pitchFamily="34" charset="0"/>
              </a:rPr>
              <a:t>Step 5: Exit</a:t>
            </a:r>
          </a:p>
        </p:txBody>
      </p:sp>
    </p:spTree>
    <p:extLst>
      <p:ext uri="{BB962C8B-B14F-4D97-AF65-F5344CB8AC3E}">
        <p14:creationId xmlns:p14="http://schemas.microsoft.com/office/powerpoint/2010/main" val="2846342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6AF257-6932-4180-81B0-627063BEE892}"/>
              </a:ext>
            </a:extLst>
          </p:cNvPr>
          <p:cNvSpPr>
            <a:spLocks noGrp="1"/>
          </p:cNvSpPr>
          <p:nvPr>
            <p:ph type="title"/>
          </p:nvPr>
        </p:nvSpPr>
        <p:spPr/>
        <p:txBody>
          <a:bodyPr/>
          <a:lstStyle/>
          <a:p>
            <a:r>
              <a:rPr lang="en-US" dirty="0">
                <a:latin typeface="Casper Bold" panose="02000806040000020004" pitchFamily="2" charset="0"/>
                <a:cs typeface="Arial" panose="020B0604020202020204" pitchFamily="34" charset="0"/>
              </a:rPr>
              <a:t>DETERMINE WHETHER THE NUMBER IS EVEN  					OR ODD</a:t>
            </a:r>
            <a:endParaRPr lang="en-IN" dirty="0"/>
          </a:p>
        </p:txBody>
      </p:sp>
      <p:sp>
        <p:nvSpPr>
          <p:cNvPr id="3" name="Content Placeholder 2">
            <a:extLst>
              <a:ext uri="{FF2B5EF4-FFF2-40B4-BE49-F238E27FC236}">
                <a16:creationId xmlns:a16="http://schemas.microsoft.com/office/drawing/2014/main" id="{C43DA03F-7120-4F1E-A4F1-14DAB2EDDB3A}"/>
              </a:ext>
            </a:extLst>
          </p:cNvPr>
          <p:cNvSpPr>
            <a:spLocks noGrp="1"/>
          </p:cNvSpPr>
          <p:nvPr>
            <p:ph idx="1"/>
          </p:nvPr>
        </p:nvSpPr>
        <p:spPr/>
        <p:txBody>
          <a:bodyPr/>
          <a:lstStyle/>
          <a:p>
            <a:r>
              <a:rPr lang="en-IN" dirty="0">
                <a:latin typeface="Casper" panose="02000506000000020004" pitchFamily="2" charset="0"/>
                <a:cs typeface="Arial" panose="020B0604020202020204" pitchFamily="34" charset="0"/>
              </a:rPr>
              <a:t>Step 2: Read Number N,</a:t>
            </a:r>
          </a:p>
          <a:p>
            <a:r>
              <a:rPr lang="en-IN" dirty="0">
                <a:latin typeface="Casper" panose="02000506000000020004" pitchFamily="2" charset="0"/>
                <a:cs typeface="Arial" panose="020B0604020202020204" pitchFamily="34" charset="0"/>
              </a:rPr>
              <a:t>Step 3: Set remainder = N modulo 2,</a:t>
            </a:r>
          </a:p>
          <a:p>
            <a:r>
              <a:rPr lang="en-IN" dirty="0">
                <a:latin typeface="Casper" panose="02000506000000020004" pitchFamily="2" charset="0"/>
                <a:cs typeface="Arial" panose="020B0604020202020204" pitchFamily="34" charset="0"/>
              </a:rPr>
              <a:t>Step 4: If remainder is equal to 0 then </a:t>
            </a:r>
            <a:r>
              <a:rPr lang="en-IN" dirty="0" err="1">
                <a:latin typeface="Casper" panose="02000506000000020004" pitchFamily="2" charset="0"/>
                <a:cs typeface="Arial" panose="020B0604020202020204" pitchFamily="34" charset="0"/>
              </a:rPr>
              <a:t>Goto</a:t>
            </a:r>
            <a:r>
              <a:rPr lang="en-IN" dirty="0">
                <a:latin typeface="Casper" panose="02000506000000020004" pitchFamily="2" charset="0"/>
                <a:cs typeface="Arial" panose="020B0604020202020204" pitchFamily="34" charset="0"/>
              </a:rPr>
              <a:t> step 5 else </a:t>
            </a:r>
            <a:r>
              <a:rPr lang="en-IN" dirty="0" err="1">
                <a:latin typeface="Casper" panose="02000506000000020004" pitchFamily="2" charset="0"/>
                <a:cs typeface="Arial" panose="020B0604020202020204" pitchFamily="34" charset="0"/>
              </a:rPr>
              <a:t>Goto</a:t>
            </a:r>
            <a:r>
              <a:rPr lang="en-IN" dirty="0">
                <a:latin typeface="Casper" panose="02000506000000020004" pitchFamily="2" charset="0"/>
                <a:cs typeface="Arial" panose="020B0604020202020204" pitchFamily="34" charset="0"/>
              </a:rPr>
              <a:t> step 6</a:t>
            </a:r>
          </a:p>
          <a:p>
            <a:pPr marL="0" indent="0">
              <a:buNone/>
            </a:pPr>
            <a:r>
              <a:rPr lang="en-IN" dirty="0">
                <a:latin typeface="Casper" panose="02000506000000020004" pitchFamily="2" charset="0"/>
                <a:cs typeface="Arial" panose="020B0604020202020204" pitchFamily="34" charset="0"/>
              </a:rPr>
              <a:t>   Step 5: Display Number N is even</a:t>
            </a:r>
          </a:p>
          <a:p>
            <a:pPr marL="0" indent="0">
              <a:buNone/>
            </a:pPr>
            <a:r>
              <a:rPr lang="en-IN" dirty="0">
                <a:latin typeface="Casper" panose="02000506000000020004" pitchFamily="2" charset="0"/>
                <a:cs typeface="Arial" panose="020B0604020202020204" pitchFamily="34" charset="0"/>
              </a:rPr>
              <a:t>   Step 6: Display Number N is odd.</a:t>
            </a:r>
          </a:p>
          <a:p>
            <a:r>
              <a:rPr lang="en-IN" dirty="0">
                <a:latin typeface="Casper" panose="02000506000000020004" pitchFamily="2" charset="0"/>
                <a:cs typeface="Arial" panose="020B0604020202020204" pitchFamily="34" charset="0"/>
              </a:rPr>
              <a:t>Step 7: Stop</a:t>
            </a:r>
          </a:p>
          <a:p>
            <a:endParaRPr lang="en-IN" dirty="0"/>
          </a:p>
        </p:txBody>
      </p:sp>
      <p:sp>
        <p:nvSpPr>
          <p:cNvPr id="4" name="Slide Number Placeholder 3">
            <a:extLst>
              <a:ext uri="{FF2B5EF4-FFF2-40B4-BE49-F238E27FC236}">
                <a16:creationId xmlns:a16="http://schemas.microsoft.com/office/drawing/2014/main" id="{217C8E29-BAE1-4EB3-9CC6-ADD821E9903C}"/>
              </a:ext>
            </a:extLst>
          </p:cNvPr>
          <p:cNvSpPr>
            <a:spLocks noGrp="1"/>
          </p:cNvSpPr>
          <p:nvPr>
            <p:ph type="sldNum" sz="quarter" idx="12"/>
          </p:nvPr>
        </p:nvSpPr>
        <p:spPr/>
        <p:txBody>
          <a:bodyPr/>
          <a:lstStyle/>
          <a:p>
            <a:fld id="{BDCDBBEF-AA6C-4BA6-85B2-A17D7F280E38}" type="slidenum">
              <a:rPr lang="en-US" smtClean="0"/>
              <a:pPr/>
              <a:t>22</a:t>
            </a:fld>
            <a:endParaRPr lang="en-US"/>
          </a:p>
        </p:txBody>
      </p:sp>
    </p:spTree>
    <p:extLst>
      <p:ext uri="{BB962C8B-B14F-4D97-AF65-F5344CB8AC3E}">
        <p14:creationId xmlns:p14="http://schemas.microsoft.com/office/powerpoint/2010/main" val="223669011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6EA0D0-7CDD-464B-8D23-78921A3586C5}"/>
              </a:ext>
            </a:extLst>
          </p:cNvPr>
          <p:cNvSpPr>
            <a:spLocks noGrp="1"/>
          </p:cNvSpPr>
          <p:nvPr>
            <p:ph type="title"/>
          </p:nvPr>
        </p:nvSpPr>
        <p:spPr/>
        <p:txBody>
          <a:bodyPr/>
          <a:lstStyle/>
          <a:p>
            <a:r>
              <a:rPr lang="en-IN" b="1" dirty="0"/>
              <a:t>Display your name ( 1 time &amp; 100 times)</a:t>
            </a:r>
            <a:br>
              <a:rPr lang="en-IN" b="1" dirty="0"/>
            </a:br>
            <a:endParaRPr lang="en-IN" b="1" dirty="0"/>
          </a:p>
        </p:txBody>
      </p:sp>
      <p:sp>
        <p:nvSpPr>
          <p:cNvPr id="3" name="Content Placeholder 2">
            <a:extLst>
              <a:ext uri="{FF2B5EF4-FFF2-40B4-BE49-F238E27FC236}">
                <a16:creationId xmlns:a16="http://schemas.microsoft.com/office/drawing/2014/main" id="{281D0D79-AC74-46A6-AD0B-703376B40A59}"/>
              </a:ext>
            </a:extLst>
          </p:cNvPr>
          <p:cNvSpPr>
            <a:spLocks noGrp="1"/>
          </p:cNvSpPr>
          <p:nvPr>
            <p:ph idx="1"/>
          </p:nvPr>
        </p:nvSpPr>
        <p:spPr>
          <a:xfrm>
            <a:off x="4233864" y="1285875"/>
            <a:ext cx="6562725" cy="4838700"/>
          </a:xfrm>
        </p:spPr>
        <p:txBody>
          <a:bodyPr/>
          <a:lstStyle/>
          <a:p>
            <a:pPr marL="0" indent="0">
              <a:buNone/>
            </a:pPr>
            <a:r>
              <a:rPr lang="en-IN" dirty="0"/>
              <a:t>Step 1: Start</a:t>
            </a:r>
          </a:p>
          <a:p>
            <a:pPr marL="0" indent="0">
              <a:buNone/>
            </a:pPr>
            <a:r>
              <a:rPr lang="en-IN" dirty="0"/>
              <a:t>Step 2: Set counter=1</a:t>
            </a:r>
          </a:p>
          <a:p>
            <a:pPr marL="0" indent="0">
              <a:buNone/>
            </a:pPr>
            <a:r>
              <a:rPr lang="en-IN" dirty="0"/>
              <a:t>Step 3: </a:t>
            </a:r>
            <a:r>
              <a:rPr lang="en-IN" b="1" dirty="0"/>
              <a:t>Repeat steps 4 and 5 until 	  		counter&lt;=100</a:t>
            </a:r>
          </a:p>
          <a:p>
            <a:pPr marL="0" indent="0">
              <a:buNone/>
            </a:pPr>
            <a:r>
              <a:rPr lang="en-IN" dirty="0"/>
              <a:t>Step 4: display “Aman”</a:t>
            </a:r>
          </a:p>
          <a:p>
            <a:pPr marL="0" indent="0">
              <a:buNone/>
            </a:pPr>
            <a:r>
              <a:rPr lang="en-IN" dirty="0"/>
              <a:t>Step 5: increase counter by 1</a:t>
            </a:r>
          </a:p>
          <a:p>
            <a:pPr marL="0" indent="0">
              <a:buNone/>
            </a:pPr>
            <a:r>
              <a:rPr lang="en-IN" dirty="0"/>
              <a:t>	Counter=counter+1</a:t>
            </a:r>
          </a:p>
          <a:p>
            <a:pPr marL="0" indent="0">
              <a:buNone/>
            </a:pPr>
            <a:r>
              <a:rPr lang="en-IN" dirty="0"/>
              <a:t>Step 6:Stop</a:t>
            </a:r>
          </a:p>
          <a:p>
            <a:pPr marL="0" indent="0">
              <a:buNone/>
            </a:pPr>
            <a:endParaRPr lang="en-IN" dirty="0"/>
          </a:p>
        </p:txBody>
      </p:sp>
      <p:sp>
        <p:nvSpPr>
          <p:cNvPr id="4" name="Slide Number Placeholder 3">
            <a:extLst>
              <a:ext uri="{FF2B5EF4-FFF2-40B4-BE49-F238E27FC236}">
                <a16:creationId xmlns:a16="http://schemas.microsoft.com/office/drawing/2014/main" id="{BB3327C1-7124-40D2-9C51-146261DC327A}"/>
              </a:ext>
            </a:extLst>
          </p:cNvPr>
          <p:cNvSpPr>
            <a:spLocks noGrp="1"/>
          </p:cNvSpPr>
          <p:nvPr>
            <p:ph type="sldNum" sz="quarter" idx="12"/>
          </p:nvPr>
        </p:nvSpPr>
        <p:spPr/>
        <p:txBody>
          <a:bodyPr/>
          <a:lstStyle/>
          <a:p>
            <a:fld id="{BDCDBBEF-AA6C-4BA6-85B2-A17D7F280E38}" type="slidenum">
              <a:rPr lang="en-US" smtClean="0"/>
              <a:pPr/>
              <a:t>23</a:t>
            </a:fld>
            <a:endParaRPr lang="en-US"/>
          </a:p>
        </p:txBody>
      </p:sp>
      <p:sp>
        <p:nvSpPr>
          <p:cNvPr id="5" name="Content Placeholder 2">
            <a:extLst>
              <a:ext uri="{FF2B5EF4-FFF2-40B4-BE49-F238E27FC236}">
                <a16:creationId xmlns:a16="http://schemas.microsoft.com/office/drawing/2014/main" id="{AEF5D7D3-5F17-4D3B-AF9D-63C2A43102E7}"/>
              </a:ext>
            </a:extLst>
          </p:cNvPr>
          <p:cNvSpPr txBox="1">
            <a:spLocks/>
          </p:cNvSpPr>
          <p:nvPr/>
        </p:nvSpPr>
        <p:spPr>
          <a:xfrm>
            <a:off x="547689" y="1529556"/>
            <a:ext cx="3686175"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IN" dirty="0"/>
              <a:t>Step 1: Start</a:t>
            </a:r>
          </a:p>
          <a:p>
            <a:pPr marL="0" indent="0">
              <a:buFont typeface="Arial" panose="020B0604020202020204" pitchFamily="34" charset="0"/>
              <a:buNone/>
            </a:pPr>
            <a:r>
              <a:rPr lang="en-IN" dirty="0"/>
              <a:t>Step 2: Display “Aman”</a:t>
            </a:r>
          </a:p>
          <a:p>
            <a:pPr marL="0" indent="0">
              <a:buFont typeface="Arial" panose="020B0604020202020204" pitchFamily="34" charset="0"/>
              <a:buNone/>
            </a:pPr>
            <a:r>
              <a:rPr lang="en-IN" dirty="0"/>
              <a:t>Step 3: Stop</a:t>
            </a:r>
          </a:p>
        </p:txBody>
      </p:sp>
      <p:sp>
        <p:nvSpPr>
          <p:cNvPr id="7" name="Arrow: Left 6">
            <a:extLst>
              <a:ext uri="{FF2B5EF4-FFF2-40B4-BE49-F238E27FC236}">
                <a16:creationId xmlns:a16="http://schemas.microsoft.com/office/drawing/2014/main" id="{7675028A-C1D7-4938-B34A-83959E699C12}"/>
              </a:ext>
            </a:extLst>
          </p:cNvPr>
          <p:cNvSpPr/>
          <p:nvPr/>
        </p:nvSpPr>
        <p:spPr>
          <a:xfrm>
            <a:off x="9163049" y="1922463"/>
            <a:ext cx="3028951" cy="1325564"/>
          </a:xfrm>
          <a:prstGeom prst="leftArrow">
            <a:avLst/>
          </a:prstGeom>
          <a:solidFill>
            <a:srgbClr val="FFC0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Repetition of statements(Loop)</a:t>
            </a:r>
          </a:p>
        </p:txBody>
      </p:sp>
      <p:sp>
        <p:nvSpPr>
          <p:cNvPr id="6" name="Arrow: Curved Left 5">
            <a:extLst>
              <a:ext uri="{FF2B5EF4-FFF2-40B4-BE49-F238E27FC236}">
                <a16:creationId xmlns:a16="http://schemas.microsoft.com/office/drawing/2014/main" id="{96CF9794-2BB9-4BCC-B940-ED64249B9F30}"/>
              </a:ext>
            </a:extLst>
          </p:cNvPr>
          <p:cNvSpPr/>
          <p:nvPr/>
        </p:nvSpPr>
        <p:spPr>
          <a:xfrm rot="10800000">
            <a:off x="3023816" y="2346156"/>
            <a:ext cx="1305675" cy="2165687"/>
          </a:xfrm>
          <a:prstGeom prst="curvedLeftArrow">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IN">
              <a:solidFill>
                <a:schemeClr val="tx1"/>
              </a:solidFill>
            </a:endParaRPr>
          </a:p>
        </p:txBody>
      </p:sp>
      <p:sp>
        <p:nvSpPr>
          <p:cNvPr id="8" name="Arrow: Curved Down 7">
            <a:extLst>
              <a:ext uri="{FF2B5EF4-FFF2-40B4-BE49-F238E27FC236}">
                <a16:creationId xmlns:a16="http://schemas.microsoft.com/office/drawing/2014/main" id="{8E60936E-B3A3-403E-A2FD-DF043380BACA}"/>
              </a:ext>
            </a:extLst>
          </p:cNvPr>
          <p:cNvSpPr/>
          <p:nvPr/>
        </p:nvSpPr>
        <p:spPr>
          <a:xfrm rot="5400000">
            <a:off x="7484080" y="3588737"/>
            <a:ext cx="2338385" cy="828297"/>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2122284201"/>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
                                            <p:txEl>
                                              <p:pRg st="0" end="0"/>
                                            </p:txEl>
                                          </p:spTgt>
                                        </p:tgtEl>
                                      </p:cBhvr>
                                    </p:animEffect>
                                  </p:childTnLst>
                                </p:cTn>
                              </p:par>
                              <p:par>
                                <p:cTn id="10" presetID="53" presetClass="entr" presetSubtype="16"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 calcmode="lin" valueType="num">
                                      <p:cBhvr>
                                        <p:cTn id="12"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3"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14" dur="500"/>
                                        <p:tgtEl>
                                          <p:spTgt spid="3">
                                            <p:txEl>
                                              <p:pRg st="1" end="1"/>
                                            </p:txEl>
                                          </p:spTgt>
                                        </p:tgtEl>
                                      </p:cBhvr>
                                    </p:animEffect>
                                  </p:childTnLst>
                                </p:cTn>
                              </p:par>
                              <p:par>
                                <p:cTn id="15" presetID="53" presetClass="entr" presetSubtype="16"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p:cTn id="17"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18" dur="500" fill="hold"/>
                                        <p:tgtEl>
                                          <p:spTgt spid="3">
                                            <p:txEl>
                                              <p:pRg st="2" end="2"/>
                                            </p:txEl>
                                          </p:spTgt>
                                        </p:tgtEl>
                                        <p:attrNameLst>
                                          <p:attrName>ppt_h</p:attrName>
                                        </p:attrNameLst>
                                      </p:cBhvr>
                                      <p:tavLst>
                                        <p:tav tm="0">
                                          <p:val>
                                            <p:fltVal val="0"/>
                                          </p:val>
                                        </p:tav>
                                        <p:tav tm="100000">
                                          <p:val>
                                            <p:strVal val="#ppt_h"/>
                                          </p:val>
                                        </p:tav>
                                      </p:tavLst>
                                    </p:anim>
                                    <p:animEffect transition="in" filter="fade">
                                      <p:cBhvr>
                                        <p:cTn id="19" dur="500"/>
                                        <p:tgtEl>
                                          <p:spTgt spid="3">
                                            <p:txEl>
                                              <p:pRg st="2" end="2"/>
                                            </p:txEl>
                                          </p:spTgt>
                                        </p:tgtEl>
                                      </p:cBhvr>
                                    </p:animEffect>
                                  </p:childTnLst>
                                </p:cTn>
                              </p:par>
                              <p:par>
                                <p:cTn id="20" presetID="53" presetClass="entr" presetSubtype="16" fill="hold"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 calcmode="lin" valueType="num">
                                      <p:cBhvr>
                                        <p:cTn id="22"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23" dur="500" fill="hold"/>
                                        <p:tgtEl>
                                          <p:spTgt spid="3">
                                            <p:txEl>
                                              <p:pRg st="3" end="3"/>
                                            </p:txEl>
                                          </p:spTgt>
                                        </p:tgtEl>
                                        <p:attrNameLst>
                                          <p:attrName>ppt_h</p:attrName>
                                        </p:attrNameLst>
                                      </p:cBhvr>
                                      <p:tavLst>
                                        <p:tav tm="0">
                                          <p:val>
                                            <p:fltVal val="0"/>
                                          </p:val>
                                        </p:tav>
                                        <p:tav tm="100000">
                                          <p:val>
                                            <p:strVal val="#ppt_h"/>
                                          </p:val>
                                        </p:tav>
                                      </p:tavLst>
                                    </p:anim>
                                    <p:animEffect transition="in" filter="fade">
                                      <p:cBhvr>
                                        <p:cTn id="24" dur="500"/>
                                        <p:tgtEl>
                                          <p:spTgt spid="3">
                                            <p:txEl>
                                              <p:pRg st="3" end="3"/>
                                            </p:txEl>
                                          </p:spTgt>
                                        </p:tgtEl>
                                      </p:cBhvr>
                                    </p:animEffect>
                                  </p:childTnLst>
                                </p:cTn>
                              </p:par>
                              <p:par>
                                <p:cTn id="25" presetID="53" presetClass="entr" presetSubtype="16" fill="hold"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p:cTn id="27" dur="500" fill="hold"/>
                                        <p:tgtEl>
                                          <p:spTgt spid="3">
                                            <p:txEl>
                                              <p:pRg st="4" end="4"/>
                                            </p:txEl>
                                          </p:spTgt>
                                        </p:tgtEl>
                                        <p:attrNameLst>
                                          <p:attrName>ppt_w</p:attrName>
                                        </p:attrNameLst>
                                      </p:cBhvr>
                                      <p:tavLst>
                                        <p:tav tm="0">
                                          <p:val>
                                            <p:fltVal val="0"/>
                                          </p:val>
                                        </p:tav>
                                        <p:tav tm="100000">
                                          <p:val>
                                            <p:strVal val="#ppt_w"/>
                                          </p:val>
                                        </p:tav>
                                      </p:tavLst>
                                    </p:anim>
                                    <p:anim calcmode="lin" valueType="num">
                                      <p:cBhvr>
                                        <p:cTn id="28" dur="500" fill="hold"/>
                                        <p:tgtEl>
                                          <p:spTgt spid="3">
                                            <p:txEl>
                                              <p:pRg st="4" end="4"/>
                                            </p:txEl>
                                          </p:spTgt>
                                        </p:tgtEl>
                                        <p:attrNameLst>
                                          <p:attrName>ppt_h</p:attrName>
                                        </p:attrNameLst>
                                      </p:cBhvr>
                                      <p:tavLst>
                                        <p:tav tm="0">
                                          <p:val>
                                            <p:fltVal val="0"/>
                                          </p:val>
                                        </p:tav>
                                        <p:tav tm="100000">
                                          <p:val>
                                            <p:strVal val="#ppt_h"/>
                                          </p:val>
                                        </p:tav>
                                      </p:tavLst>
                                    </p:anim>
                                    <p:animEffect transition="in" filter="fade">
                                      <p:cBhvr>
                                        <p:cTn id="29" dur="500"/>
                                        <p:tgtEl>
                                          <p:spTgt spid="3">
                                            <p:txEl>
                                              <p:pRg st="4" end="4"/>
                                            </p:txEl>
                                          </p:spTgt>
                                        </p:tgtEl>
                                      </p:cBhvr>
                                    </p:animEffect>
                                  </p:childTnLst>
                                </p:cTn>
                              </p:par>
                              <p:par>
                                <p:cTn id="30" presetID="53" presetClass="entr" presetSubtype="16" fill="hold" nodeType="with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 calcmode="lin" valueType="num">
                                      <p:cBhvr>
                                        <p:cTn id="32" dur="500" fill="hold"/>
                                        <p:tgtEl>
                                          <p:spTgt spid="3">
                                            <p:txEl>
                                              <p:pRg st="5" end="5"/>
                                            </p:txEl>
                                          </p:spTgt>
                                        </p:tgtEl>
                                        <p:attrNameLst>
                                          <p:attrName>ppt_w</p:attrName>
                                        </p:attrNameLst>
                                      </p:cBhvr>
                                      <p:tavLst>
                                        <p:tav tm="0">
                                          <p:val>
                                            <p:fltVal val="0"/>
                                          </p:val>
                                        </p:tav>
                                        <p:tav tm="100000">
                                          <p:val>
                                            <p:strVal val="#ppt_w"/>
                                          </p:val>
                                        </p:tav>
                                      </p:tavLst>
                                    </p:anim>
                                    <p:anim calcmode="lin" valueType="num">
                                      <p:cBhvr>
                                        <p:cTn id="33" dur="500" fill="hold"/>
                                        <p:tgtEl>
                                          <p:spTgt spid="3">
                                            <p:txEl>
                                              <p:pRg st="5" end="5"/>
                                            </p:txEl>
                                          </p:spTgt>
                                        </p:tgtEl>
                                        <p:attrNameLst>
                                          <p:attrName>ppt_h</p:attrName>
                                        </p:attrNameLst>
                                      </p:cBhvr>
                                      <p:tavLst>
                                        <p:tav tm="0">
                                          <p:val>
                                            <p:fltVal val="0"/>
                                          </p:val>
                                        </p:tav>
                                        <p:tav tm="100000">
                                          <p:val>
                                            <p:strVal val="#ppt_h"/>
                                          </p:val>
                                        </p:tav>
                                      </p:tavLst>
                                    </p:anim>
                                    <p:animEffect transition="in" filter="fade">
                                      <p:cBhvr>
                                        <p:cTn id="34" dur="500"/>
                                        <p:tgtEl>
                                          <p:spTgt spid="3">
                                            <p:txEl>
                                              <p:pRg st="5" end="5"/>
                                            </p:txEl>
                                          </p:spTgt>
                                        </p:tgtEl>
                                      </p:cBhvr>
                                    </p:animEffect>
                                  </p:childTnLst>
                                </p:cTn>
                              </p:par>
                              <p:par>
                                <p:cTn id="35" presetID="53" presetClass="entr" presetSubtype="16" fill="hold" nodeType="with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p:cTn id="37" dur="500" fill="hold"/>
                                        <p:tgtEl>
                                          <p:spTgt spid="3">
                                            <p:txEl>
                                              <p:pRg st="6" end="6"/>
                                            </p:txEl>
                                          </p:spTgt>
                                        </p:tgtEl>
                                        <p:attrNameLst>
                                          <p:attrName>ppt_w</p:attrName>
                                        </p:attrNameLst>
                                      </p:cBhvr>
                                      <p:tavLst>
                                        <p:tav tm="0">
                                          <p:val>
                                            <p:fltVal val="0"/>
                                          </p:val>
                                        </p:tav>
                                        <p:tav tm="100000">
                                          <p:val>
                                            <p:strVal val="#ppt_w"/>
                                          </p:val>
                                        </p:tav>
                                      </p:tavLst>
                                    </p:anim>
                                    <p:anim calcmode="lin" valueType="num">
                                      <p:cBhvr>
                                        <p:cTn id="38" dur="500" fill="hold"/>
                                        <p:tgtEl>
                                          <p:spTgt spid="3">
                                            <p:txEl>
                                              <p:pRg st="6" end="6"/>
                                            </p:txEl>
                                          </p:spTgt>
                                        </p:tgtEl>
                                        <p:attrNameLst>
                                          <p:attrName>ppt_h</p:attrName>
                                        </p:attrNameLst>
                                      </p:cBhvr>
                                      <p:tavLst>
                                        <p:tav tm="0">
                                          <p:val>
                                            <p:fltVal val="0"/>
                                          </p:val>
                                        </p:tav>
                                        <p:tav tm="100000">
                                          <p:val>
                                            <p:strVal val="#ppt_h"/>
                                          </p:val>
                                        </p:tav>
                                      </p:tavLst>
                                    </p:anim>
                                    <p:animEffect transition="in" filter="fade">
                                      <p:cBhvr>
                                        <p:cTn id="39" dur="500"/>
                                        <p:tgtEl>
                                          <p:spTgt spid="3">
                                            <p:txEl>
                                              <p:pRg st="6" end="6"/>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53" presetClass="entr" presetSubtype="16" fill="hold" grpId="0" nodeType="clickEffect">
                                  <p:stCondLst>
                                    <p:cond delay="0"/>
                                  </p:stCondLst>
                                  <p:childTnLst>
                                    <p:set>
                                      <p:cBhvr>
                                        <p:cTn id="43" dur="1" fill="hold">
                                          <p:stCondLst>
                                            <p:cond delay="0"/>
                                          </p:stCondLst>
                                        </p:cTn>
                                        <p:tgtEl>
                                          <p:spTgt spid="7"/>
                                        </p:tgtEl>
                                        <p:attrNameLst>
                                          <p:attrName>style.visibility</p:attrName>
                                        </p:attrNameLst>
                                      </p:cBhvr>
                                      <p:to>
                                        <p:strVal val="visible"/>
                                      </p:to>
                                    </p:set>
                                    <p:anim calcmode="lin" valueType="num">
                                      <p:cBhvr>
                                        <p:cTn id="44" dur="500" fill="hold"/>
                                        <p:tgtEl>
                                          <p:spTgt spid="7"/>
                                        </p:tgtEl>
                                        <p:attrNameLst>
                                          <p:attrName>ppt_w</p:attrName>
                                        </p:attrNameLst>
                                      </p:cBhvr>
                                      <p:tavLst>
                                        <p:tav tm="0">
                                          <p:val>
                                            <p:fltVal val="0"/>
                                          </p:val>
                                        </p:tav>
                                        <p:tav tm="100000">
                                          <p:val>
                                            <p:strVal val="#ppt_w"/>
                                          </p:val>
                                        </p:tav>
                                      </p:tavLst>
                                    </p:anim>
                                    <p:anim calcmode="lin" valueType="num">
                                      <p:cBhvr>
                                        <p:cTn id="45" dur="500" fill="hold"/>
                                        <p:tgtEl>
                                          <p:spTgt spid="7"/>
                                        </p:tgtEl>
                                        <p:attrNameLst>
                                          <p:attrName>ppt_h</p:attrName>
                                        </p:attrNameLst>
                                      </p:cBhvr>
                                      <p:tavLst>
                                        <p:tav tm="0">
                                          <p:val>
                                            <p:fltVal val="0"/>
                                          </p:val>
                                        </p:tav>
                                        <p:tav tm="100000">
                                          <p:val>
                                            <p:strVal val="#ppt_h"/>
                                          </p:val>
                                        </p:tav>
                                      </p:tavLst>
                                    </p:anim>
                                    <p:animEffect transition="in" filter="fade">
                                      <p:cBhvr>
                                        <p:cTn id="46" dur="500"/>
                                        <p:tgtEl>
                                          <p:spTgt spid="7"/>
                                        </p:tgtEl>
                                      </p:cBhvr>
                                    </p:animEffec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6" grpId="0" animBg="1"/>
      <p:bldP spid="8"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2BC1D60-C0B4-47BF-BA2D-3CEA1F535511}"/>
              </a:ext>
            </a:extLst>
          </p:cNvPr>
          <p:cNvSpPr>
            <a:spLocks noGrp="1"/>
          </p:cNvSpPr>
          <p:nvPr>
            <p:ph type="sldNum" sz="quarter" idx="12"/>
          </p:nvPr>
        </p:nvSpPr>
        <p:spPr/>
        <p:txBody>
          <a:bodyPr/>
          <a:lstStyle/>
          <a:p>
            <a:pPr algn="just"/>
            <a:fld id="{BDCDBBEF-AA6C-4BA6-85B2-A17D7F280E38}" type="slidenum">
              <a:rPr lang="en-US" smtClean="0"/>
              <a:pPr algn="just"/>
              <a:t>24</a:t>
            </a:fld>
            <a:endParaRPr lang="en-US"/>
          </a:p>
        </p:txBody>
      </p:sp>
      <p:sp>
        <p:nvSpPr>
          <p:cNvPr id="5" name="Rectangle 4">
            <a:extLst>
              <a:ext uri="{FF2B5EF4-FFF2-40B4-BE49-F238E27FC236}">
                <a16:creationId xmlns:a16="http://schemas.microsoft.com/office/drawing/2014/main" id="{3B0C7E92-9A0D-4808-8CFE-0CFF5542B5EC}"/>
              </a:ext>
            </a:extLst>
          </p:cNvPr>
          <p:cNvSpPr/>
          <p:nvPr/>
        </p:nvSpPr>
        <p:spPr>
          <a:xfrm>
            <a:off x="762000" y="302359"/>
            <a:ext cx="11020425" cy="6555641"/>
          </a:xfrm>
          <a:prstGeom prst="rect">
            <a:avLst/>
          </a:prstGeom>
        </p:spPr>
        <p:txBody>
          <a:bodyPr wrap="square">
            <a:spAutoFit/>
          </a:bodyPr>
          <a:lstStyle/>
          <a:p>
            <a:pPr algn="just"/>
            <a:r>
              <a:rPr lang="en-US" sz="2800" b="1" dirty="0">
                <a:solidFill>
                  <a:srgbClr val="1375B0"/>
                </a:solidFill>
                <a:latin typeface="Nunito Sans"/>
              </a:rPr>
              <a:t>Advantages of Algorithm </a:t>
            </a:r>
          </a:p>
          <a:p>
            <a:pPr algn="just">
              <a:buFont typeface="Arial" panose="020B0604020202020204" pitchFamily="34" charset="0"/>
              <a:buChar char="•"/>
            </a:pPr>
            <a:r>
              <a:rPr lang="en-US" sz="2600" dirty="0">
                <a:solidFill>
                  <a:srgbClr val="4D5968"/>
                </a:solidFill>
                <a:latin typeface="Nunito Sans"/>
              </a:rPr>
              <a:t>The algorithms are very easy to understand and can be written in simple language which can be understood by anyone</a:t>
            </a:r>
          </a:p>
          <a:p>
            <a:pPr algn="just">
              <a:buFont typeface="Arial" panose="020B0604020202020204" pitchFamily="34" charset="0"/>
              <a:buChar char="•"/>
            </a:pPr>
            <a:r>
              <a:rPr lang="en-US" sz="2600" dirty="0">
                <a:solidFill>
                  <a:srgbClr val="4D5968"/>
                </a:solidFill>
                <a:latin typeface="Nunito Sans"/>
              </a:rPr>
              <a:t>Algorithms can be broken down into different pieces, which will be easy to implement practically.</a:t>
            </a:r>
          </a:p>
          <a:p>
            <a:pPr algn="just">
              <a:buFont typeface="Arial" panose="020B0604020202020204" pitchFamily="34" charset="0"/>
              <a:buChar char="•"/>
            </a:pPr>
            <a:r>
              <a:rPr lang="en-US" sz="2600" dirty="0">
                <a:solidFill>
                  <a:srgbClr val="4D5968"/>
                </a:solidFill>
                <a:latin typeface="Nunito Sans"/>
              </a:rPr>
              <a:t>By using algorithms, we can easily understand the sequence to be followed in processing.</a:t>
            </a:r>
          </a:p>
          <a:p>
            <a:pPr algn="just"/>
            <a:endParaRPr lang="en-US" sz="2600" dirty="0">
              <a:solidFill>
                <a:srgbClr val="4D5968"/>
              </a:solidFill>
              <a:latin typeface="Nunito Sans"/>
            </a:endParaRPr>
          </a:p>
          <a:p>
            <a:pPr algn="just"/>
            <a:r>
              <a:rPr lang="en-US" sz="2800" b="1" dirty="0">
                <a:solidFill>
                  <a:srgbClr val="1375B0"/>
                </a:solidFill>
                <a:latin typeface="Nunito Sans"/>
              </a:rPr>
              <a:t>Disadvantages of Algorithm </a:t>
            </a:r>
          </a:p>
          <a:p>
            <a:pPr algn="just"/>
            <a:r>
              <a:rPr lang="en-US" sz="2600" dirty="0">
                <a:solidFill>
                  <a:srgbClr val="4D5968"/>
                </a:solidFill>
                <a:latin typeface="Nunito Sans"/>
              </a:rPr>
              <a:t>Below are some main disadvantages of any algorithms:</a:t>
            </a:r>
          </a:p>
          <a:p>
            <a:pPr algn="just">
              <a:buFont typeface="Arial" panose="020B0604020202020204" pitchFamily="34" charset="0"/>
              <a:buChar char="•"/>
            </a:pPr>
            <a:r>
              <a:rPr lang="en-US" sz="2600" dirty="0">
                <a:solidFill>
                  <a:srgbClr val="4D5968"/>
                </a:solidFill>
                <a:latin typeface="Nunito Sans"/>
              </a:rPr>
              <a:t>It’s very difficult to convert the complex task into proper algorithms.</a:t>
            </a:r>
          </a:p>
          <a:p>
            <a:pPr algn="just">
              <a:buFont typeface="Arial" panose="020B0604020202020204" pitchFamily="34" charset="0"/>
              <a:buChar char="•"/>
            </a:pPr>
            <a:r>
              <a:rPr lang="en-US" sz="2600" dirty="0">
                <a:solidFill>
                  <a:srgbClr val="4D5968"/>
                </a:solidFill>
                <a:latin typeface="Nunito Sans"/>
              </a:rPr>
              <a:t>Its time-consuming process because we need to spend proper time for writing algorithm and later we need to implement in a programming language.</a:t>
            </a:r>
          </a:p>
          <a:p>
            <a:pPr algn="just">
              <a:buFont typeface="Arial" panose="020B0604020202020204" pitchFamily="34" charset="0"/>
              <a:buChar char="•"/>
            </a:pPr>
            <a:r>
              <a:rPr lang="en-US" sz="2600" dirty="0">
                <a:solidFill>
                  <a:srgbClr val="4D5968"/>
                </a:solidFill>
                <a:latin typeface="Nunito Sans"/>
              </a:rPr>
              <a:t>It’s complicated to show functionalities for each step of introduction to algorithms and it’s hard to understand each flow in the term for loop and branch.</a:t>
            </a:r>
            <a:endParaRPr lang="en-US" sz="2600" b="0" i="0" dirty="0">
              <a:solidFill>
                <a:srgbClr val="4D5968"/>
              </a:solidFill>
              <a:effectLst/>
              <a:latin typeface="Nunito Sans"/>
            </a:endParaRPr>
          </a:p>
        </p:txBody>
      </p:sp>
    </p:spTree>
    <p:extLst>
      <p:ext uri="{BB962C8B-B14F-4D97-AF65-F5344CB8AC3E}">
        <p14:creationId xmlns:p14="http://schemas.microsoft.com/office/powerpoint/2010/main" val="483088366"/>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272F9E2-FFA9-470D-8177-51DABEE80B0B}"/>
              </a:ext>
            </a:extLst>
          </p:cNvPr>
          <p:cNvSpPr>
            <a:spLocks noGrp="1"/>
          </p:cNvSpPr>
          <p:nvPr>
            <p:ph idx="1"/>
          </p:nvPr>
        </p:nvSpPr>
        <p:spPr>
          <a:xfrm>
            <a:off x="781878" y="1152525"/>
            <a:ext cx="11510904" cy="5340350"/>
          </a:xfrm>
        </p:spPr>
        <p:txBody>
          <a:bodyPr>
            <a:normAutofit/>
          </a:bodyPr>
          <a:lstStyle/>
          <a:p>
            <a:endParaRPr lang="en-US" sz="3200" dirty="0"/>
          </a:p>
          <a:p>
            <a:pPr marL="0" indent="0">
              <a:buNone/>
            </a:pPr>
            <a:endParaRPr lang="en-IN" sz="3200" dirty="0"/>
          </a:p>
        </p:txBody>
      </p:sp>
      <p:sp>
        <p:nvSpPr>
          <p:cNvPr id="4" name="Slide Number Placeholder 3">
            <a:extLst>
              <a:ext uri="{FF2B5EF4-FFF2-40B4-BE49-F238E27FC236}">
                <a16:creationId xmlns:a16="http://schemas.microsoft.com/office/drawing/2014/main" id="{42F074E6-5593-499A-999A-A8E6BFB26FEF}"/>
              </a:ext>
            </a:extLst>
          </p:cNvPr>
          <p:cNvSpPr>
            <a:spLocks noGrp="1"/>
          </p:cNvSpPr>
          <p:nvPr>
            <p:ph type="sldNum" sz="quarter" idx="12"/>
          </p:nvPr>
        </p:nvSpPr>
        <p:spPr>
          <a:xfrm>
            <a:off x="9563100" y="6675756"/>
            <a:ext cx="2050344" cy="45719"/>
          </a:xfrm>
        </p:spPr>
        <p:txBody>
          <a:bodyPr/>
          <a:lstStyle/>
          <a:p>
            <a:fld id="{BDCDBBEF-AA6C-4BA6-85B2-A17D7F280E38}" type="slidenum">
              <a:rPr lang="en-US" sz="1400" smtClean="0"/>
              <a:pPr/>
              <a:t>25</a:t>
            </a:fld>
            <a:endParaRPr lang="en-US" sz="1400" dirty="0"/>
          </a:p>
        </p:txBody>
      </p:sp>
      <p:sp>
        <p:nvSpPr>
          <p:cNvPr id="5" name="Flowchart: Sequential Access Storage 4">
            <a:extLst>
              <a:ext uri="{FF2B5EF4-FFF2-40B4-BE49-F238E27FC236}">
                <a16:creationId xmlns:a16="http://schemas.microsoft.com/office/drawing/2014/main" id="{A9A974E1-239B-41FB-8D6A-D0A9F00EB13D}"/>
              </a:ext>
            </a:extLst>
          </p:cNvPr>
          <p:cNvSpPr/>
          <p:nvPr/>
        </p:nvSpPr>
        <p:spPr>
          <a:xfrm>
            <a:off x="1003852" y="138734"/>
            <a:ext cx="2643809" cy="1013791"/>
          </a:xfrm>
          <a:prstGeom prst="flowChartMagneticTap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bg2">
                    <a:lumMod val="10000"/>
                  </a:schemeClr>
                </a:solidFill>
              </a:rPr>
              <a:t>Summary</a:t>
            </a:r>
            <a:endParaRPr lang="en-IN" sz="3200" b="1" dirty="0">
              <a:solidFill>
                <a:schemeClr val="bg2">
                  <a:lumMod val="10000"/>
                </a:schemeClr>
              </a:solidFill>
            </a:endParaRPr>
          </a:p>
        </p:txBody>
      </p:sp>
      <p:graphicFrame>
        <p:nvGraphicFramePr>
          <p:cNvPr id="6" name="Diagram 5">
            <a:extLst>
              <a:ext uri="{FF2B5EF4-FFF2-40B4-BE49-F238E27FC236}">
                <a16:creationId xmlns:a16="http://schemas.microsoft.com/office/drawing/2014/main" id="{A7F6A135-B6D5-40B7-BF67-2E0F4EF47A01}"/>
              </a:ext>
            </a:extLst>
          </p:cNvPr>
          <p:cNvGraphicFramePr/>
          <p:nvPr>
            <p:extLst>
              <p:ext uri="{D42A27DB-BD31-4B8C-83A1-F6EECF244321}">
                <p14:modId xmlns:p14="http://schemas.microsoft.com/office/powerpoint/2010/main" val="1484583572"/>
              </p:ext>
            </p:extLst>
          </p:nvPr>
        </p:nvGraphicFramePr>
        <p:xfrm>
          <a:off x="2088671" y="1300599"/>
          <a:ext cx="8897317"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78795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8E2F6-A89B-465A-A1BD-AB3595FE99C5}"/>
              </a:ext>
            </a:extLst>
          </p:cNvPr>
          <p:cNvSpPr>
            <a:spLocks noGrp="1"/>
          </p:cNvSpPr>
          <p:nvPr>
            <p:ph type="title"/>
          </p:nvPr>
        </p:nvSpPr>
        <p:spPr/>
        <p:txBody>
          <a:bodyPr/>
          <a:lstStyle/>
          <a:p>
            <a:r>
              <a:rPr lang="en-US" b="1" dirty="0"/>
              <a:t>Frequently Asked question</a:t>
            </a:r>
            <a:endParaRPr lang="en-IN" b="1" dirty="0"/>
          </a:p>
        </p:txBody>
      </p:sp>
      <p:sp>
        <p:nvSpPr>
          <p:cNvPr id="3" name="Content Placeholder 2">
            <a:extLst>
              <a:ext uri="{FF2B5EF4-FFF2-40B4-BE49-F238E27FC236}">
                <a16:creationId xmlns:a16="http://schemas.microsoft.com/office/drawing/2014/main" id="{7E006E3E-5DF9-4790-B5C6-ECD785B8D0E7}"/>
              </a:ext>
            </a:extLst>
          </p:cNvPr>
          <p:cNvSpPr>
            <a:spLocks noGrp="1"/>
          </p:cNvSpPr>
          <p:nvPr>
            <p:ph idx="1"/>
          </p:nvPr>
        </p:nvSpPr>
        <p:spPr>
          <a:xfrm>
            <a:off x="447261" y="1690688"/>
            <a:ext cx="11443251" cy="4351338"/>
          </a:xfrm>
        </p:spPr>
        <p:txBody>
          <a:bodyPr>
            <a:normAutofit fontScale="92500" lnSpcReduction="20000"/>
          </a:bodyPr>
          <a:lstStyle/>
          <a:p>
            <a:pPr marL="0" indent="0" algn="just">
              <a:buNone/>
            </a:pPr>
            <a:r>
              <a:rPr lang="en-IN" b="1" dirty="0"/>
              <a:t>Q1 </a:t>
            </a:r>
            <a:r>
              <a:rPr lang="en-IN" dirty="0"/>
              <a:t>Where are algorithms used in real life?</a:t>
            </a:r>
          </a:p>
          <a:p>
            <a:pPr marL="0" indent="0" algn="just">
              <a:buNone/>
            </a:pPr>
            <a:r>
              <a:rPr lang="en-IN" dirty="0"/>
              <a:t>Answer: In real life these algorithms are used in mp3 players, video players, making dictionaries and there are much examples for searching and sorting. Searching Algorithms is used in Quantum computing also. In Operating system scheduling of tasks is done through various algorithms such as FIFO, Round robin, etc. Google when showing search results uses page ranking techniques. Facebook when showing news feed uses a similar ranking algorithm to make it more relevant to you. All these use a modification of Link Analysis, an interesting branch in Data Mining.</a:t>
            </a:r>
          </a:p>
          <a:p>
            <a:pPr marL="0" indent="0" algn="just">
              <a:buNone/>
            </a:pPr>
            <a:r>
              <a:rPr lang="en-IN" dirty="0"/>
              <a:t>So, whenever you press a key on your keyboard, make a call, perform a calculation, start an application or press a remote button, always an algorithms is triggered. So, there are countless examples of many algorithms in our daily life and making our life easier.</a:t>
            </a:r>
          </a:p>
          <a:p>
            <a:pPr marL="0" indent="0">
              <a:buNone/>
            </a:pPr>
            <a:endParaRPr lang="en-IN" dirty="0"/>
          </a:p>
        </p:txBody>
      </p:sp>
      <p:sp>
        <p:nvSpPr>
          <p:cNvPr id="4" name="Slide Number Placeholder 3">
            <a:extLst>
              <a:ext uri="{FF2B5EF4-FFF2-40B4-BE49-F238E27FC236}">
                <a16:creationId xmlns:a16="http://schemas.microsoft.com/office/drawing/2014/main" id="{1A7B4CF3-EBCB-4313-9D42-E3317606C387}"/>
              </a:ext>
            </a:extLst>
          </p:cNvPr>
          <p:cNvSpPr>
            <a:spLocks noGrp="1"/>
          </p:cNvSpPr>
          <p:nvPr>
            <p:ph type="sldNum" sz="quarter" idx="12"/>
          </p:nvPr>
        </p:nvSpPr>
        <p:spPr/>
        <p:txBody>
          <a:bodyPr/>
          <a:lstStyle/>
          <a:p>
            <a:fld id="{BDCDBBEF-AA6C-4BA6-85B2-A17D7F280E38}" type="slidenum">
              <a:rPr lang="en-US" smtClean="0"/>
              <a:pPr/>
              <a:t>26</a:t>
            </a:fld>
            <a:endParaRPr lang="en-US"/>
          </a:p>
        </p:txBody>
      </p:sp>
    </p:spTree>
    <p:extLst>
      <p:ext uri="{BB962C8B-B14F-4D97-AF65-F5344CB8AC3E}">
        <p14:creationId xmlns:p14="http://schemas.microsoft.com/office/powerpoint/2010/main" val="128444470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B4B594-F373-4FAE-A658-17A4132BDAC7}"/>
              </a:ext>
            </a:extLst>
          </p:cNvPr>
          <p:cNvSpPr>
            <a:spLocks noGrp="1"/>
          </p:cNvSpPr>
          <p:nvPr>
            <p:ph idx="1"/>
          </p:nvPr>
        </p:nvSpPr>
        <p:spPr>
          <a:xfrm>
            <a:off x="838200" y="838200"/>
            <a:ext cx="10515600" cy="5338763"/>
          </a:xfrm>
        </p:spPr>
        <p:txBody>
          <a:bodyPr>
            <a:normAutofit fontScale="92500" lnSpcReduction="10000"/>
          </a:bodyPr>
          <a:lstStyle/>
          <a:p>
            <a:pPr marL="0" indent="0">
              <a:buNone/>
            </a:pPr>
            <a:r>
              <a:rPr lang="en-IN" b="1" dirty="0"/>
              <a:t>Q2 </a:t>
            </a:r>
            <a:r>
              <a:rPr lang="en-IN" dirty="0"/>
              <a:t>What are the various types of algorithms?</a:t>
            </a:r>
          </a:p>
          <a:p>
            <a:pPr marL="0" indent="0">
              <a:buNone/>
            </a:pPr>
            <a:r>
              <a:rPr lang="en-IN" dirty="0"/>
              <a:t>Answer: There are numerous types of algorithms designed to a particular purpose.</a:t>
            </a:r>
          </a:p>
          <a:p>
            <a:r>
              <a:rPr lang="en-IN" dirty="0"/>
              <a:t>Recursive algorithms.</a:t>
            </a:r>
          </a:p>
          <a:p>
            <a:r>
              <a:rPr lang="en-IN" dirty="0"/>
              <a:t>Dynamic programming algorithm.</a:t>
            </a:r>
          </a:p>
          <a:p>
            <a:r>
              <a:rPr lang="en-IN" dirty="0"/>
              <a:t>Backtracking algorithm.</a:t>
            </a:r>
          </a:p>
          <a:p>
            <a:r>
              <a:rPr lang="en-IN" dirty="0"/>
              <a:t>Divide and conquer algorithm.</a:t>
            </a:r>
          </a:p>
          <a:p>
            <a:r>
              <a:rPr lang="en-IN" dirty="0"/>
              <a:t>Greedy algorithm.</a:t>
            </a:r>
          </a:p>
          <a:p>
            <a:r>
              <a:rPr lang="en-IN" dirty="0"/>
              <a:t>Brute Force algorithm.</a:t>
            </a:r>
          </a:p>
          <a:p>
            <a:r>
              <a:rPr lang="en-IN" dirty="0"/>
              <a:t>Randomized algorithm.</a:t>
            </a:r>
          </a:p>
          <a:p>
            <a:r>
              <a:rPr lang="en-IN" dirty="0"/>
              <a:t>Facial recognition algorithms</a:t>
            </a:r>
          </a:p>
          <a:p>
            <a:r>
              <a:rPr lang="en-IN" dirty="0"/>
              <a:t>Shortest Path Finding Algorithm</a:t>
            </a:r>
          </a:p>
          <a:p>
            <a:endParaRPr lang="en-IN" dirty="0"/>
          </a:p>
        </p:txBody>
      </p:sp>
      <p:sp>
        <p:nvSpPr>
          <p:cNvPr id="4" name="Slide Number Placeholder 3">
            <a:extLst>
              <a:ext uri="{FF2B5EF4-FFF2-40B4-BE49-F238E27FC236}">
                <a16:creationId xmlns:a16="http://schemas.microsoft.com/office/drawing/2014/main" id="{4D49BC22-1010-4A54-ACD6-4D30AA9A929E}"/>
              </a:ext>
            </a:extLst>
          </p:cNvPr>
          <p:cNvSpPr>
            <a:spLocks noGrp="1"/>
          </p:cNvSpPr>
          <p:nvPr>
            <p:ph type="sldNum" sz="quarter" idx="12"/>
          </p:nvPr>
        </p:nvSpPr>
        <p:spPr/>
        <p:txBody>
          <a:bodyPr/>
          <a:lstStyle/>
          <a:p>
            <a:fld id="{BDCDBBEF-AA6C-4BA6-85B2-A17D7F280E38}" type="slidenum">
              <a:rPr lang="en-US" smtClean="0"/>
              <a:pPr/>
              <a:t>27</a:t>
            </a:fld>
            <a:endParaRPr lang="en-US"/>
          </a:p>
        </p:txBody>
      </p:sp>
    </p:spTree>
    <p:extLst>
      <p:ext uri="{BB962C8B-B14F-4D97-AF65-F5344CB8AC3E}">
        <p14:creationId xmlns:p14="http://schemas.microsoft.com/office/powerpoint/2010/main" val="307530580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E331274-42AE-4010-AC1C-B912B35F0A30}"/>
              </a:ext>
            </a:extLst>
          </p:cNvPr>
          <p:cNvSpPr>
            <a:spLocks noGrp="1"/>
          </p:cNvSpPr>
          <p:nvPr>
            <p:ph type="sldNum" sz="quarter" idx="12"/>
          </p:nvPr>
        </p:nvSpPr>
        <p:spPr/>
        <p:txBody>
          <a:bodyPr/>
          <a:lstStyle/>
          <a:p>
            <a:fld id="{BDCDBBEF-AA6C-4BA6-85B2-A17D7F280E38}" type="slidenum">
              <a:rPr lang="en-US" smtClean="0"/>
              <a:pPr/>
              <a:t>28</a:t>
            </a:fld>
            <a:endParaRPr lang="en-US"/>
          </a:p>
        </p:txBody>
      </p:sp>
      <p:sp>
        <p:nvSpPr>
          <p:cNvPr id="5" name="Rectangle 4">
            <a:extLst>
              <a:ext uri="{FF2B5EF4-FFF2-40B4-BE49-F238E27FC236}">
                <a16:creationId xmlns:a16="http://schemas.microsoft.com/office/drawing/2014/main" id="{24D8082F-0FE2-46F7-B5F0-242E08DCB58C}"/>
              </a:ext>
            </a:extLst>
          </p:cNvPr>
          <p:cNvSpPr/>
          <p:nvPr/>
        </p:nvSpPr>
        <p:spPr>
          <a:xfrm>
            <a:off x="1047749" y="898788"/>
            <a:ext cx="7839075" cy="5447645"/>
          </a:xfrm>
          <a:prstGeom prst="rect">
            <a:avLst/>
          </a:prstGeom>
        </p:spPr>
        <p:txBody>
          <a:bodyPr wrap="square">
            <a:spAutoFit/>
          </a:bodyPr>
          <a:lstStyle/>
          <a:p>
            <a:pPr algn="just">
              <a:lnSpc>
                <a:spcPct val="107000"/>
              </a:lnSpc>
              <a:spcAft>
                <a:spcPts val="800"/>
              </a:spcAft>
            </a:pPr>
            <a:r>
              <a:rPr lang="en-IN" sz="2400" b="1" dirty="0">
                <a:latin typeface="Calibri" panose="020F0502020204030204" pitchFamily="34" charset="0"/>
                <a:ea typeface="Calibri" panose="020F0502020204030204" pitchFamily="34" charset="0"/>
                <a:cs typeface="Times New Roman" panose="02020603050405020304" pitchFamily="18" charset="0"/>
              </a:rPr>
              <a:t>Q3 Write an algorithm to find maximum of three numbers</a:t>
            </a:r>
            <a:r>
              <a:rPr lang="en-IN" sz="2400" dirty="0">
                <a:latin typeface="Calibri" panose="020F0502020204030204" pitchFamily="34" charset="0"/>
                <a:ea typeface="Calibri" panose="020F0502020204030204" pitchFamily="34" charset="0"/>
                <a:cs typeface="Times New Roman" panose="02020603050405020304" pitchFamily="18" charset="0"/>
              </a:rPr>
              <a:t>.</a:t>
            </a:r>
          </a:p>
          <a:p>
            <a:pPr algn="just">
              <a:lnSpc>
                <a:spcPct val="107000"/>
              </a:lnSpc>
              <a:spcAft>
                <a:spcPts val="800"/>
              </a:spcAft>
            </a:pPr>
            <a:r>
              <a:rPr lang="en-IN" sz="2400" dirty="0">
                <a:latin typeface="Calibri" panose="020F0502020204030204" pitchFamily="34" charset="0"/>
                <a:ea typeface="Calibri" panose="020F0502020204030204" pitchFamily="34" charset="0"/>
                <a:cs typeface="Times New Roman" panose="02020603050405020304" pitchFamily="18" charset="0"/>
              </a:rPr>
              <a:t>Answer: Algorithm:</a:t>
            </a:r>
          </a:p>
          <a:p>
            <a:pPr algn="just">
              <a:lnSpc>
                <a:spcPct val="107000"/>
              </a:lnSpc>
              <a:spcAft>
                <a:spcPts val="800"/>
              </a:spcAft>
            </a:pPr>
            <a:r>
              <a:rPr lang="en-IN" sz="2400" dirty="0">
                <a:latin typeface="Calibri" panose="020F0502020204030204" pitchFamily="34" charset="0"/>
                <a:ea typeface="Calibri" panose="020F0502020204030204" pitchFamily="34" charset="0"/>
                <a:cs typeface="Times New Roman" panose="02020603050405020304" pitchFamily="18" charset="0"/>
              </a:rPr>
              <a:t>Step 1 : Start</a:t>
            </a:r>
          </a:p>
          <a:p>
            <a:pPr algn="just">
              <a:lnSpc>
                <a:spcPct val="107000"/>
              </a:lnSpc>
              <a:spcAft>
                <a:spcPts val="800"/>
              </a:spcAft>
            </a:pPr>
            <a:r>
              <a:rPr lang="en-IN" sz="2400" dirty="0">
                <a:latin typeface="Calibri" panose="020F0502020204030204" pitchFamily="34" charset="0"/>
                <a:ea typeface="Calibri" panose="020F0502020204030204" pitchFamily="34" charset="0"/>
                <a:cs typeface="Times New Roman" panose="02020603050405020304" pitchFamily="18" charset="0"/>
              </a:rPr>
              <a:t>Start 2 : Input a, b, c</a:t>
            </a:r>
          </a:p>
          <a:p>
            <a:pPr algn="just">
              <a:lnSpc>
                <a:spcPct val="107000"/>
              </a:lnSpc>
              <a:spcAft>
                <a:spcPts val="800"/>
              </a:spcAft>
            </a:pPr>
            <a:r>
              <a:rPr lang="en-IN" sz="2400" dirty="0">
                <a:latin typeface="Calibri" panose="020F0502020204030204" pitchFamily="34" charset="0"/>
                <a:ea typeface="Calibri" panose="020F0502020204030204" pitchFamily="34" charset="0"/>
                <a:cs typeface="Times New Roman" panose="02020603050405020304" pitchFamily="18" charset="0"/>
              </a:rPr>
              <a:t>Start 3 : if a &gt; b </a:t>
            </a:r>
            <a:r>
              <a:rPr lang="en-IN" sz="2400" dirty="0" err="1">
                <a:latin typeface="Calibri" panose="020F0502020204030204" pitchFamily="34" charset="0"/>
                <a:ea typeface="Calibri" panose="020F0502020204030204" pitchFamily="34" charset="0"/>
                <a:cs typeface="Times New Roman" panose="02020603050405020304" pitchFamily="18" charset="0"/>
              </a:rPr>
              <a:t>goto</a:t>
            </a:r>
            <a:r>
              <a:rPr lang="en-IN" sz="2400" dirty="0">
                <a:latin typeface="Calibri" panose="020F0502020204030204" pitchFamily="34" charset="0"/>
                <a:ea typeface="Calibri" panose="020F0502020204030204" pitchFamily="34" charset="0"/>
                <a:cs typeface="Times New Roman" panose="02020603050405020304" pitchFamily="18" charset="0"/>
              </a:rPr>
              <a:t> step 4, otherwise </a:t>
            </a:r>
            <a:r>
              <a:rPr lang="en-IN" sz="2400" dirty="0" err="1">
                <a:latin typeface="Calibri" panose="020F0502020204030204" pitchFamily="34" charset="0"/>
                <a:ea typeface="Calibri" panose="020F0502020204030204" pitchFamily="34" charset="0"/>
                <a:cs typeface="Times New Roman" panose="02020603050405020304" pitchFamily="18" charset="0"/>
              </a:rPr>
              <a:t>goto</a:t>
            </a:r>
            <a:r>
              <a:rPr lang="en-IN" sz="2400" dirty="0">
                <a:latin typeface="Calibri" panose="020F0502020204030204" pitchFamily="34" charset="0"/>
                <a:ea typeface="Calibri" panose="020F0502020204030204" pitchFamily="34" charset="0"/>
                <a:cs typeface="Times New Roman" panose="02020603050405020304" pitchFamily="18" charset="0"/>
              </a:rPr>
              <a:t> step 5</a:t>
            </a:r>
          </a:p>
          <a:p>
            <a:pPr algn="just">
              <a:lnSpc>
                <a:spcPct val="107000"/>
              </a:lnSpc>
              <a:spcAft>
                <a:spcPts val="800"/>
              </a:spcAft>
            </a:pPr>
            <a:r>
              <a:rPr lang="en-IN" sz="2400" dirty="0">
                <a:latin typeface="Calibri" panose="020F0502020204030204" pitchFamily="34" charset="0"/>
                <a:ea typeface="Calibri" panose="020F0502020204030204" pitchFamily="34" charset="0"/>
                <a:cs typeface="Times New Roman" panose="02020603050405020304" pitchFamily="18" charset="0"/>
              </a:rPr>
              <a:t>Start 4 : if a &gt; c </a:t>
            </a:r>
            <a:r>
              <a:rPr lang="en-IN" sz="2400" dirty="0" err="1">
                <a:latin typeface="Calibri" panose="020F0502020204030204" pitchFamily="34" charset="0"/>
                <a:ea typeface="Calibri" panose="020F0502020204030204" pitchFamily="34" charset="0"/>
                <a:cs typeface="Times New Roman" panose="02020603050405020304" pitchFamily="18" charset="0"/>
              </a:rPr>
              <a:t>goto</a:t>
            </a:r>
            <a:r>
              <a:rPr lang="en-IN" sz="2400" dirty="0">
                <a:latin typeface="Calibri" panose="020F0502020204030204" pitchFamily="34" charset="0"/>
                <a:ea typeface="Calibri" panose="020F0502020204030204" pitchFamily="34" charset="0"/>
                <a:cs typeface="Times New Roman" panose="02020603050405020304" pitchFamily="18" charset="0"/>
              </a:rPr>
              <a:t> step 6, otherwise </a:t>
            </a:r>
            <a:r>
              <a:rPr lang="en-IN" sz="2400" dirty="0" err="1">
                <a:latin typeface="Calibri" panose="020F0502020204030204" pitchFamily="34" charset="0"/>
                <a:ea typeface="Calibri" panose="020F0502020204030204" pitchFamily="34" charset="0"/>
                <a:cs typeface="Times New Roman" panose="02020603050405020304" pitchFamily="18" charset="0"/>
              </a:rPr>
              <a:t>goto</a:t>
            </a:r>
            <a:r>
              <a:rPr lang="en-IN" sz="2400" dirty="0">
                <a:latin typeface="Calibri" panose="020F0502020204030204" pitchFamily="34" charset="0"/>
                <a:ea typeface="Calibri" panose="020F0502020204030204" pitchFamily="34" charset="0"/>
                <a:cs typeface="Times New Roman" panose="02020603050405020304" pitchFamily="18" charset="0"/>
              </a:rPr>
              <a:t> step 8</a:t>
            </a:r>
          </a:p>
          <a:p>
            <a:pPr algn="just">
              <a:lnSpc>
                <a:spcPct val="107000"/>
              </a:lnSpc>
              <a:spcAft>
                <a:spcPts val="800"/>
              </a:spcAft>
            </a:pPr>
            <a:r>
              <a:rPr lang="en-IN" sz="2400" dirty="0">
                <a:latin typeface="Calibri" panose="020F0502020204030204" pitchFamily="34" charset="0"/>
                <a:ea typeface="Calibri" panose="020F0502020204030204" pitchFamily="34" charset="0"/>
                <a:cs typeface="Times New Roman" panose="02020603050405020304" pitchFamily="18" charset="0"/>
              </a:rPr>
              <a:t>Start 5 : if b &gt; c </a:t>
            </a:r>
            <a:r>
              <a:rPr lang="en-IN" sz="2400" dirty="0" err="1">
                <a:latin typeface="Calibri" panose="020F0502020204030204" pitchFamily="34" charset="0"/>
                <a:ea typeface="Calibri" panose="020F0502020204030204" pitchFamily="34" charset="0"/>
                <a:cs typeface="Times New Roman" panose="02020603050405020304" pitchFamily="18" charset="0"/>
              </a:rPr>
              <a:t>goto</a:t>
            </a:r>
            <a:r>
              <a:rPr lang="en-IN" sz="2400" dirty="0">
                <a:latin typeface="Calibri" panose="020F0502020204030204" pitchFamily="34" charset="0"/>
                <a:ea typeface="Calibri" panose="020F0502020204030204" pitchFamily="34" charset="0"/>
                <a:cs typeface="Times New Roman" panose="02020603050405020304" pitchFamily="18" charset="0"/>
              </a:rPr>
              <a:t> step 7, otherwise </a:t>
            </a:r>
            <a:r>
              <a:rPr lang="en-IN" sz="2400" dirty="0" err="1">
                <a:latin typeface="Calibri" panose="020F0502020204030204" pitchFamily="34" charset="0"/>
                <a:ea typeface="Calibri" panose="020F0502020204030204" pitchFamily="34" charset="0"/>
                <a:cs typeface="Times New Roman" panose="02020603050405020304" pitchFamily="18" charset="0"/>
              </a:rPr>
              <a:t>goto</a:t>
            </a:r>
            <a:r>
              <a:rPr lang="en-IN" sz="2400" dirty="0">
                <a:latin typeface="Calibri" panose="020F0502020204030204" pitchFamily="34" charset="0"/>
                <a:ea typeface="Calibri" panose="020F0502020204030204" pitchFamily="34" charset="0"/>
                <a:cs typeface="Times New Roman" panose="02020603050405020304" pitchFamily="18" charset="0"/>
              </a:rPr>
              <a:t> step 8</a:t>
            </a:r>
          </a:p>
          <a:p>
            <a:pPr algn="just">
              <a:lnSpc>
                <a:spcPct val="107000"/>
              </a:lnSpc>
              <a:spcAft>
                <a:spcPts val="800"/>
              </a:spcAft>
            </a:pPr>
            <a:r>
              <a:rPr lang="en-IN" sz="2400" dirty="0">
                <a:latin typeface="Calibri" panose="020F0502020204030204" pitchFamily="34" charset="0"/>
                <a:ea typeface="Calibri" panose="020F0502020204030204" pitchFamily="34" charset="0"/>
                <a:cs typeface="Times New Roman" panose="02020603050405020304" pitchFamily="18" charset="0"/>
              </a:rPr>
              <a:t>Start 6 : Output "a is the largest", </a:t>
            </a:r>
            <a:r>
              <a:rPr lang="en-IN" sz="2400" dirty="0" err="1">
                <a:latin typeface="Calibri" panose="020F0502020204030204" pitchFamily="34" charset="0"/>
                <a:ea typeface="Calibri" panose="020F0502020204030204" pitchFamily="34" charset="0"/>
                <a:cs typeface="Times New Roman" panose="02020603050405020304" pitchFamily="18" charset="0"/>
              </a:rPr>
              <a:t>goto</a:t>
            </a:r>
            <a:r>
              <a:rPr lang="en-IN" sz="2400" dirty="0">
                <a:latin typeface="Calibri" panose="020F0502020204030204" pitchFamily="34" charset="0"/>
                <a:ea typeface="Calibri" panose="020F0502020204030204" pitchFamily="34" charset="0"/>
                <a:cs typeface="Times New Roman" panose="02020603050405020304" pitchFamily="18" charset="0"/>
              </a:rPr>
              <a:t> step 9</a:t>
            </a:r>
          </a:p>
          <a:p>
            <a:pPr algn="just">
              <a:lnSpc>
                <a:spcPct val="107000"/>
              </a:lnSpc>
              <a:spcAft>
                <a:spcPts val="800"/>
              </a:spcAft>
            </a:pPr>
            <a:r>
              <a:rPr lang="en-IN" sz="2400" dirty="0">
                <a:latin typeface="Calibri" panose="020F0502020204030204" pitchFamily="34" charset="0"/>
                <a:ea typeface="Calibri" panose="020F0502020204030204" pitchFamily="34" charset="0"/>
                <a:cs typeface="Times New Roman" panose="02020603050405020304" pitchFamily="18" charset="0"/>
              </a:rPr>
              <a:t>Start 7 : Output "b is the largest", </a:t>
            </a:r>
            <a:r>
              <a:rPr lang="en-IN" sz="2400" dirty="0" err="1">
                <a:latin typeface="Calibri" panose="020F0502020204030204" pitchFamily="34" charset="0"/>
                <a:ea typeface="Calibri" panose="020F0502020204030204" pitchFamily="34" charset="0"/>
                <a:cs typeface="Times New Roman" panose="02020603050405020304" pitchFamily="18" charset="0"/>
              </a:rPr>
              <a:t>goto</a:t>
            </a:r>
            <a:r>
              <a:rPr lang="en-IN" sz="2400" dirty="0">
                <a:latin typeface="Calibri" panose="020F0502020204030204" pitchFamily="34" charset="0"/>
                <a:ea typeface="Calibri" panose="020F0502020204030204" pitchFamily="34" charset="0"/>
                <a:cs typeface="Times New Roman" panose="02020603050405020304" pitchFamily="18" charset="0"/>
              </a:rPr>
              <a:t> step 9</a:t>
            </a:r>
          </a:p>
          <a:p>
            <a:pPr algn="just">
              <a:lnSpc>
                <a:spcPct val="107000"/>
              </a:lnSpc>
              <a:spcAft>
                <a:spcPts val="800"/>
              </a:spcAft>
            </a:pPr>
            <a:r>
              <a:rPr lang="en-IN" sz="2400" dirty="0">
                <a:latin typeface="Calibri" panose="020F0502020204030204" pitchFamily="34" charset="0"/>
                <a:ea typeface="Calibri" panose="020F0502020204030204" pitchFamily="34" charset="0"/>
                <a:cs typeface="Times New Roman" panose="02020603050405020304" pitchFamily="18" charset="0"/>
              </a:rPr>
              <a:t>Start 8 : Output " c is the largest", </a:t>
            </a:r>
            <a:r>
              <a:rPr lang="en-IN" sz="2400" dirty="0" err="1">
                <a:latin typeface="Calibri" panose="020F0502020204030204" pitchFamily="34" charset="0"/>
                <a:ea typeface="Calibri" panose="020F0502020204030204" pitchFamily="34" charset="0"/>
                <a:cs typeface="Times New Roman" panose="02020603050405020304" pitchFamily="18" charset="0"/>
              </a:rPr>
              <a:t>goto</a:t>
            </a:r>
            <a:r>
              <a:rPr lang="en-IN" sz="2400" dirty="0">
                <a:latin typeface="Calibri" panose="020F0502020204030204" pitchFamily="34" charset="0"/>
                <a:ea typeface="Calibri" panose="020F0502020204030204" pitchFamily="34" charset="0"/>
                <a:cs typeface="Times New Roman" panose="02020603050405020304" pitchFamily="18" charset="0"/>
              </a:rPr>
              <a:t> step 9</a:t>
            </a:r>
          </a:p>
          <a:p>
            <a:pPr algn="just">
              <a:lnSpc>
                <a:spcPct val="107000"/>
              </a:lnSpc>
              <a:spcAft>
                <a:spcPts val="800"/>
              </a:spcAft>
            </a:pPr>
            <a:r>
              <a:rPr lang="en-IN" sz="2400" dirty="0">
                <a:latin typeface="Calibri" panose="020F0502020204030204" pitchFamily="34" charset="0"/>
                <a:ea typeface="Calibri" panose="020F0502020204030204" pitchFamily="34" charset="0"/>
                <a:cs typeface="Times New Roman" panose="02020603050405020304" pitchFamily="18" charset="0"/>
              </a:rPr>
              <a:t>Start 9 : Stop</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498289640"/>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1BE98-18FB-4FB3-8B9F-0C785ABEDA0D}"/>
              </a:ext>
            </a:extLst>
          </p:cNvPr>
          <p:cNvSpPr>
            <a:spLocks noGrp="1"/>
          </p:cNvSpPr>
          <p:nvPr>
            <p:ph type="title"/>
          </p:nvPr>
        </p:nvSpPr>
        <p:spPr/>
        <p:txBody>
          <a:bodyPr/>
          <a:lstStyle/>
          <a:p>
            <a:r>
              <a:rPr lang="en-US" b="1" dirty="0"/>
              <a:t>Assessment Questions</a:t>
            </a:r>
            <a:r>
              <a:rPr lang="en-US" dirty="0"/>
              <a:t>:</a:t>
            </a:r>
            <a:endParaRPr lang="en-IN" dirty="0"/>
          </a:p>
        </p:txBody>
      </p:sp>
      <p:sp>
        <p:nvSpPr>
          <p:cNvPr id="4" name="Slide Number Placeholder 3">
            <a:extLst>
              <a:ext uri="{FF2B5EF4-FFF2-40B4-BE49-F238E27FC236}">
                <a16:creationId xmlns:a16="http://schemas.microsoft.com/office/drawing/2014/main" id="{C82694DC-3131-4CF1-80DA-F51EC2FBB8E3}"/>
              </a:ext>
            </a:extLst>
          </p:cNvPr>
          <p:cNvSpPr>
            <a:spLocks noGrp="1"/>
          </p:cNvSpPr>
          <p:nvPr>
            <p:ph type="sldNum" sz="quarter" idx="12"/>
          </p:nvPr>
        </p:nvSpPr>
        <p:spPr/>
        <p:txBody>
          <a:bodyPr/>
          <a:lstStyle/>
          <a:p>
            <a:fld id="{BDCDBBEF-AA6C-4BA6-85B2-A17D7F280E38}" type="slidenum">
              <a:rPr lang="en-US" smtClean="0"/>
              <a:pPr/>
              <a:t>29</a:t>
            </a:fld>
            <a:endParaRPr lang="en-US"/>
          </a:p>
        </p:txBody>
      </p:sp>
      <p:sp>
        <p:nvSpPr>
          <p:cNvPr id="7" name="Content Placeholder 6">
            <a:extLst>
              <a:ext uri="{FF2B5EF4-FFF2-40B4-BE49-F238E27FC236}">
                <a16:creationId xmlns:a16="http://schemas.microsoft.com/office/drawing/2014/main" id="{879F1566-03CD-417B-B4D0-B0BF250D449A}"/>
              </a:ext>
            </a:extLst>
          </p:cNvPr>
          <p:cNvSpPr>
            <a:spLocks noGrp="1"/>
          </p:cNvSpPr>
          <p:nvPr>
            <p:ph idx="1"/>
          </p:nvPr>
        </p:nvSpPr>
        <p:spPr>
          <a:xfrm>
            <a:off x="466725" y="1501774"/>
            <a:ext cx="10515600" cy="4854575"/>
          </a:xfrm>
        </p:spPr>
        <p:txBody>
          <a:bodyPr>
            <a:normAutofit fontScale="32500" lnSpcReduction="20000"/>
          </a:bodyPr>
          <a:lstStyle/>
          <a:p>
            <a:pPr marL="0" indent="0">
              <a:buNone/>
            </a:pPr>
            <a:r>
              <a:rPr lang="en-US" sz="6200" dirty="0">
                <a:solidFill>
                  <a:srgbClr val="C00000"/>
                </a:solidFill>
              </a:rPr>
              <a:t>1. The word ____________comes from the name of a Persian mathematician Abu </a:t>
            </a:r>
            <a:r>
              <a:rPr lang="en-US" sz="6200" dirty="0" err="1">
                <a:solidFill>
                  <a:srgbClr val="C00000"/>
                </a:solidFill>
              </a:rPr>
              <a:t>Ja’far</a:t>
            </a:r>
            <a:r>
              <a:rPr lang="en-US" sz="6200" dirty="0">
                <a:solidFill>
                  <a:srgbClr val="C00000"/>
                </a:solidFill>
              </a:rPr>
              <a:t> Mohammed ibn-</a:t>
            </a:r>
            <a:r>
              <a:rPr lang="en-US" sz="6200" dirty="0" err="1">
                <a:solidFill>
                  <a:srgbClr val="C00000"/>
                </a:solidFill>
              </a:rPr>
              <a:t>i</a:t>
            </a:r>
            <a:r>
              <a:rPr lang="en-US" sz="6200" dirty="0">
                <a:solidFill>
                  <a:srgbClr val="C00000"/>
                </a:solidFill>
              </a:rPr>
              <a:t> Musa al Khowarizmi.</a:t>
            </a:r>
            <a:br>
              <a:rPr lang="en-US" sz="6200" dirty="0">
                <a:solidFill>
                  <a:srgbClr val="C00000"/>
                </a:solidFill>
              </a:rPr>
            </a:br>
            <a:r>
              <a:rPr lang="en-US" sz="6200" dirty="0">
                <a:solidFill>
                  <a:srgbClr val="C00000"/>
                </a:solidFill>
              </a:rPr>
              <a:t>a) Flowchart</a:t>
            </a:r>
            <a:br>
              <a:rPr lang="en-US" sz="6200" dirty="0">
                <a:solidFill>
                  <a:srgbClr val="C00000"/>
                </a:solidFill>
              </a:rPr>
            </a:br>
            <a:r>
              <a:rPr lang="en-US" sz="6200" dirty="0">
                <a:solidFill>
                  <a:srgbClr val="C00000"/>
                </a:solidFill>
              </a:rPr>
              <a:t>b) Flow</a:t>
            </a:r>
            <a:br>
              <a:rPr lang="en-US" sz="6200" dirty="0">
                <a:solidFill>
                  <a:srgbClr val="C00000"/>
                </a:solidFill>
              </a:rPr>
            </a:br>
            <a:r>
              <a:rPr lang="en-US" sz="6200" dirty="0">
                <a:solidFill>
                  <a:srgbClr val="C00000"/>
                </a:solidFill>
              </a:rPr>
              <a:t>c) Algorithm</a:t>
            </a:r>
            <a:br>
              <a:rPr lang="en-US" sz="6200" dirty="0">
                <a:solidFill>
                  <a:srgbClr val="C00000"/>
                </a:solidFill>
              </a:rPr>
            </a:br>
            <a:r>
              <a:rPr lang="en-US" sz="6200" dirty="0">
                <a:solidFill>
                  <a:srgbClr val="C00000"/>
                </a:solidFill>
              </a:rPr>
              <a:t>d) Syntax</a:t>
            </a:r>
            <a:br>
              <a:rPr lang="en-US" sz="6200" dirty="0">
                <a:solidFill>
                  <a:srgbClr val="C00000"/>
                </a:solidFill>
              </a:rPr>
            </a:br>
            <a:endParaRPr lang="en-US" sz="6200" dirty="0">
              <a:solidFill>
                <a:srgbClr val="C00000"/>
              </a:solidFill>
            </a:endParaRPr>
          </a:p>
          <a:p>
            <a:pPr marL="0" indent="0">
              <a:buNone/>
            </a:pPr>
            <a:r>
              <a:rPr lang="en-US" sz="6200" dirty="0">
                <a:solidFill>
                  <a:srgbClr val="C00000"/>
                </a:solidFill>
              </a:rPr>
              <a:t>2. In computer science, algorithm refers to a special method usable by a computer for the solution to a problem.</a:t>
            </a:r>
            <a:br>
              <a:rPr lang="en-US" sz="6200" dirty="0">
                <a:solidFill>
                  <a:srgbClr val="C00000"/>
                </a:solidFill>
              </a:rPr>
            </a:br>
            <a:r>
              <a:rPr lang="en-US" sz="6200" dirty="0">
                <a:solidFill>
                  <a:srgbClr val="C00000"/>
                </a:solidFill>
              </a:rPr>
              <a:t>a) True</a:t>
            </a:r>
            <a:br>
              <a:rPr lang="en-US" sz="6200" dirty="0">
                <a:solidFill>
                  <a:srgbClr val="C00000"/>
                </a:solidFill>
              </a:rPr>
            </a:br>
            <a:r>
              <a:rPr lang="en-US" sz="6200" dirty="0">
                <a:solidFill>
                  <a:srgbClr val="C00000"/>
                </a:solidFill>
              </a:rPr>
              <a:t>b) False</a:t>
            </a:r>
            <a:br>
              <a:rPr lang="en-US" sz="6200" dirty="0">
                <a:solidFill>
                  <a:srgbClr val="C00000"/>
                </a:solidFill>
              </a:rPr>
            </a:br>
            <a:endParaRPr lang="en-US" sz="6200" dirty="0">
              <a:solidFill>
                <a:srgbClr val="C00000"/>
              </a:solidFill>
            </a:endParaRPr>
          </a:p>
          <a:p>
            <a:pPr marL="0" indent="0">
              <a:buNone/>
            </a:pPr>
            <a:r>
              <a:rPr lang="en-US" sz="6200" dirty="0">
                <a:solidFill>
                  <a:srgbClr val="C00000"/>
                </a:solidFill>
              </a:rPr>
              <a:t>3. This characteristic often draws the line between what is feasible and what is impossible.</a:t>
            </a:r>
            <a:br>
              <a:rPr lang="en-US" sz="6200" dirty="0">
                <a:solidFill>
                  <a:srgbClr val="C00000"/>
                </a:solidFill>
              </a:rPr>
            </a:br>
            <a:r>
              <a:rPr lang="en-US" sz="6200" dirty="0">
                <a:solidFill>
                  <a:srgbClr val="C00000"/>
                </a:solidFill>
              </a:rPr>
              <a:t>a) Performance</a:t>
            </a:r>
            <a:br>
              <a:rPr lang="en-US" sz="6200" dirty="0">
                <a:solidFill>
                  <a:srgbClr val="C00000"/>
                </a:solidFill>
              </a:rPr>
            </a:br>
            <a:r>
              <a:rPr lang="en-US" sz="6200" dirty="0">
                <a:solidFill>
                  <a:srgbClr val="C00000"/>
                </a:solidFill>
              </a:rPr>
              <a:t>b) System Evaluation</a:t>
            </a:r>
            <a:br>
              <a:rPr lang="en-US" sz="6200" dirty="0">
                <a:solidFill>
                  <a:srgbClr val="C00000"/>
                </a:solidFill>
              </a:rPr>
            </a:br>
            <a:r>
              <a:rPr lang="en-US" sz="6200" dirty="0">
                <a:solidFill>
                  <a:srgbClr val="C00000"/>
                </a:solidFill>
              </a:rPr>
              <a:t>c) Modularity</a:t>
            </a:r>
            <a:br>
              <a:rPr lang="en-US" sz="6200" dirty="0">
                <a:solidFill>
                  <a:srgbClr val="C00000"/>
                </a:solidFill>
              </a:rPr>
            </a:br>
            <a:r>
              <a:rPr lang="en-US" sz="6200" dirty="0">
                <a:solidFill>
                  <a:srgbClr val="C00000"/>
                </a:solidFill>
              </a:rPr>
              <a:t>d) Reliability</a:t>
            </a:r>
            <a:br>
              <a:rPr lang="en-US" sz="6200" dirty="0">
                <a:solidFill>
                  <a:srgbClr val="C00000"/>
                </a:solidFill>
              </a:rPr>
            </a:br>
            <a:endParaRPr lang="en-US" sz="6200" dirty="0">
              <a:solidFill>
                <a:srgbClr val="C00000"/>
              </a:solidFill>
            </a:endParaRPr>
          </a:p>
          <a:p>
            <a:pPr marL="0" indent="0">
              <a:buNone/>
            </a:pPr>
            <a:r>
              <a:rPr lang="en-US" sz="6200" dirty="0">
                <a:solidFill>
                  <a:srgbClr val="C00000"/>
                </a:solidFill>
              </a:rPr>
              <a:t/>
            </a:r>
            <a:br>
              <a:rPr lang="en-US" sz="6200" dirty="0">
                <a:solidFill>
                  <a:srgbClr val="C00000"/>
                </a:solidFill>
              </a:rPr>
            </a:br>
            <a:endParaRPr lang="en-IN" dirty="0">
              <a:solidFill>
                <a:srgbClr val="C00000"/>
              </a:solidFill>
            </a:endParaRPr>
          </a:p>
        </p:txBody>
      </p:sp>
    </p:spTree>
    <p:extLst>
      <p:ext uri="{BB962C8B-B14F-4D97-AF65-F5344CB8AC3E}">
        <p14:creationId xmlns:p14="http://schemas.microsoft.com/office/powerpoint/2010/main" val="12893461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67124EF-F8EA-4921-9976-B9A80A2112F5}"/>
              </a:ext>
            </a:extLst>
          </p:cNvPr>
          <p:cNvSpPr>
            <a:spLocks noGrp="1"/>
          </p:cNvSpPr>
          <p:nvPr>
            <p:ph type="sldNum" sz="quarter" idx="12"/>
          </p:nvPr>
        </p:nvSpPr>
        <p:spPr/>
        <p:txBody>
          <a:bodyPr/>
          <a:lstStyle/>
          <a:p>
            <a:fld id="{BDCDBBEF-AA6C-4BA6-85B2-A17D7F280E38}" type="slidenum">
              <a:rPr lang="en-US" smtClean="0"/>
              <a:pPr/>
              <a:t>30</a:t>
            </a:fld>
            <a:endParaRPr lang="en-US"/>
          </a:p>
        </p:txBody>
      </p:sp>
      <p:sp>
        <p:nvSpPr>
          <p:cNvPr id="2" name="Rectangle 1">
            <a:extLst>
              <a:ext uri="{FF2B5EF4-FFF2-40B4-BE49-F238E27FC236}">
                <a16:creationId xmlns:a16="http://schemas.microsoft.com/office/drawing/2014/main" id="{AA9EE1F6-906F-4246-88DA-D2EC0433E995}"/>
              </a:ext>
            </a:extLst>
          </p:cNvPr>
          <p:cNvSpPr/>
          <p:nvPr/>
        </p:nvSpPr>
        <p:spPr>
          <a:xfrm>
            <a:off x="838200" y="352603"/>
            <a:ext cx="10791825" cy="6463308"/>
          </a:xfrm>
          <a:prstGeom prst="rect">
            <a:avLst/>
          </a:prstGeom>
        </p:spPr>
        <p:txBody>
          <a:bodyPr wrap="square">
            <a:spAutoFit/>
          </a:bodyPr>
          <a:lstStyle/>
          <a:p>
            <a:r>
              <a:rPr lang="en-US" dirty="0">
                <a:solidFill>
                  <a:srgbClr val="C00000"/>
                </a:solidFill>
              </a:rPr>
              <a:t>4. Which of the following is incorrect? Algorithms can be represented:</a:t>
            </a:r>
            <a:br>
              <a:rPr lang="en-US" dirty="0">
                <a:solidFill>
                  <a:srgbClr val="C00000"/>
                </a:solidFill>
              </a:rPr>
            </a:br>
            <a:r>
              <a:rPr lang="en-US" dirty="0">
                <a:solidFill>
                  <a:srgbClr val="C00000"/>
                </a:solidFill>
              </a:rPr>
              <a:t>a) as pseudo codes</a:t>
            </a:r>
            <a:br>
              <a:rPr lang="en-US" dirty="0">
                <a:solidFill>
                  <a:srgbClr val="C00000"/>
                </a:solidFill>
              </a:rPr>
            </a:br>
            <a:r>
              <a:rPr lang="en-US" dirty="0">
                <a:solidFill>
                  <a:srgbClr val="C00000"/>
                </a:solidFill>
              </a:rPr>
              <a:t>b) as syntax</a:t>
            </a:r>
            <a:br>
              <a:rPr lang="en-US" dirty="0">
                <a:solidFill>
                  <a:srgbClr val="C00000"/>
                </a:solidFill>
              </a:rPr>
            </a:br>
            <a:r>
              <a:rPr lang="en-US" dirty="0">
                <a:solidFill>
                  <a:srgbClr val="C00000"/>
                </a:solidFill>
              </a:rPr>
              <a:t>c) as programs</a:t>
            </a:r>
            <a:br>
              <a:rPr lang="en-US" dirty="0">
                <a:solidFill>
                  <a:srgbClr val="C00000"/>
                </a:solidFill>
              </a:rPr>
            </a:br>
            <a:r>
              <a:rPr lang="en-US" dirty="0">
                <a:solidFill>
                  <a:srgbClr val="C00000"/>
                </a:solidFill>
              </a:rPr>
              <a:t>d) as flowcharts</a:t>
            </a:r>
            <a:br>
              <a:rPr lang="en-US" dirty="0">
                <a:solidFill>
                  <a:srgbClr val="C00000"/>
                </a:solidFill>
              </a:rPr>
            </a:br>
            <a:endParaRPr lang="en-US" dirty="0">
              <a:solidFill>
                <a:srgbClr val="C00000"/>
              </a:solidFill>
            </a:endParaRPr>
          </a:p>
          <a:p>
            <a:endParaRPr lang="en-US" dirty="0">
              <a:solidFill>
                <a:srgbClr val="C00000"/>
              </a:solidFill>
            </a:endParaRPr>
          </a:p>
          <a:p>
            <a:r>
              <a:rPr lang="en-US" dirty="0">
                <a:solidFill>
                  <a:srgbClr val="C00000"/>
                </a:solidFill>
              </a:rPr>
              <a:t>5. When an algorithm is written in the form of a programming language, it becomes a _________</a:t>
            </a:r>
            <a:br>
              <a:rPr lang="en-US" dirty="0">
                <a:solidFill>
                  <a:srgbClr val="C00000"/>
                </a:solidFill>
              </a:rPr>
            </a:br>
            <a:r>
              <a:rPr lang="en-US" dirty="0">
                <a:solidFill>
                  <a:srgbClr val="C00000"/>
                </a:solidFill>
              </a:rPr>
              <a:t>a) Flowchart</a:t>
            </a:r>
            <a:br>
              <a:rPr lang="en-US" dirty="0">
                <a:solidFill>
                  <a:srgbClr val="C00000"/>
                </a:solidFill>
              </a:rPr>
            </a:br>
            <a:r>
              <a:rPr lang="en-US" dirty="0">
                <a:solidFill>
                  <a:srgbClr val="C00000"/>
                </a:solidFill>
              </a:rPr>
              <a:t>b) Program</a:t>
            </a:r>
            <a:br>
              <a:rPr lang="en-US" dirty="0">
                <a:solidFill>
                  <a:srgbClr val="C00000"/>
                </a:solidFill>
              </a:rPr>
            </a:br>
            <a:r>
              <a:rPr lang="en-US" dirty="0">
                <a:solidFill>
                  <a:srgbClr val="C00000"/>
                </a:solidFill>
              </a:rPr>
              <a:t>c) Pseudo code</a:t>
            </a:r>
            <a:br>
              <a:rPr lang="en-US" dirty="0">
                <a:solidFill>
                  <a:srgbClr val="C00000"/>
                </a:solidFill>
              </a:rPr>
            </a:br>
            <a:r>
              <a:rPr lang="en-US" dirty="0">
                <a:solidFill>
                  <a:srgbClr val="C00000"/>
                </a:solidFill>
              </a:rPr>
              <a:t>d) Syntax</a:t>
            </a:r>
            <a:br>
              <a:rPr lang="en-US" dirty="0">
                <a:solidFill>
                  <a:srgbClr val="C00000"/>
                </a:solidFill>
              </a:rPr>
            </a:br>
            <a:endParaRPr lang="en-US" dirty="0">
              <a:solidFill>
                <a:srgbClr val="C00000"/>
              </a:solidFill>
            </a:endParaRPr>
          </a:p>
          <a:p>
            <a:r>
              <a:rPr lang="en-US" dirty="0">
                <a:solidFill>
                  <a:srgbClr val="C00000"/>
                </a:solidFill>
              </a:rPr>
              <a:t>6. Any algorithm is a program.</a:t>
            </a:r>
            <a:br>
              <a:rPr lang="en-US" dirty="0">
                <a:solidFill>
                  <a:srgbClr val="C00000"/>
                </a:solidFill>
              </a:rPr>
            </a:br>
            <a:r>
              <a:rPr lang="en-US" dirty="0">
                <a:solidFill>
                  <a:srgbClr val="C00000"/>
                </a:solidFill>
              </a:rPr>
              <a:t>a) True</a:t>
            </a:r>
            <a:br>
              <a:rPr lang="en-US" dirty="0">
                <a:solidFill>
                  <a:srgbClr val="C00000"/>
                </a:solidFill>
              </a:rPr>
            </a:br>
            <a:r>
              <a:rPr lang="en-US" dirty="0">
                <a:solidFill>
                  <a:srgbClr val="C00000"/>
                </a:solidFill>
              </a:rPr>
              <a:t>b) False</a:t>
            </a:r>
            <a:r>
              <a:rPr lang="en-US" dirty="0"/>
              <a:t/>
            </a:r>
            <a:br>
              <a:rPr lang="en-US" dirty="0"/>
            </a:br>
            <a:endParaRPr lang="en-US" dirty="0">
              <a:solidFill>
                <a:srgbClr val="FF0000"/>
              </a:solidFill>
            </a:endParaRPr>
          </a:p>
          <a:p>
            <a:r>
              <a:rPr lang="en-US" dirty="0">
                <a:solidFill>
                  <a:srgbClr val="FF0000"/>
                </a:solidFill>
              </a:rPr>
              <a:t>7 Design an algorithm to calculate percentage of a student for marks of 5 subjects.</a:t>
            </a:r>
          </a:p>
          <a:p>
            <a:r>
              <a:rPr lang="en-US" dirty="0">
                <a:solidFill>
                  <a:srgbClr val="FF0000"/>
                </a:solidFill>
              </a:rPr>
              <a:t>8 Design an algorithm to  check the given number is positive negative or zero</a:t>
            </a:r>
          </a:p>
          <a:p>
            <a:r>
              <a:rPr lang="en-US" dirty="0">
                <a:solidFill>
                  <a:srgbClr val="FF0000"/>
                </a:solidFill>
              </a:rPr>
              <a:t>9 Design an algorithm to find maximum among 4 numbers</a:t>
            </a:r>
          </a:p>
          <a:p>
            <a:r>
              <a:rPr lang="en-US" dirty="0">
                <a:solidFill>
                  <a:srgbClr val="FF0000"/>
                </a:solidFill>
              </a:rPr>
              <a:t>10 design an algorithm to check whether a person is eligible for vote or not.</a:t>
            </a:r>
          </a:p>
          <a:p>
            <a:r>
              <a:rPr lang="en-US" dirty="0">
                <a:solidFill>
                  <a:srgbClr val="FF0000"/>
                </a:solidFill>
              </a:rPr>
              <a:t>11. Differentiate Middle level and high level language .</a:t>
            </a:r>
          </a:p>
          <a:p>
            <a:endParaRPr lang="en-US" dirty="0"/>
          </a:p>
        </p:txBody>
      </p:sp>
    </p:spTree>
    <p:extLst>
      <p:ext uri="{BB962C8B-B14F-4D97-AF65-F5344CB8AC3E}">
        <p14:creationId xmlns:p14="http://schemas.microsoft.com/office/powerpoint/2010/main" val="25822824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C591E3-02DA-4066-9127-2B9D821C4DAB}"/>
              </a:ext>
            </a:extLst>
          </p:cNvPr>
          <p:cNvSpPr>
            <a:spLocks noGrp="1"/>
          </p:cNvSpPr>
          <p:nvPr>
            <p:ph type="title"/>
          </p:nvPr>
        </p:nvSpPr>
        <p:spPr/>
        <p:txBody>
          <a:bodyPr/>
          <a:lstStyle/>
          <a:p>
            <a:r>
              <a:rPr lang="en-US" b="1" dirty="0"/>
              <a:t>Discussion forum</a:t>
            </a:r>
            <a:r>
              <a:rPr lang="en-US" dirty="0"/>
              <a:t>.</a:t>
            </a:r>
            <a:endParaRPr lang="en-IN" dirty="0"/>
          </a:p>
        </p:txBody>
      </p:sp>
      <p:sp>
        <p:nvSpPr>
          <p:cNvPr id="3" name="Content Placeholder 2">
            <a:extLst>
              <a:ext uri="{FF2B5EF4-FFF2-40B4-BE49-F238E27FC236}">
                <a16:creationId xmlns:a16="http://schemas.microsoft.com/office/drawing/2014/main" id="{75A2FD90-1CA1-4A43-803B-2F922D4B9EC4}"/>
              </a:ext>
            </a:extLst>
          </p:cNvPr>
          <p:cNvSpPr>
            <a:spLocks noGrp="1"/>
          </p:cNvSpPr>
          <p:nvPr>
            <p:ph idx="1"/>
          </p:nvPr>
        </p:nvSpPr>
        <p:spPr>
          <a:xfrm>
            <a:off x="752061" y="894112"/>
            <a:ext cx="10687878" cy="3363084"/>
          </a:xfrm>
        </p:spPr>
        <p:txBody>
          <a:bodyPr/>
          <a:lstStyle/>
          <a:p>
            <a:endParaRPr lang="en-IN" dirty="0"/>
          </a:p>
          <a:p>
            <a:pPr marL="0" indent="0">
              <a:buNone/>
            </a:pPr>
            <a:r>
              <a:rPr lang="en-IN" dirty="0"/>
              <a:t>Real life applications of algorithms, students please have a look at this video and mention your views , also add some new examples</a:t>
            </a:r>
          </a:p>
        </p:txBody>
      </p:sp>
      <p:sp>
        <p:nvSpPr>
          <p:cNvPr id="4" name="Slide Number Placeholder 3">
            <a:extLst>
              <a:ext uri="{FF2B5EF4-FFF2-40B4-BE49-F238E27FC236}">
                <a16:creationId xmlns:a16="http://schemas.microsoft.com/office/drawing/2014/main" id="{B4DFB7C1-5531-4CBA-AA56-069AD25EF56C}"/>
              </a:ext>
            </a:extLst>
          </p:cNvPr>
          <p:cNvSpPr>
            <a:spLocks noGrp="1"/>
          </p:cNvSpPr>
          <p:nvPr>
            <p:ph type="sldNum" sz="quarter" idx="12"/>
          </p:nvPr>
        </p:nvSpPr>
        <p:spPr/>
        <p:txBody>
          <a:bodyPr/>
          <a:lstStyle/>
          <a:p>
            <a:fld id="{BDCDBBEF-AA6C-4BA6-85B2-A17D7F280E38}" type="slidenum">
              <a:rPr lang="en-US" smtClean="0"/>
              <a:pPr/>
              <a:t>31</a:t>
            </a:fld>
            <a:endParaRPr lang="en-US"/>
          </a:p>
        </p:txBody>
      </p:sp>
      <p:sp>
        <p:nvSpPr>
          <p:cNvPr id="5" name="Rectangle 4">
            <a:extLst>
              <a:ext uri="{FF2B5EF4-FFF2-40B4-BE49-F238E27FC236}">
                <a16:creationId xmlns:a16="http://schemas.microsoft.com/office/drawing/2014/main" id="{2286B93F-AE56-4538-971E-9E2B9276A0B1}"/>
              </a:ext>
            </a:extLst>
          </p:cNvPr>
          <p:cNvSpPr/>
          <p:nvPr/>
        </p:nvSpPr>
        <p:spPr>
          <a:xfrm>
            <a:off x="2862470" y="3838853"/>
            <a:ext cx="7253747" cy="369332"/>
          </a:xfrm>
          <a:prstGeom prst="rect">
            <a:avLst/>
          </a:prstGeom>
        </p:spPr>
        <p:txBody>
          <a:bodyPr wrap="square">
            <a:spAutoFit/>
          </a:bodyPr>
          <a:lstStyle/>
          <a:p>
            <a:endParaRPr lang="en-IN" dirty="0"/>
          </a:p>
        </p:txBody>
      </p:sp>
      <p:sp>
        <p:nvSpPr>
          <p:cNvPr id="6" name="Arrow: Curved Right 5">
            <a:extLst>
              <a:ext uri="{FF2B5EF4-FFF2-40B4-BE49-F238E27FC236}">
                <a16:creationId xmlns:a16="http://schemas.microsoft.com/office/drawing/2014/main" id="{41188ABF-04C6-4D24-AE32-F9EFFF363BA6}"/>
              </a:ext>
            </a:extLst>
          </p:cNvPr>
          <p:cNvSpPr/>
          <p:nvPr/>
        </p:nvSpPr>
        <p:spPr>
          <a:xfrm>
            <a:off x="3129170" y="2392362"/>
            <a:ext cx="795130" cy="983974"/>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7" name="Rectangle 6">
            <a:extLst>
              <a:ext uri="{FF2B5EF4-FFF2-40B4-BE49-F238E27FC236}">
                <a16:creationId xmlns:a16="http://schemas.microsoft.com/office/drawing/2014/main" id="{C5BD0BF2-3FB6-44C3-90B3-B15DC7D0C72E}"/>
              </a:ext>
            </a:extLst>
          </p:cNvPr>
          <p:cNvSpPr/>
          <p:nvPr/>
        </p:nvSpPr>
        <p:spPr>
          <a:xfrm>
            <a:off x="752061" y="3250832"/>
            <a:ext cx="6453113" cy="461665"/>
          </a:xfrm>
          <a:prstGeom prst="rect">
            <a:avLst/>
          </a:prstGeom>
        </p:spPr>
        <p:txBody>
          <a:bodyPr wrap="none">
            <a:spAutoFit/>
          </a:bodyPr>
          <a:lstStyle/>
          <a:p>
            <a:r>
              <a:rPr lang="en-IN" sz="2400" dirty="0">
                <a:solidFill>
                  <a:srgbClr val="FF0000"/>
                </a:solidFill>
                <a:hlinkClick r:id="rId3">
                  <a:extLst>
                    <a:ext uri="{A12FA001-AC4F-418D-AE19-62706E023703}">
                      <ahyp:hlinkClr xmlns="" xmlns:ahyp="http://schemas.microsoft.com/office/drawing/2018/hyperlinkcolor" val="tx"/>
                    </a:ext>
                  </a:extLst>
                </a:hlinkClick>
              </a:rPr>
              <a:t>https://www.youtube.com/watch?v=CvSOaYi89B4</a:t>
            </a:r>
            <a:endParaRPr lang="en-IN" sz="2400" dirty="0">
              <a:solidFill>
                <a:srgbClr val="FF0000"/>
              </a:solidFill>
            </a:endParaRPr>
          </a:p>
        </p:txBody>
      </p:sp>
      <p:pic>
        <p:nvPicPr>
          <p:cNvPr id="8" name="Picture 7">
            <a:extLst>
              <a:ext uri="{FF2B5EF4-FFF2-40B4-BE49-F238E27FC236}">
                <a16:creationId xmlns:a16="http://schemas.microsoft.com/office/drawing/2014/main" id="{7E677924-99C6-4098-BC51-F318E9A14387}"/>
              </a:ext>
            </a:extLst>
          </p:cNvPr>
          <p:cNvPicPr>
            <a:picLocks noChangeAspect="1"/>
          </p:cNvPicPr>
          <p:nvPr/>
        </p:nvPicPr>
        <p:blipFill>
          <a:blip r:embed="rId4"/>
          <a:stretch>
            <a:fillRect/>
          </a:stretch>
        </p:blipFill>
        <p:spPr>
          <a:xfrm>
            <a:off x="4152564" y="3838853"/>
            <a:ext cx="4848482" cy="3000653"/>
          </a:xfrm>
          <a:prstGeom prst="rect">
            <a:avLst/>
          </a:prstGeom>
        </p:spPr>
      </p:pic>
    </p:spTree>
    <p:extLst>
      <p:ext uri="{BB962C8B-B14F-4D97-AF65-F5344CB8AC3E}">
        <p14:creationId xmlns:p14="http://schemas.microsoft.com/office/powerpoint/2010/main" val="1730253056"/>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lgn="ctr"/>
            <a:r>
              <a:rPr lang="en-US" dirty="0">
                <a:latin typeface="Casper Bold" panose="02000806040000020004" pitchFamily="2" charset="0"/>
                <a:cs typeface="Arial" panose="020B0604020202020204" pitchFamily="34" charset="0"/>
              </a:rPr>
              <a:t>REFERENCES</a:t>
            </a:r>
            <a:r>
              <a:rPr lang="en-US" sz="2800" dirty="0">
                <a:latin typeface="Casper Bold" panose="02000806040000020004" pitchFamily="2" charset="0"/>
                <a:cs typeface="Arial" panose="020B0604020202020204" pitchFamily="34" charset="0"/>
              </a:rPr>
              <a:t> </a:t>
            </a:r>
            <a:r>
              <a:rPr lang="en-US" sz="2800" dirty="0"/>
              <a:t>  </a:t>
            </a:r>
            <a:endParaRPr lang="en-US" dirty="0"/>
          </a:p>
        </p:txBody>
      </p:sp>
      <p:sp>
        <p:nvSpPr>
          <p:cNvPr id="3" name="Content Placeholder 2"/>
          <p:cNvSpPr>
            <a:spLocks noGrp="1"/>
          </p:cNvSpPr>
          <p:nvPr>
            <p:ph idx="1"/>
          </p:nvPr>
        </p:nvSpPr>
        <p:spPr>
          <a:xfrm>
            <a:off x="840377" y="1276349"/>
            <a:ext cx="7162800" cy="5445125"/>
          </a:xfrm>
        </p:spPr>
        <p:txBody>
          <a:bodyPr>
            <a:normAutofit fontScale="92500" lnSpcReduction="20000"/>
          </a:bodyPr>
          <a:lstStyle/>
          <a:p>
            <a:pPr marL="0" indent="0">
              <a:buNone/>
            </a:pPr>
            <a:endParaRPr lang="en-US" sz="1600" dirty="0">
              <a:latin typeface="Casper" panose="02000506000000020004" pitchFamily="2" charset="0"/>
              <a:cs typeface="Arial" panose="020B0604020202020204" pitchFamily="34" charset="0"/>
            </a:endParaRPr>
          </a:p>
          <a:p>
            <a:pPr marL="0" lvl="0" indent="0">
              <a:buNone/>
            </a:pPr>
            <a:r>
              <a:rPr lang="en-US" sz="1900" b="1" dirty="0">
                <a:latin typeface="Casper"/>
              </a:rPr>
              <a:t>Reference </a:t>
            </a:r>
            <a:r>
              <a:rPr lang="en-US" sz="1900" b="1" dirty="0" smtClean="0">
                <a:latin typeface="Casper"/>
              </a:rPr>
              <a:t>Books:</a:t>
            </a:r>
            <a:endParaRPr lang="en-US" sz="1900" b="1" dirty="0">
              <a:latin typeface="Casper"/>
            </a:endParaRPr>
          </a:p>
          <a:p>
            <a:pPr>
              <a:buNone/>
            </a:pPr>
            <a:r>
              <a:rPr lang="en-US" sz="1600" dirty="0">
                <a:latin typeface="Times New Roman" pitchFamily="18" charset="0"/>
                <a:cs typeface="Times New Roman" pitchFamily="18" charset="0"/>
              </a:rPr>
              <a:t>[1] Programming in C by Reema </a:t>
            </a:r>
            <a:r>
              <a:rPr lang="en-US" sz="1600" dirty="0" err="1">
                <a:latin typeface="Times New Roman" pitchFamily="18" charset="0"/>
                <a:cs typeface="Times New Roman" pitchFamily="18" charset="0"/>
              </a:rPr>
              <a:t>Thareja</a:t>
            </a:r>
            <a:r>
              <a:rPr lang="en-US" sz="1600" dirty="0">
                <a:latin typeface="Times New Roman" pitchFamily="18" charset="0"/>
                <a:cs typeface="Times New Roman" pitchFamily="18" charset="0"/>
              </a:rPr>
              <a:t>.</a:t>
            </a:r>
          </a:p>
          <a:p>
            <a:pPr>
              <a:buNone/>
            </a:pPr>
            <a:r>
              <a:rPr lang="en-US" sz="1600" dirty="0">
                <a:latin typeface="Times New Roman" pitchFamily="18" charset="0"/>
                <a:cs typeface="Times New Roman" pitchFamily="18" charset="0"/>
              </a:rPr>
              <a:t>[2] Programming in ANSI C by E. </a:t>
            </a:r>
            <a:r>
              <a:rPr lang="en-US" sz="1600" dirty="0" err="1">
                <a:latin typeface="Times New Roman" pitchFamily="18" charset="0"/>
                <a:cs typeface="Times New Roman" pitchFamily="18" charset="0"/>
              </a:rPr>
              <a:t>Balaguruswamy</a:t>
            </a:r>
            <a:r>
              <a:rPr lang="en-US" sz="1600" dirty="0">
                <a:latin typeface="Times New Roman" pitchFamily="18" charset="0"/>
                <a:cs typeface="Times New Roman" pitchFamily="18" charset="0"/>
              </a:rPr>
              <a:t>, Tata McGraw Hill.</a:t>
            </a:r>
          </a:p>
          <a:p>
            <a:pPr>
              <a:buNone/>
            </a:pPr>
            <a:r>
              <a:rPr lang="en-US" sz="1600" dirty="0">
                <a:latin typeface="Times New Roman" pitchFamily="18" charset="0"/>
                <a:cs typeface="Times New Roman" pitchFamily="18" charset="0"/>
              </a:rPr>
              <a:t>[3] Programming with C (</a:t>
            </a:r>
            <a:r>
              <a:rPr lang="en-US" sz="1600" dirty="0" err="1">
                <a:latin typeface="Times New Roman" pitchFamily="18" charset="0"/>
                <a:cs typeface="Times New Roman" pitchFamily="18" charset="0"/>
              </a:rPr>
              <a:t>Schaum's</a:t>
            </a:r>
            <a:r>
              <a:rPr lang="en-US" sz="1600" dirty="0">
                <a:latin typeface="Times New Roman" pitchFamily="18" charset="0"/>
                <a:cs typeface="Times New Roman" pitchFamily="18" charset="0"/>
              </a:rPr>
              <a:t> Outline Series) by Byron Gottfried  Jitender Chhabra, Tata McGraw Hill.</a:t>
            </a:r>
          </a:p>
          <a:p>
            <a:pPr>
              <a:buNone/>
            </a:pPr>
            <a:r>
              <a:rPr lang="en-US" sz="1600" dirty="0">
                <a:latin typeface="Times New Roman" pitchFamily="18" charset="0"/>
                <a:cs typeface="Times New Roman" pitchFamily="18" charset="0"/>
              </a:rPr>
              <a:t>[4] The C Programming Language by Brian W. Kernighan, Dennis Ritchie, Pearson education.</a:t>
            </a:r>
          </a:p>
          <a:p>
            <a:pPr marL="0" indent="0">
              <a:buNone/>
            </a:pPr>
            <a:r>
              <a:rPr lang="en-IN" sz="2400" b="1" dirty="0"/>
              <a:t>Websites:</a:t>
            </a:r>
            <a:endParaRPr lang="en-IN" sz="2400" dirty="0"/>
          </a:p>
          <a:p>
            <a:pPr marL="0" indent="0">
              <a:buNone/>
            </a:pPr>
            <a:r>
              <a:rPr lang="en-IN" sz="2600" u="sng" dirty="0">
                <a:hlinkClick r:id="rId3"/>
              </a:rPr>
              <a:t>https://en.wikipedia.org/wiki/Algorithm</a:t>
            </a:r>
            <a:endParaRPr lang="en-IN" sz="2600" dirty="0"/>
          </a:p>
          <a:p>
            <a:pPr marL="0" lvl="0" indent="0">
              <a:buNone/>
            </a:pPr>
            <a:r>
              <a:rPr lang="en-IN" sz="2600" u="sng" dirty="0">
                <a:hlinkClick r:id="rId4"/>
              </a:rPr>
              <a:t>https://fiftyexamples.readthedocs.io/en/latest/algorithms.html</a:t>
            </a:r>
            <a:endParaRPr lang="en-IN" sz="2600" dirty="0"/>
          </a:p>
          <a:p>
            <a:pPr marL="0" lvl="0" indent="0">
              <a:buNone/>
            </a:pPr>
            <a:r>
              <a:rPr lang="en-IN" sz="2600" u="sng" dirty="0">
                <a:hlinkClick r:id="rId5"/>
              </a:rPr>
              <a:t>https://study.com/academy/lesson/what-is-an-algorithm-definition-examples.html</a:t>
            </a:r>
            <a:endParaRPr lang="en-IN" sz="2600" dirty="0"/>
          </a:p>
          <a:p>
            <a:pPr marL="0" indent="0">
              <a:buNone/>
            </a:pPr>
            <a:r>
              <a:rPr lang="en-IN" sz="2400" b="1" dirty="0"/>
              <a:t>YouTube Links:</a:t>
            </a:r>
            <a:endParaRPr lang="en-IN" sz="2400" dirty="0"/>
          </a:p>
          <a:p>
            <a:pPr marL="0" lvl="0" indent="0">
              <a:buNone/>
            </a:pPr>
            <a:r>
              <a:rPr lang="en-IN" sz="2200" dirty="0"/>
              <a:t>What is an algorithm? </a:t>
            </a:r>
            <a:r>
              <a:rPr lang="en-IN" sz="2200" u="sng" dirty="0">
                <a:hlinkClick r:id="rId6"/>
              </a:rPr>
              <a:t>https://youtu.be/6hfOvs8pY1k</a:t>
            </a:r>
            <a:endParaRPr lang="en-IN" sz="2200" dirty="0"/>
          </a:p>
          <a:p>
            <a:pPr marL="0" lvl="0" indent="0">
              <a:buNone/>
            </a:pPr>
            <a:r>
              <a:rPr lang="en-IN" sz="2200" dirty="0"/>
              <a:t>Characteristics of algorithm. </a:t>
            </a:r>
            <a:r>
              <a:rPr lang="en-IN" sz="2200" u="sng" dirty="0">
                <a:hlinkClick r:id="rId7"/>
              </a:rPr>
              <a:t>https://youtu.be/FbYzBWdhMb0</a:t>
            </a:r>
            <a:endParaRPr lang="en-IN" sz="2200" dirty="0"/>
          </a:p>
          <a:p>
            <a:pPr marL="0" indent="0">
              <a:buNone/>
            </a:pPr>
            <a:endParaRPr lang="en-US" sz="1600" dirty="0">
              <a:latin typeface="Casper" panose="02000506000000020004" pitchFamily="2"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32</a:t>
            </a:fld>
            <a:endParaRPr lang="en-US"/>
          </a:p>
        </p:txBody>
      </p:sp>
      <p:pic>
        <p:nvPicPr>
          <p:cNvPr id="7" name="Picture 6" descr="Related image"/>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999912" y="1666923"/>
            <a:ext cx="3352800" cy="3914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7387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spid="_x0000_s2056" name="CorelDRAW" r:id="rId4" imgW="2169000" imgH="2169360" progId="">
                    <p:embed/>
                  </p:oleObj>
                </mc:Choice>
                <mc:Fallback>
                  <p:oleObj name="CorelDRAW" r:id="rId4" imgW="2169000" imgH="2169360" progId="">
                    <p:embed/>
                    <p:pic>
                      <p:nvPicPr>
                        <p:cNvPr id="33" name="Object 32">
                          <a:extLst>
                            <a:ext uri="{FF2B5EF4-FFF2-40B4-BE49-F238E27FC236}">
                              <a16:creationId xmlns:a16="http://schemas.microsoft.com/office/drawing/2014/main" id="{CAD0D7B8-E462-453C-B296-CA0154FA54A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extLst>
      <p:ext uri="{BB962C8B-B14F-4D97-AF65-F5344CB8AC3E}">
        <p14:creationId xmlns:p14="http://schemas.microsoft.com/office/powerpoint/2010/main" val="26431030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LMS_API_VERSION" val="SCORM 2004 (2nd edition)"/>
  <p:tag name="ISPRING_ULTRA_SCORM_COURSE_ID" val="C0F5EB19-77B9-4540-B06A-F2C718D084BF"/>
  <p:tag name="ISPRING_CMI5_LAUNCH_METHOD" val="any window"/>
  <p:tag name="ISPRING_SCORM_ENDPOINT" val="&lt;endpoint&gt;&lt;enable&gt;0&lt;/enable&gt;&lt;lrs&gt;http://&lt;/lrs&gt;&lt;auth&gt;0&lt;/auth&gt;&lt;login&gt;&lt;/login&gt;&lt;password&gt;&lt;/password&gt;&lt;key&gt;&lt;/key&gt;&lt;name&gt;&lt;/name&gt;&lt;email&gt;&lt;/email&gt;&lt;/endpoint&gt;&#10;"/>
  <p:tag name="ISPRINGCLOUDFOLDERID" val="1"/>
  <p:tag name="ISPRINGONLINEFOLDERID" val="1"/>
  <p:tag name="ISPRING_OUTPUT_FOLDER" val="[[&quot;,\u001B.\u0018{C273B255-4E4C-4601-ABF8-D07FC645117E}&quot;,&quot;F:\\CU\\BlackBoard\\20CST111\\PPTs&quot;]]"/>
  <p:tag name="ISPRING_PUBLISH_SETTINGS" val="{&quot;commonSettings&quot;:{&quot;webSettings&quot;:{&quot;useMobileViewer&quot;:&quot;T_FALSE&quot;},&quot;lmsSettings&quot;:{&quot;useMobileViewer&quot;:&quot;T_FALSE&quot;},&quot;cloudSettings&quot;:{&quot;useMobileViewer&quot;:&quot;T_FALSE&quot;},&quot;ispringLmsSettings&quot;:{&quot;useMobileViewer&quot;:&quot;T_FALSE&quot;},&quot;playerId&quot;:&quot;universal&quot;},&quot;advancedSettings&quot;:{&quot;enableTextAllocation&quot;:&quot;T_TRUE&quot;,&quot;viewingFromLocalDrive&quot;:&quot;T_TRUE&quot;,&quot;contentScale&quot;:75,&quot;contentScaleMode&quot;:&quot;SCALE&quot;},&quot;accessibilitySettings&quot;:{&quot;enabled&quot;:&quot;T_FALSE&quot;},&quot;compressionSettings&quot;:{&quot;imageSettings&quot;:{&quot;jpegQuality&quot;:70,&quot;optimizeImageForResolution&quot;:&quot;T_FALSE&quot;},&quot;audioQuality&quot;:70,&quot;videoQuality&quot;:65},&quot;protectionSettings&quot;:{&quot;watermarkEnabled&quot;:&quot;T_FALSE&quot;,&quot;watermarkPosition&quot;:&quot;MIDDLE_CENTER&quot;,&quot;openWatermarkUrl&quot;:&quot;T_FALSE&quot;,&quot;openWatermarkWebPageInNewWindow&quot;:&quot;T_FALSE&quot;,&quot;displayAfterEnabled&quot;:&quot;T_FALSE&quot;,&quot;displayUntilEnabled&quot;:&quot;T_FALSE&quot;,&quot;domainRestrictionEnabled&quot;:&quot;T_FALSE&quot;,&quot;enablePassword&quot;:&quot;T_FALSE&quot;},&quot;videoSettings&quot;:{&quot;videoCompressionSettings&quot;:{&quot;audioQuality&quot;:70,&quot;videoQuality&quot;:75},&quot;secondsOnEachSlide&quot;:5,&quot;hostingSettings&quot;:{}},&quot;ispringOnlineSettings&quot;:{&quot;onlineDestinationFolderId&quot;:&quot;1&quot;},&quot;cloudSettings&quot;:{&quot;onlineDestinationFolderId&quot;:&quot;1&quot;},&quot;publishDestination&quot;:&quot;LMS&quot;,&quot;wordSettings&quot;:{&quot;printCopies&quot;:1}}"/>
  <p:tag name="ISPRING_SCORM_RATE_SLIDES" val="0"/>
  <p:tag name="ISPRING_SCORM_RATE_QUIZZES" val="0"/>
  <p:tag name="ISPRING_SCORM_PASSING_SCORE" val="0.000000"/>
  <p:tag name="ISPRING_CURRENT_PLAYER_ID" val="universal"/>
  <p:tag name="ISPRING_PRESENTATION_TITLE" val="lecture 2 Algorithm"/>
  <p:tag name="ISPRING_FIRST_PUBLI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1985</TotalTime>
  <Words>1320</Words>
  <Application>Microsoft Office PowerPoint</Application>
  <PresentationFormat>Widescreen</PresentationFormat>
  <Paragraphs>298</Paragraphs>
  <Slides>33</Slides>
  <Notes>33</Notes>
  <HiddenSlides>0</HiddenSlides>
  <MMClips>0</MMClips>
  <ScaleCrop>false</ScaleCrop>
  <HeadingPairs>
    <vt:vector size="8" baseType="variant">
      <vt:variant>
        <vt:lpstr>Fonts Used</vt:lpstr>
      </vt:variant>
      <vt:variant>
        <vt:i4>13</vt:i4>
      </vt:variant>
      <vt:variant>
        <vt:lpstr>Theme</vt:lpstr>
      </vt:variant>
      <vt:variant>
        <vt:i4>2</vt:i4>
      </vt:variant>
      <vt:variant>
        <vt:lpstr>Embedded OLE Servers</vt:lpstr>
      </vt:variant>
      <vt:variant>
        <vt:i4>1</vt:i4>
      </vt:variant>
      <vt:variant>
        <vt:lpstr>Slide Titles</vt:lpstr>
      </vt:variant>
      <vt:variant>
        <vt:i4>33</vt:i4>
      </vt:variant>
    </vt:vector>
  </HeadingPairs>
  <TitlesOfParts>
    <vt:vector size="49" baseType="lpstr">
      <vt:lpstr>Arial</vt:lpstr>
      <vt:lpstr>Arial Black</vt:lpstr>
      <vt:lpstr>Arial Unicode MS</vt:lpstr>
      <vt:lpstr>Calibri</vt:lpstr>
      <vt:lpstr>Calibri Light</vt:lpstr>
      <vt:lpstr>Casper</vt:lpstr>
      <vt:lpstr>Casper Bold</vt:lpstr>
      <vt:lpstr>Karla</vt:lpstr>
      <vt:lpstr>Nunito Sans</vt:lpstr>
      <vt:lpstr>Raleway ExtraBold</vt:lpstr>
      <vt:lpstr>Segoe UI</vt:lpstr>
      <vt:lpstr>Times New Roman</vt:lpstr>
      <vt:lpstr>Wingdings</vt:lpstr>
      <vt:lpstr>1_Office Theme</vt:lpstr>
      <vt:lpstr>Contents Slide Master</vt:lpstr>
      <vt:lpstr>CorelDRAW</vt:lpstr>
      <vt:lpstr>PowerPoint Presentation</vt:lpstr>
      <vt:lpstr>Introduction to Problem Solving</vt:lpstr>
      <vt:lpstr>PowerPoint Presentation</vt:lpstr>
      <vt:lpstr> Scheme of Evaluation  </vt:lpstr>
      <vt:lpstr>PowerPoint Presentation</vt:lpstr>
      <vt:lpstr>CONTENTS </vt:lpstr>
      <vt:lpstr>Programming Language</vt:lpstr>
      <vt:lpstr>Types of Programming language:</vt:lpstr>
      <vt:lpstr>PowerPoint Presentation</vt:lpstr>
      <vt:lpstr>Language Translator:</vt:lpstr>
      <vt:lpstr>Compiler &amp; interpreter</vt:lpstr>
      <vt:lpstr>C language </vt:lpstr>
      <vt:lpstr>PowerPoint Presentation</vt:lpstr>
      <vt:lpstr>PowerPoint Presentation</vt:lpstr>
      <vt:lpstr>ALGORITHM</vt:lpstr>
      <vt:lpstr>Characteristics of Algorithm </vt:lpstr>
      <vt:lpstr>ALGORITHM TO MAKE TEA</vt:lpstr>
      <vt:lpstr>Example: Add Two Numbers</vt:lpstr>
      <vt:lpstr> Example: Calculate area of Rectangle </vt:lpstr>
      <vt:lpstr>CALCULATE INTEREST OF BANK DEPOSIT</vt:lpstr>
      <vt:lpstr>DETERMINE WHETHER STUDENT PASSED THE     EXAM OR NOT</vt:lpstr>
      <vt:lpstr>DETERMINE WHETHER THE NUMBER IS EVEN       OR ODD</vt:lpstr>
      <vt:lpstr>Display your name ( 1 time &amp; 100 times) </vt:lpstr>
      <vt:lpstr>PowerPoint Presentation</vt:lpstr>
      <vt:lpstr>PowerPoint Presentation</vt:lpstr>
      <vt:lpstr>Frequently Asked question</vt:lpstr>
      <vt:lpstr>PowerPoint Presentation</vt:lpstr>
      <vt:lpstr>PowerPoint Presentation</vt:lpstr>
      <vt:lpstr>Assessment Questions:</vt:lpstr>
      <vt:lpstr>PowerPoint Presentation</vt:lpstr>
      <vt:lpstr>Discussion forum.</vt:lpstr>
      <vt:lpstr>REFERENCES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2 Algorithm</dc:title>
  <dc:creator>Branding</dc:creator>
  <cp:lastModifiedBy>nishu</cp:lastModifiedBy>
  <cp:revision>207</cp:revision>
  <dcterms:created xsi:type="dcterms:W3CDTF">2019-01-09T10:33:58Z</dcterms:created>
  <dcterms:modified xsi:type="dcterms:W3CDTF">2023-06-01T08:56:15Z</dcterms:modified>
</cp:coreProperties>
</file>