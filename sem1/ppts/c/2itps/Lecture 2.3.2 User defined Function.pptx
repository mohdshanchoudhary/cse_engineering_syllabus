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4" r:id="rId4"/>
  </p:sldMasterIdLst>
  <p:notesMasterIdLst>
    <p:notesMasterId r:id="rId30"/>
  </p:notesMasterIdLst>
  <p:sldIdLst>
    <p:sldId id="257" r:id="rId5"/>
    <p:sldId id="262" r:id="rId6"/>
    <p:sldId id="296" r:id="rId7"/>
    <p:sldId id="297" r:id="rId8"/>
    <p:sldId id="266" r:id="rId9"/>
    <p:sldId id="267" r:id="rId10"/>
    <p:sldId id="268" r:id="rId11"/>
    <p:sldId id="269" r:id="rId12"/>
    <p:sldId id="290" r:id="rId13"/>
    <p:sldId id="292" r:id="rId14"/>
    <p:sldId id="293" r:id="rId15"/>
    <p:sldId id="294" r:id="rId16"/>
    <p:sldId id="295" r:id="rId17"/>
    <p:sldId id="284" r:id="rId18"/>
    <p:sldId id="270" r:id="rId19"/>
    <p:sldId id="278" r:id="rId20"/>
    <p:sldId id="280" r:id="rId21"/>
    <p:sldId id="281" r:id="rId22"/>
    <p:sldId id="271" r:id="rId23"/>
    <p:sldId id="272" r:id="rId24"/>
    <p:sldId id="273" r:id="rId25"/>
    <p:sldId id="274" r:id="rId26"/>
    <p:sldId id="285" r:id="rId27"/>
    <p:sldId id="276" r:id="rId28"/>
    <p:sldId id="277" r:id="rId29"/>
  </p:sldIdLst>
  <p:sldSz cx="12192000" cy="6858000"/>
  <p:notesSz cx="6858000" cy="9144000"/>
  <p:custDataLst>
    <p:tags r:id="rId31"/>
  </p:custDataLst>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8D233"/>
    <a:srgbClr val="57903F"/>
    <a:srgbClr val="344529"/>
    <a:srgbClr val="2B3922"/>
    <a:srgbClr val="2E3722"/>
    <a:srgbClr val="FCF7F1"/>
    <a:srgbClr val="5CC6D6"/>
    <a:srgbClr val="F8D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73" d="100"/>
          <a:sy n="73" d="100"/>
        </p:scale>
        <p:origin x="61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CEFBBAB4-63D6-4350-9565-9B014933CEBB}" type="datetimeFigureOut">
              <a:rPr lang="en-IN"/>
              <a:pPr>
                <a:defRPr/>
              </a:pPr>
              <a:t>01-06-2023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33179A47-D6FB-4688-A9C9-62D5E4B2A405}" type="slidenum">
              <a:rPr lang="en-IN" altLang="en-US"/>
              <a:pPr>
                <a:defRPr/>
              </a:pPr>
              <a:t>‹#›</a:t>
            </a:fld>
            <a:endParaRPr lang="en-IN" altLang="en-US"/>
          </a:p>
        </p:txBody>
      </p:sp>
    </p:spTree>
    <p:extLst>
      <p:ext uri="{BB962C8B-B14F-4D97-AF65-F5344CB8AC3E}">
        <p14:creationId xmlns:p14="http://schemas.microsoft.com/office/powerpoint/2010/main" val="38220430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174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C00C1D02-238F-47C1-9E12-4BDDDA04EEC2}" type="slidenum">
              <a:rPr lang="en-IN" altLang="en-US"/>
              <a:pPr>
                <a:spcBef>
                  <a:spcPct val="0"/>
                </a:spcBef>
              </a:pPr>
              <a:t>1</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27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0B93F3C5-D18C-4BDF-B91C-0C4593D2910E}" type="slidenum">
              <a:rPr lang="en-IN" altLang="en-US"/>
              <a:pPr>
                <a:spcBef>
                  <a:spcPct val="0"/>
                </a:spcBef>
              </a:pPr>
              <a:t>2</a:t>
            </a:fld>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445640DD-3F8C-45A0-BC91-F9E2274882EA}"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0E188F97-E2DF-435E-8BCF-4B8EFAC46FDE}" type="slidenum">
              <a:rPr lang="en-US" altLang="en-US">
                <a:latin typeface="Calibri" pitchFamily="34" charset="0"/>
              </a:rPr>
              <a:pPr/>
              <a:t>4</a:t>
            </a:fld>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58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BA77629E-0FAE-406A-9EA1-1298039421E4}" type="slidenum">
              <a:rPr lang="en-IN" altLang="en-US"/>
              <a:pPr>
                <a:spcBef>
                  <a:spcPct val="0"/>
                </a:spcBef>
              </a:pPr>
              <a:t>5</a:t>
            </a:fld>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68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D9F701A2-7B41-4971-A091-D64C96F2EB12}" type="slidenum">
              <a:rPr lang="en-IN" altLang="en-US"/>
              <a:pPr>
                <a:spcBef>
                  <a:spcPct val="0"/>
                </a:spcBef>
              </a:pPr>
              <a:t>6</a:t>
            </a:fld>
            <a:endParaRPr lang="en-I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78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609937C7-21E2-42A2-9E93-8B8CE0CCB382}" type="slidenum">
              <a:rPr lang="en-IN" altLang="en-US"/>
              <a:pPr>
                <a:spcBef>
                  <a:spcPct val="0"/>
                </a:spcBef>
              </a:pPr>
              <a:t>7</a:t>
            </a:fld>
            <a:endParaRPr lang="en-I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D5748722-D56D-4382-BFFB-F32AAD97E0CC}" type="slidenum">
              <a:rPr lang="en-IN" altLang="en-US"/>
              <a:pPr>
                <a:spcBef>
                  <a:spcPct val="0"/>
                </a:spcBef>
              </a:pPr>
              <a:t>8</a:t>
            </a:fld>
            <a:endParaRPr lang="en-I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99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6335AEC8-6906-475A-B0CA-8558B9B285D7}" type="slidenum">
              <a:rPr lang="en-IN" altLang="en-US"/>
              <a:pPr>
                <a:spcBef>
                  <a:spcPct val="0"/>
                </a:spcBef>
              </a:pPr>
              <a:t>9</a:t>
            </a:fld>
            <a:endParaRPr lang="en-I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09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3AE6D340-830C-4341-9DDA-59D0D3540D45}" type="slidenum">
              <a:rPr lang="en-IN" altLang="en-US"/>
              <a:pPr>
                <a:spcBef>
                  <a:spcPct val="0"/>
                </a:spcBef>
              </a:pPr>
              <a:t>10</a:t>
            </a:fld>
            <a:endParaRPr lang="en-I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19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B9FC9590-035E-4E3A-A986-C947F95DBE9C}" type="slidenum">
              <a:rPr lang="en-IN" altLang="en-US"/>
              <a:pPr>
                <a:spcBef>
                  <a:spcPct val="0"/>
                </a:spcBef>
              </a:pPr>
              <a:t>11</a:t>
            </a:fld>
            <a:endParaRPr lang="en-I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30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631F84F9-AEC2-4483-A61F-15245CE7367E}" type="slidenum">
              <a:rPr lang="en-IN" altLang="en-US"/>
              <a:pPr>
                <a:spcBef>
                  <a:spcPct val="0"/>
                </a:spcBef>
              </a:pPr>
              <a:t>12</a:t>
            </a:fld>
            <a:endParaRPr lang="en-I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40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EB9866DF-3A72-4BAF-ADEE-E6F74C32D529}" type="slidenum">
              <a:rPr lang="en-IN" altLang="en-US"/>
              <a:pPr>
                <a:spcBef>
                  <a:spcPct val="0"/>
                </a:spcBef>
              </a:pPr>
              <a:t>13</a:t>
            </a:fld>
            <a:endParaRPr lang="en-I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50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C401A9EF-64CF-4B93-83FC-2023C0C150AC}" type="slidenum">
              <a:rPr lang="en-IN" altLang="en-US"/>
              <a:pPr>
                <a:spcBef>
                  <a:spcPct val="0"/>
                </a:spcBef>
              </a:pPr>
              <a:t>15</a:t>
            </a:fld>
            <a:endParaRPr lang="en-I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608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E96D8E49-6EE5-4A17-B296-42F27E53F318}" type="slidenum">
              <a:rPr lang="en-IN" altLang="en-US"/>
              <a:pPr>
                <a:spcBef>
                  <a:spcPct val="0"/>
                </a:spcBef>
              </a:pPr>
              <a:t>17</a:t>
            </a:fld>
            <a:endParaRPr lang="en-I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71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8AA7EE4A-36F4-4B2D-AF38-1AA977759196}" type="slidenum">
              <a:rPr lang="en-IN" altLang="en-US"/>
              <a:pPr>
                <a:spcBef>
                  <a:spcPct val="0"/>
                </a:spcBef>
              </a:pPr>
              <a:t>19</a:t>
            </a:fld>
            <a:endParaRPr lang="en-I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813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B8A74B38-D91C-407E-A9D1-15AD71980AB9}" type="slidenum">
              <a:rPr lang="en-IN" altLang="en-US"/>
              <a:pPr>
                <a:spcBef>
                  <a:spcPct val="0"/>
                </a:spcBef>
              </a:pPr>
              <a:t>20</a:t>
            </a:fld>
            <a:endParaRPr lang="en-I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915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8DB3EFE9-E8A6-4BA4-8EAF-606BAFA3FED1}" type="slidenum">
              <a:rPr lang="en-IN" altLang="en-US"/>
              <a:pPr>
                <a:spcBef>
                  <a:spcPct val="0"/>
                </a:spcBef>
              </a:pPr>
              <a:t>21</a:t>
            </a:fld>
            <a:endParaRPr lang="en-I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01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A93531BA-4963-4A17-89F2-CA590CF10D13}" type="slidenum">
              <a:rPr lang="en-IN" altLang="en-US"/>
              <a:pPr>
                <a:spcBef>
                  <a:spcPct val="0"/>
                </a:spcBef>
              </a:pPr>
              <a:t>22</a:t>
            </a:fld>
            <a:endParaRPr lang="en-I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12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DD1FEED6-A301-4FF2-BB88-185B90918ECD}" type="slidenum">
              <a:rPr lang="en-IN" altLang="en-US"/>
              <a:pPr>
                <a:spcBef>
                  <a:spcPct val="0"/>
                </a:spcBef>
              </a:pPr>
              <a:t>24</a:t>
            </a:fld>
            <a:endParaRPr lang="en-I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222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9733C335-8098-4308-968E-BAE89CFBB221}" type="slidenum">
              <a:rPr lang="en-IN" altLang="en-US"/>
              <a:pPr>
                <a:spcBef>
                  <a:spcPct val="0"/>
                </a:spcBef>
              </a:pPr>
              <a:t>25</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spect="1"/>
          </p:cNvSpPr>
          <p:nvPr/>
        </p:nvSpPr>
        <p:spPr>
          <a:xfrm>
            <a:off x="231775" y="244475"/>
            <a:ext cx="11723688" cy="6376988"/>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978025" y="3733800"/>
            <a:ext cx="8229600"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solidFill>
                  <a:srgbClr val="FFFFFF"/>
                </a:solidFill>
              </a:defRPr>
            </a:lvl1pPr>
          </a:lstStyle>
          <a:p>
            <a:pPr>
              <a:defRPr/>
            </a:pPr>
            <a:fld id="{5D76F74E-1100-47D6-8671-96B5CB1D604E}" type="datetime1">
              <a:rPr lang="en-US"/>
              <a:pPr>
                <a:defRPr/>
              </a:pPr>
              <a:t>6/1/2023</a:t>
            </a:fld>
            <a:endParaRPr lang="en-US" dirty="0"/>
          </a:p>
        </p:txBody>
      </p:sp>
      <p:sp>
        <p:nvSpPr>
          <p:cNvPr id="7" name="Footer Placeholder 4"/>
          <p:cNvSpPr>
            <a:spLocks noGrp="1"/>
          </p:cNvSpPr>
          <p:nvPr>
            <p:ph type="ftr" sz="quarter" idx="11"/>
          </p:nvPr>
        </p:nvSpPr>
        <p:spPr/>
        <p:txBody>
          <a:bodyPr/>
          <a:lstStyle>
            <a:lvl1pPr>
              <a:defRPr>
                <a:solidFill>
                  <a:srgbClr val="FFFFFF"/>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F652B503-BDEB-462A-91D8-38B534798151}" type="slidenum">
              <a:rPr lang="en-US" altLang="en-US"/>
              <a:pPr>
                <a:defRPr/>
              </a:pPr>
              <a:t>‹#›</a:t>
            </a:fld>
            <a:endParaRPr lang="en-US" altLang="en-US"/>
          </a:p>
        </p:txBody>
      </p:sp>
    </p:spTree>
    <p:extLst>
      <p:ext uri="{BB962C8B-B14F-4D97-AF65-F5344CB8AC3E}">
        <p14:creationId xmlns:p14="http://schemas.microsoft.com/office/powerpoint/2010/main" val="4242431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2093556-D69B-402A-AA18-DDFBC5E3C92B}"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C3820F8-10A9-4547-B555-F830A8B89A9C}" type="slidenum">
              <a:rPr lang="en-US" altLang="en-US"/>
              <a:pPr>
                <a:defRPr/>
              </a:pPr>
              <a:t>‹#›</a:t>
            </a:fld>
            <a:endParaRPr lang="en-US" altLang="en-US"/>
          </a:p>
        </p:txBody>
      </p:sp>
    </p:spTree>
    <p:extLst>
      <p:ext uri="{BB962C8B-B14F-4D97-AF65-F5344CB8AC3E}">
        <p14:creationId xmlns:p14="http://schemas.microsoft.com/office/powerpoint/2010/main" val="3548189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981200" y="4021138"/>
            <a:ext cx="82296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27456B2-838D-478D-BDB3-5FF010CECE36}"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smtClean="0"/>
            </a:lvl1pPr>
          </a:lstStyle>
          <a:p>
            <a:pPr>
              <a:defRPr/>
            </a:pPr>
            <a:fld id="{0E233DDF-13AD-4C09-A3A2-224E32D4E6CE}" type="slidenum">
              <a:rPr lang="en-US" altLang="en-US"/>
              <a:pPr>
                <a:defRPr/>
              </a:pPr>
              <a:t>‹#›</a:t>
            </a:fld>
            <a:endParaRPr lang="en-US" altLang="en-US"/>
          </a:p>
        </p:txBody>
      </p:sp>
    </p:spTree>
    <p:extLst>
      <p:ext uri="{BB962C8B-B14F-4D97-AF65-F5344CB8AC3E}">
        <p14:creationId xmlns:p14="http://schemas.microsoft.com/office/powerpoint/2010/main" val="2740615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6791A86-9C84-40B2-938F-637F4DC6F462}"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F3DE3F0-1F77-4D59-8BAE-11BCB92E0704}" type="slidenum">
              <a:rPr lang="en-US" altLang="en-US"/>
              <a:pPr>
                <a:defRPr/>
              </a:pPr>
              <a:t>‹#›</a:t>
            </a:fld>
            <a:endParaRPr lang="en-US" altLang="en-US"/>
          </a:p>
        </p:txBody>
      </p:sp>
    </p:spTree>
    <p:extLst>
      <p:ext uri="{BB962C8B-B14F-4D97-AF65-F5344CB8AC3E}">
        <p14:creationId xmlns:p14="http://schemas.microsoft.com/office/powerpoint/2010/main" val="249568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8D26355-7278-4AD3-892F-CDA2171AECE4}" type="datetime1">
              <a:rPr lang="en-US"/>
              <a:pPr>
                <a:defRPr/>
              </a:pPr>
              <a:t>6/1/2023</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B742983-0100-4CED-9DED-6CAFC77788BF}" type="slidenum">
              <a:rPr lang="en-US" altLang="en-US"/>
              <a:pPr>
                <a:defRPr/>
              </a:pPr>
              <a:t>‹#›</a:t>
            </a:fld>
            <a:endParaRPr lang="en-US" altLang="en-US"/>
          </a:p>
        </p:txBody>
      </p:sp>
    </p:spTree>
    <p:extLst>
      <p:ext uri="{BB962C8B-B14F-4D97-AF65-F5344CB8AC3E}">
        <p14:creationId xmlns:p14="http://schemas.microsoft.com/office/powerpoint/2010/main" val="1966146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7627F7C8-FB68-491F-9E5F-587383229508}" type="datetime1">
              <a:rPr lang="en-US"/>
              <a:pPr>
                <a:defRPr/>
              </a:pPr>
              <a:t>6/1/2023</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E163984-E39A-4C11-B932-8A3306E7BD66}" type="slidenum">
              <a:rPr lang="en-US" altLang="en-US"/>
              <a:pPr>
                <a:defRPr/>
              </a:pPr>
              <a:t>‹#›</a:t>
            </a:fld>
            <a:endParaRPr lang="en-US" altLang="en-US"/>
          </a:p>
        </p:txBody>
      </p:sp>
    </p:spTree>
    <p:extLst>
      <p:ext uri="{BB962C8B-B14F-4D97-AF65-F5344CB8AC3E}">
        <p14:creationId xmlns:p14="http://schemas.microsoft.com/office/powerpoint/2010/main" val="26669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67848E-F526-4BAD-93D2-0CE594F8DB61}" type="datetime1">
              <a:rPr lang="en-US"/>
              <a:pPr>
                <a:defRPr/>
              </a:pPr>
              <a:t>6/1/2023</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52601E0-D52F-4B32-9E8B-8EC3E57A15A1}" type="slidenum">
              <a:rPr lang="en-US" altLang="en-US"/>
              <a:pPr>
                <a:defRPr/>
              </a:pPr>
              <a:t>‹#›</a:t>
            </a:fld>
            <a:endParaRPr lang="en-US" altLang="en-US"/>
          </a:p>
        </p:txBody>
      </p:sp>
    </p:spTree>
    <p:extLst>
      <p:ext uri="{BB962C8B-B14F-4D97-AF65-F5344CB8AC3E}">
        <p14:creationId xmlns:p14="http://schemas.microsoft.com/office/powerpoint/2010/main" val="2223388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62CAF92-4DA8-4C49-810A-3E6A4F4BAF2F}"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952BEEB-0BF8-4D7E-86E7-8A711A0FDB57}" type="slidenum">
              <a:rPr lang="en-US" altLang="en-US"/>
              <a:pPr>
                <a:defRPr/>
              </a:pPr>
              <a:t>‹#›</a:t>
            </a:fld>
            <a:endParaRPr lang="en-US" altLang="en-US"/>
          </a:p>
        </p:txBody>
      </p:sp>
    </p:spTree>
    <p:extLst>
      <p:ext uri="{BB962C8B-B14F-4D97-AF65-F5344CB8AC3E}">
        <p14:creationId xmlns:p14="http://schemas.microsoft.com/office/powerpoint/2010/main" val="140426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866D0572-AA10-4875-A201-56239CF8CE5B}" type="datetime1">
              <a:rPr lang="en-US"/>
              <a:pPr>
                <a:defRPr/>
              </a:pPr>
              <a:t>6/1/2023</a:t>
            </a:fld>
            <a:endParaRPr lang="en-US" dirty="0"/>
          </a:p>
        </p:txBody>
      </p:sp>
      <p:sp>
        <p:nvSpPr>
          <p:cNvPr id="6" name="Footer Placeholder 5"/>
          <p:cNvSpPr>
            <a:spLocks noGrp="1"/>
          </p:cNvSpPr>
          <p:nvPr>
            <p:ph type="ftr" sz="quarter" idx="11"/>
          </p:nvPr>
        </p:nvSpPr>
        <p:spPr/>
        <p:txBody>
          <a:bodyPr/>
          <a:lstStyle>
            <a:lvl1pPr algn="l">
              <a:defRPr/>
            </a:lvl1pPr>
          </a:lstStyle>
          <a:p>
            <a:pPr>
              <a:defRPr/>
            </a:pPr>
            <a:endParaRPr lang="en-US"/>
          </a:p>
        </p:txBody>
      </p:sp>
      <p:sp>
        <p:nvSpPr>
          <p:cNvPr id="7" name="Slide Number Placeholder 6"/>
          <p:cNvSpPr>
            <a:spLocks noGrp="1"/>
          </p:cNvSpPr>
          <p:nvPr>
            <p:ph type="sldNum" sz="quarter" idx="12"/>
          </p:nvPr>
        </p:nvSpPr>
        <p:spPr/>
        <p:txBody>
          <a:bodyPr/>
          <a:lstStyle>
            <a:lvl1pPr>
              <a:defRPr smtClean="0"/>
            </a:lvl1pPr>
          </a:lstStyle>
          <a:p>
            <a:pPr>
              <a:defRPr/>
            </a:pPr>
            <a:fld id="{22450066-63F3-4938-B886-765F69683387}" type="slidenum">
              <a:rPr lang="en-US" altLang="en-US"/>
              <a:pPr>
                <a:defRPr/>
              </a:pPr>
              <a:t>‹#›</a:t>
            </a:fld>
            <a:endParaRPr lang="en-US" altLang="en-US"/>
          </a:p>
        </p:txBody>
      </p:sp>
    </p:spTree>
    <p:extLst>
      <p:ext uri="{BB962C8B-B14F-4D97-AF65-F5344CB8AC3E}">
        <p14:creationId xmlns:p14="http://schemas.microsoft.com/office/powerpoint/2010/main" val="1076854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BA37AE3-6395-4294-AAA0-3ABBC4E53A57}"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6798D1-553A-410F-A62A-53F5F0D20B84}" type="slidenum">
              <a:rPr lang="en-US" altLang="en-US"/>
              <a:pPr>
                <a:defRPr/>
              </a:pPr>
              <a:t>‹#›</a:t>
            </a:fld>
            <a:endParaRPr lang="en-US" altLang="en-US"/>
          </a:p>
        </p:txBody>
      </p:sp>
    </p:spTree>
    <p:extLst>
      <p:ext uri="{BB962C8B-B14F-4D97-AF65-F5344CB8AC3E}">
        <p14:creationId xmlns:p14="http://schemas.microsoft.com/office/powerpoint/2010/main" val="3385442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83BAA86-6C7F-4C98-931B-C3ABBD320128}"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04244E-5B90-4D69-9147-78100853D4CF}" type="slidenum">
              <a:rPr lang="en-US" altLang="en-US"/>
              <a:pPr>
                <a:defRPr/>
              </a:pPr>
              <a:t>‹#›</a:t>
            </a:fld>
            <a:endParaRPr lang="en-US" altLang="en-US"/>
          </a:p>
        </p:txBody>
      </p:sp>
    </p:spTree>
    <p:extLst>
      <p:ext uri="{BB962C8B-B14F-4D97-AF65-F5344CB8AC3E}">
        <p14:creationId xmlns:p14="http://schemas.microsoft.com/office/powerpoint/2010/main" val="2449890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775" y="244475"/>
            <a:ext cx="11723688" cy="6376988"/>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accent1"/>
                </a:solidFill>
                <a:latin typeface="+mn-lt"/>
                <a:cs typeface="+mn-cs"/>
              </a:defRPr>
            </a:lvl1pPr>
          </a:lstStyle>
          <a:p>
            <a:pPr>
              <a:defRPr/>
            </a:pPr>
            <a:fld id="{18B772B6-2F9A-4774-8168-4BDEF88C14A3}" type="datetime1">
              <a:rPr lang="en-US"/>
              <a:pPr>
                <a:defRPr/>
              </a:pPr>
              <a:t>6/1/2023</a:t>
            </a:fld>
            <a:endParaRPr lang="en-US" dirty="0"/>
          </a:p>
        </p:txBody>
      </p:sp>
      <p:sp>
        <p:nvSpPr>
          <p:cNvPr id="5" name="Footer Placeholder 4"/>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accent1"/>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chemeClr val="accent1"/>
                </a:solidFill>
                <a:latin typeface="Corbel" pitchFamily="34" charset="0"/>
              </a:defRPr>
            </a:lvl1pPr>
          </a:lstStyle>
          <a:p>
            <a:pPr>
              <a:defRPr/>
            </a:pPr>
            <a:fld id="{C9BEF942-1AFE-4883-874D-65AFA56F015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59" r:id="rId2"/>
    <p:sldLayoutId id="2147483768" r:id="rId3"/>
    <p:sldLayoutId id="2147483760" r:id="rId4"/>
    <p:sldLayoutId id="2147483761" r:id="rId5"/>
    <p:sldLayoutId id="2147483762" r:id="rId6"/>
    <p:sldLayoutId id="2147483763" r:id="rId7"/>
    <p:sldLayoutId id="2147483764" r:id="rId8"/>
    <p:sldLayoutId id="2147483769" r:id="rId9"/>
    <p:sldLayoutId id="2147483765" r:id="rId10"/>
    <p:sldLayoutId id="2147483766" r:id="rId11"/>
  </p:sldLayoutIdLst>
  <p:hf hdr="0" ftr="0" dt="0"/>
  <p:txStyles>
    <p:titleStyle>
      <a:lvl1pPr algn="l" rtl="0" eaLnBrk="0" fontAlgn="base" hangingPunct="0">
        <a:lnSpc>
          <a:spcPct val="90000"/>
        </a:lnSpc>
        <a:spcBef>
          <a:spcPct val="0"/>
        </a:spcBef>
        <a:spcAft>
          <a:spcPct val="0"/>
        </a:spcAft>
        <a:defRPr sz="44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400">
          <a:solidFill>
            <a:schemeClr val="accent1"/>
          </a:solidFill>
          <a:latin typeface="Corbel" pitchFamily="34" charset="0"/>
        </a:defRPr>
      </a:lvl2pPr>
      <a:lvl3pPr algn="l" rtl="0" eaLnBrk="0" fontAlgn="base" hangingPunct="0">
        <a:lnSpc>
          <a:spcPct val="90000"/>
        </a:lnSpc>
        <a:spcBef>
          <a:spcPct val="0"/>
        </a:spcBef>
        <a:spcAft>
          <a:spcPct val="0"/>
        </a:spcAft>
        <a:defRPr sz="4400">
          <a:solidFill>
            <a:schemeClr val="accent1"/>
          </a:solidFill>
          <a:latin typeface="Corbel" pitchFamily="34" charset="0"/>
        </a:defRPr>
      </a:lvl3pPr>
      <a:lvl4pPr algn="l" rtl="0" eaLnBrk="0" fontAlgn="base" hangingPunct="0">
        <a:lnSpc>
          <a:spcPct val="90000"/>
        </a:lnSpc>
        <a:spcBef>
          <a:spcPct val="0"/>
        </a:spcBef>
        <a:spcAft>
          <a:spcPct val="0"/>
        </a:spcAft>
        <a:defRPr sz="4400">
          <a:solidFill>
            <a:schemeClr val="accent1"/>
          </a:solidFill>
          <a:latin typeface="Corbel" pitchFamily="34" charset="0"/>
        </a:defRPr>
      </a:lvl4pPr>
      <a:lvl5pPr algn="l" rtl="0" eaLnBrk="0" fontAlgn="base" hangingPunct="0">
        <a:lnSpc>
          <a:spcPct val="90000"/>
        </a:lnSpc>
        <a:spcBef>
          <a:spcPct val="0"/>
        </a:spcBef>
        <a:spcAft>
          <a:spcPct val="0"/>
        </a:spcAft>
        <a:defRPr sz="4400">
          <a:solidFill>
            <a:schemeClr val="accent1"/>
          </a:solidFill>
          <a:latin typeface="Corbel" pitchFamily="34" charset="0"/>
        </a:defRPr>
      </a:lvl5pPr>
      <a:lvl6pPr marL="457200" algn="l" rtl="0" fontAlgn="base">
        <a:lnSpc>
          <a:spcPct val="90000"/>
        </a:lnSpc>
        <a:spcBef>
          <a:spcPct val="0"/>
        </a:spcBef>
        <a:spcAft>
          <a:spcPct val="0"/>
        </a:spcAft>
        <a:defRPr sz="4400">
          <a:solidFill>
            <a:schemeClr val="accent1"/>
          </a:solidFill>
          <a:latin typeface="Corbel" pitchFamily="34" charset="0"/>
        </a:defRPr>
      </a:lvl6pPr>
      <a:lvl7pPr marL="914400" algn="l" rtl="0" fontAlgn="base">
        <a:lnSpc>
          <a:spcPct val="90000"/>
        </a:lnSpc>
        <a:spcBef>
          <a:spcPct val="0"/>
        </a:spcBef>
        <a:spcAft>
          <a:spcPct val="0"/>
        </a:spcAft>
        <a:defRPr sz="4400">
          <a:solidFill>
            <a:schemeClr val="accent1"/>
          </a:solidFill>
          <a:latin typeface="Corbel" pitchFamily="34" charset="0"/>
        </a:defRPr>
      </a:lvl7pPr>
      <a:lvl8pPr marL="1371600" algn="l" rtl="0" fontAlgn="base">
        <a:lnSpc>
          <a:spcPct val="90000"/>
        </a:lnSpc>
        <a:spcBef>
          <a:spcPct val="0"/>
        </a:spcBef>
        <a:spcAft>
          <a:spcPct val="0"/>
        </a:spcAft>
        <a:defRPr sz="4400">
          <a:solidFill>
            <a:schemeClr val="accent1"/>
          </a:solidFill>
          <a:latin typeface="Corbel" pitchFamily="34" charset="0"/>
        </a:defRPr>
      </a:lvl8pPr>
      <a:lvl9pPr marL="1828800" algn="l" rtl="0" fontAlgn="base">
        <a:lnSpc>
          <a:spcPct val="90000"/>
        </a:lnSpc>
        <a:spcBef>
          <a:spcPct val="0"/>
        </a:spcBef>
        <a:spcAft>
          <a:spcPct val="0"/>
        </a:spcAft>
        <a:defRPr sz="4400">
          <a:solidFill>
            <a:schemeClr val="accent1"/>
          </a:solidFill>
          <a:latin typeface="Corbel" pitchFamily="34" charset="0"/>
        </a:defRPr>
      </a:lvl9pPr>
    </p:titleStyle>
    <p:bodyStyle>
      <a:lvl1pPr marL="228600" indent="-182563" algn="l" rtl="0" eaLnBrk="0" fontAlgn="base" hangingPunct="0">
        <a:lnSpc>
          <a:spcPct val="90000"/>
        </a:lnSpc>
        <a:spcBef>
          <a:spcPts val="1400"/>
        </a:spcBef>
        <a:spcAft>
          <a:spcPct val="0"/>
        </a:spcAft>
        <a:buClr>
          <a:schemeClr val="accent1"/>
        </a:buClr>
        <a:buSzPct val="80000"/>
        <a:buFont typeface="Corbel" panose="020B0503020204020204" pitchFamily="34" charset="0"/>
        <a:buChar char="•"/>
        <a:defRPr sz="2200" kern="1200">
          <a:solidFill>
            <a:schemeClr val="accent1"/>
          </a:solidFill>
          <a:latin typeface="+mn-lt"/>
          <a:ea typeface="+mn-ea"/>
          <a:cs typeface="+mn-cs"/>
        </a:defRPr>
      </a:lvl1pPr>
      <a:lvl2pPr marL="457200"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2pPr>
      <a:lvl3pPr marL="730250"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2400" kern="1200">
          <a:solidFill>
            <a:schemeClr val="accent1"/>
          </a:solidFill>
          <a:latin typeface="+mn-lt"/>
          <a:ea typeface="+mn-ea"/>
          <a:cs typeface="+mn-cs"/>
        </a:defRPr>
      </a:lvl3pPr>
      <a:lvl4pPr marL="1004888"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4pPr>
      <a:lvl5pPr marL="1279525"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www.cs.utah.edu/~germain/PPS/Topics/C_Language/c_functions.html" TargetMode="External"/><Relationship Id="rId3" Type="http://schemas.openxmlformats.org/officeDocument/2006/relationships/hyperlink" Target="https://en.wikibooks.org/wiki/C_Programming" TargetMode="External"/><Relationship Id="rId7" Type="http://schemas.openxmlformats.org/officeDocument/2006/relationships/hyperlink" Target="https://www.tutorialspoint.com/cprogramming/c_functions.htm"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www.youtube.com/watch?v=Dt9q3qiaqiA" TargetMode="External"/><Relationship Id="rId11" Type="http://schemas.openxmlformats.org/officeDocument/2006/relationships/image" Target="../media/image5.png"/><Relationship Id="rId5" Type="http://schemas.openxmlformats.org/officeDocument/2006/relationships/hyperlink" Target="https://www.youtube.com/watch?v=4-xX9vmPDsc" TargetMode="External"/><Relationship Id="rId10" Type="http://schemas.openxmlformats.org/officeDocument/2006/relationships/image" Target="../media/image4.png"/><Relationship Id="rId4" Type="http://schemas.openxmlformats.org/officeDocument/2006/relationships/hyperlink" Target="https://nptel.ac.in/courses/106/106/106106127/" TargetMode="External"/><Relationship Id="rId9" Type="http://schemas.openxmlformats.org/officeDocument/2006/relationships/hyperlink" Target="https://beginnersbook.com/2014/01/c-function-call-by-value-example/"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0.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6" descr="abstract image"/>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0825" y="0"/>
            <a:ext cx="122634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8588" y="-96838"/>
            <a:ext cx="3430588"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5" name="Object 19"/>
          <p:cNvGraphicFramePr>
            <a:graphicFrameLocks noChangeAspect="1"/>
          </p:cNvGraphicFramePr>
          <p:nvPr/>
        </p:nvGraphicFramePr>
        <p:xfrm>
          <a:off x="66675" y="5380038"/>
          <a:ext cx="1484313" cy="1384300"/>
        </p:xfrm>
        <a:graphic>
          <a:graphicData uri="http://schemas.openxmlformats.org/presentationml/2006/ole">
            <mc:AlternateContent xmlns:mc="http://schemas.openxmlformats.org/markup-compatibility/2006">
              <mc:Choice xmlns:v="urn:schemas-microsoft-com:vml" Requires="v">
                <p:oleObj spid="_x0000_s5130" name="CorelDRAW" r:id="rId6" imgW="2169000" imgH="2169360" progId="">
                  <p:embed/>
                </p:oleObj>
              </mc:Choice>
              <mc:Fallback>
                <p:oleObj name="CorelDRAW" r:id="rId6" imgW="2169000" imgH="2169360" progId="">
                  <p:embed/>
                  <p:pic>
                    <p:nvPicPr>
                      <p:cNvPr id="0" name="Object 19"/>
                      <p:cNvPicPr>
                        <a:picLocks noChangeAspect="1" noChangeArrowheads="1"/>
                      </p:cNvPicPr>
                      <p:nvPr/>
                    </p:nvPicPr>
                    <p:blipFill>
                      <a:blip r:embed="rId7">
                        <a:lum bright="76000"/>
                        <a:extLst>
                          <a:ext uri="{28A0092B-C50C-407E-A947-70E740481C1C}">
                            <a14:useLocalDpi xmlns:a14="http://schemas.microsoft.com/office/drawing/2010/main" val="0"/>
                          </a:ext>
                        </a:extLst>
                      </a:blip>
                      <a:srcRect/>
                      <a:stretch>
                        <a:fillRect/>
                      </a:stretch>
                    </p:blipFill>
                    <p:spPr bwMode="auto">
                      <a:xfrm>
                        <a:off x="66675" y="5380038"/>
                        <a:ext cx="14843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2"/>
          <p:cNvSpPr/>
          <p:nvPr/>
        </p:nvSpPr>
        <p:spPr>
          <a:xfrm>
            <a:off x="2547938" y="5780088"/>
            <a:ext cx="6924675" cy="479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Calibri" pitchFamily="34" charset="0"/>
                <a:cs typeface="Calibri" pitchFamily="34" charset="0"/>
              </a:rPr>
              <a:t>CHAPTER NAME  -FUNCTION</a:t>
            </a:r>
            <a:endParaRPr lang="en-IN" sz="2400" b="1" dirty="0">
              <a:solidFill>
                <a:schemeClr val="bg1"/>
              </a:solidFill>
              <a:latin typeface="Calibri" pitchFamily="34" charset="0"/>
              <a:cs typeface="Calibri" pitchFamily="34" charset="0"/>
            </a:endParaRPr>
          </a:p>
        </p:txBody>
      </p:sp>
      <p:sp>
        <p:nvSpPr>
          <p:cNvPr id="512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50C41CEF-AFF2-4018-A376-45FAC02AB302}" type="slidenum">
              <a:rPr lang="en-US" altLang="en-US" sz="1200">
                <a:solidFill>
                  <a:srgbClr val="FFFFFF"/>
                </a:solidFill>
              </a:rPr>
              <a:pPr>
                <a:lnSpc>
                  <a:spcPct val="100000"/>
                </a:lnSpc>
                <a:spcBef>
                  <a:spcPct val="0"/>
                </a:spcBef>
                <a:buClrTx/>
                <a:buSzTx/>
                <a:buFontTx/>
                <a:buNone/>
              </a:pPr>
              <a:t>1</a:t>
            </a:fld>
            <a:endParaRPr lang="en-US" altLang="en-US" sz="1200">
              <a:solidFill>
                <a:srgbClr val="FFFFFF"/>
              </a:solidFill>
            </a:endParaRPr>
          </a:p>
        </p:txBody>
      </p:sp>
      <p:sp>
        <p:nvSpPr>
          <p:cNvPr id="8" name="Rectangle 7"/>
          <p:cNvSpPr/>
          <p:nvPr/>
        </p:nvSpPr>
        <p:spPr>
          <a:xfrm>
            <a:off x="1376039" y="1597981"/>
            <a:ext cx="9215022" cy="3622089"/>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sz="2400" b="1" dirty="0">
              <a:latin typeface="Arial Rounded MT Bold" panose="020F0704030504030204" pitchFamily="34" charset="0"/>
            </a:endParaRPr>
          </a:p>
          <a:p>
            <a:pPr algn="ctr" defTabSz="622300">
              <a:lnSpc>
                <a:spcPct val="90000"/>
              </a:lnSpc>
              <a:spcAft>
                <a:spcPct val="35000"/>
              </a:spcAft>
              <a:defRPr/>
            </a:pPr>
            <a:r>
              <a:rPr lang="en-US" sz="3200" b="1" dirty="0">
                <a:latin typeface="Arial Black" panose="020B0A04020102020204" pitchFamily="34" charset="0"/>
                <a:ea typeface="Karla" pitchFamily="2" charset="0"/>
                <a:cs typeface="Karla" pitchFamily="2" charset="0"/>
              </a:rPr>
              <a:t>INSTITUTE - </a:t>
            </a:r>
            <a:r>
              <a:rPr lang="en-US" sz="3200" b="1" dirty="0" smtClean="0">
                <a:latin typeface="Arial Black" panose="020B0A04020102020204" pitchFamily="34" charset="0"/>
                <a:ea typeface="Karla" pitchFamily="2" charset="0"/>
                <a:cs typeface="Karla" pitchFamily="2" charset="0"/>
              </a:rPr>
              <a:t>UIE</a:t>
            </a:r>
            <a:endParaRPr lang="en-US" sz="3200" b="1" dirty="0">
              <a:latin typeface="Arial Black" panose="020B0A04020102020204" pitchFamily="34" charset="0"/>
              <a:ea typeface="Karla" pitchFamily="2" charset="0"/>
              <a:cs typeface="Karla" pitchFamily="2" charset="0"/>
            </a:endParaRPr>
          </a:p>
          <a:p>
            <a:pPr algn="ctr" defTabSz="622300">
              <a:lnSpc>
                <a:spcPct val="90000"/>
              </a:lnSpc>
              <a:spcAft>
                <a:spcPct val="35000"/>
              </a:spcAft>
              <a:defRPr/>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UNIT-2</a:t>
            </a:r>
            <a:endParaRPr lang="en-US" sz="3200" b="1" dirty="0">
              <a:latin typeface="Arial Black" panose="020B0A04020102020204" pitchFamily="34" charset="0"/>
              <a:ea typeface="Karla" pitchFamily="2" charset="0"/>
              <a:cs typeface="Karla" pitchFamily="2" charset="0"/>
            </a:endParaRPr>
          </a:p>
          <a:p>
            <a:pPr algn="ctr" defTabSz="622300">
              <a:lnSpc>
                <a:spcPct val="90000"/>
              </a:lnSpc>
              <a:spcAft>
                <a:spcPct val="35000"/>
              </a:spcAf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algn="ctr" defTabSz="622300">
              <a:lnSpc>
                <a:spcPct val="90000"/>
              </a:lnSpc>
              <a:spcAft>
                <a:spcPct val="35000"/>
              </a:spcAf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algn="ctr" defTabSz="622300">
              <a:lnSpc>
                <a:spcPct val="90000"/>
              </a:lnSpc>
              <a:spcAft>
                <a:spcPct val="35000"/>
              </a:spcAft>
              <a:defRPr/>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1473200" y="1031875"/>
            <a:ext cx="8934450" cy="569913"/>
          </a:xfrm>
        </p:spPr>
        <p:txBody>
          <a:bodyPr rtlCol="0">
            <a:noAutofit/>
          </a:bodyPr>
          <a:lstStyle/>
          <a:p>
            <a:pPr eaLnBrk="1" fontAlgn="auto" hangingPunct="1">
              <a:spcAft>
                <a:spcPts val="0"/>
              </a:spcAft>
              <a:defRPr/>
            </a:pPr>
            <a:r>
              <a:rPr lang="en-US" sz="4800" dirty="0">
                <a:solidFill>
                  <a:schemeClr val="bg2"/>
                </a:solidFill>
                <a:latin typeface="Arial Rounded MT Bold" panose="020F0704030504030204" pitchFamily="34" charset="0"/>
              </a:rPr>
              <a:t> </a:t>
            </a:r>
            <a:r>
              <a:rPr lang="en-US" sz="4800" dirty="0">
                <a:solidFill>
                  <a:schemeClr val="tx1"/>
                </a:solidFill>
                <a:latin typeface="Calibri" pitchFamily="34" charset="0"/>
                <a:cs typeface="Calibri" pitchFamily="34" charset="0"/>
              </a:rPr>
              <a:t>Course objectives</a:t>
            </a:r>
            <a:endParaRPr lang="en-IN" sz="4800" dirty="0">
              <a:solidFill>
                <a:schemeClr val="tx1"/>
              </a:solidFill>
              <a:latin typeface="Calibri" pitchFamily="34" charset="0"/>
              <a:cs typeface="Calibri" pitchFamily="34" charset="0"/>
            </a:endParaRPr>
          </a:p>
        </p:txBody>
      </p:sp>
      <p:graphicFrame>
        <p:nvGraphicFramePr>
          <p:cNvPr id="9" name="Table 13"/>
          <p:cNvGraphicFramePr>
            <a:graphicFrameLocks/>
          </p:cNvGraphicFramePr>
          <p:nvPr/>
        </p:nvGraphicFramePr>
        <p:xfrm>
          <a:off x="2503488" y="2533650"/>
          <a:ext cx="7342187" cy="2509841"/>
        </p:xfrm>
        <a:graphic>
          <a:graphicData uri="http://schemas.openxmlformats.org/drawingml/2006/table">
            <a:tbl>
              <a:tblPr firstRow="1" bandRow="1">
                <a:tableStyleId>{5C22544A-7EE6-4342-B048-85BDC9FD1C3A}</a:tableStyleId>
              </a:tblPr>
              <a:tblGrid>
                <a:gridCol w="7342187">
                  <a:extLst>
                    <a:ext uri="{9D8B030D-6E8A-4147-A177-3AD203B41FA5}">
                      <a16:colId xmlns:a16="http://schemas.microsoft.com/office/drawing/2014/main" val="20000"/>
                    </a:ext>
                  </a:extLst>
                </a:gridCol>
              </a:tblGrid>
              <a:tr h="421448">
                <a:tc>
                  <a:txBody>
                    <a:bodyPr/>
                    <a:lstStyle/>
                    <a:p>
                      <a:r>
                        <a:rPr lang="en-US" sz="1800" dirty="0"/>
                        <a:t>                                              OBJECTIVES</a:t>
                      </a:r>
                      <a:endParaRPr lang="en-IN" sz="1800" dirty="0"/>
                    </a:p>
                  </a:txBody>
                  <a:tcPr marL="91444" marR="91444" marT="45713" marB="45713"/>
                </a:tc>
                <a:extLst>
                  <a:ext uri="{0D108BD9-81ED-4DB2-BD59-A6C34878D82A}">
                    <a16:rowId xmlns:a16="http://schemas.microsoft.com/office/drawing/2014/main" val="10000"/>
                  </a:ext>
                </a:extLst>
              </a:tr>
              <a:tr h="781857">
                <a:tc>
                  <a:txBody>
                    <a:bodyPr/>
                    <a:lstStyle/>
                    <a:p>
                      <a:r>
                        <a:rPr lang="en-US" sz="1600" dirty="0">
                          <a:solidFill>
                            <a:schemeClr val="tx1">
                              <a:lumMod val="85000"/>
                              <a:lumOff val="15000"/>
                            </a:schemeClr>
                          </a:solidFill>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1"/>
                  </a:ext>
                </a:extLst>
              </a:tr>
              <a:tr h="727430">
                <a:tc>
                  <a:txBody>
                    <a:bodyPr/>
                    <a:lstStyle/>
                    <a:p>
                      <a:r>
                        <a:rPr lang="en-US" sz="1600" dirty="0">
                          <a:solidFill>
                            <a:schemeClr val="tx1">
                              <a:lumMod val="75000"/>
                              <a:lumOff val="25000"/>
                            </a:schemeClr>
                          </a:solidFill>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2"/>
                  </a:ext>
                </a:extLst>
              </a:tr>
              <a:tr h="579103">
                <a:tc>
                  <a:txBody>
                    <a:bodyPr/>
                    <a:lstStyle/>
                    <a:p>
                      <a:r>
                        <a:rPr lang="en-US" sz="1600" dirty="0">
                          <a:solidFill>
                            <a:schemeClr val="tx1">
                              <a:lumMod val="75000"/>
                              <a:lumOff val="25000"/>
                            </a:schemeClr>
                          </a:solidFill>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3"/>
                  </a:ext>
                </a:extLst>
              </a:tr>
            </a:tbl>
          </a:graphicData>
        </a:graphic>
      </p:graphicFrame>
      <p:pic>
        <p:nvPicPr>
          <p:cNvPr id="615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0"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DF1BC0EC-8F5A-4B39-8D59-BB9BF11EBF2B}" type="slidenum">
              <a:rPr lang="en-US" altLang="en-US" sz="1200">
                <a:solidFill>
                  <a:srgbClr val="FFFFFF"/>
                </a:solidFill>
              </a:rPr>
              <a:pPr>
                <a:lnSpc>
                  <a:spcPct val="100000"/>
                </a:lnSpc>
                <a:spcBef>
                  <a:spcPct val="0"/>
                </a:spcBef>
                <a:buClrTx/>
                <a:buSzTx/>
                <a:buFontTx/>
                <a:buNone/>
              </a:pPr>
              <a:t>2</a:t>
            </a:fld>
            <a:endParaRPr lang="en-US" altLang="en-US" sz="1200">
              <a:solidFill>
                <a:srgbClr val="FFFFFF"/>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8123238" y="1144588"/>
            <a:ext cx="3756025" cy="4727575"/>
          </a:xfrm>
        </p:spPr>
        <p:txBody>
          <a:bodyPr/>
          <a:lstStyle/>
          <a:p>
            <a:endParaRPr lang="en-US" altLang="en-US" sz="2400" smtClean="0">
              <a:latin typeface="Casper"/>
              <a:cs typeface="Arial" pitchFamily="34" charset="0"/>
            </a:endParaRPr>
          </a:p>
          <a:p>
            <a:endParaRPr lang="en-US" altLang="en-US" sz="2400" smtClean="0">
              <a:latin typeface="Casper"/>
              <a:cs typeface="Arial" pitchFamily="34" charset="0"/>
            </a:endParaRPr>
          </a:p>
        </p:txBody>
      </p:sp>
      <p:sp>
        <p:nvSpPr>
          <p:cNvPr id="7171" name="Slide Number Placeholder 4"/>
          <p:cNvSpPr>
            <a:spLocks noGrp="1"/>
          </p:cNvSpPr>
          <p:nvPr>
            <p:ph type="sldNum" sz="quarter" idx="12"/>
          </p:nvPr>
        </p:nvSpPr>
        <p:spPr bwMode="auto">
          <a:xfrm>
            <a:off x="88392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CDA07E94-7D8F-4D65-9A96-098DCF6E9A88}" type="slidenum">
              <a:rPr lang="en-US" altLang="en-US">
                <a:solidFill>
                  <a:schemeClr val="accent1"/>
                </a:solidFill>
                <a:latin typeface="Corbel" pitchFamily="34" charset="0"/>
              </a:rPr>
              <a:pPr/>
              <a:t>3</a:t>
            </a:fld>
            <a:endParaRPr lang="en-US" altLang="en-US">
              <a:solidFill>
                <a:schemeClr val="accent1"/>
              </a:solidFill>
              <a:latin typeface="Corbel" pitchFamily="34" charset="0"/>
            </a:endParaRPr>
          </a:p>
        </p:txBody>
      </p:sp>
      <p:sp>
        <p:nvSpPr>
          <p:cNvPr id="2" name="Rectangle 1"/>
          <p:cNvSpPr/>
          <p:nvPr/>
        </p:nvSpPr>
        <p:spPr>
          <a:xfrm>
            <a:off x="8297863" y="1566863"/>
            <a:ext cx="3363912" cy="4121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6" name="Table 5"/>
          <p:cNvGraphicFramePr>
            <a:graphicFrameLocks noGrp="1"/>
          </p:cNvGraphicFramePr>
          <p:nvPr/>
        </p:nvGraphicFramePr>
        <p:xfrm>
          <a:off x="374650" y="1801813"/>
          <a:ext cx="7531100" cy="4071939"/>
        </p:xfrm>
        <a:graphic>
          <a:graphicData uri="http://schemas.openxmlformats.org/drawingml/2006/table">
            <a:tbl>
              <a:tblPr/>
              <a:tblGrid>
                <a:gridCol w="1092200">
                  <a:extLst>
                    <a:ext uri="{9D8B030D-6E8A-4147-A177-3AD203B41FA5}">
                      <a16:colId xmlns:a16="http://schemas.microsoft.com/office/drawing/2014/main" val="20000"/>
                    </a:ext>
                  </a:extLst>
                </a:gridCol>
                <a:gridCol w="6438900">
                  <a:extLst>
                    <a:ext uri="{9D8B030D-6E8A-4147-A177-3AD203B41FA5}">
                      <a16:colId xmlns:a16="http://schemas.microsoft.com/office/drawing/2014/main" val="20001"/>
                    </a:ext>
                  </a:extLst>
                </a:gridCol>
              </a:tblGrid>
              <a:tr h="719138">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 Number</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Course Outcome</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3">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CO1</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Remember the concepts related to fundamentals of C language, draw flowcharts and write algorithm/pseudocode.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CO2</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Understand the way of execution and debug programs in C language.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CO3</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Apply various constructs, loops, functions to solve mathematical and scientific problem.</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650">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CO4</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Analyze the dynamic behavior of memory by the use of pointers.</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8825">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Times New Roman"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Design and develop modular programs for real world problems using control structure and selection structure.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197" name="Rectangle 10"/>
          <p:cNvSpPr>
            <a:spLocks noChangeArrowheads="1"/>
          </p:cNvSpPr>
          <p:nvPr/>
        </p:nvSpPr>
        <p:spPr bwMode="auto">
          <a:xfrm>
            <a:off x="3981450" y="914400"/>
            <a:ext cx="2635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r>
              <a:rPr lang="en-US" altLang="en-US" sz="2400" b="1"/>
              <a:t>Course Outcomes </a:t>
            </a:r>
          </a:p>
        </p:txBody>
      </p:sp>
      <p:pic>
        <p:nvPicPr>
          <p:cNvPr id="7198"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53425" y="2025650"/>
            <a:ext cx="31829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9"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61363" y="1701800"/>
            <a:ext cx="895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00"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09538"/>
            <a:ext cx="268605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13" y="346075"/>
            <a:ext cx="7685087" cy="1147763"/>
          </a:xfrm>
        </p:spPr>
        <p:txBody>
          <a:bodyPr>
            <a:normAutofit fontScale="90000"/>
          </a:bodyPr>
          <a:lstStyle/>
          <a:p>
            <a:pPr>
              <a:defRPr/>
            </a:pPr>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819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C305D556-E994-4856-B153-83226BB73444}" type="slidenum">
              <a:rPr lang="en-US" altLang="en-US">
                <a:solidFill>
                  <a:schemeClr val="accent1"/>
                </a:solidFill>
                <a:latin typeface="Corbel" pitchFamily="34" charset="0"/>
              </a:rPr>
              <a:pPr/>
              <a:t>4</a:t>
            </a:fld>
            <a:endParaRPr lang="en-US" altLang="en-US">
              <a:solidFill>
                <a:schemeClr val="accent1"/>
              </a:solidFill>
              <a:latin typeface="Corbel" pitchFamily="34" charset="0"/>
            </a:endParaRPr>
          </a:p>
        </p:txBody>
      </p:sp>
      <p:sp>
        <p:nvSpPr>
          <p:cNvPr id="5" name="Rectangle 4"/>
          <p:cNvSpPr/>
          <p:nvPr/>
        </p:nvSpPr>
        <p:spPr>
          <a:xfrm>
            <a:off x="871538" y="261938"/>
            <a:ext cx="10515600" cy="1231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197" name="Content Placeholder 2"/>
          <p:cNvSpPr txBox="1">
            <a:spLocks/>
          </p:cNvSpPr>
          <p:nvPr/>
        </p:nvSpPr>
        <p:spPr bwMode="auto">
          <a:xfrm>
            <a:off x="1082675" y="1789113"/>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685800" indent="-22860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defTabSz="914400" eaLnBrk="1" hangingPunct="1">
              <a:spcBef>
                <a:spcPts val="1000"/>
              </a:spcBef>
              <a:buClrTx/>
              <a:buSzTx/>
              <a:buFont typeface="Arial" pitchFamily="34" charset="0"/>
              <a:buNone/>
            </a:pPr>
            <a:endParaRPr lang="en-US" altLang="en-US" sz="2800">
              <a:solidFill>
                <a:schemeClr val="tx1"/>
              </a:solidFill>
            </a:endParaRPr>
          </a:p>
        </p:txBody>
      </p:sp>
      <p:pic>
        <p:nvPicPr>
          <p:cNvPr id="8198"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579563"/>
            <a:ext cx="10515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3538" y="381000"/>
            <a:ext cx="3702050" cy="6099175"/>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7" name="TextBox 6"/>
          <p:cNvSpPr txBox="1">
            <a:spLocks noChangeArrowheads="1"/>
          </p:cNvSpPr>
          <p:nvPr/>
        </p:nvSpPr>
        <p:spPr bwMode="auto">
          <a:xfrm>
            <a:off x="984250" y="2693988"/>
            <a:ext cx="321468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3200" b="1">
                <a:solidFill>
                  <a:schemeClr val="tx1"/>
                </a:solidFill>
                <a:latin typeface="Arial Rounded MT Bold" pitchFamily="34" charset="0"/>
              </a:rPr>
              <a:t>CONTENT</a:t>
            </a:r>
            <a:r>
              <a:rPr lang="en-US" altLang="en-US" sz="3200" b="1">
                <a:solidFill>
                  <a:schemeClr val="bg1"/>
                </a:solidFill>
                <a:latin typeface="Arial Rounded MT Bold" pitchFamily="34" charset="0"/>
              </a:rPr>
              <a:t> </a:t>
            </a:r>
          </a:p>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endParaRPr lang="en-IN" altLang="en-US" sz="3200" b="1">
              <a:solidFill>
                <a:schemeClr val="bg1"/>
              </a:solidFill>
              <a:latin typeface="Arial Rounded MT Bold" pitchFamily="34" charset="0"/>
            </a:endParaRPr>
          </a:p>
        </p:txBody>
      </p:sp>
      <p:sp>
        <p:nvSpPr>
          <p:cNvPr id="9220" name="TextBox 7"/>
          <p:cNvSpPr txBox="1">
            <a:spLocks noChangeArrowheads="1"/>
          </p:cNvSpPr>
          <p:nvPr/>
        </p:nvSpPr>
        <p:spPr bwMode="auto">
          <a:xfrm>
            <a:off x="1173163" y="3063875"/>
            <a:ext cx="32131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p>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endParaRPr lang="en-IN" altLang="en-US" sz="3200" b="1">
              <a:solidFill>
                <a:schemeClr val="bg1"/>
              </a:solidFill>
              <a:latin typeface="Arial Rounded MT Bold" pitchFamily="34" charset="0"/>
            </a:endParaRPr>
          </a:p>
        </p:txBody>
      </p:sp>
      <p:sp>
        <p:nvSpPr>
          <p:cNvPr id="12" name="Rectangle 11"/>
          <p:cNvSpPr/>
          <p:nvPr/>
        </p:nvSpPr>
        <p:spPr>
          <a:xfrm>
            <a:off x="4206875" y="2543175"/>
            <a:ext cx="3233738" cy="731838"/>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US" sz="2400" b="1" dirty="0">
                <a:solidFill>
                  <a:schemeClr val="tx1"/>
                </a:solidFill>
              </a:rPr>
              <a:t>User defined Function and its types</a:t>
            </a:r>
            <a:endParaRPr lang="en-IN" sz="2400" b="1" dirty="0">
              <a:solidFill>
                <a:schemeClr val="tx1"/>
              </a:solidFill>
            </a:endParaRPr>
          </a:p>
        </p:txBody>
      </p:sp>
      <p:sp>
        <p:nvSpPr>
          <p:cNvPr id="13" name="Rectangle 12"/>
          <p:cNvSpPr/>
          <p:nvPr/>
        </p:nvSpPr>
        <p:spPr>
          <a:xfrm>
            <a:off x="9585325" y="4908550"/>
            <a:ext cx="2357438" cy="665163"/>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IN" sz="2400" b="1" dirty="0">
                <a:solidFill>
                  <a:schemeClr val="tx1"/>
                </a:solidFill>
              </a:rPr>
              <a:t>Examples</a:t>
            </a:r>
          </a:p>
        </p:txBody>
      </p:sp>
      <p:sp>
        <p:nvSpPr>
          <p:cNvPr id="14" name="Rectangle 13"/>
          <p:cNvSpPr/>
          <p:nvPr/>
        </p:nvSpPr>
        <p:spPr>
          <a:xfrm>
            <a:off x="5780088" y="3352800"/>
            <a:ext cx="3006725" cy="741363"/>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2400" b="1" dirty="0"/>
              <a:t>parameters types, parameter passing </a:t>
            </a:r>
          </a:p>
        </p:txBody>
      </p:sp>
      <p:sp>
        <p:nvSpPr>
          <p:cNvPr id="15" name="Rectangle 14"/>
          <p:cNvSpPr/>
          <p:nvPr/>
        </p:nvSpPr>
        <p:spPr>
          <a:xfrm>
            <a:off x="7740650" y="4171950"/>
            <a:ext cx="2738438" cy="641350"/>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US" sz="2400" b="1" dirty="0"/>
              <a:t>calling a function </a:t>
            </a:r>
            <a:endParaRPr lang="en-IN" sz="2400" b="1" dirty="0">
              <a:solidFill>
                <a:schemeClr val="tx1">
                  <a:lumMod val="65000"/>
                  <a:lumOff val="35000"/>
                </a:schemeClr>
              </a:solidFill>
            </a:endParaRPr>
          </a:p>
        </p:txBody>
      </p:sp>
      <p:pic>
        <p:nvPicPr>
          <p:cNvPr id="9225" name="Picture 1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Elbow Connector 20"/>
          <p:cNvCxnSpPr/>
          <p:nvPr/>
        </p:nvCxnSpPr>
        <p:spPr>
          <a:xfrm>
            <a:off x="5024438" y="3311525"/>
            <a:ext cx="703262" cy="5984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hape 22"/>
          <p:cNvCxnSpPr>
            <a:stCxn id="14" idx="2"/>
            <a:endCxn id="15" idx="1"/>
          </p:cNvCxnSpPr>
          <p:nvPr/>
        </p:nvCxnSpPr>
        <p:spPr>
          <a:xfrm rot="16200000" flipH="1">
            <a:off x="7312819" y="4064794"/>
            <a:ext cx="398462" cy="4572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hape 24"/>
          <p:cNvCxnSpPr>
            <a:stCxn id="15" idx="2"/>
            <a:endCxn id="13" idx="1"/>
          </p:cNvCxnSpPr>
          <p:nvPr/>
        </p:nvCxnSpPr>
        <p:spPr>
          <a:xfrm rot="16200000" flipH="1">
            <a:off x="9134475" y="4789488"/>
            <a:ext cx="427038" cy="47466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9230" name="Slide Number Placeholder 1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F67855B8-2818-43F6-A4BC-D54B8359902D}" type="slidenum">
              <a:rPr lang="en-US" altLang="en-US" sz="1200"/>
              <a:pPr>
                <a:lnSpc>
                  <a:spcPct val="100000"/>
                </a:lnSpc>
                <a:spcBef>
                  <a:spcPct val="0"/>
                </a:spcBef>
                <a:buClrTx/>
                <a:buSzTx/>
                <a:buFontTx/>
                <a:buNone/>
              </a:pPr>
              <a:t>5</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12"/>
                                        </p:tgtEl>
                                        <p:attrNameLst>
                                          <p:attrName>r</p:attrName>
                                        </p:attrNameLst>
                                      </p:cBhvr>
                                    </p:animRot>
                                    <p:animRot by="-240000">
                                      <p:cBhvr>
                                        <p:cTn id="14" dur="200" fill="hold">
                                          <p:stCondLst>
                                            <p:cond delay="200"/>
                                          </p:stCondLst>
                                        </p:cTn>
                                        <p:tgtEl>
                                          <p:spTgt spid="12"/>
                                        </p:tgtEl>
                                        <p:attrNameLst>
                                          <p:attrName>r</p:attrName>
                                        </p:attrNameLst>
                                      </p:cBhvr>
                                    </p:animRot>
                                    <p:animRot by="240000">
                                      <p:cBhvr>
                                        <p:cTn id="15" dur="200" fill="hold">
                                          <p:stCondLst>
                                            <p:cond delay="400"/>
                                          </p:stCondLst>
                                        </p:cTn>
                                        <p:tgtEl>
                                          <p:spTgt spid="12"/>
                                        </p:tgtEl>
                                        <p:attrNameLst>
                                          <p:attrName>r</p:attrName>
                                        </p:attrNameLst>
                                      </p:cBhvr>
                                    </p:animRot>
                                    <p:animRot by="-240000">
                                      <p:cBhvr>
                                        <p:cTn id="16" dur="200" fill="hold">
                                          <p:stCondLst>
                                            <p:cond delay="600"/>
                                          </p:stCondLst>
                                        </p:cTn>
                                        <p:tgtEl>
                                          <p:spTgt spid="12"/>
                                        </p:tgtEl>
                                        <p:attrNameLst>
                                          <p:attrName>r</p:attrName>
                                        </p:attrNameLst>
                                      </p:cBhvr>
                                    </p:animRot>
                                    <p:animRot by="120000">
                                      <p:cBhvr>
                                        <p:cTn id="17" dur="200" fill="hold">
                                          <p:stCondLst>
                                            <p:cond delay="800"/>
                                          </p:stCondLst>
                                        </p:cTn>
                                        <p:tgtEl>
                                          <p:spTgt spid="12"/>
                                        </p:tgtEl>
                                        <p:attrNameLst>
                                          <p:attrName>r</p:attrName>
                                        </p:attrNameLst>
                                      </p:cBhvr>
                                    </p:animRot>
                                  </p:childTnLst>
                                </p:cTn>
                              </p:par>
                            </p:childTnLst>
                          </p:cTn>
                        </p:par>
                      </p:childTnLst>
                    </p:cTn>
                  </p:par>
                  <p:par>
                    <p:cTn id="18" fill="hold" nodeType="clickPar">
                      <p:stCondLst>
                        <p:cond delay="indefinite"/>
                      </p:stCondLst>
                      <p:childTnLst>
                        <p:par>
                          <p:cTn id="19" fill="hold" nodeType="withGroup">
                            <p:stCondLst>
                              <p:cond delay="0"/>
                            </p:stCondLst>
                            <p:childTnLst>
                              <p:par>
                                <p:cTn id="20" presetID="32" presetClass="emph" presetSubtype="0" fill="hold" grpId="0" nodeType="clickEffect">
                                  <p:stCondLst>
                                    <p:cond delay="0"/>
                                  </p:stCondLst>
                                  <p:childTnLst>
                                    <p:animRot by="120000">
                                      <p:cBhvr>
                                        <p:cTn id="21" dur="100" fill="hold">
                                          <p:stCondLst>
                                            <p:cond delay="0"/>
                                          </p:stCondLst>
                                        </p:cTn>
                                        <p:tgtEl>
                                          <p:spTgt spid="14"/>
                                        </p:tgtEl>
                                        <p:attrNameLst>
                                          <p:attrName>r</p:attrName>
                                        </p:attrNameLst>
                                      </p:cBhvr>
                                    </p:animRot>
                                    <p:animRot by="-240000">
                                      <p:cBhvr>
                                        <p:cTn id="22" dur="200" fill="hold">
                                          <p:stCondLst>
                                            <p:cond delay="200"/>
                                          </p:stCondLst>
                                        </p:cTn>
                                        <p:tgtEl>
                                          <p:spTgt spid="14"/>
                                        </p:tgtEl>
                                        <p:attrNameLst>
                                          <p:attrName>r</p:attrName>
                                        </p:attrNameLst>
                                      </p:cBhvr>
                                    </p:animRot>
                                    <p:animRot by="240000">
                                      <p:cBhvr>
                                        <p:cTn id="23" dur="200" fill="hold">
                                          <p:stCondLst>
                                            <p:cond delay="400"/>
                                          </p:stCondLst>
                                        </p:cTn>
                                        <p:tgtEl>
                                          <p:spTgt spid="14"/>
                                        </p:tgtEl>
                                        <p:attrNameLst>
                                          <p:attrName>r</p:attrName>
                                        </p:attrNameLst>
                                      </p:cBhvr>
                                    </p:animRot>
                                    <p:animRot by="-240000">
                                      <p:cBhvr>
                                        <p:cTn id="24" dur="200" fill="hold">
                                          <p:stCondLst>
                                            <p:cond delay="600"/>
                                          </p:stCondLst>
                                        </p:cTn>
                                        <p:tgtEl>
                                          <p:spTgt spid="14"/>
                                        </p:tgtEl>
                                        <p:attrNameLst>
                                          <p:attrName>r</p:attrName>
                                        </p:attrNameLst>
                                      </p:cBhvr>
                                    </p:animRot>
                                    <p:animRot by="120000">
                                      <p:cBhvr>
                                        <p:cTn id="25" dur="200" fill="hold">
                                          <p:stCondLst>
                                            <p:cond delay="800"/>
                                          </p:stCondLst>
                                        </p:cTn>
                                        <p:tgtEl>
                                          <p:spTgt spid="14"/>
                                        </p:tgtEl>
                                        <p:attrNameLst>
                                          <p:attrName>r</p:attrName>
                                        </p:attrNameLst>
                                      </p:cBhvr>
                                    </p:animRot>
                                  </p:childTnLst>
                                </p:cTn>
                              </p:par>
                            </p:childTnLst>
                          </p:cTn>
                        </p:par>
                      </p:childTnLst>
                    </p:cTn>
                  </p:par>
                  <p:par>
                    <p:cTn id="26" fill="hold" nodeType="clickPar">
                      <p:stCondLst>
                        <p:cond delay="indefinite"/>
                      </p:stCondLst>
                      <p:childTnLst>
                        <p:par>
                          <p:cTn id="27" fill="hold" nodeType="withGroup">
                            <p:stCondLst>
                              <p:cond delay="0"/>
                            </p:stCondLst>
                            <p:childTnLst>
                              <p:par>
                                <p:cTn id="28" presetID="32" presetClass="emph" presetSubtype="0" fill="hold" grpId="0" nodeType="clickEffect">
                                  <p:stCondLst>
                                    <p:cond delay="0"/>
                                  </p:stCondLst>
                                  <p:childTnLst>
                                    <p:animRot by="120000">
                                      <p:cBhvr>
                                        <p:cTn id="29" dur="100" fill="hold">
                                          <p:stCondLst>
                                            <p:cond delay="0"/>
                                          </p:stCondLst>
                                        </p:cTn>
                                        <p:tgtEl>
                                          <p:spTgt spid="15"/>
                                        </p:tgtEl>
                                        <p:attrNameLst>
                                          <p:attrName>r</p:attrName>
                                        </p:attrNameLst>
                                      </p:cBhvr>
                                    </p:animRot>
                                    <p:animRot by="-240000">
                                      <p:cBhvr>
                                        <p:cTn id="30" dur="200" fill="hold">
                                          <p:stCondLst>
                                            <p:cond delay="200"/>
                                          </p:stCondLst>
                                        </p:cTn>
                                        <p:tgtEl>
                                          <p:spTgt spid="15"/>
                                        </p:tgtEl>
                                        <p:attrNameLst>
                                          <p:attrName>r</p:attrName>
                                        </p:attrNameLst>
                                      </p:cBhvr>
                                    </p:animRot>
                                    <p:animRot by="240000">
                                      <p:cBhvr>
                                        <p:cTn id="31" dur="200" fill="hold">
                                          <p:stCondLst>
                                            <p:cond delay="400"/>
                                          </p:stCondLst>
                                        </p:cTn>
                                        <p:tgtEl>
                                          <p:spTgt spid="15"/>
                                        </p:tgtEl>
                                        <p:attrNameLst>
                                          <p:attrName>r</p:attrName>
                                        </p:attrNameLst>
                                      </p:cBhvr>
                                    </p:animRot>
                                    <p:animRot by="-240000">
                                      <p:cBhvr>
                                        <p:cTn id="32" dur="200" fill="hold">
                                          <p:stCondLst>
                                            <p:cond delay="600"/>
                                          </p:stCondLst>
                                        </p:cTn>
                                        <p:tgtEl>
                                          <p:spTgt spid="15"/>
                                        </p:tgtEl>
                                        <p:attrNameLst>
                                          <p:attrName>r</p:attrName>
                                        </p:attrNameLst>
                                      </p:cBhvr>
                                    </p:animRot>
                                    <p:animRot by="120000">
                                      <p:cBhvr>
                                        <p:cTn id="33" dur="200" fill="hold">
                                          <p:stCondLst>
                                            <p:cond delay="800"/>
                                          </p:stCondLst>
                                        </p:cTn>
                                        <p:tgtEl>
                                          <p:spTgt spid="15"/>
                                        </p:tgtEl>
                                        <p:attrNameLst>
                                          <p:attrName>r</p:attrName>
                                        </p:attrNameLst>
                                      </p:cBhvr>
                                    </p:animRot>
                                  </p:childTnLst>
                                </p:cTn>
                              </p:par>
                            </p:childTnLst>
                          </p:cTn>
                        </p:par>
                      </p:childTnLst>
                    </p:cTn>
                  </p:par>
                  <p:par>
                    <p:cTn id="34" fill="hold" nodeType="clickPar">
                      <p:stCondLst>
                        <p:cond delay="indefinite"/>
                      </p:stCondLst>
                      <p:childTnLst>
                        <p:par>
                          <p:cTn id="35" fill="hold" nodeType="withGroup">
                            <p:stCondLst>
                              <p:cond delay="0"/>
                            </p:stCondLst>
                            <p:childTnLst>
                              <p:par>
                                <p:cTn id="36" presetID="6" presetClass="emph" presetSubtype="0" fill="hold" grpId="0" nodeType="clickEffect">
                                  <p:stCondLst>
                                    <p:cond delay="0"/>
                                  </p:stCondLst>
                                  <p:childTnLst>
                                    <p:animScale>
                                      <p:cBhvr>
                                        <p:cTn id="37" dur="2000" fill="hold"/>
                                        <p:tgtEl>
                                          <p:spTgt spid="1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82675" y="2312988"/>
            <a:ext cx="2479675" cy="2217737"/>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 name="Rectangle 2"/>
          <p:cNvSpPr/>
          <p:nvPr/>
        </p:nvSpPr>
        <p:spPr>
          <a:xfrm>
            <a:off x="4519450" y="451945"/>
            <a:ext cx="7178564" cy="5812221"/>
          </a:xfrm>
          <a:prstGeom prst="rect">
            <a:avLst/>
          </a:prstGeom>
          <a:solidFill>
            <a:srgbClr val="B8D233"/>
          </a:solidFill>
          <a:ln/>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0244" name="Rectangle 1"/>
          <p:cNvSpPr>
            <a:spLocks noChangeArrowheads="1"/>
          </p:cNvSpPr>
          <p:nvPr/>
        </p:nvSpPr>
        <p:spPr bwMode="auto">
          <a:xfrm>
            <a:off x="4813300" y="546100"/>
            <a:ext cx="6653213"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DEFINITION:</a:t>
            </a:r>
            <a:r>
              <a:rPr lang="en-US" altLang="en-US" sz="2000">
                <a:solidFill>
                  <a:schemeClr val="tx1"/>
                </a:solidFill>
                <a:latin typeface="Calibri" pitchFamily="34" charset="0"/>
                <a:ea typeface="Calibri" pitchFamily="34" charset="0"/>
                <a:cs typeface="Calibri" pitchFamily="34" charset="0"/>
              </a:rPr>
              <a:t> A large C program is divided into basic building blocks called C function. C function contains set of instructions enclosed by “{  }” which performs specific operation in a C program. Actually, Collection of these functions creates a C program.</a:t>
            </a:r>
          </a:p>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Components of a Function:</a:t>
            </a:r>
          </a:p>
          <a:p>
            <a:pPr eaLnBrk="1" hangingPunct="1">
              <a:lnSpc>
                <a:spcPct val="100000"/>
              </a:lnSpc>
              <a:spcBef>
                <a:spcPct val="0"/>
              </a:spcBef>
              <a:buClrTx/>
              <a:buSzTx/>
              <a:buFontTx/>
              <a:buNone/>
            </a:pPr>
            <a:endParaRPr lang="en-IN" altLang="en-US" sz="1400">
              <a:solidFill>
                <a:schemeClr val="tx1"/>
              </a:solidFill>
              <a:latin typeface="Arial Rounded MT Bold" pitchFamily="34" charset="0"/>
              <a:ea typeface="Calibri" pitchFamily="34" charset="0"/>
              <a:cs typeface="Times New Roman" pitchFamily="18" charset="0"/>
            </a:endParaRPr>
          </a:p>
        </p:txBody>
      </p:sp>
      <p:pic>
        <p:nvPicPr>
          <p:cNvPr id="10245" name="Picture 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1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Slide Number Placeholder 1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10F34E0E-281C-460E-8F0E-191EDC3CDBE6}" type="slidenum">
              <a:rPr lang="en-US" altLang="en-US" sz="1200"/>
              <a:pPr>
                <a:lnSpc>
                  <a:spcPct val="100000"/>
                </a:lnSpc>
                <a:spcBef>
                  <a:spcPct val="0"/>
                </a:spcBef>
                <a:buClrTx/>
                <a:buSzTx/>
                <a:buFontTx/>
                <a:buNone/>
              </a:pPr>
              <a:t>6</a:t>
            </a:fld>
            <a:endParaRPr lang="en-US" altLang="en-US" sz="1200"/>
          </a:p>
        </p:txBody>
      </p:sp>
      <p:sp>
        <p:nvSpPr>
          <p:cNvPr id="10248" name="TextBox 12"/>
          <p:cNvSpPr txBox="1">
            <a:spLocks noChangeArrowheads="1"/>
          </p:cNvSpPr>
          <p:nvPr/>
        </p:nvSpPr>
        <p:spPr bwMode="auto">
          <a:xfrm>
            <a:off x="1439863" y="2732088"/>
            <a:ext cx="16398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Calibri" pitchFamily="34" charset="0"/>
                <a:ea typeface="Calibri" pitchFamily="34" charset="0"/>
                <a:cs typeface="Calibri" pitchFamily="34" charset="0"/>
              </a:rPr>
              <a:t>User Defined Function</a:t>
            </a:r>
          </a:p>
        </p:txBody>
      </p:sp>
      <p:pic>
        <p:nvPicPr>
          <p:cNvPr id="10249" name="Picture 9" descr="function-definition-in-c-programm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4013" y="2459038"/>
            <a:ext cx="5843587"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xagon 3"/>
          <p:cNvSpPr/>
          <p:nvPr/>
        </p:nvSpPr>
        <p:spPr>
          <a:xfrm>
            <a:off x="706438" y="1997075"/>
            <a:ext cx="3297237" cy="2900363"/>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User Defined</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Function</a:t>
            </a:r>
          </a:p>
        </p:txBody>
      </p:sp>
      <p:pic>
        <p:nvPicPr>
          <p:cNvPr id="1126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2CC6D374-8033-40C6-ADA7-F5DEA9F46446}" type="slidenum">
              <a:rPr lang="en-US" altLang="en-US" sz="1200"/>
              <a:pPr>
                <a:lnSpc>
                  <a:spcPct val="100000"/>
                </a:lnSpc>
                <a:spcBef>
                  <a:spcPct val="0"/>
                </a:spcBef>
                <a:buClrTx/>
                <a:buSzTx/>
                <a:buFontTx/>
                <a:buNone/>
              </a:pPr>
              <a:t>7</a:t>
            </a:fld>
            <a:endParaRPr lang="en-US" altLang="en-US" sz="1200"/>
          </a:p>
        </p:txBody>
      </p:sp>
      <p:sp>
        <p:nvSpPr>
          <p:cNvPr id="11270" name="Rectangle 12"/>
          <p:cNvSpPr>
            <a:spLocks noChangeArrowheads="1"/>
          </p:cNvSpPr>
          <p:nvPr/>
        </p:nvSpPr>
        <p:spPr bwMode="auto">
          <a:xfrm>
            <a:off x="4583113" y="304800"/>
            <a:ext cx="7388225" cy="5848350"/>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480"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000">
              <a:solidFill>
                <a:srgbClr val="000000"/>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 </a:t>
            </a:r>
            <a:r>
              <a:rPr lang="en-US" altLang="en-US" sz="2000" b="1">
                <a:solidFill>
                  <a:schemeClr val="tx1"/>
                </a:solidFill>
                <a:latin typeface="Calibri" pitchFamily="34" charset="0"/>
                <a:ea typeface="Times New Roman" pitchFamily="18" charset="0"/>
                <a:cs typeface="Calibri" pitchFamily="34" charset="0"/>
              </a:rPr>
              <a:t>Return-type: </a:t>
            </a:r>
            <a:r>
              <a:rPr lang="en-US" altLang="en-US" sz="2000">
                <a:solidFill>
                  <a:schemeClr val="tx1"/>
                </a:solidFill>
                <a:latin typeface="Calibri" pitchFamily="34" charset="0"/>
                <a:ea typeface="Times New Roman" pitchFamily="18" charset="0"/>
                <a:cs typeface="Calibri" pitchFamily="34" charset="0"/>
              </a:rPr>
              <a:t>This specifies the data type of the value being returned by the function. A function may or may not return a value. If the function does not return a value, then the return type is void. In this case, the return value is an integer value c, which means the return type would be </a:t>
            </a:r>
            <a:r>
              <a:rPr lang="en-US" altLang="en-US" sz="2000" i="1">
                <a:solidFill>
                  <a:schemeClr val="tx1"/>
                </a:solidFill>
                <a:latin typeface="Calibri" pitchFamily="34" charset="0"/>
                <a:ea typeface="Times New Roman" pitchFamily="18" charset="0"/>
                <a:cs typeface="Calibri" pitchFamily="34" charset="0"/>
              </a:rPr>
              <a:t>int</a:t>
            </a:r>
            <a:r>
              <a:rPr lang="en-US" altLang="en-US" sz="2000">
                <a:solidFill>
                  <a:schemeClr val="tx1"/>
                </a:solidFill>
                <a:latin typeface="Calibri" pitchFamily="34" charset="0"/>
                <a:ea typeface="Times New Roman" pitchFamily="18" charset="0"/>
                <a:cs typeface="Calibri" pitchFamily="34" charset="0"/>
              </a:rPr>
              <a:t>.</a:t>
            </a:r>
          </a:p>
          <a:p>
            <a:pPr eaLnBrk="1" hangingPunct="1">
              <a:lnSpc>
                <a:spcPct val="100000"/>
              </a:lnSpc>
              <a:spcBef>
                <a:spcPct val="0"/>
              </a:spcBef>
              <a:buClrTx/>
              <a:buSzTx/>
              <a:buFontTx/>
              <a:buNone/>
            </a:pPr>
            <a:endParaRPr lang="en-US" altLang="en-US" sz="2000" b="1">
              <a:solidFill>
                <a:schemeClr val="tx1"/>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Parameter list: </a:t>
            </a:r>
            <a:r>
              <a:rPr lang="en-US" altLang="en-US" sz="2000">
                <a:solidFill>
                  <a:schemeClr val="tx1"/>
                </a:solidFill>
                <a:latin typeface="Calibri" pitchFamily="34" charset="0"/>
                <a:ea typeface="Times New Roman" pitchFamily="18" charset="0"/>
                <a:cs typeface="Calibri" pitchFamily="34" charset="0"/>
              </a:rPr>
              <a:t>The list of formal parameters being passed onto the function. In this case, there are two parameters of type </a:t>
            </a:r>
            <a:r>
              <a:rPr lang="en-US" altLang="en-US" sz="2000" i="1">
                <a:solidFill>
                  <a:schemeClr val="tx1"/>
                </a:solidFill>
                <a:latin typeface="Calibri" pitchFamily="34" charset="0"/>
                <a:ea typeface="Times New Roman" pitchFamily="18" charset="0"/>
                <a:cs typeface="Calibri" pitchFamily="34" charset="0"/>
              </a:rPr>
              <a:t>int</a:t>
            </a:r>
            <a:r>
              <a:rPr lang="en-US" altLang="en-US" sz="2000">
                <a:solidFill>
                  <a:schemeClr val="tx1"/>
                </a:solidFill>
                <a:latin typeface="Calibri" pitchFamily="34" charset="0"/>
                <a:ea typeface="Times New Roman" pitchFamily="18" charset="0"/>
                <a:cs typeface="Calibri" pitchFamily="34" charset="0"/>
              </a:rPr>
              <a:t> passed to the function.</a:t>
            </a:r>
          </a:p>
          <a:p>
            <a:pPr eaLnBrk="1" hangingPunct="1">
              <a:lnSpc>
                <a:spcPct val="100000"/>
              </a:lnSpc>
              <a:spcBef>
                <a:spcPct val="0"/>
              </a:spcBef>
              <a:buClrTx/>
              <a:buSzTx/>
              <a:buFontTx/>
              <a:buNone/>
            </a:pPr>
            <a:endParaRPr lang="en-US" altLang="en-US" sz="2000" b="1">
              <a:solidFill>
                <a:schemeClr val="tx1"/>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Local variables or local declarations: </a:t>
            </a:r>
            <a:r>
              <a:rPr lang="en-US" altLang="en-US" sz="2000">
                <a:solidFill>
                  <a:schemeClr val="tx1"/>
                </a:solidFill>
                <a:latin typeface="Calibri" pitchFamily="34" charset="0"/>
                <a:ea typeface="Times New Roman" pitchFamily="18" charset="0"/>
                <a:cs typeface="Calibri" pitchFamily="34" charset="0"/>
              </a:rPr>
              <a:t>The variables that are declared inside the function are called local variables. The scope of these variables lies within the function and they are not accessible outside the function.</a:t>
            </a:r>
          </a:p>
          <a:p>
            <a:pPr eaLnBrk="1" hangingPunct="1">
              <a:lnSpc>
                <a:spcPct val="100000"/>
              </a:lnSpc>
              <a:spcBef>
                <a:spcPct val="0"/>
              </a:spcBef>
              <a:buClrTx/>
              <a:buSzTx/>
              <a:buFontTx/>
              <a:buNone/>
            </a:pPr>
            <a:endParaRPr lang="en-US" altLang="en-US" sz="2000" b="1">
              <a:solidFill>
                <a:schemeClr val="tx1"/>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Function body: </a:t>
            </a:r>
            <a:r>
              <a:rPr lang="en-US" altLang="en-US" sz="2000">
                <a:solidFill>
                  <a:schemeClr val="tx1"/>
                </a:solidFill>
                <a:latin typeface="Calibri" pitchFamily="34" charset="0"/>
                <a:ea typeface="Times New Roman" pitchFamily="18" charset="0"/>
                <a:cs typeface="Calibri" pitchFamily="34" charset="0"/>
              </a:rPr>
              <a:t>Comprised of everything inside the curly brackets { and } following the return type, function name and the parameter list.</a:t>
            </a:r>
          </a:p>
          <a:p>
            <a:pPr eaLnBrk="1" hangingPunct="1">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24856" y="420414"/>
            <a:ext cx="7325710" cy="605395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291"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2292" name="TextBox 5"/>
          <p:cNvSpPr txBox="1">
            <a:spLocks noChangeArrowheads="1"/>
          </p:cNvSpPr>
          <p:nvPr/>
        </p:nvSpPr>
        <p:spPr bwMode="auto">
          <a:xfrm>
            <a:off x="935038" y="2774950"/>
            <a:ext cx="2795587" cy="954088"/>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IN" altLang="en-US" sz="2800" b="1">
                <a:solidFill>
                  <a:schemeClr val="tx1"/>
                </a:solidFill>
                <a:latin typeface="Calibri" pitchFamily="34" charset="0"/>
                <a:ea typeface="Calibri" pitchFamily="34" charset="0"/>
                <a:cs typeface="Calibri" pitchFamily="34" charset="0"/>
              </a:rPr>
              <a:t>User Defined</a:t>
            </a:r>
          </a:p>
          <a:p>
            <a:pPr algn="ctr" eaLnBrk="1" hangingPunct="1">
              <a:lnSpc>
                <a:spcPct val="100000"/>
              </a:lnSpc>
              <a:spcBef>
                <a:spcPct val="0"/>
              </a:spcBef>
              <a:buClrTx/>
              <a:buSzTx/>
              <a:buFontTx/>
              <a:buNone/>
            </a:pPr>
            <a:r>
              <a:rPr lang="en-IN" altLang="en-US" sz="2800" b="1">
                <a:solidFill>
                  <a:schemeClr val="tx1"/>
                </a:solidFill>
                <a:latin typeface="Calibri" pitchFamily="34" charset="0"/>
                <a:ea typeface="Calibri" pitchFamily="34" charset="0"/>
                <a:cs typeface="Calibri" pitchFamily="34" charset="0"/>
              </a:rPr>
              <a:t>Function</a:t>
            </a:r>
          </a:p>
        </p:txBody>
      </p:sp>
      <p:pic>
        <p:nvPicPr>
          <p:cNvPr id="12293"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4EE33090-C662-4233-A5D2-28DC34AEF57F}" type="slidenum">
              <a:rPr lang="en-US" altLang="en-US" sz="1200"/>
              <a:pPr>
                <a:lnSpc>
                  <a:spcPct val="100000"/>
                </a:lnSpc>
                <a:spcBef>
                  <a:spcPct val="0"/>
                </a:spcBef>
                <a:buClrTx/>
                <a:buSzTx/>
                <a:buFontTx/>
                <a:buNone/>
              </a:pPr>
              <a:t>8</a:t>
            </a:fld>
            <a:endParaRPr lang="en-US" altLang="en-US" sz="1200"/>
          </a:p>
        </p:txBody>
      </p:sp>
      <p:sp>
        <p:nvSpPr>
          <p:cNvPr id="12296" name="Rectangle 9"/>
          <p:cNvSpPr>
            <a:spLocks noChangeArrowheads="1"/>
          </p:cNvSpPr>
          <p:nvPr/>
        </p:nvSpPr>
        <p:spPr bwMode="auto">
          <a:xfrm>
            <a:off x="4519613" y="314325"/>
            <a:ext cx="706278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Function name: </a:t>
            </a:r>
            <a:r>
              <a:rPr lang="en-US" altLang="en-US" sz="1800">
                <a:solidFill>
                  <a:schemeClr val="tx1"/>
                </a:solidFill>
                <a:latin typeface="Calibri" pitchFamily="34" charset="0"/>
                <a:ea typeface="Calibri" pitchFamily="34" charset="0"/>
                <a:cs typeface="Calibri" pitchFamily="34" charset="0"/>
              </a:rPr>
              <a:t>The name of the function can be anything that you want. The standard is to make it something related to what it's supposed to do. The naming convention follows the same rule as that of variable naming convention in C.</a:t>
            </a:r>
          </a:p>
          <a:p>
            <a:pPr eaLnBrk="1" hangingPunct="1">
              <a:lnSpc>
                <a:spcPct val="100000"/>
              </a:lnSpc>
              <a:spcBef>
                <a:spcPct val="0"/>
              </a:spcBef>
              <a:buClrTx/>
              <a:buSzTx/>
              <a:buFontTx/>
              <a:buNone/>
            </a:pPr>
            <a:endParaRPr lang="en-US" altLang="en-US" sz="1800" b="1">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Function declaration: </a:t>
            </a:r>
            <a:r>
              <a:rPr lang="en-US" altLang="en-US" sz="1800">
                <a:solidFill>
                  <a:schemeClr val="tx1"/>
                </a:solidFill>
                <a:latin typeface="Calibri" pitchFamily="34" charset="0"/>
                <a:ea typeface="Calibri" pitchFamily="34" charset="0"/>
                <a:cs typeface="Calibri" pitchFamily="34" charset="0"/>
              </a:rPr>
              <a:t>Tells the compiler all about the function. These include the function's name, the return type, and the number and types of parameters. The body of the function having the function definition can be defined somewhere else.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 function declaration has the following parts:</a:t>
            </a:r>
          </a:p>
          <a:p>
            <a:pPr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return_type function_name( parameter list );</a:t>
            </a:r>
            <a:endParaRPr lang="en-US" altLang="en-US" sz="2000">
              <a:solidFill>
                <a:schemeClr val="tx1"/>
              </a:solidFill>
              <a:latin typeface="Calibri" pitchFamily="34" charset="0"/>
              <a:ea typeface="Times New Roman" pitchFamily="18" charset="0"/>
              <a:cs typeface="Calibri" pitchFamily="34" charset="0"/>
            </a:endParaRPr>
          </a:p>
        </p:txBody>
      </p:sp>
      <p:sp>
        <p:nvSpPr>
          <p:cNvPr id="12297" name="Rectangle 10"/>
          <p:cNvSpPr>
            <a:spLocks noChangeArrowheads="1"/>
          </p:cNvSpPr>
          <p:nvPr/>
        </p:nvSpPr>
        <p:spPr bwMode="auto">
          <a:xfrm>
            <a:off x="4572000" y="3921125"/>
            <a:ext cx="6810375" cy="21542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28528"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The example here can be declared as follows: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Char char="•"/>
            </a:pPr>
            <a:r>
              <a:rPr lang="en-US" altLang="en-US" sz="2000">
                <a:solidFill>
                  <a:srgbClr val="000000"/>
                </a:solidFill>
                <a:latin typeface="Calibri" pitchFamily="34" charset="0"/>
                <a:ea typeface="Times New Roman" pitchFamily="18" charset="0"/>
                <a:cs typeface="Calibri" pitchFamily="34" charset="0"/>
              </a:rPr>
              <a:t>int sum(int num1, int num2);</a:t>
            </a:r>
          </a:p>
          <a:p>
            <a:pPr>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Char char="•"/>
            </a:pPr>
            <a:r>
              <a:rPr lang="en-US" altLang="en-US" sz="2000">
                <a:solidFill>
                  <a:srgbClr val="000000"/>
                </a:solidFill>
                <a:latin typeface="Calibri" pitchFamily="34" charset="0"/>
                <a:ea typeface="Times New Roman" pitchFamily="18" charset="0"/>
                <a:cs typeface="Calibri" pitchFamily="34" charset="0"/>
              </a:rPr>
              <a:t>Or</a:t>
            </a:r>
          </a:p>
          <a:p>
            <a:pPr>
              <a:lnSpc>
                <a:spcPct val="100000"/>
              </a:lnSpc>
              <a:spcBef>
                <a:spcPct val="0"/>
              </a:spcBef>
              <a:buClrTx/>
              <a:buSzTx/>
              <a:buFontTx/>
              <a:buChar char="•"/>
            </a:pPr>
            <a:endParaRPr lang="en-US" altLang="en-US" sz="2000">
              <a:solidFill>
                <a:srgbClr val="000000"/>
              </a:solidFill>
              <a:latin typeface="Calibri" pitchFamily="34" charset="0"/>
              <a:ea typeface="Times New Roman" pitchFamily="18" charset="0"/>
              <a:cs typeface="Calibri" pitchFamily="34" charset="0"/>
            </a:endParaRPr>
          </a:p>
          <a:p>
            <a:pPr>
              <a:lnSpc>
                <a:spcPct val="100000"/>
              </a:lnSpc>
              <a:spcBef>
                <a:spcPct val="0"/>
              </a:spcBef>
              <a:buClrTx/>
              <a:buSzTx/>
              <a:buFontTx/>
              <a:buChar char="•"/>
            </a:pPr>
            <a:r>
              <a:rPr lang="en-US" altLang="en-US" sz="2000">
                <a:solidFill>
                  <a:srgbClr val="000000"/>
                </a:solidFill>
                <a:latin typeface="Calibri" pitchFamily="34" charset="0"/>
                <a:ea typeface="Times New Roman" pitchFamily="18" charset="0"/>
                <a:cs typeface="Calibri" pitchFamily="34" charset="0"/>
              </a:rPr>
              <a:t> return_type function_name(datatypes)</a:t>
            </a:r>
          </a:p>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int sum(int,int);</a:t>
            </a:r>
            <a:endParaRPr lang="en-US" altLang="en-US" sz="2000">
              <a:solidFill>
                <a:schemeClr val="tx1"/>
              </a:solidFill>
              <a:latin typeface="Calibri" pitchFamily="34" charset="0"/>
              <a:ea typeface="Times New Roman" pitchFamily="18" charset="0"/>
              <a:cs typeface="Calibri" pitchFamily="34" charset="0"/>
            </a:endParaRPr>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xagon 3"/>
          <p:cNvSpPr/>
          <p:nvPr/>
        </p:nvSpPr>
        <p:spPr>
          <a:xfrm>
            <a:off x="706438" y="1997075"/>
            <a:ext cx="3297237" cy="2900363"/>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Types of User Defined</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Function</a:t>
            </a:r>
          </a:p>
        </p:txBody>
      </p:sp>
      <p:pic>
        <p:nvPicPr>
          <p:cNvPr id="13315"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BBD67EF5-CB14-44F8-8D92-633668535F35}" type="slidenum">
              <a:rPr lang="en-US" altLang="en-US" sz="1200"/>
              <a:pPr>
                <a:lnSpc>
                  <a:spcPct val="100000"/>
                </a:lnSpc>
                <a:spcBef>
                  <a:spcPct val="0"/>
                </a:spcBef>
                <a:buClrTx/>
                <a:buSzTx/>
                <a:buFontTx/>
                <a:buNone/>
              </a:pPr>
              <a:t>9</a:t>
            </a:fld>
            <a:endParaRPr lang="en-US" altLang="en-US" sz="1200"/>
          </a:p>
        </p:txBody>
      </p:sp>
      <p:sp>
        <p:nvSpPr>
          <p:cNvPr id="13318" name="Rectangle 12"/>
          <p:cNvSpPr>
            <a:spLocks noChangeArrowheads="1"/>
          </p:cNvSpPr>
          <p:nvPr/>
        </p:nvSpPr>
        <p:spPr bwMode="auto">
          <a:xfrm>
            <a:off x="4583113" y="304800"/>
            <a:ext cx="7388225" cy="6154738"/>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480"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000">
              <a:solidFill>
                <a:srgbClr val="000000"/>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Arial" pitchFamily="34" charset="0"/>
                <a:ea typeface="Times New Roman" pitchFamily="18" charset="0"/>
              </a:rPr>
              <a:t>Types of user defined functions</a:t>
            </a:r>
            <a:r>
              <a:rPr lang="en-US" altLang="en-US" sz="2000">
                <a:solidFill>
                  <a:schemeClr val="tx1"/>
                </a:solidFill>
                <a:latin typeface="Arial" pitchFamily="34" charset="0"/>
                <a:ea typeface="Times New Roman" pitchFamily="18" charset="0"/>
              </a:rPr>
              <a:t>:</a:t>
            </a:r>
            <a:endParaRPr lang="en-US" altLang="en-US" sz="2000" b="1">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r>
              <a:rPr lang="en-US" altLang="en-US" sz="2000">
                <a:solidFill>
                  <a:schemeClr val="tx1"/>
                </a:solidFill>
                <a:latin typeface="Arial" pitchFamily="34" charset="0"/>
                <a:ea typeface="Times New Roman" pitchFamily="18" charset="0"/>
              </a:rPr>
              <a:t>There can be 4 different types of user-defined functions, they are:</a:t>
            </a: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r>
              <a:rPr lang="en-US" altLang="en-US" sz="2000">
                <a:solidFill>
                  <a:schemeClr val="tx1"/>
                </a:solidFill>
                <a:latin typeface="Arial" pitchFamily="34" charset="0"/>
                <a:ea typeface="Times New Roman" pitchFamily="18" charset="0"/>
              </a:rPr>
              <a:t>1. Function with no arguments and no return value.</a:t>
            </a: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r>
              <a:rPr lang="en-US" altLang="en-US" sz="2000">
                <a:solidFill>
                  <a:schemeClr val="tx1"/>
                </a:solidFill>
                <a:latin typeface="Arial" pitchFamily="34" charset="0"/>
                <a:ea typeface="Times New Roman" pitchFamily="18" charset="0"/>
              </a:rPr>
              <a:t>2. Function with no arguments and a return value</a:t>
            </a: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r>
              <a:rPr lang="en-US" altLang="en-US" sz="2000">
                <a:solidFill>
                  <a:schemeClr val="tx1"/>
                </a:solidFill>
                <a:latin typeface="Arial" pitchFamily="34" charset="0"/>
                <a:ea typeface="Times New Roman" pitchFamily="18" charset="0"/>
              </a:rPr>
              <a:t>3. Function with arguments and no return value</a:t>
            </a: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r>
              <a:rPr lang="en-US" altLang="en-US" sz="2000">
                <a:solidFill>
                  <a:schemeClr val="tx1"/>
                </a:solidFill>
                <a:latin typeface="Arial" pitchFamily="34" charset="0"/>
                <a:ea typeface="Times New Roman" pitchFamily="18" charset="0"/>
              </a:rPr>
              <a:t>4. Function with arguments and a return value</a:t>
            </a: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Arial" pitchFamily="34" charset="0"/>
              <a:ea typeface="Times New Roman" pitchFamily="18" charset="0"/>
            </a:endParaRPr>
          </a:p>
          <a:p>
            <a:pPr eaLnBrk="1" hangingPunct="1">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24856" y="262759"/>
            <a:ext cx="7325710" cy="605395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339"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4340" name="TextBox 5"/>
          <p:cNvSpPr txBox="1">
            <a:spLocks noChangeArrowheads="1"/>
          </p:cNvSpPr>
          <p:nvPr/>
        </p:nvSpPr>
        <p:spPr bwMode="auto">
          <a:xfrm>
            <a:off x="935038" y="2774950"/>
            <a:ext cx="2795587" cy="1384300"/>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Calibri" pitchFamily="34" charset="0"/>
                <a:ea typeface="Calibri" pitchFamily="34" charset="0"/>
                <a:cs typeface="Calibri" pitchFamily="34" charset="0"/>
              </a:rPr>
              <a:t>Function with no arguments and no return value</a:t>
            </a:r>
          </a:p>
        </p:txBody>
      </p:sp>
      <p:pic>
        <p:nvPicPr>
          <p:cNvPr id="1434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CF6CE251-47FF-4306-AD25-4C038FD6C9F0}" type="slidenum">
              <a:rPr lang="en-US" altLang="en-US" sz="1200"/>
              <a:pPr>
                <a:lnSpc>
                  <a:spcPct val="100000"/>
                </a:lnSpc>
                <a:spcBef>
                  <a:spcPct val="0"/>
                </a:spcBef>
                <a:buClrTx/>
                <a:buSzTx/>
                <a:buFontTx/>
                <a:buNone/>
              </a:pPr>
              <a:t>10</a:t>
            </a:fld>
            <a:endParaRPr lang="en-US" altLang="en-US" sz="1200"/>
          </a:p>
        </p:txBody>
      </p:sp>
      <p:sp>
        <p:nvSpPr>
          <p:cNvPr id="14344" name="Rectangle 9"/>
          <p:cNvSpPr>
            <a:spLocks noChangeArrowheads="1"/>
          </p:cNvSpPr>
          <p:nvPr/>
        </p:nvSpPr>
        <p:spPr bwMode="auto">
          <a:xfrm>
            <a:off x="4519613" y="314325"/>
            <a:ext cx="7062787"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Such functions can either be used to display information or they are completely dependent on user inputs.</a:t>
            </a:r>
          </a:p>
          <a:p>
            <a:pPr eaLnBrk="1" hangingPunct="1">
              <a:lnSpc>
                <a:spcPct val="100000"/>
              </a:lnSpc>
              <a:spcBef>
                <a:spcPct val="0"/>
              </a:spcBef>
              <a:buClrTx/>
              <a:buSzTx/>
              <a:buFontTx/>
              <a:buNone/>
            </a:pPr>
            <a:r>
              <a:rPr lang="en-US" altLang="en-US" sz="1600" b="1">
                <a:solidFill>
                  <a:schemeClr val="tx1"/>
                </a:solidFill>
                <a:latin typeface="Calibri" pitchFamily="34" charset="0"/>
                <a:ea typeface="Calibri" pitchFamily="34" charset="0"/>
                <a:cs typeface="Calibri" pitchFamily="34" charset="0"/>
              </a:rPr>
              <a:t>Example:</a:t>
            </a:r>
            <a:r>
              <a:rPr lang="en-US" altLang="en-US" sz="1600">
                <a:solidFill>
                  <a:schemeClr val="tx1"/>
                </a:solidFill>
                <a:latin typeface="Calibri" pitchFamily="34" charset="0"/>
                <a:ea typeface="Calibri" pitchFamily="34" charset="0"/>
                <a:cs typeface="Calibri" pitchFamily="34" charset="0"/>
              </a:rPr>
              <a:t> It takes 2 numbers as input from user, and display which is the greater number.</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#include&lt;stdio.h&gt;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void greatNum(); // function declarationint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main()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greatNum();        // function call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return 0;</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void greatNum() // function definition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int i, 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printf("Enter 2 numbers that you want to compare...");</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scanf("%d%d", &amp;i, &amp;j);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if(i &gt; 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printf("The greater number is: %d", i);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else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printf("The greater number is: %d", j);</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endParaRPr lang="en-US" altLang="en-US" sz="1600">
              <a:solidFill>
                <a:schemeClr val="tx1"/>
              </a:solidFill>
              <a:latin typeface="Calibri" pitchFamily="34" charset="0"/>
              <a:ea typeface="Times New Roman" pitchFamily="18" charset="0"/>
              <a:cs typeface="Calibri" pitchFamily="34" charset="0"/>
            </a:endParaRPr>
          </a:p>
        </p:txBody>
      </p:sp>
      <p:pic>
        <p:nvPicPr>
          <p:cNvPr id="1434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6075" y="1944688"/>
            <a:ext cx="36893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24856" y="262759"/>
            <a:ext cx="7325710" cy="605395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5363"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5364" name="TextBox 5"/>
          <p:cNvSpPr txBox="1">
            <a:spLocks noChangeArrowheads="1"/>
          </p:cNvSpPr>
          <p:nvPr/>
        </p:nvSpPr>
        <p:spPr bwMode="auto">
          <a:xfrm>
            <a:off x="935038" y="2774950"/>
            <a:ext cx="2795587" cy="2246313"/>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Arial" pitchFamily="34" charset="0"/>
              </a:rPr>
              <a:t>Function with no arguments and a return value</a:t>
            </a:r>
          </a:p>
          <a:p>
            <a:pPr algn="ctr" eaLnBrk="1" hangingPunct="1">
              <a:lnSpc>
                <a:spcPct val="100000"/>
              </a:lnSpc>
              <a:spcBef>
                <a:spcPct val="0"/>
              </a:spcBef>
              <a:buClrTx/>
              <a:buSzTx/>
              <a:buFontTx/>
              <a:buNone/>
            </a:pPr>
            <a:endParaRPr lang="en-IN" altLang="en-US" sz="2800" b="1">
              <a:solidFill>
                <a:schemeClr val="tx1"/>
              </a:solidFill>
              <a:latin typeface="Calibri" pitchFamily="34" charset="0"/>
              <a:ea typeface="Calibri" pitchFamily="34" charset="0"/>
              <a:cs typeface="Calibri" pitchFamily="34" charset="0"/>
            </a:endParaRPr>
          </a:p>
        </p:txBody>
      </p:sp>
      <p:pic>
        <p:nvPicPr>
          <p:cNvPr id="15365"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4BE6B0BF-6FEB-4625-A8A4-DD2CBAB3CE61}" type="slidenum">
              <a:rPr lang="en-US" altLang="en-US" sz="1200"/>
              <a:pPr>
                <a:lnSpc>
                  <a:spcPct val="100000"/>
                </a:lnSpc>
                <a:spcBef>
                  <a:spcPct val="0"/>
                </a:spcBef>
                <a:buClrTx/>
                <a:buSzTx/>
                <a:buFontTx/>
                <a:buNone/>
              </a:pPr>
              <a:t>11</a:t>
            </a:fld>
            <a:endParaRPr lang="en-US" altLang="en-US" sz="1200"/>
          </a:p>
        </p:txBody>
      </p:sp>
      <p:sp>
        <p:nvSpPr>
          <p:cNvPr id="15368" name="TextBox 11"/>
          <p:cNvSpPr txBox="1">
            <a:spLocks noChangeArrowheads="1"/>
          </p:cNvSpPr>
          <p:nvPr/>
        </p:nvSpPr>
        <p:spPr bwMode="auto">
          <a:xfrm>
            <a:off x="4551363" y="377825"/>
            <a:ext cx="7094537"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We have modified the above example to make the function greatNum() return the number which is greater amongst the 2 input numbers.</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#include&lt;stdio.h&gt;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int greatNum();       // function declaration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int main()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int result;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result = greatNum();        // function call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printf("The greater number is: %d", result);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return 0;}int greatNum()        // function definition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int i, j, greaterNum;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printf("Enter 2 numbers that you want to compare...");</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scanf("%d%d", &amp;i, &amp;j);    if(i &gt; 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greaterNum = i;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else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greaterNum = 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 returning the result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return greaterNum;</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p:txBody>
      </p:sp>
      <p:pic>
        <p:nvPicPr>
          <p:cNvPr id="1536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2388" y="4330700"/>
            <a:ext cx="395922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24856" y="262759"/>
            <a:ext cx="7325710" cy="605395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6387"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6388" name="TextBox 5"/>
          <p:cNvSpPr txBox="1">
            <a:spLocks noChangeArrowheads="1"/>
          </p:cNvSpPr>
          <p:nvPr/>
        </p:nvSpPr>
        <p:spPr bwMode="auto">
          <a:xfrm>
            <a:off x="935038" y="2774950"/>
            <a:ext cx="2795587" cy="1816100"/>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Arial" pitchFamily="34" charset="0"/>
              </a:rPr>
              <a:t>Function with arguments and no return value</a:t>
            </a:r>
          </a:p>
          <a:p>
            <a:pPr algn="ctr" eaLnBrk="1" hangingPunct="1">
              <a:lnSpc>
                <a:spcPct val="100000"/>
              </a:lnSpc>
              <a:spcBef>
                <a:spcPct val="0"/>
              </a:spcBef>
              <a:buClrTx/>
              <a:buSzTx/>
              <a:buFontTx/>
              <a:buNone/>
            </a:pPr>
            <a:endParaRPr lang="en-IN" altLang="en-US" sz="2800" b="1">
              <a:solidFill>
                <a:schemeClr val="tx1"/>
              </a:solidFill>
              <a:latin typeface="Calibri" pitchFamily="34" charset="0"/>
              <a:ea typeface="Calibri" pitchFamily="34" charset="0"/>
              <a:cs typeface="Calibri" pitchFamily="34" charset="0"/>
            </a:endParaRPr>
          </a:p>
        </p:txBody>
      </p:sp>
      <p:pic>
        <p:nvPicPr>
          <p:cNvPr id="16389"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334EFE89-7A32-400E-88C2-0405A3E250C8}" type="slidenum">
              <a:rPr lang="en-US" altLang="en-US" sz="1200"/>
              <a:pPr>
                <a:lnSpc>
                  <a:spcPct val="100000"/>
                </a:lnSpc>
                <a:spcBef>
                  <a:spcPct val="0"/>
                </a:spcBef>
                <a:buClrTx/>
                <a:buSzTx/>
                <a:buFontTx/>
                <a:buNone/>
              </a:pPr>
              <a:t>12</a:t>
            </a:fld>
            <a:endParaRPr lang="en-US" altLang="en-US" sz="1200"/>
          </a:p>
        </p:txBody>
      </p:sp>
      <p:sp>
        <p:nvSpPr>
          <p:cNvPr id="16392" name="Rectangle 9"/>
          <p:cNvSpPr>
            <a:spLocks noChangeArrowheads="1"/>
          </p:cNvSpPr>
          <p:nvPr/>
        </p:nvSpPr>
        <p:spPr bwMode="auto">
          <a:xfrm>
            <a:off x="4519613" y="314325"/>
            <a:ext cx="7062787" cy="600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We are using the same function as example again and again, to demonstrate that to solve a problem there can be many different ways.</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This time, we have modified the above example to make the function greatNum() take two int values as arguments, but it will not be returning anything.</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#include&lt;stdio.h&gt;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void greatNum(int a, int b);       // function declarationint main()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int i, j;</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printf("Enter 2 numbers that you want to compare...");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scanf("%d%d", &amp;i, &amp;j);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greatNum(i, j);        // function call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return 0;</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void greatNum(int x, int y)        // function definition</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if(x &gt; y)</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printf("The greater number is: %d", x);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else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printf("The greater number is: %d", y);   </a:t>
            </a:r>
          </a:p>
          <a:p>
            <a:pPr eaLnBrk="1" hangingPunct="1">
              <a:lnSpc>
                <a:spcPct val="100000"/>
              </a:lnSpc>
              <a:spcBef>
                <a:spcPct val="0"/>
              </a:spcBef>
              <a:buClrTx/>
              <a:buSzTx/>
              <a:buFontTx/>
              <a:buNone/>
            </a:pPr>
            <a:r>
              <a:rPr lang="en-US" altLang="en-US" sz="1600">
                <a:solidFill>
                  <a:schemeClr val="tx1"/>
                </a:solidFill>
                <a:latin typeface="Calibri" pitchFamily="34" charset="0"/>
                <a:ea typeface="Calibri" pitchFamily="34" charset="0"/>
                <a:cs typeface="Calibri" pitchFamily="34" charset="0"/>
              </a:rPr>
              <a:t> }</a:t>
            </a:r>
            <a:endParaRPr lang="en-US" altLang="en-US" sz="1600">
              <a:solidFill>
                <a:schemeClr val="tx1"/>
              </a:solidFill>
              <a:latin typeface="Calibri" pitchFamily="34" charset="0"/>
              <a:ea typeface="Times New Roman" pitchFamily="18" charset="0"/>
              <a:cs typeface="Calibri" pitchFamily="34" charset="0"/>
            </a:endParaRPr>
          </a:p>
        </p:txBody>
      </p:sp>
      <p:pic>
        <p:nvPicPr>
          <p:cNvPr id="16393"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1988" y="4340225"/>
            <a:ext cx="3416300" cy="172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88523" y="262759"/>
            <a:ext cx="7830207" cy="605395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7411"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7412" name="TextBox 5"/>
          <p:cNvSpPr txBox="1">
            <a:spLocks noChangeArrowheads="1"/>
          </p:cNvSpPr>
          <p:nvPr/>
        </p:nvSpPr>
        <p:spPr bwMode="auto">
          <a:xfrm>
            <a:off x="935038" y="2774950"/>
            <a:ext cx="2795587" cy="1816100"/>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Arial" pitchFamily="34" charset="0"/>
              </a:rPr>
              <a:t>Function with arguments and a return value</a:t>
            </a:r>
          </a:p>
          <a:p>
            <a:pPr algn="ctr" eaLnBrk="1" hangingPunct="1">
              <a:lnSpc>
                <a:spcPct val="100000"/>
              </a:lnSpc>
              <a:spcBef>
                <a:spcPct val="0"/>
              </a:spcBef>
              <a:buClrTx/>
              <a:buSzTx/>
              <a:buFontTx/>
              <a:buNone/>
            </a:pPr>
            <a:endParaRPr lang="en-IN" altLang="en-US" sz="2800" b="1">
              <a:solidFill>
                <a:schemeClr val="tx1"/>
              </a:solidFill>
              <a:latin typeface="Calibri" pitchFamily="34" charset="0"/>
              <a:ea typeface="Calibri" pitchFamily="34" charset="0"/>
              <a:cs typeface="Calibri" pitchFamily="34" charset="0"/>
            </a:endParaRPr>
          </a:p>
        </p:txBody>
      </p:sp>
      <p:pic>
        <p:nvPicPr>
          <p:cNvPr id="17413"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F18EC929-1A5F-40BF-A159-0B2CCE0695F3}" type="slidenum">
              <a:rPr lang="en-US" altLang="en-US" sz="1200"/>
              <a:pPr>
                <a:lnSpc>
                  <a:spcPct val="100000"/>
                </a:lnSpc>
                <a:spcBef>
                  <a:spcPct val="0"/>
                </a:spcBef>
                <a:buClrTx/>
                <a:buSzTx/>
                <a:buFontTx/>
                <a:buNone/>
              </a:pPr>
              <a:t>13</a:t>
            </a:fld>
            <a:endParaRPr lang="en-US" altLang="en-US" sz="1200"/>
          </a:p>
        </p:txBody>
      </p:sp>
      <p:sp>
        <p:nvSpPr>
          <p:cNvPr id="17416" name="Rectangle 9"/>
          <p:cNvSpPr>
            <a:spLocks noChangeArrowheads="1"/>
          </p:cNvSpPr>
          <p:nvPr/>
        </p:nvSpPr>
        <p:spPr bwMode="auto">
          <a:xfrm>
            <a:off x="4203700" y="314325"/>
            <a:ext cx="765175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It makes the function completely independent of inputs and outputs, and only the logic is defined inside the function body.</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#include&lt;stdio.h&gt;</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int greatNum(int a, int b);       // function declaration</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int main()</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int i, j, result;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printf("Enter 2 numbers that you want to compare...");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scanf("%d%d", &amp;i, &amp;j);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result = greatNum(i, j); // function call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printf("The greater number is: %d", result);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return 0;</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int greatNum(int x, int y)        // function definition</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if(x &gt; y)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return x;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else {        return y;    }</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a:t>
            </a:r>
            <a:endParaRPr lang="en-US" altLang="en-US" sz="2000">
              <a:solidFill>
                <a:schemeClr val="tx1"/>
              </a:solidFill>
              <a:latin typeface="Calibri" pitchFamily="34" charset="0"/>
              <a:ea typeface="Times New Roman" pitchFamily="18" charset="0"/>
              <a:cs typeface="Calibri" pitchFamily="34" charset="0"/>
            </a:endParaRPr>
          </a:p>
        </p:txBody>
      </p:sp>
      <p:pic>
        <p:nvPicPr>
          <p:cNvPr id="17417"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1750" y="4613275"/>
            <a:ext cx="415925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EF8CEC5B-1EFB-4B82-BE65-E8D0137F11B6}" type="slidenum">
              <a:rPr lang="en-US" altLang="en-US" sz="1200"/>
              <a:pPr>
                <a:lnSpc>
                  <a:spcPct val="100000"/>
                </a:lnSpc>
                <a:spcBef>
                  <a:spcPct val="0"/>
                </a:spcBef>
                <a:buClrTx/>
                <a:buSzTx/>
                <a:buFontTx/>
                <a:buNone/>
              </a:pPr>
              <a:t>14</a:t>
            </a:fld>
            <a:endParaRPr lang="en-US" altLang="en-US" sz="1200"/>
          </a:p>
        </p:txBody>
      </p:sp>
      <p:sp>
        <p:nvSpPr>
          <p:cNvPr id="18435" name="Rectangle 9"/>
          <p:cNvSpPr>
            <a:spLocks noChangeArrowheads="1"/>
          </p:cNvSpPr>
          <p:nvPr/>
        </p:nvSpPr>
        <p:spPr bwMode="auto">
          <a:xfrm>
            <a:off x="4678363" y="252413"/>
            <a:ext cx="7113587" cy="2462212"/>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Parameter Passing Techniques in C: </a:t>
            </a:r>
            <a:r>
              <a:rPr lang="en-US" altLang="en-US" sz="2000">
                <a:solidFill>
                  <a:schemeClr val="tx1"/>
                </a:solidFill>
                <a:latin typeface="Calibri" pitchFamily="34" charset="0"/>
                <a:ea typeface="Calibri" pitchFamily="34" charset="0"/>
                <a:cs typeface="Calibri" pitchFamily="34" charset="0"/>
              </a:rPr>
              <a:t>There are different ways in which parameter </a:t>
            </a:r>
            <a:r>
              <a:rPr lang="en-US" altLang="en-US" sz="2000" b="1">
                <a:solidFill>
                  <a:schemeClr val="tx1"/>
                </a:solidFill>
                <a:latin typeface="Calibri" pitchFamily="34" charset="0"/>
                <a:ea typeface="Calibri" pitchFamily="34" charset="0"/>
                <a:cs typeface="Calibri" pitchFamily="34" charset="0"/>
              </a:rPr>
              <a:t>d</a:t>
            </a:r>
            <a:r>
              <a:rPr lang="en-US" altLang="en-US" sz="2000">
                <a:solidFill>
                  <a:schemeClr val="tx1"/>
                </a:solidFill>
                <a:latin typeface="Calibri" pitchFamily="34" charset="0"/>
                <a:ea typeface="Calibri" pitchFamily="34" charset="0"/>
                <a:cs typeface="Calibri" pitchFamily="34" charset="0"/>
              </a:rPr>
              <a:t>ata can be passed into and out of methods and functions.</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Formal Parameter :</a:t>
            </a:r>
            <a:r>
              <a:rPr lang="en-US" altLang="en-US" sz="2000">
                <a:solidFill>
                  <a:schemeClr val="tx1"/>
                </a:solidFill>
                <a:latin typeface="Calibri" pitchFamily="34" charset="0"/>
                <a:ea typeface="Calibri" pitchFamily="34" charset="0"/>
                <a:cs typeface="Calibri" pitchFamily="34" charset="0"/>
              </a:rPr>
              <a:t> A variable and its type as they appear in the prototype of the function or method.</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 Actual Parameter :</a:t>
            </a:r>
            <a:r>
              <a:rPr lang="en-US" altLang="en-US" sz="2000">
                <a:solidFill>
                  <a:schemeClr val="tx1"/>
                </a:solidFill>
                <a:latin typeface="Calibri" pitchFamily="34" charset="0"/>
                <a:ea typeface="Calibri" pitchFamily="34" charset="0"/>
                <a:cs typeface="Calibri" pitchFamily="34" charset="0"/>
              </a:rPr>
              <a:t> The variable or expression corresponding to a formal parameter that appears in the function or method call in the calling environment.</a:t>
            </a:r>
          </a:p>
        </p:txBody>
      </p:sp>
      <p:sp>
        <p:nvSpPr>
          <p:cNvPr id="4" name="Hexagon 3"/>
          <p:cNvSpPr/>
          <p:nvPr/>
        </p:nvSpPr>
        <p:spPr>
          <a:xfrm>
            <a:off x="706438" y="1997075"/>
            <a:ext cx="3297237" cy="2900363"/>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Passing Parameters</a:t>
            </a:r>
          </a:p>
        </p:txBody>
      </p:sp>
      <p:pic>
        <p:nvPicPr>
          <p:cNvPr id="18437" name="Picture 6" descr="C programming function arguments (actual &amp; formal argu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6775" y="2722563"/>
            <a:ext cx="7085013" cy="381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51283" y="419549"/>
            <a:ext cx="7409793" cy="5916706"/>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eaLnBrk="1" hangingPunct="1">
              <a:defRPr/>
            </a:pPr>
            <a:r>
              <a:rPr lang="en-US" sz="2000" b="1" cap="all" dirty="0">
                <a:solidFill>
                  <a:schemeClr val="tx1"/>
                </a:solidFill>
                <a:latin typeface="Calibri" pitchFamily="34" charset="0"/>
                <a:cs typeface="Calibri" pitchFamily="34" charset="0"/>
              </a:rPr>
              <a:t>EXAMPLE: Program to find square of a number</a:t>
            </a:r>
            <a:endParaRPr lang="en-US" sz="2000" b="1" dirty="0">
              <a:solidFill>
                <a:schemeClr val="tx1"/>
              </a:solidFill>
              <a:latin typeface="Calibri" pitchFamily="34" charset="0"/>
              <a:cs typeface="Calibri" pitchFamily="34" charset="0"/>
            </a:endParaRPr>
          </a:p>
          <a:p>
            <a:pPr eaLnBrk="1" hangingPunct="1">
              <a:defRPr/>
            </a:pPr>
            <a:r>
              <a:rPr lang="en-US" sz="2000" dirty="0">
                <a:solidFill>
                  <a:schemeClr val="tx1"/>
                </a:solidFill>
                <a:latin typeface="Calibri" pitchFamily="34" charset="0"/>
                <a:cs typeface="Calibri" pitchFamily="34" charset="0"/>
              </a:rPr>
              <a:t>#include&lt;stdio.h&gt;</a:t>
            </a:r>
          </a:p>
          <a:p>
            <a:pPr eaLnBrk="1" hangingPunct="1">
              <a:defRPr/>
            </a:pPr>
            <a:r>
              <a:rPr lang="en-US" sz="2000" dirty="0">
                <a:solidFill>
                  <a:schemeClr val="tx1"/>
                </a:solidFill>
                <a:latin typeface="Calibri" pitchFamily="34" charset="0"/>
                <a:cs typeface="Calibri" pitchFamily="34" charset="0"/>
              </a:rPr>
              <a:t>float square ( float x );  //function declaration                             </a:t>
            </a:r>
          </a:p>
          <a:p>
            <a:pPr eaLnBrk="1" hangingPunct="1">
              <a:defRPr/>
            </a:pPr>
            <a:r>
              <a:rPr lang="en-US" sz="2000" dirty="0">
                <a:solidFill>
                  <a:schemeClr val="tx1"/>
                </a:solidFill>
                <a:latin typeface="Calibri" pitchFamily="34" charset="0"/>
                <a:cs typeface="Calibri" pitchFamily="34" charset="0"/>
              </a:rPr>
              <a:t> int main( )               </a:t>
            </a:r>
          </a:p>
          <a:p>
            <a:pPr eaLnBrk="1" hangingPunct="1">
              <a:defRPr/>
            </a:pPr>
            <a:r>
              <a:rPr lang="en-US" sz="2000" dirty="0">
                <a:solidFill>
                  <a:schemeClr val="tx1"/>
                </a:solidFill>
                <a:latin typeface="Calibri" pitchFamily="34" charset="0"/>
                <a:cs typeface="Calibri" pitchFamily="34" charset="0"/>
              </a:rPr>
              <a:t>{</a:t>
            </a:r>
          </a:p>
          <a:p>
            <a:pPr eaLnBrk="1" hangingPunct="1">
              <a:defRPr/>
            </a:pPr>
            <a:r>
              <a:rPr lang="en-US" sz="2000" dirty="0">
                <a:solidFill>
                  <a:schemeClr val="tx1"/>
                </a:solidFill>
                <a:latin typeface="Calibri" pitchFamily="34" charset="0"/>
                <a:cs typeface="Calibri" pitchFamily="34" charset="0"/>
              </a:rPr>
              <a:t>    float m, n ;</a:t>
            </a:r>
          </a:p>
          <a:p>
            <a:pPr eaLnBrk="1" hangingPunct="1">
              <a:defRPr/>
            </a:pPr>
            <a:r>
              <a:rPr lang="en-US" sz="2000" dirty="0">
                <a:solidFill>
                  <a:schemeClr val="tx1"/>
                </a:solidFill>
                <a:latin typeface="Calibri" pitchFamily="34" charset="0"/>
                <a:cs typeface="Calibri" pitchFamily="34" charset="0"/>
              </a:rPr>
              <a:t>    printf ( "\</a:t>
            </a:r>
            <a:r>
              <a:rPr lang="en-US" sz="2000" dirty="0" err="1">
                <a:solidFill>
                  <a:schemeClr val="tx1"/>
                </a:solidFill>
                <a:latin typeface="Calibri" pitchFamily="34" charset="0"/>
                <a:cs typeface="Calibri" pitchFamily="34" charset="0"/>
              </a:rPr>
              <a:t>nEnter</a:t>
            </a:r>
            <a:r>
              <a:rPr lang="en-US" sz="2000" dirty="0">
                <a:solidFill>
                  <a:schemeClr val="tx1"/>
                </a:solidFill>
                <a:latin typeface="Calibri" pitchFamily="34" charset="0"/>
                <a:cs typeface="Calibri" pitchFamily="34" charset="0"/>
              </a:rPr>
              <a:t> some number for finding square \n");</a:t>
            </a:r>
          </a:p>
          <a:p>
            <a:pPr eaLnBrk="1" hangingPunct="1">
              <a:defRPr/>
            </a:pPr>
            <a:r>
              <a:rPr lang="en-US" sz="2000" dirty="0">
                <a:solidFill>
                  <a:schemeClr val="tx1"/>
                </a:solidFill>
                <a:latin typeface="Calibri" pitchFamily="34" charset="0"/>
                <a:cs typeface="Calibri" pitchFamily="34" charset="0"/>
              </a:rPr>
              <a:t>    scanf ( "%f", &amp;m ) ;</a:t>
            </a:r>
          </a:p>
          <a:p>
            <a:pPr eaLnBrk="1" hangingPunct="1">
              <a:defRPr/>
            </a:pPr>
            <a:r>
              <a:rPr lang="en-US" sz="2000" dirty="0">
                <a:solidFill>
                  <a:schemeClr val="tx1"/>
                </a:solidFill>
                <a:latin typeface="Calibri" pitchFamily="34" charset="0"/>
                <a:cs typeface="Calibri" pitchFamily="34" charset="0"/>
              </a:rPr>
              <a:t>    n = square ( m ) ;   // function call                   </a:t>
            </a:r>
          </a:p>
          <a:p>
            <a:pPr eaLnBrk="1" hangingPunct="1">
              <a:defRPr/>
            </a:pPr>
            <a:r>
              <a:rPr lang="en-US" sz="2000" dirty="0">
                <a:solidFill>
                  <a:schemeClr val="tx1"/>
                </a:solidFill>
                <a:latin typeface="Calibri" pitchFamily="34" charset="0"/>
                <a:cs typeface="Calibri" pitchFamily="34" charset="0"/>
              </a:rPr>
              <a:t>    printf ( "\</a:t>
            </a:r>
            <a:r>
              <a:rPr lang="en-US" sz="2000" dirty="0" err="1">
                <a:solidFill>
                  <a:schemeClr val="tx1"/>
                </a:solidFill>
                <a:latin typeface="Calibri" pitchFamily="34" charset="0"/>
                <a:cs typeface="Calibri" pitchFamily="34" charset="0"/>
              </a:rPr>
              <a:t>nSquare</a:t>
            </a:r>
            <a:r>
              <a:rPr lang="en-US" sz="2000" dirty="0">
                <a:solidFill>
                  <a:schemeClr val="tx1"/>
                </a:solidFill>
                <a:latin typeface="Calibri" pitchFamily="34" charset="0"/>
                <a:cs typeface="Calibri" pitchFamily="34" charset="0"/>
              </a:rPr>
              <a:t> of the given number %f is %</a:t>
            </a:r>
            <a:r>
              <a:rPr lang="en-US" sz="2000" dirty="0" err="1">
                <a:solidFill>
                  <a:schemeClr val="tx1"/>
                </a:solidFill>
                <a:latin typeface="Calibri" pitchFamily="34" charset="0"/>
                <a:cs typeface="Calibri" pitchFamily="34" charset="0"/>
              </a:rPr>
              <a:t>f”,m,n</a:t>
            </a:r>
            <a:r>
              <a:rPr lang="en-US" sz="2000" dirty="0">
                <a:solidFill>
                  <a:schemeClr val="tx1"/>
                </a:solidFill>
                <a:latin typeface="Calibri" pitchFamily="34" charset="0"/>
                <a:cs typeface="Calibri" pitchFamily="34" charset="0"/>
              </a:rPr>
              <a:t> );</a:t>
            </a:r>
          </a:p>
          <a:p>
            <a:pPr eaLnBrk="1" hangingPunct="1">
              <a:defRPr/>
            </a:pPr>
            <a:r>
              <a:rPr lang="en-US" sz="2000" dirty="0">
                <a:solidFill>
                  <a:schemeClr val="tx1"/>
                </a:solidFill>
                <a:latin typeface="Calibri" pitchFamily="34" charset="0"/>
                <a:cs typeface="Calibri" pitchFamily="34" charset="0"/>
              </a:rPr>
              <a:t>}</a:t>
            </a:r>
          </a:p>
          <a:p>
            <a:pPr eaLnBrk="1" hangingPunct="1">
              <a:defRPr/>
            </a:pPr>
            <a:r>
              <a:rPr lang="en-US" sz="2000" dirty="0">
                <a:solidFill>
                  <a:schemeClr val="tx1"/>
                </a:solidFill>
                <a:latin typeface="Calibri" pitchFamily="34" charset="0"/>
                <a:cs typeface="Calibri" pitchFamily="34" charset="0"/>
              </a:rPr>
              <a:t> float square ( float x )   // function definition</a:t>
            </a:r>
          </a:p>
          <a:p>
            <a:pPr eaLnBrk="1" hangingPunct="1">
              <a:defRPr/>
            </a:pPr>
            <a:r>
              <a:rPr lang="en-US" sz="2000" dirty="0">
                <a:solidFill>
                  <a:schemeClr val="tx1"/>
                </a:solidFill>
                <a:latin typeface="Calibri" pitchFamily="34" charset="0"/>
                <a:cs typeface="Calibri" pitchFamily="34" charset="0"/>
              </a:rPr>
              <a:t>{</a:t>
            </a:r>
          </a:p>
          <a:p>
            <a:pPr eaLnBrk="1" hangingPunct="1">
              <a:defRPr/>
            </a:pPr>
            <a:r>
              <a:rPr lang="en-US" sz="2000" dirty="0">
                <a:solidFill>
                  <a:schemeClr val="tx1"/>
                </a:solidFill>
                <a:latin typeface="Calibri" pitchFamily="34" charset="0"/>
                <a:cs typeface="Calibri" pitchFamily="34" charset="0"/>
              </a:rPr>
              <a:t>    float p ;</a:t>
            </a:r>
          </a:p>
          <a:p>
            <a:pPr eaLnBrk="1" hangingPunct="1">
              <a:defRPr/>
            </a:pPr>
            <a:r>
              <a:rPr lang="en-US" sz="2000" dirty="0">
                <a:solidFill>
                  <a:schemeClr val="tx1"/>
                </a:solidFill>
                <a:latin typeface="Calibri" pitchFamily="34" charset="0"/>
                <a:cs typeface="Calibri" pitchFamily="34" charset="0"/>
              </a:rPr>
              <a:t>    p = x * x ;</a:t>
            </a:r>
          </a:p>
          <a:p>
            <a:pPr eaLnBrk="1" hangingPunct="1">
              <a:defRPr/>
            </a:pPr>
            <a:r>
              <a:rPr lang="en-US" sz="2000" dirty="0">
                <a:solidFill>
                  <a:schemeClr val="tx1"/>
                </a:solidFill>
                <a:latin typeface="Calibri" pitchFamily="34" charset="0"/>
                <a:cs typeface="Calibri" pitchFamily="34" charset="0"/>
              </a:rPr>
              <a:t>    return ( p ) ;</a:t>
            </a:r>
          </a:p>
          <a:p>
            <a:pPr eaLnBrk="1" hangingPunct="1">
              <a:defRPr/>
            </a:pPr>
            <a:r>
              <a:rPr lang="en-US" sz="2000" dirty="0">
                <a:solidFill>
                  <a:schemeClr val="tx1"/>
                </a:solidFill>
                <a:latin typeface="Calibri" pitchFamily="34" charset="0"/>
                <a:cs typeface="Calibri" pitchFamily="34" charset="0"/>
              </a:rPr>
              <a:t>}</a:t>
            </a:r>
          </a:p>
        </p:txBody>
      </p:sp>
      <p:pic>
        <p:nvPicPr>
          <p:cNvPr id="19459"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594DCE9-75DB-40E7-8A5D-E39046DBB032}" type="slidenum">
              <a:rPr lang="en-US" altLang="en-US" sz="1200"/>
              <a:pPr>
                <a:lnSpc>
                  <a:spcPct val="100000"/>
                </a:lnSpc>
                <a:spcBef>
                  <a:spcPct val="0"/>
                </a:spcBef>
                <a:buClrTx/>
                <a:buSzTx/>
                <a:buFontTx/>
                <a:buNone/>
              </a:pPr>
              <a:t>15</a:t>
            </a:fld>
            <a:endParaRPr lang="en-US" altLang="en-US" sz="1200"/>
          </a:p>
        </p:txBody>
      </p:sp>
      <p:sp>
        <p:nvSpPr>
          <p:cNvPr id="10" name="Hexagon 9"/>
          <p:cNvSpPr/>
          <p:nvPr/>
        </p:nvSpPr>
        <p:spPr>
          <a:xfrm>
            <a:off x="706438" y="2008188"/>
            <a:ext cx="3297237" cy="2700337"/>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r>
              <a:rPr lang="en-US" sz="2800" dirty="0"/>
              <a:t> </a:t>
            </a:r>
            <a:endParaRPr lang="en-US" sz="2800" dirty="0">
              <a:solidFill>
                <a:schemeClr val="tx1"/>
              </a:solidFill>
            </a:endParaRP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 of parameter passing</a:t>
            </a:r>
          </a:p>
        </p:txBody>
      </p:sp>
      <p:pic>
        <p:nvPicPr>
          <p:cNvPr id="1946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4476750"/>
            <a:ext cx="3425825" cy="174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64A6BCBF-7B6F-49E5-84C9-AD9DA3058387}" type="slidenum">
              <a:rPr lang="en-US" altLang="en-US" sz="1200"/>
              <a:pPr>
                <a:lnSpc>
                  <a:spcPct val="100000"/>
                </a:lnSpc>
                <a:spcBef>
                  <a:spcPct val="0"/>
                </a:spcBef>
                <a:buClrTx/>
                <a:buSzTx/>
                <a:buFontTx/>
                <a:buNone/>
              </a:pPr>
              <a:t>16</a:t>
            </a:fld>
            <a:endParaRPr lang="en-US" altLang="en-US" sz="1200"/>
          </a:p>
        </p:txBody>
      </p:sp>
      <p:sp>
        <p:nvSpPr>
          <p:cNvPr id="3" name="Rectangle 2"/>
          <p:cNvSpPr/>
          <p:nvPr/>
        </p:nvSpPr>
        <p:spPr>
          <a:xfrm>
            <a:off x="1071563" y="2365375"/>
            <a:ext cx="2711450" cy="2606675"/>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IN" sz="2800" b="1" dirty="0">
              <a:solidFill>
                <a:schemeClr val="tx1"/>
              </a:solidFill>
              <a:latin typeface="Calibri" pitchFamily="34" charset="0"/>
              <a:cs typeface="Calibri" pitchFamily="34" charset="0"/>
            </a:endParaRPr>
          </a:p>
        </p:txBody>
      </p:sp>
      <p:sp>
        <p:nvSpPr>
          <p:cNvPr id="4" name="Rectangle 3"/>
          <p:cNvSpPr/>
          <p:nvPr/>
        </p:nvSpPr>
        <p:spPr>
          <a:xfrm>
            <a:off x="4277709" y="441435"/>
            <a:ext cx="7483367" cy="5843752"/>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20485" name="Rectangle 4"/>
          <p:cNvSpPr>
            <a:spLocks noChangeArrowheads="1"/>
          </p:cNvSpPr>
          <p:nvPr/>
        </p:nvSpPr>
        <p:spPr bwMode="auto">
          <a:xfrm>
            <a:off x="4492625" y="690563"/>
            <a:ext cx="705802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endParaRPr lang="en-US" altLang="en-US" sz="1800">
              <a:solidFill>
                <a:schemeClr val="tx1"/>
              </a:solidFill>
              <a:latin typeface="Arial" pitchFamily="34" charset="0"/>
            </a:endParaRPr>
          </a:p>
        </p:txBody>
      </p:sp>
      <p:sp>
        <p:nvSpPr>
          <p:cNvPr id="20486" name="Rectangle 7"/>
          <p:cNvSpPr>
            <a:spLocks noChangeArrowheads="1"/>
          </p:cNvSpPr>
          <p:nvPr/>
        </p:nvSpPr>
        <p:spPr bwMode="auto">
          <a:xfrm>
            <a:off x="1187450" y="2406650"/>
            <a:ext cx="2511425" cy="2462213"/>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056"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a:lnSpc>
                <a:spcPct val="100000"/>
              </a:lnSpc>
              <a:spcBef>
                <a:spcPct val="0"/>
              </a:spcBef>
              <a:buClrTx/>
              <a:buSzTx/>
              <a:buFontTx/>
              <a:buNone/>
            </a:pPr>
            <a:r>
              <a:rPr lang="en-US" altLang="en-US" sz="2800" b="1">
                <a:solidFill>
                  <a:srgbClr val="222222"/>
                </a:solidFill>
                <a:latin typeface="Calibri" pitchFamily="34" charset="0"/>
                <a:cs typeface="Times New Roman" pitchFamily="18" charset="0"/>
              </a:rPr>
              <a:t>HOW TO CALL </a:t>
            </a:r>
          </a:p>
          <a:p>
            <a:pPr algn="ctr">
              <a:lnSpc>
                <a:spcPct val="100000"/>
              </a:lnSpc>
              <a:spcBef>
                <a:spcPct val="0"/>
              </a:spcBef>
              <a:buClrTx/>
              <a:buSzTx/>
              <a:buFontTx/>
              <a:buNone/>
            </a:pPr>
            <a:r>
              <a:rPr lang="en-US" altLang="en-US" sz="2800" b="1">
                <a:solidFill>
                  <a:srgbClr val="222222"/>
                </a:solidFill>
                <a:latin typeface="Calibri" pitchFamily="34" charset="0"/>
                <a:cs typeface="Times New Roman" pitchFamily="18" charset="0"/>
              </a:rPr>
              <a:t>C FUNCTIONS IN A PROGRAM?</a:t>
            </a:r>
            <a:endParaRPr lang="en-US" altLang="en-US" sz="2800" b="1">
              <a:solidFill>
                <a:schemeClr val="tx1"/>
              </a:solidFill>
              <a:latin typeface="Calibri" pitchFamily="34" charset="0"/>
              <a:cs typeface="Times New Roman" pitchFamily="18" charset="0"/>
            </a:endParaRPr>
          </a:p>
          <a:p>
            <a:pPr algn="ctr">
              <a:lnSpc>
                <a:spcPct val="100000"/>
              </a:lnSpc>
              <a:spcBef>
                <a:spcPct val="0"/>
              </a:spcBef>
              <a:buClrTx/>
              <a:buSzTx/>
              <a:buFontTx/>
              <a:buNone/>
            </a:pPr>
            <a:endParaRPr lang="en-US" altLang="en-US" sz="2000">
              <a:solidFill>
                <a:schemeClr val="tx1"/>
              </a:solidFill>
              <a:latin typeface="Arial" pitchFamily="34" charset="0"/>
            </a:endParaRPr>
          </a:p>
        </p:txBody>
      </p:sp>
      <p:sp>
        <p:nvSpPr>
          <p:cNvPr id="20487" name="Rectangle 8"/>
          <p:cNvSpPr>
            <a:spLocks noChangeArrowheads="1"/>
          </p:cNvSpPr>
          <p:nvPr/>
        </p:nvSpPr>
        <p:spPr bwMode="auto">
          <a:xfrm>
            <a:off x="4583113" y="682625"/>
            <a:ext cx="7115175" cy="587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a:lnSpc>
                <a:spcPct val="100000"/>
              </a:lnSpc>
              <a:spcBef>
                <a:spcPct val="0"/>
              </a:spcBef>
              <a:buClrTx/>
              <a:buSzTx/>
              <a:buFontTx/>
              <a:buNone/>
            </a:pPr>
            <a:r>
              <a:rPr lang="en-US" altLang="en-US" sz="2000">
                <a:solidFill>
                  <a:srgbClr val="444444"/>
                </a:solidFill>
                <a:latin typeface="Calibri" pitchFamily="34" charset="0"/>
                <a:ea typeface="Times New Roman" pitchFamily="18" charset="0"/>
                <a:cs typeface="Calibri" pitchFamily="34" charset="0"/>
              </a:rPr>
              <a:t>There are two ways that a C function can be called from a program. F</a:t>
            </a:r>
            <a:r>
              <a:rPr lang="en-US" altLang="en-US" sz="2000">
                <a:solidFill>
                  <a:schemeClr val="tx1"/>
                </a:solidFill>
                <a:latin typeface="Calibri" pitchFamily="34" charset="0"/>
                <a:ea typeface="Times New Roman" pitchFamily="18" charset="0"/>
                <a:cs typeface="Calibri" pitchFamily="34" charset="0"/>
              </a:rPr>
              <a:t>unctions can be invoked in two ways: </a:t>
            </a:r>
          </a:p>
          <a:p>
            <a:pPr algn="just">
              <a:lnSpc>
                <a:spcPct val="100000"/>
              </a:lnSpc>
              <a:spcBef>
                <a:spcPct val="0"/>
              </a:spcBef>
              <a:buClrTx/>
              <a:buSzTx/>
              <a:buFont typeface="Arial" pitchFamily="34" charset="0"/>
              <a:buChar char="•"/>
            </a:pPr>
            <a:r>
              <a:rPr lang="en-US" altLang="en-US" sz="2000">
                <a:solidFill>
                  <a:schemeClr val="tx1"/>
                </a:solidFill>
                <a:latin typeface="Calibri" pitchFamily="34" charset="0"/>
                <a:ea typeface="Times New Roman" pitchFamily="18" charset="0"/>
                <a:cs typeface="Calibri" pitchFamily="34" charset="0"/>
              </a:rPr>
              <a:t> </a:t>
            </a:r>
            <a:r>
              <a:rPr lang="en-US" altLang="en-US" sz="2000" b="1">
                <a:solidFill>
                  <a:schemeClr val="tx1"/>
                </a:solidFill>
                <a:latin typeface="Calibri" pitchFamily="34" charset="0"/>
                <a:ea typeface="Times New Roman" pitchFamily="18" charset="0"/>
                <a:cs typeface="Calibri" pitchFamily="34" charset="0"/>
              </a:rPr>
              <a:t>Call by Value</a:t>
            </a:r>
            <a:r>
              <a:rPr lang="en-US" altLang="en-US" sz="2000">
                <a:solidFill>
                  <a:schemeClr val="tx1"/>
                </a:solidFill>
                <a:latin typeface="Calibri" pitchFamily="34" charset="0"/>
                <a:ea typeface="Times New Roman" pitchFamily="18" charset="0"/>
                <a:cs typeface="Calibri" pitchFamily="34" charset="0"/>
              </a:rPr>
              <a:t> </a:t>
            </a:r>
          </a:p>
          <a:p>
            <a:pPr algn="just">
              <a:lnSpc>
                <a:spcPct val="100000"/>
              </a:lnSpc>
              <a:spcBef>
                <a:spcPct val="0"/>
              </a:spcBef>
              <a:buClrTx/>
              <a:buSzTx/>
              <a:buFont typeface="Arial" pitchFamily="34" charset="0"/>
              <a:buChar char="•"/>
            </a:pPr>
            <a:r>
              <a:rPr lang="en-US" altLang="en-US" sz="2000" b="1">
                <a:solidFill>
                  <a:schemeClr val="tx1"/>
                </a:solidFill>
                <a:latin typeface="Calibri" pitchFamily="34" charset="0"/>
                <a:ea typeface="Times New Roman" pitchFamily="18" charset="0"/>
                <a:cs typeface="Calibri" pitchFamily="34" charset="0"/>
              </a:rPr>
              <a:t>Call by Reference</a:t>
            </a:r>
            <a:r>
              <a:rPr lang="en-US" altLang="en-US" sz="2000">
                <a:solidFill>
                  <a:schemeClr val="tx1"/>
                </a:solidFill>
                <a:latin typeface="Calibri" pitchFamily="34" charset="0"/>
                <a:ea typeface="Times New Roman" pitchFamily="18" charset="0"/>
                <a:cs typeface="Calibri" pitchFamily="34" charset="0"/>
              </a:rPr>
              <a:t>. </a:t>
            </a:r>
          </a:p>
          <a:p>
            <a:pPr algn="just">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These two ways are generally differentiated by the type of values passed to them as parameters.</a:t>
            </a:r>
          </a:p>
          <a:p>
            <a:pPr algn="just">
              <a:lnSpc>
                <a:spcPct val="100000"/>
              </a:lnSpc>
              <a:spcBef>
                <a:spcPct val="0"/>
              </a:spcBef>
              <a:buClrTx/>
              <a:buSzTx/>
              <a:buFontTx/>
              <a:buNone/>
            </a:pPr>
            <a:endParaRPr lang="en-US" altLang="en-US" sz="2000" b="1">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Call By Value</a:t>
            </a:r>
            <a:r>
              <a:rPr lang="en-US" altLang="en-US" sz="2000">
                <a:solidFill>
                  <a:schemeClr val="tx1"/>
                </a:solidFill>
                <a:latin typeface="Calibri" pitchFamily="34" charset="0"/>
                <a:ea typeface="Times New Roman" pitchFamily="18" charset="0"/>
                <a:cs typeface="Calibri" pitchFamily="34" charset="0"/>
              </a:rPr>
              <a:t>: In this parameter passing method, values of actual parameters are copied to function’s formal parameters and the two types of parameters are stored in different memory locations. So any changes made inside functions are not reflected in actual parameters of caller.</a:t>
            </a:r>
          </a:p>
          <a:p>
            <a:pPr algn="just">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Call by Reference</a:t>
            </a:r>
            <a:r>
              <a:rPr lang="en-US" altLang="en-US" sz="2000">
                <a:solidFill>
                  <a:schemeClr val="tx1"/>
                </a:solidFill>
                <a:latin typeface="Calibri" pitchFamily="34" charset="0"/>
                <a:ea typeface="Times New Roman" pitchFamily="18" charset="0"/>
                <a:cs typeface="Calibri" pitchFamily="34" charset="0"/>
              </a:rPr>
              <a:t>: Both the actual and formal parameters refer to same locations, so any changes made inside the function are actually reflected in actual parameters of caller.</a:t>
            </a:r>
          </a:p>
          <a:p>
            <a:pPr algn="just">
              <a:lnSpc>
                <a:spcPct val="100000"/>
              </a:lnSpc>
              <a:spcBef>
                <a:spcPct val="0"/>
              </a:spcBef>
              <a:buClrTx/>
              <a:buSzTx/>
              <a:buFontTx/>
              <a:buNone/>
            </a:pPr>
            <a:endParaRPr lang="en-US" altLang="en-US" sz="1800">
              <a:solidFill>
                <a:schemeClr val="tx1"/>
              </a:solidFill>
              <a:latin typeface="Arial" pitchFamily="34" charset="0"/>
              <a:ea typeface="Times New Roman" pitchFamily="18" charset="0"/>
              <a:cs typeface="Calibri" pitchFamily="34" charset="0"/>
            </a:endParaRPr>
          </a:p>
          <a:p>
            <a:pPr algn="just">
              <a:lnSpc>
                <a:spcPct val="100000"/>
              </a:lnSpc>
              <a:spcBef>
                <a:spcPct val="0"/>
              </a:spcBef>
              <a:buClrTx/>
              <a:buSzTx/>
              <a:buFontTx/>
              <a:buNone/>
            </a:pPr>
            <a:endParaRPr lang="en-US" altLang="en-US" sz="1800">
              <a:solidFill>
                <a:schemeClr val="tx1"/>
              </a:solidFill>
              <a:latin typeface="Arial" pitchFamily="34" charset="0"/>
              <a:ea typeface="Times New Roman" pitchFamily="18" charset="0"/>
              <a:cs typeface="Calibri"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51283" y="419549"/>
            <a:ext cx="7409793" cy="5916706"/>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pic>
        <p:nvPicPr>
          <p:cNvPr id="21507"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173C50E-93ED-48B7-A95F-9F63B1FCA296}" type="slidenum">
              <a:rPr lang="en-US" altLang="en-US" sz="1200"/>
              <a:pPr>
                <a:lnSpc>
                  <a:spcPct val="100000"/>
                </a:lnSpc>
                <a:spcBef>
                  <a:spcPct val="0"/>
                </a:spcBef>
                <a:buClrTx/>
                <a:buSzTx/>
                <a:buFontTx/>
                <a:buNone/>
              </a:pPr>
              <a:t>17</a:t>
            </a:fld>
            <a:endParaRPr lang="en-US" altLang="en-US" sz="1200"/>
          </a:p>
        </p:txBody>
      </p:sp>
      <p:sp>
        <p:nvSpPr>
          <p:cNvPr id="10" name="Hexagon 9"/>
          <p:cNvSpPr/>
          <p:nvPr/>
        </p:nvSpPr>
        <p:spPr>
          <a:xfrm>
            <a:off x="706438" y="1997075"/>
            <a:ext cx="3297237" cy="2700338"/>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Call by Value</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a:t>
            </a:r>
          </a:p>
        </p:txBody>
      </p:sp>
      <p:sp>
        <p:nvSpPr>
          <p:cNvPr id="21511" name="Rectangle 9"/>
          <p:cNvSpPr>
            <a:spLocks noChangeArrowheads="1"/>
          </p:cNvSpPr>
          <p:nvPr/>
        </p:nvSpPr>
        <p:spPr bwMode="auto">
          <a:xfrm>
            <a:off x="4435475" y="484188"/>
            <a:ext cx="7094538"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r>
              <a:rPr lang="en-US" altLang="en-US" sz="1800" b="1">
                <a:solidFill>
                  <a:srgbClr val="000000"/>
                </a:solidFill>
                <a:latin typeface="Calibri" pitchFamily="34" charset="0"/>
                <a:ea typeface="Times New Roman" pitchFamily="18" charset="0"/>
                <a:cs typeface="Calibri" pitchFamily="34" charset="0"/>
              </a:rPr>
              <a:t>Example: Swap two numbers using</a:t>
            </a:r>
          </a:p>
          <a:p>
            <a:pPr>
              <a:lnSpc>
                <a:spcPct val="100000"/>
              </a:lnSpc>
              <a:spcBef>
                <a:spcPct val="0"/>
              </a:spcBef>
              <a:buClrTx/>
              <a:buSzTx/>
              <a:buFontTx/>
              <a:buNone/>
            </a:pPr>
            <a:r>
              <a:rPr lang="en-US" altLang="en-US" sz="1800" b="1">
                <a:solidFill>
                  <a:srgbClr val="000000"/>
                </a:solidFill>
                <a:latin typeface="Calibri" pitchFamily="34" charset="0"/>
                <a:ea typeface="Times New Roman" pitchFamily="18" charset="0"/>
                <a:cs typeface="Calibri" pitchFamily="34" charset="0"/>
              </a:rPr>
              <a:t>Call by Value</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#include &lt;stdio.h&gt;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void swap(int x, int y);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int main()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int a = 2, b = 3;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swap(a, b);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printf("a=%d b=%d\n", a, b);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return 0;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void swap(int x, int y)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int  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t = x;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x = y;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y = 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printf("x=%d y=%d\n", x, y); </a:t>
            </a:r>
          </a:p>
          <a:p>
            <a:pPr>
              <a:lnSpc>
                <a:spcPct val="100000"/>
              </a:lnSpc>
              <a:spcBef>
                <a:spcPct val="0"/>
              </a:spcBef>
              <a:buClrTx/>
              <a:buSzTx/>
              <a:buFontTx/>
              <a:buNone/>
            </a:pPr>
            <a:r>
              <a:rPr lang="en-US" altLang="en-US" sz="1800">
                <a:solidFill>
                  <a:srgbClr val="000000"/>
                </a:solidFill>
                <a:latin typeface="Calibri" pitchFamily="34" charset="0"/>
                <a:ea typeface="Times New Roman" pitchFamily="18" charset="0"/>
                <a:cs typeface="Calibri" pitchFamily="34" charset="0"/>
              </a:rPr>
              <a:t>} </a:t>
            </a:r>
            <a:endParaRPr lang="en-US" altLang="en-US" sz="1800">
              <a:solidFill>
                <a:schemeClr val="tx1"/>
              </a:solidFill>
              <a:latin typeface="Calibri" pitchFamily="34" charset="0"/>
              <a:ea typeface="Times New Roman" pitchFamily="18" charset="0"/>
              <a:cs typeface="Calibri" pitchFamily="34" charset="0"/>
            </a:endParaRPr>
          </a:p>
        </p:txBody>
      </p:sp>
      <p:pic>
        <p:nvPicPr>
          <p:cNvPr id="21512"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9363" y="2816225"/>
            <a:ext cx="4102100"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Rectangle 11"/>
          <p:cNvSpPr>
            <a:spLocks noChangeArrowheads="1"/>
          </p:cNvSpPr>
          <p:nvPr/>
        </p:nvSpPr>
        <p:spPr bwMode="auto">
          <a:xfrm>
            <a:off x="7578725" y="4592638"/>
            <a:ext cx="41084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a:lnSpc>
                <a:spcPct val="100000"/>
              </a:lnSpc>
              <a:spcBef>
                <a:spcPct val="0"/>
              </a:spcBef>
              <a:buClrTx/>
              <a:buSzTx/>
              <a:buFontTx/>
              <a:buNone/>
            </a:pPr>
            <a:r>
              <a:rPr lang="en-US" altLang="en-US" sz="1800">
                <a:solidFill>
                  <a:schemeClr val="tx1"/>
                </a:solidFill>
                <a:latin typeface="Calibri" pitchFamily="34" charset="0"/>
                <a:ea typeface="Times New Roman" pitchFamily="18" charset="0"/>
                <a:cs typeface="Calibri" pitchFamily="34" charset="0"/>
              </a:rPr>
              <a:t>Thus actual values of a and b remain unchanged even after exchanging the values of x and y. In call by values we cannot alter the values of actual variables through function calls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1385E3D-8993-431D-B83F-8DB4130E1E8E}" type="slidenum">
              <a:rPr lang="en-US" altLang="en-US" sz="1200"/>
              <a:pPr>
                <a:lnSpc>
                  <a:spcPct val="100000"/>
                </a:lnSpc>
                <a:spcBef>
                  <a:spcPct val="0"/>
                </a:spcBef>
                <a:buClrTx/>
                <a:buSzTx/>
                <a:buFontTx/>
                <a:buNone/>
              </a:pPr>
              <a:t>18</a:t>
            </a:fld>
            <a:endParaRPr lang="en-US" altLang="en-US" sz="1200"/>
          </a:p>
        </p:txBody>
      </p:sp>
      <p:sp>
        <p:nvSpPr>
          <p:cNvPr id="3" name="Rectangle 2"/>
          <p:cNvSpPr/>
          <p:nvPr/>
        </p:nvSpPr>
        <p:spPr>
          <a:xfrm>
            <a:off x="1082675" y="2312988"/>
            <a:ext cx="2479675" cy="2217737"/>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Call by Reference</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a:t>
            </a:r>
          </a:p>
          <a:p>
            <a:pPr algn="ctr" eaLnBrk="1" fontAlgn="auto" hangingPunct="1">
              <a:spcBef>
                <a:spcPts val="0"/>
              </a:spcBef>
              <a:spcAft>
                <a:spcPts val="0"/>
              </a:spcAft>
              <a:defRPr/>
            </a:pPr>
            <a:endParaRPr lang="en-IN" sz="2800" b="1" dirty="0">
              <a:solidFill>
                <a:schemeClr val="tx1"/>
              </a:solidFill>
              <a:latin typeface="Calibri" pitchFamily="34" charset="0"/>
              <a:cs typeface="Calibri" pitchFamily="34" charset="0"/>
            </a:endParaRPr>
          </a:p>
        </p:txBody>
      </p:sp>
      <p:sp>
        <p:nvSpPr>
          <p:cNvPr id="4" name="Rectangle 3"/>
          <p:cNvSpPr/>
          <p:nvPr/>
        </p:nvSpPr>
        <p:spPr>
          <a:xfrm>
            <a:off x="4193628" y="304801"/>
            <a:ext cx="7567448" cy="6053958"/>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22533" name="Rectangle 2"/>
          <p:cNvSpPr>
            <a:spLocks noChangeArrowheads="1"/>
          </p:cNvSpPr>
          <p:nvPr/>
        </p:nvSpPr>
        <p:spPr bwMode="auto">
          <a:xfrm>
            <a:off x="4246563" y="1535113"/>
            <a:ext cx="7483475" cy="369887"/>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1800">
              <a:solidFill>
                <a:schemeClr val="tx1"/>
              </a:solidFill>
              <a:latin typeface="Calibri" pitchFamily="34" charset="0"/>
              <a:ea typeface="Calibri" pitchFamily="34" charset="0"/>
              <a:cs typeface="Calibri" pitchFamily="34" charset="0"/>
            </a:endParaRPr>
          </a:p>
        </p:txBody>
      </p:sp>
      <p:graphicFrame>
        <p:nvGraphicFramePr>
          <p:cNvPr id="10" name="Table 9"/>
          <p:cNvGraphicFramePr>
            <a:graphicFrameLocks noGrp="1"/>
          </p:cNvGraphicFramePr>
          <p:nvPr/>
        </p:nvGraphicFramePr>
        <p:xfrm>
          <a:off x="4383088" y="593725"/>
          <a:ext cx="7210425" cy="5486400"/>
        </p:xfrm>
        <a:graphic>
          <a:graphicData uri="http://schemas.openxmlformats.org/drawingml/2006/table">
            <a:tbl>
              <a:tblPr/>
              <a:tblGrid>
                <a:gridCol w="7210425">
                  <a:extLst>
                    <a:ext uri="{9D8B030D-6E8A-4147-A177-3AD203B41FA5}">
                      <a16:colId xmlns:a16="http://schemas.microsoft.com/office/drawing/2014/main" val="20000"/>
                    </a:ext>
                  </a:extLst>
                </a:gridCol>
              </a:tblGrid>
              <a:tr h="5418667">
                <a:tc>
                  <a:txBody>
                    <a:bodyPr/>
                    <a:lstStyle/>
                    <a:p>
                      <a:pPr marL="0" marR="0">
                        <a:spcBef>
                          <a:spcPts val="0"/>
                        </a:spcBef>
                        <a:spcAft>
                          <a:spcPts val="0"/>
                        </a:spcAft>
                      </a:pPr>
                      <a:r>
                        <a:rPr lang="en-US" sz="1800" b="1" dirty="0">
                          <a:solidFill>
                            <a:srgbClr val="000000"/>
                          </a:solidFill>
                          <a:latin typeface="Calibri" pitchFamily="34" charset="0"/>
                          <a:ea typeface="Times New Roman"/>
                          <a:cs typeface="Calibri" pitchFamily="34" charset="0"/>
                        </a:rPr>
                        <a:t>Example: Swap two numbers using Call by Reference</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#include &lt;stdio.h&gt;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void swap(int*, int*);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int main()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int a =2, b = 3;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swap(&amp;a, &amp;b);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printf("a=%d b=%d\n", a, b);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return 0;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void swap(int* c, int* d)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int  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t = *x;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*x = *y;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*y = 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printf("x=%d y=%d\n", *x, *y); </a:t>
                      </a:r>
                      <a:endParaRPr lang="en-US" sz="1800" dirty="0">
                        <a:latin typeface="Calibri" pitchFamily="34" charset="0"/>
                        <a:ea typeface="Times New Roman"/>
                        <a:cs typeface="Calibri" pitchFamily="34" charset="0"/>
                      </a:endParaRPr>
                    </a:p>
                    <a:p>
                      <a:pPr marL="0" marR="0">
                        <a:spcBef>
                          <a:spcPts val="0"/>
                        </a:spcBef>
                        <a:spcAft>
                          <a:spcPts val="0"/>
                        </a:spcAft>
                      </a:pPr>
                      <a:r>
                        <a:rPr lang="en-US" sz="1800" dirty="0">
                          <a:solidFill>
                            <a:srgbClr val="000000"/>
                          </a:solidFill>
                          <a:latin typeface="Calibri" pitchFamily="34" charset="0"/>
                          <a:ea typeface="Times New Roman"/>
                          <a:cs typeface="Calibri" pitchFamily="34" charset="0"/>
                        </a:rPr>
                        <a:t>} </a:t>
                      </a:r>
                      <a:endParaRPr lang="en-US" sz="1800" dirty="0">
                        <a:latin typeface="Calibri" pitchFamily="34" charset="0"/>
                        <a:ea typeface="Times New Roman"/>
                        <a:cs typeface="Calibri"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2253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2363" y="2479675"/>
            <a:ext cx="407035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7" name="Rectangle 11"/>
          <p:cNvSpPr>
            <a:spLocks noChangeArrowheads="1"/>
          </p:cNvSpPr>
          <p:nvPr/>
        </p:nvSpPr>
        <p:spPr bwMode="auto">
          <a:xfrm>
            <a:off x="7451725" y="4424363"/>
            <a:ext cx="4119563"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Thus actual values of a and b get changed after exchanging values of x and y. In call by reference we can alter the values of variables through function calls.</a:t>
            </a:r>
          </a:p>
          <a:p>
            <a:pPr>
              <a:lnSpc>
                <a:spcPct val="100000"/>
              </a:lnSpc>
              <a:spcBef>
                <a:spcPct val="0"/>
              </a:spcBef>
              <a:buClrTx/>
              <a:buSzTx/>
              <a:buFontTx/>
              <a:buNone/>
            </a:pPr>
            <a:endParaRPr lang="en-US" altLang="en-US" sz="1800">
              <a:solidFill>
                <a:schemeClr val="tx1"/>
              </a:solidFill>
              <a:latin typeface="Arial" pitchFamily="34" charset="0"/>
              <a:ea typeface="Times New Roman" pitchFamily="18" charset="0"/>
              <a:cs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620713" y="1260475"/>
            <a:ext cx="5362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4000" b="1">
                <a:solidFill>
                  <a:schemeClr val="tx1"/>
                </a:solidFill>
                <a:latin typeface="Calibri" pitchFamily="34" charset="0"/>
                <a:ea typeface="Calibri" pitchFamily="34" charset="0"/>
                <a:cs typeface="Calibri" pitchFamily="34" charset="0"/>
              </a:rPr>
              <a:t>SUMMARY…..</a:t>
            </a:r>
            <a:endParaRPr lang="en-IN" altLang="en-US" sz="4000" b="1">
              <a:solidFill>
                <a:schemeClr val="tx1"/>
              </a:solidFill>
              <a:latin typeface="Calibri" pitchFamily="34" charset="0"/>
              <a:ea typeface="Calibri" pitchFamily="34" charset="0"/>
              <a:cs typeface="Calibri" pitchFamily="34" charset="0"/>
            </a:endParaRPr>
          </a:p>
        </p:txBody>
      </p:sp>
      <p:sp>
        <p:nvSpPr>
          <p:cNvPr id="3" name="Speech Bubble: Rectangle 2"/>
          <p:cNvSpPr/>
          <p:nvPr/>
        </p:nvSpPr>
        <p:spPr>
          <a:xfrm>
            <a:off x="808038" y="2565400"/>
            <a:ext cx="2990850" cy="1989138"/>
          </a:xfrm>
          <a:prstGeom prst="wedgeRectCallou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US" dirty="0">
                <a:latin typeface="Arial Rounded MT Bold" panose="020F0704030504030204" pitchFamily="34" charset="0"/>
              </a:rPr>
              <a:t>We covered User defined function</a:t>
            </a:r>
            <a:endParaRPr lang="en-IN" dirty="0">
              <a:latin typeface="Arial Rounded MT Bold" panose="020F0704030504030204" pitchFamily="34" charset="0"/>
            </a:endParaRPr>
          </a:p>
        </p:txBody>
      </p:sp>
      <p:sp>
        <p:nvSpPr>
          <p:cNvPr id="4" name="Speech Bubble: Rectangle 3"/>
          <p:cNvSpPr/>
          <p:nvPr/>
        </p:nvSpPr>
        <p:spPr>
          <a:xfrm>
            <a:off x="8497888" y="2593975"/>
            <a:ext cx="2990850" cy="1989138"/>
          </a:xfrm>
          <a:prstGeom prst="wedgeRectCallout">
            <a:avLst/>
          </a:prstGeom>
        </p:spPr>
        <p:style>
          <a:lnRef idx="1">
            <a:schemeClr val="accent4"/>
          </a:lnRef>
          <a:fillRef idx="2">
            <a:schemeClr val="accent4"/>
          </a:fillRef>
          <a:effectRef idx="1">
            <a:schemeClr val="accent4"/>
          </a:effectRef>
          <a:fontRef idx="minor">
            <a:schemeClr val="dk1"/>
          </a:fontRef>
        </p:style>
        <p:txBody>
          <a:bodyPr anchor="ctr"/>
          <a:lstStyle/>
          <a:p>
            <a:pPr algn="ctr" eaLnBrk="1" fontAlgn="auto" hangingPunct="1">
              <a:spcBef>
                <a:spcPts val="0"/>
              </a:spcBef>
              <a:spcAft>
                <a:spcPts val="0"/>
              </a:spcAft>
              <a:defRPr/>
            </a:pPr>
            <a:r>
              <a:rPr lang="en-IN" dirty="0">
                <a:latin typeface="Arial Rounded MT Bold" panose="020F0704030504030204" pitchFamily="34" charset="0"/>
              </a:rPr>
              <a:t>Call by value &amp; Call by reference</a:t>
            </a:r>
          </a:p>
        </p:txBody>
      </p:sp>
      <p:sp>
        <p:nvSpPr>
          <p:cNvPr id="5" name="Speech Bubble: Oval 4"/>
          <p:cNvSpPr/>
          <p:nvPr/>
        </p:nvSpPr>
        <p:spPr>
          <a:xfrm>
            <a:off x="4305300" y="2449513"/>
            <a:ext cx="3773488" cy="2149475"/>
          </a:xfrm>
          <a:prstGeom prst="wedgeEllipseCallou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r>
              <a:rPr lang="en-IN" dirty="0">
                <a:latin typeface="Arial Rounded MT Bold" panose="020F0704030504030204" pitchFamily="34" charset="0"/>
              </a:rPr>
              <a:t>Parameters passing</a:t>
            </a:r>
          </a:p>
        </p:txBody>
      </p:sp>
      <p:pic>
        <p:nvPicPr>
          <p:cNvPr id="2355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D05CF515-4703-4886-A59C-6564B4BF9007}" type="slidenum">
              <a:rPr lang="en-US" altLang="en-US" sz="1200"/>
              <a:pPr>
                <a:lnSpc>
                  <a:spcPct val="100000"/>
                </a:lnSpc>
                <a:spcBef>
                  <a:spcPct val="0"/>
                </a:spcBef>
                <a:buClrTx/>
                <a:buSzTx/>
                <a:buFontTx/>
                <a:buNone/>
              </a:pPr>
              <a:t>19</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230820"/>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r>
              <a:rPr lang="en-US" sz="3600" b="1" dirty="0">
                <a:solidFill>
                  <a:schemeClr val="tx1"/>
                </a:solidFill>
                <a:latin typeface="Calibri" pitchFamily="34" charset="0"/>
                <a:cs typeface="Calibri" pitchFamily="34" charset="0"/>
              </a:rPr>
              <a:t>FREQUENTLY</a:t>
            </a:r>
            <a:br>
              <a:rPr lang="en-US" sz="3600" b="1" dirty="0">
                <a:solidFill>
                  <a:schemeClr val="tx1"/>
                </a:solidFill>
                <a:latin typeface="Calibri" pitchFamily="34" charset="0"/>
                <a:cs typeface="Calibri" pitchFamily="34" charset="0"/>
              </a:rPr>
            </a:br>
            <a:r>
              <a:rPr lang="en-US" sz="3600" b="1" dirty="0">
                <a:solidFill>
                  <a:schemeClr val="tx1"/>
                </a:solidFill>
                <a:latin typeface="Calibri" pitchFamily="34" charset="0"/>
                <a:cs typeface="Calibri" pitchFamily="34" charset="0"/>
              </a:rPr>
              <a:t>ASKED</a:t>
            </a:r>
            <a:br>
              <a:rPr lang="en-US" sz="3600" b="1" dirty="0">
                <a:solidFill>
                  <a:schemeClr val="tx1"/>
                </a:solidFill>
                <a:latin typeface="Calibri" pitchFamily="34" charset="0"/>
                <a:cs typeface="Calibri" pitchFamily="34" charset="0"/>
              </a:rPr>
            </a:br>
            <a:r>
              <a:rPr lang="en-US" sz="3600" b="1" dirty="0">
                <a:solidFill>
                  <a:schemeClr val="tx1"/>
                </a:solidFill>
                <a:latin typeface="Calibri" pitchFamily="34" charset="0"/>
                <a:cs typeface="Calibri" pitchFamily="34" charset="0"/>
              </a:rPr>
              <a:t>QUESTIONS</a:t>
            </a:r>
            <a:endParaRPr lang="en-IN" sz="3600" b="1" dirty="0">
              <a:solidFill>
                <a:schemeClr val="tx1"/>
              </a:solidFill>
              <a:latin typeface="Calibri" pitchFamily="34" charset="0"/>
              <a:cs typeface="Calibri" pitchFamily="34" charset="0"/>
            </a:endParaRPr>
          </a:p>
        </p:txBody>
      </p:sp>
      <p:sp>
        <p:nvSpPr>
          <p:cNvPr id="24579" name="TextBox 2"/>
          <p:cNvSpPr txBox="1">
            <a:spLocks noChangeArrowheads="1"/>
          </p:cNvSpPr>
          <p:nvPr/>
        </p:nvSpPr>
        <p:spPr bwMode="auto">
          <a:xfrm>
            <a:off x="3870325" y="469900"/>
            <a:ext cx="8016875"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400" b="1">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PROGRAMS</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Q1 Write a program in C to check a given number is even or odd using the function.</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2. Write a program in C to check whether a number is a prime number or not using the function.</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3. Write a program in C to check armstrong numbers using the function.</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4. Write a program in C to find the sum of the series 1!/1+2!/2+3!/3+4!/4+5!/5 using the   function.</a:t>
            </a: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5. Write a program to display fibonacci series upto user required number using function.</a:t>
            </a:r>
          </a:p>
          <a:p>
            <a:pPr algn="just"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 </a:t>
            </a:r>
            <a:r>
              <a:rPr lang="en-US" altLang="en-US" sz="2000">
                <a:solidFill>
                  <a:srgbClr val="333333"/>
                </a:solidFill>
                <a:latin typeface="Calibri" pitchFamily="34" charset="0"/>
                <a:ea typeface="Calibri" pitchFamily="34" charset="0"/>
                <a:cs typeface="Calibri" pitchFamily="34" charset="0"/>
              </a:rPr>
              <a:t/>
            </a:r>
            <a:br>
              <a:rPr lang="en-US" altLang="en-US" sz="2000">
                <a:solidFill>
                  <a:srgbClr val="333333"/>
                </a:solidFill>
                <a:latin typeface="Calibri" pitchFamily="34" charset="0"/>
                <a:ea typeface="Calibri" pitchFamily="34" charset="0"/>
                <a:cs typeface="Calibri" pitchFamily="34" charset="0"/>
              </a:rPr>
            </a:br>
            <a:endParaRPr lang="en-IN" altLang="en-US" sz="2000">
              <a:solidFill>
                <a:srgbClr val="B8D233"/>
              </a:solidFill>
              <a:latin typeface="Calibri" pitchFamily="34" charset="0"/>
              <a:ea typeface="Calibri" pitchFamily="34" charset="0"/>
              <a:cs typeface="Calibri" pitchFamily="34" charset="0"/>
            </a:endParaRPr>
          </a:p>
        </p:txBody>
      </p:sp>
      <p:pic>
        <p:nvPicPr>
          <p:cNvPr id="2458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77D9B82B-4FA6-4A06-9399-EFF9125AE41F}" type="slidenum">
              <a:rPr lang="en-US" altLang="en-US" sz="1200"/>
              <a:pPr>
                <a:lnSpc>
                  <a:spcPct val="100000"/>
                </a:lnSpc>
                <a:spcBef>
                  <a:spcPct val="0"/>
                </a:spcBef>
                <a:buClrTx/>
                <a:buSzTx/>
                <a:buFontTx/>
                <a:buNone/>
              </a:pPr>
              <a:t>20</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205820"/>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sz="3600" dirty="0"/>
          </a:p>
        </p:txBody>
      </p:sp>
      <p:sp>
        <p:nvSpPr>
          <p:cNvPr id="25603" name="Title 1"/>
          <p:cNvSpPr txBox="1">
            <a:spLocks/>
          </p:cNvSpPr>
          <p:nvPr/>
        </p:nvSpPr>
        <p:spPr bwMode="auto">
          <a:xfrm>
            <a:off x="358775" y="1908175"/>
            <a:ext cx="3200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defTabSz="914400" eaLnBrk="1" hangingPunct="1">
              <a:spcBef>
                <a:spcPct val="0"/>
              </a:spcBef>
              <a:buClrTx/>
              <a:buSzTx/>
              <a:buFontTx/>
              <a:buNone/>
            </a:pPr>
            <a:r>
              <a:rPr lang="en-US" altLang="en-US" sz="3200" b="1">
                <a:solidFill>
                  <a:schemeClr val="tx1"/>
                </a:solidFill>
                <a:latin typeface="Calibri" pitchFamily="34" charset="0"/>
                <a:ea typeface="Calibri" pitchFamily="34" charset="0"/>
                <a:cs typeface="Calibri" pitchFamily="34" charset="0"/>
              </a:rPr>
              <a:t>UTILISE YOUR KNOWLEDGE TO ANSWER</a:t>
            </a:r>
            <a:endParaRPr lang="en-IN" altLang="en-US" sz="3200" b="1">
              <a:solidFill>
                <a:schemeClr val="tx1"/>
              </a:solidFill>
              <a:latin typeface="Calibri" pitchFamily="34" charset="0"/>
              <a:ea typeface="Calibri" pitchFamily="34" charset="0"/>
              <a:cs typeface="Calibri" pitchFamily="34" charset="0"/>
            </a:endParaRPr>
          </a:p>
        </p:txBody>
      </p:sp>
      <p:sp>
        <p:nvSpPr>
          <p:cNvPr id="25604" name="TextBox 4"/>
          <p:cNvSpPr txBox="1">
            <a:spLocks noChangeArrowheads="1"/>
          </p:cNvSpPr>
          <p:nvPr/>
        </p:nvSpPr>
        <p:spPr bwMode="auto">
          <a:xfrm>
            <a:off x="603250" y="3471863"/>
            <a:ext cx="32670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Arial Rounded MT Bold" pitchFamily="34" charset="0"/>
              </a:rPr>
              <a:t>Let us see how much you have learned from the lecture and how effectively you can apply your knowledge…!!</a:t>
            </a:r>
          </a:p>
          <a:p>
            <a:pPr eaLnBrk="1" hangingPunct="1">
              <a:lnSpc>
                <a:spcPct val="100000"/>
              </a:lnSpc>
              <a:spcBef>
                <a:spcPct val="0"/>
              </a:spcBef>
              <a:buClrTx/>
              <a:buSzTx/>
              <a:buFontTx/>
              <a:buNone/>
            </a:pPr>
            <a:endParaRPr lang="en-IN" altLang="en-US" sz="1800">
              <a:solidFill>
                <a:schemeClr val="tx1"/>
              </a:solidFill>
            </a:endParaRPr>
          </a:p>
        </p:txBody>
      </p:sp>
      <p:sp>
        <p:nvSpPr>
          <p:cNvPr id="25605" name="TextBox 5"/>
          <p:cNvSpPr txBox="1">
            <a:spLocks noChangeArrowheads="1"/>
          </p:cNvSpPr>
          <p:nvPr/>
        </p:nvSpPr>
        <p:spPr bwMode="auto">
          <a:xfrm>
            <a:off x="4075113" y="595313"/>
            <a:ext cx="7616825"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1. Choose correct statement about Functions in C Language.</a:t>
            </a: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 A Function is a group of c statements which can be reused any number of times.</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B) Every Function has a return type.</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C) Every Function may no may not return a value.</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D) All the above.</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2 </a:t>
            </a:r>
            <a:r>
              <a:rPr lang="en-US" altLang="en-US" sz="1800" b="1">
                <a:solidFill>
                  <a:schemeClr val="tx1"/>
                </a:solidFill>
                <a:latin typeface="Calibri" pitchFamily="34" charset="0"/>
                <a:ea typeface="Calibri" pitchFamily="34" charset="0"/>
                <a:cs typeface="Calibri" pitchFamily="34" charset="0"/>
              </a:rPr>
              <a:t>What is the output of C Program with functions.? void show(); int main() { show(); printf("ARGENTINA "); return 0; } void show() { printf("AFRICA "); } </a:t>
            </a: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 ARGENTINA AFRICA</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B) AFRICA ARGENTINA</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C) ARGENTINA</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D) Compiler error</a:t>
            </a:r>
          </a:p>
          <a:p>
            <a:pPr eaLnBrk="1" hangingPunct="1">
              <a:lnSpc>
                <a:spcPct val="100000"/>
              </a:lnSpc>
              <a:spcBef>
                <a:spcPct val="0"/>
              </a:spcBef>
              <a:buClrTx/>
              <a:buSzTx/>
              <a:buFontTx/>
              <a:buNone/>
            </a:pPr>
            <a:endParaRPr lang="en-US" altLang="en-US" sz="1800" b="1">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3) How many values can a C Function return at a time.?</a:t>
            </a: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 Only One Value</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B) Maximum of two values</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C) Maximum of three values</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D) Maximum of 8 values</a:t>
            </a:r>
          </a:p>
          <a:p>
            <a:pPr eaLnBrk="1" hangingPunct="1">
              <a:lnSpc>
                <a:spcPct val="100000"/>
              </a:lnSpc>
              <a:spcBef>
                <a:spcPct val="0"/>
              </a:spcBef>
              <a:buClrTx/>
              <a:buSzTx/>
              <a:buFontTx/>
              <a:buNone/>
            </a:pP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endParaRPr lang="en-IN" altLang="en-US" sz="1800">
              <a:solidFill>
                <a:schemeClr val="tx1"/>
              </a:solidFill>
              <a:latin typeface="Calibri" pitchFamily="34" charset="0"/>
              <a:ea typeface="Calibri" pitchFamily="34" charset="0"/>
              <a:cs typeface="Calibri" pitchFamily="34" charset="0"/>
            </a:endParaRPr>
          </a:p>
        </p:txBody>
      </p:sp>
      <p:pic>
        <p:nvPicPr>
          <p:cNvPr id="2560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3EE12F8C-5E2C-4DE9-A894-D3A6E04464E6}" type="slidenum">
              <a:rPr lang="en-US" altLang="en-US" sz="1200"/>
              <a:pPr>
                <a:lnSpc>
                  <a:spcPct val="100000"/>
                </a:lnSpc>
                <a:spcBef>
                  <a:spcPct val="0"/>
                </a:spcBef>
                <a:buClrTx/>
                <a:buSzTx/>
                <a:buFontTx/>
                <a:buNone/>
              </a:pPr>
              <a:t>21</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223575"/>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sz="3600" dirty="0"/>
          </a:p>
        </p:txBody>
      </p:sp>
      <p:sp>
        <p:nvSpPr>
          <p:cNvPr id="26627" name="Title 1"/>
          <p:cNvSpPr txBox="1">
            <a:spLocks/>
          </p:cNvSpPr>
          <p:nvPr/>
        </p:nvSpPr>
        <p:spPr bwMode="auto">
          <a:xfrm>
            <a:off x="358775" y="1908175"/>
            <a:ext cx="3200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defTabSz="914400" eaLnBrk="1" hangingPunct="1">
              <a:spcBef>
                <a:spcPct val="0"/>
              </a:spcBef>
              <a:buClrTx/>
              <a:buSzTx/>
              <a:buFontTx/>
              <a:buNone/>
            </a:pPr>
            <a:r>
              <a:rPr lang="en-US" altLang="en-US" sz="3200" b="1">
                <a:solidFill>
                  <a:schemeClr val="tx1"/>
                </a:solidFill>
                <a:latin typeface="Calibri" pitchFamily="34" charset="0"/>
                <a:ea typeface="Calibri" pitchFamily="34" charset="0"/>
                <a:cs typeface="Calibri" pitchFamily="34" charset="0"/>
              </a:rPr>
              <a:t>UTILISE YOUR KNOWLEDGE TO ANSWER</a:t>
            </a:r>
            <a:endParaRPr lang="en-IN" altLang="en-US" sz="3200" b="1">
              <a:solidFill>
                <a:schemeClr val="tx1"/>
              </a:solidFill>
              <a:latin typeface="Calibri" pitchFamily="34" charset="0"/>
              <a:ea typeface="Calibri" pitchFamily="34" charset="0"/>
              <a:cs typeface="Calibri" pitchFamily="34" charset="0"/>
            </a:endParaRPr>
          </a:p>
        </p:txBody>
      </p:sp>
      <p:sp>
        <p:nvSpPr>
          <p:cNvPr id="26628" name="TextBox 4"/>
          <p:cNvSpPr txBox="1">
            <a:spLocks noChangeArrowheads="1"/>
          </p:cNvSpPr>
          <p:nvPr/>
        </p:nvSpPr>
        <p:spPr bwMode="auto">
          <a:xfrm>
            <a:off x="603250" y="3471863"/>
            <a:ext cx="32670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Arial Rounded MT Bold" pitchFamily="34" charset="0"/>
              </a:rPr>
              <a:t>Let us see how much you have learned from the lecture and how effectively you can apply your knowledge…!!</a:t>
            </a:r>
          </a:p>
          <a:p>
            <a:pPr eaLnBrk="1" hangingPunct="1">
              <a:lnSpc>
                <a:spcPct val="100000"/>
              </a:lnSpc>
              <a:spcBef>
                <a:spcPct val="0"/>
              </a:spcBef>
              <a:buClrTx/>
              <a:buSzTx/>
              <a:buFontTx/>
              <a:buNone/>
            </a:pPr>
            <a:endParaRPr lang="en-IN" altLang="en-US" sz="1800">
              <a:solidFill>
                <a:schemeClr val="tx1"/>
              </a:solidFill>
            </a:endParaRPr>
          </a:p>
        </p:txBody>
      </p:sp>
      <p:pic>
        <p:nvPicPr>
          <p:cNvPr id="26629"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3BC0CD68-6D88-4756-A75A-108FE477C866}" type="slidenum">
              <a:rPr lang="en-US" altLang="en-US" sz="1200"/>
              <a:pPr>
                <a:lnSpc>
                  <a:spcPct val="100000"/>
                </a:lnSpc>
                <a:spcBef>
                  <a:spcPct val="0"/>
                </a:spcBef>
                <a:buClrTx/>
                <a:buSzTx/>
                <a:buFontTx/>
                <a:buNone/>
              </a:pPr>
              <a:t>22</a:t>
            </a:fld>
            <a:endParaRPr lang="en-US" altLang="en-US" sz="1200"/>
          </a:p>
        </p:txBody>
      </p:sp>
      <p:sp>
        <p:nvSpPr>
          <p:cNvPr id="26632" name="Rectangle 10"/>
          <p:cNvSpPr>
            <a:spLocks noChangeArrowheads="1"/>
          </p:cNvSpPr>
          <p:nvPr/>
        </p:nvSpPr>
        <p:spPr bwMode="auto">
          <a:xfrm>
            <a:off x="4056063" y="387350"/>
            <a:ext cx="7758112"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r>
              <a:rPr lang="en-US" altLang="en-US" sz="2000" b="1">
                <a:solidFill>
                  <a:srgbClr val="000000"/>
                </a:solidFill>
                <a:latin typeface="Calibri" pitchFamily="34" charset="0"/>
                <a:ea typeface="Times New Roman" pitchFamily="18" charset="0"/>
                <a:cs typeface="Calibri" pitchFamily="34" charset="0"/>
              </a:rPr>
              <a:t>4 What are types of Functions in C Language.?</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A) Library Functions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B) User Defined Functions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C) Both Library and User Defined</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D) None of the above</a:t>
            </a:r>
          </a:p>
          <a:p>
            <a:pPr eaLnBrk="1" hangingPunct="1">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5. Which of the following statement is true about a function with an argument?</a:t>
            </a: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A.</a:t>
            </a:r>
            <a:r>
              <a:rPr lang="en-US" altLang="en-US" sz="2000">
                <a:solidFill>
                  <a:schemeClr val="tx1"/>
                </a:solidFill>
                <a:latin typeface="Calibri" pitchFamily="34" charset="0"/>
                <a:ea typeface="Times New Roman" pitchFamily="18" charset="0"/>
                <a:cs typeface="Calibri" pitchFamily="34" charset="0"/>
              </a:rPr>
              <a:t> No value is pass to the function during function call.</a:t>
            </a: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B.</a:t>
            </a:r>
            <a:r>
              <a:rPr lang="en-US" altLang="en-US" sz="2000">
                <a:solidFill>
                  <a:schemeClr val="tx1"/>
                </a:solidFill>
                <a:latin typeface="Calibri" pitchFamily="34" charset="0"/>
                <a:ea typeface="Times New Roman" pitchFamily="18" charset="0"/>
                <a:cs typeface="Calibri" pitchFamily="34" charset="0"/>
              </a:rPr>
              <a:t> function with an argument must not have return type</a:t>
            </a: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C.</a:t>
            </a:r>
            <a:r>
              <a:rPr lang="en-US" altLang="en-US" sz="2000">
                <a:solidFill>
                  <a:schemeClr val="tx1"/>
                </a:solidFill>
                <a:latin typeface="Calibri" pitchFamily="34" charset="0"/>
                <a:ea typeface="Times New Roman" pitchFamily="18" charset="0"/>
                <a:cs typeface="Calibri" pitchFamily="34" charset="0"/>
              </a:rPr>
              <a:t> function with an argument is declared and define with parameter list</a:t>
            </a:r>
          </a:p>
          <a:p>
            <a:pPr eaLnBrk="1" hangingPunct="1">
              <a:lnSpc>
                <a:spcPct val="100000"/>
              </a:lnSpc>
              <a:spcBef>
                <a:spcPct val="0"/>
              </a:spcBef>
              <a:buClrTx/>
              <a:buSzTx/>
              <a:buFontTx/>
              <a:buNone/>
            </a:pPr>
            <a:r>
              <a:rPr lang="en-US" altLang="en-US" sz="2000" b="1">
                <a:solidFill>
                  <a:schemeClr val="tx1"/>
                </a:solidFill>
                <a:latin typeface="Calibri" pitchFamily="34" charset="0"/>
                <a:ea typeface="Times New Roman" pitchFamily="18" charset="0"/>
                <a:cs typeface="Calibri" pitchFamily="34" charset="0"/>
              </a:rPr>
              <a:t>D.</a:t>
            </a:r>
            <a:r>
              <a:rPr lang="en-US" altLang="en-US" sz="2000">
                <a:solidFill>
                  <a:schemeClr val="tx1"/>
                </a:solidFill>
                <a:latin typeface="Calibri" pitchFamily="34" charset="0"/>
                <a:ea typeface="Times New Roman" pitchFamily="18" charset="0"/>
                <a:cs typeface="Calibri" pitchFamily="34" charset="0"/>
              </a:rPr>
              <a:t> none of the above</a:t>
            </a:r>
          </a:p>
          <a:p>
            <a:pPr>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0CE223AB-0688-40A2-AE98-898DF37F9438}" type="slidenum">
              <a:rPr lang="en-US" altLang="en-US" sz="1200"/>
              <a:pPr>
                <a:lnSpc>
                  <a:spcPct val="100000"/>
                </a:lnSpc>
                <a:spcBef>
                  <a:spcPct val="0"/>
                </a:spcBef>
                <a:buClrTx/>
                <a:buSzTx/>
                <a:buFontTx/>
                <a:buNone/>
              </a:pPr>
              <a:t>23</a:t>
            </a:fld>
            <a:endParaRPr lang="en-US" altLang="en-US" sz="1200"/>
          </a:p>
        </p:txBody>
      </p:sp>
      <p:sp>
        <p:nvSpPr>
          <p:cNvPr id="3" name="Rectangle 2"/>
          <p:cNvSpPr/>
          <p:nvPr/>
        </p:nvSpPr>
        <p:spPr>
          <a:xfrm>
            <a:off x="239697" y="230820"/>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r>
              <a:rPr lang="en-US" sz="3600" b="1" dirty="0">
                <a:solidFill>
                  <a:schemeClr val="tx1"/>
                </a:solidFill>
                <a:latin typeface="Calibri" pitchFamily="34" charset="0"/>
                <a:cs typeface="Calibri" pitchFamily="34" charset="0"/>
              </a:rPr>
              <a:t>Discussion</a:t>
            </a:r>
          </a:p>
          <a:p>
            <a:pPr algn="ctr" eaLnBrk="1" fontAlgn="auto" hangingPunct="1">
              <a:spcBef>
                <a:spcPts val="0"/>
              </a:spcBef>
              <a:spcAft>
                <a:spcPts val="0"/>
              </a:spcAft>
              <a:defRPr/>
            </a:pPr>
            <a:r>
              <a:rPr lang="en-US" sz="3600" b="1" dirty="0">
                <a:solidFill>
                  <a:schemeClr val="tx1"/>
                </a:solidFill>
                <a:latin typeface="Calibri" pitchFamily="34" charset="0"/>
                <a:cs typeface="Calibri" pitchFamily="34" charset="0"/>
              </a:rPr>
              <a:t> Forum</a:t>
            </a:r>
            <a:endParaRPr lang="en-IN" sz="3600" b="1" dirty="0">
              <a:solidFill>
                <a:schemeClr val="tx1"/>
              </a:solidFill>
              <a:latin typeface="Calibri" pitchFamily="34" charset="0"/>
              <a:cs typeface="Calibri" pitchFamily="34" charset="0"/>
            </a:endParaRPr>
          </a:p>
        </p:txBody>
      </p:sp>
      <p:sp>
        <p:nvSpPr>
          <p:cNvPr id="27652" name="Rectangle 2"/>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1800">
              <a:solidFill>
                <a:schemeClr val="tx1"/>
              </a:solidFill>
              <a:latin typeface="Arial" pitchFamily="34" charset="0"/>
            </a:endParaRPr>
          </a:p>
        </p:txBody>
      </p:sp>
      <p:pic>
        <p:nvPicPr>
          <p:cNvPr id="27653" name="image10.jpeg" descr="Questions, my answers and adv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1188" y="1589088"/>
            <a:ext cx="1200150"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Rectangle 3"/>
          <p:cNvSpPr>
            <a:spLocks noChangeArrowheads="1"/>
          </p:cNvSpPr>
          <p:nvPr/>
        </p:nvSpPr>
        <p:spPr bwMode="auto">
          <a:xfrm>
            <a:off x="4119563" y="3346450"/>
            <a:ext cx="7231062"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r>
              <a:rPr lang="en-US" altLang="en-US" sz="1100">
                <a:solidFill>
                  <a:schemeClr val="tx1"/>
                </a:solidFill>
                <a:latin typeface="Arial" pitchFamily="34" charset="0"/>
                <a:cs typeface="Times New Roman" pitchFamily="18" charset="0"/>
              </a:rPr>
              <a:t/>
            </a:r>
            <a:br>
              <a:rPr lang="en-US" altLang="en-US" sz="1100">
                <a:solidFill>
                  <a:schemeClr val="tx1"/>
                </a:solidFill>
                <a:latin typeface="Arial" pitchFamily="34" charset="0"/>
                <a:cs typeface="Times New Roman" pitchFamily="18" charset="0"/>
              </a:rPr>
            </a:br>
            <a:r>
              <a:rPr lang="en-US" altLang="en-US" sz="2000" b="1" i="1">
                <a:solidFill>
                  <a:schemeClr val="tx1"/>
                </a:solidFill>
                <a:latin typeface="Calibri" pitchFamily="34" charset="0"/>
                <a:cs typeface="Times New Roman" pitchFamily="18" charset="0"/>
              </a:rPr>
              <a:t>Write a program for ATM machine using function.</a:t>
            </a:r>
            <a:endParaRPr lang="en-US" altLang="en-US" sz="2000">
              <a:solidFill>
                <a:schemeClr val="tx1"/>
              </a:solidFill>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20713" y="469900"/>
            <a:ext cx="7283450" cy="6081713"/>
          </a:xfrm>
          <a:prstGeom prst="rect">
            <a:avLst/>
          </a:prstGeom>
        </p:spPr>
        <p:txBody>
          <a:bodyPr>
            <a:normAutofit fontScale="25000" lnSpcReduction="2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a:buFont typeface="Corbel" pitchFamily="34" charset="0"/>
              <a:buNone/>
              <a:defRPr/>
            </a:pPr>
            <a:r>
              <a:rPr lang="en-US" sz="8000" b="1" dirty="0">
                <a:solidFill>
                  <a:schemeClr val="tx1"/>
                </a:solidFill>
                <a:latin typeface="Calibri" pitchFamily="34" charset="0"/>
                <a:cs typeface="Calibri" pitchFamily="34" charset="0"/>
              </a:rPr>
              <a:t>   Book Reference: </a:t>
            </a:r>
          </a:p>
          <a:p>
            <a:pPr>
              <a:buFont typeface="Corbel" pitchFamily="34" charset="0"/>
              <a:buNone/>
              <a:defRPr/>
            </a:pPr>
            <a:r>
              <a:rPr lang="en-US" sz="8000" b="1" dirty="0">
                <a:solidFill>
                  <a:schemeClr val="tx1"/>
                </a:solidFill>
                <a:latin typeface="Calibri" pitchFamily="34" charset="0"/>
                <a:cs typeface="Calibri" pitchFamily="34" charset="0"/>
              </a:rPr>
              <a:t>   </a:t>
            </a:r>
            <a:r>
              <a:rPr lang="en-IN" sz="8000" u="sng" dirty="0">
                <a:solidFill>
                  <a:schemeClr val="tx1"/>
                </a:solidFill>
                <a:latin typeface="Calibri" pitchFamily="34" charset="0"/>
                <a:cs typeface="Calibri" pitchFamily="34" charset="0"/>
                <a:hlinkClick r:id="rId3"/>
              </a:rPr>
              <a:t>https://en.wikibooks.org/wiki/C_Programming</a:t>
            </a:r>
            <a:endParaRPr lang="en-US" sz="8000" dirty="0">
              <a:solidFill>
                <a:schemeClr val="tx1"/>
              </a:solidFill>
              <a:latin typeface="Calibri" pitchFamily="34" charset="0"/>
              <a:cs typeface="Calibri" pitchFamily="34" charset="0"/>
            </a:endParaRPr>
          </a:p>
          <a:p>
            <a:pPr>
              <a:defRPr/>
            </a:pPr>
            <a:r>
              <a:rPr lang="en-US" sz="8000" b="1" dirty="0">
                <a:solidFill>
                  <a:schemeClr val="tx1"/>
                </a:solidFill>
                <a:latin typeface="Calibri" pitchFamily="34" charset="0"/>
                <a:cs typeface="Calibri" pitchFamily="34" charset="0"/>
              </a:rPr>
              <a:t> </a:t>
            </a:r>
            <a:endParaRPr lang="en-US" sz="8000" dirty="0">
              <a:solidFill>
                <a:schemeClr val="tx1"/>
              </a:solidFill>
              <a:latin typeface="Calibri" pitchFamily="34" charset="0"/>
              <a:cs typeface="Calibri" pitchFamily="34" charset="0"/>
            </a:endParaRPr>
          </a:p>
          <a:p>
            <a:pPr>
              <a:buFont typeface="Corbel" pitchFamily="34" charset="0"/>
              <a:buNone/>
              <a:defRPr/>
            </a:pPr>
            <a:r>
              <a:rPr lang="en-US" sz="8000" b="1" dirty="0">
                <a:solidFill>
                  <a:schemeClr val="tx1"/>
                </a:solidFill>
                <a:latin typeface="Calibri" pitchFamily="34" charset="0"/>
                <a:cs typeface="Calibri" pitchFamily="34" charset="0"/>
              </a:rPr>
              <a:t>    </a:t>
            </a:r>
            <a:r>
              <a:rPr lang="en-US" sz="8000" b="1" dirty="0" err="1">
                <a:solidFill>
                  <a:schemeClr val="tx1"/>
                </a:solidFill>
                <a:latin typeface="Calibri" pitchFamily="34" charset="0"/>
                <a:cs typeface="Calibri" pitchFamily="34" charset="0"/>
              </a:rPr>
              <a:t>Vedio</a:t>
            </a:r>
            <a:r>
              <a:rPr lang="en-US" sz="8000" b="1" dirty="0">
                <a:solidFill>
                  <a:schemeClr val="tx1"/>
                </a:solidFill>
                <a:latin typeface="Calibri" pitchFamily="34" charset="0"/>
                <a:cs typeface="Calibri" pitchFamily="34" charset="0"/>
              </a:rPr>
              <a:t> Lecture:</a:t>
            </a:r>
          </a:p>
          <a:p>
            <a:pPr>
              <a:defRPr/>
            </a:pPr>
            <a:r>
              <a:rPr lang="en-US" sz="8000" u="sng" dirty="0">
                <a:solidFill>
                  <a:schemeClr val="tx1"/>
                </a:solidFill>
                <a:latin typeface="Calibri" pitchFamily="34" charset="0"/>
                <a:cs typeface="Calibri" pitchFamily="34" charset="0"/>
                <a:hlinkClick r:id="rId4"/>
              </a:rPr>
              <a:t>https://nptel.ac.in/courses/106/106/106106127/</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5"/>
              </a:rPr>
              <a:t>https://www.youtube.com/watch?v=4-xX9vmPDsc</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6"/>
              </a:rPr>
              <a:t>https://www.youtube.com/watch?v=Dt9q3qiaqiA</a:t>
            </a:r>
            <a:endParaRPr lang="en-US" sz="8000" dirty="0">
              <a:solidFill>
                <a:schemeClr val="tx1"/>
              </a:solidFill>
              <a:latin typeface="Calibri" pitchFamily="34" charset="0"/>
              <a:cs typeface="Calibri" pitchFamily="34" charset="0"/>
            </a:endParaRPr>
          </a:p>
          <a:p>
            <a:pPr>
              <a:defRPr/>
            </a:pPr>
            <a:r>
              <a:rPr lang="en-US" sz="8000" dirty="0">
                <a:solidFill>
                  <a:schemeClr val="tx1"/>
                </a:solidFill>
                <a:latin typeface="Calibri" pitchFamily="34" charset="0"/>
                <a:cs typeface="Calibri" pitchFamily="34" charset="0"/>
              </a:rPr>
              <a:t> </a:t>
            </a:r>
          </a:p>
          <a:p>
            <a:pPr>
              <a:buFont typeface="Corbel" pitchFamily="34" charset="0"/>
              <a:buNone/>
              <a:defRPr/>
            </a:pPr>
            <a:r>
              <a:rPr lang="en-US" sz="8000" b="1" dirty="0">
                <a:solidFill>
                  <a:schemeClr val="tx1"/>
                </a:solidFill>
                <a:latin typeface="Calibri" pitchFamily="34" charset="0"/>
                <a:cs typeface="Calibri" pitchFamily="34" charset="0"/>
              </a:rPr>
              <a:t>   Websites: </a:t>
            </a:r>
            <a:r>
              <a:rPr lang="en-US" sz="8000" dirty="0">
                <a:solidFill>
                  <a:schemeClr val="tx1"/>
                </a:solidFill>
                <a:latin typeface="Calibri" pitchFamily="34" charset="0"/>
                <a:cs typeface="Calibri" pitchFamily="34" charset="0"/>
              </a:rPr>
              <a:t> </a:t>
            </a:r>
            <a:r>
              <a:rPr lang="en-US" sz="8000" u="sng" dirty="0">
                <a:solidFill>
                  <a:schemeClr val="tx1"/>
                </a:solidFill>
                <a:latin typeface="Calibri" pitchFamily="34" charset="0"/>
                <a:cs typeface="Calibri" pitchFamily="34" charset="0"/>
                <a:hlinkClick r:id="rId7"/>
              </a:rPr>
              <a:t>https://www.tutorialspoint.com/cprogramming/c_functions.htm</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8"/>
              </a:rPr>
              <a:t>https://www.cs.utah.edu/~germain/PPS/Topics/C_Language/c_functions.html</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9"/>
              </a:rPr>
              <a:t>https://beginnersbook.com/2014/01/c-function-call-by-value-example/</a:t>
            </a:r>
            <a:endParaRPr lang="en-US" sz="8000" dirty="0">
              <a:solidFill>
                <a:schemeClr val="tx1"/>
              </a:solidFill>
              <a:latin typeface="Calibri" pitchFamily="34" charset="0"/>
              <a:cs typeface="Calibri" pitchFamily="34" charset="0"/>
            </a:endParaRPr>
          </a:p>
          <a:p>
            <a:pPr>
              <a:defRPr/>
            </a:pPr>
            <a:r>
              <a:rPr lang="en-US" sz="8000" b="1" dirty="0">
                <a:latin typeface="Calibri" pitchFamily="34" charset="0"/>
                <a:cs typeface="Calibri" pitchFamily="34" charset="0"/>
              </a:rPr>
              <a:t> </a:t>
            </a:r>
            <a:endParaRPr lang="en-US" sz="8000" dirty="0">
              <a:latin typeface="Calibri" pitchFamily="34" charset="0"/>
              <a:cs typeface="Calibri" pitchFamily="34" charset="0"/>
            </a:endParaRPr>
          </a:p>
          <a:p>
            <a:pPr>
              <a:buFont typeface="Corbel" pitchFamily="34" charset="0"/>
              <a:buNone/>
              <a:defRPr/>
            </a:pPr>
            <a:endParaRPr lang="en-US" sz="2400" dirty="0"/>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marL="0" indent="0" fontAlgn="auto">
              <a:spcAft>
                <a:spcPts val="0"/>
              </a:spcAft>
              <a:buFont typeface="Corbel" pitchFamily="34" charset="0"/>
              <a:buNone/>
              <a:defRPr/>
            </a:pPr>
            <a:endParaRPr lang="en-IN" sz="2400" dirty="0"/>
          </a:p>
          <a:p>
            <a:pPr fontAlgn="auto">
              <a:spcAft>
                <a:spcPts val="0"/>
              </a:spcAft>
              <a:defRPr/>
            </a:pPr>
            <a:endParaRPr lang="en-IN" dirty="0"/>
          </a:p>
        </p:txBody>
      </p:sp>
      <p:sp>
        <p:nvSpPr>
          <p:cNvPr id="3" name="Rectangle 2"/>
          <p:cNvSpPr/>
          <p:nvPr/>
        </p:nvSpPr>
        <p:spPr>
          <a:xfrm>
            <a:off x="8034292" y="150921"/>
            <a:ext cx="3906174" cy="648069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8676" name="Title 1"/>
          <p:cNvSpPr txBox="1">
            <a:spLocks/>
          </p:cNvSpPr>
          <p:nvPr/>
        </p:nvSpPr>
        <p:spPr bwMode="auto">
          <a:xfrm>
            <a:off x="8228013" y="1111250"/>
            <a:ext cx="35242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defTabSz="914400" eaLnBrk="1" hangingPunct="1">
              <a:spcBef>
                <a:spcPct val="0"/>
              </a:spcBef>
              <a:buClrTx/>
              <a:buSzTx/>
              <a:buFontTx/>
              <a:buNone/>
            </a:pPr>
            <a:r>
              <a:rPr lang="en-US" altLang="en-US" sz="4400">
                <a:latin typeface="Arial Rounded MT Bold" pitchFamily="34" charset="0"/>
              </a:rPr>
              <a:t>  </a:t>
            </a:r>
            <a:r>
              <a:rPr lang="en-US" altLang="en-US" sz="3600" b="1" u="sng">
                <a:solidFill>
                  <a:schemeClr val="tx1"/>
                </a:solidFill>
                <a:latin typeface="Calibri" pitchFamily="34" charset="0"/>
                <a:ea typeface="Calibri" pitchFamily="34" charset="0"/>
                <a:cs typeface="Calibri" pitchFamily="34" charset="0"/>
              </a:rPr>
              <a:t>REFERENCES</a:t>
            </a:r>
            <a:endParaRPr lang="en-IN" altLang="en-US" sz="3600" b="1" u="sng">
              <a:solidFill>
                <a:schemeClr val="tx1"/>
              </a:solidFill>
              <a:latin typeface="Calibri" pitchFamily="34" charset="0"/>
              <a:ea typeface="Calibri" pitchFamily="34" charset="0"/>
              <a:cs typeface="Calibri" pitchFamily="34" charset="0"/>
            </a:endParaRPr>
          </a:p>
        </p:txBody>
      </p:sp>
      <p:sp>
        <p:nvSpPr>
          <p:cNvPr id="6" name="TextBox 5"/>
          <p:cNvSpPr txBox="1">
            <a:spLocks noChangeArrowheads="1"/>
          </p:cNvSpPr>
          <p:nvPr/>
        </p:nvSpPr>
        <p:spPr bwMode="auto">
          <a:xfrm flipH="1">
            <a:off x="10120313" y="3895725"/>
            <a:ext cx="1674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Websites</a:t>
            </a:r>
            <a:endParaRPr lang="en-IN" altLang="en-US" sz="2400" b="1">
              <a:solidFill>
                <a:schemeClr val="tx1"/>
              </a:solidFill>
              <a:latin typeface="Calibri" pitchFamily="34" charset="0"/>
              <a:ea typeface="Calibri" pitchFamily="34" charset="0"/>
              <a:cs typeface="Calibri" pitchFamily="34" charset="0"/>
            </a:endParaRPr>
          </a:p>
        </p:txBody>
      </p:sp>
      <p:sp>
        <p:nvSpPr>
          <p:cNvPr id="7" name="TextBox 6"/>
          <p:cNvSpPr txBox="1">
            <a:spLocks noChangeArrowheads="1"/>
          </p:cNvSpPr>
          <p:nvPr/>
        </p:nvSpPr>
        <p:spPr bwMode="auto">
          <a:xfrm flipH="1">
            <a:off x="9042400" y="2933700"/>
            <a:ext cx="2055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Video Lectures</a:t>
            </a:r>
            <a:endParaRPr lang="en-IN" altLang="en-US" sz="2400" b="1">
              <a:solidFill>
                <a:schemeClr val="tx1"/>
              </a:solidFill>
              <a:latin typeface="Calibri" pitchFamily="34" charset="0"/>
              <a:ea typeface="Calibri" pitchFamily="34" charset="0"/>
              <a:cs typeface="Calibri" pitchFamily="34" charset="0"/>
            </a:endParaRPr>
          </a:p>
        </p:txBody>
      </p:sp>
      <p:pic>
        <p:nvPicPr>
          <p:cNvPr id="28679" name="Picture 7"/>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8"/>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5C305D5-0C50-4516-B2E0-CD6760358ADF}" type="slidenum">
              <a:rPr lang="en-US" altLang="en-US" sz="1200"/>
              <a:pPr>
                <a:lnSpc>
                  <a:spcPct val="100000"/>
                </a:lnSpc>
                <a:spcBef>
                  <a:spcPct val="0"/>
                </a:spcBef>
                <a:buClrTx/>
                <a:buSzTx/>
                <a:buFontTx/>
                <a:buNone/>
              </a:pPr>
              <a:t>24</a:t>
            </a:fld>
            <a:endParaRPr lang="en-US" altLang="en-US" sz="1200"/>
          </a:p>
        </p:txBody>
      </p:sp>
      <p:sp>
        <p:nvSpPr>
          <p:cNvPr id="28682" name="TextBox 10"/>
          <p:cNvSpPr txBox="1">
            <a:spLocks noChangeArrowheads="1"/>
          </p:cNvSpPr>
          <p:nvPr/>
        </p:nvSpPr>
        <p:spPr bwMode="auto">
          <a:xfrm>
            <a:off x="8188325" y="2174875"/>
            <a:ext cx="290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Book Reference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9698" name="TextBox 1"/>
          <p:cNvSpPr txBox="1">
            <a:spLocks noChangeArrowheads="1"/>
          </p:cNvSpPr>
          <p:nvPr/>
        </p:nvSpPr>
        <p:spPr bwMode="auto">
          <a:xfrm>
            <a:off x="1908175" y="1277938"/>
            <a:ext cx="90551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8800">
                <a:solidFill>
                  <a:srgbClr val="B8D233"/>
                </a:solidFill>
                <a:latin typeface="Broadway" pitchFamily="82" charset="0"/>
              </a:rPr>
              <a:t>THANK YOU….</a:t>
            </a:r>
            <a:endParaRPr lang="en-IN" altLang="en-US" sz="8800">
              <a:solidFill>
                <a:srgbClr val="B8D233"/>
              </a:solidFill>
              <a:latin typeface="Broadway" pitchFamily="82" charset="0"/>
            </a:endParaRPr>
          </a:p>
        </p:txBody>
      </p:sp>
      <p:pic>
        <p:nvPicPr>
          <p:cNvPr id="2969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3900" y="3951288"/>
            <a:ext cx="3352800"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D8C9004C-C304-4A74-AC85-59C8F2366D9E}" type="slidenum">
              <a:rPr lang="en-US" altLang="en-US" sz="1200"/>
              <a:pPr>
                <a:lnSpc>
                  <a:spcPct val="100000"/>
                </a:lnSpc>
                <a:spcBef>
                  <a:spcPct val="0"/>
                </a:spcBef>
                <a:buClrTx/>
                <a:buSzTx/>
                <a:buFontTx/>
                <a:buNone/>
              </a:pPr>
              <a:t>25</a:t>
            </a:fld>
            <a:endParaRPr lang="en-US" altLang="en-US" sz="12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AC3A922-03E3-4ECC-A0D4-65E26CBC9F06"/>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PRESENTATION_TITLE" val="lecture 11 switch statement"/>
  <p:tag name="ISPRING_FIRST_PUBLISH" val="1"/>
  <p:tag name="ISPRING_SCORM_RATE_QUIZZES" val="0"/>
</p:tagLst>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D6CB65-89C6-41FF-8C6F-C5543AF58A57}">
  <ds:schemaRefs>
    <ds:schemaRef ds:uri="http://purl.org/dc/elements/1.1/"/>
    <ds:schemaRef ds:uri="http://www.w3.org/XML/1998/namespace"/>
    <ds:schemaRef ds:uri="http://schemas.openxmlformats.org/package/2006/metadata/core-properties"/>
    <ds:schemaRef ds:uri="http://purl.org/dc/terms/"/>
    <ds:schemaRef ds:uri="http://schemas.microsoft.com/office/2006/documentManagement/types"/>
    <ds:schemaRef ds:uri="http://purl.org/dc/dcmitype/"/>
    <ds:schemaRef ds:uri="16c05727-aa75-4e4a-9b5f-8a80a1165891"/>
    <ds:schemaRef ds:uri="http://schemas.microsoft.com/office/infopath/2007/PartnerControls"/>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3.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Basis</Template>
  <TotalTime>0</TotalTime>
  <Words>1334</Words>
  <Application>Microsoft Office PowerPoint</Application>
  <PresentationFormat>Widescreen</PresentationFormat>
  <Paragraphs>388</Paragraphs>
  <Slides>25</Slides>
  <Notes>21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6" baseType="lpstr">
      <vt:lpstr>Arial</vt:lpstr>
      <vt:lpstr>Arial Black</vt:lpstr>
      <vt:lpstr>Arial Rounded MT Bold</vt:lpstr>
      <vt:lpstr>Broadway</vt:lpstr>
      <vt:lpstr>Calibri</vt:lpstr>
      <vt:lpstr>Casper</vt:lpstr>
      <vt:lpstr>Corbel</vt:lpstr>
      <vt:lpstr>Karla</vt:lpstr>
      <vt:lpstr>Times New Roman</vt:lpstr>
      <vt:lpstr>Basis</vt:lpstr>
      <vt:lpstr>CorelDRAW</vt:lpstr>
      <vt:lpstr>PowerPoint Presentation</vt:lpstr>
      <vt:lpstr> Course objectives</vt:lpstr>
      <vt:lpstr>PowerPoint Presentation</vt:lpstr>
      <vt:lpstr> Scheme of Evaluation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switch statement</dc:title>
  <dc:creator/>
  <cp:lastModifiedBy/>
  <cp:revision>1</cp:revision>
  <dcterms:created xsi:type="dcterms:W3CDTF">2020-06-24T07:38:53Z</dcterms:created>
  <dcterms:modified xsi:type="dcterms:W3CDTF">2023-06-01T09:18:16Z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