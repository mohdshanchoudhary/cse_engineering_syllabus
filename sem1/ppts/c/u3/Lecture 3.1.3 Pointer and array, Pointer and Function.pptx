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0"/>
  </p:notesMasterIdLst>
  <p:handoutMasterIdLst>
    <p:handoutMasterId r:id="rId31"/>
  </p:handoutMasterIdLst>
  <p:sldIdLst>
    <p:sldId id="35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374" r:id="rId15"/>
    <p:sldId id="394" r:id="rId16"/>
    <p:sldId id="396" r:id="rId17"/>
    <p:sldId id="395" r:id="rId18"/>
    <p:sldId id="397" r:id="rId19"/>
    <p:sldId id="400" r:id="rId20"/>
    <p:sldId id="350" r:id="rId21"/>
    <p:sldId id="351" r:id="rId22"/>
    <p:sldId id="389" r:id="rId23"/>
    <p:sldId id="364" r:id="rId24"/>
    <p:sldId id="361" r:id="rId25"/>
    <p:sldId id="412" r:id="rId26"/>
    <p:sldId id="352" r:id="rId27"/>
    <p:sldId id="284" r:id="rId28"/>
    <p:sldId id="353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8137"/>
    <a:srgbClr val="BC8F00"/>
    <a:srgbClr val="86000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D818A-DE61-492C-9F49-4330F19690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295EEC2-FBA3-4050-935A-2B74E2E9956D}">
      <dgm:prSet/>
      <dgm:spPr/>
      <dgm:t>
        <a:bodyPr/>
        <a:lstStyle/>
        <a:p>
          <a:r>
            <a:rPr lang="en-IN" b="0" i="0" dirty="0"/>
            <a:t>C programming allows passing a pointer to a function. To do so, simply declare the function parameter as a pointer type.</a:t>
          </a:r>
          <a:endParaRPr lang="en-IN" dirty="0"/>
        </a:p>
      </dgm:t>
    </dgm:pt>
    <dgm:pt modelId="{B23B6547-19ED-4B0F-81FC-817F03CB178B}" type="parTrans" cxnId="{29DA9CC9-1816-462A-BE5A-EC0571DA1B3B}">
      <dgm:prSet/>
      <dgm:spPr/>
      <dgm:t>
        <a:bodyPr/>
        <a:lstStyle/>
        <a:p>
          <a:endParaRPr lang="en-IN"/>
        </a:p>
      </dgm:t>
    </dgm:pt>
    <dgm:pt modelId="{ED9CB3AD-CDF6-4EC8-BF20-521B2E6D986A}" type="sibTrans" cxnId="{29DA9CC9-1816-462A-BE5A-EC0571DA1B3B}">
      <dgm:prSet/>
      <dgm:spPr/>
      <dgm:t>
        <a:bodyPr/>
        <a:lstStyle/>
        <a:p>
          <a:endParaRPr lang="en-IN"/>
        </a:p>
      </dgm:t>
    </dgm:pt>
    <dgm:pt modelId="{C1FD5A21-896B-4D79-BE1F-2C7B4D412804}">
      <dgm:prSet/>
      <dgm:spPr/>
      <dgm:t>
        <a:bodyPr/>
        <a:lstStyle/>
        <a:p>
          <a:r>
            <a:rPr lang="en-IN" b="0" i="0" dirty="0"/>
            <a:t>In call by value method, the value of the actual parameters is copied into the formal parameters. </a:t>
          </a:r>
          <a:endParaRPr lang="en-IN" dirty="0"/>
        </a:p>
      </dgm:t>
    </dgm:pt>
    <dgm:pt modelId="{069D4E4E-7AB6-4FF7-ABE9-265405EF9BD8}" type="parTrans" cxnId="{340D8D37-4B11-440E-B91F-AFC619BC931F}">
      <dgm:prSet/>
      <dgm:spPr/>
      <dgm:t>
        <a:bodyPr/>
        <a:lstStyle/>
        <a:p>
          <a:endParaRPr lang="en-IN"/>
        </a:p>
      </dgm:t>
    </dgm:pt>
    <dgm:pt modelId="{91065915-5771-4CA9-A5A3-A83E6F9A1D03}" type="sibTrans" cxnId="{340D8D37-4B11-440E-B91F-AFC619BC931F}">
      <dgm:prSet/>
      <dgm:spPr/>
      <dgm:t>
        <a:bodyPr/>
        <a:lstStyle/>
        <a:p>
          <a:endParaRPr lang="en-IN"/>
        </a:p>
      </dgm:t>
    </dgm:pt>
    <dgm:pt modelId="{71AC99FA-5F0E-4E5E-85F8-CE235E2ADC5D}">
      <dgm:prSet/>
      <dgm:spPr/>
      <dgm:t>
        <a:bodyPr/>
        <a:lstStyle/>
        <a:p>
          <a:r>
            <a:rPr lang="en-IN" b="0" i="0" dirty="0"/>
            <a:t>When an array is declared, compiler allocates sufficient amount of memory to contain all the elements of the array.</a:t>
          </a:r>
          <a:endParaRPr lang="en-IN" dirty="0"/>
        </a:p>
      </dgm:t>
    </dgm:pt>
    <dgm:pt modelId="{FFDB83E4-03E2-432B-8FEA-3D41EC926342}" type="parTrans" cxnId="{F0FCDA8D-3738-4674-93A8-70308C681611}">
      <dgm:prSet/>
      <dgm:spPr/>
      <dgm:t>
        <a:bodyPr/>
        <a:lstStyle/>
        <a:p>
          <a:endParaRPr lang="en-IN"/>
        </a:p>
      </dgm:t>
    </dgm:pt>
    <dgm:pt modelId="{7591503A-7731-4B65-98B9-4F8649B3D75B}" type="sibTrans" cxnId="{F0FCDA8D-3738-4674-93A8-70308C681611}">
      <dgm:prSet/>
      <dgm:spPr/>
      <dgm:t>
        <a:bodyPr/>
        <a:lstStyle/>
        <a:p>
          <a:endParaRPr lang="en-IN"/>
        </a:p>
      </dgm:t>
    </dgm:pt>
    <dgm:pt modelId="{91D3E2DF-D1F6-4907-A3EA-9ED8C8EB6C3A}">
      <dgm:prSet/>
      <dgm:spPr/>
      <dgm:t>
        <a:bodyPr/>
        <a:lstStyle/>
        <a:p>
          <a:r>
            <a:rPr lang="en-IN" b="0" i="0" dirty="0"/>
            <a:t>C also allows to return a pointer from a function.</a:t>
          </a:r>
          <a:endParaRPr lang="en-IN" dirty="0"/>
        </a:p>
      </dgm:t>
    </dgm:pt>
    <dgm:pt modelId="{E8A40DA6-801C-45FA-B1E0-43106335E016}" type="parTrans" cxnId="{9D631FFB-E951-4E68-9074-02036DA5C241}">
      <dgm:prSet/>
      <dgm:spPr/>
      <dgm:t>
        <a:bodyPr/>
        <a:lstStyle/>
        <a:p>
          <a:endParaRPr lang="en-IN"/>
        </a:p>
      </dgm:t>
    </dgm:pt>
    <dgm:pt modelId="{CD446FA2-660B-48FB-BD63-2CF5E614AB37}" type="sibTrans" cxnId="{9D631FFB-E951-4E68-9074-02036DA5C241}">
      <dgm:prSet/>
      <dgm:spPr/>
      <dgm:t>
        <a:bodyPr/>
        <a:lstStyle/>
        <a:p>
          <a:endParaRPr lang="en-IN"/>
        </a:p>
      </dgm:t>
    </dgm:pt>
    <dgm:pt modelId="{27F14304-BC7D-4C74-87DF-2548E63C883A}">
      <dgm:prSet/>
      <dgm:spPr/>
      <dgm:t>
        <a:bodyPr/>
        <a:lstStyle/>
        <a:p>
          <a:r>
            <a:rPr lang="en-IN" b="0" i="0" dirty="0"/>
            <a:t>In call by reference, the address of the variable is passed into the function call as the actual parameter.</a:t>
          </a:r>
          <a:endParaRPr lang="en-IN" dirty="0"/>
        </a:p>
      </dgm:t>
    </dgm:pt>
    <dgm:pt modelId="{2603FF77-7555-45B5-9C33-627C8454F1F3}" type="parTrans" cxnId="{0645D799-A320-4248-BB87-D8896F8FCB83}">
      <dgm:prSet/>
      <dgm:spPr/>
      <dgm:t>
        <a:bodyPr/>
        <a:lstStyle/>
        <a:p>
          <a:endParaRPr lang="en-IN"/>
        </a:p>
      </dgm:t>
    </dgm:pt>
    <dgm:pt modelId="{D4CEF371-0B7F-4477-A0AF-1135EEE7D70E}" type="sibTrans" cxnId="{0645D799-A320-4248-BB87-D8896F8FCB83}">
      <dgm:prSet/>
      <dgm:spPr/>
      <dgm:t>
        <a:bodyPr/>
        <a:lstStyle/>
        <a:p>
          <a:endParaRPr lang="en-IN"/>
        </a:p>
      </dgm:t>
    </dgm:pt>
    <dgm:pt modelId="{097EF926-1259-452F-A448-711C22076917}" type="pres">
      <dgm:prSet presAssocID="{A30D818A-DE61-492C-9F49-4330F19690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292970-F9DD-441E-BAEB-380663E4D2C4}" type="pres">
      <dgm:prSet presAssocID="{C1FD5A21-896B-4D79-BE1F-2C7B4D412804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D9D588-04B2-4865-9712-FCABE9851784}" type="pres">
      <dgm:prSet presAssocID="{91065915-5771-4CA9-A5A3-A83E6F9A1D03}" presName="sibTrans" presStyleCnt="0"/>
      <dgm:spPr/>
    </dgm:pt>
    <dgm:pt modelId="{0F2235BC-161E-4012-876B-116AE560118A}" type="pres">
      <dgm:prSet presAssocID="{7295EEC2-FBA3-4050-935A-2B74E2E9956D}" presName="node" presStyleLbl="node1" presStyleIdx="1" presStyleCnt="5" custLinFactY="17074" custLinFactNeighborX="-71202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994BE4-570F-47F9-A06C-DADB0F7D8BDA}" type="pres">
      <dgm:prSet presAssocID="{ED9CB3AD-CDF6-4EC8-BF20-521B2E6D986A}" presName="sibTrans" presStyleCnt="0"/>
      <dgm:spPr/>
    </dgm:pt>
    <dgm:pt modelId="{1816216F-2439-45B6-AA12-2F5AED94FE7F}" type="pres">
      <dgm:prSet presAssocID="{71AC99FA-5F0E-4E5E-85F8-CE235E2ADC5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6F2579-5CED-4646-9215-837B33A18955}" type="pres">
      <dgm:prSet presAssocID="{7591503A-7731-4B65-98B9-4F8649B3D75B}" presName="sibTrans" presStyleCnt="0"/>
      <dgm:spPr/>
    </dgm:pt>
    <dgm:pt modelId="{5577C38B-1AD0-44CA-BD09-5E85CC654899}" type="pres">
      <dgm:prSet presAssocID="{27F14304-BC7D-4C74-87DF-2548E63C883A}" presName="node" presStyleLbl="node1" presStyleIdx="3" presStyleCnt="5" custLinFactY="-17950" custLinFactNeighborX="5500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745B9F-7112-41C4-87AF-A33AD42542C7}" type="pres">
      <dgm:prSet presAssocID="{D4CEF371-0B7F-4477-A0AF-1135EEE7D70E}" presName="sibTrans" presStyleCnt="0"/>
      <dgm:spPr/>
    </dgm:pt>
    <dgm:pt modelId="{CFA59CC9-D96D-4D47-958B-A209C04486D4}" type="pres">
      <dgm:prSet presAssocID="{91D3E2DF-D1F6-4907-A3EA-9ED8C8EB6C3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DA9CC9-1816-462A-BE5A-EC0571DA1B3B}" srcId="{A30D818A-DE61-492C-9F49-4330F19690E3}" destId="{7295EEC2-FBA3-4050-935A-2B74E2E9956D}" srcOrd="1" destOrd="0" parTransId="{B23B6547-19ED-4B0F-81FC-817F03CB178B}" sibTransId="{ED9CB3AD-CDF6-4EC8-BF20-521B2E6D986A}"/>
    <dgm:cxn modelId="{340D8D37-4B11-440E-B91F-AFC619BC931F}" srcId="{A30D818A-DE61-492C-9F49-4330F19690E3}" destId="{C1FD5A21-896B-4D79-BE1F-2C7B4D412804}" srcOrd="0" destOrd="0" parTransId="{069D4E4E-7AB6-4FF7-ABE9-265405EF9BD8}" sibTransId="{91065915-5771-4CA9-A5A3-A83E6F9A1D03}"/>
    <dgm:cxn modelId="{D00252CB-9D61-4788-A959-DB99FAB8CBDB}" type="presOf" srcId="{A30D818A-DE61-492C-9F49-4330F19690E3}" destId="{097EF926-1259-452F-A448-711C22076917}" srcOrd="0" destOrd="0" presId="urn:microsoft.com/office/officeart/2005/8/layout/default"/>
    <dgm:cxn modelId="{9D631FFB-E951-4E68-9074-02036DA5C241}" srcId="{A30D818A-DE61-492C-9F49-4330F19690E3}" destId="{91D3E2DF-D1F6-4907-A3EA-9ED8C8EB6C3A}" srcOrd="4" destOrd="0" parTransId="{E8A40DA6-801C-45FA-B1E0-43106335E016}" sibTransId="{CD446FA2-660B-48FB-BD63-2CF5E614AB37}"/>
    <dgm:cxn modelId="{6696A38E-82EE-46F4-98D3-93608C36D26B}" type="presOf" srcId="{27F14304-BC7D-4C74-87DF-2548E63C883A}" destId="{5577C38B-1AD0-44CA-BD09-5E85CC654899}" srcOrd="0" destOrd="0" presId="urn:microsoft.com/office/officeart/2005/8/layout/default"/>
    <dgm:cxn modelId="{9677DC78-F385-4654-99DB-1D7DA86D4EDA}" type="presOf" srcId="{C1FD5A21-896B-4D79-BE1F-2C7B4D412804}" destId="{41292970-F9DD-441E-BAEB-380663E4D2C4}" srcOrd="0" destOrd="0" presId="urn:microsoft.com/office/officeart/2005/8/layout/default"/>
    <dgm:cxn modelId="{90AA139E-CDD4-477E-97EB-991E0EE6C03D}" type="presOf" srcId="{7295EEC2-FBA3-4050-935A-2B74E2E9956D}" destId="{0F2235BC-161E-4012-876B-116AE560118A}" srcOrd="0" destOrd="0" presId="urn:microsoft.com/office/officeart/2005/8/layout/default"/>
    <dgm:cxn modelId="{952CA632-8BB8-4C3F-92C4-67606D2D83CF}" type="presOf" srcId="{71AC99FA-5F0E-4E5E-85F8-CE235E2ADC5D}" destId="{1816216F-2439-45B6-AA12-2F5AED94FE7F}" srcOrd="0" destOrd="0" presId="urn:microsoft.com/office/officeart/2005/8/layout/default"/>
    <dgm:cxn modelId="{0645D799-A320-4248-BB87-D8896F8FCB83}" srcId="{A30D818A-DE61-492C-9F49-4330F19690E3}" destId="{27F14304-BC7D-4C74-87DF-2548E63C883A}" srcOrd="3" destOrd="0" parTransId="{2603FF77-7555-45B5-9C33-627C8454F1F3}" sibTransId="{D4CEF371-0B7F-4477-A0AF-1135EEE7D70E}"/>
    <dgm:cxn modelId="{F0FCDA8D-3738-4674-93A8-70308C681611}" srcId="{A30D818A-DE61-492C-9F49-4330F19690E3}" destId="{71AC99FA-5F0E-4E5E-85F8-CE235E2ADC5D}" srcOrd="2" destOrd="0" parTransId="{FFDB83E4-03E2-432B-8FEA-3D41EC926342}" sibTransId="{7591503A-7731-4B65-98B9-4F8649B3D75B}"/>
    <dgm:cxn modelId="{FBF1DF1A-7D4E-45A2-885F-C929420EC7E5}" type="presOf" srcId="{91D3E2DF-D1F6-4907-A3EA-9ED8C8EB6C3A}" destId="{CFA59CC9-D96D-4D47-958B-A209C04486D4}" srcOrd="0" destOrd="0" presId="urn:microsoft.com/office/officeart/2005/8/layout/default"/>
    <dgm:cxn modelId="{3A56FD87-5179-44CD-9217-DF95800F9661}" type="presParOf" srcId="{097EF926-1259-452F-A448-711C22076917}" destId="{41292970-F9DD-441E-BAEB-380663E4D2C4}" srcOrd="0" destOrd="0" presId="urn:microsoft.com/office/officeart/2005/8/layout/default"/>
    <dgm:cxn modelId="{874BD574-6BC8-4FC6-B901-843A9A069823}" type="presParOf" srcId="{097EF926-1259-452F-A448-711C22076917}" destId="{1FD9D588-04B2-4865-9712-FCABE9851784}" srcOrd="1" destOrd="0" presId="urn:microsoft.com/office/officeart/2005/8/layout/default"/>
    <dgm:cxn modelId="{602B5DD5-CC0D-4974-9418-DA91DEABA256}" type="presParOf" srcId="{097EF926-1259-452F-A448-711C22076917}" destId="{0F2235BC-161E-4012-876B-116AE560118A}" srcOrd="2" destOrd="0" presId="urn:microsoft.com/office/officeart/2005/8/layout/default"/>
    <dgm:cxn modelId="{2AE6DE7A-66B4-4177-A06F-6E4E114A226F}" type="presParOf" srcId="{097EF926-1259-452F-A448-711C22076917}" destId="{D6994BE4-570F-47F9-A06C-DADB0F7D8BDA}" srcOrd="3" destOrd="0" presId="urn:microsoft.com/office/officeart/2005/8/layout/default"/>
    <dgm:cxn modelId="{AC6843DF-2953-42FE-9104-E93A33013077}" type="presParOf" srcId="{097EF926-1259-452F-A448-711C22076917}" destId="{1816216F-2439-45B6-AA12-2F5AED94FE7F}" srcOrd="4" destOrd="0" presId="urn:microsoft.com/office/officeart/2005/8/layout/default"/>
    <dgm:cxn modelId="{1852FDC5-55B0-452D-940B-DDF59D8A81A6}" type="presParOf" srcId="{097EF926-1259-452F-A448-711C22076917}" destId="{1D6F2579-5CED-4646-9215-837B33A18955}" srcOrd="5" destOrd="0" presId="urn:microsoft.com/office/officeart/2005/8/layout/default"/>
    <dgm:cxn modelId="{69DD6F51-99C4-4624-AB2A-D06C09978BBB}" type="presParOf" srcId="{097EF926-1259-452F-A448-711C22076917}" destId="{5577C38B-1AD0-44CA-BD09-5E85CC654899}" srcOrd="6" destOrd="0" presId="urn:microsoft.com/office/officeart/2005/8/layout/default"/>
    <dgm:cxn modelId="{D2A0B5BA-A40D-412D-873E-63D8EDD96C9F}" type="presParOf" srcId="{097EF926-1259-452F-A448-711C22076917}" destId="{F6745B9F-7112-41C4-87AF-A33AD42542C7}" srcOrd="7" destOrd="0" presId="urn:microsoft.com/office/officeart/2005/8/layout/default"/>
    <dgm:cxn modelId="{EBD921EC-3428-4241-B8F6-702CA5D22853}" type="presParOf" srcId="{097EF926-1259-452F-A448-711C22076917}" destId="{CFA59CC9-D96D-4D47-958B-A209C04486D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92970-F9DD-441E-BAEB-380663E4D2C4}">
      <dsp:nvSpPr>
        <dsp:cNvPr id="0" name=""/>
        <dsp:cNvSpPr/>
      </dsp:nvSpPr>
      <dsp:spPr>
        <a:xfrm>
          <a:off x="0" y="902065"/>
          <a:ext cx="2780411" cy="1668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In call by value method, the value of the actual parameters is copied into the formal parameters. </a:t>
          </a:r>
          <a:endParaRPr lang="en-IN" sz="1800" kern="1200" dirty="0"/>
        </a:p>
      </dsp:txBody>
      <dsp:txXfrm>
        <a:off x="0" y="902065"/>
        <a:ext cx="2780411" cy="1668246"/>
      </dsp:txXfrm>
    </dsp:sp>
    <dsp:sp modelId="{0F2235BC-161E-4012-876B-116AE560118A}">
      <dsp:nvSpPr>
        <dsp:cNvPr id="0" name=""/>
        <dsp:cNvSpPr/>
      </dsp:nvSpPr>
      <dsp:spPr>
        <a:xfrm>
          <a:off x="1078744" y="2855149"/>
          <a:ext cx="2780411" cy="16682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C programming allows passing a pointer to a function. To do so, simply declare the function parameter as a pointer type.</a:t>
          </a:r>
          <a:endParaRPr lang="en-IN" sz="1800" kern="1200" dirty="0"/>
        </a:p>
      </dsp:txBody>
      <dsp:txXfrm>
        <a:off x="1078744" y="2855149"/>
        <a:ext cx="2780411" cy="1668246"/>
      </dsp:txXfrm>
    </dsp:sp>
    <dsp:sp modelId="{1816216F-2439-45B6-AA12-2F5AED94FE7F}">
      <dsp:nvSpPr>
        <dsp:cNvPr id="0" name=""/>
        <dsp:cNvSpPr/>
      </dsp:nvSpPr>
      <dsp:spPr>
        <a:xfrm>
          <a:off x="6116905" y="902065"/>
          <a:ext cx="2780411" cy="16682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When an array is declared, compiler allocates sufficient amount of memory to contain all the elements of the array.</a:t>
          </a:r>
          <a:endParaRPr lang="en-IN" sz="1800" kern="1200" dirty="0"/>
        </a:p>
      </dsp:txBody>
      <dsp:txXfrm>
        <a:off x="6116905" y="902065"/>
        <a:ext cx="2780411" cy="1668246"/>
      </dsp:txXfrm>
    </dsp:sp>
    <dsp:sp modelId="{5577C38B-1AD0-44CA-BD09-5E85CC654899}">
      <dsp:nvSpPr>
        <dsp:cNvPr id="0" name=""/>
        <dsp:cNvSpPr/>
      </dsp:nvSpPr>
      <dsp:spPr>
        <a:xfrm>
          <a:off x="3058452" y="880656"/>
          <a:ext cx="2780411" cy="16682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In call by reference, the address of the variable is passed into the function call as the actual parameter.</a:t>
          </a:r>
          <a:endParaRPr lang="en-IN" sz="1800" kern="1200" dirty="0"/>
        </a:p>
      </dsp:txBody>
      <dsp:txXfrm>
        <a:off x="3058452" y="880656"/>
        <a:ext cx="2780411" cy="1668246"/>
      </dsp:txXfrm>
    </dsp:sp>
    <dsp:sp modelId="{CFA59CC9-D96D-4D47-958B-A209C04486D4}">
      <dsp:nvSpPr>
        <dsp:cNvPr id="0" name=""/>
        <dsp:cNvSpPr/>
      </dsp:nvSpPr>
      <dsp:spPr>
        <a:xfrm>
          <a:off x="4587679" y="2848354"/>
          <a:ext cx="2780411" cy="16682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i="0" kern="1200" dirty="0"/>
            <a:t>C also allows to return a pointer from a function.</a:t>
          </a:r>
          <a:endParaRPr lang="en-IN" sz="1800" kern="1200" dirty="0"/>
        </a:p>
      </dsp:txBody>
      <dsp:txXfrm>
        <a:off x="4587679" y="2848354"/>
        <a:ext cx="2780411" cy="1668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58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87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13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81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3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0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25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6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hyperlink" Target="https://www.studytonight.com/c/pointers-with-array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ytonight.com/c/pointers-with-array.php" TargetMode="External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69340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36408" y="592201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40610" y="5988169"/>
            <a:ext cx="6432043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Pointers: Functions returning Pointer, Storage Classes 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128870" y="1388820"/>
            <a:ext cx="9884238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UNIT-3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(Non IT) 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Code:23CSH-107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2619374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Problem Solving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248" y="3457574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1791A24-3CC5-4ACD-B2EC-2F300FCC8BF6}"/>
              </a:ext>
            </a:extLst>
          </p:cNvPr>
          <p:cNvGraphicFramePr>
            <a:graphicFrameLocks noGrp="1"/>
          </p:cNvGraphicFramePr>
          <p:nvPr/>
        </p:nvGraphicFramePr>
        <p:xfrm>
          <a:off x="450248" y="3952876"/>
          <a:ext cx="5398102" cy="2768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8102">
                  <a:extLst>
                    <a:ext uri="{9D8B030D-6E8A-4147-A177-3AD203B41FA5}">
                      <a16:colId xmlns:a16="http://schemas.microsoft.com/office/drawing/2014/main" val="529727568"/>
                    </a:ext>
                  </a:extLst>
                </a:gridCol>
              </a:tblGrid>
              <a:tr h="7841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provide exposure to problem-solving through programming.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58708"/>
                  </a:ext>
                </a:extLst>
              </a:tr>
              <a:tr h="790538">
                <a:tc>
                  <a:txBody>
                    <a:bodyPr/>
                    <a:lstStyle/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raise the programming skills of students via logic building capability.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56970"/>
                  </a:ext>
                </a:extLst>
              </a:tr>
              <a:tr h="119390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knowledge of C programming language, students would be able to model real world problems.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011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1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40717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1DB5-224A-4DE2-9B99-43AF5EA6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Pointers and 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2064-320D-4CA9-AD2A-077CC84C8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sz="2000" dirty="0"/>
              <a:t>When an array is declared, compiler allocates sufficient amount of memory to contain all the elements of the array. </a:t>
            </a:r>
          </a:p>
          <a:p>
            <a:pPr algn="just"/>
            <a:r>
              <a:rPr lang="en-IN" sz="2000" dirty="0"/>
              <a:t>Base address </a:t>
            </a:r>
            <a:r>
              <a:rPr lang="en-IN" sz="2000" dirty="0" err="1"/>
              <a:t>i.e</a:t>
            </a:r>
            <a:r>
              <a:rPr lang="en-IN" sz="2000" dirty="0"/>
              <a:t> address of the first element of the array is also allocated by the compiler.</a:t>
            </a:r>
          </a:p>
          <a:p>
            <a:pPr algn="just"/>
            <a:r>
              <a:rPr lang="en-IN" sz="2000" dirty="0"/>
              <a:t>Suppose we declare an array </a:t>
            </a:r>
            <a:r>
              <a:rPr lang="en-IN" sz="2000" dirty="0" err="1"/>
              <a:t>arr</a:t>
            </a:r>
            <a:r>
              <a:rPr lang="en-IN" sz="2000" dirty="0"/>
              <a:t>,</a:t>
            </a:r>
          </a:p>
          <a:p>
            <a:pPr algn="just"/>
            <a:r>
              <a:rPr lang="en-IN" sz="2000" dirty="0"/>
              <a:t>int </a:t>
            </a:r>
            <a:r>
              <a:rPr lang="en-IN" sz="2000" dirty="0" err="1"/>
              <a:t>arr</a:t>
            </a:r>
            <a:r>
              <a:rPr lang="en-IN" sz="2000" dirty="0"/>
              <a:t>[5] = { 1, 2, 3, 4, 5 };</a:t>
            </a:r>
          </a:p>
          <a:p>
            <a:pPr algn="just"/>
            <a:r>
              <a:rPr lang="en-IN" sz="2000" dirty="0"/>
              <a:t>Assuming that the base address of </a:t>
            </a:r>
            <a:r>
              <a:rPr lang="en-IN" sz="2000" dirty="0" err="1"/>
              <a:t>arr</a:t>
            </a:r>
            <a:r>
              <a:rPr lang="en-IN" sz="2000" dirty="0"/>
              <a:t> is 1000 and each integer requires two bytes, the five elements will be stored as follows:</a:t>
            </a:r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Here variable </a:t>
            </a:r>
            <a:r>
              <a:rPr lang="en-IN" sz="2000" dirty="0" err="1"/>
              <a:t>arr</a:t>
            </a:r>
            <a:r>
              <a:rPr lang="en-IN" sz="2000" dirty="0"/>
              <a:t> will give the base address, which is a constant pointer pointing to the first element of the array, </a:t>
            </a:r>
            <a:r>
              <a:rPr lang="en-IN" sz="2000" dirty="0" err="1"/>
              <a:t>arr</a:t>
            </a:r>
            <a:r>
              <a:rPr lang="en-IN" sz="2000" dirty="0"/>
              <a:t>[0]. Hence </a:t>
            </a:r>
            <a:r>
              <a:rPr lang="en-IN" sz="2000" dirty="0" err="1"/>
              <a:t>arr</a:t>
            </a:r>
            <a:r>
              <a:rPr lang="en-IN" sz="2000" dirty="0"/>
              <a:t> contains the address of </a:t>
            </a:r>
            <a:r>
              <a:rPr lang="en-IN" sz="2000" dirty="0" err="1"/>
              <a:t>arr</a:t>
            </a:r>
            <a:r>
              <a:rPr lang="en-IN" sz="2000" dirty="0"/>
              <a:t>[0] </a:t>
            </a:r>
            <a:r>
              <a:rPr lang="en-IN" sz="2000" dirty="0" err="1"/>
              <a:t>i.e</a:t>
            </a:r>
            <a:r>
              <a:rPr lang="en-IN" sz="2000" dirty="0"/>
              <a:t> 1000. In short, </a:t>
            </a:r>
            <a:r>
              <a:rPr lang="en-IN" sz="2000" dirty="0" err="1"/>
              <a:t>arr</a:t>
            </a:r>
            <a:r>
              <a:rPr lang="en-IN" sz="2000" dirty="0"/>
              <a:t> has two purpose - it is the name of the array and it acts as a pointer pointing towards the first element in the array.</a:t>
            </a:r>
          </a:p>
          <a:p>
            <a:pPr algn="just"/>
            <a:r>
              <a:rPr lang="en-IN" sz="2000" dirty="0" err="1"/>
              <a:t>arr</a:t>
            </a:r>
            <a:r>
              <a:rPr lang="en-IN" sz="2000" dirty="0"/>
              <a:t> is equal to &amp;</a:t>
            </a:r>
            <a:r>
              <a:rPr lang="en-IN" sz="2000" dirty="0" err="1"/>
              <a:t>arr</a:t>
            </a:r>
            <a:r>
              <a:rPr lang="en-IN" sz="2000" dirty="0"/>
              <a:t>[0] by default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5CE07-BC75-46D5-93D2-5D2168CE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3F26EB14-979E-433C-A309-35CC25C6A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665" y="3661571"/>
            <a:ext cx="3492669" cy="118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4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5559-2528-45BC-A984-7FD8DD427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3932"/>
            <a:ext cx="10515600" cy="5603031"/>
          </a:xfrm>
        </p:spPr>
        <p:txBody>
          <a:bodyPr/>
          <a:lstStyle/>
          <a:p>
            <a:r>
              <a:rPr lang="en-IN" dirty="0"/>
              <a:t>We can also declare a pointer of type int to point to the array arr.</a:t>
            </a:r>
          </a:p>
          <a:p>
            <a:pPr marL="457200" lvl="1" indent="0">
              <a:buNone/>
            </a:pPr>
            <a:r>
              <a:rPr lang="en-IN" dirty="0"/>
              <a:t>int *p;</a:t>
            </a:r>
          </a:p>
          <a:p>
            <a:pPr marL="457200" lvl="1" indent="0">
              <a:buNone/>
            </a:pPr>
            <a:r>
              <a:rPr lang="en-IN" dirty="0"/>
              <a:t>p = </a:t>
            </a:r>
            <a:r>
              <a:rPr lang="en-IN" dirty="0" err="1"/>
              <a:t>arr</a:t>
            </a:r>
            <a:r>
              <a:rPr lang="en-IN" dirty="0"/>
              <a:t>;  </a:t>
            </a:r>
          </a:p>
          <a:p>
            <a:pPr marL="457200" lvl="1" indent="0">
              <a:buNone/>
            </a:pPr>
            <a:r>
              <a:rPr lang="en-IN" dirty="0"/>
              <a:t>// or, </a:t>
            </a:r>
          </a:p>
          <a:p>
            <a:pPr marL="457200" lvl="1" indent="0">
              <a:buNone/>
            </a:pPr>
            <a:r>
              <a:rPr lang="en-IN" dirty="0"/>
              <a:t>p = &amp;</a:t>
            </a:r>
            <a:r>
              <a:rPr lang="en-IN" dirty="0" err="1"/>
              <a:t>arr</a:t>
            </a:r>
            <a:r>
              <a:rPr lang="en-IN" dirty="0"/>
              <a:t>[0];    //both the statements are equivalent.</a:t>
            </a:r>
          </a:p>
          <a:p>
            <a:r>
              <a:rPr lang="en-IN" dirty="0"/>
              <a:t>Now we can access every element of the array </a:t>
            </a:r>
            <a:r>
              <a:rPr lang="en-IN" dirty="0" err="1"/>
              <a:t>arr</a:t>
            </a:r>
            <a:r>
              <a:rPr lang="en-IN" dirty="0"/>
              <a:t> using p++ to move from one element to another.</a:t>
            </a:r>
          </a:p>
          <a:p>
            <a:r>
              <a:rPr lang="en-IN" dirty="0"/>
              <a:t>NOTE: You cannot decrement a pointer once incremented. p-- won't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E3F35-DB69-4297-975F-6585882A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1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Pointer to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dirty="0"/>
              <a:t>As studied above, we can use a pointer to point to an array, and then we can use that pointer to access the array elements.</a:t>
            </a:r>
          </a:p>
          <a:p>
            <a:pPr marL="0" indent="0" algn="just">
              <a:buNone/>
            </a:pPr>
            <a:r>
              <a:rPr lang="en-IN" b="1" dirty="0"/>
              <a:t>Lets have an example</a:t>
            </a:r>
            <a:r>
              <a:rPr lang="en-IN" dirty="0"/>
              <a:t>,</a:t>
            </a:r>
          </a:p>
          <a:p>
            <a:pPr marL="457200" lvl="1" indent="0" algn="just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457200" lvl="1" indent="0" algn="just">
              <a:buNone/>
            </a:pPr>
            <a:r>
              <a:rPr lang="en-IN" dirty="0"/>
              <a:t>int main()</a:t>
            </a:r>
          </a:p>
          <a:p>
            <a:pPr marL="457200" lvl="1" indent="0" algn="just">
              <a:buNone/>
            </a:pPr>
            <a:r>
              <a:rPr lang="en-IN" dirty="0"/>
              <a:t>{</a:t>
            </a:r>
          </a:p>
          <a:p>
            <a:pPr marL="457200" lvl="1" indent="0" algn="just">
              <a:buNone/>
            </a:pPr>
            <a:r>
              <a:rPr lang="en-IN" dirty="0"/>
              <a:t>    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457200" lvl="1" indent="0" algn="just">
              <a:buNone/>
            </a:pPr>
            <a:r>
              <a:rPr lang="en-IN" dirty="0"/>
              <a:t>    int a[5] = {1, 2, 3, 4, 5};</a:t>
            </a:r>
          </a:p>
          <a:p>
            <a:pPr marL="457200" lvl="1" indent="0" algn="just">
              <a:buNone/>
            </a:pPr>
            <a:r>
              <a:rPr lang="en-IN" dirty="0"/>
              <a:t>    int *p = a;     // same as int*p = &amp;a[0]</a:t>
            </a:r>
          </a:p>
          <a:p>
            <a:pPr marL="457200" lvl="1" indent="0" algn="just">
              <a:buNone/>
            </a:pPr>
            <a:r>
              <a:rPr lang="en-IN" dirty="0"/>
              <a:t>    for 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5;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 marL="457200" lvl="1" indent="0" algn="just">
              <a:buNone/>
            </a:pPr>
            <a:r>
              <a:rPr lang="en-IN" dirty="0"/>
              <a:t>    {</a:t>
            </a:r>
          </a:p>
          <a:p>
            <a:pPr marL="457200" lvl="1" indent="0" algn="just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("%d", *p);</a:t>
            </a:r>
          </a:p>
          <a:p>
            <a:pPr marL="457200" lvl="1" indent="0" algn="just">
              <a:buNone/>
            </a:pPr>
            <a:r>
              <a:rPr lang="en-IN" dirty="0"/>
              <a:t>        p++;</a:t>
            </a:r>
          </a:p>
          <a:p>
            <a:pPr marL="457200" lvl="1" indent="0" algn="just">
              <a:buNone/>
            </a:pPr>
            <a:r>
              <a:rPr lang="en-IN" dirty="0"/>
              <a:t>    } </a:t>
            </a:r>
          </a:p>
          <a:p>
            <a:pPr marL="457200" lvl="1" indent="0" algn="just">
              <a:buNone/>
            </a:pPr>
            <a:r>
              <a:rPr lang="en-IN" dirty="0"/>
              <a:t>    return 0;</a:t>
            </a:r>
          </a:p>
          <a:p>
            <a:pPr marL="457200" lvl="1" indent="0" algn="just">
              <a:buNone/>
            </a:pPr>
            <a:r>
              <a:rPr lang="en-IN" dirty="0"/>
              <a:t>}</a:t>
            </a:r>
          </a:p>
          <a:p>
            <a:pPr marL="0" indent="0" algn="just">
              <a:buNone/>
            </a:pPr>
            <a:r>
              <a:rPr lang="en-IN" dirty="0"/>
              <a:t>In the above program, the pointer *p will print all the values stored in the array one by one. We can also use the Base address (a in above case) to act as a pointer and print all the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37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F40B-3A69-4EA9-BDCA-3F5D4A5B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416"/>
            <a:ext cx="10515600" cy="5626547"/>
          </a:xfrm>
        </p:spPr>
        <p:txBody>
          <a:bodyPr>
            <a:normAutofit/>
          </a:bodyPr>
          <a:lstStyle/>
          <a:p>
            <a:r>
              <a:rPr lang="en-IN" sz="2000" dirty="0"/>
              <a:t>The generalized form for using pointer with an array  </a:t>
            </a:r>
            <a:r>
              <a:rPr lang="en-IN" sz="1800" dirty="0"/>
              <a:t>*(</a:t>
            </a:r>
            <a:r>
              <a:rPr lang="en-IN" sz="1800" dirty="0" err="1"/>
              <a:t>a+i</a:t>
            </a:r>
            <a:r>
              <a:rPr lang="en-IN" sz="1800" dirty="0"/>
              <a:t>) </a:t>
            </a:r>
            <a:r>
              <a:rPr lang="en-IN" sz="2000" dirty="0"/>
              <a:t>is same as </a:t>
            </a:r>
            <a:r>
              <a:rPr lang="en-IN" sz="1800" dirty="0"/>
              <a:t>a[</a:t>
            </a:r>
            <a:r>
              <a:rPr lang="en-IN" sz="1800" dirty="0" err="1"/>
              <a:t>i</a:t>
            </a:r>
            <a:r>
              <a:rPr lang="en-IN" sz="1800" dirty="0"/>
              <a:t>].</a:t>
            </a:r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pPr marL="0" indent="0" algn="ctr">
              <a:buNone/>
            </a:pPr>
            <a:r>
              <a:rPr lang="en-IN" sz="1800" dirty="0"/>
              <a:t>Source: </a:t>
            </a:r>
            <a:r>
              <a:rPr lang="en-IN" sz="1600" dirty="0">
                <a:hlinkClick r:id="rId2"/>
              </a:rPr>
              <a:t>https://www.studytonight.com/c/pointers-with-array.php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9E637-37E6-4C9E-8407-CCFA6FF1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796DC67-A539-4F86-8492-55F626617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428" y="943122"/>
            <a:ext cx="6153377" cy="447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1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Pointer to Multidimensional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A multidimensional array is of form, a[</a:t>
            </a:r>
            <a:r>
              <a:rPr lang="en-IN" dirty="0" err="1"/>
              <a:t>i</a:t>
            </a:r>
            <a:r>
              <a:rPr lang="en-IN" dirty="0"/>
              <a:t>][j]. </a:t>
            </a:r>
          </a:p>
          <a:p>
            <a:pPr algn="just"/>
            <a:r>
              <a:rPr lang="en-IN" dirty="0"/>
              <a:t>Lets see how we can make a pointer point to such an array. </a:t>
            </a:r>
          </a:p>
          <a:p>
            <a:pPr algn="just"/>
            <a:r>
              <a:rPr lang="en-IN" dirty="0"/>
              <a:t>As we know now, name of the array gives its base address. </a:t>
            </a:r>
          </a:p>
          <a:p>
            <a:pPr algn="just"/>
            <a:r>
              <a:rPr lang="en-IN" dirty="0"/>
              <a:t>In a[</a:t>
            </a:r>
            <a:r>
              <a:rPr lang="en-IN" dirty="0" err="1"/>
              <a:t>i</a:t>
            </a:r>
            <a:r>
              <a:rPr lang="en-IN" dirty="0"/>
              <a:t>][j], a will give the base address of this array, even a + 0 + 0 will also give the base address, that is the address of a[0][0] element.</a:t>
            </a:r>
          </a:p>
          <a:p>
            <a:pPr algn="just"/>
            <a:r>
              <a:rPr lang="en-IN" dirty="0"/>
              <a:t>Here is the generalized form for using pointer with multidimensional arrays.</a:t>
            </a:r>
          </a:p>
          <a:p>
            <a:pPr marL="457200" lvl="1" indent="0" algn="just">
              <a:buNone/>
            </a:pPr>
            <a:r>
              <a:rPr lang="en-IN" dirty="0"/>
              <a:t>*(*(a + </a:t>
            </a:r>
            <a:r>
              <a:rPr lang="en-IN" dirty="0" err="1"/>
              <a:t>i</a:t>
            </a:r>
            <a:r>
              <a:rPr lang="en-IN" dirty="0"/>
              <a:t>) + j)</a:t>
            </a:r>
          </a:p>
          <a:p>
            <a:pPr marL="0" indent="0" algn="just">
              <a:buNone/>
            </a:pPr>
            <a:r>
              <a:rPr lang="en-IN" dirty="0"/>
              <a:t>   which is same as,</a:t>
            </a:r>
          </a:p>
          <a:p>
            <a:pPr marL="457200" lvl="1" indent="0" algn="just">
              <a:buNone/>
            </a:pPr>
            <a:r>
              <a:rPr lang="en-IN" dirty="0"/>
              <a:t>a[</a:t>
            </a:r>
            <a:r>
              <a:rPr lang="en-IN" dirty="0" err="1"/>
              <a:t>i</a:t>
            </a:r>
            <a:r>
              <a:rPr lang="en-IN" dirty="0"/>
              <a:t>][j]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385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Array of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N" dirty="0"/>
              <a:t>We can also have array of pointers. </a:t>
            </a:r>
          </a:p>
          <a:p>
            <a:pPr algn="just"/>
            <a:r>
              <a:rPr lang="en-IN" dirty="0"/>
              <a:t>Pointers are very helpful in handling character array with rows of varying length.</a:t>
            </a:r>
          </a:p>
          <a:p>
            <a:pPr algn="just"/>
            <a:r>
              <a:rPr lang="en-IN" dirty="0"/>
              <a:t>Example:</a:t>
            </a:r>
          </a:p>
          <a:p>
            <a:pPr marL="457200" lvl="1" indent="0" algn="just">
              <a:buNone/>
            </a:pPr>
            <a:r>
              <a:rPr lang="en-IN" dirty="0"/>
              <a:t>char *name[3] = { </a:t>
            </a:r>
          </a:p>
          <a:p>
            <a:pPr marL="457200" lvl="1" indent="0" algn="just">
              <a:buNone/>
            </a:pPr>
            <a:r>
              <a:rPr lang="en-IN" dirty="0"/>
              <a:t>    "Adam",</a:t>
            </a:r>
          </a:p>
          <a:p>
            <a:pPr marL="457200" lvl="1" indent="0" algn="just">
              <a:buNone/>
            </a:pPr>
            <a:r>
              <a:rPr lang="en-IN" dirty="0"/>
              <a:t>    "</a:t>
            </a:r>
            <a:r>
              <a:rPr lang="en-IN" dirty="0" err="1"/>
              <a:t>chris</a:t>
            </a:r>
            <a:r>
              <a:rPr lang="en-IN" dirty="0"/>
              <a:t>",</a:t>
            </a:r>
          </a:p>
          <a:p>
            <a:pPr marL="457200" lvl="1" indent="0" algn="just">
              <a:buNone/>
            </a:pPr>
            <a:r>
              <a:rPr lang="en-IN" dirty="0"/>
              <a:t>    "</a:t>
            </a:r>
            <a:r>
              <a:rPr lang="en-IN" dirty="0" err="1"/>
              <a:t>Deniel</a:t>
            </a:r>
            <a:r>
              <a:rPr lang="en-IN" dirty="0"/>
              <a:t>"</a:t>
            </a:r>
          </a:p>
          <a:p>
            <a:pPr marL="457200" lvl="1" indent="0" algn="just">
              <a:buNone/>
            </a:pPr>
            <a:r>
              <a:rPr lang="en-IN" dirty="0"/>
              <a:t>};</a:t>
            </a:r>
          </a:p>
          <a:p>
            <a:pPr marL="457200" lvl="1" indent="0" algn="just">
              <a:buNone/>
            </a:pPr>
            <a:r>
              <a:rPr lang="en-IN" dirty="0"/>
              <a:t>//Now lets see same array without using pointer</a:t>
            </a:r>
          </a:p>
          <a:p>
            <a:pPr marL="457200" lvl="1" indent="0" algn="just">
              <a:buNone/>
            </a:pPr>
            <a:r>
              <a:rPr lang="en-IN" dirty="0"/>
              <a:t>char name[3][20] = { </a:t>
            </a:r>
          </a:p>
          <a:p>
            <a:pPr marL="457200" lvl="1" indent="0" algn="just">
              <a:buNone/>
            </a:pPr>
            <a:r>
              <a:rPr lang="en-IN" dirty="0"/>
              <a:t>    "Adam",</a:t>
            </a:r>
          </a:p>
          <a:p>
            <a:pPr marL="457200" lvl="1" indent="0" algn="just">
              <a:buNone/>
            </a:pPr>
            <a:r>
              <a:rPr lang="en-IN" dirty="0"/>
              <a:t>    "</a:t>
            </a:r>
            <a:r>
              <a:rPr lang="en-IN" dirty="0" err="1"/>
              <a:t>chris</a:t>
            </a:r>
            <a:r>
              <a:rPr lang="en-IN" dirty="0"/>
              <a:t>",</a:t>
            </a:r>
          </a:p>
          <a:p>
            <a:pPr marL="457200" lvl="1" indent="0" algn="just">
              <a:buNone/>
            </a:pPr>
            <a:r>
              <a:rPr lang="en-IN" dirty="0"/>
              <a:t>    "</a:t>
            </a:r>
            <a:r>
              <a:rPr lang="en-IN" dirty="0" err="1"/>
              <a:t>Deniel</a:t>
            </a:r>
            <a:r>
              <a:rPr lang="en-IN" dirty="0"/>
              <a:t>"</a:t>
            </a:r>
          </a:p>
          <a:p>
            <a:pPr marL="457200" lvl="1" indent="0" algn="just">
              <a:buNone/>
            </a:pPr>
            <a:r>
              <a:rPr lang="en-IN" dirty="0"/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869F71E-B4EC-4EC5-8CEB-FD1E8EFE5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462" y="2820517"/>
            <a:ext cx="3826275" cy="2550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009310-9696-45B8-B235-B2308461CF32}"/>
              </a:ext>
            </a:extLst>
          </p:cNvPr>
          <p:cNvSpPr txBox="1"/>
          <p:nvPr/>
        </p:nvSpPr>
        <p:spPr>
          <a:xfrm>
            <a:off x="6144058" y="5396865"/>
            <a:ext cx="4933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Source: </a:t>
            </a:r>
            <a:r>
              <a:rPr lang="en-IN" sz="1400" dirty="0">
                <a:hlinkClick r:id="rId3"/>
              </a:rPr>
              <a:t>https://www.studytonight.com/c/pointers-with-array.php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6859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CE17-2F3D-4692-A17B-68A614E23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458"/>
            <a:ext cx="10515600" cy="5484505"/>
          </a:xfrm>
        </p:spPr>
        <p:txBody>
          <a:bodyPr/>
          <a:lstStyle/>
          <a:p>
            <a:pPr algn="just"/>
            <a:r>
              <a:rPr lang="en-IN" dirty="0"/>
              <a:t>In the second approach memory wastage is more, hence it is </a:t>
            </a:r>
            <a:r>
              <a:rPr lang="en-IN" dirty="0" err="1"/>
              <a:t>prefered</a:t>
            </a:r>
            <a:r>
              <a:rPr lang="en-IN" dirty="0"/>
              <a:t> to use pointer in such cases.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Note: </a:t>
            </a:r>
            <a:r>
              <a:rPr lang="en-IN" dirty="0"/>
              <a:t>When we say memory wastage, it doesn't means that the strings will start occupying less space, no, characters will take the same space, but when we define array of characters, a contiguous memory space is located equal to the maximum size of the array, which is a wastage, which can be avoided if we use pointers instead.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1468B-BCDA-425B-860A-B9D24E96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6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229"/>
            <a:ext cx="10515600" cy="583073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b="1" dirty="0"/>
              <a:t>Example: Array of Pointers</a:t>
            </a:r>
          </a:p>
          <a:p>
            <a:pPr marL="457200" lvl="1" indent="0" algn="just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457200" lvl="1" indent="0" algn="just">
              <a:buNone/>
            </a:pPr>
            <a:r>
              <a:rPr lang="en-IN" dirty="0"/>
              <a:t> </a:t>
            </a:r>
            <a:r>
              <a:rPr lang="en-IN" dirty="0" err="1"/>
              <a:t>const</a:t>
            </a:r>
            <a:r>
              <a:rPr lang="en-IN" dirty="0"/>
              <a:t> int MAX = 3;</a:t>
            </a:r>
          </a:p>
          <a:p>
            <a:pPr marL="457200" lvl="1" indent="0" algn="just">
              <a:buNone/>
            </a:pPr>
            <a:r>
              <a:rPr lang="en-IN" dirty="0"/>
              <a:t> int main () </a:t>
            </a:r>
          </a:p>
          <a:p>
            <a:pPr marL="457200" lvl="1" indent="0" algn="just">
              <a:buNone/>
            </a:pPr>
            <a:r>
              <a:rPr lang="en-IN" dirty="0"/>
              <a:t>{</a:t>
            </a:r>
          </a:p>
          <a:p>
            <a:pPr marL="457200" lvl="1" indent="0" algn="just">
              <a:buNone/>
            </a:pPr>
            <a:r>
              <a:rPr lang="en-IN" dirty="0"/>
              <a:t>   int  var[] = {10, 100, 200};</a:t>
            </a:r>
          </a:p>
          <a:p>
            <a:pPr marL="457200" lvl="1" indent="0" algn="just">
              <a:buNone/>
            </a:pPr>
            <a:r>
              <a:rPr lang="en-IN" dirty="0"/>
              <a:t>   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457200" lvl="1" indent="0" algn="just">
              <a:buNone/>
            </a:pPr>
            <a:r>
              <a:rPr lang="en-IN" dirty="0"/>
              <a:t>    for 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MAX; </a:t>
            </a:r>
            <a:r>
              <a:rPr lang="en-IN" dirty="0" err="1"/>
              <a:t>i</a:t>
            </a:r>
            <a:r>
              <a:rPr lang="en-IN" dirty="0"/>
              <a:t>++) </a:t>
            </a:r>
          </a:p>
          <a:p>
            <a:pPr marL="457200" lvl="1" indent="0" algn="just">
              <a:buNone/>
            </a:pPr>
            <a:r>
              <a:rPr lang="en-IN" dirty="0"/>
              <a:t>  {</a:t>
            </a:r>
          </a:p>
          <a:p>
            <a:pPr marL="457200" lvl="1" indent="0" algn="just">
              <a:buNone/>
            </a:pPr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("Value of var[%d] = %d\n", </a:t>
            </a:r>
            <a:r>
              <a:rPr lang="en-IN" dirty="0" err="1"/>
              <a:t>i</a:t>
            </a:r>
            <a:r>
              <a:rPr lang="en-IN" dirty="0"/>
              <a:t>, var[</a:t>
            </a:r>
            <a:r>
              <a:rPr lang="en-IN" dirty="0" err="1"/>
              <a:t>i</a:t>
            </a:r>
            <a:r>
              <a:rPr lang="en-IN" dirty="0"/>
              <a:t>] );</a:t>
            </a:r>
          </a:p>
          <a:p>
            <a:pPr marL="457200" lvl="1" indent="0" algn="just">
              <a:buNone/>
            </a:pPr>
            <a:r>
              <a:rPr lang="en-IN" dirty="0"/>
              <a:t>   }</a:t>
            </a:r>
          </a:p>
          <a:p>
            <a:pPr marL="457200" lvl="1" indent="0" algn="just">
              <a:buNone/>
            </a:pPr>
            <a:r>
              <a:rPr lang="en-IN" dirty="0"/>
              <a:t>      return 0;</a:t>
            </a:r>
          </a:p>
          <a:p>
            <a:pPr marL="457200" lvl="1" indent="0" algn="just">
              <a:buNone/>
            </a:pPr>
            <a:r>
              <a:rPr lang="en-IN" dirty="0"/>
              <a:t>}</a:t>
            </a:r>
          </a:p>
          <a:p>
            <a:pPr marL="0" indent="0" algn="just">
              <a:buNone/>
            </a:pPr>
            <a:r>
              <a:rPr lang="en-IN" b="1" dirty="0"/>
              <a:t>Output:</a:t>
            </a:r>
          </a:p>
          <a:p>
            <a:pPr marL="914400" lvl="2" indent="0" algn="just">
              <a:buNone/>
            </a:pPr>
            <a:r>
              <a:rPr lang="en-IN" dirty="0"/>
              <a:t>Value of var[0] = 10</a:t>
            </a:r>
          </a:p>
          <a:p>
            <a:pPr marL="914400" lvl="2" indent="0" algn="just">
              <a:buNone/>
            </a:pPr>
            <a:r>
              <a:rPr lang="en-IN" dirty="0"/>
              <a:t>Value of var[1] = 100</a:t>
            </a:r>
          </a:p>
          <a:p>
            <a:pPr marL="914400" lvl="2" indent="0" algn="just">
              <a:buNone/>
            </a:pPr>
            <a:r>
              <a:rPr lang="en-IN" dirty="0"/>
              <a:t>Value of var[2] = 200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915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843C-B9D8-4441-B11E-E79E502C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Call by Value Vs Call by Address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2FFA47C-E883-4DA4-803B-A1E419B21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18506"/>
              </p:ext>
            </p:extLst>
          </p:nvPr>
        </p:nvGraphicFramePr>
        <p:xfrm>
          <a:off x="1118681" y="1690689"/>
          <a:ext cx="9756842" cy="42374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78421">
                  <a:extLst>
                    <a:ext uri="{9D8B030D-6E8A-4147-A177-3AD203B41FA5}">
                      <a16:colId xmlns:a16="http://schemas.microsoft.com/office/drawing/2014/main" val="2184124903"/>
                    </a:ext>
                  </a:extLst>
                </a:gridCol>
                <a:gridCol w="4878421">
                  <a:extLst>
                    <a:ext uri="{9D8B030D-6E8A-4147-A177-3AD203B41FA5}">
                      <a16:colId xmlns:a16="http://schemas.microsoft.com/office/drawing/2014/main" val="3690367515"/>
                    </a:ext>
                  </a:extLst>
                </a:gridCol>
              </a:tblGrid>
              <a:tr h="6041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Call by Value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Call by Reference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18838"/>
                  </a:ext>
                </a:extLst>
              </a:tr>
              <a:tr h="10184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The actual arguments can be variable or constant.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The actual arguments can only be variable.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911520"/>
                  </a:ext>
                </a:extLst>
              </a:tr>
              <a:tr h="10184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The values of actual argument are sent to formal argument which are normal variables.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effectLst/>
                        </a:rPr>
                        <a:t>The reference of actual argument are sent to formal argument which are pointer variables.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9076"/>
                  </a:ext>
                </a:extLst>
              </a:tr>
              <a:tr h="10184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effectLst/>
                        </a:rPr>
                        <a:t>Any changes made by formal arguments will not reflect to actual arguments.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00"/>
                        </a:spcAft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effectLst/>
                        </a:rPr>
                        <a:t>Any changes made by formal arguments will reflect to actual arguments.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66675" marB="6667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790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46F4C-E482-4CB5-9402-77FE5DCD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24AE-7114-4B95-B17A-4CE3E104A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6027"/>
            <a:ext cx="10515600" cy="567093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b="1" dirty="0"/>
              <a:t>Example: Passing Pointers to Functions</a:t>
            </a:r>
          </a:p>
          <a:p>
            <a:pPr marL="457200" lvl="1" indent="0" algn="just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457200" lvl="1" indent="0" algn="just">
              <a:buNone/>
            </a:pPr>
            <a:r>
              <a:rPr lang="en-IN" dirty="0"/>
              <a:t>void </a:t>
            </a:r>
            <a:r>
              <a:rPr lang="en-IN" dirty="0" err="1"/>
              <a:t>addOne</a:t>
            </a:r>
            <a:r>
              <a:rPr lang="en-IN" dirty="0"/>
              <a:t>(int* </a:t>
            </a:r>
            <a:r>
              <a:rPr lang="en-IN" dirty="0" err="1"/>
              <a:t>ptr</a:t>
            </a:r>
            <a:r>
              <a:rPr lang="en-IN" dirty="0"/>
              <a:t>) {</a:t>
            </a:r>
          </a:p>
          <a:p>
            <a:pPr marL="457200" lvl="1" indent="0" algn="just">
              <a:buNone/>
            </a:pPr>
            <a:r>
              <a:rPr lang="en-IN" dirty="0"/>
              <a:t>  (*</a:t>
            </a:r>
            <a:r>
              <a:rPr lang="en-IN" dirty="0" err="1"/>
              <a:t>ptr</a:t>
            </a:r>
            <a:r>
              <a:rPr lang="en-IN" dirty="0"/>
              <a:t>)++; // adding 1 to *</a:t>
            </a:r>
            <a:r>
              <a:rPr lang="en-IN" dirty="0" err="1"/>
              <a:t>ptr</a:t>
            </a:r>
            <a:endParaRPr lang="en-IN" dirty="0"/>
          </a:p>
          <a:p>
            <a:pPr marL="457200" lvl="1" indent="0" algn="just">
              <a:buNone/>
            </a:pPr>
            <a:r>
              <a:rPr lang="en-IN" dirty="0"/>
              <a:t>}</a:t>
            </a:r>
          </a:p>
          <a:p>
            <a:pPr marL="457200" lvl="1" indent="0" algn="just">
              <a:buNone/>
            </a:pPr>
            <a:endParaRPr lang="en-IN" dirty="0"/>
          </a:p>
          <a:p>
            <a:pPr marL="457200" lvl="1" indent="0" algn="just">
              <a:buNone/>
            </a:pPr>
            <a:r>
              <a:rPr lang="en-IN" dirty="0"/>
              <a:t>int main()</a:t>
            </a:r>
          </a:p>
          <a:p>
            <a:pPr marL="457200" lvl="1" indent="0" algn="just">
              <a:buNone/>
            </a:pPr>
            <a:r>
              <a:rPr lang="en-IN" dirty="0"/>
              <a:t>{</a:t>
            </a:r>
          </a:p>
          <a:p>
            <a:pPr marL="457200" lvl="1" indent="0" algn="just">
              <a:buNone/>
            </a:pPr>
            <a:r>
              <a:rPr lang="en-IN" dirty="0"/>
              <a:t>  int* p, </a:t>
            </a:r>
            <a:r>
              <a:rPr lang="en-IN" dirty="0" err="1"/>
              <a:t>i</a:t>
            </a:r>
            <a:r>
              <a:rPr lang="en-IN" dirty="0"/>
              <a:t> = 10;</a:t>
            </a:r>
          </a:p>
          <a:p>
            <a:pPr marL="457200" lvl="1" indent="0" algn="just">
              <a:buNone/>
            </a:pPr>
            <a:r>
              <a:rPr lang="en-IN" dirty="0"/>
              <a:t>  p = &amp;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457200" lvl="1" indent="0" algn="just">
              <a:buNone/>
            </a:pPr>
            <a:r>
              <a:rPr lang="en-IN" dirty="0"/>
              <a:t>  </a:t>
            </a:r>
            <a:r>
              <a:rPr lang="en-IN" dirty="0" err="1"/>
              <a:t>addOne</a:t>
            </a:r>
            <a:r>
              <a:rPr lang="en-IN" dirty="0"/>
              <a:t>(p);</a:t>
            </a:r>
          </a:p>
          <a:p>
            <a:pPr marL="457200" lvl="1" indent="0" algn="just">
              <a:buNone/>
            </a:pPr>
            <a:endParaRPr lang="en-IN" dirty="0"/>
          </a:p>
          <a:p>
            <a:pPr marL="457200" lvl="1" indent="0" algn="just">
              <a:buNone/>
            </a:pPr>
            <a:r>
              <a:rPr lang="en-IN" dirty="0"/>
              <a:t>  </a:t>
            </a:r>
            <a:r>
              <a:rPr lang="en-IN" dirty="0" err="1"/>
              <a:t>printf</a:t>
            </a:r>
            <a:r>
              <a:rPr lang="en-IN" dirty="0"/>
              <a:t>("%d", *p); // 11</a:t>
            </a:r>
          </a:p>
          <a:p>
            <a:pPr marL="457200" lvl="1" indent="0" algn="just">
              <a:buNone/>
            </a:pPr>
            <a:r>
              <a:rPr lang="en-IN" dirty="0"/>
              <a:t>  return 0;</a:t>
            </a:r>
          </a:p>
          <a:p>
            <a:pPr marL="457200" lvl="1" indent="0" algn="just">
              <a:buNone/>
            </a:pPr>
            <a:r>
              <a:rPr lang="en-IN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FB7B5-66E8-45EA-866B-48D4ED54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5A883-94C4-4F1F-9AF6-CE67241683B0}"/>
              </a:ext>
            </a:extLst>
          </p:cNvPr>
          <p:cNvSpPr txBox="1"/>
          <p:nvPr/>
        </p:nvSpPr>
        <p:spPr>
          <a:xfrm>
            <a:off x="6097480" y="168408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>
              <a:spcBef>
                <a:spcPts val="1005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Output: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F4B85-6567-4B6A-B4F1-B1AB12FEC1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45157" y="2053415"/>
            <a:ext cx="4988223" cy="303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9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D0F4-6F43-46DC-B75E-C560DEB51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682"/>
            <a:ext cx="10515600" cy="55732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/>
              <a:t>Explanation of the Program:</a:t>
            </a:r>
          </a:p>
          <a:p>
            <a:pPr marL="0" indent="0" algn="just">
              <a:buNone/>
            </a:pPr>
            <a:r>
              <a:rPr lang="en-IN" dirty="0"/>
              <a:t>Here, the value stored at p, *p, is 10 initially.</a:t>
            </a:r>
          </a:p>
          <a:p>
            <a:pPr marL="0" indent="0" algn="just">
              <a:buNone/>
            </a:pPr>
            <a:r>
              <a:rPr lang="en-IN" dirty="0"/>
              <a:t>We then passed the pointer p to the </a:t>
            </a:r>
            <a:r>
              <a:rPr lang="en-IN" dirty="0" err="1"/>
              <a:t>addOne</a:t>
            </a:r>
            <a:r>
              <a:rPr lang="en-IN" dirty="0"/>
              <a:t>() function. The </a:t>
            </a:r>
            <a:r>
              <a:rPr lang="en-IN" dirty="0" err="1"/>
              <a:t>ptr</a:t>
            </a:r>
            <a:r>
              <a:rPr lang="en-IN" dirty="0"/>
              <a:t> pointer gets this address in the </a:t>
            </a:r>
            <a:r>
              <a:rPr lang="en-IN" dirty="0" err="1"/>
              <a:t>addOne</a:t>
            </a:r>
            <a:r>
              <a:rPr lang="en-IN" dirty="0"/>
              <a:t>() function.</a:t>
            </a:r>
          </a:p>
          <a:p>
            <a:pPr marL="0" indent="0" algn="just">
              <a:buNone/>
            </a:pPr>
            <a:r>
              <a:rPr lang="en-IN" dirty="0"/>
              <a:t>Inside the function, we increased the value stored at </a:t>
            </a:r>
            <a:r>
              <a:rPr lang="en-IN" dirty="0" err="1"/>
              <a:t>ptr</a:t>
            </a:r>
            <a:r>
              <a:rPr lang="en-IN" dirty="0"/>
              <a:t> by 1 using (*</a:t>
            </a:r>
            <a:r>
              <a:rPr lang="en-IN" dirty="0" err="1"/>
              <a:t>ptr</a:t>
            </a:r>
            <a:r>
              <a:rPr lang="en-IN" dirty="0"/>
              <a:t>)++;. Since </a:t>
            </a:r>
            <a:r>
              <a:rPr lang="en-IN" dirty="0" err="1"/>
              <a:t>ptr</a:t>
            </a:r>
            <a:r>
              <a:rPr lang="en-IN" dirty="0"/>
              <a:t> and p pointers both have the same address, *p inside main() is also 11.</a:t>
            </a:r>
          </a:p>
          <a:p>
            <a:pPr marL="457200" lvl="1" indent="0" algn="just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8FEA7-2964-4723-8930-059EBB79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3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BD6A-0952-4815-A011-E258ACFA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alibri Light"/>
              </a:rPr>
              <a:t>Function Returning a Pointer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1C481-9F28-42C1-B95D-901EF3E01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sz="2400" dirty="0"/>
              <a:t>Like normal variable, a function can also return reference or address. When function returns reference or address, the return type of function must be pointer type.</a:t>
            </a:r>
          </a:p>
          <a:p>
            <a:pPr algn="just"/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   </a:t>
            </a:r>
            <a:r>
              <a:rPr lang="en-IN" sz="2400" b="1" dirty="0"/>
              <a:t>Syntax for function returning pointer:</a:t>
            </a:r>
          </a:p>
          <a:p>
            <a:pPr algn="just"/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              return-type *function-name(argument list)</a:t>
            </a:r>
          </a:p>
          <a:p>
            <a:pPr marL="0" indent="0" algn="just">
              <a:buNone/>
            </a:pPr>
            <a:r>
              <a:rPr lang="en-IN" sz="2400" dirty="0"/>
              <a:t>              {</a:t>
            </a:r>
          </a:p>
          <a:p>
            <a:pPr marL="0" indent="0" algn="just">
              <a:buNone/>
            </a:pPr>
            <a:r>
              <a:rPr lang="en-IN" sz="2400" dirty="0"/>
              <a:t>                           - - - - - - - - - -</a:t>
            </a:r>
          </a:p>
          <a:p>
            <a:pPr marL="0" indent="0" algn="just">
              <a:buNone/>
            </a:pPr>
            <a:r>
              <a:rPr lang="en-IN" sz="2400" dirty="0"/>
              <a:t>                           body of function</a:t>
            </a:r>
          </a:p>
          <a:p>
            <a:pPr marL="0" indent="0" algn="just">
              <a:buNone/>
            </a:pPr>
            <a:r>
              <a:rPr lang="en-IN" sz="2400" dirty="0"/>
              <a:t>                           - - - - - - - - - -</a:t>
            </a:r>
          </a:p>
          <a:p>
            <a:pPr marL="0" indent="0" algn="just">
              <a:buNone/>
            </a:pPr>
            <a:r>
              <a:rPr lang="en-IN" sz="2400" dirty="0"/>
              <a:t>           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778E6-6E25-4CB4-93BA-EAC8291C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5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6B0C4-7EB5-46A0-9650-495B5DFFE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150"/>
            <a:ext cx="10515600" cy="56798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Example:  Write a C program for function returning pointer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sz="2600" dirty="0"/>
              <a:t> #include&lt;stdio.h&gt;</a:t>
            </a:r>
          </a:p>
          <a:p>
            <a:pPr marL="0" indent="0">
              <a:buNone/>
            </a:pPr>
            <a:r>
              <a:rPr lang="en-IN" sz="2600" dirty="0"/>
              <a:t>       int *reference(int);</a:t>
            </a:r>
          </a:p>
          <a:p>
            <a:pPr marL="0" indent="0">
              <a:buNone/>
            </a:pPr>
            <a:r>
              <a:rPr lang="en-IN" sz="2600" dirty="0"/>
              <a:t>        main()</a:t>
            </a:r>
          </a:p>
          <a:p>
            <a:pPr marL="0" indent="0">
              <a:buNone/>
            </a:pPr>
            <a:r>
              <a:rPr lang="en-IN" sz="2600" dirty="0"/>
              <a:t>       {</a:t>
            </a:r>
          </a:p>
          <a:p>
            <a:pPr marL="0" indent="0">
              <a:buNone/>
            </a:pPr>
            <a:r>
              <a:rPr lang="en-IN" sz="2600" dirty="0"/>
              <a:t>              int A=10;</a:t>
            </a:r>
          </a:p>
          <a:p>
            <a:pPr marL="0" indent="0">
              <a:buNone/>
            </a:pPr>
            <a:r>
              <a:rPr lang="en-IN" sz="2600" dirty="0"/>
              <a:t>              int *</a:t>
            </a:r>
            <a:r>
              <a:rPr lang="en-IN" sz="2600" dirty="0" err="1"/>
              <a:t>ptr</a:t>
            </a:r>
            <a:r>
              <a:rPr lang="en-IN" sz="2600" dirty="0"/>
              <a:t>;</a:t>
            </a:r>
          </a:p>
          <a:p>
            <a:pPr marL="0" indent="0">
              <a:buNone/>
            </a:pPr>
            <a:r>
              <a:rPr lang="en-IN" sz="2600" dirty="0"/>
              <a:t>              </a:t>
            </a:r>
            <a:r>
              <a:rPr lang="en-IN" sz="2600" dirty="0" err="1"/>
              <a:t>printf</a:t>
            </a:r>
            <a:r>
              <a:rPr lang="en-IN" sz="2600" dirty="0"/>
              <a:t>("\</a:t>
            </a:r>
            <a:r>
              <a:rPr lang="en-IN" sz="2600" dirty="0" err="1"/>
              <a:t>nAddress</a:t>
            </a:r>
            <a:r>
              <a:rPr lang="en-IN" sz="2600" dirty="0"/>
              <a:t> of %d in main() is %</a:t>
            </a:r>
            <a:r>
              <a:rPr lang="en-IN" sz="2600" dirty="0" err="1"/>
              <a:t>u",A,&amp;A</a:t>
            </a:r>
            <a:r>
              <a:rPr lang="en-IN" sz="2600" dirty="0"/>
              <a:t>);</a:t>
            </a:r>
          </a:p>
          <a:p>
            <a:pPr marL="0" indent="0">
              <a:buNone/>
            </a:pPr>
            <a:r>
              <a:rPr lang="en-IN" sz="2600" dirty="0"/>
              <a:t>              </a:t>
            </a:r>
            <a:r>
              <a:rPr lang="en-IN" sz="2600" dirty="0" err="1"/>
              <a:t>ptr</a:t>
            </a:r>
            <a:r>
              <a:rPr lang="en-IN" sz="2600" dirty="0"/>
              <a:t> = reference(A);</a:t>
            </a:r>
          </a:p>
          <a:p>
            <a:pPr marL="0" indent="0">
              <a:buNone/>
            </a:pPr>
            <a:r>
              <a:rPr lang="en-IN" sz="2600" dirty="0"/>
              <a:t>              </a:t>
            </a:r>
            <a:r>
              <a:rPr lang="en-IN" sz="2600" dirty="0" err="1"/>
              <a:t>printf</a:t>
            </a:r>
            <a:r>
              <a:rPr lang="en-IN" sz="2600" dirty="0"/>
              <a:t>("\</a:t>
            </a:r>
            <a:r>
              <a:rPr lang="en-IN" sz="2600" dirty="0" err="1"/>
              <a:t>nAddress</a:t>
            </a:r>
            <a:r>
              <a:rPr lang="en-IN" sz="2600" dirty="0"/>
              <a:t> of %d in reference() was %u",</a:t>
            </a:r>
            <a:r>
              <a:rPr lang="en-IN" sz="2600" dirty="0" err="1"/>
              <a:t>A,ptr</a:t>
            </a:r>
            <a:r>
              <a:rPr lang="en-IN" sz="2600" dirty="0"/>
              <a:t>);</a:t>
            </a:r>
          </a:p>
          <a:p>
            <a:pPr marL="0" indent="0">
              <a:buNone/>
            </a:pPr>
            <a:r>
              <a:rPr lang="en-IN" sz="2600" dirty="0"/>
              <a:t>       }</a:t>
            </a:r>
          </a:p>
          <a:p>
            <a:pPr marL="0" indent="0">
              <a:buNone/>
            </a:pPr>
            <a:r>
              <a:rPr lang="en-IN" sz="2600" dirty="0"/>
              <a:t>       int *reference(int n)</a:t>
            </a:r>
          </a:p>
          <a:p>
            <a:pPr marL="0" indent="0">
              <a:buNone/>
            </a:pPr>
            <a:r>
              <a:rPr lang="en-IN" sz="2600" dirty="0"/>
              <a:t>       {</a:t>
            </a:r>
          </a:p>
          <a:p>
            <a:pPr marL="0" indent="0">
              <a:buNone/>
            </a:pPr>
            <a:r>
              <a:rPr lang="en-IN" sz="2600" dirty="0"/>
              <a:t>              return &amp;n;</a:t>
            </a:r>
          </a:p>
          <a:p>
            <a:pPr marL="0" indent="0">
              <a:buNone/>
            </a:pPr>
            <a:r>
              <a:rPr lang="en-IN" sz="2600" dirty="0"/>
              <a:t>    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8D850-D6B0-48E8-8512-13D64FA9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C9268-786A-47CA-B3A2-E2FC8487CC81}"/>
              </a:ext>
            </a:extLst>
          </p:cNvPr>
          <p:cNvSpPr txBox="1"/>
          <p:nvPr/>
        </p:nvSpPr>
        <p:spPr>
          <a:xfrm>
            <a:off x="6568295" y="89041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>
              <a:spcBef>
                <a:spcPts val="1005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Output: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34D344-256E-4181-BCB4-004983239D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92629" y="1233981"/>
            <a:ext cx="5061626" cy="162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7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5559-2528-45BC-A984-7FD8DD427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3932"/>
            <a:ext cx="10515600" cy="5603031"/>
          </a:xfrm>
        </p:spPr>
        <p:txBody>
          <a:bodyPr/>
          <a:lstStyle/>
          <a:p>
            <a:pPr algn="just"/>
            <a:r>
              <a:rPr lang="en-IN" dirty="0"/>
              <a:t>A function can also return a pointer to the calling function. </a:t>
            </a:r>
          </a:p>
          <a:p>
            <a:pPr algn="just"/>
            <a:r>
              <a:rPr lang="en-IN" dirty="0"/>
              <a:t>In this case you must be careful, because local variables of function doesn't live outside the function.</a:t>
            </a:r>
          </a:p>
          <a:p>
            <a:pPr algn="just"/>
            <a:r>
              <a:rPr lang="en-IN" dirty="0"/>
              <a:t>They have scope only inside the function. </a:t>
            </a:r>
          </a:p>
          <a:p>
            <a:pPr algn="just"/>
            <a:r>
              <a:rPr lang="en-IN" dirty="0"/>
              <a:t>Hence if you return a pointer connected to a local variable, that pointer will be pointing to nothing when the function ends.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E3F35-DB69-4297-975F-6585882A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9E2-FFA9-470D-8177-51DABEE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1152525"/>
            <a:ext cx="11510904" cy="534035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74E6-5593-499A-999A-A8E6BFB2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63100" y="6675756"/>
            <a:ext cx="2050344" cy="45719"/>
          </a:xfrm>
        </p:spPr>
        <p:txBody>
          <a:bodyPr/>
          <a:lstStyle/>
          <a:p>
            <a:fld id="{BDCDBBEF-AA6C-4BA6-85B2-A17D7F280E38}" type="slidenum">
              <a:rPr lang="en-US" sz="1400" smtClean="0"/>
              <a:pPr/>
              <a:t>19</a:t>
            </a:fld>
            <a:endParaRPr lang="en-US" sz="1400" dirty="0"/>
          </a:p>
        </p:txBody>
      </p:sp>
      <p:sp>
        <p:nvSpPr>
          <p:cNvPr id="5" name="Flowchart: Sequential Access Storage 4">
            <a:extLst>
              <a:ext uri="{FF2B5EF4-FFF2-40B4-BE49-F238E27FC236}">
                <a16:creationId xmlns:a16="http://schemas.microsoft.com/office/drawing/2014/main" id="{A9A974E1-239B-41FB-8D6A-D0A9F00EB13D}"/>
              </a:ext>
            </a:extLst>
          </p:cNvPr>
          <p:cNvSpPr/>
          <p:nvPr/>
        </p:nvSpPr>
        <p:spPr>
          <a:xfrm>
            <a:off x="1003852" y="138734"/>
            <a:ext cx="2643809" cy="1013791"/>
          </a:xfrm>
          <a:prstGeom prst="flowChartMagneticTap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Summary</a:t>
            </a:r>
            <a:endParaRPr lang="en-IN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F6A135-B6D5-40B7-BF67-2E0F4EF47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996038"/>
              </p:ext>
            </p:extLst>
          </p:nvPr>
        </p:nvGraphicFramePr>
        <p:xfrm>
          <a:off x="2088671" y="1300599"/>
          <a:ext cx="88973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87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E2F6-A89B-465A-A1BD-AB3595FE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9855"/>
            <a:ext cx="10515600" cy="1325563"/>
          </a:xfrm>
        </p:spPr>
        <p:txBody>
          <a:bodyPr/>
          <a:lstStyle/>
          <a:p>
            <a:r>
              <a:rPr lang="en-US" b="1" dirty="0"/>
              <a:t>Frequently Asked question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6E3E-5DF9-4790-B5C6-ECD785B8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49" y="867728"/>
            <a:ext cx="11138451" cy="471392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ts val="6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Q1:What will the Output of the Program?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#include&lt;stdio.h&gt;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 main()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("%d",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sizeof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(void *));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return 0;</a:t>
            </a:r>
          </a:p>
          <a:p>
            <a:pPr marL="457200" lvl="1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Output:</a:t>
            </a: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96DAD-DAD1-43B2-8C24-A9D6B59B55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69335" y="3003982"/>
            <a:ext cx="5689055" cy="257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E0966-38BA-4F85-B402-D0FBF6DF1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7049"/>
            <a:ext cx="10515600" cy="55999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2) What will be the Output?</a:t>
            </a:r>
          </a:p>
          <a:p>
            <a:pPr marL="457200" lvl="1" indent="0">
              <a:buNone/>
            </a:pPr>
            <a:r>
              <a:rPr lang="en-IN" dirty="0"/>
              <a:t>#include&lt;stdio.h&gt;</a:t>
            </a:r>
          </a:p>
          <a:p>
            <a:pPr marL="457200" lvl="1" indent="0">
              <a:buNone/>
            </a:pPr>
            <a:r>
              <a:rPr lang="en-IN" dirty="0"/>
              <a:t>void function(char**);</a:t>
            </a:r>
          </a:p>
          <a:p>
            <a:pPr marL="457200" lvl="1" indent="0">
              <a:buNone/>
            </a:pPr>
            <a:r>
              <a:rPr lang="en-IN" dirty="0"/>
              <a:t>int main()</a:t>
            </a:r>
          </a:p>
          <a:p>
            <a:pPr marL="457200" lvl="1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	char *</a:t>
            </a:r>
            <a:r>
              <a:rPr lang="en-IN" dirty="0" err="1"/>
              <a:t>arr</a:t>
            </a:r>
            <a:r>
              <a:rPr lang="en-IN" dirty="0"/>
              <a:t>[] = { "ant", "bat", "cat", "dog", "egg", "fly" };</a:t>
            </a:r>
          </a:p>
          <a:p>
            <a:pPr marL="457200" lvl="1" indent="0">
              <a:buNone/>
            </a:pPr>
            <a:r>
              <a:rPr lang="en-IN" dirty="0"/>
              <a:t>	function(</a:t>
            </a:r>
            <a:r>
              <a:rPr lang="en-IN" dirty="0" err="1"/>
              <a:t>arr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dirty="0"/>
              <a:t>	return 0;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dirty="0"/>
              <a:t>void function(char **</a:t>
            </a:r>
            <a:r>
              <a:rPr lang="en-IN" dirty="0" err="1"/>
              <a:t>ptr</a:t>
            </a: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	char *ptr1;</a:t>
            </a:r>
          </a:p>
          <a:p>
            <a:pPr marL="457200" lvl="1" indent="0">
              <a:buNone/>
            </a:pPr>
            <a:r>
              <a:rPr lang="en-IN" dirty="0"/>
              <a:t>	ptr1 = (</a:t>
            </a:r>
            <a:r>
              <a:rPr lang="en-IN" dirty="0" err="1"/>
              <a:t>ptr</a:t>
            </a:r>
            <a:r>
              <a:rPr lang="en-IN" dirty="0"/>
              <a:t> += </a:t>
            </a:r>
            <a:r>
              <a:rPr lang="en-IN" dirty="0" err="1"/>
              <a:t>sizeof</a:t>
            </a:r>
            <a:r>
              <a:rPr lang="en-IN" dirty="0"/>
              <a:t>(int))[-2];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("%s\n", ptr1);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dirty="0"/>
              <a:t>return (0);}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B413-049E-4329-A89C-6CE391A9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9595D-7254-4691-B754-6CDE28FD557B}"/>
              </a:ext>
            </a:extLst>
          </p:cNvPr>
          <p:cNvSpPr txBox="1"/>
          <p:nvPr/>
        </p:nvSpPr>
        <p:spPr>
          <a:xfrm>
            <a:off x="6096000" y="2905780"/>
            <a:ext cx="1326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C16BC1-EA35-493A-B47D-F9F45671A8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22460" y="3298385"/>
            <a:ext cx="4487694" cy="245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5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531B-8C26-49B8-9053-761B6E596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0050"/>
            <a:ext cx="10515600" cy="57769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Q3)    What is “&amp;” and “*” operators in C?</a:t>
            </a:r>
          </a:p>
          <a:p>
            <a:pPr marL="0" indent="0" algn="just">
              <a:buNone/>
            </a:pPr>
            <a:r>
              <a:rPr lang="en-IN" sz="2400" dirty="0"/>
              <a:t>Ans:</a:t>
            </a:r>
          </a:p>
          <a:p>
            <a:pPr marL="0" indent="0" algn="just">
              <a:buNone/>
            </a:pPr>
            <a:r>
              <a:rPr lang="en-IN" sz="2400" dirty="0"/>
              <a:t>1.	“*” Operator is used as pointer to a variable. Example: * a where * is pointer to the variable a.</a:t>
            </a:r>
          </a:p>
          <a:p>
            <a:pPr marL="342900" indent="-342900" algn="just">
              <a:buAutoNum type="arabicPeriod" startAt="2"/>
            </a:pPr>
            <a:r>
              <a:rPr lang="en-IN" sz="2400" dirty="0"/>
              <a:t>&amp; operator is used to get the address of the variable. Example: &amp;a will give address of a.</a:t>
            </a:r>
          </a:p>
          <a:p>
            <a:pPr marL="342900" indent="-342900" algn="just">
              <a:buAutoNum type="arabicPeriod" startAt="2"/>
            </a:pPr>
            <a:endParaRPr lang="en-IN" sz="1800" b="1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b="1" dirty="0"/>
              <a:t>Q4) WHAT IS VOID POINTER IN C?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dirty="0"/>
              <a:t>Ans: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400" dirty="0"/>
              <a:t>Void pointer is a generic pointer that can be used to point another variable of any data   type.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400" dirty="0"/>
              <a:t>Void pointer can store the address of variable belonging to any of the data type. So, void pointer is also called as general  purpose pointer.</a:t>
            </a:r>
          </a:p>
          <a:p>
            <a:pPr marL="0" indent="0" algn="just">
              <a:buNone/>
            </a:pPr>
            <a:endParaRPr lang="en-IN" sz="1800" b="1" dirty="0"/>
          </a:p>
          <a:p>
            <a:pPr marL="0" indent="0" algn="just"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F3F5-7C6A-4122-A2F1-1B6E564E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0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BE98-18FB-4FB3-8B9F-0C785AB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Questions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94DC-3131-4CF1-80DA-F51EC2F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9F1566-03CD-417B-B4D0-B0BF250D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22772"/>
            <a:ext cx="10515600" cy="5033577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What will be the output of the C program?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#include&lt;stdio.h&gt;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int main(){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a = 25, b;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*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, *ptr1;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 = &amp;a;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ptr1 = &amp;b;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b = 36;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("%d %d",*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, *ptr1);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return 0;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2.	What will be the output of the C program?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#include&lt;stdio.h&gt;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int main(){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* 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 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("%d", </a:t>
            </a:r>
            <a:r>
              <a:rPr lang="en-IN" dirty="0" err="1">
                <a:solidFill>
                  <a:srgbClr val="FF0000"/>
                </a:solidFill>
              </a:rPr>
              <a:t>sizeof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));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return 0;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4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87AEE-2D25-4575-A745-6FEE1508B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458"/>
            <a:ext cx="10515600" cy="5484505"/>
          </a:xfrm>
        </p:spPr>
        <p:txBody>
          <a:bodyPr/>
          <a:lstStyle/>
          <a:p>
            <a:pPr marL="0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3.     What will be the output of the C program?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#include&lt;stdio.h&gt;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int main()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{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char *str = "His";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int 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for(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 = 0; 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 &lt; </a:t>
            </a:r>
            <a:r>
              <a:rPr lang="en-IN" sz="1500" dirty="0" err="1">
                <a:solidFill>
                  <a:srgbClr val="FF0000"/>
                </a:solidFill>
              </a:rPr>
              <a:t>strlen</a:t>
            </a:r>
            <a:r>
              <a:rPr lang="en-IN" sz="1500" dirty="0">
                <a:solidFill>
                  <a:srgbClr val="FF0000"/>
                </a:solidFill>
              </a:rPr>
              <a:t>(str); </a:t>
            </a:r>
            <a:r>
              <a:rPr lang="en-IN" sz="1500" dirty="0" err="1">
                <a:solidFill>
                  <a:srgbClr val="FF0000"/>
                </a:solidFill>
              </a:rPr>
              <a:t>i</a:t>
            </a:r>
            <a:r>
              <a:rPr lang="en-IN" sz="1500" dirty="0">
                <a:solidFill>
                  <a:srgbClr val="FF0000"/>
                </a:solidFill>
              </a:rPr>
              <a:t>++)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</a:t>
            </a:r>
            <a:r>
              <a:rPr lang="en-IN" sz="1500" dirty="0" err="1">
                <a:solidFill>
                  <a:srgbClr val="FF0000"/>
                </a:solidFill>
              </a:rPr>
              <a:t>printf</a:t>
            </a:r>
            <a:r>
              <a:rPr lang="en-IN" sz="1500" dirty="0">
                <a:solidFill>
                  <a:srgbClr val="FF0000"/>
                </a:solidFill>
              </a:rPr>
              <a:t>("%s", str++);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	return 0;</a:t>
            </a:r>
          </a:p>
          <a:p>
            <a:pPr marL="457200" lvl="1" indent="0">
              <a:buNone/>
            </a:pPr>
            <a:r>
              <a:rPr lang="en-IN" sz="15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0AC06-6257-4D5E-A543-07B0242E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3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1E3-02DA-4066-9127-2B9D821C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forum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FD90-1CA1-4A43-803B-2F922D4B9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3" y="1646238"/>
            <a:ext cx="10687878" cy="3363084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Write a program in C to add numbers using call by reference.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FB7C1-5531-4CBA-AA56-069AD25E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6B93F-AE56-4538-971E-9E2B9276A0B1}"/>
              </a:ext>
            </a:extLst>
          </p:cNvPr>
          <p:cNvSpPr/>
          <p:nvPr/>
        </p:nvSpPr>
        <p:spPr>
          <a:xfrm>
            <a:off x="2862470" y="3838853"/>
            <a:ext cx="7253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9" name="Picture 8" descr="Free Download Online Discussion Forum Project in Asp.Net|EnggRoom">
            <a:extLst>
              <a:ext uri="{FF2B5EF4-FFF2-40B4-BE49-F238E27FC236}">
                <a16:creationId xmlns:a16="http://schemas.microsoft.com/office/drawing/2014/main" id="{8F59C929-C94F-43C9-8B32-9FFABBE0D9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053" y="2773823"/>
            <a:ext cx="4243990" cy="1645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2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377" y="1276349"/>
            <a:ext cx="7162800" cy="54451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Reference Books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C by Reema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Thareja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ANSI C by E.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Balaguruswamy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with C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Schaum's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Outline Series) by Byron Gottfried  Jitender Chhabra, 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C Programming Language by Brian W. Kernighan, Dennis Ritchie, Pearson education.</a:t>
            </a:r>
          </a:p>
          <a:p>
            <a:pPr marL="0" indent="0">
              <a:buNone/>
            </a:pPr>
            <a:r>
              <a:rPr lang="en-IN" b="1" dirty="0"/>
              <a:t>Websites: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https://www.programiz.com/c-programming/c-pointer-functions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https://www.studytonight.com/c/pointer-with-function-in-c.php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http://www.tutorialdost.com/C-Programming-Tutorial/17-C-Pointers.aspx</a:t>
            </a:r>
          </a:p>
          <a:p>
            <a:pPr marL="0" indent="0">
              <a:buNone/>
            </a:pPr>
            <a:r>
              <a:rPr lang="en-IN" sz="2600" b="1" dirty="0"/>
              <a:t>YouTube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http://www.digimat.in/nptel/courses/video/106104128/L38.html</a:t>
            </a:r>
            <a:endParaRPr lang="en-IN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7162800" cy="4368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912" y="1666923"/>
            <a:ext cx="3352800" cy="39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38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310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EAD2911-7226-4B77-A887-25E50BE1F44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 Introduction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2649</TotalTime>
  <Words>1699</Words>
  <Application>Microsoft Office PowerPoint</Application>
  <PresentationFormat>Widescreen</PresentationFormat>
  <Paragraphs>306</Paragraphs>
  <Slides>27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Raleway ExtraBold</vt:lpstr>
      <vt:lpstr>Segoe UI</vt:lpstr>
      <vt:lpstr>Times New Roman</vt:lpstr>
      <vt:lpstr>1_Office Theme</vt:lpstr>
      <vt:lpstr>Contents Slide Master</vt:lpstr>
      <vt:lpstr>CorelDRAW</vt:lpstr>
      <vt:lpstr>PowerPoint Presentation</vt:lpstr>
      <vt:lpstr>Introduction to Problem Solving</vt:lpstr>
      <vt:lpstr>PowerPoint Presentation</vt:lpstr>
      <vt:lpstr> Scheme of Evaluation  </vt:lpstr>
      <vt:lpstr>Pointers and  Arrays</vt:lpstr>
      <vt:lpstr>PowerPoint Presentation</vt:lpstr>
      <vt:lpstr>Pointer to Array</vt:lpstr>
      <vt:lpstr>PowerPoint Presentation</vt:lpstr>
      <vt:lpstr>Pointer to Multidimensional Array</vt:lpstr>
      <vt:lpstr>Array of Pointers</vt:lpstr>
      <vt:lpstr>PowerPoint Presentation</vt:lpstr>
      <vt:lpstr>PowerPoint Presentation</vt:lpstr>
      <vt:lpstr>Call by Value Vs Call by Address</vt:lpstr>
      <vt:lpstr>PowerPoint Presentation</vt:lpstr>
      <vt:lpstr>PowerPoint Presentation</vt:lpstr>
      <vt:lpstr>Function Returning a Pointer</vt:lpstr>
      <vt:lpstr>PowerPoint Presentation</vt:lpstr>
      <vt:lpstr>PowerPoint Presentation</vt:lpstr>
      <vt:lpstr>PowerPoint Presentation</vt:lpstr>
      <vt:lpstr>Frequently Asked question</vt:lpstr>
      <vt:lpstr>PowerPoint Presentation</vt:lpstr>
      <vt:lpstr>PowerPoint Presentation</vt:lpstr>
      <vt:lpstr>Assessment Questions:</vt:lpstr>
      <vt:lpstr>PowerPoint Presentation</vt:lpstr>
      <vt:lpstr>Discussion forum.</vt:lpstr>
      <vt:lpstr>REFERENCES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Branding</dc:creator>
  <cp:lastModifiedBy>ADMIN</cp:lastModifiedBy>
  <cp:revision>416</cp:revision>
  <dcterms:created xsi:type="dcterms:W3CDTF">2019-01-09T10:33:58Z</dcterms:created>
  <dcterms:modified xsi:type="dcterms:W3CDTF">2023-06-15T05:44:02Z</dcterms:modified>
</cp:coreProperties>
</file>