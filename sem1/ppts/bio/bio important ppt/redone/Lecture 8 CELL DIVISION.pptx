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80" r:id="rId3"/>
    <p:sldId id="282" r:id="rId4"/>
    <p:sldId id="260" r:id="rId5"/>
    <p:sldId id="261" r:id="rId6"/>
    <p:sldId id="262" r:id="rId7"/>
    <p:sldId id="263" r:id="rId8"/>
    <p:sldId id="265" r:id="rId9"/>
    <p:sldId id="279" r:id="rId10"/>
    <p:sldId id="266" r:id="rId11"/>
    <p:sldId id="268" r:id="rId12"/>
    <p:sldId id="271" r:id="rId13"/>
    <p:sldId id="272" r:id="rId14"/>
    <p:sldId id="273" r:id="rId15"/>
    <p:sldId id="276" r:id="rId16"/>
    <p:sldId id="277" r:id="rId17"/>
    <p:sldId id="278" r:id="rId18"/>
    <p:sldId id="285" r:id="rId19"/>
    <p:sldId id="284" r:id="rId20"/>
    <p:sldId id="283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65" autoAdjust="0"/>
    <p:restoredTop sz="94624" autoAdjust="0"/>
  </p:normalViewPr>
  <p:slideViewPr>
    <p:cSldViewPr>
      <p:cViewPr varScale="1">
        <p:scale>
          <a:sx n="82" d="100"/>
          <a:sy n="82" d="100"/>
        </p:scale>
        <p:origin x="893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FA60-D25F-4745-B2BB-62B4AADC7AFA}" type="datetimeFigureOut">
              <a:rPr lang="en-US" smtClean="0"/>
              <a:pPr/>
              <a:t>9/13/2023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50F47-0642-4FEC-90A1-373E2DC897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343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FA60-D25F-4745-B2BB-62B4AADC7AFA}" type="datetimeFigureOut">
              <a:rPr lang="en-US" smtClean="0"/>
              <a:pPr/>
              <a:t>9/13/2023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50F47-0642-4FEC-90A1-373E2DC897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966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FA60-D25F-4745-B2BB-62B4AADC7AFA}" type="datetimeFigureOut">
              <a:rPr lang="en-US" smtClean="0"/>
              <a:pPr/>
              <a:t>9/13/2023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50F47-0642-4FEC-90A1-373E2DC897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08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FA60-D25F-4745-B2BB-62B4AADC7AFA}" type="datetimeFigureOut">
              <a:rPr lang="en-US" smtClean="0"/>
              <a:pPr/>
              <a:t>9/13/2023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50F47-0642-4FEC-90A1-373E2DC897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888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FA60-D25F-4745-B2BB-62B4AADC7AFA}" type="datetimeFigureOut">
              <a:rPr lang="en-US" smtClean="0"/>
              <a:pPr/>
              <a:t>9/13/2023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50F47-0642-4FEC-90A1-373E2DC897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00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FA60-D25F-4745-B2BB-62B4AADC7AFA}" type="datetimeFigureOut">
              <a:rPr lang="en-US" smtClean="0"/>
              <a:pPr/>
              <a:t>9/13/2023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50F47-0642-4FEC-90A1-373E2DC897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22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FA60-D25F-4745-B2BB-62B4AADC7AFA}" type="datetimeFigureOut">
              <a:rPr lang="en-US" smtClean="0"/>
              <a:pPr/>
              <a:t>9/13/2023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50F47-0642-4FEC-90A1-373E2DC897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094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FA60-D25F-4745-B2BB-62B4AADC7AFA}" type="datetimeFigureOut">
              <a:rPr lang="en-US" smtClean="0"/>
              <a:pPr/>
              <a:t>9/13/2023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50F47-0642-4FEC-90A1-373E2DC897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676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FA60-D25F-4745-B2BB-62B4AADC7AFA}" type="datetimeFigureOut">
              <a:rPr lang="en-US" smtClean="0"/>
              <a:pPr/>
              <a:t>9/13/2023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50F47-0642-4FEC-90A1-373E2DC897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137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FA60-D25F-4745-B2BB-62B4AADC7AFA}" type="datetimeFigureOut">
              <a:rPr lang="en-US" smtClean="0"/>
              <a:pPr/>
              <a:t>9/13/2023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50F47-0642-4FEC-90A1-373E2DC897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9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FA60-D25F-4745-B2BB-62B4AADC7AFA}" type="datetimeFigureOut">
              <a:rPr lang="en-US" smtClean="0"/>
              <a:pPr/>
              <a:t>9/13/2023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50F47-0642-4FEC-90A1-373E2DC897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445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3FA60-D25F-4745-B2BB-62B4AADC7AFA}" type="datetimeFigureOut">
              <a:rPr lang="en-US" smtClean="0"/>
              <a:pPr/>
              <a:t>9/13/2023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50F47-0642-4FEC-90A1-373E2DC897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427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2132856"/>
            <a:ext cx="7772400" cy="1470025"/>
          </a:xfrm>
        </p:spPr>
        <p:txBody>
          <a:bodyPr/>
          <a:lstStyle/>
          <a:p>
            <a:r>
              <a:rPr lang="en-IN" b="1" dirty="0"/>
              <a:t>CELL GROWTH, DIVISION &amp; DIFFERENTIATION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540" y="1012954"/>
            <a:ext cx="9164782" cy="483209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sz="2800" b="1" dirty="0"/>
              <a:t>Introduction of cell biology</a:t>
            </a:r>
          </a:p>
          <a:p>
            <a:r>
              <a:rPr lang="en-US" sz="2800" b="1" dirty="0"/>
              <a:t>Cell biology</a:t>
            </a:r>
          </a:p>
          <a:p>
            <a:r>
              <a:rPr lang="en-US" sz="2800" dirty="0"/>
              <a:t>   The branch of biology dealing with the </a:t>
            </a:r>
            <a:r>
              <a:rPr lang="en-US" sz="2800" b="1" dirty="0"/>
              <a:t>study of structure, function, molecular organization, growth, reproduction and genetics of the cells</a:t>
            </a:r>
            <a:r>
              <a:rPr lang="en-US" sz="2800" dirty="0"/>
              <a:t>, is called </a:t>
            </a:r>
            <a:r>
              <a:rPr lang="en-US" sz="2800" b="1" dirty="0">
                <a:solidFill>
                  <a:srgbClr val="FF0000"/>
                </a:solidFill>
              </a:rPr>
              <a:t>cytology or cell biology</a:t>
            </a:r>
            <a:r>
              <a:rPr lang="en-US" sz="2800" dirty="0"/>
              <a:t>. </a:t>
            </a:r>
          </a:p>
          <a:p>
            <a:r>
              <a:rPr lang="en-US" sz="2800" dirty="0"/>
              <a:t>The discovery of the cells </a:t>
            </a:r>
          </a:p>
          <a:p>
            <a:r>
              <a:rPr lang="en-US" sz="2800" dirty="0"/>
              <a:t>•	1665 - </a:t>
            </a:r>
            <a:r>
              <a:rPr lang="en-US" sz="2800" dirty="0">
                <a:solidFill>
                  <a:srgbClr val="FF0000"/>
                </a:solidFill>
              </a:rPr>
              <a:t>Robert Hooke </a:t>
            </a:r>
            <a:r>
              <a:rPr lang="en-US" sz="2800" dirty="0"/>
              <a:t>looks at cork </a:t>
            </a:r>
          </a:p>
          <a:p>
            <a:r>
              <a:rPr lang="en-US" sz="2800" dirty="0"/>
              <a:t>under a microscope. Calls the chambers</a:t>
            </a:r>
          </a:p>
          <a:p>
            <a:r>
              <a:rPr lang="en-US" sz="2800" dirty="0"/>
              <a:t> he see "cells" </a:t>
            </a:r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484984"/>
            <a:ext cx="15240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619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04664"/>
            <a:ext cx="9144000" cy="5262979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Cells arise from the division of other cells </a:t>
            </a:r>
          </a:p>
          <a:p>
            <a:r>
              <a:rPr lang="en-US" sz="2800" dirty="0"/>
              <a:t>•Daughter cells inherit the genes from the mother cells </a:t>
            </a:r>
          </a:p>
          <a:p>
            <a:r>
              <a:rPr lang="en-US" sz="2800" dirty="0"/>
              <a:t>•Daughter cells inherit cytoplasm and organelles from the mother cells </a:t>
            </a:r>
          </a:p>
          <a:p>
            <a:r>
              <a:rPr lang="en-US" sz="2800" dirty="0"/>
              <a:t> •</a:t>
            </a:r>
            <a:r>
              <a:rPr lang="en-US" sz="2800" b="1" dirty="0"/>
              <a:t>Binary fission </a:t>
            </a:r>
            <a:r>
              <a:rPr lang="en-US" sz="2800" dirty="0"/>
              <a:t>- cell division in bacteria</a:t>
            </a:r>
          </a:p>
          <a:p>
            <a:r>
              <a:rPr lang="en-US" sz="2800" dirty="0"/>
              <a:t>•</a:t>
            </a:r>
            <a:r>
              <a:rPr lang="en-US" sz="2800" b="1" dirty="0"/>
              <a:t>Mitosis</a:t>
            </a:r>
            <a:r>
              <a:rPr lang="en-US" sz="2800" dirty="0"/>
              <a:t> - The </a:t>
            </a:r>
            <a:r>
              <a:rPr lang="en-US" sz="2800" b="1" dirty="0"/>
              <a:t>genetic complement of each daughter cell is identical to</a:t>
            </a:r>
            <a:r>
              <a:rPr lang="en-US" sz="2800" dirty="0"/>
              <a:t> the other and to the </a:t>
            </a:r>
            <a:r>
              <a:rPr lang="en-US" sz="2800" b="1" dirty="0"/>
              <a:t>mother cell</a:t>
            </a:r>
            <a:r>
              <a:rPr lang="en-US" sz="2800" dirty="0"/>
              <a:t>. </a:t>
            </a:r>
            <a:endParaRPr lang="en-US" sz="2800" dirty="0">
              <a:solidFill>
                <a:srgbClr val="FF0000"/>
              </a:solidFill>
            </a:endParaRPr>
          </a:p>
          <a:p>
            <a:r>
              <a:rPr lang="en-US" sz="2800" dirty="0"/>
              <a:t>•</a:t>
            </a:r>
            <a:r>
              <a:rPr lang="en-US" sz="2800" b="1" dirty="0"/>
              <a:t>Meiosis</a:t>
            </a:r>
            <a:r>
              <a:rPr lang="en-US" sz="2800" dirty="0"/>
              <a:t> - The </a:t>
            </a:r>
            <a:r>
              <a:rPr lang="en-US" sz="2800" b="1" dirty="0"/>
              <a:t>genetic complement of each daughter cell is reduced by half. </a:t>
            </a:r>
            <a:endParaRPr lang="en-US" sz="2800" b="1" dirty="0">
              <a:solidFill>
                <a:srgbClr val="FF0000"/>
              </a:solidFill>
            </a:endParaRP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43270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CELL CYCLE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 cell cycle is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 series of events that takes place in a cell as it grows and divides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CELL CYCLE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The cell cycle of the eukaryotic cell is divided into two fundamental parts:</a:t>
            </a:r>
            <a:endParaRPr lang="en-US" dirty="0"/>
          </a:p>
          <a:p>
            <a:pPr fontAlgn="base"/>
            <a:r>
              <a:rPr lang="en-US" dirty="0" err="1"/>
              <a:t>i</a:t>
            </a:r>
            <a:r>
              <a:rPr lang="en-US" dirty="0"/>
              <a:t>. </a:t>
            </a:r>
            <a:r>
              <a:rPr lang="en-US" dirty="0" err="1"/>
              <a:t>Interphase</a:t>
            </a:r>
            <a:r>
              <a:rPr lang="en-US" dirty="0"/>
              <a:t>, and</a:t>
            </a:r>
          </a:p>
          <a:p>
            <a:pPr fontAlgn="base"/>
            <a:r>
              <a:rPr lang="en-US" dirty="0"/>
              <a:t>ii. Mitosis (including Cytokinesis)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en-IN" b="1" dirty="0"/>
              <a:t>CELL CYCLE</a:t>
            </a:r>
            <a:endParaRPr lang="en-US" dirty="0"/>
          </a:p>
        </p:txBody>
      </p:sp>
      <p:pic>
        <p:nvPicPr>
          <p:cNvPr id="4" name="Content Placeholder 3" descr="5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2488" y="764704"/>
            <a:ext cx="7515696" cy="5465959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2106EC-5F06-F7D4-E4F4-E96ADCD647D1}"/>
              </a:ext>
            </a:extLst>
          </p:cNvPr>
          <p:cNvSpPr txBox="1"/>
          <p:nvPr/>
        </p:nvSpPr>
        <p:spPr>
          <a:xfrm>
            <a:off x="3995936" y="6230663"/>
            <a:ext cx="170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Stages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CELL CYCLE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525963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dirty="0"/>
              <a:t>There are three stages of </a:t>
            </a:r>
            <a:r>
              <a:rPr lang="en-US" dirty="0" err="1"/>
              <a:t>interphase</a:t>
            </a:r>
            <a:r>
              <a:rPr lang="en-US" dirty="0"/>
              <a:t>: G</a:t>
            </a:r>
            <a:r>
              <a:rPr lang="en-US" baseline="-25000" dirty="0"/>
              <a:t>1</a:t>
            </a:r>
            <a:r>
              <a:rPr lang="en-US" dirty="0"/>
              <a:t> (first gap), S (synthesis of new DNA ), and G</a:t>
            </a:r>
            <a:r>
              <a:rPr lang="en-US" baseline="-25000" dirty="0"/>
              <a:t>2</a:t>
            </a:r>
            <a:r>
              <a:rPr lang="en-US" dirty="0"/>
              <a:t> (second gap).</a:t>
            </a:r>
          </a:p>
          <a:p>
            <a:pPr algn="just"/>
            <a:r>
              <a:rPr lang="en-US" dirty="0"/>
              <a:t>Cells spend most of their lives in </a:t>
            </a:r>
            <a:r>
              <a:rPr lang="en-US" dirty="0" err="1"/>
              <a:t>interphase</a:t>
            </a:r>
            <a:r>
              <a:rPr lang="en-US" dirty="0"/>
              <a:t>, specifically in the S phase where genetic material must be copied.</a:t>
            </a:r>
          </a:p>
          <a:p>
            <a:pPr algn="just"/>
            <a:r>
              <a:rPr lang="en-US" dirty="0"/>
              <a:t>The cell grows and carries out biochemical functions, cell is metabolically active, in the G</a:t>
            </a:r>
            <a:r>
              <a:rPr lang="en-US" baseline="-25000" dirty="0"/>
              <a:t>1</a:t>
            </a:r>
            <a:r>
              <a:rPr lang="en-US" dirty="0"/>
              <a:t> phase.</a:t>
            </a:r>
          </a:p>
          <a:p>
            <a:pPr algn="just"/>
            <a:r>
              <a:rPr lang="en-US" dirty="0"/>
              <a:t>In the G</a:t>
            </a:r>
            <a:r>
              <a:rPr lang="en-US" baseline="-25000" dirty="0"/>
              <a:t>2</a:t>
            </a:r>
            <a:r>
              <a:rPr lang="en-US" dirty="0"/>
              <a:t> phase, energy is replenished, new proteins are synthesized, and additional growth occurs.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highlight>
                  <a:srgbClr val="FFFF00"/>
                </a:highlight>
              </a:rPr>
              <a:t>CELL DIVISION</a:t>
            </a:r>
            <a:endParaRPr lang="en-US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66018"/>
            <a:ext cx="8856984" cy="4525963"/>
          </a:xfrm>
        </p:spPr>
        <p:txBody>
          <a:bodyPr>
            <a:noAutofit/>
          </a:bodyPr>
          <a:lstStyle/>
          <a:p>
            <a:pPr marL="457200" lvl="1" indent="0" algn="just">
              <a:lnSpc>
                <a:spcPct val="150000"/>
              </a:lnSpc>
              <a:buNone/>
            </a:pPr>
            <a:r>
              <a:rPr lang="en-US" sz="2400" dirty="0">
                <a:cs typeface="Calibri" pitchFamily="34" charset="0"/>
              </a:rPr>
              <a:t>Cell division is the process by which a </a:t>
            </a:r>
            <a:r>
              <a:rPr lang="en-US" sz="2400" b="1" dirty="0">
                <a:cs typeface="Calibri" pitchFamily="34" charset="0"/>
              </a:rPr>
              <a:t>parent cell divides into two or more daughter cells.</a:t>
            </a:r>
            <a:endParaRPr lang="en-IN" sz="2400" b="1" dirty="0">
              <a:cs typeface="Calibri" pitchFamily="34" charset="0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IN" sz="2400" dirty="0">
                <a:cs typeface="Calibri" pitchFamily="34" charset="0"/>
              </a:rPr>
              <a:t>It is of two type: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IN" sz="2400" b="1" dirty="0">
                <a:highlight>
                  <a:srgbClr val="FFFF00"/>
                </a:highlight>
                <a:cs typeface="Calibri" pitchFamily="34" charset="0"/>
              </a:rPr>
              <a:t>Mitosis</a:t>
            </a:r>
            <a:r>
              <a:rPr lang="en-IN" sz="2400" b="1" dirty="0">
                <a:cs typeface="Calibri" pitchFamily="34" charset="0"/>
              </a:rPr>
              <a:t>-</a:t>
            </a:r>
            <a:r>
              <a:rPr lang="en-IN" sz="2400" dirty="0">
                <a:cs typeface="Calibri" pitchFamily="34" charset="0"/>
              </a:rPr>
              <a:t> Division take place in somatic cells (</a:t>
            </a:r>
            <a:r>
              <a:rPr lang="en-US" sz="2400" b="0" i="0" dirty="0">
                <a:solidFill>
                  <a:srgbClr val="202124"/>
                </a:solidFill>
                <a:effectLst/>
              </a:rPr>
              <a:t>any cell of a living </a:t>
            </a:r>
            <a:r>
              <a:rPr lang="en-US" sz="2400" b="0" i="0" u="sng" dirty="0">
                <a:solidFill>
                  <a:srgbClr val="202124"/>
                </a:solidFill>
                <a:effectLst/>
              </a:rPr>
              <a:t>organism</a:t>
            </a:r>
            <a:r>
              <a:rPr lang="en-US" sz="2400" b="0" i="0" dirty="0">
                <a:solidFill>
                  <a:srgbClr val="202124"/>
                </a:solidFill>
                <a:effectLst/>
              </a:rPr>
              <a:t> other than the reproductive cells- </a:t>
            </a:r>
            <a:r>
              <a:rPr lang="en-US" sz="2400" b="1" i="0" dirty="0">
                <a:solidFill>
                  <a:srgbClr val="202124"/>
                </a:solidFill>
                <a:effectLst/>
              </a:rPr>
              <a:t>muscle cells, blood cells, skin cells and nerve cells)</a:t>
            </a:r>
            <a:endParaRPr lang="en-IN" sz="2400" dirty="0">
              <a:cs typeface="Calibri" pitchFamily="34" charset="0"/>
            </a:endParaRPr>
          </a:p>
          <a:p>
            <a:pPr marL="800100" lvl="1" indent="-342900" algn="just">
              <a:lnSpc>
                <a:spcPct val="150000"/>
              </a:lnSpc>
              <a:buAutoNum type="arabicPeriod"/>
            </a:pPr>
            <a:r>
              <a:rPr lang="en-IN" sz="2400" b="1" dirty="0">
                <a:highlight>
                  <a:srgbClr val="FFFF00"/>
                </a:highlight>
                <a:cs typeface="Calibri" pitchFamily="34" charset="0"/>
              </a:rPr>
              <a:t>Meiosis</a:t>
            </a:r>
            <a:r>
              <a:rPr lang="en-IN" sz="2400" b="1" dirty="0">
                <a:cs typeface="Calibri" pitchFamily="34" charset="0"/>
              </a:rPr>
              <a:t>-</a:t>
            </a:r>
            <a:r>
              <a:rPr lang="en-IN" sz="2400" dirty="0">
                <a:cs typeface="Calibri" pitchFamily="34" charset="0"/>
              </a:rPr>
              <a:t> Division take place in reproductive cell </a:t>
            </a:r>
            <a:r>
              <a:rPr lang="en-IN" sz="2400" b="1" dirty="0">
                <a:solidFill>
                  <a:srgbClr val="202124"/>
                </a:solidFill>
              </a:rPr>
              <a:t>(</a:t>
            </a:r>
            <a:r>
              <a:rPr lang="en-US" sz="2400" b="1" dirty="0">
                <a:solidFill>
                  <a:srgbClr val="202124"/>
                </a:solidFill>
              </a:rPr>
              <a:t>a cell responsible for transmitting DNA to the next generation) </a:t>
            </a:r>
            <a:endParaRPr lang="en-IN" sz="2400" b="1" dirty="0">
              <a:solidFill>
                <a:srgbClr val="202124"/>
              </a:solidFill>
            </a:endParaRPr>
          </a:p>
          <a:p>
            <a:pPr algn="just"/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45861"/>
            <a:ext cx="8229600" cy="1143000"/>
          </a:xfrm>
        </p:spPr>
        <p:txBody>
          <a:bodyPr/>
          <a:lstStyle/>
          <a:p>
            <a:r>
              <a:rPr lang="en-US" dirty="0"/>
              <a:t>Differences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39181E-084C-72C4-A38B-070BC2917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How do cells divide?: MedlinePlus Genetics">
            <a:extLst>
              <a:ext uri="{FF2B5EF4-FFF2-40B4-BE49-F238E27FC236}">
                <a16:creationId xmlns:a16="http://schemas.microsoft.com/office/drawing/2014/main" id="{FA42933D-67EF-8440-258C-BD91FDD17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320" y="754758"/>
            <a:ext cx="7941488" cy="5559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Mitosis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052736"/>
            <a:ext cx="8229600" cy="4525963"/>
          </a:xfrm>
        </p:spPr>
        <p:txBody>
          <a:bodyPr>
            <a:noAutofit/>
          </a:bodyPr>
          <a:lstStyle/>
          <a:p>
            <a:pPr marL="457200" lvl="1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type of cell division that results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daughter cells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having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number and kind of chromosomes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 nucleus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typical of ordinary tissue growth. It is also known 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equational division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Phases of Mitosis</a:t>
            </a:r>
          </a:p>
          <a:p>
            <a:pPr marL="800100" lvl="1" indent="-34290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Prophase</a:t>
            </a:r>
          </a:p>
          <a:p>
            <a:pPr marL="800100" lvl="1" indent="-34290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Metaphase</a:t>
            </a:r>
          </a:p>
          <a:p>
            <a:pPr marL="800100" lvl="1" indent="-34290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Anaphase</a:t>
            </a:r>
          </a:p>
          <a:p>
            <a:pPr marL="800100" lvl="1" indent="-342900" algn="just">
              <a:lnSpc>
                <a:spcPct val="150000"/>
              </a:lnSpc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Telophase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https://schoolbag.info/biology/living/living.files/image231.jpg">
            <a:extLst>
              <a:ext uri="{FF2B5EF4-FFF2-40B4-BE49-F238E27FC236}">
                <a16:creationId xmlns:a16="http://schemas.microsoft.com/office/drawing/2014/main" id="{4616C28E-BE64-4D5D-B8DE-AD1062E51FDA}"/>
              </a:ext>
            </a:extLst>
          </p:cNvPr>
          <p:cNvPicPr>
            <a:picLocks noGrp="1"/>
          </p:cNvPicPr>
          <p:nvPr>
            <p:ph idx="4294967295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604" y="0"/>
            <a:ext cx="9036496" cy="681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https://schoolbag.info/biology/living/living.files/image232.jpg">
            <a:extLst>
              <a:ext uri="{FF2B5EF4-FFF2-40B4-BE49-F238E27FC236}">
                <a16:creationId xmlns:a16="http://schemas.microsoft.com/office/drawing/2014/main" id="{D7E31448-5C51-44CE-8A55-7302B26F2AD6}"/>
              </a:ext>
            </a:extLst>
          </p:cNvPr>
          <p:cNvPicPr>
            <a:picLocks noGrp="1"/>
          </p:cNvPicPr>
          <p:nvPr>
            <p:ph idx="4294967295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1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Meiosis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66018"/>
            <a:ext cx="8856984" cy="4783262"/>
          </a:xfrm>
        </p:spPr>
        <p:txBody>
          <a:bodyPr>
            <a:normAutofit lnSpcReduction="10000"/>
          </a:bodyPr>
          <a:lstStyle/>
          <a:p>
            <a:pPr marL="457200" lvl="1" indent="0"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Meiosis is a double division which occurs in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diploid cell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give rise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haploid cells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having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half the number of chromosomes as compared to the parent cells.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also known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reductional division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divisions:</a:t>
            </a:r>
          </a:p>
          <a:p>
            <a:pPr lvl="1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Meiosis I and </a:t>
            </a:r>
          </a:p>
          <a:p>
            <a:pPr lvl="1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Meiosis II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Meiosis 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Meiosis I is a reduction division 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phases</a:t>
            </a:r>
          </a:p>
          <a:p>
            <a:pPr lvl="1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Prophase I</a:t>
            </a:r>
          </a:p>
          <a:p>
            <a:pPr lvl="1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Metaphase I</a:t>
            </a:r>
          </a:p>
          <a:p>
            <a:pPr lvl="1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Anaphase I</a:t>
            </a:r>
          </a:p>
          <a:p>
            <a:pPr lvl="1" algn="just">
              <a:lnSpc>
                <a:spcPct val="150000"/>
              </a:lnSpc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Telophase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A11E912-4964-42E9-AFB6-7D1DDECC43FB}"/>
              </a:ext>
            </a:extLst>
          </p:cNvPr>
          <p:cNvPicPr>
            <a:picLocks noGrp="1"/>
          </p:cNvPicPr>
          <p:nvPr>
            <p:ph idx="4294967295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r="-116"/>
          <a:stretch/>
        </p:blipFill>
        <p:spPr bwMode="auto">
          <a:xfrm>
            <a:off x="2840" y="-34280"/>
            <a:ext cx="9141160" cy="67036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Meiosis 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Meiosis II is 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division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phases: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Prophase II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Metaphase II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Anaphase II</a:t>
            </a:r>
          </a:p>
          <a:p>
            <a:pPr lvl="1">
              <a:lnSpc>
                <a:spcPct val="150000"/>
              </a:lnSpc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Telophase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II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https://schoolbag.info/biology/living/living.files/image253.jpg">
            <a:extLst>
              <a:ext uri="{FF2B5EF4-FFF2-40B4-BE49-F238E27FC236}">
                <a16:creationId xmlns:a16="http://schemas.microsoft.com/office/drawing/2014/main" id="{87B1D75E-FFD8-4728-ADD4-BBDF0601DE25}"/>
              </a:ext>
            </a:extLst>
          </p:cNvPr>
          <p:cNvPicPr>
            <a:picLocks noGrp="1"/>
          </p:cNvPicPr>
          <p:nvPr>
            <p:ph idx="4294967295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98"/>
          <a:stretch/>
        </p:blipFill>
        <p:spPr bwMode="auto">
          <a:xfrm>
            <a:off x="0" y="-24950"/>
            <a:ext cx="9144000" cy="688294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is difference between mitosis and meiosis">
            <a:extLst>
              <a:ext uri="{FF2B5EF4-FFF2-40B4-BE49-F238E27FC236}">
                <a16:creationId xmlns:a16="http://schemas.microsoft.com/office/drawing/2014/main" id="{9715724A-A611-FF61-180E-F0BC5CA07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838" y="0"/>
            <a:ext cx="66627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4217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CC6A30-D5AF-4FFA-FEFC-0CE511C00114}"/>
              </a:ext>
            </a:extLst>
          </p:cNvPr>
          <p:cNvSpPr txBox="1"/>
          <p:nvPr/>
        </p:nvSpPr>
        <p:spPr>
          <a:xfrm>
            <a:off x="467544" y="404664"/>
            <a:ext cx="756084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/>
              <a:t>Significance and importance of mitosis</a:t>
            </a:r>
          </a:p>
          <a:p>
            <a:pPr algn="just"/>
            <a:endParaRPr lang="en-IN" sz="3200" b="1" dirty="0"/>
          </a:p>
          <a:p>
            <a:pPr marL="342900" indent="-342900" algn="just">
              <a:buAutoNum type="arabicPeriod"/>
            </a:pPr>
            <a:r>
              <a:rPr lang="en-IN" sz="3200" b="1" dirty="0"/>
              <a:t>Growth of organisms </a:t>
            </a:r>
            <a:r>
              <a:rPr lang="en-IN" sz="3200" dirty="0"/>
              <a:t>via new cells</a:t>
            </a:r>
          </a:p>
          <a:p>
            <a:pPr marL="342900" indent="-342900" algn="just">
              <a:buAutoNum type="arabicPeriod"/>
            </a:pPr>
            <a:r>
              <a:rPr lang="en-IN" sz="3200" dirty="0"/>
              <a:t>Hereditary material </a:t>
            </a:r>
            <a:r>
              <a:rPr lang="en-IN" sz="3200" b="1" dirty="0"/>
              <a:t>equally distributed </a:t>
            </a:r>
            <a:r>
              <a:rPr lang="en-IN" sz="3200" dirty="0"/>
              <a:t>in daughter cell.</a:t>
            </a:r>
          </a:p>
          <a:p>
            <a:pPr marL="342900" indent="-342900" algn="just">
              <a:buAutoNum type="arabicPeriod"/>
            </a:pPr>
            <a:r>
              <a:rPr lang="en-IN" sz="3200" b="1" dirty="0"/>
              <a:t>Genetic information remain unchanged</a:t>
            </a:r>
          </a:p>
          <a:p>
            <a:pPr marL="342900" indent="-342900" algn="just">
              <a:buAutoNum type="arabicPeriod"/>
            </a:pPr>
            <a:r>
              <a:rPr lang="en-IN" sz="3200" dirty="0"/>
              <a:t>Involved in </a:t>
            </a:r>
            <a:r>
              <a:rPr lang="en-IN" sz="3200" b="1" dirty="0"/>
              <a:t>regeneration, healing of wound and replacement of older cells</a:t>
            </a:r>
            <a:r>
              <a:rPr lang="en-IN" sz="3200" dirty="0"/>
              <a:t>.</a:t>
            </a:r>
          </a:p>
          <a:p>
            <a:pPr marL="342900" indent="-342900" algn="just">
              <a:buAutoNum type="arabicPeriod"/>
            </a:pPr>
            <a:r>
              <a:rPr lang="en-IN" sz="3200" dirty="0"/>
              <a:t>Involved in </a:t>
            </a:r>
            <a:r>
              <a:rPr lang="en-IN" sz="3200" b="1" dirty="0"/>
              <a:t>development and growth </a:t>
            </a:r>
            <a:r>
              <a:rPr lang="en-IN" sz="3200" dirty="0"/>
              <a:t>of multicellular organisms.</a:t>
            </a:r>
          </a:p>
          <a:p>
            <a:pPr marL="342900" indent="-342900" algn="just">
              <a:buAutoNum type="arabicPeriod"/>
            </a:pPr>
            <a:r>
              <a:rPr lang="en-IN" sz="3200" b="1" dirty="0"/>
              <a:t>Replace dead and damaged </a:t>
            </a:r>
            <a:r>
              <a:rPr lang="en-IN" sz="3200" dirty="0"/>
              <a:t>cells.</a:t>
            </a:r>
          </a:p>
          <a:p>
            <a:pPr marL="342900" indent="-342900" algn="just">
              <a:buAutoNum type="arabicPeriod"/>
            </a:pPr>
            <a:r>
              <a:rPr lang="en-IN" sz="3200" dirty="0"/>
              <a:t>Involved in </a:t>
            </a:r>
            <a:r>
              <a:rPr lang="en-IN" sz="3200" b="1" dirty="0"/>
              <a:t>cloning and culturing</a:t>
            </a:r>
            <a:r>
              <a:rPr lang="en-IN" sz="3200" dirty="0"/>
              <a:t>.</a:t>
            </a:r>
          </a:p>
          <a:p>
            <a:pPr marL="342900" indent="-342900" algn="just">
              <a:buAutoNum type="arabicPeriod"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3218553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CC6A30-D5AF-4FFA-FEFC-0CE511C00114}"/>
              </a:ext>
            </a:extLst>
          </p:cNvPr>
          <p:cNvSpPr txBox="1"/>
          <p:nvPr/>
        </p:nvSpPr>
        <p:spPr>
          <a:xfrm>
            <a:off x="467544" y="404664"/>
            <a:ext cx="756084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/>
              <a:t>Significance and importance of meiosis</a:t>
            </a:r>
          </a:p>
          <a:p>
            <a:pPr algn="just"/>
            <a:endParaRPr lang="en-IN" sz="3200" b="1" dirty="0"/>
          </a:p>
          <a:p>
            <a:pPr marL="342900" indent="-342900" algn="just">
              <a:buAutoNum type="arabicPeriod"/>
            </a:pPr>
            <a:r>
              <a:rPr lang="en-IN" sz="3200" dirty="0"/>
              <a:t>Essential for </a:t>
            </a:r>
            <a:r>
              <a:rPr lang="en-IN" sz="3200" b="1" dirty="0"/>
              <a:t>reproduction in organisms</a:t>
            </a:r>
          </a:p>
          <a:p>
            <a:pPr marL="342900" indent="-342900" algn="just">
              <a:buAutoNum type="arabicPeriod"/>
            </a:pPr>
            <a:r>
              <a:rPr lang="en-US" sz="3200" b="0" i="0" dirty="0">
                <a:solidFill>
                  <a:srgbClr val="202124"/>
                </a:solidFill>
                <a:effectLst/>
              </a:rPr>
              <a:t>It </a:t>
            </a:r>
            <a:r>
              <a:rPr lang="en-US" sz="3200" b="1" i="0" dirty="0">
                <a:solidFill>
                  <a:srgbClr val="202124"/>
                </a:solidFill>
                <a:effectLst/>
              </a:rPr>
              <a:t>activates the genetic information</a:t>
            </a:r>
            <a:endParaRPr lang="en-IN" sz="3200" b="1" i="0" dirty="0">
              <a:solidFill>
                <a:srgbClr val="202124"/>
              </a:solidFill>
              <a:effectLst/>
            </a:endParaRPr>
          </a:p>
          <a:p>
            <a:pPr marL="342900" indent="-342900" algn="just">
              <a:buAutoNum type="arabicPeriod"/>
            </a:pPr>
            <a:r>
              <a:rPr lang="en-US" sz="3200" b="0" i="0" dirty="0">
                <a:solidFill>
                  <a:srgbClr val="332E2B"/>
                </a:solidFill>
                <a:effectLst/>
              </a:rPr>
              <a:t>Meiosis is of </a:t>
            </a:r>
            <a:r>
              <a:rPr lang="en-US" sz="3200" b="1" i="0" dirty="0">
                <a:solidFill>
                  <a:srgbClr val="332E2B"/>
                </a:solidFill>
                <a:effectLst/>
              </a:rPr>
              <a:t>great importance in evolution </a:t>
            </a:r>
            <a:endParaRPr lang="en-IN" sz="3200" b="1" dirty="0">
              <a:solidFill>
                <a:srgbClr val="202124"/>
              </a:solidFill>
            </a:endParaRPr>
          </a:p>
          <a:p>
            <a:pPr marL="342900" indent="-342900" algn="just">
              <a:buAutoNum type="arabicPeriod"/>
            </a:pPr>
            <a:r>
              <a:rPr lang="en-IN" sz="3200" dirty="0">
                <a:solidFill>
                  <a:srgbClr val="202124"/>
                </a:solidFill>
              </a:rPr>
              <a:t>It enables </a:t>
            </a:r>
            <a:r>
              <a:rPr lang="en-IN" sz="3200" b="1" dirty="0">
                <a:solidFill>
                  <a:srgbClr val="202124"/>
                </a:solidFill>
              </a:rPr>
              <a:t>genetic diversity</a:t>
            </a:r>
          </a:p>
          <a:p>
            <a:pPr marL="342900" indent="-342900" algn="just">
              <a:buAutoNum type="arabicPeriod"/>
            </a:pPr>
            <a:r>
              <a:rPr lang="en-IN" sz="3200" dirty="0">
                <a:solidFill>
                  <a:srgbClr val="202124"/>
                </a:solidFill>
              </a:rPr>
              <a:t>It repairs </a:t>
            </a:r>
            <a:r>
              <a:rPr lang="en-IN" sz="3200" b="1" dirty="0">
                <a:solidFill>
                  <a:srgbClr val="202124"/>
                </a:solidFill>
              </a:rPr>
              <a:t>genetic defects</a:t>
            </a:r>
          </a:p>
          <a:p>
            <a:pPr marL="342900" indent="-342900" algn="just">
              <a:buAutoNum type="arabicPeriod"/>
            </a:pPr>
            <a:r>
              <a:rPr lang="en-IN" sz="3200" b="1" dirty="0">
                <a:solidFill>
                  <a:srgbClr val="202124"/>
                </a:solidFill>
              </a:rPr>
              <a:t>New genetic combination </a:t>
            </a:r>
            <a:r>
              <a:rPr lang="en-IN" sz="3200" dirty="0">
                <a:solidFill>
                  <a:srgbClr val="202124"/>
                </a:solidFill>
              </a:rPr>
              <a:t>in next generation</a:t>
            </a:r>
          </a:p>
          <a:p>
            <a:pPr marL="342900" indent="-342900" algn="just">
              <a:buAutoNum type="arabicPeriod"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135193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591</TotalTime>
  <Words>588</Words>
  <Application>Microsoft Office PowerPoint</Application>
  <PresentationFormat>On-screen Show (4:3)</PresentationFormat>
  <Paragraphs>76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</vt:lpstr>
      <vt:lpstr>Calibri</vt:lpstr>
      <vt:lpstr>Times New Roman</vt:lpstr>
      <vt:lpstr>Office Theme</vt:lpstr>
      <vt:lpstr>CELL GROWTH, DIVISION &amp; DIFFERENTIATION</vt:lpstr>
      <vt:lpstr>PowerPoint Presentation</vt:lpstr>
      <vt:lpstr>PowerPoint Presentation</vt:lpstr>
      <vt:lpstr>CELL CYCLE</vt:lpstr>
      <vt:lpstr>CELL CYCLE</vt:lpstr>
      <vt:lpstr>CELL CYCLE</vt:lpstr>
      <vt:lpstr>CELL CYCLE</vt:lpstr>
      <vt:lpstr>CELL DIVISION</vt:lpstr>
      <vt:lpstr>Differences</vt:lpstr>
      <vt:lpstr>Mitosis</vt:lpstr>
      <vt:lpstr>PowerPoint Presentation</vt:lpstr>
      <vt:lpstr>PowerPoint Presentation</vt:lpstr>
      <vt:lpstr>Meiosis</vt:lpstr>
      <vt:lpstr>Meiosis I</vt:lpstr>
      <vt:lpstr>PowerPoint Presentation</vt:lpstr>
      <vt:lpstr>Meiosis II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CELL DIVISION</dc:title>
  <dc:creator>harsha</dc:creator>
  <cp:lastModifiedBy>matharu8832@gmail.com</cp:lastModifiedBy>
  <cp:revision>26</cp:revision>
  <dcterms:created xsi:type="dcterms:W3CDTF">2020-09-14T13:30:24Z</dcterms:created>
  <dcterms:modified xsi:type="dcterms:W3CDTF">2023-09-13T09:06:20Z</dcterms:modified>
</cp:coreProperties>
</file>