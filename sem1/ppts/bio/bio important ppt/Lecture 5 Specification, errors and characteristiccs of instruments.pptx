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 id="2147483702" r:id="rId3"/>
  </p:sldMasterIdLst>
  <p:notesMasterIdLst>
    <p:notesMasterId r:id="rId27"/>
  </p:notesMasterIdLst>
  <p:handoutMasterIdLst>
    <p:handoutMasterId r:id="rId28"/>
  </p:handoutMasterIdLst>
  <p:sldIdLst>
    <p:sldId id="277" r:id="rId4"/>
    <p:sldId id="303" r:id="rId5"/>
    <p:sldId id="265" r:id="rId6"/>
    <p:sldId id="311" r:id="rId7"/>
    <p:sldId id="371" r:id="rId8"/>
    <p:sldId id="352" r:id="rId9"/>
    <p:sldId id="353" r:id="rId10"/>
    <p:sldId id="354" r:id="rId11"/>
    <p:sldId id="355" r:id="rId12"/>
    <p:sldId id="356" r:id="rId13"/>
    <p:sldId id="318" r:id="rId14"/>
    <p:sldId id="335" r:id="rId15"/>
    <p:sldId id="337" r:id="rId16"/>
    <p:sldId id="341" r:id="rId17"/>
    <p:sldId id="343" r:id="rId18"/>
    <p:sldId id="360" r:id="rId19"/>
    <p:sldId id="363" r:id="rId20"/>
    <p:sldId id="365" r:id="rId21"/>
    <p:sldId id="345" r:id="rId22"/>
    <p:sldId id="348" r:id="rId23"/>
    <p:sldId id="368" r:id="rId24"/>
    <p:sldId id="284" r:id="rId25"/>
    <p:sldId id="279"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8137"/>
    <a:srgbClr val="BC8F00"/>
    <a:srgbClr val="860000"/>
    <a:srgbClr val="00B0F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148" autoAdjust="0"/>
    <p:restoredTop sz="88755" autoAdjust="0"/>
  </p:normalViewPr>
  <p:slideViewPr>
    <p:cSldViewPr snapToGrid="0">
      <p:cViewPr varScale="1">
        <p:scale>
          <a:sx n="76" d="100"/>
          <a:sy n="76" d="100"/>
        </p:scale>
        <p:origin x="1166" y="67"/>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handoutMaster" Target="handoutMasters/handoutMaster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notesMaster" Target="notesMasters/notesMaster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pPr/>
              <a:t>10/18/2023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pPr/>
              <a:t>10/18/2023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60732FBC-CC67-4B17-8935-02F23E3364AC}" type="slidenum">
              <a:rPr lang="en-US" smtClean="0"/>
              <a:pPr/>
              <a:t>5</a:t>
            </a:fld>
            <a:endParaRPr lang="en-US"/>
          </a:p>
        </p:txBody>
      </p:sp>
    </p:spTree>
    <p:extLst>
      <p:ext uri="{BB962C8B-B14F-4D97-AF65-F5344CB8AC3E}">
        <p14:creationId xmlns:p14="http://schemas.microsoft.com/office/powerpoint/2010/main" val="13356433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60732FBC-CC67-4B17-8935-02F23E3364AC}" type="slidenum">
              <a:rPr lang="en-US" smtClean="0"/>
              <a:pPr/>
              <a:t>6</a:t>
            </a:fld>
            <a:endParaRPr lang="en-US"/>
          </a:p>
        </p:txBody>
      </p:sp>
    </p:spTree>
    <p:extLst>
      <p:ext uri="{BB962C8B-B14F-4D97-AF65-F5344CB8AC3E}">
        <p14:creationId xmlns:p14="http://schemas.microsoft.com/office/powerpoint/2010/main" val="5811901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60732FBC-CC67-4B17-8935-02F23E3364AC}" type="slidenum">
              <a:rPr lang="en-US" smtClean="0"/>
              <a:pPr/>
              <a:t>11</a:t>
            </a:fld>
            <a:endParaRPr lang="en-US"/>
          </a:p>
        </p:txBody>
      </p:sp>
    </p:spTree>
    <p:extLst>
      <p:ext uri="{BB962C8B-B14F-4D97-AF65-F5344CB8AC3E}">
        <p14:creationId xmlns:p14="http://schemas.microsoft.com/office/powerpoint/2010/main" val="13653655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7FB3ACE-D620-4EC3-88A7-3E317E64F19F}" type="datetimeFigureOut">
              <a:rPr lang="en-US" smtClean="0">
                <a:solidFill>
                  <a:prstClr val="black">
                    <a:tint val="75000"/>
                  </a:prstClr>
                </a:solidFill>
              </a:rPr>
              <a:pPr/>
              <a:t>10/18/2023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68353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DCDBBEF-AA6C-4BA6-85B2-A17D7F280E38}"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02907678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DCDBBEF-AA6C-4BA6-85B2-A17D7F280E38}"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00688784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DCDBBEF-AA6C-4BA6-85B2-A17D7F280E38}"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40215789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DCDBBEF-AA6C-4BA6-85B2-A17D7F280E38}"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03048078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BDCDBBEF-AA6C-4BA6-85B2-A17D7F280E38}"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54680122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BDCDBBEF-AA6C-4BA6-85B2-A17D7F280E38}"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89626870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57074660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DCDBBEF-AA6C-4BA6-85B2-A17D7F280E38}"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84117801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DCDBBEF-AA6C-4BA6-85B2-A17D7F280E38}"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24762706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DCDBBEF-AA6C-4BA6-85B2-A17D7F280E38}"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99098097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DCDBBEF-AA6C-4BA6-85B2-A17D7F280E38}"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04178872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ru-RU" dirty="0">
              <a:solidFill>
                <a:prstClr val="white"/>
              </a:solidFill>
            </a:endParaRPr>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ru-RU" dirty="0">
              <a:solidFill>
                <a:prstClr val="white"/>
              </a:solidFill>
            </a:endParaRPr>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ru-RU" dirty="0">
              <a:solidFill>
                <a:prstClr val="white"/>
              </a:solidFill>
            </a:endParaRPr>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62281539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7FB3ACE-D620-4EC3-88A7-3E317E64F19F}" type="datetimeFigureOut">
              <a:rPr lang="en-US" smtClean="0">
                <a:solidFill>
                  <a:prstClr val="black">
                    <a:tint val="75000"/>
                  </a:prstClr>
                </a:solidFill>
              </a:rPr>
              <a:pPr/>
              <a:t>10/18/2023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6598519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5.xml"/><Relationship Id="rId13" Type="http://schemas.openxmlformats.org/officeDocument/2006/relationships/slideLayout" Target="../slideLayouts/slideLayout40.xml"/><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slideLayout" Target="../slideLayouts/slideLayout39.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5" Type="http://schemas.openxmlformats.org/officeDocument/2006/relationships/image" Target="../media/image1.png"/><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 Id="rId1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0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solidFill>
                <a:prstClr val="black">
                  <a:tint val="75000"/>
                </a:prstClr>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843518190"/>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 id="2147483714" r:id="rId12"/>
    <p:sldLayoutId id="2147483715"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oleObject" Target="../embeddings/oleObject1.bin"/><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33.xml"/></Relationships>
</file>

<file path=ppt/slides/_rels/slide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mediatoget.blogspot.in/2012/01/static-dynamic-characteristicsof.htm" TargetMode="External"/><Relationship Id="rId2" Type="http://schemas.openxmlformats.org/officeDocument/2006/relationships/hyperlink" Target="https://nptel.ac.in/courses/121/106/121106008/"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oleObject" Target="../embeddings/oleObject2.bin"/><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4421" y="5427341"/>
            <a:ext cx="12196420" cy="1518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302197" y="590198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a:extLst>
              <a:ext uri="{FF2B5EF4-FFF2-40B4-BE49-F238E27FC236}">
                <a16:creationId xmlns:a16="http://schemas.microsoft.com/office/drawing/2014/main"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graphicFrame>
        <p:nvGraphicFramePr>
          <p:cNvPr id="48" name="Object 47">
            <a:extLst>
              <a:ext uri="{FF2B5EF4-FFF2-40B4-BE49-F238E27FC236}">
                <a16:creationId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689304721"/>
              </p:ext>
            </p:extLst>
          </p:nvPr>
        </p:nvGraphicFramePr>
        <p:xfrm>
          <a:off x="76788" y="3121720"/>
          <a:ext cx="3303056" cy="3148059"/>
        </p:xfrm>
        <a:graphic>
          <a:graphicData uri="http://schemas.openxmlformats.org/presentationml/2006/ole">
            <mc:AlternateContent xmlns:mc="http://schemas.openxmlformats.org/markup-compatibility/2006">
              <mc:Choice xmlns:v="urn:schemas-microsoft-com:vml" Requires="v">
                <p:oleObj name="CorelDRAW" r:id="rId2" imgW="2169000" imgH="2169360" progId="">
                  <p:embed/>
                </p:oleObj>
              </mc:Choice>
              <mc:Fallback>
                <p:oleObj name="CorelDRAW" r:id="rId2" imgW="2169000" imgH="2169360" progId="">
                  <p:embed/>
                  <p:pic>
                    <p:nvPicPr>
                      <p:cNvPr id="0" name="Picture 39"/>
                      <p:cNvPicPr>
                        <a:picLocks noChangeAspect="1" noChangeArrowheads="1"/>
                      </p:cNvPicPr>
                      <p:nvPr/>
                    </p:nvPicPr>
                    <p:blipFill>
                      <a:blip r:embed="rId3">
                        <a:lum bright="76000"/>
                        <a:extLst>
                          <a:ext uri="{28A0092B-C50C-407E-A947-70E740481C1C}">
                            <a14:useLocalDpi xmlns:a14="http://schemas.microsoft.com/office/drawing/2010/main" val="0"/>
                          </a:ext>
                        </a:extLst>
                      </a:blip>
                      <a:srcRect/>
                      <a:stretch>
                        <a:fillRect/>
                      </a:stretch>
                    </p:blipFill>
                    <p:spPr bwMode="auto">
                      <a:xfrm>
                        <a:off x="76788" y="3121720"/>
                        <a:ext cx="3303056" cy="31480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 name="Right Triangle 36">
            <a:extLst>
              <a:ext uri="{FF2B5EF4-FFF2-40B4-BE49-F238E27FC236}">
                <a16:creationId xmlns:a16="http://schemas.microsoft.com/office/drawing/2014/main" id="{0983CA01-DED8-4A8A-82CA-5B1BE1DADB0C}"/>
              </a:ext>
            </a:extLst>
          </p:cNvPr>
          <p:cNvSpPr/>
          <p:nvPr/>
        </p:nvSpPr>
        <p:spPr>
          <a:xfrm flipH="1">
            <a:off x="7045437" y="-64960"/>
            <a:ext cx="5146562" cy="5852440"/>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sp>
        <p:nvSpPr>
          <p:cNvPr id="45" name="Rectangle 44"/>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9" descr="This is a logo of chandigarh University" title="chandigarh university"/>
          <p:cNvPicPr>
            <a:picLocks noChangeAspect="1"/>
          </p:cNvPicPr>
          <p:nvPr/>
        </p:nvPicPr>
        <p:blipFill>
          <a:blip r:embed="rId4">
            <a:extLst>
              <a:ext uri="{BEBA8EAE-BF5A-486C-A8C5-ECC9F3942E4B}">
                <a14:imgProps xmlns:a14="http://schemas.microsoft.com/office/drawing/2010/main">
                  <a14:imgLayer r:embed="rId5">
                    <a14:imgEffect>
                      <a14:colorTemperature colorTemp="5742"/>
                    </a14:imgEffect>
                    <a14:imgEffect>
                      <a14:saturation sat="238000"/>
                    </a14:imgEffect>
                  </a14:imgLayer>
                </a14:imgProps>
              </a:ext>
              <a:ext uri="{28A0092B-C50C-407E-A947-70E740481C1C}">
                <a14:useLocalDpi xmlns:a14="http://schemas.microsoft.com/office/drawing/2010/main" val="0"/>
              </a:ext>
            </a:extLst>
          </a:blip>
          <a:stretch>
            <a:fillRect/>
          </a:stretch>
        </p:blipFill>
        <p:spPr>
          <a:xfrm>
            <a:off x="12104" y="24501"/>
            <a:ext cx="3859753" cy="1538254"/>
          </a:xfrm>
          <a:prstGeom prst="rect">
            <a:avLst/>
          </a:prstGeom>
        </p:spPr>
      </p:pic>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a:spLocks noChangeArrowheads="1"/>
          </p:cNvSpPr>
          <p:nvPr/>
        </p:nvSpPr>
        <p:spPr bwMode="auto">
          <a:xfrm>
            <a:off x="6881359" y="6019560"/>
            <a:ext cx="49286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88578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p:cNvSpPr txBox="1">
            <a:spLocks noChangeArrowheads="1"/>
          </p:cNvSpPr>
          <p:nvPr/>
        </p:nvSpPr>
        <p:spPr bwMode="auto">
          <a:xfrm>
            <a:off x="12105" y="5893420"/>
            <a:ext cx="5928434" cy="1261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2400" dirty="0">
                <a:solidFill>
                  <a:prstClr val="black">
                    <a:lumMod val="85000"/>
                    <a:lumOff val="15000"/>
                  </a:prstClr>
                </a:solidFill>
                <a:latin typeface="Times New Roman" panose="02020603050405020304" pitchFamily="18" charset="0"/>
                <a:cs typeface="Times New Roman" panose="02020603050405020304" pitchFamily="18" charset="0"/>
              </a:rPr>
              <a:t>    INTRODUCTION</a:t>
            </a:r>
          </a:p>
          <a:p>
            <a:pPr lvl="0" algn="ctr" defTabSz="622300">
              <a:lnSpc>
                <a:spcPct val="90000"/>
              </a:lnSpc>
              <a:spcBef>
                <a:spcPct val="0"/>
              </a:spcBef>
              <a:spcAft>
                <a:spcPct val="35000"/>
              </a:spcAft>
            </a:pPr>
            <a:r>
              <a:rPr lang="en-US" sz="2400" dirty="0">
                <a:solidFill>
                  <a:prstClr val="black">
                    <a:lumMod val="85000"/>
                    <a:lumOff val="15000"/>
                  </a:prstClr>
                </a:solidFill>
                <a:latin typeface="Times New Roman" panose="02020603050405020304" pitchFamily="18" charset="0"/>
                <a:cs typeface="Times New Roman" panose="02020603050405020304" pitchFamily="18" charset="0"/>
              </a:rPr>
              <a:t>     Measurement system</a:t>
            </a:r>
          </a:p>
          <a:p>
            <a:pPr eaLnBrk="1" hangingPunct="1"/>
            <a:endParaRPr lang="en-US" sz="1600" dirty="0">
              <a:latin typeface="Raleway ExtraBold" pitchFamily="34" charset="-52"/>
            </a:endParaRPr>
          </a:p>
        </p:txBody>
      </p:sp>
      <p:sp>
        <p:nvSpPr>
          <p:cNvPr id="26" name="TextBox 25"/>
          <p:cNvSpPr txBox="1">
            <a:spLocks noChangeArrowheads="1"/>
          </p:cNvSpPr>
          <p:nvPr/>
        </p:nvSpPr>
        <p:spPr bwMode="auto">
          <a:xfrm>
            <a:off x="1410789" y="1554480"/>
            <a:ext cx="9780386" cy="4262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2800" b="1" dirty="0">
                <a:latin typeface="Times New Roman" pitchFamily="18" charset="0"/>
                <a:ea typeface="Karla" pitchFamily="2" charset="0"/>
                <a:cs typeface="Times New Roman" pitchFamily="18" charset="0"/>
              </a:rPr>
              <a:t>UNIVERSITY INSTITUTE OF SCIENCES</a:t>
            </a:r>
          </a:p>
          <a:p>
            <a:pPr lvl="0" algn="ctr" defTabSz="622300">
              <a:lnSpc>
                <a:spcPct val="90000"/>
              </a:lnSpc>
              <a:spcBef>
                <a:spcPct val="0"/>
              </a:spcBef>
              <a:spcAft>
                <a:spcPct val="35000"/>
              </a:spcAft>
            </a:pPr>
            <a:r>
              <a:rPr lang="en-US" sz="2800" b="1" dirty="0">
                <a:latin typeface="Times New Roman" pitchFamily="18" charset="0"/>
                <a:ea typeface="Karla" pitchFamily="2" charset="0"/>
                <a:cs typeface="Times New Roman" pitchFamily="18" charset="0"/>
              </a:rPr>
              <a:t>Academic Unit I</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Bachelor of Engineering (Computer Science &amp; Engineering) </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Biology For Engineers 23SZ148</a:t>
            </a:r>
          </a:p>
          <a:p>
            <a:pPr lvl="0" algn="ctr" defTabSz="622300">
              <a:lnSpc>
                <a:spcPct val="90000"/>
              </a:lnSpc>
              <a:spcBef>
                <a:spcPct val="0"/>
              </a:spcBef>
              <a:spcAft>
                <a:spcPct val="35000"/>
              </a:spcAft>
            </a:pPr>
            <a:endParaRPr lang="en-US" sz="2800" b="1" dirty="0">
              <a:solidFill>
                <a:prstClr val="black">
                  <a:lumMod val="85000"/>
                  <a:lumOff val="15000"/>
                </a:prstClr>
              </a:solidFill>
              <a:latin typeface="Times New Roman" panose="02020603050405020304" pitchFamily="18" charset="0"/>
              <a:cs typeface="Times New Roman" panose="02020603050405020304" pitchFamily="18" charset="0"/>
            </a:endParaRPr>
          </a:p>
          <a:p>
            <a:pPr lvl="0" algn="ctr" defTabSz="622300">
              <a:lnSpc>
                <a:spcPct val="90000"/>
              </a:lnSpc>
              <a:spcBef>
                <a:spcPct val="0"/>
              </a:spcBef>
              <a:spcAft>
                <a:spcPct val="35000"/>
              </a:spcAft>
            </a:pPr>
            <a:endParaRPr lang="en-US" sz="3200" b="1" dirty="0">
              <a:solidFill>
                <a:prstClr val="black">
                  <a:lumMod val="85000"/>
                  <a:lumOff val="15000"/>
                </a:prstClr>
              </a:solidFill>
              <a:latin typeface="Times New Roman" panose="02020603050405020304" pitchFamily="18" charset="0"/>
              <a:cs typeface="Times New Roman" panose="02020603050405020304" pitchFamily="18" charset="0"/>
            </a:endParaRPr>
          </a:p>
          <a:p>
            <a:pPr lvl="0" algn="ctr" defTabSz="622300">
              <a:lnSpc>
                <a:spcPct val="90000"/>
              </a:lnSpc>
              <a:spcBef>
                <a:spcPct val="0"/>
              </a:spcBef>
              <a:spcAft>
                <a:spcPct val="35000"/>
              </a:spcAft>
            </a:pPr>
            <a:r>
              <a:rPr lang="en-US" sz="3200" b="1" dirty="0">
                <a:solidFill>
                  <a:prstClr val="black">
                    <a:lumMod val="85000"/>
                    <a:lumOff val="15000"/>
                  </a:prstClr>
                </a:solidFill>
                <a:latin typeface="Times New Roman" panose="02020603050405020304" pitchFamily="18" charset="0"/>
                <a:cs typeface="Times New Roman" panose="02020603050405020304" pitchFamily="18" charset="0"/>
              </a:rPr>
              <a:t> </a:t>
            </a:r>
          </a:p>
          <a:p>
            <a:pPr eaLnBrk="1" hangingPunct="1"/>
            <a:endParaRPr lang="en-US" sz="1600" dirty="0">
              <a:latin typeface="Raleway ExtraBold" pitchFamily="34" charset="-52"/>
            </a:endParaRPr>
          </a:p>
        </p:txBody>
      </p:sp>
    </p:spTree>
    <p:extLst>
      <p:ext uri="{BB962C8B-B14F-4D97-AF65-F5344CB8AC3E}">
        <p14:creationId xmlns:p14="http://schemas.microsoft.com/office/powerpoint/2010/main" val="4565021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BDCDBBEF-AA6C-4BA6-85B2-A17D7F280E38}" type="slidenum">
              <a:rPr lang="en-US" smtClean="0">
                <a:solidFill>
                  <a:prstClr val="black">
                    <a:tint val="75000"/>
                  </a:prstClr>
                </a:solidFill>
              </a:rPr>
              <a:pPr/>
              <a:t>2</a:t>
            </a:fld>
            <a:endParaRPr lang="en-US" dirty="0">
              <a:solidFill>
                <a:prstClr val="black">
                  <a:tint val="75000"/>
                </a:prstClr>
              </a:solidFill>
            </a:endParaRPr>
          </a:p>
        </p:txBody>
      </p:sp>
      <p:sp>
        <p:nvSpPr>
          <p:cNvPr id="5" name="TextBox 4"/>
          <p:cNvSpPr txBox="1"/>
          <p:nvPr/>
        </p:nvSpPr>
        <p:spPr>
          <a:xfrm>
            <a:off x="899651" y="1725561"/>
            <a:ext cx="2465740" cy="461665"/>
          </a:xfrm>
          <a:prstGeom prst="rect">
            <a:avLst/>
          </a:prstGeom>
          <a:noFill/>
        </p:spPr>
        <p:txBody>
          <a:bodyPr wrap="none" rtlCol="0">
            <a:spAutoFit/>
          </a:bodyPr>
          <a:lstStyle/>
          <a:p>
            <a:r>
              <a:rPr lang="en-IN" sz="2400" b="1" dirty="0">
                <a:solidFill>
                  <a:prstClr val="black"/>
                </a:solidFill>
                <a:latin typeface="Times New Roman" panose="02020603050405020304" pitchFamily="18" charset="0"/>
                <a:cs typeface="Times New Roman" panose="02020603050405020304" pitchFamily="18" charset="0"/>
              </a:rPr>
              <a:t>Course Objective</a:t>
            </a:r>
          </a:p>
        </p:txBody>
      </p:sp>
      <p:sp>
        <p:nvSpPr>
          <p:cNvPr id="11" name="TextBox 10"/>
          <p:cNvSpPr txBox="1"/>
          <p:nvPr/>
        </p:nvSpPr>
        <p:spPr>
          <a:xfrm>
            <a:off x="408340" y="2482533"/>
            <a:ext cx="5358280" cy="3416320"/>
          </a:xfrm>
          <a:prstGeom prst="rect">
            <a:avLst/>
          </a:prstGeom>
          <a:noFill/>
          <a:ln>
            <a:solidFill>
              <a:schemeClr val="tx1"/>
            </a:solidFill>
          </a:ln>
        </p:spPr>
        <p:txBody>
          <a:bodyPr wrap="square" rtlCol="0">
            <a:spAutoFit/>
          </a:bodyPr>
          <a:lstStyle/>
          <a:p>
            <a:pPr marL="342900" lvl="0" indent="-342900" hangingPunct="0">
              <a:buFont typeface="Arial" pitchFamily="34" charset="0"/>
              <a:buChar char="•"/>
            </a:pPr>
            <a:r>
              <a:rPr lang="en-US" sz="2400" dirty="0">
                <a:latin typeface="Times New Roman" pitchFamily="18" charset="0"/>
                <a:cs typeface="Times New Roman" pitchFamily="18" charset="0"/>
              </a:rPr>
              <a:t>This subject is designed to impart fundamental knowledge on basic of genetics and emerging fields of biology like biomedical recording system and medical instrumentation.</a:t>
            </a:r>
            <a:endParaRPr lang="en-IN" sz="2400" dirty="0">
              <a:latin typeface="Times New Roman" pitchFamily="18" charset="0"/>
              <a:cs typeface="Times New Roman" pitchFamily="18" charset="0"/>
            </a:endParaRPr>
          </a:p>
          <a:p>
            <a:pPr marL="342900" lvl="0" indent="-342900" hangingPunct="0">
              <a:buFont typeface="Arial" pitchFamily="34" charset="0"/>
              <a:buChar char="•"/>
            </a:pPr>
            <a:r>
              <a:rPr lang="en-US" sz="2400" dirty="0">
                <a:latin typeface="Times New Roman" pitchFamily="18" charset="0"/>
                <a:cs typeface="Times New Roman" pitchFamily="18" charset="0"/>
              </a:rPr>
              <a:t>It is designed to impart knowledge that how to apply basics of biology in engineering.</a:t>
            </a:r>
            <a:endParaRPr lang="en-IN" sz="2400" dirty="0">
              <a:latin typeface="Times New Roman" pitchFamily="18" charset="0"/>
              <a:cs typeface="Times New Roman" pitchFamily="18" charset="0"/>
            </a:endParaRPr>
          </a:p>
          <a:p>
            <a:pPr marL="285750" indent="-285750" algn="just">
              <a:buFont typeface="Arial" panose="020B0604020202020204" pitchFamily="34" charset="0"/>
              <a:buChar char="•"/>
            </a:pPr>
            <a:endParaRPr lang="en-IN" sz="2400" dirty="0">
              <a:solidFill>
                <a:prstClr val="black"/>
              </a:solidFill>
              <a:latin typeface="Times New Roman" panose="02020603050405020304" pitchFamily="18" charset="0"/>
              <a:cs typeface="Times New Roman" panose="02020603050405020304" pitchFamily="18" charset="0"/>
            </a:endParaRPr>
          </a:p>
        </p:txBody>
      </p:sp>
      <p:sp>
        <p:nvSpPr>
          <p:cNvPr id="2" name="TextBox 1"/>
          <p:cNvSpPr txBox="1"/>
          <p:nvPr/>
        </p:nvSpPr>
        <p:spPr>
          <a:xfrm>
            <a:off x="6064888" y="1575436"/>
            <a:ext cx="5489481" cy="4700555"/>
          </a:xfrm>
          <a:prstGeom prst="rect">
            <a:avLst/>
          </a:prstGeom>
          <a:noFill/>
          <a:ln>
            <a:solidFill>
              <a:schemeClr val="tx1"/>
            </a:solidFill>
          </a:ln>
        </p:spPr>
        <p:txBody>
          <a:bodyPr wrap="square" rtlCol="0">
            <a:spAutoFit/>
          </a:bodyPr>
          <a:lstStyle/>
          <a:p>
            <a:endParaRPr lang="en-IN" sz="1600" dirty="0">
              <a:solidFill>
                <a:prstClr val="black"/>
              </a:solidFill>
              <a:latin typeface="Times New Roman" pitchFamily="18" charset="0"/>
              <a:cs typeface="Times New Roman" pitchFamily="18" charset="0"/>
            </a:endParaRPr>
          </a:p>
        </p:txBody>
      </p:sp>
      <p:sp>
        <p:nvSpPr>
          <p:cNvPr id="10" name="Title 7"/>
          <p:cNvSpPr txBox="1">
            <a:spLocks noGrp="1" noChangeArrowheads="1"/>
          </p:cNvSpPr>
          <p:nvPr>
            <p:ph type="title"/>
          </p:nvPr>
        </p:nvSpPr>
        <p:spPr bwMode="auto">
          <a:xfrm>
            <a:off x="670611" y="326946"/>
            <a:ext cx="10515600" cy="1089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a:r>
              <a:rPr lang="en-US" sz="3600" b="1" dirty="0">
                <a:solidFill>
                  <a:prstClr val="black">
                    <a:lumMod val="85000"/>
                    <a:lumOff val="15000"/>
                  </a:prstClr>
                </a:solidFill>
                <a:latin typeface="Times New Roman" pitchFamily="18" charset="0"/>
                <a:cs typeface="Times New Roman" pitchFamily="18" charset="0"/>
              </a:rPr>
              <a:t>INTRODUCTION</a:t>
            </a:r>
            <a:br>
              <a:rPr lang="en-US" sz="3600" b="1" dirty="0">
                <a:latin typeface="Times New Roman" pitchFamily="18" charset="0"/>
                <a:ea typeface="Karla" pitchFamily="2" charset="0"/>
                <a:cs typeface="Times New Roman" pitchFamily="18" charset="0"/>
              </a:rPr>
            </a:br>
            <a:endParaRPr lang="en-US" sz="3600" dirty="0">
              <a:latin typeface="Times New Roman" pitchFamily="18" charset="0"/>
              <a:cs typeface="Times New Roman" pitchFamily="18" charset="0"/>
            </a:endParaRPr>
          </a:p>
        </p:txBody>
      </p:sp>
      <p:pic>
        <p:nvPicPr>
          <p:cNvPr id="11266" name="Picture 2" descr="Bachelor's Degree in Bioengineering | UIC Barcelon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50675" y="1595027"/>
            <a:ext cx="5117910" cy="3565162"/>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p:cNvSpPr/>
          <p:nvPr/>
        </p:nvSpPr>
        <p:spPr>
          <a:xfrm>
            <a:off x="6250675" y="5486628"/>
            <a:ext cx="5410896" cy="646331"/>
          </a:xfrm>
          <a:prstGeom prst="rect">
            <a:avLst/>
          </a:prstGeom>
        </p:spPr>
        <p:txBody>
          <a:bodyPr wrap="square">
            <a:spAutoFit/>
          </a:bodyPr>
          <a:lstStyle/>
          <a:p>
            <a:r>
              <a:rPr lang="en-IN" dirty="0">
                <a:latin typeface="Times New Roman" pitchFamily="18" charset="0"/>
                <a:cs typeface="Times New Roman" pitchFamily="18" charset="0"/>
              </a:rPr>
              <a:t>https://www.uic.es/sites/default/files/uic-grau-bioenginyeria-hero-header_1.jpg</a:t>
            </a:r>
          </a:p>
        </p:txBody>
      </p:sp>
    </p:spTree>
    <p:extLst>
      <p:ext uri="{BB962C8B-B14F-4D97-AF65-F5344CB8AC3E}">
        <p14:creationId xmlns:p14="http://schemas.microsoft.com/office/powerpoint/2010/main" val="27624979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72398" y="1028700"/>
            <a:ext cx="4890901" cy="4873625"/>
          </a:xfrm>
        </p:spPr>
        <p:txBody>
          <a:bodyPr>
            <a:normAutofit/>
          </a:bodyPr>
          <a:lstStyle/>
          <a:p>
            <a:r>
              <a:rPr lang="en-US" sz="2400" dirty="0">
                <a:latin typeface="Casper" panose="02000506000000020004" pitchFamily="2" charset="0"/>
                <a:cs typeface="Arial" panose="020B0604020202020204" pitchFamily="34" charset="0"/>
              </a:rPr>
              <a:t>Space for visual (size 24)</a:t>
            </a:r>
          </a:p>
          <a:p>
            <a:endParaRPr lang="en-US" sz="2400" dirty="0">
              <a:latin typeface="Casper" panose="02000506000000020004" pitchFamily="2" charset="0"/>
              <a:cs typeface="Arial" panose="020B0604020202020204" pitchFamily="34" charset="0"/>
            </a:endParaRPr>
          </a:p>
          <a:p>
            <a:endParaRPr lang="en-US" sz="2400" dirty="0">
              <a:latin typeface="Casper" panose="02000506000000020004" pitchFamily="2" charset="0"/>
              <a:cs typeface="Arial" panose="020B0604020202020204" pitchFamily="34" charset="0"/>
            </a:endParaRPr>
          </a:p>
        </p:txBody>
      </p:sp>
      <p:sp>
        <p:nvSpPr>
          <p:cNvPr id="2" name="Rectangle 1"/>
          <p:cNvSpPr/>
          <p:nvPr/>
        </p:nvSpPr>
        <p:spPr>
          <a:xfrm>
            <a:off x="6313317" y="838199"/>
            <a:ext cx="4849982" cy="459644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Table 5"/>
          <p:cNvGraphicFramePr>
            <a:graphicFrameLocks noGrp="1"/>
          </p:cNvGraphicFramePr>
          <p:nvPr>
            <p:extLst>
              <p:ext uri="{D42A27DB-BD31-4B8C-83A1-F6EECF244321}">
                <p14:modId xmlns:p14="http://schemas.microsoft.com/office/powerpoint/2010/main" val="2294374223"/>
              </p:ext>
            </p:extLst>
          </p:nvPr>
        </p:nvGraphicFramePr>
        <p:xfrm>
          <a:off x="327795" y="2025158"/>
          <a:ext cx="5667488" cy="4439253"/>
        </p:xfrm>
        <a:graphic>
          <a:graphicData uri="http://schemas.openxmlformats.org/drawingml/2006/table">
            <a:tbl>
              <a:tblPr firstRow="1" firstCol="1" bandRow="1">
                <a:tableStyleId>{5940675A-B579-460E-94D1-54222C63F5DA}</a:tableStyleId>
              </a:tblPr>
              <a:tblGrid>
                <a:gridCol w="849939">
                  <a:extLst>
                    <a:ext uri="{9D8B030D-6E8A-4147-A177-3AD203B41FA5}">
                      <a16:colId xmlns:a16="http://schemas.microsoft.com/office/drawing/2014/main" val="20000"/>
                    </a:ext>
                  </a:extLst>
                </a:gridCol>
                <a:gridCol w="3670166">
                  <a:extLst>
                    <a:ext uri="{9D8B030D-6E8A-4147-A177-3AD203B41FA5}">
                      <a16:colId xmlns:a16="http://schemas.microsoft.com/office/drawing/2014/main" val="20001"/>
                    </a:ext>
                  </a:extLst>
                </a:gridCol>
                <a:gridCol w="1147383">
                  <a:extLst>
                    <a:ext uri="{9D8B030D-6E8A-4147-A177-3AD203B41FA5}">
                      <a16:colId xmlns:a16="http://schemas.microsoft.com/office/drawing/2014/main" val="20002"/>
                    </a:ext>
                  </a:extLst>
                </a:gridCol>
              </a:tblGrid>
              <a:tr h="593462">
                <a:tc>
                  <a:txBody>
                    <a:bodyPr/>
                    <a:lstStyle/>
                    <a:p>
                      <a:pPr marL="0" marR="0">
                        <a:lnSpc>
                          <a:spcPct val="115000"/>
                        </a:lnSpc>
                        <a:spcBef>
                          <a:spcPts val="0"/>
                        </a:spcBef>
                        <a:spcAft>
                          <a:spcPts val="0"/>
                        </a:spcAft>
                      </a:pPr>
                      <a:r>
                        <a:rPr lang="en-US" sz="1400" dirty="0">
                          <a:effectLst/>
                          <a:latin typeface="Times New Roman" pitchFamily="18" charset="0"/>
                          <a:cs typeface="Times New Roman" pitchFamily="18" charset="0"/>
                        </a:rPr>
                        <a:t>CO Number</a:t>
                      </a:r>
                      <a:endParaRPr lang="en-US" sz="1400" dirty="0">
                        <a:effectLst/>
                        <a:latin typeface="Times New Roman" pitchFamily="18" charset="0"/>
                        <a:ea typeface="Times New Roman" panose="02020603050405020304" pitchFamily="18" charset="0"/>
                        <a:cs typeface="Times New Roman" pitchFamily="18" charset="0"/>
                      </a:endParaRPr>
                    </a:p>
                  </a:txBody>
                  <a:tcPr marL="68580" marR="68580" marT="0" marB="0"/>
                </a:tc>
                <a:tc>
                  <a:txBody>
                    <a:bodyPr/>
                    <a:lstStyle/>
                    <a:p>
                      <a:pPr marL="0" marR="0">
                        <a:lnSpc>
                          <a:spcPct val="115000"/>
                        </a:lnSpc>
                        <a:spcBef>
                          <a:spcPts val="0"/>
                        </a:spcBef>
                        <a:spcAft>
                          <a:spcPts val="0"/>
                        </a:spcAft>
                      </a:pPr>
                      <a:r>
                        <a:rPr lang="en-US" sz="1400">
                          <a:effectLst/>
                          <a:latin typeface="Times New Roman" pitchFamily="18" charset="0"/>
                          <a:cs typeface="Times New Roman" pitchFamily="18" charset="0"/>
                        </a:rPr>
                        <a:t>Title </a:t>
                      </a:r>
                      <a:endParaRPr lang="en-US" sz="1400">
                        <a:effectLst/>
                        <a:latin typeface="Times New Roman" pitchFamily="18" charset="0"/>
                        <a:ea typeface="Times New Roman" panose="02020603050405020304" pitchFamily="18" charset="0"/>
                        <a:cs typeface="Times New Roman" pitchFamily="18" charset="0"/>
                      </a:endParaRPr>
                    </a:p>
                  </a:txBody>
                  <a:tcPr marL="68580" marR="68580" marT="0" marB="0"/>
                </a:tc>
                <a:tc>
                  <a:txBody>
                    <a:bodyPr/>
                    <a:lstStyle/>
                    <a:p>
                      <a:pPr marL="0" marR="0">
                        <a:lnSpc>
                          <a:spcPct val="115000"/>
                        </a:lnSpc>
                        <a:spcBef>
                          <a:spcPts val="0"/>
                        </a:spcBef>
                        <a:spcAft>
                          <a:spcPts val="0"/>
                        </a:spcAft>
                      </a:pPr>
                      <a:r>
                        <a:rPr lang="en-US" sz="1400" dirty="0">
                          <a:effectLst/>
                          <a:latin typeface="Times New Roman" pitchFamily="18" charset="0"/>
                          <a:cs typeface="Times New Roman" pitchFamily="18" charset="0"/>
                        </a:rPr>
                        <a:t>Level </a:t>
                      </a:r>
                      <a:endParaRPr lang="en-US" sz="1400" dirty="0">
                        <a:effectLst/>
                        <a:latin typeface="Times New Roman" pitchFamily="18" charset="0"/>
                        <a:ea typeface="Times New Roman" panose="02020603050405020304" pitchFamily="18" charset="0"/>
                        <a:cs typeface="Times New Roman" pitchFamily="18" charset="0"/>
                      </a:endParaRPr>
                    </a:p>
                  </a:txBody>
                  <a:tcPr marL="68580" marR="68580" marT="0" marB="0"/>
                </a:tc>
                <a:extLst>
                  <a:ext uri="{0D108BD9-81ED-4DB2-BD59-A6C34878D82A}">
                    <a16:rowId xmlns:a16="http://schemas.microsoft.com/office/drawing/2014/main" val="10000"/>
                  </a:ext>
                </a:extLst>
              </a:tr>
              <a:tr h="574069">
                <a:tc>
                  <a:txBody>
                    <a:bodyPr/>
                    <a:lstStyle/>
                    <a:p>
                      <a:pPr marL="0" marR="0">
                        <a:lnSpc>
                          <a:spcPct val="115000"/>
                        </a:lnSpc>
                        <a:spcBef>
                          <a:spcPts val="0"/>
                        </a:spcBef>
                        <a:spcAft>
                          <a:spcPts val="0"/>
                        </a:spcAft>
                      </a:pPr>
                      <a:r>
                        <a:rPr lang="en-US" sz="1400" b="1" dirty="0">
                          <a:solidFill>
                            <a:srgbClr val="FF0000"/>
                          </a:solidFill>
                          <a:effectLst/>
                          <a:latin typeface="Times New Roman" pitchFamily="18" charset="0"/>
                          <a:cs typeface="Times New Roman" pitchFamily="18" charset="0"/>
                        </a:rPr>
                        <a:t>CO1</a:t>
                      </a:r>
                      <a:endParaRPr lang="en-US" sz="1400" b="1" dirty="0">
                        <a:solidFill>
                          <a:srgbClr val="FF0000"/>
                        </a:solidFill>
                        <a:effectLst/>
                        <a:latin typeface="Times New Roman" pitchFamily="18" charset="0"/>
                        <a:ea typeface="Times New Roman" panose="02020603050405020304" pitchFamily="18" charset="0"/>
                        <a:cs typeface="Times New Roman" pitchFamily="18" charset="0"/>
                      </a:endParaRPr>
                    </a:p>
                  </a:txBody>
                  <a:tcPr marL="68580" marR="68580" marT="0" marB="0"/>
                </a:tc>
                <a:tc>
                  <a:txBody>
                    <a:bodyPr/>
                    <a:lstStyle/>
                    <a:p>
                      <a:pPr marR="53975" algn="just">
                        <a:lnSpc>
                          <a:spcPct val="115000"/>
                        </a:lnSpc>
                        <a:spcAft>
                          <a:spcPts val="1000"/>
                        </a:spcAft>
                      </a:pPr>
                      <a:r>
                        <a:rPr lang="en-US" sz="1400" dirty="0">
                          <a:solidFill>
                            <a:srgbClr val="222222"/>
                          </a:solidFill>
                          <a:effectLst/>
                          <a:latin typeface="Times New Roman" pitchFamily="18" charset="0"/>
                          <a:ea typeface="Times New Roman"/>
                          <a:cs typeface="Times New Roman" pitchFamily="18" charset="0"/>
                        </a:rPr>
                        <a:t>Identify the biological concepts from an engineering perspective.</a:t>
                      </a:r>
                      <a:endParaRPr lang="en-IN" sz="1400" dirty="0">
                        <a:effectLst/>
                        <a:latin typeface="Times New Roman" pitchFamily="18" charset="0"/>
                        <a:ea typeface="SimSun"/>
                        <a:cs typeface="Times New Roman" pitchFamily="18" charset="0"/>
                      </a:endParaRPr>
                    </a:p>
                  </a:txBody>
                  <a:tcPr marL="68580" marR="68580" marT="0" marB="0"/>
                </a:tc>
                <a:tc>
                  <a:txBody>
                    <a:bodyPr/>
                    <a:lstStyle/>
                    <a:p>
                      <a:pPr marL="0" marR="0">
                        <a:lnSpc>
                          <a:spcPct val="115000"/>
                        </a:lnSpc>
                        <a:spcBef>
                          <a:spcPts val="0"/>
                        </a:spcBef>
                        <a:spcAft>
                          <a:spcPts val="0"/>
                        </a:spcAft>
                      </a:pPr>
                      <a:r>
                        <a:rPr lang="en-US" sz="1400" b="1" dirty="0">
                          <a:solidFill>
                            <a:srgbClr val="FF0000"/>
                          </a:solidFill>
                          <a:effectLst/>
                          <a:latin typeface="Times New Roman" pitchFamily="18" charset="0"/>
                          <a:cs typeface="Times New Roman" pitchFamily="18" charset="0"/>
                        </a:rPr>
                        <a:t>knowledge</a:t>
                      </a:r>
                    </a:p>
                    <a:p>
                      <a:pPr marL="0" marR="0">
                        <a:lnSpc>
                          <a:spcPct val="115000"/>
                        </a:lnSpc>
                        <a:spcBef>
                          <a:spcPts val="0"/>
                        </a:spcBef>
                        <a:spcAft>
                          <a:spcPts val="0"/>
                        </a:spcAft>
                      </a:pPr>
                      <a:r>
                        <a:rPr lang="en-US" sz="1400" b="1" dirty="0">
                          <a:solidFill>
                            <a:srgbClr val="FF0000"/>
                          </a:solidFill>
                          <a:effectLst/>
                          <a:latin typeface="Times New Roman" pitchFamily="18" charset="0"/>
                          <a:cs typeface="Times New Roman" pitchFamily="18" charset="0"/>
                        </a:rPr>
                        <a:t> </a:t>
                      </a:r>
                      <a:endParaRPr lang="en-US" sz="1400" b="1" dirty="0">
                        <a:solidFill>
                          <a:srgbClr val="FF0000"/>
                        </a:solidFill>
                        <a:effectLst/>
                        <a:latin typeface="Times New Roman" pitchFamily="18" charset="0"/>
                        <a:ea typeface="Times New Roman" panose="02020603050405020304" pitchFamily="18" charset="0"/>
                        <a:cs typeface="Times New Roman" pitchFamily="18" charset="0"/>
                      </a:endParaRPr>
                    </a:p>
                  </a:txBody>
                  <a:tcPr marL="68580" marR="68580" marT="0" marB="0"/>
                </a:tc>
                <a:extLst>
                  <a:ext uri="{0D108BD9-81ED-4DB2-BD59-A6C34878D82A}">
                    <a16:rowId xmlns:a16="http://schemas.microsoft.com/office/drawing/2014/main" val="10001"/>
                  </a:ext>
                </a:extLst>
              </a:tr>
              <a:tr h="508556">
                <a:tc>
                  <a:txBody>
                    <a:bodyPr/>
                    <a:lstStyle/>
                    <a:p>
                      <a:pPr marL="0" marR="0">
                        <a:lnSpc>
                          <a:spcPct val="115000"/>
                        </a:lnSpc>
                        <a:spcBef>
                          <a:spcPts val="0"/>
                        </a:spcBef>
                        <a:spcAft>
                          <a:spcPts val="0"/>
                        </a:spcAft>
                      </a:pPr>
                      <a:r>
                        <a:rPr lang="en-US" sz="1400" b="1" dirty="0">
                          <a:solidFill>
                            <a:srgbClr val="FF0000"/>
                          </a:solidFill>
                          <a:effectLst/>
                          <a:latin typeface="Times New Roman" pitchFamily="18" charset="0"/>
                          <a:cs typeface="Times New Roman" pitchFamily="18" charset="0"/>
                        </a:rPr>
                        <a:t>CO2</a:t>
                      </a:r>
                      <a:endParaRPr lang="en-US" sz="1400" b="1" dirty="0">
                        <a:solidFill>
                          <a:srgbClr val="FF0000"/>
                        </a:solidFill>
                        <a:effectLst/>
                        <a:latin typeface="Times New Roman" pitchFamily="18" charset="0"/>
                        <a:ea typeface="Times New Roman" panose="02020603050405020304" pitchFamily="18" charset="0"/>
                        <a:cs typeface="Times New Roman" pitchFamily="18" charset="0"/>
                      </a:endParaRPr>
                    </a:p>
                  </a:txBody>
                  <a:tcPr marL="68580" marR="68580" marT="0" marB="0"/>
                </a:tc>
                <a:tc>
                  <a:txBody>
                    <a:bodyPr/>
                    <a:lstStyle/>
                    <a:p>
                      <a:pPr marL="0" marR="0">
                        <a:lnSpc>
                          <a:spcPct val="115000"/>
                        </a:lnSpc>
                        <a:spcBef>
                          <a:spcPts val="0"/>
                        </a:spcBef>
                        <a:spcAft>
                          <a:spcPts val="0"/>
                        </a:spcAft>
                      </a:pPr>
                      <a:r>
                        <a:rPr lang="en-US" sz="1400" b="0" dirty="0">
                          <a:solidFill>
                            <a:schemeClr val="tx1"/>
                          </a:solidFill>
                          <a:effectLst/>
                          <a:latin typeface="Times New Roman" pitchFamily="18" charset="0"/>
                          <a:ea typeface="Times New Roman" panose="02020603050405020304" pitchFamily="18" charset="0"/>
                          <a:cs typeface="Times New Roman" pitchFamily="18" charset="0"/>
                        </a:rPr>
                        <a:t>Development of artificial systems mimicking human action.</a:t>
                      </a:r>
                    </a:p>
                  </a:txBody>
                  <a:tcPr marL="68580" marR="68580" marT="0" marB="0"/>
                </a:tc>
                <a:tc>
                  <a:txBody>
                    <a:bodyPr/>
                    <a:lstStyle/>
                    <a:p>
                      <a:pPr marL="0" marR="0">
                        <a:lnSpc>
                          <a:spcPct val="115000"/>
                        </a:lnSpc>
                        <a:spcBef>
                          <a:spcPts val="0"/>
                        </a:spcBef>
                        <a:spcAft>
                          <a:spcPts val="0"/>
                        </a:spcAft>
                      </a:pPr>
                      <a:r>
                        <a:rPr lang="en-US" sz="1400" b="1" dirty="0">
                          <a:solidFill>
                            <a:srgbClr val="FF0000"/>
                          </a:solidFill>
                          <a:effectLst/>
                          <a:latin typeface="Times New Roman" pitchFamily="18" charset="0"/>
                          <a:cs typeface="Times New Roman" pitchFamily="18" charset="0"/>
                        </a:rPr>
                        <a:t>Understand </a:t>
                      </a:r>
                    </a:p>
                    <a:p>
                      <a:pPr marL="0" marR="0">
                        <a:lnSpc>
                          <a:spcPct val="115000"/>
                        </a:lnSpc>
                        <a:spcBef>
                          <a:spcPts val="0"/>
                        </a:spcBef>
                        <a:spcAft>
                          <a:spcPts val="0"/>
                        </a:spcAft>
                      </a:pPr>
                      <a:r>
                        <a:rPr lang="en-US" sz="1400" b="1" dirty="0">
                          <a:solidFill>
                            <a:srgbClr val="FF0000"/>
                          </a:solidFill>
                          <a:effectLst/>
                          <a:latin typeface="Times New Roman" pitchFamily="18" charset="0"/>
                          <a:cs typeface="Times New Roman" pitchFamily="18" charset="0"/>
                        </a:rPr>
                        <a:t> </a:t>
                      </a:r>
                      <a:endParaRPr lang="en-US" sz="1400" b="1" dirty="0">
                        <a:solidFill>
                          <a:srgbClr val="FF0000"/>
                        </a:solidFill>
                        <a:effectLst/>
                        <a:latin typeface="Times New Roman" pitchFamily="18" charset="0"/>
                        <a:ea typeface="Times New Roman" panose="02020603050405020304" pitchFamily="18" charset="0"/>
                        <a:cs typeface="Times New Roman" pitchFamily="18" charset="0"/>
                      </a:endParaRPr>
                    </a:p>
                  </a:txBody>
                  <a:tcPr marL="68580" marR="68580" marT="0" marB="0"/>
                </a:tc>
                <a:extLst>
                  <a:ext uri="{0D108BD9-81ED-4DB2-BD59-A6C34878D82A}">
                    <a16:rowId xmlns:a16="http://schemas.microsoft.com/office/drawing/2014/main" val="10002"/>
                  </a:ext>
                </a:extLst>
              </a:tr>
              <a:tr h="871941">
                <a:tc>
                  <a:txBody>
                    <a:bodyPr/>
                    <a:lstStyle/>
                    <a:p>
                      <a:pPr marL="0" marR="0">
                        <a:lnSpc>
                          <a:spcPct val="115000"/>
                        </a:lnSpc>
                        <a:spcBef>
                          <a:spcPts val="0"/>
                        </a:spcBef>
                        <a:spcAft>
                          <a:spcPts val="0"/>
                        </a:spcAft>
                      </a:pPr>
                      <a:r>
                        <a:rPr lang="en-US" sz="1400">
                          <a:effectLst/>
                          <a:latin typeface="Times New Roman" pitchFamily="18" charset="0"/>
                          <a:cs typeface="Times New Roman" pitchFamily="18" charset="0"/>
                        </a:rPr>
                        <a:t>CO3</a:t>
                      </a:r>
                      <a:endParaRPr lang="en-US" sz="1400">
                        <a:effectLst/>
                        <a:latin typeface="Times New Roman" pitchFamily="18" charset="0"/>
                        <a:ea typeface="Times New Roman" panose="02020603050405020304" pitchFamily="18" charset="0"/>
                        <a:cs typeface="Times New Roman" pitchFamily="18" charset="0"/>
                      </a:endParaRPr>
                    </a:p>
                  </a:txBody>
                  <a:tcPr marL="68580" marR="68580" marT="0" marB="0"/>
                </a:tc>
                <a:tc>
                  <a:txBody>
                    <a:bodyPr/>
                    <a:lstStyle/>
                    <a:p>
                      <a:pPr algn="just" hangingPunct="0">
                        <a:lnSpc>
                          <a:spcPct val="93000"/>
                        </a:lnSpc>
                        <a:spcAft>
                          <a:spcPts val="1000"/>
                        </a:spcAft>
                      </a:pPr>
                      <a:r>
                        <a:rPr lang="en-US" sz="1400" dirty="0">
                          <a:solidFill>
                            <a:srgbClr val="222222"/>
                          </a:solidFill>
                          <a:effectLst/>
                          <a:latin typeface="Times New Roman" pitchFamily="18" charset="0"/>
                          <a:ea typeface="Times New Roman"/>
                          <a:cs typeface="Times New Roman" pitchFamily="18" charset="0"/>
                        </a:rPr>
                        <a:t>Explain the basic of genetics that helps to identify and formulate problems</a:t>
                      </a:r>
                      <a:endParaRPr lang="en-IN" sz="1400" dirty="0">
                        <a:effectLst/>
                        <a:latin typeface="Times New Roman" pitchFamily="18" charset="0"/>
                        <a:ea typeface="SimSun"/>
                        <a:cs typeface="Times New Roman" pitchFamily="18" charset="0"/>
                      </a:endParaRPr>
                    </a:p>
                    <a:p>
                      <a:pPr algn="just">
                        <a:lnSpc>
                          <a:spcPts val="1265"/>
                        </a:lnSpc>
                        <a:spcBef>
                          <a:spcPts val="1200"/>
                        </a:spcBef>
                        <a:spcAft>
                          <a:spcPts val="1000"/>
                        </a:spcAft>
                      </a:pPr>
                      <a:r>
                        <a:rPr lang="en-US" sz="1400" dirty="0">
                          <a:effectLst/>
                          <a:latin typeface="Times New Roman" pitchFamily="18" charset="0"/>
                          <a:ea typeface="SimSun"/>
                          <a:cs typeface="Times New Roman" pitchFamily="18" charset="0"/>
                        </a:rPr>
                        <a:t> </a:t>
                      </a:r>
                      <a:endParaRPr lang="en-IN" sz="1400" dirty="0">
                        <a:effectLst/>
                        <a:latin typeface="Times New Roman" pitchFamily="18" charset="0"/>
                        <a:ea typeface="SimSun"/>
                        <a:cs typeface="Times New Roman" pitchFamily="18" charset="0"/>
                      </a:endParaRPr>
                    </a:p>
                  </a:txBody>
                  <a:tcPr marL="68580" marR="68580" marT="0" marB="0"/>
                </a:tc>
                <a:tc>
                  <a:txBody>
                    <a:bodyPr/>
                    <a:lstStyle/>
                    <a:p>
                      <a:pPr marL="0" marR="0">
                        <a:lnSpc>
                          <a:spcPct val="115000"/>
                        </a:lnSpc>
                        <a:spcBef>
                          <a:spcPts val="0"/>
                        </a:spcBef>
                        <a:spcAft>
                          <a:spcPts val="0"/>
                        </a:spcAft>
                      </a:pPr>
                      <a:r>
                        <a:rPr lang="en-US" sz="1400" dirty="0">
                          <a:effectLst/>
                          <a:latin typeface="Times New Roman" pitchFamily="18" charset="0"/>
                          <a:ea typeface="+mn-ea"/>
                          <a:cs typeface="Times New Roman" pitchFamily="18" charset="0"/>
                        </a:rPr>
                        <a:t>Analyze</a:t>
                      </a:r>
                      <a:endParaRPr lang="en-US" sz="1400" dirty="0">
                        <a:effectLst/>
                        <a:latin typeface="Times New Roman" pitchFamily="18" charset="0"/>
                        <a:ea typeface="Times New Roman" panose="02020603050405020304" pitchFamily="18" charset="0"/>
                        <a:cs typeface="Times New Roman" pitchFamily="18" charset="0"/>
                      </a:endParaRPr>
                    </a:p>
                  </a:txBody>
                  <a:tcPr marL="68580" marR="68580" marT="0" marB="0"/>
                </a:tc>
                <a:extLst>
                  <a:ext uri="{0D108BD9-81ED-4DB2-BD59-A6C34878D82A}">
                    <a16:rowId xmlns:a16="http://schemas.microsoft.com/office/drawing/2014/main" val="10003"/>
                  </a:ext>
                </a:extLst>
              </a:tr>
              <a:tr h="1403003">
                <a:tc>
                  <a:txBody>
                    <a:bodyPr/>
                    <a:lstStyle/>
                    <a:p>
                      <a:pPr marL="0" marR="0">
                        <a:lnSpc>
                          <a:spcPct val="115000"/>
                        </a:lnSpc>
                        <a:spcBef>
                          <a:spcPts val="0"/>
                        </a:spcBef>
                        <a:spcAft>
                          <a:spcPts val="0"/>
                        </a:spcAft>
                      </a:pPr>
                      <a:r>
                        <a:rPr lang="en-US" sz="1400">
                          <a:effectLst/>
                          <a:latin typeface="Times New Roman" pitchFamily="18" charset="0"/>
                          <a:cs typeface="Times New Roman" pitchFamily="18" charset="0"/>
                        </a:rPr>
                        <a:t>CO4</a:t>
                      </a:r>
                      <a:endParaRPr lang="en-US" sz="1400">
                        <a:effectLst/>
                        <a:latin typeface="Times New Roman" pitchFamily="18" charset="0"/>
                        <a:ea typeface="Times New Roman" panose="02020603050405020304" pitchFamily="18" charset="0"/>
                        <a:cs typeface="Times New Roman" pitchFamily="18" charset="0"/>
                      </a:endParaRPr>
                    </a:p>
                  </a:txBody>
                  <a:tcPr marL="68580" marR="68580" marT="0" marB="0"/>
                </a:tc>
                <a:tc>
                  <a:txBody>
                    <a:bodyPr/>
                    <a:lstStyle/>
                    <a:p>
                      <a:pPr marL="0" marR="0" indent="0" algn="l" defTabSz="914400" rtl="0" eaLnBrk="1" fontAlgn="auto" latinLnBrk="0" hangingPunct="1">
                        <a:lnSpc>
                          <a:spcPct val="115000"/>
                        </a:lnSpc>
                        <a:spcBef>
                          <a:spcPts val="0"/>
                        </a:spcBef>
                        <a:spcAft>
                          <a:spcPts val="1000"/>
                        </a:spcAft>
                        <a:buClrTx/>
                        <a:buSzTx/>
                        <a:buFontTx/>
                        <a:buNone/>
                        <a:tabLst/>
                        <a:defRPr/>
                      </a:pPr>
                      <a:r>
                        <a:rPr lang="en-US" sz="1400" kern="1200" dirty="0">
                          <a:solidFill>
                            <a:schemeClr val="tx1"/>
                          </a:solidFill>
                          <a:effectLst/>
                          <a:latin typeface="Times New Roman" pitchFamily="18" charset="0"/>
                          <a:ea typeface="+mn-ea"/>
                          <a:cs typeface="Times New Roman" pitchFamily="18" charset="0"/>
                        </a:rPr>
                        <a:t>Apply knowledge of measurement system, biomedical recording system and biosensors to excel in areas such as entrepreneurship, medicine, government, and education.</a:t>
                      </a:r>
                      <a:endParaRPr lang="en-IN" sz="1400" kern="1200" dirty="0">
                        <a:solidFill>
                          <a:schemeClr val="tx1"/>
                        </a:solidFill>
                        <a:effectLst/>
                        <a:latin typeface="Times New Roman" pitchFamily="18" charset="0"/>
                        <a:ea typeface="+mn-ea"/>
                        <a:cs typeface="Times New Roman" pitchFamily="18" charset="0"/>
                      </a:endParaRPr>
                    </a:p>
                    <a:p>
                      <a:pPr marL="0" marR="0" algn="l">
                        <a:lnSpc>
                          <a:spcPct val="115000"/>
                        </a:lnSpc>
                        <a:spcBef>
                          <a:spcPts val="0"/>
                        </a:spcBef>
                        <a:spcAft>
                          <a:spcPts val="1000"/>
                        </a:spcAft>
                      </a:pPr>
                      <a:endParaRPr lang="en-US" sz="1400" dirty="0">
                        <a:latin typeface="Times New Roman" pitchFamily="18" charset="0"/>
                        <a:ea typeface="Times New Roman"/>
                        <a:cs typeface="Times New Roman" pitchFamily="18" charset="0"/>
                      </a:endParaRPr>
                    </a:p>
                  </a:txBody>
                  <a:tcPr marL="114300" marR="114300" marT="0" marB="0"/>
                </a:tc>
                <a:tc>
                  <a:txBody>
                    <a:bodyPr/>
                    <a:lstStyle/>
                    <a:p>
                      <a:pPr marL="0" marR="0">
                        <a:lnSpc>
                          <a:spcPct val="115000"/>
                        </a:lnSpc>
                        <a:spcBef>
                          <a:spcPts val="0"/>
                        </a:spcBef>
                        <a:spcAft>
                          <a:spcPts val="0"/>
                        </a:spcAft>
                      </a:pPr>
                      <a:r>
                        <a:rPr lang="en-US" sz="1400" dirty="0">
                          <a:effectLst/>
                          <a:latin typeface="Times New Roman" pitchFamily="18" charset="0"/>
                          <a:cs typeface="Times New Roman" pitchFamily="18" charset="0"/>
                        </a:rPr>
                        <a:t>Apply</a:t>
                      </a:r>
                    </a:p>
                    <a:p>
                      <a:pPr marL="0" marR="0">
                        <a:lnSpc>
                          <a:spcPct val="115000"/>
                        </a:lnSpc>
                        <a:spcBef>
                          <a:spcPts val="0"/>
                        </a:spcBef>
                        <a:spcAft>
                          <a:spcPts val="0"/>
                        </a:spcAft>
                      </a:pPr>
                      <a:r>
                        <a:rPr lang="en-US" sz="1400" dirty="0">
                          <a:effectLst/>
                          <a:latin typeface="Times New Roman" pitchFamily="18" charset="0"/>
                          <a:cs typeface="Times New Roman" pitchFamily="18" charset="0"/>
                        </a:rPr>
                        <a:t> </a:t>
                      </a:r>
                      <a:endParaRPr lang="en-US" sz="1400" dirty="0">
                        <a:effectLst/>
                        <a:latin typeface="Times New Roman" pitchFamily="18" charset="0"/>
                        <a:ea typeface="Times New Roman" panose="02020603050405020304" pitchFamily="18" charset="0"/>
                        <a:cs typeface="Times New Roman" pitchFamily="18" charset="0"/>
                      </a:endParaRPr>
                    </a:p>
                  </a:txBody>
                  <a:tcPr marL="68580" marR="68580" marT="0" marB="0"/>
                </a:tc>
                <a:extLst>
                  <a:ext uri="{0D108BD9-81ED-4DB2-BD59-A6C34878D82A}">
                    <a16:rowId xmlns:a16="http://schemas.microsoft.com/office/drawing/2014/main" val="10004"/>
                  </a:ext>
                </a:extLst>
              </a:tr>
              <a:tr h="488222">
                <a:tc>
                  <a:txBody>
                    <a:bodyPr/>
                    <a:lstStyle/>
                    <a:p>
                      <a:pPr marL="0" marR="0">
                        <a:lnSpc>
                          <a:spcPct val="115000"/>
                        </a:lnSpc>
                        <a:spcBef>
                          <a:spcPts val="0"/>
                        </a:spcBef>
                        <a:spcAft>
                          <a:spcPts val="0"/>
                        </a:spcAft>
                      </a:pPr>
                      <a:r>
                        <a:rPr lang="en-US" sz="1400" dirty="0">
                          <a:effectLst/>
                          <a:latin typeface="Times New Roman" pitchFamily="18" charset="0"/>
                          <a:ea typeface="Times New Roman" panose="02020603050405020304" pitchFamily="18" charset="0"/>
                          <a:cs typeface="Times New Roman" pitchFamily="18" charset="0"/>
                        </a:rPr>
                        <a:t>CO5</a:t>
                      </a:r>
                    </a:p>
                  </a:txBody>
                  <a:tcPr marL="68580" marR="68580" marT="0" marB="0"/>
                </a:tc>
                <a:tc>
                  <a:txBody>
                    <a:bodyPr/>
                    <a:lstStyle/>
                    <a:p>
                      <a:pPr marL="0" marR="0" algn="l">
                        <a:lnSpc>
                          <a:spcPct val="115000"/>
                        </a:lnSpc>
                        <a:spcBef>
                          <a:spcPts val="0"/>
                        </a:spcBef>
                        <a:spcAft>
                          <a:spcPts val="1000"/>
                        </a:spcAft>
                      </a:pPr>
                      <a:r>
                        <a:rPr lang="en-US" sz="1400" dirty="0">
                          <a:latin typeface="Times New Roman" pitchFamily="18" charset="0"/>
                          <a:ea typeface="Times New Roman"/>
                          <a:cs typeface="Times New Roman" pitchFamily="18" charset="0"/>
                        </a:rPr>
                        <a:t>Integrate biological principles for developing next generation technologies,</a:t>
                      </a:r>
                    </a:p>
                  </a:txBody>
                  <a:tcPr marL="114300" marR="114300" marT="0" marB="0"/>
                </a:tc>
                <a:tc>
                  <a:txBody>
                    <a:bodyPr/>
                    <a:lstStyle/>
                    <a:p>
                      <a:pPr marL="0" marR="0">
                        <a:lnSpc>
                          <a:spcPct val="115000"/>
                        </a:lnSpc>
                        <a:spcBef>
                          <a:spcPts val="0"/>
                        </a:spcBef>
                        <a:spcAft>
                          <a:spcPts val="0"/>
                        </a:spcAft>
                      </a:pPr>
                      <a:r>
                        <a:rPr lang="en-US" sz="1400" dirty="0">
                          <a:effectLst/>
                          <a:latin typeface="Times New Roman" pitchFamily="18" charset="0"/>
                          <a:ea typeface="Times New Roman" panose="02020603050405020304" pitchFamily="18" charset="0"/>
                          <a:cs typeface="Times New Roman" pitchFamily="18" charset="0"/>
                        </a:rPr>
                        <a:t>Create</a:t>
                      </a:r>
                    </a:p>
                  </a:txBody>
                  <a:tcPr marL="68580" marR="68580" marT="0" marB="0"/>
                </a:tc>
                <a:extLst>
                  <a:ext uri="{0D108BD9-81ED-4DB2-BD59-A6C34878D82A}">
                    <a16:rowId xmlns:a16="http://schemas.microsoft.com/office/drawing/2014/main" val="10005"/>
                  </a:ext>
                </a:extLst>
              </a:tr>
            </a:tbl>
          </a:graphicData>
        </a:graphic>
      </p:graphicFrame>
      <p:sp>
        <p:nvSpPr>
          <p:cNvPr id="11" name="Rectangle 10"/>
          <p:cNvSpPr/>
          <p:nvPr/>
        </p:nvSpPr>
        <p:spPr>
          <a:xfrm>
            <a:off x="711804" y="1232969"/>
            <a:ext cx="2475358" cy="461665"/>
          </a:xfrm>
          <a:prstGeom prst="rect">
            <a:avLst/>
          </a:prstGeom>
        </p:spPr>
        <p:txBody>
          <a:bodyPr wrap="none">
            <a:spAutoFit/>
          </a:bodyPr>
          <a:lstStyle/>
          <a:p>
            <a:r>
              <a:rPr lang="en-US" sz="2400" b="1" dirty="0">
                <a:latin typeface="Times New Roman" pitchFamily="18" charset="0"/>
                <a:cs typeface="Times New Roman" pitchFamily="18" charset="0"/>
              </a:rPr>
              <a:t>Course Outcome </a:t>
            </a:r>
          </a:p>
        </p:txBody>
      </p:sp>
      <p:cxnSp>
        <p:nvCxnSpPr>
          <p:cNvPr id="14" name="Straight Arrow Connector 13"/>
          <p:cNvCxnSpPr>
            <a:endCxn id="15" idx="1"/>
          </p:cNvCxnSpPr>
          <p:nvPr/>
        </p:nvCxnSpPr>
        <p:spPr>
          <a:xfrm>
            <a:off x="5701085" y="3371353"/>
            <a:ext cx="1927534" cy="13530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Rectangle 14"/>
          <p:cNvSpPr/>
          <p:nvPr/>
        </p:nvSpPr>
        <p:spPr>
          <a:xfrm>
            <a:off x="7628619" y="4252607"/>
            <a:ext cx="2689411" cy="94350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Will be covered in this lecture</a:t>
            </a:r>
          </a:p>
        </p:txBody>
      </p:sp>
      <p:pic>
        <p:nvPicPr>
          <p:cNvPr id="10242" name="Picture 2" descr="Meet Five Synthetic Biology Companies Using AI To Engineer Biolog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31293" y="838199"/>
            <a:ext cx="4832006" cy="3221338"/>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6313317" y="5481356"/>
            <a:ext cx="4946086" cy="923330"/>
          </a:xfrm>
          <a:prstGeom prst="rect">
            <a:avLst/>
          </a:prstGeom>
        </p:spPr>
        <p:txBody>
          <a:bodyPr wrap="square">
            <a:spAutoFit/>
          </a:bodyPr>
          <a:lstStyle/>
          <a:p>
            <a:r>
              <a:rPr lang="en-IN" dirty="0">
                <a:latin typeface="Times New Roman" pitchFamily="18" charset="0"/>
                <a:cs typeface="Times New Roman" pitchFamily="18" charset="0"/>
              </a:rPr>
              <a:t>https://specials-images.forbesimg.com/imageserve/1034901762/960x0.jpg?fit=scale</a:t>
            </a:r>
          </a:p>
        </p:txBody>
      </p:sp>
      <p:sp>
        <p:nvSpPr>
          <p:cNvPr id="16" name="Title 7"/>
          <p:cNvSpPr txBox="1">
            <a:spLocks noGrp="1" noChangeArrowheads="1"/>
          </p:cNvSpPr>
          <p:nvPr>
            <p:ph type="title"/>
          </p:nvPr>
        </p:nvSpPr>
        <p:spPr bwMode="auto">
          <a:xfrm>
            <a:off x="586854" y="470855"/>
            <a:ext cx="6018662" cy="1089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a:r>
              <a:rPr lang="en-US" sz="3600" b="1" dirty="0">
                <a:solidFill>
                  <a:prstClr val="black">
                    <a:lumMod val="85000"/>
                    <a:lumOff val="15000"/>
                  </a:prstClr>
                </a:solidFill>
                <a:latin typeface="Times New Roman" pitchFamily="18" charset="0"/>
                <a:cs typeface="Times New Roman" pitchFamily="18" charset="0"/>
              </a:rPr>
              <a:t>INTRODUCTION</a:t>
            </a:r>
            <a:br>
              <a:rPr lang="en-US" sz="3600" b="1" dirty="0">
                <a:latin typeface="Times New Roman" pitchFamily="18" charset="0"/>
                <a:ea typeface="Karla" pitchFamily="2" charset="0"/>
                <a:cs typeface="Times New Roman" pitchFamily="18" charset="0"/>
              </a:rPr>
            </a:br>
            <a:endParaRPr lang="en-US" sz="3600" dirty="0">
              <a:latin typeface="Times New Roman" pitchFamily="18" charset="0"/>
              <a:cs typeface="Times New Roman" pitchFamily="18" charset="0"/>
            </a:endParaRPr>
          </a:p>
        </p:txBody>
      </p:sp>
    </p:spTree>
    <p:extLst>
      <p:ext uri="{BB962C8B-B14F-4D97-AF65-F5344CB8AC3E}">
        <p14:creationId xmlns:p14="http://schemas.microsoft.com/office/powerpoint/2010/main" val="40180973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normAutofit/>
          </a:bodyPr>
          <a:lstStyle/>
          <a:p>
            <a:pPr algn="ctr"/>
            <a:r>
              <a:rPr lang="en-US" sz="3600" b="1" dirty="0">
                <a:latin typeface="Times New Roman" panose="02020603050405020304" pitchFamily="18" charset="0"/>
                <a:cs typeface="Times New Roman" panose="02020603050405020304" pitchFamily="18" charset="0"/>
              </a:rPr>
              <a:t>SYLLABUS </a:t>
            </a:r>
            <a:r>
              <a:rPr lang="en-US" sz="3600" b="1" dirty="0">
                <a:latin typeface="Casper Bold"/>
              </a:rPr>
              <a:t>  </a:t>
            </a:r>
          </a:p>
        </p:txBody>
      </p:sp>
      <p:sp>
        <p:nvSpPr>
          <p:cNvPr id="4" name="Slide Number Placeholder 3"/>
          <p:cNvSpPr>
            <a:spLocks noGrp="1"/>
          </p:cNvSpPr>
          <p:nvPr>
            <p:ph type="sldNum" sz="quarter" idx="12"/>
          </p:nvPr>
        </p:nvSpPr>
        <p:spPr/>
        <p:txBody>
          <a:bodyPr/>
          <a:lstStyle/>
          <a:p>
            <a:fld id="{BDCDBBEF-AA6C-4BA6-85B2-A17D7F280E38}" type="slidenum">
              <a:rPr lang="en-US" smtClean="0"/>
              <a:pPr/>
              <a:t>4</a:t>
            </a:fld>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8" name="Content Placeholder 9">
            <a:extLst>
              <a:ext uri="{FF2B5EF4-FFF2-40B4-BE49-F238E27FC236}">
                <a16:creationId xmlns:a16="http://schemas.microsoft.com/office/drawing/2014/main" id="{133B9873-0D72-4F00-B232-68A50C2F664D}"/>
              </a:ext>
            </a:extLst>
          </p:cNvPr>
          <p:cNvGraphicFramePr>
            <a:graphicFrameLocks noGrp="1"/>
          </p:cNvGraphicFramePr>
          <p:nvPr>
            <p:ph idx="1"/>
          </p:nvPr>
        </p:nvGraphicFramePr>
        <p:xfrm>
          <a:off x="838200" y="1825625"/>
          <a:ext cx="10485247" cy="4653498"/>
        </p:xfrm>
        <a:graphic>
          <a:graphicData uri="http://schemas.openxmlformats.org/drawingml/2006/table">
            <a:tbl>
              <a:tblPr/>
              <a:tblGrid>
                <a:gridCol w="2018630">
                  <a:extLst>
                    <a:ext uri="{9D8B030D-6E8A-4147-A177-3AD203B41FA5}">
                      <a16:colId xmlns:a16="http://schemas.microsoft.com/office/drawing/2014/main" val="20000"/>
                    </a:ext>
                  </a:extLst>
                </a:gridCol>
                <a:gridCol w="6128994">
                  <a:extLst>
                    <a:ext uri="{9D8B030D-6E8A-4147-A177-3AD203B41FA5}">
                      <a16:colId xmlns:a16="http://schemas.microsoft.com/office/drawing/2014/main" val="20001"/>
                    </a:ext>
                  </a:extLst>
                </a:gridCol>
                <a:gridCol w="2337623">
                  <a:extLst>
                    <a:ext uri="{9D8B030D-6E8A-4147-A177-3AD203B41FA5}">
                      <a16:colId xmlns:a16="http://schemas.microsoft.com/office/drawing/2014/main" val="20002"/>
                    </a:ext>
                  </a:extLst>
                </a:gridCol>
              </a:tblGrid>
              <a:tr h="433161">
                <a:tc>
                  <a:txBody>
                    <a:bodyPr/>
                    <a:lstStyle>
                      <a:lvl1pPr>
                        <a:spcBef>
                          <a:spcPct val="20000"/>
                        </a:spcBef>
                        <a:spcAft>
                          <a:spcPts val="600"/>
                        </a:spcAft>
                        <a:buClr>
                          <a:srgbClr val="8D1515"/>
                        </a:buClr>
                        <a:buSzPct val="145000"/>
                        <a:buFont typeface="Arial" panose="020B0604020202020204" pitchFamily="34" charset="0"/>
                        <a:defRPr sz="2000">
                          <a:solidFill>
                            <a:schemeClr val="tx1"/>
                          </a:solidFill>
                          <a:latin typeface="Arial" panose="020B0604020202020204" pitchFamily="34" charset="0"/>
                        </a:defRPr>
                      </a:lvl1pPr>
                      <a:lvl2pPr marL="742950" indent="-285750">
                        <a:spcBef>
                          <a:spcPct val="20000"/>
                        </a:spcBef>
                        <a:spcAft>
                          <a:spcPts val="600"/>
                        </a:spcAft>
                        <a:buClr>
                          <a:srgbClr val="8D1515"/>
                        </a:buClr>
                        <a:buSzPct val="145000"/>
                        <a:buFont typeface="Arial" panose="020B0604020202020204" pitchFamily="34" charset="0"/>
                        <a:defRPr>
                          <a:solidFill>
                            <a:schemeClr val="tx1"/>
                          </a:solidFill>
                          <a:latin typeface="Arial" panose="020B0604020202020204" pitchFamily="34" charset="0"/>
                        </a:defRPr>
                      </a:lvl2pPr>
                      <a:lvl3pPr marL="1143000" indent="-228600">
                        <a:spcBef>
                          <a:spcPct val="20000"/>
                        </a:spcBef>
                        <a:spcAft>
                          <a:spcPts val="600"/>
                        </a:spcAft>
                        <a:buClr>
                          <a:srgbClr val="8D1515"/>
                        </a:buClr>
                        <a:buSzPct val="145000"/>
                        <a:buFont typeface="Arial" panose="020B0604020202020204" pitchFamily="34" charset="0"/>
                        <a:defRPr sz="1600">
                          <a:solidFill>
                            <a:schemeClr val="tx1"/>
                          </a:solidFill>
                          <a:latin typeface="Arial" panose="020B0604020202020204" pitchFamily="34" charset="0"/>
                        </a:defRPr>
                      </a:lvl3pPr>
                      <a:lvl4pPr marL="1600200" indent="-228600">
                        <a:spcBef>
                          <a:spcPct val="20000"/>
                        </a:spcBef>
                        <a:spcAft>
                          <a:spcPts val="600"/>
                        </a:spcAft>
                        <a:buClr>
                          <a:srgbClr val="8D1515"/>
                        </a:buClr>
                        <a:buSzPct val="145000"/>
                        <a:buFont typeface="Arial" panose="020B0604020202020204" pitchFamily="34" charset="0"/>
                        <a:defRPr sz="1400">
                          <a:solidFill>
                            <a:schemeClr val="tx1"/>
                          </a:solidFill>
                          <a:latin typeface="Arial" panose="020B0604020202020204" pitchFamily="34" charset="0"/>
                        </a:defRPr>
                      </a:lvl4pPr>
                      <a:lvl5pPr marL="2057400" indent="-22860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5pPr>
                      <a:lvl6pPr marL="25146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6pPr>
                      <a:lvl7pPr marL="29718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7pPr>
                      <a:lvl8pPr marL="34290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8pPr>
                      <a:lvl9pPr marL="38862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9pPr>
                    </a:lstStyle>
                    <a:p>
                      <a:pPr marL="0" marR="0" lvl="0" indent="0" algn="l" defTabSz="914400" rtl="0" eaLnBrk="1" fontAlgn="base" latinLnBrk="0" hangingPunct="1">
                        <a:lnSpc>
                          <a:spcPct val="115000"/>
                        </a:lnSpc>
                        <a:spcBef>
                          <a:spcPct val="0"/>
                        </a:spcBef>
                        <a:spcAft>
                          <a:spcPts val="1000"/>
                        </a:spcAft>
                        <a:buClrTx/>
                        <a:buSzTx/>
                        <a:buFontTx/>
                        <a:buNone/>
                        <a:tabLst/>
                      </a:pPr>
                      <a:r>
                        <a:rPr kumimoji="0" lang="en-US" altLang="en-US" sz="1800" b="1" i="0" u="none" strike="noStrike" cap="none" normalizeH="0" baseline="0" dirty="0">
                          <a:ln>
                            <a:noFill/>
                          </a:ln>
                          <a:solidFill>
                            <a:srgbClr val="FFFFFF"/>
                          </a:solidFill>
                          <a:effectLst/>
                          <a:latin typeface="Arial" panose="020B0604020202020204" pitchFamily="34" charset="0"/>
                        </a:rPr>
                        <a:t>Unit-2</a:t>
                      </a:r>
                      <a:endParaRPr kumimoji="0" lang="en-IN" altLang="en-US" sz="1800" b="1" i="0" u="none" strike="noStrike" cap="none" normalizeH="0" baseline="0" dirty="0">
                        <a:ln>
                          <a:noFill/>
                        </a:ln>
                        <a:solidFill>
                          <a:srgbClr val="FFFFFF"/>
                        </a:solidFill>
                        <a:effectLst/>
                        <a:latin typeface="Arial" panose="020B0604020202020204" pitchFamily="34"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spcAft>
                          <a:spcPts val="600"/>
                        </a:spcAft>
                        <a:buClr>
                          <a:srgbClr val="8D1515"/>
                        </a:buClr>
                        <a:buSzPct val="145000"/>
                        <a:buFont typeface="Arial" panose="020B0604020202020204" pitchFamily="34" charset="0"/>
                        <a:defRPr sz="2000">
                          <a:solidFill>
                            <a:schemeClr val="tx1"/>
                          </a:solidFill>
                          <a:latin typeface="Arial" panose="020B0604020202020204" pitchFamily="34" charset="0"/>
                        </a:defRPr>
                      </a:lvl1pPr>
                      <a:lvl2pPr marL="742950" indent="-285750">
                        <a:spcBef>
                          <a:spcPct val="20000"/>
                        </a:spcBef>
                        <a:spcAft>
                          <a:spcPts val="600"/>
                        </a:spcAft>
                        <a:buClr>
                          <a:srgbClr val="8D1515"/>
                        </a:buClr>
                        <a:buSzPct val="145000"/>
                        <a:buFont typeface="Arial" panose="020B0604020202020204" pitchFamily="34" charset="0"/>
                        <a:defRPr>
                          <a:solidFill>
                            <a:schemeClr val="tx1"/>
                          </a:solidFill>
                          <a:latin typeface="Arial" panose="020B0604020202020204" pitchFamily="34" charset="0"/>
                        </a:defRPr>
                      </a:lvl2pPr>
                      <a:lvl3pPr marL="1143000" indent="-228600">
                        <a:spcBef>
                          <a:spcPct val="20000"/>
                        </a:spcBef>
                        <a:spcAft>
                          <a:spcPts val="600"/>
                        </a:spcAft>
                        <a:buClr>
                          <a:srgbClr val="8D1515"/>
                        </a:buClr>
                        <a:buSzPct val="145000"/>
                        <a:buFont typeface="Arial" panose="020B0604020202020204" pitchFamily="34" charset="0"/>
                        <a:defRPr sz="1600">
                          <a:solidFill>
                            <a:schemeClr val="tx1"/>
                          </a:solidFill>
                          <a:latin typeface="Arial" panose="020B0604020202020204" pitchFamily="34" charset="0"/>
                        </a:defRPr>
                      </a:lvl3pPr>
                      <a:lvl4pPr marL="1600200" indent="-228600">
                        <a:spcBef>
                          <a:spcPct val="20000"/>
                        </a:spcBef>
                        <a:spcAft>
                          <a:spcPts val="600"/>
                        </a:spcAft>
                        <a:buClr>
                          <a:srgbClr val="8D1515"/>
                        </a:buClr>
                        <a:buSzPct val="145000"/>
                        <a:buFont typeface="Arial" panose="020B0604020202020204" pitchFamily="34" charset="0"/>
                        <a:defRPr sz="1400">
                          <a:solidFill>
                            <a:schemeClr val="tx1"/>
                          </a:solidFill>
                          <a:latin typeface="Arial" panose="020B0604020202020204" pitchFamily="34" charset="0"/>
                        </a:defRPr>
                      </a:lvl4pPr>
                      <a:lvl5pPr marL="2057400" indent="-22860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5pPr>
                      <a:lvl6pPr marL="25146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6pPr>
                      <a:lvl7pPr marL="29718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7pPr>
                      <a:lvl8pPr marL="34290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8pPr>
                      <a:lvl9pPr marL="38862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ts val="1000"/>
                        </a:spcAft>
                        <a:buClrTx/>
                        <a:buSzTx/>
                        <a:buFontTx/>
                        <a:buNone/>
                        <a:tabLst/>
                      </a:pPr>
                      <a:r>
                        <a:rPr kumimoji="0" lang="en-US" altLang="en-US" sz="1800" b="1" i="0" u="none" strike="noStrike" cap="none" normalizeH="0" baseline="0">
                          <a:ln>
                            <a:noFill/>
                          </a:ln>
                          <a:solidFill>
                            <a:srgbClr val="FFFFFF"/>
                          </a:solidFill>
                          <a:effectLst/>
                          <a:latin typeface="Arial" panose="020B0604020202020204" pitchFamily="34" charset="0"/>
                        </a:rPr>
                        <a:t>        Biosensors and measurement system</a:t>
                      </a:r>
                      <a:endParaRPr kumimoji="0" lang="en-IN" altLang="en-US" sz="1800" b="1" i="0" u="none" strike="noStrike" cap="none" normalizeH="0" baseline="0">
                        <a:ln>
                          <a:noFill/>
                        </a:ln>
                        <a:solidFill>
                          <a:srgbClr val="FFFFFF"/>
                        </a:solidFill>
                        <a:effectLst/>
                        <a:latin typeface="Arial" panose="020B0604020202020204" pitchFamily="34"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spcAft>
                          <a:spcPts val="600"/>
                        </a:spcAft>
                        <a:buClr>
                          <a:srgbClr val="8D1515"/>
                        </a:buClr>
                        <a:buSzPct val="145000"/>
                        <a:buFont typeface="Arial" panose="020B0604020202020204" pitchFamily="34" charset="0"/>
                        <a:defRPr sz="2000">
                          <a:solidFill>
                            <a:schemeClr val="tx1"/>
                          </a:solidFill>
                          <a:latin typeface="Arial" panose="020B0604020202020204" pitchFamily="34" charset="0"/>
                        </a:defRPr>
                      </a:lvl1pPr>
                      <a:lvl2pPr marL="742950" indent="-285750">
                        <a:spcBef>
                          <a:spcPct val="20000"/>
                        </a:spcBef>
                        <a:spcAft>
                          <a:spcPts val="600"/>
                        </a:spcAft>
                        <a:buClr>
                          <a:srgbClr val="8D1515"/>
                        </a:buClr>
                        <a:buSzPct val="145000"/>
                        <a:buFont typeface="Arial" panose="020B0604020202020204" pitchFamily="34" charset="0"/>
                        <a:defRPr>
                          <a:solidFill>
                            <a:schemeClr val="tx1"/>
                          </a:solidFill>
                          <a:latin typeface="Arial" panose="020B0604020202020204" pitchFamily="34" charset="0"/>
                        </a:defRPr>
                      </a:lvl2pPr>
                      <a:lvl3pPr marL="1143000" indent="-228600">
                        <a:spcBef>
                          <a:spcPct val="20000"/>
                        </a:spcBef>
                        <a:spcAft>
                          <a:spcPts val="600"/>
                        </a:spcAft>
                        <a:buClr>
                          <a:srgbClr val="8D1515"/>
                        </a:buClr>
                        <a:buSzPct val="145000"/>
                        <a:buFont typeface="Arial" panose="020B0604020202020204" pitchFamily="34" charset="0"/>
                        <a:defRPr sz="1600">
                          <a:solidFill>
                            <a:schemeClr val="tx1"/>
                          </a:solidFill>
                          <a:latin typeface="Arial" panose="020B0604020202020204" pitchFamily="34" charset="0"/>
                        </a:defRPr>
                      </a:lvl3pPr>
                      <a:lvl4pPr marL="1600200" indent="-228600">
                        <a:spcBef>
                          <a:spcPct val="20000"/>
                        </a:spcBef>
                        <a:spcAft>
                          <a:spcPts val="600"/>
                        </a:spcAft>
                        <a:buClr>
                          <a:srgbClr val="8D1515"/>
                        </a:buClr>
                        <a:buSzPct val="145000"/>
                        <a:buFont typeface="Arial" panose="020B0604020202020204" pitchFamily="34" charset="0"/>
                        <a:defRPr sz="1400">
                          <a:solidFill>
                            <a:schemeClr val="tx1"/>
                          </a:solidFill>
                          <a:latin typeface="Arial" panose="020B0604020202020204" pitchFamily="34" charset="0"/>
                        </a:defRPr>
                      </a:lvl4pPr>
                      <a:lvl5pPr marL="2057400" indent="-22860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5pPr>
                      <a:lvl6pPr marL="25146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6pPr>
                      <a:lvl7pPr marL="29718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7pPr>
                      <a:lvl8pPr marL="34290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8pPr>
                      <a:lvl9pPr marL="38862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ts val="1000"/>
                        </a:spcAft>
                        <a:buClrTx/>
                        <a:buSzTx/>
                        <a:buFontTx/>
                        <a:buNone/>
                        <a:tabLst/>
                      </a:pPr>
                      <a:r>
                        <a:rPr kumimoji="0" lang="en-US" altLang="en-US" sz="1800" b="1" i="0" u="none" strike="noStrike" cap="none" normalizeH="0" baseline="0" dirty="0">
                          <a:ln>
                            <a:noFill/>
                          </a:ln>
                          <a:solidFill>
                            <a:srgbClr val="FFFFFF"/>
                          </a:solidFill>
                          <a:effectLst/>
                          <a:latin typeface="Arial" panose="020B0604020202020204" pitchFamily="34" charset="0"/>
                        </a:rPr>
                        <a:t>Contact Hours: 15</a:t>
                      </a:r>
                      <a:endParaRPr kumimoji="0" lang="en-IN" altLang="en-US" sz="1800" b="1" i="0" u="none" strike="noStrike" cap="none" normalizeH="0" baseline="0" dirty="0">
                        <a:ln>
                          <a:noFill/>
                        </a:ln>
                        <a:solidFill>
                          <a:srgbClr val="FFFFFF"/>
                        </a:solidFill>
                        <a:effectLst/>
                        <a:latin typeface="Arial" panose="020B0604020202020204" pitchFamily="34"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4013016">
                <a:tc>
                  <a:txBody>
                    <a:bodyPr/>
                    <a:lstStyle>
                      <a:lvl1pPr>
                        <a:spcBef>
                          <a:spcPct val="20000"/>
                        </a:spcBef>
                        <a:spcAft>
                          <a:spcPts val="600"/>
                        </a:spcAft>
                        <a:buClr>
                          <a:srgbClr val="8D1515"/>
                        </a:buClr>
                        <a:buSzPct val="145000"/>
                        <a:buFont typeface="Arial" panose="020B0604020202020204" pitchFamily="34" charset="0"/>
                        <a:defRPr sz="2000">
                          <a:solidFill>
                            <a:schemeClr val="tx1"/>
                          </a:solidFill>
                          <a:latin typeface="Arial" panose="020B0604020202020204" pitchFamily="34" charset="0"/>
                        </a:defRPr>
                      </a:lvl1pPr>
                      <a:lvl2pPr marL="742950" indent="-285750">
                        <a:spcBef>
                          <a:spcPct val="20000"/>
                        </a:spcBef>
                        <a:spcAft>
                          <a:spcPts val="600"/>
                        </a:spcAft>
                        <a:buClr>
                          <a:srgbClr val="8D1515"/>
                        </a:buClr>
                        <a:buSzPct val="145000"/>
                        <a:buFont typeface="Arial" panose="020B0604020202020204" pitchFamily="34" charset="0"/>
                        <a:defRPr>
                          <a:solidFill>
                            <a:schemeClr val="tx1"/>
                          </a:solidFill>
                          <a:latin typeface="Arial" panose="020B0604020202020204" pitchFamily="34" charset="0"/>
                        </a:defRPr>
                      </a:lvl2pPr>
                      <a:lvl3pPr marL="1143000" indent="-228600">
                        <a:spcBef>
                          <a:spcPct val="20000"/>
                        </a:spcBef>
                        <a:spcAft>
                          <a:spcPts val="600"/>
                        </a:spcAft>
                        <a:buClr>
                          <a:srgbClr val="8D1515"/>
                        </a:buClr>
                        <a:buSzPct val="145000"/>
                        <a:buFont typeface="Arial" panose="020B0604020202020204" pitchFamily="34" charset="0"/>
                        <a:defRPr sz="1600">
                          <a:solidFill>
                            <a:schemeClr val="tx1"/>
                          </a:solidFill>
                          <a:latin typeface="Arial" panose="020B0604020202020204" pitchFamily="34" charset="0"/>
                        </a:defRPr>
                      </a:lvl3pPr>
                      <a:lvl4pPr marL="1600200" indent="-228600">
                        <a:spcBef>
                          <a:spcPct val="20000"/>
                        </a:spcBef>
                        <a:spcAft>
                          <a:spcPts val="600"/>
                        </a:spcAft>
                        <a:buClr>
                          <a:srgbClr val="8D1515"/>
                        </a:buClr>
                        <a:buSzPct val="145000"/>
                        <a:buFont typeface="Arial" panose="020B0604020202020204" pitchFamily="34" charset="0"/>
                        <a:defRPr sz="1400">
                          <a:solidFill>
                            <a:schemeClr val="tx1"/>
                          </a:solidFill>
                          <a:latin typeface="Arial" panose="020B0604020202020204" pitchFamily="34" charset="0"/>
                        </a:defRPr>
                      </a:lvl4pPr>
                      <a:lvl5pPr marL="2057400" indent="-22860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5pPr>
                      <a:lvl6pPr marL="25146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6pPr>
                      <a:lvl7pPr marL="29718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7pPr>
                      <a:lvl8pPr marL="34290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8pPr>
                      <a:lvl9pPr marL="38862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9pPr>
                    </a:lstStyle>
                    <a:p>
                      <a:pPr marL="0" marR="0" lvl="0" indent="0" algn="just" defTabSz="457200" rtl="0" eaLnBrk="1" fontAlgn="base" latinLnBrk="0" hangingPunct="1">
                        <a:lnSpc>
                          <a:spcPct val="115000"/>
                        </a:lnSpc>
                        <a:spcBef>
                          <a:spcPct val="0"/>
                        </a:spcBef>
                        <a:spcAft>
                          <a:spcPct val="0"/>
                        </a:spcAft>
                        <a:buClrTx/>
                        <a:buSzTx/>
                        <a:buFontTx/>
                        <a:buNone/>
                        <a:tabLst/>
                      </a:pPr>
                      <a:r>
                        <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rPr>
                        <a:t>Chapter 1</a:t>
                      </a:r>
                      <a:endParaRPr kumimoji="0" lang="en-IN" altLang="en-US" sz="1600" b="0"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just" defTabSz="457200" rtl="0" eaLnBrk="1" fontAlgn="base" latinLnBrk="0" hangingPunct="1">
                        <a:lnSpc>
                          <a:spcPct val="115000"/>
                        </a:lnSpc>
                        <a:spcBef>
                          <a:spcPct val="0"/>
                        </a:spcBef>
                        <a:spcAft>
                          <a:spcPts val="600"/>
                        </a:spcAft>
                        <a:buClrTx/>
                        <a:buSzTx/>
                        <a:buFontTx/>
                        <a:buNone/>
                        <a:tabLst/>
                      </a:pPr>
                      <a:r>
                        <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rPr>
                        <a:t>Medical Instrumentation</a:t>
                      </a:r>
                      <a:endParaRPr kumimoji="0" lang="en-IN" altLang="en-US" sz="1600" b="0"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just" defTabSz="457200" rtl="0" eaLnBrk="1" fontAlgn="base" latinLnBrk="0" hangingPunct="1">
                        <a:lnSpc>
                          <a:spcPct val="115000"/>
                        </a:lnSpc>
                        <a:spcBef>
                          <a:spcPct val="0"/>
                        </a:spcBef>
                        <a:spcAft>
                          <a:spcPts val="1000"/>
                        </a:spcAft>
                        <a:buClrTx/>
                        <a:buSzTx/>
                        <a:buFontTx/>
                        <a:buNone/>
                        <a:tabLst/>
                      </a:pPr>
                      <a:endPar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just" defTabSz="457200" rtl="0" eaLnBrk="1" fontAlgn="base" latinLnBrk="0" hangingPunct="1">
                        <a:lnSpc>
                          <a:spcPct val="115000"/>
                        </a:lnSpc>
                        <a:spcBef>
                          <a:spcPct val="0"/>
                        </a:spcBef>
                        <a:spcAft>
                          <a:spcPct val="0"/>
                        </a:spcAft>
                        <a:buClrTx/>
                        <a:buSzTx/>
                        <a:buFontTx/>
                        <a:buNone/>
                        <a:tabLst/>
                      </a:pPr>
                      <a:r>
                        <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rPr>
                        <a:t>Chapter 2</a:t>
                      </a:r>
                      <a:endParaRPr kumimoji="0" lang="en-IN" altLang="en-US" sz="1600" b="0"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just" defTabSz="457200" rtl="0" eaLnBrk="1" fontAlgn="base" latinLnBrk="0" hangingPunct="1">
                        <a:lnSpc>
                          <a:spcPct val="115000"/>
                        </a:lnSpc>
                        <a:spcBef>
                          <a:spcPct val="0"/>
                        </a:spcBef>
                        <a:spcAft>
                          <a:spcPts val="1000"/>
                        </a:spcAft>
                        <a:buClrTx/>
                        <a:buSzTx/>
                        <a:buFontTx/>
                        <a:buNone/>
                        <a:tabLst/>
                      </a:pPr>
                      <a:r>
                        <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rPr>
                        <a:t>Measurement System</a:t>
                      </a:r>
                      <a:endParaRPr kumimoji="0" lang="en-IN" altLang="en-US" sz="1600" b="0"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just" defTabSz="457200" rtl="0" eaLnBrk="1" fontAlgn="base" latinLnBrk="0" hangingPunct="1">
                        <a:lnSpc>
                          <a:spcPct val="115000"/>
                        </a:lnSpc>
                        <a:spcBef>
                          <a:spcPct val="0"/>
                        </a:spcBef>
                        <a:spcAft>
                          <a:spcPts val="1000"/>
                        </a:spcAft>
                        <a:buClrTx/>
                        <a:buSzTx/>
                        <a:buFontTx/>
                        <a:buNone/>
                        <a:tabLst/>
                      </a:pPr>
                      <a:endParaRPr kumimoji="0" lang="en-US" altLang="en-US" sz="1100" b="1"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just" defTabSz="457200" rtl="0" eaLnBrk="1" fontAlgn="base" latinLnBrk="0" hangingPunct="1">
                        <a:lnSpc>
                          <a:spcPct val="115000"/>
                        </a:lnSpc>
                        <a:spcBef>
                          <a:spcPct val="0"/>
                        </a:spcBef>
                        <a:spcAft>
                          <a:spcPct val="0"/>
                        </a:spcAft>
                        <a:buClrTx/>
                        <a:buSzTx/>
                        <a:buFontTx/>
                        <a:buNone/>
                        <a:tabLst/>
                      </a:pPr>
                      <a:r>
                        <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rPr>
                        <a:t>Chapter 3</a:t>
                      </a:r>
                      <a:endParaRPr kumimoji="0" lang="en-IN" altLang="en-US" sz="1600" b="0"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just" defTabSz="457200" rtl="0" eaLnBrk="1" fontAlgn="base" latinLnBrk="0" hangingPunct="1">
                        <a:lnSpc>
                          <a:spcPct val="115000"/>
                        </a:lnSpc>
                        <a:spcBef>
                          <a:spcPct val="0"/>
                        </a:spcBef>
                        <a:spcAft>
                          <a:spcPts val="1000"/>
                        </a:spcAft>
                        <a:buClrTx/>
                        <a:buSzTx/>
                        <a:buFontTx/>
                        <a:buNone/>
                        <a:tabLst/>
                      </a:pPr>
                      <a:r>
                        <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rPr>
                        <a:t>Biological Sensor</a:t>
                      </a:r>
                      <a:endParaRPr kumimoji="0" lang="en-IN" altLang="en-US" sz="1600" b="0"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just" defTabSz="457200" rtl="0" eaLnBrk="1" fontAlgn="base" latinLnBrk="0" hangingPunct="1">
                        <a:lnSpc>
                          <a:spcPct val="115000"/>
                        </a:lnSpc>
                        <a:spcBef>
                          <a:spcPct val="0"/>
                        </a:spcBef>
                        <a:spcAft>
                          <a:spcPts val="100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ea typeface="SimSun" panose="02010600030101010101" pitchFamily="2" charset="-122"/>
                        </a:rPr>
                        <a:t> </a:t>
                      </a:r>
                      <a:endParaRPr kumimoji="0" lang="en-IN" altLang="en-US" sz="1600" b="0" i="0" u="none" strike="noStrike" cap="none" normalizeH="0" baseline="0" dirty="0">
                        <a:ln>
                          <a:noFill/>
                        </a:ln>
                        <a:solidFill>
                          <a:schemeClr val="tx1"/>
                        </a:solidFill>
                        <a:effectLst/>
                        <a:latin typeface="Arial" panose="020B0604020202020204" pitchFamily="34" charset="0"/>
                        <a:ea typeface="SimSun" panose="02010600030101010101" pitchFamily="2" charset="-122"/>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gridSpan="2">
                  <a:txBody>
                    <a:bodyPr/>
                    <a:lstStyle>
                      <a:lvl1pPr>
                        <a:spcBef>
                          <a:spcPct val="20000"/>
                        </a:spcBef>
                        <a:spcAft>
                          <a:spcPts val="600"/>
                        </a:spcAft>
                        <a:buClr>
                          <a:srgbClr val="8D1515"/>
                        </a:buClr>
                        <a:buSzPct val="145000"/>
                        <a:buFont typeface="Arial" panose="020B0604020202020204" pitchFamily="34" charset="0"/>
                        <a:defRPr sz="2000">
                          <a:solidFill>
                            <a:schemeClr val="tx1"/>
                          </a:solidFill>
                          <a:latin typeface="Arial" panose="020B0604020202020204" pitchFamily="34" charset="0"/>
                        </a:defRPr>
                      </a:lvl1pPr>
                      <a:lvl2pPr marL="742950" indent="-285750">
                        <a:spcBef>
                          <a:spcPct val="20000"/>
                        </a:spcBef>
                        <a:spcAft>
                          <a:spcPts val="600"/>
                        </a:spcAft>
                        <a:buClr>
                          <a:srgbClr val="8D1515"/>
                        </a:buClr>
                        <a:buSzPct val="145000"/>
                        <a:buFont typeface="Arial" panose="020B0604020202020204" pitchFamily="34" charset="0"/>
                        <a:defRPr>
                          <a:solidFill>
                            <a:schemeClr val="tx1"/>
                          </a:solidFill>
                          <a:latin typeface="Arial" panose="020B0604020202020204" pitchFamily="34" charset="0"/>
                        </a:defRPr>
                      </a:lvl2pPr>
                      <a:lvl3pPr marL="1143000" indent="-228600">
                        <a:spcBef>
                          <a:spcPct val="20000"/>
                        </a:spcBef>
                        <a:spcAft>
                          <a:spcPts val="600"/>
                        </a:spcAft>
                        <a:buClr>
                          <a:srgbClr val="8D1515"/>
                        </a:buClr>
                        <a:buSzPct val="145000"/>
                        <a:buFont typeface="Arial" panose="020B0604020202020204" pitchFamily="34" charset="0"/>
                        <a:defRPr sz="1600">
                          <a:solidFill>
                            <a:schemeClr val="tx1"/>
                          </a:solidFill>
                          <a:latin typeface="Arial" panose="020B0604020202020204" pitchFamily="34" charset="0"/>
                        </a:defRPr>
                      </a:lvl3pPr>
                      <a:lvl4pPr marL="1600200" indent="-228600">
                        <a:spcBef>
                          <a:spcPct val="20000"/>
                        </a:spcBef>
                        <a:spcAft>
                          <a:spcPts val="600"/>
                        </a:spcAft>
                        <a:buClr>
                          <a:srgbClr val="8D1515"/>
                        </a:buClr>
                        <a:buSzPct val="145000"/>
                        <a:buFont typeface="Arial" panose="020B0604020202020204" pitchFamily="34" charset="0"/>
                        <a:defRPr sz="1400">
                          <a:solidFill>
                            <a:schemeClr val="tx1"/>
                          </a:solidFill>
                          <a:latin typeface="Arial" panose="020B0604020202020204" pitchFamily="34" charset="0"/>
                        </a:defRPr>
                      </a:lvl4pPr>
                      <a:lvl5pPr marL="2057400" indent="-22860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5pPr>
                      <a:lvl6pPr marL="25146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6pPr>
                      <a:lvl7pPr marL="29718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7pPr>
                      <a:lvl8pPr marL="34290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8pPr>
                      <a:lvl9pPr marL="38862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9pPr>
                    </a:lstStyle>
                    <a:p>
                      <a:pPr marL="0" marR="0" lvl="0" indent="0" algn="just" defTabSz="457200" rtl="0" eaLnBrk="1" fontAlgn="base" latinLnBrk="0" hangingPunct="1">
                        <a:lnSpc>
                          <a:spcPct val="90000"/>
                        </a:lnSpc>
                        <a:spcBef>
                          <a:spcPts val="600"/>
                        </a:spcBef>
                        <a:spcAft>
                          <a:spcPct val="0"/>
                        </a:spcAft>
                        <a:buClr>
                          <a:schemeClr val="accent1"/>
                        </a:buClr>
                        <a:buSzPct val="100000"/>
                        <a:buFont typeface="Calibri" panose="020F0502020204030204" pitchFamily="34" charset="0"/>
                        <a:buNone/>
                        <a:tabLst/>
                      </a:pPr>
                      <a:endParaRPr kumimoji="0" lang="en-US" altLang="en-US" sz="100" b="1" i="0" u="none" strike="noStrike" cap="none" normalizeH="0" baseline="0" dirty="0">
                        <a:ln>
                          <a:noFill/>
                        </a:ln>
                        <a:solidFill>
                          <a:srgbClr val="404040"/>
                        </a:solidFill>
                        <a:effectLst/>
                        <a:latin typeface="Arial" panose="020B0604020202020204" pitchFamily="34" charset="0"/>
                      </a:endParaRPr>
                    </a:p>
                    <a:p>
                      <a:pPr marL="0" marR="0" lvl="0" indent="0" algn="just" defTabSz="457200" rtl="0" eaLnBrk="1" fontAlgn="base" latinLnBrk="0" hangingPunct="1">
                        <a:lnSpc>
                          <a:spcPct val="90000"/>
                        </a:lnSpc>
                        <a:spcBef>
                          <a:spcPts val="600"/>
                        </a:spcBef>
                        <a:spcAft>
                          <a:spcPts val="600"/>
                        </a:spcAft>
                        <a:buClr>
                          <a:schemeClr val="accent1"/>
                        </a:buClr>
                        <a:buSzPct val="100000"/>
                        <a:buFont typeface="Calibri" panose="020F0502020204030204" pitchFamily="34" charset="0"/>
                        <a:buNone/>
                        <a:tabLst/>
                      </a:pPr>
                      <a:r>
                        <a:rPr kumimoji="0" lang="en-US" altLang="en-US" sz="1800" b="1" i="0" u="none" strike="noStrike" cap="none" normalizeH="0" baseline="0" dirty="0">
                          <a:ln>
                            <a:noFill/>
                          </a:ln>
                          <a:solidFill>
                            <a:srgbClr val="404040"/>
                          </a:solidFill>
                          <a:effectLst/>
                          <a:latin typeface="Arial" panose="020B0604020202020204" pitchFamily="34" charset="0"/>
                        </a:rPr>
                        <a:t>Medical Instrumentation: </a:t>
                      </a:r>
                      <a:r>
                        <a:rPr kumimoji="0" lang="en-US" altLang="en-US" sz="1800" b="0" i="0" u="none" strike="noStrike" cap="none" normalizeH="0" baseline="0" dirty="0">
                          <a:ln>
                            <a:noFill/>
                          </a:ln>
                          <a:solidFill>
                            <a:srgbClr val="404040"/>
                          </a:solidFill>
                          <a:effectLst/>
                          <a:latin typeface="Arial" panose="020B0604020202020204" pitchFamily="34" charset="0"/>
                        </a:rPr>
                        <a:t>Sources of biomedical Signals, Basic medical Instrumentation system, Performance requirements of medical Instrumentation System, Microprocessors in Medical instruments, PC base medical Instruments, General constraints in the design of medical Instrumentation system, Regulation of Medical Devices.</a:t>
                      </a:r>
                      <a:endParaRPr kumimoji="0" lang="en-IN" altLang="en-US" sz="1800" b="0" i="0" u="none" strike="noStrike" cap="none" normalizeH="0" baseline="0" dirty="0">
                        <a:ln>
                          <a:noFill/>
                        </a:ln>
                        <a:solidFill>
                          <a:srgbClr val="404040"/>
                        </a:solidFill>
                        <a:effectLst/>
                        <a:latin typeface="Arial" panose="020B0604020202020204" pitchFamily="34" charset="0"/>
                      </a:endParaRPr>
                    </a:p>
                    <a:p>
                      <a:pPr marL="0" marR="0" lvl="0" indent="0" algn="just" defTabSz="457200" rtl="0" eaLnBrk="1" fontAlgn="base" latinLnBrk="0" hangingPunct="1">
                        <a:lnSpc>
                          <a:spcPct val="90000"/>
                        </a:lnSpc>
                        <a:spcBef>
                          <a:spcPts val="600"/>
                        </a:spcBef>
                        <a:spcAft>
                          <a:spcPts val="600"/>
                        </a:spcAft>
                        <a:buClr>
                          <a:schemeClr val="accent1"/>
                        </a:buClr>
                        <a:buSzPct val="100000"/>
                        <a:buFont typeface="Calibri" panose="020F0502020204030204" pitchFamily="34" charset="0"/>
                        <a:buNone/>
                        <a:tabLst/>
                      </a:pPr>
                      <a:r>
                        <a:rPr kumimoji="0" lang="en-US" altLang="en-US" sz="1800" b="1" i="0" u="none" strike="noStrike" cap="none" normalizeH="0" baseline="0" dirty="0">
                          <a:ln>
                            <a:noFill/>
                          </a:ln>
                          <a:solidFill>
                            <a:srgbClr val="404040"/>
                          </a:solidFill>
                          <a:effectLst/>
                          <a:latin typeface="Arial" panose="020B0604020202020204" pitchFamily="34" charset="0"/>
                        </a:rPr>
                        <a:t>Measurement System: </a:t>
                      </a:r>
                      <a:r>
                        <a:rPr kumimoji="0" lang="en-US" altLang="en-US" sz="1800" b="0" i="0" u="none" strike="noStrike" cap="none" normalizeH="0" baseline="0" dirty="0">
                          <a:ln>
                            <a:noFill/>
                          </a:ln>
                          <a:solidFill>
                            <a:srgbClr val="404040"/>
                          </a:solidFill>
                          <a:effectLst/>
                          <a:latin typeface="Arial" panose="020B0604020202020204" pitchFamily="34" charset="0"/>
                        </a:rPr>
                        <a:t>Specification of instruments, Statics &amp; Dynamic characteristics of medical instruments, Classification of errors. Statistical analysis, Reliability, Accuracy, Fidelity, Speed of responses, Linearization of technique, and Data Acquisition System.</a:t>
                      </a:r>
                      <a:endParaRPr kumimoji="0" lang="en-IN" altLang="en-US" sz="1800" b="0" i="0" u="none" strike="noStrike" cap="none" normalizeH="0" baseline="0" dirty="0">
                        <a:ln>
                          <a:noFill/>
                        </a:ln>
                        <a:solidFill>
                          <a:srgbClr val="404040"/>
                        </a:solidFill>
                        <a:effectLst/>
                        <a:latin typeface="Arial" panose="020B0604020202020204" pitchFamily="34" charset="0"/>
                      </a:endParaRPr>
                    </a:p>
                    <a:p>
                      <a:pPr marL="0" marR="0" lvl="0" indent="0" algn="just" defTabSz="457200" rtl="0" eaLnBrk="1" fontAlgn="base" latinLnBrk="0" hangingPunct="1">
                        <a:lnSpc>
                          <a:spcPct val="90000"/>
                        </a:lnSpc>
                        <a:spcBef>
                          <a:spcPts val="600"/>
                        </a:spcBef>
                        <a:spcAft>
                          <a:spcPts val="600"/>
                        </a:spcAft>
                        <a:buClr>
                          <a:schemeClr val="accent1"/>
                        </a:buClr>
                        <a:buSzPct val="100000"/>
                        <a:buFont typeface="Calibri" panose="020F0502020204030204" pitchFamily="34" charset="0"/>
                        <a:buNone/>
                        <a:tabLst/>
                      </a:pPr>
                      <a:r>
                        <a:rPr kumimoji="0" lang="en-US" altLang="en-US" sz="1800" b="1" i="0" u="none" strike="noStrike" cap="none" normalizeH="0" baseline="0" dirty="0">
                          <a:ln>
                            <a:noFill/>
                          </a:ln>
                          <a:solidFill>
                            <a:srgbClr val="404040"/>
                          </a:solidFill>
                          <a:effectLst/>
                          <a:latin typeface="Arial" panose="020B0604020202020204" pitchFamily="34" charset="0"/>
                        </a:rPr>
                        <a:t>Biological sensors: </a:t>
                      </a:r>
                      <a:r>
                        <a:rPr kumimoji="0" lang="en-US" altLang="en-US" sz="1800" b="0" i="0" u="none" strike="noStrike" cap="none" normalizeH="0" baseline="0" dirty="0">
                          <a:ln>
                            <a:noFill/>
                          </a:ln>
                          <a:solidFill>
                            <a:srgbClr val="404040"/>
                          </a:solidFill>
                          <a:effectLst/>
                          <a:latin typeface="Arial" panose="020B0604020202020204" pitchFamily="34" charset="0"/>
                        </a:rPr>
                        <a:t>Sensors/ receptors in the human body, basic organization of the nervous system- neural mechanism, Chemoreceptor: hot and cold receptors, sensors for smell, sound, vision, Ion exchange membrane electrodes, enzyme, glucose sensors, immunosensors, &amp; biosensors &amp; applications of biosensors.</a:t>
                      </a:r>
                      <a:endParaRPr kumimoji="0" lang="en-IN" altLang="en-US" sz="1800" b="0" i="0" u="none" strike="noStrike" cap="none" normalizeH="0" baseline="0" dirty="0">
                        <a:ln>
                          <a:noFill/>
                        </a:ln>
                        <a:solidFill>
                          <a:srgbClr val="000000"/>
                        </a:solidFill>
                        <a:effectLst/>
                        <a:latin typeface="Arial" panose="020B0604020202020204" pitchFamily="34"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CFCC"/>
                    </a:solidFill>
                  </a:tcPr>
                </a:tc>
                <a:tc hMerge="1">
                  <a:txBody>
                    <a:bodyPr/>
                    <a:lstStyle/>
                    <a:p>
                      <a:endParaRPr lang="en-IN"/>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294493288"/>
      </p:ext>
    </p:extLst>
  </p:cSld>
  <p:clrMapOvr>
    <a:masterClrMapping/>
  </p:clrMapOvr>
  <mc:AlternateContent xmlns:mc="http://schemas.openxmlformats.org/markup-compatibility/2006" xmlns:p14="http://schemas.microsoft.com/office/powerpoint/2010/main">
    <mc:Choice Requires="p14">
      <p:transition spd="slow" p14:dur="2000" advTm="74866"/>
    </mc:Choice>
    <mc:Fallback xmlns="">
      <p:transition spd="slow" advTm="74866"/>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70594" y="136525"/>
            <a:ext cx="8494486" cy="4696506"/>
          </a:xfrm>
        </p:spPr>
        <p:txBody>
          <a:bodyPr>
            <a:normAutofit/>
          </a:bodyPr>
          <a:lstStyle/>
          <a:p>
            <a:pPr marL="0" indent="0">
              <a:buNone/>
            </a:pPr>
            <a:r>
              <a:rPr lang="en-IN" sz="4800" dirty="0"/>
              <a:t>		Measurement system</a:t>
            </a:r>
          </a:p>
        </p:txBody>
      </p:sp>
      <p:sp>
        <p:nvSpPr>
          <p:cNvPr id="4" name="Slide Number Placeholder 3"/>
          <p:cNvSpPr>
            <a:spLocks noGrp="1"/>
          </p:cNvSpPr>
          <p:nvPr>
            <p:ph type="sldNum" sz="quarter" idx="12"/>
          </p:nvPr>
        </p:nvSpPr>
        <p:spPr/>
        <p:txBody>
          <a:bodyPr/>
          <a:lstStyle/>
          <a:p>
            <a:fld id="{BDCDBBEF-AA6C-4BA6-85B2-A17D7F280E38}" type="slidenum">
              <a:rPr lang="en-US" smtClean="0"/>
              <a:pPr/>
              <a:t>5</a:t>
            </a:fld>
            <a:endParaRPr lang="en-US"/>
          </a:p>
        </p:txBody>
      </p:sp>
      <p:sp>
        <p:nvSpPr>
          <p:cNvPr id="5" name="AutoShape 2" descr="Basic Measurement System - YouTube"/>
          <p:cNvSpPr>
            <a:spLocks noChangeAspect="1" noChangeArrowheads="1"/>
          </p:cNvSpPr>
          <p:nvPr/>
        </p:nvSpPr>
        <p:spPr bwMode="auto">
          <a:xfrm>
            <a:off x="214157" y="-85880"/>
            <a:ext cx="246217" cy="24621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 name="AutoShape 4" descr="Basic Measurement System - YouTub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8" name="Picture 7"/>
          <p:cNvPicPr>
            <a:picLocks noChangeAspect="1"/>
          </p:cNvPicPr>
          <p:nvPr/>
        </p:nvPicPr>
        <p:blipFill rotWithShape="1">
          <a:blip r:embed="rId3"/>
          <a:srcRect l="12407" r="13076"/>
          <a:stretch/>
        </p:blipFill>
        <p:spPr>
          <a:xfrm>
            <a:off x="1204685" y="1030514"/>
            <a:ext cx="9695544" cy="5508398"/>
          </a:xfrm>
          <a:prstGeom prst="rect">
            <a:avLst/>
          </a:prstGeom>
        </p:spPr>
      </p:pic>
    </p:spTree>
    <p:extLst>
      <p:ext uri="{BB962C8B-B14F-4D97-AF65-F5344CB8AC3E}">
        <p14:creationId xmlns:p14="http://schemas.microsoft.com/office/powerpoint/2010/main" val="1553933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3592" y="0"/>
            <a:ext cx="11353800" cy="1325563"/>
          </a:xfrm>
        </p:spPr>
        <p:txBody>
          <a:bodyPr>
            <a:normAutofit/>
          </a:bodyPr>
          <a:lstStyle/>
          <a:p>
            <a:pPr algn="ctr"/>
            <a:r>
              <a:rPr lang="en-US" sz="3200" b="1" dirty="0">
                <a:highlight>
                  <a:srgbClr val="FFFF00"/>
                </a:highlight>
                <a:latin typeface="Times New Roman" pitchFamily="18" charset="0"/>
                <a:cs typeface="Times New Roman" pitchFamily="18" charset="0"/>
              </a:rPr>
              <a:t>Specification of Instruments in context of medical instruments</a:t>
            </a:r>
            <a:endParaRPr lang="en-IN" sz="3200" dirty="0">
              <a:highlight>
                <a:srgbClr val="FFFF00"/>
              </a:highlight>
            </a:endParaRPr>
          </a:p>
        </p:txBody>
      </p:sp>
      <p:sp>
        <p:nvSpPr>
          <p:cNvPr id="3" name="Content Placeholder 2"/>
          <p:cNvSpPr>
            <a:spLocks noGrp="1"/>
          </p:cNvSpPr>
          <p:nvPr>
            <p:ph idx="1"/>
          </p:nvPr>
        </p:nvSpPr>
        <p:spPr>
          <a:xfrm>
            <a:off x="224607" y="662781"/>
            <a:ext cx="11813317" cy="5771245"/>
          </a:xfrm>
        </p:spPr>
        <p:txBody>
          <a:bodyPr>
            <a:noAutofit/>
          </a:bodyPr>
          <a:lstStyle/>
          <a:p>
            <a:pPr marL="0" indent="0" algn="just" fontAlgn="base">
              <a:buNone/>
            </a:pPr>
            <a:r>
              <a:rPr lang="en-US" dirty="0"/>
              <a:t> </a:t>
            </a:r>
          </a:p>
          <a:p>
            <a:pPr marL="0" indent="0" algn="just" fontAlgn="base">
              <a:buNone/>
            </a:pPr>
            <a:r>
              <a:rPr lang="en-US" dirty="0"/>
              <a:t>Instrument performance is specified by range, sensitivity, resolution, accuracy, and precision.</a:t>
            </a:r>
          </a:p>
          <a:p>
            <a:pPr algn="just" fontAlgn="base"/>
            <a:r>
              <a:rPr lang="en-US" b="1" u="sng" dirty="0">
                <a:highlight>
                  <a:srgbClr val="FFFF00"/>
                </a:highlight>
              </a:rPr>
              <a:t>Range</a:t>
            </a:r>
            <a:r>
              <a:rPr lang="en-US" dirty="0"/>
              <a:t> is defined by the </a:t>
            </a:r>
            <a:r>
              <a:rPr lang="en-US" b="1" dirty="0"/>
              <a:t>highest and lowest readings </a:t>
            </a:r>
            <a:r>
              <a:rPr lang="en-US" dirty="0"/>
              <a:t>the instrument is expected to produce. </a:t>
            </a:r>
            <a:endParaRPr lang="en-US" b="1" dirty="0"/>
          </a:p>
          <a:p>
            <a:pPr algn="just" fontAlgn="base"/>
            <a:r>
              <a:rPr lang="en-US" b="1" u="sng" dirty="0">
                <a:highlight>
                  <a:srgbClr val="FFFF00"/>
                </a:highlight>
              </a:rPr>
              <a:t>Sensitivity</a:t>
            </a:r>
            <a:r>
              <a:rPr lang="en-US" dirty="0"/>
              <a:t> is the </a:t>
            </a:r>
            <a:r>
              <a:rPr lang="en-US" b="1" dirty="0"/>
              <a:t>smallest change that can be sensed by a sensor.</a:t>
            </a:r>
            <a:r>
              <a:rPr lang="en-US" dirty="0"/>
              <a:t> </a:t>
            </a:r>
            <a:endParaRPr lang="en-US" b="1" dirty="0"/>
          </a:p>
          <a:p>
            <a:pPr algn="just" fontAlgn="base"/>
            <a:r>
              <a:rPr lang="en-US" b="1" u="sng" dirty="0">
                <a:highlight>
                  <a:srgbClr val="FFFF00"/>
                </a:highlight>
              </a:rPr>
              <a:t>Resolution</a:t>
            </a:r>
            <a:r>
              <a:rPr lang="en-US" dirty="0"/>
              <a:t> is the </a:t>
            </a:r>
            <a:r>
              <a:rPr lang="en-US" b="1" dirty="0"/>
              <a:t>smallest change that can be displayed </a:t>
            </a:r>
            <a:r>
              <a:rPr lang="en-US" dirty="0"/>
              <a:t>on a readout device. </a:t>
            </a:r>
          </a:p>
          <a:p>
            <a:pPr marL="0" indent="0" algn="just" fontAlgn="base">
              <a:buNone/>
            </a:pPr>
            <a:endParaRPr lang="en-IN"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6</a:t>
            </a:fld>
            <a:endParaRPr lang="en-US"/>
          </a:p>
        </p:txBody>
      </p:sp>
      <p:pic>
        <p:nvPicPr>
          <p:cNvPr id="1026" name="Picture 2" descr="Difference Between Accuracy and Precision">
            <a:extLst>
              <a:ext uri="{FF2B5EF4-FFF2-40B4-BE49-F238E27FC236}">
                <a16:creationId xmlns:a16="http://schemas.microsoft.com/office/drawing/2014/main" id="{4A80EF29-6ADE-1987-0634-61A08C4923E3}"/>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7207369" y="4133692"/>
            <a:ext cx="4984631" cy="2629433"/>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C0EF8AEB-5DC7-82DC-F122-50513E2307CB}"/>
              </a:ext>
            </a:extLst>
          </p:cNvPr>
          <p:cNvSpPr txBox="1"/>
          <p:nvPr/>
        </p:nvSpPr>
        <p:spPr>
          <a:xfrm>
            <a:off x="43737" y="3948450"/>
            <a:ext cx="7009556" cy="2246769"/>
          </a:xfrm>
          <a:prstGeom prst="rect">
            <a:avLst/>
          </a:prstGeom>
          <a:noFill/>
        </p:spPr>
        <p:txBody>
          <a:bodyPr wrap="square">
            <a:spAutoFit/>
          </a:bodyPr>
          <a:lstStyle/>
          <a:p>
            <a:pPr marL="457200" indent="-457200" algn="just" fontAlgn="base">
              <a:buFont typeface="Arial" panose="020B0604020202020204" pitchFamily="34" charset="0"/>
              <a:buChar char="•"/>
            </a:pPr>
            <a:r>
              <a:rPr lang="en-US" sz="2800" b="1" u="sng" dirty="0">
                <a:highlight>
                  <a:srgbClr val="FFFF00"/>
                </a:highlight>
              </a:rPr>
              <a:t>Precision</a:t>
            </a:r>
            <a:r>
              <a:rPr lang="en-US" sz="2800" b="1" dirty="0"/>
              <a:t> </a:t>
            </a:r>
            <a:r>
              <a:rPr lang="en-US" sz="2800" dirty="0"/>
              <a:t>is the degree to which a reading </a:t>
            </a:r>
            <a:r>
              <a:rPr lang="en-US" sz="2800" b="1" u="sng" dirty="0"/>
              <a:t>deviates from the mean</a:t>
            </a:r>
            <a:r>
              <a:rPr lang="en-US" sz="2800" b="1" dirty="0"/>
              <a:t> of a series of readings</a:t>
            </a:r>
            <a:r>
              <a:rPr lang="en-US" sz="2800" dirty="0"/>
              <a:t> taken under identical conditions. </a:t>
            </a:r>
          </a:p>
          <a:p>
            <a:pPr marL="457200" indent="-457200" algn="just" fontAlgn="base">
              <a:buFont typeface="Arial" panose="020B0604020202020204" pitchFamily="34" charset="0"/>
              <a:buChar char="•"/>
            </a:pPr>
            <a:r>
              <a:rPr lang="en-US" sz="2800" b="1" u="sng" dirty="0">
                <a:highlight>
                  <a:srgbClr val="FFFF00"/>
                </a:highlight>
              </a:rPr>
              <a:t>Accuracy</a:t>
            </a:r>
            <a:r>
              <a:rPr lang="en-US" sz="2800" b="1" dirty="0"/>
              <a:t> </a:t>
            </a:r>
            <a:r>
              <a:rPr lang="en-US" sz="2800" dirty="0"/>
              <a:t>is the degree to which a </a:t>
            </a:r>
            <a:r>
              <a:rPr lang="en-US" sz="2800" b="1" dirty="0"/>
              <a:t>reading </a:t>
            </a:r>
            <a:r>
              <a:rPr lang="en-US" sz="2800" b="1" u="sng" dirty="0"/>
              <a:t>deviates from an absolute value</a:t>
            </a:r>
            <a:r>
              <a:rPr lang="en-US" sz="2800" b="1" dirty="0"/>
              <a:t>. </a:t>
            </a:r>
            <a:endParaRPr lang="en-IN" sz="2800" b="1" dirty="0"/>
          </a:p>
        </p:txBody>
      </p:sp>
    </p:spTree>
    <p:extLst>
      <p:ext uri="{BB962C8B-B14F-4D97-AF65-F5344CB8AC3E}">
        <p14:creationId xmlns:p14="http://schemas.microsoft.com/office/powerpoint/2010/main" val="6572460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dirty="0">
                <a:ln w="0"/>
                <a:effectLst>
                  <a:outerShdw blurRad="38100" dist="25400" dir="5400000" algn="ctr" rotWithShape="0">
                    <a:srgbClr val="6E747A">
                      <a:alpha val="43000"/>
                    </a:srgbClr>
                  </a:outerShdw>
                </a:effectLst>
                <a:highlight>
                  <a:srgbClr val="FFFF00"/>
                </a:highlight>
                <a:latin typeface="Arial" panose="020B0604020202020204" pitchFamily="34" charset="0"/>
              </a:rPr>
              <a:t>Different Errors in biomedical systems</a:t>
            </a:r>
            <a:br>
              <a:rPr lang="en-IN" dirty="0">
                <a:ln w="0"/>
                <a:effectLst>
                  <a:outerShdw blurRad="38100" dist="25400" dir="5400000" algn="ctr" rotWithShape="0">
                    <a:srgbClr val="6E747A">
                      <a:alpha val="43000"/>
                    </a:srgbClr>
                  </a:outerShdw>
                </a:effectLst>
              </a:rPr>
            </a:br>
            <a:endParaRPr lang="en-IN" dirty="0"/>
          </a:p>
        </p:txBody>
      </p:sp>
      <p:sp>
        <p:nvSpPr>
          <p:cNvPr id="3" name="Content Placeholder 2"/>
          <p:cNvSpPr>
            <a:spLocks noGrp="1"/>
          </p:cNvSpPr>
          <p:nvPr>
            <p:ph idx="1"/>
          </p:nvPr>
        </p:nvSpPr>
        <p:spPr/>
        <p:txBody>
          <a:bodyPr>
            <a:normAutofit/>
          </a:bodyPr>
          <a:lstStyle/>
          <a:p>
            <a:pPr lvl="0"/>
            <a:r>
              <a:rPr lang="en-US" sz="4000" dirty="0">
                <a:highlight>
                  <a:srgbClr val="FFFF00"/>
                </a:highlight>
              </a:rPr>
              <a:t>Systematic errors</a:t>
            </a:r>
            <a:endParaRPr lang="en-IN" sz="4000" dirty="0">
              <a:highlight>
                <a:srgbClr val="FFFF00"/>
              </a:highlight>
            </a:endParaRPr>
          </a:p>
          <a:p>
            <a:pPr lvl="0"/>
            <a:r>
              <a:rPr lang="en-US" sz="4000" dirty="0">
                <a:highlight>
                  <a:srgbClr val="FFFF00"/>
                </a:highlight>
              </a:rPr>
              <a:t>Random errors</a:t>
            </a:r>
            <a:endParaRPr lang="en-IN" sz="4000" dirty="0">
              <a:highlight>
                <a:srgbClr val="FFFF00"/>
              </a:highlight>
            </a:endParaRPr>
          </a:p>
          <a:p>
            <a:pPr lvl="0"/>
            <a:r>
              <a:rPr lang="en-IN" sz="4000" dirty="0">
                <a:highlight>
                  <a:srgbClr val="FFFF00"/>
                </a:highlight>
              </a:rPr>
              <a:t>Gross errors</a:t>
            </a:r>
            <a:r>
              <a:rPr lang="en-US" sz="4000" dirty="0">
                <a:highlight>
                  <a:srgbClr val="FFFF00"/>
                </a:highlight>
              </a:rPr>
              <a:t> (Blunders)</a:t>
            </a:r>
            <a:endParaRPr lang="en-IN" sz="4000" dirty="0">
              <a:highlight>
                <a:srgbClr val="FFFF00"/>
              </a:highlight>
            </a:endParaRPr>
          </a:p>
          <a:p>
            <a:pPr marL="0" indent="0">
              <a:buNone/>
            </a:pPr>
            <a:endParaRPr lang="en-IN" sz="4000"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7</a:t>
            </a:fld>
            <a:endParaRPr lang="en-US"/>
          </a:p>
        </p:txBody>
      </p:sp>
    </p:spTree>
    <p:extLst>
      <p:ext uri="{BB962C8B-B14F-4D97-AF65-F5344CB8AC3E}">
        <p14:creationId xmlns:p14="http://schemas.microsoft.com/office/powerpoint/2010/main" val="757462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dirty="0"/>
              <a:t>Systematic errors</a:t>
            </a:r>
            <a:br>
              <a:rPr lang="en-IN" dirty="0"/>
            </a:br>
            <a:endParaRPr lang="en-IN" dirty="0"/>
          </a:p>
        </p:txBody>
      </p:sp>
      <p:sp>
        <p:nvSpPr>
          <p:cNvPr id="3" name="Content Placeholder 2"/>
          <p:cNvSpPr>
            <a:spLocks noGrp="1"/>
          </p:cNvSpPr>
          <p:nvPr>
            <p:ph idx="1"/>
          </p:nvPr>
        </p:nvSpPr>
        <p:spPr>
          <a:xfrm>
            <a:off x="377371" y="1825625"/>
            <a:ext cx="11669485" cy="4351338"/>
          </a:xfrm>
        </p:spPr>
        <p:txBody>
          <a:bodyPr>
            <a:normAutofit lnSpcReduction="10000"/>
          </a:bodyPr>
          <a:lstStyle/>
          <a:p>
            <a:pPr lvl="0" algn="just"/>
            <a:r>
              <a:rPr lang="en-US" sz="3200" b="1" dirty="0">
                <a:solidFill>
                  <a:schemeClr val="accent5">
                    <a:lumMod val="50000"/>
                  </a:schemeClr>
                </a:solidFill>
              </a:rPr>
              <a:t>Errors caused by experiments procedure. </a:t>
            </a:r>
            <a:endParaRPr lang="en-IN" sz="3200" b="1" dirty="0">
              <a:solidFill>
                <a:schemeClr val="accent5">
                  <a:lumMod val="50000"/>
                </a:schemeClr>
              </a:solidFill>
            </a:endParaRPr>
          </a:p>
          <a:p>
            <a:pPr lvl="1" algn="just"/>
            <a:r>
              <a:rPr lang="en-US" sz="3200" dirty="0"/>
              <a:t>These are errors caused by the way in which the experiment was conducted.  In other words, they are caused by the </a:t>
            </a:r>
            <a:r>
              <a:rPr lang="en-US" sz="3200" b="1" dirty="0"/>
              <a:t>design of the system.</a:t>
            </a:r>
          </a:p>
          <a:p>
            <a:pPr lvl="1" algn="just"/>
            <a:endParaRPr lang="en-US" sz="3200" dirty="0">
              <a:solidFill>
                <a:schemeClr val="accent5">
                  <a:lumMod val="50000"/>
                </a:schemeClr>
              </a:solidFill>
            </a:endParaRPr>
          </a:p>
          <a:p>
            <a:pPr lvl="1" algn="just"/>
            <a:r>
              <a:rPr lang="en-US" sz="3200" b="1" dirty="0">
                <a:solidFill>
                  <a:schemeClr val="accent5">
                    <a:lumMod val="50000"/>
                  </a:schemeClr>
                </a:solidFill>
              </a:rPr>
              <a:t>Poor procedure, or poor execution </a:t>
            </a:r>
            <a:r>
              <a:rPr lang="en-US" sz="3200" dirty="0">
                <a:solidFill>
                  <a:schemeClr val="accent5">
                    <a:lumMod val="50000"/>
                  </a:schemeClr>
                </a:solidFill>
              </a:rPr>
              <a:t>leads to more errors</a:t>
            </a:r>
            <a:r>
              <a:rPr lang="en-US" sz="3200" dirty="0">
                <a:solidFill>
                  <a:srgbClr val="FFFF00"/>
                </a:solidFill>
              </a:rPr>
              <a:t>.</a:t>
            </a:r>
          </a:p>
          <a:p>
            <a:pPr marL="457200" lvl="1" indent="0">
              <a:buNone/>
            </a:pPr>
            <a:endParaRPr lang="en-US" sz="3200" dirty="0"/>
          </a:p>
          <a:p>
            <a:pPr marL="457200" lvl="1" indent="0">
              <a:buNone/>
            </a:pPr>
            <a:r>
              <a:rPr lang="en-US" sz="3200" dirty="0"/>
              <a:t>Systemic error can be removed by replacing the instruments and procedures.</a:t>
            </a:r>
          </a:p>
          <a:p>
            <a:pPr marL="457200" lvl="1" indent="0">
              <a:buNone/>
            </a:pPr>
            <a:endParaRPr lang="en-IN" sz="3200" dirty="0"/>
          </a:p>
          <a:p>
            <a:endParaRPr lang="en-IN" sz="3200"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8</a:t>
            </a:fld>
            <a:endParaRPr lang="en-US"/>
          </a:p>
        </p:txBody>
      </p:sp>
    </p:spTree>
    <p:extLst>
      <p:ext uri="{BB962C8B-B14F-4D97-AF65-F5344CB8AC3E}">
        <p14:creationId xmlns:p14="http://schemas.microsoft.com/office/powerpoint/2010/main" val="17609037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dirty="0"/>
              <a:t>Random errors</a:t>
            </a:r>
            <a:br>
              <a:rPr lang="en-IN" dirty="0"/>
            </a:br>
            <a:endParaRPr lang="en-IN" dirty="0"/>
          </a:p>
        </p:txBody>
      </p:sp>
      <p:sp>
        <p:nvSpPr>
          <p:cNvPr id="3" name="Content Placeholder 2"/>
          <p:cNvSpPr>
            <a:spLocks noGrp="1"/>
          </p:cNvSpPr>
          <p:nvPr>
            <p:ph idx="1"/>
          </p:nvPr>
        </p:nvSpPr>
        <p:spPr>
          <a:xfrm>
            <a:off x="243114" y="1847850"/>
            <a:ext cx="10515600" cy="4351338"/>
          </a:xfrm>
        </p:spPr>
        <p:txBody>
          <a:bodyPr>
            <a:normAutofit lnSpcReduction="10000"/>
          </a:bodyPr>
          <a:lstStyle/>
          <a:p>
            <a:pPr marL="0" lvl="0" indent="0">
              <a:buNone/>
            </a:pPr>
            <a:r>
              <a:rPr lang="en-US" sz="4000" b="1" dirty="0">
                <a:solidFill>
                  <a:schemeClr val="accent5">
                    <a:lumMod val="50000"/>
                  </a:schemeClr>
                </a:solidFill>
              </a:rPr>
              <a:t>These errors are unpredictable.</a:t>
            </a:r>
            <a:endParaRPr lang="en-IN" sz="4000" b="1" dirty="0">
              <a:solidFill>
                <a:schemeClr val="accent5">
                  <a:lumMod val="50000"/>
                </a:schemeClr>
              </a:solidFill>
            </a:endParaRPr>
          </a:p>
          <a:p>
            <a:pPr marL="0" lvl="0" indent="0">
              <a:buNone/>
            </a:pPr>
            <a:endParaRPr lang="en-IN" b="1" dirty="0"/>
          </a:p>
          <a:p>
            <a:pPr marL="0" lvl="0" indent="0">
              <a:buNone/>
            </a:pPr>
            <a:r>
              <a:rPr lang="en-IN" b="1" dirty="0"/>
              <a:t>Observational:</a:t>
            </a:r>
          </a:p>
          <a:p>
            <a:pPr marL="0" lvl="0" indent="0">
              <a:buNone/>
            </a:pPr>
            <a:r>
              <a:rPr lang="en-US" sz="3200" dirty="0"/>
              <a:t>For example, </a:t>
            </a:r>
            <a:r>
              <a:rPr lang="en-US" sz="3200" b="1" dirty="0"/>
              <a:t>errors in judgment of an observer when reading the scale of a measuring device</a:t>
            </a:r>
            <a:r>
              <a:rPr lang="en-US" sz="3200" dirty="0"/>
              <a:t>.</a:t>
            </a:r>
            <a:endParaRPr lang="en-IN" sz="3200" dirty="0"/>
          </a:p>
          <a:p>
            <a:pPr marL="0" lvl="0" indent="0">
              <a:buNone/>
            </a:pPr>
            <a:endParaRPr lang="en-IN" b="1" dirty="0"/>
          </a:p>
          <a:p>
            <a:pPr marL="0" lvl="0" indent="0">
              <a:buNone/>
            </a:pPr>
            <a:r>
              <a:rPr lang="en-IN" b="1" dirty="0"/>
              <a:t>Environmental:</a:t>
            </a:r>
          </a:p>
          <a:p>
            <a:pPr marL="0" lvl="0" indent="0" algn="just">
              <a:buNone/>
            </a:pPr>
            <a:r>
              <a:rPr lang="en-US" sz="3200" dirty="0"/>
              <a:t>For example, </a:t>
            </a:r>
            <a:r>
              <a:rPr lang="en-US" sz="3200" b="1" dirty="0"/>
              <a:t>unpredictable fluctuations </a:t>
            </a:r>
            <a:r>
              <a:rPr lang="en-US" sz="3200" dirty="0"/>
              <a:t>in line voltage, temperature, or mechanical vibrations of equipment.</a:t>
            </a:r>
            <a:endParaRPr lang="en-IN" sz="3200" dirty="0"/>
          </a:p>
          <a:p>
            <a:endParaRPr lang="en-IN"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9</a:t>
            </a:fld>
            <a:endParaRPr lang="en-US"/>
          </a:p>
        </p:txBody>
      </p:sp>
    </p:spTree>
    <p:extLst>
      <p:ext uri="{BB962C8B-B14F-4D97-AF65-F5344CB8AC3E}">
        <p14:creationId xmlns:p14="http://schemas.microsoft.com/office/powerpoint/2010/main" val="5588930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IN" b="1" dirty="0"/>
              <a:t>Gross Errors (Blunders)</a:t>
            </a:r>
            <a:br>
              <a:rPr lang="en-IN" sz="3600" dirty="0"/>
            </a:br>
            <a:endParaRPr lang="en-IN" dirty="0"/>
          </a:p>
        </p:txBody>
      </p:sp>
      <p:sp>
        <p:nvSpPr>
          <p:cNvPr id="3" name="Content Placeholder 2"/>
          <p:cNvSpPr>
            <a:spLocks noGrp="1"/>
          </p:cNvSpPr>
          <p:nvPr>
            <p:ph idx="1"/>
          </p:nvPr>
        </p:nvSpPr>
        <p:spPr/>
        <p:txBody>
          <a:bodyPr/>
          <a:lstStyle/>
          <a:p>
            <a:pPr lvl="0" algn="just">
              <a:spcAft>
                <a:spcPts val="600"/>
              </a:spcAft>
            </a:pPr>
            <a:r>
              <a:rPr lang="en-US" sz="3200" dirty="0"/>
              <a:t>A final source of error, called a blunder or gross error, </a:t>
            </a:r>
            <a:r>
              <a:rPr lang="en-US" sz="3200" dirty="0">
                <a:solidFill>
                  <a:srgbClr val="1B3F5B"/>
                </a:solidFill>
              </a:rPr>
              <a:t>is an </a:t>
            </a:r>
            <a:r>
              <a:rPr lang="en-US" sz="3200" b="1" dirty="0">
                <a:solidFill>
                  <a:srgbClr val="1B3F5B"/>
                </a:solidFill>
              </a:rPr>
              <a:t>outright mistake. </a:t>
            </a:r>
            <a:endParaRPr lang="en-IN" sz="3200" b="1" dirty="0"/>
          </a:p>
          <a:p>
            <a:pPr lvl="0" algn="just">
              <a:spcAft>
                <a:spcPts val="600"/>
              </a:spcAft>
            </a:pPr>
            <a:r>
              <a:rPr lang="en-US" sz="3200" dirty="0">
                <a:solidFill>
                  <a:srgbClr val="1B3F5B"/>
                </a:solidFill>
              </a:rPr>
              <a:t>These errors </a:t>
            </a:r>
            <a:r>
              <a:rPr lang="en-US" sz="3200" dirty="0"/>
              <a:t>occur </a:t>
            </a:r>
            <a:r>
              <a:rPr lang="en-US" sz="3200" b="1" dirty="0"/>
              <a:t>due to carelessness </a:t>
            </a:r>
            <a:r>
              <a:rPr lang="en-US" sz="3200" dirty="0"/>
              <a:t>or </a:t>
            </a:r>
            <a:r>
              <a:rPr lang="en-US" sz="3200" b="1" dirty="0"/>
              <a:t>lack of experience of a human</a:t>
            </a:r>
            <a:endParaRPr lang="en-IN" sz="3200" b="1" dirty="0">
              <a:solidFill>
                <a:srgbClr val="1B3F5B"/>
              </a:solidFill>
            </a:endParaRPr>
          </a:p>
          <a:p>
            <a:pPr lvl="1" algn="just">
              <a:spcAft>
                <a:spcPts val="600"/>
              </a:spcAft>
            </a:pPr>
            <a:r>
              <a:rPr lang="en-US" sz="3200" dirty="0"/>
              <a:t>A person may </a:t>
            </a:r>
            <a:r>
              <a:rPr lang="en-US" sz="3200" b="1" dirty="0"/>
              <a:t>record a wrong value, misread a scale, forget a digit when reading a scale or recording a measurement, or make a similar blunder. </a:t>
            </a:r>
            <a:endParaRPr lang="en-US" sz="3200" b="1" dirty="0">
              <a:solidFill>
                <a:srgbClr val="FFFF00"/>
              </a:solidFill>
            </a:endParaRPr>
          </a:p>
          <a:p>
            <a:r>
              <a:rPr lang="en-US" sz="3200" b="1" dirty="0"/>
              <a:t>Gross error </a:t>
            </a:r>
            <a:r>
              <a:rPr lang="en-US" sz="3200" dirty="0"/>
              <a:t>is caused by careless handling.</a:t>
            </a:r>
          </a:p>
          <a:p>
            <a:endParaRPr lang="en-IN"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10</a:t>
            </a:fld>
            <a:endParaRPr lang="en-US"/>
          </a:p>
        </p:txBody>
      </p:sp>
    </p:spTree>
    <p:extLst>
      <p:ext uri="{BB962C8B-B14F-4D97-AF65-F5344CB8AC3E}">
        <p14:creationId xmlns:p14="http://schemas.microsoft.com/office/powerpoint/2010/main" val="20640835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DCDBBEF-AA6C-4BA6-85B2-A17D7F280E38}" type="slidenum">
              <a:rPr lang="en-US" smtClean="0"/>
              <a:pPr/>
              <a:t>11</a:t>
            </a:fld>
            <a:endParaRPr lang="en-US"/>
          </a:p>
        </p:txBody>
      </p:sp>
      <p:sp>
        <p:nvSpPr>
          <p:cNvPr id="5" name="Title 1"/>
          <p:cNvSpPr>
            <a:spLocks noGrp="1"/>
          </p:cNvSpPr>
          <p:nvPr>
            <p:ph type="title"/>
          </p:nvPr>
        </p:nvSpPr>
        <p:spPr>
          <a:xfrm>
            <a:off x="838200" y="161925"/>
            <a:ext cx="10515600" cy="1325563"/>
          </a:xfrm>
          <a:ln>
            <a:solidFill>
              <a:schemeClr val="tx1"/>
            </a:solidFill>
          </a:ln>
        </p:spPr>
        <p:txBody>
          <a:bodyPr>
            <a:normAutofit/>
          </a:bodyPr>
          <a:lstStyle/>
          <a:p>
            <a:pPr algn="ctr"/>
            <a:r>
              <a:rPr lang="en-US" sz="3600" b="1" dirty="0">
                <a:highlight>
                  <a:srgbClr val="FFFF00"/>
                </a:highlight>
                <a:latin typeface="Times New Roman" pitchFamily="18" charset="0"/>
                <a:cs typeface="Times New Roman" pitchFamily="18" charset="0"/>
              </a:rPr>
              <a:t>Basic Characteristics of Instruments</a:t>
            </a:r>
            <a:endParaRPr lang="en-IN" sz="3600" b="1" dirty="0">
              <a:highlight>
                <a:srgbClr val="FFFF00"/>
              </a:highlight>
              <a:latin typeface="Times New Roman" pitchFamily="18" charset="0"/>
              <a:cs typeface="Times New Roman" pitchFamily="18" charset="0"/>
            </a:endParaRPr>
          </a:p>
        </p:txBody>
      </p:sp>
      <p:sp>
        <p:nvSpPr>
          <p:cNvPr id="2" name="Rectangle 1"/>
          <p:cNvSpPr/>
          <p:nvPr/>
        </p:nvSpPr>
        <p:spPr>
          <a:xfrm>
            <a:off x="914400" y="5278767"/>
            <a:ext cx="10416209" cy="646331"/>
          </a:xfrm>
          <a:prstGeom prst="rect">
            <a:avLst/>
          </a:prstGeom>
        </p:spPr>
        <p:txBody>
          <a:bodyPr wrap="square">
            <a:spAutoFit/>
          </a:bodyPr>
          <a:lstStyle/>
          <a:p>
            <a:pPr algn="ctr"/>
            <a:r>
              <a:rPr lang="en-IN" dirty="0">
                <a:latin typeface="Times New Roman" pitchFamily="18" charset="0"/>
                <a:cs typeface="Times New Roman" pitchFamily="18" charset="0"/>
              </a:rPr>
              <a:t>https://image.slidesharecdn.com/myppt2-140916110617-phpapp02/95/the-laws-of-mendel-9-638.jpg?cb=1410865730</a:t>
            </a:r>
          </a:p>
        </p:txBody>
      </p:sp>
      <p:pic>
        <p:nvPicPr>
          <p:cNvPr id="10242" name="Picture 2" descr="Classification of Instruments : - ppt video online download"/>
          <p:cNvPicPr>
            <a:picLocks noChangeAspect="1" noChangeArrowheads="1"/>
          </p:cNvPicPr>
          <p:nvPr/>
        </p:nvPicPr>
        <p:blipFill rotWithShape="1">
          <a:blip r:embed="rId3">
            <a:extLst>
              <a:ext uri="{28A0092B-C50C-407E-A947-70E740481C1C}">
                <a14:useLocalDpi xmlns:a14="http://schemas.microsoft.com/office/drawing/2010/main" val="0"/>
              </a:ext>
            </a:extLst>
          </a:blip>
          <a:srcRect l="4088" r="4088" b="20377"/>
          <a:stretch/>
        </p:blipFill>
        <p:spPr bwMode="auto">
          <a:xfrm>
            <a:off x="650618" y="1059543"/>
            <a:ext cx="10943771" cy="5965372"/>
          </a:xfrm>
          <a:prstGeom prst="rect">
            <a:avLst/>
          </a:prstGeom>
          <a:noFill/>
          <a:extLst>
            <a:ext uri="{909E8E84-426E-40DD-AFC4-6F175D3DCCD1}">
              <a14:hiddenFill xmlns:a14="http://schemas.microsoft.com/office/drawing/2010/main">
                <a:solidFill>
                  <a:srgbClr val="FFFFFF"/>
                </a:solidFill>
              </a14:hiddenFill>
            </a:ext>
          </a:extLst>
        </p:spPr>
      </p:pic>
      <p:sp>
        <p:nvSpPr>
          <p:cNvPr id="3" name="Left Brace 2">
            <a:extLst>
              <a:ext uri="{FF2B5EF4-FFF2-40B4-BE49-F238E27FC236}">
                <a16:creationId xmlns:a16="http://schemas.microsoft.com/office/drawing/2014/main" id="{B9F824A9-9FEE-D4CF-EB20-FADC571D2727}"/>
              </a:ext>
            </a:extLst>
          </p:cNvPr>
          <p:cNvSpPr/>
          <p:nvPr/>
        </p:nvSpPr>
        <p:spPr>
          <a:xfrm>
            <a:off x="861391" y="4968886"/>
            <a:ext cx="422030" cy="1266092"/>
          </a:xfrm>
          <a:prstGeom prst="leftBrace">
            <a:avLst/>
          </a:prstGeom>
          <a:ln w="76200"/>
        </p:spPr>
        <p:style>
          <a:lnRef idx="3">
            <a:schemeClr val="accent4"/>
          </a:lnRef>
          <a:fillRef idx="0">
            <a:schemeClr val="accent4"/>
          </a:fillRef>
          <a:effectRef idx="2">
            <a:schemeClr val="accent4"/>
          </a:effectRef>
          <a:fontRef idx="minor">
            <a:schemeClr val="tx1"/>
          </a:fontRef>
        </p:style>
        <p:txBody>
          <a:bodyPr rtlCol="0" anchor="ctr"/>
          <a:lstStyle/>
          <a:p>
            <a:pPr algn="ctr"/>
            <a:endParaRPr lang="en-IN"/>
          </a:p>
        </p:txBody>
      </p:sp>
    </p:spTree>
    <p:extLst>
      <p:ext uri="{BB962C8B-B14F-4D97-AF65-F5344CB8AC3E}">
        <p14:creationId xmlns:p14="http://schemas.microsoft.com/office/powerpoint/2010/main" val="6933363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692989" y="0"/>
            <a:ext cx="10515600" cy="1325563"/>
          </a:xfrm>
          <a:ln>
            <a:solidFill>
              <a:schemeClr val="tx1"/>
            </a:solidFill>
          </a:ln>
        </p:spPr>
        <p:txBody>
          <a:bodyPr>
            <a:normAutofit/>
          </a:bodyPr>
          <a:lstStyle/>
          <a:p>
            <a:pPr algn="ctr"/>
            <a:r>
              <a:rPr lang="en-US" sz="3600" b="1" dirty="0">
                <a:latin typeface="Times New Roman" pitchFamily="18" charset="0"/>
                <a:cs typeface="Times New Roman" pitchFamily="18" charset="0"/>
              </a:rPr>
              <a:t>Static Characteristics</a:t>
            </a:r>
            <a:endParaRPr lang="en-IN" sz="3600" b="1" dirty="0">
              <a:latin typeface="Times New Roman" pitchFamily="18" charset="0"/>
              <a:cs typeface="Times New Roman" pitchFamily="18" charset="0"/>
            </a:endParaRPr>
          </a:p>
        </p:txBody>
      </p:sp>
      <p:sp>
        <p:nvSpPr>
          <p:cNvPr id="2" name="Rectangle 1"/>
          <p:cNvSpPr/>
          <p:nvPr/>
        </p:nvSpPr>
        <p:spPr>
          <a:xfrm>
            <a:off x="838200" y="857873"/>
            <a:ext cx="10180294" cy="830997"/>
          </a:xfrm>
          <a:prstGeom prst="rect">
            <a:avLst/>
          </a:prstGeom>
        </p:spPr>
        <p:txBody>
          <a:bodyPr wrap="square">
            <a:spAutoFit/>
          </a:bodyPr>
          <a:lstStyle/>
          <a:p>
            <a:pPr algn="ctr"/>
            <a:r>
              <a:rPr lang="en-US" sz="2400" b="1" dirty="0">
                <a:latin typeface="Times New Roman" pitchFamily="18" charset="0"/>
                <a:cs typeface="Times New Roman" pitchFamily="18" charset="0"/>
              </a:rPr>
              <a:t>Refers to the characteristics of system when the </a:t>
            </a:r>
            <a:r>
              <a:rPr lang="en-US" sz="2400" b="1" dirty="0">
                <a:highlight>
                  <a:srgbClr val="FFFF00"/>
                </a:highlight>
                <a:latin typeface="Times New Roman" pitchFamily="18" charset="0"/>
                <a:cs typeface="Times New Roman" pitchFamily="18" charset="0"/>
              </a:rPr>
              <a:t>input is either hold constant or varying very slowly with time. </a:t>
            </a:r>
            <a:endParaRPr lang="en-IN" sz="2400" b="1" dirty="0">
              <a:highlight>
                <a:srgbClr val="FFFF00"/>
              </a:highlight>
              <a:latin typeface="Times New Roman" pitchFamily="18" charset="0"/>
              <a:cs typeface="Times New Roman" pitchFamily="18" charset="0"/>
            </a:endParaRPr>
          </a:p>
        </p:txBody>
      </p:sp>
      <p:sp>
        <p:nvSpPr>
          <p:cNvPr id="3" name="Slide Number Placeholder 3">
            <a:extLst>
              <a:ext uri="{FF2B5EF4-FFF2-40B4-BE49-F238E27FC236}">
                <a16:creationId xmlns:a16="http://schemas.microsoft.com/office/drawing/2014/main" id="{80B409E7-7A77-2AAB-2CD3-0E049EDDBDC5}"/>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DCDBBEF-AA6C-4BA6-85B2-A17D7F280E38}" type="slidenum">
              <a:rPr lang="en-US" smtClean="0"/>
              <a:pPr/>
              <a:t>12</a:t>
            </a:fld>
            <a:endParaRPr lang="en-US" dirty="0"/>
          </a:p>
        </p:txBody>
      </p:sp>
      <p:grpSp>
        <p:nvGrpSpPr>
          <p:cNvPr id="11" name="Group 10">
            <a:extLst>
              <a:ext uri="{FF2B5EF4-FFF2-40B4-BE49-F238E27FC236}">
                <a16:creationId xmlns:a16="http://schemas.microsoft.com/office/drawing/2014/main" id="{1D4967EB-8D35-449C-0386-F9F80DFE494C}"/>
              </a:ext>
            </a:extLst>
          </p:cNvPr>
          <p:cNvGrpSpPr/>
          <p:nvPr/>
        </p:nvGrpSpPr>
        <p:grpSpPr>
          <a:xfrm>
            <a:off x="910805" y="1825719"/>
            <a:ext cx="10035083" cy="4944382"/>
            <a:chOff x="933246" y="1777093"/>
            <a:chExt cx="10035083" cy="4944382"/>
          </a:xfrm>
        </p:grpSpPr>
        <p:pic>
          <p:nvPicPr>
            <p:cNvPr id="7" name="Picture 2" descr="The main static characteristics &#10;are :- &#10;1. Accuracy &#10;2. Sensitivity &#10;3. Reproducibility &#10;4. Drift &#10;5. Static error &#10;6. De...">
              <a:extLst>
                <a:ext uri="{FF2B5EF4-FFF2-40B4-BE49-F238E27FC236}">
                  <a16:creationId xmlns:a16="http://schemas.microsoft.com/office/drawing/2014/main" id="{A20C14E1-2F77-6730-A219-A8BA645E5D2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3477"/>
            <a:stretch/>
          </p:blipFill>
          <p:spPr bwMode="auto">
            <a:xfrm>
              <a:off x="933246" y="1777093"/>
              <a:ext cx="10035083" cy="4944382"/>
            </a:xfrm>
            <a:prstGeom prst="rect">
              <a:avLst/>
            </a:prstGeom>
            <a:noFill/>
            <a:extLst>
              <a:ext uri="{909E8E84-426E-40DD-AFC4-6F175D3DCCD1}">
                <a14:hiddenFill xmlns:a14="http://schemas.microsoft.com/office/drawing/2010/main">
                  <a:solidFill>
                    <a:srgbClr val="FFFFFF"/>
                  </a:solidFill>
                </a14:hiddenFill>
              </a:ext>
            </a:extLst>
          </p:spPr>
        </p:pic>
        <p:cxnSp>
          <p:nvCxnSpPr>
            <p:cNvPr id="8" name="Straight Arrow Connector 7">
              <a:extLst>
                <a:ext uri="{FF2B5EF4-FFF2-40B4-BE49-F238E27FC236}">
                  <a16:creationId xmlns:a16="http://schemas.microsoft.com/office/drawing/2014/main" id="{EA01F72D-2184-9BBD-09FE-0ADF365596CF}"/>
                </a:ext>
              </a:extLst>
            </p:cNvPr>
            <p:cNvCxnSpPr/>
            <p:nvPr/>
          </p:nvCxnSpPr>
          <p:spPr>
            <a:xfrm>
              <a:off x="1637881" y="1949380"/>
              <a:ext cx="1045029" cy="0"/>
            </a:xfrm>
            <a:prstGeom prst="straightConnector1">
              <a:avLst/>
            </a:prstGeom>
            <a:ln w="76200">
              <a:tailEnd type="triangle"/>
            </a:ln>
          </p:spPr>
          <p:style>
            <a:lnRef idx="1">
              <a:schemeClr val="accent4"/>
            </a:lnRef>
            <a:fillRef idx="0">
              <a:schemeClr val="accent4"/>
            </a:fillRef>
            <a:effectRef idx="0">
              <a:schemeClr val="accent4"/>
            </a:effectRef>
            <a:fontRef idx="minor">
              <a:schemeClr val="tx1"/>
            </a:fontRef>
          </p:style>
        </p:cxnSp>
        <p:cxnSp>
          <p:nvCxnSpPr>
            <p:cNvPr id="9" name="Straight Arrow Connector 8">
              <a:extLst>
                <a:ext uri="{FF2B5EF4-FFF2-40B4-BE49-F238E27FC236}">
                  <a16:creationId xmlns:a16="http://schemas.microsoft.com/office/drawing/2014/main" id="{D4537138-1C0C-5228-A114-FCFDB422D22E}"/>
                </a:ext>
              </a:extLst>
            </p:cNvPr>
            <p:cNvCxnSpPr/>
            <p:nvPr/>
          </p:nvCxnSpPr>
          <p:spPr>
            <a:xfrm>
              <a:off x="1540747" y="3850528"/>
              <a:ext cx="1045029" cy="0"/>
            </a:xfrm>
            <a:prstGeom prst="straightConnector1">
              <a:avLst/>
            </a:prstGeom>
            <a:ln w="76200">
              <a:tailEnd type="triangle"/>
            </a:ln>
          </p:spPr>
          <p:style>
            <a:lnRef idx="1">
              <a:schemeClr val="accent4"/>
            </a:lnRef>
            <a:fillRef idx="0">
              <a:schemeClr val="accent4"/>
            </a:fillRef>
            <a:effectRef idx="0">
              <a:schemeClr val="accent4"/>
            </a:effectRef>
            <a:fontRef idx="minor">
              <a:schemeClr val="tx1"/>
            </a:fontRef>
          </p:style>
        </p:cxnSp>
        <p:cxnSp>
          <p:nvCxnSpPr>
            <p:cNvPr id="10" name="Straight Arrow Connector 9">
              <a:extLst>
                <a:ext uri="{FF2B5EF4-FFF2-40B4-BE49-F238E27FC236}">
                  <a16:creationId xmlns:a16="http://schemas.microsoft.com/office/drawing/2014/main" id="{95BD8E1C-5D5B-C415-678C-5EDC2F12ABFF}"/>
                </a:ext>
              </a:extLst>
            </p:cNvPr>
            <p:cNvCxnSpPr/>
            <p:nvPr/>
          </p:nvCxnSpPr>
          <p:spPr>
            <a:xfrm>
              <a:off x="1540747" y="3229875"/>
              <a:ext cx="1045029" cy="0"/>
            </a:xfrm>
            <a:prstGeom prst="straightConnector1">
              <a:avLst/>
            </a:prstGeom>
            <a:ln w="76200">
              <a:tailEnd type="triangle"/>
            </a:ln>
          </p:spPr>
          <p:style>
            <a:lnRef idx="1">
              <a:schemeClr val="accent4"/>
            </a:lnRef>
            <a:fillRef idx="0">
              <a:schemeClr val="accent4"/>
            </a:fillRef>
            <a:effectRef idx="0">
              <a:schemeClr val="accent4"/>
            </a:effectRef>
            <a:fontRef idx="minor">
              <a:schemeClr val="tx1"/>
            </a:fontRef>
          </p:style>
        </p:cxnSp>
      </p:grpSp>
    </p:spTree>
    <p:extLst>
      <p:ext uri="{BB962C8B-B14F-4D97-AF65-F5344CB8AC3E}">
        <p14:creationId xmlns:p14="http://schemas.microsoft.com/office/powerpoint/2010/main" val="38275376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64080932-C1CC-2EA6-B460-4521BEF8A890}"/>
              </a:ext>
            </a:extLst>
          </p:cNvPr>
          <p:cNvGrpSpPr/>
          <p:nvPr/>
        </p:nvGrpSpPr>
        <p:grpSpPr>
          <a:xfrm>
            <a:off x="1195754" y="213405"/>
            <a:ext cx="10599843" cy="6431189"/>
            <a:chOff x="1195754" y="213405"/>
            <a:chExt cx="10599843" cy="6431189"/>
          </a:xfrm>
        </p:grpSpPr>
        <p:pic>
          <p:nvPicPr>
            <p:cNvPr id="13314" name="Picture 2" descr="1. Accuracy &#10;It is the degree of closeness with which an &#10;instrument reading approaches the true value of &#10;the quantity b..."/>
            <p:cNvPicPr>
              <a:picLocks noChangeAspect="1" noChangeArrowheads="1"/>
            </p:cNvPicPr>
            <p:nvPr/>
          </p:nvPicPr>
          <p:blipFill rotWithShape="1">
            <a:blip r:embed="rId2">
              <a:extLst>
                <a:ext uri="{28A0092B-C50C-407E-A947-70E740481C1C}">
                  <a14:useLocalDpi xmlns:a14="http://schemas.microsoft.com/office/drawing/2010/main" val="0"/>
                </a:ext>
              </a:extLst>
            </a:blip>
            <a:srcRect l="-863"/>
            <a:stretch/>
          </p:blipFill>
          <p:spPr bwMode="auto">
            <a:xfrm>
              <a:off x="1195754" y="213405"/>
              <a:ext cx="10599843" cy="6431189"/>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descr="Difference Between Accuracy and Precision">
              <a:extLst>
                <a:ext uri="{FF2B5EF4-FFF2-40B4-BE49-F238E27FC236}">
                  <a16:creationId xmlns:a16="http://schemas.microsoft.com/office/drawing/2014/main" id="{2EE290D9-B253-BD4F-D290-2A7A6A01C5A4}"/>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5002326" y="3061089"/>
              <a:ext cx="6793271" cy="3583505"/>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9279531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939A1B5F-C61F-37AD-325E-EBD9FB98776E}"/>
              </a:ext>
            </a:extLst>
          </p:cNvPr>
          <p:cNvGrpSpPr/>
          <p:nvPr/>
        </p:nvGrpSpPr>
        <p:grpSpPr>
          <a:xfrm>
            <a:off x="1197016" y="48683"/>
            <a:ext cx="9590590" cy="3526098"/>
            <a:chOff x="838200" y="258824"/>
            <a:chExt cx="10599843" cy="4230355"/>
          </a:xfrm>
        </p:grpSpPr>
        <p:pic>
          <p:nvPicPr>
            <p:cNvPr id="14338" name="Picture 2" descr="2.Sensitivity &#10; Sensitivity is the ratio of change in output of &#10;an instrument to the change in input. &#10; The manufacture..."/>
            <p:cNvPicPr>
              <a:picLocks noChangeAspect="1" noChangeArrowheads="1"/>
            </p:cNvPicPr>
            <p:nvPr/>
          </p:nvPicPr>
          <p:blipFill rotWithShape="1">
            <a:blip r:embed="rId2">
              <a:extLst>
                <a:ext uri="{28A0092B-C50C-407E-A947-70E740481C1C}">
                  <a14:useLocalDpi xmlns:a14="http://schemas.microsoft.com/office/drawing/2010/main" val="0"/>
                </a:ext>
              </a:extLst>
            </a:blip>
            <a:srcRect t="16653" b="61291"/>
            <a:stretch/>
          </p:blipFill>
          <p:spPr bwMode="auto">
            <a:xfrm>
              <a:off x="838200" y="258824"/>
              <a:ext cx="10599843" cy="1477107"/>
            </a:xfrm>
            <a:prstGeom prst="rect">
              <a:avLst/>
            </a:prstGeom>
            <a:noFill/>
            <a:extLst>
              <a:ext uri="{909E8E84-426E-40DD-AFC4-6F175D3DCCD1}">
                <a14:hiddenFill xmlns:a14="http://schemas.microsoft.com/office/drawing/2010/main">
                  <a:solidFill>
                    <a:srgbClr val="FFFFFF"/>
                  </a:solidFill>
                </a14:hiddenFill>
              </a:ext>
            </a:extLst>
          </p:spPr>
        </p:pic>
        <p:grpSp>
          <p:nvGrpSpPr>
            <p:cNvPr id="6" name="Group 5">
              <a:extLst>
                <a:ext uri="{FF2B5EF4-FFF2-40B4-BE49-F238E27FC236}">
                  <a16:creationId xmlns:a16="http://schemas.microsoft.com/office/drawing/2014/main" id="{FA64D954-7A14-2E53-4F9B-5EF0911C8CF5}"/>
                </a:ext>
              </a:extLst>
            </p:cNvPr>
            <p:cNvGrpSpPr/>
            <p:nvPr/>
          </p:nvGrpSpPr>
          <p:grpSpPr>
            <a:xfrm>
              <a:off x="838200" y="1735931"/>
              <a:ext cx="10599842" cy="2753248"/>
              <a:chOff x="838200" y="1617785"/>
              <a:chExt cx="10261600" cy="2753248"/>
            </a:xfrm>
          </p:grpSpPr>
          <p:pic>
            <p:nvPicPr>
              <p:cNvPr id="8" name="Picture 2" descr="4.Drift &#10;The drift is defined as the gradual shift in the &#10;indication over a period of time where in the &#10;input variable ...">
                <a:extLst>
                  <a:ext uri="{FF2B5EF4-FFF2-40B4-BE49-F238E27FC236}">
                    <a16:creationId xmlns:a16="http://schemas.microsoft.com/office/drawing/2014/main" id="{47E43CF9-7D0B-D1E4-C667-02595C36F99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7476" b="55715"/>
              <a:stretch/>
            </p:blipFill>
            <p:spPr bwMode="auto">
              <a:xfrm>
                <a:off x="838200" y="1617785"/>
                <a:ext cx="10261600" cy="1657978"/>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4.Drift &#10;The drift is defined as the gradual shift in the &#10;indication over a period of time where in the &#10;input variable ...">
                <a:extLst>
                  <a:ext uri="{FF2B5EF4-FFF2-40B4-BE49-F238E27FC236}">
                    <a16:creationId xmlns:a16="http://schemas.microsoft.com/office/drawing/2014/main" id="{3A4161A8-F52F-7AD9-318A-E90ECDD5296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7418" b="24872"/>
              <a:stretch/>
            </p:blipFill>
            <p:spPr bwMode="auto">
              <a:xfrm>
                <a:off x="838200" y="3275763"/>
                <a:ext cx="10261600" cy="1095270"/>
              </a:xfrm>
              <a:prstGeom prst="rect">
                <a:avLst/>
              </a:prstGeom>
              <a:noFill/>
              <a:extLst>
                <a:ext uri="{909E8E84-426E-40DD-AFC4-6F175D3DCCD1}">
                  <a14:hiddenFill xmlns:a14="http://schemas.microsoft.com/office/drawing/2010/main">
                    <a:solidFill>
                      <a:srgbClr val="FFFFFF"/>
                    </a:solidFill>
                  </a14:hiddenFill>
                </a:ext>
              </a:extLst>
            </p:spPr>
          </p:pic>
        </p:grpSp>
      </p:grpSp>
      <p:pic>
        <p:nvPicPr>
          <p:cNvPr id="10" name="Content Placeholder 4">
            <a:extLst>
              <a:ext uri="{FF2B5EF4-FFF2-40B4-BE49-F238E27FC236}">
                <a16:creationId xmlns:a16="http://schemas.microsoft.com/office/drawing/2014/main" id="{B35E6136-D911-F7AF-3361-B26B7D094F4A}"/>
              </a:ext>
            </a:extLst>
          </p:cNvPr>
          <p:cNvPicPr>
            <a:picLocks noGrp="1" noChangeAspect="1"/>
          </p:cNvPicPr>
          <p:nvPr>
            <p:ph idx="1"/>
          </p:nvPr>
        </p:nvPicPr>
        <p:blipFill rotWithShape="1">
          <a:blip r:embed="rId4"/>
          <a:srcRect t="12929" b="34244"/>
          <a:stretch/>
        </p:blipFill>
        <p:spPr>
          <a:xfrm>
            <a:off x="1197016" y="3574781"/>
            <a:ext cx="9590589" cy="2968944"/>
          </a:xfrm>
          <a:prstGeom prst="rect">
            <a:avLst/>
          </a:prstGeom>
        </p:spPr>
      </p:pic>
    </p:spTree>
    <p:extLst>
      <p:ext uri="{BB962C8B-B14F-4D97-AF65-F5344CB8AC3E}">
        <p14:creationId xmlns:p14="http://schemas.microsoft.com/office/powerpoint/2010/main" val="26050190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descr="7.Precision &#10;It is a measure of the reproducibility of the &#10;measurement that is given a fixed value of &#10;variable. &#10;Preci..."/>
          <p:cNvPicPr>
            <a:picLocks noChangeAspect="1" noChangeArrowheads="1"/>
          </p:cNvPicPr>
          <p:nvPr/>
        </p:nvPicPr>
        <p:blipFill rotWithShape="1">
          <a:blip r:embed="rId2">
            <a:extLst>
              <a:ext uri="{28A0092B-C50C-407E-A947-70E740481C1C}">
                <a14:useLocalDpi xmlns:a14="http://schemas.microsoft.com/office/drawing/2010/main" val="0"/>
              </a:ext>
            </a:extLst>
          </a:blip>
          <a:srcRect t="17168" b="30438"/>
          <a:stretch/>
        </p:blipFill>
        <p:spPr bwMode="auto">
          <a:xfrm>
            <a:off x="886127" y="0"/>
            <a:ext cx="10815986" cy="3460830"/>
          </a:xfrm>
          <a:prstGeom prst="rect">
            <a:avLst/>
          </a:prstGeom>
          <a:noFill/>
          <a:extLst>
            <a:ext uri="{909E8E84-426E-40DD-AFC4-6F175D3DCCD1}">
              <a14:hiddenFill xmlns:a14="http://schemas.microsoft.com/office/drawing/2010/main">
                <a:solidFill>
                  <a:srgbClr val="FFFFFF"/>
                </a:solidFill>
              </a14:hiddenFill>
            </a:ext>
          </a:extLst>
        </p:spPr>
      </p:pic>
      <p:pic>
        <p:nvPicPr>
          <p:cNvPr id="2" name="Content Placeholder 4">
            <a:extLst>
              <a:ext uri="{FF2B5EF4-FFF2-40B4-BE49-F238E27FC236}">
                <a16:creationId xmlns:a16="http://schemas.microsoft.com/office/drawing/2014/main" id="{F586ACC2-CC47-BBB0-208C-534B5FD7F846}"/>
              </a:ext>
            </a:extLst>
          </p:cNvPr>
          <p:cNvPicPr>
            <a:picLocks noGrp="1" noChangeAspect="1"/>
          </p:cNvPicPr>
          <p:nvPr>
            <p:ph idx="1"/>
          </p:nvPr>
        </p:nvPicPr>
        <p:blipFill rotWithShape="1">
          <a:blip r:embed="rId3"/>
          <a:srcRect t="4124" b="73400"/>
          <a:stretch/>
        </p:blipFill>
        <p:spPr>
          <a:xfrm>
            <a:off x="2136193" y="3657600"/>
            <a:ext cx="8606464" cy="2062021"/>
          </a:xfrm>
          <a:prstGeom prst="rect">
            <a:avLst/>
          </a:prstGeom>
        </p:spPr>
      </p:pic>
    </p:spTree>
    <p:extLst>
      <p:ext uri="{BB962C8B-B14F-4D97-AF65-F5344CB8AC3E}">
        <p14:creationId xmlns:p14="http://schemas.microsoft.com/office/powerpoint/2010/main" val="2488011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rotWithShape="1">
          <a:blip r:embed="rId2"/>
          <a:srcRect b="56863"/>
          <a:stretch/>
        </p:blipFill>
        <p:spPr>
          <a:xfrm>
            <a:off x="725713" y="0"/>
            <a:ext cx="10740573" cy="2786742"/>
          </a:xfrm>
          <a:prstGeom prst="rect">
            <a:avLst/>
          </a:prstGeom>
        </p:spPr>
      </p:pic>
      <p:sp>
        <p:nvSpPr>
          <p:cNvPr id="4" name="Slide Number Placeholder 3"/>
          <p:cNvSpPr>
            <a:spLocks noGrp="1"/>
          </p:cNvSpPr>
          <p:nvPr>
            <p:ph type="sldNum" sz="quarter" idx="12"/>
          </p:nvPr>
        </p:nvSpPr>
        <p:spPr/>
        <p:txBody>
          <a:bodyPr/>
          <a:lstStyle/>
          <a:p>
            <a:fld id="{BDCDBBEF-AA6C-4BA6-85B2-A17D7F280E38}" type="slidenum">
              <a:rPr lang="en-US" smtClean="0"/>
              <a:pPr/>
              <a:t>16</a:t>
            </a:fld>
            <a:endParaRPr lang="en-US"/>
          </a:p>
        </p:txBody>
      </p:sp>
      <p:pic>
        <p:nvPicPr>
          <p:cNvPr id="2" name="Content Placeholder 4">
            <a:extLst>
              <a:ext uri="{FF2B5EF4-FFF2-40B4-BE49-F238E27FC236}">
                <a16:creationId xmlns:a16="http://schemas.microsoft.com/office/drawing/2014/main" id="{D59760DF-1942-AD7E-7329-CD8329B91BB9}"/>
              </a:ext>
            </a:extLst>
          </p:cNvPr>
          <p:cNvPicPr>
            <a:picLocks noChangeAspect="1"/>
          </p:cNvPicPr>
          <p:nvPr/>
        </p:nvPicPr>
        <p:blipFill rotWithShape="1">
          <a:blip r:embed="rId3"/>
          <a:srcRect t="17168" b="44895"/>
          <a:stretch/>
        </p:blipFill>
        <p:spPr>
          <a:xfrm>
            <a:off x="725713" y="2709632"/>
            <a:ext cx="10856686" cy="2362201"/>
          </a:xfrm>
          <a:prstGeom prst="rect">
            <a:avLst/>
          </a:prstGeom>
        </p:spPr>
      </p:pic>
      <p:pic>
        <p:nvPicPr>
          <p:cNvPr id="3" name="Content Placeholder 4">
            <a:extLst>
              <a:ext uri="{FF2B5EF4-FFF2-40B4-BE49-F238E27FC236}">
                <a16:creationId xmlns:a16="http://schemas.microsoft.com/office/drawing/2014/main" id="{D6AE87F7-A0A2-7246-630E-B09C625A0145}"/>
              </a:ext>
            </a:extLst>
          </p:cNvPr>
          <p:cNvPicPr>
            <a:picLocks noChangeAspect="1"/>
          </p:cNvPicPr>
          <p:nvPr/>
        </p:nvPicPr>
        <p:blipFill rotWithShape="1">
          <a:blip r:embed="rId4"/>
          <a:srcRect t="3956" b="68269"/>
          <a:stretch/>
        </p:blipFill>
        <p:spPr>
          <a:xfrm>
            <a:off x="914400" y="5071833"/>
            <a:ext cx="10551886" cy="1798320"/>
          </a:xfrm>
          <a:prstGeom prst="rect">
            <a:avLst/>
          </a:prstGeom>
        </p:spPr>
      </p:pic>
    </p:spTree>
    <p:extLst>
      <p:ext uri="{BB962C8B-B14F-4D97-AF65-F5344CB8AC3E}">
        <p14:creationId xmlns:p14="http://schemas.microsoft.com/office/powerpoint/2010/main" val="30463203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rotWithShape="1">
          <a:blip r:embed="rId2"/>
          <a:srcRect t="10452" b="58619"/>
          <a:stretch/>
        </p:blipFill>
        <p:spPr>
          <a:xfrm>
            <a:off x="796471" y="136525"/>
            <a:ext cx="10599057" cy="2576195"/>
          </a:xfrm>
          <a:prstGeom prst="rect">
            <a:avLst/>
          </a:prstGeom>
        </p:spPr>
      </p:pic>
      <p:sp>
        <p:nvSpPr>
          <p:cNvPr id="4" name="Slide Number Placeholder 3"/>
          <p:cNvSpPr>
            <a:spLocks noGrp="1"/>
          </p:cNvSpPr>
          <p:nvPr>
            <p:ph type="sldNum" sz="quarter" idx="12"/>
          </p:nvPr>
        </p:nvSpPr>
        <p:spPr/>
        <p:txBody>
          <a:bodyPr/>
          <a:lstStyle/>
          <a:p>
            <a:fld id="{BDCDBBEF-AA6C-4BA6-85B2-A17D7F280E38}" type="slidenum">
              <a:rPr lang="en-US" smtClean="0"/>
              <a:pPr/>
              <a:t>17</a:t>
            </a:fld>
            <a:endParaRPr lang="en-US"/>
          </a:p>
        </p:txBody>
      </p:sp>
      <p:pic>
        <p:nvPicPr>
          <p:cNvPr id="2" name="Content Placeholder 4">
            <a:extLst>
              <a:ext uri="{FF2B5EF4-FFF2-40B4-BE49-F238E27FC236}">
                <a16:creationId xmlns:a16="http://schemas.microsoft.com/office/drawing/2014/main" id="{0EE8193D-46D7-265A-23BB-3C89043E6C98}"/>
              </a:ext>
            </a:extLst>
          </p:cNvPr>
          <p:cNvPicPr>
            <a:picLocks noChangeAspect="1"/>
          </p:cNvPicPr>
          <p:nvPr/>
        </p:nvPicPr>
        <p:blipFill rotWithShape="1">
          <a:blip r:embed="rId3"/>
          <a:srcRect b="54876"/>
          <a:stretch/>
        </p:blipFill>
        <p:spPr>
          <a:xfrm>
            <a:off x="796471" y="2979057"/>
            <a:ext cx="10003970" cy="2873103"/>
          </a:xfrm>
          <a:prstGeom prst="rect">
            <a:avLst/>
          </a:prstGeom>
        </p:spPr>
      </p:pic>
    </p:spTree>
    <p:extLst>
      <p:ext uri="{BB962C8B-B14F-4D97-AF65-F5344CB8AC3E}">
        <p14:creationId xmlns:p14="http://schemas.microsoft.com/office/powerpoint/2010/main" val="205913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rotWithShape="1">
          <a:blip r:embed="rId2"/>
          <a:srcRect b="46168"/>
          <a:stretch/>
        </p:blipFill>
        <p:spPr>
          <a:xfrm>
            <a:off x="1128485" y="537754"/>
            <a:ext cx="10653485" cy="3211286"/>
          </a:xfrm>
          <a:prstGeom prst="rect">
            <a:avLst/>
          </a:prstGeom>
        </p:spPr>
      </p:pic>
      <p:sp>
        <p:nvSpPr>
          <p:cNvPr id="4" name="Slide Number Placeholder 3"/>
          <p:cNvSpPr>
            <a:spLocks noGrp="1"/>
          </p:cNvSpPr>
          <p:nvPr>
            <p:ph type="sldNum" sz="quarter" idx="12"/>
          </p:nvPr>
        </p:nvSpPr>
        <p:spPr/>
        <p:txBody>
          <a:bodyPr/>
          <a:lstStyle/>
          <a:p>
            <a:fld id="{BDCDBBEF-AA6C-4BA6-85B2-A17D7F280E38}" type="slidenum">
              <a:rPr lang="en-US" smtClean="0"/>
              <a:pPr/>
              <a:t>18</a:t>
            </a:fld>
            <a:endParaRPr lang="en-US"/>
          </a:p>
        </p:txBody>
      </p:sp>
      <p:sp>
        <p:nvSpPr>
          <p:cNvPr id="2" name="TextBox 1"/>
          <p:cNvSpPr txBox="1"/>
          <p:nvPr/>
        </p:nvSpPr>
        <p:spPr>
          <a:xfrm>
            <a:off x="6840583" y="696686"/>
            <a:ext cx="2394857" cy="830997"/>
          </a:xfrm>
          <a:prstGeom prst="rect">
            <a:avLst/>
          </a:prstGeom>
          <a:solidFill>
            <a:schemeClr val="bg1"/>
          </a:solidFill>
        </p:spPr>
        <p:txBody>
          <a:bodyPr wrap="square" rtlCol="0">
            <a:spAutoFit/>
          </a:bodyPr>
          <a:lstStyle/>
          <a:p>
            <a:r>
              <a:rPr lang="en-IN" sz="4800" dirty="0"/>
              <a:t>Bias</a:t>
            </a:r>
          </a:p>
        </p:txBody>
      </p:sp>
    </p:spTree>
    <p:extLst>
      <p:ext uri="{BB962C8B-B14F-4D97-AF65-F5344CB8AC3E}">
        <p14:creationId xmlns:p14="http://schemas.microsoft.com/office/powerpoint/2010/main" val="29984366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990600" y="1573394"/>
            <a:ext cx="10515600" cy="1325563"/>
          </a:xfrm>
          <a:ln>
            <a:solidFill>
              <a:schemeClr val="tx1"/>
            </a:solidFill>
          </a:ln>
        </p:spPr>
        <p:txBody>
          <a:bodyPr>
            <a:normAutofit fontScale="90000"/>
          </a:bodyPr>
          <a:lstStyle/>
          <a:p>
            <a:pPr algn="ctr"/>
            <a:r>
              <a:rPr lang="en-US" sz="3600" b="1" dirty="0">
                <a:latin typeface="Times New Roman" pitchFamily="18" charset="0"/>
                <a:cs typeface="Times New Roman" pitchFamily="18" charset="0"/>
              </a:rPr>
              <a:t>Dynamic Characteristics refers to the performance of instrument </a:t>
            </a:r>
            <a:r>
              <a:rPr lang="en-US" sz="3600" b="1" dirty="0">
                <a:highlight>
                  <a:srgbClr val="FFFF00"/>
                </a:highlight>
                <a:latin typeface="Times New Roman" pitchFamily="18" charset="0"/>
                <a:cs typeface="Times New Roman" pitchFamily="18" charset="0"/>
              </a:rPr>
              <a:t>when the input variable is changing rapidly with time. </a:t>
            </a:r>
            <a:endParaRPr lang="en-IN" sz="3600" b="1" dirty="0">
              <a:highlight>
                <a:srgbClr val="FFFF00"/>
              </a:highlight>
              <a:latin typeface="Times New Roman" pitchFamily="18" charset="0"/>
              <a:cs typeface="Times New Roman" pitchFamily="18" charset="0"/>
            </a:endParaRPr>
          </a:p>
        </p:txBody>
      </p:sp>
      <p:grpSp>
        <p:nvGrpSpPr>
          <p:cNvPr id="12" name="Group 11">
            <a:extLst>
              <a:ext uri="{FF2B5EF4-FFF2-40B4-BE49-F238E27FC236}">
                <a16:creationId xmlns:a16="http://schemas.microsoft.com/office/drawing/2014/main" id="{EBB9418A-EFB7-FE44-D4CF-0B6B7B6CCBF5}"/>
              </a:ext>
            </a:extLst>
          </p:cNvPr>
          <p:cNvGrpSpPr/>
          <p:nvPr/>
        </p:nvGrpSpPr>
        <p:grpSpPr>
          <a:xfrm>
            <a:off x="838200" y="3308531"/>
            <a:ext cx="10571872" cy="3306264"/>
            <a:chOff x="822959" y="1265737"/>
            <a:chExt cx="10530841" cy="3306264"/>
          </a:xfrm>
        </p:grpSpPr>
        <p:sp>
          <p:nvSpPr>
            <p:cNvPr id="2" name="Title 1">
              <a:extLst>
                <a:ext uri="{FF2B5EF4-FFF2-40B4-BE49-F238E27FC236}">
                  <a16:creationId xmlns:a16="http://schemas.microsoft.com/office/drawing/2014/main" id="{DD8C738A-1181-380D-69D3-27B8EF8E2596}"/>
                </a:ext>
              </a:extLst>
            </p:cNvPr>
            <p:cNvSpPr txBox="1">
              <a:spLocks/>
            </p:cNvSpPr>
            <p:nvPr/>
          </p:nvSpPr>
          <p:spPr>
            <a:xfrm>
              <a:off x="822959" y="1568769"/>
              <a:ext cx="10515600" cy="2115216"/>
            </a:xfrm>
            <a:prstGeom prst="rect">
              <a:avLst/>
            </a:prstGeom>
            <a:ln>
              <a:solidFill>
                <a:schemeClr val="tx1"/>
              </a:solidFill>
            </a:ln>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b="1" dirty="0">
                  <a:latin typeface="Times New Roman" pitchFamily="18" charset="0"/>
                  <a:cs typeface="Times New Roman" pitchFamily="18" charset="0"/>
                </a:rPr>
                <a:t>Dynamic Characteristics refer to the performance of the instrument when the input variable is changing rapidly with time</a:t>
              </a:r>
            </a:p>
            <a:p>
              <a:pPr algn="ctr"/>
              <a:endParaRPr lang="en-IN" sz="3600" b="1" dirty="0">
                <a:latin typeface="Times New Roman" pitchFamily="18" charset="0"/>
                <a:cs typeface="Times New Roman" pitchFamily="18" charset="0"/>
              </a:endParaRPr>
            </a:p>
          </p:txBody>
        </p:sp>
        <p:grpSp>
          <p:nvGrpSpPr>
            <p:cNvPr id="3" name="Group 2">
              <a:extLst>
                <a:ext uri="{FF2B5EF4-FFF2-40B4-BE49-F238E27FC236}">
                  <a16:creationId xmlns:a16="http://schemas.microsoft.com/office/drawing/2014/main" id="{EAF1EFD1-F146-3F0A-1544-D5918BAB0EC7}"/>
                </a:ext>
              </a:extLst>
            </p:cNvPr>
            <p:cNvGrpSpPr/>
            <p:nvPr/>
          </p:nvGrpSpPr>
          <p:grpSpPr>
            <a:xfrm>
              <a:off x="838200" y="1265737"/>
              <a:ext cx="10515600" cy="3306264"/>
              <a:chOff x="838200" y="1265737"/>
              <a:chExt cx="10515600" cy="3306264"/>
            </a:xfrm>
          </p:grpSpPr>
          <p:pic>
            <p:nvPicPr>
              <p:cNvPr id="6" name="Picture 2" descr="4)Dynamic error &#10;It is the difference between the true value of &#10;the quantity that is to be measured, changing &#10;with time...">
                <a:extLst>
                  <a:ext uri="{FF2B5EF4-FFF2-40B4-BE49-F238E27FC236}">
                    <a16:creationId xmlns:a16="http://schemas.microsoft.com/office/drawing/2014/main" id="{E35F5A2D-9F43-AE57-0011-513B2122F42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48472"/>
              <a:stretch/>
            </p:blipFill>
            <p:spPr bwMode="auto">
              <a:xfrm>
                <a:off x="838200" y="1265737"/>
                <a:ext cx="10515600" cy="3306264"/>
              </a:xfrm>
              <a:prstGeom prst="rect">
                <a:avLst/>
              </a:prstGeom>
              <a:noFill/>
              <a:extLst>
                <a:ext uri="{909E8E84-426E-40DD-AFC4-6F175D3DCCD1}">
                  <a14:hiddenFill xmlns:a14="http://schemas.microsoft.com/office/drawing/2010/main">
                    <a:solidFill>
                      <a:srgbClr val="FFFFFF"/>
                    </a:solidFill>
                  </a14:hiddenFill>
                </a:ext>
              </a:extLst>
            </p:spPr>
          </p:pic>
          <p:cxnSp>
            <p:nvCxnSpPr>
              <p:cNvPr id="8" name="Straight Arrow Connector 7">
                <a:extLst>
                  <a:ext uri="{FF2B5EF4-FFF2-40B4-BE49-F238E27FC236}">
                    <a16:creationId xmlns:a16="http://schemas.microsoft.com/office/drawing/2014/main" id="{45095D66-640D-A2DE-594F-F8FB33DFA76F}"/>
                  </a:ext>
                </a:extLst>
              </p:cNvPr>
              <p:cNvCxnSpPr/>
              <p:nvPr/>
            </p:nvCxnSpPr>
            <p:spPr>
              <a:xfrm>
                <a:off x="1247670" y="3046325"/>
                <a:ext cx="1045029" cy="0"/>
              </a:xfrm>
              <a:prstGeom prst="straightConnector1">
                <a:avLst/>
              </a:prstGeom>
              <a:ln w="76200">
                <a:tailEnd type="triangle"/>
              </a:ln>
            </p:spPr>
            <p:style>
              <a:lnRef idx="1">
                <a:schemeClr val="accent4"/>
              </a:lnRef>
              <a:fillRef idx="0">
                <a:schemeClr val="accent4"/>
              </a:fillRef>
              <a:effectRef idx="0">
                <a:schemeClr val="accent4"/>
              </a:effectRef>
              <a:fontRef idx="minor">
                <a:schemeClr val="tx1"/>
              </a:fontRef>
            </p:style>
          </p:cxnSp>
          <p:cxnSp>
            <p:nvCxnSpPr>
              <p:cNvPr id="9" name="Straight Arrow Connector 8">
                <a:extLst>
                  <a:ext uri="{FF2B5EF4-FFF2-40B4-BE49-F238E27FC236}">
                    <a16:creationId xmlns:a16="http://schemas.microsoft.com/office/drawing/2014/main" id="{C36A494B-EFC9-3F2D-6A93-C138F515B06D}"/>
                  </a:ext>
                </a:extLst>
              </p:cNvPr>
              <p:cNvCxnSpPr/>
              <p:nvPr/>
            </p:nvCxnSpPr>
            <p:spPr>
              <a:xfrm>
                <a:off x="1338106" y="3950677"/>
                <a:ext cx="1045029" cy="0"/>
              </a:xfrm>
              <a:prstGeom prst="straightConnector1">
                <a:avLst/>
              </a:prstGeom>
              <a:ln w="76200">
                <a:tailEnd type="triangle"/>
              </a:ln>
            </p:spPr>
            <p:style>
              <a:lnRef idx="1">
                <a:schemeClr val="accent4"/>
              </a:lnRef>
              <a:fillRef idx="0">
                <a:schemeClr val="accent4"/>
              </a:fillRef>
              <a:effectRef idx="0">
                <a:schemeClr val="accent4"/>
              </a:effectRef>
              <a:fontRef idx="minor">
                <a:schemeClr val="tx1"/>
              </a:fontRef>
            </p:style>
          </p:cxnSp>
          <p:cxnSp>
            <p:nvCxnSpPr>
              <p:cNvPr id="10" name="Straight Arrow Connector 9">
                <a:extLst>
                  <a:ext uri="{FF2B5EF4-FFF2-40B4-BE49-F238E27FC236}">
                    <a16:creationId xmlns:a16="http://schemas.microsoft.com/office/drawing/2014/main" id="{FE379580-32B4-E97A-92ED-8D99FAAE2E40}"/>
                  </a:ext>
                </a:extLst>
              </p:cNvPr>
              <p:cNvCxnSpPr/>
              <p:nvPr/>
            </p:nvCxnSpPr>
            <p:spPr>
              <a:xfrm>
                <a:off x="1247670" y="3470868"/>
                <a:ext cx="1045029" cy="0"/>
              </a:xfrm>
              <a:prstGeom prst="straightConnector1">
                <a:avLst/>
              </a:prstGeom>
              <a:ln w="76200">
                <a:tailEnd type="triangle"/>
              </a:ln>
            </p:spPr>
            <p:style>
              <a:lnRef idx="1">
                <a:schemeClr val="accent4"/>
              </a:lnRef>
              <a:fillRef idx="0">
                <a:schemeClr val="accent4"/>
              </a:fillRef>
              <a:effectRef idx="0">
                <a:schemeClr val="accent4"/>
              </a:effectRef>
              <a:fontRef idx="minor">
                <a:schemeClr val="tx1"/>
              </a:fontRef>
            </p:style>
          </p:cxnSp>
          <p:sp>
            <p:nvSpPr>
              <p:cNvPr id="11" name="TextBox 10">
                <a:extLst>
                  <a:ext uri="{FF2B5EF4-FFF2-40B4-BE49-F238E27FC236}">
                    <a16:creationId xmlns:a16="http://schemas.microsoft.com/office/drawing/2014/main" id="{A88976C8-2049-2D21-DD9C-C733F799D6D8}"/>
                  </a:ext>
                </a:extLst>
              </p:cNvPr>
              <p:cNvSpPr txBox="1"/>
              <p:nvPr/>
            </p:nvSpPr>
            <p:spPr>
              <a:xfrm flipH="1">
                <a:off x="3713367" y="3209258"/>
                <a:ext cx="1045028" cy="523220"/>
              </a:xfrm>
              <a:prstGeom prst="rect">
                <a:avLst/>
              </a:prstGeom>
              <a:noFill/>
            </p:spPr>
            <p:txBody>
              <a:bodyPr wrap="square" rtlCol="0">
                <a:spAutoFit/>
              </a:bodyPr>
              <a:lstStyle/>
              <a:p>
                <a:r>
                  <a:rPr lang="en-US" sz="2800" b="1" dirty="0"/>
                  <a:t>time</a:t>
                </a:r>
                <a:endParaRPr lang="en-IN" sz="2800" b="1" dirty="0"/>
              </a:p>
            </p:txBody>
          </p:sp>
        </p:grpSp>
      </p:grpSp>
      <p:sp>
        <p:nvSpPr>
          <p:cNvPr id="13" name="Title 1">
            <a:extLst>
              <a:ext uri="{FF2B5EF4-FFF2-40B4-BE49-F238E27FC236}">
                <a16:creationId xmlns:a16="http://schemas.microsoft.com/office/drawing/2014/main" id="{8B904BC2-1BB1-384A-C791-10BEA94D9023}"/>
              </a:ext>
            </a:extLst>
          </p:cNvPr>
          <p:cNvSpPr txBox="1">
            <a:spLocks/>
          </p:cNvSpPr>
          <p:nvPr/>
        </p:nvSpPr>
        <p:spPr>
          <a:xfrm>
            <a:off x="990600" y="171174"/>
            <a:ext cx="10515600" cy="1325563"/>
          </a:xfrm>
          <a:prstGeom prst="rect">
            <a:avLst/>
          </a:prstGeom>
          <a:ln>
            <a:solidFill>
              <a:schemeClr val="tx1"/>
            </a:solidFill>
          </a:ln>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b="1">
                <a:latin typeface="Times New Roman" pitchFamily="18" charset="0"/>
                <a:cs typeface="Times New Roman" pitchFamily="18" charset="0"/>
              </a:rPr>
              <a:t>Dynamic Characteristics</a:t>
            </a:r>
            <a:endParaRPr lang="en-IN" sz="3600" b="1" dirty="0">
              <a:latin typeface="Times New Roman" pitchFamily="18" charset="0"/>
              <a:cs typeface="Times New Roman" pitchFamily="18" charset="0"/>
            </a:endParaRPr>
          </a:p>
        </p:txBody>
      </p:sp>
    </p:spTree>
    <p:extLst>
      <p:ext uri="{BB962C8B-B14F-4D97-AF65-F5344CB8AC3E}">
        <p14:creationId xmlns:p14="http://schemas.microsoft.com/office/powerpoint/2010/main" val="40508203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DCDBBEF-AA6C-4BA6-85B2-A17D7F280E38}" type="slidenum">
              <a:rPr lang="en-US" smtClean="0"/>
              <a:pPr/>
              <a:t>20</a:t>
            </a:fld>
            <a:endParaRPr lang="en-US"/>
          </a:p>
        </p:txBody>
      </p:sp>
      <p:pic>
        <p:nvPicPr>
          <p:cNvPr id="21506" name="Picture 2" descr="Thank &#10;You…. &#10;"/>
          <p:cNvPicPr>
            <a:picLocks noChangeAspect="1" noChangeArrowheads="1"/>
          </p:cNvPicPr>
          <p:nvPr/>
        </p:nvPicPr>
        <p:blipFill rotWithShape="1">
          <a:blip r:embed="rId2">
            <a:extLst>
              <a:ext uri="{28A0092B-C50C-407E-A947-70E740481C1C}">
                <a14:useLocalDpi xmlns:a14="http://schemas.microsoft.com/office/drawing/2010/main" val="0"/>
              </a:ext>
            </a:extLst>
          </a:blip>
          <a:srcRect t="14562" b="47882"/>
          <a:stretch/>
        </p:blipFill>
        <p:spPr bwMode="auto">
          <a:xfrm>
            <a:off x="796080" y="670560"/>
            <a:ext cx="10889342" cy="2438401"/>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Characteristics of instruments">
            <a:extLst>
              <a:ext uri="{FF2B5EF4-FFF2-40B4-BE49-F238E27FC236}">
                <a16:creationId xmlns:a16="http://schemas.microsoft.com/office/drawing/2014/main" id="{8F7101C4-196B-CFB2-8886-1B02044BA6E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6918" b="49115"/>
          <a:stretch/>
        </p:blipFill>
        <p:spPr bwMode="auto">
          <a:xfrm>
            <a:off x="753958" y="3108961"/>
            <a:ext cx="10599842" cy="22555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58166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rotWithShape="1">
          <a:blip r:embed="rId2"/>
          <a:srcRect b="60226"/>
          <a:stretch/>
        </p:blipFill>
        <p:spPr>
          <a:xfrm>
            <a:off x="762000" y="136525"/>
            <a:ext cx="10667999" cy="2687319"/>
          </a:xfrm>
          <a:prstGeom prst="rect">
            <a:avLst/>
          </a:prstGeom>
        </p:spPr>
      </p:pic>
      <p:sp>
        <p:nvSpPr>
          <p:cNvPr id="4" name="Slide Number Placeholder 3"/>
          <p:cNvSpPr>
            <a:spLocks noGrp="1"/>
          </p:cNvSpPr>
          <p:nvPr>
            <p:ph type="sldNum" sz="quarter" idx="12"/>
          </p:nvPr>
        </p:nvSpPr>
        <p:spPr/>
        <p:txBody>
          <a:bodyPr/>
          <a:lstStyle/>
          <a:p>
            <a:fld id="{BDCDBBEF-AA6C-4BA6-85B2-A17D7F280E38}" type="slidenum">
              <a:rPr lang="en-US" smtClean="0"/>
              <a:pPr/>
              <a:t>21</a:t>
            </a:fld>
            <a:endParaRPr lang="en-US"/>
          </a:p>
        </p:txBody>
      </p:sp>
      <p:pic>
        <p:nvPicPr>
          <p:cNvPr id="2" name="Picture 2" descr="Characteristics of instruments">
            <a:extLst>
              <a:ext uri="{FF2B5EF4-FFF2-40B4-BE49-F238E27FC236}">
                <a16:creationId xmlns:a16="http://schemas.microsoft.com/office/drawing/2014/main" id="{DBE219D8-1924-6A1D-9080-6EF436C8B64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5063" b="47791"/>
          <a:stretch/>
        </p:blipFill>
        <p:spPr bwMode="auto">
          <a:xfrm>
            <a:off x="762000" y="3363277"/>
            <a:ext cx="11161486" cy="24536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45790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normAutofit/>
          </a:bodyPr>
          <a:lstStyle/>
          <a:p>
            <a:pPr algn="ctr"/>
            <a:r>
              <a:rPr lang="en-US" sz="3600" b="1" dirty="0">
                <a:latin typeface="Times New Roman" panose="02020603050405020304" pitchFamily="18" charset="0"/>
                <a:cs typeface="Times New Roman" panose="02020603050405020304" pitchFamily="18" charset="0"/>
              </a:rPr>
              <a:t>REFERENCES  </a:t>
            </a:r>
            <a:r>
              <a:rPr lang="en-US" sz="3600" dirty="0">
                <a:latin typeface="Casper Bold"/>
              </a:rPr>
              <a:t> </a:t>
            </a:r>
          </a:p>
        </p:txBody>
      </p:sp>
      <p:sp>
        <p:nvSpPr>
          <p:cNvPr id="3" name="Content Placeholder 2"/>
          <p:cNvSpPr>
            <a:spLocks noGrp="1"/>
          </p:cNvSpPr>
          <p:nvPr>
            <p:ph idx="1"/>
          </p:nvPr>
        </p:nvSpPr>
        <p:spPr/>
        <p:txBody>
          <a:bodyPr>
            <a:normAutofit fontScale="92500" lnSpcReduction="20000"/>
          </a:bodyPr>
          <a:lstStyle/>
          <a:p>
            <a:pPr lvl="0"/>
            <a:endParaRPr lang="en-IN" sz="1800" dirty="0">
              <a:latin typeface="Times New Roman" pitchFamily="18" charset="0"/>
              <a:cs typeface="Times New Roman" pitchFamily="18" charset="0"/>
            </a:endParaRPr>
          </a:p>
          <a:p>
            <a:pPr marL="265113" indent="-265113" algn="just">
              <a:buFont typeface="Courier New" panose="02070309020205020404" pitchFamily="49" charset="0"/>
              <a:buChar char="o"/>
              <a:defRPr/>
            </a:pPr>
            <a:r>
              <a:rPr lang="en-IN" sz="1800" dirty="0"/>
              <a:t>C. R. </a:t>
            </a:r>
            <a:r>
              <a:rPr lang="en-IN" sz="1800" dirty="0" err="1"/>
              <a:t>Balamurugan</a:t>
            </a:r>
            <a:r>
              <a:rPr lang="en-IN" sz="1800" dirty="0"/>
              <a:t> and D. </a:t>
            </a:r>
            <a:r>
              <a:rPr lang="en-IN" sz="1800" dirty="0" err="1"/>
              <a:t>Periazhaagar</a:t>
            </a:r>
            <a:r>
              <a:rPr lang="en-IN" sz="1800" dirty="0"/>
              <a:t> Basics of Biomedical Instrumentation. Magnus Publications, Chennai ISBN: 978-81-939626-7-1</a:t>
            </a:r>
          </a:p>
          <a:p>
            <a:pPr marL="265113" indent="-265113" algn="just">
              <a:buFont typeface="Courier New" panose="02070309020205020404" pitchFamily="49" charset="0"/>
              <a:buChar char="o"/>
              <a:defRPr/>
            </a:pPr>
            <a:r>
              <a:rPr lang="en-IN" sz="1800" dirty="0"/>
              <a:t>Gupta, P.K.. Cytology, Genetics and Molecular Biology, </a:t>
            </a:r>
            <a:r>
              <a:rPr lang="en-IN" sz="1800" dirty="0" err="1"/>
              <a:t>Rastogi</a:t>
            </a:r>
            <a:r>
              <a:rPr lang="en-IN" sz="1800" dirty="0"/>
              <a:t> Publishers, Meerut, 1993.</a:t>
            </a:r>
          </a:p>
          <a:p>
            <a:pPr marL="265113" indent="-265113" algn="just">
              <a:buFont typeface="Courier New" panose="02070309020205020404" pitchFamily="49" charset="0"/>
              <a:buChar char="o"/>
              <a:defRPr/>
            </a:pPr>
            <a:r>
              <a:rPr lang="en-IN" sz="1800" dirty="0" err="1"/>
              <a:t>Roit</a:t>
            </a:r>
            <a:r>
              <a:rPr lang="en-IN" sz="1800" dirty="0"/>
              <a:t> I.M., </a:t>
            </a:r>
            <a:r>
              <a:rPr lang="en-IN" sz="1800" dirty="0" err="1"/>
              <a:t>Brostoff</a:t>
            </a:r>
            <a:r>
              <a:rPr lang="en-IN" sz="1800" dirty="0"/>
              <a:t> J. and Male D. Mosby .Immunology (6 </a:t>
            </a:r>
            <a:r>
              <a:rPr lang="en-IN" sz="1800" dirty="0" err="1"/>
              <a:t>th</a:t>
            </a:r>
            <a:r>
              <a:rPr lang="en-IN" sz="1800" dirty="0"/>
              <a:t> Edition) by, An imprint of Elsevier </a:t>
            </a:r>
            <a:r>
              <a:rPr lang="en-IN" sz="1800" dirty="0" err="1"/>
              <a:t>Sci</a:t>
            </a:r>
            <a:r>
              <a:rPr lang="en-IN" sz="1800" dirty="0"/>
              <a:t> Ltd., 2002.</a:t>
            </a:r>
          </a:p>
          <a:p>
            <a:pPr marL="265113" indent="-265113" algn="just">
              <a:buFont typeface="Courier New" panose="02070309020205020404" pitchFamily="49" charset="0"/>
              <a:buChar char="o"/>
              <a:defRPr/>
            </a:pPr>
            <a:r>
              <a:rPr lang="en-IN" sz="1800" dirty="0"/>
              <a:t>G. Webster , Medical Instrumentation: Application And Design, 3rd edition ,Wiley Publishers</a:t>
            </a:r>
          </a:p>
          <a:p>
            <a:pPr marL="265113" indent="-265113" algn="just">
              <a:buFont typeface="Courier New" panose="02070309020205020404" pitchFamily="49" charset="0"/>
              <a:buChar char="o"/>
              <a:defRPr/>
            </a:pPr>
            <a:r>
              <a:rPr lang="en-IN" sz="1800" dirty="0"/>
              <a:t>D Reddy, Biomedical Signal Processing, Tata </a:t>
            </a:r>
            <a:r>
              <a:rPr lang="en-IN" sz="1800" dirty="0" err="1"/>
              <a:t>Mcgraw</a:t>
            </a:r>
            <a:r>
              <a:rPr lang="en-IN" sz="1800" dirty="0"/>
              <a:t> Hill Publications. </a:t>
            </a:r>
          </a:p>
          <a:p>
            <a:pPr marL="265113" indent="-265113" algn="just">
              <a:buFont typeface="Courier New" panose="02070309020205020404" pitchFamily="49" charset="0"/>
              <a:buChar char="o"/>
              <a:defRPr/>
            </a:pPr>
            <a:r>
              <a:rPr lang="en-IN" sz="1800" dirty="0"/>
              <a:t>Sergio </a:t>
            </a:r>
            <a:r>
              <a:rPr lang="en-IN" sz="1800" dirty="0" err="1"/>
              <a:t>Cerutti</a:t>
            </a:r>
            <a:r>
              <a:rPr lang="en-IN" sz="1800" dirty="0"/>
              <a:t> Advanced Methods of Biomedical Signal Processing, Oxford Publications. </a:t>
            </a:r>
          </a:p>
          <a:p>
            <a:pPr marL="265113" indent="-265113" algn="just">
              <a:buFont typeface="Courier New" panose="02070309020205020404" pitchFamily="49" charset="0"/>
              <a:buChar char="o"/>
              <a:defRPr/>
            </a:pPr>
            <a:r>
              <a:rPr lang="en-IN" sz="1800" dirty="0"/>
              <a:t>B. Jacobson, J.G. Webster, Medical and Clinical Engineering, Prentice Hall, International. </a:t>
            </a:r>
          </a:p>
          <a:p>
            <a:pPr marL="265113" indent="-265113" algn="just">
              <a:buFont typeface="Courier New" panose="02070309020205020404" pitchFamily="49" charset="0"/>
              <a:buChar char="o"/>
              <a:defRPr/>
            </a:pPr>
            <a:r>
              <a:rPr lang="en-IN" sz="1800" dirty="0"/>
              <a:t>Cromwell, Biomedical Instrumentation and Measurements, Prentice Hall, International. </a:t>
            </a:r>
          </a:p>
          <a:p>
            <a:pPr marL="265113" indent="-265113" algn="just">
              <a:buFont typeface="Courier New" panose="02070309020205020404" pitchFamily="49" charset="0"/>
              <a:buChar char="o"/>
              <a:defRPr/>
            </a:pPr>
            <a:r>
              <a:rPr lang="en-IN" sz="1800" dirty="0"/>
              <a:t>R.S. </a:t>
            </a:r>
            <a:r>
              <a:rPr lang="en-IN" sz="1800" dirty="0" err="1"/>
              <a:t>Khandupur</a:t>
            </a:r>
            <a:r>
              <a:rPr lang="en-IN" sz="1800" dirty="0"/>
              <a:t>, Handbook of Biomedical Instrumentation, - Tata McGraw Hill</a:t>
            </a:r>
          </a:p>
          <a:p>
            <a:pPr marL="265113" indent="-265113" algn="just">
              <a:buFont typeface="Courier New" panose="02070309020205020404" pitchFamily="49" charset="0"/>
              <a:buChar char="o"/>
              <a:defRPr/>
            </a:pPr>
            <a:r>
              <a:rPr lang="en-US" sz="1800" dirty="0"/>
              <a:t>Leslie Cromwell, Fred J. </a:t>
            </a:r>
            <a:r>
              <a:rPr lang="en-US" sz="1800" dirty="0" err="1"/>
              <a:t>Weibell</a:t>
            </a:r>
            <a:r>
              <a:rPr lang="en-US" sz="1800" dirty="0"/>
              <a:t>, Erich A. Pfeiffer, "Biomedical Instrumentation and Measurements", Pearson Education.</a:t>
            </a:r>
            <a:endParaRPr lang="en-IN" sz="1800" dirty="0"/>
          </a:p>
          <a:p>
            <a:pPr marL="265113" indent="-265113" algn="just">
              <a:buFont typeface="Courier New" panose="02070309020205020404" pitchFamily="49" charset="0"/>
              <a:buChar char="o"/>
              <a:defRPr/>
            </a:pPr>
            <a:r>
              <a:rPr lang="en-IN" sz="1800" dirty="0">
                <a:hlinkClick r:id="rId2"/>
              </a:rPr>
              <a:t>https://nptel.ac.in/courses/121/106/121106008/</a:t>
            </a:r>
            <a:r>
              <a:rPr lang="en-IN" sz="1800" dirty="0"/>
              <a:t> </a:t>
            </a:r>
          </a:p>
          <a:p>
            <a:pPr lvl="0" algn="just"/>
            <a:r>
              <a:rPr lang="en-US" sz="1800" dirty="0">
                <a:hlinkClick r:id="rId3"/>
              </a:rPr>
              <a:t>http://mediatoget.blogspot.in/2012/01/static-dynamic-characteristicsof.htm</a:t>
            </a:r>
            <a:endParaRPr lang="en-US" sz="1800" dirty="0"/>
          </a:p>
          <a:p>
            <a:pPr marL="0" lvl="0" indent="0">
              <a:buNone/>
            </a:pPr>
            <a:endParaRPr lang="en-IN" sz="1800" dirty="0">
              <a:latin typeface="Times New Roman" pitchFamily="18" charset="0"/>
              <a:cs typeface="Times New Roman" pitchFamily="18" charset="0"/>
            </a:endParaRPr>
          </a:p>
          <a:p>
            <a:pPr marL="0" indent="0">
              <a:buNone/>
            </a:pPr>
            <a:endParaRPr lang="en-IN" sz="18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solidFill>
                  <a:srgbClr val="FF0000"/>
                </a:solidFill>
              </a:rPr>
              <a:pPr/>
              <a:t>22</a:t>
            </a:fld>
            <a:r>
              <a:rPr lang="en-US" dirty="0">
                <a:solidFill>
                  <a:srgbClr val="FF0000"/>
                </a:solidFill>
              </a:rPr>
              <a:t>/10</a:t>
            </a:r>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619184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a:rPr>
              <a:t> </a:t>
            </a:r>
          </a:p>
        </p:txBody>
      </p:sp>
      <p:cxnSp>
        <p:nvCxnSpPr>
          <p:cNvPr id="18" name="Straight Connector 17">
            <a:extLst>
              <a:ext uri="{FF2B5EF4-FFF2-40B4-BE49-F238E27FC236}">
                <a16:creationId xmlns:a16="http://schemas.microsoft.com/office/drawing/2014/main" id="{8C6F3F28-25A8-4E20-83C7-12F88E7C28D0}"/>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E1879BF-80CB-413D-9BC1-C05963A116D7}"/>
              </a:ext>
            </a:extLst>
          </p:cNvPr>
          <p:cNvCxnSpPr>
            <a:cxnSpLocks/>
          </p:cNvCxnSpPr>
          <p:nvPr/>
        </p:nvCxnSpPr>
        <p:spPr>
          <a:xfrm>
            <a:off x="10169128"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D354CBC-26FA-4C5C-B91C-AD6F2AE53BC2}"/>
              </a:ext>
            </a:extLst>
          </p:cNvPr>
          <p:cNvCxnSpPr>
            <a:cxnSpLocks/>
          </p:cNvCxnSpPr>
          <p:nvPr/>
        </p:nvCxnSpPr>
        <p:spPr>
          <a:xfrm>
            <a:off x="733426" y="6294597"/>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6F6E02B-7F30-40ED-9667-2C98864546BE}"/>
              </a:ext>
            </a:extLst>
          </p:cNvPr>
          <p:cNvCxnSpPr>
            <a:cxnSpLocks/>
          </p:cNvCxnSpPr>
          <p:nvPr/>
        </p:nvCxnSpPr>
        <p:spPr>
          <a:xfrm>
            <a:off x="390526" y="5129689"/>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THANK YOU</a:t>
            </a:r>
          </a:p>
        </p:txBody>
      </p:sp>
      <p:sp>
        <p:nvSpPr>
          <p:cNvPr id="22" name="Diamond 6">
            <a:extLst>
              <a:ext uri="{FF2B5EF4-FFF2-40B4-BE49-F238E27FC236}">
                <a16:creationId xmlns:a16="http://schemas.microsoft.com/office/drawing/2014/main" id="{AFBA4B1A-59E0-42F9-8062-FE9B4E00A99F}"/>
              </a:ext>
            </a:extLst>
          </p:cNvPr>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grpSp>
        <p:nvGrpSpPr>
          <p:cNvPr id="29" name="Group 28"/>
          <p:cNvGrpSpPr/>
          <p:nvPr/>
        </p:nvGrpSpPr>
        <p:grpSpPr>
          <a:xfrm>
            <a:off x="237520" y="152400"/>
            <a:ext cx="410563" cy="1612900"/>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Object 32">
              <a:extLst>
                <a:ext uri="{FF2B5EF4-FFF2-40B4-BE49-F238E27FC236}">
                  <a16:creationId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4059142145"/>
                </p:ext>
              </p:extLst>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name="CorelDRAW" r:id="rId2" imgW="2169000" imgH="2169360" progId="">
                    <p:embed/>
                  </p:oleObj>
                </mc:Choice>
                <mc:Fallback>
                  <p:oleObj name="CorelDRAW" r:id="rId2" imgW="2169000" imgH="2169360" progId="">
                    <p:embed/>
                    <p:pic>
                      <p:nvPicPr>
                        <p:cNvPr id="0" name="Picture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extLst>
      <p:ext uri="{BB962C8B-B14F-4D97-AF65-F5344CB8AC3E}">
        <p14:creationId xmlns:p14="http://schemas.microsoft.com/office/powerpoint/2010/main" val="2656501266"/>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4040</TotalTime>
  <Words>992</Words>
  <Application>Microsoft Office PowerPoint</Application>
  <PresentationFormat>Widescreen</PresentationFormat>
  <Paragraphs>136</Paragraphs>
  <Slides>23</Slides>
  <Notes>3</Notes>
  <HiddenSlides>0</HiddenSlides>
  <MMClips>0</MMClips>
  <ScaleCrop>false</ScaleCrop>
  <HeadingPairs>
    <vt:vector size="8" baseType="variant">
      <vt:variant>
        <vt:lpstr>Fonts Used</vt:lpstr>
      </vt:variant>
      <vt:variant>
        <vt:i4>8</vt:i4>
      </vt:variant>
      <vt:variant>
        <vt:lpstr>Theme</vt:lpstr>
      </vt:variant>
      <vt:variant>
        <vt:i4>3</vt:i4>
      </vt:variant>
      <vt:variant>
        <vt:lpstr>Embedded OLE Servers</vt:lpstr>
      </vt:variant>
      <vt:variant>
        <vt:i4>1</vt:i4>
      </vt:variant>
      <vt:variant>
        <vt:lpstr>Slide Titles</vt:lpstr>
      </vt:variant>
      <vt:variant>
        <vt:i4>23</vt:i4>
      </vt:variant>
    </vt:vector>
  </HeadingPairs>
  <TitlesOfParts>
    <vt:vector size="35" baseType="lpstr">
      <vt:lpstr>Arial</vt:lpstr>
      <vt:lpstr>Calibri</vt:lpstr>
      <vt:lpstr>Calibri Light</vt:lpstr>
      <vt:lpstr>Casper</vt:lpstr>
      <vt:lpstr>Casper Bold</vt:lpstr>
      <vt:lpstr>Courier New</vt:lpstr>
      <vt:lpstr>Raleway ExtraBold</vt:lpstr>
      <vt:lpstr>Times New Roman</vt:lpstr>
      <vt:lpstr>1_Office Theme</vt:lpstr>
      <vt:lpstr>Contents Slide Master</vt:lpstr>
      <vt:lpstr>2_Office Theme</vt:lpstr>
      <vt:lpstr>CorelDRAW</vt:lpstr>
      <vt:lpstr>PowerPoint Presentation</vt:lpstr>
      <vt:lpstr>INTRODUCTION </vt:lpstr>
      <vt:lpstr>INTRODUCTION </vt:lpstr>
      <vt:lpstr>SYLLABUS   </vt:lpstr>
      <vt:lpstr>PowerPoint Presentation</vt:lpstr>
      <vt:lpstr>Specification of Instruments in context of medical instruments</vt:lpstr>
      <vt:lpstr>Different Errors in biomedical systems </vt:lpstr>
      <vt:lpstr>Systematic errors </vt:lpstr>
      <vt:lpstr>Random errors </vt:lpstr>
      <vt:lpstr>Gross Errors (Blunders) </vt:lpstr>
      <vt:lpstr>Basic Characteristics of Instruments</vt:lpstr>
      <vt:lpstr>Static Characteristics</vt:lpstr>
      <vt:lpstr>PowerPoint Presentation</vt:lpstr>
      <vt:lpstr>PowerPoint Presentation</vt:lpstr>
      <vt:lpstr>PowerPoint Presentation</vt:lpstr>
      <vt:lpstr>PowerPoint Presentation</vt:lpstr>
      <vt:lpstr>PowerPoint Presentation</vt:lpstr>
      <vt:lpstr>PowerPoint Presentation</vt:lpstr>
      <vt:lpstr>Dynamic Characteristics refers to the performance of instrument when the input variable is changing rapidly with time. </vt:lpstr>
      <vt:lpstr>PowerPoint Presentation</vt:lpstr>
      <vt:lpstr>PowerPoint Presentation</vt:lpstr>
      <vt:lpstr>REFERENCES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Branding</dc:creator>
  <cp:lastModifiedBy>matharu8832@gmail.com</cp:lastModifiedBy>
  <cp:revision>297</cp:revision>
  <dcterms:created xsi:type="dcterms:W3CDTF">2019-01-09T10:33:58Z</dcterms:created>
  <dcterms:modified xsi:type="dcterms:W3CDTF">2023-10-18T09:02:45Z</dcterms:modified>
</cp:coreProperties>
</file>