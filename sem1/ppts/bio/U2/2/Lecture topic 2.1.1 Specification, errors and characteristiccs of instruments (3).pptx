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 id="2147483702" r:id="rId3"/>
  </p:sldMasterIdLst>
  <p:notesMasterIdLst>
    <p:notesMasterId r:id="rId45"/>
  </p:notesMasterIdLst>
  <p:handoutMasterIdLst>
    <p:handoutMasterId r:id="rId46"/>
  </p:handoutMasterIdLst>
  <p:sldIdLst>
    <p:sldId id="277" r:id="rId4"/>
    <p:sldId id="303" r:id="rId5"/>
    <p:sldId id="265" r:id="rId6"/>
    <p:sldId id="311" r:id="rId7"/>
    <p:sldId id="371" r:id="rId8"/>
    <p:sldId id="370" r:id="rId9"/>
    <p:sldId id="352" r:id="rId10"/>
    <p:sldId id="351" r:id="rId11"/>
    <p:sldId id="353" r:id="rId12"/>
    <p:sldId id="354" r:id="rId13"/>
    <p:sldId id="355" r:id="rId14"/>
    <p:sldId id="356" r:id="rId15"/>
    <p:sldId id="318" r:id="rId16"/>
    <p:sldId id="335" r:id="rId17"/>
    <p:sldId id="336" r:id="rId18"/>
    <p:sldId id="337" r:id="rId19"/>
    <p:sldId id="341" r:id="rId20"/>
    <p:sldId id="342" r:id="rId21"/>
    <p:sldId id="358" r:id="rId22"/>
    <p:sldId id="372" r:id="rId23"/>
    <p:sldId id="343" r:id="rId24"/>
    <p:sldId id="359" r:id="rId25"/>
    <p:sldId id="360" r:id="rId26"/>
    <p:sldId id="361" r:id="rId27"/>
    <p:sldId id="362" r:id="rId28"/>
    <p:sldId id="363" r:id="rId29"/>
    <p:sldId id="364" r:id="rId30"/>
    <p:sldId id="365" r:id="rId31"/>
    <p:sldId id="366" r:id="rId32"/>
    <p:sldId id="367" r:id="rId33"/>
    <p:sldId id="373" r:id="rId34"/>
    <p:sldId id="345" r:id="rId35"/>
    <p:sldId id="369" r:id="rId36"/>
    <p:sldId id="346" r:id="rId37"/>
    <p:sldId id="347" r:id="rId38"/>
    <p:sldId id="348" r:id="rId39"/>
    <p:sldId id="349" r:id="rId40"/>
    <p:sldId id="368" r:id="rId41"/>
    <p:sldId id="350" r:id="rId42"/>
    <p:sldId id="284" r:id="rId43"/>
    <p:sldId id="27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148" autoAdjust="0"/>
    <p:restoredTop sz="88755" autoAdjust="0"/>
  </p:normalViewPr>
  <p:slideViewPr>
    <p:cSldViewPr snapToGrid="0">
      <p:cViewPr varScale="1">
        <p:scale>
          <a:sx n="66" d="100"/>
          <a:sy n="66" d="100"/>
        </p:scale>
        <p:origin x="1098"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viewProps" Target="viewProps.xml"/><Relationship Id="rId8"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1335643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2682591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581190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302621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1365365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33</a:t>
            </a:fld>
            <a:endParaRPr lang="en-US"/>
          </a:p>
        </p:txBody>
      </p:sp>
    </p:spTree>
    <p:extLst>
      <p:ext uri="{BB962C8B-B14F-4D97-AF65-F5344CB8AC3E}">
        <p14:creationId xmlns:p14="http://schemas.microsoft.com/office/powerpoint/2010/main" val="2901905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290767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06887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021578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04807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68012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62687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07466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11780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76270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909809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4178872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ru-RU" dirty="0">
              <a:solidFill>
                <a:prstClr val="white"/>
              </a:solidFill>
            </a:endParaRPr>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6228153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985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1.pn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43518190"/>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mediatoget.blogspot.in/2012/01/static-dynamic-characteristicsof.htm"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8478" name="CorelDRAW" r:id="rId3" imgW="2169000" imgH="2169360" progId="">
                  <p:embed/>
                </p:oleObj>
              </mc:Choice>
              <mc:Fallback>
                <p:oleObj name="CorelDRAW" r:id="rId3" imgW="2169000" imgH="2169360" progId="">
                  <p:embed/>
                  <p:pic>
                    <p:nvPicPr>
                      <p:cNvPr id="0" name="Picture 39"/>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12105" y="5893420"/>
            <a:ext cx="5928434"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dirty="0" smtClean="0">
                <a:solidFill>
                  <a:prstClr val="black">
                    <a:lumMod val="85000"/>
                    <a:lumOff val="15000"/>
                  </a:prstClr>
                </a:solidFill>
                <a:latin typeface="Times New Roman" panose="02020603050405020304" pitchFamily="18" charset="0"/>
                <a:cs typeface="Times New Roman" panose="02020603050405020304" pitchFamily="18" charset="0"/>
              </a:rPr>
              <a:t>    INTRODUCTION</a:t>
            </a:r>
          </a:p>
          <a:p>
            <a:pPr lvl="0" algn="ctr" defTabSz="622300">
              <a:lnSpc>
                <a:spcPct val="90000"/>
              </a:lnSpc>
              <a:spcBef>
                <a:spcPct val="0"/>
              </a:spcBef>
              <a:spcAft>
                <a:spcPct val="35000"/>
              </a:spcAft>
            </a:pPr>
            <a:r>
              <a:rPr lang="en-US" sz="2400" dirty="0" smtClean="0">
                <a:solidFill>
                  <a:prstClr val="black">
                    <a:lumMod val="85000"/>
                    <a:lumOff val="15000"/>
                  </a:prstClr>
                </a:solidFill>
                <a:latin typeface="Times New Roman" panose="02020603050405020304" pitchFamily="18" charset="0"/>
                <a:cs typeface="Times New Roman" panose="02020603050405020304" pitchFamily="18" charset="0"/>
              </a:rPr>
              <a:t>     Measurement system</a:t>
            </a:r>
            <a:endParaRPr lang="en-US" sz="2400"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
        <p:nvSpPr>
          <p:cNvPr id="26" name="TextBox 25"/>
          <p:cNvSpPr txBox="1">
            <a:spLocks noChangeArrowheads="1"/>
          </p:cNvSpPr>
          <p:nvPr/>
        </p:nvSpPr>
        <p:spPr bwMode="auto">
          <a:xfrm>
            <a:off x="1410789" y="1554480"/>
            <a:ext cx="9780386" cy="4262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I</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a:t>
            </a:r>
            <a:r>
              <a:rPr lang="en-US" sz="2800">
                <a:latin typeface="Times New Roman" panose="02020603050405020304" pitchFamily="18" charset="0"/>
                <a:ea typeface="Calibri" panose="020F0502020204030204" pitchFamily="34" charset="0"/>
                <a:cs typeface="Times New Roman" panose="02020603050405020304" pitchFamily="18" charset="0"/>
              </a:rPr>
              <a:t>Engineers </a:t>
            </a:r>
            <a:r>
              <a:rPr lang="en-US" sz="2800" smtClean="0">
                <a:latin typeface="Times New Roman" panose="02020603050405020304" pitchFamily="18" charset="0"/>
                <a:ea typeface="Calibri" panose="020F0502020204030204" pitchFamily="34" charset="0"/>
                <a:cs typeface="Times New Roman" panose="02020603050405020304" pitchFamily="18" charset="0"/>
              </a:rPr>
              <a:t>23SZ148</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8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BDCDBBEF-AA6C-4BA6-85B2-A17D7F280E38}" type="slidenum">
              <a:rPr lang="en-US" smtClean="0">
                <a:solidFill>
                  <a:prstClr val="black">
                    <a:tint val="75000"/>
                  </a:prstClr>
                </a:solidFill>
              </a:rPr>
              <a:pPr/>
              <a:t>2</a:t>
            </a:fld>
            <a:endParaRPr lang="en-US" dirty="0">
              <a:solidFill>
                <a:prstClr val="black">
                  <a:tint val="75000"/>
                </a:prstClr>
              </a:solidFill>
            </a:endParaRPr>
          </a:p>
        </p:txBody>
      </p:sp>
      <p:sp>
        <p:nvSpPr>
          <p:cNvPr id="5" name="TextBox 4"/>
          <p:cNvSpPr txBox="1"/>
          <p:nvPr/>
        </p:nvSpPr>
        <p:spPr>
          <a:xfrm>
            <a:off x="899651" y="1725561"/>
            <a:ext cx="2465740" cy="461665"/>
          </a:xfrm>
          <a:prstGeom prst="rect">
            <a:avLst/>
          </a:prstGeom>
          <a:noFill/>
        </p:spPr>
        <p:txBody>
          <a:bodyPr wrap="none" rtlCol="0">
            <a:spAutoFit/>
          </a:bodyPr>
          <a:lstStyle/>
          <a:p>
            <a:r>
              <a:rPr lang="en-IN" sz="2400" b="1" dirty="0">
                <a:solidFill>
                  <a:prstClr val="black"/>
                </a:solidFill>
                <a:latin typeface="Times New Roman" panose="02020603050405020304" pitchFamily="18" charset="0"/>
                <a:cs typeface="Times New Roman" panose="02020603050405020304" pitchFamily="18" charset="0"/>
              </a:rPr>
              <a:t>Course Objective</a:t>
            </a:r>
          </a:p>
        </p:txBody>
      </p:sp>
      <p:sp>
        <p:nvSpPr>
          <p:cNvPr id="11" name="TextBox 10"/>
          <p:cNvSpPr txBox="1"/>
          <p:nvPr/>
        </p:nvSpPr>
        <p:spPr>
          <a:xfrm>
            <a:off x="408340" y="2482533"/>
            <a:ext cx="5358280" cy="3416320"/>
          </a:xfrm>
          <a:prstGeom prst="rect">
            <a:avLst/>
          </a:prstGeom>
          <a:noFill/>
          <a:ln>
            <a:solidFill>
              <a:schemeClr val="tx1"/>
            </a:solidFill>
          </a:ln>
        </p:spPr>
        <p:txBody>
          <a:bodyPr wrap="square" rtlCol="0">
            <a:spAutoFit/>
          </a:bodyPr>
          <a:lstStyle/>
          <a:p>
            <a:pPr marL="342900" lvl="0" indent="-342900" hangingPunct="0">
              <a:buFont typeface="Arial" pitchFamily="34" charset="0"/>
              <a:buChar char="•"/>
            </a:pPr>
            <a:r>
              <a:rPr lang="en-US" sz="2400" dirty="0">
                <a:latin typeface="Times New Roman" pitchFamily="18" charset="0"/>
                <a:cs typeface="Times New Roman" pitchFamily="18" charset="0"/>
              </a:rPr>
              <a:t>This subject is designed to impart fundamental knowledge on basic of genetics and emerging fields of biology like biomedical recording system and medical instrumentation.</a:t>
            </a:r>
            <a:endParaRPr lang="en-IN" sz="2400" dirty="0">
              <a:latin typeface="Times New Roman" pitchFamily="18" charset="0"/>
              <a:cs typeface="Times New Roman" pitchFamily="18" charset="0"/>
            </a:endParaRPr>
          </a:p>
          <a:p>
            <a:pPr marL="342900" lvl="0" indent="-342900" hangingPunct="0">
              <a:buFont typeface="Arial" pitchFamily="34" charset="0"/>
              <a:buChar char="•"/>
            </a:pPr>
            <a:r>
              <a:rPr lang="en-US" sz="2400" dirty="0">
                <a:latin typeface="Times New Roman" pitchFamily="18" charset="0"/>
                <a:cs typeface="Times New Roman" pitchFamily="18" charset="0"/>
              </a:rPr>
              <a:t>It is designed to impart knowledge that how to apply basics of biology in engineering.</a:t>
            </a:r>
            <a:endParaRPr lang="en-IN" sz="2400" dirty="0">
              <a:latin typeface="Times New Roman" pitchFamily="18" charset="0"/>
              <a:cs typeface="Times New Roman" pitchFamily="18" charset="0"/>
            </a:endParaRPr>
          </a:p>
          <a:p>
            <a:pPr marL="285750" indent="-285750" algn="just">
              <a:buFont typeface="Arial" panose="020B0604020202020204" pitchFamily="34" charset="0"/>
              <a:buChar char="•"/>
            </a:pPr>
            <a:endParaRPr lang="en-IN" sz="2400" dirty="0">
              <a:solidFill>
                <a:prstClr val="black"/>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6064888" y="1575436"/>
            <a:ext cx="5489481" cy="4700555"/>
          </a:xfrm>
          <a:prstGeom prst="rect">
            <a:avLst/>
          </a:prstGeom>
          <a:noFill/>
          <a:ln>
            <a:solidFill>
              <a:schemeClr val="tx1"/>
            </a:solidFill>
          </a:ln>
        </p:spPr>
        <p:txBody>
          <a:bodyPr wrap="square" rtlCol="0">
            <a:spAutoFit/>
          </a:bodyPr>
          <a:lstStyle/>
          <a:p>
            <a:endParaRPr lang="en-IN" sz="1600" dirty="0">
              <a:solidFill>
                <a:prstClr val="black"/>
              </a:solidFill>
              <a:latin typeface="Times New Roman" pitchFamily="18" charset="0"/>
              <a:cs typeface="Times New Roman" pitchFamily="18" charset="0"/>
            </a:endParaRPr>
          </a:p>
        </p:txBody>
      </p:sp>
      <p:sp>
        <p:nvSpPr>
          <p:cNvPr id="10" name="Title 7"/>
          <p:cNvSpPr txBox="1">
            <a:spLocks noGrp="1" noChangeArrowheads="1"/>
          </p:cNvSpPr>
          <p:nvPr>
            <p:ph type="title"/>
          </p:nvPr>
        </p:nvSpPr>
        <p:spPr bwMode="auto">
          <a:xfrm>
            <a:off x="670611" y="326946"/>
            <a:ext cx="1051560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r>
              <a:rPr lang="en-US" sz="3600" b="1" dirty="0">
                <a:latin typeface="Times New Roman" pitchFamily="18" charset="0"/>
                <a:ea typeface="Karla" pitchFamily="2" charset="0"/>
                <a:cs typeface="Times New Roman" pitchFamily="18" charset="0"/>
              </a:rPr>
              <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pic>
        <p:nvPicPr>
          <p:cNvPr id="11266" name="Picture 2" descr="Bachelor's Degree in Bioengineering | UIC Barcelon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675" y="1595027"/>
            <a:ext cx="5117910" cy="356516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250675" y="5486628"/>
            <a:ext cx="5410896" cy="646331"/>
          </a:xfrm>
          <a:prstGeom prst="rect">
            <a:avLst/>
          </a:prstGeom>
        </p:spPr>
        <p:txBody>
          <a:bodyPr wrap="square">
            <a:spAutoFit/>
          </a:bodyPr>
          <a:lstStyle/>
          <a:p>
            <a:r>
              <a:rPr lang="en-IN" dirty="0">
                <a:latin typeface="Times New Roman" pitchFamily="18" charset="0"/>
                <a:cs typeface="Times New Roman" pitchFamily="18" charset="0"/>
              </a:rPr>
              <a:t>https://www.uic.es/sites/default/files/uic-grau-bioenginyeria-hero-header_1.jpg</a:t>
            </a:r>
          </a:p>
        </p:txBody>
      </p:sp>
    </p:spTree>
    <p:extLst>
      <p:ext uri="{BB962C8B-B14F-4D97-AF65-F5344CB8AC3E}">
        <p14:creationId xmlns:p14="http://schemas.microsoft.com/office/powerpoint/2010/main" val="276249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72398" y="1028700"/>
            <a:ext cx="4890901"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2" name="Rectangle 1"/>
          <p:cNvSpPr/>
          <p:nvPr/>
        </p:nvSpPr>
        <p:spPr>
          <a:xfrm>
            <a:off x="6313317" y="838199"/>
            <a:ext cx="4849982" cy="459644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294374223"/>
              </p:ext>
            </p:extLst>
          </p:nvPr>
        </p:nvGraphicFramePr>
        <p:xfrm>
          <a:off x="327795" y="2025158"/>
          <a:ext cx="5667488" cy="4441759"/>
        </p:xfrm>
        <a:graphic>
          <a:graphicData uri="http://schemas.openxmlformats.org/drawingml/2006/table">
            <a:tbl>
              <a:tblPr firstRow="1" firstCol="1" bandRow="1">
                <a:tableStyleId>{5940675A-B579-460E-94D1-54222C63F5DA}</a:tableStyleId>
              </a:tblPr>
              <a:tblGrid>
                <a:gridCol w="849939">
                  <a:extLst>
                    <a:ext uri="{9D8B030D-6E8A-4147-A177-3AD203B41FA5}">
                      <a16:colId xmlns="" xmlns:a16="http://schemas.microsoft.com/office/drawing/2014/main" val="20000"/>
                    </a:ext>
                  </a:extLst>
                </a:gridCol>
                <a:gridCol w="3670166">
                  <a:extLst>
                    <a:ext uri="{9D8B030D-6E8A-4147-A177-3AD203B41FA5}">
                      <a16:colId xmlns="" xmlns:a16="http://schemas.microsoft.com/office/drawing/2014/main" val="20001"/>
                    </a:ext>
                  </a:extLst>
                </a:gridCol>
                <a:gridCol w="1147383">
                  <a:extLst>
                    <a:ext uri="{9D8B030D-6E8A-4147-A177-3AD203B41FA5}">
                      <a16:colId xmlns="" xmlns:a16="http://schemas.microsoft.com/office/drawing/2014/main" val="20002"/>
                    </a:ext>
                  </a:extLst>
                </a:gridCol>
              </a:tblGrid>
              <a:tr h="593462">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CO Number</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Title </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Level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0"/>
                  </a:ext>
                </a:extLst>
              </a:tr>
              <a:tr h="574069">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CO1</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R="53975" algn="just">
                        <a:lnSpc>
                          <a:spcPct val="115000"/>
                        </a:lnSpc>
                        <a:spcAft>
                          <a:spcPts val="1000"/>
                        </a:spcAft>
                      </a:pPr>
                      <a:r>
                        <a:rPr lang="en-US" sz="1400" dirty="0">
                          <a:solidFill>
                            <a:srgbClr val="222222"/>
                          </a:solidFill>
                          <a:effectLst/>
                          <a:latin typeface="Times New Roman" pitchFamily="18" charset="0"/>
                          <a:ea typeface="Times New Roman"/>
                          <a:cs typeface="Times New Roman" pitchFamily="18" charset="0"/>
                        </a:rPr>
                        <a:t>Identify the biological concepts from an engineering perspective.</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knowledge</a:t>
                      </a:r>
                    </a:p>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 </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1"/>
                  </a:ext>
                </a:extLst>
              </a:tr>
              <a:tr h="508556">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CO2</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b="0" dirty="0">
                          <a:solidFill>
                            <a:schemeClr val="tx1"/>
                          </a:solidFill>
                          <a:effectLst/>
                          <a:latin typeface="Times New Roman" pitchFamily="18" charset="0"/>
                          <a:ea typeface="Times New Roman" panose="02020603050405020304" pitchFamily="18" charset="0"/>
                          <a:cs typeface="Times New Roman" pitchFamily="18" charset="0"/>
                        </a:rPr>
                        <a:t>Development of artificial systems mimicking human action.</a:t>
                      </a:r>
                    </a:p>
                  </a:txBody>
                  <a:tcPr marL="68580" marR="68580" marT="0" marB="0"/>
                </a:tc>
                <a:tc>
                  <a:txBody>
                    <a:bodyPr/>
                    <a:lstStyle/>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Understand </a:t>
                      </a:r>
                    </a:p>
                    <a:p>
                      <a:pPr marL="0" marR="0">
                        <a:lnSpc>
                          <a:spcPct val="115000"/>
                        </a:lnSpc>
                        <a:spcBef>
                          <a:spcPts val="0"/>
                        </a:spcBef>
                        <a:spcAft>
                          <a:spcPts val="0"/>
                        </a:spcAft>
                      </a:pPr>
                      <a:r>
                        <a:rPr lang="en-US" sz="1400" b="1" dirty="0">
                          <a:solidFill>
                            <a:srgbClr val="FF0000"/>
                          </a:solidFill>
                          <a:effectLst/>
                          <a:latin typeface="Times New Roman" pitchFamily="18" charset="0"/>
                          <a:cs typeface="Times New Roman" pitchFamily="18" charset="0"/>
                        </a:rPr>
                        <a:t> </a:t>
                      </a:r>
                      <a:endParaRPr lang="en-US" sz="1400" b="1" dirty="0">
                        <a:solidFill>
                          <a:srgbClr val="FF0000"/>
                        </a:solidFill>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2"/>
                  </a:ext>
                </a:extLst>
              </a:tr>
              <a:tr h="871941">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CO3</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algn="just" hangingPunct="0">
                        <a:lnSpc>
                          <a:spcPct val="93000"/>
                        </a:lnSpc>
                        <a:spcAft>
                          <a:spcPts val="1000"/>
                        </a:spcAft>
                      </a:pPr>
                      <a:r>
                        <a:rPr lang="en-US" sz="1400" dirty="0">
                          <a:solidFill>
                            <a:srgbClr val="222222"/>
                          </a:solidFill>
                          <a:effectLst/>
                          <a:latin typeface="Times New Roman" pitchFamily="18" charset="0"/>
                          <a:ea typeface="Times New Roman"/>
                          <a:cs typeface="Times New Roman" pitchFamily="18" charset="0"/>
                        </a:rPr>
                        <a:t>Explain the basic of genetics that helps to identify and formulate problems</a:t>
                      </a:r>
                      <a:endParaRPr lang="en-IN" sz="1400" dirty="0">
                        <a:effectLst/>
                        <a:latin typeface="Times New Roman" pitchFamily="18" charset="0"/>
                        <a:ea typeface="SimSun"/>
                        <a:cs typeface="Times New Roman" pitchFamily="18" charset="0"/>
                      </a:endParaRPr>
                    </a:p>
                    <a:p>
                      <a:pPr algn="just">
                        <a:lnSpc>
                          <a:spcPts val="1265"/>
                        </a:lnSpc>
                        <a:spcBef>
                          <a:spcPts val="1200"/>
                        </a:spcBef>
                        <a:spcAft>
                          <a:spcPts val="1000"/>
                        </a:spcAft>
                      </a:pPr>
                      <a:r>
                        <a:rPr lang="en-US" sz="1400" dirty="0">
                          <a:effectLst/>
                          <a:latin typeface="Times New Roman" pitchFamily="18" charset="0"/>
                          <a:ea typeface="SimSun"/>
                          <a:cs typeface="Times New Roman" pitchFamily="18" charset="0"/>
                        </a:rPr>
                        <a:t> </a:t>
                      </a:r>
                      <a:endParaRPr lang="en-IN" sz="1400" dirty="0">
                        <a:effectLst/>
                        <a:latin typeface="Times New Roman" pitchFamily="18" charset="0"/>
                        <a:ea typeface="SimSun"/>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1400" dirty="0">
                          <a:effectLst/>
                          <a:latin typeface="Times New Roman" pitchFamily="18" charset="0"/>
                          <a:ea typeface="+mn-ea"/>
                          <a:cs typeface="Times New Roman" pitchFamily="18" charset="0"/>
                        </a:rPr>
                        <a:t>Analyze</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3"/>
                  </a:ext>
                </a:extLst>
              </a:tr>
              <a:tr h="1403003">
                <a:tc>
                  <a:txBody>
                    <a:bodyPr/>
                    <a:lstStyle/>
                    <a:p>
                      <a:pPr marL="0" marR="0">
                        <a:lnSpc>
                          <a:spcPct val="115000"/>
                        </a:lnSpc>
                        <a:spcBef>
                          <a:spcPts val="0"/>
                        </a:spcBef>
                        <a:spcAft>
                          <a:spcPts val="0"/>
                        </a:spcAft>
                      </a:pPr>
                      <a:r>
                        <a:rPr lang="en-US" sz="1400">
                          <a:effectLst/>
                          <a:latin typeface="Times New Roman" pitchFamily="18" charset="0"/>
                          <a:cs typeface="Times New Roman" pitchFamily="18" charset="0"/>
                        </a:rPr>
                        <a:t>CO4</a:t>
                      </a:r>
                      <a:endParaRPr lang="en-US" sz="1400">
                        <a:effectLst/>
                        <a:latin typeface="Times New Roman" pitchFamily="18" charset="0"/>
                        <a:ea typeface="Times New Roman" panose="02020603050405020304" pitchFamily="18" charset="0"/>
                        <a:cs typeface="Times New Roman" pitchFamily="18" charset="0"/>
                      </a:endParaRPr>
                    </a:p>
                  </a:txBody>
                  <a:tcPr marL="68580" marR="68580"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kern="1200" dirty="0">
                          <a:solidFill>
                            <a:schemeClr val="tx1"/>
                          </a:solidFill>
                          <a:effectLst/>
                          <a:latin typeface="Times New Roman" pitchFamily="18" charset="0"/>
                          <a:ea typeface="+mn-ea"/>
                          <a:cs typeface="Times New Roman" pitchFamily="18" charset="0"/>
                        </a:rPr>
                        <a:t>Apply knowledge of measurement system, biomedical recording system and biosensors to excel in areas such as entrepreneurship, medicine, government, and education.</a:t>
                      </a:r>
                      <a:endParaRPr lang="en-IN" sz="1400" kern="1200" dirty="0">
                        <a:solidFill>
                          <a:schemeClr val="tx1"/>
                        </a:solidFill>
                        <a:effectLst/>
                        <a:latin typeface="Times New Roman" pitchFamily="18" charset="0"/>
                        <a:ea typeface="+mn-ea"/>
                        <a:cs typeface="Times New Roman" pitchFamily="18" charset="0"/>
                      </a:endParaRPr>
                    </a:p>
                    <a:p>
                      <a:pPr marL="0" marR="0" algn="l">
                        <a:lnSpc>
                          <a:spcPct val="115000"/>
                        </a:lnSpc>
                        <a:spcBef>
                          <a:spcPts val="0"/>
                        </a:spcBef>
                        <a:spcAft>
                          <a:spcPts val="1000"/>
                        </a:spcAft>
                      </a:pPr>
                      <a:endParaRPr lang="en-US" sz="1400" dirty="0">
                        <a:latin typeface="Times New Roman" pitchFamily="18" charset="0"/>
                        <a:ea typeface="Times New Roman"/>
                        <a:cs typeface="Times New Roman" pitchFamily="18" charset="0"/>
                      </a:endParaRP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cs typeface="Times New Roman" pitchFamily="18" charset="0"/>
                        </a:rPr>
                        <a:t>Apply</a:t>
                      </a:r>
                    </a:p>
                    <a:p>
                      <a:pPr marL="0" marR="0">
                        <a:lnSpc>
                          <a:spcPct val="115000"/>
                        </a:lnSpc>
                        <a:spcBef>
                          <a:spcPts val="0"/>
                        </a:spcBef>
                        <a:spcAft>
                          <a:spcPts val="0"/>
                        </a:spcAft>
                      </a:pPr>
                      <a:r>
                        <a:rPr lang="en-US" sz="1400" dirty="0">
                          <a:effectLst/>
                          <a:latin typeface="Times New Roman" pitchFamily="18" charset="0"/>
                          <a:cs typeface="Times New Roman" pitchFamily="18" charset="0"/>
                        </a:rPr>
                        <a:t> </a:t>
                      </a:r>
                      <a:endParaRPr lang="en-US" sz="1400" dirty="0">
                        <a:effectLst/>
                        <a:latin typeface="Times New Roman" pitchFamily="18" charset="0"/>
                        <a:ea typeface="Times New Roman" panose="02020603050405020304" pitchFamily="18" charset="0"/>
                        <a:cs typeface="Times New Roman" pitchFamily="18" charset="0"/>
                      </a:endParaRPr>
                    </a:p>
                  </a:txBody>
                  <a:tcPr marL="68580" marR="68580" marT="0" marB="0"/>
                </a:tc>
                <a:extLst>
                  <a:ext uri="{0D108BD9-81ED-4DB2-BD59-A6C34878D82A}">
                    <a16:rowId xmlns="" xmlns:a16="http://schemas.microsoft.com/office/drawing/2014/main" val="10004"/>
                  </a:ext>
                </a:extLst>
              </a:tr>
              <a:tr h="488222">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CO5</a:t>
                      </a:r>
                    </a:p>
                  </a:txBody>
                  <a:tcPr marL="68580" marR="68580" marT="0" marB="0"/>
                </a:tc>
                <a:tc>
                  <a:txBody>
                    <a:bodyPr/>
                    <a:lstStyle/>
                    <a:p>
                      <a:pPr marL="0" marR="0" algn="l">
                        <a:lnSpc>
                          <a:spcPct val="115000"/>
                        </a:lnSpc>
                        <a:spcBef>
                          <a:spcPts val="0"/>
                        </a:spcBef>
                        <a:spcAft>
                          <a:spcPts val="1000"/>
                        </a:spcAft>
                      </a:pPr>
                      <a:r>
                        <a:rPr lang="en-US" sz="1400" dirty="0">
                          <a:latin typeface="Times New Roman" pitchFamily="18" charset="0"/>
                          <a:ea typeface="Times New Roman"/>
                          <a:cs typeface="Times New Roman" pitchFamily="18" charset="0"/>
                        </a:rPr>
                        <a:t>Integrate biological principles for developing next generation technologies,</a:t>
                      </a:r>
                    </a:p>
                  </a:txBody>
                  <a:tcPr marL="114300" marR="114300" marT="0" marB="0"/>
                </a:tc>
                <a:tc>
                  <a:txBody>
                    <a:bodyPr/>
                    <a:lstStyle/>
                    <a:p>
                      <a:pPr marL="0" marR="0">
                        <a:lnSpc>
                          <a:spcPct val="115000"/>
                        </a:lnSpc>
                        <a:spcBef>
                          <a:spcPts val="0"/>
                        </a:spcBef>
                        <a:spcAft>
                          <a:spcPts val="0"/>
                        </a:spcAft>
                      </a:pPr>
                      <a:r>
                        <a:rPr lang="en-US" sz="1400" dirty="0">
                          <a:effectLst/>
                          <a:latin typeface="Times New Roman" pitchFamily="18" charset="0"/>
                          <a:ea typeface="Times New Roman" panose="02020603050405020304" pitchFamily="18" charset="0"/>
                          <a:cs typeface="Times New Roman" pitchFamily="18" charset="0"/>
                        </a:rPr>
                        <a:t>Create</a:t>
                      </a:r>
                    </a:p>
                  </a:txBody>
                  <a:tcPr marL="68580" marR="68580" marT="0" marB="0"/>
                </a:tc>
                <a:extLst>
                  <a:ext uri="{0D108BD9-81ED-4DB2-BD59-A6C34878D82A}">
                    <a16:rowId xmlns="" xmlns:a16="http://schemas.microsoft.com/office/drawing/2014/main" val="10005"/>
                  </a:ext>
                </a:extLst>
              </a:tr>
            </a:tbl>
          </a:graphicData>
        </a:graphic>
      </p:graphicFrame>
      <p:sp>
        <p:nvSpPr>
          <p:cNvPr id="11" name="Rectangle 10"/>
          <p:cNvSpPr/>
          <p:nvPr/>
        </p:nvSpPr>
        <p:spPr>
          <a:xfrm>
            <a:off x="711804" y="1232969"/>
            <a:ext cx="2475358" cy="461665"/>
          </a:xfrm>
          <a:prstGeom prst="rect">
            <a:avLst/>
          </a:prstGeom>
        </p:spPr>
        <p:txBody>
          <a:bodyPr wrap="none">
            <a:spAutoFit/>
          </a:bodyPr>
          <a:lstStyle/>
          <a:p>
            <a:r>
              <a:rPr lang="en-US" sz="2400" b="1" dirty="0">
                <a:latin typeface="Times New Roman" pitchFamily="18" charset="0"/>
                <a:cs typeface="Times New Roman" pitchFamily="18" charset="0"/>
              </a:rPr>
              <a:t>Course Outcome </a:t>
            </a:r>
          </a:p>
        </p:txBody>
      </p:sp>
      <p:cxnSp>
        <p:nvCxnSpPr>
          <p:cNvPr id="14" name="Straight Arrow Connector 13"/>
          <p:cNvCxnSpPr>
            <a:endCxn id="15" idx="1"/>
          </p:cNvCxnSpPr>
          <p:nvPr/>
        </p:nvCxnSpPr>
        <p:spPr>
          <a:xfrm>
            <a:off x="5701085" y="3371353"/>
            <a:ext cx="1927534" cy="135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p:cNvSpPr/>
          <p:nvPr/>
        </p:nvSpPr>
        <p:spPr>
          <a:xfrm>
            <a:off x="7628619" y="4252607"/>
            <a:ext cx="2689411" cy="94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Will be covered in this lecture</a:t>
            </a:r>
          </a:p>
        </p:txBody>
      </p:sp>
      <p:pic>
        <p:nvPicPr>
          <p:cNvPr id="10242" name="Picture 2" descr="Meet Five Synthetic Biology Companies Using AI To Engineer Biolog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1293" y="838199"/>
            <a:ext cx="4832006" cy="322133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313317" y="5481356"/>
            <a:ext cx="4946086" cy="923330"/>
          </a:xfrm>
          <a:prstGeom prst="rect">
            <a:avLst/>
          </a:prstGeom>
        </p:spPr>
        <p:txBody>
          <a:bodyPr wrap="square">
            <a:spAutoFit/>
          </a:bodyPr>
          <a:lstStyle/>
          <a:p>
            <a:r>
              <a:rPr lang="en-IN" dirty="0">
                <a:latin typeface="Times New Roman" pitchFamily="18" charset="0"/>
                <a:cs typeface="Times New Roman" pitchFamily="18" charset="0"/>
              </a:rPr>
              <a:t>https://specials-images.forbesimg.com/imageserve/1034901762/960x0.jpg?fit=scale</a:t>
            </a:r>
          </a:p>
        </p:txBody>
      </p:sp>
      <p:sp>
        <p:nvSpPr>
          <p:cNvPr id="16" name="Title 7"/>
          <p:cNvSpPr txBox="1">
            <a:spLocks noGrp="1" noChangeArrowheads="1"/>
          </p:cNvSpPr>
          <p:nvPr>
            <p:ph type="title"/>
          </p:nvPr>
        </p:nvSpPr>
        <p:spPr bwMode="auto">
          <a:xfrm>
            <a:off x="586854" y="470855"/>
            <a:ext cx="6018662"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r>
              <a:rPr lang="en-US" sz="3600" b="1" dirty="0">
                <a:solidFill>
                  <a:prstClr val="black">
                    <a:lumMod val="85000"/>
                    <a:lumOff val="15000"/>
                  </a:prstClr>
                </a:solidFill>
                <a:latin typeface="Times New Roman" pitchFamily="18" charset="0"/>
                <a:cs typeface="Times New Roman" pitchFamily="18" charset="0"/>
              </a:rPr>
              <a:t>INTRODUCTION</a:t>
            </a:r>
            <a:r>
              <a:rPr lang="en-US" sz="3600" b="1" dirty="0">
                <a:latin typeface="Times New Roman" pitchFamily="18" charset="0"/>
                <a:ea typeface="Karla" pitchFamily="2" charset="0"/>
                <a:cs typeface="Times New Roman" pitchFamily="18" charset="0"/>
              </a:rPr>
              <a:t/>
            </a:r>
            <a:br>
              <a:rPr lang="en-US" sz="3600" b="1" dirty="0">
                <a:latin typeface="Times New Roman" pitchFamily="18" charset="0"/>
                <a:ea typeface="Karla" pitchFamily="2" charset="0"/>
                <a:cs typeface="Times New Roman" pitchFamily="18" charset="0"/>
              </a:rPr>
            </a:br>
            <a:endParaRPr lang="en-US" sz="3600" dirty="0">
              <a:latin typeface="Times New Roman" pitchFamily="18" charset="0"/>
              <a:cs typeface="Times New Roman" pitchFamily="18" charset="0"/>
            </a:endParaRPr>
          </a:p>
        </p:txBody>
      </p:sp>
    </p:spTree>
    <p:extLst>
      <p:ext uri="{BB962C8B-B14F-4D97-AF65-F5344CB8AC3E}">
        <p14:creationId xmlns:p14="http://schemas.microsoft.com/office/powerpoint/2010/main" val="40180973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SYLLABUS </a:t>
            </a:r>
            <a:r>
              <a:rPr lang="en-US" sz="3600" b="1" dirty="0">
                <a:latin typeface="Casper Bold"/>
              </a:rPr>
              <a:t>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9">
            <a:extLst>
              <a:ext uri="{FF2B5EF4-FFF2-40B4-BE49-F238E27FC236}">
                <a16:creationId xmlns:a16="http://schemas.microsoft.com/office/drawing/2014/main" xmlns="" id="{133B9873-0D72-4F00-B232-68A50C2F664D}"/>
              </a:ext>
            </a:extLst>
          </p:cNvPr>
          <p:cNvGraphicFramePr>
            <a:graphicFrameLocks noGrp="1"/>
          </p:cNvGraphicFramePr>
          <p:nvPr>
            <p:ph idx="1"/>
          </p:nvPr>
        </p:nvGraphicFramePr>
        <p:xfrm>
          <a:off x="838200" y="1825625"/>
          <a:ext cx="10485247" cy="4680295"/>
        </p:xfrm>
        <a:graphic>
          <a:graphicData uri="http://schemas.openxmlformats.org/drawingml/2006/table">
            <a:tbl>
              <a:tblPr/>
              <a:tblGrid>
                <a:gridCol w="2018630">
                  <a:extLst>
                    <a:ext uri="{9D8B030D-6E8A-4147-A177-3AD203B41FA5}">
                      <a16:colId xmlns:a16="http://schemas.microsoft.com/office/drawing/2014/main" xmlns="" val="20000"/>
                    </a:ext>
                  </a:extLst>
                </a:gridCol>
                <a:gridCol w="6128994">
                  <a:extLst>
                    <a:ext uri="{9D8B030D-6E8A-4147-A177-3AD203B41FA5}">
                      <a16:colId xmlns:a16="http://schemas.microsoft.com/office/drawing/2014/main" xmlns="" val="20001"/>
                    </a:ext>
                  </a:extLst>
                </a:gridCol>
                <a:gridCol w="2337623">
                  <a:extLst>
                    <a:ext uri="{9D8B030D-6E8A-4147-A177-3AD203B41FA5}">
                      <a16:colId xmlns:a16="http://schemas.microsoft.com/office/drawing/2014/main" xmlns=""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val="3294493288"/>
      </p:ext>
    </p:extLst>
  </p:cSld>
  <p:clrMapOvr>
    <a:masterClrMapping/>
  </p:clrMapOvr>
  <mc:AlternateContent xmlns:mc="http://schemas.openxmlformats.org/markup-compatibility/2006" xmlns:p14="http://schemas.microsoft.com/office/powerpoint/2010/main">
    <mc:Choice Requires="p14">
      <p:transition spd="slow" p14:dur="2000" advTm="74866"/>
    </mc:Choice>
    <mc:Fallback xmlns="">
      <p:transition spd="slow" advTm="74866"/>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0514" y="160338"/>
            <a:ext cx="8494486" cy="4696506"/>
          </a:xfrm>
        </p:spPr>
        <p:txBody>
          <a:bodyPr>
            <a:normAutofit/>
          </a:bodyPr>
          <a:lstStyle/>
          <a:p>
            <a:pPr marL="0" indent="0">
              <a:buNone/>
            </a:pPr>
            <a:r>
              <a:rPr lang="en-IN" sz="4800" dirty="0" smtClean="0"/>
              <a:t>		Measurement system</a:t>
            </a:r>
            <a:endParaRPr lang="en-IN" sz="48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AutoShape 2" descr="Basic Measurement System - YouTube"/>
          <p:cNvSpPr>
            <a:spLocks noChangeAspect="1" noChangeArrowheads="1"/>
          </p:cNvSpPr>
          <p:nvPr/>
        </p:nvSpPr>
        <p:spPr bwMode="auto">
          <a:xfrm>
            <a:off x="214157" y="-85880"/>
            <a:ext cx="246217" cy="24621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Basic Measurement System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p:cNvPicPr>
            <a:picLocks noChangeAspect="1"/>
          </p:cNvPicPr>
          <p:nvPr/>
        </p:nvPicPr>
        <p:blipFill rotWithShape="1">
          <a:blip r:embed="rId3"/>
          <a:srcRect l="12407" r="13076"/>
          <a:stretch/>
        </p:blipFill>
        <p:spPr>
          <a:xfrm>
            <a:off x="1204685" y="1030514"/>
            <a:ext cx="9695544" cy="5508398"/>
          </a:xfrm>
          <a:prstGeom prst="rect">
            <a:avLst/>
          </a:prstGeom>
        </p:spPr>
      </p:pic>
    </p:spTree>
    <p:extLst>
      <p:ext uri="{BB962C8B-B14F-4D97-AF65-F5344CB8AC3E}">
        <p14:creationId xmlns:p14="http://schemas.microsoft.com/office/powerpoint/2010/main" val="15539337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057" y="0"/>
            <a:ext cx="10515600" cy="1325563"/>
          </a:xfrm>
        </p:spPr>
        <p:txBody>
          <a:bodyPr/>
          <a:lstStyle/>
          <a:p>
            <a:r>
              <a:rPr lang="en-IN" dirty="0" smtClean="0"/>
              <a:t>Types of inputs in measurement system</a:t>
            </a:r>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5" name="Picture 2" descr="Measurement Input Sources 1. Desired Inputs: Measurands that the instrument is designed to isolat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22514" y="1325563"/>
            <a:ext cx="10831286" cy="5532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7862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17171" y="103073"/>
            <a:ext cx="10515600" cy="1325563"/>
          </a:xfrm>
        </p:spPr>
        <p:txBody>
          <a:bodyPr/>
          <a:lstStyle/>
          <a:p>
            <a:r>
              <a:rPr lang="en-US" b="1" dirty="0">
                <a:latin typeface="Times New Roman" pitchFamily="18" charset="0"/>
                <a:cs typeface="Times New Roman" pitchFamily="18" charset="0"/>
              </a:rPr>
              <a:t>Specification o</a:t>
            </a:r>
            <a:r>
              <a:rPr lang="en-US" b="1" dirty="0" smtClean="0">
                <a:latin typeface="Times New Roman" pitchFamily="18" charset="0"/>
                <a:cs typeface="Times New Roman" pitchFamily="18" charset="0"/>
              </a:rPr>
              <a:t>f </a:t>
            </a:r>
            <a:r>
              <a:rPr lang="en-US" b="1" dirty="0">
                <a:latin typeface="Times New Roman" pitchFamily="18" charset="0"/>
                <a:cs typeface="Times New Roman" pitchFamily="18" charset="0"/>
              </a:rPr>
              <a:t>Instruments</a:t>
            </a:r>
            <a:endParaRPr lang="en-IN" dirty="0"/>
          </a:p>
        </p:txBody>
      </p:sp>
      <p:sp>
        <p:nvSpPr>
          <p:cNvPr id="3" name="Content Placeholder 2"/>
          <p:cNvSpPr>
            <a:spLocks noGrp="1"/>
          </p:cNvSpPr>
          <p:nvPr>
            <p:ph idx="1"/>
          </p:nvPr>
        </p:nvSpPr>
        <p:spPr>
          <a:xfrm>
            <a:off x="333827" y="1086754"/>
            <a:ext cx="11498944" cy="5771245"/>
          </a:xfrm>
        </p:spPr>
        <p:txBody>
          <a:bodyPr>
            <a:noAutofit/>
          </a:bodyPr>
          <a:lstStyle/>
          <a:p>
            <a:pPr marL="0" indent="0" algn="just" fontAlgn="base">
              <a:buNone/>
            </a:pPr>
            <a:endParaRPr lang="en-US" sz="3200" dirty="0" smtClean="0"/>
          </a:p>
          <a:p>
            <a:pPr marL="0" indent="0" algn="just" fontAlgn="base">
              <a:buNone/>
            </a:pPr>
            <a:r>
              <a:rPr lang="en-US" sz="3200" dirty="0" smtClean="0"/>
              <a:t>Instrument </a:t>
            </a:r>
            <a:r>
              <a:rPr lang="en-US" sz="3200" dirty="0"/>
              <a:t>performance is specified by range, resolution, accuracy, and </a:t>
            </a:r>
            <a:r>
              <a:rPr lang="en-US" sz="3200" dirty="0" smtClean="0"/>
              <a:t>precision.</a:t>
            </a:r>
            <a:endParaRPr lang="en-US" sz="3200" dirty="0"/>
          </a:p>
          <a:p>
            <a:pPr algn="just" fontAlgn="base"/>
            <a:r>
              <a:rPr lang="en-US" sz="3200" b="1" dirty="0" smtClean="0"/>
              <a:t>Range</a:t>
            </a:r>
            <a:r>
              <a:rPr lang="en-US" sz="3200" dirty="0"/>
              <a:t> is defined by the highest and lowest readings the instrument is expected to produce. </a:t>
            </a:r>
            <a:endParaRPr lang="en-US" sz="3200" b="1" dirty="0" smtClean="0"/>
          </a:p>
          <a:p>
            <a:pPr algn="just" fontAlgn="base"/>
            <a:endParaRPr lang="en-US" sz="3200" b="1" dirty="0" smtClean="0"/>
          </a:p>
          <a:p>
            <a:pPr algn="just" fontAlgn="base"/>
            <a:r>
              <a:rPr lang="en-US" sz="3200" b="1" dirty="0" smtClean="0"/>
              <a:t>Sensitivity</a:t>
            </a:r>
            <a:r>
              <a:rPr lang="en-US" sz="3200" dirty="0"/>
              <a:t> is the smallest change that can be sensed by a sensor. Sensitivity typically decreases as range increases. </a:t>
            </a:r>
            <a:endParaRPr lang="en-US" sz="3200" b="1" dirty="0" smtClean="0"/>
          </a:p>
          <a:p>
            <a:pPr algn="just" fontAlgn="base"/>
            <a:endParaRPr lang="en-US" sz="3200" b="1" dirty="0" smtClean="0"/>
          </a:p>
          <a:p>
            <a:pPr algn="just" fontAlgn="base"/>
            <a:r>
              <a:rPr lang="en-US" sz="3200" b="1" dirty="0" smtClean="0"/>
              <a:t>Resolution</a:t>
            </a:r>
            <a:r>
              <a:rPr lang="en-US" sz="3200" dirty="0"/>
              <a:t> is the smallest change that can be displayed on a readout device. Resolution typically decreases as range increases. </a:t>
            </a:r>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extLst>
      <p:ext uri="{BB962C8B-B14F-4D97-AF65-F5344CB8AC3E}">
        <p14:creationId xmlns:p14="http://schemas.microsoft.com/office/powerpoint/2010/main" val="6572460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9170" y="161018"/>
            <a:ext cx="11005457" cy="6560457"/>
          </a:xfrm>
        </p:spPr>
        <p:txBody>
          <a:bodyPr/>
          <a:lstStyle/>
          <a:p>
            <a:pPr fontAlgn="base"/>
            <a:endParaRPr lang="en-US" b="1" dirty="0" smtClean="0"/>
          </a:p>
          <a:p>
            <a:pPr fontAlgn="base"/>
            <a:endParaRPr lang="en-US" b="1" dirty="0"/>
          </a:p>
          <a:p>
            <a:pPr fontAlgn="base"/>
            <a:endParaRPr lang="en-US" b="1" dirty="0" smtClean="0"/>
          </a:p>
          <a:p>
            <a:pPr algn="just" fontAlgn="base"/>
            <a:r>
              <a:rPr lang="en-US" sz="3200" b="1" dirty="0" smtClean="0"/>
              <a:t>Repeatability</a:t>
            </a:r>
            <a:r>
              <a:rPr lang="en-US" sz="3200" dirty="0"/>
              <a:t> or </a:t>
            </a:r>
            <a:r>
              <a:rPr lang="en-US" sz="3200" b="1" dirty="0"/>
              <a:t>Precision</a:t>
            </a:r>
            <a:r>
              <a:rPr lang="en-US" sz="3200" dirty="0"/>
              <a:t> is the degree to which a reading deviates from the mean of a series of readings taken under identical conditions. </a:t>
            </a:r>
            <a:endParaRPr lang="en-US" sz="3200" b="1" dirty="0"/>
          </a:p>
          <a:p>
            <a:pPr algn="just" fontAlgn="base"/>
            <a:endParaRPr lang="en-US" sz="3200" b="1" dirty="0" smtClean="0"/>
          </a:p>
          <a:p>
            <a:pPr algn="just" fontAlgn="base"/>
            <a:r>
              <a:rPr lang="en-US" sz="3200" b="1" dirty="0" smtClean="0"/>
              <a:t>Accuracy</a:t>
            </a:r>
            <a:r>
              <a:rPr lang="en-US" sz="3200" dirty="0"/>
              <a:t> is the degree to which a reading deviates from an absolute value. </a:t>
            </a:r>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16790073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n w="0"/>
                <a:effectLst>
                  <a:outerShdw blurRad="38100" dist="25400" dir="5400000" algn="ctr" rotWithShape="0">
                    <a:srgbClr val="6E747A">
                      <a:alpha val="43000"/>
                    </a:srgbClr>
                  </a:outerShdw>
                </a:effectLst>
                <a:latin typeface="Arial" panose="020B0604020202020204" pitchFamily="34" charset="0"/>
              </a:rPr>
              <a:t>Classification of Errors</a:t>
            </a:r>
            <a:r>
              <a:rPr lang="en-IN" dirty="0">
                <a:ln w="0"/>
                <a:effectLst>
                  <a:outerShdw blurRad="38100" dist="25400" dir="5400000" algn="ctr" rotWithShape="0">
                    <a:srgbClr val="6E747A">
                      <a:alpha val="43000"/>
                    </a:srgbClr>
                  </a:outerShdw>
                </a:effectLst>
              </a:rPr>
              <a:t/>
            </a:r>
            <a:br>
              <a:rPr lang="en-IN" dirty="0">
                <a:ln w="0"/>
                <a:effectLst>
                  <a:outerShdw blurRad="38100" dist="25400" dir="5400000" algn="ctr" rotWithShape="0">
                    <a:srgbClr val="6E747A">
                      <a:alpha val="43000"/>
                    </a:srgbClr>
                  </a:outerShdw>
                </a:effectLst>
              </a:rPr>
            </a:br>
            <a:endParaRPr lang="en-IN" dirty="0"/>
          </a:p>
        </p:txBody>
      </p:sp>
      <p:sp>
        <p:nvSpPr>
          <p:cNvPr id="3" name="Content Placeholder 2"/>
          <p:cNvSpPr>
            <a:spLocks noGrp="1"/>
          </p:cNvSpPr>
          <p:nvPr>
            <p:ph idx="1"/>
          </p:nvPr>
        </p:nvSpPr>
        <p:spPr/>
        <p:txBody>
          <a:bodyPr>
            <a:normAutofit/>
          </a:bodyPr>
          <a:lstStyle/>
          <a:p>
            <a:pPr lvl="0"/>
            <a:r>
              <a:rPr lang="en-US" sz="4000" dirty="0"/>
              <a:t>Systematic errors</a:t>
            </a:r>
            <a:endParaRPr lang="en-IN" sz="4000" dirty="0"/>
          </a:p>
          <a:p>
            <a:pPr lvl="0"/>
            <a:r>
              <a:rPr lang="en-US" sz="4000" dirty="0"/>
              <a:t>Random errors</a:t>
            </a:r>
            <a:endParaRPr lang="en-IN" sz="4000" dirty="0"/>
          </a:p>
          <a:p>
            <a:pPr lvl="0"/>
            <a:r>
              <a:rPr lang="en-IN" sz="4000" dirty="0"/>
              <a:t>Gross errors</a:t>
            </a:r>
            <a:r>
              <a:rPr lang="en-US" sz="4000" dirty="0"/>
              <a:t> (Blunders)</a:t>
            </a:r>
            <a:endParaRPr lang="en-IN" sz="4000" dirty="0"/>
          </a:p>
          <a:p>
            <a:pPr marL="0" indent="0">
              <a:buNone/>
            </a:pPr>
            <a:endParaRPr lang="en-IN" sz="40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extLst>
      <p:ext uri="{BB962C8B-B14F-4D97-AF65-F5344CB8AC3E}">
        <p14:creationId xmlns:p14="http://schemas.microsoft.com/office/powerpoint/2010/main" val="757462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Systematic errors</a:t>
            </a:r>
            <a:r>
              <a:rPr lang="en-IN" dirty="0"/>
              <a:t/>
            </a:r>
            <a:br>
              <a:rPr lang="en-IN" dirty="0"/>
            </a:br>
            <a:endParaRPr lang="en-IN" dirty="0"/>
          </a:p>
        </p:txBody>
      </p:sp>
      <p:sp>
        <p:nvSpPr>
          <p:cNvPr id="3" name="Content Placeholder 2"/>
          <p:cNvSpPr>
            <a:spLocks noGrp="1"/>
          </p:cNvSpPr>
          <p:nvPr>
            <p:ph idx="1"/>
          </p:nvPr>
        </p:nvSpPr>
        <p:spPr>
          <a:xfrm>
            <a:off x="377371" y="1825625"/>
            <a:ext cx="11669485" cy="4351338"/>
          </a:xfrm>
        </p:spPr>
        <p:txBody>
          <a:bodyPr>
            <a:normAutofit/>
          </a:bodyPr>
          <a:lstStyle/>
          <a:p>
            <a:pPr lvl="0" algn="just"/>
            <a:r>
              <a:rPr lang="en-US" sz="3200" dirty="0">
                <a:solidFill>
                  <a:schemeClr val="accent5">
                    <a:lumMod val="50000"/>
                  </a:schemeClr>
                </a:solidFill>
              </a:rPr>
              <a:t>Errors caused by experiments procedure. </a:t>
            </a:r>
            <a:endParaRPr lang="en-IN" sz="3200" dirty="0">
              <a:solidFill>
                <a:schemeClr val="accent5">
                  <a:lumMod val="50000"/>
                </a:schemeClr>
              </a:solidFill>
            </a:endParaRPr>
          </a:p>
          <a:p>
            <a:pPr lvl="1" algn="just"/>
            <a:r>
              <a:rPr lang="en-US" sz="3200" dirty="0"/>
              <a:t>These are errors caused by the way in which the experiment was conducted.  In other words, they are caused by the design of the </a:t>
            </a:r>
            <a:r>
              <a:rPr lang="en-US" sz="3200" dirty="0" smtClean="0"/>
              <a:t>system.</a:t>
            </a:r>
          </a:p>
          <a:p>
            <a:pPr lvl="1" algn="just"/>
            <a:endParaRPr lang="en-US" sz="3200" dirty="0" smtClean="0">
              <a:solidFill>
                <a:schemeClr val="accent5">
                  <a:lumMod val="50000"/>
                </a:schemeClr>
              </a:solidFill>
            </a:endParaRPr>
          </a:p>
          <a:p>
            <a:pPr lvl="1" algn="just"/>
            <a:r>
              <a:rPr lang="en-US" sz="3200" dirty="0" smtClean="0">
                <a:solidFill>
                  <a:schemeClr val="accent5">
                    <a:lumMod val="50000"/>
                  </a:schemeClr>
                </a:solidFill>
              </a:rPr>
              <a:t>Poor </a:t>
            </a:r>
            <a:r>
              <a:rPr lang="en-US" sz="3200" dirty="0">
                <a:solidFill>
                  <a:schemeClr val="accent5">
                    <a:lumMod val="50000"/>
                  </a:schemeClr>
                </a:solidFill>
              </a:rPr>
              <a:t>procedure, or poor execution leads to more errors</a:t>
            </a:r>
            <a:r>
              <a:rPr lang="en-US" sz="3200" dirty="0" smtClean="0">
                <a:solidFill>
                  <a:srgbClr val="FFFF00"/>
                </a:solidFill>
              </a:rPr>
              <a:t>.</a:t>
            </a:r>
          </a:p>
          <a:p>
            <a:pPr marL="457200" lvl="1" indent="0">
              <a:buNone/>
            </a:pPr>
            <a:endParaRPr lang="en-US" sz="3200" dirty="0" smtClean="0"/>
          </a:p>
          <a:p>
            <a:pPr marL="457200" lvl="1" indent="0">
              <a:buNone/>
            </a:pPr>
            <a:r>
              <a:rPr lang="en-US" sz="3200" dirty="0" smtClean="0"/>
              <a:t>Systemic </a:t>
            </a:r>
            <a:r>
              <a:rPr lang="en-US" sz="3200" dirty="0"/>
              <a:t>error can be removed by replacing the instruments.</a:t>
            </a:r>
          </a:p>
          <a:p>
            <a:pPr marL="457200" lvl="1" indent="0">
              <a:buNone/>
            </a:pPr>
            <a:endParaRPr lang="en-IN" sz="3200" dirty="0"/>
          </a:p>
          <a:p>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extLst>
      <p:ext uri="{BB962C8B-B14F-4D97-AF65-F5344CB8AC3E}">
        <p14:creationId xmlns:p14="http://schemas.microsoft.com/office/powerpoint/2010/main" val="176090371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Random errors</a:t>
            </a:r>
            <a:r>
              <a:rPr lang="en-IN" dirty="0"/>
              <a:t/>
            </a:r>
            <a:br>
              <a:rPr lang="en-IN" dirty="0"/>
            </a:br>
            <a:endParaRPr lang="en-IN" dirty="0"/>
          </a:p>
        </p:txBody>
      </p:sp>
      <p:sp>
        <p:nvSpPr>
          <p:cNvPr id="3" name="Content Placeholder 2"/>
          <p:cNvSpPr>
            <a:spLocks noGrp="1"/>
          </p:cNvSpPr>
          <p:nvPr>
            <p:ph idx="1"/>
          </p:nvPr>
        </p:nvSpPr>
        <p:spPr>
          <a:xfrm>
            <a:off x="243114" y="1847850"/>
            <a:ext cx="10515600" cy="4351338"/>
          </a:xfrm>
        </p:spPr>
        <p:txBody>
          <a:bodyPr>
            <a:normAutofit lnSpcReduction="10000"/>
          </a:bodyPr>
          <a:lstStyle/>
          <a:p>
            <a:pPr marL="0" lvl="0" indent="0">
              <a:buNone/>
            </a:pPr>
            <a:r>
              <a:rPr lang="en-US" sz="4000" dirty="0">
                <a:solidFill>
                  <a:schemeClr val="accent5">
                    <a:lumMod val="50000"/>
                  </a:schemeClr>
                </a:solidFill>
              </a:rPr>
              <a:t>These errors are unpredictable.</a:t>
            </a:r>
            <a:endParaRPr lang="en-IN" sz="4000" dirty="0">
              <a:solidFill>
                <a:schemeClr val="accent5">
                  <a:lumMod val="50000"/>
                </a:schemeClr>
              </a:solidFill>
            </a:endParaRPr>
          </a:p>
          <a:p>
            <a:pPr marL="0" lvl="0" indent="0">
              <a:buNone/>
            </a:pPr>
            <a:endParaRPr lang="en-IN" b="1" dirty="0" smtClean="0"/>
          </a:p>
          <a:p>
            <a:pPr marL="0" lvl="0" indent="0">
              <a:buNone/>
            </a:pPr>
            <a:r>
              <a:rPr lang="en-IN" b="1" dirty="0" smtClean="0"/>
              <a:t>Observational</a:t>
            </a:r>
            <a:r>
              <a:rPr lang="en-IN" b="1" dirty="0"/>
              <a:t>:</a:t>
            </a:r>
          </a:p>
          <a:p>
            <a:pPr marL="0" lvl="0" indent="0">
              <a:buNone/>
            </a:pPr>
            <a:r>
              <a:rPr lang="en-US" sz="3200" dirty="0"/>
              <a:t>For example, errors in judgment of an observer when reading the scale of a measuring device to the smallest division.</a:t>
            </a:r>
            <a:endParaRPr lang="en-IN" sz="3200" dirty="0"/>
          </a:p>
          <a:p>
            <a:pPr marL="0" lvl="0" indent="0">
              <a:buNone/>
            </a:pPr>
            <a:endParaRPr lang="en-IN" b="1" dirty="0" smtClean="0"/>
          </a:p>
          <a:p>
            <a:pPr marL="0" lvl="0" indent="0">
              <a:buNone/>
            </a:pPr>
            <a:r>
              <a:rPr lang="en-IN" b="1" dirty="0" smtClean="0"/>
              <a:t>Environmental</a:t>
            </a:r>
            <a:r>
              <a:rPr lang="en-IN" b="1" dirty="0"/>
              <a:t>:</a:t>
            </a:r>
          </a:p>
          <a:p>
            <a:pPr marL="0" lvl="0" indent="0" algn="just">
              <a:buNone/>
            </a:pPr>
            <a:r>
              <a:rPr lang="en-US" sz="3200" dirty="0"/>
              <a:t>For example, unpredictable fluctuations in line voltage, temperature, or mechanical vibrations of equipment.</a:t>
            </a:r>
            <a:endParaRPr lang="en-IN" sz="3200" dirty="0"/>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5588930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IN" b="1" dirty="0"/>
              <a:t>Gross Errors (Blunders)</a:t>
            </a:r>
            <a:r>
              <a:rPr lang="en-IN" sz="3600" dirty="0"/>
              <a:t/>
            </a:r>
            <a:br>
              <a:rPr lang="en-IN" sz="3600" dirty="0"/>
            </a:br>
            <a:endParaRPr lang="en-IN" dirty="0"/>
          </a:p>
        </p:txBody>
      </p:sp>
      <p:sp>
        <p:nvSpPr>
          <p:cNvPr id="3" name="Content Placeholder 2"/>
          <p:cNvSpPr>
            <a:spLocks noGrp="1"/>
          </p:cNvSpPr>
          <p:nvPr>
            <p:ph idx="1"/>
          </p:nvPr>
        </p:nvSpPr>
        <p:spPr/>
        <p:txBody>
          <a:bodyPr/>
          <a:lstStyle/>
          <a:p>
            <a:pPr lvl="0" algn="just">
              <a:spcAft>
                <a:spcPts val="600"/>
              </a:spcAft>
            </a:pPr>
            <a:r>
              <a:rPr lang="en-US" sz="3200" dirty="0"/>
              <a:t>A final source of error, called a blunder or gross error, </a:t>
            </a:r>
            <a:r>
              <a:rPr lang="en-US" sz="3200" dirty="0">
                <a:solidFill>
                  <a:srgbClr val="1B3F5B"/>
                </a:solidFill>
              </a:rPr>
              <a:t>is an outright mistake. </a:t>
            </a:r>
            <a:endParaRPr lang="en-IN" sz="3200" dirty="0"/>
          </a:p>
          <a:p>
            <a:pPr lvl="0" algn="just">
              <a:spcAft>
                <a:spcPts val="600"/>
              </a:spcAft>
            </a:pPr>
            <a:r>
              <a:rPr lang="en-US" sz="3200" dirty="0">
                <a:solidFill>
                  <a:srgbClr val="1B3F5B"/>
                </a:solidFill>
              </a:rPr>
              <a:t>These errors </a:t>
            </a:r>
            <a:r>
              <a:rPr lang="en-US" sz="3200" dirty="0"/>
              <a:t>occur due to carelessness or lack of experience of a human</a:t>
            </a:r>
            <a:endParaRPr lang="en-IN" sz="3200" dirty="0">
              <a:solidFill>
                <a:srgbClr val="1B3F5B"/>
              </a:solidFill>
            </a:endParaRPr>
          </a:p>
          <a:p>
            <a:pPr lvl="1" algn="just">
              <a:spcAft>
                <a:spcPts val="600"/>
              </a:spcAft>
            </a:pPr>
            <a:r>
              <a:rPr lang="en-US" sz="3200" dirty="0"/>
              <a:t>A person may record a wrong value, misread a scale, forget a digit when reading a scale or recording a measurement, or make a similar blunder. </a:t>
            </a:r>
            <a:endParaRPr lang="en-US" sz="3200" dirty="0">
              <a:solidFill>
                <a:srgbClr val="FFFF00"/>
              </a:solidFill>
            </a:endParaRPr>
          </a:p>
          <a:p>
            <a:r>
              <a:rPr lang="en-US" sz="3200" b="1" dirty="0"/>
              <a:t>Gross error </a:t>
            </a:r>
            <a:r>
              <a:rPr lang="en-US" sz="3200" dirty="0"/>
              <a:t>is caused by careless handling.</a:t>
            </a:r>
          </a:p>
          <a:p>
            <a:endParaRPr lang="en-IN"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extLst>
      <p:ext uri="{BB962C8B-B14F-4D97-AF65-F5344CB8AC3E}">
        <p14:creationId xmlns:p14="http://schemas.microsoft.com/office/powerpoint/2010/main" val="20640835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Title 1"/>
          <p:cNvSpPr>
            <a:spLocks noGrp="1"/>
          </p:cNvSpPr>
          <p:nvPr>
            <p:ph type="title"/>
          </p:nvPr>
        </p:nvSpPr>
        <p:spPr>
          <a:xfrm>
            <a:off x="838200" y="161925"/>
            <a:ext cx="10515600" cy="1325563"/>
          </a:xfrm>
          <a:ln>
            <a:solidFill>
              <a:schemeClr val="tx1"/>
            </a:solidFill>
          </a:ln>
        </p:spPr>
        <p:txBody>
          <a:bodyPr>
            <a:normAutofit/>
          </a:bodyPr>
          <a:lstStyle/>
          <a:p>
            <a:pPr algn="ctr"/>
            <a:r>
              <a:rPr lang="en-US" sz="3600" b="1" dirty="0">
                <a:latin typeface="Times New Roman" pitchFamily="18" charset="0"/>
                <a:cs typeface="Times New Roman" pitchFamily="18" charset="0"/>
              </a:rPr>
              <a:t>Basic Characteristics of Instruments</a:t>
            </a:r>
            <a:endParaRPr lang="en-IN" sz="3600" b="1" dirty="0">
              <a:latin typeface="Times New Roman" pitchFamily="18" charset="0"/>
              <a:cs typeface="Times New Roman" pitchFamily="18" charset="0"/>
            </a:endParaRPr>
          </a:p>
        </p:txBody>
      </p:sp>
      <p:sp>
        <p:nvSpPr>
          <p:cNvPr id="2" name="Rectangle 1"/>
          <p:cNvSpPr/>
          <p:nvPr/>
        </p:nvSpPr>
        <p:spPr>
          <a:xfrm>
            <a:off x="914400" y="5278767"/>
            <a:ext cx="10416209" cy="646331"/>
          </a:xfrm>
          <a:prstGeom prst="rect">
            <a:avLst/>
          </a:prstGeom>
        </p:spPr>
        <p:txBody>
          <a:bodyPr wrap="square">
            <a:spAutoFit/>
          </a:bodyPr>
          <a:lstStyle/>
          <a:p>
            <a:pPr algn="ctr"/>
            <a:r>
              <a:rPr lang="en-IN" dirty="0">
                <a:latin typeface="Times New Roman" pitchFamily="18" charset="0"/>
                <a:cs typeface="Times New Roman" pitchFamily="18" charset="0"/>
              </a:rPr>
              <a:t>https://image.slidesharecdn.com/myppt2-140916110617-phpapp02/95/the-laws-of-mendel-9-638.jpg?cb=1410865730</a:t>
            </a:r>
          </a:p>
        </p:txBody>
      </p:sp>
      <p:pic>
        <p:nvPicPr>
          <p:cNvPr id="10242" name="Picture 2" descr="Classification of Instruments : - ppt video online download"/>
          <p:cNvPicPr>
            <a:picLocks noChangeAspect="1" noChangeArrowheads="1"/>
          </p:cNvPicPr>
          <p:nvPr/>
        </p:nvPicPr>
        <p:blipFill rotWithShape="1">
          <a:blip r:embed="rId3">
            <a:extLst>
              <a:ext uri="{28A0092B-C50C-407E-A947-70E740481C1C}">
                <a14:useLocalDpi xmlns:a14="http://schemas.microsoft.com/office/drawing/2010/main" val="0"/>
              </a:ext>
            </a:extLst>
          </a:blip>
          <a:srcRect l="4088" r="4088" b="20377"/>
          <a:stretch/>
        </p:blipFill>
        <p:spPr bwMode="auto">
          <a:xfrm>
            <a:off x="650618" y="1059543"/>
            <a:ext cx="10943771" cy="5965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3363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Title 1"/>
          <p:cNvSpPr>
            <a:spLocks noGrp="1"/>
          </p:cNvSpPr>
          <p:nvPr>
            <p:ph type="title"/>
          </p:nvPr>
        </p:nvSpPr>
        <p:spPr>
          <a:xfrm>
            <a:off x="692989" y="149499"/>
            <a:ext cx="10515600" cy="1325563"/>
          </a:xfrm>
          <a:ln>
            <a:solidFill>
              <a:schemeClr val="tx1"/>
            </a:solidFill>
          </a:ln>
        </p:spPr>
        <p:txBody>
          <a:bodyPr>
            <a:normAutofit/>
          </a:bodyPr>
          <a:lstStyle/>
          <a:p>
            <a:pPr algn="ctr"/>
            <a:r>
              <a:rPr lang="en-US" sz="3600" b="1" dirty="0">
                <a:latin typeface="Times New Roman" pitchFamily="18" charset="0"/>
                <a:cs typeface="Times New Roman" pitchFamily="18" charset="0"/>
              </a:rPr>
              <a:t>Static Characteristics</a:t>
            </a:r>
            <a:endParaRPr lang="en-IN" sz="3600" b="1" dirty="0">
              <a:latin typeface="Times New Roman" pitchFamily="18" charset="0"/>
              <a:cs typeface="Times New Roman" pitchFamily="18" charset="0"/>
            </a:endParaRPr>
          </a:p>
        </p:txBody>
      </p:sp>
      <p:sp>
        <p:nvSpPr>
          <p:cNvPr id="2" name="Rectangle 1"/>
          <p:cNvSpPr/>
          <p:nvPr/>
        </p:nvSpPr>
        <p:spPr>
          <a:xfrm>
            <a:off x="914400" y="5278767"/>
            <a:ext cx="10416209" cy="646331"/>
          </a:xfrm>
          <a:prstGeom prst="rect">
            <a:avLst/>
          </a:prstGeom>
        </p:spPr>
        <p:txBody>
          <a:bodyPr wrap="square">
            <a:spAutoFit/>
          </a:bodyPr>
          <a:lstStyle/>
          <a:p>
            <a:pPr algn="ctr"/>
            <a:r>
              <a:rPr lang="en-IN" dirty="0">
                <a:latin typeface="Times New Roman" pitchFamily="18" charset="0"/>
                <a:cs typeface="Times New Roman" pitchFamily="18" charset="0"/>
              </a:rPr>
              <a:t>https://image.slidesharecdn.com/myppt2-140916110617-phpapp02/95/the-laws-of-mendel-9-638.jpg?cb=1410865730</a:t>
            </a:r>
          </a:p>
        </p:txBody>
      </p:sp>
      <p:pic>
        <p:nvPicPr>
          <p:cNvPr id="11266" name="Picture 2" descr="1.Static Characteristics &#10; The static characteristics of an &#10;instrument are required to be &#10;considered for the instru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989" y="1475062"/>
            <a:ext cx="10515600" cy="5184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753768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Static Characteristics</a:t>
            </a:r>
            <a:endParaRPr lang="en-IN" sz="3600" b="1" dirty="0">
              <a:latin typeface="Times New Roman" pitchFamily="18" charset="0"/>
              <a:cs typeface="Times New Roman" pitchFamily="18" charset="0"/>
            </a:endParaRPr>
          </a:p>
        </p:txBody>
      </p:sp>
      <p:sp>
        <p:nvSpPr>
          <p:cNvPr id="2" name="Rectangle 1"/>
          <p:cNvSpPr/>
          <p:nvPr/>
        </p:nvSpPr>
        <p:spPr>
          <a:xfrm>
            <a:off x="887895" y="6311900"/>
            <a:ext cx="10416209" cy="646331"/>
          </a:xfrm>
          <a:prstGeom prst="rect">
            <a:avLst/>
          </a:prstGeom>
        </p:spPr>
        <p:txBody>
          <a:bodyPr wrap="square">
            <a:spAutoFit/>
          </a:bodyPr>
          <a:lstStyle/>
          <a:p>
            <a:pPr algn="ctr"/>
            <a:r>
              <a:rPr lang="en-IN" dirty="0">
                <a:latin typeface="Times New Roman" pitchFamily="18" charset="0"/>
                <a:cs typeface="Times New Roman" pitchFamily="18" charset="0"/>
              </a:rPr>
              <a:t>https://image.slidesharecdn.com/myppt2-140916110617-phpapp02/95/the-laws-of-mendel-9-638.jpg?cb=1410865730</a:t>
            </a:r>
          </a:p>
        </p:txBody>
      </p:sp>
      <p:pic>
        <p:nvPicPr>
          <p:cNvPr id="12290" name="Picture 2" descr="The main static characteristics &#10;are :- &#10;1. Accuracy &#10;2. Sensitivity &#10;3. Reproducibility &#10;4. Drift &#10;5. Static error &#10;6. De..."/>
          <p:cNvPicPr>
            <a:picLocks noChangeAspect="1" noChangeArrowheads="1"/>
          </p:cNvPicPr>
          <p:nvPr/>
        </p:nvPicPr>
        <p:blipFill rotWithShape="1">
          <a:blip r:embed="rId2">
            <a:extLst>
              <a:ext uri="{28A0092B-C50C-407E-A947-70E740481C1C}">
                <a14:useLocalDpi xmlns:a14="http://schemas.microsoft.com/office/drawing/2010/main" val="0"/>
              </a:ext>
            </a:extLst>
          </a:blip>
          <a:srcRect t="13477"/>
          <a:stretch/>
        </p:blipFill>
        <p:spPr bwMode="auto">
          <a:xfrm>
            <a:off x="838198" y="1777093"/>
            <a:ext cx="10515601" cy="518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3096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3314" name="Picture 2" descr="1. Accuracy &#10;It is the degree of closeness with which an &#10;instrument reading approaches the true value of &#10;the quantity b..."/>
          <p:cNvPicPr>
            <a:picLocks noChangeAspect="1" noChangeArrowheads="1"/>
          </p:cNvPicPr>
          <p:nvPr/>
        </p:nvPicPr>
        <p:blipFill rotWithShape="1">
          <a:blip r:embed="rId2">
            <a:extLst>
              <a:ext uri="{28A0092B-C50C-407E-A947-70E740481C1C}">
                <a14:useLocalDpi xmlns:a14="http://schemas.microsoft.com/office/drawing/2010/main" val="0"/>
              </a:ext>
            </a:extLst>
          </a:blip>
          <a:srcRect l="-863"/>
          <a:stretch/>
        </p:blipFill>
        <p:spPr bwMode="auto">
          <a:xfrm>
            <a:off x="753957" y="290286"/>
            <a:ext cx="10599843" cy="64311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953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ln>
            <a:solidFill>
              <a:schemeClr val="tx1"/>
            </a:solidFill>
          </a:ln>
        </p:spPr>
        <p:txBody>
          <a:bodyPr>
            <a:normAutofit/>
          </a:bodyPr>
          <a:lstStyle/>
          <a:p>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4338" name="Picture 2" descr="2.Sensitivity &#10; Sensitivity is the ratio of change in output of &#10;an instrument to the change in input. &#10; The manufactu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883"/>
            <a:ext cx="10599843" cy="6697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019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5362" name="Picture 2" descr="4.Drift &#10;The drift is defined as the gradual shift in the &#10;indication over a period of time where in the &#10;input variabl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829" y="537029"/>
            <a:ext cx="10261600" cy="6184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0119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70857" y="444499"/>
            <a:ext cx="10711543" cy="6276975"/>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8914948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40230" y="711201"/>
            <a:ext cx="11088914" cy="6010274"/>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extLst>
      <p:ext uri="{BB962C8B-B14F-4D97-AF65-F5344CB8AC3E}">
        <p14:creationId xmlns:p14="http://schemas.microsoft.com/office/powerpoint/2010/main" val="2864684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6386" name="Picture 2" descr="7.Precision &#10;It is a measure of the reproducibility of the &#10;measurement that is given a fixed value of &#10;variable. &#10;Prec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900" y="116114"/>
            <a:ext cx="10815986" cy="6605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0110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49446"/>
          <a:stretch/>
        </p:blipFill>
        <p:spPr>
          <a:xfrm>
            <a:off x="707572" y="290286"/>
            <a:ext cx="10773228" cy="5805713"/>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25760202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56341" y="261258"/>
            <a:ext cx="10740573" cy="6460217"/>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304632036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27314" y="348343"/>
            <a:ext cx="10856686" cy="6226628"/>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40533430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30514" y="246743"/>
            <a:ext cx="10551886" cy="6474731"/>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Tree>
    <p:extLst>
      <p:ext uri="{BB962C8B-B14F-4D97-AF65-F5344CB8AC3E}">
        <p14:creationId xmlns:p14="http://schemas.microsoft.com/office/powerpoint/2010/main" val="16705711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58619"/>
          <a:stretch/>
        </p:blipFill>
        <p:spPr>
          <a:xfrm>
            <a:off x="754743" y="225198"/>
            <a:ext cx="10599057" cy="5551488"/>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26</a:t>
            </a:fld>
            <a:endParaRPr lang="en-US"/>
          </a:p>
        </p:txBody>
      </p:sp>
    </p:spTree>
    <p:extLst>
      <p:ext uri="{BB962C8B-B14F-4D97-AF65-F5344CB8AC3E}">
        <p14:creationId xmlns:p14="http://schemas.microsoft.com/office/powerpoint/2010/main" val="205913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srcRect b="54876"/>
          <a:stretch/>
        </p:blipFill>
        <p:spPr>
          <a:xfrm>
            <a:off x="1349830" y="159657"/>
            <a:ext cx="10003970" cy="5965372"/>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27</a:t>
            </a:fld>
            <a:endParaRPr lang="en-US"/>
          </a:p>
        </p:txBody>
      </p:sp>
    </p:spTree>
    <p:extLst>
      <p:ext uri="{BB962C8B-B14F-4D97-AF65-F5344CB8AC3E}">
        <p14:creationId xmlns:p14="http://schemas.microsoft.com/office/powerpoint/2010/main" val="13503339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99885" y="522514"/>
            <a:ext cx="10653485" cy="5965372"/>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28</a:t>
            </a:fld>
            <a:endParaRPr lang="en-US"/>
          </a:p>
        </p:txBody>
      </p:sp>
      <p:sp>
        <p:nvSpPr>
          <p:cNvPr id="2" name="TextBox 1"/>
          <p:cNvSpPr txBox="1"/>
          <p:nvPr/>
        </p:nvSpPr>
        <p:spPr>
          <a:xfrm>
            <a:off x="6444343" y="696686"/>
            <a:ext cx="2394857" cy="830997"/>
          </a:xfrm>
          <a:prstGeom prst="rect">
            <a:avLst/>
          </a:prstGeom>
          <a:solidFill>
            <a:schemeClr val="bg1"/>
          </a:solidFill>
        </p:spPr>
        <p:txBody>
          <a:bodyPr wrap="square" rtlCol="0">
            <a:spAutoFit/>
          </a:bodyPr>
          <a:lstStyle/>
          <a:p>
            <a:r>
              <a:rPr lang="en-IN" sz="4800" dirty="0" smtClean="0"/>
              <a:t>Bias</a:t>
            </a:r>
            <a:endParaRPr lang="en-IN" sz="4800" dirty="0"/>
          </a:p>
        </p:txBody>
      </p:sp>
    </p:spTree>
    <p:extLst>
      <p:ext uri="{BB962C8B-B14F-4D97-AF65-F5344CB8AC3E}">
        <p14:creationId xmlns:p14="http://schemas.microsoft.com/office/powerpoint/2010/main" val="29984366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899886" y="522515"/>
            <a:ext cx="10453913" cy="6198960"/>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29</a:t>
            </a:fld>
            <a:endParaRPr lang="en-US"/>
          </a:p>
        </p:txBody>
      </p:sp>
    </p:spTree>
    <p:extLst>
      <p:ext uri="{BB962C8B-B14F-4D97-AF65-F5344CB8AC3E}">
        <p14:creationId xmlns:p14="http://schemas.microsoft.com/office/powerpoint/2010/main" val="37494376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77686" y="330767"/>
            <a:ext cx="10276114" cy="6390708"/>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30</a:t>
            </a:fld>
            <a:endParaRPr lang="en-US"/>
          </a:p>
        </p:txBody>
      </p:sp>
    </p:spTree>
    <p:extLst>
      <p:ext uri="{BB962C8B-B14F-4D97-AF65-F5344CB8AC3E}">
        <p14:creationId xmlns:p14="http://schemas.microsoft.com/office/powerpoint/2010/main" val="13067065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811563" y="1059543"/>
            <a:ext cx="8145237" cy="5296807"/>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31</a:t>
            </a:fld>
            <a:endParaRPr lang="en-US"/>
          </a:p>
        </p:txBody>
      </p:sp>
    </p:spTree>
    <p:extLst>
      <p:ext uri="{BB962C8B-B14F-4D97-AF65-F5344CB8AC3E}">
        <p14:creationId xmlns:p14="http://schemas.microsoft.com/office/powerpoint/2010/main" val="3671261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32</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8434" name="Picture 2" descr="1) Speed of Response &#10;It is defined as the rapidity with which an &#10;instrument, responds to the changes in the &#10;measured 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10515599" cy="4998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8203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Dynamic characteristics</a:t>
            </a:r>
            <a:endParaRPr lang="en-IN" b="1" dirty="0"/>
          </a:p>
        </p:txBody>
      </p:sp>
      <p:sp>
        <p:nvSpPr>
          <p:cNvPr id="3" name="Content Placeholder 2"/>
          <p:cNvSpPr>
            <a:spLocks noGrp="1"/>
          </p:cNvSpPr>
          <p:nvPr>
            <p:ph idx="1"/>
          </p:nvPr>
        </p:nvSpPr>
        <p:spPr/>
        <p:txBody>
          <a:bodyPr>
            <a:normAutofit/>
          </a:bodyPr>
          <a:lstStyle/>
          <a:p>
            <a:pPr lvl="0" algn="just">
              <a:spcAft>
                <a:spcPts val="600"/>
              </a:spcAft>
            </a:pPr>
            <a:r>
              <a:rPr lang="en-US" sz="3200" dirty="0"/>
              <a:t>Dynamic characteristics refer to the performance of the instrument when the input variable is changing rapidly with time. </a:t>
            </a:r>
            <a:endParaRPr lang="en-IN" sz="3200" dirty="0"/>
          </a:p>
          <a:p>
            <a:pPr lvl="1" algn="just">
              <a:spcAft>
                <a:spcPts val="600"/>
              </a:spcAft>
            </a:pPr>
            <a:r>
              <a:rPr lang="en-US" sz="3200" dirty="0"/>
              <a:t>For example, human eye cannot detect any event whose duration is less than one-tenth of a second; thus the dynamic performance of human eye cannot be said to be very satisfactory. </a:t>
            </a:r>
          </a:p>
          <a:p>
            <a:endParaRPr lang="en-IN" sz="32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33</a:t>
            </a:fld>
            <a:endParaRPr lang="en-US"/>
          </a:p>
        </p:txBody>
      </p:sp>
    </p:spTree>
    <p:extLst>
      <p:ext uri="{BB962C8B-B14F-4D97-AF65-F5344CB8AC3E}">
        <p14:creationId xmlns:p14="http://schemas.microsoft.com/office/powerpoint/2010/main" val="734341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34</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19458" name="Picture 2" descr="2) Fidelity &#10;It is defined as the degree to which a &#10;measurement system is capable of faithfully &#10;reproducing the chan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705202"/>
            <a:ext cx="10515599"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84315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35</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20482" name="Picture 2" descr="4)Dynamic error &#10;It is the difference between the true value of &#10;the quantity that is to be measured, changing &#10;with ti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50496"/>
            <a:ext cx="10515600" cy="6416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552485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36</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21506" name="Picture 2" descr="Thank &#10;You….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365124"/>
            <a:ext cx="10889342" cy="6492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81668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37</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22530" name="Picture 2" descr="Characteristics of instru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17714"/>
            <a:ext cx="10599842" cy="6640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9924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98287" y="101601"/>
            <a:ext cx="10667999" cy="6756400"/>
          </a:xfrm>
          <a:prstGeom prst="rect">
            <a:avLst/>
          </a:prstGeom>
        </p:spPr>
      </p:pic>
      <p:sp>
        <p:nvSpPr>
          <p:cNvPr id="4" name="Slide Number Placeholder 3"/>
          <p:cNvSpPr>
            <a:spLocks noGrp="1"/>
          </p:cNvSpPr>
          <p:nvPr>
            <p:ph type="sldNum" sz="quarter" idx="12"/>
          </p:nvPr>
        </p:nvSpPr>
        <p:spPr/>
        <p:txBody>
          <a:bodyPr/>
          <a:lstStyle/>
          <a:p>
            <a:fld id="{BDCDBBEF-AA6C-4BA6-85B2-A17D7F280E38}" type="slidenum">
              <a:rPr lang="en-US" smtClean="0"/>
              <a:pPr/>
              <a:t>38</a:t>
            </a:fld>
            <a:endParaRPr lang="en-US"/>
          </a:p>
        </p:txBody>
      </p:sp>
    </p:spTree>
    <p:extLst>
      <p:ext uri="{BB962C8B-B14F-4D97-AF65-F5344CB8AC3E}">
        <p14:creationId xmlns:p14="http://schemas.microsoft.com/office/powerpoint/2010/main" val="16245790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DCDBBEF-AA6C-4BA6-85B2-A17D7F280E38}" type="slidenum">
              <a:rPr lang="en-US" smtClean="0"/>
              <a:pPr/>
              <a:t>39</a:t>
            </a:fld>
            <a:endParaRPr lang="en-US"/>
          </a:p>
        </p:txBody>
      </p:sp>
      <p:sp>
        <p:nvSpPr>
          <p:cNvPr id="5" name="Title 1"/>
          <p:cNvSpPr>
            <a:spLocks noGrp="1"/>
          </p:cNvSpPr>
          <p:nvPr>
            <p:ph type="title"/>
          </p:nvPr>
        </p:nvSpPr>
        <p:spPr>
          <a:ln>
            <a:solidFill>
              <a:schemeClr val="tx1"/>
            </a:solidFill>
          </a:ln>
        </p:spPr>
        <p:txBody>
          <a:bodyPr>
            <a:normAutofit/>
          </a:bodyPr>
          <a:lstStyle/>
          <a:p>
            <a:pPr algn="ctr"/>
            <a:r>
              <a:rPr lang="en-US" sz="3600" b="1" dirty="0">
                <a:latin typeface="Times New Roman" pitchFamily="18" charset="0"/>
                <a:cs typeface="Times New Roman" pitchFamily="18" charset="0"/>
              </a:rPr>
              <a:t>Dynamic Characteristics</a:t>
            </a:r>
            <a:endParaRPr lang="en-IN" sz="3600" b="1" dirty="0">
              <a:latin typeface="Times New Roman" pitchFamily="18" charset="0"/>
              <a:cs typeface="Times New Roman" pitchFamily="18" charset="0"/>
            </a:endParaRPr>
          </a:p>
        </p:txBody>
      </p:sp>
      <p:sp>
        <p:nvSpPr>
          <p:cNvPr id="7" name="Rectangle 6"/>
          <p:cNvSpPr/>
          <p:nvPr/>
        </p:nvSpPr>
        <p:spPr>
          <a:xfrm>
            <a:off x="1027007" y="5674766"/>
            <a:ext cx="10411036" cy="369332"/>
          </a:xfrm>
          <a:prstGeom prst="rect">
            <a:avLst/>
          </a:prstGeom>
        </p:spPr>
        <p:txBody>
          <a:bodyPr wrap="square">
            <a:spAutoFit/>
          </a:bodyPr>
          <a:lstStyle/>
          <a:p>
            <a:r>
              <a:rPr lang="en-IN" dirty="0">
                <a:latin typeface="Times New Roman" pitchFamily="18" charset="0"/>
                <a:cs typeface="Times New Roman" pitchFamily="18" charset="0"/>
              </a:rPr>
              <a:t>https://www.thesciencenotes.com/wp-content/uploads/2020/11/333.gif</a:t>
            </a:r>
          </a:p>
        </p:txBody>
      </p:sp>
      <p:pic>
        <p:nvPicPr>
          <p:cNvPr id="23554" name="Picture 2" descr="Characteristics of instrume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714" y="87086"/>
            <a:ext cx="11161486" cy="66053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30775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sz="3600" b="1" dirty="0">
                <a:latin typeface="Times New Roman" panose="02020603050405020304" pitchFamily="18" charset="0"/>
                <a:cs typeface="Times New Roman" panose="02020603050405020304" pitchFamily="18" charset="0"/>
              </a:rPr>
              <a:t>REFERENCES  </a:t>
            </a:r>
            <a:r>
              <a:rPr lang="en-US" sz="3600" dirty="0">
                <a:latin typeface="Casper Bold"/>
              </a:rPr>
              <a:t> </a:t>
            </a:r>
          </a:p>
        </p:txBody>
      </p:sp>
      <p:sp>
        <p:nvSpPr>
          <p:cNvPr id="3" name="Content Placeholder 2"/>
          <p:cNvSpPr>
            <a:spLocks noGrp="1"/>
          </p:cNvSpPr>
          <p:nvPr>
            <p:ph idx="1"/>
          </p:nvPr>
        </p:nvSpPr>
        <p:spPr/>
        <p:txBody>
          <a:bodyPr>
            <a:normAutofit fontScale="92500" lnSpcReduction="20000"/>
          </a:bodyPr>
          <a:lstStyle/>
          <a:p>
            <a:pPr lvl="0"/>
            <a:endParaRPr lang="en-IN" sz="1800" dirty="0">
              <a:latin typeface="Times New Roman" pitchFamily="18" charset="0"/>
              <a:cs typeface="Times New Roman" pitchFamily="18" charset="0"/>
            </a:endParaRPr>
          </a:p>
          <a:p>
            <a:pPr marL="265113" indent="-265113" algn="just">
              <a:buFont typeface="Courier New" panose="02070309020205020404" pitchFamily="49" charset="0"/>
              <a:buChar char="o"/>
              <a:defRPr/>
            </a:pPr>
            <a:r>
              <a:rPr lang="en-IN" sz="1800" dirty="0"/>
              <a:t>C. R. </a:t>
            </a:r>
            <a:r>
              <a:rPr lang="en-IN" sz="1800" dirty="0" err="1"/>
              <a:t>Balamurugan</a:t>
            </a:r>
            <a:r>
              <a:rPr lang="en-IN" sz="1800" dirty="0"/>
              <a:t>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a:t>
            </a:r>
            <a:r>
              <a:rPr lang="en-IN" sz="1800" dirty="0" err="1"/>
              <a:t>Rastogi</a:t>
            </a:r>
            <a:r>
              <a:rPr lang="en-IN" sz="1800" dirty="0"/>
              <a:t>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a:t>
            </a:r>
            <a:r>
              <a:rPr lang="en-IN" sz="1800" dirty="0" err="1"/>
              <a:t>Sci</a:t>
            </a:r>
            <a:r>
              <a:rPr lang="en-IN" sz="1800" dirty="0"/>
              <a:t>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lvl="0" algn="just"/>
            <a:r>
              <a:rPr lang="en-US" sz="1800" dirty="0">
                <a:hlinkClick r:id="rId3"/>
              </a:rPr>
              <a:t>http://mediatoget.blogspot.in/2012/01/static-dynamic-characteristicsof.htm</a:t>
            </a:r>
            <a:endParaRPr lang="en-US" sz="1800" dirty="0"/>
          </a:p>
          <a:p>
            <a:pPr marL="0" lvl="0" indent="0">
              <a:buNone/>
            </a:pPr>
            <a:endParaRPr lang="en-IN"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solidFill>
                  <a:srgbClr val="FF0000"/>
                </a:solidFill>
              </a:rPr>
              <a:pPr/>
              <a:t>40</a:t>
            </a:fld>
            <a:r>
              <a:rPr lang="en-US" dirty="0">
                <a:solidFill>
                  <a:srgbClr val="FF0000"/>
                </a:solidFill>
              </a:rPr>
              <a:t>/10</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19184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9478" name="CorelDRAW" r:id="rId3" imgW="2169000" imgH="2169360" progId="">
                    <p:embed/>
                  </p:oleObj>
                </mc:Choice>
                <mc:Fallback>
                  <p:oleObj name="CorelDRAW" r:id="rId3" imgW="2169000" imgH="2169360" progId="">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3735</TotalTime>
  <Words>864</Words>
  <Application>Microsoft Office PowerPoint</Application>
  <PresentationFormat>Widescreen</PresentationFormat>
  <Paragraphs>193</Paragraphs>
  <Slides>41</Slides>
  <Notes>6</Notes>
  <HiddenSlides>0</HiddenSlides>
  <MMClips>0</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1</vt:i4>
      </vt:variant>
      <vt:variant>
        <vt:lpstr>Slide Titles</vt:lpstr>
      </vt:variant>
      <vt:variant>
        <vt:i4>41</vt:i4>
      </vt:variant>
    </vt:vector>
  </HeadingPairs>
  <TitlesOfParts>
    <vt:vector size="57" baseType="lpstr">
      <vt:lpstr>Arial Unicode MS</vt:lpstr>
      <vt:lpstr>SimSun</vt:lpstr>
      <vt:lpstr>Arial</vt:lpstr>
      <vt:lpstr>Calibri</vt:lpstr>
      <vt:lpstr>Calibri Light</vt:lpstr>
      <vt:lpstr>Casper</vt:lpstr>
      <vt:lpstr>Casper Bold</vt:lpstr>
      <vt:lpstr>Courier New</vt:lpstr>
      <vt:lpstr>Karla</vt:lpstr>
      <vt:lpstr>Raleway ExtraBold</vt:lpstr>
      <vt:lpstr>Segoe UI</vt:lpstr>
      <vt:lpstr>Times New Roman</vt:lpstr>
      <vt:lpstr>1_Office Theme</vt:lpstr>
      <vt:lpstr>Contents Slide Master</vt:lpstr>
      <vt:lpstr>2_Office Theme</vt:lpstr>
      <vt:lpstr>CorelDRAW</vt:lpstr>
      <vt:lpstr>PowerPoint Presentation</vt:lpstr>
      <vt:lpstr>INTRODUCTION </vt:lpstr>
      <vt:lpstr>INTRODUCTION </vt:lpstr>
      <vt:lpstr>SYLLABUS   </vt:lpstr>
      <vt:lpstr>PowerPoint Presentation</vt:lpstr>
      <vt:lpstr>Types of inputs in measurement system</vt:lpstr>
      <vt:lpstr>Specification of Instruments</vt:lpstr>
      <vt:lpstr>PowerPoint Presentation</vt:lpstr>
      <vt:lpstr>Classification of Errors </vt:lpstr>
      <vt:lpstr>Systematic errors </vt:lpstr>
      <vt:lpstr>Random errors </vt:lpstr>
      <vt:lpstr>Gross Errors (Blunders) </vt:lpstr>
      <vt:lpstr>Basic Characteristics of Instruments</vt:lpstr>
      <vt:lpstr>Static Characteristics</vt:lpstr>
      <vt:lpstr>Static Characteristics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Dynamic Characteristics</vt:lpstr>
      <vt:lpstr>Dynamic characteristics</vt:lpstr>
      <vt:lpstr>Dynamic Characteristics</vt:lpstr>
      <vt:lpstr>Dynamic Characteristics</vt:lpstr>
      <vt:lpstr>Dynamic Characteristics</vt:lpstr>
      <vt:lpstr>Dynamic Characteristics</vt:lpstr>
      <vt:lpstr>PowerPoint Presentation</vt:lpstr>
      <vt:lpstr>Dynamic Characteristics</vt:lpstr>
      <vt:lpstr>REFERENCES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279</cp:revision>
  <dcterms:created xsi:type="dcterms:W3CDTF">2019-01-09T10:33:58Z</dcterms:created>
  <dcterms:modified xsi:type="dcterms:W3CDTF">2023-06-15T06:13:18Z</dcterms:modified>
</cp:coreProperties>
</file>