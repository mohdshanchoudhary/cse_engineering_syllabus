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662" r:id="rId3"/>
    <p:sldId id="280" r:id="rId4"/>
    <p:sldId id="294" r:id="rId5"/>
    <p:sldId id="327" r:id="rId6"/>
    <p:sldId id="328" r:id="rId7"/>
    <p:sldId id="329" r:id="rId8"/>
    <p:sldId id="330" r:id="rId9"/>
    <p:sldId id="341" r:id="rId10"/>
    <p:sldId id="340" r:id="rId11"/>
    <p:sldId id="339" r:id="rId12"/>
    <p:sldId id="338" r:id="rId13"/>
    <p:sldId id="337" r:id="rId14"/>
    <p:sldId id="336" r:id="rId15"/>
    <p:sldId id="335" r:id="rId16"/>
    <p:sldId id="334" r:id="rId17"/>
    <p:sldId id="333" r:id="rId18"/>
    <p:sldId id="32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51191D4-0749-4045-B9FD-B1AF82E0AF14}">
          <p14:sldIdLst>
            <p14:sldId id="662"/>
            <p14:sldId id="280"/>
            <p14:sldId id="294"/>
            <p14:sldId id="327"/>
            <p14:sldId id="328"/>
            <p14:sldId id="329"/>
            <p14:sldId id="330"/>
            <p14:sldId id="341"/>
            <p14:sldId id="340"/>
            <p14:sldId id="339"/>
            <p14:sldId id="338"/>
            <p14:sldId id="337"/>
            <p14:sldId id="336"/>
            <p14:sldId id="335"/>
            <p14:sldId id="334"/>
            <p14:sldId id="333"/>
            <p14:sldId id="326"/>
            <p14:sldId id="27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67D71CA4-C181-1DB2-7577-7EA11856F69B}"/>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descr="National Board of Accreditation - Wikipedia">
            <a:extLst>
              <a:ext uri="{FF2B5EF4-FFF2-40B4-BE49-F238E27FC236}">
                <a16:creationId xmlns:a16="http://schemas.microsoft.com/office/drawing/2014/main" id="{F2C697A4-05FE-59CF-ED99-9F158E48A618}"/>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761896A2-2427-E0D7-C0BB-56003CC9751D}"/>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software-engineering-software-design-process/" TargetMode="External"/><Relationship Id="rId2" Type="http://schemas.openxmlformats.org/officeDocument/2006/relationships/hyperlink" Target="https://www.tutorialspoint.com/software_engineering/software_design_basics.htm" TargetMode="External"/><Relationship Id="rId1" Type="http://schemas.openxmlformats.org/officeDocument/2006/relationships/slideLayout" Target="../slideLayouts/slideLayout2.xml"/><Relationship Id="rId4" Type="http://schemas.openxmlformats.org/officeDocument/2006/relationships/hyperlink" Target="https://www.javatpoint.com/software-engineering-software-design"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pPr algn="ctr" eaLnBrk="1" hangingPunct="1"/>
            <a:r>
              <a:rPr lang="en-US" sz="1800" b="1" dirty="0">
                <a:latin typeface="Times New Roman" panose="02020603050405020304" pitchFamily="18" charset="0"/>
                <a:cs typeface="Times New Roman" panose="02020603050405020304" pitchFamily="18" charset="0"/>
              </a:rPr>
              <a:t>Software Design</a:t>
            </a:r>
          </a:p>
        </p:txBody>
      </p:sp>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6433"/>
            <a:ext cx="10515600" cy="973455"/>
          </a:xfrm>
        </p:spPr>
        <p:txBody>
          <a:bodyPr>
            <a:noAutofit/>
          </a:bodyPr>
          <a:lstStyle/>
          <a:p>
            <a:pPr algn="ctr"/>
            <a:r>
              <a:rPr lang="en-US" sz="3600" dirty="0">
                <a:latin typeface="Times New Roman" pitchFamily="18" charset="0"/>
                <a:cs typeface="Times New Roman" pitchFamily="18" charset="0"/>
              </a:rPr>
              <a:t>Chapter-4</a:t>
            </a:r>
            <a:br>
              <a:rPr lang="en-US" sz="3600" dirty="0">
                <a:latin typeface="Times New Roman" pitchFamily="18" charset="0"/>
                <a:cs typeface="Times New Roman" pitchFamily="18" charset="0"/>
              </a:rPr>
            </a:br>
            <a:r>
              <a:rPr lang="en-US" sz="3600" b="1" dirty="0"/>
              <a:t>Software Design</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400" dirty="0"/>
              <a:t>Effective Modular design</a:t>
            </a:r>
            <a:endParaRPr lang="en-US" sz="2400" dirty="0">
              <a:latin typeface="Times New Roman" pitchFamily="18" charset="0"/>
              <a:cs typeface="Times New Roman" pitchFamily="18" charset="0"/>
            </a:endParaRPr>
          </a:p>
        </p:txBody>
      </p:sp>
      <p:sp>
        <p:nvSpPr>
          <p:cNvPr id="5" name="Rectangle 4"/>
          <p:cNvSpPr/>
          <p:nvPr/>
        </p:nvSpPr>
        <p:spPr>
          <a:xfrm>
            <a:off x="838200" y="1811022"/>
            <a:ext cx="10515600" cy="436117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681036"/>
            <a:ext cx="10515600" cy="97345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AA96AD4B-C377-238E-642A-CB387EB1331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33064"/>
          </a:xfrm>
        </p:spPr>
        <p:txBody>
          <a:bodyPr>
            <a:noAutofit/>
          </a:bodyPr>
          <a:lstStyle/>
          <a:p>
            <a:pPr algn="ctr"/>
            <a:br>
              <a:rPr lang="en-US" dirty="0"/>
            </a:br>
            <a:r>
              <a:rPr lang="en-US" dirty="0">
                <a:latin typeface="Times New Roman" panose="02020603050405020304" pitchFamily="18" charset="0"/>
                <a:cs typeface="Times New Roman" panose="02020603050405020304" pitchFamily="18" charset="0"/>
              </a:rPr>
              <a:t>Modularization</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Modularization is a technique to divide a software system into multiple discrete and independent modules, which are expected to be capable of carrying out task(s) independently. </a:t>
            </a:r>
          </a:p>
          <a:p>
            <a:pPr algn="just"/>
            <a:r>
              <a:rPr lang="en-US" dirty="0">
                <a:latin typeface="Times New Roman" panose="02020603050405020304" pitchFamily="18" charset="0"/>
                <a:cs typeface="Times New Roman" panose="02020603050405020304" pitchFamily="18" charset="0"/>
              </a:rPr>
              <a:t>These modules may work as basic constructs for the entire software. Designers tend to design modules such that they can be executed and/or compiled separately and independently.</a:t>
            </a:r>
          </a:p>
          <a:p>
            <a:pPr algn="just"/>
            <a:r>
              <a:rPr lang="en-US" dirty="0">
                <a:latin typeface="Times New Roman" panose="02020603050405020304" pitchFamily="18" charset="0"/>
                <a:cs typeface="Times New Roman" panose="02020603050405020304" pitchFamily="18" charset="0"/>
              </a:rPr>
              <a:t>Modular design unintentionally follows the rules of ‘divide and conquer’ problem-solving strategy this is because there are many other benefits attached with the modular design of a software.</a:t>
            </a:r>
          </a:p>
          <a:p>
            <a:pPr algn="just"/>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4" name="Footer Placeholder 9">
            <a:extLst>
              <a:ext uri="{FF2B5EF4-FFF2-40B4-BE49-F238E27FC236}">
                <a16:creationId xmlns:a16="http://schemas.microsoft.com/office/drawing/2014/main" id="{0E4B8F6B-B9C9-4183-1368-7196075637C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lstStyle/>
          <a:p>
            <a:pPr algn="ctr"/>
            <a:r>
              <a:rPr lang="en-US" dirty="0">
                <a:latin typeface="Times New Roman" panose="02020603050405020304" pitchFamily="18" charset="0"/>
                <a:cs typeface="Times New Roman" panose="02020603050405020304" pitchFamily="18" charset="0"/>
              </a:rPr>
              <a:t>Modularization</a:t>
            </a:r>
          </a:p>
        </p:txBody>
      </p:sp>
      <p:sp>
        <p:nvSpPr>
          <p:cNvPr id="3" name="Content Placeholder 2"/>
          <p:cNvSpPr>
            <a:spLocks noGrp="1"/>
          </p:cNvSpPr>
          <p:nvPr>
            <p:ph idx="1"/>
          </p:nvPr>
        </p:nvSpPr>
        <p:spPr/>
        <p:txBody>
          <a:bodyPr>
            <a:normAutofit/>
          </a:bodyPr>
          <a:lstStyle/>
          <a:p>
            <a:pPr algn="just" fontAlgn="base"/>
            <a:r>
              <a:rPr lang="en-US" dirty="0">
                <a:latin typeface="Times New Roman" panose="02020603050405020304" pitchFamily="18" charset="0"/>
                <a:cs typeface="Times New Roman" panose="02020603050405020304" pitchFamily="18" charset="0"/>
              </a:rPr>
              <a:t>Any software comprises of many systems which contains several sub-systems and those sub-systems further contains their sub-systems. </a:t>
            </a:r>
          </a:p>
          <a:p>
            <a:pPr algn="just" fontAlgn="base"/>
            <a:r>
              <a:rPr lang="en-US" dirty="0">
                <a:latin typeface="Times New Roman" panose="02020603050405020304" pitchFamily="18" charset="0"/>
                <a:cs typeface="Times New Roman" panose="02020603050405020304" pitchFamily="18" charset="0"/>
              </a:rPr>
              <a:t>So, designing a complete system in one go comprising of each and every required functionality is a hectic work and the process can have many errors because of its vast size.</a:t>
            </a:r>
          </a:p>
          <a:p>
            <a:pPr algn="just"/>
            <a:r>
              <a:rPr lang="en-US" dirty="0">
                <a:latin typeface="Times New Roman" panose="02020603050405020304" pitchFamily="18" charset="0"/>
                <a:cs typeface="Times New Roman" panose="02020603050405020304" pitchFamily="18" charset="0"/>
              </a:rPr>
              <a:t>Thus in order to solve this problem the developing team breakdown the complete software into various modules.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64D781E5-B945-856A-5446-1966FFC38B0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793"/>
            <a:ext cx="10515600" cy="926895"/>
          </a:xfrm>
        </p:spPr>
        <p:txBody>
          <a:bodyPr/>
          <a:lstStyle/>
          <a:p>
            <a:pPr algn="ctr"/>
            <a:r>
              <a:rPr lang="en-US" dirty="0">
                <a:latin typeface="Times New Roman" panose="02020603050405020304" pitchFamily="18" charset="0"/>
                <a:cs typeface="Times New Roman" panose="02020603050405020304" pitchFamily="18" charset="0"/>
              </a:rPr>
              <a:t>Modularization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module is defined as the unique and addressable components of the software which can be solved and modified independently without disturbing ( or affecting in very small amount ) other modules of the software. Thus every software design should follow modularity.</a:t>
            </a:r>
          </a:p>
          <a:p>
            <a:pPr algn="just"/>
            <a:r>
              <a:rPr lang="en-US" dirty="0">
                <a:latin typeface="Times New Roman" panose="02020603050405020304" pitchFamily="18" charset="0"/>
                <a:cs typeface="Times New Roman" panose="02020603050405020304" pitchFamily="18" charset="0"/>
              </a:rPr>
              <a:t>Effective modular design can be achieved if the partitioned modules are separately solvable, modifiable as well as </a:t>
            </a:r>
            <a:r>
              <a:rPr lang="en-US" dirty="0" err="1">
                <a:latin typeface="Times New Roman" panose="02020603050405020304" pitchFamily="18" charset="0"/>
                <a:cs typeface="Times New Roman" panose="02020603050405020304" pitchFamily="18" charset="0"/>
              </a:rPr>
              <a:t>compilable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Here separate </a:t>
            </a:r>
            <a:r>
              <a:rPr lang="en-US" dirty="0" err="1">
                <a:latin typeface="Times New Roman" panose="02020603050405020304" pitchFamily="18" charset="0"/>
                <a:cs typeface="Times New Roman" panose="02020603050405020304" pitchFamily="18" charset="0"/>
              </a:rPr>
              <a:t>compilable</a:t>
            </a:r>
            <a:r>
              <a:rPr lang="en-US" dirty="0">
                <a:latin typeface="Times New Roman" panose="02020603050405020304" pitchFamily="18" charset="0"/>
                <a:cs typeface="Times New Roman" panose="02020603050405020304" pitchFamily="18" charset="0"/>
              </a:rPr>
              <a:t> modules means that after making changes in a module there is no need of recompiling the whole software system.</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0E5A5BCB-028E-AB97-C45E-3CEF636413C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Advantage of modularization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Smaller components are easier to maintain</a:t>
            </a:r>
          </a:p>
          <a:p>
            <a:pPr algn="just"/>
            <a:r>
              <a:rPr lang="en-US" dirty="0">
                <a:latin typeface="Times New Roman" panose="02020603050405020304" pitchFamily="18" charset="0"/>
                <a:cs typeface="Times New Roman" panose="02020603050405020304" pitchFamily="18" charset="0"/>
              </a:rPr>
              <a:t>Program can be divided based on functional aspects</a:t>
            </a:r>
          </a:p>
          <a:p>
            <a:pPr algn="just"/>
            <a:r>
              <a:rPr lang="en-US" dirty="0">
                <a:latin typeface="Times New Roman" panose="02020603050405020304" pitchFamily="18" charset="0"/>
                <a:cs typeface="Times New Roman" panose="02020603050405020304" pitchFamily="18" charset="0"/>
              </a:rPr>
              <a:t>Desired level of abstraction can be brought in the program</a:t>
            </a:r>
          </a:p>
          <a:p>
            <a:pPr algn="just"/>
            <a:r>
              <a:rPr lang="en-US" dirty="0">
                <a:latin typeface="Times New Roman" panose="02020603050405020304" pitchFamily="18" charset="0"/>
                <a:cs typeface="Times New Roman" panose="02020603050405020304" pitchFamily="18" charset="0"/>
              </a:rPr>
              <a:t>Components with high cohesion can be re-used again</a:t>
            </a:r>
          </a:p>
          <a:p>
            <a:pPr algn="just"/>
            <a:r>
              <a:rPr lang="en-US" dirty="0">
                <a:latin typeface="Times New Roman" panose="02020603050405020304" pitchFamily="18" charset="0"/>
                <a:cs typeface="Times New Roman" panose="02020603050405020304" pitchFamily="18" charset="0"/>
              </a:rPr>
              <a:t>Concurrent execution can be made possible</a:t>
            </a:r>
          </a:p>
          <a:p>
            <a:pPr algn="just"/>
            <a:r>
              <a:rPr lang="en-US" dirty="0">
                <a:latin typeface="Times New Roman" panose="02020603050405020304" pitchFamily="18" charset="0"/>
                <a:cs typeface="Times New Roman" panose="02020603050405020304" pitchFamily="18" charset="0"/>
              </a:rPr>
              <a:t>Desired from security aspect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3271961A-C0EB-D625-5C3D-EAF3E63AEA2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Concurrency</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Back in time, all software are meant to be executed sequentially.</a:t>
            </a:r>
          </a:p>
          <a:p>
            <a:pPr algn="just"/>
            <a:r>
              <a:rPr lang="en-US" dirty="0">
                <a:latin typeface="Times New Roman" panose="02020603050405020304" pitchFamily="18" charset="0"/>
                <a:cs typeface="Times New Roman" panose="02020603050405020304" pitchFamily="18" charset="0"/>
              </a:rPr>
              <a:t> By sequential execution we mean that the coded instruction will be executed one after another implying only one portion of program being activated at any given time. </a:t>
            </a:r>
          </a:p>
          <a:p>
            <a:pPr algn="just"/>
            <a:r>
              <a:rPr lang="en-US" dirty="0">
                <a:latin typeface="Times New Roman" panose="02020603050405020304" pitchFamily="18" charset="0"/>
                <a:cs typeface="Times New Roman" panose="02020603050405020304" pitchFamily="18" charset="0"/>
              </a:rPr>
              <a:t>A software has multiple modules, then only one of all the modules can be found active at any time of execution.</a:t>
            </a:r>
          </a:p>
          <a:p>
            <a:pPr algn="just"/>
            <a:r>
              <a:rPr lang="en-US" dirty="0">
                <a:latin typeface="Times New Roman" panose="02020603050405020304" pitchFamily="18" charset="0"/>
                <a:cs typeface="Times New Roman" panose="02020603050405020304" pitchFamily="18" charset="0"/>
              </a:rPr>
              <a:t>In software design, concurrency is implemented by splitting the software into multiple independent units of execution, like modules and executing them in parallel.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A1D06369-1151-DF29-125F-B3990D3F92F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916137"/>
          </a:xfrm>
        </p:spPr>
        <p:txBody>
          <a:bodyPr/>
          <a:lstStyle/>
          <a:p>
            <a:pPr algn="ctr"/>
            <a:r>
              <a:rPr lang="en-US" dirty="0">
                <a:latin typeface="Times New Roman" panose="02020603050405020304" pitchFamily="18" charset="0"/>
                <a:cs typeface="Times New Roman" panose="02020603050405020304" pitchFamily="18" charset="0"/>
              </a:rPr>
              <a:t>Concurrency</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other words, concurrency provides capability to the software to execute more than one part of code in parallel to each other.</a:t>
            </a:r>
          </a:p>
          <a:p>
            <a:pPr algn="just"/>
            <a:r>
              <a:rPr lang="en-US" dirty="0">
                <a:latin typeface="Times New Roman" panose="02020603050405020304" pitchFamily="18" charset="0"/>
                <a:cs typeface="Times New Roman" panose="02020603050405020304" pitchFamily="18" charset="0"/>
              </a:rPr>
              <a:t>It is necessary for the programmers and designers to recognize those modules, which can be made parallel execution.</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72F3FE04-6447-C278-BFFF-9F9EC8ABAD8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Coupling and Cohesion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When a software program is modularized, its tasks are divided into several modules based on some characteristics.</a:t>
            </a:r>
          </a:p>
          <a:p>
            <a:pPr algn="just"/>
            <a:r>
              <a:rPr lang="en-US" dirty="0">
                <a:latin typeface="Times New Roman" panose="02020603050405020304" pitchFamily="18" charset="0"/>
                <a:cs typeface="Times New Roman" panose="02020603050405020304" pitchFamily="18" charset="0"/>
              </a:rPr>
              <a:t> As we know, modules are set of instructions put together in order to achieve some tasks. </a:t>
            </a:r>
          </a:p>
          <a:p>
            <a:pPr algn="just"/>
            <a:r>
              <a:rPr lang="en-US" dirty="0">
                <a:latin typeface="Times New Roman" panose="02020603050405020304" pitchFamily="18" charset="0"/>
                <a:cs typeface="Times New Roman" panose="02020603050405020304" pitchFamily="18" charset="0"/>
              </a:rPr>
              <a:t>They are though, considered as single entity but may refer to each other to work together. </a:t>
            </a:r>
          </a:p>
          <a:p>
            <a:pPr algn="just"/>
            <a:r>
              <a:rPr lang="en-US" dirty="0">
                <a:latin typeface="Times New Roman" panose="02020603050405020304" pitchFamily="18" charset="0"/>
                <a:cs typeface="Times New Roman" panose="02020603050405020304" pitchFamily="18" charset="0"/>
              </a:rPr>
              <a:t>There are measures by which the quality of a design of modules and their interaction among them can be measured. </a:t>
            </a:r>
          </a:p>
          <a:p>
            <a:pPr algn="just"/>
            <a:r>
              <a:rPr lang="en-US" dirty="0">
                <a:latin typeface="Times New Roman" panose="02020603050405020304" pitchFamily="18" charset="0"/>
                <a:cs typeface="Times New Roman" panose="02020603050405020304" pitchFamily="18" charset="0"/>
              </a:rPr>
              <a:t>These measures are called coupling and cohesion</a:t>
            </a:r>
            <a:r>
              <a:rPr lang="en-US"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4512DCE0-444A-A5E3-68EF-7AFCFA45AFA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65538" name="Picture 2"/>
          <p:cNvPicPr>
            <a:picLocks noChangeAspect="1" noChangeArrowheads="1"/>
          </p:cNvPicPr>
          <p:nvPr/>
        </p:nvPicPr>
        <p:blipFill>
          <a:blip r:embed="rId2"/>
          <a:srcRect/>
          <a:stretch>
            <a:fillRect/>
          </a:stretch>
        </p:blipFill>
        <p:spPr bwMode="auto">
          <a:xfrm>
            <a:off x="1819274" y="1181100"/>
            <a:ext cx="8505826" cy="5126800"/>
          </a:xfrm>
          <a:prstGeom prst="rect">
            <a:avLst/>
          </a:prstGeom>
          <a:noFill/>
          <a:ln w="9525">
            <a:noFill/>
            <a:miter lim="800000"/>
            <a:headEnd/>
            <a:tailEnd/>
          </a:ln>
          <a:effectLst/>
        </p:spPr>
      </p:pic>
      <p:sp>
        <p:nvSpPr>
          <p:cNvPr id="2" name="Footer Placeholder 9">
            <a:extLst>
              <a:ext uri="{FF2B5EF4-FFF2-40B4-BE49-F238E27FC236}">
                <a16:creationId xmlns:a16="http://schemas.microsoft.com/office/drawing/2014/main" id="{345DD87B-F4C8-6144-59A4-3BFCA4E679E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2278"/>
            <a:ext cx="10515600" cy="94841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Cohesion</a:t>
            </a:r>
            <a:br>
              <a:rPr lang="en-US" dirty="0"/>
            </a:br>
            <a:endParaRPr lang="en-US" dirty="0"/>
          </a:p>
        </p:txBody>
      </p:sp>
      <p:sp>
        <p:nvSpPr>
          <p:cNvPr id="3" name="Content Placeholder 2"/>
          <p:cNvSpPr>
            <a:spLocks noGrp="1"/>
          </p:cNvSpPr>
          <p:nvPr>
            <p:ph idx="1"/>
          </p:nvPr>
        </p:nvSpPr>
        <p:spPr>
          <a:xfrm>
            <a:off x="742950" y="1406524"/>
            <a:ext cx="10515600" cy="4632325"/>
          </a:xfrm>
        </p:spPr>
        <p:txBody>
          <a:bodyPr>
            <a:noAutofit/>
          </a:bodyPr>
          <a:lstStyle/>
          <a:p>
            <a:pPr algn="just"/>
            <a:r>
              <a:rPr lang="en-US" sz="2400" dirty="0">
                <a:latin typeface="Times New Roman" panose="02020603050405020304" pitchFamily="18" charset="0"/>
                <a:cs typeface="Times New Roman" panose="02020603050405020304" pitchFamily="18" charset="0"/>
              </a:rPr>
              <a:t>Cohesion is a measure that defines the degree of intra-dependability within elements of a module. The greater the cohesion, the better is the program design.</a:t>
            </a:r>
          </a:p>
          <a:p>
            <a:pPr algn="just"/>
            <a:r>
              <a:rPr lang="en-US" sz="2400" dirty="0">
                <a:latin typeface="Times New Roman" panose="02020603050405020304" pitchFamily="18" charset="0"/>
                <a:cs typeface="Times New Roman" panose="02020603050405020304" pitchFamily="18" charset="0"/>
              </a:rPr>
              <a:t>There are seven types of cohesion, namely –</a:t>
            </a:r>
          </a:p>
          <a:p>
            <a:pPr algn="just"/>
            <a:r>
              <a:rPr lang="en-US" sz="2400" b="1" dirty="0">
                <a:latin typeface="Times New Roman" panose="02020603050405020304" pitchFamily="18" charset="0"/>
                <a:cs typeface="Times New Roman" panose="02020603050405020304" pitchFamily="18" charset="0"/>
              </a:rPr>
              <a:t>Co-incidental cohesion -</a:t>
            </a:r>
            <a:r>
              <a:rPr lang="en-US" sz="2400" dirty="0">
                <a:latin typeface="Times New Roman" panose="02020603050405020304" pitchFamily="18" charset="0"/>
                <a:cs typeface="Times New Roman" panose="02020603050405020304" pitchFamily="18" charset="0"/>
              </a:rPr>
              <a:t> It is unplanned and random cohesion, which might be the result of breaking the program into smaller modules for the sake of modularization. Because it is unplanned, it may serve confusion to the programmers and is generally not-accepted.</a:t>
            </a:r>
          </a:p>
          <a:p>
            <a:pPr algn="just"/>
            <a:r>
              <a:rPr lang="en-US" sz="2400" b="1" dirty="0">
                <a:latin typeface="Times New Roman" panose="02020603050405020304" pitchFamily="18" charset="0"/>
                <a:cs typeface="Times New Roman" panose="02020603050405020304" pitchFamily="18" charset="0"/>
              </a:rPr>
              <a:t>Logical cohesion -</a:t>
            </a:r>
            <a:r>
              <a:rPr lang="en-US" sz="2400" dirty="0">
                <a:latin typeface="Times New Roman" panose="02020603050405020304" pitchFamily="18" charset="0"/>
                <a:cs typeface="Times New Roman" panose="02020603050405020304" pitchFamily="18" charset="0"/>
              </a:rPr>
              <a:t> When logically categorized elements are put together into a module, it is called logical cohesion.</a:t>
            </a:r>
          </a:p>
          <a:p>
            <a:pPr algn="just"/>
            <a:r>
              <a:rPr lang="en-US" sz="2400" b="1" dirty="0">
                <a:latin typeface="Times New Roman" panose="02020603050405020304" pitchFamily="18" charset="0"/>
                <a:cs typeface="Times New Roman" panose="02020603050405020304" pitchFamily="18" charset="0"/>
              </a:rPr>
              <a:t>Temporal Cohesion - </a:t>
            </a:r>
            <a:r>
              <a:rPr lang="en-US" sz="2400" dirty="0">
                <a:latin typeface="Times New Roman" panose="02020603050405020304" pitchFamily="18" charset="0"/>
                <a:cs typeface="Times New Roman" panose="02020603050405020304" pitchFamily="18" charset="0"/>
              </a:rPr>
              <a:t>When elements of module are organized such that they are processed at a similar point in time, it is called temporal cohesion.</a:t>
            </a:r>
          </a:p>
          <a:p>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433F3BAA-4576-8A22-B889-7892A0D3794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lstStyle/>
          <a:p>
            <a:pPr algn="ctr"/>
            <a:r>
              <a:rPr lang="en-US" dirty="0">
                <a:latin typeface="Times New Roman" panose="02020603050405020304" pitchFamily="18" charset="0"/>
                <a:cs typeface="Times New Roman" panose="02020603050405020304" pitchFamily="18" charset="0"/>
              </a:rPr>
              <a:t>Cohesion</a:t>
            </a:r>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Procedural cohesion - </a:t>
            </a:r>
            <a:r>
              <a:rPr lang="en-US" dirty="0">
                <a:latin typeface="Times New Roman" panose="02020603050405020304" pitchFamily="18" charset="0"/>
                <a:cs typeface="Times New Roman" panose="02020603050405020304" pitchFamily="18" charset="0"/>
              </a:rPr>
              <a:t>When elements of module are grouped together, which are executed sequentially in order to perform a task, it is called procedural cohesion.</a:t>
            </a:r>
          </a:p>
          <a:p>
            <a:pPr algn="just"/>
            <a:r>
              <a:rPr lang="en-US" b="1" dirty="0">
                <a:latin typeface="Times New Roman" panose="02020603050405020304" pitchFamily="18" charset="0"/>
                <a:cs typeface="Times New Roman" panose="02020603050405020304" pitchFamily="18" charset="0"/>
              </a:rPr>
              <a:t>Communicational cohesion - </a:t>
            </a:r>
            <a:r>
              <a:rPr lang="en-US" dirty="0">
                <a:latin typeface="Times New Roman" panose="02020603050405020304" pitchFamily="18" charset="0"/>
                <a:cs typeface="Times New Roman" panose="02020603050405020304" pitchFamily="18" charset="0"/>
              </a:rPr>
              <a:t>When elements of module are grouped together, which are executed sequentially and work on same data (information), it is called communicational cohesion.</a:t>
            </a:r>
          </a:p>
          <a:p>
            <a:pPr algn="just"/>
            <a:r>
              <a:rPr lang="en-US" b="1" dirty="0">
                <a:latin typeface="Times New Roman" panose="02020603050405020304" pitchFamily="18" charset="0"/>
                <a:cs typeface="Times New Roman" panose="02020603050405020304" pitchFamily="18" charset="0"/>
              </a:rPr>
              <a:t>Sequential cohesion - </a:t>
            </a:r>
            <a:r>
              <a:rPr lang="en-US" dirty="0">
                <a:latin typeface="Times New Roman" panose="02020603050405020304" pitchFamily="18" charset="0"/>
                <a:cs typeface="Times New Roman" panose="02020603050405020304" pitchFamily="18" charset="0"/>
              </a:rPr>
              <a:t>When elements of module are grouped because the output of one element serves as input to another and so on, it is called sequential cohesion.</a:t>
            </a:r>
          </a:p>
          <a:p>
            <a:pPr algn="just"/>
            <a:r>
              <a:rPr lang="en-US" b="1" dirty="0">
                <a:latin typeface="Times New Roman" panose="02020603050405020304" pitchFamily="18" charset="0"/>
                <a:cs typeface="Times New Roman" panose="02020603050405020304" pitchFamily="18" charset="0"/>
              </a:rPr>
              <a:t>Functional cohesion - </a:t>
            </a:r>
            <a:r>
              <a:rPr lang="en-US" dirty="0">
                <a:latin typeface="Times New Roman" panose="02020603050405020304" pitchFamily="18" charset="0"/>
                <a:cs typeface="Times New Roman" panose="02020603050405020304" pitchFamily="18" charset="0"/>
              </a:rPr>
              <a:t>It is considered to be the highest degree of cohesion, and it is highly expected. Elements of module in functional cohesion are grouped because they all contribute to a single well-defined function. It can also be reused.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6BFAEE15-97C6-432E-C1E0-38971281E9C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916137"/>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Coupling</a:t>
            </a:r>
            <a:br>
              <a:rPr lang="en-US" dirty="0"/>
            </a:br>
            <a:endParaRPr lang="en-US" dirty="0"/>
          </a:p>
        </p:txBody>
      </p:sp>
      <p:sp>
        <p:nvSpPr>
          <p:cNvPr id="3" name="Content Placeholder 2"/>
          <p:cNvSpPr>
            <a:spLocks noGrp="1"/>
          </p:cNvSpPr>
          <p:nvPr>
            <p:ph idx="1"/>
          </p:nvPr>
        </p:nvSpPr>
        <p:spPr/>
        <p:txBody>
          <a:bodyPr>
            <a:normAutofit fontScale="92500"/>
          </a:bodyPr>
          <a:lstStyle/>
          <a:p>
            <a:pPr algn="just"/>
            <a:r>
              <a:rPr lang="en-US" dirty="0">
                <a:latin typeface="Times New Roman" panose="02020603050405020304" pitchFamily="18" charset="0"/>
                <a:cs typeface="Times New Roman" panose="02020603050405020304" pitchFamily="18" charset="0"/>
              </a:rPr>
              <a:t>Coupling is a measure that defines the level of inter-dependability among modules of a program. It tells at what level the modules interfere and interact with each other. The lower the coupling, the better the program.</a:t>
            </a:r>
          </a:p>
          <a:p>
            <a:pPr algn="just"/>
            <a:r>
              <a:rPr lang="en-US" dirty="0">
                <a:latin typeface="Times New Roman" panose="02020603050405020304" pitchFamily="18" charset="0"/>
                <a:cs typeface="Times New Roman" panose="02020603050405020304" pitchFamily="18" charset="0"/>
              </a:rPr>
              <a:t>There are five levels of coupling, namely -</a:t>
            </a:r>
          </a:p>
          <a:p>
            <a:pPr algn="just"/>
            <a:r>
              <a:rPr lang="en-US" b="1" dirty="0">
                <a:latin typeface="Times New Roman" panose="02020603050405020304" pitchFamily="18" charset="0"/>
                <a:cs typeface="Times New Roman" panose="02020603050405020304" pitchFamily="18" charset="0"/>
              </a:rPr>
              <a:t>Content coupling - </a:t>
            </a:r>
            <a:r>
              <a:rPr lang="en-US" dirty="0">
                <a:latin typeface="Times New Roman" panose="02020603050405020304" pitchFamily="18" charset="0"/>
                <a:cs typeface="Times New Roman" panose="02020603050405020304" pitchFamily="18" charset="0"/>
              </a:rPr>
              <a:t>When a module can directly access or modify or refer to the content of another module, it is called content level coupling.</a:t>
            </a:r>
          </a:p>
          <a:p>
            <a:pPr algn="just"/>
            <a:r>
              <a:rPr lang="en-US" b="1" dirty="0">
                <a:latin typeface="Times New Roman" panose="02020603050405020304" pitchFamily="18" charset="0"/>
                <a:cs typeface="Times New Roman" panose="02020603050405020304" pitchFamily="18" charset="0"/>
              </a:rPr>
              <a:t>Common coupling- </a:t>
            </a:r>
            <a:r>
              <a:rPr lang="en-US" dirty="0">
                <a:latin typeface="Times New Roman" panose="02020603050405020304" pitchFamily="18" charset="0"/>
                <a:cs typeface="Times New Roman" panose="02020603050405020304" pitchFamily="18" charset="0"/>
              </a:rPr>
              <a:t>When multiple modules have read and write access to some global data, it is called common or global coupling.</a:t>
            </a:r>
          </a:p>
          <a:p>
            <a:pPr algn="just"/>
            <a:r>
              <a:rPr lang="en-US" b="1" dirty="0">
                <a:latin typeface="Times New Roman" panose="02020603050405020304" pitchFamily="18" charset="0"/>
                <a:cs typeface="Times New Roman" panose="02020603050405020304" pitchFamily="18" charset="0"/>
              </a:rPr>
              <a:t>Control coupling- </a:t>
            </a:r>
            <a:r>
              <a:rPr lang="en-US" dirty="0">
                <a:latin typeface="Times New Roman" panose="02020603050405020304" pitchFamily="18" charset="0"/>
                <a:cs typeface="Times New Roman" panose="02020603050405020304" pitchFamily="18" charset="0"/>
              </a:rPr>
              <a:t>Two modules are called control-coupled if one of them decides the function of the other module or changes its flow of execution.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9DC3F009-5276-27A9-C3B5-002800B05BB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793"/>
            <a:ext cx="10515600" cy="926895"/>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Coupling</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Stamp coupling- </a:t>
            </a:r>
            <a:r>
              <a:rPr lang="en-US" dirty="0">
                <a:latin typeface="Times New Roman" panose="02020603050405020304" pitchFamily="18" charset="0"/>
                <a:cs typeface="Times New Roman" panose="02020603050405020304" pitchFamily="18" charset="0"/>
              </a:rPr>
              <a:t>When multiple modules share common data structure and work on different part of it, it is called stamp coupling.</a:t>
            </a:r>
          </a:p>
          <a:p>
            <a:pPr algn="just"/>
            <a:r>
              <a:rPr lang="en-US" b="1" dirty="0">
                <a:latin typeface="Times New Roman" panose="02020603050405020304" pitchFamily="18" charset="0"/>
                <a:cs typeface="Times New Roman" panose="02020603050405020304" pitchFamily="18" charset="0"/>
              </a:rPr>
              <a:t>Data coupling- </a:t>
            </a:r>
            <a:r>
              <a:rPr lang="en-US" dirty="0">
                <a:latin typeface="Times New Roman" panose="02020603050405020304" pitchFamily="18" charset="0"/>
                <a:cs typeface="Times New Roman" panose="02020603050405020304" pitchFamily="18" charset="0"/>
              </a:rPr>
              <a:t>Data coupling is when two modules interact with each other by means of passing data (as parameter). If a module passes data structure as parameter, then the receiving module should use all its components.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A3906C57-2704-D365-92FF-B818E491C8C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551"/>
            <a:ext cx="10515600" cy="916137"/>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Design Verification</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output of software design process is design documentation, pseudo codes, detailed logic diagrams, process diagrams, and detailed description of all functional or non-functional requirements.</a:t>
            </a:r>
          </a:p>
          <a:p>
            <a:pPr algn="just"/>
            <a:r>
              <a:rPr lang="en-US" dirty="0">
                <a:latin typeface="Times New Roman" panose="02020603050405020304" pitchFamily="18" charset="0"/>
                <a:cs typeface="Times New Roman" panose="02020603050405020304" pitchFamily="18" charset="0"/>
              </a:rPr>
              <a:t>The next phase, which is the implementation of software, depends on all outputs mentioned above.</a:t>
            </a:r>
          </a:p>
          <a:p>
            <a:pPr algn="just"/>
            <a:r>
              <a:rPr lang="en-US" dirty="0">
                <a:latin typeface="Times New Roman" panose="02020603050405020304" pitchFamily="18" charset="0"/>
                <a:cs typeface="Times New Roman" panose="02020603050405020304" pitchFamily="18" charset="0"/>
              </a:rPr>
              <a:t>It is then becomes necessary to verify the output before proceeding to the next phase. </a:t>
            </a:r>
          </a:p>
          <a:p>
            <a:pPr algn="just"/>
            <a:r>
              <a:rPr lang="en-US" dirty="0">
                <a:latin typeface="Times New Roman" panose="02020603050405020304" pitchFamily="18" charset="0"/>
                <a:cs typeface="Times New Roman" panose="02020603050405020304" pitchFamily="18" charset="0"/>
              </a:rPr>
              <a:t>The early any mistake is detected, the better it is or it might not be detected until testing of the product.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7EBB0A43-0E2C-8BB4-CDB6-B37101C706A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normAutofit fontScale="90000"/>
          </a:bodyPr>
          <a:lstStyle/>
          <a:p>
            <a:pPr algn="ctr"/>
            <a:br>
              <a:rPr lang="en-US" sz="3600" dirty="0"/>
            </a:br>
            <a:r>
              <a:rPr lang="en-US" sz="3600" dirty="0"/>
              <a:t>Design Verification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If the outputs of design phase are in formal notation form, then their associated tools for verification should be used otherwise a thorough design review can be used for verification and validation.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By structured verification approach, reviewers can detect defects that might be caused by overlooking some conditions. A good design review is important for good software design, accuracy and quality.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A94B62B0-4A4B-02FC-1867-B8A144F92C2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https://www.tutorialspoint.com/software_engineering/software_design_basics.htm#:~:text=Software%20design%20is%20a%20process,in%20software%20coding%20and%20implementation.&amp;text=Software%20design%20is%20the%20first,problem%20domain%20to%20solution%20domain.</a:t>
            </a:r>
            <a:endParaRPr lang="en-US" dirty="0"/>
          </a:p>
          <a:p>
            <a:r>
              <a:rPr lang="en-US" dirty="0">
                <a:hlinkClick r:id="rId3"/>
              </a:rPr>
              <a:t>https://www.geeksforgeeks.org/software-engineering-software-design-process/</a:t>
            </a:r>
            <a:endParaRPr lang="en-US" dirty="0"/>
          </a:p>
          <a:p>
            <a:r>
              <a:rPr lang="en-US" dirty="0">
                <a:hlinkClick r:id="rId4"/>
              </a:rPr>
              <a:t>https://www.javatpoint.com/software-engineering-software-design</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39096"/>
            <a:ext cx="10515600" cy="8515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17</a:t>
            </a:fld>
            <a:endParaRPr lang="en-US"/>
          </a:p>
        </p:txBody>
      </p:sp>
      <p:sp>
        <p:nvSpPr>
          <p:cNvPr id="2" name="Footer Placeholder 9">
            <a:extLst>
              <a:ext uri="{FF2B5EF4-FFF2-40B4-BE49-F238E27FC236}">
                <a16:creationId xmlns:a16="http://schemas.microsoft.com/office/drawing/2014/main" id="{C81A837F-F807-4BE5-6FE1-6BA5A692D0B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18</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77272E88-6861-FC9E-968E-2C458DF463F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1624</TotalTime>
  <Words>1532</Words>
  <Application>Microsoft Macintosh PowerPoint</Application>
  <PresentationFormat>Widescreen</PresentationFormat>
  <Paragraphs>118</Paragraphs>
  <Slides>18</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7"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Chapter-4 Software Design</vt:lpstr>
      <vt:lpstr> Modularization </vt:lpstr>
      <vt:lpstr>Modularization</vt:lpstr>
      <vt:lpstr>Modularization</vt:lpstr>
      <vt:lpstr> Advantage of modularization </vt:lpstr>
      <vt:lpstr> Concurrency </vt:lpstr>
      <vt:lpstr>Concurrency</vt:lpstr>
      <vt:lpstr> Coupling and Cohesion </vt:lpstr>
      <vt:lpstr>PowerPoint Presentation</vt:lpstr>
      <vt:lpstr>Cohesion </vt:lpstr>
      <vt:lpstr>Cohesion</vt:lpstr>
      <vt:lpstr> Coupling </vt:lpstr>
      <vt:lpstr> Coupling </vt:lpstr>
      <vt:lpstr> Design Verification </vt:lpstr>
      <vt:lpstr> Design Verification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223</cp:revision>
  <dcterms:created xsi:type="dcterms:W3CDTF">2019-01-09T10:33:58Z</dcterms:created>
  <dcterms:modified xsi:type="dcterms:W3CDTF">2024-12-12T06:27:14Z</dcterms:modified>
</cp:coreProperties>
</file>