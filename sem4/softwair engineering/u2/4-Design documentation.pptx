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32"/>
  </p:notesMasterIdLst>
  <p:handoutMasterIdLst>
    <p:handoutMasterId r:id="rId33"/>
  </p:handoutMasterIdLst>
  <p:sldIdLst>
    <p:sldId id="662" r:id="rId3"/>
    <p:sldId id="280" r:id="rId4"/>
    <p:sldId id="327" r:id="rId5"/>
    <p:sldId id="341" r:id="rId6"/>
    <p:sldId id="340" r:id="rId7"/>
    <p:sldId id="339" r:id="rId8"/>
    <p:sldId id="338" r:id="rId9"/>
    <p:sldId id="337" r:id="rId10"/>
    <p:sldId id="336" r:id="rId11"/>
    <p:sldId id="335" r:id="rId12"/>
    <p:sldId id="334" r:id="rId13"/>
    <p:sldId id="348" r:id="rId14"/>
    <p:sldId id="333" r:id="rId15"/>
    <p:sldId id="332" r:id="rId16"/>
    <p:sldId id="331" r:id="rId17"/>
    <p:sldId id="349" r:id="rId18"/>
    <p:sldId id="330" r:id="rId19"/>
    <p:sldId id="329" r:id="rId20"/>
    <p:sldId id="328" r:id="rId21"/>
    <p:sldId id="350" r:id="rId22"/>
    <p:sldId id="345" r:id="rId23"/>
    <p:sldId id="344" r:id="rId24"/>
    <p:sldId id="347" r:id="rId25"/>
    <p:sldId id="351" r:id="rId26"/>
    <p:sldId id="352" r:id="rId27"/>
    <p:sldId id="353" r:id="rId28"/>
    <p:sldId id="354" r:id="rId29"/>
    <p:sldId id="326" r:id="rId30"/>
    <p:sldId id="279"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29" autoAdjust="0"/>
    <p:restoredTop sz="94660"/>
  </p:normalViewPr>
  <p:slideViewPr>
    <p:cSldViewPr snapToGrid="0">
      <p:cViewPr varScale="1">
        <p:scale>
          <a:sx n="119" d="100"/>
          <a:sy n="119" d="100"/>
        </p:scale>
        <p:origin x="416" y="184"/>
      </p:cViewPr>
      <p:guideLst>
        <p:guide orient="horz" pos="2160"/>
        <p:guide pos="3840"/>
      </p:guideLst>
    </p:cSldViewPr>
  </p:slideViewPr>
  <p:notesTextViewPr>
    <p:cViewPr>
      <p:scale>
        <a:sx n="1" d="1"/>
        <a:sy n="1" d="1"/>
      </p:scale>
      <p:origin x="0" y="0"/>
    </p:cViewPr>
  </p:notesTextViewPr>
  <p:sorterViewPr>
    <p:cViewPr>
      <p:scale>
        <a:sx n="66" d="100"/>
        <a:sy n="66" d="100"/>
      </p:scale>
      <p:origin x="0" y="321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60732FBC-CC67-4B17-8935-02F23E3364AC}" type="slidenum">
              <a:rPr lang="en-US" smtClean="0"/>
              <a:pPr/>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pic>
        <p:nvPicPr>
          <p:cNvPr id="7" name="Picture 6">
            <a:extLst>
              <a:ext uri="{FF2B5EF4-FFF2-40B4-BE49-F238E27FC236}">
                <a16:creationId xmlns:a16="http://schemas.microsoft.com/office/drawing/2014/main" id="{91D6CCA9-C391-1531-81AA-D83C306974A4}"/>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8" name="Picture 7" descr="National Board of Accreditation - Wikipedia">
            <a:extLst>
              <a:ext uri="{FF2B5EF4-FFF2-40B4-BE49-F238E27FC236}">
                <a16:creationId xmlns:a16="http://schemas.microsoft.com/office/drawing/2014/main" id="{945CC27F-40CF-0BD3-D1DD-26CB26B05925}"/>
              </a:ext>
            </a:extLst>
          </p:cNvPr>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9196373" y="49261"/>
            <a:ext cx="1079146" cy="688340"/>
          </a:xfrm>
          <a:prstGeom prst="rect">
            <a:avLst/>
          </a:prstGeom>
          <a:noFill/>
          <a:ln>
            <a:noFill/>
          </a:ln>
        </p:spPr>
      </p:pic>
      <p:pic>
        <p:nvPicPr>
          <p:cNvPr id="9" name="Picture 8">
            <a:extLst>
              <a:ext uri="{FF2B5EF4-FFF2-40B4-BE49-F238E27FC236}">
                <a16:creationId xmlns:a16="http://schemas.microsoft.com/office/drawing/2014/main" id="{AC2C4820-C21F-D7BF-D08C-46A08A6F74E2}"/>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hf hdr="0" ftr="0" dt="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www.geeksforgeeks.org/software-engineering-software-design-process/" TargetMode="External"/><Relationship Id="rId2" Type="http://schemas.openxmlformats.org/officeDocument/2006/relationships/hyperlink" Target="https://www.tutorialspoint.com/software_engineering/software_design_basics.htm" TargetMode="External"/><Relationship Id="rId1" Type="http://schemas.openxmlformats.org/officeDocument/2006/relationships/slideLayout" Target="../slideLayouts/slideLayout2.xml"/><Relationship Id="rId4" Type="http://schemas.openxmlformats.org/officeDocument/2006/relationships/hyperlink" Target="https://www.javatpoint.com/software-engineering-software-design"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1.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93;p1"/>
          <p:cNvSpPr/>
          <p:nvPr/>
        </p:nvSpPr>
        <p:spPr>
          <a:xfrm>
            <a:off x="501445" y="4837797"/>
            <a:ext cx="10958052" cy="1518553"/>
          </a:xfrm>
          <a:prstGeom prst="rect">
            <a:avLst/>
          </a:prstGeom>
          <a:solidFill>
            <a:schemeClr val="lt1"/>
          </a:solidFill>
          <a:ln>
            <a:noFill/>
          </a:ln>
        </p:spPr>
        <p:txBody>
          <a:bodyPr spcFirstLastPara="1" wrap="square" lIns="91425" tIns="45700" rIns="91425" bIns="45700" anchor="ctr" anchorCtr="0">
            <a:noAutofit/>
          </a:bodyPr>
          <a:lstStyle/>
          <a:p>
            <a:pPr algn="ctr"/>
            <a:endParaRPr dirty="0">
              <a:solidFill>
                <a:schemeClr val="lt1"/>
              </a:solidFill>
              <a:latin typeface="Calibri"/>
              <a:ea typeface="Calibri"/>
              <a:cs typeface="Calibri"/>
              <a:sym typeface="Calibri"/>
            </a:endParaRPr>
          </a:p>
        </p:txBody>
      </p:sp>
      <p:sp>
        <p:nvSpPr>
          <p:cNvPr id="3" name="Subtitle 2"/>
          <p:cNvSpPr>
            <a:spLocks noGrp="1"/>
          </p:cNvSpPr>
          <p:nvPr>
            <p:ph type="subTitle" idx="1"/>
          </p:nvPr>
        </p:nvSpPr>
        <p:spPr>
          <a:xfrm>
            <a:off x="562662" y="4891470"/>
            <a:ext cx="4156822" cy="1236591"/>
          </a:xfrm>
        </p:spPr>
        <p:txBody>
          <a:bodyPr>
            <a:noAutofit/>
          </a:bodyPr>
          <a:lstStyle/>
          <a:p>
            <a:pPr algn="l"/>
            <a:r>
              <a:rPr lang="en-US" sz="1800" b="1" dirty="0">
                <a:latin typeface="Times New Roman" panose="02020603050405020304" pitchFamily="18" charset="0"/>
                <a:cs typeface="Times New Roman" panose="02020603050405020304" pitchFamily="18" charset="0"/>
              </a:rPr>
              <a:t>Er. Jagmeet Kaur</a:t>
            </a:r>
          </a:p>
          <a:p>
            <a:pPr algn="l"/>
            <a:r>
              <a:rPr lang="en-US" sz="1400" b="1" dirty="0">
                <a:latin typeface="Times New Roman" panose="02020603050405020304" pitchFamily="18" charset="0"/>
                <a:cs typeface="Times New Roman" panose="02020603050405020304" pitchFamily="18" charset="0"/>
              </a:rPr>
              <a:t>E8387</a:t>
            </a:r>
          </a:p>
          <a:p>
            <a:pPr algn="l"/>
            <a:r>
              <a:rPr lang="en-US" sz="1400" b="1" dirty="0">
                <a:latin typeface="Times New Roman" panose="02020603050405020304" pitchFamily="18" charset="0"/>
                <a:cs typeface="Times New Roman" panose="02020603050405020304" pitchFamily="18" charset="0"/>
              </a:rPr>
              <a:t>ASSISTANT PROFESSOR</a:t>
            </a:r>
          </a:p>
          <a:p>
            <a:pPr algn="l"/>
            <a:r>
              <a:rPr lang="en-US" sz="1400" b="1" dirty="0">
                <a:latin typeface="Times New Roman" panose="02020603050405020304" pitchFamily="18" charset="0"/>
                <a:cs typeface="Times New Roman" panose="02020603050405020304" pitchFamily="18" charset="0"/>
              </a:rPr>
              <a:t>CSE </a:t>
            </a:r>
          </a:p>
        </p:txBody>
      </p:sp>
      <p:sp>
        <p:nvSpPr>
          <p:cNvPr id="7" name="Google Shape;100;p1"/>
          <p:cNvSpPr/>
          <p:nvPr/>
        </p:nvSpPr>
        <p:spPr>
          <a:xfrm flipH="1">
            <a:off x="9344623" y="4901508"/>
            <a:ext cx="2466377" cy="1712909"/>
          </a:xfrm>
          <a:prstGeom prst="rtTriangle">
            <a:avLst/>
          </a:prstGeom>
          <a:solidFill>
            <a:srgbClr val="C00000"/>
          </a:solidFill>
          <a:ln>
            <a:noFill/>
          </a:ln>
        </p:spPr>
        <p:txBody>
          <a:bodyPr spcFirstLastPara="1" lIns="75585" tIns="37782" rIns="75585" bIns="37782" anchor="ctr"/>
          <a:lstStyle/>
          <a:p>
            <a:pPr algn="ctr">
              <a:defRPr/>
            </a:pPr>
            <a:endParaRPr sz="1488">
              <a:solidFill>
                <a:schemeClr val="lt1"/>
              </a:solidFill>
              <a:latin typeface="Calibri"/>
              <a:ea typeface="Calibri"/>
              <a:cs typeface="Calibri"/>
              <a:sym typeface="Calibri"/>
            </a:endParaRPr>
          </a:p>
        </p:txBody>
      </p:sp>
      <p:sp>
        <p:nvSpPr>
          <p:cNvPr id="6" name="Google Shape;101;p1"/>
          <p:cNvSpPr txBox="1"/>
          <p:nvPr/>
        </p:nvSpPr>
        <p:spPr>
          <a:xfrm>
            <a:off x="7158646" y="5490468"/>
            <a:ext cx="4075113" cy="534988"/>
          </a:xfrm>
          <a:prstGeom prst="rect">
            <a:avLst/>
          </a:prstGeom>
          <a:noFill/>
          <a:ln>
            <a:noFill/>
          </a:ln>
        </p:spPr>
        <p:txBody>
          <a:bodyPr spcFirstLastPara="1" lIns="75585" tIns="37782" rIns="75585" bIns="37782">
            <a:spAutoFit/>
          </a:bodyPr>
          <a:lstStyle/>
          <a:p>
            <a:pPr>
              <a:defRPr/>
            </a:pPr>
            <a:r>
              <a:rPr lang="en-US" sz="1653" b="1" dirty="0">
                <a:solidFill>
                  <a:srgbClr val="595959"/>
                </a:solidFill>
                <a:latin typeface="Arial"/>
                <a:ea typeface="Arial"/>
                <a:cs typeface="Arial"/>
                <a:sym typeface="Arial"/>
              </a:rPr>
              <a:t>DISCOVER . </a:t>
            </a:r>
            <a:r>
              <a:rPr lang="en-US" sz="1653" b="1" dirty="0">
                <a:solidFill>
                  <a:srgbClr val="C00000"/>
                </a:solidFill>
                <a:latin typeface="Arial"/>
                <a:ea typeface="Arial"/>
                <a:cs typeface="Arial"/>
                <a:sym typeface="Arial"/>
              </a:rPr>
              <a:t>LEARN</a:t>
            </a:r>
            <a:r>
              <a:rPr lang="en-US" sz="1653" b="1" dirty="0">
                <a:solidFill>
                  <a:srgbClr val="595959"/>
                </a:solidFill>
                <a:latin typeface="Arial"/>
                <a:ea typeface="Arial"/>
                <a:cs typeface="Arial"/>
                <a:sym typeface="Arial"/>
              </a:rPr>
              <a:t> . EMPOWER</a:t>
            </a:r>
            <a:endParaRPr sz="992" b="1" dirty="0">
              <a:solidFill>
                <a:srgbClr val="000000"/>
              </a:solidFill>
              <a:latin typeface="Arial"/>
              <a:ea typeface="Arial"/>
              <a:cs typeface="Arial"/>
              <a:sym typeface="Arial"/>
            </a:endParaRPr>
          </a:p>
          <a:p>
            <a:pPr>
              <a:defRPr/>
            </a:pPr>
            <a:endParaRPr sz="1323" b="1" dirty="0">
              <a:solidFill>
                <a:schemeClr val="dk1"/>
              </a:solidFill>
              <a:latin typeface="Arial"/>
              <a:ea typeface="Arial"/>
              <a:cs typeface="Arial"/>
              <a:sym typeface="Arial"/>
            </a:endParaRPr>
          </a:p>
        </p:txBody>
      </p:sp>
      <p:sp>
        <p:nvSpPr>
          <p:cNvPr id="9" name="Google Shape;94;p1"/>
          <p:cNvSpPr/>
          <p:nvPr/>
        </p:nvSpPr>
        <p:spPr>
          <a:xfrm>
            <a:off x="1826198" y="5901986"/>
            <a:ext cx="45719" cy="613881"/>
          </a:xfrm>
          <a:prstGeom prst="rect">
            <a:avLst/>
          </a:prstGeom>
          <a:solidFill>
            <a:srgbClr val="C00000"/>
          </a:solidFill>
          <a:ln>
            <a:noFill/>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11" name="Google Shape;103;p1"/>
          <p:cNvSpPr txBox="1"/>
          <p:nvPr/>
        </p:nvSpPr>
        <p:spPr>
          <a:xfrm>
            <a:off x="910729" y="1207782"/>
            <a:ext cx="9722858" cy="2843815"/>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University Institute of Engineering</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OF COMPUTER SCIENCE &amp;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Software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Code: 23CST-206</a:t>
            </a:r>
          </a:p>
        </p:txBody>
      </p:sp>
      <p:sp>
        <p:nvSpPr>
          <p:cNvPr id="2" name="Date Placeholder 1"/>
          <p:cNvSpPr>
            <a:spLocks noGrp="1"/>
          </p:cNvSpPr>
          <p:nvPr>
            <p:ph type="dt" sz="half" idx="10"/>
          </p:nvPr>
        </p:nvSpPr>
        <p:spPr/>
        <p:txBody>
          <a:bodyPr/>
          <a:lstStyle/>
          <a:p>
            <a:r>
              <a:rPr lang="en-US" dirty="0"/>
              <a:t>09/12/24</a:t>
            </a:r>
          </a:p>
        </p:txBody>
      </p:sp>
      <p:sp>
        <p:nvSpPr>
          <p:cNvPr id="10" name="Footer Placeholder 9"/>
          <p:cNvSpPr>
            <a:spLocks noGrp="1"/>
          </p:cNvSpPr>
          <p:nvPr>
            <p:ph type="ftr" sz="quarter" idx="11"/>
          </p:nvPr>
        </p:nvSpPr>
        <p:spPr/>
        <p:txBody>
          <a:bodyPr/>
          <a:lstStyle/>
          <a:p>
            <a:r>
              <a:rPr lang="en-US" dirty="0"/>
              <a:t>Er. Jagmeet Kaur, Asst. Prof., CSE, Chandigarh University</a:t>
            </a:r>
          </a:p>
        </p:txBody>
      </p:sp>
      <p:sp>
        <p:nvSpPr>
          <p:cNvPr id="12" name="Slide Number Placeholder 11"/>
          <p:cNvSpPr>
            <a:spLocks noGrp="1"/>
          </p:cNvSpPr>
          <p:nvPr>
            <p:ph type="sldNum" sz="quarter" idx="12"/>
          </p:nvPr>
        </p:nvSpPr>
        <p:spPr/>
        <p:txBody>
          <a:bodyPr/>
          <a:lstStyle/>
          <a:p>
            <a:fld id="{FA84A37A-AFC2-4A01-80A1-FC20F2C0D5BB}" type="slidenum">
              <a:rPr lang="en-US" smtClean="0"/>
              <a:pPr/>
              <a:t>1</a:t>
            </a:fld>
            <a:endParaRPr lang="en-US" dirty="0"/>
          </a:p>
        </p:txBody>
      </p:sp>
      <p:pic>
        <p:nvPicPr>
          <p:cNvPr id="14" name="Picture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15" name="Picture 14" descr="National Board of Accreditation - Wikipedia"/>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96373" y="49261"/>
            <a:ext cx="1079146" cy="688340"/>
          </a:xfrm>
          <a:prstGeom prst="rect">
            <a:avLst/>
          </a:prstGeom>
          <a:noFill/>
          <a:ln>
            <a:noFill/>
          </a:ln>
        </p:spPr>
      </p:pic>
      <p:sp>
        <p:nvSpPr>
          <p:cNvPr id="5" name="TextBox 4">
            <a:extLst>
              <a:ext uri="{FF2B5EF4-FFF2-40B4-BE49-F238E27FC236}">
                <a16:creationId xmlns:a16="http://schemas.microsoft.com/office/drawing/2014/main" id="{2A3E7AC5-0170-6A4D-3DDF-A62478ECD17A}"/>
              </a:ext>
            </a:extLst>
          </p:cNvPr>
          <p:cNvSpPr txBox="1"/>
          <p:nvPr/>
        </p:nvSpPr>
        <p:spPr>
          <a:xfrm>
            <a:off x="4719484" y="3934196"/>
            <a:ext cx="2197683" cy="369332"/>
          </a:xfrm>
          <a:prstGeom prst="rect">
            <a:avLst/>
          </a:prstGeom>
          <a:noFill/>
        </p:spPr>
        <p:txBody>
          <a:bodyPr wrap="square">
            <a:spAutoFit/>
          </a:bodyPr>
          <a:lstStyle/>
          <a:p>
            <a:pPr algn="ctr" eaLnBrk="1" hangingPunct="1"/>
            <a:r>
              <a:rPr lang="en-US" sz="1800" b="1" dirty="0">
                <a:latin typeface="Times New Roman" panose="02020603050405020304" pitchFamily="18" charset="0"/>
                <a:cs typeface="Times New Roman" panose="02020603050405020304" pitchFamily="18" charset="0"/>
              </a:rPr>
              <a:t>Software Design</a:t>
            </a:r>
          </a:p>
        </p:txBody>
      </p:sp>
      <p:pic>
        <p:nvPicPr>
          <p:cNvPr id="4" name="Picture 3">
            <a:extLst>
              <a:ext uri="{FF2B5EF4-FFF2-40B4-BE49-F238E27FC236}">
                <a16:creationId xmlns:a16="http://schemas.microsoft.com/office/drawing/2014/main" id="{CDF0B105-58BC-C11C-1CFE-904A3F19CC8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spTree>
    <p:extLst>
      <p:ext uri="{BB962C8B-B14F-4D97-AF65-F5344CB8AC3E}">
        <p14:creationId xmlns:p14="http://schemas.microsoft.com/office/powerpoint/2010/main" val="3899940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18240"/>
            <a:ext cx="10515600" cy="1121648"/>
          </a:xfrm>
        </p:spPr>
        <p:txBody>
          <a:bodyPr>
            <a:noAutofit/>
          </a:bodyPr>
          <a:lstStyle/>
          <a:p>
            <a:pPr algn="ctr"/>
            <a:r>
              <a:rPr lang="en-US" sz="3600" dirty="0">
                <a:latin typeface="Times New Roman" pitchFamily="18" charset="0"/>
                <a:cs typeface="Times New Roman" pitchFamily="18" charset="0"/>
              </a:rPr>
              <a:t>Chapter-4</a:t>
            </a:r>
            <a:br>
              <a:rPr lang="en-US" sz="3600" dirty="0">
                <a:latin typeface="Times New Roman" pitchFamily="18" charset="0"/>
                <a:cs typeface="Times New Roman" pitchFamily="18" charset="0"/>
              </a:rPr>
            </a:br>
            <a:r>
              <a:rPr lang="en-US" sz="3600" b="1" dirty="0"/>
              <a:t>Software Design</a:t>
            </a:r>
            <a:endParaRPr lang="en-US" sz="36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nSpc>
                <a:spcPct val="150000"/>
              </a:lnSpc>
            </a:pPr>
            <a:r>
              <a:rPr lang="en-US" sz="2400" dirty="0"/>
              <a:t>Design documentation</a:t>
            </a:r>
            <a:endParaRPr lang="en-US" sz="2400" dirty="0">
              <a:latin typeface="Times New Roman" pitchFamily="18" charset="0"/>
              <a:cs typeface="Times New Roman" pitchFamily="18" charset="0"/>
            </a:endParaRP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07720" y="513477"/>
            <a:ext cx="10515600" cy="114101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2</a:t>
            </a:fld>
            <a:endParaRPr lang="en-US"/>
          </a:p>
        </p:txBody>
      </p:sp>
      <p:sp>
        <p:nvSpPr>
          <p:cNvPr id="4" name="Footer Placeholder 9">
            <a:extLst>
              <a:ext uri="{FF2B5EF4-FFF2-40B4-BE49-F238E27FC236}">
                <a16:creationId xmlns:a16="http://schemas.microsoft.com/office/drawing/2014/main" id="{4723EF91-5CD0-C5EF-BCAA-D98812C77DED}"/>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extLst>
      <p:ext uri="{BB962C8B-B14F-4D97-AF65-F5344CB8AC3E}">
        <p14:creationId xmlns:p14="http://schemas.microsoft.com/office/powerpoint/2010/main" val="823702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0612"/>
            <a:ext cx="10515600" cy="830076"/>
          </a:xfrm>
        </p:spPr>
        <p:txBody>
          <a:bodyPr>
            <a:normAutofit/>
          </a:bodyPr>
          <a:lstStyle/>
          <a:p>
            <a:pPr algn="ctr"/>
            <a:r>
              <a:rPr lang="en-US" sz="3600" dirty="0">
                <a:latin typeface="Times New Roman" panose="02020603050405020304" pitchFamily="18" charset="0"/>
                <a:cs typeface="Times New Roman" panose="02020603050405020304" pitchFamily="18" charset="0"/>
              </a:rPr>
              <a:t>Design Documentation</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Design documentation is a collection of documents and resources that covers all aspects of your product design. </a:t>
            </a:r>
          </a:p>
          <a:p>
            <a:pPr algn="just"/>
            <a:r>
              <a:rPr lang="en-US" dirty="0">
                <a:latin typeface="Times New Roman" panose="02020603050405020304" pitchFamily="18" charset="0"/>
                <a:cs typeface="Times New Roman" panose="02020603050405020304" pitchFamily="18" charset="0"/>
              </a:rPr>
              <a:t>Documentation should include information about users, product features, and project deadlines; all essential implementation details; and design decisions that your team and stakeholders have agreed on.</a:t>
            </a:r>
          </a:p>
          <a:p>
            <a:pPr algn="just"/>
            <a:r>
              <a:rPr lang="en-US" dirty="0">
                <a:latin typeface="Times New Roman" panose="02020603050405020304" pitchFamily="18" charset="0"/>
                <a:cs typeface="Times New Roman" panose="02020603050405020304" pitchFamily="18" charset="0"/>
              </a:rPr>
              <a:t>The Design Document will be the starting point work product for a number of assignments.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3</a:t>
            </a:fld>
            <a:endParaRPr lang="en-US"/>
          </a:p>
        </p:txBody>
      </p:sp>
      <p:sp>
        <p:nvSpPr>
          <p:cNvPr id="5" name="Footer Placeholder 9">
            <a:extLst>
              <a:ext uri="{FF2B5EF4-FFF2-40B4-BE49-F238E27FC236}">
                <a16:creationId xmlns:a16="http://schemas.microsoft.com/office/drawing/2014/main" id="{0978B4CF-2B4F-0110-9A7C-97F7E2CB3F70}"/>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0612"/>
            <a:ext cx="10515600" cy="830076"/>
          </a:xfrm>
        </p:spPr>
        <p:txBody>
          <a:bodyPr>
            <a:normAutofit/>
          </a:bodyPr>
          <a:lstStyle/>
          <a:p>
            <a:pPr algn="ctr"/>
            <a:r>
              <a:rPr lang="en-US" sz="3600" dirty="0">
                <a:latin typeface="Times New Roman" panose="02020603050405020304" pitchFamily="18" charset="0"/>
                <a:cs typeface="Times New Roman" panose="02020603050405020304" pitchFamily="18" charset="0"/>
              </a:rPr>
              <a:t>Design Documentation</a:t>
            </a:r>
          </a:p>
        </p:txBody>
      </p:sp>
      <p:sp>
        <p:nvSpPr>
          <p:cNvPr id="3" name="Content Placeholder 2"/>
          <p:cNvSpPr>
            <a:spLocks noGrp="1"/>
          </p:cNvSpPr>
          <p:nvPr>
            <p:ph idx="1"/>
          </p:nvPr>
        </p:nvSpPr>
        <p:spPr/>
        <p:txBody>
          <a:bodyPr>
            <a:noAutofit/>
          </a:bodyPr>
          <a:lstStyle/>
          <a:p>
            <a:pPr algn="just"/>
            <a:r>
              <a:rPr lang="en-US" dirty="0"/>
              <a:t> </a:t>
            </a:r>
            <a:r>
              <a:rPr lang="en-US" dirty="0">
                <a:latin typeface="Times New Roman" panose="02020603050405020304" pitchFamily="18" charset="0"/>
                <a:cs typeface="Times New Roman" panose="02020603050405020304" pitchFamily="18" charset="0"/>
              </a:rPr>
              <a:t>In many cases the Design Document is done before any of the actual "work".  </a:t>
            </a:r>
          </a:p>
          <a:p>
            <a:pPr algn="just"/>
            <a:r>
              <a:rPr lang="en-US" dirty="0">
                <a:latin typeface="Times New Roman" panose="02020603050405020304" pitchFamily="18" charset="0"/>
                <a:cs typeface="Times New Roman" panose="02020603050405020304" pitchFamily="18" charset="0"/>
              </a:rPr>
              <a:t>The Design Document could be seen a part of the Plan on what you will do.</a:t>
            </a:r>
          </a:p>
          <a:p>
            <a:pPr algn="just"/>
            <a:r>
              <a:rPr lang="en-US" dirty="0">
                <a:latin typeface="Times New Roman" panose="02020603050405020304" pitchFamily="18" charset="0"/>
                <a:cs typeface="Times New Roman" panose="02020603050405020304" pitchFamily="18" charset="0"/>
              </a:rPr>
              <a:t> Design Document as providing more of a technical overview and the Plan as a second document which includes assumptions, justifications, and the like necessary for meeting the customer's requirements.</a:t>
            </a:r>
          </a:p>
          <a:p>
            <a:pPr algn="just"/>
            <a:r>
              <a:rPr lang="en-US" dirty="0">
                <a:latin typeface="Times New Roman" panose="02020603050405020304" pitchFamily="18" charset="0"/>
                <a:cs typeface="Times New Roman" panose="02020603050405020304" pitchFamily="18" charset="0"/>
              </a:rPr>
              <a:t>  The Implementation then would be the final step, in which you detail exactly – often in a step-by-step manner - what you did to actually complete the work required by the Design Document and Plan.</a:t>
            </a:r>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Footer Placeholder 9">
            <a:extLst>
              <a:ext uri="{FF2B5EF4-FFF2-40B4-BE49-F238E27FC236}">
                <a16:creationId xmlns:a16="http://schemas.microsoft.com/office/drawing/2014/main" id="{5A7493CC-4DF6-A178-D199-DC90DB9BDA34}"/>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82127"/>
            <a:ext cx="10515600" cy="808561"/>
          </a:xfrm>
        </p:spPr>
        <p:txBody>
          <a:bodyPr>
            <a:normAutofit/>
          </a:bodyPr>
          <a:lstStyle/>
          <a:p>
            <a:pPr algn="ctr"/>
            <a:r>
              <a:rPr lang="en-US" sz="3600" dirty="0">
                <a:latin typeface="Times New Roman" panose="02020603050405020304" pitchFamily="18" charset="0"/>
                <a:cs typeface="Times New Roman" panose="02020603050405020304" pitchFamily="18" charset="0"/>
              </a:rPr>
              <a:t>Design Documentation</a:t>
            </a:r>
          </a:p>
        </p:txBody>
      </p:sp>
      <p:sp>
        <p:nvSpPr>
          <p:cNvPr id="3" name="Content Placeholder 2"/>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If you have a three-document model:</a:t>
            </a:r>
          </a:p>
          <a:p>
            <a:pPr algn="just"/>
            <a:r>
              <a:rPr lang="en-US" dirty="0">
                <a:latin typeface="Times New Roman" panose="02020603050405020304" pitchFamily="18" charset="0"/>
                <a:cs typeface="Times New Roman" panose="02020603050405020304" pitchFamily="18" charset="0"/>
              </a:rPr>
              <a:t> Design - the picture that describes the end result (it often doesn't include product names, but might in some cases)</a:t>
            </a:r>
          </a:p>
          <a:p>
            <a:pPr algn="just"/>
            <a:r>
              <a:rPr lang="en-US" dirty="0">
                <a:latin typeface="Times New Roman" panose="02020603050405020304" pitchFamily="18" charset="0"/>
                <a:cs typeface="Times New Roman" panose="02020603050405020304" pitchFamily="18" charset="0"/>
              </a:rPr>
              <a:t> Plan - a milestone-level view of how that design will get accomplished (no commands are included, but product names and the processes selected might very well be documented)</a:t>
            </a:r>
          </a:p>
          <a:p>
            <a:pPr algn="just"/>
            <a:r>
              <a:rPr lang="en-US" dirty="0">
                <a:latin typeface="Times New Roman" panose="02020603050405020304" pitchFamily="18" charset="0"/>
                <a:cs typeface="Times New Roman" panose="02020603050405020304" pitchFamily="18" charset="0"/>
              </a:rPr>
              <a:t> Implementation - a step-by-step list of what to do which could be used to reproduce the work, possibly by someone who isn’t familiar with the design or plan. </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
        <p:nvSpPr>
          <p:cNvPr id="5" name="Footer Placeholder 9">
            <a:extLst>
              <a:ext uri="{FF2B5EF4-FFF2-40B4-BE49-F238E27FC236}">
                <a16:creationId xmlns:a16="http://schemas.microsoft.com/office/drawing/2014/main" id="{9351D6FB-A550-D1B7-30A2-C3D7C8EE73FD}"/>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28339"/>
            <a:ext cx="10515600" cy="862349"/>
          </a:xfrm>
        </p:spPr>
        <p:txBody>
          <a:bodyPr>
            <a:normAutofit/>
          </a:bodyPr>
          <a:lstStyle/>
          <a:p>
            <a:pPr algn="ctr"/>
            <a:r>
              <a:rPr lang="en-US" sz="3600" dirty="0">
                <a:latin typeface="Times New Roman" panose="02020603050405020304" pitchFamily="18" charset="0"/>
                <a:cs typeface="Times New Roman" panose="02020603050405020304" pitchFamily="18" charset="0"/>
              </a:rPr>
              <a:t>Design Documentation</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Another way of thinking of it might be this:</a:t>
            </a:r>
          </a:p>
          <a:p>
            <a:pPr algn="just"/>
            <a:r>
              <a:rPr lang="en-US" dirty="0">
                <a:latin typeface="Times New Roman" panose="02020603050405020304" pitchFamily="18" charset="0"/>
                <a:cs typeface="Times New Roman" panose="02020603050405020304" pitchFamily="18" charset="0"/>
              </a:rPr>
              <a:t> A design is the type of document a company might produce to be sent off for bidding (i.e., the customer might produce)</a:t>
            </a:r>
          </a:p>
          <a:p>
            <a:pPr algn="just"/>
            <a:r>
              <a:rPr lang="en-US" dirty="0">
                <a:latin typeface="Times New Roman" panose="02020603050405020304" pitchFamily="18" charset="0"/>
                <a:cs typeface="Times New Roman" panose="02020603050405020304" pitchFamily="18" charset="0"/>
              </a:rPr>
              <a:t> A plan is individual -- the order and way you solve and verify your solution might be different from someone else, but</a:t>
            </a:r>
          </a:p>
          <a:p>
            <a:pPr algn="just"/>
            <a:r>
              <a:rPr lang="en-US" dirty="0">
                <a:latin typeface="Times New Roman" panose="02020603050405020304" pitchFamily="18" charset="0"/>
                <a:cs typeface="Times New Roman" panose="02020603050405020304" pitchFamily="18" charset="0"/>
              </a:rPr>
              <a:t> If you just provide implementation steps without the plan, how will you know you did the job?</a:t>
            </a:r>
          </a:p>
          <a:p>
            <a:pPr>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sp>
        <p:nvSpPr>
          <p:cNvPr id="5" name="Footer Placeholder 9">
            <a:extLst>
              <a:ext uri="{FF2B5EF4-FFF2-40B4-BE49-F238E27FC236}">
                <a16:creationId xmlns:a16="http://schemas.microsoft.com/office/drawing/2014/main" id="{48F9C1CD-5D72-7057-FBA2-BC495F12A6E2}"/>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0612"/>
            <a:ext cx="10515600" cy="830076"/>
          </a:xfrm>
        </p:spPr>
        <p:txBody>
          <a:bodyPr>
            <a:normAutofit/>
          </a:bodyPr>
          <a:lstStyle/>
          <a:p>
            <a:pPr algn="ctr"/>
            <a:r>
              <a:rPr lang="en-US" sz="3600" dirty="0">
                <a:latin typeface="Times New Roman" panose="02020603050405020304" pitchFamily="18" charset="0"/>
                <a:cs typeface="Times New Roman" panose="02020603050405020304" pitchFamily="18" charset="0"/>
              </a:rPr>
              <a:t>Design Documentation</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The design documentation provides written documentation of the design factors and the choices the architect has made in the design to satisfy the business and technical requirements.</a:t>
            </a:r>
          </a:p>
          <a:p>
            <a:pPr algn="just"/>
            <a:r>
              <a:rPr lang="en-US" dirty="0">
                <a:latin typeface="Times New Roman" panose="02020603050405020304" pitchFamily="18" charset="0"/>
                <a:cs typeface="Times New Roman" panose="02020603050405020304" pitchFamily="18" charset="0"/>
              </a:rPr>
              <a:t>The design documentation also aids in the implementation of the design. </a:t>
            </a:r>
          </a:p>
          <a:p>
            <a:pPr algn="just"/>
            <a:r>
              <a:rPr lang="en-US" dirty="0">
                <a:latin typeface="Times New Roman" panose="02020603050405020304" pitchFamily="18" charset="0"/>
                <a:cs typeface="Times New Roman" panose="02020603050405020304" pitchFamily="18" charset="0"/>
              </a:rPr>
              <a:t>In many cases where the design architect is not responsible for the implementation, the design documents ensure the successful implementation of the design by the implementation engineer.</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sp>
        <p:nvSpPr>
          <p:cNvPr id="5" name="Footer Placeholder 9">
            <a:extLst>
              <a:ext uri="{FF2B5EF4-FFF2-40B4-BE49-F238E27FC236}">
                <a16:creationId xmlns:a16="http://schemas.microsoft.com/office/drawing/2014/main" id="{3A107D1A-2FF1-0BB1-9335-005B688CDDB7}"/>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92885"/>
            <a:ext cx="10515600" cy="797803"/>
          </a:xfrm>
        </p:spPr>
        <p:txBody>
          <a:bodyPr>
            <a:normAutofit/>
          </a:bodyPr>
          <a:lstStyle/>
          <a:p>
            <a:pPr algn="ctr"/>
            <a:r>
              <a:rPr lang="en-US" sz="3600" dirty="0"/>
              <a:t>Design Documentation</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Documentation can vary from project to project. Many consulting companies and resellers have standard documentation templates that they use when designing solutions. A properly documented design should include the following information:</a:t>
            </a:r>
          </a:p>
          <a:p>
            <a:pPr algn="just"/>
            <a:r>
              <a:rPr lang="en-US" dirty="0">
                <a:latin typeface="Times New Roman" panose="02020603050405020304" pitchFamily="18" charset="0"/>
                <a:cs typeface="Times New Roman" panose="02020603050405020304" pitchFamily="18" charset="0"/>
              </a:rPr>
              <a:t>Architecture design</a:t>
            </a:r>
          </a:p>
          <a:p>
            <a:pPr algn="just"/>
            <a:r>
              <a:rPr lang="en-US" dirty="0">
                <a:latin typeface="Times New Roman" panose="02020603050405020304" pitchFamily="18" charset="0"/>
                <a:cs typeface="Times New Roman" panose="02020603050405020304" pitchFamily="18" charset="0"/>
              </a:rPr>
              <a:t>Implementation plan</a:t>
            </a:r>
          </a:p>
          <a:p>
            <a:pPr algn="just"/>
            <a:r>
              <a:rPr lang="en-US" dirty="0">
                <a:latin typeface="Times New Roman" panose="02020603050405020304" pitchFamily="18" charset="0"/>
                <a:cs typeface="Times New Roman" panose="02020603050405020304" pitchFamily="18" charset="0"/>
              </a:rPr>
              <a:t>Installation guide</a:t>
            </a:r>
          </a:p>
          <a:p>
            <a:pPr algn="just"/>
            <a:r>
              <a:rPr lang="en-US" dirty="0">
                <a:latin typeface="Times New Roman" panose="02020603050405020304" pitchFamily="18" charset="0"/>
                <a:cs typeface="Times New Roman" panose="02020603050405020304" pitchFamily="18" charset="0"/>
              </a:rPr>
              <a:t>Validation test plan</a:t>
            </a:r>
          </a:p>
          <a:p>
            <a:pPr algn="just"/>
            <a:r>
              <a:rPr lang="en-US" dirty="0">
                <a:latin typeface="Times New Roman" panose="02020603050405020304" pitchFamily="18" charset="0"/>
                <a:cs typeface="Times New Roman" panose="02020603050405020304" pitchFamily="18" charset="0"/>
              </a:rPr>
              <a:t>Operational procedures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
        <p:nvSpPr>
          <p:cNvPr id="5" name="Footer Placeholder 9">
            <a:extLst>
              <a:ext uri="{FF2B5EF4-FFF2-40B4-BE49-F238E27FC236}">
                <a16:creationId xmlns:a16="http://schemas.microsoft.com/office/drawing/2014/main" id="{89FED4FC-6DE1-8212-C5BB-B2FFFCC5FB45}"/>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17581"/>
            <a:ext cx="10515600" cy="873107"/>
          </a:xfrm>
        </p:spPr>
        <p:txBody>
          <a:bodyPr>
            <a:normAutofit fontScale="90000"/>
          </a:bodyPr>
          <a:lstStyle/>
          <a:p>
            <a:pPr algn="ctr"/>
            <a:br>
              <a:rPr lang="en-US" sz="3600" dirty="0"/>
            </a:br>
            <a:r>
              <a:rPr lang="en-US" sz="3600" dirty="0"/>
              <a:t>Creating the architecture design document</a:t>
            </a:r>
            <a:br>
              <a:rPr lang="en-US" dirty="0"/>
            </a:br>
            <a:endParaRPr lang="en-US"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The architecture design document is a technical document describing the components and specifications required to support the solution and ensure that the specific business and technical requirements of the design are satisfied.</a:t>
            </a:r>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
        <p:nvSpPr>
          <p:cNvPr id="5" name="Footer Placeholder 9">
            <a:extLst>
              <a:ext uri="{FF2B5EF4-FFF2-40B4-BE49-F238E27FC236}">
                <a16:creationId xmlns:a16="http://schemas.microsoft.com/office/drawing/2014/main" id="{F42DE29D-7AB2-A741-8EA6-0613926BCA3A}"/>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35915"/>
            <a:ext cx="10515600" cy="754773"/>
          </a:xfrm>
        </p:spPr>
        <p:txBody>
          <a:bodyPr>
            <a:normAutofit fontScale="90000"/>
          </a:bodyPr>
          <a:lstStyle/>
          <a:p>
            <a:pPr algn="ct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Creating the architecture design document</a:t>
            </a:r>
            <a:br>
              <a:rPr lang="en-US" dirty="0"/>
            </a:br>
            <a:endParaRPr lang="en-US"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The architecture design document should include the following information:</a:t>
            </a:r>
          </a:p>
          <a:p>
            <a:pPr algn="just"/>
            <a:r>
              <a:rPr lang="en-US" dirty="0">
                <a:latin typeface="Times New Roman" panose="02020603050405020304" pitchFamily="18" charset="0"/>
                <a:cs typeface="Times New Roman" panose="02020603050405020304" pitchFamily="18" charset="0"/>
              </a:rPr>
              <a:t>Purpose and overview</a:t>
            </a:r>
          </a:p>
          <a:p>
            <a:pPr lvl="1" algn="just"/>
            <a:r>
              <a:rPr lang="en-US" dirty="0">
                <a:latin typeface="Times New Roman" panose="02020603050405020304" pitchFamily="18" charset="0"/>
                <a:cs typeface="Times New Roman" panose="02020603050405020304" pitchFamily="18" charset="0"/>
              </a:rPr>
              <a:t>Executive summary</a:t>
            </a:r>
          </a:p>
          <a:p>
            <a:pPr lvl="1" algn="just"/>
            <a:r>
              <a:rPr lang="en-US" dirty="0">
                <a:latin typeface="Times New Roman" panose="02020603050405020304" pitchFamily="18" charset="0"/>
                <a:cs typeface="Times New Roman" panose="02020603050405020304" pitchFamily="18" charset="0"/>
              </a:rPr>
              <a:t>Design methodology</a:t>
            </a:r>
          </a:p>
          <a:p>
            <a:pPr algn="just"/>
            <a:r>
              <a:rPr lang="en-US" dirty="0">
                <a:latin typeface="Times New Roman" panose="02020603050405020304" pitchFamily="18" charset="0"/>
                <a:cs typeface="Times New Roman" panose="02020603050405020304" pitchFamily="18" charset="0"/>
              </a:rPr>
              <a:t>Conceptual design</a:t>
            </a:r>
          </a:p>
          <a:p>
            <a:pPr algn="just"/>
            <a:r>
              <a:rPr lang="en-US" dirty="0">
                <a:latin typeface="Times New Roman" panose="02020603050405020304" pitchFamily="18" charset="0"/>
                <a:cs typeface="Times New Roman" panose="02020603050405020304" pitchFamily="18" charset="0"/>
              </a:rPr>
              <a:t>Logical management, storage, compute, and network design</a:t>
            </a:r>
          </a:p>
          <a:p>
            <a:pPr algn="just"/>
            <a:r>
              <a:rPr lang="en-US" dirty="0">
                <a:latin typeface="Times New Roman" panose="02020603050405020304" pitchFamily="18" charset="0"/>
                <a:cs typeface="Times New Roman" panose="02020603050405020304" pitchFamily="18" charset="0"/>
              </a:rPr>
              <a:t>Physical management, storage, compute, and network design</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sp>
        <p:nvSpPr>
          <p:cNvPr id="5" name="Footer Placeholder 9">
            <a:extLst>
              <a:ext uri="{FF2B5EF4-FFF2-40B4-BE49-F238E27FC236}">
                <a16:creationId xmlns:a16="http://schemas.microsoft.com/office/drawing/2014/main" id="{C91B3A05-FFE1-D9F8-3801-8154207BB3ED}"/>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96066"/>
            <a:ext cx="10515600" cy="894622"/>
          </a:xfrm>
        </p:spPr>
        <p:txBody>
          <a:bodyPr>
            <a:normAutofit fontScale="90000"/>
          </a:bodyPr>
          <a:lstStyle/>
          <a:p>
            <a:pPr algn="ctr"/>
            <a:br>
              <a:rPr lang="en-US" dirty="0"/>
            </a:br>
            <a:r>
              <a:rPr lang="en-US" dirty="0"/>
              <a:t>Creating the architecture design document</a:t>
            </a:r>
            <a:br>
              <a:rPr lang="en-US" dirty="0"/>
            </a:br>
            <a:endParaRPr lang="en-US" dirty="0"/>
          </a:p>
        </p:txBody>
      </p:sp>
      <p:sp>
        <p:nvSpPr>
          <p:cNvPr id="3" name="Content Placeholder 2"/>
          <p:cNvSpPr>
            <a:spLocks noGrp="1"/>
          </p:cNvSpPr>
          <p:nvPr>
            <p:ph idx="1"/>
          </p:nvPr>
        </p:nvSpPr>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A sample outline of the architecture design document is as follows:</a:t>
            </a:r>
          </a:p>
          <a:p>
            <a:pPr algn="just"/>
            <a:r>
              <a:rPr lang="en-US" b="1" dirty="0">
                <a:latin typeface="Times New Roman" panose="02020603050405020304" pitchFamily="18" charset="0"/>
                <a:cs typeface="Times New Roman" panose="02020603050405020304" pitchFamily="18" charset="0"/>
              </a:rPr>
              <a:t>Cover page</a:t>
            </a:r>
            <a:r>
              <a:rPr lang="en-US" dirty="0">
                <a:latin typeface="Times New Roman" panose="02020603050405020304" pitchFamily="18" charset="0"/>
                <a:cs typeface="Times New Roman" panose="02020603050405020304" pitchFamily="18" charset="0"/>
              </a:rPr>
              <a:t>: It includes the customer and project names</a:t>
            </a:r>
          </a:p>
          <a:p>
            <a:pPr algn="just"/>
            <a:r>
              <a:rPr lang="en-US" b="1" dirty="0">
                <a:latin typeface="Times New Roman" panose="02020603050405020304" pitchFamily="18" charset="0"/>
                <a:cs typeface="Times New Roman" panose="02020603050405020304" pitchFamily="18" charset="0"/>
              </a:rPr>
              <a:t>Document version log</a:t>
            </a:r>
            <a:r>
              <a:rPr lang="en-US" dirty="0">
                <a:latin typeface="Times New Roman" panose="02020603050405020304" pitchFamily="18" charset="0"/>
                <a:cs typeface="Times New Roman" panose="02020603050405020304" pitchFamily="18" charset="0"/>
              </a:rPr>
              <a:t>: It contains the log of authors and changes made to the document</a:t>
            </a:r>
          </a:p>
          <a:p>
            <a:pPr algn="just"/>
            <a:r>
              <a:rPr lang="en-US" b="1" dirty="0">
                <a:latin typeface="Times New Roman" panose="02020603050405020304" pitchFamily="18" charset="0"/>
                <a:cs typeface="Times New Roman" panose="02020603050405020304" pitchFamily="18" charset="0"/>
              </a:rPr>
              <a:t>Document contacts</a:t>
            </a:r>
            <a:r>
              <a:rPr lang="en-US" dirty="0">
                <a:latin typeface="Times New Roman" panose="02020603050405020304" pitchFamily="18" charset="0"/>
                <a:cs typeface="Times New Roman" panose="02020603050405020304" pitchFamily="18" charset="0"/>
              </a:rPr>
              <a:t>: It includes the subject matter experts involved in the creation of the design</a:t>
            </a:r>
          </a:p>
          <a:p>
            <a:pPr algn="just"/>
            <a:r>
              <a:rPr lang="en-US" b="1" dirty="0">
                <a:latin typeface="Times New Roman" panose="02020603050405020304" pitchFamily="18" charset="0"/>
                <a:cs typeface="Times New Roman" panose="02020603050405020304" pitchFamily="18" charset="0"/>
              </a:rPr>
              <a:t>Table of contents</a:t>
            </a:r>
            <a:r>
              <a:rPr lang="en-US" dirty="0">
                <a:latin typeface="Times New Roman" panose="02020603050405020304" pitchFamily="18" charset="0"/>
                <a:cs typeface="Times New Roman" panose="02020603050405020304" pitchFamily="18" charset="0"/>
              </a:rPr>
              <a:t>: It is the index of the document sections for quick reference</a:t>
            </a:r>
          </a:p>
          <a:p>
            <a:pPr algn="just"/>
            <a:r>
              <a:rPr lang="en-US" b="1" dirty="0">
                <a:latin typeface="Times New Roman" panose="02020603050405020304" pitchFamily="18" charset="0"/>
                <a:cs typeface="Times New Roman" panose="02020603050405020304" pitchFamily="18" charset="0"/>
              </a:rPr>
              <a:t>List of tables</a:t>
            </a:r>
            <a:r>
              <a:rPr lang="en-US" dirty="0">
                <a:latin typeface="Times New Roman" panose="02020603050405020304" pitchFamily="18" charset="0"/>
                <a:cs typeface="Times New Roman" panose="02020603050405020304" pitchFamily="18" charset="0"/>
              </a:rPr>
              <a:t>: It is the index of tables included in the document for quick reference</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sp>
        <p:nvSpPr>
          <p:cNvPr id="5" name="Footer Placeholder 9">
            <a:extLst>
              <a:ext uri="{FF2B5EF4-FFF2-40B4-BE49-F238E27FC236}">
                <a16:creationId xmlns:a16="http://schemas.microsoft.com/office/drawing/2014/main" id="{BB183C29-D769-BA54-305B-9E93D2542FEE}"/>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1369"/>
            <a:ext cx="10515600" cy="819319"/>
          </a:xfrm>
        </p:spPr>
        <p:txBody>
          <a:bodyPr>
            <a:normAutofit fontScale="90000"/>
          </a:bodyPr>
          <a:lstStyle/>
          <a:p>
            <a:pPr algn="ctr"/>
            <a:br>
              <a:rPr lang="en-US" dirty="0"/>
            </a:br>
            <a:r>
              <a:rPr lang="en-US" dirty="0"/>
              <a:t>Creating the architecture design document</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algn="just"/>
            <a:r>
              <a:rPr lang="en-US" b="1" dirty="0">
                <a:latin typeface="Times New Roman" panose="02020603050405020304" pitchFamily="18" charset="0"/>
                <a:cs typeface="Times New Roman" panose="02020603050405020304" pitchFamily="18" charset="0"/>
              </a:rPr>
              <a:t>List of figures</a:t>
            </a:r>
            <a:r>
              <a:rPr lang="en-US" dirty="0">
                <a:latin typeface="Times New Roman" panose="02020603050405020304" pitchFamily="18" charset="0"/>
                <a:cs typeface="Times New Roman" panose="02020603050405020304" pitchFamily="18" charset="0"/>
              </a:rPr>
              <a:t>: It is the index of figures included in the document for quick reference</a:t>
            </a:r>
          </a:p>
          <a:p>
            <a:pPr algn="just"/>
            <a:r>
              <a:rPr lang="en-US" b="1" dirty="0">
                <a:latin typeface="Times New Roman" panose="02020603050405020304" pitchFamily="18" charset="0"/>
                <a:cs typeface="Times New Roman" panose="02020603050405020304" pitchFamily="18" charset="0"/>
              </a:rPr>
              <a:t>Purpose and overview</a:t>
            </a:r>
            <a:r>
              <a:rPr lang="en-US" dirty="0">
                <a:latin typeface="Times New Roman" panose="02020603050405020304" pitchFamily="18" charset="0"/>
                <a:cs typeface="Times New Roman" panose="02020603050405020304" pitchFamily="18" charset="0"/>
              </a:rPr>
              <a:t>: This section consists of an executive summary to provide an overview of the design and the design methodology followed in creating the design</a:t>
            </a:r>
          </a:p>
          <a:p>
            <a:pPr algn="just"/>
            <a:r>
              <a:rPr lang="en-US" b="1" dirty="0">
                <a:latin typeface="Times New Roman" panose="02020603050405020304" pitchFamily="18" charset="0"/>
                <a:cs typeface="Times New Roman" panose="02020603050405020304" pitchFamily="18" charset="0"/>
              </a:rPr>
              <a:t>Conceptual design</a:t>
            </a:r>
            <a:r>
              <a:rPr lang="en-US" dirty="0">
                <a:latin typeface="Times New Roman" panose="02020603050405020304" pitchFamily="18" charset="0"/>
                <a:cs typeface="Times New Roman" panose="02020603050405020304" pitchFamily="18" charset="0"/>
              </a:rPr>
              <a:t>: It is the documentation of the design factors: requirements, constraints, and assumptions</a:t>
            </a:r>
          </a:p>
          <a:p>
            <a:pPr algn="just"/>
            <a:r>
              <a:rPr lang="en-US" b="1" dirty="0">
                <a:latin typeface="Times New Roman" panose="02020603050405020304" pitchFamily="18" charset="0"/>
                <a:cs typeface="Times New Roman" panose="02020603050405020304" pitchFamily="18" charset="0"/>
              </a:rPr>
              <a:t>Logical design</a:t>
            </a:r>
            <a:r>
              <a:rPr lang="en-US" dirty="0">
                <a:latin typeface="Times New Roman" panose="02020603050405020304" pitchFamily="18" charset="0"/>
                <a:cs typeface="Times New Roman" panose="02020603050405020304" pitchFamily="18" charset="0"/>
              </a:rPr>
              <a:t>: It has the details of the logical management, storage, network, and compute design</a:t>
            </a:r>
          </a:p>
          <a:p>
            <a:pPr algn="just"/>
            <a:r>
              <a:rPr lang="en-US" b="1" dirty="0">
                <a:latin typeface="Times New Roman" panose="02020603050405020304" pitchFamily="18" charset="0"/>
                <a:cs typeface="Times New Roman" panose="02020603050405020304" pitchFamily="18" charset="0"/>
              </a:rPr>
              <a:t>Physical design</a:t>
            </a:r>
            <a:r>
              <a:rPr lang="en-US" dirty="0">
                <a:latin typeface="Times New Roman" panose="02020603050405020304" pitchFamily="18" charset="0"/>
                <a:cs typeface="Times New Roman" panose="02020603050405020304" pitchFamily="18" charset="0"/>
              </a:rPr>
              <a:t>: It contains the details of the selected hardware and the configuration of the physical and virtual hardware</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sp>
        <p:nvSpPr>
          <p:cNvPr id="5" name="Footer Placeholder 9">
            <a:extLst>
              <a:ext uri="{FF2B5EF4-FFF2-40B4-BE49-F238E27FC236}">
                <a16:creationId xmlns:a16="http://schemas.microsoft.com/office/drawing/2014/main" id="{6051A24D-5500-1DE0-B5CE-5F912A196EFC}"/>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0612"/>
            <a:ext cx="10515600" cy="830076"/>
          </a:xfrm>
        </p:spPr>
        <p:txBody>
          <a:bodyPr>
            <a:normAutofit fontScale="90000"/>
          </a:bodyPr>
          <a:lstStyle/>
          <a:p>
            <a:pPr algn="ctr"/>
            <a:br>
              <a:rPr lang="en-US" dirty="0"/>
            </a:br>
            <a:r>
              <a:rPr lang="en-US" sz="4000" dirty="0">
                <a:latin typeface="Times New Roman" panose="02020603050405020304" pitchFamily="18" charset="0"/>
                <a:cs typeface="Times New Roman" panose="02020603050405020304" pitchFamily="18" charset="0"/>
              </a:rPr>
              <a:t>Writing an implementation plan</a:t>
            </a:r>
            <a:br>
              <a:rPr lang="en-US" dirty="0"/>
            </a:br>
            <a:endParaRPr lang="en-US"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The implementation plan documents the requirements necessary to complete the implementation of the design.</a:t>
            </a:r>
          </a:p>
          <a:p>
            <a:pPr algn="just"/>
            <a:r>
              <a:rPr lang="en-US" dirty="0">
                <a:latin typeface="Times New Roman" panose="02020603050405020304" pitchFamily="18" charset="0"/>
                <a:cs typeface="Times New Roman" panose="02020603050405020304" pitchFamily="18" charset="0"/>
              </a:rPr>
              <a:t>The implementation plan defines the project roles and defines what is expected of the customer and what they can expect during the implementation of the design.</a:t>
            </a:r>
          </a:p>
          <a:p>
            <a:pPr algn="just"/>
            <a:r>
              <a:rPr lang="en-US" dirty="0">
                <a:latin typeface="Times New Roman" panose="02020603050405020304" pitchFamily="18" charset="0"/>
                <a:cs typeface="Times New Roman" panose="02020603050405020304" pitchFamily="18" charset="0"/>
              </a:rPr>
              <a:t>This document is sometimes referred to as the </a:t>
            </a:r>
            <a:r>
              <a:rPr lang="en-US" b="1" dirty="0">
                <a:latin typeface="Times New Roman" panose="02020603050405020304" pitchFamily="18" charset="0"/>
                <a:cs typeface="Times New Roman" panose="02020603050405020304" pitchFamily="18" charset="0"/>
              </a:rPr>
              <a:t>statement of work</a:t>
            </a:r>
            <a:r>
              <a:rPr lang="en-US" dirty="0">
                <a:latin typeface="Times New Roman" panose="02020603050405020304" pitchFamily="18" charset="0"/>
                <a:cs typeface="Times New Roman" panose="02020603050405020304" pitchFamily="18" charset="0"/>
              </a:rPr>
              <a:t>. It defines the key points of contact, the requirements that must be satisfied to start the implementation, any project documentation deliverables, and how changes to the design and implementation will be handled.</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
        <p:nvSpPr>
          <p:cNvPr id="5" name="Footer Placeholder 9">
            <a:extLst>
              <a:ext uri="{FF2B5EF4-FFF2-40B4-BE49-F238E27FC236}">
                <a16:creationId xmlns:a16="http://schemas.microsoft.com/office/drawing/2014/main" id="{F988857C-ED2C-9415-C44D-D5F5DD93D818}"/>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96066"/>
            <a:ext cx="10515600" cy="894622"/>
          </a:xfrm>
        </p:spPr>
        <p:txBody>
          <a:bodyPr>
            <a:normAutofit fontScale="90000"/>
          </a:bodyPr>
          <a:lstStyle/>
          <a:p>
            <a:pPr algn="ctr"/>
            <a:br>
              <a:rPr lang="en-US" dirty="0"/>
            </a:br>
            <a:r>
              <a:rPr lang="en-US" sz="4000" dirty="0">
                <a:latin typeface="Times New Roman" panose="02020603050405020304" pitchFamily="18" charset="0"/>
                <a:cs typeface="Times New Roman" panose="02020603050405020304" pitchFamily="18" charset="0"/>
              </a:rPr>
              <a:t>Writing an implementation plan</a:t>
            </a:r>
            <a:br>
              <a:rPr lang="en-US" dirty="0"/>
            </a:br>
            <a:endParaRPr lang="en-US" dirty="0"/>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implementation plan should include the following information:</a:t>
            </a:r>
          </a:p>
          <a:p>
            <a:r>
              <a:rPr lang="en-US" dirty="0">
                <a:latin typeface="Times New Roman" panose="02020603050405020304" pitchFamily="18" charset="0"/>
                <a:cs typeface="Times New Roman" panose="02020603050405020304" pitchFamily="18" charset="0"/>
              </a:rPr>
              <a:t>Purpose statement</a:t>
            </a:r>
          </a:p>
          <a:p>
            <a:r>
              <a:rPr lang="en-US" dirty="0">
                <a:latin typeface="Times New Roman" panose="02020603050405020304" pitchFamily="18" charset="0"/>
                <a:cs typeface="Times New Roman" panose="02020603050405020304" pitchFamily="18" charset="0"/>
              </a:rPr>
              <a:t>Project contacts</a:t>
            </a:r>
          </a:p>
          <a:p>
            <a:r>
              <a:rPr lang="en-US" dirty="0">
                <a:latin typeface="Times New Roman" panose="02020603050405020304" pitchFamily="18" charset="0"/>
                <a:cs typeface="Times New Roman" panose="02020603050405020304" pitchFamily="18" charset="0"/>
              </a:rPr>
              <a:t>Implementation requirements</a:t>
            </a:r>
          </a:p>
          <a:p>
            <a:r>
              <a:rPr lang="en-US" dirty="0">
                <a:latin typeface="Times New Roman" panose="02020603050405020304" pitchFamily="18" charset="0"/>
                <a:cs typeface="Times New Roman" panose="02020603050405020304" pitchFamily="18" charset="0"/>
              </a:rPr>
              <a:t>Overview of implementation steps</a:t>
            </a:r>
          </a:p>
          <a:p>
            <a:r>
              <a:rPr lang="en-US" dirty="0">
                <a:latin typeface="Times New Roman" panose="02020603050405020304" pitchFamily="18" charset="0"/>
                <a:cs typeface="Times New Roman" panose="02020603050405020304" pitchFamily="18" charset="0"/>
              </a:rPr>
              <a:t>Definition of project documentation deliverables</a:t>
            </a:r>
          </a:p>
          <a:p>
            <a:r>
              <a:rPr lang="en-US" dirty="0">
                <a:latin typeface="Times New Roman" panose="02020603050405020304" pitchFamily="18" charset="0"/>
                <a:cs typeface="Times New Roman" panose="02020603050405020304" pitchFamily="18" charset="0"/>
              </a:rPr>
              <a:t>Implementation of change management</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
        <p:nvSpPr>
          <p:cNvPr id="5" name="Footer Placeholder 9">
            <a:extLst>
              <a:ext uri="{FF2B5EF4-FFF2-40B4-BE49-F238E27FC236}">
                <a16:creationId xmlns:a16="http://schemas.microsoft.com/office/drawing/2014/main" id="{5287AE50-5323-BF8C-7E2A-7F7301DA9243}"/>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03642"/>
            <a:ext cx="10515600" cy="787046"/>
          </a:xfrm>
        </p:spPr>
        <p:txBody>
          <a:bodyPr>
            <a:normAutofit fontScale="90000"/>
          </a:bodyPr>
          <a:lstStyle/>
          <a:p>
            <a:pPr algn="ctr"/>
            <a:br>
              <a:rPr lang="en-US" dirty="0"/>
            </a:br>
            <a:r>
              <a:rPr lang="en-US" sz="4000" dirty="0">
                <a:latin typeface="Times New Roman" panose="02020603050405020304" pitchFamily="18" charset="0"/>
                <a:cs typeface="Times New Roman" panose="02020603050405020304" pitchFamily="18" charset="0"/>
              </a:rPr>
              <a:t>Writing an implementation plan</a:t>
            </a:r>
            <a:br>
              <a:rPr lang="en-US" dirty="0"/>
            </a:br>
            <a:endParaRPr lang="en-US" dirty="0"/>
          </a:p>
        </p:txBody>
      </p:sp>
      <p:sp>
        <p:nvSpPr>
          <p:cNvPr id="3" name="Content Placeholder 2"/>
          <p:cNvSpPr>
            <a:spLocks noGrp="1"/>
          </p:cNvSpPr>
          <p:nvPr>
            <p:ph idx="1"/>
          </p:nvPr>
        </p:nvSpPr>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The following is an example outline for an implementation plan:</a:t>
            </a:r>
          </a:p>
          <a:p>
            <a:pPr algn="just"/>
            <a:r>
              <a:rPr lang="en-US" b="1" dirty="0">
                <a:latin typeface="Times New Roman" panose="02020603050405020304" pitchFamily="18" charset="0"/>
                <a:cs typeface="Times New Roman" panose="02020603050405020304" pitchFamily="18" charset="0"/>
              </a:rPr>
              <a:t>Cover page</a:t>
            </a:r>
            <a:r>
              <a:rPr lang="en-US" dirty="0">
                <a:latin typeface="Times New Roman" panose="02020603050405020304" pitchFamily="18" charset="0"/>
                <a:cs typeface="Times New Roman" panose="02020603050405020304" pitchFamily="18" charset="0"/>
              </a:rPr>
              <a:t>: It includes the customer and project names</a:t>
            </a:r>
          </a:p>
          <a:p>
            <a:pPr algn="just"/>
            <a:r>
              <a:rPr lang="en-US" b="1" dirty="0">
                <a:latin typeface="Times New Roman" panose="02020603050405020304" pitchFamily="18" charset="0"/>
                <a:cs typeface="Times New Roman" panose="02020603050405020304" pitchFamily="18" charset="0"/>
              </a:rPr>
              <a:t>Document version log</a:t>
            </a:r>
            <a:r>
              <a:rPr lang="en-US" dirty="0">
                <a:latin typeface="Times New Roman" panose="02020603050405020304" pitchFamily="18" charset="0"/>
                <a:cs typeface="Times New Roman" panose="02020603050405020304" pitchFamily="18" charset="0"/>
              </a:rPr>
              <a:t>: It contains the log of authors and changes made to the document</a:t>
            </a:r>
          </a:p>
          <a:p>
            <a:pPr algn="just"/>
            <a:r>
              <a:rPr lang="en-US" b="1" dirty="0">
                <a:latin typeface="Times New Roman" panose="02020603050405020304" pitchFamily="18" charset="0"/>
                <a:cs typeface="Times New Roman" panose="02020603050405020304" pitchFamily="18" charset="0"/>
              </a:rPr>
              <a:t>Document contacts</a:t>
            </a:r>
            <a:r>
              <a:rPr lang="en-US" dirty="0">
                <a:latin typeface="Times New Roman" panose="02020603050405020304" pitchFamily="18" charset="0"/>
                <a:cs typeface="Times New Roman" panose="02020603050405020304" pitchFamily="18" charset="0"/>
              </a:rPr>
              <a:t>: It includes the subject matter experts involved in the creation of the design</a:t>
            </a:r>
          </a:p>
          <a:p>
            <a:pPr algn="just"/>
            <a:r>
              <a:rPr lang="en-US" b="1" dirty="0">
                <a:latin typeface="Times New Roman" panose="02020603050405020304" pitchFamily="18" charset="0"/>
                <a:cs typeface="Times New Roman" panose="02020603050405020304" pitchFamily="18" charset="0"/>
              </a:rPr>
              <a:t>Table of contents</a:t>
            </a:r>
            <a:r>
              <a:rPr lang="en-US" dirty="0">
                <a:latin typeface="Times New Roman" panose="02020603050405020304" pitchFamily="18" charset="0"/>
                <a:cs typeface="Times New Roman" panose="02020603050405020304" pitchFamily="18" charset="0"/>
              </a:rPr>
              <a:t>: It is the index of document sections for quick reference</a:t>
            </a:r>
          </a:p>
          <a:p>
            <a:pPr algn="just"/>
            <a:r>
              <a:rPr lang="en-US" b="1" dirty="0">
                <a:latin typeface="Times New Roman" panose="02020603050405020304" pitchFamily="18" charset="0"/>
                <a:cs typeface="Times New Roman" panose="02020603050405020304" pitchFamily="18" charset="0"/>
              </a:rPr>
              <a:t>List of tables</a:t>
            </a:r>
            <a:r>
              <a:rPr lang="en-US" dirty="0">
                <a:latin typeface="Times New Roman" panose="02020603050405020304" pitchFamily="18" charset="0"/>
                <a:cs typeface="Times New Roman" panose="02020603050405020304" pitchFamily="18" charset="0"/>
              </a:rPr>
              <a:t>: It is the index of tables included in the document for quick reference</a:t>
            </a:r>
          </a:p>
          <a:p>
            <a:endParaRPr lang="en-US" dirty="0"/>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
        <p:nvSpPr>
          <p:cNvPr id="5" name="Footer Placeholder 9">
            <a:extLst>
              <a:ext uri="{FF2B5EF4-FFF2-40B4-BE49-F238E27FC236}">
                <a16:creationId xmlns:a16="http://schemas.microsoft.com/office/drawing/2014/main" id="{4BEF4EF6-247A-F61B-DACB-0C429DD2408A}"/>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5308"/>
            <a:ext cx="10515600" cy="905380"/>
          </a:xfrm>
        </p:spPr>
        <p:txBody>
          <a:bodyPr>
            <a:normAutofit fontScale="90000"/>
          </a:bodyPr>
          <a:lstStyle/>
          <a:p>
            <a:pPr algn="ctr"/>
            <a:br>
              <a:rPr lang="en-US" dirty="0"/>
            </a:br>
            <a:r>
              <a:rPr lang="en-US" sz="4000" dirty="0">
                <a:latin typeface="Times New Roman" panose="02020603050405020304" pitchFamily="18" charset="0"/>
                <a:cs typeface="Times New Roman" panose="02020603050405020304" pitchFamily="18" charset="0"/>
              </a:rPr>
              <a:t>Writing an implementation plan</a:t>
            </a:r>
            <a:br>
              <a:rPr lang="en-US" dirty="0"/>
            </a:br>
            <a:endParaRPr lang="en-US" dirty="0"/>
          </a:p>
        </p:txBody>
      </p:sp>
      <p:sp>
        <p:nvSpPr>
          <p:cNvPr id="3" name="Content Placeholder 2"/>
          <p:cNvSpPr>
            <a:spLocks noGrp="1"/>
          </p:cNvSpPr>
          <p:nvPr>
            <p:ph idx="1"/>
          </p:nvPr>
        </p:nvSpPr>
        <p:spPr/>
        <p:txBody>
          <a:bodyPr>
            <a:normAutofit fontScale="92500"/>
          </a:bodyPr>
          <a:lstStyle/>
          <a:p>
            <a:pPr algn="just"/>
            <a:r>
              <a:rPr lang="en-US" b="1" dirty="0">
                <a:latin typeface="Times New Roman" panose="02020603050405020304" pitchFamily="18" charset="0"/>
                <a:cs typeface="Times New Roman" panose="02020603050405020304" pitchFamily="18" charset="0"/>
              </a:rPr>
              <a:t>List of figures</a:t>
            </a:r>
            <a:r>
              <a:rPr lang="en-US" dirty="0">
                <a:latin typeface="Times New Roman" panose="02020603050405020304" pitchFamily="18" charset="0"/>
                <a:cs typeface="Times New Roman" panose="02020603050405020304" pitchFamily="18" charset="0"/>
              </a:rPr>
              <a:t>: It is the index of figures included in the document for quick reference</a:t>
            </a:r>
          </a:p>
          <a:p>
            <a:pPr algn="just"/>
            <a:r>
              <a:rPr lang="en-US" b="1" dirty="0">
                <a:latin typeface="Times New Roman" panose="02020603050405020304" pitchFamily="18" charset="0"/>
                <a:cs typeface="Times New Roman" panose="02020603050405020304" pitchFamily="18" charset="0"/>
              </a:rPr>
              <a:t>Purpose statement</a:t>
            </a:r>
            <a:r>
              <a:rPr lang="en-US" dirty="0">
                <a:latin typeface="Times New Roman" panose="02020603050405020304" pitchFamily="18" charset="0"/>
                <a:cs typeface="Times New Roman" panose="02020603050405020304" pitchFamily="18" charset="0"/>
              </a:rPr>
              <a:t>: It defines the purpose of the document</a:t>
            </a:r>
          </a:p>
          <a:p>
            <a:pPr algn="just"/>
            <a:r>
              <a:rPr lang="en-US" b="1" dirty="0">
                <a:latin typeface="Times New Roman" panose="02020603050405020304" pitchFamily="18" charset="0"/>
                <a:cs typeface="Times New Roman" panose="02020603050405020304" pitchFamily="18" charset="0"/>
              </a:rPr>
              <a:t>Project contacts</a:t>
            </a:r>
            <a:r>
              <a:rPr lang="en-US" dirty="0">
                <a:latin typeface="Times New Roman" panose="02020603050405020304" pitchFamily="18" charset="0"/>
                <a:cs typeface="Times New Roman" panose="02020603050405020304" pitchFamily="18" charset="0"/>
              </a:rPr>
              <a:t>: It is the documentation of key project points of contact</a:t>
            </a:r>
          </a:p>
          <a:p>
            <a:pPr algn="just"/>
            <a:r>
              <a:rPr lang="en-US" b="1" dirty="0">
                <a:latin typeface="Times New Roman" panose="02020603050405020304" pitchFamily="18" charset="0"/>
                <a:cs typeface="Times New Roman" panose="02020603050405020304" pitchFamily="18" charset="0"/>
              </a:rPr>
              <a:t>Implementation requirements</a:t>
            </a:r>
            <a:r>
              <a:rPr lang="en-US" dirty="0">
                <a:latin typeface="Times New Roman" panose="02020603050405020304" pitchFamily="18" charset="0"/>
                <a:cs typeface="Times New Roman" panose="02020603050405020304" pitchFamily="18" charset="0"/>
              </a:rPr>
              <a:t>: It provides the access, facilities, hardware, software, and licensing required to complete the implementation</a:t>
            </a:r>
          </a:p>
          <a:p>
            <a:pPr algn="just"/>
            <a:r>
              <a:rPr lang="en-US" b="1" dirty="0">
                <a:latin typeface="Times New Roman" panose="02020603050405020304" pitchFamily="18" charset="0"/>
                <a:cs typeface="Times New Roman" panose="02020603050405020304" pitchFamily="18" charset="0"/>
              </a:rPr>
              <a:t>Implementation overview</a:t>
            </a:r>
            <a:r>
              <a:rPr lang="en-US" dirty="0">
                <a:latin typeface="Times New Roman" panose="02020603050405020304" pitchFamily="18" charset="0"/>
                <a:cs typeface="Times New Roman" panose="02020603050405020304" pitchFamily="18" charset="0"/>
              </a:rPr>
              <a:t>: It is the overview of the steps required to complete the implementation</a:t>
            </a:r>
          </a:p>
          <a:p>
            <a:pPr algn="just"/>
            <a:r>
              <a:rPr lang="en-US" b="1" dirty="0">
                <a:latin typeface="Times New Roman" panose="02020603050405020304" pitchFamily="18" charset="0"/>
                <a:cs typeface="Times New Roman" panose="02020603050405020304" pitchFamily="18" charset="0"/>
              </a:rPr>
              <a:t>Project deliverables</a:t>
            </a:r>
            <a:r>
              <a:rPr lang="en-US" dirty="0">
                <a:latin typeface="Times New Roman" panose="02020603050405020304" pitchFamily="18" charset="0"/>
                <a:cs typeface="Times New Roman" panose="02020603050405020304" pitchFamily="18" charset="0"/>
              </a:rPr>
              <a:t>: It consists of the documents that will be provided as deliverables once implementation has been completed</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sp>
        <p:nvSpPr>
          <p:cNvPr id="5" name="Footer Placeholder 9">
            <a:extLst>
              <a:ext uri="{FF2B5EF4-FFF2-40B4-BE49-F238E27FC236}">
                <a16:creationId xmlns:a16="http://schemas.microsoft.com/office/drawing/2014/main" id="{69B58610-40C1-A9FD-018F-7575D07C8624}"/>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82127"/>
            <a:ext cx="10515600" cy="808561"/>
          </a:xfrm>
        </p:spPr>
        <p:txBody>
          <a:bodyPr>
            <a:normAutofit fontScale="90000"/>
          </a:bodyPr>
          <a:lstStyle/>
          <a:p>
            <a:pPr algn="ctr"/>
            <a:br>
              <a:rPr lang="en-US" dirty="0"/>
            </a:br>
            <a:r>
              <a:rPr lang="en-US" sz="4000" dirty="0">
                <a:latin typeface="Times New Roman" panose="02020603050405020304" pitchFamily="18" charset="0"/>
                <a:cs typeface="Times New Roman" panose="02020603050405020304" pitchFamily="18" charset="0"/>
              </a:rPr>
              <a:t>Developing an installation guide</a:t>
            </a:r>
            <a:br>
              <a:rPr lang="en-US" dirty="0"/>
            </a:br>
            <a:endParaRPr lang="en-US"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The installation guide provides step-by-step instructions for the implementation of the architecture design. </a:t>
            </a:r>
          </a:p>
          <a:p>
            <a:pPr algn="just"/>
            <a:r>
              <a:rPr lang="en-US" dirty="0">
                <a:latin typeface="Times New Roman" panose="02020603050405020304" pitchFamily="18" charset="0"/>
                <a:cs typeface="Times New Roman" panose="02020603050405020304" pitchFamily="18" charset="0"/>
              </a:rPr>
              <a:t>This guide should include detailed information about how to implement and configure all the resources associated with the virtual datacenter project.</a:t>
            </a:r>
          </a:p>
          <a:p>
            <a:pPr algn="just"/>
            <a:r>
              <a:rPr lang="en-US" dirty="0">
                <a:latin typeface="Times New Roman" panose="02020603050405020304" pitchFamily="18" charset="0"/>
                <a:cs typeface="Times New Roman" panose="02020603050405020304" pitchFamily="18" charset="0"/>
              </a:rPr>
              <a:t>In many projects, the person creating the design is not the person responsible for implementing the design. </a:t>
            </a:r>
          </a:p>
          <a:p>
            <a:pPr algn="just"/>
            <a:r>
              <a:rPr lang="en-US" dirty="0">
                <a:latin typeface="Times New Roman" panose="02020603050405020304" pitchFamily="18" charset="0"/>
                <a:cs typeface="Times New Roman" panose="02020603050405020304" pitchFamily="18" charset="0"/>
              </a:rPr>
              <a:t>The installation guide outlines the steps necessary to implement the physical design outlined in the architecture design document.</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sp>
        <p:nvSpPr>
          <p:cNvPr id="5" name="Footer Placeholder 9">
            <a:extLst>
              <a:ext uri="{FF2B5EF4-FFF2-40B4-BE49-F238E27FC236}">
                <a16:creationId xmlns:a16="http://schemas.microsoft.com/office/drawing/2014/main" id="{810B06DE-27E7-2609-786F-7233DBC64EE3}"/>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03642"/>
            <a:ext cx="10515600" cy="787046"/>
          </a:xfrm>
        </p:spPr>
        <p:txBody>
          <a:bodyPr>
            <a:noAutofit/>
          </a:bodyPr>
          <a:lstStyle/>
          <a:p>
            <a:pPr algn="ct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Developing an installation guide</a:t>
            </a:r>
            <a:br>
              <a:rPr lang="en-US" sz="3600" dirty="0">
                <a:latin typeface="Times New Roman" panose="02020603050405020304" pitchFamily="18" charset="0"/>
                <a:cs typeface="Times New Roman" panose="02020603050405020304" pitchFamily="18" charset="0"/>
              </a:rPr>
            </a:b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installation guide should include the following information:</a:t>
            </a:r>
          </a:p>
          <a:p>
            <a:r>
              <a:rPr lang="en-US" dirty="0">
                <a:latin typeface="Times New Roman" panose="02020603050405020304" pitchFamily="18" charset="0"/>
                <a:cs typeface="Times New Roman" panose="02020603050405020304" pitchFamily="18" charset="0"/>
              </a:rPr>
              <a:t>Purpose statement</a:t>
            </a:r>
          </a:p>
          <a:p>
            <a:r>
              <a:rPr lang="en-US" dirty="0">
                <a:latin typeface="Times New Roman" panose="02020603050405020304" pitchFamily="18" charset="0"/>
                <a:cs typeface="Times New Roman" panose="02020603050405020304" pitchFamily="18" charset="0"/>
              </a:rPr>
              <a:t>Assumption statement</a:t>
            </a:r>
          </a:p>
          <a:p>
            <a:r>
              <a:rPr lang="en-US" dirty="0">
                <a:latin typeface="Times New Roman" panose="02020603050405020304" pitchFamily="18" charset="0"/>
                <a:cs typeface="Times New Roman" panose="02020603050405020304" pitchFamily="18" charset="0"/>
              </a:rPr>
              <a:t>Step-by-step instructions to implement the design</a:t>
            </a:r>
          </a:p>
          <a:p>
            <a:pPr marL="0" indent="0">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sp>
        <p:nvSpPr>
          <p:cNvPr id="5" name="Footer Placeholder 9">
            <a:extLst>
              <a:ext uri="{FF2B5EF4-FFF2-40B4-BE49-F238E27FC236}">
                <a16:creationId xmlns:a16="http://schemas.microsoft.com/office/drawing/2014/main" id="{16FBFB96-71CE-BFF1-90DB-9C8A8EC4357F}"/>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28339"/>
            <a:ext cx="10515600" cy="862349"/>
          </a:xfrm>
        </p:spPr>
        <p:txBody>
          <a:bodyPr>
            <a:normAutofit/>
          </a:bodyPr>
          <a:lstStyle/>
          <a:p>
            <a:pPr algn="ctr"/>
            <a:r>
              <a:rPr lang="en-US" sz="3600" dirty="0">
                <a:latin typeface="Times New Roman" panose="02020603050405020304" pitchFamily="18" charset="0"/>
                <a:cs typeface="Times New Roman" panose="02020603050405020304" pitchFamily="18" charset="0"/>
              </a:rPr>
              <a:t>Developing an installation guide </a:t>
            </a:r>
          </a:p>
        </p:txBody>
      </p:sp>
      <p:sp>
        <p:nvSpPr>
          <p:cNvPr id="3" name="Content Placeholder 2"/>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The following is an example outline for an installation guide:</a:t>
            </a:r>
          </a:p>
          <a:p>
            <a:pPr algn="just"/>
            <a:r>
              <a:rPr lang="en-US" b="1" dirty="0">
                <a:latin typeface="Times New Roman" panose="02020603050405020304" pitchFamily="18" charset="0"/>
                <a:cs typeface="Times New Roman" panose="02020603050405020304" pitchFamily="18" charset="0"/>
              </a:rPr>
              <a:t>Cover page</a:t>
            </a:r>
            <a:r>
              <a:rPr lang="en-US" dirty="0">
                <a:latin typeface="Times New Roman" panose="02020603050405020304" pitchFamily="18" charset="0"/>
                <a:cs typeface="Times New Roman" panose="02020603050405020304" pitchFamily="18" charset="0"/>
              </a:rPr>
              <a:t>: It includes the customer and project names</a:t>
            </a:r>
          </a:p>
          <a:p>
            <a:pPr algn="just"/>
            <a:r>
              <a:rPr lang="en-US" b="1" dirty="0">
                <a:latin typeface="Times New Roman" panose="02020603050405020304" pitchFamily="18" charset="0"/>
                <a:cs typeface="Times New Roman" panose="02020603050405020304" pitchFamily="18" charset="0"/>
              </a:rPr>
              <a:t>Document version log</a:t>
            </a:r>
            <a:r>
              <a:rPr lang="en-US" dirty="0">
                <a:latin typeface="Times New Roman" panose="02020603050405020304" pitchFamily="18" charset="0"/>
                <a:cs typeface="Times New Roman" panose="02020603050405020304" pitchFamily="18" charset="0"/>
              </a:rPr>
              <a:t>: It contains the log of authors and changes made to the document</a:t>
            </a:r>
          </a:p>
          <a:p>
            <a:pPr algn="just"/>
            <a:r>
              <a:rPr lang="en-US" b="1" dirty="0">
                <a:latin typeface="Times New Roman" panose="02020603050405020304" pitchFamily="18" charset="0"/>
                <a:cs typeface="Times New Roman" panose="02020603050405020304" pitchFamily="18" charset="0"/>
              </a:rPr>
              <a:t>Document contacts</a:t>
            </a:r>
            <a:r>
              <a:rPr lang="en-US" dirty="0">
                <a:latin typeface="Times New Roman" panose="02020603050405020304" pitchFamily="18" charset="0"/>
                <a:cs typeface="Times New Roman" panose="02020603050405020304" pitchFamily="18" charset="0"/>
              </a:rPr>
              <a:t>: It includes the subject matter experts involved in the creation of the design</a:t>
            </a:r>
          </a:p>
          <a:p>
            <a:pPr algn="just"/>
            <a:r>
              <a:rPr lang="en-US" b="1" dirty="0">
                <a:latin typeface="Times New Roman" panose="02020603050405020304" pitchFamily="18" charset="0"/>
                <a:cs typeface="Times New Roman" panose="02020603050405020304" pitchFamily="18" charset="0"/>
              </a:rPr>
              <a:t>Table of contents</a:t>
            </a:r>
            <a:r>
              <a:rPr lang="en-US" dirty="0">
                <a:latin typeface="Times New Roman" panose="02020603050405020304" pitchFamily="18" charset="0"/>
                <a:cs typeface="Times New Roman" panose="02020603050405020304" pitchFamily="18" charset="0"/>
              </a:rPr>
              <a:t>: It is the index of document sections for quick reference</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19</a:t>
            </a:fld>
            <a:endParaRPr lang="en-US"/>
          </a:p>
        </p:txBody>
      </p:sp>
      <p:sp>
        <p:nvSpPr>
          <p:cNvPr id="5" name="Footer Placeholder 9">
            <a:extLst>
              <a:ext uri="{FF2B5EF4-FFF2-40B4-BE49-F238E27FC236}">
                <a16:creationId xmlns:a16="http://schemas.microsoft.com/office/drawing/2014/main" id="{49EFB0FA-ACFA-E355-92E0-D3C9ADA31DFC}"/>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5308"/>
            <a:ext cx="10515600" cy="905380"/>
          </a:xfrm>
        </p:spPr>
        <p:txBody>
          <a:bodyPr>
            <a:normAutofit/>
          </a:bodyPr>
          <a:lstStyle/>
          <a:p>
            <a:pPr algn="ctr"/>
            <a:r>
              <a:rPr lang="en-US" sz="3600" dirty="0">
                <a:latin typeface="Times New Roman" panose="02020603050405020304" pitchFamily="18" charset="0"/>
                <a:cs typeface="Times New Roman" panose="02020603050405020304" pitchFamily="18" charset="0"/>
              </a:rPr>
              <a:t>Developing an installation guide </a:t>
            </a:r>
          </a:p>
        </p:txBody>
      </p:sp>
      <p:sp>
        <p:nvSpPr>
          <p:cNvPr id="3" name="Content Placeholder 2"/>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List of tables</a:t>
            </a:r>
            <a:r>
              <a:rPr lang="en-US" dirty="0">
                <a:latin typeface="Times New Roman" panose="02020603050405020304" pitchFamily="18" charset="0"/>
                <a:cs typeface="Times New Roman" panose="02020603050405020304" pitchFamily="18" charset="0"/>
              </a:rPr>
              <a:t>: It is the index of tables included in the document for quick reference</a:t>
            </a:r>
          </a:p>
          <a:p>
            <a:pPr algn="just"/>
            <a:r>
              <a:rPr lang="en-US" b="1" dirty="0">
                <a:latin typeface="Times New Roman" panose="02020603050405020304" pitchFamily="18" charset="0"/>
                <a:cs typeface="Times New Roman" panose="02020603050405020304" pitchFamily="18" charset="0"/>
              </a:rPr>
              <a:t>List of figures</a:t>
            </a:r>
            <a:r>
              <a:rPr lang="en-US" dirty="0">
                <a:latin typeface="Times New Roman" panose="02020603050405020304" pitchFamily="18" charset="0"/>
                <a:cs typeface="Times New Roman" panose="02020603050405020304" pitchFamily="18" charset="0"/>
              </a:rPr>
              <a:t>: It is the index of figures included in the document for quick reference</a:t>
            </a:r>
          </a:p>
          <a:p>
            <a:pPr algn="just"/>
            <a:r>
              <a:rPr lang="en-US" b="1" dirty="0">
                <a:latin typeface="Times New Roman" panose="02020603050405020304" pitchFamily="18" charset="0"/>
                <a:cs typeface="Times New Roman" panose="02020603050405020304" pitchFamily="18" charset="0"/>
              </a:rPr>
              <a:t>Purpose statement</a:t>
            </a:r>
            <a:r>
              <a:rPr lang="en-US" dirty="0">
                <a:latin typeface="Times New Roman" panose="02020603050405020304" pitchFamily="18" charset="0"/>
                <a:cs typeface="Times New Roman" panose="02020603050405020304" pitchFamily="18" charset="0"/>
              </a:rPr>
              <a:t>: It defines the purpose of the document</a:t>
            </a:r>
          </a:p>
          <a:p>
            <a:pPr algn="just"/>
            <a:r>
              <a:rPr lang="en-US" b="1" dirty="0">
                <a:latin typeface="Times New Roman" panose="02020603050405020304" pitchFamily="18" charset="0"/>
                <a:cs typeface="Times New Roman" panose="02020603050405020304" pitchFamily="18" charset="0"/>
              </a:rPr>
              <a:t>Assumption statement</a:t>
            </a:r>
            <a:r>
              <a:rPr lang="en-US" dirty="0">
                <a:latin typeface="Times New Roman" panose="02020603050405020304" pitchFamily="18" charset="0"/>
                <a:cs typeface="Times New Roman" panose="02020603050405020304" pitchFamily="18" charset="0"/>
              </a:rPr>
              <a:t>: It defines any assumptions made in creating the document</a:t>
            </a:r>
          </a:p>
          <a:p>
            <a:pPr algn="just"/>
            <a:r>
              <a:rPr lang="en-US" b="1" dirty="0">
                <a:latin typeface="Times New Roman" panose="02020603050405020304" pitchFamily="18" charset="0"/>
                <a:cs typeface="Times New Roman" panose="02020603050405020304" pitchFamily="18" charset="0"/>
              </a:rPr>
              <a:t>Installation guide</a:t>
            </a:r>
            <a:r>
              <a:rPr lang="en-US" dirty="0">
                <a:latin typeface="Times New Roman" panose="02020603050405020304" pitchFamily="18" charset="0"/>
                <a:cs typeface="Times New Roman" panose="02020603050405020304" pitchFamily="18" charset="0"/>
              </a:rPr>
              <a:t>: It provides the step-by-step installation instructions to be followed when implementing the design</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20</a:t>
            </a:fld>
            <a:endParaRPr lang="en-US"/>
          </a:p>
        </p:txBody>
      </p:sp>
      <p:sp>
        <p:nvSpPr>
          <p:cNvPr id="5" name="Footer Placeholder 9">
            <a:extLst>
              <a:ext uri="{FF2B5EF4-FFF2-40B4-BE49-F238E27FC236}">
                <a16:creationId xmlns:a16="http://schemas.microsoft.com/office/drawing/2014/main" id="{EC17FE91-A066-5A94-EE00-8ADBBC8F79D9}"/>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92885"/>
            <a:ext cx="10515600" cy="797803"/>
          </a:xfrm>
        </p:spPr>
        <p:txBody>
          <a:bodyPr>
            <a:normAutofit fontScale="90000"/>
          </a:bodyPr>
          <a:lstStyle/>
          <a:p>
            <a:pPr algn="ctr"/>
            <a:br>
              <a:rPr lang="en-US" dirty="0"/>
            </a:br>
            <a:r>
              <a:rPr lang="en-US" sz="4000" dirty="0">
                <a:latin typeface="Times New Roman" panose="02020603050405020304" pitchFamily="18" charset="0"/>
                <a:cs typeface="Times New Roman" panose="02020603050405020304" pitchFamily="18" charset="0"/>
              </a:rPr>
              <a:t>Creating a validation test plan</a:t>
            </a:r>
            <a:br>
              <a:rPr lang="en-US" dirty="0"/>
            </a:br>
            <a:endParaRPr lang="en-US"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The validation test plan documents how the implementation will be verified. </a:t>
            </a:r>
          </a:p>
          <a:p>
            <a:pPr algn="just"/>
            <a:r>
              <a:rPr lang="en-US" dirty="0">
                <a:latin typeface="Times New Roman" panose="02020603050405020304" pitchFamily="18" charset="0"/>
                <a:cs typeface="Times New Roman" panose="02020603050405020304" pitchFamily="18" charset="0"/>
              </a:rPr>
              <a:t>It documents the criteria that must be met to determine the success of the implementation and the test procedures that should be followed when validating the environment. </a:t>
            </a:r>
          </a:p>
          <a:p>
            <a:pPr algn="just"/>
            <a:r>
              <a:rPr lang="en-US" dirty="0">
                <a:latin typeface="Times New Roman" panose="02020603050405020304" pitchFamily="18" charset="0"/>
                <a:cs typeface="Times New Roman" panose="02020603050405020304" pitchFamily="18" charset="0"/>
              </a:rPr>
              <a:t>The criteria and procedures defined in the validation test plan determine whether or not the design requirements have been successfully met.</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21</a:t>
            </a:fld>
            <a:endParaRPr lang="en-US"/>
          </a:p>
        </p:txBody>
      </p:sp>
      <p:sp>
        <p:nvSpPr>
          <p:cNvPr id="5" name="Footer Placeholder 9">
            <a:extLst>
              <a:ext uri="{FF2B5EF4-FFF2-40B4-BE49-F238E27FC236}">
                <a16:creationId xmlns:a16="http://schemas.microsoft.com/office/drawing/2014/main" id="{B87B431B-FEF0-6D7A-28FE-D8EC7905CD09}"/>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25158"/>
            <a:ext cx="10515600" cy="765530"/>
          </a:xfrm>
        </p:spPr>
        <p:txBody>
          <a:bodyPr>
            <a:normAutofit fontScale="90000"/>
          </a:bodyPr>
          <a:lstStyle/>
          <a:p>
            <a:pPr algn="ctr"/>
            <a:br>
              <a:rPr lang="en-US" dirty="0"/>
            </a:br>
            <a:r>
              <a:rPr lang="en-US" sz="4000" dirty="0">
                <a:latin typeface="Times New Roman" panose="02020603050405020304" pitchFamily="18" charset="0"/>
                <a:cs typeface="Times New Roman" panose="02020603050405020304" pitchFamily="18" charset="0"/>
              </a:rPr>
              <a:t>Creating a validation test plan</a:t>
            </a:r>
            <a:br>
              <a:rPr lang="en-US" dirty="0"/>
            </a:br>
            <a:endParaRPr lang="en-US" dirty="0"/>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validation test plan should include the following information:</a:t>
            </a:r>
          </a:p>
          <a:p>
            <a:r>
              <a:rPr lang="en-US" dirty="0">
                <a:latin typeface="Times New Roman" panose="02020603050405020304" pitchFamily="18" charset="0"/>
                <a:cs typeface="Times New Roman" panose="02020603050405020304" pitchFamily="18" charset="0"/>
              </a:rPr>
              <a:t>Purpose statement</a:t>
            </a:r>
          </a:p>
          <a:p>
            <a:r>
              <a:rPr lang="en-US" dirty="0">
                <a:latin typeface="Times New Roman" panose="02020603050405020304" pitchFamily="18" charset="0"/>
                <a:cs typeface="Times New Roman" panose="02020603050405020304" pitchFamily="18" charset="0"/>
              </a:rPr>
              <a:t>Assumption statement</a:t>
            </a:r>
          </a:p>
          <a:p>
            <a:r>
              <a:rPr lang="en-US" dirty="0">
                <a:latin typeface="Times New Roman" panose="02020603050405020304" pitchFamily="18" charset="0"/>
                <a:cs typeface="Times New Roman" panose="02020603050405020304" pitchFamily="18" charset="0"/>
              </a:rPr>
              <a:t>Success criteria</a:t>
            </a:r>
          </a:p>
          <a:p>
            <a:r>
              <a:rPr lang="en-US" dirty="0">
                <a:latin typeface="Times New Roman" panose="02020603050405020304" pitchFamily="18" charset="0"/>
                <a:cs typeface="Times New Roman" panose="02020603050405020304" pitchFamily="18" charset="0"/>
              </a:rPr>
              <a:t>Test procedures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22</a:t>
            </a:fld>
            <a:endParaRPr lang="en-US"/>
          </a:p>
        </p:txBody>
      </p:sp>
      <p:sp>
        <p:nvSpPr>
          <p:cNvPr id="5" name="Footer Placeholder 9">
            <a:extLst>
              <a:ext uri="{FF2B5EF4-FFF2-40B4-BE49-F238E27FC236}">
                <a16:creationId xmlns:a16="http://schemas.microsoft.com/office/drawing/2014/main" id="{C3975D4D-8180-F3BF-2AE1-72EC2FC56A43}"/>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03642"/>
            <a:ext cx="10515600" cy="787046"/>
          </a:xfrm>
        </p:spPr>
        <p:txBody>
          <a:bodyPr>
            <a:normAutofit fontScale="90000"/>
          </a:bodyPr>
          <a:lstStyle/>
          <a:p>
            <a:pPr algn="ctr"/>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Creating a validation test plan</a:t>
            </a:r>
            <a:br>
              <a:rPr lang="en-US" dirty="0"/>
            </a:br>
            <a:endParaRPr lang="en-US" dirty="0"/>
          </a:p>
        </p:txBody>
      </p:sp>
      <p:sp>
        <p:nvSpPr>
          <p:cNvPr id="3" name="Content Placeholder 2"/>
          <p:cNvSpPr>
            <a:spLocks noGrp="1"/>
          </p:cNvSpPr>
          <p:nvPr>
            <p:ph idx="1"/>
          </p:nvPr>
        </p:nvSpPr>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The following is an example outline of a validation test plan:</a:t>
            </a:r>
          </a:p>
          <a:p>
            <a:pPr algn="just"/>
            <a:r>
              <a:rPr lang="en-US" b="1" dirty="0">
                <a:latin typeface="Times New Roman" panose="02020603050405020304" pitchFamily="18" charset="0"/>
                <a:cs typeface="Times New Roman" panose="02020603050405020304" pitchFamily="18" charset="0"/>
              </a:rPr>
              <a:t>Cover page</a:t>
            </a:r>
            <a:r>
              <a:rPr lang="en-US" dirty="0">
                <a:latin typeface="Times New Roman" panose="02020603050405020304" pitchFamily="18" charset="0"/>
                <a:cs typeface="Times New Roman" panose="02020603050405020304" pitchFamily="18" charset="0"/>
              </a:rPr>
              <a:t>: It includes the customer and project names</a:t>
            </a:r>
          </a:p>
          <a:p>
            <a:pPr algn="just"/>
            <a:r>
              <a:rPr lang="en-US" b="1" dirty="0">
                <a:latin typeface="Times New Roman" panose="02020603050405020304" pitchFamily="18" charset="0"/>
                <a:cs typeface="Times New Roman" panose="02020603050405020304" pitchFamily="18" charset="0"/>
              </a:rPr>
              <a:t>Document version log</a:t>
            </a:r>
            <a:r>
              <a:rPr lang="en-US" dirty="0">
                <a:latin typeface="Times New Roman" panose="02020603050405020304" pitchFamily="18" charset="0"/>
                <a:cs typeface="Times New Roman" panose="02020603050405020304" pitchFamily="18" charset="0"/>
              </a:rPr>
              <a:t>: It contains the log of authors and changes made to the document</a:t>
            </a:r>
          </a:p>
          <a:p>
            <a:pPr algn="just"/>
            <a:r>
              <a:rPr lang="en-US" b="1" dirty="0">
                <a:latin typeface="Times New Roman" panose="02020603050405020304" pitchFamily="18" charset="0"/>
                <a:cs typeface="Times New Roman" panose="02020603050405020304" pitchFamily="18" charset="0"/>
              </a:rPr>
              <a:t>Document contacts</a:t>
            </a:r>
            <a:r>
              <a:rPr lang="en-US" dirty="0">
                <a:latin typeface="Times New Roman" panose="02020603050405020304" pitchFamily="18" charset="0"/>
                <a:cs typeface="Times New Roman" panose="02020603050405020304" pitchFamily="18" charset="0"/>
              </a:rPr>
              <a:t>: It includes the subject matter experts involved in the creation of the design</a:t>
            </a:r>
          </a:p>
          <a:p>
            <a:pPr algn="just"/>
            <a:r>
              <a:rPr lang="en-US" b="1" dirty="0">
                <a:latin typeface="Times New Roman" panose="02020603050405020304" pitchFamily="18" charset="0"/>
                <a:cs typeface="Times New Roman" panose="02020603050405020304" pitchFamily="18" charset="0"/>
              </a:rPr>
              <a:t>Table of contents</a:t>
            </a:r>
            <a:r>
              <a:rPr lang="en-US" dirty="0">
                <a:latin typeface="Times New Roman" panose="02020603050405020304" pitchFamily="18" charset="0"/>
                <a:cs typeface="Times New Roman" panose="02020603050405020304" pitchFamily="18" charset="0"/>
              </a:rPr>
              <a:t>: It is the index of document sections for quick reference</a:t>
            </a:r>
          </a:p>
          <a:p>
            <a:pPr algn="just"/>
            <a:r>
              <a:rPr lang="en-US" b="1" dirty="0">
                <a:latin typeface="Times New Roman" panose="02020603050405020304" pitchFamily="18" charset="0"/>
                <a:cs typeface="Times New Roman" panose="02020603050405020304" pitchFamily="18" charset="0"/>
              </a:rPr>
              <a:t>List of tables</a:t>
            </a:r>
            <a:r>
              <a:rPr lang="en-US" dirty="0">
                <a:latin typeface="Times New Roman" panose="02020603050405020304" pitchFamily="18" charset="0"/>
                <a:cs typeface="Times New Roman" panose="02020603050405020304" pitchFamily="18" charset="0"/>
              </a:rPr>
              <a:t>: It is the index of tables included in the document for quick reference</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23</a:t>
            </a:fld>
            <a:endParaRPr lang="en-US"/>
          </a:p>
        </p:txBody>
      </p:sp>
      <p:sp>
        <p:nvSpPr>
          <p:cNvPr id="5" name="Footer Placeholder 9">
            <a:extLst>
              <a:ext uri="{FF2B5EF4-FFF2-40B4-BE49-F238E27FC236}">
                <a16:creationId xmlns:a16="http://schemas.microsoft.com/office/drawing/2014/main" id="{A89D4219-E009-CD89-0F6C-B2B1B8F1167A}"/>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03642"/>
            <a:ext cx="10515600" cy="787046"/>
          </a:xfrm>
        </p:spPr>
        <p:txBody>
          <a:bodyPr>
            <a:normAutofit fontScale="90000"/>
          </a:bodyPr>
          <a:lstStyle/>
          <a:p>
            <a:pPr algn="ctr"/>
            <a:br>
              <a:rPr lang="en-US" dirty="0"/>
            </a:br>
            <a:r>
              <a:rPr lang="en-US" sz="4000" dirty="0">
                <a:latin typeface="Times New Roman" panose="02020603050405020304" pitchFamily="18" charset="0"/>
                <a:cs typeface="Times New Roman" panose="02020603050405020304" pitchFamily="18" charset="0"/>
              </a:rPr>
              <a:t>Creating a validation test plan</a:t>
            </a:r>
            <a:br>
              <a:rPr lang="en-US" dirty="0"/>
            </a:br>
            <a:endParaRPr lang="en-US" dirty="0"/>
          </a:p>
        </p:txBody>
      </p:sp>
      <p:sp>
        <p:nvSpPr>
          <p:cNvPr id="3" name="Content Placeholder 2"/>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List of figures</a:t>
            </a:r>
            <a:r>
              <a:rPr lang="en-US" dirty="0">
                <a:latin typeface="Times New Roman" panose="02020603050405020304" pitchFamily="18" charset="0"/>
                <a:cs typeface="Times New Roman" panose="02020603050405020304" pitchFamily="18" charset="0"/>
              </a:rPr>
              <a:t>: It is the index of figures included in the document for quick reference</a:t>
            </a:r>
          </a:p>
          <a:p>
            <a:pPr algn="just"/>
            <a:r>
              <a:rPr lang="en-US" b="1" dirty="0">
                <a:latin typeface="Times New Roman" panose="02020603050405020304" pitchFamily="18" charset="0"/>
                <a:cs typeface="Times New Roman" panose="02020603050405020304" pitchFamily="18" charset="0"/>
              </a:rPr>
              <a:t>Purpose statement</a:t>
            </a:r>
            <a:r>
              <a:rPr lang="en-US" dirty="0">
                <a:latin typeface="Times New Roman" panose="02020603050405020304" pitchFamily="18" charset="0"/>
                <a:cs typeface="Times New Roman" panose="02020603050405020304" pitchFamily="18" charset="0"/>
              </a:rPr>
              <a:t>: It defines the purpose of the document</a:t>
            </a:r>
          </a:p>
          <a:p>
            <a:pPr algn="just"/>
            <a:r>
              <a:rPr lang="en-US" b="1" dirty="0">
                <a:latin typeface="Times New Roman" panose="02020603050405020304" pitchFamily="18" charset="0"/>
                <a:cs typeface="Times New Roman" panose="02020603050405020304" pitchFamily="18" charset="0"/>
              </a:rPr>
              <a:t>Assumption statement</a:t>
            </a:r>
            <a:r>
              <a:rPr lang="en-US" dirty="0">
                <a:latin typeface="Times New Roman" panose="02020603050405020304" pitchFamily="18" charset="0"/>
                <a:cs typeface="Times New Roman" panose="02020603050405020304" pitchFamily="18" charset="0"/>
              </a:rPr>
              <a:t>: It defines any assumptions made in creating the document</a:t>
            </a:r>
          </a:p>
          <a:p>
            <a:pPr algn="just"/>
            <a:r>
              <a:rPr lang="en-US" b="1" dirty="0">
                <a:latin typeface="Times New Roman" panose="02020603050405020304" pitchFamily="18" charset="0"/>
                <a:cs typeface="Times New Roman" panose="02020603050405020304" pitchFamily="18" charset="0"/>
              </a:rPr>
              <a:t>Success criteria</a:t>
            </a:r>
            <a:r>
              <a:rPr lang="en-US" dirty="0">
                <a:latin typeface="Times New Roman" panose="02020603050405020304" pitchFamily="18" charset="0"/>
                <a:cs typeface="Times New Roman" panose="02020603050405020304" pitchFamily="18" charset="0"/>
              </a:rPr>
              <a:t>: It is a list of criteria that must be met to validate the successful implementation of the design</a:t>
            </a:r>
          </a:p>
          <a:p>
            <a:pPr algn="just"/>
            <a:r>
              <a:rPr lang="en-US" b="1" dirty="0">
                <a:latin typeface="Times New Roman" panose="02020603050405020304" pitchFamily="18" charset="0"/>
                <a:cs typeface="Times New Roman" panose="02020603050405020304" pitchFamily="18" charset="0"/>
              </a:rPr>
              <a:t>Test Procedures</a:t>
            </a:r>
            <a:r>
              <a:rPr lang="en-US" dirty="0">
                <a:latin typeface="Times New Roman" panose="02020603050405020304" pitchFamily="18" charset="0"/>
                <a:cs typeface="Times New Roman" panose="02020603050405020304" pitchFamily="18" charset="0"/>
              </a:rPr>
              <a:t>: It is a list of test procedures to follow, including the steps to follow and the expected results</a:t>
            </a:r>
          </a:p>
          <a:p>
            <a:endParaRPr lang="en-US" dirty="0"/>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24</a:t>
            </a:fld>
            <a:endParaRPr lang="en-US"/>
          </a:p>
        </p:txBody>
      </p:sp>
      <p:sp>
        <p:nvSpPr>
          <p:cNvPr id="5" name="Footer Placeholder 9">
            <a:extLst>
              <a:ext uri="{FF2B5EF4-FFF2-40B4-BE49-F238E27FC236}">
                <a16:creationId xmlns:a16="http://schemas.microsoft.com/office/drawing/2014/main" id="{D726F9EF-1FD1-09D7-05B1-80D50FB2E19F}"/>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81037"/>
            <a:ext cx="10515600" cy="557213"/>
          </a:xfrm>
        </p:spPr>
        <p:txBody>
          <a:bodyPr>
            <a:normAutofit fontScale="90000"/>
          </a:bodyPr>
          <a:lstStyle/>
          <a:p>
            <a:pPr algn="ctr"/>
            <a:br>
              <a:rPr lang="en-US" b="1" dirty="0"/>
            </a:br>
            <a:r>
              <a:rPr lang="en-US" sz="4000" b="1" dirty="0">
                <a:latin typeface="Times New Roman" panose="02020603050405020304" pitchFamily="18" charset="0"/>
                <a:cs typeface="Times New Roman" panose="02020603050405020304" pitchFamily="18" charset="0"/>
              </a:rPr>
              <a:t>A list of essential documents</a:t>
            </a:r>
            <a:br>
              <a:rPr lang="en-US" b="1" dirty="0"/>
            </a:br>
            <a:endParaRPr lang="en-US" dirty="0"/>
          </a:p>
        </p:txBody>
      </p:sp>
      <p:sp>
        <p:nvSpPr>
          <p:cNvPr id="3" name="Content Placeholder 2"/>
          <p:cNvSpPr>
            <a:spLocks noGrp="1"/>
          </p:cNvSpPr>
          <p:nvPr>
            <p:ph idx="1"/>
          </p:nvPr>
        </p:nvSpPr>
        <p:spPr>
          <a:xfrm>
            <a:off x="838200" y="1276350"/>
            <a:ext cx="10515600" cy="4900613"/>
          </a:xfrm>
        </p:spPr>
        <p:txBody>
          <a:bodyPr>
            <a:normAutofit fontScale="85000" lnSpcReduction="20000"/>
          </a:bodyPr>
          <a:lstStyle/>
          <a:p>
            <a:pPr algn="just"/>
            <a:r>
              <a:rPr lang="en-US" b="1" dirty="0">
                <a:latin typeface="Times New Roman" panose="02020603050405020304" pitchFamily="18" charset="0"/>
                <a:cs typeface="Times New Roman" panose="02020603050405020304" pitchFamily="18" charset="0"/>
              </a:rPr>
              <a:t>Project overview</a:t>
            </a:r>
            <a:r>
              <a:rPr lang="en-US" dirty="0">
                <a:latin typeface="Times New Roman" panose="02020603050405020304" pitchFamily="18" charset="0"/>
                <a:cs typeface="Times New Roman" panose="02020603050405020304" pitchFamily="18" charset="0"/>
              </a:rPr>
              <a:t> – This document contains a high-level overview of the design and the goals the design team wants to accomplish. By reading this document, anyone should be able to understand the purpose of a project.</a:t>
            </a:r>
          </a:p>
          <a:p>
            <a:pPr algn="just"/>
            <a:r>
              <a:rPr lang="en-US" b="1" dirty="0">
                <a:latin typeface="Times New Roman" panose="02020603050405020304" pitchFamily="18" charset="0"/>
                <a:cs typeface="Times New Roman" panose="02020603050405020304" pitchFamily="18" charset="0"/>
              </a:rPr>
              <a:t>Product requirements</a:t>
            </a:r>
            <a:r>
              <a:rPr lang="en-US" dirty="0">
                <a:latin typeface="Times New Roman" panose="02020603050405020304" pitchFamily="18" charset="0"/>
                <a:cs typeface="Times New Roman" panose="02020603050405020304" pitchFamily="18" charset="0"/>
              </a:rPr>
              <a:t> – This document covers the business and technical requirements of the design. It should be shared with stakeholders before starting the design to ensure that both types of requirements are satisfied. It’s also worth including in this doc information about constraints and assumptions because they will influence the design decisions.</a:t>
            </a:r>
          </a:p>
          <a:p>
            <a:pPr algn="just"/>
            <a:r>
              <a:rPr lang="en-US" b="1" dirty="0">
                <a:latin typeface="Times New Roman" panose="02020603050405020304" pitchFamily="18" charset="0"/>
                <a:cs typeface="Times New Roman" panose="02020603050405020304" pitchFamily="18" charset="0"/>
              </a:rPr>
              <a:t>Project deliverables</a:t>
            </a:r>
            <a:r>
              <a:rPr lang="en-US" dirty="0">
                <a:latin typeface="Times New Roman" panose="02020603050405020304" pitchFamily="18" charset="0"/>
                <a:cs typeface="Times New Roman" panose="02020603050405020304" pitchFamily="18" charset="0"/>
              </a:rPr>
              <a:t> – This document provides information about the design artifacts established during the </a:t>
            </a:r>
            <a:r>
              <a:rPr lang="en-US" dirty="0" err="1">
                <a:latin typeface="Times New Roman" panose="02020603050405020304" pitchFamily="18" charset="0"/>
                <a:cs typeface="Times New Roman" panose="02020603050405020304" pitchFamily="18" charset="0"/>
              </a:rPr>
              <a:t>wireframing</a:t>
            </a:r>
            <a:r>
              <a:rPr lang="en-US" dirty="0">
                <a:latin typeface="Times New Roman" panose="02020603050405020304" pitchFamily="18" charset="0"/>
                <a:cs typeface="Times New Roman" panose="02020603050405020304" pitchFamily="18" charset="0"/>
              </a:rPr>
              <a:t> and prototyping phases (e.g., lo-</a:t>
            </a:r>
            <a:r>
              <a:rPr lang="en-US" dirty="0" err="1">
                <a:latin typeface="Times New Roman" panose="02020603050405020304" pitchFamily="18" charset="0"/>
                <a:cs typeface="Times New Roman" panose="02020603050405020304" pitchFamily="18" charset="0"/>
              </a:rPr>
              <a:t>fi</a:t>
            </a:r>
            <a:r>
              <a:rPr lang="en-US" dirty="0">
                <a:latin typeface="Times New Roman" panose="02020603050405020304" pitchFamily="18" charset="0"/>
                <a:cs typeface="Times New Roman" panose="02020603050405020304" pitchFamily="18" charset="0"/>
              </a:rPr>
              <a:t> wireframes, mock-ups, hi-fi prototypes) that will be provided as deliverables once implementation has been completed.</a:t>
            </a:r>
          </a:p>
          <a:p>
            <a:pPr algn="just"/>
            <a:r>
              <a:rPr lang="en-US" b="1" dirty="0">
                <a:latin typeface="Times New Roman" panose="02020603050405020304" pitchFamily="18" charset="0"/>
                <a:cs typeface="Times New Roman" panose="02020603050405020304" pitchFamily="18" charset="0"/>
              </a:rPr>
              <a:t>Target audience information</a:t>
            </a:r>
            <a:r>
              <a:rPr lang="en-US" dirty="0">
                <a:latin typeface="Times New Roman" panose="02020603050405020304" pitchFamily="18" charset="0"/>
                <a:cs typeface="Times New Roman" panose="02020603050405020304" pitchFamily="18" charset="0"/>
              </a:rPr>
              <a:t> – This document lists relevant information about your audience, from user personas to data from user research. This information will help your team understand who your users are and what good design means to them (via their functional and aesthetic preferences). The doc serves as a reference for designers when sharing their rationale behind individual design decisions.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25</a:t>
            </a:fld>
            <a:endParaRPr lang="en-US"/>
          </a:p>
        </p:txBody>
      </p:sp>
      <p:sp>
        <p:nvSpPr>
          <p:cNvPr id="5" name="Footer Placeholder 9">
            <a:extLst>
              <a:ext uri="{FF2B5EF4-FFF2-40B4-BE49-F238E27FC236}">
                <a16:creationId xmlns:a16="http://schemas.microsoft.com/office/drawing/2014/main" id="{27DF076D-A4D5-6703-6C40-8AA039E49D85}"/>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28339"/>
            <a:ext cx="10515600" cy="862349"/>
          </a:xfrm>
        </p:spPr>
        <p:txBody>
          <a:bodyPr>
            <a:normAutofit fontScale="90000"/>
          </a:bodyPr>
          <a:lstStyle/>
          <a:p>
            <a:pPr algn="ctr"/>
            <a:br>
              <a:rPr lang="en-US" b="1" dirty="0"/>
            </a:br>
            <a:r>
              <a:rPr lang="en-US" sz="4000" b="1" dirty="0">
                <a:latin typeface="Times New Roman" panose="02020603050405020304" pitchFamily="18" charset="0"/>
                <a:cs typeface="Times New Roman" panose="02020603050405020304" pitchFamily="18" charset="0"/>
              </a:rPr>
              <a:t>A list of essential documents</a:t>
            </a:r>
            <a:br>
              <a:rPr lang="en-US" b="1" dirty="0"/>
            </a:br>
            <a:endParaRPr lang="en-US" dirty="0"/>
          </a:p>
        </p:txBody>
      </p:sp>
      <p:sp>
        <p:nvSpPr>
          <p:cNvPr id="3" name="Content Placeholder 2"/>
          <p:cNvSpPr>
            <a:spLocks noGrp="1"/>
          </p:cNvSpPr>
          <p:nvPr>
            <p:ph idx="1"/>
          </p:nvPr>
        </p:nvSpPr>
        <p:spPr/>
        <p:txBody>
          <a:bodyPr>
            <a:normAutofit fontScale="92500" lnSpcReduction="20000"/>
          </a:bodyPr>
          <a:lstStyle/>
          <a:p>
            <a:pPr algn="just"/>
            <a:r>
              <a:rPr lang="en-US" b="1" dirty="0">
                <a:latin typeface="Times New Roman" panose="02020603050405020304" pitchFamily="18" charset="0"/>
                <a:cs typeface="Times New Roman" panose="02020603050405020304" pitchFamily="18" charset="0"/>
              </a:rPr>
              <a:t>User journeys</a:t>
            </a:r>
            <a:r>
              <a:rPr lang="en-US" dirty="0">
                <a:latin typeface="Times New Roman" panose="02020603050405020304" pitchFamily="18" charset="0"/>
                <a:cs typeface="Times New Roman" panose="02020603050405020304" pitchFamily="18" charset="0"/>
              </a:rPr>
              <a:t> – This document outlines the path a user may take to reach their goal when using a product.</a:t>
            </a:r>
          </a:p>
          <a:p>
            <a:pPr algn="just"/>
            <a:r>
              <a:rPr lang="en-US" b="1" dirty="0">
                <a:latin typeface="Times New Roman" panose="02020603050405020304" pitchFamily="18" charset="0"/>
                <a:cs typeface="Times New Roman" panose="02020603050405020304" pitchFamily="18" charset="0"/>
              </a:rPr>
              <a:t>Design guidelines</a:t>
            </a:r>
            <a:r>
              <a:rPr lang="en-US" dirty="0">
                <a:latin typeface="Times New Roman" panose="02020603050405020304" pitchFamily="18" charset="0"/>
                <a:cs typeface="Times New Roman" panose="02020603050405020304" pitchFamily="18" charset="0"/>
              </a:rPr>
              <a:t> – This document describes the components and specifications required to build the solution.</a:t>
            </a:r>
          </a:p>
          <a:p>
            <a:pPr algn="just"/>
            <a:r>
              <a:rPr lang="en-US" b="1" dirty="0">
                <a:latin typeface="Times New Roman" panose="02020603050405020304" pitchFamily="18" charset="0"/>
                <a:cs typeface="Times New Roman" panose="02020603050405020304" pitchFamily="18" charset="0"/>
              </a:rPr>
              <a:t>Style guides</a:t>
            </a:r>
            <a:r>
              <a:rPr lang="en-US" dirty="0">
                <a:latin typeface="Times New Roman" panose="02020603050405020304" pitchFamily="18" charset="0"/>
                <a:cs typeface="Times New Roman" panose="02020603050405020304" pitchFamily="18" charset="0"/>
              </a:rPr>
              <a:t> – This document lists a set of standards for the stylization of design. Styles, colors, and typefaces are essential pieces of this guide.</a:t>
            </a:r>
          </a:p>
          <a:p>
            <a:pPr algn="just"/>
            <a:r>
              <a:rPr lang="en-US" b="1" dirty="0">
                <a:latin typeface="Times New Roman" panose="02020603050405020304" pitchFamily="18" charset="0"/>
                <a:cs typeface="Times New Roman" panose="02020603050405020304" pitchFamily="18" charset="0"/>
              </a:rPr>
              <a:t>Project scope and implementation plan</a:t>
            </a:r>
            <a:r>
              <a:rPr lang="en-US" dirty="0">
                <a:latin typeface="Times New Roman" panose="02020603050405020304" pitchFamily="18" charset="0"/>
                <a:cs typeface="Times New Roman" panose="02020603050405020304" pitchFamily="18" charset="0"/>
              </a:rPr>
              <a:t> – This document describes the roles and flow of cross-team collaboration. The implementation plan documents the requirements necessary to complete the implementation of the design. For simple projects, it might be a high-level overview of the steps required to complete the implementation. For complex projects, it can include a project timeline with information about the time required to complete each of the steps.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26</a:t>
            </a:fld>
            <a:endParaRPr lang="en-US"/>
          </a:p>
        </p:txBody>
      </p:sp>
      <p:sp>
        <p:nvSpPr>
          <p:cNvPr id="5" name="Footer Placeholder 9">
            <a:extLst>
              <a:ext uri="{FF2B5EF4-FFF2-40B4-BE49-F238E27FC236}">
                <a16:creationId xmlns:a16="http://schemas.microsoft.com/office/drawing/2014/main" id="{D12A5BD3-7576-1C43-7428-DD66E9726921}"/>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03642"/>
            <a:ext cx="10515600" cy="787046"/>
          </a:xfrm>
        </p:spPr>
        <p:txBody>
          <a:bodyPr>
            <a:normAutofit fontScale="90000"/>
          </a:bodyPr>
          <a:lstStyle/>
          <a:p>
            <a:pPr algn="ctr"/>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A list of essential documents</a:t>
            </a:r>
            <a:br>
              <a:rPr lang="en-US" b="1" dirty="0"/>
            </a:br>
            <a:endParaRPr lang="en-US" dirty="0"/>
          </a:p>
        </p:txBody>
      </p:sp>
      <p:sp>
        <p:nvSpPr>
          <p:cNvPr id="3" name="Content Placeholder 2"/>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Design validation and user testing</a:t>
            </a:r>
            <a:r>
              <a:rPr lang="en-US" dirty="0">
                <a:latin typeface="Times New Roman" panose="02020603050405020304" pitchFamily="18" charset="0"/>
                <a:cs typeface="Times New Roman" panose="02020603050405020304" pitchFamily="18" charset="0"/>
              </a:rPr>
              <a:t> – This document provides an overview of the practices to be executed during the product design cycle, as well as steps to be taken after product release to verify that the product satisfies user needs.</a:t>
            </a:r>
          </a:p>
          <a:p>
            <a:pPr algn="just"/>
            <a:r>
              <a:rPr lang="en-US" b="1" dirty="0">
                <a:latin typeface="Times New Roman" panose="02020603050405020304" pitchFamily="18" charset="0"/>
                <a:cs typeface="Times New Roman" panose="02020603050405020304" pitchFamily="18" charset="0"/>
              </a:rPr>
              <a:t>Operational instructions</a:t>
            </a:r>
            <a:r>
              <a:rPr lang="en-US" dirty="0">
                <a:latin typeface="Times New Roman" panose="02020603050405020304" pitchFamily="18" charset="0"/>
                <a:cs typeface="Times New Roman" panose="02020603050405020304" pitchFamily="18" charset="0"/>
              </a:rPr>
              <a:t> – This document provides detailed instructions on how to perform common operational tasks after the design is implemented. For example, it can provide step-by-step instructions on how to roll out a new version of an app in the production environment.</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27</a:t>
            </a:fld>
            <a:endParaRPr lang="en-US"/>
          </a:p>
        </p:txBody>
      </p:sp>
      <p:sp>
        <p:nvSpPr>
          <p:cNvPr id="5" name="Footer Placeholder 9">
            <a:extLst>
              <a:ext uri="{FF2B5EF4-FFF2-40B4-BE49-F238E27FC236}">
                <a16:creationId xmlns:a16="http://schemas.microsoft.com/office/drawing/2014/main" id="{6A4AC290-F08D-4F3E-353E-7CDF59579590}"/>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dirty="0">
                <a:hlinkClick r:id="rId2"/>
              </a:rPr>
              <a:t>https://www.tutorialspoint.com/software_engineering/software_design_basics.htm#:~:text=Software%20design%20is%20a%20process,in%20software%20coding%20and%20implementation.&amp;text=Software%20design%20is%20the%20first,problem%20domain%20to%20solution%20domain.</a:t>
            </a:r>
            <a:endParaRPr lang="en-US" dirty="0"/>
          </a:p>
          <a:p>
            <a:r>
              <a:rPr lang="en-US" dirty="0">
                <a:hlinkClick r:id="rId3"/>
              </a:rPr>
              <a:t>https://www.geeksforgeeks.org/software-engineering-software-design-process/</a:t>
            </a:r>
            <a:endParaRPr lang="en-US" dirty="0"/>
          </a:p>
          <a:p>
            <a:r>
              <a:rPr lang="en-US" dirty="0">
                <a:hlinkClick r:id="rId4"/>
              </a:rPr>
              <a:t>https://www.javatpoint.com/software-engineering-software-design</a:t>
            </a:r>
            <a:endParaRPr lang="en-US" dirty="0"/>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935915"/>
            <a:ext cx="10515600" cy="754773"/>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br>
              <a:rPr lang="en-US" dirty="0">
                <a:solidFill>
                  <a:schemeClr val="tx1"/>
                </a:solidFill>
                <a:latin typeface="Times New Roman" pitchFamily="18" charset="0"/>
                <a:cs typeface="Times New Roman" pitchFamily="18" charset="0"/>
              </a:rPr>
            </a:br>
            <a:r>
              <a:rPr lang="en-US" dirty="0">
                <a:solidFill>
                  <a:schemeClr val="tx1"/>
                </a:solidFill>
                <a:latin typeface="Times New Roman" pitchFamily="18" charset="0"/>
                <a:cs typeface="Times New Roman" pitchFamily="18" charset="0"/>
              </a:rPr>
              <a:t>References</a:t>
            </a:r>
            <a:br>
              <a:rPr lang="en-US" dirty="0">
                <a:solidFill>
                  <a:schemeClr val="tx1"/>
                </a:solidFill>
                <a:latin typeface="Times New Roman" pitchFamily="18" charset="0"/>
                <a:cs typeface="Times New Roman" pitchFamily="18" charset="0"/>
              </a:rPr>
            </a:br>
            <a:endParaRPr lang="en-US" dirty="0">
              <a:solidFill>
                <a:schemeClr val="tx1"/>
              </a:solidFill>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pPr/>
              <a:t>28</a:t>
            </a:fld>
            <a:endParaRPr lang="en-US"/>
          </a:p>
        </p:txBody>
      </p:sp>
      <p:sp>
        <p:nvSpPr>
          <p:cNvPr id="2" name="Footer Placeholder 9">
            <a:extLst>
              <a:ext uri="{FF2B5EF4-FFF2-40B4-BE49-F238E27FC236}">
                <a16:creationId xmlns:a16="http://schemas.microsoft.com/office/drawing/2014/main" id="{3C265C8C-7FA7-A484-525B-AC3E81BE8C62}"/>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6" name="Slide Number Placeholder 15"/>
          <p:cNvSpPr>
            <a:spLocks noGrp="1"/>
          </p:cNvSpPr>
          <p:nvPr>
            <p:ph type="sldNum" sz="quarter" idx="12"/>
          </p:nvPr>
        </p:nvSpPr>
        <p:spPr/>
        <p:txBody>
          <a:bodyPr/>
          <a:lstStyle/>
          <a:p>
            <a:fld id="{FC9A48AB-23F1-45F1-98E5-D2CDC7A5261D}" type="slidenum">
              <a:rPr lang="en-US" smtClean="0">
                <a:solidFill>
                  <a:prstClr val="black">
                    <a:tint val="75000"/>
                  </a:prstClr>
                </a:solidFill>
              </a:rPr>
              <a:pPr/>
              <a:t>29</a:t>
            </a:fld>
            <a:endParaRPr lang="en-US">
              <a:solidFill>
                <a:prstClr val="black">
                  <a:tint val="75000"/>
                </a:prstClr>
              </a:solidFill>
            </a:endParaRPr>
          </a:p>
        </p:txBody>
      </p:sp>
      <p:sp>
        <p:nvSpPr>
          <p:cNvPr id="2" name="Footer Placeholder 9">
            <a:extLst>
              <a:ext uri="{FF2B5EF4-FFF2-40B4-BE49-F238E27FC236}">
                <a16:creationId xmlns:a16="http://schemas.microsoft.com/office/drawing/2014/main" id="{F339E0E3-774C-EE49-86DE-2794B487EEA8}"/>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1922</TotalTime>
  <Words>2594</Words>
  <Application>Microsoft Macintosh PowerPoint</Application>
  <PresentationFormat>Widescreen</PresentationFormat>
  <Paragraphs>215</Paragraphs>
  <Slides>29</Slides>
  <Notes>1</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29</vt:i4>
      </vt:variant>
    </vt:vector>
  </HeadingPairs>
  <TitlesOfParts>
    <vt:vector size="38" baseType="lpstr">
      <vt:lpstr>Arial</vt:lpstr>
      <vt:lpstr>Arial Black</vt:lpstr>
      <vt:lpstr>Calibri</vt:lpstr>
      <vt:lpstr>Calibri Light</vt:lpstr>
      <vt:lpstr>Casper</vt:lpstr>
      <vt:lpstr>Times New Roman</vt:lpstr>
      <vt:lpstr>1_Office Theme</vt:lpstr>
      <vt:lpstr>Contents Slide Master</vt:lpstr>
      <vt:lpstr>CorelDRAW</vt:lpstr>
      <vt:lpstr>PowerPoint Presentation</vt:lpstr>
      <vt:lpstr>Chapter-4 Software Design</vt:lpstr>
      <vt:lpstr>Design Documentation</vt:lpstr>
      <vt:lpstr>Design Documentation</vt:lpstr>
      <vt:lpstr>Design Documentation</vt:lpstr>
      <vt:lpstr>Design Documentation</vt:lpstr>
      <vt:lpstr>Design Documentation</vt:lpstr>
      <vt:lpstr>Design Documentation</vt:lpstr>
      <vt:lpstr> Creating the architecture design document </vt:lpstr>
      <vt:lpstr> Creating the architecture design document </vt:lpstr>
      <vt:lpstr> Creating the architecture design document </vt:lpstr>
      <vt:lpstr> Creating the architecture design document </vt:lpstr>
      <vt:lpstr> Writing an implementation plan </vt:lpstr>
      <vt:lpstr> Writing an implementation plan </vt:lpstr>
      <vt:lpstr> Writing an implementation plan </vt:lpstr>
      <vt:lpstr> Writing an implementation plan </vt:lpstr>
      <vt:lpstr> Developing an installation guide </vt:lpstr>
      <vt:lpstr> Developing an installation guide </vt:lpstr>
      <vt:lpstr>Developing an installation guide </vt:lpstr>
      <vt:lpstr>Developing an installation guide </vt:lpstr>
      <vt:lpstr> Creating a validation test plan </vt:lpstr>
      <vt:lpstr> Creating a validation test plan </vt:lpstr>
      <vt:lpstr> Creating a validation test plan </vt:lpstr>
      <vt:lpstr> Creating a validation test plan </vt:lpstr>
      <vt:lpstr> A list of essential documents </vt:lpstr>
      <vt:lpstr> A list of essential documents </vt:lpstr>
      <vt:lpstr> A list of essential documents </vt:lpstr>
      <vt:lpstr> 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Jagmeet Kaur</cp:lastModifiedBy>
  <cp:revision>244</cp:revision>
  <dcterms:created xsi:type="dcterms:W3CDTF">2019-01-09T10:33:58Z</dcterms:created>
  <dcterms:modified xsi:type="dcterms:W3CDTF">2024-12-12T06:55:10Z</dcterms:modified>
</cp:coreProperties>
</file>