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0"/>
  </p:notesMasterIdLst>
  <p:handoutMasterIdLst>
    <p:handoutMasterId r:id="rId31"/>
  </p:handoutMasterIdLst>
  <p:sldIdLst>
    <p:sldId id="662" r:id="rId3"/>
    <p:sldId id="280" r:id="rId4"/>
    <p:sldId id="294" r:id="rId5"/>
    <p:sldId id="341" r:id="rId6"/>
    <p:sldId id="342" r:id="rId7"/>
    <p:sldId id="340" r:id="rId8"/>
    <p:sldId id="347" r:id="rId9"/>
    <p:sldId id="339" r:id="rId10"/>
    <p:sldId id="348" r:id="rId11"/>
    <p:sldId id="333" r:id="rId12"/>
    <p:sldId id="335" r:id="rId13"/>
    <p:sldId id="334" r:id="rId14"/>
    <p:sldId id="332" r:id="rId15"/>
    <p:sldId id="331" r:id="rId16"/>
    <p:sldId id="349" r:id="rId17"/>
    <p:sldId id="330" r:id="rId18"/>
    <p:sldId id="328" r:id="rId19"/>
    <p:sldId id="329" r:id="rId20"/>
    <p:sldId id="327" r:id="rId21"/>
    <p:sldId id="343" r:id="rId22"/>
    <p:sldId id="350" r:id="rId23"/>
    <p:sldId id="346" r:id="rId24"/>
    <p:sldId id="345" r:id="rId25"/>
    <p:sldId id="344" r:id="rId26"/>
    <p:sldId id="351" r:id="rId27"/>
    <p:sldId id="326" r:id="rId28"/>
    <p:sldId id="27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29" autoAdjust="0"/>
    <p:restoredTop sz="94660"/>
  </p:normalViewPr>
  <p:slideViewPr>
    <p:cSldViewPr snapToGrid="0">
      <p:cViewPr varScale="1">
        <p:scale>
          <a:sx n="119" d="100"/>
          <a:sy n="119" d="100"/>
        </p:scale>
        <p:origin x="416" y="184"/>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EEB0A46C-F6A1-0114-B306-6D24E5BB3B0D}"/>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4637DF6A-97D2-04D2-A1CE-DB4967853788}"/>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pic>
        <p:nvPicPr>
          <p:cNvPr id="9" name="Picture 8">
            <a:extLst>
              <a:ext uri="{FF2B5EF4-FFF2-40B4-BE49-F238E27FC236}">
                <a16:creationId xmlns:a16="http://schemas.microsoft.com/office/drawing/2014/main" id="{6B8A00DD-12F9-2B33-2A69-33010868B6D4}"/>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javatpoint.com/software-engineering-project-scheduling" TargetMode="External"/><Relationship Id="rId2" Type="http://schemas.openxmlformats.org/officeDocument/2006/relationships/hyperlink" Target="https://www.geeksforgeeks.org/short-note-on-project-scheduling/" TargetMode="External"/><Relationship Id="rId1" Type="http://schemas.openxmlformats.org/officeDocument/2006/relationships/slideLayout" Target="../slideLayouts/slideLayout2.xml"/><Relationship Id="rId5" Type="http://schemas.openxmlformats.org/officeDocument/2006/relationships/hyperlink" Target="https://www.geeksforgeeks.org/software-engineering-risk-management/" TargetMode="External"/><Relationship Id="rId4" Type="http://schemas.openxmlformats.org/officeDocument/2006/relationships/hyperlink" Target="https://tutorialsinhand.com/tutorials/software-engineering-tutorial/software-project-management/software-project-scheduling.aspx"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US" dirty="0"/>
              <a:t>09/12/24</a:t>
            </a:r>
          </a:p>
        </p:txBody>
      </p:sp>
      <p:sp>
        <p:nvSpPr>
          <p:cNvPr id="10" name="Footer Placeholder 9"/>
          <p:cNvSpPr>
            <a:spLocks noGrp="1"/>
          </p:cNvSpPr>
          <p:nvPr>
            <p:ph type="ftr" sz="quarter" idx="11"/>
          </p:nvPr>
        </p:nvSpPr>
        <p:spPr/>
        <p:txBody>
          <a:bodyPr/>
          <a:lstStyle/>
          <a:p>
            <a:r>
              <a:rPr lang="en-US" dirty="0"/>
              <a:t>Er. Jagmeet Kaur,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038600" y="3934196"/>
            <a:ext cx="3760694" cy="369332"/>
          </a:xfrm>
          <a:prstGeom prst="rect">
            <a:avLst/>
          </a:prstGeom>
          <a:noFill/>
        </p:spPr>
        <p:txBody>
          <a:bodyPr wrap="square">
            <a:spAutoFit/>
          </a:bodyPr>
          <a:lstStyle/>
          <a:p>
            <a:pPr eaLnBrk="1" hangingPunct="1"/>
            <a:r>
              <a:rPr lang="en-US" sz="1800" dirty="0">
                <a:latin typeface="Raleway ExtraBold" pitchFamily="34" charset="-52"/>
              </a:rPr>
              <a:t>Software Project Management</a:t>
            </a:r>
          </a:p>
        </p:txBody>
      </p:sp>
      <p:pic>
        <p:nvPicPr>
          <p:cNvPr id="4" name="Picture 3">
            <a:extLst>
              <a:ext uri="{FF2B5EF4-FFF2-40B4-BE49-F238E27FC236}">
                <a16:creationId xmlns:a16="http://schemas.microsoft.com/office/drawing/2014/main" id="{CDF0B105-58BC-C11C-1CFE-904A3F19CC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nSpc>
                <a:spcPct val="150000"/>
              </a:lnSpc>
            </a:pPr>
            <a:r>
              <a:rPr lang="en-US" sz="3600" dirty="0"/>
              <a:t>Project scheduling</a:t>
            </a:r>
          </a:p>
          <a:p>
            <a:pPr>
              <a:lnSpc>
                <a:spcPct val="150000"/>
              </a:lnSpc>
            </a:pPr>
            <a:r>
              <a:rPr lang="en-US" sz="3600" dirty="0"/>
              <a:t>Risk analysis and management</a:t>
            </a:r>
            <a:endParaRPr lang="en-US" sz="3600"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
        <p:nvSpPr>
          <p:cNvPr id="2" name="Footer Placeholder 9">
            <a:extLst>
              <a:ext uri="{FF2B5EF4-FFF2-40B4-BE49-F238E27FC236}">
                <a16:creationId xmlns:a16="http://schemas.microsoft.com/office/drawing/2014/main" id="{66F4C64F-40E6-24C0-756A-DA363AE3D61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US" dirty="0"/>
              <a:t>Project Scheduling</a:t>
            </a:r>
            <a:br>
              <a:rPr lang="en-US" dirty="0"/>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409700"/>
            <a:ext cx="10515600" cy="4767263"/>
          </a:xfrm>
        </p:spPr>
        <p:txBody>
          <a:bodyPr>
            <a:normAutofit fontScale="85000" lnSpcReduction="20000"/>
          </a:bodyPr>
          <a:lstStyle/>
          <a:p>
            <a:pPr algn="just"/>
            <a:r>
              <a:rPr lang="en-US" dirty="0"/>
              <a:t>Project-task scheduling is a significant project planning activity. </a:t>
            </a:r>
          </a:p>
          <a:p>
            <a:pPr algn="just"/>
            <a:r>
              <a:rPr lang="en-US" dirty="0"/>
              <a:t>It comprises deciding which functions would be taken up when. </a:t>
            </a:r>
          </a:p>
          <a:p>
            <a:pPr algn="just"/>
            <a:r>
              <a:rPr lang="en-US" dirty="0"/>
              <a:t>To schedule the project plan, a software project manager wants to do the following:</a:t>
            </a:r>
          </a:p>
          <a:p>
            <a:pPr algn="just"/>
            <a:r>
              <a:rPr lang="en-US" dirty="0"/>
              <a:t>Identify all the functions required to complete the project.</a:t>
            </a:r>
          </a:p>
          <a:p>
            <a:pPr algn="just"/>
            <a:r>
              <a:rPr lang="en-US" dirty="0"/>
              <a:t>Break down large functions into small activities.</a:t>
            </a:r>
          </a:p>
          <a:p>
            <a:pPr algn="just"/>
            <a:r>
              <a:rPr lang="en-US" dirty="0"/>
              <a:t>Determine the dependency among various activities.</a:t>
            </a:r>
          </a:p>
          <a:p>
            <a:pPr algn="just"/>
            <a:r>
              <a:rPr lang="en-US" dirty="0"/>
              <a:t>Establish the most likely size for the time duration required to complete the activities.</a:t>
            </a:r>
          </a:p>
          <a:p>
            <a:pPr algn="just"/>
            <a:r>
              <a:rPr lang="en-US" dirty="0"/>
              <a:t>Allocate resources to activities.</a:t>
            </a:r>
          </a:p>
          <a:p>
            <a:pPr algn="just"/>
            <a:r>
              <a:rPr lang="en-US" dirty="0"/>
              <a:t>Plan the beginning and ending dates for different activities.</a:t>
            </a:r>
          </a:p>
          <a:p>
            <a:pPr algn="just"/>
            <a:r>
              <a:rPr lang="en-US" dirty="0"/>
              <a:t>Determine the critical path. A critical way is the group of activities that decide the duration of the project.</a:t>
            </a:r>
          </a:p>
          <a:p>
            <a:pPr algn="just"/>
            <a:endParaRPr lang="en-US"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3</a:t>
            </a:fld>
            <a:endParaRPr lang="en-US"/>
          </a:p>
        </p:txBody>
      </p:sp>
      <p:sp>
        <p:nvSpPr>
          <p:cNvPr id="4" name="Footer Placeholder 9">
            <a:extLst>
              <a:ext uri="{FF2B5EF4-FFF2-40B4-BE49-F238E27FC236}">
                <a16:creationId xmlns:a16="http://schemas.microsoft.com/office/drawing/2014/main" id="{90641B0E-F9FA-71B6-3AE1-C7B1314C6E4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Project Scheduling</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r>
              <a:rPr lang="en-US" b="1" dirty="0"/>
              <a:t>Project schedule</a:t>
            </a:r>
            <a:r>
              <a:rPr lang="en-US" dirty="0"/>
              <a:t> simply means a mechanism that is used to communicate and know about that tasks are needed and has to be done or performed and which organizational resources will be given or allocated to these tasks and in what time duration or time frame work is needed to be performed. </a:t>
            </a:r>
          </a:p>
          <a:p>
            <a:pPr algn="just"/>
            <a:r>
              <a:rPr lang="en-US" dirty="0"/>
              <a:t>Effective project scheduling leads to success of project, reduced cost, and increased customer satisfaction. Scheduling in project management means to list out activities, deliverables, and milestones within a project that are delivered. </a:t>
            </a:r>
          </a:p>
          <a:p>
            <a:pPr algn="just"/>
            <a:r>
              <a:rPr lang="en-US" dirty="0"/>
              <a:t>It contains more notes than your average weekly planner notes. The most common and important form of project schedule is Gantt chart.</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Footer Placeholder 9">
            <a:extLst>
              <a:ext uri="{FF2B5EF4-FFF2-40B4-BE49-F238E27FC236}">
                <a16:creationId xmlns:a16="http://schemas.microsoft.com/office/drawing/2014/main" id="{77D2015E-17F4-7A0D-CCFC-8C9580F1661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Project Scheduling</a:t>
            </a: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pic>
        <p:nvPicPr>
          <p:cNvPr id="70658" name="Picture 2" descr="https://media.geeksforgeeks.org/wp-content/uploads/20200623160615/Untitled-Diagram-153-1.png"/>
          <p:cNvPicPr>
            <a:picLocks noChangeAspect="1" noChangeArrowheads="1"/>
          </p:cNvPicPr>
          <p:nvPr/>
        </p:nvPicPr>
        <p:blipFill>
          <a:blip r:embed="rId2"/>
          <a:srcRect/>
          <a:stretch>
            <a:fillRect/>
          </a:stretch>
        </p:blipFill>
        <p:spPr bwMode="auto">
          <a:xfrm>
            <a:off x="936624" y="2293937"/>
            <a:ext cx="10450849" cy="2906713"/>
          </a:xfrm>
          <a:prstGeom prst="rect">
            <a:avLst/>
          </a:prstGeom>
          <a:noFill/>
        </p:spPr>
      </p:pic>
      <p:sp>
        <p:nvSpPr>
          <p:cNvPr id="3" name="Footer Placeholder 9">
            <a:extLst>
              <a:ext uri="{FF2B5EF4-FFF2-40B4-BE49-F238E27FC236}">
                <a16:creationId xmlns:a16="http://schemas.microsoft.com/office/drawing/2014/main" id="{701A7B11-BFA4-8C34-354C-FC5C39D4EEC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Project Scheduling</a:t>
            </a:r>
          </a:p>
        </p:txBody>
      </p:sp>
      <p:sp>
        <p:nvSpPr>
          <p:cNvPr id="3" name="Content Placeholder 2"/>
          <p:cNvSpPr>
            <a:spLocks noGrp="1"/>
          </p:cNvSpPr>
          <p:nvPr>
            <p:ph idx="1"/>
          </p:nvPr>
        </p:nvSpPr>
        <p:spPr/>
        <p:txBody>
          <a:bodyPr>
            <a:normAutofit/>
          </a:bodyPr>
          <a:lstStyle/>
          <a:p>
            <a:pPr algn="just"/>
            <a:r>
              <a:rPr lang="en-US" dirty="0"/>
              <a:t>The first method in scheduling a software plan involves identifying all the functions required to complete the project. </a:t>
            </a:r>
          </a:p>
          <a:p>
            <a:pPr algn="just"/>
            <a:r>
              <a:rPr lang="en-US" dirty="0"/>
              <a:t>Next, the large functions are broken down into a valid set of small activities which would be assigned to various engineers. </a:t>
            </a:r>
          </a:p>
          <a:p>
            <a:pPr algn="just"/>
            <a:r>
              <a:rPr lang="en-US" dirty="0"/>
              <a:t>The work breakdown structure formalism supports the manager to breakdown the function systematically after the project manager has broken down the purpose and constructs the work breakdown structure; he has to find the dependency among the activities.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5" name="Footer Placeholder 9">
            <a:extLst>
              <a:ext uri="{FF2B5EF4-FFF2-40B4-BE49-F238E27FC236}">
                <a16:creationId xmlns:a16="http://schemas.microsoft.com/office/drawing/2014/main" id="{054A063A-28FA-0293-285E-F9C35F00953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Project Scheduling</a:t>
            </a:r>
          </a:p>
        </p:txBody>
      </p:sp>
      <p:sp>
        <p:nvSpPr>
          <p:cNvPr id="3" name="Content Placeholder 2"/>
          <p:cNvSpPr>
            <a:spLocks noGrp="1"/>
          </p:cNvSpPr>
          <p:nvPr>
            <p:ph idx="1"/>
          </p:nvPr>
        </p:nvSpPr>
        <p:spPr/>
        <p:txBody>
          <a:bodyPr/>
          <a:lstStyle/>
          <a:p>
            <a:r>
              <a:rPr lang="en-US" dirty="0"/>
              <a:t>Dependency among the various activities determines the order in which the various events would be carried out. </a:t>
            </a:r>
          </a:p>
          <a:p>
            <a:r>
              <a:rPr lang="en-US" dirty="0"/>
              <a:t>If an activity A necessary the results of another activity B, then activity A must be scheduled after activity B. In general, the function dependencies describe a partial ordering among functions, i.e., each service may precede a subset of other functions, but some functions might not have any precedence ordering describe between them (called concurrent function). </a:t>
            </a:r>
          </a:p>
          <a:p>
            <a:r>
              <a:rPr lang="en-US" dirty="0"/>
              <a:t>The dependency among the activities is defined in the pattern of an activity network.</a:t>
            </a: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5" name="Footer Placeholder 9">
            <a:extLst>
              <a:ext uri="{FF2B5EF4-FFF2-40B4-BE49-F238E27FC236}">
                <a16:creationId xmlns:a16="http://schemas.microsoft.com/office/drawing/2014/main" id="{C81D15DE-8157-0CB2-904F-0915204109F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Project Scheduling</a:t>
            </a:r>
          </a:p>
        </p:txBody>
      </p:sp>
      <p:sp>
        <p:nvSpPr>
          <p:cNvPr id="3" name="Content Placeholder 2"/>
          <p:cNvSpPr>
            <a:spLocks noGrp="1"/>
          </p:cNvSpPr>
          <p:nvPr>
            <p:ph idx="1"/>
          </p:nvPr>
        </p:nvSpPr>
        <p:spPr/>
        <p:txBody>
          <a:bodyPr>
            <a:normAutofit/>
          </a:bodyPr>
          <a:lstStyle/>
          <a:p>
            <a:pPr algn="just"/>
            <a:r>
              <a:rPr lang="en-US" dirty="0"/>
              <a:t>Once the activity network representation has been processed out, resources are allocated to every activity. </a:t>
            </a:r>
          </a:p>
          <a:p>
            <a:pPr algn="just"/>
            <a:r>
              <a:rPr lang="en-US" dirty="0"/>
              <a:t>Resource allocation is usually done using a Gantt chart.</a:t>
            </a:r>
          </a:p>
          <a:p>
            <a:pPr algn="just"/>
            <a:r>
              <a:rPr lang="en-US" dirty="0"/>
              <a:t> After resource allocation is completed, a PERT chart representation is developed. </a:t>
            </a:r>
          </a:p>
          <a:p>
            <a:r>
              <a:rPr lang="en-US" dirty="0"/>
              <a:t>The PERT chart representation is useful for program monitoring and control. </a:t>
            </a:r>
            <a:br>
              <a:rPr lang="en-US" dirty="0"/>
            </a:b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Footer Placeholder 9">
            <a:extLst>
              <a:ext uri="{FF2B5EF4-FFF2-40B4-BE49-F238E27FC236}">
                <a16:creationId xmlns:a16="http://schemas.microsoft.com/office/drawing/2014/main" id="{F336581D-F8DB-F22D-5D58-13197F625ACC}"/>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Project Scheduling</a:t>
            </a:r>
          </a:p>
        </p:txBody>
      </p:sp>
      <p:sp>
        <p:nvSpPr>
          <p:cNvPr id="3" name="Content Placeholder 2"/>
          <p:cNvSpPr>
            <a:spLocks noGrp="1"/>
          </p:cNvSpPr>
          <p:nvPr>
            <p:ph idx="1"/>
          </p:nvPr>
        </p:nvSpPr>
        <p:spPr/>
        <p:txBody>
          <a:bodyPr>
            <a:normAutofit lnSpcReduction="10000"/>
          </a:bodyPr>
          <a:lstStyle/>
          <a:p>
            <a:r>
              <a:rPr lang="en-US" dirty="0"/>
              <a:t>For task scheduling, the project plan needs to decompose the project functions into a set of activities.</a:t>
            </a:r>
          </a:p>
          <a:p>
            <a:r>
              <a:rPr lang="en-US" dirty="0"/>
              <a:t> The time frame when every activity is to be performed is to be determined. </a:t>
            </a:r>
          </a:p>
          <a:p>
            <a:r>
              <a:rPr lang="en-US" dirty="0"/>
              <a:t>The end of every action is called a milestone. </a:t>
            </a:r>
          </a:p>
          <a:p>
            <a:r>
              <a:rPr lang="en-US" dirty="0"/>
              <a:t>The project manager tracks the function of a project by audit the timely completion of the milestones. </a:t>
            </a:r>
          </a:p>
          <a:p>
            <a:r>
              <a:rPr lang="en-US" dirty="0"/>
              <a:t>If he examines that the milestones start getting delayed, then he has to handle the activities carefully so that the complete deadline can still be met.</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Footer Placeholder 9">
            <a:extLst>
              <a:ext uri="{FF2B5EF4-FFF2-40B4-BE49-F238E27FC236}">
                <a16:creationId xmlns:a16="http://schemas.microsoft.com/office/drawing/2014/main" id="{2389693A-2811-FB08-704B-4EE48D07935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Advantages of Project Scheduling</a:t>
            </a:r>
            <a:endParaRPr lang="en-US" dirty="0"/>
          </a:p>
        </p:txBody>
      </p:sp>
      <p:sp>
        <p:nvSpPr>
          <p:cNvPr id="3" name="Content Placeholder 2"/>
          <p:cNvSpPr>
            <a:spLocks noGrp="1"/>
          </p:cNvSpPr>
          <p:nvPr>
            <p:ph idx="1"/>
          </p:nvPr>
        </p:nvSpPr>
        <p:spPr/>
        <p:txBody>
          <a:bodyPr/>
          <a:lstStyle/>
          <a:p>
            <a:pPr fontAlgn="base"/>
            <a:r>
              <a:rPr lang="en-US" dirty="0"/>
              <a:t>There are several advantages provided by project schedule in our project management:</a:t>
            </a:r>
          </a:p>
          <a:p>
            <a:pPr fontAlgn="base"/>
            <a:r>
              <a:rPr lang="en-US" dirty="0"/>
              <a:t>It simply ensures that everyone remains on same page as far as tasks get completed, dependencies, and deadlines.</a:t>
            </a:r>
          </a:p>
          <a:p>
            <a:pPr fontAlgn="base"/>
            <a:r>
              <a:rPr lang="en-US" dirty="0"/>
              <a:t>It helps in identifying issues early and concerns such as lack or unavailability of resources.</a:t>
            </a:r>
          </a:p>
          <a:p>
            <a:pPr fontAlgn="base"/>
            <a:r>
              <a:rPr lang="en-US" dirty="0"/>
              <a:t>It also helps to identify relationships and to monitor process.</a:t>
            </a:r>
          </a:p>
          <a:p>
            <a:pPr fontAlgn="base"/>
            <a:r>
              <a:rPr lang="en-US" dirty="0"/>
              <a:t>It provides effective budget management and risk mitigation.</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5" name="Footer Placeholder 9">
            <a:extLst>
              <a:ext uri="{FF2B5EF4-FFF2-40B4-BE49-F238E27FC236}">
                <a16:creationId xmlns:a16="http://schemas.microsoft.com/office/drawing/2014/main" id="{B73FF13E-F1D4-5954-FC8F-D9F7091B95DD}"/>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Risk Management</a:t>
            </a:r>
          </a:p>
        </p:txBody>
      </p:sp>
      <p:sp>
        <p:nvSpPr>
          <p:cNvPr id="3" name="Content Placeholder 2"/>
          <p:cNvSpPr>
            <a:spLocks noGrp="1"/>
          </p:cNvSpPr>
          <p:nvPr>
            <p:ph idx="1"/>
          </p:nvPr>
        </p:nvSpPr>
        <p:spPr/>
        <p:txBody>
          <a:bodyPr/>
          <a:lstStyle/>
          <a:p>
            <a:pPr algn="just"/>
            <a:r>
              <a:rPr lang="en-US" b="1" dirty="0"/>
              <a:t>What is Risk?</a:t>
            </a:r>
          </a:p>
          <a:p>
            <a:pPr algn="just"/>
            <a:r>
              <a:rPr lang="en-US" dirty="0"/>
              <a:t>"Tomorrow problems are today's risk." </a:t>
            </a:r>
          </a:p>
          <a:p>
            <a:pPr algn="just"/>
            <a:r>
              <a:rPr lang="en-US" dirty="0"/>
              <a:t>Hence, a clear definition of a "risk" is a problem that could cause some loss or threaten the progress of the project, but which has not happened yet.</a:t>
            </a:r>
          </a:p>
          <a:p>
            <a:pPr algn="just"/>
            <a:r>
              <a:rPr lang="en-US" dirty="0"/>
              <a:t>These potential issues might harm cost, schedule or technical success of the project and the quality of our software device, or project team morale.</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Footer Placeholder 9">
            <a:extLst>
              <a:ext uri="{FF2B5EF4-FFF2-40B4-BE49-F238E27FC236}">
                <a16:creationId xmlns:a16="http://schemas.microsoft.com/office/drawing/2014/main" id="{085EF2C6-4E10-CF00-F190-3BA2F15D126C}"/>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Risk Management</a:t>
            </a:r>
          </a:p>
        </p:txBody>
      </p:sp>
      <p:sp>
        <p:nvSpPr>
          <p:cNvPr id="3" name="Content Placeholder 2"/>
          <p:cNvSpPr>
            <a:spLocks noGrp="1"/>
          </p:cNvSpPr>
          <p:nvPr>
            <p:ph idx="1"/>
          </p:nvPr>
        </p:nvSpPr>
        <p:spPr/>
        <p:txBody>
          <a:bodyPr/>
          <a:lstStyle/>
          <a:p>
            <a:pPr algn="just"/>
            <a:r>
              <a:rPr lang="en-US" dirty="0"/>
              <a:t>Risk Management is the system of identifying addressing and eliminating these problems before they can damage the project.</a:t>
            </a:r>
          </a:p>
          <a:p>
            <a:pPr algn="just"/>
            <a:r>
              <a:rPr lang="en-US" dirty="0"/>
              <a:t>We need to differentiate risks, as potential issues, from the current problems of the project.</a:t>
            </a:r>
          </a:p>
          <a:p>
            <a:pPr algn="just"/>
            <a:r>
              <a:rPr lang="en-US" dirty="0"/>
              <a:t>Different methods are required to address these two kinds of issues.</a:t>
            </a:r>
          </a:p>
          <a:p>
            <a:pPr algn="just"/>
            <a:r>
              <a:rPr lang="en-US" dirty="0"/>
              <a:t>For example, staff storage, because we have not been able to select people with the right technical skills is a current problem, but the threat of our technical persons being hired away by the competition is a risk.</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Footer Placeholder 9">
            <a:extLst>
              <a:ext uri="{FF2B5EF4-FFF2-40B4-BE49-F238E27FC236}">
                <a16:creationId xmlns:a16="http://schemas.microsoft.com/office/drawing/2014/main" id="{4957679E-84D5-2CC6-BA9F-490F00911B2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br>
              <a:rPr lang="en-US" dirty="0"/>
            </a:br>
            <a:r>
              <a:rPr lang="en-US" dirty="0"/>
              <a:t>Risk Management</a:t>
            </a:r>
            <a:br>
              <a:rPr lang="en-US" dirty="0"/>
            </a:b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A software project can be concerned with a large variety of risks. In order to be adept to systematically identify the significant risks which might affect a software project, it is essential to classify risks into different classes. </a:t>
            </a:r>
          </a:p>
          <a:p>
            <a:pPr algn="just"/>
            <a:r>
              <a:rPr lang="en-US" dirty="0"/>
              <a:t>The project manager can then check which risks from each class are relevant to the project.</a:t>
            </a:r>
          </a:p>
          <a:p>
            <a:pPr algn="just"/>
            <a:r>
              <a:rPr lang="en-US" dirty="0"/>
              <a:t>There are three main classifications of risks which can affect a software project:</a:t>
            </a:r>
          </a:p>
          <a:p>
            <a:pPr algn="just"/>
            <a:r>
              <a:rPr lang="en-US" dirty="0"/>
              <a:t>Project risks</a:t>
            </a:r>
          </a:p>
          <a:p>
            <a:pPr algn="just"/>
            <a:r>
              <a:rPr lang="en-US" dirty="0"/>
              <a:t>Technical risks</a:t>
            </a:r>
          </a:p>
          <a:p>
            <a:pPr algn="just"/>
            <a:r>
              <a:rPr lang="en-US" dirty="0"/>
              <a:t>Business risks</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Footer Placeholder 9">
            <a:extLst>
              <a:ext uri="{FF2B5EF4-FFF2-40B4-BE49-F238E27FC236}">
                <a16:creationId xmlns:a16="http://schemas.microsoft.com/office/drawing/2014/main" id="{7F34A9A6-6A8E-9943-434E-09C1108ECB4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Risk Management</a:t>
            </a:r>
          </a:p>
        </p:txBody>
      </p:sp>
      <p:sp>
        <p:nvSpPr>
          <p:cNvPr id="3" name="Content Placeholder 2"/>
          <p:cNvSpPr>
            <a:spLocks noGrp="1"/>
          </p:cNvSpPr>
          <p:nvPr>
            <p:ph idx="1"/>
          </p:nvPr>
        </p:nvSpPr>
        <p:spPr/>
        <p:txBody>
          <a:bodyPr>
            <a:normAutofit/>
          </a:bodyPr>
          <a:lstStyle/>
          <a:p>
            <a:pPr marL="514350" indent="-514350" algn="just">
              <a:buAutoNum type="arabicPeriod"/>
            </a:pPr>
            <a:r>
              <a:rPr lang="en-US" b="1" dirty="0"/>
              <a:t>Project risks:</a:t>
            </a:r>
            <a:r>
              <a:rPr lang="en-US" dirty="0"/>
              <a:t> Project risks concern differ forms of budgetary, schedule, personnel, resource, and customer-related problems. </a:t>
            </a:r>
          </a:p>
          <a:p>
            <a:pPr marL="514350" indent="-514350" algn="just">
              <a:buNone/>
            </a:pPr>
            <a:r>
              <a:rPr lang="en-US" dirty="0"/>
              <a:t>       Since the software is intangible, it is very tough to monitor and control a software project. </a:t>
            </a:r>
          </a:p>
          <a:p>
            <a:pPr marL="514350" indent="-514350" algn="just">
              <a:buNone/>
            </a:pPr>
            <a:r>
              <a:rPr lang="en-US" dirty="0"/>
              <a:t>       It is very tough to control something which cannot be identified. For any manufacturing program, such as the manufacturing of cars, the plan executive can recognize the product taking shape.</a:t>
            </a:r>
          </a:p>
          <a:p>
            <a:pPr algn="just">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Footer Placeholder 9">
            <a:extLst>
              <a:ext uri="{FF2B5EF4-FFF2-40B4-BE49-F238E27FC236}">
                <a16:creationId xmlns:a16="http://schemas.microsoft.com/office/drawing/2014/main" id="{F08A83B1-1666-2E3B-8C46-B42AF0CF729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Risk Management</a:t>
            </a:r>
          </a:p>
        </p:txBody>
      </p:sp>
      <p:sp>
        <p:nvSpPr>
          <p:cNvPr id="3" name="Content Placeholder 2"/>
          <p:cNvSpPr>
            <a:spLocks noGrp="1"/>
          </p:cNvSpPr>
          <p:nvPr>
            <p:ph idx="1"/>
          </p:nvPr>
        </p:nvSpPr>
        <p:spPr/>
        <p:txBody>
          <a:bodyPr/>
          <a:lstStyle/>
          <a:p>
            <a:pPr algn="just">
              <a:buNone/>
            </a:pPr>
            <a:r>
              <a:rPr lang="en-US" b="1" dirty="0"/>
              <a:t>2.Technical risks:</a:t>
            </a:r>
            <a:r>
              <a:rPr lang="en-US" dirty="0"/>
              <a:t> Technical risks concern potential method, implementation, interfacing, testing, and maintenance issue. It also consists of an ambiguous specification, incomplete specification, changing specification, technical uncertainty, and technical obsolescence. Most technical risks appear due to the development team's insufficient knowledge about the project.</a:t>
            </a:r>
          </a:p>
          <a:p>
            <a:pPr algn="just">
              <a:buNone/>
            </a:pPr>
            <a:r>
              <a:rPr lang="en-US" b="1" dirty="0"/>
              <a:t>3. Business risks:</a:t>
            </a:r>
            <a:r>
              <a:rPr lang="en-US" dirty="0"/>
              <a:t> This type of risks contain risks of building an excellent product that no one need, losing budgetary or personnel commitments, etc.</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Footer Placeholder 9">
            <a:extLst>
              <a:ext uri="{FF2B5EF4-FFF2-40B4-BE49-F238E27FC236}">
                <a16:creationId xmlns:a16="http://schemas.microsoft.com/office/drawing/2014/main" id="{B7BA6FB2-3DF5-B5DE-84AD-C551D009D2E8}"/>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Other risk categories</a:t>
            </a:r>
            <a:endParaRPr lang="en-US" dirty="0"/>
          </a:p>
        </p:txBody>
      </p:sp>
      <p:sp>
        <p:nvSpPr>
          <p:cNvPr id="3" name="Content Placeholder 2"/>
          <p:cNvSpPr>
            <a:spLocks noGrp="1"/>
          </p:cNvSpPr>
          <p:nvPr>
            <p:ph idx="1"/>
          </p:nvPr>
        </p:nvSpPr>
        <p:spPr/>
        <p:txBody>
          <a:bodyPr/>
          <a:lstStyle/>
          <a:p>
            <a:pPr algn="just">
              <a:buNone/>
            </a:pPr>
            <a:r>
              <a:rPr lang="en-US" b="1" dirty="0"/>
              <a:t>1. Known risks:</a:t>
            </a:r>
            <a:r>
              <a:rPr lang="en-US" dirty="0"/>
              <a:t> Those risks that can be uncovered after careful assessment of the project program, the business and technical environment in which the plan is being developed, and more reliable data sources (e.g., unrealistic delivery date)</a:t>
            </a:r>
          </a:p>
          <a:p>
            <a:pPr algn="just">
              <a:buNone/>
            </a:pPr>
            <a:r>
              <a:rPr lang="en-US" b="1" dirty="0"/>
              <a:t>2. Predictable risks:</a:t>
            </a:r>
            <a:r>
              <a:rPr lang="en-US" dirty="0"/>
              <a:t> Those risks that are hypothesized from previous project experience (e.g., past turnover)</a:t>
            </a:r>
          </a:p>
          <a:p>
            <a:pPr algn="just">
              <a:buNone/>
            </a:pPr>
            <a:r>
              <a:rPr lang="en-US" b="1" dirty="0"/>
              <a:t>3. Unpredictable risks:</a:t>
            </a:r>
            <a:r>
              <a:rPr lang="en-US" dirty="0"/>
              <a:t> Those risks that can and do occur, but are extremely tough to identify in advance.</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5" name="Footer Placeholder 9">
            <a:extLst>
              <a:ext uri="{FF2B5EF4-FFF2-40B4-BE49-F238E27FC236}">
                <a16:creationId xmlns:a16="http://schemas.microsoft.com/office/drawing/2014/main" id="{F50FAC99-6CBD-13BD-5D72-B343F56E2341}"/>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Risk Management</a:t>
            </a:r>
            <a:br>
              <a:rPr lang="en-US" dirty="0"/>
            </a:br>
            <a:endParaRPr lang="en-US" dirty="0"/>
          </a:p>
        </p:txBody>
      </p:sp>
      <p:sp>
        <p:nvSpPr>
          <p:cNvPr id="3" name="Content Placeholder 2"/>
          <p:cNvSpPr>
            <a:spLocks noGrp="1"/>
          </p:cNvSpPr>
          <p:nvPr>
            <p:ph idx="1"/>
          </p:nvPr>
        </p:nvSpPr>
        <p:spPr/>
        <p:txBody>
          <a:bodyPr>
            <a:noAutofit/>
          </a:bodyPr>
          <a:lstStyle/>
          <a:p>
            <a:pPr algn="just"/>
            <a:r>
              <a:rPr lang="en-US" sz="2400" b="1" dirty="0"/>
              <a:t>Global Perspective:</a:t>
            </a:r>
            <a:r>
              <a:rPr lang="en-US" sz="2400" dirty="0"/>
              <a:t> In this, we review the bigger system description, design, and implementation. We look at the chance and the impact the risk is going to have.</a:t>
            </a:r>
          </a:p>
          <a:p>
            <a:pPr algn="just"/>
            <a:r>
              <a:rPr lang="en-US" sz="2400" b="1" dirty="0"/>
              <a:t>Take a forward-looking view:</a:t>
            </a:r>
            <a:r>
              <a:rPr lang="en-US" sz="2400" dirty="0"/>
              <a:t> Consider the threat which may appear in the future and create future plans for directing the next events.</a:t>
            </a:r>
          </a:p>
          <a:p>
            <a:pPr algn="just"/>
            <a:r>
              <a:rPr lang="en-US" sz="2400" b="1" dirty="0"/>
              <a:t>Open Communication:</a:t>
            </a:r>
            <a:r>
              <a:rPr lang="en-US" sz="2400" dirty="0"/>
              <a:t> This is to allow the free flow of communications between the client and the team members so that they have certainty about the risks.</a:t>
            </a:r>
          </a:p>
          <a:p>
            <a:pPr algn="just"/>
            <a:r>
              <a:rPr lang="en-US" sz="2400" b="1" dirty="0"/>
              <a:t>Integrated management:</a:t>
            </a:r>
            <a:r>
              <a:rPr lang="en-US" sz="2400" dirty="0"/>
              <a:t> In this method risk management is made an integral part of project management.</a:t>
            </a:r>
          </a:p>
          <a:p>
            <a:pPr algn="just"/>
            <a:r>
              <a:rPr lang="en-US" sz="2400" b="1" dirty="0"/>
              <a:t>Continuous process:</a:t>
            </a:r>
            <a:r>
              <a:rPr lang="en-US" sz="2400" dirty="0"/>
              <a:t> In this phase, the risks are tracked continuously throughout the risk management paradigm.</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5" name="Footer Placeholder 9">
            <a:extLst>
              <a:ext uri="{FF2B5EF4-FFF2-40B4-BE49-F238E27FC236}">
                <a16:creationId xmlns:a16="http://schemas.microsoft.com/office/drawing/2014/main" id="{38B41759-D5F3-394F-1D94-AD4871B75A55}"/>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Management Activities</a:t>
            </a:r>
            <a:br>
              <a:rPr lang="en-US" dirty="0"/>
            </a:br>
            <a:endParaRPr lang="en-US" dirty="0"/>
          </a:p>
        </p:txBody>
      </p:sp>
      <p:sp>
        <p:nvSpPr>
          <p:cNvPr id="3" name="Content Placeholder 2"/>
          <p:cNvSpPr>
            <a:spLocks noGrp="1"/>
          </p:cNvSpPr>
          <p:nvPr>
            <p:ph idx="1"/>
          </p:nvPr>
        </p:nvSpPr>
        <p:spPr>
          <a:xfrm>
            <a:off x="838200" y="1333500"/>
            <a:ext cx="10515600" cy="4843463"/>
          </a:xfrm>
        </p:spPr>
        <p:txBody>
          <a:bodyPr/>
          <a:lstStyle/>
          <a:p>
            <a:r>
              <a:rPr lang="en-US" b="1" dirty="0"/>
              <a:t>Risk management consists of three main activities, as shown in fig:</a:t>
            </a:r>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pic>
        <p:nvPicPr>
          <p:cNvPr id="83970" name="Picture 2" descr="Risk Management Activities"/>
          <p:cNvPicPr>
            <a:picLocks noChangeAspect="1" noChangeArrowheads="1"/>
          </p:cNvPicPr>
          <p:nvPr/>
        </p:nvPicPr>
        <p:blipFill>
          <a:blip r:embed="rId2"/>
          <a:srcRect/>
          <a:stretch>
            <a:fillRect/>
          </a:stretch>
        </p:blipFill>
        <p:spPr bwMode="auto">
          <a:xfrm>
            <a:off x="2022475" y="1779587"/>
            <a:ext cx="7746336" cy="4576764"/>
          </a:xfrm>
          <a:prstGeom prst="rect">
            <a:avLst/>
          </a:prstGeom>
          <a:noFill/>
        </p:spPr>
      </p:pic>
      <p:sp>
        <p:nvSpPr>
          <p:cNvPr id="5" name="Footer Placeholder 9">
            <a:extLst>
              <a:ext uri="{FF2B5EF4-FFF2-40B4-BE49-F238E27FC236}">
                <a16:creationId xmlns:a16="http://schemas.microsoft.com/office/drawing/2014/main" id="{E7DE65C9-6BD2-3DF7-9DFA-990EE426D63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Risk Assessment</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a:t>The objective of risk assessment is to division the risks in the condition of their loss, causing potential. For risk assessment, first, every risk should be rated in two methods:</a:t>
            </a:r>
          </a:p>
          <a:p>
            <a:pPr algn="just"/>
            <a:r>
              <a:rPr lang="en-US" dirty="0"/>
              <a:t>The possibility of a risk coming true (denoted as r).</a:t>
            </a:r>
          </a:p>
          <a:p>
            <a:pPr algn="just"/>
            <a:r>
              <a:rPr lang="en-US" dirty="0"/>
              <a:t>The consequence of the issues relates to that risk (denoted as s).</a:t>
            </a:r>
          </a:p>
          <a:p>
            <a:pPr algn="just"/>
            <a:r>
              <a:rPr lang="en-US" dirty="0"/>
              <a:t>Based on these two methods, the priority of each risk can be estimated:</a:t>
            </a:r>
          </a:p>
          <a:p>
            <a:pPr algn="just"/>
            <a:r>
              <a:rPr lang="en-US" dirty="0"/>
              <a:t>                    p = r * s</a:t>
            </a:r>
          </a:p>
          <a:p>
            <a:pPr algn="just"/>
            <a:r>
              <a:rPr lang="en-US" dirty="0"/>
              <a:t>Where p is the priority with which the risk must be controlled, r is the probability of the risk becoming true, and s is the severity of loss caused due to the risk becoming true. If all identified risks are set up, then the most likely and damaging risks can be controlled first, and more comprehensive risk abatement methods can be designed for these risks.</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
        <p:nvSpPr>
          <p:cNvPr id="5" name="Footer Placeholder 9">
            <a:extLst>
              <a:ext uri="{FF2B5EF4-FFF2-40B4-BE49-F238E27FC236}">
                <a16:creationId xmlns:a16="http://schemas.microsoft.com/office/drawing/2014/main" id="{214975B1-A910-A2C3-ABC0-4E1E3EF687F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Risk Identification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a:t> The project organizer needs to anticipate the risk in the project as early as possible so that the impact of risk can be reduced by making effective risk management planning.</a:t>
            </a:r>
          </a:p>
          <a:p>
            <a:r>
              <a:rPr lang="en-US" dirty="0"/>
              <a:t>A project can be of use by a large variety of risk. To identify the significant risk, this might affect a project. It is necessary to categories into the different risk of classes.</a:t>
            </a:r>
          </a:p>
          <a:p>
            <a:r>
              <a:rPr lang="en-US" dirty="0"/>
              <a:t>There are different types of risks which can affect a software project:</a:t>
            </a:r>
          </a:p>
          <a:p>
            <a:r>
              <a:rPr lang="en-US" b="1" dirty="0"/>
              <a:t>Technology risks:</a:t>
            </a:r>
            <a:r>
              <a:rPr lang="en-US" dirty="0"/>
              <a:t> Risks that assume from the software or hardware technologies that are used to develop the system.</a:t>
            </a:r>
          </a:p>
          <a:p>
            <a:r>
              <a:rPr lang="en-US" b="1" dirty="0"/>
              <a:t>People risks:</a:t>
            </a:r>
            <a:r>
              <a:rPr lang="en-US" dirty="0"/>
              <a:t> Risks that are connected with the person in the development team.</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5" name="Footer Placeholder 9">
            <a:extLst>
              <a:ext uri="{FF2B5EF4-FFF2-40B4-BE49-F238E27FC236}">
                <a16:creationId xmlns:a16="http://schemas.microsoft.com/office/drawing/2014/main" id="{2DAFD84A-E7A7-ABB7-DB68-7834F3A3699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Risk Identification</a:t>
            </a:r>
            <a:endParaRPr lang="en-US" dirty="0"/>
          </a:p>
        </p:txBody>
      </p:sp>
      <p:sp>
        <p:nvSpPr>
          <p:cNvPr id="3" name="Content Placeholder 2"/>
          <p:cNvSpPr>
            <a:spLocks noGrp="1"/>
          </p:cNvSpPr>
          <p:nvPr>
            <p:ph idx="1"/>
          </p:nvPr>
        </p:nvSpPr>
        <p:spPr/>
        <p:txBody>
          <a:bodyPr/>
          <a:lstStyle/>
          <a:p>
            <a:r>
              <a:rPr lang="en-US" b="1" dirty="0"/>
              <a:t>Organizational risks:</a:t>
            </a:r>
            <a:r>
              <a:rPr lang="en-US" dirty="0"/>
              <a:t> Risks that assume from the organizational environment where the software is being developed.</a:t>
            </a:r>
          </a:p>
          <a:p>
            <a:r>
              <a:rPr lang="en-US" b="1" dirty="0"/>
              <a:t>Tools risks:</a:t>
            </a:r>
            <a:r>
              <a:rPr lang="en-US" dirty="0"/>
              <a:t> Risks that assume from the software tools and other support software used to create the system.</a:t>
            </a:r>
          </a:p>
          <a:p>
            <a:r>
              <a:rPr lang="en-US" b="1" dirty="0"/>
              <a:t>Requirement risks:</a:t>
            </a:r>
            <a:r>
              <a:rPr lang="en-US" dirty="0"/>
              <a:t> Risks that assume from the changes to the customer requirement and the process of managing the requirements change.</a:t>
            </a:r>
          </a:p>
          <a:p>
            <a:r>
              <a:rPr lang="en-US" b="1" dirty="0"/>
              <a:t>Estimation risks:</a:t>
            </a:r>
            <a:r>
              <a:rPr lang="en-US" dirty="0"/>
              <a:t> Risks that assume from the management estimates of the resources required to build the system</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
        <p:nvSpPr>
          <p:cNvPr id="5" name="Footer Placeholder 9">
            <a:extLst>
              <a:ext uri="{FF2B5EF4-FFF2-40B4-BE49-F238E27FC236}">
                <a16:creationId xmlns:a16="http://schemas.microsoft.com/office/drawing/2014/main" id="{8D29CB25-75F0-FA26-1967-C0FCE17C2B2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Risk Analysis</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a:t> During the risk analysis process, you have to consider every identified risk and make a perception of the probability and seriousness of that risk.</a:t>
            </a:r>
          </a:p>
          <a:p>
            <a:pPr algn="just"/>
            <a:r>
              <a:rPr lang="en-US" dirty="0"/>
              <a:t>There is no simple way to do this. You have to rely on your perception and experience of previous projects and the problems that arise in them.</a:t>
            </a:r>
          </a:p>
          <a:p>
            <a:pPr algn="just"/>
            <a:r>
              <a:rPr lang="en-US" dirty="0"/>
              <a:t>It is not possible to make an exact, the numerical estimate of the probability and seriousness of each risk. Instead, you should authorize the risk to one of several bands:</a:t>
            </a:r>
          </a:p>
          <a:p>
            <a:pPr algn="just"/>
            <a:r>
              <a:rPr lang="en-US" dirty="0"/>
              <a:t>The probability of the risk might be determined as very low (0-10%), low (10-25%), moderate (25-50%), high (50-75%) or very high (+75%).</a:t>
            </a:r>
          </a:p>
          <a:p>
            <a:pPr algn="just"/>
            <a:r>
              <a:rPr lang="en-US" dirty="0"/>
              <a:t>The effect of the risk might be determined as catastrophic (threaten the survival of the plan), serious (would cause significant delays), tolerable (delays are within allowed contingency), or insignificant.</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
        <p:nvSpPr>
          <p:cNvPr id="5" name="Footer Placeholder 9">
            <a:extLst>
              <a:ext uri="{FF2B5EF4-FFF2-40B4-BE49-F238E27FC236}">
                <a16:creationId xmlns:a16="http://schemas.microsoft.com/office/drawing/2014/main" id="{6F80637A-78C5-168C-D125-F01A080E1C9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Risk Control</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a:t>It is the process of managing risks to achieve desired outcomes. After all, the identified risks of a plan are determined; the project must be made to include the most harmful and the most likely risks. Different risks need different containment methods. In fact, most risks need ingenuity on the part of the project manager in tackling the risk.</a:t>
            </a:r>
          </a:p>
          <a:p>
            <a:pPr algn="just"/>
            <a:r>
              <a:rPr lang="en-US" b="1" dirty="0"/>
              <a:t>There are three main methods to plan for risk management:</a:t>
            </a:r>
            <a:endParaRPr lang="en-US" dirty="0"/>
          </a:p>
          <a:p>
            <a:pPr algn="just"/>
            <a:r>
              <a:rPr lang="en-US" b="1" dirty="0"/>
              <a:t>Avoid the risk:</a:t>
            </a:r>
            <a:r>
              <a:rPr lang="en-US" dirty="0"/>
              <a:t> This may take several ways such as discussing with the client to change the requirements to decrease the scope of the work, giving incentives to the engineers to avoid the risk of human resources turnover, etc.</a:t>
            </a:r>
          </a:p>
          <a:p>
            <a:pPr algn="just"/>
            <a:r>
              <a:rPr lang="en-US" b="1" dirty="0"/>
              <a:t>Transfer the risk:</a:t>
            </a:r>
            <a:r>
              <a:rPr lang="en-US" dirty="0"/>
              <a:t> This method involves getting the risky element developed by a third party, buying insurance cover, etc.</a:t>
            </a:r>
          </a:p>
          <a:p>
            <a:pPr algn="just"/>
            <a:r>
              <a:rPr lang="en-US" b="1" dirty="0"/>
              <a:t>Risk reduction:</a:t>
            </a:r>
            <a:r>
              <a:rPr lang="en-US" dirty="0"/>
              <a:t> This means planning method to include the loss due to risk. For instance, if there is a risk that some key personnel might leave, new recruitment can be planned.</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
        <p:nvSpPr>
          <p:cNvPr id="5" name="Footer Placeholder 9">
            <a:extLst>
              <a:ext uri="{FF2B5EF4-FFF2-40B4-BE49-F238E27FC236}">
                <a16:creationId xmlns:a16="http://schemas.microsoft.com/office/drawing/2014/main" id="{93A9CCAC-F7FD-C543-533F-1BDC19A2936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Risk Leverage</a:t>
            </a:r>
            <a:endParaRPr lang="en-US" dirty="0"/>
          </a:p>
        </p:txBody>
      </p:sp>
      <p:sp>
        <p:nvSpPr>
          <p:cNvPr id="3" name="Content Placeholder 2"/>
          <p:cNvSpPr>
            <a:spLocks noGrp="1"/>
          </p:cNvSpPr>
          <p:nvPr>
            <p:ph idx="1"/>
          </p:nvPr>
        </p:nvSpPr>
        <p:spPr/>
        <p:txBody>
          <a:bodyPr>
            <a:normAutofit/>
          </a:bodyPr>
          <a:lstStyle/>
          <a:p>
            <a:r>
              <a:rPr lang="en-US" b="1" dirty="0"/>
              <a:t>:</a:t>
            </a:r>
            <a:r>
              <a:rPr lang="en-US" dirty="0"/>
              <a:t> To choose between the various methods of handling risk, the project plan must consider the amount of controlling the risk and the corresponding reduction of risk. For this, the risk leverage of the various risks can be estimated.</a:t>
            </a:r>
          </a:p>
          <a:p>
            <a:r>
              <a:rPr lang="en-US" dirty="0"/>
              <a:t>Risk leverage is the variation in risk exposure divided by the amount of reducing the risk.</a:t>
            </a:r>
          </a:p>
          <a:p>
            <a:r>
              <a:rPr lang="en-US" b="1" dirty="0"/>
              <a:t>Risk leverage = (risk exposure before reduction - risk exposure after reduction) / (cost of reduction)</a:t>
            </a:r>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
        <p:nvSpPr>
          <p:cNvPr id="5" name="Footer Placeholder 9">
            <a:extLst>
              <a:ext uri="{FF2B5EF4-FFF2-40B4-BE49-F238E27FC236}">
                <a16:creationId xmlns:a16="http://schemas.microsoft.com/office/drawing/2014/main" id="{30CE2238-C621-C8CF-3741-58690F09979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Risk Leverage</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b="1" dirty="0"/>
              <a:t>1. Risk planning:</a:t>
            </a:r>
            <a:r>
              <a:rPr lang="en-US" dirty="0"/>
              <a:t> The risk planning method considers each of the key risks that have been identified and develop ways to maintain these risks.</a:t>
            </a:r>
          </a:p>
          <a:p>
            <a:pPr algn="just"/>
            <a:r>
              <a:rPr lang="en-US" dirty="0"/>
              <a:t>For each of the risks, you have to think of the behavior that you may take to minimize the disruption to the plan if the issue identified in the risk occurs.</a:t>
            </a:r>
          </a:p>
          <a:p>
            <a:pPr algn="just"/>
            <a:r>
              <a:rPr lang="en-US" dirty="0"/>
              <a:t>You also should think about data that you might need to collect while monitoring the plan so that issues can be anticipated.</a:t>
            </a:r>
          </a:p>
          <a:p>
            <a:pPr algn="just"/>
            <a:r>
              <a:rPr lang="en-US" dirty="0"/>
              <a:t>Again, there is no easy process that can be followed for contingency planning. It rely on the judgment and experience of the project manager.</a:t>
            </a:r>
          </a:p>
          <a:p>
            <a:pPr algn="just"/>
            <a:r>
              <a:rPr lang="en-US" b="1" dirty="0"/>
              <a:t>2. Risk Monitoring:</a:t>
            </a:r>
            <a:r>
              <a:rPr lang="en-US" dirty="0"/>
              <a:t> Risk monitoring is the method king that your assumption about the product, process, and business risks has not changed.</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sp>
        <p:nvSpPr>
          <p:cNvPr id="5" name="Footer Placeholder 9">
            <a:extLst>
              <a:ext uri="{FF2B5EF4-FFF2-40B4-BE49-F238E27FC236}">
                <a16:creationId xmlns:a16="http://schemas.microsoft.com/office/drawing/2014/main" id="{31CD8407-BB27-882A-8D79-7CFCA1FA619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https://www.geeksforgeeks.org/short-note-on-project-scheduling/</a:t>
            </a:r>
            <a:endParaRPr lang="en-US" dirty="0"/>
          </a:p>
          <a:p>
            <a:r>
              <a:rPr lang="en-US" dirty="0">
                <a:hlinkClick r:id="rId3"/>
              </a:rPr>
              <a:t>https://www.javatpoint.com/software-engineering-project-scheduling</a:t>
            </a:r>
            <a:endParaRPr lang="en-US" dirty="0"/>
          </a:p>
          <a:p>
            <a:r>
              <a:rPr lang="en-US" dirty="0">
                <a:hlinkClick r:id="rId4"/>
              </a:rPr>
              <a:t>https://tutorialsinhand.com/tutorials/software-engineering-tutorial/software-project-management/software-project-scheduling.aspx</a:t>
            </a:r>
            <a:endParaRPr lang="en-US" dirty="0"/>
          </a:p>
          <a:p>
            <a:r>
              <a:rPr lang="en-US" dirty="0">
                <a:hlinkClick r:id="rId5"/>
              </a:rPr>
              <a:t>https://www.geeksforgeeks.org/software-engineering-risk-management/</a:t>
            </a:r>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82127"/>
            <a:ext cx="10515600" cy="80856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26</a:t>
            </a:fld>
            <a:endParaRPr lang="en-US"/>
          </a:p>
        </p:txBody>
      </p:sp>
      <p:sp>
        <p:nvSpPr>
          <p:cNvPr id="2" name="Footer Placeholder 9">
            <a:extLst>
              <a:ext uri="{FF2B5EF4-FFF2-40B4-BE49-F238E27FC236}">
                <a16:creationId xmlns:a16="http://schemas.microsoft.com/office/drawing/2014/main" id="{B4E686A7-C1A3-03A3-864B-83CBBFBFC32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27</a:t>
            </a:fld>
            <a:endParaRPr lang="en-US">
              <a:solidFill>
                <a:prstClr val="black">
                  <a:tint val="75000"/>
                </a:prstClr>
              </a:solidFill>
            </a:endParaRPr>
          </a:p>
        </p:txBody>
      </p:sp>
      <p:sp>
        <p:nvSpPr>
          <p:cNvPr id="2" name="Footer Placeholder 9">
            <a:extLst>
              <a:ext uri="{FF2B5EF4-FFF2-40B4-BE49-F238E27FC236}">
                <a16:creationId xmlns:a16="http://schemas.microsoft.com/office/drawing/2014/main" id="{780830D4-01E2-7AD8-9BDF-9FA2849570AC}"/>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1762</TotalTime>
  <Words>2678</Words>
  <Application>Microsoft Macintosh PowerPoint</Application>
  <PresentationFormat>Widescreen</PresentationFormat>
  <Paragraphs>192</Paragraphs>
  <Slides>27</Slides>
  <Notes>1</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27</vt:i4>
      </vt:variant>
    </vt:vector>
  </HeadingPairs>
  <TitlesOfParts>
    <vt:vector size="37" baseType="lpstr">
      <vt:lpstr>Arial</vt:lpstr>
      <vt:lpstr>Arial Black</vt:lpstr>
      <vt:lpstr>Calibri</vt:lpstr>
      <vt:lpstr>Calibri Light</vt:lpstr>
      <vt:lpstr>Casper</vt:lpstr>
      <vt:lpstr>Raleway ExtraBold</vt:lpstr>
      <vt:lpstr>Times New Roman</vt:lpstr>
      <vt:lpstr>1_Office Theme</vt:lpstr>
      <vt:lpstr>Contents Slide Master</vt:lpstr>
      <vt:lpstr>CorelDRAW</vt:lpstr>
      <vt:lpstr>PowerPoint Presentation</vt:lpstr>
      <vt:lpstr>PowerPoint Presentation</vt:lpstr>
      <vt:lpstr>Project Scheduling </vt:lpstr>
      <vt:lpstr>Project Scheduling </vt:lpstr>
      <vt:lpstr>Project Scheduling</vt:lpstr>
      <vt:lpstr>Project Scheduling</vt:lpstr>
      <vt:lpstr>Project Scheduling</vt:lpstr>
      <vt:lpstr>Project Scheduling</vt:lpstr>
      <vt:lpstr>Project Scheduling</vt:lpstr>
      <vt:lpstr>Advantages of Project Scheduling</vt:lpstr>
      <vt:lpstr>Risk Management</vt:lpstr>
      <vt:lpstr>Risk Management</vt:lpstr>
      <vt:lpstr> Risk Management  </vt:lpstr>
      <vt:lpstr>Risk Management</vt:lpstr>
      <vt:lpstr>Risk Management</vt:lpstr>
      <vt:lpstr>Other risk categories</vt:lpstr>
      <vt:lpstr>Principle of Risk Management </vt:lpstr>
      <vt:lpstr>Risk Management Activities </vt:lpstr>
      <vt:lpstr>Risk Assessment </vt:lpstr>
      <vt:lpstr>Risk Identification</vt:lpstr>
      <vt:lpstr>Risk Identification</vt:lpstr>
      <vt:lpstr>Risk Analysis</vt:lpstr>
      <vt:lpstr>Risk Control </vt:lpstr>
      <vt:lpstr>Risk Leverage</vt:lpstr>
      <vt:lpstr>Risk Leverage</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Jagmeet Kaur</cp:lastModifiedBy>
  <cp:revision>238</cp:revision>
  <dcterms:created xsi:type="dcterms:W3CDTF">2019-01-09T10:33:58Z</dcterms:created>
  <dcterms:modified xsi:type="dcterms:W3CDTF">2024-12-16T05:04:34Z</dcterms:modified>
</cp:coreProperties>
</file>