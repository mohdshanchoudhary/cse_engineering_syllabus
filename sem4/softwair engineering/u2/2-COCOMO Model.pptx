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0"/>
  </p:notesMasterIdLst>
  <p:handoutMasterIdLst>
    <p:handoutMasterId r:id="rId31"/>
  </p:handoutMasterIdLst>
  <p:sldIdLst>
    <p:sldId id="662" r:id="rId3"/>
    <p:sldId id="294" r:id="rId4"/>
    <p:sldId id="349" r:id="rId5"/>
    <p:sldId id="327" r:id="rId6"/>
    <p:sldId id="340" r:id="rId7"/>
    <p:sldId id="339" r:id="rId8"/>
    <p:sldId id="350" r:id="rId9"/>
    <p:sldId id="338" r:id="rId10"/>
    <p:sldId id="351" r:id="rId11"/>
    <p:sldId id="337" r:id="rId12"/>
    <p:sldId id="336" r:id="rId13"/>
    <p:sldId id="335" r:id="rId14"/>
    <p:sldId id="334" r:id="rId15"/>
    <p:sldId id="333" r:id="rId16"/>
    <p:sldId id="332" r:id="rId17"/>
    <p:sldId id="331" r:id="rId18"/>
    <p:sldId id="330" r:id="rId19"/>
    <p:sldId id="329" r:id="rId20"/>
    <p:sldId id="328" r:id="rId21"/>
    <p:sldId id="341" r:id="rId22"/>
    <p:sldId id="342" r:id="rId23"/>
    <p:sldId id="344" r:id="rId24"/>
    <p:sldId id="352" r:id="rId25"/>
    <p:sldId id="348" r:id="rId26"/>
    <p:sldId id="353" r:id="rId27"/>
    <p:sldId id="326" r:id="rId28"/>
    <p:sldId id="279"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29" autoAdjust="0"/>
    <p:restoredTop sz="94660"/>
  </p:normalViewPr>
  <p:slideViewPr>
    <p:cSldViewPr snapToGrid="0">
      <p:cViewPr varScale="1">
        <p:scale>
          <a:sx n="119" d="100"/>
          <a:sy n="119" d="100"/>
        </p:scale>
        <p:origin x="416" y="184"/>
      </p:cViewPr>
      <p:guideLst>
        <p:guide orient="horz" pos="2160"/>
        <p:guide pos="3840"/>
      </p:guideLst>
    </p:cSldViewPr>
  </p:slideViewPr>
  <p:notesTextViewPr>
    <p:cViewPr>
      <p:scale>
        <a:sx n="1" d="1"/>
        <a:sy n="1" d="1"/>
      </p:scale>
      <p:origin x="0" y="0"/>
    </p:cViewPr>
  </p:notesTextViewPr>
  <p:sorterViewPr>
    <p:cViewPr>
      <p:scale>
        <a:sx n="66" d="100"/>
        <a:sy n="66" d="100"/>
      </p:scale>
      <p:origin x="0" y="321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pic>
        <p:nvPicPr>
          <p:cNvPr id="7" name="Picture 6">
            <a:extLst>
              <a:ext uri="{FF2B5EF4-FFF2-40B4-BE49-F238E27FC236}">
                <a16:creationId xmlns:a16="http://schemas.microsoft.com/office/drawing/2014/main" id="{FED8465E-08F2-6B1C-566C-3E5C0C9C4BBB}"/>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8" name="Picture 7" descr="National Board of Accreditation - Wikipedia">
            <a:extLst>
              <a:ext uri="{FF2B5EF4-FFF2-40B4-BE49-F238E27FC236}">
                <a16:creationId xmlns:a16="http://schemas.microsoft.com/office/drawing/2014/main" id="{88D09F43-A8B5-54ED-4CE0-696F46B34A3C}"/>
              </a:ext>
            </a:extLst>
          </p:cNvPr>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9196373" y="49261"/>
            <a:ext cx="1079146" cy="688340"/>
          </a:xfrm>
          <a:prstGeom prst="rect">
            <a:avLst/>
          </a:prstGeom>
          <a:noFill/>
          <a:ln>
            <a:noFill/>
          </a:ln>
        </p:spPr>
      </p:pic>
      <p:pic>
        <p:nvPicPr>
          <p:cNvPr id="9" name="Picture 8">
            <a:extLst>
              <a:ext uri="{FF2B5EF4-FFF2-40B4-BE49-F238E27FC236}">
                <a16:creationId xmlns:a16="http://schemas.microsoft.com/office/drawing/2014/main" id="{5A6B21F0-9794-6111-5858-4DADA9DA0ACA}"/>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javatpoint.com/cocomo-model" TargetMode="External"/><Relationship Id="rId2" Type="http://schemas.openxmlformats.org/officeDocument/2006/relationships/hyperlink" Target="https://www.geeksforgeeks.org/software-engineering-cocomo-model/" TargetMode="External"/><Relationship Id="rId1" Type="http://schemas.openxmlformats.org/officeDocument/2006/relationships/slideLayout" Target="../slideLayouts/slideLayout2.xml"/><Relationship Id="rId4" Type="http://schemas.openxmlformats.org/officeDocument/2006/relationships/hyperlink" Target="https://www.educba.com/cocomo-model/"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93;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algn="ctr"/>
            <a:endParaRPr dirty="0">
              <a:solidFill>
                <a:schemeClr val="lt1"/>
              </a:solidFill>
              <a:latin typeface="Calibri"/>
              <a:ea typeface="Calibri"/>
              <a:cs typeface="Calibri"/>
              <a:sym typeface="Calibri"/>
            </a:endParaRPr>
          </a:p>
        </p:txBody>
      </p:sp>
      <p:sp>
        <p:nvSpPr>
          <p:cNvPr id="3" name="Subtitle 2"/>
          <p:cNvSpPr>
            <a:spLocks noGrp="1"/>
          </p:cNvSpPr>
          <p:nvPr>
            <p:ph type="subTitle" idx="1"/>
          </p:nvPr>
        </p:nvSpPr>
        <p:spPr>
          <a:xfrm>
            <a:off x="562662" y="4891470"/>
            <a:ext cx="4156822" cy="1236591"/>
          </a:xfrm>
        </p:spPr>
        <p:txBody>
          <a:bodyPr>
            <a:noAutofit/>
          </a:bodyPr>
          <a:lstStyle/>
          <a:p>
            <a:pPr algn="l"/>
            <a:r>
              <a:rPr lang="en-US" sz="1800" b="1" dirty="0">
                <a:latin typeface="Times New Roman" panose="02020603050405020304" pitchFamily="18" charset="0"/>
                <a:cs typeface="Times New Roman" panose="02020603050405020304" pitchFamily="18" charset="0"/>
              </a:rPr>
              <a:t>Er. Jagmeet Kaur</a:t>
            </a:r>
          </a:p>
          <a:p>
            <a:pPr algn="l"/>
            <a:r>
              <a:rPr lang="en-US" sz="1400" b="1" dirty="0">
                <a:latin typeface="Times New Roman" panose="02020603050405020304" pitchFamily="18" charset="0"/>
                <a:cs typeface="Times New Roman" panose="02020603050405020304" pitchFamily="18" charset="0"/>
              </a:rPr>
              <a:t>E8387</a:t>
            </a:r>
          </a:p>
          <a:p>
            <a:pPr algn="l"/>
            <a:r>
              <a:rPr lang="en-US" sz="1400" b="1" dirty="0">
                <a:latin typeface="Times New Roman" panose="02020603050405020304" pitchFamily="18" charset="0"/>
                <a:cs typeface="Times New Roman" panose="02020603050405020304" pitchFamily="18" charset="0"/>
              </a:rPr>
              <a:t>ASSISTANT PROFESSOR</a:t>
            </a:r>
          </a:p>
          <a:p>
            <a:pPr algn="l"/>
            <a:r>
              <a:rPr lang="en-US" sz="1400" b="1" dirty="0">
                <a:latin typeface="Times New Roman" panose="02020603050405020304" pitchFamily="18" charset="0"/>
                <a:cs typeface="Times New Roman" panose="02020603050405020304" pitchFamily="18" charset="0"/>
              </a:rPr>
              <a:t>CSE </a:t>
            </a:r>
          </a:p>
        </p:txBody>
      </p:sp>
      <p:sp>
        <p:nvSpPr>
          <p:cNvPr id="7" name="Google Shape;100;p1"/>
          <p:cNvSpPr/>
          <p:nvPr/>
        </p:nvSpPr>
        <p:spPr>
          <a:xfrm flipH="1">
            <a:off x="9344623" y="4901508"/>
            <a:ext cx="2466377" cy="1712909"/>
          </a:xfrm>
          <a:prstGeom prst="rtTriangle">
            <a:avLst/>
          </a:prstGeom>
          <a:solidFill>
            <a:srgbClr val="C00000"/>
          </a:solidFill>
          <a:ln>
            <a:noFill/>
          </a:ln>
        </p:spPr>
        <p:txBody>
          <a:bodyPr spcFirstLastPara="1" lIns="75585" tIns="37782" rIns="75585" bIns="37782" anchor="ctr"/>
          <a:lstStyle/>
          <a:p>
            <a:pPr algn="ctr">
              <a:defRPr/>
            </a:pPr>
            <a:endParaRPr sz="1488">
              <a:solidFill>
                <a:schemeClr val="lt1"/>
              </a:solidFill>
              <a:latin typeface="Calibri"/>
              <a:ea typeface="Calibri"/>
              <a:cs typeface="Calibri"/>
              <a:sym typeface="Calibri"/>
            </a:endParaRPr>
          </a:p>
        </p:txBody>
      </p:sp>
      <p:sp>
        <p:nvSpPr>
          <p:cNvPr id="6" name="Google Shape;101;p1"/>
          <p:cNvSpPr txBox="1"/>
          <p:nvPr/>
        </p:nvSpPr>
        <p:spPr>
          <a:xfrm>
            <a:off x="7158646" y="5490468"/>
            <a:ext cx="4075113" cy="534988"/>
          </a:xfrm>
          <a:prstGeom prst="rect">
            <a:avLst/>
          </a:prstGeom>
          <a:noFill/>
          <a:ln>
            <a:noFill/>
          </a:ln>
        </p:spPr>
        <p:txBody>
          <a:bodyPr spcFirstLastPara="1" lIns="75585" tIns="37782" rIns="75585" bIns="37782">
            <a:spAutoFit/>
          </a:bodyPr>
          <a:lstStyle/>
          <a:p>
            <a:pPr>
              <a:defRPr/>
            </a:pPr>
            <a:r>
              <a:rPr lang="en-US" sz="1653" b="1" dirty="0">
                <a:solidFill>
                  <a:srgbClr val="595959"/>
                </a:solidFill>
                <a:latin typeface="Arial"/>
                <a:ea typeface="Arial"/>
                <a:cs typeface="Arial"/>
                <a:sym typeface="Arial"/>
              </a:rPr>
              <a:t>DISCOVER . </a:t>
            </a:r>
            <a:r>
              <a:rPr lang="en-US" sz="1653" b="1" dirty="0">
                <a:solidFill>
                  <a:srgbClr val="C00000"/>
                </a:solidFill>
                <a:latin typeface="Arial"/>
                <a:ea typeface="Arial"/>
                <a:cs typeface="Arial"/>
                <a:sym typeface="Arial"/>
              </a:rPr>
              <a:t>LEARN</a:t>
            </a:r>
            <a:r>
              <a:rPr lang="en-US" sz="1653" b="1" dirty="0">
                <a:solidFill>
                  <a:srgbClr val="595959"/>
                </a:solidFill>
                <a:latin typeface="Arial"/>
                <a:ea typeface="Arial"/>
                <a:cs typeface="Arial"/>
                <a:sym typeface="Arial"/>
              </a:rPr>
              <a:t> . EMPOWER</a:t>
            </a:r>
            <a:endParaRPr sz="992" b="1" dirty="0">
              <a:solidFill>
                <a:srgbClr val="000000"/>
              </a:solidFill>
              <a:latin typeface="Arial"/>
              <a:ea typeface="Arial"/>
              <a:cs typeface="Arial"/>
              <a:sym typeface="Arial"/>
            </a:endParaRPr>
          </a:p>
          <a:p>
            <a:pPr>
              <a:defRPr/>
            </a:pPr>
            <a:endParaRPr sz="1323" b="1" dirty="0">
              <a:solidFill>
                <a:schemeClr val="dk1"/>
              </a:solidFill>
              <a:latin typeface="Arial"/>
              <a:ea typeface="Arial"/>
              <a:cs typeface="Arial"/>
              <a:sym typeface="Arial"/>
            </a:endParaRPr>
          </a:p>
        </p:txBody>
      </p:sp>
      <p:sp>
        <p:nvSpPr>
          <p:cNvPr id="9" name="Google Shape;94;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11" name="Google Shape;103;p1"/>
          <p:cNvSpPr txBox="1"/>
          <p:nvPr/>
        </p:nvSpPr>
        <p:spPr>
          <a:xfrm>
            <a:off x="910729" y="1207782"/>
            <a:ext cx="9722858" cy="2843815"/>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University Institute of Engineering</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OF COMPUTER SCIENCE &amp;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Software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Code: 23CST-206</a:t>
            </a:r>
          </a:p>
        </p:txBody>
      </p:sp>
      <p:sp>
        <p:nvSpPr>
          <p:cNvPr id="2" name="Date Placeholder 1"/>
          <p:cNvSpPr>
            <a:spLocks noGrp="1"/>
          </p:cNvSpPr>
          <p:nvPr>
            <p:ph type="dt" sz="half" idx="10"/>
          </p:nvPr>
        </p:nvSpPr>
        <p:spPr/>
        <p:txBody>
          <a:bodyPr/>
          <a:lstStyle/>
          <a:p>
            <a:r>
              <a:rPr lang="en-US" dirty="0"/>
              <a:t>09/12/24</a:t>
            </a:r>
          </a:p>
        </p:txBody>
      </p:sp>
      <p:sp>
        <p:nvSpPr>
          <p:cNvPr id="10" name="Footer Placeholder 9"/>
          <p:cNvSpPr>
            <a:spLocks noGrp="1"/>
          </p:cNvSpPr>
          <p:nvPr>
            <p:ph type="ftr" sz="quarter" idx="11"/>
          </p:nvPr>
        </p:nvSpPr>
        <p:spPr/>
        <p:txBody>
          <a:bodyPr/>
          <a:lstStyle/>
          <a:p>
            <a:r>
              <a:rPr lang="en-US" dirty="0"/>
              <a:t>Er. Jagmeet Kaur, Asst. Prof., CSE, Chandigarh University</a:t>
            </a:r>
          </a:p>
        </p:txBody>
      </p:sp>
      <p:sp>
        <p:nvSpPr>
          <p:cNvPr id="12" name="Slide Number Placeholder 11"/>
          <p:cNvSpPr>
            <a:spLocks noGrp="1"/>
          </p:cNvSpPr>
          <p:nvPr>
            <p:ph type="sldNum" sz="quarter" idx="12"/>
          </p:nvPr>
        </p:nvSpPr>
        <p:spPr/>
        <p:txBody>
          <a:bodyPr/>
          <a:lstStyle/>
          <a:p>
            <a:fld id="{FA84A37A-AFC2-4A01-80A1-FC20F2C0D5BB}" type="slidenum">
              <a:rPr lang="en-US" smtClean="0"/>
              <a:pPr/>
              <a:t>1</a:t>
            </a:fld>
            <a:endParaRPr lang="en-US" dirty="0"/>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6373" y="49261"/>
            <a:ext cx="1079146" cy="688340"/>
          </a:xfrm>
          <a:prstGeom prst="rect">
            <a:avLst/>
          </a:prstGeom>
          <a:noFill/>
          <a:ln>
            <a:noFill/>
          </a:ln>
        </p:spPr>
      </p:pic>
      <p:sp>
        <p:nvSpPr>
          <p:cNvPr id="5" name="TextBox 4">
            <a:extLst>
              <a:ext uri="{FF2B5EF4-FFF2-40B4-BE49-F238E27FC236}">
                <a16:creationId xmlns:a16="http://schemas.microsoft.com/office/drawing/2014/main" id="{2A3E7AC5-0170-6A4D-3DDF-A62478ECD17A}"/>
              </a:ext>
            </a:extLst>
          </p:cNvPr>
          <p:cNvSpPr txBox="1"/>
          <p:nvPr/>
        </p:nvSpPr>
        <p:spPr>
          <a:xfrm>
            <a:off x="4038600" y="3934196"/>
            <a:ext cx="3760694" cy="369332"/>
          </a:xfrm>
          <a:prstGeom prst="rect">
            <a:avLst/>
          </a:prstGeom>
          <a:noFill/>
        </p:spPr>
        <p:txBody>
          <a:bodyPr wrap="square">
            <a:spAutoFit/>
          </a:bodyPr>
          <a:lstStyle/>
          <a:p>
            <a:pPr eaLnBrk="1" hangingPunct="1"/>
            <a:r>
              <a:rPr lang="en-US" sz="1800" dirty="0">
                <a:latin typeface="Raleway ExtraBold" pitchFamily="34" charset="-52"/>
              </a:rPr>
              <a:t>Software Project Management</a:t>
            </a:r>
          </a:p>
        </p:txBody>
      </p:sp>
      <p:pic>
        <p:nvPicPr>
          <p:cNvPr id="4" name="Picture 3">
            <a:extLst>
              <a:ext uri="{FF2B5EF4-FFF2-40B4-BE49-F238E27FC236}">
                <a16:creationId xmlns:a16="http://schemas.microsoft.com/office/drawing/2014/main" id="{CDF0B105-58BC-C11C-1CFE-904A3F19CC8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spTree>
    <p:extLst>
      <p:ext uri="{BB962C8B-B14F-4D97-AF65-F5344CB8AC3E}">
        <p14:creationId xmlns:p14="http://schemas.microsoft.com/office/powerpoint/2010/main" val="3899940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Autofit/>
          </a:bodyPr>
          <a:lstStyle/>
          <a:p>
            <a:pPr algn="ctr"/>
            <a:br>
              <a:rPr lang="en-US" dirty="0"/>
            </a:br>
            <a:r>
              <a:rPr lang="en-US" dirty="0"/>
              <a:t>COCOMO Model</a:t>
            </a:r>
            <a:br>
              <a:rPr lang="en-US" dirty="0"/>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1825625"/>
            <a:ext cx="10515600" cy="4351338"/>
          </a:xfrm>
        </p:spPr>
        <p:txBody>
          <a:bodyPr>
            <a:normAutofit/>
          </a:bodyPr>
          <a:lstStyle/>
          <a:p>
            <a:pPr algn="just"/>
            <a:r>
              <a:rPr lang="en-US" dirty="0"/>
              <a:t>Boehm proposed COCOMO (Constructive Cost Estimation Model) in 1981.</a:t>
            </a:r>
          </a:p>
          <a:p>
            <a:pPr algn="just"/>
            <a:r>
              <a:rPr lang="en-US" dirty="0"/>
              <a:t>COCOMO is one of the most generally used software estimation models in the world. </a:t>
            </a:r>
          </a:p>
          <a:p>
            <a:pPr algn="just"/>
            <a:r>
              <a:rPr lang="en-US" dirty="0"/>
              <a:t>COCOMO predicts the efforts and schedule of a software product based on the size of the software.</a:t>
            </a:r>
          </a:p>
          <a:p>
            <a:pPr algn="just"/>
            <a:r>
              <a:rPr lang="en-US" dirty="0" err="1"/>
              <a:t>Cocomo</a:t>
            </a:r>
            <a:r>
              <a:rPr lang="en-US" dirty="0"/>
              <a:t> (Constructive Cost Model) is a regression model based on LOC, </a:t>
            </a:r>
            <a:r>
              <a:rPr lang="en-US" dirty="0" err="1"/>
              <a:t>i.e</a:t>
            </a:r>
            <a:r>
              <a:rPr lang="en-US" dirty="0"/>
              <a:t> </a:t>
            </a:r>
            <a:r>
              <a:rPr lang="en-US" b="1" dirty="0"/>
              <a:t>number of Lines of Code</a:t>
            </a:r>
            <a:r>
              <a:rPr lang="en-US" dirty="0"/>
              <a:t>. </a:t>
            </a:r>
            <a:endParaRPr lang="en-US" dirty="0">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2</a:t>
            </a:fld>
            <a:endParaRPr lang="en-US"/>
          </a:p>
        </p:txBody>
      </p:sp>
      <p:sp>
        <p:nvSpPr>
          <p:cNvPr id="4" name="Footer Placeholder 9">
            <a:extLst>
              <a:ext uri="{FF2B5EF4-FFF2-40B4-BE49-F238E27FC236}">
                <a16:creationId xmlns:a16="http://schemas.microsoft.com/office/drawing/2014/main" id="{AB36D6F3-77FB-263C-2964-B431A22A7D95}"/>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823702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br>
              <a:rPr lang="en-US" dirty="0"/>
            </a:br>
            <a:r>
              <a:rPr lang="en-US" dirty="0"/>
              <a:t>COCOMO Model</a:t>
            </a:r>
            <a:br>
              <a:rPr lang="en-US" dirty="0"/>
            </a:br>
            <a:endParaRPr lang="en-US" dirty="0"/>
          </a:p>
        </p:txBody>
      </p:sp>
      <p:sp>
        <p:nvSpPr>
          <p:cNvPr id="3" name="Content Placeholder 2"/>
          <p:cNvSpPr>
            <a:spLocks noGrp="1"/>
          </p:cNvSpPr>
          <p:nvPr>
            <p:ph idx="1"/>
          </p:nvPr>
        </p:nvSpPr>
        <p:spPr/>
        <p:txBody>
          <a:bodyPr/>
          <a:lstStyle/>
          <a:p>
            <a:pPr algn="just"/>
            <a:r>
              <a:rPr lang="en-US" dirty="0"/>
              <a:t>It is a procedural cost estimate model for software projects and often used as a process of reliably predicting the various parameters associated with making a project such as size, effort, cost, time and quality.</a:t>
            </a:r>
          </a:p>
        </p:txBody>
      </p:sp>
      <p:sp>
        <p:nvSpPr>
          <p:cNvPr id="4" name="Slide Number Placeholder 3"/>
          <p:cNvSpPr>
            <a:spLocks noGrp="1"/>
          </p:cNvSpPr>
          <p:nvPr>
            <p:ph type="sldNum" sz="quarter" idx="12"/>
          </p:nvPr>
        </p:nvSpPr>
        <p:spPr/>
        <p:txBody>
          <a:bodyPr/>
          <a:lstStyle/>
          <a:p>
            <a:fld id="{BDCDBBEF-AA6C-4BA6-85B2-A17D7F280E38}" type="slidenum">
              <a:rPr lang="en-US" smtClean="0"/>
              <a:pPr/>
              <a:t>3</a:t>
            </a:fld>
            <a:endParaRPr lang="en-US"/>
          </a:p>
        </p:txBody>
      </p:sp>
      <p:sp>
        <p:nvSpPr>
          <p:cNvPr id="5" name="Footer Placeholder 9">
            <a:extLst>
              <a:ext uri="{FF2B5EF4-FFF2-40B4-BE49-F238E27FC236}">
                <a16:creationId xmlns:a16="http://schemas.microsoft.com/office/drawing/2014/main" id="{BCDF9F56-C125-A5B2-9C99-C9976A07CC75}"/>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br>
              <a:rPr lang="en-US" dirty="0"/>
            </a:br>
            <a:r>
              <a:rPr lang="en-US" dirty="0"/>
              <a:t>COCOMO Model</a:t>
            </a:r>
            <a:br>
              <a:rPr lang="en-US" dirty="0"/>
            </a:br>
            <a:endParaRPr lang="en-US" dirty="0"/>
          </a:p>
        </p:txBody>
      </p:sp>
      <p:sp>
        <p:nvSpPr>
          <p:cNvPr id="3" name="Content Placeholder 2"/>
          <p:cNvSpPr>
            <a:spLocks noGrp="1"/>
          </p:cNvSpPr>
          <p:nvPr>
            <p:ph idx="1"/>
          </p:nvPr>
        </p:nvSpPr>
        <p:spPr/>
        <p:txBody>
          <a:bodyPr/>
          <a:lstStyle/>
          <a:p>
            <a:pPr algn="just" fontAlgn="base"/>
            <a:r>
              <a:rPr lang="en-US" dirty="0"/>
              <a:t>The key parameters which define the quality of any software products, which are also an outcome of the </a:t>
            </a:r>
            <a:r>
              <a:rPr lang="en-US" dirty="0" err="1"/>
              <a:t>Cocomo</a:t>
            </a:r>
            <a:r>
              <a:rPr lang="en-US" dirty="0"/>
              <a:t> are primarily Effort &amp; Schedule:</a:t>
            </a:r>
          </a:p>
          <a:p>
            <a:pPr algn="just" fontAlgn="base"/>
            <a:r>
              <a:rPr lang="en-US" b="1" dirty="0"/>
              <a:t>Effort:</a:t>
            </a:r>
            <a:r>
              <a:rPr lang="en-US" dirty="0"/>
              <a:t> Amount of labor that will be required to complete a task. It is measured in person-months units.</a:t>
            </a:r>
          </a:p>
          <a:p>
            <a:pPr algn="just" fontAlgn="base"/>
            <a:r>
              <a:rPr lang="en-US" b="1" dirty="0"/>
              <a:t>Schedule:</a:t>
            </a:r>
            <a:r>
              <a:rPr lang="en-US" dirty="0"/>
              <a:t> Simply means the amount of time required for the completion of the job, which is, of course, proportional to the effort put. It is measured in the units of time such as weeks, months.</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Footer Placeholder 9">
            <a:extLst>
              <a:ext uri="{FF2B5EF4-FFF2-40B4-BE49-F238E27FC236}">
                <a16:creationId xmlns:a16="http://schemas.microsoft.com/office/drawing/2014/main" id="{2CAD75E3-04EF-BFFF-A30A-E9C6023BF234}"/>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br>
              <a:rPr lang="en-US" dirty="0"/>
            </a:br>
            <a:r>
              <a:rPr lang="en-US" dirty="0"/>
              <a:t>COCOMO Model</a:t>
            </a:r>
            <a:br>
              <a:rPr lang="en-US" dirty="0"/>
            </a:br>
            <a:endParaRPr lang="en-US" dirty="0"/>
          </a:p>
        </p:txBody>
      </p:sp>
      <p:sp>
        <p:nvSpPr>
          <p:cNvPr id="3" name="Content Placeholder 2"/>
          <p:cNvSpPr>
            <a:spLocks noGrp="1"/>
          </p:cNvSpPr>
          <p:nvPr>
            <p:ph idx="1"/>
          </p:nvPr>
        </p:nvSpPr>
        <p:spPr/>
        <p:txBody>
          <a:bodyPr/>
          <a:lstStyle/>
          <a:p>
            <a:pPr algn="just"/>
            <a:r>
              <a:rPr lang="en-US" dirty="0"/>
              <a:t>Different models of </a:t>
            </a:r>
            <a:r>
              <a:rPr lang="en-US" dirty="0" err="1"/>
              <a:t>Cocomo</a:t>
            </a:r>
            <a:r>
              <a:rPr lang="en-US" dirty="0"/>
              <a:t> have been proposed to predict the cost estimation at different levels, based on the amount of accuracy and correctness required.</a:t>
            </a:r>
          </a:p>
          <a:p>
            <a:pPr algn="just"/>
            <a:r>
              <a:rPr lang="en-US" dirty="0"/>
              <a:t> All of these models can be applied to a variety of projects, whose characteristics determine the value of constant to be used in subsequent calculations.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5" name="Footer Placeholder 9">
            <a:extLst>
              <a:ext uri="{FF2B5EF4-FFF2-40B4-BE49-F238E27FC236}">
                <a16:creationId xmlns:a16="http://schemas.microsoft.com/office/drawing/2014/main" id="{9B60B807-72E7-2FBA-EAB2-44D5BA642D23}"/>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br>
              <a:rPr lang="en-US" dirty="0"/>
            </a:br>
            <a:r>
              <a:rPr lang="en-US" dirty="0"/>
              <a:t>COCOMO Model</a:t>
            </a:r>
            <a:br>
              <a:rPr lang="en-US" dirty="0"/>
            </a:br>
            <a:endParaRPr lang="en-US" dirty="0"/>
          </a:p>
        </p:txBody>
      </p:sp>
      <p:sp>
        <p:nvSpPr>
          <p:cNvPr id="3" name="Content Placeholder 2"/>
          <p:cNvSpPr>
            <a:spLocks noGrp="1"/>
          </p:cNvSpPr>
          <p:nvPr>
            <p:ph idx="1"/>
          </p:nvPr>
        </p:nvSpPr>
        <p:spPr/>
        <p:txBody>
          <a:bodyPr>
            <a:normAutofit/>
          </a:bodyPr>
          <a:lstStyle/>
          <a:p>
            <a:pPr algn="just" fontAlgn="base"/>
            <a:r>
              <a:rPr lang="en-US" dirty="0"/>
              <a:t>Boehm’s definition of organic, semidetached, and embedded systems:</a:t>
            </a:r>
          </a:p>
          <a:p>
            <a:pPr algn="just" fontAlgn="base"/>
            <a:r>
              <a:rPr lang="en-US" b="1" dirty="0"/>
              <a:t>Organic –</a:t>
            </a:r>
            <a:r>
              <a:rPr lang="en-US" dirty="0"/>
              <a:t> A software project is said to be an organic type if the team size required is adequately small, the problem is well understood and has been solved in the past and also the team members have a nominal experience regarding the problem.</a:t>
            </a:r>
          </a:p>
          <a:p>
            <a:pPr algn="just" fontAlgn="base"/>
            <a:r>
              <a:rPr lang="en-US" b="1" dirty="0"/>
              <a:t>Embedded –</a:t>
            </a:r>
            <a:r>
              <a:rPr lang="en-US" dirty="0"/>
              <a:t> A software project with requiring the highest level of complexity, creativity, and experience requirement fall under this category. Such software requires a larger team size than the other two models and also the developers need to be sufficiently experienced and creative to develop such complex models.</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
        <p:nvSpPr>
          <p:cNvPr id="5" name="Footer Placeholder 9">
            <a:extLst>
              <a:ext uri="{FF2B5EF4-FFF2-40B4-BE49-F238E27FC236}">
                <a16:creationId xmlns:a16="http://schemas.microsoft.com/office/drawing/2014/main" id="{C2A84356-3335-5106-AED7-736A261ED70A}"/>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br>
              <a:rPr lang="en-US" dirty="0"/>
            </a:br>
            <a:r>
              <a:rPr lang="en-US" dirty="0"/>
              <a:t>COCOMO Model</a:t>
            </a:r>
            <a:br>
              <a:rPr lang="en-US" dirty="0"/>
            </a:br>
            <a:endParaRPr lang="en-US" dirty="0"/>
          </a:p>
        </p:txBody>
      </p:sp>
      <p:sp>
        <p:nvSpPr>
          <p:cNvPr id="3" name="Content Placeholder 2"/>
          <p:cNvSpPr>
            <a:spLocks noGrp="1"/>
          </p:cNvSpPr>
          <p:nvPr>
            <p:ph idx="1"/>
          </p:nvPr>
        </p:nvSpPr>
        <p:spPr/>
        <p:txBody>
          <a:bodyPr/>
          <a:lstStyle/>
          <a:p>
            <a:pPr algn="just"/>
            <a:r>
              <a:rPr lang="en-US" b="1" dirty="0"/>
              <a:t>Semi-detached –</a:t>
            </a:r>
            <a:r>
              <a:rPr lang="en-US" dirty="0"/>
              <a:t> A software project is said to be a Semi-detached type if the vital characteristics such as team-size, experience, knowledge of the various programming environment lie in between that of organic and Embedded. </a:t>
            </a:r>
          </a:p>
          <a:p>
            <a:pPr algn="just"/>
            <a:r>
              <a:rPr lang="en-US" dirty="0"/>
              <a:t>The projects classified as Semi-Detached are comparatively less familiar and difficult to develop compared to the organic ones and require more experience and better guidance and creativity.</a:t>
            </a:r>
          </a:p>
          <a:p>
            <a:pPr algn="just"/>
            <a:r>
              <a:rPr lang="en-US" dirty="0"/>
              <a:t> </a:t>
            </a:r>
            <a:r>
              <a:rPr lang="en-US" dirty="0" err="1"/>
              <a:t>Eg</a:t>
            </a:r>
            <a:r>
              <a:rPr lang="en-US" dirty="0"/>
              <a:t>: Compilers or different Embedded Systems can be considered of Semi-Detached type.</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
        <p:nvSpPr>
          <p:cNvPr id="5" name="Footer Placeholder 9">
            <a:extLst>
              <a:ext uri="{FF2B5EF4-FFF2-40B4-BE49-F238E27FC236}">
                <a16:creationId xmlns:a16="http://schemas.microsoft.com/office/drawing/2014/main" id="{F53E418C-E8DB-4E78-0EED-7DDAA4888196}"/>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br>
              <a:rPr lang="en-US" dirty="0"/>
            </a:br>
            <a:r>
              <a:rPr lang="en-US" dirty="0"/>
              <a:t>COCOMO Model</a:t>
            </a:r>
            <a:br>
              <a:rPr lang="en-US" dirty="0"/>
            </a:br>
            <a:endParaRPr lang="en-US" dirty="0"/>
          </a:p>
        </p:txBody>
      </p:sp>
      <p:sp>
        <p:nvSpPr>
          <p:cNvPr id="3" name="Content Placeholder 2"/>
          <p:cNvSpPr>
            <a:spLocks noGrp="1"/>
          </p:cNvSpPr>
          <p:nvPr>
            <p:ph idx="1"/>
          </p:nvPr>
        </p:nvSpPr>
        <p:spPr/>
        <p:txBody>
          <a:bodyPr>
            <a:normAutofit/>
          </a:bodyPr>
          <a:lstStyle/>
          <a:p>
            <a:pPr algn="just" fontAlgn="base"/>
            <a:r>
              <a:rPr lang="en-US" b="1" dirty="0"/>
              <a:t>Types of Models:</a:t>
            </a:r>
            <a:r>
              <a:rPr lang="en-US" dirty="0"/>
              <a:t> COCOMO consists of a hierarchy of three increasingly detailed and accurate forms. Any of the three forms can be adopted according to our requirements. These are types of COCOMO model:</a:t>
            </a:r>
          </a:p>
          <a:p>
            <a:pPr algn="just" fontAlgn="base"/>
            <a:endParaRPr lang="en-US" dirty="0"/>
          </a:p>
          <a:p>
            <a:pPr lvl="1" algn="just" fontAlgn="base"/>
            <a:r>
              <a:rPr lang="en-US" dirty="0"/>
              <a:t>Basic COCOMO Model</a:t>
            </a:r>
          </a:p>
          <a:p>
            <a:pPr lvl="1" algn="just" fontAlgn="base"/>
            <a:r>
              <a:rPr lang="en-US" dirty="0"/>
              <a:t>Intermediate COCOMO Model</a:t>
            </a:r>
          </a:p>
          <a:p>
            <a:pPr lvl="1" algn="just" fontAlgn="base"/>
            <a:r>
              <a:rPr lang="en-US" dirty="0"/>
              <a:t>Detailed COCOMO Model</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
        <p:nvSpPr>
          <p:cNvPr id="5" name="Footer Placeholder 9">
            <a:extLst>
              <a:ext uri="{FF2B5EF4-FFF2-40B4-BE49-F238E27FC236}">
                <a16:creationId xmlns:a16="http://schemas.microsoft.com/office/drawing/2014/main" id="{4A61CE1A-C9C5-83BC-BA82-B3D25CED55E0}"/>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br>
              <a:rPr lang="en-US" dirty="0"/>
            </a:br>
            <a:r>
              <a:rPr lang="en-US" dirty="0"/>
              <a:t>COCOMO Model</a:t>
            </a:r>
            <a:br>
              <a:rPr lang="en-US" dirty="0"/>
            </a:br>
            <a:endParaRPr lang="en-US" dirty="0"/>
          </a:p>
        </p:txBody>
      </p:sp>
      <p:sp>
        <p:nvSpPr>
          <p:cNvPr id="3" name="Content Placeholder 2"/>
          <p:cNvSpPr>
            <a:spLocks noGrp="1"/>
          </p:cNvSpPr>
          <p:nvPr>
            <p:ph idx="1"/>
          </p:nvPr>
        </p:nvSpPr>
        <p:spPr/>
        <p:txBody>
          <a:bodyPr/>
          <a:lstStyle/>
          <a:p>
            <a:pPr algn="just" fontAlgn="base"/>
            <a:r>
              <a:rPr lang="en-US" dirty="0"/>
              <a:t>The first level, </a:t>
            </a:r>
            <a:r>
              <a:rPr lang="en-US" b="1" dirty="0"/>
              <a:t>Basic COCOMO</a:t>
            </a:r>
            <a:r>
              <a:rPr lang="en-US" dirty="0"/>
              <a:t> can be used for quick and slightly rough calculations of Software Costs. Its accuracy is somewhat restricted due to the absence of sufficient factor considerations.</a:t>
            </a:r>
          </a:p>
          <a:p>
            <a:pPr algn="just" fontAlgn="base"/>
            <a:r>
              <a:rPr lang="en-US" b="1" dirty="0"/>
              <a:t>Intermediate COCOMO </a:t>
            </a:r>
            <a:r>
              <a:rPr lang="en-US" dirty="0"/>
              <a:t>takes these Cost Drivers into account and </a:t>
            </a:r>
            <a:r>
              <a:rPr lang="en-US" b="1" dirty="0"/>
              <a:t>Detailed COCOMO</a:t>
            </a:r>
            <a:r>
              <a:rPr lang="en-US" dirty="0"/>
              <a:t> additionally accounts for the influence of individual project phases, </a:t>
            </a:r>
            <a:r>
              <a:rPr lang="en-US" dirty="0" err="1"/>
              <a:t>i.e</a:t>
            </a:r>
            <a:r>
              <a:rPr lang="en-US" dirty="0"/>
              <a:t> in case of Detailed it accounts for both these cost drivers and also calculations are performed phase wise henceforth producing a more accurate result. These two models are further discussed below.</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
        <p:nvSpPr>
          <p:cNvPr id="5" name="Footer Placeholder 9">
            <a:extLst>
              <a:ext uri="{FF2B5EF4-FFF2-40B4-BE49-F238E27FC236}">
                <a16:creationId xmlns:a16="http://schemas.microsoft.com/office/drawing/2014/main" id="{1DC264E5-FA67-FC4A-A0BE-90F3D3C18B45}"/>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Estimation of Effort: Calculations </a:t>
            </a:r>
            <a:endParaRPr lang="en-US" dirty="0"/>
          </a:p>
        </p:txBody>
      </p:sp>
      <p:sp>
        <p:nvSpPr>
          <p:cNvPr id="3" name="Content Placeholder 2"/>
          <p:cNvSpPr>
            <a:spLocks noGrp="1"/>
          </p:cNvSpPr>
          <p:nvPr>
            <p:ph idx="1"/>
          </p:nvPr>
        </p:nvSpPr>
        <p:spPr/>
        <p:txBody>
          <a:bodyPr/>
          <a:lstStyle/>
          <a:p>
            <a:endParaRPr lang="en-US" dirty="0"/>
          </a:p>
          <a:p>
            <a:endParaRPr lang="en-US" dirty="0"/>
          </a:p>
          <a:p>
            <a:endParaRPr lang="en-US" dirty="0"/>
          </a:p>
          <a:p>
            <a:endParaRPr lang="en-US" dirty="0"/>
          </a:p>
          <a:p>
            <a:endParaRPr lang="en-US" dirty="0"/>
          </a:p>
          <a:p>
            <a:r>
              <a:rPr lang="en-US" dirty="0"/>
              <a:t>The above formula is used for the cost estimation of for the basic COCOMO model, and also is used in the subsequent models.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pic>
        <p:nvPicPr>
          <p:cNvPr id="70658" name="Picture 2"/>
          <p:cNvPicPr>
            <a:picLocks noChangeAspect="1" noChangeArrowheads="1"/>
          </p:cNvPicPr>
          <p:nvPr/>
        </p:nvPicPr>
        <p:blipFill>
          <a:blip r:embed="rId2"/>
          <a:srcRect/>
          <a:stretch>
            <a:fillRect/>
          </a:stretch>
        </p:blipFill>
        <p:spPr bwMode="auto">
          <a:xfrm>
            <a:off x="1128713" y="1838325"/>
            <a:ext cx="10225087" cy="2301050"/>
          </a:xfrm>
          <a:prstGeom prst="rect">
            <a:avLst/>
          </a:prstGeom>
          <a:noFill/>
          <a:ln w="9525">
            <a:noFill/>
            <a:miter lim="800000"/>
            <a:headEnd/>
            <a:tailEnd/>
          </a:ln>
          <a:effectLst/>
        </p:spPr>
      </p:pic>
      <p:sp>
        <p:nvSpPr>
          <p:cNvPr id="5" name="Footer Placeholder 9">
            <a:extLst>
              <a:ext uri="{FF2B5EF4-FFF2-40B4-BE49-F238E27FC236}">
                <a16:creationId xmlns:a16="http://schemas.microsoft.com/office/drawing/2014/main" id="{514EF455-8B47-516D-3CD5-7FABB41267F8}"/>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Estimation of Effort: Calculations </a:t>
            </a:r>
            <a:endParaRPr lang="en-US" dirty="0"/>
          </a:p>
        </p:txBody>
      </p:sp>
      <p:sp>
        <p:nvSpPr>
          <p:cNvPr id="3" name="Content Placeholder 2"/>
          <p:cNvSpPr>
            <a:spLocks noGrp="1"/>
          </p:cNvSpPr>
          <p:nvPr>
            <p:ph idx="1"/>
          </p:nvPr>
        </p:nvSpPr>
        <p:spPr/>
        <p:txBody>
          <a:bodyPr/>
          <a:lstStyle/>
          <a:p>
            <a:r>
              <a:rPr lang="en-US" dirty="0"/>
              <a:t>The constant values </a:t>
            </a:r>
            <a:r>
              <a:rPr lang="en-US" dirty="0" err="1"/>
              <a:t>a,b,c</a:t>
            </a:r>
            <a:r>
              <a:rPr lang="en-US" dirty="0"/>
              <a:t> and d for the Basic Model for the different categories of system:</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pic>
        <p:nvPicPr>
          <p:cNvPr id="71682" name="Picture 2"/>
          <p:cNvPicPr>
            <a:picLocks noChangeAspect="1" noChangeArrowheads="1"/>
          </p:cNvPicPr>
          <p:nvPr/>
        </p:nvPicPr>
        <p:blipFill>
          <a:blip r:embed="rId2"/>
          <a:srcRect/>
          <a:stretch>
            <a:fillRect/>
          </a:stretch>
        </p:blipFill>
        <p:spPr bwMode="auto">
          <a:xfrm>
            <a:off x="1485900" y="3000374"/>
            <a:ext cx="8515350" cy="2383027"/>
          </a:xfrm>
          <a:prstGeom prst="rect">
            <a:avLst/>
          </a:prstGeom>
          <a:noFill/>
          <a:ln w="9525">
            <a:noFill/>
            <a:miter lim="800000"/>
            <a:headEnd/>
            <a:tailEnd/>
          </a:ln>
          <a:effectLst/>
        </p:spPr>
      </p:pic>
      <p:sp>
        <p:nvSpPr>
          <p:cNvPr id="5" name="Footer Placeholder 9">
            <a:extLst>
              <a:ext uri="{FF2B5EF4-FFF2-40B4-BE49-F238E27FC236}">
                <a16:creationId xmlns:a16="http://schemas.microsoft.com/office/drawing/2014/main" id="{4167F94D-39AD-13B3-6105-F6E999C08859}"/>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Estimation of Effort: Calculations </a:t>
            </a:r>
            <a:endParaRPr lang="en-US" dirty="0"/>
          </a:p>
        </p:txBody>
      </p:sp>
      <p:sp>
        <p:nvSpPr>
          <p:cNvPr id="3" name="Content Placeholder 2"/>
          <p:cNvSpPr>
            <a:spLocks noGrp="1"/>
          </p:cNvSpPr>
          <p:nvPr>
            <p:ph idx="1"/>
          </p:nvPr>
        </p:nvSpPr>
        <p:spPr/>
        <p:txBody>
          <a:bodyPr/>
          <a:lstStyle/>
          <a:p>
            <a:pPr algn="just" fontAlgn="base"/>
            <a:r>
              <a:rPr lang="en-US" dirty="0"/>
              <a:t>The effort is measured in Person-Months and as evident from the formula is dependent on Kilo-Lines of code.</a:t>
            </a:r>
            <a:br>
              <a:rPr lang="en-US" dirty="0"/>
            </a:br>
            <a:r>
              <a:rPr lang="en-US" dirty="0"/>
              <a:t>The development time is measured in Months.</a:t>
            </a:r>
          </a:p>
          <a:p>
            <a:pPr algn="just" fontAlgn="base"/>
            <a:r>
              <a:rPr lang="en-US" dirty="0"/>
              <a:t>These formulas are used as such in the Basic Model calculations, as not much consideration of different factors such as reliability, expertise is taken into account, henceforth the estimate is rough.</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
        <p:nvSpPr>
          <p:cNvPr id="5" name="Footer Placeholder 9">
            <a:extLst>
              <a:ext uri="{FF2B5EF4-FFF2-40B4-BE49-F238E27FC236}">
                <a16:creationId xmlns:a16="http://schemas.microsoft.com/office/drawing/2014/main" id="{0233FB21-B37A-A00B-9753-2442EB9F083B}"/>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Intermediate Model</a:t>
            </a:r>
            <a:endParaRPr lang="en-US" dirty="0"/>
          </a:p>
        </p:txBody>
      </p:sp>
      <p:sp>
        <p:nvSpPr>
          <p:cNvPr id="3" name="Content Placeholder 2"/>
          <p:cNvSpPr>
            <a:spLocks noGrp="1"/>
          </p:cNvSpPr>
          <p:nvPr>
            <p:ph idx="1"/>
          </p:nvPr>
        </p:nvSpPr>
        <p:spPr/>
        <p:txBody>
          <a:bodyPr/>
          <a:lstStyle/>
          <a:p>
            <a:pPr algn="just"/>
            <a:r>
              <a:rPr lang="en-US" dirty="0"/>
              <a:t>The basic </a:t>
            </a:r>
            <a:r>
              <a:rPr lang="en-US" dirty="0" err="1"/>
              <a:t>Cocomo</a:t>
            </a:r>
            <a:r>
              <a:rPr lang="en-US" dirty="0"/>
              <a:t> model assumes that the effort is only a function of the number of lines of code and some constants evaluated according to the different software system. </a:t>
            </a:r>
          </a:p>
          <a:p>
            <a:pPr algn="just"/>
            <a:r>
              <a:rPr lang="en-US" dirty="0"/>
              <a:t>However, in reality, no system’s effort and schedule can be solely calculated on the basis of Lines of Code. For that, various other factors such as reliability, experience, Capability. These factors are known as Cost Drivers and the Intermediate Model utilizes 15 such drivers for cost estimation.</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
        <p:nvSpPr>
          <p:cNvPr id="5" name="Footer Placeholder 9">
            <a:extLst>
              <a:ext uri="{FF2B5EF4-FFF2-40B4-BE49-F238E27FC236}">
                <a16:creationId xmlns:a16="http://schemas.microsoft.com/office/drawing/2014/main" id="{19FA1DFF-BFA7-EFB7-8E8A-6DB1FDD5DFD2}"/>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Classification of Cost Drivers and their attributes:</a:t>
            </a:r>
          </a:p>
        </p:txBody>
      </p:sp>
      <p:sp>
        <p:nvSpPr>
          <p:cNvPr id="3" name="Content Placeholder 2"/>
          <p:cNvSpPr>
            <a:spLocks noGrp="1"/>
          </p:cNvSpPr>
          <p:nvPr>
            <p:ph idx="1"/>
          </p:nvPr>
        </p:nvSpPr>
        <p:spPr/>
        <p:txBody>
          <a:bodyPr>
            <a:normAutofit lnSpcReduction="10000"/>
          </a:bodyPr>
          <a:lstStyle/>
          <a:p>
            <a:pPr fontAlgn="base"/>
            <a:r>
              <a:rPr lang="en-US" b="1" dirty="0"/>
              <a:t>(</a:t>
            </a:r>
            <a:r>
              <a:rPr lang="en-US" b="1" dirty="0" err="1"/>
              <a:t>i</a:t>
            </a:r>
            <a:r>
              <a:rPr lang="en-US" b="1" dirty="0"/>
              <a:t>) Product attributes –</a:t>
            </a:r>
            <a:endParaRPr lang="en-US" dirty="0"/>
          </a:p>
          <a:p>
            <a:pPr fontAlgn="base"/>
            <a:r>
              <a:rPr lang="en-US" dirty="0"/>
              <a:t>Required software reliability extent</a:t>
            </a:r>
          </a:p>
          <a:p>
            <a:pPr fontAlgn="base"/>
            <a:r>
              <a:rPr lang="en-US" dirty="0"/>
              <a:t>Size of the application database</a:t>
            </a:r>
          </a:p>
          <a:p>
            <a:pPr fontAlgn="base"/>
            <a:r>
              <a:rPr lang="en-US" dirty="0"/>
              <a:t>The complexity of the product</a:t>
            </a:r>
          </a:p>
          <a:p>
            <a:pPr fontAlgn="base"/>
            <a:r>
              <a:rPr lang="en-US" b="1" dirty="0"/>
              <a:t>(ii) Hardware attributes –</a:t>
            </a:r>
            <a:endParaRPr lang="en-US" dirty="0"/>
          </a:p>
          <a:p>
            <a:pPr fontAlgn="base"/>
            <a:r>
              <a:rPr lang="en-US" dirty="0"/>
              <a:t>Run-time performance constraints</a:t>
            </a:r>
          </a:p>
          <a:p>
            <a:pPr fontAlgn="base"/>
            <a:r>
              <a:rPr lang="en-US" dirty="0"/>
              <a:t>Memory constraints</a:t>
            </a:r>
          </a:p>
          <a:p>
            <a:pPr fontAlgn="base"/>
            <a:r>
              <a:rPr lang="en-US" dirty="0"/>
              <a:t>The volatility of the virtual machine environment</a:t>
            </a:r>
          </a:p>
          <a:p>
            <a:pPr fontAlgn="base"/>
            <a:r>
              <a:rPr lang="en-US" dirty="0"/>
              <a:t>Required turnabout time</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
        <p:nvSpPr>
          <p:cNvPr id="5" name="Footer Placeholder 9">
            <a:extLst>
              <a:ext uri="{FF2B5EF4-FFF2-40B4-BE49-F238E27FC236}">
                <a16:creationId xmlns:a16="http://schemas.microsoft.com/office/drawing/2014/main" id="{A3D87BCA-1E3A-E6C2-DFA3-6AC637D60F97}"/>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Classification of Cost Drivers and their attributes:</a:t>
            </a:r>
          </a:p>
        </p:txBody>
      </p:sp>
      <p:sp>
        <p:nvSpPr>
          <p:cNvPr id="3" name="Content Placeholder 2"/>
          <p:cNvSpPr>
            <a:spLocks noGrp="1"/>
          </p:cNvSpPr>
          <p:nvPr>
            <p:ph idx="1"/>
          </p:nvPr>
        </p:nvSpPr>
        <p:spPr/>
        <p:txBody>
          <a:bodyPr>
            <a:normAutofit fontScale="92500" lnSpcReduction="20000"/>
          </a:bodyPr>
          <a:lstStyle/>
          <a:p>
            <a:pPr fontAlgn="base"/>
            <a:r>
              <a:rPr lang="en-US" b="1" dirty="0"/>
              <a:t>(iii) Personnel attributes –</a:t>
            </a:r>
            <a:endParaRPr lang="en-US" dirty="0"/>
          </a:p>
          <a:p>
            <a:pPr fontAlgn="base"/>
            <a:r>
              <a:rPr lang="en-US" dirty="0"/>
              <a:t>Analyst capability</a:t>
            </a:r>
          </a:p>
          <a:p>
            <a:pPr fontAlgn="base"/>
            <a:r>
              <a:rPr lang="en-US" dirty="0"/>
              <a:t>Software engineering capability</a:t>
            </a:r>
          </a:p>
          <a:p>
            <a:pPr fontAlgn="base"/>
            <a:r>
              <a:rPr lang="en-US" dirty="0"/>
              <a:t>Applications experience</a:t>
            </a:r>
          </a:p>
          <a:p>
            <a:pPr fontAlgn="base"/>
            <a:r>
              <a:rPr lang="en-US" dirty="0"/>
              <a:t>Virtual machine experience</a:t>
            </a:r>
          </a:p>
          <a:p>
            <a:pPr fontAlgn="base"/>
            <a:r>
              <a:rPr lang="en-US" dirty="0"/>
              <a:t>Programming language experience</a:t>
            </a:r>
          </a:p>
          <a:p>
            <a:pPr fontAlgn="base"/>
            <a:r>
              <a:rPr lang="en-US" b="1" dirty="0"/>
              <a:t>(iv) Project attributes –</a:t>
            </a:r>
            <a:endParaRPr lang="en-US" dirty="0"/>
          </a:p>
          <a:p>
            <a:pPr fontAlgn="base"/>
            <a:r>
              <a:rPr lang="en-US" dirty="0"/>
              <a:t>Use of software tools</a:t>
            </a:r>
          </a:p>
          <a:p>
            <a:pPr fontAlgn="base"/>
            <a:r>
              <a:rPr lang="en-US" dirty="0"/>
              <a:t>Application of software engineering methods</a:t>
            </a:r>
          </a:p>
          <a:p>
            <a:pPr fontAlgn="base"/>
            <a:r>
              <a:rPr lang="en-US" dirty="0"/>
              <a:t>Required development schedule</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
        <p:nvSpPr>
          <p:cNvPr id="5" name="Footer Placeholder 9">
            <a:extLst>
              <a:ext uri="{FF2B5EF4-FFF2-40B4-BE49-F238E27FC236}">
                <a16:creationId xmlns:a16="http://schemas.microsoft.com/office/drawing/2014/main" id="{FE85F6B8-7CEF-AD9A-872E-E9D9216E4798}"/>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Intermediate Model</a:t>
            </a:r>
            <a:endParaRPr lang="en-US" dirty="0"/>
          </a:p>
        </p:txBody>
      </p:sp>
      <p:sp>
        <p:nvSpPr>
          <p:cNvPr id="3" name="Content Placeholder 2"/>
          <p:cNvSpPr>
            <a:spLocks noGrp="1"/>
          </p:cNvSpPr>
          <p:nvPr>
            <p:ph idx="1"/>
          </p:nvPr>
        </p:nvSpPr>
        <p:spPr/>
        <p:txBody>
          <a:bodyPr/>
          <a:lstStyle/>
          <a:p>
            <a:r>
              <a:rPr lang="en-US" dirty="0"/>
              <a:t>The Intermediate COCOMO formula now takes the form:</a:t>
            </a:r>
          </a:p>
          <a:p>
            <a:endParaRPr lang="en-US" dirty="0"/>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pic>
        <p:nvPicPr>
          <p:cNvPr id="72707" name="Picture 3"/>
          <p:cNvPicPr>
            <a:picLocks noChangeAspect="1" noChangeArrowheads="1"/>
          </p:cNvPicPr>
          <p:nvPr/>
        </p:nvPicPr>
        <p:blipFill>
          <a:blip r:embed="rId2"/>
          <a:srcRect/>
          <a:stretch>
            <a:fillRect/>
          </a:stretch>
        </p:blipFill>
        <p:spPr bwMode="auto">
          <a:xfrm>
            <a:off x="1138238" y="2438400"/>
            <a:ext cx="9471422" cy="704850"/>
          </a:xfrm>
          <a:prstGeom prst="rect">
            <a:avLst/>
          </a:prstGeom>
          <a:noFill/>
          <a:ln w="9525">
            <a:noFill/>
            <a:miter lim="800000"/>
            <a:headEnd/>
            <a:tailEnd/>
          </a:ln>
          <a:effectLst/>
        </p:spPr>
      </p:pic>
      <p:sp>
        <p:nvSpPr>
          <p:cNvPr id="5" name="Footer Placeholder 9">
            <a:extLst>
              <a:ext uri="{FF2B5EF4-FFF2-40B4-BE49-F238E27FC236}">
                <a16:creationId xmlns:a16="http://schemas.microsoft.com/office/drawing/2014/main" id="{C630AD50-FA60-DCC2-2218-0C2B4085F3D9}"/>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Intermediate Model</a:t>
            </a:r>
            <a:endParaRPr lang="en-US" dirty="0"/>
          </a:p>
        </p:txBody>
      </p:sp>
      <p:sp>
        <p:nvSpPr>
          <p:cNvPr id="3" name="Content Placeholder 2"/>
          <p:cNvSpPr>
            <a:spLocks noGrp="1"/>
          </p:cNvSpPr>
          <p:nvPr>
            <p:ph idx="1"/>
          </p:nvPr>
        </p:nvSpPr>
        <p:spPr/>
        <p:txBody>
          <a:bodyPr/>
          <a:lstStyle/>
          <a:p>
            <a:r>
              <a:rPr lang="en-US" dirty="0"/>
              <a:t>The values of a and b in case of the intermediate model are as follows: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pic>
        <p:nvPicPr>
          <p:cNvPr id="73730" name="Picture 2"/>
          <p:cNvPicPr>
            <a:picLocks noChangeAspect="1" noChangeArrowheads="1"/>
          </p:cNvPicPr>
          <p:nvPr/>
        </p:nvPicPr>
        <p:blipFill>
          <a:blip r:embed="rId2"/>
          <a:srcRect/>
          <a:stretch>
            <a:fillRect/>
          </a:stretch>
        </p:blipFill>
        <p:spPr bwMode="auto">
          <a:xfrm>
            <a:off x="1876424" y="2909888"/>
            <a:ext cx="8852927" cy="2386012"/>
          </a:xfrm>
          <a:prstGeom prst="rect">
            <a:avLst/>
          </a:prstGeom>
          <a:noFill/>
          <a:ln w="9525">
            <a:noFill/>
            <a:miter lim="800000"/>
            <a:headEnd/>
            <a:tailEnd/>
          </a:ln>
          <a:effectLst/>
        </p:spPr>
      </p:pic>
      <p:sp>
        <p:nvSpPr>
          <p:cNvPr id="5" name="Footer Placeholder 9">
            <a:extLst>
              <a:ext uri="{FF2B5EF4-FFF2-40B4-BE49-F238E27FC236}">
                <a16:creationId xmlns:a16="http://schemas.microsoft.com/office/drawing/2014/main" id="{808FA400-57F4-E7B4-180B-78D4C9666854}"/>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Detailed Model </a:t>
            </a:r>
            <a:endParaRPr lang="en-US" dirty="0"/>
          </a:p>
        </p:txBody>
      </p:sp>
      <p:sp>
        <p:nvSpPr>
          <p:cNvPr id="3" name="Content Placeholder 2"/>
          <p:cNvSpPr>
            <a:spLocks noGrp="1"/>
          </p:cNvSpPr>
          <p:nvPr>
            <p:ph idx="1"/>
          </p:nvPr>
        </p:nvSpPr>
        <p:spPr/>
        <p:txBody>
          <a:bodyPr/>
          <a:lstStyle/>
          <a:p>
            <a:pPr algn="just"/>
            <a:r>
              <a:rPr lang="en-US" dirty="0"/>
              <a:t>Detailed COCOMO incorporates all characteristics of the intermediate version with an assessment of the cost driver’s impact on each step of the software engineering process. </a:t>
            </a:r>
          </a:p>
          <a:p>
            <a:pPr algn="just"/>
            <a:r>
              <a:rPr lang="en-US" dirty="0"/>
              <a:t>The detailed model uses different effort multipliers for each cost driver attribute. In detailed </a:t>
            </a:r>
            <a:r>
              <a:rPr lang="en-US" dirty="0" err="1"/>
              <a:t>cocomo</a:t>
            </a:r>
            <a:r>
              <a:rPr lang="en-US" dirty="0"/>
              <a:t>, the whole software is divided into different modules and then we apply COCOMO in different modules to estimate effort and then sum the effort.</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
        <p:nvSpPr>
          <p:cNvPr id="5" name="Footer Placeholder 9">
            <a:extLst>
              <a:ext uri="{FF2B5EF4-FFF2-40B4-BE49-F238E27FC236}">
                <a16:creationId xmlns:a16="http://schemas.microsoft.com/office/drawing/2014/main" id="{D21B51D1-5F1E-2661-5D38-7046133BC52E}"/>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Detailed Model </a:t>
            </a:r>
            <a:endParaRPr lang="en-US" dirty="0"/>
          </a:p>
        </p:txBody>
      </p:sp>
      <p:sp>
        <p:nvSpPr>
          <p:cNvPr id="3" name="Content Placeholder 2"/>
          <p:cNvSpPr>
            <a:spLocks noGrp="1"/>
          </p:cNvSpPr>
          <p:nvPr>
            <p:ph idx="1"/>
          </p:nvPr>
        </p:nvSpPr>
        <p:spPr/>
        <p:txBody>
          <a:bodyPr>
            <a:normAutofit lnSpcReduction="10000"/>
          </a:bodyPr>
          <a:lstStyle/>
          <a:p>
            <a:pPr fontAlgn="base"/>
            <a:r>
              <a:rPr lang="en-US" dirty="0"/>
              <a:t>The Six phases of detailed COCOMO are:</a:t>
            </a:r>
          </a:p>
          <a:p>
            <a:pPr fontAlgn="base"/>
            <a:r>
              <a:rPr lang="en-US" dirty="0"/>
              <a:t>Planning and requirements</a:t>
            </a:r>
          </a:p>
          <a:p>
            <a:pPr fontAlgn="base"/>
            <a:r>
              <a:rPr lang="en-US" dirty="0"/>
              <a:t>System design</a:t>
            </a:r>
          </a:p>
          <a:p>
            <a:pPr fontAlgn="base"/>
            <a:r>
              <a:rPr lang="en-US" dirty="0"/>
              <a:t>Detailed design</a:t>
            </a:r>
          </a:p>
          <a:p>
            <a:pPr fontAlgn="base"/>
            <a:r>
              <a:rPr lang="en-US" dirty="0"/>
              <a:t>Module code and test</a:t>
            </a:r>
          </a:p>
          <a:p>
            <a:pPr fontAlgn="base"/>
            <a:r>
              <a:rPr lang="en-US" dirty="0"/>
              <a:t>Integration and test</a:t>
            </a:r>
          </a:p>
          <a:p>
            <a:pPr fontAlgn="base"/>
            <a:r>
              <a:rPr lang="en-US" dirty="0"/>
              <a:t>Cost Constructive model</a:t>
            </a:r>
          </a:p>
          <a:p>
            <a:pPr fontAlgn="base"/>
            <a:r>
              <a:rPr lang="en-US" dirty="0"/>
              <a:t>The effort is calculated as a function of program size and a set of cost drivers are given according to each phase of the software lifecycle.</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
        <p:nvSpPr>
          <p:cNvPr id="5" name="Footer Placeholder 9">
            <a:extLst>
              <a:ext uri="{FF2B5EF4-FFF2-40B4-BE49-F238E27FC236}">
                <a16:creationId xmlns:a16="http://schemas.microsoft.com/office/drawing/2014/main" id="{9491F622-8C7A-3E9D-50F5-3050EE0BCC28}"/>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Effort Vs Product Size</a:t>
            </a:r>
          </a:p>
        </p:txBody>
      </p:sp>
      <p:sp>
        <p:nvSpPr>
          <p:cNvPr id="3" name="Content Placeholder 2"/>
          <p:cNvSpPr>
            <a:spLocks noGrp="1"/>
          </p:cNvSpPr>
          <p:nvPr>
            <p:ph idx="1"/>
          </p:nvPr>
        </p:nvSpPr>
        <p:spPr>
          <a:xfrm>
            <a:off x="781050" y="1425575"/>
            <a:ext cx="10515600" cy="4351338"/>
          </a:xfrm>
        </p:spPr>
        <p:txBody>
          <a:bodyPr>
            <a:normAutofit/>
          </a:bodyPr>
          <a:lstStyle/>
          <a:p>
            <a:r>
              <a:rPr lang="en-US" dirty="0"/>
              <a:t>In different </a:t>
            </a:r>
            <a:r>
              <a:rPr lang="en-US" dirty="0" err="1"/>
              <a:t>cocomo</a:t>
            </a:r>
            <a:r>
              <a:rPr lang="en-US" dirty="0"/>
              <a:t> models, the effort required to develop a product increases very rapidly with project size.</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pic>
        <p:nvPicPr>
          <p:cNvPr id="74754" name="Picture 2"/>
          <p:cNvPicPr>
            <a:picLocks noChangeAspect="1" noChangeArrowheads="1"/>
          </p:cNvPicPr>
          <p:nvPr/>
        </p:nvPicPr>
        <p:blipFill>
          <a:blip r:embed="rId2"/>
          <a:srcRect/>
          <a:stretch>
            <a:fillRect/>
          </a:stretch>
        </p:blipFill>
        <p:spPr bwMode="auto">
          <a:xfrm>
            <a:off x="3090863" y="2257426"/>
            <a:ext cx="5934075" cy="3938980"/>
          </a:xfrm>
          <a:prstGeom prst="rect">
            <a:avLst/>
          </a:prstGeom>
          <a:noFill/>
          <a:ln w="9525">
            <a:noFill/>
            <a:miter lim="800000"/>
            <a:headEnd/>
            <a:tailEnd/>
          </a:ln>
          <a:effectLst/>
        </p:spPr>
      </p:pic>
      <p:sp>
        <p:nvSpPr>
          <p:cNvPr id="5" name="Footer Placeholder 9">
            <a:extLst>
              <a:ext uri="{FF2B5EF4-FFF2-40B4-BE49-F238E27FC236}">
                <a16:creationId xmlns:a16="http://schemas.microsoft.com/office/drawing/2014/main" id="{5A6D25B1-0FCB-998A-6C34-98691C87830B}"/>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949325"/>
          </a:xfrm>
        </p:spPr>
        <p:txBody>
          <a:bodyPr/>
          <a:lstStyle/>
          <a:p>
            <a:r>
              <a:rPr lang="en-US" dirty="0"/>
              <a:t>Development Time Vs Size</a:t>
            </a:r>
          </a:p>
        </p:txBody>
      </p:sp>
      <p:sp>
        <p:nvSpPr>
          <p:cNvPr id="3" name="Content Placeholder 2"/>
          <p:cNvSpPr>
            <a:spLocks noGrp="1"/>
          </p:cNvSpPr>
          <p:nvPr>
            <p:ph idx="1"/>
          </p:nvPr>
        </p:nvSpPr>
        <p:spPr>
          <a:xfrm>
            <a:off x="819150" y="987425"/>
            <a:ext cx="10515600" cy="4351338"/>
          </a:xfrm>
        </p:spPr>
        <p:txBody>
          <a:bodyPr/>
          <a:lstStyle/>
          <a:p>
            <a:r>
              <a:rPr lang="en-US" dirty="0"/>
              <a:t>When the size of the product increases by two times, the time to develop the product does not double but rises moderately. This can be explained by the fact that for larger products, a larger number of activities which can be carried out concurrently can be identified.</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21</a:t>
            </a:fld>
            <a:endParaRPr lang="en-US"/>
          </a:p>
        </p:txBody>
      </p:sp>
      <p:pic>
        <p:nvPicPr>
          <p:cNvPr id="5" name="Picture 2"/>
          <p:cNvPicPr>
            <a:picLocks noChangeAspect="1" noChangeArrowheads="1"/>
          </p:cNvPicPr>
          <p:nvPr/>
        </p:nvPicPr>
        <p:blipFill>
          <a:blip r:embed="rId2"/>
          <a:srcRect/>
          <a:stretch>
            <a:fillRect/>
          </a:stretch>
        </p:blipFill>
        <p:spPr bwMode="auto">
          <a:xfrm>
            <a:off x="2705100" y="2590800"/>
            <a:ext cx="6172200" cy="3765550"/>
          </a:xfrm>
          <a:prstGeom prst="rect">
            <a:avLst/>
          </a:prstGeom>
          <a:noFill/>
          <a:ln w="9525">
            <a:noFill/>
            <a:miter lim="800000"/>
            <a:headEnd/>
            <a:tailEnd/>
          </a:ln>
          <a:effectLst/>
        </p:spPr>
      </p:pic>
      <p:sp>
        <p:nvSpPr>
          <p:cNvPr id="6" name="Footer Placeholder 9">
            <a:extLst>
              <a:ext uri="{FF2B5EF4-FFF2-40B4-BE49-F238E27FC236}">
                <a16:creationId xmlns:a16="http://schemas.microsoft.com/office/drawing/2014/main" id="{4993047E-7C56-840C-DC82-0C0C6B48C3E4}"/>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a:t>
            </a:r>
          </a:p>
        </p:txBody>
      </p:sp>
      <p:sp>
        <p:nvSpPr>
          <p:cNvPr id="3" name="Content Placeholder 2"/>
          <p:cNvSpPr>
            <a:spLocks noGrp="1"/>
          </p:cNvSpPr>
          <p:nvPr>
            <p:ph idx="1"/>
          </p:nvPr>
        </p:nvSpPr>
        <p:spPr/>
        <p:txBody>
          <a:bodyPr>
            <a:normAutofit lnSpcReduction="10000"/>
          </a:bodyPr>
          <a:lstStyle/>
          <a:p>
            <a:r>
              <a:rPr lang="en-US" b="1" dirty="0"/>
              <a:t>Example1:</a:t>
            </a:r>
            <a:r>
              <a:rPr lang="en-US" dirty="0"/>
              <a:t> Suppose a project was estimated to be 400 KLOC. Calculate the effort and development time for each of the three model i.e., organic, semi-detached &amp; embedded.</a:t>
            </a:r>
          </a:p>
          <a:p>
            <a:pPr>
              <a:buNone/>
            </a:pPr>
            <a:r>
              <a:rPr lang="en-US" b="1" dirty="0"/>
              <a:t>Solution:</a:t>
            </a:r>
            <a:r>
              <a:rPr lang="en-US" dirty="0"/>
              <a:t> The basic COCOMO equation takes the form:</a:t>
            </a:r>
          </a:p>
          <a:p>
            <a:pPr>
              <a:buNone/>
            </a:pPr>
            <a:r>
              <a:rPr lang="en-US" dirty="0"/>
              <a:t>                Effort=a</a:t>
            </a:r>
            <a:r>
              <a:rPr lang="en-US" baseline="-25000" dirty="0"/>
              <a:t>1</a:t>
            </a:r>
            <a:r>
              <a:rPr lang="en-US" dirty="0"/>
              <a:t>*(KLOC) a</a:t>
            </a:r>
            <a:r>
              <a:rPr lang="en-US" baseline="-25000" dirty="0"/>
              <a:t>2</a:t>
            </a:r>
            <a:r>
              <a:rPr lang="en-US" dirty="0"/>
              <a:t> PM</a:t>
            </a:r>
            <a:br>
              <a:rPr lang="en-US" dirty="0"/>
            </a:br>
            <a:r>
              <a:rPr lang="en-US" dirty="0"/>
              <a:t>                </a:t>
            </a:r>
            <a:r>
              <a:rPr lang="en-US" dirty="0" err="1"/>
              <a:t>Tdev</a:t>
            </a:r>
            <a:r>
              <a:rPr lang="en-US" dirty="0"/>
              <a:t>=b</a:t>
            </a:r>
            <a:r>
              <a:rPr lang="en-US" baseline="-25000" dirty="0"/>
              <a:t>1</a:t>
            </a:r>
            <a:r>
              <a:rPr lang="en-US" dirty="0"/>
              <a:t>*(efforts)b</a:t>
            </a:r>
            <a:r>
              <a:rPr lang="en-US" baseline="-25000" dirty="0"/>
              <a:t>2</a:t>
            </a:r>
            <a:r>
              <a:rPr lang="en-US" dirty="0"/>
              <a:t> Months</a:t>
            </a:r>
            <a:br>
              <a:rPr lang="en-US" dirty="0"/>
            </a:br>
            <a:r>
              <a:rPr lang="en-US" dirty="0"/>
              <a:t>                Estimated Size of project= 400 KLOC</a:t>
            </a:r>
          </a:p>
          <a:p>
            <a:pPr>
              <a:buNone/>
            </a:pPr>
            <a:r>
              <a:rPr lang="en-US" b="1" dirty="0"/>
              <a:t>(</a:t>
            </a:r>
            <a:r>
              <a:rPr lang="en-US" b="1" dirty="0" err="1"/>
              <a:t>i</a:t>
            </a:r>
            <a:r>
              <a:rPr lang="en-US" b="1" dirty="0"/>
              <a:t>)Organic Mode</a:t>
            </a:r>
            <a:endParaRPr lang="en-US" dirty="0"/>
          </a:p>
          <a:p>
            <a:pPr>
              <a:buNone/>
            </a:pPr>
            <a:r>
              <a:rPr lang="en-US" dirty="0"/>
              <a:t>                E = 2.4 * (400)1.05 = 1295.31 PM</a:t>
            </a:r>
            <a:br>
              <a:rPr lang="en-US" dirty="0"/>
            </a:br>
            <a:r>
              <a:rPr lang="en-US" dirty="0"/>
              <a:t>                D = 2.5 * (1295.31)0.38=38.07 PM</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22</a:t>
            </a:fld>
            <a:endParaRPr lang="en-US"/>
          </a:p>
        </p:txBody>
      </p:sp>
      <p:sp>
        <p:nvSpPr>
          <p:cNvPr id="5" name="Footer Placeholder 9">
            <a:extLst>
              <a:ext uri="{FF2B5EF4-FFF2-40B4-BE49-F238E27FC236}">
                <a16:creationId xmlns:a16="http://schemas.microsoft.com/office/drawing/2014/main" id="{37FB1DA0-6664-472E-0AE3-BCEC996EBE5B}"/>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a:t>
            </a:r>
          </a:p>
        </p:txBody>
      </p:sp>
      <p:sp>
        <p:nvSpPr>
          <p:cNvPr id="3" name="Content Placeholder 2"/>
          <p:cNvSpPr>
            <a:spLocks noGrp="1"/>
          </p:cNvSpPr>
          <p:nvPr>
            <p:ph idx="1"/>
          </p:nvPr>
        </p:nvSpPr>
        <p:spPr/>
        <p:txBody>
          <a:bodyPr/>
          <a:lstStyle/>
          <a:p>
            <a:pPr>
              <a:buNone/>
            </a:pPr>
            <a:r>
              <a:rPr lang="en-US" b="1" dirty="0"/>
              <a:t>(ii)Semidetached Mode</a:t>
            </a:r>
            <a:endParaRPr lang="en-US" dirty="0"/>
          </a:p>
          <a:p>
            <a:pPr>
              <a:buNone/>
            </a:pPr>
            <a:r>
              <a:rPr lang="en-US" dirty="0"/>
              <a:t>                E = 3.0 * (400)1.12=2462.79 PM</a:t>
            </a:r>
            <a:br>
              <a:rPr lang="en-US" dirty="0"/>
            </a:br>
            <a:r>
              <a:rPr lang="en-US" dirty="0"/>
              <a:t>                D = 2.5 * (2462.79)0.35=38.45 PM</a:t>
            </a:r>
          </a:p>
          <a:p>
            <a:pPr>
              <a:buNone/>
            </a:pPr>
            <a:r>
              <a:rPr lang="en-US" b="1" dirty="0"/>
              <a:t>(iii) Embedded Mode</a:t>
            </a:r>
            <a:endParaRPr lang="en-US" dirty="0"/>
          </a:p>
          <a:p>
            <a:pPr>
              <a:buNone/>
            </a:pPr>
            <a:r>
              <a:rPr lang="en-US" dirty="0"/>
              <a:t>                E = 3.6 * (400)1.20 = 4772.81 PM</a:t>
            </a:r>
            <a:br>
              <a:rPr lang="en-US" dirty="0"/>
            </a:br>
            <a:r>
              <a:rPr lang="en-US" dirty="0"/>
              <a:t>                D = 2.5 * (4772.8)0.32 = 38 PM</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23</a:t>
            </a:fld>
            <a:endParaRPr lang="en-US"/>
          </a:p>
        </p:txBody>
      </p:sp>
      <p:sp>
        <p:nvSpPr>
          <p:cNvPr id="5" name="Footer Placeholder 9">
            <a:extLst>
              <a:ext uri="{FF2B5EF4-FFF2-40B4-BE49-F238E27FC236}">
                <a16:creationId xmlns:a16="http://schemas.microsoft.com/office/drawing/2014/main" id="{4E4D2C83-5E5C-F8CE-606D-1A18438D726A}"/>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a:t>
            </a:r>
          </a:p>
        </p:txBody>
      </p:sp>
      <p:sp>
        <p:nvSpPr>
          <p:cNvPr id="3" name="Content Placeholder 2"/>
          <p:cNvSpPr>
            <a:spLocks noGrp="1"/>
          </p:cNvSpPr>
          <p:nvPr>
            <p:ph idx="1"/>
          </p:nvPr>
        </p:nvSpPr>
        <p:spPr/>
        <p:txBody>
          <a:bodyPr/>
          <a:lstStyle/>
          <a:p>
            <a:pPr algn="just"/>
            <a:r>
              <a:rPr lang="en-US" dirty="0"/>
              <a:t>A project size of 200 KLOC is to be developed. Software development team has average experience on similar type of projects. The project schedule is not very tight. Calculate the Effort, development time, average staff size, and productivity of the project.</a:t>
            </a:r>
          </a:p>
          <a:p>
            <a:pPr algn="just"/>
            <a:endParaRPr lang="en-US" dirty="0"/>
          </a:p>
          <a:p>
            <a:pPr algn="just"/>
            <a:r>
              <a:rPr lang="en-US" b="1" dirty="0"/>
              <a:t>Solution:</a:t>
            </a:r>
            <a:r>
              <a:rPr lang="en-US" dirty="0"/>
              <a:t> The semidetached mode is the most appropriate mode, keeping in view the size, schedule and experience of development time.</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24</a:t>
            </a:fld>
            <a:endParaRPr lang="en-US"/>
          </a:p>
        </p:txBody>
      </p:sp>
      <p:sp>
        <p:nvSpPr>
          <p:cNvPr id="5" name="Footer Placeholder 9">
            <a:extLst>
              <a:ext uri="{FF2B5EF4-FFF2-40B4-BE49-F238E27FC236}">
                <a16:creationId xmlns:a16="http://schemas.microsoft.com/office/drawing/2014/main" id="{958F2287-B8BB-53A3-6E1D-B3B41F556CFE}"/>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a:t>
            </a:r>
          </a:p>
        </p:txBody>
      </p:sp>
      <p:sp>
        <p:nvSpPr>
          <p:cNvPr id="3" name="Content Placeholder 2"/>
          <p:cNvSpPr>
            <a:spLocks noGrp="1"/>
          </p:cNvSpPr>
          <p:nvPr>
            <p:ph idx="1"/>
          </p:nvPr>
        </p:nvSpPr>
        <p:spPr/>
        <p:txBody>
          <a:bodyPr/>
          <a:lstStyle/>
          <a:p>
            <a:endParaRPr lang="en-US" dirty="0"/>
          </a:p>
          <a:p>
            <a:endParaRPr lang="en-US" dirty="0"/>
          </a:p>
          <a:p>
            <a:endParaRPr lang="en-US" dirty="0"/>
          </a:p>
          <a:p>
            <a:pPr>
              <a:buNone/>
            </a:pPr>
            <a:endParaRPr lang="en-US" dirty="0"/>
          </a:p>
          <a:p>
            <a:pPr>
              <a:buNone/>
            </a:pPr>
            <a:endParaRPr lang="en-US" dirty="0"/>
          </a:p>
          <a:p>
            <a:pPr>
              <a:buNone/>
            </a:pPr>
            <a:r>
              <a:rPr lang="en-US" dirty="0"/>
              <a:t>Hence       E=3.0(200)1.12=1133.12PM</a:t>
            </a:r>
            <a:br>
              <a:rPr lang="en-US" dirty="0"/>
            </a:br>
            <a:r>
              <a:rPr lang="en-US" dirty="0"/>
              <a:t>                D=2.5(1133.12)0.35=29.3PM</a:t>
            </a:r>
          </a:p>
          <a:p>
            <a:pPr>
              <a:buNone/>
            </a:pPr>
            <a:r>
              <a:rPr lang="en-US" dirty="0"/>
              <a:t>              P = 176 LOC/PM</a:t>
            </a:r>
          </a:p>
          <a:p>
            <a:endParaRPr lang="en-US" dirty="0"/>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25</a:t>
            </a:fld>
            <a:endParaRPr lang="en-US"/>
          </a:p>
        </p:txBody>
      </p:sp>
      <p:pic>
        <p:nvPicPr>
          <p:cNvPr id="5" name="Picture 2"/>
          <p:cNvPicPr>
            <a:picLocks noChangeAspect="1" noChangeArrowheads="1"/>
          </p:cNvPicPr>
          <p:nvPr/>
        </p:nvPicPr>
        <p:blipFill>
          <a:blip r:embed="rId2"/>
          <a:srcRect/>
          <a:stretch>
            <a:fillRect/>
          </a:stretch>
        </p:blipFill>
        <p:spPr bwMode="auto">
          <a:xfrm>
            <a:off x="1109663" y="1881188"/>
            <a:ext cx="7729537" cy="2496620"/>
          </a:xfrm>
          <a:prstGeom prst="rect">
            <a:avLst/>
          </a:prstGeom>
          <a:noFill/>
          <a:ln w="9525">
            <a:noFill/>
            <a:miter lim="800000"/>
            <a:headEnd/>
            <a:tailEnd/>
          </a:ln>
          <a:effectLst/>
        </p:spPr>
      </p:pic>
      <p:sp>
        <p:nvSpPr>
          <p:cNvPr id="6" name="Footer Placeholder 9">
            <a:extLst>
              <a:ext uri="{FF2B5EF4-FFF2-40B4-BE49-F238E27FC236}">
                <a16:creationId xmlns:a16="http://schemas.microsoft.com/office/drawing/2014/main" id="{2048B0CE-0113-5936-3984-B7A20A69A1A4}"/>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dirty="0">
                <a:hlinkClick r:id="rId2"/>
              </a:rPr>
              <a:t>https://www.geeksforgeeks.org/software-engineering-cocomo-model/</a:t>
            </a:r>
            <a:endParaRPr lang="en-US" dirty="0"/>
          </a:p>
          <a:p>
            <a:r>
              <a:rPr lang="en-US" dirty="0">
                <a:hlinkClick r:id="rId3"/>
              </a:rPr>
              <a:t>https://www.javatpoint.com/cocomo-model</a:t>
            </a:r>
            <a:endParaRPr lang="en-US" dirty="0"/>
          </a:p>
          <a:p>
            <a:r>
              <a:rPr lang="en-US" dirty="0">
                <a:hlinkClick r:id="rId4"/>
              </a:rPr>
              <a:t>https://www.educba.com/cocomo-model/</a:t>
            </a:r>
            <a:endParaRPr lang="en-US" dirty="0"/>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itchFamily="18" charset="0"/>
                <a:cs typeface="Times New Roman" pitchFamily="18" charset="0"/>
              </a:rPr>
              <a:t>References</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26</a:t>
            </a:fld>
            <a:endParaRPr lang="en-US"/>
          </a:p>
        </p:txBody>
      </p:sp>
      <p:sp>
        <p:nvSpPr>
          <p:cNvPr id="2" name="Footer Placeholder 9">
            <a:extLst>
              <a:ext uri="{FF2B5EF4-FFF2-40B4-BE49-F238E27FC236}">
                <a16:creationId xmlns:a16="http://schemas.microsoft.com/office/drawing/2014/main" id="{24CF020C-AB2F-4B4A-2DB2-F8142BED5FA9}"/>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6" name="Slide Number Placeholder 15"/>
          <p:cNvSpPr>
            <a:spLocks noGrp="1"/>
          </p:cNvSpPr>
          <p:nvPr>
            <p:ph type="sldNum" sz="quarter" idx="12"/>
          </p:nvPr>
        </p:nvSpPr>
        <p:spPr/>
        <p:txBody>
          <a:bodyPr/>
          <a:lstStyle/>
          <a:p>
            <a:fld id="{FC9A48AB-23F1-45F1-98E5-D2CDC7A5261D}" type="slidenum">
              <a:rPr lang="en-US" smtClean="0">
                <a:solidFill>
                  <a:prstClr val="black">
                    <a:tint val="75000"/>
                  </a:prstClr>
                </a:solidFill>
              </a:rPr>
              <a:pPr/>
              <a:t>27</a:t>
            </a:fld>
            <a:endParaRPr lang="en-US">
              <a:solidFill>
                <a:prstClr val="black">
                  <a:tint val="75000"/>
                </a:prstClr>
              </a:solidFill>
            </a:endParaRPr>
          </a:p>
        </p:txBody>
      </p:sp>
      <p:sp>
        <p:nvSpPr>
          <p:cNvPr id="2" name="Footer Placeholder 9">
            <a:extLst>
              <a:ext uri="{FF2B5EF4-FFF2-40B4-BE49-F238E27FC236}">
                <a16:creationId xmlns:a16="http://schemas.microsoft.com/office/drawing/2014/main" id="{D7DB5ADD-3614-F4B1-C798-09DA00B6386A}"/>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1748</TotalTime>
  <Words>1827</Words>
  <Application>Microsoft Macintosh PowerPoint</Application>
  <PresentationFormat>Widescreen</PresentationFormat>
  <Paragraphs>183</Paragraphs>
  <Slides>27</Slides>
  <Notes>0</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27</vt:i4>
      </vt:variant>
    </vt:vector>
  </HeadingPairs>
  <TitlesOfParts>
    <vt:vector size="37" baseType="lpstr">
      <vt:lpstr>Arial</vt:lpstr>
      <vt:lpstr>Arial Black</vt:lpstr>
      <vt:lpstr>Calibri</vt:lpstr>
      <vt:lpstr>Calibri Light</vt:lpstr>
      <vt:lpstr>Casper</vt:lpstr>
      <vt:lpstr>Raleway ExtraBold</vt:lpstr>
      <vt:lpstr>Times New Roman</vt:lpstr>
      <vt:lpstr>1_Office Theme</vt:lpstr>
      <vt:lpstr>Contents Slide Master</vt:lpstr>
      <vt:lpstr>CorelDRAW</vt:lpstr>
      <vt:lpstr>PowerPoint Presentation</vt:lpstr>
      <vt:lpstr> COCOMO Model </vt:lpstr>
      <vt:lpstr> COCOMO Model </vt:lpstr>
      <vt:lpstr> COCOMO Model </vt:lpstr>
      <vt:lpstr> COCOMO Model </vt:lpstr>
      <vt:lpstr> COCOMO Model </vt:lpstr>
      <vt:lpstr> COCOMO Model </vt:lpstr>
      <vt:lpstr> COCOMO Model </vt:lpstr>
      <vt:lpstr> COCOMO Model </vt:lpstr>
      <vt:lpstr>Estimation of Effort: Calculations </vt:lpstr>
      <vt:lpstr>Estimation of Effort: Calculations </vt:lpstr>
      <vt:lpstr>Estimation of Effort: Calculations </vt:lpstr>
      <vt:lpstr>Intermediate Model</vt:lpstr>
      <vt:lpstr>Classification of Cost Drivers and their attributes:</vt:lpstr>
      <vt:lpstr>Classification of Cost Drivers and their attributes:</vt:lpstr>
      <vt:lpstr>Intermediate Model</vt:lpstr>
      <vt:lpstr>Intermediate Model</vt:lpstr>
      <vt:lpstr>Detailed Model </vt:lpstr>
      <vt:lpstr>Detailed Model </vt:lpstr>
      <vt:lpstr>Effort Vs Product Size</vt:lpstr>
      <vt:lpstr>Development Time Vs Size</vt:lpstr>
      <vt:lpstr>Examples</vt:lpstr>
      <vt:lpstr>Examples</vt:lpstr>
      <vt:lpstr>Examples</vt:lpstr>
      <vt:lpstr>Examples</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Jagmeet Kaur</cp:lastModifiedBy>
  <cp:revision>241</cp:revision>
  <dcterms:created xsi:type="dcterms:W3CDTF">2019-01-09T10:33:58Z</dcterms:created>
  <dcterms:modified xsi:type="dcterms:W3CDTF">2024-12-12T09:35:47Z</dcterms:modified>
</cp:coreProperties>
</file>