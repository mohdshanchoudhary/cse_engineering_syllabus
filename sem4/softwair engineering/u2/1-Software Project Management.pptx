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5"/>
  </p:notesMasterIdLst>
  <p:handoutMasterIdLst>
    <p:handoutMasterId r:id="rId36"/>
  </p:handoutMasterIdLst>
  <p:sldIdLst>
    <p:sldId id="662" r:id="rId3"/>
    <p:sldId id="280" r:id="rId4"/>
    <p:sldId id="294" r:id="rId5"/>
    <p:sldId id="327" r:id="rId6"/>
    <p:sldId id="328" r:id="rId7"/>
    <p:sldId id="329" r:id="rId8"/>
    <p:sldId id="330" r:id="rId9"/>
    <p:sldId id="331" r:id="rId10"/>
    <p:sldId id="345" r:id="rId11"/>
    <p:sldId id="332" r:id="rId12"/>
    <p:sldId id="346" r:id="rId13"/>
    <p:sldId id="333" r:id="rId14"/>
    <p:sldId id="334" r:id="rId15"/>
    <p:sldId id="335" r:id="rId16"/>
    <p:sldId id="336" r:id="rId17"/>
    <p:sldId id="347" r:id="rId18"/>
    <p:sldId id="337" r:id="rId19"/>
    <p:sldId id="338" r:id="rId20"/>
    <p:sldId id="339" r:id="rId21"/>
    <p:sldId id="348" r:id="rId22"/>
    <p:sldId id="340" r:id="rId23"/>
    <p:sldId id="343" r:id="rId24"/>
    <p:sldId id="344" r:id="rId25"/>
    <p:sldId id="341" r:id="rId26"/>
    <p:sldId id="342" r:id="rId27"/>
    <p:sldId id="349" r:id="rId28"/>
    <p:sldId id="350" r:id="rId29"/>
    <p:sldId id="351" r:id="rId30"/>
    <p:sldId id="352" r:id="rId31"/>
    <p:sldId id="353" r:id="rId32"/>
    <p:sldId id="326" r:id="rId33"/>
    <p:sldId id="27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6136A3E5-5760-2BFC-7EB9-40E649E90E4E}"/>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39BE980F-C2DE-1DB6-33E8-07308183A947}"/>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pic>
        <p:nvPicPr>
          <p:cNvPr id="9" name="Picture 8">
            <a:extLst>
              <a:ext uri="{FF2B5EF4-FFF2-40B4-BE49-F238E27FC236}">
                <a16:creationId xmlns:a16="http://schemas.microsoft.com/office/drawing/2014/main" id="{F954A3E7-23A1-7987-8ECB-DFD4AFE6D572}"/>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javatpoint.com/software-project-planning" TargetMode="External"/><Relationship Id="rId2" Type="http://schemas.openxmlformats.org/officeDocument/2006/relationships/hyperlink" Target="https://www.tutorialspoint.com/software_engineering/software_project_management.htm" TargetMode="External"/><Relationship Id="rId1" Type="http://schemas.openxmlformats.org/officeDocument/2006/relationships/slideLayout" Target="../slideLayouts/slideLayout2.xml"/><Relationship Id="rId4" Type="http://schemas.openxmlformats.org/officeDocument/2006/relationships/hyperlink" Target="https://www.tutorialspoint.com/estimation_techniques/estimation_techniques_overview.htm"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1079146"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pPr algn="ctr" eaLnBrk="1" hangingPunct="1"/>
            <a:r>
              <a:rPr lang="en-US" sz="1800" b="1" dirty="0">
                <a:latin typeface="Times New Roman" panose="02020603050405020304" pitchFamily="18" charset="0"/>
                <a:cs typeface="Times New Roman" panose="02020603050405020304" pitchFamily="18" charset="0"/>
              </a:rPr>
              <a:t>Software Design</a:t>
            </a:r>
          </a:p>
        </p:txBody>
      </p:sp>
      <p:pic>
        <p:nvPicPr>
          <p:cNvPr id="4" name="Picture 3">
            <a:extLst>
              <a:ext uri="{FF2B5EF4-FFF2-40B4-BE49-F238E27FC236}">
                <a16:creationId xmlns:a16="http://schemas.microsoft.com/office/drawing/2014/main" id="{CDF0B105-58BC-C11C-1CFE-904A3F19CC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150000"/>
              </a:lnSpc>
            </a:pPr>
            <a:r>
              <a:rPr lang="en-US" sz="2400" dirty="0">
                <a:latin typeface="Times New Roman" pitchFamily="18" charset="0"/>
                <a:cs typeface="Times New Roman" pitchFamily="18" charset="0"/>
              </a:rPr>
              <a:t>Software project planning</a:t>
            </a:r>
          </a:p>
          <a:p>
            <a:pPr>
              <a:lnSpc>
                <a:spcPct val="150000"/>
              </a:lnSpc>
            </a:pPr>
            <a:r>
              <a:rPr lang="en-US" sz="2400" dirty="0">
                <a:latin typeface="Times New Roman" pitchFamily="18" charset="0"/>
                <a:cs typeface="Times New Roman" pitchFamily="18" charset="0"/>
              </a:rPr>
              <a:t>Project Estimation Techniques</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2" name="Footer Placeholder 9">
            <a:extLst>
              <a:ext uri="{FF2B5EF4-FFF2-40B4-BE49-F238E27FC236}">
                <a16:creationId xmlns:a16="http://schemas.microsoft.com/office/drawing/2014/main" id="{949C330F-9FD1-6449-D1FD-403CEACED2C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768519"/>
          </a:xfrm>
        </p:spPr>
        <p:txBody>
          <a:bodyPr>
            <a:noAutofit/>
          </a:bodyPr>
          <a:lstStyle/>
          <a:p>
            <a:pPr algn="ctr"/>
            <a:br>
              <a:rPr lang="en-US" dirty="0"/>
            </a:br>
            <a:r>
              <a:rPr lang="en-US" sz="3600" dirty="0">
                <a:latin typeface="Times New Roman" panose="02020603050405020304" pitchFamily="18" charset="0"/>
                <a:cs typeface="Times New Roman" panose="02020603050405020304" pitchFamily="18" charset="0"/>
              </a:rPr>
              <a:t>Software Project Planning</a:t>
            </a:r>
            <a:br>
              <a:rPr lang="en-US" dirty="0"/>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10515600" cy="4351338"/>
          </a:xfrm>
        </p:spPr>
        <p:txBody>
          <a:bodyPr>
            <a:normAutofit/>
          </a:bodyPr>
          <a:lstStyle/>
          <a:p>
            <a:pPr algn="just"/>
            <a:r>
              <a:rPr lang="en-US" dirty="0">
                <a:latin typeface="Times New Roman" panose="02020603050405020304" pitchFamily="18" charset="0"/>
                <a:cs typeface="Times New Roman" panose="02020603050405020304" pitchFamily="18" charset="0"/>
              </a:rPr>
              <a:t>A Software Project is the complete methodology of programming advancement from requirement gathering to testing and support, completed by the execution procedures, in a specified period to achieve intended software product.</a:t>
            </a:r>
          </a:p>
          <a:p>
            <a:pPr algn="just"/>
            <a:r>
              <a:rPr lang="en-US" dirty="0">
                <a:latin typeface="Times New Roman" panose="02020603050405020304" pitchFamily="18" charset="0"/>
                <a:cs typeface="Times New Roman" panose="02020603050405020304" pitchFamily="18" charset="0"/>
              </a:rPr>
              <a:t>A project is well-defined task, which is a collection of several operations done in order to achieve a goal (for example, software development and delivery). </a:t>
            </a:r>
          </a:p>
        </p:txBody>
      </p:sp>
      <p:sp>
        <p:nvSpPr>
          <p:cNvPr id="7" name="Slide Number Placeholder 6"/>
          <p:cNvSpPr>
            <a:spLocks noGrp="1"/>
          </p:cNvSpPr>
          <p:nvPr>
            <p:ph type="sldNum" sz="quarter" idx="12"/>
          </p:nvPr>
        </p:nvSpPr>
        <p:spPr/>
        <p:txBody>
          <a:bodyPr/>
          <a:lstStyle/>
          <a:p>
            <a:fld id="{BDCDBBEF-AA6C-4BA6-85B2-A17D7F280E38}" type="slidenum">
              <a:rPr lang="en-US" smtClean="0"/>
              <a:pPr/>
              <a:t>3</a:t>
            </a:fld>
            <a:endParaRPr lang="en-US"/>
          </a:p>
        </p:txBody>
      </p:sp>
      <p:sp>
        <p:nvSpPr>
          <p:cNvPr id="4" name="Footer Placeholder 9">
            <a:extLst>
              <a:ext uri="{FF2B5EF4-FFF2-40B4-BE49-F238E27FC236}">
                <a16:creationId xmlns:a16="http://schemas.microsoft.com/office/drawing/2014/main" id="{E1DA8449-2A52-B060-B70B-329A65F1481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1219"/>
            <a:ext cx="10515600" cy="679469"/>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Software Project Planning</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Project can be characterized as:</a:t>
            </a:r>
          </a:p>
          <a:p>
            <a:r>
              <a:rPr lang="en-US" dirty="0">
                <a:latin typeface="Times New Roman" panose="02020603050405020304" pitchFamily="18" charset="0"/>
                <a:cs typeface="Times New Roman" panose="02020603050405020304" pitchFamily="18" charset="0"/>
              </a:rPr>
              <a:t>Every project may has a unique and distinct goal.</a:t>
            </a:r>
          </a:p>
          <a:p>
            <a:r>
              <a:rPr lang="en-US" dirty="0">
                <a:latin typeface="Times New Roman" panose="02020603050405020304" pitchFamily="18" charset="0"/>
                <a:cs typeface="Times New Roman" panose="02020603050405020304" pitchFamily="18" charset="0"/>
              </a:rPr>
              <a:t>Project is not routine activity or day-to-day operations.</a:t>
            </a:r>
          </a:p>
          <a:p>
            <a:r>
              <a:rPr lang="en-US" dirty="0">
                <a:latin typeface="Times New Roman" panose="02020603050405020304" pitchFamily="18" charset="0"/>
                <a:cs typeface="Times New Roman" panose="02020603050405020304" pitchFamily="18" charset="0"/>
              </a:rPr>
              <a:t>Project comes with a start time and end time.</a:t>
            </a:r>
          </a:p>
          <a:p>
            <a:r>
              <a:rPr lang="en-US" dirty="0">
                <a:latin typeface="Times New Roman" panose="02020603050405020304" pitchFamily="18" charset="0"/>
                <a:cs typeface="Times New Roman" panose="02020603050405020304" pitchFamily="18" charset="0"/>
              </a:rPr>
              <a:t>Project ends when its goal is achieved hence it is a temporary phase in the lifetime of an organization.</a:t>
            </a:r>
          </a:p>
          <a:p>
            <a:r>
              <a:rPr lang="en-US" dirty="0">
                <a:latin typeface="Times New Roman" panose="02020603050405020304" pitchFamily="18" charset="0"/>
                <a:cs typeface="Times New Roman" panose="02020603050405020304" pitchFamily="18" charset="0"/>
              </a:rPr>
              <a:t>Project needs adequate resources in terms of time, manpower, finance, material and knowledge-bank.</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1C0325C5-AC47-7CC3-774F-CE1FA7EBD76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797803"/>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Need of Software Project Management</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Software development is a sort of all new streams in world business, and there's next to no involvement in structure programming items. </a:t>
            </a:r>
          </a:p>
          <a:p>
            <a:pPr algn="just"/>
            <a:r>
              <a:rPr lang="en-US" dirty="0">
                <a:latin typeface="Times New Roman" panose="02020603050405020304" pitchFamily="18" charset="0"/>
                <a:cs typeface="Times New Roman" panose="02020603050405020304" pitchFamily="18" charset="0"/>
              </a:rPr>
              <a:t>Most programming items are customized to accommodate customer's necessities.</a:t>
            </a:r>
          </a:p>
          <a:p>
            <a:pPr algn="just"/>
            <a:r>
              <a:rPr lang="en-US" dirty="0">
                <a:latin typeface="Times New Roman" panose="02020603050405020304" pitchFamily="18" charset="0"/>
                <a:cs typeface="Times New Roman" panose="02020603050405020304" pitchFamily="18" charset="0"/>
              </a:rPr>
              <a:t> The most significant is that the underlying technology changes and advances so generally and rapidly that experience of one element may not be connected to the other one.</a:t>
            </a:r>
          </a:p>
          <a:p>
            <a:pPr algn="just"/>
            <a:r>
              <a:rPr lang="en-US" dirty="0">
                <a:latin typeface="Times New Roman" panose="02020603050405020304" pitchFamily="18" charset="0"/>
                <a:cs typeface="Times New Roman" panose="02020603050405020304" pitchFamily="18" charset="0"/>
              </a:rPr>
              <a:t> All such business and ecological imperatives bring risk in software development; hence, it is fundamental to manage software projects efficiently.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DCA0E344-303C-28A9-CA6E-733991398FC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pPr algn="ct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Software Project Manager</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Software manager is responsible for planning and scheduling project development. </a:t>
            </a:r>
          </a:p>
          <a:p>
            <a:pPr algn="just"/>
            <a:r>
              <a:rPr lang="en-US" dirty="0">
                <a:latin typeface="Times New Roman" panose="02020603050405020304" pitchFamily="18" charset="0"/>
                <a:cs typeface="Times New Roman" panose="02020603050405020304" pitchFamily="18" charset="0"/>
              </a:rPr>
              <a:t>They manage the work to ensure that it is completed to the required standard. </a:t>
            </a:r>
          </a:p>
          <a:p>
            <a:pPr algn="just"/>
            <a:r>
              <a:rPr lang="en-US" dirty="0">
                <a:latin typeface="Times New Roman" panose="02020603050405020304" pitchFamily="18" charset="0"/>
                <a:cs typeface="Times New Roman" panose="02020603050405020304" pitchFamily="18" charset="0"/>
              </a:rPr>
              <a:t>They monitor the progress to check that the event is on time and within budget. </a:t>
            </a:r>
          </a:p>
          <a:p>
            <a:pPr algn="just"/>
            <a:r>
              <a:rPr lang="en-US" dirty="0">
                <a:latin typeface="Times New Roman" panose="02020603050405020304" pitchFamily="18" charset="0"/>
                <a:cs typeface="Times New Roman" panose="02020603050405020304" pitchFamily="18" charset="0"/>
              </a:rPr>
              <a:t>The project planning must incorporate the major issues like size &amp; cost estimation scheduling, project monitoring, personnel selection evaluation &amp; risk management. </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9B22E8CC-11C3-4CB5-00A0-4A31740087E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a:bodyPr>
          <a:lstStyle/>
          <a:p>
            <a:pPr algn="ctr"/>
            <a:r>
              <a:rPr lang="en-US" sz="3600" dirty="0">
                <a:latin typeface="Times New Roman" panose="02020603050405020304" pitchFamily="18" charset="0"/>
                <a:cs typeface="Times New Roman" panose="02020603050405020304" pitchFamily="18" charset="0"/>
              </a:rPr>
              <a:t>Software Project Manager</a:t>
            </a:r>
          </a:p>
        </p:txBody>
      </p:sp>
      <p:sp>
        <p:nvSpPr>
          <p:cNvPr id="3" name="Content Placeholder 2"/>
          <p:cNvSpPr>
            <a:spLocks noGrp="1"/>
          </p:cNvSpPr>
          <p:nvPr>
            <p:ph idx="1"/>
          </p:nvPr>
        </p:nvSpPr>
        <p:spPr/>
        <p:txBody>
          <a:bodyPr/>
          <a:lstStyle/>
          <a:p>
            <a:pPr>
              <a:buNone/>
            </a:pPr>
            <a:r>
              <a:rPr lang="en-US" dirty="0">
                <a:latin typeface="Times New Roman" panose="02020603050405020304" pitchFamily="18" charset="0"/>
                <a:cs typeface="Times New Roman" panose="02020603050405020304" pitchFamily="18" charset="0"/>
              </a:rPr>
              <a:t>To plan a successful software project, we must understand:</a:t>
            </a:r>
          </a:p>
          <a:p>
            <a:r>
              <a:rPr lang="en-US" dirty="0">
                <a:latin typeface="Times New Roman" panose="02020603050405020304" pitchFamily="18" charset="0"/>
                <a:cs typeface="Times New Roman" panose="02020603050405020304" pitchFamily="18" charset="0"/>
              </a:rPr>
              <a:t>Scope of work to be completed</a:t>
            </a:r>
          </a:p>
          <a:p>
            <a:r>
              <a:rPr lang="en-US" dirty="0">
                <a:latin typeface="Times New Roman" panose="02020603050405020304" pitchFamily="18" charset="0"/>
                <a:cs typeface="Times New Roman" panose="02020603050405020304" pitchFamily="18" charset="0"/>
              </a:rPr>
              <a:t>Risk analysis</a:t>
            </a:r>
          </a:p>
          <a:p>
            <a:r>
              <a:rPr lang="en-US" dirty="0">
                <a:latin typeface="Times New Roman" panose="02020603050405020304" pitchFamily="18" charset="0"/>
                <a:cs typeface="Times New Roman" panose="02020603050405020304" pitchFamily="18" charset="0"/>
              </a:rPr>
              <a:t>The resources mandatory</a:t>
            </a:r>
          </a:p>
          <a:p>
            <a:r>
              <a:rPr lang="en-US" dirty="0">
                <a:latin typeface="Times New Roman" panose="02020603050405020304" pitchFamily="18" charset="0"/>
                <a:cs typeface="Times New Roman" panose="02020603050405020304" pitchFamily="18" charset="0"/>
              </a:rPr>
              <a:t>The project to be accomplished</a:t>
            </a:r>
          </a:p>
          <a:p>
            <a:r>
              <a:rPr lang="en-US" dirty="0">
                <a:latin typeface="Times New Roman" panose="02020603050405020304" pitchFamily="18" charset="0"/>
                <a:cs typeface="Times New Roman" panose="02020603050405020304" pitchFamily="18" charset="0"/>
              </a:rPr>
              <a:t>Record of being followed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BBE67B4F-C904-56B5-A2B3-89490A2EAE3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Software Project Manager</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A software project manager is a person who undertakes the responsibility of executing the software project. </a:t>
            </a:r>
          </a:p>
          <a:p>
            <a:pPr algn="just"/>
            <a:r>
              <a:rPr lang="en-US" dirty="0">
                <a:latin typeface="Times New Roman" panose="02020603050405020304" pitchFamily="18" charset="0"/>
                <a:cs typeface="Times New Roman" panose="02020603050405020304" pitchFamily="18" charset="0"/>
              </a:rPr>
              <a:t>Software project manager is thoroughly aware of all the phases of SDLC that the software would go through. </a:t>
            </a:r>
          </a:p>
          <a:p>
            <a:pPr algn="just"/>
            <a:r>
              <a:rPr lang="en-US" dirty="0">
                <a:latin typeface="Times New Roman" panose="02020603050405020304" pitchFamily="18" charset="0"/>
                <a:cs typeface="Times New Roman" panose="02020603050405020304" pitchFamily="18" charset="0"/>
              </a:rPr>
              <a:t>Project manager may never directly involve in producing the end product but he controls and manages the activities involved in production.</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733D4AD5-5C35-BB74-D188-994651EBCA8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461"/>
            <a:ext cx="10515600" cy="690227"/>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Software Project Manager</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project manager closely monitors the development process, prepares and executes various plans, arranges necessary and adequate resources, maintains communication among all team members in order to address issues of cost, budget, resources, time, quality and customer satisfaction.</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7EEBDBAE-6215-489D-4B81-21FA24360E3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a:bodyPr>
          <a:lstStyle/>
          <a:p>
            <a:pPr algn="ctr"/>
            <a:r>
              <a:rPr lang="en-US" sz="3600" dirty="0">
                <a:latin typeface="Times New Roman" panose="02020603050405020304" pitchFamily="18" charset="0"/>
                <a:cs typeface="Times New Roman" panose="02020603050405020304" pitchFamily="18" charset="0"/>
              </a:rPr>
              <a:t>Responsibility of Software Project Manager</a:t>
            </a:r>
          </a:p>
        </p:txBody>
      </p:sp>
      <p:sp>
        <p:nvSpPr>
          <p:cNvPr id="3" name="Content Placeholder 2"/>
          <p:cNvSpPr>
            <a:spLocks noGrp="1"/>
          </p:cNvSpPr>
          <p:nvPr>
            <p:ph idx="1"/>
          </p:nvPr>
        </p:nvSpPr>
        <p:spPr/>
        <p:txBody>
          <a:bodyPr>
            <a:normAutofit/>
          </a:bodyPr>
          <a:lstStyle/>
          <a:p>
            <a:pPr>
              <a:buNone/>
            </a:pPr>
            <a:r>
              <a:rPr lang="en-US" dirty="0">
                <a:latin typeface="Times New Roman" panose="02020603050405020304" pitchFamily="18" charset="0"/>
                <a:cs typeface="Times New Roman" panose="02020603050405020304" pitchFamily="18" charset="0"/>
              </a:rPr>
              <a:t>Managing People :</a:t>
            </a:r>
          </a:p>
          <a:p>
            <a:r>
              <a:rPr lang="en-US" dirty="0">
                <a:latin typeface="Times New Roman" panose="02020603050405020304" pitchFamily="18" charset="0"/>
                <a:cs typeface="Times New Roman" panose="02020603050405020304" pitchFamily="18" charset="0"/>
              </a:rPr>
              <a:t>Act as project leader</a:t>
            </a:r>
          </a:p>
          <a:p>
            <a:r>
              <a:rPr lang="en-US" dirty="0">
                <a:latin typeface="Times New Roman" panose="02020603050405020304" pitchFamily="18" charset="0"/>
                <a:cs typeface="Times New Roman" panose="02020603050405020304" pitchFamily="18" charset="0"/>
              </a:rPr>
              <a:t>Liaison with stakeholders</a:t>
            </a:r>
          </a:p>
          <a:p>
            <a:r>
              <a:rPr lang="en-US" dirty="0">
                <a:latin typeface="Times New Roman" panose="02020603050405020304" pitchFamily="18" charset="0"/>
                <a:cs typeface="Times New Roman" panose="02020603050405020304" pitchFamily="18" charset="0"/>
              </a:rPr>
              <a:t>Managing human resources</a:t>
            </a:r>
          </a:p>
          <a:p>
            <a:r>
              <a:rPr lang="en-US" dirty="0">
                <a:latin typeface="Times New Roman" panose="02020603050405020304" pitchFamily="18" charset="0"/>
                <a:cs typeface="Times New Roman" panose="02020603050405020304" pitchFamily="18" charset="0"/>
              </a:rPr>
              <a:t>Setting up reporting hierarchy etc.</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0CD98A8F-A1EF-1E30-0D31-AD2BAC3919D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73"/>
            <a:ext cx="10515600" cy="744015"/>
          </a:xfrm>
        </p:spPr>
        <p:txBody>
          <a:bodyPr>
            <a:normAutofit/>
          </a:bodyPr>
          <a:lstStyle/>
          <a:p>
            <a:pPr algn="ctr"/>
            <a:r>
              <a:rPr lang="en-US" sz="3600" dirty="0">
                <a:latin typeface="Times New Roman" panose="02020603050405020304" pitchFamily="18" charset="0"/>
                <a:cs typeface="Times New Roman" panose="02020603050405020304" pitchFamily="18" charset="0"/>
              </a:rPr>
              <a:t>Responsibility of Software Project Manager</a:t>
            </a:r>
          </a:p>
        </p:txBody>
      </p:sp>
      <p:sp>
        <p:nvSpPr>
          <p:cNvPr id="3" name="Content Placeholder 2"/>
          <p:cNvSpPr>
            <a:spLocks noGrp="1"/>
          </p:cNvSpPr>
          <p:nvPr>
            <p:ph idx="1"/>
          </p:nvPr>
        </p:nvSpPr>
        <p:spPr/>
        <p:txBody>
          <a:bodyPr/>
          <a:lstStyle/>
          <a:p>
            <a:pPr>
              <a:buNone/>
            </a:pPr>
            <a:r>
              <a:rPr lang="en-US" dirty="0">
                <a:latin typeface="Times New Roman" panose="02020603050405020304" pitchFamily="18" charset="0"/>
                <a:cs typeface="Times New Roman" panose="02020603050405020304" pitchFamily="18" charset="0"/>
              </a:rPr>
              <a:t>Managing Project</a:t>
            </a:r>
          </a:p>
          <a:p>
            <a:r>
              <a:rPr lang="en-US" dirty="0">
                <a:latin typeface="Times New Roman" panose="02020603050405020304" pitchFamily="18" charset="0"/>
                <a:cs typeface="Times New Roman" panose="02020603050405020304" pitchFamily="18" charset="0"/>
              </a:rPr>
              <a:t>Defining and setting up project scope</a:t>
            </a:r>
          </a:p>
          <a:p>
            <a:r>
              <a:rPr lang="en-US" dirty="0">
                <a:latin typeface="Times New Roman" panose="02020603050405020304" pitchFamily="18" charset="0"/>
                <a:cs typeface="Times New Roman" panose="02020603050405020304" pitchFamily="18" charset="0"/>
              </a:rPr>
              <a:t>Managing project management activities</a:t>
            </a:r>
          </a:p>
          <a:p>
            <a:r>
              <a:rPr lang="en-US" dirty="0">
                <a:latin typeface="Times New Roman" panose="02020603050405020304" pitchFamily="18" charset="0"/>
                <a:cs typeface="Times New Roman" panose="02020603050405020304" pitchFamily="18" charset="0"/>
              </a:rPr>
              <a:t>Monitoring progress and performance</a:t>
            </a:r>
          </a:p>
          <a:p>
            <a:r>
              <a:rPr lang="en-US" dirty="0">
                <a:latin typeface="Times New Roman" panose="02020603050405020304" pitchFamily="18" charset="0"/>
                <a:cs typeface="Times New Roman" panose="02020603050405020304" pitchFamily="18" charset="0"/>
              </a:rPr>
              <a:t>Risk analysis at every phase</a:t>
            </a:r>
          </a:p>
          <a:p>
            <a:r>
              <a:rPr lang="en-US" dirty="0">
                <a:latin typeface="Times New Roman" panose="02020603050405020304" pitchFamily="18" charset="0"/>
                <a:cs typeface="Times New Roman" panose="02020603050405020304" pitchFamily="18" charset="0"/>
              </a:rPr>
              <a:t>Take necessary step to avoid or come out of problems</a:t>
            </a:r>
          </a:p>
          <a:p>
            <a:r>
              <a:rPr lang="en-US" dirty="0">
                <a:latin typeface="Times New Roman" panose="02020603050405020304" pitchFamily="18" charset="0"/>
                <a:cs typeface="Times New Roman" panose="02020603050405020304" pitchFamily="18" charset="0"/>
              </a:rPr>
              <a:t>Act as project spokesperson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44C4B6F3-A06C-82F9-E387-3979DA9C25F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9704"/>
            <a:ext cx="10515600" cy="700984"/>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Software Management Activities</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Software project management comprises of a number of activities, which contains planning of project, deciding scope of software product, estimation of cost in various terms, scheduling of tasks and events, and resource management. Project management activities may include:</a:t>
            </a:r>
          </a:p>
          <a:p>
            <a:pPr algn="just"/>
            <a:r>
              <a:rPr lang="en-US" b="1" dirty="0">
                <a:latin typeface="Times New Roman" panose="02020603050405020304" pitchFamily="18" charset="0"/>
                <a:cs typeface="Times New Roman" panose="02020603050405020304" pitchFamily="18" charset="0"/>
              </a:rPr>
              <a:t>Project Planning</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Scope Management</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Project Estimation</a:t>
            </a:r>
            <a:endParaRPr lang="en-US" dirty="0">
              <a:latin typeface="Times New Roman" panose="02020603050405020304" pitchFamily="18" charset="0"/>
              <a:cs typeface="Times New Roman" panose="02020603050405020304" pitchFamily="18" charset="0"/>
            </a:endParaRP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9B8FA53B-8DFF-8C73-91EC-B7CA2D90775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Project Planning</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Software project planning is task, which is performed before the production of software actually starts. </a:t>
            </a:r>
          </a:p>
          <a:p>
            <a:pPr algn="just"/>
            <a:r>
              <a:rPr lang="en-US" dirty="0">
                <a:latin typeface="Times New Roman" panose="02020603050405020304" pitchFamily="18" charset="0"/>
                <a:cs typeface="Times New Roman" panose="02020603050405020304" pitchFamily="18" charset="0"/>
              </a:rPr>
              <a:t>It is there for the software production but involves no concrete activity that has any direction connection with software production; rather it is a set of multiple processes, which facilitates software production.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10889452-ABC2-74B2-99A6-C911F957077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11219"/>
            <a:ext cx="10515600" cy="5165744"/>
          </a:xfrm>
        </p:spPr>
        <p:txBody>
          <a:bodyPr/>
          <a:lstStyle/>
          <a:p>
            <a:r>
              <a:rPr lang="en-US" dirty="0">
                <a:latin typeface="Times New Roman" panose="02020603050405020304" pitchFamily="18" charset="0"/>
                <a:cs typeface="Times New Roman" panose="02020603050405020304" pitchFamily="18" charset="0"/>
              </a:rPr>
              <a:t>Software Project planning starts before technical work start. The various steps of planning activities are: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pic>
        <p:nvPicPr>
          <p:cNvPr id="77826" name="Picture 2" descr="Software Project Planning"/>
          <p:cNvPicPr>
            <a:picLocks noChangeAspect="1" noChangeArrowheads="1"/>
          </p:cNvPicPr>
          <p:nvPr/>
        </p:nvPicPr>
        <p:blipFill>
          <a:blip r:embed="rId2"/>
          <a:srcRect/>
          <a:stretch>
            <a:fillRect/>
          </a:stretch>
        </p:blipFill>
        <p:spPr bwMode="auto">
          <a:xfrm>
            <a:off x="2613025" y="1951037"/>
            <a:ext cx="5556167" cy="4221163"/>
          </a:xfrm>
          <a:prstGeom prst="rect">
            <a:avLst/>
          </a:prstGeom>
          <a:noFill/>
        </p:spPr>
      </p:pic>
      <p:sp>
        <p:nvSpPr>
          <p:cNvPr id="2" name="Footer Placeholder 9">
            <a:extLst>
              <a:ext uri="{FF2B5EF4-FFF2-40B4-BE49-F238E27FC236}">
                <a16:creationId xmlns:a16="http://schemas.microsoft.com/office/drawing/2014/main" id="{351AD6A8-4260-54A3-4178-9A1828E011B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5158"/>
            <a:ext cx="10515600" cy="765530"/>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Scope Management</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It defines the scope of project; this includes all the activities, process need to be done in order to make a deliverable software product. </a:t>
            </a:r>
          </a:p>
          <a:p>
            <a:pPr algn="just"/>
            <a:r>
              <a:rPr lang="en-US" dirty="0">
                <a:latin typeface="Times New Roman" panose="02020603050405020304" pitchFamily="18" charset="0"/>
                <a:cs typeface="Times New Roman" panose="02020603050405020304" pitchFamily="18" charset="0"/>
              </a:rPr>
              <a:t>Scope management is essential because it creates boundaries of the project by clearly defining what would be done in the project and what would not be done. </a:t>
            </a:r>
          </a:p>
          <a:p>
            <a:pPr algn="just"/>
            <a:r>
              <a:rPr lang="en-US" dirty="0">
                <a:latin typeface="Times New Roman" panose="02020603050405020304" pitchFamily="18" charset="0"/>
                <a:cs typeface="Times New Roman" panose="02020603050405020304" pitchFamily="18" charset="0"/>
              </a:rPr>
              <a:t>This makes project to contain limited and quantifiable tasks, which can easily be documented and in turn avoids cost and time overrun.</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736B3110-D432-E27F-11D7-A28B1B72E7A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57431"/>
            <a:ext cx="10515600" cy="733257"/>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Scope Management</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None/>
            </a:pPr>
            <a:r>
              <a:rPr lang="en-US" dirty="0">
                <a:latin typeface="Times New Roman" panose="02020603050405020304" pitchFamily="18" charset="0"/>
                <a:cs typeface="Times New Roman" panose="02020603050405020304" pitchFamily="18" charset="0"/>
              </a:rPr>
              <a:t>During Project Scope management, it is necessary to -</a:t>
            </a:r>
          </a:p>
          <a:p>
            <a:r>
              <a:rPr lang="en-US" dirty="0">
                <a:latin typeface="Times New Roman" panose="02020603050405020304" pitchFamily="18" charset="0"/>
                <a:cs typeface="Times New Roman" panose="02020603050405020304" pitchFamily="18" charset="0"/>
              </a:rPr>
              <a:t>Define the scope</a:t>
            </a:r>
          </a:p>
          <a:p>
            <a:r>
              <a:rPr lang="en-US" dirty="0">
                <a:latin typeface="Times New Roman" panose="02020603050405020304" pitchFamily="18" charset="0"/>
                <a:cs typeface="Times New Roman" panose="02020603050405020304" pitchFamily="18" charset="0"/>
              </a:rPr>
              <a:t>Decide its verification and control</a:t>
            </a:r>
          </a:p>
          <a:p>
            <a:r>
              <a:rPr lang="en-US" dirty="0">
                <a:latin typeface="Times New Roman" panose="02020603050405020304" pitchFamily="18" charset="0"/>
                <a:cs typeface="Times New Roman" panose="02020603050405020304" pitchFamily="18" charset="0"/>
              </a:rPr>
              <a:t>Divide the project into various smaller parts for ease of management.</a:t>
            </a:r>
          </a:p>
          <a:p>
            <a:r>
              <a:rPr lang="en-US" dirty="0">
                <a:latin typeface="Times New Roman" panose="02020603050405020304" pitchFamily="18" charset="0"/>
                <a:cs typeface="Times New Roman" panose="02020603050405020304" pitchFamily="18" charset="0"/>
              </a:rPr>
              <a:t>Verify the scope</a:t>
            </a:r>
          </a:p>
          <a:p>
            <a:r>
              <a:rPr lang="en-US" dirty="0">
                <a:latin typeface="Times New Roman" panose="02020603050405020304" pitchFamily="18" charset="0"/>
                <a:cs typeface="Times New Roman" panose="02020603050405020304" pitchFamily="18" charset="0"/>
              </a:rPr>
              <a:t>Control the scope by incorporating changes to the scope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25C9CDA8-0FF7-3AD0-BFBE-FAFF297C7A4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78946"/>
            <a:ext cx="10515600" cy="711742"/>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Project Estimation</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For an effective management accurate estimation of various measures is a must. </a:t>
            </a:r>
          </a:p>
          <a:p>
            <a:pPr algn="just"/>
            <a:r>
              <a:rPr lang="en-US" dirty="0">
                <a:latin typeface="Times New Roman" panose="02020603050405020304" pitchFamily="18" charset="0"/>
                <a:cs typeface="Times New Roman" panose="02020603050405020304" pitchFamily="18" charset="0"/>
              </a:rPr>
              <a:t>With correct estimation managers can manage and control the project more efficiently and effectively.</a:t>
            </a:r>
          </a:p>
          <a:p>
            <a:pPr algn="just"/>
            <a:r>
              <a:rPr lang="en-US" dirty="0">
                <a:latin typeface="Times New Roman" panose="02020603050405020304" pitchFamily="18" charset="0"/>
                <a:cs typeface="Times New Roman" panose="02020603050405020304" pitchFamily="18" charset="0"/>
              </a:rPr>
              <a:t>Project estimation may involve the following:</a:t>
            </a:r>
          </a:p>
          <a:p>
            <a:pPr algn="just"/>
            <a:r>
              <a:rPr lang="en-US" b="1" dirty="0">
                <a:latin typeface="Times New Roman" panose="02020603050405020304" pitchFamily="18" charset="0"/>
                <a:cs typeface="Times New Roman" panose="02020603050405020304" pitchFamily="18" charset="0"/>
              </a:rPr>
              <a:t>Software size estimation </a:t>
            </a:r>
            <a:r>
              <a:rPr lang="en-US" dirty="0">
                <a:latin typeface="Times New Roman" panose="02020603050405020304" pitchFamily="18" charset="0"/>
                <a:cs typeface="Times New Roman" panose="02020603050405020304" pitchFamily="18" charset="0"/>
              </a:rPr>
              <a:t>Software size may be estimated either in terms of KLOC (Kilo Line of Code) or by calculating number of function points in the software. Lines of code depend upon coding practices and Function points vary according to the user or software requirement.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Footer Placeholder 9">
            <a:extLst>
              <a:ext uri="{FF2B5EF4-FFF2-40B4-BE49-F238E27FC236}">
                <a16:creationId xmlns:a16="http://schemas.microsoft.com/office/drawing/2014/main" id="{3BB4AE9C-11E0-2BE9-F0CB-DFFBFB47FF0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Project Estimation</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Effort estimation : </a:t>
            </a:r>
            <a:r>
              <a:rPr lang="en-US" dirty="0">
                <a:latin typeface="Times New Roman" panose="02020603050405020304" pitchFamily="18" charset="0"/>
                <a:cs typeface="Times New Roman" panose="02020603050405020304" pitchFamily="18" charset="0"/>
              </a:rPr>
              <a:t>The managers estimate efforts in terms of personnel requirement and man-hour required to produce the software. </a:t>
            </a:r>
          </a:p>
          <a:p>
            <a:pPr algn="just"/>
            <a:r>
              <a:rPr lang="en-US" dirty="0">
                <a:latin typeface="Times New Roman" panose="02020603050405020304" pitchFamily="18" charset="0"/>
                <a:cs typeface="Times New Roman" panose="02020603050405020304" pitchFamily="18" charset="0"/>
              </a:rPr>
              <a:t>For effort estimation software size should be known. </a:t>
            </a:r>
          </a:p>
          <a:p>
            <a:pPr algn="just"/>
            <a:r>
              <a:rPr lang="en-US" dirty="0">
                <a:latin typeface="Times New Roman" panose="02020603050405020304" pitchFamily="18" charset="0"/>
                <a:cs typeface="Times New Roman" panose="02020603050405020304" pitchFamily="18" charset="0"/>
              </a:rPr>
              <a:t>This can either be derived by managers’ experience, organization’s historical data or software size can be converted into efforts by using some standard formulae.</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5E6106AA-58D7-4A29-2D46-22F8D26D2D2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Project Estimation</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Time estimation  </a:t>
            </a:r>
            <a:r>
              <a:rPr lang="en-US" dirty="0">
                <a:latin typeface="Times New Roman" panose="02020603050405020304" pitchFamily="18" charset="0"/>
                <a:cs typeface="Times New Roman" panose="02020603050405020304" pitchFamily="18" charset="0"/>
              </a:rPr>
              <a:t>Once size and efforts are estimated, the time required to produce the software can be estimated.</a:t>
            </a:r>
          </a:p>
          <a:p>
            <a:pPr algn="just"/>
            <a:r>
              <a:rPr lang="en-US" dirty="0">
                <a:latin typeface="Times New Roman" panose="02020603050405020304" pitchFamily="18" charset="0"/>
                <a:cs typeface="Times New Roman" panose="02020603050405020304" pitchFamily="18" charset="0"/>
              </a:rPr>
              <a:t> Efforts required is segregated into sub categories as per the requirement specifications and interdependency of various components of software.</a:t>
            </a:r>
          </a:p>
          <a:p>
            <a:pPr algn="just"/>
            <a:r>
              <a:rPr lang="en-US" dirty="0">
                <a:latin typeface="Times New Roman" panose="02020603050405020304" pitchFamily="18" charset="0"/>
                <a:cs typeface="Times New Roman" panose="02020603050405020304" pitchFamily="18" charset="0"/>
              </a:rPr>
              <a:t> Software tasks are divided into smaller tasks, activities or events by Work Breakthrough Structure (WBS).</a:t>
            </a:r>
          </a:p>
          <a:p>
            <a:pPr algn="just"/>
            <a:r>
              <a:rPr lang="en-US" dirty="0">
                <a:latin typeface="Times New Roman" panose="02020603050405020304" pitchFamily="18" charset="0"/>
                <a:cs typeface="Times New Roman" panose="02020603050405020304" pitchFamily="18" charset="0"/>
              </a:rPr>
              <a:t> The tasks are scheduled on day-to-day basis or in calendar months.</a:t>
            </a:r>
          </a:p>
          <a:p>
            <a:pPr algn="just"/>
            <a:r>
              <a:rPr lang="en-US" dirty="0">
                <a:latin typeface="Times New Roman" panose="02020603050405020304" pitchFamily="18" charset="0"/>
                <a:cs typeface="Times New Roman" panose="02020603050405020304" pitchFamily="18" charset="0"/>
              </a:rPr>
              <a:t>The sum of time required to complete all tasks in hours or days is the total time invested to complete the project.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Footer Placeholder 9">
            <a:extLst>
              <a:ext uri="{FF2B5EF4-FFF2-40B4-BE49-F238E27FC236}">
                <a16:creationId xmlns:a16="http://schemas.microsoft.com/office/drawing/2014/main" id="{F6FE4208-8EBE-DA63-80DE-5DE0CFB9AEE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0461"/>
            <a:ext cx="10515600" cy="690227"/>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Project Estimation</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Cost estimation </a:t>
            </a:r>
            <a:r>
              <a:rPr lang="en-US" dirty="0">
                <a:latin typeface="Times New Roman" panose="02020603050405020304" pitchFamily="18" charset="0"/>
                <a:cs typeface="Times New Roman" panose="02020603050405020304" pitchFamily="18" charset="0"/>
              </a:rPr>
              <a:t>This might be considered as the most difficult of all because it depends on more elements than any of the previous ones. For estimating project cost, it is required to consider -</a:t>
            </a:r>
          </a:p>
          <a:p>
            <a:pPr lvl="1"/>
            <a:r>
              <a:rPr lang="en-US" sz="2800" dirty="0">
                <a:latin typeface="Times New Roman" panose="02020603050405020304" pitchFamily="18" charset="0"/>
                <a:cs typeface="Times New Roman" panose="02020603050405020304" pitchFamily="18" charset="0"/>
              </a:rPr>
              <a:t>Size of software</a:t>
            </a:r>
          </a:p>
          <a:p>
            <a:pPr lvl="1"/>
            <a:r>
              <a:rPr lang="en-US" sz="2800" dirty="0">
                <a:latin typeface="Times New Roman" panose="02020603050405020304" pitchFamily="18" charset="0"/>
                <a:cs typeface="Times New Roman" panose="02020603050405020304" pitchFamily="18" charset="0"/>
              </a:rPr>
              <a:t>Software quality</a:t>
            </a:r>
          </a:p>
          <a:p>
            <a:pPr lvl="1"/>
            <a:r>
              <a:rPr lang="en-US" sz="2800" dirty="0">
                <a:latin typeface="Times New Roman" panose="02020603050405020304" pitchFamily="18" charset="0"/>
                <a:cs typeface="Times New Roman" panose="02020603050405020304" pitchFamily="18" charset="0"/>
              </a:rPr>
              <a:t>Hardware</a:t>
            </a:r>
          </a:p>
          <a:p>
            <a:pPr lvl="1"/>
            <a:r>
              <a:rPr lang="en-US" sz="2800" dirty="0">
                <a:latin typeface="Times New Roman" panose="02020603050405020304" pitchFamily="18" charset="0"/>
                <a:cs typeface="Times New Roman" panose="02020603050405020304" pitchFamily="18" charset="0"/>
              </a:rPr>
              <a:t>Additional software or tools, licenses etc.</a:t>
            </a:r>
          </a:p>
          <a:p>
            <a:pPr lvl="1"/>
            <a:r>
              <a:rPr lang="en-US" sz="2800" dirty="0">
                <a:latin typeface="Times New Roman" panose="02020603050405020304" pitchFamily="18" charset="0"/>
                <a:cs typeface="Times New Roman" panose="02020603050405020304" pitchFamily="18" charset="0"/>
              </a:rPr>
              <a:t>Skilled personnel with task-specific skills</a:t>
            </a:r>
          </a:p>
          <a:p>
            <a:pPr lvl="1"/>
            <a:r>
              <a:rPr lang="en-US" sz="2800" dirty="0">
                <a:latin typeface="Times New Roman" panose="02020603050405020304" pitchFamily="18" charset="0"/>
                <a:cs typeface="Times New Roman" panose="02020603050405020304" pitchFamily="18" charset="0"/>
              </a:rPr>
              <a:t>Travel involved</a:t>
            </a:r>
          </a:p>
          <a:p>
            <a:pPr lvl="1"/>
            <a:r>
              <a:rPr lang="en-US" sz="2800" dirty="0">
                <a:latin typeface="Times New Roman" panose="02020603050405020304" pitchFamily="18" charset="0"/>
                <a:cs typeface="Times New Roman" panose="02020603050405020304" pitchFamily="18" charset="0"/>
              </a:rPr>
              <a:t>Communication</a:t>
            </a:r>
          </a:p>
          <a:p>
            <a:pPr lvl="1"/>
            <a:r>
              <a:rPr lang="en-US" sz="2800" dirty="0">
                <a:latin typeface="Times New Roman" panose="02020603050405020304" pitchFamily="18" charset="0"/>
                <a:cs typeface="Times New Roman" panose="02020603050405020304" pitchFamily="18" charset="0"/>
              </a:rPr>
              <a:t>Training and support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Footer Placeholder 9">
            <a:extLst>
              <a:ext uri="{FF2B5EF4-FFF2-40B4-BE49-F238E27FC236}">
                <a16:creationId xmlns:a16="http://schemas.microsoft.com/office/drawing/2014/main" id="{5E8051DD-9007-100D-57C0-1300FCCAF6A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2734"/>
            <a:ext cx="10515600" cy="657954"/>
          </a:xfrm>
        </p:spPr>
        <p:txBody>
          <a:bodyPr>
            <a:normAutofit fontScale="90000"/>
          </a:bodyPr>
          <a:lstStyle/>
          <a:p>
            <a:pPr algn="ct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Project Estimation Techniques</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Project manager can estimate the listed factors using two broadly recognized techniques –</a:t>
            </a:r>
          </a:p>
          <a:p>
            <a:r>
              <a:rPr lang="en-US" dirty="0">
                <a:latin typeface="Times New Roman" panose="02020603050405020304" pitchFamily="18" charset="0"/>
                <a:cs typeface="Times New Roman" panose="02020603050405020304" pitchFamily="18" charset="0"/>
              </a:rPr>
              <a:t>Decomposition Technique</a:t>
            </a:r>
          </a:p>
          <a:p>
            <a:r>
              <a:rPr lang="en-US" dirty="0">
                <a:latin typeface="Times New Roman" panose="02020603050405020304" pitchFamily="18" charset="0"/>
                <a:cs typeface="Times New Roman" panose="02020603050405020304" pitchFamily="18" charset="0"/>
              </a:rPr>
              <a:t>This technique assumes the software as a product of various compositions.</a:t>
            </a:r>
          </a:p>
          <a:p>
            <a:r>
              <a:rPr lang="en-US" dirty="0">
                <a:latin typeface="Times New Roman" panose="02020603050405020304" pitchFamily="18" charset="0"/>
                <a:cs typeface="Times New Roman" panose="02020603050405020304" pitchFamily="18" charset="0"/>
              </a:rPr>
              <a:t>There are two main models -</a:t>
            </a:r>
          </a:p>
          <a:p>
            <a:r>
              <a:rPr lang="en-US" b="1" dirty="0">
                <a:latin typeface="Times New Roman" panose="02020603050405020304" pitchFamily="18" charset="0"/>
                <a:cs typeface="Times New Roman" panose="02020603050405020304" pitchFamily="18" charset="0"/>
              </a:rPr>
              <a:t>Line of Code</a:t>
            </a:r>
            <a:r>
              <a:rPr lang="en-US" dirty="0">
                <a:latin typeface="Times New Roman" panose="02020603050405020304" pitchFamily="18" charset="0"/>
                <a:cs typeface="Times New Roman" panose="02020603050405020304" pitchFamily="18" charset="0"/>
              </a:rPr>
              <a:t> Estimation is done on behalf of number of line of codes in the software product.</a:t>
            </a:r>
          </a:p>
          <a:p>
            <a:r>
              <a:rPr lang="en-US" b="1" dirty="0">
                <a:latin typeface="Times New Roman" panose="02020603050405020304" pitchFamily="18" charset="0"/>
                <a:cs typeface="Times New Roman" panose="02020603050405020304" pitchFamily="18" charset="0"/>
              </a:rPr>
              <a:t>Function Points</a:t>
            </a:r>
            <a:r>
              <a:rPr lang="en-US" dirty="0">
                <a:latin typeface="Times New Roman" panose="02020603050405020304" pitchFamily="18" charset="0"/>
                <a:cs typeface="Times New Roman" panose="02020603050405020304" pitchFamily="18" charset="0"/>
              </a:rPr>
              <a:t> Estimation is done on behalf of number of function points in the software product.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Footer Placeholder 9">
            <a:extLst>
              <a:ext uri="{FF2B5EF4-FFF2-40B4-BE49-F238E27FC236}">
                <a16:creationId xmlns:a16="http://schemas.microsoft.com/office/drawing/2014/main" id="{20468C91-398D-37BD-AEA4-8EA7DF2F6B4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9704"/>
            <a:ext cx="10515600" cy="700984"/>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Project Estimation Techniques</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Estimation</a:t>
            </a:r>
            <a:r>
              <a:rPr lang="en-US" dirty="0">
                <a:latin typeface="Times New Roman" panose="02020603050405020304" pitchFamily="18" charset="0"/>
                <a:cs typeface="Times New Roman" panose="02020603050405020304" pitchFamily="18" charset="0"/>
              </a:rPr>
              <a:t> is the process of finding an estimate, or approximation, which is a value that can be used for some purpose even if input data may be incomplete, uncertain, or unstable.</a:t>
            </a:r>
          </a:p>
          <a:p>
            <a:pPr algn="just"/>
            <a:r>
              <a:rPr lang="en-US" dirty="0">
                <a:latin typeface="Times New Roman" panose="02020603050405020304" pitchFamily="18" charset="0"/>
                <a:cs typeface="Times New Roman" panose="02020603050405020304" pitchFamily="18" charset="0"/>
              </a:rPr>
              <a:t>Estimation determines how much money, effort, resources, and time it will take to build a specific system or product. Estimation is based on −</a:t>
            </a:r>
          </a:p>
          <a:p>
            <a:pPr algn="just"/>
            <a:r>
              <a:rPr lang="en-US" dirty="0">
                <a:latin typeface="Times New Roman" panose="02020603050405020304" pitchFamily="18" charset="0"/>
                <a:cs typeface="Times New Roman" panose="02020603050405020304" pitchFamily="18" charset="0"/>
              </a:rPr>
              <a:t>Past Data/Past Experience</a:t>
            </a:r>
          </a:p>
          <a:p>
            <a:pPr algn="just"/>
            <a:r>
              <a:rPr lang="en-US" dirty="0">
                <a:latin typeface="Times New Roman" panose="02020603050405020304" pitchFamily="18" charset="0"/>
                <a:cs typeface="Times New Roman" panose="02020603050405020304" pitchFamily="18" charset="0"/>
              </a:rPr>
              <a:t>Available Documents/Knowledge</a:t>
            </a:r>
          </a:p>
          <a:p>
            <a:pPr algn="just"/>
            <a:r>
              <a:rPr lang="en-US" dirty="0">
                <a:latin typeface="Times New Roman" panose="02020603050405020304" pitchFamily="18" charset="0"/>
                <a:cs typeface="Times New Roman" panose="02020603050405020304" pitchFamily="18" charset="0"/>
              </a:rPr>
              <a:t>Assumptions</a:t>
            </a:r>
          </a:p>
          <a:p>
            <a:pPr algn="just"/>
            <a:r>
              <a:rPr lang="en-US" dirty="0">
                <a:latin typeface="Times New Roman" panose="02020603050405020304" pitchFamily="18" charset="0"/>
                <a:cs typeface="Times New Roman" panose="02020603050405020304" pitchFamily="18" charset="0"/>
              </a:rPr>
              <a:t>Identified Risks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Footer Placeholder 9">
            <a:extLst>
              <a:ext uri="{FF2B5EF4-FFF2-40B4-BE49-F238E27FC236}">
                <a16:creationId xmlns:a16="http://schemas.microsoft.com/office/drawing/2014/main" id="{9C37E6B7-B4A3-F953-A5BA-BBDCE950916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46673"/>
            <a:ext cx="10515600" cy="744015"/>
          </a:xfrm>
        </p:spPr>
        <p:txBody>
          <a:bodyPr>
            <a:normAutofit fontScale="90000"/>
          </a:bodyPr>
          <a:lstStyle/>
          <a:p>
            <a:pPr algn="ct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Project Estimation Techniques</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four basic steps in Software Project Estimation are −</a:t>
            </a:r>
          </a:p>
          <a:p>
            <a:r>
              <a:rPr lang="en-US" dirty="0">
                <a:latin typeface="Times New Roman" panose="02020603050405020304" pitchFamily="18" charset="0"/>
                <a:cs typeface="Times New Roman" panose="02020603050405020304" pitchFamily="18" charset="0"/>
              </a:rPr>
              <a:t>Estimate the size of the development product.</a:t>
            </a:r>
          </a:p>
          <a:p>
            <a:r>
              <a:rPr lang="en-US" dirty="0">
                <a:latin typeface="Times New Roman" panose="02020603050405020304" pitchFamily="18" charset="0"/>
                <a:cs typeface="Times New Roman" panose="02020603050405020304" pitchFamily="18" charset="0"/>
              </a:rPr>
              <a:t>Estimate the effort in person-months or person-hours.</a:t>
            </a:r>
          </a:p>
          <a:p>
            <a:r>
              <a:rPr lang="en-US" dirty="0">
                <a:latin typeface="Times New Roman" panose="02020603050405020304" pitchFamily="18" charset="0"/>
                <a:cs typeface="Times New Roman" panose="02020603050405020304" pitchFamily="18" charset="0"/>
              </a:rPr>
              <a:t>Estimate the schedule in calendar months.</a:t>
            </a:r>
          </a:p>
          <a:p>
            <a:r>
              <a:rPr lang="en-US" dirty="0">
                <a:latin typeface="Times New Roman" panose="02020603050405020304" pitchFamily="18" charset="0"/>
                <a:cs typeface="Times New Roman" panose="02020603050405020304" pitchFamily="18" charset="0"/>
              </a:rPr>
              <a:t>Estimate the project cost in agreed currency.</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Footer Placeholder 9">
            <a:extLst>
              <a:ext uri="{FF2B5EF4-FFF2-40B4-BE49-F238E27FC236}">
                <a16:creationId xmlns:a16="http://schemas.microsoft.com/office/drawing/2014/main" id="{2A047FC9-4CA2-BFEC-581C-F640C4A0F28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Project Estimation Techniques</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Empirical Estimation Technique</a:t>
            </a:r>
          </a:p>
          <a:p>
            <a:pPr algn="just"/>
            <a:r>
              <a:rPr lang="en-US" dirty="0">
                <a:latin typeface="Times New Roman" panose="02020603050405020304" pitchFamily="18" charset="0"/>
                <a:cs typeface="Times New Roman" panose="02020603050405020304" pitchFamily="18" charset="0"/>
              </a:rPr>
              <a:t>This technique uses empirically derived formulae to make estimation. These formulae are based on LOC or FPs.</a:t>
            </a:r>
          </a:p>
          <a:p>
            <a:pPr algn="just"/>
            <a:r>
              <a:rPr lang="en-US" b="1" dirty="0">
                <a:latin typeface="Times New Roman" panose="02020603050405020304" pitchFamily="18" charset="0"/>
                <a:cs typeface="Times New Roman" panose="02020603050405020304" pitchFamily="18" charset="0"/>
              </a:rPr>
              <a:t>Putnam Model </a:t>
            </a:r>
            <a:r>
              <a:rPr lang="en-US" dirty="0">
                <a:latin typeface="Times New Roman" panose="02020603050405020304" pitchFamily="18" charset="0"/>
                <a:cs typeface="Times New Roman" panose="02020603050405020304" pitchFamily="18" charset="0"/>
              </a:rPr>
              <a:t>This model is made by Lawrence H. Putnam, which is based on </a:t>
            </a:r>
            <a:r>
              <a:rPr lang="en-US" dirty="0" err="1">
                <a:latin typeface="Times New Roman" panose="02020603050405020304" pitchFamily="18" charset="0"/>
                <a:cs typeface="Times New Roman" panose="02020603050405020304" pitchFamily="18" charset="0"/>
              </a:rPr>
              <a:t>Norden’s</a:t>
            </a:r>
            <a:r>
              <a:rPr lang="en-US" dirty="0">
                <a:latin typeface="Times New Roman" panose="02020603050405020304" pitchFamily="18" charset="0"/>
                <a:cs typeface="Times New Roman" panose="02020603050405020304" pitchFamily="18" charset="0"/>
              </a:rPr>
              <a:t> frequency distribution (Rayleigh curve). Putnam model maps time and efforts required with software size.</a:t>
            </a:r>
          </a:p>
          <a:p>
            <a:pPr algn="just"/>
            <a:r>
              <a:rPr lang="en-US" b="1" dirty="0">
                <a:latin typeface="Times New Roman" panose="02020603050405020304" pitchFamily="18" charset="0"/>
                <a:cs typeface="Times New Roman" panose="02020603050405020304" pitchFamily="18" charset="0"/>
              </a:rPr>
              <a:t>COCOMO </a:t>
            </a:r>
            <a:r>
              <a:rPr lang="en-US" dirty="0" err="1">
                <a:latin typeface="Times New Roman" panose="02020603050405020304" pitchFamily="18" charset="0"/>
                <a:cs typeface="Times New Roman" panose="02020603050405020304" pitchFamily="18" charset="0"/>
              </a:rPr>
              <a:t>COCOMO</a:t>
            </a:r>
            <a:r>
              <a:rPr lang="en-US" dirty="0">
                <a:latin typeface="Times New Roman" panose="02020603050405020304" pitchFamily="18" charset="0"/>
                <a:cs typeface="Times New Roman" panose="02020603050405020304" pitchFamily="18" charset="0"/>
              </a:rPr>
              <a:t> stands for </a:t>
            </a:r>
            <a:r>
              <a:rPr lang="en-US" dirty="0" err="1">
                <a:latin typeface="Times New Roman" panose="02020603050405020304" pitchFamily="18" charset="0"/>
                <a:cs typeface="Times New Roman" panose="02020603050405020304" pitchFamily="18" charset="0"/>
              </a:rPr>
              <a:t>COnstructive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MOdel</a:t>
            </a:r>
            <a:r>
              <a:rPr lang="en-US" dirty="0">
                <a:latin typeface="Times New Roman" panose="02020603050405020304" pitchFamily="18" charset="0"/>
                <a:cs typeface="Times New Roman" panose="02020603050405020304" pitchFamily="18" charset="0"/>
              </a:rPr>
              <a:t>, developed by Barry W. Boehm. It divides the software product into three categories of software: organic, semi-detached and embedded.</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Footer Placeholder 9">
            <a:extLst>
              <a:ext uri="{FF2B5EF4-FFF2-40B4-BE49-F238E27FC236}">
                <a16:creationId xmlns:a16="http://schemas.microsoft.com/office/drawing/2014/main" id="{AEC977B5-EDDD-43B8-07CC-B38CF61DDA4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1037"/>
            <a:ext cx="10515600" cy="1009651"/>
          </a:xfrm>
        </p:spPr>
        <p:txBody>
          <a:bodyPr>
            <a:normAutofit fontScale="90000"/>
          </a:bodyPr>
          <a:lstStyle/>
          <a:p>
            <a:pPr algn="ctr"/>
            <a:br>
              <a:rPr lang="en-US" dirty="0"/>
            </a:br>
            <a:r>
              <a:rPr lang="en-US" sz="4000" dirty="0">
                <a:latin typeface="Times New Roman" panose="02020603050405020304" pitchFamily="18" charset="0"/>
                <a:cs typeface="Times New Roman" panose="02020603050405020304" pitchFamily="18" charset="0"/>
              </a:rPr>
              <a:t>Estimation Accuracy</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Important factors that affect the accuracy of estimates are −</a:t>
            </a:r>
          </a:p>
          <a:p>
            <a:pPr algn="just"/>
            <a:r>
              <a:rPr lang="en-US" dirty="0">
                <a:latin typeface="Times New Roman" panose="02020603050405020304" pitchFamily="18" charset="0"/>
                <a:cs typeface="Times New Roman" panose="02020603050405020304" pitchFamily="18" charset="0"/>
              </a:rPr>
              <a:t>The accuracy of all the estimate’s input data.</a:t>
            </a:r>
          </a:p>
          <a:p>
            <a:pPr algn="just"/>
            <a:r>
              <a:rPr lang="en-US" dirty="0">
                <a:latin typeface="Times New Roman" panose="02020603050405020304" pitchFamily="18" charset="0"/>
                <a:cs typeface="Times New Roman" panose="02020603050405020304" pitchFamily="18" charset="0"/>
              </a:rPr>
              <a:t>The accuracy of any estimate calculation.</a:t>
            </a:r>
          </a:p>
          <a:p>
            <a:pPr algn="just"/>
            <a:r>
              <a:rPr lang="en-US" dirty="0">
                <a:latin typeface="Times New Roman" panose="02020603050405020304" pitchFamily="18" charset="0"/>
                <a:cs typeface="Times New Roman" panose="02020603050405020304" pitchFamily="18" charset="0"/>
              </a:rPr>
              <a:t>How closely the historical data or industry data used to calibrate the model matches the project you are estimating.</a:t>
            </a:r>
          </a:p>
          <a:p>
            <a:pPr algn="just"/>
            <a:r>
              <a:rPr lang="en-US" dirty="0">
                <a:latin typeface="Times New Roman" panose="02020603050405020304" pitchFamily="18" charset="0"/>
                <a:cs typeface="Times New Roman" panose="02020603050405020304" pitchFamily="18" charset="0"/>
              </a:rPr>
              <a:t>The predictability of your organization’s software development process.</a:t>
            </a:r>
          </a:p>
          <a:p>
            <a:pPr algn="just"/>
            <a:r>
              <a:rPr lang="en-US" dirty="0">
                <a:latin typeface="Times New Roman" panose="02020603050405020304" pitchFamily="18" charset="0"/>
                <a:cs typeface="Times New Roman" panose="02020603050405020304" pitchFamily="18" charset="0"/>
              </a:rPr>
              <a:t>The stability of both the product requirements and the environment that supports the software engineering effort.</a:t>
            </a:r>
          </a:p>
          <a:p>
            <a:pPr algn="just"/>
            <a:r>
              <a:rPr lang="en-US" dirty="0">
                <a:latin typeface="Times New Roman" panose="02020603050405020304" pitchFamily="18" charset="0"/>
                <a:cs typeface="Times New Roman" panose="02020603050405020304" pitchFamily="18" charset="0"/>
              </a:rPr>
              <a:t>Whether or not the actual project was carefully planned, monitored and controlled, and no major surprises occurred that caused unexpected delays.</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5" name="Footer Placeholder 9">
            <a:extLst>
              <a:ext uri="{FF2B5EF4-FFF2-40B4-BE49-F238E27FC236}">
                <a16:creationId xmlns:a16="http://schemas.microsoft.com/office/drawing/2014/main" id="{40E4FB40-4569-B890-D51D-A18E8E70270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chemeClr val="tx1"/>
                </a:solidFill>
                <a:latin typeface="Times New Roman" panose="02020603050405020304" pitchFamily="18" charset="0"/>
                <a:cs typeface="Times New Roman" panose="02020603050405020304" pitchFamily="18" charset="0"/>
              </a:rPr>
              <a:t>PROJECT ESTIMATION TECHNIQUES</a:t>
            </a:r>
            <a:endParaRPr lang="en-US" sz="3600" dirty="0">
              <a:latin typeface="Times New Roman" panose="02020603050405020304" pitchFamily="18" charset="0"/>
              <a:cs typeface="Times New Roman" panose="02020603050405020304"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888"/>
              </a:spcBef>
            </a:pPr>
            <a:endParaRPr lang="en-US" sz="2400" dirty="0"/>
          </a:p>
          <a:p>
            <a:pPr marL="342900" indent="-342900" algn="just">
              <a:spcBef>
                <a:spcPts val="888"/>
              </a:spcBef>
            </a:pPr>
            <a:r>
              <a:rPr lang="en-US" sz="2400" dirty="0">
                <a:latin typeface="Times New Roman" panose="02020603050405020304" pitchFamily="18" charset="0"/>
                <a:cs typeface="Times New Roman" panose="02020603050405020304" pitchFamily="18" charset="0"/>
              </a:rPr>
              <a:t>Estimation of various project parameters is a basic project planning activity.</a:t>
            </a:r>
          </a:p>
          <a:p>
            <a:pPr marL="342900" indent="-342900" algn="just">
              <a:spcBef>
                <a:spcPts val="888"/>
              </a:spcBef>
              <a:buNone/>
            </a:pPr>
            <a:r>
              <a:rPr lang="en-US" sz="2400" dirty="0">
                <a:latin typeface="Times New Roman" panose="02020603050405020304" pitchFamily="18" charset="0"/>
                <a:cs typeface="Times New Roman" panose="02020603050405020304" pitchFamily="18" charset="0"/>
              </a:rPr>
              <a:t> </a:t>
            </a:r>
          </a:p>
          <a:p>
            <a:pPr marL="342900" indent="-342900" algn="just">
              <a:spcBef>
                <a:spcPts val="888"/>
              </a:spcBef>
            </a:pPr>
            <a:r>
              <a:rPr lang="en-US" sz="2400" dirty="0">
                <a:latin typeface="Times New Roman" panose="02020603050405020304" pitchFamily="18" charset="0"/>
                <a:cs typeface="Times New Roman" panose="02020603050405020304" pitchFamily="18" charset="0"/>
              </a:rPr>
              <a:t>The important project parameters that are estimated include: project size, effort required to develop the software, project duration, and cost. </a:t>
            </a:r>
          </a:p>
          <a:p>
            <a:pPr marL="342900" indent="-342900" algn="just">
              <a:spcBef>
                <a:spcPts val="888"/>
              </a:spcBef>
            </a:pPr>
            <a:endParaRPr lang="en-US" sz="2400" dirty="0">
              <a:latin typeface="Times New Roman" panose="02020603050405020304" pitchFamily="18" charset="0"/>
              <a:cs typeface="Times New Roman" panose="02020603050405020304" pitchFamily="18" charset="0"/>
            </a:endParaRPr>
          </a:p>
          <a:p>
            <a:pPr marL="342900" indent="-342900" algn="just">
              <a:spcBef>
                <a:spcPts val="888"/>
              </a:spcBef>
            </a:pPr>
            <a:r>
              <a:rPr lang="en-US" sz="2400" dirty="0">
                <a:latin typeface="Times New Roman" panose="02020603050405020304" pitchFamily="18" charset="0"/>
                <a:cs typeface="Times New Roman" panose="02020603050405020304" pitchFamily="18" charset="0"/>
              </a:rPr>
              <a:t>There are three broad categories of estimation techniques: </a:t>
            </a:r>
          </a:p>
          <a:p>
            <a:pPr marL="800100" lvl="1" indent="-342900" algn="just">
              <a:spcBef>
                <a:spcPts val="888"/>
              </a:spcBef>
              <a:buNone/>
            </a:pPr>
            <a:r>
              <a:rPr lang="en-US" dirty="0">
                <a:latin typeface="Times New Roman" panose="02020603050405020304" pitchFamily="18" charset="0"/>
                <a:cs typeface="Times New Roman" panose="02020603050405020304" pitchFamily="18" charset="0"/>
              </a:rPr>
              <a:t>	• Empirical estimation techniques </a:t>
            </a:r>
          </a:p>
          <a:p>
            <a:pPr marL="800100" lvl="1" indent="-342900" algn="just">
              <a:spcBef>
                <a:spcPts val="888"/>
              </a:spcBef>
              <a:buNone/>
            </a:pPr>
            <a:r>
              <a:rPr lang="en-US" dirty="0">
                <a:latin typeface="Times New Roman" panose="02020603050405020304" pitchFamily="18" charset="0"/>
                <a:cs typeface="Times New Roman" panose="02020603050405020304" pitchFamily="18" charset="0"/>
              </a:rPr>
              <a:t>	• Heuristic techniques </a:t>
            </a:r>
          </a:p>
          <a:p>
            <a:pPr marL="800100" lvl="1" indent="-342900" algn="just">
              <a:spcBef>
                <a:spcPts val="888"/>
              </a:spcBef>
              <a:buNone/>
            </a:pPr>
            <a:r>
              <a:rPr lang="en-US" dirty="0">
                <a:latin typeface="Times New Roman" panose="02020603050405020304" pitchFamily="18" charset="0"/>
                <a:cs typeface="Times New Roman" panose="02020603050405020304" pitchFamily="18" charset="0"/>
              </a:rPr>
              <a:t>	• Analytical estimation techniques </a:t>
            </a:r>
          </a:p>
        </p:txBody>
      </p:sp>
      <p:sp>
        <p:nvSpPr>
          <p:cNvPr id="2" name="Footer Placeholder 9">
            <a:extLst>
              <a:ext uri="{FF2B5EF4-FFF2-40B4-BE49-F238E27FC236}">
                <a16:creationId xmlns:a16="http://schemas.microsoft.com/office/drawing/2014/main" id="{D8447314-512D-EB3C-1827-FD3F32FB6A1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129553"/>
            <a:ext cx="10515600" cy="56113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lvl="0" algn="ctr"/>
            <a:r>
              <a:rPr lang="en-US" sz="3600" dirty="0">
                <a:solidFill>
                  <a:schemeClr val="tx1"/>
                </a:solidFill>
                <a:latin typeface="Times New Roman" panose="02020603050405020304" pitchFamily="18" charset="0"/>
                <a:cs typeface="Times New Roman" panose="02020603050405020304" pitchFamily="18" charset="0"/>
              </a:rPr>
              <a:t>EMPIRICAL ESTIMATION TECHNIQUE</a:t>
            </a:r>
            <a:endParaRPr lang="en-US" sz="3600" dirty="0">
              <a:latin typeface="Times New Roman" panose="02020603050405020304" pitchFamily="18" charset="0"/>
              <a:cs typeface="Times New Roman" panose="02020603050405020304"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Autofit/>
          </a:bodyPr>
          <a:lstStyle/>
          <a:p>
            <a:pPr marL="342900" indent="-342900">
              <a:spcBef>
                <a:spcPts val="825"/>
              </a:spcBef>
              <a:buNone/>
            </a:pPr>
            <a:r>
              <a:rPr lang="en-US" sz="2400" dirty="0"/>
              <a:t>     </a:t>
            </a:r>
            <a:r>
              <a:rPr lang="en-US" sz="2400" dirty="0">
                <a:latin typeface="Times New Roman" panose="02020603050405020304" pitchFamily="18" charset="0"/>
                <a:cs typeface="Times New Roman" panose="02020603050405020304" pitchFamily="18" charset="0"/>
              </a:rPr>
              <a:t>Empirical estimation techniques are based on making an educated guess of the project parameters.</a:t>
            </a:r>
          </a:p>
          <a:p>
            <a:pPr marL="342900" indent="-342900">
              <a:spcBef>
                <a:spcPts val="825"/>
              </a:spcBef>
            </a:pPr>
            <a:endParaRPr lang="en-US" sz="2400" dirty="0">
              <a:latin typeface="Times New Roman" panose="02020603050405020304" pitchFamily="18" charset="0"/>
              <a:cs typeface="Times New Roman" panose="02020603050405020304" pitchFamily="18" charset="0"/>
            </a:endParaRPr>
          </a:p>
          <a:p>
            <a:pPr marL="342900" indent="-342900">
              <a:spcBef>
                <a:spcPts val="825"/>
              </a:spcBef>
            </a:pPr>
            <a:r>
              <a:rPr lang="en-US" sz="2400" dirty="0">
                <a:latin typeface="Times New Roman" panose="02020603050405020304" pitchFamily="18" charset="0"/>
                <a:cs typeface="Times New Roman" panose="02020603050405020304" pitchFamily="18" charset="0"/>
              </a:rPr>
              <a:t>While using this technique, prior experience with development of similar products is helpful. </a:t>
            </a:r>
          </a:p>
          <a:p>
            <a:pPr marL="342900" indent="-342900">
              <a:spcBef>
                <a:spcPts val="825"/>
              </a:spcBef>
            </a:pPr>
            <a:endParaRPr lang="en-US" sz="2400" dirty="0">
              <a:latin typeface="Times New Roman" panose="02020603050405020304" pitchFamily="18" charset="0"/>
              <a:cs typeface="Times New Roman" panose="02020603050405020304" pitchFamily="18" charset="0"/>
            </a:endParaRPr>
          </a:p>
          <a:p>
            <a:pPr marL="342900" indent="-342900">
              <a:spcBef>
                <a:spcPts val="825"/>
              </a:spcBef>
            </a:pPr>
            <a:r>
              <a:rPr lang="en-US" sz="2400" dirty="0">
                <a:latin typeface="Times New Roman" panose="02020603050405020304" pitchFamily="18" charset="0"/>
                <a:cs typeface="Times New Roman" panose="02020603050405020304" pitchFamily="18" charset="0"/>
              </a:rPr>
              <a:t>Empirical estimation techniques are based on common sense, different activities involved in estimation have been formalized over the years.</a:t>
            </a:r>
          </a:p>
          <a:p>
            <a:pPr marL="342900" indent="-342900">
              <a:spcBef>
                <a:spcPts val="825"/>
              </a:spcBef>
            </a:pPr>
            <a:endParaRPr lang="en-US" sz="2400" dirty="0">
              <a:latin typeface="Times New Roman" panose="02020603050405020304" pitchFamily="18" charset="0"/>
              <a:cs typeface="Times New Roman" panose="02020603050405020304" pitchFamily="18" charset="0"/>
            </a:endParaRPr>
          </a:p>
          <a:p>
            <a:pPr marL="342900" indent="-342900">
              <a:spcBef>
                <a:spcPts val="825"/>
              </a:spcBef>
            </a:pPr>
            <a:r>
              <a:rPr lang="en-US" sz="2400" dirty="0">
                <a:latin typeface="Times New Roman" panose="02020603050405020304" pitchFamily="18" charset="0"/>
                <a:cs typeface="Times New Roman" panose="02020603050405020304" pitchFamily="18" charset="0"/>
              </a:rPr>
              <a:t>Two popular empirical estimation techniques are: Expert judgment technique and Delphi cost estimation. </a:t>
            </a:r>
          </a:p>
        </p:txBody>
      </p:sp>
      <p:sp>
        <p:nvSpPr>
          <p:cNvPr id="2" name="Footer Placeholder 9">
            <a:extLst>
              <a:ext uri="{FF2B5EF4-FFF2-40B4-BE49-F238E27FC236}">
                <a16:creationId xmlns:a16="http://schemas.microsoft.com/office/drawing/2014/main" id="{92398A95-1972-9043-D6E2-2BC7146A062D}"/>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lvl="0" algn="ctr"/>
            <a:br>
              <a:rPr lang="en-US" dirty="0">
                <a:solidFill>
                  <a:schemeClr val="tx1"/>
                </a:solidFill>
              </a:rPr>
            </a:br>
            <a:r>
              <a:rPr lang="en-US" sz="4000" dirty="0">
                <a:solidFill>
                  <a:schemeClr val="tx1"/>
                </a:solidFill>
                <a:latin typeface="Times New Roman" panose="02020603050405020304" pitchFamily="18" charset="0"/>
                <a:cs typeface="Times New Roman" panose="02020603050405020304" pitchFamily="18" charset="0"/>
              </a:rPr>
              <a:t>Expert judgment technique </a:t>
            </a:r>
            <a:r>
              <a:rPr lang="en-US" dirty="0"/>
              <a:t>Expert judgment technique </a:t>
            </a: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endParaRPr lang="en-US" sz="2400" dirty="0">
              <a:latin typeface="Times New Roman" panose="02020603050405020304" pitchFamily="18" charset="0"/>
              <a:cs typeface="Times New Roman" panose="02020603050405020304" pitchFamily="18" charset="0"/>
            </a:endParaRPr>
          </a:p>
          <a:p>
            <a:pPr>
              <a:spcBef>
                <a:spcPts val="613"/>
              </a:spcBef>
            </a:pPr>
            <a:r>
              <a:rPr lang="en-GB" sz="2400" dirty="0">
                <a:latin typeface="Times New Roman" panose="02020603050405020304" pitchFamily="18" charset="0"/>
                <a:cs typeface="Times New Roman" panose="02020603050405020304" pitchFamily="18" charset="0"/>
              </a:rPr>
              <a:t>Experts divide a software product into component units: </a:t>
            </a:r>
          </a:p>
          <a:p>
            <a:pPr lvl="1">
              <a:spcBef>
                <a:spcPts val="525"/>
              </a:spcBef>
            </a:pPr>
            <a:r>
              <a:rPr lang="en-GB" dirty="0">
                <a:latin typeface="Times New Roman" panose="02020603050405020304" pitchFamily="18" charset="0"/>
                <a:cs typeface="Times New Roman" panose="02020603050405020304" pitchFamily="18" charset="0"/>
              </a:rPr>
              <a:t>e.g. GUI, database module,  data communication module, billing module, etc. </a:t>
            </a:r>
          </a:p>
          <a:p>
            <a:pPr lvl="1">
              <a:spcBef>
                <a:spcPts val="525"/>
              </a:spcBef>
              <a:buNone/>
            </a:pPr>
            <a:endParaRPr lang="en-GB" dirty="0">
              <a:latin typeface="Times New Roman" panose="02020603050405020304" pitchFamily="18" charset="0"/>
              <a:cs typeface="Times New Roman" panose="02020603050405020304" pitchFamily="18" charset="0"/>
            </a:endParaRPr>
          </a:p>
          <a:p>
            <a:pPr>
              <a:spcBef>
                <a:spcPts val="613"/>
              </a:spcBef>
            </a:pPr>
            <a:r>
              <a:rPr lang="en-GB" sz="2400" dirty="0">
                <a:latin typeface="Times New Roman" panose="02020603050405020304" pitchFamily="18" charset="0"/>
                <a:cs typeface="Times New Roman" panose="02020603050405020304" pitchFamily="18" charset="0"/>
              </a:rPr>
              <a:t>Add up the </a:t>
            </a:r>
            <a:r>
              <a:rPr lang="en-GB" sz="2400" dirty="0" err="1">
                <a:latin typeface="Times New Roman" panose="02020603050405020304" pitchFamily="18" charset="0"/>
                <a:cs typeface="Times New Roman" panose="02020603050405020304" pitchFamily="18" charset="0"/>
              </a:rPr>
              <a:t>gauesses</a:t>
            </a:r>
            <a:r>
              <a:rPr lang="en-GB" sz="2400" dirty="0">
                <a:latin typeface="Times New Roman" panose="02020603050405020304" pitchFamily="18" charset="0"/>
                <a:cs typeface="Times New Roman" panose="02020603050405020304" pitchFamily="18" charset="0"/>
              </a:rPr>
              <a:t> for each of the components.</a:t>
            </a:r>
          </a:p>
        </p:txBody>
      </p:sp>
      <p:sp>
        <p:nvSpPr>
          <p:cNvPr id="2" name="Footer Placeholder 9">
            <a:extLst>
              <a:ext uri="{FF2B5EF4-FFF2-40B4-BE49-F238E27FC236}">
                <a16:creationId xmlns:a16="http://schemas.microsoft.com/office/drawing/2014/main" id="{D2418BE9-3BA8-5B02-7D6D-6BBC38E526E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60612"/>
            <a:ext cx="10515600" cy="83007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chemeClr val="tx1"/>
                </a:solidFill>
                <a:latin typeface="Times New Roman" panose="02020603050405020304" pitchFamily="18" charset="0"/>
                <a:cs typeface="Times New Roman" panose="02020603050405020304" pitchFamily="18" charset="0"/>
              </a:rPr>
              <a:t>Delphi cost estimation</a:t>
            </a:r>
            <a:endParaRPr lang="en-US" sz="3600" dirty="0">
              <a:latin typeface="Times New Roman" panose="02020603050405020304" pitchFamily="18" charset="0"/>
              <a:cs typeface="Times New Roman" panose="02020603050405020304"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Autofit/>
          </a:bodyPr>
          <a:lstStyle/>
          <a:p>
            <a:pPr marL="342900" indent="-342900">
              <a:spcBef>
                <a:spcPts val="800"/>
              </a:spcBef>
            </a:pPr>
            <a:endParaRPr lang="en-US" sz="2000" dirty="0"/>
          </a:p>
          <a:p>
            <a:pPr marL="342900" indent="-342900" algn="just">
              <a:spcBef>
                <a:spcPts val="800"/>
              </a:spcBef>
            </a:pPr>
            <a:r>
              <a:rPr lang="en-US" sz="2000" dirty="0">
                <a:latin typeface="Times New Roman" panose="02020603050405020304" pitchFamily="18" charset="0"/>
                <a:cs typeface="Times New Roman" panose="02020603050405020304" pitchFamily="18" charset="0"/>
              </a:rPr>
              <a:t>Delphi estimation is carried out by a team comprising of a group of experts and a coordinator.</a:t>
            </a:r>
          </a:p>
          <a:p>
            <a:pPr marL="342900" indent="-342900" algn="just">
              <a:spcBef>
                <a:spcPts val="800"/>
              </a:spcBef>
            </a:pPr>
            <a:r>
              <a:rPr lang="en-US" sz="2000" dirty="0">
                <a:latin typeface="Times New Roman" panose="02020603050405020304" pitchFamily="18" charset="0"/>
                <a:cs typeface="Times New Roman" panose="02020603050405020304" pitchFamily="18" charset="0"/>
              </a:rPr>
              <a:t>In this approach, the coordinator provides each estimator with a copy of the software requirements specification (SRS) document and a form for recording his cost estimate. </a:t>
            </a:r>
          </a:p>
          <a:p>
            <a:pPr marL="342900" indent="-342900" algn="just">
              <a:spcBef>
                <a:spcPts val="800"/>
              </a:spcBef>
            </a:pPr>
            <a:r>
              <a:rPr lang="en-US" sz="2000" dirty="0">
                <a:latin typeface="Times New Roman" panose="02020603050405020304" pitchFamily="18" charset="0"/>
                <a:cs typeface="Times New Roman" panose="02020603050405020304" pitchFamily="18" charset="0"/>
              </a:rPr>
              <a:t>Estimators complete their individual estimates anonymously and submit to the coordinator. In their estimates, the estimators mention any unusual characteristic of the product which has influenced his estimation. </a:t>
            </a:r>
          </a:p>
          <a:p>
            <a:pPr marL="342900" indent="-342900" algn="just">
              <a:spcBef>
                <a:spcPts val="800"/>
              </a:spcBef>
            </a:pPr>
            <a:r>
              <a:rPr lang="en-US" sz="2000" dirty="0">
                <a:latin typeface="Times New Roman" panose="02020603050405020304" pitchFamily="18" charset="0"/>
                <a:cs typeface="Times New Roman" panose="02020603050405020304" pitchFamily="18" charset="0"/>
              </a:rPr>
              <a:t>The coordinator prepares and distributes the summary of the responses of all the estimators, and includes any unusual rationale noted by any of the estimators. </a:t>
            </a:r>
          </a:p>
          <a:p>
            <a:pPr marL="342900" indent="-342900" algn="just">
              <a:spcBef>
                <a:spcPts val="800"/>
              </a:spcBef>
            </a:pPr>
            <a:r>
              <a:rPr lang="en-US" sz="2000" dirty="0">
                <a:latin typeface="Times New Roman" panose="02020603050405020304" pitchFamily="18" charset="0"/>
                <a:cs typeface="Times New Roman" panose="02020603050405020304" pitchFamily="18" charset="0"/>
              </a:rPr>
              <a:t>Based on this summary, the estimators re-estimate. This process is iterated for several rounds. No discussion among the estimators is allowed during the entire estimation process. </a:t>
            </a:r>
          </a:p>
          <a:p>
            <a:pPr marL="342900" indent="-342900" algn="just">
              <a:spcBef>
                <a:spcPts val="800"/>
              </a:spcBef>
            </a:pPr>
            <a:r>
              <a:rPr lang="en-US" sz="2000" dirty="0">
                <a:latin typeface="Times New Roman" panose="02020603050405020304" pitchFamily="18" charset="0"/>
                <a:cs typeface="Times New Roman" panose="02020603050405020304" pitchFamily="18" charset="0"/>
              </a:rPr>
              <a:t>After the completion of several iterations of estimations, the coordinator takes the responsibility of compiling the results and preparing the final estimate. </a:t>
            </a:r>
          </a:p>
          <a:p>
            <a:pPr marL="342900" indent="-342900">
              <a:spcBef>
                <a:spcPts val="800"/>
              </a:spcBef>
              <a:buNone/>
            </a:pPr>
            <a:r>
              <a:rPr lang="en-US" sz="2000" dirty="0"/>
              <a:t> </a:t>
            </a:r>
            <a:endParaRPr lang="en-GB" sz="2000" dirty="0"/>
          </a:p>
        </p:txBody>
      </p:sp>
      <p:sp>
        <p:nvSpPr>
          <p:cNvPr id="2" name="Footer Placeholder 9">
            <a:extLst>
              <a:ext uri="{FF2B5EF4-FFF2-40B4-BE49-F238E27FC236}">
                <a16:creationId xmlns:a16="http://schemas.microsoft.com/office/drawing/2014/main" id="{8CCBDCB0-5E4E-F433-0F37-E3B104F4294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1004888"/>
            <a:ext cx="10515600" cy="685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4000" dirty="0">
                <a:solidFill>
                  <a:schemeClr val="tx1"/>
                </a:solidFill>
                <a:latin typeface="Times New Roman" panose="02020603050405020304" pitchFamily="18" charset="0"/>
                <a:cs typeface="Times New Roman" panose="02020603050405020304" pitchFamily="18" charset="0"/>
              </a:rPr>
              <a:t>Heuristic techniques</a:t>
            </a:r>
            <a:endParaRPr lang="en-US" sz="4000" dirty="0">
              <a:latin typeface="Times New Roman" panose="02020603050405020304" pitchFamily="18" charset="0"/>
              <a:cs typeface="Times New Roman" panose="02020603050405020304" pitchFamily="18" charset="0"/>
            </a:endParaRPr>
          </a:p>
        </p:txBody>
      </p:sp>
      <p:sp>
        <p:nvSpPr>
          <p:cNvPr id="7" name="Rectangle 2"/>
          <p:cNvSpPr txBox="1">
            <a:spLocks noChangeArrowheads="1"/>
          </p:cNvSpPr>
          <p:nvPr/>
        </p:nvSpPr>
        <p:spPr>
          <a:xfrm>
            <a:off x="1775346" y="680113"/>
            <a:ext cx="8229600" cy="685800"/>
          </a:xfrm>
          <a:prstGeom prst="rect">
            <a:avLst/>
          </a:prstGeom>
        </p:spPr>
        <p:txBody>
          <a:bodyPr vert="horz" lIns="91429" tIns="45714" rIns="91429" bIns="45714" rtlCol="0"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Content Placeholder 7"/>
          <p:cNvSpPr>
            <a:spLocks noGrp="1"/>
          </p:cNvSpPr>
          <p:nvPr>
            <p:ph idx="1"/>
          </p:nvPr>
        </p:nvSpPr>
        <p:spPr/>
        <p:txBody>
          <a:bodyPr>
            <a:normAutofit/>
          </a:bodyPr>
          <a:lstStyle/>
          <a:p>
            <a:pPr marL="342900" indent="-342900" algn="just">
              <a:spcBef>
                <a:spcPts val="625"/>
              </a:spcBef>
            </a:pPr>
            <a:r>
              <a:rPr lang="en-US" sz="1800" dirty="0">
                <a:latin typeface="Times New Roman" panose="02020603050405020304" pitchFamily="18" charset="0"/>
                <a:cs typeface="Times New Roman" panose="02020603050405020304" pitchFamily="18" charset="0"/>
              </a:rPr>
              <a:t>Heuristic techniques assume that the relationships among the different project parameters can be modeled using suitable mathematical expressions. Once the basic (independent) parameters are known, the other (dependent) parameters can be easily determined by substituting the value of the basic parameters in the mathematical expression. </a:t>
            </a:r>
          </a:p>
          <a:p>
            <a:pPr marL="342900" indent="-342900" algn="just">
              <a:spcBef>
                <a:spcPts val="625"/>
              </a:spcBef>
            </a:pPr>
            <a:endParaRPr lang="en-US" sz="1800" dirty="0">
              <a:latin typeface="Times New Roman" panose="02020603050405020304" pitchFamily="18" charset="0"/>
              <a:cs typeface="Times New Roman" panose="02020603050405020304" pitchFamily="18" charset="0"/>
            </a:endParaRPr>
          </a:p>
          <a:p>
            <a:pPr marL="342900" indent="-342900" algn="just">
              <a:spcBef>
                <a:spcPts val="625"/>
              </a:spcBef>
            </a:pPr>
            <a:r>
              <a:rPr lang="en-US" sz="1800" dirty="0">
                <a:latin typeface="Times New Roman" panose="02020603050405020304" pitchFamily="18" charset="0"/>
                <a:cs typeface="Times New Roman" panose="02020603050405020304" pitchFamily="18" charset="0"/>
              </a:rPr>
              <a:t>Different heuristic estimation models can be divided into the following two classes:</a:t>
            </a:r>
          </a:p>
          <a:p>
            <a:pPr marL="800100" lvl="1" indent="-342900" algn="just">
              <a:spcBef>
                <a:spcPts val="625"/>
              </a:spcBef>
            </a:pPr>
            <a:r>
              <a:rPr lang="en-US" sz="1800" dirty="0">
                <a:latin typeface="Times New Roman" panose="02020603050405020304" pitchFamily="18" charset="0"/>
                <a:cs typeface="Times New Roman" panose="02020603050405020304" pitchFamily="18" charset="0"/>
              </a:rPr>
              <a:t>Single variable estimation model: It provide a means to estimate the desired characteristics of a problem, using some previously estimated basic (independent) characteristic of the software product such as its size. A single variable estimation model takes the following form: </a:t>
            </a:r>
          </a:p>
          <a:p>
            <a:pPr marL="342900" indent="-342900" algn="just">
              <a:spcBef>
                <a:spcPts val="625"/>
              </a:spcBef>
              <a:buNone/>
            </a:pPr>
            <a:r>
              <a:rPr lang="en-US" sz="1800" dirty="0">
                <a:latin typeface="Times New Roman" panose="02020603050405020304" pitchFamily="18" charset="0"/>
                <a:cs typeface="Times New Roman" panose="02020603050405020304" pitchFamily="18" charset="0"/>
              </a:rPr>
              <a:t>                      Estimated Parameter = c1 * ed1</a:t>
            </a:r>
          </a:p>
          <a:p>
            <a:pPr marL="342900" indent="-342900" algn="just">
              <a:spcBef>
                <a:spcPts val="625"/>
              </a:spcBef>
              <a:buNone/>
            </a:pPr>
            <a:endParaRPr lang="en-US" sz="1800" dirty="0">
              <a:latin typeface="Times New Roman" panose="02020603050405020304" pitchFamily="18" charset="0"/>
              <a:cs typeface="Times New Roman" panose="02020603050405020304" pitchFamily="18" charset="0"/>
            </a:endParaRPr>
          </a:p>
          <a:p>
            <a:pPr marL="800100" lvl="1" indent="-342900" algn="just">
              <a:spcBef>
                <a:spcPts val="625"/>
              </a:spcBef>
            </a:pPr>
            <a:r>
              <a:rPr lang="en-US" sz="1800" dirty="0">
                <a:latin typeface="Times New Roman" panose="02020603050405020304" pitchFamily="18" charset="0"/>
                <a:cs typeface="Times New Roman" panose="02020603050405020304" pitchFamily="18" charset="0"/>
              </a:rPr>
              <a:t>multivariable cost estimation model: takes the following form:  Multivariable estimation models are expected to give more accurate estimates compared to the single variable models, since a project parameter is typically influenced by several independent parameters.                               </a:t>
            </a:r>
          </a:p>
          <a:p>
            <a:pPr marL="800100" lvl="1" indent="-342900" algn="just">
              <a:spcBef>
                <a:spcPts val="625"/>
              </a:spcBef>
              <a:buNone/>
            </a:pPr>
            <a:r>
              <a:rPr lang="en-US" sz="1800" dirty="0">
                <a:latin typeface="Times New Roman" panose="02020603050405020304" pitchFamily="18" charset="0"/>
                <a:cs typeface="Times New Roman" panose="02020603050405020304" pitchFamily="18" charset="0"/>
              </a:rPr>
              <a:t>		Estimated Resource = c1*e1d1 + c2*e2d2 + ...  </a:t>
            </a:r>
            <a:endParaRPr lang="en-GB" sz="1800" dirty="0">
              <a:latin typeface="Times New Roman" panose="02020603050405020304" pitchFamily="18" charset="0"/>
              <a:cs typeface="Times New Roman" panose="02020603050405020304" pitchFamily="18" charset="0"/>
            </a:endParaRPr>
          </a:p>
        </p:txBody>
      </p:sp>
      <p:sp>
        <p:nvSpPr>
          <p:cNvPr id="2" name="Footer Placeholder 9">
            <a:extLst>
              <a:ext uri="{FF2B5EF4-FFF2-40B4-BE49-F238E27FC236}">
                <a16:creationId xmlns:a16="http://schemas.microsoft.com/office/drawing/2014/main" id="{E5798C8E-5B58-90B3-BB2E-97308803F95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https://www.tutorialspoint.com/software_engineering/software_project_management.htm</a:t>
            </a:r>
            <a:endParaRPr lang="en-US" dirty="0"/>
          </a:p>
          <a:p>
            <a:r>
              <a:rPr lang="en-US" dirty="0">
                <a:hlinkClick r:id="rId3"/>
              </a:rPr>
              <a:t>https://www.javatpoint.com/software-project-planning</a:t>
            </a:r>
            <a:endParaRPr lang="en-US" dirty="0"/>
          </a:p>
          <a:p>
            <a:r>
              <a:rPr lang="en-US" dirty="0">
                <a:hlinkClick r:id="rId4"/>
              </a:rPr>
              <a:t>https://www.tutorialspoint.com/estimation_techniques/estimation_techniques_overview.htm</a:t>
            </a:r>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49854"/>
            <a:ext cx="10515600" cy="84083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31</a:t>
            </a:fld>
            <a:endParaRPr lang="en-US"/>
          </a:p>
        </p:txBody>
      </p:sp>
      <p:sp>
        <p:nvSpPr>
          <p:cNvPr id="2" name="Footer Placeholder 9">
            <a:extLst>
              <a:ext uri="{FF2B5EF4-FFF2-40B4-BE49-F238E27FC236}">
                <a16:creationId xmlns:a16="http://schemas.microsoft.com/office/drawing/2014/main" id="{9A99B246-5628-19C2-E332-2DF59B02619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32</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1819</TotalTime>
  <Words>2535</Words>
  <Application>Microsoft Macintosh PowerPoint</Application>
  <PresentationFormat>Widescreen</PresentationFormat>
  <Paragraphs>250</Paragraphs>
  <Slides>32</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1"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PowerPoint Presentation</vt:lpstr>
      <vt:lpstr> Software Project Planning </vt:lpstr>
      <vt:lpstr> Software Project Planning </vt:lpstr>
      <vt:lpstr> Need of Software Project Management </vt:lpstr>
      <vt:lpstr> Software Project Manager </vt:lpstr>
      <vt:lpstr>Software Project Manager</vt:lpstr>
      <vt:lpstr> Software Project Manager </vt:lpstr>
      <vt:lpstr> Software Project Manager </vt:lpstr>
      <vt:lpstr>Responsibility of Software Project Manager</vt:lpstr>
      <vt:lpstr>Responsibility of Software Project Manager</vt:lpstr>
      <vt:lpstr> Software Management Activities </vt:lpstr>
      <vt:lpstr> Project Planning </vt:lpstr>
      <vt:lpstr>PowerPoint Presentation</vt:lpstr>
      <vt:lpstr> Scope Management </vt:lpstr>
      <vt:lpstr> Scope Management </vt:lpstr>
      <vt:lpstr> Project Estimation </vt:lpstr>
      <vt:lpstr> Project Estimation </vt:lpstr>
      <vt:lpstr> Project Estimation </vt:lpstr>
      <vt:lpstr> Project Estimation </vt:lpstr>
      <vt:lpstr> Project Estimation Techniques </vt:lpstr>
      <vt:lpstr> Project Estimation Techniques </vt:lpstr>
      <vt:lpstr> Project Estimation Techniques </vt:lpstr>
      <vt:lpstr> Project Estimation Techniques </vt:lpstr>
      <vt:lpstr> Estimation Accuracy </vt:lpstr>
      <vt:lpstr>PROJECT ESTIMATION TECHNIQUES</vt:lpstr>
      <vt:lpstr>EMPIRICAL ESTIMATION TECHNIQUE</vt:lpstr>
      <vt:lpstr> Expert judgment technique Expert judgment technique </vt:lpstr>
      <vt:lpstr>Delphi cost estimation</vt:lpstr>
      <vt:lpstr>Heuristic techniques</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247</cp:revision>
  <dcterms:created xsi:type="dcterms:W3CDTF">2019-01-09T10:33:58Z</dcterms:created>
  <dcterms:modified xsi:type="dcterms:W3CDTF">2024-12-12T09:29:13Z</dcterms:modified>
</cp:coreProperties>
</file>