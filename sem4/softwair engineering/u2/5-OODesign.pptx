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0"/>
  </p:notesMasterIdLst>
  <p:handoutMasterIdLst>
    <p:handoutMasterId r:id="rId31"/>
  </p:handoutMasterIdLst>
  <p:sldIdLst>
    <p:sldId id="662" r:id="rId3"/>
    <p:sldId id="280" r:id="rId4"/>
    <p:sldId id="294" r:id="rId5"/>
    <p:sldId id="341" r:id="rId6"/>
    <p:sldId id="344" r:id="rId7"/>
    <p:sldId id="340" r:id="rId8"/>
    <p:sldId id="339" r:id="rId9"/>
    <p:sldId id="338" r:id="rId10"/>
    <p:sldId id="337" r:id="rId11"/>
    <p:sldId id="345" r:id="rId12"/>
    <p:sldId id="336" r:id="rId13"/>
    <p:sldId id="335" r:id="rId14"/>
    <p:sldId id="334" r:id="rId15"/>
    <p:sldId id="333" r:id="rId16"/>
    <p:sldId id="346" r:id="rId17"/>
    <p:sldId id="327" r:id="rId18"/>
    <p:sldId id="332" r:id="rId19"/>
    <p:sldId id="347" r:id="rId20"/>
    <p:sldId id="342" r:id="rId21"/>
    <p:sldId id="343" r:id="rId22"/>
    <p:sldId id="331" r:id="rId23"/>
    <p:sldId id="348" r:id="rId24"/>
    <p:sldId id="330" r:id="rId25"/>
    <p:sldId id="329" r:id="rId26"/>
    <p:sldId id="328" r:id="rId27"/>
    <p:sldId id="326"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96057505-A7B7-CA04-99B8-D3E63FB02E7C}"/>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F1BFC346-158F-5D5C-D187-7F19FC9F87E1}"/>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3F8C6741-55AB-2BA9-1656-CB2EFF640291}"/>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eksforgeeks.org/software-engineering-software-design-process/" TargetMode="External"/><Relationship Id="rId2" Type="http://schemas.openxmlformats.org/officeDocument/2006/relationships/hyperlink" Target="https://www.tutorialspoint.com/software_engineering/software_design_basics.htm" TargetMode="External"/><Relationship Id="rId1" Type="http://schemas.openxmlformats.org/officeDocument/2006/relationships/slideLayout" Target="../slideLayouts/slideLayout2.xml"/><Relationship Id="rId4" Type="http://schemas.openxmlformats.org/officeDocument/2006/relationships/hyperlink" Target="https://www.javatpoint.com/software-engineering-software-design"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pPr algn="ctr" eaLnBrk="1" hangingPunct="1"/>
            <a:r>
              <a:rPr lang="en-US" sz="1800" b="1" dirty="0">
                <a:latin typeface="Times New Roman" panose="02020603050405020304" pitchFamily="18" charset="0"/>
                <a:cs typeface="Times New Roman" panose="02020603050405020304" pitchFamily="18" charset="0"/>
              </a:rPr>
              <a:t>Software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719"/>
            <a:ext cx="10515600" cy="1091169"/>
          </a:xfrm>
        </p:spPr>
        <p:txBody>
          <a:bodyPr>
            <a:noAutofit/>
          </a:bodyPr>
          <a:lstStyle/>
          <a:p>
            <a:pPr algn="ctr"/>
            <a:r>
              <a:rPr lang="en-US" sz="3600" dirty="0">
                <a:latin typeface="Times New Roman" panose="02020603050405020304" pitchFamily="18" charset="0"/>
                <a:cs typeface="Times New Roman" pitchFamily="18" charset="0"/>
              </a:rPr>
              <a:t>Chapter-4</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Design</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2400" dirty="0">
                <a:latin typeface="Times New Roman" pitchFamily="18" charset="0"/>
                <a:cs typeface="Times New Roman" pitchFamily="18" charset="0"/>
              </a:rPr>
              <a:t>Approaches to Software design</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563323"/>
            <a:ext cx="10515600" cy="109116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3D38811B-C675-84EF-84C7-32B30D87E6F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854580"/>
          </a:xfrm>
        </p:spPr>
        <p:txBody>
          <a:bodyPr>
            <a:noAutofit/>
          </a:bodyPr>
          <a:lstStyle/>
          <a:p>
            <a:pPr algn="ctr"/>
            <a:r>
              <a:rPr lang="en-US" sz="3600" dirty="0">
                <a:latin typeface="Times New Roman" pitchFamily="18" charset="0"/>
                <a:cs typeface="Times New Roman" pitchFamily="18" charset="0"/>
              </a:rPr>
              <a:t>Software Design</a:t>
            </a: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Software design is a process to conceptualize the software requirements into software implementation. </a:t>
            </a:r>
          </a:p>
          <a:p>
            <a:pPr algn="just"/>
            <a:r>
              <a:rPr lang="en-US" dirty="0">
                <a:latin typeface="Times New Roman" panose="02020603050405020304" pitchFamily="18" charset="0"/>
                <a:cs typeface="Times New Roman" panose="02020603050405020304" pitchFamily="18" charset="0"/>
              </a:rPr>
              <a:t>Software design takes the user requirements as challenges and tries to find optimum solution. </a:t>
            </a:r>
          </a:p>
          <a:p>
            <a:pPr algn="just"/>
            <a:r>
              <a:rPr lang="en-US" dirty="0">
                <a:latin typeface="Times New Roman" panose="02020603050405020304" pitchFamily="18" charset="0"/>
                <a:cs typeface="Times New Roman" panose="02020603050405020304" pitchFamily="18" charset="0"/>
              </a:rPr>
              <a:t>While the software is being conceptualized, a plan is chalked out to find the best possible design for implementing the intended solution.</a:t>
            </a: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4" name="Footer Placeholder 9">
            <a:extLst>
              <a:ext uri="{FF2B5EF4-FFF2-40B4-BE49-F238E27FC236}">
                <a16:creationId xmlns:a16="http://schemas.microsoft.com/office/drawing/2014/main" id="{5F2E36C1-4F23-56A3-3C4E-FD53BB53EA08}"/>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73"/>
            <a:ext cx="10515600" cy="744015"/>
          </a:xfrm>
        </p:spPr>
        <p:txBody>
          <a:bodyPr>
            <a:normAutofit/>
          </a:bodyPr>
          <a:lstStyle/>
          <a:p>
            <a:pPr algn="ctr"/>
            <a:r>
              <a:rPr lang="en-US" sz="3600" dirty="0">
                <a:latin typeface="Times New Roman" panose="02020603050405020304" pitchFamily="18" charset="0"/>
                <a:cs typeface="Times New Roman" pitchFamily="18" charset="0"/>
              </a:rPr>
              <a:t>Software Design</a:t>
            </a:r>
          </a:p>
        </p:txBody>
      </p:sp>
      <p:sp>
        <p:nvSpPr>
          <p:cNvPr id="3" name="Content Placeholder 2"/>
          <p:cNvSpPr>
            <a:spLocks noGrp="1"/>
          </p:cNvSpPr>
          <p:nvPr>
            <p:ph idx="1"/>
          </p:nvPr>
        </p:nvSpPr>
        <p:spPr/>
        <p:txBody>
          <a:bodyPr>
            <a:normAutofit/>
          </a:bodyPr>
          <a:lstStyle/>
          <a:p>
            <a:pPr algn="just" fontAlgn="base"/>
            <a:r>
              <a:rPr lang="en-US" dirty="0">
                <a:latin typeface="Times New Roman" panose="02020603050405020304" pitchFamily="18" charset="0"/>
                <a:cs typeface="Times New Roman" panose="02020603050405020304" pitchFamily="18" charset="0"/>
              </a:rPr>
              <a:t>A good system design is to organize the program modules in such a way that are easy to develop and change. </a:t>
            </a:r>
          </a:p>
          <a:p>
            <a:pPr algn="just" fontAlgn="base"/>
            <a:r>
              <a:rPr lang="en-US" dirty="0">
                <a:latin typeface="Times New Roman" panose="02020603050405020304" pitchFamily="18" charset="0"/>
                <a:cs typeface="Times New Roman" panose="02020603050405020304" pitchFamily="18" charset="0"/>
              </a:rPr>
              <a:t>Structured design techniques help developers to deal with the size and complexity of programs.</a:t>
            </a:r>
          </a:p>
          <a:p>
            <a:pPr algn="just" fontAlgn="base"/>
            <a:r>
              <a:rPr lang="en-US" dirty="0">
                <a:latin typeface="Times New Roman" panose="02020603050405020304" pitchFamily="18" charset="0"/>
                <a:cs typeface="Times New Roman" panose="02020603050405020304" pitchFamily="18" charset="0"/>
              </a:rPr>
              <a:t> Analysts create instructions for the developers about how code should be written and how pieces of code should fit together to form a program.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DF1FC06E-4543-FF66-BD03-60A84F18B23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73"/>
            <a:ext cx="10515600" cy="744015"/>
          </a:xfrm>
        </p:spPr>
        <p:txBody>
          <a:bodyPr>
            <a:normAutofit fontScale="90000"/>
          </a:bodyPr>
          <a:lstStyle/>
          <a:p>
            <a:pPr algn="ctr"/>
            <a:br>
              <a:rPr lang="en-US" b="1" dirty="0"/>
            </a:br>
            <a:r>
              <a:rPr lang="en-US" b="1" dirty="0"/>
              <a:t>Importance </a:t>
            </a:r>
            <a:br>
              <a:rPr lang="en-US" dirty="0"/>
            </a:br>
            <a:endParaRPr lang="en-US" dirty="0"/>
          </a:p>
        </p:txBody>
      </p:sp>
      <p:sp>
        <p:nvSpPr>
          <p:cNvPr id="3" name="Content Placeholder 2"/>
          <p:cNvSpPr>
            <a:spLocks noGrp="1"/>
          </p:cNvSpPr>
          <p:nvPr>
            <p:ph idx="1"/>
          </p:nvPr>
        </p:nvSpPr>
        <p:spPr/>
        <p:txBody>
          <a:bodyPr/>
          <a:lstStyle/>
          <a:p>
            <a:pPr algn="just" fontAlgn="base"/>
            <a:r>
              <a:rPr lang="en-US" dirty="0">
                <a:latin typeface="Times New Roman" panose="02020603050405020304" pitchFamily="18" charset="0"/>
                <a:cs typeface="Times New Roman" panose="02020603050405020304" pitchFamily="18" charset="0"/>
              </a:rPr>
              <a:t>If any pre-existing code needs to be understood, organized and pieced together.</a:t>
            </a:r>
          </a:p>
          <a:p>
            <a:pPr algn="just" fontAlgn="base"/>
            <a:r>
              <a:rPr lang="en-US" dirty="0">
                <a:latin typeface="Times New Roman" panose="02020603050405020304" pitchFamily="18" charset="0"/>
                <a:cs typeface="Times New Roman" panose="02020603050405020304" pitchFamily="18" charset="0"/>
              </a:rPr>
              <a:t>It is common for the project team to have to write some code and produce original programs that support the application logic of the system.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41295BF9-116B-0B99-046D-BAE46B386E5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Structured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Structured design is a conceptualization of problem into several well-organized elements of solution. </a:t>
            </a:r>
          </a:p>
          <a:p>
            <a:pPr algn="just"/>
            <a:r>
              <a:rPr lang="en-US" dirty="0">
                <a:latin typeface="Times New Roman" panose="02020603050405020304" pitchFamily="18" charset="0"/>
                <a:cs typeface="Times New Roman" panose="02020603050405020304" pitchFamily="18" charset="0"/>
              </a:rPr>
              <a:t>It is basically concerned with the solution design.</a:t>
            </a:r>
          </a:p>
          <a:p>
            <a:pPr algn="just"/>
            <a:r>
              <a:rPr lang="en-US" dirty="0">
                <a:latin typeface="Times New Roman" panose="02020603050405020304" pitchFamily="18" charset="0"/>
                <a:cs typeface="Times New Roman" panose="02020603050405020304" pitchFamily="18" charset="0"/>
              </a:rPr>
              <a:t> Benefit of structured design is, it gives better understanding of how the problem is being solved. </a:t>
            </a:r>
          </a:p>
          <a:p>
            <a:pPr algn="just"/>
            <a:r>
              <a:rPr lang="en-US" dirty="0">
                <a:latin typeface="Times New Roman" panose="02020603050405020304" pitchFamily="18" charset="0"/>
                <a:cs typeface="Times New Roman" panose="02020603050405020304" pitchFamily="18" charset="0"/>
              </a:rPr>
              <a:t>Structured design also makes it simpler for designer to concentrate on the problem more accurately.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A9E1769F-14F6-FABE-F492-2E70FDE5C68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6"/>
            <a:ext cx="10515600" cy="1009652"/>
          </a:xfrm>
        </p:spPr>
        <p:txBody>
          <a:bodyPr>
            <a:normAutofit fontScale="90000"/>
          </a:bodyPr>
          <a:lstStyle/>
          <a:p>
            <a:pPr algn="ctr"/>
            <a:r>
              <a:rPr lang="en-US" dirty="0"/>
              <a:t>Structured Design</a:t>
            </a:r>
            <a:br>
              <a:rPr lang="en-US" dirty="0"/>
            </a:br>
            <a:endParaRPr lang="en-US" dirty="0"/>
          </a:p>
        </p:txBody>
      </p:sp>
      <p:sp>
        <p:nvSpPr>
          <p:cNvPr id="3" name="Content Placeholder 2"/>
          <p:cNvSpPr>
            <a:spLocks noGrp="1"/>
          </p:cNvSpPr>
          <p:nvPr>
            <p:ph idx="1"/>
          </p:nvPr>
        </p:nvSpPr>
        <p:spPr>
          <a:xfrm>
            <a:off x="838200" y="1495314"/>
            <a:ext cx="10515600" cy="468165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small pieces of problem are solved by means of solution modules. </a:t>
            </a:r>
          </a:p>
          <a:p>
            <a:pPr algn="just"/>
            <a:r>
              <a:rPr lang="en-US" dirty="0">
                <a:latin typeface="Times New Roman" panose="02020603050405020304" pitchFamily="18" charset="0"/>
                <a:cs typeface="Times New Roman" panose="02020603050405020304" pitchFamily="18" charset="0"/>
              </a:rPr>
              <a:t>Structured design emphasis that these modules be well organized in order to achieve precise solution.</a:t>
            </a:r>
          </a:p>
          <a:p>
            <a:pPr algn="just"/>
            <a:r>
              <a:rPr lang="en-US" dirty="0">
                <a:latin typeface="Times New Roman" panose="02020603050405020304" pitchFamily="18" charset="0"/>
                <a:cs typeface="Times New Roman" panose="02020603050405020304" pitchFamily="18" charset="0"/>
              </a:rPr>
              <a:t>These modules are arranged in hierarchy. </a:t>
            </a:r>
          </a:p>
          <a:p>
            <a:pPr algn="just"/>
            <a:r>
              <a:rPr lang="en-US" dirty="0">
                <a:latin typeface="Times New Roman" panose="02020603050405020304" pitchFamily="18" charset="0"/>
                <a:cs typeface="Times New Roman" panose="02020603050405020304" pitchFamily="18" charset="0"/>
              </a:rPr>
              <a:t>They communicate with each other. A good structured design always follows some rules for communication among multiple modules, namely -</a:t>
            </a:r>
          </a:p>
          <a:p>
            <a:pPr algn="just"/>
            <a:r>
              <a:rPr lang="en-US" b="1" dirty="0">
                <a:latin typeface="Times New Roman" panose="02020603050405020304" pitchFamily="18" charset="0"/>
                <a:cs typeface="Times New Roman" panose="02020603050405020304" pitchFamily="18" charset="0"/>
              </a:rPr>
              <a:t>Cohesion</a:t>
            </a:r>
            <a:r>
              <a:rPr lang="en-US" dirty="0">
                <a:latin typeface="Times New Roman" panose="02020603050405020304" pitchFamily="18" charset="0"/>
                <a:cs typeface="Times New Roman" panose="02020603050405020304" pitchFamily="18" charset="0"/>
              </a:rPr>
              <a:t> - grouping of all functionally related elements.</a:t>
            </a:r>
          </a:p>
          <a:p>
            <a:pPr algn="just"/>
            <a:r>
              <a:rPr lang="en-US" b="1" dirty="0">
                <a:latin typeface="Times New Roman" panose="02020603050405020304" pitchFamily="18" charset="0"/>
                <a:cs typeface="Times New Roman" panose="02020603050405020304" pitchFamily="18" charset="0"/>
              </a:rPr>
              <a:t>Coupling</a:t>
            </a:r>
            <a:r>
              <a:rPr lang="en-US" dirty="0">
                <a:latin typeface="Times New Roman" panose="02020603050405020304" pitchFamily="18" charset="0"/>
                <a:cs typeface="Times New Roman" panose="02020603050405020304" pitchFamily="18" charset="0"/>
              </a:rPr>
              <a:t> - communication between different modules.</a:t>
            </a:r>
          </a:p>
          <a:p>
            <a:pPr algn="just"/>
            <a:r>
              <a:rPr lang="en-US" dirty="0">
                <a:latin typeface="Times New Roman" panose="02020603050405020304" pitchFamily="18" charset="0"/>
                <a:cs typeface="Times New Roman" panose="02020603050405020304" pitchFamily="18" charset="0"/>
              </a:rPr>
              <a:t>A good structured design has high cohesion and low coupling arrangements.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8954964A-4E95-7927-0C68-47D289A9BA9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Function Oriented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function-oriented design, the system is comprised of many smaller sub-systems known as functions. </a:t>
            </a:r>
          </a:p>
          <a:p>
            <a:pPr algn="just"/>
            <a:r>
              <a:rPr lang="en-US" dirty="0">
                <a:latin typeface="Times New Roman" panose="02020603050405020304" pitchFamily="18" charset="0"/>
                <a:cs typeface="Times New Roman" panose="02020603050405020304" pitchFamily="18" charset="0"/>
              </a:rPr>
              <a:t>These functions are capable of performing significant task in the system.</a:t>
            </a:r>
          </a:p>
          <a:p>
            <a:pPr algn="just"/>
            <a:r>
              <a:rPr lang="en-US" dirty="0">
                <a:latin typeface="Times New Roman" panose="02020603050405020304" pitchFamily="18" charset="0"/>
                <a:cs typeface="Times New Roman" panose="02020603050405020304" pitchFamily="18" charset="0"/>
              </a:rPr>
              <a:t> The system is considered as top view of all functions.</a:t>
            </a:r>
          </a:p>
          <a:p>
            <a:pPr algn="just"/>
            <a:r>
              <a:rPr lang="en-US" dirty="0">
                <a:latin typeface="Times New Roman" panose="02020603050405020304" pitchFamily="18" charset="0"/>
                <a:cs typeface="Times New Roman" panose="02020603050405020304" pitchFamily="18" charset="0"/>
              </a:rPr>
              <a:t>Function oriented design inherits some properties of structured design where divide and conquer methodology is used.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318641D6-C07A-A4DE-A114-3DB2268F511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Function Oriented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This design mechanism divides the whole system into smaller functions, which provides means of abstraction by concealing the information and their operation.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These functional modules can share information among themselves by means of information passing and using information available globally.</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5B189B2E-4390-3E99-6AEC-FC15A6668BF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Function Oriented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Another characteristic of functions is that when a program calls a function, the function changes the state of the program, which sometimes is not acceptable by other modules.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Function oriented design works well where the system state does not matter and program/functions work on input rather than on a state.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83C37F16-C9D2-BF9B-69CC-4063770625F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Design Process</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whole system is seen as how data flows in the system by means of data flow diagram.</a:t>
            </a:r>
          </a:p>
          <a:p>
            <a:pPr algn="just"/>
            <a:r>
              <a:rPr lang="en-US" dirty="0">
                <a:latin typeface="Times New Roman" panose="02020603050405020304" pitchFamily="18" charset="0"/>
                <a:cs typeface="Times New Roman" panose="02020603050405020304" pitchFamily="18" charset="0"/>
              </a:rPr>
              <a:t>DFD depicts how functions changes data and state of entire system.</a:t>
            </a:r>
          </a:p>
          <a:p>
            <a:pPr algn="just"/>
            <a:r>
              <a:rPr lang="en-US" dirty="0">
                <a:latin typeface="Times New Roman" panose="02020603050405020304" pitchFamily="18" charset="0"/>
                <a:cs typeface="Times New Roman" panose="02020603050405020304" pitchFamily="18" charset="0"/>
              </a:rPr>
              <a:t>The entire system is logically broken down into smaller units known as functions on the basis of their operation in the system.</a:t>
            </a:r>
          </a:p>
          <a:p>
            <a:pPr algn="just"/>
            <a:r>
              <a:rPr lang="en-US" dirty="0">
                <a:latin typeface="Times New Roman" panose="02020603050405020304" pitchFamily="18" charset="0"/>
                <a:cs typeface="Times New Roman" panose="02020603050405020304" pitchFamily="18" charset="0"/>
              </a:rPr>
              <a:t>Each function is then described at large.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D059EF0A-1F54-4FDE-6FF4-D41052FE064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Object Oriented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Object oriented design works around the entities and their characteristics instead of functions involved in the software system.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design strategies focuses on entities and its characteristics.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whole concept of software solution revolves around the engaged entities.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D80FC247-1812-A27B-01EC-BD2BD2AC3AC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Object Oriented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Let us see the important concepts of Object Oriented Design:</a:t>
            </a:r>
          </a:p>
          <a:p>
            <a:pPr algn="just"/>
            <a:r>
              <a:rPr lang="en-US" b="1" dirty="0">
                <a:latin typeface="Times New Roman" panose="02020603050405020304" pitchFamily="18" charset="0"/>
                <a:cs typeface="Times New Roman" panose="02020603050405020304" pitchFamily="18" charset="0"/>
              </a:rPr>
              <a:t>Objects - </a:t>
            </a:r>
            <a:r>
              <a:rPr lang="en-US" dirty="0">
                <a:latin typeface="Times New Roman" panose="02020603050405020304" pitchFamily="18" charset="0"/>
                <a:cs typeface="Times New Roman" panose="02020603050405020304" pitchFamily="18" charset="0"/>
              </a:rPr>
              <a:t>All entities involved in the solution design are known as objects. For example, person, banks, company and customers are treated as objects. Every entity has some attributes associated to it and has some methods to perform on the attributes.</a:t>
            </a:r>
          </a:p>
          <a:p>
            <a:pPr algn="just"/>
            <a:r>
              <a:rPr lang="en-US" b="1" dirty="0">
                <a:latin typeface="Times New Roman" panose="02020603050405020304" pitchFamily="18" charset="0"/>
                <a:cs typeface="Times New Roman" panose="02020603050405020304" pitchFamily="18" charset="0"/>
              </a:rPr>
              <a:t>Classes - </a:t>
            </a:r>
            <a:r>
              <a:rPr lang="en-US" dirty="0">
                <a:latin typeface="Times New Roman" panose="02020603050405020304" pitchFamily="18" charset="0"/>
                <a:cs typeface="Times New Roman" panose="02020603050405020304" pitchFamily="18" charset="0"/>
              </a:rPr>
              <a:t>A class is a generalized description of an object. An object is an instance of a class. Class defines all the attributes, which an object can have and methods, which defines the functionality of the object.</a:t>
            </a:r>
          </a:p>
          <a:p>
            <a:pPr algn="just"/>
            <a:r>
              <a:rPr lang="en-US" dirty="0">
                <a:latin typeface="Times New Roman" panose="02020603050405020304" pitchFamily="18" charset="0"/>
                <a:cs typeface="Times New Roman" panose="02020603050405020304" pitchFamily="18" charset="0"/>
              </a:rPr>
              <a:t>In the solution design, attributes are stored as variables and functionalities are defined by means of methods or procedures.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F70F4475-FDC9-DC28-54C3-D61B810F920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5158"/>
            <a:ext cx="10515600" cy="765530"/>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Object Oriented Design</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Encapsulation - </a:t>
            </a:r>
            <a:r>
              <a:rPr lang="en-US" dirty="0">
                <a:latin typeface="Times New Roman" panose="02020603050405020304" pitchFamily="18" charset="0"/>
                <a:cs typeface="Times New Roman" panose="02020603050405020304" pitchFamily="18" charset="0"/>
              </a:rPr>
              <a:t>In OOD, the attributes (data variables) and methods (operation on the data) are bundled together is called encapsulation. Encapsulation not only bundles important information of an object together, but also restricts access of the data and methods from the outside world. This is called information hiding.</a:t>
            </a:r>
          </a:p>
          <a:p>
            <a:pPr algn="just"/>
            <a:r>
              <a:rPr lang="en-US" b="1" dirty="0">
                <a:latin typeface="Times New Roman" panose="02020603050405020304" pitchFamily="18" charset="0"/>
                <a:cs typeface="Times New Roman" panose="02020603050405020304" pitchFamily="18" charset="0"/>
              </a:rPr>
              <a:t>Inheritance - </a:t>
            </a:r>
            <a:r>
              <a:rPr lang="en-US" dirty="0">
                <a:latin typeface="Times New Roman" panose="02020603050405020304" pitchFamily="18" charset="0"/>
                <a:cs typeface="Times New Roman" panose="02020603050405020304" pitchFamily="18" charset="0"/>
              </a:rPr>
              <a:t>OOD allows similar classes to stack up in hierarchical manner where the lower or sub-classes can import, implement and re-use allowed variables and methods from their immediate super classes. This property of OOD is known as inheritance. This makes it easier to define specific class and to create generalized classes from specific ones.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C8BB28E9-59D6-D475-5B39-E4A8C74F5FF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Object Oriented Design</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Polymorphism - </a:t>
            </a:r>
            <a:r>
              <a:rPr lang="en-US" dirty="0">
                <a:latin typeface="Times New Roman" panose="02020603050405020304" pitchFamily="18" charset="0"/>
                <a:cs typeface="Times New Roman" panose="02020603050405020304" pitchFamily="18" charset="0"/>
              </a:rPr>
              <a:t>OOD languages provide a mechanism where methods performing similar tasks but vary in arguments, can be assigned same name. </a:t>
            </a:r>
          </a:p>
          <a:p>
            <a:r>
              <a:rPr lang="en-US" dirty="0">
                <a:latin typeface="Times New Roman" panose="02020603050405020304" pitchFamily="18" charset="0"/>
                <a:cs typeface="Times New Roman" panose="02020603050405020304" pitchFamily="18" charset="0"/>
              </a:rPr>
              <a:t>This is called polymorphism, which allows a single interface performing tasks for different types.</a:t>
            </a:r>
          </a:p>
          <a:p>
            <a:r>
              <a:rPr lang="en-US" dirty="0">
                <a:latin typeface="Times New Roman" panose="02020603050405020304" pitchFamily="18" charset="0"/>
                <a:cs typeface="Times New Roman" panose="02020603050405020304" pitchFamily="18" charset="0"/>
              </a:rPr>
              <a:t> Depending upon how the function is invoked, respective portion of the code gets executed.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6547142E-3B7A-3400-ECB0-1EC298F3E19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Design Process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Software design process can be perceived as series of well-defined steps. Though it varies according to design approach (function oriented or object oriented, yet It may have the following steps involved:</a:t>
            </a:r>
          </a:p>
          <a:p>
            <a:pPr algn="just"/>
            <a:r>
              <a:rPr lang="en-US" dirty="0">
                <a:latin typeface="Times New Roman" panose="02020603050405020304" pitchFamily="18" charset="0"/>
                <a:cs typeface="Times New Roman" panose="02020603050405020304" pitchFamily="18" charset="0"/>
              </a:rPr>
              <a:t>A solution design is created from requirement or previous used system and/or system sequence diagram.</a:t>
            </a:r>
          </a:p>
          <a:p>
            <a:pPr algn="just"/>
            <a:r>
              <a:rPr lang="en-US" dirty="0">
                <a:latin typeface="Times New Roman" panose="02020603050405020304" pitchFamily="18" charset="0"/>
                <a:cs typeface="Times New Roman" panose="02020603050405020304" pitchFamily="18" charset="0"/>
              </a:rPr>
              <a:t>Objects are identified and grouped into classes on behalf of similarity in attribute characteristics.</a:t>
            </a:r>
          </a:p>
          <a:p>
            <a:pPr algn="just"/>
            <a:r>
              <a:rPr lang="en-US" dirty="0">
                <a:latin typeface="Times New Roman" panose="02020603050405020304" pitchFamily="18" charset="0"/>
                <a:cs typeface="Times New Roman" panose="02020603050405020304" pitchFamily="18" charset="0"/>
              </a:rPr>
              <a:t>Class hierarchy and relation among them is defined.</a:t>
            </a:r>
          </a:p>
          <a:p>
            <a:pPr algn="just"/>
            <a:r>
              <a:rPr lang="en-US" dirty="0">
                <a:latin typeface="Times New Roman" panose="02020603050405020304" pitchFamily="18" charset="0"/>
                <a:cs typeface="Times New Roman" panose="02020603050405020304" pitchFamily="18" charset="0"/>
              </a:rPr>
              <a:t>Application framework is defined.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4561D70D-D7A4-96DD-2BEA-B7712EF5490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0762"/>
            <a:ext cx="10515600" cy="969926"/>
          </a:xfrm>
        </p:spPr>
        <p:txBody>
          <a:bodyPr>
            <a:normAutofit fontScale="90000"/>
          </a:bodyPr>
          <a:lstStyle/>
          <a:p>
            <a:pPr algn="ctr"/>
            <a:br>
              <a:rPr lang="en-US" sz="3600" dirty="0"/>
            </a:br>
            <a:r>
              <a:rPr lang="en-US" sz="3600" dirty="0"/>
              <a:t>Software Design Approaches</a:t>
            </a:r>
            <a:br>
              <a:rPr lang="en-US" dirty="0"/>
            </a:br>
            <a:endParaRPr lang="en-US" dirty="0"/>
          </a:p>
        </p:txBody>
      </p:sp>
      <p:sp>
        <p:nvSpPr>
          <p:cNvPr id="3" name="Content Placeholder 2"/>
          <p:cNvSpPr>
            <a:spLocks noGrp="1"/>
          </p:cNvSpPr>
          <p:nvPr>
            <p:ph idx="1"/>
          </p:nvPr>
        </p:nvSpPr>
        <p:spPr>
          <a:xfrm>
            <a:off x="838200" y="1387736"/>
            <a:ext cx="10515600" cy="4968614"/>
          </a:xfrm>
        </p:spPr>
        <p:txBody>
          <a:bodyPr>
            <a:normAutofit/>
          </a:bodyPr>
          <a:lstStyle/>
          <a:p>
            <a:pPr algn="just"/>
            <a:r>
              <a:rPr lang="en-US" dirty="0">
                <a:latin typeface="Times New Roman" panose="02020603050405020304" pitchFamily="18" charset="0"/>
                <a:cs typeface="Times New Roman" panose="02020603050405020304" pitchFamily="18" charset="0"/>
              </a:rPr>
              <a:t>Top Down Design</a:t>
            </a:r>
          </a:p>
          <a:p>
            <a:pPr algn="just"/>
            <a:r>
              <a:rPr lang="en-US" dirty="0">
                <a:latin typeface="Times New Roman" panose="02020603050405020304" pitchFamily="18" charset="0"/>
                <a:cs typeface="Times New Roman" panose="02020603050405020304" pitchFamily="18" charset="0"/>
              </a:rPr>
              <a:t>We know that a system is composed of more than one sub-systems and it contains a number of components.</a:t>
            </a:r>
          </a:p>
          <a:p>
            <a:pPr algn="just"/>
            <a:r>
              <a:rPr lang="en-US" dirty="0">
                <a:latin typeface="Times New Roman" panose="02020603050405020304" pitchFamily="18" charset="0"/>
                <a:cs typeface="Times New Roman" panose="02020603050405020304" pitchFamily="18" charset="0"/>
              </a:rPr>
              <a:t> Further, these sub-systems and components may have their on set of sub-system and components and creates hierarchical structure in the system.</a:t>
            </a:r>
          </a:p>
          <a:p>
            <a:pPr algn="just"/>
            <a:r>
              <a:rPr lang="en-US" dirty="0">
                <a:latin typeface="Times New Roman" panose="02020603050405020304" pitchFamily="18" charset="0"/>
                <a:cs typeface="Times New Roman" panose="02020603050405020304" pitchFamily="18" charset="0"/>
              </a:rPr>
              <a:t>Top-down design takes the whole software system as one entity and then decomposes it to achieve more than one sub-system or component based on some characteristics.</a:t>
            </a:r>
          </a:p>
          <a:p>
            <a:pPr algn="just"/>
            <a:r>
              <a:rPr lang="en-US" dirty="0">
                <a:latin typeface="Times New Roman" panose="02020603050405020304" pitchFamily="18" charset="0"/>
                <a:cs typeface="Times New Roman" panose="02020603050405020304" pitchFamily="18" charset="0"/>
              </a:rPr>
              <a:t> Each sub-system or component is then treated as a system and decomposed further.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a:bodyPr>
          <a:lstStyle/>
          <a:p>
            <a:pPr algn="ctr"/>
            <a:r>
              <a:rPr lang="en-US" sz="3600" dirty="0">
                <a:latin typeface="Times New Roman" panose="02020603050405020304" pitchFamily="18" charset="0"/>
                <a:cs typeface="Times New Roman" panose="02020603050405020304" pitchFamily="18" charset="0"/>
              </a:rPr>
              <a:t>Top Down Design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process keeps on running until the lowest level of system in the top-down hierarchy is achieved.</a:t>
            </a:r>
          </a:p>
          <a:p>
            <a:r>
              <a:rPr lang="en-US" dirty="0">
                <a:latin typeface="Times New Roman" panose="02020603050405020304" pitchFamily="18" charset="0"/>
                <a:cs typeface="Times New Roman" panose="02020603050405020304" pitchFamily="18" charset="0"/>
              </a:rPr>
              <a:t>Top-down design starts with a generalized model of system and keeps on defining the more specific part of it.</a:t>
            </a:r>
          </a:p>
          <a:p>
            <a:r>
              <a:rPr lang="en-US" dirty="0">
                <a:latin typeface="Times New Roman" panose="02020603050405020304" pitchFamily="18" charset="0"/>
                <a:cs typeface="Times New Roman" panose="02020603050405020304" pitchFamily="18" charset="0"/>
              </a:rPr>
              <a:t> When all components are composed the whole system comes into existence.</a:t>
            </a:r>
          </a:p>
          <a:p>
            <a:r>
              <a:rPr lang="en-US" dirty="0">
                <a:latin typeface="Times New Roman" panose="02020603050405020304" pitchFamily="18" charset="0"/>
                <a:cs typeface="Times New Roman" panose="02020603050405020304" pitchFamily="18" charset="0"/>
              </a:rPr>
              <a:t>Top-down design is more suitable when the software solution needs to be designed from scratch and specific details are unknown.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A3BFAD64-E5E6-F589-907A-7C010AC1B00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5662"/>
            <a:ext cx="10515600" cy="835026"/>
          </a:xfrm>
        </p:spPr>
        <p:txBody>
          <a:bodyPr>
            <a:normAutofit/>
          </a:bodyPr>
          <a:lstStyle/>
          <a:p>
            <a:pPr algn="ctr"/>
            <a:r>
              <a:rPr lang="en-US" sz="3600" dirty="0">
                <a:latin typeface="Times New Roman" panose="02020603050405020304" pitchFamily="18" charset="0"/>
                <a:cs typeface="Times New Roman" panose="02020603050405020304" pitchFamily="18" charset="0"/>
              </a:rPr>
              <a:t>Top Down Design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77826" name="Picture 2" descr="https://media.geeksforgeeks.org/wp-content/uploads/20190326161031/Untitled-document12.jpeg"/>
          <p:cNvPicPr>
            <a:picLocks noChangeAspect="1" noChangeArrowheads="1"/>
          </p:cNvPicPr>
          <p:nvPr/>
        </p:nvPicPr>
        <p:blipFill>
          <a:blip r:embed="rId2"/>
          <a:srcRect/>
          <a:stretch>
            <a:fillRect/>
          </a:stretch>
        </p:blipFill>
        <p:spPr bwMode="auto">
          <a:xfrm>
            <a:off x="1736725" y="1573212"/>
            <a:ext cx="8495256" cy="4065588"/>
          </a:xfrm>
          <a:prstGeom prst="rect">
            <a:avLst/>
          </a:prstGeom>
          <a:noFill/>
        </p:spPr>
      </p:pic>
      <p:sp>
        <p:nvSpPr>
          <p:cNvPr id="3" name="Footer Placeholder 9">
            <a:extLst>
              <a:ext uri="{FF2B5EF4-FFF2-40B4-BE49-F238E27FC236}">
                <a16:creationId xmlns:a16="http://schemas.microsoft.com/office/drawing/2014/main" id="{6CB4AD90-D98F-2061-BC50-4F90E936007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a:bodyPr>
          <a:lstStyle/>
          <a:p>
            <a:pPr algn="ctr"/>
            <a:r>
              <a:rPr lang="en-US" sz="3600" dirty="0">
                <a:latin typeface="Times New Roman" panose="02020603050405020304" pitchFamily="18" charset="0"/>
                <a:cs typeface="Times New Roman" panose="02020603050405020304" pitchFamily="18" charset="0"/>
              </a:rPr>
              <a:t>Top Down Design</a:t>
            </a:r>
          </a:p>
        </p:txBody>
      </p:sp>
      <p:sp>
        <p:nvSpPr>
          <p:cNvPr id="3" name="Content Placeholder 2"/>
          <p:cNvSpPr>
            <a:spLocks noGrp="1"/>
          </p:cNvSpPr>
          <p:nvPr>
            <p:ph idx="1"/>
          </p:nvPr>
        </p:nvSpPr>
        <p:spPr/>
        <p:txBody>
          <a:bodyPr>
            <a:normAutofit lnSpcReduction="10000"/>
          </a:bodyPr>
          <a:lstStyle/>
          <a:p>
            <a:pPr algn="just" fontAlgn="base"/>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The main advantage of top down approach is that its strong focus on requirements helps to make a design responsive according to its requirements.</a:t>
            </a:r>
          </a:p>
          <a:p>
            <a:pPr algn="just" fontAlgn="base"/>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Project and system boundaries tends to be application specification oriented. Thus it is more likely that advantages of component reuse will be missed.</a:t>
            </a:r>
          </a:p>
          <a:p>
            <a:pPr algn="just" fontAlgn="base"/>
            <a:r>
              <a:rPr lang="en-US" dirty="0">
                <a:latin typeface="Times New Roman" panose="02020603050405020304" pitchFamily="18" charset="0"/>
                <a:cs typeface="Times New Roman" panose="02020603050405020304" pitchFamily="18" charset="0"/>
              </a:rPr>
              <a:t>The system is likely to miss, the benefits of a well-structured, simple architecture.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87F35921-09FD-0671-DCC9-F0157480991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Bottom-up Design</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bottom up design model starts with most specific and basic components. </a:t>
            </a:r>
          </a:p>
          <a:p>
            <a:pPr algn="just"/>
            <a:r>
              <a:rPr lang="en-US" dirty="0">
                <a:latin typeface="Times New Roman" panose="02020603050405020304" pitchFamily="18" charset="0"/>
                <a:cs typeface="Times New Roman" panose="02020603050405020304" pitchFamily="18" charset="0"/>
              </a:rPr>
              <a:t>It proceeds with composing higher level of components by using basic or lower level components. </a:t>
            </a:r>
          </a:p>
          <a:p>
            <a:pPr algn="just"/>
            <a:r>
              <a:rPr lang="en-US" dirty="0">
                <a:latin typeface="Times New Roman" panose="02020603050405020304" pitchFamily="18" charset="0"/>
                <a:cs typeface="Times New Roman" panose="02020603050405020304" pitchFamily="18" charset="0"/>
              </a:rPr>
              <a:t>It keeps creating higher level components until the desired system is not evolved as one single component. </a:t>
            </a:r>
          </a:p>
          <a:p>
            <a:pPr algn="just"/>
            <a:r>
              <a:rPr lang="en-US" dirty="0">
                <a:latin typeface="Times New Roman" panose="02020603050405020304" pitchFamily="18" charset="0"/>
                <a:cs typeface="Times New Roman" panose="02020603050405020304" pitchFamily="18" charset="0"/>
              </a:rPr>
              <a:t>With each higher level, the amount of abstraction is increased.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E79154A4-A7EE-929B-D9A2-A7874655F18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Bottom-up Design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Bottom-up strategy is more suitable when a system needs to be created from some existing system, where the basic primitives can be used in the newer system.</a:t>
            </a:r>
          </a:p>
          <a:p>
            <a:pPr algn="just"/>
            <a:r>
              <a:rPr lang="en-US" dirty="0">
                <a:latin typeface="Times New Roman" panose="02020603050405020304" pitchFamily="18" charset="0"/>
                <a:cs typeface="Times New Roman" panose="02020603050405020304" pitchFamily="18" charset="0"/>
              </a:rPr>
              <a:t>Both, top-down and bottom-up approaches are not practical individually. Instead, a good combination of both is used.</a:t>
            </a:r>
          </a:p>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706692F9-792F-B3C2-BFC7-49F0F8FC6C1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3600"/>
            <a:ext cx="10515600" cy="827088"/>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Bottom-up Design</a:t>
            </a:r>
            <a:br>
              <a:rPr lang="en-US" dirty="0"/>
            </a:b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pic>
        <p:nvPicPr>
          <p:cNvPr id="72706" name="Picture 2" descr="https://media.geeksforgeeks.org/wp-content/uploads/20190326154349/Untitled-document10.jpeg"/>
          <p:cNvPicPr>
            <a:picLocks noChangeAspect="1" noChangeArrowheads="1"/>
          </p:cNvPicPr>
          <p:nvPr/>
        </p:nvPicPr>
        <p:blipFill>
          <a:blip r:embed="rId2"/>
          <a:srcRect/>
          <a:stretch>
            <a:fillRect/>
          </a:stretch>
        </p:blipFill>
        <p:spPr bwMode="auto">
          <a:xfrm>
            <a:off x="2193925" y="2671762"/>
            <a:ext cx="6562725" cy="2543176"/>
          </a:xfrm>
          <a:prstGeom prst="rect">
            <a:avLst/>
          </a:prstGeom>
          <a:noFill/>
        </p:spPr>
      </p:pic>
      <p:sp>
        <p:nvSpPr>
          <p:cNvPr id="5" name="Footer Placeholder 9">
            <a:extLst>
              <a:ext uri="{FF2B5EF4-FFF2-40B4-BE49-F238E27FC236}">
                <a16:creationId xmlns:a16="http://schemas.microsoft.com/office/drawing/2014/main" id="{177E3B26-D7DC-09A9-9847-A577363512B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Bottom-up Design</a:t>
            </a:r>
            <a:br>
              <a:rPr lang="en-US" dirty="0"/>
            </a:br>
            <a:endParaRPr lang="en-US" dirty="0"/>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The economics can result when general solutions can be reused.</a:t>
            </a:r>
          </a:p>
          <a:p>
            <a:pPr algn="just" fontAlgn="base"/>
            <a:r>
              <a:rPr lang="en-US" dirty="0">
                <a:latin typeface="Times New Roman" panose="02020603050405020304" pitchFamily="18" charset="0"/>
                <a:cs typeface="Times New Roman" panose="02020603050405020304" pitchFamily="18" charset="0"/>
              </a:rPr>
              <a:t>It can be used to hide the low-level details of implementation and be merged with top-down technique.</a:t>
            </a:r>
          </a:p>
          <a:p>
            <a:pPr algn="just" fontAlgn="base"/>
            <a:r>
              <a:rPr lang="en-US"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a:p>
            <a:pPr algn="just" fontAlgn="base"/>
            <a:r>
              <a:rPr lang="en-US" dirty="0">
                <a:latin typeface="Times New Roman" panose="02020603050405020304" pitchFamily="18" charset="0"/>
                <a:cs typeface="Times New Roman" panose="02020603050405020304" pitchFamily="18" charset="0"/>
              </a:rPr>
              <a:t>It is not so closely related to the structure of the problem.</a:t>
            </a:r>
          </a:p>
          <a:p>
            <a:pPr algn="just" fontAlgn="base"/>
            <a:r>
              <a:rPr lang="en-US" dirty="0">
                <a:latin typeface="Times New Roman" panose="02020603050405020304" pitchFamily="18" charset="0"/>
                <a:cs typeface="Times New Roman" panose="02020603050405020304" pitchFamily="18" charset="0"/>
              </a:rPr>
              <a:t>High quality bottom-up solutions are very hard to construct.</a:t>
            </a:r>
          </a:p>
          <a:p>
            <a:pPr algn="just" fontAlgn="base"/>
            <a:r>
              <a:rPr lang="en-US" dirty="0">
                <a:latin typeface="Times New Roman" panose="02020603050405020304" pitchFamily="18" charset="0"/>
                <a:cs typeface="Times New Roman" panose="02020603050405020304" pitchFamily="18" charset="0"/>
              </a:rPr>
              <a:t>It leads to proliferation of ‘potentially useful’ functions rather than most appropriate ones.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a:bodyPr>
          <a:lstStyle/>
          <a:p>
            <a:pPr algn="ctr"/>
            <a:r>
              <a:rPr lang="en-US" sz="3600" dirty="0">
                <a:latin typeface="Times New Roman" panose="02020603050405020304" pitchFamily="18" charset="0"/>
                <a:cs typeface="Times New Roman" panose="02020603050405020304" pitchFamily="18" charset="0"/>
              </a:rPr>
              <a:t>Hybrid Design</a:t>
            </a: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Hybrid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a combination of both the top – down and bottom – up design strategies. In this we can reuse the modules.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Footer Placeholder 9">
            <a:extLst>
              <a:ext uri="{FF2B5EF4-FFF2-40B4-BE49-F238E27FC236}">
                <a16:creationId xmlns:a16="http://schemas.microsoft.com/office/drawing/2014/main" id="{B31999A6-0653-01DA-8150-62BAACD2B87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https://www.tutorialspoint.com/software_engineering/software_design_basics.htm#:~:text=Software%20design%20is%20a%20process,in%20software%20coding%20and%20implementation.&amp;text=Software%20design%20is%20the%20first,problem%20domain%20to%20solution%20domain.</a:t>
            </a:r>
            <a:endParaRPr lang="en-US" dirty="0"/>
          </a:p>
          <a:p>
            <a:r>
              <a:rPr lang="en-US" dirty="0">
                <a:hlinkClick r:id="rId3"/>
              </a:rPr>
              <a:t>https://www.geeksforgeeks.org/software-engineering-software-design-process/</a:t>
            </a:r>
            <a:endParaRPr lang="en-US" dirty="0"/>
          </a:p>
          <a:p>
            <a:r>
              <a:rPr lang="en-US" dirty="0">
                <a:hlinkClick r:id="rId4"/>
              </a:rPr>
              <a:t>https://www.javatpoint.com/software-engineering-software-design</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3642"/>
            <a:ext cx="10515600" cy="7870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26</a:t>
            </a:fld>
            <a:endParaRPr lang="en-US"/>
          </a:p>
        </p:txBody>
      </p:sp>
      <p:sp>
        <p:nvSpPr>
          <p:cNvPr id="2" name="Footer Placeholder 9">
            <a:extLst>
              <a:ext uri="{FF2B5EF4-FFF2-40B4-BE49-F238E27FC236}">
                <a16:creationId xmlns:a16="http://schemas.microsoft.com/office/drawing/2014/main" id="{679055AF-EF6B-1610-8D1B-A6878F8B63C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27</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18DE15C2-69F4-4C8A-9619-96767D5AC0D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1625</TotalTime>
  <Words>1951</Words>
  <Application>Microsoft Macintosh PowerPoint</Application>
  <PresentationFormat>Widescreen</PresentationFormat>
  <Paragraphs>175</Paragraphs>
  <Slides>27</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6"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Chapter-4 Software Design</vt:lpstr>
      <vt:lpstr>Software Design</vt:lpstr>
      <vt:lpstr>Software Design</vt:lpstr>
      <vt:lpstr> Importance  </vt:lpstr>
      <vt:lpstr> Structured Design </vt:lpstr>
      <vt:lpstr>Structured Design </vt:lpstr>
      <vt:lpstr> Function Oriented Design </vt:lpstr>
      <vt:lpstr> Function Oriented Design </vt:lpstr>
      <vt:lpstr> Function Oriented Design </vt:lpstr>
      <vt:lpstr> Design Process </vt:lpstr>
      <vt:lpstr> Object Oriented Design </vt:lpstr>
      <vt:lpstr> Object Oriented Design </vt:lpstr>
      <vt:lpstr> Object Oriented Design </vt:lpstr>
      <vt:lpstr> Object Oriented Design </vt:lpstr>
      <vt:lpstr> Design Process </vt:lpstr>
      <vt:lpstr> Software Design Approaches </vt:lpstr>
      <vt:lpstr>Top Down Design</vt:lpstr>
      <vt:lpstr>Top Down Design</vt:lpstr>
      <vt:lpstr>Top Down Design</vt:lpstr>
      <vt:lpstr> Bottom-up Design </vt:lpstr>
      <vt:lpstr> Bottom-up Design </vt:lpstr>
      <vt:lpstr> Bottom-up Design </vt:lpstr>
      <vt:lpstr> Bottom-up Design </vt:lpstr>
      <vt:lpstr>Hybrid Design</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229</cp:revision>
  <dcterms:created xsi:type="dcterms:W3CDTF">2019-01-09T10:33:58Z</dcterms:created>
  <dcterms:modified xsi:type="dcterms:W3CDTF">2024-12-12T07:17:25Z</dcterms:modified>
</cp:coreProperties>
</file>