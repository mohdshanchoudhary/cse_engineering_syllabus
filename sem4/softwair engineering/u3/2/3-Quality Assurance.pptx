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6"/>
  </p:notesMasterIdLst>
  <p:handoutMasterIdLst>
    <p:handoutMasterId r:id="rId27"/>
  </p:handoutMasterIdLst>
  <p:sldIdLst>
    <p:sldId id="662" r:id="rId3"/>
    <p:sldId id="280" r:id="rId4"/>
    <p:sldId id="327" r:id="rId5"/>
    <p:sldId id="341" r:id="rId6"/>
    <p:sldId id="340" r:id="rId7"/>
    <p:sldId id="339" r:id="rId8"/>
    <p:sldId id="342" r:id="rId9"/>
    <p:sldId id="338" r:id="rId10"/>
    <p:sldId id="343" r:id="rId11"/>
    <p:sldId id="337" r:id="rId12"/>
    <p:sldId id="344" r:id="rId13"/>
    <p:sldId id="336" r:id="rId14"/>
    <p:sldId id="345" r:id="rId15"/>
    <p:sldId id="335" r:id="rId16"/>
    <p:sldId id="334" r:id="rId17"/>
    <p:sldId id="333" r:id="rId18"/>
    <p:sldId id="346" r:id="rId19"/>
    <p:sldId id="332" r:id="rId20"/>
    <p:sldId id="347" r:id="rId21"/>
    <p:sldId id="331" r:id="rId22"/>
    <p:sldId id="330" r:id="rId23"/>
    <p:sldId id="326"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E9C910F0-92BC-604C-0640-E4ED24024B3A}"/>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E1436A43-2FDE-2CF5-1953-13DB10B08731}"/>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DCD4D6CC-FB4A-A34A-D06C-7C4B667E8478}"/>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javatpoint.com/software-quality-assurance" TargetMode="External"/><Relationship Id="rId2" Type="http://schemas.openxmlformats.org/officeDocument/2006/relationships/hyperlink" Target="https://www.tutorialspoint.com/software_quality_management/software_quality_management_sqa_components.htm" TargetMode="External"/><Relationship Id="rId1" Type="http://schemas.openxmlformats.org/officeDocument/2006/relationships/slideLayout" Target="../slideLayouts/slideLayout2.xml"/><Relationship Id="rId4" Type="http://schemas.openxmlformats.org/officeDocument/2006/relationships/hyperlink" Target="https://www.guru99.com/software-quality-assurance-test-audit-review-makes-your-life-easy.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Quality Management</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5007"/>
            <a:ext cx="10515600" cy="1120944"/>
          </a:xfrm>
        </p:spPr>
        <p:txBody>
          <a:bodyPr>
            <a:noAutofit/>
          </a:bodyPr>
          <a:lstStyle/>
          <a:p>
            <a:pPr algn="ctr"/>
            <a:r>
              <a:rPr lang="en-US" sz="3600" dirty="0">
                <a:latin typeface="Times New Roman" panose="02020603050405020304" pitchFamily="18" charset="0"/>
                <a:cs typeface="Times New Roman" pitchFamily="18" charset="0"/>
              </a:rPr>
              <a:t>Chapter-8</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itchFamily="18" charset="0"/>
              </a:rPr>
              <a:t>Quality Management</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190713"/>
            <a:ext cx="10515600" cy="3986249"/>
          </a:xfrm>
        </p:spPr>
        <p:txBody>
          <a:bodyPr>
            <a:normAutofit/>
          </a:bodyPr>
          <a:lstStyle/>
          <a:p>
            <a:pPr>
              <a:lnSpc>
                <a:spcPct val="150000"/>
              </a:lnSpc>
            </a:pPr>
            <a:r>
              <a:rPr lang="en-US" sz="2400" dirty="0">
                <a:latin typeface="Times New Roman" pitchFamily="18" charset="0"/>
                <a:cs typeface="Times New Roman" pitchFamily="18" charset="0"/>
              </a:rPr>
              <a:t>SQA</a:t>
            </a:r>
          </a:p>
        </p:txBody>
      </p:sp>
      <p:sp>
        <p:nvSpPr>
          <p:cNvPr id="5" name="Rectangle 4"/>
          <p:cNvSpPr/>
          <p:nvPr/>
        </p:nvSpPr>
        <p:spPr>
          <a:xfrm>
            <a:off x="838200" y="2205318"/>
            <a:ext cx="10515600" cy="396688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903641"/>
            <a:ext cx="10515600" cy="1282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8" name="Footer Placeholder 9">
            <a:extLst>
              <a:ext uri="{FF2B5EF4-FFF2-40B4-BE49-F238E27FC236}">
                <a16:creationId xmlns:a16="http://schemas.microsoft.com/office/drawing/2014/main" id="{D8A99EF0-7ED9-79D8-5F5C-6A866F1E199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normAutofit/>
          </a:bodyPr>
          <a:lstStyle/>
          <a:p>
            <a:r>
              <a:rPr lang="en-US" sz="3600" dirty="0">
                <a:latin typeface="Times New Roman" panose="02020603050405020304" pitchFamily="18" charset="0"/>
                <a:cs typeface="Times New Roman" panose="02020603050405020304" pitchFamily="18" charset="0"/>
              </a:rPr>
              <a:t>SQA</a:t>
            </a:r>
          </a:p>
        </p:txBody>
      </p:sp>
      <p:sp>
        <p:nvSpPr>
          <p:cNvPr id="3" name="Content Placeholder 2"/>
          <p:cNvSpPr>
            <a:spLocks noGrp="1"/>
          </p:cNvSpPr>
          <p:nvPr>
            <p:ph idx="1"/>
          </p:nvPr>
        </p:nvSpPr>
        <p:spPr/>
        <p:txBody>
          <a:bodyPr/>
          <a:lstStyle/>
          <a:p>
            <a:endParaRPr lang="en-US" dirty="0"/>
          </a:p>
          <a:p>
            <a:r>
              <a:rPr lang="en-US" dirty="0">
                <a:latin typeface="Times New Roman" panose="02020603050405020304" pitchFamily="18" charset="0"/>
                <a:cs typeface="Times New Roman" panose="02020603050405020304" pitchFamily="18" charset="0"/>
              </a:rPr>
              <a:t>Software quality assurance is a planned and systematic plan of all actions necessary to provide adequate confidence that an item or product conforms to establish technical requirements.</a:t>
            </a:r>
          </a:p>
          <a:p>
            <a:pPr>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set of activities designed to calculate the process by which the products are developed or manufactured.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Footer Placeholder 9">
            <a:extLst>
              <a:ext uri="{FF2B5EF4-FFF2-40B4-BE49-F238E27FC236}">
                <a16:creationId xmlns:a16="http://schemas.microsoft.com/office/drawing/2014/main" id="{7D8CF529-DE3B-1CE6-897B-DB435B0B9DA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SQA Encompasses</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quality management approach</a:t>
            </a:r>
          </a:p>
          <a:p>
            <a:r>
              <a:rPr lang="en-US" dirty="0">
                <a:latin typeface="Times New Roman" panose="02020603050405020304" pitchFamily="18" charset="0"/>
                <a:cs typeface="Times New Roman" panose="02020603050405020304" pitchFamily="18" charset="0"/>
              </a:rPr>
              <a:t>Effective Software engineering technology (methods and tools)</a:t>
            </a:r>
          </a:p>
          <a:p>
            <a:r>
              <a:rPr lang="en-US" dirty="0">
                <a:latin typeface="Times New Roman" panose="02020603050405020304" pitchFamily="18" charset="0"/>
                <a:cs typeface="Times New Roman" panose="02020603050405020304" pitchFamily="18" charset="0"/>
              </a:rPr>
              <a:t>Formal technical reviews that are tested throughout the software process</a:t>
            </a:r>
          </a:p>
          <a:p>
            <a:r>
              <a:rPr lang="en-US" dirty="0">
                <a:latin typeface="Times New Roman" panose="02020603050405020304" pitchFamily="18" charset="0"/>
                <a:cs typeface="Times New Roman" panose="02020603050405020304" pitchFamily="18" charset="0"/>
              </a:rPr>
              <a:t>A multitier testing strategy</a:t>
            </a:r>
          </a:p>
          <a:p>
            <a:r>
              <a:rPr lang="en-US" dirty="0">
                <a:latin typeface="Times New Roman" panose="02020603050405020304" pitchFamily="18" charset="0"/>
                <a:cs typeface="Times New Roman" panose="02020603050405020304" pitchFamily="18" charset="0"/>
              </a:rPr>
              <a:t>Control of software documentation and the changes made to it.</a:t>
            </a:r>
          </a:p>
          <a:p>
            <a:r>
              <a:rPr lang="en-US" dirty="0">
                <a:latin typeface="Times New Roman" panose="02020603050405020304" pitchFamily="18" charset="0"/>
                <a:cs typeface="Times New Roman" panose="02020603050405020304" pitchFamily="18" charset="0"/>
              </a:rPr>
              <a:t>A procedure to ensure compliances with software development standards</a:t>
            </a:r>
          </a:p>
          <a:p>
            <a:r>
              <a:rPr lang="en-US" dirty="0">
                <a:latin typeface="Times New Roman" panose="02020603050405020304" pitchFamily="18" charset="0"/>
                <a:cs typeface="Times New Roman" panose="02020603050405020304" pitchFamily="18" charset="0"/>
              </a:rPr>
              <a:t>Measuring and reporting mechanisms.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A69DCD33-A9E5-DD6E-307D-48239DCC175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SQA Activities</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Software quality assurance is composed of a variety of functions associated with two different constituencies ?</a:t>
            </a:r>
          </a:p>
          <a:p>
            <a:pPr>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software engineers who do technical work and an SQA group that has responsibility for quality assurance planning, record keeping, analysis, and reporting.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D25FE609-67ED-CAD6-6595-7BE60B93231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r>
              <a:rPr lang="en-US" sz="3600" dirty="0">
                <a:latin typeface="Times New Roman" panose="02020603050405020304" pitchFamily="18" charset="0"/>
                <a:cs typeface="Times New Roman" panose="02020603050405020304" pitchFamily="18" charset="0"/>
              </a:rPr>
              <a:t>Activities of SQA</a:t>
            </a: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Following activities are performed by an independent SQA group:</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Prepares an SQA plan for a project:</a:t>
            </a:r>
            <a:r>
              <a:rPr lang="en-US" dirty="0">
                <a:latin typeface="Times New Roman" panose="02020603050405020304" pitchFamily="18" charset="0"/>
                <a:cs typeface="Times New Roman" panose="02020603050405020304" pitchFamily="18" charset="0"/>
              </a:rPr>
              <a:t> The program is developed during project planning and is reviewed by all stakeholders. </a:t>
            </a:r>
          </a:p>
          <a:p>
            <a:pPr algn="just"/>
            <a:r>
              <a:rPr lang="en-US" dirty="0">
                <a:latin typeface="Times New Roman" panose="02020603050405020304" pitchFamily="18" charset="0"/>
                <a:cs typeface="Times New Roman" panose="02020603050405020304" pitchFamily="18" charset="0"/>
              </a:rPr>
              <a:t>The plan governs quality assurance activities performed by the software engineering team and the SQA group. </a:t>
            </a:r>
          </a:p>
          <a:p>
            <a:pPr algn="just"/>
            <a:r>
              <a:rPr lang="en-US" dirty="0">
                <a:latin typeface="Times New Roman" panose="02020603050405020304" pitchFamily="18" charset="0"/>
                <a:cs typeface="Times New Roman" panose="02020603050405020304" pitchFamily="18" charset="0"/>
              </a:rPr>
              <a:t>The plan identifies calculation to be performed, audits and reviews to be performed, standards that apply to the project, techniques for error reporting and tracking, documents to be produced by the SQA team, and amount of feedback provided to the software project team.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144557CE-F60B-6DD5-570E-FF29A984804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a:bodyPr>
          <a:lstStyle/>
          <a:p>
            <a:r>
              <a:rPr lang="en-US" sz="3600" dirty="0">
                <a:latin typeface="Times New Roman" panose="02020603050405020304" pitchFamily="18" charset="0"/>
                <a:cs typeface="Times New Roman" panose="02020603050405020304" pitchFamily="18" charset="0"/>
              </a:rPr>
              <a:t>Activities of SQA</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Participates in the development of the project's software process description:</a:t>
            </a:r>
            <a:r>
              <a:rPr lang="en-US" dirty="0">
                <a:latin typeface="Times New Roman" panose="02020603050405020304" pitchFamily="18" charset="0"/>
                <a:cs typeface="Times New Roman" panose="02020603050405020304" pitchFamily="18" charset="0"/>
              </a:rPr>
              <a:t> The software team selects a process for the work to be performed. </a:t>
            </a:r>
          </a:p>
          <a:p>
            <a:pPr algn="just"/>
            <a:r>
              <a:rPr lang="en-US" dirty="0">
                <a:latin typeface="Times New Roman" panose="02020603050405020304" pitchFamily="18" charset="0"/>
                <a:cs typeface="Times New Roman" panose="02020603050405020304" pitchFamily="18" charset="0"/>
              </a:rPr>
              <a:t>The SQA group reviews the process description for compliance with organizational policy, internal software standards, externally imposed standards (e.g. ISO-9001), and other parts of the software project plan.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251A3428-9335-CA3F-8D35-BF3FD254FCA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a:bodyPr>
          <a:lstStyle/>
          <a:p>
            <a:r>
              <a:rPr lang="en-US" sz="3600" dirty="0">
                <a:latin typeface="Times New Roman" panose="02020603050405020304" pitchFamily="18" charset="0"/>
                <a:cs typeface="Times New Roman" panose="02020603050405020304" pitchFamily="18" charset="0"/>
              </a:rPr>
              <a:t>Activities of SQA</a:t>
            </a: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Reviews software engineering activities to verify compliance with the defined software process:</a:t>
            </a:r>
            <a:r>
              <a:rPr lang="en-US" dirty="0">
                <a:latin typeface="Times New Roman" panose="02020603050405020304" pitchFamily="18" charset="0"/>
                <a:cs typeface="Times New Roman" panose="02020603050405020304" pitchFamily="18" charset="0"/>
              </a:rPr>
              <a:t> The SQA group identifies, reports, and tracks deviations from the process and verifies that corrections have been made.</a:t>
            </a:r>
          </a:p>
          <a:p>
            <a:pPr algn="just"/>
            <a:r>
              <a:rPr lang="en-US" b="1" dirty="0">
                <a:latin typeface="Times New Roman" panose="02020603050405020304" pitchFamily="18" charset="0"/>
                <a:cs typeface="Times New Roman" panose="02020603050405020304" pitchFamily="18" charset="0"/>
              </a:rPr>
              <a:t>Audits designated software work products to verify compliance with those defined as a part of the software process:</a:t>
            </a:r>
            <a:r>
              <a:rPr lang="en-US" dirty="0">
                <a:latin typeface="Times New Roman" panose="02020603050405020304" pitchFamily="18" charset="0"/>
                <a:cs typeface="Times New Roman" panose="02020603050405020304" pitchFamily="18" charset="0"/>
              </a:rPr>
              <a:t> The SQA group reviews selected work products, identifies, documents and tracks deviations, verify that corrections have been made, and periodically reports the results of its work to the project manager.</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C302D574-C927-55DD-1D10-E99BDEADD24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dirty="0">
                <a:latin typeface="Times New Roman" panose="02020603050405020304" pitchFamily="18" charset="0"/>
                <a:cs typeface="Times New Roman" panose="02020603050405020304" pitchFamily="18" charset="0"/>
              </a:rPr>
              <a:t>Activities of SQA</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Ensures that deviations in software work and work products are documented and handled according to a documented procedure:</a:t>
            </a:r>
            <a:r>
              <a:rPr lang="en-US" dirty="0">
                <a:latin typeface="Times New Roman" panose="02020603050405020304" pitchFamily="18" charset="0"/>
                <a:cs typeface="Times New Roman" panose="02020603050405020304" pitchFamily="18" charset="0"/>
              </a:rPr>
              <a:t> Deviations may be encountered in the project method, process description, applicable standards, or technical work products.</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Records any noncompliance and reports to senior management:</a:t>
            </a:r>
            <a:r>
              <a:rPr lang="en-US" dirty="0">
                <a:latin typeface="Times New Roman" panose="02020603050405020304" pitchFamily="18" charset="0"/>
                <a:cs typeface="Times New Roman" panose="02020603050405020304" pitchFamily="18" charset="0"/>
              </a:rPr>
              <a:t> Non- compliance items are tracked until they are resolved.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6CB07267-4097-F693-A473-541177B81CF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Components of SQA System</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An SQA system always combines a wide range of SQA components. These components can be classified into the following six classes −</a:t>
            </a:r>
          </a:p>
          <a:p>
            <a:pPr algn="just"/>
            <a:r>
              <a:rPr lang="en-US" b="1" dirty="0">
                <a:latin typeface="Times New Roman" panose="02020603050405020304" pitchFamily="18" charset="0"/>
                <a:cs typeface="Times New Roman" panose="02020603050405020304" pitchFamily="18" charset="0"/>
              </a:rPr>
              <a:t>Pre-project components</a:t>
            </a:r>
          </a:p>
          <a:p>
            <a:pPr algn="just"/>
            <a:r>
              <a:rPr lang="en-US" dirty="0">
                <a:latin typeface="Times New Roman" panose="02020603050405020304" pitchFamily="18" charset="0"/>
                <a:cs typeface="Times New Roman" panose="02020603050405020304" pitchFamily="18" charset="0"/>
              </a:rPr>
              <a:t>This assures that the project commitments have been clearly defined considering the resources required, the schedule and budget; and the development and quality plans have been correctly determined.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8B763609-2AD0-534D-5354-882D5CEE2E8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Components of SQA System</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Components of project life cycle activities assessment</a:t>
            </a:r>
          </a:p>
          <a:p>
            <a:pPr algn="just"/>
            <a:r>
              <a:rPr lang="en-US" dirty="0">
                <a:latin typeface="Times New Roman" panose="02020603050405020304" pitchFamily="18" charset="0"/>
                <a:cs typeface="Times New Roman" panose="02020603050405020304" pitchFamily="18" charset="0"/>
              </a:rPr>
              <a:t>The project life cycle is composed of two stages: the development life cycle stage and the operation–maintenance stage.</a:t>
            </a:r>
          </a:p>
          <a:p>
            <a:pPr algn="just"/>
            <a:r>
              <a:rPr lang="en-US" dirty="0">
                <a:latin typeface="Times New Roman" panose="02020603050405020304" pitchFamily="18" charset="0"/>
                <a:cs typeface="Times New Roman" panose="02020603050405020304" pitchFamily="18" charset="0"/>
              </a:rPr>
              <a:t>The development life cycle stage components detect design and programming errors. Its components are divided into the following sub-classes: Reviews, Expert opinions, and Software testing.</a:t>
            </a:r>
          </a:p>
          <a:p>
            <a:pPr algn="just"/>
            <a:r>
              <a:rPr lang="en-US" dirty="0">
                <a:latin typeface="Times New Roman" panose="02020603050405020304" pitchFamily="18" charset="0"/>
                <a:cs typeface="Times New Roman" panose="02020603050405020304" pitchFamily="18" charset="0"/>
              </a:rPr>
              <a:t>The SQA components used during the operation–maintenance phase include specialized maintenance components as well as development life cycle components, which are applied mainly for functionality to improve the maintenance tasks.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96873FF3-AE78-C9BE-790C-87F484E41B9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Components of SQA System</a:t>
            </a:r>
            <a:br>
              <a:rPr lang="en-US" dirty="0"/>
            </a:br>
            <a:endParaRPr lang="en-US" dirty="0"/>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Components of infrastructure error prevention and improvement</a:t>
            </a:r>
          </a:p>
          <a:p>
            <a:pPr algn="just"/>
            <a:r>
              <a:rPr lang="en-US" dirty="0">
                <a:latin typeface="Times New Roman" panose="02020603050405020304" pitchFamily="18" charset="0"/>
                <a:cs typeface="Times New Roman" panose="02020603050405020304" pitchFamily="18" charset="0"/>
              </a:rPr>
              <a:t>The main objective of these components, which is applied throughout the entire organization, is to eliminate or at least reduce the rate of errors, based on the organization’s accumulated SQA experience.</a:t>
            </a:r>
          </a:p>
          <a:p>
            <a:pPr algn="just"/>
            <a:r>
              <a:rPr lang="en-US" b="1" dirty="0">
                <a:latin typeface="Times New Roman" panose="02020603050405020304" pitchFamily="18" charset="0"/>
                <a:cs typeface="Times New Roman" panose="02020603050405020304" pitchFamily="18" charset="0"/>
              </a:rPr>
              <a:t>Components of software quality management</a:t>
            </a:r>
          </a:p>
          <a:p>
            <a:pPr algn="just"/>
            <a:r>
              <a:rPr lang="en-US" dirty="0">
                <a:latin typeface="Times New Roman" panose="02020603050405020304" pitchFamily="18" charset="0"/>
                <a:cs typeface="Times New Roman" panose="02020603050405020304" pitchFamily="18" charset="0"/>
              </a:rPr>
              <a:t>This class of components deal with several goals, such as the control of development and maintenance activities, and the introduction of early managerial support actions that mainly prevent or minimize schedule and budget failures and their outcomes.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542ADF52-E1FB-0A14-8826-3448F932C67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Components of SQA System</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Components of standardization, certification, and SQA system assessment</a:t>
            </a:r>
          </a:p>
          <a:p>
            <a:pPr algn="just"/>
            <a:r>
              <a:rPr lang="en-US" dirty="0">
                <a:latin typeface="Times New Roman" panose="02020603050405020304" pitchFamily="18" charset="0"/>
                <a:cs typeface="Times New Roman" panose="02020603050405020304" pitchFamily="18" charset="0"/>
              </a:rPr>
              <a:t>These components implement international professional and managerial standards within the organization. The main objectives of this class are utilization of international professional knowledge, improvement of coordination of the organizational quality systems with other organizations, and assessment of the achievements of quality systems according to a common scale. The various standards may be classified into two main groups: quality management standards and project process standards.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0E409606-026B-5AF5-F000-AB6670ADF29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Components of SQA System</a:t>
            </a:r>
            <a:br>
              <a:rPr lang="en-US" dirty="0"/>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Organizing for SQA – the human components</a:t>
            </a:r>
          </a:p>
          <a:p>
            <a:pPr algn="just"/>
            <a:r>
              <a:rPr lang="en-US" dirty="0">
                <a:latin typeface="Times New Roman" panose="02020603050405020304" pitchFamily="18" charset="0"/>
                <a:cs typeface="Times New Roman" panose="02020603050405020304" pitchFamily="18" charset="0"/>
              </a:rPr>
              <a:t>The SQA organizational base includes managers, testing personnel, the SQA unit and the persons interested in software quality such as SQA trustees, SQA committee members, and SQA forum members. Their main objectives are to initiate and support the implementation of SQA components, detect deviations from SQA procedures and methodology, and suggest improvements.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E0481F33-DA50-A576-2941-0D73D452505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Pre-project Software Quality Components</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These components help to improve the preliminary steps taken before starting a project. It includes −</a:t>
            </a:r>
          </a:p>
          <a:p>
            <a:r>
              <a:rPr lang="en-US" dirty="0">
                <a:latin typeface="Times New Roman" panose="02020603050405020304" pitchFamily="18" charset="0"/>
                <a:cs typeface="Times New Roman" panose="02020603050405020304" pitchFamily="18" charset="0"/>
              </a:rPr>
              <a:t>Contract Review</a:t>
            </a:r>
          </a:p>
          <a:p>
            <a:r>
              <a:rPr lang="en-US" dirty="0">
                <a:latin typeface="Times New Roman" panose="02020603050405020304" pitchFamily="18" charset="0"/>
                <a:cs typeface="Times New Roman" panose="02020603050405020304" pitchFamily="18" charset="0"/>
              </a:rPr>
              <a:t>Development and Quality Plans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02C2A5BD-260C-91D3-B5BE-60EDF91BCB7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dirty="0">
                <a:latin typeface="Times New Roman" panose="02020603050405020304" pitchFamily="18" charset="0"/>
                <a:cs typeface="Times New Roman" panose="02020603050405020304" pitchFamily="18" charset="0"/>
              </a:rPr>
              <a:t>Pre-project Software Quality Components</a:t>
            </a:r>
            <a:br>
              <a:rPr lang="en-US" dirty="0"/>
            </a:br>
            <a:endParaRPr lang="en-US" dirty="0"/>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Contract Review</a:t>
            </a:r>
          </a:p>
          <a:p>
            <a:pPr algn="just"/>
            <a:r>
              <a:rPr lang="en-US" dirty="0">
                <a:latin typeface="Times New Roman" panose="02020603050405020304" pitchFamily="18" charset="0"/>
                <a:cs typeface="Times New Roman" panose="02020603050405020304" pitchFamily="18" charset="0"/>
              </a:rPr>
              <a:t>Normally, a software is developed for a contract negotiated with a customer or for an internal order to develop a firmware to be embedded within a hardware product. </a:t>
            </a:r>
          </a:p>
          <a:p>
            <a:pPr algn="just"/>
            <a:r>
              <a:rPr lang="en-US" dirty="0">
                <a:latin typeface="Times New Roman" panose="02020603050405020304" pitchFamily="18" charset="0"/>
                <a:cs typeface="Times New Roman" panose="02020603050405020304" pitchFamily="18" charset="0"/>
              </a:rPr>
              <a:t>In all these cases, the development unit is committed to an agreed-upon functional specification, budget and schedule. </a:t>
            </a:r>
          </a:p>
          <a:p>
            <a:pPr algn="just"/>
            <a:r>
              <a:rPr lang="en-US" dirty="0">
                <a:latin typeface="Times New Roman" panose="02020603050405020304" pitchFamily="18" charset="0"/>
                <a:cs typeface="Times New Roman" panose="02020603050405020304" pitchFamily="18" charset="0"/>
              </a:rPr>
              <a:t>Hence, contract review activities must include a detailed examination of the project proposal draft and the contract drafts.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7FED3B02-BFA8-4B0E-2FC4-46789EB9236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Pre-project Software Quality Components</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Specifically, contract review activities include −</a:t>
            </a:r>
          </a:p>
          <a:p>
            <a:pPr algn="just"/>
            <a:r>
              <a:rPr lang="en-US" dirty="0">
                <a:latin typeface="Times New Roman" panose="02020603050405020304" pitchFamily="18" charset="0"/>
                <a:cs typeface="Times New Roman" panose="02020603050405020304" pitchFamily="18" charset="0"/>
              </a:rPr>
              <a:t>Clarification of the customer’s requirements</a:t>
            </a:r>
          </a:p>
          <a:p>
            <a:pPr algn="just"/>
            <a:r>
              <a:rPr lang="en-US" dirty="0">
                <a:latin typeface="Times New Roman" panose="02020603050405020304" pitchFamily="18" charset="0"/>
                <a:cs typeface="Times New Roman" panose="02020603050405020304" pitchFamily="18" charset="0"/>
              </a:rPr>
              <a:t>Review of the project’s schedule and resource requirement estimates</a:t>
            </a:r>
          </a:p>
          <a:p>
            <a:pPr algn="just"/>
            <a:r>
              <a:rPr lang="en-US" dirty="0">
                <a:latin typeface="Times New Roman" panose="02020603050405020304" pitchFamily="18" charset="0"/>
                <a:cs typeface="Times New Roman" panose="02020603050405020304" pitchFamily="18" charset="0"/>
              </a:rPr>
              <a:t>Evaluation of the professional staff’s capacity to carry out the proposed project</a:t>
            </a:r>
          </a:p>
          <a:p>
            <a:pPr algn="just"/>
            <a:r>
              <a:rPr lang="en-US" dirty="0">
                <a:latin typeface="Times New Roman" panose="02020603050405020304" pitchFamily="18" charset="0"/>
                <a:cs typeface="Times New Roman" panose="02020603050405020304" pitchFamily="18" charset="0"/>
              </a:rPr>
              <a:t>Evaluation of the customer’s capacity to </a:t>
            </a:r>
            <a:r>
              <a:rPr lang="en-US" dirty="0" err="1">
                <a:latin typeface="Times New Roman" panose="02020603050405020304" pitchFamily="18" charset="0"/>
                <a:cs typeface="Times New Roman" panose="02020603050405020304" pitchFamily="18" charset="0"/>
              </a:rPr>
              <a:t>fulfil</a:t>
            </a:r>
            <a:r>
              <a:rPr lang="en-US" dirty="0">
                <a:latin typeface="Times New Roman" panose="02020603050405020304" pitchFamily="18" charset="0"/>
                <a:cs typeface="Times New Roman" panose="02020603050405020304" pitchFamily="18" charset="0"/>
              </a:rPr>
              <a:t> his obligations</a:t>
            </a:r>
          </a:p>
          <a:p>
            <a:pPr algn="just"/>
            <a:r>
              <a:rPr lang="en-US" dirty="0">
                <a:latin typeface="Times New Roman" panose="02020603050405020304" pitchFamily="18" charset="0"/>
                <a:cs typeface="Times New Roman" panose="02020603050405020304" pitchFamily="18" charset="0"/>
              </a:rPr>
              <a:t>Evaluation of development risks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Footer Placeholder 9">
            <a:extLst>
              <a:ext uri="{FF2B5EF4-FFF2-40B4-BE49-F238E27FC236}">
                <a16:creationId xmlns:a16="http://schemas.microsoft.com/office/drawing/2014/main" id="{054E1CCB-2ACE-FE1E-4F58-2A77A27AA51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Pre-project Software Quality Components</a:t>
            </a:r>
            <a:br>
              <a:rPr lang="en-US" dirty="0"/>
            </a:br>
            <a:endParaRPr lang="en-US" dirty="0"/>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Development and Quality Plans</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After signing the software development contract with an organization or an internal department of the same organization, a development plan of the project and its integrated quality assurance activities are prepared. </a:t>
            </a:r>
          </a:p>
          <a:p>
            <a:r>
              <a:rPr lang="en-US" dirty="0">
                <a:latin typeface="Times New Roman" panose="02020603050405020304" pitchFamily="18" charset="0"/>
                <a:cs typeface="Times New Roman" panose="02020603050405020304" pitchFamily="18" charset="0"/>
              </a:rPr>
              <a:t>These plans include additional details and needed revisions based on prior plans that provided the basis for the current proposal and contract.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7DCCF6C0-F6BE-0D8C-46EC-69292494379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Pre-project Software Quality Components</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Most of the time, it takes several months between the tender submission and the signing of the contract. </a:t>
            </a:r>
          </a:p>
          <a:p>
            <a:r>
              <a:rPr lang="en-US" dirty="0">
                <a:latin typeface="Times New Roman" panose="02020603050405020304" pitchFamily="18" charset="0"/>
                <a:cs typeface="Times New Roman" panose="02020603050405020304" pitchFamily="18" charset="0"/>
              </a:rPr>
              <a:t>During these period, resources such as staff availability, professional capabilities may get changed. </a:t>
            </a:r>
          </a:p>
          <a:p>
            <a:r>
              <a:rPr lang="en-US" dirty="0">
                <a:latin typeface="Times New Roman" panose="02020603050405020304" pitchFamily="18" charset="0"/>
                <a:cs typeface="Times New Roman" panose="02020603050405020304" pitchFamily="18" charset="0"/>
              </a:rPr>
              <a:t>The plans are then revised to reflect the changes that occurred in the interim.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Footer Placeholder 9">
            <a:extLst>
              <a:ext uri="{FF2B5EF4-FFF2-40B4-BE49-F238E27FC236}">
                <a16:creationId xmlns:a16="http://schemas.microsoft.com/office/drawing/2014/main" id="{6FB33922-10EF-6712-3E10-BD5580C88BB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Issues of Project Development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main issues treated in the project development plan are −</a:t>
            </a:r>
          </a:p>
          <a:p>
            <a:r>
              <a:rPr lang="en-US" dirty="0">
                <a:latin typeface="Times New Roman" panose="02020603050405020304" pitchFamily="18" charset="0"/>
                <a:cs typeface="Times New Roman" panose="02020603050405020304" pitchFamily="18" charset="0"/>
              </a:rPr>
              <a:t>Schedules</a:t>
            </a:r>
          </a:p>
          <a:p>
            <a:r>
              <a:rPr lang="en-US" dirty="0">
                <a:latin typeface="Times New Roman" panose="02020603050405020304" pitchFamily="18" charset="0"/>
                <a:cs typeface="Times New Roman" panose="02020603050405020304" pitchFamily="18" charset="0"/>
              </a:rPr>
              <a:t>Required manpower and hardware resources</a:t>
            </a:r>
          </a:p>
          <a:p>
            <a:r>
              <a:rPr lang="en-US" dirty="0">
                <a:latin typeface="Times New Roman" panose="02020603050405020304" pitchFamily="18" charset="0"/>
                <a:cs typeface="Times New Roman" panose="02020603050405020304" pitchFamily="18" charset="0"/>
              </a:rPr>
              <a:t>Risk evaluations</a:t>
            </a:r>
          </a:p>
          <a:p>
            <a:r>
              <a:rPr lang="en-US" dirty="0">
                <a:latin typeface="Times New Roman" panose="02020603050405020304" pitchFamily="18" charset="0"/>
                <a:cs typeface="Times New Roman" panose="02020603050405020304" pitchFamily="18" charset="0"/>
              </a:rPr>
              <a:t>Organizational issues: team members, subcontractors and partnerships</a:t>
            </a:r>
          </a:p>
          <a:p>
            <a:r>
              <a:rPr lang="en-US" dirty="0">
                <a:latin typeface="Times New Roman" panose="02020603050405020304" pitchFamily="18" charset="0"/>
                <a:cs typeface="Times New Roman" panose="02020603050405020304" pitchFamily="18" charset="0"/>
              </a:rPr>
              <a:t>Project methodology, development tools, etc.</a:t>
            </a:r>
          </a:p>
          <a:p>
            <a:r>
              <a:rPr lang="en-US" dirty="0">
                <a:latin typeface="Times New Roman" panose="02020603050405020304" pitchFamily="18" charset="0"/>
                <a:cs typeface="Times New Roman" panose="02020603050405020304" pitchFamily="18" charset="0"/>
              </a:rPr>
              <a:t>Software reuse plans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Footer Placeholder 9">
            <a:extLst>
              <a:ext uri="{FF2B5EF4-FFF2-40B4-BE49-F238E27FC236}">
                <a16:creationId xmlns:a16="http://schemas.microsoft.com/office/drawing/2014/main" id="{70BE35F7-3E83-48F3-BC47-7EFE862DA68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Issues of Project Quality</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main issues treated in the project’s quality plan are −</a:t>
            </a:r>
          </a:p>
          <a:p>
            <a:r>
              <a:rPr lang="en-US" dirty="0">
                <a:latin typeface="Times New Roman" panose="02020603050405020304" pitchFamily="18" charset="0"/>
                <a:cs typeface="Times New Roman" panose="02020603050405020304" pitchFamily="18" charset="0"/>
              </a:rPr>
              <a:t>Quality goals, expressed in the appropriate measurable terms</a:t>
            </a:r>
          </a:p>
          <a:p>
            <a:r>
              <a:rPr lang="en-US" dirty="0">
                <a:latin typeface="Times New Roman" panose="02020603050405020304" pitchFamily="18" charset="0"/>
                <a:cs typeface="Times New Roman" panose="02020603050405020304" pitchFamily="18" charset="0"/>
              </a:rPr>
              <a:t>Criteria for starting and ending each project stage</a:t>
            </a:r>
          </a:p>
          <a:p>
            <a:r>
              <a:rPr lang="en-US" dirty="0">
                <a:latin typeface="Times New Roman" panose="02020603050405020304" pitchFamily="18" charset="0"/>
                <a:cs typeface="Times New Roman" panose="02020603050405020304" pitchFamily="18" charset="0"/>
              </a:rPr>
              <a:t>Lists of reviews, tests, and other scheduled verification and validation activities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Footer Placeholder 9">
            <a:extLst>
              <a:ext uri="{FF2B5EF4-FFF2-40B4-BE49-F238E27FC236}">
                <a16:creationId xmlns:a16="http://schemas.microsoft.com/office/drawing/2014/main" id="{2DB6B485-6290-7424-452F-CC88EACDA04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https://www.tutorialspoint.com/software_quality_management/software_quality_management_sqa_components.htm</a:t>
            </a:r>
            <a:endParaRPr lang="en-US" dirty="0"/>
          </a:p>
          <a:p>
            <a:pPr>
              <a:buNone/>
            </a:pPr>
            <a:endParaRPr lang="en-US" dirty="0"/>
          </a:p>
          <a:p>
            <a:r>
              <a:rPr lang="en-US" dirty="0">
                <a:hlinkClick r:id="rId3"/>
              </a:rPr>
              <a:t>https://www.javatpoint.com/software-quality-assurance</a:t>
            </a:r>
            <a:endParaRPr lang="en-US" dirty="0"/>
          </a:p>
          <a:p>
            <a:pPr>
              <a:buNone/>
            </a:pPr>
            <a:endParaRPr lang="en-US" dirty="0"/>
          </a:p>
          <a:p>
            <a:r>
              <a:rPr lang="en-US" dirty="0">
                <a:hlinkClick r:id="rId4"/>
              </a:rPr>
              <a:t>https://www.guru99.com/software-quality-assurance-test-audit-review-makes-your-life-easy.html</a:t>
            </a:r>
            <a:endParaRPr lang="en-US" dirty="0"/>
          </a:p>
          <a:p>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03642"/>
            <a:ext cx="10515600" cy="78704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22</a:t>
            </a:fld>
            <a:endParaRPr lang="en-US"/>
          </a:p>
        </p:txBody>
      </p:sp>
      <p:sp>
        <p:nvSpPr>
          <p:cNvPr id="2" name="Footer Placeholder 9">
            <a:extLst>
              <a:ext uri="{FF2B5EF4-FFF2-40B4-BE49-F238E27FC236}">
                <a16:creationId xmlns:a16="http://schemas.microsoft.com/office/drawing/2014/main" id="{B4C3ECEB-DCBB-51A8-908C-00DEA9E2BD6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23</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16DB3B8B-276F-0818-DFD1-200C5F7DD9F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2920</TotalTime>
  <Words>1664</Words>
  <Application>Microsoft Macintosh PowerPoint</Application>
  <PresentationFormat>Widescreen</PresentationFormat>
  <Paragraphs>156</Paragraphs>
  <Slides>23</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2"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Chapter-8 Quality Management</vt:lpstr>
      <vt:lpstr>SQA</vt:lpstr>
      <vt:lpstr> SQA Encompasses </vt:lpstr>
      <vt:lpstr> SQA Activities </vt:lpstr>
      <vt:lpstr>Activities of SQA</vt:lpstr>
      <vt:lpstr>Activities of SQA</vt:lpstr>
      <vt:lpstr>Activities of SQA</vt:lpstr>
      <vt:lpstr>Activities of SQA</vt:lpstr>
      <vt:lpstr> Components of SQA System </vt:lpstr>
      <vt:lpstr> Components of SQA System </vt:lpstr>
      <vt:lpstr> Components of SQA System </vt:lpstr>
      <vt:lpstr> Components of SQA System </vt:lpstr>
      <vt:lpstr> Components of SQA System </vt:lpstr>
      <vt:lpstr> Pre-project Software Quality Components </vt:lpstr>
      <vt:lpstr> Pre-project Software Quality Components </vt:lpstr>
      <vt:lpstr> Pre-project Software Quality Components </vt:lpstr>
      <vt:lpstr> Pre-project Software Quality Components </vt:lpstr>
      <vt:lpstr> Pre-project Software Quality Components </vt:lpstr>
      <vt:lpstr>Issues of Project Development</vt:lpstr>
      <vt:lpstr>Issues of Project Quality</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229</cp:revision>
  <dcterms:created xsi:type="dcterms:W3CDTF">2019-01-09T10:33:58Z</dcterms:created>
  <dcterms:modified xsi:type="dcterms:W3CDTF">2024-12-19T08:01:23Z</dcterms:modified>
</cp:coreProperties>
</file>