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3"/>
  </p:notesMasterIdLst>
  <p:handoutMasterIdLst>
    <p:handoutMasterId r:id="rId24"/>
  </p:handoutMasterIdLst>
  <p:sldIdLst>
    <p:sldId id="662" r:id="rId3"/>
    <p:sldId id="280" r:id="rId4"/>
    <p:sldId id="327" r:id="rId5"/>
    <p:sldId id="342" r:id="rId6"/>
    <p:sldId id="341" r:id="rId7"/>
    <p:sldId id="340" r:id="rId8"/>
    <p:sldId id="339" r:id="rId9"/>
    <p:sldId id="338" r:id="rId10"/>
    <p:sldId id="337" r:id="rId11"/>
    <p:sldId id="336" r:id="rId12"/>
    <p:sldId id="335" r:id="rId13"/>
    <p:sldId id="334" r:id="rId14"/>
    <p:sldId id="333" r:id="rId15"/>
    <p:sldId id="332" r:id="rId16"/>
    <p:sldId id="331" r:id="rId17"/>
    <p:sldId id="330" r:id="rId18"/>
    <p:sldId id="329" r:id="rId19"/>
    <p:sldId id="328" r:id="rId20"/>
    <p:sldId id="326"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19" d="100"/>
          <a:sy n="119" d="100"/>
        </p:scale>
        <p:origin x="416" y="18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F8218E97-91C9-A91C-7703-B8304896A06E}"/>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4D59F549-7CE8-8B20-77E3-756FBA17FA80}"/>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CE332753-FF4F-7BD5-CA16-D0825226581A}"/>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rofessionalqa.com/software-review" TargetMode="External"/><Relationship Id="rId2" Type="http://schemas.openxmlformats.org/officeDocument/2006/relationships/hyperlink" Target="https://www.geeksforgeeks.org/software-engineering-software-review/"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Quality Management</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3327"/>
            <a:ext cx="10515600" cy="1279528"/>
          </a:xfrm>
        </p:spPr>
        <p:txBody>
          <a:bodyPr>
            <a:noAutofit/>
          </a:bodyPr>
          <a:lstStyle/>
          <a:p>
            <a:pPr algn="ctr"/>
            <a:r>
              <a:rPr lang="en-US" sz="3600" dirty="0">
                <a:latin typeface="Times New Roman" panose="02020603050405020304" pitchFamily="18" charset="0"/>
                <a:cs typeface="Times New Roman" pitchFamily="18" charset="0"/>
              </a:rPr>
              <a:t>Chapter-8</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Quality Management</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072379"/>
            <a:ext cx="10515600" cy="4104583"/>
          </a:xfrm>
        </p:spPr>
        <p:txBody>
          <a:bodyPr>
            <a:normAutofit/>
          </a:bodyPr>
          <a:lstStyle/>
          <a:p>
            <a:pPr>
              <a:lnSpc>
                <a:spcPct val="150000"/>
              </a:lnSpc>
            </a:pPr>
            <a:r>
              <a:rPr lang="en-US" sz="2400" dirty="0">
                <a:latin typeface="Times New Roman" pitchFamily="18" charset="0"/>
                <a:cs typeface="Times New Roman" pitchFamily="18" charset="0"/>
              </a:rPr>
              <a:t>Software Review</a:t>
            </a:r>
          </a:p>
          <a:p>
            <a:pPr>
              <a:lnSpc>
                <a:spcPct val="150000"/>
              </a:lnSpc>
            </a:pPr>
            <a:r>
              <a:rPr lang="en-US" sz="2400" dirty="0">
                <a:latin typeface="Times New Roman" pitchFamily="18" charset="0"/>
                <a:cs typeface="Times New Roman" pitchFamily="18" charset="0"/>
              </a:rPr>
              <a:t>Formal technical Review</a:t>
            </a:r>
          </a:p>
          <a:p>
            <a:pPr>
              <a:lnSpc>
                <a:spcPct val="150000"/>
              </a:lnSpc>
              <a:buNone/>
            </a:pPr>
            <a:endParaRPr lang="en-US" sz="2400" dirty="0">
              <a:latin typeface="Times New Roman" pitchFamily="18" charset="0"/>
              <a:cs typeface="Times New Roman" pitchFamily="18" charset="0"/>
            </a:endParaRPr>
          </a:p>
        </p:txBody>
      </p:sp>
      <p:sp>
        <p:nvSpPr>
          <p:cNvPr id="5" name="Rectangle 4"/>
          <p:cNvSpPr/>
          <p:nvPr/>
        </p:nvSpPr>
        <p:spPr>
          <a:xfrm>
            <a:off x="838200" y="2086984"/>
            <a:ext cx="10515600" cy="40852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788089"/>
            <a:ext cx="10515600" cy="127952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44B23A2C-2FCC-6B7B-E0B4-4F6FC935FD6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dirty="0">
                <a:latin typeface="Times New Roman" panose="02020603050405020304" pitchFamily="18" charset="0"/>
                <a:cs typeface="Times New Roman" panose="02020603050405020304" pitchFamily="18" charset="0"/>
              </a:rPr>
              <a:t>Software Review</a:t>
            </a:r>
          </a:p>
        </p:txBody>
      </p:sp>
      <p:sp>
        <p:nvSpPr>
          <p:cNvPr id="3" name="Content Placeholder 2"/>
          <p:cNvSpPr>
            <a:spLocks noGrp="1"/>
          </p:cNvSpPr>
          <p:nvPr>
            <p:ph idx="1"/>
          </p:nvPr>
        </p:nvSpPr>
        <p:spPr/>
        <p:txBody>
          <a:bodyPr>
            <a:normAutofit/>
          </a:bodyPr>
          <a:lstStyle/>
          <a:p>
            <a:pPr algn="just" fontAlgn="base"/>
            <a:r>
              <a:rPr lang="en-US" b="1" dirty="0">
                <a:latin typeface="Times New Roman" panose="02020603050405020304" pitchFamily="18" charset="0"/>
                <a:cs typeface="Times New Roman" panose="02020603050405020304" pitchFamily="18" charset="0"/>
              </a:rPr>
              <a:t>Software Review</a:t>
            </a:r>
            <a:r>
              <a:rPr lang="en-US" dirty="0">
                <a:latin typeface="Times New Roman" panose="02020603050405020304" pitchFamily="18" charset="0"/>
                <a:cs typeface="Times New Roman" panose="02020603050405020304" pitchFamily="18" charset="0"/>
              </a:rPr>
              <a:t> is systematic inspection of a software by one or more individuals who work together to find and resolve errors and defects in the software during the early stages of Software Development Life Cycle (SDLC). </a:t>
            </a:r>
          </a:p>
          <a:p>
            <a:pPr algn="just" fontAlgn="base"/>
            <a:r>
              <a:rPr lang="en-US" dirty="0">
                <a:latin typeface="Times New Roman" panose="02020603050405020304" pitchFamily="18" charset="0"/>
                <a:cs typeface="Times New Roman" panose="02020603050405020304" pitchFamily="18" charset="0"/>
              </a:rPr>
              <a:t>Software review is an essential part of Software Development Life Cycle (SDLC) that helps software engineers in validating the quality, functionality and other vital features and components of the software.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
        <p:nvSpPr>
          <p:cNvPr id="5" name="Footer Placeholder 9">
            <a:extLst>
              <a:ext uri="{FF2B5EF4-FFF2-40B4-BE49-F238E27FC236}">
                <a16:creationId xmlns:a16="http://schemas.microsoft.com/office/drawing/2014/main" id="{A206AC31-DB5B-EA10-74DD-A1E4A4BF6F1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a:bodyPr>
          <a:lstStyle/>
          <a:p>
            <a:r>
              <a:rPr lang="en-US" sz="3600" dirty="0">
                <a:latin typeface="Times New Roman" panose="02020603050405020304" pitchFamily="18" charset="0"/>
                <a:cs typeface="Times New Roman" panose="02020603050405020304" pitchFamily="18" charset="0"/>
              </a:rPr>
              <a:t>Software Review</a:t>
            </a:r>
          </a:p>
        </p:txBody>
      </p:sp>
      <p:sp>
        <p:nvSpPr>
          <p:cNvPr id="3" name="Content Placeholder 2"/>
          <p:cNvSpPr>
            <a:spLocks noGrp="1"/>
          </p:cNvSpPr>
          <p:nvPr>
            <p:ph idx="1"/>
          </p:nvPr>
        </p:nvSpPr>
        <p:spPr/>
        <p:txBody>
          <a:bodyPr/>
          <a:lstStyle/>
          <a:p>
            <a:pPr algn="just" fontAlgn="base"/>
            <a:r>
              <a:rPr lang="en-US" dirty="0">
                <a:latin typeface="Times New Roman" panose="02020603050405020304" pitchFamily="18" charset="0"/>
                <a:cs typeface="Times New Roman" panose="02020603050405020304" pitchFamily="18" charset="0"/>
              </a:rPr>
              <a:t>It is a whole process that includes testing the software product and it makes sure that it meets the requirements stated by the client.</a:t>
            </a:r>
          </a:p>
          <a:p>
            <a:pPr algn="just" fontAlgn="base"/>
            <a:r>
              <a:rPr lang="en-US" dirty="0">
                <a:latin typeface="Times New Roman" panose="02020603050405020304" pitchFamily="18" charset="0"/>
                <a:cs typeface="Times New Roman" panose="02020603050405020304" pitchFamily="18" charset="0"/>
              </a:rPr>
              <a:t>Usually performed manually, software review is used to verify various documents like requirements, system designs, codes, test plans and test cases.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B515A973-C0C8-6E7B-B0C0-43E6955D7F9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Objectives of Software Review</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The objective of software review is:</a:t>
            </a:r>
          </a:p>
          <a:p>
            <a:pPr fontAlgn="base"/>
            <a:r>
              <a:rPr lang="en-US" dirty="0">
                <a:latin typeface="Times New Roman" panose="02020603050405020304" pitchFamily="18" charset="0"/>
                <a:cs typeface="Times New Roman" panose="02020603050405020304" pitchFamily="18" charset="0"/>
              </a:rPr>
              <a:t>To improve the productivity of the development team.</a:t>
            </a:r>
          </a:p>
          <a:p>
            <a:pPr fontAlgn="base"/>
            <a:r>
              <a:rPr lang="en-US" dirty="0">
                <a:latin typeface="Times New Roman" panose="02020603050405020304" pitchFamily="18" charset="0"/>
                <a:cs typeface="Times New Roman" panose="02020603050405020304" pitchFamily="18" charset="0"/>
              </a:rPr>
              <a:t>To make the testing process time and cost effective.</a:t>
            </a:r>
          </a:p>
          <a:p>
            <a:pPr fontAlgn="base"/>
            <a:r>
              <a:rPr lang="en-US" dirty="0">
                <a:latin typeface="Times New Roman" panose="02020603050405020304" pitchFamily="18" charset="0"/>
                <a:cs typeface="Times New Roman" panose="02020603050405020304" pitchFamily="18" charset="0"/>
              </a:rPr>
              <a:t>To make the final software with fewer defects.</a:t>
            </a:r>
          </a:p>
          <a:p>
            <a:pPr fontAlgn="base"/>
            <a:r>
              <a:rPr lang="en-US" dirty="0">
                <a:latin typeface="Times New Roman" panose="02020603050405020304" pitchFamily="18" charset="0"/>
                <a:cs typeface="Times New Roman" panose="02020603050405020304" pitchFamily="18" charset="0"/>
              </a:rPr>
              <a:t>To eliminate the inadequacies.</a:t>
            </a:r>
          </a:p>
          <a:p>
            <a:endParaRPr lang="en-US"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3E6F5001-9F1F-4FD3-DC98-94CC92E8B1B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b="1" dirty="0">
                <a:latin typeface="Times New Roman" panose="02020603050405020304" pitchFamily="18" charset="0"/>
                <a:cs typeface="Times New Roman" panose="02020603050405020304" pitchFamily="18" charset="0"/>
              </a:rPr>
              <a:t>Process of Software Review</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47106" name="Picture 2"/>
          <p:cNvPicPr>
            <a:picLocks noChangeAspect="1" noChangeArrowheads="1"/>
          </p:cNvPicPr>
          <p:nvPr/>
        </p:nvPicPr>
        <p:blipFill>
          <a:blip r:embed="rId2"/>
          <a:srcRect/>
          <a:stretch>
            <a:fillRect/>
          </a:stretch>
        </p:blipFill>
        <p:spPr bwMode="auto">
          <a:xfrm>
            <a:off x="3348038" y="1443038"/>
            <a:ext cx="4938712" cy="4805683"/>
          </a:xfrm>
          <a:prstGeom prst="rect">
            <a:avLst/>
          </a:prstGeom>
          <a:noFill/>
          <a:ln w="9525">
            <a:noFill/>
            <a:miter lim="800000"/>
            <a:headEnd/>
            <a:tailEnd/>
          </a:ln>
          <a:effectLst/>
        </p:spPr>
      </p:pic>
      <p:sp>
        <p:nvSpPr>
          <p:cNvPr id="3" name="Footer Placeholder 9">
            <a:extLst>
              <a:ext uri="{FF2B5EF4-FFF2-40B4-BE49-F238E27FC236}">
                <a16:creationId xmlns:a16="http://schemas.microsoft.com/office/drawing/2014/main" id="{B042CE50-8590-81FD-7B45-EB8662CB7DD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a:latin typeface="Times New Roman" panose="02020603050405020304" pitchFamily="18" charset="0"/>
                <a:cs typeface="Times New Roman" panose="02020603050405020304" pitchFamily="18" charset="0"/>
              </a:rPr>
              <a:t>Types of Software Reviews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There are mainly 3 types of software reviews:</a:t>
            </a:r>
          </a:p>
          <a:p>
            <a:pPr fontAlgn="base"/>
            <a:r>
              <a:rPr lang="en-US" b="1" dirty="0">
                <a:latin typeface="Times New Roman" panose="02020603050405020304" pitchFamily="18" charset="0"/>
                <a:cs typeface="Times New Roman" panose="02020603050405020304" pitchFamily="18" charset="0"/>
              </a:rPr>
              <a:t>Software Peer Review: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Peer review is the process of assessing the technical content and quality of the product and it is usually conducted by the author of the work product along with some other developers.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Peer review is performed in order to examine or resolve the defects in the software, whose quality is also checked by other members of the team.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39EDC940-9FFA-DCC1-9267-3F06CD37FCC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4"/>
            <a:ext cx="10515600" cy="883864"/>
          </a:xfrm>
        </p:spPr>
        <p:txBody>
          <a:bodyPr>
            <a:normAutofit/>
          </a:bodyPr>
          <a:lstStyle/>
          <a:p>
            <a:r>
              <a:rPr lang="en-US" sz="3600" b="1" dirty="0">
                <a:latin typeface="Times New Roman" panose="02020603050405020304" pitchFamily="18" charset="0"/>
                <a:cs typeface="Times New Roman" panose="02020603050405020304" pitchFamily="18" charset="0"/>
              </a:rPr>
              <a:t>Types of Software Reviews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pPr fontAlgn="base"/>
            <a:r>
              <a:rPr lang="en-US" dirty="0">
                <a:latin typeface="Times New Roman" panose="02020603050405020304" pitchFamily="18" charset="0"/>
                <a:cs typeface="Times New Roman" panose="02020603050405020304" pitchFamily="18" charset="0"/>
              </a:rPr>
              <a:t>Peer Review has following types:</a:t>
            </a:r>
          </a:p>
          <a:p>
            <a:pPr marL="571500" indent="-571500" fontAlgn="base">
              <a:buAutoNum type="romanLcParenBoth"/>
            </a:pPr>
            <a:r>
              <a:rPr lang="en-US" b="1" dirty="0">
                <a:latin typeface="Times New Roman" panose="02020603050405020304" pitchFamily="18" charset="0"/>
                <a:cs typeface="Times New Roman" panose="02020603050405020304" pitchFamily="18" charset="0"/>
              </a:rPr>
              <a:t>Code Review: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Computer source code is examined in a systematic way.</a:t>
            </a:r>
          </a:p>
          <a:p>
            <a:pPr marL="571500" indent="-571500" fontAlgn="base">
              <a:buAutoNum type="romanLcParenBoth"/>
            </a:pPr>
            <a:r>
              <a:rPr lang="en-US" b="1" dirty="0">
                <a:latin typeface="Times New Roman" panose="02020603050405020304" pitchFamily="18" charset="0"/>
                <a:cs typeface="Times New Roman" panose="02020603050405020304" pitchFamily="18" charset="0"/>
              </a:rPr>
              <a:t>Pair Programming: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a code review where two developers develop code together at the same platform.</a:t>
            </a:r>
          </a:p>
          <a:p>
            <a:pPr marL="571500" indent="-571500" fontAlgn="base">
              <a:buAutoNum type="romanLcParenBoth"/>
            </a:pPr>
            <a:r>
              <a:rPr lang="en-US" b="1" dirty="0">
                <a:latin typeface="Times New Roman" panose="02020603050405020304" pitchFamily="18" charset="0"/>
                <a:cs typeface="Times New Roman" panose="02020603050405020304" pitchFamily="18" charset="0"/>
              </a:rPr>
              <a:t>Walkthrough: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Members of the development team is guided </a:t>
            </a:r>
            <a:r>
              <a:rPr lang="en-US" dirty="0" err="1">
                <a:latin typeface="Times New Roman" panose="02020603050405020304" pitchFamily="18" charset="0"/>
                <a:cs typeface="Times New Roman" panose="02020603050405020304" pitchFamily="18" charset="0"/>
              </a:rPr>
              <a:t>bu</a:t>
            </a:r>
            <a:r>
              <a:rPr lang="en-US" dirty="0">
                <a:latin typeface="Times New Roman" panose="02020603050405020304" pitchFamily="18" charset="0"/>
                <a:cs typeface="Times New Roman" panose="02020603050405020304" pitchFamily="18" charset="0"/>
              </a:rPr>
              <a:t> author and other interested parties and the participants ask questions and make comments about defects.</a:t>
            </a:r>
          </a:p>
          <a:p>
            <a:pPr marL="571500" indent="-571500" fontAlgn="base">
              <a:buAutoNum type="romanLcParenBoth"/>
            </a:pPr>
            <a:r>
              <a:rPr lang="en-US" b="1" dirty="0">
                <a:latin typeface="Times New Roman" panose="02020603050405020304" pitchFamily="18" charset="0"/>
                <a:cs typeface="Times New Roman" panose="02020603050405020304" pitchFamily="18" charset="0"/>
              </a:rPr>
              <a:t>Technical Review: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team of highly qualified individuals examines the software product for its client’s use and identifies technical defects from specifications and standards.</a:t>
            </a:r>
          </a:p>
          <a:p>
            <a:pPr marL="571500" indent="-571500" fontAlgn="base">
              <a:buAutoNum type="romanLcParenBoth"/>
            </a:pPr>
            <a:r>
              <a:rPr lang="en-US" b="1" dirty="0">
                <a:latin typeface="Times New Roman" panose="02020603050405020304" pitchFamily="18" charset="0"/>
                <a:cs typeface="Times New Roman" panose="02020603050405020304" pitchFamily="18" charset="0"/>
              </a:rPr>
              <a:t>Inspection: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 inspection the reviewers follow a well-defined process to find defects.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4E9BC4F9-CC1D-29A1-9693-21BCE3F6414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a:bodyPr>
          <a:lstStyle/>
          <a:p>
            <a:r>
              <a:rPr lang="en-US" sz="3600" b="1" dirty="0">
                <a:latin typeface="Times New Roman" panose="02020603050405020304" pitchFamily="18" charset="0"/>
                <a:cs typeface="Times New Roman" panose="02020603050405020304" pitchFamily="18" charset="0"/>
              </a:rPr>
              <a:t>Types of Software Reviews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Software Management Review: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Management Review evaluates the work status. In this section decisions regarding downstream activities are taken.</a:t>
            </a:r>
          </a:p>
          <a:p>
            <a:r>
              <a:rPr lang="en-US" b="1" dirty="0">
                <a:latin typeface="Times New Roman" panose="02020603050405020304" pitchFamily="18" charset="0"/>
                <a:cs typeface="Times New Roman" panose="02020603050405020304" pitchFamily="18" charset="0"/>
              </a:rPr>
              <a:t>Software Audit Review: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Software Audit Review is a type of external review in which one or more critics, who are not a part of the development team, organize an independent inspection of the software product and its processes to assess their compliance with stated specifications and standards. This is done by managerial level people.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Footer Placeholder 9">
            <a:extLst>
              <a:ext uri="{FF2B5EF4-FFF2-40B4-BE49-F238E27FC236}">
                <a16:creationId xmlns:a16="http://schemas.microsoft.com/office/drawing/2014/main" id="{83EC688A-0382-BFD2-4276-FC603F68091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r>
              <a:rPr lang="en-US" sz="3600" b="1" dirty="0">
                <a:latin typeface="Times New Roman" panose="02020603050405020304" pitchFamily="18" charset="0"/>
                <a:cs typeface="Times New Roman" panose="02020603050405020304" pitchFamily="18" charset="0"/>
              </a:rPr>
              <a:t>Advantages of Software Review</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Defects can be identified earlier stage of development (especially in formal review).</a:t>
            </a:r>
          </a:p>
          <a:p>
            <a:pPr fontAlgn="base"/>
            <a:r>
              <a:rPr lang="en-US" dirty="0">
                <a:latin typeface="Times New Roman" panose="02020603050405020304" pitchFamily="18" charset="0"/>
                <a:cs typeface="Times New Roman" panose="02020603050405020304" pitchFamily="18" charset="0"/>
              </a:rPr>
              <a:t>Earlier inspection also reduces the maintenance cost of software.</a:t>
            </a:r>
          </a:p>
          <a:p>
            <a:pPr fontAlgn="base"/>
            <a:r>
              <a:rPr lang="en-US" dirty="0">
                <a:latin typeface="Times New Roman" panose="02020603050405020304" pitchFamily="18" charset="0"/>
                <a:cs typeface="Times New Roman" panose="02020603050405020304" pitchFamily="18" charset="0"/>
              </a:rPr>
              <a:t>It can be used to train technical authors.</a:t>
            </a:r>
          </a:p>
          <a:p>
            <a:pPr fontAlgn="base"/>
            <a:r>
              <a:rPr lang="en-US" dirty="0">
                <a:latin typeface="Times New Roman" panose="02020603050405020304" pitchFamily="18" charset="0"/>
                <a:cs typeface="Times New Roman" panose="02020603050405020304" pitchFamily="18" charset="0"/>
              </a:rPr>
              <a:t>It can be used to remove process inadequacies that encourage defects.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60FBCFDE-4D2A-1305-6C14-366FA0D9C7D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b="1" dirty="0">
                <a:latin typeface="Times New Roman" panose="02020603050405020304" pitchFamily="18" charset="0"/>
                <a:cs typeface="Times New Roman" panose="02020603050405020304" pitchFamily="18" charset="0"/>
              </a:rPr>
              <a:t>Formal Technical Review (FTR)</a:t>
            </a:r>
            <a:r>
              <a:rPr lang="en-US" dirty="0">
                <a:latin typeface="Times New Roman" panose="02020603050405020304" pitchFamily="18" charset="0"/>
                <a:cs typeface="Times New Roman" panose="02020603050405020304" pitchFamily="18" charset="0"/>
              </a:rPr>
              <a:t> is a software quality control activity performed by software engineers.</a:t>
            </a:r>
          </a:p>
          <a:p>
            <a:pPr fontAlgn="base"/>
            <a:r>
              <a:rPr lang="en-US" b="1" dirty="0">
                <a:latin typeface="Times New Roman" panose="02020603050405020304" pitchFamily="18" charset="0"/>
                <a:cs typeface="Times New Roman" panose="02020603050405020304" pitchFamily="18" charset="0"/>
              </a:rPr>
              <a:t>Objectives of formal technical review (FTR):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Some of these are:</a:t>
            </a:r>
          </a:p>
          <a:p>
            <a:pPr fontAlgn="base"/>
            <a:r>
              <a:rPr lang="en-US" dirty="0">
                <a:latin typeface="Times New Roman" panose="02020603050405020304" pitchFamily="18" charset="0"/>
                <a:cs typeface="Times New Roman" panose="02020603050405020304" pitchFamily="18" charset="0"/>
              </a:rPr>
              <a:t>Useful to uncover error in logic, function and implementation for any representation of the software.</a:t>
            </a:r>
          </a:p>
          <a:p>
            <a:pPr fontAlgn="base"/>
            <a:r>
              <a:rPr lang="en-US" dirty="0">
                <a:latin typeface="Times New Roman" panose="02020603050405020304" pitchFamily="18" charset="0"/>
                <a:cs typeface="Times New Roman" panose="02020603050405020304" pitchFamily="18" charset="0"/>
              </a:rPr>
              <a:t>The purpose of FTR is to verify that the software meets specified requirements.</a:t>
            </a:r>
          </a:p>
          <a:p>
            <a:pPr fontAlgn="base"/>
            <a:r>
              <a:rPr lang="en-US" dirty="0">
                <a:latin typeface="Times New Roman" panose="02020603050405020304" pitchFamily="18" charset="0"/>
                <a:cs typeface="Times New Roman" panose="02020603050405020304" pitchFamily="18" charset="0"/>
              </a:rPr>
              <a:t>To ensure that software is represented according to predefined standards.</a:t>
            </a:r>
          </a:p>
          <a:p>
            <a:pPr fontAlgn="base"/>
            <a:r>
              <a:rPr lang="en-US" dirty="0">
                <a:latin typeface="Times New Roman" panose="02020603050405020304" pitchFamily="18" charset="0"/>
                <a:cs typeface="Times New Roman" panose="02020603050405020304" pitchFamily="18" charset="0"/>
              </a:rPr>
              <a:t>It helps to review the uniformity in software that is development in a uniform manner.</a:t>
            </a:r>
          </a:p>
          <a:p>
            <a:pPr fontAlgn="base"/>
            <a:r>
              <a:rPr lang="en-US" dirty="0">
                <a:latin typeface="Times New Roman" panose="02020603050405020304" pitchFamily="18" charset="0"/>
                <a:cs typeface="Times New Roman" panose="02020603050405020304" pitchFamily="18" charset="0"/>
              </a:rPr>
              <a:t>To makes the project more manageable.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AB1888EE-27EB-A1B5-F888-5533A3DDC7C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In addition, the purpose of FTR is to enable junior engineer to observer the analysis, design, coding and testing approach more closely. </a:t>
            </a:r>
          </a:p>
          <a:p>
            <a:pPr fontAlgn="base"/>
            <a:r>
              <a:rPr lang="en-US" dirty="0">
                <a:latin typeface="Times New Roman" panose="02020603050405020304" pitchFamily="18" charset="0"/>
                <a:cs typeface="Times New Roman" panose="02020603050405020304" pitchFamily="18" charset="0"/>
              </a:rPr>
              <a:t>FTR also works to promote back up and continuity become familiar with parts of software they might not have seen otherwise.</a:t>
            </a:r>
          </a:p>
          <a:p>
            <a:pPr fontAlgn="base"/>
            <a:r>
              <a:rPr lang="en-US" dirty="0">
                <a:latin typeface="Times New Roman" panose="02020603050405020304" pitchFamily="18" charset="0"/>
                <a:cs typeface="Times New Roman" panose="02020603050405020304" pitchFamily="18" charset="0"/>
              </a:rPr>
              <a:t>Actually, FTR is a class of reviews that include walkthroughs, inspections, round robin reviews and other small group technical assessments of software. </a:t>
            </a:r>
          </a:p>
          <a:p>
            <a:pPr fontAlgn="base"/>
            <a:r>
              <a:rPr lang="en-US" dirty="0">
                <a:latin typeface="Times New Roman" panose="02020603050405020304" pitchFamily="18" charset="0"/>
                <a:cs typeface="Times New Roman" panose="02020603050405020304" pitchFamily="18" charset="0"/>
              </a:rPr>
              <a:t>Each FTR is conducted as meeting and is considered successfully only if it is properly planned, controlled and attended.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Footer Placeholder 9">
            <a:extLst>
              <a:ext uri="{FF2B5EF4-FFF2-40B4-BE49-F238E27FC236}">
                <a16:creationId xmlns:a16="http://schemas.microsoft.com/office/drawing/2014/main" id="{4D19A191-F199-87A0-5A73-7E0D7249510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normAutofit fontScale="92500"/>
          </a:bodyPr>
          <a:lstStyle/>
          <a:p>
            <a:r>
              <a:rPr lang="en-US" b="1" dirty="0">
                <a:latin typeface="Times New Roman" panose="02020603050405020304" pitchFamily="18" charset="0"/>
                <a:cs typeface="Times New Roman" panose="02020603050405020304" pitchFamily="18" charset="0"/>
              </a:rPr>
              <a:t>The review meeting:</a:t>
            </a:r>
          </a:p>
          <a:p>
            <a:pPr>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Each review meeting should be held considering the following constraints-</a:t>
            </a:r>
          </a:p>
          <a:p>
            <a:pPr fontAlgn="base">
              <a:buNone/>
            </a:pPr>
            <a:r>
              <a:rPr lang="en-US" b="1" dirty="0">
                <a:latin typeface="Times New Roman" panose="02020603050405020304" pitchFamily="18" charset="0"/>
                <a:cs typeface="Times New Roman" panose="02020603050405020304" pitchFamily="18" charset="0"/>
              </a:rPr>
              <a:t>Involvement of people:</a:t>
            </a:r>
          </a:p>
          <a:p>
            <a:pPr fontAlgn="base"/>
            <a:r>
              <a:rPr lang="en-US" dirty="0">
                <a:latin typeface="Times New Roman" panose="02020603050405020304" pitchFamily="18" charset="0"/>
                <a:cs typeface="Times New Roman" panose="02020603050405020304" pitchFamily="18" charset="0"/>
              </a:rPr>
              <a:t>Between 3, 4 and 5 people should be involve in the review.</a:t>
            </a:r>
          </a:p>
          <a:p>
            <a:pPr fontAlgn="base"/>
            <a:r>
              <a:rPr lang="en-US" dirty="0">
                <a:latin typeface="Times New Roman" panose="02020603050405020304" pitchFamily="18" charset="0"/>
                <a:cs typeface="Times New Roman" panose="02020603050405020304" pitchFamily="18" charset="0"/>
              </a:rPr>
              <a:t>Advance preparation should occur but it should be very short that is at the most 2 hours of work for every person.</a:t>
            </a:r>
          </a:p>
          <a:p>
            <a:pPr fontAlgn="base"/>
            <a:r>
              <a:rPr lang="en-US" dirty="0">
                <a:latin typeface="Times New Roman" panose="02020603050405020304" pitchFamily="18" charset="0"/>
                <a:cs typeface="Times New Roman" panose="02020603050405020304" pitchFamily="18" charset="0"/>
              </a:rPr>
              <a:t>The short duration of the review meeting should be less than two hour. Gives these constraints, it should be clear that an FTR focuses on specific (and small) part of the overall software.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B04F3845-D7EE-B39F-93F4-9A38F93E746E}"/>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At the end of the review, all attendees of FTR must decide what to do.</a:t>
            </a:r>
          </a:p>
          <a:p>
            <a:pPr fontAlgn="base"/>
            <a:r>
              <a:rPr lang="en-US" dirty="0">
                <a:latin typeface="Times New Roman" panose="02020603050405020304" pitchFamily="18" charset="0"/>
                <a:cs typeface="Times New Roman" panose="02020603050405020304" pitchFamily="18" charset="0"/>
              </a:rPr>
              <a:t>Accept the product without any modification.</a:t>
            </a:r>
          </a:p>
          <a:p>
            <a:pPr fontAlgn="base"/>
            <a:r>
              <a:rPr lang="en-US" dirty="0">
                <a:latin typeface="Times New Roman" panose="02020603050405020304" pitchFamily="18" charset="0"/>
                <a:cs typeface="Times New Roman" panose="02020603050405020304" pitchFamily="18" charset="0"/>
              </a:rPr>
              <a:t>Reject the project due to serious error (Once corrected, another app need to be reviewed), or</a:t>
            </a:r>
          </a:p>
          <a:p>
            <a:pPr fontAlgn="base"/>
            <a:r>
              <a:rPr lang="en-US" dirty="0">
                <a:latin typeface="Times New Roman" panose="02020603050405020304" pitchFamily="18" charset="0"/>
                <a:cs typeface="Times New Roman" panose="02020603050405020304" pitchFamily="18" charset="0"/>
              </a:rPr>
              <a:t>Accept the product provisional (minor errors are encountered and are should be corrected, but no additional review will be required).</a:t>
            </a:r>
          </a:p>
          <a:p>
            <a:pPr fontAlgn="base"/>
            <a:r>
              <a:rPr lang="en-US" dirty="0">
                <a:latin typeface="Times New Roman" panose="02020603050405020304" pitchFamily="18" charset="0"/>
                <a:cs typeface="Times New Roman" panose="02020603050405020304" pitchFamily="18" charset="0"/>
              </a:rPr>
              <a:t>The decision was made, with all FTR attendees completing a sign-of indicating their participation in the review and their agreement with the findings of the review team.</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7936F066-EC1A-8AC1-913F-6BCD0004C8E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lstStyle/>
          <a:p>
            <a:pPr fontAlgn="base"/>
            <a:r>
              <a:rPr lang="en-US" b="1" dirty="0">
                <a:latin typeface="Times New Roman" panose="02020603050405020304" pitchFamily="18" charset="0"/>
                <a:cs typeface="Times New Roman" panose="02020603050405020304" pitchFamily="18" charset="0"/>
              </a:rPr>
              <a:t>Review reporting and record keeping :-</a:t>
            </a: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During the FTR, the reviewer actively records all issues that have been raised.</a:t>
            </a:r>
          </a:p>
          <a:p>
            <a:pPr fontAlgn="base"/>
            <a:r>
              <a:rPr lang="en-US" dirty="0">
                <a:latin typeface="Times New Roman" panose="02020603050405020304" pitchFamily="18" charset="0"/>
                <a:cs typeface="Times New Roman" panose="02020603050405020304" pitchFamily="18" charset="0"/>
              </a:rPr>
              <a:t>At the end of the meeting all these issues raised are consolidated and a review list is prepared.</a:t>
            </a:r>
          </a:p>
          <a:p>
            <a:pPr fontAlgn="base"/>
            <a:r>
              <a:rPr lang="en-US" dirty="0">
                <a:latin typeface="Times New Roman" panose="02020603050405020304" pitchFamily="18" charset="0"/>
                <a:cs typeface="Times New Roman" panose="02020603050405020304" pitchFamily="18" charset="0"/>
              </a:rPr>
              <a:t>Finally, a formal technical review summary report is prepared.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171D7700-6027-E31B-916A-C49B859A3DF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It answers three questions :-</a:t>
            </a:r>
          </a:p>
          <a:p>
            <a:pPr fontAlgn="base"/>
            <a:r>
              <a:rPr lang="en-US" dirty="0">
                <a:latin typeface="Times New Roman" panose="02020603050405020304" pitchFamily="18" charset="0"/>
                <a:cs typeface="Times New Roman" panose="02020603050405020304" pitchFamily="18" charset="0"/>
              </a:rPr>
              <a:t>What was reviewed ?</a:t>
            </a:r>
          </a:p>
          <a:p>
            <a:pPr fontAlgn="base"/>
            <a:r>
              <a:rPr lang="en-US" dirty="0">
                <a:latin typeface="Times New Roman" panose="02020603050405020304" pitchFamily="18" charset="0"/>
                <a:cs typeface="Times New Roman" panose="02020603050405020304" pitchFamily="18" charset="0"/>
              </a:rPr>
              <a:t>Who reviewed it ?</a:t>
            </a:r>
          </a:p>
          <a:p>
            <a:pPr fontAlgn="base"/>
            <a:r>
              <a:rPr lang="en-US" dirty="0">
                <a:latin typeface="Times New Roman" panose="02020603050405020304" pitchFamily="18" charset="0"/>
                <a:cs typeface="Times New Roman" panose="02020603050405020304" pitchFamily="18" charset="0"/>
              </a:rPr>
              <a:t>What were the findings and conclusions ?</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DB2553E3-1BAC-7503-1247-85C85528850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Review guidelines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Guidelines for the conducting of formal technical reviews should be established in advance. </a:t>
            </a:r>
          </a:p>
          <a:p>
            <a:r>
              <a:rPr lang="en-US" dirty="0">
                <a:latin typeface="Times New Roman" panose="02020603050405020304" pitchFamily="18" charset="0"/>
                <a:cs typeface="Times New Roman" panose="02020603050405020304" pitchFamily="18" charset="0"/>
              </a:rPr>
              <a:t>These guidelines must be distributed to all reviewers, agreed upon, and then followed.</a:t>
            </a:r>
          </a:p>
          <a:p>
            <a:r>
              <a:rPr lang="en-US" dirty="0">
                <a:latin typeface="Times New Roman" panose="02020603050405020304" pitchFamily="18" charset="0"/>
                <a:cs typeface="Times New Roman" panose="02020603050405020304" pitchFamily="18" charset="0"/>
              </a:rPr>
              <a:t> A review that is unregistered can often be worse than a review that does not minimum set of guidelines for FTR.</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Footer Placeholder 9">
            <a:extLst>
              <a:ext uri="{FF2B5EF4-FFF2-40B4-BE49-F238E27FC236}">
                <a16:creationId xmlns:a16="http://schemas.microsoft.com/office/drawing/2014/main" id="{CC7FEB43-669A-7653-6B63-9327B2FB584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Formal Technical Review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dirty="0">
                <a:latin typeface="Times New Roman" panose="02020603050405020304" pitchFamily="18" charset="0"/>
                <a:cs typeface="Times New Roman" panose="02020603050405020304" pitchFamily="18" charset="0"/>
              </a:rPr>
              <a:t>Review the product, not the manufacture (producer).</a:t>
            </a:r>
          </a:p>
          <a:p>
            <a:pPr fontAlgn="base"/>
            <a:r>
              <a:rPr lang="en-US" dirty="0">
                <a:latin typeface="Times New Roman" panose="02020603050405020304" pitchFamily="18" charset="0"/>
                <a:cs typeface="Times New Roman" panose="02020603050405020304" pitchFamily="18" charset="0"/>
              </a:rPr>
              <a:t>Take written notes (record purpose)</a:t>
            </a:r>
          </a:p>
          <a:p>
            <a:pPr fontAlgn="base"/>
            <a:r>
              <a:rPr lang="en-US" dirty="0">
                <a:latin typeface="Times New Roman" panose="02020603050405020304" pitchFamily="18" charset="0"/>
                <a:cs typeface="Times New Roman" panose="02020603050405020304" pitchFamily="18" charset="0"/>
              </a:rPr>
              <a:t>Limit the number of participants and insists upon advance preparation.</a:t>
            </a:r>
          </a:p>
          <a:p>
            <a:pPr fontAlgn="base"/>
            <a:r>
              <a:rPr lang="en-US" dirty="0">
                <a:latin typeface="Times New Roman" panose="02020603050405020304" pitchFamily="18" charset="0"/>
                <a:cs typeface="Times New Roman" panose="02020603050405020304" pitchFamily="18" charset="0"/>
              </a:rPr>
              <a:t>Develop a checklist for each product that is likely to be reviewed.</a:t>
            </a:r>
          </a:p>
          <a:p>
            <a:pPr fontAlgn="base"/>
            <a:r>
              <a:rPr lang="en-US" dirty="0">
                <a:latin typeface="Times New Roman" panose="02020603050405020304" pitchFamily="18" charset="0"/>
                <a:cs typeface="Times New Roman" panose="02020603050405020304" pitchFamily="18" charset="0"/>
              </a:rPr>
              <a:t>Allocate resources and time schedule for FTRs in order to maintain time schedule.</a:t>
            </a:r>
          </a:p>
          <a:p>
            <a:pPr fontAlgn="base"/>
            <a:r>
              <a:rPr lang="en-US" dirty="0">
                <a:latin typeface="Times New Roman" panose="02020603050405020304" pitchFamily="18" charset="0"/>
                <a:cs typeface="Times New Roman" panose="02020603050405020304" pitchFamily="18" charset="0"/>
              </a:rPr>
              <a:t>Conduct meaningful training for all reviewers in order to make reviews effective.</a:t>
            </a:r>
          </a:p>
          <a:p>
            <a:pPr fontAlgn="base"/>
            <a:r>
              <a:rPr lang="en-US" dirty="0">
                <a:latin typeface="Times New Roman" panose="02020603050405020304" pitchFamily="18" charset="0"/>
                <a:cs typeface="Times New Roman" panose="02020603050405020304" pitchFamily="18" charset="0"/>
              </a:rPr>
              <a:t>Reviews earlier reviews which serve as the base for the current review being conducted.</a:t>
            </a:r>
          </a:p>
          <a:p>
            <a:pPr fontAlgn="base"/>
            <a:r>
              <a:rPr lang="en-US" dirty="0">
                <a:latin typeface="Times New Roman" panose="02020603050405020304" pitchFamily="18" charset="0"/>
                <a:cs typeface="Times New Roman" panose="02020603050405020304" pitchFamily="18" charset="0"/>
              </a:rPr>
              <a:t>Set an agenda and maintain it.</a:t>
            </a:r>
          </a:p>
          <a:p>
            <a:pPr fontAlgn="base"/>
            <a:r>
              <a:rPr lang="en-US" dirty="0">
                <a:latin typeface="Times New Roman" panose="02020603050405020304" pitchFamily="18" charset="0"/>
                <a:cs typeface="Times New Roman" panose="02020603050405020304" pitchFamily="18" charset="0"/>
              </a:rPr>
              <a:t>Separate the problem areas, but do not attempt to solve every problem notes.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D39690D3-579F-5D39-B511-17ABE9A68AE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https://www.geeksforgeeks.org/software-engineering-software-review/</a:t>
            </a:r>
            <a:endParaRPr lang="en-US" dirty="0"/>
          </a:p>
          <a:p>
            <a:r>
              <a:rPr lang="en-US" dirty="0">
                <a:hlinkClick r:id="rId3"/>
              </a:rPr>
              <a:t>https://professionalqa.com/software-review</a:t>
            </a:r>
            <a:endParaRPr lang="en-US" dirty="0"/>
          </a:p>
          <a:p>
            <a:r>
              <a:rPr lang="en-US" dirty="0"/>
              <a:t>https://www.geeksforgeeks.org/formal-technical-review-ftr-in-software-engineering/#:~:text=Formal%20Technical%20Review%20(FTR)%20is,formal%20technical%20review%20(FTR)%3A&amp;text=The%20purpose%20of%20FTR%20is,represented%20according%20to%20predefined%20standards.</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92885"/>
            <a:ext cx="10515600" cy="797803"/>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19</a:t>
            </a:fld>
            <a:endParaRPr lang="en-US"/>
          </a:p>
        </p:txBody>
      </p:sp>
      <p:sp>
        <p:nvSpPr>
          <p:cNvPr id="2" name="Footer Placeholder 9">
            <a:extLst>
              <a:ext uri="{FF2B5EF4-FFF2-40B4-BE49-F238E27FC236}">
                <a16:creationId xmlns:a16="http://schemas.microsoft.com/office/drawing/2014/main" id="{1F373767-C240-E619-57A9-05660210182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20</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FCA3F84E-6329-26DA-5C0A-FE408229D0D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1636</TotalTime>
  <Words>1563</Words>
  <Application>Microsoft Macintosh PowerPoint</Application>
  <PresentationFormat>Widescreen</PresentationFormat>
  <Paragraphs>142</Paragraphs>
  <Slides>20</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29"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Chapter-8 Quality Management</vt:lpstr>
      <vt:lpstr>Software Review</vt:lpstr>
      <vt:lpstr>Software Review</vt:lpstr>
      <vt:lpstr>Objectives of Software Review</vt:lpstr>
      <vt:lpstr>Process of Software Review</vt:lpstr>
      <vt:lpstr>Types of Software Reviews</vt:lpstr>
      <vt:lpstr>Types of Software Reviews</vt:lpstr>
      <vt:lpstr>Types of Software Reviews</vt:lpstr>
      <vt:lpstr>Advantages of Software Review</vt:lpstr>
      <vt:lpstr> Formal Technical Review  </vt:lpstr>
      <vt:lpstr> Formal Technical Review  </vt:lpstr>
      <vt:lpstr> Formal Technical Review  </vt:lpstr>
      <vt:lpstr> Formal Technical Review  </vt:lpstr>
      <vt:lpstr> Formal Technical Review  </vt:lpstr>
      <vt:lpstr> Formal Technical Review  </vt:lpstr>
      <vt:lpstr> Formal Technical Review  </vt:lpstr>
      <vt:lpstr> Formal Technical Review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229</cp:revision>
  <dcterms:created xsi:type="dcterms:W3CDTF">2019-01-09T10:33:58Z</dcterms:created>
  <dcterms:modified xsi:type="dcterms:W3CDTF">2024-12-18T10:17:55Z</dcterms:modified>
</cp:coreProperties>
</file>