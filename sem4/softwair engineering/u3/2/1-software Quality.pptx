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8"/>
  </p:notesMasterIdLst>
  <p:handoutMasterIdLst>
    <p:handoutMasterId r:id="rId19"/>
  </p:handoutMasterIdLst>
  <p:sldIdLst>
    <p:sldId id="662" r:id="rId3"/>
    <p:sldId id="280" r:id="rId4"/>
    <p:sldId id="265" r:id="rId5"/>
    <p:sldId id="327" r:id="rId6"/>
    <p:sldId id="341" r:id="rId7"/>
    <p:sldId id="340" r:id="rId8"/>
    <p:sldId id="339" r:id="rId9"/>
    <p:sldId id="338" r:id="rId10"/>
    <p:sldId id="337" r:id="rId11"/>
    <p:sldId id="336" r:id="rId12"/>
    <p:sldId id="335" r:id="rId13"/>
    <p:sldId id="342" r:id="rId14"/>
    <p:sldId id="334" r:id="rId15"/>
    <p:sldId id="326"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73" autoAdjust="0"/>
    <p:restoredTop sz="94660"/>
  </p:normalViewPr>
  <p:slideViewPr>
    <p:cSldViewPr snapToGrid="0">
      <p:cViewPr varScale="1">
        <p:scale>
          <a:sx n="115" d="100"/>
          <a:sy n="115" d="100"/>
        </p:scale>
        <p:origin x="208"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890B329A-CACF-8C55-B893-D14DB92E415A}"/>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11826E10-5A45-7AA0-C610-EA33B65CEEF8}"/>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8AEF48EE-69CA-38F0-59C0-37CD84373380}"/>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sq.org/quality-resources/software-quality" TargetMode="External"/><Relationship Id="rId2" Type="http://schemas.openxmlformats.org/officeDocument/2006/relationships/hyperlink" Target="https://www.javatpoint.com/software-engineering-software-quality" TargetMode="External"/><Relationship Id="rId1" Type="http://schemas.openxmlformats.org/officeDocument/2006/relationships/slideLayout" Target="../slideLayouts/slideLayout2.xml"/><Relationship Id="rId5" Type="http://schemas.openxmlformats.org/officeDocument/2006/relationships/hyperlink" Target="https://www.javatpoint.com/software-engineering-software-reliability" TargetMode="External"/><Relationship Id="rId4" Type="http://schemas.openxmlformats.org/officeDocument/2006/relationships/hyperlink" Target="https://users.ece.cmu.edu/~koopman/des_s99/sw_reliability/"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Quality Management</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038"/>
            <a:ext cx="10515600" cy="531850"/>
          </a:xfrm>
        </p:spPr>
        <p:txBody>
          <a:bodyPr>
            <a:noAutofit/>
          </a:bodyPr>
          <a:lstStyle/>
          <a:p>
            <a:pPr algn="ctr"/>
            <a:r>
              <a:rPr lang="en-US" sz="3600" dirty="0">
                <a:latin typeface="Times New Roman" panose="02020603050405020304" pitchFamily="18" charset="0"/>
                <a:cs typeface="Times New Roman" pitchFamily="18" charset="0"/>
              </a:rPr>
              <a:t>Chapter-8</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itchFamily="18" charset="0"/>
              </a:rPr>
              <a:t>Quality Management</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1925619"/>
            <a:ext cx="10515600" cy="4251344"/>
          </a:xfrm>
        </p:spPr>
        <p:txBody>
          <a:bodyPr>
            <a:normAutofit/>
          </a:bodyPr>
          <a:lstStyle/>
          <a:p>
            <a:pPr>
              <a:lnSpc>
                <a:spcPct val="150000"/>
              </a:lnSpc>
            </a:pPr>
            <a:r>
              <a:rPr lang="en-US" sz="2400" dirty="0">
                <a:latin typeface="Times New Roman" pitchFamily="18" charset="0"/>
                <a:cs typeface="Times New Roman" pitchFamily="18" charset="0"/>
              </a:rPr>
              <a:t>Software Quality</a:t>
            </a:r>
          </a:p>
          <a:p>
            <a:pPr>
              <a:lnSpc>
                <a:spcPct val="150000"/>
              </a:lnSpc>
            </a:pPr>
            <a:r>
              <a:rPr lang="en-US" sz="2400" dirty="0">
                <a:latin typeface="Times New Roman" pitchFamily="18" charset="0"/>
                <a:cs typeface="Times New Roman" pitchFamily="18" charset="0"/>
              </a:rPr>
              <a:t>Software Reliability</a:t>
            </a:r>
          </a:p>
        </p:txBody>
      </p:sp>
      <p:sp>
        <p:nvSpPr>
          <p:cNvPr id="5" name="Rectangle 4"/>
          <p:cNvSpPr/>
          <p:nvPr/>
        </p:nvSpPr>
        <p:spPr>
          <a:xfrm>
            <a:off x="838200" y="2105006"/>
            <a:ext cx="10515600" cy="406719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92885"/>
            <a:ext cx="10515600" cy="12073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D7A5C4C5-3639-7B0C-0071-8D73BFEB8F8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437022578"/>
              </p:ext>
            </p:extLst>
          </p:nvPr>
        </p:nvGraphicFramePr>
        <p:xfrm>
          <a:off x="1636394" y="2497107"/>
          <a:ext cx="7161917" cy="3200223"/>
        </p:xfrm>
        <a:graphic>
          <a:graphicData uri="http://schemas.openxmlformats.org/drawingml/2006/table">
            <a:tbl>
              <a:tblPr firstRow="1" firstCol="1" bandRow="1">
                <a:tableStyleId>{5940675A-B579-460E-94D1-54222C63F5DA}</a:tableStyleId>
              </a:tblPr>
              <a:tblGrid>
                <a:gridCol w="1464732">
                  <a:extLst>
                    <a:ext uri="{9D8B030D-6E8A-4147-A177-3AD203B41FA5}">
                      <a16:colId xmlns:a16="http://schemas.microsoft.com/office/drawing/2014/main" val="20000"/>
                    </a:ext>
                  </a:extLst>
                </a:gridCol>
                <a:gridCol w="5697185">
                  <a:extLst>
                    <a:ext uri="{9D8B030D-6E8A-4147-A177-3AD203B41FA5}">
                      <a16:colId xmlns:a16="http://schemas.microsoft.com/office/drawing/2014/main" val="20001"/>
                    </a:ext>
                  </a:extLst>
                </a:gridCol>
              </a:tblGrid>
              <a:tr h="1093707">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CO Number</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Title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053258">
                <a:tc>
                  <a:txBody>
                    <a:bodyPr/>
                    <a:lstStyle/>
                    <a:p>
                      <a:pPr marR="53975" algn="ctr">
                        <a:lnSpc>
                          <a:spcPct val="107000"/>
                        </a:lnSpc>
                        <a:spcAft>
                          <a:spcPts val="800"/>
                        </a:spcAft>
                      </a:pPr>
                      <a:r>
                        <a:rPr lang="en-IN" sz="2000">
                          <a:effectLst/>
                          <a:latin typeface="Times New Roman" panose="02020603050405020304" pitchFamily="18" charset="0"/>
                          <a:ea typeface="Calibri" panose="020F0502020204030204" pitchFamily="34" charset="0"/>
                          <a:cs typeface="Times New Roman" panose="02020603050405020304" pitchFamily="18" charset="0"/>
                        </a:rPr>
                        <a:t>CO4</a:t>
                      </a:r>
                    </a:p>
                  </a:txBody>
                  <a:tcPr marL="68580" marR="68580" marT="0" marB="0" anchor="ctr"/>
                </a:tc>
                <a:tc>
                  <a:txBody>
                    <a:bodyPr/>
                    <a:lstStyle/>
                    <a:p>
                      <a:pPr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Prepare Test Suite and Quality Assurance plan for a given project.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1053258">
                <a:tc>
                  <a:txBody>
                    <a:bodyPr/>
                    <a:lstStyle/>
                    <a:p>
                      <a:pPr marR="53975" algn="ctr">
                        <a:lnSpc>
                          <a:spcPct val="107000"/>
                        </a:lnSpc>
                        <a:spcAft>
                          <a:spcPts val="800"/>
                        </a:spcAft>
                      </a:pPr>
                      <a:r>
                        <a:rPr lang="en-IN" sz="2000">
                          <a:effectLst/>
                          <a:latin typeface="Times New Roman" panose="02020603050405020304" pitchFamily="18" charset="0"/>
                          <a:ea typeface="Calibri" panose="020F0502020204030204" pitchFamily="34" charset="0"/>
                          <a:cs typeface="Times New Roman" panose="02020603050405020304" pitchFamily="18" charset="0"/>
                        </a:rPr>
                        <a:t>CO5</a:t>
                      </a:r>
                    </a:p>
                  </a:txBody>
                  <a:tcPr marL="68580" marR="68580" marT="0" marB="0" anchor="ctr"/>
                </a:tc>
                <a:tc>
                  <a:txBody>
                    <a:bodyPr/>
                    <a:lstStyle/>
                    <a:p>
                      <a:pPr indent="-31115"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Understand and analyse software management principles.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31115"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50770155"/>
                  </a:ext>
                </a:extLst>
              </a:tr>
            </a:tbl>
          </a:graphicData>
        </a:graphic>
      </p:graphicFrame>
      <p:sp>
        <p:nvSpPr>
          <p:cNvPr id="11" name="Rectangle 10"/>
          <p:cNvSpPr/>
          <p:nvPr/>
        </p:nvSpPr>
        <p:spPr>
          <a:xfrm>
            <a:off x="217842" y="1281538"/>
            <a:ext cx="2374689" cy="461665"/>
          </a:xfrm>
          <a:prstGeom prst="rect">
            <a:avLst/>
          </a:prstGeom>
        </p:spPr>
        <p:txBody>
          <a:bodyPr wrap="none">
            <a:spAutoFit/>
          </a:bodyPr>
          <a:lstStyle/>
          <a:p>
            <a:r>
              <a:rPr lang="en-US" sz="2400" b="1" dirty="0"/>
              <a:t>Course Outcome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10" name="Footer Placeholder 9">
            <a:extLst>
              <a:ext uri="{FF2B5EF4-FFF2-40B4-BE49-F238E27FC236}">
                <a16:creationId xmlns:a16="http://schemas.microsoft.com/office/drawing/2014/main" id="{D3EF1D39-20AE-0E75-E1DC-5F2584D8AB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Autofit/>
          </a:bodyPr>
          <a:lstStyle/>
          <a:p>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Software Quality</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Software quality product is defined in term of its fitness of purpose.</a:t>
            </a:r>
          </a:p>
          <a:p>
            <a:pPr algn="just"/>
            <a:r>
              <a:rPr lang="en-US" dirty="0">
                <a:latin typeface="Times New Roman" panose="02020603050405020304" pitchFamily="18" charset="0"/>
                <a:cs typeface="Times New Roman" panose="02020603050405020304" pitchFamily="18" charset="0"/>
              </a:rPr>
              <a:t> That is, a quality product does precisely what the users want it to do. </a:t>
            </a:r>
          </a:p>
          <a:p>
            <a:pPr algn="just"/>
            <a:r>
              <a:rPr lang="en-US" dirty="0">
                <a:latin typeface="Times New Roman" panose="02020603050405020304" pitchFamily="18" charset="0"/>
                <a:cs typeface="Times New Roman" panose="02020603050405020304" pitchFamily="18" charset="0"/>
              </a:rPr>
              <a:t>For software products, the fitness of use is generally explained in terms of satisfaction of the requirements laid down in the SRS document.</a:t>
            </a:r>
          </a:p>
          <a:p>
            <a:pPr algn="just"/>
            <a:r>
              <a:rPr lang="en-US" dirty="0">
                <a:latin typeface="Times New Roman" panose="02020603050405020304" pitchFamily="18" charset="0"/>
                <a:cs typeface="Times New Roman" panose="02020603050405020304" pitchFamily="18" charset="0"/>
              </a:rPr>
              <a:t> Although "fitness of purpose" is a satisfactory interpretation of quality for many devices such as a car, a table fan, a grinding machine, </a:t>
            </a:r>
            <a:r>
              <a:rPr lang="en-US" dirty="0" err="1">
                <a:latin typeface="Times New Roman" panose="02020603050405020304" pitchFamily="18" charset="0"/>
                <a:cs typeface="Times New Roman" panose="02020603050405020304" pitchFamily="18" charset="0"/>
              </a:rPr>
              <a:t>etc.for</a:t>
            </a:r>
            <a:r>
              <a:rPr lang="en-US" dirty="0">
                <a:latin typeface="Times New Roman" panose="02020603050405020304" pitchFamily="18" charset="0"/>
                <a:cs typeface="Times New Roman" panose="02020603050405020304" pitchFamily="18" charset="0"/>
              </a:rPr>
              <a:t> software products, "fitness of purpose" is not a wholly satisfactory definition of quality.</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2D8A8962-12B3-9824-DDDF-18D721014E1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Quality</a:t>
            </a:r>
            <a:br>
              <a:rPr lang="en-US" dirty="0"/>
            </a:br>
            <a:endParaRPr lang="en-US" dirty="0"/>
          </a:p>
        </p:txBody>
      </p:sp>
      <p:sp>
        <p:nvSpPr>
          <p:cNvPr id="3" name="Content Placeholder 2"/>
          <p:cNvSpPr>
            <a:spLocks noGrp="1"/>
          </p:cNvSpPr>
          <p:nvPr>
            <p:ph idx="1"/>
          </p:nvPr>
        </p:nvSpPr>
        <p:spPr/>
        <p:txBody>
          <a:bodyPr/>
          <a:lstStyle/>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Consider a functionally correct software product. That is, it performs all tasks as specified in the SRS document.</a:t>
            </a:r>
          </a:p>
          <a:p>
            <a:pP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But, has an almost unusable user interface. Even though it may be functionally right, we cannot consider it to be a quality product.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74CE720B-330A-3B20-1010-848B3E39DC9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Quality</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The modern view of a quality associated with a software product several quality methods such as the following:</a:t>
            </a:r>
          </a:p>
          <a:p>
            <a:pPr algn="just"/>
            <a:r>
              <a:rPr lang="en-US" b="1" dirty="0">
                <a:latin typeface="Times New Roman" panose="02020603050405020304" pitchFamily="18" charset="0"/>
                <a:cs typeface="Times New Roman" panose="02020603050405020304" pitchFamily="18" charset="0"/>
              </a:rPr>
              <a:t>Portability:</a:t>
            </a:r>
            <a:r>
              <a:rPr lang="en-US" dirty="0">
                <a:latin typeface="Times New Roman" panose="02020603050405020304" pitchFamily="18" charset="0"/>
                <a:cs typeface="Times New Roman" panose="02020603050405020304" pitchFamily="18" charset="0"/>
              </a:rPr>
              <a:t> A software device is said to be portable, if it can be freely made to work in various operating system environments, in multiple machines, with other software products, etc.</a:t>
            </a:r>
          </a:p>
          <a:p>
            <a:pPr algn="just"/>
            <a:r>
              <a:rPr lang="en-US" b="1" dirty="0">
                <a:latin typeface="Times New Roman" panose="02020603050405020304" pitchFamily="18" charset="0"/>
                <a:cs typeface="Times New Roman" panose="02020603050405020304" pitchFamily="18" charset="0"/>
              </a:rPr>
              <a:t>Usability:</a:t>
            </a:r>
            <a:r>
              <a:rPr lang="en-US" dirty="0">
                <a:latin typeface="Times New Roman" panose="02020603050405020304" pitchFamily="18" charset="0"/>
                <a:cs typeface="Times New Roman" panose="02020603050405020304" pitchFamily="18" charset="0"/>
              </a:rPr>
              <a:t> A software product has better usability if various categories of users can easily invoke the functions of the product.</a:t>
            </a:r>
          </a:p>
          <a:p>
            <a:pPr algn="just"/>
            <a:r>
              <a:rPr lang="en-US" b="1" dirty="0">
                <a:latin typeface="Times New Roman" panose="02020603050405020304" pitchFamily="18" charset="0"/>
                <a:cs typeface="Times New Roman" panose="02020603050405020304" pitchFamily="18" charset="0"/>
              </a:rPr>
              <a:t>Reusability:</a:t>
            </a:r>
            <a:r>
              <a:rPr lang="en-US" dirty="0">
                <a:latin typeface="Times New Roman" panose="02020603050405020304" pitchFamily="18" charset="0"/>
                <a:cs typeface="Times New Roman" panose="02020603050405020304" pitchFamily="18" charset="0"/>
              </a:rPr>
              <a:t> A software product has excellent reusability if different modules of the product can quickly be reused to develop new products.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A7B0E1A6-51D8-AE9C-D6B9-978B0AA4A13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Quality</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Correctness:</a:t>
            </a:r>
            <a:r>
              <a:rPr lang="en-US" dirty="0">
                <a:latin typeface="Times New Roman" panose="02020603050405020304" pitchFamily="18" charset="0"/>
                <a:cs typeface="Times New Roman" panose="02020603050405020304" pitchFamily="18" charset="0"/>
              </a:rPr>
              <a:t> A software product is correct if various requirements as specified in the SRS document have been correctly implemented.</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Maintainability:</a:t>
            </a:r>
            <a:r>
              <a:rPr lang="en-US" dirty="0">
                <a:latin typeface="Times New Roman" panose="02020603050405020304" pitchFamily="18" charset="0"/>
                <a:cs typeface="Times New Roman" panose="02020603050405020304" pitchFamily="18" charset="0"/>
              </a:rPr>
              <a:t> A software product is maintainable if bugs can be easily corrected as and when they show up, new tasks can be easily added to the product, and the functionalities of the product can be easily modified, etc.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B932EE2A-31DC-500A-A497-E82713E6212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Quality Management System</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 quality management system is the principal methods used by organizations to provide that the products they develop have the desired quality.</a:t>
            </a:r>
          </a:p>
          <a:p>
            <a:pPr algn="just"/>
            <a:r>
              <a:rPr lang="en-US" b="1" dirty="0">
                <a:latin typeface="Times New Roman" panose="02020603050405020304" pitchFamily="18" charset="0"/>
                <a:cs typeface="Times New Roman" panose="02020603050405020304" pitchFamily="18" charset="0"/>
              </a:rPr>
              <a:t>A quality system subsists of the following:</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Managerial Structure and Individual Responsibilities:</a:t>
            </a:r>
            <a:r>
              <a:rPr lang="en-US" dirty="0">
                <a:latin typeface="Times New Roman" panose="02020603050405020304" pitchFamily="18" charset="0"/>
                <a:cs typeface="Times New Roman" panose="02020603050405020304" pitchFamily="18" charset="0"/>
              </a:rPr>
              <a:t> A quality system is the responsibility of the organization as a whole. However, every organization has a sever quality department to perform various quality system activities. The quality system of an arrangement should have the support of the top management. Without help for the quality system at a high level in a company, some members of staff will take the quality system seriously.</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AC54B15F-373C-8377-821B-A807A5D5E67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Quality Management System</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Quality System Activities:</a:t>
            </a:r>
            <a:r>
              <a:rPr lang="en-US" dirty="0">
                <a:latin typeface="Times New Roman" panose="02020603050405020304" pitchFamily="18" charset="0"/>
                <a:cs typeface="Times New Roman" panose="02020603050405020304" pitchFamily="18" charset="0"/>
              </a:rPr>
              <a:t> The quality system activities encompass the following:</a:t>
            </a:r>
          </a:p>
          <a:p>
            <a:r>
              <a:rPr lang="en-US" dirty="0">
                <a:latin typeface="Times New Roman" panose="02020603050405020304" pitchFamily="18" charset="0"/>
                <a:cs typeface="Times New Roman" panose="02020603050405020304" pitchFamily="18" charset="0"/>
              </a:rPr>
              <a:t>Auditing of projects</a:t>
            </a:r>
          </a:p>
          <a:p>
            <a:r>
              <a:rPr lang="en-US" dirty="0">
                <a:latin typeface="Times New Roman" panose="02020603050405020304" pitchFamily="18" charset="0"/>
                <a:cs typeface="Times New Roman" panose="02020603050405020304" pitchFamily="18" charset="0"/>
              </a:rPr>
              <a:t>Review of the quality system</a:t>
            </a:r>
          </a:p>
          <a:p>
            <a:r>
              <a:rPr lang="en-US" dirty="0">
                <a:latin typeface="Times New Roman" panose="02020603050405020304" pitchFamily="18" charset="0"/>
                <a:cs typeface="Times New Roman" panose="02020603050405020304" pitchFamily="18" charset="0"/>
              </a:rPr>
              <a:t>Development of standards, methods, and guidelines, etc.</a:t>
            </a:r>
          </a:p>
          <a:p>
            <a:r>
              <a:rPr lang="en-US" dirty="0">
                <a:latin typeface="Times New Roman" panose="02020603050405020304" pitchFamily="18" charset="0"/>
                <a:cs typeface="Times New Roman" panose="02020603050405020304" pitchFamily="18" charset="0"/>
              </a:rPr>
              <a:t>Production of documents for the top management summarizing the effectiveness of the quality system in the organization.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1E585088-B431-6A9A-6D54-C79D75F0488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Reliability</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Software Reliability means </a:t>
            </a:r>
            <a:r>
              <a:rPr lang="en-US" b="1" dirty="0">
                <a:latin typeface="Times New Roman" panose="02020603050405020304" pitchFamily="18" charset="0"/>
                <a:cs typeface="Times New Roman" panose="02020603050405020304" pitchFamily="18" charset="0"/>
              </a:rPr>
              <a:t>Operational reliability</a:t>
            </a:r>
            <a:r>
              <a:rPr lang="en-US" dirty="0">
                <a:latin typeface="Times New Roman" panose="02020603050405020304" pitchFamily="18" charset="0"/>
                <a:cs typeface="Times New Roman" panose="02020603050405020304" pitchFamily="18" charset="0"/>
              </a:rPr>
              <a:t>. It is described as the ability of a system or component to perform its required functions under static conditions for a specific period.</a:t>
            </a:r>
          </a:p>
          <a:p>
            <a:pPr algn="just"/>
            <a:r>
              <a:rPr lang="en-US" dirty="0">
                <a:latin typeface="Times New Roman" panose="02020603050405020304" pitchFamily="18" charset="0"/>
                <a:cs typeface="Times New Roman" panose="02020603050405020304" pitchFamily="18" charset="0"/>
              </a:rPr>
              <a:t>Software reliability is also defined as the probability that a software system fulfills its assigned task in a given environment for a predefined number of input cases, assuming that the hardware and the input are free of error.</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BBAD0D72-8074-2761-6D63-6145200C395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Reliability</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Software Reliability is an essential connect of software quality, composed with functionality, usability, performance, serviceability, capability, </a:t>
            </a:r>
            <a:r>
              <a:rPr lang="en-US" dirty="0" err="1">
                <a:latin typeface="Times New Roman" panose="02020603050405020304" pitchFamily="18" charset="0"/>
                <a:cs typeface="Times New Roman" panose="02020603050405020304" pitchFamily="18" charset="0"/>
              </a:rPr>
              <a:t>installability</a:t>
            </a:r>
            <a:r>
              <a:rPr lang="en-US" dirty="0">
                <a:latin typeface="Times New Roman" panose="02020603050405020304" pitchFamily="18" charset="0"/>
                <a:cs typeface="Times New Roman" panose="02020603050405020304" pitchFamily="18" charset="0"/>
              </a:rPr>
              <a:t>, maintainability, and documentation.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Software Reliability is hard to achieve because the complexity of software turn to be high. </a:t>
            </a:r>
          </a:p>
          <a:p>
            <a:pPr algn="just">
              <a:buNone/>
            </a:pP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8B144BCA-181B-DE06-1CFE-B2CB015F01A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Reliability</a:t>
            </a:r>
            <a:br>
              <a:rPr lang="en-US" dirty="0"/>
            </a:br>
            <a:endParaRPr lang="en-US" dirty="0"/>
          </a:p>
        </p:txBody>
      </p:sp>
      <p:sp>
        <p:nvSpPr>
          <p:cNvPr id="3" name="Content Placeholder 2"/>
          <p:cNvSpPr>
            <a:spLocks noGrp="1"/>
          </p:cNvSpPr>
          <p:nvPr>
            <p:ph idx="1"/>
          </p:nvPr>
        </p:nvSpPr>
        <p:spPr/>
        <p:txBody>
          <a:bodyPr/>
          <a:lstStyle/>
          <a:p>
            <a:pPr algn="just"/>
            <a:endParaRPr lang="en-US" dirty="0"/>
          </a:p>
          <a:p>
            <a:pPr algn="just"/>
            <a:r>
              <a:rPr lang="en-US" dirty="0">
                <a:latin typeface="Times New Roman" panose="02020603050405020304" pitchFamily="18" charset="0"/>
                <a:cs typeface="Times New Roman" panose="02020603050405020304" pitchFamily="18" charset="0"/>
              </a:rPr>
              <a:t>While any system with a high degree of complexity, containing software, will be hard to reach a certain level of reliability, system developers tend to push complexity into the software layer, with the speedy growth of system size and ease of doing so by upgrading the software.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5827335B-4BFE-F596-497B-C9EC0264FAD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 Reliability</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For example</a:t>
            </a:r>
            <a:r>
              <a:rPr lang="en-US" dirty="0">
                <a:latin typeface="Times New Roman" panose="02020603050405020304" pitchFamily="18" charset="0"/>
                <a:cs typeface="Times New Roman" panose="02020603050405020304" pitchFamily="18" charset="0"/>
              </a:rPr>
              <a:t>, large next-generation aircraft will have over 1 million source lines of software on-board; next-generation air traffic control systems will contain between one and two million lines; the upcoming International Space Station will have over two million lines on-board and over 10 million lines of ground support software; several significant life-critical defense systems will have over 5 million source lines of software. While the complexity of software is inversely associated with software reliability, it is directly related to other vital factors in software quality, especially functionality, capability, etc.</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D0F7C706-4847-E095-008E-72C5AC4A561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https://www.javatpoint.com/software-engineering-software-quality</a:t>
            </a:r>
            <a:endParaRPr lang="en-US" dirty="0"/>
          </a:p>
          <a:p>
            <a:r>
              <a:rPr lang="en-US" dirty="0">
                <a:hlinkClick r:id="rId3"/>
              </a:rPr>
              <a:t>https://asq.org/quality-resources/software-quality#:~:text=Software%20quality%20is%20defined%20as,defect%20management%20and%20quality%20attributes</a:t>
            </a:r>
            <a:r>
              <a:rPr lang="en-US" dirty="0"/>
              <a:t>.</a:t>
            </a:r>
          </a:p>
          <a:p>
            <a:r>
              <a:rPr lang="en-US" dirty="0">
                <a:hlinkClick r:id="rId4"/>
              </a:rPr>
              <a:t>https://users.ece.cmu.edu/~koopman/des_s99/sw_reliability/#:~:text=According%20to%20ANSI%2C%20Software%20Reliability,time%20in%20a%20specified%20environment.&amp;text=Software%20Reliability%20is%20hard%20to,software%20tends%20to%20be%20high</a:t>
            </a:r>
            <a:r>
              <a:rPr lang="en-US" dirty="0"/>
              <a:t>.</a:t>
            </a:r>
          </a:p>
          <a:p>
            <a:r>
              <a:rPr lang="en-US" dirty="0">
                <a:hlinkClick r:id="rId5"/>
              </a:rPr>
              <a:t>https://www.javatpoint.com/software-engineering-software-reliability</a:t>
            </a:r>
            <a:endParaRPr lang="en-US" dirty="0"/>
          </a:p>
          <a:p>
            <a:pPr>
              <a:buNone/>
            </a:pP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17581"/>
            <a:ext cx="10515600" cy="87310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14</a:t>
            </a:fld>
            <a:endParaRPr lang="en-US"/>
          </a:p>
        </p:txBody>
      </p:sp>
      <p:sp>
        <p:nvSpPr>
          <p:cNvPr id="2" name="Footer Placeholder 9">
            <a:extLst>
              <a:ext uri="{FF2B5EF4-FFF2-40B4-BE49-F238E27FC236}">
                <a16:creationId xmlns:a16="http://schemas.microsoft.com/office/drawing/2014/main" id="{61F66A88-311B-53FE-F700-3027A94C733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15</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9D7138C8-60BB-4C6C-D7C8-9E0596DC987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1890</TotalTime>
  <Words>1189</Words>
  <Application>Microsoft Macintosh PowerPoint</Application>
  <PresentationFormat>Widescreen</PresentationFormat>
  <Paragraphs>103</Paragraphs>
  <Slides>15</Slides>
  <Notes>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4"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Chapter-8 Quality Management</vt:lpstr>
      <vt:lpstr>PowerPoint Presentation</vt:lpstr>
      <vt:lpstr> Software Quality </vt:lpstr>
      <vt:lpstr> Software Quality </vt:lpstr>
      <vt:lpstr> Software Quality </vt:lpstr>
      <vt:lpstr> Software Quality </vt:lpstr>
      <vt:lpstr> Software Quality Management System </vt:lpstr>
      <vt:lpstr> Software Quality Management System </vt:lpstr>
      <vt:lpstr> Software Reliability </vt:lpstr>
      <vt:lpstr> Software Reliability </vt:lpstr>
      <vt:lpstr> Software Reliability </vt:lpstr>
      <vt:lpstr> Software Reliability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225</cp:revision>
  <dcterms:created xsi:type="dcterms:W3CDTF">2019-01-09T10:33:58Z</dcterms:created>
  <dcterms:modified xsi:type="dcterms:W3CDTF">2024-12-23T10:49:44Z</dcterms:modified>
</cp:coreProperties>
</file>