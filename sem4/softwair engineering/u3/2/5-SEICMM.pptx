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16"/>
  </p:notesMasterIdLst>
  <p:handoutMasterIdLst>
    <p:handoutMasterId r:id="rId17"/>
  </p:handoutMasterIdLst>
  <p:sldIdLst>
    <p:sldId id="662" r:id="rId3"/>
    <p:sldId id="280" r:id="rId4"/>
    <p:sldId id="327" r:id="rId5"/>
    <p:sldId id="341" r:id="rId6"/>
    <p:sldId id="340" r:id="rId7"/>
    <p:sldId id="339" r:id="rId8"/>
    <p:sldId id="338" r:id="rId9"/>
    <p:sldId id="337" r:id="rId10"/>
    <p:sldId id="336" r:id="rId11"/>
    <p:sldId id="335" r:id="rId12"/>
    <p:sldId id="334" r:id="rId13"/>
    <p:sldId id="326" r:id="rId14"/>
    <p:sldId id="27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29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416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321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AB20D1-7603-29A2-DBFE-D075F47E3A0A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446" y="0"/>
            <a:ext cx="882927" cy="785252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A59EB2F8-8D75-5011-5364-627873BC8DFF}"/>
              </a:ext>
            </a:extLst>
          </p:cNvPr>
          <p:cNvPicPr/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6373" y="49261"/>
            <a:ext cx="975818" cy="688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32903C-B956-4D02-04A3-CD21226FE0CB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2191" y="58916"/>
            <a:ext cx="2019808" cy="64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tpoint.com/software-engineering-institute-capability-maturity-model" TargetMode="External"/><Relationship Id="rId2" Type="http://schemas.openxmlformats.org/officeDocument/2006/relationships/hyperlink" Target="https://www.geeksforgeeks.org/software-engineering-capability-maturity-model-cm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utorialspoint.com/software_testing_dictionary/capability_maturity_model.htm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3;p1"/>
          <p:cNvSpPr/>
          <p:nvPr/>
        </p:nvSpPr>
        <p:spPr>
          <a:xfrm>
            <a:off x="501445" y="4837797"/>
            <a:ext cx="10958052" cy="15185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2662" y="4891470"/>
            <a:ext cx="4156822" cy="1236591"/>
          </a:xfrm>
        </p:spPr>
        <p:txBody>
          <a:bodyPr>
            <a:noAutofit/>
          </a:bodyPr>
          <a:lstStyle/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Jagmeet Kaur</a:t>
            </a:r>
          </a:p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E8387</a:t>
            </a:r>
          </a:p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 </a:t>
            </a:r>
          </a:p>
        </p:txBody>
      </p:sp>
      <p:sp>
        <p:nvSpPr>
          <p:cNvPr id="7" name="Google Shape;100;p1"/>
          <p:cNvSpPr/>
          <p:nvPr/>
        </p:nvSpPr>
        <p:spPr>
          <a:xfrm flipH="1">
            <a:off x="9344623" y="4901508"/>
            <a:ext cx="2466377" cy="1712909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lIns="75585" tIns="37782" rIns="75585" bIns="37782" anchor="ctr"/>
          <a:lstStyle/>
          <a:p>
            <a:pPr algn="ctr">
              <a:defRPr/>
            </a:pPr>
            <a:endParaRPr sz="1488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01;p1"/>
          <p:cNvSpPr txBox="1"/>
          <p:nvPr/>
        </p:nvSpPr>
        <p:spPr>
          <a:xfrm>
            <a:off x="7158646" y="5490468"/>
            <a:ext cx="4075113" cy="534988"/>
          </a:xfrm>
          <a:prstGeom prst="rect">
            <a:avLst/>
          </a:prstGeom>
          <a:noFill/>
          <a:ln>
            <a:noFill/>
          </a:ln>
        </p:spPr>
        <p:txBody>
          <a:bodyPr spcFirstLastPara="1" lIns="75585" tIns="37782" rIns="75585" bIns="37782">
            <a:spAutoFit/>
          </a:bodyPr>
          <a:lstStyle/>
          <a:p>
            <a:pPr>
              <a:defRPr/>
            </a:pPr>
            <a:r>
              <a:rPr lang="en-US" sz="1653" b="1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DISCOVER . </a:t>
            </a:r>
            <a:r>
              <a:rPr lang="en-US" sz="1653" b="1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LEARN</a:t>
            </a:r>
            <a:r>
              <a:rPr lang="en-US" sz="1653" b="1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. EMPOWER</a:t>
            </a:r>
            <a:endParaRPr sz="992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defRPr/>
            </a:pPr>
            <a:endParaRPr sz="1323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1"/>
          <p:cNvSpPr/>
          <p:nvPr/>
        </p:nvSpPr>
        <p:spPr>
          <a:xfrm>
            <a:off x="1826198" y="5901986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03;p1"/>
          <p:cNvSpPr txBox="1"/>
          <p:nvPr/>
        </p:nvSpPr>
        <p:spPr>
          <a:xfrm>
            <a:off x="910729" y="1207782"/>
            <a:ext cx="9722858" cy="2843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University Institute of Engineering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 OF COMPUTER SCIENCE &amp; ENGINEERING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Name: Software Engineering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Code: 23CST-206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09/12/24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446" y="0"/>
            <a:ext cx="882927" cy="785252"/>
          </a:xfrm>
          <a:prstGeom prst="rect">
            <a:avLst/>
          </a:prstGeom>
        </p:spPr>
      </p:pic>
      <p:pic>
        <p:nvPicPr>
          <p:cNvPr id="15" name="Picture 14" descr="National Board of Accreditation - Wikipedia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6373" y="49261"/>
            <a:ext cx="975818" cy="6883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3E7AC5-0170-6A4D-3DDF-A62478ECD17A}"/>
              </a:ext>
            </a:extLst>
          </p:cNvPr>
          <p:cNvSpPr txBox="1"/>
          <p:nvPr/>
        </p:nvSpPr>
        <p:spPr>
          <a:xfrm>
            <a:off x="4719484" y="3934196"/>
            <a:ext cx="21976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Quality Management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96E75A-F74F-2D77-5F7D-29AACD5910A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2191" y="58916"/>
            <a:ext cx="2019808" cy="64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940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1330642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itchFamily="18" charset="0"/>
              </a:rPr>
              <a:t>Chapter-8</a:t>
            </a:r>
            <a:br>
              <a:rPr lang="en-US" sz="3600" dirty="0">
                <a:latin typeface="Times New Roman" panose="02020603050405020304" pitchFamily="18" charset="0"/>
                <a:cs typeface="Times New Roman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itchFamily="18" charset="0"/>
              </a:rPr>
              <a:t>Quality Management</a:t>
            </a:r>
            <a:endParaRPr lang="en-US" sz="36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04651"/>
            <a:ext cx="10515600" cy="407231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SEICMM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38200" y="2119256"/>
            <a:ext cx="10515600" cy="405294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07720" y="817581"/>
            <a:ext cx="10515600" cy="119409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518151CE-FB3D-B9B3-379B-DB73CEEBE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49854"/>
            <a:ext cx="10515600" cy="840834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Capability maturity model (CMM)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CMM was developed by the Software Engineering Institute (SEI) at Carnegie Mellon University in 1987. 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not a software process model. It is a framework which is used to analyze the approach and techniques followed by any organization to develop software products.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provides guidelines to further enhance the maturity of the process used to develop those software products.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AFB72CFA-DDAE-3CC8-D9C0-573567EE6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60612"/>
            <a:ext cx="10515600" cy="830076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Capability maturity model (CMM)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based on profound feedback and development practices adopted by the most successful organizations worldwide.</a:t>
            </a:r>
          </a:p>
          <a:p>
            <a:pPr fontAlgn="base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model describes a strategy for software process improvement that should be followed by moving through 5 different levels.</a:t>
            </a:r>
          </a:p>
          <a:p>
            <a:pPr fontAlgn="base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level of maturity shows a process capability level. All the levels except level-1 are further described by Key Process Areas (KPA’s).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7D7C870D-CC0A-6839-74A1-1EB60633B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60612"/>
            <a:ext cx="10515600" cy="83007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Process Areas 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of these KPA’s defines the basic requirements that should be met by a software process in order to satisfy the KPA and achieve that level of maturity. </a:t>
            </a:r>
          </a:p>
          <a:p>
            <a:pPr algn="just" fontAlgn="base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Conceptually, key process areas form the basis for management control of the software project and establish a context in which technical methods are applied, work products like models, documents, data, reports, etc. are produced, milestones are established, quality is ensured and change is properly managed. </a:t>
            </a:r>
          </a:p>
          <a:p>
            <a:pPr algn="just" fontAlgn="base">
              <a:buNone/>
            </a:pPr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7806AD41-9BAA-FFBF-17CE-C25ED9FDC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39096"/>
            <a:ext cx="10515600" cy="85159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Levels of CMM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5 levels of CMM are as follows: </a:t>
            </a:r>
          </a:p>
          <a:p>
            <a:pPr fontAlgn="base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Level-1: Initial 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KPA’s defined. 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followed are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adhoc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immature and are not well defined.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Unstable environment for software development.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basis for predicting product quality, time for completion, etc.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603C3E49-35B7-82CC-A224-08BE5CB6F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17581"/>
            <a:ext cx="10515600" cy="207178"/>
          </a:xfrm>
        </p:spPr>
        <p:txBody>
          <a:bodyPr>
            <a:normAutofit fontScale="90000"/>
          </a:bodyPr>
          <a:lstStyle/>
          <a:p>
            <a:r>
              <a:rPr lang="en-US" dirty="0"/>
              <a:t>Levels of CMM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3797"/>
            <a:ext cx="10515600" cy="5084657"/>
          </a:xfrm>
        </p:spPr>
        <p:txBody>
          <a:bodyPr>
            <a:noAutofit/>
          </a:bodyPr>
          <a:lstStyle/>
          <a:p>
            <a:pPr fontAlgn="base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Level-2: Repeatable –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establishing basic project management policies.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with earlier projects is used for managing new similar natured projects. 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Planning- It includes defining resources required, goals, constraints, etc. for the project. It presents a detailed plan to be followed systematically for successful completion of a good quality software.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Management- The focus is on maintaining the performance of the software product, including all its components, for the entire lifecycle.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Management- It includes the management of customer reviews and feedback which result in some changes in the requirement set. It also consists of accommodation of those modified requirements.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Subcontract Management- It focuses on the effective management of qualified software contractors i.e. it manages the parts of the software which are developed by third parties.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Quality Assurance- It guarantees a good quality software product by following certain rules and quality standard guidelines while development.</a:t>
            </a:r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46D954E9-54B9-4BA2-A37A-6B5F74A07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76104"/>
            <a:ext cx="4114800" cy="245371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96066"/>
            <a:ext cx="10515600" cy="512472"/>
          </a:xfrm>
        </p:spPr>
        <p:txBody>
          <a:bodyPr>
            <a:normAutofit fontScale="90000"/>
          </a:bodyPr>
          <a:lstStyle/>
          <a:p>
            <a:r>
              <a:rPr lang="en-US" dirty="0"/>
              <a:t>Levels of CMM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8494"/>
            <a:ext cx="10515600" cy="5002305"/>
          </a:xfrm>
        </p:spPr>
        <p:txBody>
          <a:bodyPr>
            <a:noAutofit/>
          </a:bodyPr>
          <a:lstStyle/>
          <a:p>
            <a:pPr fontAlgn="base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Level-3: Defined –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this level, documentation of the standard guidelines and procedures takes place.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well defined integrated set of project specific software engineering and management processes. 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 Reviews- In this method, defects are removed by using a number of review methods like walkthroughs, inspections, buddy checks, etc.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Intergroup Coordination- It consists of planned interactions between different development teams to ensure efficient and proper fulfillment of customer needs.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Process Definition- It’s key focus is on the development and maintenance of the standard development processes.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Process Focus- It includes activities and practices that should be followed to improve the process capabilities of an organization.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Programs- It focuses on the enhancement of knowledge and skills of the team members including the developers and ensuring an increase in work efficiency.</a:t>
            </a:r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2F356BD7-39D3-44C3-CBD2-50F932F7D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28339"/>
            <a:ext cx="10515600" cy="862349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Levels of CMM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base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Level-4: Managed 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this stage, quantitative quality goals are set for the organization for software products as well as software processes.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measurements made help the organization to predict the product and process quality within some limits defined quantitatively.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Quality Management- It includes the establishment of plans and strategies to develop a quantitative analysis and understanding of the product’s quality.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Management- It focuses on controlling the project performance in a quantitative manner.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4857759C-7785-5ED7-4D7C-876BE1D01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39096"/>
            <a:ext cx="10515600" cy="85159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Levels of CMM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fontAlgn="base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Level-5: Optimizing 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highest level of process maturity in CMM and focuses on continuous process improvement in the organization using quantitative feedback.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new tools, techniques and evaluation of software processes is done to prevent recurrence of known defects. 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Change Management- Its focus is on the continuous improvement of organization’s software processes to improve productivity, quality and cycle time for the software product.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Change Management- It consists of identification and use of new technologies to improve product quality and decrease the product development time.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Defect Prevention- It focuses on identification of causes of defects and to prevent them from recurring in future projects by improving project defined process.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E5AED998-D0A6-63A2-BF45-713BDB691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774551"/>
            <a:ext cx="10371268" cy="5776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427A81D6-F97B-036B-CB04-B169A827D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hlinkClick r:id="rId2"/>
              </a:rPr>
              <a:t>https://www.geeksforgeeks.org/software-engineering-capability-maturity-model-cmm/</a:t>
            </a:r>
            <a:endParaRPr lang="en-US" dirty="0"/>
          </a:p>
          <a:p>
            <a:r>
              <a:rPr lang="en-US" dirty="0">
                <a:hlinkClick r:id="rId3"/>
              </a:rPr>
              <a:t>https://www.javatpoint.com/software-engineering-institute-capability-maturity-model</a:t>
            </a:r>
            <a:endParaRPr lang="en-US" dirty="0"/>
          </a:p>
          <a:p>
            <a:r>
              <a:rPr lang="en-US" dirty="0">
                <a:hlinkClick r:id="rId4"/>
              </a:rPr>
              <a:t>https://www.tutorialspoint.com/software_testing_dictionary/capability_maturity_model.htm</a:t>
            </a:r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882127"/>
            <a:ext cx="10515600" cy="80856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pPr algn="ctr"/>
            <a:b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b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CB7FBEBE-4197-2C0E-20D9-922491F1E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Picture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1B394C70-8807-0D59-F3E1-814D5A559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1623</TotalTime>
  <Words>1090</Words>
  <Application>Microsoft Macintosh PowerPoint</Application>
  <PresentationFormat>Widescreen</PresentationFormat>
  <Paragraphs>98</Paragraphs>
  <Slides>13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Arial Black</vt:lpstr>
      <vt:lpstr>Calibri</vt:lpstr>
      <vt:lpstr>Calibri Light</vt:lpstr>
      <vt:lpstr>Casper</vt:lpstr>
      <vt:lpstr>Times New Roman</vt:lpstr>
      <vt:lpstr>1_Office Theme</vt:lpstr>
      <vt:lpstr>Contents Slide Master</vt:lpstr>
      <vt:lpstr>CorelDRAW</vt:lpstr>
      <vt:lpstr>PowerPoint Presentation</vt:lpstr>
      <vt:lpstr>Chapter-8 Quality Management</vt:lpstr>
      <vt:lpstr> Capability maturity model (CMM) </vt:lpstr>
      <vt:lpstr> Capability maturity model (CMM) </vt:lpstr>
      <vt:lpstr>Key Process Areas </vt:lpstr>
      <vt:lpstr>Levels of CMM</vt:lpstr>
      <vt:lpstr>Levels of CMM</vt:lpstr>
      <vt:lpstr>Levels of CMM</vt:lpstr>
      <vt:lpstr>Levels of CMM</vt:lpstr>
      <vt:lpstr>Levels of CMM</vt:lpstr>
      <vt:lpstr>PowerPoint Presentation</vt:lpstr>
      <vt:lpstr> 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Jagmeet Kaur</cp:lastModifiedBy>
  <cp:revision>227</cp:revision>
  <dcterms:created xsi:type="dcterms:W3CDTF">2019-01-09T10:33:58Z</dcterms:created>
  <dcterms:modified xsi:type="dcterms:W3CDTF">2024-12-19T08:31:57Z</dcterms:modified>
</cp:coreProperties>
</file>