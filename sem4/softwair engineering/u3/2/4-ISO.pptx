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5"/>
  </p:notesMasterIdLst>
  <p:handoutMasterIdLst>
    <p:handoutMasterId r:id="rId26"/>
  </p:handoutMasterIdLst>
  <p:sldIdLst>
    <p:sldId id="662" r:id="rId3"/>
    <p:sldId id="280" r:id="rId4"/>
    <p:sldId id="327" r:id="rId5"/>
    <p:sldId id="341" r:id="rId6"/>
    <p:sldId id="340" r:id="rId7"/>
    <p:sldId id="339" r:id="rId8"/>
    <p:sldId id="338" r:id="rId9"/>
    <p:sldId id="337" r:id="rId10"/>
    <p:sldId id="336" r:id="rId11"/>
    <p:sldId id="335" r:id="rId12"/>
    <p:sldId id="334" r:id="rId13"/>
    <p:sldId id="333" r:id="rId14"/>
    <p:sldId id="332" r:id="rId15"/>
    <p:sldId id="331" r:id="rId16"/>
    <p:sldId id="344" r:id="rId17"/>
    <p:sldId id="330" r:id="rId18"/>
    <p:sldId id="329" r:id="rId19"/>
    <p:sldId id="328" r:id="rId20"/>
    <p:sldId id="342" r:id="rId21"/>
    <p:sldId id="343" r:id="rId22"/>
    <p:sldId id="326"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29" autoAdjust="0"/>
    <p:restoredTop sz="94660"/>
  </p:normalViewPr>
  <p:slideViewPr>
    <p:cSldViewPr snapToGrid="0">
      <p:cViewPr varScale="1">
        <p:scale>
          <a:sx n="119" d="100"/>
          <a:sy n="119" d="100"/>
        </p:scale>
        <p:origin x="416" y="184"/>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368BA327-0C3E-6DF6-0DA2-ED1B43DCFC0B}"/>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95A2965A-84E4-3E8B-5C54-0B575A463689}"/>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pic>
        <p:nvPicPr>
          <p:cNvPr id="9" name="Picture 8">
            <a:extLst>
              <a:ext uri="{FF2B5EF4-FFF2-40B4-BE49-F238E27FC236}">
                <a16:creationId xmlns:a16="http://schemas.microsoft.com/office/drawing/2014/main" id="{5D55CFAF-35A7-F27E-58B7-BF7323BD50D3}"/>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asq.org/quality-resources/iso-9000" TargetMode="External"/><Relationship Id="rId2" Type="http://schemas.openxmlformats.org/officeDocument/2006/relationships/hyperlink" Target="https://www.javatpoint.com/software-engineering-iso-9000-certification"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719484" y="3934196"/>
            <a:ext cx="2197683" cy="369332"/>
          </a:xfrm>
          <a:prstGeom prst="rect">
            <a:avLst/>
          </a:prstGeom>
          <a:noFill/>
        </p:spPr>
        <p:txBody>
          <a:bodyPr wrap="square">
            <a:spAutoFit/>
          </a:bodyPr>
          <a:lstStyle/>
          <a:p>
            <a:r>
              <a:rPr lang="en-US" b="1" dirty="0"/>
              <a:t>Quality Management</a:t>
            </a:r>
            <a:endParaRPr lang="en-US" dirty="0"/>
          </a:p>
        </p:txBody>
      </p:sp>
      <p:pic>
        <p:nvPicPr>
          <p:cNvPr id="4" name="Picture 3">
            <a:extLst>
              <a:ext uri="{FF2B5EF4-FFF2-40B4-BE49-F238E27FC236}">
                <a16:creationId xmlns:a16="http://schemas.microsoft.com/office/drawing/2014/main" id="{6D96E75A-F74F-2D77-5F7D-29AACD5910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7929"/>
            <a:ext cx="10515600" cy="1279527"/>
          </a:xfrm>
        </p:spPr>
        <p:txBody>
          <a:bodyPr>
            <a:noAutofit/>
          </a:bodyPr>
          <a:lstStyle/>
          <a:p>
            <a:pPr algn="ctr"/>
            <a:r>
              <a:rPr lang="en-US" sz="3600" dirty="0">
                <a:latin typeface="Times New Roman" panose="02020603050405020304" pitchFamily="18" charset="0"/>
                <a:cs typeface="Times New Roman" pitchFamily="18" charset="0"/>
              </a:rPr>
              <a:t>Chapter-8</a:t>
            </a:r>
            <a:br>
              <a:rPr lang="en-US" sz="3600" dirty="0">
                <a:latin typeface="Times New Roman" panose="02020603050405020304" pitchFamily="18" charset="0"/>
                <a:cs typeface="Times New Roman" pitchFamily="18" charset="0"/>
              </a:rPr>
            </a:br>
            <a:r>
              <a:rPr lang="en-US" sz="3600" b="1" dirty="0">
                <a:latin typeface="Times New Roman" panose="02020603050405020304" pitchFamily="18" charset="0"/>
                <a:cs typeface="Times New Roman" panose="02020603050405020304" pitchFamily="18" charset="0"/>
              </a:rPr>
              <a:t>Quality Management</a:t>
            </a:r>
            <a:endParaRPr lang="en-US" sz="3600" dirty="0">
              <a:latin typeface="Times New Roman" panose="02020603050405020304" pitchFamily="18" charset="0"/>
              <a:cs typeface="Times New Roman" pitchFamily="18" charset="0"/>
            </a:endParaRPr>
          </a:p>
        </p:txBody>
      </p:sp>
      <p:sp>
        <p:nvSpPr>
          <p:cNvPr id="3" name="Content Placeholder 2"/>
          <p:cNvSpPr>
            <a:spLocks noGrp="1"/>
          </p:cNvSpPr>
          <p:nvPr>
            <p:ph idx="1"/>
          </p:nvPr>
        </p:nvSpPr>
        <p:spPr>
          <a:xfrm>
            <a:off x="838200" y="2086983"/>
            <a:ext cx="10515600" cy="4089979"/>
          </a:xfrm>
        </p:spPr>
        <p:txBody>
          <a:bodyPr>
            <a:normAutofit/>
          </a:bodyPr>
          <a:lstStyle/>
          <a:p>
            <a:pPr>
              <a:lnSpc>
                <a:spcPct val="150000"/>
              </a:lnSpc>
            </a:pPr>
            <a:r>
              <a:rPr lang="en-US" sz="2400" dirty="0"/>
              <a:t>ISO 9000 </a:t>
            </a:r>
          </a:p>
          <a:p>
            <a:pPr>
              <a:lnSpc>
                <a:spcPct val="150000"/>
              </a:lnSpc>
              <a:buNone/>
            </a:pPr>
            <a:endParaRPr lang="en-US" sz="2400" dirty="0">
              <a:latin typeface="Times New Roman" pitchFamily="18" charset="0"/>
              <a:cs typeface="Times New Roman" pitchFamily="18" charset="0"/>
            </a:endParaRPr>
          </a:p>
        </p:txBody>
      </p:sp>
      <p:sp>
        <p:nvSpPr>
          <p:cNvPr id="5" name="Rectangle 4"/>
          <p:cNvSpPr/>
          <p:nvPr/>
        </p:nvSpPr>
        <p:spPr>
          <a:xfrm>
            <a:off x="838200" y="2086984"/>
            <a:ext cx="10515600" cy="40852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925158"/>
            <a:ext cx="10515600" cy="115706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ISO 9000 </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ISO (International Standards Organization) is a group or consortium of 63 countries established to plan and fosters standardization. </a:t>
            </a:r>
          </a:p>
          <a:p>
            <a:pPr algn="just"/>
            <a:r>
              <a:rPr lang="en-US" dirty="0">
                <a:latin typeface="Times New Roman" panose="02020603050405020304" pitchFamily="18" charset="0"/>
                <a:cs typeface="Times New Roman" panose="02020603050405020304" pitchFamily="18" charset="0"/>
              </a:rPr>
              <a:t>ISO declared its 9000 series of standards in 1987. It serves as a reference for the contract between independent parties. </a:t>
            </a:r>
          </a:p>
          <a:p>
            <a:pPr algn="just"/>
            <a:r>
              <a:rPr lang="en-US" dirty="0">
                <a:latin typeface="Times New Roman" panose="02020603050405020304" pitchFamily="18" charset="0"/>
                <a:cs typeface="Times New Roman" panose="02020603050405020304" pitchFamily="18" charset="0"/>
              </a:rPr>
              <a:t>The ISO 9000 standard determines the guidelines for maintaining a quality system. </a:t>
            </a:r>
          </a:p>
          <a:p>
            <a:pPr algn="just"/>
            <a:r>
              <a:rPr lang="en-US" dirty="0">
                <a:latin typeface="Times New Roman" panose="02020603050405020304" pitchFamily="18" charset="0"/>
                <a:cs typeface="Times New Roman" panose="02020603050405020304" pitchFamily="18" charset="0"/>
              </a:rPr>
              <a:t>The ISO standard mainly addresses operational methods and organizational methods such as responsibilities, reporting, etc.</a:t>
            </a:r>
          </a:p>
          <a:p>
            <a:pPr algn="just"/>
            <a:r>
              <a:rPr lang="en-US" dirty="0">
                <a:latin typeface="Times New Roman" panose="02020603050405020304" pitchFamily="18" charset="0"/>
                <a:cs typeface="Times New Roman" panose="02020603050405020304" pitchFamily="18" charset="0"/>
              </a:rPr>
              <a:t> ISO 9000 defines a set of guidelines for the production process and is not directly concerned about the product itself.</a:t>
            </a:r>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Types of ISO 9000 Quality Standards</a:t>
            </a:r>
            <a:br>
              <a:rPr lang="en-US" dirty="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pic>
        <p:nvPicPr>
          <p:cNvPr id="47106" name="Picture 2"/>
          <p:cNvPicPr>
            <a:picLocks noChangeAspect="1" noChangeArrowheads="1"/>
          </p:cNvPicPr>
          <p:nvPr/>
        </p:nvPicPr>
        <p:blipFill>
          <a:blip r:embed="rId2"/>
          <a:srcRect/>
          <a:stretch>
            <a:fillRect/>
          </a:stretch>
        </p:blipFill>
        <p:spPr bwMode="auto">
          <a:xfrm>
            <a:off x="1985963" y="2105024"/>
            <a:ext cx="8612540" cy="3552826"/>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Types of ISO 9000 Quality Standards</a:t>
            </a:r>
            <a:br>
              <a:rPr lang="en-US" dirty="0"/>
            </a:br>
            <a:endParaRPr lang="en-US" dirty="0"/>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The ISO 9000 series of standards is based on the assumption that if a proper stage is followed for production, then good quality products are bound to follow automatically. The types of industries to which the various ISO standards apply are as follows.</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ISO 9001:</a:t>
            </a:r>
            <a:r>
              <a:rPr lang="en-US" dirty="0">
                <a:latin typeface="Times New Roman" panose="02020603050405020304" pitchFamily="18" charset="0"/>
                <a:cs typeface="Times New Roman" panose="02020603050405020304" pitchFamily="18" charset="0"/>
              </a:rPr>
              <a:t> This standard applies to the organizations engaged in design, development, production, and servicing of goods. This is the standard that applies to most software development organizations.</a:t>
            </a:r>
          </a:p>
          <a:p>
            <a:pPr>
              <a:buNone/>
            </a:pPr>
            <a:r>
              <a:rPr lang="en-US" dirty="0"/>
              <a:t>.</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Types of ISO 9000 Quality Standards</a:t>
            </a:r>
            <a:br>
              <a:rPr lang="en-US" dirty="0"/>
            </a:br>
            <a:endParaRPr lang="en-US" dirty="0"/>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ISO 9002:</a:t>
            </a:r>
            <a:r>
              <a:rPr lang="en-US" dirty="0">
                <a:latin typeface="Times New Roman" panose="02020603050405020304" pitchFamily="18" charset="0"/>
                <a:cs typeface="Times New Roman" panose="02020603050405020304" pitchFamily="18" charset="0"/>
              </a:rPr>
              <a:t> This standard applies to those organizations which do not design products but are only involved in the production. Examples of these category industries contain steel and car manufacturing industries that buy the product and plants designs from external sources and are engaged in only manufacturing those products. Therefore, ISO 9002 does not apply to software development organizations.</a:t>
            </a:r>
          </a:p>
          <a:p>
            <a:pPr algn="just"/>
            <a:r>
              <a:rPr lang="en-US" b="1" dirty="0">
                <a:latin typeface="Times New Roman" panose="02020603050405020304" pitchFamily="18" charset="0"/>
                <a:cs typeface="Times New Roman" panose="02020603050405020304" pitchFamily="18" charset="0"/>
              </a:rPr>
              <a:t>ISO 9003:</a:t>
            </a:r>
            <a:r>
              <a:rPr lang="en-US" dirty="0">
                <a:latin typeface="Times New Roman" panose="02020603050405020304" pitchFamily="18" charset="0"/>
                <a:cs typeface="Times New Roman" panose="02020603050405020304" pitchFamily="18" charset="0"/>
              </a:rPr>
              <a:t> This standard applies to organizations that are involved only in the installation and testing of the products. For example, Gas companies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How to get ISO 9000 Certification?</a:t>
            </a:r>
            <a:br>
              <a:rPr lang="en-US" dirty="0"/>
            </a:b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An organization determines to obtain ISO 9000 certification applies to ISO registrar office for registration. The process consists of the following stages: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pic>
        <p:nvPicPr>
          <p:cNvPr id="48130" name="Picture 2"/>
          <p:cNvPicPr>
            <a:picLocks noChangeAspect="1" noChangeArrowheads="1"/>
          </p:cNvPicPr>
          <p:nvPr/>
        </p:nvPicPr>
        <p:blipFill>
          <a:blip r:embed="rId2"/>
          <a:srcRect/>
          <a:stretch>
            <a:fillRect/>
          </a:stretch>
        </p:blipFill>
        <p:spPr bwMode="auto">
          <a:xfrm>
            <a:off x="2200274" y="2962275"/>
            <a:ext cx="8105775" cy="3629025"/>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How to get ISO 9000 Certification?</a:t>
            </a:r>
            <a:br>
              <a:rPr lang="en-US" dirty="0"/>
            </a:br>
            <a:endParaRPr lang="en-US" dirty="0"/>
          </a:p>
        </p:txBody>
      </p:sp>
      <p:sp>
        <p:nvSpPr>
          <p:cNvPr id="3" name="Content Placeholder 2"/>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Application:</a:t>
            </a:r>
            <a:r>
              <a:rPr lang="en-US" dirty="0">
                <a:latin typeface="Times New Roman" panose="02020603050405020304" pitchFamily="18" charset="0"/>
                <a:cs typeface="Times New Roman" panose="02020603050405020304" pitchFamily="18" charset="0"/>
              </a:rPr>
              <a:t> Once an organization decided to go for ISO certification, it applies to the registrar for registration.</a:t>
            </a:r>
          </a:p>
          <a:p>
            <a:r>
              <a:rPr lang="en-US" b="1" dirty="0">
                <a:latin typeface="Times New Roman" panose="02020603050405020304" pitchFamily="18" charset="0"/>
                <a:cs typeface="Times New Roman" panose="02020603050405020304" pitchFamily="18" charset="0"/>
              </a:rPr>
              <a:t>Pre-Assessment:</a:t>
            </a:r>
            <a:r>
              <a:rPr lang="en-US" dirty="0">
                <a:latin typeface="Times New Roman" panose="02020603050405020304" pitchFamily="18" charset="0"/>
                <a:cs typeface="Times New Roman" panose="02020603050405020304" pitchFamily="18" charset="0"/>
              </a:rPr>
              <a:t> During this stage, the registrar makes a rough assessment of the organization.</a:t>
            </a:r>
          </a:p>
          <a:p>
            <a:r>
              <a:rPr lang="en-US" b="1" dirty="0">
                <a:latin typeface="Times New Roman" panose="02020603050405020304" pitchFamily="18" charset="0"/>
                <a:cs typeface="Times New Roman" panose="02020603050405020304" pitchFamily="18" charset="0"/>
              </a:rPr>
              <a:t>Document review and Adequacy of Audit:</a:t>
            </a:r>
            <a:r>
              <a:rPr lang="en-US" dirty="0">
                <a:latin typeface="Times New Roman" panose="02020603050405020304" pitchFamily="18" charset="0"/>
                <a:cs typeface="Times New Roman" panose="02020603050405020304" pitchFamily="18" charset="0"/>
              </a:rPr>
              <a:t> During this stage, the registrar reviews the document submitted by the organization and suggest an improvement.</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808561"/>
          </a:xfrm>
        </p:spPr>
        <p:txBody>
          <a:bodyPr>
            <a:normAutofit fontScale="90000"/>
          </a:bodyPr>
          <a:lstStyle/>
          <a:p>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How to get ISO 9000 Certification?</a:t>
            </a:r>
            <a:br>
              <a:rPr lang="en-US" dirty="0"/>
            </a:br>
            <a:endParaRPr lang="en-US"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Compliance Audit:</a:t>
            </a:r>
            <a:r>
              <a:rPr lang="en-US" dirty="0">
                <a:latin typeface="Times New Roman" panose="02020603050405020304" pitchFamily="18" charset="0"/>
                <a:cs typeface="Times New Roman" panose="02020603050405020304" pitchFamily="18" charset="0"/>
              </a:rPr>
              <a:t> During this stage, the registrar checks whether the organization has compiled the suggestion made by it during the review or not.</a:t>
            </a:r>
          </a:p>
          <a:p>
            <a:r>
              <a:rPr lang="en-US" b="1" dirty="0">
                <a:latin typeface="Times New Roman" panose="02020603050405020304" pitchFamily="18" charset="0"/>
                <a:cs typeface="Times New Roman" panose="02020603050405020304" pitchFamily="18" charset="0"/>
              </a:rPr>
              <a:t>Registration:</a:t>
            </a:r>
            <a:r>
              <a:rPr lang="en-US" dirty="0">
                <a:latin typeface="Times New Roman" panose="02020603050405020304" pitchFamily="18" charset="0"/>
                <a:cs typeface="Times New Roman" panose="02020603050405020304" pitchFamily="18" charset="0"/>
              </a:rPr>
              <a:t> The Registrar awards the ISO certification after the successful completion of all the phases.</a:t>
            </a:r>
          </a:p>
          <a:p>
            <a:r>
              <a:rPr lang="en-US" b="1" dirty="0">
                <a:latin typeface="Times New Roman" panose="02020603050405020304" pitchFamily="18" charset="0"/>
                <a:cs typeface="Times New Roman" panose="02020603050405020304" pitchFamily="18" charset="0"/>
              </a:rPr>
              <a:t>Continued Inspection:</a:t>
            </a:r>
            <a:r>
              <a:rPr lang="en-US" dirty="0">
                <a:latin typeface="Times New Roman" panose="02020603050405020304" pitchFamily="18" charset="0"/>
                <a:cs typeface="Times New Roman" panose="02020603050405020304" pitchFamily="18" charset="0"/>
              </a:rPr>
              <a:t> The registrar continued to monitor the organization time by time.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35915"/>
            <a:ext cx="10515600" cy="1057743"/>
          </a:xfrm>
        </p:spPr>
        <p:txBody>
          <a:bodyPr>
            <a:normAutofit fontScale="90000"/>
          </a:bodyPr>
          <a:lstStyle/>
          <a:p>
            <a:br>
              <a:rPr lang="en-US" b="1" dirty="0"/>
            </a:br>
            <a:r>
              <a:rPr lang="en-US" sz="4000" dirty="0">
                <a:latin typeface="Times New Roman" panose="02020603050405020304" pitchFamily="18" charset="0"/>
                <a:cs typeface="Times New Roman" panose="02020603050405020304" pitchFamily="18" charset="0"/>
              </a:rPr>
              <a:t>ISO 9000 history and revisions: ISO 9000:2000, 2008, and 2015</a:t>
            </a:r>
            <a:br>
              <a:rPr lang="en-US" b="1" dirty="0"/>
            </a:br>
            <a:endParaRPr lang="en-US" dirty="0"/>
          </a:p>
        </p:txBody>
      </p:sp>
      <p:sp>
        <p:nvSpPr>
          <p:cNvPr id="3" name="Content Placeholder 2"/>
          <p:cNvSpPr>
            <a:spLocks noGrp="1"/>
          </p:cNvSpPr>
          <p:nvPr>
            <p:ph idx="1"/>
          </p:nvPr>
        </p:nvSpPr>
        <p:spPr>
          <a:xfrm>
            <a:off x="838200" y="2173045"/>
            <a:ext cx="10515600" cy="4003918"/>
          </a:xfrm>
        </p:spPr>
        <p:txBody>
          <a:bodyPr/>
          <a:lstStyle/>
          <a:p>
            <a:r>
              <a:rPr lang="en-US" dirty="0"/>
              <a:t>ISO 9000 was first published in 1987 by the International Organization for Standardization (ISO), a specialized international agency for standardization composed of the national standards bodies of more than 160 countries. </a:t>
            </a:r>
          </a:p>
          <a:p>
            <a:endParaRPr lang="en-US" dirty="0"/>
          </a:p>
          <a:p>
            <a:r>
              <a:rPr lang="en-US" dirty="0"/>
              <a:t>The standards underwent major revisions in 2000 and 2008. The most recent versions of the standard, ISO 9000:2015 and ISO 9001:2015, were published in September 2015.</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fontScale="90000"/>
          </a:bodyPr>
          <a:lstStyle/>
          <a:p>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ISO 9000:2000</a:t>
            </a:r>
            <a:br>
              <a:rPr lang="en-US" b="1" dirty="0"/>
            </a:b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ISO 9000:2000 refers to the ISO 9000 update released in the year 2000.</a:t>
            </a:r>
          </a:p>
          <a:p>
            <a:r>
              <a:rPr lang="en-US" dirty="0">
                <a:latin typeface="Times New Roman" panose="02020603050405020304" pitchFamily="18" charset="0"/>
                <a:cs typeface="Times New Roman" panose="02020603050405020304" pitchFamily="18" charset="0"/>
              </a:rPr>
              <a:t>The ISO 9000:2000 revision had five goals:</a:t>
            </a:r>
          </a:p>
          <a:p>
            <a:r>
              <a:rPr lang="en-US" dirty="0">
                <a:latin typeface="Times New Roman" panose="02020603050405020304" pitchFamily="18" charset="0"/>
                <a:cs typeface="Times New Roman" panose="02020603050405020304" pitchFamily="18" charset="0"/>
              </a:rPr>
              <a:t>Meet stakeholder needs</a:t>
            </a:r>
          </a:p>
          <a:p>
            <a:r>
              <a:rPr lang="en-US" dirty="0">
                <a:latin typeface="Times New Roman" panose="02020603050405020304" pitchFamily="18" charset="0"/>
                <a:cs typeface="Times New Roman" panose="02020603050405020304" pitchFamily="18" charset="0"/>
              </a:rPr>
              <a:t>Be usable by all sizes of organizations</a:t>
            </a:r>
          </a:p>
          <a:p>
            <a:r>
              <a:rPr lang="en-US" dirty="0">
                <a:latin typeface="Times New Roman" panose="02020603050405020304" pitchFamily="18" charset="0"/>
                <a:cs typeface="Times New Roman" panose="02020603050405020304" pitchFamily="18" charset="0"/>
              </a:rPr>
              <a:t>Be usable by all sectors</a:t>
            </a:r>
          </a:p>
          <a:p>
            <a:r>
              <a:rPr lang="en-US" dirty="0">
                <a:latin typeface="Times New Roman" panose="02020603050405020304" pitchFamily="18" charset="0"/>
                <a:cs typeface="Times New Roman" panose="02020603050405020304" pitchFamily="18" charset="0"/>
              </a:rPr>
              <a:t>Be simple and clearly understood</a:t>
            </a:r>
          </a:p>
          <a:p>
            <a:r>
              <a:rPr lang="en-US" dirty="0">
                <a:latin typeface="Times New Roman" panose="02020603050405020304" pitchFamily="18" charset="0"/>
                <a:cs typeface="Times New Roman" panose="02020603050405020304" pitchFamily="18" charset="0"/>
              </a:rPr>
              <a:t>Connect quality management system to business processes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641"/>
            <a:ext cx="10515600" cy="1176075"/>
          </a:xfrm>
        </p:spPr>
        <p:txBody>
          <a:bodyPr>
            <a:normAutofit fontScale="90000"/>
          </a:bodyPr>
          <a:lstStyle/>
          <a:p>
            <a:br>
              <a:rPr lang="en-US" b="1" dirty="0"/>
            </a:br>
            <a:r>
              <a:rPr lang="en-US" sz="4000" b="1" dirty="0">
                <a:latin typeface="Times New Roman" panose="02020603050405020304" pitchFamily="18" charset="0"/>
                <a:cs typeface="Times New Roman" panose="02020603050405020304" pitchFamily="18" charset="0"/>
              </a:rPr>
              <a:t>ISO 9000:2015 principles of Quality Management</a:t>
            </a:r>
            <a:br>
              <a:rPr lang="en-US" b="1" dirty="0"/>
            </a:br>
            <a:endParaRPr lang="en-US" dirty="0"/>
          </a:p>
        </p:txBody>
      </p:sp>
      <p:sp>
        <p:nvSpPr>
          <p:cNvPr id="3" name="Content Placeholder 2"/>
          <p:cNvSpPr>
            <a:spLocks noGrp="1"/>
          </p:cNvSpPr>
          <p:nvPr>
            <p:ph idx="1"/>
          </p:nvPr>
        </p:nvSpPr>
        <p:spPr>
          <a:xfrm>
            <a:off x="838200" y="2259105"/>
            <a:ext cx="10515600" cy="3917857"/>
          </a:xfrm>
        </p:spPr>
        <p:txBody>
          <a:bodyPr/>
          <a:lstStyle/>
          <a:p>
            <a:r>
              <a:rPr lang="en-US" dirty="0"/>
              <a:t>The ISO 9000:2015 and ISO 9001:2015 standards are based on seven quality management principles that senior management can apply to promote organizational improvement.</a:t>
            </a:r>
            <a:br>
              <a:rPr lang="en-US" dirty="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pic>
        <p:nvPicPr>
          <p:cNvPr id="5" name="Picture 2"/>
          <p:cNvPicPr>
            <a:picLocks noChangeAspect="1" noChangeArrowheads="1"/>
          </p:cNvPicPr>
          <p:nvPr/>
        </p:nvPicPr>
        <p:blipFill>
          <a:blip r:embed="rId2"/>
          <a:srcRect/>
          <a:stretch>
            <a:fillRect/>
          </a:stretch>
        </p:blipFill>
        <p:spPr bwMode="auto">
          <a:xfrm>
            <a:off x="1776413" y="285749"/>
            <a:ext cx="8110537" cy="6264005"/>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ISO 9000:2015 principles of Quality Management</a:t>
            </a:r>
            <a:br>
              <a:rPr lang="en-US" b="1" dirty="0"/>
            </a:br>
            <a:endParaRPr lang="en-US" dirty="0"/>
          </a:p>
        </p:txBody>
      </p:sp>
      <p:sp>
        <p:nvSpPr>
          <p:cNvPr id="3" name="Content Placeholder 2"/>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Customer focus</a:t>
            </a:r>
          </a:p>
          <a:p>
            <a:pPr lvl="1"/>
            <a:r>
              <a:rPr lang="en-US" sz="2800" dirty="0">
                <a:latin typeface="Times New Roman" panose="02020603050405020304" pitchFamily="18" charset="0"/>
                <a:cs typeface="Times New Roman" panose="02020603050405020304" pitchFamily="18" charset="0"/>
              </a:rPr>
              <a:t>Understand the needs of existing and future customers</a:t>
            </a:r>
          </a:p>
          <a:p>
            <a:pPr lvl="1"/>
            <a:r>
              <a:rPr lang="en-US" sz="2800" dirty="0">
                <a:latin typeface="Times New Roman" panose="02020603050405020304" pitchFamily="18" charset="0"/>
                <a:cs typeface="Times New Roman" panose="02020603050405020304" pitchFamily="18" charset="0"/>
              </a:rPr>
              <a:t>Align organizational objectives with customer needs and expectations</a:t>
            </a:r>
          </a:p>
          <a:p>
            <a:pPr lvl="1"/>
            <a:r>
              <a:rPr lang="en-US" sz="2800" dirty="0">
                <a:latin typeface="Times New Roman" panose="02020603050405020304" pitchFamily="18" charset="0"/>
                <a:cs typeface="Times New Roman" panose="02020603050405020304" pitchFamily="18" charset="0"/>
              </a:rPr>
              <a:t>Meet customer requirements</a:t>
            </a:r>
          </a:p>
          <a:p>
            <a:pPr lvl="1"/>
            <a:r>
              <a:rPr lang="en-US" sz="2800" dirty="0">
                <a:latin typeface="Times New Roman" panose="02020603050405020304" pitchFamily="18" charset="0"/>
                <a:cs typeface="Times New Roman" panose="02020603050405020304" pitchFamily="18" charset="0"/>
              </a:rPr>
              <a:t>Measure customer satisfaction</a:t>
            </a:r>
          </a:p>
          <a:p>
            <a:pPr lvl="1"/>
            <a:r>
              <a:rPr lang="en-US" sz="2800" dirty="0">
                <a:latin typeface="Times New Roman" panose="02020603050405020304" pitchFamily="18" charset="0"/>
                <a:cs typeface="Times New Roman" panose="02020603050405020304" pitchFamily="18" charset="0"/>
              </a:rPr>
              <a:t>Manage customer relationships</a:t>
            </a:r>
          </a:p>
          <a:p>
            <a:pPr lvl="1"/>
            <a:r>
              <a:rPr lang="en-US" sz="2800" dirty="0">
                <a:latin typeface="Times New Roman" panose="02020603050405020304" pitchFamily="18" charset="0"/>
                <a:cs typeface="Times New Roman" panose="02020603050405020304" pitchFamily="18" charset="0"/>
              </a:rPr>
              <a:t>Aim to exceed customer expectations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808561"/>
          </a:xfrm>
        </p:spPr>
        <p:txBody>
          <a:bodyPr>
            <a:normAutofit fontScale="90000"/>
          </a:bodyPr>
          <a:lstStyle/>
          <a:p>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ISO 9000:2015 principles of Quality Management</a:t>
            </a:r>
            <a:br>
              <a:rPr lang="en-US" b="1" dirty="0"/>
            </a:br>
            <a:endParaRPr lang="en-US"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Leadership</a:t>
            </a:r>
          </a:p>
          <a:p>
            <a:pPr lvl="1"/>
            <a:r>
              <a:rPr lang="en-US" sz="2800" dirty="0">
                <a:latin typeface="Times New Roman" panose="02020603050405020304" pitchFamily="18" charset="0"/>
                <a:cs typeface="Times New Roman" panose="02020603050405020304" pitchFamily="18" charset="0"/>
              </a:rPr>
              <a:t>Establish a vision and direction for the organization</a:t>
            </a:r>
          </a:p>
          <a:p>
            <a:pPr lvl="1"/>
            <a:r>
              <a:rPr lang="en-US" sz="2800" dirty="0">
                <a:latin typeface="Times New Roman" panose="02020603050405020304" pitchFamily="18" charset="0"/>
                <a:cs typeface="Times New Roman" panose="02020603050405020304" pitchFamily="18" charset="0"/>
              </a:rPr>
              <a:t>Set challenging goals</a:t>
            </a:r>
          </a:p>
          <a:p>
            <a:pPr lvl="1"/>
            <a:r>
              <a:rPr lang="en-US" sz="2800" dirty="0">
                <a:latin typeface="Times New Roman" panose="02020603050405020304" pitchFamily="18" charset="0"/>
                <a:cs typeface="Times New Roman" panose="02020603050405020304" pitchFamily="18" charset="0"/>
              </a:rPr>
              <a:t>Model organizational values</a:t>
            </a:r>
          </a:p>
          <a:p>
            <a:pPr lvl="1"/>
            <a:r>
              <a:rPr lang="en-US" sz="2800" dirty="0">
                <a:latin typeface="Times New Roman" panose="02020603050405020304" pitchFamily="18" charset="0"/>
                <a:cs typeface="Times New Roman" panose="02020603050405020304" pitchFamily="18" charset="0"/>
              </a:rPr>
              <a:t>Establish trust</a:t>
            </a:r>
          </a:p>
          <a:p>
            <a:pPr lvl="1"/>
            <a:r>
              <a:rPr lang="en-US" sz="2800" dirty="0">
                <a:latin typeface="Times New Roman" panose="02020603050405020304" pitchFamily="18" charset="0"/>
                <a:cs typeface="Times New Roman" panose="02020603050405020304" pitchFamily="18" charset="0"/>
              </a:rPr>
              <a:t>Equip and empower employees</a:t>
            </a:r>
          </a:p>
          <a:p>
            <a:pPr lvl="1"/>
            <a:r>
              <a:rPr lang="en-US" sz="2800" dirty="0">
                <a:latin typeface="Times New Roman" panose="02020603050405020304" pitchFamily="18" charset="0"/>
                <a:cs typeface="Times New Roman" panose="02020603050405020304" pitchFamily="18" charset="0"/>
              </a:rPr>
              <a:t>Recognize employee contributions</a:t>
            </a: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35915"/>
            <a:ext cx="10515600" cy="754773"/>
          </a:xfrm>
        </p:spPr>
        <p:txBody>
          <a:bodyPr>
            <a:normAutofit fontScale="90000"/>
          </a:bodyPr>
          <a:lstStyle/>
          <a:p>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ISO 9000:2015 principles of Quality Management</a:t>
            </a:r>
            <a:br>
              <a:rPr lang="en-US" b="1" dirty="0"/>
            </a:br>
            <a:endParaRPr lang="en-US"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Engagement of people</a:t>
            </a:r>
          </a:p>
          <a:p>
            <a:r>
              <a:rPr lang="en-US" dirty="0">
                <a:latin typeface="Times New Roman" panose="02020603050405020304" pitchFamily="18" charset="0"/>
                <a:cs typeface="Times New Roman" panose="02020603050405020304" pitchFamily="18" charset="0"/>
              </a:rPr>
              <a:t>Ensure that people’s abilities are used and valued</a:t>
            </a:r>
          </a:p>
          <a:p>
            <a:r>
              <a:rPr lang="en-US" dirty="0">
                <a:latin typeface="Times New Roman" panose="02020603050405020304" pitchFamily="18" charset="0"/>
                <a:cs typeface="Times New Roman" panose="02020603050405020304" pitchFamily="18" charset="0"/>
              </a:rPr>
              <a:t>Make people accountable</a:t>
            </a:r>
          </a:p>
          <a:p>
            <a:r>
              <a:rPr lang="en-US" dirty="0">
                <a:latin typeface="Times New Roman" panose="02020603050405020304" pitchFamily="18" charset="0"/>
                <a:cs typeface="Times New Roman" panose="02020603050405020304" pitchFamily="18" charset="0"/>
              </a:rPr>
              <a:t>Enable participation in continual improvement</a:t>
            </a:r>
          </a:p>
          <a:p>
            <a:r>
              <a:rPr lang="en-US" dirty="0">
                <a:latin typeface="Times New Roman" panose="02020603050405020304" pitchFamily="18" charset="0"/>
                <a:cs typeface="Times New Roman" panose="02020603050405020304" pitchFamily="18" charset="0"/>
              </a:rPr>
              <a:t>Evaluate individual performance</a:t>
            </a:r>
          </a:p>
          <a:p>
            <a:r>
              <a:rPr lang="en-US" dirty="0">
                <a:latin typeface="Times New Roman" panose="02020603050405020304" pitchFamily="18" charset="0"/>
                <a:cs typeface="Times New Roman" panose="02020603050405020304" pitchFamily="18" charset="0"/>
              </a:rPr>
              <a:t>Enable learning and knowledge sharing</a:t>
            </a:r>
          </a:p>
          <a:p>
            <a:r>
              <a:rPr lang="en-US" dirty="0">
                <a:latin typeface="Times New Roman" panose="02020603050405020304" pitchFamily="18" charset="0"/>
                <a:cs typeface="Times New Roman" panose="02020603050405020304" pitchFamily="18" charset="0"/>
              </a:rPr>
              <a:t>Enable open discussion of problems and constraints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ISO 9000:2015 principles of Quality Management</a:t>
            </a:r>
            <a:br>
              <a:rPr lang="en-US" b="1" dirty="0"/>
            </a:br>
            <a:endParaRPr lang="en-US"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Process approach</a:t>
            </a:r>
          </a:p>
          <a:p>
            <a:r>
              <a:rPr lang="en-US" dirty="0">
                <a:latin typeface="Times New Roman" panose="02020603050405020304" pitchFamily="18" charset="0"/>
                <a:cs typeface="Times New Roman" panose="02020603050405020304" pitchFamily="18" charset="0"/>
              </a:rPr>
              <a:t>Manage activities as processes</a:t>
            </a:r>
          </a:p>
          <a:p>
            <a:r>
              <a:rPr lang="en-US" dirty="0">
                <a:latin typeface="Times New Roman" panose="02020603050405020304" pitchFamily="18" charset="0"/>
                <a:cs typeface="Times New Roman" panose="02020603050405020304" pitchFamily="18" charset="0"/>
              </a:rPr>
              <a:t>Measure the capability of activities</a:t>
            </a:r>
          </a:p>
          <a:p>
            <a:r>
              <a:rPr lang="en-US" dirty="0">
                <a:latin typeface="Times New Roman" panose="02020603050405020304" pitchFamily="18" charset="0"/>
                <a:cs typeface="Times New Roman" panose="02020603050405020304" pitchFamily="18" charset="0"/>
              </a:rPr>
              <a:t>Identify linkages between activities</a:t>
            </a:r>
          </a:p>
          <a:p>
            <a:r>
              <a:rPr lang="en-US" dirty="0">
                <a:latin typeface="Times New Roman" panose="02020603050405020304" pitchFamily="18" charset="0"/>
                <a:cs typeface="Times New Roman" panose="02020603050405020304" pitchFamily="18" charset="0"/>
              </a:rPr>
              <a:t>Prioritize improvement opportunities</a:t>
            </a:r>
          </a:p>
          <a:p>
            <a:r>
              <a:rPr lang="en-US" dirty="0">
                <a:latin typeface="Times New Roman" panose="02020603050405020304" pitchFamily="18" charset="0"/>
                <a:cs typeface="Times New Roman" panose="02020603050405020304" pitchFamily="18" charset="0"/>
              </a:rPr>
              <a:t>Deploy resources effectively</a:t>
            </a: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2884"/>
            <a:ext cx="10515600" cy="797803"/>
          </a:xfrm>
        </p:spPr>
        <p:txBody>
          <a:bodyPr>
            <a:normAutofit fontScale="90000"/>
          </a:bodyPr>
          <a:lstStyle/>
          <a:p>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ISO 9000:2015 principles of Quality Management</a:t>
            </a:r>
            <a:br>
              <a:rPr lang="en-US" b="1" dirty="0"/>
            </a:br>
            <a:endParaRPr lang="en-US"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Improvement</a:t>
            </a:r>
          </a:p>
          <a:p>
            <a:r>
              <a:rPr lang="en-US" dirty="0">
                <a:latin typeface="Times New Roman" panose="02020603050405020304" pitchFamily="18" charset="0"/>
                <a:cs typeface="Times New Roman" panose="02020603050405020304" pitchFamily="18" charset="0"/>
              </a:rPr>
              <a:t>Improve organizational performance and capabilities</a:t>
            </a:r>
          </a:p>
          <a:p>
            <a:r>
              <a:rPr lang="en-US" dirty="0">
                <a:latin typeface="Times New Roman" panose="02020603050405020304" pitchFamily="18" charset="0"/>
                <a:cs typeface="Times New Roman" panose="02020603050405020304" pitchFamily="18" charset="0"/>
              </a:rPr>
              <a:t>Align improvement activities</a:t>
            </a:r>
          </a:p>
          <a:p>
            <a:r>
              <a:rPr lang="en-US" dirty="0">
                <a:latin typeface="Times New Roman" panose="02020603050405020304" pitchFamily="18" charset="0"/>
                <a:cs typeface="Times New Roman" panose="02020603050405020304" pitchFamily="18" charset="0"/>
              </a:rPr>
              <a:t>Empower people to make improvements</a:t>
            </a:r>
          </a:p>
          <a:p>
            <a:r>
              <a:rPr lang="en-US" dirty="0">
                <a:latin typeface="Times New Roman" panose="02020603050405020304" pitchFamily="18" charset="0"/>
                <a:cs typeface="Times New Roman" panose="02020603050405020304" pitchFamily="18" charset="0"/>
              </a:rPr>
              <a:t>Measure improvement consistently</a:t>
            </a:r>
          </a:p>
          <a:p>
            <a:r>
              <a:rPr lang="en-US" dirty="0">
                <a:latin typeface="Times New Roman" panose="02020603050405020304" pitchFamily="18" charset="0"/>
                <a:cs typeface="Times New Roman" panose="02020603050405020304" pitchFamily="18" charset="0"/>
              </a:rPr>
              <a:t>Celebrate improvements</a:t>
            </a: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1369"/>
            <a:ext cx="10515600" cy="819319"/>
          </a:xfrm>
        </p:spPr>
        <p:txBody>
          <a:bodyPr>
            <a:normAutofit fontScale="90000"/>
          </a:bodyPr>
          <a:lstStyle/>
          <a:p>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ISO 9000:2015 principles of Quality Management</a:t>
            </a:r>
            <a:br>
              <a:rPr lang="en-US" b="1" dirty="0"/>
            </a:br>
            <a:endParaRPr lang="en-US"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Evidence-based decision making</a:t>
            </a:r>
          </a:p>
          <a:p>
            <a:r>
              <a:rPr lang="en-US" dirty="0">
                <a:latin typeface="Times New Roman" panose="02020603050405020304" pitchFamily="18" charset="0"/>
                <a:cs typeface="Times New Roman" panose="02020603050405020304" pitchFamily="18" charset="0"/>
              </a:rPr>
              <a:t>Ensure the accessibility of accurate and reliable data</a:t>
            </a:r>
          </a:p>
          <a:p>
            <a:r>
              <a:rPr lang="en-US" dirty="0">
                <a:latin typeface="Times New Roman" panose="02020603050405020304" pitchFamily="18" charset="0"/>
                <a:cs typeface="Times New Roman" panose="02020603050405020304" pitchFamily="18" charset="0"/>
              </a:rPr>
              <a:t>Use appropriate methods to analyze data</a:t>
            </a:r>
          </a:p>
          <a:p>
            <a:r>
              <a:rPr lang="en-US" dirty="0">
                <a:latin typeface="Times New Roman" panose="02020603050405020304" pitchFamily="18" charset="0"/>
                <a:cs typeface="Times New Roman" panose="02020603050405020304" pitchFamily="18" charset="0"/>
              </a:rPr>
              <a:t>Make decisions based on analysis</a:t>
            </a:r>
          </a:p>
          <a:p>
            <a:r>
              <a:rPr lang="en-US" dirty="0">
                <a:latin typeface="Times New Roman" panose="02020603050405020304" pitchFamily="18" charset="0"/>
                <a:cs typeface="Times New Roman" panose="02020603050405020304" pitchFamily="18" charset="0"/>
              </a:rPr>
              <a:t>Balance data analysis with practical experience</a:t>
            </a:r>
          </a:p>
          <a:p>
            <a:pPr>
              <a:buNone/>
            </a:pPr>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normAutofit fontScale="90000"/>
          </a:bodyPr>
          <a:lstStyle/>
          <a:p>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ISO 9000:2015 principles of Quality Management</a:t>
            </a:r>
            <a:br>
              <a:rPr lang="en-US" b="1" dirty="0"/>
            </a:br>
            <a:endParaRPr lang="en-US"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Relationship management</a:t>
            </a:r>
          </a:p>
          <a:p>
            <a:r>
              <a:rPr lang="en-US" dirty="0">
                <a:latin typeface="Times New Roman" panose="02020603050405020304" pitchFamily="18" charset="0"/>
                <a:cs typeface="Times New Roman" panose="02020603050405020304" pitchFamily="18" charset="0"/>
              </a:rPr>
              <a:t>Identify and select suppliers to manage costs, optimize resources, and create value</a:t>
            </a:r>
          </a:p>
          <a:p>
            <a:r>
              <a:rPr lang="en-US" dirty="0">
                <a:latin typeface="Times New Roman" panose="02020603050405020304" pitchFamily="18" charset="0"/>
                <a:cs typeface="Times New Roman" panose="02020603050405020304" pitchFamily="18" charset="0"/>
              </a:rPr>
              <a:t>Establish relationships considering both the short and long term</a:t>
            </a:r>
          </a:p>
          <a:p>
            <a:r>
              <a:rPr lang="en-US" dirty="0">
                <a:latin typeface="Times New Roman" panose="02020603050405020304" pitchFamily="18" charset="0"/>
                <a:cs typeface="Times New Roman" panose="02020603050405020304" pitchFamily="18" charset="0"/>
              </a:rPr>
              <a:t>Share expertise, resources, information, and plans with partners</a:t>
            </a:r>
          </a:p>
          <a:p>
            <a:r>
              <a:rPr lang="en-US" dirty="0">
                <a:latin typeface="Times New Roman" panose="02020603050405020304" pitchFamily="18" charset="0"/>
                <a:cs typeface="Times New Roman" panose="02020603050405020304" pitchFamily="18" charset="0"/>
              </a:rPr>
              <a:t>Collaborate on improvement and development activities</a:t>
            </a:r>
          </a:p>
          <a:p>
            <a:r>
              <a:rPr lang="en-US" dirty="0">
                <a:latin typeface="Times New Roman" panose="02020603050405020304" pitchFamily="18" charset="0"/>
                <a:cs typeface="Times New Roman" panose="02020603050405020304" pitchFamily="18" charset="0"/>
              </a:rPr>
              <a:t>Recognize supplier successes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https://www.javatpoint.com/software-engineering-iso-9000-certification</a:t>
            </a:r>
            <a:endParaRPr lang="en-US" dirty="0"/>
          </a:p>
          <a:p>
            <a:r>
              <a:rPr lang="en-US" dirty="0">
                <a:hlinkClick r:id="rId3"/>
              </a:rPr>
              <a:t>https://asq.org/quality-resources/iso-9000#:~:text=ISO%209000%20is%20defined%20as,to%20organizations%20of%20any%20size</a:t>
            </a:r>
            <a:r>
              <a:rPr lang="en-US" dirty="0"/>
              <a:t>.</a:t>
            </a:r>
          </a:p>
          <a:p>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03642"/>
            <a:ext cx="10515600" cy="78704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22</a:t>
            </a:fld>
            <a:endParaRPr lang="en-US">
              <a:solidFill>
                <a:prstClr val="black">
                  <a:tint val="75000"/>
                </a:prstClr>
              </a:solidFill>
            </a:endParaRP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1643</TotalTime>
  <Words>1010</Words>
  <Application>Microsoft Macintosh PowerPoint</Application>
  <PresentationFormat>Widescreen</PresentationFormat>
  <Paragraphs>132</Paragraphs>
  <Slides>22</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22</vt:i4>
      </vt:variant>
    </vt:vector>
  </HeadingPairs>
  <TitlesOfParts>
    <vt:vector size="31" baseType="lpstr">
      <vt:lpstr>Arial</vt:lpstr>
      <vt:lpstr>Arial Black</vt:lpstr>
      <vt:lpstr>Calibri</vt:lpstr>
      <vt:lpstr>Calibri Light</vt:lpstr>
      <vt:lpstr>Casper</vt:lpstr>
      <vt:lpstr>Times New Roman</vt:lpstr>
      <vt:lpstr>1_Office Theme</vt:lpstr>
      <vt:lpstr>Contents Slide Master</vt:lpstr>
      <vt:lpstr>CorelDRAW</vt:lpstr>
      <vt:lpstr>PowerPoint Presentation</vt:lpstr>
      <vt:lpstr>Chapter-8 Quality Management</vt:lpstr>
      <vt:lpstr> ISO 9000  </vt:lpstr>
      <vt:lpstr> Types of ISO 9000 Quality Standards </vt:lpstr>
      <vt:lpstr> Types of ISO 9000 Quality Standards </vt:lpstr>
      <vt:lpstr> Types of ISO 9000 Quality Standards </vt:lpstr>
      <vt:lpstr> How to get ISO 9000 Certification? </vt:lpstr>
      <vt:lpstr> How to get ISO 9000 Certification? </vt:lpstr>
      <vt:lpstr> How to get ISO 9000 Certification? </vt:lpstr>
      <vt:lpstr> ISO 9000 history and revisions: ISO 9000:2000, 2008, and 2015 </vt:lpstr>
      <vt:lpstr> ISO 9000:2000 </vt:lpstr>
      <vt:lpstr> ISO 9000:2015 principles of Quality Management </vt:lpstr>
      <vt:lpstr>PowerPoint Presentation</vt:lpstr>
      <vt:lpstr> ISO 9000:2015 principles of Quality Management </vt:lpstr>
      <vt:lpstr> ISO 9000:2015 principles of Quality Management </vt:lpstr>
      <vt:lpstr> ISO 9000:2015 principles of Quality Management </vt:lpstr>
      <vt:lpstr> ISO 9000:2015 principles of Quality Management </vt:lpstr>
      <vt:lpstr> ISO 9000:2015 principles of Quality Management </vt:lpstr>
      <vt:lpstr> ISO 9000:2015 principles of Quality Management </vt:lpstr>
      <vt:lpstr> ISO 9000:2015 principles of Quality Management </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Jagmeet Kaur</cp:lastModifiedBy>
  <cp:revision>230</cp:revision>
  <dcterms:created xsi:type="dcterms:W3CDTF">2019-01-09T10:33:58Z</dcterms:created>
  <dcterms:modified xsi:type="dcterms:W3CDTF">2024-12-19T08:24:50Z</dcterms:modified>
</cp:coreProperties>
</file>