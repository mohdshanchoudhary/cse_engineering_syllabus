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4" r:id="rId1"/>
    <p:sldMasterId id="2147483686" r:id="rId2"/>
  </p:sldMasterIdLst>
  <p:notesMasterIdLst>
    <p:notesMasterId r:id="rId26"/>
  </p:notesMasterIdLst>
  <p:handoutMasterIdLst>
    <p:handoutMasterId r:id="rId27"/>
  </p:handoutMasterIdLst>
  <p:sldIdLst>
    <p:sldId id="662" r:id="rId3"/>
    <p:sldId id="280" r:id="rId4"/>
    <p:sldId id="663" r:id="rId5"/>
    <p:sldId id="327" r:id="rId6"/>
    <p:sldId id="341" r:id="rId7"/>
    <p:sldId id="342" r:id="rId8"/>
    <p:sldId id="340" r:id="rId9"/>
    <p:sldId id="339" r:id="rId10"/>
    <p:sldId id="338" r:id="rId11"/>
    <p:sldId id="337" r:id="rId12"/>
    <p:sldId id="336" r:id="rId13"/>
    <p:sldId id="335" r:id="rId14"/>
    <p:sldId id="334" r:id="rId15"/>
    <p:sldId id="333" r:id="rId16"/>
    <p:sldId id="332" r:id="rId17"/>
    <p:sldId id="331" r:id="rId18"/>
    <p:sldId id="330" r:id="rId19"/>
    <p:sldId id="329" r:id="rId20"/>
    <p:sldId id="344" r:id="rId21"/>
    <p:sldId id="328" r:id="rId22"/>
    <p:sldId id="343" r:id="rId23"/>
    <p:sldId id="326" r:id="rId24"/>
    <p:sldId id="279" r:id="rId2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D8137"/>
    <a:srgbClr val="BC8F00"/>
    <a:srgbClr val="860000"/>
    <a:srgbClr val="00B0F0"/>
    <a:srgbClr val="1B3F5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927" autoAdjust="0"/>
    <p:restoredTop sz="94660"/>
  </p:normalViewPr>
  <p:slideViewPr>
    <p:cSldViewPr snapToGrid="0">
      <p:cViewPr varScale="1">
        <p:scale>
          <a:sx n="109" d="100"/>
          <a:sy n="109" d="100"/>
        </p:scale>
        <p:origin x="200" y="304"/>
      </p:cViewPr>
      <p:guideLst>
        <p:guide orient="horz" pos="2160"/>
        <p:guide pos="3840"/>
      </p:guideLst>
    </p:cSldViewPr>
  </p:slideViewPr>
  <p:notesTextViewPr>
    <p:cViewPr>
      <p:scale>
        <a:sx n="1" d="1"/>
        <a:sy n="1" d="1"/>
      </p:scale>
      <p:origin x="0" y="0"/>
    </p:cViewPr>
  </p:notesTextViewPr>
  <p:sorterViewPr>
    <p:cViewPr>
      <p:scale>
        <a:sx n="66" d="100"/>
        <a:sy n="66" d="100"/>
      </p:scale>
      <p:origin x="0" y="321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notesMaster" Target="notesMasters/notesMaster1.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presProps" Target="presProps.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tableStyles" Target="tableStyle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handoutMaster" Target="handoutMasters/handoutMaster1.xml"/><Relationship Id="rId30"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09B5F544-A886-482E-AF73-1D6364AAC657}" type="slidenum">
              <a:rPr lang="en-US" smtClean="0"/>
              <a:pPr/>
              <a:t>‹#›</a:t>
            </a:fld>
            <a:endParaRPr lang="en-US"/>
          </a:p>
        </p:txBody>
      </p:sp>
    </p:spTree>
    <p:extLst>
      <p:ext uri="{BB962C8B-B14F-4D97-AF65-F5344CB8AC3E}">
        <p14:creationId xmlns:p14="http://schemas.microsoft.com/office/powerpoint/2010/main" val="2251919614"/>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0732FBC-CC67-4B17-8935-02F23E3364AC}" type="slidenum">
              <a:rPr lang="en-US" smtClean="0"/>
              <a:pPr/>
              <a:t>‹#›</a:t>
            </a:fld>
            <a:endParaRPr lang="en-US"/>
          </a:p>
        </p:txBody>
      </p:sp>
    </p:spTree>
    <p:extLst>
      <p:ext uri="{BB962C8B-B14F-4D97-AF65-F5344CB8AC3E}">
        <p14:creationId xmlns:p14="http://schemas.microsoft.com/office/powerpoint/2010/main" val="2540555822"/>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5" name="Slide Number Placeholder 4"/>
          <p:cNvSpPr>
            <a:spLocks noGrp="1"/>
          </p:cNvSpPr>
          <p:nvPr>
            <p:ph type="sldNum" sz="quarter" idx="11"/>
          </p:nvPr>
        </p:nvSpPr>
        <p:spPr/>
        <p:txBody>
          <a:bodyPr/>
          <a:lstStyle/>
          <a:p>
            <a:fld id="{60732FBC-CC67-4B17-8935-02F23E3364AC}" type="slidenum">
              <a:rPr lang="en-US" smtClean="0"/>
              <a:pPr/>
              <a:t>2</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pic>
        <p:nvPicPr>
          <p:cNvPr id="7" name="Picture 6" descr="National Board of Accreditation - Wikipedia">
            <a:extLst>
              <a:ext uri="{FF2B5EF4-FFF2-40B4-BE49-F238E27FC236}">
                <a16:creationId xmlns:a16="http://schemas.microsoft.com/office/drawing/2014/main" id="{C86F0834-5750-4B90-01ED-1101D7787B7C}"/>
              </a:ext>
            </a:extLst>
          </p:cNvPr>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9196373" y="49261"/>
            <a:ext cx="975818" cy="688340"/>
          </a:xfrm>
          <a:prstGeom prst="rect">
            <a:avLst/>
          </a:prstGeom>
          <a:noFill/>
          <a:ln>
            <a:noFill/>
          </a:ln>
        </p:spPr>
      </p:pic>
    </p:spTree>
    <p:extLst>
      <p:ext uri="{BB962C8B-B14F-4D97-AF65-F5344CB8AC3E}">
        <p14:creationId xmlns:p14="http://schemas.microsoft.com/office/powerpoint/2010/main" val="37221975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145136952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41171434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171220167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180121695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88120412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27831933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269186090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52476270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405081576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213449416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Титульный слайд">
    <p:spTree>
      <p:nvGrpSpPr>
        <p:cNvPr id="1" name=""/>
        <p:cNvGrpSpPr/>
        <p:nvPr/>
      </p:nvGrpSpPr>
      <p:grpSpPr>
        <a:xfrm>
          <a:off x="0" y="0"/>
          <a:ext cx="0" cy="0"/>
          <a:chOff x="0" y="0"/>
          <a:chExt cx="0" cy="0"/>
        </a:xfrm>
      </p:grpSpPr>
      <p:sp>
        <p:nvSpPr>
          <p:cNvPr id="3" name="Прямоугольник 1"/>
          <p:cNvSpPr/>
          <p:nvPr userDrawn="1"/>
        </p:nvSpPr>
        <p:spPr>
          <a:xfrm>
            <a:off x="-19050" y="1905000"/>
            <a:ext cx="12211050" cy="495300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dirty="0"/>
          </a:p>
        </p:txBody>
      </p:sp>
      <p:sp>
        <p:nvSpPr>
          <p:cNvPr id="4" name="Прямоугольник 8"/>
          <p:cNvSpPr/>
          <p:nvPr userDrawn="1"/>
        </p:nvSpPr>
        <p:spPr>
          <a:xfrm>
            <a:off x="-19050" y="0"/>
            <a:ext cx="12211050" cy="4438650"/>
          </a:xfrm>
          <a:custGeom>
            <a:avLst/>
            <a:gdLst>
              <a:gd name="connsiteX0" fmla="*/ 0 w 12192000"/>
              <a:gd name="connsiteY0" fmla="*/ 0 h 4133850"/>
              <a:gd name="connsiteX1" fmla="*/ 12192000 w 12192000"/>
              <a:gd name="connsiteY1" fmla="*/ 0 h 4133850"/>
              <a:gd name="connsiteX2" fmla="*/ 12192000 w 12192000"/>
              <a:gd name="connsiteY2" fmla="*/ 4133850 h 4133850"/>
              <a:gd name="connsiteX3" fmla="*/ 0 w 12192000"/>
              <a:gd name="connsiteY3" fmla="*/ 4133850 h 4133850"/>
              <a:gd name="connsiteX4" fmla="*/ 0 w 12192000"/>
              <a:gd name="connsiteY4" fmla="*/ 0 h 4133850"/>
              <a:gd name="connsiteX0" fmla="*/ 19050 w 12211050"/>
              <a:gd name="connsiteY0" fmla="*/ 0 h 4133850"/>
              <a:gd name="connsiteX1" fmla="*/ 12211050 w 12211050"/>
              <a:gd name="connsiteY1" fmla="*/ 0 h 4133850"/>
              <a:gd name="connsiteX2" fmla="*/ 12211050 w 12211050"/>
              <a:gd name="connsiteY2" fmla="*/ 4133850 h 4133850"/>
              <a:gd name="connsiteX3" fmla="*/ 0 w 12211050"/>
              <a:gd name="connsiteY3" fmla="*/ 3219450 h 4133850"/>
              <a:gd name="connsiteX4" fmla="*/ 19050 w 12211050"/>
              <a:gd name="connsiteY4" fmla="*/ 0 h 4133850"/>
              <a:gd name="connsiteX0" fmla="*/ 19050 w 12211050"/>
              <a:gd name="connsiteY0" fmla="*/ 0 h 4438650"/>
              <a:gd name="connsiteX1" fmla="*/ 12211050 w 12211050"/>
              <a:gd name="connsiteY1" fmla="*/ 0 h 4438650"/>
              <a:gd name="connsiteX2" fmla="*/ 12211050 w 12211050"/>
              <a:gd name="connsiteY2" fmla="*/ 4438650 h 4438650"/>
              <a:gd name="connsiteX3" fmla="*/ 0 w 12211050"/>
              <a:gd name="connsiteY3" fmla="*/ 3219450 h 4438650"/>
              <a:gd name="connsiteX4" fmla="*/ 19050 w 12211050"/>
              <a:gd name="connsiteY4" fmla="*/ 0 h 44386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11050" h="4438650">
                <a:moveTo>
                  <a:pt x="19050" y="0"/>
                </a:moveTo>
                <a:lnTo>
                  <a:pt x="12211050" y="0"/>
                </a:lnTo>
                <a:lnTo>
                  <a:pt x="12211050" y="4438650"/>
                </a:lnTo>
                <a:lnTo>
                  <a:pt x="0" y="3219450"/>
                </a:lnTo>
                <a:lnTo>
                  <a:pt x="19050" y="0"/>
                </a:lnTo>
                <a:close/>
              </a:path>
            </a:pathLst>
          </a:custGeom>
          <a:solidFill>
            <a:schemeClr val="bg2">
              <a:lumMod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dirty="0"/>
          </a:p>
        </p:txBody>
      </p:sp>
      <p:sp>
        <p:nvSpPr>
          <p:cNvPr id="5" name="Прямоугольник 3"/>
          <p:cNvSpPr/>
          <p:nvPr userDrawn="1"/>
        </p:nvSpPr>
        <p:spPr>
          <a:xfrm>
            <a:off x="1085850" y="1009650"/>
            <a:ext cx="10020300" cy="52387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dirty="0"/>
          </a:p>
        </p:txBody>
      </p:sp>
      <p:sp>
        <p:nvSpPr>
          <p:cNvPr id="8" name="Рисунок 7"/>
          <p:cNvSpPr>
            <a:spLocks noGrp="1"/>
          </p:cNvSpPr>
          <p:nvPr>
            <p:ph type="pic" sz="quarter" idx="10"/>
          </p:nvPr>
        </p:nvSpPr>
        <p:spPr>
          <a:xfrm>
            <a:off x="1847850" y="2819400"/>
            <a:ext cx="8496300" cy="2800350"/>
          </a:xfrm>
          <a:prstGeom prst="rect">
            <a:avLst/>
          </a:prstGeom>
        </p:spPr>
        <p:txBody>
          <a:bodyPr/>
          <a:lstStyle/>
          <a:p>
            <a:pPr lvl="0"/>
            <a:endParaRPr lang="ru-RU" noProof="0" dirty="0"/>
          </a:p>
        </p:txBody>
      </p:sp>
    </p:spTree>
    <p:extLst>
      <p:ext uri="{BB962C8B-B14F-4D97-AF65-F5344CB8AC3E}">
        <p14:creationId xmlns:p14="http://schemas.microsoft.com/office/powerpoint/2010/main" val="397408168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1_Title Slide">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FC9A48AB-23F1-45F1-98E5-D2CDC7A5261D}"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10683537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Agenda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53302043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Basic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164638"/>
            <a:ext cx="12192000" cy="768085"/>
          </a:xfrm>
          <a:prstGeom prst="rect">
            <a:avLst/>
          </a:prstGeom>
        </p:spPr>
        <p:txBody>
          <a:bodyPr anchor="ctr"/>
          <a:lstStyle>
            <a:lvl1pPr marL="0" indent="0" algn="ctr">
              <a:buNone/>
              <a:defRPr sz="4800" b="0" baseline="0">
                <a:latin typeface="+mj-lt"/>
                <a:cs typeface="Arial" pitchFamily="34" charset="0"/>
              </a:defRPr>
            </a:lvl1pPr>
          </a:lstStyle>
          <a:p>
            <a:pPr lvl="0"/>
            <a:r>
              <a:rPr lang="en-US" altLang="ko-KR" dirty="0"/>
              <a:t>BASIC LAYOUT</a:t>
            </a:r>
          </a:p>
        </p:txBody>
      </p:sp>
      <p:sp>
        <p:nvSpPr>
          <p:cNvPr id="11" name="Text Placeholder 9"/>
          <p:cNvSpPr>
            <a:spLocks noGrp="1"/>
          </p:cNvSpPr>
          <p:nvPr>
            <p:ph type="body" sz="quarter" idx="11" hasCustomPrompt="1"/>
          </p:nvPr>
        </p:nvSpPr>
        <p:spPr>
          <a:xfrm>
            <a:off x="0" y="932723"/>
            <a:ext cx="12192000" cy="384043"/>
          </a:xfrm>
          <a:prstGeom prst="rect">
            <a:avLst/>
          </a:prstGeom>
        </p:spPr>
        <p:txBody>
          <a:bodyPr anchor="ctr"/>
          <a:lstStyle>
            <a:lvl1pPr marL="0" indent="0" algn="ctr">
              <a:buNone/>
              <a:defRPr sz="1867" b="0" baseline="0">
                <a:latin typeface="+mn-lt"/>
                <a:cs typeface="Arial" pitchFamily="34" charset="0"/>
              </a:defRPr>
            </a:lvl1pPr>
          </a:lstStyle>
          <a:p>
            <a:pPr lvl="0"/>
            <a:r>
              <a:rPr lang="en-US" altLang="ko-KR" dirty="0"/>
              <a:t>Insert the title of your subtitle Here</a:t>
            </a:r>
          </a:p>
        </p:txBody>
      </p:sp>
      <p:sp>
        <p:nvSpPr>
          <p:cNvPr id="2" name="Rectangle 1"/>
          <p:cNvSpPr/>
          <p:nvPr userDrawn="1"/>
        </p:nvSpPr>
        <p:spPr>
          <a:xfrm>
            <a:off x="4037371" y="1"/>
            <a:ext cx="4128459" cy="6095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5" name="Rectangle 4"/>
          <p:cNvSpPr/>
          <p:nvPr userDrawn="1"/>
        </p:nvSpPr>
        <p:spPr>
          <a:xfrm>
            <a:off x="0" y="6753308"/>
            <a:ext cx="12192000" cy="1108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val="270909644"/>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_Basic Layout">
    <p:bg>
      <p:bgPr>
        <a:solidFill>
          <a:schemeClr val="bg1"/>
        </a:solidFill>
        <a:effectLst/>
      </p:bgPr>
    </p:bg>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164638"/>
            <a:ext cx="12192000" cy="768085"/>
          </a:xfrm>
          <a:prstGeom prst="rect">
            <a:avLst/>
          </a:prstGeom>
        </p:spPr>
        <p:txBody>
          <a:bodyPr anchor="ctr"/>
          <a:lstStyle>
            <a:lvl1pPr marL="0" indent="0" algn="ctr">
              <a:buNone/>
              <a:defRPr sz="4800" b="0" baseline="0">
                <a:solidFill>
                  <a:schemeClr val="tx1">
                    <a:lumMod val="75000"/>
                    <a:lumOff val="25000"/>
                  </a:schemeClr>
                </a:solidFill>
                <a:latin typeface="+mj-lt"/>
                <a:cs typeface="Arial" pitchFamily="34" charset="0"/>
              </a:defRPr>
            </a:lvl1pPr>
          </a:lstStyle>
          <a:p>
            <a:pPr lvl="0"/>
            <a:r>
              <a:rPr lang="en-US" altLang="ko-KR" dirty="0"/>
              <a:t>BASIC LAYOUT</a:t>
            </a:r>
          </a:p>
        </p:txBody>
      </p:sp>
      <p:sp>
        <p:nvSpPr>
          <p:cNvPr id="11" name="Text Placeholder 9"/>
          <p:cNvSpPr>
            <a:spLocks noGrp="1"/>
          </p:cNvSpPr>
          <p:nvPr>
            <p:ph type="body" sz="quarter" idx="11" hasCustomPrompt="1"/>
          </p:nvPr>
        </p:nvSpPr>
        <p:spPr>
          <a:xfrm>
            <a:off x="0" y="932723"/>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
        <p:nvSpPr>
          <p:cNvPr id="2" name="Rectangle 1"/>
          <p:cNvSpPr/>
          <p:nvPr userDrawn="1"/>
        </p:nvSpPr>
        <p:spPr>
          <a:xfrm>
            <a:off x="4037371" y="1"/>
            <a:ext cx="4128459" cy="6095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5" name="Rectangle 4"/>
          <p:cNvSpPr/>
          <p:nvPr userDrawn="1"/>
        </p:nvSpPr>
        <p:spPr>
          <a:xfrm>
            <a:off x="0" y="6753308"/>
            <a:ext cx="12192000" cy="1108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val="3227159557"/>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2_Basic Layout">
    <p:bg>
      <p:bgPr>
        <a:solidFill>
          <a:schemeClr val="bg1"/>
        </a:solidFill>
        <a:effectLst/>
      </p:bgPr>
    </p:bg>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2735627" y="164638"/>
            <a:ext cx="9456373" cy="768085"/>
          </a:xfrm>
          <a:prstGeom prst="rect">
            <a:avLst/>
          </a:prstGeom>
        </p:spPr>
        <p:txBody>
          <a:bodyPr anchor="ctr"/>
          <a:lstStyle>
            <a:lvl1pPr marL="0" indent="0" algn="l">
              <a:buNone/>
              <a:defRPr sz="4800" b="0" baseline="0">
                <a:solidFill>
                  <a:schemeClr val="tx1">
                    <a:lumMod val="75000"/>
                    <a:lumOff val="25000"/>
                  </a:schemeClr>
                </a:solidFill>
                <a:latin typeface="+mj-lt"/>
                <a:cs typeface="Arial" pitchFamily="34" charset="0"/>
              </a:defRPr>
            </a:lvl1pPr>
          </a:lstStyle>
          <a:p>
            <a:pPr lvl="0"/>
            <a:r>
              <a:rPr lang="en-US" altLang="ko-KR" dirty="0"/>
              <a:t>BASIC LAYOUT</a:t>
            </a:r>
          </a:p>
        </p:txBody>
      </p:sp>
      <p:sp>
        <p:nvSpPr>
          <p:cNvPr id="11" name="Text Placeholder 9"/>
          <p:cNvSpPr>
            <a:spLocks noGrp="1"/>
          </p:cNvSpPr>
          <p:nvPr>
            <p:ph type="body" sz="quarter" idx="11" hasCustomPrompt="1"/>
          </p:nvPr>
        </p:nvSpPr>
        <p:spPr>
          <a:xfrm>
            <a:off x="2735627" y="932723"/>
            <a:ext cx="9456373" cy="384043"/>
          </a:xfrm>
          <a:prstGeom prst="rect">
            <a:avLst/>
          </a:prstGeom>
        </p:spPr>
        <p:txBody>
          <a:bodyPr anchor="ctr"/>
          <a:lstStyle>
            <a:lvl1pPr marL="0" indent="0" algn="l">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
        <p:nvSpPr>
          <p:cNvPr id="5" name="Rectangle 4"/>
          <p:cNvSpPr/>
          <p:nvPr userDrawn="1"/>
        </p:nvSpPr>
        <p:spPr>
          <a:xfrm>
            <a:off x="0" y="1"/>
            <a:ext cx="2543605" cy="686418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val="3804378142"/>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Images and Conten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242176"/>
            <a:ext cx="12192000" cy="768085"/>
          </a:xfrm>
          <a:prstGeom prst="rect">
            <a:avLst/>
          </a:prstGeom>
        </p:spPr>
        <p:txBody>
          <a:bodyPr anchor="ctr"/>
          <a:lstStyle>
            <a:lvl1pPr marL="0" indent="0" algn="ctr">
              <a:buNone/>
              <a:defRPr sz="4800" b="0" baseline="0">
                <a:latin typeface="+mj-lt"/>
                <a:cs typeface="Arial" pitchFamily="34" charset="0"/>
              </a:defRPr>
            </a:lvl1pPr>
          </a:lstStyle>
          <a:p>
            <a:pPr lvl="0"/>
            <a:r>
              <a:rPr lang="en-US" altLang="ko-KR" dirty="0"/>
              <a:t>IMAGES &amp; CONTENTS</a:t>
            </a:r>
          </a:p>
        </p:txBody>
      </p:sp>
      <p:sp>
        <p:nvSpPr>
          <p:cNvPr id="11" name="Text Placeholder 9"/>
          <p:cNvSpPr>
            <a:spLocks noGrp="1"/>
          </p:cNvSpPr>
          <p:nvPr>
            <p:ph type="body" sz="quarter" idx="11" hasCustomPrompt="1"/>
          </p:nvPr>
        </p:nvSpPr>
        <p:spPr>
          <a:xfrm>
            <a:off x="0" y="1010261"/>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
        <p:nvSpPr>
          <p:cNvPr id="2" name="Rectangle 1"/>
          <p:cNvSpPr/>
          <p:nvPr userDrawn="1"/>
        </p:nvSpPr>
        <p:spPr>
          <a:xfrm>
            <a:off x="0" y="2276872"/>
            <a:ext cx="12192000" cy="240026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3" name="Isosceles Triangle 2"/>
          <p:cNvSpPr/>
          <p:nvPr userDrawn="1"/>
        </p:nvSpPr>
        <p:spPr>
          <a:xfrm rot="10800000">
            <a:off x="1583392" y="4677509"/>
            <a:ext cx="384043" cy="331071"/>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12" name="Isosceles Triangle 11"/>
          <p:cNvSpPr/>
          <p:nvPr userDrawn="1"/>
        </p:nvSpPr>
        <p:spPr>
          <a:xfrm rot="10800000">
            <a:off x="4463712" y="4677509"/>
            <a:ext cx="384043" cy="331071"/>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13" name="Isosceles Triangle 12"/>
          <p:cNvSpPr/>
          <p:nvPr userDrawn="1"/>
        </p:nvSpPr>
        <p:spPr>
          <a:xfrm rot="10800000">
            <a:off x="7344032" y="4677509"/>
            <a:ext cx="384043" cy="331071"/>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14" name="Isosceles Triangle 13"/>
          <p:cNvSpPr/>
          <p:nvPr userDrawn="1"/>
        </p:nvSpPr>
        <p:spPr>
          <a:xfrm rot="10800000">
            <a:off x="10224348" y="4677509"/>
            <a:ext cx="384043" cy="331071"/>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15" name="Rectangle 14"/>
          <p:cNvSpPr/>
          <p:nvPr userDrawn="1"/>
        </p:nvSpPr>
        <p:spPr>
          <a:xfrm>
            <a:off x="4037371" y="1"/>
            <a:ext cx="4128459" cy="6095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16" name="Rectangle 15"/>
          <p:cNvSpPr/>
          <p:nvPr userDrawn="1"/>
        </p:nvSpPr>
        <p:spPr>
          <a:xfrm>
            <a:off x="0" y="6753308"/>
            <a:ext cx="12192000" cy="1108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17" name="Picture Placeholder 2"/>
          <p:cNvSpPr>
            <a:spLocks noGrp="1"/>
          </p:cNvSpPr>
          <p:nvPr>
            <p:ph type="pic" idx="1" hasCustomPrompt="1"/>
          </p:nvPr>
        </p:nvSpPr>
        <p:spPr>
          <a:xfrm>
            <a:off x="815413" y="2517005"/>
            <a:ext cx="1920000" cy="1920000"/>
          </a:xfrm>
          <a:prstGeom prst="ellipse">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8" name="Picture Placeholder 2"/>
          <p:cNvSpPr>
            <a:spLocks noGrp="1"/>
          </p:cNvSpPr>
          <p:nvPr>
            <p:ph type="pic" idx="12" hasCustomPrompt="1"/>
          </p:nvPr>
        </p:nvSpPr>
        <p:spPr>
          <a:xfrm>
            <a:off x="3695732" y="2517005"/>
            <a:ext cx="1920000" cy="1920000"/>
          </a:xfrm>
          <a:prstGeom prst="ellipse">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9" name="Picture Placeholder 2"/>
          <p:cNvSpPr>
            <a:spLocks noGrp="1"/>
          </p:cNvSpPr>
          <p:nvPr>
            <p:ph type="pic" idx="13" hasCustomPrompt="1"/>
          </p:nvPr>
        </p:nvSpPr>
        <p:spPr>
          <a:xfrm>
            <a:off x="6576051" y="2517005"/>
            <a:ext cx="1920000" cy="1920000"/>
          </a:xfrm>
          <a:prstGeom prst="ellipse">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20" name="Picture Placeholder 2"/>
          <p:cNvSpPr>
            <a:spLocks noGrp="1"/>
          </p:cNvSpPr>
          <p:nvPr>
            <p:ph type="pic" idx="14" hasCustomPrompt="1"/>
          </p:nvPr>
        </p:nvSpPr>
        <p:spPr>
          <a:xfrm>
            <a:off x="9456369" y="2517005"/>
            <a:ext cx="1920000" cy="1920000"/>
          </a:xfrm>
          <a:prstGeom prst="ellipse">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277721753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1_Images and Contents Layout">
    <p:spTree>
      <p:nvGrpSpPr>
        <p:cNvPr id="1" name=""/>
        <p:cNvGrpSpPr/>
        <p:nvPr/>
      </p:nvGrpSpPr>
      <p:grpSpPr>
        <a:xfrm>
          <a:off x="0" y="0"/>
          <a:ext cx="0" cy="0"/>
          <a:chOff x="0" y="0"/>
          <a:chExt cx="0" cy="0"/>
        </a:xfrm>
      </p:grpSpPr>
      <p:sp>
        <p:nvSpPr>
          <p:cNvPr id="2" name="Rectangle 1"/>
          <p:cNvSpPr/>
          <p:nvPr userDrawn="1"/>
        </p:nvSpPr>
        <p:spPr>
          <a:xfrm>
            <a:off x="5231904" y="2276872"/>
            <a:ext cx="5711957" cy="3936437"/>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black">
                  <a:lumMod val="75000"/>
                  <a:lumOff val="25000"/>
                </a:prstClr>
              </a:solidFill>
            </a:endParaRPr>
          </a:p>
        </p:txBody>
      </p:sp>
      <p:sp>
        <p:nvSpPr>
          <p:cNvPr id="7" name="Picture Placeholder 2"/>
          <p:cNvSpPr>
            <a:spLocks noGrp="1"/>
          </p:cNvSpPr>
          <p:nvPr>
            <p:ph type="pic" idx="1" hasCustomPrompt="1"/>
          </p:nvPr>
        </p:nvSpPr>
        <p:spPr>
          <a:xfrm>
            <a:off x="1103445" y="1412776"/>
            <a:ext cx="4560000" cy="3696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56200522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2_Images and Contents Layout">
    <p:spTree>
      <p:nvGrpSpPr>
        <p:cNvPr id="1" name=""/>
        <p:cNvGrpSpPr/>
        <p:nvPr/>
      </p:nvGrpSpPr>
      <p:grpSpPr>
        <a:xfrm>
          <a:off x="0" y="0"/>
          <a:ext cx="0" cy="0"/>
          <a:chOff x="0" y="0"/>
          <a:chExt cx="0" cy="0"/>
        </a:xfrm>
      </p:grpSpPr>
      <p:sp>
        <p:nvSpPr>
          <p:cNvPr id="7" name="Picture Placeholder 2"/>
          <p:cNvSpPr>
            <a:spLocks noGrp="1"/>
          </p:cNvSpPr>
          <p:nvPr>
            <p:ph type="pic" idx="1" hasCustomPrompt="1"/>
          </p:nvPr>
        </p:nvSpPr>
        <p:spPr>
          <a:xfrm>
            <a:off x="0" y="990600"/>
            <a:ext cx="3887755" cy="58674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8" name="Picture Placeholder 2"/>
          <p:cNvSpPr>
            <a:spLocks noGrp="1"/>
          </p:cNvSpPr>
          <p:nvPr>
            <p:ph type="pic" idx="11" hasCustomPrompt="1"/>
          </p:nvPr>
        </p:nvSpPr>
        <p:spPr>
          <a:xfrm>
            <a:off x="4079776" y="0"/>
            <a:ext cx="8112224" cy="3621021"/>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15957474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3_Images and Contents Layout">
    <p:spTree>
      <p:nvGrpSpPr>
        <p:cNvPr id="1" name=""/>
        <p:cNvGrpSpPr/>
        <p:nvPr/>
      </p:nvGrpSpPr>
      <p:grpSpPr>
        <a:xfrm>
          <a:off x="0" y="0"/>
          <a:ext cx="0" cy="0"/>
          <a:chOff x="0" y="0"/>
          <a:chExt cx="0" cy="0"/>
        </a:xfrm>
      </p:grpSpPr>
      <p:sp>
        <p:nvSpPr>
          <p:cNvPr id="9" name="Picture Placeholder 2"/>
          <p:cNvSpPr>
            <a:spLocks noGrp="1"/>
          </p:cNvSpPr>
          <p:nvPr>
            <p:ph type="pic" idx="1" hasCustomPrompt="1"/>
          </p:nvPr>
        </p:nvSpPr>
        <p:spPr>
          <a:xfrm>
            <a:off x="0" y="1013496"/>
            <a:ext cx="3887755" cy="3567632"/>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2" name="Picture Placeholder 2"/>
          <p:cNvSpPr>
            <a:spLocks noGrp="1"/>
          </p:cNvSpPr>
          <p:nvPr>
            <p:ph type="pic" idx="10" hasCustomPrompt="1"/>
          </p:nvPr>
        </p:nvSpPr>
        <p:spPr>
          <a:xfrm>
            <a:off x="8304245" y="0"/>
            <a:ext cx="3887755" cy="4581128"/>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3" name="Picture Placeholder 2"/>
          <p:cNvSpPr>
            <a:spLocks noGrp="1"/>
          </p:cNvSpPr>
          <p:nvPr>
            <p:ph type="pic" idx="11" hasCustomPrompt="1"/>
          </p:nvPr>
        </p:nvSpPr>
        <p:spPr>
          <a:xfrm>
            <a:off x="0" y="4773149"/>
            <a:ext cx="6096000" cy="2084851"/>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3947595198"/>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4_Images and Conten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242176"/>
            <a:ext cx="12192000" cy="768085"/>
          </a:xfrm>
          <a:prstGeom prst="rect">
            <a:avLst/>
          </a:prstGeom>
        </p:spPr>
        <p:txBody>
          <a:bodyPr anchor="ctr"/>
          <a:lstStyle>
            <a:lvl1pPr marL="0" indent="0" algn="ctr">
              <a:buNone/>
              <a:defRPr sz="4800" b="0" baseline="0">
                <a:solidFill>
                  <a:schemeClr val="tx1">
                    <a:lumMod val="75000"/>
                    <a:lumOff val="25000"/>
                  </a:schemeClr>
                </a:solidFill>
                <a:latin typeface="+mj-lt"/>
                <a:cs typeface="Arial" pitchFamily="34" charset="0"/>
              </a:defRPr>
            </a:lvl1pPr>
          </a:lstStyle>
          <a:p>
            <a:pPr lvl="0"/>
            <a:r>
              <a:rPr lang="en-US" altLang="ko-KR" dirty="0"/>
              <a:t>IMAGES &amp; CONTENTS</a:t>
            </a:r>
          </a:p>
        </p:txBody>
      </p:sp>
      <p:sp>
        <p:nvSpPr>
          <p:cNvPr id="11" name="Text Placeholder 9"/>
          <p:cNvSpPr>
            <a:spLocks noGrp="1"/>
          </p:cNvSpPr>
          <p:nvPr>
            <p:ph type="body" sz="quarter" idx="11" hasCustomPrompt="1"/>
          </p:nvPr>
        </p:nvSpPr>
        <p:spPr>
          <a:xfrm>
            <a:off x="0" y="1010261"/>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
        <p:nvSpPr>
          <p:cNvPr id="2" name="Rectangle 1"/>
          <p:cNvSpPr/>
          <p:nvPr userDrawn="1"/>
        </p:nvSpPr>
        <p:spPr>
          <a:xfrm>
            <a:off x="595027" y="4101331"/>
            <a:ext cx="2400000" cy="2304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1600">
              <a:solidFill>
                <a:prstClr val="black">
                  <a:lumMod val="75000"/>
                  <a:lumOff val="25000"/>
                </a:prstClr>
              </a:solidFill>
            </a:endParaRPr>
          </a:p>
        </p:txBody>
      </p:sp>
      <p:sp>
        <p:nvSpPr>
          <p:cNvPr id="12" name="Rectangle 11"/>
          <p:cNvSpPr/>
          <p:nvPr userDrawn="1"/>
        </p:nvSpPr>
        <p:spPr>
          <a:xfrm>
            <a:off x="9196973" y="1700808"/>
            <a:ext cx="2400000" cy="2304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1600">
              <a:solidFill>
                <a:prstClr val="black">
                  <a:lumMod val="75000"/>
                  <a:lumOff val="25000"/>
                </a:prstClr>
              </a:solidFill>
            </a:endParaRPr>
          </a:p>
        </p:txBody>
      </p:sp>
      <p:sp>
        <p:nvSpPr>
          <p:cNvPr id="13" name="Picture Placeholder 2"/>
          <p:cNvSpPr>
            <a:spLocks noGrp="1"/>
          </p:cNvSpPr>
          <p:nvPr>
            <p:ph type="pic" idx="12" hasCustomPrompt="1"/>
          </p:nvPr>
        </p:nvSpPr>
        <p:spPr>
          <a:xfrm>
            <a:off x="595027" y="1700808"/>
            <a:ext cx="2400000" cy="2304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4" name="Picture Placeholder 2"/>
          <p:cNvSpPr>
            <a:spLocks noGrp="1"/>
          </p:cNvSpPr>
          <p:nvPr>
            <p:ph type="pic" idx="13" hasCustomPrompt="1"/>
          </p:nvPr>
        </p:nvSpPr>
        <p:spPr>
          <a:xfrm>
            <a:off x="9196973" y="4101331"/>
            <a:ext cx="2400000" cy="2304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5" name="Picture Placeholder 2"/>
          <p:cNvSpPr>
            <a:spLocks noGrp="1"/>
          </p:cNvSpPr>
          <p:nvPr>
            <p:ph type="pic" idx="14" hasCustomPrompt="1"/>
          </p:nvPr>
        </p:nvSpPr>
        <p:spPr>
          <a:xfrm>
            <a:off x="3119669" y="4101331"/>
            <a:ext cx="5952663" cy="2304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6" name="Picture Placeholder 2"/>
          <p:cNvSpPr>
            <a:spLocks noGrp="1"/>
          </p:cNvSpPr>
          <p:nvPr>
            <p:ph type="pic" idx="15" hasCustomPrompt="1"/>
          </p:nvPr>
        </p:nvSpPr>
        <p:spPr>
          <a:xfrm>
            <a:off x="3119669" y="1700808"/>
            <a:ext cx="5952663" cy="2304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427835944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5_Images and Contents Layout">
    <p:spTree>
      <p:nvGrpSpPr>
        <p:cNvPr id="1" name=""/>
        <p:cNvGrpSpPr/>
        <p:nvPr/>
      </p:nvGrpSpPr>
      <p:grpSpPr>
        <a:xfrm>
          <a:off x="0" y="0"/>
          <a:ext cx="0" cy="0"/>
          <a:chOff x="0" y="0"/>
          <a:chExt cx="0" cy="0"/>
        </a:xfrm>
      </p:grpSpPr>
      <p:sp>
        <p:nvSpPr>
          <p:cNvPr id="16" name="Picture Placeholder 2"/>
          <p:cNvSpPr>
            <a:spLocks noGrp="1"/>
          </p:cNvSpPr>
          <p:nvPr>
            <p:ph type="pic" idx="12" hasCustomPrompt="1"/>
          </p:nvPr>
        </p:nvSpPr>
        <p:spPr>
          <a:xfrm>
            <a:off x="709650" y="480055"/>
            <a:ext cx="4224469" cy="4197085"/>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7" name="Picture Placeholder 2"/>
          <p:cNvSpPr>
            <a:spLocks noGrp="1"/>
          </p:cNvSpPr>
          <p:nvPr>
            <p:ph type="pic" idx="13" hasCustomPrompt="1"/>
          </p:nvPr>
        </p:nvSpPr>
        <p:spPr>
          <a:xfrm>
            <a:off x="5126140" y="480056"/>
            <a:ext cx="6336704" cy="2296105"/>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8" name="Picture Placeholder 2"/>
          <p:cNvSpPr>
            <a:spLocks noGrp="1"/>
          </p:cNvSpPr>
          <p:nvPr>
            <p:ph type="pic" idx="14" hasCustomPrompt="1"/>
          </p:nvPr>
        </p:nvSpPr>
        <p:spPr>
          <a:xfrm>
            <a:off x="5126140" y="2948948"/>
            <a:ext cx="1968000" cy="1728192"/>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9" name="Picture Placeholder 2"/>
          <p:cNvSpPr>
            <a:spLocks noGrp="1"/>
          </p:cNvSpPr>
          <p:nvPr>
            <p:ph type="pic" idx="16" hasCustomPrompt="1"/>
          </p:nvPr>
        </p:nvSpPr>
        <p:spPr>
          <a:xfrm>
            <a:off x="7310492" y="2948948"/>
            <a:ext cx="1968000" cy="1728192"/>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20" name="Picture Placeholder 2"/>
          <p:cNvSpPr>
            <a:spLocks noGrp="1"/>
          </p:cNvSpPr>
          <p:nvPr>
            <p:ph type="pic" idx="17" hasCustomPrompt="1"/>
          </p:nvPr>
        </p:nvSpPr>
        <p:spPr>
          <a:xfrm>
            <a:off x="9494844" y="2948948"/>
            <a:ext cx="1968000" cy="1728192"/>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2702302158"/>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7_Images and Conten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242176"/>
            <a:ext cx="12192000" cy="768085"/>
          </a:xfrm>
          <a:prstGeom prst="rect">
            <a:avLst/>
          </a:prstGeom>
        </p:spPr>
        <p:txBody>
          <a:bodyPr anchor="ctr"/>
          <a:lstStyle>
            <a:lvl1pPr marL="0" indent="0" algn="ctr">
              <a:buNone/>
              <a:defRPr sz="4800" b="0" baseline="0">
                <a:solidFill>
                  <a:schemeClr val="tx1">
                    <a:lumMod val="75000"/>
                    <a:lumOff val="25000"/>
                  </a:schemeClr>
                </a:solidFill>
                <a:latin typeface="+mj-lt"/>
                <a:cs typeface="Arial" pitchFamily="34" charset="0"/>
              </a:defRPr>
            </a:lvl1pPr>
          </a:lstStyle>
          <a:p>
            <a:pPr lvl="0"/>
            <a:r>
              <a:rPr lang="en-US" altLang="ko-KR" dirty="0"/>
              <a:t>IMAGES &amp; CONTENTS</a:t>
            </a:r>
          </a:p>
        </p:txBody>
      </p:sp>
      <p:sp>
        <p:nvSpPr>
          <p:cNvPr id="11" name="Text Placeholder 9"/>
          <p:cNvSpPr>
            <a:spLocks noGrp="1"/>
          </p:cNvSpPr>
          <p:nvPr>
            <p:ph type="body" sz="quarter" idx="11" hasCustomPrompt="1"/>
          </p:nvPr>
        </p:nvSpPr>
        <p:spPr>
          <a:xfrm>
            <a:off x="0" y="1010261"/>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pic>
        <p:nvPicPr>
          <p:cNvPr id="5" name="그림 1"/>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546767" y="2276873"/>
            <a:ext cx="7238124" cy="3966041"/>
          </a:xfrm>
          <a:prstGeom prst="rect">
            <a:avLst/>
          </a:prstGeom>
        </p:spPr>
      </p:pic>
      <p:sp>
        <p:nvSpPr>
          <p:cNvPr id="7" name="Picture Placeholder 2"/>
          <p:cNvSpPr>
            <a:spLocks noGrp="1"/>
          </p:cNvSpPr>
          <p:nvPr>
            <p:ph type="pic" idx="1" hasCustomPrompt="1"/>
          </p:nvPr>
        </p:nvSpPr>
        <p:spPr>
          <a:xfrm>
            <a:off x="5705875" y="2485912"/>
            <a:ext cx="4832891" cy="3124239"/>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8" name="Rectangle 7"/>
          <p:cNvSpPr/>
          <p:nvPr userDrawn="1"/>
        </p:nvSpPr>
        <p:spPr>
          <a:xfrm>
            <a:off x="4037371" y="1"/>
            <a:ext cx="4128459" cy="60959"/>
          </a:xfrm>
          <a:prstGeom prst="rect">
            <a:avLst/>
          </a:prstGeom>
          <a:solidFill>
            <a:srgbClr val="EB494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9" name="Rectangle 8"/>
          <p:cNvSpPr/>
          <p:nvPr userDrawn="1"/>
        </p:nvSpPr>
        <p:spPr>
          <a:xfrm>
            <a:off x="0" y="6753308"/>
            <a:ext cx="12192000" cy="110875"/>
          </a:xfrm>
          <a:prstGeom prst="rect">
            <a:avLst/>
          </a:prstGeom>
          <a:solidFill>
            <a:srgbClr val="EB494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val="221804153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8_Images and Conten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242176"/>
            <a:ext cx="12192000" cy="768085"/>
          </a:xfrm>
          <a:prstGeom prst="rect">
            <a:avLst/>
          </a:prstGeom>
        </p:spPr>
        <p:txBody>
          <a:bodyPr anchor="ctr"/>
          <a:lstStyle>
            <a:lvl1pPr marL="0" indent="0" algn="ctr">
              <a:buNone/>
              <a:defRPr sz="4800" b="0" baseline="0">
                <a:solidFill>
                  <a:schemeClr val="tx1">
                    <a:lumMod val="75000"/>
                    <a:lumOff val="25000"/>
                  </a:schemeClr>
                </a:solidFill>
                <a:latin typeface="+mj-lt"/>
                <a:cs typeface="Arial" pitchFamily="34" charset="0"/>
              </a:defRPr>
            </a:lvl1pPr>
          </a:lstStyle>
          <a:p>
            <a:pPr lvl="0"/>
            <a:r>
              <a:rPr lang="en-US" altLang="ko-KR" dirty="0"/>
              <a:t>IMAGES &amp; CONTENTS</a:t>
            </a:r>
          </a:p>
        </p:txBody>
      </p:sp>
      <p:sp>
        <p:nvSpPr>
          <p:cNvPr id="11" name="Text Placeholder 9"/>
          <p:cNvSpPr>
            <a:spLocks noGrp="1"/>
          </p:cNvSpPr>
          <p:nvPr>
            <p:ph type="body" sz="quarter" idx="11" hasCustomPrompt="1"/>
          </p:nvPr>
        </p:nvSpPr>
        <p:spPr>
          <a:xfrm>
            <a:off x="0" y="1010261"/>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pic>
        <p:nvPicPr>
          <p:cNvPr id="5" name="Picture 4" descr="D:\Fullppt\005-PNG이미지\모니터.png"/>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776400" y="1815747"/>
            <a:ext cx="3360373" cy="3350541"/>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descr="D:\Fullppt\005-PNG이미지\모니터.png"/>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4406826" y="1815747"/>
            <a:ext cx="3360373" cy="3350541"/>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8" descr="D:\Fullppt\005-PNG이미지\모니터.png"/>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8037251" y="1815747"/>
            <a:ext cx="3360373" cy="3350541"/>
          </a:xfrm>
          <a:prstGeom prst="rect">
            <a:avLst/>
          </a:prstGeom>
          <a:noFill/>
          <a:extLst>
            <a:ext uri="{909E8E84-426E-40DD-AFC4-6F175D3DCCD1}">
              <a14:hiddenFill xmlns:a14="http://schemas.microsoft.com/office/drawing/2010/main">
                <a:solidFill>
                  <a:srgbClr val="FFFFFF"/>
                </a:solidFill>
              </a14:hiddenFill>
            </a:ext>
          </a:extLst>
        </p:spPr>
      </p:pic>
      <p:sp>
        <p:nvSpPr>
          <p:cNvPr id="13" name="Picture Placeholder 2"/>
          <p:cNvSpPr>
            <a:spLocks noGrp="1"/>
          </p:cNvSpPr>
          <p:nvPr>
            <p:ph type="pic" idx="1" hasCustomPrompt="1"/>
          </p:nvPr>
        </p:nvSpPr>
        <p:spPr>
          <a:xfrm>
            <a:off x="909901" y="1957962"/>
            <a:ext cx="3073864" cy="2080028"/>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4" name="Picture Placeholder 2"/>
          <p:cNvSpPr>
            <a:spLocks noGrp="1"/>
          </p:cNvSpPr>
          <p:nvPr>
            <p:ph type="pic" idx="12" hasCustomPrompt="1"/>
          </p:nvPr>
        </p:nvSpPr>
        <p:spPr>
          <a:xfrm>
            <a:off x="4539561" y="1957962"/>
            <a:ext cx="3073864" cy="2080028"/>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5" name="Picture Placeholder 2"/>
          <p:cNvSpPr>
            <a:spLocks noGrp="1"/>
          </p:cNvSpPr>
          <p:nvPr>
            <p:ph type="pic" idx="13" hasCustomPrompt="1"/>
          </p:nvPr>
        </p:nvSpPr>
        <p:spPr>
          <a:xfrm>
            <a:off x="8169221" y="1957962"/>
            <a:ext cx="3073864" cy="2080028"/>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6" name="Rectangle 15"/>
          <p:cNvSpPr/>
          <p:nvPr userDrawn="1"/>
        </p:nvSpPr>
        <p:spPr>
          <a:xfrm>
            <a:off x="4037371" y="1"/>
            <a:ext cx="4128459" cy="6095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17" name="Rectangle 16"/>
          <p:cNvSpPr/>
          <p:nvPr userDrawn="1"/>
        </p:nvSpPr>
        <p:spPr>
          <a:xfrm>
            <a:off x="0" y="6753308"/>
            <a:ext cx="12192000" cy="1108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val="4079406833"/>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9_Images and Contents Layout">
    <p:spTree>
      <p:nvGrpSpPr>
        <p:cNvPr id="1" name=""/>
        <p:cNvGrpSpPr/>
        <p:nvPr/>
      </p:nvGrpSpPr>
      <p:grpSpPr>
        <a:xfrm>
          <a:off x="0" y="0"/>
          <a:ext cx="0" cy="0"/>
          <a:chOff x="0" y="0"/>
          <a:chExt cx="0" cy="0"/>
        </a:xfrm>
      </p:grpSpPr>
      <p:sp>
        <p:nvSpPr>
          <p:cNvPr id="6" name="Picture Placeholder 2"/>
          <p:cNvSpPr>
            <a:spLocks noGrp="1"/>
          </p:cNvSpPr>
          <p:nvPr>
            <p:ph type="pic" idx="1" hasCustomPrompt="1"/>
          </p:nvPr>
        </p:nvSpPr>
        <p:spPr>
          <a:xfrm>
            <a:off x="0" y="0"/>
            <a:ext cx="12192000" cy="4101075"/>
          </a:xfrm>
          <a:prstGeom prst="rect">
            <a:avLst/>
          </a:prstGeom>
          <a:solidFill>
            <a:schemeClr val="bg1">
              <a:lumMod val="8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2014657143"/>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icon se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164638"/>
            <a:ext cx="12192000" cy="768085"/>
          </a:xfrm>
          <a:prstGeom prst="rect">
            <a:avLst/>
          </a:prstGeom>
        </p:spPr>
        <p:txBody>
          <a:bodyPr anchor="ctr"/>
          <a:lstStyle>
            <a:lvl1pPr marL="0" indent="0" algn="ctr">
              <a:buNone/>
              <a:defRPr sz="4800" b="0" baseline="0">
                <a:latin typeface="+mj-lt"/>
                <a:cs typeface="Arial" pitchFamily="34" charset="0"/>
              </a:defRPr>
            </a:lvl1pPr>
          </a:lstStyle>
          <a:p>
            <a:pPr lvl="0"/>
            <a:r>
              <a:rPr lang="en-US" altLang="ko-KR" dirty="0"/>
              <a:t>ICON SETS LAYOUT</a:t>
            </a:r>
          </a:p>
        </p:txBody>
      </p:sp>
      <p:grpSp>
        <p:nvGrpSpPr>
          <p:cNvPr id="5" name="Group 4"/>
          <p:cNvGrpSpPr/>
          <p:nvPr userDrawn="1"/>
        </p:nvGrpSpPr>
        <p:grpSpPr>
          <a:xfrm>
            <a:off x="472011" y="1508786"/>
            <a:ext cx="3799787" cy="4865561"/>
            <a:chOff x="354008" y="1131589"/>
            <a:chExt cx="2849840" cy="3649171"/>
          </a:xfrm>
        </p:grpSpPr>
        <p:sp>
          <p:nvSpPr>
            <p:cNvPr id="6" name="Rounded Rectangle 5"/>
            <p:cNvSpPr/>
            <p:nvPr/>
          </p:nvSpPr>
          <p:spPr>
            <a:xfrm>
              <a:off x="354008" y="1131589"/>
              <a:ext cx="2849840" cy="3649171"/>
            </a:xfrm>
            <a:prstGeom prst="roundRect">
              <a:avLst>
                <a:gd name="adj" fmla="val 3968"/>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ko-KR" altLang="en-US" sz="2400" dirty="0">
                <a:solidFill>
                  <a:prstClr val="white"/>
                </a:solidFill>
              </a:endParaRPr>
            </a:p>
          </p:txBody>
        </p:sp>
        <p:sp>
          <p:nvSpPr>
            <p:cNvPr id="9" name="Rounded Rectangle 8"/>
            <p:cNvSpPr/>
            <p:nvPr/>
          </p:nvSpPr>
          <p:spPr>
            <a:xfrm>
              <a:off x="531932" y="1347500"/>
              <a:ext cx="108520" cy="3240473"/>
            </a:xfrm>
            <a:prstGeom prst="roundRect">
              <a:avLst>
                <a:gd name="adj" fmla="val 50000"/>
              </a:avLst>
            </a:prstGeom>
            <a:solidFill>
              <a:schemeClr val="bg1">
                <a:alpha val="4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ko-KR" altLang="en-US" sz="2400">
                <a:solidFill>
                  <a:prstClr val="white"/>
                </a:solidFill>
              </a:endParaRPr>
            </a:p>
          </p:txBody>
        </p:sp>
        <p:sp>
          <p:nvSpPr>
            <p:cNvPr id="12" name="Half Frame 11"/>
            <p:cNvSpPr/>
            <p:nvPr/>
          </p:nvSpPr>
          <p:spPr>
            <a:xfrm rot="5400000">
              <a:off x="2592642" y="1238201"/>
              <a:ext cx="502331" cy="502331"/>
            </a:xfrm>
            <a:prstGeom prst="halfFrame">
              <a:avLst>
                <a:gd name="adj1" fmla="val 23728"/>
                <a:gd name="adj2" fmla="val 24642"/>
              </a:avLst>
            </a:prstGeom>
            <a:solidFill>
              <a:schemeClr val="bg1">
                <a:alpha val="2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ko-KR" altLang="en-US" sz="2400">
                <a:solidFill>
                  <a:prstClr val="black"/>
                </a:solidFill>
              </a:endParaRPr>
            </a:p>
          </p:txBody>
        </p:sp>
      </p:grpSp>
    </p:spTree>
    <p:extLst>
      <p:ext uri="{BB962C8B-B14F-4D97-AF65-F5344CB8AC3E}">
        <p14:creationId xmlns:p14="http://schemas.microsoft.com/office/powerpoint/2010/main" val="262197813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image" Target="../media/image4.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3.png"/><Relationship Id="rId2" Type="http://schemas.openxmlformats.org/officeDocument/2006/relationships/slideLayout" Target="../slideLayouts/slideLayout2.xml"/><Relationship Id="rId16" Type="http://schemas.openxmlformats.org/officeDocument/2006/relationships/image" Target="../media/image2.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1.xml"/><Relationship Id="rId13" Type="http://schemas.openxmlformats.org/officeDocument/2006/relationships/slideLayout" Target="../slideLayouts/slideLayout26.xml"/><Relationship Id="rId3" Type="http://schemas.openxmlformats.org/officeDocument/2006/relationships/slideLayout" Target="../slideLayouts/slideLayout16.xml"/><Relationship Id="rId7" Type="http://schemas.openxmlformats.org/officeDocument/2006/relationships/slideLayout" Target="../slideLayouts/slideLayout20.xml"/><Relationship Id="rId12" Type="http://schemas.openxmlformats.org/officeDocument/2006/relationships/slideLayout" Target="../slideLayouts/slideLayout25.xml"/><Relationship Id="rId2" Type="http://schemas.openxmlformats.org/officeDocument/2006/relationships/slideLayout" Target="../slideLayouts/slideLayout15.xml"/><Relationship Id="rId1" Type="http://schemas.openxmlformats.org/officeDocument/2006/relationships/slideLayout" Target="../slideLayouts/slideLayout14.xml"/><Relationship Id="rId6" Type="http://schemas.openxmlformats.org/officeDocument/2006/relationships/slideLayout" Target="../slideLayouts/slideLayout19.xml"/><Relationship Id="rId11" Type="http://schemas.openxmlformats.org/officeDocument/2006/relationships/slideLayout" Target="../slideLayouts/slideLayout24.xml"/><Relationship Id="rId5" Type="http://schemas.openxmlformats.org/officeDocument/2006/relationships/slideLayout" Target="../slideLayouts/slideLayout18.xml"/><Relationship Id="rId15" Type="http://schemas.openxmlformats.org/officeDocument/2006/relationships/theme" Target="../theme/theme2.xml"/><Relationship Id="rId10" Type="http://schemas.openxmlformats.org/officeDocument/2006/relationships/slideLayout" Target="../slideLayouts/slideLayout23.xml"/><Relationship Id="rId4" Type="http://schemas.openxmlformats.org/officeDocument/2006/relationships/slideLayout" Target="../slideLayouts/slideLayout17.xml"/><Relationship Id="rId9" Type="http://schemas.openxmlformats.org/officeDocument/2006/relationships/slideLayout" Target="../slideLayouts/slideLayout22.xml"/><Relationship Id="rId14" Type="http://schemas.openxmlformats.org/officeDocument/2006/relationships/slideLayout" Target="../slideLayouts/slideLayout2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5">
            <a:lum/>
          </a:blip>
          <a:srcRect/>
          <a:stretch>
            <a:fillRect l="1000" t="-1000" r="1000"/>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DCDBBEF-AA6C-4BA6-85B2-A17D7F280E38}" type="slidenum">
              <a:rPr lang="en-US" smtClean="0"/>
              <a:pPr/>
              <a:t>‹#›</a:t>
            </a:fld>
            <a:endParaRPr lang="en-US"/>
          </a:p>
        </p:txBody>
      </p:sp>
      <p:pic>
        <p:nvPicPr>
          <p:cNvPr id="7" name="Picture 6">
            <a:extLst>
              <a:ext uri="{FF2B5EF4-FFF2-40B4-BE49-F238E27FC236}">
                <a16:creationId xmlns:a16="http://schemas.microsoft.com/office/drawing/2014/main" id="{337C15C5-04F9-42F3-AFED-E74E68B457E4}"/>
              </a:ext>
            </a:extLst>
          </p:cNvPr>
          <p:cNvPicPr>
            <a:picLocks noChangeAspect="1"/>
          </p:cNvPicPr>
          <p:nvPr userDrawn="1"/>
        </p:nvPicPr>
        <p:blipFill>
          <a:blip r:embed="rId16" cstate="print">
            <a:extLst>
              <a:ext uri="{28A0092B-C50C-407E-A947-70E740481C1C}">
                <a14:useLocalDpi xmlns:a14="http://schemas.microsoft.com/office/drawing/2010/main" val="0"/>
              </a:ext>
            </a:extLst>
          </a:blip>
          <a:stretch>
            <a:fillRect/>
          </a:stretch>
        </p:blipFill>
        <p:spPr>
          <a:xfrm>
            <a:off x="8313446" y="0"/>
            <a:ext cx="882927" cy="785252"/>
          </a:xfrm>
          <a:prstGeom prst="rect">
            <a:avLst/>
          </a:prstGeom>
        </p:spPr>
      </p:pic>
      <p:pic>
        <p:nvPicPr>
          <p:cNvPr id="8" name="Picture 7">
            <a:extLst>
              <a:ext uri="{FF2B5EF4-FFF2-40B4-BE49-F238E27FC236}">
                <a16:creationId xmlns:a16="http://schemas.microsoft.com/office/drawing/2014/main" id="{DE266A7A-B718-01B2-3054-34795A77A70E}"/>
              </a:ext>
            </a:extLst>
          </p:cNvPr>
          <p:cNvPicPr>
            <a:picLocks noChangeAspect="1"/>
          </p:cNvPicPr>
          <p:nvPr userDrawn="1"/>
        </p:nvPicPr>
        <p:blipFill>
          <a:blip r:embed="rId17" cstate="print">
            <a:extLst>
              <a:ext uri="{28A0092B-C50C-407E-A947-70E740481C1C}">
                <a14:useLocalDpi xmlns:a14="http://schemas.microsoft.com/office/drawing/2010/main" val="0"/>
              </a:ext>
            </a:extLst>
          </a:blip>
          <a:stretch>
            <a:fillRect/>
          </a:stretch>
        </p:blipFill>
        <p:spPr>
          <a:xfrm>
            <a:off x="10172191" y="58916"/>
            <a:ext cx="2019808" cy="641551"/>
          </a:xfrm>
          <a:prstGeom prst="rect">
            <a:avLst/>
          </a:prstGeom>
        </p:spPr>
      </p:pic>
      <p:pic>
        <p:nvPicPr>
          <p:cNvPr id="9" name="Picture 8" descr="National Board of Accreditation - Wikipedia">
            <a:extLst>
              <a:ext uri="{FF2B5EF4-FFF2-40B4-BE49-F238E27FC236}">
                <a16:creationId xmlns:a16="http://schemas.microsoft.com/office/drawing/2014/main" id="{D3E2D7AC-302E-83FA-AB80-3E40510E36BF}"/>
              </a:ext>
            </a:extLst>
          </p:cNvPr>
          <p:cNvPicPr/>
          <p:nvPr userDrawn="1"/>
        </p:nvPicPr>
        <p:blipFill>
          <a:blip r:embed="rId18" cstate="print">
            <a:extLst>
              <a:ext uri="{28A0092B-C50C-407E-A947-70E740481C1C}">
                <a14:useLocalDpi xmlns:a14="http://schemas.microsoft.com/office/drawing/2010/main" val="0"/>
              </a:ext>
            </a:extLst>
          </a:blip>
          <a:srcRect/>
          <a:stretch>
            <a:fillRect/>
          </a:stretch>
        </p:blipFill>
        <p:spPr bwMode="auto">
          <a:xfrm>
            <a:off x="9196373" y="49261"/>
            <a:ext cx="975818" cy="688340"/>
          </a:xfrm>
          <a:prstGeom prst="rect">
            <a:avLst/>
          </a:prstGeom>
          <a:noFill/>
          <a:ln>
            <a:noFill/>
          </a:ln>
        </p:spPr>
      </p:pic>
    </p:spTree>
    <p:extLst>
      <p:ext uri="{BB962C8B-B14F-4D97-AF65-F5344CB8AC3E}">
        <p14:creationId xmlns:p14="http://schemas.microsoft.com/office/powerpoint/2010/main" val="3333391393"/>
      </p:ext>
    </p:extLst>
  </p:cSld>
  <p:clrMap bg1="lt1" tx1="dk1" bg2="lt2" tx2="dk2" accent1="accent1" accent2="accent2" accent3="accent3" accent4="accent4" accent5="accent5" accent6="accent6" hlink="hlink" folHlink="folHlink"/>
  <p:sldLayoutIdLst>
    <p:sldLayoutId id="2147483675" r:id="rId1"/>
    <p:sldLayoutId id="2147483676" r:id="rId2"/>
    <p:sldLayoutId id="2147483677" r:id="rId3"/>
    <p:sldLayoutId id="2147483678" r:id="rId4"/>
    <p:sldLayoutId id="2147483679" r:id="rId5"/>
    <p:sldLayoutId id="2147483680" r:id="rId6"/>
    <p:sldLayoutId id="2147483681" r:id="rId7"/>
    <p:sldLayoutId id="2147483682" r:id="rId8"/>
    <p:sldLayoutId id="2147483683" r:id="rId9"/>
    <p:sldLayoutId id="2147483684" r:id="rId10"/>
    <p:sldLayoutId id="2147483685" r:id="rId11"/>
    <p:sldLayoutId id="2147483660" r:id="rId12"/>
    <p:sldLayoutId id="2147483701" r:id="rId13"/>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48544627"/>
      </p:ext>
    </p:extLst>
  </p:cSld>
  <p:clrMap bg1="lt1" tx1="dk1" bg2="lt2" tx2="dk2" accent1="accent1" accent2="accent2" accent3="accent3" accent4="accent4" accent5="accent5" accent6="accent6" hlink="hlink" folHlink="folHlink"/>
  <p:sldLayoutIdLst>
    <p:sldLayoutId id="2147483687" r:id="rId1"/>
    <p:sldLayoutId id="2147483688" r:id="rId2"/>
    <p:sldLayoutId id="2147483689" r:id="rId3"/>
    <p:sldLayoutId id="2147483690" r:id="rId4"/>
    <p:sldLayoutId id="2147483691" r:id="rId5"/>
    <p:sldLayoutId id="2147483692" r:id="rId6"/>
    <p:sldLayoutId id="2147483693" r:id="rId7"/>
    <p:sldLayoutId id="2147483694" r:id="rId8"/>
    <p:sldLayoutId id="2147483695" r:id="rId9"/>
    <p:sldLayoutId id="2147483696" r:id="rId10"/>
    <p:sldLayoutId id="2147483697" r:id="rId11"/>
    <p:sldLayoutId id="2147483698" r:id="rId12"/>
    <p:sldLayoutId id="2147483699" r:id="rId13"/>
    <p:sldLayoutId id="2147483700" r:id="rId14"/>
  </p:sldLayoutIdLst>
  <p:hf hdr="0" ftr="0" dt="0"/>
  <p:txStyles>
    <p:titleStyle>
      <a:lvl1pPr algn="ctr" defTabSz="1219170" rtl="0" eaLnBrk="1" latinLnBrk="1" hangingPunct="1">
        <a:spcBef>
          <a:spcPct val="0"/>
        </a:spcBef>
        <a:buNone/>
        <a:defRPr sz="5867" kern="1200">
          <a:solidFill>
            <a:schemeClr val="tx1"/>
          </a:solidFill>
          <a:latin typeface="+mj-lt"/>
          <a:ea typeface="+mj-ea"/>
          <a:cs typeface="+mj-cs"/>
        </a:defRPr>
      </a:lvl1pPr>
    </p:titleStyle>
    <p:bodyStyle>
      <a:lvl1pPr marL="457189" indent="-457189" algn="l" defTabSz="1219170" rtl="0" eaLnBrk="1" latinLnBrk="1" hangingPunct="1">
        <a:spcBef>
          <a:spcPct val="20000"/>
        </a:spcBef>
        <a:buFont typeface="Arial" pitchFamily="34" charset="0"/>
        <a:buChar char="•"/>
        <a:defRPr sz="4267" kern="1200">
          <a:solidFill>
            <a:schemeClr val="tx1"/>
          </a:solidFill>
          <a:latin typeface="+mn-lt"/>
          <a:ea typeface="+mn-ea"/>
          <a:cs typeface="+mn-cs"/>
        </a:defRPr>
      </a:lvl1pPr>
      <a:lvl2pPr marL="990575" indent="-380990" algn="l" defTabSz="1219170" rtl="0" eaLnBrk="1" latinLnBrk="1" hangingPunct="1">
        <a:spcBef>
          <a:spcPct val="20000"/>
        </a:spcBef>
        <a:buFont typeface="Arial" pitchFamily="34" charset="0"/>
        <a:buChar char="–"/>
        <a:defRPr sz="3733" kern="1200">
          <a:solidFill>
            <a:schemeClr val="tx1"/>
          </a:solidFill>
          <a:latin typeface="+mn-lt"/>
          <a:ea typeface="+mn-ea"/>
          <a:cs typeface="+mn-cs"/>
        </a:defRPr>
      </a:lvl2pPr>
      <a:lvl3pPr marL="1523962" indent="-304792" algn="l" defTabSz="1219170" rtl="0" eaLnBrk="1" latinLnBrk="1" hangingPunct="1">
        <a:spcBef>
          <a:spcPct val="20000"/>
        </a:spcBef>
        <a:buFont typeface="Arial" pitchFamily="34" charset="0"/>
        <a:buChar char="•"/>
        <a:defRPr sz="3200" kern="1200">
          <a:solidFill>
            <a:schemeClr val="tx1"/>
          </a:solidFill>
          <a:latin typeface="+mn-lt"/>
          <a:ea typeface="+mn-ea"/>
          <a:cs typeface="+mn-cs"/>
        </a:defRPr>
      </a:lvl3pPr>
      <a:lvl4pPr marL="2133547"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4pPr>
      <a:lvl5pPr marL="2743131"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5pPr>
      <a:lvl6pPr marL="3352716"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6pPr>
      <a:lvl7pPr marL="3962301"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7pPr>
      <a:lvl8pPr marL="4571886"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8pPr>
      <a:lvl9pPr marL="5181470"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9pPr>
    </p:bodyStyle>
    <p:otherStyle>
      <a:defPPr>
        <a:defRPr lang="ko-KR"/>
      </a:defPPr>
      <a:lvl1pPr marL="0" algn="l" defTabSz="1219170" rtl="0" eaLnBrk="1" latinLnBrk="1" hangingPunct="1">
        <a:defRPr sz="2400" kern="1200">
          <a:solidFill>
            <a:schemeClr val="tx1"/>
          </a:solidFill>
          <a:latin typeface="+mn-lt"/>
          <a:ea typeface="+mn-ea"/>
          <a:cs typeface="+mn-cs"/>
        </a:defRPr>
      </a:lvl1pPr>
      <a:lvl2pPr marL="609585" algn="l" defTabSz="1219170" rtl="0" eaLnBrk="1" latinLnBrk="1" hangingPunct="1">
        <a:defRPr sz="2400" kern="1200">
          <a:solidFill>
            <a:schemeClr val="tx1"/>
          </a:solidFill>
          <a:latin typeface="+mn-lt"/>
          <a:ea typeface="+mn-ea"/>
          <a:cs typeface="+mn-cs"/>
        </a:defRPr>
      </a:lvl2pPr>
      <a:lvl3pPr marL="1219170" algn="l" defTabSz="1219170" rtl="0" eaLnBrk="1" latinLnBrk="1" hangingPunct="1">
        <a:defRPr sz="2400" kern="1200">
          <a:solidFill>
            <a:schemeClr val="tx1"/>
          </a:solidFill>
          <a:latin typeface="+mn-lt"/>
          <a:ea typeface="+mn-ea"/>
          <a:cs typeface="+mn-cs"/>
        </a:defRPr>
      </a:lvl3pPr>
      <a:lvl4pPr marL="1828754" algn="l" defTabSz="1219170" rtl="0" eaLnBrk="1" latinLnBrk="1" hangingPunct="1">
        <a:defRPr sz="2400" kern="1200">
          <a:solidFill>
            <a:schemeClr val="tx1"/>
          </a:solidFill>
          <a:latin typeface="+mn-lt"/>
          <a:ea typeface="+mn-ea"/>
          <a:cs typeface="+mn-cs"/>
        </a:defRPr>
      </a:lvl4pPr>
      <a:lvl5pPr marL="2438339" algn="l" defTabSz="1219170" rtl="0" eaLnBrk="1" latinLnBrk="1" hangingPunct="1">
        <a:defRPr sz="2400" kern="1200">
          <a:solidFill>
            <a:schemeClr val="tx1"/>
          </a:solidFill>
          <a:latin typeface="+mn-lt"/>
          <a:ea typeface="+mn-ea"/>
          <a:cs typeface="+mn-cs"/>
        </a:defRPr>
      </a:lvl5pPr>
      <a:lvl6pPr marL="3047924" algn="l" defTabSz="1219170" rtl="0" eaLnBrk="1" latinLnBrk="1" hangingPunct="1">
        <a:defRPr sz="2400" kern="1200">
          <a:solidFill>
            <a:schemeClr val="tx1"/>
          </a:solidFill>
          <a:latin typeface="+mn-lt"/>
          <a:ea typeface="+mn-ea"/>
          <a:cs typeface="+mn-cs"/>
        </a:defRPr>
      </a:lvl6pPr>
      <a:lvl7pPr marL="3657509" algn="l" defTabSz="1219170" rtl="0" eaLnBrk="1" latinLnBrk="1" hangingPunct="1">
        <a:defRPr sz="2400" kern="1200">
          <a:solidFill>
            <a:schemeClr val="tx1"/>
          </a:solidFill>
          <a:latin typeface="+mn-lt"/>
          <a:ea typeface="+mn-ea"/>
          <a:cs typeface="+mn-cs"/>
        </a:defRPr>
      </a:lvl7pPr>
      <a:lvl8pPr marL="4267093" algn="l" defTabSz="1219170" rtl="0" eaLnBrk="1" latinLnBrk="1" hangingPunct="1">
        <a:defRPr sz="2400" kern="1200">
          <a:solidFill>
            <a:schemeClr val="tx1"/>
          </a:solidFill>
          <a:latin typeface="+mn-lt"/>
          <a:ea typeface="+mn-ea"/>
          <a:cs typeface="+mn-cs"/>
        </a:defRPr>
      </a:lvl8pPr>
      <a:lvl9pPr marL="4876678" algn="l" defTabSz="1219170" rtl="0" eaLnBrk="1" latinLnBrk="1"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png"/><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hyperlink" Target="https://www.tutorialspoint.com/software_engineering/software_maintenance_overview.htm" TargetMode="External"/><Relationship Id="rId2" Type="http://schemas.openxmlformats.org/officeDocument/2006/relationships/hyperlink" Target="https://www.javatpoint.com/software-engineering-software-maintenance" TargetMode="External"/><Relationship Id="rId1" Type="http://schemas.openxmlformats.org/officeDocument/2006/relationships/slideLayout" Target="../slideLayouts/slideLayout2.xml"/><Relationship Id="rId4" Type="http://schemas.openxmlformats.org/officeDocument/2006/relationships/hyperlink" Target="https://www.geeksforgeeks.org/software-engineering-software-maintenance/" TargetMode="External"/></Relationships>
</file>

<file path=ppt/slides/_rels/slide23.xml.rels><?xml version="1.0" encoding="UTF-8" standalone="yes"?>
<Relationships xmlns="http://schemas.openxmlformats.org/package/2006/relationships"><Relationship Id="rId3" Type="http://schemas.openxmlformats.org/officeDocument/2006/relationships/image" Target="../media/image13.emf"/><Relationship Id="rId2" Type="http://schemas.openxmlformats.org/officeDocument/2006/relationships/oleObject" Target="../embeddings/oleObject1.bin"/><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Google Shape;93;p1"/>
          <p:cNvSpPr/>
          <p:nvPr/>
        </p:nvSpPr>
        <p:spPr>
          <a:xfrm>
            <a:off x="501445" y="4837797"/>
            <a:ext cx="10958052" cy="1518553"/>
          </a:xfrm>
          <a:prstGeom prst="rect">
            <a:avLst/>
          </a:prstGeom>
          <a:solidFill>
            <a:schemeClr val="lt1"/>
          </a:solidFill>
          <a:ln>
            <a:noFill/>
          </a:ln>
        </p:spPr>
        <p:txBody>
          <a:bodyPr spcFirstLastPara="1" wrap="square" lIns="91425" tIns="45700" rIns="91425" bIns="45700" anchor="ctr" anchorCtr="0">
            <a:noAutofit/>
          </a:bodyPr>
          <a:lstStyle/>
          <a:p>
            <a:pPr algn="ctr"/>
            <a:endParaRPr dirty="0">
              <a:solidFill>
                <a:schemeClr val="lt1"/>
              </a:solidFill>
              <a:latin typeface="Calibri"/>
              <a:ea typeface="Calibri"/>
              <a:cs typeface="Calibri"/>
              <a:sym typeface="Calibri"/>
            </a:endParaRPr>
          </a:p>
        </p:txBody>
      </p:sp>
      <p:sp>
        <p:nvSpPr>
          <p:cNvPr id="3" name="Subtitle 2"/>
          <p:cNvSpPr>
            <a:spLocks noGrp="1"/>
          </p:cNvSpPr>
          <p:nvPr>
            <p:ph type="subTitle" idx="1"/>
          </p:nvPr>
        </p:nvSpPr>
        <p:spPr>
          <a:xfrm>
            <a:off x="562662" y="4891470"/>
            <a:ext cx="4156822" cy="1236591"/>
          </a:xfrm>
        </p:spPr>
        <p:txBody>
          <a:bodyPr>
            <a:noAutofit/>
          </a:bodyPr>
          <a:lstStyle/>
          <a:p>
            <a:pPr algn="l"/>
            <a:r>
              <a:rPr lang="en-US" sz="1800" b="1" dirty="0">
                <a:latin typeface="Times New Roman" panose="02020603050405020304" pitchFamily="18" charset="0"/>
                <a:cs typeface="Times New Roman" panose="02020603050405020304" pitchFamily="18" charset="0"/>
              </a:rPr>
              <a:t>Er. Jagmeet Kaur</a:t>
            </a:r>
          </a:p>
          <a:p>
            <a:pPr algn="l"/>
            <a:r>
              <a:rPr lang="en-US" sz="1400" b="1" dirty="0">
                <a:latin typeface="Times New Roman" panose="02020603050405020304" pitchFamily="18" charset="0"/>
                <a:cs typeface="Times New Roman" panose="02020603050405020304" pitchFamily="18" charset="0"/>
              </a:rPr>
              <a:t>E8387</a:t>
            </a:r>
          </a:p>
          <a:p>
            <a:pPr algn="l"/>
            <a:r>
              <a:rPr lang="en-US" sz="1400" b="1" dirty="0">
                <a:latin typeface="Times New Roman" panose="02020603050405020304" pitchFamily="18" charset="0"/>
                <a:cs typeface="Times New Roman" panose="02020603050405020304" pitchFamily="18" charset="0"/>
              </a:rPr>
              <a:t>ASSISTANT PROFESSOR</a:t>
            </a:r>
          </a:p>
          <a:p>
            <a:pPr algn="l"/>
            <a:r>
              <a:rPr lang="en-US" sz="1400" b="1" dirty="0">
                <a:latin typeface="Times New Roman" panose="02020603050405020304" pitchFamily="18" charset="0"/>
                <a:cs typeface="Times New Roman" panose="02020603050405020304" pitchFamily="18" charset="0"/>
              </a:rPr>
              <a:t>CSE </a:t>
            </a:r>
          </a:p>
        </p:txBody>
      </p:sp>
      <p:sp>
        <p:nvSpPr>
          <p:cNvPr id="7" name="Google Shape;100;p1"/>
          <p:cNvSpPr/>
          <p:nvPr/>
        </p:nvSpPr>
        <p:spPr>
          <a:xfrm flipH="1">
            <a:off x="9344623" y="4901508"/>
            <a:ext cx="2466377" cy="1712909"/>
          </a:xfrm>
          <a:prstGeom prst="rtTriangle">
            <a:avLst/>
          </a:prstGeom>
          <a:solidFill>
            <a:srgbClr val="C00000"/>
          </a:solidFill>
          <a:ln>
            <a:noFill/>
          </a:ln>
        </p:spPr>
        <p:txBody>
          <a:bodyPr spcFirstLastPara="1" lIns="75585" tIns="37782" rIns="75585" bIns="37782" anchor="ctr"/>
          <a:lstStyle/>
          <a:p>
            <a:pPr algn="ctr">
              <a:defRPr/>
            </a:pPr>
            <a:endParaRPr sz="1488">
              <a:solidFill>
                <a:schemeClr val="lt1"/>
              </a:solidFill>
              <a:latin typeface="Calibri"/>
              <a:ea typeface="Calibri"/>
              <a:cs typeface="Calibri"/>
              <a:sym typeface="Calibri"/>
            </a:endParaRPr>
          </a:p>
        </p:txBody>
      </p:sp>
      <p:sp>
        <p:nvSpPr>
          <p:cNvPr id="6" name="Google Shape;101;p1"/>
          <p:cNvSpPr txBox="1"/>
          <p:nvPr/>
        </p:nvSpPr>
        <p:spPr>
          <a:xfrm>
            <a:off x="7158646" y="5490468"/>
            <a:ext cx="4075113" cy="534988"/>
          </a:xfrm>
          <a:prstGeom prst="rect">
            <a:avLst/>
          </a:prstGeom>
          <a:noFill/>
          <a:ln>
            <a:noFill/>
          </a:ln>
        </p:spPr>
        <p:txBody>
          <a:bodyPr spcFirstLastPara="1" lIns="75585" tIns="37782" rIns="75585" bIns="37782">
            <a:spAutoFit/>
          </a:bodyPr>
          <a:lstStyle/>
          <a:p>
            <a:pPr>
              <a:defRPr/>
            </a:pPr>
            <a:r>
              <a:rPr lang="en-US" sz="1653" b="1" dirty="0">
                <a:solidFill>
                  <a:srgbClr val="595959"/>
                </a:solidFill>
                <a:latin typeface="Arial"/>
                <a:ea typeface="Arial"/>
                <a:cs typeface="Arial"/>
                <a:sym typeface="Arial"/>
              </a:rPr>
              <a:t>DISCOVER . </a:t>
            </a:r>
            <a:r>
              <a:rPr lang="en-US" sz="1653" b="1" dirty="0">
                <a:solidFill>
                  <a:srgbClr val="C00000"/>
                </a:solidFill>
                <a:latin typeface="Arial"/>
                <a:ea typeface="Arial"/>
                <a:cs typeface="Arial"/>
                <a:sym typeface="Arial"/>
              </a:rPr>
              <a:t>LEARN</a:t>
            </a:r>
            <a:r>
              <a:rPr lang="en-US" sz="1653" b="1" dirty="0">
                <a:solidFill>
                  <a:srgbClr val="595959"/>
                </a:solidFill>
                <a:latin typeface="Arial"/>
                <a:ea typeface="Arial"/>
                <a:cs typeface="Arial"/>
                <a:sym typeface="Arial"/>
              </a:rPr>
              <a:t> . EMPOWER</a:t>
            </a:r>
            <a:endParaRPr sz="992" b="1" dirty="0">
              <a:solidFill>
                <a:srgbClr val="000000"/>
              </a:solidFill>
              <a:latin typeface="Arial"/>
              <a:ea typeface="Arial"/>
              <a:cs typeface="Arial"/>
              <a:sym typeface="Arial"/>
            </a:endParaRPr>
          </a:p>
          <a:p>
            <a:pPr>
              <a:defRPr/>
            </a:pPr>
            <a:endParaRPr sz="1323" b="1" dirty="0">
              <a:solidFill>
                <a:schemeClr val="dk1"/>
              </a:solidFill>
              <a:latin typeface="Arial"/>
              <a:ea typeface="Arial"/>
              <a:cs typeface="Arial"/>
              <a:sym typeface="Arial"/>
            </a:endParaRPr>
          </a:p>
        </p:txBody>
      </p:sp>
      <p:sp>
        <p:nvSpPr>
          <p:cNvPr id="9" name="Google Shape;94;p1"/>
          <p:cNvSpPr/>
          <p:nvPr/>
        </p:nvSpPr>
        <p:spPr>
          <a:xfrm>
            <a:off x="1826198" y="5901986"/>
            <a:ext cx="45719" cy="613881"/>
          </a:xfrm>
          <a:prstGeom prst="rect">
            <a:avLst/>
          </a:prstGeom>
          <a:solidFill>
            <a:srgbClr val="C00000"/>
          </a:solidFill>
          <a:ln>
            <a:noFill/>
          </a:ln>
        </p:spPr>
        <p:txBody>
          <a:bodyPr spcFirstLastPara="1" wrap="square" lIns="91425" tIns="45700" rIns="91425" bIns="45700" anchor="ctr" anchorCtr="0">
            <a:noAutofit/>
          </a:bodyPr>
          <a:lstStyle/>
          <a:p>
            <a:pPr algn="ctr"/>
            <a:endParaRPr>
              <a:solidFill>
                <a:schemeClr val="lt1"/>
              </a:solidFill>
              <a:latin typeface="Calibri"/>
              <a:ea typeface="Calibri"/>
              <a:cs typeface="Calibri"/>
              <a:sym typeface="Calibri"/>
            </a:endParaRPr>
          </a:p>
        </p:txBody>
      </p:sp>
      <p:sp>
        <p:nvSpPr>
          <p:cNvPr id="11" name="Google Shape;103;p1"/>
          <p:cNvSpPr txBox="1"/>
          <p:nvPr/>
        </p:nvSpPr>
        <p:spPr>
          <a:xfrm>
            <a:off x="910729" y="1207782"/>
            <a:ext cx="9722858" cy="2843815"/>
          </a:xfrm>
          <a:prstGeom prst="rect">
            <a:avLst/>
          </a:prstGeom>
          <a:noFill/>
          <a:ln>
            <a:noFill/>
          </a:ln>
        </p:spPr>
        <p:txBody>
          <a:bodyPr spcFirstLastPara="1" wrap="square" lIns="91425" tIns="45700" rIns="91425" bIns="45700" anchor="t" anchorCtr="0">
            <a:spAutoFit/>
          </a:bodyPr>
          <a:lstStyle/>
          <a:p>
            <a:pPr lvl="0" algn="ctr" defTabSz="622300">
              <a:lnSpc>
                <a:spcPct val="90000"/>
              </a:lnSpc>
              <a:spcBef>
                <a:spcPct val="0"/>
              </a:spcBef>
              <a:spcAft>
                <a:spcPct val="35000"/>
              </a:spcAft>
            </a:pPr>
            <a:r>
              <a:rPr lang="en-US" sz="3200" b="1" dirty="0">
                <a:latin typeface="Arial Black" panose="020B0A04020102020204" pitchFamily="34" charset="0"/>
                <a:ea typeface="Karla" pitchFamily="2" charset="0"/>
                <a:cs typeface="Karla" pitchFamily="2" charset="0"/>
              </a:rPr>
              <a:t>University Institute of Engineering</a:t>
            </a:r>
          </a:p>
          <a:p>
            <a:pPr lvl="0" algn="ctr" defTabSz="622300">
              <a:lnSpc>
                <a:spcPct val="90000"/>
              </a:lnSpc>
              <a:spcBef>
                <a:spcPct val="0"/>
              </a:spcBef>
              <a:spcAft>
                <a:spcPct val="35000"/>
              </a:spcAft>
            </a:pPr>
            <a:r>
              <a:rPr lang="en-US" sz="3200" b="1" dirty="0">
                <a:latin typeface="Arial Black" panose="020B0A04020102020204" pitchFamily="34" charset="0"/>
                <a:ea typeface="Karla" pitchFamily="2" charset="0"/>
                <a:cs typeface="Karla" pitchFamily="2" charset="0"/>
              </a:rPr>
              <a:t>DEPARTMENT OF COMPUTER SCIENCE &amp; ENGINEERING</a:t>
            </a:r>
          </a:p>
          <a:p>
            <a:pPr lvl="0" algn="ctr" defTabSz="622300">
              <a:lnSpc>
                <a:spcPct val="90000"/>
              </a:lnSpc>
              <a:spcBef>
                <a:spcPct val="0"/>
              </a:spcBef>
              <a:spcAft>
                <a:spcPct val="35000"/>
              </a:spcAft>
            </a:pPr>
            <a:r>
              <a:rPr lang="en-US" sz="2800" dirty="0">
                <a:latin typeface="Times New Roman" panose="02020603050405020304" pitchFamily="18" charset="0"/>
                <a:ea typeface="Calibri" panose="020F0502020204030204" pitchFamily="34" charset="0"/>
                <a:cs typeface="Times New Roman" panose="02020603050405020304" pitchFamily="18" charset="0"/>
              </a:rPr>
              <a:t>Subject Name: Software Engineering</a:t>
            </a:r>
          </a:p>
          <a:p>
            <a:pPr lvl="0" algn="ctr" defTabSz="622300">
              <a:lnSpc>
                <a:spcPct val="90000"/>
              </a:lnSpc>
              <a:spcBef>
                <a:spcPct val="0"/>
              </a:spcBef>
              <a:spcAft>
                <a:spcPct val="35000"/>
              </a:spcAft>
            </a:pPr>
            <a:r>
              <a:rPr lang="en-US" sz="2800" dirty="0">
                <a:latin typeface="Times New Roman" panose="02020603050405020304" pitchFamily="18" charset="0"/>
                <a:ea typeface="Calibri" panose="020F0502020204030204" pitchFamily="34" charset="0"/>
                <a:cs typeface="Times New Roman" panose="02020603050405020304" pitchFamily="18" charset="0"/>
              </a:rPr>
              <a:t>Subject Code: 23CST-206</a:t>
            </a:r>
          </a:p>
        </p:txBody>
      </p:sp>
      <p:sp>
        <p:nvSpPr>
          <p:cNvPr id="2" name="Date Placeholder 1"/>
          <p:cNvSpPr>
            <a:spLocks noGrp="1"/>
          </p:cNvSpPr>
          <p:nvPr>
            <p:ph type="dt" sz="half" idx="10"/>
          </p:nvPr>
        </p:nvSpPr>
        <p:spPr/>
        <p:txBody>
          <a:bodyPr/>
          <a:lstStyle/>
          <a:p>
            <a:r>
              <a:rPr lang="en-US" dirty="0"/>
              <a:t>09/12/24</a:t>
            </a:r>
          </a:p>
        </p:txBody>
      </p:sp>
      <p:sp>
        <p:nvSpPr>
          <p:cNvPr id="10" name="Footer Placeholder 9"/>
          <p:cNvSpPr>
            <a:spLocks noGrp="1"/>
          </p:cNvSpPr>
          <p:nvPr>
            <p:ph type="ftr" sz="quarter" idx="11"/>
          </p:nvPr>
        </p:nvSpPr>
        <p:spPr/>
        <p:txBody>
          <a:bodyPr/>
          <a:lstStyle/>
          <a:p>
            <a:r>
              <a:rPr lang="en-US" dirty="0"/>
              <a:t>Er. Jagmeet Kaur, Asst. Prof., CSE, Chandigarh University</a:t>
            </a:r>
          </a:p>
        </p:txBody>
      </p:sp>
      <p:sp>
        <p:nvSpPr>
          <p:cNvPr id="12" name="Slide Number Placeholder 11"/>
          <p:cNvSpPr>
            <a:spLocks noGrp="1"/>
          </p:cNvSpPr>
          <p:nvPr>
            <p:ph type="sldNum" sz="quarter" idx="12"/>
          </p:nvPr>
        </p:nvSpPr>
        <p:spPr/>
        <p:txBody>
          <a:bodyPr/>
          <a:lstStyle/>
          <a:p>
            <a:fld id="{FA84A37A-AFC2-4A01-80A1-FC20F2C0D5BB}" type="slidenum">
              <a:rPr lang="en-US" smtClean="0"/>
              <a:pPr/>
              <a:t>1</a:t>
            </a:fld>
            <a:endParaRPr lang="en-US" dirty="0"/>
          </a:p>
        </p:txBody>
      </p:sp>
      <p:pic>
        <p:nvPicPr>
          <p:cNvPr id="14" name="Picture 1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313446" y="0"/>
            <a:ext cx="882927" cy="785252"/>
          </a:xfrm>
          <a:prstGeom prst="rect">
            <a:avLst/>
          </a:prstGeom>
        </p:spPr>
      </p:pic>
      <p:pic>
        <p:nvPicPr>
          <p:cNvPr id="15" name="Picture 14" descr="National Board of Accreditation - Wikipedia"/>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196373" y="49261"/>
            <a:ext cx="975818" cy="688340"/>
          </a:xfrm>
          <a:prstGeom prst="rect">
            <a:avLst/>
          </a:prstGeom>
          <a:noFill/>
          <a:ln>
            <a:noFill/>
          </a:ln>
        </p:spPr>
      </p:pic>
      <p:sp>
        <p:nvSpPr>
          <p:cNvPr id="5" name="TextBox 4">
            <a:extLst>
              <a:ext uri="{FF2B5EF4-FFF2-40B4-BE49-F238E27FC236}">
                <a16:creationId xmlns:a16="http://schemas.microsoft.com/office/drawing/2014/main" id="{2A3E7AC5-0170-6A4D-3DDF-A62478ECD17A}"/>
              </a:ext>
            </a:extLst>
          </p:cNvPr>
          <p:cNvSpPr txBox="1"/>
          <p:nvPr/>
        </p:nvSpPr>
        <p:spPr>
          <a:xfrm>
            <a:off x="4038600" y="3934196"/>
            <a:ext cx="3534784" cy="369332"/>
          </a:xfrm>
          <a:prstGeom prst="rect">
            <a:avLst/>
          </a:prstGeom>
          <a:noFill/>
        </p:spPr>
        <p:txBody>
          <a:bodyPr wrap="square">
            <a:spAutoFit/>
          </a:bodyPr>
          <a:lstStyle/>
          <a:p>
            <a:r>
              <a:rPr lang="en-US" b="1" dirty="0"/>
              <a:t>Software Maintenance and Reuse</a:t>
            </a:r>
            <a:endParaRPr lang="en-US" dirty="0"/>
          </a:p>
        </p:txBody>
      </p:sp>
      <p:pic>
        <p:nvPicPr>
          <p:cNvPr id="4" name="Picture 3">
            <a:extLst>
              <a:ext uri="{FF2B5EF4-FFF2-40B4-BE49-F238E27FC236}">
                <a16:creationId xmlns:a16="http://schemas.microsoft.com/office/drawing/2014/main" id="{6D96E75A-F74F-2D77-5F7D-29AACD5910A7}"/>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0172191" y="58916"/>
            <a:ext cx="2019808" cy="641551"/>
          </a:xfrm>
          <a:prstGeom prst="rect">
            <a:avLst/>
          </a:prstGeom>
        </p:spPr>
      </p:pic>
    </p:spTree>
    <p:extLst>
      <p:ext uri="{BB962C8B-B14F-4D97-AF65-F5344CB8AC3E}">
        <p14:creationId xmlns:p14="http://schemas.microsoft.com/office/powerpoint/2010/main" val="389994005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806823"/>
            <a:ext cx="10515600" cy="1404487"/>
          </a:xfrm>
        </p:spPr>
        <p:txBody>
          <a:bodyPr>
            <a:noAutofit/>
          </a:bodyPr>
          <a:lstStyle/>
          <a:p>
            <a:pPr algn="ctr"/>
            <a:r>
              <a:rPr lang="en-US" sz="3600" dirty="0">
                <a:latin typeface="Times New Roman" panose="02020603050405020304" pitchFamily="18" charset="0"/>
                <a:cs typeface="Times New Roman" pitchFamily="18" charset="0"/>
              </a:rPr>
              <a:t>Chapter-9</a:t>
            </a:r>
            <a:br>
              <a:rPr lang="en-US" sz="3600" dirty="0">
                <a:latin typeface="Times New Roman" panose="02020603050405020304" pitchFamily="18" charset="0"/>
                <a:cs typeface="Times New Roman" pitchFamily="18" charset="0"/>
              </a:rPr>
            </a:br>
            <a:r>
              <a:rPr lang="en-US" sz="3600" b="1" dirty="0">
                <a:latin typeface="Times New Roman" panose="02020603050405020304" pitchFamily="18" charset="0"/>
                <a:cs typeface="Times New Roman" panose="02020603050405020304" pitchFamily="18" charset="0"/>
              </a:rPr>
              <a:t>Software Maintenance and Reuse</a:t>
            </a:r>
            <a:endParaRPr lang="en-US" sz="3600" dirty="0">
              <a:latin typeface="Times New Roman" panose="02020603050405020304" pitchFamily="18" charset="0"/>
              <a:cs typeface="Times New Roman" pitchFamily="18" charset="0"/>
            </a:endParaRPr>
          </a:p>
        </p:txBody>
      </p:sp>
      <p:sp>
        <p:nvSpPr>
          <p:cNvPr id="3" name="Content Placeholder 2"/>
          <p:cNvSpPr>
            <a:spLocks noGrp="1"/>
          </p:cNvSpPr>
          <p:nvPr>
            <p:ph idx="1"/>
          </p:nvPr>
        </p:nvSpPr>
        <p:spPr>
          <a:xfrm>
            <a:off x="838200" y="2216075"/>
            <a:ext cx="10515600" cy="3960888"/>
          </a:xfrm>
        </p:spPr>
        <p:txBody>
          <a:bodyPr>
            <a:normAutofit/>
          </a:bodyPr>
          <a:lstStyle/>
          <a:p>
            <a:pPr>
              <a:lnSpc>
                <a:spcPct val="150000"/>
              </a:lnSpc>
            </a:pPr>
            <a:r>
              <a:rPr lang="en-US" sz="2400" dirty="0">
                <a:latin typeface="Times New Roman" pitchFamily="18" charset="0"/>
                <a:cs typeface="Times New Roman" pitchFamily="18" charset="0"/>
              </a:rPr>
              <a:t>Software Maintenance</a:t>
            </a:r>
          </a:p>
          <a:p>
            <a:pPr>
              <a:lnSpc>
                <a:spcPct val="150000"/>
              </a:lnSpc>
            </a:pPr>
            <a:r>
              <a:rPr lang="en-US" sz="2400" dirty="0">
                <a:latin typeface="Times New Roman" pitchFamily="18" charset="0"/>
                <a:cs typeface="Times New Roman" pitchFamily="18" charset="0"/>
              </a:rPr>
              <a:t>Types of Maintenance</a:t>
            </a:r>
          </a:p>
          <a:p>
            <a:pPr>
              <a:lnSpc>
                <a:spcPct val="150000"/>
              </a:lnSpc>
            </a:pPr>
            <a:r>
              <a:rPr lang="en-US" sz="2400" dirty="0">
                <a:latin typeface="Times New Roman" pitchFamily="18" charset="0"/>
                <a:cs typeface="Times New Roman" pitchFamily="18" charset="0"/>
              </a:rPr>
              <a:t>Software Maintenance Models</a:t>
            </a:r>
          </a:p>
        </p:txBody>
      </p:sp>
      <p:sp>
        <p:nvSpPr>
          <p:cNvPr id="5" name="Rectangle 4"/>
          <p:cNvSpPr/>
          <p:nvPr/>
        </p:nvSpPr>
        <p:spPr>
          <a:xfrm>
            <a:off x="838200" y="2230678"/>
            <a:ext cx="10515600" cy="3941521"/>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p:cNvSpPr/>
          <p:nvPr/>
        </p:nvSpPr>
        <p:spPr>
          <a:xfrm>
            <a:off x="807720" y="903642"/>
            <a:ext cx="10515600" cy="1133046"/>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Slide Number Placeholder 6"/>
          <p:cNvSpPr>
            <a:spLocks noGrp="1"/>
          </p:cNvSpPr>
          <p:nvPr>
            <p:ph type="sldNum" sz="quarter" idx="12"/>
          </p:nvPr>
        </p:nvSpPr>
        <p:spPr/>
        <p:txBody>
          <a:bodyPr/>
          <a:lstStyle/>
          <a:p>
            <a:fld id="{BDCDBBEF-AA6C-4BA6-85B2-A17D7F280E38}" type="slidenum">
              <a:rPr lang="en-US" smtClean="0"/>
              <a:pPr/>
              <a:t>2</a:t>
            </a:fld>
            <a:endParaRPr lang="en-US"/>
          </a:p>
        </p:txBody>
      </p:sp>
      <p:sp>
        <p:nvSpPr>
          <p:cNvPr id="4" name="Footer Placeholder 9">
            <a:extLst>
              <a:ext uri="{FF2B5EF4-FFF2-40B4-BE49-F238E27FC236}">
                <a16:creationId xmlns:a16="http://schemas.microsoft.com/office/drawing/2014/main" id="{EA0415A9-722B-C47A-611A-233FF5911C60}"/>
              </a:ext>
            </a:extLst>
          </p:cNvPr>
          <p:cNvSpPr>
            <a:spLocks noGrp="1"/>
          </p:cNvSpPr>
          <p:nvPr>
            <p:ph type="ftr" sz="quarter" idx="11"/>
          </p:nvPr>
        </p:nvSpPr>
        <p:spPr>
          <a:xfrm>
            <a:off x="4038600" y="6356350"/>
            <a:ext cx="4114800" cy="365125"/>
          </a:xfrm>
        </p:spPr>
        <p:txBody>
          <a:bodyPr/>
          <a:lstStyle/>
          <a:p>
            <a:r>
              <a:rPr lang="en-US" dirty="0"/>
              <a:t>Er. Jagmeet Kaur, Asst. Prof., CSE, Chandigarh University</a:t>
            </a:r>
          </a:p>
        </p:txBody>
      </p:sp>
    </p:spTree>
    <p:extLst>
      <p:ext uri="{BB962C8B-B14F-4D97-AF65-F5344CB8AC3E}">
        <p14:creationId xmlns:p14="http://schemas.microsoft.com/office/powerpoint/2010/main" val="82370237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4FC35E-6143-9B56-436A-F9742B2D7AF4}"/>
              </a:ext>
            </a:extLst>
          </p:cNvPr>
          <p:cNvSpPr>
            <a:spLocks noGrp="1"/>
          </p:cNvSpPr>
          <p:nvPr>
            <p:ph type="title"/>
          </p:nvPr>
        </p:nvSpPr>
        <p:spPr>
          <a:xfrm>
            <a:off x="838200" y="914400"/>
            <a:ext cx="10515600" cy="776288"/>
          </a:xfrm>
        </p:spPr>
        <p:txBody>
          <a:bodyPr/>
          <a:lstStyle/>
          <a:p>
            <a:r>
              <a:rPr lang="en-US" sz="4400" b="1" dirty="0">
                <a:latin typeface="Times New Roman" panose="02020603050405020304" pitchFamily="18" charset="0"/>
                <a:cs typeface="Times New Roman" panose="02020603050405020304" pitchFamily="18" charset="0"/>
              </a:rPr>
              <a:t>Software Maintenance and Reuse</a:t>
            </a:r>
            <a:endParaRPr lang="en-US" dirty="0"/>
          </a:p>
        </p:txBody>
      </p:sp>
      <p:sp>
        <p:nvSpPr>
          <p:cNvPr id="4" name="Slide Number Placeholder 3">
            <a:extLst>
              <a:ext uri="{FF2B5EF4-FFF2-40B4-BE49-F238E27FC236}">
                <a16:creationId xmlns:a16="http://schemas.microsoft.com/office/drawing/2014/main" id="{AEC8D68E-D10F-AB9B-6F2B-863688994002}"/>
              </a:ext>
            </a:extLst>
          </p:cNvPr>
          <p:cNvSpPr>
            <a:spLocks noGrp="1"/>
          </p:cNvSpPr>
          <p:nvPr>
            <p:ph type="sldNum" sz="quarter" idx="12"/>
          </p:nvPr>
        </p:nvSpPr>
        <p:spPr/>
        <p:txBody>
          <a:bodyPr/>
          <a:lstStyle/>
          <a:p>
            <a:fld id="{BDCDBBEF-AA6C-4BA6-85B2-A17D7F280E38}" type="slidenum">
              <a:rPr lang="en-US" smtClean="0"/>
              <a:pPr/>
              <a:t>3</a:t>
            </a:fld>
            <a:endParaRPr lang="en-US"/>
          </a:p>
        </p:txBody>
      </p:sp>
      <p:graphicFrame>
        <p:nvGraphicFramePr>
          <p:cNvPr id="5" name="Table 4">
            <a:extLst>
              <a:ext uri="{FF2B5EF4-FFF2-40B4-BE49-F238E27FC236}">
                <a16:creationId xmlns:a16="http://schemas.microsoft.com/office/drawing/2014/main" id="{4AB0DE4A-2BF1-82A7-B774-FEA010311953}"/>
              </a:ext>
            </a:extLst>
          </p:cNvPr>
          <p:cNvGraphicFramePr>
            <a:graphicFrameLocks noGrp="1"/>
          </p:cNvGraphicFramePr>
          <p:nvPr>
            <p:extLst>
              <p:ext uri="{D42A27DB-BD31-4B8C-83A1-F6EECF244321}">
                <p14:modId xmlns:p14="http://schemas.microsoft.com/office/powerpoint/2010/main" val="4028954878"/>
              </p:ext>
            </p:extLst>
          </p:nvPr>
        </p:nvGraphicFramePr>
        <p:xfrm>
          <a:off x="2032000" y="2341755"/>
          <a:ext cx="8128000" cy="2564782"/>
        </p:xfrm>
        <a:graphic>
          <a:graphicData uri="http://schemas.openxmlformats.org/drawingml/2006/table">
            <a:tbl>
              <a:tblPr firstRow="1" bandRow="1">
                <a:tableStyleId>{D7AC3CCA-C797-4891-BE02-D94E43425B78}</a:tableStyleId>
              </a:tblPr>
              <a:tblGrid>
                <a:gridCol w="1514088">
                  <a:extLst>
                    <a:ext uri="{9D8B030D-6E8A-4147-A177-3AD203B41FA5}">
                      <a16:colId xmlns:a16="http://schemas.microsoft.com/office/drawing/2014/main" val="1918343567"/>
                    </a:ext>
                  </a:extLst>
                </a:gridCol>
                <a:gridCol w="6613912">
                  <a:extLst>
                    <a:ext uri="{9D8B030D-6E8A-4147-A177-3AD203B41FA5}">
                      <a16:colId xmlns:a16="http://schemas.microsoft.com/office/drawing/2014/main" val="520697559"/>
                    </a:ext>
                  </a:extLst>
                </a:gridCol>
              </a:tblGrid>
              <a:tr h="1282391">
                <a:tc>
                  <a:txBody>
                    <a:bodyPr/>
                    <a:lstStyle/>
                    <a:p>
                      <a:pPr marR="53975" algn="ctr">
                        <a:lnSpc>
                          <a:spcPct val="107000"/>
                        </a:lnSpc>
                        <a:spcAft>
                          <a:spcPts val="800"/>
                        </a:spcAft>
                      </a:pPr>
                      <a:r>
                        <a:rPr lang="en-IN" sz="1800" b="0" dirty="0">
                          <a:effectLst/>
                          <a:latin typeface="Times New Roman" panose="02020603050405020304" pitchFamily="18" charset="0"/>
                          <a:ea typeface="Calibri" panose="020F0502020204030204" pitchFamily="34" charset="0"/>
                          <a:cs typeface="Times New Roman" panose="02020603050405020304" pitchFamily="18" charset="0"/>
                        </a:rPr>
                        <a:t>CO4</a:t>
                      </a:r>
                    </a:p>
                  </a:txBody>
                  <a:tcPr marL="68580" marR="68580" marT="0" marB="0" anchor="ctr"/>
                </a:tc>
                <a:tc>
                  <a:txBody>
                    <a:bodyPr/>
                    <a:lstStyle/>
                    <a:p>
                      <a:pPr algn="ctr">
                        <a:lnSpc>
                          <a:spcPct val="107000"/>
                        </a:lnSpc>
                        <a:spcAft>
                          <a:spcPts val="800"/>
                        </a:spcAft>
                      </a:pPr>
                      <a:r>
                        <a:rPr lang="en-IN" sz="1800" b="0" dirty="0">
                          <a:effectLst/>
                          <a:latin typeface="Times New Roman" panose="02020603050405020304" pitchFamily="18" charset="0"/>
                          <a:ea typeface="Times New Roman" panose="02020603050405020304" pitchFamily="18" charset="0"/>
                          <a:cs typeface="Times New Roman" panose="02020603050405020304" pitchFamily="18" charset="0"/>
                        </a:rPr>
                        <a:t>Prepare Test Suite and Quality Assurance plan for a given project.</a:t>
                      </a:r>
                      <a:endParaRPr lang="en-IN" sz="1800" b="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694169638"/>
                  </a:ext>
                </a:extLst>
              </a:tr>
              <a:tr h="1282391">
                <a:tc>
                  <a:txBody>
                    <a:bodyPr/>
                    <a:lstStyle/>
                    <a:p>
                      <a:pPr marR="53975" algn="ctr">
                        <a:lnSpc>
                          <a:spcPct val="107000"/>
                        </a:lnSpc>
                        <a:spcAft>
                          <a:spcPts val="800"/>
                        </a:spcAft>
                      </a:pPr>
                      <a:r>
                        <a:rPr lang="en-IN" sz="1800" dirty="0">
                          <a:effectLst/>
                          <a:latin typeface="Times New Roman" panose="02020603050405020304" pitchFamily="18" charset="0"/>
                          <a:ea typeface="Calibri" panose="020F0502020204030204" pitchFamily="34" charset="0"/>
                          <a:cs typeface="Times New Roman" panose="02020603050405020304" pitchFamily="18" charset="0"/>
                        </a:rPr>
                        <a:t>CO5</a:t>
                      </a:r>
                    </a:p>
                  </a:txBody>
                  <a:tcPr marL="68580" marR="68580" marT="0" marB="0" anchor="ctr"/>
                </a:tc>
                <a:tc>
                  <a:txBody>
                    <a:bodyPr/>
                    <a:lstStyle/>
                    <a:p>
                      <a:pPr indent="-31115" algn="ctr">
                        <a:lnSpc>
                          <a:spcPct val="107000"/>
                        </a:lnSpc>
                        <a:spcAft>
                          <a:spcPts val="800"/>
                        </a:spcAft>
                      </a:pPr>
                      <a:endParaRPr lang="en-IN" sz="18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indent="-31115" algn="ctr">
                        <a:lnSpc>
                          <a:spcPct val="107000"/>
                        </a:lnSpc>
                        <a:spcAft>
                          <a:spcPts val="800"/>
                        </a:spcAft>
                      </a:pPr>
                      <a:r>
                        <a:rPr lang="en-IN" sz="1800" dirty="0">
                          <a:effectLst/>
                          <a:latin typeface="Times New Roman" panose="02020603050405020304" pitchFamily="18" charset="0"/>
                          <a:ea typeface="Times New Roman" panose="02020603050405020304" pitchFamily="18" charset="0"/>
                          <a:cs typeface="Times New Roman" panose="02020603050405020304" pitchFamily="18" charset="0"/>
                        </a:rPr>
                        <a:t>Understand and analyse software management principles.</a:t>
                      </a:r>
                      <a:endParaRPr lang="en-IN" sz="1800" dirty="0">
                        <a:effectLst/>
                        <a:latin typeface="Times New Roman" panose="02020603050405020304" pitchFamily="18" charset="0"/>
                        <a:ea typeface="Calibri" panose="020F0502020204030204" pitchFamily="34" charset="0"/>
                        <a:cs typeface="Times New Roman" panose="02020603050405020304" pitchFamily="18" charset="0"/>
                      </a:endParaRPr>
                    </a:p>
                    <a:p>
                      <a:pPr indent="-31115" algn="ctr">
                        <a:lnSpc>
                          <a:spcPct val="107000"/>
                        </a:lnSpc>
                        <a:spcAft>
                          <a:spcPts val="800"/>
                        </a:spcAft>
                      </a:pPr>
                      <a:r>
                        <a:rPr lang="en-IN" sz="1800" dirty="0">
                          <a:effectLst/>
                          <a:latin typeface="Times New Roman" panose="02020603050405020304" pitchFamily="18" charset="0"/>
                          <a:ea typeface="Times New Roman" panose="02020603050405020304" pitchFamily="18" charset="0"/>
                          <a:cs typeface="Times New Roman" panose="02020603050405020304" pitchFamily="18" charset="0"/>
                        </a:rPr>
                        <a:t> </a:t>
                      </a:r>
                      <a:endParaRPr lang="en-IN" sz="18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1493853313"/>
                  </a:ext>
                </a:extLst>
              </a:tr>
            </a:tbl>
          </a:graphicData>
        </a:graphic>
      </p:graphicFrame>
      <p:sp>
        <p:nvSpPr>
          <p:cNvPr id="6" name="Footer Placeholder 9">
            <a:extLst>
              <a:ext uri="{FF2B5EF4-FFF2-40B4-BE49-F238E27FC236}">
                <a16:creationId xmlns:a16="http://schemas.microsoft.com/office/drawing/2014/main" id="{F86C77A2-0DFE-B848-C798-C014FB3A4B22}"/>
              </a:ext>
            </a:extLst>
          </p:cNvPr>
          <p:cNvSpPr>
            <a:spLocks noGrp="1"/>
          </p:cNvSpPr>
          <p:nvPr>
            <p:ph type="ftr" sz="quarter" idx="11"/>
          </p:nvPr>
        </p:nvSpPr>
        <p:spPr>
          <a:xfrm>
            <a:off x="4038600" y="6356350"/>
            <a:ext cx="4114800" cy="365125"/>
          </a:xfrm>
        </p:spPr>
        <p:txBody>
          <a:bodyPr/>
          <a:lstStyle/>
          <a:p>
            <a:r>
              <a:rPr lang="en-US" dirty="0"/>
              <a:t>Er. Jagmeet Kaur, Asst. Prof., CSE, Chandigarh University</a:t>
            </a:r>
          </a:p>
        </p:txBody>
      </p:sp>
    </p:spTree>
    <p:extLst>
      <p:ext uri="{BB962C8B-B14F-4D97-AF65-F5344CB8AC3E}">
        <p14:creationId xmlns:p14="http://schemas.microsoft.com/office/powerpoint/2010/main" val="7440715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860612"/>
            <a:ext cx="10515600" cy="830076"/>
          </a:xfrm>
        </p:spPr>
        <p:txBody>
          <a:bodyPr>
            <a:normAutofit/>
          </a:bodyPr>
          <a:lstStyle/>
          <a:p>
            <a:r>
              <a:rPr lang="en-US" sz="3600" dirty="0">
                <a:latin typeface="Times New Roman" panose="02020603050405020304" pitchFamily="18" charset="0"/>
                <a:cs typeface="Times New Roman" panose="02020603050405020304" pitchFamily="18" charset="0"/>
              </a:rPr>
              <a:t>Software Maintenance </a:t>
            </a:r>
          </a:p>
        </p:txBody>
      </p:sp>
      <p:sp>
        <p:nvSpPr>
          <p:cNvPr id="3" name="Content Placeholder 2"/>
          <p:cNvSpPr>
            <a:spLocks noGrp="1"/>
          </p:cNvSpPr>
          <p:nvPr>
            <p:ph idx="1"/>
          </p:nvPr>
        </p:nvSpPr>
        <p:spPr/>
        <p:txBody>
          <a:bodyPr/>
          <a:lstStyle/>
          <a:p>
            <a:endParaRPr lang="en-US" dirty="0"/>
          </a:p>
          <a:p>
            <a:r>
              <a:rPr lang="en-US" dirty="0">
                <a:latin typeface="Times New Roman" panose="02020603050405020304" pitchFamily="18" charset="0"/>
                <a:cs typeface="Times New Roman" panose="02020603050405020304" pitchFamily="18" charset="0"/>
              </a:rPr>
              <a:t>Software Maintenance is the process of modifying a software product after it has been delivered to the customer. </a:t>
            </a:r>
          </a:p>
          <a:p>
            <a:pPr>
              <a:buNone/>
            </a:pP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The main purpose of software maintenance is to modify and update software application after delivery to correct faults and to improve performance.</a:t>
            </a:r>
          </a:p>
        </p:txBody>
      </p:sp>
      <p:sp>
        <p:nvSpPr>
          <p:cNvPr id="4" name="Slide Number Placeholder 3"/>
          <p:cNvSpPr>
            <a:spLocks noGrp="1"/>
          </p:cNvSpPr>
          <p:nvPr>
            <p:ph type="sldNum" sz="quarter" idx="12"/>
          </p:nvPr>
        </p:nvSpPr>
        <p:spPr/>
        <p:txBody>
          <a:bodyPr/>
          <a:lstStyle/>
          <a:p>
            <a:fld id="{BDCDBBEF-AA6C-4BA6-85B2-A17D7F280E38}" type="slidenum">
              <a:rPr lang="en-US" smtClean="0"/>
              <a:pPr/>
              <a:t>4</a:t>
            </a:fld>
            <a:endParaRPr lang="en-US"/>
          </a:p>
        </p:txBody>
      </p:sp>
      <p:sp>
        <p:nvSpPr>
          <p:cNvPr id="5" name="Footer Placeholder 9">
            <a:extLst>
              <a:ext uri="{FF2B5EF4-FFF2-40B4-BE49-F238E27FC236}">
                <a16:creationId xmlns:a16="http://schemas.microsoft.com/office/drawing/2014/main" id="{DFA316B5-6D92-BA6B-738E-11FD6702F24F}"/>
              </a:ext>
            </a:extLst>
          </p:cNvPr>
          <p:cNvSpPr>
            <a:spLocks noGrp="1"/>
          </p:cNvSpPr>
          <p:nvPr>
            <p:ph type="ftr" sz="quarter" idx="11"/>
          </p:nvPr>
        </p:nvSpPr>
        <p:spPr>
          <a:xfrm>
            <a:off x="4038600" y="6356350"/>
            <a:ext cx="4114800" cy="365125"/>
          </a:xfrm>
        </p:spPr>
        <p:txBody>
          <a:bodyPr/>
          <a:lstStyle/>
          <a:p>
            <a:r>
              <a:rPr lang="en-US" dirty="0"/>
              <a:t>Er. Jagmeet Kaur, Asst. Prof., CSE, Chandigarh University</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860612"/>
            <a:ext cx="10515600" cy="830076"/>
          </a:xfrm>
        </p:spPr>
        <p:txBody>
          <a:bodyPr>
            <a:normAutofit/>
          </a:bodyPr>
          <a:lstStyle/>
          <a:p>
            <a:r>
              <a:rPr lang="en-US" sz="3600" b="1" dirty="0">
                <a:latin typeface="Times New Roman" panose="02020603050405020304" pitchFamily="18" charset="0"/>
                <a:cs typeface="Times New Roman" panose="02020603050405020304" pitchFamily="18" charset="0"/>
              </a:rPr>
              <a:t>Need for Maintenance</a:t>
            </a:r>
            <a:endParaRPr lang="en-US" sz="36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normAutofit lnSpcReduction="10000"/>
          </a:bodyPr>
          <a:lstStyle/>
          <a:p>
            <a:pPr fontAlgn="base"/>
            <a:r>
              <a:rPr lang="en-US" dirty="0">
                <a:latin typeface="Times New Roman" panose="02020603050405020304" pitchFamily="18" charset="0"/>
                <a:cs typeface="Times New Roman" panose="02020603050405020304" pitchFamily="18" charset="0"/>
              </a:rPr>
              <a:t>Software Maintenance must be performed in order to:</a:t>
            </a:r>
          </a:p>
          <a:p>
            <a:pPr fontAlgn="base"/>
            <a:r>
              <a:rPr lang="en-US" dirty="0">
                <a:latin typeface="Times New Roman" panose="02020603050405020304" pitchFamily="18" charset="0"/>
                <a:cs typeface="Times New Roman" panose="02020603050405020304" pitchFamily="18" charset="0"/>
              </a:rPr>
              <a:t>Correct faults.</a:t>
            </a:r>
          </a:p>
          <a:p>
            <a:pPr fontAlgn="base"/>
            <a:r>
              <a:rPr lang="en-US" dirty="0">
                <a:latin typeface="Times New Roman" panose="02020603050405020304" pitchFamily="18" charset="0"/>
                <a:cs typeface="Times New Roman" panose="02020603050405020304" pitchFamily="18" charset="0"/>
              </a:rPr>
              <a:t>Improve the design.</a:t>
            </a:r>
          </a:p>
          <a:p>
            <a:pPr fontAlgn="base"/>
            <a:r>
              <a:rPr lang="en-US" dirty="0">
                <a:latin typeface="Times New Roman" panose="02020603050405020304" pitchFamily="18" charset="0"/>
                <a:cs typeface="Times New Roman" panose="02020603050405020304" pitchFamily="18" charset="0"/>
              </a:rPr>
              <a:t>Implement enhancements.</a:t>
            </a:r>
          </a:p>
          <a:p>
            <a:pPr fontAlgn="base"/>
            <a:r>
              <a:rPr lang="en-US" dirty="0">
                <a:latin typeface="Times New Roman" panose="02020603050405020304" pitchFamily="18" charset="0"/>
                <a:cs typeface="Times New Roman" panose="02020603050405020304" pitchFamily="18" charset="0"/>
              </a:rPr>
              <a:t>Interface with other systems.</a:t>
            </a:r>
          </a:p>
          <a:p>
            <a:pPr fontAlgn="base"/>
            <a:r>
              <a:rPr lang="en-US" dirty="0">
                <a:latin typeface="Times New Roman" panose="02020603050405020304" pitchFamily="18" charset="0"/>
                <a:cs typeface="Times New Roman" panose="02020603050405020304" pitchFamily="18" charset="0"/>
              </a:rPr>
              <a:t>Accommodate programs so that different hardware, software, system features, and telecommunications facilities can be used.</a:t>
            </a:r>
          </a:p>
          <a:p>
            <a:pPr fontAlgn="base"/>
            <a:r>
              <a:rPr lang="en-US" dirty="0">
                <a:latin typeface="Times New Roman" panose="02020603050405020304" pitchFamily="18" charset="0"/>
                <a:cs typeface="Times New Roman" panose="02020603050405020304" pitchFamily="18" charset="0"/>
              </a:rPr>
              <a:t>Migrate legacy software.</a:t>
            </a:r>
          </a:p>
          <a:p>
            <a:pPr fontAlgn="base"/>
            <a:r>
              <a:rPr lang="en-US" dirty="0">
                <a:latin typeface="Times New Roman" panose="02020603050405020304" pitchFamily="18" charset="0"/>
                <a:cs typeface="Times New Roman" panose="02020603050405020304" pitchFamily="18" charset="0"/>
              </a:rPr>
              <a:t>Retire software.</a:t>
            </a:r>
          </a:p>
          <a:p>
            <a:endParaRPr lang="en-US" dirty="0"/>
          </a:p>
        </p:txBody>
      </p:sp>
      <p:sp>
        <p:nvSpPr>
          <p:cNvPr id="4" name="Slide Number Placeholder 3"/>
          <p:cNvSpPr>
            <a:spLocks noGrp="1"/>
          </p:cNvSpPr>
          <p:nvPr>
            <p:ph type="sldNum" sz="quarter" idx="12"/>
          </p:nvPr>
        </p:nvSpPr>
        <p:spPr/>
        <p:txBody>
          <a:bodyPr/>
          <a:lstStyle/>
          <a:p>
            <a:fld id="{BDCDBBEF-AA6C-4BA6-85B2-A17D7F280E38}" type="slidenum">
              <a:rPr lang="en-US" smtClean="0"/>
              <a:pPr/>
              <a:t>5</a:t>
            </a:fld>
            <a:endParaRPr lang="en-US"/>
          </a:p>
        </p:txBody>
      </p:sp>
      <p:sp>
        <p:nvSpPr>
          <p:cNvPr id="5" name="Footer Placeholder 9">
            <a:extLst>
              <a:ext uri="{FF2B5EF4-FFF2-40B4-BE49-F238E27FC236}">
                <a16:creationId xmlns:a16="http://schemas.microsoft.com/office/drawing/2014/main" id="{BD3DB65E-0767-82AE-9636-5872627F3B86}"/>
              </a:ext>
            </a:extLst>
          </p:cNvPr>
          <p:cNvSpPr>
            <a:spLocks noGrp="1"/>
          </p:cNvSpPr>
          <p:nvPr>
            <p:ph type="ftr" sz="quarter" idx="11"/>
          </p:nvPr>
        </p:nvSpPr>
        <p:spPr>
          <a:xfrm>
            <a:off x="4038600" y="6356350"/>
            <a:ext cx="4114800" cy="365125"/>
          </a:xfrm>
        </p:spPr>
        <p:txBody>
          <a:bodyPr/>
          <a:lstStyle/>
          <a:p>
            <a:r>
              <a:rPr lang="en-US" dirty="0"/>
              <a:t>Er. Jagmeet Kaur, Asst. Prof., CSE, Chandigarh University</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860612"/>
            <a:ext cx="10515600" cy="830076"/>
          </a:xfrm>
        </p:spPr>
        <p:txBody>
          <a:bodyPr>
            <a:normAutofit/>
          </a:bodyPr>
          <a:lstStyle/>
          <a:p>
            <a:r>
              <a:rPr lang="en-US" sz="3600" dirty="0">
                <a:latin typeface="Times New Roman" panose="02020603050405020304" pitchFamily="18" charset="0"/>
                <a:cs typeface="Times New Roman" panose="02020603050405020304" pitchFamily="18" charset="0"/>
              </a:rPr>
              <a:t>Why are modifications required?</a:t>
            </a:r>
          </a:p>
        </p:txBody>
      </p:sp>
      <p:sp>
        <p:nvSpPr>
          <p:cNvPr id="3" name="Content Placeholder 2"/>
          <p:cNvSpPr>
            <a:spLocks noGrp="1"/>
          </p:cNvSpPr>
          <p:nvPr>
            <p:ph idx="1"/>
          </p:nvPr>
        </p:nvSpPr>
        <p:spPr/>
        <p:txBody>
          <a:bodyPr>
            <a:normAutofit fontScale="85000" lnSpcReduction="20000"/>
          </a:bodyPr>
          <a:lstStyle/>
          <a:p>
            <a:pPr algn="just"/>
            <a:r>
              <a:rPr lang="en-US" dirty="0">
                <a:latin typeface="Times New Roman" panose="02020603050405020304" pitchFamily="18" charset="0"/>
                <a:cs typeface="Times New Roman" panose="02020603050405020304" pitchFamily="18" charset="0"/>
              </a:rPr>
              <a:t>There are number of reasons, why modifications are required, some of them are briefly mentioned below:</a:t>
            </a:r>
          </a:p>
          <a:p>
            <a:pPr algn="just"/>
            <a:r>
              <a:rPr lang="en-US" b="1" dirty="0">
                <a:latin typeface="Times New Roman" panose="02020603050405020304" pitchFamily="18" charset="0"/>
                <a:cs typeface="Times New Roman" panose="02020603050405020304" pitchFamily="18" charset="0"/>
              </a:rPr>
              <a:t>Market Conditions </a:t>
            </a:r>
            <a:r>
              <a:rPr lang="en-US" dirty="0">
                <a:latin typeface="Times New Roman" panose="02020603050405020304" pitchFamily="18" charset="0"/>
                <a:cs typeface="Times New Roman" panose="02020603050405020304" pitchFamily="18" charset="0"/>
              </a:rPr>
              <a:t>- Policies, which changes over the time, such as taxation and newly introduced constraints like, how to maintain bookkeeping, may trigger need for modification.</a:t>
            </a:r>
          </a:p>
          <a:p>
            <a:pPr algn="just"/>
            <a:r>
              <a:rPr lang="en-US" b="1" dirty="0">
                <a:latin typeface="Times New Roman" panose="02020603050405020304" pitchFamily="18" charset="0"/>
                <a:cs typeface="Times New Roman" panose="02020603050405020304" pitchFamily="18" charset="0"/>
              </a:rPr>
              <a:t>Client Requirements</a:t>
            </a:r>
            <a:r>
              <a:rPr lang="en-US" dirty="0">
                <a:latin typeface="Times New Roman" panose="02020603050405020304" pitchFamily="18" charset="0"/>
                <a:cs typeface="Times New Roman" panose="02020603050405020304" pitchFamily="18" charset="0"/>
              </a:rPr>
              <a:t> - Over the time, customer may ask for new features or functions in the software.</a:t>
            </a:r>
          </a:p>
          <a:p>
            <a:pPr algn="just"/>
            <a:r>
              <a:rPr lang="en-US" b="1" dirty="0">
                <a:latin typeface="Times New Roman" panose="02020603050405020304" pitchFamily="18" charset="0"/>
                <a:cs typeface="Times New Roman" panose="02020603050405020304" pitchFamily="18" charset="0"/>
              </a:rPr>
              <a:t>Host Modifications </a:t>
            </a:r>
            <a:r>
              <a:rPr lang="en-US" dirty="0">
                <a:latin typeface="Times New Roman" panose="02020603050405020304" pitchFamily="18" charset="0"/>
                <a:cs typeface="Times New Roman" panose="02020603050405020304" pitchFamily="18" charset="0"/>
              </a:rPr>
              <a:t>- If any of the hardware and/or platform (such as operating system) of the target host changes, software changes are needed to keep adaptability.</a:t>
            </a:r>
          </a:p>
          <a:p>
            <a:pPr algn="just"/>
            <a:r>
              <a:rPr lang="en-US" b="1" dirty="0">
                <a:latin typeface="Times New Roman" panose="02020603050405020304" pitchFamily="18" charset="0"/>
                <a:cs typeface="Times New Roman" panose="02020603050405020304" pitchFamily="18" charset="0"/>
              </a:rPr>
              <a:t>Organization Changes</a:t>
            </a:r>
            <a:r>
              <a:rPr lang="en-US" dirty="0">
                <a:latin typeface="Times New Roman" panose="02020603050405020304" pitchFamily="18" charset="0"/>
                <a:cs typeface="Times New Roman" panose="02020603050405020304" pitchFamily="18" charset="0"/>
              </a:rPr>
              <a:t> - If there is any business level change at client end, such as reduction of organization strength, acquiring another company, organization venturing into new business, need to modify in the original software may arise.</a:t>
            </a:r>
          </a:p>
          <a:p>
            <a:endParaRPr lang="en-US" dirty="0"/>
          </a:p>
        </p:txBody>
      </p:sp>
      <p:sp>
        <p:nvSpPr>
          <p:cNvPr id="4" name="Slide Number Placeholder 3"/>
          <p:cNvSpPr>
            <a:spLocks noGrp="1"/>
          </p:cNvSpPr>
          <p:nvPr>
            <p:ph type="sldNum" sz="quarter" idx="12"/>
          </p:nvPr>
        </p:nvSpPr>
        <p:spPr/>
        <p:txBody>
          <a:bodyPr/>
          <a:lstStyle/>
          <a:p>
            <a:fld id="{BDCDBBEF-AA6C-4BA6-85B2-A17D7F280E38}" type="slidenum">
              <a:rPr lang="en-US" smtClean="0"/>
              <a:pPr/>
              <a:t>6</a:t>
            </a:fld>
            <a:endParaRPr lang="en-US"/>
          </a:p>
        </p:txBody>
      </p:sp>
      <p:sp>
        <p:nvSpPr>
          <p:cNvPr id="5" name="Footer Placeholder 9">
            <a:extLst>
              <a:ext uri="{FF2B5EF4-FFF2-40B4-BE49-F238E27FC236}">
                <a16:creationId xmlns:a16="http://schemas.microsoft.com/office/drawing/2014/main" id="{C36B9C71-1F20-90B9-2EC2-DD85784D8BB3}"/>
              </a:ext>
            </a:extLst>
          </p:cNvPr>
          <p:cNvSpPr>
            <a:spLocks noGrp="1"/>
          </p:cNvSpPr>
          <p:nvPr>
            <p:ph type="ftr" sz="quarter" idx="11"/>
          </p:nvPr>
        </p:nvSpPr>
        <p:spPr>
          <a:xfrm>
            <a:off x="4038600" y="6356350"/>
            <a:ext cx="4114800" cy="365125"/>
          </a:xfrm>
        </p:spPr>
        <p:txBody>
          <a:bodyPr/>
          <a:lstStyle/>
          <a:p>
            <a:r>
              <a:rPr lang="en-US" dirty="0"/>
              <a:t>Er. Jagmeet Kaur, Asst. Prof., CSE, Chandigarh University</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839096"/>
            <a:ext cx="10515600" cy="851592"/>
          </a:xfrm>
        </p:spPr>
        <p:txBody>
          <a:bodyPr>
            <a:normAutofit/>
          </a:bodyPr>
          <a:lstStyle/>
          <a:p>
            <a:r>
              <a:rPr lang="en-US" sz="3600" b="1" dirty="0">
                <a:latin typeface="Times New Roman" panose="02020603050405020304" pitchFamily="18" charset="0"/>
                <a:cs typeface="Times New Roman" panose="02020603050405020304" pitchFamily="18" charset="0"/>
              </a:rPr>
              <a:t>Categories of Software Maintenance</a:t>
            </a:r>
            <a:endParaRPr lang="en-US" sz="36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normAutofit/>
          </a:bodyPr>
          <a:lstStyle/>
          <a:p>
            <a:pPr fontAlgn="base"/>
            <a:r>
              <a:rPr lang="en-US" dirty="0">
                <a:latin typeface="Times New Roman" panose="02020603050405020304" pitchFamily="18" charset="0"/>
                <a:cs typeface="Times New Roman" panose="02020603050405020304" pitchFamily="18" charset="0"/>
              </a:rPr>
              <a:t>Maintenance can be divided into the following:</a:t>
            </a:r>
          </a:p>
          <a:p>
            <a:pPr fontAlgn="base"/>
            <a:r>
              <a:rPr lang="en-US" b="1" dirty="0">
                <a:latin typeface="Times New Roman" panose="02020603050405020304" pitchFamily="18" charset="0"/>
                <a:cs typeface="Times New Roman" panose="02020603050405020304" pitchFamily="18" charset="0"/>
              </a:rPr>
              <a:t>Corrective maintenance:</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Corrective maintenance of a software product may be essential either to rectify some bugs observed while the system is in use, or to enhance the performance of the system.</a:t>
            </a:r>
          </a:p>
          <a:p>
            <a:pPr fontAlgn="base"/>
            <a:r>
              <a:rPr lang="en-US" b="1" dirty="0">
                <a:latin typeface="Times New Roman" panose="02020603050405020304" pitchFamily="18" charset="0"/>
                <a:cs typeface="Times New Roman" panose="02020603050405020304" pitchFamily="18" charset="0"/>
              </a:rPr>
              <a:t>Adaptive maintenance:</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This includes modifications and </a:t>
            </a:r>
            <a:r>
              <a:rPr lang="en-US" dirty="0" err="1">
                <a:latin typeface="Times New Roman" panose="02020603050405020304" pitchFamily="18" charset="0"/>
                <a:cs typeface="Times New Roman" panose="02020603050405020304" pitchFamily="18" charset="0"/>
              </a:rPr>
              <a:t>updations</a:t>
            </a:r>
            <a:r>
              <a:rPr lang="en-US" dirty="0">
                <a:latin typeface="Times New Roman" panose="02020603050405020304" pitchFamily="18" charset="0"/>
                <a:cs typeface="Times New Roman" panose="02020603050405020304" pitchFamily="18" charset="0"/>
              </a:rPr>
              <a:t> when the customers need the product to run on new platforms, on new operating systems, or when they need the product to interface with new hardware and software.</a:t>
            </a:r>
          </a:p>
          <a:p>
            <a:endParaRPr lang="en-US" dirty="0"/>
          </a:p>
        </p:txBody>
      </p:sp>
      <p:sp>
        <p:nvSpPr>
          <p:cNvPr id="4" name="Slide Number Placeholder 3"/>
          <p:cNvSpPr>
            <a:spLocks noGrp="1"/>
          </p:cNvSpPr>
          <p:nvPr>
            <p:ph type="sldNum" sz="quarter" idx="12"/>
          </p:nvPr>
        </p:nvSpPr>
        <p:spPr/>
        <p:txBody>
          <a:bodyPr/>
          <a:lstStyle/>
          <a:p>
            <a:fld id="{BDCDBBEF-AA6C-4BA6-85B2-A17D7F280E38}" type="slidenum">
              <a:rPr lang="en-US" smtClean="0"/>
              <a:pPr/>
              <a:t>7</a:t>
            </a:fld>
            <a:endParaRPr lang="en-US"/>
          </a:p>
        </p:txBody>
      </p:sp>
      <p:sp>
        <p:nvSpPr>
          <p:cNvPr id="5" name="Footer Placeholder 9">
            <a:extLst>
              <a:ext uri="{FF2B5EF4-FFF2-40B4-BE49-F238E27FC236}">
                <a16:creationId xmlns:a16="http://schemas.microsoft.com/office/drawing/2014/main" id="{B88AA40F-E44C-AB2E-1EF8-66AC5250D106}"/>
              </a:ext>
            </a:extLst>
          </p:cNvPr>
          <p:cNvSpPr>
            <a:spLocks noGrp="1"/>
          </p:cNvSpPr>
          <p:nvPr>
            <p:ph type="ftr" sz="quarter" idx="11"/>
          </p:nvPr>
        </p:nvSpPr>
        <p:spPr>
          <a:xfrm>
            <a:off x="4038600" y="6356350"/>
            <a:ext cx="4114800" cy="365125"/>
          </a:xfrm>
        </p:spPr>
        <p:txBody>
          <a:bodyPr/>
          <a:lstStyle/>
          <a:p>
            <a:r>
              <a:rPr lang="en-US" dirty="0"/>
              <a:t>Er. Jagmeet Kaur, Asst. Prof., CSE, Chandigarh University</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860612"/>
            <a:ext cx="10515600" cy="830076"/>
          </a:xfrm>
        </p:spPr>
        <p:txBody>
          <a:bodyPr>
            <a:normAutofit/>
          </a:bodyPr>
          <a:lstStyle/>
          <a:p>
            <a:r>
              <a:rPr lang="en-US" sz="3600" b="1" dirty="0">
                <a:latin typeface="Times New Roman" panose="02020603050405020304" pitchFamily="18" charset="0"/>
                <a:cs typeface="Times New Roman" panose="02020603050405020304" pitchFamily="18" charset="0"/>
              </a:rPr>
              <a:t>Categories of Software Maintenance</a:t>
            </a:r>
            <a:endParaRPr lang="en-US" sz="36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lstStyle/>
          <a:p>
            <a:pPr fontAlgn="base"/>
            <a:r>
              <a:rPr lang="en-US" b="1" dirty="0">
                <a:latin typeface="Times New Roman" panose="02020603050405020304" pitchFamily="18" charset="0"/>
                <a:cs typeface="Times New Roman" panose="02020603050405020304" pitchFamily="18" charset="0"/>
              </a:rPr>
              <a:t>Perfective maintenance:</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A software product needs maintenance to support the new features that the users want or to change different types of functionalities of the system according to the customer demands.</a:t>
            </a:r>
          </a:p>
          <a:p>
            <a:pPr fontAlgn="base"/>
            <a:r>
              <a:rPr lang="en-US" b="1" dirty="0">
                <a:latin typeface="Times New Roman" panose="02020603050405020304" pitchFamily="18" charset="0"/>
                <a:cs typeface="Times New Roman" panose="02020603050405020304" pitchFamily="18" charset="0"/>
              </a:rPr>
              <a:t>Preventive maintenance:</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This type of maintenance includes modifications and </a:t>
            </a:r>
            <a:r>
              <a:rPr lang="en-US" dirty="0" err="1">
                <a:latin typeface="Times New Roman" panose="02020603050405020304" pitchFamily="18" charset="0"/>
                <a:cs typeface="Times New Roman" panose="02020603050405020304" pitchFamily="18" charset="0"/>
              </a:rPr>
              <a:t>updations</a:t>
            </a:r>
            <a:r>
              <a:rPr lang="en-US" dirty="0">
                <a:latin typeface="Times New Roman" panose="02020603050405020304" pitchFamily="18" charset="0"/>
                <a:cs typeface="Times New Roman" panose="02020603050405020304" pitchFamily="18" charset="0"/>
              </a:rPr>
              <a:t> to prevent future problems of the software. It goals to attend problems,  which are not significant at this moment but may cause serious issues in future.</a:t>
            </a:r>
          </a:p>
        </p:txBody>
      </p:sp>
      <p:sp>
        <p:nvSpPr>
          <p:cNvPr id="4" name="Slide Number Placeholder 3"/>
          <p:cNvSpPr>
            <a:spLocks noGrp="1"/>
          </p:cNvSpPr>
          <p:nvPr>
            <p:ph type="sldNum" sz="quarter" idx="12"/>
          </p:nvPr>
        </p:nvSpPr>
        <p:spPr/>
        <p:txBody>
          <a:bodyPr/>
          <a:lstStyle/>
          <a:p>
            <a:fld id="{BDCDBBEF-AA6C-4BA6-85B2-A17D7F280E38}" type="slidenum">
              <a:rPr lang="en-US" smtClean="0"/>
              <a:pPr/>
              <a:t>8</a:t>
            </a:fld>
            <a:endParaRPr lang="en-US"/>
          </a:p>
        </p:txBody>
      </p:sp>
      <p:sp>
        <p:nvSpPr>
          <p:cNvPr id="5" name="Footer Placeholder 9">
            <a:extLst>
              <a:ext uri="{FF2B5EF4-FFF2-40B4-BE49-F238E27FC236}">
                <a16:creationId xmlns:a16="http://schemas.microsoft.com/office/drawing/2014/main" id="{AC30AC86-B5A2-67EE-D19F-FC588191DB24}"/>
              </a:ext>
            </a:extLst>
          </p:cNvPr>
          <p:cNvSpPr>
            <a:spLocks noGrp="1"/>
          </p:cNvSpPr>
          <p:nvPr>
            <p:ph type="ftr" sz="quarter" idx="11"/>
          </p:nvPr>
        </p:nvSpPr>
        <p:spPr>
          <a:xfrm>
            <a:off x="4038600" y="6356350"/>
            <a:ext cx="4114800" cy="365125"/>
          </a:xfrm>
        </p:spPr>
        <p:txBody>
          <a:bodyPr/>
          <a:lstStyle/>
          <a:p>
            <a:r>
              <a:rPr lang="en-US" dirty="0"/>
              <a:t>Er. Jagmeet Kaur, Asst. Prof., CSE, Chandigarh University</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892885"/>
            <a:ext cx="10515600" cy="797803"/>
          </a:xfrm>
        </p:spPr>
        <p:txBody>
          <a:bodyPr>
            <a:normAutofit fontScale="90000"/>
          </a:bodyPr>
          <a:lstStyle/>
          <a:p>
            <a:br>
              <a:rPr lang="en-US" dirty="0"/>
            </a:br>
            <a:r>
              <a:rPr lang="en-US" sz="4000" dirty="0">
                <a:latin typeface="Times New Roman" panose="02020603050405020304" pitchFamily="18" charset="0"/>
                <a:cs typeface="Times New Roman" panose="02020603050405020304" pitchFamily="18" charset="0"/>
              </a:rPr>
              <a:t>Cost of Maintenance</a:t>
            </a:r>
            <a:br>
              <a:rPr lang="en-US" dirty="0"/>
            </a:br>
            <a:endParaRPr lang="en-US" dirty="0"/>
          </a:p>
        </p:txBody>
      </p:sp>
      <p:sp>
        <p:nvSpPr>
          <p:cNvPr id="3" name="Content Placeholder 2"/>
          <p:cNvSpPr>
            <a:spLocks noGrp="1"/>
          </p:cNvSpPr>
          <p:nvPr>
            <p:ph idx="1"/>
          </p:nvPr>
        </p:nvSpPr>
        <p:spPr/>
        <p:txBody>
          <a:bodyPr/>
          <a:lstStyle/>
          <a:p>
            <a:r>
              <a:rPr lang="en-US" dirty="0">
                <a:latin typeface="Times New Roman" panose="02020603050405020304" pitchFamily="18" charset="0"/>
                <a:cs typeface="Times New Roman" panose="02020603050405020304" pitchFamily="18" charset="0"/>
              </a:rPr>
              <a:t>On an average, the cost of software maintenance is more than 50% of all SDLC phases. There are various factors, which trigger maintenance cost go high.</a:t>
            </a:r>
          </a:p>
          <a:p>
            <a:endParaRPr lang="en-US" dirty="0"/>
          </a:p>
        </p:txBody>
      </p:sp>
      <p:sp>
        <p:nvSpPr>
          <p:cNvPr id="4" name="Slide Number Placeholder 3"/>
          <p:cNvSpPr>
            <a:spLocks noGrp="1"/>
          </p:cNvSpPr>
          <p:nvPr>
            <p:ph type="sldNum" sz="quarter" idx="12"/>
          </p:nvPr>
        </p:nvSpPr>
        <p:spPr/>
        <p:txBody>
          <a:bodyPr/>
          <a:lstStyle/>
          <a:p>
            <a:fld id="{BDCDBBEF-AA6C-4BA6-85B2-A17D7F280E38}" type="slidenum">
              <a:rPr lang="en-US" smtClean="0"/>
              <a:pPr/>
              <a:t>9</a:t>
            </a:fld>
            <a:endParaRPr lang="en-US"/>
          </a:p>
        </p:txBody>
      </p:sp>
      <p:pic>
        <p:nvPicPr>
          <p:cNvPr id="47106" name="Picture 2"/>
          <p:cNvPicPr>
            <a:picLocks noChangeAspect="1" noChangeArrowheads="1"/>
          </p:cNvPicPr>
          <p:nvPr/>
        </p:nvPicPr>
        <p:blipFill>
          <a:blip r:embed="rId2"/>
          <a:srcRect/>
          <a:stretch>
            <a:fillRect/>
          </a:stretch>
        </p:blipFill>
        <p:spPr bwMode="auto">
          <a:xfrm>
            <a:off x="2809874" y="2947988"/>
            <a:ext cx="6353175" cy="3523867"/>
          </a:xfrm>
          <a:prstGeom prst="rect">
            <a:avLst/>
          </a:prstGeom>
          <a:noFill/>
          <a:ln w="9525">
            <a:noFill/>
            <a:miter lim="800000"/>
            <a:headEnd/>
            <a:tailEnd/>
          </a:ln>
          <a:effectLst/>
        </p:spPr>
      </p:pic>
      <p:sp>
        <p:nvSpPr>
          <p:cNvPr id="5" name="Footer Placeholder 9">
            <a:extLst>
              <a:ext uri="{FF2B5EF4-FFF2-40B4-BE49-F238E27FC236}">
                <a16:creationId xmlns:a16="http://schemas.microsoft.com/office/drawing/2014/main" id="{9FE41E60-0466-C6C5-06BE-28951DB0B113}"/>
              </a:ext>
            </a:extLst>
          </p:cNvPr>
          <p:cNvSpPr>
            <a:spLocks noGrp="1"/>
          </p:cNvSpPr>
          <p:nvPr>
            <p:ph type="ftr" sz="quarter" idx="11"/>
          </p:nvPr>
        </p:nvSpPr>
        <p:spPr>
          <a:xfrm>
            <a:off x="4038600" y="6356350"/>
            <a:ext cx="4114800" cy="365125"/>
          </a:xfrm>
        </p:spPr>
        <p:txBody>
          <a:bodyPr/>
          <a:lstStyle/>
          <a:p>
            <a:r>
              <a:rPr lang="en-US" dirty="0"/>
              <a:t>Er. Jagmeet Kaur, Asst. Prof., CSE, Chandigarh University</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903642"/>
            <a:ext cx="10515600" cy="787046"/>
          </a:xfrm>
        </p:spPr>
        <p:txBody>
          <a:bodyPr>
            <a:normAutofit fontScale="90000"/>
          </a:bodyPr>
          <a:lstStyle/>
          <a:p>
            <a:br>
              <a:rPr lang="en-US" dirty="0"/>
            </a:br>
            <a:r>
              <a:rPr lang="en-US" sz="4000" dirty="0">
                <a:latin typeface="Times New Roman" panose="02020603050405020304" pitchFamily="18" charset="0"/>
                <a:cs typeface="Times New Roman" panose="02020603050405020304" pitchFamily="18" charset="0"/>
              </a:rPr>
              <a:t>Real-world factors affecting Maintenance Cost</a:t>
            </a:r>
            <a:br>
              <a:rPr lang="en-US" sz="4000" dirty="0">
                <a:latin typeface="Times New Roman" panose="02020603050405020304" pitchFamily="18" charset="0"/>
                <a:cs typeface="Times New Roman" panose="02020603050405020304" pitchFamily="18" charset="0"/>
              </a:rPr>
            </a:br>
            <a:endParaRPr lang="en-US" sz="40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normAutofit fontScale="92500" lnSpcReduction="10000"/>
          </a:bodyPr>
          <a:lstStyle/>
          <a:p>
            <a:r>
              <a:rPr lang="en-US" dirty="0">
                <a:latin typeface="Times New Roman" panose="02020603050405020304" pitchFamily="18" charset="0"/>
                <a:cs typeface="Times New Roman" panose="02020603050405020304" pitchFamily="18" charset="0"/>
              </a:rPr>
              <a:t>The standard age of any software is considered up to 10 to 15 years.</a:t>
            </a:r>
          </a:p>
          <a:p>
            <a:r>
              <a:rPr lang="en-US" dirty="0">
                <a:latin typeface="Times New Roman" panose="02020603050405020304" pitchFamily="18" charset="0"/>
                <a:cs typeface="Times New Roman" panose="02020603050405020304" pitchFamily="18" charset="0"/>
              </a:rPr>
              <a:t>Older software's, which were meant to work on slow machines with less memory and storage capacity cannot keep themselves challenging against newly coming enhanced software on modern hardware.</a:t>
            </a:r>
          </a:p>
          <a:p>
            <a:r>
              <a:rPr lang="en-US" dirty="0">
                <a:latin typeface="Times New Roman" panose="02020603050405020304" pitchFamily="18" charset="0"/>
                <a:cs typeface="Times New Roman" panose="02020603050405020304" pitchFamily="18" charset="0"/>
              </a:rPr>
              <a:t>As technology advances, it becomes costly to maintain old software.</a:t>
            </a:r>
          </a:p>
          <a:p>
            <a:r>
              <a:rPr lang="en-US" dirty="0">
                <a:latin typeface="Times New Roman" panose="02020603050405020304" pitchFamily="18" charset="0"/>
                <a:cs typeface="Times New Roman" panose="02020603050405020304" pitchFamily="18" charset="0"/>
              </a:rPr>
              <a:t>Most maintenance engineers are newbie and use trial and error method to rectify problem.</a:t>
            </a:r>
          </a:p>
          <a:p>
            <a:r>
              <a:rPr lang="en-US" dirty="0">
                <a:latin typeface="Times New Roman" panose="02020603050405020304" pitchFamily="18" charset="0"/>
                <a:cs typeface="Times New Roman" panose="02020603050405020304" pitchFamily="18" charset="0"/>
              </a:rPr>
              <a:t>Often, changes made can easily hurt the original structure of the software, making it hard for any subsequent changes.</a:t>
            </a:r>
          </a:p>
          <a:p>
            <a:r>
              <a:rPr lang="en-US" dirty="0">
                <a:latin typeface="Times New Roman" panose="02020603050405020304" pitchFamily="18" charset="0"/>
                <a:cs typeface="Times New Roman" panose="02020603050405020304" pitchFamily="18" charset="0"/>
              </a:rPr>
              <a:t>Changes are often left undocumented which may cause more conflicts in future.</a:t>
            </a:r>
          </a:p>
          <a:p>
            <a:endParaRPr lang="en-US" dirty="0"/>
          </a:p>
        </p:txBody>
      </p:sp>
      <p:sp>
        <p:nvSpPr>
          <p:cNvPr id="4" name="Slide Number Placeholder 3"/>
          <p:cNvSpPr>
            <a:spLocks noGrp="1"/>
          </p:cNvSpPr>
          <p:nvPr>
            <p:ph type="sldNum" sz="quarter" idx="12"/>
          </p:nvPr>
        </p:nvSpPr>
        <p:spPr/>
        <p:txBody>
          <a:bodyPr/>
          <a:lstStyle/>
          <a:p>
            <a:fld id="{BDCDBBEF-AA6C-4BA6-85B2-A17D7F280E38}" type="slidenum">
              <a:rPr lang="en-US" smtClean="0"/>
              <a:pPr/>
              <a:t>10</a:t>
            </a:fld>
            <a:endParaRPr lang="en-US"/>
          </a:p>
        </p:txBody>
      </p:sp>
      <p:sp>
        <p:nvSpPr>
          <p:cNvPr id="5" name="Footer Placeholder 9">
            <a:extLst>
              <a:ext uri="{FF2B5EF4-FFF2-40B4-BE49-F238E27FC236}">
                <a16:creationId xmlns:a16="http://schemas.microsoft.com/office/drawing/2014/main" id="{433591AE-ED7B-63D8-CE03-B5A33FA08CBF}"/>
              </a:ext>
            </a:extLst>
          </p:cNvPr>
          <p:cNvSpPr>
            <a:spLocks noGrp="1"/>
          </p:cNvSpPr>
          <p:nvPr>
            <p:ph type="ftr" sz="quarter" idx="11"/>
          </p:nvPr>
        </p:nvSpPr>
        <p:spPr>
          <a:xfrm>
            <a:off x="4038600" y="6356350"/>
            <a:ext cx="4114800" cy="365125"/>
          </a:xfrm>
        </p:spPr>
        <p:txBody>
          <a:bodyPr/>
          <a:lstStyle/>
          <a:p>
            <a:r>
              <a:rPr lang="en-US" dirty="0"/>
              <a:t>Er. Jagmeet Kaur, Asst. Prof., CSE, Chandigarh University</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871369"/>
            <a:ext cx="10515600" cy="819319"/>
          </a:xfrm>
        </p:spPr>
        <p:txBody>
          <a:bodyPr>
            <a:normAutofit fontScale="90000"/>
          </a:bodyPr>
          <a:lstStyle/>
          <a:p>
            <a:br>
              <a:rPr lang="en-US" dirty="0"/>
            </a:br>
            <a:r>
              <a:rPr lang="en-US" sz="4000" dirty="0">
                <a:latin typeface="Times New Roman" panose="02020603050405020304" pitchFamily="18" charset="0"/>
                <a:cs typeface="Times New Roman" panose="02020603050405020304" pitchFamily="18" charset="0"/>
              </a:rPr>
              <a:t>Software-end factors affecting Maintenance Cost</a:t>
            </a:r>
            <a:br>
              <a:rPr lang="en-US" dirty="0"/>
            </a:br>
            <a:endParaRPr lang="en-US" dirty="0"/>
          </a:p>
        </p:txBody>
      </p:sp>
      <p:sp>
        <p:nvSpPr>
          <p:cNvPr id="3" name="Content Placeholder 2"/>
          <p:cNvSpPr>
            <a:spLocks noGrp="1"/>
          </p:cNvSpPr>
          <p:nvPr>
            <p:ph idx="1"/>
          </p:nvPr>
        </p:nvSpPr>
        <p:spPr/>
        <p:txBody>
          <a:bodyPr/>
          <a:lstStyle/>
          <a:p>
            <a:r>
              <a:rPr lang="en-US" dirty="0">
                <a:latin typeface="Times New Roman" panose="02020603050405020304" pitchFamily="18" charset="0"/>
                <a:cs typeface="Times New Roman" panose="02020603050405020304" pitchFamily="18" charset="0"/>
              </a:rPr>
              <a:t>Structure of Software Program</a:t>
            </a:r>
          </a:p>
          <a:p>
            <a:r>
              <a:rPr lang="en-US" dirty="0">
                <a:latin typeface="Times New Roman" panose="02020603050405020304" pitchFamily="18" charset="0"/>
                <a:cs typeface="Times New Roman" panose="02020603050405020304" pitchFamily="18" charset="0"/>
              </a:rPr>
              <a:t>Programming Language</a:t>
            </a:r>
          </a:p>
          <a:p>
            <a:r>
              <a:rPr lang="en-US" dirty="0">
                <a:latin typeface="Times New Roman" panose="02020603050405020304" pitchFamily="18" charset="0"/>
                <a:cs typeface="Times New Roman" panose="02020603050405020304" pitchFamily="18" charset="0"/>
              </a:rPr>
              <a:t>Dependence on external environment</a:t>
            </a:r>
          </a:p>
          <a:p>
            <a:r>
              <a:rPr lang="en-US" dirty="0">
                <a:latin typeface="Times New Roman" panose="02020603050405020304" pitchFamily="18" charset="0"/>
                <a:cs typeface="Times New Roman" panose="02020603050405020304" pitchFamily="18" charset="0"/>
              </a:rPr>
              <a:t>Staff reliability and availability</a:t>
            </a:r>
          </a:p>
          <a:p>
            <a:endParaRPr lang="en-US" dirty="0"/>
          </a:p>
        </p:txBody>
      </p:sp>
      <p:sp>
        <p:nvSpPr>
          <p:cNvPr id="4" name="Slide Number Placeholder 3"/>
          <p:cNvSpPr>
            <a:spLocks noGrp="1"/>
          </p:cNvSpPr>
          <p:nvPr>
            <p:ph type="sldNum" sz="quarter" idx="12"/>
          </p:nvPr>
        </p:nvSpPr>
        <p:spPr/>
        <p:txBody>
          <a:bodyPr/>
          <a:lstStyle/>
          <a:p>
            <a:fld id="{BDCDBBEF-AA6C-4BA6-85B2-A17D7F280E38}" type="slidenum">
              <a:rPr lang="en-US" smtClean="0"/>
              <a:pPr/>
              <a:t>11</a:t>
            </a:fld>
            <a:endParaRPr lang="en-US"/>
          </a:p>
        </p:txBody>
      </p:sp>
      <p:sp>
        <p:nvSpPr>
          <p:cNvPr id="5" name="Footer Placeholder 9">
            <a:extLst>
              <a:ext uri="{FF2B5EF4-FFF2-40B4-BE49-F238E27FC236}">
                <a16:creationId xmlns:a16="http://schemas.microsoft.com/office/drawing/2014/main" id="{6AFC3E02-596C-04BF-4215-C6354488C402}"/>
              </a:ext>
            </a:extLst>
          </p:cNvPr>
          <p:cNvSpPr>
            <a:spLocks noGrp="1"/>
          </p:cNvSpPr>
          <p:nvPr>
            <p:ph type="ftr" sz="quarter" idx="11"/>
          </p:nvPr>
        </p:nvSpPr>
        <p:spPr>
          <a:xfrm>
            <a:off x="4038600" y="6356350"/>
            <a:ext cx="4114800" cy="365125"/>
          </a:xfrm>
        </p:spPr>
        <p:txBody>
          <a:bodyPr/>
          <a:lstStyle/>
          <a:p>
            <a:r>
              <a:rPr lang="en-US" dirty="0"/>
              <a:t>Er. Jagmeet Kaur, Asst. Prof., CSE, Chandigarh University</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817581"/>
            <a:ext cx="10515600" cy="873107"/>
          </a:xfrm>
        </p:spPr>
        <p:txBody>
          <a:bodyPr>
            <a:normAutofit fontScale="90000"/>
          </a:bodyPr>
          <a:lstStyle/>
          <a:p>
            <a:br>
              <a:rPr lang="en-US" dirty="0"/>
            </a:br>
            <a:r>
              <a:rPr lang="en-US" sz="4000" dirty="0">
                <a:latin typeface="Times New Roman" panose="02020603050405020304" pitchFamily="18" charset="0"/>
                <a:cs typeface="Times New Roman" panose="02020603050405020304" pitchFamily="18" charset="0"/>
              </a:rPr>
              <a:t>Maintenance Activities</a:t>
            </a:r>
            <a:br>
              <a:rPr lang="en-US" dirty="0"/>
            </a:br>
            <a:endParaRPr lang="en-US" dirty="0"/>
          </a:p>
        </p:txBody>
      </p:sp>
      <p:sp>
        <p:nvSpPr>
          <p:cNvPr id="4" name="Slide Number Placeholder 3"/>
          <p:cNvSpPr>
            <a:spLocks noGrp="1"/>
          </p:cNvSpPr>
          <p:nvPr>
            <p:ph type="sldNum" sz="quarter" idx="12"/>
          </p:nvPr>
        </p:nvSpPr>
        <p:spPr/>
        <p:txBody>
          <a:bodyPr/>
          <a:lstStyle/>
          <a:p>
            <a:fld id="{BDCDBBEF-AA6C-4BA6-85B2-A17D7F280E38}" type="slidenum">
              <a:rPr lang="en-US" smtClean="0"/>
              <a:pPr/>
              <a:t>12</a:t>
            </a:fld>
            <a:endParaRPr lang="en-US"/>
          </a:p>
        </p:txBody>
      </p:sp>
      <p:pic>
        <p:nvPicPr>
          <p:cNvPr id="48130" name="Picture 2"/>
          <p:cNvPicPr>
            <a:picLocks noChangeAspect="1" noChangeArrowheads="1"/>
          </p:cNvPicPr>
          <p:nvPr/>
        </p:nvPicPr>
        <p:blipFill>
          <a:blip r:embed="rId2"/>
          <a:srcRect/>
          <a:stretch>
            <a:fillRect/>
          </a:stretch>
        </p:blipFill>
        <p:spPr bwMode="auto">
          <a:xfrm>
            <a:off x="2052638" y="1506070"/>
            <a:ext cx="6862762" cy="4980791"/>
          </a:xfrm>
          <a:prstGeom prst="rect">
            <a:avLst/>
          </a:prstGeom>
          <a:noFill/>
          <a:ln w="9525">
            <a:noFill/>
            <a:miter lim="800000"/>
            <a:headEnd/>
            <a:tailEnd/>
          </a:ln>
          <a:effectLst/>
        </p:spPr>
      </p:pic>
      <p:sp>
        <p:nvSpPr>
          <p:cNvPr id="3" name="Footer Placeholder 9">
            <a:extLst>
              <a:ext uri="{FF2B5EF4-FFF2-40B4-BE49-F238E27FC236}">
                <a16:creationId xmlns:a16="http://schemas.microsoft.com/office/drawing/2014/main" id="{36AB129D-DA32-01A5-F852-92620FDDA452}"/>
              </a:ext>
            </a:extLst>
          </p:cNvPr>
          <p:cNvSpPr>
            <a:spLocks noGrp="1"/>
          </p:cNvSpPr>
          <p:nvPr>
            <p:ph type="ftr" sz="quarter" idx="11"/>
          </p:nvPr>
        </p:nvSpPr>
        <p:spPr>
          <a:xfrm>
            <a:off x="4038600" y="6356350"/>
            <a:ext cx="4114800" cy="365125"/>
          </a:xfrm>
        </p:spPr>
        <p:txBody>
          <a:bodyPr/>
          <a:lstStyle/>
          <a:p>
            <a:r>
              <a:rPr lang="en-US" dirty="0"/>
              <a:t>Er. Jagmeet Kaur, Asst. Prof., CSE, Chandigarh University</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839096"/>
            <a:ext cx="10515600" cy="851592"/>
          </a:xfrm>
        </p:spPr>
        <p:txBody>
          <a:bodyPr>
            <a:normAutofit fontScale="90000"/>
          </a:bodyPr>
          <a:lstStyle/>
          <a:p>
            <a:br>
              <a:rPr lang="en-US" sz="4000" dirty="0">
                <a:latin typeface="Times New Roman" panose="02020603050405020304" pitchFamily="18" charset="0"/>
                <a:cs typeface="Times New Roman" panose="02020603050405020304" pitchFamily="18" charset="0"/>
              </a:rPr>
            </a:br>
            <a:r>
              <a:rPr lang="en-US" sz="4000" dirty="0">
                <a:latin typeface="Times New Roman" panose="02020603050405020304" pitchFamily="18" charset="0"/>
                <a:cs typeface="Times New Roman" panose="02020603050405020304" pitchFamily="18" charset="0"/>
              </a:rPr>
              <a:t>Maintenance Activities</a:t>
            </a:r>
            <a:br>
              <a:rPr lang="en-US" dirty="0"/>
            </a:br>
            <a:endParaRPr lang="en-US" dirty="0"/>
          </a:p>
        </p:txBody>
      </p:sp>
      <p:sp>
        <p:nvSpPr>
          <p:cNvPr id="3" name="Content Placeholder 2"/>
          <p:cNvSpPr>
            <a:spLocks noGrp="1"/>
          </p:cNvSpPr>
          <p:nvPr>
            <p:ph idx="1"/>
          </p:nvPr>
        </p:nvSpPr>
        <p:spPr/>
        <p:txBody>
          <a:bodyPr>
            <a:normAutofit lnSpcReduction="10000"/>
          </a:bodyPr>
          <a:lstStyle/>
          <a:p>
            <a:pPr algn="just"/>
            <a:r>
              <a:rPr lang="en-US" dirty="0">
                <a:latin typeface="Times New Roman" panose="02020603050405020304" pitchFamily="18" charset="0"/>
                <a:cs typeface="Times New Roman" panose="02020603050405020304" pitchFamily="18" charset="0"/>
              </a:rPr>
              <a:t>These activities go hand-in-hand with each of the following phase:</a:t>
            </a:r>
          </a:p>
          <a:p>
            <a:pPr algn="just"/>
            <a:r>
              <a:rPr lang="en-US" b="1" dirty="0">
                <a:latin typeface="Times New Roman" panose="02020603050405020304" pitchFamily="18" charset="0"/>
                <a:cs typeface="Times New Roman" panose="02020603050405020304" pitchFamily="18" charset="0"/>
              </a:rPr>
              <a:t>Identification &amp; Tracing</a:t>
            </a:r>
            <a:r>
              <a:rPr lang="en-US" dirty="0">
                <a:latin typeface="Times New Roman" panose="02020603050405020304" pitchFamily="18" charset="0"/>
                <a:cs typeface="Times New Roman" panose="02020603050405020304" pitchFamily="18" charset="0"/>
              </a:rPr>
              <a:t> - It involves activities pertaining to identification of requirement of modification or maintenance. It is generated by user or system may itself report via logs or error messages. Here, the maintenance type is classified also.</a:t>
            </a:r>
          </a:p>
          <a:p>
            <a:pPr algn="just"/>
            <a:r>
              <a:rPr lang="en-US" b="1" dirty="0">
                <a:latin typeface="Times New Roman" panose="02020603050405020304" pitchFamily="18" charset="0"/>
                <a:cs typeface="Times New Roman" panose="02020603050405020304" pitchFamily="18" charset="0"/>
              </a:rPr>
              <a:t>Analysis</a:t>
            </a:r>
            <a:r>
              <a:rPr lang="en-US" dirty="0">
                <a:latin typeface="Times New Roman" panose="02020603050405020304" pitchFamily="18" charset="0"/>
                <a:cs typeface="Times New Roman" panose="02020603050405020304" pitchFamily="18" charset="0"/>
              </a:rPr>
              <a:t> - The modification is analyzed for its impact on the system including safety and security implications. If probable impact is severe, alternative solution is looked for. A set of required modifications is then materialized into requirement specifications. The cost of modification/maintenance is analyzed and estimation is concluded.</a:t>
            </a:r>
          </a:p>
          <a:p>
            <a:pPr algn="just"/>
            <a:endParaRPr lang="en-US" dirty="0"/>
          </a:p>
        </p:txBody>
      </p:sp>
      <p:sp>
        <p:nvSpPr>
          <p:cNvPr id="4" name="Slide Number Placeholder 3"/>
          <p:cNvSpPr>
            <a:spLocks noGrp="1"/>
          </p:cNvSpPr>
          <p:nvPr>
            <p:ph type="sldNum" sz="quarter" idx="12"/>
          </p:nvPr>
        </p:nvSpPr>
        <p:spPr/>
        <p:txBody>
          <a:bodyPr/>
          <a:lstStyle/>
          <a:p>
            <a:fld id="{BDCDBBEF-AA6C-4BA6-85B2-A17D7F280E38}" type="slidenum">
              <a:rPr lang="en-US" smtClean="0"/>
              <a:pPr/>
              <a:t>13</a:t>
            </a:fld>
            <a:endParaRPr lang="en-US"/>
          </a:p>
        </p:txBody>
      </p:sp>
      <p:sp>
        <p:nvSpPr>
          <p:cNvPr id="5" name="Footer Placeholder 9">
            <a:extLst>
              <a:ext uri="{FF2B5EF4-FFF2-40B4-BE49-F238E27FC236}">
                <a16:creationId xmlns:a16="http://schemas.microsoft.com/office/drawing/2014/main" id="{D4FE9C62-0AB9-94C5-2FBF-C9EDAE320731}"/>
              </a:ext>
            </a:extLst>
          </p:cNvPr>
          <p:cNvSpPr>
            <a:spLocks noGrp="1"/>
          </p:cNvSpPr>
          <p:nvPr>
            <p:ph type="ftr" sz="quarter" idx="11"/>
          </p:nvPr>
        </p:nvSpPr>
        <p:spPr>
          <a:xfrm>
            <a:off x="4038600" y="6356350"/>
            <a:ext cx="4114800" cy="365125"/>
          </a:xfrm>
        </p:spPr>
        <p:txBody>
          <a:bodyPr/>
          <a:lstStyle/>
          <a:p>
            <a:r>
              <a:rPr lang="en-US" dirty="0"/>
              <a:t>Er. Jagmeet Kaur, Asst. Prof., CSE, Chandigarh University</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849854"/>
            <a:ext cx="10515600" cy="840834"/>
          </a:xfrm>
        </p:spPr>
        <p:txBody>
          <a:bodyPr>
            <a:normAutofit fontScale="90000"/>
          </a:bodyPr>
          <a:lstStyle/>
          <a:p>
            <a:br>
              <a:rPr lang="en-US" dirty="0"/>
            </a:br>
            <a:r>
              <a:rPr lang="en-US" sz="4000" dirty="0">
                <a:latin typeface="Times New Roman" panose="02020603050405020304" pitchFamily="18" charset="0"/>
                <a:cs typeface="Times New Roman" panose="02020603050405020304" pitchFamily="18" charset="0"/>
              </a:rPr>
              <a:t>Maintenance Activities</a:t>
            </a:r>
            <a:br>
              <a:rPr lang="en-US" dirty="0"/>
            </a:br>
            <a:endParaRPr lang="en-US" dirty="0"/>
          </a:p>
        </p:txBody>
      </p:sp>
      <p:sp>
        <p:nvSpPr>
          <p:cNvPr id="3" name="Content Placeholder 2"/>
          <p:cNvSpPr>
            <a:spLocks noGrp="1"/>
          </p:cNvSpPr>
          <p:nvPr>
            <p:ph idx="1"/>
          </p:nvPr>
        </p:nvSpPr>
        <p:spPr/>
        <p:txBody>
          <a:bodyPr/>
          <a:lstStyle/>
          <a:p>
            <a:r>
              <a:rPr lang="en-US" b="1" dirty="0">
                <a:latin typeface="Times New Roman" panose="02020603050405020304" pitchFamily="18" charset="0"/>
                <a:cs typeface="Times New Roman" panose="02020603050405020304" pitchFamily="18" charset="0"/>
              </a:rPr>
              <a:t>Design</a:t>
            </a:r>
            <a:r>
              <a:rPr lang="en-US" dirty="0">
                <a:latin typeface="Times New Roman" panose="02020603050405020304" pitchFamily="18" charset="0"/>
                <a:cs typeface="Times New Roman" panose="02020603050405020304" pitchFamily="18" charset="0"/>
              </a:rPr>
              <a:t> - New modules, which need to be replaced or modified, are designed against requirement specifications set in the previous stage. Test cases are created for validation and verification.</a:t>
            </a:r>
          </a:p>
          <a:p>
            <a:r>
              <a:rPr lang="en-US" b="1" dirty="0">
                <a:latin typeface="Times New Roman" panose="02020603050405020304" pitchFamily="18" charset="0"/>
                <a:cs typeface="Times New Roman" panose="02020603050405020304" pitchFamily="18" charset="0"/>
              </a:rPr>
              <a:t>Implementation</a:t>
            </a:r>
            <a:r>
              <a:rPr lang="en-US" dirty="0">
                <a:latin typeface="Times New Roman" panose="02020603050405020304" pitchFamily="18" charset="0"/>
                <a:cs typeface="Times New Roman" panose="02020603050405020304" pitchFamily="18" charset="0"/>
              </a:rPr>
              <a:t> - The new modules are coded with the help of structured design created in the design step. Every programmer is expected to do unit testing in parallel.</a:t>
            </a:r>
          </a:p>
          <a:p>
            <a:endParaRPr lang="en-US" dirty="0"/>
          </a:p>
        </p:txBody>
      </p:sp>
      <p:sp>
        <p:nvSpPr>
          <p:cNvPr id="4" name="Slide Number Placeholder 3"/>
          <p:cNvSpPr>
            <a:spLocks noGrp="1"/>
          </p:cNvSpPr>
          <p:nvPr>
            <p:ph type="sldNum" sz="quarter" idx="12"/>
          </p:nvPr>
        </p:nvSpPr>
        <p:spPr/>
        <p:txBody>
          <a:bodyPr/>
          <a:lstStyle/>
          <a:p>
            <a:fld id="{BDCDBBEF-AA6C-4BA6-85B2-A17D7F280E38}" type="slidenum">
              <a:rPr lang="en-US" smtClean="0"/>
              <a:pPr/>
              <a:t>14</a:t>
            </a:fld>
            <a:endParaRPr lang="en-US"/>
          </a:p>
        </p:txBody>
      </p:sp>
      <p:sp>
        <p:nvSpPr>
          <p:cNvPr id="5" name="Footer Placeholder 9">
            <a:extLst>
              <a:ext uri="{FF2B5EF4-FFF2-40B4-BE49-F238E27FC236}">
                <a16:creationId xmlns:a16="http://schemas.microsoft.com/office/drawing/2014/main" id="{D1B80A77-135D-E9FD-C9DF-2C5233742240}"/>
              </a:ext>
            </a:extLst>
          </p:cNvPr>
          <p:cNvSpPr>
            <a:spLocks noGrp="1"/>
          </p:cNvSpPr>
          <p:nvPr>
            <p:ph type="ftr" sz="quarter" idx="11"/>
          </p:nvPr>
        </p:nvSpPr>
        <p:spPr>
          <a:xfrm>
            <a:off x="4038600" y="6356350"/>
            <a:ext cx="4114800" cy="365125"/>
          </a:xfrm>
        </p:spPr>
        <p:txBody>
          <a:bodyPr/>
          <a:lstStyle/>
          <a:p>
            <a:r>
              <a:rPr lang="en-US" dirty="0"/>
              <a:t>Er. Jagmeet Kaur, Asst. Prof., CSE, Chandigarh University</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914400"/>
            <a:ext cx="10515600" cy="776288"/>
          </a:xfrm>
        </p:spPr>
        <p:txBody>
          <a:bodyPr>
            <a:normAutofit fontScale="90000"/>
          </a:bodyPr>
          <a:lstStyle/>
          <a:p>
            <a:br>
              <a:rPr lang="en-US" dirty="0"/>
            </a:br>
            <a:r>
              <a:rPr lang="en-US" sz="4000" dirty="0">
                <a:latin typeface="Times New Roman" panose="02020603050405020304" pitchFamily="18" charset="0"/>
                <a:cs typeface="Times New Roman" panose="02020603050405020304" pitchFamily="18" charset="0"/>
              </a:rPr>
              <a:t>Maintenance Activities</a:t>
            </a:r>
            <a:br>
              <a:rPr lang="en-US" dirty="0"/>
            </a:br>
            <a:endParaRPr lang="en-US" dirty="0"/>
          </a:p>
        </p:txBody>
      </p:sp>
      <p:sp>
        <p:nvSpPr>
          <p:cNvPr id="3" name="Content Placeholder 2"/>
          <p:cNvSpPr>
            <a:spLocks noGrp="1"/>
          </p:cNvSpPr>
          <p:nvPr>
            <p:ph idx="1"/>
          </p:nvPr>
        </p:nvSpPr>
        <p:spPr/>
        <p:txBody>
          <a:bodyPr/>
          <a:lstStyle/>
          <a:p>
            <a:pPr algn="just"/>
            <a:r>
              <a:rPr lang="en-US" b="1" dirty="0"/>
              <a:t>System Testing</a:t>
            </a:r>
            <a:r>
              <a:rPr lang="en-US" dirty="0"/>
              <a:t> - Integration testing is done among newly created modules. Integration testing is also carried out between new modules and the system. Finally the system is tested as a whole, following regressive testing procedures.</a:t>
            </a:r>
          </a:p>
          <a:p>
            <a:pPr algn="just"/>
            <a:r>
              <a:rPr lang="en-US" b="1" dirty="0"/>
              <a:t>Acceptance Testing</a:t>
            </a:r>
            <a:r>
              <a:rPr lang="en-US" dirty="0"/>
              <a:t> - After testing the system internally, it is tested for acceptance with the help of users. If at this state, user complaints some issues they are addressed or noted to address in next iteration.</a:t>
            </a:r>
          </a:p>
          <a:p>
            <a:endParaRPr lang="en-US" dirty="0"/>
          </a:p>
        </p:txBody>
      </p:sp>
      <p:sp>
        <p:nvSpPr>
          <p:cNvPr id="4" name="Slide Number Placeholder 3"/>
          <p:cNvSpPr>
            <a:spLocks noGrp="1"/>
          </p:cNvSpPr>
          <p:nvPr>
            <p:ph type="sldNum" sz="quarter" idx="12"/>
          </p:nvPr>
        </p:nvSpPr>
        <p:spPr/>
        <p:txBody>
          <a:bodyPr/>
          <a:lstStyle/>
          <a:p>
            <a:fld id="{BDCDBBEF-AA6C-4BA6-85B2-A17D7F280E38}" type="slidenum">
              <a:rPr lang="en-US" smtClean="0"/>
              <a:pPr/>
              <a:t>15</a:t>
            </a:fld>
            <a:endParaRPr lang="en-US"/>
          </a:p>
        </p:txBody>
      </p:sp>
      <p:sp>
        <p:nvSpPr>
          <p:cNvPr id="5" name="Footer Placeholder 9">
            <a:extLst>
              <a:ext uri="{FF2B5EF4-FFF2-40B4-BE49-F238E27FC236}">
                <a16:creationId xmlns:a16="http://schemas.microsoft.com/office/drawing/2014/main" id="{495DA0A5-5DD7-79AF-42EC-A1AF23CE0445}"/>
              </a:ext>
            </a:extLst>
          </p:cNvPr>
          <p:cNvSpPr>
            <a:spLocks noGrp="1"/>
          </p:cNvSpPr>
          <p:nvPr>
            <p:ph type="ftr" sz="quarter" idx="11"/>
          </p:nvPr>
        </p:nvSpPr>
        <p:spPr>
          <a:xfrm>
            <a:off x="4038600" y="6356350"/>
            <a:ext cx="4114800" cy="365125"/>
          </a:xfrm>
        </p:spPr>
        <p:txBody>
          <a:bodyPr/>
          <a:lstStyle/>
          <a:p>
            <a:r>
              <a:rPr lang="en-US" dirty="0"/>
              <a:t>Er. Jagmeet Kaur, Asst. Prof., CSE, Chandigarh University</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849854"/>
            <a:ext cx="10515600" cy="840834"/>
          </a:xfrm>
        </p:spPr>
        <p:txBody>
          <a:bodyPr>
            <a:normAutofit fontScale="90000"/>
          </a:bodyPr>
          <a:lstStyle/>
          <a:p>
            <a:br>
              <a:rPr lang="en-US" sz="4000" dirty="0">
                <a:latin typeface="Times New Roman" panose="02020603050405020304" pitchFamily="18" charset="0"/>
                <a:cs typeface="Times New Roman" panose="02020603050405020304" pitchFamily="18" charset="0"/>
              </a:rPr>
            </a:br>
            <a:r>
              <a:rPr lang="en-US" sz="4000" dirty="0">
                <a:latin typeface="Times New Roman" panose="02020603050405020304" pitchFamily="18" charset="0"/>
                <a:cs typeface="Times New Roman" panose="02020603050405020304" pitchFamily="18" charset="0"/>
              </a:rPr>
              <a:t>Maintenance Activities</a:t>
            </a:r>
            <a:br>
              <a:rPr lang="en-US" dirty="0"/>
            </a:br>
            <a:endParaRPr lang="en-US" dirty="0"/>
          </a:p>
        </p:txBody>
      </p:sp>
      <p:sp>
        <p:nvSpPr>
          <p:cNvPr id="3" name="Content Placeholder 2"/>
          <p:cNvSpPr>
            <a:spLocks noGrp="1"/>
          </p:cNvSpPr>
          <p:nvPr>
            <p:ph idx="1"/>
          </p:nvPr>
        </p:nvSpPr>
        <p:spPr/>
        <p:txBody>
          <a:bodyPr/>
          <a:lstStyle/>
          <a:p>
            <a:r>
              <a:rPr lang="en-US" b="1" dirty="0">
                <a:latin typeface="Times New Roman" panose="02020603050405020304" pitchFamily="18" charset="0"/>
                <a:cs typeface="Times New Roman" panose="02020603050405020304" pitchFamily="18" charset="0"/>
              </a:rPr>
              <a:t>Delivery</a:t>
            </a:r>
            <a:r>
              <a:rPr lang="en-US" dirty="0">
                <a:latin typeface="Times New Roman" panose="02020603050405020304" pitchFamily="18" charset="0"/>
                <a:cs typeface="Times New Roman" panose="02020603050405020304" pitchFamily="18" charset="0"/>
              </a:rPr>
              <a:t> - After acceptance test, the system is deployed all over the organization either by small update package or fresh installation of the system. The final testing takes place at client end after the software is delivered.</a:t>
            </a:r>
          </a:p>
          <a:p>
            <a:r>
              <a:rPr lang="en-US" dirty="0">
                <a:latin typeface="Times New Roman" panose="02020603050405020304" pitchFamily="18" charset="0"/>
                <a:cs typeface="Times New Roman" panose="02020603050405020304" pitchFamily="18" charset="0"/>
              </a:rPr>
              <a:t>Training facility is provided if required, in addition to the hard copy of user manual.</a:t>
            </a:r>
          </a:p>
          <a:p>
            <a:r>
              <a:rPr lang="en-US" b="1" dirty="0">
                <a:latin typeface="Times New Roman" panose="02020603050405020304" pitchFamily="18" charset="0"/>
                <a:cs typeface="Times New Roman" panose="02020603050405020304" pitchFamily="18" charset="0"/>
              </a:rPr>
              <a:t>Maintenance management</a:t>
            </a:r>
            <a:r>
              <a:rPr lang="en-US" dirty="0">
                <a:latin typeface="Times New Roman" panose="02020603050405020304" pitchFamily="18" charset="0"/>
                <a:cs typeface="Times New Roman" panose="02020603050405020304" pitchFamily="18" charset="0"/>
              </a:rPr>
              <a:t> - Configuration management is an essential part of system maintenance. It is aided with version control tools to control versions, semi-version or patch management.</a:t>
            </a:r>
          </a:p>
          <a:p>
            <a:endParaRPr lang="en-US" dirty="0"/>
          </a:p>
        </p:txBody>
      </p:sp>
      <p:sp>
        <p:nvSpPr>
          <p:cNvPr id="4" name="Slide Number Placeholder 3"/>
          <p:cNvSpPr>
            <a:spLocks noGrp="1"/>
          </p:cNvSpPr>
          <p:nvPr>
            <p:ph type="sldNum" sz="quarter" idx="12"/>
          </p:nvPr>
        </p:nvSpPr>
        <p:spPr/>
        <p:txBody>
          <a:bodyPr/>
          <a:lstStyle/>
          <a:p>
            <a:fld id="{BDCDBBEF-AA6C-4BA6-85B2-A17D7F280E38}" type="slidenum">
              <a:rPr lang="en-US" smtClean="0"/>
              <a:pPr/>
              <a:t>16</a:t>
            </a:fld>
            <a:endParaRPr lang="en-US"/>
          </a:p>
        </p:txBody>
      </p:sp>
      <p:sp>
        <p:nvSpPr>
          <p:cNvPr id="5" name="Footer Placeholder 9">
            <a:extLst>
              <a:ext uri="{FF2B5EF4-FFF2-40B4-BE49-F238E27FC236}">
                <a16:creationId xmlns:a16="http://schemas.microsoft.com/office/drawing/2014/main" id="{D12515E6-E604-5ED3-EF53-C359EC54420B}"/>
              </a:ext>
            </a:extLst>
          </p:cNvPr>
          <p:cNvSpPr>
            <a:spLocks noGrp="1"/>
          </p:cNvSpPr>
          <p:nvPr>
            <p:ph type="ftr" sz="quarter" idx="11"/>
          </p:nvPr>
        </p:nvSpPr>
        <p:spPr>
          <a:xfrm>
            <a:off x="4038600" y="6356350"/>
            <a:ext cx="4114800" cy="365125"/>
          </a:xfrm>
        </p:spPr>
        <p:txBody>
          <a:bodyPr/>
          <a:lstStyle/>
          <a:p>
            <a:r>
              <a:rPr lang="en-US" dirty="0"/>
              <a:t>Er. Jagmeet Kaur, Asst. Prof., CSE, Chandigarh University</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860612"/>
            <a:ext cx="10515600" cy="830076"/>
          </a:xfrm>
        </p:spPr>
        <p:txBody>
          <a:bodyPr>
            <a:normAutofit/>
          </a:bodyPr>
          <a:lstStyle/>
          <a:p>
            <a:r>
              <a:rPr lang="en-US" sz="3600" dirty="0">
                <a:latin typeface="Times New Roman" panose="02020603050405020304" pitchFamily="18" charset="0"/>
                <a:cs typeface="Times New Roman" panose="02020603050405020304" pitchFamily="18" charset="0"/>
              </a:rPr>
              <a:t>Software Maintenance Process Models</a:t>
            </a:r>
          </a:p>
        </p:txBody>
      </p:sp>
      <p:sp>
        <p:nvSpPr>
          <p:cNvPr id="3" name="Content Placeholder 2"/>
          <p:cNvSpPr>
            <a:spLocks noGrp="1"/>
          </p:cNvSpPr>
          <p:nvPr>
            <p:ph idx="1"/>
          </p:nvPr>
        </p:nvSpPr>
        <p:spPr/>
        <p:txBody>
          <a:bodyPr>
            <a:normAutofit/>
          </a:bodyPr>
          <a:lstStyle/>
          <a:p>
            <a:pPr algn="just"/>
            <a:r>
              <a:rPr lang="en-US" sz="2400" dirty="0">
                <a:latin typeface="Times New Roman" pitchFamily="18" charset="0"/>
                <a:cs typeface="Times New Roman" pitchFamily="18" charset="0"/>
              </a:rPr>
              <a:t>The activities involved in a software maintenance project are not unique and depend upon several factors like extent of modification required, conditions of existing product, resource availability to maintenance team, expected project risks etc.</a:t>
            </a:r>
          </a:p>
          <a:p>
            <a:pPr algn="just"/>
            <a:r>
              <a:rPr lang="en-US" sz="2400" dirty="0">
                <a:latin typeface="Times New Roman" pitchFamily="18" charset="0"/>
                <a:cs typeface="Times New Roman" pitchFamily="18" charset="0"/>
              </a:rPr>
              <a:t>The following maintenance models have been proposed:</a:t>
            </a:r>
          </a:p>
          <a:p>
            <a:pPr algn="just"/>
            <a:r>
              <a:rPr lang="en-US" sz="2400" dirty="0">
                <a:latin typeface="Times New Roman" pitchFamily="18" charset="0"/>
                <a:cs typeface="Times New Roman" pitchFamily="18" charset="0"/>
              </a:rPr>
              <a:t>Quick-fix Model</a:t>
            </a:r>
          </a:p>
          <a:p>
            <a:pPr algn="just"/>
            <a:r>
              <a:rPr lang="en-US" sz="2400" dirty="0">
                <a:latin typeface="Times New Roman" pitchFamily="18" charset="0"/>
                <a:cs typeface="Times New Roman" pitchFamily="18" charset="0"/>
              </a:rPr>
              <a:t>It is an </a:t>
            </a:r>
            <a:r>
              <a:rPr lang="en-US" sz="2400" dirty="0" err="1">
                <a:latin typeface="Times New Roman" pitchFamily="18" charset="0"/>
                <a:cs typeface="Times New Roman" pitchFamily="18" charset="0"/>
              </a:rPr>
              <a:t>adhoc</a:t>
            </a:r>
            <a:r>
              <a:rPr lang="en-US" sz="2400" dirty="0">
                <a:latin typeface="Times New Roman" pitchFamily="18" charset="0"/>
                <a:cs typeface="Times New Roman" pitchFamily="18" charset="0"/>
              </a:rPr>
              <a:t> approach to maintain the software. It is a fire fighting approach, waiting for the problem to occur and then trying to fix it as quickly as possible.</a:t>
            </a:r>
          </a:p>
          <a:p>
            <a:endParaRPr lang="en-US" sz="2400" dirty="0">
              <a:latin typeface="Times New Roman" pitchFamily="18" charset="0"/>
              <a:cs typeface="Times New Roman" pitchFamily="18" charset="0"/>
            </a:endParaRPr>
          </a:p>
          <a:p>
            <a:endParaRPr lang="en-US" sz="2400" dirty="0">
              <a:latin typeface="Times New Roman" pitchFamily="18" charset="0"/>
              <a:cs typeface="Times New Roman" pitchFamily="18" charset="0"/>
            </a:endParaRPr>
          </a:p>
        </p:txBody>
      </p:sp>
      <p:sp>
        <p:nvSpPr>
          <p:cNvPr id="4" name="Slide Number Placeholder 3"/>
          <p:cNvSpPr>
            <a:spLocks noGrp="1"/>
          </p:cNvSpPr>
          <p:nvPr>
            <p:ph type="sldNum" sz="quarter" idx="12"/>
          </p:nvPr>
        </p:nvSpPr>
        <p:spPr/>
        <p:txBody>
          <a:bodyPr/>
          <a:lstStyle/>
          <a:p>
            <a:fld id="{BDCDBBEF-AA6C-4BA6-85B2-A17D7F280E38}" type="slidenum">
              <a:rPr lang="en-US" smtClean="0"/>
              <a:pPr/>
              <a:t>17</a:t>
            </a:fld>
            <a:endParaRPr lang="en-US"/>
          </a:p>
        </p:txBody>
      </p:sp>
      <p:pic>
        <p:nvPicPr>
          <p:cNvPr id="5" name="Picture 4"/>
          <p:cNvPicPr>
            <a:picLocks noChangeAspect="1" noChangeArrowheads="1"/>
          </p:cNvPicPr>
          <p:nvPr/>
        </p:nvPicPr>
        <p:blipFill>
          <a:blip r:embed="rId2" cstate="print"/>
          <a:srcRect/>
          <a:stretch>
            <a:fillRect/>
          </a:stretch>
        </p:blipFill>
        <p:spPr bwMode="auto">
          <a:xfrm>
            <a:off x="7444097" y="4957701"/>
            <a:ext cx="3429000" cy="1566894"/>
          </a:xfrm>
          <a:prstGeom prst="rect">
            <a:avLst/>
          </a:prstGeom>
          <a:noFill/>
          <a:ln w="9525">
            <a:noFill/>
            <a:miter lim="800000"/>
            <a:headEnd/>
            <a:tailEnd/>
          </a:ln>
        </p:spPr>
      </p:pic>
      <p:sp>
        <p:nvSpPr>
          <p:cNvPr id="6" name="Footer Placeholder 9">
            <a:extLst>
              <a:ext uri="{FF2B5EF4-FFF2-40B4-BE49-F238E27FC236}">
                <a16:creationId xmlns:a16="http://schemas.microsoft.com/office/drawing/2014/main" id="{BF9146FF-D362-CFD9-90AD-7A42795DB9C1}"/>
              </a:ext>
            </a:extLst>
          </p:cNvPr>
          <p:cNvSpPr>
            <a:spLocks noGrp="1"/>
          </p:cNvSpPr>
          <p:nvPr>
            <p:ph type="ftr" sz="quarter" idx="11"/>
          </p:nvPr>
        </p:nvSpPr>
        <p:spPr>
          <a:xfrm>
            <a:off x="4038600" y="6356350"/>
            <a:ext cx="4114800" cy="365125"/>
          </a:xfrm>
        </p:spPr>
        <p:txBody>
          <a:bodyPr/>
          <a:lstStyle/>
          <a:p>
            <a:r>
              <a:rPr lang="en-US" dirty="0"/>
              <a:t>Er. Jagmeet Kaur, Asst. Prof., CSE, Chandigarh University</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828339"/>
            <a:ext cx="10515600" cy="862349"/>
          </a:xfrm>
        </p:spPr>
        <p:txBody>
          <a:bodyPr>
            <a:normAutofit/>
          </a:bodyPr>
          <a:lstStyle/>
          <a:p>
            <a:r>
              <a:rPr lang="en-US" sz="3600" dirty="0">
                <a:latin typeface="Times New Roman" panose="02020603050405020304" pitchFamily="18" charset="0"/>
                <a:cs typeface="Times New Roman" panose="02020603050405020304" pitchFamily="18" charset="0"/>
              </a:rPr>
              <a:t>Software Maintenance Process Models</a:t>
            </a:r>
          </a:p>
        </p:txBody>
      </p:sp>
      <p:sp>
        <p:nvSpPr>
          <p:cNvPr id="3" name="Content Placeholder 2"/>
          <p:cNvSpPr>
            <a:spLocks noGrp="1"/>
          </p:cNvSpPr>
          <p:nvPr>
            <p:ph idx="1"/>
          </p:nvPr>
        </p:nvSpPr>
        <p:spPr/>
        <p:txBody>
          <a:bodyPr>
            <a:normAutofit fontScale="85000" lnSpcReduction="20000"/>
          </a:bodyPr>
          <a:lstStyle/>
          <a:p>
            <a:r>
              <a:rPr lang="en-US" dirty="0">
                <a:latin typeface="Times New Roman" pitchFamily="18" charset="0"/>
                <a:cs typeface="Times New Roman" pitchFamily="18" charset="0"/>
              </a:rPr>
              <a:t>Iterative Enhancement Model</a:t>
            </a:r>
          </a:p>
          <a:p>
            <a:pPr algn="just"/>
            <a:r>
              <a:rPr lang="en-US" dirty="0">
                <a:latin typeface="Times New Roman" pitchFamily="18" charset="0"/>
                <a:cs typeface="Times New Roman" pitchFamily="18" charset="0"/>
              </a:rPr>
              <a:t>The iterative enhancement model, which was originally proposed as a process model, can be easily adapted for maintaining a software system. It considers that the changes made to the software system are iterative in nature.</a:t>
            </a:r>
          </a:p>
          <a:p>
            <a:pPr algn="just"/>
            <a:r>
              <a:rPr lang="en-US" dirty="0">
                <a:latin typeface="Times New Roman" pitchFamily="18" charset="0"/>
                <a:cs typeface="Times New Roman" pitchFamily="18" charset="0"/>
              </a:rPr>
              <a:t>It involves following stages:</a:t>
            </a:r>
          </a:p>
          <a:p>
            <a:pPr marL="698500" algn="just">
              <a:buFont typeface="+mj-lt"/>
              <a:buAutoNum type="alphaLcParenR"/>
            </a:pPr>
            <a:r>
              <a:rPr lang="en-US" b="1" dirty="0">
                <a:latin typeface="Times New Roman" pitchFamily="18" charset="0"/>
                <a:cs typeface="Times New Roman" pitchFamily="18" charset="0"/>
              </a:rPr>
              <a:t>Requirement analysis</a:t>
            </a:r>
          </a:p>
          <a:p>
            <a:pPr marL="698500" algn="just"/>
            <a:r>
              <a:rPr lang="en-US" dirty="0">
                <a:latin typeface="Times New Roman" pitchFamily="18" charset="0"/>
                <a:cs typeface="Times New Roman" pitchFamily="18" charset="0"/>
              </a:rPr>
              <a:t>The requirements for change are analyzed to begin the software maintenance process</a:t>
            </a:r>
          </a:p>
          <a:p>
            <a:pPr marL="698500" algn="just">
              <a:buFont typeface="+mj-lt"/>
              <a:buAutoNum type="alphaLcParenR" startAt="2"/>
            </a:pPr>
            <a:r>
              <a:rPr lang="en-US" b="1" dirty="0">
                <a:latin typeface="Times New Roman" pitchFamily="18" charset="0"/>
                <a:cs typeface="Times New Roman" pitchFamily="18" charset="0"/>
              </a:rPr>
              <a:t>Classification of requested modifications</a:t>
            </a:r>
          </a:p>
          <a:p>
            <a:pPr marL="698500" algn="just"/>
            <a:r>
              <a:rPr lang="en-US" dirty="0">
                <a:latin typeface="Times New Roman" pitchFamily="18" charset="0"/>
                <a:cs typeface="Times New Roman" pitchFamily="18" charset="0"/>
              </a:rPr>
              <a:t>After analysis, the requested modifications are classified according to the complexity, technical issues, and identification of modules that will be affected.</a:t>
            </a:r>
          </a:p>
          <a:p>
            <a:endParaRPr lang="en-US" dirty="0">
              <a:latin typeface="Times New Roman" pitchFamily="18" charset="0"/>
              <a:cs typeface="Times New Roman" pitchFamily="18" charset="0"/>
            </a:endParaRPr>
          </a:p>
        </p:txBody>
      </p:sp>
      <p:sp>
        <p:nvSpPr>
          <p:cNvPr id="4" name="Slide Number Placeholder 3"/>
          <p:cNvSpPr>
            <a:spLocks noGrp="1"/>
          </p:cNvSpPr>
          <p:nvPr>
            <p:ph type="sldNum" sz="quarter" idx="12"/>
          </p:nvPr>
        </p:nvSpPr>
        <p:spPr/>
        <p:txBody>
          <a:bodyPr/>
          <a:lstStyle/>
          <a:p>
            <a:fld id="{BDCDBBEF-AA6C-4BA6-85B2-A17D7F280E38}" type="slidenum">
              <a:rPr lang="en-US" smtClean="0"/>
              <a:pPr/>
              <a:t>18</a:t>
            </a:fld>
            <a:endParaRPr lang="en-US"/>
          </a:p>
        </p:txBody>
      </p:sp>
      <p:sp>
        <p:nvSpPr>
          <p:cNvPr id="5" name="Footer Placeholder 9">
            <a:extLst>
              <a:ext uri="{FF2B5EF4-FFF2-40B4-BE49-F238E27FC236}">
                <a16:creationId xmlns:a16="http://schemas.microsoft.com/office/drawing/2014/main" id="{8E966327-F3E3-B771-9F2D-5C2B4794945F}"/>
              </a:ext>
            </a:extLst>
          </p:cNvPr>
          <p:cNvSpPr>
            <a:spLocks noGrp="1"/>
          </p:cNvSpPr>
          <p:nvPr>
            <p:ph type="ftr" sz="quarter" idx="11"/>
          </p:nvPr>
        </p:nvSpPr>
        <p:spPr>
          <a:xfrm>
            <a:off x="4038600" y="6356350"/>
            <a:ext cx="4114800" cy="365125"/>
          </a:xfrm>
        </p:spPr>
        <p:txBody>
          <a:bodyPr/>
          <a:lstStyle/>
          <a:p>
            <a:r>
              <a:rPr lang="en-US" dirty="0"/>
              <a:t>Er. Jagmeet Kaur, Asst. Prof., CSE, Chandigarh University</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860612"/>
            <a:ext cx="10515600" cy="830076"/>
          </a:xfrm>
        </p:spPr>
        <p:txBody>
          <a:bodyPr>
            <a:normAutofit/>
          </a:bodyPr>
          <a:lstStyle/>
          <a:p>
            <a:r>
              <a:rPr lang="en-US" sz="3600" dirty="0">
                <a:latin typeface="Times New Roman" panose="02020603050405020304" pitchFamily="18" charset="0"/>
                <a:cs typeface="Times New Roman" panose="02020603050405020304" pitchFamily="18" charset="0"/>
              </a:rPr>
              <a:t>Software Maintenance Process Models</a:t>
            </a:r>
          </a:p>
        </p:txBody>
      </p:sp>
      <p:sp>
        <p:nvSpPr>
          <p:cNvPr id="3" name="Content Placeholder 2"/>
          <p:cNvSpPr>
            <a:spLocks noGrp="1"/>
          </p:cNvSpPr>
          <p:nvPr>
            <p:ph idx="1"/>
          </p:nvPr>
        </p:nvSpPr>
        <p:spPr/>
        <p:txBody>
          <a:bodyPr/>
          <a:lstStyle/>
          <a:p>
            <a:pPr marL="627063" indent="-163513" algn="just">
              <a:buFont typeface="+mj-lt"/>
              <a:buAutoNum type="alphaLcParenR" startAt="3"/>
            </a:pPr>
            <a:r>
              <a:rPr lang="en-US" b="1" dirty="0">
                <a:latin typeface="Times New Roman" pitchFamily="18" charset="0"/>
                <a:cs typeface="Times New Roman" pitchFamily="18" charset="0"/>
              </a:rPr>
              <a:t>Implementation of requested modifications</a:t>
            </a:r>
          </a:p>
          <a:p>
            <a:pPr marL="863600" indent="-355600" algn="just"/>
            <a:r>
              <a:rPr lang="en-US" dirty="0">
                <a:latin typeface="Times New Roman" pitchFamily="18" charset="0"/>
                <a:cs typeface="Times New Roman" pitchFamily="18" charset="0"/>
              </a:rPr>
              <a:t>At the end, the software is modified to implement the modification request. At each stage, the documentation is updated to accommodate changes of requirements analysis, design, coding and testing phases. It is essential to have a complete documentation before  implementation of iterative enhancement model begins.</a:t>
            </a:r>
          </a:p>
          <a:p>
            <a:endParaRPr lang="en-US" dirty="0"/>
          </a:p>
        </p:txBody>
      </p:sp>
      <p:sp>
        <p:nvSpPr>
          <p:cNvPr id="4" name="Slide Number Placeholder 3"/>
          <p:cNvSpPr>
            <a:spLocks noGrp="1"/>
          </p:cNvSpPr>
          <p:nvPr>
            <p:ph type="sldNum" sz="quarter" idx="12"/>
          </p:nvPr>
        </p:nvSpPr>
        <p:spPr/>
        <p:txBody>
          <a:bodyPr/>
          <a:lstStyle/>
          <a:p>
            <a:fld id="{BDCDBBEF-AA6C-4BA6-85B2-A17D7F280E38}" type="slidenum">
              <a:rPr lang="en-US" smtClean="0"/>
              <a:pPr/>
              <a:t>19</a:t>
            </a:fld>
            <a:endParaRPr lang="en-US"/>
          </a:p>
        </p:txBody>
      </p:sp>
      <p:sp>
        <p:nvSpPr>
          <p:cNvPr id="5" name="Footer Placeholder 9">
            <a:extLst>
              <a:ext uri="{FF2B5EF4-FFF2-40B4-BE49-F238E27FC236}">
                <a16:creationId xmlns:a16="http://schemas.microsoft.com/office/drawing/2014/main" id="{BF8B70EF-48A7-2553-0798-69246BB6315A}"/>
              </a:ext>
            </a:extLst>
          </p:cNvPr>
          <p:cNvSpPr>
            <a:spLocks noGrp="1"/>
          </p:cNvSpPr>
          <p:nvPr>
            <p:ph type="ftr" sz="quarter" idx="11"/>
          </p:nvPr>
        </p:nvSpPr>
        <p:spPr>
          <a:xfrm>
            <a:off x="4038600" y="6356350"/>
            <a:ext cx="4114800" cy="365125"/>
          </a:xfrm>
        </p:spPr>
        <p:txBody>
          <a:bodyPr/>
          <a:lstStyle/>
          <a:p>
            <a:r>
              <a:rPr lang="en-US" dirty="0"/>
              <a:t>Er. Jagmeet Kaur, Asst. Prof., CSE, Chandigarh University</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882127"/>
            <a:ext cx="10515600" cy="808561"/>
          </a:xfrm>
        </p:spPr>
        <p:txBody>
          <a:bodyPr>
            <a:normAutofit/>
          </a:bodyPr>
          <a:lstStyle/>
          <a:p>
            <a:r>
              <a:rPr lang="en-US" sz="3600" dirty="0">
                <a:latin typeface="Times New Roman" panose="02020603050405020304" pitchFamily="18" charset="0"/>
                <a:cs typeface="Times New Roman" panose="02020603050405020304" pitchFamily="18" charset="0"/>
              </a:rPr>
              <a:t>Software Maintenance Process Models</a:t>
            </a:r>
          </a:p>
        </p:txBody>
      </p:sp>
      <p:sp>
        <p:nvSpPr>
          <p:cNvPr id="3" name="Content Placeholder 2"/>
          <p:cNvSpPr>
            <a:spLocks noGrp="1"/>
          </p:cNvSpPr>
          <p:nvPr>
            <p:ph idx="1"/>
          </p:nvPr>
        </p:nvSpPr>
        <p:spPr/>
        <p:txBody>
          <a:bodyPr>
            <a:normAutofit fontScale="92500" lnSpcReduction="20000"/>
          </a:bodyPr>
          <a:lstStyle/>
          <a:p>
            <a:pPr algn="just"/>
            <a:r>
              <a:rPr lang="en-US" dirty="0">
                <a:latin typeface="Times New Roman" pitchFamily="18" charset="0"/>
                <a:cs typeface="Times New Roman" pitchFamily="18" charset="0"/>
              </a:rPr>
              <a:t>Reuse-oriented Model</a:t>
            </a:r>
          </a:p>
          <a:p>
            <a:pPr algn="just"/>
            <a:r>
              <a:rPr lang="en-US" dirty="0">
                <a:latin typeface="Times New Roman" pitchFamily="18" charset="0"/>
                <a:cs typeface="Times New Roman" pitchFamily="18" charset="0"/>
              </a:rPr>
              <a:t>The reuse-oriented model assumes that the existing program components can be reused to perform maintenance. This approach can be represented by a reverse engineering cycle followed by a forward engineering cycle. It is also known as software reengineering.</a:t>
            </a:r>
          </a:p>
          <a:p>
            <a:pPr algn="just"/>
            <a:r>
              <a:rPr lang="en-US" dirty="0">
                <a:latin typeface="Times New Roman" pitchFamily="18" charset="0"/>
                <a:cs typeface="Times New Roman" pitchFamily="18" charset="0"/>
              </a:rPr>
              <a:t>The old code is analyzed to extract the module specifications. The module specifications are then analyzed to produce the design. </a:t>
            </a:r>
          </a:p>
          <a:p>
            <a:pPr algn="just"/>
            <a:r>
              <a:rPr lang="en-US" dirty="0">
                <a:latin typeface="Times New Roman" pitchFamily="18" charset="0"/>
                <a:cs typeface="Times New Roman" pitchFamily="18" charset="0"/>
              </a:rPr>
              <a:t>The design is analyzed(abstracted) to produce the original requirements specification. </a:t>
            </a:r>
          </a:p>
          <a:p>
            <a:pPr algn="just"/>
            <a:r>
              <a:rPr lang="en-US" dirty="0">
                <a:latin typeface="Times New Roman" pitchFamily="18" charset="0"/>
                <a:cs typeface="Times New Roman" pitchFamily="18" charset="0"/>
              </a:rPr>
              <a:t>The change requests are then applied to this requirements specification to generate new requirements specification. Then forward engineering is applied to finally apply the changes to the code.</a:t>
            </a:r>
          </a:p>
          <a:p>
            <a:endParaRPr lang="en-US" dirty="0">
              <a:latin typeface="Times New Roman" pitchFamily="18" charset="0"/>
              <a:cs typeface="Times New Roman" pitchFamily="18" charset="0"/>
            </a:endParaRPr>
          </a:p>
        </p:txBody>
      </p:sp>
      <p:sp>
        <p:nvSpPr>
          <p:cNvPr id="4" name="Slide Number Placeholder 3"/>
          <p:cNvSpPr>
            <a:spLocks noGrp="1"/>
          </p:cNvSpPr>
          <p:nvPr>
            <p:ph type="sldNum" sz="quarter" idx="12"/>
          </p:nvPr>
        </p:nvSpPr>
        <p:spPr/>
        <p:txBody>
          <a:bodyPr/>
          <a:lstStyle/>
          <a:p>
            <a:fld id="{BDCDBBEF-AA6C-4BA6-85B2-A17D7F280E38}" type="slidenum">
              <a:rPr lang="en-US" smtClean="0"/>
              <a:pPr/>
              <a:t>20</a:t>
            </a:fld>
            <a:endParaRPr lang="en-US"/>
          </a:p>
        </p:txBody>
      </p:sp>
      <p:sp>
        <p:nvSpPr>
          <p:cNvPr id="5" name="Footer Placeholder 9">
            <a:extLst>
              <a:ext uri="{FF2B5EF4-FFF2-40B4-BE49-F238E27FC236}">
                <a16:creationId xmlns:a16="http://schemas.microsoft.com/office/drawing/2014/main" id="{00DE1823-B74E-19E1-2D2C-6B779FF2A957}"/>
              </a:ext>
            </a:extLst>
          </p:cNvPr>
          <p:cNvSpPr>
            <a:spLocks noGrp="1"/>
          </p:cNvSpPr>
          <p:nvPr>
            <p:ph type="ftr" sz="quarter" idx="11"/>
          </p:nvPr>
        </p:nvSpPr>
        <p:spPr>
          <a:xfrm>
            <a:off x="4038600" y="6356350"/>
            <a:ext cx="4114800" cy="365125"/>
          </a:xfrm>
        </p:spPr>
        <p:txBody>
          <a:bodyPr/>
          <a:lstStyle/>
          <a:p>
            <a:r>
              <a:rPr lang="en-US" dirty="0"/>
              <a:t>Er. Jagmeet Kaur, Asst. Prof., CSE, Chandigarh University</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860612"/>
            <a:ext cx="10515600" cy="830076"/>
          </a:xfrm>
        </p:spPr>
        <p:txBody>
          <a:bodyPr>
            <a:normAutofit/>
          </a:bodyPr>
          <a:lstStyle/>
          <a:p>
            <a:r>
              <a:rPr lang="en-US" sz="3600" dirty="0">
                <a:latin typeface="Times New Roman" panose="02020603050405020304" pitchFamily="18" charset="0"/>
                <a:cs typeface="Times New Roman" panose="02020603050405020304" pitchFamily="18" charset="0"/>
              </a:rPr>
              <a:t>Software Maintenance Process Models</a:t>
            </a:r>
          </a:p>
        </p:txBody>
      </p:sp>
      <p:sp>
        <p:nvSpPr>
          <p:cNvPr id="4" name="Slide Number Placeholder 3"/>
          <p:cNvSpPr>
            <a:spLocks noGrp="1"/>
          </p:cNvSpPr>
          <p:nvPr>
            <p:ph type="sldNum" sz="quarter" idx="12"/>
          </p:nvPr>
        </p:nvSpPr>
        <p:spPr/>
        <p:txBody>
          <a:bodyPr/>
          <a:lstStyle/>
          <a:p>
            <a:fld id="{BDCDBBEF-AA6C-4BA6-85B2-A17D7F280E38}" type="slidenum">
              <a:rPr lang="en-US" smtClean="0"/>
              <a:pPr/>
              <a:t>21</a:t>
            </a:fld>
            <a:endParaRPr lang="en-US"/>
          </a:p>
        </p:txBody>
      </p:sp>
      <p:pic>
        <p:nvPicPr>
          <p:cNvPr id="5" name="Picture 3"/>
          <p:cNvPicPr>
            <a:picLocks noChangeAspect="1" noChangeArrowheads="1"/>
          </p:cNvPicPr>
          <p:nvPr/>
        </p:nvPicPr>
        <p:blipFill>
          <a:blip r:embed="rId2" cstate="print"/>
          <a:srcRect/>
          <a:stretch>
            <a:fillRect/>
          </a:stretch>
        </p:blipFill>
        <p:spPr bwMode="auto">
          <a:xfrm>
            <a:off x="2113808" y="2165504"/>
            <a:ext cx="6553200" cy="3381375"/>
          </a:xfrm>
          <a:prstGeom prst="rect">
            <a:avLst/>
          </a:prstGeom>
          <a:noFill/>
          <a:ln w="9525">
            <a:noFill/>
            <a:miter lim="800000"/>
            <a:headEnd/>
            <a:tailEnd/>
          </a:ln>
        </p:spPr>
      </p:pic>
      <p:sp>
        <p:nvSpPr>
          <p:cNvPr id="6" name="Footer Placeholder 9">
            <a:extLst>
              <a:ext uri="{FF2B5EF4-FFF2-40B4-BE49-F238E27FC236}">
                <a16:creationId xmlns:a16="http://schemas.microsoft.com/office/drawing/2014/main" id="{BF8D4977-497F-DF7D-0081-BB9D4BA3EACC}"/>
              </a:ext>
            </a:extLst>
          </p:cNvPr>
          <p:cNvSpPr>
            <a:spLocks noGrp="1"/>
          </p:cNvSpPr>
          <p:nvPr>
            <p:ph type="ftr" sz="quarter" idx="11"/>
          </p:nvPr>
        </p:nvSpPr>
        <p:spPr>
          <a:xfrm>
            <a:off x="4038600" y="6356350"/>
            <a:ext cx="4114800" cy="365125"/>
          </a:xfrm>
        </p:spPr>
        <p:txBody>
          <a:bodyPr/>
          <a:lstStyle/>
          <a:p>
            <a:r>
              <a:rPr lang="en-US" dirty="0"/>
              <a:t>Er. Jagmeet Kaur, Asst. Prof., CSE, Chandigarh University</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Autofit/>
          </a:bodyPr>
          <a:lstStyle/>
          <a:p>
            <a:r>
              <a:rPr lang="en-US" dirty="0">
                <a:hlinkClick r:id="rId2"/>
              </a:rPr>
              <a:t>https://www.javatpoint.com/software-engineering-software-maintenance</a:t>
            </a:r>
            <a:endParaRPr lang="en-US" dirty="0"/>
          </a:p>
          <a:p>
            <a:r>
              <a:rPr lang="en-US" dirty="0">
                <a:hlinkClick r:id="rId3"/>
              </a:rPr>
              <a:t>https://www.tutorialspoint.com/software_engineering/software_maintenance_overview.htm</a:t>
            </a:r>
            <a:endParaRPr lang="en-US" dirty="0"/>
          </a:p>
          <a:p>
            <a:r>
              <a:rPr lang="en-US" dirty="0">
                <a:hlinkClick r:id="rId4"/>
              </a:rPr>
              <a:t>https://www.geeksforgeeks.org/software-engineering-software-maintenance/</a:t>
            </a:r>
            <a:endParaRPr lang="en-US" dirty="0"/>
          </a:p>
          <a:p>
            <a:endParaRPr lang="en-US" dirty="0"/>
          </a:p>
        </p:txBody>
      </p:sp>
      <p:sp>
        <p:nvSpPr>
          <p:cNvPr id="5" name="Rectangle 4"/>
          <p:cNvSpPr/>
          <p:nvPr/>
        </p:nvSpPr>
        <p:spPr>
          <a:xfrm>
            <a:off x="838200" y="1803400"/>
            <a:ext cx="10515600" cy="4368800"/>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itle 5"/>
          <p:cNvSpPr>
            <a:spLocks noGrp="1"/>
          </p:cNvSpPr>
          <p:nvPr>
            <p:ph type="title"/>
          </p:nvPr>
        </p:nvSpPr>
        <p:spPr>
          <a:xfrm>
            <a:off x="838200" y="903642"/>
            <a:ext cx="10515600" cy="787046"/>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90000"/>
          </a:bodyPr>
          <a:lstStyle/>
          <a:p>
            <a:pPr algn="ctr"/>
            <a:br>
              <a:rPr lang="en-US" dirty="0">
                <a:solidFill>
                  <a:schemeClr val="tx1"/>
                </a:solidFill>
                <a:latin typeface="Times New Roman" pitchFamily="18" charset="0"/>
                <a:cs typeface="Times New Roman" pitchFamily="18" charset="0"/>
              </a:rPr>
            </a:br>
            <a:r>
              <a:rPr lang="en-US" dirty="0">
                <a:solidFill>
                  <a:schemeClr val="tx1"/>
                </a:solidFill>
                <a:latin typeface="Times New Roman" pitchFamily="18" charset="0"/>
                <a:cs typeface="Times New Roman" pitchFamily="18" charset="0"/>
              </a:rPr>
              <a:t>References</a:t>
            </a:r>
            <a:br>
              <a:rPr lang="en-US" dirty="0">
                <a:solidFill>
                  <a:schemeClr val="tx1"/>
                </a:solidFill>
                <a:latin typeface="Times New Roman" pitchFamily="18" charset="0"/>
                <a:cs typeface="Times New Roman" pitchFamily="18" charset="0"/>
              </a:rPr>
            </a:br>
            <a:endParaRPr lang="en-US" dirty="0">
              <a:solidFill>
                <a:schemeClr val="tx1"/>
              </a:solidFill>
              <a:latin typeface="Times New Roman" pitchFamily="18" charset="0"/>
              <a:cs typeface="Times New Roman" pitchFamily="18" charset="0"/>
            </a:endParaRPr>
          </a:p>
        </p:txBody>
      </p:sp>
      <p:sp>
        <p:nvSpPr>
          <p:cNvPr id="7" name="Slide Number Placeholder 6"/>
          <p:cNvSpPr>
            <a:spLocks noGrp="1"/>
          </p:cNvSpPr>
          <p:nvPr>
            <p:ph type="sldNum" sz="quarter" idx="12"/>
          </p:nvPr>
        </p:nvSpPr>
        <p:spPr/>
        <p:txBody>
          <a:bodyPr/>
          <a:lstStyle/>
          <a:p>
            <a:fld id="{BDCDBBEF-AA6C-4BA6-85B2-A17D7F280E38}" type="slidenum">
              <a:rPr lang="en-US" smtClean="0"/>
              <a:pPr/>
              <a:t>22</a:t>
            </a:fld>
            <a:endParaRPr lang="en-US"/>
          </a:p>
        </p:txBody>
      </p:sp>
      <p:sp>
        <p:nvSpPr>
          <p:cNvPr id="2" name="Footer Placeholder 9">
            <a:extLst>
              <a:ext uri="{FF2B5EF4-FFF2-40B4-BE49-F238E27FC236}">
                <a16:creationId xmlns:a16="http://schemas.microsoft.com/office/drawing/2014/main" id="{41BAB663-E0E1-EA91-B4EC-15C92116B619}"/>
              </a:ext>
            </a:extLst>
          </p:cNvPr>
          <p:cNvSpPr>
            <a:spLocks noGrp="1"/>
          </p:cNvSpPr>
          <p:nvPr>
            <p:ph type="ftr" sz="quarter" idx="11"/>
          </p:nvPr>
        </p:nvSpPr>
        <p:spPr>
          <a:xfrm>
            <a:off x="4038600" y="6356350"/>
            <a:ext cx="4114800" cy="365125"/>
          </a:xfrm>
        </p:spPr>
        <p:txBody>
          <a:bodyPr/>
          <a:lstStyle/>
          <a:p>
            <a:r>
              <a:rPr lang="en-US" dirty="0"/>
              <a:t>Er. Jagmeet Kaur, Asst. Prof., CSE, Chandigarh University</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2C813A83-4CF3-4942-8C24-169E11C40466}"/>
              </a:ext>
            </a:extLst>
          </p:cNvPr>
          <p:cNvSpPr/>
          <p:nvPr/>
        </p:nvSpPr>
        <p:spPr>
          <a:xfrm>
            <a:off x="0" y="0"/>
            <a:ext cx="12192000" cy="4686918"/>
          </a:xfrm>
          <a:prstGeom prst="rect">
            <a:avLst/>
          </a:prstGeom>
          <a:solidFill>
            <a:schemeClr val="accent6">
              <a:lumMod val="50000"/>
              <a:alpha val="60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Light"/>
              </a:rPr>
              <a:t> </a:t>
            </a:r>
          </a:p>
        </p:txBody>
      </p:sp>
      <p:cxnSp>
        <p:nvCxnSpPr>
          <p:cNvPr id="18" name="Straight Connector 17">
            <a:extLst>
              <a:ext uri="{FF2B5EF4-FFF2-40B4-BE49-F238E27FC236}">
                <a16:creationId xmlns:a16="http://schemas.microsoft.com/office/drawing/2014/main" id="{8C6F3F28-25A8-4E20-83C7-12F88E7C28D0}"/>
              </a:ext>
            </a:extLst>
          </p:cNvPr>
          <p:cNvCxnSpPr>
            <a:cxnSpLocks/>
          </p:cNvCxnSpPr>
          <p:nvPr/>
        </p:nvCxnSpPr>
        <p:spPr>
          <a:xfrm>
            <a:off x="9347200" y="0"/>
            <a:ext cx="1828800" cy="1828800"/>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8E1879BF-80CB-413D-9BC1-C05963A116D7}"/>
              </a:ext>
            </a:extLst>
          </p:cNvPr>
          <p:cNvCxnSpPr>
            <a:cxnSpLocks/>
          </p:cNvCxnSpPr>
          <p:nvPr/>
        </p:nvCxnSpPr>
        <p:spPr>
          <a:xfrm>
            <a:off x="10169128" y="0"/>
            <a:ext cx="663972" cy="663972"/>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ED354CBC-26FA-4C5C-B91C-AD6F2AE53BC2}"/>
              </a:ext>
            </a:extLst>
          </p:cNvPr>
          <p:cNvCxnSpPr>
            <a:cxnSpLocks/>
          </p:cNvCxnSpPr>
          <p:nvPr/>
        </p:nvCxnSpPr>
        <p:spPr>
          <a:xfrm>
            <a:off x="733426" y="6294597"/>
            <a:ext cx="558345" cy="558345"/>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B6F6E02B-7F30-40ED-9667-2C98864546BE}"/>
              </a:ext>
            </a:extLst>
          </p:cNvPr>
          <p:cNvCxnSpPr>
            <a:cxnSpLocks/>
          </p:cNvCxnSpPr>
          <p:nvPr/>
        </p:nvCxnSpPr>
        <p:spPr>
          <a:xfrm>
            <a:off x="390526" y="5129689"/>
            <a:ext cx="1728311" cy="1728311"/>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sp>
        <p:nvSpPr>
          <p:cNvPr id="9" name="Title 1"/>
          <p:cNvSpPr txBox="1">
            <a:spLocks/>
          </p:cNvSpPr>
          <p:nvPr/>
        </p:nvSpPr>
        <p:spPr>
          <a:xfrm>
            <a:off x="1485902" y="2249080"/>
            <a:ext cx="10725148" cy="1231106"/>
          </a:xfrm>
          <a:prstGeom prst="rect">
            <a:avLst/>
          </a:prstGeom>
        </p:spPr>
        <p:txBody>
          <a:bodyPr wrap="square" lIns="0" tIns="0" rIns="0" bIns="0"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8000" b="0" i="0" u="none" strike="noStrike" kern="1200" cap="none" spc="0" normalizeH="0" baseline="0" noProof="0" dirty="0">
                <a:ln>
                  <a:noFill/>
                </a:ln>
                <a:solidFill>
                  <a:prstClr val="white"/>
                </a:solidFill>
                <a:effectLst/>
                <a:uLnTx/>
                <a:uFillTx/>
                <a:latin typeface="Casper" panose="02000506000000020004" pitchFamily="2" charset="0"/>
                <a:ea typeface="Segoe UI" panose="020B0502040204020203" pitchFamily="34" charset="0"/>
                <a:cs typeface="Segoe UI" panose="020B0502040204020203" pitchFamily="34" charset="0"/>
              </a:rPr>
              <a:t>THANK YOU</a:t>
            </a:r>
          </a:p>
        </p:txBody>
      </p:sp>
      <p:sp>
        <p:nvSpPr>
          <p:cNvPr id="22" name="Diamond 6">
            <a:extLst>
              <a:ext uri="{FF2B5EF4-FFF2-40B4-BE49-F238E27FC236}">
                <a16:creationId xmlns:a16="http://schemas.microsoft.com/office/drawing/2014/main" id="{AFBA4B1A-59E0-42F9-8062-FE9B4E00A99F}"/>
              </a:ext>
            </a:extLst>
          </p:cNvPr>
          <p:cNvSpPr/>
          <p:nvPr/>
        </p:nvSpPr>
        <p:spPr>
          <a:xfrm>
            <a:off x="2641599" y="1214279"/>
            <a:ext cx="2430463" cy="3225800"/>
          </a:xfrm>
          <a:custGeom>
            <a:avLst/>
            <a:gdLst>
              <a:gd name="connsiteX0" fmla="*/ 0 w 3225800"/>
              <a:gd name="connsiteY0" fmla="*/ 1612900 h 3225800"/>
              <a:gd name="connsiteX1" fmla="*/ 1612900 w 3225800"/>
              <a:gd name="connsiteY1" fmla="*/ 0 h 3225800"/>
              <a:gd name="connsiteX2" fmla="*/ 3225800 w 3225800"/>
              <a:gd name="connsiteY2" fmla="*/ 1612900 h 3225800"/>
              <a:gd name="connsiteX3" fmla="*/ 1612900 w 3225800"/>
              <a:gd name="connsiteY3" fmla="*/ 3225800 h 3225800"/>
              <a:gd name="connsiteX4" fmla="*/ 0 w 3225800"/>
              <a:gd name="connsiteY4" fmla="*/ 1612900 h 3225800"/>
              <a:gd name="connsiteX0" fmla="*/ 0 w 3225800"/>
              <a:gd name="connsiteY0" fmla="*/ 1612900 h 3225800"/>
              <a:gd name="connsiteX1" fmla="*/ 1612900 w 3225800"/>
              <a:gd name="connsiteY1" fmla="*/ 0 h 3225800"/>
              <a:gd name="connsiteX2" fmla="*/ 2430463 w 3225800"/>
              <a:gd name="connsiteY2" fmla="*/ 817563 h 3225800"/>
              <a:gd name="connsiteX3" fmla="*/ 3225800 w 3225800"/>
              <a:gd name="connsiteY3" fmla="*/ 1612900 h 3225800"/>
              <a:gd name="connsiteX4" fmla="*/ 1612900 w 3225800"/>
              <a:gd name="connsiteY4" fmla="*/ 3225800 h 3225800"/>
              <a:gd name="connsiteX5" fmla="*/ 0 w 3225800"/>
              <a:gd name="connsiteY5" fmla="*/ 1612900 h 3225800"/>
              <a:gd name="connsiteX0" fmla="*/ 0 w 3225800"/>
              <a:gd name="connsiteY0" fmla="*/ 1612900 h 3225800"/>
              <a:gd name="connsiteX1" fmla="*/ 1612900 w 3225800"/>
              <a:gd name="connsiteY1" fmla="*/ 0 h 3225800"/>
              <a:gd name="connsiteX2" fmla="*/ 2430463 w 3225800"/>
              <a:gd name="connsiteY2" fmla="*/ 817563 h 3225800"/>
              <a:gd name="connsiteX3" fmla="*/ 3225800 w 3225800"/>
              <a:gd name="connsiteY3" fmla="*/ 1612900 h 3225800"/>
              <a:gd name="connsiteX4" fmla="*/ 2430463 w 3225800"/>
              <a:gd name="connsiteY4" fmla="*/ 2413000 h 3225800"/>
              <a:gd name="connsiteX5" fmla="*/ 1612900 w 3225800"/>
              <a:gd name="connsiteY5" fmla="*/ 3225800 h 3225800"/>
              <a:gd name="connsiteX6" fmla="*/ 0 w 3225800"/>
              <a:gd name="connsiteY6" fmla="*/ 1612900 h 3225800"/>
              <a:gd name="connsiteX0" fmla="*/ 3225800 w 3317240"/>
              <a:gd name="connsiteY0" fmla="*/ 1612900 h 3225800"/>
              <a:gd name="connsiteX1" fmla="*/ 2430463 w 3317240"/>
              <a:gd name="connsiteY1" fmla="*/ 2413000 h 3225800"/>
              <a:gd name="connsiteX2" fmla="*/ 1612900 w 3317240"/>
              <a:gd name="connsiteY2" fmla="*/ 3225800 h 3225800"/>
              <a:gd name="connsiteX3" fmla="*/ 0 w 3317240"/>
              <a:gd name="connsiteY3" fmla="*/ 1612900 h 3225800"/>
              <a:gd name="connsiteX4" fmla="*/ 1612900 w 3317240"/>
              <a:gd name="connsiteY4" fmla="*/ 0 h 3225800"/>
              <a:gd name="connsiteX5" fmla="*/ 2430463 w 3317240"/>
              <a:gd name="connsiteY5" fmla="*/ 817563 h 3225800"/>
              <a:gd name="connsiteX6" fmla="*/ 3317240 w 3317240"/>
              <a:gd name="connsiteY6" fmla="*/ 1704340 h 3225800"/>
              <a:gd name="connsiteX0" fmla="*/ 2430463 w 3317240"/>
              <a:gd name="connsiteY0" fmla="*/ 2413000 h 3225800"/>
              <a:gd name="connsiteX1" fmla="*/ 1612900 w 3317240"/>
              <a:gd name="connsiteY1" fmla="*/ 3225800 h 3225800"/>
              <a:gd name="connsiteX2" fmla="*/ 0 w 3317240"/>
              <a:gd name="connsiteY2" fmla="*/ 1612900 h 3225800"/>
              <a:gd name="connsiteX3" fmla="*/ 1612900 w 3317240"/>
              <a:gd name="connsiteY3" fmla="*/ 0 h 3225800"/>
              <a:gd name="connsiteX4" fmla="*/ 2430463 w 3317240"/>
              <a:gd name="connsiteY4" fmla="*/ 817563 h 3225800"/>
              <a:gd name="connsiteX5" fmla="*/ 3317240 w 3317240"/>
              <a:gd name="connsiteY5" fmla="*/ 1704340 h 3225800"/>
              <a:gd name="connsiteX0" fmla="*/ 2430463 w 2430463"/>
              <a:gd name="connsiteY0" fmla="*/ 2413000 h 3225800"/>
              <a:gd name="connsiteX1" fmla="*/ 1612900 w 2430463"/>
              <a:gd name="connsiteY1" fmla="*/ 3225800 h 3225800"/>
              <a:gd name="connsiteX2" fmla="*/ 0 w 2430463"/>
              <a:gd name="connsiteY2" fmla="*/ 1612900 h 3225800"/>
              <a:gd name="connsiteX3" fmla="*/ 1612900 w 2430463"/>
              <a:gd name="connsiteY3" fmla="*/ 0 h 3225800"/>
              <a:gd name="connsiteX4" fmla="*/ 2430463 w 2430463"/>
              <a:gd name="connsiteY4" fmla="*/ 817563 h 3225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30463" h="3225800">
                <a:moveTo>
                  <a:pt x="2430463" y="2413000"/>
                </a:moveTo>
                <a:lnTo>
                  <a:pt x="1612900" y="3225800"/>
                </a:lnTo>
                <a:lnTo>
                  <a:pt x="0" y="1612900"/>
                </a:lnTo>
                <a:lnTo>
                  <a:pt x="1612900" y="0"/>
                </a:lnTo>
                <a:lnTo>
                  <a:pt x="2430463" y="817563"/>
                </a:lnTo>
              </a:path>
            </a:pathLst>
          </a:custGeom>
          <a:noFill/>
          <a:ln w="38100" cap="flat" cmpd="sng" algn="ctr">
            <a:solidFill>
              <a:schemeClr val="bg1"/>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Light"/>
            </a:endParaRPr>
          </a:p>
        </p:txBody>
      </p:sp>
      <p:sp>
        <p:nvSpPr>
          <p:cNvPr id="23" name="Diamond 6">
            <a:extLst>
              <a:ext uri="{FF2B5EF4-FFF2-40B4-BE49-F238E27FC236}">
                <a16:creationId xmlns:a16="http://schemas.microsoft.com/office/drawing/2014/main" id="{4F0CA98B-3337-4AC3-8305-ED6C9C731FFB}"/>
              </a:ext>
            </a:extLst>
          </p:cNvPr>
          <p:cNvSpPr/>
          <p:nvPr/>
        </p:nvSpPr>
        <p:spPr>
          <a:xfrm>
            <a:off x="2898774" y="1214279"/>
            <a:ext cx="2430463" cy="3225800"/>
          </a:xfrm>
          <a:custGeom>
            <a:avLst/>
            <a:gdLst>
              <a:gd name="connsiteX0" fmla="*/ 0 w 3225800"/>
              <a:gd name="connsiteY0" fmla="*/ 1612900 h 3225800"/>
              <a:gd name="connsiteX1" fmla="*/ 1612900 w 3225800"/>
              <a:gd name="connsiteY1" fmla="*/ 0 h 3225800"/>
              <a:gd name="connsiteX2" fmla="*/ 3225800 w 3225800"/>
              <a:gd name="connsiteY2" fmla="*/ 1612900 h 3225800"/>
              <a:gd name="connsiteX3" fmla="*/ 1612900 w 3225800"/>
              <a:gd name="connsiteY3" fmla="*/ 3225800 h 3225800"/>
              <a:gd name="connsiteX4" fmla="*/ 0 w 3225800"/>
              <a:gd name="connsiteY4" fmla="*/ 1612900 h 3225800"/>
              <a:gd name="connsiteX0" fmla="*/ 0 w 3225800"/>
              <a:gd name="connsiteY0" fmla="*/ 1612900 h 3225800"/>
              <a:gd name="connsiteX1" fmla="*/ 1612900 w 3225800"/>
              <a:gd name="connsiteY1" fmla="*/ 0 h 3225800"/>
              <a:gd name="connsiteX2" fmla="*/ 2430463 w 3225800"/>
              <a:gd name="connsiteY2" fmla="*/ 817563 h 3225800"/>
              <a:gd name="connsiteX3" fmla="*/ 3225800 w 3225800"/>
              <a:gd name="connsiteY3" fmla="*/ 1612900 h 3225800"/>
              <a:gd name="connsiteX4" fmla="*/ 1612900 w 3225800"/>
              <a:gd name="connsiteY4" fmla="*/ 3225800 h 3225800"/>
              <a:gd name="connsiteX5" fmla="*/ 0 w 3225800"/>
              <a:gd name="connsiteY5" fmla="*/ 1612900 h 3225800"/>
              <a:gd name="connsiteX0" fmla="*/ 0 w 3225800"/>
              <a:gd name="connsiteY0" fmla="*/ 1612900 h 3225800"/>
              <a:gd name="connsiteX1" fmla="*/ 1612900 w 3225800"/>
              <a:gd name="connsiteY1" fmla="*/ 0 h 3225800"/>
              <a:gd name="connsiteX2" fmla="*/ 2430463 w 3225800"/>
              <a:gd name="connsiteY2" fmla="*/ 817563 h 3225800"/>
              <a:gd name="connsiteX3" fmla="*/ 3225800 w 3225800"/>
              <a:gd name="connsiteY3" fmla="*/ 1612900 h 3225800"/>
              <a:gd name="connsiteX4" fmla="*/ 2430463 w 3225800"/>
              <a:gd name="connsiteY4" fmla="*/ 2413000 h 3225800"/>
              <a:gd name="connsiteX5" fmla="*/ 1612900 w 3225800"/>
              <a:gd name="connsiteY5" fmla="*/ 3225800 h 3225800"/>
              <a:gd name="connsiteX6" fmla="*/ 0 w 3225800"/>
              <a:gd name="connsiteY6" fmla="*/ 1612900 h 3225800"/>
              <a:gd name="connsiteX0" fmla="*/ 3225800 w 3317240"/>
              <a:gd name="connsiteY0" fmla="*/ 1612900 h 3225800"/>
              <a:gd name="connsiteX1" fmla="*/ 2430463 w 3317240"/>
              <a:gd name="connsiteY1" fmla="*/ 2413000 h 3225800"/>
              <a:gd name="connsiteX2" fmla="*/ 1612900 w 3317240"/>
              <a:gd name="connsiteY2" fmla="*/ 3225800 h 3225800"/>
              <a:gd name="connsiteX3" fmla="*/ 0 w 3317240"/>
              <a:gd name="connsiteY3" fmla="*/ 1612900 h 3225800"/>
              <a:gd name="connsiteX4" fmla="*/ 1612900 w 3317240"/>
              <a:gd name="connsiteY4" fmla="*/ 0 h 3225800"/>
              <a:gd name="connsiteX5" fmla="*/ 2430463 w 3317240"/>
              <a:gd name="connsiteY5" fmla="*/ 817563 h 3225800"/>
              <a:gd name="connsiteX6" fmla="*/ 3317240 w 3317240"/>
              <a:gd name="connsiteY6" fmla="*/ 1704340 h 3225800"/>
              <a:gd name="connsiteX0" fmla="*/ 2430463 w 3317240"/>
              <a:gd name="connsiteY0" fmla="*/ 2413000 h 3225800"/>
              <a:gd name="connsiteX1" fmla="*/ 1612900 w 3317240"/>
              <a:gd name="connsiteY1" fmla="*/ 3225800 h 3225800"/>
              <a:gd name="connsiteX2" fmla="*/ 0 w 3317240"/>
              <a:gd name="connsiteY2" fmla="*/ 1612900 h 3225800"/>
              <a:gd name="connsiteX3" fmla="*/ 1612900 w 3317240"/>
              <a:gd name="connsiteY3" fmla="*/ 0 h 3225800"/>
              <a:gd name="connsiteX4" fmla="*/ 2430463 w 3317240"/>
              <a:gd name="connsiteY4" fmla="*/ 817563 h 3225800"/>
              <a:gd name="connsiteX5" fmla="*/ 3317240 w 3317240"/>
              <a:gd name="connsiteY5" fmla="*/ 1704340 h 3225800"/>
              <a:gd name="connsiteX0" fmla="*/ 2430463 w 2430463"/>
              <a:gd name="connsiteY0" fmla="*/ 2413000 h 3225800"/>
              <a:gd name="connsiteX1" fmla="*/ 1612900 w 2430463"/>
              <a:gd name="connsiteY1" fmla="*/ 3225800 h 3225800"/>
              <a:gd name="connsiteX2" fmla="*/ 0 w 2430463"/>
              <a:gd name="connsiteY2" fmla="*/ 1612900 h 3225800"/>
              <a:gd name="connsiteX3" fmla="*/ 1612900 w 2430463"/>
              <a:gd name="connsiteY3" fmla="*/ 0 h 3225800"/>
              <a:gd name="connsiteX4" fmla="*/ 2430463 w 2430463"/>
              <a:gd name="connsiteY4" fmla="*/ 817563 h 3225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30463" h="3225800">
                <a:moveTo>
                  <a:pt x="2430463" y="2413000"/>
                </a:moveTo>
                <a:lnTo>
                  <a:pt x="1612900" y="3225800"/>
                </a:lnTo>
                <a:lnTo>
                  <a:pt x="0" y="1612900"/>
                </a:lnTo>
                <a:lnTo>
                  <a:pt x="1612900" y="0"/>
                </a:lnTo>
                <a:lnTo>
                  <a:pt x="2430463" y="817563"/>
                </a:lnTo>
              </a:path>
            </a:pathLst>
          </a:custGeom>
          <a:noFill/>
          <a:ln w="38100" cap="flat" cmpd="sng" algn="ctr">
            <a:solidFill>
              <a:sysClr val="window" lastClr="FFFFFF"/>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Light"/>
            </a:endParaRPr>
          </a:p>
        </p:txBody>
      </p:sp>
      <p:grpSp>
        <p:nvGrpSpPr>
          <p:cNvPr id="29" name="Group 28"/>
          <p:cNvGrpSpPr/>
          <p:nvPr/>
        </p:nvGrpSpPr>
        <p:grpSpPr>
          <a:xfrm>
            <a:off x="237520" y="152400"/>
            <a:ext cx="410563" cy="1612900"/>
            <a:chOff x="83821" y="0"/>
            <a:chExt cx="219636" cy="903079"/>
          </a:xfrm>
        </p:grpSpPr>
        <p:sp>
          <p:nvSpPr>
            <p:cNvPr id="30" name="Rectangle 29"/>
            <p:cNvSpPr/>
            <p:nvPr/>
          </p:nvSpPr>
          <p:spPr>
            <a:xfrm>
              <a:off x="84026" y="0"/>
              <a:ext cx="219431" cy="210952"/>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30"/>
            <p:cNvSpPr/>
            <p:nvPr/>
          </p:nvSpPr>
          <p:spPr>
            <a:xfrm>
              <a:off x="84262" y="408599"/>
              <a:ext cx="219194" cy="494480"/>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31"/>
            <p:cNvSpPr/>
            <p:nvPr/>
          </p:nvSpPr>
          <p:spPr>
            <a:xfrm>
              <a:off x="83821" y="210952"/>
              <a:ext cx="217937" cy="22098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33" name="Object 32">
              <a:extLst>
                <a:ext uri="{FF2B5EF4-FFF2-40B4-BE49-F238E27FC236}">
                  <a16:creationId xmlns:a16="http://schemas.microsoft.com/office/drawing/2014/main" id="{CAD0D7B8-E462-453C-B296-CA0154FA54AE}"/>
                </a:ext>
              </a:extLst>
            </p:cNvPr>
            <p:cNvGraphicFramePr>
              <a:graphicFrameLocks noChangeAspect="1"/>
            </p:cNvGraphicFramePr>
            <p:nvPr>
              <p:extLst>
                <p:ext uri="{D42A27DB-BD31-4B8C-83A1-F6EECF244321}">
                  <p14:modId xmlns:p14="http://schemas.microsoft.com/office/powerpoint/2010/main" val="4059142145"/>
                </p:ext>
              </p:extLst>
            </p:nvPr>
          </p:nvGraphicFramePr>
          <p:xfrm>
            <a:off x="100420" y="236973"/>
            <a:ext cx="183878" cy="183422"/>
          </p:xfrm>
          <a:graphic>
            <a:graphicData uri="http://schemas.openxmlformats.org/presentationml/2006/ole">
              <mc:AlternateContent xmlns:mc="http://schemas.openxmlformats.org/markup-compatibility/2006">
                <mc:Choice xmlns:v="urn:schemas-microsoft-com:vml" Requires="v">
                  <p:oleObj name="CorelDRAW" r:id="rId2" imgW="2169000" imgH="2169360" progId="">
                    <p:embed/>
                  </p:oleObj>
                </mc:Choice>
                <mc:Fallback>
                  <p:oleObj name="CorelDRAW" r:id="rId2" imgW="2169000" imgH="2169360" progId="">
                    <p:embed/>
                    <p:pic>
                      <p:nvPicPr>
                        <p:cNvPr id="0" name="Picture 1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0420" y="236973"/>
                          <a:ext cx="183878" cy="18342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sp>
        <p:nvSpPr>
          <p:cNvPr id="16" name="Slide Number Placeholder 15"/>
          <p:cNvSpPr>
            <a:spLocks noGrp="1"/>
          </p:cNvSpPr>
          <p:nvPr>
            <p:ph type="sldNum" sz="quarter" idx="12"/>
          </p:nvPr>
        </p:nvSpPr>
        <p:spPr/>
        <p:txBody>
          <a:bodyPr/>
          <a:lstStyle/>
          <a:p>
            <a:fld id="{FC9A48AB-23F1-45F1-98E5-D2CDC7A5261D}" type="slidenum">
              <a:rPr lang="en-US" smtClean="0">
                <a:solidFill>
                  <a:prstClr val="black">
                    <a:tint val="75000"/>
                  </a:prstClr>
                </a:solidFill>
              </a:rPr>
              <a:pPr/>
              <a:t>23</a:t>
            </a:fld>
            <a:endParaRPr lang="en-US">
              <a:solidFill>
                <a:prstClr val="black">
                  <a:tint val="75000"/>
                </a:prstClr>
              </a:solidFill>
            </a:endParaRPr>
          </a:p>
        </p:txBody>
      </p:sp>
      <p:sp>
        <p:nvSpPr>
          <p:cNvPr id="2" name="Footer Placeholder 9">
            <a:extLst>
              <a:ext uri="{FF2B5EF4-FFF2-40B4-BE49-F238E27FC236}">
                <a16:creationId xmlns:a16="http://schemas.microsoft.com/office/drawing/2014/main" id="{FED7AF75-4FE1-3300-D6FD-27EAEFEA2380}"/>
              </a:ext>
            </a:extLst>
          </p:cNvPr>
          <p:cNvSpPr>
            <a:spLocks noGrp="1"/>
          </p:cNvSpPr>
          <p:nvPr>
            <p:ph type="ftr" sz="quarter" idx="11"/>
          </p:nvPr>
        </p:nvSpPr>
        <p:spPr>
          <a:xfrm>
            <a:off x="4038600" y="6356350"/>
            <a:ext cx="4114800" cy="365125"/>
          </a:xfrm>
        </p:spPr>
        <p:txBody>
          <a:bodyPr/>
          <a:lstStyle/>
          <a:p>
            <a:r>
              <a:rPr lang="en-US" dirty="0"/>
              <a:t>Er. Jagmeet Kaur, Asst. Prof., CSE, Chandigarh University</a:t>
            </a:r>
          </a:p>
        </p:txBody>
      </p:sp>
    </p:spTree>
    <p:extLst>
      <p:ext uri="{BB962C8B-B14F-4D97-AF65-F5344CB8AC3E}">
        <p14:creationId xmlns:p14="http://schemas.microsoft.com/office/powerpoint/2010/main" val="2656501266"/>
      </p:ext>
    </p:extLst>
  </p:cSld>
  <p:clrMapOvr>
    <a:masterClrMapping/>
  </p:clrMapOvr>
</p:sld>
</file>

<file path=ppt/theme/theme1.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ontents Slide Master">
  <a:themeElements>
    <a:clrScheme name="ALLPPT-COLOR-A33">
      <a:dk1>
        <a:sysClr val="windowText" lastClr="000000"/>
      </a:dk1>
      <a:lt1>
        <a:sysClr val="window" lastClr="FFFFFF"/>
      </a:lt1>
      <a:dk2>
        <a:srgbClr val="1F497D"/>
      </a:dk2>
      <a:lt2>
        <a:srgbClr val="EEECE1"/>
      </a:lt2>
      <a:accent1>
        <a:srgbClr val="EF4A4A"/>
      </a:accent1>
      <a:accent2>
        <a:srgbClr val="262626"/>
      </a:accent2>
      <a:accent3>
        <a:srgbClr val="EF4A4A"/>
      </a:accent3>
      <a:accent4>
        <a:srgbClr val="262626"/>
      </a:accent4>
      <a:accent5>
        <a:srgbClr val="EF4A4A"/>
      </a:accent5>
      <a:accent6>
        <a:srgbClr val="262626"/>
      </a:accent6>
      <a:hlink>
        <a:srgbClr val="0000FF"/>
      </a:hlink>
      <a:folHlink>
        <a:srgbClr val="800080"/>
      </a:folHlink>
    </a:clrScheme>
    <a:fontScheme name="ALLPPT FONT">
      <a:majorFont>
        <a:latin typeface="Arial"/>
        <a:ea typeface="Arial Unicode MS"/>
        <a:cs typeface=""/>
      </a:majorFont>
      <a:minorFont>
        <a:latin typeface="Arial"/>
        <a:ea typeface="Arial Unicode MS"/>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smaple</Template>
  <TotalTime>1639</TotalTime>
  <Words>1738</Words>
  <Application>Microsoft Macintosh PowerPoint</Application>
  <PresentationFormat>Widescreen</PresentationFormat>
  <Paragraphs>154</Paragraphs>
  <Slides>23</Slides>
  <Notes>1</Notes>
  <HiddenSlides>0</HiddenSlides>
  <MMClips>0</MMClips>
  <ScaleCrop>false</ScaleCrop>
  <HeadingPairs>
    <vt:vector size="8" baseType="variant">
      <vt:variant>
        <vt:lpstr>Fonts Used</vt:lpstr>
      </vt:variant>
      <vt:variant>
        <vt:i4>6</vt:i4>
      </vt:variant>
      <vt:variant>
        <vt:lpstr>Theme</vt:lpstr>
      </vt:variant>
      <vt:variant>
        <vt:i4>2</vt:i4>
      </vt:variant>
      <vt:variant>
        <vt:lpstr>Embedded OLE Servers</vt:lpstr>
      </vt:variant>
      <vt:variant>
        <vt:i4>1</vt:i4>
      </vt:variant>
      <vt:variant>
        <vt:lpstr>Slide Titles</vt:lpstr>
      </vt:variant>
      <vt:variant>
        <vt:i4>23</vt:i4>
      </vt:variant>
    </vt:vector>
  </HeadingPairs>
  <TitlesOfParts>
    <vt:vector size="32" baseType="lpstr">
      <vt:lpstr>Arial</vt:lpstr>
      <vt:lpstr>Arial Black</vt:lpstr>
      <vt:lpstr>Calibri</vt:lpstr>
      <vt:lpstr>Calibri Light</vt:lpstr>
      <vt:lpstr>Casper</vt:lpstr>
      <vt:lpstr>Times New Roman</vt:lpstr>
      <vt:lpstr>1_Office Theme</vt:lpstr>
      <vt:lpstr>Contents Slide Master</vt:lpstr>
      <vt:lpstr>CorelDRAW</vt:lpstr>
      <vt:lpstr>PowerPoint Presentation</vt:lpstr>
      <vt:lpstr>Chapter-9 Software Maintenance and Reuse</vt:lpstr>
      <vt:lpstr>Software Maintenance and Reuse</vt:lpstr>
      <vt:lpstr>Software Maintenance </vt:lpstr>
      <vt:lpstr>Need for Maintenance</vt:lpstr>
      <vt:lpstr>Why are modifications required?</vt:lpstr>
      <vt:lpstr>Categories of Software Maintenance</vt:lpstr>
      <vt:lpstr>Categories of Software Maintenance</vt:lpstr>
      <vt:lpstr> Cost of Maintenance </vt:lpstr>
      <vt:lpstr> Real-world factors affecting Maintenance Cost </vt:lpstr>
      <vt:lpstr> Software-end factors affecting Maintenance Cost </vt:lpstr>
      <vt:lpstr> Maintenance Activities </vt:lpstr>
      <vt:lpstr> Maintenance Activities </vt:lpstr>
      <vt:lpstr> Maintenance Activities </vt:lpstr>
      <vt:lpstr> Maintenance Activities </vt:lpstr>
      <vt:lpstr> Maintenance Activities </vt:lpstr>
      <vt:lpstr>Software Maintenance Process Models</vt:lpstr>
      <vt:lpstr>Software Maintenance Process Models</vt:lpstr>
      <vt:lpstr>Software Maintenance Process Models</vt:lpstr>
      <vt:lpstr>Software Maintenance Process Models</vt:lpstr>
      <vt:lpstr>Software Maintenance Process Models</vt:lpstr>
      <vt:lpstr> References </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Branding</dc:creator>
  <cp:lastModifiedBy>Jagmeet Kaur</cp:lastModifiedBy>
  <cp:revision>236</cp:revision>
  <dcterms:created xsi:type="dcterms:W3CDTF">2019-01-09T10:33:58Z</dcterms:created>
  <dcterms:modified xsi:type="dcterms:W3CDTF">2024-12-24T05:49:05Z</dcterms:modified>
</cp:coreProperties>
</file>