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1"/>
  </p:notesMasterIdLst>
  <p:handoutMasterIdLst>
    <p:handoutMasterId r:id="rId22"/>
  </p:handoutMasterIdLst>
  <p:sldIdLst>
    <p:sldId id="662" r:id="rId3"/>
    <p:sldId id="280" r:id="rId4"/>
    <p:sldId id="663" r:id="rId5"/>
    <p:sldId id="327" r:id="rId6"/>
    <p:sldId id="341" r:id="rId7"/>
    <p:sldId id="340" r:id="rId8"/>
    <p:sldId id="339" r:id="rId9"/>
    <p:sldId id="338" r:id="rId10"/>
    <p:sldId id="337" r:id="rId11"/>
    <p:sldId id="336" r:id="rId12"/>
    <p:sldId id="335" r:id="rId13"/>
    <p:sldId id="334" r:id="rId14"/>
    <p:sldId id="333" r:id="rId15"/>
    <p:sldId id="332" r:id="rId16"/>
    <p:sldId id="331" r:id="rId17"/>
    <p:sldId id="330" r:id="rId18"/>
    <p:sldId id="329"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94" autoAdjust="0"/>
    <p:restoredTop sz="94660"/>
  </p:normalViewPr>
  <p:slideViewPr>
    <p:cSldViewPr snapToGrid="0">
      <p:cViewPr varScale="1">
        <p:scale>
          <a:sx n="112" d="100"/>
          <a:sy n="112" d="100"/>
        </p:scale>
        <p:origin x="208" y="240"/>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19738EAF-A241-CF55-903A-2EFD0E96F04D}"/>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03AA11DE-D38F-EE54-1967-B42189D8AABE}"/>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D3B40B9B-DB50-4799-8E5A-9DBA99396705}"/>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534784" cy="369332"/>
          </a:xfrm>
          <a:prstGeom prst="rect">
            <a:avLst/>
          </a:prstGeom>
          <a:noFill/>
        </p:spPr>
        <p:txBody>
          <a:bodyPr wrap="square">
            <a:spAutoFit/>
          </a:bodyPr>
          <a:lstStyle/>
          <a:p>
            <a:r>
              <a:rPr lang="en-US" b="1" dirty="0"/>
              <a:t>Software Maintenance and Reuse</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4332"/>
            <a:ext cx="10515600" cy="1306440"/>
          </a:xfrm>
        </p:spPr>
        <p:txBody>
          <a:bodyPr>
            <a:noAutofit/>
          </a:bodyPr>
          <a:lstStyle/>
          <a:p>
            <a:pPr algn="ctr"/>
            <a:r>
              <a:rPr lang="en-US" sz="3600" dirty="0">
                <a:latin typeface="Times New Roman" panose="02020603050405020304" pitchFamily="18" charset="0"/>
                <a:cs typeface="Times New Roman" pitchFamily="18" charset="0"/>
              </a:rPr>
              <a:t>Chapter-9</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Software Maintenance and Reuse</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237591"/>
            <a:ext cx="10515600" cy="3939372"/>
          </a:xfrm>
        </p:spPr>
        <p:txBody>
          <a:bodyPr>
            <a:normAutofit/>
          </a:bodyPr>
          <a:lstStyle/>
          <a:p>
            <a:pPr>
              <a:lnSpc>
                <a:spcPct val="150000"/>
              </a:lnSpc>
            </a:pPr>
            <a:r>
              <a:rPr lang="en-US" sz="2400" dirty="0">
                <a:latin typeface="Times New Roman" pitchFamily="18" charset="0"/>
                <a:cs typeface="Times New Roman" pitchFamily="18" charset="0"/>
              </a:rPr>
              <a:t>Software Reverse Engineering</a:t>
            </a:r>
          </a:p>
          <a:p>
            <a:pPr>
              <a:lnSpc>
                <a:spcPct val="150000"/>
              </a:lnSpc>
            </a:pPr>
            <a:r>
              <a:rPr lang="en-US" sz="2400" dirty="0">
                <a:latin typeface="Times New Roman" pitchFamily="18" charset="0"/>
                <a:cs typeface="Times New Roman" pitchFamily="18" charset="0"/>
              </a:rPr>
              <a:t>Software Reuse</a:t>
            </a:r>
          </a:p>
        </p:txBody>
      </p:sp>
      <p:sp>
        <p:nvSpPr>
          <p:cNvPr id="5" name="Rectangle 4"/>
          <p:cNvSpPr/>
          <p:nvPr/>
        </p:nvSpPr>
        <p:spPr>
          <a:xfrm>
            <a:off x="838200" y="2252194"/>
            <a:ext cx="10515600" cy="392000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839096"/>
            <a:ext cx="10515600" cy="13321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B83C4298-586A-7066-9372-860E27B387A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7E4F3-6ADF-B3DA-9737-9F3C29B3B1F8}"/>
              </a:ext>
            </a:extLst>
          </p:cNvPr>
          <p:cNvSpPr>
            <a:spLocks noGrp="1"/>
          </p:cNvSpPr>
          <p:nvPr>
            <p:ph type="title"/>
          </p:nvPr>
        </p:nvSpPr>
        <p:spPr>
          <a:xfrm>
            <a:off x="838200" y="925551"/>
            <a:ext cx="10515600" cy="765137"/>
          </a:xfrm>
        </p:spPr>
        <p:txBody>
          <a:bodyPr>
            <a:normAutofit fontScale="90000"/>
          </a:bodyPr>
          <a:lstStyle/>
          <a:p>
            <a:pPr algn="ctr"/>
            <a:br>
              <a:rPr lang="en-US" sz="4400" dirty="0">
                <a:latin typeface="Times New Roman" pitchFamily="18" charset="0"/>
                <a:cs typeface="Times New Roman" pitchFamily="18" charset="0"/>
              </a:rPr>
            </a:br>
            <a:r>
              <a:rPr lang="en-US" sz="4400" dirty="0">
                <a:latin typeface="Times New Roman" pitchFamily="18" charset="0"/>
                <a:cs typeface="Times New Roman" pitchFamily="18" charset="0"/>
              </a:rPr>
              <a:t>Software Reverse Engineering</a:t>
            </a:r>
            <a:br>
              <a:rPr lang="en-US" sz="4400" dirty="0">
                <a:latin typeface="Times New Roman" pitchFamily="18" charset="0"/>
                <a:cs typeface="Times New Roman" pitchFamily="18" charset="0"/>
              </a:rPr>
            </a:br>
            <a:endParaRPr lang="en-US" dirty="0"/>
          </a:p>
        </p:txBody>
      </p:sp>
      <p:sp>
        <p:nvSpPr>
          <p:cNvPr id="4" name="Slide Number Placeholder 3">
            <a:extLst>
              <a:ext uri="{FF2B5EF4-FFF2-40B4-BE49-F238E27FC236}">
                <a16:creationId xmlns:a16="http://schemas.microsoft.com/office/drawing/2014/main" id="{5B78FEB8-5B61-937D-9910-58173B95D15F}"/>
              </a:ext>
            </a:extLst>
          </p:cNvPr>
          <p:cNvSpPr>
            <a:spLocks noGrp="1"/>
          </p:cNvSpPr>
          <p:nvPr>
            <p:ph type="sldNum" sz="quarter" idx="12"/>
          </p:nvPr>
        </p:nvSpPr>
        <p:spPr/>
        <p:txBody>
          <a:bodyPr/>
          <a:lstStyle/>
          <a:p>
            <a:fld id="{BDCDBBEF-AA6C-4BA6-85B2-A17D7F280E38}" type="slidenum">
              <a:rPr lang="en-US" smtClean="0"/>
              <a:pPr/>
              <a:t>3</a:t>
            </a:fld>
            <a:endParaRPr lang="en-US"/>
          </a:p>
        </p:txBody>
      </p:sp>
      <p:graphicFrame>
        <p:nvGraphicFramePr>
          <p:cNvPr id="6" name="Table 5">
            <a:extLst>
              <a:ext uri="{FF2B5EF4-FFF2-40B4-BE49-F238E27FC236}">
                <a16:creationId xmlns:a16="http://schemas.microsoft.com/office/drawing/2014/main" id="{AEFAEC5C-79B1-A75A-78F4-8F54E722349D}"/>
              </a:ext>
            </a:extLst>
          </p:cNvPr>
          <p:cNvGraphicFramePr>
            <a:graphicFrameLocks noGrp="1"/>
          </p:cNvGraphicFramePr>
          <p:nvPr>
            <p:extLst>
              <p:ext uri="{D42A27DB-BD31-4B8C-83A1-F6EECF244321}">
                <p14:modId xmlns:p14="http://schemas.microsoft.com/office/powerpoint/2010/main" val="2680045423"/>
              </p:ext>
            </p:extLst>
          </p:nvPr>
        </p:nvGraphicFramePr>
        <p:xfrm>
          <a:off x="2032000" y="2397511"/>
          <a:ext cx="8128000" cy="2330606"/>
        </p:xfrm>
        <a:graphic>
          <a:graphicData uri="http://schemas.openxmlformats.org/drawingml/2006/table">
            <a:tbl>
              <a:tblPr firstRow="1" bandRow="1">
                <a:tableStyleId>{F5AB1C69-6EDB-4FF4-983F-18BD219EF322}</a:tableStyleId>
              </a:tblPr>
              <a:tblGrid>
                <a:gridCol w="1079190">
                  <a:extLst>
                    <a:ext uri="{9D8B030D-6E8A-4147-A177-3AD203B41FA5}">
                      <a16:colId xmlns:a16="http://schemas.microsoft.com/office/drawing/2014/main" val="3328436883"/>
                    </a:ext>
                  </a:extLst>
                </a:gridCol>
                <a:gridCol w="7048810">
                  <a:extLst>
                    <a:ext uri="{9D8B030D-6E8A-4147-A177-3AD203B41FA5}">
                      <a16:colId xmlns:a16="http://schemas.microsoft.com/office/drawing/2014/main" val="546305643"/>
                    </a:ext>
                  </a:extLst>
                </a:gridCol>
              </a:tblGrid>
              <a:tr h="1165303">
                <a:tc>
                  <a:txBody>
                    <a:bodyPr/>
                    <a:lstStyle/>
                    <a:p>
                      <a:pPr marR="53975" algn="ctr">
                        <a:lnSpc>
                          <a:spcPct val="107000"/>
                        </a:lnSpc>
                        <a:spcAft>
                          <a:spcPts val="800"/>
                        </a:spcAft>
                      </a:pPr>
                      <a:r>
                        <a:rPr lang="en-IN" sz="1800" dirty="0">
                          <a:effectLst/>
                          <a:latin typeface="Times New Roman" panose="02020603050405020304" pitchFamily="18" charset="0"/>
                          <a:ea typeface="Calibri" panose="020F0502020204030204" pitchFamily="34" charset="0"/>
                        </a:rPr>
                        <a:t>CO1</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1800" dirty="0">
                          <a:effectLst/>
                          <a:latin typeface="Times New Roman" panose="02020603050405020304" pitchFamily="18" charset="0"/>
                          <a:ea typeface="Times New Roman" panose="02020603050405020304" pitchFamily="18" charset="0"/>
                        </a:rPr>
                        <a:t>Define principles and working of software process models.</a:t>
                      </a:r>
                      <a:endParaRPr lang="en-IN" sz="18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223369350"/>
                  </a:ext>
                </a:extLst>
              </a:tr>
              <a:tr h="1165303">
                <a:tc>
                  <a:txBody>
                    <a:bodyPr/>
                    <a:lstStyle/>
                    <a:p>
                      <a:pPr marR="53975" algn="ctr">
                        <a:lnSpc>
                          <a:spcPct val="107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CO5</a:t>
                      </a:r>
                    </a:p>
                  </a:txBody>
                  <a:tcPr marL="68580" marR="68580" marT="0" marB="0" anchor="ctr"/>
                </a:tc>
                <a:tc>
                  <a:txBody>
                    <a:bodyPr/>
                    <a:lstStyle/>
                    <a:p>
                      <a:pPr indent="-31115" algn="ctr">
                        <a:lnSpc>
                          <a:spcPct val="107000"/>
                        </a:lnSpc>
                        <a:spcAft>
                          <a:spcPts val="800"/>
                        </a:spcAft>
                      </a:pP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31115" algn="ct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Understand and analyse software management principles.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31115" algn="ct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01011817"/>
                  </a:ext>
                </a:extLst>
              </a:tr>
            </a:tbl>
          </a:graphicData>
        </a:graphic>
      </p:graphicFrame>
    </p:spTree>
    <p:extLst>
      <p:ext uri="{BB962C8B-B14F-4D97-AF65-F5344CB8AC3E}">
        <p14:creationId xmlns:p14="http://schemas.microsoft.com/office/powerpoint/2010/main" val="2611659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dirty="0">
                <a:latin typeface="Times New Roman" panose="02020603050405020304" pitchFamily="18" charset="0"/>
                <a:cs typeface="Times New Roman" panose="02020603050405020304" pitchFamily="18" charset="0"/>
              </a:rPr>
              <a:t>Software Reverse Engineering</a:t>
            </a:r>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Software Reverse Engineering</a:t>
            </a:r>
            <a:r>
              <a:rPr lang="en-US" dirty="0">
                <a:latin typeface="Times New Roman" panose="02020603050405020304" pitchFamily="18" charset="0"/>
                <a:cs typeface="Times New Roman" panose="02020603050405020304" pitchFamily="18" charset="0"/>
              </a:rPr>
              <a:t> is a process of recovering the design, requirement specifications and functions of a product from an analysis of its code. It builds a program database and generates information from this.</a:t>
            </a:r>
          </a:p>
          <a:p>
            <a:pPr algn="just" fontAlgn="base"/>
            <a:r>
              <a:rPr lang="en-US" dirty="0">
                <a:latin typeface="Times New Roman" panose="02020603050405020304" pitchFamily="18" charset="0"/>
                <a:cs typeface="Times New Roman" panose="02020603050405020304" pitchFamily="18" charset="0"/>
              </a:rPr>
              <a:t>The purpose of reverse engineering is to facilitate the maintenance work by improving the understandability of a system and to produce the necessary documents for a legacy system.</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FD0C3799-75EA-932A-257E-3E34C19FDD4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b="1" dirty="0">
                <a:latin typeface="Times New Roman" panose="02020603050405020304" pitchFamily="18" charset="0"/>
                <a:cs typeface="Times New Roman" panose="02020603050405020304" pitchFamily="18" charset="0"/>
              </a:rPr>
              <a:t>Reverse Engineering Goals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Cope with Complexity.</a:t>
            </a:r>
          </a:p>
          <a:p>
            <a:pPr fontAlgn="base"/>
            <a:r>
              <a:rPr lang="en-US" dirty="0">
                <a:latin typeface="Times New Roman" panose="02020603050405020304" pitchFamily="18" charset="0"/>
                <a:cs typeface="Times New Roman" panose="02020603050405020304" pitchFamily="18" charset="0"/>
              </a:rPr>
              <a:t>Recover lost information.</a:t>
            </a:r>
          </a:p>
          <a:p>
            <a:pPr fontAlgn="base"/>
            <a:r>
              <a:rPr lang="en-US" dirty="0">
                <a:latin typeface="Times New Roman" panose="02020603050405020304" pitchFamily="18" charset="0"/>
                <a:cs typeface="Times New Roman" panose="02020603050405020304" pitchFamily="18" charset="0"/>
              </a:rPr>
              <a:t>Detect side effects.</a:t>
            </a:r>
          </a:p>
          <a:p>
            <a:pPr fontAlgn="base"/>
            <a:r>
              <a:rPr lang="en-US" dirty="0">
                <a:latin typeface="Times New Roman" panose="02020603050405020304" pitchFamily="18" charset="0"/>
                <a:cs typeface="Times New Roman" panose="02020603050405020304" pitchFamily="18" charset="0"/>
              </a:rPr>
              <a:t>Synthesize higher abstraction.</a:t>
            </a:r>
          </a:p>
          <a:p>
            <a:pPr fontAlgn="base"/>
            <a:r>
              <a:rPr lang="en-US" dirty="0">
                <a:latin typeface="Times New Roman" panose="02020603050405020304" pitchFamily="18" charset="0"/>
                <a:cs typeface="Times New Roman" panose="02020603050405020304" pitchFamily="18" charset="0"/>
              </a:rPr>
              <a:t>Facilitate Reuse.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D9EDC899-8721-37CD-3803-98AB69B1F74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b="1" dirty="0">
                <a:latin typeface="Times New Roman" panose="02020603050405020304" pitchFamily="18" charset="0"/>
                <a:cs typeface="Times New Roman" panose="02020603050405020304" pitchFamily="18" charset="0"/>
              </a:rPr>
              <a:t>Steps of Software Reverse Engineering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fontAlgn="base"/>
            <a:r>
              <a:rPr lang="en-US" b="1" dirty="0">
                <a:latin typeface="Times New Roman" panose="02020603050405020304" pitchFamily="18" charset="0"/>
                <a:cs typeface="Times New Roman" panose="02020603050405020304" pitchFamily="18" charset="0"/>
              </a:rPr>
              <a:t>Collection Information: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step focuses on collecting all possible information (i.e., source design documents etc.) about the software.</a:t>
            </a:r>
          </a:p>
          <a:p>
            <a:pPr fontAlgn="base"/>
            <a:r>
              <a:rPr lang="en-US" b="1" dirty="0">
                <a:latin typeface="Times New Roman" panose="02020603050405020304" pitchFamily="18" charset="0"/>
                <a:cs typeface="Times New Roman" panose="02020603050405020304" pitchFamily="18" charset="0"/>
              </a:rPr>
              <a:t>Examining the information: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information collected in step-1 as studied so as to get familiar with the system.</a:t>
            </a:r>
          </a:p>
          <a:p>
            <a:pPr fontAlgn="base"/>
            <a:r>
              <a:rPr lang="en-US" b="1" dirty="0">
                <a:latin typeface="Times New Roman" panose="02020603050405020304" pitchFamily="18" charset="0"/>
                <a:cs typeface="Times New Roman" panose="02020603050405020304" pitchFamily="18" charset="0"/>
              </a:rPr>
              <a:t>Extracting the structure: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step concerns with identification of program structure in the form of structure chart where each node corresponds to some routine.</a:t>
            </a:r>
          </a:p>
          <a:p>
            <a:pPr fontAlgn="base"/>
            <a:r>
              <a:rPr lang="en-US" b="1" dirty="0">
                <a:latin typeface="Times New Roman" panose="02020603050405020304" pitchFamily="18" charset="0"/>
                <a:cs typeface="Times New Roman" panose="02020603050405020304" pitchFamily="18" charset="0"/>
              </a:rPr>
              <a:t>Recording the functionality: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During this step processing details of each module of the structure, charts are recorded using structured language like decision table, etc.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57A0354C-7FE7-EA20-9B83-0CC120EC337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a:bodyPr>
          <a:lstStyle/>
          <a:p>
            <a:r>
              <a:rPr lang="en-US" sz="3600" b="1" dirty="0">
                <a:latin typeface="Times New Roman" panose="02020603050405020304" pitchFamily="18" charset="0"/>
                <a:cs typeface="Times New Roman" panose="02020603050405020304" pitchFamily="18" charset="0"/>
              </a:rPr>
              <a:t>Steps of Software Reverse Engineering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fontAlgn="base"/>
            <a:r>
              <a:rPr lang="en-US" b="1" dirty="0">
                <a:latin typeface="Times New Roman" panose="02020603050405020304" pitchFamily="18" charset="0"/>
                <a:cs typeface="Times New Roman" panose="02020603050405020304" pitchFamily="18" charset="0"/>
              </a:rPr>
              <a:t>Recording data flow: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From the information extracted in step-3 and step-4, set of data flow diagrams are derived to show the flow of data among the processes.</a:t>
            </a:r>
          </a:p>
          <a:p>
            <a:pPr fontAlgn="base"/>
            <a:r>
              <a:rPr lang="en-US" b="1" dirty="0">
                <a:latin typeface="Times New Roman" panose="02020603050405020304" pitchFamily="18" charset="0"/>
                <a:cs typeface="Times New Roman" panose="02020603050405020304" pitchFamily="18" charset="0"/>
              </a:rPr>
              <a:t>Recording control flow: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High level control structure of the software is recorded.</a:t>
            </a:r>
          </a:p>
          <a:p>
            <a:pPr fontAlgn="base"/>
            <a:r>
              <a:rPr lang="en-US" b="1" dirty="0">
                <a:latin typeface="Times New Roman" panose="02020603050405020304" pitchFamily="18" charset="0"/>
                <a:cs typeface="Times New Roman" panose="02020603050405020304" pitchFamily="18" charset="0"/>
              </a:rPr>
              <a:t>Review extracted design: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Design document extracted is reviewed several times to ensure consistency and correctness. It also ensures that the design represents the program.</a:t>
            </a:r>
          </a:p>
          <a:p>
            <a:pPr fontAlgn="base"/>
            <a:r>
              <a:rPr lang="en-US" b="1" dirty="0">
                <a:latin typeface="Times New Roman" panose="02020603050405020304" pitchFamily="18" charset="0"/>
                <a:cs typeface="Times New Roman" panose="02020603050405020304" pitchFamily="18" charset="0"/>
              </a:rPr>
              <a:t>Generate documentation: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Finally, in this step, the complete documentation including SRS, design document, history, overview, etc. are recorded for future use.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B9D09ED9-8A19-382D-1B26-7CF54EAFB1D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a:bodyPr>
          <a:lstStyle/>
          <a:p>
            <a:r>
              <a:rPr lang="en-US" sz="3600" dirty="0">
                <a:latin typeface="Times New Roman" panose="02020603050405020304" pitchFamily="18" charset="0"/>
                <a:cs typeface="Times New Roman" panose="02020603050405020304" pitchFamily="18" charset="0"/>
              </a:rPr>
              <a:t>Software Reuse</a:t>
            </a:r>
          </a:p>
        </p:txBody>
      </p:sp>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Code reuse</a:t>
            </a:r>
            <a:r>
              <a:rPr lang="en-US" dirty="0">
                <a:latin typeface="Times New Roman" panose="02020603050405020304" pitchFamily="18" charset="0"/>
                <a:cs typeface="Times New Roman" panose="02020603050405020304" pitchFamily="18" charset="0"/>
              </a:rPr>
              <a:t>, also called </a:t>
            </a:r>
            <a:r>
              <a:rPr lang="en-US" b="1" dirty="0">
                <a:latin typeface="Times New Roman" panose="02020603050405020304" pitchFamily="18" charset="0"/>
                <a:cs typeface="Times New Roman" panose="02020603050405020304" pitchFamily="18" charset="0"/>
              </a:rPr>
              <a:t>software reuse</a:t>
            </a:r>
            <a:r>
              <a:rPr lang="en-US" dirty="0">
                <a:latin typeface="Times New Roman" panose="02020603050405020304" pitchFamily="18" charset="0"/>
                <a:cs typeface="Times New Roman" panose="02020603050405020304" pitchFamily="18" charset="0"/>
              </a:rPr>
              <a:t>, is the use of existing software, or software knowledge, to build new software</a:t>
            </a:r>
          </a:p>
          <a:p>
            <a:pPr algn="just"/>
            <a:r>
              <a:rPr lang="en-US" dirty="0">
                <a:latin typeface="Times New Roman" panose="02020603050405020304" pitchFamily="18" charset="0"/>
                <a:cs typeface="Times New Roman" panose="02020603050405020304" pitchFamily="18" charset="0"/>
              </a:rPr>
              <a:t>Almost all artifacts associated with software development, including project plan and test plan, can be used again. However, the important items that can be effectively used again are,</a:t>
            </a:r>
          </a:p>
          <a:p>
            <a:pPr algn="just"/>
            <a:r>
              <a:rPr lang="en-US" dirty="0">
                <a:latin typeface="Times New Roman" panose="02020603050405020304" pitchFamily="18" charset="0"/>
                <a:cs typeface="Times New Roman" panose="02020603050405020304" pitchFamily="18" charset="0"/>
              </a:rPr>
              <a:t>Requirements specification</a:t>
            </a:r>
          </a:p>
          <a:p>
            <a:pPr algn="just"/>
            <a:r>
              <a:rPr lang="en-US" dirty="0">
                <a:latin typeface="Times New Roman" panose="02020603050405020304" pitchFamily="18" charset="0"/>
                <a:cs typeface="Times New Roman" panose="02020603050405020304" pitchFamily="18" charset="0"/>
              </a:rPr>
              <a:t>Design</a:t>
            </a:r>
          </a:p>
          <a:p>
            <a:pPr algn="just"/>
            <a:r>
              <a:rPr lang="en-US" dirty="0">
                <a:latin typeface="Times New Roman" panose="02020603050405020304" pitchFamily="18" charset="0"/>
                <a:cs typeface="Times New Roman" panose="02020603050405020304" pitchFamily="18" charset="0"/>
              </a:rPr>
              <a:t>Code</a:t>
            </a:r>
          </a:p>
          <a:p>
            <a:pPr algn="just"/>
            <a:r>
              <a:rPr lang="en-US" dirty="0">
                <a:latin typeface="Times New Roman" panose="02020603050405020304" pitchFamily="18" charset="0"/>
                <a:cs typeface="Times New Roman" panose="02020603050405020304" pitchFamily="18" charset="0"/>
              </a:rPr>
              <a:t>Test cases</a:t>
            </a:r>
          </a:p>
          <a:p>
            <a:pPr algn="just"/>
            <a:r>
              <a:rPr lang="en-US" dirty="0">
                <a:latin typeface="Times New Roman" panose="02020603050405020304" pitchFamily="18" charset="0"/>
                <a:cs typeface="Times New Roman" panose="02020603050405020304" pitchFamily="18" charset="0"/>
              </a:rPr>
              <a:t>Knowledge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1F9D16CC-F662-430D-B537-3FB45287ADE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Basic issues in any reuse program</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following are some of the basic issues that must be for starting any reuse program,</a:t>
            </a:r>
          </a:p>
          <a:p>
            <a:r>
              <a:rPr lang="en-US" dirty="0">
                <a:latin typeface="Times New Roman" panose="02020603050405020304" pitchFamily="18" charset="0"/>
                <a:cs typeface="Times New Roman" panose="02020603050405020304" pitchFamily="18" charset="0"/>
              </a:rPr>
              <a:t>Component creation</a:t>
            </a:r>
          </a:p>
          <a:p>
            <a:r>
              <a:rPr lang="en-US" dirty="0">
                <a:latin typeface="Times New Roman" panose="02020603050405020304" pitchFamily="18" charset="0"/>
                <a:cs typeface="Times New Roman" panose="02020603050405020304" pitchFamily="18" charset="0"/>
              </a:rPr>
              <a:t>Component indexing and storing</a:t>
            </a:r>
          </a:p>
          <a:p>
            <a:r>
              <a:rPr lang="en-US" dirty="0">
                <a:latin typeface="Times New Roman" panose="02020603050405020304" pitchFamily="18" charset="0"/>
                <a:cs typeface="Times New Roman" panose="02020603050405020304" pitchFamily="18" charset="0"/>
              </a:rPr>
              <a:t>Component search</a:t>
            </a:r>
          </a:p>
          <a:p>
            <a:r>
              <a:rPr lang="en-US" dirty="0">
                <a:latin typeface="Times New Roman" panose="02020603050405020304" pitchFamily="18" charset="0"/>
                <a:cs typeface="Times New Roman" panose="02020603050405020304" pitchFamily="18" charset="0"/>
              </a:rPr>
              <a:t>Component understanding</a:t>
            </a:r>
          </a:p>
          <a:p>
            <a:r>
              <a:rPr lang="en-US" dirty="0">
                <a:latin typeface="Times New Roman" panose="02020603050405020304" pitchFamily="18" charset="0"/>
                <a:cs typeface="Times New Roman" panose="02020603050405020304" pitchFamily="18" charset="0"/>
              </a:rPr>
              <a:t>Component adaptation</a:t>
            </a:r>
          </a:p>
          <a:p>
            <a:r>
              <a:rPr lang="en-US" dirty="0">
                <a:latin typeface="Times New Roman" panose="02020603050405020304" pitchFamily="18" charset="0"/>
                <a:cs typeface="Times New Roman" panose="02020603050405020304" pitchFamily="18" charset="0"/>
              </a:rPr>
              <a:t>Repository maintenance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D3271A06-92AD-BD5A-DE86-F796CFB0E68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Basic issues in any reuse program</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Component creation</a:t>
            </a:r>
          </a:p>
          <a:p>
            <a:pPr algn="just"/>
            <a:r>
              <a:rPr lang="en-US" dirty="0">
                <a:latin typeface="Times New Roman" panose="02020603050405020304" pitchFamily="18" charset="0"/>
                <a:cs typeface="Times New Roman" panose="02020603050405020304" pitchFamily="18" charset="0"/>
              </a:rPr>
              <a:t>The reusable components have to be first identified. The selection of the correct kind of components having the potential for reuse is best.</a:t>
            </a:r>
          </a:p>
          <a:p>
            <a:pPr algn="just"/>
            <a:r>
              <a:rPr lang="en-US" b="1" dirty="0">
                <a:latin typeface="Times New Roman" panose="02020603050405020304" pitchFamily="18" charset="0"/>
                <a:cs typeface="Times New Roman" panose="02020603050405020304" pitchFamily="18" charset="0"/>
              </a:rPr>
              <a:t>Component indexing and storing</a:t>
            </a:r>
          </a:p>
          <a:p>
            <a:pPr algn="just"/>
            <a:r>
              <a:rPr lang="en-US" dirty="0">
                <a:latin typeface="Times New Roman" panose="02020603050405020304" pitchFamily="18" charset="0"/>
                <a:cs typeface="Times New Roman" panose="02020603050405020304" pitchFamily="18" charset="0"/>
              </a:rPr>
              <a:t>Indexing requires classification of the again usable components so that they can be easily found when looking for a component for reuse. The components need to be stored in a Relational Database Management System (RDBMS) or an Object-Oriented Database System (ODBMS) for efficient access when the number of components becomes large.</a:t>
            </a:r>
          </a:p>
          <a:p>
            <a:pPr algn="just"/>
            <a:endParaRPr lang="en-US" dirty="0"/>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E7C20ABE-DD59-1C53-3FE8-2B43D78190B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Basic issues in any reuse program</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Component searching</a:t>
            </a:r>
          </a:p>
          <a:p>
            <a:pPr algn="just"/>
            <a:r>
              <a:rPr lang="en-US" dirty="0">
                <a:latin typeface="Times New Roman" panose="02020603050405020304" pitchFamily="18" charset="0"/>
                <a:cs typeface="Times New Roman" panose="02020603050405020304" pitchFamily="18" charset="0"/>
              </a:rPr>
              <a:t>The programmers need to search for correct components matching their needs in a database of components. To be able to search components efficiently, the programmers require a perfect method to tells the components that they are looking for.</a:t>
            </a:r>
          </a:p>
          <a:p>
            <a:pPr algn="just"/>
            <a:r>
              <a:rPr lang="en-US" b="1" dirty="0">
                <a:latin typeface="Times New Roman" panose="02020603050405020304" pitchFamily="18" charset="0"/>
                <a:cs typeface="Times New Roman" panose="02020603050405020304" pitchFamily="18" charset="0"/>
              </a:rPr>
              <a:t>Component understanding</a:t>
            </a:r>
          </a:p>
          <a:p>
            <a:pPr algn="just"/>
            <a:r>
              <a:rPr lang="en-US" dirty="0">
                <a:latin typeface="Times New Roman" panose="02020603050405020304" pitchFamily="18" charset="0"/>
                <a:cs typeface="Times New Roman" panose="02020603050405020304" pitchFamily="18" charset="0"/>
              </a:rPr>
              <a:t>The programmers need a prefect and sufficiently complete understanding of what the component does to be able to decide whether they can reuse the component or not. To understand, the components should be well documented and should do something simple in the code.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1B220F7E-F26E-58ED-D0A8-6307130A04A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Basic issues in any reuse program</a:t>
            </a:r>
            <a:br>
              <a:rPr lang="en-US" dirty="0"/>
            </a:br>
            <a:endParaRPr lang="en-US" dirty="0"/>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Component adaptation</a:t>
            </a:r>
          </a:p>
          <a:p>
            <a:pPr algn="just"/>
            <a:r>
              <a:rPr lang="en-US" dirty="0">
                <a:latin typeface="Times New Roman" panose="02020603050405020304" pitchFamily="18" charset="0"/>
                <a:cs typeface="Times New Roman" panose="02020603050405020304" pitchFamily="18" charset="0"/>
              </a:rPr>
              <a:t>Before they can be reused, the components may need adaptation, since a selected component may not exactly be mixed the problem at hand. However, tinkering with the code is also not the best solution because this is very likely to be a source of faults.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2FDCBD84-5F56-2CF8-762D-8A99E2116E5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Basic issues in any reuse program</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Repository maintenance</a:t>
            </a:r>
          </a:p>
          <a:p>
            <a:pPr algn="just"/>
            <a:r>
              <a:rPr lang="en-US" dirty="0">
                <a:latin typeface="Times New Roman" panose="02020603050405020304" pitchFamily="18" charset="0"/>
                <a:cs typeface="Times New Roman" panose="02020603050405020304" pitchFamily="18" charset="0"/>
              </a:rPr>
              <a:t>It once is created requires repeated maintenance. New components, as and when made have to be entered inside the repository. The faulty components have to be followed.</a:t>
            </a:r>
          </a:p>
          <a:p>
            <a:pPr algn="just"/>
            <a:r>
              <a:rPr lang="en-US" dirty="0">
                <a:latin typeface="Times New Roman" panose="02020603050405020304" pitchFamily="18" charset="0"/>
                <a:cs typeface="Times New Roman" panose="02020603050405020304" pitchFamily="18" charset="0"/>
              </a:rPr>
              <a:t>Further, when new applications mixed, the older applications become obsolete. In this case, the obsolete components might have to be deleted from the repository.</a:t>
            </a:r>
          </a:p>
          <a:p>
            <a:r>
              <a:rPr lang="en-US" b="1" dirty="0">
                <a:latin typeface="Times New Roman" panose="02020603050405020304" pitchFamily="18" charset="0"/>
                <a:cs typeface="Times New Roman" panose="02020603050405020304" pitchFamily="18" charset="0"/>
              </a:rPr>
              <a:t>Domain analysis</a:t>
            </a:r>
          </a:p>
          <a:p>
            <a:r>
              <a:rPr lang="en-US" dirty="0">
                <a:latin typeface="Times New Roman" panose="02020603050405020304" pitchFamily="18" charset="0"/>
                <a:cs typeface="Times New Roman" panose="02020603050405020304" pitchFamily="18" charset="0"/>
              </a:rPr>
              <a:t>The aim is to find the reusable pieces for a problem domain.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3A192B0D-1321-3EDC-F2B4-BC15B841250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Advantages of software reuse</a:t>
            </a:r>
            <a:br>
              <a:rPr lang="en-US" dirty="0"/>
            </a:br>
            <a:endParaRPr lang="en-US" dirty="0"/>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Software products are costly.</a:t>
            </a:r>
          </a:p>
          <a:p>
            <a:r>
              <a:rPr lang="en-US" dirty="0">
                <a:latin typeface="Times New Roman" panose="02020603050405020304" pitchFamily="18" charset="0"/>
                <a:cs typeface="Times New Roman" panose="02020603050405020304" pitchFamily="18" charset="0"/>
              </a:rPr>
              <a:t>Software project managers are worried about the expensive software development and are desperately find for ways to cut development cost are,</a:t>
            </a:r>
          </a:p>
          <a:p>
            <a:pPr lvl="1"/>
            <a:r>
              <a:rPr lang="en-US" sz="2800" dirty="0">
                <a:latin typeface="Times New Roman" panose="02020603050405020304" pitchFamily="18" charset="0"/>
                <a:cs typeface="Times New Roman" panose="02020603050405020304" pitchFamily="18" charset="0"/>
              </a:rPr>
              <a:t>A possible way to reduce development costs is to use parts again from previously developed software.</a:t>
            </a:r>
          </a:p>
          <a:p>
            <a:pPr lvl="1"/>
            <a:r>
              <a:rPr lang="en-US" sz="2800" dirty="0">
                <a:latin typeface="Times New Roman" panose="02020603050405020304" pitchFamily="18" charset="0"/>
                <a:cs typeface="Times New Roman" panose="02020603050405020304" pitchFamily="18" charset="0"/>
              </a:rPr>
              <a:t>In addition to decrease development cost and time, use again also leads to the higher quality of the developed products.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ACF3EE2E-E83A-CA91-9855-C9F2BE99E75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b="1" dirty="0">
                <a:latin typeface="Times New Roman" panose="02020603050405020304" pitchFamily="18" charset="0"/>
                <a:cs typeface="Times New Roman" panose="02020603050405020304" pitchFamily="18" charset="0"/>
              </a:rPr>
              <a:t>The reuse approach</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Although reuse is often simply thought of as the reuse of system components, there are many different approaches to reuse that may be used. </a:t>
            </a:r>
          </a:p>
          <a:p>
            <a:pPr algn="just"/>
            <a:r>
              <a:rPr lang="en-US" dirty="0">
                <a:latin typeface="Times New Roman" panose="02020603050405020304" pitchFamily="18" charset="0"/>
                <a:cs typeface="Times New Roman" panose="02020603050405020304" pitchFamily="18" charset="0"/>
              </a:rPr>
              <a:t>Reuse is possible at a range of levels from simple functions to complete application systems.</a:t>
            </a:r>
          </a:p>
          <a:p>
            <a:pPr algn="just"/>
            <a:r>
              <a:rPr lang="en-US" dirty="0">
                <a:latin typeface="Times New Roman" panose="02020603050405020304" pitchFamily="18" charset="0"/>
                <a:cs typeface="Times New Roman" panose="02020603050405020304" pitchFamily="18" charset="0"/>
              </a:rPr>
              <a:t> The reuse landscape covers the range of possible reuse techniques.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809A4593-638F-9A8F-E3EF-F4718666826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47106" name="Picture 2"/>
          <p:cNvPicPr>
            <a:picLocks noChangeAspect="1" noChangeArrowheads="1"/>
          </p:cNvPicPr>
          <p:nvPr/>
        </p:nvPicPr>
        <p:blipFill>
          <a:blip r:embed="rId2"/>
          <a:srcRect/>
          <a:stretch>
            <a:fillRect/>
          </a:stretch>
        </p:blipFill>
        <p:spPr bwMode="auto">
          <a:xfrm>
            <a:off x="933450" y="1043492"/>
            <a:ext cx="10254450" cy="5312858"/>
          </a:xfrm>
          <a:prstGeom prst="rect">
            <a:avLst/>
          </a:prstGeom>
          <a:noFill/>
          <a:ln w="9525">
            <a:noFill/>
            <a:miter lim="800000"/>
            <a:headEnd/>
            <a:tailEnd/>
          </a:ln>
          <a:effectLst/>
        </p:spPr>
      </p:pic>
      <p:sp>
        <p:nvSpPr>
          <p:cNvPr id="5" name="Footer Placeholder 9">
            <a:extLst>
              <a:ext uri="{FF2B5EF4-FFF2-40B4-BE49-F238E27FC236}">
                <a16:creationId xmlns:a16="http://schemas.microsoft.com/office/drawing/2014/main" id="{50FCE475-E0F4-187A-EA91-F09A2E6F495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b="1" dirty="0">
                <a:latin typeface="Times New Roman" panose="02020603050405020304" pitchFamily="18" charset="0"/>
                <a:cs typeface="Times New Roman" panose="02020603050405020304" pitchFamily="18" charset="0"/>
              </a:rPr>
              <a:t>The reuse approach</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Key factors for reuse planning:</a:t>
            </a:r>
          </a:p>
          <a:p>
            <a:r>
              <a:rPr lang="en-US" dirty="0">
                <a:latin typeface="Times New Roman" panose="02020603050405020304" pitchFamily="18" charset="0"/>
                <a:cs typeface="Times New Roman" panose="02020603050405020304" pitchFamily="18" charset="0"/>
              </a:rPr>
              <a:t>The development schedule for the software.</a:t>
            </a:r>
          </a:p>
          <a:p>
            <a:r>
              <a:rPr lang="en-US" dirty="0">
                <a:latin typeface="Times New Roman" panose="02020603050405020304" pitchFamily="18" charset="0"/>
                <a:cs typeface="Times New Roman" panose="02020603050405020304" pitchFamily="18" charset="0"/>
              </a:rPr>
              <a:t>The expected software lifetime.</a:t>
            </a:r>
          </a:p>
          <a:p>
            <a:r>
              <a:rPr lang="en-US" dirty="0">
                <a:latin typeface="Times New Roman" panose="02020603050405020304" pitchFamily="18" charset="0"/>
                <a:cs typeface="Times New Roman" panose="02020603050405020304" pitchFamily="18" charset="0"/>
              </a:rPr>
              <a:t>The background, skills and experience of the development team.</a:t>
            </a:r>
          </a:p>
          <a:p>
            <a:r>
              <a:rPr lang="en-US" dirty="0">
                <a:latin typeface="Times New Roman" panose="02020603050405020304" pitchFamily="18" charset="0"/>
                <a:cs typeface="Times New Roman" panose="02020603050405020304" pitchFamily="18" charset="0"/>
              </a:rPr>
              <a:t>The criticality of the software and its non-functional requirements.</a:t>
            </a:r>
          </a:p>
          <a:p>
            <a:r>
              <a:rPr lang="en-US" dirty="0">
                <a:latin typeface="Times New Roman" panose="02020603050405020304" pitchFamily="18" charset="0"/>
                <a:cs typeface="Times New Roman" panose="02020603050405020304" pitchFamily="18" charset="0"/>
              </a:rPr>
              <a:t>The application domain.</a:t>
            </a:r>
          </a:p>
          <a:p>
            <a:r>
              <a:rPr lang="en-US" dirty="0">
                <a:latin typeface="Times New Roman" panose="02020603050405020304" pitchFamily="18" charset="0"/>
                <a:cs typeface="Times New Roman" panose="02020603050405020304" pitchFamily="18" charset="0"/>
              </a:rPr>
              <a:t>The execution platform for the software.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Footer Placeholder 9">
            <a:extLst>
              <a:ext uri="{FF2B5EF4-FFF2-40B4-BE49-F238E27FC236}">
                <a16:creationId xmlns:a16="http://schemas.microsoft.com/office/drawing/2014/main" id="{DF38E041-BEE6-5028-0A9F-1B13B2B5473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18</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359FC15A-BFB8-9B6A-AAEE-3A371C84533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1634</TotalTime>
  <Words>1249</Words>
  <Application>Microsoft Macintosh PowerPoint</Application>
  <PresentationFormat>Widescreen</PresentationFormat>
  <Paragraphs>130</Paragraphs>
  <Slides>18</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7"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Chapter-9 Software Maintenance and Reuse</vt:lpstr>
      <vt:lpstr> Software Reverse Engineering </vt:lpstr>
      <vt:lpstr>Software Reverse Engineering</vt:lpstr>
      <vt:lpstr>Reverse Engineering Goals</vt:lpstr>
      <vt:lpstr>Steps of Software Reverse Engineering</vt:lpstr>
      <vt:lpstr>Steps of Software Reverse Engineering</vt:lpstr>
      <vt:lpstr>Software Reuse</vt:lpstr>
      <vt:lpstr> Basic issues in any reuse program </vt:lpstr>
      <vt:lpstr> Basic issues in any reuse program </vt:lpstr>
      <vt:lpstr> Basic issues in any reuse program </vt:lpstr>
      <vt:lpstr> Basic issues in any reuse program </vt:lpstr>
      <vt:lpstr> Basic issues in any reuse program </vt:lpstr>
      <vt:lpstr> Advantages of software reuse </vt:lpstr>
      <vt:lpstr>The reuse approach</vt:lpstr>
      <vt:lpstr>PowerPoint Presentation</vt:lpstr>
      <vt:lpstr>The reuse approach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232</cp:revision>
  <dcterms:created xsi:type="dcterms:W3CDTF">2019-01-09T10:33:58Z</dcterms:created>
  <dcterms:modified xsi:type="dcterms:W3CDTF">2024-12-24T06:06:49Z</dcterms:modified>
</cp:coreProperties>
</file>