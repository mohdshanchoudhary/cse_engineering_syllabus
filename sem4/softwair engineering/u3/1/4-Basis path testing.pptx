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2"/>
  </p:notesMasterIdLst>
  <p:handoutMasterIdLst>
    <p:handoutMasterId r:id="rId23"/>
  </p:handoutMasterIdLst>
  <p:sldIdLst>
    <p:sldId id="662" r:id="rId3"/>
    <p:sldId id="280" r:id="rId4"/>
    <p:sldId id="327" r:id="rId5"/>
    <p:sldId id="341" r:id="rId6"/>
    <p:sldId id="340" r:id="rId7"/>
    <p:sldId id="339" r:id="rId8"/>
    <p:sldId id="338" r:id="rId9"/>
    <p:sldId id="337" r:id="rId10"/>
    <p:sldId id="336" r:id="rId11"/>
    <p:sldId id="335" r:id="rId12"/>
    <p:sldId id="334" r:id="rId13"/>
    <p:sldId id="333" r:id="rId14"/>
    <p:sldId id="332" r:id="rId15"/>
    <p:sldId id="331" r:id="rId16"/>
    <p:sldId id="330" r:id="rId17"/>
    <p:sldId id="329" r:id="rId18"/>
    <p:sldId id="328" r:id="rId19"/>
    <p:sldId id="326" r:id="rId20"/>
    <p:sldId id="27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29" autoAdjust="0"/>
    <p:restoredTop sz="94660"/>
  </p:normalViewPr>
  <p:slideViewPr>
    <p:cSldViewPr snapToGrid="0">
      <p:cViewPr varScale="1">
        <p:scale>
          <a:sx n="118" d="100"/>
          <a:sy n="118" d="100"/>
        </p:scale>
        <p:origin x="464" y="200"/>
      </p:cViewPr>
      <p:guideLst>
        <p:guide orient="horz" pos="2160"/>
        <p:guide pos="3840"/>
      </p:guideLst>
    </p:cSldViewPr>
  </p:slideViewPr>
  <p:notesTextViewPr>
    <p:cViewPr>
      <p:scale>
        <a:sx n="1" d="1"/>
        <a:sy n="1" d="1"/>
      </p:scale>
      <p:origin x="0" y="0"/>
    </p:cViewPr>
  </p:notesTextViewPr>
  <p:sorterViewPr>
    <p:cViewPr>
      <p:scale>
        <a:sx n="66" d="100"/>
        <a:sy n="66" d="100"/>
      </p:scale>
      <p:origin x="0" y="321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Er. Jagmeet Kaur, Asst. Prof., CSE, Chandigarh University</a:t>
            </a:r>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Er. Jagmeet Kaur, Asst. Prof., CSE, Chandigarh University</a:t>
            </a:r>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Er. Jagmeet Kaur, Asst. Prof., CSE, Chandigarh University</a:t>
            </a:r>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Er. Jagmeet Kaur, Asst. Prof., CSE, Chandigarh University</a:t>
            </a: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Er. Jagmeet Kaur, Asst. Prof., CSE, Chandigarh University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0C8A416E-51F9-109A-CF17-9BB350C33674}"/>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descr="National Board of Accreditation - Wikipedia">
            <a:extLst>
              <a:ext uri="{FF2B5EF4-FFF2-40B4-BE49-F238E27FC236}">
                <a16:creationId xmlns:a16="http://schemas.microsoft.com/office/drawing/2014/main" id="{906B7C02-E112-8507-DCAB-122C5A950AC8}"/>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pic>
        <p:nvPicPr>
          <p:cNvPr id="9" name="Picture 8">
            <a:extLst>
              <a:ext uri="{FF2B5EF4-FFF2-40B4-BE49-F238E27FC236}">
                <a16:creationId xmlns:a16="http://schemas.microsoft.com/office/drawing/2014/main" id="{F9524395-1DB6-5B6A-50F5-0EBDB2DF435F}"/>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geeksforgeeks.org/basis-path-testing-in-software-testing/" TargetMode="External"/><Relationship Id="rId2" Type="http://schemas.openxmlformats.org/officeDocument/2006/relationships/hyperlink" Target="https://www.tutorialspoint.com/software_testing_dictionary/basis_path_testing.htm" TargetMode="External"/><Relationship Id="rId1" Type="http://schemas.openxmlformats.org/officeDocument/2006/relationships/slideLayout" Target="../slideLayouts/slideLayout2.xml"/><Relationship Id="rId5" Type="http://schemas.openxmlformats.org/officeDocument/2006/relationships/hyperlink" Target="https://reqtest.com/testing-blog/basis-path-testing/" TargetMode="External"/><Relationship Id="rId4" Type="http://schemas.openxmlformats.org/officeDocument/2006/relationships/hyperlink" Target="https://www.guru99.com/basis-path-testing.html"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sp>
        <p:nvSpPr>
          <p:cNvPr id="5" name="TextBox 4">
            <a:extLst>
              <a:ext uri="{FF2B5EF4-FFF2-40B4-BE49-F238E27FC236}">
                <a16:creationId xmlns:a16="http://schemas.microsoft.com/office/drawing/2014/main" id="{2A3E7AC5-0170-6A4D-3DDF-A62478ECD17A}"/>
              </a:ext>
            </a:extLst>
          </p:cNvPr>
          <p:cNvSpPr txBox="1"/>
          <p:nvPr/>
        </p:nvSpPr>
        <p:spPr>
          <a:xfrm>
            <a:off x="4719484" y="3934196"/>
            <a:ext cx="2197683" cy="369332"/>
          </a:xfrm>
          <a:prstGeom prst="rect">
            <a:avLst/>
          </a:prstGeom>
          <a:noFill/>
        </p:spPr>
        <p:txBody>
          <a:bodyPr wrap="square">
            <a:spAutoFit/>
          </a:bodyPr>
          <a:lstStyle/>
          <a:p>
            <a:r>
              <a:rPr lang="en-US" b="1" dirty="0"/>
              <a:t>Software Testing</a:t>
            </a:r>
            <a:endParaRPr lang="en-US" dirty="0"/>
          </a:p>
        </p:txBody>
      </p:sp>
      <p:pic>
        <p:nvPicPr>
          <p:cNvPr id="4" name="Picture 3">
            <a:extLst>
              <a:ext uri="{FF2B5EF4-FFF2-40B4-BE49-F238E27FC236}">
                <a16:creationId xmlns:a16="http://schemas.microsoft.com/office/drawing/2014/main" id="{6D96E75A-F74F-2D77-5F7D-29AACD5910A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63793"/>
            <a:ext cx="10515600" cy="1389883"/>
          </a:xfrm>
        </p:spPr>
        <p:txBody>
          <a:bodyPr>
            <a:noAutofit/>
          </a:bodyPr>
          <a:lstStyle/>
          <a:p>
            <a:pPr algn="ctr"/>
            <a:r>
              <a:rPr lang="en-US" sz="3600" dirty="0">
                <a:latin typeface="Times New Roman" panose="02020603050405020304" pitchFamily="18" charset="0"/>
                <a:cs typeface="Times New Roman" pitchFamily="18" charset="0"/>
              </a:rPr>
              <a:t>Chapter-7</a:t>
            </a:r>
            <a:br>
              <a:rPr lang="en-US" sz="3600" dirty="0">
                <a:latin typeface="Times New Roman" panose="02020603050405020304" pitchFamily="18" charset="0"/>
                <a:cs typeface="Times New Roman" pitchFamily="18" charset="0"/>
              </a:rPr>
            </a:br>
            <a:r>
              <a:rPr lang="en-US" sz="3600" b="1" dirty="0">
                <a:latin typeface="Times New Roman" panose="02020603050405020304" pitchFamily="18" charset="0"/>
                <a:cs typeface="Times New Roman" panose="02020603050405020304" pitchFamily="18" charset="0"/>
              </a:rPr>
              <a:t>Software Testing</a:t>
            </a:r>
            <a:endParaRPr lang="en-US" sz="3600" dirty="0">
              <a:latin typeface="Times New Roman" panose="02020603050405020304" pitchFamily="18" charset="0"/>
              <a:cs typeface="Times New Roman" pitchFamily="18" charset="0"/>
            </a:endParaRPr>
          </a:p>
        </p:txBody>
      </p:sp>
      <p:sp>
        <p:nvSpPr>
          <p:cNvPr id="3" name="Content Placeholder 2"/>
          <p:cNvSpPr>
            <a:spLocks noGrp="1"/>
          </p:cNvSpPr>
          <p:nvPr>
            <p:ph idx="1"/>
          </p:nvPr>
        </p:nvSpPr>
        <p:spPr>
          <a:xfrm>
            <a:off x="838200" y="2158439"/>
            <a:ext cx="10515600" cy="4018523"/>
          </a:xfrm>
        </p:spPr>
        <p:txBody>
          <a:bodyPr>
            <a:normAutofit/>
          </a:bodyPr>
          <a:lstStyle/>
          <a:p>
            <a:pPr>
              <a:lnSpc>
                <a:spcPct val="150000"/>
              </a:lnSpc>
            </a:pPr>
            <a:endParaRPr lang="en-US" sz="2400" dirty="0">
              <a:latin typeface="Times New Roman" pitchFamily="18" charset="0"/>
              <a:cs typeface="Times New Roman" pitchFamily="18" charset="0"/>
            </a:endParaRPr>
          </a:p>
          <a:p>
            <a:pPr>
              <a:lnSpc>
                <a:spcPct val="150000"/>
              </a:lnSpc>
            </a:pPr>
            <a:r>
              <a:rPr lang="en-US" sz="2400" dirty="0">
                <a:latin typeface="Times New Roman" pitchFamily="18" charset="0"/>
                <a:cs typeface="Times New Roman" pitchFamily="18" charset="0"/>
              </a:rPr>
              <a:t>Basis Path Testing</a:t>
            </a:r>
          </a:p>
        </p:txBody>
      </p:sp>
      <p:sp>
        <p:nvSpPr>
          <p:cNvPr id="5" name="Rectangle 4"/>
          <p:cNvSpPr/>
          <p:nvPr/>
        </p:nvSpPr>
        <p:spPr>
          <a:xfrm>
            <a:off x="838200" y="2173044"/>
            <a:ext cx="10515600" cy="399915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07720" y="871369"/>
            <a:ext cx="10515600" cy="128230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Tree>
    <p:extLst>
      <p:ext uri="{BB962C8B-B14F-4D97-AF65-F5344CB8AC3E}">
        <p14:creationId xmlns:p14="http://schemas.microsoft.com/office/powerpoint/2010/main" val="82370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fontScale="90000"/>
          </a:bodyPr>
          <a:lstStyle/>
          <a:p>
            <a:br>
              <a:rPr lang="en-US" dirty="0"/>
            </a:br>
            <a:r>
              <a:rPr lang="en-US" dirty="0">
                <a:latin typeface="Times New Roman" panose="02020603050405020304" pitchFamily="18" charset="0"/>
                <a:cs typeface="Times New Roman" panose="02020603050405020304" pitchFamily="18" charset="0"/>
              </a:rPr>
              <a:t>Basis Path Testing</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Basis path testing, a structured testing or white box testing technique used for designing test cases intended to examine all possible paths of execution at least once.</a:t>
            </a:r>
          </a:p>
          <a:p>
            <a:pPr algn="just"/>
            <a:r>
              <a:rPr lang="en-US" dirty="0">
                <a:latin typeface="Times New Roman" panose="02020603050405020304" pitchFamily="18" charset="0"/>
                <a:cs typeface="Times New Roman" panose="02020603050405020304" pitchFamily="18" charset="0"/>
              </a:rPr>
              <a:t> Creating and executing tests for all possible paths results in 100% statement coverage and 100% branch coverage.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Basis Path Testing</a:t>
            </a:r>
            <a:br>
              <a:rPr lang="en-US" dirty="0"/>
            </a:br>
            <a:endParaRPr lang="en-US" dirty="0"/>
          </a:p>
        </p:txBody>
      </p:sp>
      <p:sp>
        <p:nvSpPr>
          <p:cNvPr id="3" name="Content Placeholder 2"/>
          <p:cNvSpPr>
            <a:spLocks noGrp="1"/>
          </p:cNvSpPr>
          <p:nvPr>
            <p:ph idx="1"/>
          </p:nvPr>
        </p:nvSpPr>
        <p:spPr/>
        <p:txBody>
          <a:bodyPr/>
          <a:lstStyle/>
          <a:p>
            <a:pPr algn="just" fontAlgn="base"/>
            <a:r>
              <a:rPr lang="en-US" b="1" dirty="0">
                <a:latin typeface="Times New Roman" panose="02020603050405020304" pitchFamily="18" charset="0"/>
                <a:cs typeface="Times New Roman" panose="02020603050405020304" pitchFamily="18" charset="0"/>
              </a:rPr>
              <a:t>Basis Path Testing</a:t>
            </a:r>
            <a:r>
              <a:rPr lang="en-US" dirty="0">
                <a:latin typeface="Times New Roman" panose="02020603050405020304" pitchFamily="18" charset="0"/>
                <a:cs typeface="Times New Roman" panose="02020603050405020304" pitchFamily="18" charset="0"/>
              </a:rPr>
              <a:t> is a white-box testing technique based on the control structure of a program or a module.</a:t>
            </a:r>
          </a:p>
          <a:p>
            <a:pPr algn="just" fontAlgn="base"/>
            <a:r>
              <a:rPr lang="en-US" dirty="0">
                <a:latin typeface="Times New Roman" panose="02020603050405020304" pitchFamily="18" charset="0"/>
                <a:cs typeface="Times New Roman" panose="02020603050405020304" pitchFamily="18" charset="0"/>
              </a:rPr>
              <a:t> Using this structure, a control flow graph is prepared and the various possible paths present in the graph are executed as a part of testing. Therefore, by definition,</a:t>
            </a:r>
          </a:p>
          <a:p>
            <a:pPr algn="just" fontAlgn="base"/>
            <a:r>
              <a:rPr lang="en-US" dirty="0">
                <a:latin typeface="Times New Roman" panose="02020603050405020304" pitchFamily="18" charset="0"/>
                <a:cs typeface="Times New Roman" panose="02020603050405020304" pitchFamily="18" charset="0"/>
              </a:rPr>
              <a:t>Basis path testing is a technique of selecting the paths in the control flow graph, that provide a basis set of execution paths through the program or module.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Basis Path Testing</a:t>
            </a:r>
            <a:br>
              <a:rPr lang="en-US"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fontAlgn="base"/>
            <a:r>
              <a:rPr lang="en-US" dirty="0">
                <a:latin typeface="Times New Roman" panose="02020603050405020304" pitchFamily="18" charset="0"/>
                <a:cs typeface="Times New Roman" panose="02020603050405020304" pitchFamily="18" charset="0"/>
              </a:rPr>
              <a:t>Since this testing is based on the control structure of the program, it requires complete knowledge of the program’s structure. To design test cases using this technique, four steps are followed :</a:t>
            </a:r>
          </a:p>
          <a:p>
            <a:pPr fontAlgn="base"/>
            <a:r>
              <a:rPr lang="en-US" dirty="0">
                <a:latin typeface="Times New Roman" panose="02020603050405020304" pitchFamily="18" charset="0"/>
                <a:cs typeface="Times New Roman" panose="02020603050405020304" pitchFamily="18" charset="0"/>
              </a:rPr>
              <a:t>Construct the Control Flow Graph</a:t>
            </a:r>
          </a:p>
          <a:p>
            <a:pPr fontAlgn="base"/>
            <a:r>
              <a:rPr lang="en-US" dirty="0">
                <a:latin typeface="Times New Roman" panose="02020603050405020304" pitchFamily="18" charset="0"/>
                <a:cs typeface="Times New Roman" panose="02020603050405020304" pitchFamily="18" charset="0"/>
              </a:rPr>
              <a:t>Compute the </a:t>
            </a:r>
            <a:r>
              <a:rPr lang="en-US" dirty="0" err="1">
                <a:latin typeface="Times New Roman" panose="02020603050405020304" pitchFamily="18" charset="0"/>
                <a:cs typeface="Times New Roman" panose="02020603050405020304" pitchFamily="18" charset="0"/>
              </a:rPr>
              <a:t>Cyclomatic</a:t>
            </a:r>
            <a:r>
              <a:rPr lang="en-US" dirty="0">
                <a:latin typeface="Times New Roman" panose="02020603050405020304" pitchFamily="18" charset="0"/>
                <a:cs typeface="Times New Roman" panose="02020603050405020304" pitchFamily="18" charset="0"/>
              </a:rPr>
              <a:t> Complexity of the Graph</a:t>
            </a:r>
          </a:p>
          <a:p>
            <a:pPr fontAlgn="base"/>
            <a:r>
              <a:rPr lang="en-US" dirty="0">
                <a:latin typeface="Times New Roman" panose="02020603050405020304" pitchFamily="18" charset="0"/>
                <a:cs typeface="Times New Roman" panose="02020603050405020304" pitchFamily="18" charset="0"/>
              </a:rPr>
              <a:t>Identify the Independent Paths</a:t>
            </a:r>
          </a:p>
          <a:p>
            <a:pPr fontAlgn="base"/>
            <a:r>
              <a:rPr lang="en-US" dirty="0">
                <a:latin typeface="Times New Roman" panose="02020603050405020304" pitchFamily="18" charset="0"/>
                <a:cs typeface="Times New Roman" panose="02020603050405020304" pitchFamily="18" charset="0"/>
              </a:rPr>
              <a:t>Design Test cases from Independent Paths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6824"/>
            <a:ext cx="10515600" cy="883864"/>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Basis Path Testing (Notations)</a:t>
            </a:r>
            <a:br>
              <a:rPr lang="en-US" dirty="0"/>
            </a:br>
            <a:endParaRPr lang="en-US" dirty="0"/>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Control Flow Graph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control flow graph (or simply, flow graph) is a directed graph which represents the control structure of a program or module. A control flow graph (V, E) has V number of nodes/vertices and E number of edges in it. A control graph can also have :</a:t>
            </a:r>
          </a:p>
          <a:p>
            <a:pPr fontAlgn="base"/>
            <a:r>
              <a:rPr lang="en-US" b="1" dirty="0">
                <a:latin typeface="Times New Roman" panose="02020603050405020304" pitchFamily="18" charset="0"/>
                <a:cs typeface="Times New Roman" panose="02020603050405020304" pitchFamily="18" charset="0"/>
              </a:rPr>
              <a:t>Junction Node –</a:t>
            </a:r>
            <a:r>
              <a:rPr lang="en-US" dirty="0">
                <a:latin typeface="Times New Roman" panose="02020603050405020304" pitchFamily="18" charset="0"/>
                <a:cs typeface="Times New Roman" panose="02020603050405020304" pitchFamily="18" charset="0"/>
              </a:rPr>
              <a:t> a node with more than one arrow entering it.</a:t>
            </a:r>
          </a:p>
          <a:p>
            <a:pPr fontAlgn="base"/>
            <a:r>
              <a:rPr lang="en-US" b="1" dirty="0">
                <a:latin typeface="Times New Roman" panose="02020603050405020304" pitchFamily="18" charset="0"/>
                <a:cs typeface="Times New Roman" panose="02020603050405020304" pitchFamily="18" charset="0"/>
              </a:rPr>
              <a:t>Decision Node –</a:t>
            </a:r>
            <a:r>
              <a:rPr lang="en-US" dirty="0">
                <a:latin typeface="Times New Roman" panose="02020603050405020304" pitchFamily="18" charset="0"/>
                <a:cs typeface="Times New Roman" panose="02020603050405020304" pitchFamily="18" charset="0"/>
              </a:rPr>
              <a:t> a node with more than one arrow leaving it.</a:t>
            </a:r>
          </a:p>
          <a:p>
            <a:pPr fontAlgn="base"/>
            <a:r>
              <a:rPr lang="en-US" b="1" dirty="0">
                <a:latin typeface="Times New Roman" panose="02020603050405020304" pitchFamily="18" charset="0"/>
                <a:cs typeface="Times New Roman" panose="02020603050405020304" pitchFamily="18" charset="0"/>
              </a:rPr>
              <a:t>Region –</a:t>
            </a:r>
            <a:r>
              <a:rPr lang="en-US" dirty="0">
                <a:latin typeface="Times New Roman" panose="02020603050405020304" pitchFamily="18" charset="0"/>
                <a:cs typeface="Times New Roman" panose="02020603050405020304" pitchFamily="18" charset="0"/>
              </a:rPr>
              <a:t> area bounded by edges and nodes (area outside the graph is also counted as a region.).</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pic>
        <p:nvPicPr>
          <p:cNvPr id="47106" name="Picture 2"/>
          <p:cNvPicPr>
            <a:picLocks noChangeAspect="1" noChangeArrowheads="1"/>
          </p:cNvPicPr>
          <p:nvPr/>
        </p:nvPicPr>
        <p:blipFill>
          <a:blip r:embed="rId2"/>
          <a:srcRect/>
          <a:stretch>
            <a:fillRect/>
          </a:stretch>
        </p:blipFill>
        <p:spPr bwMode="auto">
          <a:xfrm>
            <a:off x="2343150" y="371474"/>
            <a:ext cx="5981700" cy="5860121"/>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1"/>
            <a:ext cx="10515600" cy="873107"/>
          </a:xfrm>
        </p:spPr>
        <p:txBody>
          <a:bodyPr/>
          <a:lstStyle/>
          <a:p>
            <a:r>
              <a:rPr lang="en-US" dirty="0">
                <a:latin typeface="Times New Roman" panose="02020603050405020304" pitchFamily="18" charset="0"/>
                <a:cs typeface="Times New Roman" panose="02020603050405020304" pitchFamily="18" charset="0"/>
              </a:rPr>
              <a:t>Notations</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Below are the </a:t>
            </a:r>
            <a:r>
              <a:rPr lang="en-US" b="1" dirty="0">
                <a:latin typeface="Times New Roman" panose="02020603050405020304" pitchFamily="18" charset="0"/>
                <a:cs typeface="Times New Roman" panose="02020603050405020304" pitchFamily="18" charset="0"/>
              </a:rPr>
              <a:t>notations </a:t>
            </a:r>
            <a:r>
              <a:rPr lang="en-US" dirty="0">
                <a:latin typeface="Times New Roman" panose="02020603050405020304" pitchFamily="18" charset="0"/>
                <a:cs typeface="Times New Roman" panose="02020603050405020304" pitchFamily="18" charset="0"/>
              </a:rPr>
              <a:t>used while constructing a flow graph :</a:t>
            </a:r>
          </a:p>
          <a:p>
            <a:r>
              <a:rPr lang="en-US" b="1" dirty="0">
                <a:latin typeface="Times New Roman" panose="02020603050405020304" pitchFamily="18" charset="0"/>
                <a:cs typeface="Times New Roman" panose="02020603050405020304" pitchFamily="18" charset="0"/>
              </a:rPr>
              <a:t>Sequential Statements –</a:t>
            </a:r>
            <a:endParaRPr lang="en-US" dirty="0">
              <a:latin typeface="Times New Roman" panose="02020603050405020304" pitchFamily="18" charset="0"/>
              <a:cs typeface="Times New Roman" panose="02020603050405020304" pitchFamily="18" charset="0"/>
            </a:endParaRP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pic>
        <p:nvPicPr>
          <p:cNvPr id="48130" name="Picture 2"/>
          <p:cNvPicPr>
            <a:picLocks noChangeAspect="1" noChangeArrowheads="1"/>
          </p:cNvPicPr>
          <p:nvPr/>
        </p:nvPicPr>
        <p:blipFill>
          <a:blip r:embed="rId2"/>
          <a:srcRect/>
          <a:stretch>
            <a:fillRect/>
          </a:stretch>
        </p:blipFill>
        <p:spPr bwMode="auto">
          <a:xfrm>
            <a:off x="3243263" y="3205163"/>
            <a:ext cx="5362575" cy="2695575"/>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a:bodyPr>
          <a:lstStyle/>
          <a:p>
            <a:r>
              <a:rPr lang="en-US" sz="3600" dirty="0">
                <a:latin typeface="Times New Roman" panose="02020603050405020304" pitchFamily="18" charset="0"/>
                <a:cs typeface="Times New Roman" panose="02020603050405020304" pitchFamily="18" charset="0"/>
              </a:rPr>
              <a:t>Notations</a:t>
            </a:r>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If – Then – Else –</a:t>
            </a:r>
            <a:br>
              <a:rPr lang="en-US" dirty="0"/>
            </a:b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pic>
        <p:nvPicPr>
          <p:cNvPr id="49154" name="Picture 2"/>
          <p:cNvPicPr>
            <a:picLocks noChangeAspect="1" noChangeArrowheads="1"/>
          </p:cNvPicPr>
          <p:nvPr/>
        </p:nvPicPr>
        <p:blipFill>
          <a:blip r:embed="rId2"/>
          <a:srcRect/>
          <a:stretch>
            <a:fillRect/>
          </a:stretch>
        </p:blipFill>
        <p:spPr bwMode="auto">
          <a:xfrm>
            <a:off x="3709988" y="2000250"/>
            <a:ext cx="4657725" cy="415290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1"/>
            <a:ext cx="10515600" cy="873107"/>
          </a:xfrm>
        </p:spPr>
        <p:txBody>
          <a:bodyPr>
            <a:normAutofit/>
          </a:bodyPr>
          <a:lstStyle/>
          <a:p>
            <a:r>
              <a:rPr lang="en-US" sz="3600" dirty="0">
                <a:latin typeface="Times New Roman" panose="02020603050405020304" pitchFamily="18" charset="0"/>
                <a:cs typeface="Times New Roman" panose="02020603050405020304" pitchFamily="18" charset="0"/>
              </a:rPr>
              <a:t>Notations</a:t>
            </a:r>
          </a:p>
        </p:txBody>
      </p:sp>
      <p:sp>
        <p:nvSpPr>
          <p:cNvPr id="3" name="Content Placeholder 2"/>
          <p:cNvSpPr>
            <a:spLocks noGrp="1"/>
          </p:cNvSpPr>
          <p:nvPr>
            <p:ph idx="1"/>
          </p:nvPr>
        </p:nvSpPr>
        <p:spPr/>
        <p:txBody>
          <a:bodyPr/>
          <a:lstStyle/>
          <a:p>
            <a:r>
              <a:rPr lang="en-US" b="1" dirty="0"/>
              <a:t>Do – While –</a:t>
            </a:r>
            <a:br>
              <a:rPr lang="en-US" dirty="0"/>
            </a:b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pic>
        <p:nvPicPr>
          <p:cNvPr id="50178" name="Picture 2"/>
          <p:cNvPicPr>
            <a:picLocks noChangeAspect="1" noChangeArrowheads="1"/>
          </p:cNvPicPr>
          <p:nvPr/>
        </p:nvPicPr>
        <p:blipFill>
          <a:blip r:embed="rId2"/>
          <a:srcRect/>
          <a:stretch>
            <a:fillRect/>
          </a:stretch>
        </p:blipFill>
        <p:spPr bwMode="auto">
          <a:xfrm>
            <a:off x="4257675" y="1433513"/>
            <a:ext cx="3905250" cy="4905375"/>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6824"/>
            <a:ext cx="10515600" cy="883864"/>
          </a:xfrm>
        </p:spPr>
        <p:txBody>
          <a:bodyPr>
            <a:normAutofit/>
          </a:bodyPr>
          <a:lstStyle/>
          <a:p>
            <a:r>
              <a:rPr lang="en-US" sz="3600" dirty="0">
                <a:latin typeface="Times New Roman" panose="02020603050405020304" pitchFamily="18" charset="0"/>
                <a:cs typeface="Times New Roman" panose="02020603050405020304" pitchFamily="18" charset="0"/>
              </a:rPr>
              <a:t>Notations</a:t>
            </a:r>
          </a:p>
        </p:txBody>
      </p:sp>
      <p:sp>
        <p:nvSpPr>
          <p:cNvPr id="3" name="Content Placeholder 2"/>
          <p:cNvSpPr>
            <a:spLocks noGrp="1"/>
          </p:cNvSpPr>
          <p:nvPr>
            <p:ph idx="1"/>
          </p:nvPr>
        </p:nvSpPr>
        <p:spPr>
          <a:xfrm>
            <a:off x="838200" y="1844675"/>
            <a:ext cx="10515600" cy="4351338"/>
          </a:xfrm>
        </p:spPr>
        <p:txBody>
          <a:bodyPr/>
          <a:lstStyle/>
          <a:p>
            <a:r>
              <a:rPr lang="en-US" b="1" dirty="0"/>
              <a:t>Switch – Case</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pic>
        <p:nvPicPr>
          <p:cNvPr id="51202" name="Picture 2"/>
          <p:cNvPicPr>
            <a:picLocks noChangeAspect="1" noChangeArrowheads="1"/>
          </p:cNvPicPr>
          <p:nvPr/>
        </p:nvPicPr>
        <p:blipFill>
          <a:blip r:embed="rId2"/>
          <a:srcRect/>
          <a:stretch>
            <a:fillRect/>
          </a:stretch>
        </p:blipFill>
        <p:spPr bwMode="auto">
          <a:xfrm>
            <a:off x="3614738" y="2005013"/>
            <a:ext cx="5000625" cy="4181475"/>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6824"/>
            <a:ext cx="10515600" cy="883864"/>
          </a:xfrm>
        </p:spPr>
        <p:txBody>
          <a:bodyPr>
            <a:normAutofit/>
          </a:bodyPr>
          <a:lstStyle/>
          <a:p>
            <a:r>
              <a:rPr lang="en-US" sz="3600" b="1" dirty="0" err="1">
                <a:latin typeface="Times New Roman" panose="02020603050405020304" pitchFamily="18" charset="0"/>
                <a:cs typeface="Times New Roman" panose="02020603050405020304" pitchFamily="18" charset="0"/>
              </a:rPr>
              <a:t>Cyclomatic</a:t>
            </a:r>
            <a:r>
              <a:rPr lang="en-US" sz="3600" b="1" dirty="0">
                <a:latin typeface="Times New Roman" panose="02020603050405020304" pitchFamily="18" charset="0"/>
                <a:cs typeface="Times New Roman" panose="02020603050405020304" pitchFamily="18" charset="0"/>
              </a:rPr>
              <a:t> Complexity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fontAlgn="base"/>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cyclomatic</a:t>
            </a:r>
            <a:r>
              <a:rPr lang="en-US" dirty="0">
                <a:latin typeface="Times New Roman" panose="02020603050405020304" pitchFamily="18" charset="0"/>
                <a:cs typeface="Times New Roman" panose="02020603050405020304" pitchFamily="18" charset="0"/>
              </a:rPr>
              <a:t> complexity V(G) is said to be a measure of the logical complexity of a program. It can be calculated using three different formulae :</a:t>
            </a:r>
          </a:p>
          <a:p>
            <a:pPr fontAlgn="base"/>
            <a:r>
              <a:rPr lang="en-US" b="1" dirty="0">
                <a:latin typeface="Times New Roman" panose="02020603050405020304" pitchFamily="18" charset="0"/>
                <a:cs typeface="Times New Roman" panose="02020603050405020304" pitchFamily="18" charset="0"/>
              </a:rPr>
              <a:t>Formula based on edges and nodes :</a:t>
            </a:r>
            <a:r>
              <a:rPr lang="en-US" dirty="0">
                <a:latin typeface="Times New Roman" panose="02020603050405020304" pitchFamily="18" charset="0"/>
                <a:cs typeface="Times New Roman" panose="02020603050405020304" pitchFamily="18" charset="0"/>
              </a:rPr>
              <a:t>V(G) = e - n + 2*P Where,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 is number of edges,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n is number of vertices,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 is number of connected components.</a:t>
            </a:r>
          </a:p>
          <a:p>
            <a:pPr fontAlgn="base"/>
            <a:r>
              <a:rPr lang="en-US" dirty="0">
                <a:latin typeface="Times New Roman" panose="02020603050405020304" pitchFamily="18" charset="0"/>
                <a:cs typeface="Times New Roman" panose="02020603050405020304" pitchFamily="18" charset="0"/>
              </a:rPr>
              <a:t>For example, consider first graph given above,</a:t>
            </a:r>
          </a:p>
          <a:p>
            <a:pPr fontAlgn="base"/>
            <a:r>
              <a:rPr lang="en-US" dirty="0">
                <a:latin typeface="Times New Roman" panose="02020603050405020304" pitchFamily="18" charset="0"/>
                <a:cs typeface="Times New Roman" panose="02020603050405020304" pitchFamily="18" charset="0"/>
              </a:rPr>
              <a:t>where, e = 4, n = 4 and p = 1 So, </a:t>
            </a:r>
            <a:r>
              <a:rPr lang="en-US" dirty="0" err="1">
                <a:latin typeface="Times New Roman" panose="02020603050405020304" pitchFamily="18" charset="0"/>
                <a:cs typeface="Times New Roman" panose="02020603050405020304" pitchFamily="18" charset="0"/>
              </a:rPr>
              <a:t>Cyclomatic</a:t>
            </a:r>
            <a:r>
              <a:rPr lang="en-US" dirty="0">
                <a:latin typeface="Times New Roman" panose="02020603050405020304" pitchFamily="18" charset="0"/>
                <a:cs typeface="Times New Roman" panose="02020603050405020304" pitchFamily="18" charset="0"/>
              </a:rPr>
              <a:t> complexity V(G) = 4 - 4 + 2 * 1 = 2 </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normAutofit/>
          </a:bodyPr>
          <a:lstStyle/>
          <a:p>
            <a:r>
              <a:rPr lang="en-US" sz="3600" b="1" dirty="0" err="1">
                <a:latin typeface="Times New Roman" panose="02020603050405020304" pitchFamily="18" charset="0"/>
                <a:cs typeface="Times New Roman" panose="02020603050405020304" pitchFamily="18" charset="0"/>
              </a:rPr>
              <a:t>Cyclomatic</a:t>
            </a:r>
            <a:r>
              <a:rPr lang="en-US" sz="3600" b="1" dirty="0">
                <a:latin typeface="Times New Roman" panose="02020603050405020304" pitchFamily="18" charset="0"/>
                <a:cs typeface="Times New Roman" panose="02020603050405020304" pitchFamily="18" charset="0"/>
              </a:rPr>
              <a:t> Complexity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fontAlgn="base"/>
            <a:r>
              <a:rPr lang="en-US" b="1" dirty="0">
                <a:latin typeface="Times New Roman" panose="02020603050405020304" pitchFamily="18" charset="0"/>
                <a:cs typeface="Times New Roman" panose="02020603050405020304" pitchFamily="18" charset="0"/>
              </a:rPr>
              <a:t>Formula based on Decision Nodes :</a:t>
            </a:r>
          </a:p>
          <a:p>
            <a:pPr fontAlgn="base"/>
            <a:r>
              <a:rPr lang="en-US" dirty="0">
                <a:latin typeface="Times New Roman" panose="02020603050405020304" pitchFamily="18" charset="0"/>
                <a:cs typeface="Times New Roman" panose="02020603050405020304" pitchFamily="18" charset="0"/>
              </a:rPr>
              <a:t>V(G) = d + P where,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 is number of decision nodes,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 is number of connected nodes.</a:t>
            </a:r>
          </a:p>
          <a:p>
            <a:pPr fontAlgn="base"/>
            <a:r>
              <a:rPr lang="en-US" dirty="0">
                <a:latin typeface="Times New Roman" panose="02020603050405020304" pitchFamily="18" charset="0"/>
                <a:cs typeface="Times New Roman" panose="02020603050405020304" pitchFamily="18" charset="0"/>
              </a:rPr>
              <a:t>For example, consider first graph given above,</a:t>
            </a:r>
          </a:p>
          <a:p>
            <a:r>
              <a:rPr lang="en-US" dirty="0">
                <a:latin typeface="Times New Roman" panose="02020603050405020304" pitchFamily="18" charset="0"/>
                <a:cs typeface="Times New Roman" panose="02020603050405020304" pitchFamily="18" charset="0"/>
              </a:rPr>
              <a:t>where, d = 1 and p = 1 So, </a:t>
            </a:r>
            <a:r>
              <a:rPr lang="en-US" dirty="0" err="1">
                <a:latin typeface="Times New Roman" panose="02020603050405020304" pitchFamily="18" charset="0"/>
                <a:cs typeface="Times New Roman" panose="02020603050405020304" pitchFamily="18" charset="0"/>
              </a:rPr>
              <a:t>Cyclomatic</a:t>
            </a:r>
            <a:r>
              <a:rPr lang="en-US" dirty="0">
                <a:latin typeface="Times New Roman" panose="02020603050405020304" pitchFamily="18" charset="0"/>
                <a:cs typeface="Times New Roman" panose="02020603050405020304" pitchFamily="18" charset="0"/>
              </a:rPr>
              <a:t> Complexity V(G) = 1 + 1 = 2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a:bodyPr>
          <a:lstStyle/>
          <a:p>
            <a:r>
              <a:rPr lang="en-US" sz="3600" b="1" dirty="0" err="1">
                <a:latin typeface="Times New Roman" panose="02020603050405020304" pitchFamily="18" charset="0"/>
                <a:cs typeface="Times New Roman" panose="02020603050405020304" pitchFamily="18" charset="0"/>
              </a:rPr>
              <a:t>Cyclomatic</a:t>
            </a:r>
            <a:r>
              <a:rPr lang="en-US" sz="3600" b="1" dirty="0">
                <a:latin typeface="Times New Roman" panose="02020603050405020304" pitchFamily="18" charset="0"/>
                <a:cs typeface="Times New Roman" panose="02020603050405020304" pitchFamily="18" charset="0"/>
              </a:rPr>
              <a:t> Complexity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fontAlgn="base"/>
            <a:r>
              <a:rPr lang="en-US" b="1" dirty="0">
                <a:latin typeface="Times New Roman" panose="02020603050405020304" pitchFamily="18" charset="0"/>
                <a:cs typeface="Times New Roman" panose="02020603050405020304" pitchFamily="18" charset="0"/>
              </a:rPr>
              <a:t>Formula based on Regions :</a:t>
            </a:r>
            <a:r>
              <a:rPr lang="en-US" dirty="0">
                <a:latin typeface="Times New Roman" panose="02020603050405020304" pitchFamily="18" charset="0"/>
                <a:cs typeface="Times New Roman" panose="02020603050405020304" pitchFamily="18" charset="0"/>
              </a:rPr>
              <a:t>V(G) = number of regions in the graph For example, consider first graph given above,</a:t>
            </a:r>
          </a:p>
          <a:p>
            <a:pPr algn="just" fontAlgn="base"/>
            <a:r>
              <a:rPr lang="en-US" dirty="0" err="1">
                <a:latin typeface="Times New Roman" panose="02020603050405020304" pitchFamily="18" charset="0"/>
                <a:cs typeface="Times New Roman" panose="02020603050405020304" pitchFamily="18" charset="0"/>
              </a:rPr>
              <a:t>Cyclomatic</a:t>
            </a:r>
            <a:r>
              <a:rPr lang="en-US" dirty="0">
                <a:latin typeface="Times New Roman" panose="02020603050405020304" pitchFamily="18" charset="0"/>
                <a:cs typeface="Times New Roman" panose="02020603050405020304" pitchFamily="18" charset="0"/>
              </a:rPr>
              <a:t> complexity V(G) = 1 (for Region 1) + 1 (for Region 2) = 2 </a:t>
            </a:r>
          </a:p>
          <a:p>
            <a:pPr algn="just" fontAlgn="base"/>
            <a:r>
              <a:rPr lang="en-US" dirty="0">
                <a:latin typeface="Times New Roman" panose="02020603050405020304" pitchFamily="18" charset="0"/>
                <a:cs typeface="Times New Roman" panose="02020603050405020304" pitchFamily="18" charset="0"/>
              </a:rPr>
              <a:t>Hence, using all the three above formulae, the </a:t>
            </a:r>
            <a:r>
              <a:rPr lang="en-US" dirty="0" err="1">
                <a:latin typeface="Times New Roman" panose="02020603050405020304" pitchFamily="18" charset="0"/>
                <a:cs typeface="Times New Roman" panose="02020603050405020304" pitchFamily="18" charset="0"/>
              </a:rPr>
              <a:t>cyclomatic</a:t>
            </a:r>
            <a:r>
              <a:rPr lang="en-US" dirty="0">
                <a:latin typeface="Times New Roman" panose="02020603050405020304" pitchFamily="18" charset="0"/>
                <a:cs typeface="Times New Roman" panose="02020603050405020304" pitchFamily="18" charset="0"/>
              </a:rPr>
              <a:t> complexity obtained remains same. All these three formulae can be used to compute and verify the </a:t>
            </a:r>
            <a:r>
              <a:rPr lang="en-US" dirty="0" err="1">
                <a:latin typeface="Times New Roman" panose="02020603050405020304" pitchFamily="18" charset="0"/>
                <a:cs typeface="Times New Roman" panose="02020603050405020304" pitchFamily="18" charset="0"/>
              </a:rPr>
              <a:t>cyclomatic</a:t>
            </a:r>
            <a:r>
              <a:rPr lang="en-US" dirty="0">
                <a:latin typeface="Times New Roman" panose="02020603050405020304" pitchFamily="18" charset="0"/>
                <a:cs typeface="Times New Roman" panose="02020603050405020304" pitchFamily="18" charset="0"/>
              </a:rPr>
              <a:t> complexity of the flow graph.</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1"/>
            <a:ext cx="10515600" cy="873107"/>
          </a:xfrm>
        </p:spPr>
        <p:txBody>
          <a:bodyPr>
            <a:normAutofit/>
          </a:bodyPr>
          <a:lstStyle/>
          <a:p>
            <a:r>
              <a:rPr lang="en-US" sz="3600" b="1" dirty="0">
                <a:latin typeface="Times New Roman" panose="02020603050405020304" pitchFamily="18" charset="0"/>
                <a:cs typeface="Times New Roman" panose="02020603050405020304" pitchFamily="18" charset="0"/>
              </a:rPr>
              <a:t>Independent Paths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An independent path in the control flow graph is the one which introduces at least one new edge that has not been traversed before the path is defined. </a:t>
            </a:r>
          </a:p>
          <a:p>
            <a:pPr algn="just"/>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cyclomatic</a:t>
            </a:r>
            <a:r>
              <a:rPr lang="en-US" dirty="0">
                <a:latin typeface="Times New Roman" panose="02020603050405020304" pitchFamily="18" charset="0"/>
                <a:cs typeface="Times New Roman" panose="02020603050405020304" pitchFamily="18" charset="0"/>
              </a:rPr>
              <a:t> complexity gives the number of independent paths present in a flow graph. </a:t>
            </a:r>
          </a:p>
          <a:p>
            <a:pPr algn="just"/>
            <a:r>
              <a:rPr lang="en-US" dirty="0">
                <a:latin typeface="Times New Roman" panose="02020603050405020304" pitchFamily="18" charset="0"/>
                <a:cs typeface="Times New Roman" panose="02020603050405020304" pitchFamily="18" charset="0"/>
              </a:rPr>
              <a:t>This is because the </a:t>
            </a:r>
            <a:r>
              <a:rPr lang="en-US" dirty="0" err="1">
                <a:latin typeface="Times New Roman" panose="02020603050405020304" pitchFamily="18" charset="0"/>
                <a:cs typeface="Times New Roman" panose="02020603050405020304" pitchFamily="18" charset="0"/>
              </a:rPr>
              <a:t>cyclomatic</a:t>
            </a:r>
            <a:r>
              <a:rPr lang="en-US" dirty="0">
                <a:latin typeface="Times New Roman" panose="02020603050405020304" pitchFamily="18" charset="0"/>
                <a:cs typeface="Times New Roman" panose="02020603050405020304" pitchFamily="18" charset="0"/>
              </a:rPr>
              <a:t> complexity is used as an upper-bound for the number of tests that should be executed in order to make sure that all the statements in the program have been executed at least once.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lstStyle/>
          <a:p>
            <a:r>
              <a:rPr lang="en-US" sz="3600" b="1" dirty="0">
                <a:latin typeface="Times New Roman" panose="02020603050405020304" pitchFamily="18" charset="0"/>
                <a:cs typeface="Times New Roman" panose="02020603050405020304" pitchFamily="18" charset="0"/>
              </a:rPr>
              <a:t>Advantages</a:t>
            </a:r>
            <a:r>
              <a:rPr lang="en-US" b="1" dirty="0"/>
              <a:t> </a:t>
            </a:r>
            <a:endParaRPr lang="en-US" dirty="0"/>
          </a:p>
        </p:txBody>
      </p:sp>
      <p:sp>
        <p:nvSpPr>
          <p:cNvPr id="3" name="Content Placeholder 2"/>
          <p:cNvSpPr>
            <a:spLocks noGrp="1"/>
          </p:cNvSpPr>
          <p:nvPr>
            <p:ph idx="1"/>
          </p:nvPr>
        </p:nvSpPr>
        <p:spPr/>
        <p:txBody>
          <a:bodyPr>
            <a:normAutofit fontScale="92500" lnSpcReduction="10000"/>
          </a:bodyPr>
          <a:lstStyle/>
          <a:p>
            <a:pPr fontAlgn="base"/>
            <a:r>
              <a:rPr lang="en-US" dirty="0">
                <a:latin typeface="Times New Roman" panose="02020603050405020304" pitchFamily="18" charset="0"/>
                <a:cs typeface="Times New Roman" panose="02020603050405020304" pitchFamily="18" charset="0"/>
              </a:rPr>
              <a:t>Basis Path Testing can be applicable in the following cases:</a:t>
            </a:r>
          </a:p>
          <a:p>
            <a:pPr fontAlgn="base"/>
            <a:r>
              <a:rPr lang="en-US" b="1" dirty="0">
                <a:latin typeface="Times New Roman" panose="02020603050405020304" pitchFamily="18" charset="0"/>
                <a:cs typeface="Times New Roman" panose="02020603050405020304" pitchFamily="18" charset="0"/>
              </a:rPr>
              <a:t>More Coverage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Basis path testing provides the best code coverage as it aims to achieve maximum logic coverage instead of maximum path coverage. This results in an overall thorough testing of the code.</a:t>
            </a:r>
          </a:p>
          <a:p>
            <a:pPr fontAlgn="base"/>
            <a:r>
              <a:rPr lang="en-US" b="1" dirty="0">
                <a:latin typeface="Times New Roman" panose="02020603050405020304" pitchFamily="18" charset="0"/>
                <a:cs typeface="Times New Roman" panose="02020603050405020304" pitchFamily="18" charset="0"/>
              </a:rPr>
              <a:t>Maintenance Testing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When a software is modified, it is still necessary to test the changes made in the software which as a result, requires path testing.</a:t>
            </a:r>
          </a:p>
          <a:p>
            <a:pPr fontAlgn="base"/>
            <a:r>
              <a:rPr lang="en-US" b="1" dirty="0">
                <a:latin typeface="Times New Roman" panose="02020603050405020304" pitchFamily="18" charset="0"/>
                <a:cs typeface="Times New Roman" panose="02020603050405020304" pitchFamily="18" charset="0"/>
              </a:rPr>
              <a:t>Unit Testing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When a developer writes the code, he or she tests the structure of the program or module themselves first. This is why basis path testing requires enough knowledge about the structure of the code.</a:t>
            </a: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lstStyle/>
          <a:p>
            <a:r>
              <a:rPr lang="en-US" sz="3600" b="1" dirty="0">
                <a:latin typeface="Times New Roman" panose="02020603050405020304" pitchFamily="18" charset="0"/>
                <a:cs typeface="Times New Roman" panose="02020603050405020304" pitchFamily="18" charset="0"/>
              </a:rPr>
              <a:t>Advantages</a:t>
            </a:r>
            <a:r>
              <a:rPr lang="en-US" b="1" dirty="0"/>
              <a:t> </a:t>
            </a:r>
            <a:endParaRPr lang="en-US" dirty="0"/>
          </a:p>
        </p:txBody>
      </p:sp>
      <p:sp>
        <p:nvSpPr>
          <p:cNvPr id="3" name="Content Placeholder 2"/>
          <p:cNvSpPr>
            <a:spLocks noGrp="1"/>
          </p:cNvSpPr>
          <p:nvPr>
            <p:ph idx="1"/>
          </p:nvPr>
        </p:nvSpPr>
        <p:spPr/>
        <p:txBody>
          <a:bodyPr/>
          <a:lstStyle/>
          <a:p>
            <a:pPr fontAlgn="base"/>
            <a:r>
              <a:rPr lang="en-US" b="1" dirty="0">
                <a:latin typeface="Times New Roman" panose="02020603050405020304" pitchFamily="18" charset="0"/>
                <a:cs typeface="Times New Roman" panose="02020603050405020304" pitchFamily="18" charset="0"/>
              </a:rPr>
              <a:t>Integration Testing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When one module calls other modules, there are high chances of Interface errors. In order to avoid the case of such errors, path testing is performed to test all the paths on the interfaces of the modules.</a:t>
            </a:r>
          </a:p>
          <a:p>
            <a:pPr fontAlgn="base"/>
            <a:r>
              <a:rPr lang="en-US" b="1" dirty="0">
                <a:latin typeface="Times New Roman" panose="02020603050405020304" pitchFamily="18" charset="0"/>
                <a:cs typeface="Times New Roman" panose="02020603050405020304" pitchFamily="18" charset="0"/>
              </a:rPr>
              <a:t>Testing Effort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Since the basis path testing technique takes into account the complexity of the software (i.e., program or module) while computing the </a:t>
            </a:r>
            <a:r>
              <a:rPr lang="en-US" dirty="0" err="1">
                <a:latin typeface="Times New Roman" panose="02020603050405020304" pitchFamily="18" charset="0"/>
                <a:cs typeface="Times New Roman" panose="02020603050405020304" pitchFamily="18" charset="0"/>
              </a:rPr>
              <a:t>cyclomatic</a:t>
            </a:r>
            <a:r>
              <a:rPr lang="en-US" dirty="0">
                <a:latin typeface="Times New Roman" panose="02020603050405020304" pitchFamily="18" charset="0"/>
                <a:cs typeface="Times New Roman" panose="02020603050405020304" pitchFamily="18" charset="0"/>
              </a:rPr>
              <a:t> complexity, therefore it is intuitive to note that testing effort in case of basis path testing is directly proportional to the complexity of the software or program.</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hlinkClick r:id="rId2"/>
              </a:rPr>
              <a:t>https://www.tutorialspoint.com/software_testing_dictionary/basis_path_testing.htm</a:t>
            </a:r>
            <a:endParaRPr lang="en-US" dirty="0"/>
          </a:p>
          <a:p>
            <a:r>
              <a:rPr lang="en-US" dirty="0">
                <a:hlinkClick r:id="rId3"/>
              </a:rPr>
              <a:t>https://www.geeksforgeeks.org/basis-path-testing-in-software-testing/</a:t>
            </a:r>
            <a:endParaRPr lang="en-US" dirty="0"/>
          </a:p>
          <a:p>
            <a:r>
              <a:rPr lang="en-US" dirty="0">
                <a:hlinkClick r:id="rId4"/>
              </a:rPr>
              <a:t>https://www.guru99.com/basis-path-testing.html</a:t>
            </a:r>
            <a:endParaRPr lang="en-US" dirty="0"/>
          </a:p>
          <a:p>
            <a:r>
              <a:rPr lang="en-US">
                <a:hlinkClick r:id="rId5"/>
              </a:rPr>
              <a:t>https://reqtest.com/testing-blog/basis-path-testing/</a:t>
            </a:r>
            <a:endParaRPr lang="en-US"/>
          </a:p>
          <a:p>
            <a:pPr>
              <a:buNone/>
            </a:pPr>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82127"/>
            <a:ext cx="10515600" cy="80856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References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19</a:t>
            </a:fld>
            <a:endParaRPr lang="en-US">
              <a:solidFill>
                <a:prstClr val="black">
                  <a:tint val="75000"/>
                </a:prstClr>
              </a:solidFill>
            </a:endParaRP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1680</TotalTime>
  <Words>1050</Words>
  <Application>Microsoft Macintosh PowerPoint</Application>
  <PresentationFormat>Widescreen</PresentationFormat>
  <Paragraphs>93</Paragraphs>
  <Slides>19</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19</vt:i4>
      </vt:variant>
    </vt:vector>
  </HeadingPairs>
  <TitlesOfParts>
    <vt:vector size="28" baseType="lpstr">
      <vt:lpstr>Arial</vt:lpstr>
      <vt:lpstr>Arial Black</vt:lpstr>
      <vt:lpstr>Calibri</vt:lpstr>
      <vt:lpstr>Calibri Light</vt:lpstr>
      <vt:lpstr>Casper</vt:lpstr>
      <vt:lpstr>Times New Roman</vt:lpstr>
      <vt:lpstr>1_Office Theme</vt:lpstr>
      <vt:lpstr>Contents Slide Master</vt:lpstr>
      <vt:lpstr>CorelDRAW</vt:lpstr>
      <vt:lpstr>PowerPoint Presentation</vt:lpstr>
      <vt:lpstr>Chapter-7 Software Testing</vt:lpstr>
      <vt:lpstr> Basis Path Testing </vt:lpstr>
      <vt:lpstr> Basis Path Testing </vt:lpstr>
      <vt:lpstr> Basis Path Testing </vt:lpstr>
      <vt:lpstr> Basis Path Testing (Notations) </vt:lpstr>
      <vt:lpstr>PowerPoint Presentation</vt:lpstr>
      <vt:lpstr>Notations</vt:lpstr>
      <vt:lpstr>Notations</vt:lpstr>
      <vt:lpstr>Notations</vt:lpstr>
      <vt:lpstr>Notations</vt:lpstr>
      <vt:lpstr>Cyclomatic Complexity </vt:lpstr>
      <vt:lpstr>Cyclomatic Complexity </vt:lpstr>
      <vt:lpstr>Cyclomatic Complexity </vt:lpstr>
      <vt:lpstr>Independent Paths</vt:lpstr>
      <vt:lpstr>Advantages </vt:lpstr>
      <vt:lpstr>Advantages </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Office</cp:lastModifiedBy>
  <cp:revision>234</cp:revision>
  <dcterms:created xsi:type="dcterms:W3CDTF">2019-01-09T10:33:58Z</dcterms:created>
  <dcterms:modified xsi:type="dcterms:W3CDTF">2025-04-07T15:22:49Z</dcterms:modified>
</cp:coreProperties>
</file>