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8"/>
  </p:notesMasterIdLst>
  <p:handoutMasterIdLst>
    <p:handoutMasterId r:id="rId39"/>
  </p:handoutMasterIdLst>
  <p:sldIdLst>
    <p:sldId id="662" r:id="rId3"/>
    <p:sldId id="280" r:id="rId4"/>
    <p:sldId id="327" r:id="rId5"/>
    <p:sldId id="341" r:id="rId6"/>
    <p:sldId id="339" r:id="rId7"/>
    <p:sldId id="668" r:id="rId8"/>
    <p:sldId id="669" r:id="rId9"/>
    <p:sldId id="670" r:id="rId10"/>
    <p:sldId id="671" r:id="rId11"/>
    <p:sldId id="672" r:id="rId12"/>
    <p:sldId id="673" r:id="rId13"/>
    <p:sldId id="674" r:id="rId14"/>
    <p:sldId id="337" r:id="rId15"/>
    <p:sldId id="336" r:id="rId16"/>
    <p:sldId id="329" r:id="rId17"/>
    <p:sldId id="663" r:id="rId18"/>
    <p:sldId id="340" r:id="rId19"/>
    <p:sldId id="338" r:id="rId20"/>
    <p:sldId id="665" r:id="rId21"/>
    <p:sldId id="666" r:id="rId22"/>
    <p:sldId id="335" r:id="rId23"/>
    <p:sldId id="334" r:id="rId24"/>
    <p:sldId id="333" r:id="rId25"/>
    <p:sldId id="332" r:id="rId26"/>
    <p:sldId id="331" r:id="rId27"/>
    <p:sldId id="330" r:id="rId28"/>
    <p:sldId id="667" r:id="rId29"/>
    <p:sldId id="328" r:id="rId30"/>
    <p:sldId id="343" r:id="rId31"/>
    <p:sldId id="346" r:id="rId32"/>
    <p:sldId id="345" r:id="rId33"/>
    <p:sldId id="344" r:id="rId34"/>
    <p:sldId id="347" r:id="rId35"/>
    <p:sldId id="326" r:id="rId36"/>
    <p:sldId id="279"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40" autoAdjust="0"/>
    <p:restoredTop sz="94660"/>
  </p:normalViewPr>
  <p:slideViewPr>
    <p:cSldViewPr snapToGrid="0">
      <p:cViewPr varScale="1">
        <p:scale>
          <a:sx n="119" d="100"/>
          <a:sy n="119" d="100"/>
        </p:scale>
        <p:origin x="416" y="176"/>
      </p:cViewPr>
      <p:guideLst>
        <p:guide orient="horz" pos="2160"/>
        <p:guide pos="3840"/>
      </p:guideLst>
    </p:cSldViewPr>
  </p:slideViewPr>
  <p:notesTextViewPr>
    <p:cViewPr>
      <p:scale>
        <a:sx n="1" d="1"/>
        <a:sy n="1" d="1"/>
      </p:scale>
      <p:origin x="0" y="0"/>
    </p:cViewPr>
  </p:notesTextViewPr>
  <p:sorterViewPr>
    <p:cViewPr>
      <p:scale>
        <a:sx n="66" d="100"/>
        <a:sy n="66" d="100"/>
      </p:scale>
      <p:origin x="0" y="321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handoutMaster" Target="handoutMasters/handout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60732FBC-CC67-4B17-8935-02F23E3364AC}"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Er. Jagmeet Kaur, Asst. Prof., CSE, Chandigarh University</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Er. Jagmeet Kaur, Asst. Prof., CSE, Chandigarh University</a:t>
            </a:r>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Er. Jagmeet Kaur, Asst. Prof., CSE, Chandigarh University</a:t>
            </a:r>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Er. Jagmeet Kaur, Asst. Prof., CSE, Chandigarh University</a:t>
            </a:r>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Er. Jagmeet Kaur, Asst. Prof., CSE, Chandigarh University</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Er. Jagmeet Kaur, Asst. Prof., CSE, Chandigarh University</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Er. Jagmeet Kaur, Asst. Prof., CSE, Chandigarh University</a:t>
            </a: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Er. Jagmeet Kaur, Asst. Prof., CSE, Chandigarh University</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pic>
        <p:nvPicPr>
          <p:cNvPr id="7" name="Picture 6">
            <a:extLst>
              <a:ext uri="{FF2B5EF4-FFF2-40B4-BE49-F238E27FC236}">
                <a16:creationId xmlns:a16="http://schemas.microsoft.com/office/drawing/2014/main" id="{BC399100-F2A6-E241-1366-1C3F08D7BF00}"/>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8" name="Picture 7" descr="National Board of Accreditation - Wikipedia">
            <a:extLst>
              <a:ext uri="{FF2B5EF4-FFF2-40B4-BE49-F238E27FC236}">
                <a16:creationId xmlns:a16="http://schemas.microsoft.com/office/drawing/2014/main" id="{267AEA9E-F016-A1D3-046C-1B1F0EF98E46}"/>
              </a:ext>
            </a:extLst>
          </p:cNvPr>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pic>
        <p:nvPicPr>
          <p:cNvPr id="9" name="Picture 8">
            <a:extLst>
              <a:ext uri="{FF2B5EF4-FFF2-40B4-BE49-F238E27FC236}">
                <a16:creationId xmlns:a16="http://schemas.microsoft.com/office/drawing/2014/main" id="{FA8C606E-AB82-8988-8A8C-DC7B53BE97F8}"/>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geeksforgeeks.org/equivalence-clas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softwaretestingfundamentals.com/black-box-testing/" TargetMode="External"/><Relationship Id="rId2" Type="http://schemas.openxmlformats.org/officeDocument/2006/relationships/hyperlink" Target="https://www.guru99.com/black-box-testing.html" TargetMode="External"/><Relationship Id="rId1" Type="http://schemas.openxmlformats.org/officeDocument/2006/relationships/slideLayout" Target="../slideLayouts/slideLayout2.xml"/><Relationship Id="rId5" Type="http://schemas.openxmlformats.org/officeDocument/2006/relationships/hyperlink" Target="https://www.geeksforgeeks.org/differences-between-black-box-testing-vs-white-box-testing/" TargetMode="External"/><Relationship Id="rId4" Type="http://schemas.openxmlformats.org/officeDocument/2006/relationships/hyperlink" Target="https://www.geeksforgeeks.org/software-engineering-black-box-testing/"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dirty="0">
              <a:solidFill>
                <a:schemeClr val="lt1"/>
              </a:solidFill>
              <a:latin typeface="Calibri"/>
              <a:ea typeface="Calibri"/>
              <a:cs typeface="Calibri"/>
              <a:sym typeface="Calibri"/>
            </a:endParaRP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sp>
        <p:nvSpPr>
          <p:cNvPr id="5" name="TextBox 4">
            <a:extLst>
              <a:ext uri="{FF2B5EF4-FFF2-40B4-BE49-F238E27FC236}">
                <a16:creationId xmlns:a16="http://schemas.microsoft.com/office/drawing/2014/main" id="{2A3E7AC5-0170-6A4D-3DDF-A62478ECD17A}"/>
              </a:ext>
            </a:extLst>
          </p:cNvPr>
          <p:cNvSpPr txBox="1"/>
          <p:nvPr/>
        </p:nvSpPr>
        <p:spPr>
          <a:xfrm>
            <a:off x="4719484" y="3934196"/>
            <a:ext cx="2197683" cy="369332"/>
          </a:xfrm>
          <a:prstGeom prst="rect">
            <a:avLst/>
          </a:prstGeom>
          <a:noFill/>
        </p:spPr>
        <p:txBody>
          <a:bodyPr wrap="square">
            <a:spAutoFit/>
          </a:bodyPr>
          <a:lstStyle/>
          <a:p>
            <a:r>
              <a:rPr lang="en-US" b="1" dirty="0"/>
              <a:t>Software Testing</a:t>
            </a:r>
            <a:endParaRPr lang="en-US" dirty="0"/>
          </a:p>
        </p:txBody>
      </p:sp>
      <p:pic>
        <p:nvPicPr>
          <p:cNvPr id="4" name="Picture 3">
            <a:extLst>
              <a:ext uri="{FF2B5EF4-FFF2-40B4-BE49-F238E27FC236}">
                <a16:creationId xmlns:a16="http://schemas.microsoft.com/office/drawing/2014/main" id="{6D96E75A-F74F-2D77-5F7D-29AACD5910A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7581"/>
            <a:ext cx="10515600" cy="1140311"/>
          </a:xfrm>
        </p:spPr>
        <p:txBody>
          <a:bodyPr>
            <a:noAutofit/>
          </a:bodyPr>
          <a:lstStyle/>
          <a:p>
            <a:pPr algn="ctr"/>
            <a:r>
              <a:rPr lang="en-US" dirty="0">
                <a:latin typeface="Times New Roman" pitchFamily="18" charset="0"/>
                <a:cs typeface="Times New Roman" pitchFamily="18" charset="0"/>
              </a:rPr>
              <a:t>Chapter-7</a:t>
            </a:r>
            <a:br>
              <a:rPr lang="en-US" dirty="0">
                <a:latin typeface="Times New Roman" pitchFamily="18" charset="0"/>
                <a:cs typeface="Times New Roman" pitchFamily="18" charset="0"/>
              </a:rPr>
            </a:br>
            <a:r>
              <a:rPr lang="en-US" b="1" dirty="0"/>
              <a:t>Software Testing</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2222985"/>
            <a:ext cx="10515600" cy="3953977"/>
          </a:xfrm>
        </p:spPr>
        <p:txBody>
          <a:bodyPr>
            <a:normAutofit/>
          </a:bodyPr>
          <a:lstStyle/>
          <a:p>
            <a:pPr>
              <a:lnSpc>
                <a:spcPct val="150000"/>
              </a:lnSpc>
            </a:pPr>
            <a:r>
              <a:rPr lang="en-US" sz="2400" dirty="0">
                <a:latin typeface="Times New Roman" pitchFamily="18" charset="0"/>
                <a:cs typeface="Times New Roman" pitchFamily="18" charset="0"/>
              </a:rPr>
              <a:t>Black Box Testing and White Box Testing</a:t>
            </a:r>
          </a:p>
        </p:txBody>
      </p:sp>
      <p:sp>
        <p:nvSpPr>
          <p:cNvPr id="5" name="Rectangle 4"/>
          <p:cNvSpPr/>
          <p:nvPr/>
        </p:nvSpPr>
        <p:spPr>
          <a:xfrm>
            <a:off x="838200" y="2237590"/>
            <a:ext cx="10515600" cy="393460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07720" y="817581"/>
            <a:ext cx="10515600" cy="1226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2</a:t>
            </a:fld>
            <a:endParaRPr lang="en-US"/>
          </a:p>
        </p:txBody>
      </p:sp>
    </p:spTree>
    <p:extLst>
      <p:ext uri="{BB962C8B-B14F-4D97-AF65-F5344CB8AC3E}">
        <p14:creationId xmlns:p14="http://schemas.microsoft.com/office/powerpoint/2010/main" val="82370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7581"/>
            <a:ext cx="10515600" cy="873107"/>
          </a:xfrm>
        </p:spPr>
        <p:txBody>
          <a:bodyPr/>
          <a:lstStyle/>
          <a:p>
            <a:r>
              <a:rPr lang="en-US" b="1" dirty="0">
                <a:latin typeface="Times New Roman" panose="02020603050405020304" pitchFamily="18" charset="0"/>
                <a:cs typeface="Times New Roman" panose="02020603050405020304" pitchFamily="18" charset="0"/>
              </a:rPr>
              <a:t>Black Box Testing</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Black Box Testing</a:t>
            </a:r>
            <a:r>
              <a:rPr lang="en-US" dirty="0">
                <a:latin typeface="Times New Roman" panose="02020603050405020304" pitchFamily="18" charset="0"/>
                <a:cs typeface="Times New Roman" panose="02020603050405020304" pitchFamily="18" charset="0"/>
              </a:rPr>
              <a:t> is a software testing method in which the functionalities of software applications are tested without having knowledge of internal code structure, implementation details and internal paths. </a:t>
            </a:r>
          </a:p>
          <a:p>
            <a:pPr algn="just"/>
            <a:r>
              <a:rPr lang="en-US" dirty="0">
                <a:latin typeface="Times New Roman" panose="02020603050405020304" pitchFamily="18" charset="0"/>
                <a:cs typeface="Times New Roman" panose="02020603050405020304" pitchFamily="18" charset="0"/>
              </a:rPr>
              <a:t>Black Box Testing mainly focuses on input and output of software applications and it is entirely based on software requirements and specifications. </a:t>
            </a:r>
          </a:p>
          <a:p>
            <a:r>
              <a:rPr lang="en-US" dirty="0">
                <a:latin typeface="Times New Roman" panose="02020603050405020304" pitchFamily="18" charset="0"/>
                <a:cs typeface="Times New Roman" panose="02020603050405020304" pitchFamily="18" charset="0"/>
              </a:rPr>
              <a:t>It is also known as Behavioral Testing.</a:t>
            </a:r>
            <a:br>
              <a:rPr lang="en-US" dirty="0"/>
            </a:b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a:bodyPr>
          <a:lstStyle/>
          <a:p>
            <a:r>
              <a:rPr lang="en-US" sz="3600" b="1" dirty="0">
                <a:latin typeface="Times New Roman" panose="02020603050405020304" pitchFamily="18" charset="0"/>
                <a:cs typeface="Times New Roman" panose="02020603050405020304" pitchFamily="18" charset="0"/>
              </a:rPr>
              <a:t>Black Box Testing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endParaRPr lang="en-US" dirty="0"/>
          </a:p>
          <a:p>
            <a:endParaRPr lang="en-US" dirty="0"/>
          </a:p>
          <a:p>
            <a:endParaRPr lang="en-US" dirty="0"/>
          </a:p>
          <a:p>
            <a:endParaRPr lang="en-US" dirty="0"/>
          </a:p>
          <a:p>
            <a:pPr algn="just"/>
            <a:r>
              <a:rPr lang="en-US" dirty="0">
                <a:latin typeface="Times New Roman" panose="02020603050405020304" pitchFamily="18" charset="0"/>
                <a:cs typeface="Times New Roman" panose="02020603050405020304" pitchFamily="18" charset="0"/>
              </a:rPr>
              <a:t>The above Black-Box can be any software system you want to test.</a:t>
            </a:r>
          </a:p>
          <a:p>
            <a:pPr algn="just"/>
            <a:r>
              <a:rPr lang="en-US" dirty="0">
                <a:latin typeface="Times New Roman" panose="02020603050405020304" pitchFamily="18" charset="0"/>
                <a:cs typeface="Times New Roman" panose="02020603050405020304" pitchFamily="18" charset="0"/>
              </a:rPr>
              <a:t> For Example, an operating system like Windows, a website like Google, a database like Oracle or even your own custom application. </a:t>
            </a:r>
          </a:p>
          <a:p>
            <a:pPr algn="just"/>
            <a:r>
              <a:rPr lang="en-US" dirty="0">
                <a:latin typeface="Times New Roman" panose="02020603050405020304" pitchFamily="18" charset="0"/>
                <a:cs typeface="Times New Roman" panose="02020603050405020304" pitchFamily="18" charset="0"/>
              </a:rPr>
              <a:t>Under Black Box Testing, you can test these applications by just focusing on the inputs and outputs without knowing their internal code implementation.</a:t>
            </a: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pic>
        <p:nvPicPr>
          <p:cNvPr id="47106" name="Picture 2"/>
          <p:cNvPicPr>
            <a:picLocks noChangeAspect="1" noChangeArrowheads="1"/>
          </p:cNvPicPr>
          <p:nvPr/>
        </p:nvPicPr>
        <p:blipFill>
          <a:blip r:embed="rId2"/>
          <a:srcRect/>
          <a:stretch>
            <a:fillRect/>
          </a:stretch>
        </p:blipFill>
        <p:spPr bwMode="auto">
          <a:xfrm>
            <a:off x="3114674" y="2009774"/>
            <a:ext cx="6563393" cy="1724025"/>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fontScale="90000"/>
          </a:bodyPr>
          <a:lstStyle/>
          <a:p>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Types of Black Box Testing</a:t>
            </a:r>
            <a:br>
              <a:rPr lang="en-US" b="1" dirty="0"/>
            </a:br>
            <a:endParaRPr lang="en-US" dirty="0"/>
          </a:p>
        </p:txBody>
      </p:sp>
      <p:sp>
        <p:nvSpPr>
          <p:cNvPr id="3" name="Content Placeholder 2"/>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There are many types of Black Box Testing but the following are the prominent ones -</a:t>
            </a:r>
          </a:p>
          <a:p>
            <a:pPr algn="just"/>
            <a:r>
              <a:rPr lang="en-US" b="1" dirty="0">
                <a:latin typeface="Times New Roman" panose="02020603050405020304" pitchFamily="18" charset="0"/>
                <a:cs typeface="Times New Roman" panose="02020603050405020304" pitchFamily="18" charset="0"/>
              </a:rPr>
              <a:t>Functional testing</a:t>
            </a:r>
            <a:r>
              <a:rPr lang="en-US" dirty="0">
                <a:latin typeface="Times New Roman" panose="02020603050405020304" pitchFamily="18" charset="0"/>
                <a:cs typeface="Times New Roman" panose="02020603050405020304" pitchFamily="18" charset="0"/>
              </a:rPr>
              <a:t> - This black box testing type is related to the functional requirements of a system; it is done by software testers.</a:t>
            </a:r>
          </a:p>
          <a:p>
            <a:pPr algn="just"/>
            <a:r>
              <a:rPr lang="en-US" b="1" dirty="0">
                <a:latin typeface="Times New Roman" panose="02020603050405020304" pitchFamily="18" charset="0"/>
                <a:cs typeface="Times New Roman" panose="02020603050405020304" pitchFamily="18" charset="0"/>
              </a:rPr>
              <a:t>Non-functional testing </a:t>
            </a:r>
            <a:r>
              <a:rPr lang="en-US" dirty="0">
                <a:latin typeface="Times New Roman" panose="02020603050405020304" pitchFamily="18" charset="0"/>
                <a:cs typeface="Times New Roman" panose="02020603050405020304" pitchFamily="18" charset="0"/>
              </a:rPr>
              <a:t>- This type of black box testing is not related to testing of specific functionality, but non-functional requirements such as performance, scalability, usability.</a:t>
            </a:r>
          </a:p>
          <a:p>
            <a:pPr algn="just"/>
            <a:r>
              <a:rPr lang="en-US" b="1" dirty="0">
                <a:latin typeface="Times New Roman" panose="02020603050405020304" pitchFamily="18" charset="0"/>
                <a:cs typeface="Times New Roman" panose="02020603050405020304" pitchFamily="18" charset="0"/>
              </a:rPr>
              <a:t>Regression testing </a:t>
            </a:r>
            <a:r>
              <a:rPr lang="en-US" dirty="0">
                <a:latin typeface="Times New Roman" panose="02020603050405020304" pitchFamily="18" charset="0"/>
                <a:cs typeface="Times New Roman" panose="02020603050405020304" pitchFamily="18" charset="0"/>
              </a:rPr>
              <a:t>- Regression Testing is done after code fixes, upgrades or any other system maintenance to check the new code has not affected the existing code.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BA9A8-18C6-3981-E98B-DD1D16BDF92E}"/>
              </a:ext>
            </a:extLst>
          </p:cNvPr>
          <p:cNvSpPr>
            <a:spLocks noGrp="1"/>
          </p:cNvSpPr>
          <p:nvPr>
            <p:ph type="title"/>
          </p:nvPr>
        </p:nvSpPr>
        <p:spPr/>
        <p:txBody>
          <a:bodyPr/>
          <a:lstStyle/>
          <a:p>
            <a:r>
              <a:rPr lang="en-US" dirty="0"/>
              <a:t>Techniques of Black Box Testing:</a:t>
            </a:r>
          </a:p>
        </p:txBody>
      </p:sp>
      <p:sp>
        <p:nvSpPr>
          <p:cNvPr id="3" name="Content Placeholder 2">
            <a:extLst>
              <a:ext uri="{FF2B5EF4-FFF2-40B4-BE49-F238E27FC236}">
                <a16:creationId xmlns:a16="http://schemas.microsoft.com/office/drawing/2014/main" id="{6581252A-D7C9-CF64-EB16-3CFDF0313F5C}"/>
              </a:ext>
            </a:extLst>
          </p:cNvPr>
          <p:cNvSpPr>
            <a:spLocks noGrp="1"/>
          </p:cNvSpPr>
          <p:nvPr>
            <p:ph idx="1"/>
          </p:nvPr>
        </p:nvSpPr>
        <p:spPr/>
        <p:txBody>
          <a:bodyPr/>
          <a:lstStyle/>
          <a:p>
            <a:pPr algn="just" fontAlgn="base">
              <a:spcBef>
                <a:spcPts val="1800"/>
              </a:spcBef>
              <a:spcAft>
                <a:spcPts val="1800"/>
              </a:spcAft>
              <a:buNone/>
            </a:pPr>
            <a:r>
              <a:rPr lang="en-IN" b="1" i="0" u="none" strike="noStrike" dirty="0">
                <a:solidFill>
                  <a:srgbClr val="273239"/>
                </a:solidFill>
                <a:effectLst/>
                <a:latin typeface="Times New Roman" panose="02020603050405020304" pitchFamily="18" charset="0"/>
                <a:cs typeface="Times New Roman" panose="02020603050405020304" pitchFamily="18" charset="0"/>
              </a:rPr>
              <a:t>1. Syntax-Driven Testing</a:t>
            </a:r>
          </a:p>
          <a:p>
            <a:pPr algn="just" fontAlgn="base">
              <a:spcAft>
                <a:spcPts val="1800"/>
              </a:spcAft>
              <a:buFont typeface="Arial" panose="020B0604020202020204" pitchFamily="34" charset="0"/>
              <a:buChar char="•"/>
            </a:pPr>
            <a:r>
              <a:rPr lang="en-IN" b="0" i="0" u="none" strike="noStrike" dirty="0">
                <a:solidFill>
                  <a:srgbClr val="273239"/>
                </a:solidFill>
                <a:effectLst/>
                <a:latin typeface="Times New Roman" panose="02020603050405020304" pitchFamily="18" charset="0"/>
                <a:cs typeface="Times New Roman" panose="02020603050405020304" pitchFamily="18" charset="0"/>
              </a:rPr>
              <a:t>This type of testing is applied to systems that can be syntactically represented by some language.</a:t>
            </a:r>
          </a:p>
          <a:p>
            <a:pPr algn="just" fontAlgn="base">
              <a:spcAft>
                <a:spcPts val="1800"/>
              </a:spcAft>
              <a:buFont typeface="Arial" panose="020B0604020202020204" pitchFamily="34" charset="0"/>
              <a:buChar char="•"/>
            </a:pPr>
            <a:r>
              <a:rPr lang="en-IN" b="0" i="0" u="none" strike="noStrike" dirty="0">
                <a:solidFill>
                  <a:srgbClr val="273239"/>
                </a:solidFill>
                <a:effectLst/>
                <a:latin typeface="Times New Roman" panose="02020603050405020304" pitchFamily="18" charset="0"/>
                <a:cs typeface="Times New Roman" panose="02020603050405020304" pitchFamily="18" charset="0"/>
              </a:rPr>
              <a:t>For example, language can be represented by context-free grammar.</a:t>
            </a:r>
          </a:p>
          <a:p>
            <a:pPr algn="just" fontAlgn="base">
              <a:spcAft>
                <a:spcPts val="1800"/>
              </a:spcAft>
              <a:buFont typeface="Arial" panose="020B0604020202020204" pitchFamily="34" charset="0"/>
              <a:buChar char="•"/>
            </a:pPr>
            <a:r>
              <a:rPr lang="en-IN" b="0" i="0" u="none" strike="noStrike" dirty="0">
                <a:solidFill>
                  <a:srgbClr val="273239"/>
                </a:solidFill>
                <a:effectLst/>
                <a:latin typeface="Times New Roman" panose="02020603050405020304" pitchFamily="18" charset="0"/>
                <a:cs typeface="Times New Roman" panose="02020603050405020304" pitchFamily="18" charset="0"/>
              </a:rPr>
              <a:t>In this, the test cases are generated so that each grammar rule is used at least once.</a:t>
            </a:r>
          </a:p>
          <a:p>
            <a:endParaRPr lang="en-US" dirty="0"/>
          </a:p>
        </p:txBody>
      </p:sp>
      <p:sp>
        <p:nvSpPr>
          <p:cNvPr id="4" name="Slide Number Placeholder 3">
            <a:extLst>
              <a:ext uri="{FF2B5EF4-FFF2-40B4-BE49-F238E27FC236}">
                <a16:creationId xmlns:a16="http://schemas.microsoft.com/office/drawing/2014/main" id="{321AC45A-94B2-3BFD-467D-4F24250200F3}"/>
              </a:ext>
            </a:extLst>
          </p:cNvPr>
          <p:cNvSpPr>
            <a:spLocks noGrp="1"/>
          </p:cNvSpPr>
          <p:nvPr>
            <p:ph type="sldNum" sz="quarter" idx="12"/>
          </p:nvPr>
        </p:nvSpPr>
        <p:spPr/>
        <p:txBody>
          <a:bodyPr/>
          <a:lstStyle/>
          <a:p>
            <a:fld id="{BDCDBBEF-AA6C-4BA6-85B2-A17D7F280E38}" type="slidenum">
              <a:rPr lang="en-US" smtClean="0"/>
              <a:pPr/>
              <a:t>6</a:t>
            </a:fld>
            <a:endParaRPr lang="en-US"/>
          </a:p>
        </p:txBody>
      </p:sp>
    </p:spTree>
    <p:extLst>
      <p:ext uri="{BB962C8B-B14F-4D97-AF65-F5344CB8AC3E}">
        <p14:creationId xmlns:p14="http://schemas.microsoft.com/office/powerpoint/2010/main" val="3973436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94D62-D35B-6ED2-59CA-2F4CE9DEAC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D2A5D8-4A8D-03D1-4008-FA6EA8313735}"/>
              </a:ext>
            </a:extLst>
          </p:cNvPr>
          <p:cNvSpPr>
            <a:spLocks noGrp="1"/>
          </p:cNvSpPr>
          <p:nvPr>
            <p:ph type="title"/>
          </p:nvPr>
        </p:nvSpPr>
        <p:spPr/>
        <p:txBody>
          <a:bodyPr/>
          <a:lstStyle/>
          <a:p>
            <a:r>
              <a:rPr lang="en-US" dirty="0"/>
              <a:t>Techniques of Black Box Testing:</a:t>
            </a:r>
          </a:p>
        </p:txBody>
      </p:sp>
      <p:sp>
        <p:nvSpPr>
          <p:cNvPr id="3" name="Content Placeholder 2">
            <a:extLst>
              <a:ext uri="{FF2B5EF4-FFF2-40B4-BE49-F238E27FC236}">
                <a16:creationId xmlns:a16="http://schemas.microsoft.com/office/drawing/2014/main" id="{1A089108-3E77-B702-A97A-C44DBFFBCBB7}"/>
              </a:ext>
            </a:extLst>
          </p:cNvPr>
          <p:cNvSpPr>
            <a:spLocks noGrp="1"/>
          </p:cNvSpPr>
          <p:nvPr>
            <p:ph idx="1"/>
          </p:nvPr>
        </p:nvSpPr>
        <p:spPr/>
        <p:txBody>
          <a:bodyPr>
            <a:normAutofit fontScale="92500" lnSpcReduction="10000"/>
          </a:bodyPr>
          <a:lstStyle/>
          <a:p>
            <a:pPr algn="just" fontAlgn="base">
              <a:spcBef>
                <a:spcPts val="1800"/>
              </a:spcBef>
              <a:spcAft>
                <a:spcPts val="1800"/>
              </a:spcAft>
              <a:buNone/>
            </a:pPr>
            <a:r>
              <a:rPr lang="en-IN" b="1" i="0" u="none" strike="noStrike" dirty="0">
                <a:solidFill>
                  <a:srgbClr val="273239"/>
                </a:solidFill>
                <a:effectLst/>
                <a:latin typeface="Times New Roman" panose="02020603050405020304" pitchFamily="18" charset="0"/>
                <a:cs typeface="Times New Roman" panose="02020603050405020304" pitchFamily="18" charset="0"/>
              </a:rPr>
              <a:t>2. Equivalence partitioning</a:t>
            </a:r>
          </a:p>
          <a:p>
            <a:pPr algn="just" fontAlgn="base">
              <a:spcAft>
                <a:spcPts val="1800"/>
              </a:spcAft>
              <a:buFont typeface="Arial" panose="020B0604020202020204" pitchFamily="34" charset="0"/>
              <a:buChar char="•"/>
            </a:pPr>
            <a:r>
              <a:rPr lang="en-IN" b="0" i="0" u="none" strike="noStrike" dirty="0">
                <a:solidFill>
                  <a:srgbClr val="273239"/>
                </a:solidFill>
                <a:effectLst/>
                <a:latin typeface="Times New Roman" panose="02020603050405020304" pitchFamily="18" charset="0"/>
                <a:cs typeface="Times New Roman" panose="02020603050405020304" pitchFamily="18" charset="0"/>
              </a:rPr>
              <a:t>It is often seen that many types of inputs work similarly so instead of giving all of them separately we can group them and test only one input of each group.</a:t>
            </a:r>
          </a:p>
          <a:p>
            <a:pPr algn="just" fontAlgn="base">
              <a:spcAft>
                <a:spcPts val="1800"/>
              </a:spcAft>
              <a:buFont typeface="Arial" panose="020B0604020202020204" pitchFamily="34" charset="0"/>
              <a:buChar char="•"/>
            </a:pPr>
            <a:r>
              <a:rPr lang="en-IN" b="0" i="0" u="none" strike="noStrike" dirty="0">
                <a:solidFill>
                  <a:srgbClr val="273239"/>
                </a:solidFill>
                <a:effectLst/>
                <a:latin typeface="Times New Roman" panose="02020603050405020304" pitchFamily="18" charset="0"/>
                <a:cs typeface="Times New Roman" panose="02020603050405020304" pitchFamily="18" charset="0"/>
              </a:rPr>
              <a:t>The idea is to partition the input domain of the system into several </a:t>
            </a:r>
            <a:r>
              <a:rPr lang="en-IN" b="0" i="0" u="sng" strike="noStrike"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equivalence classes </a:t>
            </a:r>
            <a:r>
              <a:rPr lang="en-IN" b="0" i="0" u="none" strike="noStrike" dirty="0">
                <a:solidFill>
                  <a:srgbClr val="273239"/>
                </a:solidFill>
                <a:effectLst/>
                <a:latin typeface="Times New Roman" panose="02020603050405020304" pitchFamily="18" charset="0"/>
                <a:cs typeface="Times New Roman" panose="02020603050405020304" pitchFamily="18" charset="0"/>
              </a:rPr>
              <a:t>such that each member of the class works similarly.</a:t>
            </a:r>
          </a:p>
          <a:p>
            <a:pPr algn="just" fontAlgn="base">
              <a:spcAft>
                <a:spcPts val="1800"/>
              </a:spcAft>
              <a:buFont typeface="Arial" panose="020B0604020202020204" pitchFamily="34" charset="0"/>
              <a:buChar char="•"/>
            </a:pPr>
            <a:r>
              <a:rPr lang="en-IN" b="0" i="0" u="none" strike="noStrike" dirty="0">
                <a:solidFill>
                  <a:srgbClr val="273239"/>
                </a:solidFill>
                <a:effectLst/>
                <a:latin typeface="Times New Roman" panose="02020603050405020304" pitchFamily="18" charset="0"/>
                <a:cs typeface="Times New Roman" panose="02020603050405020304" pitchFamily="18" charset="0"/>
              </a:rPr>
              <a:t>If a test case in one class results in some error, other members of the class would also result in the same error.</a:t>
            </a:r>
          </a:p>
          <a:p>
            <a:endParaRPr lang="en-US" dirty="0"/>
          </a:p>
        </p:txBody>
      </p:sp>
      <p:sp>
        <p:nvSpPr>
          <p:cNvPr id="4" name="Slide Number Placeholder 3">
            <a:extLst>
              <a:ext uri="{FF2B5EF4-FFF2-40B4-BE49-F238E27FC236}">
                <a16:creationId xmlns:a16="http://schemas.microsoft.com/office/drawing/2014/main" id="{13C5A6CA-A805-C92F-622B-364A7F2B77DA}"/>
              </a:ext>
            </a:extLst>
          </p:cNvPr>
          <p:cNvSpPr>
            <a:spLocks noGrp="1"/>
          </p:cNvSpPr>
          <p:nvPr>
            <p:ph type="sldNum" sz="quarter" idx="12"/>
          </p:nvPr>
        </p:nvSpPr>
        <p:spPr/>
        <p:txBody>
          <a:bodyPr/>
          <a:lstStyle/>
          <a:p>
            <a:fld id="{BDCDBBEF-AA6C-4BA6-85B2-A17D7F280E38}" type="slidenum">
              <a:rPr lang="en-US" smtClean="0"/>
              <a:pPr/>
              <a:t>7</a:t>
            </a:fld>
            <a:endParaRPr lang="en-US"/>
          </a:p>
        </p:txBody>
      </p:sp>
    </p:spTree>
    <p:extLst>
      <p:ext uri="{BB962C8B-B14F-4D97-AF65-F5344CB8AC3E}">
        <p14:creationId xmlns:p14="http://schemas.microsoft.com/office/powerpoint/2010/main" val="2920814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BD084-DAFB-A396-1709-9BFA5CDA48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121519-DD15-6BB0-3073-4E79B995F333}"/>
              </a:ext>
            </a:extLst>
          </p:cNvPr>
          <p:cNvSpPr>
            <a:spLocks noGrp="1"/>
          </p:cNvSpPr>
          <p:nvPr>
            <p:ph type="title"/>
          </p:nvPr>
        </p:nvSpPr>
        <p:spPr/>
        <p:txBody>
          <a:bodyPr/>
          <a:lstStyle/>
          <a:p>
            <a:r>
              <a:rPr lang="en-US" dirty="0"/>
              <a:t>Techniques of Black Box Testing:</a:t>
            </a:r>
          </a:p>
        </p:txBody>
      </p:sp>
      <p:sp>
        <p:nvSpPr>
          <p:cNvPr id="3" name="Content Placeholder 2">
            <a:extLst>
              <a:ext uri="{FF2B5EF4-FFF2-40B4-BE49-F238E27FC236}">
                <a16:creationId xmlns:a16="http://schemas.microsoft.com/office/drawing/2014/main" id="{27DE08B7-2557-6D12-E651-B9CA923C876D}"/>
              </a:ext>
            </a:extLst>
          </p:cNvPr>
          <p:cNvSpPr>
            <a:spLocks noGrp="1"/>
          </p:cNvSpPr>
          <p:nvPr>
            <p:ph idx="1"/>
          </p:nvPr>
        </p:nvSpPr>
        <p:spPr/>
        <p:txBody>
          <a:bodyPr>
            <a:normAutofit fontScale="92500" lnSpcReduction="20000"/>
          </a:bodyPr>
          <a:lstStyle/>
          <a:p>
            <a:pPr algn="just" fontAlgn="base">
              <a:spcBef>
                <a:spcPts val="1800"/>
              </a:spcBef>
              <a:spcAft>
                <a:spcPts val="1800"/>
              </a:spcAft>
              <a:buNone/>
            </a:pPr>
            <a:r>
              <a:rPr lang="en-IN" b="1" i="0" u="none" strike="noStrike" dirty="0">
                <a:solidFill>
                  <a:srgbClr val="273239"/>
                </a:solidFill>
                <a:effectLst/>
                <a:latin typeface="Times New Roman" panose="02020603050405020304" pitchFamily="18" charset="0"/>
                <a:cs typeface="Times New Roman" panose="02020603050405020304" pitchFamily="18" charset="0"/>
              </a:rPr>
              <a:t>3. Boundary value analysis</a:t>
            </a:r>
          </a:p>
          <a:p>
            <a:pPr algn="just" fontAlgn="base">
              <a:spcAft>
                <a:spcPts val="1800"/>
              </a:spcAft>
              <a:buFont typeface="Arial" panose="020B0604020202020204" pitchFamily="34" charset="0"/>
              <a:buChar char="•"/>
            </a:pPr>
            <a:r>
              <a:rPr lang="en-IN" b="0" i="0" u="none" strike="noStrike" dirty="0">
                <a:solidFill>
                  <a:srgbClr val="273239"/>
                </a:solidFill>
                <a:effectLst/>
                <a:latin typeface="Times New Roman" panose="02020603050405020304" pitchFamily="18" charset="0"/>
                <a:cs typeface="Times New Roman" panose="02020603050405020304" pitchFamily="18" charset="0"/>
              </a:rPr>
              <a:t>Boundaries are very good places for errors to occur.</a:t>
            </a:r>
          </a:p>
          <a:p>
            <a:pPr algn="just" fontAlgn="base">
              <a:spcAft>
                <a:spcPts val="1800"/>
              </a:spcAft>
              <a:buFont typeface="Arial" panose="020B0604020202020204" pitchFamily="34" charset="0"/>
              <a:buChar char="•"/>
            </a:pPr>
            <a:r>
              <a:rPr lang="en-IN" b="0" i="0" u="none" strike="noStrike" dirty="0">
                <a:solidFill>
                  <a:srgbClr val="273239"/>
                </a:solidFill>
                <a:effectLst/>
                <a:latin typeface="Times New Roman" panose="02020603050405020304" pitchFamily="18" charset="0"/>
                <a:cs typeface="Times New Roman" panose="02020603050405020304" pitchFamily="18" charset="0"/>
              </a:rPr>
              <a:t>Hence, if test cases are designed for boundary values of the input domain then the efficiency of testing improves and the probability of finding errors also increases.</a:t>
            </a:r>
          </a:p>
          <a:p>
            <a:pPr algn="just" fontAlgn="base">
              <a:spcAft>
                <a:spcPts val="1800"/>
              </a:spcAft>
              <a:buFont typeface="Arial" panose="020B0604020202020204" pitchFamily="34" charset="0"/>
              <a:buChar char="•"/>
            </a:pPr>
            <a:r>
              <a:rPr lang="en-IN" b="0" i="0" u="none" strike="noStrike" dirty="0">
                <a:solidFill>
                  <a:srgbClr val="273239"/>
                </a:solidFill>
                <a:effectLst/>
                <a:latin typeface="Times New Roman" panose="02020603050405020304" pitchFamily="18" charset="0"/>
                <a:cs typeface="Times New Roman" panose="02020603050405020304" pitchFamily="18" charset="0"/>
              </a:rPr>
              <a:t>For example – If the valid range is 10 to 100 then test for 10,100 also apart from valid and invalid inputs.</a:t>
            </a:r>
          </a:p>
          <a:p>
            <a:pPr algn="just">
              <a:buNone/>
            </a:pPr>
            <a:br>
              <a:rPr lang="en-IN"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064D924-367D-2432-6AD2-275AAA37396F}"/>
              </a:ext>
            </a:extLst>
          </p:cNvPr>
          <p:cNvSpPr>
            <a:spLocks noGrp="1"/>
          </p:cNvSpPr>
          <p:nvPr>
            <p:ph type="sldNum" sz="quarter" idx="12"/>
          </p:nvPr>
        </p:nvSpPr>
        <p:spPr/>
        <p:txBody>
          <a:bodyPr/>
          <a:lstStyle/>
          <a:p>
            <a:fld id="{BDCDBBEF-AA6C-4BA6-85B2-A17D7F280E38}" type="slidenum">
              <a:rPr lang="en-US" smtClean="0"/>
              <a:pPr/>
              <a:t>8</a:t>
            </a:fld>
            <a:endParaRPr lang="en-US"/>
          </a:p>
        </p:txBody>
      </p:sp>
    </p:spTree>
    <p:extLst>
      <p:ext uri="{BB962C8B-B14F-4D97-AF65-F5344CB8AC3E}">
        <p14:creationId xmlns:p14="http://schemas.microsoft.com/office/powerpoint/2010/main" val="2087382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7162C-BA76-E312-3882-92280FDF9D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BF73FA-CDC2-32FF-9F91-D800E4B6BD98}"/>
              </a:ext>
            </a:extLst>
          </p:cNvPr>
          <p:cNvSpPr>
            <a:spLocks noGrp="1"/>
          </p:cNvSpPr>
          <p:nvPr>
            <p:ph type="title"/>
          </p:nvPr>
        </p:nvSpPr>
        <p:spPr/>
        <p:txBody>
          <a:bodyPr/>
          <a:lstStyle/>
          <a:p>
            <a:r>
              <a:rPr lang="en-US" dirty="0"/>
              <a:t>Techniques of Black Box Testing:</a:t>
            </a:r>
          </a:p>
        </p:txBody>
      </p:sp>
      <p:sp>
        <p:nvSpPr>
          <p:cNvPr id="3" name="Content Placeholder 2">
            <a:extLst>
              <a:ext uri="{FF2B5EF4-FFF2-40B4-BE49-F238E27FC236}">
                <a16:creationId xmlns:a16="http://schemas.microsoft.com/office/drawing/2014/main" id="{D2306ECF-EBFE-86FD-9255-96AB1BED2FDD}"/>
              </a:ext>
            </a:extLst>
          </p:cNvPr>
          <p:cNvSpPr>
            <a:spLocks noGrp="1"/>
          </p:cNvSpPr>
          <p:nvPr>
            <p:ph idx="1"/>
          </p:nvPr>
        </p:nvSpPr>
        <p:spPr/>
        <p:txBody>
          <a:bodyPr>
            <a:normAutofit fontScale="25000" lnSpcReduction="20000"/>
          </a:bodyPr>
          <a:lstStyle/>
          <a:p>
            <a:pPr algn="just" fontAlgn="base">
              <a:spcBef>
                <a:spcPts val="1800"/>
              </a:spcBef>
              <a:spcAft>
                <a:spcPts val="1800"/>
              </a:spcAft>
              <a:buNone/>
            </a:pPr>
            <a:r>
              <a:rPr lang="en-IN" sz="11200" b="1" i="0" u="none" strike="noStrike" dirty="0">
                <a:solidFill>
                  <a:srgbClr val="273239"/>
                </a:solidFill>
                <a:effectLst/>
                <a:latin typeface="Times New Roman" panose="02020603050405020304" pitchFamily="18" charset="0"/>
                <a:cs typeface="Times New Roman" panose="02020603050405020304" pitchFamily="18" charset="0"/>
              </a:rPr>
              <a:t>4. Cause effect graphing</a:t>
            </a:r>
          </a:p>
          <a:p>
            <a:pPr algn="just" rtl="0" fontAlgn="base">
              <a:spcAft>
                <a:spcPts val="750"/>
              </a:spcAft>
              <a:buNone/>
            </a:pPr>
            <a:r>
              <a:rPr lang="en-IN" sz="11200" b="0" i="0" u="none" strike="noStrike" dirty="0">
                <a:solidFill>
                  <a:srgbClr val="273239"/>
                </a:solidFill>
                <a:effectLst/>
                <a:latin typeface="Times New Roman" panose="02020603050405020304" pitchFamily="18" charset="0"/>
                <a:cs typeface="Times New Roman" panose="02020603050405020304" pitchFamily="18" charset="0"/>
              </a:rPr>
              <a:t>This technique establishes a relationship between logical input called causes with corresponding actions called the effect. The causes and effects are represented using Boolean graphs. The following steps are followed:</a:t>
            </a:r>
          </a:p>
          <a:p>
            <a:pPr algn="just" fontAlgn="base">
              <a:spcAft>
                <a:spcPts val="1800"/>
              </a:spcAft>
              <a:buFont typeface="+mj-lt"/>
              <a:buAutoNum type="arabicPeriod"/>
            </a:pPr>
            <a:r>
              <a:rPr lang="en-IN" sz="11200" b="0" i="0" u="none" strike="noStrike" dirty="0">
                <a:solidFill>
                  <a:srgbClr val="273239"/>
                </a:solidFill>
                <a:effectLst/>
                <a:latin typeface="Times New Roman" panose="02020603050405020304" pitchFamily="18" charset="0"/>
                <a:cs typeface="Times New Roman" panose="02020603050405020304" pitchFamily="18" charset="0"/>
              </a:rPr>
              <a:t>Identify inputs (causes) and outputs (effect).</a:t>
            </a:r>
          </a:p>
          <a:p>
            <a:pPr algn="just" fontAlgn="base">
              <a:spcAft>
                <a:spcPts val="1800"/>
              </a:spcAft>
              <a:buFont typeface="+mj-lt"/>
              <a:buAutoNum type="arabicPeriod" startAt="2"/>
            </a:pPr>
            <a:r>
              <a:rPr lang="en-IN" sz="11200" b="0" i="0" u="none" strike="noStrike" dirty="0">
                <a:solidFill>
                  <a:srgbClr val="273239"/>
                </a:solidFill>
                <a:effectLst/>
                <a:latin typeface="Times New Roman" panose="02020603050405020304" pitchFamily="18" charset="0"/>
                <a:cs typeface="Times New Roman" panose="02020603050405020304" pitchFamily="18" charset="0"/>
              </a:rPr>
              <a:t>Develop a cause-effect graph.</a:t>
            </a:r>
          </a:p>
          <a:p>
            <a:pPr algn="just" fontAlgn="base">
              <a:spcAft>
                <a:spcPts val="1800"/>
              </a:spcAft>
              <a:buFont typeface="+mj-lt"/>
              <a:buAutoNum type="arabicPeriod" startAt="3"/>
            </a:pPr>
            <a:r>
              <a:rPr lang="en-IN" sz="11200" b="0" i="0" u="none" strike="noStrike" dirty="0">
                <a:solidFill>
                  <a:srgbClr val="273239"/>
                </a:solidFill>
                <a:effectLst/>
                <a:latin typeface="Times New Roman" panose="02020603050405020304" pitchFamily="18" charset="0"/>
                <a:cs typeface="Times New Roman" panose="02020603050405020304" pitchFamily="18" charset="0"/>
              </a:rPr>
              <a:t>Transform the graph into a decision table.</a:t>
            </a:r>
          </a:p>
          <a:p>
            <a:pPr algn="just" fontAlgn="base">
              <a:spcAft>
                <a:spcPts val="1800"/>
              </a:spcAft>
              <a:buFont typeface="+mj-lt"/>
              <a:buAutoNum type="arabicPeriod" startAt="4"/>
            </a:pPr>
            <a:r>
              <a:rPr lang="en-IN" sz="11200" b="0" i="0" u="none" strike="noStrike" dirty="0">
                <a:solidFill>
                  <a:srgbClr val="273239"/>
                </a:solidFill>
                <a:effectLst/>
                <a:latin typeface="Times New Roman" panose="02020603050405020304" pitchFamily="18" charset="0"/>
                <a:cs typeface="Times New Roman" panose="02020603050405020304" pitchFamily="18" charset="0"/>
              </a:rPr>
              <a:t>Convert decision table rules to test cases.</a:t>
            </a:r>
          </a:p>
          <a:p>
            <a:pPr>
              <a:buNone/>
            </a:pPr>
            <a:br>
              <a:rPr lang="en-IN" dirty="0"/>
            </a:br>
            <a:br>
              <a:rPr lang="en-IN"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D7B56E0-E688-18C7-19E9-829AF578641F}"/>
              </a:ext>
            </a:extLst>
          </p:cNvPr>
          <p:cNvSpPr>
            <a:spLocks noGrp="1"/>
          </p:cNvSpPr>
          <p:nvPr>
            <p:ph type="sldNum" sz="quarter" idx="12"/>
          </p:nvPr>
        </p:nvSpPr>
        <p:spPr/>
        <p:txBody>
          <a:bodyPr/>
          <a:lstStyle/>
          <a:p>
            <a:fld id="{BDCDBBEF-AA6C-4BA6-85B2-A17D7F280E38}" type="slidenum">
              <a:rPr lang="en-US" smtClean="0"/>
              <a:pPr/>
              <a:t>9</a:t>
            </a:fld>
            <a:endParaRPr lang="en-US" dirty="0"/>
          </a:p>
        </p:txBody>
      </p:sp>
    </p:spTree>
    <p:extLst>
      <p:ext uri="{BB962C8B-B14F-4D97-AF65-F5344CB8AC3E}">
        <p14:creationId xmlns:p14="http://schemas.microsoft.com/office/powerpoint/2010/main" val="2184784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24BF241-6149-5236-7DE3-898054E5CFE5}"/>
              </a:ext>
            </a:extLst>
          </p:cNvPr>
          <p:cNvSpPr>
            <a:spLocks noGrp="1"/>
          </p:cNvSpPr>
          <p:nvPr>
            <p:ph type="sldNum" sz="quarter" idx="12"/>
          </p:nvPr>
        </p:nvSpPr>
        <p:spPr/>
        <p:txBody>
          <a:bodyPr/>
          <a:lstStyle/>
          <a:p>
            <a:fld id="{BDCDBBEF-AA6C-4BA6-85B2-A17D7F280E38}" type="slidenum">
              <a:rPr lang="en-US" smtClean="0"/>
              <a:pPr/>
              <a:t>10</a:t>
            </a:fld>
            <a:endParaRPr lang="en-US"/>
          </a:p>
        </p:txBody>
      </p:sp>
      <p:pic>
        <p:nvPicPr>
          <p:cNvPr id="1029" name="Picture 5" descr="Lightbox">
            <a:extLst>
              <a:ext uri="{FF2B5EF4-FFF2-40B4-BE49-F238E27FC236}">
                <a16:creationId xmlns:a16="http://schemas.microsoft.com/office/drawing/2014/main" id="{424C9118-8F08-8E04-C4BC-FFAC9DA73ED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304112"/>
            <a:ext cx="3479800" cy="3200400"/>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Lightbox">
            <a:extLst>
              <a:ext uri="{FF2B5EF4-FFF2-40B4-BE49-F238E27FC236}">
                <a16:creationId xmlns:a16="http://schemas.microsoft.com/office/drawing/2014/main" id="{97BC44CF-E8BD-4D4A-AF48-E554668920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7952" y="2405712"/>
            <a:ext cx="5372100" cy="29972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C2DFF92-4D8B-6AD6-03EA-1FD0AAED140E}"/>
              </a:ext>
            </a:extLst>
          </p:cNvPr>
          <p:cNvSpPr txBox="1"/>
          <p:nvPr/>
        </p:nvSpPr>
        <p:spPr>
          <a:xfrm>
            <a:off x="247426" y="1731981"/>
            <a:ext cx="4070574" cy="646331"/>
          </a:xfrm>
          <a:prstGeom prst="rect">
            <a:avLst/>
          </a:prstGeom>
          <a:noFill/>
        </p:spPr>
        <p:txBody>
          <a:bodyPr wrap="square">
            <a:spAutoFit/>
          </a:bodyPr>
          <a:lstStyle/>
          <a:p>
            <a:r>
              <a:rPr lang="en-IN" b="0" i="0" u="none" strike="noStrike" dirty="0">
                <a:solidFill>
                  <a:srgbClr val="273239"/>
                </a:solidFill>
                <a:effectLst/>
                <a:latin typeface="Nunito" pitchFamily="2" charset="77"/>
              </a:rPr>
              <a:t>For example, in the following cause-effect graph:</a:t>
            </a:r>
            <a:endParaRPr lang="en-US" dirty="0"/>
          </a:p>
        </p:txBody>
      </p:sp>
      <p:sp>
        <p:nvSpPr>
          <p:cNvPr id="9" name="TextBox 8">
            <a:extLst>
              <a:ext uri="{FF2B5EF4-FFF2-40B4-BE49-F238E27FC236}">
                <a16:creationId xmlns:a16="http://schemas.microsoft.com/office/drawing/2014/main" id="{6B8F0717-5D39-7290-21F2-CC9A00224CB3}"/>
              </a:ext>
            </a:extLst>
          </p:cNvPr>
          <p:cNvSpPr txBox="1"/>
          <p:nvPr/>
        </p:nvSpPr>
        <p:spPr>
          <a:xfrm>
            <a:off x="5271247" y="1904104"/>
            <a:ext cx="3878132" cy="646331"/>
          </a:xfrm>
          <a:prstGeom prst="rect">
            <a:avLst/>
          </a:prstGeom>
          <a:noFill/>
        </p:spPr>
        <p:txBody>
          <a:bodyPr wrap="square">
            <a:spAutoFit/>
          </a:bodyPr>
          <a:lstStyle/>
          <a:p>
            <a:r>
              <a:rPr lang="en-IN" b="0" i="0" u="none" strike="noStrike" dirty="0">
                <a:solidFill>
                  <a:srgbClr val="273239"/>
                </a:solidFill>
                <a:effectLst/>
                <a:latin typeface="Nunito" pitchFamily="2" charset="77"/>
              </a:rPr>
              <a:t>It can be converted into a decision table like:</a:t>
            </a:r>
            <a:endParaRPr lang="en-US" dirty="0"/>
          </a:p>
        </p:txBody>
      </p:sp>
      <p:sp>
        <p:nvSpPr>
          <p:cNvPr id="11" name="TextBox 10">
            <a:extLst>
              <a:ext uri="{FF2B5EF4-FFF2-40B4-BE49-F238E27FC236}">
                <a16:creationId xmlns:a16="http://schemas.microsoft.com/office/drawing/2014/main" id="{9A694FF0-7556-C539-A42F-05D3E69B40C7}"/>
              </a:ext>
            </a:extLst>
          </p:cNvPr>
          <p:cNvSpPr txBox="1"/>
          <p:nvPr/>
        </p:nvSpPr>
        <p:spPr>
          <a:xfrm>
            <a:off x="2282712" y="5753477"/>
            <a:ext cx="8277339" cy="646331"/>
          </a:xfrm>
          <a:prstGeom prst="rect">
            <a:avLst/>
          </a:prstGeom>
          <a:noFill/>
        </p:spPr>
        <p:txBody>
          <a:bodyPr wrap="square">
            <a:spAutoFit/>
          </a:bodyPr>
          <a:lstStyle/>
          <a:p>
            <a:r>
              <a:rPr lang="en-IN" b="0" i="0" u="none" strike="noStrike" dirty="0">
                <a:solidFill>
                  <a:srgbClr val="273239"/>
                </a:solidFill>
                <a:effectLst/>
                <a:latin typeface="Nunito" pitchFamily="2" charset="77"/>
              </a:rPr>
              <a:t>Each column corresponds to a rule which will become a test case for testing. So there will be 4 test cases.</a:t>
            </a:r>
            <a:endParaRPr lang="en-US" dirty="0"/>
          </a:p>
        </p:txBody>
      </p:sp>
    </p:spTree>
    <p:extLst>
      <p:ext uri="{BB962C8B-B14F-4D97-AF65-F5344CB8AC3E}">
        <p14:creationId xmlns:p14="http://schemas.microsoft.com/office/powerpoint/2010/main" val="633563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DB698-A4A9-CE69-C4CE-66613433AF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4DF056-11B5-1091-7B06-D5C8B0A580D1}"/>
              </a:ext>
            </a:extLst>
          </p:cNvPr>
          <p:cNvSpPr>
            <a:spLocks noGrp="1"/>
          </p:cNvSpPr>
          <p:nvPr>
            <p:ph type="title"/>
          </p:nvPr>
        </p:nvSpPr>
        <p:spPr/>
        <p:txBody>
          <a:bodyPr/>
          <a:lstStyle/>
          <a:p>
            <a:r>
              <a:rPr lang="en-US" dirty="0"/>
              <a:t>Techniques of Black Box Testing:</a:t>
            </a:r>
          </a:p>
        </p:txBody>
      </p:sp>
      <p:sp>
        <p:nvSpPr>
          <p:cNvPr id="3" name="Content Placeholder 2">
            <a:extLst>
              <a:ext uri="{FF2B5EF4-FFF2-40B4-BE49-F238E27FC236}">
                <a16:creationId xmlns:a16="http://schemas.microsoft.com/office/drawing/2014/main" id="{03208E5E-8C80-C0EA-443E-9A96E7A53D10}"/>
              </a:ext>
            </a:extLst>
          </p:cNvPr>
          <p:cNvSpPr>
            <a:spLocks noGrp="1"/>
          </p:cNvSpPr>
          <p:nvPr>
            <p:ph idx="1"/>
          </p:nvPr>
        </p:nvSpPr>
        <p:spPr>
          <a:xfrm>
            <a:off x="753035" y="1398494"/>
            <a:ext cx="10600765" cy="4778469"/>
          </a:xfrm>
        </p:spPr>
        <p:txBody>
          <a:bodyPr>
            <a:noAutofit/>
          </a:bodyPr>
          <a:lstStyle/>
          <a:p>
            <a:pPr algn="just" fontAlgn="base">
              <a:spcBef>
                <a:spcPts val="1800"/>
              </a:spcBef>
              <a:spcAft>
                <a:spcPts val="1800"/>
              </a:spcAft>
              <a:buNone/>
            </a:pPr>
            <a:r>
              <a:rPr lang="en-IN" sz="2400" b="1" i="0" u="none" strike="noStrike" dirty="0">
                <a:solidFill>
                  <a:srgbClr val="273239"/>
                </a:solidFill>
                <a:effectLst/>
                <a:latin typeface="Times New Roman" panose="02020603050405020304" pitchFamily="18" charset="0"/>
                <a:cs typeface="Times New Roman" panose="02020603050405020304" pitchFamily="18" charset="0"/>
              </a:rPr>
              <a:t>5. Requirement-based testing</a:t>
            </a:r>
          </a:p>
          <a:p>
            <a:pPr algn="just" rtl="0" fontAlgn="base">
              <a:spcAft>
                <a:spcPts val="750"/>
              </a:spcAft>
              <a:buNone/>
            </a:pPr>
            <a:r>
              <a:rPr lang="en-IN" sz="2400" b="0" i="0" u="none" strike="noStrike" dirty="0">
                <a:solidFill>
                  <a:srgbClr val="273239"/>
                </a:solidFill>
                <a:effectLst/>
                <a:latin typeface="Times New Roman" panose="02020603050405020304" pitchFamily="18" charset="0"/>
                <a:cs typeface="Times New Roman" panose="02020603050405020304" pitchFamily="18" charset="0"/>
              </a:rPr>
              <a:t>It includes validating the requirements given in the SRS of a software system.</a:t>
            </a:r>
          </a:p>
        </p:txBody>
      </p:sp>
      <p:sp>
        <p:nvSpPr>
          <p:cNvPr id="4" name="Slide Number Placeholder 3">
            <a:extLst>
              <a:ext uri="{FF2B5EF4-FFF2-40B4-BE49-F238E27FC236}">
                <a16:creationId xmlns:a16="http://schemas.microsoft.com/office/drawing/2014/main" id="{7C0636DF-DE08-FC08-0AA5-3D98FA2BA7BE}"/>
              </a:ext>
            </a:extLst>
          </p:cNvPr>
          <p:cNvSpPr>
            <a:spLocks noGrp="1"/>
          </p:cNvSpPr>
          <p:nvPr>
            <p:ph type="sldNum" sz="quarter" idx="12"/>
          </p:nvPr>
        </p:nvSpPr>
        <p:spPr/>
        <p:txBody>
          <a:bodyPr/>
          <a:lstStyle/>
          <a:p>
            <a:fld id="{BDCDBBEF-AA6C-4BA6-85B2-A17D7F280E38}" type="slidenum">
              <a:rPr lang="en-US" smtClean="0"/>
              <a:pPr/>
              <a:t>11</a:t>
            </a:fld>
            <a:endParaRPr lang="en-US" dirty="0"/>
          </a:p>
        </p:txBody>
      </p:sp>
    </p:spTree>
    <p:extLst>
      <p:ext uri="{BB962C8B-B14F-4D97-AF65-F5344CB8AC3E}">
        <p14:creationId xmlns:p14="http://schemas.microsoft.com/office/powerpoint/2010/main" val="1634939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124CB-E7A4-6A42-4E21-C73650D217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1B30D4-C395-560F-AB85-A981B950D9A9}"/>
              </a:ext>
            </a:extLst>
          </p:cNvPr>
          <p:cNvSpPr>
            <a:spLocks noGrp="1"/>
          </p:cNvSpPr>
          <p:nvPr>
            <p:ph type="title"/>
          </p:nvPr>
        </p:nvSpPr>
        <p:spPr/>
        <p:txBody>
          <a:bodyPr/>
          <a:lstStyle/>
          <a:p>
            <a:r>
              <a:rPr lang="en-US" dirty="0"/>
              <a:t>Techniques of Black Box Testing:</a:t>
            </a:r>
          </a:p>
        </p:txBody>
      </p:sp>
      <p:sp>
        <p:nvSpPr>
          <p:cNvPr id="3" name="Content Placeholder 2">
            <a:extLst>
              <a:ext uri="{FF2B5EF4-FFF2-40B4-BE49-F238E27FC236}">
                <a16:creationId xmlns:a16="http://schemas.microsoft.com/office/drawing/2014/main" id="{3FB25166-ADF8-1012-9D99-BA0413DD9CE6}"/>
              </a:ext>
            </a:extLst>
          </p:cNvPr>
          <p:cNvSpPr>
            <a:spLocks noGrp="1"/>
          </p:cNvSpPr>
          <p:nvPr>
            <p:ph idx="1"/>
          </p:nvPr>
        </p:nvSpPr>
        <p:spPr>
          <a:xfrm>
            <a:off x="462579" y="1398494"/>
            <a:ext cx="10891221" cy="5174428"/>
          </a:xfrm>
        </p:spPr>
        <p:txBody>
          <a:bodyPr>
            <a:noAutofit/>
          </a:bodyPr>
          <a:lstStyle/>
          <a:p>
            <a:pPr algn="just" fontAlgn="base">
              <a:spcBef>
                <a:spcPts val="1800"/>
              </a:spcBef>
              <a:spcAft>
                <a:spcPts val="1800"/>
              </a:spcAft>
              <a:buNone/>
            </a:pPr>
            <a:r>
              <a:rPr lang="en-IN" sz="2400" b="1" i="0" u="none" strike="noStrike" dirty="0">
                <a:solidFill>
                  <a:srgbClr val="273239"/>
                </a:solidFill>
                <a:effectLst/>
                <a:latin typeface="Times New Roman" panose="02020603050405020304" pitchFamily="18" charset="0"/>
                <a:cs typeface="Times New Roman" panose="02020603050405020304" pitchFamily="18" charset="0"/>
              </a:rPr>
              <a:t>6. Compatibility testing</a:t>
            </a:r>
          </a:p>
          <a:p>
            <a:pPr algn="just" fontAlgn="base">
              <a:spcBef>
                <a:spcPts val="1800"/>
              </a:spcBef>
              <a:spcAft>
                <a:spcPts val="1800"/>
              </a:spcAft>
              <a:buNone/>
            </a:pPr>
            <a:r>
              <a:rPr lang="en-IN" sz="2400" b="0" i="0" u="none" strike="noStrike" dirty="0">
                <a:solidFill>
                  <a:srgbClr val="273239"/>
                </a:solidFill>
                <a:effectLst/>
                <a:latin typeface="Times New Roman" panose="02020603050405020304" pitchFamily="18" charset="0"/>
                <a:cs typeface="Times New Roman" panose="02020603050405020304" pitchFamily="18" charset="0"/>
              </a:rPr>
              <a:t>The test case results not only depends on the product but is also on the infrastructure for delivering functionality. When the infrastructure parameters are changed it is still expected to work properly. Some parameters that generally affect the compatibility of software are:</a:t>
            </a:r>
          </a:p>
          <a:p>
            <a:pPr algn="just" fontAlgn="base">
              <a:spcAft>
                <a:spcPts val="1800"/>
              </a:spcAft>
              <a:buFont typeface="+mj-lt"/>
              <a:buAutoNum type="arabicPeriod"/>
            </a:pPr>
            <a:r>
              <a:rPr lang="en-IN" sz="2400" b="0" i="0" u="none" strike="noStrike" dirty="0">
                <a:solidFill>
                  <a:srgbClr val="273239"/>
                </a:solidFill>
                <a:effectLst/>
                <a:latin typeface="Times New Roman" panose="02020603050405020304" pitchFamily="18" charset="0"/>
                <a:cs typeface="Times New Roman" panose="02020603050405020304" pitchFamily="18" charset="0"/>
              </a:rPr>
              <a:t>Processor (Pentium 3, Pentium 4) and several processors.</a:t>
            </a:r>
          </a:p>
          <a:p>
            <a:pPr algn="just" fontAlgn="base">
              <a:spcAft>
                <a:spcPts val="1800"/>
              </a:spcAft>
              <a:buFont typeface="+mj-lt"/>
              <a:buAutoNum type="arabicPeriod" startAt="2"/>
            </a:pPr>
            <a:r>
              <a:rPr lang="en-IN" sz="2400" b="0" i="0" u="none" strike="noStrike" dirty="0">
                <a:solidFill>
                  <a:srgbClr val="273239"/>
                </a:solidFill>
                <a:effectLst/>
                <a:latin typeface="Times New Roman" panose="02020603050405020304" pitchFamily="18" charset="0"/>
                <a:cs typeface="Times New Roman" panose="02020603050405020304" pitchFamily="18" charset="0"/>
              </a:rPr>
              <a:t>Architecture and characteristics of machine (32-bit or 64-bit).</a:t>
            </a:r>
          </a:p>
          <a:p>
            <a:pPr algn="just" fontAlgn="base">
              <a:spcAft>
                <a:spcPts val="1800"/>
              </a:spcAft>
              <a:buFont typeface="+mj-lt"/>
              <a:buAutoNum type="arabicPeriod" startAt="3"/>
            </a:pPr>
            <a:r>
              <a:rPr lang="en-IN" sz="2400" b="0" i="0" u="none" strike="noStrike" dirty="0">
                <a:solidFill>
                  <a:srgbClr val="273239"/>
                </a:solidFill>
                <a:effectLst/>
                <a:latin typeface="Times New Roman" panose="02020603050405020304" pitchFamily="18" charset="0"/>
                <a:cs typeface="Times New Roman" panose="02020603050405020304" pitchFamily="18" charset="0"/>
              </a:rPr>
              <a:t>Back-end components such as database servers.</a:t>
            </a:r>
          </a:p>
          <a:p>
            <a:pPr algn="just" fontAlgn="base">
              <a:spcAft>
                <a:spcPts val="1800"/>
              </a:spcAft>
              <a:buFont typeface="+mj-lt"/>
              <a:buAutoNum type="arabicPeriod" startAt="4"/>
            </a:pPr>
            <a:r>
              <a:rPr lang="en-IN" sz="2400" b="0" i="0" u="none" strike="noStrike" dirty="0">
                <a:solidFill>
                  <a:srgbClr val="273239"/>
                </a:solidFill>
                <a:effectLst/>
                <a:latin typeface="Times New Roman" panose="02020603050405020304" pitchFamily="18" charset="0"/>
                <a:cs typeface="Times New Roman" panose="02020603050405020304" pitchFamily="18" charset="0"/>
              </a:rPr>
              <a:t>Operating System (Windows, Linux, etc.)</a:t>
            </a:r>
          </a:p>
        </p:txBody>
      </p:sp>
      <p:sp>
        <p:nvSpPr>
          <p:cNvPr id="4" name="Slide Number Placeholder 3">
            <a:extLst>
              <a:ext uri="{FF2B5EF4-FFF2-40B4-BE49-F238E27FC236}">
                <a16:creationId xmlns:a16="http://schemas.microsoft.com/office/drawing/2014/main" id="{CA41A903-A6D9-4092-81B0-A8694850338B}"/>
              </a:ext>
            </a:extLst>
          </p:cNvPr>
          <p:cNvSpPr>
            <a:spLocks noGrp="1"/>
          </p:cNvSpPr>
          <p:nvPr>
            <p:ph type="sldNum" sz="quarter" idx="12"/>
          </p:nvPr>
        </p:nvSpPr>
        <p:spPr/>
        <p:txBody>
          <a:bodyPr/>
          <a:lstStyle/>
          <a:p>
            <a:fld id="{BDCDBBEF-AA6C-4BA6-85B2-A17D7F280E38}" type="slidenum">
              <a:rPr lang="en-US" smtClean="0"/>
              <a:pPr/>
              <a:t>12</a:t>
            </a:fld>
            <a:endParaRPr lang="en-US" dirty="0"/>
          </a:p>
        </p:txBody>
      </p:sp>
    </p:spTree>
    <p:extLst>
      <p:ext uri="{BB962C8B-B14F-4D97-AF65-F5344CB8AC3E}">
        <p14:creationId xmlns:p14="http://schemas.microsoft.com/office/powerpoint/2010/main" val="1331769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7581"/>
            <a:ext cx="10515600" cy="873107"/>
          </a:xfrm>
        </p:spPr>
        <p:txBody>
          <a:bodyPr>
            <a:normAutofit fontScale="90000"/>
          </a:bodyPr>
          <a:lstStyle/>
          <a:p>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Advantages</a:t>
            </a:r>
            <a:br>
              <a:rPr lang="en-US" b="1"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Tests are done from a user’s point of view and will help in exposing discrepancies in the specifications.</a:t>
            </a:r>
          </a:p>
          <a:p>
            <a:pPr algn="just"/>
            <a:r>
              <a:rPr lang="en-US" dirty="0">
                <a:latin typeface="Times New Roman" panose="02020603050405020304" pitchFamily="18" charset="0"/>
                <a:cs typeface="Times New Roman" panose="02020603050405020304" pitchFamily="18" charset="0"/>
              </a:rPr>
              <a:t>Tester need not know programming languages or how the software has been implemented.</a:t>
            </a:r>
          </a:p>
          <a:p>
            <a:pPr algn="just"/>
            <a:r>
              <a:rPr lang="en-US" dirty="0">
                <a:latin typeface="Times New Roman" panose="02020603050405020304" pitchFamily="18" charset="0"/>
                <a:cs typeface="Times New Roman" panose="02020603050405020304" pitchFamily="18" charset="0"/>
              </a:rPr>
              <a:t>Tests can be conducted by a body independent from the developers, allowing for an objective perspective and the avoidance of developer-bias.</a:t>
            </a:r>
          </a:p>
          <a:p>
            <a:pPr algn="just"/>
            <a:r>
              <a:rPr lang="en-US" dirty="0">
                <a:latin typeface="Times New Roman" panose="02020603050405020304" pitchFamily="18" charset="0"/>
                <a:cs typeface="Times New Roman" panose="02020603050405020304" pitchFamily="18" charset="0"/>
              </a:rPr>
              <a:t>Test cases can be designed as soon as the specifications are complete.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fontScale="90000"/>
          </a:bodyPr>
          <a:lstStyle/>
          <a:p>
            <a:br>
              <a:rPr lang="en-US" b="1" dirty="0"/>
            </a:br>
            <a:r>
              <a:rPr lang="en-US" sz="4000" b="1" dirty="0">
                <a:latin typeface="Times New Roman" panose="02020603050405020304" pitchFamily="18" charset="0"/>
                <a:cs typeface="Times New Roman" panose="02020603050405020304" pitchFamily="18" charset="0"/>
              </a:rPr>
              <a:t>Disadvantages</a:t>
            </a:r>
            <a:br>
              <a:rPr lang="en-US" b="1"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Only a small number of possible inputs can be tested and many program paths will be left untested.</a:t>
            </a:r>
          </a:p>
          <a:p>
            <a:pPr algn="just"/>
            <a:r>
              <a:rPr lang="en-US" dirty="0">
                <a:latin typeface="Times New Roman" panose="02020603050405020304" pitchFamily="18" charset="0"/>
                <a:cs typeface="Times New Roman" panose="02020603050405020304" pitchFamily="18" charset="0"/>
              </a:rPr>
              <a:t>Without clear specifications, which is the situation in many projects, test cases will be difficult to design.</a:t>
            </a:r>
          </a:p>
          <a:p>
            <a:pPr algn="just"/>
            <a:r>
              <a:rPr lang="en-US" dirty="0">
                <a:latin typeface="Times New Roman" panose="02020603050405020304" pitchFamily="18" charset="0"/>
                <a:cs typeface="Times New Roman" panose="02020603050405020304" pitchFamily="18" charset="0"/>
              </a:rPr>
              <a:t>Tests can be redundant if the software designer/developer has already run a test case.</a:t>
            </a:r>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5308"/>
            <a:ext cx="10515600" cy="905380"/>
          </a:xfrm>
        </p:spPr>
        <p:txBody>
          <a:bodyPr>
            <a:normAutofit fontScale="90000"/>
          </a:bodyPr>
          <a:lstStyle/>
          <a:p>
            <a:br>
              <a:rPr lang="en-US" b="1" dirty="0"/>
            </a:br>
            <a:r>
              <a:rPr lang="en-US" b="1" dirty="0">
                <a:latin typeface="Times New Roman" panose="02020603050405020304" pitchFamily="18" charset="0"/>
                <a:cs typeface="Times New Roman" panose="02020603050405020304" pitchFamily="18" charset="0"/>
              </a:rPr>
              <a:t>White Box Testing</a:t>
            </a:r>
            <a:br>
              <a:rPr lang="en-US" b="1" dirty="0"/>
            </a:br>
            <a:endParaRPr lang="en-US" dirty="0"/>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White Box Testing</a:t>
            </a:r>
            <a:r>
              <a:rPr lang="en-US" dirty="0">
                <a:latin typeface="Times New Roman" panose="02020603050405020304" pitchFamily="18" charset="0"/>
                <a:cs typeface="Times New Roman" panose="02020603050405020304" pitchFamily="18" charset="0"/>
              </a:rPr>
              <a:t> is software testing technique in which internal structure, design and coding of software are tested to verify flow of input-output and to improve design, usability and security. </a:t>
            </a:r>
          </a:p>
          <a:p>
            <a:pPr algn="just"/>
            <a:r>
              <a:rPr lang="en-US" dirty="0">
                <a:latin typeface="Times New Roman" panose="02020603050405020304" pitchFamily="18" charset="0"/>
                <a:cs typeface="Times New Roman" panose="02020603050405020304" pitchFamily="18" charset="0"/>
              </a:rPr>
              <a:t>In white box testing, code is visible to testers so it is also called Clear box testing, Open box testing, Transparent box testing, Code-based testing and Glass box testing.</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1037"/>
            <a:ext cx="10515600" cy="1009651"/>
          </a:xfrm>
        </p:spPr>
        <p:txBody>
          <a:bodyPr>
            <a:normAutofit fontScale="90000"/>
          </a:bodyPr>
          <a:lstStyle/>
          <a:p>
            <a:br>
              <a:rPr lang="en-US" b="1" dirty="0"/>
            </a:br>
            <a:r>
              <a:rPr lang="en-US" b="1" dirty="0">
                <a:latin typeface="Times New Roman" panose="02020603050405020304" pitchFamily="18" charset="0"/>
                <a:cs typeface="Times New Roman" panose="02020603050405020304" pitchFamily="18" charset="0"/>
              </a:rPr>
              <a:t>White Box Testing</a:t>
            </a:r>
            <a:br>
              <a:rPr lang="en-US" b="1" dirty="0"/>
            </a:br>
            <a:endParaRPr lang="en-US" dirty="0"/>
          </a:p>
        </p:txBody>
      </p:sp>
      <p:sp>
        <p:nvSpPr>
          <p:cNvPr id="3" name="Content Placeholder 2"/>
          <p:cNvSpPr>
            <a:spLocks noGrp="1"/>
          </p:cNvSpPr>
          <p:nvPr>
            <p:ph idx="1"/>
          </p:nvPr>
        </p:nvSpPr>
        <p:spPr/>
        <p:txBody>
          <a:bodyPr>
            <a:normAutofit fontScale="92500"/>
          </a:bodyPr>
          <a:lstStyle/>
          <a:p>
            <a:pPr algn="just"/>
            <a:r>
              <a:rPr lang="en-IN" dirty="0">
                <a:solidFill>
                  <a:srgbClr val="141413"/>
                </a:solidFill>
                <a:effectLst/>
                <a:latin typeface="Helvetica" pitchFamily="2" charset="0"/>
              </a:rPr>
              <a:t>White-box testing, sometimes called glass-box testing, is a test-case design philosophy that uses the control structure described as part of component-level design to derive test cases. </a:t>
            </a:r>
          </a:p>
          <a:p>
            <a:pPr algn="just"/>
            <a:r>
              <a:rPr lang="en-IN" dirty="0">
                <a:solidFill>
                  <a:srgbClr val="141413"/>
                </a:solidFill>
                <a:effectLst/>
                <a:latin typeface="Helvetica" pitchFamily="2" charset="0"/>
              </a:rPr>
              <a:t>Using white-box testing methods, you can derive test cases that</a:t>
            </a:r>
          </a:p>
          <a:p>
            <a:pPr marL="514350" indent="-514350" algn="just">
              <a:buAutoNum type="arabicParenBoth"/>
            </a:pPr>
            <a:r>
              <a:rPr lang="en-IN" dirty="0">
                <a:solidFill>
                  <a:srgbClr val="141413"/>
                </a:solidFill>
                <a:effectLst/>
                <a:latin typeface="Helvetica" pitchFamily="2" charset="0"/>
              </a:rPr>
              <a:t>guarantee that all independent paths within a module have been exercised </a:t>
            </a:r>
            <a:r>
              <a:rPr lang="en-IN" dirty="0" err="1">
                <a:solidFill>
                  <a:srgbClr val="141413"/>
                </a:solidFill>
                <a:effectLst/>
                <a:latin typeface="Helvetica" pitchFamily="2" charset="0"/>
              </a:rPr>
              <a:t>atleast</a:t>
            </a:r>
            <a:r>
              <a:rPr lang="en-IN" dirty="0">
                <a:solidFill>
                  <a:srgbClr val="141413"/>
                </a:solidFill>
                <a:effectLst/>
                <a:latin typeface="Helvetica" pitchFamily="2" charset="0"/>
              </a:rPr>
              <a:t> once,</a:t>
            </a:r>
          </a:p>
          <a:p>
            <a:pPr marL="514350" indent="-514350" algn="just">
              <a:buAutoNum type="arabicParenBoth"/>
            </a:pPr>
            <a:r>
              <a:rPr lang="en-IN" dirty="0">
                <a:solidFill>
                  <a:srgbClr val="141413"/>
                </a:solidFill>
                <a:effectLst/>
                <a:latin typeface="Helvetica" pitchFamily="2" charset="0"/>
              </a:rPr>
              <a:t>exercise all logical decisions on their true and false sides, </a:t>
            </a:r>
          </a:p>
          <a:p>
            <a:pPr marL="514350" indent="-514350" algn="just">
              <a:buAutoNum type="arabicParenBoth"/>
            </a:pPr>
            <a:r>
              <a:rPr lang="en-IN" dirty="0">
                <a:solidFill>
                  <a:srgbClr val="141413"/>
                </a:solidFill>
                <a:effectLst/>
                <a:latin typeface="Helvetica" pitchFamily="2" charset="0"/>
              </a:rPr>
              <a:t>Execute all loops at their boundaries and within their operational bounds, and </a:t>
            </a:r>
          </a:p>
          <a:p>
            <a:pPr marL="514350" indent="-514350" algn="just">
              <a:buAutoNum type="arabicParenBoth"/>
            </a:pPr>
            <a:r>
              <a:rPr lang="en-IN" dirty="0">
                <a:solidFill>
                  <a:srgbClr val="141413"/>
                </a:solidFill>
                <a:effectLst/>
                <a:latin typeface="Helvetica" pitchFamily="2" charset="0"/>
              </a:rPr>
              <a:t>Exercise internal data structures to ensure their validity.</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8339"/>
            <a:ext cx="10515600" cy="862349"/>
          </a:xfrm>
        </p:spPr>
        <p:txBody>
          <a:bodyPr>
            <a:normAutofit fontScale="90000"/>
          </a:bodyPr>
          <a:lstStyle/>
          <a:p>
            <a:br>
              <a:rPr lang="en-US" b="1" dirty="0"/>
            </a:br>
            <a:br>
              <a:rPr lang="en-US" b="1" dirty="0"/>
            </a:br>
            <a:r>
              <a:rPr lang="en-US" sz="4000" b="1" dirty="0">
                <a:latin typeface="Times New Roman" panose="02020603050405020304" pitchFamily="18" charset="0"/>
                <a:cs typeface="Times New Roman" panose="02020603050405020304" pitchFamily="18" charset="0"/>
              </a:rPr>
              <a:t>What do you verify in White Box Testing?</a:t>
            </a:r>
            <a:br>
              <a:rPr lang="en-US" b="1" dirty="0"/>
            </a:br>
            <a:br>
              <a:rPr lang="en-US" dirty="0"/>
            </a:br>
            <a:endParaRPr lang="en-US" dirty="0"/>
          </a:p>
        </p:txBody>
      </p:sp>
      <p:sp>
        <p:nvSpPr>
          <p:cNvPr id="3" name="Content Placeholder 2"/>
          <p:cNvSpPr>
            <a:spLocks noGrp="1"/>
          </p:cNvSpPr>
          <p:nvPr>
            <p:ph idx="1"/>
          </p:nvPr>
        </p:nvSpPr>
        <p:spPr/>
        <p:txBody>
          <a:bodyPr>
            <a:normAutofit/>
          </a:bodyPr>
          <a:lstStyle/>
          <a:p>
            <a:pPr marL="0" indent="0">
              <a:buNone/>
            </a:pPr>
            <a:r>
              <a:rPr lang="en-US" dirty="0">
                <a:latin typeface="Times New Roman" panose="02020603050405020304" pitchFamily="18" charset="0"/>
                <a:cs typeface="Times New Roman" panose="02020603050405020304" pitchFamily="18" charset="0"/>
              </a:rPr>
              <a:t>White box testing involves the testing of the software code for the following:</a:t>
            </a:r>
          </a:p>
          <a:p>
            <a:r>
              <a:rPr lang="en-US" dirty="0">
                <a:latin typeface="Times New Roman" panose="02020603050405020304" pitchFamily="18" charset="0"/>
                <a:cs typeface="Times New Roman" panose="02020603050405020304" pitchFamily="18" charset="0"/>
              </a:rPr>
              <a:t>Internal security holes</a:t>
            </a:r>
          </a:p>
          <a:p>
            <a:r>
              <a:rPr lang="en-US" dirty="0">
                <a:latin typeface="Times New Roman" panose="02020603050405020304" pitchFamily="18" charset="0"/>
                <a:cs typeface="Times New Roman" panose="02020603050405020304" pitchFamily="18" charset="0"/>
              </a:rPr>
              <a:t>Broken or poorly structured paths in the coding processes</a:t>
            </a:r>
          </a:p>
          <a:p>
            <a:r>
              <a:rPr lang="en-US" dirty="0">
                <a:latin typeface="Times New Roman" panose="02020603050405020304" pitchFamily="18" charset="0"/>
                <a:cs typeface="Times New Roman" panose="02020603050405020304" pitchFamily="18" charset="0"/>
              </a:rPr>
              <a:t>The flow of specific inputs through the code</a:t>
            </a:r>
          </a:p>
          <a:p>
            <a:r>
              <a:rPr lang="en-US" dirty="0">
                <a:latin typeface="Times New Roman" panose="02020603050405020304" pitchFamily="18" charset="0"/>
                <a:cs typeface="Times New Roman" panose="02020603050405020304" pitchFamily="18" charset="0"/>
              </a:rPr>
              <a:t>Expected output</a:t>
            </a:r>
          </a:p>
          <a:p>
            <a:r>
              <a:rPr lang="en-US" dirty="0">
                <a:latin typeface="Times New Roman" panose="02020603050405020304" pitchFamily="18" charset="0"/>
                <a:cs typeface="Times New Roman" panose="02020603050405020304" pitchFamily="18" charset="0"/>
              </a:rPr>
              <a:t>The functionality of conditional loops</a:t>
            </a:r>
          </a:p>
          <a:p>
            <a:r>
              <a:rPr lang="en-US" dirty="0">
                <a:latin typeface="Times New Roman" panose="02020603050405020304" pitchFamily="18" charset="0"/>
                <a:cs typeface="Times New Roman" panose="02020603050405020304" pitchFamily="18" charset="0"/>
              </a:rPr>
              <a:t>Testing of each statement, object, and function on an individual basis</a:t>
            </a:r>
            <a:br>
              <a:rPr lang="en-US" dirty="0"/>
            </a:b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8339"/>
            <a:ext cx="10515600" cy="862349"/>
          </a:xfrm>
        </p:spPr>
        <p:txBody>
          <a:bodyPr>
            <a:normAutofit/>
          </a:bodyPr>
          <a:lstStyle/>
          <a:p>
            <a:r>
              <a:rPr lang="en-US" sz="3600" b="1" dirty="0">
                <a:latin typeface="Times New Roman" panose="02020603050405020304" pitchFamily="18" charset="0"/>
                <a:cs typeface="Times New Roman" panose="02020603050405020304" pitchFamily="18" charset="0"/>
              </a:rPr>
              <a:t>Testing techniques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Statement coverage:</a:t>
            </a:r>
            <a:r>
              <a:rPr lang="en-US" dirty="0">
                <a:latin typeface="Times New Roman" panose="02020603050405020304" pitchFamily="18" charset="0"/>
                <a:cs typeface="Times New Roman" panose="02020603050405020304" pitchFamily="18" charset="0"/>
              </a:rPr>
              <a:t> In this technique, the aim is to traverse all statement at least once. Hence, each line of code is tested. </a:t>
            </a:r>
          </a:p>
          <a:p>
            <a:pPr algn="just"/>
            <a:r>
              <a:rPr lang="en-US" dirty="0">
                <a:latin typeface="Times New Roman" panose="02020603050405020304" pitchFamily="18" charset="0"/>
                <a:cs typeface="Times New Roman" panose="02020603050405020304" pitchFamily="18" charset="0"/>
              </a:rPr>
              <a:t>In case of a flowchart, every node must be traversed at least once. Since all lines of code are covered, helps in pointing out faulty code.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96066"/>
            <a:ext cx="10515600" cy="894622"/>
          </a:xfrm>
        </p:spPr>
        <p:txBody>
          <a:bodyPr>
            <a:normAutofit/>
          </a:bodyPr>
          <a:lstStyle/>
          <a:p>
            <a:r>
              <a:rPr lang="en-US" sz="3600" b="1" dirty="0">
                <a:latin typeface="Times New Roman" panose="02020603050405020304" pitchFamily="18" charset="0"/>
                <a:cs typeface="Times New Roman" panose="02020603050405020304" pitchFamily="18" charset="0"/>
              </a:rPr>
              <a:t>Testing techniques</a:t>
            </a:r>
            <a:endParaRPr lang="en-US" sz="3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pic>
        <p:nvPicPr>
          <p:cNvPr id="47106" name="Picture 2"/>
          <p:cNvPicPr>
            <a:picLocks noChangeAspect="1" noChangeArrowheads="1"/>
          </p:cNvPicPr>
          <p:nvPr/>
        </p:nvPicPr>
        <p:blipFill>
          <a:blip r:embed="rId2"/>
          <a:srcRect/>
          <a:stretch>
            <a:fillRect/>
          </a:stretch>
        </p:blipFill>
        <p:spPr bwMode="auto">
          <a:xfrm>
            <a:off x="1123949" y="1643063"/>
            <a:ext cx="9545333" cy="4719637"/>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7581"/>
            <a:ext cx="10515600" cy="873107"/>
          </a:xfrm>
        </p:spPr>
        <p:txBody>
          <a:bodyPr>
            <a:normAutofit/>
          </a:bodyPr>
          <a:lstStyle/>
          <a:p>
            <a:r>
              <a:rPr lang="en-US" sz="3600" b="1" dirty="0">
                <a:latin typeface="Times New Roman" panose="02020603050405020304" pitchFamily="18" charset="0"/>
                <a:cs typeface="Times New Roman" panose="02020603050405020304" pitchFamily="18" charset="0"/>
              </a:rPr>
              <a:t>Testing techniques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Branch Coverage:</a:t>
            </a:r>
            <a:r>
              <a:rPr lang="en-US" dirty="0">
                <a:latin typeface="Times New Roman" panose="02020603050405020304" pitchFamily="18" charset="0"/>
                <a:cs typeface="Times New Roman" panose="02020603050405020304" pitchFamily="18" charset="0"/>
              </a:rPr>
              <a:t> In this technique, test cases are designed so that each branch from all decision points are traversed at least once.</a:t>
            </a:r>
          </a:p>
          <a:p>
            <a:r>
              <a:rPr lang="en-US" dirty="0">
                <a:latin typeface="Times New Roman" panose="02020603050405020304" pitchFamily="18" charset="0"/>
                <a:cs typeface="Times New Roman" panose="02020603050405020304" pitchFamily="18" charset="0"/>
              </a:rPr>
              <a:t> In a flowchart, all edges must be traversed at least once.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pic>
        <p:nvPicPr>
          <p:cNvPr id="48130" name="Picture 2"/>
          <p:cNvPicPr>
            <a:picLocks noChangeAspect="1" noChangeArrowheads="1"/>
          </p:cNvPicPr>
          <p:nvPr/>
        </p:nvPicPr>
        <p:blipFill>
          <a:blip r:embed="rId2"/>
          <a:srcRect/>
          <a:stretch>
            <a:fillRect/>
          </a:stretch>
        </p:blipFill>
        <p:spPr bwMode="auto">
          <a:xfrm>
            <a:off x="1681163" y="1076324"/>
            <a:ext cx="7424737" cy="5015741"/>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8339"/>
            <a:ext cx="10515600" cy="862349"/>
          </a:xfrm>
        </p:spPr>
        <p:txBody>
          <a:bodyPr>
            <a:normAutofit/>
          </a:bodyPr>
          <a:lstStyle/>
          <a:p>
            <a:r>
              <a:rPr lang="en-US" sz="3600" b="1" dirty="0">
                <a:latin typeface="Times New Roman" panose="02020603050405020304" pitchFamily="18" charset="0"/>
                <a:cs typeface="Times New Roman" panose="02020603050405020304" pitchFamily="18" charset="0"/>
              </a:rPr>
              <a:t>Testing techniques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fontAlgn="base"/>
            <a:r>
              <a:rPr lang="en-US" b="1" dirty="0">
                <a:latin typeface="Times New Roman" panose="02020603050405020304" pitchFamily="18" charset="0"/>
                <a:cs typeface="Times New Roman" panose="02020603050405020304" pitchFamily="18" charset="0"/>
              </a:rPr>
              <a:t>Condition Coverage:</a:t>
            </a:r>
            <a:r>
              <a:rPr lang="en-US" dirty="0">
                <a:latin typeface="Times New Roman" panose="02020603050405020304" pitchFamily="18" charset="0"/>
                <a:cs typeface="Times New Roman" panose="02020603050405020304" pitchFamily="18" charset="0"/>
              </a:rPr>
              <a:t> In this technique, all individual conditions must be covered as shown in the following example:</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lvl="1" fontAlgn="base"/>
            <a:r>
              <a:rPr lang="en-US" dirty="0">
                <a:latin typeface="Times New Roman" panose="02020603050405020304" pitchFamily="18" charset="0"/>
                <a:cs typeface="Times New Roman" panose="02020603050405020304" pitchFamily="18" charset="0"/>
              </a:rPr>
              <a:t>READ X, Y</a:t>
            </a:r>
          </a:p>
          <a:p>
            <a:pPr lvl="1" fontAlgn="base"/>
            <a:r>
              <a:rPr lang="en-US" dirty="0">
                <a:latin typeface="Times New Roman" panose="02020603050405020304" pitchFamily="18" charset="0"/>
                <a:cs typeface="Times New Roman" panose="02020603050405020304" pitchFamily="18" charset="0"/>
              </a:rPr>
              <a:t>IF(X == 0 || Y == 0)</a:t>
            </a:r>
          </a:p>
          <a:p>
            <a:pPr lvl="1" fontAlgn="base"/>
            <a:r>
              <a:rPr lang="en-US" dirty="0">
                <a:latin typeface="Times New Roman" panose="02020603050405020304" pitchFamily="18" charset="0"/>
                <a:cs typeface="Times New Roman" panose="02020603050405020304" pitchFamily="18" charset="0"/>
              </a:rPr>
              <a:t>PRINT ‘0’</a:t>
            </a:r>
          </a:p>
          <a:p>
            <a:pPr fontAlgn="base"/>
            <a:r>
              <a:rPr lang="en-US" dirty="0">
                <a:latin typeface="Times New Roman" panose="02020603050405020304" pitchFamily="18" charset="0"/>
                <a:cs typeface="Times New Roman" panose="02020603050405020304" pitchFamily="18" charset="0"/>
              </a:rPr>
              <a:t>In this example, there are 2 conditions: X == 0 and Y == 0. Now, test these conditions get TRUE and FALSE as their values. One possible example would be:</a:t>
            </a:r>
          </a:p>
          <a:p>
            <a:pPr lvl="1" fontAlgn="base"/>
            <a:r>
              <a:rPr lang="en-US" dirty="0">
                <a:latin typeface="Times New Roman" panose="02020603050405020304" pitchFamily="18" charset="0"/>
                <a:cs typeface="Times New Roman" panose="02020603050405020304" pitchFamily="18" charset="0"/>
              </a:rPr>
              <a:t>#TC1 – X = 0, Y = 55</a:t>
            </a:r>
          </a:p>
          <a:p>
            <a:pPr lvl="1" fontAlgn="base"/>
            <a:r>
              <a:rPr lang="en-US" dirty="0">
                <a:latin typeface="Times New Roman" panose="02020603050405020304" pitchFamily="18" charset="0"/>
                <a:cs typeface="Times New Roman" panose="02020603050405020304" pitchFamily="18" charset="0"/>
              </a:rPr>
              <a:t>#TC2 – X = 5, Y = 0</a:t>
            </a:r>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5308"/>
            <a:ext cx="10515600" cy="905380"/>
          </a:xfrm>
        </p:spPr>
        <p:txBody>
          <a:bodyPr>
            <a:normAutofit/>
          </a:bodyPr>
          <a:lstStyle/>
          <a:p>
            <a:r>
              <a:rPr lang="en-US" sz="3600" b="1" dirty="0">
                <a:latin typeface="Times New Roman" panose="02020603050405020304" pitchFamily="18" charset="0"/>
                <a:cs typeface="Times New Roman" panose="02020603050405020304" pitchFamily="18" charset="0"/>
              </a:rPr>
              <a:t>Testing techniques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90688"/>
            <a:ext cx="10515600" cy="4486275"/>
          </a:xfrm>
        </p:spPr>
        <p:txBody>
          <a:bodyPr>
            <a:normAutofit fontScale="92500" lnSpcReduction="20000"/>
          </a:bodyPr>
          <a:lstStyle/>
          <a:p>
            <a:pPr fontAlgn="base"/>
            <a:r>
              <a:rPr lang="en-US" b="1" dirty="0">
                <a:latin typeface="Times New Roman" panose="02020603050405020304" pitchFamily="18" charset="0"/>
                <a:cs typeface="Times New Roman" panose="02020603050405020304" pitchFamily="18" charset="0"/>
              </a:rPr>
              <a:t>Multiple Condition Coverage:</a:t>
            </a:r>
            <a:r>
              <a:rPr lang="en-US" dirty="0">
                <a:latin typeface="Times New Roman" panose="02020603050405020304" pitchFamily="18" charset="0"/>
                <a:cs typeface="Times New Roman" panose="02020603050405020304" pitchFamily="18" charset="0"/>
              </a:rPr>
              <a:t> In this technique, all the possible combinations of the possible outcomes of conditions are tested at least once. Let’s consider the following example:</a:t>
            </a:r>
          </a:p>
          <a:p>
            <a:pPr fontAlgn="base"/>
            <a:r>
              <a:rPr lang="en-US" dirty="0">
                <a:latin typeface="Times New Roman" panose="02020603050405020304" pitchFamily="18" charset="0"/>
                <a:cs typeface="Times New Roman" panose="02020603050405020304" pitchFamily="18" charset="0"/>
              </a:rPr>
              <a:t>READ X, Y</a:t>
            </a:r>
          </a:p>
          <a:p>
            <a:pPr fontAlgn="base"/>
            <a:r>
              <a:rPr lang="en-US" dirty="0">
                <a:latin typeface="Times New Roman" panose="02020603050405020304" pitchFamily="18" charset="0"/>
                <a:cs typeface="Times New Roman" panose="02020603050405020304" pitchFamily="18" charset="0"/>
              </a:rPr>
              <a:t>IF(X == 0 || Y == 0)</a:t>
            </a:r>
          </a:p>
          <a:p>
            <a:pPr fontAlgn="base"/>
            <a:r>
              <a:rPr lang="en-US" dirty="0">
                <a:latin typeface="Times New Roman" panose="02020603050405020304" pitchFamily="18" charset="0"/>
                <a:cs typeface="Times New Roman" panose="02020603050405020304" pitchFamily="18" charset="0"/>
              </a:rPr>
              <a:t>PRINT ‘0’</a:t>
            </a:r>
          </a:p>
          <a:p>
            <a:pPr fontAlgn="base"/>
            <a:r>
              <a:rPr lang="en-US" dirty="0">
                <a:latin typeface="Times New Roman" panose="02020603050405020304" pitchFamily="18" charset="0"/>
                <a:cs typeface="Times New Roman" panose="02020603050405020304" pitchFamily="18" charset="0"/>
              </a:rPr>
              <a:t>#TC1: X = 0, Y = 0</a:t>
            </a:r>
          </a:p>
          <a:p>
            <a:pPr fontAlgn="base"/>
            <a:r>
              <a:rPr lang="en-US" dirty="0">
                <a:latin typeface="Times New Roman" panose="02020603050405020304" pitchFamily="18" charset="0"/>
                <a:cs typeface="Times New Roman" panose="02020603050405020304" pitchFamily="18" charset="0"/>
              </a:rPr>
              <a:t>#TC2: X = 0, Y = 5</a:t>
            </a:r>
          </a:p>
          <a:p>
            <a:pPr fontAlgn="base"/>
            <a:r>
              <a:rPr lang="en-US" dirty="0">
                <a:latin typeface="Times New Roman" panose="02020603050405020304" pitchFamily="18" charset="0"/>
                <a:cs typeface="Times New Roman" panose="02020603050405020304" pitchFamily="18" charset="0"/>
              </a:rPr>
              <a:t>#TC3: X = 55, Y = 0</a:t>
            </a:r>
          </a:p>
          <a:p>
            <a:pPr fontAlgn="base"/>
            <a:r>
              <a:rPr lang="en-US" dirty="0">
                <a:latin typeface="Times New Roman" panose="02020603050405020304" pitchFamily="18" charset="0"/>
                <a:cs typeface="Times New Roman" panose="02020603050405020304" pitchFamily="18" charset="0"/>
              </a:rPr>
              <a:t>#TC4: X = 55, Y = 5</a:t>
            </a:r>
          </a:p>
          <a:p>
            <a:pPr fontAlgn="base"/>
            <a:r>
              <a:rPr lang="en-US" dirty="0">
                <a:latin typeface="Times New Roman" panose="02020603050405020304" pitchFamily="18" charset="0"/>
                <a:cs typeface="Times New Roman" panose="02020603050405020304" pitchFamily="18" charset="0"/>
              </a:rPr>
              <a:t>Hence, four test cases required for two individual conditions.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Similarly, if there are n conditions then 2</a:t>
            </a:r>
            <a:r>
              <a:rPr lang="en-US" baseline="30000"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test cases would be required.</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8339"/>
            <a:ext cx="10515600" cy="862349"/>
          </a:xfrm>
        </p:spPr>
        <p:txBody>
          <a:bodyPr>
            <a:normAutofit/>
          </a:bodyPr>
          <a:lstStyle/>
          <a:p>
            <a:r>
              <a:rPr lang="en-US" sz="3600" b="1" dirty="0">
                <a:latin typeface="Times New Roman" panose="02020603050405020304" pitchFamily="18" charset="0"/>
                <a:cs typeface="Times New Roman" panose="02020603050405020304" pitchFamily="18" charset="0"/>
              </a:rPr>
              <a:t>Testing techniques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fontAlgn="base"/>
            <a:r>
              <a:rPr lang="en-US" b="1" dirty="0">
                <a:latin typeface="Times New Roman" panose="02020603050405020304" pitchFamily="18" charset="0"/>
                <a:cs typeface="Times New Roman" panose="02020603050405020304" pitchFamily="18" charset="0"/>
              </a:rPr>
              <a:t>Basis Path Testing:</a:t>
            </a:r>
            <a:r>
              <a:rPr lang="en-US" dirty="0">
                <a:latin typeface="Times New Roman" panose="02020603050405020304" pitchFamily="18" charset="0"/>
                <a:cs typeface="Times New Roman" panose="02020603050405020304" pitchFamily="18" charset="0"/>
              </a:rPr>
              <a:t> In this technique, control flow graphs are made from code or flowchart and then </a:t>
            </a:r>
            <a:r>
              <a:rPr lang="en-US" dirty="0" err="1">
                <a:latin typeface="Times New Roman" panose="02020603050405020304" pitchFamily="18" charset="0"/>
                <a:cs typeface="Times New Roman" panose="02020603050405020304" pitchFamily="18" charset="0"/>
              </a:rPr>
              <a:t>Cyclomatic</a:t>
            </a:r>
            <a:r>
              <a:rPr lang="en-US" dirty="0">
                <a:latin typeface="Times New Roman" panose="02020603050405020304" pitchFamily="18" charset="0"/>
                <a:cs typeface="Times New Roman" panose="02020603050405020304" pitchFamily="18" charset="0"/>
              </a:rPr>
              <a:t> complexity is calculated which defines the number of independent paths so that the minimal number of test cases can be designed for each independent path.</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Steps : </a:t>
            </a:r>
          </a:p>
          <a:p>
            <a:pPr algn="just" fontAlgn="base"/>
            <a:r>
              <a:rPr lang="en-US" dirty="0">
                <a:latin typeface="Times New Roman" panose="02020603050405020304" pitchFamily="18" charset="0"/>
                <a:cs typeface="Times New Roman" panose="02020603050405020304" pitchFamily="18" charset="0"/>
              </a:rPr>
              <a:t>Make the corresponding control flow graph</a:t>
            </a:r>
          </a:p>
          <a:p>
            <a:pPr algn="just" fontAlgn="base"/>
            <a:r>
              <a:rPr lang="en-US" dirty="0">
                <a:latin typeface="Times New Roman" panose="02020603050405020304" pitchFamily="18" charset="0"/>
                <a:cs typeface="Times New Roman" panose="02020603050405020304" pitchFamily="18" charset="0"/>
              </a:rPr>
              <a:t>Calculate the </a:t>
            </a:r>
            <a:r>
              <a:rPr lang="en-US" dirty="0" err="1">
                <a:latin typeface="Times New Roman" panose="02020603050405020304" pitchFamily="18" charset="0"/>
                <a:cs typeface="Times New Roman" panose="02020603050405020304" pitchFamily="18" charset="0"/>
              </a:rPr>
              <a:t>cyclomatic</a:t>
            </a:r>
            <a:r>
              <a:rPr lang="en-US" dirty="0">
                <a:latin typeface="Times New Roman" panose="02020603050405020304" pitchFamily="18" charset="0"/>
                <a:cs typeface="Times New Roman" panose="02020603050405020304" pitchFamily="18" charset="0"/>
              </a:rPr>
              <a:t> complexity</a:t>
            </a:r>
          </a:p>
          <a:p>
            <a:pPr algn="just" fontAlgn="base"/>
            <a:r>
              <a:rPr lang="en-US" dirty="0">
                <a:latin typeface="Times New Roman" panose="02020603050405020304" pitchFamily="18" charset="0"/>
                <a:cs typeface="Times New Roman" panose="02020603050405020304" pitchFamily="18" charset="0"/>
              </a:rPr>
              <a:t>Find the independent paths</a:t>
            </a:r>
          </a:p>
          <a:p>
            <a:pPr algn="just" fontAlgn="base"/>
            <a:r>
              <a:rPr lang="en-US" dirty="0">
                <a:latin typeface="Times New Roman" panose="02020603050405020304" pitchFamily="18" charset="0"/>
                <a:cs typeface="Times New Roman" panose="02020603050405020304" pitchFamily="18" charset="0"/>
              </a:rPr>
              <a:t>Design test cases corresponding to each independent path</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96066"/>
            <a:ext cx="10515600" cy="894622"/>
          </a:xfrm>
        </p:spPr>
        <p:txBody>
          <a:bodyPr>
            <a:normAutofit/>
          </a:bodyPr>
          <a:lstStyle/>
          <a:p>
            <a:r>
              <a:rPr lang="en-US" sz="3600" b="1" dirty="0">
                <a:latin typeface="Times New Roman" panose="02020603050405020304" pitchFamily="18" charset="0"/>
                <a:cs typeface="Times New Roman" panose="02020603050405020304" pitchFamily="18" charset="0"/>
              </a:rPr>
              <a:t>Testing techniques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Flow graph notation:</a:t>
            </a:r>
            <a:r>
              <a:rPr lang="en-US" dirty="0">
                <a:latin typeface="Times New Roman" panose="02020603050405020304" pitchFamily="18" charset="0"/>
                <a:cs typeface="Times New Roman" panose="02020603050405020304" pitchFamily="18" charset="0"/>
              </a:rPr>
              <a:t> It is a directed graph consisting of nodes and edges. Each node represents a sequence of statements, or a decision point. A predicate node is the one that represents a decision point that contains a condition after which the graph splits. Regions are bounded by nodes and edges.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a:p>
        </p:txBody>
      </p:sp>
      <p:pic>
        <p:nvPicPr>
          <p:cNvPr id="49155" name="Picture 3"/>
          <p:cNvPicPr>
            <a:picLocks noChangeAspect="1" noChangeArrowheads="1"/>
          </p:cNvPicPr>
          <p:nvPr/>
        </p:nvPicPr>
        <p:blipFill>
          <a:blip r:embed="rId2"/>
          <a:srcRect/>
          <a:stretch>
            <a:fillRect/>
          </a:stretch>
        </p:blipFill>
        <p:spPr bwMode="auto">
          <a:xfrm>
            <a:off x="3148013" y="3762375"/>
            <a:ext cx="4567237" cy="2578022"/>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96066"/>
            <a:ext cx="10515600" cy="894622"/>
          </a:xfrm>
        </p:spPr>
        <p:txBody>
          <a:bodyPr>
            <a:normAutofit/>
          </a:bodyPr>
          <a:lstStyle/>
          <a:p>
            <a:r>
              <a:rPr lang="en-US" sz="3600" b="1" dirty="0">
                <a:latin typeface="Times New Roman" panose="02020603050405020304" pitchFamily="18" charset="0"/>
                <a:cs typeface="Times New Roman" panose="02020603050405020304" pitchFamily="18" charset="0"/>
              </a:rPr>
              <a:t>Testing techniques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fontAlgn="base"/>
            <a:r>
              <a:rPr lang="en-US" b="1" dirty="0" err="1">
                <a:latin typeface="Times New Roman" panose="02020603050405020304" pitchFamily="18" charset="0"/>
                <a:cs typeface="Times New Roman" panose="02020603050405020304" pitchFamily="18" charset="0"/>
              </a:rPr>
              <a:t>Cyclomatic</a:t>
            </a:r>
            <a:r>
              <a:rPr lang="en-US" b="1" dirty="0">
                <a:latin typeface="Times New Roman" panose="02020603050405020304" pitchFamily="18" charset="0"/>
                <a:cs typeface="Times New Roman" panose="02020603050405020304" pitchFamily="18" charset="0"/>
              </a:rPr>
              <a:t> Complexity:</a:t>
            </a:r>
            <a:r>
              <a:rPr lang="en-US" dirty="0">
                <a:latin typeface="Times New Roman" panose="02020603050405020304" pitchFamily="18" charset="0"/>
                <a:cs typeface="Times New Roman" panose="02020603050405020304" pitchFamily="18" charset="0"/>
              </a:rPr>
              <a:t> It is a measure of the logical complexity of the software and is used to define the number of independent paths. For a graph G, V(G) is its </a:t>
            </a:r>
            <a:r>
              <a:rPr lang="en-US" dirty="0" err="1">
                <a:latin typeface="Times New Roman" panose="02020603050405020304" pitchFamily="18" charset="0"/>
                <a:cs typeface="Times New Roman" panose="02020603050405020304" pitchFamily="18" charset="0"/>
              </a:rPr>
              <a:t>cyclomatic</a:t>
            </a:r>
            <a:r>
              <a:rPr lang="en-US" dirty="0">
                <a:latin typeface="Times New Roman" panose="02020603050405020304" pitchFamily="18" charset="0"/>
                <a:cs typeface="Times New Roman" panose="02020603050405020304" pitchFamily="18" charset="0"/>
              </a:rPr>
              <a:t> complexity.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Calculating V(G):</a:t>
            </a:r>
          </a:p>
          <a:p>
            <a:pPr algn="just" fontAlgn="base"/>
            <a:r>
              <a:rPr lang="en-US" dirty="0">
                <a:latin typeface="Times New Roman" panose="02020603050405020304" pitchFamily="18" charset="0"/>
                <a:cs typeface="Times New Roman" panose="02020603050405020304" pitchFamily="18" charset="0"/>
              </a:rPr>
              <a:t>V(G) = P + 1, where P is the number of predicate nodes in the flow graph</a:t>
            </a:r>
          </a:p>
          <a:p>
            <a:pPr algn="just" fontAlgn="base"/>
            <a:r>
              <a:rPr lang="en-US" dirty="0">
                <a:latin typeface="Times New Roman" panose="02020603050405020304" pitchFamily="18" charset="0"/>
                <a:cs typeface="Times New Roman" panose="02020603050405020304" pitchFamily="18" charset="0"/>
              </a:rPr>
              <a:t>V(G) = E – N + 2, where E is the number of edges and N is the total number of nodes</a:t>
            </a:r>
          </a:p>
          <a:p>
            <a:pPr algn="just" fontAlgn="base"/>
            <a:r>
              <a:rPr lang="en-US" dirty="0">
                <a:latin typeface="Times New Roman" panose="02020603050405020304" pitchFamily="18" charset="0"/>
                <a:cs typeface="Times New Roman" panose="02020603050405020304" pitchFamily="18" charset="0"/>
              </a:rPr>
              <a:t>V(G) = Number of non-overlapping regions in the graph</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27</a:t>
            </a:fld>
            <a:endParaRPr lang="en-US"/>
          </a:p>
        </p:txBody>
      </p:sp>
      <p:pic>
        <p:nvPicPr>
          <p:cNvPr id="50178" name="Picture 2"/>
          <p:cNvPicPr>
            <a:picLocks noChangeAspect="1" noChangeArrowheads="1"/>
          </p:cNvPicPr>
          <p:nvPr/>
        </p:nvPicPr>
        <p:blipFill>
          <a:blip r:embed="rId2"/>
          <a:srcRect/>
          <a:stretch>
            <a:fillRect/>
          </a:stretch>
        </p:blipFill>
        <p:spPr bwMode="auto">
          <a:xfrm>
            <a:off x="3152775" y="381000"/>
            <a:ext cx="5650744" cy="5695950"/>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96066"/>
            <a:ext cx="10515600" cy="894622"/>
          </a:xfrm>
        </p:spPr>
        <p:txBody>
          <a:bodyPr>
            <a:normAutofit/>
          </a:bodyPr>
          <a:lstStyle/>
          <a:p>
            <a:r>
              <a:rPr lang="en-US" sz="3600" dirty="0">
                <a:latin typeface="Times New Roman" panose="02020603050405020304" pitchFamily="18" charset="0"/>
                <a:cs typeface="Times New Roman" panose="02020603050405020304" pitchFamily="18" charset="0"/>
              </a:rPr>
              <a:t>Example</a:t>
            </a:r>
          </a:p>
        </p:txBody>
      </p:sp>
      <p:sp>
        <p:nvSpPr>
          <p:cNvPr id="3" name="Content Placeholder 2"/>
          <p:cNvSpPr>
            <a:spLocks noGrp="1"/>
          </p:cNvSpPr>
          <p:nvPr>
            <p:ph idx="1"/>
          </p:nvPr>
        </p:nvSpPr>
        <p:spPr/>
        <p:txBody>
          <a:bodyPr/>
          <a:lstStyle/>
          <a:p>
            <a:pPr fontAlgn="base"/>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V(G) = 4 (Using any of the above formulae)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No of independent paths = 4</a:t>
            </a:r>
          </a:p>
          <a:p>
            <a:pPr fontAlgn="base"/>
            <a:r>
              <a:rPr lang="en-US" dirty="0">
                <a:latin typeface="Times New Roman" panose="02020603050405020304" pitchFamily="18" charset="0"/>
                <a:cs typeface="Times New Roman" panose="02020603050405020304" pitchFamily="18" charset="0"/>
              </a:rPr>
              <a:t>#P1: 1 – 2 – 4 – 7 – 8</a:t>
            </a:r>
          </a:p>
          <a:p>
            <a:pPr fontAlgn="base"/>
            <a:r>
              <a:rPr lang="en-US" dirty="0">
                <a:latin typeface="Times New Roman" panose="02020603050405020304" pitchFamily="18" charset="0"/>
                <a:cs typeface="Times New Roman" panose="02020603050405020304" pitchFamily="18" charset="0"/>
              </a:rPr>
              <a:t>#P2: 1 – 2 – 3 – 5 – 7 – 8</a:t>
            </a:r>
          </a:p>
          <a:p>
            <a:pPr fontAlgn="base"/>
            <a:r>
              <a:rPr lang="en-US" dirty="0">
                <a:latin typeface="Times New Roman" panose="02020603050405020304" pitchFamily="18" charset="0"/>
                <a:cs typeface="Times New Roman" panose="02020603050405020304" pitchFamily="18" charset="0"/>
              </a:rPr>
              <a:t>#P3: 1 – 2 – 3 – 6 – 7 – 8</a:t>
            </a:r>
          </a:p>
          <a:p>
            <a:pPr fontAlgn="base"/>
            <a:r>
              <a:rPr lang="en-US" dirty="0">
                <a:latin typeface="Times New Roman" panose="02020603050405020304" pitchFamily="18" charset="0"/>
                <a:cs typeface="Times New Roman" panose="02020603050405020304" pitchFamily="18" charset="0"/>
              </a:rPr>
              <a:t>#P4: 1 – 2 – 4 – 7 – 1 – . . . – 7 – 8</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a:bodyPr>
          <a:lstStyle/>
          <a:p>
            <a:r>
              <a:rPr lang="en-US" sz="3600" b="1" dirty="0">
                <a:latin typeface="Times New Roman" panose="02020603050405020304" pitchFamily="18" charset="0"/>
                <a:cs typeface="Times New Roman" panose="02020603050405020304" pitchFamily="18" charset="0"/>
              </a:rPr>
              <a:t>Testing techniques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fontAlgn="base"/>
            <a:r>
              <a:rPr lang="en-US" b="1" dirty="0">
                <a:latin typeface="Times New Roman" panose="02020603050405020304" pitchFamily="18" charset="0"/>
                <a:cs typeface="Times New Roman" panose="02020603050405020304" pitchFamily="18" charset="0"/>
              </a:rPr>
              <a:t>Loop Testing:</a:t>
            </a:r>
            <a:r>
              <a:rPr lang="en-US" dirty="0">
                <a:latin typeface="Times New Roman" panose="02020603050405020304" pitchFamily="18" charset="0"/>
                <a:cs typeface="Times New Roman" panose="02020603050405020304" pitchFamily="18" charset="0"/>
              </a:rPr>
              <a:t> Loops are widely used and these are fundamental to many algorithms hence, their testing is very important. Errors often occur at the beginnings and ends of loops.</a:t>
            </a:r>
          </a:p>
          <a:p>
            <a:pPr algn="just" fontAlgn="base"/>
            <a:r>
              <a:rPr lang="en-US" b="1" dirty="0">
                <a:latin typeface="Times New Roman" panose="02020603050405020304" pitchFamily="18" charset="0"/>
                <a:cs typeface="Times New Roman" panose="02020603050405020304" pitchFamily="18" charset="0"/>
              </a:rPr>
              <a:t>Simple loops:</a:t>
            </a:r>
            <a:r>
              <a:rPr lang="en-US" dirty="0">
                <a:latin typeface="Times New Roman" panose="02020603050405020304" pitchFamily="18" charset="0"/>
                <a:cs typeface="Times New Roman" panose="02020603050405020304" pitchFamily="18" charset="0"/>
              </a:rPr>
              <a:t> For simple loops of size n, test cases are designed that:</a:t>
            </a:r>
          </a:p>
          <a:p>
            <a:pPr lvl="1" algn="just" fontAlgn="base"/>
            <a:r>
              <a:rPr lang="en-US" dirty="0">
                <a:latin typeface="Times New Roman" panose="02020603050405020304" pitchFamily="18" charset="0"/>
                <a:cs typeface="Times New Roman" panose="02020603050405020304" pitchFamily="18" charset="0"/>
              </a:rPr>
              <a:t>Skip the loop entirely</a:t>
            </a:r>
          </a:p>
          <a:p>
            <a:pPr lvl="1" algn="just" fontAlgn="base"/>
            <a:r>
              <a:rPr lang="en-US" dirty="0">
                <a:latin typeface="Times New Roman" panose="02020603050405020304" pitchFamily="18" charset="0"/>
                <a:cs typeface="Times New Roman" panose="02020603050405020304" pitchFamily="18" charset="0"/>
              </a:rPr>
              <a:t>Only one pass through the loop</a:t>
            </a:r>
          </a:p>
          <a:p>
            <a:pPr lvl="1" algn="just" fontAlgn="base"/>
            <a:r>
              <a:rPr lang="en-US" dirty="0">
                <a:latin typeface="Times New Roman" panose="02020603050405020304" pitchFamily="18" charset="0"/>
                <a:cs typeface="Times New Roman" panose="02020603050405020304" pitchFamily="18" charset="0"/>
              </a:rPr>
              <a:t>2 passes</a:t>
            </a:r>
          </a:p>
          <a:p>
            <a:pPr lvl="1" algn="just" fontAlgn="base"/>
            <a:r>
              <a:rPr lang="en-US" dirty="0">
                <a:latin typeface="Times New Roman" panose="02020603050405020304" pitchFamily="18" charset="0"/>
                <a:cs typeface="Times New Roman" panose="02020603050405020304" pitchFamily="18" charset="0"/>
              </a:rPr>
              <a:t>m passes, where m &lt; n</a:t>
            </a:r>
          </a:p>
          <a:p>
            <a:pPr lvl="1" algn="just" fontAlgn="base"/>
            <a:r>
              <a:rPr lang="en-US" dirty="0">
                <a:latin typeface="Times New Roman" panose="02020603050405020304" pitchFamily="18" charset="0"/>
                <a:cs typeface="Times New Roman" panose="02020603050405020304" pitchFamily="18" charset="0"/>
              </a:rPr>
              <a:t>n-1 </a:t>
            </a:r>
            <a:r>
              <a:rPr lang="en-US" dirty="0" err="1">
                <a:latin typeface="Times New Roman" panose="02020603050405020304" pitchFamily="18" charset="0"/>
                <a:cs typeface="Times New Roman" panose="02020603050405020304" pitchFamily="18" charset="0"/>
              </a:rPr>
              <a:t>ans</a:t>
            </a:r>
            <a:r>
              <a:rPr lang="en-US" dirty="0">
                <a:latin typeface="Times New Roman" panose="02020603050405020304" pitchFamily="18" charset="0"/>
                <a:cs typeface="Times New Roman" panose="02020603050405020304" pitchFamily="18" charset="0"/>
              </a:rPr>
              <a:t> n+1 passes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7581"/>
            <a:ext cx="10515600" cy="873107"/>
          </a:xfrm>
        </p:spPr>
        <p:txBody>
          <a:bodyPr>
            <a:normAutofit/>
          </a:bodyPr>
          <a:lstStyle/>
          <a:p>
            <a:r>
              <a:rPr lang="en-US" sz="3600" b="1" dirty="0">
                <a:latin typeface="Times New Roman" panose="02020603050405020304" pitchFamily="18" charset="0"/>
                <a:cs typeface="Times New Roman" panose="02020603050405020304" pitchFamily="18" charset="0"/>
              </a:rPr>
              <a:t>Testing techniques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fontAlgn="base"/>
            <a:r>
              <a:rPr lang="en-US" b="1" dirty="0">
                <a:latin typeface="Times New Roman" panose="02020603050405020304" pitchFamily="18" charset="0"/>
                <a:cs typeface="Times New Roman" panose="02020603050405020304" pitchFamily="18" charset="0"/>
              </a:rPr>
              <a:t>Nested loops:</a:t>
            </a:r>
            <a:r>
              <a:rPr lang="en-US" dirty="0">
                <a:latin typeface="Times New Roman" panose="02020603050405020304" pitchFamily="18" charset="0"/>
                <a:cs typeface="Times New Roman" panose="02020603050405020304" pitchFamily="18" charset="0"/>
              </a:rPr>
              <a:t> For nested loops, all the loops are set to their minimum count and we start from the innermost loop. Simple loop tests are conducted for the innermost loop and this is worked outwards till all the loops have been tested.</a:t>
            </a:r>
          </a:p>
          <a:p>
            <a:pPr algn="just" fontAlgn="base"/>
            <a:r>
              <a:rPr lang="en-US" b="1" dirty="0">
                <a:latin typeface="Times New Roman" panose="02020603050405020304" pitchFamily="18" charset="0"/>
                <a:cs typeface="Times New Roman" panose="02020603050405020304" pitchFamily="18" charset="0"/>
              </a:rPr>
              <a:t>Concatenated loops:</a:t>
            </a:r>
            <a:r>
              <a:rPr lang="en-US" dirty="0">
                <a:latin typeface="Times New Roman" panose="02020603050405020304" pitchFamily="18" charset="0"/>
                <a:cs typeface="Times New Roman" panose="02020603050405020304" pitchFamily="18" charset="0"/>
              </a:rPr>
              <a:t> Independent loops, one after another. Simple loop tests are applied for each.</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If they’re not independent, treat them like nesting.</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74551"/>
            <a:ext cx="10515600" cy="916137"/>
          </a:xfrm>
        </p:spPr>
        <p:txBody>
          <a:bodyPr>
            <a:normAutofit/>
          </a:bodyPr>
          <a:lstStyle/>
          <a:p>
            <a:r>
              <a:rPr lang="en-US" sz="3600" b="1" dirty="0">
                <a:latin typeface="Times New Roman" panose="02020603050405020304" pitchFamily="18" charset="0"/>
                <a:cs typeface="Times New Roman" panose="02020603050405020304" pitchFamily="18" charset="0"/>
              </a:rPr>
              <a:t>Advantages: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fontAlgn="base"/>
            <a:r>
              <a:rPr lang="en-US" dirty="0">
                <a:latin typeface="Times New Roman" panose="02020603050405020304" pitchFamily="18" charset="0"/>
                <a:cs typeface="Times New Roman" panose="02020603050405020304" pitchFamily="18" charset="0"/>
              </a:rPr>
              <a:t>White box testing is very thorough as the entire code and structures are tested.</a:t>
            </a:r>
          </a:p>
          <a:p>
            <a:pPr fontAlgn="base"/>
            <a:r>
              <a:rPr lang="en-US" dirty="0">
                <a:latin typeface="Times New Roman" panose="02020603050405020304" pitchFamily="18" charset="0"/>
                <a:cs typeface="Times New Roman" panose="02020603050405020304" pitchFamily="18" charset="0"/>
              </a:rPr>
              <a:t>It results in the optimization of code removing error and helps in removing extra lines of code.</a:t>
            </a:r>
          </a:p>
          <a:p>
            <a:pPr fontAlgn="base"/>
            <a:r>
              <a:rPr lang="en-US" dirty="0">
                <a:latin typeface="Times New Roman" panose="02020603050405020304" pitchFamily="18" charset="0"/>
                <a:cs typeface="Times New Roman" panose="02020603050405020304" pitchFamily="18" charset="0"/>
              </a:rPr>
              <a:t>It can start at an earlier stage as it doesn’t require any interface as in case of black box testing.</a:t>
            </a:r>
          </a:p>
          <a:p>
            <a:pPr fontAlgn="base"/>
            <a:r>
              <a:rPr lang="en-US" dirty="0">
                <a:latin typeface="Times New Roman" panose="02020603050405020304" pitchFamily="18" charset="0"/>
                <a:cs typeface="Times New Roman" panose="02020603050405020304" pitchFamily="18" charset="0"/>
              </a:rPr>
              <a:t>Easy to automate.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a:bodyPr>
          <a:lstStyle/>
          <a:p>
            <a:r>
              <a:rPr lang="en-US" sz="3600" b="1" dirty="0">
                <a:latin typeface="Times New Roman" panose="02020603050405020304" pitchFamily="18" charset="0"/>
                <a:cs typeface="Times New Roman" panose="02020603050405020304" pitchFamily="18" charset="0"/>
              </a:rPr>
              <a:t>Disadvantages: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fontAlgn="base"/>
            <a:r>
              <a:rPr lang="en-US" dirty="0">
                <a:latin typeface="Times New Roman" panose="02020603050405020304" pitchFamily="18" charset="0"/>
                <a:cs typeface="Times New Roman" panose="02020603050405020304" pitchFamily="18" charset="0"/>
              </a:rPr>
              <a:t>Main disadvantage is that it is very expensive.</a:t>
            </a:r>
          </a:p>
          <a:p>
            <a:pPr algn="just" fontAlgn="base"/>
            <a:r>
              <a:rPr lang="en-US" dirty="0">
                <a:latin typeface="Times New Roman" panose="02020603050405020304" pitchFamily="18" charset="0"/>
                <a:cs typeface="Times New Roman" panose="02020603050405020304" pitchFamily="18" charset="0"/>
              </a:rPr>
              <a:t>Redesign of code and rewriting code needs test cases to be written again.</a:t>
            </a:r>
          </a:p>
          <a:p>
            <a:pPr algn="just" fontAlgn="base"/>
            <a:r>
              <a:rPr lang="en-US" dirty="0">
                <a:latin typeface="Times New Roman" panose="02020603050405020304" pitchFamily="18" charset="0"/>
                <a:cs typeface="Times New Roman" panose="02020603050405020304" pitchFamily="18" charset="0"/>
              </a:rPr>
              <a:t>Testers are required to have in-depth knowledge of the code and programming language as opposed to black box testing.</a:t>
            </a:r>
          </a:p>
          <a:p>
            <a:pPr algn="just" fontAlgn="base"/>
            <a:r>
              <a:rPr lang="en-US" dirty="0">
                <a:latin typeface="Times New Roman" panose="02020603050405020304" pitchFamily="18" charset="0"/>
                <a:cs typeface="Times New Roman" panose="02020603050405020304" pitchFamily="18" charset="0"/>
              </a:rPr>
              <a:t>Missing functionalities cannot be detected as the code that exists is tested.</a:t>
            </a:r>
          </a:p>
          <a:p>
            <a:pPr algn="just" fontAlgn="base"/>
            <a:r>
              <a:rPr lang="en-US" dirty="0">
                <a:latin typeface="Times New Roman" panose="02020603050405020304" pitchFamily="18" charset="0"/>
                <a:cs typeface="Times New Roman" panose="02020603050405020304" pitchFamily="18" charset="0"/>
              </a:rPr>
              <a:t>Very complex and at times not realistic.</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33</a:t>
            </a:fld>
            <a:endParaRPr lang="en-US"/>
          </a:p>
        </p:txBody>
      </p:sp>
      <p:pic>
        <p:nvPicPr>
          <p:cNvPr id="53250" name="Picture 2"/>
          <p:cNvPicPr>
            <a:picLocks noChangeAspect="1" noChangeArrowheads="1"/>
          </p:cNvPicPr>
          <p:nvPr/>
        </p:nvPicPr>
        <p:blipFill>
          <a:blip r:embed="rId2"/>
          <a:srcRect/>
          <a:stretch>
            <a:fillRect/>
          </a:stretch>
        </p:blipFill>
        <p:spPr bwMode="auto">
          <a:xfrm>
            <a:off x="1638300" y="419100"/>
            <a:ext cx="8934450" cy="5676900"/>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a:hlinkClick r:id="rId2"/>
              </a:rPr>
              <a:t>https://www.guru99.com/black-box-testing.html</a:t>
            </a:r>
            <a:endParaRPr lang="en-US" dirty="0"/>
          </a:p>
          <a:p>
            <a:r>
              <a:rPr lang="en-US" dirty="0">
                <a:hlinkClick r:id="rId3"/>
              </a:rPr>
              <a:t>https://softwaretestingfundamentals.com/black-box-testing/</a:t>
            </a:r>
            <a:endParaRPr lang="en-US" dirty="0"/>
          </a:p>
          <a:p>
            <a:r>
              <a:rPr lang="en-US" dirty="0">
                <a:hlinkClick r:id="rId4"/>
              </a:rPr>
              <a:t>https://www.geeksforgeeks.org/software-engineering-black-box-testing/</a:t>
            </a:r>
            <a:endParaRPr lang="en-US" dirty="0"/>
          </a:p>
          <a:p>
            <a:r>
              <a:rPr lang="en-US" dirty="0">
                <a:hlinkClick r:id="rId5"/>
              </a:rPr>
              <a:t>https://www.geeksforgeeks.org/differences-between-black-box-testing-vs-white-box-testing/</a:t>
            </a:r>
            <a:endParaRPr lang="en-US" dirty="0"/>
          </a:p>
          <a:p>
            <a:endParaRPr lang="en-US" dirty="0"/>
          </a:p>
          <a:p>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39096"/>
            <a:ext cx="10515600" cy="85159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References</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 name="Slide Number Placeholder 15"/>
          <p:cNvSpPr>
            <a:spLocks noGrp="1"/>
          </p:cNvSpPr>
          <p:nvPr>
            <p:ph type="sldNum" sz="quarter" idx="12"/>
          </p:nvPr>
        </p:nvSpPr>
        <p:spPr/>
        <p:txBody>
          <a:bodyPr/>
          <a:lstStyle/>
          <a:p>
            <a:fld id="{FC9A48AB-23F1-45F1-98E5-D2CDC7A5261D}" type="slidenum">
              <a:rPr lang="en-US" smtClean="0">
                <a:solidFill>
                  <a:prstClr val="black">
                    <a:tint val="75000"/>
                  </a:prstClr>
                </a:solidFill>
              </a:rPr>
              <a:pPr/>
              <a:t>35</a:t>
            </a:fld>
            <a:endParaRPr lang="en-US">
              <a:solidFill>
                <a:prstClr val="black">
                  <a:tint val="75000"/>
                </a:prstClr>
              </a:solidFill>
            </a:endParaRP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1709</TotalTime>
  <Words>2095</Words>
  <Application>Microsoft Macintosh PowerPoint</Application>
  <PresentationFormat>Widescreen</PresentationFormat>
  <Paragraphs>198</Paragraphs>
  <Slides>35</Slides>
  <Notes>1</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35</vt:i4>
      </vt:variant>
    </vt:vector>
  </HeadingPairs>
  <TitlesOfParts>
    <vt:vector size="46" baseType="lpstr">
      <vt:lpstr>Arial</vt:lpstr>
      <vt:lpstr>Arial Black</vt:lpstr>
      <vt:lpstr>Calibri</vt:lpstr>
      <vt:lpstr>Calibri Light</vt:lpstr>
      <vt:lpstr>Casper</vt:lpstr>
      <vt:lpstr>Helvetica</vt:lpstr>
      <vt:lpstr>Nunito</vt:lpstr>
      <vt:lpstr>Times New Roman</vt:lpstr>
      <vt:lpstr>1_Office Theme</vt:lpstr>
      <vt:lpstr>Contents Slide Master</vt:lpstr>
      <vt:lpstr>CorelDRAW</vt:lpstr>
      <vt:lpstr>PowerPoint Presentation</vt:lpstr>
      <vt:lpstr>Chapter-7 Software Testing</vt:lpstr>
      <vt:lpstr>Black Box Testing</vt:lpstr>
      <vt:lpstr>Black Box Testing</vt:lpstr>
      <vt:lpstr> Types of Black Box Testing </vt:lpstr>
      <vt:lpstr>Techniques of Black Box Testing:</vt:lpstr>
      <vt:lpstr>Techniques of Black Box Testing:</vt:lpstr>
      <vt:lpstr>Techniques of Black Box Testing:</vt:lpstr>
      <vt:lpstr>Techniques of Black Box Testing:</vt:lpstr>
      <vt:lpstr>PowerPoint Presentation</vt:lpstr>
      <vt:lpstr>Techniques of Black Box Testing:</vt:lpstr>
      <vt:lpstr>Techniques of Black Box Testing:</vt:lpstr>
      <vt:lpstr> Advantages </vt:lpstr>
      <vt:lpstr> Disadvantages </vt:lpstr>
      <vt:lpstr> White Box Testing </vt:lpstr>
      <vt:lpstr> White Box Testing </vt:lpstr>
      <vt:lpstr>  What do you verify in White Box Testing?  </vt:lpstr>
      <vt:lpstr>Testing techniques</vt:lpstr>
      <vt:lpstr>Testing techniques</vt:lpstr>
      <vt:lpstr>Testing techniques</vt:lpstr>
      <vt:lpstr>PowerPoint Presentation</vt:lpstr>
      <vt:lpstr>Testing techniques</vt:lpstr>
      <vt:lpstr>Testing techniques</vt:lpstr>
      <vt:lpstr>Testing techniques</vt:lpstr>
      <vt:lpstr>Testing techniques</vt:lpstr>
      <vt:lpstr>Testing techniques</vt:lpstr>
      <vt:lpstr>PowerPoint Presentation</vt:lpstr>
      <vt:lpstr>Example</vt:lpstr>
      <vt:lpstr>Testing techniques</vt:lpstr>
      <vt:lpstr>Testing techniques</vt:lpstr>
      <vt:lpstr>Advantages:</vt:lpstr>
      <vt:lpstr>Disadvantages:</vt:lpstr>
      <vt:lpstr>PowerPoint Presentation</vt:lpstr>
      <vt:lpstr> 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Office</cp:lastModifiedBy>
  <cp:revision>233</cp:revision>
  <dcterms:created xsi:type="dcterms:W3CDTF">2019-01-09T10:33:58Z</dcterms:created>
  <dcterms:modified xsi:type="dcterms:W3CDTF">2025-03-31T13:39:53Z</dcterms:modified>
</cp:coreProperties>
</file>