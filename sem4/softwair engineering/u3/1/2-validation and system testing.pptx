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8"/>
  </p:notesMasterIdLst>
  <p:handoutMasterIdLst>
    <p:handoutMasterId r:id="rId29"/>
  </p:handoutMasterIdLst>
  <p:sldIdLst>
    <p:sldId id="662" r:id="rId3"/>
    <p:sldId id="280" r:id="rId4"/>
    <p:sldId id="327" r:id="rId5"/>
    <p:sldId id="342" r:id="rId6"/>
    <p:sldId id="343" r:id="rId7"/>
    <p:sldId id="344" r:id="rId8"/>
    <p:sldId id="345" r:id="rId9"/>
    <p:sldId id="663" r:id="rId10"/>
    <p:sldId id="341" r:id="rId11"/>
    <p:sldId id="338" r:id="rId12"/>
    <p:sldId id="664" r:id="rId13"/>
    <p:sldId id="337" r:id="rId14"/>
    <p:sldId id="336" r:id="rId15"/>
    <p:sldId id="335" r:id="rId16"/>
    <p:sldId id="334" r:id="rId17"/>
    <p:sldId id="333" r:id="rId18"/>
    <p:sldId id="332" r:id="rId19"/>
    <p:sldId id="331" r:id="rId20"/>
    <p:sldId id="330" r:id="rId21"/>
    <p:sldId id="329" r:id="rId22"/>
    <p:sldId id="665" r:id="rId23"/>
    <p:sldId id="666" r:id="rId24"/>
    <p:sldId id="667" r:id="rId25"/>
    <p:sldId id="326" r:id="rId26"/>
    <p:sldId id="27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29" autoAdjust="0"/>
    <p:restoredTop sz="94660"/>
  </p:normalViewPr>
  <p:slideViewPr>
    <p:cSldViewPr snapToGrid="0">
      <p:cViewPr varScale="1">
        <p:scale>
          <a:sx n="124" d="100"/>
          <a:sy n="124" d="100"/>
        </p:scale>
        <p:origin x="200" y="296"/>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Er. Jagmeet Kaur, Asst. Prof., CSE, Chandigarh University</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Er. Jagmeet Kaur, Asst. Prof., CSE, Chandigarh University</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Er. Jagmeet Kaur, Asst. Prof., CSE, Chandigarh University</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Er. Jagmeet Kaur, Asst. Prof., CSE, Chandigarh University</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Er. Jagmeet Kaur, Asst. Prof., CSE, Chandigarh University</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Er. Jagmeet Kaur, Asst. Prof., CSE, Chandigarh University</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Er. Jagmeet Kaur, Asst. Prof., CSE, Chandigarh University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E3D351AD-9CE9-EC2C-D398-50FFBBD61BE3}"/>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descr="National Board of Accreditation - Wikipedia">
            <a:extLst>
              <a:ext uri="{FF2B5EF4-FFF2-40B4-BE49-F238E27FC236}">
                <a16:creationId xmlns:a16="http://schemas.microsoft.com/office/drawing/2014/main" id="{B667B39F-5AAD-2D5A-2404-D4EFF2C9DE04}"/>
              </a:ext>
            </a:extLst>
          </p:cNvPr>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pic>
        <p:nvPicPr>
          <p:cNvPr id="9" name="Picture 8">
            <a:extLst>
              <a:ext uri="{FF2B5EF4-FFF2-40B4-BE49-F238E27FC236}">
                <a16:creationId xmlns:a16="http://schemas.microsoft.com/office/drawing/2014/main" id="{1C8E0895-C8D0-D020-ADC0-41EF897FA9FA}"/>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24.xml.rels><?xml version="1.0" encoding="UTF-8" standalone="yes"?>
<Relationships xmlns="http://schemas.openxmlformats.org/package/2006/relationships"><Relationship Id="rId3" Type="http://schemas.openxmlformats.org/officeDocument/2006/relationships/hyperlink" Target="https://www.geeksforgeeks.org/system-testing/" TargetMode="External"/><Relationship Id="rId2" Type="http://schemas.openxmlformats.org/officeDocument/2006/relationships/hyperlink" Target="https://www.guru99.com/system-testing.html" TargetMode="External"/><Relationship Id="rId1" Type="http://schemas.openxmlformats.org/officeDocument/2006/relationships/slideLayout" Target="../slideLayouts/slideLayout2.xml"/><Relationship Id="rId5" Type="http://schemas.openxmlformats.org/officeDocument/2006/relationships/hyperlink" Target="https://www.javatpoint.com/verification-and-validation-testing" TargetMode="External"/><Relationship Id="rId4" Type="http://schemas.openxmlformats.org/officeDocument/2006/relationships/hyperlink" Target="https://www.tutorialspoint.com/software_testing_dictionary/validation_testing.htm"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62662" y="4891470"/>
            <a:ext cx="4156822" cy="1236591"/>
          </a:xfrm>
        </p:spPr>
        <p:txBody>
          <a:bodyPr>
            <a:noAutofit/>
          </a:bodyPr>
          <a:lstStyle/>
          <a:p>
            <a:pPr algn="l"/>
            <a:endParaRPr lang="en-US" sz="1400" b="1" dirty="0">
              <a:latin typeface="Times New Roman" panose="02020603050405020304" pitchFamily="18" charset="0"/>
              <a:cs typeface="Times New Roman" panose="02020603050405020304" pitchFamily="18" charset="0"/>
            </a:endParaRP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719484" y="3934196"/>
            <a:ext cx="2197683" cy="369332"/>
          </a:xfrm>
          <a:prstGeom prst="rect">
            <a:avLst/>
          </a:prstGeom>
          <a:noFill/>
        </p:spPr>
        <p:txBody>
          <a:bodyPr wrap="square">
            <a:spAutoFit/>
          </a:bodyPr>
          <a:lstStyle/>
          <a:p>
            <a:r>
              <a:rPr lang="en-US" b="1" dirty="0"/>
              <a:t>Software Testing</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5"/>
            <a:ext cx="10515600" cy="1079257"/>
          </a:xfrm>
        </p:spPr>
        <p:txBody>
          <a:bodyPr>
            <a:noAutofit/>
          </a:bodyPr>
          <a:lstStyle/>
          <a:p>
            <a:pPr algn="ctr"/>
            <a:r>
              <a:rPr lang="en-US" sz="3600" dirty="0">
                <a:latin typeface="Times New Roman" panose="02020603050405020304" pitchFamily="18" charset="0"/>
                <a:cs typeface="Times New Roman" pitchFamily="18" charset="0"/>
              </a:rPr>
              <a:t>Chapter-7</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Software Testing</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151529"/>
            <a:ext cx="10515600" cy="4025434"/>
          </a:xfrm>
        </p:spPr>
        <p:txBody>
          <a:bodyPr>
            <a:normAutofit/>
          </a:bodyPr>
          <a:lstStyle/>
          <a:p>
            <a:pPr>
              <a:lnSpc>
                <a:spcPct val="150000"/>
              </a:lnSpc>
            </a:pPr>
            <a:r>
              <a:rPr lang="en-US" sz="2400" dirty="0">
                <a:latin typeface="Times New Roman" pitchFamily="18" charset="0"/>
                <a:cs typeface="Times New Roman" pitchFamily="18" charset="0"/>
              </a:rPr>
              <a:t>Validation Testing</a:t>
            </a:r>
          </a:p>
          <a:p>
            <a:pPr>
              <a:lnSpc>
                <a:spcPct val="150000"/>
              </a:lnSpc>
            </a:pPr>
            <a:r>
              <a:rPr lang="en-US" sz="2400" dirty="0">
                <a:latin typeface="Times New Roman" pitchFamily="18" charset="0"/>
                <a:cs typeface="Times New Roman" pitchFamily="18" charset="0"/>
              </a:rPr>
              <a:t>System Testing</a:t>
            </a:r>
          </a:p>
        </p:txBody>
      </p:sp>
      <p:sp>
        <p:nvSpPr>
          <p:cNvPr id="5" name="Rectangle 4"/>
          <p:cNvSpPr/>
          <p:nvPr/>
        </p:nvSpPr>
        <p:spPr>
          <a:xfrm>
            <a:off x="838200" y="2166132"/>
            <a:ext cx="10515600" cy="4006067"/>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817581"/>
            <a:ext cx="10515600" cy="115456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pPr algn="ctr"/>
            <a:br>
              <a:rPr lang="en-US" dirty="0"/>
            </a:br>
            <a:r>
              <a:rPr lang="en-US" dirty="0">
                <a:latin typeface="Times New Roman" panose="02020603050405020304" pitchFamily="18" charset="0"/>
                <a:cs typeface="Times New Roman" panose="02020603050405020304" pitchFamily="18" charset="0"/>
              </a:rPr>
              <a:t>Validation Testing</a:t>
            </a:r>
            <a:br>
              <a:rPr lang="en-US" dirty="0"/>
            </a:br>
            <a:endParaRPr lang="en-US" dirty="0"/>
          </a:p>
        </p:txBody>
      </p:sp>
      <p:sp>
        <p:nvSpPr>
          <p:cNvPr id="3" name="Content Placeholder 2"/>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Validation testing begins at the culmination of integration testing, when individual components have been exercised, the software is completely assembled as a package, and interfacing errors have been uncovered and corrected. </a:t>
            </a:r>
          </a:p>
          <a:p>
            <a:pPr algn="just"/>
            <a:r>
              <a:rPr lang="en-US" dirty="0">
                <a:latin typeface="Times New Roman" panose="02020603050405020304" pitchFamily="18" charset="0"/>
                <a:cs typeface="Times New Roman" panose="02020603050405020304" pitchFamily="18" charset="0"/>
              </a:rPr>
              <a:t>Validation Testing ensures that the product actually meets the client's needs. It can also be defined as to demonstrate that the product fulfills its intended use when deployed on appropriate environment.</a:t>
            </a:r>
          </a:p>
          <a:p>
            <a:pPr algn="just"/>
            <a:r>
              <a:rPr lang="en-US" dirty="0">
                <a:latin typeface="Times New Roman" panose="02020603050405020304" pitchFamily="18" charset="0"/>
                <a:cs typeface="Times New Roman" panose="02020603050405020304" pitchFamily="18" charset="0"/>
              </a:rPr>
              <a:t>It answers to the question, Are we building the right product?</a:t>
            </a:r>
          </a:p>
          <a:p>
            <a:pPr algn="just">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35915"/>
            <a:ext cx="10515600" cy="754773"/>
          </a:xfrm>
        </p:spPr>
        <p:txBody>
          <a:bodyPr>
            <a:normAutofit fontScale="90000"/>
          </a:bodyPr>
          <a:lstStyle/>
          <a:p>
            <a:pPr algn="ct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Validation Testing</a:t>
            </a:r>
            <a:br>
              <a:rPr lang="en-US" dirty="0"/>
            </a:br>
            <a:endParaRPr lang="en-US"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Validation Testing, carried out by QA professionals, is to determine if the system complies with the requirements and performs functions for which it is intended and meets the organization’s goals and user needs. </a:t>
            </a:r>
          </a:p>
          <a:p>
            <a:pPr algn="just"/>
            <a:r>
              <a:rPr lang="en-IN" dirty="0">
                <a:latin typeface="Times New Roman" panose="02020603050405020304" pitchFamily="18" charset="0"/>
                <a:cs typeface="Times New Roman" panose="02020603050405020304" pitchFamily="18" charset="0"/>
              </a:rPr>
              <a:t>Validation can be defined in many ways, but a simple definition is that validation succeeds when software functions in a manner that can be reasonably expected by the customer.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fontScale="90000"/>
          </a:bodyPr>
          <a:lstStyle/>
          <a:p>
            <a:pPr algn="ctr"/>
            <a:br>
              <a:rPr lang="en-US" dirty="0"/>
            </a:br>
            <a:r>
              <a:rPr lang="en-US" dirty="0"/>
              <a:t>Validation Testing</a:t>
            </a:r>
            <a:br>
              <a:rPr lang="en-US" dirty="0"/>
            </a:br>
            <a:endParaRPr lang="en-US"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Thus, to ensure customer satisfaction, developers apply validation testing. </a:t>
            </a:r>
          </a:p>
          <a:p>
            <a:pPr algn="just"/>
            <a:r>
              <a:rPr lang="en-US" dirty="0">
                <a:latin typeface="Times New Roman" panose="02020603050405020304" pitchFamily="18" charset="0"/>
                <a:cs typeface="Times New Roman" panose="02020603050405020304" pitchFamily="18" charset="0"/>
              </a:rPr>
              <a:t>Its goal is to validate and be confident about the product or system and that it fulfils the requirements given by the customer. </a:t>
            </a:r>
          </a:p>
          <a:p>
            <a:pPr algn="just"/>
            <a:r>
              <a:rPr lang="en-US" dirty="0">
                <a:latin typeface="Times New Roman" panose="02020603050405020304" pitchFamily="18" charset="0"/>
                <a:cs typeface="Times New Roman" panose="02020603050405020304" pitchFamily="18" charset="0"/>
              </a:rPr>
              <a:t>The acceptance of the software from the end customer is also its part.</a:t>
            </a:r>
          </a:p>
          <a:p>
            <a:pPr algn="just"/>
            <a:r>
              <a:rPr lang="en-IN" dirty="0">
                <a:latin typeface="Times New Roman" panose="02020603050405020304" pitchFamily="18" charset="0"/>
                <a:cs typeface="Times New Roman" panose="02020603050405020304" pitchFamily="18" charset="0"/>
              </a:rPr>
              <a:t>If a Software Requirements Specification has been developed, it describes all user-visible attributes of the software and contains a </a:t>
            </a:r>
            <a:r>
              <a:rPr lang="en-IN" b="1" dirty="0">
                <a:latin typeface="Times New Roman" panose="02020603050405020304" pitchFamily="18" charset="0"/>
                <a:cs typeface="Times New Roman" panose="02020603050405020304" pitchFamily="18" charset="0"/>
              </a:rPr>
              <a:t>Validation Criteria </a:t>
            </a:r>
            <a:r>
              <a:rPr lang="en-IN" dirty="0">
                <a:latin typeface="Times New Roman" panose="02020603050405020304" pitchFamily="18" charset="0"/>
                <a:cs typeface="Times New Roman" panose="02020603050405020304" pitchFamily="18" charset="0"/>
              </a:rPr>
              <a:t>section that forms the basis for a validation-testing approach.</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fontScale="90000"/>
          </a:bodyPr>
          <a:lstStyle/>
          <a:p>
            <a:pPr algn="ctr"/>
            <a:br>
              <a:rPr lang="en-US" dirty="0"/>
            </a:br>
            <a:r>
              <a:rPr lang="en-IN" dirty="0">
                <a:effectLst/>
                <a:latin typeface="Helvetica" pitchFamily="2" charset="0"/>
              </a:rPr>
              <a:t>Validation-Test Criteria</a:t>
            </a:r>
            <a:br>
              <a:rPr lang="en-IN" dirty="0">
                <a:solidFill>
                  <a:srgbClr val="CC006A"/>
                </a:solidFill>
                <a:effectLst/>
                <a:latin typeface="Helvetica" pitchFamily="2" charset="0"/>
              </a:rPr>
            </a:b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lgn="just"/>
            <a:r>
              <a:rPr lang="en-IN" sz="3300" dirty="0">
                <a:latin typeface="Times New Roman" panose="02020603050405020304" pitchFamily="18" charset="0"/>
                <a:cs typeface="Times New Roman" panose="02020603050405020304" pitchFamily="18" charset="0"/>
              </a:rPr>
              <a:t>Software validation is achieved through a series of tests that demonstrate conformity with requirements. </a:t>
            </a:r>
          </a:p>
          <a:p>
            <a:pPr algn="just"/>
            <a:r>
              <a:rPr lang="en-IN" sz="3300" dirty="0">
                <a:latin typeface="Times New Roman" panose="02020603050405020304" pitchFamily="18" charset="0"/>
                <a:cs typeface="Times New Roman" panose="02020603050405020304" pitchFamily="18" charset="0"/>
              </a:rPr>
              <a:t>A test plan outlines the classes of tests to be conducted, and a test   procedure defines specific test cases that are designed to ensure that all functional requirements are satisfied, all </a:t>
            </a:r>
            <a:r>
              <a:rPr lang="en-IN" sz="3300" dirty="0" err="1">
                <a:latin typeface="Times New Roman" panose="02020603050405020304" pitchFamily="18" charset="0"/>
                <a:cs typeface="Times New Roman" panose="02020603050405020304" pitchFamily="18" charset="0"/>
              </a:rPr>
              <a:t>behavioral</a:t>
            </a:r>
            <a:r>
              <a:rPr lang="en-IN" sz="3300" dirty="0">
                <a:latin typeface="Times New Roman" panose="02020603050405020304" pitchFamily="18" charset="0"/>
                <a:cs typeface="Times New Roman" panose="02020603050405020304" pitchFamily="18" charset="0"/>
              </a:rPr>
              <a:t> characteristics are achieved, all content is accurate and properly presented, all performance requirements are attained, documentation is correct, and usability and other requirements are met (e.g., transportability, compatibility, error recovery, maintainability).</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9970" y="1055914"/>
            <a:ext cx="10493829" cy="5121049"/>
          </a:xfrm>
        </p:spPr>
        <p:txBody>
          <a:bodyPr>
            <a:normAutofit/>
          </a:bodyPr>
          <a:lstStyle/>
          <a:p>
            <a:pPr algn="just"/>
            <a:r>
              <a:rPr lang="en-IN" sz="3100" dirty="0">
                <a:latin typeface="Times New Roman" panose="02020603050405020304" pitchFamily="18" charset="0"/>
                <a:cs typeface="Times New Roman" panose="02020603050405020304" pitchFamily="18" charset="0"/>
              </a:rPr>
              <a:t>After each validation test case has been conducted, one of two possible conditions exists: </a:t>
            </a:r>
          </a:p>
          <a:p>
            <a:pPr marL="0" indent="0" algn="just">
              <a:buNone/>
            </a:pPr>
            <a:r>
              <a:rPr lang="en-IN" sz="3100" dirty="0">
                <a:latin typeface="Times New Roman" panose="02020603050405020304" pitchFamily="18" charset="0"/>
                <a:cs typeface="Times New Roman" panose="02020603050405020304" pitchFamily="18" charset="0"/>
              </a:rPr>
              <a:t>(1) The function or performance characteristic conforms to specification and is accepted </a:t>
            </a:r>
          </a:p>
          <a:p>
            <a:pPr marL="0" indent="0" algn="just">
              <a:buNone/>
            </a:pPr>
            <a:r>
              <a:rPr lang="en-IN" sz="3100" dirty="0">
                <a:latin typeface="Times New Roman" panose="02020603050405020304" pitchFamily="18" charset="0"/>
                <a:cs typeface="Times New Roman" panose="02020603050405020304" pitchFamily="18" charset="0"/>
              </a:rPr>
              <a:t>(2) a deviation from specification is uncovered and a deficiency</a:t>
            </a:r>
          </a:p>
          <a:p>
            <a:pPr algn="just">
              <a:buNone/>
            </a:pPr>
            <a:r>
              <a:rPr lang="en-IN" sz="3100" dirty="0">
                <a:latin typeface="Times New Roman" panose="02020603050405020304" pitchFamily="18" charset="0"/>
                <a:cs typeface="Times New Roman" panose="02020603050405020304" pitchFamily="18" charset="0"/>
              </a:rPr>
              <a:t>list is created. </a:t>
            </a:r>
          </a:p>
          <a:p>
            <a:pPr algn="just">
              <a:buNone/>
            </a:pPr>
            <a:r>
              <a:rPr lang="en-IN" sz="3100" dirty="0">
                <a:latin typeface="Times New Roman" panose="02020603050405020304" pitchFamily="18" charset="0"/>
                <a:cs typeface="Times New Roman" panose="02020603050405020304" pitchFamily="18" charset="0"/>
              </a:rPr>
              <a:t>Deviations or errors discovered at this stage in a project can rarely be corrected prior to scheduled delivery. It is often necessary to negotiate with the customer to establish a method for resolving deficiencies.</a:t>
            </a:r>
          </a:p>
          <a:p>
            <a:pPr algn="just"/>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50020-25C9-EEEA-0E46-8056D74832C0}"/>
              </a:ext>
            </a:extLst>
          </p:cNvPr>
          <p:cNvSpPr>
            <a:spLocks noGrp="1"/>
          </p:cNvSpPr>
          <p:nvPr>
            <p:ph type="title"/>
          </p:nvPr>
        </p:nvSpPr>
        <p:spPr/>
        <p:txBody>
          <a:bodyPr>
            <a:normAutofit fontScale="90000"/>
          </a:bodyPr>
          <a:lstStyle/>
          <a:p>
            <a:pPr algn="ctr"/>
            <a:br>
              <a:rPr lang="en-IN" dirty="0">
                <a:effectLst/>
                <a:latin typeface="Helvetica" pitchFamily="2" charset="0"/>
              </a:rPr>
            </a:br>
            <a:r>
              <a:rPr lang="en-IN" dirty="0">
                <a:effectLst/>
                <a:latin typeface="Helvetica" pitchFamily="2" charset="0"/>
              </a:rPr>
              <a:t>Configuration Review</a:t>
            </a:r>
            <a:br>
              <a:rPr lang="en-IN" dirty="0">
                <a:solidFill>
                  <a:srgbClr val="CC006A"/>
                </a:solidFill>
                <a:effectLst/>
                <a:latin typeface="Helvetica" pitchFamily="2" charset="0"/>
              </a:rPr>
            </a:br>
            <a:endParaRPr lang="en-US" dirty="0"/>
          </a:p>
        </p:txBody>
      </p:sp>
      <p:sp>
        <p:nvSpPr>
          <p:cNvPr id="3" name="Content Placeholder 2">
            <a:extLst>
              <a:ext uri="{FF2B5EF4-FFF2-40B4-BE49-F238E27FC236}">
                <a16:creationId xmlns:a16="http://schemas.microsoft.com/office/drawing/2014/main" id="{0703381A-7084-F5FA-4645-4F89B9438ECC}"/>
              </a:ext>
            </a:extLst>
          </p:cNvPr>
          <p:cNvSpPr>
            <a:spLocks noGrp="1"/>
          </p:cNvSpPr>
          <p:nvPr>
            <p:ph idx="1"/>
          </p:nvPr>
        </p:nvSpPr>
        <p:spPr/>
        <p:txBody>
          <a:bodyPr/>
          <a:lstStyle/>
          <a:p>
            <a:pPr algn="just"/>
            <a:r>
              <a:rPr lang="en-IN" sz="3100" dirty="0">
                <a:latin typeface="Times New Roman" panose="02020603050405020304" pitchFamily="18" charset="0"/>
                <a:cs typeface="Times New Roman" panose="02020603050405020304" pitchFamily="18" charset="0"/>
              </a:rPr>
              <a:t>An important element of the validation process is a </a:t>
            </a:r>
            <a:r>
              <a:rPr lang="en-IN" sz="3100" b="1" dirty="0">
                <a:latin typeface="Times New Roman" panose="02020603050405020304" pitchFamily="18" charset="0"/>
                <a:cs typeface="Times New Roman" panose="02020603050405020304" pitchFamily="18" charset="0"/>
              </a:rPr>
              <a:t>configuration review. </a:t>
            </a:r>
          </a:p>
          <a:p>
            <a:pPr algn="just"/>
            <a:r>
              <a:rPr lang="en-IN" sz="3100" dirty="0">
                <a:latin typeface="Times New Roman" panose="02020603050405020304" pitchFamily="18" charset="0"/>
                <a:cs typeface="Times New Roman" panose="02020603050405020304" pitchFamily="18" charset="0"/>
              </a:rPr>
              <a:t>The intent of the review is to ensure that all elements of the software configuration have been properly developed, are </a:t>
            </a:r>
            <a:r>
              <a:rPr lang="en-IN" sz="3100" dirty="0" err="1">
                <a:latin typeface="Times New Roman" panose="02020603050405020304" pitchFamily="18" charset="0"/>
                <a:cs typeface="Times New Roman" panose="02020603050405020304" pitchFamily="18" charset="0"/>
              </a:rPr>
              <a:t>cataloged</a:t>
            </a:r>
            <a:r>
              <a:rPr lang="en-IN" sz="3100" dirty="0">
                <a:latin typeface="Times New Roman" panose="02020603050405020304" pitchFamily="18" charset="0"/>
                <a:cs typeface="Times New Roman" panose="02020603050405020304" pitchFamily="18" charset="0"/>
              </a:rPr>
              <a:t>, and have the necessary detail to bolster the support activities. </a:t>
            </a:r>
          </a:p>
          <a:p>
            <a:pPr algn="just"/>
            <a:r>
              <a:rPr lang="en-IN" sz="3100" dirty="0">
                <a:latin typeface="Times New Roman" panose="02020603050405020304" pitchFamily="18" charset="0"/>
                <a:cs typeface="Times New Roman" panose="02020603050405020304" pitchFamily="18" charset="0"/>
              </a:rPr>
              <a:t>The configuration review, sometimes called an audit</a:t>
            </a:r>
          </a:p>
          <a:p>
            <a:endParaRPr lang="en-US" dirty="0"/>
          </a:p>
        </p:txBody>
      </p:sp>
      <p:sp>
        <p:nvSpPr>
          <p:cNvPr id="4" name="Slide Number Placeholder 3">
            <a:extLst>
              <a:ext uri="{FF2B5EF4-FFF2-40B4-BE49-F238E27FC236}">
                <a16:creationId xmlns:a16="http://schemas.microsoft.com/office/drawing/2014/main" id="{FC26E95F-56D1-0960-DCF5-8A14E993F1D4}"/>
              </a:ext>
            </a:extLst>
          </p:cNvPr>
          <p:cNvSpPr>
            <a:spLocks noGrp="1"/>
          </p:cNvSpPr>
          <p:nvPr>
            <p:ph type="sldNum" sz="quarter" idx="12"/>
          </p:nvPr>
        </p:nvSpPr>
        <p:spPr/>
        <p:txBody>
          <a:bodyPr/>
          <a:lstStyle/>
          <a:p>
            <a:fld id="{BDCDBBEF-AA6C-4BA6-85B2-A17D7F280E38}" type="slidenum">
              <a:rPr lang="en-US" smtClean="0"/>
              <a:pPr/>
              <a:t>8</a:t>
            </a:fld>
            <a:endParaRPr lang="en-US"/>
          </a:p>
        </p:txBody>
      </p:sp>
    </p:spTree>
    <p:extLst>
      <p:ext uri="{BB962C8B-B14F-4D97-AF65-F5344CB8AC3E}">
        <p14:creationId xmlns:p14="http://schemas.microsoft.com/office/powerpoint/2010/main" val="3624317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308"/>
            <a:ext cx="10515600" cy="905380"/>
          </a:xfrm>
        </p:spPr>
        <p:txBody>
          <a:bodyPr>
            <a:normAutofit fontScale="90000"/>
          </a:bodyPr>
          <a:lstStyle/>
          <a:p>
            <a:r>
              <a:rPr lang="en-US" sz="3600" dirty="0">
                <a:latin typeface="Times New Roman" panose="02020603050405020304" pitchFamily="18" charset="0"/>
                <a:cs typeface="Times New Roman" panose="02020603050405020304" pitchFamily="18" charset="0"/>
              </a:rPr>
              <a:t>Validation Testing - Workflow</a:t>
            </a:r>
            <a:br>
              <a:rPr lang="en-US" dirty="0"/>
            </a:br>
            <a:endParaRPr lang="en-US" dirty="0"/>
          </a:p>
        </p:txBody>
      </p:sp>
      <p:sp>
        <p:nvSpPr>
          <p:cNvPr id="3" name="Content Placeholder 2"/>
          <p:cNvSpPr>
            <a:spLocks noGrp="1"/>
          </p:cNvSpPr>
          <p:nvPr>
            <p:ph idx="1"/>
          </p:nvPr>
        </p:nvSpPr>
        <p:spPr>
          <a:xfrm>
            <a:off x="838200" y="1387736"/>
            <a:ext cx="10515600" cy="4789227"/>
          </a:xfrm>
        </p:spPr>
        <p:txBody>
          <a:bodyPr/>
          <a:lstStyle/>
          <a:p>
            <a:pPr algn="just"/>
            <a:r>
              <a:rPr lang="en-US" dirty="0">
                <a:latin typeface="Times New Roman" panose="02020603050405020304" pitchFamily="18" charset="0"/>
                <a:cs typeface="Times New Roman" panose="02020603050405020304" pitchFamily="18" charset="0"/>
              </a:rPr>
              <a:t>Validation testing can be best demonstrated using V-Model. The Software/product under test is evaluated during this type of testing.</a:t>
            </a:r>
          </a:p>
          <a:p>
            <a:pPr marL="0" indent="0">
              <a:buNone/>
            </a:pP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47106" name="Picture 2"/>
          <p:cNvPicPr>
            <a:picLocks noChangeAspect="1" noChangeArrowheads="1"/>
          </p:cNvPicPr>
          <p:nvPr/>
        </p:nvPicPr>
        <p:blipFill>
          <a:blip r:embed="rId2"/>
          <a:srcRect/>
          <a:stretch>
            <a:fillRect/>
          </a:stretch>
        </p:blipFill>
        <p:spPr bwMode="auto">
          <a:xfrm>
            <a:off x="2909887" y="2431228"/>
            <a:ext cx="7212111" cy="4188647"/>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b="1" dirty="0">
                <a:latin typeface="Times New Roman" panose="02020603050405020304" pitchFamily="18" charset="0"/>
                <a:cs typeface="Times New Roman" panose="02020603050405020304" pitchFamily="18" charset="0"/>
              </a:rPr>
              <a:t>Validation Testing Variations: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Alpha testing-</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The alpha test is conducted at the developer’s site by a representative group of end users. The software is used in a natural setting with the developer “looking over the shoulder” of the users and recording errors and usage problems. Alpha tests are conducted in a controlled environment.</a:t>
            </a:r>
          </a:p>
          <a:p>
            <a:pPr algn="just"/>
            <a:r>
              <a:rPr lang="en-US" b="1" dirty="0">
                <a:latin typeface="Times New Roman" panose="02020603050405020304" pitchFamily="18" charset="0"/>
                <a:cs typeface="Times New Roman" panose="02020603050405020304" pitchFamily="18" charset="0"/>
              </a:rPr>
              <a:t>Beta testing-</a:t>
            </a:r>
            <a:r>
              <a:rPr lang="en-US" dirty="0">
                <a:latin typeface="Times New Roman" panose="02020603050405020304" pitchFamily="18" charset="0"/>
                <a:cs typeface="Times New Roman" panose="02020603050405020304" pitchFamily="18" charset="0"/>
              </a:rPr>
              <a:t> </a:t>
            </a:r>
            <a:r>
              <a:rPr lang="en-IN" sz="2900" dirty="0">
                <a:latin typeface="Times New Roman" panose="02020603050405020304" pitchFamily="18" charset="0"/>
                <a:cs typeface="Times New Roman" panose="02020603050405020304" pitchFamily="18" charset="0"/>
              </a:rPr>
              <a:t>The beta test is conducted at one or more end-user sites. Unlike alpha testing, the developer generally is not present. Therefore, the beta test is a “live” application of the software in an environment that cannot be controlled by the developer. The customer records all problems (real or imagined) that are encountered during beta testing and reports these to the developer at regular intervals. As a result of problems reported during beta tests, you make modifications and then prepare for release of the software product to the entire customer base.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5DA103-EDA7-526B-E796-FCB50E678432}"/>
              </a:ext>
            </a:extLst>
          </p:cNvPr>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Regression testing-</a:t>
            </a:r>
            <a:r>
              <a:rPr lang="en-US" dirty="0">
                <a:latin typeface="Times New Roman" panose="02020603050405020304" pitchFamily="18" charset="0"/>
                <a:cs typeface="Times New Roman" panose="02020603050405020304" pitchFamily="18" charset="0"/>
              </a:rPr>
              <a:t> This testing is done after the desired changes or modifications are made to the existing code. The code, when put to test, may have certain errors that can be resolved by making essential changes. The software is again put to test after these changes are made to check whether the new code fulfils customer requirements or not.</a:t>
            </a:r>
          </a:p>
          <a:p>
            <a:endParaRPr lang="en-US" dirty="0"/>
          </a:p>
        </p:txBody>
      </p:sp>
      <p:sp>
        <p:nvSpPr>
          <p:cNvPr id="4" name="Slide Number Placeholder 3">
            <a:extLst>
              <a:ext uri="{FF2B5EF4-FFF2-40B4-BE49-F238E27FC236}">
                <a16:creationId xmlns:a16="http://schemas.microsoft.com/office/drawing/2014/main" id="{0D5DED63-8C7C-AC39-E8FD-A731EFD454AF}"/>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1453290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a:bodyPr>
          <a:lstStyle/>
          <a:p>
            <a:r>
              <a:rPr lang="en-US" sz="3600" b="1" dirty="0">
                <a:latin typeface="Times New Roman" panose="02020603050405020304" pitchFamily="18" charset="0"/>
                <a:cs typeface="Times New Roman" panose="02020603050405020304" pitchFamily="18" charset="0"/>
              </a:rPr>
              <a:t>Stages of Validation testing Process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lgn="just"/>
            <a:r>
              <a:rPr lang="en-US" b="1" dirty="0">
                <a:latin typeface="Times New Roman" panose="02020603050405020304" pitchFamily="18" charset="0"/>
                <a:cs typeface="Times New Roman" panose="02020603050405020304" pitchFamily="18" charset="0"/>
              </a:rPr>
              <a:t>Validation Planning</a:t>
            </a:r>
            <a:r>
              <a:rPr lang="en-US" dirty="0">
                <a:latin typeface="Times New Roman" panose="02020603050405020304" pitchFamily="18" charset="0"/>
                <a:cs typeface="Times New Roman" panose="02020603050405020304" pitchFamily="18" charset="0"/>
              </a:rPr>
              <a:t> – To plan all the activities that need to be included while testing.</a:t>
            </a:r>
          </a:p>
          <a:p>
            <a:pPr algn="just"/>
            <a:r>
              <a:rPr lang="en-US" b="1" dirty="0">
                <a:latin typeface="Times New Roman" panose="02020603050405020304" pitchFamily="18" charset="0"/>
                <a:cs typeface="Times New Roman" panose="02020603050405020304" pitchFamily="18" charset="0"/>
              </a:rPr>
              <a:t>Define Requirements</a:t>
            </a:r>
            <a:r>
              <a:rPr lang="en-US" dirty="0">
                <a:latin typeface="Times New Roman" panose="02020603050405020304" pitchFamily="18" charset="0"/>
                <a:cs typeface="Times New Roman" panose="02020603050405020304" pitchFamily="18" charset="0"/>
              </a:rPr>
              <a:t> – To set goals and define the requirements for testing.</a:t>
            </a:r>
          </a:p>
          <a:p>
            <a:pPr algn="just"/>
            <a:r>
              <a:rPr lang="en-US" b="1" dirty="0">
                <a:latin typeface="Times New Roman" panose="02020603050405020304" pitchFamily="18" charset="0"/>
                <a:cs typeface="Times New Roman" panose="02020603050405020304" pitchFamily="18" charset="0"/>
              </a:rPr>
              <a:t>Selecting a Team</a:t>
            </a:r>
            <a:r>
              <a:rPr lang="en-US" dirty="0">
                <a:latin typeface="Times New Roman" panose="02020603050405020304" pitchFamily="18" charset="0"/>
                <a:cs typeface="Times New Roman" panose="02020603050405020304" pitchFamily="18" charset="0"/>
              </a:rPr>
              <a:t> – To select a skilled and knowledgeable development team (the third party included).</a:t>
            </a:r>
          </a:p>
          <a:p>
            <a:pPr algn="just"/>
            <a:r>
              <a:rPr lang="en-US" b="1" dirty="0">
                <a:latin typeface="Times New Roman" panose="02020603050405020304" pitchFamily="18" charset="0"/>
                <a:cs typeface="Times New Roman" panose="02020603050405020304" pitchFamily="18" charset="0"/>
              </a:rPr>
              <a:t>Developing Documents</a:t>
            </a:r>
            <a:r>
              <a:rPr lang="en-US" dirty="0">
                <a:latin typeface="Times New Roman" panose="02020603050405020304" pitchFamily="18" charset="0"/>
                <a:cs typeface="Times New Roman" panose="02020603050405020304" pitchFamily="18" charset="0"/>
              </a:rPr>
              <a:t> – To develop a user specification document describing the operating conditions.</a:t>
            </a:r>
          </a:p>
          <a:p>
            <a:pPr algn="just"/>
            <a:r>
              <a:rPr lang="en-US" b="1" dirty="0">
                <a:latin typeface="Times New Roman" panose="02020603050405020304" pitchFamily="18" charset="0"/>
                <a:cs typeface="Times New Roman" panose="02020603050405020304" pitchFamily="18" charset="0"/>
              </a:rPr>
              <a:t>Estimation/Evaluation</a:t>
            </a:r>
            <a:r>
              <a:rPr lang="en-US" dirty="0">
                <a:latin typeface="Times New Roman" panose="02020603050405020304" pitchFamily="18" charset="0"/>
                <a:cs typeface="Times New Roman" panose="02020603050405020304" pitchFamily="18" charset="0"/>
              </a:rPr>
              <a:t> – To evaluate the software as per the specifications and submit a validation report.</a:t>
            </a:r>
          </a:p>
          <a:p>
            <a:pPr algn="just"/>
            <a:r>
              <a:rPr lang="en-US" b="1" dirty="0">
                <a:latin typeface="Times New Roman" panose="02020603050405020304" pitchFamily="18" charset="0"/>
                <a:cs typeface="Times New Roman" panose="02020603050405020304" pitchFamily="18" charset="0"/>
              </a:rPr>
              <a:t>Fixing bugs or Incorporating Changes</a:t>
            </a:r>
            <a:r>
              <a:rPr lang="en-US" dirty="0">
                <a:latin typeface="Times New Roman" panose="02020603050405020304" pitchFamily="18" charset="0"/>
                <a:cs typeface="Times New Roman" panose="02020603050405020304" pitchFamily="18" charset="0"/>
              </a:rPr>
              <a:t> – To change the software so as to remove any errors found during evaluation.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a:bodyPr>
          <a:lstStyle/>
          <a:p>
            <a:r>
              <a:rPr lang="en-US" sz="3600" dirty="0">
                <a:latin typeface="Times New Roman" panose="02020603050405020304" pitchFamily="18" charset="0"/>
                <a:cs typeface="Times New Roman" panose="02020603050405020304" pitchFamily="18" charset="0"/>
              </a:rPr>
              <a:t>System Testing</a:t>
            </a:r>
          </a:p>
        </p:txBody>
      </p:sp>
      <p:sp>
        <p:nvSpPr>
          <p:cNvPr id="3" name="Content Placeholder 2"/>
          <p:cNvSpPr>
            <a:spLocks noGrp="1"/>
          </p:cNvSpPr>
          <p:nvPr>
            <p:ph idx="1"/>
          </p:nvPr>
        </p:nvSpPr>
        <p:spPr/>
        <p:txBody>
          <a:bodyPr/>
          <a:lstStyle/>
          <a:p>
            <a:pPr algn="just" fontAlgn="base"/>
            <a:r>
              <a:rPr lang="en-US" b="1" dirty="0">
                <a:latin typeface="Times New Roman" panose="02020603050405020304" pitchFamily="18" charset="0"/>
                <a:cs typeface="Times New Roman" panose="02020603050405020304" pitchFamily="18" charset="0"/>
              </a:rPr>
              <a:t>System Testing</a:t>
            </a:r>
            <a:r>
              <a:rPr lang="en-US" dirty="0">
                <a:latin typeface="Times New Roman" panose="02020603050405020304" pitchFamily="18" charset="0"/>
                <a:cs typeface="Times New Roman" panose="02020603050405020304" pitchFamily="18" charset="0"/>
              </a:rPr>
              <a:t> is a type of software testing that is performed on a complete integrated system to evaluate the compliance of the system with the corresponding requirements.</a:t>
            </a:r>
          </a:p>
          <a:p>
            <a:pPr algn="just" fontAlgn="base"/>
            <a:r>
              <a:rPr lang="en-US" dirty="0">
                <a:latin typeface="Times New Roman" panose="02020603050405020304" pitchFamily="18" charset="0"/>
                <a:cs typeface="Times New Roman" panose="02020603050405020304" pitchFamily="18" charset="0"/>
              </a:rPr>
              <a:t>In system testing, integration testing passed components are taken as input. </a:t>
            </a:r>
          </a:p>
          <a:p>
            <a:pPr algn="just" fontAlgn="base"/>
            <a:r>
              <a:rPr lang="en-US" dirty="0">
                <a:latin typeface="Times New Roman" panose="02020603050405020304" pitchFamily="18" charset="0"/>
                <a:cs typeface="Times New Roman" panose="02020603050405020304" pitchFamily="18" charset="0"/>
              </a:rPr>
              <a:t>The goal of integration testing is to detect any irregularity between the units that are integrated together. </a:t>
            </a:r>
          </a:p>
          <a:p>
            <a:pPr algn="just" fontAlgn="base"/>
            <a:r>
              <a:rPr lang="en-US" dirty="0">
                <a:latin typeface="Times New Roman" panose="02020603050405020304" pitchFamily="18" charset="0"/>
                <a:cs typeface="Times New Roman" panose="02020603050405020304" pitchFamily="18" charset="0"/>
              </a:rPr>
              <a:t>System testing detects defects within both the integrated units and the whole system. The result of system testing is the observed behavior of a component or a system when it is tested.</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a:bodyPr>
          <a:lstStyle/>
          <a:p>
            <a:r>
              <a:rPr lang="en-US" sz="3600" dirty="0">
                <a:latin typeface="Times New Roman" panose="02020603050405020304" pitchFamily="18" charset="0"/>
                <a:cs typeface="Times New Roman" panose="02020603050405020304" pitchFamily="18" charset="0"/>
              </a:rPr>
              <a:t>System Testing</a:t>
            </a:r>
          </a:p>
        </p:txBody>
      </p:sp>
      <p:sp>
        <p:nvSpPr>
          <p:cNvPr id="3" name="Content Placeholder 2"/>
          <p:cNvSpPr>
            <a:spLocks noGrp="1"/>
          </p:cNvSpPr>
          <p:nvPr>
            <p:ph idx="1"/>
          </p:nvPr>
        </p:nvSpPr>
        <p:spPr/>
        <p:txBody>
          <a:bodyPr>
            <a:normAutofit lnSpcReduction="10000"/>
          </a:bodyPr>
          <a:lstStyle/>
          <a:p>
            <a:pPr algn="just" fontAlgn="base"/>
            <a:r>
              <a:rPr lang="en-US" b="1" dirty="0">
                <a:latin typeface="Times New Roman" panose="02020603050405020304" pitchFamily="18" charset="0"/>
                <a:cs typeface="Times New Roman" panose="02020603050405020304" pitchFamily="18" charset="0"/>
              </a:rPr>
              <a:t>System Testing</a:t>
            </a:r>
            <a:r>
              <a:rPr lang="en-US" dirty="0">
                <a:latin typeface="Times New Roman" panose="02020603050405020304" pitchFamily="18" charset="0"/>
                <a:cs typeface="Times New Roman" panose="02020603050405020304" pitchFamily="18" charset="0"/>
              </a:rPr>
              <a:t> is carried out on the whole system in the context of either system requirement specifications or functional requirement specifications or in the context of both.</a:t>
            </a:r>
          </a:p>
          <a:p>
            <a:pPr algn="just" fontAlgn="base"/>
            <a:r>
              <a:rPr lang="en-US" dirty="0">
                <a:latin typeface="Times New Roman" panose="02020603050405020304" pitchFamily="18" charset="0"/>
                <a:cs typeface="Times New Roman" panose="02020603050405020304" pitchFamily="18" charset="0"/>
              </a:rPr>
              <a:t> System testing tests the design and behavior of the system and also the expectations of the customer. It is performed to test the system beyond the bounds mentioned in the software requirements specification (SRS).</a:t>
            </a:r>
          </a:p>
          <a:p>
            <a:pPr algn="just" fontAlgn="base"/>
            <a:r>
              <a:rPr lang="en-US" dirty="0">
                <a:latin typeface="Times New Roman" panose="02020603050405020304" pitchFamily="18" charset="0"/>
                <a:cs typeface="Times New Roman" panose="02020603050405020304" pitchFamily="18" charset="0"/>
              </a:rPr>
              <a:t>System Testing is basically performed by a testing team that is independent of the development team that helps to test the quality of the system impartial. It has both functional and non-functional testing.</a:t>
            </a:r>
          </a:p>
          <a:p>
            <a:pPr algn="just" fontAlgn="base"/>
            <a:r>
              <a:rPr lang="en-US" b="1" dirty="0">
                <a:latin typeface="Times New Roman" panose="02020603050405020304" pitchFamily="18" charset="0"/>
                <a:cs typeface="Times New Roman" panose="02020603050405020304" pitchFamily="18" charset="0"/>
              </a:rPr>
              <a:t>System Testing is a black-box testing</a:t>
            </a:r>
            <a:r>
              <a:rPr lang="en-US" dirty="0">
                <a:latin typeface="Times New Roman" panose="02020603050405020304" pitchFamily="18" charset="0"/>
                <a:cs typeface="Times New Roman" panose="02020603050405020304" pitchFamily="18" charset="0"/>
              </a:rPr>
              <a:t>.</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a:bodyPr>
          <a:lstStyle/>
          <a:p>
            <a:r>
              <a:rPr lang="en-US" sz="3600" dirty="0">
                <a:latin typeface="Times New Roman" panose="02020603050405020304" pitchFamily="18" charset="0"/>
                <a:cs typeface="Times New Roman" panose="02020603050405020304" pitchFamily="18" charset="0"/>
              </a:rPr>
              <a:t>System Testing</a:t>
            </a:r>
          </a:p>
        </p:txBody>
      </p:sp>
      <p:sp>
        <p:nvSpPr>
          <p:cNvPr id="3" name="Content Placeholder 2"/>
          <p:cNvSpPr>
            <a:spLocks noGrp="1"/>
          </p:cNvSpPr>
          <p:nvPr>
            <p:ph idx="1"/>
          </p:nvPr>
        </p:nvSpPr>
        <p:spPr/>
        <p:txBody>
          <a:bodyPr/>
          <a:lstStyle/>
          <a:p>
            <a:pPr fontAlgn="base"/>
            <a:r>
              <a:rPr lang="en-US" dirty="0">
                <a:latin typeface="Times New Roman" panose="02020603050405020304" pitchFamily="18" charset="0"/>
                <a:cs typeface="Times New Roman" panose="02020603050405020304" pitchFamily="18" charset="0"/>
              </a:rPr>
              <a:t>System Testing is performed after the integration testing and before the acceptance testing.</a:t>
            </a:r>
          </a:p>
          <a:p>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pic>
        <p:nvPicPr>
          <p:cNvPr id="48130" name="Picture 2"/>
          <p:cNvPicPr>
            <a:picLocks noChangeAspect="1" noChangeArrowheads="1"/>
          </p:cNvPicPr>
          <p:nvPr/>
        </p:nvPicPr>
        <p:blipFill>
          <a:blip r:embed="rId2"/>
          <a:srcRect/>
          <a:stretch>
            <a:fillRect/>
          </a:stretch>
        </p:blipFill>
        <p:spPr bwMode="auto">
          <a:xfrm>
            <a:off x="4505324" y="2719388"/>
            <a:ext cx="4153553" cy="4138612"/>
          </a:xfrm>
          <a:prstGeom prst="rect">
            <a:avLst/>
          </a:prstGeom>
          <a:noFill/>
          <a:ln w="9525">
            <a:noFill/>
            <a:miter lim="800000"/>
            <a:headEnd/>
            <a:tailEnd/>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96066"/>
            <a:ext cx="10515600" cy="894622"/>
          </a:xfrm>
        </p:spPr>
        <p:txBody>
          <a:bodyPr>
            <a:normAutofit/>
          </a:bodyPr>
          <a:lstStyle/>
          <a:p>
            <a:r>
              <a:rPr lang="en-US" sz="3600" b="1" dirty="0">
                <a:latin typeface="Times New Roman" panose="02020603050405020304" pitchFamily="18" charset="0"/>
                <a:cs typeface="Times New Roman" panose="02020603050405020304" pitchFamily="18" charset="0"/>
              </a:rPr>
              <a:t>System Testing Process</a:t>
            </a:r>
            <a:endParaRPr lang="en-US" sz="3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pic>
        <p:nvPicPr>
          <p:cNvPr id="49154" name="Picture 2"/>
          <p:cNvPicPr>
            <a:picLocks noChangeAspect="1" noChangeArrowheads="1"/>
          </p:cNvPicPr>
          <p:nvPr/>
        </p:nvPicPr>
        <p:blipFill>
          <a:blip r:embed="rId2"/>
          <a:srcRect/>
          <a:stretch>
            <a:fillRect/>
          </a:stretch>
        </p:blipFill>
        <p:spPr bwMode="auto">
          <a:xfrm>
            <a:off x="1147763" y="1661375"/>
            <a:ext cx="9931058" cy="424412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a:bodyPr>
          <a:lstStyle/>
          <a:p>
            <a:r>
              <a:rPr lang="en-US" sz="3600" b="1" dirty="0">
                <a:latin typeface="Times New Roman" panose="02020603050405020304" pitchFamily="18" charset="0"/>
                <a:cs typeface="Times New Roman" panose="02020603050405020304" pitchFamily="18" charset="0"/>
              </a:rPr>
              <a:t>System Testing Process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fontAlgn="base"/>
            <a:r>
              <a:rPr lang="en-US" b="1" dirty="0">
                <a:latin typeface="Times New Roman" panose="02020603050405020304" pitchFamily="18" charset="0"/>
                <a:cs typeface="Times New Roman" panose="02020603050405020304" pitchFamily="18" charset="0"/>
              </a:rPr>
              <a:t>Test Environment Setup: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Create testing environment for the better quality testing.</a:t>
            </a:r>
          </a:p>
          <a:p>
            <a:pPr fontAlgn="base"/>
            <a:r>
              <a:rPr lang="en-US" b="1" dirty="0">
                <a:latin typeface="Times New Roman" panose="02020603050405020304" pitchFamily="18" charset="0"/>
                <a:cs typeface="Times New Roman" panose="02020603050405020304" pitchFamily="18" charset="0"/>
              </a:rPr>
              <a:t>Create Test Case: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Generate test case for the testing process.</a:t>
            </a:r>
          </a:p>
          <a:p>
            <a:pPr fontAlgn="base"/>
            <a:r>
              <a:rPr lang="en-US" b="1" dirty="0">
                <a:latin typeface="Times New Roman" panose="02020603050405020304" pitchFamily="18" charset="0"/>
                <a:cs typeface="Times New Roman" panose="02020603050405020304" pitchFamily="18" charset="0"/>
              </a:rPr>
              <a:t>Create Test Data:</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Generate the data that is to be tested.</a:t>
            </a:r>
          </a:p>
          <a:p>
            <a:pPr fontAlgn="base"/>
            <a:r>
              <a:rPr lang="en-US" b="1" dirty="0">
                <a:latin typeface="Times New Roman" panose="02020603050405020304" pitchFamily="18" charset="0"/>
                <a:cs typeface="Times New Roman" panose="02020603050405020304" pitchFamily="18" charset="0"/>
              </a:rPr>
              <a:t>Execute Test Case: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After the generation of the test case and the test data, test cases are executed.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b="1" dirty="0">
                <a:latin typeface="Times New Roman" panose="02020603050405020304" pitchFamily="18" charset="0"/>
                <a:cs typeface="Times New Roman" panose="02020603050405020304" pitchFamily="18" charset="0"/>
              </a:rPr>
              <a:t>System Testing Process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r>
              <a:rPr lang="en-US" b="1" dirty="0">
                <a:latin typeface="Times New Roman" panose="02020603050405020304" pitchFamily="18" charset="0"/>
                <a:cs typeface="Times New Roman" panose="02020603050405020304" pitchFamily="18" charset="0"/>
              </a:rPr>
              <a:t>Defect Reporting: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Defects in the system are detected.</a:t>
            </a:r>
          </a:p>
          <a:p>
            <a:pPr fontAlgn="base"/>
            <a:r>
              <a:rPr lang="en-US" b="1" dirty="0">
                <a:latin typeface="Times New Roman" panose="02020603050405020304" pitchFamily="18" charset="0"/>
                <a:cs typeface="Times New Roman" panose="02020603050405020304" pitchFamily="18" charset="0"/>
              </a:rPr>
              <a:t>Regression Testing: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It is carried out to test the side effects of the testing process.</a:t>
            </a:r>
          </a:p>
          <a:p>
            <a:pPr fontAlgn="base"/>
            <a:r>
              <a:rPr lang="en-US" b="1" dirty="0">
                <a:latin typeface="Times New Roman" panose="02020603050405020304" pitchFamily="18" charset="0"/>
                <a:cs typeface="Times New Roman" panose="02020603050405020304" pitchFamily="18" charset="0"/>
              </a:rPr>
              <a:t>Log Defects: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Defects are fixed in this step.</a:t>
            </a:r>
          </a:p>
          <a:p>
            <a:pPr fontAlgn="base"/>
            <a:r>
              <a:rPr lang="en-US" b="1" dirty="0">
                <a:latin typeface="Times New Roman" panose="02020603050405020304" pitchFamily="18" charset="0"/>
                <a:cs typeface="Times New Roman" panose="02020603050405020304" pitchFamily="18" charset="0"/>
              </a:rPr>
              <a:t>Retest: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the test is not successful then again test is performed.</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b="1" dirty="0"/>
            </a:br>
            <a:r>
              <a:rPr lang="en-US" b="1" dirty="0">
                <a:latin typeface="Times New Roman" panose="02020603050405020304" pitchFamily="18" charset="0"/>
                <a:cs typeface="Times New Roman" panose="02020603050405020304" pitchFamily="18" charset="0"/>
              </a:rPr>
              <a:t>Types of System Testing</a:t>
            </a:r>
            <a:br>
              <a:rPr lang="en-US" b="1" dirty="0"/>
            </a:br>
            <a:endParaRPr lang="en-US" dirty="0"/>
          </a:p>
        </p:txBody>
      </p:sp>
      <p:sp>
        <p:nvSpPr>
          <p:cNvPr id="3" name="Content Placeholder 2"/>
          <p:cNvSpPr>
            <a:spLocks noGrp="1"/>
          </p:cNvSpPr>
          <p:nvPr>
            <p:ph idx="1"/>
          </p:nvPr>
        </p:nvSpPr>
        <p:spPr/>
        <p:txBody>
          <a:bodyPr>
            <a:noAutofit/>
          </a:bodyPr>
          <a:lstStyle/>
          <a:p>
            <a:pPr marL="0" indent="0">
              <a:buNone/>
            </a:pPr>
            <a:r>
              <a:rPr lang="en-IN" dirty="0">
                <a:latin typeface="Times New Roman" panose="02020603050405020304" pitchFamily="18" charset="0"/>
                <a:cs typeface="Times New Roman" panose="02020603050405020304" pitchFamily="18" charset="0"/>
              </a:rPr>
              <a:t>1. </a:t>
            </a:r>
            <a:r>
              <a:rPr lang="en-IN" b="1" dirty="0">
                <a:latin typeface="Times New Roman" panose="02020603050405020304" pitchFamily="18" charset="0"/>
                <a:cs typeface="Times New Roman" panose="02020603050405020304" pitchFamily="18" charset="0"/>
              </a:rPr>
              <a:t>Recovery testing </a:t>
            </a:r>
          </a:p>
          <a:p>
            <a:pPr marL="0" indent="0" algn="just">
              <a:buNone/>
            </a:pPr>
            <a:r>
              <a:rPr lang="en-IN" dirty="0">
                <a:latin typeface="Times New Roman" panose="02020603050405020304" pitchFamily="18" charset="0"/>
                <a:cs typeface="Times New Roman" panose="02020603050405020304" pitchFamily="18" charset="0"/>
              </a:rPr>
              <a:t>Recovery testing is a system test that forces the software to fail in a variety of ways and verifies that recovery is properly performed. If recovery is automatic (performed by the system itself), reinitialization, checkpointing mechanisms, data recovery, and restart are evaluated for correctness. If recovery requires human intervention, the mean-time-to-repair (MTTR) is evaluated to determine whether it is within acceptable limits.</a:t>
            </a:r>
          </a:p>
          <a:p>
            <a:pPr algn="just">
              <a:buNone/>
            </a:pPr>
            <a:br>
              <a:rPr lang="en-US" sz="2400" dirty="0"/>
            </a:br>
            <a:endParaRPr lang="en-US" sz="2400"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t="-1000" r="1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b="1" dirty="0"/>
            </a:br>
            <a:r>
              <a:rPr lang="en-US" sz="4000" b="1" dirty="0">
                <a:latin typeface="Times New Roman" panose="02020603050405020304" pitchFamily="18" charset="0"/>
                <a:cs typeface="Times New Roman" panose="02020603050405020304" pitchFamily="18" charset="0"/>
              </a:rPr>
              <a:t>2. Security Testing</a:t>
            </a:r>
            <a:br>
              <a:rPr lang="en-US" sz="4000" dirty="0">
                <a:latin typeface="Times New Roman" panose="02020603050405020304" pitchFamily="18" charset="0"/>
                <a:cs typeface="Times New Roman" panose="02020603050405020304" pitchFamily="18" charset="0"/>
              </a:rPr>
            </a:br>
            <a:br>
              <a:rPr lang="en-US" b="1" dirty="0"/>
            </a:br>
            <a:endParaRPr lang="en-US" dirty="0"/>
          </a:p>
        </p:txBody>
      </p:sp>
      <p:sp>
        <p:nvSpPr>
          <p:cNvPr id="3" name="Content Placeholder 2"/>
          <p:cNvSpPr>
            <a:spLocks noGrp="1"/>
          </p:cNvSpPr>
          <p:nvPr>
            <p:ph idx="1"/>
          </p:nvPr>
        </p:nvSpPr>
        <p:spPr>
          <a:xfrm>
            <a:off x="838200" y="1571946"/>
            <a:ext cx="10781872" cy="4605017"/>
          </a:xfrm>
        </p:spPr>
        <p:txBody>
          <a:bodyPr>
            <a:normAutofit fontScale="85000" lnSpcReduction="20000"/>
          </a:bodyPr>
          <a:lstStyle/>
          <a:p>
            <a:pPr algn="just"/>
            <a:r>
              <a:rPr lang="en-IN" sz="3600" dirty="0">
                <a:latin typeface="Times New Roman" panose="02020603050405020304" pitchFamily="18" charset="0"/>
                <a:cs typeface="Times New Roman" panose="02020603050405020304" pitchFamily="18" charset="0"/>
              </a:rPr>
              <a:t>Security testing attempts to verify that protection mechanisms built into a system will, in fact, protect it from improper penetration. </a:t>
            </a:r>
          </a:p>
          <a:p>
            <a:pPr algn="just"/>
            <a:r>
              <a:rPr lang="en-IN" sz="3600" dirty="0">
                <a:latin typeface="Times New Roman" panose="02020603050405020304" pitchFamily="18" charset="0"/>
                <a:cs typeface="Times New Roman" panose="02020603050405020304" pitchFamily="18" charset="0"/>
              </a:rPr>
              <a:t>During security testing, the tester plays the role(s) of the individual who desires to penetrate the system. Anything goes! The tester may attempt to acquire passwords through external clerical means; may attack the system with custom software designed to break down any defences that have been constructed; may overwhelm the system, thereby denying service to others; may purposely cause system errors, hoping to penetrate during recovery; may browse through insecure data, hoping to find the key to system entry.</a:t>
            </a:r>
          </a:p>
          <a:p>
            <a:pPr marL="0" indent="0">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t="-1000" r="1000"/>
          </a:stretch>
        </a:blipFill>
        <a:effectLst/>
      </p:bgPr>
    </p:bg>
    <p:spTree>
      <p:nvGrpSpPr>
        <p:cNvPr id="1" name="">
          <a:extLst>
            <a:ext uri="{FF2B5EF4-FFF2-40B4-BE49-F238E27FC236}">
              <a16:creationId xmlns:a16="http://schemas.microsoft.com/office/drawing/2014/main" id="{3D71E550-1A3E-0C02-67FE-24F5399F5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A5E12-A2D2-570E-ECEB-3AF5C2AE4949}"/>
              </a:ext>
            </a:extLst>
          </p:cNvPr>
          <p:cNvSpPr>
            <a:spLocks noGrp="1"/>
          </p:cNvSpPr>
          <p:nvPr>
            <p:ph type="title"/>
          </p:nvPr>
        </p:nvSpPr>
        <p:spPr>
          <a:xfrm>
            <a:off x="838200" y="839096"/>
            <a:ext cx="10515600" cy="851592"/>
          </a:xfrm>
        </p:spPr>
        <p:txBody>
          <a:bodyPr>
            <a:normAutofit fontScale="90000"/>
          </a:bodyPr>
          <a:lstStyle/>
          <a:p>
            <a:br>
              <a:rPr lang="en-US" b="1" dirty="0"/>
            </a:br>
            <a:r>
              <a:rPr lang="en-US" sz="4000" b="1" dirty="0">
                <a:latin typeface="Times New Roman" panose="02020603050405020304" pitchFamily="18" charset="0"/>
                <a:cs typeface="Times New Roman" panose="02020603050405020304" pitchFamily="18" charset="0"/>
              </a:rPr>
              <a:t>3. Stress Testing</a:t>
            </a:r>
            <a:br>
              <a:rPr lang="en-US" sz="4000" dirty="0">
                <a:latin typeface="Times New Roman" panose="02020603050405020304" pitchFamily="18" charset="0"/>
                <a:cs typeface="Times New Roman" panose="02020603050405020304" pitchFamily="18" charset="0"/>
              </a:rPr>
            </a:br>
            <a:br>
              <a:rPr lang="en-US" b="1" dirty="0"/>
            </a:br>
            <a:endParaRPr lang="en-US" dirty="0"/>
          </a:p>
        </p:txBody>
      </p:sp>
      <p:sp>
        <p:nvSpPr>
          <p:cNvPr id="3" name="Content Placeholder 2">
            <a:extLst>
              <a:ext uri="{FF2B5EF4-FFF2-40B4-BE49-F238E27FC236}">
                <a16:creationId xmlns:a16="http://schemas.microsoft.com/office/drawing/2014/main" id="{ADE94118-9110-01CD-A571-2388E105064C}"/>
              </a:ext>
            </a:extLst>
          </p:cNvPr>
          <p:cNvSpPr>
            <a:spLocks noGrp="1"/>
          </p:cNvSpPr>
          <p:nvPr>
            <p:ph idx="1"/>
          </p:nvPr>
        </p:nvSpPr>
        <p:spPr>
          <a:xfrm>
            <a:off x="571928" y="1551398"/>
            <a:ext cx="10781872" cy="4605017"/>
          </a:xfrm>
        </p:spPr>
        <p:txBody>
          <a:bodyPr>
            <a:normAutofit fontScale="85000" lnSpcReduction="20000"/>
          </a:bodyPr>
          <a:lstStyle/>
          <a:p>
            <a:pPr algn="just">
              <a:buNone/>
            </a:pPr>
            <a:r>
              <a:rPr lang="en-IN" sz="3400" dirty="0">
                <a:latin typeface="Times New Roman" panose="02020603050405020304" pitchFamily="18" charset="0"/>
                <a:cs typeface="Times New Roman" panose="02020603050405020304" pitchFamily="18" charset="0"/>
              </a:rPr>
              <a:t>Stress testing executes a system in a manner that demands resources in abnormal quantity, frequency, or volume. </a:t>
            </a:r>
          </a:p>
          <a:p>
            <a:pPr algn="just">
              <a:buNone/>
            </a:pPr>
            <a:r>
              <a:rPr lang="en-IN" sz="3400" dirty="0">
                <a:latin typeface="Times New Roman" panose="02020603050405020304" pitchFamily="18" charset="0"/>
                <a:cs typeface="Times New Roman" panose="02020603050405020304" pitchFamily="18" charset="0"/>
              </a:rPr>
              <a:t>For example, (1) special tests may be designed that generate ten interrupts per second, when one or two is the average rate,</a:t>
            </a:r>
          </a:p>
          <a:p>
            <a:pPr algn="just">
              <a:buNone/>
            </a:pPr>
            <a:r>
              <a:rPr lang="en-IN" sz="3400" dirty="0">
                <a:latin typeface="Times New Roman" panose="02020603050405020304" pitchFamily="18" charset="0"/>
                <a:cs typeface="Times New Roman" panose="02020603050405020304" pitchFamily="18" charset="0"/>
              </a:rPr>
              <a:t>(2) input data rates may be increased by an order of magnitude to determine how input functions will respond, </a:t>
            </a:r>
          </a:p>
          <a:p>
            <a:pPr algn="just">
              <a:buNone/>
            </a:pPr>
            <a:r>
              <a:rPr lang="en-IN" sz="3400" dirty="0">
                <a:latin typeface="Times New Roman" panose="02020603050405020304" pitchFamily="18" charset="0"/>
                <a:cs typeface="Times New Roman" panose="02020603050405020304" pitchFamily="18" charset="0"/>
              </a:rPr>
              <a:t>(3) test cases that require maximum memory or other resources are executed,</a:t>
            </a:r>
          </a:p>
          <a:p>
            <a:pPr algn="just">
              <a:buNone/>
            </a:pPr>
            <a:r>
              <a:rPr lang="en-IN" sz="3400" dirty="0">
                <a:latin typeface="Times New Roman" panose="02020603050405020304" pitchFamily="18" charset="0"/>
                <a:cs typeface="Times New Roman" panose="02020603050405020304" pitchFamily="18" charset="0"/>
              </a:rPr>
              <a:t>(4) test cases that may cause thrashing in a virtual operating system are designed, </a:t>
            </a:r>
          </a:p>
          <a:p>
            <a:pPr algn="just">
              <a:buNone/>
            </a:pPr>
            <a:r>
              <a:rPr lang="en-IN" sz="3400" dirty="0">
                <a:latin typeface="Times New Roman" panose="02020603050405020304" pitchFamily="18" charset="0"/>
                <a:cs typeface="Times New Roman" panose="02020603050405020304" pitchFamily="18" charset="0"/>
              </a:rPr>
              <a:t>(5) test cases that may cause excessive hunting for disk-resident data are created. Essentially, the tester attempts to break the program.</a:t>
            </a:r>
          </a:p>
          <a:p>
            <a:pPr marL="0" indent="0">
              <a:buNone/>
            </a:pPr>
            <a:endParaRPr lang="en-US" dirty="0"/>
          </a:p>
        </p:txBody>
      </p:sp>
      <p:sp>
        <p:nvSpPr>
          <p:cNvPr id="4" name="Slide Number Placeholder 3">
            <a:extLst>
              <a:ext uri="{FF2B5EF4-FFF2-40B4-BE49-F238E27FC236}">
                <a16:creationId xmlns:a16="http://schemas.microsoft.com/office/drawing/2014/main" id="{A7B56651-473B-CB66-D3C1-87933602F182}"/>
              </a:ext>
            </a:extLst>
          </p:cNvPr>
          <p:cNvSpPr>
            <a:spLocks noGrp="1"/>
          </p:cNvSpPr>
          <p:nvPr>
            <p:ph type="sldNum" sz="quarter" idx="12"/>
          </p:nvPr>
        </p:nvSpPr>
        <p:spPr/>
        <p:txBody>
          <a:bodyPr/>
          <a:lstStyle/>
          <a:p>
            <a:fld id="{BDCDBBEF-AA6C-4BA6-85B2-A17D7F280E38}" type="slidenum">
              <a:rPr lang="en-US" smtClean="0"/>
              <a:pPr/>
              <a:t>21</a:t>
            </a:fld>
            <a:endParaRPr lang="en-US"/>
          </a:p>
        </p:txBody>
      </p:sp>
    </p:spTree>
    <p:extLst>
      <p:ext uri="{BB962C8B-B14F-4D97-AF65-F5344CB8AC3E}">
        <p14:creationId xmlns:p14="http://schemas.microsoft.com/office/powerpoint/2010/main" val="388817083"/>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t="-1000" r="1000"/>
          </a:stretch>
        </a:blipFill>
        <a:effectLst/>
      </p:bgPr>
    </p:bg>
    <p:spTree>
      <p:nvGrpSpPr>
        <p:cNvPr id="1" name="">
          <a:extLst>
            <a:ext uri="{FF2B5EF4-FFF2-40B4-BE49-F238E27FC236}">
              <a16:creationId xmlns:a16="http://schemas.microsoft.com/office/drawing/2014/main" id="{AB1A33C6-29BA-912F-0991-00C95B4E61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10EC7F-3AD1-F742-C84F-B72BDFA33ADB}"/>
              </a:ext>
            </a:extLst>
          </p:cNvPr>
          <p:cNvSpPr>
            <a:spLocks noGrp="1"/>
          </p:cNvSpPr>
          <p:nvPr>
            <p:ph idx="1"/>
          </p:nvPr>
        </p:nvSpPr>
        <p:spPr>
          <a:xfrm>
            <a:off x="571928" y="1551398"/>
            <a:ext cx="10781872" cy="4605017"/>
          </a:xfrm>
        </p:spPr>
        <p:txBody>
          <a:bodyPr>
            <a:normAutofit/>
          </a:bodyPr>
          <a:lstStyle/>
          <a:p>
            <a:pPr algn="just"/>
            <a:r>
              <a:rPr lang="en-IN" dirty="0">
                <a:solidFill>
                  <a:srgbClr val="141413"/>
                </a:solidFill>
                <a:effectLst/>
                <a:latin typeface="Helvetica" pitchFamily="2" charset="0"/>
              </a:rPr>
              <a:t>Performance testing is designed to test the run-time performance of software within the context of an integrated system. Performance testing occurs throughout all steps in the testing process. </a:t>
            </a:r>
          </a:p>
          <a:p>
            <a:pPr algn="just"/>
            <a:r>
              <a:rPr lang="en-IN" dirty="0">
                <a:solidFill>
                  <a:srgbClr val="141413"/>
                </a:solidFill>
                <a:effectLst/>
                <a:latin typeface="Helvetica" pitchFamily="2" charset="0"/>
              </a:rPr>
              <a:t>Even at the unit level, the performance of an individual module may assessed as tests are conducted. However, it is not until all system elements are fully integrated that the true performance of a system can be ascertained.</a:t>
            </a:r>
          </a:p>
          <a:p>
            <a:pPr algn="just"/>
            <a:r>
              <a:rPr lang="en-IN" dirty="0">
                <a:solidFill>
                  <a:srgbClr val="141413"/>
                </a:solidFill>
                <a:effectLst/>
                <a:latin typeface="Helvetica" pitchFamily="2" charset="0"/>
              </a:rPr>
              <a:t>Performance tests are often coupled with stress testing and usually require both hardware and software instrumentation.</a:t>
            </a:r>
          </a:p>
          <a:p>
            <a:pPr marL="0" indent="0">
              <a:buNone/>
            </a:pPr>
            <a:endParaRPr lang="en-US" dirty="0"/>
          </a:p>
        </p:txBody>
      </p:sp>
      <p:sp>
        <p:nvSpPr>
          <p:cNvPr id="4" name="Slide Number Placeholder 3">
            <a:extLst>
              <a:ext uri="{FF2B5EF4-FFF2-40B4-BE49-F238E27FC236}">
                <a16:creationId xmlns:a16="http://schemas.microsoft.com/office/drawing/2014/main" id="{0E19EE9C-1CDF-99CE-316B-85979D6FC674}"/>
              </a:ext>
            </a:extLst>
          </p:cNvPr>
          <p:cNvSpPr>
            <a:spLocks noGrp="1"/>
          </p:cNvSpPr>
          <p:nvPr>
            <p:ph type="sldNum" sz="quarter" idx="12"/>
          </p:nvPr>
        </p:nvSpPr>
        <p:spPr/>
        <p:txBody>
          <a:bodyPr/>
          <a:lstStyle/>
          <a:p>
            <a:fld id="{BDCDBBEF-AA6C-4BA6-85B2-A17D7F280E38}" type="slidenum">
              <a:rPr lang="en-US" smtClean="0"/>
              <a:pPr/>
              <a:t>22</a:t>
            </a:fld>
            <a:endParaRPr lang="en-US"/>
          </a:p>
        </p:txBody>
      </p:sp>
      <p:sp>
        <p:nvSpPr>
          <p:cNvPr id="6" name="Title 5">
            <a:extLst>
              <a:ext uri="{FF2B5EF4-FFF2-40B4-BE49-F238E27FC236}">
                <a16:creationId xmlns:a16="http://schemas.microsoft.com/office/drawing/2014/main" id="{4FFB87E1-96D8-AD5C-E957-4964922A83D9}"/>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4.Performance Testing</a:t>
            </a:r>
            <a:endParaRPr lang="en-US" sz="3200" dirty="0"/>
          </a:p>
        </p:txBody>
      </p:sp>
    </p:spTree>
    <p:extLst>
      <p:ext uri="{BB962C8B-B14F-4D97-AF65-F5344CB8AC3E}">
        <p14:creationId xmlns:p14="http://schemas.microsoft.com/office/powerpoint/2010/main" val="1444499666"/>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t="-1000" r="1000"/>
          </a:stretch>
        </a:blipFill>
        <a:effectLst/>
      </p:bgPr>
    </p:bg>
    <p:spTree>
      <p:nvGrpSpPr>
        <p:cNvPr id="1" name="">
          <a:extLst>
            <a:ext uri="{FF2B5EF4-FFF2-40B4-BE49-F238E27FC236}">
              <a16:creationId xmlns:a16="http://schemas.microsoft.com/office/drawing/2014/main" id="{91F2C9C2-DCF8-F808-A658-B581BD7521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3B06B8-0061-B11D-9259-D1EED16F96C1}"/>
              </a:ext>
            </a:extLst>
          </p:cNvPr>
          <p:cNvSpPr>
            <a:spLocks noGrp="1"/>
          </p:cNvSpPr>
          <p:nvPr>
            <p:ph idx="1"/>
          </p:nvPr>
        </p:nvSpPr>
        <p:spPr>
          <a:xfrm>
            <a:off x="571928" y="1551398"/>
            <a:ext cx="10781872" cy="4605017"/>
          </a:xfrm>
        </p:spPr>
        <p:txBody>
          <a:bodyPr>
            <a:normAutofit/>
          </a:bodyPr>
          <a:lstStyle/>
          <a:p>
            <a:pPr algn="just"/>
            <a:r>
              <a:rPr lang="en-IN" dirty="0">
                <a:solidFill>
                  <a:srgbClr val="141413"/>
                </a:solidFill>
                <a:effectLst/>
                <a:latin typeface="Helvetica" pitchFamily="2" charset="0"/>
              </a:rPr>
              <a:t>Deployment testing, sometimes called configuration testing, exercises the software in each environment in which it is to operate. </a:t>
            </a:r>
          </a:p>
          <a:p>
            <a:pPr algn="just"/>
            <a:r>
              <a:rPr lang="en-IN" dirty="0">
                <a:solidFill>
                  <a:srgbClr val="141413"/>
                </a:solidFill>
                <a:effectLst/>
                <a:latin typeface="Helvetica" pitchFamily="2" charset="0"/>
              </a:rPr>
              <a:t>In addition, deployment testing examines all installation procedures and specialized installation software (e.g., “installers”) that will be used by customers, and all documentation that will be used to introduce the software to end users.</a:t>
            </a:r>
          </a:p>
          <a:p>
            <a:endParaRPr lang="en-US" dirty="0"/>
          </a:p>
        </p:txBody>
      </p:sp>
      <p:sp>
        <p:nvSpPr>
          <p:cNvPr id="4" name="Slide Number Placeholder 3">
            <a:extLst>
              <a:ext uri="{FF2B5EF4-FFF2-40B4-BE49-F238E27FC236}">
                <a16:creationId xmlns:a16="http://schemas.microsoft.com/office/drawing/2014/main" id="{0045EB46-C0B1-6D41-E8AE-E95B5E344E6E}"/>
              </a:ext>
            </a:extLst>
          </p:cNvPr>
          <p:cNvSpPr>
            <a:spLocks noGrp="1"/>
          </p:cNvSpPr>
          <p:nvPr>
            <p:ph type="sldNum" sz="quarter" idx="12"/>
          </p:nvPr>
        </p:nvSpPr>
        <p:spPr/>
        <p:txBody>
          <a:bodyPr/>
          <a:lstStyle/>
          <a:p>
            <a:fld id="{BDCDBBEF-AA6C-4BA6-85B2-A17D7F280E38}" type="slidenum">
              <a:rPr lang="en-US" smtClean="0"/>
              <a:pPr/>
              <a:t>23</a:t>
            </a:fld>
            <a:endParaRPr lang="en-US"/>
          </a:p>
        </p:txBody>
      </p:sp>
      <p:sp>
        <p:nvSpPr>
          <p:cNvPr id="6" name="Title 5">
            <a:extLst>
              <a:ext uri="{FF2B5EF4-FFF2-40B4-BE49-F238E27FC236}">
                <a16:creationId xmlns:a16="http://schemas.microsoft.com/office/drawing/2014/main" id="{B448F45C-6F4E-1225-B8F5-353ED4A5DC64}"/>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5. Deployment Testing</a:t>
            </a:r>
            <a:endParaRPr lang="en-US" sz="3200" dirty="0"/>
          </a:p>
        </p:txBody>
      </p:sp>
    </p:spTree>
    <p:extLst>
      <p:ext uri="{BB962C8B-B14F-4D97-AF65-F5344CB8AC3E}">
        <p14:creationId xmlns:p14="http://schemas.microsoft.com/office/powerpoint/2010/main" val="639455066"/>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https://www.guru99.com/system-testing.html#:~:text=SYSTEM%20TESTING%20is%20a%20level,a%20larger%20computer%2Dbased%20system</a:t>
            </a:r>
            <a:r>
              <a:rPr lang="en-US" dirty="0"/>
              <a:t>.</a:t>
            </a:r>
          </a:p>
          <a:p>
            <a:r>
              <a:rPr lang="en-US" dirty="0">
                <a:hlinkClick r:id="rId3"/>
              </a:rPr>
              <a:t>https://www.geeksforgeeks.org/system-testing/</a:t>
            </a:r>
            <a:endParaRPr lang="en-US" dirty="0"/>
          </a:p>
          <a:p>
            <a:r>
              <a:rPr lang="en-US" dirty="0">
                <a:hlinkClick r:id="rId4"/>
              </a:rPr>
              <a:t>https://www.tutorialspoint.com/software_testing_dictionary/validation_testing.htm#:~:text=Software%20Testing%20%2D%20Validation%20Testing,actually%20meets%20the%20client's%20needs</a:t>
            </a:r>
            <a:r>
              <a:rPr lang="en-US" dirty="0"/>
              <a:t>.</a:t>
            </a:r>
          </a:p>
          <a:p>
            <a:r>
              <a:rPr lang="en-US" dirty="0">
                <a:hlinkClick r:id="rId5"/>
              </a:rPr>
              <a:t>https://www.javatpoint.com/verification-and-validation-testing</a:t>
            </a:r>
            <a:endParaRPr lang="en-US" dirty="0"/>
          </a:p>
          <a:p>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871369"/>
            <a:ext cx="10515600" cy="81931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25</a:t>
            </a:fld>
            <a:endParaRPr lang="en-US">
              <a:solidFill>
                <a:prstClr val="black">
                  <a:tint val="75000"/>
                </a:prstClr>
              </a:solidFill>
            </a:endParaRP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smaple</Template>
  <TotalTime>1738</TotalTime>
  <Words>1851</Words>
  <Application>Microsoft Macintosh PowerPoint</Application>
  <PresentationFormat>Widescreen</PresentationFormat>
  <Paragraphs>125</Paragraphs>
  <Slides>25</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25</vt:i4>
      </vt:variant>
    </vt:vector>
  </HeadingPairs>
  <TitlesOfParts>
    <vt:vector size="35" baseType="lpstr">
      <vt:lpstr>Arial</vt:lpstr>
      <vt:lpstr>Arial Black</vt:lpstr>
      <vt:lpstr>Calibri</vt:lpstr>
      <vt:lpstr>Calibri Light</vt:lpstr>
      <vt:lpstr>Casper</vt:lpstr>
      <vt:lpstr>Helvetica</vt:lpstr>
      <vt:lpstr>Times New Roman</vt:lpstr>
      <vt:lpstr>1_Office Theme</vt:lpstr>
      <vt:lpstr>Contents Slide Master</vt:lpstr>
      <vt:lpstr>CorelDRAW</vt:lpstr>
      <vt:lpstr>PowerPoint Presentation</vt:lpstr>
      <vt:lpstr>Chapter-7 Software Testing</vt:lpstr>
      <vt:lpstr> Validation Testing </vt:lpstr>
      <vt:lpstr> Validation Testing </vt:lpstr>
      <vt:lpstr> Validation Testing </vt:lpstr>
      <vt:lpstr> Validation-Test Criteria  </vt:lpstr>
      <vt:lpstr>PowerPoint Presentation</vt:lpstr>
      <vt:lpstr> Configuration Review </vt:lpstr>
      <vt:lpstr>Validation Testing - Workflow </vt:lpstr>
      <vt:lpstr>Validation Testing Variations:</vt:lpstr>
      <vt:lpstr>PowerPoint Presentation</vt:lpstr>
      <vt:lpstr>Stages of Validation testing Process</vt:lpstr>
      <vt:lpstr>System Testing</vt:lpstr>
      <vt:lpstr>System Testing</vt:lpstr>
      <vt:lpstr>System Testing</vt:lpstr>
      <vt:lpstr>System Testing Process</vt:lpstr>
      <vt:lpstr>System Testing Process</vt:lpstr>
      <vt:lpstr>System Testing Process</vt:lpstr>
      <vt:lpstr> Types of System Testing </vt:lpstr>
      <vt:lpstr> 2. Security Testing  </vt:lpstr>
      <vt:lpstr> 3. Stress Testing  </vt:lpstr>
      <vt:lpstr>4.Performance Testing</vt:lpstr>
      <vt:lpstr>5. Deployment Testing</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Office</cp:lastModifiedBy>
  <cp:revision>238</cp:revision>
  <dcterms:created xsi:type="dcterms:W3CDTF">2019-01-09T10:33:58Z</dcterms:created>
  <dcterms:modified xsi:type="dcterms:W3CDTF">2025-03-31T12:46:07Z</dcterms:modified>
</cp:coreProperties>
</file>