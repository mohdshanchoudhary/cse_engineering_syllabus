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5"/>
  </p:notesMasterIdLst>
  <p:handoutMasterIdLst>
    <p:handoutMasterId r:id="rId36"/>
  </p:handoutMasterIdLst>
  <p:sldIdLst>
    <p:sldId id="662" r:id="rId3"/>
    <p:sldId id="280" r:id="rId4"/>
    <p:sldId id="327" r:id="rId5"/>
    <p:sldId id="341" r:id="rId6"/>
    <p:sldId id="663" r:id="rId7"/>
    <p:sldId id="340" r:id="rId8"/>
    <p:sldId id="664" r:id="rId9"/>
    <p:sldId id="665" r:id="rId10"/>
    <p:sldId id="666" r:id="rId11"/>
    <p:sldId id="667" r:id="rId12"/>
    <p:sldId id="668" r:id="rId13"/>
    <p:sldId id="669" r:id="rId14"/>
    <p:sldId id="670" r:id="rId15"/>
    <p:sldId id="339" r:id="rId16"/>
    <p:sldId id="338" r:id="rId17"/>
    <p:sldId id="335" r:id="rId18"/>
    <p:sldId id="334" r:id="rId19"/>
    <p:sldId id="347" r:id="rId20"/>
    <p:sldId id="333" r:id="rId21"/>
    <p:sldId id="348" r:id="rId22"/>
    <p:sldId id="332" r:id="rId23"/>
    <p:sldId id="331" r:id="rId24"/>
    <p:sldId id="330" r:id="rId25"/>
    <p:sldId id="346" r:id="rId26"/>
    <p:sldId id="345" r:id="rId27"/>
    <p:sldId id="329" r:id="rId28"/>
    <p:sldId id="328" r:id="rId29"/>
    <p:sldId id="344" r:id="rId30"/>
    <p:sldId id="343" r:id="rId31"/>
    <p:sldId id="342" r:id="rId32"/>
    <p:sldId id="326" r:id="rId33"/>
    <p:sldId id="27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52" autoAdjust="0"/>
    <p:restoredTop sz="94660"/>
  </p:normalViewPr>
  <p:slideViewPr>
    <p:cSldViewPr snapToGrid="0">
      <p:cViewPr varScale="1">
        <p:scale>
          <a:sx n="121" d="100"/>
          <a:sy n="121" d="100"/>
        </p:scale>
        <p:origin x="168" y="360"/>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87C8B012-426A-9ABA-F866-ACC170AD10CE}"/>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A5041D44-CF78-BAC4-2D48-B48287E19CED}"/>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BB265F5A-8888-529B-3327-7ADB906885A2}"/>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browserstack.com/guide/software-testing-strategies-and-approaches" TargetMode="External"/><Relationship Id="rId2" Type="http://schemas.openxmlformats.org/officeDocument/2006/relationships/hyperlink" Target="https://www.geeksforgeeks.org/software-testing-strategies/" TargetMode="External"/><Relationship Id="rId1" Type="http://schemas.openxmlformats.org/officeDocument/2006/relationships/slideLayout" Target="../slideLayouts/slideLayout2.xml"/><Relationship Id="rId6" Type="http://schemas.openxmlformats.org/officeDocument/2006/relationships/hyperlink" Target="https://www.geeksforgeeks.org/software-testing-basics/" TargetMode="External"/><Relationship Id="rId5" Type="http://schemas.openxmlformats.org/officeDocument/2006/relationships/hyperlink" Target="https://www.tutorialspoint.com/software_engineering/software_testing_overview.htm" TargetMode="External"/><Relationship Id="rId4" Type="http://schemas.openxmlformats.org/officeDocument/2006/relationships/hyperlink" Target="https://www.slideshare.net/Chankey007/software-testing-6644248"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r>
              <a:rPr lang="en-US" b="1" dirty="0"/>
              <a:t>Software Testing</a:t>
            </a:r>
            <a:endParaRPr lang="en-US" dirty="0"/>
          </a:p>
        </p:txBody>
      </p:sp>
      <p:pic>
        <p:nvPicPr>
          <p:cNvPr id="4" name="Picture 3">
            <a:extLst>
              <a:ext uri="{FF2B5EF4-FFF2-40B4-BE49-F238E27FC236}">
                <a16:creationId xmlns:a16="http://schemas.microsoft.com/office/drawing/2014/main" id="{6D96E75A-F74F-2D77-5F7D-29AACD591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0497"/>
            <a:ext cx="10515600" cy="973456"/>
          </a:xfrm>
        </p:spPr>
        <p:txBody>
          <a:bodyPr>
            <a:noAutofit/>
          </a:bodyPr>
          <a:lstStyle/>
          <a:p>
            <a:pPr algn="ctr"/>
            <a:r>
              <a:rPr lang="en-US" sz="3600" dirty="0">
                <a:latin typeface="Times New Roman" panose="02020603050405020304" pitchFamily="18" charset="0"/>
                <a:cs typeface="Times New Roman" pitchFamily="18" charset="0"/>
              </a:rPr>
              <a:t>Chapter-7</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Software Testing</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2140771"/>
            <a:ext cx="10515600" cy="4036191"/>
          </a:xfrm>
        </p:spPr>
        <p:txBody>
          <a:bodyPr>
            <a:normAutofit/>
          </a:bodyPr>
          <a:lstStyle/>
          <a:p>
            <a:pPr>
              <a:lnSpc>
                <a:spcPct val="150000"/>
              </a:lnSpc>
            </a:pPr>
            <a:endParaRPr lang="en-US" sz="2400" dirty="0"/>
          </a:p>
          <a:p>
            <a:pPr>
              <a:lnSpc>
                <a:spcPct val="150000"/>
              </a:lnSpc>
            </a:pPr>
            <a:r>
              <a:rPr lang="en-US" sz="2400" dirty="0"/>
              <a:t>Software Testing Fundamentals</a:t>
            </a:r>
          </a:p>
          <a:p>
            <a:pPr>
              <a:lnSpc>
                <a:spcPct val="150000"/>
              </a:lnSpc>
            </a:pPr>
            <a:r>
              <a:rPr lang="en-US" sz="2400" dirty="0"/>
              <a:t>Strategic Approach to Software Testing</a:t>
            </a:r>
            <a:endParaRPr lang="en-US" sz="2400" dirty="0">
              <a:latin typeface="Times New Roman" pitchFamily="18" charset="0"/>
              <a:cs typeface="Times New Roman" pitchFamily="18" charset="0"/>
            </a:endParaRPr>
          </a:p>
        </p:txBody>
      </p:sp>
      <p:sp>
        <p:nvSpPr>
          <p:cNvPr id="5" name="Rectangle 4"/>
          <p:cNvSpPr/>
          <p:nvPr/>
        </p:nvSpPr>
        <p:spPr>
          <a:xfrm>
            <a:off x="838200" y="2140772"/>
            <a:ext cx="10515600" cy="403142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1065735"/>
            <a:ext cx="10515600" cy="107027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4" name="Footer Placeholder 9">
            <a:extLst>
              <a:ext uri="{FF2B5EF4-FFF2-40B4-BE49-F238E27FC236}">
                <a16:creationId xmlns:a16="http://schemas.microsoft.com/office/drawing/2014/main" id="{F3AE1631-EA94-8D44-9BDA-5488E29B943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lstStyle/>
          <a:p>
            <a:r>
              <a:rPr lang="en-US" dirty="0">
                <a:latin typeface="Times New Roman" panose="02020603050405020304" pitchFamily="18" charset="0"/>
                <a:cs typeface="Times New Roman" panose="02020603050405020304" pitchFamily="18" charset="0"/>
              </a:rPr>
              <a:t>Software Testing Fundamentals</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itchFamily="18" charset="0"/>
              </a:rPr>
              <a:t>Software testing can be stated as the process of verifying and validating that a software or application is bug free, meets the technical requirements as guided by its design and development and meets the user requirements effectively and efficiently with handling all the exceptional and boundary cases.</a:t>
            </a:r>
          </a:p>
          <a:p>
            <a:pPr marL="0" indent="0" algn="just">
              <a:buNone/>
            </a:pPr>
            <a:endParaRPr lang="en-US" dirty="0">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5" name="Footer Placeholder 9">
            <a:extLst>
              <a:ext uri="{FF2B5EF4-FFF2-40B4-BE49-F238E27FC236}">
                <a16:creationId xmlns:a16="http://schemas.microsoft.com/office/drawing/2014/main" id="{0F49DA32-A510-C6F6-11C3-41F2077A48A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lstStyle/>
          <a:p>
            <a:r>
              <a:rPr lang="en-US" dirty="0">
                <a:latin typeface="Times New Roman" panose="02020603050405020304" pitchFamily="18" charset="0"/>
                <a:cs typeface="Times New Roman" panose="02020603050405020304" pitchFamily="18" charset="0"/>
              </a:rPr>
              <a:t>Software Testing Fundamentals</a:t>
            </a:r>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The process of software testing aims not only at finding faults in the existing software but also at finding measures to improve the software in terms of efficiency, accuracy and usability.</a:t>
            </a:r>
          </a:p>
          <a:p>
            <a:pPr algn="just"/>
            <a:r>
              <a:rPr lang="en-US" dirty="0">
                <a:latin typeface="Times New Roman" pitchFamily="18" charset="0"/>
                <a:cs typeface="Times New Roman" pitchFamily="18" charset="0"/>
              </a:rPr>
              <a:t> It mainly aims at measuring specification, functionality and performance of a software program or application.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26A5219A-7153-090F-27A0-B90C6938DF1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performance testing&#10;&#10;AI-generated content may be incorrect.">
            <a:extLst>
              <a:ext uri="{FF2B5EF4-FFF2-40B4-BE49-F238E27FC236}">
                <a16:creationId xmlns:a16="http://schemas.microsoft.com/office/drawing/2014/main" id="{DCC39DC2-6518-C4FB-96FE-35C0D9DADB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27620" y="946673"/>
            <a:ext cx="8043202" cy="5208775"/>
          </a:xfrm>
        </p:spPr>
      </p:pic>
      <p:sp>
        <p:nvSpPr>
          <p:cNvPr id="4" name="Slide Number Placeholder 3">
            <a:extLst>
              <a:ext uri="{FF2B5EF4-FFF2-40B4-BE49-F238E27FC236}">
                <a16:creationId xmlns:a16="http://schemas.microsoft.com/office/drawing/2014/main" id="{63CFF83B-35CA-3028-1914-421266A30476}"/>
              </a:ext>
            </a:extLst>
          </p:cNvPr>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p14="http://schemas.microsoft.com/office/powerpoint/2010/main" val="2082672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lstStyle/>
          <a:p>
            <a:r>
              <a:rPr lang="en-US" dirty="0">
                <a:latin typeface="Times New Roman" panose="02020603050405020304" pitchFamily="18" charset="0"/>
                <a:cs typeface="Times New Roman" panose="02020603050405020304" pitchFamily="18" charset="0"/>
              </a:rPr>
              <a:t>Software Testing Fundamentals</a:t>
            </a:r>
          </a:p>
        </p:txBody>
      </p:sp>
      <p:sp>
        <p:nvSpPr>
          <p:cNvPr id="3" name="Content Placeholder 2"/>
          <p:cNvSpPr>
            <a:spLocks noGrp="1"/>
          </p:cNvSpPr>
          <p:nvPr>
            <p:ph idx="1"/>
          </p:nvPr>
        </p:nvSpPr>
        <p:spPr/>
        <p:txBody>
          <a:bodyPr/>
          <a:lstStyle/>
          <a:p>
            <a:pPr marL="0" indent="0" algn="just" fontAlgn="base">
              <a:buNone/>
            </a:pPr>
            <a:r>
              <a:rPr lang="en-US" b="1" dirty="0">
                <a:latin typeface="Times New Roman" panose="02020603050405020304" pitchFamily="18" charset="0"/>
                <a:cs typeface="Times New Roman" panose="02020603050405020304" pitchFamily="18" charset="0"/>
              </a:rPr>
              <a:t>Software testing can be divided into two steps: (V &amp; V)</a:t>
            </a:r>
          </a:p>
          <a:p>
            <a:pPr algn="just" fontAlgn="base">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Verification:</a:t>
            </a:r>
            <a:r>
              <a:rPr lang="en-US" dirty="0">
                <a:latin typeface="Times New Roman" panose="02020603050405020304" pitchFamily="18" charset="0"/>
                <a:cs typeface="Times New Roman" panose="02020603050405020304" pitchFamily="18" charset="0"/>
              </a:rPr>
              <a:t> it refers to the set of tasks that ensure that software correctly implements a specific function.</a:t>
            </a:r>
          </a:p>
          <a:p>
            <a:pPr algn="just" fontAlgn="base">
              <a:buNone/>
            </a:pPr>
            <a:endParaRPr lang="en-US" dirty="0">
              <a:latin typeface="Times New Roman" panose="02020603050405020304" pitchFamily="18" charset="0"/>
              <a:cs typeface="Times New Roman" panose="02020603050405020304" pitchFamily="18" charset="0"/>
            </a:endParaRPr>
          </a:p>
          <a:p>
            <a:pPr algn="just" fontAlgn="base">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Validation:</a:t>
            </a:r>
            <a:r>
              <a:rPr lang="en-US" dirty="0">
                <a:latin typeface="Times New Roman" panose="02020603050405020304" pitchFamily="18" charset="0"/>
                <a:cs typeface="Times New Roman" panose="02020603050405020304" pitchFamily="18" charset="0"/>
              </a:rPr>
              <a:t> it refers to a different set of tasks that ensure that the software that has been built is traceable to customer requirements.</a:t>
            </a:r>
          </a:p>
          <a:p>
            <a:pPr algn="just" fontAlgn="base">
              <a:buNone/>
            </a:pPr>
            <a:r>
              <a:rPr lang="en-US" b="1" dirty="0">
                <a:latin typeface="Times New Roman" panose="02020603050405020304" pitchFamily="18" charset="0"/>
                <a:cs typeface="Times New Roman" panose="02020603050405020304" pitchFamily="18" charset="0"/>
              </a:rPr>
              <a:t>Verification:</a:t>
            </a:r>
            <a:r>
              <a:rPr lang="en-US" dirty="0">
                <a:latin typeface="Times New Roman" panose="02020603050405020304" pitchFamily="18" charset="0"/>
                <a:cs typeface="Times New Roman" panose="02020603050405020304" pitchFamily="18" charset="0"/>
              </a:rPr>
              <a:t> “Are we building the product right?”</a:t>
            </a:r>
          </a:p>
          <a:p>
            <a:pPr algn="just" fontAlgn="base">
              <a:buNone/>
            </a:pPr>
            <a:r>
              <a:rPr lang="en-US" b="1" dirty="0">
                <a:latin typeface="Times New Roman" panose="02020603050405020304" pitchFamily="18" charset="0"/>
                <a:cs typeface="Times New Roman" panose="02020603050405020304" pitchFamily="18" charset="0"/>
              </a:rPr>
              <a:t>Validation: </a:t>
            </a:r>
            <a:r>
              <a:rPr lang="en-US" dirty="0">
                <a:latin typeface="Times New Roman" panose="02020603050405020304" pitchFamily="18" charset="0"/>
                <a:cs typeface="Times New Roman" panose="02020603050405020304" pitchFamily="18" charset="0"/>
              </a:rPr>
              <a:t>“Are we building the right product?”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C62C1F00-B3D2-9017-6298-FB25C011D2D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5359-3385-C5E1-C0E0-8FD875FAB03E}"/>
              </a:ext>
            </a:extLst>
          </p:cNvPr>
          <p:cNvSpPr>
            <a:spLocks noGrp="1"/>
          </p:cNvSpPr>
          <p:nvPr>
            <p:ph type="title"/>
          </p:nvPr>
        </p:nvSpPr>
        <p:spPr>
          <a:xfrm>
            <a:off x="838200" y="365125"/>
            <a:ext cx="10515600" cy="1325563"/>
          </a:xfrm>
        </p:spPr>
        <p:txBody>
          <a:bodyPr anchor="ctr">
            <a:normAutofit/>
          </a:bodyPr>
          <a:lstStyle/>
          <a:p>
            <a:r>
              <a:rPr lang="en-US" dirty="0"/>
              <a:t>Testing Strategy:</a:t>
            </a:r>
          </a:p>
        </p:txBody>
      </p:sp>
      <p:pic>
        <p:nvPicPr>
          <p:cNvPr id="6" name="Content Placeholder 5" descr="A diagram of a software development process&#10;&#10;AI-generated content may be incorrect.">
            <a:extLst>
              <a:ext uri="{FF2B5EF4-FFF2-40B4-BE49-F238E27FC236}">
                <a16:creationId xmlns:a16="http://schemas.microsoft.com/office/drawing/2014/main" id="{2973595D-F902-8439-3434-598924B39F9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549" b="8506"/>
          <a:stretch/>
        </p:blipFill>
        <p:spPr>
          <a:xfrm>
            <a:off x="838200" y="1825625"/>
            <a:ext cx="10515600" cy="4351338"/>
          </a:xfrm>
          <a:noFill/>
        </p:spPr>
      </p:pic>
      <p:sp>
        <p:nvSpPr>
          <p:cNvPr id="4" name="Slide Number Placeholder 3">
            <a:extLst>
              <a:ext uri="{FF2B5EF4-FFF2-40B4-BE49-F238E27FC236}">
                <a16:creationId xmlns:a16="http://schemas.microsoft.com/office/drawing/2014/main" id="{A6C69682-9B99-D581-FB61-65F187A1519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DCDBBEF-AA6C-4BA6-85B2-A17D7F280E38}" type="slidenum">
              <a:rPr lang="en-US" smtClean="0"/>
              <a:pPr>
                <a:spcAft>
                  <a:spcPts val="600"/>
                </a:spcAft>
              </a:pPr>
              <a:t>7</a:t>
            </a:fld>
            <a:endParaRPr lang="en-US"/>
          </a:p>
        </p:txBody>
      </p:sp>
    </p:spTree>
    <p:extLst>
      <p:ext uri="{BB962C8B-B14F-4D97-AF65-F5344CB8AC3E}">
        <p14:creationId xmlns:p14="http://schemas.microsoft.com/office/powerpoint/2010/main" val="1797696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FC6D2B-B98E-4C3C-C1F6-CCBB604B3158}"/>
              </a:ext>
            </a:extLst>
          </p:cNvPr>
          <p:cNvSpPr>
            <a:spLocks noGrp="1"/>
          </p:cNvSpPr>
          <p:nvPr>
            <p:ph idx="1"/>
          </p:nvPr>
        </p:nvSpPr>
        <p:spPr>
          <a:xfrm>
            <a:off x="698090" y="1052052"/>
            <a:ext cx="10655710" cy="5124911"/>
          </a:xfrm>
        </p:spPr>
        <p:txBody>
          <a:bodyPr>
            <a:normAutofit fontScale="92500" lnSpcReduction="20000"/>
          </a:bodyPr>
          <a:lstStyle/>
          <a:p>
            <a:pPr marL="0" indent="0" algn="ctr">
              <a:buNone/>
            </a:pPr>
            <a:r>
              <a:rPr lang="en-IN" b="1" dirty="0">
                <a:solidFill>
                  <a:srgbClr val="141413"/>
                </a:solidFill>
                <a:effectLst/>
                <a:latin typeface="Times New Roman" panose="02020603050405020304" pitchFamily="18" charset="0"/>
                <a:cs typeface="Times New Roman" panose="02020603050405020304" pitchFamily="18" charset="0"/>
              </a:rPr>
              <a:t>A strategy for software testing may also be viewed in the context of the spiral:</a:t>
            </a:r>
          </a:p>
          <a:p>
            <a:pPr algn="just"/>
            <a:r>
              <a:rPr lang="en-IN" dirty="0">
                <a:solidFill>
                  <a:srgbClr val="141413"/>
                </a:solidFill>
                <a:effectLst/>
                <a:latin typeface="Times New Roman" panose="02020603050405020304" pitchFamily="18" charset="0"/>
                <a:cs typeface="Times New Roman" panose="02020603050405020304" pitchFamily="18" charset="0"/>
              </a:rPr>
              <a:t>Unit testing begins at the vortex of the spiral and concentrates on each unit (e.g., component, class, or WebApp content object) of the software as implemented in source code. </a:t>
            </a:r>
          </a:p>
          <a:p>
            <a:pPr algn="just"/>
            <a:r>
              <a:rPr lang="en-IN" dirty="0">
                <a:solidFill>
                  <a:srgbClr val="141413"/>
                </a:solidFill>
                <a:effectLst/>
                <a:latin typeface="Times New Roman" panose="02020603050405020304" pitchFamily="18" charset="0"/>
                <a:cs typeface="Times New Roman" panose="02020603050405020304" pitchFamily="18" charset="0"/>
              </a:rPr>
              <a:t>Testing progresses by moving outward along the spiral to </a:t>
            </a:r>
            <a:r>
              <a:rPr lang="en-IN" dirty="0">
                <a:solidFill>
                  <a:srgbClr val="141413"/>
                </a:solidFill>
                <a:latin typeface="Times New Roman" panose="02020603050405020304" pitchFamily="18" charset="0"/>
                <a:cs typeface="Times New Roman" panose="02020603050405020304" pitchFamily="18" charset="0"/>
              </a:rPr>
              <a:t>i</a:t>
            </a:r>
            <a:r>
              <a:rPr lang="en-IN" dirty="0">
                <a:solidFill>
                  <a:srgbClr val="141413"/>
                </a:solidFill>
                <a:effectLst/>
                <a:latin typeface="Times New Roman" panose="02020603050405020304" pitchFamily="18" charset="0"/>
                <a:cs typeface="Times New Roman" panose="02020603050405020304" pitchFamily="18" charset="0"/>
              </a:rPr>
              <a:t>ntegration testing, where the focus is on design and the construction of the software architecture. </a:t>
            </a:r>
          </a:p>
          <a:p>
            <a:pPr algn="just"/>
            <a:r>
              <a:rPr lang="en-IN" dirty="0">
                <a:solidFill>
                  <a:srgbClr val="141413"/>
                </a:solidFill>
                <a:effectLst/>
                <a:latin typeface="Times New Roman" panose="02020603050405020304" pitchFamily="18" charset="0"/>
                <a:cs typeface="Times New Roman" panose="02020603050405020304" pitchFamily="18" charset="0"/>
              </a:rPr>
              <a:t>Taking another turn outward on the spiral, you encounter validation testing, where requirements established as part of requirements </a:t>
            </a:r>
            <a:r>
              <a:rPr lang="en-IN" dirty="0" err="1">
                <a:solidFill>
                  <a:srgbClr val="141413"/>
                </a:solidFill>
                <a:effectLst/>
                <a:latin typeface="Times New Roman" panose="02020603050405020304" pitchFamily="18" charset="0"/>
                <a:cs typeface="Times New Roman" panose="02020603050405020304" pitchFamily="18" charset="0"/>
              </a:rPr>
              <a:t>modeling</a:t>
            </a:r>
            <a:r>
              <a:rPr lang="en-IN" dirty="0">
                <a:solidFill>
                  <a:srgbClr val="141413"/>
                </a:solidFill>
                <a:effectLst/>
                <a:latin typeface="Times New Roman" panose="02020603050405020304" pitchFamily="18" charset="0"/>
                <a:cs typeface="Times New Roman" panose="02020603050405020304" pitchFamily="18" charset="0"/>
              </a:rPr>
              <a:t> are validated against the software that has been constructed. </a:t>
            </a:r>
          </a:p>
          <a:p>
            <a:pPr algn="just"/>
            <a:r>
              <a:rPr lang="en-IN" dirty="0">
                <a:solidFill>
                  <a:srgbClr val="141413"/>
                </a:solidFill>
                <a:effectLst/>
                <a:latin typeface="Times New Roman" panose="02020603050405020304" pitchFamily="18" charset="0"/>
                <a:cs typeface="Times New Roman" panose="02020603050405020304" pitchFamily="18" charset="0"/>
              </a:rPr>
              <a:t>Finally, you arrive at system testing, where the software and other system elements are tested as a whole. To test computer software, you spiral out in a clockwise direction along streamlines that broaden the scope of testing with each turn.</a:t>
            </a:r>
          </a:p>
          <a:p>
            <a:endParaRPr lang="en-IN" dirty="0">
              <a:solidFill>
                <a:srgbClr val="141413"/>
              </a:solidFill>
              <a:effectLst/>
              <a:latin typeface="Times New Roman" panose="02020603050405020304" pitchFamily="18" charset="0"/>
              <a:cs typeface="Times New Roman" panose="02020603050405020304" pitchFamily="18" charset="0"/>
            </a:endParaRPr>
          </a:p>
          <a:p>
            <a:endParaRPr lang="en-IN" dirty="0">
              <a:solidFill>
                <a:srgbClr val="141413"/>
              </a:solidFill>
              <a:effectLst/>
              <a:latin typeface="Helvetica" pitchFamily="2" charset="0"/>
            </a:endParaRPr>
          </a:p>
          <a:p>
            <a:endParaRPr lang="en-US" dirty="0"/>
          </a:p>
        </p:txBody>
      </p:sp>
      <p:sp>
        <p:nvSpPr>
          <p:cNvPr id="4" name="Slide Number Placeholder 3">
            <a:extLst>
              <a:ext uri="{FF2B5EF4-FFF2-40B4-BE49-F238E27FC236}">
                <a16:creationId xmlns:a16="http://schemas.microsoft.com/office/drawing/2014/main" id="{FCAA303F-C994-1913-CCC7-4169F8C21967}"/>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329491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22AC3F3-489B-1363-1E78-E7C2CB43D67D}"/>
              </a:ext>
            </a:extLst>
          </p:cNvPr>
          <p:cNvSpPr>
            <a:spLocks noGrp="1"/>
          </p:cNvSpPr>
          <p:nvPr>
            <p:ph type="title"/>
          </p:nvPr>
        </p:nvSpPr>
        <p:spPr>
          <a:xfrm>
            <a:off x="838200" y="365125"/>
            <a:ext cx="10515600" cy="1325563"/>
          </a:xfrm>
        </p:spPr>
        <p:txBody>
          <a:bodyPr/>
          <a:lstStyle/>
          <a:p>
            <a:r>
              <a:rPr lang="en-US" dirty="0"/>
              <a:t>Software Testing Steps:</a:t>
            </a:r>
          </a:p>
        </p:txBody>
      </p:sp>
      <p:pic>
        <p:nvPicPr>
          <p:cNvPr id="6" name="Content Placeholder 5" descr="A diagram of a test&#10;&#10;AI-generated content may be incorrect.">
            <a:extLst>
              <a:ext uri="{FF2B5EF4-FFF2-40B4-BE49-F238E27FC236}">
                <a16:creationId xmlns:a16="http://schemas.microsoft.com/office/drawing/2014/main" id="{29F7CC83-0491-640F-46AB-A98BA32274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8966" y="1825625"/>
            <a:ext cx="8574068" cy="4351338"/>
          </a:xfrm>
          <a:noFill/>
        </p:spPr>
      </p:pic>
      <p:sp>
        <p:nvSpPr>
          <p:cNvPr id="4" name="Slide Number Placeholder 3">
            <a:extLst>
              <a:ext uri="{FF2B5EF4-FFF2-40B4-BE49-F238E27FC236}">
                <a16:creationId xmlns:a16="http://schemas.microsoft.com/office/drawing/2014/main" id="{3532361A-0BB1-660B-D767-3E05026E2DDA}"/>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DCDBBEF-AA6C-4BA6-85B2-A17D7F280E38}" type="slidenum">
              <a:rPr lang="en-US" smtClean="0"/>
              <a:pPr>
                <a:spcAft>
                  <a:spcPts val="600"/>
                </a:spcAft>
              </a:pPr>
              <a:t>9</a:t>
            </a:fld>
            <a:endParaRPr lang="en-US"/>
          </a:p>
        </p:txBody>
      </p:sp>
    </p:spTree>
    <p:extLst>
      <p:ext uri="{BB962C8B-B14F-4D97-AF65-F5344CB8AC3E}">
        <p14:creationId xmlns:p14="http://schemas.microsoft.com/office/powerpoint/2010/main" val="3875269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CF4B9-5E48-3DE1-AECB-91830E8F8ADB}"/>
              </a:ext>
            </a:extLst>
          </p:cNvPr>
          <p:cNvSpPr>
            <a:spLocks noGrp="1"/>
          </p:cNvSpPr>
          <p:nvPr>
            <p:ph type="title"/>
          </p:nvPr>
        </p:nvSpPr>
        <p:spPr/>
        <p:txBody>
          <a:bodyPr/>
          <a:lstStyle/>
          <a:p>
            <a:r>
              <a:rPr lang="en-US" b="1" dirty="0"/>
              <a:t>Unit Testing:</a:t>
            </a:r>
          </a:p>
        </p:txBody>
      </p:sp>
      <p:sp>
        <p:nvSpPr>
          <p:cNvPr id="3" name="Content Placeholder 2">
            <a:extLst>
              <a:ext uri="{FF2B5EF4-FFF2-40B4-BE49-F238E27FC236}">
                <a16:creationId xmlns:a16="http://schemas.microsoft.com/office/drawing/2014/main" id="{69A06452-2FB9-B09B-E3CB-3E0900A964C5}"/>
              </a:ext>
            </a:extLst>
          </p:cNvPr>
          <p:cNvSpPr>
            <a:spLocks noGrp="1"/>
          </p:cNvSpPr>
          <p:nvPr>
            <p:ph idx="1"/>
          </p:nvPr>
        </p:nvSpPr>
        <p:spPr/>
        <p:txBody>
          <a:bodyPr/>
          <a:lstStyle/>
          <a:p>
            <a:pPr algn="just"/>
            <a:r>
              <a:rPr lang="en-IN" dirty="0">
                <a:solidFill>
                  <a:srgbClr val="141413"/>
                </a:solidFill>
                <a:effectLst/>
                <a:latin typeface="Times New Roman" panose="02020603050405020304" pitchFamily="18" charset="0"/>
                <a:cs typeface="Times New Roman" panose="02020603050405020304" pitchFamily="18" charset="0"/>
              </a:rPr>
              <a:t>Initially, tests focus on each component individually, ensuring that it functions properly as a unit. Hence, the name unit testing.</a:t>
            </a:r>
          </a:p>
          <a:p>
            <a:pPr algn="just"/>
            <a:r>
              <a:rPr lang="en-IN" dirty="0">
                <a:solidFill>
                  <a:srgbClr val="141413"/>
                </a:solidFill>
                <a:effectLst/>
                <a:latin typeface="Times New Roman" panose="02020603050405020304" pitchFamily="18" charset="0"/>
                <a:cs typeface="Times New Roman" panose="02020603050405020304" pitchFamily="18" charset="0"/>
              </a:rPr>
              <a:t>Unit testing makes heavy use of testing techniques that exercise specific paths in a component’s control structure to ensure complete coverage and maximum error detection.</a:t>
            </a:r>
          </a:p>
          <a:p>
            <a:endParaRPr lang="en-US" dirty="0"/>
          </a:p>
        </p:txBody>
      </p:sp>
      <p:sp>
        <p:nvSpPr>
          <p:cNvPr id="4" name="Slide Number Placeholder 3">
            <a:extLst>
              <a:ext uri="{FF2B5EF4-FFF2-40B4-BE49-F238E27FC236}">
                <a16:creationId xmlns:a16="http://schemas.microsoft.com/office/drawing/2014/main" id="{CF555BE8-53EE-C053-5B2B-255224513EA8}"/>
              </a:ext>
            </a:extLst>
          </p:cNvPr>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3744741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49BA8-4730-1AAB-7317-ABEA7573655D}"/>
              </a:ext>
            </a:extLst>
          </p:cNvPr>
          <p:cNvSpPr>
            <a:spLocks noGrp="1"/>
          </p:cNvSpPr>
          <p:nvPr>
            <p:ph type="title"/>
          </p:nvPr>
        </p:nvSpPr>
        <p:spPr/>
        <p:txBody>
          <a:bodyPr/>
          <a:lstStyle/>
          <a:p>
            <a:r>
              <a:rPr lang="en-US" b="1" dirty="0"/>
              <a:t>Integration Testing:</a:t>
            </a:r>
            <a:endParaRPr lang="en-US" dirty="0"/>
          </a:p>
        </p:txBody>
      </p:sp>
      <p:sp>
        <p:nvSpPr>
          <p:cNvPr id="3" name="Content Placeholder 2">
            <a:extLst>
              <a:ext uri="{FF2B5EF4-FFF2-40B4-BE49-F238E27FC236}">
                <a16:creationId xmlns:a16="http://schemas.microsoft.com/office/drawing/2014/main" id="{77139F09-3907-6C10-BF54-9B65C231AB25}"/>
              </a:ext>
            </a:extLst>
          </p:cNvPr>
          <p:cNvSpPr>
            <a:spLocks noGrp="1"/>
          </p:cNvSpPr>
          <p:nvPr>
            <p:ph idx="1"/>
          </p:nvPr>
        </p:nvSpPr>
        <p:spPr/>
        <p:txBody>
          <a:bodyPr>
            <a:normAutofit/>
          </a:bodyPr>
          <a:lstStyle/>
          <a:p>
            <a:pPr algn="just"/>
            <a:r>
              <a:rPr lang="en-IN" dirty="0">
                <a:solidFill>
                  <a:srgbClr val="141413"/>
                </a:solidFill>
                <a:effectLst/>
                <a:latin typeface="Times New Roman" panose="02020603050405020304" pitchFamily="18" charset="0"/>
                <a:cs typeface="Times New Roman" panose="02020603050405020304" pitchFamily="18" charset="0"/>
              </a:rPr>
              <a:t>Next, components must be assembled or integrated to form the complete software package. Integration testing addresses the issues associated with the dual problems of verification and program construction. </a:t>
            </a:r>
          </a:p>
          <a:p>
            <a:pPr algn="just"/>
            <a:r>
              <a:rPr lang="en-IN" dirty="0">
                <a:solidFill>
                  <a:srgbClr val="141413"/>
                </a:solidFill>
                <a:effectLst/>
                <a:latin typeface="Times New Roman" panose="02020603050405020304" pitchFamily="18" charset="0"/>
                <a:cs typeface="Times New Roman" panose="02020603050405020304" pitchFamily="18" charset="0"/>
              </a:rPr>
              <a:t>Test case design techniques that focus on inputs and outputs are more prevalent during integration, although techniques that exercise specific program paths may be used to ensure coverage of major control paths.</a:t>
            </a:r>
          </a:p>
          <a:p>
            <a:endParaRPr lang="en-US" dirty="0"/>
          </a:p>
        </p:txBody>
      </p:sp>
      <p:sp>
        <p:nvSpPr>
          <p:cNvPr id="4" name="Slide Number Placeholder 3">
            <a:extLst>
              <a:ext uri="{FF2B5EF4-FFF2-40B4-BE49-F238E27FC236}">
                <a16:creationId xmlns:a16="http://schemas.microsoft.com/office/drawing/2014/main" id="{4CD2FB57-E181-1467-0C7B-359337C5E189}"/>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3863961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32C68-52FF-225C-3256-EF9B2C446128}"/>
              </a:ext>
            </a:extLst>
          </p:cNvPr>
          <p:cNvSpPr>
            <a:spLocks noGrp="1"/>
          </p:cNvSpPr>
          <p:nvPr>
            <p:ph type="title"/>
          </p:nvPr>
        </p:nvSpPr>
        <p:spPr/>
        <p:txBody>
          <a:bodyPr/>
          <a:lstStyle/>
          <a:p>
            <a:r>
              <a:rPr lang="en-US" b="1" dirty="0"/>
              <a:t>Validation Testing</a:t>
            </a:r>
          </a:p>
        </p:txBody>
      </p:sp>
      <p:sp>
        <p:nvSpPr>
          <p:cNvPr id="3" name="Content Placeholder 2">
            <a:extLst>
              <a:ext uri="{FF2B5EF4-FFF2-40B4-BE49-F238E27FC236}">
                <a16:creationId xmlns:a16="http://schemas.microsoft.com/office/drawing/2014/main" id="{FEC5CA4E-EB2D-5978-6BAF-6D6FE547BE00}"/>
              </a:ext>
            </a:extLst>
          </p:cNvPr>
          <p:cNvSpPr>
            <a:spLocks noGrp="1"/>
          </p:cNvSpPr>
          <p:nvPr>
            <p:ph idx="1"/>
          </p:nvPr>
        </p:nvSpPr>
        <p:spPr/>
        <p:txBody>
          <a:bodyPr>
            <a:normAutofit/>
          </a:bodyPr>
          <a:lstStyle/>
          <a:p>
            <a:pPr algn="just"/>
            <a:r>
              <a:rPr lang="en-IN" dirty="0">
                <a:solidFill>
                  <a:srgbClr val="141413"/>
                </a:solidFill>
                <a:effectLst/>
                <a:latin typeface="Times New Roman" panose="02020603050405020304" pitchFamily="18" charset="0"/>
                <a:cs typeface="Times New Roman" panose="02020603050405020304" pitchFamily="18" charset="0"/>
              </a:rPr>
              <a:t>After the software has been integrated (constructed), a set of high-order tests is conducted. Validation criteria (established during requirements analysis) must be evaluated. </a:t>
            </a:r>
          </a:p>
          <a:p>
            <a:pPr algn="just"/>
            <a:r>
              <a:rPr lang="en-IN" dirty="0">
                <a:solidFill>
                  <a:srgbClr val="141413"/>
                </a:solidFill>
                <a:effectLst/>
                <a:latin typeface="Times New Roman" panose="02020603050405020304" pitchFamily="18" charset="0"/>
                <a:cs typeface="Times New Roman" panose="02020603050405020304" pitchFamily="18" charset="0"/>
              </a:rPr>
              <a:t>Validation testing provides final assurance that software meets all informational, functional, </a:t>
            </a:r>
            <a:r>
              <a:rPr lang="en-IN" dirty="0" err="1">
                <a:solidFill>
                  <a:srgbClr val="141413"/>
                </a:solidFill>
                <a:effectLst/>
                <a:latin typeface="Times New Roman" panose="02020603050405020304" pitchFamily="18" charset="0"/>
                <a:cs typeface="Times New Roman" panose="02020603050405020304" pitchFamily="18" charset="0"/>
              </a:rPr>
              <a:t>behavioral</a:t>
            </a:r>
            <a:r>
              <a:rPr lang="en-IN" dirty="0">
                <a:solidFill>
                  <a:srgbClr val="141413"/>
                </a:solidFill>
                <a:effectLst/>
                <a:latin typeface="Times New Roman" panose="02020603050405020304" pitchFamily="18" charset="0"/>
                <a:cs typeface="Times New Roman" panose="02020603050405020304" pitchFamily="18" charset="0"/>
              </a:rPr>
              <a:t>, and performance requirements.</a:t>
            </a:r>
          </a:p>
          <a:p>
            <a:endParaRPr lang="en-US" dirty="0"/>
          </a:p>
        </p:txBody>
      </p:sp>
      <p:sp>
        <p:nvSpPr>
          <p:cNvPr id="4" name="Slide Number Placeholder 3">
            <a:extLst>
              <a:ext uri="{FF2B5EF4-FFF2-40B4-BE49-F238E27FC236}">
                <a16:creationId xmlns:a16="http://schemas.microsoft.com/office/drawing/2014/main" id="{AC62BE09-D0BB-2F9C-2277-3DEE763E2487}"/>
              </a:ext>
            </a:extLst>
          </p:cNvPr>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1960179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40548-87E2-42F9-2074-DC5E7A4D5957}"/>
              </a:ext>
            </a:extLst>
          </p:cNvPr>
          <p:cNvSpPr>
            <a:spLocks noGrp="1"/>
          </p:cNvSpPr>
          <p:nvPr>
            <p:ph type="title"/>
          </p:nvPr>
        </p:nvSpPr>
        <p:spPr/>
        <p:txBody>
          <a:bodyPr/>
          <a:lstStyle/>
          <a:p>
            <a:r>
              <a:rPr lang="en-US" b="1" dirty="0"/>
              <a:t>System Testing</a:t>
            </a:r>
          </a:p>
        </p:txBody>
      </p:sp>
      <p:sp>
        <p:nvSpPr>
          <p:cNvPr id="3" name="Content Placeholder 2">
            <a:extLst>
              <a:ext uri="{FF2B5EF4-FFF2-40B4-BE49-F238E27FC236}">
                <a16:creationId xmlns:a16="http://schemas.microsoft.com/office/drawing/2014/main" id="{AF12F0F1-92FC-1D91-3E32-E1D9FA202F2E}"/>
              </a:ext>
            </a:extLst>
          </p:cNvPr>
          <p:cNvSpPr>
            <a:spLocks noGrp="1"/>
          </p:cNvSpPr>
          <p:nvPr>
            <p:ph idx="1"/>
          </p:nvPr>
        </p:nvSpPr>
        <p:spPr/>
        <p:txBody>
          <a:bodyPr/>
          <a:lstStyle/>
          <a:p>
            <a:pPr algn="just"/>
            <a:r>
              <a:rPr lang="en-IN" dirty="0">
                <a:solidFill>
                  <a:srgbClr val="141413"/>
                </a:solidFill>
                <a:effectLst/>
                <a:latin typeface="Times New Roman" panose="02020603050405020304" pitchFamily="18" charset="0"/>
                <a:cs typeface="Times New Roman" panose="02020603050405020304" pitchFamily="18" charset="0"/>
              </a:rPr>
              <a:t>The last high-order testing step falls outside the boundary of software engineering and into the broader context of computer system engineering. Software, once validated, must be combined with other system elements (e.g., hardware, people, databases). </a:t>
            </a:r>
          </a:p>
          <a:p>
            <a:pPr algn="just"/>
            <a:r>
              <a:rPr lang="en-IN" dirty="0">
                <a:solidFill>
                  <a:srgbClr val="141413"/>
                </a:solidFill>
                <a:effectLst/>
                <a:latin typeface="Times New Roman" panose="02020603050405020304" pitchFamily="18" charset="0"/>
                <a:cs typeface="Times New Roman" panose="02020603050405020304" pitchFamily="18" charset="0"/>
              </a:rPr>
              <a:t>System testing verifies that all elements mesh properly and that overall system function/performance is achieved.</a:t>
            </a:r>
          </a:p>
          <a:p>
            <a:endParaRPr lang="en-US" dirty="0"/>
          </a:p>
        </p:txBody>
      </p:sp>
      <p:sp>
        <p:nvSpPr>
          <p:cNvPr id="4" name="Slide Number Placeholder 3">
            <a:extLst>
              <a:ext uri="{FF2B5EF4-FFF2-40B4-BE49-F238E27FC236}">
                <a16:creationId xmlns:a16="http://schemas.microsoft.com/office/drawing/2014/main" id="{1837B7AC-3AED-C686-8D00-CE0B93BCAC84}"/>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1027866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lstStyle/>
          <a:p>
            <a:r>
              <a:rPr lang="en-US" dirty="0">
                <a:latin typeface="Times New Roman" panose="02020603050405020304" pitchFamily="18" charset="0"/>
                <a:cs typeface="Times New Roman" panose="02020603050405020304" pitchFamily="18" charset="0"/>
              </a:rPr>
              <a:t>Software Testing Fundamentals</a:t>
            </a:r>
          </a:p>
        </p:txBody>
      </p:sp>
      <p:sp>
        <p:nvSpPr>
          <p:cNvPr id="3" name="Content Placeholder 2"/>
          <p:cNvSpPr>
            <a:spLocks noGrp="1"/>
          </p:cNvSpPr>
          <p:nvPr>
            <p:ph idx="1"/>
          </p:nvPr>
        </p:nvSpPr>
        <p:spPr/>
        <p:txBody>
          <a:bodyPr>
            <a:normAutofit fontScale="92500" lnSpcReduction="10000"/>
          </a:bodyPr>
          <a:lstStyle/>
          <a:p>
            <a:pPr marL="0" indent="0" algn="just" fontAlgn="base">
              <a:buNone/>
            </a:pPr>
            <a:r>
              <a:rPr lang="en-US" dirty="0">
                <a:latin typeface="Times New Roman" panose="02020603050405020304" pitchFamily="18" charset="0"/>
                <a:cs typeface="Times New Roman" panose="02020603050405020304" pitchFamily="18" charset="0"/>
              </a:rPr>
              <a:t>Software Testing can be broadly classified into two types:</a:t>
            </a:r>
          </a:p>
          <a:p>
            <a:pPr marL="0" indent="0" algn="just" fontAlgn="base">
              <a:buNone/>
            </a:pPr>
            <a:r>
              <a:rPr lang="en-US" b="1" dirty="0">
                <a:latin typeface="Times New Roman" panose="02020603050405020304" pitchFamily="18" charset="0"/>
                <a:cs typeface="Times New Roman" panose="02020603050405020304" pitchFamily="18" charset="0"/>
              </a:rPr>
              <a:t>1. Manual Testing:</a:t>
            </a:r>
            <a:r>
              <a:rPr lang="en-US" dirty="0">
                <a:latin typeface="Times New Roman" panose="02020603050405020304" pitchFamily="18" charset="0"/>
                <a:cs typeface="Times New Roman" panose="02020603050405020304" pitchFamily="18" charset="0"/>
              </a:rPr>
              <a:t> Manual testing includes testing a software manually, i.e., without using any automated tool or any script. </a:t>
            </a:r>
          </a:p>
          <a:p>
            <a:pPr algn="just" fontAlgn="base"/>
            <a:r>
              <a:rPr lang="en-US" dirty="0">
                <a:latin typeface="Times New Roman" panose="02020603050405020304" pitchFamily="18" charset="0"/>
                <a:cs typeface="Times New Roman" panose="02020603050405020304" pitchFamily="18" charset="0"/>
              </a:rPr>
              <a:t>In this type, the tester takes over the role of an end-user and tests the software to identify any unexpected behavior or bug.</a:t>
            </a:r>
          </a:p>
          <a:p>
            <a:pPr algn="just" fontAlgn="base"/>
            <a:r>
              <a:rPr lang="en-US" dirty="0">
                <a:latin typeface="Times New Roman" panose="02020603050405020304" pitchFamily="18" charset="0"/>
                <a:cs typeface="Times New Roman" panose="02020603050405020304" pitchFamily="18" charset="0"/>
              </a:rPr>
              <a:t>There are different stages for manual testing such as unit testing, integration testing, system testing, and user acceptance testing.</a:t>
            </a:r>
          </a:p>
          <a:p>
            <a:pPr algn="just" fontAlgn="base"/>
            <a:r>
              <a:rPr lang="en-US" dirty="0">
                <a:latin typeface="Times New Roman" panose="02020603050405020304" pitchFamily="18" charset="0"/>
                <a:cs typeface="Times New Roman" panose="02020603050405020304" pitchFamily="18" charset="0"/>
              </a:rPr>
              <a:t>Testers use test plans, test cases, or test scenarios to test a software to ensure the completeness of testing. </a:t>
            </a:r>
          </a:p>
          <a:p>
            <a:pPr algn="just" fontAlgn="base"/>
            <a:r>
              <a:rPr lang="en-US" dirty="0">
                <a:latin typeface="Times New Roman" panose="02020603050405020304" pitchFamily="18" charset="0"/>
                <a:cs typeface="Times New Roman" panose="02020603050405020304" pitchFamily="18" charset="0"/>
              </a:rPr>
              <a:t>Manual testing also includes exploratory testing, as testers explore the software to identify errors in it.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06BF07A7-1857-6421-FD67-20CAFCE95A2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905380"/>
          </a:xfrm>
        </p:spPr>
        <p:txBody>
          <a:bodyPr/>
          <a:lstStyle/>
          <a:p>
            <a:r>
              <a:rPr lang="en-US" dirty="0">
                <a:latin typeface="Times New Roman" panose="02020603050405020304" pitchFamily="18" charset="0"/>
                <a:cs typeface="Times New Roman" panose="02020603050405020304" pitchFamily="18" charset="0"/>
              </a:rPr>
              <a:t>Software Testing Fundamentals</a:t>
            </a:r>
          </a:p>
        </p:txBody>
      </p:sp>
      <p:sp>
        <p:nvSpPr>
          <p:cNvPr id="3" name="Content Placeholder 2"/>
          <p:cNvSpPr>
            <a:spLocks noGrp="1"/>
          </p:cNvSpPr>
          <p:nvPr>
            <p:ph idx="1"/>
          </p:nvPr>
        </p:nvSpPr>
        <p:spPr/>
        <p:txBody>
          <a:bodyPr>
            <a:normAutofit lnSpcReduction="10000"/>
          </a:bodyPr>
          <a:lstStyle/>
          <a:p>
            <a:pPr marL="0" indent="0" algn="just" fontAlgn="base">
              <a:buNone/>
            </a:pPr>
            <a:r>
              <a:rPr lang="en-US" b="1" dirty="0">
                <a:latin typeface="Times New Roman" panose="02020603050405020304" pitchFamily="18" charset="0"/>
                <a:cs typeface="Times New Roman" panose="02020603050405020304" pitchFamily="18" charset="0"/>
              </a:rPr>
              <a:t>2. Automation Testing:</a:t>
            </a:r>
            <a:r>
              <a:rPr lang="en-US" dirty="0">
                <a:latin typeface="Times New Roman" panose="02020603050405020304" pitchFamily="18" charset="0"/>
                <a:cs typeface="Times New Roman" panose="02020603050405020304" pitchFamily="18" charset="0"/>
              </a:rPr>
              <a:t> Automation testing, which is also known as Test Automation, is when the tester writes scripts and uses another software to test the product. </a:t>
            </a:r>
          </a:p>
          <a:p>
            <a:pPr algn="just" fontAlgn="base"/>
            <a:r>
              <a:rPr lang="en-US" dirty="0">
                <a:latin typeface="Times New Roman" panose="02020603050405020304" pitchFamily="18" charset="0"/>
                <a:cs typeface="Times New Roman" panose="02020603050405020304" pitchFamily="18" charset="0"/>
              </a:rPr>
              <a:t>This process involves automation of a manual process. </a:t>
            </a:r>
          </a:p>
          <a:p>
            <a:pPr algn="just" fontAlgn="base"/>
            <a:r>
              <a:rPr lang="en-US" dirty="0">
                <a:latin typeface="Times New Roman" panose="02020603050405020304" pitchFamily="18" charset="0"/>
                <a:cs typeface="Times New Roman" panose="02020603050405020304" pitchFamily="18" charset="0"/>
              </a:rPr>
              <a:t>Automation Testing is used to re-run the test scenarios that were performed manually, quickly, and repeatedly.</a:t>
            </a:r>
          </a:p>
          <a:p>
            <a:pPr algn="just" fontAlgn="base"/>
            <a:r>
              <a:rPr lang="en-US" dirty="0">
                <a:latin typeface="Times New Roman" panose="02020603050405020304" pitchFamily="18" charset="0"/>
                <a:cs typeface="Times New Roman" panose="02020603050405020304" pitchFamily="18" charset="0"/>
              </a:rPr>
              <a:t>Apart from regression testing, automation testing is also used to test the application from load, performance, and stress point of view. </a:t>
            </a:r>
          </a:p>
          <a:p>
            <a:pPr algn="just" fontAlgn="base"/>
            <a:r>
              <a:rPr lang="en-US" dirty="0">
                <a:latin typeface="Times New Roman" panose="02020603050405020304" pitchFamily="18" charset="0"/>
                <a:cs typeface="Times New Roman" panose="02020603050405020304" pitchFamily="18" charset="0"/>
              </a:rPr>
              <a:t>It increases the test coverage, improves accuracy, and saves time and money in comparison to manual testing.</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C6959789-9B61-5C82-62FC-E6E5C67ABDB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lstStyle/>
          <a:p>
            <a:r>
              <a:rPr lang="en-US" dirty="0">
                <a:latin typeface="Times New Roman" panose="02020603050405020304" pitchFamily="18" charset="0"/>
                <a:cs typeface="Times New Roman" panose="02020603050405020304" pitchFamily="18" charset="0"/>
              </a:rPr>
              <a:t>Software Testing Fundamentals</a:t>
            </a:r>
          </a:p>
        </p:txBody>
      </p:sp>
      <p:sp>
        <p:nvSpPr>
          <p:cNvPr id="3" name="Content Placeholder 2"/>
          <p:cNvSpPr>
            <a:spLocks noGrp="1"/>
          </p:cNvSpPr>
          <p:nvPr>
            <p:ph idx="1"/>
          </p:nvPr>
        </p:nvSpPr>
        <p:spPr/>
        <p:txBody>
          <a:bodyPr/>
          <a:lstStyle/>
          <a:p>
            <a:pPr marL="0" indent="0" algn="just">
              <a:buNone/>
            </a:pPr>
            <a:r>
              <a:rPr lang="en-US" b="1" dirty="0">
                <a:latin typeface="Times New Roman" panose="02020603050405020304" pitchFamily="18" charset="0"/>
                <a:cs typeface="Times New Roman" panose="02020603050405020304" pitchFamily="18" charset="0"/>
              </a:rPr>
              <a:t>Bug, Fault &amp; Failure Error </a:t>
            </a:r>
          </a:p>
          <a:p>
            <a:pPr marL="0" indent="0" algn="just">
              <a:buNone/>
            </a:pPr>
            <a:r>
              <a:rPr lang="en-US" dirty="0">
                <a:latin typeface="Times New Roman" panose="02020603050405020304" pitchFamily="18" charset="0"/>
                <a:cs typeface="Times New Roman" panose="02020603050405020304" pitchFamily="18" charset="0"/>
              </a:rPr>
              <a:t>An error is a human action that produces the incorrect result that results in a fault.</a:t>
            </a:r>
          </a:p>
          <a:p>
            <a:pPr algn="just"/>
            <a:r>
              <a:rPr lang="en-US" dirty="0">
                <a:latin typeface="Times New Roman" panose="02020603050405020304" pitchFamily="18" charset="0"/>
                <a:cs typeface="Times New Roman" panose="02020603050405020304" pitchFamily="18" charset="0"/>
              </a:rPr>
              <a:t> Bug : The presence of error at the time of execution of the software. </a:t>
            </a:r>
          </a:p>
          <a:p>
            <a:pPr algn="just"/>
            <a:r>
              <a:rPr lang="en-US" dirty="0">
                <a:latin typeface="Times New Roman" panose="02020603050405020304" pitchFamily="18" charset="0"/>
                <a:cs typeface="Times New Roman" panose="02020603050405020304" pitchFamily="18" charset="0"/>
              </a:rPr>
              <a:t>Fault : State of software caused by an error. </a:t>
            </a:r>
          </a:p>
          <a:p>
            <a:pPr algn="just"/>
            <a:r>
              <a:rPr lang="en-US" dirty="0">
                <a:latin typeface="Times New Roman" panose="02020603050405020304" pitchFamily="18" charset="0"/>
                <a:cs typeface="Times New Roman" panose="02020603050405020304" pitchFamily="18" charset="0"/>
              </a:rPr>
              <a:t>Failure : Deviation of the software from its expected result. It is an event. A person makes an Error That creates a fault in software That can cause a failure in operation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Footer Placeholder 9">
            <a:extLst>
              <a:ext uri="{FF2B5EF4-FFF2-40B4-BE49-F238E27FC236}">
                <a16:creationId xmlns:a16="http://schemas.microsoft.com/office/drawing/2014/main" id="{FF093FB0-2B70-087D-A304-CA9894881BA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lstStyle/>
          <a:p>
            <a:r>
              <a:rPr lang="en-US" dirty="0">
                <a:latin typeface="Times New Roman" panose="02020603050405020304" pitchFamily="18" charset="0"/>
                <a:cs typeface="Times New Roman" panose="02020603050405020304" pitchFamily="18" charset="0"/>
              </a:rPr>
              <a:t>Software Testing Fundamentals</a:t>
            </a:r>
          </a:p>
        </p:txBody>
      </p:sp>
      <p:sp>
        <p:nvSpPr>
          <p:cNvPr id="3" name="Content Placeholder 2"/>
          <p:cNvSpPr>
            <a:spLocks noGrp="1"/>
          </p:cNvSpPr>
          <p:nvPr>
            <p:ph idx="1"/>
          </p:nvPr>
        </p:nvSpPr>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Software Tester </a:t>
            </a:r>
            <a:r>
              <a:rPr lang="en-US" dirty="0">
                <a:latin typeface="Times New Roman" panose="02020603050405020304" pitchFamily="18" charset="0"/>
                <a:cs typeface="Times New Roman" panose="02020603050405020304" pitchFamily="18" charset="0"/>
              </a:rPr>
              <a:t>is the one who performs testing and find bugs, if they exist in the tested application.</a:t>
            </a:r>
          </a:p>
          <a:p>
            <a:pPr marL="0" indent="0" algn="just">
              <a:buNone/>
            </a:pPr>
            <a:r>
              <a:rPr lang="en-US" b="1" dirty="0">
                <a:latin typeface="Times New Roman" panose="02020603050405020304" pitchFamily="18" charset="0"/>
                <a:cs typeface="Times New Roman" panose="02020603050405020304" pitchFamily="18" charset="0"/>
              </a:rPr>
              <a:t>Program Manager- </a:t>
            </a:r>
          </a:p>
          <a:p>
            <a:pPr algn="just"/>
            <a:r>
              <a:rPr lang="en-US" dirty="0">
                <a:latin typeface="Times New Roman" panose="02020603050405020304" pitchFamily="18" charset="0"/>
                <a:cs typeface="Times New Roman" panose="02020603050405020304" pitchFamily="18" charset="0"/>
              </a:rPr>
              <a:t>The planning and execution of the project to ensure the success of a project minimizing risk throughout the lifetime of the project. </a:t>
            </a:r>
          </a:p>
          <a:p>
            <a:pPr algn="just"/>
            <a:r>
              <a:rPr lang="en-US" dirty="0">
                <a:latin typeface="Times New Roman" panose="02020603050405020304" pitchFamily="18" charset="0"/>
                <a:cs typeface="Times New Roman" panose="02020603050405020304" pitchFamily="18" charset="0"/>
              </a:rPr>
              <a:t>Responsible for writing the product specification, managing the schedule and making the critical decisions and trade-offs.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Footer Placeholder 9">
            <a:extLst>
              <a:ext uri="{FF2B5EF4-FFF2-40B4-BE49-F238E27FC236}">
                <a16:creationId xmlns:a16="http://schemas.microsoft.com/office/drawing/2014/main" id="{0A84E46F-0D4A-BFCD-5A5A-BADD725CA77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lstStyle/>
          <a:p>
            <a:r>
              <a:rPr lang="en-US" dirty="0">
                <a:latin typeface="Times New Roman" panose="02020603050405020304" pitchFamily="18" charset="0"/>
                <a:cs typeface="Times New Roman" panose="02020603050405020304" pitchFamily="18" charset="0"/>
              </a:rPr>
              <a:t>Software Testing Fundamentals</a:t>
            </a:r>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QA Lead- </a:t>
            </a:r>
          </a:p>
          <a:p>
            <a:r>
              <a:rPr lang="en-US" dirty="0">
                <a:latin typeface="Times New Roman" panose="02020603050405020304" pitchFamily="18" charset="0"/>
                <a:cs typeface="Times New Roman" panose="02020603050405020304" pitchFamily="18" charset="0"/>
              </a:rPr>
              <a:t>Coach and mentor other team members to help improve QA effectiveness </a:t>
            </a:r>
          </a:p>
          <a:p>
            <a:r>
              <a:rPr lang="en-US" dirty="0">
                <a:latin typeface="Times New Roman" panose="02020603050405020304" pitchFamily="18" charset="0"/>
                <a:cs typeface="Times New Roman" panose="02020603050405020304" pitchFamily="18" charset="0"/>
              </a:rPr>
              <a:t>Work with other department representatives to collaborate on joint projects and initiatives </a:t>
            </a:r>
          </a:p>
          <a:p>
            <a:r>
              <a:rPr lang="en-US" dirty="0">
                <a:latin typeface="Times New Roman" panose="02020603050405020304" pitchFamily="18" charset="0"/>
                <a:cs typeface="Times New Roman" panose="02020603050405020304" pitchFamily="18" charset="0"/>
              </a:rPr>
              <a:t>Implement industry best practices related to testing automation and to streamline the QA Department.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Footer Placeholder 9">
            <a:extLst>
              <a:ext uri="{FF2B5EF4-FFF2-40B4-BE49-F238E27FC236}">
                <a16:creationId xmlns:a16="http://schemas.microsoft.com/office/drawing/2014/main" id="{B2FE4799-40FC-F93C-13F7-334C560414E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lstStyle/>
          <a:p>
            <a:r>
              <a:rPr lang="en-US" dirty="0">
                <a:latin typeface="Times New Roman" panose="02020603050405020304" pitchFamily="18" charset="0"/>
                <a:cs typeface="Times New Roman" panose="02020603050405020304" pitchFamily="18" charset="0"/>
              </a:rPr>
              <a:t>Software Testing Fundamentals</a:t>
            </a:r>
          </a:p>
        </p:txBody>
      </p:sp>
      <p:sp>
        <p:nvSpPr>
          <p:cNvPr id="3" name="Content Placeholder 2"/>
          <p:cNvSpPr>
            <a:spLocks noGrp="1"/>
          </p:cNvSpPr>
          <p:nvPr>
            <p:ph idx="1"/>
          </p:nvPr>
        </p:nvSpPr>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Test Analyst Lead</a:t>
            </a:r>
          </a:p>
          <a:p>
            <a:pPr algn="just"/>
            <a:r>
              <a:rPr lang="en-US" dirty="0">
                <a:latin typeface="Times New Roman" panose="02020603050405020304" pitchFamily="18" charset="0"/>
                <a:cs typeface="Times New Roman" panose="02020603050405020304" pitchFamily="18" charset="0"/>
              </a:rPr>
              <a:t> Responsible for planning, developing and executing automated test systems, manual test plans and regressions test plans. </a:t>
            </a:r>
          </a:p>
          <a:p>
            <a:pPr algn="just"/>
            <a:r>
              <a:rPr lang="en-US" dirty="0">
                <a:latin typeface="Times New Roman" panose="02020603050405020304" pitchFamily="18" charset="0"/>
                <a:cs typeface="Times New Roman" panose="02020603050405020304" pitchFamily="18" charset="0"/>
              </a:rPr>
              <a:t> Identifying the Target Test Items to be evaluated by the test effort </a:t>
            </a:r>
          </a:p>
          <a:p>
            <a:pPr algn="just"/>
            <a:r>
              <a:rPr lang="en-US" dirty="0">
                <a:latin typeface="Times New Roman" panose="02020603050405020304" pitchFamily="18" charset="0"/>
                <a:cs typeface="Times New Roman" panose="02020603050405020304" pitchFamily="18" charset="0"/>
              </a:rPr>
              <a:t> Defining the appropriate tests required and any associated Test Data </a:t>
            </a:r>
          </a:p>
          <a:p>
            <a:pPr algn="just"/>
            <a:r>
              <a:rPr lang="en-US" dirty="0">
                <a:latin typeface="Times New Roman" panose="02020603050405020304" pitchFamily="18" charset="0"/>
                <a:cs typeface="Times New Roman" panose="02020603050405020304" pitchFamily="18" charset="0"/>
              </a:rPr>
              <a:t>Gathering and managing the Test Data </a:t>
            </a:r>
          </a:p>
          <a:p>
            <a:pPr algn="just"/>
            <a:r>
              <a:rPr lang="en-US" dirty="0">
                <a:latin typeface="Times New Roman" panose="02020603050405020304" pitchFamily="18" charset="0"/>
                <a:cs typeface="Times New Roman" panose="02020603050405020304" pitchFamily="18" charset="0"/>
              </a:rPr>
              <a:t>Evaluating the outcome of each test cycle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Footer Placeholder 9">
            <a:extLst>
              <a:ext uri="{FF2B5EF4-FFF2-40B4-BE49-F238E27FC236}">
                <a16:creationId xmlns:a16="http://schemas.microsoft.com/office/drawing/2014/main" id="{B64312ED-311A-885D-B3E1-628A297C7B5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lstStyle/>
          <a:p>
            <a:r>
              <a:rPr lang="en-US" dirty="0">
                <a:latin typeface="Times New Roman" panose="02020603050405020304" pitchFamily="18" charset="0"/>
                <a:cs typeface="Times New Roman" panose="02020603050405020304" pitchFamily="18" charset="0"/>
              </a:rPr>
              <a:t>Software Testing Fundamentals</a:t>
            </a:r>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Test Engineer</a:t>
            </a:r>
          </a:p>
          <a:p>
            <a:r>
              <a:rPr lang="en-US" dirty="0">
                <a:latin typeface="Times New Roman" panose="02020603050405020304" pitchFamily="18" charset="0"/>
                <a:cs typeface="Times New Roman" panose="02020603050405020304" pitchFamily="18" charset="0"/>
              </a:rPr>
              <a:t>Writing and executing test cases and Reporting defects </a:t>
            </a:r>
          </a:p>
          <a:p>
            <a:r>
              <a:rPr lang="en-US" dirty="0">
                <a:latin typeface="Times New Roman" panose="02020603050405020304" pitchFamily="18" charset="0"/>
                <a:cs typeface="Times New Roman" panose="02020603050405020304" pitchFamily="18" charset="0"/>
              </a:rPr>
              <a:t>Test engineers are also responsible for determining the best way a test can be performed in order to achieve 100% test coverage of all components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Footer Placeholder 9">
            <a:extLst>
              <a:ext uri="{FF2B5EF4-FFF2-40B4-BE49-F238E27FC236}">
                <a16:creationId xmlns:a16="http://schemas.microsoft.com/office/drawing/2014/main" id="{08A4BD95-7A4B-5D81-8907-B1D7EBD6FA7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lstStyle/>
          <a:p>
            <a:r>
              <a:rPr lang="en-US" dirty="0">
                <a:latin typeface="Times New Roman" panose="02020603050405020304" pitchFamily="18" charset="0"/>
                <a:cs typeface="Times New Roman" panose="02020603050405020304" pitchFamily="18" charset="0"/>
              </a:rPr>
              <a:t>Software Testing Strategies</a:t>
            </a:r>
          </a:p>
        </p:txBody>
      </p:sp>
      <p:sp>
        <p:nvSpPr>
          <p:cNvPr id="3" name="Content Placeholder 2"/>
          <p:cNvSpPr>
            <a:spLocks noGrp="1"/>
          </p:cNvSpPr>
          <p:nvPr>
            <p:ph idx="1"/>
          </p:nvPr>
        </p:nvSpPr>
        <p:spPr/>
        <p:txBody>
          <a:bodyPr/>
          <a:lstStyle/>
          <a:p>
            <a:pPr fontAlgn="base"/>
            <a:endParaRPr lang="en-US" dirty="0"/>
          </a:p>
          <a:p>
            <a:pPr algn="just" fontAlgn="base"/>
            <a:r>
              <a:rPr lang="en-US" dirty="0">
                <a:latin typeface="Times New Roman" panose="02020603050405020304" pitchFamily="18" charset="0"/>
                <a:cs typeface="Times New Roman" panose="02020603050405020304" pitchFamily="18" charset="0"/>
              </a:rPr>
              <a:t>Software testing or Quality Assurance strategies describe how to mitigate product risks of stakeholders at the test level, which kinds of testing are to be done and which entry and exit criteria will apply. </a:t>
            </a:r>
          </a:p>
          <a:p>
            <a:pPr algn="just" fontAlgn="base"/>
            <a:endParaRPr lang="en-US" dirty="0">
              <a:latin typeface="Times New Roman" panose="02020603050405020304" pitchFamily="18" charset="0"/>
              <a:cs typeface="Times New Roman" panose="02020603050405020304" pitchFamily="18" charset="0"/>
            </a:endParaRPr>
          </a:p>
          <a:p>
            <a:pPr algn="just" fontAlgn="base"/>
            <a:r>
              <a:rPr lang="en-US" dirty="0">
                <a:latin typeface="Times New Roman" panose="02020603050405020304" pitchFamily="18" charset="0"/>
                <a:cs typeface="Times New Roman" panose="02020603050405020304" pitchFamily="18" charset="0"/>
              </a:rPr>
              <a:t>They’re made based on development design documents.</a:t>
            </a:r>
          </a:p>
          <a:p>
            <a:pPr>
              <a:buNone/>
            </a:pP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5" name="Footer Placeholder 9">
            <a:extLst>
              <a:ext uri="{FF2B5EF4-FFF2-40B4-BE49-F238E27FC236}">
                <a16:creationId xmlns:a16="http://schemas.microsoft.com/office/drawing/2014/main" id="{362AB6B2-7DB5-C2A4-7F1E-A35148EEA7B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fontScale="90000"/>
          </a:bodyPr>
          <a:lstStyle/>
          <a:p>
            <a:r>
              <a:rPr lang="en-US" sz="3600" b="1" dirty="0">
                <a:latin typeface="Times New Roman" panose="02020603050405020304" pitchFamily="18" charset="0"/>
                <a:cs typeface="Times New Roman" panose="02020603050405020304" pitchFamily="18" charset="0"/>
              </a:rPr>
              <a:t>FACTORS TO CONSIDER IN CHOOSING SOFTWARE TESTING STRATEGIES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530725"/>
          </a:xfrm>
        </p:spPr>
        <p:txBody>
          <a:bodyPr>
            <a:normAutofit lnSpcReduction="10000"/>
          </a:bodyPr>
          <a:lstStyle/>
          <a:p>
            <a:pPr algn="just" fontAlgn="base"/>
            <a:r>
              <a:rPr lang="en-US" b="1" dirty="0">
                <a:latin typeface="Times New Roman" panose="02020603050405020304" pitchFamily="18" charset="0"/>
                <a:cs typeface="Times New Roman" panose="02020603050405020304" pitchFamily="18" charset="0"/>
              </a:rPr>
              <a:t>RISKS.</a:t>
            </a:r>
            <a:r>
              <a:rPr lang="en-US" dirty="0">
                <a:latin typeface="Times New Roman" panose="02020603050405020304" pitchFamily="18" charset="0"/>
                <a:cs typeface="Times New Roman" panose="02020603050405020304" pitchFamily="18" charset="0"/>
              </a:rPr>
              <a:t> Risk management is paramount during testing, thus consider the risks and the risk level. </a:t>
            </a:r>
          </a:p>
          <a:p>
            <a:pPr algn="just" fontAlgn="base"/>
            <a:r>
              <a:rPr lang="en-US" dirty="0">
                <a:latin typeface="Times New Roman" panose="02020603050405020304" pitchFamily="18" charset="0"/>
                <a:cs typeface="Times New Roman" panose="02020603050405020304" pitchFamily="18" charset="0"/>
              </a:rPr>
              <a:t>For an app that is well-established that’s slowly evolving, regression is a critical risk. </a:t>
            </a:r>
          </a:p>
          <a:p>
            <a:pPr algn="just" fontAlgn="base"/>
            <a:r>
              <a:rPr lang="en-US" dirty="0">
                <a:latin typeface="Times New Roman" panose="02020603050405020304" pitchFamily="18" charset="0"/>
                <a:cs typeface="Times New Roman" panose="02020603050405020304" pitchFamily="18" charset="0"/>
              </a:rPr>
              <a:t>That is why regression-averse strategies make a lot of sense.</a:t>
            </a:r>
          </a:p>
          <a:p>
            <a:pPr algn="just" fontAlgn="base"/>
            <a:r>
              <a:rPr lang="en-US" dirty="0">
                <a:latin typeface="Times New Roman" panose="02020603050405020304" pitchFamily="18" charset="0"/>
                <a:cs typeface="Times New Roman" panose="02020603050405020304" pitchFamily="18" charset="0"/>
              </a:rPr>
              <a:t> For a new app, a risk analysis could reveal various risks if choosing a risk-based analytical strategy.</a:t>
            </a:r>
          </a:p>
          <a:p>
            <a:pPr algn="just" fontAlgn="base"/>
            <a:r>
              <a:rPr lang="en-US" b="1" dirty="0">
                <a:latin typeface="Times New Roman" panose="02020603050405020304" pitchFamily="18" charset="0"/>
                <a:cs typeface="Times New Roman" panose="02020603050405020304" pitchFamily="18" charset="0"/>
              </a:rPr>
              <a:t>OBJECTIVES. </a:t>
            </a:r>
            <a:r>
              <a:rPr lang="en-US" dirty="0">
                <a:latin typeface="Times New Roman" panose="02020603050405020304" pitchFamily="18" charset="0"/>
                <a:cs typeface="Times New Roman" panose="02020603050405020304" pitchFamily="18" charset="0"/>
              </a:rPr>
              <a:t>Testing should satisfy the requirements and needs of stakeholders to succeed. If the objective is to look for as many defects as possible with less up-front time and effort invested, a dynamic strategy makes sense.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5" name="Footer Placeholder 9">
            <a:extLst>
              <a:ext uri="{FF2B5EF4-FFF2-40B4-BE49-F238E27FC236}">
                <a16:creationId xmlns:a16="http://schemas.microsoft.com/office/drawing/2014/main" id="{E416C713-5DE8-A228-D2FF-DE7EA3D59F8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r>
              <a:rPr lang="en-US" sz="3600" b="1" dirty="0">
                <a:latin typeface="Times New Roman" panose="02020603050405020304" pitchFamily="18" charset="0"/>
                <a:cs typeface="Times New Roman" panose="02020603050405020304" pitchFamily="18" charset="0"/>
              </a:rPr>
              <a:t>FACTORS TO CONSIDER IN CHOOSING SOFTWARE TESTING STRATEGIES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022437"/>
            <a:ext cx="10515600" cy="4470438"/>
          </a:xfrm>
        </p:spPr>
        <p:txBody>
          <a:bodyPr>
            <a:normAutofit fontScale="92500" lnSpcReduction="10000"/>
          </a:bodyPr>
          <a:lstStyle/>
          <a:p>
            <a:pPr algn="just" fontAlgn="base"/>
            <a:r>
              <a:rPr lang="en-US" b="1" dirty="0">
                <a:latin typeface="Times New Roman" panose="02020603050405020304" pitchFamily="18" charset="0"/>
                <a:cs typeface="Times New Roman" panose="02020603050405020304" pitchFamily="18" charset="0"/>
              </a:rPr>
              <a:t>SKILLS. </a:t>
            </a:r>
            <a:r>
              <a:rPr lang="en-US" dirty="0">
                <a:latin typeface="Times New Roman" panose="02020603050405020304" pitchFamily="18" charset="0"/>
                <a:cs typeface="Times New Roman" panose="02020603050405020304" pitchFamily="18" charset="0"/>
              </a:rPr>
              <a:t>Take into consideration which skills the testers possess and lack, since strategies should not only be chosen but executed as well.</a:t>
            </a:r>
          </a:p>
          <a:p>
            <a:pPr algn="just" fontAlgn="base"/>
            <a:r>
              <a:rPr lang="en-US" dirty="0">
                <a:latin typeface="Times New Roman" panose="02020603050405020304" pitchFamily="18" charset="0"/>
                <a:cs typeface="Times New Roman" panose="02020603050405020304" pitchFamily="18" charset="0"/>
              </a:rPr>
              <a:t> A standard compliant strategy is a smart option when lacking skills and time in the team to create an approach.</a:t>
            </a:r>
          </a:p>
          <a:p>
            <a:pPr algn="just" fontAlgn="base"/>
            <a:r>
              <a:rPr lang="en-US" b="1" dirty="0">
                <a:latin typeface="Times New Roman" panose="02020603050405020304" pitchFamily="18" charset="0"/>
                <a:cs typeface="Times New Roman" panose="02020603050405020304" pitchFamily="18" charset="0"/>
              </a:rPr>
              <a:t>PRODUCT. </a:t>
            </a:r>
            <a:r>
              <a:rPr lang="en-US" dirty="0">
                <a:latin typeface="Times New Roman" panose="02020603050405020304" pitchFamily="18" charset="0"/>
                <a:cs typeface="Times New Roman" panose="02020603050405020304" pitchFamily="18" charset="0"/>
              </a:rPr>
              <a:t>Some products such as contract development software and weapons systems tend to have requirements that are well-specified.</a:t>
            </a:r>
          </a:p>
          <a:p>
            <a:pPr algn="just" fontAlgn="base"/>
            <a:r>
              <a:rPr lang="en-US" dirty="0">
                <a:latin typeface="Times New Roman" panose="02020603050405020304" pitchFamily="18" charset="0"/>
                <a:cs typeface="Times New Roman" panose="02020603050405020304" pitchFamily="18" charset="0"/>
              </a:rPr>
              <a:t> This could lead to synergy with an analytical strategy that is requirements-based.</a:t>
            </a:r>
          </a:p>
          <a:p>
            <a:pPr algn="just" fontAlgn="base"/>
            <a:r>
              <a:rPr lang="en-US" b="1" dirty="0">
                <a:latin typeface="Times New Roman" panose="02020603050405020304" pitchFamily="18" charset="0"/>
                <a:cs typeface="Times New Roman" panose="02020603050405020304" pitchFamily="18" charset="0"/>
              </a:rPr>
              <a:t>BUSINESS. </a:t>
            </a:r>
            <a:r>
              <a:rPr lang="en-US" dirty="0">
                <a:latin typeface="Times New Roman" panose="02020603050405020304" pitchFamily="18" charset="0"/>
                <a:cs typeface="Times New Roman" panose="02020603050405020304" pitchFamily="18" charset="0"/>
              </a:rPr>
              <a:t>Business considerations and strategy are often important. </a:t>
            </a:r>
          </a:p>
          <a:p>
            <a:pPr algn="just" fontAlgn="base"/>
            <a:r>
              <a:rPr lang="en-US" dirty="0">
                <a:latin typeface="Times New Roman" panose="02020603050405020304" pitchFamily="18" charset="0"/>
                <a:cs typeface="Times New Roman" panose="02020603050405020304" pitchFamily="18" charset="0"/>
              </a:rPr>
              <a:t>If using a legacy system as a model for a new one, one could use a model-based strategy.</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5" name="Footer Placeholder 9">
            <a:extLst>
              <a:ext uri="{FF2B5EF4-FFF2-40B4-BE49-F238E27FC236}">
                <a16:creationId xmlns:a16="http://schemas.microsoft.com/office/drawing/2014/main" id="{71D27E49-0CB9-0D75-5F22-AAAAE236B46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1197590"/>
          </a:xfrm>
        </p:spPr>
        <p:txBody>
          <a:bodyPr>
            <a:normAutofit/>
          </a:bodyPr>
          <a:lstStyle/>
          <a:p>
            <a:r>
              <a:rPr lang="en-US" sz="3600" b="1" dirty="0">
                <a:latin typeface="Times New Roman" panose="02020603050405020304" pitchFamily="18" charset="0"/>
                <a:cs typeface="Times New Roman" panose="02020603050405020304" pitchFamily="18" charset="0"/>
              </a:rPr>
              <a:t>FACTORS TO CONSIDER IN CHOOSING SOFTWARE TESTING STRATEGIES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259105"/>
            <a:ext cx="10515600" cy="3917857"/>
          </a:xfrm>
        </p:spPr>
        <p:txBody>
          <a:bodyPr/>
          <a:lstStyle/>
          <a:p>
            <a:pPr algn="just"/>
            <a:r>
              <a:rPr lang="en-US" b="1" dirty="0">
                <a:latin typeface="Times New Roman" panose="02020603050405020304" pitchFamily="18" charset="0"/>
                <a:cs typeface="Times New Roman" panose="02020603050405020304" pitchFamily="18" charset="0"/>
              </a:rPr>
              <a:t>REGULATIONS. </a:t>
            </a:r>
            <a:r>
              <a:rPr lang="en-US" dirty="0">
                <a:latin typeface="Times New Roman" panose="02020603050405020304" pitchFamily="18" charset="0"/>
                <a:cs typeface="Times New Roman" panose="02020603050405020304" pitchFamily="18" charset="0"/>
              </a:rPr>
              <a:t>At some instances, one may not only have to satisfy stakeholders, but regulators as well. </a:t>
            </a:r>
          </a:p>
          <a:p>
            <a:pPr algn="just"/>
            <a:r>
              <a:rPr lang="en-US" dirty="0">
                <a:latin typeface="Times New Roman" panose="02020603050405020304" pitchFamily="18" charset="0"/>
                <a:cs typeface="Times New Roman" panose="02020603050405020304" pitchFamily="18" charset="0"/>
              </a:rPr>
              <a:t>In this case, one may require a methodical strategy which satisfies these regulators.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Footer Placeholder 9">
            <a:extLst>
              <a:ext uri="{FF2B5EF4-FFF2-40B4-BE49-F238E27FC236}">
                <a16:creationId xmlns:a16="http://schemas.microsoft.com/office/drawing/2014/main" id="{EF6D9FE0-E07B-BBB5-BAB5-B8172EDDC7E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a:bodyPr>
          <a:lstStyle/>
          <a:p>
            <a:r>
              <a:rPr lang="en-US" sz="3600" b="1" dirty="0">
                <a:latin typeface="Times New Roman" panose="02020603050405020304" pitchFamily="18" charset="0"/>
                <a:cs typeface="Times New Roman" panose="02020603050405020304" pitchFamily="18" charset="0"/>
              </a:rPr>
              <a:t>STRATEGY IN SOFTWARE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main objective of software testing is to </a:t>
            </a:r>
            <a:r>
              <a:rPr lang="en-US" b="1" dirty="0">
                <a:latin typeface="Times New Roman" panose="02020603050405020304" pitchFamily="18" charset="0"/>
                <a:cs typeface="Times New Roman" panose="02020603050405020304" pitchFamily="18" charset="0"/>
              </a:rPr>
              <a:t>design the tests in such a way that it systematically finds different types of errors without taking much time and effort so that less time is required </a:t>
            </a:r>
            <a:r>
              <a:rPr lang="en-US" dirty="0">
                <a:latin typeface="Times New Roman" panose="02020603050405020304" pitchFamily="18" charset="0"/>
                <a:cs typeface="Times New Roman" panose="02020603050405020304" pitchFamily="18" charset="0"/>
              </a:rPr>
              <a:t>for the development of the software.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
        <p:nvSpPr>
          <p:cNvPr id="5" name="Footer Placeholder 9">
            <a:extLst>
              <a:ext uri="{FF2B5EF4-FFF2-40B4-BE49-F238E27FC236}">
                <a16:creationId xmlns:a16="http://schemas.microsoft.com/office/drawing/2014/main" id="{76FFC5A7-6602-4EF4-77E3-55359571238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785308"/>
          </a:xfrm>
        </p:spPr>
        <p:txBody>
          <a:bodyPr>
            <a:normAutofit/>
          </a:bodyPr>
          <a:lstStyle/>
          <a:p>
            <a:r>
              <a:rPr lang="en-US" sz="3600" b="1" dirty="0">
                <a:latin typeface="Times New Roman" panose="02020603050405020304" pitchFamily="18" charset="0"/>
                <a:cs typeface="Times New Roman" panose="02020603050405020304" pitchFamily="18" charset="0"/>
              </a:rPr>
              <a:t>STRATEGY IN SOFTWARE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70616"/>
            <a:ext cx="10515600" cy="4606347"/>
          </a:xfrm>
        </p:spPr>
        <p:txBody>
          <a:bodyPr/>
          <a:lstStyle/>
          <a:p>
            <a:pPr fontAlgn="base"/>
            <a:r>
              <a:rPr lang="en-US" dirty="0"/>
              <a:t>The overall strategy for testing software includes:</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pic>
        <p:nvPicPr>
          <p:cNvPr id="64514" name="Picture 2" descr="https://media.geeksforgeeks.org/wp-content/uploads/20200605230034/Untitled226-1.png"/>
          <p:cNvPicPr>
            <a:picLocks noChangeAspect="1" noChangeArrowheads="1"/>
          </p:cNvPicPr>
          <p:nvPr/>
        </p:nvPicPr>
        <p:blipFill>
          <a:blip r:embed="rId2"/>
          <a:srcRect/>
          <a:stretch>
            <a:fillRect/>
          </a:stretch>
        </p:blipFill>
        <p:spPr bwMode="auto">
          <a:xfrm>
            <a:off x="914400" y="2263775"/>
            <a:ext cx="9165515" cy="4092575"/>
          </a:xfrm>
          <a:prstGeom prst="rect">
            <a:avLst/>
          </a:prstGeom>
          <a:noFill/>
        </p:spPr>
      </p:pic>
      <p:sp>
        <p:nvSpPr>
          <p:cNvPr id="5" name="Footer Placeholder 9">
            <a:extLst>
              <a:ext uri="{FF2B5EF4-FFF2-40B4-BE49-F238E27FC236}">
                <a16:creationId xmlns:a16="http://schemas.microsoft.com/office/drawing/2014/main" id="{C30A3C14-EAE6-E1FD-463C-386DF851B3E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pPr algn="ctr"/>
            <a:r>
              <a:rPr lang="en-US" sz="3600" b="1" dirty="0">
                <a:latin typeface="Times New Roman" panose="02020603050405020304" pitchFamily="18" charset="0"/>
                <a:cs typeface="Times New Roman" panose="02020603050405020304" pitchFamily="18" charset="0"/>
              </a:rPr>
              <a:t>STRATEGY IN SOFTWARE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lgn="just" fontAlgn="base"/>
            <a:r>
              <a:rPr lang="en-US" b="1" dirty="0">
                <a:latin typeface="Times New Roman" panose="02020603050405020304" pitchFamily="18" charset="0"/>
                <a:cs typeface="Times New Roman" panose="02020603050405020304" pitchFamily="18" charset="0"/>
              </a:rPr>
              <a:t>Before testing starts, it’s necessary to identify and specify the requirements of the product in a quantifiable manner: </a:t>
            </a:r>
            <a:r>
              <a:rPr lang="en-US" dirty="0">
                <a:latin typeface="Times New Roman" panose="02020603050405020304" pitchFamily="18" charset="0"/>
                <a:cs typeface="Times New Roman" panose="02020603050405020304" pitchFamily="18" charset="0"/>
              </a:rPr>
              <a:t>Different characteristics quality of the software is there such as maintainability that means the ability to update and modify, the probability that means to find and estimate any risk, and usability that means how it can easily be used by the customers or end-users. All these characteristic qualities should be specified in a particular order to obtain clear test results without any error.</a:t>
            </a:r>
          </a:p>
          <a:p>
            <a:pPr algn="just" fontAlgn="base"/>
            <a:endParaRPr lang="en-US" b="1" dirty="0">
              <a:latin typeface="Times New Roman" panose="02020603050405020304" pitchFamily="18" charset="0"/>
              <a:cs typeface="Times New Roman" panose="02020603050405020304" pitchFamily="18" charset="0"/>
            </a:endParaRPr>
          </a:p>
          <a:p>
            <a:pPr algn="just" fontAlgn="base"/>
            <a:r>
              <a:rPr lang="en-US" b="1" dirty="0">
                <a:latin typeface="Times New Roman" panose="02020603050405020304" pitchFamily="18" charset="0"/>
                <a:cs typeface="Times New Roman" panose="02020603050405020304" pitchFamily="18" charset="0"/>
              </a:rPr>
              <a:t>Specifying the objectives of testing in a clear and detailed manner.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Several objectives of testing are there such as effectiveness that means how effectively the software can achieve the target, any failure that means inability to fulfill the requirements and perform functions, and the cost of defects or errors that mean the cost required to fix the error. All these objectives should be clearly mentioned in the test plan.</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
        <p:nvSpPr>
          <p:cNvPr id="5" name="Footer Placeholder 9">
            <a:extLst>
              <a:ext uri="{FF2B5EF4-FFF2-40B4-BE49-F238E27FC236}">
                <a16:creationId xmlns:a16="http://schemas.microsoft.com/office/drawing/2014/main" id="{85DD98F2-A5AB-A4E0-CD64-91A9870C971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a:bodyPr>
          <a:lstStyle/>
          <a:p>
            <a:pPr algn="ctr"/>
            <a:r>
              <a:rPr lang="en-US" sz="3600" b="1" dirty="0">
                <a:latin typeface="Times New Roman" panose="02020603050405020304" pitchFamily="18" charset="0"/>
                <a:cs typeface="Times New Roman" panose="02020603050405020304" pitchFamily="18" charset="0"/>
              </a:rPr>
              <a:t>STRATEGY IN SOFTWARE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pPr fontAlgn="base"/>
            <a:r>
              <a:rPr lang="en-US" b="1" dirty="0">
                <a:latin typeface="Times New Roman" panose="02020603050405020304" pitchFamily="18" charset="0"/>
                <a:cs typeface="Times New Roman" panose="02020603050405020304" pitchFamily="18" charset="0"/>
              </a:rPr>
              <a:t>For the software, identifying the user’s category and developing a profile for each user.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 cases describe the interactions and communication among different classes of users and the system to achieve the target. So as to identify the actual requirement of the users and then testing the actual use of the product.</a:t>
            </a:r>
          </a:p>
          <a:p>
            <a:pPr fontAlgn="base"/>
            <a:r>
              <a:rPr lang="en-US" b="1" dirty="0">
                <a:latin typeface="Times New Roman" panose="02020603050405020304" pitchFamily="18" charset="0"/>
                <a:cs typeface="Times New Roman" panose="02020603050405020304" pitchFamily="18" charset="0"/>
              </a:rPr>
              <a:t>Developing a test plan to give value and focus on rapid-cycle testing.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Rapid Cycle Testing is a type of test that improves quality by identifying and measuring the any changes that need to be required for improving the process of software. Therefore, a test plan is an important and effective document that helps the tester to perform rapid cycle testing.</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
        <p:nvSpPr>
          <p:cNvPr id="5" name="Footer Placeholder 9">
            <a:extLst>
              <a:ext uri="{FF2B5EF4-FFF2-40B4-BE49-F238E27FC236}">
                <a16:creationId xmlns:a16="http://schemas.microsoft.com/office/drawing/2014/main" id="{88611FD9-52CE-E912-DDEA-3827ACDD5B2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5"/>
            <a:ext cx="10515600" cy="797803"/>
          </a:xfrm>
        </p:spPr>
        <p:txBody>
          <a:bodyPr>
            <a:normAutofit/>
          </a:bodyPr>
          <a:lstStyle/>
          <a:p>
            <a:pPr algn="ctr"/>
            <a:r>
              <a:rPr lang="en-US" sz="3600" b="1" dirty="0">
                <a:latin typeface="Times New Roman" panose="02020603050405020304" pitchFamily="18" charset="0"/>
                <a:cs typeface="Times New Roman" panose="02020603050405020304" pitchFamily="18" charset="0"/>
              </a:rPr>
              <a:t>STRATEGY IN SOFTWARE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pPr algn="just" fontAlgn="base"/>
            <a:r>
              <a:rPr lang="en-US" b="1" dirty="0">
                <a:latin typeface="Times New Roman" panose="02020603050405020304" pitchFamily="18" charset="0"/>
                <a:cs typeface="Times New Roman" panose="02020603050405020304" pitchFamily="18" charset="0"/>
              </a:rPr>
              <a:t>Robust software is developed that is designed to test itself.</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software should be capable of detecting or identifying different classes of errors. Moreover, software design should allow automated and regression testing which tests the software to find out if there is any adverse or side effect on the features of software due to any change in code or program.</a:t>
            </a:r>
          </a:p>
          <a:p>
            <a:pPr algn="just" fontAlgn="base"/>
            <a:r>
              <a:rPr lang="en-US" b="1" dirty="0">
                <a:latin typeface="Times New Roman" panose="02020603050405020304" pitchFamily="18" charset="0"/>
                <a:cs typeface="Times New Roman" panose="02020603050405020304" pitchFamily="18" charset="0"/>
              </a:rPr>
              <a:t>Before testing, using effective formal reviews as a filter.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Formal technical reviews is technique to identify the errors that are not discovered yet. The effective technical reviews conducted before testing reduces a significant amount of testing efforts and time duration required for testing software so that the overall development time of software is reduced.</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
        <p:nvSpPr>
          <p:cNvPr id="5" name="Footer Placeholder 9">
            <a:extLst>
              <a:ext uri="{FF2B5EF4-FFF2-40B4-BE49-F238E27FC236}">
                <a16:creationId xmlns:a16="http://schemas.microsoft.com/office/drawing/2014/main" id="{EAB2D34E-EE2F-1DBD-F4C0-3488BA9D2F9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pPr algn="ctr"/>
            <a:r>
              <a:rPr lang="en-US" sz="3600" b="1" dirty="0">
                <a:latin typeface="Times New Roman" panose="02020603050405020304" pitchFamily="18" charset="0"/>
                <a:cs typeface="Times New Roman" panose="02020603050405020304" pitchFamily="18" charset="0"/>
              </a:rPr>
              <a:t>STRATEGY IN SOFTWARE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fontAlgn="base"/>
            <a:r>
              <a:rPr lang="en-US" sz="2400" b="1" dirty="0">
                <a:latin typeface="Times New Roman" panose="02020603050405020304" pitchFamily="18" charset="0"/>
                <a:cs typeface="Times New Roman" pitchFamily="18" charset="0"/>
              </a:rPr>
              <a:t>Conduct formal technical reviews to evaluate the nature, quality or ability of the test strategy and test cases.</a:t>
            </a:r>
          </a:p>
          <a:p>
            <a:pPr algn="just" fontAlgn="base">
              <a:buNone/>
            </a:pPr>
            <a:br>
              <a:rPr lang="en-US" sz="2400" dirty="0">
                <a:latin typeface="Times New Roman" panose="02020603050405020304" pitchFamily="18" charset="0"/>
                <a:cs typeface="Times New Roman" pitchFamily="18" charset="0"/>
              </a:rPr>
            </a:br>
            <a:r>
              <a:rPr lang="en-US" sz="2400" dirty="0">
                <a:latin typeface="Times New Roman" panose="02020603050405020304" pitchFamily="18" charset="0"/>
                <a:cs typeface="Times New Roman" pitchFamily="18" charset="0"/>
              </a:rPr>
              <a:t>The formal technical review helps in detecting any unfilled gap in the testing approach. Hence, it is necessary to evaluate the ability and quality of the test strategy and test cases by technical reviewers to improve the quality of software.</a:t>
            </a:r>
          </a:p>
          <a:p>
            <a:pPr algn="just" fontAlgn="base"/>
            <a:r>
              <a:rPr lang="en-US" sz="2400" b="1" dirty="0">
                <a:latin typeface="Times New Roman" panose="02020603050405020304" pitchFamily="18" charset="0"/>
                <a:cs typeface="Times New Roman" pitchFamily="18" charset="0"/>
              </a:rPr>
              <a:t>For the testing process, developing a approach for the continuous development.</a:t>
            </a:r>
          </a:p>
          <a:p>
            <a:pPr algn="just" fontAlgn="base">
              <a:buNone/>
            </a:pP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As a part of a statistical process control approach, a test strategy that is already measured should be used for software testing to measure and control the quality during the development of software.</a:t>
            </a:r>
          </a:p>
          <a:p>
            <a:pPr algn="just">
              <a:buNone/>
            </a:pP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
        <p:nvSpPr>
          <p:cNvPr id="5" name="Footer Placeholder 9">
            <a:extLst>
              <a:ext uri="{FF2B5EF4-FFF2-40B4-BE49-F238E27FC236}">
                <a16:creationId xmlns:a16="http://schemas.microsoft.com/office/drawing/2014/main" id="{4503B874-DEC0-DA56-55B5-57375643DFD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https://www.geeksforgeeks.org/software-testing-strategies/</a:t>
            </a:r>
            <a:endParaRPr lang="en-US" dirty="0"/>
          </a:p>
          <a:p>
            <a:r>
              <a:rPr lang="en-US" dirty="0">
                <a:hlinkClick r:id="rId3"/>
              </a:rPr>
              <a:t>https://www.browserstack.com/guide/software-testing-strategies-and-approaches</a:t>
            </a:r>
            <a:endParaRPr lang="en-US" dirty="0"/>
          </a:p>
          <a:p>
            <a:r>
              <a:rPr lang="en-US" dirty="0">
                <a:hlinkClick r:id="rId4"/>
              </a:rPr>
              <a:t>https://www.slideshare.net/Chankey007/software-testing-6644248</a:t>
            </a:r>
            <a:endParaRPr lang="en-US" dirty="0"/>
          </a:p>
          <a:p>
            <a:r>
              <a:rPr lang="en-US" dirty="0">
                <a:hlinkClick r:id="rId5"/>
              </a:rPr>
              <a:t>https://www.tutorialspoint.com/software_engineering/software_testing_overview.htm</a:t>
            </a:r>
            <a:endParaRPr lang="en-US" dirty="0"/>
          </a:p>
          <a:p>
            <a:r>
              <a:rPr lang="en-US" dirty="0">
                <a:hlinkClick r:id="rId6"/>
              </a:rPr>
              <a:t>https://www.geeksforgeeks.org/software-testing-basics/</a:t>
            </a:r>
            <a:endParaRPr lang="en-US" dirty="0"/>
          </a:p>
          <a:p>
            <a:pPr>
              <a:buNone/>
            </a:pP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39096"/>
            <a:ext cx="10515600" cy="85159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31</a:t>
            </a:fld>
            <a:endParaRPr lang="en-US"/>
          </a:p>
        </p:txBody>
      </p:sp>
      <p:sp>
        <p:nvSpPr>
          <p:cNvPr id="2" name="Footer Placeholder 9">
            <a:extLst>
              <a:ext uri="{FF2B5EF4-FFF2-40B4-BE49-F238E27FC236}">
                <a16:creationId xmlns:a16="http://schemas.microsoft.com/office/drawing/2014/main" id="{499BE258-A1A7-DD96-5B57-7B9D68EA53D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32</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DA2AA0F9-EA9A-1FBC-1979-C56B9B9EB52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1736</TotalTime>
  <Words>2500</Words>
  <Application>Microsoft Macintosh PowerPoint</Application>
  <PresentationFormat>Widescreen</PresentationFormat>
  <Paragraphs>194</Paragraphs>
  <Slides>32</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42" baseType="lpstr">
      <vt:lpstr>Arial</vt:lpstr>
      <vt:lpstr>Arial Black</vt:lpstr>
      <vt:lpstr>Calibri</vt:lpstr>
      <vt:lpstr>Calibri Light</vt:lpstr>
      <vt:lpstr>Casper</vt:lpstr>
      <vt:lpstr>Helvetica</vt:lpstr>
      <vt:lpstr>Times New Roman</vt:lpstr>
      <vt:lpstr>1_Office Theme</vt:lpstr>
      <vt:lpstr>Contents Slide Master</vt:lpstr>
      <vt:lpstr>CorelDRAW</vt:lpstr>
      <vt:lpstr>PowerPoint Presentation</vt:lpstr>
      <vt:lpstr>Chapter-7 Software Testing</vt:lpstr>
      <vt:lpstr>Software Testing Fundamentals</vt:lpstr>
      <vt:lpstr>Software Testing Fundamentals</vt:lpstr>
      <vt:lpstr>PowerPoint Presentation</vt:lpstr>
      <vt:lpstr>Software Testing Fundamentals</vt:lpstr>
      <vt:lpstr>Testing Strategy:</vt:lpstr>
      <vt:lpstr>PowerPoint Presentation</vt:lpstr>
      <vt:lpstr>Software Testing Steps:</vt:lpstr>
      <vt:lpstr>Unit Testing:</vt:lpstr>
      <vt:lpstr>Integration Testing:</vt:lpstr>
      <vt:lpstr>Validation Testing</vt:lpstr>
      <vt:lpstr>System Testing</vt:lpstr>
      <vt:lpstr>Software Testing Fundamentals</vt:lpstr>
      <vt:lpstr>Software Testing Fundamentals</vt:lpstr>
      <vt:lpstr>Software Testing Fundamentals</vt:lpstr>
      <vt:lpstr>Software Testing Fundamentals</vt:lpstr>
      <vt:lpstr>Software Testing Fundamentals</vt:lpstr>
      <vt:lpstr>Software Testing Fundamentals</vt:lpstr>
      <vt:lpstr>Software Testing Fundamentals</vt:lpstr>
      <vt:lpstr>Software Testing Strategies</vt:lpstr>
      <vt:lpstr>FACTORS TO CONSIDER IN CHOOSING SOFTWARE TESTING STRATEGIES</vt:lpstr>
      <vt:lpstr>FACTORS TO CONSIDER IN CHOOSING SOFTWARE TESTING STRATEGIES</vt:lpstr>
      <vt:lpstr>FACTORS TO CONSIDER IN CHOOSING SOFTWARE TESTING STRATEGIES</vt:lpstr>
      <vt:lpstr>STRATEGY IN SOFTWARE TESTING</vt:lpstr>
      <vt:lpstr>STRATEGY IN SOFTWARE TESTING</vt:lpstr>
      <vt:lpstr>STRATEGY IN SOFTWARE TESTING</vt:lpstr>
      <vt:lpstr>STRATEGY IN SOFTWARE TESTING</vt:lpstr>
      <vt:lpstr>STRATEGY IN SOFTWARE TESTING</vt:lpstr>
      <vt:lpstr>STRATEGY IN SOFTWARE TESTING</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Office</cp:lastModifiedBy>
  <cp:revision>241</cp:revision>
  <dcterms:created xsi:type="dcterms:W3CDTF">2019-01-09T10:33:58Z</dcterms:created>
  <dcterms:modified xsi:type="dcterms:W3CDTF">2025-03-27T14:31:29Z</dcterms:modified>
</cp:coreProperties>
</file>