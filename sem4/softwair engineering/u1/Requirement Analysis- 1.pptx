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4"/>
  </p:notesMasterIdLst>
  <p:handoutMasterIdLst>
    <p:handoutMasterId r:id="rId25"/>
  </p:handoutMasterIdLst>
  <p:sldIdLst>
    <p:sldId id="662" r:id="rId3"/>
    <p:sldId id="265" r:id="rId4"/>
    <p:sldId id="280" r:id="rId5"/>
    <p:sldId id="326" r:id="rId6"/>
    <p:sldId id="344" r:id="rId7"/>
    <p:sldId id="351" r:id="rId8"/>
    <p:sldId id="348" r:id="rId9"/>
    <p:sldId id="349" r:id="rId10"/>
    <p:sldId id="352" r:id="rId11"/>
    <p:sldId id="353" r:id="rId12"/>
    <p:sldId id="354" r:id="rId13"/>
    <p:sldId id="327" r:id="rId14"/>
    <p:sldId id="345" r:id="rId15"/>
    <p:sldId id="355" r:id="rId16"/>
    <p:sldId id="356" r:id="rId17"/>
    <p:sldId id="357" r:id="rId18"/>
    <p:sldId id="350" r:id="rId19"/>
    <p:sldId id="358" r:id="rId20"/>
    <p:sldId id="347" r:id="rId21"/>
    <p:sldId id="284"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ED8137"/>
    <a:srgbClr val="BC8F00"/>
    <a:srgbClr val="86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65" autoAdjust="0"/>
    <p:restoredTop sz="94660"/>
  </p:normalViewPr>
  <p:slideViewPr>
    <p:cSldViewPr snapToGrid="0">
      <p:cViewPr varScale="1">
        <p:scale>
          <a:sx n="120" d="100"/>
          <a:sy n="120" d="100"/>
        </p:scale>
        <p:origin x="208"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106FB7F8-D56A-E139-B729-8F758F14EE58}"/>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71378801-70E1-4BCB-164B-A8D847AA53BB}"/>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D3A3D457-D7F9-A236-3808-D10DF74BB3A9}"/>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958940" y="225197"/>
            <a:ext cx="810622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Times New Roman" pitchFamily="18" charset="0"/>
                <a:cs typeface="Times New Roman" pitchFamily="18" charset="0"/>
              </a:rPr>
              <a:t>Introduction to Software Engineering</a:t>
            </a:r>
            <a:br>
              <a:rPr lang="en-US" sz="1600" b="1" dirty="0">
                <a:latin typeface="Times New Roman" pitchFamily="18" charset="0"/>
                <a:ea typeface="Karla" pitchFamily="2" charset="0"/>
                <a:cs typeface="Times New Roman" pitchFamily="18" charset="0"/>
              </a:rPr>
            </a:br>
            <a:endParaRPr lang="en-US" sz="1200" dirty="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96131330"/>
              </p:ext>
            </p:extLst>
          </p:nvPr>
        </p:nvGraphicFramePr>
        <p:xfrm>
          <a:off x="1636394" y="2497107"/>
          <a:ext cx="7879745" cy="3276373"/>
        </p:xfrm>
        <a:graphic>
          <a:graphicData uri="http://schemas.openxmlformats.org/drawingml/2006/table">
            <a:tbl>
              <a:tblPr firstRow="1" firstCol="1" bandRow="1">
                <a:tableStyleId>{5940675A-B579-460E-94D1-54222C63F5DA}</a:tableStyleId>
              </a:tblPr>
              <a:tblGrid>
                <a:gridCol w="1223764">
                  <a:extLst>
                    <a:ext uri="{9D8B030D-6E8A-4147-A177-3AD203B41FA5}">
                      <a16:colId xmlns:a16="http://schemas.microsoft.com/office/drawing/2014/main" val="20000"/>
                    </a:ext>
                  </a:extLst>
                </a:gridCol>
                <a:gridCol w="5401340">
                  <a:extLst>
                    <a:ext uri="{9D8B030D-6E8A-4147-A177-3AD203B41FA5}">
                      <a16:colId xmlns:a16="http://schemas.microsoft.com/office/drawing/2014/main" val="20001"/>
                    </a:ext>
                  </a:extLst>
                </a:gridCol>
                <a:gridCol w="1254641">
                  <a:extLst>
                    <a:ext uri="{9D8B030D-6E8A-4147-A177-3AD203B41FA5}">
                      <a16:colId xmlns:a16="http://schemas.microsoft.com/office/drawing/2014/main" val="20002"/>
                    </a:ext>
                  </a:extLst>
                </a:gridCol>
              </a:tblGrid>
              <a:tr h="750983">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CO Number</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Title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Level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798863">
                <a:tc>
                  <a:txBody>
                    <a:bodyPr/>
                    <a:lstStyle/>
                    <a:p>
                      <a:pPr marL="67945">
                        <a:lnSpc>
                          <a:spcPts val="146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CO1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just">
                        <a:lnSpc>
                          <a:spcPct val="107000"/>
                        </a:lnSpc>
                        <a:spcAft>
                          <a:spcPts val="800"/>
                        </a:spcAft>
                      </a:pPr>
                      <a:r>
                        <a:rPr lang="en-IN" sz="1800">
                          <a:effectLst/>
                          <a:latin typeface="Times New Roman" panose="02020603050405020304" pitchFamily="18" charset="0"/>
                          <a:ea typeface="Times New Roman" panose="02020603050405020304" pitchFamily="18" charset="0"/>
                        </a:rPr>
                        <a:t>Define principles and working of software process models.</a:t>
                      </a:r>
                      <a:endParaRPr lang="en-IN" sz="180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749550">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CO2</a:t>
                      </a:r>
                    </a:p>
                  </a:txBody>
                  <a:tcPr marL="0" marR="0" marT="0" marB="0" anchor="ctr"/>
                </a:tc>
                <a:tc>
                  <a:txBody>
                    <a:bodyPr/>
                    <a:lstStyle/>
                    <a:p>
                      <a:pPr algn="just">
                        <a:lnSpc>
                          <a:spcPct val="107000"/>
                        </a:lnSpc>
                        <a:spcAft>
                          <a:spcPts val="800"/>
                        </a:spcAft>
                      </a:pPr>
                      <a:r>
                        <a:rPr lang="en-IN" sz="1800" dirty="0">
                          <a:effectLst/>
                          <a:latin typeface="Times New Roman" panose="02020603050405020304" pitchFamily="18" charset="0"/>
                          <a:ea typeface="Times New Roman" panose="02020603050405020304" pitchFamily="18" charset="0"/>
                        </a:rPr>
                        <a:t>Describe agile development methodology and analyse where to apply.</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Remember</a:t>
                      </a:r>
                    </a:p>
                  </a:txBody>
                  <a:tcPr marL="0" marR="0" marT="0" marB="0" anchor="ctr"/>
                </a:tc>
                <a:extLst>
                  <a:ext uri="{0D108BD9-81ED-4DB2-BD59-A6C34878D82A}">
                    <a16:rowId xmlns:a16="http://schemas.microsoft.com/office/drawing/2014/main" val="4050770155"/>
                  </a:ext>
                </a:extLst>
              </a:tr>
              <a:tr h="976977">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CO3</a:t>
                      </a:r>
                    </a:p>
                  </a:txBody>
                  <a:tcPr marL="0" marR="0" marT="0" marB="0" anchor="ctr"/>
                </a:tc>
                <a:tc>
                  <a:txBody>
                    <a:bodyPr/>
                    <a:lstStyle/>
                    <a:p>
                      <a:pPr algn="just">
                        <a:lnSpc>
                          <a:spcPct val="107000"/>
                        </a:lnSpc>
                        <a:spcAft>
                          <a:spcPts val="800"/>
                        </a:spcAft>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Prepare SRS and software process metrics for a given requirement</a:t>
                      </a:r>
                      <a:r>
                        <a:rPr lang="en-IN" sz="1800" kern="1200" dirty="0">
                          <a:solidFill>
                            <a:schemeClr val="tx1"/>
                          </a:solidFill>
                          <a:effectLst/>
                          <a:latin typeface="+mn-lt"/>
                          <a:ea typeface="+mn-ea"/>
                          <a:cs typeface="+mn-cs"/>
                        </a:rPr>
                        <a:t>.</a:t>
                      </a:r>
                      <a:r>
                        <a:rPr lang="en-IN" dirty="0">
                          <a:effectLst/>
                        </a:rPr>
                        <a:t> </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Analyse</a:t>
                      </a:r>
                    </a:p>
                  </a:txBody>
                  <a:tcPr marL="0" marR="0" marT="0" marB="0" anchor="ctr"/>
                </a:tc>
                <a:extLst>
                  <a:ext uri="{0D108BD9-81ED-4DB2-BD59-A6C34878D82A}">
                    <a16:rowId xmlns:a16="http://schemas.microsoft.com/office/drawing/2014/main" val="920418776"/>
                  </a:ext>
                </a:extLst>
              </a:tr>
            </a:tbl>
          </a:graphicData>
        </a:graphic>
      </p:graphicFrame>
      <p:sp>
        <p:nvSpPr>
          <p:cNvPr id="11" name="Rectangle 10"/>
          <p:cNvSpPr/>
          <p:nvPr/>
        </p:nvSpPr>
        <p:spPr>
          <a:xfrm>
            <a:off x="217842" y="1281538"/>
            <a:ext cx="2374689" cy="461665"/>
          </a:xfrm>
          <a:prstGeom prst="rect">
            <a:avLst/>
          </a:prstGeom>
        </p:spPr>
        <p:txBody>
          <a:bodyPr wrap="none">
            <a:spAutoFit/>
          </a:bodyPr>
          <a:lstStyle/>
          <a:p>
            <a:r>
              <a:rPr lang="en-US" sz="2400" b="1" dirty="0"/>
              <a:t>Course Outcome </a:t>
            </a:r>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10" name="Footer Placeholder 9">
            <a:extLst>
              <a:ext uri="{FF2B5EF4-FFF2-40B4-BE49-F238E27FC236}">
                <a16:creationId xmlns:a16="http://schemas.microsoft.com/office/drawing/2014/main" id="{D3EF1D39-20AE-0E75-E1DC-5F2584D8AB3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00792"/>
          </a:xfrm>
        </p:spPr>
        <p:txBody>
          <a:bodyPr>
            <a:noAutofit/>
          </a:bodyPr>
          <a:lstStyle/>
          <a:p>
            <a:pPr algn="ctr"/>
            <a:r>
              <a:rPr lang="en-US" dirty="0">
                <a:latin typeface="Times New Roman" pitchFamily="18" charset="0"/>
                <a:cs typeface="Times New Roman" pitchFamily="18" charset="0"/>
              </a:rPr>
              <a:t>Topics covered</a:t>
            </a:r>
          </a:p>
        </p:txBody>
      </p:sp>
      <p:sp>
        <p:nvSpPr>
          <p:cNvPr id="3" name="Content Placeholder 2"/>
          <p:cNvSpPr>
            <a:spLocks noGrp="1"/>
          </p:cNvSpPr>
          <p:nvPr>
            <p:ph idx="1"/>
          </p:nvPr>
        </p:nvSpPr>
        <p:spPr/>
        <p:txBody>
          <a:bodyPr>
            <a:normAutofit/>
          </a:bodyPr>
          <a:lstStyle/>
          <a:p>
            <a:pPr>
              <a:lnSpc>
                <a:spcPct val="150000"/>
              </a:lnSpc>
            </a:pPr>
            <a:r>
              <a:rPr lang="en-US" dirty="0">
                <a:latin typeface="Times New Roman" pitchFamily="18" charset="0"/>
                <a:cs typeface="Times New Roman" pitchFamily="18" charset="0"/>
              </a:rPr>
              <a:t>Requirement analysis</a:t>
            </a:r>
          </a:p>
          <a:p>
            <a:pPr>
              <a:lnSpc>
                <a:spcPct val="150000"/>
              </a:lnSpc>
            </a:pPr>
            <a:r>
              <a:rPr lang="en-US" dirty="0">
                <a:latin typeface="Times New Roman" pitchFamily="18" charset="0"/>
                <a:cs typeface="Times New Roman" pitchFamily="18" charset="0"/>
              </a:rPr>
              <a:t>Requirement gathering</a:t>
            </a:r>
          </a:p>
          <a:p>
            <a:pPr>
              <a:lnSpc>
                <a:spcPct val="150000"/>
              </a:lnSpc>
            </a:pPr>
            <a:r>
              <a:rPr lang="en-US" dirty="0">
                <a:latin typeface="Times New Roman" pitchFamily="18" charset="0"/>
                <a:cs typeface="Times New Roman" pitchFamily="18" charset="0"/>
              </a:rPr>
              <a:t>Analysis Principles</a:t>
            </a:r>
          </a:p>
          <a:p>
            <a:pPr>
              <a:lnSpc>
                <a:spcPct val="150000"/>
              </a:lnSpc>
            </a:pPr>
            <a:r>
              <a:rPr lang="en-US" dirty="0">
                <a:latin typeface="Times New Roman" pitchFamily="18" charset="0"/>
                <a:cs typeface="Times New Roman" pitchFamily="18" charset="0"/>
              </a:rPr>
              <a:t>Software Prototyping</a:t>
            </a:r>
          </a:p>
          <a:p>
            <a:pPr>
              <a:lnSpc>
                <a:spcPct val="150000"/>
              </a:lnSpc>
              <a:buNone/>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834333"/>
            <a:ext cx="10515600" cy="78967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9">
            <a:extLst>
              <a:ext uri="{FF2B5EF4-FFF2-40B4-BE49-F238E27FC236}">
                <a16:creationId xmlns:a16="http://schemas.microsoft.com/office/drawing/2014/main" id="{45487805-B989-A7E3-4DF1-8056460E460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796066"/>
            <a:ext cx="10515600" cy="89462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chemeClr val="tx1"/>
                </a:solidFill>
                <a:latin typeface="Times New Roman" pitchFamily="18" charset="0"/>
                <a:cs typeface="Times New Roman" pitchFamily="18" charset="0"/>
              </a:rPr>
              <a:t>REQUIREMENT ANALYSIS AND SPECIFICATION</a:t>
            </a:r>
            <a:endParaRPr lang="en-US" sz="3600"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00"/>
              </a:spcBef>
            </a:pPr>
            <a:r>
              <a:rPr lang="en-GB" sz="2400" dirty="0">
                <a:latin typeface="Times New Roman" pitchFamily="18" charset="0"/>
                <a:cs typeface="Times New Roman" pitchFamily="18" charset="0"/>
              </a:rPr>
              <a:t>Many projects fail: </a:t>
            </a:r>
          </a:p>
          <a:p>
            <a:pPr marL="742950" lvl="1" algn="just">
              <a:spcBef>
                <a:spcPts val="725"/>
              </a:spcBef>
            </a:pPr>
            <a:r>
              <a:rPr lang="en-GB" dirty="0">
                <a:latin typeface="Times New Roman" pitchFamily="18" charset="0"/>
                <a:cs typeface="Times New Roman" pitchFamily="18" charset="0"/>
              </a:rPr>
              <a:t>Because they start  implementing the system.</a:t>
            </a:r>
          </a:p>
          <a:p>
            <a:pPr marL="742950" lvl="1" algn="just">
              <a:spcBef>
                <a:spcPts val="725"/>
              </a:spcBef>
            </a:pPr>
            <a:r>
              <a:rPr lang="en-GB" dirty="0">
                <a:latin typeface="Times New Roman" pitchFamily="18" charset="0"/>
                <a:cs typeface="Times New Roman" pitchFamily="18" charset="0"/>
              </a:rPr>
              <a:t>Without determining whether they are building what the customer  really wants.</a:t>
            </a:r>
          </a:p>
          <a:p>
            <a:pPr marL="342900" indent="-342900" algn="just">
              <a:lnSpc>
                <a:spcPct val="105000"/>
              </a:lnSpc>
              <a:spcAft>
                <a:spcPct val="10000"/>
              </a:spcAft>
            </a:pPr>
            <a:r>
              <a:rPr lang="en-GB" sz="2400" dirty="0">
                <a:latin typeface="Times New Roman" pitchFamily="18" charset="0"/>
                <a:cs typeface="Times New Roman" pitchFamily="18" charset="0"/>
              </a:rPr>
              <a:t>It is important to learn: </a:t>
            </a:r>
          </a:p>
          <a:p>
            <a:pPr marL="742950" lvl="1" algn="just">
              <a:lnSpc>
                <a:spcPct val="105000"/>
              </a:lnSpc>
              <a:spcAft>
                <a:spcPct val="10000"/>
              </a:spcAft>
            </a:pPr>
            <a:r>
              <a:rPr lang="en-GB" dirty="0">
                <a:latin typeface="Times New Roman" pitchFamily="18" charset="0"/>
                <a:cs typeface="Times New Roman" pitchFamily="18" charset="0"/>
              </a:rPr>
              <a:t>Requirements analysis and specification techniques carefully.</a:t>
            </a:r>
          </a:p>
          <a:p>
            <a:pPr marL="342900" indent="-342900" algn="just"/>
            <a:r>
              <a:rPr lang="en-GB" sz="2400" dirty="0">
                <a:latin typeface="Times New Roman" pitchFamily="18" charset="0"/>
                <a:cs typeface="Times New Roman" pitchFamily="18" charset="0"/>
              </a:rPr>
              <a:t>Goals of requirements analysis and specification phase:</a:t>
            </a:r>
          </a:p>
          <a:p>
            <a:pPr marL="742950" lvl="1" algn="just">
              <a:spcBef>
                <a:spcPts val="725"/>
              </a:spcBef>
            </a:pPr>
            <a:r>
              <a:rPr lang="en-GB" dirty="0">
                <a:latin typeface="Times New Roman" pitchFamily="18" charset="0"/>
                <a:cs typeface="Times New Roman" pitchFamily="18" charset="0"/>
              </a:rPr>
              <a:t>Fully understand the user requirements.</a:t>
            </a:r>
          </a:p>
          <a:p>
            <a:pPr marL="742950" lvl="1" algn="just">
              <a:spcBef>
                <a:spcPts val="725"/>
              </a:spcBef>
            </a:pPr>
            <a:r>
              <a:rPr lang="en-GB" dirty="0">
                <a:latin typeface="Times New Roman" pitchFamily="18" charset="0"/>
                <a:cs typeface="Times New Roman" pitchFamily="18" charset="0"/>
              </a:rPr>
              <a:t>Remove inconsistencies, anomalies, etc. from requirements.</a:t>
            </a:r>
          </a:p>
          <a:p>
            <a:pPr marL="742950" lvl="1" algn="just">
              <a:spcBef>
                <a:spcPts val="725"/>
              </a:spcBef>
            </a:pPr>
            <a:r>
              <a:rPr lang="en-GB" dirty="0">
                <a:latin typeface="Times New Roman" pitchFamily="18" charset="0"/>
                <a:cs typeface="Times New Roman" pitchFamily="18" charset="0"/>
              </a:rPr>
              <a:t>Document requirements properly in an SRS document.</a:t>
            </a:r>
          </a:p>
          <a:p>
            <a:pPr algn="just"/>
            <a:endParaRPr lang="en-US" sz="2400" dirty="0">
              <a:latin typeface="Times New Roman" pitchFamily="18" charset="0"/>
              <a:cs typeface="Times New Roman" pitchFamily="18" charset="0"/>
            </a:endParaRPr>
          </a:p>
        </p:txBody>
      </p:sp>
      <p:sp>
        <p:nvSpPr>
          <p:cNvPr id="2" name="Footer Placeholder 9">
            <a:extLst>
              <a:ext uri="{FF2B5EF4-FFF2-40B4-BE49-F238E27FC236}">
                <a16:creationId xmlns:a16="http://schemas.microsoft.com/office/drawing/2014/main" id="{60DD53B2-5078-5F91-C1B3-F9D63225163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60612"/>
            <a:ext cx="10515600" cy="83007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chemeClr val="tx1"/>
                </a:solidFill>
                <a:latin typeface="Times New Roman" pitchFamily="18" charset="0"/>
                <a:cs typeface="Times New Roman" pitchFamily="18" charset="0"/>
              </a:rPr>
              <a:t>REQUIREMENT ANALYSIS AND SPECIFICATION</a:t>
            </a:r>
            <a:endParaRPr lang="en-US" sz="3600"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88"/>
              </a:spcBef>
            </a:pPr>
            <a:r>
              <a:rPr lang="en-GB" dirty="0">
                <a:latin typeface="Times New Roman" pitchFamily="18" charset="0"/>
                <a:cs typeface="Times New Roman" pitchFamily="18" charset="0"/>
              </a:rPr>
              <a:t>Requirements analysis consists of two main activities:</a:t>
            </a:r>
          </a:p>
          <a:p>
            <a:pPr marL="742950" lvl="1" algn="just">
              <a:spcBef>
                <a:spcPts val="800"/>
              </a:spcBef>
            </a:pPr>
            <a:r>
              <a:rPr lang="en-GB" sz="2800" dirty="0">
                <a:latin typeface="Times New Roman" pitchFamily="18" charset="0"/>
                <a:cs typeface="Times New Roman" pitchFamily="18" charset="0"/>
              </a:rPr>
              <a:t>Requirements gathering</a:t>
            </a:r>
          </a:p>
          <a:p>
            <a:pPr marL="742950" lvl="1" algn="just">
              <a:spcBef>
                <a:spcPts val="800"/>
              </a:spcBef>
            </a:pPr>
            <a:r>
              <a:rPr lang="en-GB" sz="2800" dirty="0">
                <a:latin typeface="Times New Roman" pitchFamily="18" charset="0"/>
                <a:cs typeface="Times New Roman" pitchFamily="18" charset="0"/>
              </a:rPr>
              <a:t>Analysis of the gathered requirements</a:t>
            </a:r>
          </a:p>
          <a:p>
            <a:pPr marL="342900" indent="-342900" algn="just">
              <a:lnSpc>
                <a:spcPct val="105000"/>
              </a:lnSpc>
              <a:spcAft>
                <a:spcPct val="10000"/>
              </a:spcAft>
            </a:pPr>
            <a:r>
              <a:rPr lang="en-GB" dirty="0">
                <a:latin typeface="Times New Roman" pitchFamily="18" charset="0"/>
                <a:cs typeface="Times New Roman" pitchFamily="18" charset="0"/>
              </a:rPr>
              <a:t>Analyst gathers requirements through:</a:t>
            </a:r>
          </a:p>
          <a:p>
            <a:pPr marL="742950" lvl="1" algn="just">
              <a:lnSpc>
                <a:spcPct val="105000"/>
              </a:lnSpc>
              <a:spcAft>
                <a:spcPct val="10000"/>
              </a:spcAft>
            </a:pPr>
            <a:r>
              <a:rPr lang="en-GB" sz="2800" dirty="0">
                <a:latin typeface="Times New Roman" pitchFamily="18" charset="0"/>
                <a:cs typeface="Times New Roman" pitchFamily="18" charset="0"/>
              </a:rPr>
              <a:t>Observation of existing systems,</a:t>
            </a:r>
          </a:p>
          <a:p>
            <a:pPr marL="742950" lvl="1" algn="just">
              <a:lnSpc>
                <a:spcPct val="105000"/>
              </a:lnSpc>
              <a:spcAft>
                <a:spcPct val="10000"/>
              </a:spcAft>
            </a:pPr>
            <a:r>
              <a:rPr lang="en-GB" sz="2800" dirty="0">
                <a:latin typeface="Times New Roman" pitchFamily="18" charset="0"/>
                <a:cs typeface="Times New Roman" pitchFamily="18" charset="0"/>
              </a:rPr>
              <a:t>Studying existing procedures,</a:t>
            </a:r>
          </a:p>
          <a:p>
            <a:pPr marL="742950" lvl="1" algn="just">
              <a:lnSpc>
                <a:spcPct val="105000"/>
              </a:lnSpc>
              <a:spcAft>
                <a:spcPct val="10000"/>
              </a:spcAft>
            </a:pPr>
            <a:r>
              <a:rPr lang="en-GB" sz="2800" dirty="0">
                <a:latin typeface="Times New Roman" pitchFamily="18" charset="0"/>
                <a:cs typeface="Times New Roman" pitchFamily="18" charset="0"/>
              </a:rPr>
              <a:t>Discussion with the customer and  end-users,</a:t>
            </a:r>
          </a:p>
          <a:p>
            <a:pPr marL="742950" lvl="1" algn="just">
              <a:lnSpc>
                <a:spcPct val="105000"/>
              </a:lnSpc>
              <a:spcAft>
                <a:spcPct val="10000"/>
              </a:spcAft>
            </a:pPr>
            <a:r>
              <a:rPr lang="en-GB" sz="2800" dirty="0">
                <a:latin typeface="Times New Roman" pitchFamily="18" charset="0"/>
                <a:cs typeface="Times New Roman" pitchFamily="18" charset="0"/>
              </a:rPr>
              <a:t>Analysis of what needs to be done, etc.</a:t>
            </a:r>
            <a:endParaRPr lang="en-US" sz="28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2" name="Footer Placeholder 9">
            <a:extLst>
              <a:ext uri="{FF2B5EF4-FFF2-40B4-BE49-F238E27FC236}">
                <a16:creationId xmlns:a16="http://schemas.microsoft.com/office/drawing/2014/main" id="{E5EF477B-658E-912A-E4BA-AA741BA49D7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ANALYSIS</a:t>
            </a:r>
          </a:p>
        </p:txBody>
      </p:sp>
      <p:sp>
        <p:nvSpPr>
          <p:cNvPr id="3" name="Content Placeholder 2"/>
          <p:cNvSpPr>
            <a:spLocks noGrp="1"/>
          </p:cNvSpPr>
          <p:nvPr>
            <p:ph idx="1"/>
          </p:nvPr>
        </p:nvSpPr>
        <p:spPr/>
        <p:txBody>
          <a:bodyPr>
            <a:normAutofit fontScale="92500"/>
          </a:bodyPr>
          <a:lstStyle/>
          <a:p>
            <a:pPr algn="just"/>
            <a:r>
              <a:rPr lang="en-US" dirty="0">
                <a:latin typeface="Times New Roman" panose="02020603050405020304" pitchFamily="18" charset="0"/>
                <a:cs typeface="Times New Roman" panose="02020603050405020304" pitchFamily="18" charset="0"/>
              </a:rPr>
              <a:t>Requirement analysis is significant and essential activity after elicitation. </a:t>
            </a:r>
          </a:p>
          <a:p>
            <a:pPr algn="just"/>
            <a:r>
              <a:rPr lang="en-US" dirty="0">
                <a:latin typeface="Times New Roman" panose="02020603050405020304" pitchFamily="18" charset="0"/>
                <a:cs typeface="Times New Roman" panose="02020603050405020304" pitchFamily="18" charset="0"/>
              </a:rPr>
              <a:t>We analyze, refine, and scrutinize the gathered requirements to make consistent and unambiguous requirements. </a:t>
            </a:r>
          </a:p>
          <a:p>
            <a:pPr algn="just"/>
            <a:r>
              <a:rPr lang="en-US" dirty="0">
                <a:latin typeface="Times New Roman" panose="02020603050405020304" pitchFamily="18" charset="0"/>
                <a:cs typeface="Times New Roman" panose="02020603050405020304" pitchFamily="18" charset="0"/>
              </a:rPr>
              <a:t>This activity reviews all requirements and may provide a graphical view of the entire system. </a:t>
            </a:r>
          </a:p>
          <a:p>
            <a:pPr algn="just"/>
            <a:r>
              <a:rPr lang="en-US" dirty="0">
                <a:latin typeface="Times New Roman" panose="02020603050405020304" pitchFamily="18" charset="0"/>
                <a:cs typeface="Times New Roman" panose="02020603050405020304" pitchFamily="18" charset="0"/>
              </a:rPr>
              <a:t>After the completion of the analysis, it is expected that the understandability of the project may improve significantly. </a:t>
            </a:r>
          </a:p>
          <a:p>
            <a:pPr algn="just"/>
            <a:r>
              <a:rPr lang="en-US" dirty="0">
                <a:latin typeface="Times New Roman" panose="02020603050405020304" pitchFamily="18" charset="0"/>
                <a:cs typeface="Times New Roman" panose="02020603050405020304" pitchFamily="18" charset="0"/>
              </a:rPr>
              <a:t>Here, we may also use the interaction with the customer to clarify points of confusion and to understand which requirements are more important than others.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485E7AA5-1FD2-B16F-B474-08118D09A37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Requirement Analysis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5" name="Content Placeholder 4" descr="Requirements Analysis"/>
          <p:cNvPicPr>
            <a:picLocks noGrp="1"/>
          </p:cNvPicPr>
          <p:nvPr>
            <p:ph idx="1"/>
          </p:nvPr>
        </p:nvPicPr>
        <p:blipFill>
          <a:blip r:embed="rId2"/>
          <a:srcRect/>
          <a:stretch>
            <a:fillRect/>
          </a:stretch>
        </p:blipFill>
        <p:spPr bwMode="auto">
          <a:xfrm>
            <a:off x="2715406" y="1506313"/>
            <a:ext cx="6674253" cy="4048326"/>
          </a:xfrm>
          <a:prstGeom prst="rect">
            <a:avLst/>
          </a:prstGeom>
          <a:noFill/>
          <a:ln w="9525">
            <a:noFill/>
            <a:miter lim="800000"/>
            <a:headEnd/>
            <a:tailEnd/>
          </a:ln>
        </p:spPr>
      </p:pic>
      <p:sp>
        <p:nvSpPr>
          <p:cNvPr id="6" name="TextBox 5"/>
          <p:cNvSpPr txBox="1"/>
          <p:nvPr/>
        </p:nvSpPr>
        <p:spPr>
          <a:xfrm>
            <a:off x="4012442" y="6223379"/>
            <a:ext cx="2723823" cy="307777"/>
          </a:xfrm>
          <a:prstGeom prst="rect">
            <a:avLst/>
          </a:prstGeom>
          <a:noFill/>
        </p:spPr>
        <p:txBody>
          <a:bodyPr wrap="none" rtlCol="0">
            <a:spAutoFit/>
          </a:bodyPr>
          <a:lstStyle/>
          <a:p>
            <a:r>
              <a:rPr lang="en-US" sz="1400" dirty="0">
                <a:latin typeface="Times New Roman" pitchFamily="18" charset="0"/>
                <a:cs typeface="Times New Roman" pitchFamily="18" charset="0"/>
              </a:rPr>
              <a:t>Fig 1 Steps of requirement analysis</a:t>
            </a:r>
          </a:p>
        </p:txBody>
      </p:sp>
      <p:sp>
        <p:nvSpPr>
          <p:cNvPr id="3" name="Footer Placeholder 9">
            <a:extLst>
              <a:ext uri="{FF2B5EF4-FFF2-40B4-BE49-F238E27FC236}">
                <a16:creationId xmlns:a16="http://schemas.microsoft.com/office/drawing/2014/main" id="{974E5C31-8F08-F7C8-7FE9-B82BDF3ECDF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Example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pic>
        <p:nvPicPr>
          <p:cNvPr id="5" name="Picture 4"/>
          <p:cNvPicPr/>
          <p:nvPr/>
        </p:nvPicPr>
        <p:blipFill>
          <a:blip r:embed="rId2"/>
          <a:srcRect/>
          <a:stretch>
            <a:fillRect/>
          </a:stretch>
        </p:blipFill>
        <p:spPr bwMode="auto">
          <a:xfrm>
            <a:off x="3341427" y="1978926"/>
            <a:ext cx="5502323" cy="3753134"/>
          </a:xfrm>
          <a:prstGeom prst="rect">
            <a:avLst/>
          </a:prstGeom>
          <a:noFill/>
          <a:ln w="9525">
            <a:noFill/>
            <a:miter lim="800000"/>
            <a:headEnd/>
            <a:tailEnd/>
          </a:ln>
        </p:spPr>
      </p:pic>
      <p:sp>
        <p:nvSpPr>
          <p:cNvPr id="3" name="Footer Placeholder 9">
            <a:extLst>
              <a:ext uri="{FF2B5EF4-FFF2-40B4-BE49-F238E27FC236}">
                <a16:creationId xmlns:a16="http://schemas.microsoft.com/office/drawing/2014/main" id="{55CB60C0-3A72-955B-2BF3-0E39C6A85AD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ANALYSIS</a:t>
            </a:r>
          </a:p>
        </p:txBody>
      </p:sp>
      <p:sp>
        <p:nvSpPr>
          <p:cNvPr id="3" name="Content Placeholder 2"/>
          <p:cNvSpPr>
            <a:spLocks noGrp="1"/>
          </p:cNvSpPr>
          <p:nvPr>
            <p:ph idx="1"/>
          </p:nvPr>
        </p:nvSpPr>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Draw the context diagram:</a:t>
            </a:r>
            <a:r>
              <a:rPr lang="en-US" dirty="0">
                <a:latin typeface="Times New Roman" panose="02020603050405020304" pitchFamily="18" charset="0"/>
                <a:cs typeface="Times New Roman" panose="02020603050405020304" pitchFamily="18" charset="0"/>
              </a:rPr>
              <a:t> The context diagram is a simple model that defines the boundaries and interfaces of the proposed systems with the external world. It identifies the entities outside the proposed system that interact with the system. </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Development of a Prototype (optional):</a:t>
            </a:r>
            <a:r>
              <a:rPr lang="en-US" dirty="0">
                <a:latin typeface="Times New Roman" panose="02020603050405020304" pitchFamily="18" charset="0"/>
                <a:cs typeface="Times New Roman" panose="02020603050405020304" pitchFamily="18" charset="0"/>
              </a:rPr>
              <a:t>One effective way to find out what the customer wants is to construct a prototype. We can use their feedback to modify the prototype until the customer is satisfied continuously. Hence, the prototype helps the client to visualize the proposed system and increase the understanding of the requirements. When developers and users are not sure about some of the elements, a prototype may help both the parties to take a final decision.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E6ACE92C-47B2-60B4-D339-A400B67CDF7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ANALYSIS</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Model the requirements:</a:t>
            </a:r>
            <a:r>
              <a:rPr lang="en-US" dirty="0">
                <a:latin typeface="Times New Roman" panose="02020603050405020304" pitchFamily="18" charset="0"/>
                <a:cs typeface="Times New Roman" panose="02020603050405020304" pitchFamily="18" charset="0"/>
              </a:rPr>
              <a:t> This process usually consists of various graphical representations of the functions, data entities, external entities, and the relationships between them. The graphical view may help to find incorrect, inconsistent, missing, and superfluous requirements. Such models include the Data Flow diagram, Entity-Relationship diagram, Data Dictionaries, State-transition diagrams, etc.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81CE821F-5CE9-1B74-97B3-DA4ADD94205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ANALYSIS</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Finalize the requirements:</a:t>
            </a:r>
            <a:r>
              <a:rPr lang="en-US" dirty="0">
                <a:latin typeface="Times New Roman" panose="02020603050405020304" pitchFamily="18" charset="0"/>
                <a:cs typeface="Times New Roman" panose="02020603050405020304" pitchFamily="18" charset="0"/>
              </a:rPr>
              <a:t> After modeling the requirements, we will have a better understanding of the system behavior. The inconsistencies and ambiguities have been identified and corrected. The flow of data amongst various modules has been analyzed. Elicitation and analyze activities have provided better insight into the system. Now we finalize the analyzed requirements, and the next step is to document these requirements in a prescribed format.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6F26A409-A7F1-8D34-C724-8547A12FD90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REQUIREMENT GATHERING</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25"/>
              </a:spcBef>
            </a:pPr>
            <a:r>
              <a:rPr lang="en-GB" dirty="0">
                <a:latin typeface="Times New Roman" pitchFamily="18" charset="0"/>
                <a:cs typeface="Times New Roman" pitchFamily="18" charset="0"/>
              </a:rPr>
              <a:t>Gathering relevant data:</a:t>
            </a:r>
          </a:p>
          <a:p>
            <a:pPr marL="742950" lvl="1" algn="just">
              <a:spcBef>
                <a:spcPts val="725"/>
              </a:spcBef>
            </a:pPr>
            <a:r>
              <a:rPr lang="en-GB" sz="2800" dirty="0">
                <a:latin typeface="Times New Roman" pitchFamily="18" charset="0"/>
                <a:cs typeface="Times New Roman" pitchFamily="18" charset="0"/>
              </a:rPr>
              <a:t>usually collected from the end-users through interviews and discussions.</a:t>
            </a:r>
          </a:p>
          <a:p>
            <a:pPr marL="742950" lvl="1" algn="just">
              <a:spcBef>
                <a:spcPts val="725"/>
              </a:spcBef>
            </a:pPr>
            <a:r>
              <a:rPr lang="en-GB" sz="2800" dirty="0">
                <a:latin typeface="Times New Roman" pitchFamily="18" charset="0"/>
                <a:cs typeface="Times New Roman" pitchFamily="18" charset="0"/>
              </a:rPr>
              <a:t>For example,  for a business accounting software:</a:t>
            </a:r>
          </a:p>
          <a:p>
            <a:pPr lvl="2" algn="just">
              <a:spcBef>
                <a:spcPts val="638"/>
              </a:spcBef>
            </a:pPr>
            <a:r>
              <a:rPr lang="en-GB" sz="2800" dirty="0">
                <a:latin typeface="Times New Roman" pitchFamily="18" charset="0"/>
                <a:cs typeface="Times New Roman" pitchFamily="18" charset="0"/>
              </a:rPr>
              <a:t>interview all the accountants of the organization to find out their requirements. </a:t>
            </a:r>
          </a:p>
          <a:p>
            <a:pPr algn="just"/>
            <a:endParaRPr lang="en-US" dirty="0">
              <a:latin typeface="Times New Roman" pitchFamily="18" charset="0"/>
              <a:cs typeface="Times New Roman" pitchFamily="18" charset="0"/>
            </a:endParaRPr>
          </a:p>
        </p:txBody>
      </p:sp>
      <p:sp>
        <p:nvSpPr>
          <p:cNvPr id="2" name="Footer Placeholder 9">
            <a:extLst>
              <a:ext uri="{FF2B5EF4-FFF2-40B4-BE49-F238E27FC236}">
                <a16:creationId xmlns:a16="http://schemas.microsoft.com/office/drawing/2014/main" id="{DE977025-28C1-0F14-931B-02FF6D2AD48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97280"/>
            <a:ext cx="10515600" cy="59340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ANALYSIS PRINCIPLES</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r>
              <a:rPr lang="en-GB" dirty="0">
                <a:latin typeface="Times New Roman" pitchFamily="18" charset="0"/>
                <a:cs typeface="Times New Roman" pitchFamily="18" charset="0"/>
              </a:rPr>
              <a:t>Main purpose of requirements analysis:</a:t>
            </a:r>
          </a:p>
          <a:p>
            <a:pPr lvl="2" algn="just">
              <a:spcBef>
                <a:spcPts val="625"/>
              </a:spcBef>
            </a:pPr>
            <a:r>
              <a:rPr lang="en-GB" sz="2800" dirty="0">
                <a:latin typeface="Times New Roman" pitchFamily="18" charset="0"/>
                <a:cs typeface="Times New Roman" pitchFamily="18" charset="0"/>
              </a:rPr>
              <a:t>Clearly understand the user requirements,</a:t>
            </a:r>
          </a:p>
          <a:p>
            <a:pPr lvl="2" algn="just">
              <a:spcBef>
                <a:spcPts val="625"/>
              </a:spcBef>
            </a:pPr>
            <a:r>
              <a:rPr lang="en-GB" sz="2800" dirty="0">
                <a:latin typeface="Times New Roman" pitchFamily="18" charset="0"/>
                <a:cs typeface="Times New Roman" pitchFamily="18" charset="0"/>
              </a:rPr>
              <a:t>Detect inconsistencies, ambiguities, and incompleteness.</a:t>
            </a:r>
          </a:p>
          <a:p>
            <a:pPr marL="342900" indent="-342900" algn="just"/>
            <a:r>
              <a:rPr lang="en-GB" dirty="0">
                <a:latin typeface="Times New Roman" pitchFamily="18" charset="0"/>
                <a:cs typeface="Times New Roman" pitchFamily="18" charset="0"/>
              </a:rPr>
              <a:t>Incompleteness and inconsistencies:</a:t>
            </a:r>
          </a:p>
          <a:p>
            <a:pPr marL="742950" lvl="1" algn="just">
              <a:spcBef>
                <a:spcPts val="725"/>
              </a:spcBef>
            </a:pPr>
            <a:r>
              <a:rPr lang="en-GB" sz="2800" dirty="0">
                <a:latin typeface="Times New Roman" pitchFamily="18" charset="0"/>
                <a:cs typeface="Times New Roman" pitchFamily="18" charset="0"/>
              </a:rPr>
              <a:t>Resolved through further discussions with the end-users and the customers. </a:t>
            </a:r>
          </a:p>
          <a:p>
            <a:pPr marL="342900" indent="-342900" algn="just"/>
            <a:r>
              <a:rPr lang="en-GB" dirty="0">
                <a:latin typeface="Times New Roman" pitchFamily="18" charset="0"/>
                <a:cs typeface="Times New Roman" pitchFamily="18" charset="0"/>
              </a:rPr>
              <a:t>Some part of the  requirement:</a:t>
            </a:r>
          </a:p>
          <a:p>
            <a:pPr marL="742950" lvl="1" algn="just">
              <a:spcBef>
                <a:spcPts val="725"/>
              </a:spcBef>
            </a:pPr>
            <a:r>
              <a:rPr lang="en-GB" sz="2800" dirty="0">
                <a:latin typeface="Times New Roman" pitchFamily="18" charset="0"/>
                <a:cs typeface="Times New Roman" pitchFamily="18" charset="0"/>
              </a:rPr>
              <a:t> contradicts with some other part.</a:t>
            </a:r>
          </a:p>
        </p:txBody>
      </p:sp>
      <p:sp>
        <p:nvSpPr>
          <p:cNvPr id="2" name="Footer Placeholder 9">
            <a:extLst>
              <a:ext uri="{FF2B5EF4-FFF2-40B4-BE49-F238E27FC236}">
                <a16:creationId xmlns:a16="http://schemas.microsoft.com/office/drawing/2014/main" id="{81A3EFD2-C7E8-D573-28E2-639EEA52D7A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Principle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Over the past two decades, a large number of analysis modeling methods have been developed. </a:t>
            </a:r>
          </a:p>
          <a:p>
            <a:pPr algn="just"/>
            <a:r>
              <a:rPr lang="en-US" dirty="0">
                <a:latin typeface="Times New Roman" panose="02020603050405020304" pitchFamily="18" charset="0"/>
                <a:cs typeface="Times New Roman" panose="02020603050405020304" pitchFamily="18" charset="0"/>
              </a:rPr>
              <a:t>Investigators have identified analysis problems and their causes and have developed a variety of notations and corresponding sets of heuristics to overcome them.</a:t>
            </a:r>
          </a:p>
          <a:p>
            <a:pPr algn="just"/>
            <a:r>
              <a:rPr lang="en-US" dirty="0">
                <a:latin typeface="Times New Roman" panose="02020603050405020304" pitchFamily="18" charset="0"/>
                <a:cs typeface="Times New Roman" panose="02020603050405020304" pitchFamily="18" charset="0"/>
              </a:rPr>
              <a:t> Each analysis method has a unique point of view.</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09F338B5-CE80-EADF-35B2-FB8DA9C5C53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principle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information domain of a problem must be represented and understood.</a:t>
            </a:r>
          </a:p>
          <a:p>
            <a:pPr algn="just"/>
            <a:r>
              <a:rPr lang="en-US" dirty="0">
                <a:latin typeface="Times New Roman" panose="02020603050405020304" pitchFamily="18" charset="0"/>
                <a:cs typeface="Times New Roman" panose="02020603050405020304" pitchFamily="18" charset="0"/>
              </a:rPr>
              <a:t>The functions that the software is to perform must be defined.</a:t>
            </a:r>
          </a:p>
          <a:p>
            <a:pPr algn="just"/>
            <a:r>
              <a:rPr lang="en-US" dirty="0">
                <a:latin typeface="Times New Roman" panose="02020603050405020304" pitchFamily="18" charset="0"/>
                <a:cs typeface="Times New Roman" panose="02020603050405020304" pitchFamily="18" charset="0"/>
              </a:rPr>
              <a:t>The behavior of the software must be represented.</a:t>
            </a:r>
          </a:p>
          <a:p>
            <a:pPr algn="just"/>
            <a:r>
              <a:rPr lang="en-US" dirty="0">
                <a:latin typeface="Times New Roman" panose="02020603050405020304" pitchFamily="18" charset="0"/>
                <a:cs typeface="Times New Roman" panose="02020603050405020304" pitchFamily="18" charset="0"/>
              </a:rPr>
              <a:t>The models that depict information, function, and</a:t>
            </a:r>
          </a:p>
          <a:p>
            <a:pPr algn="just"/>
            <a:r>
              <a:rPr lang="en-US" dirty="0">
                <a:latin typeface="Times New Roman" panose="02020603050405020304" pitchFamily="18" charset="0"/>
                <a:cs typeface="Times New Roman" panose="02020603050405020304" pitchFamily="18" charset="0"/>
              </a:rPr>
              <a:t>The models that depict information function and behavior must be partitioned in a manner that uncovers details in a layered fashion.</a:t>
            </a:r>
          </a:p>
          <a:p>
            <a:pPr algn="just"/>
            <a:r>
              <a:rPr lang="en-US" dirty="0">
                <a:latin typeface="Times New Roman" panose="02020603050405020304" pitchFamily="18" charset="0"/>
                <a:cs typeface="Times New Roman" panose="02020603050405020304" pitchFamily="18" charset="0"/>
              </a:rPr>
              <a:t>The analysis process should move from essential information toward implementation detail.</a:t>
            </a:r>
          </a:p>
          <a:p>
            <a:endParaRPr lang="en-US" dirty="0"/>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E576E1A9-201F-DCD4-8980-E117A3C1EB2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Principle</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In addition to these operational analysis principles for requirements engineering:</a:t>
            </a:r>
          </a:p>
          <a:p>
            <a:pPr algn="just"/>
            <a:r>
              <a:rPr lang="en-US" dirty="0">
                <a:latin typeface="Times New Roman" panose="02020603050405020304" pitchFamily="18" charset="0"/>
                <a:cs typeface="Times New Roman" panose="02020603050405020304" pitchFamily="18" charset="0"/>
              </a:rPr>
              <a:t>Understand the problem before you begin to create the analysis model.</a:t>
            </a:r>
          </a:p>
          <a:p>
            <a:pPr algn="just"/>
            <a:r>
              <a:rPr lang="en-US" dirty="0">
                <a:latin typeface="Times New Roman" panose="02020603050405020304" pitchFamily="18" charset="0"/>
                <a:cs typeface="Times New Roman" panose="02020603050405020304" pitchFamily="18" charset="0"/>
              </a:rPr>
              <a:t>Develop prototype that enable a user to understand how human/machine interaction will occur.</a:t>
            </a:r>
          </a:p>
          <a:p>
            <a:pPr algn="just"/>
            <a:r>
              <a:rPr lang="en-US" dirty="0">
                <a:latin typeface="Times New Roman" panose="02020603050405020304" pitchFamily="18" charset="0"/>
                <a:cs typeface="Times New Roman" panose="02020603050405020304" pitchFamily="18" charset="0"/>
              </a:rPr>
              <a:t>Record the origin of and the reason for every requirement.</a:t>
            </a:r>
          </a:p>
          <a:p>
            <a:pPr algn="just"/>
            <a:r>
              <a:rPr lang="en-US" dirty="0">
                <a:latin typeface="Times New Roman" panose="02020603050405020304" pitchFamily="18" charset="0"/>
                <a:cs typeface="Times New Roman" panose="02020603050405020304" pitchFamily="18" charset="0"/>
              </a:rPr>
              <a:t>Use multiple views of requirements.</a:t>
            </a:r>
          </a:p>
          <a:p>
            <a:pPr algn="just"/>
            <a:r>
              <a:rPr lang="en-US" dirty="0">
                <a:latin typeface="Times New Roman" panose="02020603050405020304" pitchFamily="18" charset="0"/>
                <a:cs typeface="Times New Roman" panose="02020603050405020304" pitchFamily="18" charset="0"/>
              </a:rPr>
              <a:t>Rank requirements.</a:t>
            </a:r>
          </a:p>
          <a:p>
            <a:pPr algn="just"/>
            <a:r>
              <a:rPr lang="en-US" dirty="0">
                <a:latin typeface="Times New Roman" panose="02020603050405020304" pitchFamily="18" charset="0"/>
                <a:cs typeface="Times New Roman" panose="02020603050405020304" pitchFamily="18" charset="0"/>
              </a:rPr>
              <a:t>Work to eliminate ambiguity</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CFDD96E7-2EE0-5CF6-8AE5-C05D47E7D75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lstStyle/>
          <a:p>
            <a:pPr algn="ctr"/>
            <a:r>
              <a:rPr lang="en-US" dirty="0">
                <a:latin typeface="Times New Roman" pitchFamily="18" charset="0"/>
                <a:cs typeface="Times New Roman" pitchFamily="18" charset="0"/>
              </a:rPr>
              <a:t>Software Prototyping</a:t>
            </a:r>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Development of a preliminary version of a software system in order to allow certain aspects of that system to be investigated. </a:t>
            </a:r>
          </a:p>
          <a:p>
            <a:pPr algn="just"/>
            <a:r>
              <a:rPr lang="en-US" dirty="0">
                <a:latin typeface="Times New Roman" pitchFamily="18" charset="0"/>
                <a:cs typeface="Times New Roman" pitchFamily="18" charset="0"/>
              </a:rPr>
              <a:t>Often the primary purpose of a prototype is to obtain feedback from the intended users; the requirements specification for the system can then be updated to reflect this feedback, and so increase confidence in the final system. </a:t>
            </a:r>
          </a:p>
          <a:p>
            <a:pPr algn="just"/>
            <a:r>
              <a:rPr lang="en-US" dirty="0">
                <a:latin typeface="Times New Roman" pitchFamily="18" charset="0"/>
                <a:cs typeface="Times New Roman" pitchFamily="18" charset="0"/>
              </a:rPr>
              <a:t>A prototype may for example be developed with no concern for its efficiency or performance, and certain functions of the final system may be entirely omitted.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900753" y="1032734"/>
            <a:ext cx="10617958" cy="564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2513" y="1828800"/>
            <a:ext cx="10795380" cy="44764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9">
            <a:extLst>
              <a:ext uri="{FF2B5EF4-FFF2-40B4-BE49-F238E27FC236}">
                <a16:creationId xmlns:a16="http://schemas.microsoft.com/office/drawing/2014/main" id="{14686AAA-63D8-A2D7-9894-3B08B770384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Prototyping</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Additionally a prototype can be used to investigate particular problem areas, or certain implications of alternative design or implementation decisions.</a:t>
            </a:r>
          </a:p>
          <a:p>
            <a:pPr algn="just"/>
            <a:r>
              <a:rPr lang="en-US" dirty="0">
                <a:latin typeface="Times New Roman" panose="02020603050405020304" pitchFamily="18" charset="0"/>
                <a:cs typeface="Times New Roman" panose="02020603050405020304" pitchFamily="18" charset="0"/>
              </a:rPr>
              <a:t>The intention with a prototype is normally to obtain the required information as rapidly as possible and with the minimum investment of resources, and it is therefore common to concentrate on certain aspects of the intended system and completely ignore others. </a:t>
            </a:r>
          </a:p>
          <a:p>
            <a:pPr algn="just"/>
            <a:r>
              <a:rPr lang="en-US" dirty="0">
                <a:latin typeface="Times New Roman" panose="02020603050405020304" pitchFamily="18" charset="0"/>
                <a:cs typeface="Times New Roman" panose="02020603050405020304" pitchFamily="18" charset="0"/>
              </a:rPr>
              <a:t>It must however be realistic in those aspects specifically under investigation.</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D7F035E2-5A46-8B42-78DA-711A60CAD07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SOFTWARE REQUIREMENT SPECIFICATION</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spcBef>
                <a:spcPts val="800"/>
              </a:spcBef>
            </a:pPr>
            <a:r>
              <a:rPr lang="en-GB" sz="2400" dirty="0">
                <a:latin typeface="Times New Roman" pitchFamily="18" charset="0"/>
                <a:cs typeface="Times New Roman" pitchFamily="18" charset="0"/>
              </a:rPr>
              <a:t>Main aim of requirements specification:</a:t>
            </a:r>
          </a:p>
          <a:p>
            <a:pPr marL="742950" lvl="1">
              <a:spcBef>
                <a:spcPts val="725"/>
              </a:spcBef>
            </a:pPr>
            <a:r>
              <a:rPr lang="en-GB" dirty="0">
                <a:latin typeface="Times New Roman" pitchFamily="18" charset="0"/>
                <a:cs typeface="Times New Roman" pitchFamily="18" charset="0"/>
              </a:rPr>
              <a:t>Systematically organize the requirements arrived during requirements analysis.</a:t>
            </a:r>
          </a:p>
          <a:p>
            <a:pPr marL="742950" lvl="1">
              <a:spcBef>
                <a:spcPts val="725"/>
              </a:spcBef>
            </a:pPr>
            <a:r>
              <a:rPr lang="en-GB" dirty="0">
                <a:latin typeface="Times New Roman" pitchFamily="18" charset="0"/>
                <a:cs typeface="Times New Roman" pitchFamily="18" charset="0"/>
              </a:rPr>
              <a:t>Document requirements properly.</a:t>
            </a:r>
          </a:p>
          <a:p>
            <a:pPr marL="742950" lvl="1">
              <a:spcBef>
                <a:spcPts val="725"/>
              </a:spcBef>
              <a:buNone/>
            </a:pPr>
            <a:endParaRPr lang="en-GB" dirty="0">
              <a:latin typeface="Times New Roman" pitchFamily="18" charset="0"/>
              <a:cs typeface="Times New Roman" pitchFamily="18" charset="0"/>
            </a:endParaRPr>
          </a:p>
          <a:p>
            <a:pPr marL="342900" indent="-342900">
              <a:spcBef>
                <a:spcPts val="800"/>
              </a:spcBef>
            </a:pPr>
            <a:r>
              <a:rPr lang="en-GB" sz="2400" dirty="0">
                <a:latin typeface="Times New Roman" pitchFamily="18" charset="0"/>
                <a:cs typeface="Times New Roman" pitchFamily="18" charset="0"/>
              </a:rPr>
              <a:t>The SRS document is useful in various contexts:</a:t>
            </a:r>
          </a:p>
          <a:p>
            <a:pPr marL="742950" lvl="1">
              <a:spcBef>
                <a:spcPts val="725"/>
              </a:spcBef>
            </a:pPr>
            <a:r>
              <a:rPr lang="en-GB" dirty="0">
                <a:latin typeface="Times New Roman" pitchFamily="18" charset="0"/>
                <a:cs typeface="Times New Roman" pitchFamily="18" charset="0"/>
              </a:rPr>
              <a:t>Statement of user needs</a:t>
            </a:r>
          </a:p>
          <a:p>
            <a:pPr marL="742950" lvl="1">
              <a:spcBef>
                <a:spcPts val="725"/>
              </a:spcBef>
            </a:pPr>
            <a:r>
              <a:rPr lang="en-GB" dirty="0">
                <a:latin typeface="Times New Roman" pitchFamily="18" charset="0"/>
                <a:cs typeface="Times New Roman" pitchFamily="18" charset="0"/>
              </a:rPr>
              <a:t>Contract document</a:t>
            </a:r>
          </a:p>
          <a:p>
            <a:pPr marL="742950" lvl="1">
              <a:spcBef>
                <a:spcPts val="725"/>
              </a:spcBef>
            </a:pPr>
            <a:r>
              <a:rPr lang="en-GB" dirty="0">
                <a:latin typeface="Times New Roman" pitchFamily="18" charset="0"/>
                <a:cs typeface="Times New Roman" pitchFamily="18" charset="0"/>
              </a:rPr>
              <a:t>Reference document</a:t>
            </a:r>
          </a:p>
          <a:p>
            <a:pPr marL="742950" lvl="1">
              <a:spcBef>
                <a:spcPts val="725"/>
              </a:spcBef>
            </a:pPr>
            <a:r>
              <a:rPr lang="en-GB" dirty="0">
                <a:latin typeface="Times New Roman" pitchFamily="18" charset="0"/>
                <a:cs typeface="Times New Roman" pitchFamily="18" charset="0"/>
              </a:rPr>
              <a:t>Definition for implementation</a:t>
            </a:r>
          </a:p>
          <a:p>
            <a:pPr marL="342900" indent="-342900"/>
            <a:endParaRPr lang="en-GB" sz="2400" dirty="0">
              <a:latin typeface="Times New Roman" pitchFamily="18" charset="0"/>
              <a:cs typeface="Times New Roman" pitchFamily="18" charset="0"/>
            </a:endParaRPr>
          </a:p>
        </p:txBody>
      </p:sp>
      <p:sp>
        <p:nvSpPr>
          <p:cNvPr id="2" name="Footer Placeholder 9">
            <a:extLst>
              <a:ext uri="{FF2B5EF4-FFF2-40B4-BE49-F238E27FC236}">
                <a16:creationId xmlns:a16="http://schemas.microsoft.com/office/drawing/2014/main" id="{71EB1D03-6D1D-F6E1-F1B8-AAB758AB187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43822"/>
          </a:xfrm>
        </p:spPr>
        <p:txBody>
          <a:bodyPr>
            <a:normAutofit/>
          </a:bodyPr>
          <a:lstStyle/>
          <a:p>
            <a:pPr algn="ctr"/>
            <a:r>
              <a:rPr lang="en-US" dirty="0">
                <a:latin typeface="Times New Roman" pitchFamily="18" charset="0"/>
                <a:cs typeface="Times New Roman" pitchFamily="18" charset="0"/>
              </a:rPr>
              <a:t>REFERENCES    </a:t>
            </a:r>
          </a:p>
        </p:txBody>
      </p:sp>
      <p:sp>
        <p:nvSpPr>
          <p:cNvPr id="3" name="Content Placeholder 2"/>
          <p:cNvSpPr>
            <a:spLocks noGrp="1"/>
          </p:cNvSpPr>
          <p:nvPr>
            <p:ph idx="1"/>
          </p:nvPr>
        </p:nvSpPr>
        <p:spPr/>
        <p:txBody>
          <a:bodyPr>
            <a:noAutofit/>
          </a:bodyPr>
          <a:lstStyle/>
          <a:p>
            <a:pPr lvl="0" algn="just">
              <a:buNone/>
            </a:pPr>
            <a:r>
              <a:rPr lang="en-US" sz="2000" b="1" dirty="0">
                <a:latin typeface="Times New Roman" pitchFamily="18" charset="0"/>
                <a:cs typeface="Times New Roman" pitchFamily="18" charset="0"/>
              </a:rPr>
              <a:t>      Reference Books:</a:t>
            </a:r>
          </a:p>
          <a:p>
            <a:pPr marL="342900" indent="-342900" algn="just">
              <a:buFont typeface="+mj-lt"/>
              <a:buAutoNum type="arabicPeriod"/>
            </a:pPr>
            <a:r>
              <a:rPr lang="en-US" sz="2000" dirty="0" err="1">
                <a:latin typeface="Times New Roman" pitchFamily="18" charset="0"/>
                <a:cs typeface="Times New Roman" pitchFamily="18" charset="0"/>
              </a:rPr>
              <a:t>Suman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Ugrasen</a:t>
            </a:r>
            <a:r>
              <a:rPr lang="en-US" sz="2000" dirty="0">
                <a:latin typeface="Times New Roman" pitchFamily="18" charset="0"/>
                <a:cs typeface="Times New Roman" pitchFamily="18" charset="0"/>
              </a:rPr>
              <a:t>, “Software Engineering - Concepts and Practices”, </a:t>
            </a:r>
            <a:r>
              <a:rPr lang="en-IN" sz="2000" dirty="0">
                <a:latin typeface="Times New Roman" pitchFamily="18" charset="0"/>
                <a:cs typeface="Times New Roman" pitchFamily="18" charset="0"/>
              </a:rPr>
              <a:t>First Edition, </a:t>
            </a:r>
            <a:r>
              <a:rPr lang="en-US" sz="2000" dirty="0" err="1">
                <a:latin typeface="Times New Roman" pitchFamily="18" charset="0"/>
                <a:cs typeface="Times New Roman" pitchFamily="18" charset="0"/>
              </a:rPr>
              <a:t>Cengage</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a:p>
            <a:pPr marL="342900" indent="-342900" algn="just">
              <a:buFont typeface="+mj-lt"/>
              <a:buAutoNum type="arabicPeriod"/>
            </a:pPr>
            <a:r>
              <a:rPr lang="en-US" sz="2000" dirty="0">
                <a:latin typeface="Times New Roman" pitchFamily="18" charset="0"/>
                <a:cs typeface="Times New Roman" pitchFamily="18" charset="0"/>
              </a:rPr>
              <a:t>Mohammad Ali </a:t>
            </a:r>
            <a:r>
              <a:rPr lang="en-US" sz="2000" dirty="0" err="1">
                <a:latin typeface="Times New Roman" pitchFamily="18" charset="0"/>
                <a:cs typeface="Times New Roman" pitchFamily="18" charset="0"/>
              </a:rPr>
              <a:t>Shaikh</a:t>
            </a:r>
            <a:r>
              <a:rPr lang="en-US" sz="2000" dirty="0">
                <a:latin typeface="Times New Roman" pitchFamily="18" charset="0"/>
                <a:cs typeface="Times New Roman" pitchFamily="18" charset="0"/>
              </a:rPr>
              <a:t>, “Software Engineering with UML”, </a:t>
            </a:r>
            <a:r>
              <a:rPr lang="en-IN" sz="2000" dirty="0">
                <a:latin typeface="Times New Roman" pitchFamily="18" charset="0"/>
                <a:cs typeface="Times New Roman" pitchFamily="18" charset="0"/>
              </a:rPr>
              <a:t>Third Edition,</a:t>
            </a:r>
            <a:r>
              <a:rPr lang="en-US" sz="2000" dirty="0">
                <a:latin typeface="Times New Roman" pitchFamily="18" charset="0"/>
                <a:cs typeface="Times New Roman" pitchFamily="18" charset="0"/>
              </a:rPr>
              <a:t> Notion Press.</a:t>
            </a:r>
          </a:p>
          <a:p>
            <a:pPr marL="342900" indent="-342900" algn="just">
              <a:buFont typeface="+mj-lt"/>
              <a:buAutoNum type="arabicPeriod"/>
            </a:pPr>
            <a:r>
              <a:rPr lang="en-US" sz="2000" dirty="0">
                <a:latin typeface="Times New Roman" pitchFamily="18" charset="0"/>
                <a:cs typeface="Times New Roman" pitchFamily="18" charset="0"/>
              </a:rPr>
              <a:t>Somerville Ian, “Software Engineering”, Addison Wesley, 8th Edition.</a:t>
            </a:r>
          </a:p>
          <a:p>
            <a:pPr marL="342900" lvl="0" indent="-342900" algn="just">
              <a:buNone/>
            </a:pPr>
            <a:r>
              <a:rPr lang="en-US" sz="2000" b="1" dirty="0">
                <a:latin typeface="Times New Roman" pitchFamily="18" charset="0"/>
                <a:cs typeface="Times New Roman" pitchFamily="18" charset="0"/>
              </a:rPr>
              <a:t>	Text Books:</a:t>
            </a:r>
          </a:p>
          <a:p>
            <a:pPr marL="342900" lvl="0" indent="-342900" algn="just">
              <a:buFont typeface="+mj-lt"/>
              <a:buAutoNum type="arabicPeriod"/>
            </a:pPr>
            <a:r>
              <a:rPr lang="en-US" sz="2000" dirty="0">
                <a:latin typeface="Times New Roman" pitchFamily="18" charset="0"/>
                <a:cs typeface="Times New Roman" pitchFamily="18" charset="0"/>
              </a:rPr>
              <a:t>Pressman Rogers, “Software Engineering: A Practitioner's Approach”, Sixth edition. </a:t>
            </a:r>
            <a:r>
              <a:rPr lang="en-IN" sz="2000" dirty="0">
                <a:latin typeface="Times New Roman" pitchFamily="18" charset="0"/>
                <a:cs typeface="Times New Roman" pitchFamily="18" charset="0"/>
              </a:rPr>
              <a:t>Patterson and Hennessy, “Computer Architecture” , Fifth Edition </a:t>
            </a:r>
            <a:r>
              <a:rPr lang="en-IN" sz="2000" dirty="0" err="1">
                <a:latin typeface="Times New Roman" pitchFamily="18" charset="0"/>
                <a:cs typeface="Times New Roman" pitchFamily="18" charset="0"/>
              </a:rPr>
              <a:t>Morgaon</a:t>
            </a:r>
            <a:r>
              <a:rPr lang="en-IN" sz="2000" dirty="0">
                <a:latin typeface="Times New Roman" pitchFamily="18" charset="0"/>
                <a:cs typeface="Times New Roman" pitchFamily="18" charset="0"/>
              </a:rPr>
              <a:t> Kauffman.</a:t>
            </a:r>
          </a:p>
          <a:p>
            <a:pPr marL="342900" indent="-342900" algn="just">
              <a:buFont typeface="+mj-lt"/>
              <a:buAutoNum type="arabicPeriod"/>
            </a:pPr>
            <a:r>
              <a:rPr lang="en-IN" sz="2000" dirty="0" err="1">
                <a:latin typeface="Times New Roman" pitchFamily="18" charset="0"/>
                <a:cs typeface="Times New Roman" pitchFamily="18" charset="0"/>
              </a:rPr>
              <a:t>Rajib</a:t>
            </a:r>
            <a:r>
              <a:rPr lang="en-IN" sz="2000" dirty="0">
                <a:latin typeface="Times New Roman" pitchFamily="18" charset="0"/>
                <a:cs typeface="Times New Roman" pitchFamily="18" charset="0"/>
              </a:rPr>
              <a:t> Mall, “</a:t>
            </a:r>
            <a:r>
              <a:rPr lang="en-US" sz="2000" dirty="0">
                <a:latin typeface="Times New Roman" pitchFamily="18" charset="0"/>
                <a:cs typeface="Times New Roman" pitchFamily="18" charset="0"/>
              </a:rPr>
              <a:t>Fundamentals of Software Engineering’’, Fourth Edition, Pearson, PHI.</a:t>
            </a:r>
          </a:p>
          <a:p>
            <a:pPr marL="342900" indent="-342900" algn="just">
              <a:buNone/>
            </a:pPr>
            <a:r>
              <a:rPr lang="en-US" sz="2000" b="1" dirty="0">
                <a:latin typeface="Times New Roman" pitchFamily="18" charset="0"/>
                <a:cs typeface="Times New Roman" pitchFamily="18" charset="0"/>
              </a:rPr>
              <a:t>Image References:</a:t>
            </a:r>
          </a:p>
          <a:p>
            <a:pPr lvl="0">
              <a:buNone/>
            </a:pPr>
            <a:r>
              <a:rPr lang="en-US" sz="2000" dirty="0">
                <a:latin typeface="Times New Roman" pitchFamily="18" charset="0"/>
                <a:cs typeface="Times New Roman" pitchFamily="18" charset="0"/>
              </a:rPr>
              <a:t>https://www.tutorialspoint.com/software_testing_dictionary/software_requirement_specification.htm</a:t>
            </a:r>
            <a:r>
              <a:rPr lang="en-US" sz="2000" b="1"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796066"/>
            <a:ext cx="10515600" cy="82794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9">
            <a:extLst>
              <a:ext uri="{FF2B5EF4-FFF2-40B4-BE49-F238E27FC236}">
                <a16:creationId xmlns:a16="http://schemas.microsoft.com/office/drawing/2014/main" id="{0AAE84BA-C8A2-67C1-174F-EE947A4D3FE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3361918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Footer Placeholder 9">
            <a:extLst>
              <a:ext uri="{FF2B5EF4-FFF2-40B4-BE49-F238E27FC236}">
                <a16:creationId xmlns:a16="http://schemas.microsoft.com/office/drawing/2014/main" id="{B1C3F6E2-F2EB-18B7-4778-D15FDE8D208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1076</TotalTime>
  <Words>1500</Words>
  <Application>Microsoft Macintosh PowerPoint</Application>
  <PresentationFormat>Widescreen</PresentationFormat>
  <Paragraphs>170</Paragraphs>
  <Slides>21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0"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Introduction to Software Engineering </vt:lpstr>
      <vt:lpstr>Topics covered</vt:lpstr>
      <vt:lpstr>REQUIREMENT ANALYSIS AND SPECIFICATION</vt:lpstr>
      <vt:lpstr>REQUIREMENT ANALYSIS AND SPECIFICATION</vt:lpstr>
      <vt:lpstr>REQUIREMENT ANALYSIS</vt:lpstr>
      <vt:lpstr>Requirement Analysis</vt:lpstr>
      <vt:lpstr>Example</vt:lpstr>
      <vt:lpstr>REQUIREMENT ANALYSIS</vt:lpstr>
      <vt:lpstr>REQUIREMENT ANALYSIS</vt:lpstr>
      <vt:lpstr>REQUIREMENT ANALYSIS</vt:lpstr>
      <vt:lpstr>REQUIREMENT GATHERING</vt:lpstr>
      <vt:lpstr>ANALYSIS PRINCIPLES</vt:lpstr>
      <vt:lpstr>Analysis Principle</vt:lpstr>
      <vt:lpstr>Analysis principle</vt:lpstr>
      <vt:lpstr>Analysis Principle</vt:lpstr>
      <vt:lpstr>Software Prototyping</vt:lpstr>
      <vt:lpstr>Software Prototyping</vt:lpstr>
      <vt:lpstr>SOFTWARE REQUIREMENT SPECIFICATION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236</cp:revision>
  <dcterms:created xsi:type="dcterms:W3CDTF">2019-01-09T10:33:58Z</dcterms:created>
  <dcterms:modified xsi:type="dcterms:W3CDTF">2024-12-20T08:11:13Z</dcterms:modified>
</cp:coreProperties>
</file>