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52"/>
  </p:notesMasterIdLst>
  <p:handoutMasterIdLst>
    <p:handoutMasterId r:id="rId53"/>
  </p:handoutMasterIdLst>
  <p:sldIdLst>
    <p:sldId id="662" r:id="rId3"/>
    <p:sldId id="265" r:id="rId4"/>
    <p:sldId id="280" r:id="rId5"/>
    <p:sldId id="349" r:id="rId6"/>
    <p:sldId id="362" r:id="rId7"/>
    <p:sldId id="363" r:id="rId8"/>
    <p:sldId id="364" r:id="rId9"/>
    <p:sldId id="365" r:id="rId10"/>
    <p:sldId id="366" r:id="rId11"/>
    <p:sldId id="367" r:id="rId12"/>
    <p:sldId id="350" r:id="rId13"/>
    <p:sldId id="369" r:id="rId14"/>
    <p:sldId id="370" r:id="rId15"/>
    <p:sldId id="371" r:id="rId16"/>
    <p:sldId id="372" r:id="rId17"/>
    <p:sldId id="373" r:id="rId18"/>
    <p:sldId id="374" r:id="rId19"/>
    <p:sldId id="368" r:id="rId20"/>
    <p:sldId id="351" r:id="rId21"/>
    <p:sldId id="375" r:id="rId22"/>
    <p:sldId id="383" r:id="rId23"/>
    <p:sldId id="376" r:id="rId24"/>
    <p:sldId id="377" r:id="rId25"/>
    <p:sldId id="378" r:id="rId26"/>
    <p:sldId id="384" r:id="rId27"/>
    <p:sldId id="380" r:id="rId28"/>
    <p:sldId id="381" r:id="rId29"/>
    <p:sldId id="382" r:id="rId30"/>
    <p:sldId id="353" r:id="rId31"/>
    <p:sldId id="354" r:id="rId32"/>
    <p:sldId id="385" r:id="rId33"/>
    <p:sldId id="386" r:id="rId34"/>
    <p:sldId id="387" r:id="rId35"/>
    <p:sldId id="388" r:id="rId36"/>
    <p:sldId id="389" r:id="rId37"/>
    <p:sldId id="390" r:id="rId38"/>
    <p:sldId id="355" r:id="rId39"/>
    <p:sldId id="356" r:id="rId40"/>
    <p:sldId id="391" r:id="rId41"/>
    <p:sldId id="392" r:id="rId42"/>
    <p:sldId id="357" r:id="rId43"/>
    <p:sldId id="393" r:id="rId44"/>
    <p:sldId id="283" r:id="rId45"/>
    <p:sldId id="360" r:id="rId46"/>
    <p:sldId id="358" r:id="rId47"/>
    <p:sldId id="361" r:id="rId48"/>
    <p:sldId id="359" r:id="rId49"/>
    <p:sldId id="284" r:id="rId50"/>
    <p:sldId id="27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03" autoAdjust="0"/>
    <p:restoredTop sz="94660"/>
  </p:normalViewPr>
  <p:slideViewPr>
    <p:cSldViewPr snapToGrid="0">
      <p:cViewPr varScale="1">
        <p:scale>
          <a:sx n="114" d="100"/>
          <a:sy n="114" d="100"/>
        </p:scale>
        <p:origin x="168" y="2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1BE0A641-32F6-1ED8-A8D7-EE0536A16C77}"/>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357B371E-04CD-64F8-82DD-888CF7DA5996}"/>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625AD186-F133-D4B6-9964-C005BAF31215}"/>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geeksforgeeks.org/computer-organization-and-architecture-tutorial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4" name="Picture 3">
            <a:extLst>
              <a:ext uri="{FF2B5EF4-FFF2-40B4-BE49-F238E27FC236}">
                <a16:creationId xmlns:a16="http://schemas.microsoft.com/office/drawing/2014/main" id="{C9AAA74D-A8A2-1D79-E57D-BE2ABF9F41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958940" y="225197"/>
            <a:ext cx="810622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Times New Roman" pitchFamily="18" charset="0"/>
                <a:cs typeface="Times New Roman" pitchFamily="18" charset="0"/>
              </a:rPr>
              <a:t>Introduction to Software Engineering</a:t>
            </a:r>
            <a:br>
              <a:rPr lang="en-US" sz="1600" b="1" dirty="0">
                <a:latin typeface="Times New Roman" pitchFamily="18" charset="0"/>
                <a:ea typeface="Karla" pitchFamily="2" charset="0"/>
                <a:cs typeface="Times New Roman" pitchFamily="18" charset="0"/>
              </a:rPr>
            </a:br>
            <a:endParaRPr lang="en-US" sz="1200"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591115230"/>
              </p:ext>
            </p:extLst>
          </p:nvPr>
        </p:nvGraphicFramePr>
        <p:xfrm>
          <a:off x="1636394" y="2497107"/>
          <a:ext cx="7879745" cy="2348709"/>
        </p:xfrm>
        <a:graphic>
          <a:graphicData uri="http://schemas.openxmlformats.org/drawingml/2006/table">
            <a:tbl>
              <a:tblPr firstRow="1" firstCol="1" bandRow="1">
                <a:tableStyleId>{5940675A-B579-460E-94D1-54222C63F5DA}</a:tableStyleId>
              </a:tblPr>
              <a:tblGrid>
                <a:gridCol w="1223764">
                  <a:extLst>
                    <a:ext uri="{9D8B030D-6E8A-4147-A177-3AD203B41FA5}">
                      <a16:colId xmlns:a16="http://schemas.microsoft.com/office/drawing/2014/main" val="20000"/>
                    </a:ext>
                  </a:extLst>
                </a:gridCol>
                <a:gridCol w="5401340">
                  <a:extLst>
                    <a:ext uri="{9D8B030D-6E8A-4147-A177-3AD203B41FA5}">
                      <a16:colId xmlns:a16="http://schemas.microsoft.com/office/drawing/2014/main" val="20001"/>
                    </a:ext>
                  </a:extLst>
                </a:gridCol>
                <a:gridCol w="1254641">
                  <a:extLst>
                    <a:ext uri="{9D8B030D-6E8A-4147-A177-3AD203B41FA5}">
                      <a16:colId xmlns:a16="http://schemas.microsoft.com/office/drawing/2014/main" val="20002"/>
                    </a:ext>
                  </a:extLst>
                </a:gridCol>
              </a:tblGrid>
              <a:tr h="750983">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CO Number</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Title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Level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98863">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CO3</a:t>
                      </a:r>
                    </a:p>
                  </a:txBody>
                  <a:tcPr marL="0" marR="0" marT="0" marB="0" anchor="ctr"/>
                </a:tc>
                <a:tc>
                  <a:txBody>
                    <a:bodyPr/>
                    <a:lstStyle/>
                    <a:p>
                      <a:pPr algn="just">
                        <a:lnSpc>
                          <a:spcPct val="107000"/>
                        </a:lnSpc>
                        <a:spcAft>
                          <a:spcPts val="800"/>
                        </a:spcAft>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Prepare SRS and software process metrics for a given requirement</a:t>
                      </a:r>
                      <a:r>
                        <a:rPr lang="en-IN" sz="1800" kern="1200" dirty="0">
                          <a:solidFill>
                            <a:schemeClr val="tx1"/>
                          </a:solidFill>
                          <a:effectLst/>
                          <a:latin typeface="+mn-lt"/>
                          <a:ea typeface="+mn-ea"/>
                          <a:cs typeface="+mn-cs"/>
                        </a:rPr>
                        <a:t>.</a:t>
                      </a:r>
                      <a:r>
                        <a:rPr lang="en-IN" dirty="0">
                          <a:effectLst/>
                        </a:rPr>
                        <a:t> </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Analyse</a:t>
                      </a:r>
                    </a:p>
                  </a:txBody>
                  <a:tcPr marL="0" marR="0" marT="0" marB="0" anchor="ctr"/>
                </a:tc>
                <a:extLst>
                  <a:ext uri="{0D108BD9-81ED-4DB2-BD59-A6C34878D82A}">
                    <a16:rowId xmlns:a16="http://schemas.microsoft.com/office/drawing/2014/main" val="10001"/>
                  </a:ext>
                </a:extLst>
              </a:tr>
              <a:tr h="798863">
                <a:tc>
                  <a:txBody>
                    <a:bodyPr/>
                    <a:lstStyle/>
                    <a:p>
                      <a:pPr marR="53975" algn="just">
                        <a:lnSpc>
                          <a:spcPct val="107000"/>
                        </a:lnSpc>
                        <a:spcAft>
                          <a:spcPts val="800"/>
                        </a:spcAft>
                      </a:pPr>
                      <a:r>
                        <a:rPr lang="en-IN" sz="1800" dirty="0">
                          <a:effectLst/>
                          <a:latin typeface="Times New Roman" panose="02020603050405020304" pitchFamily="18" charset="0"/>
                          <a:ea typeface="Calibri" panose="020F0502020204030204" pitchFamily="34" charset="0"/>
                        </a:rPr>
                        <a:t>CO4</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just">
                        <a:lnSpc>
                          <a:spcPct val="107000"/>
                        </a:lnSpc>
                        <a:spcAft>
                          <a:spcPts val="800"/>
                        </a:spcAft>
                      </a:pPr>
                      <a:r>
                        <a:rPr lang="en-IN" sz="1800" dirty="0">
                          <a:effectLst/>
                          <a:latin typeface="Times New Roman" panose="02020603050405020304" pitchFamily="18" charset="0"/>
                          <a:ea typeface="Times New Roman" panose="02020603050405020304" pitchFamily="18" charset="0"/>
                        </a:rPr>
                        <a:t>Prepare Test Suite and Quality Assurance plan for a given project.</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Create</a:t>
                      </a:r>
                    </a:p>
                  </a:txBody>
                  <a:tcPr marL="0" marR="0" marT="0" marB="0" anchor="ctr"/>
                </a:tc>
                <a:extLst>
                  <a:ext uri="{0D108BD9-81ED-4DB2-BD59-A6C34878D82A}">
                    <a16:rowId xmlns:a16="http://schemas.microsoft.com/office/drawing/2014/main" val="3016359272"/>
                  </a:ext>
                </a:extLst>
              </a:tr>
            </a:tbl>
          </a:graphicData>
        </a:graphic>
      </p:graphicFrame>
      <p:sp>
        <p:nvSpPr>
          <p:cNvPr id="11" name="Rectangle 10"/>
          <p:cNvSpPr/>
          <p:nvPr/>
        </p:nvSpPr>
        <p:spPr>
          <a:xfrm>
            <a:off x="217842" y="1281538"/>
            <a:ext cx="2374689" cy="461665"/>
          </a:xfrm>
          <a:prstGeom prst="rect">
            <a:avLst/>
          </a:prstGeom>
        </p:spPr>
        <p:txBody>
          <a:bodyPr wrap="none">
            <a:spAutoFit/>
          </a:bodyPr>
          <a:lstStyle/>
          <a:p>
            <a:r>
              <a:rPr lang="en-US" sz="2400" b="1" dirty="0"/>
              <a:t>Course Outcome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10" name="Footer Placeholder 9">
            <a:extLst>
              <a:ext uri="{FF2B5EF4-FFF2-40B4-BE49-F238E27FC236}">
                <a16:creationId xmlns:a16="http://schemas.microsoft.com/office/drawing/2014/main" id="{D3EF1D39-20AE-0E75-E1DC-5F2584D8AB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551"/>
            <a:ext cx="10515600" cy="865337"/>
          </a:xfrm>
        </p:spPr>
        <p:txBody>
          <a:bodyPr>
            <a:noAutofit/>
          </a:bodyPr>
          <a:lstStyle/>
          <a:p>
            <a:pPr algn="ctr"/>
            <a:r>
              <a:rPr lang="en-US" dirty="0">
                <a:latin typeface="Times New Roman" pitchFamily="18" charset="0"/>
                <a:cs typeface="Times New Roman" pitchFamily="18" charset="0"/>
              </a:rPr>
              <a:t>Topics covered</a:t>
            </a:r>
          </a:p>
        </p:txBody>
      </p:sp>
      <p:sp>
        <p:nvSpPr>
          <p:cNvPr id="3" name="Content Placeholder 2"/>
          <p:cNvSpPr>
            <a:spLocks noGrp="1"/>
          </p:cNvSpPr>
          <p:nvPr>
            <p:ph idx="1"/>
          </p:nvPr>
        </p:nvSpPr>
        <p:spPr/>
        <p:txBody>
          <a:bodyPr>
            <a:normAutofit/>
          </a:bodyPr>
          <a:lstStyle/>
          <a:p>
            <a:pPr>
              <a:lnSpc>
                <a:spcPct val="150000"/>
              </a:lnSpc>
            </a:pPr>
            <a:r>
              <a:rPr lang="en-US" sz="2400" dirty="0">
                <a:latin typeface="Times New Roman" pitchFamily="18" charset="0"/>
                <a:cs typeface="Times New Roman" pitchFamily="18" charset="0"/>
              </a:rPr>
              <a:t>Functional and non functional requirement</a:t>
            </a:r>
          </a:p>
          <a:p>
            <a:pPr>
              <a:lnSpc>
                <a:spcPct val="150000"/>
              </a:lnSpc>
            </a:pPr>
            <a:r>
              <a:rPr lang="en-US" sz="2400" dirty="0">
                <a:latin typeface="Times New Roman" pitchFamily="18" charset="0"/>
                <a:cs typeface="Times New Roman" pitchFamily="18" charset="0"/>
              </a:rPr>
              <a:t>Decision tree</a:t>
            </a:r>
          </a:p>
          <a:p>
            <a:pPr>
              <a:lnSpc>
                <a:spcPct val="150000"/>
              </a:lnSpc>
            </a:pPr>
            <a:r>
              <a:rPr lang="en-US" sz="2400" dirty="0">
                <a:latin typeface="Times New Roman" pitchFamily="18" charset="0"/>
                <a:cs typeface="Times New Roman" pitchFamily="18" charset="0"/>
              </a:rPr>
              <a:t>Decision table</a:t>
            </a:r>
          </a:p>
          <a:p>
            <a:pPr>
              <a:lnSpc>
                <a:spcPct val="150000"/>
              </a:lnSpc>
            </a:pPr>
            <a:r>
              <a:rPr lang="en-US" sz="2400" dirty="0">
                <a:latin typeface="Times New Roman" pitchFamily="18" charset="0"/>
                <a:cs typeface="Times New Roman" pitchFamily="18" charset="0"/>
              </a:rPr>
              <a:t>Data Modeling</a:t>
            </a:r>
          </a:p>
          <a:p>
            <a:pPr>
              <a:lnSpc>
                <a:spcPct val="150000"/>
              </a:lnSpc>
            </a:pPr>
            <a:r>
              <a:rPr lang="en-US" sz="2400" dirty="0">
                <a:latin typeface="Times New Roman" pitchFamily="18" charset="0"/>
                <a:cs typeface="Times New Roman" pitchFamily="18" charset="0"/>
              </a:rPr>
              <a:t>Functional Modeling</a:t>
            </a:r>
          </a:p>
          <a:p>
            <a:pPr>
              <a:lnSpc>
                <a:spcPct val="150000"/>
              </a:lnSpc>
            </a:pPr>
            <a:r>
              <a:rPr lang="en-US" sz="2400" dirty="0">
                <a:latin typeface="Times New Roman" pitchFamily="18" charset="0"/>
                <a:cs typeface="Times New Roman" pitchFamily="18" charset="0"/>
              </a:rPr>
              <a:t>Behavioral Modeling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774551"/>
            <a:ext cx="10515600" cy="8494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161826"/>
            <a:ext cx="10515600" cy="528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FUNCTIONAL REQUIREMENTS</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r>
              <a:rPr lang="en-GB" sz="2000" dirty="0">
                <a:latin typeface="Times New Roman" pitchFamily="18" charset="0"/>
                <a:cs typeface="Times New Roman" pitchFamily="18" charset="0"/>
              </a:rPr>
              <a:t>Functional requirements describe: </a:t>
            </a:r>
          </a:p>
          <a:p>
            <a:pPr marL="742950" lvl="1"/>
            <a:r>
              <a:rPr lang="en-GB" sz="2000" dirty="0">
                <a:latin typeface="Times New Roman" pitchFamily="18" charset="0"/>
                <a:cs typeface="Times New Roman" pitchFamily="18" charset="0"/>
              </a:rPr>
              <a:t>A set of high-level requirements</a:t>
            </a:r>
          </a:p>
          <a:p>
            <a:pPr marL="742950" lvl="1"/>
            <a:r>
              <a:rPr lang="en-GB" sz="2000" dirty="0">
                <a:latin typeface="Times New Roman" pitchFamily="18" charset="0"/>
                <a:cs typeface="Times New Roman" pitchFamily="18" charset="0"/>
              </a:rPr>
              <a:t>Each high-level requirement:</a:t>
            </a:r>
          </a:p>
          <a:p>
            <a:pPr lvl="2"/>
            <a:r>
              <a:rPr lang="en-GB" dirty="0">
                <a:latin typeface="Times New Roman" pitchFamily="18" charset="0"/>
                <a:cs typeface="Times New Roman" pitchFamily="18" charset="0"/>
              </a:rPr>
              <a:t>takes in some data from the user</a:t>
            </a:r>
          </a:p>
          <a:p>
            <a:pPr lvl="2"/>
            <a:r>
              <a:rPr lang="en-GB" dirty="0">
                <a:latin typeface="Times New Roman" pitchFamily="18" charset="0"/>
                <a:cs typeface="Times New Roman" pitchFamily="18" charset="0"/>
              </a:rPr>
              <a:t>outputs some data to the user</a:t>
            </a:r>
          </a:p>
          <a:p>
            <a:pPr marL="742950" lvl="1"/>
            <a:r>
              <a:rPr lang="en-GB" sz="2000" dirty="0">
                <a:latin typeface="Times New Roman" pitchFamily="18" charset="0"/>
                <a:cs typeface="Times New Roman" pitchFamily="18" charset="0"/>
              </a:rPr>
              <a:t>Each high-level requirement:</a:t>
            </a:r>
          </a:p>
          <a:p>
            <a:pPr lvl="2"/>
            <a:r>
              <a:rPr lang="en-GB" dirty="0">
                <a:latin typeface="Times New Roman" pitchFamily="18" charset="0"/>
                <a:cs typeface="Times New Roman" pitchFamily="18" charset="0"/>
              </a:rPr>
              <a:t>might consist of a set of identifiable functions</a:t>
            </a:r>
          </a:p>
          <a:p>
            <a:pPr marL="342900" indent="-342900">
              <a:spcBef>
                <a:spcPts val="800"/>
              </a:spcBef>
            </a:pPr>
            <a:r>
              <a:rPr lang="en-GB" sz="2000" dirty="0">
                <a:latin typeface="Times New Roman" pitchFamily="18" charset="0"/>
                <a:cs typeface="Times New Roman" pitchFamily="18" charset="0"/>
              </a:rPr>
              <a:t>For each high-level requirement:</a:t>
            </a:r>
          </a:p>
          <a:p>
            <a:pPr marL="742950" lvl="1">
              <a:spcBef>
                <a:spcPts val="725"/>
              </a:spcBef>
            </a:pPr>
            <a:r>
              <a:rPr lang="en-GB" sz="2000" dirty="0">
                <a:latin typeface="Times New Roman" pitchFamily="18" charset="0"/>
                <a:cs typeface="Times New Roman" pitchFamily="18" charset="0"/>
              </a:rPr>
              <a:t>Every function is described in terms of:</a:t>
            </a:r>
          </a:p>
          <a:p>
            <a:pPr lvl="2">
              <a:spcBef>
                <a:spcPts val="625"/>
              </a:spcBef>
            </a:pPr>
            <a:r>
              <a:rPr lang="en-GB" dirty="0">
                <a:latin typeface="Times New Roman" pitchFamily="18" charset="0"/>
                <a:cs typeface="Times New Roman" pitchFamily="18" charset="0"/>
              </a:rPr>
              <a:t>Input data set </a:t>
            </a:r>
          </a:p>
          <a:p>
            <a:pPr lvl="2">
              <a:spcBef>
                <a:spcPts val="625"/>
              </a:spcBef>
            </a:pPr>
            <a:r>
              <a:rPr lang="en-GB" dirty="0">
                <a:latin typeface="Times New Roman" pitchFamily="18" charset="0"/>
                <a:cs typeface="Times New Roman" pitchFamily="18" charset="0"/>
              </a:rPr>
              <a:t>Output data set</a:t>
            </a:r>
          </a:p>
          <a:p>
            <a:pPr lvl="2">
              <a:spcBef>
                <a:spcPts val="625"/>
              </a:spcBef>
            </a:pPr>
            <a:r>
              <a:rPr lang="en-GB" dirty="0">
                <a:latin typeface="Times New Roman" pitchFamily="18" charset="0"/>
                <a:cs typeface="Times New Roman" pitchFamily="18" charset="0"/>
              </a:rPr>
              <a:t>Processing required to obtain the output data set from the input data set.</a:t>
            </a:r>
          </a:p>
          <a:p>
            <a:pPr lvl="2"/>
            <a:endParaRPr lang="en-GB" dirty="0">
              <a:latin typeface="Times New Roman" pitchFamily="18" charset="0"/>
              <a:cs typeface="Times New Roman" pitchFamily="18" charset="0"/>
            </a:endParaRPr>
          </a:p>
          <a:p>
            <a:pPr marL="742950" lvl="1">
              <a:spcBef>
                <a:spcPts val="538"/>
              </a:spcBef>
            </a:pPr>
            <a:endParaRPr lang="en-GB" sz="2000" dirty="0">
              <a:latin typeface="Times New Roman" pitchFamily="18" charset="0"/>
              <a:cs typeface="Times New Roman" pitchFamily="18" charset="0"/>
            </a:endParaRPr>
          </a:p>
          <a:p>
            <a:pPr marL="342900" indent="-342900"/>
            <a:endParaRPr lang="en-GB"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FUNCTIONAL REQUIREMENTS</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Functional Requirement</a:t>
            </a:r>
            <a:r>
              <a:rPr lang="en-US" dirty="0">
                <a:latin typeface="Times New Roman" panose="02020603050405020304" pitchFamily="18" charset="0"/>
                <a:cs typeface="Times New Roman" panose="02020603050405020304" pitchFamily="18" charset="0"/>
              </a:rPr>
              <a:t>  is a description of the service that the software must offer. </a:t>
            </a:r>
          </a:p>
          <a:p>
            <a:pPr algn="just"/>
            <a:r>
              <a:rPr lang="en-US" dirty="0">
                <a:latin typeface="Times New Roman" panose="02020603050405020304" pitchFamily="18" charset="0"/>
                <a:cs typeface="Times New Roman" panose="02020603050405020304" pitchFamily="18" charset="0"/>
              </a:rPr>
              <a:t>It describes a software system or its component.</a:t>
            </a:r>
          </a:p>
          <a:p>
            <a:pPr algn="just"/>
            <a:r>
              <a:rPr lang="en-US" dirty="0">
                <a:latin typeface="Times New Roman" panose="02020603050405020304" pitchFamily="18" charset="0"/>
                <a:cs typeface="Times New Roman" panose="02020603050405020304" pitchFamily="18" charset="0"/>
              </a:rPr>
              <a:t> A function is nothing but inputs to the software system, its behavior, and outputs. </a:t>
            </a:r>
          </a:p>
          <a:p>
            <a:pPr algn="just"/>
            <a:r>
              <a:rPr lang="en-US" dirty="0">
                <a:latin typeface="Times New Roman" panose="02020603050405020304" pitchFamily="18" charset="0"/>
                <a:cs typeface="Times New Roman" panose="02020603050405020304" pitchFamily="18" charset="0"/>
              </a:rPr>
              <a:t>It can be a calculation, data manipulation, business process, user interaction, or any other specific functionality which defines what function a system is likely to perform. </a:t>
            </a:r>
          </a:p>
          <a:p>
            <a:pPr algn="just"/>
            <a:r>
              <a:rPr lang="en-US" dirty="0">
                <a:latin typeface="Times New Roman" panose="02020603050405020304" pitchFamily="18" charset="0"/>
                <a:cs typeface="Times New Roman" panose="02020603050405020304" pitchFamily="18" charset="0"/>
              </a:rPr>
              <a:t>Functional Requirements are also called </a:t>
            </a:r>
            <a:r>
              <a:rPr lang="en-US" b="1" dirty="0">
                <a:latin typeface="Times New Roman" panose="02020603050405020304" pitchFamily="18" charset="0"/>
                <a:cs typeface="Times New Roman" panose="02020603050405020304" pitchFamily="18" charset="0"/>
              </a:rPr>
              <a:t>Functional Specification</a:t>
            </a:r>
            <a:r>
              <a:rPr lang="en-US"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FUNCTIONAL REQUIREMENTS</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software engineering and systems engineering, a Functional Requirement can range from the high-level abstract statement of the sender's necessity to detailed mathematical functional requirement specifications. </a:t>
            </a:r>
          </a:p>
          <a:p>
            <a:pPr algn="just"/>
            <a:r>
              <a:rPr lang="en-US" dirty="0">
                <a:latin typeface="Times New Roman" panose="02020603050405020304" pitchFamily="18" charset="0"/>
                <a:cs typeface="Times New Roman" panose="02020603050405020304" pitchFamily="18" charset="0"/>
              </a:rPr>
              <a:t>Functional software requirements help you to capture the intended behavior of the system.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FUNCTIONAL REQUIREMENTS : EXAMPLE</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58370" name="Picture 2"/>
          <p:cNvPicPr>
            <a:picLocks noGrp="1" noChangeAspect="1" noChangeArrowheads="1"/>
          </p:cNvPicPr>
          <p:nvPr>
            <p:ph idx="1"/>
          </p:nvPr>
        </p:nvPicPr>
        <p:blipFill>
          <a:blip r:embed="rId2"/>
          <a:srcRect/>
          <a:stretch>
            <a:fillRect/>
          </a:stretch>
        </p:blipFill>
        <p:spPr bwMode="auto">
          <a:xfrm>
            <a:off x="2105664" y="2231775"/>
            <a:ext cx="8830756" cy="3213681"/>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 should include: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Details of operations conducted in every screen</a:t>
            </a:r>
          </a:p>
          <a:p>
            <a:pPr algn="just"/>
            <a:r>
              <a:rPr lang="en-US" dirty="0">
                <a:latin typeface="Times New Roman" panose="02020603050405020304" pitchFamily="18" charset="0"/>
                <a:cs typeface="Times New Roman" panose="02020603050405020304" pitchFamily="18" charset="0"/>
              </a:rPr>
              <a:t>Data handling logic should be entered into the system</a:t>
            </a:r>
          </a:p>
          <a:p>
            <a:pPr algn="just"/>
            <a:r>
              <a:rPr lang="en-US" dirty="0">
                <a:latin typeface="Times New Roman" panose="02020603050405020304" pitchFamily="18" charset="0"/>
                <a:cs typeface="Times New Roman" panose="02020603050405020304" pitchFamily="18" charset="0"/>
              </a:rPr>
              <a:t>It should have descriptions of system reports or other outputs</a:t>
            </a:r>
          </a:p>
          <a:p>
            <a:pPr algn="just"/>
            <a:r>
              <a:rPr lang="en-US" dirty="0">
                <a:latin typeface="Times New Roman" panose="02020603050405020304" pitchFamily="18" charset="0"/>
                <a:cs typeface="Times New Roman" panose="02020603050405020304" pitchFamily="18" charset="0"/>
              </a:rPr>
              <a:t>Complete information about the workflows performed by the system</a:t>
            </a:r>
          </a:p>
          <a:p>
            <a:pPr algn="just"/>
            <a:r>
              <a:rPr lang="en-US" dirty="0">
                <a:latin typeface="Times New Roman" panose="02020603050405020304" pitchFamily="18" charset="0"/>
                <a:cs typeface="Times New Roman" panose="02020603050405020304" pitchFamily="18" charset="0"/>
              </a:rPr>
              <a:t>It should clearly define who will be allowed to create/modify/delete the data in the system</a:t>
            </a:r>
          </a:p>
          <a:p>
            <a:pPr algn="just"/>
            <a:r>
              <a:rPr lang="en-US" dirty="0">
                <a:latin typeface="Times New Roman" panose="02020603050405020304" pitchFamily="18" charset="0"/>
                <a:cs typeface="Times New Roman" panose="02020603050405020304" pitchFamily="18" charset="0"/>
              </a:rPr>
              <a:t>How the system will fulfill applicable regulatory and compliance needs should be captured in the functional document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Benefits of Functional Requirement</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Helps you to check whether the application is providing all the functionalities that were mentioned in the functional requirement of that application</a:t>
            </a:r>
          </a:p>
          <a:p>
            <a:pPr algn="just"/>
            <a:r>
              <a:rPr lang="en-US" dirty="0">
                <a:latin typeface="Times New Roman" panose="02020603050405020304" pitchFamily="18" charset="0"/>
                <a:cs typeface="Times New Roman" panose="02020603050405020304" pitchFamily="18" charset="0"/>
              </a:rPr>
              <a:t>A functional requirement document helps you to define the functionality of a system or one of its subsystems.</a:t>
            </a:r>
          </a:p>
          <a:p>
            <a:pPr algn="just"/>
            <a:r>
              <a:rPr lang="en-US" dirty="0">
                <a:latin typeface="Times New Roman" panose="02020603050405020304" pitchFamily="18" charset="0"/>
                <a:cs typeface="Times New Roman" panose="02020603050405020304" pitchFamily="18" charset="0"/>
              </a:rPr>
              <a:t>Functional requirements along with requirement analysis help identify missing requirements. They help clearly define the expected system service and behavior.</a:t>
            </a:r>
          </a:p>
          <a:p>
            <a:pPr algn="just"/>
            <a:r>
              <a:rPr lang="en-US" dirty="0">
                <a:latin typeface="Times New Roman" panose="02020603050405020304" pitchFamily="18" charset="0"/>
                <a:cs typeface="Times New Roman" panose="02020603050405020304" pitchFamily="18" charset="0"/>
              </a:rPr>
              <a:t>Errors caught in the Functional requirement gathering stage are the cheapest to fix.</a:t>
            </a:r>
          </a:p>
          <a:p>
            <a:pPr algn="just"/>
            <a:r>
              <a:rPr lang="en-US" dirty="0">
                <a:latin typeface="Times New Roman" panose="02020603050405020304" pitchFamily="18" charset="0"/>
                <a:cs typeface="Times New Roman" panose="02020603050405020304" pitchFamily="18" charset="0"/>
              </a:rPr>
              <a:t>Support user goals, tasks, or activities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Types of Functional Requirements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Transaction Handling</a:t>
            </a:r>
          </a:p>
          <a:p>
            <a:pPr algn="just"/>
            <a:r>
              <a:rPr lang="en-US" dirty="0">
                <a:latin typeface="Times New Roman" panose="02020603050405020304" pitchFamily="18" charset="0"/>
                <a:cs typeface="Times New Roman" panose="02020603050405020304" pitchFamily="18" charset="0"/>
              </a:rPr>
              <a:t>Business Rules</a:t>
            </a:r>
          </a:p>
          <a:p>
            <a:pPr algn="just"/>
            <a:r>
              <a:rPr lang="en-US" dirty="0">
                <a:latin typeface="Times New Roman" panose="02020603050405020304" pitchFamily="18" charset="0"/>
                <a:cs typeface="Times New Roman" panose="02020603050405020304" pitchFamily="18" charset="0"/>
              </a:rPr>
              <a:t>Certification Requirements</a:t>
            </a:r>
          </a:p>
          <a:p>
            <a:pPr algn="just"/>
            <a:r>
              <a:rPr lang="en-US" dirty="0">
                <a:latin typeface="Times New Roman" panose="02020603050405020304" pitchFamily="18" charset="0"/>
                <a:cs typeface="Times New Roman" panose="02020603050405020304" pitchFamily="18" charset="0"/>
              </a:rPr>
              <a:t>Reporting Requirements</a:t>
            </a:r>
          </a:p>
          <a:p>
            <a:pPr algn="just"/>
            <a:r>
              <a:rPr lang="en-US" dirty="0">
                <a:latin typeface="Times New Roman" panose="02020603050405020304" pitchFamily="18" charset="0"/>
                <a:cs typeface="Times New Roman" panose="02020603050405020304" pitchFamily="18" charset="0"/>
              </a:rPr>
              <a:t>Administrative functions</a:t>
            </a:r>
          </a:p>
          <a:p>
            <a:pPr algn="just"/>
            <a:r>
              <a:rPr lang="en-US" dirty="0">
                <a:latin typeface="Times New Roman" panose="02020603050405020304" pitchFamily="18" charset="0"/>
                <a:cs typeface="Times New Roman" panose="02020603050405020304" pitchFamily="18" charset="0"/>
              </a:rPr>
              <a:t>Authorization levels</a:t>
            </a:r>
          </a:p>
          <a:p>
            <a:pPr algn="just"/>
            <a:r>
              <a:rPr lang="en-US" dirty="0">
                <a:latin typeface="Times New Roman" panose="02020603050405020304" pitchFamily="18" charset="0"/>
                <a:cs typeface="Times New Roman" panose="02020603050405020304" pitchFamily="18" charset="0"/>
              </a:rPr>
              <a:t>Audit Tracking</a:t>
            </a:r>
          </a:p>
          <a:p>
            <a:pPr algn="just"/>
            <a:r>
              <a:rPr lang="en-US" dirty="0">
                <a:latin typeface="Times New Roman" panose="02020603050405020304" pitchFamily="18" charset="0"/>
                <a:cs typeface="Times New Roman" panose="02020603050405020304" pitchFamily="18" charset="0"/>
              </a:rPr>
              <a:t>External Interfaces</a:t>
            </a:r>
          </a:p>
          <a:p>
            <a:pPr algn="just"/>
            <a:r>
              <a:rPr lang="en-US" dirty="0">
                <a:latin typeface="Times New Roman" panose="02020603050405020304" pitchFamily="18" charset="0"/>
                <a:cs typeface="Times New Roman" panose="02020603050405020304" pitchFamily="18" charset="0"/>
              </a:rPr>
              <a:t>Historical Data management</a:t>
            </a:r>
          </a:p>
          <a:p>
            <a:pPr algn="just"/>
            <a:r>
              <a:rPr lang="en-US" dirty="0">
                <a:latin typeface="Times New Roman" panose="02020603050405020304" pitchFamily="18" charset="0"/>
                <a:cs typeface="Times New Roman" panose="02020603050405020304" pitchFamily="18" charset="0"/>
              </a:rPr>
              <a:t>Legal and Regulatory Requirements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NON FUNCTIONAL REQUIREMENTS</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00"/>
              </a:spcBef>
            </a:pPr>
            <a:r>
              <a:rPr lang="en-GB" sz="2000" dirty="0">
                <a:latin typeface="Times New Roman" pitchFamily="18" charset="0"/>
                <a:cs typeface="Times New Roman" pitchFamily="18" charset="0"/>
              </a:rPr>
              <a:t>Characteristics of the system which can not be expressed as functions: </a:t>
            </a:r>
          </a:p>
          <a:p>
            <a:pPr lvl="2" algn="just">
              <a:spcBef>
                <a:spcPts val="725"/>
              </a:spcBef>
            </a:pPr>
            <a:r>
              <a:rPr lang="en-GB" dirty="0">
                <a:latin typeface="Times New Roman" pitchFamily="18" charset="0"/>
                <a:cs typeface="Times New Roman" pitchFamily="18" charset="0"/>
              </a:rPr>
              <a:t>Maintainability, </a:t>
            </a:r>
          </a:p>
          <a:p>
            <a:pPr lvl="2" algn="just">
              <a:spcBef>
                <a:spcPts val="725"/>
              </a:spcBef>
            </a:pPr>
            <a:r>
              <a:rPr lang="en-GB" dirty="0">
                <a:latin typeface="Times New Roman" pitchFamily="18" charset="0"/>
                <a:cs typeface="Times New Roman" pitchFamily="18" charset="0"/>
              </a:rPr>
              <a:t>Portability, </a:t>
            </a:r>
          </a:p>
          <a:p>
            <a:pPr lvl="2" algn="just">
              <a:spcBef>
                <a:spcPts val="725"/>
              </a:spcBef>
            </a:pPr>
            <a:r>
              <a:rPr lang="en-GB" dirty="0">
                <a:latin typeface="Times New Roman" pitchFamily="18" charset="0"/>
                <a:cs typeface="Times New Roman" pitchFamily="18" charset="0"/>
              </a:rPr>
              <a:t>Usability, etc. </a:t>
            </a:r>
          </a:p>
          <a:p>
            <a:pPr marL="342900" indent="-342900" algn="just">
              <a:spcBef>
                <a:spcPts val="800"/>
              </a:spcBef>
            </a:pPr>
            <a:r>
              <a:rPr lang="en-GB" sz="2000" dirty="0">
                <a:latin typeface="Times New Roman" pitchFamily="18" charset="0"/>
                <a:cs typeface="Times New Roman" pitchFamily="18" charset="0"/>
              </a:rPr>
              <a:t>Non functional requirements include:</a:t>
            </a:r>
          </a:p>
          <a:p>
            <a:pPr marL="742950" lvl="1" algn="just">
              <a:lnSpc>
                <a:spcPct val="84000"/>
              </a:lnSpc>
              <a:spcBef>
                <a:spcPts val="725"/>
              </a:spcBef>
            </a:pPr>
            <a:r>
              <a:rPr lang="en-GB" sz="2000" dirty="0">
                <a:latin typeface="Times New Roman" pitchFamily="18" charset="0"/>
                <a:cs typeface="Times New Roman" pitchFamily="18" charset="0"/>
              </a:rPr>
              <a:t>Reliability issues, </a:t>
            </a:r>
          </a:p>
          <a:p>
            <a:pPr marL="742950" lvl="1" algn="just">
              <a:lnSpc>
                <a:spcPct val="84000"/>
              </a:lnSpc>
              <a:spcBef>
                <a:spcPts val="725"/>
              </a:spcBef>
            </a:pPr>
            <a:r>
              <a:rPr lang="en-GB" sz="2000" dirty="0">
                <a:latin typeface="Times New Roman" pitchFamily="18" charset="0"/>
                <a:cs typeface="Times New Roman" pitchFamily="18" charset="0"/>
              </a:rPr>
              <a:t>Performance issues:</a:t>
            </a:r>
          </a:p>
          <a:p>
            <a:pPr lvl="2" algn="just">
              <a:lnSpc>
                <a:spcPct val="84000"/>
              </a:lnSpc>
              <a:spcBef>
                <a:spcPts val="625"/>
              </a:spcBef>
            </a:pPr>
            <a:r>
              <a:rPr lang="en-GB" dirty="0">
                <a:latin typeface="Times New Roman" pitchFamily="18" charset="0"/>
                <a:cs typeface="Times New Roman" pitchFamily="18" charset="0"/>
              </a:rPr>
              <a:t>Example: How fast the system can produce results </a:t>
            </a:r>
          </a:p>
          <a:p>
            <a:pPr lvl="3" algn="just">
              <a:lnSpc>
                <a:spcPct val="84000"/>
              </a:lnSpc>
              <a:spcBef>
                <a:spcPts val="625"/>
              </a:spcBef>
            </a:pPr>
            <a:r>
              <a:rPr lang="en-GB" sz="2000" dirty="0">
                <a:latin typeface="Times New Roman" pitchFamily="18" charset="0"/>
                <a:cs typeface="Times New Roman" pitchFamily="18" charset="0"/>
              </a:rPr>
              <a:t>so that it does not overload another system to which it supplies data, etc. </a:t>
            </a:r>
          </a:p>
          <a:p>
            <a:pPr marL="742950" lvl="1" algn="just">
              <a:lnSpc>
                <a:spcPct val="84000"/>
              </a:lnSpc>
              <a:spcBef>
                <a:spcPts val="725"/>
              </a:spcBef>
            </a:pPr>
            <a:r>
              <a:rPr lang="en-GB" sz="2000" dirty="0">
                <a:latin typeface="Times New Roman" pitchFamily="18" charset="0"/>
                <a:cs typeface="Times New Roman" pitchFamily="18" charset="0"/>
              </a:rPr>
              <a:t>Human-computer interface issues, </a:t>
            </a:r>
          </a:p>
          <a:p>
            <a:pPr marL="742950" lvl="1" algn="just">
              <a:lnSpc>
                <a:spcPct val="84000"/>
              </a:lnSpc>
              <a:spcBef>
                <a:spcPts val="725"/>
              </a:spcBef>
            </a:pPr>
            <a:r>
              <a:rPr lang="en-GB" sz="2000" dirty="0">
                <a:latin typeface="Times New Roman" pitchFamily="18" charset="0"/>
                <a:cs typeface="Times New Roman" pitchFamily="18" charset="0"/>
              </a:rPr>
              <a:t>Interface with other external systems,  </a:t>
            </a:r>
          </a:p>
          <a:p>
            <a:pPr marL="742950" lvl="1" algn="just">
              <a:lnSpc>
                <a:spcPct val="84000"/>
              </a:lnSpc>
              <a:spcBef>
                <a:spcPts val="725"/>
              </a:spcBef>
            </a:pPr>
            <a:r>
              <a:rPr lang="en-GB" sz="2000" dirty="0">
                <a:latin typeface="Times New Roman" pitchFamily="18" charset="0"/>
                <a:cs typeface="Times New Roman" pitchFamily="18" charset="0"/>
              </a:rPr>
              <a:t>Security, maintainability, etc.</a:t>
            </a:r>
          </a:p>
          <a:p>
            <a:pPr lvl="2" algn="just">
              <a:spcBef>
                <a:spcPts val="725"/>
              </a:spcBef>
            </a:pPr>
            <a:endParaRPr lang="en-GB" dirty="0">
              <a:latin typeface="Times New Roman" pitchFamily="18" charset="0"/>
              <a:cs typeface="Times New Roman" pitchFamily="18" charset="0"/>
            </a:endParaRPr>
          </a:p>
          <a:p>
            <a:pPr marL="742950" lvl="1" algn="just">
              <a:spcBef>
                <a:spcPts val="538"/>
              </a:spcBef>
            </a:pPr>
            <a:endParaRPr lang="en-GB" sz="2000" dirty="0">
              <a:latin typeface="Times New Roman" pitchFamily="18" charset="0"/>
              <a:cs typeface="Times New Roman" pitchFamily="18" charset="0"/>
            </a:endParaRPr>
          </a:p>
          <a:p>
            <a:pPr marL="342900" indent="-342900" algn="just"/>
            <a:endParaRPr lang="en-GB"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NON FUNCTIONAL REQUIREMENTS</a:t>
            </a: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NON-FUNCTIONAL REQUIREMENT</a:t>
            </a:r>
            <a:r>
              <a:rPr lang="en-US" dirty="0">
                <a:latin typeface="Times New Roman" panose="02020603050405020304" pitchFamily="18" charset="0"/>
                <a:cs typeface="Times New Roman" panose="02020603050405020304" pitchFamily="18" charset="0"/>
              </a:rPr>
              <a:t> (NFR) specifies the quality attribute of a software system. </a:t>
            </a:r>
          </a:p>
          <a:p>
            <a:pPr algn="just"/>
            <a:r>
              <a:rPr lang="en-US" dirty="0">
                <a:latin typeface="Times New Roman" panose="02020603050405020304" pitchFamily="18" charset="0"/>
                <a:cs typeface="Times New Roman" panose="02020603050405020304" pitchFamily="18" charset="0"/>
              </a:rPr>
              <a:t>They judge the software system based on Responsiveness, Usability, Security, Portability and other non-functional standards that are critical to the success of the software system. </a:t>
            </a:r>
          </a:p>
          <a:p>
            <a:pPr algn="just"/>
            <a:r>
              <a:rPr lang="en-US" dirty="0">
                <a:latin typeface="Times New Roman" panose="02020603050405020304" pitchFamily="18" charset="0"/>
                <a:cs typeface="Times New Roman" panose="02020603050405020304" pitchFamily="18" charset="0"/>
              </a:rPr>
              <a:t>Example of nonfunctional requirement, </a:t>
            </a:r>
            <a:r>
              <a:rPr lang="en-US" i="1" dirty="0">
                <a:latin typeface="Times New Roman" panose="02020603050405020304" pitchFamily="18" charset="0"/>
                <a:cs typeface="Times New Roman" panose="02020603050405020304" pitchFamily="18" charset="0"/>
              </a:rPr>
              <a:t>“how fast does the website load?”</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Failing to meet non-functional requirements can result in systems that fail to satisfy user needs.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NON FUNCTIONAL REQUIREMENTS</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Non-functional Requirements allows you to impose constraints or restrictions on the design of the system across the various agile backlogs.</a:t>
            </a:r>
          </a:p>
          <a:p>
            <a:pPr algn="just"/>
            <a:r>
              <a:rPr lang="en-US" dirty="0">
                <a:latin typeface="Times New Roman" panose="02020603050405020304" pitchFamily="18" charset="0"/>
                <a:cs typeface="Times New Roman" panose="02020603050405020304" pitchFamily="18" charset="0"/>
              </a:rPr>
              <a:t> Example, the site should load in 3 seconds when the number of simultaneous users are &gt; 10000.</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NON-FUNCTIONAL REQUIREMENTS</a:t>
            </a:r>
          </a:p>
        </p:txBody>
      </p:sp>
      <p:sp>
        <p:nvSpPr>
          <p:cNvPr id="3" name="Content Placeholder 2"/>
          <p:cNvSpPr>
            <a:spLocks noGrp="1"/>
          </p:cNvSpPr>
          <p:nvPr>
            <p:ph idx="1"/>
          </p:nvPr>
        </p:nvSpPr>
        <p:spPr>
          <a:xfrm>
            <a:off x="838200" y="1473798"/>
            <a:ext cx="10515600" cy="4703165"/>
          </a:xfrm>
        </p:spPr>
        <p:txBody>
          <a:bodyPr>
            <a:noAutofit/>
          </a:bodyPr>
          <a:lstStyle/>
          <a:p>
            <a:r>
              <a:rPr lang="en-US" sz="1400" dirty="0">
                <a:latin typeface="Times New Roman" panose="02020603050405020304" pitchFamily="18" charset="0"/>
                <a:cs typeface="Times New Roman" panose="02020603050405020304" pitchFamily="18" charset="0"/>
              </a:rPr>
              <a:t>Usability requirement</a:t>
            </a:r>
          </a:p>
          <a:p>
            <a:r>
              <a:rPr lang="en-US" sz="1400" dirty="0">
                <a:latin typeface="Times New Roman" panose="02020603050405020304" pitchFamily="18" charset="0"/>
                <a:cs typeface="Times New Roman" panose="02020603050405020304" pitchFamily="18" charset="0"/>
              </a:rPr>
              <a:t>Serviceability requirement</a:t>
            </a:r>
          </a:p>
          <a:p>
            <a:r>
              <a:rPr lang="en-US" sz="1400" dirty="0">
                <a:latin typeface="Times New Roman" panose="02020603050405020304" pitchFamily="18" charset="0"/>
                <a:cs typeface="Times New Roman" panose="02020603050405020304" pitchFamily="18" charset="0"/>
              </a:rPr>
              <a:t>Manageability requirement</a:t>
            </a:r>
          </a:p>
          <a:p>
            <a:r>
              <a:rPr lang="en-US" sz="1400" dirty="0">
                <a:latin typeface="Times New Roman" panose="02020603050405020304" pitchFamily="18" charset="0"/>
                <a:cs typeface="Times New Roman" panose="02020603050405020304" pitchFamily="18" charset="0"/>
              </a:rPr>
              <a:t>Recoverability requirement</a:t>
            </a:r>
          </a:p>
          <a:p>
            <a:r>
              <a:rPr lang="en-US" sz="1400" dirty="0">
                <a:latin typeface="Times New Roman" panose="02020603050405020304" pitchFamily="18" charset="0"/>
                <a:cs typeface="Times New Roman" panose="02020603050405020304" pitchFamily="18" charset="0"/>
              </a:rPr>
              <a:t>Security requirement</a:t>
            </a:r>
          </a:p>
          <a:p>
            <a:r>
              <a:rPr lang="en-US" sz="1400" dirty="0">
                <a:latin typeface="Times New Roman" panose="02020603050405020304" pitchFamily="18" charset="0"/>
                <a:cs typeface="Times New Roman" panose="02020603050405020304" pitchFamily="18" charset="0"/>
              </a:rPr>
              <a:t>Data Integrity requirement</a:t>
            </a:r>
          </a:p>
          <a:p>
            <a:r>
              <a:rPr lang="en-US" sz="1400" dirty="0">
                <a:latin typeface="Times New Roman" panose="02020603050405020304" pitchFamily="18" charset="0"/>
                <a:cs typeface="Times New Roman" panose="02020603050405020304" pitchFamily="18" charset="0"/>
              </a:rPr>
              <a:t>Capacity requirement</a:t>
            </a:r>
          </a:p>
          <a:p>
            <a:r>
              <a:rPr lang="en-US" sz="1400" dirty="0">
                <a:latin typeface="Times New Roman" panose="02020603050405020304" pitchFamily="18" charset="0"/>
                <a:cs typeface="Times New Roman" panose="02020603050405020304" pitchFamily="18" charset="0"/>
              </a:rPr>
              <a:t>Availability requirement</a:t>
            </a:r>
          </a:p>
          <a:p>
            <a:r>
              <a:rPr lang="en-US" sz="1400" dirty="0">
                <a:latin typeface="Times New Roman" panose="02020603050405020304" pitchFamily="18" charset="0"/>
                <a:cs typeface="Times New Roman" panose="02020603050405020304" pitchFamily="18" charset="0"/>
              </a:rPr>
              <a:t>Scalability requirement</a:t>
            </a:r>
          </a:p>
          <a:p>
            <a:r>
              <a:rPr lang="en-US" sz="1400" dirty="0">
                <a:latin typeface="Times New Roman" panose="02020603050405020304" pitchFamily="18" charset="0"/>
                <a:cs typeface="Times New Roman" panose="02020603050405020304" pitchFamily="18" charset="0"/>
              </a:rPr>
              <a:t>Interoperability requirement</a:t>
            </a:r>
          </a:p>
          <a:p>
            <a:r>
              <a:rPr lang="en-US" sz="1400" dirty="0">
                <a:latin typeface="Times New Roman" panose="02020603050405020304" pitchFamily="18" charset="0"/>
                <a:cs typeface="Times New Roman" panose="02020603050405020304" pitchFamily="18" charset="0"/>
              </a:rPr>
              <a:t>Reliability requirement</a:t>
            </a:r>
          </a:p>
          <a:p>
            <a:r>
              <a:rPr lang="en-US" sz="1400" dirty="0">
                <a:latin typeface="Times New Roman" panose="02020603050405020304" pitchFamily="18" charset="0"/>
                <a:cs typeface="Times New Roman" panose="02020603050405020304" pitchFamily="18" charset="0"/>
              </a:rPr>
              <a:t>Maintainability requirement</a:t>
            </a:r>
          </a:p>
          <a:p>
            <a:r>
              <a:rPr lang="en-US" sz="1400" dirty="0">
                <a:latin typeface="Times New Roman" panose="02020603050405020304" pitchFamily="18" charset="0"/>
                <a:cs typeface="Times New Roman" panose="02020603050405020304" pitchFamily="18" charset="0"/>
              </a:rPr>
              <a:t>Regulatory requirement</a:t>
            </a:r>
          </a:p>
          <a:p>
            <a:r>
              <a:rPr lang="en-US" sz="1400" dirty="0">
                <a:latin typeface="Times New Roman" panose="02020603050405020304" pitchFamily="18" charset="0"/>
                <a:cs typeface="Times New Roman" panose="02020603050405020304" pitchFamily="18" charset="0"/>
              </a:rPr>
              <a:t>Environmental requirement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Examples of Non-functional requirements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Users must change the initially assigned login password immediately after the first successful login. Moreover, the initial should never be reused.</a:t>
            </a:r>
          </a:p>
          <a:p>
            <a:pPr algn="just"/>
            <a:r>
              <a:rPr lang="en-US" dirty="0">
                <a:latin typeface="Times New Roman" panose="02020603050405020304" pitchFamily="18" charset="0"/>
                <a:cs typeface="Times New Roman" panose="02020603050405020304" pitchFamily="18" charset="0"/>
              </a:rPr>
              <a:t>Employees never allowed to update their salary information. Such attempt should be reported to the security administrator.</a:t>
            </a:r>
          </a:p>
          <a:p>
            <a:pPr algn="just"/>
            <a:r>
              <a:rPr lang="en-US" dirty="0">
                <a:latin typeface="Times New Roman" panose="02020603050405020304" pitchFamily="18" charset="0"/>
                <a:cs typeface="Times New Roman" panose="02020603050405020304" pitchFamily="18" charset="0"/>
              </a:rPr>
              <a:t>Every unsuccessful attempt by a user to access an item of data shall be recorded on an audit trail.</a:t>
            </a:r>
          </a:p>
          <a:p>
            <a:pPr algn="just"/>
            <a:r>
              <a:rPr lang="en-US" dirty="0">
                <a:latin typeface="Times New Roman" panose="02020603050405020304" pitchFamily="18" charset="0"/>
                <a:cs typeface="Times New Roman" panose="02020603050405020304" pitchFamily="18" charset="0"/>
              </a:rPr>
              <a:t>A website should be capable enough to handle 20 million users with affecting its performance</a:t>
            </a:r>
          </a:p>
          <a:p>
            <a:pPr algn="just"/>
            <a:r>
              <a:rPr lang="en-US" dirty="0">
                <a:latin typeface="Times New Roman" panose="02020603050405020304" pitchFamily="18" charset="0"/>
                <a:cs typeface="Times New Roman" panose="02020603050405020304" pitchFamily="18" charset="0"/>
              </a:rPr>
              <a:t>The software should be portable. So moving from one OS to other OS does not create any problem.</a:t>
            </a:r>
          </a:p>
          <a:p>
            <a:pPr algn="just"/>
            <a:r>
              <a:rPr lang="en-US" dirty="0">
                <a:latin typeface="Times New Roman" panose="02020603050405020304" pitchFamily="18" charset="0"/>
                <a:cs typeface="Times New Roman" panose="02020603050405020304" pitchFamily="18" charset="0"/>
              </a:rPr>
              <a:t>Privacy of information, the export of restricted technologies, intellectual property rights, etc. should be audited.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Advantages of Non-Functional Requirement</a:t>
            </a:r>
            <a:br>
              <a:rPr lang="en-US" b="1"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nonfunctional requirements ensure the software system follow legal and compliance rules.</a:t>
            </a:r>
          </a:p>
          <a:p>
            <a:pPr algn="just"/>
            <a:r>
              <a:rPr lang="en-US" dirty="0">
                <a:latin typeface="Times New Roman" panose="02020603050405020304" pitchFamily="18" charset="0"/>
                <a:cs typeface="Times New Roman" panose="02020603050405020304" pitchFamily="18" charset="0"/>
              </a:rPr>
              <a:t>They ensure the reliability, availability, and performance of the software system</a:t>
            </a:r>
          </a:p>
          <a:p>
            <a:pPr algn="just"/>
            <a:r>
              <a:rPr lang="en-US" dirty="0">
                <a:latin typeface="Times New Roman" panose="02020603050405020304" pitchFamily="18" charset="0"/>
                <a:cs typeface="Times New Roman" panose="02020603050405020304" pitchFamily="18" charset="0"/>
              </a:rPr>
              <a:t>They ensure good user experience and ease of operating the software.</a:t>
            </a:r>
          </a:p>
          <a:p>
            <a:pPr algn="just"/>
            <a:r>
              <a:rPr lang="en-US" dirty="0">
                <a:latin typeface="Times New Roman" panose="02020603050405020304" pitchFamily="18" charset="0"/>
                <a:cs typeface="Times New Roman" panose="02020603050405020304" pitchFamily="18" charset="0"/>
              </a:rPr>
              <a:t>They help in formulating security policy of the software system.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Disadvantages of Non-functional requirement</a:t>
            </a:r>
            <a:br>
              <a:rPr lang="en-US" b="1"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None functional requirement may affect the various high-level software subsystem</a:t>
            </a:r>
          </a:p>
          <a:p>
            <a:pPr algn="just"/>
            <a:r>
              <a:rPr lang="en-US" dirty="0">
                <a:latin typeface="Times New Roman" panose="02020603050405020304" pitchFamily="18" charset="0"/>
                <a:cs typeface="Times New Roman" panose="02020603050405020304" pitchFamily="18" charset="0"/>
              </a:rPr>
              <a:t>They require special consideration during the software architecture/high-level design phase which increases costs.</a:t>
            </a:r>
          </a:p>
          <a:p>
            <a:pPr algn="just"/>
            <a:r>
              <a:rPr lang="en-US" dirty="0">
                <a:latin typeface="Times New Roman" panose="02020603050405020304" pitchFamily="18" charset="0"/>
                <a:cs typeface="Times New Roman" panose="02020603050405020304" pitchFamily="18" charset="0"/>
              </a:rPr>
              <a:t>Their implementation does not usually map to the specific software sub-system,</a:t>
            </a:r>
          </a:p>
          <a:p>
            <a:pPr algn="just"/>
            <a:r>
              <a:rPr lang="en-US" dirty="0">
                <a:latin typeface="Times New Roman" panose="02020603050405020304" pitchFamily="18" charset="0"/>
                <a:cs typeface="Times New Roman" panose="02020603050405020304" pitchFamily="18" charset="0"/>
              </a:rPr>
              <a:t>It is tough to modify non-functional once you pass the architecture phase.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353"/>
            <a:ext cx="10515600" cy="699400"/>
          </a:xfrm>
        </p:spPr>
        <p:txBody>
          <a:bodyPr>
            <a:normAutofit fontScale="90000"/>
          </a:bodyPr>
          <a:lstStyle/>
          <a:p>
            <a:br>
              <a:rPr lang="en-US" dirty="0"/>
            </a:br>
            <a:r>
              <a:rPr lang="en-US" dirty="0"/>
              <a:t>Functional Vs Non-Functional requirements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59394" name="Picture 2"/>
          <p:cNvPicPr>
            <a:picLocks noGrp="1" noChangeAspect="1" noChangeArrowheads="1"/>
          </p:cNvPicPr>
          <p:nvPr>
            <p:ph idx="1"/>
          </p:nvPr>
        </p:nvPicPr>
        <p:blipFill>
          <a:blip r:embed="rId2"/>
          <a:srcRect/>
          <a:stretch>
            <a:fillRect/>
          </a:stretch>
        </p:blipFill>
        <p:spPr bwMode="auto">
          <a:xfrm>
            <a:off x="498569" y="1136472"/>
            <a:ext cx="11297609" cy="569498"/>
          </a:xfrm>
          <a:prstGeom prst="rect">
            <a:avLst/>
          </a:prstGeom>
          <a:noFill/>
          <a:ln w="9525">
            <a:noFill/>
            <a:miter lim="800000"/>
            <a:headEnd/>
            <a:tailEnd/>
          </a:ln>
          <a:effectLst/>
        </p:spPr>
      </p:pic>
      <p:pic>
        <p:nvPicPr>
          <p:cNvPr id="59395" name="Picture 3"/>
          <p:cNvPicPr>
            <a:picLocks noChangeAspect="1" noChangeArrowheads="1"/>
          </p:cNvPicPr>
          <p:nvPr/>
        </p:nvPicPr>
        <p:blipFill>
          <a:blip r:embed="rId3"/>
          <a:srcRect/>
          <a:stretch>
            <a:fillRect/>
          </a:stretch>
        </p:blipFill>
        <p:spPr bwMode="auto">
          <a:xfrm>
            <a:off x="625238" y="1628775"/>
            <a:ext cx="10934416" cy="522922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Representation of complex processing logic</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a:xfrm>
            <a:off x="838200" y="1839273"/>
            <a:ext cx="10515600" cy="4351338"/>
          </a:xfrm>
        </p:spPr>
        <p:txBody>
          <a:bodyPr>
            <a:normAutofit/>
          </a:bodyPr>
          <a:lstStyle/>
          <a:p>
            <a:pPr marL="342900" indent="-342900"/>
            <a:endParaRPr lang="en-GB" dirty="0">
              <a:latin typeface="Times New Roman" pitchFamily="18" charset="0"/>
              <a:cs typeface="Times New Roman" pitchFamily="18" charset="0"/>
            </a:endParaRPr>
          </a:p>
          <a:p>
            <a:pPr marL="342900" indent="-342900"/>
            <a:r>
              <a:rPr lang="en-GB" dirty="0">
                <a:latin typeface="Times New Roman" pitchFamily="18" charset="0"/>
                <a:cs typeface="Times New Roman" pitchFamily="18" charset="0"/>
              </a:rPr>
              <a:t>Decision trees</a:t>
            </a:r>
          </a:p>
          <a:p>
            <a:pPr marL="342900" indent="-342900"/>
            <a:r>
              <a:rPr lang="en-GB" dirty="0">
                <a:latin typeface="Times New Roman" pitchFamily="18" charset="0"/>
                <a:cs typeface="Times New Roman" pitchFamily="18" charset="0"/>
              </a:rPr>
              <a:t>Decision tables</a:t>
            </a:r>
          </a:p>
          <a:p>
            <a:pPr lvl="2">
              <a:spcBef>
                <a:spcPts val="725"/>
              </a:spcBef>
            </a:pPr>
            <a:endParaRPr lang="en-GB" sz="2800" dirty="0">
              <a:latin typeface="Times New Roman" pitchFamily="18" charset="0"/>
              <a:cs typeface="Times New Roman" pitchFamily="18" charset="0"/>
            </a:endParaRPr>
          </a:p>
          <a:p>
            <a:pPr marL="742950" lvl="1">
              <a:spcBef>
                <a:spcPts val="538"/>
              </a:spcBef>
            </a:pPr>
            <a:endParaRPr lang="en-GB" sz="2800" dirty="0">
              <a:latin typeface="Times New Roman" pitchFamily="18" charset="0"/>
              <a:cs typeface="Times New Roman" pitchFamily="18" charset="0"/>
            </a:endParaRPr>
          </a:p>
          <a:p>
            <a:pPr marL="342900" indent="-342900"/>
            <a:endParaRPr lang="en-GB"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a:t>
            </a:r>
          </a:p>
        </p:txBody>
      </p:sp>
      <p:sp>
        <p:nvSpPr>
          <p:cNvPr id="3" name="Content Placeholder 2"/>
          <p:cNvSpPr>
            <a:spLocks noGrp="1"/>
          </p:cNvSpPr>
          <p:nvPr>
            <p:ph idx="1"/>
          </p:nvPr>
        </p:nvSpPr>
        <p:spPr/>
        <p:txBody>
          <a:bodyPr>
            <a:normAutofit/>
          </a:bodyPr>
          <a:lstStyle/>
          <a:p>
            <a:pPr algn="just" fontAlgn="base"/>
            <a:r>
              <a:rPr lang="en-US" dirty="0">
                <a:latin typeface="Times New Roman" panose="02020603050405020304" pitchFamily="18" charset="0"/>
                <a:cs typeface="Times New Roman" panose="02020603050405020304" pitchFamily="18" charset="0"/>
              </a:rPr>
              <a:t>A decision tree is a map of the possible outcomes of a series of related choices. </a:t>
            </a:r>
          </a:p>
          <a:p>
            <a:pPr algn="just" fontAlgn="base"/>
            <a:r>
              <a:rPr lang="en-US" dirty="0">
                <a:latin typeface="Times New Roman" panose="02020603050405020304" pitchFamily="18" charset="0"/>
                <a:cs typeface="Times New Roman" panose="02020603050405020304" pitchFamily="18" charset="0"/>
              </a:rPr>
              <a:t>It allows an individual or organization to weigh possible actions against one another based on their costs, probabilities, and benefits. </a:t>
            </a:r>
          </a:p>
          <a:p>
            <a:pPr algn="just" fontAlgn="base"/>
            <a:r>
              <a:rPr lang="en-US" dirty="0">
                <a:latin typeface="Times New Roman" panose="02020603050405020304" pitchFamily="18" charset="0"/>
                <a:cs typeface="Times New Roman" panose="02020603050405020304" pitchFamily="18" charset="0"/>
              </a:rPr>
              <a:t>They can be used either to drive informal discussion or to map out an algorithm that predicts the best choice mathematically.</a:t>
            </a:r>
          </a:p>
          <a:p>
            <a:pPr algn="just" fontAlgn="base"/>
            <a:r>
              <a:rPr lang="en-US" dirty="0">
                <a:latin typeface="Times New Roman" panose="02020603050405020304" pitchFamily="18" charset="0"/>
                <a:cs typeface="Times New Roman" panose="02020603050405020304" pitchFamily="18" charset="0"/>
              </a:rPr>
              <a:t>A decision tree typically starts with a single node, which branches into possible outcomes. Each of those outcomes leads to additional nodes, which branch off into other possibilities. This gives it a treelike shape.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a:t>
            </a:r>
          </a:p>
        </p:txBody>
      </p:sp>
      <p:sp>
        <p:nvSpPr>
          <p:cNvPr id="3" name="Content Placeholder 2"/>
          <p:cNvSpPr>
            <a:spLocks noGrp="1"/>
          </p:cNvSpPr>
          <p:nvPr>
            <p:ph idx="1"/>
          </p:nvPr>
        </p:nvSpPr>
        <p:spPr/>
        <p:txBody>
          <a:bodyPr/>
          <a:lstStyle/>
          <a:p>
            <a:pPr algn="just" fontAlgn="base"/>
            <a:r>
              <a:rPr lang="en-US" dirty="0">
                <a:latin typeface="Times New Roman" panose="02020603050405020304" pitchFamily="18" charset="0"/>
                <a:cs typeface="Times New Roman" panose="02020603050405020304" pitchFamily="18" charset="0"/>
              </a:rPr>
              <a:t>There are three different types of nodes: chance nodes, decision nodes, and end nodes.</a:t>
            </a:r>
          </a:p>
          <a:p>
            <a:pPr algn="just" fontAlgn="base"/>
            <a:r>
              <a:rPr lang="en-US" dirty="0">
                <a:latin typeface="Times New Roman" panose="02020603050405020304" pitchFamily="18" charset="0"/>
                <a:cs typeface="Times New Roman" panose="02020603050405020304" pitchFamily="18" charset="0"/>
              </a:rPr>
              <a:t> A chance node, represented by a circle, shows the probabilities of certain results.</a:t>
            </a:r>
          </a:p>
          <a:p>
            <a:pPr algn="just" fontAlgn="base"/>
            <a:r>
              <a:rPr lang="en-US" dirty="0">
                <a:latin typeface="Times New Roman" panose="02020603050405020304" pitchFamily="18" charset="0"/>
                <a:cs typeface="Times New Roman" panose="02020603050405020304" pitchFamily="18" charset="0"/>
              </a:rPr>
              <a:t> A decision node, represented by a square, shows a decision to be made, and an end node shows the final outcome of a decision path.</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553" y="0"/>
            <a:ext cx="10515600" cy="904117"/>
          </a:xfrm>
        </p:spPr>
        <p:txBody>
          <a:bodyPr/>
          <a:lstStyle/>
          <a:p>
            <a:r>
              <a:rPr lang="en-US" dirty="0"/>
              <a:t>Decision Tree Symbols</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pic>
        <p:nvPicPr>
          <p:cNvPr id="71682" name="Picture 2"/>
          <p:cNvPicPr>
            <a:picLocks noChangeAspect="1" noChangeArrowheads="1"/>
          </p:cNvPicPr>
          <p:nvPr/>
        </p:nvPicPr>
        <p:blipFill>
          <a:blip r:embed="rId2"/>
          <a:srcRect/>
          <a:stretch>
            <a:fillRect/>
          </a:stretch>
        </p:blipFill>
        <p:spPr bwMode="auto">
          <a:xfrm>
            <a:off x="1132835" y="772733"/>
            <a:ext cx="9880908" cy="566737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Decision Tree</a:t>
            </a:r>
            <a:r>
              <a:rPr lang="en-US" dirty="0">
                <a:latin typeface="Times New Roman" panose="02020603050405020304" pitchFamily="18" charset="0"/>
                <a:cs typeface="Times New Roman" panose="02020603050405020304" pitchFamily="18" charset="0"/>
              </a:rPr>
              <a:t> offers a graphic read of the processing logic concerned in a higher cognitive process and therefore the corresponding actions are taken. </a:t>
            </a:r>
          </a:p>
          <a:p>
            <a:pPr algn="just"/>
            <a:r>
              <a:rPr lang="en-US" dirty="0">
                <a:latin typeface="Times New Roman" panose="02020603050405020304" pitchFamily="18" charset="0"/>
                <a:cs typeface="Times New Roman" panose="02020603050405020304" pitchFamily="18" charset="0"/>
              </a:rPr>
              <a:t>The perimeters of a choice tree represent conditions and therefore the leaf nodes represent the actions to be performed looking on the result of testing the condition.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92500" lnSpcReduction="10000"/>
          </a:bodyPr>
          <a:lstStyle/>
          <a:p>
            <a:pPr fontAlgn="base"/>
            <a:r>
              <a:rPr lang="en-US" dirty="0">
                <a:latin typeface="Times New Roman" panose="02020603050405020304" pitchFamily="18" charset="0"/>
                <a:cs typeface="Times New Roman" panose="02020603050405020304" pitchFamily="18" charset="0"/>
              </a:rPr>
              <a:t>For example, consider Library Membership Automation Software (LMS) where it ought to support the following three options: New member, Renewal, and Cancel membership. These are explained as following below.</a:t>
            </a:r>
          </a:p>
          <a:p>
            <a:pPr fontAlgn="base">
              <a:buNone/>
            </a:pPr>
            <a:r>
              <a:rPr lang="en-US" b="1" dirty="0">
                <a:latin typeface="Times New Roman" panose="02020603050405020304" pitchFamily="18" charset="0"/>
                <a:cs typeface="Times New Roman" panose="02020603050405020304" pitchFamily="18" charset="0"/>
              </a:rPr>
              <a:t>1. New Member Option:</a:t>
            </a:r>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Decision: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Once the ‘new member’ possibility is chosen, the software system asks details concerning the member just like the member’s name, address, number, etc.</a:t>
            </a:r>
          </a:p>
          <a:p>
            <a:pPr fontAlgn="base"/>
            <a:r>
              <a:rPr lang="en-US" b="1" dirty="0">
                <a:latin typeface="Times New Roman" panose="02020603050405020304" pitchFamily="18" charset="0"/>
                <a:cs typeface="Times New Roman" panose="02020603050405020304" pitchFamily="18" charset="0"/>
              </a:rPr>
              <a:t>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correct info is entered then a membership record for the member is made and a bill is written for the annual membership charge and the protection deposit collectible.</a:t>
            </a:r>
          </a:p>
          <a:p>
            <a:pPr fontAlgn="base"/>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85000" lnSpcReduction="20000"/>
          </a:bodyPr>
          <a:lstStyle/>
          <a:p>
            <a:pPr fontAlgn="base">
              <a:buNone/>
            </a:pPr>
            <a:r>
              <a:rPr lang="en-US" b="1" dirty="0"/>
              <a:t>2 </a:t>
            </a:r>
            <a:r>
              <a:rPr lang="en-US" b="1" dirty="0">
                <a:latin typeface="Times New Roman" panose="02020603050405020304" pitchFamily="18" charset="0"/>
                <a:cs typeface="Times New Roman" panose="02020603050405020304" pitchFamily="18" charset="0"/>
              </a:rPr>
              <a:t>Cancel Membership Option:</a:t>
            </a:r>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Decision: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the ‘cancel membership’ possibility is chosen, then the software system asks for member’s name and his membership range.</a:t>
            </a:r>
          </a:p>
          <a:p>
            <a:pPr fontAlgn="base"/>
            <a:r>
              <a:rPr lang="en-US" b="1" dirty="0">
                <a:latin typeface="Times New Roman" panose="02020603050405020304" pitchFamily="18" charset="0"/>
                <a:cs typeface="Times New Roman" panose="02020603050405020304" pitchFamily="18" charset="0"/>
              </a:rPr>
              <a:t>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membership is off, a </a:t>
            </a:r>
            <a:r>
              <a:rPr lang="en-US" dirty="0" err="1">
                <a:latin typeface="Times New Roman" panose="02020603050405020304" pitchFamily="18" charset="0"/>
                <a:cs typeface="Times New Roman" panose="02020603050405020304" pitchFamily="18" charset="0"/>
              </a:rPr>
              <a:t>cheque</a:t>
            </a:r>
            <a:r>
              <a:rPr lang="en-US" dirty="0">
                <a:latin typeface="Times New Roman" panose="02020603050405020304" pitchFamily="18" charset="0"/>
                <a:cs typeface="Times New Roman" panose="02020603050405020304" pitchFamily="18" charset="0"/>
              </a:rPr>
              <a:t> for the balance quantity because of the member is written and at last the membership record is deleted from the information.</a:t>
            </a:r>
          </a:p>
          <a:p>
            <a:pPr fontAlgn="base">
              <a:buNone/>
            </a:pPr>
            <a:r>
              <a:rPr lang="en-US" b="1" dirty="0">
                <a:latin typeface="Times New Roman" panose="02020603050405020304" pitchFamily="18" charset="0"/>
                <a:cs typeface="Times New Roman" panose="02020603050405020304" pitchFamily="18" charset="0"/>
              </a:rPr>
              <a:t>3 Renewal Option:</a:t>
            </a:r>
          </a:p>
          <a:p>
            <a:pPr fontAlgn="base"/>
            <a:r>
              <a:rPr lang="en-US" b="1" dirty="0">
                <a:latin typeface="Times New Roman" panose="02020603050405020304" pitchFamily="18" charset="0"/>
                <a:cs typeface="Times New Roman" panose="02020603050405020304" pitchFamily="18" charset="0"/>
              </a:rPr>
              <a:t>Decision: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the ‘renewal’ possibility is chosen, the LMS asks for the member’s name and his membership range to test whether or not he’s a sound member or not.</a:t>
            </a:r>
          </a:p>
          <a:p>
            <a:pPr fontAlgn="base"/>
            <a:r>
              <a:rPr lang="en-US" b="1" dirty="0">
                <a:latin typeface="Times New Roman" panose="02020603050405020304" pitchFamily="18" charset="0"/>
                <a:cs typeface="Times New Roman" panose="02020603050405020304" pitchFamily="18" charset="0"/>
              </a:rPr>
              <a:t>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the membership is valid then membership ending date is updated and therefore the annual membership bill is written, otherwise, a slip-up message is displayed.</a:t>
            </a:r>
          </a:p>
          <a:p>
            <a:pPr fontAlgn="base">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pPr>
              <a:buNone/>
            </a:pPr>
            <a:r>
              <a:rPr lang="en-US" sz="1400" dirty="0">
                <a:latin typeface="Times New Roman" pitchFamily="18" charset="0"/>
                <a:cs typeface="Times New Roman" pitchFamily="18" charset="0"/>
              </a:rPr>
              <a:t>						</a:t>
            </a:r>
          </a:p>
          <a:p>
            <a:pPr algn="ctr">
              <a:buNone/>
            </a:pPr>
            <a:r>
              <a:rPr lang="en-US" sz="1400" dirty="0">
                <a:latin typeface="Times New Roman" pitchFamily="18" charset="0"/>
                <a:cs typeface="Times New Roman" pitchFamily="18" charset="0"/>
              </a:rPr>
              <a:t>Fig 1 Example of decision tree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pic>
        <p:nvPicPr>
          <p:cNvPr id="5" name="Picture 2"/>
          <p:cNvPicPr>
            <a:picLocks noChangeAspect="1" noChangeArrowheads="1"/>
          </p:cNvPicPr>
          <p:nvPr/>
        </p:nvPicPr>
        <p:blipFill>
          <a:blip r:embed="rId2"/>
          <a:srcRect/>
          <a:stretch>
            <a:fillRect/>
          </a:stretch>
        </p:blipFill>
        <p:spPr bwMode="auto">
          <a:xfrm>
            <a:off x="1720755" y="1169301"/>
            <a:ext cx="8216436" cy="435804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p>
        </p:txBody>
      </p:sp>
      <p:sp>
        <p:nvSpPr>
          <p:cNvPr id="3" name="Content Placeholder 2"/>
          <p:cNvSpPr>
            <a:spLocks noGrp="1"/>
          </p:cNvSpPr>
          <p:nvPr>
            <p:ph idx="1"/>
          </p:nvPr>
        </p:nvSpPr>
        <p:spPr/>
        <p:txBody>
          <a:bodyPr/>
          <a:lstStyle/>
          <a:p>
            <a:pPr algn="just" fontAlgn="base">
              <a:buNone/>
            </a:pPr>
            <a:r>
              <a:rPr lang="en-US" dirty="0">
                <a:latin typeface="Times New Roman" panose="02020603050405020304" pitchFamily="18" charset="0"/>
                <a:cs typeface="Times New Roman" panose="02020603050405020304" pitchFamily="18" charset="0"/>
              </a:rPr>
              <a:t>The advantages of decision tree are as follow:</a:t>
            </a:r>
          </a:p>
          <a:p>
            <a:pPr algn="just" fontAlgn="base"/>
            <a:r>
              <a:rPr lang="en-US" dirty="0">
                <a:latin typeface="Times New Roman" panose="02020603050405020304" pitchFamily="18" charset="0"/>
                <a:cs typeface="Times New Roman" panose="02020603050405020304" pitchFamily="18" charset="0"/>
              </a:rPr>
              <a:t>They are easy to understand</a:t>
            </a:r>
          </a:p>
          <a:p>
            <a:pPr algn="just" fontAlgn="base"/>
            <a:r>
              <a:rPr lang="en-US" dirty="0">
                <a:latin typeface="Times New Roman" panose="02020603050405020304" pitchFamily="18" charset="0"/>
                <a:cs typeface="Times New Roman" panose="02020603050405020304" pitchFamily="18" charset="0"/>
              </a:rPr>
              <a:t>They can be useful with or without hard data, and any data requires minimal preparation</a:t>
            </a:r>
          </a:p>
          <a:p>
            <a:pPr algn="just" fontAlgn="base"/>
            <a:r>
              <a:rPr lang="en-US" dirty="0">
                <a:latin typeface="Times New Roman" panose="02020603050405020304" pitchFamily="18" charset="0"/>
                <a:cs typeface="Times New Roman" panose="02020603050405020304" pitchFamily="18" charset="0"/>
              </a:rPr>
              <a:t>New options can be added to existing trees</a:t>
            </a:r>
          </a:p>
          <a:p>
            <a:pPr algn="just" fontAlgn="base"/>
            <a:r>
              <a:rPr lang="en-US" dirty="0">
                <a:latin typeface="Times New Roman" panose="02020603050405020304" pitchFamily="18" charset="0"/>
                <a:cs typeface="Times New Roman" panose="02020603050405020304" pitchFamily="18" charset="0"/>
              </a:rPr>
              <a:t>Their value in picking out the best of several options</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a:t>
            </a:r>
          </a:p>
        </p:txBody>
      </p:sp>
      <p:sp>
        <p:nvSpPr>
          <p:cNvPr id="3" name="Content Placeholder 2"/>
          <p:cNvSpPr>
            <a:spLocks noGrp="1"/>
          </p:cNvSpPr>
          <p:nvPr>
            <p:ph idx="1"/>
          </p:nvPr>
        </p:nvSpPr>
        <p:spPr/>
        <p:txBody>
          <a:bodyPr/>
          <a:lstStyle/>
          <a:p>
            <a:pPr algn="just" fontAlgn="base"/>
            <a:r>
              <a:rPr lang="en-US" dirty="0">
                <a:latin typeface="Times New Roman" panose="02020603050405020304" pitchFamily="18" charset="0"/>
                <a:cs typeface="Times New Roman" panose="02020603050405020304" pitchFamily="18" charset="0"/>
              </a:rPr>
              <a:t>When dealing with categorical data with multiple levels, the information gain is biased in favor of the attributes with the most levels.</a:t>
            </a:r>
          </a:p>
          <a:p>
            <a:pPr algn="just" fontAlgn="base"/>
            <a:r>
              <a:rPr lang="en-US" dirty="0">
                <a:latin typeface="Times New Roman" panose="02020603050405020304" pitchFamily="18" charset="0"/>
                <a:cs typeface="Times New Roman" panose="02020603050405020304" pitchFamily="18" charset="0"/>
              </a:rPr>
              <a:t>Calculations can become complex when dealing with uncertainty and lots of linked outcomes.</a:t>
            </a:r>
          </a:p>
          <a:p>
            <a:pPr algn="just" fontAlgn="base"/>
            <a:r>
              <a:rPr lang="en-US" dirty="0">
                <a:latin typeface="Times New Roman" panose="02020603050405020304" pitchFamily="18" charset="0"/>
                <a:cs typeface="Times New Roman" panose="02020603050405020304" pitchFamily="18" charset="0"/>
              </a:rPr>
              <a:t>Conjunctions between nodes are limited to AND, whereas decision graphs allow for nodes linked by OR.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Decision table</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r>
              <a:rPr lang="en-GB" sz="2400" dirty="0">
                <a:latin typeface="Times New Roman" pitchFamily="18" charset="0"/>
                <a:cs typeface="Times New Roman" pitchFamily="18" charset="0"/>
              </a:rPr>
              <a:t>Decision tables  specify: </a:t>
            </a:r>
          </a:p>
          <a:p>
            <a:pPr marL="742950" lvl="1" algn="just">
              <a:spcBef>
                <a:spcPts val="725"/>
              </a:spcBef>
            </a:pPr>
            <a:r>
              <a:rPr lang="en-GB" dirty="0">
                <a:latin typeface="Times New Roman" pitchFamily="18" charset="0"/>
                <a:cs typeface="Times New Roman" pitchFamily="18" charset="0"/>
              </a:rPr>
              <a:t>Which variables are to be tested </a:t>
            </a:r>
          </a:p>
          <a:p>
            <a:pPr marL="742950" lvl="1" algn="just">
              <a:spcBef>
                <a:spcPts val="725"/>
              </a:spcBef>
            </a:pPr>
            <a:r>
              <a:rPr lang="en-GB" dirty="0">
                <a:latin typeface="Times New Roman" pitchFamily="18" charset="0"/>
                <a:cs typeface="Times New Roman" pitchFamily="18" charset="0"/>
              </a:rPr>
              <a:t>What actions are to be taken if the conditions are true, </a:t>
            </a:r>
          </a:p>
          <a:p>
            <a:pPr marL="742950" lvl="1" algn="just">
              <a:spcBef>
                <a:spcPts val="725"/>
              </a:spcBef>
            </a:pPr>
            <a:r>
              <a:rPr lang="en-GB" dirty="0">
                <a:latin typeface="Times New Roman" pitchFamily="18" charset="0"/>
                <a:cs typeface="Times New Roman" pitchFamily="18" charset="0"/>
              </a:rPr>
              <a:t>The order in which decision making is performed.</a:t>
            </a:r>
          </a:p>
          <a:p>
            <a:pPr marL="342900" indent="-342900" algn="just">
              <a:lnSpc>
                <a:spcPct val="105000"/>
              </a:lnSpc>
              <a:spcBef>
                <a:spcPct val="5000"/>
              </a:spcBef>
              <a:spcAft>
                <a:spcPct val="5000"/>
              </a:spcAft>
            </a:pPr>
            <a:r>
              <a:rPr lang="en-GB" sz="2400" dirty="0">
                <a:latin typeface="Times New Roman" pitchFamily="18" charset="0"/>
                <a:cs typeface="Times New Roman" pitchFamily="18" charset="0"/>
              </a:rPr>
              <a:t>A decision table shows in a tabular form:</a:t>
            </a:r>
          </a:p>
          <a:p>
            <a:pPr marL="742950" lvl="1" algn="just">
              <a:lnSpc>
                <a:spcPct val="105000"/>
              </a:lnSpc>
              <a:spcBef>
                <a:spcPct val="5000"/>
              </a:spcBef>
              <a:spcAft>
                <a:spcPct val="5000"/>
              </a:spcAft>
            </a:pPr>
            <a:r>
              <a:rPr lang="en-GB" dirty="0">
                <a:latin typeface="Times New Roman" pitchFamily="18" charset="0"/>
                <a:cs typeface="Times New Roman" pitchFamily="18" charset="0"/>
              </a:rPr>
              <a:t>Processing logic and corresponding actions </a:t>
            </a:r>
          </a:p>
          <a:p>
            <a:pPr marL="342900" indent="-342900" algn="just">
              <a:lnSpc>
                <a:spcPct val="105000"/>
              </a:lnSpc>
              <a:spcBef>
                <a:spcPct val="5000"/>
              </a:spcBef>
              <a:spcAft>
                <a:spcPct val="5000"/>
              </a:spcAft>
            </a:pPr>
            <a:r>
              <a:rPr lang="en-GB" sz="2400" dirty="0">
                <a:latin typeface="Times New Roman" pitchFamily="18" charset="0"/>
                <a:cs typeface="Times New Roman" pitchFamily="18" charset="0"/>
              </a:rPr>
              <a:t>Upper  rows of the table specify:</a:t>
            </a:r>
          </a:p>
          <a:p>
            <a:pPr marL="742950" lvl="1" algn="just">
              <a:lnSpc>
                <a:spcPct val="105000"/>
              </a:lnSpc>
              <a:spcBef>
                <a:spcPct val="5000"/>
              </a:spcBef>
              <a:spcAft>
                <a:spcPct val="5000"/>
              </a:spcAft>
            </a:pPr>
            <a:r>
              <a:rPr lang="en-GB" dirty="0">
                <a:latin typeface="Times New Roman" pitchFamily="18" charset="0"/>
                <a:cs typeface="Times New Roman" pitchFamily="18" charset="0"/>
              </a:rPr>
              <a:t>The variables or conditions to be evaluated</a:t>
            </a:r>
          </a:p>
          <a:p>
            <a:pPr marL="342900" indent="-342900" algn="just">
              <a:lnSpc>
                <a:spcPct val="105000"/>
              </a:lnSpc>
              <a:spcBef>
                <a:spcPct val="5000"/>
              </a:spcBef>
              <a:spcAft>
                <a:spcPct val="5000"/>
              </a:spcAft>
            </a:pPr>
            <a:r>
              <a:rPr lang="en-GB" sz="2400" dirty="0">
                <a:latin typeface="Times New Roman" pitchFamily="18" charset="0"/>
                <a:cs typeface="Times New Roman" pitchFamily="18" charset="0"/>
              </a:rPr>
              <a:t>Lower rows specify:</a:t>
            </a:r>
          </a:p>
          <a:p>
            <a:pPr marL="742950" lvl="1" algn="just">
              <a:lnSpc>
                <a:spcPct val="105000"/>
              </a:lnSpc>
              <a:spcBef>
                <a:spcPct val="5000"/>
              </a:spcBef>
              <a:spcAft>
                <a:spcPct val="5000"/>
              </a:spcAft>
            </a:pPr>
            <a:r>
              <a:rPr lang="en-GB" dirty="0">
                <a:latin typeface="Times New Roman" pitchFamily="18" charset="0"/>
                <a:cs typeface="Times New Roman" pitchFamily="18" charset="0"/>
              </a:rPr>
              <a:t>The actions to be taken when the corresponding conditions are satisfied.</a:t>
            </a:r>
          </a:p>
          <a:p>
            <a:pPr marL="742950" lvl="1" algn="just">
              <a:spcBef>
                <a:spcPts val="725"/>
              </a:spcBef>
            </a:pPr>
            <a:endParaRPr lang="en-GB" dirty="0">
              <a:latin typeface="Times New Roman" pitchFamily="18" charset="0"/>
              <a:cs typeface="Times New Roman" pitchFamily="18" charset="0"/>
            </a:endParaRPr>
          </a:p>
          <a:p>
            <a:pPr lvl="2" algn="just">
              <a:spcBef>
                <a:spcPts val="725"/>
              </a:spcBef>
            </a:pPr>
            <a:endParaRPr lang="en-GB" sz="2400" dirty="0">
              <a:latin typeface="Times New Roman" pitchFamily="18" charset="0"/>
              <a:cs typeface="Times New Roman" pitchFamily="18" charset="0"/>
            </a:endParaRPr>
          </a:p>
          <a:p>
            <a:pPr marL="742950" lvl="1" algn="just">
              <a:spcBef>
                <a:spcPts val="538"/>
              </a:spcBef>
            </a:pPr>
            <a:endParaRPr lang="en-GB" dirty="0">
              <a:latin typeface="Times New Roman" pitchFamily="18" charset="0"/>
              <a:cs typeface="Times New Roman" pitchFamily="18" charset="0"/>
            </a:endParaRPr>
          </a:p>
          <a:p>
            <a:pPr marL="342900" indent="-342900" algn="just"/>
            <a:endParaRPr lang="en-GB" sz="24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Decision table</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88"/>
              </a:spcBef>
            </a:pPr>
            <a:r>
              <a:rPr lang="en-GB" dirty="0">
                <a:latin typeface="Times New Roman" pitchFamily="18" charset="0"/>
                <a:cs typeface="Times New Roman" pitchFamily="18" charset="0"/>
              </a:rPr>
              <a:t>In technical terminology, </a:t>
            </a:r>
          </a:p>
          <a:p>
            <a:pPr marL="742950" lvl="1" algn="just">
              <a:spcBef>
                <a:spcPts val="800"/>
              </a:spcBef>
            </a:pPr>
            <a:r>
              <a:rPr lang="en-GB" sz="2800" dirty="0">
                <a:latin typeface="Times New Roman" pitchFamily="18" charset="0"/>
                <a:cs typeface="Times New Roman" pitchFamily="18" charset="0"/>
              </a:rPr>
              <a:t>a column of the table is called a rule:</a:t>
            </a:r>
          </a:p>
          <a:p>
            <a:pPr marL="742950" lvl="1" algn="just">
              <a:spcBef>
                <a:spcPts val="800"/>
              </a:spcBef>
            </a:pPr>
            <a:r>
              <a:rPr lang="en-GB" sz="2800" dirty="0">
                <a:latin typeface="Times New Roman" pitchFamily="18" charset="0"/>
                <a:cs typeface="Times New Roman" pitchFamily="18" charset="0"/>
              </a:rPr>
              <a:t>A rule implies:</a:t>
            </a:r>
          </a:p>
          <a:p>
            <a:pPr lvl="2" algn="just">
              <a:spcBef>
                <a:spcPts val="725"/>
              </a:spcBef>
            </a:pPr>
            <a:r>
              <a:rPr lang="en-GB" sz="2800" dirty="0">
                <a:latin typeface="Times New Roman" pitchFamily="18" charset="0"/>
                <a:cs typeface="Times New Roman" pitchFamily="18" charset="0"/>
              </a:rPr>
              <a:t>if a condition is true, then execute the corresponding action.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Table</a:t>
            </a:r>
          </a:p>
        </p:txBody>
      </p:sp>
      <p:sp>
        <p:nvSpPr>
          <p:cNvPr id="3" name="Content Placeholder 2"/>
          <p:cNvSpPr>
            <a:spLocks noGrp="1"/>
          </p:cNvSpPr>
          <p:nvPr>
            <p:ph idx="1"/>
          </p:nvPr>
        </p:nvSpPr>
        <p:spPr/>
        <p:txBody>
          <a:bodyPr>
            <a:normAutofit lnSpcReduction="10000"/>
          </a:bodyPr>
          <a:lstStyle/>
          <a:p>
            <a:pPr algn="just" fontAlgn="base"/>
            <a:r>
              <a:rPr lang="en-US" b="1" dirty="0">
                <a:latin typeface="Times New Roman" panose="02020603050405020304" pitchFamily="18" charset="0"/>
                <a:cs typeface="Times New Roman" panose="02020603050405020304" pitchFamily="18" charset="0"/>
              </a:rPr>
              <a:t>Decision table</a:t>
            </a:r>
            <a:r>
              <a:rPr lang="en-US" dirty="0">
                <a:latin typeface="Times New Roman" panose="02020603050405020304" pitchFamily="18" charset="0"/>
                <a:cs typeface="Times New Roman" panose="02020603050405020304" pitchFamily="18" charset="0"/>
              </a:rPr>
              <a:t> is a brief visual representation for specifying which actions to perform depending on given conditions.</a:t>
            </a:r>
          </a:p>
          <a:p>
            <a:pPr algn="just" fontAlgn="base"/>
            <a:r>
              <a:rPr lang="en-US" dirty="0">
                <a:latin typeface="Times New Roman" panose="02020603050405020304" pitchFamily="18" charset="0"/>
                <a:cs typeface="Times New Roman" panose="02020603050405020304" pitchFamily="18" charset="0"/>
              </a:rPr>
              <a:t> The information represented in decision tables can also be represented as decision trees or in a programming language using if-then-else and switch-case statements.</a:t>
            </a:r>
          </a:p>
          <a:p>
            <a:pPr algn="just" fontAlgn="base"/>
            <a:r>
              <a:rPr lang="en-US" dirty="0">
                <a:latin typeface="Times New Roman" panose="02020603050405020304" pitchFamily="18" charset="0"/>
                <a:cs typeface="Times New Roman" panose="02020603050405020304" pitchFamily="18" charset="0"/>
              </a:rPr>
              <a:t>A decision table is a good way to settle with different combination inputs with their corresponding outputs and also called cause-effect table. </a:t>
            </a:r>
          </a:p>
          <a:p>
            <a:pPr algn="just" fontAlgn="base"/>
            <a:r>
              <a:rPr lang="en-US" dirty="0">
                <a:latin typeface="Times New Roman" panose="02020603050405020304" pitchFamily="18" charset="0"/>
                <a:cs typeface="Times New Roman" panose="02020603050405020304" pitchFamily="18" charset="0"/>
              </a:rPr>
              <a:t>Reason to call cause-effect table is a related logical diagramming technique called cause-effect graphing that is basically used to obtain the decision table.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Decision Table</a:t>
            </a:r>
            <a:endParaRPr lang="en-US" dirty="0"/>
          </a:p>
        </p:txBody>
      </p:sp>
      <p:sp>
        <p:nvSpPr>
          <p:cNvPr id="3" name="Content Placeholder 2"/>
          <p:cNvSpPr>
            <a:spLocks noGrp="1"/>
          </p:cNvSpPr>
          <p:nvPr>
            <p:ph idx="1"/>
          </p:nvPr>
        </p:nvSpPr>
        <p:spPr/>
        <p:txBody>
          <a:bodyPr>
            <a:normAutofit fontScale="92500" lnSpcReduction="20000"/>
          </a:bodyPr>
          <a:lstStyle/>
          <a:p>
            <a:pPr algn="just" fontAlgn="base"/>
            <a:r>
              <a:rPr lang="en-US" dirty="0">
                <a:latin typeface="Times New Roman" panose="02020603050405020304" pitchFamily="18" charset="0"/>
                <a:cs typeface="Times New Roman" panose="02020603050405020304" pitchFamily="18" charset="0"/>
              </a:rPr>
              <a:t>Decision tables are very much helpful in test design technique.</a:t>
            </a:r>
          </a:p>
          <a:p>
            <a:pPr algn="just" fontAlgn="base"/>
            <a:r>
              <a:rPr lang="en-US" dirty="0">
                <a:latin typeface="Times New Roman" panose="02020603050405020304" pitchFamily="18" charset="0"/>
                <a:cs typeface="Times New Roman" panose="02020603050405020304" pitchFamily="18" charset="0"/>
              </a:rPr>
              <a:t>It helps testers to search the effects of combinations of different inputs and other software states that must correctly implement business rules.</a:t>
            </a:r>
          </a:p>
          <a:p>
            <a:pPr algn="just" fontAlgn="base"/>
            <a:r>
              <a:rPr lang="en-US" dirty="0">
                <a:latin typeface="Times New Roman" panose="02020603050405020304" pitchFamily="18" charset="0"/>
                <a:cs typeface="Times New Roman" panose="02020603050405020304" pitchFamily="18" charset="0"/>
              </a:rPr>
              <a:t>It provides a regular way of stating complex business rules, that is helpful for developers as well as for testers.</a:t>
            </a:r>
          </a:p>
          <a:p>
            <a:pPr algn="just" fontAlgn="base"/>
            <a:r>
              <a:rPr lang="en-US" dirty="0">
                <a:latin typeface="Times New Roman" panose="02020603050405020304" pitchFamily="18" charset="0"/>
                <a:cs typeface="Times New Roman" panose="02020603050405020304" pitchFamily="18" charset="0"/>
              </a:rPr>
              <a:t>It assists in development process with developer to do a better job. Testing with all combination might be impractical.</a:t>
            </a:r>
          </a:p>
          <a:p>
            <a:pPr algn="just" fontAlgn="base"/>
            <a:r>
              <a:rPr lang="en-US" dirty="0">
                <a:latin typeface="Times New Roman" panose="02020603050405020304" pitchFamily="18" charset="0"/>
                <a:cs typeface="Times New Roman" panose="02020603050405020304" pitchFamily="18" charset="0"/>
              </a:rPr>
              <a:t>A decision table is basically an outstanding technique used in both testing and requirements management.</a:t>
            </a:r>
          </a:p>
          <a:p>
            <a:pPr algn="just" fontAlgn="base"/>
            <a:r>
              <a:rPr lang="en-US" dirty="0">
                <a:latin typeface="Times New Roman" panose="02020603050405020304" pitchFamily="18" charset="0"/>
                <a:cs typeface="Times New Roman" panose="02020603050405020304" pitchFamily="18" charset="0"/>
              </a:rPr>
              <a:t>It is a structured exercise to prepare requirements when dealing with complex business rules.</a:t>
            </a:r>
          </a:p>
          <a:p>
            <a:pPr algn="just" fontAlgn="base"/>
            <a:r>
              <a:rPr lang="en-US" dirty="0">
                <a:latin typeface="Times New Roman" panose="02020603050405020304" pitchFamily="18" charset="0"/>
                <a:cs typeface="Times New Roman" panose="02020603050405020304" pitchFamily="18" charset="0"/>
              </a:rPr>
              <a:t>It is also used in model complicated logic.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Example: How to make Decision Base Table for Login Screen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194559"/>
            <a:ext cx="10515600" cy="3982403"/>
          </a:xfrm>
        </p:spPr>
        <p:txBody>
          <a:bodyPr/>
          <a:lstStyle/>
          <a:p>
            <a:r>
              <a:rPr lang="en-US" dirty="0">
                <a:latin typeface="Times New Roman" panose="02020603050405020304" pitchFamily="18" charset="0"/>
                <a:cs typeface="Times New Roman" panose="02020603050405020304" pitchFamily="18" charset="0"/>
              </a:rPr>
              <a:t>Let's create a decision table for a login screen.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pic>
        <p:nvPicPr>
          <p:cNvPr id="73730" name="Picture 2"/>
          <p:cNvPicPr>
            <a:picLocks noChangeAspect="1" noChangeArrowheads="1"/>
          </p:cNvPicPr>
          <p:nvPr/>
        </p:nvPicPr>
        <p:blipFill>
          <a:blip r:embed="rId2"/>
          <a:srcRect/>
          <a:stretch>
            <a:fillRect/>
          </a:stretch>
        </p:blipFill>
        <p:spPr bwMode="auto">
          <a:xfrm>
            <a:off x="3263415" y="3114197"/>
            <a:ext cx="4819650" cy="21431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condition is simple if the user provides correct username and password the user will be redirected to the homepage. If any of the input is wrong, an error message will be displayed.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pic>
        <p:nvPicPr>
          <p:cNvPr id="82946" name="Picture 2"/>
          <p:cNvPicPr>
            <a:picLocks noChangeAspect="1" noChangeArrowheads="1"/>
          </p:cNvPicPr>
          <p:nvPr/>
        </p:nvPicPr>
        <p:blipFill>
          <a:blip r:embed="rId2"/>
          <a:srcRect/>
          <a:stretch>
            <a:fillRect/>
          </a:stretch>
        </p:blipFill>
        <p:spPr bwMode="auto">
          <a:xfrm>
            <a:off x="875873" y="3454446"/>
            <a:ext cx="10610261" cy="2154783"/>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p:txBody>
          <a:bodyPr>
            <a:normAutofit fontScale="77500" lnSpcReduction="20000"/>
          </a:bodyPr>
          <a:lstStyle/>
          <a:p>
            <a:pPr algn="just"/>
            <a:r>
              <a:rPr lang="en-US" b="1" dirty="0">
                <a:latin typeface="Times New Roman" panose="02020603050405020304" pitchFamily="18" charset="0"/>
                <a:cs typeface="Times New Roman" panose="02020603050405020304" pitchFamily="18" charset="0"/>
              </a:rPr>
              <a:t>Notations</a:t>
            </a:r>
          </a:p>
          <a:p>
            <a:pPr algn="just"/>
            <a:r>
              <a:rPr lang="en-US" dirty="0">
                <a:latin typeface="Times New Roman" panose="02020603050405020304" pitchFamily="18" charset="0"/>
                <a:cs typeface="Times New Roman" panose="02020603050405020304" pitchFamily="18" charset="0"/>
              </a:rPr>
              <a:t>T – Correct username/password</a:t>
            </a:r>
          </a:p>
          <a:p>
            <a:pPr algn="just"/>
            <a:r>
              <a:rPr lang="en-US" dirty="0">
                <a:latin typeface="Times New Roman" panose="02020603050405020304" pitchFamily="18" charset="0"/>
                <a:cs typeface="Times New Roman" panose="02020603050405020304" pitchFamily="18" charset="0"/>
              </a:rPr>
              <a:t>F – Wrong username/password</a:t>
            </a:r>
          </a:p>
          <a:p>
            <a:pPr algn="just"/>
            <a:r>
              <a:rPr lang="en-US" dirty="0">
                <a:latin typeface="Times New Roman" panose="02020603050405020304" pitchFamily="18" charset="0"/>
                <a:cs typeface="Times New Roman" panose="02020603050405020304" pitchFamily="18" charset="0"/>
              </a:rPr>
              <a:t>E – Error message is displayed</a:t>
            </a:r>
          </a:p>
          <a:p>
            <a:pPr algn="just"/>
            <a:r>
              <a:rPr lang="en-US" dirty="0">
                <a:latin typeface="Times New Roman" panose="02020603050405020304" pitchFamily="18" charset="0"/>
                <a:cs typeface="Times New Roman" panose="02020603050405020304" pitchFamily="18" charset="0"/>
              </a:rPr>
              <a:t>H – Home screen is displayed</a:t>
            </a:r>
          </a:p>
          <a:p>
            <a:pPr algn="just"/>
            <a:r>
              <a:rPr lang="en-US" dirty="0">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nterpretation</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Case 1 – Username and password both were wrong. The user is shown an error message.</a:t>
            </a:r>
          </a:p>
          <a:p>
            <a:pPr algn="just"/>
            <a:r>
              <a:rPr lang="en-US" dirty="0">
                <a:latin typeface="Times New Roman" panose="02020603050405020304" pitchFamily="18" charset="0"/>
                <a:cs typeface="Times New Roman" panose="02020603050405020304" pitchFamily="18" charset="0"/>
              </a:rPr>
              <a:t>Case 2 – Username was correct, but the password was wrong. The user is shown an error message.</a:t>
            </a:r>
          </a:p>
          <a:p>
            <a:pPr algn="just"/>
            <a:r>
              <a:rPr lang="en-US" dirty="0">
                <a:latin typeface="Times New Roman" panose="02020603050405020304" pitchFamily="18" charset="0"/>
                <a:cs typeface="Times New Roman" panose="02020603050405020304" pitchFamily="18" charset="0"/>
              </a:rPr>
              <a:t>Case 3 – Username was wrong, but the password was correct. The user is shown an error message.</a:t>
            </a:r>
          </a:p>
          <a:p>
            <a:pPr algn="just"/>
            <a:r>
              <a:rPr lang="en-US" dirty="0">
                <a:latin typeface="Times New Roman" panose="02020603050405020304" pitchFamily="18" charset="0"/>
                <a:cs typeface="Times New Roman" panose="02020603050405020304" pitchFamily="18" charset="0"/>
              </a:rPr>
              <a:t>Case 4 – Username and password both were correct, and the user navigated to homepage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 and Disadvantages</a:t>
            </a:r>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Advantages</a:t>
            </a:r>
          </a:p>
          <a:p>
            <a:pPr algn="just"/>
            <a:r>
              <a:rPr lang="en-US" dirty="0">
                <a:latin typeface="Times New Roman" panose="02020603050405020304" pitchFamily="18" charset="0"/>
                <a:cs typeface="Times New Roman" panose="02020603050405020304" pitchFamily="18" charset="0"/>
              </a:rPr>
              <a:t>When the system behavior is different for different input and not same for a range of inputs, both equivalent partitioning, and boundary value analysis won't help, but decision table can be used.</a:t>
            </a:r>
          </a:p>
          <a:p>
            <a:pPr algn="just"/>
            <a:r>
              <a:rPr lang="en-US" dirty="0">
                <a:latin typeface="Times New Roman" panose="02020603050405020304" pitchFamily="18" charset="0"/>
                <a:cs typeface="Times New Roman" panose="02020603050405020304" pitchFamily="18" charset="0"/>
              </a:rPr>
              <a:t>The representation is simple so that it can be easily interpreted and is used for development and business as well.</a:t>
            </a:r>
          </a:p>
          <a:p>
            <a:pPr algn="just"/>
            <a:r>
              <a:rPr lang="en-US" dirty="0">
                <a:latin typeface="Times New Roman" panose="02020603050405020304" pitchFamily="18" charset="0"/>
                <a:cs typeface="Times New Roman" panose="02020603050405020304" pitchFamily="18" charset="0"/>
              </a:rPr>
              <a:t>This table will help to make effective combinations and can ensure a better coverage for testing</a:t>
            </a:r>
          </a:p>
          <a:p>
            <a:pPr algn="just"/>
            <a:r>
              <a:rPr lang="en-US" dirty="0">
                <a:latin typeface="Times New Roman" panose="02020603050405020304" pitchFamily="18" charset="0"/>
                <a:cs typeface="Times New Roman" panose="02020603050405020304" pitchFamily="18" charset="0"/>
              </a:rPr>
              <a:t>Any complex business conditions can be easily turned into decision tables</a:t>
            </a:r>
          </a:p>
          <a:p>
            <a:pPr algn="just"/>
            <a:r>
              <a:rPr lang="en-US" dirty="0">
                <a:latin typeface="Times New Roman" panose="02020603050405020304" pitchFamily="18" charset="0"/>
                <a:cs typeface="Times New Roman" panose="02020603050405020304" pitchFamily="18" charset="0"/>
              </a:rPr>
              <a:t>In a case we are going for 100% coverage typically when the input combinations are low, this technique can ensure the coverage.</a:t>
            </a:r>
          </a:p>
          <a:p>
            <a:pPr algn="just"/>
            <a:r>
              <a:rPr lang="en-US" dirty="0">
                <a:latin typeface="Times New Roman" panose="02020603050405020304" pitchFamily="18" charset="0"/>
                <a:cs typeface="Times New Roman" panose="02020603050405020304" pitchFamily="18" charset="0"/>
              </a:rPr>
              <a:t>Disadvantages</a:t>
            </a:r>
          </a:p>
          <a:p>
            <a:pPr algn="just"/>
            <a:r>
              <a:rPr lang="en-US" dirty="0">
                <a:latin typeface="Times New Roman" panose="02020603050405020304" pitchFamily="18" charset="0"/>
                <a:cs typeface="Times New Roman" panose="02020603050405020304" pitchFamily="18" charset="0"/>
              </a:rPr>
              <a:t>The main disadvantage is that when the number of input increases the table will become more complex</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37</a:t>
            </a:fld>
            <a:endParaRPr lang="en-US"/>
          </a:p>
        </p:txBody>
      </p:sp>
      <p:sp>
        <p:nvSpPr>
          <p:cNvPr id="6" name="Title 5"/>
          <p:cNvSpPr>
            <a:spLocks noGrp="1"/>
          </p:cNvSpPr>
          <p:nvPr>
            <p:ph type="title"/>
          </p:nvPr>
        </p:nvSpPr>
        <p:spPr>
          <a:xfrm>
            <a:off x="1376978" y="680113"/>
            <a:ext cx="9039675" cy="64372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Comparison</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pic>
        <p:nvPicPr>
          <p:cNvPr id="48129" name="Picture 1"/>
          <p:cNvPicPr>
            <a:picLocks noChangeAspect="1" noChangeArrowheads="1"/>
          </p:cNvPicPr>
          <p:nvPr/>
        </p:nvPicPr>
        <p:blipFill>
          <a:blip r:embed="rId2"/>
          <a:srcRect/>
          <a:stretch>
            <a:fillRect/>
          </a:stretch>
        </p:blipFill>
        <p:spPr bwMode="auto">
          <a:xfrm>
            <a:off x="1290354" y="1323833"/>
            <a:ext cx="9368548" cy="5311834"/>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129553"/>
            <a:ext cx="10515600" cy="5611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Formal specification</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00"/>
              </a:spcBef>
            </a:pPr>
            <a:r>
              <a:rPr lang="en-GB" dirty="0">
                <a:latin typeface="Times New Roman" panose="02020603050405020304" pitchFamily="18" charset="0"/>
                <a:cs typeface="Times New Roman" pitchFamily="18" charset="0"/>
              </a:rPr>
              <a:t>A formal specification technique is a mathematical method to:</a:t>
            </a:r>
          </a:p>
          <a:p>
            <a:pPr marL="742950" lvl="1" algn="just">
              <a:spcBef>
                <a:spcPts val="725"/>
              </a:spcBef>
            </a:pPr>
            <a:r>
              <a:rPr lang="en-GB" sz="2800" dirty="0">
                <a:latin typeface="Times New Roman" pitchFamily="18" charset="0"/>
                <a:cs typeface="Times New Roman" pitchFamily="18" charset="0"/>
              </a:rPr>
              <a:t>Accurately specify a system.</a:t>
            </a:r>
          </a:p>
          <a:p>
            <a:pPr marL="742950" lvl="1" algn="just">
              <a:spcBef>
                <a:spcPts val="725"/>
              </a:spcBef>
            </a:pPr>
            <a:r>
              <a:rPr lang="en-GB" sz="2800" dirty="0">
                <a:latin typeface="Times New Roman" pitchFamily="18" charset="0"/>
                <a:cs typeface="Times New Roman" pitchFamily="18" charset="0"/>
              </a:rPr>
              <a:t>Verify that implementation satisfies specification.</a:t>
            </a:r>
          </a:p>
          <a:p>
            <a:pPr algn="just"/>
            <a:r>
              <a:rPr lang="en-GB" sz="2800" dirty="0">
                <a:latin typeface="Times New Roman" pitchFamily="18" charset="0"/>
                <a:cs typeface="Times New Roman" pitchFamily="18" charset="0"/>
              </a:rPr>
              <a:t>Prove properties of the specification.</a:t>
            </a:r>
            <a:r>
              <a:rPr lang="en-US" dirty="0">
                <a:latin typeface="Times New Roman" panose="02020603050405020304" pitchFamily="18" charset="0"/>
                <a:cs typeface="Times New Roman" panose="02020603050405020304" pitchFamily="18" charset="0"/>
              </a:rPr>
              <a:t> A formal software specification is a statement expressed in a language whose vocabulary, syntax, and semantics are formally defined. </a:t>
            </a:r>
          </a:p>
          <a:p>
            <a:pPr algn="just"/>
            <a:r>
              <a:rPr lang="en-US" dirty="0">
                <a:latin typeface="Times New Roman" panose="02020603050405020304" pitchFamily="18" charset="0"/>
                <a:cs typeface="Times New Roman" panose="02020603050405020304" pitchFamily="18" charset="0"/>
              </a:rPr>
              <a:t>The need for a formal semantic definition means that the specification languages cannot be based on natural language; it must be based on mathematics. </a:t>
            </a:r>
          </a:p>
          <a:p>
            <a:pPr marL="742950" lvl="1">
              <a:spcBef>
                <a:spcPts val="725"/>
              </a:spcBef>
            </a:pPr>
            <a:endParaRPr lang="en-GB" sz="28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Formal Specification</a:t>
            </a:r>
          </a:p>
        </p:txBody>
      </p:sp>
      <p:sp>
        <p:nvSpPr>
          <p:cNvPr id="3" name="Content Placeholder 2"/>
          <p:cNvSpPr>
            <a:spLocks noGrp="1"/>
          </p:cNvSpPr>
          <p:nvPr>
            <p:ph idx="1"/>
          </p:nvPr>
        </p:nvSpPr>
        <p:spPr/>
        <p:txBody>
          <a:bodyPr>
            <a:normAutofit fontScale="92500" lnSpcReduction="20000"/>
          </a:bodyPr>
          <a:lstStyle/>
          <a:p>
            <a:pPr marL="342900" indent="-342900" algn="just">
              <a:spcBef>
                <a:spcPts val="800"/>
              </a:spcBef>
            </a:pPr>
            <a:r>
              <a:rPr lang="en-GB" dirty="0">
                <a:latin typeface="Times New Roman" panose="02020603050405020304" pitchFamily="18" charset="0"/>
                <a:cs typeface="Times New Roman" pitchFamily="18" charset="0"/>
              </a:rPr>
              <a:t>Advantages:</a:t>
            </a:r>
          </a:p>
          <a:p>
            <a:pPr marL="742950" lvl="1" algn="just">
              <a:spcBef>
                <a:spcPts val="725"/>
              </a:spcBef>
            </a:pPr>
            <a:r>
              <a:rPr lang="en-GB" sz="2800" dirty="0">
                <a:latin typeface="Times New Roman" pitchFamily="18" charset="0"/>
                <a:cs typeface="Times New Roman" pitchFamily="18" charset="0"/>
              </a:rPr>
              <a:t>Well-defined semantics, no scope for ambiguity</a:t>
            </a:r>
          </a:p>
          <a:p>
            <a:pPr marL="742950" lvl="1" algn="just">
              <a:spcBef>
                <a:spcPts val="725"/>
              </a:spcBef>
            </a:pPr>
            <a:r>
              <a:rPr lang="en-GB" sz="2800" dirty="0">
                <a:latin typeface="Times New Roman" pitchFamily="18" charset="0"/>
                <a:cs typeface="Times New Roman" pitchFamily="18" charset="0"/>
              </a:rPr>
              <a:t>Automated tools can check properties of specifications</a:t>
            </a:r>
          </a:p>
          <a:p>
            <a:pPr marL="742950" lvl="1" algn="just">
              <a:spcBef>
                <a:spcPts val="725"/>
              </a:spcBef>
            </a:pPr>
            <a:r>
              <a:rPr lang="en-GB" sz="2800" dirty="0">
                <a:latin typeface="Times New Roman" pitchFamily="18" charset="0"/>
                <a:cs typeface="Times New Roman" pitchFamily="18" charset="0"/>
              </a:rPr>
              <a:t>Executable specification</a:t>
            </a:r>
            <a:endParaRPr lang="en-US" sz="2800" dirty="0">
              <a:latin typeface="Times New Roman" panose="02020603050405020304" pitchFamily="18" charset="0"/>
              <a:cs typeface="Times New Roman" pitchFamily="18" charset="0"/>
            </a:endParaRPr>
          </a:p>
          <a:p>
            <a:pPr marL="742950" lvl="1" algn="just">
              <a:spcBef>
                <a:spcPts val="725"/>
              </a:spcBef>
            </a:pPr>
            <a:r>
              <a:rPr lang="en-US" sz="2800" dirty="0">
                <a:latin typeface="Times New Roman" panose="02020603050405020304" pitchFamily="18" charset="0"/>
                <a:cs typeface="Times New Roman" pitchFamily="18" charset="0"/>
              </a:rPr>
              <a:t>The development of a formal specification provides insights and understanding of the software requirements and the software design. </a:t>
            </a:r>
          </a:p>
          <a:p>
            <a:pPr marL="742950" lvl="1" algn="just">
              <a:spcBef>
                <a:spcPts val="725"/>
              </a:spcBef>
            </a:pPr>
            <a:r>
              <a:rPr lang="en-US" sz="2800" dirty="0">
                <a:latin typeface="Times New Roman" panose="02020603050405020304" pitchFamily="18" charset="0"/>
                <a:cs typeface="Times New Roman" pitchFamily="18" charset="0"/>
              </a:rPr>
              <a:t>Given a formal system specification and a complete formal programming language definition, it may be possible to prove that a program conforms to its specifications.</a:t>
            </a:r>
          </a:p>
          <a:p>
            <a:pPr marL="742950" lvl="1" algn="just">
              <a:spcBef>
                <a:spcPts val="725"/>
              </a:spcBef>
            </a:pPr>
            <a:r>
              <a:rPr lang="en-US" sz="2800" dirty="0">
                <a:latin typeface="Times New Roman" panose="02020603050405020304" pitchFamily="18" charset="0"/>
                <a:cs typeface="Times New Roman" pitchFamily="18" charset="0"/>
              </a:rPr>
              <a:t>Formal specification may be automatically processed. Software tools can be built to assist with their development, understanding, and debugging. </a:t>
            </a:r>
            <a:endParaRPr lang="en-GB" sz="28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Formal Specification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Depending on the formal specification language being used, it may be possible to animate a formal system specification to provide a prototype system. </a:t>
            </a:r>
          </a:p>
          <a:p>
            <a:r>
              <a:rPr lang="en-US" dirty="0">
                <a:latin typeface="Times New Roman" panose="02020603050405020304" pitchFamily="18" charset="0"/>
                <a:cs typeface="Times New Roman" panose="02020603050405020304" pitchFamily="18" charset="0"/>
              </a:rPr>
              <a:t> Formal specifications are mathematical entities and may be studied and analyzed using mathematical methods.</a:t>
            </a:r>
          </a:p>
          <a:p>
            <a:r>
              <a:rPr lang="en-US" dirty="0">
                <a:latin typeface="Times New Roman" panose="02020603050405020304" pitchFamily="18" charset="0"/>
                <a:cs typeface="Times New Roman" panose="02020603050405020304" pitchFamily="18" charset="0"/>
              </a:rPr>
              <a:t> Formal specifications may be used as a guide to the tester of a component in identifying appropriate test cases.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41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sz="4900" dirty="0">
                <a:solidFill>
                  <a:schemeClr val="tx1"/>
                </a:solidFill>
                <a:latin typeface="Times New Roman" pitchFamily="18" charset="0"/>
                <a:cs typeface="Times New Roman" pitchFamily="18" charset="0"/>
              </a:rPr>
              <a:t>Formal specification</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88"/>
              </a:spcBef>
            </a:pPr>
            <a:r>
              <a:rPr lang="en-GB" dirty="0">
                <a:latin typeface="Times New Roman" pitchFamily="18" charset="0"/>
                <a:cs typeface="Times New Roman" pitchFamily="18" charset="0"/>
              </a:rPr>
              <a:t>Disadvantages of formal specification techniques:</a:t>
            </a:r>
          </a:p>
          <a:p>
            <a:pPr marL="742950" lvl="1" algn="just">
              <a:spcBef>
                <a:spcPts val="800"/>
              </a:spcBef>
            </a:pPr>
            <a:r>
              <a:rPr lang="en-GB" sz="2800" dirty="0">
                <a:latin typeface="Times New Roman" pitchFamily="18" charset="0"/>
                <a:cs typeface="Times New Roman" pitchFamily="18" charset="0"/>
              </a:rPr>
              <a:t>Difficult to learn and use</a:t>
            </a:r>
          </a:p>
          <a:p>
            <a:pPr marL="742950" lvl="1" algn="just">
              <a:spcBef>
                <a:spcPts val="800"/>
              </a:spcBef>
            </a:pPr>
            <a:r>
              <a:rPr lang="en-GB" sz="2800" dirty="0">
                <a:latin typeface="Times New Roman" pitchFamily="18" charset="0"/>
                <a:cs typeface="Times New Roman" pitchFamily="18" charset="0"/>
              </a:rPr>
              <a:t>Not able to handle complex systems</a:t>
            </a:r>
          </a:p>
          <a:p>
            <a:pPr marL="742950" lvl="1" algn="just">
              <a:spcBef>
                <a:spcPts val="725"/>
              </a:spcBef>
            </a:pPr>
            <a:endParaRPr lang="en-GB" sz="2800" dirty="0">
              <a:latin typeface="Times New Roman" pitchFamily="18" charset="0"/>
              <a:cs typeface="Times New Roman" pitchFamily="18" charset="0"/>
            </a:endParaRPr>
          </a:p>
          <a:p>
            <a:pPr marL="342900" indent="-342900" algn="just">
              <a:spcBef>
                <a:spcPts val="800"/>
              </a:spcBef>
            </a:pPr>
            <a:r>
              <a:rPr lang="en-GB" dirty="0">
                <a:latin typeface="Times New Roman" pitchFamily="18" charset="0"/>
                <a:cs typeface="Times New Roman" pitchFamily="18" charset="0"/>
              </a:rPr>
              <a:t>Mathematical techniques used include:</a:t>
            </a:r>
          </a:p>
          <a:p>
            <a:pPr marL="742950" lvl="1" algn="just">
              <a:spcBef>
                <a:spcPts val="725"/>
              </a:spcBef>
            </a:pPr>
            <a:r>
              <a:rPr lang="en-GB" sz="2800" dirty="0">
                <a:latin typeface="Times New Roman" pitchFamily="18" charset="0"/>
                <a:cs typeface="Times New Roman" pitchFamily="18" charset="0"/>
              </a:rPr>
              <a:t>Logic-based</a:t>
            </a:r>
          </a:p>
          <a:p>
            <a:pPr marL="742950" lvl="1" algn="just">
              <a:spcBef>
                <a:spcPts val="725"/>
              </a:spcBef>
            </a:pPr>
            <a:r>
              <a:rPr lang="en-GB" sz="2800" dirty="0">
                <a:latin typeface="Times New Roman" pitchFamily="18" charset="0"/>
                <a:cs typeface="Times New Roman" pitchFamily="18" charset="0"/>
              </a:rPr>
              <a:t>set theoretic</a:t>
            </a:r>
          </a:p>
          <a:p>
            <a:pPr marL="742950" lvl="1" algn="just">
              <a:spcBef>
                <a:spcPts val="725"/>
              </a:spcBef>
            </a:pPr>
            <a:r>
              <a:rPr lang="en-GB" sz="2800" dirty="0">
                <a:latin typeface="Times New Roman" pitchFamily="18" charset="0"/>
                <a:cs typeface="Times New Roman" pitchFamily="18" charset="0"/>
              </a:rPr>
              <a:t>algebraic specification</a:t>
            </a:r>
          </a:p>
          <a:p>
            <a:pPr marL="742950" lvl="1" algn="just">
              <a:spcBef>
                <a:spcPts val="725"/>
              </a:spcBef>
            </a:pPr>
            <a:r>
              <a:rPr lang="en-GB" sz="2800" dirty="0">
                <a:latin typeface="Times New Roman" pitchFamily="18" charset="0"/>
                <a:cs typeface="Times New Roman" pitchFamily="18" charset="0"/>
              </a:rPr>
              <a:t>finite state machines, etc.</a:t>
            </a:r>
          </a:p>
          <a:p>
            <a:pPr marL="742950" lvl="1" algn="just">
              <a:spcBef>
                <a:spcPts val="725"/>
              </a:spcBef>
            </a:pPr>
            <a:endParaRPr lang="en-GB" sz="28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Formal Specification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Formal specifications sometimes are not used because: </a:t>
            </a:r>
          </a:p>
          <a:p>
            <a:pPr algn="just"/>
            <a:r>
              <a:rPr lang="en-US" dirty="0">
                <a:latin typeface="Times New Roman" panose="02020603050405020304" pitchFamily="18" charset="0"/>
                <a:cs typeface="Times New Roman" panose="02020603050405020304" pitchFamily="18" charset="0"/>
              </a:rPr>
              <a:t>Software management is conservative and unwilling to adopt new techniques whose payoff is not immediately obvious. </a:t>
            </a:r>
          </a:p>
          <a:p>
            <a:pPr algn="just"/>
            <a:r>
              <a:rPr lang="en-US" dirty="0">
                <a:latin typeface="Times New Roman" panose="02020603050405020304" pitchFamily="18" charset="0"/>
                <a:cs typeface="Times New Roman" panose="02020603050405020304" pitchFamily="18" charset="0"/>
              </a:rPr>
              <a:t>Most software engineers have not been trained in formal specification techniques.</a:t>
            </a:r>
          </a:p>
          <a:p>
            <a:pPr algn="just"/>
            <a:r>
              <a:rPr lang="en-US" dirty="0">
                <a:latin typeface="Times New Roman" panose="02020603050405020304" pitchFamily="18" charset="0"/>
                <a:cs typeface="Times New Roman" panose="02020603050405020304" pitchFamily="18" charset="0"/>
              </a:rPr>
              <a:t> Some classes of systems are difficult to specify using existing specification techniques. Interactive and interrupt driven systems might be examples.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73"/>
            <a:ext cx="10515600" cy="693215"/>
          </a:xfrm>
        </p:spPr>
        <p:txBody>
          <a:bodyPr>
            <a:normAutofit fontScale="90000"/>
          </a:bodyPr>
          <a:lstStyle/>
          <a:p>
            <a:pPr algn="ctr"/>
            <a:r>
              <a:rPr lang="en-US" dirty="0">
                <a:latin typeface="Times New Roman" pitchFamily="18" charset="0"/>
                <a:cs typeface="Times New Roman" pitchFamily="18" charset="0"/>
              </a:rPr>
              <a:t>APPLICATIONS    </a:t>
            </a:r>
          </a:p>
        </p:txBody>
      </p:sp>
      <p:sp>
        <p:nvSpPr>
          <p:cNvPr id="3" name="Content Placeholder 2"/>
          <p:cNvSpPr>
            <a:spLocks noGrp="1"/>
          </p:cNvSpPr>
          <p:nvPr>
            <p:ph idx="1"/>
          </p:nvPr>
        </p:nvSpPr>
        <p:spPr/>
        <p:txBody>
          <a:bodyPr>
            <a:normAutofit/>
          </a:bodyPr>
          <a:lstStyle/>
          <a:p>
            <a:pPr algn="just"/>
            <a:r>
              <a:rPr lang="en-US" sz="2600" dirty="0">
                <a:latin typeface="Times New Roman" pitchFamily="18" charset="0"/>
                <a:cs typeface="Times New Roman" pitchFamily="18" charset="0"/>
              </a:rPr>
              <a:t>Managing clients requirements in industry.</a:t>
            </a:r>
          </a:p>
          <a:p>
            <a:pPr algn="just"/>
            <a:r>
              <a:rPr lang="en-US" sz="2600" dirty="0">
                <a:latin typeface="Times New Roman" pitchFamily="18" charset="0"/>
                <a:cs typeface="Times New Roman" pitchFamily="18" charset="0"/>
              </a:rPr>
              <a:t> Generating software for noticing health activities with novel smart technologies.</a:t>
            </a:r>
          </a:p>
          <a:p>
            <a:pPr algn="just"/>
            <a:r>
              <a:rPr lang="en-US" sz="2600" dirty="0">
                <a:latin typeface="Times New Roman" pitchFamily="18" charset="0"/>
                <a:cs typeface="Times New Roman" pitchFamily="18" charset="0"/>
              </a:rPr>
              <a:t> Content Management and to analyzing Fraud detection and Prevention</a:t>
            </a:r>
          </a:p>
          <a:p>
            <a:pPr algn="just"/>
            <a:r>
              <a:rPr lang="en-US" sz="2600" dirty="0">
                <a:latin typeface="Times New Roman" pitchFamily="18" charset="0"/>
                <a:cs typeface="Times New Roman" pitchFamily="18" charset="0"/>
              </a:rPr>
              <a:t> Advertisements Targeting Platforms Managing content, posts, images and videos on social media platforms</a:t>
            </a:r>
          </a:p>
          <a:p>
            <a:pPr algn="just"/>
            <a:r>
              <a:rPr lang="en-US" sz="2600" dirty="0">
                <a:latin typeface="Times New Roman" pitchFamily="18" charset="0"/>
                <a:cs typeface="Times New Roman" pitchFamily="18" charset="0"/>
              </a:rPr>
              <a:t> Analyzing customer data in real-time for improving business performance</a:t>
            </a:r>
          </a:p>
          <a:p>
            <a:pPr algn="just"/>
            <a:r>
              <a:rPr lang="en-US" sz="2600" dirty="0">
                <a:latin typeface="Times New Roman" pitchFamily="18" charset="0"/>
                <a:cs typeface="Times New Roman" pitchFamily="18" charset="0"/>
              </a:rPr>
              <a:t> Public sector fields such as intelligence, defense, cyber security and scientific research</a:t>
            </a:r>
          </a:p>
          <a:p>
            <a:pPr algn="just">
              <a:lnSpc>
                <a:spcPct val="200000"/>
              </a:lnSpc>
            </a:pPr>
            <a:endParaRPr lang="en-US" sz="2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930797"/>
            <a:ext cx="10515600" cy="69321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790034"/>
          </a:xfrm>
        </p:spPr>
        <p:txBody>
          <a:bodyPr/>
          <a:lstStyle/>
          <a:p>
            <a:pPr algn="ctr"/>
            <a:r>
              <a:rPr lang="en-US" dirty="0">
                <a:latin typeface="Times New Roman" pitchFamily="18" charset="0"/>
                <a:cs typeface="Times New Roman" pitchFamily="18" charset="0"/>
              </a:rPr>
              <a:t>Data Modeling</a:t>
            </a: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A data model can be thought of as a flowchart that illustrates the relationships among data. </a:t>
            </a:r>
          </a:p>
          <a:p>
            <a:pPr algn="just"/>
            <a:r>
              <a:rPr lang="en-US" sz="2400" dirty="0">
                <a:latin typeface="Times New Roman" pitchFamily="18" charset="0"/>
                <a:cs typeface="Times New Roman" pitchFamily="18" charset="0"/>
              </a:rPr>
              <a:t>It enables stakeholders to identify errors and make changes before any programming code has been written. </a:t>
            </a:r>
          </a:p>
          <a:p>
            <a:pPr algn="just"/>
            <a:r>
              <a:rPr lang="en-US" sz="2400" dirty="0">
                <a:latin typeface="Times New Roman" pitchFamily="18" charset="0"/>
                <a:cs typeface="Times New Roman" pitchFamily="18" charset="0"/>
              </a:rPr>
              <a:t>Alternatively, models can be introduced as part of reverse engineering efforts that extract models from existing systems, as seen with </a:t>
            </a:r>
            <a:r>
              <a:rPr lang="en-US" sz="2400" dirty="0" err="1">
                <a:latin typeface="Times New Roman" pitchFamily="18" charset="0"/>
                <a:cs typeface="Times New Roman" pitchFamily="18" charset="0"/>
              </a:rPr>
              <a:t>NoSQL</a:t>
            </a:r>
            <a:r>
              <a:rPr lang="en-US" sz="2400" dirty="0">
                <a:latin typeface="Times New Roman" pitchFamily="18" charset="0"/>
                <a:cs typeface="Times New Roman" pitchFamily="18" charset="0"/>
              </a:rPr>
              <a:t> data.</a:t>
            </a:r>
          </a:p>
          <a:p>
            <a:pPr algn="just"/>
            <a:r>
              <a:rPr lang="en-US" sz="2400" dirty="0">
                <a:latin typeface="Times New Roman" pitchFamily="18" charset="0"/>
                <a:cs typeface="Times New Roman" pitchFamily="18" charset="0"/>
              </a:rPr>
              <a:t>Data modelers often use multiple models to view the same data and ensure that all processes, entities, relationships and data flows have been identified. </a:t>
            </a:r>
          </a:p>
          <a:p>
            <a:pPr algn="just"/>
            <a:r>
              <a:rPr lang="en-US" sz="2400" dirty="0">
                <a:latin typeface="Times New Roman" pitchFamily="18" charset="0"/>
                <a:cs typeface="Times New Roman" pitchFamily="18" charset="0"/>
              </a:rPr>
              <a:t>Data modeling stages roughly break down into creation of logical data models that show specific attributes, entities and relationships among entities and the physical data model.</a:t>
            </a:r>
          </a:p>
          <a:p>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849854"/>
            <a:ext cx="10515600" cy="7741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854580"/>
          </a:xfrm>
        </p:spPr>
        <p:txBody>
          <a:bodyPr>
            <a:normAutofit/>
          </a:bodyPr>
          <a:lstStyle/>
          <a:p>
            <a:pPr algn="ctr"/>
            <a:r>
              <a:rPr lang="en-US" dirty="0">
                <a:latin typeface="Times New Roman" pitchFamily="18" charset="0"/>
                <a:cs typeface="Times New Roman" pitchFamily="18" charset="0"/>
              </a:rPr>
              <a:t>Functional Modeling  </a:t>
            </a:r>
          </a:p>
        </p:txBody>
      </p:sp>
      <p:sp>
        <p:nvSpPr>
          <p:cNvPr id="3" name="Content Placeholder 2"/>
          <p:cNvSpPr>
            <a:spLocks noGrp="1"/>
          </p:cNvSpPr>
          <p:nvPr>
            <p:ph idx="1"/>
          </p:nvPr>
        </p:nvSpPr>
        <p:spPr/>
        <p:txBody>
          <a:bodyPr>
            <a:noAutofit/>
          </a:bodyPr>
          <a:lstStyle/>
          <a:p>
            <a:pPr algn="just">
              <a:lnSpc>
                <a:spcPct val="200000"/>
              </a:lnSpc>
            </a:pPr>
            <a:r>
              <a:rPr lang="en-US" sz="2400" dirty="0">
                <a:latin typeface="Times New Roman" pitchFamily="18" charset="0"/>
                <a:cs typeface="Times New Roman" pitchFamily="18" charset="0"/>
              </a:rPr>
              <a:t>In the </a:t>
            </a:r>
            <a:r>
              <a:rPr lang="en-US" sz="2400" b="1" dirty="0">
                <a:latin typeface="Times New Roman" pitchFamily="18" charset="0"/>
                <a:cs typeface="Times New Roman" pitchFamily="18" charset="0"/>
              </a:rPr>
              <a:t>Functional Model</a:t>
            </a:r>
            <a:r>
              <a:rPr lang="en-US" sz="2400" dirty="0">
                <a:latin typeface="Times New Roman" pitchFamily="18" charset="0"/>
                <a:cs typeface="Times New Roman" pitchFamily="18" charset="0"/>
              </a:rPr>
              <a:t>, software converts information. and to accomplish this, it must perform at least three common tasks- input, processing and output. </a:t>
            </a:r>
          </a:p>
          <a:p>
            <a:pPr algn="just">
              <a:lnSpc>
                <a:spcPct val="200000"/>
              </a:lnSpc>
            </a:pPr>
            <a:r>
              <a:rPr lang="en-US" sz="2400" dirty="0">
                <a:latin typeface="Times New Roman" pitchFamily="18" charset="0"/>
                <a:cs typeface="Times New Roman" pitchFamily="18" charset="0"/>
              </a:rPr>
              <a:t>When functional models of an application are created, the software engineer emphasizes problem specific tasks. The functional model begins with a single reference level model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785308"/>
            <a:ext cx="10515600" cy="8387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793"/>
            <a:ext cx="10515600" cy="876095"/>
          </a:xfrm>
        </p:spPr>
        <p:txBody>
          <a:bodyPr>
            <a:normAutofit/>
          </a:bodyPr>
          <a:lstStyle/>
          <a:p>
            <a:pPr algn="ctr"/>
            <a:r>
              <a:rPr lang="en-US" dirty="0">
                <a:latin typeface="Times New Roman" pitchFamily="18" charset="0"/>
                <a:cs typeface="Times New Roman" pitchFamily="18" charset="0"/>
              </a:rPr>
              <a:t>Functional Modeling  </a:t>
            </a:r>
          </a:p>
        </p:txBody>
      </p:sp>
      <p:sp>
        <p:nvSpPr>
          <p:cNvPr id="3" name="Content Placeholder 2"/>
          <p:cNvSpPr>
            <a:spLocks noGrp="1"/>
          </p:cNvSpPr>
          <p:nvPr>
            <p:ph idx="1"/>
          </p:nvPr>
        </p:nvSpPr>
        <p:spPr/>
        <p:txBody>
          <a:bodyPr>
            <a:noAutofit/>
          </a:bodyPr>
          <a:lstStyle/>
          <a:p>
            <a:pPr algn="just">
              <a:lnSpc>
                <a:spcPct val="200000"/>
              </a:lnSpc>
            </a:pPr>
            <a:r>
              <a:rPr lang="en-US" sz="2400" dirty="0">
                <a:latin typeface="Times New Roman" pitchFamily="18" charset="0"/>
                <a:cs typeface="Times New Roman" pitchFamily="18" charset="0"/>
              </a:rPr>
              <a:t>In a series of iterations, more and more functional detail is given, until all system functionality is fully represented.</a:t>
            </a:r>
          </a:p>
          <a:p>
            <a:pPr algn="just">
              <a:lnSpc>
                <a:spcPct val="200000"/>
              </a:lnSpc>
            </a:pPr>
            <a:r>
              <a:rPr lang="en-US" sz="2400" dirty="0">
                <a:latin typeface="Times New Roman" pitchFamily="18" charset="0"/>
                <a:cs typeface="Times New Roman" pitchFamily="18" charset="0"/>
              </a:rPr>
              <a:t>Information is converted because it flows from a computer-based system. </a:t>
            </a:r>
          </a:p>
          <a:p>
            <a:pPr algn="just">
              <a:lnSpc>
                <a:spcPct val="200000"/>
              </a:lnSpc>
            </a:pPr>
            <a:r>
              <a:rPr lang="en-US" sz="2400" dirty="0">
                <a:latin typeface="Times New Roman" pitchFamily="18" charset="0"/>
                <a:cs typeface="Times New Roman" pitchFamily="18" charset="0"/>
              </a:rPr>
              <a:t>The system takes input in various forms; Hardware, software, and human elements are applied to replace it; And produces in various forms.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763793"/>
            <a:ext cx="10515600" cy="86021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00792"/>
          </a:xfrm>
        </p:spPr>
        <p:txBody>
          <a:bodyPr>
            <a:noAutofit/>
          </a:bodyPr>
          <a:lstStyle/>
          <a:p>
            <a:pPr algn="ct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Behavioral Modeling</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Behavioral model describes the interaction in the system. It represents the interaction among the structural diagrams. Behavioral modeling shows the dynamic nature of the system. They consist of the following:</a:t>
            </a:r>
          </a:p>
          <a:p>
            <a:pPr lvl="0" algn="just"/>
            <a:r>
              <a:rPr lang="en-US" dirty="0">
                <a:latin typeface="Times New Roman" pitchFamily="18" charset="0"/>
                <a:cs typeface="Times New Roman" pitchFamily="18" charset="0"/>
              </a:rPr>
              <a:t>Activity diagrams</a:t>
            </a:r>
          </a:p>
          <a:p>
            <a:pPr lvl="0" algn="just"/>
            <a:r>
              <a:rPr lang="en-US" dirty="0">
                <a:latin typeface="Times New Roman" pitchFamily="18" charset="0"/>
                <a:cs typeface="Times New Roman" pitchFamily="18" charset="0"/>
              </a:rPr>
              <a:t>Interaction diagrams</a:t>
            </a:r>
          </a:p>
          <a:p>
            <a:pPr lvl="0" algn="just"/>
            <a:r>
              <a:rPr lang="en-US" dirty="0">
                <a:latin typeface="Times New Roman" pitchFamily="18" charset="0"/>
                <a:cs typeface="Times New Roman" pitchFamily="18" charset="0"/>
              </a:rPr>
              <a:t>Use case diagrams</a:t>
            </a:r>
          </a:p>
          <a:p>
            <a:pPr algn="just">
              <a:lnSpc>
                <a:spcPct val="200000"/>
              </a:lnSpc>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823220"/>
            <a:ext cx="10515600" cy="8007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958851"/>
          </a:xfrm>
        </p:spPr>
        <p:txBody>
          <a:bodyPr>
            <a:normAutofit/>
          </a:bodyPr>
          <a:lstStyle/>
          <a:p>
            <a:pPr algn="ctr"/>
            <a:r>
              <a:rPr lang="en-US" dirty="0">
                <a:latin typeface="Times New Roman" pitchFamily="18" charset="0"/>
                <a:cs typeface="Times New Roman" pitchFamily="18" charset="0"/>
              </a:rPr>
              <a:t>REFERENCES    </a:t>
            </a:r>
          </a:p>
        </p:txBody>
      </p:sp>
      <p:sp>
        <p:nvSpPr>
          <p:cNvPr id="3" name="Content Placeholder 2"/>
          <p:cNvSpPr>
            <a:spLocks noGrp="1"/>
          </p:cNvSpPr>
          <p:nvPr>
            <p:ph idx="1"/>
          </p:nvPr>
        </p:nvSpPr>
        <p:spPr/>
        <p:txBody>
          <a:bodyPr>
            <a:noAutofit/>
          </a:bodyPr>
          <a:lstStyle/>
          <a:p>
            <a:pPr lvl="0" algn="just">
              <a:buNone/>
            </a:pPr>
            <a:r>
              <a:rPr lang="en-US" sz="2000" b="1" dirty="0">
                <a:latin typeface="Times New Roman" pitchFamily="18" charset="0"/>
                <a:cs typeface="Times New Roman" pitchFamily="18" charset="0"/>
              </a:rPr>
              <a:t>      Reference Books:</a:t>
            </a:r>
          </a:p>
          <a:p>
            <a:pPr marL="342900" indent="-342900" algn="just">
              <a:buFont typeface="+mj-lt"/>
              <a:buAutoNum type="arabicPeriod"/>
            </a:pPr>
            <a:r>
              <a:rPr lang="en-US" sz="2000" dirty="0" err="1">
                <a:latin typeface="Times New Roman" pitchFamily="18" charset="0"/>
                <a:cs typeface="Times New Roman" pitchFamily="18" charset="0"/>
              </a:rPr>
              <a:t>Suman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Ugrasen</a:t>
            </a:r>
            <a:r>
              <a:rPr lang="en-US" sz="2000" dirty="0">
                <a:latin typeface="Times New Roman" pitchFamily="18" charset="0"/>
                <a:cs typeface="Times New Roman" pitchFamily="18" charset="0"/>
              </a:rPr>
              <a:t>, “Software Engineering - Concepts and Practices”, </a:t>
            </a:r>
            <a:r>
              <a:rPr lang="en-IN" sz="2000" dirty="0">
                <a:latin typeface="Times New Roman" pitchFamily="18" charset="0"/>
                <a:cs typeface="Times New Roman" pitchFamily="18" charset="0"/>
              </a:rPr>
              <a:t>First Edition, </a:t>
            </a:r>
            <a:r>
              <a:rPr lang="en-US" sz="2000" dirty="0" err="1">
                <a:latin typeface="Times New Roman" pitchFamily="18" charset="0"/>
                <a:cs typeface="Times New Roman" pitchFamily="18" charset="0"/>
              </a:rPr>
              <a:t>Cengage</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pPr marL="342900" indent="-342900" algn="just">
              <a:buFont typeface="+mj-lt"/>
              <a:buAutoNum type="arabicPeriod"/>
            </a:pPr>
            <a:r>
              <a:rPr lang="en-US" sz="2000" dirty="0">
                <a:latin typeface="Times New Roman" pitchFamily="18" charset="0"/>
                <a:cs typeface="Times New Roman" pitchFamily="18" charset="0"/>
              </a:rPr>
              <a:t>Mohammad Ali </a:t>
            </a:r>
            <a:r>
              <a:rPr lang="en-US" sz="2000" dirty="0" err="1">
                <a:latin typeface="Times New Roman" pitchFamily="18" charset="0"/>
                <a:cs typeface="Times New Roman" pitchFamily="18" charset="0"/>
              </a:rPr>
              <a:t>Shaikh</a:t>
            </a:r>
            <a:r>
              <a:rPr lang="en-US" sz="2000" dirty="0">
                <a:latin typeface="Times New Roman" pitchFamily="18" charset="0"/>
                <a:cs typeface="Times New Roman" pitchFamily="18" charset="0"/>
              </a:rPr>
              <a:t>, “Software Engineering with UML”, </a:t>
            </a:r>
            <a:r>
              <a:rPr lang="en-IN" sz="2000" dirty="0">
                <a:latin typeface="Times New Roman" pitchFamily="18" charset="0"/>
                <a:cs typeface="Times New Roman" pitchFamily="18" charset="0"/>
              </a:rPr>
              <a:t>Third Edition,</a:t>
            </a:r>
            <a:r>
              <a:rPr lang="en-US" sz="2000" dirty="0">
                <a:latin typeface="Times New Roman" pitchFamily="18" charset="0"/>
                <a:cs typeface="Times New Roman" pitchFamily="18" charset="0"/>
              </a:rPr>
              <a:t> Notion Press.</a:t>
            </a:r>
          </a:p>
          <a:p>
            <a:pPr marL="342900" indent="-342900" algn="just">
              <a:buFont typeface="+mj-lt"/>
              <a:buAutoNum type="arabicPeriod"/>
            </a:pPr>
            <a:r>
              <a:rPr lang="en-US" sz="2000" dirty="0">
                <a:latin typeface="Times New Roman" pitchFamily="18" charset="0"/>
                <a:cs typeface="Times New Roman" pitchFamily="18" charset="0"/>
              </a:rPr>
              <a:t>Somerville Ian, “Software Engineering”, Addison Wesley, 8th Edition.</a:t>
            </a:r>
          </a:p>
          <a:p>
            <a:pPr marL="342900" lvl="0" indent="-342900" algn="just">
              <a:buNone/>
            </a:pPr>
            <a:r>
              <a:rPr lang="en-US" sz="2000" b="1" dirty="0">
                <a:latin typeface="Times New Roman" pitchFamily="18" charset="0"/>
                <a:cs typeface="Times New Roman" pitchFamily="18" charset="0"/>
              </a:rPr>
              <a:t>	Text Books:</a:t>
            </a:r>
          </a:p>
          <a:p>
            <a:pPr marL="342900" lvl="0" indent="-342900" algn="just">
              <a:buFont typeface="+mj-lt"/>
              <a:buAutoNum type="arabicPeriod"/>
            </a:pPr>
            <a:r>
              <a:rPr lang="en-US" sz="2000" dirty="0">
                <a:latin typeface="Times New Roman" pitchFamily="18" charset="0"/>
                <a:cs typeface="Times New Roman" pitchFamily="18" charset="0"/>
              </a:rPr>
              <a:t>Pressman Rogers, “Software Engineering: A Practitioner's Approach”, Sixth edition. </a:t>
            </a:r>
            <a:r>
              <a:rPr lang="en-IN" sz="2000" dirty="0">
                <a:latin typeface="Times New Roman" pitchFamily="18" charset="0"/>
                <a:cs typeface="Times New Roman" pitchFamily="18" charset="0"/>
              </a:rPr>
              <a:t>Patterson and Hennessy, “Computer Architecture” , Fifth Edition </a:t>
            </a:r>
            <a:r>
              <a:rPr lang="en-IN" sz="2000" dirty="0" err="1">
                <a:latin typeface="Times New Roman" pitchFamily="18" charset="0"/>
                <a:cs typeface="Times New Roman" pitchFamily="18" charset="0"/>
              </a:rPr>
              <a:t>Morgaon</a:t>
            </a:r>
            <a:r>
              <a:rPr lang="en-IN" sz="2000" dirty="0">
                <a:latin typeface="Times New Roman" pitchFamily="18" charset="0"/>
                <a:cs typeface="Times New Roman" pitchFamily="18" charset="0"/>
              </a:rPr>
              <a:t> Kauffman.</a:t>
            </a:r>
          </a:p>
          <a:p>
            <a:pPr marL="342900" indent="-342900" algn="just">
              <a:buFont typeface="+mj-lt"/>
              <a:buAutoNum type="arabicPeriod"/>
            </a:pPr>
            <a:r>
              <a:rPr lang="en-IN" sz="2000" dirty="0" err="1">
                <a:latin typeface="Times New Roman" pitchFamily="18" charset="0"/>
                <a:cs typeface="Times New Roman" pitchFamily="18" charset="0"/>
              </a:rPr>
              <a:t>Rajib</a:t>
            </a:r>
            <a:r>
              <a:rPr lang="en-IN" sz="2000" dirty="0">
                <a:latin typeface="Times New Roman" pitchFamily="18" charset="0"/>
                <a:cs typeface="Times New Roman" pitchFamily="18" charset="0"/>
              </a:rPr>
              <a:t> Mall, “</a:t>
            </a:r>
            <a:r>
              <a:rPr lang="en-US" sz="2000" dirty="0">
                <a:latin typeface="Times New Roman" pitchFamily="18" charset="0"/>
                <a:cs typeface="Times New Roman" pitchFamily="18" charset="0"/>
              </a:rPr>
              <a:t>Fundamentals of Software Engineering’’, Fourth Edition, Pearson, PHI.</a:t>
            </a:r>
          </a:p>
          <a:p>
            <a:pPr marL="342900" indent="-342900" algn="just">
              <a:buNone/>
            </a:pPr>
            <a:endParaRPr lang="en-IN" sz="2000" dirty="0">
              <a:latin typeface="Times New Roman" pitchFamily="18" charset="0"/>
              <a:cs typeface="Times New Roman" pitchFamily="18" charset="0"/>
            </a:endParaRPr>
          </a:p>
          <a:p>
            <a:pPr lvl="0">
              <a:buNone/>
            </a:pPr>
            <a:r>
              <a:rPr lang="en-US" sz="2000" b="1" dirty="0">
                <a:latin typeface="Times New Roman" pitchFamily="18" charset="0"/>
                <a:cs typeface="Times New Roman" pitchFamily="18" charset="0"/>
              </a:rPr>
              <a:t>      Reference Website</a:t>
            </a:r>
          </a:p>
          <a:p>
            <a:pPr marL="342900" lvl="0" indent="-342900">
              <a:buFont typeface="+mj-lt"/>
              <a:buAutoNum type="arabicPeriod"/>
            </a:pPr>
            <a:r>
              <a:rPr lang="en-US" sz="2000" dirty="0">
                <a:latin typeface="Times New Roman" pitchFamily="18" charset="0"/>
                <a:cs typeface="Times New Roman" pitchFamily="18" charset="0"/>
                <a:hlinkClick r:id="rId2"/>
              </a:rPr>
              <a:t>https://www.geeksforgeeks.org/computer-organization-and-architecture-tutorials/</a:t>
            </a:r>
            <a:endParaRPr lang="en-US"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681037"/>
            <a:ext cx="10515600" cy="94297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1305</TotalTime>
  <Words>3045</Words>
  <Application>Microsoft Macintosh PowerPoint</Application>
  <PresentationFormat>Widescreen</PresentationFormat>
  <Paragraphs>359</Paragraphs>
  <Slides>49</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49</vt:i4>
      </vt:variant>
    </vt:vector>
  </HeadingPairs>
  <TitlesOfParts>
    <vt:vector size="58"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Introduction to Software Engineering </vt:lpstr>
      <vt:lpstr>Topics covered</vt:lpstr>
      <vt:lpstr>FUNCTIONAL REQUIREMENTS</vt:lpstr>
      <vt:lpstr> FUNCTIONAL REQUIREMENTS</vt:lpstr>
      <vt:lpstr> FUNCTIONAL REQUIREMENTS</vt:lpstr>
      <vt:lpstr> FUNCTIONAL REQUIREMENTS : EXAMPLE</vt:lpstr>
      <vt:lpstr>Functional requirement should include:</vt:lpstr>
      <vt:lpstr> Benefits of Functional Requirement </vt:lpstr>
      <vt:lpstr> Types of Functional Requirements </vt:lpstr>
      <vt:lpstr>NON FUNCTIONAL REQUIREMENTS</vt:lpstr>
      <vt:lpstr> NON FUNCTIONAL REQUIREMENTS</vt:lpstr>
      <vt:lpstr> NON FUNCTIONAL REQUIREMENTS</vt:lpstr>
      <vt:lpstr>TYPES OF NON-FUNCTIONAL REQUIREMENTS</vt:lpstr>
      <vt:lpstr> Examples of Non-functional requirements </vt:lpstr>
      <vt:lpstr> Advantages of Non-Functional Requirement </vt:lpstr>
      <vt:lpstr> Disadvantages of Non-functional requirement </vt:lpstr>
      <vt:lpstr> Functional Vs Non-Functional requirements</vt:lpstr>
      <vt:lpstr>Representation of complex processing logic</vt:lpstr>
      <vt:lpstr>Decision Tree</vt:lpstr>
      <vt:lpstr>Decision Tree</vt:lpstr>
      <vt:lpstr>Decision Tree Symbols</vt:lpstr>
      <vt:lpstr>Decision Tree</vt:lpstr>
      <vt:lpstr>Example</vt:lpstr>
      <vt:lpstr>Example</vt:lpstr>
      <vt:lpstr>Example</vt:lpstr>
      <vt:lpstr>Advantages</vt:lpstr>
      <vt:lpstr>Disadvantages</vt:lpstr>
      <vt:lpstr>Decision table</vt:lpstr>
      <vt:lpstr>Decision table</vt:lpstr>
      <vt:lpstr>Decision Table</vt:lpstr>
      <vt:lpstr>Importance of Decision Table</vt:lpstr>
      <vt:lpstr> Example: How to make Decision Base Table for Login Screen</vt:lpstr>
      <vt:lpstr>Example</vt:lpstr>
      <vt:lpstr>Example</vt:lpstr>
      <vt:lpstr>Advantages and Disadvantages</vt:lpstr>
      <vt:lpstr>Comparison</vt:lpstr>
      <vt:lpstr>Formal specification</vt:lpstr>
      <vt:lpstr>Formal Specification</vt:lpstr>
      <vt:lpstr>Formal Specification</vt:lpstr>
      <vt:lpstr>Formal specification</vt:lpstr>
      <vt:lpstr>Formal Specification</vt:lpstr>
      <vt:lpstr>APPLICATIONS    </vt:lpstr>
      <vt:lpstr>Data Modeling</vt:lpstr>
      <vt:lpstr>Functional Modeling  </vt:lpstr>
      <vt:lpstr>Functional Modeling  </vt:lpstr>
      <vt:lpstr> Behavioral Modeling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280</cp:revision>
  <dcterms:created xsi:type="dcterms:W3CDTF">2019-01-09T10:33:58Z</dcterms:created>
  <dcterms:modified xsi:type="dcterms:W3CDTF">2024-12-20T08:15:09Z</dcterms:modified>
</cp:coreProperties>
</file>