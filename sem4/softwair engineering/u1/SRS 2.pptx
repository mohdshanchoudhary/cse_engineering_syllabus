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3"/>
  </p:notesMasterIdLst>
  <p:handoutMasterIdLst>
    <p:handoutMasterId r:id="rId24"/>
  </p:handoutMasterIdLst>
  <p:sldIdLst>
    <p:sldId id="662" r:id="rId3"/>
    <p:sldId id="265" r:id="rId4"/>
    <p:sldId id="280" r:id="rId5"/>
    <p:sldId id="347" r:id="rId6"/>
    <p:sldId id="348" r:id="rId7"/>
    <p:sldId id="354" r:id="rId8"/>
    <p:sldId id="355" r:id="rId9"/>
    <p:sldId id="356" r:id="rId10"/>
    <p:sldId id="351" r:id="rId11"/>
    <p:sldId id="357" r:id="rId12"/>
    <p:sldId id="358" r:id="rId13"/>
    <p:sldId id="359" r:id="rId14"/>
    <p:sldId id="360" r:id="rId15"/>
    <p:sldId id="353" r:id="rId16"/>
    <p:sldId id="361" r:id="rId17"/>
    <p:sldId id="362" r:id="rId18"/>
    <p:sldId id="349" r:id="rId19"/>
    <p:sldId id="350" r:id="rId20"/>
    <p:sldId id="284"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F5B"/>
    <a:srgbClr val="ED8137"/>
    <a:srgbClr val="BC8F00"/>
    <a:srgbClr val="86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90" autoAdjust="0"/>
    <p:restoredTop sz="94660"/>
  </p:normalViewPr>
  <p:slideViewPr>
    <p:cSldViewPr snapToGrid="0">
      <p:cViewPr varScale="1">
        <p:scale>
          <a:sx n="113" d="100"/>
          <a:sy n="113" d="100"/>
        </p:scale>
        <p:origin x="184" y="3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06214D26-88D7-E32E-049D-02C900BE10F9}"/>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8C3C3604-A58F-6472-120C-E7CD5C48367F}"/>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3BF6557B-C4CE-5761-EFEC-2A54CF5D9A3D}"/>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4" name="Picture 3">
            <a:extLst>
              <a:ext uri="{FF2B5EF4-FFF2-40B4-BE49-F238E27FC236}">
                <a16:creationId xmlns:a16="http://schemas.microsoft.com/office/drawing/2014/main" id="{C9AAA74D-A8A2-1D79-E57D-BE2ABF9F41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958940" y="225197"/>
            <a:ext cx="810622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600" b="1" dirty="0">
                <a:latin typeface="Times New Roman" pitchFamily="18" charset="0"/>
                <a:cs typeface="Times New Roman" pitchFamily="18" charset="0"/>
              </a:rPr>
              <a:t>Introduction to Software Engineering</a:t>
            </a:r>
            <a:br>
              <a:rPr lang="en-US" sz="1600" b="1" dirty="0">
                <a:latin typeface="Times New Roman" pitchFamily="18" charset="0"/>
                <a:ea typeface="Karla" pitchFamily="2" charset="0"/>
                <a:cs typeface="Times New Roman" pitchFamily="18" charset="0"/>
              </a:rPr>
            </a:br>
            <a:endParaRPr lang="en-US" sz="1200" dirty="0">
              <a:latin typeface="Times New Roman" pitchFamily="18" charset="0"/>
              <a:cs typeface="Times New Roman"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520024486"/>
              </p:ext>
            </p:extLst>
          </p:nvPr>
        </p:nvGraphicFramePr>
        <p:xfrm>
          <a:off x="1636394" y="2497107"/>
          <a:ext cx="7879745" cy="1549846"/>
        </p:xfrm>
        <a:graphic>
          <a:graphicData uri="http://schemas.openxmlformats.org/drawingml/2006/table">
            <a:tbl>
              <a:tblPr firstRow="1" firstCol="1" bandRow="1">
                <a:tableStyleId>{5940675A-B579-460E-94D1-54222C63F5DA}</a:tableStyleId>
              </a:tblPr>
              <a:tblGrid>
                <a:gridCol w="1223764">
                  <a:extLst>
                    <a:ext uri="{9D8B030D-6E8A-4147-A177-3AD203B41FA5}">
                      <a16:colId xmlns:a16="http://schemas.microsoft.com/office/drawing/2014/main" val="20000"/>
                    </a:ext>
                  </a:extLst>
                </a:gridCol>
                <a:gridCol w="5401340">
                  <a:extLst>
                    <a:ext uri="{9D8B030D-6E8A-4147-A177-3AD203B41FA5}">
                      <a16:colId xmlns:a16="http://schemas.microsoft.com/office/drawing/2014/main" val="20001"/>
                    </a:ext>
                  </a:extLst>
                </a:gridCol>
                <a:gridCol w="1254641">
                  <a:extLst>
                    <a:ext uri="{9D8B030D-6E8A-4147-A177-3AD203B41FA5}">
                      <a16:colId xmlns:a16="http://schemas.microsoft.com/office/drawing/2014/main" val="20002"/>
                    </a:ext>
                  </a:extLst>
                </a:gridCol>
              </a:tblGrid>
              <a:tr h="750983">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CO Number</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Title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15000"/>
                        </a:lnSpc>
                        <a:spcBef>
                          <a:spcPts val="0"/>
                        </a:spcBef>
                        <a:spcAft>
                          <a:spcPts val="0"/>
                        </a:spcAft>
                      </a:pPr>
                      <a:r>
                        <a:rPr lang="en-US" sz="2000" b="1" dirty="0">
                          <a:effectLst/>
                          <a:latin typeface="Times New Roman" panose="02020603050405020304" pitchFamily="18" charset="0"/>
                          <a:cs typeface="Times New Roman" panose="02020603050405020304" pitchFamily="18" charset="0"/>
                        </a:rPr>
                        <a:t>Level </a:t>
                      </a: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798863">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CO3</a:t>
                      </a:r>
                    </a:p>
                  </a:txBody>
                  <a:tcPr marL="0" marR="0" marT="0" marB="0" anchor="ctr"/>
                </a:tc>
                <a:tc>
                  <a:txBody>
                    <a:bodyPr/>
                    <a:lstStyle/>
                    <a:p>
                      <a:pPr algn="just">
                        <a:lnSpc>
                          <a:spcPct val="107000"/>
                        </a:lnSpc>
                        <a:spcAft>
                          <a:spcPts val="800"/>
                        </a:spcAft>
                      </a:pPr>
                      <a:r>
                        <a:rPr lang="en-IN" sz="1800" kern="1200" dirty="0">
                          <a:solidFill>
                            <a:schemeClr val="tx1"/>
                          </a:solidFill>
                          <a:effectLst/>
                          <a:latin typeface="Times New Roman" panose="02020603050405020304" pitchFamily="18" charset="0"/>
                          <a:ea typeface="+mn-ea"/>
                          <a:cs typeface="Times New Roman" panose="02020603050405020304" pitchFamily="18" charset="0"/>
                        </a:rPr>
                        <a:t>Prepare SRS and software process metrics for a given requirement</a:t>
                      </a:r>
                      <a:r>
                        <a:rPr lang="en-IN" sz="1800" kern="1200" dirty="0">
                          <a:solidFill>
                            <a:schemeClr val="tx1"/>
                          </a:solidFill>
                          <a:effectLst/>
                          <a:latin typeface="+mn-lt"/>
                          <a:ea typeface="+mn-ea"/>
                          <a:cs typeface="+mn-cs"/>
                        </a:rPr>
                        <a:t>.</a:t>
                      </a:r>
                      <a:r>
                        <a:rPr lang="en-IN" dirty="0">
                          <a:effectLst/>
                        </a:rPr>
                        <a:t> </a:t>
                      </a:r>
                      <a:endParaRPr lang="en-IN" sz="1800" dirty="0">
                        <a:effectLst/>
                        <a:latin typeface="Calibri" panose="020F0502020204030204" pitchFamily="34" charset="0"/>
                        <a:ea typeface="Calibri" panose="020F0502020204030204" pitchFamily="34" charset="0"/>
                      </a:endParaRPr>
                    </a:p>
                  </a:txBody>
                  <a:tcPr marL="68580" marR="68580" marT="0" marB="0" anchor="ctr"/>
                </a:tc>
                <a:tc>
                  <a:txBody>
                    <a:bodyPr/>
                    <a:lstStyle/>
                    <a:p>
                      <a:pPr marL="67945">
                        <a:lnSpc>
                          <a:spcPts val="1460"/>
                        </a:lnSpc>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Analyse</a:t>
                      </a:r>
                    </a:p>
                  </a:txBody>
                  <a:tcPr marL="0" marR="0" marT="0" marB="0" anchor="ctr"/>
                </a:tc>
                <a:extLst>
                  <a:ext uri="{0D108BD9-81ED-4DB2-BD59-A6C34878D82A}">
                    <a16:rowId xmlns:a16="http://schemas.microsoft.com/office/drawing/2014/main" val="10001"/>
                  </a:ext>
                </a:extLst>
              </a:tr>
            </a:tbl>
          </a:graphicData>
        </a:graphic>
      </p:graphicFrame>
      <p:sp>
        <p:nvSpPr>
          <p:cNvPr id="11" name="Rectangle 10"/>
          <p:cNvSpPr/>
          <p:nvPr/>
        </p:nvSpPr>
        <p:spPr>
          <a:xfrm>
            <a:off x="217842" y="1281538"/>
            <a:ext cx="2374689" cy="461665"/>
          </a:xfrm>
          <a:prstGeom prst="rect">
            <a:avLst/>
          </a:prstGeom>
        </p:spPr>
        <p:txBody>
          <a:bodyPr wrap="none">
            <a:spAutoFit/>
          </a:bodyPr>
          <a:lstStyle/>
          <a:p>
            <a:r>
              <a:rPr lang="en-US" sz="2400" b="1" dirty="0"/>
              <a:t>Course Outcome </a:t>
            </a:r>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10" name="Footer Placeholder 9">
            <a:extLst>
              <a:ext uri="{FF2B5EF4-FFF2-40B4-BE49-F238E27FC236}">
                <a16:creationId xmlns:a16="http://schemas.microsoft.com/office/drawing/2014/main" id="{D3EF1D39-20AE-0E75-E1DC-5F2584D8AB3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793"/>
            <a:ext cx="10515600" cy="876095"/>
          </a:xfrm>
        </p:spPr>
        <p:txBody>
          <a:bodyPr>
            <a:noAutofit/>
          </a:bodyPr>
          <a:lstStyle/>
          <a:p>
            <a:pPr algn="ctr"/>
            <a:r>
              <a:rPr lang="en-US" dirty="0">
                <a:latin typeface="Times New Roman" pitchFamily="18" charset="0"/>
                <a:cs typeface="Times New Roman" pitchFamily="18" charset="0"/>
              </a:rPr>
              <a:t>Topics covered</a:t>
            </a:r>
          </a:p>
        </p:txBody>
      </p:sp>
      <p:sp>
        <p:nvSpPr>
          <p:cNvPr id="3" name="Content Placeholder 2"/>
          <p:cNvSpPr>
            <a:spLocks noGrp="1"/>
          </p:cNvSpPr>
          <p:nvPr>
            <p:ph idx="1"/>
          </p:nvPr>
        </p:nvSpPr>
        <p:spPr/>
        <p:txBody>
          <a:bodyPr>
            <a:normAutofit/>
          </a:bodyPr>
          <a:lstStyle/>
          <a:p>
            <a:pPr>
              <a:lnSpc>
                <a:spcPct val="150000"/>
              </a:lnSpc>
            </a:pPr>
            <a:r>
              <a:rPr lang="en-US" dirty="0">
                <a:latin typeface="Times New Roman" pitchFamily="18" charset="0"/>
                <a:cs typeface="Times New Roman" pitchFamily="18" charset="0"/>
              </a:rPr>
              <a:t>Software requirement Specification</a:t>
            </a:r>
          </a:p>
          <a:p>
            <a:pPr>
              <a:lnSpc>
                <a:spcPct val="150000"/>
              </a:lnSpc>
            </a:pPr>
            <a:r>
              <a:rPr lang="en-US" dirty="0">
                <a:latin typeface="Times New Roman" pitchFamily="18" charset="0"/>
                <a:cs typeface="Times New Roman" pitchFamily="18" charset="0"/>
              </a:rPr>
              <a:t> SRS document</a:t>
            </a:r>
          </a:p>
          <a:p>
            <a:pPr>
              <a:lnSpc>
                <a:spcPct val="150000"/>
              </a:lnSpc>
            </a:pPr>
            <a:r>
              <a:rPr lang="en-US" dirty="0">
                <a:latin typeface="Times New Roman" pitchFamily="18" charset="0"/>
                <a:cs typeface="Times New Roman" pitchFamily="18" charset="0"/>
              </a:rPr>
              <a:t>Functional and non functional requirement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849854"/>
            <a:ext cx="10515600" cy="77415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71369"/>
            <a:ext cx="10515600" cy="81931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r>
              <a:rPr lang="en-US" dirty="0">
                <a:solidFill>
                  <a:schemeClr val="tx1"/>
                </a:solidFill>
                <a:latin typeface="Times New Roman" pitchFamily="18" charset="0"/>
                <a:cs typeface="Times New Roman" pitchFamily="18" charset="0"/>
              </a:rPr>
              <a:t>SOFTWARE REQUIREMENT SPECIFICATION</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00"/>
              </a:spcBef>
            </a:pPr>
            <a:r>
              <a:rPr lang="en-GB" sz="2400" dirty="0">
                <a:latin typeface="Times New Roman" pitchFamily="18" charset="0"/>
                <a:cs typeface="Times New Roman" pitchFamily="18" charset="0"/>
              </a:rPr>
              <a:t>Main aim of requirements specification:</a:t>
            </a:r>
          </a:p>
          <a:p>
            <a:pPr marL="742950" lvl="1" algn="just">
              <a:spcBef>
                <a:spcPts val="725"/>
              </a:spcBef>
            </a:pPr>
            <a:r>
              <a:rPr lang="en-GB" dirty="0">
                <a:latin typeface="Times New Roman" pitchFamily="18" charset="0"/>
                <a:cs typeface="Times New Roman" pitchFamily="18" charset="0"/>
              </a:rPr>
              <a:t>Systematically organize the requirements arrived during requirements analysis.</a:t>
            </a:r>
          </a:p>
          <a:p>
            <a:pPr marL="742950" lvl="1" algn="just">
              <a:spcBef>
                <a:spcPts val="725"/>
              </a:spcBef>
            </a:pPr>
            <a:r>
              <a:rPr lang="en-GB" dirty="0">
                <a:latin typeface="Times New Roman" pitchFamily="18" charset="0"/>
                <a:cs typeface="Times New Roman" pitchFamily="18" charset="0"/>
              </a:rPr>
              <a:t>Document requirements properly.</a:t>
            </a:r>
          </a:p>
          <a:p>
            <a:pPr marL="742950" lvl="1" algn="just">
              <a:spcBef>
                <a:spcPts val="725"/>
              </a:spcBef>
              <a:buNone/>
            </a:pPr>
            <a:endParaRPr lang="en-GB" dirty="0">
              <a:latin typeface="Times New Roman" pitchFamily="18" charset="0"/>
              <a:cs typeface="Times New Roman" pitchFamily="18" charset="0"/>
            </a:endParaRPr>
          </a:p>
          <a:p>
            <a:pPr marL="342900" indent="-342900" algn="just">
              <a:spcBef>
                <a:spcPts val="800"/>
              </a:spcBef>
            </a:pPr>
            <a:r>
              <a:rPr lang="en-GB" sz="2400" dirty="0">
                <a:latin typeface="Times New Roman" pitchFamily="18" charset="0"/>
                <a:cs typeface="Times New Roman" pitchFamily="18" charset="0"/>
              </a:rPr>
              <a:t>The SRS document is useful in various contexts:</a:t>
            </a:r>
          </a:p>
          <a:p>
            <a:pPr marL="742950" lvl="1" algn="just">
              <a:spcBef>
                <a:spcPts val="725"/>
              </a:spcBef>
            </a:pPr>
            <a:r>
              <a:rPr lang="en-GB" dirty="0">
                <a:latin typeface="Times New Roman" pitchFamily="18" charset="0"/>
                <a:cs typeface="Times New Roman" pitchFamily="18" charset="0"/>
              </a:rPr>
              <a:t>Statement of user needs</a:t>
            </a:r>
          </a:p>
          <a:p>
            <a:pPr marL="742950" lvl="1" algn="just">
              <a:spcBef>
                <a:spcPts val="725"/>
              </a:spcBef>
            </a:pPr>
            <a:r>
              <a:rPr lang="en-GB" dirty="0">
                <a:latin typeface="Times New Roman" pitchFamily="18" charset="0"/>
                <a:cs typeface="Times New Roman" pitchFamily="18" charset="0"/>
              </a:rPr>
              <a:t>Contract document</a:t>
            </a:r>
          </a:p>
          <a:p>
            <a:pPr marL="742950" lvl="1" algn="just">
              <a:spcBef>
                <a:spcPts val="725"/>
              </a:spcBef>
            </a:pPr>
            <a:r>
              <a:rPr lang="en-GB" dirty="0">
                <a:latin typeface="Times New Roman" pitchFamily="18" charset="0"/>
                <a:cs typeface="Times New Roman" pitchFamily="18" charset="0"/>
              </a:rPr>
              <a:t>Reference document</a:t>
            </a:r>
          </a:p>
          <a:p>
            <a:pPr marL="742950" lvl="1" algn="just">
              <a:spcBef>
                <a:spcPts val="725"/>
              </a:spcBef>
            </a:pPr>
            <a:r>
              <a:rPr lang="en-GB" dirty="0">
                <a:latin typeface="Times New Roman" pitchFamily="18" charset="0"/>
                <a:cs typeface="Times New Roman" pitchFamily="18" charset="0"/>
              </a:rPr>
              <a:t>Definition for implementation</a:t>
            </a:r>
          </a:p>
          <a:p>
            <a:pPr marL="342900" indent="-342900" algn="just"/>
            <a:endParaRPr lang="en-GB"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49854"/>
            <a:ext cx="10515600" cy="84083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dirty="0">
                <a:solidFill>
                  <a:schemeClr val="tx1"/>
                </a:solidFill>
                <a:latin typeface="Times New Roman" pitchFamily="18" charset="0"/>
                <a:cs typeface="Times New Roman" pitchFamily="18" charset="0"/>
              </a:rPr>
              <a:t>SRS DOCUMENT</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625"/>
              </a:spcBef>
            </a:pPr>
            <a:r>
              <a:rPr lang="en-GB" sz="2400" dirty="0">
                <a:latin typeface="Times New Roman" pitchFamily="18" charset="0"/>
                <a:cs typeface="Times New Roman" pitchFamily="18" charset="0"/>
              </a:rPr>
              <a:t>The SRS document  is known as  black-box specification:  </a:t>
            </a:r>
          </a:p>
          <a:p>
            <a:pPr marL="742950" lvl="1" algn="just">
              <a:spcBef>
                <a:spcPts val="538"/>
              </a:spcBef>
            </a:pPr>
            <a:r>
              <a:rPr lang="en-GB" dirty="0">
                <a:latin typeface="Times New Roman" pitchFamily="18" charset="0"/>
                <a:cs typeface="Times New Roman" pitchFamily="18" charset="0"/>
              </a:rPr>
              <a:t>The system is considered as a black box whose internal details are not known.</a:t>
            </a:r>
          </a:p>
          <a:p>
            <a:pPr marL="742950" lvl="1" algn="just">
              <a:spcBef>
                <a:spcPts val="538"/>
              </a:spcBef>
            </a:pPr>
            <a:r>
              <a:rPr lang="en-GB" dirty="0">
                <a:latin typeface="Times New Roman" pitchFamily="18" charset="0"/>
                <a:cs typeface="Times New Roman" pitchFamily="18" charset="0"/>
              </a:rPr>
              <a:t>Only its visible external (i.e. input/output) behaviour is documented.</a:t>
            </a:r>
          </a:p>
          <a:p>
            <a:pPr marL="342900" indent="-342900" algn="just"/>
            <a:r>
              <a:rPr lang="en-GB" sz="2400" dirty="0">
                <a:latin typeface="Times New Roman" pitchFamily="18" charset="0"/>
                <a:cs typeface="Times New Roman" pitchFamily="18" charset="0"/>
              </a:rPr>
              <a:t>SRS document concentrates on:</a:t>
            </a:r>
          </a:p>
          <a:p>
            <a:pPr marL="742950" lvl="1" algn="just">
              <a:spcBef>
                <a:spcPts val="725"/>
              </a:spcBef>
            </a:pPr>
            <a:r>
              <a:rPr lang="en-GB" dirty="0">
                <a:latin typeface="Times New Roman" pitchFamily="18" charset="0"/>
                <a:cs typeface="Times New Roman" pitchFamily="18" charset="0"/>
              </a:rPr>
              <a:t>What needs to be done</a:t>
            </a:r>
          </a:p>
          <a:p>
            <a:pPr marL="742950" lvl="1" algn="just">
              <a:spcBef>
                <a:spcPts val="725"/>
              </a:spcBef>
            </a:pPr>
            <a:r>
              <a:rPr lang="en-GB" dirty="0">
                <a:latin typeface="Times New Roman" pitchFamily="18" charset="0"/>
                <a:cs typeface="Times New Roman" pitchFamily="18" charset="0"/>
              </a:rPr>
              <a:t>Carefully avoids the solution (“how to do”) aspects.</a:t>
            </a:r>
          </a:p>
          <a:p>
            <a:pPr marL="342900" indent="-342900" algn="just"/>
            <a:r>
              <a:rPr lang="en-GB" sz="2400" dirty="0">
                <a:latin typeface="Times New Roman" pitchFamily="18" charset="0"/>
                <a:cs typeface="Times New Roman" pitchFamily="18" charset="0"/>
              </a:rPr>
              <a:t>The SRS document serves as a contract </a:t>
            </a:r>
          </a:p>
          <a:p>
            <a:pPr marL="742950" lvl="1" algn="just">
              <a:spcBef>
                <a:spcPts val="725"/>
              </a:spcBef>
            </a:pPr>
            <a:r>
              <a:rPr lang="en-GB" dirty="0">
                <a:latin typeface="Times New Roman" pitchFamily="18" charset="0"/>
                <a:cs typeface="Times New Roman" pitchFamily="18" charset="0"/>
              </a:rPr>
              <a:t>Between development team and the customer.</a:t>
            </a:r>
          </a:p>
          <a:p>
            <a:pPr marL="742950" lvl="1" algn="just">
              <a:spcBef>
                <a:spcPts val="725"/>
              </a:spcBef>
            </a:pPr>
            <a:r>
              <a:rPr lang="en-GB" dirty="0">
                <a:latin typeface="Times New Roman" pitchFamily="18" charset="0"/>
                <a:cs typeface="Times New Roman" pitchFamily="18" charset="0"/>
              </a:rPr>
              <a:t>Should be carefully written  </a:t>
            </a:r>
          </a:p>
          <a:p>
            <a:pPr marL="742950" lvl="1" algn="just">
              <a:spcBef>
                <a:spcPts val="538"/>
              </a:spcBef>
            </a:pPr>
            <a:endParaRPr lang="en-GB" dirty="0">
              <a:latin typeface="Times New Roman" pitchFamily="18" charset="0"/>
              <a:cs typeface="Times New Roman" pitchFamily="18" charset="0"/>
            </a:endParaRPr>
          </a:p>
          <a:p>
            <a:pPr marL="342900" indent="-342900" algn="just"/>
            <a:endParaRPr lang="en-GB"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SRS Document</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software requirements specification (SRS) is a document that captures complete description about how the system is expected to perform. It is usually signed off at the end of requirements engineering phase.</a:t>
            </a:r>
          </a:p>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software requirements specification</a:t>
            </a:r>
            <a:r>
              <a:rPr lang="en-US" dirty="0">
                <a:latin typeface="Times New Roman" panose="02020603050405020304" pitchFamily="18" charset="0"/>
                <a:cs typeface="Times New Roman" panose="02020603050405020304" pitchFamily="18" charset="0"/>
              </a:rPr>
              <a:t> (SRS) is a detailed description of a software system to be developed with its functional and non-functional requirements.</a:t>
            </a:r>
          </a:p>
          <a:p>
            <a:pPr algn="just"/>
            <a:r>
              <a:rPr lang="en-US" dirty="0">
                <a:latin typeface="Times New Roman" panose="02020603050405020304" pitchFamily="18" charset="0"/>
                <a:cs typeface="Times New Roman" panose="02020603050405020304" pitchFamily="18" charset="0"/>
              </a:rPr>
              <a:t>The SRS is developed based the agreement between customer and contractors.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SRS Document</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It may include the use cases of how user is going to interact with software system.</a:t>
            </a:r>
          </a:p>
          <a:p>
            <a:pPr algn="just"/>
            <a:r>
              <a:rPr lang="en-US" dirty="0">
                <a:latin typeface="Times New Roman" panose="02020603050405020304" pitchFamily="18" charset="0"/>
                <a:cs typeface="Times New Roman" panose="02020603050405020304" pitchFamily="18" charset="0"/>
              </a:rPr>
              <a:t> The software requirement specification document consistent of all necessary requirements required for project development.</a:t>
            </a:r>
          </a:p>
          <a:p>
            <a:pPr algn="just"/>
            <a:r>
              <a:rPr lang="en-US" dirty="0">
                <a:latin typeface="Times New Roman" panose="02020603050405020304" pitchFamily="18" charset="0"/>
                <a:cs typeface="Times New Roman" panose="02020603050405020304" pitchFamily="18" charset="0"/>
              </a:rPr>
              <a:t> To develop the software system we should have clear understanding of Software system. </a:t>
            </a:r>
          </a:p>
          <a:p>
            <a:pPr algn="just"/>
            <a:r>
              <a:rPr lang="en-US" dirty="0">
                <a:latin typeface="Times New Roman" panose="02020603050405020304" pitchFamily="18" charset="0"/>
                <a:cs typeface="Times New Roman" panose="02020603050405020304" pitchFamily="18" charset="0"/>
              </a:rPr>
              <a:t>To achieve this we need to continuous communication with customers to gather all requirements.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SRS Document</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good SRS defines the how Software System will interact with all internal modules, hardware, communication with other programs and human user interactions with wide range of real life scenarios.</a:t>
            </a:r>
          </a:p>
          <a:p>
            <a:pPr algn="just"/>
            <a:r>
              <a:rPr lang="en-US" dirty="0">
                <a:latin typeface="Times New Roman" panose="02020603050405020304" pitchFamily="18" charset="0"/>
                <a:cs typeface="Times New Roman" panose="02020603050405020304" pitchFamily="18" charset="0"/>
              </a:rPr>
              <a:t> Using the </a:t>
            </a:r>
            <a:r>
              <a:rPr lang="en-US" i="1" dirty="0">
                <a:latin typeface="Times New Roman" panose="02020603050405020304" pitchFamily="18" charset="0"/>
                <a:cs typeface="Times New Roman" panose="02020603050405020304" pitchFamily="18" charset="0"/>
              </a:rPr>
              <a:t>Software requirements specification</a:t>
            </a:r>
            <a:r>
              <a:rPr lang="en-US" dirty="0">
                <a:latin typeface="Times New Roman" panose="02020603050405020304" pitchFamily="18" charset="0"/>
                <a:cs typeface="Times New Roman" panose="02020603050405020304" pitchFamily="18" charset="0"/>
              </a:rPr>
              <a:t> (SRS) document on QA lead, managers creates test plan. </a:t>
            </a:r>
          </a:p>
          <a:p>
            <a:pPr algn="just"/>
            <a:r>
              <a:rPr lang="en-US" dirty="0">
                <a:latin typeface="Times New Roman" panose="02020603050405020304" pitchFamily="18" charset="0"/>
                <a:cs typeface="Times New Roman" panose="02020603050405020304" pitchFamily="18" charset="0"/>
              </a:rPr>
              <a:t>It is very important that testers must be cleared with every detail specified in this document in order to avoid faults in test cases and its expected results.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itchFamily="18" charset="0"/>
                <a:cs typeface="Times New Roman" pitchFamily="18" charset="0"/>
              </a:rPr>
              <a:t>Qualities of SRS</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itchFamily="18" charset="0"/>
              </a:rPr>
              <a:t>Correctness of SRS should be checked : Since the whole testing phase is dependent on SRS, it is very important to check its correctness. There are some standards with which we can compare and verify.</a:t>
            </a:r>
          </a:p>
          <a:p>
            <a:pPr algn="just"/>
            <a:r>
              <a:rPr lang="en-US" b="1" dirty="0">
                <a:latin typeface="Times New Roman" panose="02020603050405020304" pitchFamily="18" charset="0"/>
                <a:cs typeface="Times New Roman" panose="02020603050405020304" pitchFamily="18" charset="0"/>
              </a:rPr>
              <a:t>Ambiguity should be avoided. </a:t>
            </a:r>
            <a:r>
              <a:rPr lang="en-US" dirty="0">
                <a:latin typeface="Times New Roman" panose="02020603050405020304" pitchFamily="18" charset="0"/>
                <a:cs typeface="Times New Roman" panose="02020603050405020304" pitchFamily="18" charset="0"/>
              </a:rPr>
              <a:t>Sometimes in SRS, some words have more than one meaning and this might confused testers making it difficult to get the exact reference. It is advisable to check for such ambiguous words and make the meaning clear for better understanding.</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Qualities of SRS</a:t>
            </a: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Requirements should be complete. </a:t>
            </a:r>
            <a:r>
              <a:rPr lang="en-US" dirty="0">
                <a:latin typeface="Times New Roman" panose="02020603050405020304" pitchFamily="18" charset="0"/>
                <a:cs typeface="Times New Roman" panose="02020603050405020304" pitchFamily="18" charset="0"/>
              </a:rPr>
              <a:t>When tester writes test cases, what exactly is required from the application, is the first thing which needs to be clear. For e.g. if application needs to send the specific data of some specific size then it should be clearly mentioned in SRS that how much data and what is the size limit to send.</a:t>
            </a:r>
          </a:p>
          <a:p>
            <a:pPr algn="just"/>
            <a:r>
              <a:rPr lang="en-US" b="1" dirty="0">
                <a:latin typeface="Times New Roman" panose="02020603050405020304" pitchFamily="18" charset="0"/>
                <a:cs typeface="Times New Roman" panose="02020603050405020304" pitchFamily="18" charset="0"/>
              </a:rPr>
              <a:t>Consistent </a:t>
            </a:r>
            <a:r>
              <a:rPr lang="en-US" b="1" dirty="0" err="1">
                <a:latin typeface="Times New Roman" panose="02020603050405020304" pitchFamily="18" charset="0"/>
                <a:cs typeface="Times New Roman" panose="02020603050405020304" pitchFamily="18" charset="0"/>
              </a:rPr>
              <a:t>requirements.</a:t>
            </a:r>
            <a:r>
              <a:rPr lang="en-US" dirty="0" err="1">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 SRS should be consistent within itself and consistent to its reference documents. If you call an input “Start and Stop” in one place, don’t call it “Start/Stop” in another. This sets the standard and should be followed throughout the testing phase.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Qualities of SRS</a:t>
            </a: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Verification of expected result: </a:t>
            </a:r>
            <a:r>
              <a:rPr lang="en-US" dirty="0">
                <a:latin typeface="Times New Roman" panose="02020603050405020304" pitchFamily="18" charset="0"/>
                <a:cs typeface="Times New Roman" panose="02020603050405020304" pitchFamily="18" charset="0"/>
              </a:rPr>
              <a:t>SRS should not have statements like “Work as expected”, it should be clearly stated that what is expected since different testers would have different thinking aspects and may draw different results from this statement.</a:t>
            </a:r>
          </a:p>
          <a:p>
            <a:pPr algn="just"/>
            <a:r>
              <a:rPr lang="en-US" b="1" dirty="0">
                <a:latin typeface="Times New Roman" panose="02020603050405020304" pitchFamily="18" charset="0"/>
                <a:cs typeface="Times New Roman" panose="02020603050405020304" pitchFamily="18" charset="0"/>
              </a:rPr>
              <a:t>Testing environment:</a:t>
            </a:r>
            <a:r>
              <a:rPr lang="en-US" dirty="0">
                <a:latin typeface="Times New Roman" panose="02020603050405020304" pitchFamily="18" charset="0"/>
                <a:cs typeface="Times New Roman" panose="02020603050405020304" pitchFamily="18" charset="0"/>
              </a:rPr>
              <a:t> some applications need specific conditions to test and also a particular environment for accurate result. SRS should have clear documentation on what type of environment is needed to set up.</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Qualities of SRS</a:t>
            </a: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Pre-conditions defined clearly: </a:t>
            </a:r>
            <a:r>
              <a:rPr lang="en-US" dirty="0">
                <a:latin typeface="Times New Roman" panose="02020603050405020304" pitchFamily="18" charset="0"/>
                <a:cs typeface="Times New Roman" panose="02020603050405020304" pitchFamily="18" charset="0"/>
              </a:rPr>
              <a:t>one of the most important part of test cases is pre-conditions. If they are not met properly then actual result will always be different expected result. Verify that in SRS, all the pre-conditions are mentioned clearly.</a:t>
            </a:r>
          </a:p>
          <a:p>
            <a:pPr algn="just"/>
            <a:r>
              <a:rPr lang="en-US" b="1" dirty="0">
                <a:latin typeface="Times New Roman" panose="02020603050405020304" pitchFamily="18" charset="0"/>
                <a:cs typeface="Times New Roman" panose="02020603050405020304" pitchFamily="18" charset="0"/>
              </a:rPr>
              <a:t>Requirements ID:</a:t>
            </a:r>
            <a:r>
              <a:rPr lang="en-US" dirty="0">
                <a:latin typeface="Times New Roman" panose="02020603050405020304" pitchFamily="18" charset="0"/>
                <a:cs typeface="Times New Roman" panose="02020603050405020304" pitchFamily="18" charset="0"/>
              </a:rPr>
              <a:t> these are the base of test case template. Based on requirement Ids, test case ids are written. Also, requirements ids make it easy to categorize modules so just by looking at them, tester will know which module to refer. SRS must have them such as id defines a particular module.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Qualities of SRS</a:t>
            </a:r>
          </a:p>
        </p:txBody>
      </p:sp>
      <p:sp>
        <p:nvSpPr>
          <p:cNvPr id="3" name="Content Placeholder 2"/>
          <p:cNvSpPr>
            <a:spLocks noGrp="1"/>
          </p:cNvSpPr>
          <p:nvPr>
            <p:ph idx="1"/>
          </p:nvPr>
        </p:nvSpPr>
        <p:spPr>
          <a:xfrm>
            <a:off x="838200" y="1495312"/>
            <a:ext cx="10515600" cy="4861037"/>
          </a:xfrm>
        </p:spPr>
        <p:txBody>
          <a:bodyPr>
            <a:normAutofit fontScale="85000" lnSpcReduction="20000"/>
          </a:bodyPr>
          <a:lstStyle/>
          <a:p>
            <a:pPr algn="just"/>
            <a:r>
              <a:rPr lang="en-US" b="1" dirty="0">
                <a:latin typeface="Times New Roman" panose="02020603050405020304" pitchFamily="18" charset="0"/>
                <a:cs typeface="Times New Roman" panose="02020603050405020304" pitchFamily="18" charset="0"/>
              </a:rPr>
              <a:t>Security and Performance criteria: </a:t>
            </a:r>
            <a:r>
              <a:rPr lang="en-US" dirty="0">
                <a:latin typeface="Times New Roman" panose="02020603050405020304" pitchFamily="18" charset="0"/>
                <a:cs typeface="Times New Roman" panose="02020603050405020304" pitchFamily="18" charset="0"/>
              </a:rPr>
              <a:t>security is priority when a software is tested especially when it is built in such a way that it contains some crucial information when leaked can cause harm to business. </a:t>
            </a:r>
          </a:p>
          <a:p>
            <a:pPr algn="just"/>
            <a:r>
              <a:rPr lang="en-US" b="1" dirty="0">
                <a:latin typeface="Times New Roman" panose="02020603050405020304" pitchFamily="18" charset="0"/>
                <a:cs typeface="Times New Roman" panose="02020603050405020304" pitchFamily="18" charset="0"/>
              </a:rPr>
              <a:t>Assumption should be avoided: </a:t>
            </a:r>
            <a:r>
              <a:rPr lang="en-US" dirty="0">
                <a:latin typeface="Times New Roman" panose="02020603050405020304" pitchFamily="18" charset="0"/>
                <a:cs typeface="Times New Roman" panose="02020603050405020304" pitchFamily="18" charset="0"/>
              </a:rPr>
              <a:t>sometimes when requirement is not cleared to tester, he tends to make some assumptions related to it, which is not a right way to do testing as assumptions would go wrong and hence, test results may vary. </a:t>
            </a:r>
          </a:p>
          <a:p>
            <a:pPr algn="just"/>
            <a:r>
              <a:rPr lang="en-US" b="1" dirty="0">
                <a:latin typeface="Times New Roman" panose="02020603050405020304" pitchFamily="18" charset="0"/>
                <a:cs typeface="Times New Roman" panose="02020603050405020304" pitchFamily="18" charset="0"/>
              </a:rPr>
              <a:t>Deletion of irrelevant requirements: </a:t>
            </a:r>
            <a:r>
              <a:rPr lang="en-US" dirty="0">
                <a:latin typeface="Times New Roman" panose="02020603050405020304" pitchFamily="18" charset="0"/>
                <a:cs typeface="Times New Roman" panose="02020603050405020304" pitchFamily="18" charset="0"/>
              </a:rPr>
              <a:t>there are more than one team who work on SRS so it might be possible that some irrelevant requirements are included in SRS. Based on the understanding of the software, tester can find out which are these requirements and remove them to avoid confusions and reduce work load.</a:t>
            </a:r>
          </a:p>
          <a:p>
            <a:pPr algn="just"/>
            <a:r>
              <a:rPr lang="en-US" b="1" dirty="0">
                <a:latin typeface="Times New Roman" panose="02020603050405020304" pitchFamily="18" charset="0"/>
                <a:cs typeface="Times New Roman" panose="02020603050405020304" pitchFamily="18" charset="0"/>
              </a:rPr>
              <a:t>Freeze requirements:</a:t>
            </a:r>
            <a:r>
              <a:rPr lang="en-US" dirty="0">
                <a:latin typeface="Times New Roman" panose="02020603050405020304" pitchFamily="18" charset="0"/>
                <a:cs typeface="Times New Roman" panose="02020603050405020304" pitchFamily="18" charset="0"/>
              </a:rPr>
              <a:t> when an ambiguous or incomplete requirement is sent to client to analyze and team gets a reply, that requirement result will be updated in the next SRS version and client will freeze that requirement. Freezing here means that result will not change again until and unless some major addition or modification is introduced in the software.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Properties of a good SRS document</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Concise:</a:t>
            </a:r>
            <a:r>
              <a:rPr lang="en-US" dirty="0">
                <a:latin typeface="Times New Roman" panose="02020603050405020304" pitchFamily="18" charset="0"/>
                <a:cs typeface="Times New Roman" panose="02020603050405020304" pitchFamily="18" charset="0"/>
              </a:rPr>
              <a:t> The SRS report should be concise and at the same time, unambiguous, consistent, and complete. Verbose and irrelevant descriptions decrease readability and also increase error possibilities.</a:t>
            </a:r>
          </a:p>
          <a:p>
            <a:pPr algn="just"/>
            <a:r>
              <a:rPr lang="en-US" b="1" dirty="0">
                <a:latin typeface="Times New Roman" panose="02020603050405020304" pitchFamily="18" charset="0"/>
                <a:cs typeface="Times New Roman" panose="02020603050405020304" pitchFamily="18" charset="0"/>
              </a:rPr>
              <a:t>Structured:</a:t>
            </a:r>
            <a:r>
              <a:rPr lang="en-US" dirty="0">
                <a:latin typeface="Times New Roman" panose="02020603050405020304" pitchFamily="18" charset="0"/>
                <a:cs typeface="Times New Roman" panose="02020603050405020304" pitchFamily="18" charset="0"/>
              </a:rPr>
              <a:t> It should be well-structured. A well-structured document is simple to understand and modify. In practice, the SRS document undergoes several revisions to cope up with the user requirements. Often, user requirements evolve over a period of time. Therefore, to make the modifications to the SRS document easy, it is vital to make the report well-structured.</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Properties of a good SRS document</a:t>
            </a:r>
            <a:br>
              <a:rPr lang="en-US"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Black-box view:</a:t>
            </a:r>
            <a:r>
              <a:rPr lang="en-US" dirty="0">
                <a:latin typeface="Times New Roman" panose="02020603050405020304" pitchFamily="18" charset="0"/>
                <a:cs typeface="Times New Roman" panose="02020603050405020304" pitchFamily="18" charset="0"/>
              </a:rPr>
              <a:t> It should only define what the system should do and refrain from stating how to do these. This means that the SRS document should define the external behavior of the system and not discuss the implementation issues. The SRS report should view the system to be developed as a black box and should define the externally visible behavior of the system. For this reason, the SRS report is also known as the black-box specification of a system.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Properties of a good SRS document</a:t>
            </a:r>
            <a:br>
              <a:rPr lang="en-US"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Conceptual integrity:</a:t>
            </a:r>
            <a:r>
              <a:rPr lang="en-US" dirty="0">
                <a:latin typeface="Times New Roman" panose="02020603050405020304" pitchFamily="18" charset="0"/>
                <a:cs typeface="Times New Roman" panose="02020603050405020304" pitchFamily="18" charset="0"/>
              </a:rPr>
              <a:t> It should show conceptual integrity so that the reader can merely understand it. Response to undesired events: It should characterize acceptable responses to unwanted events. These are called system response to exceptional conditions.</a:t>
            </a:r>
          </a:p>
          <a:p>
            <a:pPr algn="just"/>
            <a:r>
              <a:rPr lang="en-US" b="1" dirty="0">
                <a:latin typeface="Times New Roman" panose="02020603050405020304" pitchFamily="18" charset="0"/>
                <a:cs typeface="Times New Roman" panose="02020603050405020304" pitchFamily="18" charset="0"/>
              </a:rPr>
              <a:t>Verifiable:</a:t>
            </a:r>
            <a:r>
              <a:rPr lang="en-US" dirty="0">
                <a:latin typeface="Times New Roman" panose="02020603050405020304" pitchFamily="18" charset="0"/>
                <a:cs typeface="Times New Roman" panose="02020603050405020304" pitchFamily="18" charset="0"/>
              </a:rPr>
              <a:t> All requirements of the system, as documented in the SRS document, should be correct. This means that it should be possible to decide whether or not requirements have been met in an implementation.</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39096"/>
            <a:ext cx="10515600" cy="85159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dirty="0">
                <a:solidFill>
                  <a:schemeClr val="tx1"/>
                </a:solidFill>
                <a:latin typeface="Times New Roman" pitchFamily="18" charset="0"/>
                <a:cs typeface="Times New Roman" pitchFamily="18" charset="0"/>
              </a:rPr>
              <a:t>FUNCTIONAL REQUIREMENTS</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r>
              <a:rPr lang="en-GB" sz="2000" dirty="0">
                <a:latin typeface="Times New Roman" pitchFamily="18" charset="0"/>
                <a:cs typeface="Times New Roman" pitchFamily="18" charset="0"/>
              </a:rPr>
              <a:t>Functional requirements describe: </a:t>
            </a:r>
          </a:p>
          <a:p>
            <a:pPr marL="742950" lvl="1" algn="just"/>
            <a:r>
              <a:rPr lang="en-GB" sz="2000" dirty="0">
                <a:latin typeface="Times New Roman" pitchFamily="18" charset="0"/>
                <a:cs typeface="Times New Roman" pitchFamily="18" charset="0"/>
              </a:rPr>
              <a:t>A set of high-level requirements</a:t>
            </a:r>
          </a:p>
          <a:p>
            <a:pPr marL="742950" lvl="1" algn="just"/>
            <a:r>
              <a:rPr lang="en-GB" sz="2000" dirty="0">
                <a:latin typeface="Times New Roman" pitchFamily="18" charset="0"/>
                <a:cs typeface="Times New Roman" pitchFamily="18" charset="0"/>
              </a:rPr>
              <a:t>Each high-level requirement:</a:t>
            </a:r>
          </a:p>
          <a:p>
            <a:pPr lvl="2" algn="just"/>
            <a:r>
              <a:rPr lang="en-GB" dirty="0">
                <a:latin typeface="Times New Roman" pitchFamily="18" charset="0"/>
                <a:cs typeface="Times New Roman" pitchFamily="18" charset="0"/>
              </a:rPr>
              <a:t>takes in some data from the user</a:t>
            </a:r>
          </a:p>
          <a:p>
            <a:pPr lvl="2" algn="just"/>
            <a:r>
              <a:rPr lang="en-GB" dirty="0">
                <a:latin typeface="Times New Roman" pitchFamily="18" charset="0"/>
                <a:cs typeface="Times New Roman" pitchFamily="18" charset="0"/>
              </a:rPr>
              <a:t>outputs some data to the user</a:t>
            </a:r>
          </a:p>
          <a:p>
            <a:pPr marL="742950" lvl="1" algn="just"/>
            <a:r>
              <a:rPr lang="en-GB" sz="2000" dirty="0">
                <a:latin typeface="Times New Roman" pitchFamily="18" charset="0"/>
                <a:cs typeface="Times New Roman" pitchFamily="18" charset="0"/>
              </a:rPr>
              <a:t>Each high-level requirement:</a:t>
            </a:r>
          </a:p>
          <a:p>
            <a:pPr lvl="2" algn="just"/>
            <a:r>
              <a:rPr lang="en-GB" dirty="0">
                <a:latin typeface="Times New Roman" pitchFamily="18" charset="0"/>
                <a:cs typeface="Times New Roman" pitchFamily="18" charset="0"/>
              </a:rPr>
              <a:t>might consist of a set of identifiable functions</a:t>
            </a:r>
          </a:p>
          <a:p>
            <a:pPr marL="342900" indent="-342900" algn="just">
              <a:spcBef>
                <a:spcPts val="800"/>
              </a:spcBef>
            </a:pPr>
            <a:r>
              <a:rPr lang="en-GB" sz="2000" dirty="0">
                <a:latin typeface="Times New Roman" pitchFamily="18" charset="0"/>
                <a:cs typeface="Times New Roman" pitchFamily="18" charset="0"/>
              </a:rPr>
              <a:t>For each high-level requirement:</a:t>
            </a:r>
          </a:p>
          <a:p>
            <a:pPr marL="742950" lvl="1" algn="just">
              <a:spcBef>
                <a:spcPts val="725"/>
              </a:spcBef>
            </a:pPr>
            <a:r>
              <a:rPr lang="en-GB" sz="2000" dirty="0">
                <a:latin typeface="Times New Roman" pitchFamily="18" charset="0"/>
                <a:cs typeface="Times New Roman" pitchFamily="18" charset="0"/>
              </a:rPr>
              <a:t>Every function is described in terms of:</a:t>
            </a:r>
          </a:p>
          <a:p>
            <a:pPr lvl="2" algn="just">
              <a:spcBef>
                <a:spcPts val="625"/>
              </a:spcBef>
            </a:pPr>
            <a:r>
              <a:rPr lang="en-GB" dirty="0">
                <a:latin typeface="Times New Roman" pitchFamily="18" charset="0"/>
                <a:cs typeface="Times New Roman" pitchFamily="18" charset="0"/>
              </a:rPr>
              <a:t>Input data set </a:t>
            </a:r>
          </a:p>
          <a:p>
            <a:pPr lvl="2" algn="just">
              <a:spcBef>
                <a:spcPts val="625"/>
              </a:spcBef>
            </a:pPr>
            <a:r>
              <a:rPr lang="en-GB" dirty="0">
                <a:latin typeface="Times New Roman" pitchFamily="18" charset="0"/>
                <a:cs typeface="Times New Roman" pitchFamily="18" charset="0"/>
              </a:rPr>
              <a:t>Output data set</a:t>
            </a:r>
          </a:p>
          <a:p>
            <a:pPr lvl="2" algn="just">
              <a:spcBef>
                <a:spcPts val="625"/>
              </a:spcBef>
            </a:pPr>
            <a:r>
              <a:rPr lang="en-GB" dirty="0">
                <a:latin typeface="Times New Roman" pitchFamily="18" charset="0"/>
                <a:cs typeface="Times New Roman" pitchFamily="18" charset="0"/>
              </a:rPr>
              <a:t>Processing required to obtain the output data set from the input data set.</a:t>
            </a:r>
          </a:p>
          <a:p>
            <a:pPr lvl="2" algn="just"/>
            <a:endParaRPr lang="en-GB" dirty="0">
              <a:latin typeface="Times New Roman" pitchFamily="18" charset="0"/>
              <a:cs typeface="Times New Roman" pitchFamily="18" charset="0"/>
            </a:endParaRPr>
          </a:p>
          <a:p>
            <a:pPr marL="742950" lvl="1" algn="just">
              <a:spcBef>
                <a:spcPts val="538"/>
              </a:spcBef>
            </a:pPr>
            <a:endParaRPr lang="en-GB" sz="2000" dirty="0">
              <a:latin typeface="Times New Roman" pitchFamily="18" charset="0"/>
              <a:cs typeface="Times New Roman" pitchFamily="18" charset="0"/>
            </a:endParaRPr>
          </a:p>
          <a:p>
            <a:pPr marL="342900" indent="-342900" algn="just"/>
            <a:endParaRPr lang="en-GB"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60612"/>
            <a:ext cx="10515600" cy="83007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dirty="0">
                <a:solidFill>
                  <a:schemeClr val="tx1"/>
                </a:solidFill>
                <a:latin typeface="Times New Roman" pitchFamily="18" charset="0"/>
                <a:cs typeface="Times New Roman" pitchFamily="18" charset="0"/>
              </a:rPr>
              <a:t>NON FUNCTIONAL REQUIREMENTS</a:t>
            </a:r>
            <a:endParaRPr lang="en-US" dirty="0">
              <a:latin typeface="Times New Roman" pitchFamily="18" charset="0"/>
              <a:cs typeface="Times New Roman"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00"/>
              </a:spcBef>
            </a:pPr>
            <a:r>
              <a:rPr lang="en-GB" sz="2000" dirty="0">
                <a:latin typeface="Times New Roman" pitchFamily="18" charset="0"/>
                <a:cs typeface="Times New Roman" pitchFamily="18" charset="0"/>
              </a:rPr>
              <a:t>Characteristics of the system which can not be expressed as functions: </a:t>
            </a:r>
          </a:p>
          <a:p>
            <a:pPr lvl="2" algn="just">
              <a:spcBef>
                <a:spcPts val="725"/>
              </a:spcBef>
            </a:pPr>
            <a:r>
              <a:rPr lang="en-GB" dirty="0">
                <a:latin typeface="Times New Roman" pitchFamily="18" charset="0"/>
                <a:cs typeface="Times New Roman" pitchFamily="18" charset="0"/>
              </a:rPr>
              <a:t>Maintainability, </a:t>
            </a:r>
          </a:p>
          <a:p>
            <a:pPr lvl="2" algn="just">
              <a:spcBef>
                <a:spcPts val="725"/>
              </a:spcBef>
            </a:pPr>
            <a:r>
              <a:rPr lang="en-GB" dirty="0">
                <a:latin typeface="Times New Roman" pitchFamily="18" charset="0"/>
                <a:cs typeface="Times New Roman" pitchFamily="18" charset="0"/>
              </a:rPr>
              <a:t>Portability, </a:t>
            </a:r>
          </a:p>
          <a:p>
            <a:pPr lvl="2" algn="just">
              <a:spcBef>
                <a:spcPts val="725"/>
              </a:spcBef>
            </a:pPr>
            <a:r>
              <a:rPr lang="en-GB" dirty="0">
                <a:latin typeface="Times New Roman" pitchFamily="18" charset="0"/>
                <a:cs typeface="Times New Roman" pitchFamily="18" charset="0"/>
              </a:rPr>
              <a:t>Usability, etc. </a:t>
            </a:r>
          </a:p>
          <a:p>
            <a:pPr marL="342900" indent="-342900" algn="just">
              <a:spcBef>
                <a:spcPts val="800"/>
              </a:spcBef>
            </a:pPr>
            <a:r>
              <a:rPr lang="en-GB" sz="2000" dirty="0">
                <a:latin typeface="Times New Roman" pitchFamily="18" charset="0"/>
                <a:cs typeface="Times New Roman" pitchFamily="18" charset="0"/>
              </a:rPr>
              <a:t>Non functional requirements include:</a:t>
            </a:r>
          </a:p>
          <a:p>
            <a:pPr marL="742950" lvl="1" algn="just">
              <a:lnSpc>
                <a:spcPct val="84000"/>
              </a:lnSpc>
              <a:spcBef>
                <a:spcPts val="725"/>
              </a:spcBef>
            </a:pPr>
            <a:r>
              <a:rPr lang="en-GB" sz="2000" dirty="0">
                <a:latin typeface="Times New Roman" pitchFamily="18" charset="0"/>
                <a:cs typeface="Times New Roman" pitchFamily="18" charset="0"/>
              </a:rPr>
              <a:t>Reliability issues, </a:t>
            </a:r>
          </a:p>
          <a:p>
            <a:pPr marL="742950" lvl="1" algn="just">
              <a:lnSpc>
                <a:spcPct val="84000"/>
              </a:lnSpc>
              <a:spcBef>
                <a:spcPts val="725"/>
              </a:spcBef>
            </a:pPr>
            <a:r>
              <a:rPr lang="en-GB" sz="2000" dirty="0">
                <a:latin typeface="Times New Roman" pitchFamily="18" charset="0"/>
                <a:cs typeface="Times New Roman" pitchFamily="18" charset="0"/>
              </a:rPr>
              <a:t>Performance issues:</a:t>
            </a:r>
          </a:p>
          <a:p>
            <a:pPr lvl="2" algn="just">
              <a:lnSpc>
                <a:spcPct val="84000"/>
              </a:lnSpc>
              <a:spcBef>
                <a:spcPts val="625"/>
              </a:spcBef>
            </a:pPr>
            <a:r>
              <a:rPr lang="en-GB" dirty="0">
                <a:latin typeface="Times New Roman" pitchFamily="18" charset="0"/>
                <a:cs typeface="Times New Roman" pitchFamily="18" charset="0"/>
              </a:rPr>
              <a:t>Example: How fast the system can produce results </a:t>
            </a:r>
          </a:p>
          <a:p>
            <a:pPr lvl="3" algn="just">
              <a:lnSpc>
                <a:spcPct val="84000"/>
              </a:lnSpc>
              <a:spcBef>
                <a:spcPts val="625"/>
              </a:spcBef>
            </a:pPr>
            <a:r>
              <a:rPr lang="en-GB" sz="2000" dirty="0">
                <a:latin typeface="Times New Roman" pitchFamily="18" charset="0"/>
                <a:cs typeface="Times New Roman" pitchFamily="18" charset="0"/>
              </a:rPr>
              <a:t>so that it does not overload another system to which it supplies data, etc. </a:t>
            </a:r>
          </a:p>
          <a:p>
            <a:pPr marL="742950" lvl="1" algn="just">
              <a:lnSpc>
                <a:spcPct val="84000"/>
              </a:lnSpc>
              <a:spcBef>
                <a:spcPts val="725"/>
              </a:spcBef>
            </a:pPr>
            <a:r>
              <a:rPr lang="en-GB" sz="2000" dirty="0">
                <a:latin typeface="Times New Roman" pitchFamily="18" charset="0"/>
                <a:cs typeface="Times New Roman" pitchFamily="18" charset="0"/>
              </a:rPr>
              <a:t>Human-computer interface issues, </a:t>
            </a:r>
          </a:p>
          <a:p>
            <a:pPr marL="742950" lvl="1" algn="just">
              <a:lnSpc>
                <a:spcPct val="84000"/>
              </a:lnSpc>
              <a:spcBef>
                <a:spcPts val="725"/>
              </a:spcBef>
            </a:pPr>
            <a:r>
              <a:rPr lang="en-GB" sz="2000" dirty="0">
                <a:latin typeface="Times New Roman" pitchFamily="18" charset="0"/>
                <a:cs typeface="Times New Roman" pitchFamily="18" charset="0"/>
              </a:rPr>
              <a:t>Interface with other external systems,  </a:t>
            </a:r>
          </a:p>
          <a:p>
            <a:pPr marL="742950" lvl="1" algn="just">
              <a:lnSpc>
                <a:spcPct val="84000"/>
              </a:lnSpc>
              <a:spcBef>
                <a:spcPts val="725"/>
              </a:spcBef>
            </a:pPr>
            <a:r>
              <a:rPr lang="en-GB" sz="2000" dirty="0">
                <a:latin typeface="Times New Roman" pitchFamily="18" charset="0"/>
                <a:cs typeface="Times New Roman" pitchFamily="18" charset="0"/>
              </a:rPr>
              <a:t>Security, maintainability, etc.</a:t>
            </a:r>
          </a:p>
          <a:p>
            <a:pPr lvl="2" algn="just">
              <a:spcBef>
                <a:spcPts val="725"/>
              </a:spcBef>
            </a:pPr>
            <a:endParaRPr lang="en-GB" dirty="0">
              <a:latin typeface="Times New Roman" pitchFamily="18" charset="0"/>
              <a:cs typeface="Times New Roman" pitchFamily="18" charset="0"/>
            </a:endParaRPr>
          </a:p>
          <a:p>
            <a:pPr marL="742950" lvl="1" algn="just">
              <a:spcBef>
                <a:spcPts val="538"/>
              </a:spcBef>
            </a:pPr>
            <a:endParaRPr lang="en-GB" sz="2000" dirty="0">
              <a:latin typeface="Times New Roman" pitchFamily="18" charset="0"/>
              <a:cs typeface="Times New Roman" pitchFamily="18" charset="0"/>
            </a:endParaRPr>
          </a:p>
          <a:p>
            <a:pPr marL="342900" indent="-342900" algn="just"/>
            <a:endParaRPr lang="en-GB" sz="20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22307"/>
          </a:xfrm>
        </p:spPr>
        <p:txBody>
          <a:bodyPr>
            <a:normAutofit/>
          </a:bodyPr>
          <a:lstStyle/>
          <a:p>
            <a:pPr algn="ctr"/>
            <a:r>
              <a:rPr lang="en-US" dirty="0">
                <a:latin typeface="Times New Roman" pitchFamily="18" charset="0"/>
                <a:cs typeface="Times New Roman" pitchFamily="18" charset="0"/>
              </a:rPr>
              <a:t>REFERENCES    </a:t>
            </a:r>
          </a:p>
        </p:txBody>
      </p:sp>
      <p:sp>
        <p:nvSpPr>
          <p:cNvPr id="3" name="Content Placeholder 2"/>
          <p:cNvSpPr>
            <a:spLocks noGrp="1"/>
          </p:cNvSpPr>
          <p:nvPr>
            <p:ph idx="1"/>
          </p:nvPr>
        </p:nvSpPr>
        <p:spPr/>
        <p:txBody>
          <a:bodyPr>
            <a:noAutofit/>
          </a:bodyPr>
          <a:lstStyle/>
          <a:p>
            <a:pPr lvl="0" algn="just">
              <a:buNone/>
            </a:pPr>
            <a:r>
              <a:rPr lang="en-US" sz="2000" b="1" dirty="0">
                <a:latin typeface="Times New Roman" pitchFamily="18" charset="0"/>
                <a:cs typeface="Times New Roman" pitchFamily="18" charset="0"/>
              </a:rPr>
              <a:t>      Reference Books:</a:t>
            </a:r>
          </a:p>
          <a:p>
            <a:pPr marL="342900" indent="-342900" algn="just">
              <a:buFont typeface="+mj-lt"/>
              <a:buAutoNum type="arabicPeriod"/>
            </a:pPr>
            <a:r>
              <a:rPr lang="en-US" sz="2000" dirty="0" err="1">
                <a:latin typeface="Times New Roman" pitchFamily="18" charset="0"/>
                <a:cs typeface="Times New Roman" pitchFamily="18" charset="0"/>
              </a:rPr>
              <a:t>Suman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Ugrasen</a:t>
            </a:r>
            <a:r>
              <a:rPr lang="en-US" sz="2000" dirty="0">
                <a:latin typeface="Times New Roman" pitchFamily="18" charset="0"/>
                <a:cs typeface="Times New Roman" pitchFamily="18" charset="0"/>
              </a:rPr>
              <a:t>, “Software Engineering - Concepts and Practices”, </a:t>
            </a:r>
            <a:r>
              <a:rPr lang="en-IN" sz="2000" dirty="0">
                <a:latin typeface="Times New Roman" pitchFamily="18" charset="0"/>
                <a:cs typeface="Times New Roman" pitchFamily="18" charset="0"/>
              </a:rPr>
              <a:t>First Edition, </a:t>
            </a:r>
            <a:r>
              <a:rPr lang="en-US" sz="2000" dirty="0" err="1">
                <a:latin typeface="Times New Roman" pitchFamily="18" charset="0"/>
                <a:cs typeface="Times New Roman" pitchFamily="18" charset="0"/>
              </a:rPr>
              <a:t>Cengage</a:t>
            </a:r>
            <a:r>
              <a:rPr lang="en-US" sz="2000" dirty="0">
                <a:latin typeface="Times New Roman" pitchFamily="18" charset="0"/>
                <a:cs typeface="Times New Roman" pitchFamily="18" charset="0"/>
              </a:rPr>
              <a:t>.</a:t>
            </a:r>
            <a:endParaRPr lang="en-IN" sz="2000" dirty="0">
              <a:latin typeface="Times New Roman" pitchFamily="18" charset="0"/>
              <a:cs typeface="Times New Roman" pitchFamily="18" charset="0"/>
            </a:endParaRPr>
          </a:p>
          <a:p>
            <a:pPr marL="342900" indent="-342900" algn="just">
              <a:buFont typeface="+mj-lt"/>
              <a:buAutoNum type="arabicPeriod"/>
            </a:pPr>
            <a:r>
              <a:rPr lang="en-US" sz="2000" dirty="0">
                <a:latin typeface="Times New Roman" pitchFamily="18" charset="0"/>
                <a:cs typeface="Times New Roman" pitchFamily="18" charset="0"/>
              </a:rPr>
              <a:t>Mohammad Ali </a:t>
            </a:r>
            <a:r>
              <a:rPr lang="en-US" sz="2000" dirty="0" err="1">
                <a:latin typeface="Times New Roman" pitchFamily="18" charset="0"/>
                <a:cs typeface="Times New Roman" pitchFamily="18" charset="0"/>
              </a:rPr>
              <a:t>Shaikh</a:t>
            </a:r>
            <a:r>
              <a:rPr lang="en-US" sz="2000" dirty="0">
                <a:latin typeface="Times New Roman" pitchFamily="18" charset="0"/>
                <a:cs typeface="Times New Roman" pitchFamily="18" charset="0"/>
              </a:rPr>
              <a:t>, “Software Engineering with UML”, </a:t>
            </a:r>
            <a:r>
              <a:rPr lang="en-IN" sz="2000" dirty="0">
                <a:latin typeface="Times New Roman" pitchFamily="18" charset="0"/>
                <a:cs typeface="Times New Roman" pitchFamily="18" charset="0"/>
              </a:rPr>
              <a:t>Third Edition,</a:t>
            </a:r>
            <a:r>
              <a:rPr lang="en-US" sz="2000" dirty="0">
                <a:latin typeface="Times New Roman" pitchFamily="18" charset="0"/>
                <a:cs typeface="Times New Roman" pitchFamily="18" charset="0"/>
              </a:rPr>
              <a:t> Notion Press.</a:t>
            </a:r>
          </a:p>
          <a:p>
            <a:pPr marL="342900" indent="-342900" algn="just">
              <a:buFont typeface="+mj-lt"/>
              <a:buAutoNum type="arabicPeriod"/>
            </a:pPr>
            <a:r>
              <a:rPr lang="en-US" sz="2000" dirty="0">
                <a:latin typeface="Times New Roman" pitchFamily="18" charset="0"/>
                <a:cs typeface="Times New Roman" pitchFamily="18" charset="0"/>
              </a:rPr>
              <a:t>Somerville Ian, “Software Engineering”, Addison Wesley, 8th Edition.</a:t>
            </a:r>
          </a:p>
          <a:p>
            <a:pPr marL="342900" lvl="0" indent="-342900" algn="just">
              <a:buNone/>
            </a:pPr>
            <a:r>
              <a:rPr lang="en-US" sz="2000" b="1" dirty="0">
                <a:latin typeface="Times New Roman" pitchFamily="18" charset="0"/>
                <a:cs typeface="Times New Roman" pitchFamily="18" charset="0"/>
              </a:rPr>
              <a:t>	Text Books:</a:t>
            </a:r>
          </a:p>
          <a:p>
            <a:pPr marL="342900" lvl="0" indent="-342900" algn="just">
              <a:buFont typeface="+mj-lt"/>
              <a:buAutoNum type="arabicPeriod"/>
            </a:pPr>
            <a:r>
              <a:rPr lang="en-US" sz="2000" dirty="0">
                <a:latin typeface="Times New Roman" pitchFamily="18" charset="0"/>
                <a:cs typeface="Times New Roman" pitchFamily="18" charset="0"/>
              </a:rPr>
              <a:t>Pressman Rogers, “Software Engineering: A Practitioner's Approach”, Sixth edition. </a:t>
            </a:r>
            <a:r>
              <a:rPr lang="en-IN" sz="2000" dirty="0">
                <a:latin typeface="Times New Roman" pitchFamily="18" charset="0"/>
                <a:cs typeface="Times New Roman" pitchFamily="18" charset="0"/>
              </a:rPr>
              <a:t>Patterson and Hennessy, “Computer Architecture” , Fifth Edition </a:t>
            </a:r>
            <a:r>
              <a:rPr lang="en-IN" sz="2000" dirty="0" err="1">
                <a:latin typeface="Times New Roman" pitchFamily="18" charset="0"/>
                <a:cs typeface="Times New Roman" pitchFamily="18" charset="0"/>
              </a:rPr>
              <a:t>Morgaon</a:t>
            </a:r>
            <a:r>
              <a:rPr lang="en-IN" sz="2000" dirty="0">
                <a:latin typeface="Times New Roman" pitchFamily="18" charset="0"/>
                <a:cs typeface="Times New Roman" pitchFamily="18" charset="0"/>
              </a:rPr>
              <a:t> Kauffman.</a:t>
            </a:r>
          </a:p>
          <a:p>
            <a:pPr marL="342900" indent="-342900" algn="just">
              <a:buFont typeface="+mj-lt"/>
              <a:buAutoNum type="arabicPeriod"/>
            </a:pPr>
            <a:r>
              <a:rPr lang="en-IN" sz="2000" dirty="0" err="1">
                <a:latin typeface="Times New Roman" pitchFamily="18" charset="0"/>
                <a:cs typeface="Times New Roman" pitchFamily="18" charset="0"/>
              </a:rPr>
              <a:t>Rajib</a:t>
            </a:r>
            <a:r>
              <a:rPr lang="en-IN" sz="2000" dirty="0">
                <a:latin typeface="Times New Roman" pitchFamily="18" charset="0"/>
                <a:cs typeface="Times New Roman" pitchFamily="18" charset="0"/>
              </a:rPr>
              <a:t> Mall, “</a:t>
            </a:r>
            <a:r>
              <a:rPr lang="en-US" sz="2000" dirty="0">
                <a:latin typeface="Times New Roman" pitchFamily="18" charset="0"/>
                <a:cs typeface="Times New Roman" pitchFamily="18" charset="0"/>
              </a:rPr>
              <a:t>Fundamentals of Software Engineering’’, Fourth Edition, Pearson, PHI.</a:t>
            </a:r>
          </a:p>
          <a:p>
            <a:pPr marL="342900" indent="-342900" algn="just">
              <a:buNone/>
            </a:pPr>
            <a:endParaRPr lang="en-IN" sz="2000" dirty="0">
              <a:latin typeface="Times New Roman" pitchFamily="18" charset="0"/>
              <a:cs typeface="Times New Roman" pitchFamily="18" charset="0"/>
            </a:endParaRPr>
          </a:p>
          <a:p>
            <a:pPr lvl="0" algn="just">
              <a:buNone/>
            </a:pPr>
            <a:endParaRPr lang="en-US" sz="20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817581"/>
            <a:ext cx="10515600" cy="80643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1263</TotalTime>
  <Words>1605</Words>
  <Application>Microsoft Macintosh PowerPoint</Application>
  <PresentationFormat>Widescreen</PresentationFormat>
  <Paragraphs>140</Paragraphs>
  <Slides>20</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29"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Introduction to Software Engineering </vt:lpstr>
      <vt:lpstr>Topics covered</vt:lpstr>
      <vt:lpstr>SOFTWARE REQUIREMENT SPECIFICATION</vt:lpstr>
      <vt:lpstr>SRS DOCUMENT</vt:lpstr>
      <vt:lpstr>SRS Document</vt:lpstr>
      <vt:lpstr>SRS Document</vt:lpstr>
      <vt:lpstr>SRS Document</vt:lpstr>
      <vt:lpstr>Qualities of SRS</vt:lpstr>
      <vt:lpstr>Qualities of SRS</vt:lpstr>
      <vt:lpstr>Qualities of SRS</vt:lpstr>
      <vt:lpstr>Qualities of SRS</vt:lpstr>
      <vt:lpstr>Qualities of SRS</vt:lpstr>
      <vt:lpstr>  Properties of a good SRS document </vt:lpstr>
      <vt:lpstr>  Properties of a good SRS document </vt:lpstr>
      <vt:lpstr> Properties of a good SRS document </vt:lpstr>
      <vt:lpstr>FUNCTIONAL REQUIREMENTS</vt:lpstr>
      <vt:lpstr>NON FUNCTIONAL REQUIREMENTS</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263</cp:revision>
  <dcterms:created xsi:type="dcterms:W3CDTF">2019-01-09T10:33:58Z</dcterms:created>
  <dcterms:modified xsi:type="dcterms:W3CDTF">2024-12-20T08:13:29Z</dcterms:modified>
</cp:coreProperties>
</file>