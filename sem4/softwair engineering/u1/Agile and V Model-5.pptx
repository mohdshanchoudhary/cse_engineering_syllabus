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1"/>
  </p:notesMasterIdLst>
  <p:handoutMasterIdLst>
    <p:handoutMasterId r:id="rId32"/>
  </p:handoutMasterIdLst>
  <p:sldIdLst>
    <p:sldId id="662" r:id="rId3"/>
    <p:sldId id="265" r:id="rId4"/>
    <p:sldId id="280" r:id="rId5"/>
    <p:sldId id="294" r:id="rId6"/>
    <p:sldId id="295" r:id="rId7"/>
    <p:sldId id="296" r:id="rId8"/>
    <p:sldId id="317" r:id="rId9"/>
    <p:sldId id="297" r:id="rId10"/>
    <p:sldId id="298" r:id="rId11"/>
    <p:sldId id="329" r:id="rId12"/>
    <p:sldId id="299" r:id="rId13"/>
    <p:sldId id="300" r:id="rId14"/>
    <p:sldId id="330" r:id="rId15"/>
    <p:sldId id="302" r:id="rId16"/>
    <p:sldId id="303" r:id="rId17"/>
    <p:sldId id="304" r:id="rId18"/>
    <p:sldId id="305" r:id="rId19"/>
    <p:sldId id="318" r:id="rId20"/>
    <p:sldId id="306" r:id="rId21"/>
    <p:sldId id="307" r:id="rId22"/>
    <p:sldId id="331" r:id="rId23"/>
    <p:sldId id="332" r:id="rId24"/>
    <p:sldId id="333" r:id="rId25"/>
    <p:sldId id="308" r:id="rId26"/>
    <p:sldId id="327" r:id="rId27"/>
    <p:sldId id="328" r:id="rId28"/>
    <p:sldId id="326"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9" autoAdjust="0"/>
    <p:restoredTop sz="93396" autoAdjust="0"/>
  </p:normalViewPr>
  <p:slideViewPr>
    <p:cSldViewPr snapToGrid="0">
      <p:cViewPr varScale="1">
        <p:scale>
          <a:sx n="111" d="100"/>
          <a:sy n="111" d="100"/>
        </p:scale>
        <p:origin x="736" y="20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pic>
        <p:nvPicPr>
          <p:cNvPr id="8" name="Picture 7">
            <a:extLst>
              <a:ext uri="{FF2B5EF4-FFF2-40B4-BE49-F238E27FC236}">
                <a16:creationId xmlns:a16="http://schemas.microsoft.com/office/drawing/2014/main" id="{4D26AAB4-AD8F-7DF1-8404-B5C1A6EAA2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13446" y="0"/>
            <a:ext cx="986255" cy="785252"/>
          </a:xfrm>
          <a:prstGeom prst="rect">
            <a:avLst/>
          </a:prstGeom>
        </p:spPr>
      </p:pic>
      <p:pic>
        <p:nvPicPr>
          <p:cNvPr id="9" name="Picture 8" descr="National Board of Accreditation - Wikipedia">
            <a:extLst>
              <a:ext uri="{FF2B5EF4-FFF2-40B4-BE49-F238E27FC236}">
                <a16:creationId xmlns:a16="http://schemas.microsoft.com/office/drawing/2014/main" id="{1813772A-333D-3D95-A3E4-8E8724123524}"/>
              </a:ext>
            </a:extLst>
          </p:cNvPr>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99701" y="49261"/>
            <a:ext cx="975818" cy="688340"/>
          </a:xfrm>
          <a:prstGeom prst="rect">
            <a:avLst/>
          </a:prstGeom>
          <a:noFill/>
          <a:ln>
            <a:noFill/>
          </a:ln>
        </p:spPr>
      </p:pic>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5C0ACBA1-5444-15A7-7A9F-1D5CA0544817}"/>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986255" cy="785252"/>
          </a:xfrm>
          <a:prstGeom prst="rect">
            <a:avLst/>
          </a:prstGeom>
        </p:spPr>
      </p:pic>
      <p:pic>
        <p:nvPicPr>
          <p:cNvPr id="8" name="Picture 7" descr="National Board of Accreditation - Wikipedia">
            <a:extLst>
              <a:ext uri="{FF2B5EF4-FFF2-40B4-BE49-F238E27FC236}">
                <a16:creationId xmlns:a16="http://schemas.microsoft.com/office/drawing/2014/main" id="{73D6BE76-8D68-92F5-F07E-865564DBC7A0}"/>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299701" y="49261"/>
            <a:ext cx="975818" cy="688340"/>
          </a:xfrm>
          <a:prstGeom prst="rect">
            <a:avLst/>
          </a:prstGeom>
          <a:noFill/>
          <a:ln>
            <a:noFill/>
          </a:ln>
        </p:spPr>
      </p:pic>
      <p:pic>
        <p:nvPicPr>
          <p:cNvPr id="9" name="Picture 8">
            <a:extLst>
              <a:ext uri="{FF2B5EF4-FFF2-40B4-BE49-F238E27FC236}">
                <a16:creationId xmlns:a16="http://schemas.microsoft.com/office/drawing/2014/main" id="{0317FFF0-E15D-ABEA-51A2-F0F1C1773900}"/>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nptel.ac.in/courses/106/105/106105182/" TargetMode="External"/><Relationship Id="rId7" Type="http://schemas.openxmlformats.org/officeDocument/2006/relationships/hyperlink" Target="https://resources.collab.net/agile-101/agile-methodologies" TargetMode="External"/><Relationship Id="rId2" Type="http://schemas.openxmlformats.org/officeDocument/2006/relationships/hyperlink" Target="https://stackify.com/agile-methodology/" TargetMode="External"/><Relationship Id="rId1" Type="http://schemas.openxmlformats.org/officeDocument/2006/relationships/slideLayout" Target="../slideLayouts/slideLayout2.xml"/><Relationship Id="rId6" Type="http://schemas.openxmlformats.org/officeDocument/2006/relationships/hyperlink" Target="https://www.visual-paradigm.com/scrum/what-is-agile-software-development/" TargetMode="External"/><Relationship Id="rId5" Type="http://schemas.openxmlformats.org/officeDocument/2006/relationships/hyperlink" Target="https://www.agilealliance.org/agile101/" TargetMode="External"/><Relationship Id="rId4" Type="http://schemas.openxmlformats.org/officeDocument/2006/relationships/hyperlink" Target="https://www.tutorialspoint.com/software_engineering/index.htm"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986255"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99701" y="49261"/>
            <a:ext cx="975818" cy="688340"/>
          </a:xfrm>
          <a:prstGeom prst="rect">
            <a:avLst/>
          </a:prstGeom>
          <a:noFill/>
          <a:ln>
            <a:noFill/>
          </a:ln>
        </p:spPr>
      </p:pic>
      <p:pic>
        <p:nvPicPr>
          <p:cNvPr id="4" name="Picture 3">
            <a:extLst>
              <a:ext uri="{FF2B5EF4-FFF2-40B4-BE49-F238E27FC236}">
                <a16:creationId xmlns:a16="http://schemas.microsoft.com/office/drawing/2014/main" id="{ECE656E2-E2A5-F171-EB6A-809723A7BB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958940" y="225197"/>
            <a:ext cx="810622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Times New Roman" pitchFamily="18" charset="0"/>
                <a:cs typeface="Times New Roman" pitchFamily="18" charset="0"/>
              </a:rPr>
              <a:t>Introduction to Software Engineering</a:t>
            </a:r>
            <a:br>
              <a:rPr lang="en-US" sz="1600" b="1" dirty="0">
                <a:latin typeface="Times New Roman" pitchFamily="18" charset="0"/>
                <a:ea typeface="Karla" pitchFamily="2" charset="0"/>
                <a:cs typeface="Times New Roman" pitchFamily="18" charset="0"/>
              </a:rPr>
            </a:br>
            <a:endParaRPr lang="en-US" sz="1200" dirty="0">
              <a:latin typeface="Times New Roman" pitchFamily="18" charset="0"/>
              <a:cs typeface="Times New Roman" pitchFamily="18" charset="0"/>
            </a:endParaRPr>
          </a:p>
        </p:txBody>
      </p:sp>
      <p:graphicFrame>
        <p:nvGraphicFramePr>
          <p:cNvPr id="6" name="Table 5"/>
          <p:cNvGraphicFramePr>
            <a:graphicFrameLocks noGrp="1"/>
          </p:cNvGraphicFramePr>
          <p:nvPr/>
        </p:nvGraphicFramePr>
        <p:xfrm>
          <a:off x="1636395" y="2497107"/>
          <a:ext cx="6751320" cy="3200223"/>
        </p:xfrm>
        <a:graphic>
          <a:graphicData uri="http://schemas.openxmlformats.org/drawingml/2006/table">
            <a:tbl>
              <a:tblPr firstRow="1" firstCol="1" bandRow="1">
                <a:tableStyleId>{5940675A-B579-460E-94D1-54222C63F5DA}</a:tableStyleId>
              </a:tblPr>
              <a:tblGrid>
                <a:gridCol w="1106805">
                  <a:extLst>
                    <a:ext uri="{9D8B030D-6E8A-4147-A177-3AD203B41FA5}">
                      <a16:colId xmlns:a16="http://schemas.microsoft.com/office/drawing/2014/main" val="20000"/>
                    </a:ext>
                  </a:extLst>
                </a:gridCol>
                <a:gridCol w="4305002">
                  <a:extLst>
                    <a:ext uri="{9D8B030D-6E8A-4147-A177-3AD203B41FA5}">
                      <a16:colId xmlns:a16="http://schemas.microsoft.com/office/drawing/2014/main" val="20001"/>
                    </a:ext>
                  </a:extLst>
                </a:gridCol>
                <a:gridCol w="1339513">
                  <a:extLst>
                    <a:ext uri="{9D8B030D-6E8A-4147-A177-3AD203B41FA5}">
                      <a16:colId xmlns:a16="http://schemas.microsoft.com/office/drawing/2014/main" val="20002"/>
                    </a:ext>
                  </a:extLst>
                </a:gridCol>
              </a:tblGrid>
              <a:tr h="1093707">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CO Number</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Title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Level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053258">
                <a:tc>
                  <a:txBody>
                    <a:bodyPr/>
                    <a:lstStyle/>
                    <a:p>
                      <a:pPr marL="67945">
                        <a:lnSpc>
                          <a:spcPts val="146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just">
                        <a:lnSpc>
                          <a:spcPct val="107000"/>
                        </a:lnSpc>
                        <a:spcAft>
                          <a:spcPts val="800"/>
                        </a:spcAft>
                      </a:pPr>
                      <a:r>
                        <a:rPr lang="en-IN" sz="1800">
                          <a:effectLst/>
                          <a:latin typeface="Times New Roman" panose="02020603050405020304" pitchFamily="18" charset="0"/>
                          <a:ea typeface="Times New Roman" panose="02020603050405020304" pitchFamily="18" charset="0"/>
                        </a:rPr>
                        <a:t>Define principles and working of software process models.</a:t>
                      </a:r>
                      <a:endParaRPr lang="en-IN" sz="180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1053258">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CO2</a:t>
                      </a:r>
                    </a:p>
                  </a:txBody>
                  <a:tcPr marL="0" marR="0" marT="0" marB="0" anchor="ctr"/>
                </a:tc>
                <a:tc>
                  <a:txBody>
                    <a:bodyPr/>
                    <a:lstStyle/>
                    <a:p>
                      <a:pPr algn="just">
                        <a:lnSpc>
                          <a:spcPct val="107000"/>
                        </a:lnSpc>
                        <a:spcAft>
                          <a:spcPts val="800"/>
                        </a:spcAft>
                      </a:pPr>
                      <a:r>
                        <a:rPr lang="en-IN" sz="1800" dirty="0">
                          <a:effectLst/>
                          <a:latin typeface="Times New Roman" panose="02020603050405020304" pitchFamily="18" charset="0"/>
                          <a:ea typeface="Times New Roman" panose="02020603050405020304" pitchFamily="18" charset="0"/>
                        </a:rPr>
                        <a:t>Describe agile development methodology and analyse where to apply.</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Remember</a:t>
                      </a:r>
                    </a:p>
                  </a:txBody>
                  <a:tcPr marL="0" marR="0" marT="0" marB="0" anchor="ctr"/>
                </a:tc>
                <a:extLst>
                  <a:ext uri="{0D108BD9-81ED-4DB2-BD59-A6C34878D82A}">
                    <a16:rowId xmlns:a16="http://schemas.microsoft.com/office/drawing/2014/main" val="4050770155"/>
                  </a:ext>
                </a:extLst>
              </a:tr>
            </a:tbl>
          </a:graphicData>
        </a:graphic>
      </p:graphicFrame>
      <p:sp>
        <p:nvSpPr>
          <p:cNvPr id="11" name="Rectangle 10"/>
          <p:cNvSpPr/>
          <p:nvPr/>
        </p:nvSpPr>
        <p:spPr>
          <a:xfrm>
            <a:off x="217842" y="1281538"/>
            <a:ext cx="2374689" cy="461665"/>
          </a:xfrm>
          <a:prstGeom prst="rect">
            <a:avLst/>
          </a:prstGeom>
        </p:spPr>
        <p:txBody>
          <a:bodyPr wrap="none">
            <a:spAutoFit/>
          </a:bodyPr>
          <a:lstStyle/>
          <a:p>
            <a:r>
              <a:rPr lang="en-US" sz="2400" b="1" dirty="0"/>
              <a:t>Course Outcome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10" name="Footer Placeholder 9">
            <a:extLst>
              <a:ext uri="{FF2B5EF4-FFF2-40B4-BE49-F238E27FC236}">
                <a16:creationId xmlns:a16="http://schemas.microsoft.com/office/drawing/2014/main" id="{D3EF1D39-20AE-0E75-E1DC-5F2584D8AB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latin typeface="Times New Roman" pitchFamily="18" charset="0"/>
                <a:cs typeface="Times New Roman" pitchFamily="18" charset="0"/>
              </a:rPr>
              <a:t>Topics covered</a:t>
            </a:r>
          </a:p>
        </p:txBody>
      </p:sp>
      <p:sp>
        <p:nvSpPr>
          <p:cNvPr id="3" name="Content Placeholder 2"/>
          <p:cNvSpPr>
            <a:spLocks noGrp="1"/>
          </p:cNvSpPr>
          <p:nvPr>
            <p:ph idx="1"/>
          </p:nvPr>
        </p:nvSpPr>
        <p:spPr/>
        <p:txBody>
          <a:bodyPr>
            <a:normAutofit/>
          </a:bodyPr>
          <a:lstStyle/>
          <a:p>
            <a:pPr>
              <a:lnSpc>
                <a:spcPct val="150000"/>
              </a:lnSpc>
            </a:pPr>
            <a:r>
              <a:rPr lang="en-US" dirty="0">
                <a:latin typeface="Times New Roman" pitchFamily="18" charset="0"/>
                <a:cs typeface="Times New Roman" pitchFamily="18" charset="0"/>
              </a:rPr>
              <a:t>Agile Software Development</a:t>
            </a:r>
          </a:p>
          <a:p>
            <a:pPr>
              <a:lnSpc>
                <a:spcPct val="150000"/>
              </a:lnSpc>
            </a:pPr>
            <a:r>
              <a:rPr lang="en-US" dirty="0">
                <a:latin typeface="Times New Roman" pitchFamily="18" charset="0"/>
                <a:cs typeface="Times New Roman" pitchFamily="18" charset="0"/>
              </a:rPr>
              <a:t>V Model</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729693"/>
            <a:ext cx="10515600" cy="92479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6DF8F5BA-6F33-F6E7-9CD2-AF1535800203}"/>
              </a:ext>
            </a:extLst>
          </p:cNvPr>
          <p:cNvSpPr>
            <a:spLocks noGrp="1"/>
          </p:cNvSpPr>
          <p:nvPr>
            <p:ph type="sldNum" sz="quarter" idx="12"/>
          </p:nvPr>
        </p:nvSpPr>
        <p:spPr/>
        <p:txBody>
          <a:bodyPr/>
          <a:lstStyle/>
          <a:p>
            <a:fld id="{BDCDBBEF-AA6C-4BA6-85B2-A17D7F280E38}" type="slidenum">
              <a:rPr lang="en-US" smtClean="0"/>
              <a:pPr/>
              <a:t>3</a:t>
            </a:fld>
            <a:endParaRPr lang="en-US"/>
          </a:p>
        </p:txBody>
      </p:sp>
      <p:sp>
        <p:nvSpPr>
          <p:cNvPr id="7" name="Footer Placeholder 9">
            <a:extLst>
              <a:ext uri="{FF2B5EF4-FFF2-40B4-BE49-F238E27FC236}">
                <a16:creationId xmlns:a16="http://schemas.microsoft.com/office/drawing/2014/main" id="{AE28C5DE-646B-7B88-F5B1-0EDBEA41C3E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Agile software Development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a:bodyPr>
          <a:lstStyle/>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Agile is a time-bound, iterative approach to software delivery that builds software incrementally from the start of the project, instead of trying to deliver all at once.</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949124"/>
            <a:ext cx="10515600" cy="6748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57FC151-650F-465E-5A2F-7DA8D68FC338}"/>
              </a:ext>
            </a:extLst>
          </p:cNvPr>
          <p:cNvSpPr>
            <a:spLocks noGrp="1"/>
          </p:cNvSpPr>
          <p:nvPr>
            <p:ph type="sldNum" sz="quarter" idx="12"/>
          </p:nvPr>
        </p:nvSpPr>
        <p:spPr/>
        <p:txBody>
          <a:bodyPr/>
          <a:lstStyle/>
          <a:p>
            <a:fld id="{BDCDBBEF-AA6C-4BA6-85B2-A17D7F280E38}" type="slidenum">
              <a:rPr lang="en-US" smtClean="0"/>
              <a:pPr/>
              <a:t>4</a:t>
            </a:fld>
            <a:endParaRPr lang="en-US"/>
          </a:p>
        </p:txBody>
      </p:sp>
      <p:sp>
        <p:nvSpPr>
          <p:cNvPr id="7" name="Footer Placeholder 9">
            <a:extLst>
              <a:ext uri="{FF2B5EF4-FFF2-40B4-BE49-F238E27FC236}">
                <a16:creationId xmlns:a16="http://schemas.microsoft.com/office/drawing/2014/main" id="{923E1F08-E3A9-FD83-A02E-BA6669B1E19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1803"/>
            <a:ext cx="10515600" cy="868885"/>
          </a:xfrm>
        </p:spPr>
        <p:txBody>
          <a:bodyPr>
            <a:normAutofit fontScale="90000"/>
          </a:bodyPr>
          <a:lstStyle/>
          <a:p>
            <a:pPr algn="ct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Why Agile?</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50000"/>
              </a:lnSpc>
            </a:pPr>
            <a:r>
              <a:rPr lang="en-US" dirty="0">
                <a:latin typeface="Times New Roman" pitchFamily="18" charset="0"/>
                <a:cs typeface="Times New Roman" pitchFamily="18" charset="0"/>
              </a:rPr>
              <a:t>Technology in this current era is progressing faster than ever, enforcing the global software companies to work in a fast-paced changing environment.</a:t>
            </a:r>
          </a:p>
          <a:p>
            <a:pPr algn="just">
              <a:lnSpc>
                <a:spcPct val="150000"/>
              </a:lnSpc>
            </a:pPr>
            <a:r>
              <a:rPr lang="en-US" dirty="0">
                <a:latin typeface="Times New Roman" pitchFamily="18" charset="0"/>
                <a:cs typeface="Times New Roman" pitchFamily="18" charset="0"/>
              </a:rPr>
              <a:t>The conventional software models such as Waterfall Model that depends on completely specifying the requirements, designing, and testing the system are not geared towards rapid software development.</a:t>
            </a:r>
          </a:p>
        </p:txBody>
      </p:sp>
      <p:sp>
        <p:nvSpPr>
          <p:cNvPr id="6" name="Rectangle 5"/>
          <p:cNvSpPr/>
          <p:nvPr/>
        </p:nvSpPr>
        <p:spPr>
          <a:xfrm>
            <a:off x="838200" y="902825"/>
            <a:ext cx="10515600" cy="7211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E627E6E-4F99-52F4-5CAA-18D7B50F5205}"/>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19E81A9B-97E6-7097-CF21-8BD72F6C3D7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fontAlgn="base"/>
            <a:r>
              <a:rPr lang="en-US" dirty="0">
                <a:latin typeface="Times New Roman" pitchFamily="18" charset="0"/>
                <a:cs typeface="Times New Roman" pitchFamily="18" charset="0"/>
              </a:rPr>
              <a:t>As a consequence, a conventional software development model fails to deliver the required product.</a:t>
            </a:r>
          </a:p>
          <a:p>
            <a:pPr algn="just" fontAlgn="base"/>
            <a:r>
              <a:rPr lang="en-US" dirty="0">
                <a:latin typeface="Times New Roman" pitchFamily="18" charset="0"/>
                <a:cs typeface="Times New Roman" pitchFamily="18" charset="0"/>
              </a:rPr>
              <a:t>This is where the agile software development comes to the rescue</a:t>
            </a:r>
          </a:p>
          <a:p>
            <a:pPr algn="just" fontAlgn="base"/>
            <a:r>
              <a:rPr lang="en-US" dirty="0">
                <a:latin typeface="Times New Roman" pitchFamily="18" charset="0"/>
                <a:cs typeface="Times New Roman" pitchFamily="18" charset="0"/>
              </a:rPr>
              <a:t>It was specially designed to curate the needs of the rapidly changing environment by embracing the idea of incremental development and develop the actual final produc</a:t>
            </a:r>
            <a:r>
              <a:rPr lang="en-US" b="1" dirty="0">
                <a:latin typeface="Times New Roman" pitchFamily="18" charset="0"/>
                <a:cs typeface="Times New Roman" pitchFamily="18" charset="0"/>
              </a:rPr>
              <a:t>t.</a:t>
            </a:r>
            <a:endParaRPr lang="en-US" dirty="0">
              <a:latin typeface="Times New Roman" pitchFamily="18" charset="0"/>
              <a:cs typeface="Times New Roman" pitchFamily="18" charset="0"/>
            </a:endParaRPr>
          </a:p>
          <a:p>
            <a:pPr algn="just" fontAlgn="base"/>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65490" y="891251"/>
            <a:ext cx="10515600" cy="70390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Why Agile?</a:t>
            </a:r>
          </a:p>
        </p:txBody>
      </p:sp>
      <p:sp>
        <p:nvSpPr>
          <p:cNvPr id="7" name="Rectangle 2"/>
          <p:cNvSpPr txBox="1">
            <a:spLocks noChangeArrowheads="1"/>
          </p:cNvSpPr>
          <p:nvPr/>
        </p:nvSpPr>
        <p:spPr>
          <a:xfrm>
            <a:off x="1925472" y="2255292"/>
            <a:ext cx="8229600" cy="1143000"/>
          </a:xfrm>
          <a:prstGeom prst="rect">
            <a:avLst/>
          </a:prstGeom>
        </p:spPr>
        <p:txBody>
          <a:bodyPr vert="horz" lIns="91429" tIns="45714" rIns="91429" bIns="45714"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 name="Slide Number Placeholder 1">
            <a:extLst>
              <a:ext uri="{FF2B5EF4-FFF2-40B4-BE49-F238E27FC236}">
                <a16:creationId xmlns:a16="http://schemas.microsoft.com/office/drawing/2014/main" id="{8AE0C2C5-C457-BF47-0328-66D4FE34F878}"/>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4" name="Footer Placeholder 9">
            <a:extLst>
              <a:ext uri="{FF2B5EF4-FFF2-40B4-BE49-F238E27FC236}">
                <a16:creationId xmlns:a16="http://schemas.microsoft.com/office/drawing/2014/main" id="{108386D8-27AF-AE17-0826-3C6FE4F90A2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lgn="just"/>
            <a:r>
              <a:rPr lang="en-US" dirty="0">
                <a:latin typeface="Times New Roman" pitchFamily="18" charset="0"/>
                <a:cs typeface="Times New Roman" pitchFamily="18" charset="0"/>
              </a:rPr>
              <a:t>Highest priority is to satisfy the customer through early and continuous delivery of valuable software.</a:t>
            </a:r>
          </a:p>
          <a:p>
            <a:pPr lvl="0" algn="just"/>
            <a:r>
              <a:rPr lang="en-US" dirty="0">
                <a:latin typeface="Times New Roman" pitchFamily="18" charset="0"/>
                <a:cs typeface="Times New Roman" pitchFamily="18" charset="0"/>
              </a:rPr>
              <a:t>It welcomes changing requirements, even late in development.</a:t>
            </a:r>
          </a:p>
          <a:p>
            <a:pPr lvl="0" algn="just"/>
            <a:r>
              <a:rPr lang="en-US" dirty="0">
                <a:latin typeface="Times New Roman" pitchFamily="18" charset="0"/>
                <a:cs typeface="Times New Roman" pitchFamily="18" charset="0"/>
              </a:rPr>
              <a:t>Deliver working software frequently, from a couple of weeks to a couple of months, with a preference to the shortest timescale.</a:t>
            </a:r>
          </a:p>
          <a:p>
            <a:pPr lvl="0" algn="just"/>
            <a:r>
              <a:rPr lang="en-US" dirty="0">
                <a:latin typeface="Times New Roman" pitchFamily="18" charset="0"/>
                <a:cs typeface="Times New Roman" pitchFamily="18" charset="0"/>
              </a:rPr>
              <a:t>Build projects around motivated individuals. Give them the environment and the support they need, and trust them to get the job done.</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25975"/>
            <a:ext cx="10515600" cy="76471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Characteristics of Agile Model</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5309F34B-CB22-09CA-857A-E4556A3A3E86}"/>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4" name="Footer Placeholder 9">
            <a:extLst>
              <a:ext uri="{FF2B5EF4-FFF2-40B4-BE49-F238E27FC236}">
                <a16:creationId xmlns:a16="http://schemas.microsoft.com/office/drawing/2014/main" id="{B421C96B-CF06-35E5-B941-4E14DE76DA5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dirty="0">
                <a:latin typeface="Times New Roman" pitchFamily="18" charset="0"/>
                <a:cs typeface="Times New Roman" pitchFamily="18" charset="0"/>
              </a:rPr>
              <a:t>Working software is the primary measure of progress.</a:t>
            </a:r>
          </a:p>
          <a:p>
            <a:pPr lvl="0" algn="just">
              <a:buNone/>
            </a:pPr>
            <a:endParaRPr lang="en-US" dirty="0">
              <a:latin typeface="Times New Roman" pitchFamily="18" charset="0"/>
              <a:cs typeface="Times New Roman" pitchFamily="18" charset="0"/>
            </a:endParaRPr>
          </a:p>
          <a:p>
            <a:pPr lvl="0" algn="just"/>
            <a:r>
              <a:rPr lang="en-US" dirty="0">
                <a:latin typeface="Times New Roman" pitchFamily="18" charset="0"/>
                <a:cs typeface="Times New Roman" pitchFamily="18" charset="0"/>
              </a:rPr>
              <a:t>Simplicity the art of maximizing the amount of work not done is essential.</a:t>
            </a:r>
          </a:p>
          <a:p>
            <a:pPr lvl="0" algn="just">
              <a:buNone/>
            </a:pPr>
            <a:endParaRPr lang="en-US" dirty="0">
              <a:latin typeface="Times New Roman" pitchFamily="18" charset="0"/>
              <a:cs typeface="Times New Roman" pitchFamily="18" charset="0"/>
            </a:endParaRPr>
          </a:p>
          <a:p>
            <a:pPr lvl="0" algn="just"/>
            <a:r>
              <a:rPr lang="en-US" dirty="0">
                <a:latin typeface="Times New Roman" pitchFamily="18" charset="0"/>
                <a:cs typeface="Times New Roman" pitchFamily="18" charset="0"/>
              </a:rPr>
              <a:t>The most efficient and effective method of conveying information to and within a development team is face-to-face conversation.</a:t>
            </a:r>
          </a:p>
          <a:p>
            <a:pPr algn="just">
              <a:lnSpc>
                <a:spcPct val="150000"/>
              </a:lnSpc>
            </a:pPr>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Characteristics of Agile Model</a:t>
            </a: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 name="Slide Number Placeholder 1">
            <a:extLst>
              <a:ext uri="{FF2B5EF4-FFF2-40B4-BE49-F238E27FC236}">
                <a16:creationId xmlns:a16="http://schemas.microsoft.com/office/drawing/2014/main" id="{2ACBEC18-2A5F-1A21-406D-0D52713F3CD1}"/>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4" name="Footer Placeholder 9">
            <a:extLst>
              <a:ext uri="{FF2B5EF4-FFF2-40B4-BE49-F238E27FC236}">
                <a16:creationId xmlns:a16="http://schemas.microsoft.com/office/drawing/2014/main" id="{C00F90FC-A845-BA9C-25FF-8CF28655B56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dirty="0">
                <a:latin typeface="Times New Roman" pitchFamily="18" charset="0"/>
                <a:cs typeface="Times New Roman" pitchFamily="18" charset="0"/>
              </a:rPr>
              <a:t>In Agile development, Design and Implementation are considered to be the central activities in the software process.</a:t>
            </a:r>
          </a:p>
          <a:p>
            <a:pPr lvl="0" algn="just"/>
            <a:r>
              <a:rPr lang="en-US" dirty="0">
                <a:latin typeface="Times New Roman" pitchFamily="18" charset="0"/>
                <a:cs typeface="Times New Roman" pitchFamily="18" charset="0"/>
              </a:rPr>
              <a:t>Design and Implementation phase also incorporate other activities such as requirements elicitation and testing into it.</a:t>
            </a:r>
          </a:p>
          <a:p>
            <a:pPr lvl="0" algn="just"/>
            <a:r>
              <a:rPr lang="en-US" dirty="0">
                <a:latin typeface="Times New Roman" pitchFamily="18" charset="0"/>
                <a:cs typeface="Times New Roman" pitchFamily="18" charset="0"/>
              </a:rPr>
              <a:t>In an agile approach, iteration occurs across activities. </a:t>
            </a:r>
          </a:p>
          <a:p>
            <a:pPr lvl="0" algn="just"/>
            <a:r>
              <a:rPr lang="en-US" dirty="0">
                <a:latin typeface="Times New Roman" pitchFamily="18" charset="0"/>
                <a:cs typeface="Times New Roman" pitchFamily="18" charset="0"/>
              </a:rPr>
              <a:t>Therefore, the requirements and the design are developed together, rather than separately.</a:t>
            </a:r>
          </a:p>
          <a:p>
            <a:pPr lvl="0" algn="just">
              <a:buNone/>
            </a:pPr>
            <a:r>
              <a:rPr lang="en-US" dirty="0">
                <a:latin typeface="Times New Roman" pitchFamily="18" charset="0"/>
                <a:cs typeface="Times New Roman" pitchFamily="18" charset="0"/>
              </a:rPr>
              <a:t>.</a:t>
            </a:r>
          </a:p>
          <a:p>
            <a:pPr algn="just">
              <a:buNone/>
            </a:pPr>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44952"/>
            <a:ext cx="10515600" cy="8457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Development Process in Agile</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9F243A88-2D7F-7476-987B-2C191E1D6E0F}"/>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4" name="Footer Placeholder 9">
            <a:extLst>
              <a:ext uri="{FF2B5EF4-FFF2-40B4-BE49-F238E27FC236}">
                <a16:creationId xmlns:a16="http://schemas.microsoft.com/office/drawing/2014/main" id="{06B51D71-184B-01AC-A0F2-1FE704B1607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dirty="0">
                <a:latin typeface="Times New Roman" pitchFamily="18" charset="0"/>
                <a:cs typeface="Times New Roman" pitchFamily="18" charset="0"/>
              </a:rPr>
              <a:t>The allocation of requirements and the design planning and development as executed in a series of increments. </a:t>
            </a:r>
          </a:p>
          <a:p>
            <a:pPr lvl="0" algn="just"/>
            <a:r>
              <a:rPr lang="en-US" dirty="0">
                <a:latin typeface="Times New Roman" pitchFamily="18" charset="0"/>
                <a:cs typeface="Times New Roman" pitchFamily="18" charset="0"/>
              </a:rPr>
              <a:t>In contrast with the conventional model, where requirements gathering needs to be completed in order to proceed to the design and development phase, it gives Agile development an extra level of flexibility.</a:t>
            </a:r>
          </a:p>
          <a:p>
            <a:pPr lvl="0" algn="just"/>
            <a:r>
              <a:rPr lang="en-US" dirty="0">
                <a:latin typeface="Times New Roman" pitchFamily="18" charset="0"/>
                <a:cs typeface="Times New Roman" pitchFamily="18" charset="0"/>
              </a:rPr>
              <a:t>An agile process focuses more on code development rather than documentation.</a:t>
            </a:r>
          </a:p>
          <a:p>
            <a:pPr algn="just">
              <a:buNone/>
            </a:pPr>
            <a:endParaRPr lang="en-US" sz="24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95423"/>
            <a:ext cx="10515600" cy="69526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Development Process in Agile</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AE8BB2EE-7DC6-65C0-5029-52350CD0D789}"/>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4" name="Footer Placeholder 9">
            <a:extLst>
              <a:ext uri="{FF2B5EF4-FFF2-40B4-BE49-F238E27FC236}">
                <a16:creationId xmlns:a16="http://schemas.microsoft.com/office/drawing/2014/main" id="{7BA56F5C-5986-9E98-F355-D5573CED947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lgn="just"/>
            <a:r>
              <a:rPr lang="en-US" dirty="0">
                <a:latin typeface="Times New Roman" pitchFamily="18" charset="0"/>
                <a:cs typeface="Times New Roman" pitchFamily="18" charset="0"/>
              </a:rPr>
              <a:t>Deployment of software is quicker and thus helps in increasing the trust of the customer.</a:t>
            </a:r>
          </a:p>
          <a:p>
            <a:pPr lvl="0" algn="just"/>
            <a:r>
              <a:rPr lang="en-US" dirty="0">
                <a:latin typeface="Times New Roman" pitchFamily="18" charset="0"/>
                <a:cs typeface="Times New Roman" pitchFamily="18" charset="0"/>
              </a:rPr>
              <a:t>Can better adapt to rapidly changing requirements and respond faster.</a:t>
            </a:r>
          </a:p>
          <a:p>
            <a:pPr lvl="0" algn="just"/>
            <a:r>
              <a:rPr lang="en-US" dirty="0">
                <a:latin typeface="Times New Roman" pitchFamily="18" charset="0"/>
                <a:cs typeface="Times New Roman" pitchFamily="18" charset="0"/>
              </a:rPr>
              <a:t>Helps in getting immediate feedback which can be used to improve the software in the next increment.</a:t>
            </a:r>
          </a:p>
          <a:p>
            <a:pPr lvl="0" algn="just"/>
            <a:r>
              <a:rPr lang="en-US" dirty="0">
                <a:latin typeface="Times New Roman" pitchFamily="18" charset="0"/>
                <a:cs typeface="Times New Roman" pitchFamily="18" charset="0"/>
              </a:rPr>
              <a:t>People – Not Process. People and interactions are given a higher priority rather than process and tools.</a:t>
            </a:r>
          </a:p>
          <a:p>
            <a:pPr lvl="0" algn="just"/>
            <a:r>
              <a:rPr lang="en-US" dirty="0">
                <a:latin typeface="Times New Roman" pitchFamily="18" charset="0"/>
                <a:cs typeface="Times New Roman" pitchFamily="18" charset="0"/>
              </a:rPr>
              <a:t>Continuous attention to technical excellence and good design.</a:t>
            </a:r>
          </a:p>
          <a:p>
            <a:pPr algn="just">
              <a:lnSpc>
                <a:spcPct val="150000"/>
              </a:lnSpc>
            </a:pPr>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79676"/>
            <a:ext cx="10515600" cy="8110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Advantages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6C98A117-B59E-1B8E-42EB-E7456147B373}"/>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4" name="Footer Placeholder 9">
            <a:extLst>
              <a:ext uri="{FF2B5EF4-FFF2-40B4-BE49-F238E27FC236}">
                <a16:creationId xmlns:a16="http://schemas.microsoft.com/office/drawing/2014/main" id="{3B9AF88C-869C-2236-4F0C-A7F39E0EA35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lgn="just"/>
            <a:r>
              <a:rPr lang="en-US" dirty="0">
                <a:latin typeface="Times New Roman" panose="02020603050405020304" pitchFamily="18" charset="0"/>
                <a:cs typeface="Times New Roman" panose="02020603050405020304" pitchFamily="18" charset="0"/>
              </a:rPr>
              <a:t>In case of large software projects, it is difficult to assess the effort required at the initial stages of the software development life cycle.</a:t>
            </a:r>
          </a:p>
          <a:p>
            <a:pPr lvl="0" algn="just"/>
            <a:endParaRPr lang="en-US"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The Agile Development is more code focused and produces less documentation.</a:t>
            </a:r>
          </a:p>
          <a:p>
            <a:pPr lvl="0" algn="just"/>
            <a:endParaRPr lang="en-US"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Agile development is heavily depended on the inputs of the customer. If the customer has ambiguity in his vision of the final outcome, it is highly likely for the project to get off track.</a:t>
            </a:r>
          </a:p>
          <a:p>
            <a:pPr algn="just">
              <a:buNone/>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83848"/>
            <a:ext cx="10515600" cy="7068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Disadvantages</a:t>
            </a:r>
            <a:br>
              <a:rPr lang="en-US" dirty="0">
                <a:solidFill>
                  <a:schemeClr val="tx1"/>
                </a:solidFill>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5DD6D7EE-6895-41B9-95FE-63B894BD352F}"/>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4" name="Footer Placeholder 9">
            <a:extLst>
              <a:ext uri="{FF2B5EF4-FFF2-40B4-BE49-F238E27FC236}">
                <a16:creationId xmlns:a16="http://schemas.microsoft.com/office/drawing/2014/main" id="{42E38E76-F202-BC27-FB5A-DEA7920DDF6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lgn="just"/>
            <a:r>
              <a:rPr lang="en-US" dirty="0">
                <a:latin typeface="Times New Roman" panose="02020603050405020304" pitchFamily="18" charset="0"/>
                <a:cs typeface="Times New Roman" panose="02020603050405020304" pitchFamily="18" charset="0"/>
              </a:rPr>
              <a:t>Face to Face communication is harder in large-scale organizations.</a:t>
            </a:r>
          </a:p>
          <a:p>
            <a:pPr lvl="0" algn="just"/>
            <a:r>
              <a:rPr lang="en-US" dirty="0">
                <a:latin typeface="Times New Roman" panose="02020603050405020304" pitchFamily="18" charset="0"/>
                <a:cs typeface="Times New Roman" panose="02020603050405020304" pitchFamily="18" charset="0"/>
              </a:rPr>
              <a:t>Only senior programmers are capable of taking the kind of decisions required during the development process. </a:t>
            </a:r>
          </a:p>
          <a:p>
            <a:pPr lvl="0" algn="just"/>
            <a:r>
              <a:rPr lang="en-US" dirty="0">
                <a:latin typeface="Times New Roman" panose="02020603050405020304" pitchFamily="18" charset="0"/>
                <a:cs typeface="Times New Roman" panose="02020603050405020304" pitchFamily="18" charset="0"/>
              </a:rPr>
              <a:t>Hence it’s a difficult situation for new programmers to adapt to the environment.</a:t>
            </a:r>
          </a:p>
          <a:p>
            <a:pPr algn="just"/>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83848"/>
            <a:ext cx="10515600" cy="7068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Disadvantages</a:t>
            </a:r>
            <a:br>
              <a:rPr lang="en-US" dirty="0">
                <a:solidFill>
                  <a:schemeClr val="tx1"/>
                </a:solidFill>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C805B292-05CB-30DC-3546-E3C9BEB61FD7}"/>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4" name="Footer Placeholder 9">
            <a:extLst>
              <a:ext uri="{FF2B5EF4-FFF2-40B4-BE49-F238E27FC236}">
                <a16:creationId xmlns:a16="http://schemas.microsoft.com/office/drawing/2014/main" id="{3ED6112D-625F-DD1E-25DD-EA4949D27FB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dirty="0">
                <a:latin typeface="Times New Roman" pitchFamily="18" charset="0"/>
                <a:cs typeface="Times New Roman" pitchFamily="18" charset="0"/>
              </a:rPr>
              <a:t>The V-model is a type of SDLC model where process executes in a sequential manner in V-shape. </a:t>
            </a:r>
          </a:p>
          <a:p>
            <a:pPr algn="just"/>
            <a:r>
              <a:rPr lang="en-US" dirty="0">
                <a:latin typeface="Times New Roman" pitchFamily="18" charset="0"/>
                <a:cs typeface="Times New Roman" pitchFamily="18" charset="0"/>
              </a:rPr>
              <a:t>It is based on the association of a testing phase for each corresponding development stage. </a:t>
            </a:r>
          </a:p>
          <a:p>
            <a:pPr algn="just"/>
            <a:r>
              <a:rPr lang="en-US" dirty="0">
                <a:latin typeface="Times New Roman" pitchFamily="18" charset="0"/>
                <a:cs typeface="Times New Roman" pitchFamily="18" charset="0"/>
              </a:rPr>
              <a:t>Development of each step directly associated with the testing phase.</a:t>
            </a:r>
          </a:p>
          <a:p>
            <a:pPr algn="just"/>
            <a:r>
              <a:rPr lang="en-US" dirty="0">
                <a:latin typeface="Times New Roman" pitchFamily="18" charset="0"/>
                <a:cs typeface="Times New Roman" pitchFamily="18" charset="0"/>
              </a:rPr>
              <a:t>The next phase starts only after completion of the previous phase i.e. for each development activity, there is a testing activity corresponding to it.</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49124"/>
            <a:ext cx="10515600" cy="74156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V Model</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7A89792E-C6FA-211D-2BE6-D3655D35A939}"/>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4" name="Footer Placeholder 9">
            <a:extLst>
              <a:ext uri="{FF2B5EF4-FFF2-40B4-BE49-F238E27FC236}">
                <a16:creationId xmlns:a16="http://schemas.microsoft.com/office/drawing/2014/main" id="{8FC48181-1758-766A-5F50-A32D40C98E7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pPr>
              <a:buNone/>
            </a:pPr>
            <a:r>
              <a:rPr lang="en-US" sz="1400" dirty="0">
                <a:latin typeface="Times New Roman" pitchFamily="18" charset="0"/>
                <a:cs typeface="Times New Roman" pitchFamily="18" charset="0"/>
              </a:rPr>
              <a:t>                                                                                                           </a:t>
            </a:r>
          </a:p>
          <a:p>
            <a:pPr>
              <a:buNone/>
            </a:pPr>
            <a:r>
              <a:rPr lang="en-US" sz="1400" dirty="0">
                <a:latin typeface="Times New Roman" pitchFamily="18" charset="0"/>
                <a:cs typeface="Times New Roman" pitchFamily="18" charset="0"/>
              </a:rPr>
              <a:t>						    Fig 1 V Model</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25975"/>
            <a:ext cx="10515600" cy="76471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V Model</a:t>
            </a:r>
          </a:p>
        </p:txBody>
      </p:sp>
      <p:pic>
        <p:nvPicPr>
          <p:cNvPr id="9" name="Picture 8"/>
          <p:cNvPicPr/>
          <p:nvPr/>
        </p:nvPicPr>
        <p:blipFill>
          <a:blip r:embed="rId2"/>
          <a:srcRect/>
          <a:stretch>
            <a:fillRect/>
          </a:stretch>
        </p:blipFill>
        <p:spPr bwMode="auto">
          <a:xfrm>
            <a:off x="3671887" y="1957387"/>
            <a:ext cx="5281613" cy="3529013"/>
          </a:xfrm>
          <a:prstGeom prst="rect">
            <a:avLst/>
          </a:prstGeom>
          <a:noFill/>
          <a:ln w="9525">
            <a:noFill/>
            <a:miter lim="800000"/>
            <a:headEnd/>
            <a:tailEnd/>
          </a:ln>
        </p:spPr>
      </p:pic>
      <p:sp>
        <p:nvSpPr>
          <p:cNvPr id="2" name="Slide Number Placeholder 1">
            <a:extLst>
              <a:ext uri="{FF2B5EF4-FFF2-40B4-BE49-F238E27FC236}">
                <a16:creationId xmlns:a16="http://schemas.microsoft.com/office/drawing/2014/main" id="{2541A7EC-FBA2-5240-D37F-101E507635C2}"/>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4" name="Footer Placeholder 9">
            <a:extLst>
              <a:ext uri="{FF2B5EF4-FFF2-40B4-BE49-F238E27FC236}">
                <a16:creationId xmlns:a16="http://schemas.microsoft.com/office/drawing/2014/main" id="{F9A924A6-7CEF-5B92-8BA3-5A1075DEA71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b="1" dirty="0">
                <a:latin typeface="Times New Roman" pitchFamily="18" charset="0"/>
                <a:cs typeface="Times New Roman" pitchFamily="18" charset="0"/>
              </a:rPr>
              <a:t>Requirement Analysis:</a:t>
            </a:r>
            <a:r>
              <a:rPr lang="en-US" dirty="0">
                <a:latin typeface="Times New Roman" pitchFamily="18" charset="0"/>
                <a:cs typeface="Times New Roman" pitchFamily="18" charset="0"/>
              </a:rPr>
              <a:t> </a:t>
            </a:r>
          </a:p>
          <a:p>
            <a:pPr lvl="0" algn="just"/>
            <a:r>
              <a:rPr lang="en-US" dirty="0">
                <a:latin typeface="Times New Roman" pitchFamily="18" charset="0"/>
                <a:cs typeface="Times New Roman" pitchFamily="18" charset="0"/>
              </a:rPr>
              <a:t>This phase contains detailed communication with the customer to understand their requirements and expectations. </a:t>
            </a:r>
          </a:p>
          <a:p>
            <a:pPr lvl="0" algn="just"/>
            <a:r>
              <a:rPr lang="en-US" dirty="0">
                <a:latin typeface="Times New Roman" pitchFamily="18" charset="0"/>
                <a:cs typeface="Times New Roman" pitchFamily="18" charset="0"/>
              </a:rPr>
              <a:t>This stage is known as Requirement Gathering.</a:t>
            </a:r>
          </a:p>
          <a:p>
            <a:pPr lvl="0" algn="just"/>
            <a:r>
              <a:rPr lang="en-US" b="1" dirty="0">
                <a:latin typeface="Times New Roman" pitchFamily="18" charset="0"/>
                <a:cs typeface="Times New Roman" pitchFamily="18" charset="0"/>
              </a:rPr>
              <a:t>System Design:</a:t>
            </a:r>
            <a:r>
              <a:rPr lang="en-US" dirty="0">
                <a:latin typeface="Times New Roman" pitchFamily="18" charset="0"/>
                <a:cs typeface="Times New Roman" pitchFamily="18" charset="0"/>
              </a:rPr>
              <a:t> </a:t>
            </a:r>
          </a:p>
          <a:p>
            <a:pPr lvl="0" algn="just"/>
            <a:r>
              <a:rPr lang="en-US" dirty="0">
                <a:latin typeface="Times New Roman" pitchFamily="18" charset="0"/>
                <a:cs typeface="Times New Roman" pitchFamily="18" charset="0"/>
              </a:rPr>
              <a:t>This phase contains the system design and the complete hardware and communication setup for developing product.</a:t>
            </a:r>
          </a:p>
          <a:p>
            <a:pPr algn="just">
              <a:buNone/>
            </a:pPr>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68101"/>
            <a:ext cx="10515600" cy="82258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Phases of V Model : Design Phase</a:t>
            </a:r>
          </a:p>
        </p:txBody>
      </p:sp>
      <p:sp>
        <p:nvSpPr>
          <p:cNvPr id="2" name="Slide Number Placeholder 1">
            <a:extLst>
              <a:ext uri="{FF2B5EF4-FFF2-40B4-BE49-F238E27FC236}">
                <a16:creationId xmlns:a16="http://schemas.microsoft.com/office/drawing/2014/main" id="{81300DB4-AA3D-7A21-F893-1976F7116399}"/>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4" name="Footer Placeholder 9">
            <a:extLst>
              <a:ext uri="{FF2B5EF4-FFF2-40B4-BE49-F238E27FC236}">
                <a16:creationId xmlns:a16="http://schemas.microsoft.com/office/drawing/2014/main" id="{6F5DE128-B6FF-E3C1-0381-B46523E1EA0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b="1" dirty="0">
                <a:latin typeface="Times New Roman" pitchFamily="18" charset="0"/>
                <a:cs typeface="Times New Roman" pitchFamily="18" charset="0"/>
              </a:rPr>
              <a:t>Architectural Design:</a:t>
            </a:r>
            <a:r>
              <a:rPr lang="en-US" dirty="0">
                <a:latin typeface="Times New Roman" pitchFamily="18" charset="0"/>
                <a:cs typeface="Times New Roman" pitchFamily="18" charset="0"/>
              </a:rPr>
              <a:t> System design is broken down further into modules taking up different functionalities.</a:t>
            </a:r>
          </a:p>
          <a:p>
            <a:pPr algn="just"/>
            <a:r>
              <a:rPr lang="en-US" dirty="0">
                <a:latin typeface="Times New Roman" pitchFamily="18" charset="0"/>
                <a:cs typeface="Times New Roman" pitchFamily="18" charset="0"/>
              </a:rPr>
              <a:t> The data transfer and communication between the internal modules and with the outside world (other systems) is clearly understood.</a:t>
            </a:r>
          </a:p>
          <a:p>
            <a:pPr lvl="0" algn="just"/>
            <a:endParaRPr lang="en-US" b="1" dirty="0">
              <a:latin typeface="Times New Roman" pitchFamily="18" charset="0"/>
              <a:cs typeface="Times New Roman" pitchFamily="18" charset="0"/>
            </a:endParaRPr>
          </a:p>
          <a:p>
            <a:pPr lvl="0" algn="just"/>
            <a:r>
              <a:rPr lang="en-US" b="1" dirty="0">
                <a:latin typeface="Times New Roman" pitchFamily="18" charset="0"/>
                <a:cs typeface="Times New Roman" pitchFamily="18" charset="0"/>
              </a:rPr>
              <a:t>Module Design:</a:t>
            </a:r>
            <a:r>
              <a:rPr lang="en-US" dirty="0">
                <a:latin typeface="Times New Roman" pitchFamily="18" charset="0"/>
                <a:cs typeface="Times New Roman" pitchFamily="18" charset="0"/>
              </a:rPr>
              <a:t> In this phase the system breaks down into small modules. The detailed design of modules is specified, also known as Low-Level Design (LLD).</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79676"/>
            <a:ext cx="10515600" cy="8110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Phases of V Model : Design Phase</a:t>
            </a:r>
            <a:endParaRPr lang="en-US" dirty="0">
              <a:solidFill>
                <a:schemeClr val="tx1"/>
              </a:solidFill>
              <a:latin typeface="Casper Bold"/>
            </a:endParaRPr>
          </a:p>
        </p:txBody>
      </p:sp>
      <p:sp>
        <p:nvSpPr>
          <p:cNvPr id="2" name="Slide Number Placeholder 1">
            <a:extLst>
              <a:ext uri="{FF2B5EF4-FFF2-40B4-BE49-F238E27FC236}">
                <a16:creationId xmlns:a16="http://schemas.microsoft.com/office/drawing/2014/main" id="{4F1B70CA-388A-D40D-0A32-60B93F16B9EA}"/>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4" name="Footer Placeholder 9">
            <a:extLst>
              <a:ext uri="{FF2B5EF4-FFF2-40B4-BE49-F238E27FC236}">
                <a16:creationId xmlns:a16="http://schemas.microsoft.com/office/drawing/2014/main" id="{B2B2D7E5-89B9-1918-9EDF-ED88AA11294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b="1" dirty="0">
                <a:latin typeface="Times New Roman" pitchFamily="18" charset="0"/>
                <a:cs typeface="Times New Roman" pitchFamily="18" charset="0"/>
              </a:rPr>
              <a:t>Unit Testing:</a:t>
            </a:r>
            <a:r>
              <a:rPr lang="en-US" dirty="0">
                <a:latin typeface="Times New Roman" pitchFamily="18" charset="0"/>
                <a:cs typeface="Times New Roman" pitchFamily="18" charset="0"/>
              </a:rPr>
              <a:t> Unit Test Plans are developed during module design phase. These Unit Test Plans are executed to eliminate bugs at code or unit level.</a:t>
            </a:r>
          </a:p>
          <a:p>
            <a:pPr lvl="0" algn="just">
              <a:buNone/>
            </a:pPr>
            <a:endParaRPr lang="en-US" dirty="0">
              <a:latin typeface="Times New Roman" pitchFamily="18" charset="0"/>
              <a:cs typeface="Times New Roman" pitchFamily="18" charset="0"/>
            </a:endParaRPr>
          </a:p>
          <a:p>
            <a:pPr lvl="0" algn="just"/>
            <a:r>
              <a:rPr lang="en-US" b="1" dirty="0">
                <a:latin typeface="Times New Roman" pitchFamily="18" charset="0"/>
                <a:cs typeface="Times New Roman" pitchFamily="18" charset="0"/>
              </a:rPr>
              <a:t>Integration testing:</a:t>
            </a:r>
            <a:r>
              <a:rPr lang="en-US" dirty="0">
                <a:latin typeface="Times New Roman" pitchFamily="18" charset="0"/>
                <a:cs typeface="Times New Roman" pitchFamily="18" charset="0"/>
              </a:rPr>
              <a:t> After completion of unit testing Integration testing is performed. In integration testing, the modules are integrated and the system is tested. Integration testing is performed on the Architecture design phase. This test verifies the communication of modules among themselves.</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60699"/>
            <a:ext cx="10515600" cy="72998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Phases of V Model : Testing Phase</a:t>
            </a:r>
            <a:endParaRPr lang="en-US" dirty="0">
              <a:solidFill>
                <a:schemeClr val="tx1"/>
              </a:solidFill>
              <a:latin typeface="Casper Bold"/>
            </a:endParaRPr>
          </a:p>
        </p:txBody>
      </p:sp>
      <p:sp>
        <p:nvSpPr>
          <p:cNvPr id="2" name="Slide Number Placeholder 1">
            <a:extLst>
              <a:ext uri="{FF2B5EF4-FFF2-40B4-BE49-F238E27FC236}">
                <a16:creationId xmlns:a16="http://schemas.microsoft.com/office/drawing/2014/main" id="{235B2D41-6155-B6F0-C944-6959D32724D1}"/>
              </a:ext>
            </a:extLst>
          </p:cNvPr>
          <p:cNvSpPr>
            <a:spLocks noGrp="1"/>
          </p:cNvSpPr>
          <p:nvPr>
            <p:ph type="sldNum" sz="quarter" idx="12"/>
          </p:nvPr>
        </p:nvSpPr>
        <p:spPr/>
        <p:txBody>
          <a:bodyPr/>
          <a:lstStyle/>
          <a:p>
            <a:fld id="{BDCDBBEF-AA6C-4BA6-85B2-A17D7F280E38}" type="slidenum">
              <a:rPr lang="en-US" smtClean="0"/>
              <a:pPr/>
              <a:t>18</a:t>
            </a:fld>
            <a:endParaRPr lang="en-US"/>
          </a:p>
        </p:txBody>
      </p:sp>
      <p:sp>
        <p:nvSpPr>
          <p:cNvPr id="4" name="Footer Placeholder 9">
            <a:extLst>
              <a:ext uri="{FF2B5EF4-FFF2-40B4-BE49-F238E27FC236}">
                <a16:creationId xmlns:a16="http://schemas.microsoft.com/office/drawing/2014/main" id="{08C49D61-1BDD-6024-D11B-03F3573CDFB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b="1" dirty="0">
                <a:latin typeface="Times New Roman" pitchFamily="18" charset="0"/>
                <a:cs typeface="Times New Roman" pitchFamily="18" charset="0"/>
              </a:rPr>
              <a:t>System Testing:</a:t>
            </a:r>
            <a:r>
              <a:rPr lang="en-US" dirty="0">
                <a:latin typeface="Times New Roman" pitchFamily="18" charset="0"/>
                <a:cs typeface="Times New Roman" pitchFamily="18" charset="0"/>
              </a:rPr>
              <a:t> System testing test the complete application with its functionality, inter dependency, and communication. It tests the functional and non-functional requirements of the developed application.</a:t>
            </a:r>
          </a:p>
          <a:p>
            <a:pPr lvl="0" algn="just"/>
            <a:r>
              <a:rPr lang="en-US" b="1" dirty="0">
                <a:latin typeface="Times New Roman" pitchFamily="18" charset="0"/>
                <a:cs typeface="Times New Roman" pitchFamily="18" charset="0"/>
              </a:rPr>
              <a:t>User Acceptance Testing (UAT):</a:t>
            </a:r>
            <a:r>
              <a:rPr lang="en-US" dirty="0">
                <a:latin typeface="Times New Roman" pitchFamily="18" charset="0"/>
                <a:cs typeface="Times New Roman" pitchFamily="18" charset="0"/>
              </a:rPr>
              <a:t> UAT is performed in a user environment that resembles the production environment. UAT verifies that the delivered system meets user’s requirement and system is ready for use in real world.</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14400"/>
            <a:ext cx="10515600" cy="7762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Phases of V Model : Testing Phase</a:t>
            </a:r>
            <a:endParaRPr lang="en-US" dirty="0">
              <a:solidFill>
                <a:schemeClr val="tx1"/>
              </a:solidFill>
              <a:latin typeface="Casper Bold"/>
            </a:endParaRPr>
          </a:p>
        </p:txBody>
      </p:sp>
      <p:sp>
        <p:nvSpPr>
          <p:cNvPr id="2" name="Slide Number Placeholder 1">
            <a:extLst>
              <a:ext uri="{FF2B5EF4-FFF2-40B4-BE49-F238E27FC236}">
                <a16:creationId xmlns:a16="http://schemas.microsoft.com/office/drawing/2014/main" id="{FC19BF2E-8256-F6A3-991D-8079AD73DC9F}"/>
              </a:ext>
            </a:extLst>
          </p:cNvPr>
          <p:cNvSpPr>
            <a:spLocks noGrp="1"/>
          </p:cNvSpPr>
          <p:nvPr>
            <p:ph type="sldNum" sz="quarter" idx="12"/>
          </p:nvPr>
        </p:nvSpPr>
        <p:spPr/>
        <p:txBody>
          <a:bodyPr/>
          <a:lstStyle/>
          <a:p>
            <a:fld id="{BDCDBBEF-AA6C-4BA6-85B2-A17D7F280E38}" type="slidenum">
              <a:rPr lang="en-US" smtClean="0"/>
              <a:pPr/>
              <a:t>19</a:t>
            </a:fld>
            <a:endParaRPr lang="en-US"/>
          </a:p>
        </p:txBody>
      </p:sp>
      <p:sp>
        <p:nvSpPr>
          <p:cNvPr id="4" name="Footer Placeholder 9">
            <a:extLst>
              <a:ext uri="{FF2B5EF4-FFF2-40B4-BE49-F238E27FC236}">
                <a16:creationId xmlns:a16="http://schemas.microsoft.com/office/drawing/2014/main" id="{AEC3075C-4716-C08B-4E5D-4F436B92E48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b="1" dirty="0">
                <a:latin typeface="Times New Roman" panose="02020603050405020304" pitchFamily="18" charset="0"/>
                <a:cs typeface="Times New Roman" panose="02020603050405020304" pitchFamily="18" charset="0"/>
              </a:rPr>
              <a:t>Large to Small:</a:t>
            </a:r>
            <a:r>
              <a:rPr lang="en-US" dirty="0">
                <a:latin typeface="Times New Roman" panose="02020603050405020304" pitchFamily="18" charset="0"/>
                <a:cs typeface="Times New Roman" panose="02020603050405020304" pitchFamily="18" charset="0"/>
              </a:rPr>
              <a:t> In V-Model, testing is done in a hierarchical perspective, For example, requirements identified by the project team, create High-Level Design, and Detailed Design phases of the project. As each of these phases is completed the requirements, they are defining become more and more refined and detailed.</a:t>
            </a:r>
          </a:p>
          <a:p>
            <a:pPr lvl="0" algn="just"/>
            <a:r>
              <a:rPr lang="en-US" b="1" dirty="0">
                <a:latin typeface="Times New Roman" panose="02020603050405020304" pitchFamily="18" charset="0"/>
                <a:cs typeface="Times New Roman" panose="02020603050405020304" pitchFamily="18" charset="0"/>
              </a:rPr>
              <a:t>Data/Process Integrity:</a:t>
            </a:r>
            <a:r>
              <a:rPr lang="en-US" dirty="0">
                <a:latin typeface="Times New Roman" panose="02020603050405020304" pitchFamily="18" charset="0"/>
                <a:cs typeface="Times New Roman" panose="02020603050405020304" pitchFamily="18" charset="0"/>
              </a:rPr>
              <a:t> This principle states that the successful design of any project requires the incorporation and cohesion of both data and processes. Process elements must be identified at each and every requirements.</a:t>
            </a:r>
          </a:p>
          <a:p>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60699"/>
            <a:ext cx="10515600" cy="72998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Principles of V-Model</a:t>
            </a:r>
          </a:p>
        </p:txBody>
      </p:sp>
      <p:sp>
        <p:nvSpPr>
          <p:cNvPr id="2" name="Slide Number Placeholder 1">
            <a:extLst>
              <a:ext uri="{FF2B5EF4-FFF2-40B4-BE49-F238E27FC236}">
                <a16:creationId xmlns:a16="http://schemas.microsoft.com/office/drawing/2014/main" id="{9B48D4EA-9FF8-BE00-3193-99256B9127DD}"/>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4" name="Footer Placeholder 9">
            <a:extLst>
              <a:ext uri="{FF2B5EF4-FFF2-40B4-BE49-F238E27FC236}">
                <a16:creationId xmlns:a16="http://schemas.microsoft.com/office/drawing/2014/main" id="{4989032B-9AC6-DA1F-C392-2EC1403EABF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Principles of V-Model</a:t>
            </a:r>
            <a:endParaRPr lang="en-US" dirty="0"/>
          </a:p>
        </p:txBody>
      </p:sp>
      <p:sp>
        <p:nvSpPr>
          <p:cNvPr id="3" name="Content Placeholder 2"/>
          <p:cNvSpPr>
            <a:spLocks noGrp="1"/>
          </p:cNvSpPr>
          <p:nvPr>
            <p:ph idx="1"/>
          </p:nvPr>
        </p:nvSpPr>
        <p:spPr/>
        <p:txBody>
          <a:bodyPr/>
          <a:lstStyle/>
          <a:p>
            <a:pPr lvl="0" algn="just"/>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This principle states that the V-Model concept has the flexibility to accommodate any IT project irrespective of its size, complexity or duration.</a:t>
            </a:r>
          </a:p>
          <a:p>
            <a:pPr lvl="0" algn="just"/>
            <a:r>
              <a:rPr lang="en-US" b="1" dirty="0">
                <a:latin typeface="Times New Roman" panose="02020603050405020304" pitchFamily="18" charset="0"/>
                <a:cs typeface="Times New Roman" panose="02020603050405020304" pitchFamily="18" charset="0"/>
              </a:rPr>
              <a:t>Cross Referencing:</a:t>
            </a:r>
            <a:r>
              <a:rPr lang="en-US" dirty="0">
                <a:latin typeface="Times New Roman" panose="02020603050405020304" pitchFamily="18" charset="0"/>
                <a:cs typeface="Times New Roman" panose="02020603050405020304" pitchFamily="18" charset="0"/>
              </a:rPr>
              <a:t> Direct correlation between requirements and corresponding testing activity is known as cross-referencing.</a:t>
            </a:r>
          </a:p>
          <a:p>
            <a:endParaRPr lang="en-US" dirty="0"/>
          </a:p>
        </p:txBody>
      </p:sp>
      <p:sp>
        <p:nvSpPr>
          <p:cNvPr id="5" name="Slide Number Placeholder 4">
            <a:extLst>
              <a:ext uri="{FF2B5EF4-FFF2-40B4-BE49-F238E27FC236}">
                <a16:creationId xmlns:a16="http://schemas.microsoft.com/office/drawing/2014/main" id="{684CF8B9-28B1-7D8A-8AF1-BE4AAD384A6F}"/>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4" name="Footer Placeholder 9">
            <a:extLst>
              <a:ext uri="{FF2B5EF4-FFF2-40B4-BE49-F238E27FC236}">
                <a16:creationId xmlns:a16="http://schemas.microsoft.com/office/drawing/2014/main" id="{08B2ABEC-4D75-E989-81D3-B7B52F843EC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Principles of V-Model</a:t>
            </a:r>
            <a:endParaRPr lang="en-US" dirty="0"/>
          </a:p>
        </p:txBody>
      </p:sp>
      <p:sp>
        <p:nvSpPr>
          <p:cNvPr id="3" name="Content Placeholder 2"/>
          <p:cNvSpPr>
            <a:spLocks noGrp="1"/>
          </p:cNvSpPr>
          <p:nvPr>
            <p:ph idx="1"/>
          </p:nvPr>
        </p:nvSpPr>
        <p:spPr/>
        <p:txBody>
          <a:bodyPr/>
          <a:lstStyle/>
          <a:p>
            <a:pPr lvl="0" algn="just"/>
            <a:r>
              <a:rPr lang="en-US" b="1" dirty="0">
                <a:latin typeface="Times New Roman" panose="02020603050405020304" pitchFamily="18" charset="0"/>
                <a:cs typeface="Times New Roman" panose="02020603050405020304" pitchFamily="18" charset="0"/>
              </a:rPr>
              <a:t>Tangible Documentation:</a:t>
            </a:r>
            <a:r>
              <a:rPr lang="en-US" dirty="0">
                <a:latin typeface="Times New Roman" panose="02020603050405020304" pitchFamily="18" charset="0"/>
                <a:cs typeface="Times New Roman" panose="02020603050405020304" pitchFamily="18" charset="0"/>
              </a:rPr>
              <a:t> This principle states that every project needs to create a document. This documentation is required and applied by both the project development team and the support team. Documentation is used to maintaining the application once it is available in a production environment.</a:t>
            </a:r>
          </a:p>
          <a:p>
            <a:endParaRPr lang="en-US" dirty="0"/>
          </a:p>
        </p:txBody>
      </p:sp>
      <p:sp>
        <p:nvSpPr>
          <p:cNvPr id="5" name="Slide Number Placeholder 4">
            <a:extLst>
              <a:ext uri="{FF2B5EF4-FFF2-40B4-BE49-F238E27FC236}">
                <a16:creationId xmlns:a16="http://schemas.microsoft.com/office/drawing/2014/main" id="{3FD08AEB-F4BB-6FDA-918E-569859A0F9BC}"/>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4" name="Footer Placeholder 9">
            <a:extLst>
              <a:ext uri="{FF2B5EF4-FFF2-40B4-BE49-F238E27FC236}">
                <a16:creationId xmlns:a16="http://schemas.microsoft.com/office/drawing/2014/main" id="{19EDEFAA-69CE-DA9E-9DB7-22842DC61B4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Preferred</a:t>
            </a:r>
          </a:p>
        </p:txBody>
      </p:sp>
      <p:sp>
        <p:nvSpPr>
          <p:cNvPr id="3" name="Content Placeholder 2"/>
          <p:cNvSpPr>
            <a:spLocks noGrp="1"/>
          </p:cNvSpPr>
          <p:nvPr>
            <p:ph idx="1"/>
          </p:nvPr>
        </p:nvSpPr>
        <p:spPr/>
        <p:txBody>
          <a:bodyPr/>
          <a:lstStyle/>
          <a:p>
            <a:pPr lvl="0" algn="just"/>
            <a:r>
              <a:rPr lang="en-US" dirty="0">
                <a:latin typeface="Times New Roman" panose="02020603050405020304" pitchFamily="18" charset="0"/>
                <a:cs typeface="Times New Roman" panose="02020603050405020304" pitchFamily="18" charset="0"/>
              </a:rPr>
              <a:t>It is easy to manage due to the rigidity of the model. Each phase of V-Model has specific deliverables and a review process.</a:t>
            </a:r>
          </a:p>
          <a:p>
            <a:pPr lvl="0" algn="just"/>
            <a:r>
              <a:rPr lang="en-US" dirty="0">
                <a:latin typeface="Times New Roman" panose="02020603050405020304" pitchFamily="18" charset="0"/>
                <a:cs typeface="Times New Roman" panose="02020603050405020304" pitchFamily="18" charset="0"/>
              </a:rPr>
              <a:t>Proactive defect tracking – that is defects are found at early stage.</a:t>
            </a:r>
          </a:p>
          <a:p>
            <a:endParaRPr lang="en-US" dirty="0"/>
          </a:p>
        </p:txBody>
      </p:sp>
      <p:sp>
        <p:nvSpPr>
          <p:cNvPr id="5" name="Slide Number Placeholder 4">
            <a:extLst>
              <a:ext uri="{FF2B5EF4-FFF2-40B4-BE49-F238E27FC236}">
                <a16:creationId xmlns:a16="http://schemas.microsoft.com/office/drawing/2014/main" id="{42A35902-CAB1-C6ED-1BD9-2015033B5778}"/>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4" name="Footer Placeholder 9">
            <a:extLst>
              <a:ext uri="{FF2B5EF4-FFF2-40B4-BE49-F238E27FC236}">
                <a16:creationId xmlns:a16="http://schemas.microsoft.com/office/drawing/2014/main" id="{26EB13E1-E513-4214-D543-5B65D963DCE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r>
              <a:rPr lang="en-US" dirty="0">
                <a:latin typeface="Times New Roman" pitchFamily="18" charset="0"/>
                <a:cs typeface="Times New Roman" pitchFamily="18" charset="0"/>
              </a:rPr>
              <a:t>Where requirements are clearly defined and fixed.</a:t>
            </a:r>
          </a:p>
          <a:p>
            <a:pPr lvl="0" algn="just">
              <a:buNone/>
            </a:pPr>
            <a:endParaRPr lang="en-US" dirty="0">
              <a:latin typeface="Times New Roman" pitchFamily="18" charset="0"/>
              <a:cs typeface="Times New Roman" pitchFamily="18" charset="0"/>
            </a:endParaRPr>
          </a:p>
          <a:p>
            <a:pPr lvl="0" algn="just"/>
            <a:r>
              <a:rPr lang="en-US" dirty="0">
                <a:latin typeface="Times New Roman" pitchFamily="18" charset="0"/>
                <a:cs typeface="Times New Roman" pitchFamily="18" charset="0"/>
              </a:rPr>
              <a:t>The V-Model is used when ample technical resources are available with technical expertise.</a:t>
            </a:r>
          </a:p>
          <a:p>
            <a:pPr algn="just"/>
            <a:endParaRPr lang="en-US"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83848"/>
            <a:ext cx="10515600" cy="7068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b="1" dirty="0">
                <a:solidFill>
                  <a:schemeClr val="tx1"/>
                </a:solidFill>
                <a:latin typeface="Times New Roman" pitchFamily="18" charset="0"/>
                <a:cs typeface="Times New Roman" pitchFamily="18" charset="0"/>
              </a:rPr>
              <a:t>When to use?</a:t>
            </a: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7E18F2BB-8138-AA36-107F-C97C7C475F4F}"/>
              </a:ext>
            </a:extLst>
          </p:cNvPr>
          <p:cNvSpPr>
            <a:spLocks noGrp="1"/>
          </p:cNvSpPr>
          <p:nvPr>
            <p:ph type="sldNum" sz="quarter" idx="12"/>
          </p:nvPr>
        </p:nvSpPr>
        <p:spPr/>
        <p:txBody>
          <a:bodyPr/>
          <a:lstStyle/>
          <a:p>
            <a:fld id="{BDCDBBEF-AA6C-4BA6-85B2-A17D7F280E38}" type="slidenum">
              <a:rPr lang="en-US" smtClean="0"/>
              <a:pPr/>
              <a:t>24</a:t>
            </a:fld>
            <a:endParaRPr lang="en-US"/>
          </a:p>
        </p:txBody>
      </p:sp>
      <p:sp>
        <p:nvSpPr>
          <p:cNvPr id="4" name="Footer Placeholder 9">
            <a:extLst>
              <a:ext uri="{FF2B5EF4-FFF2-40B4-BE49-F238E27FC236}">
                <a16:creationId xmlns:a16="http://schemas.microsoft.com/office/drawing/2014/main" id="{79D25343-14FC-99B1-68F7-18FFB283078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0087"/>
            <a:ext cx="10515600" cy="990601"/>
          </a:xfrm>
        </p:spPr>
        <p:txBody>
          <a:bodyPr>
            <a:normAutofit fontScale="90000"/>
          </a:bodyPr>
          <a:lstStyle/>
          <a:p>
            <a:pPr algn="ctr"/>
            <a:r>
              <a:rPr lang="en-US" b="1" dirty="0">
                <a:latin typeface="Times New Roman" pitchFamily="18" charset="0"/>
                <a:cs typeface="Times New Roman" pitchFamily="18" charset="0"/>
              </a:rPr>
              <a:t>Advantages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57250" y="1806575"/>
            <a:ext cx="10515600" cy="4351338"/>
          </a:xfrm>
        </p:spPr>
        <p:txBody>
          <a:bodyPr>
            <a:normAutofit/>
          </a:bodyPr>
          <a:lstStyle/>
          <a:p>
            <a:pPr lvl="0" algn="just"/>
            <a:r>
              <a:rPr lang="en-US" dirty="0">
                <a:latin typeface="Times New Roman" pitchFamily="18" charset="0"/>
                <a:cs typeface="Times New Roman" pitchFamily="18" charset="0"/>
              </a:rPr>
              <a:t>This is a highly disciplined model and Phases are completed one at a time.</a:t>
            </a:r>
          </a:p>
          <a:p>
            <a:pPr lvl="0" algn="just"/>
            <a:r>
              <a:rPr lang="en-US" dirty="0">
                <a:latin typeface="Times New Roman" pitchFamily="18" charset="0"/>
                <a:cs typeface="Times New Roman" pitchFamily="18" charset="0"/>
              </a:rPr>
              <a:t>V-Model is used for small projects where project requirements are clear.</a:t>
            </a:r>
          </a:p>
          <a:p>
            <a:pPr lvl="0" algn="just"/>
            <a:r>
              <a:rPr lang="en-US" dirty="0">
                <a:latin typeface="Times New Roman" pitchFamily="18" charset="0"/>
                <a:cs typeface="Times New Roman" pitchFamily="18" charset="0"/>
              </a:rPr>
              <a:t>Simple and easy to understand and use.</a:t>
            </a:r>
          </a:p>
          <a:p>
            <a:pPr lvl="0" algn="just"/>
            <a:r>
              <a:rPr lang="en-US" dirty="0">
                <a:latin typeface="Times New Roman" pitchFamily="18" charset="0"/>
                <a:cs typeface="Times New Roman" pitchFamily="18" charset="0"/>
              </a:rPr>
              <a:t>This model focuses on verification and validation activities early in the life cycle thereby enhancing the probability of building an error-free and good quality product.</a:t>
            </a:r>
          </a:p>
          <a:p>
            <a:pPr lvl="0" algn="just"/>
            <a:r>
              <a:rPr lang="en-US" dirty="0">
                <a:latin typeface="Times New Roman" pitchFamily="18" charset="0"/>
                <a:cs typeface="Times New Roman" pitchFamily="18" charset="0"/>
              </a:rPr>
              <a:t>It enables project management to track progress accurately.</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
        <p:nvSpPr>
          <p:cNvPr id="6" name="Rectangle 5"/>
          <p:cNvSpPr/>
          <p:nvPr/>
        </p:nvSpPr>
        <p:spPr>
          <a:xfrm>
            <a:off x="819150" y="1714500"/>
            <a:ext cx="10610850" cy="4457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81050" y="700087"/>
            <a:ext cx="10591800" cy="8239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8A540E31-12A7-071E-731D-38F234E93332}"/>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4" name="Footer Placeholder 9">
            <a:extLst>
              <a:ext uri="{FF2B5EF4-FFF2-40B4-BE49-F238E27FC236}">
                <a16:creationId xmlns:a16="http://schemas.microsoft.com/office/drawing/2014/main" id="{28B651CC-C8B7-ABDF-CBFB-16EFDBD466C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6527"/>
            <a:ext cx="10515600" cy="834161"/>
          </a:xfrm>
        </p:spPr>
        <p:txBody>
          <a:bodyPr>
            <a:normAutofit fontScale="90000"/>
          </a:bodyPr>
          <a:lstStyle/>
          <a:p>
            <a:pPr algn="ct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Disadvantages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lvl="0" algn="just"/>
            <a:r>
              <a:rPr lang="en-US" dirty="0">
                <a:latin typeface="Times New Roman" pitchFamily="18" charset="0"/>
                <a:cs typeface="Times New Roman" pitchFamily="18" charset="0"/>
              </a:rPr>
              <a:t>High risk and uncertainty.</a:t>
            </a:r>
          </a:p>
          <a:p>
            <a:pPr lvl="0" algn="just"/>
            <a:r>
              <a:rPr lang="en-US" dirty="0">
                <a:latin typeface="Times New Roman" pitchFamily="18" charset="0"/>
                <a:cs typeface="Times New Roman" pitchFamily="18" charset="0"/>
              </a:rPr>
              <a:t>It is not a good for complex and object-oriented projects.</a:t>
            </a:r>
          </a:p>
          <a:p>
            <a:pPr lvl="0" algn="just"/>
            <a:r>
              <a:rPr lang="en-US" dirty="0">
                <a:latin typeface="Times New Roman" pitchFamily="18" charset="0"/>
                <a:cs typeface="Times New Roman" pitchFamily="18" charset="0"/>
              </a:rPr>
              <a:t>It is not suitable for projects where requirements are not clear and contains high risk of changing.</a:t>
            </a:r>
          </a:p>
          <a:p>
            <a:pPr lvl="0" algn="just"/>
            <a:r>
              <a:rPr lang="en-US" dirty="0">
                <a:latin typeface="Times New Roman" pitchFamily="18" charset="0"/>
                <a:cs typeface="Times New Roman" pitchFamily="18" charset="0"/>
              </a:rPr>
              <a:t>This model does not support iteration of phases.</a:t>
            </a:r>
          </a:p>
          <a:p>
            <a:pPr lvl="0" algn="just"/>
            <a:r>
              <a:rPr lang="en-US" dirty="0">
                <a:latin typeface="Times New Roman" pitchFamily="18" charset="0"/>
                <a:cs typeface="Times New Roman" pitchFamily="18" charset="0"/>
              </a:rPr>
              <a:t>It does not easily handle concurrent events.</a:t>
            </a:r>
          </a:p>
          <a:p>
            <a:pPr algn="just">
              <a:buNone/>
            </a:pPr>
            <a:endParaRPr lang="en-US" dirty="0">
              <a:latin typeface="Times New Roman" pitchFamily="18" charset="0"/>
              <a:cs typeface="Times New Roman" pitchFamily="18" charset="0"/>
            </a:endParaRPr>
          </a:p>
        </p:txBody>
      </p:sp>
      <p:sp>
        <p:nvSpPr>
          <p:cNvPr id="5" name="Rectangle 4"/>
          <p:cNvSpPr/>
          <p:nvPr/>
        </p:nvSpPr>
        <p:spPr>
          <a:xfrm>
            <a:off x="857250" y="983848"/>
            <a:ext cx="10629900" cy="7497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866900"/>
            <a:ext cx="10725150" cy="38481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312C4DB3-10BC-B68F-D3FC-66281FB4F7E5}"/>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4" name="Footer Placeholder 9">
            <a:extLst>
              <a:ext uri="{FF2B5EF4-FFF2-40B4-BE49-F238E27FC236}">
                <a16:creationId xmlns:a16="http://schemas.microsoft.com/office/drawing/2014/main" id="{606F3EA4-EF5B-52C0-5C3C-3BFB25CF610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https://stackify.com/agile-methodology/#:~:text=Examples%20of%20Agile%20Methodology,pick%20one%20or%20two%20methods.</a:t>
            </a:r>
            <a:endParaRPr lang="en-US" dirty="0">
              <a:hlinkClick r:id="rId3"/>
            </a:endParaRPr>
          </a:p>
          <a:p>
            <a:r>
              <a:rPr lang="en-US" dirty="0">
                <a:hlinkClick r:id="rId3"/>
              </a:rPr>
              <a:t>https://nptel.ac.in/courses/106/105/106105182/</a:t>
            </a:r>
            <a:endParaRPr lang="en-US" dirty="0">
              <a:hlinkClick r:id="rId4"/>
            </a:endParaRPr>
          </a:p>
          <a:p>
            <a:r>
              <a:rPr lang="en-US" dirty="0">
                <a:hlinkClick r:id="rId5"/>
              </a:rPr>
              <a:t>https://www.agilealliance.org/agile101/</a:t>
            </a:r>
            <a:endParaRPr lang="en-US" dirty="0"/>
          </a:p>
          <a:p>
            <a:r>
              <a:rPr lang="en-US" dirty="0">
                <a:hlinkClick r:id="rId6"/>
              </a:rPr>
              <a:t>https://www.visual-paradigm.com/scrum/what-is-agile-software-development/</a:t>
            </a:r>
            <a:endParaRPr lang="en-US" dirty="0"/>
          </a:p>
          <a:p>
            <a:r>
              <a:rPr lang="en-US" dirty="0"/>
              <a:t>Image Reference </a:t>
            </a:r>
            <a:r>
              <a:rPr lang="en-US" dirty="0">
                <a:hlinkClick r:id="rId7"/>
              </a:rPr>
              <a:t>https://resources.collab.net/agile-101/agile-methodologies</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2825"/>
            <a:ext cx="10515600" cy="78786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5F3F0DE2-1174-C3F1-FA89-74FB4DF7ECDB}"/>
              </a:ext>
            </a:extLst>
          </p:cNvPr>
          <p:cNvSpPr>
            <a:spLocks noGrp="1"/>
          </p:cNvSpPr>
          <p:nvPr>
            <p:ph type="sldNum" sz="quarter" idx="12"/>
          </p:nvPr>
        </p:nvSpPr>
        <p:spPr/>
        <p:txBody>
          <a:bodyPr/>
          <a:lstStyle/>
          <a:p>
            <a:fld id="{BDCDBBEF-AA6C-4BA6-85B2-A17D7F280E38}" type="slidenum">
              <a:rPr lang="en-US" smtClean="0"/>
              <a:pPr/>
              <a:t>27</a:t>
            </a:fld>
            <a:endParaRPr lang="en-US"/>
          </a:p>
        </p:txBody>
      </p:sp>
      <p:sp>
        <p:nvSpPr>
          <p:cNvPr id="4" name="Footer Placeholder 9">
            <a:extLst>
              <a:ext uri="{FF2B5EF4-FFF2-40B4-BE49-F238E27FC236}">
                <a16:creationId xmlns:a16="http://schemas.microsoft.com/office/drawing/2014/main" id="{74F14B44-97AE-4476-39E5-61E2F357469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Slide Number Placeholder 1">
            <a:extLst>
              <a:ext uri="{FF2B5EF4-FFF2-40B4-BE49-F238E27FC236}">
                <a16:creationId xmlns:a16="http://schemas.microsoft.com/office/drawing/2014/main" id="{E5CD2687-7478-7876-F5B5-7DE0535738AF}"/>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28</a:t>
            </a:fld>
            <a:endParaRPr lang="en-US">
              <a:solidFill>
                <a:prstClr val="black">
                  <a:tint val="75000"/>
                </a:prstClr>
              </a:solidFill>
            </a:endParaRPr>
          </a:p>
        </p:txBody>
      </p:sp>
      <p:sp>
        <p:nvSpPr>
          <p:cNvPr id="3" name="Footer Placeholder 9">
            <a:extLst>
              <a:ext uri="{FF2B5EF4-FFF2-40B4-BE49-F238E27FC236}">
                <a16:creationId xmlns:a16="http://schemas.microsoft.com/office/drawing/2014/main" id="{F53129CA-83BA-A617-5256-88D09ABB7E5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1571</TotalTime>
  <Words>1930</Words>
  <Application>Microsoft Macintosh PowerPoint</Application>
  <PresentationFormat>Widescreen</PresentationFormat>
  <Paragraphs>200</Paragraphs>
  <Slides>28</Slides>
  <Notes>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8" baseType="lpstr">
      <vt:lpstr>Arial</vt:lpstr>
      <vt:lpstr>Arial Black</vt:lpstr>
      <vt:lpstr>Calibri</vt:lpstr>
      <vt:lpstr>Calibri Light</vt:lpstr>
      <vt:lpstr>Casper</vt:lpstr>
      <vt:lpstr>Casper Bold</vt:lpstr>
      <vt:lpstr>Times New Roman</vt:lpstr>
      <vt:lpstr>1_Office Theme</vt:lpstr>
      <vt:lpstr>Contents Slide Master</vt:lpstr>
      <vt:lpstr>CorelDRAW</vt:lpstr>
      <vt:lpstr>PowerPoint Presentation</vt:lpstr>
      <vt:lpstr>Introduction to Software Engineering </vt:lpstr>
      <vt:lpstr>Topics covered</vt:lpstr>
      <vt:lpstr> Agile software Development</vt:lpstr>
      <vt:lpstr> Why Agile? </vt:lpstr>
      <vt:lpstr>Why Agile?</vt:lpstr>
      <vt:lpstr> Characteristics of Agile Model </vt:lpstr>
      <vt:lpstr>Characteristics of Agile Model</vt:lpstr>
      <vt:lpstr> Development Process in Agile </vt:lpstr>
      <vt:lpstr> Development Process in Agile </vt:lpstr>
      <vt:lpstr> Advantages </vt:lpstr>
      <vt:lpstr> Disadvantages </vt:lpstr>
      <vt:lpstr> Disadvantages </vt:lpstr>
      <vt:lpstr> V Model </vt:lpstr>
      <vt:lpstr>V Model</vt:lpstr>
      <vt:lpstr>Phases of V Model : Design Phase</vt:lpstr>
      <vt:lpstr>Phases of V Model : Design Phase</vt:lpstr>
      <vt:lpstr>Phases of V Model : Testing Phase</vt:lpstr>
      <vt:lpstr>Phases of V Model : Testing Phase</vt:lpstr>
      <vt:lpstr>Principles of V-Model</vt:lpstr>
      <vt:lpstr>Principles of V-Model</vt:lpstr>
      <vt:lpstr>Principles of V-Model</vt:lpstr>
      <vt:lpstr>Why Preferred</vt:lpstr>
      <vt:lpstr>When to use?</vt:lpstr>
      <vt:lpstr>Advantages </vt:lpstr>
      <vt:lpstr> Disadvantages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225</cp:revision>
  <dcterms:created xsi:type="dcterms:W3CDTF">2019-01-09T10:33:58Z</dcterms:created>
  <dcterms:modified xsi:type="dcterms:W3CDTF">2024-12-20T08:09:00Z</dcterms:modified>
</cp:coreProperties>
</file>