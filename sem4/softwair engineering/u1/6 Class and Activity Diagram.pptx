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20"/>
  </p:notesMasterIdLst>
  <p:handoutMasterIdLst>
    <p:handoutMasterId r:id="rId21"/>
  </p:handoutMasterIdLst>
  <p:sldIdLst>
    <p:sldId id="662" r:id="rId3"/>
    <p:sldId id="280" r:id="rId4"/>
    <p:sldId id="327" r:id="rId5"/>
    <p:sldId id="345" r:id="rId6"/>
    <p:sldId id="350" r:id="rId7"/>
    <p:sldId id="359" r:id="rId8"/>
    <p:sldId id="347" r:id="rId9"/>
    <p:sldId id="354" r:id="rId10"/>
    <p:sldId id="351" r:id="rId11"/>
    <p:sldId id="353" r:id="rId12"/>
    <p:sldId id="352" r:id="rId13"/>
    <p:sldId id="360" r:id="rId14"/>
    <p:sldId id="355" r:id="rId15"/>
    <p:sldId id="357" r:id="rId16"/>
    <p:sldId id="356" r:id="rId17"/>
    <p:sldId id="284" r:id="rId18"/>
    <p:sldId id="279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3F5B"/>
    <a:srgbClr val="ED8137"/>
    <a:srgbClr val="BC8F00"/>
    <a:srgbClr val="860000"/>
    <a:srgbClr val="00B0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9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416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12/10/24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FB3ACE-D620-4EC3-88A7-3E317E64F19F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12/10/24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4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 cstate="print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3F1C9C-0787-0E0A-A7CC-26C1BBE3717D}"/>
              </a:ext>
            </a:extLst>
          </p:cNvPr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8" name="Picture 7" descr="National Board of Accreditation - Wikipedia">
            <a:extLst>
              <a:ext uri="{FF2B5EF4-FFF2-40B4-BE49-F238E27FC236}">
                <a16:creationId xmlns:a16="http://schemas.microsoft.com/office/drawing/2014/main" id="{38DB3545-3256-840B-8507-D4EBBCEA547C}"/>
              </a:ext>
            </a:extLst>
          </p:cNvPr>
          <p:cNvPicPr/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44983EF-7EB9-A52F-6FA2-C8D201BE45D4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ml.org/" TargetMode="External"/><Relationship Id="rId2" Type="http://schemas.openxmlformats.org/officeDocument/2006/relationships/hyperlink" Target="https://www.geeksforgeeks.org/unified-modeling-language-uml-introduction/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93;p1"/>
          <p:cNvSpPr/>
          <p:nvPr/>
        </p:nvSpPr>
        <p:spPr>
          <a:xfrm>
            <a:off x="501445" y="4837797"/>
            <a:ext cx="10958052" cy="15185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62662" y="4891470"/>
            <a:ext cx="4156822" cy="1236591"/>
          </a:xfrm>
        </p:spPr>
        <p:txBody>
          <a:bodyPr>
            <a:noAutofit/>
          </a:bodyPr>
          <a:lstStyle/>
          <a:p>
            <a:pPr algn="l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Er. Jagmeet Kaur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E8387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</a:p>
          <a:p>
            <a:pPr algn="l"/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CSE </a:t>
            </a:r>
          </a:p>
        </p:txBody>
      </p:sp>
      <p:sp>
        <p:nvSpPr>
          <p:cNvPr id="7" name="Google Shape;100;p1"/>
          <p:cNvSpPr/>
          <p:nvPr/>
        </p:nvSpPr>
        <p:spPr>
          <a:xfrm flipH="1">
            <a:off x="9344623" y="4901508"/>
            <a:ext cx="2466377" cy="1712909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lIns="75585" tIns="37782" rIns="75585" bIns="37782" anchor="ctr"/>
          <a:lstStyle/>
          <a:p>
            <a:pPr algn="ctr">
              <a:defRPr/>
            </a:pPr>
            <a:endParaRPr sz="1488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01;p1"/>
          <p:cNvSpPr txBox="1"/>
          <p:nvPr/>
        </p:nvSpPr>
        <p:spPr>
          <a:xfrm>
            <a:off x="7158646" y="5490468"/>
            <a:ext cx="4075113" cy="534988"/>
          </a:xfrm>
          <a:prstGeom prst="rect">
            <a:avLst/>
          </a:prstGeom>
          <a:noFill/>
          <a:ln>
            <a:noFill/>
          </a:ln>
        </p:spPr>
        <p:txBody>
          <a:bodyPr spcFirstLastPara="1" lIns="75585" tIns="37782" rIns="75585" bIns="37782">
            <a:spAutoFit/>
          </a:bodyPr>
          <a:lstStyle/>
          <a:p>
            <a:pPr>
              <a:defRPr/>
            </a:pP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DISCOVER . </a:t>
            </a:r>
            <a:r>
              <a:rPr lang="en-US" sz="1653" b="1" dirty="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LEARN</a:t>
            </a:r>
            <a:r>
              <a:rPr lang="en-US" sz="1653" b="1" dirty="0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 . EMPOWER</a:t>
            </a:r>
            <a:endParaRPr sz="992" b="1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defRPr/>
            </a:pPr>
            <a:endParaRPr sz="1323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94;p1"/>
          <p:cNvSpPr/>
          <p:nvPr/>
        </p:nvSpPr>
        <p:spPr>
          <a:xfrm>
            <a:off x="1826198" y="5901986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03;p1"/>
          <p:cNvSpPr txBox="1"/>
          <p:nvPr/>
        </p:nvSpPr>
        <p:spPr>
          <a:xfrm>
            <a:off x="910729" y="1207782"/>
            <a:ext cx="9722858" cy="28438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University Institute of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OF COMPUTER SCIENCE &amp;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Name: Software Engineering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Code: 23CST-206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09/12/24</a:t>
            </a:r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3446" y="0"/>
            <a:ext cx="882927" cy="785252"/>
          </a:xfrm>
          <a:prstGeom prst="rect">
            <a:avLst/>
          </a:prstGeom>
        </p:spPr>
      </p:pic>
      <p:pic>
        <p:nvPicPr>
          <p:cNvPr id="15" name="Picture 14" descr="National Board of Accreditation - Wikipedia"/>
          <p:cNvPicPr/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6373" y="49261"/>
            <a:ext cx="975818" cy="68834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9AAA74D-A8A2-1D79-E57D-BE2ABF9F41F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72191" y="58916"/>
            <a:ext cx="2019808" cy="641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94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958851"/>
          </a:xfrm>
        </p:spPr>
        <p:txBody>
          <a:bodyPr>
            <a:noAutofit/>
          </a:bodyPr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Topics covered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Interaction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Activity Diagram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State Chart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806824"/>
            <a:ext cx="10515600" cy="81718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86349CA3-B535-2AF4-C76C-424EA44F5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8237023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925158"/>
            <a:ext cx="10515600" cy="76553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Interaction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purpose of interaction diagram is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capture the dynamic behavior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describe the message flow in the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describe the structural organization of the objects.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describe the interaction among objects.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F61100E4-A36C-05D0-A629-C562C1042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60612"/>
            <a:ext cx="10515600" cy="830076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Interaction Diagram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Following things are to be identified clearly before drawing the interaction diagram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Objects taking part in the interaction.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Message flows among the objects.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sequence in which the messages are flowing.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Object organization.</a:t>
            </a: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11D0F832-E0A7-B599-3D5F-FBA1F357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796066"/>
            <a:ext cx="10515600" cy="894622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Interaction Diagram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900753" y="925158"/>
            <a:ext cx="10617958" cy="67163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2513" y="1828800"/>
            <a:ext cx="10795380" cy="4476466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Content Placeholder 6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670980" y="2019869"/>
            <a:ext cx="6937044" cy="42308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Footer Placeholder 9">
            <a:extLst>
              <a:ext uri="{FF2B5EF4-FFF2-40B4-BE49-F238E27FC236}">
                <a16:creationId xmlns:a16="http://schemas.microsoft.com/office/drawing/2014/main" id="{5782B74D-80A9-12EF-6F5D-353373A7E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39096"/>
            <a:ext cx="10515600" cy="851592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Behavior Diagrams</a:t>
            </a:r>
            <a:endParaRPr lang="en-US" dirty="0"/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 fontAlgn="base"/>
            <a:r>
              <a:rPr lang="en-US" b="1" dirty="0">
                <a:latin typeface="Times New Roman" pitchFamily="18" charset="0"/>
                <a:cs typeface="Times New Roman" pitchFamily="18" charset="0"/>
              </a:rPr>
              <a:t>Activity Diagrams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use Activity Diagrams to illustrate the flow of control in a system. 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We can also use an activity diagram to refer to the steps involved in the execution of a use case.</a:t>
            </a:r>
          </a:p>
          <a:p>
            <a:pPr lvl="0" algn="just" fontAlgn="base"/>
            <a:r>
              <a:rPr lang="en-US" dirty="0">
                <a:latin typeface="Times New Roman" pitchFamily="18" charset="0"/>
                <a:cs typeface="Times New Roman" pitchFamily="18" charset="0"/>
              </a:rPr>
              <a:t> We model sequential and concurrent activities using activity diagrams. describe or depict what causes a particular event using an activity diagram.</a:t>
            </a:r>
          </a:p>
          <a:p>
            <a:pPr algn="just">
              <a:buNone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6F8FBB7D-5C35-C52F-B293-D99C44CFC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purpose of an activity diagram can be described as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Draw the activity flow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Describe the sequence from one activity to another.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Describe the parallel, branched and concurrent flow of the system.</a:t>
            </a:r>
          </a:p>
          <a:p>
            <a:pPr marL="342900" indent="-342900" algn="just">
              <a:spcBef>
                <a:spcPts val="80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8E67AFEC-8E40-ABFD-3CCA-61C8DDD49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506936"/>
          </a:xfrm>
        </p:spPr>
        <p:txBody>
          <a:bodyPr>
            <a:noAutofit/>
          </a:bodyPr>
          <a:lstStyle/>
          <a:p>
            <a:pPr marL="342900" indent="-342900" algn="just">
              <a:spcBef>
                <a:spcPts val="800"/>
              </a:spcBef>
            </a:pPr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Activity diagrams are mainly used as a flowchart that consists of activities performed by the system. Activity diagrams are not exactly flowcharts as they have some additional capabilities. These additional capabilities include branching, parallel flow etc.</a:t>
            </a:r>
          </a:p>
          <a:p>
            <a:pPr algn="just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Before drawing an activity diagram, we should identify the following elements −</a:t>
            </a:r>
          </a:p>
          <a:p>
            <a:pPr lvl="0" algn="just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Activities</a:t>
            </a:r>
          </a:p>
          <a:p>
            <a:pPr lvl="0" algn="just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Association</a:t>
            </a:r>
          </a:p>
          <a:p>
            <a:pPr lvl="0" algn="just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Conditions</a:t>
            </a:r>
          </a:p>
          <a:p>
            <a:pPr lvl="0" algn="just"/>
            <a:r>
              <a:rPr lang="en-US" sz="2700" dirty="0">
                <a:latin typeface="Times New Roman" pitchFamily="18" charset="0"/>
                <a:cs typeface="Times New Roman" pitchFamily="18" charset="0"/>
              </a:rPr>
              <a:t>Constraints</a:t>
            </a:r>
          </a:p>
          <a:p>
            <a:pPr marL="342900" indent="-342900" algn="just">
              <a:spcBef>
                <a:spcPts val="800"/>
              </a:spcBef>
            </a:pPr>
            <a:endParaRPr lang="en-GB" sz="27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64A6F4B2-899A-1C14-1AFE-F4C3B15B4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39337"/>
            <a:ext cx="10515600" cy="8513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Following diagram is drawn with the four main activities −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Send order by the customer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Receipt of the order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Confirm the order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Dispatch the order</a:t>
            </a:r>
          </a:p>
          <a:p>
            <a:pPr marL="342900" indent="-342900">
              <a:spcBef>
                <a:spcPts val="80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8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36024" y="2263893"/>
            <a:ext cx="6141491" cy="37547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DF693D67-1B68-952C-006C-377DBD6AC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17581"/>
            <a:ext cx="10515600" cy="873107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Activity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Activity diagram can be used for −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Modeling work flow by using activities.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Modeling business requirements.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High level understanding of the system's functionalities.</a:t>
            </a:r>
          </a:p>
          <a:p>
            <a:pPr lvl="0"/>
            <a:r>
              <a:rPr lang="en-US" dirty="0">
                <a:latin typeface="Times New Roman" pitchFamily="18" charset="0"/>
                <a:cs typeface="Times New Roman" pitchFamily="18" charset="0"/>
              </a:rPr>
              <a:t>Investigating business requirements at a later stage.</a:t>
            </a:r>
          </a:p>
          <a:p>
            <a:pPr marL="342900" indent="-342900">
              <a:spcBef>
                <a:spcPts val="80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7B89C5A5-42B9-ED0B-1A91-306881FD6B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49854"/>
            <a:ext cx="10515600" cy="840834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 chart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8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State chart diagram is one of the five UML diagrams used to model the dynamic nature of a system. They define different states of an object during its lifetime and these states are changed by events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Following are the main purposes of using State chart diagrams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model the dynamic aspect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model the life time of a reactive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describe different states of an object during its life time.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Define a state machine to model the states of an object.</a:t>
            </a:r>
          </a:p>
          <a:p>
            <a:pPr marL="342900" indent="-342900" algn="just">
              <a:spcBef>
                <a:spcPts val="80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390934E1-D527-829B-D329-0D9ADAA36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82127"/>
            <a:ext cx="10515600" cy="80856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Behavior Diagrams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 Machine Diagrams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A state diagram is used to represent the condition of the system or part of the system at finite instances of time.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It’s a behavioral diagram and it represents the behavior using finite state transitions. State diagrams are also referred to as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 machines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and </a:t>
            </a:r>
            <a:r>
              <a:rPr lang="en-US" b="1" dirty="0">
                <a:latin typeface="Times New Roman" pitchFamily="18" charset="0"/>
                <a:cs typeface="Times New Roman" pitchFamily="18" charset="0"/>
              </a:rPr>
              <a:t>State-chart Diagrams 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 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These terms are often used interchangeably.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So simply, a state diagram is used to model the dynamic behavior of a class in response to time and changing external stimuli.</a:t>
            </a:r>
          </a:p>
          <a:p>
            <a:pPr algn="just"/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206B7002-7FD8-CB9A-19B3-F4D0D001D1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871369"/>
            <a:ext cx="10515600" cy="81931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How to Draw a State chart Diagram?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indent="-342900" algn="just">
              <a:spcBef>
                <a:spcPts val="800"/>
              </a:spcBef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State chart diagram is used to describe the states of different objects in its life cycle. Emphasis is placed on the state changes upon some internal or external events.</a:t>
            </a:r>
          </a:p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Before drawing a State chart diagram we should clarify the following points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Identify the important objects to be analyzed.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Identify the states.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Identify the events.</a:t>
            </a:r>
          </a:p>
          <a:p>
            <a:pPr marL="342900" indent="-342900" algn="just">
              <a:spcBef>
                <a:spcPts val="80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91C94E57-FF89-CE04-EE71-D97D4BC2F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785307"/>
            <a:ext cx="10515600" cy="90538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lvl="0"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State Chart Diagram</a:t>
            </a: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785307"/>
            <a:ext cx="8229600" cy="580605"/>
          </a:xfrm>
          <a:prstGeom prst="rect">
            <a:avLst/>
          </a:prstGeom>
        </p:spPr>
        <p:txBody>
          <a:bodyPr vert="horz" lIns="91429" tIns="45714" rIns="91429" bIns="45714" rtlCol="0" anchor="ctr">
            <a:normAutofit fontScale="92500" lnSpcReduction="2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9" name="Content Placeholder 8"/>
          <p:cNvPicPr>
            <a:picLocks noGrp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2015601" y="1874838"/>
            <a:ext cx="8465879" cy="4297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31FEF57D-35C1-F0DD-D82D-AFFB5492E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38200" y="1004888"/>
            <a:ext cx="10515600" cy="685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pPr algn="ctr"/>
            <a:r>
              <a:rPr lang="en-US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 Where to Use State chart Diagrams?</a:t>
            </a:r>
            <a:endParaRPr lang="en-US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7" name="Rectangle 2"/>
          <p:cNvSpPr txBox="1">
            <a:spLocks noChangeArrowheads="1"/>
          </p:cNvSpPr>
          <p:nvPr/>
        </p:nvSpPr>
        <p:spPr>
          <a:xfrm>
            <a:off x="1775346" y="680113"/>
            <a:ext cx="8229600" cy="685800"/>
          </a:xfrm>
          <a:prstGeom prst="rect">
            <a:avLst/>
          </a:prstGeom>
        </p:spPr>
        <p:txBody>
          <a:bodyPr vert="horz" lIns="91429" tIns="45714" rIns="91429" bIns="45714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44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The main usage can be described as −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model the object states of a system.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model the reactive system. Reactive system consists of reactive objects.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To identify the events responsible for state changes.</a:t>
            </a:r>
          </a:p>
          <a:p>
            <a:pPr lvl="0" algn="just"/>
            <a:r>
              <a:rPr lang="en-US" dirty="0">
                <a:latin typeface="Times New Roman" pitchFamily="18" charset="0"/>
                <a:cs typeface="Times New Roman" pitchFamily="18" charset="0"/>
              </a:rPr>
              <a:t>Forward and reverse engineering.</a:t>
            </a:r>
          </a:p>
          <a:p>
            <a:pPr marL="342900" indent="-342900" algn="just">
              <a:spcBef>
                <a:spcPts val="800"/>
              </a:spcBef>
            </a:pPr>
            <a:endParaRPr lang="en-GB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F32153ED-D0C2-62A6-11C2-4AFA2ECB0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9096"/>
            <a:ext cx="10515600" cy="800792"/>
          </a:xfrm>
        </p:spPr>
        <p:txBody>
          <a:bodyPr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 </a:t>
            </a: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   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 Reference Books: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Suman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Ugrasen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- Concepts and Practices”,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First Edition,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Cengage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Mohammad Ali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Shaikh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, “Software Engineering with UML”,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Third Edition,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Notion Press.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Somerville Ian, “Software Engineering”, Addison Wesley, 8th Edition.</a:t>
            </a:r>
          </a:p>
          <a:p>
            <a:pPr marL="342900" lvl="0" indent="-342900" algn="just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	Text Books:</a:t>
            </a:r>
          </a:p>
          <a:p>
            <a:pPr marL="342900" lvl="0" indent="-342900" algn="just">
              <a:buFont typeface="+mj-lt"/>
              <a:buAutoNum type="arabicPeriod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Pressman Rogers, “Software Engineering: A Practitioner's Approach”, Sixth edition. 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Patterson and Hennessy, “Computer Architecture” , Fifth Edition </a:t>
            </a: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Morgaon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Kauffman.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en-IN" sz="2000" dirty="0" err="1">
                <a:latin typeface="Times New Roman" pitchFamily="18" charset="0"/>
                <a:cs typeface="Times New Roman" pitchFamily="18" charset="0"/>
              </a:rPr>
              <a:t>Rajib</a:t>
            </a:r>
            <a:r>
              <a:rPr lang="en-IN" sz="2000" dirty="0">
                <a:latin typeface="Times New Roman" pitchFamily="18" charset="0"/>
                <a:cs typeface="Times New Roman" pitchFamily="18" charset="0"/>
              </a:rPr>
              <a:t> Mall, “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Fundamentals of Software Engineering’’, Fourth Edition, Pearson, PHI.</a:t>
            </a:r>
          </a:p>
          <a:p>
            <a:pPr lvl="0">
              <a:buNone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    Image References</a:t>
            </a:r>
          </a:p>
          <a:p>
            <a:pPr lvl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2"/>
              </a:rPr>
              <a:t>https://www.geeksforgeeks.org/unified-modeling-language-uml-introduction/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hlinkClick r:id="rId3"/>
              </a:rPr>
              <a:t>https://www.uml.org/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  <a:p>
            <a:pPr lvl="0">
              <a:buNone/>
            </a:pPr>
            <a:endParaRPr lang="en-US" sz="20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834333"/>
            <a:ext cx="10515600" cy="789679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ooter Placeholder 9">
            <a:extLst>
              <a:ext uri="{FF2B5EF4-FFF2-40B4-BE49-F238E27FC236}">
                <a16:creationId xmlns:a16="http://schemas.microsoft.com/office/drawing/2014/main" id="{24787892-FB13-E65F-8EFD-67DDDD181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CorelDRAW" r:id="rId2" imgW="2169000" imgH="2169360" progId="">
                    <p:embed/>
                  </p:oleObj>
                </mc:Choice>
                <mc:Fallback>
                  <p:oleObj name="CorelDRAW" r:id="rId2" imgW="2169000" imgH="2169360" progId="">
                    <p:embed/>
                    <p:pic>
                      <p:nvPicPr>
                        <p:cNvPr id="0" name="Picture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Footer Placeholder 9">
            <a:extLst>
              <a:ext uri="{FF2B5EF4-FFF2-40B4-BE49-F238E27FC236}">
                <a16:creationId xmlns:a16="http://schemas.microsoft.com/office/drawing/2014/main" id="{2E0A6D25-ADB1-0FF2-BBF6-D5B6CC3FB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 dirty="0"/>
              <a:t>Er. Jagmeet Kaur, Asst. Prof., CSE, Chandigarh University</a:t>
            </a:r>
          </a:p>
        </p:txBody>
      </p: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1019</TotalTime>
  <Words>1016</Words>
  <Application>Microsoft Macintosh PowerPoint</Application>
  <PresentationFormat>Widescreen</PresentationFormat>
  <Paragraphs>128</Paragraphs>
  <Slides>17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Casper</vt:lpstr>
      <vt:lpstr>Times New Roman</vt:lpstr>
      <vt:lpstr>1_Office Theme</vt:lpstr>
      <vt:lpstr>Contents Slide Master</vt:lpstr>
      <vt:lpstr>CorelDRAW</vt:lpstr>
      <vt:lpstr>PowerPoint Presentation</vt:lpstr>
      <vt:lpstr>Topics covered</vt:lpstr>
      <vt:lpstr>Interaction Diagram</vt:lpstr>
      <vt:lpstr>Interaction Diagram</vt:lpstr>
      <vt:lpstr>Interaction Diagram</vt:lpstr>
      <vt:lpstr>Behavior Diagrams</vt:lpstr>
      <vt:lpstr>Activity Diagram</vt:lpstr>
      <vt:lpstr>Activity Diagram</vt:lpstr>
      <vt:lpstr>Activity Diagram</vt:lpstr>
      <vt:lpstr>Activity Diagram</vt:lpstr>
      <vt:lpstr>State chart Diagram</vt:lpstr>
      <vt:lpstr>Behavior Diagrams</vt:lpstr>
      <vt:lpstr>How to Draw a State chart Diagram?</vt:lpstr>
      <vt:lpstr>State Chart Diagram</vt:lpstr>
      <vt:lpstr> Where to Use State chart Diagrams?</vt:lpstr>
      <vt:lpstr>REFERENCES   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Jagmeet Kaur</cp:lastModifiedBy>
  <cp:revision>232</cp:revision>
  <dcterms:created xsi:type="dcterms:W3CDTF">2019-01-09T10:33:58Z</dcterms:created>
  <dcterms:modified xsi:type="dcterms:W3CDTF">2024-12-10T10:16:23Z</dcterms:modified>
</cp:coreProperties>
</file>