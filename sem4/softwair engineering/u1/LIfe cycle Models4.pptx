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40"/>
  </p:notesMasterIdLst>
  <p:handoutMasterIdLst>
    <p:handoutMasterId r:id="rId41"/>
  </p:handoutMasterIdLst>
  <p:sldIdLst>
    <p:sldId id="662" r:id="rId3"/>
    <p:sldId id="265" r:id="rId4"/>
    <p:sldId id="280" r:id="rId5"/>
    <p:sldId id="295" r:id="rId6"/>
    <p:sldId id="296" r:id="rId7"/>
    <p:sldId id="297" r:id="rId8"/>
    <p:sldId id="324" r:id="rId9"/>
    <p:sldId id="325" r:id="rId10"/>
    <p:sldId id="326" r:id="rId11"/>
    <p:sldId id="327" r:id="rId12"/>
    <p:sldId id="328" r:id="rId13"/>
    <p:sldId id="329" r:id="rId14"/>
    <p:sldId id="330" r:id="rId15"/>
    <p:sldId id="331" r:id="rId16"/>
    <p:sldId id="332" r:id="rId17"/>
    <p:sldId id="342" r:id="rId18"/>
    <p:sldId id="344" r:id="rId19"/>
    <p:sldId id="343" r:id="rId20"/>
    <p:sldId id="333" r:id="rId21"/>
    <p:sldId id="334" r:id="rId22"/>
    <p:sldId id="335" r:id="rId23"/>
    <p:sldId id="336" r:id="rId24"/>
    <p:sldId id="348" r:id="rId25"/>
    <p:sldId id="345" r:id="rId26"/>
    <p:sldId id="346" r:id="rId27"/>
    <p:sldId id="347" r:id="rId28"/>
    <p:sldId id="337" r:id="rId29"/>
    <p:sldId id="338" r:id="rId30"/>
    <p:sldId id="339" r:id="rId31"/>
    <p:sldId id="340" r:id="rId32"/>
    <p:sldId id="341" r:id="rId33"/>
    <p:sldId id="349" r:id="rId34"/>
    <p:sldId id="350" r:id="rId35"/>
    <p:sldId id="283" r:id="rId36"/>
    <p:sldId id="284" r:id="rId37"/>
    <p:sldId id="351" r:id="rId38"/>
    <p:sldId id="279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3F5B"/>
    <a:srgbClr val="ED8137"/>
    <a:srgbClr val="BC8F00"/>
    <a:srgbClr val="860000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09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00" y="3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12/20/24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12/20/24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National Board of Accreditation - Wikipedia">
            <a:extLst>
              <a:ext uri="{FF2B5EF4-FFF2-40B4-BE49-F238E27FC236}">
                <a16:creationId xmlns:a16="http://schemas.microsoft.com/office/drawing/2014/main" id="{77386072-183B-602D-F812-68DFC78F8E7F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9701" y="49261"/>
            <a:ext cx="872490" cy="6883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91BA7B-510F-3B25-28C8-5CFF032D5364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446" y="0"/>
            <a:ext cx="882927" cy="785252"/>
          </a:xfrm>
          <a:prstGeom prst="rect">
            <a:avLst/>
          </a:prstGeom>
        </p:spPr>
      </p:pic>
      <p:pic>
        <p:nvPicPr>
          <p:cNvPr id="9" name="Picture 8" descr="National Board of Accreditation - Wikipedia">
            <a:extLst>
              <a:ext uri="{FF2B5EF4-FFF2-40B4-BE49-F238E27FC236}">
                <a16:creationId xmlns:a16="http://schemas.microsoft.com/office/drawing/2014/main" id="{305FDDF8-EA14-F1A6-2A5F-113799E21296}"/>
              </a:ext>
            </a:extLst>
          </p:cNvPr>
          <p:cNvPicPr/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6373" y="49261"/>
            <a:ext cx="975818" cy="688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3AA28F-9F92-052B-51D8-6FEE4CF4726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2191" y="58916"/>
            <a:ext cx="2019808" cy="64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3;p1"/>
          <p:cNvSpPr/>
          <p:nvPr/>
        </p:nvSpPr>
        <p:spPr>
          <a:xfrm>
            <a:off x="501445" y="4837797"/>
            <a:ext cx="10958052" cy="15185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2662" y="4891470"/>
            <a:ext cx="4156822" cy="1236591"/>
          </a:xfrm>
        </p:spPr>
        <p:txBody>
          <a:bodyPr>
            <a:noAutofit/>
          </a:bodyPr>
          <a:lstStyle/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Jagmeet Kaur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E8387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 </a:t>
            </a:r>
          </a:p>
        </p:txBody>
      </p:sp>
      <p:sp>
        <p:nvSpPr>
          <p:cNvPr id="7" name="Google Shape;100;p1"/>
          <p:cNvSpPr/>
          <p:nvPr/>
        </p:nvSpPr>
        <p:spPr>
          <a:xfrm flipH="1">
            <a:off x="9344623" y="4901508"/>
            <a:ext cx="2466377" cy="1712909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lIns="75585" tIns="37782" rIns="75585" bIns="37782" anchor="ctr"/>
          <a:lstStyle/>
          <a:p>
            <a:pPr algn="ctr">
              <a:defRPr/>
            </a:pPr>
            <a:endParaRPr sz="1488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01;p1"/>
          <p:cNvSpPr txBox="1"/>
          <p:nvPr/>
        </p:nvSpPr>
        <p:spPr>
          <a:xfrm>
            <a:off x="7158646" y="5490468"/>
            <a:ext cx="4075113" cy="534988"/>
          </a:xfrm>
          <a:prstGeom prst="rect">
            <a:avLst/>
          </a:prstGeom>
          <a:noFill/>
          <a:ln>
            <a:noFill/>
          </a:ln>
        </p:spPr>
        <p:txBody>
          <a:bodyPr spcFirstLastPara="1" lIns="75585" tIns="37782" rIns="75585" bIns="37782">
            <a:spAutoFit/>
          </a:bodyPr>
          <a:lstStyle/>
          <a:p>
            <a:pPr>
              <a:defRPr/>
            </a:pPr>
            <a:r>
              <a:rPr lang="en-US" sz="1653" b="1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DISCOVER . </a:t>
            </a:r>
            <a:r>
              <a:rPr lang="en-US" sz="1653" b="1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LEARN</a:t>
            </a:r>
            <a:r>
              <a:rPr lang="en-US" sz="1653" b="1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. EMPOWER</a:t>
            </a:r>
            <a:endParaRPr sz="992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defRPr/>
            </a:pPr>
            <a:endParaRPr sz="1323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1"/>
          <p:cNvSpPr/>
          <p:nvPr/>
        </p:nvSpPr>
        <p:spPr>
          <a:xfrm>
            <a:off x="1826198" y="5901986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03;p1"/>
          <p:cNvSpPr txBox="1"/>
          <p:nvPr/>
        </p:nvSpPr>
        <p:spPr>
          <a:xfrm>
            <a:off x="910729" y="1207782"/>
            <a:ext cx="9722858" cy="2843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of Engineering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OF COMPUTER SCIENCE &amp; ENGINEERING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Name: Software Engineering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Code: 23CST-206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09/12/24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446" y="0"/>
            <a:ext cx="882927" cy="785252"/>
          </a:xfrm>
          <a:prstGeom prst="rect">
            <a:avLst/>
          </a:prstGeom>
        </p:spPr>
      </p:pic>
      <p:pic>
        <p:nvPicPr>
          <p:cNvPr id="15" name="Picture 14" descr="National Board of Accreditation - Wikipedia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9701" y="49261"/>
            <a:ext cx="872490" cy="6883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9940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958940" y="225197"/>
            <a:ext cx="8106229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Introduction to Software Engineering</a:t>
            </a:r>
            <a:br>
              <a:rPr lang="en-US" sz="1600" b="1" dirty="0">
                <a:latin typeface="Times New Roman" pitchFamily="18" charset="0"/>
                <a:ea typeface="Karla" pitchFamily="2" charset="0"/>
                <a:cs typeface="Times New Roman" pitchFamily="18" charset="0"/>
              </a:rPr>
            </a:b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499380"/>
              </p:ext>
            </p:extLst>
          </p:nvPr>
        </p:nvGraphicFramePr>
        <p:xfrm>
          <a:off x="1636395" y="2497107"/>
          <a:ext cx="6751320" cy="320022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106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5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9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937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 Number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Level 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3258">
                <a:tc>
                  <a:txBody>
                    <a:bodyPr/>
                    <a:lstStyle/>
                    <a:p>
                      <a:pPr marL="67945">
                        <a:lnSpc>
                          <a:spcPts val="146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CO1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Define principles and working of software process models.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6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3258">
                <a:tc>
                  <a:txBody>
                    <a:bodyPr/>
                    <a:lstStyle/>
                    <a:p>
                      <a:pPr marL="67945">
                        <a:lnSpc>
                          <a:spcPts val="1460"/>
                        </a:lnSpc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Describe agile development methodology and analyse where to apply.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60"/>
                        </a:lnSpc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Remember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50770155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217842" y="1281538"/>
            <a:ext cx="23746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Course Outcome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3EF1D39-20AE-0E75-E1DC-5F2584D8A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07165"/>
            <a:ext cx="10515600" cy="632723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Topics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Software Development life Cycle models</a:t>
            </a:r>
          </a:p>
          <a:p>
            <a:pPr>
              <a:lnSpc>
                <a:spcPct val="150000"/>
              </a:lnSpc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		Waterfall model</a:t>
            </a:r>
          </a:p>
          <a:p>
            <a:pPr>
              <a:lnSpc>
                <a:spcPct val="150000"/>
              </a:lnSpc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		 Iterative Waterfall model</a:t>
            </a:r>
          </a:p>
          <a:p>
            <a:pPr>
              <a:lnSpc>
                <a:spcPct val="150000"/>
              </a:lnSpc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		 Prototype model</a:t>
            </a:r>
          </a:p>
          <a:p>
            <a:pPr>
              <a:lnSpc>
                <a:spcPct val="150000"/>
              </a:lnSpc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		Evolutionary model</a:t>
            </a:r>
          </a:p>
          <a:p>
            <a:pPr>
              <a:lnSpc>
                <a:spcPct val="150000"/>
              </a:lnSpc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		Spiral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991289"/>
            <a:ext cx="10515600" cy="63272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9">
            <a:extLst>
              <a:ext uri="{FF2B5EF4-FFF2-40B4-BE49-F238E27FC236}">
                <a16:creationId xmlns:a16="http://schemas.microsoft.com/office/drawing/2014/main" id="{1BD7E952-A34A-E54B-2753-6D87CD245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47713"/>
            <a:ext cx="10515600" cy="942975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Software life cycle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 software life cycle model is a descriptive and diagrammatic representation of the software life cycle.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 life cycle model represents all the activities required to make a software product transit through its life cycle phases.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It captures the order in which these activities are to be undertaken.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681037"/>
            <a:ext cx="10515600" cy="94297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1BBE155E-ECDB-3D10-494C-963B39848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just"/>
            <a:r>
              <a:rPr lang="en-GB" dirty="0">
                <a:latin typeface="Times New Roman" pitchFamily="18" charset="0"/>
                <a:cs typeface="Times New Roman" pitchFamily="18" charset="0"/>
              </a:rPr>
              <a:t>Classical waterfall model divides life cycle into phases:</a:t>
            </a:r>
          </a:p>
          <a:p>
            <a:pPr marL="742950" lvl="1" algn="just">
              <a:spcBef>
                <a:spcPts val="725"/>
              </a:spcBef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feasibility study,  </a:t>
            </a:r>
          </a:p>
          <a:p>
            <a:pPr marL="742950" lvl="1" algn="just">
              <a:spcBef>
                <a:spcPts val="725"/>
              </a:spcBef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requirements analysis and specification, </a:t>
            </a:r>
          </a:p>
          <a:p>
            <a:pPr marL="742950" lvl="1" algn="just">
              <a:spcBef>
                <a:spcPts val="725"/>
              </a:spcBef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design, </a:t>
            </a:r>
          </a:p>
          <a:p>
            <a:pPr marL="742950" lvl="1" algn="just">
              <a:spcBef>
                <a:spcPts val="725"/>
              </a:spcBef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coding and unit testing, </a:t>
            </a:r>
          </a:p>
          <a:p>
            <a:pPr marL="742950" lvl="1" algn="just">
              <a:spcBef>
                <a:spcPts val="725"/>
              </a:spcBef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integration and system testing,  </a:t>
            </a:r>
          </a:p>
          <a:p>
            <a:pPr marL="742950" lvl="1" algn="just">
              <a:spcBef>
                <a:spcPts val="725"/>
              </a:spcBef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maintenance. 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AU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65490" y="681037"/>
            <a:ext cx="10515600" cy="105033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dirty="0"/>
              <a:t>CPU</a:t>
            </a:r>
            <a:endParaRPr lang="en-US" dirty="0">
              <a:solidFill>
                <a:schemeClr val="tx1"/>
              </a:solidFill>
              <a:latin typeface="Casper Bold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925472" y="2255292"/>
            <a:ext cx="8229600" cy="11430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9809" y="532262"/>
            <a:ext cx="85844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>
                <a:latin typeface="Times New Roman" pitchFamily="18" charset="0"/>
                <a:cs typeface="Times New Roman" pitchFamily="18" charset="0"/>
              </a:rPr>
              <a:t>Classical</a:t>
            </a:r>
            <a:r>
              <a:rPr lang="en-GB" sz="44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4400" dirty="0">
                <a:latin typeface="Times New Roman" pitchFamily="18" charset="0"/>
                <a:cs typeface="Times New Roman" pitchFamily="18" charset="0"/>
              </a:rPr>
              <a:t>Waterfall</a:t>
            </a:r>
            <a:r>
              <a:rPr lang="en-GB" sz="44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4400" dirty="0">
                <a:latin typeface="Times New Roman" pitchFamily="18" charset="0"/>
                <a:cs typeface="Times New Roman" pitchFamily="18" charset="0"/>
              </a:rPr>
              <a:t>Model</a:t>
            </a:r>
            <a:endParaRPr lang="en-US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C25CE41-F564-4081-76C9-26FE6D9F6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831811"/>
            <a:ext cx="10515600" cy="85887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b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CLASSICAL WATERFALL MODEL</a:t>
            </a:r>
            <a:br>
              <a:rPr lang="en-A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65537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37982" y="1921787"/>
            <a:ext cx="8720919" cy="39025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4230806" y="5718412"/>
            <a:ext cx="24737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Fig 1 Classical Waterfall Model</a:t>
            </a: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9D69CA7A-869D-7D16-FA0E-15ED552FD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1004888"/>
            <a:ext cx="10515600" cy="685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b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FEASIBILITY STUDY</a:t>
            </a:r>
            <a:br>
              <a:rPr lang="en-A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just">
              <a:spcBef>
                <a:spcPts val="638"/>
              </a:spcBef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Main aim of feasibility study: determine whether developing the product </a:t>
            </a:r>
          </a:p>
          <a:p>
            <a:pPr marL="742950" lvl="1" algn="just">
              <a:spcBef>
                <a:spcPts val="725"/>
              </a:spcBef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 financially worthwhile</a:t>
            </a:r>
          </a:p>
          <a:p>
            <a:pPr marL="742950" lvl="1" algn="just">
              <a:spcBef>
                <a:spcPts val="725"/>
              </a:spcBef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 technically feasible.</a:t>
            </a:r>
          </a:p>
          <a:p>
            <a:pPr marL="342900" indent="-342900" algn="just">
              <a:spcBef>
                <a:spcPts val="638"/>
              </a:spcBef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First roughly understand what the customer wants:</a:t>
            </a:r>
          </a:p>
          <a:p>
            <a:pPr marL="742950" lvl="1" algn="just">
              <a:spcBef>
                <a:spcPts val="550"/>
              </a:spcBef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different data which would be input to the system,</a:t>
            </a:r>
          </a:p>
          <a:p>
            <a:pPr marL="742950" lvl="1" algn="just">
              <a:spcBef>
                <a:spcPts val="550"/>
              </a:spcBef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processing needed on these data,</a:t>
            </a:r>
          </a:p>
          <a:p>
            <a:pPr marL="742950" lvl="1" algn="just">
              <a:spcBef>
                <a:spcPts val="550"/>
              </a:spcBef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output data to be produced by the system, </a:t>
            </a:r>
          </a:p>
          <a:p>
            <a:pPr marL="742950" lvl="1" algn="just">
              <a:spcBef>
                <a:spcPts val="550"/>
              </a:spcBef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various constraints on the behaviour of the system.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47702413-7A6F-F419-8C0B-70061E035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69293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1004888"/>
            <a:ext cx="10515600" cy="685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b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FEASIBILITY STUDY</a:t>
            </a:r>
            <a:br>
              <a:rPr lang="en-A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70709"/>
          </a:xfrm>
        </p:spPr>
        <p:txBody>
          <a:bodyPr>
            <a:noAutofit/>
          </a:bodyPr>
          <a:lstStyle/>
          <a:p>
            <a:pPr marL="342900" indent="-342900" algn="just"/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Work out an overall understanding of the problem.</a:t>
            </a:r>
          </a:p>
          <a:p>
            <a:pPr marL="342900" indent="-342900" algn="just"/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Formulate different solution strategies.</a:t>
            </a:r>
          </a:p>
          <a:p>
            <a:pPr marL="342900" indent="-342900" algn="just"/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Examine alternate solution strategies in terms of:</a:t>
            </a:r>
          </a:p>
          <a:p>
            <a:pPr lvl="2" algn="just">
              <a:spcBef>
                <a:spcPts val="638"/>
              </a:spcBef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resources required, </a:t>
            </a:r>
          </a:p>
          <a:p>
            <a:pPr lvl="2" algn="just">
              <a:spcBef>
                <a:spcPts val="638"/>
              </a:spcBef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cost of development, and </a:t>
            </a:r>
          </a:p>
          <a:p>
            <a:pPr lvl="2" algn="just">
              <a:spcBef>
                <a:spcPts val="638"/>
              </a:spcBef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development time.</a:t>
            </a:r>
          </a:p>
          <a:p>
            <a:pPr algn="just"/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DED37728-F6F4-C0DE-4C81-5ADA25A03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685801"/>
            <a:ext cx="10515600" cy="10048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REQUIREMENT ANALYSIS AND SPECIFICATION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38200" y="2186609"/>
            <a:ext cx="10515600" cy="3990354"/>
          </a:xfrm>
        </p:spPr>
        <p:txBody>
          <a:bodyPr>
            <a:normAutofit/>
          </a:bodyPr>
          <a:lstStyle/>
          <a:p>
            <a:pPr marL="342900" indent="-342900" algn="just">
              <a:spcBef>
                <a:spcPts val="825"/>
              </a:spcBef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Aim of this phase:</a:t>
            </a:r>
          </a:p>
          <a:p>
            <a:pPr marL="742950" lvl="1" algn="just">
              <a:spcBef>
                <a:spcPts val="725"/>
              </a:spcBef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understand the exact requirements of the customer,  </a:t>
            </a:r>
          </a:p>
          <a:p>
            <a:pPr marL="742950" lvl="1" algn="just">
              <a:spcBef>
                <a:spcPts val="725"/>
              </a:spcBef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document them properly.</a:t>
            </a:r>
          </a:p>
          <a:p>
            <a:pPr marL="342900" indent="-342900" algn="just">
              <a:spcBef>
                <a:spcPts val="825"/>
              </a:spcBef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Consists of two distinct activities: </a:t>
            </a:r>
          </a:p>
          <a:p>
            <a:pPr marL="742950" lvl="1" algn="just">
              <a:spcBef>
                <a:spcPts val="725"/>
              </a:spcBef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requirements gathering and analysis </a:t>
            </a:r>
          </a:p>
          <a:p>
            <a:pPr marL="742950" lvl="1" algn="just">
              <a:spcBef>
                <a:spcPts val="725"/>
              </a:spcBef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requirements specification.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7FBBBA8C-E77E-E3A9-7DB1-1881AC473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1004888"/>
            <a:ext cx="10515600" cy="685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REQUIREMENT GATHERING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just">
              <a:spcBef>
                <a:spcPts val="825"/>
              </a:spcBef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Gathering relevant data:</a:t>
            </a:r>
          </a:p>
          <a:p>
            <a:pPr marL="742950" lvl="1" algn="just">
              <a:spcBef>
                <a:spcPts val="725"/>
              </a:spcBef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usually collected from the end-users through interviews and discussions.</a:t>
            </a:r>
          </a:p>
          <a:p>
            <a:pPr marL="742950" lvl="1" algn="just">
              <a:spcBef>
                <a:spcPts val="725"/>
              </a:spcBef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For example,  for a business accounting software:</a:t>
            </a:r>
          </a:p>
          <a:p>
            <a:pPr marL="742950" lvl="1" algn="just">
              <a:spcBef>
                <a:spcPts val="725"/>
              </a:spcBef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interview all the accountants of the organization to find out their requirements. 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B05B08F5-5A42-879F-1493-38D9D5369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1004888"/>
            <a:ext cx="10515600" cy="685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REQUIREMENT ANALYSIS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just">
              <a:spcBef>
                <a:spcPts val="913"/>
              </a:spcBef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The data you initially collect from the users:</a:t>
            </a:r>
          </a:p>
          <a:p>
            <a:pPr marL="742950" lvl="1" algn="just">
              <a:spcBef>
                <a:spcPts val="825"/>
              </a:spcBef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would usually contain several contradictions and ambiguities: </a:t>
            </a:r>
          </a:p>
          <a:p>
            <a:pPr marL="742950" lvl="1" algn="just">
              <a:spcBef>
                <a:spcPts val="825"/>
              </a:spcBef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each user  typically has only a partial and incomplete view of the system.</a:t>
            </a:r>
          </a:p>
          <a:p>
            <a:pPr marL="342900" indent="-342900" algn="just">
              <a:spcBef>
                <a:spcPts val="825"/>
              </a:spcBef>
            </a:pP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EF60D6B5-6896-F586-4227-521ED632B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1152939"/>
            <a:ext cx="10515600" cy="53774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DESIGN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just">
              <a:spcBef>
                <a:spcPts val="913"/>
              </a:spcBef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Design  phase transforms  requirements  specification:</a:t>
            </a:r>
          </a:p>
          <a:p>
            <a:pPr marL="742950" lvl="1" algn="just">
              <a:spcBef>
                <a:spcPts val="825"/>
              </a:spcBef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 into a  form suitable for implementation in some programming language.</a:t>
            </a:r>
          </a:p>
          <a:p>
            <a:pPr marL="342900" indent="-342900" algn="just">
              <a:spcBef>
                <a:spcPts val="825"/>
              </a:spcBef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In technical terms:</a:t>
            </a:r>
          </a:p>
          <a:p>
            <a:pPr marL="742950" lvl="1" algn="just">
              <a:spcBef>
                <a:spcPts val="725"/>
              </a:spcBef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during design phase,  software architecture is derived from the SRS document.  </a:t>
            </a:r>
          </a:p>
          <a:p>
            <a:pPr marL="342900" indent="-342900" algn="just">
              <a:spcBef>
                <a:spcPts val="825"/>
              </a:spcBef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Two design approaches: </a:t>
            </a:r>
          </a:p>
          <a:p>
            <a:pPr marL="742950" lvl="1" algn="just">
              <a:spcBef>
                <a:spcPts val="725"/>
              </a:spcBef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traditional approach, </a:t>
            </a:r>
          </a:p>
          <a:p>
            <a:pPr marL="742950" lvl="1" algn="just">
              <a:spcBef>
                <a:spcPts val="725"/>
              </a:spcBef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object oriented approach.</a:t>
            </a: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65EFBC73-860D-9930-7C5C-F4DC7BCC2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1004888"/>
            <a:ext cx="10515600" cy="685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IMPLEMENTATION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just">
              <a:spcBef>
                <a:spcPts val="913"/>
              </a:spcBef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Purpose of implementation phase (aka coding and unit testing phase):</a:t>
            </a:r>
          </a:p>
          <a:p>
            <a:pPr marL="742950" lvl="1" algn="just">
              <a:spcBef>
                <a:spcPts val="825"/>
              </a:spcBef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translate software design into source code.</a:t>
            </a:r>
          </a:p>
          <a:p>
            <a:pPr marL="342900" indent="-342900" algn="just">
              <a:spcBef>
                <a:spcPts val="825"/>
              </a:spcBef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During the implementation phase: </a:t>
            </a:r>
          </a:p>
          <a:p>
            <a:pPr marL="742950" lvl="1" algn="just">
              <a:spcBef>
                <a:spcPts val="725"/>
              </a:spcBef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each module of the design is  coded, </a:t>
            </a:r>
          </a:p>
          <a:p>
            <a:pPr marL="742950" lvl="1" algn="just">
              <a:spcBef>
                <a:spcPts val="725"/>
              </a:spcBef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each module is unit tested</a:t>
            </a:r>
          </a:p>
          <a:p>
            <a:pPr lvl="2" algn="just">
              <a:spcBef>
                <a:spcPts val="638"/>
              </a:spcBef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tested independently as a stand alone unit, and debugged, </a:t>
            </a:r>
          </a:p>
          <a:p>
            <a:pPr marL="742950" lvl="1" algn="just">
              <a:spcBef>
                <a:spcPts val="725"/>
              </a:spcBef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each module is documented.</a:t>
            </a:r>
          </a:p>
          <a:p>
            <a:pPr marL="742950" lvl="1" algn="just">
              <a:spcBef>
                <a:spcPts val="825"/>
              </a:spcBef>
            </a:pPr>
            <a:endParaRPr lang="en-GB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77267F11-0EB9-8B29-152C-BD236A86E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1004888"/>
            <a:ext cx="10515600" cy="685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INTEGRATION AND SYSTEM TESTING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 algn="just"/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Different modules are integrated in a planned manner:</a:t>
            </a:r>
          </a:p>
          <a:p>
            <a:pPr marL="742950" lvl="1" algn="just">
              <a:spcBef>
                <a:spcPts val="725"/>
              </a:spcBef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modules are almost never integrated in one shot.</a:t>
            </a:r>
          </a:p>
          <a:p>
            <a:pPr marL="742950" lvl="1" algn="just">
              <a:spcBef>
                <a:spcPts val="725"/>
              </a:spcBef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Normally integration is carried out through a number of steps.</a:t>
            </a:r>
          </a:p>
          <a:p>
            <a:pPr marL="342900" indent="-342900" algn="just"/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During each integration step, </a:t>
            </a:r>
          </a:p>
          <a:p>
            <a:pPr marL="742950" lvl="1" algn="just">
              <a:spcBef>
                <a:spcPts val="725"/>
              </a:spcBef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the partially integrated system is tested.</a:t>
            </a:r>
          </a:p>
          <a:p>
            <a:pPr marL="342900" indent="-342900" algn="just">
              <a:spcBef>
                <a:spcPts val="825"/>
              </a:spcBef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After all the modules have been successfully integrated and tested: </a:t>
            </a:r>
          </a:p>
          <a:p>
            <a:pPr marL="742950" lvl="1" algn="just">
              <a:spcBef>
                <a:spcPts val="725"/>
              </a:spcBef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system testing is carried out.</a:t>
            </a:r>
          </a:p>
          <a:p>
            <a:pPr marL="342900" indent="-342900" algn="just">
              <a:spcBef>
                <a:spcPts val="825"/>
              </a:spcBef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Goal of system testing:</a:t>
            </a:r>
          </a:p>
          <a:p>
            <a:pPr marL="742950" lvl="1" algn="just">
              <a:spcBef>
                <a:spcPts val="725"/>
              </a:spcBef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ensure that the developed system functions according to its requirements as specified in the SRS document.</a:t>
            </a:r>
          </a:p>
          <a:p>
            <a:pPr marL="742950" lvl="1" algn="just">
              <a:spcBef>
                <a:spcPts val="725"/>
              </a:spcBef>
            </a:pP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B354D027-BF63-8B6D-AA0B-4DB2C4E67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1004888"/>
            <a:ext cx="10515600" cy="685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MAINTENANCE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just">
              <a:spcBef>
                <a:spcPts val="913"/>
              </a:spcBef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Maintenance of any software product: </a:t>
            </a:r>
          </a:p>
          <a:p>
            <a:pPr marL="742950" lvl="1" algn="just">
              <a:spcBef>
                <a:spcPts val="825"/>
              </a:spcBef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requires much more effort than the effort to develop the product itself.</a:t>
            </a:r>
          </a:p>
          <a:p>
            <a:pPr marL="742950" lvl="1" algn="just">
              <a:spcBef>
                <a:spcPts val="825"/>
              </a:spcBef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development effort to maintenance effort is typically 40:60.</a:t>
            </a:r>
          </a:p>
          <a:p>
            <a:pPr marL="742950" lvl="1" algn="just">
              <a:spcBef>
                <a:spcPts val="825"/>
              </a:spcBef>
            </a:pPr>
            <a:endParaRPr lang="en-GB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C9728535-D481-3B12-4402-101839A04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easy to understand and use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manage due to the rigidity of the model. Each phase has specific deliverables and a review process.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Phases are processed and completed one at a time.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well for smaller projects where requirements are very well understood.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Clearly defined stages.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 understood milestones.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arrange tasks.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and results are well documented.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B314F85F-0601-1438-E0A5-A5AAD26D6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working software is produced until late during the life cycle.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amounts of risk and uncertainty.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 good model for complex and object-oriented projects.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model for long and ongoing projects.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for the projects where requirements are at a moderate to high risk of changing. So, risk and uncertainty is high with this process model.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difficult to measure progress within stages.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accommodate changing requirements.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Adjusting scope during the life cycle can end a project.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F27822BB-42C7-CB56-DF15-D872BB8CD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are very well documented, clear and fixed.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definition is stable.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is understood and is not dynamic.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no ambiguous requirements.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Ample resources with required expertise are available to support the product.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short.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6CFEDB19-C7FC-3AB0-ACA6-E0F4456AB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1004888"/>
            <a:ext cx="10515600" cy="685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ITERATIVE WATERFALL MODEL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 algn="just">
              <a:spcBef>
                <a:spcPts val="825"/>
              </a:spcBef>
            </a:pPr>
            <a:r>
              <a:rPr lang="en-GB" sz="2300" dirty="0">
                <a:latin typeface="Times New Roman" pitchFamily="18" charset="0"/>
                <a:cs typeface="Times New Roman" pitchFamily="18" charset="0"/>
              </a:rPr>
              <a:t>Classical waterfall model is idealistic:</a:t>
            </a:r>
          </a:p>
          <a:p>
            <a:pPr marL="742950" lvl="1" algn="just">
              <a:spcBef>
                <a:spcPts val="725"/>
              </a:spcBef>
            </a:pPr>
            <a:r>
              <a:rPr lang="en-GB" sz="2300" dirty="0">
                <a:latin typeface="Times New Roman" pitchFamily="18" charset="0"/>
                <a:cs typeface="Times New Roman" pitchFamily="18" charset="0"/>
              </a:rPr>
              <a:t>assumes that no defect is introduced during any development activity.</a:t>
            </a:r>
          </a:p>
          <a:p>
            <a:pPr marL="742950" lvl="1" algn="just">
              <a:spcBef>
                <a:spcPts val="725"/>
              </a:spcBef>
            </a:pPr>
            <a:r>
              <a:rPr lang="en-GB" sz="2300" dirty="0">
                <a:latin typeface="Times New Roman" pitchFamily="18" charset="0"/>
                <a:cs typeface="Times New Roman" pitchFamily="18" charset="0"/>
              </a:rPr>
              <a:t>in practice: </a:t>
            </a:r>
          </a:p>
          <a:p>
            <a:pPr lvl="2" algn="just">
              <a:spcBef>
                <a:spcPts val="638"/>
              </a:spcBef>
            </a:pPr>
            <a:r>
              <a:rPr lang="en-GB" sz="2300" dirty="0">
                <a:latin typeface="Times New Roman" pitchFamily="18" charset="0"/>
                <a:cs typeface="Times New Roman" pitchFamily="18" charset="0"/>
              </a:rPr>
              <a:t>defects do get introduced in almost every phase of the life cycle. </a:t>
            </a:r>
          </a:p>
          <a:p>
            <a:pPr marL="342900" indent="-342900" algn="just">
              <a:spcBef>
                <a:spcPts val="913"/>
              </a:spcBef>
            </a:pPr>
            <a:r>
              <a:rPr lang="en-GB" sz="2300" dirty="0">
                <a:latin typeface="Times New Roman" pitchFamily="18" charset="0"/>
                <a:cs typeface="Times New Roman" pitchFamily="18" charset="0"/>
              </a:rPr>
              <a:t>Defects usually get detected much later in the life cycle: </a:t>
            </a:r>
          </a:p>
          <a:p>
            <a:pPr marL="742950" lvl="1" algn="just">
              <a:spcBef>
                <a:spcPts val="825"/>
              </a:spcBef>
            </a:pPr>
            <a:r>
              <a:rPr lang="en-GB" sz="2300" dirty="0">
                <a:latin typeface="Times New Roman" pitchFamily="18" charset="0"/>
                <a:cs typeface="Times New Roman" pitchFamily="18" charset="0"/>
              </a:rPr>
              <a:t>For example, a design defect might go unnoticed till the coding or testing phase. </a:t>
            </a:r>
          </a:p>
          <a:p>
            <a:pPr marL="342900" indent="-342900" algn="just"/>
            <a:r>
              <a:rPr lang="en-GB" sz="2300" dirty="0">
                <a:latin typeface="Times New Roman" pitchFamily="18" charset="0"/>
                <a:cs typeface="Times New Roman" pitchFamily="18" charset="0"/>
              </a:rPr>
              <a:t>Once a defect is detected:</a:t>
            </a:r>
          </a:p>
          <a:p>
            <a:pPr marL="742950" lvl="1" algn="just">
              <a:spcBef>
                <a:spcPts val="725"/>
              </a:spcBef>
            </a:pPr>
            <a:r>
              <a:rPr lang="en-GB" sz="2300" dirty="0">
                <a:latin typeface="Times New Roman" pitchFamily="18" charset="0"/>
                <a:cs typeface="Times New Roman" pitchFamily="18" charset="0"/>
              </a:rPr>
              <a:t>we need to go back to the phase where it was introduced</a:t>
            </a:r>
          </a:p>
          <a:p>
            <a:pPr marL="742950" lvl="1" algn="just">
              <a:spcBef>
                <a:spcPts val="725"/>
              </a:spcBef>
            </a:pPr>
            <a:r>
              <a:rPr lang="en-GB" sz="2300" dirty="0">
                <a:latin typeface="Times New Roman" pitchFamily="18" charset="0"/>
                <a:cs typeface="Times New Roman" pitchFamily="18" charset="0"/>
              </a:rPr>
              <a:t> redo some of the work done during that and all subsequent phases. </a:t>
            </a:r>
          </a:p>
          <a:p>
            <a:pPr marL="342900" indent="-342900" algn="just"/>
            <a:r>
              <a:rPr lang="en-GB" sz="2300" dirty="0">
                <a:latin typeface="Times New Roman" pitchFamily="18" charset="0"/>
                <a:cs typeface="Times New Roman" pitchFamily="18" charset="0"/>
              </a:rPr>
              <a:t>Therefore we need feedback paths in the classical waterfall model.</a:t>
            </a:r>
          </a:p>
          <a:p>
            <a:pPr marL="742950" lvl="1" algn="just">
              <a:spcBef>
                <a:spcPts val="825"/>
              </a:spcBef>
            </a:pPr>
            <a:endParaRPr lang="en-GB" sz="2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39CFBE59-4197-26C3-4A39-B1949ED15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1004888"/>
            <a:ext cx="10515600" cy="685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Casper Bold"/>
              </a:rPr>
              <a:t>ITERATIVE WATERFALL MODEL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27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87606" y="1801505"/>
            <a:ext cx="8775510" cy="4121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3944203" y="5759355"/>
            <a:ext cx="2109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Fig 2 Iterative Waterfall Model</a:t>
            </a: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1C52BC7A-5233-B360-A23D-E86CC70E2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1004888"/>
            <a:ext cx="10515600" cy="685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PROTOTYPING MODEL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just"/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Before  starting actual development, </a:t>
            </a:r>
          </a:p>
          <a:p>
            <a:pPr marL="742950" lvl="1" algn="just">
              <a:spcBef>
                <a:spcPts val="725"/>
              </a:spcBef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a working prototype of the system should first be built.</a:t>
            </a:r>
          </a:p>
          <a:p>
            <a:pPr marL="342900" indent="-342900" algn="just"/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A prototype is a toy implementation of a system:</a:t>
            </a:r>
          </a:p>
          <a:p>
            <a:pPr marL="742950" lvl="1" algn="just">
              <a:spcBef>
                <a:spcPts val="725"/>
              </a:spcBef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limited functional capabilities, </a:t>
            </a:r>
          </a:p>
          <a:p>
            <a:pPr marL="742950" lvl="1" algn="just">
              <a:spcBef>
                <a:spcPts val="725"/>
              </a:spcBef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low reliability,  </a:t>
            </a:r>
          </a:p>
          <a:p>
            <a:pPr marL="742950" lvl="1" algn="just">
              <a:spcBef>
                <a:spcPts val="725"/>
              </a:spcBef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inefficient performance.</a:t>
            </a:r>
          </a:p>
          <a:p>
            <a:pPr marL="342900" indent="-342900" algn="just">
              <a:spcBef>
                <a:spcPts val="638"/>
              </a:spcBef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Start with approximate requirements.</a:t>
            </a:r>
          </a:p>
          <a:p>
            <a:pPr marL="342900" indent="-342900" algn="just">
              <a:spcBef>
                <a:spcPts val="638"/>
              </a:spcBef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Carry out a quick design.</a:t>
            </a:r>
          </a:p>
          <a:p>
            <a:pPr marL="342900" indent="-342900" algn="just">
              <a:spcBef>
                <a:spcPts val="638"/>
              </a:spcBef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Prototype model is built using several  short-cuts: </a:t>
            </a:r>
          </a:p>
          <a:p>
            <a:pPr marL="742950" lvl="1" algn="just">
              <a:spcBef>
                <a:spcPts val="550"/>
              </a:spcBef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Short-cuts might involve using inefficient, inaccurate,  or dummy functions.</a:t>
            </a:r>
          </a:p>
          <a:p>
            <a:pPr lvl="2" algn="just">
              <a:spcBef>
                <a:spcPts val="463"/>
              </a:spcBef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A function may use a table look-up rather than performing the actual computations.</a:t>
            </a: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855FCA1B-E273-2607-5654-BB53B16CA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1004888"/>
            <a:ext cx="10515600" cy="685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PROTOTYPING MODEL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37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8925" y="1951631"/>
            <a:ext cx="7151427" cy="3887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3821373" y="5841242"/>
            <a:ext cx="17940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Fig 3 Prototype model</a:t>
            </a: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41918D61-13A6-6134-1874-CA85ED36A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r>
              <a:rPr lang="en-US" dirty="0"/>
              <a:t>                                                  </a:t>
            </a:r>
          </a:p>
          <a:p>
            <a:pPr algn="ctr">
              <a:buNone/>
            </a:pP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Fig 4 Steps of prototype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86219" y="1741180"/>
            <a:ext cx="9308910" cy="3076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9">
            <a:extLst>
              <a:ext uri="{FF2B5EF4-FFF2-40B4-BE49-F238E27FC236}">
                <a16:creationId xmlns:a16="http://schemas.microsoft.com/office/drawing/2014/main" id="{9342BAFC-058D-590D-E521-DC3A1BC2A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are actively involved in the development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in this methodology a working model of the system is provided, the users get a better understanding of the system being developed.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Errors can be detected much earlier.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Quicker user feedback is available leading to better solutions.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functionality can be identified easily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20A8AA07-6C1C-8BFA-8632-42BD7C9E6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to implementing and then repairing way of building systems.  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Practically, this methodology may increase the complexity of the system as scope of the system may expand beyond original plans. 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Incomplete application may cause application not to be used as the full system was designed Incomplete or inadequate problem analysis.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A8BCE080-CF08-D589-94CD-F04D3889F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to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model should be used when the desired system needs to have a lot of interaction with the end users.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Typically, online systems, web interfaces have a very high amount of interaction with end users, are best suited for Prototype model. It might take a while for a system to be built that allows ease of use and needs minimal training for the end user.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Prototyping ensures that the end users constantly work with the system and provide a feedback which is incorporated in the prototype to result in a useable system. They are excellent for designing good human computer interface systems.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A51AEAC2-8085-4B26-7885-0A1C79B09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1004888"/>
            <a:ext cx="10515600" cy="685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lvl="0" algn="ctr"/>
            <a:r>
              <a:rPr lang="en-GB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Evolutionary Model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 algn="just">
              <a:spcBef>
                <a:spcPts val="638"/>
              </a:spcBef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Evolutionary model (aka successive versions or incremental  model):</a:t>
            </a:r>
          </a:p>
          <a:p>
            <a:pPr marL="742950" lvl="1" algn="just">
              <a:spcBef>
                <a:spcPts val="550"/>
              </a:spcBef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The system is broken down into several modules which can be incrementally implemented and delivered.</a:t>
            </a:r>
          </a:p>
          <a:p>
            <a:pPr marL="342900" indent="-342900" algn="just">
              <a:spcBef>
                <a:spcPts val="638"/>
              </a:spcBef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First develop the core modules of the system. </a:t>
            </a:r>
          </a:p>
          <a:p>
            <a:pPr marL="342900" indent="-342900" algn="just">
              <a:spcBef>
                <a:spcPts val="638"/>
              </a:spcBef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The initial product skeleton is refined into increasing levels of capability:</a:t>
            </a:r>
          </a:p>
          <a:p>
            <a:pPr marL="742950" lvl="1" algn="just">
              <a:spcBef>
                <a:spcPts val="550"/>
              </a:spcBef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by adding new functionalities in successive versions.</a:t>
            </a:r>
          </a:p>
          <a:p>
            <a:pPr marL="342900" indent="-342900" algn="just">
              <a:spcBef>
                <a:spcPts val="825"/>
              </a:spcBef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Successive version of the product:</a:t>
            </a:r>
          </a:p>
          <a:p>
            <a:pPr marL="742950" lvl="1" algn="just">
              <a:spcBef>
                <a:spcPts val="725"/>
              </a:spcBef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functioning systems capable of performing some useful work. </a:t>
            </a:r>
          </a:p>
          <a:p>
            <a:pPr marL="742950" lvl="1" algn="just">
              <a:spcBef>
                <a:spcPts val="725"/>
              </a:spcBef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A new release may include new functionality:</a:t>
            </a:r>
          </a:p>
          <a:p>
            <a:pPr lvl="2" algn="just">
              <a:spcBef>
                <a:spcPts val="638"/>
              </a:spcBef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also existing functionality in the current release might have been enhanced.</a:t>
            </a:r>
          </a:p>
          <a:p>
            <a:pPr marL="742950" lvl="1" algn="just">
              <a:spcBef>
                <a:spcPts val="550"/>
              </a:spcBef>
            </a:pP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58AC66AB-F53F-009F-3887-BD655DDF9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927345"/>
            <a:ext cx="10515600" cy="76334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lvl="0" algn="ctr"/>
            <a:r>
              <a:rPr lang="en-GB" sz="49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Evolutionary Model</a:t>
            </a:r>
            <a:endParaRPr lang="en-US" sz="49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47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87856" y="1719617"/>
            <a:ext cx="7710986" cy="3643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4940490" y="5622878"/>
            <a:ext cx="20537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Fig 5 Evolutionary Model</a:t>
            </a: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6531B361-D5BF-7D6A-DB54-3314B3CDF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1004888"/>
            <a:ext cx="10515600" cy="685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lvl="0" algn="ctr"/>
            <a:r>
              <a:rPr lang="en-GB" sz="49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Spiral Model</a:t>
            </a:r>
            <a:endParaRPr lang="en-US" sz="49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just">
              <a:spcBef>
                <a:spcPts val="638"/>
              </a:spcBef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Each loop of the spiral represents a phase of the software process:</a:t>
            </a:r>
          </a:p>
          <a:p>
            <a:pPr marL="742950" lvl="1" algn="just">
              <a:spcBef>
                <a:spcPts val="550"/>
              </a:spcBef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the innermost loop might be concerned with system feasibility, </a:t>
            </a:r>
          </a:p>
          <a:p>
            <a:pPr marL="742950" lvl="1" algn="just">
              <a:spcBef>
                <a:spcPts val="550"/>
              </a:spcBef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the next loop with system requirements definition,</a:t>
            </a:r>
          </a:p>
          <a:p>
            <a:pPr marL="742950" lvl="1" algn="just">
              <a:spcBef>
                <a:spcPts val="550"/>
              </a:spcBef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the next one with system design, and so on.</a:t>
            </a:r>
          </a:p>
          <a:p>
            <a:pPr marL="342900" indent="-342900" algn="just"/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The team must decide: </a:t>
            </a:r>
          </a:p>
          <a:p>
            <a:pPr marL="742950" lvl="1" algn="just"/>
            <a:r>
              <a:rPr lang="en-GB" dirty="0">
                <a:latin typeface="Times New Roman" pitchFamily="18" charset="0"/>
                <a:cs typeface="Times New Roman" pitchFamily="18" charset="0"/>
              </a:rPr>
              <a:t>how to structure the project into phases.</a:t>
            </a:r>
          </a:p>
          <a:p>
            <a:pPr marL="342900" indent="-342900" algn="just"/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Start work using some generic model:</a:t>
            </a:r>
          </a:p>
          <a:p>
            <a:pPr marL="742950" lvl="1" algn="just"/>
            <a:r>
              <a:rPr lang="en-GB" dirty="0">
                <a:latin typeface="Times New Roman" pitchFamily="18" charset="0"/>
                <a:cs typeface="Times New Roman" pitchFamily="18" charset="0"/>
              </a:rPr>
              <a:t>add extra phases </a:t>
            </a:r>
          </a:p>
          <a:p>
            <a:pPr lvl="2" algn="just"/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for specific projects or when problems are identified during a project.</a:t>
            </a:r>
          </a:p>
          <a:p>
            <a:pPr marL="342900" indent="-342900" algn="just"/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Each loop in the spiral is split into four sectors (quadrants).</a:t>
            </a:r>
          </a:p>
          <a:p>
            <a:pPr marL="342900" indent="-342900" algn="just">
              <a:spcBef>
                <a:spcPts val="638"/>
              </a:spcBef>
            </a:pPr>
            <a:endParaRPr lang="en-GB" sz="2400" dirty="0">
              <a:solidFill>
                <a:srgbClr val="0033CC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lvl="1" algn="just">
              <a:spcBef>
                <a:spcPts val="550"/>
              </a:spcBef>
            </a:pP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A1C4C498-F7B6-40DE-32AB-066CB658C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1192414"/>
            <a:ext cx="10515600" cy="49827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lvl="0" algn="ctr"/>
            <a:r>
              <a:rPr lang="en-GB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Spiral Model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577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60812" y="2001044"/>
            <a:ext cx="7642746" cy="3362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4940490" y="5622877"/>
            <a:ext cx="15456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Fig 6 Spiral Model</a:t>
            </a: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E6A354E8-3DE6-2575-6B9A-00A60971F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1004888"/>
            <a:ext cx="10515600" cy="685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lvl="0" algn="ctr"/>
            <a:r>
              <a:rPr lang="en-GB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Spiral Model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just"/>
            <a:r>
              <a:rPr lang="en-GB" dirty="0">
                <a:latin typeface="Times New Roman" pitchFamily="18" charset="0"/>
                <a:cs typeface="Times New Roman" pitchFamily="18" charset="0"/>
              </a:rPr>
              <a:t>Identify objectives  of the phase, </a:t>
            </a:r>
          </a:p>
          <a:p>
            <a:pPr marL="342900" indent="-342900" algn="just"/>
            <a:r>
              <a:rPr lang="en-GB" dirty="0">
                <a:latin typeface="Times New Roman" pitchFamily="18" charset="0"/>
                <a:cs typeface="Times New Roman" pitchFamily="18" charset="0"/>
              </a:rPr>
              <a:t>Examine the risks associated with these objectives.</a:t>
            </a:r>
          </a:p>
          <a:p>
            <a:pPr marL="742950" lvl="1" algn="just">
              <a:spcBef>
                <a:spcPts val="725"/>
              </a:spcBef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Risk:</a:t>
            </a:r>
          </a:p>
          <a:p>
            <a:pPr lvl="2" algn="just">
              <a:spcBef>
                <a:spcPts val="638"/>
              </a:spcBef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any adverse circumstance that  might hamper successful completion of a software project.</a:t>
            </a:r>
          </a:p>
          <a:p>
            <a:pPr marL="342900" indent="-342900" algn="just"/>
            <a:r>
              <a:rPr lang="en-GB" dirty="0">
                <a:latin typeface="Times New Roman" pitchFamily="18" charset="0"/>
                <a:cs typeface="Times New Roman" pitchFamily="18" charset="0"/>
              </a:rPr>
              <a:t>Find alternate solutions possible. </a:t>
            </a:r>
          </a:p>
          <a:p>
            <a:pPr marL="342900" indent="-342900" algn="just">
              <a:spcBef>
                <a:spcPts val="638"/>
              </a:spcBef>
            </a:pPr>
            <a:endParaRPr lang="en-GB" dirty="0">
              <a:solidFill>
                <a:srgbClr val="0033CC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lvl="1" algn="just">
              <a:spcBef>
                <a:spcPts val="550"/>
              </a:spcBef>
            </a:pPr>
            <a:endParaRPr lang="en-GB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702E401B-102C-FBC8-E850-46F5A66A3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Changing requirements can be accommodated.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extensive use of prototypes.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can be captured more accurately.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see the system early.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can be divided into smaller parts and the risky parts can be developed earlier which helps in better risk management.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3F62ECEF-7DC6-4EAF-2650-0C2A3DBEE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is more complex.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of the project may not be known early.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for small or low risk projects and could be expensive for small projects.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is complex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Spiral may go on indefinitely.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number of intermediate stages requires excessive documentation.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9980655E-4023-7007-A32E-582FFA335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APPLICATIONS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Managing clients requirements in industry.</a:t>
            </a:r>
          </a:p>
          <a:p>
            <a:pPr algn="just"/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Generating software for noticing health activities with novel smart technologies.</a:t>
            </a:r>
          </a:p>
          <a:p>
            <a:pPr algn="just"/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Content Management and to analyzing Fraud detection and Prevention</a:t>
            </a:r>
          </a:p>
          <a:p>
            <a:pPr algn="just"/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Advertisements Targeting Platforms Managing content, posts, images and videos on social media platforms</a:t>
            </a:r>
          </a:p>
          <a:p>
            <a:pPr algn="just"/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Analyzing customer data in real-time for improving business performance</a:t>
            </a:r>
          </a:p>
          <a:p>
            <a:pPr algn="just"/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Public sector fields such as intelligence, defense, cyber security and scientific research</a:t>
            </a:r>
          </a:p>
          <a:p>
            <a:pPr algn="just">
              <a:lnSpc>
                <a:spcPct val="200000"/>
              </a:lnSpc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9">
            <a:extLst>
              <a:ext uri="{FF2B5EF4-FFF2-40B4-BE49-F238E27FC236}">
                <a16:creationId xmlns:a16="http://schemas.microsoft.com/office/drawing/2014/main" id="{421C276D-7A64-E649-A3B4-1E9C6423A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14959711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REFERENCES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    Reference Books: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Suman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Ugrasen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“Software Engineering - Concepts and Practices”,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First Edition,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Cengage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Mohammad Ali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Shaikh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“Software Engineering with UML”,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Third Edition,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Notion Press.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Somerville Ian, “Software Engineering”, Addison Wesley, 8th Edition.</a:t>
            </a:r>
          </a:p>
          <a:p>
            <a:pPr marL="342900" lvl="0" indent="-34290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Text Books: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Pressman Rogers, “Software Engineering: A Practitioner's Approach”, Sixth edition.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Patterson and Hennessy, “Computer Architecture” , Fifth Edition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Morgaon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Kauffman.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Rajib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Mall, “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Fundamentals of Software Engineering’’, Fourth Edition, Pearson, PHI.</a:t>
            </a:r>
          </a:p>
          <a:p>
            <a:pPr marL="342900" indent="-342900" algn="just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    Reference Website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https://www.javatpoint.com/software-engineering-sdlc-models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9">
            <a:extLst>
              <a:ext uri="{FF2B5EF4-FFF2-40B4-BE49-F238E27FC236}">
                <a16:creationId xmlns:a16="http://schemas.microsoft.com/office/drawing/2014/main" id="{1CE84469-89A7-F9C1-5C85-EAA0573F8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IMAGE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Fig 1 https://www.javatpoint.com/software-engineering-sdlc-models</a:t>
            </a:r>
          </a:p>
          <a:p>
            <a:r>
              <a:rPr lang="en-US" dirty="0"/>
              <a:t>Fig 2 https://flexagon.com/blog/7-software-development-models-you-should-know/</a:t>
            </a:r>
          </a:p>
          <a:p>
            <a:r>
              <a:rPr lang="en-US" dirty="0"/>
              <a:t>Fig 3 https://www.javatpoint.com/software-engineering-sdlc-models</a:t>
            </a:r>
          </a:p>
          <a:p>
            <a:r>
              <a:rPr lang="en-US" dirty="0"/>
              <a:t>Fig 4 https://flexagon.com/blog/7-software-development-models-you-should-know/</a:t>
            </a:r>
          </a:p>
          <a:p>
            <a:r>
              <a:rPr lang="en-US" dirty="0"/>
              <a:t>Fig 5 https://www.javatpoint.com/software-engineering-sdlc-models</a:t>
            </a:r>
          </a:p>
          <a:p>
            <a:r>
              <a:rPr lang="en-US" dirty="0"/>
              <a:t>Fig 6 http://swebokwiki.org/Chapter_9:_Software_Engineering_Models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C536CC8C-AE94-8230-D27F-1473100D4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Picture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333C65AD-C609-B84B-745A-5B104AD7E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1114</TotalTime>
  <Words>2370</Words>
  <Application>Microsoft Macintosh PowerPoint</Application>
  <PresentationFormat>Widescreen</PresentationFormat>
  <Paragraphs>328</Paragraphs>
  <Slides>37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Arial</vt:lpstr>
      <vt:lpstr>Arial Black</vt:lpstr>
      <vt:lpstr>Calibri</vt:lpstr>
      <vt:lpstr>Calibri Light</vt:lpstr>
      <vt:lpstr>Casper</vt:lpstr>
      <vt:lpstr>Casper Bold</vt:lpstr>
      <vt:lpstr>Times New Roman</vt:lpstr>
      <vt:lpstr>1_Office Theme</vt:lpstr>
      <vt:lpstr>Contents Slide Master</vt:lpstr>
      <vt:lpstr>CorelDRAW</vt:lpstr>
      <vt:lpstr>PowerPoint Presentation</vt:lpstr>
      <vt:lpstr>Introduction to Software Engineering </vt:lpstr>
      <vt:lpstr>Topics covered</vt:lpstr>
      <vt:lpstr>Software life cycle model</vt:lpstr>
      <vt:lpstr>CPU</vt:lpstr>
      <vt:lpstr> CLASSICAL WATERFALL MODEL </vt:lpstr>
      <vt:lpstr> FEASIBILITY STUDY </vt:lpstr>
      <vt:lpstr> FEASIBILITY STUDY </vt:lpstr>
      <vt:lpstr>REQUIREMENT ANALYSIS AND SPECIFICATION</vt:lpstr>
      <vt:lpstr>REQUIREMENT GATHERING</vt:lpstr>
      <vt:lpstr>REQUIREMENT ANALYSIS</vt:lpstr>
      <vt:lpstr>DESIGN</vt:lpstr>
      <vt:lpstr>IMPLEMENTATION</vt:lpstr>
      <vt:lpstr>INTEGRATION AND SYSTEM TESTING</vt:lpstr>
      <vt:lpstr>MAINTENANCE</vt:lpstr>
      <vt:lpstr>Advantages</vt:lpstr>
      <vt:lpstr>Disadvantages</vt:lpstr>
      <vt:lpstr>Application</vt:lpstr>
      <vt:lpstr>ITERATIVE WATERFALL MODEL</vt:lpstr>
      <vt:lpstr>ITERATIVE WATERFALL MODEL</vt:lpstr>
      <vt:lpstr>PROTOTYPING MODEL</vt:lpstr>
      <vt:lpstr>PROTOTYPING MODEL</vt:lpstr>
      <vt:lpstr>Prototype Model</vt:lpstr>
      <vt:lpstr>Advantages</vt:lpstr>
      <vt:lpstr>Disadvantages</vt:lpstr>
      <vt:lpstr>When to use</vt:lpstr>
      <vt:lpstr>Evolutionary Model</vt:lpstr>
      <vt:lpstr>Evolutionary Model</vt:lpstr>
      <vt:lpstr>Spiral Model</vt:lpstr>
      <vt:lpstr>Spiral Model</vt:lpstr>
      <vt:lpstr>Spiral Model</vt:lpstr>
      <vt:lpstr>Advantages</vt:lpstr>
      <vt:lpstr>Disadvantages</vt:lpstr>
      <vt:lpstr>APPLICATIONS    </vt:lpstr>
      <vt:lpstr>REFERENCES    </vt:lpstr>
      <vt:lpstr>IMAGE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Jagmeet Kaur</cp:lastModifiedBy>
  <cp:revision>222</cp:revision>
  <dcterms:created xsi:type="dcterms:W3CDTF">2019-01-09T10:33:58Z</dcterms:created>
  <dcterms:modified xsi:type="dcterms:W3CDTF">2024-12-20T08:07:55Z</dcterms:modified>
</cp:coreProperties>
</file>