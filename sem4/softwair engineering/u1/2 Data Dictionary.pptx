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4"/>
  </p:notesMasterIdLst>
  <p:handoutMasterIdLst>
    <p:handoutMasterId r:id="rId15"/>
  </p:handoutMasterIdLst>
  <p:sldIdLst>
    <p:sldId id="662" r:id="rId3"/>
    <p:sldId id="280" r:id="rId4"/>
    <p:sldId id="326" r:id="rId5"/>
    <p:sldId id="344" r:id="rId6"/>
    <p:sldId id="348" r:id="rId7"/>
    <p:sldId id="349" r:id="rId8"/>
    <p:sldId id="327" r:id="rId9"/>
    <p:sldId id="345" r:id="rId10"/>
    <p:sldId id="350" r:id="rId11"/>
    <p:sldId id="284" r:id="rId12"/>
    <p:sldId id="27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F5B"/>
    <a:srgbClr val="ED8137"/>
    <a:srgbClr val="BC8F00"/>
    <a:srgbClr val="860000"/>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119" d="100"/>
          <a:sy n="119" d="100"/>
        </p:scale>
        <p:origin x="416"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12/10/24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12/10/24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pic>
        <p:nvPicPr>
          <p:cNvPr id="7" name="Picture 6" descr="National Board of Accreditation - Wikipedia">
            <a:extLst>
              <a:ext uri="{FF2B5EF4-FFF2-40B4-BE49-F238E27FC236}">
                <a16:creationId xmlns:a16="http://schemas.microsoft.com/office/drawing/2014/main" id="{05D3795B-BD3F-D023-8BA0-E3D909CF12AA}"/>
              </a:ext>
            </a:extLst>
          </p:cNvPr>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12/10/24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48D392E6-E998-6049-E7CE-6C4C25C13D42}"/>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49C1E365-EA9D-EA52-E258-3952553B241F}"/>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9" name="Picture 8">
            <a:extLst>
              <a:ext uri="{FF2B5EF4-FFF2-40B4-BE49-F238E27FC236}">
                <a16:creationId xmlns:a16="http://schemas.microsoft.com/office/drawing/2014/main" id="{3E3E9651-8945-E4C8-3606-4C4BC0A4C9B5}"/>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4" name="Picture 3">
            <a:extLst>
              <a:ext uri="{FF2B5EF4-FFF2-40B4-BE49-F238E27FC236}">
                <a16:creationId xmlns:a16="http://schemas.microsoft.com/office/drawing/2014/main" id="{C9AAA74D-A8A2-1D79-E57D-BE2ABF9F41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958851"/>
          </a:xfrm>
        </p:spPr>
        <p:txBody>
          <a:bodyPr>
            <a:noAutofit/>
          </a:bodyPr>
          <a:lstStyle/>
          <a:p>
            <a:pPr algn="ctr"/>
            <a:r>
              <a:rPr lang="en-US" dirty="0">
                <a:latin typeface="Times New Roman" pitchFamily="18" charset="0"/>
                <a:cs typeface="Times New Roman" pitchFamily="18" charset="0"/>
              </a:rPr>
              <a:t>Topics covered</a:t>
            </a:r>
          </a:p>
        </p:txBody>
      </p:sp>
      <p:sp>
        <p:nvSpPr>
          <p:cNvPr id="3" name="Content Placeholder 2"/>
          <p:cNvSpPr>
            <a:spLocks noGrp="1"/>
          </p:cNvSpPr>
          <p:nvPr>
            <p:ph idx="1"/>
          </p:nvPr>
        </p:nvSpPr>
        <p:spPr/>
        <p:txBody>
          <a:bodyPr>
            <a:normAutofit/>
          </a:bodyPr>
          <a:lstStyle/>
          <a:p>
            <a:pPr>
              <a:lnSpc>
                <a:spcPct val="150000"/>
              </a:lnSpc>
            </a:pPr>
            <a:r>
              <a:rPr lang="en-US" dirty="0">
                <a:latin typeface="Times New Roman" pitchFamily="18" charset="0"/>
                <a:cs typeface="Times New Roman" pitchFamily="18" charset="0"/>
              </a:rPr>
              <a:t>Data Dictionary</a:t>
            </a:r>
          </a:p>
          <a:p>
            <a:pPr>
              <a:lnSpc>
                <a:spcPct val="150000"/>
              </a:lnSpc>
            </a:pPr>
            <a:r>
              <a:rPr lang="en-US" dirty="0">
                <a:latin typeface="Times New Roman" pitchFamily="18" charset="0"/>
                <a:cs typeface="Times New Roman" pitchFamily="18" charset="0"/>
              </a:rPr>
              <a:t>Structured Chart</a:t>
            </a:r>
          </a:p>
          <a:p>
            <a:pPr>
              <a:lnSpc>
                <a:spcPct val="150000"/>
              </a:lnSpc>
            </a:pPr>
            <a:r>
              <a:rPr lang="en-US" dirty="0">
                <a:latin typeface="Times New Roman" pitchFamily="18" charset="0"/>
                <a:cs typeface="Times New Roman" pitchFamily="18" charset="0"/>
              </a:rPr>
              <a:t>Pseudo Code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681037"/>
            <a:ext cx="10515600" cy="94297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9">
            <a:extLst>
              <a:ext uri="{FF2B5EF4-FFF2-40B4-BE49-F238E27FC236}">
                <a16:creationId xmlns:a16="http://schemas.microsoft.com/office/drawing/2014/main" id="{AF582B90-ACEB-338A-F271-6FE12CEC7B4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763793"/>
            <a:ext cx="10515600" cy="92689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b="1" dirty="0">
                <a:solidFill>
                  <a:schemeClr val="tx1"/>
                </a:solidFill>
                <a:latin typeface="Times New Roman" pitchFamily="18" charset="0"/>
                <a:cs typeface="Times New Roman" pitchFamily="18" charset="0"/>
              </a:rPr>
            </a:br>
            <a:r>
              <a:rPr lang="en-US" b="1" dirty="0">
                <a:solidFill>
                  <a:schemeClr val="tx1"/>
                </a:solidFill>
                <a:latin typeface="Times New Roman" pitchFamily="18" charset="0"/>
                <a:cs typeface="Times New Roman" pitchFamily="18" charset="0"/>
              </a:rPr>
              <a:t>Data Dictionaries</a:t>
            </a:r>
            <a:br>
              <a:rPr lang="en-US" b="1"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algn="just"/>
            <a:r>
              <a:rPr lang="en-US" dirty="0">
                <a:latin typeface="Times New Roman" pitchFamily="18" charset="0"/>
                <a:cs typeface="Times New Roman" pitchFamily="18" charset="0"/>
              </a:rPr>
              <a:t>A data dictionary lists all data elements appearing in the DFD model of a system. </a:t>
            </a:r>
          </a:p>
          <a:p>
            <a:pPr algn="just"/>
            <a:r>
              <a:rPr lang="en-US" dirty="0">
                <a:latin typeface="Times New Roman" pitchFamily="18" charset="0"/>
                <a:cs typeface="Times New Roman" pitchFamily="18" charset="0"/>
              </a:rPr>
              <a:t>The data items listed contain all data flows and the contents of all data stores looking on the DFDs in the DFD model of a system.</a:t>
            </a:r>
          </a:p>
          <a:p>
            <a:pPr algn="just"/>
            <a:r>
              <a:rPr lang="en-US" dirty="0">
                <a:latin typeface="Times New Roman" pitchFamily="18" charset="0"/>
                <a:cs typeface="Times New Roman" pitchFamily="18" charset="0"/>
              </a:rPr>
              <a:t>A data dictionary lists the objective of all data items and the definition of all composite data elements in terms of their component data items.</a:t>
            </a:r>
          </a:p>
          <a:p>
            <a:pPr algn="just"/>
            <a:endParaRPr lang="en-US" dirty="0">
              <a:latin typeface="Times New Roman" pitchFamily="18" charset="0"/>
              <a:cs typeface="Times New Roman" pitchFamily="18" charset="0"/>
            </a:endParaRPr>
          </a:p>
        </p:txBody>
      </p:sp>
      <p:sp>
        <p:nvSpPr>
          <p:cNvPr id="2" name="Footer Placeholder 9">
            <a:extLst>
              <a:ext uri="{FF2B5EF4-FFF2-40B4-BE49-F238E27FC236}">
                <a16:creationId xmlns:a16="http://schemas.microsoft.com/office/drawing/2014/main" id="{2480DAD8-AD29-982B-CDAC-73AFF2F9108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71369"/>
            <a:ext cx="10515600" cy="81931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br>
              <a:rPr lang="en-US" b="1" dirty="0">
                <a:solidFill>
                  <a:schemeClr val="tx1"/>
                </a:solidFill>
                <a:latin typeface="Times New Roman" pitchFamily="18" charset="0"/>
                <a:cs typeface="Times New Roman" pitchFamily="18" charset="0"/>
              </a:rPr>
            </a:br>
            <a:r>
              <a:rPr lang="en-US" b="1" dirty="0">
                <a:solidFill>
                  <a:schemeClr val="tx1"/>
                </a:solidFill>
                <a:latin typeface="Times New Roman" pitchFamily="18" charset="0"/>
                <a:cs typeface="Times New Roman" pitchFamily="18" charset="0"/>
              </a:rPr>
              <a:t>Data Dictionaries</a:t>
            </a:r>
            <a:br>
              <a:rPr lang="en-US" b="1" dirty="0">
                <a:solidFill>
                  <a:schemeClr val="tx1"/>
                </a:solidFill>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algn="just"/>
            <a:r>
              <a:rPr lang="en-US" dirty="0">
                <a:latin typeface="Times New Roman" pitchFamily="18" charset="0"/>
                <a:cs typeface="Times New Roman" pitchFamily="18" charset="0"/>
              </a:rPr>
              <a:t>For example, a data dictionary entry may contain that the data </a:t>
            </a:r>
            <a:r>
              <a:rPr lang="en-US" i="1" dirty="0" err="1">
                <a:latin typeface="Times New Roman" pitchFamily="18" charset="0"/>
                <a:cs typeface="Times New Roman" pitchFamily="18" charset="0"/>
              </a:rPr>
              <a:t>grossPay</a:t>
            </a:r>
            <a:r>
              <a:rPr lang="en-US" dirty="0">
                <a:latin typeface="Times New Roman" pitchFamily="18" charset="0"/>
                <a:cs typeface="Times New Roman" pitchFamily="18" charset="0"/>
              </a:rPr>
              <a:t> consists of the parts </a:t>
            </a:r>
            <a:r>
              <a:rPr lang="en-US" i="1" dirty="0" err="1">
                <a:latin typeface="Times New Roman" pitchFamily="18" charset="0"/>
                <a:cs typeface="Times New Roman" pitchFamily="18" charset="0"/>
              </a:rPr>
              <a:t>regularPay</a:t>
            </a:r>
            <a:r>
              <a:rPr lang="en-US" dirty="0">
                <a:latin typeface="Times New Roman" pitchFamily="18" charset="0"/>
                <a:cs typeface="Times New Roman" pitchFamily="18" charset="0"/>
              </a:rPr>
              <a:t> and </a:t>
            </a:r>
            <a:r>
              <a:rPr lang="en-US" i="1" dirty="0" err="1">
                <a:latin typeface="Times New Roman" pitchFamily="18" charset="0"/>
                <a:cs typeface="Times New Roman" pitchFamily="18" charset="0"/>
              </a:rPr>
              <a:t>overtimePay</a:t>
            </a:r>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 </a:t>
            </a:r>
          </a:p>
          <a:p>
            <a:pPr algn="just"/>
            <a:r>
              <a:rPr lang="en-US" dirty="0">
                <a:latin typeface="Times New Roman" pitchFamily="18" charset="0"/>
                <a:cs typeface="Times New Roman" pitchFamily="18" charset="0"/>
              </a:rPr>
              <a:t>                  </a:t>
            </a:r>
            <a:r>
              <a:rPr lang="en-US" b="1" dirty="0" err="1">
                <a:latin typeface="Times New Roman" pitchFamily="18" charset="0"/>
                <a:cs typeface="Times New Roman" pitchFamily="18" charset="0"/>
              </a:rPr>
              <a:t>grossPay</a:t>
            </a:r>
            <a:r>
              <a:rPr lang="en-US" b="1" dirty="0">
                <a:latin typeface="Times New Roman" pitchFamily="18" charset="0"/>
                <a:cs typeface="Times New Roman" pitchFamily="18" charset="0"/>
              </a:rPr>
              <a:t> = </a:t>
            </a:r>
            <a:r>
              <a:rPr lang="en-US" b="1" dirty="0" err="1">
                <a:latin typeface="Times New Roman" pitchFamily="18" charset="0"/>
                <a:cs typeface="Times New Roman" pitchFamily="18" charset="0"/>
              </a:rPr>
              <a:t>regularPay</a:t>
            </a:r>
            <a:r>
              <a:rPr lang="en-US" b="1" dirty="0">
                <a:latin typeface="Times New Roman" pitchFamily="18" charset="0"/>
                <a:cs typeface="Times New Roman" pitchFamily="18" charset="0"/>
              </a:rPr>
              <a:t> + </a:t>
            </a:r>
            <a:r>
              <a:rPr lang="en-US" b="1" dirty="0" err="1">
                <a:latin typeface="Times New Roman" pitchFamily="18" charset="0"/>
                <a:cs typeface="Times New Roman" pitchFamily="18" charset="0"/>
              </a:rPr>
              <a:t>overtimePay</a:t>
            </a: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For the smallest units of data elements, the data dictionary lists their name and their type.</a:t>
            </a:r>
          </a:p>
          <a:p>
            <a:pPr algn="just"/>
            <a:endParaRPr lang="en-US" dirty="0">
              <a:latin typeface="Times New Roman" pitchFamily="18" charset="0"/>
              <a:cs typeface="Times New Roman" pitchFamily="18" charset="0"/>
            </a:endParaRPr>
          </a:p>
        </p:txBody>
      </p:sp>
      <p:sp>
        <p:nvSpPr>
          <p:cNvPr id="2" name="Footer Placeholder 9">
            <a:extLst>
              <a:ext uri="{FF2B5EF4-FFF2-40B4-BE49-F238E27FC236}">
                <a16:creationId xmlns:a16="http://schemas.microsoft.com/office/drawing/2014/main" id="{7DE78239-ABE5-9477-4277-69F498A5179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itchFamily="18" charset="0"/>
                <a:cs typeface="Times New Roman" pitchFamily="18" charset="0"/>
              </a:rPr>
              <a:t>Data Dictionaries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6" name="Content Placeholder 5"/>
          <p:cNvSpPr>
            <a:spLocks noGrp="1"/>
          </p:cNvSpPr>
          <p:nvPr>
            <p:ph idx="1"/>
          </p:nvPr>
        </p:nvSpPr>
        <p:spPr/>
        <p:txBody>
          <a:bodyPr/>
          <a:lstStyle/>
          <a:p>
            <a:pPr algn="just"/>
            <a:r>
              <a:rPr lang="en-US" dirty="0">
                <a:latin typeface="Times New Roman" pitchFamily="18" charset="0"/>
                <a:cs typeface="Times New Roman" pitchFamily="18" charset="0"/>
              </a:rPr>
              <a:t>A data dictionary plays a significant role in any software development process because of the following reasons:</a:t>
            </a:r>
          </a:p>
          <a:p>
            <a:pPr lvl="0" algn="just"/>
            <a:r>
              <a:rPr lang="en-US" dirty="0">
                <a:latin typeface="Times New Roman" pitchFamily="18" charset="0"/>
                <a:cs typeface="Times New Roman" pitchFamily="18" charset="0"/>
              </a:rPr>
              <a:t>A Data dictionary provides a standard language for all relevant information for use by engineers working in a project. A consistent vocabulary for data items is essential since, in large projects, different engineers of the project tend to use different terms to refer to the same data, which unnecessarily causes confusion.</a:t>
            </a:r>
          </a:p>
          <a:p>
            <a:pPr lvl="0" algn="just"/>
            <a:r>
              <a:rPr lang="en-US" dirty="0">
                <a:latin typeface="Times New Roman" pitchFamily="18" charset="0"/>
                <a:cs typeface="Times New Roman" pitchFamily="18" charset="0"/>
              </a:rPr>
              <a:t>The data dictionary provides the analyst with a means to determine the definition of various data structures in terms of their component elements.</a:t>
            </a:r>
          </a:p>
          <a:p>
            <a:pPr algn="just"/>
            <a:endParaRPr lang="en-US" dirty="0">
              <a:latin typeface="Times New Roman" pitchFamily="18" charset="0"/>
              <a:cs typeface="Times New Roman" pitchFamily="18" charset="0"/>
            </a:endParaRPr>
          </a:p>
        </p:txBody>
      </p:sp>
      <p:sp>
        <p:nvSpPr>
          <p:cNvPr id="3" name="Footer Placeholder 9">
            <a:extLst>
              <a:ext uri="{FF2B5EF4-FFF2-40B4-BE49-F238E27FC236}">
                <a16:creationId xmlns:a16="http://schemas.microsoft.com/office/drawing/2014/main" id="{F07023E7-D9A5-D441-433D-0FAFBD3ECAB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itchFamily="18" charset="0"/>
                <a:cs typeface="Times New Roman" pitchFamily="18" charset="0"/>
              </a:rPr>
              <a:t>Structured Charts</a:t>
            </a:r>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It partitions a system into block boxes. A Black box system that functionality is known to the user without the knowledge of internal design.</a:t>
            </a:r>
          </a:p>
          <a:p>
            <a:pPr algn="just"/>
            <a:r>
              <a:rPr lang="en-US" dirty="0">
                <a:latin typeface="Times New Roman" pitchFamily="18" charset="0"/>
                <a:cs typeface="Times New Roman" pitchFamily="18" charset="0"/>
              </a:rPr>
              <a:t> </a:t>
            </a: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pic>
        <p:nvPicPr>
          <p:cNvPr id="6" name="Picture 5"/>
          <p:cNvPicPr/>
          <p:nvPr/>
        </p:nvPicPr>
        <p:blipFill>
          <a:blip r:embed="rId2"/>
          <a:srcRect/>
          <a:stretch>
            <a:fillRect/>
          </a:stretch>
        </p:blipFill>
        <p:spPr bwMode="auto">
          <a:xfrm>
            <a:off x="3200115" y="2873635"/>
            <a:ext cx="5875646" cy="3445278"/>
          </a:xfrm>
          <a:prstGeom prst="rect">
            <a:avLst/>
          </a:prstGeom>
          <a:noFill/>
          <a:ln w="9525">
            <a:noFill/>
            <a:miter lim="800000"/>
            <a:headEnd/>
            <a:tailEnd/>
          </a:ln>
        </p:spPr>
      </p:pic>
      <p:sp>
        <p:nvSpPr>
          <p:cNvPr id="5" name="Footer Placeholder 9">
            <a:extLst>
              <a:ext uri="{FF2B5EF4-FFF2-40B4-BE49-F238E27FC236}">
                <a16:creationId xmlns:a16="http://schemas.microsoft.com/office/drawing/2014/main" id="{770280C5-E620-F4BA-0264-CEF056DBA6A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82127"/>
            <a:ext cx="10515600" cy="80856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dirty="0">
                <a:solidFill>
                  <a:schemeClr val="tx1"/>
                </a:solidFill>
                <a:latin typeface="Times New Roman" pitchFamily="18" charset="0"/>
                <a:cs typeface="Times New Roman" pitchFamily="18" charset="0"/>
              </a:rPr>
              <a:t>Structured Charts</a:t>
            </a: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lstStyle/>
          <a:p>
            <a:pPr algn="just"/>
            <a:r>
              <a:rPr lang="en-US" dirty="0">
                <a:latin typeface="Times New Roman" pitchFamily="18" charset="0"/>
                <a:cs typeface="Times New Roman" pitchFamily="18" charset="0"/>
              </a:rPr>
              <a:t>Structured Chart is a graphical representation which shows:</a:t>
            </a:r>
          </a:p>
          <a:p>
            <a:pPr lvl="0" algn="just"/>
            <a:r>
              <a:rPr lang="en-US" dirty="0">
                <a:latin typeface="Times New Roman" pitchFamily="18" charset="0"/>
                <a:cs typeface="Times New Roman" pitchFamily="18" charset="0"/>
              </a:rPr>
              <a:t>System partitions into modules</a:t>
            </a:r>
          </a:p>
          <a:p>
            <a:pPr lvl="0" algn="just"/>
            <a:r>
              <a:rPr lang="en-US" dirty="0">
                <a:latin typeface="Times New Roman" pitchFamily="18" charset="0"/>
                <a:cs typeface="Times New Roman" pitchFamily="18" charset="0"/>
              </a:rPr>
              <a:t>Hierarchy of component modules</a:t>
            </a:r>
          </a:p>
          <a:p>
            <a:pPr lvl="0" algn="just"/>
            <a:r>
              <a:rPr lang="en-US" dirty="0">
                <a:latin typeface="Times New Roman" pitchFamily="18" charset="0"/>
                <a:cs typeface="Times New Roman" pitchFamily="18" charset="0"/>
              </a:rPr>
              <a:t>The relation between processing modules</a:t>
            </a:r>
          </a:p>
          <a:p>
            <a:pPr lvl="0" algn="just"/>
            <a:r>
              <a:rPr lang="en-US" dirty="0">
                <a:latin typeface="Times New Roman" pitchFamily="18" charset="0"/>
                <a:cs typeface="Times New Roman" pitchFamily="18" charset="0"/>
              </a:rPr>
              <a:t>Interaction between modules</a:t>
            </a:r>
          </a:p>
          <a:p>
            <a:pPr lvl="0" algn="just"/>
            <a:r>
              <a:rPr lang="en-US" dirty="0">
                <a:latin typeface="Times New Roman" pitchFamily="18" charset="0"/>
                <a:cs typeface="Times New Roman" pitchFamily="18" charset="0"/>
              </a:rPr>
              <a:t>Information passed between modules</a:t>
            </a:r>
          </a:p>
          <a:p>
            <a:pPr algn="just"/>
            <a:endParaRPr lang="en-US" dirty="0">
              <a:latin typeface="Times New Roman" pitchFamily="18" charset="0"/>
              <a:cs typeface="Times New Roman" pitchFamily="18" charset="0"/>
            </a:endParaRPr>
          </a:p>
        </p:txBody>
      </p:sp>
      <p:sp>
        <p:nvSpPr>
          <p:cNvPr id="2" name="Footer Placeholder 9">
            <a:extLst>
              <a:ext uri="{FF2B5EF4-FFF2-40B4-BE49-F238E27FC236}">
                <a16:creationId xmlns:a16="http://schemas.microsoft.com/office/drawing/2014/main" id="{BB7A7B2D-615F-3D97-9833-97555CD5752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14400"/>
            <a:ext cx="10515600" cy="7762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dirty="0">
                <a:solidFill>
                  <a:schemeClr val="tx1"/>
                </a:solidFill>
                <a:latin typeface="Times New Roman" pitchFamily="18" charset="0"/>
                <a:cs typeface="Times New Roman" pitchFamily="18" charset="0"/>
              </a:rPr>
              <a:t>Structured Charts</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r>
              <a:rPr lang="en-US" b="1" dirty="0"/>
              <a:t>The following notations are used in structured chart:</a:t>
            </a:r>
            <a:endParaRPr lang="en-US" dirty="0"/>
          </a:p>
          <a:p>
            <a:pPr marL="342900" indent="-342900"/>
            <a:endParaRPr lang="en-GB" dirty="0"/>
          </a:p>
        </p:txBody>
      </p:sp>
      <p:pic>
        <p:nvPicPr>
          <p:cNvPr id="9" name="Picture 8"/>
          <p:cNvPicPr/>
          <p:nvPr/>
        </p:nvPicPr>
        <p:blipFill>
          <a:blip r:embed="rId2"/>
          <a:srcRect/>
          <a:stretch>
            <a:fillRect/>
          </a:stretch>
        </p:blipFill>
        <p:spPr bwMode="auto">
          <a:xfrm>
            <a:off x="3992253" y="2248255"/>
            <a:ext cx="4387472" cy="3971925"/>
          </a:xfrm>
          <a:prstGeom prst="rect">
            <a:avLst/>
          </a:prstGeom>
          <a:noFill/>
          <a:ln w="9525">
            <a:noFill/>
            <a:miter lim="800000"/>
            <a:headEnd/>
            <a:tailEnd/>
          </a:ln>
        </p:spPr>
      </p:pic>
      <p:sp>
        <p:nvSpPr>
          <p:cNvPr id="2" name="Footer Placeholder 9">
            <a:extLst>
              <a:ext uri="{FF2B5EF4-FFF2-40B4-BE49-F238E27FC236}">
                <a16:creationId xmlns:a16="http://schemas.microsoft.com/office/drawing/2014/main" id="{9ADE7C67-38CE-F674-0BE3-9E942D3FEB4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itchFamily="18" charset="0"/>
                <a:cs typeface="Times New Roman" pitchFamily="18" charset="0"/>
              </a:rPr>
              <a:t>Pseudo Code</a:t>
            </a:r>
          </a:p>
        </p:txBody>
      </p:sp>
      <p:sp>
        <p:nvSpPr>
          <p:cNvPr id="3" name="Content Placeholder 2"/>
          <p:cNvSpPr>
            <a:spLocks noGrp="1"/>
          </p:cNvSpPr>
          <p:nvPr>
            <p:ph idx="1"/>
          </p:nvPr>
        </p:nvSpPr>
        <p:spPr/>
        <p:txBody>
          <a:bodyPr>
            <a:normAutofit/>
          </a:bodyPr>
          <a:lstStyle/>
          <a:p>
            <a:pPr algn="just"/>
            <a:r>
              <a:rPr lang="en-US" dirty="0">
                <a:latin typeface="Times New Roman" pitchFamily="18" charset="0"/>
                <a:cs typeface="Times New Roman" pitchFamily="18" charset="0"/>
              </a:rPr>
              <a:t>Pseudo Code is system description in short English like phrases describing the function. </a:t>
            </a:r>
          </a:p>
          <a:p>
            <a:pPr algn="just"/>
            <a:r>
              <a:rPr lang="en-US" dirty="0">
                <a:latin typeface="Times New Roman" pitchFamily="18" charset="0"/>
                <a:cs typeface="Times New Roman" pitchFamily="18" charset="0"/>
              </a:rPr>
              <a:t>It use keyword and indentation. Pseudo codes are used as replacement for flow charts. </a:t>
            </a:r>
          </a:p>
          <a:p>
            <a:pPr algn="just"/>
            <a:r>
              <a:rPr lang="en-US" dirty="0">
                <a:latin typeface="Times New Roman" pitchFamily="18" charset="0"/>
                <a:cs typeface="Times New Roman" pitchFamily="18" charset="0"/>
              </a:rPr>
              <a:t>It decreases the amount of documentation required.</a:t>
            </a:r>
          </a:p>
          <a:p>
            <a:pPr algn="just">
              <a:buNone/>
            </a:pPr>
            <a:r>
              <a:rPr lang="en-US" dirty="0">
                <a:latin typeface="Times New Roman" pitchFamily="18" charset="0"/>
                <a:cs typeface="Times New Roman" pitchFamily="18" charset="0"/>
              </a:rPr>
              <a:t> </a:t>
            </a:r>
          </a:p>
          <a:p>
            <a:pPr algn="just"/>
            <a:endParaRPr lang="en-US" dirty="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Rectangle 4"/>
          <p:cNvSpPr/>
          <p:nvPr/>
        </p:nvSpPr>
        <p:spPr>
          <a:xfrm>
            <a:off x="900753" y="681036"/>
            <a:ext cx="10617958" cy="9157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2513" y="1828800"/>
            <a:ext cx="10795380" cy="44764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9">
            <a:extLst>
              <a:ext uri="{FF2B5EF4-FFF2-40B4-BE49-F238E27FC236}">
                <a16:creationId xmlns:a16="http://schemas.microsoft.com/office/drawing/2014/main" id="{00A95F5F-5925-F7F5-FD0A-6FA13176F39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Times New Roman" pitchFamily="18" charset="0"/>
                <a:cs typeface="Times New Roman" pitchFamily="18" charset="0"/>
              </a:rPr>
              <a:t>REFERENCES </a:t>
            </a:r>
            <a:r>
              <a:rPr lang="en-US" sz="2800" dirty="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lvl="0" algn="just">
              <a:buNone/>
            </a:pPr>
            <a:r>
              <a:rPr lang="en-US" sz="2000" b="1" dirty="0">
                <a:latin typeface="Times New Roman" pitchFamily="18" charset="0"/>
                <a:cs typeface="Times New Roman" pitchFamily="18" charset="0"/>
              </a:rPr>
              <a:t>      Reference Books:</a:t>
            </a:r>
          </a:p>
          <a:p>
            <a:pPr marL="342900" indent="-342900" algn="just">
              <a:buFont typeface="+mj-lt"/>
              <a:buAutoNum type="arabicPeriod"/>
            </a:pPr>
            <a:r>
              <a:rPr lang="en-US" sz="2000" dirty="0" err="1">
                <a:latin typeface="Times New Roman" pitchFamily="18" charset="0"/>
                <a:cs typeface="Times New Roman" pitchFamily="18" charset="0"/>
              </a:rPr>
              <a:t>Suman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Ugrasen</a:t>
            </a:r>
            <a:r>
              <a:rPr lang="en-US" sz="2000" dirty="0">
                <a:latin typeface="Times New Roman" pitchFamily="18" charset="0"/>
                <a:cs typeface="Times New Roman" pitchFamily="18" charset="0"/>
              </a:rPr>
              <a:t>, “Software Engineering - Concepts and Practices”, </a:t>
            </a:r>
            <a:r>
              <a:rPr lang="en-IN" sz="2000" dirty="0">
                <a:latin typeface="Times New Roman" pitchFamily="18" charset="0"/>
                <a:cs typeface="Times New Roman" pitchFamily="18" charset="0"/>
              </a:rPr>
              <a:t>First Edition, </a:t>
            </a:r>
            <a:r>
              <a:rPr lang="en-US" sz="2000" dirty="0" err="1">
                <a:latin typeface="Times New Roman" pitchFamily="18" charset="0"/>
                <a:cs typeface="Times New Roman" pitchFamily="18" charset="0"/>
              </a:rPr>
              <a:t>Cengage</a:t>
            </a:r>
            <a:r>
              <a:rPr lang="en-US" sz="2000" dirty="0">
                <a:latin typeface="Times New Roman" pitchFamily="18" charset="0"/>
                <a:cs typeface="Times New Roman" pitchFamily="18" charset="0"/>
              </a:rPr>
              <a:t>.</a:t>
            </a:r>
            <a:endParaRPr lang="en-IN" sz="2000" dirty="0">
              <a:latin typeface="Times New Roman" pitchFamily="18" charset="0"/>
              <a:cs typeface="Times New Roman" pitchFamily="18" charset="0"/>
            </a:endParaRPr>
          </a:p>
          <a:p>
            <a:pPr marL="342900" indent="-342900" algn="just">
              <a:buFont typeface="+mj-lt"/>
              <a:buAutoNum type="arabicPeriod"/>
            </a:pPr>
            <a:r>
              <a:rPr lang="en-US" sz="2000" dirty="0">
                <a:latin typeface="Times New Roman" pitchFamily="18" charset="0"/>
                <a:cs typeface="Times New Roman" pitchFamily="18" charset="0"/>
              </a:rPr>
              <a:t>Mohammad Ali </a:t>
            </a:r>
            <a:r>
              <a:rPr lang="en-US" sz="2000" dirty="0" err="1">
                <a:latin typeface="Times New Roman" pitchFamily="18" charset="0"/>
                <a:cs typeface="Times New Roman" pitchFamily="18" charset="0"/>
              </a:rPr>
              <a:t>Shaikh</a:t>
            </a:r>
            <a:r>
              <a:rPr lang="en-US" sz="2000" dirty="0">
                <a:latin typeface="Times New Roman" pitchFamily="18" charset="0"/>
                <a:cs typeface="Times New Roman" pitchFamily="18" charset="0"/>
              </a:rPr>
              <a:t>, “Software Engineering with UML”, </a:t>
            </a:r>
            <a:r>
              <a:rPr lang="en-IN" sz="2000" dirty="0">
                <a:latin typeface="Times New Roman" pitchFamily="18" charset="0"/>
                <a:cs typeface="Times New Roman" pitchFamily="18" charset="0"/>
              </a:rPr>
              <a:t>Third Edition,</a:t>
            </a:r>
            <a:r>
              <a:rPr lang="en-US" sz="2000" dirty="0">
                <a:latin typeface="Times New Roman" pitchFamily="18" charset="0"/>
                <a:cs typeface="Times New Roman" pitchFamily="18" charset="0"/>
              </a:rPr>
              <a:t> Notion Press.</a:t>
            </a:r>
          </a:p>
          <a:p>
            <a:pPr marL="342900" indent="-342900" algn="just">
              <a:buFont typeface="+mj-lt"/>
              <a:buAutoNum type="arabicPeriod"/>
            </a:pPr>
            <a:r>
              <a:rPr lang="en-US" sz="2000" dirty="0">
                <a:latin typeface="Times New Roman" pitchFamily="18" charset="0"/>
                <a:cs typeface="Times New Roman" pitchFamily="18" charset="0"/>
              </a:rPr>
              <a:t>Somerville Ian, “Software Engineering”, Addison Wesley, 8th Edition.</a:t>
            </a:r>
          </a:p>
          <a:p>
            <a:pPr marL="342900" lvl="0" indent="-342900" algn="just">
              <a:buNone/>
            </a:pPr>
            <a:r>
              <a:rPr lang="en-US" sz="2000" b="1" dirty="0">
                <a:latin typeface="Times New Roman" pitchFamily="18" charset="0"/>
                <a:cs typeface="Times New Roman" pitchFamily="18" charset="0"/>
              </a:rPr>
              <a:t>	Text Books:</a:t>
            </a:r>
          </a:p>
          <a:p>
            <a:pPr marL="342900" lvl="0" indent="-342900" algn="just">
              <a:buFont typeface="+mj-lt"/>
              <a:buAutoNum type="arabicPeriod"/>
            </a:pPr>
            <a:r>
              <a:rPr lang="en-US" sz="2000" dirty="0">
                <a:latin typeface="Times New Roman" pitchFamily="18" charset="0"/>
                <a:cs typeface="Times New Roman" pitchFamily="18" charset="0"/>
              </a:rPr>
              <a:t>Pressman Rogers, “Software Engineering: A Practitioner's Approach”, Sixth edition. </a:t>
            </a:r>
            <a:r>
              <a:rPr lang="en-IN" sz="2000" dirty="0">
                <a:latin typeface="Times New Roman" pitchFamily="18" charset="0"/>
                <a:cs typeface="Times New Roman" pitchFamily="18" charset="0"/>
              </a:rPr>
              <a:t>Patterson and Hennessy, “Computer Architecture” , Fifth Edition </a:t>
            </a:r>
            <a:r>
              <a:rPr lang="en-IN" sz="2000" dirty="0" err="1">
                <a:latin typeface="Times New Roman" pitchFamily="18" charset="0"/>
                <a:cs typeface="Times New Roman" pitchFamily="18" charset="0"/>
              </a:rPr>
              <a:t>Morgaon</a:t>
            </a:r>
            <a:r>
              <a:rPr lang="en-IN" sz="2000" dirty="0">
                <a:latin typeface="Times New Roman" pitchFamily="18" charset="0"/>
                <a:cs typeface="Times New Roman" pitchFamily="18" charset="0"/>
              </a:rPr>
              <a:t> Kauffman.</a:t>
            </a:r>
          </a:p>
          <a:p>
            <a:pPr marL="342900" indent="-342900" algn="just">
              <a:buFont typeface="+mj-lt"/>
              <a:buAutoNum type="arabicPeriod"/>
            </a:pPr>
            <a:r>
              <a:rPr lang="en-IN" sz="2000" dirty="0" err="1">
                <a:latin typeface="Times New Roman" pitchFamily="18" charset="0"/>
                <a:cs typeface="Times New Roman" pitchFamily="18" charset="0"/>
              </a:rPr>
              <a:t>Rajib</a:t>
            </a:r>
            <a:r>
              <a:rPr lang="en-IN" sz="2000" dirty="0">
                <a:latin typeface="Times New Roman" pitchFamily="18" charset="0"/>
                <a:cs typeface="Times New Roman" pitchFamily="18" charset="0"/>
              </a:rPr>
              <a:t> Mall, “</a:t>
            </a:r>
            <a:r>
              <a:rPr lang="en-US" sz="2000" dirty="0">
                <a:latin typeface="Times New Roman" pitchFamily="18" charset="0"/>
                <a:cs typeface="Times New Roman" pitchFamily="18" charset="0"/>
              </a:rPr>
              <a:t>Fundamentals of Software Engineering’’, Fourth Edition, Pearson, PHI.</a:t>
            </a:r>
          </a:p>
          <a:p>
            <a:pPr marL="342900" indent="-342900" algn="just">
              <a:buNone/>
            </a:pPr>
            <a:endParaRPr lang="en-IN" sz="2000" dirty="0">
              <a:latin typeface="Times New Roman" pitchFamily="18" charset="0"/>
              <a:cs typeface="Times New Roman" pitchFamily="18" charset="0"/>
            </a:endParaRPr>
          </a:p>
          <a:p>
            <a:pPr lvl="0">
              <a:buNone/>
            </a:pPr>
            <a:r>
              <a:rPr lang="en-US" sz="2000" b="1" dirty="0">
                <a:latin typeface="Times New Roman" pitchFamily="18" charset="0"/>
                <a:cs typeface="Times New Roman" pitchFamily="18" charset="0"/>
              </a:rPr>
              <a:t>      Reference Website</a:t>
            </a:r>
          </a:p>
          <a:p>
            <a:pPr marL="342900" lvl="0" indent="-342900">
              <a:buFont typeface="+mj-lt"/>
              <a:buAutoNum type="arabicPeriod"/>
            </a:pPr>
            <a:r>
              <a:rPr lang="en-US" sz="2000" dirty="0">
                <a:latin typeface="Times New Roman" pitchFamily="18" charset="0"/>
                <a:cs typeface="Times New Roman" pitchFamily="18" charset="0"/>
              </a:rPr>
              <a:t>https://www.geeksforgeeks.org/software-engineering-structure-charts/</a:t>
            </a:r>
            <a:endParaRPr lang="en-US" sz="2000" b="1"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681037"/>
            <a:ext cx="10515600" cy="94297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9">
            <a:extLst>
              <a:ext uri="{FF2B5EF4-FFF2-40B4-BE49-F238E27FC236}">
                <a16:creationId xmlns:a16="http://schemas.microsoft.com/office/drawing/2014/main" id="{621A24ED-AF0D-4EB8-73CF-815D0BBCD98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3361918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Footer Placeholder 9">
            <a:extLst>
              <a:ext uri="{FF2B5EF4-FFF2-40B4-BE49-F238E27FC236}">
                <a16:creationId xmlns:a16="http://schemas.microsoft.com/office/drawing/2014/main" id="{5B6C37AB-561C-B15C-3D5C-CAD7202A761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999</TotalTime>
  <Words>643</Words>
  <Application>Microsoft Macintosh PowerPoint</Application>
  <PresentationFormat>Widescreen</PresentationFormat>
  <Paragraphs>78</Paragraphs>
  <Slides>11</Slides>
  <Notes>0</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11</vt:i4>
      </vt:variant>
    </vt:vector>
  </HeadingPairs>
  <TitlesOfParts>
    <vt:vector size="20"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Topics covered</vt:lpstr>
      <vt:lpstr> Data Dictionaries </vt:lpstr>
      <vt:lpstr> Data Dictionaries </vt:lpstr>
      <vt:lpstr>Data Dictionaries</vt:lpstr>
      <vt:lpstr>Structured Charts</vt:lpstr>
      <vt:lpstr>Structured Charts</vt:lpstr>
      <vt:lpstr>Structured Charts</vt:lpstr>
      <vt:lpstr>Pseudo Code</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229</cp:revision>
  <dcterms:created xsi:type="dcterms:W3CDTF">2019-01-09T10:33:58Z</dcterms:created>
  <dcterms:modified xsi:type="dcterms:W3CDTF">2024-12-10T10:22:31Z</dcterms:modified>
</cp:coreProperties>
</file>