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5"/>
  </p:notesMasterIdLst>
  <p:handoutMasterIdLst>
    <p:handoutMasterId r:id="rId36"/>
  </p:handoutMasterIdLst>
  <p:sldIdLst>
    <p:sldId id="662" r:id="rId3"/>
    <p:sldId id="265" r:id="rId4"/>
    <p:sldId id="280" r:id="rId5"/>
    <p:sldId id="294" r:id="rId6"/>
    <p:sldId id="295" r:id="rId7"/>
    <p:sldId id="296" r:id="rId8"/>
    <p:sldId id="317" r:id="rId9"/>
    <p:sldId id="297" r:id="rId10"/>
    <p:sldId id="298" r:id="rId11"/>
    <p:sldId id="299" r:id="rId12"/>
    <p:sldId id="300" r:id="rId13"/>
    <p:sldId id="302" r:id="rId14"/>
    <p:sldId id="303" r:id="rId15"/>
    <p:sldId id="304" r:id="rId16"/>
    <p:sldId id="327" r:id="rId17"/>
    <p:sldId id="305" r:id="rId18"/>
    <p:sldId id="318" r:id="rId19"/>
    <p:sldId id="306" r:id="rId20"/>
    <p:sldId id="328" r:id="rId21"/>
    <p:sldId id="307" r:id="rId22"/>
    <p:sldId id="308" r:id="rId23"/>
    <p:sldId id="309" r:id="rId24"/>
    <p:sldId id="310" r:id="rId25"/>
    <p:sldId id="312" r:id="rId26"/>
    <p:sldId id="313" r:id="rId27"/>
    <p:sldId id="329" r:id="rId28"/>
    <p:sldId id="314" r:id="rId29"/>
    <p:sldId id="315" r:id="rId30"/>
    <p:sldId id="330" r:id="rId31"/>
    <p:sldId id="326" r:id="rId32"/>
    <p:sldId id="331" r:id="rId33"/>
    <p:sldId id="27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83" autoAdjust="0"/>
    <p:restoredTop sz="94656"/>
  </p:normalViewPr>
  <p:slideViewPr>
    <p:cSldViewPr snapToGrid="0">
      <p:cViewPr varScale="1">
        <p:scale>
          <a:sx n="104" d="100"/>
          <a:sy n="104" d="100"/>
        </p:scale>
        <p:origin x="216" y="368"/>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notesViewPr>
    <p:cSldViewPr snapToGrid="0">
      <p:cViewPr varScale="1">
        <p:scale>
          <a:sx n="51" d="100"/>
          <a:sy n="51" d="100"/>
        </p:scale>
        <p:origin x="269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
        <p:nvSpPr>
          <p:cNvPr id="6" name="Header Placeholder 5">
            <a:extLst>
              <a:ext uri="{FF2B5EF4-FFF2-40B4-BE49-F238E27FC236}">
                <a16:creationId xmlns:a16="http://schemas.microsoft.com/office/drawing/2014/main" id="{EFBCC4CA-5CCF-DE3D-2141-CBCE6BA33F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Department of Computer Science &amp; Engineering</a:t>
            </a:r>
            <a:endParaRPr lang="en-IN"/>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
        <p:nvSpPr>
          <p:cNvPr id="8" name="Header Placeholder 7">
            <a:extLst>
              <a:ext uri="{FF2B5EF4-FFF2-40B4-BE49-F238E27FC236}">
                <a16:creationId xmlns:a16="http://schemas.microsoft.com/office/drawing/2014/main" id="{590A6BE7-C5FA-D1B9-4B36-DC9FB353F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1"/>
          </p:nvPr>
        </p:nvSpPr>
        <p:spPr/>
        <p:txBody>
          <a:bodyPr/>
          <a:lstStyle/>
          <a:p>
            <a:fld id="{60732FBC-CC67-4B17-8935-02F23E3364AC}"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tutorialspoint.com/software_engineering/index.htm" TargetMode="External"/><Relationship Id="rId7" Type="http://schemas.openxmlformats.org/officeDocument/2006/relationships/image" Target="../media/image7.png"/><Relationship Id="rId2" Type="http://schemas.openxmlformats.org/officeDocument/2006/relationships/hyperlink" Target="https://nptel.ac.in/courses/106/105/106105182/" TargetMode="External"/><Relationship Id="rId1" Type="http://schemas.openxmlformats.org/officeDocument/2006/relationships/slideLayout" Target="../slideLayouts/slideLayout2.xml"/><Relationship Id="rId6" Type="http://schemas.openxmlformats.org/officeDocument/2006/relationships/hyperlink" Target="https://tutorialsinhand.com/tutorials/software-engineering-tutorial/software-engineering-introduction/software-engineering-home.aspx" TargetMode="External"/><Relationship Id="rId5" Type="http://schemas.openxmlformats.org/officeDocument/2006/relationships/hyperlink" Target="https://www.tutorialride.com/software-engineering/software-engineering-tutorial.htm" TargetMode="External"/><Relationship Id="rId4" Type="http://schemas.openxmlformats.org/officeDocument/2006/relationships/hyperlink" Target="https://www.javatpoint.com/software-engineering-tutorial" TargetMode="External"/><Relationship Id="rId9"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hyperlink" Target="https://www.tutorialride.com/software-engineering/software-engineering-tutorial.htm" TargetMode="External"/><Relationship Id="rId2" Type="http://schemas.openxmlformats.org/officeDocument/2006/relationships/hyperlink" Target="https://www.tutorialspoint.com/software_engineering/index.htm"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958940" y="225197"/>
            <a:ext cx="810622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Times New Roman" pitchFamily="18" charset="0"/>
                <a:cs typeface="Times New Roman" pitchFamily="18" charset="0"/>
              </a:rPr>
              <a:t>Introduction to Software Engineering</a:t>
            </a:r>
            <a:br>
              <a:rPr lang="en-US" sz="1600" b="1" dirty="0">
                <a:latin typeface="Times New Roman" pitchFamily="18" charset="0"/>
                <a:ea typeface="Karla" pitchFamily="2" charset="0"/>
                <a:cs typeface="Times New Roman" pitchFamily="18" charset="0"/>
              </a:rPr>
            </a:br>
            <a:endParaRPr lang="en-US" sz="1200" dirty="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35017765"/>
              </p:ext>
            </p:extLst>
          </p:nvPr>
        </p:nvGraphicFramePr>
        <p:xfrm>
          <a:off x="1636395" y="2497107"/>
          <a:ext cx="6751320" cy="2146965"/>
        </p:xfrm>
        <a:graphic>
          <a:graphicData uri="http://schemas.openxmlformats.org/drawingml/2006/table">
            <a:tbl>
              <a:tblPr firstRow="1" firstCol="1" bandRow="1">
                <a:tableStyleId>{5940675A-B579-460E-94D1-54222C63F5DA}</a:tableStyleId>
              </a:tblPr>
              <a:tblGrid>
                <a:gridCol w="1106805">
                  <a:extLst>
                    <a:ext uri="{9D8B030D-6E8A-4147-A177-3AD203B41FA5}">
                      <a16:colId xmlns:a16="http://schemas.microsoft.com/office/drawing/2014/main" val="20000"/>
                    </a:ext>
                  </a:extLst>
                </a:gridCol>
                <a:gridCol w="4305002">
                  <a:extLst>
                    <a:ext uri="{9D8B030D-6E8A-4147-A177-3AD203B41FA5}">
                      <a16:colId xmlns:a16="http://schemas.microsoft.com/office/drawing/2014/main" val="20001"/>
                    </a:ext>
                  </a:extLst>
                </a:gridCol>
                <a:gridCol w="1339513">
                  <a:extLst>
                    <a:ext uri="{9D8B030D-6E8A-4147-A177-3AD203B41FA5}">
                      <a16:colId xmlns:a16="http://schemas.microsoft.com/office/drawing/2014/main" val="20002"/>
                    </a:ext>
                  </a:extLst>
                </a:gridCol>
              </a:tblGrid>
              <a:tr h="1093707">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CO Number</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Title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Level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053258">
                <a:tc>
                  <a:txBody>
                    <a:bodyPr/>
                    <a:lstStyle/>
                    <a:p>
                      <a:pPr marL="67945">
                        <a:lnSpc>
                          <a:spcPts val="146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CO1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66675" marR="393065">
                        <a:lnSpc>
                          <a:spcPct val="115000"/>
                        </a:lnSpc>
                        <a:spcAft>
                          <a:spcPts val="0"/>
                        </a:spcAft>
                      </a:pP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US" sz="1600" spc="-2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600" spc="-1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basic</a:t>
                      </a:r>
                      <a:r>
                        <a:rPr lang="en-US" sz="1600" spc="-1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knowledge</a:t>
                      </a:r>
                      <a:r>
                        <a:rPr lang="en-US" sz="1600" spc="-2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600" spc="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software</a:t>
                      </a:r>
                      <a:r>
                        <a:rPr lang="en-US" sz="1600" spc="-1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engineering to learn</a:t>
                      </a:r>
                      <a:r>
                        <a:rPr lang="en-US" sz="1600" spc="-2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600" spc="-1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various</a:t>
                      </a:r>
                      <a:r>
                        <a:rPr lang="en-US" sz="1600" spc="-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software</a:t>
                      </a:r>
                      <a:r>
                        <a:rPr lang="en-US" sz="1600" spc="-25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development</a:t>
                      </a:r>
                      <a:r>
                        <a:rPr lang="en-US" sz="1600" spc="-1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1600" spc="-5"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models.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67945">
                        <a:lnSpc>
                          <a:spcPts val="146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bl>
          </a:graphicData>
        </a:graphic>
      </p:graphicFrame>
      <p:sp>
        <p:nvSpPr>
          <p:cNvPr id="11" name="Rectangle 10"/>
          <p:cNvSpPr/>
          <p:nvPr/>
        </p:nvSpPr>
        <p:spPr>
          <a:xfrm>
            <a:off x="217842" y="1281538"/>
            <a:ext cx="2374689" cy="461665"/>
          </a:xfrm>
          <a:prstGeom prst="rect">
            <a:avLst/>
          </a:prstGeom>
        </p:spPr>
        <p:txBody>
          <a:bodyPr wrap="none">
            <a:spAutoFit/>
          </a:bodyPr>
          <a:lstStyle/>
          <a:p>
            <a:r>
              <a:rPr lang="en-US" sz="2400" b="1" dirty="0"/>
              <a:t>Course Outcome </a:t>
            </a:r>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pic>
        <p:nvPicPr>
          <p:cNvPr id="4" name="Picture 3">
            <a:extLst>
              <a:ext uri="{FF2B5EF4-FFF2-40B4-BE49-F238E27FC236}">
                <a16:creationId xmlns:a16="http://schemas.microsoft.com/office/drawing/2014/main" id="{A1BBBB1E-29B6-6235-E4DF-A885D77BDF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04614" y="-32095"/>
            <a:ext cx="978648" cy="785252"/>
          </a:xfrm>
          <a:prstGeom prst="rect">
            <a:avLst/>
          </a:prstGeom>
        </p:spPr>
      </p:pic>
      <p:pic>
        <p:nvPicPr>
          <p:cNvPr id="5" name="Picture 4" descr="National Board of Accreditation - Wikipedia">
            <a:extLst>
              <a:ext uri="{FF2B5EF4-FFF2-40B4-BE49-F238E27FC236}">
                <a16:creationId xmlns:a16="http://schemas.microsoft.com/office/drawing/2014/main" id="{663D46BA-2805-C065-8D53-BAFBFEC1A16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83261" y="16361"/>
            <a:ext cx="872490" cy="688340"/>
          </a:xfrm>
          <a:prstGeom prst="rect">
            <a:avLst/>
          </a:prstGeom>
          <a:noFill/>
          <a:ln>
            <a:noFill/>
          </a:ln>
        </p:spPr>
      </p:pic>
      <p:pic>
        <p:nvPicPr>
          <p:cNvPr id="9" name="Picture 8">
            <a:extLst>
              <a:ext uri="{FF2B5EF4-FFF2-40B4-BE49-F238E27FC236}">
                <a16:creationId xmlns:a16="http://schemas.microsoft.com/office/drawing/2014/main" id="{B9FB7BC8-B12E-706C-6991-473A0876D1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5751" y="58916"/>
            <a:ext cx="1545205" cy="641551"/>
          </a:xfrm>
          <a:prstGeom prst="rect">
            <a:avLst/>
          </a:prstGeom>
        </p:spPr>
      </p:pic>
      <p:sp>
        <p:nvSpPr>
          <p:cNvPr id="10" name="Footer Placeholder 9">
            <a:extLst>
              <a:ext uri="{FF2B5EF4-FFF2-40B4-BE49-F238E27FC236}">
                <a16:creationId xmlns:a16="http://schemas.microsoft.com/office/drawing/2014/main" id="{D3EF1D39-20AE-0E75-E1DC-5F2584D8AB3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sz="3600" dirty="0">
                <a:latin typeface="Times New Roman" pitchFamily="18" charset="0"/>
                <a:cs typeface="Times New Roman" pitchFamily="18" charset="0"/>
              </a:rPr>
              <a:t>Chapter-1</a:t>
            </a:r>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Topics covered</a:t>
            </a:r>
          </a:p>
        </p:txBody>
      </p:sp>
      <p:sp>
        <p:nvSpPr>
          <p:cNvPr id="3" name="Content Placeholder 2"/>
          <p:cNvSpPr>
            <a:spLocks noGrp="1"/>
          </p:cNvSpPr>
          <p:nvPr>
            <p:ph idx="1"/>
          </p:nvPr>
        </p:nvSpPr>
        <p:spPr>
          <a:xfrm>
            <a:off x="838200" y="2446317"/>
            <a:ext cx="10515600" cy="3730646"/>
          </a:xfrm>
        </p:spPr>
        <p:txBody>
          <a:bodyPr>
            <a:normAutofit/>
          </a:bodyPr>
          <a:lstStyle/>
          <a:p>
            <a:pPr>
              <a:lnSpc>
                <a:spcPct val="150000"/>
              </a:lnSpc>
            </a:pPr>
            <a:r>
              <a:rPr lang="en-US" sz="2400" dirty="0">
                <a:latin typeface="Times New Roman" pitchFamily="18" charset="0"/>
                <a:cs typeface="Times New Roman" pitchFamily="18" charset="0"/>
              </a:rPr>
              <a:t>Definition of software and Software engineering </a:t>
            </a:r>
          </a:p>
          <a:p>
            <a:pPr>
              <a:lnSpc>
                <a:spcPct val="150000"/>
              </a:lnSpc>
            </a:pPr>
            <a:r>
              <a:rPr lang="en-US" sz="2400" dirty="0">
                <a:latin typeface="Times New Roman" pitchFamily="18" charset="0"/>
                <a:cs typeface="Times New Roman" pitchFamily="18" charset="0"/>
              </a:rPr>
              <a:t>Need of Software engineering</a:t>
            </a:r>
          </a:p>
          <a:p>
            <a:pPr>
              <a:lnSpc>
                <a:spcPct val="150000"/>
              </a:lnSpc>
            </a:pPr>
            <a:r>
              <a:rPr lang="en-US" sz="2400" dirty="0">
                <a:latin typeface="Times New Roman" pitchFamily="18" charset="0"/>
                <a:cs typeface="Times New Roman" pitchFamily="18" charset="0"/>
              </a:rPr>
              <a:t>Objectives of Software engineering</a:t>
            </a:r>
          </a:p>
          <a:p>
            <a:pPr>
              <a:lnSpc>
                <a:spcPct val="150000"/>
              </a:lnSpc>
            </a:pPr>
            <a:r>
              <a:rPr lang="en-US" sz="2400" dirty="0">
                <a:latin typeface="Times New Roman" pitchFamily="18" charset="0"/>
                <a:cs typeface="Times New Roman" pitchFamily="18" charset="0"/>
              </a:rPr>
              <a:t>Software Development Life Cycle </a:t>
            </a:r>
          </a:p>
          <a:p>
            <a:pPr>
              <a:lnSpc>
                <a:spcPct val="150000"/>
              </a:lnSpc>
            </a:pPr>
            <a:endParaRPr lang="en-US" sz="2400"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546266"/>
            <a:ext cx="10515600" cy="110822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pic>
        <p:nvPicPr>
          <p:cNvPr id="4" name="Picture 3">
            <a:extLst>
              <a:ext uri="{FF2B5EF4-FFF2-40B4-BE49-F238E27FC236}">
                <a16:creationId xmlns:a16="http://schemas.microsoft.com/office/drawing/2014/main" id="{7057B301-7D52-0055-6C4E-6A2A50D3E5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04614" y="-32095"/>
            <a:ext cx="978648" cy="785252"/>
          </a:xfrm>
          <a:prstGeom prst="rect">
            <a:avLst/>
          </a:prstGeom>
        </p:spPr>
      </p:pic>
      <p:pic>
        <p:nvPicPr>
          <p:cNvPr id="8" name="Picture 7" descr="National Board of Accreditation - Wikipedia">
            <a:extLst>
              <a:ext uri="{FF2B5EF4-FFF2-40B4-BE49-F238E27FC236}">
                <a16:creationId xmlns:a16="http://schemas.microsoft.com/office/drawing/2014/main" id="{78179632-C64F-CA38-7E2E-47BE930E755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83261" y="16361"/>
            <a:ext cx="872490" cy="688340"/>
          </a:xfrm>
          <a:prstGeom prst="rect">
            <a:avLst/>
          </a:prstGeom>
          <a:noFill/>
          <a:ln>
            <a:noFill/>
          </a:ln>
        </p:spPr>
      </p:pic>
      <p:pic>
        <p:nvPicPr>
          <p:cNvPr id="9" name="Picture 8">
            <a:extLst>
              <a:ext uri="{FF2B5EF4-FFF2-40B4-BE49-F238E27FC236}">
                <a16:creationId xmlns:a16="http://schemas.microsoft.com/office/drawing/2014/main" id="{50626F42-5663-2C52-2415-7B3E5483212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5751" y="58916"/>
            <a:ext cx="1545205" cy="641551"/>
          </a:xfrm>
          <a:prstGeom prst="rect">
            <a:avLst/>
          </a:prstGeom>
        </p:spPr>
      </p:pic>
      <p:sp>
        <p:nvSpPr>
          <p:cNvPr id="10" name="Footer Placeholder 9">
            <a:extLst>
              <a:ext uri="{FF2B5EF4-FFF2-40B4-BE49-F238E27FC236}">
                <a16:creationId xmlns:a16="http://schemas.microsoft.com/office/drawing/2014/main" id="{28D29670-5E57-FFC6-27D1-C1EA14C582C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28636"/>
            <a:ext cx="9267701" cy="1111252"/>
          </a:xfrm>
        </p:spPr>
        <p:txBody>
          <a:bodyPr>
            <a:noAutofit/>
          </a:bodyPr>
          <a:lstStyle/>
          <a:p>
            <a:pPr algn="ct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Software</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351338"/>
          </a:xfrm>
        </p:spPr>
        <p:txBody>
          <a:bodyPr>
            <a:normAutofit lnSpcReduction="10000"/>
          </a:bodyPr>
          <a:lstStyle/>
          <a:p>
            <a:pPr algn="just"/>
            <a:r>
              <a:rPr lang="en-US" dirty="0">
                <a:latin typeface="Times New Roman" pitchFamily="18" charset="0"/>
                <a:cs typeface="Times New Roman" pitchFamily="18" charset="0"/>
              </a:rPr>
              <a:t>Software is a program or set of programs containing instructions which provide desired functionality . </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software is collection of Integrated programs.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Software consists of carefully-organized instructions and code written by programmers in any of various special computer languages.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Computer programs and associated documentation such as requirements, design models and user manuals.</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681037"/>
            <a:ext cx="10515600" cy="94297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4</a:t>
            </a:fld>
            <a:endParaRPr lang="en-US"/>
          </a:p>
        </p:txBody>
      </p:sp>
      <p:sp>
        <p:nvSpPr>
          <p:cNvPr id="4" name="Footer Placeholder 9">
            <a:extLst>
              <a:ext uri="{FF2B5EF4-FFF2-40B4-BE49-F238E27FC236}">
                <a16:creationId xmlns:a16="http://schemas.microsoft.com/office/drawing/2014/main" id="{236330D5-22BF-F858-ACE1-4FFC782192B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10" name="Picture 9">
            <a:extLst>
              <a:ext uri="{FF2B5EF4-FFF2-40B4-BE49-F238E27FC236}">
                <a16:creationId xmlns:a16="http://schemas.microsoft.com/office/drawing/2014/main" id="{91C8C1EA-7691-7F82-1D08-97B63C1134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11" name="Picture 10" descr="National Board of Accreditation - Wikipedia">
            <a:extLst>
              <a:ext uri="{FF2B5EF4-FFF2-40B4-BE49-F238E27FC236}">
                <a16:creationId xmlns:a16="http://schemas.microsoft.com/office/drawing/2014/main" id="{7159D465-36AC-5313-59A0-741C877C259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2" name="Picture 11">
            <a:extLst>
              <a:ext uri="{FF2B5EF4-FFF2-40B4-BE49-F238E27FC236}">
                <a16:creationId xmlns:a16="http://schemas.microsoft.com/office/drawing/2014/main" id="{C7A76B6E-2C30-2D08-4FA1-A8B98627DF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extLst>
      <p:ext uri="{BB962C8B-B14F-4D97-AF65-F5344CB8AC3E}">
        <p14:creationId xmlns:p14="http://schemas.microsoft.com/office/powerpoint/2010/main" val="82370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5640"/>
            <a:ext cx="10515600" cy="1015048"/>
          </a:xfrm>
        </p:spPr>
        <p:txBody>
          <a:bodyPr/>
          <a:lstStyle/>
          <a:p>
            <a:pPr algn="ctr"/>
            <a:r>
              <a:rPr lang="en-US" b="1" dirty="0">
                <a:latin typeface="Times New Roman" pitchFamily="18" charset="0"/>
                <a:cs typeface="Times New Roman" pitchFamily="18" charset="0"/>
              </a:rPr>
              <a:t>Dual Role of Software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fontAlgn="base"/>
            <a:r>
              <a:rPr lang="en-US" b="1" dirty="0">
                <a:latin typeface="Times New Roman" pitchFamily="18" charset="0"/>
                <a:cs typeface="Times New Roman" pitchFamily="18" charset="0"/>
              </a:rPr>
              <a:t>1. As a product –</a:t>
            </a:r>
            <a:endParaRPr lang="en-US" dirty="0">
              <a:latin typeface="Times New Roman" pitchFamily="18" charset="0"/>
              <a:cs typeface="Times New Roman" pitchFamily="18" charset="0"/>
            </a:endParaRPr>
          </a:p>
          <a:p>
            <a:pPr algn="just" fontAlgn="base"/>
            <a:r>
              <a:rPr lang="en-US" dirty="0">
                <a:latin typeface="Times New Roman" pitchFamily="18" charset="0"/>
                <a:cs typeface="Times New Roman" pitchFamily="18" charset="0"/>
              </a:rPr>
              <a:t>It delivers the computing potential across network of Hardware.</a:t>
            </a:r>
          </a:p>
          <a:p>
            <a:pPr algn="just" fontAlgn="base"/>
            <a:r>
              <a:rPr lang="en-US" dirty="0">
                <a:latin typeface="Times New Roman" pitchFamily="18" charset="0"/>
                <a:cs typeface="Times New Roman" pitchFamily="18" charset="0"/>
              </a:rPr>
              <a:t>It enables the Hardware to deliver the expected functionality.</a:t>
            </a:r>
          </a:p>
          <a:p>
            <a:pPr algn="just" fontAlgn="base"/>
            <a:r>
              <a:rPr lang="en-US" dirty="0">
                <a:latin typeface="Times New Roman" pitchFamily="18" charset="0"/>
                <a:cs typeface="Times New Roman" pitchFamily="18" charset="0"/>
              </a:rPr>
              <a:t>It acts as information transformer because it produces, manages, acquires, modifies, displays, or transmits information.</a:t>
            </a:r>
          </a:p>
          <a:p>
            <a:pPr algn="just" fontAlgn="base"/>
            <a:r>
              <a:rPr lang="en-US" b="1" dirty="0">
                <a:latin typeface="Times New Roman" pitchFamily="18" charset="0"/>
                <a:cs typeface="Times New Roman" pitchFamily="18" charset="0"/>
              </a:rPr>
              <a:t>2. As a vehicle for delivering a product –</a:t>
            </a:r>
            <a:endParaRPr lang="en-US" dirty="0">
              <a:latin typeface="Times New Roman" pitchFamily="18" charset="0"/>
              <a:cs typeface="Times New Roman" pitchFamily="18" charset="0"/>
            </a:endParaRPr>
          </a:p>
          <a:p>
            <a:pPr algn="just" fontAlgn="base"/>
            <a:r>
              <a:rPr lang="en-US" dirty="0">
                <a:latin typeface="Times New Roman" pitchFamily="18" charset="0"/>
                <a:cs typeface="Times New Roman" pitchFamily="18" charset="0"/>
              </a:rPr>
              <a:t>It provides system functionality </a:t>
            </a:r>
          </a:p>
          <a:p>
            <a:pPr algn="just" fontAlgn="base"/>
            <a:r>
              <a:rPr lang="en-US" dirty="0">
                <a:latin typeface="Times New Roman" pitchFamily="18" charset="0"/>
                <a:cs typeface="Times New Roman" pitchFamily="18" charset="0"/>
              </a:rPr>
              <a:t>It controls other software </a:t>
            </a:r>
          </a:p>
          <a:p>
            <a:pPr algn="just" fontAlgn="base"/>
            <a:r>
              <a:rPr lang="en-US" dirty="0">
                <a:latin typeface="Times New Roman" pitchFamily="18" charset="0"/>
                <a:cs typeface="Times New Roman" pitchFamily="18" charset="0"/>
              </a:rPr>
              <a:t>It helps build other software</a:t>
            </a:r>
          </a:p>
          <a:p>
            <a:pPr algn="just">
              <a:lnSpc>
                <a:spcPct val="150000"/>
              </a:lnSpc>
            </a:pPr>
            <a:endParaRPr lang="en-US" dirty="0">
              <a:latin typeface="Times New Roman" pitchFamily="18" charset="0"/>
              <a:cs typeface="Times New Roman" pitchFamily="18" charset="0"/>
            </a:endParaRPr>
          </a:p>
        </p:txBody>
      </p:sp>
      <p:sp>
        <p:nvSpPr>
          <p:cNvPr id="6" name="Rectangle 5"/>
          <p:cNvSpPr/>
          <p:nvPr/>
        </p:nvSpPr>
        <p:spPr>
          <a:xfrm>
            <a:off x="838200" y="927146"/>
            <a:ext cx="10515600" cy="69686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181356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p:cNvSpPr>
            <a:spLocks noGrp="1"/>
          </p:cNvSpPr>
          <p:nvPr>
            <p:ph type="sldNum" sz="quarter" idx="12"/>
          </p:nvPr>
        </p:nvSpPr>
        <p:spPr/>
        <p:txBody>
          <a:bodyPr/>
          <a:lstStyle/>
          <a:p>
            <a:fld id="{BDCDBBEF-AA6C-4BA6-85B2-A17D7F280E38}" type="slidenum">
              <a:rPr lang="en-US" smtClean="0"/>
              <a:pPr/>
              <a:t>5</a:t>
            </a:fld>
            <a:endParaRPr lang="en-US"/>
          </a:p>
        </p:txBody>
      </p:sp>
      <p:sp>
        <p:nvSpPr>
          <p:cNvPr id="4" name="Footer Placeholder 9">
            <a:extLst>
              <a:ext uri="{FF2B5EF4-FFF2-40B4-BE49-F238E27FC236}">
                <a16:creationId xmlns:a16="http://schemas.microsoft.com/office/drawing/2014/main" id="{CCFEEA29-CA96-FECA-2454-E37E05A1AAE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5" name="Picture 4">
            <a:extLst>
              <a:ext uri="{FF2B5EF4-FFF2-40B4-BE49-F238E27FC236}">
                <a16:creationId xmlns:a16="http://schemas.microsoft.com/office/drawing/2014/main" id="{56B5885B-0BA9-E814-A9F9-F1103475A1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10" name="Picture 9" descr="National Board of Accreditation - Wikipedia">
            <a:extLst>
              <a:ext uri="{FF2B5EF4-FFF2-40B4-BE49-F238E27FC236}">
                <a16:creationId xmlns:a16="http://schemas.microsoft.com/office/drawing/2014/main" id="{FC43F1FE-8C65-C523-9089-82C3B075DDE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1" name="Picture 10">
            <a:extLst>
              <a:ext uri="{FF2B5EF4-FFF2-40B4-BE49-F238E27FC236}">
                <a16:creationId xmlns:a16="http://schemas.microsoft.com/office/drawing/2014/main" id="{ECD894D3-B092-86CB-F88A-4204F327EB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fontAlgn="base"/>
            <a:r>
              <a:rPr lang="en-US" dirty="0">
                <a:latin typeface="Times New Roman" pitchFamily="18" charset="0"/>
                <a:cs typeface="Times New Roman" pitchFamily="18" charset="0"/>
              </a:rPr>
              <a:t>Program is a set of instruction related each other where as Software Product is a collection of program designed for specific task.</a:t>
            </a:r>
          </a:p>
          <a:p>
            <a:pPr algn="just" fontAlgn="base"/>
            <a:r>
              <a:rPr lang="en-US" dirty="0">
                <a:latin typeface="Times New Roman" pitchFamily="18" charset="0"/>
                <a:cs typeface="Times New Roman" pitchFamily="18" charset="0"/>
              </a:rPr>
              <a:t>Programs are usually small in size where as Software Products are usually large in size.</a:t>
            </a:r>
          </a:p>
          <a:p>
            <a:pPr algn="just" fontAlgn="base"/>
            <a:r>
              <a:rPr lang="en-US" dirty="0">
                <a:latin typeface="Times New Roman" pitchFamily="18" charset="0"/>
                <a:cs typeface="Times New Roman" pitchFamily="18" charset="0"/>
              </a:rPr>
              <a:t>Programs are developed by individuals that means single user where as Software Product are developed by large no of users.</a:t>
            </a:r>
          </a:p>
          <a:p>
            <a:pPr algn="just" fontAlgn="base"/>
            <a:r>
              <a:rPr lang="en-US" dirty="0">
                <a:latin typeface="Times New Roman" pitchFamily="18" charset="0"/>
                <a:cs typeface="Times New Roman" pitchFamily="18" charset="0"/>
              </a:rPr>
              <a:t>In program, there is no documentation or lack in proper documentation whereas in Software Product, Proper documentation and well documented and user manual prepared.</a:t>
            </a:r>
            <a:endParaRPr lang="en-US" sz="1600"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65490" y="809902"/>
            <a:ext cx="10515600" cy="78525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Program vs. Software</a:t>
            </a:r>
            <a:endParaRPr lang="en-US" dirty="0">
              <a:solidFill>
                <a:schemeClr val="tx1"/>
              </a:solidFill>
              <a:latin typeface="Times New Roman" pitchFamily="18" charset="0"/>
              <a:cs typeface="Times New Roman" pitchFamily="18" charset="0"/>
            </a:endParaRPr>
          </a:p>
        </p:txBody>
      </p:sp>
      <p:sp>
        <p:nvSpPr>
          <p:cNvPr id="7" name="Rectangle 2"/>
          <p:cNvSpPr txBox="1">
            <a:spLocks noChangeArrowheads="1"/>
          </p:cNvSpPr>
          <p:nvPr/>
        </p:nvSpPr>
        <p:spPr>
          <a:xfrm>
            <a:off x="1925472" y="2255292"/>
            <a:ext cx="8229600" cy="1143000"/>
          </a:xfrm>
          <a:prstGeom prst="rect">
            <a:avLst/>
          </a:prstGeom>
        </p:spPr>
        <p:txBody>
          <a:bodyPr vert="horz" lIns="91429" tIns="45714" rIns="91429" bIns="45714"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pPr/>
              <a:t>6</a:t>
            </a:fld>
            <a:endParaRPr lang="en-US"/>
          </a:p>
        </p:txBody>
      </p:sp>
      <p:sp>
        <p:nvSpPr>
          <p:cNvPr id="2" name="Footer Placeholder 9">
            <a:extLst>
              <a:ext uri="{FF2B5EF4-FFF2-40B4-BE49-F238E27FC236}">
                <a16:creationId xmlns:a16="http://schemas.microsoft.com/office/drawing/2014/main" id="{810E895E-AC19-A202-2DE5-3AF2DE3BA00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6A49AA6A-AFD6-7741-D119-AAADD31EB6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8" name="Picture 7" descr="National Board of Accreditation - Wikipedia">
            <a:extLst>
              <a:ext uri="{FF2B5EF4-FFF2-40B4-BE49-F238E27FC236}">
                <a16:creationId xmlns:a16="http://schemas.microsoft.com/office/drawing/2014/main" id="{5C11E84C-A1C0-B80D-839A-F00808583D7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1" name="Picture 10">
            <a:extLst>
              <a:ext uri="{FF2B5EF4-FFF2-40B4-BE49-F238E27FC236}">
                <a16:creationId xmlns:a16="http://schemas.microsoft.com/office/drawing/2014/main" id="{3566F2D0-66F8-99B4-5FAA-DE46D2F257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lgn="just" fontAlgn="base"/>
            <a:r>
              <a:rPr lang="en-US" dirty="0">
                <a:solidFill>
                  <a:prstClr val="black"/>
                </a:solidFill>
                <a:latin typeface="Times New Roman" pitchFamily="18" charset="0"/>
                <a:cs typeface="Times New Roman" pitchFamily="18" charset="0"/>
              </a:rPr>
              <a:t>Development of program is Unplanned, usually not Systematic etc but Development of Software Product is well Systematic, organized, planned approach.</a:t>
            </a:r>
          </a:p>
          <a:p>
            <a:pPr lvl="0" algn="just" fontAlgn="base">
              <a:buNone/>
            </a:pPr>
            <a:endParaRPr lang="en-US" dirty="0">
              <a:solidFill>
                <a:prstClr val="black"/>
              </a:solidFill>
              <a:latin typeface="Times New Roman" pitchFamily="18" charset="0"/>
              <a:cs typeface="Times New Roman" pitchFamily="18" charset="0"/>
            </a:endParaRPr>
          </a:p>
          <a:p>
            <a:pPr lvl="0" algn="just" fontAlgn="base"/>
            <a:r>
              <a:rPr lang="en-US" dirty="0">
                <a:solidFill>
                  <a:prstClr val="black"/>
                </a:solidFill>
                <a:latin typeface="Times New Roman" pitchFamily="18" charset="0"/>
                <a:cs typeface="Times New Roman" pitchFamily="18" charset="0"/>
              </a:rPr>
              <a:t>Programs provide Limited functionality and less features where as Software Products provides more functionality as they are big in size more options and features.</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89686"/>
            <a:ext cx="10515600" cy="80100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Program vs. Software</a:t>
            </a: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7</a:t>
            </a:fld>
            <a:endParaRPr lang="en-US"/>
          </a:p>
        </p:txBody>
      </p:sp>
      <p:sp>
        <p:nvSpPr>
          <p:cNvPr id="2" name="Footer Placeholder 9">
            <a:extLst>
              <a:ext uri="{FF2B5EF4-FFF2-40B4-BE49-F238E27FC236}">
                <a16:creationId xmlns:a16="http://schemas.microsoft.com/office/drawing/2014/main" id="{6722E8C8-E2A1-FD84-09EE-78A6EF2B4AB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E89C7F3F-545A-48A6-0C1A-62E619D640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3E2BBF51-46BD-3DD5-6640-DB09F9D331C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05367100-E3FE-1FFA-3213-3B77F0572D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lnSpc>
                <a:spcPct val="150000"/>
              </a:lnSpc>
            </a:pPr>
            <a:r>
              <a:rPr lang="en-US" b="1" dirty="0">
                <a:latin typeface="Times New Roman" pitchFamily="18" charset="0"/>
                <a:cs typeface="Times New Roman" pitchFamily="18" charset="0"/>
              </a:rPr>
              <a:t>Software Engineering</a:t>
            </a:r>
            <a:r>
              <a:rPr lang="en-US" dirty="0">
                <a:latin typeface="Times New Roman" pitchFamily="18" charset="0"/>
                <a:cs typeface="Times New Roman" pitchFamily="18" charset="0"/>
              </a:rPr>
              <a:t> is a systematic approach to the design, development, operation, and maintenance of a software system.</a:t>
            </a:r>
          </a:p>
          <a:p>
            <a:pPr algn="just">
              <a:lnSpc>
                <a:spcPct val="150000"/>
              </a:lnSpc>
            </a:pPr>
            <a:r>
              <a:rPr lang="en-US" dirty="0">
                <a:latin typeface="Times New Roman" pitchFamily="18" charset="0"/>
                <a:cs typeface="Times New Roman" pitchFamily="18" charset="0"/>
              </a:rPr>
              <a:t>Software engineering is an engineering discipline that’s applied to the development of software in a systematic approach </a:t>
            </a:r>
          </a:p>
          <a:p>
            <a:pPr algn="just">
              <a:lnSpc>
                <a:spcPct val="150000"/>
              </a:lnSpc>
            </a:pPr>
            <a:r>
              <a:rPr lang="en-US" dirty="0">
                <a:latin typeface="Times New Roman" pitchFamily="18" charset="0"/>
                <a:cs typeface="Times New Roman" pitchFamily="18" charset="0"/>
              </a:rPr>
              <a:t>It’s the application of theories, methods, and tools to design build a software that meets the specifications, cost, and ensures quality.</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b="1" dirty="0">
                <a:solidFill>
                  <a:schemeClr val="tx1"/>
                </a:solidFill>
                <a:latin typeface="Times New Roman" pitchFamily="18" charset="0"/>
                <a:cs typeface="Times New Roman" pitchFamily="18" charset="0"/>
              </a:rPr>
              <a:t>Software Engineering</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Slide Number Placeholder 7"/>
          <p:cNvSpPr>
            <a:spLocks noGrp="1"/>
          </p:cNvSpPr>
          <p:nvPr>
            <p:ph type="sldNum" sz="quarter" idx="12"/>
          </p:nvPr>
        </p:nvSpPr>
        <p:spPr/>
        <p:txBody>
          <a:bodyPr/>
          <a:lstStyle/>
          <a:p>
            <a:fld id="{BDCDBBEF-AA6C-4BA6-85B2-A17D7F280E38}" type="slidenum">
              <a:rPr lang="en-US" smtClean="0"/>
              <a:pPr/>
              <a:t>8</a:t>
            </a:fld>
            <a:endParaRPr lang="en-US"/>
          </a:p>
        </p:txBody>
      </p:sp>
      <p:sp>
        <p:nvSpPr>
          <p:cNvPr id="4" name="Footer Placeholder 9">
            <a:extLst>
              <a:ext uri="{FF2B5EF4-FFF2-40B4-BE49-F238E27FC236}">
                <a16:creationId xmlns:a16="http://schemas.microsoft.com/office/drawing/2014/main" id="{18604F37-BECA-2E90-95B4-30D0CC0A84C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2" name="Picture 1">
            <a:extLst>
              <a:ext uri="{FF2B5EF4-FFF2-40B4-BE49-F238E27FC236}">
                <a16:creationId xmlns:a16="http://schemas.microsoft.com/office/drawing/2014/main" id="{5CA6D9B2-F698-9BC4-4C18-B9C834A712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10" name="Picture 9" descr="National Board of Accreditation - Wikipedia">
            <a:extLst>
              <a:ext uri="{FF2B5EF4-FFF2-40B4-BE49-F238E27FC236}">
                <a16:creationId xmlns:a16="http://schemas.microsoft.com/office/drawing/2014/main" id="{0209133D-0DFE-C319-554B-33AB7C16168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1" name="Picture 10">
            <a:extLst>
              <a:ext uri="{FF2B5EF4-FFF2-40B4-BE49-F238E27FC236}">
                <a16:creationId xmlns:a16="http://schemas.microsoft.com/office/drawing/2014/main" id="{F5AFE825-AB35-89F2-E2E0-B83BBBD0755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4"/>
            <a:ext cx="10515600" cy="4651375"/>
          </a:xfrm>
        </p:spPr>
        <p:txBody>
          <a:bodyPr>
            <a:noAutofit/>
          </a:bodyPr>
          <a:lstStyle/>
          <a:p>
            <a:pPr lvl="0" algn="just" fontAlgn="base"/>
            <a:r>
              <a:rPr lang="en-US" dirty="0">
                <a:solidFill>
                  <a:prstClr val="black"/>
                </a:solidFill>
                <a:latin typeface="Times New Roman" pitchFamily="18" charset="0"/>
                <a:cs typeface="Times New Roman" pitchFamily="18" charset="0"/>
              </a:rPr>
              <a:t>I</a:t>
            </a:r>
            <a:r>
              <a:rPr lang="en-US" dirty="0">
                <a:latin typeface="Times New Roman" pitchFamily="18" charset="0"/>
                <a:cs typeface="Times New Roman" pitchFamily="18" charset="0"/>
              </a:rPr>
              <a:t>t is not only concerned with the technical process of building a software, it also includes activities to manage the project, develop tools, methods and theories that support the software production.</a:t>
            </a:r>
          </a:p>
          <a:p>
            <a:pPr lvl="0" algn="just" fontAlgn="base"/>
            <a:r>
              <a:rPr lang="en-US" dirty="0">
                <a:latin typeface="Times New Roman" pitchFamily="18" charset="0"/>
                <a:cs typeface="Times New Roman" pitchFamily="18" charset="0"/>
              </a:rPr>
              <a:t>Not applying software engineering methods results in more expensive, less reliable software, and it can be vital on the long term, as the changes come in, the costs will dramatically increase.</a:t>
            </a:r>
          </a:p>
          <a:p>
            <a:pPr lvl="0" algn="just" fontAlgn="base"/>
            <a:r>
              <a:rPr lang="en-US" dirty="0">
                <a:latin typeface="Times New Roman" pitchFamily="18" charset="0"/>
                <a:cs typeface="Times New Roman" pitchFamily="18" charset="0"/>
              </a:rPr>
              <a:t>Different methods and techniques of software engineering are appropriate for different types of systems.</a:t>
            </a:r>
          </a:p>
          <a:p>
            <a:pPr lvl="0" algn="just" fontAlgn="base"/>
            <a:r>
              <a:rPr lang="en-US" dirty="0">
                <a:latin typeface="Times New Roman" pitchFamily="18" charset="0"/>
                <a:cs typeface="Times New Roman" pitchFamily="18" charset="0"/>
              </a:rPr>
              <a:t> For example, games should be developed using series of prototypes, while critical control systems require a complete analyzable specification to be developed.</a:t>
            </a:r>
            <a:endParaRPr lang="en-US" dirty="0">
              <a:solidFill>
                <a:prstClr val="black"/>
              </a:solidFill>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sp>
        <p:nvSpPr>
          <p:cNvPr id="5" name="Rectangle 4"/>
          <p:cNvSpPr/>
          <p:nvPr/>
        </p:nvSpPr>
        <p:spPr>
          <a:xfrm>
            <a:off x="838200" y="1803400"/>
            <a:ext cx="10706100" cy="46545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51470"/>
            <a:ext cx="10515600" cy="73921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Software Engineering</a:t>
            </a: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9</a:t>
            </a:fld>
            <a:endParaRPr lang="en-US"/>
          </a:p>
        </p:txBody>
      </p:sp>
      <p:sp>
        <p:nvSpPr>
          <p:cNvPr id="2" name="Footer Placeholder 9">
            <a:extLst>
              <a:ext uri="{FF2B5EF4-FFF2-40B4-BE49-F238E27FC236}">
                <a16:creationId xmlns:a16="http://schemas.microsoft.com/office/drawing/2014/main" id="{1F52A874-0A09-2933-224A-80E3BBB0AEC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D48B30B3-8516-896C-3772-3F26B7E771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40FF1937-DC7A-FE95-05AB-D202DB62E1F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9EDCD1EE-901B-1528-9B2C-B5B126E8B3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lnSpc>
                <a:spcPct val="150000"/>
              </a:lnSpc>
            </a:pPr>
            <a:r>
              <a:rPr lang="en-US" sz="2500" b="1" dirty="0">
                <a:latin typeface="Times New Roman" pitchFamily="18" charset="0"/>
                <a:cs typeface="Times New Roman" pitchFamily="18" charset="0"/>
              </a:rPr>
              <a:t>Maintainability</a:t>
            </a:r>
            <a:r>
              <a:rPr lang="en-US" sz="2500" dirty="0">
                <a:latin typeface="Times New Roman" pitchFamily="18" charset="0"/>
                <a:cs typeface="Times New Roman" pitchFamily="18" charset="0"/>
              </a:rPr>
              <a:t> – the ease with which changes in a functional unit can be performed in order to meet prescribed requirements. </a:t>
            </a:r>
          </a:p>
          <a:p>
            <a:pPr algn="just">
              <a:lnSpc>
                <a:spcPct val="150000"/>
              </a:lnSpc>
            </a:pPr>
            <a:r>
              <a:rPr lang="en-US" sz="2500" b="1" dirty="0">
                <a:latin typeface="Times New Roman" pitchFamily="18" charset="0"/>
                <a:cs typeface="Times New Roman" pitchFamily="18" charset="0"/>
              </a:rPr>
              <a:t>Correctness </a:t>
            </a:r>
            <a:r>
              <a:rPr lang="en-US" sz="2500" dirty="0">
                <a:latin typeface="Times New Roman" pitchFamily="18" charset="0"/>
                <a:cs typeface="Times New Roman" pitchFamily="18" charset="0"/>
              </a:rPr>
              <a:t>– the extent to which software meets its specified requirements </a:t>
            </a:r>
          </a:p>
          <a:p>
            <a:pPr algn="just">
              <a:lnSpc>
                <a:spcPct val="150000"/>
              </a:lnSpc>
            </a:pPr>
            <a:r>
              <a:rPr lang="en-US" sz="2500" b="1" dirty="0">
                <a:latin typeface="Times New Roman" pitchFamily="18" charset="0"/>
                <a:cs typeface="Times New Roman" pitchFamily="18" charset="0"/>
              </a:rPr>
              <a:t>Reusability</a:t>
            </a:r>
            <a:r>
              <a:rPr lang="en-US" sz="2500" dirty="0">
                <a:latin typeface="Times New Roman" pitchFamily="18" charset="0"/>
                <a:cs typeface="Times New Roman" pitchFamily="18" charset="0"/>
              </a:rPr>
              <a:t> – the extent to which a module can be used in multiple applications. </a:t>
            </a:r>
          </a:p>
          <a:p>
            <a:pPr algn="just">
              <a:lnSpc>
                <a:spcPct val="150000"/>
              </a:lnSpc>
            </a:pPr>
            <a:r>
              <a:rPr lang="en-US" sz="2500" b="1" dirty="0">
                <a:latin typeface="Times New Roman" pitchFamily="18" charset="0"/>
                <a:cs typeface="Times New Roman" pitchFamily="18" charset="0"/>
              </a:rPr>
              <a:t>Testability</a:t>
            </a:r>
            <a:r>
              <a:rPr lang="en-US" sz="2500" dirty="0">
                <a:latin typeface="Times New Roman" pitchFamily="18" charset="0"/>
                <a:cs typeface="Times New Roman" pitchFamily="18" charset="0"/>
              </a:rPr>
              <a:t> – the extent to which software facilitates both the establishment of test criteria and the evaluation of the software with respect to those criteria.</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26757"/>
            <a:ext cx="10515600" cy="76393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Objectives of Software Engineering</a:t>
            </a: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10</a:t>
            </a:fld>
            <a:endParaRPr lang="en-US"/>
          </a:p>
        </p:txBody>
      </p:sp>
      <p:sp>
        <p:nvSpPr>
          <p:cNvPr id="2" name="Footer Placeholder 9">
            <a:extLst>
              <a:ext uri="{FF2B5EF4-FFF2-40B4-BE49-F238E27FC236}">
                <a16:creationId xmlns:a16="http://schemas.microsoft.com/office/drawing/2014/main" id="{5D9E7501-BAC0-1F3E-48C6-2A2C5948F23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5F6316E0-94DD-A755-2DDE-999019B585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CFD0F5D3-7D45-3668-A247-5680AFA00AC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82F105C7-BA02-6E63-89B6-F3EB2CB3A0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b="1" dirty="0">
                <a:latin typeface="Times New Roman" pitchFamily="18" charset="0"/>
                <a:cs typeface="Times New Roman" pitchFamily="18" charset="0"/>
              </a:rPr>
              <a:t>Reliability</a:t>
            </a:r>
            <a:r>
              <a:rPr lang="en-US" dirty="0">
                <a:latin typeface="Times New Roman" pitchFamily="18" charset="0"/>
                <a:cs typeface="Times New Roman" pitchFamily="18" charset="0"/>
              </a:rPr>
              <a:t> – an attribute of software quality. The extent to which a program can be expected to perform its intended function, over an arbitrary time period.</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Portability</a:t>
            </a:r>
            <a:r>
              <a:rPr lang="en-US" dirty="0">
                <a:latin typeface="Times New Roman" pitchFamily="18" charset="0"/>
                <a:cs typeface="Times New Roman" pitchFamily="18" charset="0"/>
              </a:rPr>
              <a:t> – the ease with which software can be transferred from one computer system or environment to another. </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Adaptability</a:t>
            </a:r>
            <a:r>
              <a:rPr lang="en-US" dirty="0">
                <a:latin typeface="Times New Roman" pitchFamily="18" charset="0"/>
                <a:cs typeface="Times New Roman" pitchFamily="18" charset="0"/>
              </a:rPr>
              <a:t> – the ease with which software allows differing system constraints and user needs to be satisfied by making changes to the software. </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14400"/>
            <a:ext cx="10515600" cy="7762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Objectives of Software Engineering</a:t>
            </a: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11</a:t>
            </a:fld>
            <a:endParaRPr lang="en-US"/>
          </a:p>
        </p:txBody>
      </p:sp>
      <p:sp>
        <p:nvSpPr>
          <p:cNvPr id="2" name="Footer Placeholder 9">
            <a:extLst>
              <a:ext uri="{FF2B5EF4-FFF2-40B4-BE49-F238E27FC236}">
                <a16:creationId xmlns:a16="http://schemas.microsoft.com/office/drawing/2014/main" id="{1BD1D74E-7B22-C693-1144-81842FCB58E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56914387-70AC-C3A7-C898-3AFE33B8F1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2DC06821-266C-7795-7120-1624F67BD24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78BA3F55-9ABA-3981-88D5-EFEC3516A5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buNone/>
            </a:pPr>
            <a:r>
              <a:rPr lang="en-US" dirty="0">
                <a:solidFill>
                  <a:srgbClr val="000000"/>
                </a:solidFill>
                <a:latin typeface="Times New Roman" pitchFamily="18" charset="0"/>
                <a:cs typeface="Times New Roman" pitchFamily="18" charset="0"/>
              </a:rPr>
              <a:t>Software Engineering is required due to the following reasons:</a:t>
            </a:r>
          </a:p>
          <a:p>
            <a:pPr algn="just">
              <a:buNone/>
            </a:pPr>
            <a:endParaRPr lang="en-US" dirty="0">
              <a:solidFill>
                <a:srgbClr val="000000"/>
              </a:solidFill>
              <a:latin typeface="Times New Roman" pitchFamily="18" charset="0"/>
              <a:cs typeface="Times New Roman" pitchFamily="18" charset="0"/>
            </a:endParaRPr>
          </a:p>
          <a:p>
            <a:pPr algn="just">
              <a:buFont typeface="Arial"/>
              <a:buChar char="•"/>
            </a:pPr>
            <a:r>
              <a:rPr lang="en-US" dirty="0">
                <a:solidFill>
                  <a:srgbClr val="000000"/>
                </a:solidFill>
                <a:latin typeface="Times New Roman" pitchFamily="18" charset="0"/>
                <a:cs typeface="Times New Roman" pitchFamily="18" charset="0"/>
              </a:rPr>
              <a:t>To manage Large software</a:t>
            </a:r>
          </a:p>
          <a:p>
            <a:pPr algn="just">
              <a:buFont typeface="Arial"/>
              <a:buChar char="•"/>
            </a:pPr>
            <a:r>
              <a:rPr lang="en-US" dirty="0">
                <a:solidFill>
                  <a:srgbClr val="000000"/>
                </a:solidFill>
                <a:latin typeface="Times New Roman" pitchFamily="18" charset="0"/>
                <a:cs typeface="Times New Roman" pitchFamily="18" charset="0"/>
              </a:rPr>
              <a:t>For more Scalability</a:t>
            </a:r>
          </a:p>
          <a:p>
            <a:pPr algn="just">
              <a:buFont typeface="Arial"/>
              <a:buChar char="•"/>
            </a:pPr>
            <a:r>
              <a:rPr lang="en-US" dirty="0">
                <a:solidFill>
                  <a:srgbClr val="000000"/>
                </a:solidFill>
                <a:latin typeface="Times New Roman" pitchFamily="18" charset="0"/>
                <a:cs typeface="Times New Roman" pitchFamily="18" charset="0"/>
              </a:rPr>
              <a:t>Cost Management</a:t>
            </a:r>
          </a:p>
          <a:p>
            <a:pPr algn="just">
              <a:buFont typeface="Arial"/>
              <a:buChar char="•"/>
            </a:pPr>
            <a:r>
              <a:rPr lang="en-US" dirty="0">
                <a:solidFill>
                  <a:srgbClr val="000000"/>
                </a:solidFill>
                <a:latin typeface="Times New Roman" pitchFamily="18" charset="0"/>
                <a:cs typeface="Times New Roman" pitchFamily="18" charset="0"/>
              </a:rPr>
              <a:t>To manage the dynamic nature of software</a:t>
            </a:r>
          </a:p>
          <a:p>
            <a:pPr algn="just">
              <a:buFont typeface="Arial"/>
              <a:buChar char="•"/>
            </a:pPr>
            <a:r>
              <a:rPr lang="en-US" dirty="0">
                <a:solidFill>
                  <a:srgbClr val="000000"/>
                </a:solidFill>
                <a:latin typeface="Times New Roman" pitchFamily="18" charset="0"/>
                <a:cs typeface="Times New Roman" pitchFamily="18" charset="0"/>
              </a:rPr>
              <a:t>For better quality Management</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39114"/>
            <a:ext cx="10515600" cy="75157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Need of Software Engineering</a:t>
            </a: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12</a:t>
            </a:fld>
            <a:endParaRPr lang="en-US"/>
          </a:p>
        </p:txBody>
      </p:sp>
      <p:sp>
        <p:nvSpPr>
          <p:cNvPr id="2" name="Footer Placeholder 9">
            <a:extLst>
              <a:ext uri="{FF2B5EF4-FFF2-40B4-BE49-F238E27FC236}">
                <a16:creationId xmlns:a16="http://schemas.microsoft.com/office/drawing/2014/main" id="{A3DF0939-E85B-047F-A645-E45217CDF32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BDD43BDD-9DE4-9F50-508E-BBFA0A2CC0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B91F9E18-7E86-1746-A20D-17E2097F06A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75CA2E42-FA74-4F80-4645-D8BF39390E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endParaRPr lang="en-US" sz="1400" dirty="0">
              <a:latin typeface="Times New Roman" pitchFamily="18" charset="0"/>
              <a:cs typeface="Times New Roman" pitchFamily="18" charset="0"/>
            </a:endParaRPr>
          </a:p>
          <a:p>
            <a:pPr lvl="7"/>
            <a:r>
              <a:rPr lang="en-US" sz="1400" dirty="0">
                <a:latin typeface="Times New Roman" pitchFamily="18" charset="0"/>
                <a:cs typeface="Times New Roman" pitchFamily="18" charset="0"/>
              </a:rPr>
              <a:t>Fig 1 Importance of Software Engineering</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02043"/>
            <a:ext cx="10515600" cy="7886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Importance of Software Engineering</a:t>
            </a:r>
          </a:p>
        </p:txBody>
      </p:sp>
      <p:sp>
        <p:nvSpPr>
          <p:cNvPr id="7" name="Slide Number Placeholder 6"/>
          <p:cNvSpPr>
            <a:spLocks noGrp="1"/>
          </p:cNvSpPr>
          <p:nvPr>
            <p:ph type="sldNum" sz="quarter" idx="12"/>
          </p:nvPr>
        </p:nvSpPr>
        <p:spPr/>
        <p:txBody>
          <a:bodyPr/>
          <a:lstStyle/>
          <a:p>
            <a:fld id="{BDCDBBEF-AA6C-4BA6-85B2-A17D7F280E38}" type="slidenum">
              <a:rPr lang="en-US" smtClean="0"/>
              <a:pPr/>
              <a:t>13</a:t>
            </a:fld>
            <a:endParaRPr lang="en-US"/>
          </a:p>
        </p:txBody>
      </p:sp>
      <p:pic>
        <p:nvPicPr>
          <p:cNvPr id="60417" name="Picture 1"/>
          <p:cNvPicPr>
            <a:picLocks noChangeAspect="1" noChangeArrowheads="1"/>
          </p:cNvPicPr>
          <p:nvPr/>
        </p:nvPicPr>
        <p:blipFill>
          <a:blip r:embed="rId2"/>
          <a:srcRect/>
          <a:stretch>
            <a:fillRect/>
          </a:stretch>
        </p:blipFill>
        <p:spPr bwMode="auto">
          <a:xfrm>
            <a:off x="1981200" y="1514474"/>
            <a:ext cx="8039100" cy="3914467"/>
          </a:xfrm>
          <a:prstGeom prst="rect">
            <a:avLst/>
          </a:prstGeom>
          <a:noFill/>
          <a:ln w="9525">
            <a:noFill/>
            <a:miter lim="800000"/>
            <a:headEnd/>
            <a:tailEnd/>
          </a:ln>
          <a:effectLst/>
        </p:spPr>
      </p:pic>
      <p:sp>
        <p:nvSpPr>
          <p:cNvPr id="2" name="Footer Placeholder 9">
            <a:extLst>
              <a:ext uri="{FF2B5EF4-FFF2-40B4-BE49-F238E27FC236}">
                <a16:creationId xmlns:a16="http://schemas.microsoft.com/office/drawing/2014/main" id="{6E4D0B91-C393-6456-3C31-608DE3D6689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5449C607-2D9E-495E-29E5-4A0CD229E8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B9F6A2DB-7938-3986-9C3B-FA12C6F7DD9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DACABFE5-978B-5481-E45D-68D8CD40C0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b="1" dirty="0">
                <a:latin typeface="Times New Roman" pitchFamily="18" charset="0"/>
                <a:cs typeface="Times New Roman" pitchFamily="18" charset="0"/>
              </a:rPr>
              <a:t>Reduces complexity</a:t>
            </a:r>
          </a:p>
          <a:p>
            <a:pPr algn="just"/>
            <a:r>
              <a:rPr lang="en-US" dirty="0">
                <a:latin typeface="Times New Roman" pitchFamily="18" charset="0"/>
                <a:cs typeface="Times New Roman" pitchFamily="18" charset="0"/>
              </a:rPr>
              <a:t>Software engineering has a great solution to reduce the complication of any project. </a:t>
            </a:r>
          </a:p>
          <a:p>
            <a:pPr algn="just"/>
            <a:r>
              <a:rPr lang="en-US" dirty="0">
                <a:latin typeface="Times New Roman" pitchFamily="18" charset="0"/>
                <a:cs typeface="Times New Roman" pitchFamily="18" charset="0"/>
              </a:rPr>
              <a:t>Software engineering divides big problems into various small issues. </a:t>
            </a:r>
          </a:p>
          <a:p>
            <a:pPr algn="just"/>
            <a:r>
              <a:rPr lang="en-US" dirty="0">
                <a:latin typeface="Times New Roman" pitchFamily="18" charset="0"/>
                <a:cs typeface="Times New Roman" pitchFamily="18" charset="0"/>
              </a:rPr>
              <a:t>And then start solving each small issue one by one. All these small problems are solved independently to each other.</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02043"/>
            <a:ext cx="10515600" cy="7886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Importance of Software Engineering</a:t>
            </a:r>
          </a:p>
        </p:txBody>
      </p:sp>
      <p:sp>
        <p:nvSpPr>
          <p:cNvPr id="7" name="Slide Number Placeholder 6"/>
          <p:cNvSpPr>
            <a:spLocks noGrp="1"/>
          </p:cNvSpPr>
          <p:nvPr>
            <p:ph type="sldNum" sz="quarter" idx="12"/>
          </p:nvPr>
        </p:nvSpPr>
        <p:spPr/>
        <p:txBody>
          <a:bodyPr/>
          <a:lstStyle/>
          <a:p>
            <a:fld id="{BDCDBBEF-AA6C-4BA6-85B2-A17D7F280E38}" type="slidenum">
              <a:rPr lang="en-US" smtClean="0"/>
              <a:pPr/>
              <a:t>14</a:t>
            </a:fld>
            <a:endParaRPr lang="en-US"/>
          </a:p>
        </p:txBody>
      </p:sp>
      <p:sp>
        <p:nvSpPr>
          <p:cNvPr id="2" name="Footer Placeholder 9">
            <a:extLst>
              <a:ext uri="{FF2B5EF4-FFF2-40B4-BE49-F238E27FC236}">
                <a16:creationId xmlns:a16="http://schemas.microsoft.com/office/drawing/2014/main" id="{CF170D47-7AEC-869C-E2E3-FC7DEB319CD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068C578C-7560-CBFF-F3A0-90CA5BEB48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FA3FAEAB-48BB-5070-D4B9-165AF5045A9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8922AA6B-6DB0-F03D-2F56-8E98B7AB0A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b="1" dirty="0">
                <a:latin typeface="Times New Roman" pitchFamily="18" charset="0"/>
                <a:cs typeface="Times New Roman" pitchFamily="18" charset="0"/>
              </a:rPr>
              <a:t>To minimize software cost:</a:t>
            </a:r>
            <a:r>
              <a:rPr lang="en-US" dirty="0">
                <a:latin typeface="Times New Roman" pitchFamily="18" charset="0"/>
                <a:cs typeface="Times New Roman" pitchFamily="18" charset="0"/>
              </a:rPr>
              <a:t> </a:t>
            </a:r>
          </a:p>
          <a:p>
            <a:pPr lvl="0" algn="just"/>
            <a:r>
              <a:rPr lang="en-US" dirty="0">
                <a:latin typeface="Times New Roman" pitchFamily="18" charset="0"/>
                <a:cs typeface="Times New Roman" pitchFamily="18" charset="0"/>
              </a:rPr>
              <a:t>Software needs a lot of </a:t>
            </a:r>
            <a:r>
              <a:rPr lang="en-US" dirty="0" err="1">
                <a:latin typeface="Times New Roman" pitchFamily="18" charset="0"/>
                <a:cs typeface="Times New Roman" pitchFamily="18" charset="0"/>
              </a:rPr>
              <a:t>hardwork</a:t>
            </a:r>
            <a:r>
              <a:rPr lang="en-US" dirty="0">
                <a:latin typeface="Times New Roman" pitchFamily="18" charset="0"/>
                <a:cs typeface="Times New Roman" pitchFamily="18" charset="0"/>
              </a:rPr>
              <a:t> and software engineers are highly paid experts.</a:t>
            </a:r>
          </a:p>
          <a:p>
            <a:pPr lvl="0" algn="just"/>
            <a:r>
              <a:rPr lang="en-US" dirty="0">
                <a:latin typeface="Times New Roman" pitchFamily="18" charset="0"/>
                <a:cs typeface="Times New Roman" pitchFamily="18" charset="0"/>
              </a:rPr>
              <a:t> But using software engineering, programmers project everything and decrease all those things that are not needed. </a:t>
            </a:r>
          </a:p>
          <a:p>
            <a:pPr lvl="0" algn="just"/>
            <a:r>
              <a:rPr lang="en-US" dirty="0">
                <a:latin typeface="Times New Roman" pitchFamily="18" charset="0"/>
                <a:cs typeface="Times New Roman" pitchFamily="18" charset="0"/>
              </a:rPr>
              <a:t>In turn, the cost for software productions becomes less as compared to any software that does not use software engineering method.</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76184"/>
            <a:ext cx="10515600" cy="714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Importance of Software Engineering</a:t>
            </a:r>
          </a:p>
        </p:txBody>
      </p:sp>
      <p:sp>
        <p:nvSpPr>
          <p:cNvPr id="7" name="Slide Number Placeholder 6"/>
          <p:cNvSpPr>
            <a:spLocks noGrp="1"/>
          </p:cNvSpPr>
          <p:nvPr>
            <p:ph type="sldNum" sz="quarter" idx="12"/>
          </p:nvPr>
        </p:nvSpPr>
        <p:spPr/>
        <p:txBody>
          <a:bodyPr/>
          <a:lstStyle/>
          <a:p>
            <a:fld id="{BDCDBBEF-AA6C-4BA6-85B2-A17D7F280E38}" type="slidenum">
              <a:rPr lang="en-US" smtClean="0"/>
              <a:pPr/>
              <a:t>15</a:t>
            </a:fld>
            <a:endParaRPr lang="en-US"/>
          </a:p>
        </p:txBody>
      </p:sp>
      <p:sp>
        <p:nvSpPr>
          <p:cNvPr id="2" name="Footer Placeholder 9">
            <a:extLst>
              <a:ext uri="{FF2B5EF4-FFF2-40B4-BE49-F238E27FC236}">
                <a16:creationId xmlns:a16="http://schemas.microsoft.com/office/drawing/2014/main" id="{9D6CE318-CA3F-9480-4D48-0B9EAE56F81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4B3A326C-0C29-7419-B160-783238FF2A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29F91D04-771A-263C-CD51-BBDE6B8A37D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98EDC375-1BB0-9F01-39DE-20E358644C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b="1" dirty="0">
                <a:latin typeface="Times New Roman" pitchFamily="18" charset="0"/>
                <a:cs typeface="Times New Roman" pitchFamily="18" charset="0"/>
              </a:rPr>
              <a:t>To decrease time:</a:t>
            </a:r>
          </a:p>
          <a:p>
            <a:pPr algn="just"/>
            <a:r>
              <a:rPr lang="en-US" dirty="0">
                <a:latin typeface="Times New Roman" pitchFamily="18" charset="0"/>
                <a:cs typeface="Times New Roman" pitchFamily="18" charset="0"/>
              </a:rPr>
              <a:t> To achieve the requirements of the software, many codes are executed to reach the definite running code. </a:t>
            </a:r>
          </a:p>
          <a:p>
            <a:pPr algn="just"/>
            <a:r>
              <a:rPr lang="en-US" dirty="0">
                <a:latin typeface="Times New Roman" pitchFamily="18" charset="0"/>
                <a:cs typeface="Times New Roman" pitchFamily="18" charset="0"/>
              </a:rPr>
              <a:t>This is a very time-consuming procedure, and if it is not well handled, then this can take a lot of time. </a:t>
            </a:r>
          </a:p>
          <a:p>
            <a:pPr algn="just"/>
            <a:r>
              <a:rPr lang="en-US" dirty="0">
                <a:latin typeface="Times New Roman" pitchFamily="18" charset="0"/>
                <a:cs typeface="Times New Roman" pitchFamily="18" charset="0"/>
              </a:rPr>
              <a:t>So if you are making your software according to the software engineering method, then it will decrease a lot of time.</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64973"/>
            <a:ext cx="10515600" cy="82571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Importance of Software Engineering</a:t>
            </a:r>
            <a:endParaRPr lang="en-US" dirty="0">
              <a:solidFill>
                <a:schemeClr val="tx1"/>
              </a:solidFill>
              <a:latin typeface="Casper Bold"/>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16</a:t>
            </a:fld>
            <a:endParaRPr lang="en-US"/>
          </a:p>
        </p:txBody>
      </p:sp>
      <p:sp>
        <p:nvSpPr>
          <p:cNvPr id="2" name="Footer Placeholder 9">
            <a:extLst>
              <a:ext uri="{FF2B5EF4-FFF2-40B4-BE49-F238E27FC236}">
                <a16:creationId xmlns:a16="http://schemas.microsoft.com/office/drawing/2014/main" id="{413188B9-AB8C-AA20-634F-29A36B2BB17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10E689D9-393D-F4A5-E2F4-3622C8476E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19738"/>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BADFEEDF-5F9F-778E-E1B8-F50B130D7B0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69E29A9A-E4FF-C2AC-546F-618C3CF8EF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b="1" dirty="0">
                <a:latin typeface="Times New Roman" pitchFamily="18" charset="0"/>
                <a:cs typeface="Times New Roman" pitchFamily="18" charset="0"/>
              </a:rPr>
              <a:t>Handling big projects:</a:t>
            </a:r>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Big projects are not done in a couple of days, and they need lots of patience, planning, and management. </a:t>
            </a:r>
          </a:p>
          <a:p>
            <a:pPr algn="just"/>
            <a:r>
              <a:rPr lang="en-US" dirty="0">
                <a:latin typeface="Times New Roman" pitchFamily="18" charset="0"/>
                <a:cs typeface="Times New Roman" pitchFamily="18" charset="0"/>
              </a:rPr>
              <a:t>And to invest  many months of any company, it requires heaps of planning, direction, testing, and maintenance. </a:t>
            </a:r>
          </a:p>
          <a:p>
            <a:pPr algn="just"/>
            <a:r>
              <a:rPr lang="en-US" dirty="0">
                <a:latin typeface="Times New Roman" pitchFamily="18" charset="0"/>
                <a:cs typeface="Times New Roman" pitchFamily="18" charset="0"/>
              </a:rPr>
              <a:t>The company has provided many resources to the plan and it should be completed well in time. </a:t>
            </a:r>
          </a:p>
          <a:p>
            <a:pPr algn="just"/>
            <a:r>
              <a:rPr lang="en-US" dirty="0">
                <a:latin typeface="Times New Roman" pitchFamily="18" charset="0"/>
                <a:cs typeface="Times New Roman" pitchFamily="18" charset="0"/>
              </a:rPr>
              <a:t>So to handle a big project without any problem, the company has to go for a software engineering method.</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88541"/>
            <a:ext cx="10515600" cy="70214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Importance of Software Engineering</a:t>
            </a:r>
            <a:endParaRPr lang="en-US" dirty="0">
              <a:solidFill>
                <a:schemeClr val="tx1"/>
              </a:solidFill>
              <a:latin typeface="Casper Bold"/>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17</a:t>
            </a:fld>
            <a:endParaRPr lang="en-US"/>
          </a:p>
        </p:txBody>
      </p:sp>
      <p:sp>
        <p:nvSpPr>
          <p:cNvPr id="2" name="Footer Placeholder 9">
            <a:extLst>
              <a:ext uri="{FF2B5EF4-FFF2-40B4-BE49-F238E27FC236}">
                <a16:creationId xmlns:a16="http://schemas.microsoft.com/office/drawing/2014/main" id="{9F8E6EC7-990E-8371-657F-CFD7EFAB064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062603E8-98B6-644A-46FF-B104BC94F0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5D64BDEC-DB18-1998-E344-F1AEC4728BF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9EC81106-CBFE-5803-386D-931F54FF97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b="1" dirty="0">
                <a:latin typeface="Times New Roman" pitchFamily="18" charset="0"/>
                <a:cs typeface="Times New Roman" pitchFamily="18" charset="0"/>
              </a:rPr>
              <a:t>Reliable software:</a:t>
            </a:r>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Software should be secure, means if you have delivered the software, then it should work for at least its given time or subscription. </a:t>
            </a:r>
          </a:p>
          <a:p>
            <a:pPr algn="just"/>
            <a:r>
              <a:rPr lang="en-US" dirty="0">
                <a:latin typeface="Times New Roman" pitchFamily="18" charset="0"/>
                <a:cs typeface="Times New Roman" pitchFamily="18" charset="0"/>
              </a:rPr>
              <a:t>And if any bugs come in the software, the company is responsible for solving all these bugs. </a:t>
            </a:r>
          </a:p>
          <a:p>
            <a:pPr algn="just"/>
            <a:r>
              <a:rPr lang="en-US" dirty="0">
                <a:latin typeface="Times New Roman" pitchFamily="18" charset="0"/>
                <a:cs typeface="Times New Roman" pitchFamily="18" charset="0"/>
              </a:rPr>
              <a:t>Because in software engineering, testing and maintenance are given, so there is no worry of its reliability.</a:t>
            </a:r>
          </a:p>
          <a:p>
            <a:pPr>
              <a:buNone/>
            </a:pP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26757"/>
            <a:ext cx="10515600" cy="76393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Importance of Software Engineering</a:t>
            </a:r>
            <a:endParaRPr lang="en-US" dirty="0">
              <a:solidFill>
                <a:schemeClr val="tx1"/>
              </a:solidFill>
              <a:latin typeface="Casper Bold"/>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18</a:t>
            </a:fld>
            <a:endParaRPr lang="en-US"/>
          </a:p>
        </p:txBody>
      </p:sp>
      <p:sp>
        <p:nvSpPr>
          <p:cNvPr id="2" name="Footer Placeholder 9">
            <a:extLst>
              <a:ext uri="{FF2B5EF4-FFF2-40B4-BE49-F238E27FC236}">
                <a16:creationId xmlns:a16="http://schemas.microsoft.com/office/drawing/2014/main" id="{F192CB6C-3621-BED3-7D8E-D97F0C76A65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FC070319-7314-D664-C7E9-D2EB39F467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284C9328-B712-52D8-991D-6E8D7088586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4E243E16-90AB-F455-F918-5B3E33D784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b="1" dirty="0">
                <a:latin typeface="Times New Roman" pitchFamily="18" charset="0"/>
                <a:cs typeface="Times New Roman" pitchFamily="18" charset="0"/>
              </a:rPr>
              <a:t>Effectiveness:</a:t>
            </a:r>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Effectiveness comes if anything has made according to the standards. </a:t>
            </a:r>
          </a:p>
          <a:p>
            <a:pPr algn="just"/>
            <a:r>
              <a:rPr lang="en-US" dirty="0">
                <a:latin typeface="Times New Roman" pitchFamily="18" charset="0"/>
                <a:cs typeface="Times New Roman" pitchFamily="18" charset="0"/>
              </a:rPr>
              <a:t>Software standards are the big target of companies to make it more effective.</a:t>
            </a:r>
          </a:p>
          <a:p>
            <a:pPr algn="just"/>
            <a:r>
              <a:rPr lang="en-US" dirty="0">
                <a:latin typeface="Times New Roman" pitchFamily="18" charset="0"/>
                <a:cs typeface="Times New Roman" pitchFamily="18" charset="0"/>
              </a:rPr>
              <a:t> So Software becomes more effective in the act with the help of software engineering.</a:t>
            </a:r>
          </a:p>
          <a:p>
            <a:pPr algn="just">
              <a:buNone/>
            </a:pP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89686"/>
            <a:ext cx="10515600" cy="80100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Importance of Software Engineering</a:t>
            </a:r>
            <a:endParaRPr lang="en-US" dirty="0">
              <a:solidFill>
                <a:schemeClr val="tx1"/>
              </a:solidFill>
              <a:latin typeface="Casper Bold"/>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19</a:t>
            </a:fld>
            <a:endParaRPr lang="en-US"/>
          </a:p>
        </p:txBody>
      </p:sp>
      <p:sp>
        <p:nvSpPr>
          <p:cNvPr id="2" name="Footer Placeholder 9">
            <a:extLst>
              <a:ext uri="{FF2B5EF4-FFF2-40B4-BE49-F238E27FC236}">
                <a16:creationId xmlns:a16="http://schemas.microsoft.com/office/drawing/2014/main" id="{603FF599-10CC-8F93-5CAD-771328D4477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3A317882-D52C-9690-B1A1-8B90196278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FA5E6325-1BD7-F130-C9E0-6DB23C2594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44CEFECF-0359-EC67-A8FC-6C736BBD73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latin typeface="Times New Roman" pitchFamily="18" charset="0"/>
                <a:cs typeface="Times New Roman" pitchFamily="18" charset="0"/>
              </a:rPr>
              <a:t>Software Development Life Cycle (SDLC) is a process used by the software industry to design, develop and test high quality software. </a:t>
            </a:r>
          </a:p>
          <a:p>
            <a:r>
              <a:rPr lang="en-US" dirty="0">
                <a:latin typeface="Times New Roman" pitchFamily="18" charset="0"/>
                <a:cs typeface="Times New Roman" pitchFamily="18" charset="0"/>
              </a:rPr>
              <a:t>The SDLC aims to produce a high-quality software that meets or exceeds customer expectations, reaches completion within times and cost estimates.</a:t>
            </a:r>
          </a:p>
          <a:p>
            <a:r>
              <a:rPr lang="en-US" dirty="0">
                <a:latin typeface="Times New Roman" pitchFamily="18" charset="0"/>
                <a:cs typeface="Times New Roman" pitchFamily="18" charset="0"/>
              </a:rPr>
              <a:t>The life cycle defines a methodology for improving the quality of software and the overall development process.</a:t>
            </a:r>
          </a:p>
          <a:p>
            <a:r>
              <a:rPr lang="en-US" dirty="0">
                <a:latin typeface="Times New Roman" pitchFamily="18" charset="0"/>
                <a:cs typeface="Times New Roman" pitchFamily="18" charset="0"/>
              </a:rPr>
              <a:t>It consists of a detailed plan describing how to develop, maintain, replace and alter or enhance specific software.</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63827"/>
            <a:ext cx="10515600" cy="7268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Software Development Life Cycle</a:t>
            </a:r>
            <a:endParaRPr lang="en-US" dirty="0">
              <a:solidFill>
                <a:schemeClr val="tx1"/>
              </a:solidFill>
              <a:latin typeface="Casper Bold"/>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20</a:t>
            </a:fld>
            <a:endParaRPr lang="en-US"/>
          </a:p>
        </p:txBody>
      </p:sp>
      <p:sp>
        <p:nvSpPr>
          <p:cNvPr id="2" name="Footer Placeholder 9">
            <a:extLst>
              <a:ext uri="{FF2B5EF4-FFF2-40B4-BE49-F238E27FC236}">
                <a16:creationId xmlns:a16="http://schemas.microsoft.com/office/drawing/2014/main" id="{227D3A87-9D84-6FDE-9C54-5761B2B3447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A4602C3A-AAD1-8B00-7C9F-89297A24E8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4BA792BB-CD1E-44B6-9C53-F83FFA6B312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a:buNone/>
            </a:pPr>
            <a:r>
              <a:rPr lang="en-US" sz="1400" dirty="0">
                <a:latin typeface="Times New Roman" pitchFamily="18" charset="0"/>
                <a:cs typeface="Times New Roman" pitchFamily="18" charset="0"/>
              </a:rPr>
              <a:t>					</a:t>
            </a:r>
          </a:p>
          <a:p>
            <a:pPr algn="ctr">
              <a:buNone/>
            </a:pPr>
            <a:r>
              <a:rPr lang="en-US" sz="1400" dirty="0">
                <a:latin typeface="Times New Roman" pitchFamily="18" charset="0"/>
                <a:cs typeface="Times New Roman" pitchFamily="18" charset="0"/>
              </a:rPr>
              <a:t>Fig 2 Software Development Life Cycle</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64973"/>
            <a:ext cx="10515600" cy="82571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Software Development Life Cycle</a:t>
            </a:r>
            <a:endParaRPr lang="en-US" dirty="0">
              <a:solidFill>
                <a:schemeClr val="tx1"/>
              </a:solidFill>
              <a:latin typeface="Casper Bold"/>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21</a:t>
            </a:fld>
            <a:endParaRPr lang="en-US"/>
          </a:p>
        </p:txBody>
      </p:sp>
      <p:pic>
        <p:nvPicPr>
          <p:cNvPr id="76802" name="Picture 2"/>
          <p:cNvPicPr>
            <a:picLocks noChangeAspect="1" noChangeArrowheads="1"/>
          </p:cNvPicPr>
          <p:nvPr/>
        </p:nvPicPr>
        <p:blipFill>
          <a:blip r:embed="rId2"/>
          <a:srcRect/>
          <a:stretch>
            <a:fillRect/>
          </a:stretch>
        </p:blipFill>
        <p:spPr bwMode="auto">
          <a:xfrm>
            <a:off x="2224088" y="1825625"/>
            <a:ext cx="6367462" cy="3932623"/>
          </a:xfrm>
          <a:prstGeom prst="rect">
            <a:avLst/>
          </a:prstGeom>
          <a:noFill/>
          <a:ln w="9525">
            <a:noFill/>
            <a:miter lim="800000"/>
            <a:headEnd/>
            <a:tailEnd/>
          </a:ln>
          <a:effectLst/>
        </p:spPr>
      </p:pic>
      <p:sp>
        <p:nvSpPr>
          <p:cNvPr id="2" name="Footer Placeholder 9">
            <a:extLst>
              <a:ext uri="{FF2B5EF4-FFF2-40B4-BE49-F238E27FC236}">
                <a16:creationId xmlns:a16="http://schemas.microsoft.com/office/drawing/2014/main" id="{CE62644D-537A-2627-3FDF-143D30C6601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825EEB97-2440-560C-B25A-B3BAF77B5C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5627D388-F0C5-FB10-54B2-FFA621BE445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1C90F6E8-EFB4-D890-D3A8-EA364F7D729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4"/>
            <a:ext cx="10515600" cy="4689475"/>
          </a:xfrm>
        </p:spPr>
        <p:txBody>
          <a:bodyPr>
            <a:noAutofit/>
          </a:bodyPr>
          <a:lstStyle/>
          <a:p>
            <a:pPr algn="just"/>
            <a:r>
              <a:rPr lang="en-US" sz="2600" dirty="0">
                <a:latin typeface="Times New Roman" pitchFamily="18" charset="0"/>
                <a:cs typeface="Times New Roman" pitchFamily="18" charset="0"/>
              </a:rPr>
              <a:t>Requirement analysis is the most important and fundamental stage in SDLC. </a:t>
            </a:r>
          </a:p>
          <a:p>
            <a:pPr algn="just"/>
            <a:r>
              <a:rPr lang="en-US" sz="2600" dirty="0">
                <a:latin typeface="Times New Roman" pitchFamily="18" charset="0"/>
                <a:cs typeface="Times New Roman" pitchFamily="18" charset="0"/>
              </a:rPr>
              <a:t>It is performed by the senior members of the team with inputs from the customer, the sales department, market surveys and domain experts in the industry. </a:t>
            </a:r>
          </a:p>
          <a:p>
            <a:pPr algn="just"/>
            <a:r>
              <a:rPr lang="en-US" sz="2600" dirty="0">
                <a:latin typeface="Times New Roman" pitchFamily="18" charset="0"/>
                <a:cs typeface="Times New Roman" pitchFamily="18" charset="0"/>
              </a:rPr>
              <a:t>The information is then used to plan the basic project approach and to conduct product feasibility study in the economical, operational and technical areas.</a:t>
            </a:r>
          </a:p>
          <a:p>
            <a:pPr algn="just"/>
            <a:r>
              <a:rPr lang="en-US" sz="2600" dirty="0">
                <a:latin typeface="Times New Roman" pitchFamily="18" charset="0"/>
                <a:cs typeface="Times New Roman" pitchFamily="18" charset="0"/>
              </a:rPr>
              <a:t>The outcome of the technical feasibility study defines various  approaches that can be followed to implement the project successfully with minimum risks.</a:t>
            </a:r>
          </a:p>
          <a:p>
            <a:pPr algn="just"/>
            <a:endParaRPr lang="en-US" sz="2600"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124465"/>
            <a:ext cx="10515600" cy="56622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Stage 1: Requirement Analysis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22</a:t>
            </a:fld>
            <a:endParaRPr lang="en-US"/>
          </a:p>
        </p:txBody>
      </p:sp>
      <p:sp>
        <p:nvSpPr>
          <p:cNvPr id="2" name="Footer Placeholder 9">
            <a:extLst>
              <a:ext uri="{FF2B5EF4-FFF2-40B4-BE49-F238E27FC236}">
                <a16:creationId xmlns:a16="http://schemas.microsoft.com/office/drawing/2014/main" id="{CC61C53B-8639-2C43-E09A-946A65EB0CC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8EE5D5E5-8979-7675-0AFB-812E5FBCA3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9424D7C5-21B1-5132-F18E-A4EE2F87138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1AF790A7-56F0-7715-BD0B-220E5743A6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Once the requirement analysis is done the next step is to clearly define and document the product requirements and get them approved from the customer or the market analysts. </a:t>
            </a:r>
          </a:p>
          <a:p>
            <a:pPr algn="just"/>
            <a:r>
              <a:rPr lang="en-US" dirty="0">
                <a:latin typeface="Times New Roman" pitchFamily="18" charset="0"/>
                <a:cs typeface="Times New Roman" pitchFamily="18" charset="0"/>
              </a:rPr>
              <a:t>This is done through an </a:t>
            </a:r>
            <a:r>
              <a:rPr lang="en-US" b="1" dirty="0">
                <a:latin typeface="Times New Roman" pitchFamily="18" charset="0"/>
                <a:cs typeface="Times New Roman" pitchFamily="18" charset="0"/>
              </a:rPr>
              <a:t>SRS (Software Requirement Specification)</a:t>
            </a:r>
            <a:r>
              <a:rPr lang="en-US" dirty="0">
                <a:latin typeface="Times New Roman" pitchFamily="18" charset="0"/>
                <a:cs typeface="Times New Roman" pitchFamily="18" charset="0"/>
              </a:rPr>
              <a:t> document which consists of all the product requirements to be designed and developed during the project life cycle</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51470"/>
            <a:ext cx="10515600" cy="73921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Stage 2: Defining Requirements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23</a:t>
            </a:fld>
            <a:endParaRPr lang="en-US"/>
          </a:p>
        </p:txBody>
      </p:sp>
      <p:sp>
        <p:nvSpPr>
          <p:cNvPr id="2" name="Footer Placeholder 9">
            <a:extLst>
              <a:ext uri="{FF2B5EF4-FFF2-40B4-BE49-F238E27FC236}">
                <a16:creationId xmlns:a16="http://schemas.microsoft.com/office/drawing/2014/main" id="{6571E369-2F9D-6C46-B5ED-889FA2AFB4D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7CCDE656-81E6-9A2D-34C4-B1BCAC198C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CAF34BAC-A510-65D7-0179-462DBDC2B73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A12B63C8-55DD-F0A0-D646-8340482A78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Based on the requirements specified in SRS, usually more than one design approach for the product architecture is proposed and documented in a Design Document Specification (DDS).</a:t>
            </a:r>
          </a:p>
          <a:p>
            <a:pPr algn="just"/>
            <a:r>
              <a:rPr lang="en-US" dirty="0">
                <a:latin typeface="Times New Roman" pitchFamily="18" charset="0"/>
                <a:cs typeface="Times New Roman" pitchFamily="18" charset="0"/>
              </a:rPr>
              <a:t>DDS is reviewed by all the important stakeholders and based on various parameters as risk assessment, product robustness, design modularity, budget and time constraints, the best design approach is selected for the product.</a:t>
            </a:r>
          </a:p>
          <a:p>
            <a:pPr algn="just"/>
            <a:r>
              <a:rPr lang="en-US" dirty="0">
                <a:latin typeface="Times New Roman" pitchFamily="18" charset="0"/>
                <a:cs typeface="Times New Roman" pitchFamily="18" charset="0"/>
              </a:rPr>
              <a:t>A design approach clearly defines all the architectural modules of the product along with its communication and data flow representation with the external and third party modules. </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13254"/>
            <a:ext cx="10515600" cy="6774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Stage 3: Designing the Product Architecture</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24</a:t>
            </a:fld>
            <a:endParaRPr lang="en-US"/>
          </a:p>
        </p:txBody>
      </p:sp>
      <p:sp>
        <p:nvSpPr>
          <p:cNvPr id="2" name="Footer Placeholder 9">
            <a:extLst>
              <a:ext uri="{FF2B5EF4-FFF2-40B4-BE49-F238E27FC236}">
                <a16:creationId xmlns:a16="http://schemas.microsoft.com/office/drawing/2014/main" id="{E192F52E-7E8F-BCE3-D791-22D073D326B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996BAE60-3A37-8490-0C50-C61879EB0B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5DB79A0E-6F38-716B-9DC3-6477DABFFB3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2CF6F362-414F-D2EA-0021-E3BBBCA587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In this stage of SDLC the actual development starts and the product is built. </a:t>
            </a:r>
          </a:p>
          <a:p>
            <a:pPr algn="just"/>
            <a:r>
              <a:rPr lang="en-US" dirty="0">
                <a:latin typeface="Times New Roman" pitchFamily="18" charset="0"/>
                <a:cs typeface="Times New Roman" pitchFamily="18" charset="0"/>
              </a:rPr>
              <a:t>The programming code is generated as per DDS during this stage. </a:t>
            </a:r>
          </a:p>
          <a:p>
            <a:pPr algn="just"/>
            <a:r>
              <a:rPr lang="en-US" dirty="0">
                <a:latin typeface="Times New Roman" pitchFamily="18" charset="0"/>
                <a:cs typeface="Times New Roman" pitchFamily="18" charset="0"/>
              </a:rPr>
              <a:t>If the design is performed in a detailed and organized manner, code generation can be accomplished without much hassle.</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51470"/>
            <a:ext cx="10515600" cy="73921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Stage 4: Building or Developing the Product</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25</a:t>
            </a:fld>
            <a:endParaRPr lang="en-US"/>
          </a:p>
        </p:txBody>
      </p:sp>
      <p:sp>
        <p:nvSpPr>
          <p:cNvPr id="2" name="Footer Placeholder 9">
            <a:extLst>
              <a:ext uri="{FF2B5EF4-FFF2-40B4-BE49-F238E27FC236}">
                <a16:creationId xmlns:a16="http://schemas.microsoft.com/office/drawing/2014/main" id="{557397E6-385A-8FEE-56DE-E2ED3BCA602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74F3E52F-0609-86B7-5C21-7F1E10378B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727F1E65-B2F5-AF7E-FF05-B428EF12BC2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0E44593B-1C3B-EEC9-86D3-F80987D6BD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Developers must follow the coding guidelines defined by their organization and programming tools like compilers, interpreters, debuggers, etc. are used to generate the code. </a:t>
            </a:r>
          </a:p>
          <a:p>
            <a:pPr algn="just"/>
            <a:r>
              <a:rPr lang="en-US" dirty="0">
                <a:latin typeface="Times New Roman" pitchFamily="18" charset="0"/>
                <a:cs typeface="Times New Roman" pitchFamily="18" charset="0"/>
              </a:rPr>
              <a:t>Different high level programming languages such as C, C++, Pascal, Java and PHP are used for coding. </a:t>
            </a:r>
          </a:p>
          <a:p>
            <a:pPr algn="just"/>
            <a:r>
              <a:rPr lang="en-US" dirty="0">
                <a:latin typeface="Times New Roman" pitchFamily="18" charset="0"/>
                <a:cs typeface="Times New Roman" pitchFamily="18" charset="0"/>
              </a:rPr>
              <a:t>The programming language is chosen with respect to the type of software being developed.</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37968"/>
            <a:ext cx="10515600" cy="65272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Stage 4: Building or Developing the Product</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26</a:t>
            </a:fld>
            <a:endParaRPr lang="en-US"/>
          </a:p>
        </p:txBody>
      </p:sp>
      <p:sp>
        <p:nvSpPr>
          <p:cNvPr id="2" name="Footer Placeholder 9">
            <a:extLst>
              <a:ext uri="{FF2B5EF4-FFF2-40B4-BE49-F238E27FC236}">
                <a16:creationId xmlns:a16="http://schemas.microsoft.com/office/drawing/2014/main" id="{A7F61D69-2F1C-2706-ED60-66F9B899FFC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E8B64A50-A4A9-B4CA-8F83-883F7C1B37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1FECC4FD-0A3E-C9D8-A615-305ED8FC5BC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8D79799C-D425-1047-A103-C56075D2E6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This stage is usually a subset of all the stages as in the modern SDLC models, the testing activities are mostly involved in all the stages of SDLC. </a:t>
            </a:r>
          </a:p>
          <a:p>
            <a:pPr algn="just"/>
            <a:r>
              <a:rPr lang="en-US" dirty="0">
                <a:latin typeface="Times New Roman" pitchFamily="18" charset="0"/>
                <a:cs typeface="Times New Roman" pitchFamily="18" charset="0"/>
              </a:rPr>
              <a:t>However, this stage refers to the testing only stage of the product where product defects are reported, tracked, fixed and retested, until the product reaches the quality standards defined in the SRS.</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0897"/>
            <a:ext cx="10515600" cy="68979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Stage 5: Testing the Product</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27</a:t>
            </a:fld>
            <a:endParaRPr lang="en-US"/>
          </a:p>
        </p:txBody>
      </p:sp>
      <p:sp>
        <p:nvSpPr>
          <p:cNvPr id="2" name="Footer Placeholder 9">
            <a:extLst>
              <a:ext uri="{FF2B5EF4-FFF2-40B4-BE49-F238E27FC236}">
                <a16:creationId xmlns:a16="http://schemas.microsoft.com/office/drawing/2014/main" id="{97DC5366-00E7-E351-18AB-823A1EFAC6F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78733497-1570-8409-FE5C-D34989D1AA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6C23C8C6-AFED-2EC3-D97E-7BF71172861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3A20A6B7-F2D7-3085-4395-06C1BD764B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Once the product is tested and ready to be deployed it is released formally in the appropriate market. </a:t>
            </a:r>
          </a:p>
          <a:p>
            <a:pPr algn="just"/>
            <a:r>
              <a:rPr lang="en-US" dirty="0">
                <a:latin typeface="Times New Roman" pitchFamily="18" charset="0"/>
                <a:cs typeface="Times New Roman" pitchFamily="18" charset="0"/>
              </a:rPr>
              <a:t>Sometimes product deployment happens in stages as per the business strategy of that organization.</a:t>
            </a:r>
          </a:p>
          <a:p>
            <a:pPr algn="just"/>
            <a:r>
              <a:rPr lang="en-US" dirty="0">
                <a:latin typeface="Times New Roman" pitchFamily="18" charset="0"/>
                <a:cs typeface="Times New Roman" pitchFamily="18" charset="0"/>
              </a:rPr>
              <a:t> The product may first be released in a limited segment and tested in the real business environment (UAT- User acceptance testing).</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52615"/>
            <a:ext cx="10515600" cy="94602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US" dirty="0">
                <a:solidFill>
                  <a:schemeClr val="tx1"/>
                </a:solidFill>
                <a:latin typeface="Times New Roman" pitchFamily="18" charset="0"/>
                <a:cs typeface="Times New Roman" pitchFamily="18" charset="0"/>
              </a:rPr>
              <a:t>Stage 6: Deployment in the Market and Maintenance</a:t>
            </a:r>
          </a:p>
        </p:txBody>
      </p:sp>
      <p:sp>
        <p:nvSpPr>
          <p:cNvPr id="7" name="Slide Number Placeholder 6"/>
          <p:cNvSpPr>
            <a:spLocks noGrp="1"/>
          </p:cNvSpPr>
          <p:nvPr>
            <p:ph type="sldNum" sz="quarter" idx="12"/>
          </p:nvPr>
        </p:nvSpPr>
        <p:spPr/>
        <p:txBody>
          <a:bodyPr/>
          <a:lstStyle/>
          <a:p>
            <a:fld id="{BDCDBBEF-AA6C-4BA6-85B2-A17D7F280E38}" type="slidenum">
              <a:rPr lang="en-US" smtClean="0"/>
              <a:pPr/>
              <a:t>28</a:t>
            </a:fld>
            <a:endParaRPr lang="en-US"/>
          </a:p>
        </p:txBody>
      </p:sp>
      <p:sp>
        <p:nvSpPr>
          <p:cNvPr id="2" name="Footer Placeholder 9">
            <a:extLst>
              <a:ext uri="{FF2B5EF4-FFF2-40B4-BE49-F238E27FC236}">
                <a16:creationId xmlns:a16="http://schemas.microsoft.com/office/drawing/2014/main" id="{C18B549D-068B-EE91-507C-82C29CD020E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9DD28AAD-D6E7-348E-9047-7034B8E4CA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7A1D9AD3-DE18-2822-AB8D-F084947CC6F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F2BB1143-EF0E-566D-6E8D-AFB3AE82EC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Then based on the feedback, the product may be released as it is or with suggested enhancements in the targeting market segment. </a:t>
            </a:r>
          </a:p>
          <a:p>
            <a:pPr algn="just"/>
            <a:r>
              <a:rPr lang="en-US" dirty="0">
                <a:latin typeface="Times New Roman" pitchFamily="18" charset="0"/>
                <a:cs typeface="Times New Roman" pitchFamily="18" charset="0"/>
              </a:rPr>
              <a:t>After the product is released in the market, its maintenance is done for the existing customer base.</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778476"/>
            <a:ext cx="10515600" cy="9122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US" dirty="0">
                <a:solidFill>
                  <a:schemeClr val="tx1"/>
                </a:solidFill>
                <a:latin typeface="Times New Roman" pitchFamily="18" charset="0"/>
                <a:cs typeface="Times New Roman" pitchFamily="18" charset="0"/>
              </a:rPr>
              <a:t>Stage 6: Deployment in the Market and Maintenance</a:t>
            </a:r>
          </a:p>
        </p:txBody>
      </p:sp>
      <p:sp>
        <p:nvSpPr>
          <p:cNvPr id="7" name="Slide Number Placeholder 6"/>
          <p:cNvSpPr>
            <a:spLocks noGrp="1"/>
          </p:cNvSpPr>
          <p:nvPr>
            <p:ph type="sldNum" sz="quarter" idx="12"/>
          </p:nvPr>
        </p:nvSpPr>
        <p:spPr/>
        <p:txBody>
          <a:bodyPr/>
          <a:lstStyle/>
          <a:p>
            <a:fld id="{BDCDBBEF-AA6C-4BA6-85B2-A17D7F280E38}" type="slidenum">
              <a:rPr lang="en-US" smtClean="0"/>
              <a:pPr/>
              <a:t>29</a:t>
            </a:fld>
            <a:endParaRPr lang="en-US"/>
          </a:p>
        </p:txBody>
      </p:sp>
      <p:sp>
        <p:nvSpPr>
          <p:cNvPr id="2" name="Footer Placeholder 9">
            <a:extLst>
              <a:ext uri="{FF2B5EF4-FFF2-40B4-BE49-F238E27FC236}">
                <a16:creationId xmlns:a16="http://schemas.microsoft.com/office/drawing/2014/main" id="{FAF908E0-0939-975E-C63D-6351A40B259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326B5C2C-1FCF-0857-2A4E-FB2EB86594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B368A758-AA55-2A92-7CFD-72D75E6308F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0246A55F-B3FB-81DB-FCA2-4E6F203011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https://nptel.ac.in/courses/106/105/106105182/</a:t>
            </a:r>
            <a:endParaRPr lang="en-US" dirty="0">
              <a:hlinkClick r:id="rId3"/>
            </a:endParaRPr>
          </a:p>
          <a:p>
            <a:r>
              <a:rPr lang="en-US" dirty="0">
                <a:hlinkClick r:id="rId3"/>
              </a:rPr>
              <a:t>https://www.tutorialspoint.com/software_engineering/index.htm</a:t>
            </a:r>
            <a:endParaRPr lang="en-US" dirty="0"/>
          </a:p>
          <a:p>
            <a:r>
              <a:rPr lang="en-US" dirty="0">
                <a:hlinkClick r:id="rId4"/>
              </a:rPr>
              <a:t>https://www.javatpoint.com/software-engineering-tutorial</a:t>
            </a:r>
            <a:endParaRPr lang="en-US" dirty="0"/>
          </a:p>
          <a:p>
            <a:r>
              <a:rPr lang="en-US" dirty="0">
                <a:hlinkClick r:id="rId5"/>
              </a:rPr>
              <a:t>https://www.tutorialride.com/software-engineering/software-engineering-tutorial.htm</a:t>
            </a:r>
            <a:endParaRPr lang="en-US" dirty="0"/>
          </a:p>
          <a:p>
            <a:r>
              <a:rPr lang="en-US" dirty="0">
                <a:hlinkClick r:id="rId6"/>
              </a:rPr>
              <a:t>https://tutorialsinhand.com/tutorials/software-engineering-tutorial/software-engineering-introduction/software-engineering-home.aspx</a:t>
            </a:r>
            <a:endParaRPr lang="en-US" dirty="0"/>
          </a:p>
          <a:p>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112108"/>
            <a:ext cx="10515600" cy="578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30</a:t>
            </a:fld>
            <a:endParaRPr lang="en-US"/>
          </a:p>
        </p:txBody>
      </p:sp>
      <p:sp>
        <p:nvSpPr>
          <p:cNvPr id="2" name="Footer Placeholder 9">
            <a:extLst>
              <a:ext uri="{FF2B5EF4-FFF2-40B4-BE49-F238E27FC236}">
                <a16:creationId xmlns:a16="http://schemas.microsoft.com/office/drawing/2014/main" id="{AF89EF66-9CBD-5A03-172B-3498A84DA4B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4" name="Picture 3">
            <a:extLst>
              <a:ext uri="{FF2B5EF4-FFF2-40B4-BE49-F238E27FC236}">
                <a16:creationId xmlns:a16="http://schemas.microsoft.com/office/drawing/2014/main" id="{53C62A9A-E580-F27D-D7F7-61F4D2CB338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9" name="Picture 8" descr="National Board of Accreditation - Wikipedia">
            <a:extLst>
              <a:ext uri="{FF2B5EF4-FFF2-40B4-BE49-F238E27FC236}">
                <a16:creationId xmlns:a16="http://schemas.microsoft.com/office/drawing/2014/main" id="{61589643-65CF-F0FC-AB53-9B8E8EDA22D6}"/>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10" name="Picture 9">
            <a:extLst>
              <a:ext uri="{FF2B5EF4-FFF2-40B4-BE49-F238E27FC236}">
                <a16:creationId xmlns:a16="http://schemas.microsoft.com/office/drawing/2014/main" id="{6FD0B494-7A2D-3E64-F12E-F844FC42B16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897"/>
            <a:ext cx="10515600" cy="689791"/>
          </a:xfrm>
        </p:spPr>
        <p:txBody>
          <a:bodyPr>
            <a:normAutofit fontScale="90000"/>
          </a:bodyPr>
          <a:lstStyle/>
          <a:p>
            <a:pPr algn="ctr"/>
            <a:r>
              <a:rPr lang="en-US" b="1" dirty="0"/>
              <a:t>Image References</a:t>
            </a:r>
          </a:p>
        </p:txBody>
      </p:sp>
      <p:sp>
        <p:nvSpPr>
          <p:cNvPr id="3" name="Content Placeholder 2"/>
          <p:cNvSpPr>
            <a:spLocks noGrp="1"/>
          </p:cNvSpPr>
          <p:nvPr>
            <p:ph idx="1"/>
          </p:nvPr>
        </p:nvSpPr>
        <p:spPr/>
        <p:txBody>
          <a:bodyPr/>
          <a:lstStyle/>
          <a:p>
            <a:r>
              <a:rPr lang="en-US" dirty="0"/>
              <a:t>Fig 1 </a:t>
            </a:r>
            <a:r>
              <a:rPr lang="en-US" dirty="0">
                <a:hlinkClick r:id="rId2"/>
              </a:rPr>
              <a:t>https://www.tutorialspoint.com/software_engineering/index.htm</a:t>
            </a:r>
            <a:endParaRPr lang="en-US" dirty="0"/>
          </a:p>
          <a:p>
            <a:r>
              <a:rPr lang="en-US" dirty="0"/>
              <a:t>Fig 2 </a:t>
            </a:r>
          </a:p>
          <a:p>
            <a:r>
              <a:rPr lang="en-US" dirty="0">
                <a:hlinkClick r:id="rId3"/>
              </a:rPr>
              <a:t>https://www.tutorialride.com/software-engineering/software-engineering-tutorial.htm</a:t>
            </a: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
        <p:nvSpPr>
          <p:cNvPr id="5" name="Footer Placeholder 9">
            <a:extLst>
              <a:ext uri="{FF2B5EF4-FFF2-40B4-BE49-F238E27FC236}">
                <a16:creationId xmlns:a16="http://schemas.microsoft.com/office/drawing/2014/main" id="{E3D47DD2-E2EA-BF3A-070A-0945B54BD26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pic>
        <p:nvPicPr>
          <p:cNvPr id="6" name="Picture 5">
            <a:extLst>
              <a:ext uri="{FF2B5EF4-FFF2-40B4-BE49-F238E27FC236}">
                <a16:creationId xmlns:a16="http://schemas.microsoft.com/office/drawing/2014/main" id="{D9F193AC-8FEC-D1FE-2CD2-8AFF125361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2727" y="-32095"/>
            <a:ext cx="1094509" cy="785252"/>
          </a:xfrm>
          <a:prstGeom prst="rect">
            <a:avLst/>
          </a:prstGeom>
        </p:spPr>
      </p:pic>
      <p:pic>
        <p:nvPicPr>
          <p:cNvPr id="7" name="Picture 6" descr="National Board of Accreditation - Wikipedia">
            <a:extLst>
              <a:ext uri="{FF2B5EF4-FFF2-40B4-BE49-F238E27FC236}">
                <a16:creationId xmlns:a16="http://schemas.microsoft.com/office/drawing/2014/main" id="{EC453EC0-438B-5745-4E6D-20D8FA24747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10256" y="16361"/>
            <a:ext cx="1094509" cy="688340"/>
          </a:xfrm>
          <a:prstGeom prst="rect">
            <a:avLst/>
          </a:prstGeom>
          <a:noFill/>
          <a:ln>
            <a:noFill/>
          </a:ln>
        </p:spPr>
      </p:pic>
      <p:pic>
        <p:nvPicPr>
          <p:cNvPr id="8" name="Picture 7">
            <a:extLst>
              <a:ext uri="{FF2B5EF4-FFF2-40B4-BE49-F238E27FC236}">
                <a16:creationId xmlns:a16="http://schemas.microsoft.com/office/drawing/2014/main" id="{48CFB917-0430-E8AE-71B9-D31DFD8ED92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404765" y="58916"/>
            <a:ext cx="1696191" cy="64155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2215</TotalTime>
  <Words>2387</Words>
  <Application>Microsoft Macintosh PowerPoint</Application>
  <PresentationFormat>Widescreen</PresentationFormat>
  <Paragraphs>250</Paragraphs>
  <Slides>32</Slides>
  <Notes>3</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2" baseType="lpstr">
      <vt:lpstr>Arial</vt:lpstr>
      <vt:lpstr>Arial Black</vt:lpstr>
      <vt:lpstr>Calibri</vt:lpstr>
      <vt:lpstr>Calibri Light</vt:lpstr>
      <vt:lpstr>Casper</vt:lpstr>
      <vt:lpstr>Casper Bold</vt:lpstr>
      <vt:lpstr>Times New Roman</vt:lpstr>
      <vt:lpstr>1_Office Theme</vt:lpstr>
      <vt:lpstr>Contents Slide Master</vt:lpstr>
      <vt:lpstr>CorelDRAW</vt:lpstr>
      <vt:lpstr>PowerPoint Presentation</vt:lpstr>
      <vt:lpstr>Introduction to Software Engineering </vt:lpstr>
      <vt:lpstr>Chapter-1 Topics covered</vt:lpstr>
      <vt:lpstr> Software </vt:lpstr>
      <vt:lpstr>Dual Role of Software</vt:lpstr>
      <vt:lpstr>Program vs. Software</vt:lpstr>
      <vt:lpstr>Program vs. Software</vt:lpstr>
      <vt:lpstr>Software Engineering</vt:lpstr>
      <vt:lpstr>Software Engineering</vt:lpstr>
      <vt:lpstr>Objectives of Software Engineering</vt:lpstr>
      <vt:lpstr>Objectives of Software Engineering</vt:lpstr>
      <vt:lpstr>Need of Software Engineering</vt:lpstr>
      <vt:lpstr>Importance of Software Engineering</vt:lpstr>
      <vt:lpstr>Importance of Software Engineering</vt:lpstr>
      <vt:lpstr>Importance of Software Engineering</vt:lpstr>
      <vt:lpstr>Importance of Software Engineering</vt:lpstr>
      <vt:lpstr>Importance of Software Engineering</vt:lpstr>
      <vt:lpstr>Importance of Software Engineering</vt:lpstr>
      <vt:lpstr>Importance of Software Engineering</vt:lpstr>
      <vt:lpstr>Software Development Life Cycle</vt:lpstr>
      <vt:lpstr>Software Development Life Cycle</vt:lpstr>
      <vt:lpstr> Stage 1: Requirement Analysis </vt:lpstr>
      <vt:lpstr> Stage 2: Defining Requirements </vt:lpstr>
      <vt:lpstr> Stage 3: Designing the Product Architecture </vt:lpstr>
      <vt:lpstr> Stage 4: Building or Developing the Product </vt:lpstr>
      <vt:lpstr> Stage 4: Building or Developing the Product </vt:lpstr>
      <vt:lpstr> Stage 5: Testing the Product </vt:lpstr>
      <vt:lpstr>Stage 6: Deployment in the Market and Maintenance</vt:lpstr>
      <vt:lpstr>Stage 6: Deployment in the Market and Maintenance</vt:lpstr>
      <vt:lpstr> References </vt:lpstr>
      <vt:lpstr>Image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242</cp:revision>
  <dcterms:created xsi:type="dcterms:W3CDTF">2019-01-09T10:33:58Z</dcterms:created>
  <dcterms:modified xsi:type="dcterms:W3CDTF">2024-12-10T04:11:47Z</dcterms:modified>
</cp:coreProperties>
</file>