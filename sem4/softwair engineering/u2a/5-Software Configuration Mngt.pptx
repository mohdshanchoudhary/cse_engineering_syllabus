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9"/>
  </p:notesMasterIdLst>
  <p:handoutMasterIdLst>
    <p:handoutMasterId r:id="rId20"/>
  </p:handoutMasterIdLst>
  <p:sldIdLst>
    <p:sldId id="662" r:id="rId3"/>
    <p:sldId id="280" r:id="rId4"/>
    <p:sldId id="294" r:id="rId5"/>
    <p:sldId id="340" r:id="rId6"/>
    <p:sldId id="339" r:id="rId7"/>
    <p:sldId id="338" r:id="rId8"/>
    <p:sldId id="337" r:id="rId9"/>
    <p:sldId id="336" r:id="rId10"/>
    <p:sldId id="335" r:id="rId11"/>
    <p:sldId id="334" r:id="rId12"/>
    <p:sldId id="333" r:id="rId13"/>
    <p:sldId id="332" r:id="rId14"/>
    <p:sldId id="663" r:id="rId15"/>
    <p:sldId id="664" r:id="rId16"/>
    <p:sldId id="326"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63" autoAdjust="0"/>
    <p:restoredTop sz="94660"/>
  </p:normalViewPr>
  <p:slideViewPr>
    <p:cSldViewPr snapToGrid="0">
      <p:cViewPr varScale="1">
        <p:scale>
          <a:sx n="130" d="100"/>
          <a:sy n="130" d="100"/>
        </p:scale>
        <p:origin x="240" y="176"/>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IN"/>
              <a:t>09/12/24</a:t>
            </a:r>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IN"/>
              <a:t>09/12/24</a:t>
            </a:r>
            <a:endParaRPr lang="en-US"/>
          </a:p>
        </p:txBody>
      </p:sp>
      <p:sp>
        <p:nvSpPr>
          <p:cNvPr id="8" name="Footer Placeholder 7"/>
          <p:cNvSpPr>
            <a:spLocks noGrp="1"/>
          </p:cNvSpPr>
          <p:nvPr>
            <p:ph type="ftr" sz="quarter" idx="11"/>
          </p:nvPr>
        </p:nvSpPr>
        <p:spPr/>
        <p:txBody>
          <a:bodyPr/>
          <a:lstStyle/>
          <a:p>
            <a:r>
              <a:rPr lang="en-US"/>
              <a:t>Er. Jagmeet Kaur, Asst. Prof., CSE, Chandigarh University</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IN"/>
              <a:t>09/12/24</a:t>
            </a:r>
            <a:endParaRPr lang="en-US"/>
          </a:p>
        </p:txBody>
      </p:sp>
      <p:sp>
        <p:nvSpPr>
          <p:cNvPr id="4" name="Footer Placeholder 3"/>
          <p:cNvSpPr>
            <a:spLocks noGrp="1"/>
          </p:cNvSpPr>
          <p:nvPr>
            <p:ph type="ftr" sz="quarter" idx="11"/>
          </p:nvPr>
        </p:nvSpPr>
        <p:spPr/>
        <p:txBody>
          <a:bodyPr/>
          <a:lstStyle/>
          <a:p>
            <a:r>
              <a:rPr lang="en-US"/>
              <a:t>Er. Jagmeet Kaur, Asst. Prof., CSE, Chandigarh University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IN"/>
              <a:t>09/12/24</a:t>
            </a:r>
            <a:endParaRPr lang="en-US"/>
          </a:p>
        </p:txBody>
      </p:sp>
      <p:sp>
        <p:nvSpPr>
          <p:cNvPr id="3" name="Footer Placeholder 2"/>
          <p:cNvSpPr>
            <a:spLocks noGrp="1"/>
          </p:cNvSpPr>
          <p:nvPr>
            <p:ph type="ftr" sz="quarter" idx="11"/>
          </p:nvPr>
        </p:nvSpPr>
        <p:spPr/>
        <p:txBody>
          <a:bodyPr/>
          <a:lstStyle/>
          <a:p>
            <a:r>
              <a:rPr lang="en-US"/>
              <a:t>Er. Jagmeet Kaur, Asst. Prof., CSE, Chandigarh University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09/12/24</a:t>
            </a:r>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09/12/24</a:t>
            </a:r>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IN"/>
              <a:t>09/12/24</a:t>
            </a:r>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IN">
                <a:solidFill>
                  <a:prstClr val="black">
                    <a:tint val="75000"/>
                  </a:prstClr>
                </a:solidFill>
              </a:rPr>
              <a:t>09/12/24</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Er. Jagmeet Kaur, Asst. Prof., CSE, Chandigarh University</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09/12/24</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Jagmeet Kaur, Asst. Prof., CSE, Chandigarh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C144048D-B1E8-AE35-1C90-A5F90569FB17}"/>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6C5BAEAF-075C-3A4D-5945-CB8CFEDC9F32}"/>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5288CDFC-F3B9-399D-FB8C-BD5119055083}"/>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software-engineering-system-configuration-management/" TargetMode="External"/><Relationship Id="rId2" Type="http://schemas.openxmlformats.org/officeDocument/2006/relationships/hyperlink" Target="https://www.guru99.com/software-configuration-management-tutorial.html" TargetMode="External"/><Relationship Id="rId1" Type="http://schemas.openxmlformats.org/officeDocument/2006/relationships/slideLayout" Target="../slideLayouts/slideLayout2.xml"/><Relationship Id="rId4" Type="http://schemas.openxmlformats.org/officeDocument/2006/relationships/hyperlink" Target="https://www.javatpoint.com/software-configuration-management"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IN"/>
              <a:t>09/12/24</a:t>
            </a:r>
            <a:endParaRPr lang="en-US" dirty="0"/>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760694" cy="369332"/>
          </a:xfrm>
          <a:prstGeom prst="rect">
            <a:avLst/>
          </a:prstGeom>
          <a:noFill/>
        </p:spPr>
        <p:txBody>
          <a:bodyPr wrap="square">
            <a:spAutoFit/>
          </a:bodyPr>
          <a:lstStyle/>
          <a:p>
            <a:pPr eaLnBrk="1" hangingPunct="1"/>
            <a:r>
              <a:rPr lang="en-US" sz="1800" dirty="0">
                <a:latin typeface="Raleway ExtraBold" pitchFamily="34" charset="-52"/>
              </a:rPr>
              <a:t>Software Project Management</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958851"/>
          </a:xfrm>
        </p:spPr>
        <p:txBody>
          <a:bodyPr>
            <a:noAutofit/>
          </a:bodyPr>
          <a:lstStyle/>
          <a:p>
            <a:pPr algn="ctr"/>
            <a:r>
              <a:rPr lang="en-US" sz="3600" dirty="0">
                <a:latin typeface="Times New Roman" panose="02020603050405020304" pitchFamily="18" charset="0"/>
                <a:cs typeface="Times New Roman" pitchFamily="18" charset="0"/>
              </a:rPr>
              <a:t>Chapter-4</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Software Project Management</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3600" dirty="0">
                <a:latin typeface="Times New Roman" pitchFamily="18" charset="0"/>
                <a:cs typeface="Times New Roman" pitchFamily="18" charset="0"/>
              </a:rPr>
              <a:t>Software configuration management</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681037"/>
            <a:ext cx="10515600" cy="97345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Date Placeholder 3">
            <a:extLst>
              <a:ext uri="{FF2B5EF4-FFF2-40B4-BE49-F238E27FC236}">
                <a16:creationId xmlns:a16="http://schemas.microsoft.com/office/drawing/2014/main" id="{2A0674CA-A765-F1A0-60AC-944B529B2D91}"/>
              </a:ext>
            </a:extLst>
          </p:cNvPr>
          <p:cNvSpPr>
            <a:spLocks noGrp="1"/>
          </p:cNvSpPr>
          <p:nvPr>
            <p:ph type="dt" sz="half" idx="10"/>
          </p:nvPr>
        </p:nvSpPr>
        <p:spPr/>
        <p:txBody>
          <a:bodyPr/>
          <a:lstStyle/>
          <a:p>
            <a:r>
              <a:rPr lang="en-IN"/>
              <a:t>09/12/24</a:t>
            </a:r>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5158"/>
            <a:ext cx="10515600" cy="714730"/>
          </a:xfrm>
        </p:spPr>
        <p:txBody>
          <a:bodyPr>
            <a:noAutofit/>
          </a:bodyPr>
          <a:lstStyle/>
          <a:p>
            <a:pPr algn="ctr"/>
            <a:br>
              <a:rPr lang="en-US" dirty="0"/>
            </a:br>
            <a:r>
              <a:rPr lang="en-US" dirty="0">
                <a:latin typeface="Times New Roman" panose="02020603050405020304" pitchFamily="18" charset="0"/>
                <a:cs typeface="Times New Roman" panose="02020603050405020304" pitchFamily="18" charset="0"/>
              </a:rPr>
              <a:t>Software Configuration Management</a:t>
            </a:r>
            <a:br>
              <a:rPr lang="en-US" dirty="0"/>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latin typeface="Times New Roman" panose="02020603050405020304" pitchFamily="18" charset="0"/>
                <a:cs typeface="Times New Roman" panose="02020603050405020304" pitchFamily="18" charset="0"/>
              </a:rPr>
              <a:t>When we develop software, the product (software) undergoes many changes in their maintenance phase; we need to handle these changes effectively.</a:t>
            </a:r>
          </a:p>
          <a:p>
            <a:pPr algn="just"/>
            <a:r>
              <a:rPr lang="en-US" dirty="0">
                <a:latin typeface="Times New Roman" panose="02020603050405020304" pitchFamily="18" charset="0"/>
                <a:cs typeface="Times New Roman" panose="02020603050405020304" pitchFamily="18" charset="0"/>
              </a:rPr>
              <a:t>Several individuals (programs) works together to achieve these common goals. This individual produces several work product (SC Items) e.g., Intermediate version of modules or test data used during debugging, parts of the final product.</a:t>
            </a:r>
          </a:p>
          <a:p>
            <a:pPr algn="just"/>
            <a:r>
              <a:rPr lang="en-US" dirty="0">
                <a:latin typeface="Times New Roman" panose="02020603050405020304" pitchFamily="18" charset="0"/>
                <a:cs typeface="Times New Roman" panose="02020603050405020304" pitchFamily="18" charset="0"/>
              </a:rPr>
              <a:t>The elements that comprise all information produced as a part of the software process are collectively called a software configuration.</a:t>
            </a:r>
          </a:p>
          <a:p>
            <a:pPr algn="just">
              <a:buNone/>
            </a:pP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
        <p:nvSpPr>
          <p:cNvPr id="5" name="Date Placeholder 4">
            <a:extLst>
              <a:ext uri="{FF2B5EF4-FFF2-40B4-BE49-F238E27FC236}">
                <a16:creationId xmlns:a16="http://schemas.microsoft.com/office/drawing/2014/main" id="{3DA0CE75-687A-1EF4-CDFA-EF84ADBF6A3B}"/>
              </a:ext>
            </a:extLst>
          </p:cNvPr>
          <p:cNvSpPr>
            <a:spLocks noGrp="1"/>
          </p:cNvSpPr>
          <p:nvPr>
            <p:ph type="dt" sz="half" idx="10"/>
          </p:nvPr>
        </p:nvSpPr>
        <p:spPr/>
        <p:txBody>
          <a:bodyPr/>
          <a:lstStyle/>
          <a:p>
            <a:r>
              <a:rPr lang="en-IN"/>
              <a:t>09/12/24</a:t>
            </a:r>
            <a:endParaRPr lang="en-US"/>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Software Configuration Management</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Software Engineering, </a:t>
            </a:r>
            <a:r>
              <a:rPr lang="en-US" b="1" dirty="0">
                <a:latin typeface="Times New Roman" panose="02020603050405020304" pitchFamily="18" charset="0"/>
                <a:cs typeface="Times New Roman" panose="02020603050405020304" pitchFamily="18" charset="0"/>
              </a:rPr>
              <a:t>Software Configuration Management(SCM)</a:t>
            </a:r>
            <a:r>
              <a:rPr lang="en-US" dirty="0">
                <a:latin typeface="Times New Roman" panose="02020603050405020304" pitchFamily="18" charset="0"/>
                <a:cs typeface="Times New Roman" panose="02020603050405020304" pitchFamily="18" charset="0"/>
              </a:rPr>
              <a:t> is a process to systematically manage, organize, and control the changes in the documents, codes, and other entities during the Software Development Life Cycle. </a:t>
            </a:r>
          </a:p>
          <a:p>
            <a:pPr algn="just"/>
            <a:r>
              <a:rPr lang="en-US" dirty="0">
                <a:latin typeface="Times New Roman" panose="02020603050405020304" pitchFamily="18" charset="0"/>
                <a:cs typeface="Times New Roman" panose="02020603050405020304" pitchFamily="18" charset="0"/>
              </a:rPr>
              <a:t>The primary goal is to increase productivity with minimal mistakes. SCM is part of cross-disciplinary field of configuration management and it can accurately determine who made which revision.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6" name="Date Placeholder 5">
            <a:extLst>
              <a:ext uri="{FF2B5EF4-FFF2-40B4-BE49-F238E27FC236}">
                <a16:creationId xmlns:a16="http://schemas.microsoft.com/office/drawing/2014/main" id="{2B5E3BB8-9933-564C-FDC5-70B8A626C523}"/>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Software Configuration Management</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As software development progresses, the number of Software Configuration elements grow rapidly.</a:t>
            </a:r>
          </a:p>
          <a:p>
            <a:pPr algn="just"/>
            <a:r>
              <a:rPr lang="en-US" dirty="0">
                <a:latin typeface="Times New Roman" panose="02020603050405020304" pitchFamily="18" charset="0"/>
                <a:cs typeface="Times New Roman" panose="02020603050405020304" pitchFamily="18" charset="0"/>
              </a:rPr>
              <a:t>These are handled and controlled by SCM. This is where we require software configuration management.</a:t>
            </a:r>
          </a:p>
          <a:p>
            <a:pPr marL="0" indent="0" algn="just">
              <a:buNone/>
            </a:pPr>
            <a:r>
              <a:rPr lang="en-US" dirty="0">
                <a:latin typeface="Times New Roman" panose="02020603050405020304" pitchFamily="18" charset="0"/>
                <a:cs typeface="Times New Roman" panose="02020603050405020304" pitchFamily="18" charset="0"/>
              </a:rPr>
              <a:t>Therefore, SCM is the discipline which</a:t>
            </a:r>
          </a:p>
          <a:p>
            <a:pPr algn="just"/>
            <a:r>
              <a:rPr lang="en-US" dirty="0">
                <a:latin typeface="Times New Roman" panose="02020603050405020304" pitchFamily="18" charset="0"/>
                <a:cs typeface="Times New Roman" panose="02020603050405020304" pitchFamily="18" charset="0"/>
              </a:rPr>
              <a:t>Identify change</a:t>
            </a:r>
          </a:p>
          <a:p>
            <a:pPr algn="just"/>
            <a:r>
              <a:rPr lang="en-US" dirty="0">
                <a:latin typeface="Times New Roman" panose="02020603050405020304" pitchFamily="18" charset="0"/>
                <a:cs typeface="Times New Roman" panose="02020603050405020304" pitchFamily="18" charset="0"/>
              </a:rPr>
              <a:t>Monitor and control change</a:t>
            </a:r>
          </a:p>
          <a:p>
            <a:pPr algn="just"/>
            <a:r>
              <a:rPr lang="en-US" dirty="0">
                <a:latin typeface="Times New Roman" panose="02020603050405020304" pitchFamily="18" charset="0"/>
                <a:cs typeface="Times New Roman" panose="02020603050405020304" pitchFamily="18" charset="0"/>
              </a:rPr>
              <a:t>Ensure the proper implementation of change made to the item.</a:t>
            </a:r>
          </a:p>
          <a:p>
            <a:pPr algn="just"/>
            <a:r>
              <a:rPr lang="en-US" dirty="0">
                <a:latin typeface="Times New Roman" panose="02020603050405020304" pitchFamily="18" charset="0"/>
                <a:cs typeface="Times New Roman" panose="02020603050405020304" pitchFamily="18" charset="0"/>
              </a:rPr>
              <a:t>Auditing and reporting on the change made.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6" name="Date Placeholder 5">
            <a:extLst>
              <a:ext uri="{FF2B5EF4-FFF2-40B4-BE49-F238E27FC236}">
                <a16:creationId xmlns:a16="http://schemas.microsoft.com/office/drawing/2014/main" id="{0674172C-8263-3D71-828F-46552FE1A1F1}"/>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Software Configuration Management</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Configuration Management (CM) is a technique of identifying, organizing, and controlling modification to software being built by a programming team.</a:t>
            </a:r>
          </a:p>
          <a:p>
            <a:pPr algn="just"/>
            <a:r>
              <a:rPr lang="en-US" b="1" dirty="0">
                <a:latin typeface="Times New Roman" panose="02020603050405020304" pitchFamily="18" charset="0"/>
                <a:cs typeface="Times New Roman" panose="02020603050405020304" pitchFamily="18" charset="0"/>
              </a:rPr>
              <a:t>The objective is to maximize productivity by minimizing mistakes (errors).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CM is used to essential due to the inventory management, library management, and </a:t>
            </a:r>
            <a:r>
              <a:rPr lang="en-US" dirty="0" err="1">
                <a:latin typeface="Times New Roman" panose="02020603050405020304" pitchFamily="18" charset="0"/>
                <a:cs typeface="Times New Roman" panose="02020603050405020304" pitchFamily="18" charset="0"/>
              </a:rPr>
              <a:t>updation</a:t>
            </a:r>
            <a:r>
              <a:rPr lang="en-US" dirty="0">
                <a:latin typeface="Times New Roman" panose="02020603050405020304" pitchFamily="18" charset="0"/>
                <a:cs typeface="Times New Roman" panose="02020603050405020304" pitchFamily="18" charset="0"/>
              </a:rPr>
              <a:t> management of the items essential for the project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6" name="Date Placeholder 5">
            <a:extLst>
              <a:ext uri="{FF2B5EF4-FFF2-40B4-BE49-F238E27FC236}">
                <a16:creationId xmlns:a16="http://schemas.microsoft.com/office/drawing/2014/main" id="{A016A4E0-3A23-8280-30BA-D76BA1E3FFD7}"/>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Why do we need Configuration Management</a:t>
            </a:r>
            <a:r>
              <a:rPr lang="en-US" dirty="0"/>
              <a:t>?</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Multiple people are working on software which is consistently updating. </a:t>
            </a:r>
          </a:p>
          <a:p>
            <a:pPr algn="just"/>
            <a:r>
              <a:rPr lang="en-US" dirty="0">
                <a:latin typeface="Times New Roman" panose="02020603050405020304" pitchFamily="18" charset="0"/>
                <a:cs typeface="Times New Roman" panose="02020603050405020304" pitchFamily="18" charset="0"/>
              </a:rPr>
              <a:t>It may be a method where multiple version, branches, authors are involved in a software project, and the team is geographically distributed and works concurrently. </a:t>
            </a:r>
          </a:p>
          <a:p>
            <a:pPr algn="just"/>
            <a:r>
              <a:rPr lang="en-US" dirty="0">
                <a:latin typeface="Times New Roman" panose="02020603050405020304" pitchFamily="18" charset="0"/>
                <a:cs typeface="Times New Roman" panose="02020603050405020304" pitchFamily="18" charset="0"/>
              </a:rPr>
              <a:t>It changes in user requirements, and policy, budget, schedules need to be accommodated.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6" name="Date Placeholder 5">
            <a:extLst>
              <a:ext uri="{FF2B5EF4-FFF2-40B4-BE49-F238E27FC236}">
                <a16:creationId xmlns:a16="http://schemas.microsoft.com/office/drawing/2014/main" id="{89DE25D0-53C4-75FC-817D-F4DB23C6A445}"/>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Importance of SCM</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It is practical in controlling and managing the access to various SCIs e.g., by preventing the two members of a team for checking out the same component for modification at the same time.</a:t>
            </a:r>
          </a:p>
          <a:p>
            <a:pPr algn="just"/>
            <a:r>
              <a:rPr lang="en-US" b="1" dirty="0">
                <a:latin typeface="Times New Roman" panose="02020603050405020304" pitchFamily="18" charset="0"/>
                <a:cs typeface="Times New Roman" panose="02020603050405020304" pitchFamily="18" charset="0"/>
              </a:rPr>
              <a:t>It provides the tool to ensure that changes are being properly implemented.</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has the capability of describing and storing the various constituent of software.</a:t>
            </a:r>
          </a:p>
          <a:p>
            <a:pPr algn="just"/>
            <a:r>
              <a:rPr lang="en-US" dirty="0">
                <a:latin typeface="Times New Roman" panose="02020603050405020304" pitchFamily="18" charset="0"/>
                <a:cs typeface="Times New Roman" panose="02020603050405020304" pitchFamily="18" charset="0"/>
              </a:rPr>
              <a:t>SCM is used in keeping a system in a consistent state by automatically producing derived version upon modification of the same component.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6" name="Date Placeholder 5">
            <a:extLst>
              <a:ext uri="{FF2B5EF4-FFF2-40B4-BE49-F238E27FC236}">
                <a16:creationId xmlns:a16="http://schemas.microsoft.com/office/drawing/2014/main" id="{D012ED3F-9BF1-DE28-4BCC-FCB7F8446E29}"/>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1009651"/>
          </a:xfrm>
        </p:spPr>
        <p:txBody>
          <a:bodyPr/>
          <a:lstStyle/>
          <a:p>
            <a:pPr algn="ctr"/>
            <a:r>
              <a:rPr lang="en-US" b="1" dirty="0">
                <a:latin typeface="Times New Roman" panose="02020603050405020304" pitchFamily="18" charset="0"/>
                <a:cs typeface="Times New Roman" panose="02020603050405020304" pitchFamily="18" charset="0"/>
              </a:rPr>
              <a:t>Processes involved in SCM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pPr marL="0" indent="0" algn="just">
              <a:buNone/>
            </a:pPr>
            <a:r>
              <a:rPr lang="en-IN" b="0" i="0" u="none" strike="noStrike" dirty="0">
                <a:solidFill>
                  <a:srgbClr val="000000"/>
                </a:solidFill>
                <a:effectLst/>
                <a:latin typeface="-webkit-standard"/>
              </a:rPr>
              <a:t>Configuration Management (CM) ensures that software components and changes are managed systematically. It helps maintain integrity, control, and consistency throughout the software development lifecycle (SDLC). The CM process consists of five main steps:</a:t>
            </a:r>
          </a:p>
          <a:p>
            <a:pPr marL="0" indent="0" algn="just">
              <a:buNone/>
            </a:pPr>
            <a:endParaRPr lang="en-IN" b="0" i="0" u="none" strike="noStrike" dirty="0">
              <a:solidFill>
                <a:srgbClr val="000000"/>
              </a:solidFill>
              <a:effectLst/>
              <a:latin typeface="-webkit-standard"/>
            </a:endParaRPr>
          </a:p>
          <a:p>
            <a:pPr marL="514350" indent="-514350" algn="just">
              <a:buAutoNum type="arabicPeriod"/>
            </a:pPr>
            <a:r>
              <a:rPr lang="en-IN" b="1" i="0" u="none" strike="noStrike" dirty="0">
                <a:solidFill>
                  <a:srgbClr val="000000"/>
                </a:solidFill>
                <a:effectLst/>
              </a:rPr>
              <a:t>Configuration Planning &amp; Management</a:t>
            </a:r>
            <a:r>
              <a:rPr lang="en-IN" b="0" i="0" u="none" strike="noStrike" dirty="0">
                <a:solidFill>
                  <a:srgbClr val="000000"/>
                </a:solidFill>
                <a:effectLst/>
                <a:latin typeface="-webkit-standard"/>
              </a:rPr>
              <a:t> → Lays the foundation by defining policies, roles, and tools.</a:t>
            </a:r>
            <a:endParaRPr lang="en-IN" b="1" i="0" u="none" strike="noStrike" dirty="0">
              <a:solidFill>
                <a:srgbClr val="000000"/>
              </a:solidFill>
              <a:effectLst/>
            </a:endParaRPr>
          </a:p>
          <a:p>
            <a:pPr marL="514350" indent="-514350" algn="just">
              <a:buAutoNum type="arabicPeriod"/>
            </a:pPr>
            <a:r>
              <a:rPr lang="en-IN" b="1" i="0" u="none" strike="noStrike" dirty="0">
                <a:solidFill>
                  <a:srgbClr val="000000"/>
                </a:solidFill>
                <a:effectLst/>
              </a:rPr>
              <a:t>Configuration Identification</a:t>
            </a:r>
            <a:r>
              <a:rPr lang="en-IN" b="0" i="0" u="none" strike="noStrike" dirty="0">
                <a:solidFill>
                  <a:srgbClr val="000000"/>
                </a:solidFill>
                <a:effectLst/>
                <a:latin typeface="-webkit-standard"/>
              </a:rPr>
              <a:t> → Defines configuration items (CIs) and establishes baselines.</a:t>
            </a:r>
          </a:p>
          <a:p>
            <a:pPr marL="514350" indent="-514350" algn="just">
              <a:buAutoNum type="arabicPeriod"/>
            </a:pPr>
            <a:r>
              <a:rPr lang="en-IN" b="1" dirty="0"/>
              <a:t>Configuration Control</a:t>
            </a:r>
            <a:r>
              <a:rPr lang="en-IN" dirty="0"/>
              <a:t> → Manages changes, approvals, and version control.</a:t>
            </a:r>
          </a:p>
          <a:p>
            <a:pPr marL="514350" indent="-514350" algn="just">
              <a:buAutoNum type="arabicPeriod"/>
            </a:pPr>
            <a:r>
              <a:rPr lang="en-IN" b="1" dirty="0"/>
              <a:t>Configuration Status Accounting</a:t>
            </a:r>
            <a:r>
              <a:rPr lang="en-IN" dirty="0"/>
              <a:t> → Tracks and reports changes, maintaining historical records.</a:t>
            </a:r>
          </a:p>
          <a:p>
            <a:pPr marL="514350" indent="-514350" algn="just">
              <a:buAutoNum type="arabicPeriod"/>
            </a:pPr>
            <a:r>
              <a:rPr lang="en-IN" b="1" dirty="0"/>
              <a:t>Configuration Auditing</a:t>
            </a:r>
            <a:r>
              <a:rPr lang="en-IN" dirty="0"/>
              <a:t> → Ensures the software matches planned configurations and meets compliance standards.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6" name="Date Placeholder 5">
            <a:extLst>
              <a:ext uri="{FF2B5EF4-FFF2-40B4-BE49-F238E27FC236}">
                <a16:creationId xmlns:a16="http://schemas.microsoft.com/office/drawing/2014/main" id="{8ED2498C-8048-614F-B241-2312E5BBD7F0}"/>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lstStyle/>
          <a:p>
            <a:pPr algn="ctr"/>
            <a:r>
              <a:rPr lang="en-US" b="1" dirty="0">
                <a:latin typeface="Times New Roman" panose="02020603050405020304" pitchFamily="18" charset="0"/>
                <a:cs typeface="Times New Roman" panose="02020603050405020304" pitchFamily="18" charset="0"/>
              </a:rPr>
              <a:t>1. </a:t>
            </a:r>
            <a:r>
              <a:rPr lang="en-IN" b="0" i="0" u="none" strike="noStrike" dirty="0">
                <a:solidFill>
                  <a:srgbClr val="000000"/>
                </a:solidFill>
                <a:effectLst/>
                <a:latin typeface="-webkit-standard"/>
              </a:rPr>
              <a:t>Configuration Planning and Management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pPr marL="0" indent="0" algn="l">
              <a:buNone/>
            </a:pPr>
            <a:r>
              <a:rPr lang="en-IN" b="0" i="0" u="none" strike="noStrike" dirty="0">
                <a:solidFill>
                  <a:srgbClr val="000000"/>
                </a:solidFill>
                <a:effectLst/>
              </a:rPr>
              <a:t>This is the strategic aspect of CM, ensuring that processes, tools, and policies are properly defined and followed.</a:t>
            </a:r>
          </a:p>
          <a:p>
            <a:pPr marL="0" indent="0" algn="l">
              <a:buNone/>
            </a:pPr>
            <a:r>
              <a:rPr lang="en-IN" b="1" i="0" u="none" strike="noStrike" dirty="0">
                <a:solidFill>
                  <a:srgbClr val="000000"/>
                </a:solidFill>
                <a:effectLst/>
              </a:rPr>
              <a:t>Key Activities:</a:t>
            </a:r>
          </a:p>
          <a:p>
            <a:pPr algn="l">
              <a:buFont typeface="Arial" panose="020B0604020202020204" pitchFamily="34" charset="0"/>
              <a:buChar char="•"/>
            </a:pPr>
            <a:r>
              <a:rPr lang="en-IN" b="1" i="0" u="none" strike="noStrike" dirty="0">
                <a:solidFill>
                  <a:srgbClr val="000000"/>
                </a:solidFill>
                <a:effectLst/>
              </a:rPr>
              <a:t>Defining the CM Plan:</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Establish roles, responsibilities, and policies for managing configurations.</a:t>
            </a:r>
          </a:p>
          <a:p>
            <a:pPr marL="742950" lvl="1" indent="-285750" algn="l">
              <a:buFont typeface="Arial" panose="020B0604020202020204" pitchFamily="34" charset="0"/>
              <a:buChar char="•"/>
            </a:pPr>
            <a:r>
              <a:rPr lang="en-IN" b="0" i="0" u="none" strike="noStrike" dirty="0">
                <a:solidFill>
                  <a:srgbClr val="000000"/>
                </a:solidFill>
                <a:effectLst/>
              </a:rPr>
              <a:t>Define tools and techniques for version control, documentation, and auditing.</a:t>
            </a:r>
          </a:p>
          <a:p>
            <a:pPr algn="l">
              <a:buFont typeface="Arial" panose="020B0604020202020204" pitchFamily="34" charset="0"/>
              <a:buChar char="•"/>
            </a:pPr>
            <a:r>
              <a:rPr lang="en-IN" b="1" i="0" u="none" strike="noStrike" dirty="0">
                <a:solidFill>
                  <a:srgbClr val="000000"/>
                </a:solidFill>
                <a:effectLst/>
              </a:rPr>
              <a:t>Resource Allocation:</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Assign teams and tools to support configuration activities.</a:t>
            </a:r>
          </a:p>
          <a:p>
            <a:pPr algn="l">
              <a:buFont typeface="Arial" panose="020B0604020202020204" pitchFamily="34" charset="0"/>
              <a:buChar char="•"/>
            </a:pPr>
            <a:r>
              <a:rPr lang="en-IN" b="1" i="0" u="none" strike="noStrike" dirty="0">
                <a:solidFill>
                  <a:srgbClr val="000000"/>
                </a:solidFill>
                <a:effectLst/>
              </a:rPr>
              <a:t>Integration with Software Development Lifecycle (SDLC):</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Ensure that CM is applied throughout all phases, from requirements gathering to deployment.</a:t>
            </a:r>
          </a:p>
          <a:p>
            <a:pPr marL="0" indent="0" algn="l">
              <a:buNone/>
            </a:pPr>
            <a:r>
              <a:rPr lang="en-IN" b="1" i="0" u="none" strike="noStrike" dirty="0">
                <a:solidFill>
                  <a:srgbClr val="000000"/>
                </a:solidFill>
                <a:effectLst/>
              </a:rPr>
              <a:t>Example:</a:t>
            </a:r>
          </a:p>
          <a:p>
            <a:pPr algn="l"/>
            <a:r>
              <a:rPr lang="en-IN" b="0" i="0" u="none" strike="noStrike" dirty="0">
                <a:solidFill>
                  <a:srgbClr val="000000"/>
                </a:solidFill>
                <a:effectLst/>
              </a:rPr>
              <a:t>A company establishes a configuration management policy requiring all code changes to be tracked in Git and reviewed before merging into the main branch.</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6" name="Date Placeholder 5">
            <a:extLst>
              <a:ext uri="{FF2B5EF4-FFF2-40B4-BE49-F238E27FC236}">
                <a16:creationId xmlns:a16="http://schemas.microsoft.com/office/drawing/2014/main" id="{024EDE7D-53CB-8B2B-840C-DA2490702EF4}"/>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lstStyle/>
          <a:p>
            <a:pPr algn="ctr"/>
            <a:r>
              <a:rPr lang="en-US" dirty="0">
                <a:latin typeface="Times New Roman" panose="02020603050405020304" pitchFamily="18" charset="0"/>
                <a:cs typeface="Times New Roman" panose="02020603050405020304" pitchFamily="18" charset="0"/>
              </a:rPr>
              <a:t>2. </a:t>
            </a:r>
            <a:r>
              <a:rPr lang="en-IN" b="0" i="0" u="none" strike="noStrike" dirty="0">
                <a:solidFill>
                  <a:srgbClr val="000000"/>
                </a:solidFill>
                <a:effectLst/>
                <a:latin typeface="-webkit-standard"/>
              </a:rPr>
              <a:t>Configuration Identification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pPr marL="0" indent="0" algn="l">
              <a:buNone/>
            </a:pPr>
            <a:r>
              <a:rPr lang="en-IN" b="0" i="0" u="none" strike="noStrike" dirty="0">
                <a:solidFill>
                  <a:srgbClr val="000000"/>
                </a:solidFill>
                <a:effectLst/>
              </a:rPr>
              <a:t>This is the foundation of CM, where all software items are identified, documented, and categorized.</a:t>
            </a:r>
          </a:p>
          <a:p>
            <a:pPr marL="0" indent="0" algn="l">
              <a:buNone/>
            </a:pPr>
            <a:r>
              <a:rPr lang="en-IN" b="1" i="0" u="none" strike="noStrike" dirty="0">
                <a:solidFill>
                  <a:srgbClr val="000000"/>
                </a:solidFill>
                <a:effectLst/>
              </a:rPr>
              <a:t>Key Activities:</a:t>
            </a:r>
          </a:p>
          <a:p>
            <a:pPr algn="l">
              <a:buFont typeface="Arial" panose="020B0604020202020204" pitchFamily="34" charset="0"/>
              <a:buChar char="•"/>
            </a:pPr>
            <a:r>
              <a:rPr lang="en-IN" b="1" i="0" u="none" strike="noStrike" dirty="0">
                <a:solidFill>
                  <a:srgbClr val="000000"/>
                </a:solidFill>
                <a:effectLst/>
              </a:rPr>
              <a:t>Identifying Configuration Items (CIs):</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CIs include source code files, design documents, test cases, libraries, user manuals, etc.</a:t>
            </a:r>
          </a:p>
          <a:p>
            <a:pPr marL="742950" lvl="1" indent="-285750" algn="l">
              <a:buFont typeface="Arial" panose="020B0604020202020204" pitchFamily="34" charset="0"/>
              <a:buChar char="•"/>
            </a:pPr>
            <a:r>
              <a:rPr lang="en-IN" b="0" i="0" u="none" strike="noStrike" dirty="0">
                <a:solidFill>
                  <a:srgbClr val="000000"/>
                </a:solidFill>
                <a:effectLst/>
              </a:rPr>
              <a:t>Every item must be uniquely identified for tracking.</a:t>
            </a:r>
          </a:p>
          <a:p>
            <a:pPr algn="l">
              <a:buFont typeface="Arial" panose="020B0604020202020204" pitchFamily="34" charset="0"/>
              <a:buChar char="•"/>
            </a:pPr>
            <a:r>
              <a:rPr lang="en-IN" b="1" i="0" u="none" strike="noStrike" dirty="0">
                <a:solidFill>
                  <a:srgbClr val="000000"/>
                </a:solidFill>
                <a:effectLst/>
              </a:rPr>
              <a:t>Defining Baselines:</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A baseline is a stable version of a system or software component that serves as a reference point.</a:t>
            </a:r>
          </a:p>
          <a:p>
            <a:pPr marL="742950" lvl="1" indent="-285750" algn="l">
              <a:buFont typeface="Arial" panose="020B0604020202020204" pitchFamily="34" charset="0"/>
              <a:buChar char="•"/>
            </a:pPr>
            <a:r>
              <a:rPr lang="en-IN" b="0" i="0" u="none" strike="noStrike" dirty="0">
                <a:solidFill>
                  <a:srgbClr val="000000"/>
                </a:solidFill>
                <a:effectLst/>
              </a:rPr>
              <a:t>Baselines help in comparing changes over time.</a:t>
            </a:r>
          </a:p>
          <a:p>
            <a:pPr algn="l">
              <a:buFont typeface="Arial" panose="020B0604020202020204" pitchFamily="34" charset="0"/>
              <a:buChar char="•"/>
            </a:pPr>
            <a:r>
              <a:rPr lang="en-IN" b="1" i="0" u="none" strike="noStrike" dirty="0">
                <a:solidFill>
                  <a:srgbClr val="000000"/>
                </a:solidFill>
                <a:effectLst/>
              </a:rPr>
              <a:t>Version Control and </a:t>
            </a:r>
            <a:r>
              <a:rPr lang="en-IN" b="1" i="0" u="none" strike="noStrike" dirty="0" err="1">
                <a:solidFill>
                  <a:srgbClr val="000000"/>
                </a:solidFill>
                <a:effectLst/>
              </a:rPr>
              <a:t>Labeling</a:t>
            </a:r>
            <a:r>
              <a:rPr lang="en-IN" b="1" i="0" u="none" strike="noStrike" dirty="0">
                <a:solidFill>
                  <a:srgbClr val="000000"/>
                </a:solidFill>
                <a:effectLst/>
              </a:rPr>
              <a:t>:</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Assign version numbers (e.g., v1.0, v1.1) or labels to different configurations.</a:t>
            </a:r>
          </a:p>
          <a:p>
            <a:pPr marL="742950" lvl="1" indent="-285750" algn="l">
              <a:buFont typeface="Arial" panose="020B0604020202020204" pitchFamily="34" charset="0"/>
              <a:buChar char="•"/>
            </a:pPr>
            <a:r>
              <a:rPr lang="en-IN" b="0" i="0" u="none" strike="noStrike" dirty="0">
                <a:solidFill>
                  <a:srgbClr val="000000"/>
                </a:solidFill>
                <a:effectLst/>
              </a:rPr>
              <a:t>Tools like Git, SVN, and Mercurial are used to track versions.</a:t>
            </a:r>
          </a:p>
          <a:p>
            <a:pPr algn="l"/>
            <a:r>
              <a:rPr lang="en-IN" b="1" i="0" u="none" strike="noStrike" dirty="0">
                <a:solidFill>
                  <a:srgbClr val="000000"/>
                </a:solidFill>
                <a:effectLst/>
              </a:rPr>
              <a:t>Example:</a:t>
            </a:r>
          </a:p>
          <a:p>
            <a:pPr algn="l"/>
            <a:r>
              <a:rPr lang="en-IN" b="0" i="0" u="none" strike="noStrike" dirty="0">
                <a:solidFill>
                  <a:srgbClr val="000000"/>
                </a:solidFill>
                <a:effectLst/>
              </a:rPr>
              <a:t>In a software project, version "1.0" of an application is released as a baseline. Any future updates, such as "1.1" or "2.0," are managed as new configurations with recorded changes.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6" name="Date Placeholder 5">
            <a:extLst>
              <a:ext uri="{FF2B5EF4-FFF2-40B4-BE49-F238E27FC236}">
                <a16:creationId xmlns:a16="http://schemas.microsoft.com/office/drawing/2014/main" id="{BFFA7CE6-68D3-3AF9-33B1-F3BB84BEB904}"/>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4551"/>
            <a:ext cx="10515600" cy="916137"/>
          </a:xfrm>
        </p:spPr>
        <p:txBody>
          <a:bodyPr/>
          <a:lstStyle/>
          <a:p>
            <a:pPr algn="ctr"/>
            <a:r>
              <a:rPr lang="en-IN" dirty="0">
                <a:solidFill>
                  <a:srgbClr val="000000"/>
                </a:solidFill>
                <a:latin typeface="-webkit-standard"/>
              </a:rPr>
              <a:t>3</a:t>
            </a:r>
            <a:r>
              <a:rPr lang="en-IN" b="0" i="0" u="none" strike="noStrike" dirty="0">
                <a:solidFill>
                  <a:srgbClr val="000000"/>
                </a:solidFill>
                <a:effectLst/>
                <a:latin typeface="-webkit-standard"/>
              </a:rPr>
              <a:t>. Configuration Control</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62500" lnSpcReduction="20000"/>
          </a:bodyPr>
          <a:lstStyle/>
          <a:p>
            <a:pPr algn="just">
              <a:buNone/>
            </a:pPr>
            <a:r>
              <a:rPr lang="en-IN" b="0" i="0" u="none" strike="noStrike" dirty="0">
                <a:solidFill>
                  <a:srgbClr val="000000"/>
                </a:solidFill>
                <a:effectLst/>
                <a:latin typeface="-webkit-standard"/>
              </a:rPr>
              <a:t>Configuration Control ensures that all changes to configuration items are reviewed, approved, and implemented in a controlled manner.</a:t>
            </a:r>
          </a:p>
          <a:p>
            <a:pPr marL="0" indent="0" algn="l">
              <a:buNone/>
            </a:pPr>
            <a:r>
              <a:rPr lang="en-IN" b="1" i="0" u="none" strike="noStrike" dirty="0">
                <a:solidFill>
                  <a:srgbClr val="000000"/>
                </a:solidFill>
                <a:effectLst/>
              </a:rPr>
              <a:t>Key Activities:</a:t>
            </a:r>
          </a:p>
          <a:p>
            <a:pPr algn="l">
              <a:buFont typeface="Arial" panose="020B0604020202020204" pitchFamily="34" charset="0"/>
              <a:buChar char="•"/>
            </a:pPr>
            <a:r>
              <a:rPr lang="en-IN" b="1" i="0" u="none" strike="noStrike" dirty="0">
                <a:solidFill>
                  <a:srgbClr val="000000"/>
                </a:solidFill>
                <a:effectLst/>
              </a:rPr>
              <a:t>Change Request and Review:</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Any changes to the software (bug fixes, feature updates, enhancements) must go through a formal change request process.</a:t>
            </a:r>
          </a:p>
          <a:p>
            <a:pPr marL="742950" lvl="1" indent="-285750" algn="l">
              <a:buFont typeface="Arial" panose="020B0604020202020204" pitchFamily="34" charset="0"/>
              <a:buChar char="•"/>
            </a:pPr>
            <a:r>
              <a:rPr lang="en-IN" b="0" i="0" u="none" strike="noStrike" dirty="0">
                <a:solidFill>
                  <a:srgbClr val="000000"/>
                </a:solidFill>
                <a:effectLst/>
              </a:rPr>
              <a:t>A </a:t>
            </a:r>
            <a:r>
              <a:rPr lang="en-IN" b="1" i="0" u="none" strike="noStrike" dirty="0">
                <a:solidFill>
                  <a:srgbClr val="000000"/>
                </a:solidFill>
                <a:effectLst/>
              </a:rPr>
              <a:t>Change Control Board (CCB)</a:t>
            </a:r>
            <a:r>
              <a:rPr lang="en-IN" b="0" i="0" u="none" strike="noStrike" dirty="0">
                <a:solidFill>
                  <a:srgbClr val="000000"/>
                </a:solidFill>
                <a:effectLst/>
              </a:rPr>
              <a:t> evaluates each request based on its impact, feasibility, and risk.</a:t>
            </a:r>
          </a:p>
          <a:p>
            <a:pPr algn="l">
              <a:buFont typeface="Arial" panose="020B0604020202020204" pitchFamily="34" charset="0"/>
              <a:buChar char="•"/>
            </a:pPr>
            <a:r>
              <a:rPr lang="en-IN" b="1" i="0" u="none" strike="noStrike" dirty="0">
                <a:solidFill>
                  <a:srgbClr val="000000"/>
                </a:solidFill>
                <a:effectLst/>
              </a:rPr>
              <a:t>Approval and Implementation of Changes:</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Only approved changes are implemented.</a:t>
            </a:r>
          </a:p>
          <a:p>
            <a:pPr marL="742950" lvl="1" indent="-285750" algn="l">
              <a:buFont typeface="Arial" panose="020B0604020202020204" pitchFamily="34" charset="0"/>
              <a:buChar char="•"/>
            </a:pPr>
            <a:r>
              <a:rPr lang="en-IN" b="0" i="0" u="none" strike="noStrike" dirty="0">
                <a:solidFill>
                  <a:srgbClr val="000000"/>
                </a:solidFill>
                <a:effectLst/>
              </a:rPr>
              <a:t>Changes are documented with details like rationale, implementation steps, and test results.</a:t>
            </a:r>
          </a:p>
          <a:p>
            <a:pPr algn="l">
              <a:buFont typeface="Arial" panose="020B0604020202020204" pitchFamily="34" charset="0"/>
              <a:buChar char="•"/>
            </a:pPr>
            <a:r>
              <a:rPr lang="en-IN" b="1" i="0" u="none" strike="noStrike" dirty="0">
                <a:solidFill>
                  <a:srgbClr val="000000"/>
                </a:solidFill>
                <a:effectLst/>
              </a:rPr>
              <a:t>Version Control and Branching:</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Maintain different branches for development, testing, and production.</a:t>
            </a:r>
          </a:p>
          <a:p>
            <a:pPr marL="742950" lvl="1" indent="-285750" algn="l">
              <a:buFont typeface="Arial" panose="020B0604020202020204" pitchFamily="34" charset="0"/>
              <a:buChar char="•"/>
            </a:pPr>
            <a:r>
              <a:rPr lang="en-IN" b="0" i="0" u="none" strike="noStrike" dirty="0">
                <a:solidFill>
                  <a:srgbClr val="000000"/>
                </a:solidFill>
                <a:effectLst/>
              </a:rPr>
              <a:t>Use </a:t>
            </a:r>
            <a:r>
              <a:rPr lang="en-IN" b="1" i="0" u="none" strike="noStrike" dirty="0">
                <a:solidFill>
                  <a:srgbClr val="000000"/>
                </a:solidFill>
                <a:effectLst/>
              </a:rPr>
              <a:t>Git workflows</a:t>
            </a:r>
            <a:r>
              <a:rPr lang="en-IN" b="0" i="0" u="none" strike="noStrike" dirty="0">
                <a:solidFill>
                  <a:srgbClr val="000000"/>
                </a:solidFill>
                <a:effectLst/>
              </a:rPr>
              <a:t> (e.g., feature branches, release branches) to manage updates systematically.</a:t>
            </a:r>
          </a:p>
          <a:p>
            <a:pPr marL="0" indent="0" algn="l">
              <a:buNone/>
            </a:pPr>
            <a:r>
              <a:rPr lang="en-IN" b="1" i="0" u="none" strike="noStrike" dirty="0">
                <a:solidFill>
                  <a:srgbClr val="000000"/>
                </a:solidFill>
                <a:effectLst/>
              </a:rPr>
              <a:t>Example:</a:t>
            </a:r>
          </a:p>
          <a:p>
            <a:pPr algn="l"/>
            <a:r>
              <a:rPr lang="en-IN" b="0" i="0" u="none" strike="noStrike" dirty="0">
                <a:solidFill>
                  <a:srgbClr val="000000"/>
                </a:solidFill>
                <a:effectLst/>
              </a:rPr>
              <a:t>A developer requests a change to improve login security. The CCB reviews the change, approves it, and assigns a version number before implementing it in the next software release.</a:t>
            </a:r>
          </a:p>
          <a:p>
            <a:pPr algn="just">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6" name="Date Placeholder 5">
            <a:extLst>
              <a:ext uri="{FF2B5EF4-FFF2-40B4-BE49-F238E27FC236}">
                <a16:creationId xmlns:a16="http://schemas.microsoft.com/office/drawing/2014/main" id="{A8A27E02-8E11-B334-CB1B-246DDFB95989}"/>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78C27-C76B-0096-7679-363C6EA3E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470DF-E352-DC61-74E5-828F46B0B7F6}"/>
              </a:ext>
            </a:extLst>
          </p:cNvPr>
          <p:cNvSpPr>
            <a:spLocks noGrp="1"/>
          </p:cNvSpPr>
          <p:nvPr>
            <p:ph type="title"/>
          </p:nvPr>
        </p:nvSpPr>
        <p:spPr>
          <a:xfrm>
            <a:off x="838200" y="774551"/>
            <a:ext cx="10515600" cy="916137"/>
          </a:xfrm>
        </p:spPr>
        <p:txBody>
          <a:bodyPr/>
          <a:lstStyle/>
          <a:p>
            <a:pPr algn="ctr"/>
            <a:r>
              <a:rPr lang="en-IN" b="0" i="0" u="none" strike="noStrike" dirty="0">
                <a:solidFill>
                  <a:srgbClr val="000000"/>
                </a:solidFill>
                <a:effectLst/>
                <a:latin typeface="-webkit-standard"/>
              </a:rPr>
              <a:t>4. Configuration Status Accounting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553097-457E-6205-3BFB-E12CD4762648}"/>
              </a:ext>
            </a:extLst>
          </p:cNvPr>
          <p:cNvSpPr>
            <a:spLocks noGrp="1"/>
          </p:cNvSpPr>
          <p:nvPr>
            <p:ph idx="1"/>
          </p:nvPr>
        </p:nvSpPr>
        <p:spPr/>
        <p:txBody>
          <a:bodyPr>
            <a:normAutofit fontScale="70000" lnSpcReduction="20000"/>
          </a:bodyPr>
          <a:lstStyle/>
          <a:p>
            <a:pPr marL="0" indent="0" algn="l">
              <a:buNone/>
            </a:pPr>
            <a:r>
              <a:rPr lang="en-IN" b="0" i="0" u="none" strike="noStrike" dirty="0">
                <a:solidFill>
                  <a:srgbClr val="000000"/>
                </a:solidFill>
                <a:effectLst/>
              </a:rPr>
              <a:t>This process involves tracking and reporting the status of all configuration items, changes, and versions.</a:t>
            </a:r>
          </a:p>
          <a:p>
            <a:pPr marL="0" indent="0" algn="l">
              <a:buNone/>
            </a:pPr>
            <a:r>
              <a:rPr lang="en-IN" b="1" i="0" u="none" strike="noStrike" dirty="0">
                <a:solidFill>
                  <a:srgbClr val="000000"/>
                </a:solidFill>
                <a:effectLst/>
              </a:rPr>
              <a:t>Key Activities:</a:t>
            </a:r>
          </a:p>
          <a:p>
            <a:pPr algn="l">
              <a:buFont typeface="Arial" panose="020B0604020202020204" pitchFamily="34" charset="0"/>
              <a:buChar char="•"/>
            </a:pPr>
            <a:r>
              <a:rPr lang="en-IN" b="1" i="0" u="none" strike="noStrike" dirty="0">
                <a:solidFill>
                  <a:srgbClr val="000000"/>
                </a:solidFill>
                <a:effectLst/>
              </a:rPr>
              <a:t>Recording and Tracking Changes:</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Maintain logs of every change made to the system.</a:t>
            </a:r>
          </a:p>
          <a:p>
            <a:pPr marL="742950" lvl="1" indent="-285750" algn="l">
              <a:buFont typeface="Arial" panose="020B0604020202020204" pitchFamily="34" charset="0"/>
              <a:buChar char="•"/>
            </a:pPr>
            <a:r>
              <a:rPr lang="en-IN" b="0" i="0" u="none" strike="noStrike" dirty="0">
                <a:solidFill>
                  <a:srgbClr val="000000"/>
                </a:solidFill>
                <a:effectLst/>
              </a:rPr>
              <a:t>Keep records of when, why, and by whom changes were made.</a:t>
            </a:r>
          </a:p>
          <a:p>
            <a:pPr algn="l">
              <a:buFont typeface="Arial" panose="020B0604020202020204" pitchFamily="34" charset="0"/>
              <a:buChar char="•"/>
            </a:pPr>
            <a:r>
              <a:rPr lang="en-IN" b="1" i="0" u="none" strike="noStrike" dirty="0">
                <a:solidFill>
                  <a:srgbClr val="000000"/>
                </a:solidFill>
                <a:effectLst/>
              </a:rPr>
              <a:t>Maintaining Historical Data:</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Store previous versions and configurations to allow rollback if needed.</a:t>
            </a:r>
          </a:p>
          <a:p>
            <a:pPr marL="742950" lvl="1" indent="-285750" algn="l">
              <a:buFont typeface="Arial" panose="020B0604020202020204" pitchFamily="34" charset="0"/>
              <a:buChar char="•"/>
            </a:pPr>
            <a:r>
              <a:rPr lang="en-IN" b="0" i="0" u="none" strike="noStrike" dirty="0">
                <a:solidFill>
                  <a:srgbClr val="000000"/>
                </a:solidFill>
                <a:effectLst/>
              </a:rPr>
              <a:t>Generate reports on software status.</a:t>
            </a:r>
          </a:p>
          <a:p>
            <a:pPr algn="l">
              <a:buFont typeface="Arial" panose="020B0604020202020204" pitchFamily="34" charset="0"/>
              <a:buChar char="•"/>
            </a:pPr>
            <a:r>
              <a:rPr lang="en-IN" b="1" i="0" u="none" strike="noStrike" dirty="0">
                <a:solidFill>
                  <a:srgbClr val="000000"/>
                </a:solidFill>
                <a:effectLst/>
              </a:rPr>
              <a:t>Providing Audit and Compliance Reports:</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Track whether changes comply with organizational or regulatory requirements.</a:t>
            </a:r>
          </a:p>
          <a:p>
            <a:pPr marL="742950" lvl="1" indent="-285750" algn="l">
              <a:buFont typeface="Arial" panose="020B0604020202020204" pitchFamily="34" charset="0"/>
              <a:buChar char="•"/>
            </a:pPr>
            <a:r>
              <a:rPr lang="en-IN" b="0" i="0" u="none" strike="noStrike" dirty="0">
                <a:solidFill>
                  <a:srgbClr val="000000"/>
                </a:solidFill>
                <a:effectLst/>
              </a:rPr>
              <a:t>Ensure proper documentation for audits.</a:t>
            </a:r>
          </a:p>
          <a:p>
            <a:pPr marL="0" indent="0" algn="l">
              <a:buNone/>
            </a:pPr>
            <a:r>
              <a:rPr lang="en-IN" b="1" i="0" u="none" strike="noStrike" dirty="0">
                <a:solidFill>
                  <a:srgbClr val="000000"/>
                </a:solidFill>
                <a:effectLst/>
              </a:rPr>
              <a:t>Example:</a:t>
            </a:r>
          </a:p>
          <a:p>
            <a:pPr algn="l"/>
            <a:r>
              <a:rPr lang="en-IN" b="0" i="0" u="none" strike="noStrike" dirty="0">
                <a:solidFill>
                  <a:srgbClr val="000000"/>
                </a:solidFill>
                <a:effectLst/>
              </a:rPr>
              <a:t>If a project manager wants to see what changes were made in version 2.0, they can access the configuration status report that lists all modifications since version 1.0.</a:t>
            </a:r>
          </a:p>
          <a:p>
            <a:pPr algn="just">
              <a:buNone/>
            </a:pPr>
            <a:endParaRPr lang="en-US" dirty="0"/>
          </a:p>
        </p:txBody>
      </p:sp>
      <p:sp>
        <p:nvSpPr>
          <p:cNvPr id="4" name="Slide Number Placeholder 3">
            <a:extLst>
              <a:ext uri="{FF2B5EF4-FFF2-40B4-BE49-F238E27FC236}">
                <a16:creationId xmlns:a16="http://schemas.microsoft.com/office/drawing/2014/main" id="{494B641F-2BD1-5C97-8965-83F2D9E4CAB2}"/>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6" name="Date Placeholder 5">
            <a:extLst>
              <a:ext uri="{FF2B5EF4-FFF2-40B4-BE49-F238E27FC236}">
                <a16:creationId xmlns:a16="http://schemas.microsoft.com/office/drawing/2014/main" id="{5A1385B7-DD54-79B7-0145-1A02FD8811BA}"/>
              </a:ext>
            </a:extLst>
          </p:cNvPr>
          <p:cNvSpPr>
            <a:spLocks noGrp="1"/>
          </p:cNvSpPr>
          <p:nvPr>
            <p:ph type="dt" sz="half" idx="10"/>
          </p:nvPr>
        </p:nvSpPr>
        <p:spPr/>
        <p:txBody>
          <a:bodyPr/>
          <a:lstStyle/>
          <a:p>
            <a:r>
              <a:rPr lang="en-IN"/>
              <a:t>09/12/24</a:t>
            </a:r>
            <a:endParaRPr lang="en-US"/>
          </a:p>
        </p:txBody>
      </p:sp>
    </p:spTree>
    <p:extLst>
      <p:ext uri="{BB962C8B-B14F-4D97-AF65-F5344CB8AC3E}">
        <p14:creationId xmlns:p14="http://schemas.microsoft.com/office/powerpoint/2010/main" val="1346361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11FB8-83B6-A5A3-F285-A402865CC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CB92B-CBB8-7B7D-79A3-6A0EED8871AC}"/>
              </a:ext>
            </a:extLst>
          </p:cNvPr>
          <p:cNvSpPr>
            <a:spLocks noGrp="1"/>
          </p:cNvSpPr>
          <p:nvPr>
            <p:ph type="title"/>
          </p:nvPr>
        </p:nvSpPr>
        <p:spPr>
          <a:xfrm>
            <a:off x="838200" y="774551"/>
            <a:ext cx="10515600" cy="916137"/>
          </a:xfrm>
        </p:spPr>
        <p:txBody>
          <a:bodyPr/>
          <a:lstStyle/>
          <a:p>
            <a:pPr algn="ctr"/>
            <a:r>
              <a:rPr lang="en-US" dirty="0">
                <a:latin typeface="Times New Roman" panose="02020603050405020304" pitchFamily="18" charset="0"/>
                <a:cs typeface="Times New Roman" panose="02020603050405020304" pitchFamily="18" charset="0"/>
              </a:rPr>
              <a:t>5. </a:t>
            </a:r>
            <a:r>
              <a:rPr lang="en-IN" b="0" i="0" u="none" strike="noStrike" dirty="0">
                <a:solidFill>
                  <a:srgbClr val="000000"/>
                </a:solidFill>
                <a:effectLst/>
                <a:latin typeface="-webkit-standard"/>
              </a:rPr>
              <a:t>Configuration Auditing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B04C8-A923-16DB-C2A4-B4B84F94EB7F}"/>
              </a:ext>
            </a:extLst>
          </p:cNvPr>
          <p:cNvSpPr>
            <a:spLocks noGrp="1"/>
          </p:cNvSpPr>
          <p:nvPr>
            <p:ph idx="1"/>
          </p:nvPr>
        </p:nvSpPr>
        <p:spPr/>
        <p:txBody>
          <a:bodyPr>
            <a:normAutofit fontScale="70000" lnSpcReduction="20000"/>
          </a:bodyPr>
          <a:lstStyle/>
          <a:p>
            <a:pPr marL="0" indent="0" algn="l">
              <a:buNone/>
            </a:pPr>
            <a:r>
              <a:rPr lang="en-IN" b="0" i="0" u="none" strike="noStrike" dirty="0">
                <a:solidFill>
                  <a:srgbClr val="000000"/>
                </a:solidFill>
                <a:effectLst/>
              </a:rPr>
              <a:t>Configuration auditing ensures that the software conforms to defined requirements and that unauthorized changes do not occur.</a:t>
            </a:r>
          </a:p>
          <a:p>
            <a:pPr marL="0" indent="0" algn="l">
              <a:buNone/>
            </a:pPr>
            <a:r>
              <a:rPr lang="en-IN" b="1" i="0" u="none" strike="noStrike" dirty="0">
                <a:solidFill>
                  <a:srgbClr val="000000"/>
                </a:solidFill>
                <a:effectLst/>
              </a:rPr>
              <a:t>Key Activities:</a:t>
            </a:r>
          </a:p>
          <a:p>
            <a:pPr algn="l">
              <a:buFont typeface="Arial" panose="020B0604020202020204" pitchFamily="34" charset="0"/>
              <a:buChar char="•"/>
            </a:pPr>
            <a:r>
              <a:rPr lang="en-IN" b="1" i="0" u="none" strike="noStrike" dirty="0">
                <a:solidFill>
                  <a:srgbClr val="000000"/>
                </a:solidFill>
                <a:effectLst/>
              </a:rPr>
              <a:t>Functional Audits:</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Verify that the software performs as intended after changes.</a:t>
            </a:r>
          </a:p>
          <a:p>
            <a:pPr marL="742950" lvl="1" indent="-285750" algn="l">
              <a:buFont typeface="Arial" panose="020B0604020202020204" pitchFamily="34" charset="0"/>
              <a:buChar char="•"/>
            </a:pPr>
            <a:r>
              <a:rPr lang="en-IN" b="0" i="0" u="none" strike="noStrike" dirty="0">
                <a:solidFill>
                  <a:srgbClr val="000000"/>
                </a:solidFill>
                <a:effectLst/>
              </a:rPr>
              <a:t>Check if all approved modifications are correctly implemented.</a:t>
            </a:r>
          </a:p>
          <a:p>
            <a:pPr algn="l">
              <a:buFont typeface="Arial" panose="020B0604020202020204" pitchFamily="34" charset="0"/>
              <a:buChar char="•"/>
            </a:pPr>
            <a:r>
              <a:rPr lang="en-IN" b="1" i="0" u="none" strike="noStrike" dirty="0">
                <a:solidFill>
                  <a:srgbClr val="000000"/>
                </a:solidFill>
                <a:effectLst/>
              </a:rPr>
              <a:t>Physical Audits:</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Ensure that all physical components (e.g., documents, code, libraries) match their defined configurations.</a:t>
            </a:r>
          </a:p>
          <a:p>
            <a:pPr algn="l">
              <a:buFont typeface="Arial" panose="020B0604020202020204" pitchFamily="34" charset="0"/>
              <a:buChar char="•"/>
            </a:pPr>
            <a:r>
              <a:rPr lang="en-IN" b="1" i="0" u="none" strike="noStrike" dirty="0">
                <a:solidFill>
                  <a:srgbClr val="000000"/>
                </a:solidFill>
                <a:effectLst/>
              </a:rPr>
              <a:t>Verification of Compliance:</a:t>
            </a:r>
            <a:endParaRPr lang="en-IN" b="0" i="0" u="none" strike="noStrike" dirty="0">
              <a:solidFill>
                <a:srgbClr val="000000"/>
              </a:solidFill>
              <a:effectLst/>
            </a:endParaRPr>
          </a:p>
          <a:p>
            <a:pPr marL="742950" lvl="1" indent="-285750" algn="l">
              <a:buFont typeface="Arial" panose="020B0604020202020204" pitchFamily="34" charset="0"/>
              <a:buChar char="•"/>
            </a:pPr>
            <a:r>
              <a:rPr lang="en-IN" b="0" i="0" u="none" strike="noStrike" dirty="0">
                <a:solidFill>
                  <a:srgbClr val="000000"/>
                </a:solidFill>
                <a:effectLst/>
              </a:rPr>
              <a:t>Ensure that the software meets standards such as ISO 9001, CMMI, or internal guidelines.</a:t>
            </a:r>
          </a:p>
          <a:p>
            <a:pPr marL="742950" lvl="1" indent="-285750" algn="l">
              <a:buFont typeface="Arial" panose="020B0604020202020204" pitchFamily="34" charset="0"/>
              <a:buChar char="•"/>
            </a:pPr>
            <a:r>
              <a:rPr lang="en-IN" b="0" i="0" u="none" strike="noStrike" dirty="0">
                <a:solidFill>
                  <a:srgbClr val="000000"/>
                </a:solidFill>
                <a:effectLst/>
              </a:rPr>
              <a:t>Detect unauthorized changes and rollback if necessary.</a:t>
            </a:r>
          </a:p>
          <a:p>
            <a:pPr marL="0" indent="0" algn="l">
              <a:buNone/>
            </a:pPr>
            <a:r>
              <a:rPr lang="en-IN" b="1" i="0" u="none" strike="noStrike" dirty="0">
                <a:solidFill>
                  <a:srgbClr val="000000"/>
                </a:solidFill>
                <a:effectLst/>
              </a:rPr>
              <a:t>Example:</a:t>
            </a:r>
          </a:p>
          <a:p>
            <a:pPr algn="l"/>
            <a:r>
              <a:rPr lang="en-IN" b="0" i="0" u="none" strike="noStrike" dirty="0">
                <a:solidFill>
                  <a:srgbClr val="000000"/>
                </a:solidFill>
                <a:effectLst/>
              </a:rPr>
              <a:t>Before releasing version 3.0, an audit confirms that all requested features are implemented and no unauthorized changes exist.</a:t>
            </a:r>
          </a:p>
          <a:p>
            <a:pPr algn="just">
              <a:buNone/>
            </a:pPr>
            <a:endParaRPr lang="en-US" dirty="0"/>
          </a:p>
        </p:txBody>
      </p:sp>
      <p:sp>
        <p:nvSpPr>
          <p:cNvPr id="4" name="Slide Number Placeholder 3">
            <a:extLst>
              <a:ext uri="{FF2B5EF4-FFF2-40B4-BE49-F238E27FC236}">
                <a16:creationId xmlns:a16="http://schemas.microsoft.com/office/drawing/2014/main" id="{D91629FC-B190-CB5D-CBAD-8213819C7393}"/>
              </a:ext>
            </a:extLst>
          </p:cNvPr>
          <p:cNvSpPr>
            <a:spLocks noGrp="1"/>
          </p:cNvSpPr>
          <p:nvPr>
            <p:ph type="sldNum" sz="quarter" idx="12"/>
          </p:nvPr>
        </p:nvSpPr>
        <p:spPr/>
        <p:txBody>
          <a:bodyPr/>
          <a:lstStyle/>
          <a:p>
            <a:fld id="{BDCDBBEF-AA6C-4BA6-85B2-A17D7F280E38}" type="slidenum">
              <a:rPr lang="en-US" smtClean="0"/>
              <a:pPr/>
              <a:t>14</a:t>
            </a:fld>
            <a:endParaRPr lang="en-US"/>
          </a:p>
        </p:txBody>
      </p:sp>
      <p:sp>
        <p:nvSpPr>
          <p:cNvPr id="6" name="Date Placeholder 5">
            <a:extLst>
              <a:ext uri="{FF2B5EF4-FFF2-40B4-BE49-F238E27FC236}">
                <a16:creationId xmlns:a16="http://schemas.microsoft.com/office/drawing/2014/main" id="{49F1E703-5759-AD8E-DB4C-CB07FDC900EC}"/>
              </a:ext>
            </a:extLst>
          </p:cNvPr>
          <p:cNvSpPr>
            <a:spLocks noGrp="1"/>
          </p:cNvSpPr>
          <p:nvPr>
            <p:ph type="dt" sz="half" idx="10"/>
          </p:nvPr>
        </p:nvSpPr>
        <p:spPr/>
        <p:txBody>
          <a:bodyPr/>
          <a:lstStyle/>
          <a:p>
            <a:r>
              <a:rPr lang="en-IN"/>
              <a:t>09/12/24</a:t>
            </a:r>
            <a:endParaRPr lang="en-US"/>
          </a:p>
        </p:txBody>
      </p:sp>
    </p:spTree>
    <p:extLst>
      <p:ext uri="{BB962C8B-B14F-4D97-AF65-F5344CB8AC3E}">
        <p14:creationId xmlns:p14="http://schemas.microsoft.com/office/powerpoint/2010/main" val="3609014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https://www.guru99.com/software-configuration-management-tutorial.html</a:t>
            </a:r>
            <a:endParaRPr lang="en-US" dirty="0"/>
          </a:p>
          <a:p>
            <a:r>
              <a:rPr lang="en-US" dirty="0">
                <a:hlinkClick r:id="rId3"/>
              </a:rPr>
              <a:t>https://www.geeksforgeeks.org/software-engineering-system-configuration-management/</a:t>
            </a:r>
            <a:endParaRPr lang="en-US" dirty="0"/>
          </a:p>
          <a:p>
            <a:r>
              <a:rPr lang="en-US" dirty="0">
                <a:hlinkClick r:id="rId4"/>
              </a:rPr>
              <a:t>https://www.javatpoint.com/software-configuration-management</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54249"/>
            <a:ext cx="10515600" cy="63643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15</a:t>
            </a:fld>
            <a:endParaRPr lang="en-US"/>
          </a:p>
        </p:txBody>
      </p:sp>
      <p:sp>
        <p:nvSpPr>
          <p:cNvPr id="4" name="Date Placeholder 3">
            <a:extLst>
              <a:ext uri="{FF2B5EF4-FFF2-40B4-BE49-F238E27FC236}">
                <a16:creationId xmlns:a16="http://schemas.microsoft.com/office/drawing/2014/main" id="{35C1AA2A-5187-1692-9B49-0CBFC8837975}"/>
              </a:ext>
            </a:extLst>
          </p:cNvPr>
          <p:cNvSpPr>
            <a:spLocks noGrp="1"/>
          </p:cNvSpPr>
          <p:nvPr>
            <p:ph type="dt" sz="half" idx="10"/>
          </p:nvPr>
        </p:nvSpPr>
        <p:spPr/>
        <p:txBody>
          <a:bodyPr/>
          <a:lstStyle/>
          <a:p>
            <a:r>
              <a:rPr lang="en-IN"/>
              <a:t>09/12/24</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16</a:t>
            </a:fld>
            <a:endParaRPr lang="en-US">
              <a:solidFill>
                <a:prstClr val="black">
                  <a:tint val="75000"/>
                </a:prstClr>
              </a:solidFill>
            </a:endParaRPr>
          </a:p>
        </p:txBody>
      </p:sp>
      <p:sp>
        <p:nvSpPr>
          <p:cNvPr id="3" name="Date Placeholder 2">
            <a:extLst>
              <a:ext uri="{FF2B5EF4-FFF2-40B4-BE49-F238E27FC236}">
                <a16:creationId xmlns:a16="http://schemas.microsoft.com/office/drawing/2014/main" id="{BB1145E5-44D1-C41C-A8CF-AEC71D0B2226}"/>
              </a:ext>
            </a:extLst>
          </p:cNvPr>
          <p:cNvSpPr>
            <a:spLocks noGrp="1"/>
          </p:cNvSpPr>
          <p:nvPr>
            <p:ph type="dt" sz="half" idx="10"/>
          </p:nvPr>
        </p:nvSpPr>
        <p:spPr/>
        <p:txBody>
          <a:bodyPr/>
          <a:lstStyle/>
          <a:p>
            <a:r>
              <a:rPr lang="en-IN">
                <a:solidFill>
                  <a:prstClr val="black">
                    <a:tint val="75000"/>
                  </a:prstClr>
                </a:solidFill>
              </a:rPr>
              <a:t>09/12/24</a:t>
            </a:r>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1752</TotalTime>
  <Words>1404</Words>
  <Application>Microsoft Macintosh PowerPoint</Application>
  <PresentationFormat>Widescreen</PresentationFormat>
  <Paragraphs>154</Paragraphs>
  <Slides>16</Slides>
  <Notes>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7" baseType="lpstr">
      <vt:lpstr>-webkit-standard</vt:lpstr>
      <vt:lpstr>Arial</vt:lpstr>
      <vt:lpstr>Arial Black</vt:lpstr>
      <vt:lpstr>Calibri</vt:lpstr>
      <vt:lpstr>Calibri Light</vt:lpstr>
      <vt:lpstr>Casper</vt:lpstr>
      <vt:lpstr>Raleway ExtraBold</vt:lpstr>
      <vt:lpstr>Times New Roman</vt:lpstr>
      <vt:lpstr>1_Office Theme</vt:lpstr>
      <vt:lpstr>Contents Slide Master</vt:lpstr>
      <vt:lpstr>CorelDRAW</vt:lpstr>
      <vt:lpstr>PowerPoint Presentation</vt:lpstr>
      <vt:lpstr>Chapter-4 Software Project Management</vt:lpstr>
      <vt:lpstr> Software Configuration Management </vt:lpstr>
      <vt:lpstr> Software Configuration Management </vt:lpstr>
      <vt:lpstr> Software Configuration Management </vt:lpstr>
      <vt:lpstr> Software Configuration Management </vt:lpstr>
      <vt:lpstr> Why do we need Configuration Management? </vt:lpstr>
      <vt:lpstr> Importance of SCM </vt:lpstr>
      <vt:lpstr>Processes involved in SCM </vt:lpstr>
      <vt:lpstr>1. Configuration Planning and Management</vt:lpstr>
      <vt:lpstr>2. Configuration Identification</vt:lpstr>
      <vt:lpstr>3. Configuration Control</vt:lpstr>
      <vt:lpstr>4. Configuration Status Accounting</vt:lpstr>
      <vt:lpstr>5. Configuration Auditing</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Office</cp:lastModifiedBy>
  <cp:revision>244</cp:revision>
  <dcterms:created xsi:type="dcterms:W3CDTF">2019-01-09T10:33:58Z</dcterms:created>
  <dcterms:modified xsi:type="dcterms:W3CDTF">2025-03-06T05:41:59Z</dcterms:modified>
</cp:coreProperties>
</file>