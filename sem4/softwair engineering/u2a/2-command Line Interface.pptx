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4" r:id="rId1"/>
    <p:sldMasterId id="2147483686" r:id="rId2"/>
  </p:sldMasterIdLst>
  <p:notesMasterIdLst>
    <p:notesMasterId r:id="rId25"/>
  </p:notesMasterIdLst>
  <p:handoutMasterIdLst>
    <p:handoutMasterId r:id="rId26"/>
  </p:handoutMasterIdLst>
  <p:sldIdLst>
    <p:sldId id="662" r:id="rId3"/>
    <p:sldId id="280" r:id="rId4"/>
    <p:sldId id="339" r:id="rId5"/>
    <p:sldId id="338" r:id="rId6"/>
    <p:sldId id="337" r:id="rId7"/>
    <p:sldId id="668" r:id="rId8"/>
    <p:sldId id="336" r:id="rId9"/>
    <p:sldId id="335" r:id="rId10"/>
    <p:sldId id="334" r:id="rId11"/>
    <p:sldId id="333" r:id="rId12"/>
    <p:sldId id="669" r:id="rId13"/>
    <p:sldId id="332" r:id="rId14"/>
    <p:sldId id="331" r:id="rId15"/>
    <p:sldId id="330" r:id="rId16"/>
    <p:sldId id="328" r:id="rId17"/>
    <p:sldId id="663" r:id="rId18"/>
    <p:sldId id="667" r:id="rId19"/>
    <p:sldId id="664" r:id="rId20"/>
    <p:sldId id="665" r:id="rId21"/>
    <p:sldId id="666" r:id="rId22"/>
    <p:sldId id="326" r:id="rId23"/>
    <p:sldId id="279" r:id="rId2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D8137"/>
    <a:srgbClr val="BC8F00"/>
    <a:srgbClr val="860000"/>
    <a:srgbClr val="00B0F0"/>
    <a:srgbClr val="1B3F5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529" autoAdjust="0"/>
    <p:restoredTop sz="94660"/>
  </p:normalViewPr>
  <p:slideViewPr>
    <p:cSldViewPr snapToGrid="0">
      <p:cViewPr varScale="1">
        <p:scale>
          <a:sx n="65" d="100"/>
          <a:sy n="65" d="100"/>
        </p:scale>
        <p:origin x="704" y="60"/>
      </p:cViewPr>
      <p:guideLst>
        <p:guide orient="horz" pos="2160"/>
        <p:guide pos="3840"/>
      </p:guideLst>
    </p:cSldViewPr>
  </p:slideViewPr>
  <p:notesTextViewPr>
    <p:cViewPr>
      <p:scale>
        <a:sx n="1" d="1"/>
        <a:sy n="1" d="1"/>
      </p:scale>
      <p:origin x="0" y="0"/>
    </p:cViewPr>
  </p:notesTextViewPr>
  <p:sorterViewPr>
    <p:cViewPr>
      <p:scale>
        <a:sx n="66" d="100"/>
        <a:sy n="66" d="100"/>
      </p:scale>
      <p:origin x="0" y="321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handoutMaster" Target="handoutMasters/handoutMaster1.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notesMaster" Target="notesMasters/notesMaster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viewProps" Target="viewProps.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presProps" Target="presProps.xml"/><Relationship Id="rId30"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9B5F544-A886-482E-AF73-1D6364AAC657}" type="slidenum">
              <a:rPr lang="en-US" smtClean="0"/>
              <a:pPr/>
              <a:t>‹#›</a:t>
            </a:fld>
            <a:endParaRPr lang="en-US"/>
          </a:p>
        </p:txBody>
      </p:sp>
    </p:spTree>
    <p:extLst>
      <p:ext uri="{BB962C8B-B14F-4D97-AF65-F5344CB8AC3E}">
        <p14:creationId xmlns:p14="http://schemas.microsoft.com/office/powerpoint/2010/main" val="2251919614"/>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0732FBC-CC67-4B17-8935-02F23E3364AC}" type="slidenum">
              <a:rPr lang="en-US" smtClean="0"/>
              <a:pPr/>
              <a:t>‹#›</a:t>
            </a:fld>
            <a:endParaRPr lang="en-US"/>
          </a:p>
        </p:txBody>
      </p:sp>
    </p:spTree>
    <p:extLst>
      <p:ext uri="{BB962C8B-B14F-4D97-AF65-F5344CB8AC3E}">
        <p14:creationId xmlns:p14="http://schemas.microsoft.com/office/powerpoint/2010/main" val="2540555822"/>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5" name="Slide Number Placeholder 4"/>
          <p:cNvSpPr>
            <a:spLocks noGrp="1"/>
          </p:cNvSpPr>
          <p:nvPr>
            <p:ph type="sldNum" sz="quarter" idx="11"/>
          </p:nvPr>
        </p:nvSpPr>
        <p:spPr/>
        <p:txBody>
          <a:bodyPr/>
          <a:lstStyle/>
          <a:p>
            <a:fld id="{60732FBC-CC67-4B17-8935-02F23E3364AC}" type="slidenum">
              <a:rPr lang="en-US" smtClean="0"/>
              <a:pPr/>
              <a:t>2</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r>
              <a:rPr lang="en-US"/>
              <a:t>Er. Jagmeet Kaur, Asst. Prof., CSE, Chandigarh University</a:t>
            </a:r>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37221975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r>
              <a:rPr lang="en-US"/>
              <a:t>Er. Jagmeet Kaur, Asst. Prof., CSE, Chandigarh University</a:t>
            </a:r>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145136952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r>
              <a:rPr lang="en-US"/>
              <a:t>Er. Jagmeet Kaur, Asst. Prof., CSE, Chandigarh University</a:t>
            </a:r>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4117143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r>
              <a:rPr lang="en-US"/>
              <a:t>Er. Jagmeet Kaur, Asst. Prof., CSE, Chandigarh University</a:t>
            </a:r>
          </a:p>
        </p:txBody>
      </p:sp>
      <p:sp>
        <p:nvSpPr>
          <p:cNvPr id="7" name="Slide Number Placeholder 6"/>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17122016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endParaRPr lang="en-US"/>
          </a:p>
        </p:txBody>
      </p:sp>
      <p:sp>
        <p:nvSpPr>
          <p:cNvPr id="8" name="Footer Placeholder 7"/>
          <p:cNvSpPr>
            <a:spLocks noGrp="1"/>
          </p:cNvSpPr>
          <p:nvPr>
            <p:ph type="ftr" sz="quarter" idx="11"/>
          </p:nvPr>
        </p:nvSpPr>
        <p:spPr/>
        <p:txBody>
          <a:bodyPr/>
          <a:lstStyle/>
          <a:p>
            <a:r>
              <a:rPr lang="en-US"/>
              <a:t>Er. Jagmeet Kaur, Asst. Prof., CSE, Chandigarh University</a:t>
            </a:r>
          </a:p>
        </p:txBody>
      </p:sp>
      <p:sp>
        <p:nvSpPr>
          <p:cNvPr id="9" name="Slide Number Placeholder 8"/>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18012169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r>
              <a:rPr lang="en-US"/>
              <a:t>Er. Jagmeet Kaur, Asst. Prof., CSE, Chandigarh University</a:t>
            </a:r>
          </a:p>
        </p:txBody>
      </p:sp>
      <p:sp>
        <p:nvSpPr>
          <p:cNvPr id="5" name="Slide Number Placeholder 4"/>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8812041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r>
              <a:rPr lang="en-US"/>
              <a:t>Er. Jagmeet Kaur, Asst. Prof., CSE, Chandigarh University</a:t>
            </a:r>
          </a:p>
        </p:txBody>
      </p:sp>
      <p:sp>
        <p:nvSpPr>
          <p:cNvPr id="4" name="Slide Number Placeholder 3"/>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27831933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r>
              <a:rPr lang="en-US"/>
              <a:t>Er. Jagmeet Kaur, Asst. Prof., CSE, Chandigarh University</a:t>
            </a:r>
          </a:p>
        </p:txBody>
      </p:sp>
      <p:sp>
        <p:nvSpPr>
          <p:cNvPr id="7" name="Slide Number Placeholder 6"/>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26918609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r>
              <a:rPr lang="en-US"/>
              <a:t>Er. Jagmeet Kaur, Asst. Prof., CSE, Chandigarh University</a:t>
            </a:r>
          </a:p>
        </p:txBody>
      </p:sp>
      <p:sp>
        <p:nvSpPr>
          <p:cNvPr id="7" name="Slide Number Placeholder 6"/>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5247627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r>
              <a:rPr lang="en-US"/>
              <a:t>Er. Jagmeet Kaur, Asst. Prof., CSE, Chandigarh University</a:t>
            </a:r>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40508157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r>
              <a:rPr lang="en-US"/>
              <a:t>Er. Jagmeet Kaur, Asst. Prof., CSE, Chandigarh University</a:t>
            </a:r>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213449416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Титульный слайд">
    <p:spTree>
      <p:nvGrpSpPr>
        <p:cNvPr id="1" name=""/>
        <p:cNvGrpSpPr/>
        <p:nvPr/>
      </p:nvGrpSpPr>
      <p:grpSpPr>
        <a:xfrm>
          <a:off x="0" y="0"/>
          <a:ext cx="0" cy="0"/>
          <a:chOff x="0" y="0"/>
          <a:chExt cx="0" cy="0"/>
        </a:xfrm>
      </p:grpSpPr>
      <p:sp>
        <p:nvSpPr>
          <p:cNvPr id="3" name="Прямоугольник 1"/>
          <p:cNvSpPr/>
          <p:nvPr userDrawn="1"/>
        </p:nvSpPr>
        <p:spPr>
          <a:xfrm>
            <a:off x="-19050" y="1905000"/>
            <a:ext cx="12211050" cy="49530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4" name="Прямоугольник 8"/>
          <p:cNvSpPr/>
          <p:nvPr userDrawn="1"/>
        </p:nvSpPr>
        <p:spPr>
          <a:xfrm>
            <a:off x="-19050" y="0"/>
            <a:ext cx="12211050" cy="4438650"/>
          </a:xfrm>
          <a:custGeom>
            <a:avLst/>
            <a:gdLst>
              <a:gd name="connsiteX0" fmla="*/ 0 w 12192000"/>
              <a:gd name="connsiteY0" fmla="*/ 0 h 4133850"/>
              <a:gd name="connsiteX1" fmla="*/ 12192000 w 12192000"/>
              <a:gd name="connsiteY1" fmla="*/ 0 h 4133850"/>
              <a:gd name="connsiteX2" fmla="*/ 12192000 w 12192000"/>
              <a:gd name="connsiteY2" fmla="*/ 4133850 h 4133850"/>
              <a:gd name="connsiteX3" fmla="*/ 0 w 12192000"/>
              <a:gd name="connsiteY3" fmla="*/ 4133850 h 4133850"/>
              <a:gd name="connsiteX4" fmla="*/ 0 w 12192000"/>
              <a:gd name="connsiteY4" fmla="*/ 0 h 4133850"/>
              <a:gd name="connsiteX0" fmla="*/ 19050 w 12211050"/>
              <a:gd name="connsiteY0" fmla="*/ 0 h 4133850"/>
              <a:gd name="connsiteX1" fmla="*/ 12211050 w 12211050"/>
              <a:gd name="connsiteY1" fmla="*/ 0 h 4133850"/>
              <a:gd name="connsiteX2" fmla="*/ 12211050 w 12211050"/>
              <a:gd name="connsiteY2" fmla="*/ 4133850 h 4133850"/>
              <a:gd name="connsiteX3" fmla="*/ 0 w 12211050"/>
              <a:gd name="connsiteY3" fmla="*/ 3219450 h 4133850"/>
              <a:gd name="connsiteX4" fmla="*/ 19050 w 12211050"/>
              <a:gd name="connsiteY4" fmla="*/ 0 h 4133850"/>
              <a:gd name="connsiteX0" fmla="*/ 19050 w 12211050"/>
              <a:gd name="connsiteY0" fmla="*/ 0 h 4438650"/>
              <a:gd name="connsiteX1" fmla="*/ 12211050 w 12211050"/>
              <a:gd name="connsiteY1" fmla="*/ 0 h 4438650"/>
              <a:gd name="connsiteX2" fmla="*/ 12211050 w 12211050"/>
              <a:gd name="connsiteY2" fmla="*/ 4438650 h 4438650"/>
              <a:gd name="connsiteX3" fmla="*/ 0 w 12211050"/>
              <a:gd name="connsiteY3" fmla="*/ 3219450 h 4438650"/>
              <a:gd name="connsiteX4" fmla="*/ 19050 w 12211050"/>
              <a:gd name="connsiteY4" fmla="*/ 0 h 44386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11050" h="4438650">
                <a:moveTo>
                  <a:pt x="19050" y="0"/>
                </a:moveTo>
                <a:lnTo>
                  <a:pt x="12211050" y="0"/>
                </a:lnTo>
                <a:lnTo>
                  <a:pt x="12211050" y="4438650"/>
                </a:lnTo>
                <a:lnTo>
                  <a:pt x="0" y="3219450"/>
                </a:lnTo>
                <a:lnTo>
                  <a:pt x="19050" y="0"/>
                </a:lnTo>
                <a:close/>
              </a:path>
            </a:pathLst>
          </a:custGeom>
          <a:solidFill>
            <a:schemeClr val="bg2">
              <a:lumMod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5" name="Прямоугольник 3"/>
          <p:cNvSpPr/>
          <p:nvPr userDrawn="1"/>
        </p:nvSpPr>
        <p:spPr>
          <a:xfrm>
            <a:off x="1085850" y="1009650"/>
            <a:ext cx="10020300" cy="52387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8" name="Рисунок 7"/>
          <p:cNvSpPr>
            <a:spLocks noGrp="1"/>
          </p:cNvSpPr>
          <p:nvPr>
            <p:ph type="pic" sz="quarter" idx="10"/>
          </p:nvPr>
        </p:nvSpPr>
        <p:spPr>
          <a:xfrm>
            <a:off x="1847850" y="2819400"/>
            <a:ext cx="8496300" cy="2800350"/>
          </a:xfrm>
          <a:prstGeom prst="rect">
            <a:avLst/>
          </a:prstGeom>
        </p:spPr>
        <p:txBody>
          <a:bodyPr/>
          <a:lstStyle/>
          <a:p>
            <a:pPr lvl="0"/>
            <a:endParaRPr lang="ru-RU" noProof="0" dirty="0"/>
          </a:p>
        </p:txBody>
      </p:sp>
    </p:spTree>
    <p:extLst>
      <p:ext uri="{BB962C8B-B14F-4D97-AF65-F5344CB8AC3E}">
        <p14:creationId xmlns:p14="http://schemas.microsoft.com/office/powerpoint/2010/main" val="397408168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endParaRPr lang="en-US">
              <a:solidFill>
                <a:prstClr val="black">
                  <a:tint val="75000"/>
                </a:prstClr>
              </a:solidFill>
            </a:endParaRPr>
          </a:p>
        </p:txBody>
      </p:sp>
      <p:sp>
        <p:nvSpPr>
          <p:cNvPr id="5" name="Footer Placeholder 4"/>
          <p:cNvSpPr>
            <a:spLocks noGrp="1"/>
          </p:cNvSpPr>
          <p:nvPr>
            <p:ph type="ftr" sz="quarter" idx="11"/>
          </p:nvPr>
        </p:nvSpPr>
        <p:spPr/>
        <p:txBody>
          <a:bodyPr/>
          <a:lstStyle/>
          <a:p>
            <a:r>
              <a:rPr lang="en-US">
                <a:solidFill>
                  <a:prstClr val="black">
                    <a:tint val="75000"/>
                  </a:prstClr>
                </a:solidFill>
              </a:rPr>
              <a:t>Er. Jagmeet Kaur, Asst. Prof., CSE, Chandigarh University</a:t>
            </a:r>
          </a:p>
        </p:txBody>
      </p:sp>
      <p:sp>
        <p:nvSpPr>
          <p:cNvPr id="6" name="Slide Number Placeholder 5"/>
          <p:cNvSpPr>
            <a:spLocks noGrp="1"/>
          </p:cNvSpPr>
          <p:nvPr>
            <p:ph type="sldNum" sz="quarter" idx="12"/>
          </p:nvPr>
        </p:nvSpPr>
        <p:spPr/>
        <p:txBody>
          <a:bodyPr/>
          <a:lstStyle/>
          <a:p>
            <a:fld id="{FC9A48AB-23F1-45F1-98E5-D2CDC7A5261D}"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10683537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Agenda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3302043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Basic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64638"/>
            <a:ext cx="12192000" cy="768085"/>
          </a:xfrm>
          <a:prstGeom prst="rect">
            <a:avLst/>
          </a:prstGeom>
        </p:spPr>
        <p:txBody>
          <a:bodyPr anchor="ctr"/>
          <a:lstStyle>
            <a:lvl1pPr marL="0" indent="0" algn="ctr">
              <a:buNone/>
              <a:defRPr sz="4800" b="0" baseline="0">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0" y="932723"/>
            <a:ext cx="12192000" cy="384043"/>
          </a:xfrm>
          <a:prstGeom prst="rect">
            <a:avLst/>
          </a:prstGeom>
        </p:spPr>
        <p:txBody>
          <a:bodyPr anchor="ctr"/>
          <a:lstStyle>
            <a:lvl1pPr marL="0" indent="0" algn="ctr">
              <a:buNone/>
              <a:defRPr sz="1867" b="0" baseline="0">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5" name="Rectangle 4"/>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270909644"/>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Basic Layout">
    <p:bg>
      <p:bgPr>
        <a:solidFill>
          <a:schemeClr val="bg1"/>
        </a:solid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64638"/>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0" y="932723"/>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5" name="Rectangle 4"/>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3227159557"/>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2_Basic Layout">
    <p:bg>
      <p:bgPr>
        <a:solidFill>
          <a:schemeClr val="bg1"/>
        </a:solid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2735627" y="164638"/>
            <a:ext cx="9456373" cy="768085"/>
          </a:xfrm>
          <a:prstGeom prst="rect">
            <a:avLst/>
          </a:prstGeom>
        </p:spPr>
        <p:txBody>
          <a:bodyPr anchor="ctr"/>
          <a:lstStyle>
            <a:lvl1pPr marL="0" indent="0" algn="l">
              <a:buNone/>
              <a:defRPr sz="4800" b="0" baseline="0">
                <a:solidFill>
                  <a:schemeClr val="tx1">
                    <a:lumMod val="75000"/>
                    <a:lumOff val="25000"/>
                  </a:schemeClr>
                </a:solidFill>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2735627" y="932723"/>
            <a:ext cx="9456373" cy="384043"/>
          </a:xfrm>
          <a:prstGeom prst="rect">
            <a:avLst/>
          </a:prstGeom>
        </p:spPr>
        <p:txBody>
          <a:bodyPr anchor="ctr"/>
          <a:lstStyle>
            <a:lvl1pPr marL="0" indent="0" algn="l">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5" name="Rectangle 4"/>
          <p:cNvSpPr/>
          <p:nvPr userDrawn="1"/>
        </p:nvSpPr>
        <p:spPr>
          <a:xfrm>
            <a:off x="0" y="1"/>
            <a:ext cx="2543605" cy="68641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3804378142"/>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0" y="2276872"/>
            <a:ext cx="12192000" cy="240026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3" name="Isosceles Triangle 2"/>
          <p:cNvSpPr/>
          <p:nvPr userDrawn="1"/>
        </p:nvSpPr>
        <p:spPr>
          <a:xfrm rot="10800000">
            <a:off x="1583392"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2" name="Isosceles Triangle 11"/>
          <p:cNvSpPr/>
          <p:nvPr userDrawn="1"/>
        </p:nvSpPr>
        <p:spPr>
          <a:xfrm rot="10800000">
            <a:off x="4463712"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3" name="Isosceles Triangle 12"/>
          <p:cNvSpPr/>
          <p:nvPr userDrawn="1"/>
        </p:nvSpPr>
        <p:spPr>
          <a:xfrm rot="10800000">
            <a:off x="7344032"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4" name="Isosceles Triangle 13"/>
          <p:cNvSpPr/>
          <p:nvPr userDrawn="1"/>
        </p:nvSpPr>
        <p:spPr>
          <a:xfrm rot="10800000">
            <a:off x="10224348"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5" name="Rectangle 14"/>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16" name="Rectangle 15"/>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17" name="Picture Placeholder 2"/>
          <p:cNvSpPr>
            <a:spLocks noGrp="1"/>
          </p:cNvSpPr>
          <p:nvPr>
            <p:ph type="pic" idx="1" hasCustomPrompt="1"/>
          </p:nvPr>
        </p:nvSpPr>
        <p:spPr>
          <a:xfrm>
            <a:off x="815413"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8" name="Picture Placeholder 2"/>
          <p:cNvSpPr>
            <a:spLocks noGrp="1"/>
          </p:cNvSpPr>
          <p:nvPr>
            <p:ph type="pic" idx="12" hasCustomPrompt="1"/>
          </p:nvPr>
        </p:nvSpPr>
        <p:spPr>
          <a:xfrm>
            <a:off x="3695732"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9" name="Picture Placeholder 2"/>
          <p:cNvSpPr>
            <a:spLocks noGrp="1"/>
          </p:cNvSpPr>
          <p:nvPr>
            <p:ph type="pic" idx="13" hasCustomPrompt="1"/>
          </p:nvPr>
        </p:nvSpPr>
        <p:spPr>
          <a:xfrm>
            <a:off x="6576051"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20" name="Picture Placeholder 2"/>
          <p:cNvSpPr>
            <a:spLocks noGrp="1"/>
          </p:cNvSpPr>
          <p:nvPr>
            <p:ph type="pic" idx="14" hasCustomPrompt="1"/>
          </p:nvPr>
        </p:nvSpPr>
        <p:spPr>
          <a:xfrm>
            <a:off x="9456369"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277721753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_Images and Contents Layout">
    <p:spTree>
      <p:nvGrpSpPr>
        <p:cNvPr id="1" name=""/>
        <p:cNvGrpSpPr/>
        <p:nvPr/>
      </p:nvGrpSpPr>
      <p:grpSpPr>
        <a:xfrm>
          <a:off x="0" y="0"/>
          <a:ext cx="0" cy="0"/>
          <a:chOff x="0" y="0"/>
          <a:chExt cx="0" cy="0"/>
        </a:xfrm>
      </p:grpSpPr>
      <p:sp>
        <p:nvSpPr>
          <p:cNvPr id="2" name="Rectangle 1"/>
          <p:cNvSpPr/>
          <p:nvPr userDrawn="1"/>
        </p:nvSpPr>
        <p:spPr>
          <a:xfrm>
            <a:off x="5231904" y="2276872"/>
            <a:ext cx="5711957" cy="393643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black">
                  <a:lumMod val="75000"/>
                  <a:lumOff val="25000"/>
                </a:prstClr>
              </a:solidFill>
            </a:endParaRPr>
          </a:p>
        </p:txBody>
      </p:sp>
      <p:sp>
        <p:nvSpPr>
          <p:cNvPr id="7" name="Picture Placeholder 2"/>
          <p:cNvSpPr>
            <a:spLocks noGrp="1"/>
          </p:cNvSpPr>
          <p:nvPr>
            <p:ph type="pic" idx="1" hasCustomPrompt="1"/>
          </p:nvPr>
        </p:nvSpPr>
        <p:spPr>
          <a:xfrm>
            <a:off x="1103445" y="1412776"/>
            <a:ext cx="4560000" cy="3696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56200522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2_Images and Contents Layout">
    <p:spTree>
      <p:nvGrpSpPr>
        <p:cNvPr id="1" name=""/>
        <p:cNvGrpSpPr/>
        <p:nvPr/>
      </p:nvGrpSpPr>
      <p:grpSpPr>
        <a:xfrm>
          <a:off x="0" y="0"/>
          <a:ext cx="0" cy="0"/>
          <a:chOff x="0" y="0"/>
          <a:chExt cx="0" cy="0"/>
        </a:xfrm>
      </p:grpSpPr>
      <p:sp>
        <p:nvSpPr>
          <p:cNvPr id="7" name="Picture Placeholder 2"/>
          <p:cNvSpPr>
            <a:spLocks noGrp="1"/>
          </p:cNvSpPr>
          <p:nvPr>
            <p:ph type="pic" idx="1" hasCustomPrompt="1"/>
          </p:nvPr>
        </p:nvSpPr>
        <p:spPr>
          <a:xfrm>
            <a:off x="0" y="990600"/>
            <a:ext cx="3887755" cy="58674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8" name="Picture Placeholder 2"/>
          <p:cNvSpPr>
            <a:spLocks noGrp="1"/>
          </p:cNvSpPr>
          <p:nvPr>
            <p:ph type="pic" idx="11" hasCustomPrompt="1"/>
          </p:nvPr>
        </p:nvSpPr>
        <p:spPr>
          <a:xfrm>
            <a:off x="4079776" y="0"/>
            <a:ext cx="8112224" cy="3621021"/>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15957474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3_Images and Contents Layout">
    <p:spTree>
      <p:nvGrpSpPr>
        <p:cNvPr id="1" name=""/>
        <p:cNvGrpSpPr/>
        <p:nvPr/>
      </p:nvGrpSpPr>
      <p:grpSpPr>
        <a:xfrm>
          <a:off x="0" y="0"/>
          <a:ext cx="0" cy="0"/>
          <a:chOff x="0" y="0"/>
          <a:chExt cx="0" cy="0"/>
        </a:xfrm>
      </p:grpSpPr>
      <p:sp>
        <p:nvSpPr>
          <p:cNvPr id="9" name="Picture Placeholder 2"/>
          <p:cNvSpPr>
            <a:spLocks noGrp="1"/>
          </p:cNvSpPr>
          <p:nvPr>
            <p:ph type="pic" idx="1" hasCustomPrompt="1"/>
          </p:nvPr>
        </p:nvSpPr>
        <p:spPr>
          <a:xfrm>
            <a:off x="0" y="1013496"/>
            <a:ext cx="3887755" cy="356763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2" name="Picture Placeholder 2"/>
          <p:cNvSpPr>
            <a:spLocks noGrp="1"/>
          </p:cNvSpPr>
          <p:nvPr>
            <p:ph type="pic" idx="10" hasCustomPrompt="1"/>
          </p:nvPr>
        </p:nvSpPr>
        <p:spPr>
          <a:xfrm>
            <a:off x="8304245" y="0"/>
            <a:ext cx="3887755" cy="45811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3" name="Picture Placeholder 2"/>
          <p:cNvSpPr>
            <a:spLocks noGrp="1"/>
          </p:cNvSpPr>
          <p:nvPr>
            <p:ph type="pic" idx="11" hasCustomPrompt="1"/>
          </p:nvPr>
        </p:nvSpPr>
        <p:spPr>
          <a:xfrm>
            <a:off x="0" y="4773149"/>
            <a:ext cx="6096000" cy="2084851"/>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394759519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4_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595027" y="4101331"/>
            <a:ext cx="2400000" cy="2304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1600">
              <a:solidFill>
                <a:prstClr val="black">
                  <a:lumMod val="75000"/>
                  <a:lumOff val="25000"/>
                </a:prstClr>
              </a:solidFill>
            </a:endParaRPr>
          </a:p>
        </p:txBody>
      </p:sp>
      <p:sp>
        <p:nvSpPr>
          <p:cNvPr id="12" name="Rectangle 11"/>
          <p:cNvSpPr/>
          <p:nvPr userDrawn="1"/>
        </p:nvSpPr>
        <p:spPr>
          <a:xfrm>
            <a:off x="9196973" y="1700808"/>
            <a:ext cx="2400000" cy="2304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1600">
              <a:solidFill>
                <a:prstClr val="black">
                  <a:lumMod val="75000"/>
                  <a:lumOff val="25000"/>
                </a:prstClr>
              </a:solidFill>
            </a:endParaRPr>
          </a:p>
        </p:txBody>
      </p:sp>
      <p:sp>
        <p:nvSpPr>
          <p:cNvPr id="13" name="Picture Placeholder 2"/>
          <p:cNvSpPr>
            <a:spLocks noGrp="1"/>
          </p:cNvSpPr>
          <p:nvPr>
            <p:ph type="pic" idx="12" hasCustomPrompt="1"/>
          </p:nvPr>
        </p:nvSpPr>
        <p:spPr>
          <a:xfrm>
            <a:off x="595027" y="1700808"/>
            <a:ext cx="2400000"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4" name="Picture Placeholder 2"/>
          <p:cNvSpPr>
            <a:spLocks noGrp="1"/>
          </p:cNvSpPr>
          <p:nvPr>
            <p:ph type="pic" idx="13" hasCustomPrompt="1"/>
          </p:nvPr>
        </p:nvSpPr>
        <p:spPr>
          <a:xfrm>
            <a:off x="9196973" y="4101331"/>
            <a:ext cx="2400000"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5" name="Picture Placeholder 2"/>
          <p:cNvSpPr>
            <a:spLocks noGrp="1"/>
          </p:cNvSpPr>
          <p:nvPr>
            <p:ph type="pic" idx="14" hasCustomPrompt="1"/>
          </p:nvPr>
        </p:nvSpPr>
        <p:spPr>
          <a:xfrm>
            <a:off x="3119669" y="4101331"/>
            <a:ext cx="5952663"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6" name="Picture Placeholder 2"/>
          <p:cNvSpPr>
            <a:spLocks noGrp="1"/>
          </p:cNvSpPr>
          <p:nvPr>
            <p:ph type="pic" idx="15" hasCustomPrompt="1"/>
          </p:nvPr>
        </p:nvSpPr>
        <p:spPr>
          <a:xfrm>
            <a:off x="3119669" y="1700808"/>
            <a:ext cx="5952663"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427835944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5_Images and Contents Layout">
    <p:spTree>
      <p:nvGrpSpPr>
        <p:cNvPr id="1" name=""/>
        <p:cNvGrpSpPr/>
        <p:nvPr/>
      </p:nvGrpSpPr>
      <p:grpSpPr>
        <a:xfrm>
          <a:off x="0" y="0"/>
          <a:ext cx="0" cy="0"/>
          <a:chOff x="0" y="0"/>
          <a:chExt cx="0" cy="0"/>
        </a:xfrm>
      </p:grpSpPr>
      <p:sp>
        <p:nvSpPr>
          <p:cNvPr id="16" name="Picture Placeholder 2"/>
          <p:cNvSpPr>
            <a:spLocks noGrp="1"/>
          </p:cNvSpPr>
          <p:nvPr>
            <p:ph type="pic" idx="12" hasCustomPrompt="1"/>
          </p:nvPr>
        </p:nvSpPr>
        <p:spPr>
          <a:xfrm>
            <a:off x="709650" y="480055"/>
            <a:ext cx="4224469" cy="4197085"/>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7" name="Picture Placeholder 2"/>
          <p:cNvSpPr>
            <a:spLocks noGrp="1"/>
          </p:cNvSpPr>
          <p:nvPr>
            <p:ph type="pic" idx="13" hasCustomPrompt="1"/>
          </p:nvPr>
        </p:nvSpPr>
        <p:spPr>
          <a:xfrm>
            <a:off x="5126140" y="480056"/>
            <a:ext cx="6336704" cy="2296105"/>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8" name="Picture Placeholder 2"/>
          <p:cNvSpPr>
            <a:spLocks noGrp="1"/>
          </p:cNvSpPr>
          <p:nvPr>
            <p:ph type="pic" idx="14" hasCustomPrompt="1"/>
          </p:nvPr>
        </p:nvSpPr>
        <p:spPr>
          <a:xfrm>
            <a:off x="5126140" y="2948948"/>
            <a:ext cx="1968000" cy="172819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9" name="Picture Placeholder 2"/>
          <p:cNvSpPr>
            <a:spLocks noGrp="1"/>
          </p:cNvSpPr>
          <p:nvPr>
            <p:ph type="pic" idx="16" hasCustomPrompt="1"/>
          </p:nvPr>
        </p:nvSpPr>
        <p:spPr>
          <a:xfrm>
            <a:off x="7310492" y="2948948"/>
            <a:ext cx="1968000" cy="172819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20" name="Picture Placeholder 2"/>
          <p:cNvSpPr>
            <a:spLocks noGrp="1"/>
          </p:cNvSpPr>
          <p:nvPr>
            <p:ph type="pic" idx="17" hasCustomPrompt="1"/>
          </p:nvPr>
        </p:nvSpPr>
        <p:spPr>
          <a:xfrm>
            <a:off x="9494844" y="2948948"/>
            <a:ext cx="1968000" cy="172819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270230215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7_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pic>
        <p:nvPicPr>
          <p:cNvPr id="5" name="그림 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546767" y="2276873"/>
            <a:ext cx="7238124" cy="3966041"/>
          </a:xfrm>
          <a:prstGeom prst="rect">
            <a:avLst/>
          </a:prstGeom>
        </p:spPr>
      </p:pic>
      <p:sp>
        <p:nvSpPr>
          <p:cNvPr id="7" name="Picture Placeholder 2"/>
          <p:cNvSpPr>
            <a:spLocks noGrp="1"/>
          </p:cNvSpPr>
          <p:nvPr>
            <p:ph type="pic" idx="1" hasCustomPrompt="1"/>
          </p:nvPr>
        </p:nvSpPr>
        <p:spPr>
          <a:xfrm>
            <a:off x="5705875" y="2485912"/>
            <a:ext cx="4832891" cy="3124239"/>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8" name="Rectangle 7"/>
          <p:cNvSpPr/>
          <p:nvPr userDrawn="1"/>
        </p:nvSpPr>
        <p:spPr>
          <a:xfrm>
            <a:off x="4037371" y="1"/>
            <a:ext cx="4128459" cy="60959"/>
          </a:xfrm>
          <a:prstGeom prst="rect">
            <a:avLst/>
          </a:prstGeom>
          <a:solidFill>
            <a:srgbClr val="EB494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9" name="Rectangle 8"/>
          <p:cNvSpPr/>
          <p:nvPr userDrawn="1"/>
        </p:nvSpPr>
        <p:spPr>
          <a:xfrm>
            <a:off x="0" y="6753308"/>
            <a:ext cx="12192000" cy="110875"/>
          </a:xfrm>
          <a:prstGeom prst="rect">
            <a:avLst/>
          </a:prstGeom>
          <a:solidFill>
            <a:srgbClr val="EB494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221804153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8_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pic>
        <p:nvPicPr>
          <p:cNvPr id="5" name="Picture 4" descr="D:\Fullppt\005-PNG이미지\모니터.png"/>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776400" y="1815747"/>
            <a:ext cx="3360373" cy="3350541"/>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descr="D:\Fullppt\005-PNG이미지\모니터.png"/>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4406826" y="1815747"/>
            <a:ext cx="3360373" cy="3350541"/>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8" descr="D:\Fullppt\005-PNG이미지\모니터.png"/>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037251" y="1815747"/>
            <a:ext cx="3360373" cy="3350541"/>
          </a:xfrm>
          <a:prstGeom prst="rect">
            <a:avLst/>
          </a:prstGeom>
          <a:noFill/>
          <a:extLst>
            <a:ext uri="{909E8E84-426E-40DD-AFC4-6F175D3DCCD1}">
              <a14:hiddenFill xmlns:a14="http://schemas.microsoft.com/office/drawing/2010/main">
                <a:solidFill>
                  <a:srgbClr val="FFFFFF"/>
                </a:solidFill>
              </a14:hiddenFill>
            </a:ext>
          </a:extLst>
        </p:spPr>
      </p:pic>
      <p:sp>
        <p:nvSpPr>
          <p:cNvPr id="13" name="Picture Placeholder 2"/>
          <p:cNvSpPr>
            <a:spLocks noGrp="1"/>
          </p:cNvSpPr>
          <p:nvPr>
            <p:ph type="pic" idx="1" hasCustomPrompt="1"/>
          </p:nvPr>
        </p:nvSpPr>
        <p:spPr>
          <a:xfrm>
            <a:off x="909901" y="1957962"/>
            <a:ext cx="3073864" cy="20800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4" name="Picture Placeholder 2"/>
          <p:cNvSpPr>
            <a:spLocks noGrp="1"/>
          </p:cNvSpPr>
          <p:nvPr>
            <p:ph type="pic" idx="12" hasCustomPrompt="1"/>
          </p:nvPr>
        </p:nvSpPr>
        <p:spPr>
          <a:xfrm>
            <a:off x="4539561" y="1957962"/>
            <a:ext cx="3073864" cy="20800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5" name="Picture Placeholder 2"/>
          <p:cNvSpPr>
            <a:spLocks noGrp="1"/>
          </p:cNvSpPr>
          <p:nvPr>
            <p:ph type="pic" idx="13" hasCustomPrompt="1"/>
          </p:nvPr>
        </p:nvSpPr>
        <p:spPr>
          <a:xfrm>
            <a:off x="8169221" y="1957962"/>
            <a:ext cx="3073864" cy="20800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6" name="Rectangle 15"/>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17" name="Rectangle 16"/>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407940683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9_Images and Contents Layout">
    <p:spTree>
      <p:nvGrpSpPr>
        <p:cNvPr id="1" name=""/>
        <p:cNvGrpSpPr/>
        <p:nvPr/>
      </p:nvGrpSpPr>
      <p:grpSpPr>
        <a:xfrm>
          <a:off x="0" y="0"/>
          <a:ext cx="0" cy="0"/>
          <a:chOff x="0" y="0"/>
          <a:chExt cx="0" cy="0"/>
        </a:xfrm>
      </p:grpSpPr>
      <p:sp>
        <p:nvSpPr>
          <p:cNvPr id="6" name="Picture Placeholder 2"/>
          <p:cNvSpPr>
            <a:spLocks noGrp="1"/>
          </p:cNvSpPr>
          <p:nvPr>
            <p:ph type="pic" idx="1" hasCustomPrompt="1"/>
          </p:nvPr>
        </p:nvSpPr>
        <p:spPr>
          <a:xfrm>
            <a:off x="0" y="0"/>
            <a:ext cx="12192000" cy="4101075"/>
          </a:xfrm>
          <a:prstGeom prst="rect">
            <a:avLst/>
          </a:prstGeom>
          <a:solidFill>
            <a:schemeClr val="bg1">
              <a:lumMod val="8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2014657143"/>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icon se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64638"/>
            <a:ext cx="12192000" cy="768085"/>
          </a:xfrm>
          <a:prstGeom prst="rect">
            <a:avLst/>
          </a:prstGeom>
        </p:spPr>
        <p:txBody>
          <a:bodyPr anchor="ctr"/>
          <a:lstStyle>
            <a:lvl1pPr marL="0" indent="0" algn="ctr">
              <a:buNone/>
              <a:defRPr sz="4800" b="0" baseline="0">
                <a:latin typeface="+mj-lt"/>
                <a:cs typeface="Arial" pitchFamily="34" charset="0"/>
              </a:defRPr>
            </a:lvl1pPr>
          </a:lstStyle>
          <a:p>
            <a:pPr lvl="0"/>
            <a:r>
              <a:rPr lang="en-US" altLang="ko-KR" dirty="0"/>
              <a:t>ICON SETS LAYOUT</a:t>
            </a:r>
          </a:p>
        </p:txBody>
      </p:sp>
      <p:grpSp>
        <p:nvGrpSpPr>
          <p:cNvPr id="5" name="Group 4"/>
          <p:cNvGrpSpPr/>
          <p:nvPr userDrawn="1"/>
        </p:nvGrpSpPr>
        <p:grpSpPr>
          <a:xfrm>
            <a:off x="472011" y="1508786"/>
            <a:ext cx="3799787" cy="4865561"/>
            <a:chOff x="354008" y="1131589"/>
            <a:chExt cx="2849840" cy="3649171"/>
          </a:xfrm>
        </p:grpSpPr>
        <p:sp>
          <p:nvSpPr>
            <p:cNvPr id="6" name="Rounded Rectangle 5"/>
            <p:cNvSpPr/>
            <p:nvPr/>
          </p:nvSpPr>
          <p:spPr>
            <a:xfrm>
              <a:off x="354008" y="1131589"/>
              <a:ext cx="2849840" cy="3649171"/>
            </a:xfrm>
            <a:prstGeom prst="roundRect">
              <a:avLst>
                <a:gd name="adj" fmla="val 3968"/>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ko-KR" altLang="en-US" sz="2400" dirty="0">
                <a:solidFill>
                  <a:prstClr val="white"/>
                </a:solidFill>
              </a:endParaRPr>
            </a:p>
          </p:txBody>
        </p:sp>
        <p:sp>
          <p:nvSpPr>
            <p:cNvPr id="9" name="Rounded Rectangle 8"/>
            <p:cNvSpPr/>
            <p:nvPr/>
          </p:nvSpPr>
          <p:spPr>
            <a:xfrm>
              <a:off x="531932" y="1347500"/>
              <a:ext cx="108520" cy="3240473"/>
            </a:xfrm>
            <a:prstGeom prst="roundRect">
              <a:avLst>
                <a:gd name="adj" fmla="val 50000"/>
              </a:avLst>
            </a:prstGeom>
            <a:solidFill>
              <a:schemeClr val="bg1">
                <a:alpha val="4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ko-KR" altLang="en-US" sz="2400">
                <a:solidFill>
                  <a:prstClr val="white"/>
                </a:solidFill>
              </a:endParaRPr>
            </a:p>
          </p:txBody>
        </p:sp>
        <p:sp>
          <p:nvSpPr>
            <p:cNvPr id="12" name="Half Frame 11"/>
            <p:cNvSpPr/>
            <p:nvPr/>
          </p:nvSpPr>
          <p:spPr>
            <a:xfrm rot="5400000">
              <a:off x="2592642" y="1238201"/>
              <a:ext cx="502331" cy="502331"/>
            </a:xfrm>
            <a:prstGeom prst="halfFrame">
              <a:avLst>
                <a:gd name="adj1" fmla="val 23728"/>
                <a:gd name="adj2" fmla="val 24642"/>
              </a:avLst>
            </a:prstGeom>
            <a:solidFill>
              <a:schemeClr val="bg1">
                <a:alpha val="2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ko-KR" altLang="en-US" sz="2400">
                <a:solidFill>
                  <a:prstClr val="black"/>
                </a:solidFill>
              </a:endParaRPr>
            </a:p>
          </p:txBody>
        </p:sp>
      </p:grpSp>
    </p:spTree>
    <p:extLst>
      <p:ext uri="{BB962C8B-B14F-4D97-AF65-F5344CB8AC3E}">
        <p14:creationId xmlns:p14="http://schemas.microsoft.com/office/powerpoint/2010/main" val="26219781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4.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3.png"/><Relationship Id="rId2" Type="http://schemas.openxmlformats.org/officeDocument/2006/relationships/slideLayout" Target="../slideLayouts/slideLayout2.xml"/><Relationship Id="rId16"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13" Type="http://schemas.openxmlformats.org/officeDocument/2006/relationships/slideLayout" Target="../slideLayouts/slideLayout26.xml"/><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slideLayout" Target="../slideLayouts/slideLayout25.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5" Type="http://schemas.openxmlformats.org/officeDocument/2006/relationships/theme" Target="../theme/theme2.xml"/><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 Id="rId14"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5">
            <a:lum/>
          </a:blip>
          <a:srcRect/>
          <a:stretch>
            <a:fillRect l="1000" t="-1000" r="1000"/>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Er. Jagmeet Kaur, Asst. Prof., CSE, Chandigarh University</a:t>
            </a: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DCDBBEF-AA6C-4BA6-85B2-A17D7F280E38}" type="slidenum">
              <a:rPr lang="en-US" smtClean="0"/>
              <a:pPr/>
              <a:t>‹#›</a:t>
            </a:fld>
            <a:endParaRPr lang="en-US"/>
          </a:p>
        </p:txBody>
      </p:sp>
      <p:pic>
        <p:nvPicPr>
          <p:cNvPr id="7" name="Picture 6">
            <a:extLst>
              <a:ext uri="{FF2B5EF4-FFF2-40B4-BE49-F238E27FC236}">
                <a16:creationId xmlns:a16="http://schemas.microsoft.com/office/drawing/2014/main" id="{FFF56787-F6C6-11A1-22AB-1674220D1919}"/>
              </a:ext>
            </a:extLst>
          </p:cNvPr>
          <p:cNvPicPr>
            <a:picLocks noChangeAspect="1"/>
          </p:cNvPicPr>
          <p:nvPr userDrawn="1"/>
        </p:nvPicPr>
        <p:blipFill>
          <a:blip r:embed="rId16" cstate="print">
            <a:extLst>
              <a:ext uri="{28A0092B-C50C-407E-A947-70E740481C1C}">
                <a14:useLocalDpi xmlns:a14="http://schemas.microsoft.com/office/drawing/2010/main" val="0"/>
              </a:ext>
            </a:extLst>
          </a:blip>
          <a:stretch>
            <a:fillRect/>
          </a:stretch>
        </p:blipFill>
        <p:spPr>
          <a:xfrm>
            <a:off x="8313446" y="0"/>
            <a:ext cx="882927" cy="785252"/>
          </a:xfrm>
          <a:prstGeom prst="rect">
            <a:avLst/>
          </a:prstGeom>
        </p:spPr>
      </p:pic>
      <p:pic>
        <p:nvPicPr>
          <p:cNvPr id="8" name="Picture 7" descr="National Board of Accreditation - Wikipedia">
            <a:extLst>
              <a:ext uri="{FF2B5EF4-FFF2-40B4-BE49-F238E27FC236}">
                <a16:creationId xmlns:a16="http://schemas.microsoft.com/office/drawing/2014/main" id="{AED016AA-03C5-D553-069D-604E413BE1F3}"/>
              </a:ext>
            </a:extLst>
          </p:cNvPr>
          <p:cNvPicPr/>
          <p:nvPr userDrawn="1"/>
        </p:nvPicPr>
        <p:blipFill>
          <a:blip r:embed="rId17" cstate="print">
            <a:extLst>
              <a:ext uri="{28A0092B-C50C-407E-A947-70E740481C1C}">
                <a14:useLocalDpi xmlns:a14="http://schemas.microsoft.com/office/drawing/2010/main" val="0"/>
              </a:ext>
            </a:extLst>
          </a:blip>
          <a:srcRect/>
          <a:stretch>
            <a:fillRect/>
          </a:stretch>
        </p:blipFill>
        <p:spPr bwMode="auto">
          <a:xfrm>
            <a:off x="9196373" y="49261"/>
            <a:ext cx="1079146" cy="688340"/>
          </a:xfrm>
          <a:prstGeom prst="rect">
            <a:avLst/>
          </a:prstGeom>
          <a:noFill/>
          <a:ln>
            <a:noFill/>
          </a:ln>
        </p:spPr>
      </p:pic>
      <p:pic>
        <p:nvPicPr>
          <p:cNvPr id="9" name="Picture 8">
            <a:extLst>
              <a:ext uri="{FF2B5EF4-FFF2-40B4-BE49-F238E27FC236}">
                <a16:creationId xmlns:a16="http://schemas.microsoft.com/office/drawing/2014/main" id="{922AE50B-010F-3E3E-A153-3F1B2EEC65BC}"/>
              </a:ext>
            </a:extLst>
          </p:cNvPr>
          <p:cNvPicPr>
            <a:picLocks noChangeAspect="1"/>
          </p:cNvPicPr>
          <p:nvPr userDrawn="1"/>
        </p:nvPicPr>
        <p:blipFill>
          <a:blip r:embed="rId18" cstate="print">
            <a:extLst>
              <a:ext uri="{28A0092B-C50C-407E-A947-70E740481C1C}">
                <a14:useLocalDpi xmlns:a14="http://schemas.microsoft.com/office/drawing/2010/main" val="0"/>
              </a:ext>
            </a:extLst>
          </a:blip>
          <a:stretch>
            <a:fillRect/>
          </a:stretch>
        </p:blipFill>
        <p:spPr>
          <a:xfrm>
            <a:off x="10275519" y="58916"/>
            <a:ext cx="1916480" cy="641551"/>
          </a:xfrm>
          <a:prstGeom prst="rect">
            <a:avLst/>
          </a:prstGeom>
        </p:spPr>
      </p:pic>
    </p:spTree>
    <p:extLst>
      <p:ext uri="{BB962C8B-B14F-4D97-AF65-F5344CB8AC3E}">
        <p14:creationId xmlns:p14="http://schemas.microsoft.com/office/powerpoint/2010/main" val="3333391393"/>
      </p:ext>
    </p:extLst>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60" r:id="rId12"/>
    <p:sldLayoutId id="2147483701" r:id="rId13"/>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48544627"/>
      </p:ext>
    </p:extLst>
  </p:cSld>
  <p:clrMap bg1="lt1" tx1="dk1" bg2="lt2" tx2="dk2" accent1="accent1" accent2="accent2" accent3="accent3" accent4="accent4" accent5="accent5" accent6="accent6" hlink="hlink" folHlink="folHlink"/>
  <p:sldLayoutIdLst>
    <p:sldLayoutId id="2147483687" r:id="rId1"/>
    <p:sldLayoutId id="2147483688" r:id="rId2"/>
    <p:sldLayoutId id="2147483689" r:id="rId3"/>
    <p:sldLayoutId id="2147483690" r:id="rId4"/>
    <p:sldLayoutId id="2147483691" r:id="rId5"/>
    <p:sldLayoutId id="2147483692" r:id="rId6"/>
    <p:sldLayoutId id="2147483693" r:id="rId7"/>
    <p:sldLayoutId id="2147483694" r:id="rId8"/>
    <p:sldLayoutId id="2147483695" r:id="rId9"/>
    <p:sldLayoutId id="2147483696" r:id="rId10"/>
    <p:sldLayoutId id="2147483697" r:id="rId11"/>
    <p:sldLayoutId id="2147483698" r:id="rId12"/>
    <p:sldLayoutId id="2147483699" r:id="rId13"/>
    <p:sldLayoutId id="2147483700" r:id="rId14"/>
  </p:sldLayoutIdLst>
  <p:hf hdr="0" ftr="0" dt="0"/>
  <p:txStyles>
    <p:titleStyle>
      <a:lvl1pPr algn="ctr" defTabSz="1219170" rtl="0" eaLnBrk="1" latinLnBrk="1" hangingPunct="1">
        <a:spcBef>
          <a:spcPct val="0"/>
        </a:spcBef>
        <a:buNone/>
        <a:defRPr sz="5867" kern="1200">
          <a:solidFill>
            <a:schemeClr val="tx1"/>
          </a:solidFill>
          <a:latin typeface="+mj-lt"/>
          <a:ea typeface="+mj-ea"/>
          <a:cs typeface="+mj-cs"/>
        </a:defRPr>
      </a:lvl1pPr>
    </p:titleStyle>
    <p:bodyStyle>
      <a:lvl1pPr marL="457189" indent="-457189" algn="l" defTabSz="1219170" rtl="0" eaLnBrk="1" latinLnBrk="1" hangingPunct="1">
        <a:spcBef>
          <a:spcPct val="20000"/>
        </a:spcBef>
        <a:buFont typeface="Arial" pitchFamily="34" charset="0"/>
        <a:buChar char="•"/>
        <a:defRPr sz="4267" kern="1200">
          <a:solidFill>
            <a:schemeClr val="tx1"/>
          </a:solidFill>
          <a:latin typeface="+mn-lt"/>
          <a:ea typeface="+mn-ea"/>
          <a:cs typeface="+mn-cs"/>
        </a:defRPr>
      </a:lvl1pPr>
      <a:lvl2pPr marL="990575" indent="-380990" algn="l" defTabSz="1219170" rtl="0" eaLnBrk="1" latinLnBrk="1" hangingPunct="1">
        <a:spcBef>
          <a:spcPct val="20000"/>
        </a:spcBef>
        <a:buFont typeface="Arial" pitchFamily="34" charset="0"/>
        <a:buChar char="–"/>
        <a:defRPr sz="3733" kern="1200">
          <a:solidFill>
            <a:schemeClr val="tx1"/>
          </a:solidFill>
          <a:latin typeface="+mn-lt"/>
          <a:ea typeface="+mn-ea"/>
          <a:cs typeface="+mn-cs"/>
        </a:defRPr>
      </a:lvl2pPr>
      <a:lvl3pPr marL="1523962" indent="-304792" algn="l" defTabSz="1219170" rtl="0" eaLnBrk="1" latinLnBrk="1" hangingPunct="1">
        <a:spcBef>
          <a:spcPct val="20000"/>
        </a:spcBef>
        <a:buFont typeface="Arial" pitchFamily="34" charset="0"/>
        <a:buChar char="•"/>
        <a:defRPr sz="3200" kern="1200">
          <a:solidFill>
            <a:schemeClr val="tx1"/>
          </a:solidFill>
          <a:latin typeface="+mn-lt"/>
          <a:ea typeface="+mn-ea"/>
          <a:cs typeface="+mn-cs"/>
        </a:defRPr>
      </a:lvl3pPr>
      <a:lvl4pPr marL="2133547"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4pPr>
      <a:lvl5pPr marL="2743131"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5pPr>
      <a:lvl6pPr marL="3352716"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6pPr>
      <a:lvl7pPr marL="3962301"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7pPr>
      <a:lvl8pPr marL="4571886"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8pPr>
      <a:lvl9pPr marL="5181470"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9pPr>
    </p:bodyStyle>
    <p:otherStyle>
      <a:defPPr>
        <a:defRPr lang="ko-KR"/>
      </a:defPPr>
      <a:lvl1pPr marL="0" algn="l" defTabSz="1219170" rtl="0" eaLnBrk="1" latinLnBrk="1" hangingPunct="1">
        <a:defRPr sz="2400" kern="1200">
          <a:solidFill>
            <a:schemeClr val="tx1"/>
          </a:solidFill>
          <a:latin typeface="+mn-lt"/>
          <a:ea typeface="+mn-ea"/>
          <a:cs typeface="+mn-cs"/>
        </a:defRPr>
      </a:lvl1pPr>
      <a:lvl2pPr marL="609585" algn="l" defTabSz="1219170" rtl="0" eaLnBrk="1" latinLnBrk="1" hangingPunct="1">
        <a:defRPr sz="2400" kern="1200">
          <a:solidFill>
            <a:schemeClr val="tx1"/>
          </a:solidFill>
          <a:latin typeface="+mn-lt"/>
          <a:ea typeface="+mn-ea"/>
          <a:cs typeface="+mn-cs"/>
        </a:defRPr>
      </a:lvl2pPr>
      <a:lvl3pPr marL="1219170" algn="l" defTabSz="1219170" rtl="0" eaLnBrk="1" latinLnBrk="1" hangingPunct="1">
        <a:defRPr sz="2400" kern="1200">
          <a:solidFill>
            <a:schemeClr val="tx1"/>
          </a:solidFill>
          <a:latin typeface="+mn-lt"/>
          <a:ea typeface="+mn-ea"/>
          <a:cs typeface="+mn-cs"/>
        </a:defRPr>
      </a:lvl3pPr>
      <a:lvl4pPr marL="1828754" algn="l" defTabSz="1219170" rtl="0" eaLnBrk="1" latinLnBrk="1" hangingPunct="1">
        <a:defRPr sz="2400" kern="1200">
          <a:solidFill>
            <a:schemeClr val="tx1"/>
          </a:solidFill>
          <a:latin typeface="+mn-lt"/>
          <a:ea typeface="+mn-ea"/>
          <a:cs typeface="+mn-cs"/>
        </a:defRPr>
      </a:lvl4pPr>
      <a:lvl5pPr marL="2438339" algn="l" defTabSz="1219170" rtl="0" eaLnBrk="1" latinLnBrk="1" hangingPunct="1">
        <a:defRPr sz="2400" kern="1200">
          <a:solidFill>
            <a:schemeClr val="tx1"/>
          </a:solidFill>
          <a:latin typeface="+mn-lt"/>
          <a:ea typeface="+mn-ea"/>
          <a:cs typeface="+mn-cs"/>
        </a:defRPr>
      </a:lvl5pPr>
      <a:lvl6pPr marL="3047924" algn="l" defTabSz="1219170" rtl="0" eaLnBrk="1" latinLnBrk="1" hangingPunct="1">
        <a:defRPr sz="2400" kern="1200">
          <a:solidFill>
            <a:schemeClr val="tx1"/>
          </a:solidFill>
          <a:latin typeface="+mn-lt"/>
          <a:ea typeface="+mn-ea"/>
          <a:cs typeface="+mn-cs"/>
        </a:defRPr>
      </a:lvl6pPr>
      <a:lvl7pPr marL="3657509" algn="l" defTabSz="1219170" rtl="0" eaLnBrk="1" latinLnBrk="1" hangingPunct="1">
        <a:defRPr sz="2400" kern="1200">
          <a:solidFill>
            <a:schemeClr val="tx1"/>
          </a:solidFill>
          <a:latin typeface="+mn-lt"/>
          <a:ea typeface="+mn-ea"/>
          <a:cs typeface="+mn-cs"/>
        </a:defRPr>
      </a:lvl7pPr>
      <a:lvl8pPr marL="4267093" algn="l" defTabSz="1219170" rtl="0" eaLnBrk="1" latinLnBrk="1" hangingPunct="1">
        <a:defRPr sz="2400" kern="1200">
          <a:solidFill>
            <a:schemeClr val="tx1"/>
          </a:solidFill>
          <a:latin typeface="+mn-lt"/>
          <a:ea typeface="+mn-ea"/>
          <a:cs typeface="+mn-cs"/>
        </a:defRPr>
      </a:lvl8pPr>
      <a:lvl9pPr marL="4876678" algn="l" defTabSz="1219170" rtl="0" eaLnBrk="1" latinLnBrk="1"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hyperlink" Target="https://www.usability.gov/what-and-why/user-interface-design.html" TargetMode="External"/><Relationship Id="rId2" Type="http://schemas.openxmlformats.org/officeDocument/2006/relationships/hyperlink" Target="https://www.tutorialspoint.com/software_engineering/software_user_interface_design.htm" TargetMode="External"/><Relationship Id="rId1" Type="http://schemas.openxmlformats.org/officeDocument/2006/relationships/slideLayout" Target="../slideLayouts/slideLayout2.xml"/><Relationship Id="rId4" Type="http://schemas.openxmlformats.org/officeDocument/2006/relationships/hyperlink" Target="https://www.elegantthemes.com/blog/resources/10-rules-of-good-ui-design-to-follow-on-every-web-design-project" TargetMode="External"/></Relationships>
</file>

<file path=ppt/slides/_rels/slide22.xml.rels><?xml version="1.0" encoding="UTF-8" standalone="yes"?>
<Relationships xmlns="http://schemas.openxmlformats.org/package/2006/relationships"><Relationship Id="rId3" Type="http://schemas.openxmlformats.org/officeDocument/2006/relationships/image" Target="../media/image11.emf"/><Relationship Id="rId2" Type="http://schemas.openxmlformats.org/officeDocument/2006/relationships/oleObject" Target="../embeddings/oleObject1.bin"/><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Google Shape;93;p1"/>
          <p:cNvSpPr/>
          <p:nvPr/>
        </p:nvSpPr>
        <p:spPr>
          <a:xfrm>
            <a:off x="501445" y="4837797"/>
            <a:ext cx="10958052" cy="1518553"/>
          </a:xfrm>
          <a:prstGeom prst="rect">
            <a:avLst/>
          </a:prstGeom>
          <a:solidFill>
            <a:schemeClr val="lt1"/>
          </a:solidFill>
          <a:ln>
            <a:noFill/>
          </a:ln>
        </p:spPr>
        <p:txBody>
          <a:bodyPr spcFirstLastPara="1" wrap="square" lIns="91425" tIns="45700" rIns="91425" bIns="45700" anchor="ctr" anchorCtr="0">
            <a:noAutofit/>
          </a:bodyPr>
          <a:lstStyle/>
          <a:p>
            <a:pPr algn="ctr"/>
            <a:endParaRPr dirty="0">
              <a:solidFill>
                <a:schemeClr val="lt1"/>
              </a:solidFill>
              <a:latin typeface="Calibri"/>
              <a:ea typeface="Calibri"/>
              <a:cs typeface="Calibri"/>
              <a:sym typeface="Calibri"/>
            </a:endParaRPr>
          </a:p>
        </p:txBody>
      </p:sp>
      <p:sp>
        <p:nvSpPr>
          <p:cNvPr id="3" name="Subtitle 2"/>
          <p:cNvSpPr>
            <a:spLocks noGrp="1"/>
          </p:cNvSpPr>
          <p:nvPr>
            <p:ph type="subTitle" idx="1"/>
          </p:nvPr>
        </p:nvSpPr>
        <p:spPr>
          <a:xfrm>
            <a:off x="562662" y="4891470"/>
            <a:ext cx="4156822" cy="1236591"/>
          </a:xfrm>
        </p:spPr>
        <p:txBody>
          <a:bodyPr>
            <a:noAutofit/>
          </a:bodyPr>
          <a:lstStyle/>
          <a:p>
            <a:pPr algn="l"/>
            <a:r>
              <a:rPr lang="en-US" sz="1800" b="1" dirty="0">
                <a:latin typeface="Times New Roman" panose="02020603050405020304" pitchFamily="18" charset="0"/>
                <a:cs typeface="Times New Roman" panose="02020603050405020304" pitchFamily="18" charset="0"/>
              </a:rPr>
              <a:t>Er. Jagmeet Kaur</a:t>
            </a:r>
          </a:p>
          <a:p>
            <a:pPr algn="l"/>
            <a:r>
              <a:rPr lang="en-US" sz="1400" b="1" dirty="0">
                <a:latin typeface="Times New Roman" panose="02020603050405020304" pitchFamily="18" charset="0"/>
                <a:cs typeface="Times New Roman" panose="02020603050405020304" pitchFamily="18" charset="0"/>
              </a:rPr>
              <a:t>E8387</a:t>
            </a:r>
          </a:p>
          <a:p>
            <a:pPr algn="l"/>
            <a:r>
              <a:rPr lang="en-US" sz="1400" b="1" dirty="0">
                <a:latin typeface="Times New Roman" panose="02020603050405020304" pitchFamily="18" charset="0"/>
                <a:cs typeface="Times New Roman" panose="02020603050405020304" pitchFamily="18" charset="0"/>
              </a:rPr>
              <a:t>ASSISTANT PROFESSOR</a:t>
            </a:r>
          </a:p>
          <a:p>
            <a:pPr algn="l"/>
            <a:r>
              <a:rPr lang="en-US" sz="1400" b="1" dirty="0">
                <a:latin typeface="Times New Roman" panose="02020603050405020304" pitchFamily="18" charset="0"/>
                <a:cs typeface="Times New Roman" panose="02020603050405020304" pitchFamily="18" charset="0"/>
              </a:rPr>
              <a:t>CSE </a:t>
            </a:r>
          </a:p>
        </p:txBody>
      </p:sp>
      <p:sp>
        <p:nvSpPr>
          <p:cNvPr id="7" name="Google Shape;100;p1"/>
          <p:cNvSpPr/>
          <p:nvPr/>
        </p:nvSpPr>
        <p:spPr>
          <a:xfrm flipH="1">
            <a:off x="9344623" y="4901508"/>
            <a:ext cx="2466377" cy="1712909"/>
          </a:xfrm>
          <a:prstGeom prst="rtTriangle">
            <a:avLst/>
          </a:prstGeom>
          <a:solidFill>
            <a:srgbClr val="C00000"/>
          </a:solidFill>
          <a:ln>
            <a:noFill/>
          </a:ln>
        </p:spPr>
        <p:txBody>
          <a:bodyPr spcFirstLastPara="1" lIns="75585" tIns="37782" rIns="75585" bIns="37782" anchor="ctr"/>
          <a:lstStyle/>
          <a:p>
            <a:pPr algn="ctr">
              <a:defRPr/>
            </a:pPr>
            <a:endParaRPr sz="1488">
              <a:solidFill>
                <a:schemeClr val="lt1"/>
              </a:solidFill>
              <a:latin typeface="Calibri"/>
              <a:ea typeface="Calibri"/>
              <a:cs typeface="Calibri"/>
              <a:sym typeface="Calibri"/>
            </a:endParaRPr>
          </a:p>
        </p:txBody>
      </p:sp>
      <p:sp>
        <p:nvSpPr>
          <p:cNvPr id="6" name="Google Shape;101;p1"/>
          <p:cNvSpPr txBox="1"/>
          <p:nvPr/>
        </p:nvSpPr>
        <p:spPr>
          <a:xfrm>
            <a:off x="7158646" y="5490468"/>
            <a:ext cx="4075113" cy="534988"/>
          </a:xfrm>
          <a:prstGeom prst="rect">
            <a:avLst/>
          </a:prstGeom>
          <a:noFill/>
          <a:ln>
            <a:noFill/>
          </a:ln>
        </p:spPr>
        <p:txBody>
          <a:bodyPr spcFirstLastPara="1" lIns="75585" tIns="37782" rIns="75585" bIns="37782">
            <a:spAutoFit/>
          </a:bodyPr>
          <a:lstStyle/>
          <a:p>
            <a:pPr>
              <a:defRPr/>
            </a:pPr>
            <a:r>
              <a:rPr lang="en-US" sz="1653" b="1" dirty="0">
                <a:solidFill>
                  <a:srgbClr val="595959"/>
                </a:solidFill>
                <a:latin typeface="Arial"/>
                <a:ea typeface="Arial"/>
                <a:cs typeface="Arial"/>
                <a:sym typeface="Arial"/>
              </a:rPr>
              <a:t>DISCOVER . </a:t>
            </a:r>
            <a:r>
              <a:rPr lang="en-US" sz="1653" b="1" dirty="0">
                <a:solidFill>
                  <a:srgbClr val="C00000"/>
                </a:solidFill>
                <a:latin typeface="Arial"/>
                <a:ea typeface="Arial"/>
                <a:cs typeface="Arial"/>
                <a:sym typeface="Arial"/>
              </a:rPr>
              <a:t>LEARN</a:t>
            </a:r>
            <a:r>
              <a:rPr lang="en-US" sz="1653" b="1" dirty="0">
                <a:solidFill>
                  <a:srgbClr val="595959"/>
                </a:solidFill>
                <a:latin typeface="Arial"/>
                <a:ea typeface="Arial"/>
                <a:cs typeface="Arial"/>
                <a:sym typeface="Arial"/>
              </a:rPr>
              <a:t> . EMPOWER</a:t>
            </a:r>
            <a:endParaRPr sz="992" b="1" dirty="0">
              <a:solidFill>
                <a:srgbClr val="000000"/>
              </a:solidFill>
              <a:latin typeface="Arial"/>
              <a:ea typeface="Arial"/>
              <a:cs typeface="Arial"/>
              <a:sym typeface="Arial"/>
            </a:endParaRPr>
          </a:p>
          <a:p>
            <a:pPr>
              <a:defRPr/>
            </a:pPr>
            <a:endParaRPr sz="1323" b="1" dirty="0">
              <a:solidFill>
                <a:schemeClr val="dk1"/>
              </a:solidFill>
              <a:latin typeface="Arial"/>
              <a:ea typeface="Arial"/>
              <a:cs typeface="Arial"/>
              <a:sym typeface="Arial"/>
            </a:endParaRPr>
          </a:p>
        </p:txBody>
      </p:sp>
      <p:sp>
        <p:nvSpPr>
          <p:cNvPr id="9" name="Google Shape;94;p1"/>
          <p:cNvSpPr/>
          <p:nvPr/>
        </p:nvSpPr>
        <p:spPr>
          <a:xfrm>
            <a:off x="1826198" y="5901986"/>
            <a:ext cx="45719" cy="613881"/>
          </a:xfrm>
          <a:prstGeom prst="rect">
            <a:avLst/>
          </a:prstGeom>
          <a:solidFill>
            <a:srgbClr val="C00000"/>
          </a:solidFill>
          <a:ln>
            <a:noFill/>
          </a:ln>
        </p:spPr>
        <p:txBody>
          <a:bodyPr spcFirstLastPara="1" wrap="square" lIns="91425" tIns="45700" rIns="91425" bIns="45700" anchor="ctr" anchorCtr="0">
            <a:noAutofit/>
          </a:bodyPr>
          <a:lstStyle/>
          <a:p>
            <a:pPr algn="ctr"/>
            <a:endParaRPr>
              <a:solidFill>
                <a:schemeClr val="lt1"/>
              </a:solidFill>
              <a:latin typeface="Calibri"/>
              <a:ea typeface="Calibri"/>
              <a:cs typeface="Calibri"/>
              <a:sym typeface="Calibri"/>
            </a:endParaRPr>
          </a:p>
        </p:txBody>
      </p:sp>
      <p:sp>
        <p:nvSpPr>
          <p:cNvPr id="11" name="Google Shape;103;p1"/>
          <p:cNvSpPr txBox="1"/>
          <p:nvPr/>
        </p:nvSpPr>
        <p:spPr>
          <a:xfrm>
            <a:off x="910729" y="1207782"/>
            <a:ext cx="9722858" cy="2843815"/>
          </a:xfrm>
          <a:prstGeom prst="rect">
            <a:avLst/>
          </a:prstGeom>
          <a:noFill/>
          <a:ln>
            <a:noFill/>
          </a:ln>
        </p:spPr>
        <p:txBody>
          <a:bodyPr spcFirstLastPara="1" wrap="square" lIns="91425" tIns="45700" rIns="91425" bIns="45700" anchor="t" anchorCtr="0">
            <a:spAutoFit/>
          </a:bodyPr>
          <a:lstStyle/>
          <a:p>
            <a:pPr lvl="0" algn="ctr" defTabSz="622300">
              <a:lnSpc>
                <a:spcPct val="90000"/>
              </a:lnSpc>
              <a:spcBef>
                <a:spcPct val="0"/>
              </a:spcBef>
              <a:spcAft>
                <a:spcPct val="35000"/>
              </a:spcAft>
            </a:pPr>
            <a:r>
              <a:rPr lang="en-US" sz="3200" b="1" dirty="0">
                <a:latin typeface="Arial Black" panose="020B0A04020102020204" pitchFamily="34" charset="0"/>
                <a:ea typeface="Karla" pitchFamily="2" charset="0"/>
                <a:cs typeface="Karla" pitchFamily="2" charset="0"/>
              </a:rPr>
              <a:t>University Institute of Engineering</a:t>
            </a:r>
          </a:p>
          <a:p>
            <a:pPr lvl="0" algn="ctr" defTabSz="622300">
              <a:lnSpc>
                <a:spcPct val="90000"/>
              </a:lnSpc>
              <a:spcBef>
                <a:spcPct val="0"/>
              </a:spcBef>
              <a:spcAft>
                <a:spcPct val="35000"/>
              </a:spcAft>
            </a:pPr>
            <a:r>
              <a:rPr lang="en-US" sz="3200" b="1" dirty="0">
                <a:latin typeface="Arial Black" panose="020B0A04020102020204" pitchFamily="34" charset="0"/>
                <a:ea typeface="Karla" pitchFamily="2" charset="0"/>
                <a:cs typeface="Karla" pitchFamily="2" charset="0"/>
              </a:rPr>
              <a:t>DEPARTMENT OF COMPUTER SCIENCE &amp; ENGINEERING</a:t>
            </a:r>
          </a:p>
          <a:p>
            <a:pPr lvl="0" algn="ctr" defTabSz="622300">
              <a:lnSpc>
                <a:spcPct val="90000"/>
              </a:lnSpc>
              <a:spcBef>
                <a:spcPct val="0"/>
              </a:spcBef>
              <a:spcAft>
                <a:spcPct val="35000"/>
              </a:spcAft>
            </a:pPr>
            <a:r>
              <a:rPr lang="en-US" sz="2800" dirty="0">
                <a:latin typeface="Times New Roman" panose="02020603050405020304" pitchFamily="18" charset="0"/>
                <a:ea typeface="Calibri" panose="020F0502020204030204" pitchFamily="34" charset="0"/>
                <a:cs typeface="Times New Roman" panose="02020603050405020304" pitchFamily="18" charset="0"/>
              </a:rPr>
              <a:t>Subject Name: Software Engineering</a:t>
            </a:r>
          </a:p>
          <a:p>
            <a:pPr lvl="0" algn="ctr" defTabSz="622300">
              <a:lnSpc>
                <a:spcPct val="90000"/>
              </a:lnSpc>
              <a:spcBef>
                <a:spcPct val="0"/>
              </a:spcBef>
              <a:spcAft>
                <a:spcPct val="35000"/>
              </a:spcAft>
            </a:pPr>
            <a:r>
              <a:rPr lang="en-US" sz="2800" dirty="0">
                <a:latin typeface="Times New Roman" panose="02020603050405020304" pitchFamily="18" charset="0"/>
                <a:ea typeface="Calibri" panose="020F0502020204030204" pitchFamily="34" charset="0"/>
                <a:cs typeface="Times New Roman" panose="02020603050405020304" pitchFamily="18" charset="0"/>
              </a:rPr>
              <a:t>Subject Code: 23CST-206</a:t>
            </a:r>
          </a:p>
        </p:txBody>
      </p:sp>
      <p:sp>
        <p:nvSpPr>
          <p:cNvPr id="12" name="Slide Number Placeholder 11"/>
          <p:cNvSpPr>
            <a:spLocks noGrp="1"/>
          </p:cNvSpPr>
          <p:nvPr>
            <p:ph type="sldNum" sz="quarter" idx="12"/>
          </p:nvPr>
        </p:nvSpPr>
        <p:spPr/>
        <p:txBody>
          <a:bodyPr/>
          <a:lstStyle/>
          <a:p>
            <a:fld id="{FA84A37A-AFC2-4A01-80A1-FC20F2C0D5BB}" type="slidenum">
              <a:rPr lang="en-US" smtClean="0"/>
              <a:pPr/>
              <a:t>1</a:t>
            </a:fld>
            <a:endParaRPr lang="en-US" dirty="0"/>
          </a:p>
        </p:txBody>
      </p:sp>
      <p:pic>
        <p:nvPicPr>
          <p:cNvPr id="14" name="Picture 1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313446" y="0"/>
            <a:ext cx="882927" cy="785252"/>
          </a:xfrm>
          <a:prstGeom prst="rect">
            <a:avLst/>
          </a:prstGeom>
        </p:spPr>
      </p:pic>
      <p:pic>
        <p:nvPicPr>
          <p:cNvPr id="15" name="Picture 14" descr="National Board of Accreditation - Wikipedia"/>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196373" y="49261"/>
            <a:ext cx="1079146" cy="688340"/>
          </a:xfrm>
          <a:prstGeom prst="rect">
            <a:avLst/>
          </a:prstGeom>
          <a:noFill/>
          <a:ln>
            <a:noFill/>
          </a:ln>
        </p:spPr>
      </p:pic>
      <p:sp>
        <p:nvSpPr>
          <p:cNvPr id="5" name="TextBox 4">
            <a:extLst>
              <a:ext uri="{FF2B5EF4-FFF2-40B4-BE49-F238E27FC236}">
                <a16:creationId xmlns:a16="http://schemas.microsoft.com/office/drawing/2014/main" id="{2A3E7AC5-0170-6A4D-3DDF-A62478ECD17A}"/>
              </a:ext>
            </a:extLst>
          </p:cNvPr>
          <p:cNvSpPr txBox="1"/>
          <p:nvPr/>
        </p:nvSpPr>
        <p:spPr>
          <a:xfrm>
            <a:off x="4038600" y="3934196"/>
            <a:ext cx="3760694" cy="369332"/>
          </a:xfrm>
          <a:prstGeom prst="rect">
            <a:avLst/>
          </a:prstGeom>
          <a:noFill/>
        </p:spPr>
        <p:txBody>
          <a:bodyPr wrap="square">
            <a:spAutoFit/>
          </a:bodyPr>
          <a:lstStyle/>
          <a:p>
            <a:pPr algn="ctr" eaLnBrk="1" hangingPunct="1"/>
            <a:r>
              <a:rPr lang="en-US" sz="1800" dirty="0">
                <a:latin typeface="Raleway ExtraBold" pitchFamily="34" charset="-52"/>
              </a:rPr>
              <a:t>User Interface Design</a:t>
            </a:r>
          </a:p>
        </p:txBody>
      </p:sp>
      <p:pic>
        <p:nvPicPr>
          <p:cNvPr id="4" name="Picture 3">
            <a:extLst>
              <a:ext uri="{FF2B5EF4-FFF2-40B4-BE49-F238E27FC236}">
                <a16:creationId xmlns:a16="http://schemas.microsoft.com/office/drawing/2014/main" id="{CDF0B105-58BC-C11C-1CFE-904A3F19CC8A}"/>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0275519" y="58916"/>
            <a:ext cx="1916480" cy="641551"/>
          </a:xfrm>
          <a:prstGeom prst="rect">
            <a:avLst/>
          </a:prstGeom>
        </p:spPr>
      </p:pic>
    </p:spTree>
    <p:extLst>
      <p:ext uri="{BB962C8B-B14F-4D97-AF65-F5344CB8AC3E}">
        <p14:creationId xmlns:p14="http://schemas.microsoft.com/office/powerpoint/2010/main" val="389994005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891649"/>
            <a:ext cx="10515600" cy="1069734"/>
          </a:xfrm>
        </p:spPr>
        <p:txBody>
          <a:bodyPr>
            <a:noAutofit/>
          </a:bodyPr>
          <a:lstStyle/>
          <a:p>
            <a:pPr algn="ctr"/>
            <a:r>
              <a:rPr lang="en-US" sz="3600" dirty="0">
                <a:latin typeface="Times New Roman" panose="02020603050405020304" pitchFamily="18" charset="0"/>
                <a:cs typeface="Times New Roman" pitchFamily="18" charset="0"/>
              </a:rPr>
              <a:t>Chapter-4</a:t>
            </a:r>
            <a:br>
              <a:rPr lang="en-US" sz="3600" dirty="0">
                <a:latin typeface="Times New Roman" panose="02020603050405020304" pitchFamily="18" charset="0"/>
                <a:cs typeface="Times New Roman" pitchFamily="18" charset="0"/>
              </a:rPr>
            </a:br>
            <a:r>
              <a:rPr lang="en-US" sz="3600" b="1" dirty="0">
                <a:latin typeface="Times New Roman" panose="02020603050405020304" pitchFamily="18" charset="0"/>
                <a:cs typeface="Times New Roman" panose="02020603050405020304" pitchFamily="18" charset="0"/>
              </a:rPr>
              <a:t>User Interface Design</a:t>
            </a:r>
            <a:endParaRPr lang="en-US" sz="3600" dirty="0">
              <a:latin typeface="Times New Roman" panose="02020603050405020304" pitchFamily="18" charset="0"/>
              <a:cs typeface="Times New Roman" pitchFamily="18" charset="0"/>
            </a:endParaRPr>
          </a:p>
        </p:txBody>
      </p:sp>
      <p:sp>
        <p:nvSpPr>
          <p:cNvPr id="3" name="Content Placeholder 2"/>
          <p:cNvSpPr>
            <a:spLocks noGrp="1"/>
          </p:cNvSpPr>
          <p:nvPr>
            <p:ph idx="1"/>
          </p:nvPr>
        </p:nvSpPr>
        <p:spPr>
          <a:xfrm>
            <a:off x="838200" y="2140771"/>
            <a:ext cx="10515600" cy="4036191"/>
          </a:xfrm>
        </p:spPr>
        <p:txBody>
          <a:bodyPr>
            <a:normAutofit/>
          </a:bodyPr>
          <a:lstStyle/>
          <a:p>
            <a:pPr>
              <a:lnSpc>
                <a:spcPct val="150000"/>
              </a:lnSpc>
            </a:pPr>
            <a:r>
              <a:rPr lang="en-US" sz="3200" dirty="0"/>
              <a:t>Command language user interface</a:t>
            </a:r>
          </a:p>
          <a:p>
            <a:pPr>
              <a:lnSpc>
                <a:spcPct val="150000"/>
              </a:lnSpc>
            </a:pPr>
            <a:r>
              <a:rPr lang="en-US" sz="3200" dirty="0"/>
              <a:t>Menu based ,Direct manipulation interfaces</a:t>
            </a:r>
            <a:endParaRPr lang="en-US" sz="3200" dirty="0">
              <a:latin typeface="Times New Roman" pitchFamily="18" charset="0"/>
              <a:cs typeface="Times New Roman" pitchFamily="18" charset="0"/>
            </a:endParaRPr>
          </a:p>
        </p:txBody>
      </p:sp>
      <p:sp>
        <p:nvSpPr>
          <p:cNvPr id="5" name="Rectangle 4"/>
          <p:cNvSpPr/>
          <p:nvPr/>
        </p:nvSpPr>
        <p:spPr>
          <a:xfrm>
            <a:off x="838200" y="2155374"/>
            <a:ext cx="10515600" cy="4016825"/>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p:nvSpPr>
        <p:spPr>
          <a:xfrm>
            <a:off x="807720" y="886885"/>
            <a:ext cx="10515600" cy="1074497"/>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Slide Number Placeholder 6"/>
          <p:cNvSpPr>
            <a:spLocks noGrp="1"/>
          </p:cNvSpPr>
          <p:nvPr>
            <p:ph type="sldNum" sz="quarter" idx="12"/>
          </p:nvPr>
        </p:nvSpPr>
        <p:spPr/>
        <p:txBody>
          <a:bodyPr/>
          <a:lstStyle/>
          <a:p>
            <a:fld id="{BDCDBBEF-AA6C-4BA6-85B2-A17D7F280E38}" type="slidenum">
              <a:rPr lang="en-US" smtClean="0"/>
              <a:pPr/>
              <a:t>2</a:t>
            </a:fld>
            <a:endParaRPr lang="en-US"/>
          </a:p>
        </p:txBody>
      </p:sp>
    </p:spTree>
    <p:extLst>
      <p:ext uri="{BB962C8B-B14F-4D97-AF65-F5344CB8AC3E}">
        <p14:creationId xmlns:p14="http://schemas.microsoft.com/office/powerpoint/2010/main" val="8237023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849854"/>
            <a:ext cx="10515600" cy="840834"/>
          </a:xfrm>
        </p:spPr>
        <p:txBody>
          <a:bodyPr>
            <a:normAutofit fontScale="90000"/>
          </a:bodyPr>
          <a:lstStyle/>
          <a:p>
            <a:pPr algn="ctr"/>
            <a:br>
              <a:rPr lang="en-US" dirty="0"/>
            </a:br>
            <a:r>
              <a:rPr lang="en-US" dirty="0">
                <a:latin typeface="Times New Roman" panose="02020603050405020304" pitchFamily="18" charset="0"/>
                <a:cs typeface="Times New Roman" panose="02020603050405020304" pitchFamily="18" charset="0"/>
              </a:rPr>
              <a:t>Types of User Interface</a:t>
            </a:r>
          </a:p>
        </p:txBody>
      </p:sp>
      <p:sp>
        <p:nvSpPr>
          <p:cNvPr id="3" name="Content Placeholder 2"/>
          <p:cNvSpPr>
            <a:spLocks noGrp="1"/>
          </p:cNvSpPr>
          <p:nvPr>
            <p:ph idx="1"/>
          </p:nvPr>
        </p:nvSpPr>
        <p:spPr>
          <a:xfrm>
            <a:off x="838200" y="2140771"/>
            <a:ext cx="10515600" cy="4036191"/>
          </a:xfrm>
        </p:spPr>
        <p:txBody>
          <a:bodyPr/>
          <a:lstStyle/>
          <a:p>
            <a:pPr marL="0" indent="0">
              <a:buNone/>
            </a:pPr>
            <a:r>
              <a:rPr lang="en-US" dirty="0">
                <a:latin typeface="Times New Roman" panose="02020603050405020304" pitchFamily="18" charset="0"/>
                <a:cs typeface="Times New Roman" panose="02020603050405020304" pitchFamily="18" charset="0"/>
              </a:rPr>
              <a:t>UI is broadly divided into the following categories:</a:t>
            </a:r>
          </a:p>
          <a:p>
            <a:r>
              <a:rPr lang="en-US" dirty="0">
                <a:latin typeface="Times New Roman" panose="02020603050405020304" pitchFamily="18" charset="0"/>
                <a:cs typeface="Times New Roman" panose="02020603050405020304" pitchFamily="18" charset="0"/>
              </a:rPr>
              <a:t>Command Line Interface</a:t>
            </a:r>
          </a:p>
          <a:p>
            <a:r>
              <a:rPr lang="en-US" dirty="0">
                <a:latin typeface="Times New Roman" panose="02020603050405020304" pitchFamily="18" charset="0"/>
                <a:cs typeface="Times New Roman" panose="02020603050405020304" pitchFamily="18" charset="0"/>
              </a:rPr>
              <a:t>Graphical User Interface</a:t>
            </a:r>
          </a:p>
          <a:p>
            <a:r>
              <a:rPr lang="en-US" dirty="0">
                <a:latin typeface="Times New Roman" panose="02020603050405020304" pitchFamily="18" charset="0"/>
                <a:cs typeface="Times New Roman" panose="02020603050405020304" pitchFamily="18" charset="0"/>
              </a:rPr>
              <a:t>Menu based UI</a:t>
            </a:r>
          </a:p>
          <a:p>
            <a:r>
              <a:rPr lang="en-IN" dirty="0">
                <a:latin typeface="Times New Roman" panose="02020603050405020304" pitchFamily="18" charset="0"/>
                <a:cs typeface="Times New Roman" panose="02020603050405020304" pitchFamily="18" charset="0"/>
              </a:rPr>
              <a:t>Direct Manipulation Interface</a:t>
            </a:r>
            <a:endParaRPr lang="en-US"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BDCDBBEF-AA6C-4BA6-85B2-A17D7F280E38}" type="slidenum">
              <a:rPr lang="en-US" smtClean="0"/>
              <a:pPr/>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839096"/>
            <a:ext cx="10515600" cy="851592"/>
          </a:xfrm>
        </p:spPr>
        <p:txBody>
          <a:bodyPr>
            <a:normAutofit fontScale="90000"/>
          </a:bodyPr>
          <a:lstStyle/>
          <a:p>
            <a:pPr algn="ctr"/>
            <a:br>
              <a:rPr lang="en-US" dirty="0"/>
            </a:br>
            <a:r>
              <a:rPr lang="en-US" dirty="0">
                <a:latin typeface="Times New Roman" panose="02020603050405020304" pitchFamily="18" charset="0"/>
                <a:cs typeface="Times New Roman" panose="02020603050405020304" pitchFamily="18" charset="0"/>
              </a:rPr>
              <a:t>Command Line Interface (CLI)</a:t>
            </a:r>
            <a:br>
              <a:rPr lang="en-US" dirty="0"/>
            </a:br>
            <a:endParaRPr lang="en-US" dirty="0"/>
          </a:p>
        </p:txBody>
      </p:sp>
      <p:sp>
        <p:nvSpPr>
          <p:cNvPr id="3" name="Content Placeholder 2"/>
          <p:cNvSpPr>
            <a:spLocks noGrp="1"/>
          </p:cNvSpPr>
          <p:nvPr>
            <p:ph idx="1"/>
          </p:nvPr>
        </p:nvSpPr>
        <p:spPr/>
        <p:txBody>
          <a:bodyPr/>
          <a:lstStyle/>
          <a:p>
            <a:pPr algn="just"/>
            <a:r>
              <a:rPr lang="en-IN" b="0" i="0" u="none" strike="noStrike" dirty="0">
                <a:solidFill>
                  <a:srgbClr val="000000"/>
                </a:solidFill>
                <a:effectLst/>
                <a:latin typeface="-webkit-standard"/>
              </a:rPr>
              <a:t>A </a:t>
            </a:r>
            <a:r>
              <a:rPr lang="en-IN" b="1" i="0" u="none" strike="noStrike" dirty="0">
                <a:solidFill>
                  <a:srgbClr val="000000"/>
                </a:solidFill>
                <a:effectLst/>
              </a:rPr>
              <a:t>Command Line Interface (CLI)</a:t>
            </a:r>
            <a:r>
              <a:rPr lang="en-IN" b="0" i="0" u="none" strike="noStrike" dirty="0">
                <a:solidFill>
                  <a:srgbClr val="000000"/>
                </a:solidFill>
                <a:effectLst/>
                <a:latin typeface="-webkit-standard"/>
              </a:rPr>
              <a:t> is a type of user interface where users interact with a computer or software by typing text-based commands. Unlike graphical user interfaces (GUIs), CLIs rely on keyboard input and do not use icons, buttons, or windows.</a:t>
            </a:r>
          </a:p>
          <a:p>
            <a:pPr algn="just"/>
            <a:endParaRPr lang="en-US"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785308"/>
            <a:ext cx="10515600" cy="905380"/>
          </a:xfrm>
        </p:spPr>
        <p:txBody>
          <a:bodyPr>
            <a:normAutofit fontScale="90000"/>
          </a:bodyPr>
          <a:lstStyle/>
          <a:p>
            <a:pPr algn="ctr"/>
            <a:br>
              <a:rPr lang="en-US" dirty="0"/>
            </a:br>
            <a:r>
              <a:rPr lang="en-IN" b="1" i="0" u="none" strike="noStrike" dirty="0">
                <a:solidFill>
                  <a:srgbClr val="000000"/>
                </a:solidFill>
                <a:effectLst/>
              </a:rPr>
              <a:t>Examples of CLI Applications</a:t>
            </a:r>
            <a:br>
              <a:rPr lang="en-IN" b="1" i="0" u="none" strike="noStrike" dirty="0">
                <a:solidFill>
                  <a:srgbClr val="000000"/>
                </a:solidFill>
                <a:effectLst/>
              </a:rPr>
            </a:br>
            <a:br>
              <a:rPr lang="en-US" dirty="0">
                <a:latin typeface="Times New Roman" panose="02020603050405020304" pitchFamily="18" charset="0"/>
                <a:cs typeface="Times New Roman" panose="02020603050405020304" pitchFamily="18" charset="0"/>
              </a:rPr>
            </a:br>
            <a:endParaRPr lang="en-US"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fontScale="85000" lnSpcReduction="20000"/>
          </a:bodyPr>
          <a:lstStyle/>
          <a:p>
            <a:pPr algn="l">
              <a:buFont typeface="+mj-lt"/>
              <a:buAutoNum type="arabicPeriod"/>
            </a:pPr>
            <a:r>
              <a:rPr lang="en-IN" b="1" i="0" u="none" strike="noStrike" dirty="0">
                <a:solidFill>
                  <a:srgbClr val="000000"/>
                </a:solidFill>
                <a:effectLst/>
              </a:rPr>
              <a:t>Operating System Shells</a:t>
            </a:r>
            <a:endParaRPr lang="en-IN" b="0" i="0" u="none" strike="noStrike" dirty="0">
              <a:solidFill>
                <a:srgbClr val="000000"/>
              </a:solidFill>
              <a:effectLst/>
            </a:endParaRPr>
          </a:p>
          <a:p>
            <a:pPr marL="742950" lvl="1" indent="-285750" algn="l">
              <a:buFont typeface="+mj-lt"/>
              <a:buAutoNum type="arabicPeriod"/>
            </a:pPr>
            <a:r>
              <a:rPr lang="en-IN" b="1" i="0" u="none" strike="noStrike" dirty="0">
                <a:solidFill>
                  <a:srgbClr val="000000"/>
                </a:solidFill>
                <a:effectLst/>
              </a:rPr>
              <a:t>Windows Command Prompt (</a:t>
            </a:r>
            <a:r>
              <a:rPr lang="en-IN" b="1" i="0" u="none" strike="noStrike" dirty="0" err="1">
                <a:solidFill>
                  <a:srgbClr val="000000"/>
                </a:solidFill>
                <a:effectLst/>
              </a:rPr>
              <a:t>cmd.exe</a:t>
            </a:r>
            <a:r>
              <a:rPr lang="en-IN" b="1" i="0" u="none" strike="noStrike" dirty="0">
                <a:solidFill>
                  <a:srgbClr val="000000"/>
                </a:solidFill>
                <a:effectLst/>
              </a:rPr>
              <a:t>)</a:t>
            </a:r>
            <a:endParaRPr lang="en-IN" b="0" i="0" u="none" strike="noStrike" dirty="0">
              <a:solidFill>
                <a:srgbClr val="000000"/>
              </a:solidFill>
              <a:effectLst/>
            </a:endParaRPr>
          </a:p>
          <a:p>
            <a:pPr marL="742950" lvl="1" indent="-285750" algn="l">
              <a:buFont typeface="+mj-lt"/>
              <a:buAutoNum type="arabicPeriod"/>
            </a:pPr>
            <a:r>
              <a:rPr lang="en-IN" b="1" i="0" u="none" strike="noStrike" dirty="0">
                <a:solidFill>
                  <a:srgbClr val="000000"/>
                </a:solidFill>
                <a:effectLst/>
              </a:rPr>
              <a:t>PowerShell</a:t>
            </a:r>
            <a:r>
              <a:rPr lang="en-IN" b="0" i="0" u="none" strike="noStrike" dirty="0">
                <a:solidFill>
                  <a:srgbClr val="000000"/>
                </a:solidFill>
                <a:effectLst/>
              </a:rPr>
              <a:t> (for advanced Windows scripting)</a:t>
            </a:r>
          </a:p>
          <a:p>
            <a:pPr marL="742950" lvl="1" indent="-285750" algn="l">
              <a:buFont typeface="+mj-lt"/>
              <a:buAutoNum type="arabicPeriod"/>
            </a:pPr>
            <a:r>
              <a:rPr lang="en-IN" b="1" i="0" u="none" strike="noStrike" dirty="0">
                <a:solidFill>
                  <a:srgbClr val="000000"/>
                </a:solidFill>
                <a:effectLst/>
              </a:rPr>
              <a:t>Linux Terminal (bash, </a:t>
            </a:r>
            <a:r>
              <a:rPr lang="en-IN" b="1" i="0" u="none" strike="noStrike" dirty="0" err="1">
                <a:solidFill>
                  <a:srgbClr val="000000"/>
                </a:solidFill>
                <a:effectLst/>
              </a:rPr>
              <a:t>zsh</a:t>
            </a:r>
            <a:r>
              <a:rPr lang="en-IN" b="1" i="0" u="none" strike="noStrike" dirty="0">
                <a:solidFill>
                  <a:srgbClr val="000000"/>
                </a:solidFill>
                <a:effectLst/>
              </a:rPr>
              <a:t>, fish)</a:t>
            </a:r>
            <a:endParaRPr lang="en-IN" b="0" i="0" u="none" strike="noStrike" dirty="0">
              <a:solidFill>
                <a:srgbClr val="000000"/>
              </a:solidFill>
              <a:effectLst/>
            </a:endParaRPr>
          </a:p>
          <a:p>
            <a:pPr marL="742950" lvl="1" indent="-285750" algn="l">
              <a:buFont typeface="+mj-lt"/>
              <a:buAutoNum type="arabicPeriod"/>
            </a:pPr>
            <a:r>
              <a:rPr lang="en-IN" b="1" i="0" u="none" strike="noStrike" dirty="0">
                <a:solidFill>
                  <a:srgbClr val="000000"/>
                </a:solidFill>
                <a:effectLst/>
              </a:rPr>
              <a:t>macOS Terminal (uses Unix-based shell like </a:t>
            </a:r>
            <a:r>
              <a:rPr lang="en-IN" b="1" i="0" u="none" strike="noStrike" dirty="0" err="1">
                <a:solidFill>
                  <a:srgbClr val="000000"/>
                </a:solidFill>
                <a:effectLst/>
              </a:rPr>
              <a:t>zsh</a:t>
            </a:r>
            <a:r>
              <a:rPr lang="en-IN" b="1" i="0" u="none" strike="noStrike" dirty="0">
                <a:solidFill>
                  <a:srgbClr val="000000"/>
                </a:solidFill>
                <a:effectLst/>
              </a:rPr>
              <a:t> or bash)</a:t>
            </a:r>
            <a:endParaRPr lang="en-IN" b="0" i="0" u="none" strike="noStrike" dirty="0">
              <a:solidFill>
                <a:srgbClr val="000000"/>
              </a:solidFill>
              <a:effectLst/>
            </a:endParaRPr>
          </a:p>
          <a:p>
            <a:pPr algn="l">
              <a:buFont typeface="+mj-lt"/>
              <a:buAutoNum type="arabicPeriod"/>
            </a:pPr>
            <a:r>
              <a:rPr lang="en-IN" b="1" i="0" u="none" strike="noStrike" dirty="0">
                <a:solidFill>
                  <a:srgbClr val="000000"/>
                </a:solidFill>
                <a:effectLst/>
              </a:rPr>
              <a:t>Programming and Development</a:t>
            </a:r>
            <a:endParaRPr lang="en-IN" b="0" i="0" u="none" strike="noStrike" dirty="0">
              <a:solidFill>
                <a:srgbClr val="000000"/>
              </a:solidFill>
              <a:effectLst/>
            </a:endParaRPr>
          </a:p>
          <a:p>
            <a:pPr marL="742950" lvl="1" indent="-285750" algn="l">
              <a:buFont typeface="+mj-lt"/>
              <a:buAutoNum type="arabicPeriod"/>
            </a:pPr>
            <a:r>
              <a:rPr lang="en-IN" b="1" i="0" u="none" strike="noStrike" dirty="0">
                <a:solidFill>
                  <a:srgbClr val="000000"/>
                </a:solidFill>
                <a:effectLst/>
              </a:rPr>
              <a:t>Git</a:t>
            </a:r>
            <a:r>
              <a:rPr lang="en-IN" b="0" i="0" u="none" strike="noStrike" dirty="0">
                <a:solidFill>
                  <a:srgbClr val="000000"/>
                </a:solidFill>
                <a:effectLst/>
              </a:rPr>
              <a:t> (git commit -m "message") for version control.</a:t>
            </a:r>
          </a:p>
          <a:p>
            <a:pPr marL="742950" lvl="1" indent="-285750" algn="l">
              <a:buFont typeface="+mj-lt"/>
              <a:buAutoNum type="arabicPeriod"/>
            </a:pPr>
            <a:r>
              <a:rPr lang="en-IN" b="1" i="0" u="none" strike="noStrike" dirty="0">
                <a:solidFill>
                  <a:srgbClr val="000000"/>
                </a:solidFill>
                <a:effectLst/>
              </a:rPr>
              <a:t>Python, Node.js, Java compilers</a:t>
            </a:r>
            <a:r>
              <a:rPr lang="en-IN" b="0" i="0" u="none" strike="noStrike" dirty="0">
                <a:solidFill>
                  <a:srgbClr val="000000"/>
                </a:solidFill>
                <a:effectLst/>
              </a:rPr>
              <a:t> (e.g., python </a:t>
            </a:r>
            <a:r>
              <a:rPr lang="en-IN" b="0" i="0" u="none" strike="noStrike" dirty="0" err="1">
                <a:solidFill>
                  <a:srgbClr val="000000"/>
                </a:solidFill>
                <a:effectLst/>
              </a:rPr>
              <a:t>script.py</a:t>
            </a:r>
            <a:r>
              <a:rPr lang="en-IN" b="0" i="0" u="none" strike="noStrike" dirty="0">
                <a:solidFill>
                  <a:srgbClr val="000000"/>
                </a:solidFill>
                <a:effectLst/>
              </a:rPr>
              <a:t>, </a:t>
            </a:r>
            <a:r>
              <a:rPr lang="en-IN" b="0" i="0" u="none" strike="noStrike" dirty="0" err="1">
                <a:solidFill>
                  <a:srgbClr val="000000"/>
                </a:solidFill>
                <a:effectLst/>
              </a:rPr>
              <a:t>javac</a:t>
            </a:r>
            <a:r>
              <a:rPr lang="en-IN" b="0" i="0" u="none" strike="noStrike" dirty="0">
                <a:solidFill>
                  <a:srgbClr val="000000"/>
                </a:solidFill>
                <a:effectLst/>
              </a:rPr>
              <a:t> </a:t>
            </a:r>
            <a:r>
              <a:rPr lang="en-IN" b="0" i="0" u="none" strike="noStrike" dirty="0" err="1">
                <a:solidFill>
                  <a:srgbClr val="000000"/>
                </a:solidFill>
                <a:effectLst/>
              </a:rPr>
              <a:t>HelloWorld.java</a:t>
            </a:r>
            <a:r>
              <a:rPr lang="en-IN" b="0" i="0" u="none" strike="noStrike" dirty="0">
                <a:solidFill>
                  <a:srgbClr val="000000"/>
                </a:solidFill>
                <a:effectLst/>
              </a:rPr>
              <a:t>).</a:t>
            </a:r>
          </a:p>
          <a:p>
            <a:pPr algn="l">
              <a:buFont typeface="+mj-lt"/>
              <a:buAutoNum type="arabicPeriod"/>
            </a:pPr>
            <a:r>
              <a:rPr lang="en-IN" b="1" i="0" u="none" strike="noStrike" dirty="0">
                <a:solidFill>
                  <a:srgbClr val="000000"/>
                </a:solidFill>
                <a:effectLst/>
              </a:rPr>
              <a:t>Database Management</a:t>
            </a:r>
            <a:endParaRPr lang="en-IN" b="0" i="0" u="none" strike="noStrike" dirty="0">
              <a:solidFill>
                <a:srgbClr val="000000"/>
              </a:solidFill>
              <a:effectLst/>
            </a:endParaRPr>
          </a:p>
          <a:p>
            <a:pPr marL="742950" lvl="1" indent="-285750" algn="l">
              <a:buFont typeface="+mj-lt"/>
              <a:buAutoNum type="arabicPeriod"/>
            </a:pPr>
            <a:r>
              <a:rPr lang="en-IN" b="1" i="0" u="none" strike="noStrike" dirty="0">
                <a:solidFill>
                  <a:srgbClr val="000000"/>
                </a:solidFill>
                <a:effectLst/>
              </a:rPr>
              <a:t>MySQL, PostgreSQL, MongoDB</a:t>
            </a:r>
            <a:r>
              <a:rPr lang="en-IN" b="0" i="0" u="none" strike="noStrike" dirty="0">
                <a:solidFill>
                  <a:srgbClr val="000000"/>
                </a:solidFill>
                <a:effectLst/>
              </a:rPr>
              <a:t> (e.g., </a:t>
            </a:r>
            <a:r>
              <a:rPr lang="en-IN" b="0" i="0" u="none" strike="noStrike" dirty="0" err="1">
                <a:solidFill>
                  <a:srgbClr val="000000"/>
                </a:solidFill>
                <a:effectLst/>
              </a:rPr>
              <a:t>mysql</a:t>
            </a:r>
            <a:r>
              <a:rPr lang="en-IN" b="0" i="0" u="none" strike="noStrike" dirty="0">
                <a:solidFill>
                  <a:srgbClr val="000000"/>
                </a:solidFill>
                <a:effectLst/>
              </a:rPr>
              <a:t> -u root -p, </a:t>
            </a:r>
            <a:r>
              <a:rPr lang="en-IN" b="0" i="0" u="none" strike="noStrike" dirty="0" err="1">
                <a:solidFill>
                  <a:srgbClr val="000000"/>
                </a:solidFill>
                <a:effectLst/>
              </a:rPr>
              <a:t>psql</a:t>
            </a:r>
            <a:r>
              <a:rPr lang="en-IN" b="0" i="0" u="none" strike="noStrike" dirty="0">
                <a:solidFill>
                  <a:srgbClr val="000000"/>
                </a:solidFill>
                <a:effectLst/>
              </a:rPr>
              <a:t> -d </a:t>
            </a:r>
            <a:r>
              <a:rPr lang="en-IN" b="0" i="0" u="none" strike="noStrike" dirty="0" err="1">
                <a:solidFill>
                  <a:srgbClr val="000000"/>
                </a:solidFill>
                <a:effectLst/>
              </a:rPr>
              <a:t>mydatabase</a:t>
            </a:r>
            <a:r>
              <a:rPr lang="en-IN" b="0" i="0" u="none" strike="noStrike" dirty="0">
                <a:solidFill>
                  <a:srgbClr val="000000"/>
                </a:solidFill>
                <a:effectLst/>
              </a:rPr>
              <a:t>).</a:t>
            </a:r>
          </a:p>
          <a:p>
            <a:pPr algn="l">
              <a:buFont typeface="+mj-lt"/>
              <a:buAutoNum type="arabicPeriod"/>
            </a:pPr>
            <a:r>
              <a:rPr lang="en-IN" b="1" i="0" u="none" strike="noStrike" dirty="0">
                <a:solidFill>
                  <a:srgbClr val="000000"/>
                </a:solidFill>
                <a:effectLst/>
              </a:rPr>
              <a:t>Networking and System Administration</a:t>
            </a:r>
            <a:endParaRPr lang="en-IN" b="0" i="0" u="none" strike="noStrike" dirty="0">
              <a:solidFill>
                <a:srgbClr val="000000"/>
              </a:solidFill>
              <a:effectLst/>
            </a:endParaRPr>
          </a:p>
          <a:p>
            <a:pPr marL="742950" lvl="1" indent="-285750" algn="l">
              <a:buFont typeface="+mj-lt"/>
              <a:buAutoNum type="arabicPeriod"/>
            </a:pPr>
            <a:r>
              <a:rPr lang="en-IN" b="1" i="0" u="none" strike="noStrike" dirty="0">
                <a:solidFill>
                  <a:srgbClr val="000000"/>
                </a:solidFill>
                <a:effectLst/>
              </a:rPr>
              <a:t>Ping and Traceroute</a:t>
            </a:r>
            <a:r>
              <a:rPr lang="en-IN" b="0" i="0" u="none" strike="noStrike" dirty="0">
                <a:solidFill>
                  <a:srgbClr val="000000"/>
                </a:solidFill>
                <a:effectLst/>
              </a:rPr>
              <a:t> (ping </a:t>
            </a:r>
            <a:r>
              <a:rPr lang="en-IN" b="0" i="0" u="none" strike="noStrike" dirty="0" err="1">
                <a:solidFill>
                  <a:srgbClr val="000000"/>
                </a:solidFill>
                <a:effectLst/>
              </a:rPr>
              <a:t>google.com</a:t>
            </a:r>
            <a:r>
              <a:rPr lang="en-IN" b="0" i="0" u="none" strike="noStrike" dirty="0">
                <a:solidFill>
                  <a:srgbClr val="000000"/>
                </a:solidFill>
                <a:effectLst/>
              </a:rPr>
              <a:t>, </a:t>
            </a:r>
            <a:r>
              <a:rPr lang="en-IN" b="0" i="0" u="none" strike="noStrike" dirty="0" err="1">
                <a:solidFill>
                  <a:srgbClr val="000000"/>
                </a:solidFill>
                <a:effectLst/>
              </a:rPr>
              <a:t>tracert</a:t>
            </a:r>
            <a:r>
              <a:rPr lang="en-IN" b="0" i="0" u="none" strike="noStrike" dirty="0">
                <a:solidFill>
                  <a:srgbClr val="000000"/>
                </a:solidFill>
                <a:effectLst/>
              </a:rPr>
              <a:t> 8.8.8.8).</a:t>
            </a:r>
          </a:p>
          <a:p>
            <a:pPr marL="742950" lvl="1" indent="-285750" algn="l">
              <a:buFont typeface="+mj-lt"/>
              <a:buAutoNum type="arabicPeriod"/>
            </a:pPr>
            <a:r>
              <a:rPr lang="en-IN" b="1" i="0" u="none" strike="noStrike" dirty="0">
                <a:solidFill>
                  <a:srgbClr val="000000"/>
                </a:solidFill>
                <a:effectLst/>
              </a:rPr>
              <a:t>SSH for remote access</a:t>
            </a:r>
            <a:r>
              <a:rPr lang="en-IN" b="0" i="0" u="none" strike="noStrike" dirty="0">
                <a:solidFill>
                  <a:srgbClr val="000000"/>
                </a:solidFill>
                <a:effectLst/>
              </a:rPr>
              <a:t> (ssh </a:t>
            </a:r>
            <a:r>
              <a:rPr lang="en-IN" b="0" i="0" u="none" strike="noStrike" dirty="0" err="1">
                <a:solidFill>
                  <a:srgbClr val="000000"/>
                </a:solidFill>
                <a:effectLst/>
              </a:rPr>
              <a:t>user@server.com</a:t>
            </a:r>
            <a:r>
              <a:rPr lang="en-IN" b="0" i="0" u="none" strike="noStrike" dirty="0">
                <a:solidFill>
                  <a:srgbClr val="000000"/>
                </a:solidFill>
                <a:effectLst/>
              </a:rPr>
              <a:t>).</a:t>
            </a:r>
          </a:p>
          <a:p>
            <a:pPr marL="742950" lvl="1" indent="-285750" algn="l">
              <a:buFont typeface="+mj-lt"/>
              <a:buAutoNum type="arabicPeriod"/>
            </a:pPr>
            <a:r>
              <a:rPr lang="en-IN" b="1" i="0" u="none" strike="noStrike" dirty="0">
                <a:solidFill>
                  <a:srgbClr val="000000"/>
                </a:solidFill>
                <a:effectLst/>
              </a:rPr>
              <a:t>File operations</a:t>
            </a:r>
            <a:r>
              <a:rPr lang="en-IN" b="0" i="0" u="none" strike="noStrike" dirty="0">
                <a:solidFill>
                  <a:srgbClr val="000000"/>
                </a:solidFill>
                <a:effectLst/>
              </a:rPr>
              <a:t> (mv, cp, rm, </a:t>
            </a:r>
            <a:r>
              <a:rPr lang="en-IN" b="0" i="0" u="none" strike="noStrike" dirty="0" err="1">
                <a:solidFill>
                  <a:srgbClr val="000000"/>
                </a:solidFill>
                <a:effectLst/>
              </a:rPr>
              <a:t>mkdir</a:t>
            </a:r>
            <a:r>
              <a:rPr lang="en-IN" b="0" i="0" u="none" strike="noStrike" dirty="0">
                <a:solidFill>
                  <a:srgbClr val="000000"/>
                </a:solidFill>
                <a:effectLst/>
              </a:rPr>
              <a:t>).</a:t>
            </a:r>
          </a:p>
          <a:p>
            <a:endParaRPr lang="en-US"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6DAE0B2-82CD-2EAA-626E-61AD5B315CB2}"/>
              </a:ext>
            </a:extLst>
          </p:cNvPr>
          <p:cNvSpPr>
            <a:spLocks noGrp="1"/>
          </p:cNvSpPr>
          <p:nvPr>
            <p:ph idx="1"/>
          </p:nvPr>
        </p:nvSpPr>
        <p:spPr>
          <a:xfrm>
            <a:off x="838200" y="947057"/>
            <a:ext cx="10515600" cy="5229906"/>
          </a:xfrm>
        </p:spPr>
        <p:txBody>
          <a:bodyPr/>
          <a:lstStyle/>
          <a:p>
            <a:pPr marL="0" indent="0" algn="l">
              <a:buNone/>
            </a:pPr>
            <a:r>
              <a:rPr lang="en-IN" b="1" i="0" u="sng" strike="noStrike" dirty="0">
                <a:solidFill>
                  <a:srgbClr val="000000"/>
                </a:solidFill>
                <a:effectLst/>
              </a:rPr>
              <a:t>Advantages of CLI</a:t>
            </a:r>
          </a:p>
          <a:p>
            <a:pPr marL="0" indent="0" algn="l">
              <a:buNone/>
            </a:pPr>
            <a:r>
              <a:rPr lang="en-IN" b="0" i="0" u="none" strike="noStrike" dirty="0">
                <a:solidFill>
                  <a:srgbClr val="000000"/>
                </a:solidFill>
                <a:effectLst/>
              </a:rPr>
              <a:t>✔ </a:t>
            </a:r>
            <a:r>
              <a:rPr lang="en-IN" b="1" i="0" u="none" strike="noStrike" dirty="0">
                <a:solidFill>
                  <a:srgbClr val="000000"/>
                </a:solidFill>
                <a:effectLst/>
              </a:rPr>
              <a:t>Efficient for power users</a:t>
            </a:r>
            <a:r>
              <a:rPr lang="en-IN" b="0" i="0" u="none" strike="noStrike" dirty="0">
                <a:solidFill>
                  <a:srgbClr val="000000"/>
                </a:solidFill>
                <a:effectLst/>
              </a:rPr>
              <a:t> – Faster than navigating a GUI.</a:t>
            </a:r>
            <a:br>
              <a:rPr lang="en-IN" b="0" i="0" u="none" strike="noStrike" dirty="0">
                <a:solidFill>
                  <a:srgbClr val="000000"/>
                </a:solidFill>
                <a:effectLst/>
              </a:rPr>
            </a:br>
            <a:r>
              <a:rPr lang="en-IN" b="0" i="0" u="none" strike="noStrike" dirty="0">
                <a:solidFill>
                  <a:srgbClr val="000000"/>
                </a:solidFill>
                <a:effectLst/>
              </a:rPr>
              <a:t>✔ </a:t>
            </a:r>
            <a:r>
              <a:rPr lang="en-IN" b="1" i="0" u="none" strike="noStrike" dirty="0">
                <a:solidFill>
                  <a:srgbClr val="000000"/>
                </a:solidFill>
                <a:effectLst/>
              </a:rPr>
              <a:t>Low resource consumption</a:t>
            </a:r>
            <a:r>
              <a:rPr lang="en-IN" b="0" i="0" u="none" strike="noStrike" dirty="0">
                <a:solidFill>
                  <a:srgbClr val="000000"/>
                </a:solidFill>
                <a:effectLst/>
              </a:rPr>
              <a:t> – Runs on minimal hardware.</a:t>
            </a:r>
            <a:br>
              <a:rPr lang="en-IN" b="0" i="0" u="none" strike="noStrike" dirty="0">
                <a:solidFill>
                  <a:srgbClr val="000000"/>
                </a:solidFill>
                <a:effectLst/>
              </a:rPr>
            </a:br>
            <a:r>
              <a:rPr lang="en-IN" b="0" i="0" u="none" strike="noStrike" dirty="0">
                <a:solidFill>
                  <a:srgbClr val="000000"/>
                </a:solidFill>
                <a:effectLst/>
              </a:rPr>
              <a:t>✔ </a:t>
            </a:r>
            <a:r>
              <a:rPr lang="en-IN" b="1" i="0" u="none" strike="noStrike" dirty="0">
                <a:solidFill>
                  <a:srgbClr val="000000"/>
                </a:solidFill>
                <a:effectLst/>
              </a:rPr>
              <a:t>Highly flexible</a:t>
            </a:r>
            <a:r>
              <a:rPr lang="en-IN" b="0" i="0" u="none" strike="noStrike" dirty="0">
                <a:solidFill>
                  <a:srgbClr val="000000"/>
                </a:solidFill>
                <a:effectLst/>
              </a:rPr>
              <a:t> – Supports scripting and automation.</a:t>
            </a:r>
            <a:br>
              <a:rPr lang="en-IN" b="0" i="0" u="none" strike="noStrike" dirty="0">
                <a:solidFill>
                  <a:srgbClr val="000000"/>
                </a:solidFill>
                <a:effectLst/>
              </a:rPr>
            </a:br>
            <a:r>
              <a:rPr lang="en-IN" b="0" i="0" u="none" strike="noStrike" dirty="0">
                <a:solidFill>
                  <a:srgbClr val="000000"/>
                </a:solidFill>
                <a:effectLst/>
              </a:rPr>
              <a:t>✔ </a:t>
            </a:r>
            <a:r>
              <a:rPr lang="en-IN" b="1" i="0" u="none" strike="noStrike" dirty="0">
                <a:solidFill>
                  <a:srgbClr val="000000"/>
                </a:solidFill>
                <a:effectLst/>
              </a:rPr>
              <a:t>Remote Access</a:t>
            </a:r>
            <a:r>
              <a:rPr lang="en-IN" b="0" i="0" u="none" strike="noStrike" dirty="0">
                <a:solidFill>
                  <a:srgbClr val="000000"/>
                </a:solidFill>
                <a:effectLst/>
              </a:rPr>
              <a:t> – Used for managing servers and networks.</a:t>
            </a:r>
          </a:p>
          <a:p>
            <a:pPr marL="0" indent="0" algn="l">
              <a:buNone/>
            </a:pPr>
            <a:r>
              <a:rPr lang="en-IN" b="1" i="0" u="sng" strike="noStrike" dirty="0">
                <a:solidFill>
                  <a:srgbClr val="000000"/>
                </a:solidFill>
                <a:effectLst/>
              </a:rPr>
              <a:t>Disadvantages of CLI</a:t>
            </a:r>
          </a:p>
          <a:p>
            <a:pPr marL="0" indent="0" algn="l">
              <a:buNone/>
            </a:pPr>
            <a:r>
              <a:rPr lang="en-IN" b="0" i="0" u="none" strike="noStrike" dirty="0">
                <a:solidFill>
                  <a:srgbClr val="000000"/>
                </a:solidFill>
                <a:effectLst/>
              </a:rPr>
              <a:t>❌ </a:t>
            </a:r>
            <a:r>
              <a:rPr lang="en-IN" b="1" i="0" u="none" strike="noStrike" dirty="0">
                <a:solidFill>
                  <a:srgbClr val="000000"/>
                </a:solidFill>
                <a:effectLst/>
              </a:rPr>
              <a:t>Steep learning curve</a:t>
            </a:r>
            <a:r>
              <a:rPr lang="en-IN" b="0" i="0" u="none" strike="noStrike" dirty="0">
                <a:solidFill>
                  <a:srgbClr val="000000"/>
                </a:solidFill>
                <a:effectLst/>
              </a:rPr>
              <a:t> – Requires memorization of commands.</a:t>
            </a:r>
            <a:br>
              <a:rPr lang="en-IN" b="0" i="0" u="none" strike="noStrike" dirty="0">
                <a:solidFill>
                  <a:srgbClr val="000000"/>
                </a:solidFill>
                <a:effectLst/>
              </a:rPr>
            </a:br>
            <a:r>
              <a:rPr lang="en-IN" b="0" i="0" u="none" strike="noStrike" dirty="0">
                <a:solidFill>
                  <a:srgbClr val="000000"/>
                </a:solidFill>
                <a:effectLst/>
              </a:rPr>
              <a:t>❌ </a:t>
            </a:r>
            <a:r>
              <a:rPr lang="en-IN" b="1" i="0" u="none" strike="noStrike" dirty="0">
                <a:solidFill>
                  <a:srgbClr val="000000"/>
                </a:solidFill>
                <a:effectLst/>
              </a:rPr>
              <a:t>Error-prone</a:t>
            </a:r>
            <a:r>
              <a:rPr lang="en-IN" b="0" i="0" u="none" strike="noStrike" dirty="0">
                <a:solidFill>
                  <a:srgbClr val="000000"/>
                </a:solidFill>
                <a:effectLst/>
              </a:rPr>
              <a:t> – A single typo can cause unintended actions.</a:t>
            </a:r>
            <a:br>
              <a:rPr lang="en-IN" b="0" i="0" u="none" strike="noStrike" dirty="0">
                <a:solidFill>
                  <a:srgbClr val="000000"/>
                </a:solidFill>
                <a:effectLst/>
              </a:rPr>
            </a:br>
            <a:r>
              <a:rPr lang="en-IN" b="0" i="0" u="none" strike="noStrike" dirty="0">
                <a:solidFill>
                  <a:srgbClr val="000000"/>
                </a:solidFill>
                <a:effectLst/>
              </a:rPr>
              <a:t>❌ </a:t>
            </a:r>
            <a:r>
              <a:rPr lang="en-IN" b="1" i="0" u="none" strike="noStrike" dirty="0">
                <a:solidFill>
                  <a:srgbClr val="000000"/>
                </a:solidFill>
                <a:effectLst/>
              </a:rPr>
              <a:t>Not user-friendly</a:t>
            </a:r>
            <a:r>
              <a:rPr lang="en-IN" b="0" i="0" u="none" strike="noStrike" dirty="0">
                <a:solidFill>
                  <a:srgbClr val="000000"/>
                </a:solidFill>
                <a:effectLst/>
              </a:rPr>
              <a:t> – Difficult for beginners compared to GUI.</a:t>
            </a:r>
          </a:p>
          <a:p>
            <a:endParaRPr lang="en-US" dirty="0"/>
          </a:p>
        </p:txBody>
      </p:sp>
      <p:sp>
        <p:nvSpPr>
          <p:cNvPr id="4" name="Slide Number Placeholder 3">
            <a:extLst>
              <a:ext uri="{FF2B5EF4-FFF2-40B4-BE49-F238E27FC236}">
                <a16:creationId xmlns:a16="http://schemas.microsoft.com/office/drawing/2014/main" id="{37644E2A-C509-84F5-8068-CE77D9DA2D44}"/>
              </a:ext>
            </a:extLst>
          </p:cNvPr>
          <p:cNvSpPr>
            <a:spLocks noGrp="1"/>
          </p:cNvSpPr>
          <p:nvPr>
            <p:ph type="sldNum" sz="quarter" idx="12"/>
          </p:nvPr>
        </p:nvSpPr>
        <p:spPr/>
        <p:txBody>
          <a:bodyPr/>
          <a:lstStyle/>
          <a:p>
            <a:fld id="{BDCDBBEF-AA6C-4BA6-85B2-A17D7F280E38}" type="slidenum">
              <a:rPr lang="en-US" smtClean="0"/>
              <a:pPr/>
              <a:t>6</a:t>
            </a:fld>
            <a:endParaRPr lang="en-US"/>
          </a:p>
        </p:txBody>
      </p:sp>
    </p:spTree>
    <p:extLst>
      <p:ext uri="{BB962C8B-B14F-4D97-AF65-F5344CB8AC3E}">
        <p14:creationId xmlns:p14="http://schemas.microsoft.com/office/powerpoint/2010/main" val="286475037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latin typeface="Times New Roman" panose="02020603050405020304" pitchFamily="18" charset="0"/>
                <a:cs typeface="Times New Roman" panose="02020603050405020304" pitchFamily="18" charset="0"/>
              </a:rPr>
              <a:t>CLI Elements</a:t>
            </a:r>
            <a:br>
              <a:rPr lang="en-US" dirty="0"/>
            </a:br>
            <a:endParaRPr lang="en-US"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7</a:t>
            </a:fld>
            <a:endParaRPr lang="en-US"/>
          </a:p>
        </p:txBody>
      </p:sp>
      <p:pic>
        <p:nvPicPr>
          <p:cNvPr id="63490" name="Picture 2" descr="Command Line Interface (CLI)"/>
          <p:cNvPicPr>
            <a:picLocks noChangeAspect="1" noChangeArrowheads="1"/>
          </p:cNvPicPr>
          <p:nvPr/>
        </p:nvPicPr>
        <p:blipFill>
          <a:blip r:embed="rId2"/>
          <a:srcRect/>
          <a:stretch>
            <a:fillRect/>
          </a:stretch>
        </p:blipFill>
        <p:spPr bwMode="auto">
          <a:xfrm>
            <a:off x="838200" y="1032734"/>
            <a:ext cx="10550525" cy="5561704"/>
          </a:xfrm>
          <a:prstGeom prst="rect">
            <a:avLst/>
          </a:prstGeom>
          <a:noFill/>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806824"/>
            <a:ext cx="10515600" cy="883864"/>
          </a:xfrm>
        </p:spPr>
        <p:txBody>
          <a:bodyPr>
            <a:normAutofit fontScale="90000"/>
          </a:bodyPr>
          <a:lstStyle/>
          <a:p>
            <a:pPr algn="ctr"/>
            <a:br>
              <a:rPr lang="en-US" dirty="0"/>
            </a:br>
            <a:r>
              <a:rPr lang="en-US" dirty="0">
                <a:latin typeface="Times New Roman" panose="02020603050405020304" pitchFamily="18" charset="0"/>
                <a:cs typeface="Times New Roman" panose="02020603050405020304" pitchFamily="18" charset="0"/>
              </a:rPr>
              <a:t>CLI Elements</a:t>
            </a:r>
            <a:br>
              <a:rPr lang="en-US" dirty="0"/>
            </a:br>
            <a:endParaRPr lang="en-US" dirty="0"/>
          </a:p>
        </p:txBody>
      </p:sp>
      <p:sp>
        <p:nvSpPr>
          <p:cNvPr id="3" name="Content Placeholder 2"/>
          <p:cNvSpPr>
            <a:spLocks noGrp="1"/>
          </p:cNvSpPr>
          <p:nvPr>
            <p:ph idx="1"/>
          </p:nvPr>
        </p:nvSpPr>
        <p:spPr/>
        <p:txBody>
          <a:bodyPr>
            <a:normAutofit fontScale="92500"/>
          </a:bodyPr>
          <a:lstStyle/>
          <a:p>
            <a:pPr marL="0" indent="0" algn="just">
              <a:buNone/>
            </a:pPr>
            <a:r>
              <a:rPr lang="en-US" dirty="0">
                <a:latin typeface="Times New Roman" panose="02020603050405020304" pitchFamily="18" charset="0"/>
                <a:cs typeface="Times New Roman" panose="02020603050405020304" pitchFamily="18" charset="0"/>
              </a:rPr>
              <a:t>A text-based command line interface can have the following elements:</a:t>
            </a:r>
          </a:p>
          <a:p>
            <a:pPr algn="just"/>
            <a:r>
              <a:rPr lang="en-US" b="1" dirty="0">
                <a:latin typeface="Times New Roman" panose="02020603050405020304" pitchFamily="18" charset="0"/>
                <a:cs typeface="Times New Roman" panose="02020603050405020304" pitchFamily="18" charset="0"/>
              </a:rPr>
              <a:t>Command Prompt</a:t>
            </a:r>
            <a:r>
              <a:rPr lang="en-US" dirty="0">
                <a:latin typeface="Times New Roman" panose="02020603050405020304" pitchFamily="18" charset="0"/>
                <a:cs typeface="Times New Roman" panose="02020603050405020304" pitchFamily="18" charset="0"/>
              </a:rPr>
              <a:t> - It is text-based </a:t>
            </a:r>
            <a:r>
              <a:rPr lang="en-US" dirty="0" err="1">
                <a:latin typeface="Times New Roman" panose="02020603050405020304" pitchFamily="18" charset="0"/>
                <a:cs typeface="Times New Roman" panose="02020603050405020304" pitchFamily="18" charset="0"/>
              </a:rPr>
              <a:t>notifier</a:t>
            </a:r>
            <a:r>
              <a:rPr lang="en-US" dirty="0">
                <a:latin typeface="Times New Roman" panose="02020603050405020304" pitchFamily="18" charset="0"/>
                <a:cs typeface="Times New Roman" panose="02020603050405020304" pitchFamily="18" charset="0"/>
              </a:rPr>
              <a:t> that is mostly shows the context in which the user is working. It is generated by the software system.</a:t>
            </a:r>
          </a:p>
          <a:p>
            <a:pPr algn="just"/>
            <a:r>
              <a:rPr lang="en-US" b="1" dirty="0">
                <a:latin typeface="Times New Roman" panose="02020603050405020304" pitchFamily="18" charset="0"/>
                <a:cs typeface="Times New Roman" panose="02020603050405020304" pitchFamily="18" charset="0"/>
              </a:rPr>
              <a:t>Cursor</a:t>
            </a:r>
            <a:r>
              <a:rPr lang="en-US" dirty="0">
                <a:latin typeface="Times New Roman" panose="02020603050405020304" pitchFamily="18" charset="0"/>
                <a:cs typeface="Times New Roman" panose="02020603050405020304" pitchFamily="18" charset="0"/>
              </a:rPr>
              <a:t> - It is a small horizontal line or a vertical bar of the height of line, to represent position of character while typing. Cursor is mostly found in blinking state. It moves as the user writes or deletes something.</a:t>
            </a:r>
          </a:p>
          <a:p>
            <a:pPr algn="just"/>
            <a:r>
              <a:rPr lang="en-US" b="1" dirty="0">
                <a:latin typeface="Times New Roman" panose="02020603050405020304" pitchFamily="18" charset="0"/>
                <a:cs typeface="Times New Roman" panose="02020603050405020304" pitchFamily="18" charset="0"/>
              </a:rPr>
              <a:t>Command</a:t>
            </a:r>
            <a:r>
              <a:rPr lang="en-US" dirty="0">
                <a:latin typeface="Times New Roman" panose="02020603050405020304" pitchFamily="18" charset="0"/>
                <a:cs typeface="Times New Roman" panose="02020603050405020304" pitchFamily="18" charset="0"/>
              </a:rPr>
              <a:t> - A command is an executable instruction. It may have one or more parameters. Output on command execution is shown inline on the screen. When output is produced, command prompt is displayed on the next line.</a:t>
            </a:r>
          </a:p>
          <a:p>
            <a:pPr algn="just"/>
            <a:endParaRPr lang="en-US"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849854"/>
            <a:ext cx="10515600" cy="840834"/>
          </a:xfrm>
        </p:spPr>
        <p:txBody>
          <a:bodyPr>
            <a:normAutofit fontScale="90000"/>
          </a:bodyPr>
          <a:lstStyle/>
          <a:p>
            <a:pPr algn="ctr"/>
            <a:br>
              <a:rPr lang="en-US" dirty="0"/>
            </a:br>
            <a:r>
              <a:rPr lang="en-US" dirty="0">
                <a:latin typeface="Times New Roman" panose="02020603050405020304" pitchFamily="18" charset="0"/>
                <a:cs typeface="Times New Roman" panose="02020603050405020304" pitchFamily="18" charset="0"/>
              </a:rPr>
              <a:t>Graphical User Interface</a:t>
            </a:r>
            <a:br>
              <a:rPr lang="en-US" dirty="0"/>
            </a:br>
            <a:endParaRPr lang="en-US" dirty="0"/>
          </a:p>
        </p:txBody>
      </p:sp>
      <p:sp>
        <p:nvSpPr>
          <p:cNvPr id="3" name="Content Placeholder 2"/>
          <p:cNvSpPr>
            <a:spLocks noGrp="1"/>
          </p:cNvSpPr>
          <p:nvPr>
            <p:ph idx="1"/>
          </p:nvPr>
        </p:nvSpPr>
        <p:spPr/>
        <p:txBody>
          <a:bodyPr/>
          <a:lstStyle/>
          <a:p>
            <a:pPr algn="just"/>
            <a:r>
              <a:rPr lang="en-IN" b="0" i="0" u="none" strike="noStrike" dirty="0">
                <a:solidFill>
                  <a:srgbClr val="000000"/>
                </a:solidFill>
                <a:effectLst/>
                <a:latin typeface="-webkit-standard"/>
              </a:rPr>
              <a:t>A </a:t>
            </a:r>
            <a:r>
              <a:rPr lang="en-IN" b="1" i="0" u="none" strike="noStrike" dirty="0">
                <a:solidFill>
                  <a:srgbClr val="000000"/>
                </a:solidFill>
                <a:effectLst/>
              </a:rPr>
              <a:t>Graphical User Interface (GUI)</a:t>
            </a:r>
            <a:r>
              <a:rPr lang="en-IN" b="0" i="0" u="none" strike="noStrike" dirty="0">
                <a:solidFill>
                  <a:srgbClr val="000000"/>
                </a:solidFill>
                <a:effectLst/>
                <a:latin typeface="-webkit-standard"/>
              </a:rPr>
              <a:t> is a type of user interface that allows users to interact with a system using visual elements such as windows, icons, buttons, and menus instead of text-based commands. It is designed to be intuitive and user-friendly, making computers accessible to people with little technical knowledge.</a:t>
            </a:r>
            <a:endParaRPr lang="en-US"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871369"/>
            <a:ext cx="10515600" cy="819319"/>
          </a:xfrm>
        </p:spPr>
        <p:txBody>
          <a:bodyPr>
            <a:normAutofit fontScale="90000"/>
          </a:bodyPr>
          <a:lstStyle/>
          <a:p>
            <a:pPr algn="ctr"/>
            <a:br>
              <a:rPr lang="en-US" dirty="0"/>
            </a:br>
            <a:r>
              <a:rPr lang="en-IN" b="1" i="0" u="none" strike="noStrike" dirty="0">
                <a:solidFill>
                  <a:srgbClr val="000000"/>
                </a:solidFill>
                <a:effectLst/>
              </a:rPr>
              <a:t>Examples of GUI-Based Systems</a:t>
            </a:r>
            <a:br>
              <a:rPr lang="en-IN" b="1" i="0" u="none" strike="noStrike" dirty="0">
                <a:solidFill>
                  <a:srgbClr val="000000"/>
                </a:solidFill>
                <a:effectLst/>
              </a:rPr>
            </a:br>
            <a:br>
              <a:rPr lang="en-US" dirty="0"/>
            </a:br>
            <a:endParaRPr lang="en-US" dirty="0"/>
          </a:p>
        </p:txBody>
      </p:sp>
      <p:sp>
        <p:nvSpPr>
          <p:cNvPr id="3" name="Content Placeholder 2"/>
          <p:cNvSpPr>
            <a:spLocks noGrp="1"/>
          </p:cNvSpPr>
          <p:nvPr>
            <p:ph idx="1"/>
          </p:nvPr>
        </p:nvSpPr>
        <p:spPr/>
        <p:txBody>
          <a:bodyPr>
            <a:normAutofit lnSpcReduction="10000"/>
          </a:bodyPr>
          <a:lstStyle/>
          <a:p>
            <a:pPr algn="l">
              <a:buFont typeface="+mj-lt"/>
              <a:buAutoNum type="arabicPeriod"/>
            </a:pPr>
            <a:r>
              <a:rPr lang="en-IN" b="1" i="0" u="none" strike="noStrike" dirty="0">
                <a:solidFill>
                  <a:srgbClr val="000000"/>
                </a:solidFill>
                <a:effectLst/>
              </a:rPr>
              <a:t>Operating Systems</a:t>
            </a:r>
            <a:endParaRPr lang="en-IN" b="0" i="0" u="none" strike="noStrike" dirty="0">
              <a:solidFill>
                <a:srgbClr val="000000"/>
              </a:solidFill>
              <a:effectLst/>
            </a:endParaRPr>
          </a:p>
          <a:p>
            <a:pPr marL="742950" lvl="1" indent="-285750" algn="l">
              <a:buFont typeface="+mj-lt"/>
              <a:buAutoNum type="arabicPeriod"/>
            </a:pPr>
            <a:r>
              <a:rPr lang="en-IN" b="1" i="0" u="none" strike="noStrike" dirty="0">
                <a:solidFill>
                  <a:srgbClr val="000000"/>
                </a:solidFill>
                <a:effectLst/>
              </a:rPr>
              <a:t>Microsoft Windows</a:t>
            </a:r>
            <a:r>
              <a:rPr lang="en-IN" b="0" i="0" u="none" strike="noStrike" dirty="0">
                <a:solidFill>
                  <a:srgbClr val="000000"/>
                </a:solidFill>
                <a:effectLst/>
              </a:rPr>
              <a:t> (Start menu, taskbar, icons)</a:t>
            </a:r>
          </a:p>
          <a:p>
            <a:pPr marL="742950" lvl="1" indent="-285750" algn="l">
              <a:buFont typeface="+mj-lt"/>
              <a:buAutoNum type="arabicPeriod"/>
            </a:pPr>
            <a:r>
              <a:rPr lang="en-IN" b="1" i="0" u="none" strike="noStrike" dirty="0">
                <a:solidFill>
                  <a:srgbClr val="000000"/>
                </a:solidFill>
                <a:effectLst/>
              </a:rPr>
              <a:t>macOS</a:t>
            </a:r>
            <a:r>
              <a:rPr lang="en-IN" b="0" i="0" u="none" strike="noStrike" dirty="0">
                <a:solidFill>
                  <a:srgbClr val="000000"/>
                </a:solidFill>
                <a:effectLst/>
              </a:rPr>
              <a:t> (Dock, Finder, menu bar)</a:t>
            </a:r>
          </a:p>
          <a:p>
            <a:pPr marL="742950" lvl="1" indent="-285750" algn="l">
              <a:buFont typeface="+mj-lt"/>
              <a:buAutoNum type="arabicPeriod"/>
            </a:pPr>
            <a:r>
              <a:rPr lang="en-IN" b="1" i="0" u="none" strike="noStrike" dirty="0">
                <a:solidFill>
                  <a:srgbClr val="000000"/>
                </a:solidFill>
                <a:effectLst/>
              </a:rPr>
              <a:t>Linux (Ubuntu, Fedora, etc.)</a:t>
            </a:r>
            <a:r>
              <a:rPr lang="en-IN" b="0" i="0" u="none" strike="noStrike" dirty="0">
                <a:solidFill>
                  <a:srgbClr val="000000"/>
                </a:solidFill>
                <a:effectLst/>
              </a:rPr>
              <a:t> (GNOME, KDE environments)</a:t>
            </a:r>
          </a:p>
          <a:p>
            <a:pPr algn="l">
              <a:buFont typeface="+mj-lt"/>
              <a:buAutoNum type="arabicPeriod"/>
            </a:pPr>
            <a:r>
              <a:rPr lang="en-IN" b="1" i="0" u="none" strike="noStrike" dirty="0">
                <a:solidFill>
                  <a:srgbClr val="000000"/>
                </a:solidFill>
                <a:effectLst/>
              </a:rPr>
              <a:t>Software Applications</a:t>
            </a:r>
            <a:endParaRPr lang="en-IN" b="0" i="0" u="none" strike="noStrike" dirty="0">
              <a:solidFill>
                <a:srgbClr val="000000"/>
              </a:solidFill>
              <a:effectLst/>
            </a:endParaRPr>
          </a:p>
          <a:p>
            <a:pPr marL="742950" lvl="1" indent="-285750" algn="l">
              <a:buFont typeface="+mj-lt"/>
              <a:buAutoNum type="arabicPeriod"/>
            </a:pPr>
            <a:r>
              <a:rPr lang="en-IN" b="1" i="0" u="none" strike="noStrike" dirty="0">
                <a:solidFill>
                  <a:srgbClr val="000000"/>
                </a:solidFill>
                <a:effectLst/>
              </a:rPr>
              <a:t>Microsoft Office Suite</a:t>
            </a:r>
            <a:r>
              <a:rPr lang="en-IN" b="0" i="0" u="none" strike="noStrike" dirty="0">
                <a:solidFill>
                  <a:srgbClr val="000000"/>
                </a:solidFill>
                <a:effectLst/>
              </a:rPr>
              <a:t> (Word, Excel, PowerPoint)</a:t>
            </a:r>
          </a:p>
          <a:p>
            <a:pPr marL="742950" lvl="1" indent="-285750" algn="l">
              <a:buFont typeface="+mj-lt"/>
              <a:buAutoNum type="arabicPeriod"/>
            </a:pPr>
            <a:r>
              <a:rPr lang="en-IN" b="1" i="0" u="none" strike="noStrike" dirty="0">
                <a:solidFill>
                  <a:srgbClr val="000000"/>
                </a:solidFill>
                <a:effectLst/>
              </a:rPr>
              <a:t>Adobe Photoshop</a:t>
            </a:r>
            <a:r>
              <a:rPr lang="en-IN" b="0" i="0" u="none" strike="noStrike" dirty="0">
                <a:solidFill>
                  <a:srgbClr val="000000"/>
                </a:solidFill>
                <a:effectLst/>
              </a:rPr>
              <a:t> (Toolbars, </a:t>
            </a:r>
            <a:r>
              <a:rPr lang="en-IN" b="0" i="0" u="none" strike="noStrike" dirty="0" err="1">
                <a:solidFill>
                  <a:srgbClr val="000000"/>
                </a:solidFill>
                <a:effectLst/>
              </a:rPr>
              <a:t>color</a:t>
            </a:r>
            <a:r>
              <a:rPr lang="en-IN" b="0" i="0" u="none" strike="noStrike" dirty="0">
                <a:solidFill>
                  <a:srgbClr val="000000"/>
                </a:solidFill>
                <a:effectLst/>
              </a:rPr>
              <a:t> palettes)</a:t>
            </a:r>
          </a:p>
          <a:p>
            <a:pPr marL="742950" lvl="1" indent="-285750" algn="l">
              <a:buFont typeface="+mj-lt"/>
              <a:buAutoNum type="arabicPeriod"/>
            </a:pPr>
            <a:r>
              <a:rPr lang="en-IN" b="1" i="0" u="none" strike="noStrike" dirty="0">
                <a:solidFill>
                  <a:srgbClr val="000000"/>
                </a:solidFill>
                <a:effectLst/>
              </a:rPr>
              <a:t>Web Browsers</a:t>
            </a:r>
            <a:r>
              <a:rPr lang="en-IN" b="0" i="0" u="none" strike="noStrike" dirty="0">
                <a:solidFill>
                  <a:srgbClr val="000000"/>
                </a:solidFill>
                <a:effectLst/>
              </a:rPr>
              <a:t> (Google Chrome, Mozilla Firefox, Safari)</a:t>
            </a:r>
          </a:p>
          <a:p>
            <a:pPr algn="l">
              <a:buFont typeface="+mj-lt"/>
              <a:buAutoNum type="arabicPeriod"/>
            </a:pPr>
            <a:r>
              <a:rPr lang="en-IN" b="1" i="0" u="none" strike="noStrike" dirty="0">
                <a:solidFill>
                  <a:srgbClr val="000000"/>
                </a:solidFill>
                <a:effectLst/>
              </a:rPr>
              <a:t>Mobile Operating Systems</a:t>
            </a:r>
            <a:endParaRPr lang="en-IN" b="0" i="0" u="none" strike="noStrike" dirty="0">
              <a:solidFill>
                <a:srgbClr val="000000"/>
              </a:solidFill>
              <a:effectLst/>
            </a:endParaRPr>
          </a:p>
          <a:p>
            <a:pPr marL="742950" lvl="1" indent="-285750" algn="l">
              <a:buFont typeface="+mj-lt"/>
              <a:buAutoNum type="arabicPeriod"/>
            </a:pPr>
            <a:r>
              <a:rPr lang="en-IN" b="1" i="0" u="none" strike="noStrike" dirty="0">
                <a:solidFill>
                  <a:srgbClr val="000000"/>
                </a:solidFill>
                <a:effectLst/>
              </a:rPr>
              <a:t>Android</a:t>
            </a:r>
            <a:r>
              <a:rPr lang="en-IN" b="0" i="0" u="none" strike="noStrike" dirty="0">
                <a:solidFill>
                  <a:srgbClr val="000000"/>
                </a:solidFill>
                <a:effectLst/>
              </a:rPr>
              <a:t> (App icons, notification bar)</a:t>
            </a:r>
          </a:p>
          <a:p>
            <a:pPr marL="742950" lvl="1" indent="-285750" algn="l">
              <a:buFont typeface="+mj-lt"/>
              <a:buAutoNum type="arabicPeriod"/>
            </a:pPr>
            <a:r>
              <a:rPr lang="en-IN" b="1" i="0" u="none" strike="noStrike" dirty="0">
                <a:solidFill>
                  <a:srgbClr val="000000"/>
                </a:solidFill>
                <a:effectLst/>
              </a:rPr>
              <a:t>iOS</a:t>
            </a:r>
            <a:r>
              <a:rPr lang="en-IN" b="0" i="0" u="none" strike="noStrike" dirty="0">
                <a:solidFill>
                  <a:srgbClr val="000000"/>
                </a:solidFill>
                <a:effectLst/>
              </a:rPr>
              <a:t> (Home screen, control </a:t>
            </a:r>
            <a:r>
              <a:rPr lang="en-IN" b="0" i="0" u="none" strike="noStrike" dirty="0" err="1">
                <a:solidFill>
                  <a:srgbClr val="000000"/>
                </a:solidFill>
                <a:effectLst/>
              </a:rPr>
              <a:t>center</a:t>
            </a:r>
            <a:r>
              <a:rPr lang="en-IN" b="0" i="0" u="none" strike="noStrike" dirty="0">
                <a:solidFill>
                  <a:srgbClr val="000000"/>
                </a:solidFill>
                <a:effectLst/>
              </a:rPr>
              <a:t>, gestures)</a:t>
            </a:r>
          </a:p>
        </p:txBody>
      </p:sp>
      <p:sp>
        <p:nvSpPr>
          <p:cNvPr id="4" name="Slide Number Placeholder 3"/>
          <p:cNvSpPr>
            <a:spLocks noGrp="1"/>
          </p:cNvSpPr>
          <p:nvPr>
            <p:ph type="sldNum" sz="quarter" idx="12"/>
          </p:nvPr>
        </p:nvSpPr>
        <p:spPr/>
        <p:txBody>
          <a:bodyPr/>
          <a:lstStyle/>
          <a:p>
            <a:fld id="{BDCDBBEF-AA6C-4BA6-85B2-A17D7F280E38}" type="slidenum">
              <a:rPr lang="en-US" smtClean="0"/>
              <a:pPr/>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5628B39-3F4D-FBC2-7349-3ACF4E1FEC89}"/>
              </a:ext>
            </a:extLst>
          </p:cNvPr>
          <p:cNvSpPr>
            <a:spLocks noGrp="1"/>
          </p:cNvSpPr>
          <p:nvPr>
            <p:ph idx="1"/>
          </p:nvPr>
        </p:nvSpPr>
        <p:spPr>
          <a:xfrm>
            <a:off x="870856" y="1012371"/>
            <a:ext cx="10482943" cy="5164592"/>
          </a:xfrm>
        </p:spPr>
        <p:txBody>
          <a:bodyPr>
            <a:normAutofit fontScale="92500" lnSpcReduction="20000"/>
          </a:bodyPr>
          <a:lstStyle/>
          <a:p>
            <a:pPr marL="0" indent="0" algn="l">
              <a:buNone/>
            </a:pPr>
            <a:r>
              <a:rPr lang="en-IN" b="1" i="0" u="sng" strike="noStrike" dirty="0">
                <a:solidFill>
                  <a:srgbClr val="000000"/>
                </a:solidFill>
                <a:effectLst/>
              </a:rPr>
              <a:t>Advantages of GUI</a:t>
            </a:r>
          </a:p>
          <a:p>
            <a:pPr marL="0" indent="0" algn="l">
              <a:buNone/>
            </a:pPr>
            <a:r>
              <a:rPr lang="en-IN" b="0" i="0" u="none" strike="noStrike" dirty="0">
                <a:solidFill>
                  <a:srgbClr val="000000"/>
                </a:solidFill>
                <a:effectLst/>
              </a:rPr>
              <a:t>✔ </a:t>
            </a:r>
            <a:r>
              <a:rPr lang="en-IN" b="1" i="0" u="none" strike="noStrike" dirty="0">
                <a:solidFill>
                  <a:srgbClr val="000000"/>
                </a:solidFill>
                <a:effectLst/>
              </a:rPr>
              <a:t>User-Friendly</a:t>
            </a:r>
            <a:r>
              <a:rPr lang="en-IN" b="0" i="0" u="none" strike="noStrike" dirty="0">
                <a:solidFill>
                  <a:srgbClr val="000000"/>
                </a:solidFill>
                <a:effectLst/>
              </a:rPr>
              <a:t> – Easy to learn and use, even for beginners.</a:t>
            </a:r>
            <a:br>
              <a:rPr lang="en-IN" b="0" i="0" u="none" strike="noStrike" dirty="0">
                <a:solidFill>
                  <a:srgbClr val="000000"/>
                </a:solidFill>
                <a:effectLst/>
              </a:rPr>
            </a:br>
            <a:r>
              <a:rPr lang="en-IN" b="0" i="0" u="none" strike="noStrike" dirty="0">
                <a:solidFill>
                  <a:srgbClr val="000000"/>
                </a:solidFill>
                <a:effectLst/>
              </a:rPr>
              <a:t>✔ </a:t>
            </a:r>
            <a:r>
              <a:rPr lang="en-IN" b="1" i="0" u="none" strike="noStrike" dirty="0">
                <a:solidFill>
                  <a:srgbClr val="000000"/>
                </a:solidFill>
                <a:effectLst/>
              </a:rPr>
              <a:t>Visual and Interactive</a:t>
            </a:r>
            <a:r>
              <a:rPr lang="en-IN" b="0" i="0" u="none" strike="noStrike" dirty="0">
                <a:solidFill>
                  <a:srgbClr val="000000"/>
                </a:solidFill>
                <a:effectLst/>
              </a:rPr>
              <a:t> – Enhances user experience with graphics and animations.</a:t>
            </a:r>
            <a:br>
              <a:rPr lang="en-IN" b="0" i="0" u="none" strike="noStrike" dirty="0">
                <a:solidFill>
                  <a:srgbClr val="000000"/>
                </a:solidFill>
                <a:effectLst/>
              </a:rPr>
            </a:br>
            <a:r>
              <a:rPr lang="en-IN" b="0" i="0" u="none" strike="noStrike" dirty="0">
                <a:solidFill>
                  <a:srgbClr val="000000"/>
                </a:solidFill>
                <a:effectLst/>
              </a:rPr>
              <a:t>✔ </a:t>
            </a:r>
            <a:r>
              <a:rPr lang="en-IN" b="1" i="0" u="none" strike="noStrike" dirty="0">
                <a:solidFill>
                  <a:srgbClr val="000000"/>
                </a:solidFill>
                <a:effectLst/>
              </a:rPr>
              <a:t>Multitasking</a:t>
            </a:r>
            <a:r>
              <a:rPr lang="en-IN" b="0" i="0" u="none" strike="noStrike" dirty="0">
                <a:solidFill>
                  <a:srgbClr val="000000"/>
                </a:solidFill>
                <a:effectLst/>
              </a:rPr>
              <a:t> – Allows users to open and manage multiple applications simultaneously.</a:t>
            </a:r>
            <a:br>
              <a:rPr lang="en-IN" b="0" i="0" u="none" strike="noStrike" dirty="0">
                <a:solidFill>
                  <a:srgbClr val="000000"/>
                </a:solidFill>
                <a:effectLst/>
              </a:rPr>
            </a:br>
            <a:r>
              <a:rPr lang="en-IN" b="0" i="0" u="none" strike="noStrike" dirty="0">
                <a:solidFill>
                  <a:srgbClr val="000000"/>
                </a:solidFill>
                <a:effectLst/>
              </a:rPr>
              <a:t>✔ </a:t>
            </a:r>
            <a:r>
              <a:rPr lang="en-IN" b="1" i="0" u="none" strike="noStrike" dirty="0">
                <a:solidFill>
                  <a:srgbClr val="000000"/>
                </a:solidFill>
                <a:effectLst/>
              </a:rPr>
              <a:t>Minimal Memorization</a:t>
            </a:r>
            <a:r>
              <a:rPr lang="en-IN" b="0" i="0" u="none" strike="noStrike" dirty="0">
                <a:solidFill>
                  <a:srgbClr val="000000"/>
                </a:solidFill>
                <a:effectLst/>
              </a:rPr>
              <a:t> – No need to remember complex commands like in CLI.</a:t>
            </a:r>
          </a:p>
          <a:p>
            <a:pPr marL="0" indent="0" algn="l">
              <a:buNone/>
            </a:pPr>
            <a:r>
              <a:rPr lang="en-IN" b="1" i="0" u="sng" strike="noStrike" dirty="0">
                <a:solidFill>
                  <a:srgbClr val="000000"/>
                </a:solidFill>
                <a:effectLst/>
              </a:rPr>
              <a:t>Disadvantages of GUI</a:t>
            </a:r>
          </a:p>
          <a:p>
            <a:pPr marL="0" indent="0" algn="l">
              <a:buNone/>
            </a:pPr>
            <a:endParaRPr lang="en-IN" b="1" i="0" u="sng" strike="noStrike" dirty="0">
              <a:solidFill>
                <a:srgbClr val="000000"/>
              </a:solidFill>
              <a:effectLst/>
            </a:endParaRPr>
          </a:p>
          <a:p>
            <a:pPr marL="0" indent="0" algn="l">
              <a:buNone/>
            </a:pPr>
            <a:r>
              <a:rPr lang="en-IN" b="0" i="0" u="none" strike="noStrike" dirty="0">
                <a:solidFill>
                  <a:srgbClr val="000000"/>
                </a:solidFill>
                <a:effectLst/>
              </a:rPr>
              <a:t>❌ </a:t>
            </a:r>
            <a:r>
              <a:rPr lang="en-IN" b="1" i="0" u="none" strike="noStrike" dirty="0">
                <a:solidFill>
                  <a:srgbClr val="000000"/>
                </a:solidFill>
                <a:effectLst/>
              </a:rPr>
              <a:t>Resource-Intensive</a:t>
            </a:r>
            <a:r>
              <a:rPr lang="en-IN" b="0" i="0" u="none" strike="noStrike" dirty="0">
                <a:solidFill>
                  <a:srgbClr val="000000"/>
                </a:solidFill>
                <a:effectLst/>
              </a:rPr>
              <a:t> – Requires more memory and processing power compared to CLI.</a:t>
            </a:r>
            <a:br>
              <a:rPr lang="en-IN" b="0" i="0" u="none" strike="noStrike" dirty="0">
                <a:solidFill>
                  <a:srgbClr val="000000"/>
                </a:solidFill>
                <a:effectLst/>
              </a:rPr>
            </a:br>
            <a:r>
              <a:rPr lang="en-IN" b="0" i="0" u="none" strike="noStrike" dirty="0">
                <a:solidFill>
                  <a:srgbClr val="000000"/>
                </a:solidFill>
                <a:effectLst/>
              </a:rPr>
              <a:t>❌ </a:t>
            </a:r>
            <a:r>
              <a:rPr lang="en-IN" b="1" i="0" u="none" strike="noStrike" dirty="0">
                <a:solidFill>
                  <a:srgbClr val="000000"/>
                </a:solidFill>
                <a:effectLst/>
              </a:rPr>
              <a:t>Slower for Advanced Users</a:t>
            </a:r>
            <a:r>
              <a:rPr lang="en-IN" b="0" i="0" u="none" strike="noStrike" dirty="0">
                <a:solidFill>
                  <a:srgbClr val="000000"/>
                </a:solidFill>
                <a:effectLst/>
              </a:rPr>
              <a:t> – Some tasks can be done faster using command-line interfaces.</a:t>
            </a:r>
            <a:br>
              <a:rPr lang="en-IN" b="0" i="0" u="none" strike="noStrike" dirty="0">
                <a:solidFill>
                  <a:srgbClr val="000000"/>
                </a:solidFill>
                <a:effectLst/>
              </a:rPr>
            </a:br>
            <a:r>
              <a:rPr lang="en-IN" b="0" i="0" u="none" strike="noStrike" dirty="0">
                <a:solidFill>
                  <a:srgbClr val="000000"/>
                </a:solidFill>
                <a:effectLst/>
              </a:rPr>
              <a:t>❌ </a:t>
            </a:r>
            <a:r>
              <a:rPr lang="en-IN" b="1" i="0" u="none" strike="noStrike" dirty="0">
                <a:solidFill>
                  <a:srgbClr val="000000"/>
                </a:solidFill>
                <a:effectLst/>
              </a:rPr>
              <a:t>Limited Customization</a:t>
            </a:r>
            <a:r>
              <a:rPr lang="en-IN" b="0" i="0" u="none" strike="noStrike" dirty="0">
                <a:solidFill>
                  <a:srgbClr val="000000"/>
                </a:solidFill>
                <a:effectLst/>
              </a:rPr>
              <a:t> – Not as flexible as scripting in CLI for automation and complex tasks.</a:t>
            </a:r>
          </a:p>
          <a:p>
            <a:endParaRPr lang="en-US" dirty="0"/>
          </a:p>
        </p:txBody>
      </p:sp>
      <p:sp>
        <p:nvSpPr>
          <p:cNvPr id="4" name="Slide Number Placeholder 3">
            <a:extLst>
              <a:ext uri="{FF2B5EF4-FFF2-40B4-BE49-F238E27FC236}">
                <a16:creationId xmlns:a16="http://schemas.microsoft.com/office/drawing/2014/main" id="{1E0F8263-589F-CB28-4A36-011407A0FBB3}"/>
              </a:ext>
            </a:extLst>
          </p:cNvPr>
          <p:cNvSpPr>
            <a:spLocks noGrp="1"/>
          </p:cNvSpPr>
          <p:nvPr>
            <p:ph type="sldNum" sz="quarter" idx="12"/>
          </p:nvPr>
        </p:nvSpPr>
        <p:spPr/>
        <p:txBody>
          <a:bodyPr/>
          <a:lstStyle/>
          <a:p>
            <a:fld id="{BDCDBBEF-AA6C-4BA6-85B2-A17D7F280E38}" type="slidenum">
              <a:rPr lang="en-US" smtClean="0"/>
              <a:pPr/>
              <a:t>11</a:t>
            </a:fld>
            <a:endParaRPr lang="en-US"/>
          </a:p>
        </p:txBody>
      </p:sp>
    </p:spTree>
    <p:extLst>
      <p:ext uri="{BB962C8B-B14F-4D97-AF65-F5344CB8AC3E}">
        <p14:creationId xmlns:p14="http://schemas.microsoft.com/office/powerpoint/2010/main" val="197488846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742278"/>
            <a:ext cx="10515600" cy="948410"/>
          </a:xfrm>
        </p:spPr>
        <p:txBody>
          <a:bodyPr>
            <a:normAutofit fontScale="90000"/>
          </a:bodyPr>
          <a:lstStyle/>
          <a:p>
            <a:pPr algn="ctr"/>
            <a:br>
              <a:rPr lang="en-US" dirty="0"/>
            </a:br>
            <a:r>
              <a:rPr lang="en-US" dirty="0">
                <a:latin typeface="Times New Roman" panose="02020603050405020304" pitchFamily="18" charset="0"/>
                <a:cs typeface="Times New Roman" panose="02020603050405020304" pitchFamily="18" charset="0"/>
              </a:rPr>
              <a:t>GUI Elements</a:t>
            </a:r>
            <a:br>
              <a:rPr lang="en-US" dirty="0"/>
            </a:br>
            <a:endParaRPr lang="en-US"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12</a:t>
            </a:fld>
            <a:endParaRPr lang="en-US"/>
          </a:p>
        </p:txBody>
      </p:sp>
      <p:pic>
        <p:nvPicPr>
          <p:cNvPr id="5" name="Picture 2" descr="Graphical User Interface"/>
          <p:cNvPicPr>
            <a:picLocks noChangeAspect="1" noChangeArrowheads="1"/>
          </p:cNvPicPr>
          <p:nvPr/>
        </p:nvPicPr>
        <p:blipFill>
          <a:blip r:embed="rId2"/>
          <a:srcRect/>
          <a:stretch>
            <a:fillRect/>
          </a:stretch>
        </p:blipFill>
        <p:spPr bwMode="auto">
          <a:xfrm>
            <a:off x="1431925" y="1570616"/>
            <a:ext cx="8921482" cy="5039734"/>
          </a:xfrm>
          <a:prstGeom prst="rect">
            <a:avLst/>
          </a:prstGeom>
          <a:noFill/>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849854"/>
            <a:ext cx="10515600" cy="840834"/>
          </a:xfrm>
        </p:spPr>
        <p:txBody>
          <a:bodyPr>
            <a:normAutofit fontScale="90000"/>
          </a:bodyPr>
          <a:lstStyle/>
          <a:p>
            <a:pPr algn="ctr"/>
            <a:br>
              <a:rPr lang="en-US" dirty="0"/>
            </a:br>
            <a:r>
              <a:rPr lang="en-US" dirty="0">
                <a:latin typeface="Times New Roman" panose="02020603050405020304" pitchFamily="18" charset="0"/>
                <a:cs typeface="Times New Roman" panose="02020603050405020304" pitchFamily="18" charset="0"/>
              </a:rPr>
              <a:t>GUI Elements</a:t>
            </a:r>
            <a:br>
              <a:rPr lang="en-US" dirty="0"/>
            </a:br>
            <a:endParaRPr lang="en-US" dirty="0"/>
          </a:p>
        </p:txBody>
      </p:sp>
      <p:sp>
        <p:nvSpPr>
          <p:cNvPr id="3" name="Content Placeholder 2"/>
          <p:cNvSpPr>
            <a:spLocks noGrp="1"/>
          </p:cNvSpPr>
          <p:nvPr>
            <p:ph idx="1"/>
          </p:nvPr>
        </p:nvSpPr>
        <p:spPr/>
        <p:txBody>
          <a:bodyPr/>
          <a:lstStyle/>
          <a:p>
            <a:pPr algn="just"/>
            <a:r>
              <a:rPr lang="en-US" b="1" dirty="0">
                <a:latin typeface="Times New Roman" panose="02020603050405020304" pitchFamily="18" charset="0"/>
                <a:cs typeface="Times New Roman" panose="02020603050405020304" pitchFamily="18" charset="0"/>
              </a:rPr>
              <a:t>Tabs</a:t>
            </a:r>
            <a:r>
              <a:rPr lang="en-US" dirty="0">
                <a:latin typeface="Times New Roman" panose="02020603050405020304" pitchFamily="18" charset="0"/>
                <a:cs typeface="Times New Roman" panose="02020603050405020304" pitchFamily="18" charset="0"/>
              </a:rPr>
              <a:t> - If an application allows executing multiple instances of itself, they appear on the screen as separate windows.</a:t>
            </a:r>
            <a:r>
              <a:rPr lang="en-US" b="1" dirty="0">
                <a:latin typeface="Times New Roman" panose="02020603050405020304" pitchFamily="18" charset="0"/>
                <a:cs typeface="Times New Roman" panose="02020603050405020304" pitchFamily="18" charset="0"/>
              </a:rPr>
              <a:t> Tabbed Document Interface</a:t>
            </a:r>
            <a:r>
              <a:rPr lang="en-US" dirty="0">
                <a:latin typeface="Times New Roman" panose="02020603050405020304" pitchFamily="18" charset="0"/>
                <a:cs typeface="Times New Roman" panose="02020603050405020304" pitchFamily="18" charset="0"/>
              </a:rPr>
              <a:t> has come up to open multiple documents in the same window. This interface also helps in viewing preference panel in application. All modern web-browsers use this feature.</a:t>
            </a:r>
          </a:p>
          <a:p>
            <a:pPr algn="just"/>
            <a:r>
              <a:rPr lang="en-US" b="1" dirty="0">
                <a:latin typeface="Times New Roman" panose="02020603050405020304" pitchFamily="18" charset="0"/>
                <a:cs typeface="Times New Roman" panose="02020603050405020304" pitchFamily="18" charset="0"/>
              </a:rPr>
              <a:t>Menu</a:t>
            </a:r>
            <a:r>
              <a:rPr lang="en-US" dirty="0">
                <a:latin typeface="Times New Roman" panose="02020603050405020304" pitchFamily="18" charset="0"/>
                <a:cs typeface="Times New Roman" panose="02020603050405020304" pitchFamily="18" charset="0"/>
              </a:rPr>
              <a:t> - Menu is an array of standard commands, grouped together and placed at a visible place (usually top) inside the application window. The menu can be programmed to appear or hide on mouse clicks.</a:t>
            </a:r>
          </a:p>
          <a:p>
            <a:pPr algn="just"/>
            <a:endParaRPr lang="en-US"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849854"/>
            <a:ext cx="10515600" cy="840834"/>
          </a:xfrm>
        </p:spPr>
        <p:txBody>
          <a:bodyPr>
            <a:normAutofit fontScale="90000"/>
          </a:bodyPr>
          <a:lstStyle/>
          <a:p>
            <a:pPr algn="ctr"/>
            <a:br>
              <a:rPr lang="en-US" dirty="0"/>
            </a:br>
            <a:r>
              <a:rPr lang="en-US" dirty="0">
                <a:latin typeface="Times New Roman" panose="02020603050405020304" pitchFamily="18" charset="0"/>
                <a:cs typeface="Times New Roman" panose="02020603050405020304" pitchFamily="18" charset="0"/>
              </a:rPr>
              <a:t>GUI Elements</a:t>
            </a:r>
            <a:br>
              <a:rPr lang="en-US" dirty="0"/>
            </a:br>
            <a:endParaRPr lang="en-US" dirty="0"/>
          </a:p>
        </p:txBody>
      </p:sp>
      <p:sp>
        <p:nvSpPr>
          <p:cNvPr id="3" name="Content Placeholder 2"/>
          <p:cNvSpPr>
            <a:spLocks noGrp="1"/>
          </p:cNvSpPr>
          <p:nvPr>
            <p:ph idx="1"/>
          </p:nvPr>
        </p:nvSpPr>
        <p:spPr/>
        <p:txBody>
          <a:bodyPr/>
          <a:lstStyle/>
          <a:p>
            <a:pPr algn="just"/>
            <a:r>
              <a:rPr lang="en-US" b="1" dirty="0">
                <a:latin typeface="Times New Roman" panose="02020603050405020304" pitchFamily="18" charset="0"/>
                <a:cs typeface="Times New Roman" panose="02020603050405020304" pitchFamily="18" charset="0"/>
              </a:rPr>
              <a:t>Icon</a:t>
            </a:r>
            <a:r>
              <a:rPr lang="en-US" dirty="0">
                <a:latin typeface="Times New Roman" panose="02020603050405020304" pitchFamily="18" charset="0"/>
                <a:cs typeface="Times New Roman" panose="02020603050405020304" pitchFamily="18" charset="0"/>
              </a:rPr>
              <a:t> - An icon is small picture representing an associated application. When these icons are clicked or double clicked, the application window is opened. Icon displays application and programs installed on a system in the form of small pictures.</a:t>
            </a:r>
          </a:p>
          <a:p>
            <a:pPr algn="just"/>
            <a:r>
              <a:rPr lang="en-US" b="1" dirty="0">
                <a:latin typeface="Times New Roman" panose="02020603050405020304" pitchFamily="18" charset="0"/>
                <a:cs typeface="Times New Roman" panose="02020603050405020304" pitchFamily="18" charset="0"/>
              </a:rPr>
              <a:t>Cursor</a:t>
            </a:r>
            <a:r>
              <a:rPr lang="en-US" dirty="0">
                <a:latin typeface="Times New Roman" panose="02020603050405020304" pitchFamily="18" charset="0"/>
                <a:cs typeface="Times New Roman" panose="02020603050405020304" pitchFamily="18" charset="0"/>
              </a:rPr>
              <a:t> - Interacting devices such as mouse, touch pad, digital pen are represented in GUI as cursors. On screen cursor follows the instructions from hardware in almost real-time. Cursors are also named pointers in GUI systems. They are used to select menus, windows and other application features.</a:t>
            </a:r>
          </a:p>
          <a:p>
            <a:endParaRPr lang="en-US"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lnSpcReduction="10000"/>
          </a:bodyPr>
          <a:lstStyle/>
          <a:p>
            <a:pPr algn="just"/>
            <a:r>
              <a:rPr lang="en-US" b="1" dirty="0">
                <a:latin typeface="Times New Roman" panose="02020603050405020304" pitchFamily="18" charset="0"/>
                <a:cs typeface="Times New Roman" panose="02020603050405020304" pitchFamily="18" charset="0"/>
              </a:rPr>
              <a:t>Text-Box</a:t>
            </a:r>
            <a:r>
              <a:rPr lang="en-US" dirty="0">
                <a:latin typeface="Times New Roman" panose="02020603050405020304" pitchFamily="18" charset="0"/>
                <a:cs typeface="Times New Roman" panose="02020603050405020304" pitchFamily="18" charset="0"/>
              </a:rPr>
              <a:t> - Provides an area for user to type and enter text-based data.</a:t>
            </a:r>
          </a:p>
          <a:p>
            <a:pPr algn="just"/>
            <a:r>
              <a:rPr lang="en-US" b="1" dirty="0">
                <a:latin typeface="Times New Roman" panose="02020603050405020304" pitchFamily="18" charset="0"/>
                <a:cs typeface="Times New Roman" panose="02020603050405020304" pitchFamily="18" charset="0"/>
              </a:rPr>
              <a:t>Buttons</a:t>
            </a:r>
            <a:r>
              <a:rPr lang="en-US" dirty="0">
                <a:latin typeface="Times New Roman" panose="02020603050405020304" pitchFamily="18" charset="0"/>
                <a:cs typeface="Times New Roman" panose="02020603050405020304" pitchFamily="18" charset="0"/>
              </a:rPr>
              <a:t> - They imitate real life buttons and are used to submit inputs to the software.</a:t>
            </a:r>
          </a:p>
          <a:p>
            <a:pPr algn="just"/>
            <a:r>
              <a:rPr lang="en-US" b="1" dirty="0">
                <a:latin typeface="Times New Roman" panose="02020603050405020304" pitchFamily="18" charset="0"/>
                <a:cs typeface="Times New Roman" panose="02020603050405020304" pitchFamily="18" charset="0"/>
              </a:rPr>
              <a:t>Radio-button</a:t>
            </a:r>
            <a:r>
              <a:rPr lang="en-US" dirty="0">
                <a:latin typeface="Times New Roman" panose="02020603050405020304" pitchFamily="18" charset="0"/>
                <a:cs typeface="Times New Roman" panose="02020603050405020304" pitchFamily="18" charset="0"/>
              </a:rPr>
              <a:t> - Displays available options for selection. Only one can be selected among all offered.</a:t>
            </a:r>
          </a:p>
          <a:p>
            <a:pPr algn="just"/>
            <a:r>
              <a:rPr lang="en-US" b="1" dirty="0">
                <a:latin typeface="Times New Roman" panose="02020603050405020304" pitchFamily="18" charset="0"/>
                <a:cs typeface="Times New Roman" panose="02020603050405020304" pitchFamily="18" charset="0"/>
              </a:rPr>
              <a:t>Check-box</a:t>
            </a:r>
            <a:r>
              <a:rPr lang="en-US" dirty="0">
                <a:latin typeface="Times New Roman" panose="02020603050405020304" pitchFamily="18" charset="0"/>
                <a:cs typeface="Times New Roman" panose="02020603050405020304" pitchFamily="18" charset="0"/>
              </a:rPr>
              <a:t> - Functions similar to list-box. When an option is selected, the box is marked as checked. Multiple options represented by check boxes can be selected.</a:t>
            </a:r>
          </a:p>
          <a:p>
            <a:pPr algn="just"/>
            <a:r>
              <a:rPr lang="en-US" b="1" dirty="0">
                <a:latin typeface="Times New Roman" panose="02020603050405020304" pitchFamily="18" charset="0"/>
                <a:cs typeface="Times New Roman" panose="02020603050405020304" pitchFamily="18" charset="0"/>
              </a:rPr>
              <a:t>List-box </a:t>
            </a:r>
            <a:r>
              <a:rPr lang="en-US" dirty="0">
                <a:latin typeface="Times New Roman" panose="02020603050405020304" pitchFamily="18" charset="0"/>
                <a:cs typeface="Times New Roman" panose="02020603050405020304" pitchFamily="18" charset="0"/>
              </a:rPr>
              <a:t>- Provides list of available items for selection. More than one item can be selected.</a:t>
            </a:r>
          </a:p>
          <a:p>
            <a:pPr algn="just"/>
            <a:endParaRPr lang="en-US"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EB3EB9-FE01-F6EF-B65A-ECF23E042F70}"/>
              </a:ext>
            </a:extLst>
          </p:cNvPr>
          <p:cNvSpPr>
            <a:spLocks noGrp="1"/>
          </p:cNvSpPr>
          <p:nvPr>
            <p:ph type="title"/>
          </p:nvPr>
        </p:nvSpPr>
        <p:spPr/>
        <p:txBody>
          <a:bodyPr/>
          <a:lstStyle/>
          <a:p>
            <a:r>
              <a:rPr lang="en-IN" b="1" i="0" u="none" strike="noStrike" dirty="0">
                <a:solidFill>
                  <a:srgbClr val="0D1940"/>
                </a:solidFill>
                <a:effectLst/>
                <a:latin typeface="Nunito Sans" panose="020F0502020204030204" pitchFamily="34" charset="0"/>
              </a:rPr>
              <a:t>Menu-Driven Interface</a:t>
            </a:r>
            <a:br>
              <a:rPr lang="en-IN" b="1" i="0" u="none" strike="noStrike" dirty="0">
                <a:solidFill>
                  <a:srgbClr val="0D1940"/>
                </a:solidFill>
                <a:effectLst/>
                <a:latin typeface="Nunito Sans" panose="020F0502020204030204" pitchFamily="34" charset="0"/>
              </a:rPr>
            </a:br>
            <a:endParaRPr lang="en-US" dirty="0"/>
          </a:p>
        </p:txBody>
      </p:sp>
      <p:sp>
        <p:nvSpPr>
          <p:cNvPr id="3" name="Content Placeholder 2">
            <a:extLst>
              <a:ext uri="{FF2B5EF4-FFF2-40B4-BE49-F238E27FC236}">
                <a16:creationId xmlns:a16="http://schemas.microsoft.com/office/drawing/2014/main" id="{7E22B09C-E7C2-F009-9D7F-E2FF38303712}"/>
              </a:ext>
            </a:extLst>
          </p:cNvPr>
          <p:cNvSpPr>
            <a:spLocks noGrp="1"/>
          </p:cNvSpPr>
          <p:nvPr>
            <p:ph idx="1"/>
          </p:nvPr>
        </p:nvSpPr>
        <p:spPr/>
        <p:txBody>
          <a:bodyPr/>
          <a:lstStyle/>
          <a:p>
            <a:pPr algn="just" fontAlgn="base"/>
            <a:r>
              <a:rPr lang="en-US" dirty="0"/>
              <a:t>is a type of user interface where users interact with a system by choosing options from menus. It simplifies navigation by presenting a structured list of commands or choices.</a:t>
            </a:r>
          </a:p>
          <a:p>
            <a:pPr algn="just" fontAlgn="base"/>
            <a:r>
              <a:rPr lang="en-IN" b="0" i="0" u="none" strike="noStrike" dirty="0">
                <a:solidFill>
                  <a:srgbClr val="0D1940"/>
                </a:solidFill>
                <a:effectLst/>
                <a:latin typeface="Times New Roman" panose="02020603050405020304" pitchFamily="18" charset="0"/>
                <a:cs typeface="Times New Roman" panose="02020603050405020304" pitchFamily="18" charset="0"/>
              </a:rPr>
              <a:t>An example is the settings menu on your phone. All you can do is scroll the menu and tap items; no other interaction is available. Accordingly, it is used in applications with a familiar, limited, and uniform set of functions. You could put them all under subheadings like “Camera Settings”, “Display Settings”, etc.</a:t>
            </a:r>
          </a:p>
          <a:p>
            <a:endParaRPr lang="en-US" dirty="0"/>
          </a:p>
        </p:txBody>
      </p:sp>
      <p:sp>
        <p:nvSpPr>
          <p:cNvPr id="4" name="Slide Number Placeholder 3">
            <a:extLst>
              <a:ext uri="{FF2B5EF4-FFF2-40B4-BE49-F238E27FC236}">
                <a16:creationId xmlns:a16="http://schemas.microsoft.com/office/drawing/2014/main" id="{5501636A-9DF6-2F32-2C1F-B54BA575375A}"/>
              </a:ext>
            </a:extLst>
          </p:cNvPr>
          <p:cNvSpPr>
            <a:spLocks noGrp="1"/>
          </p:cNvSpPr>
          <p:nvPr>
            <p:ph type="sldNum" sz="quarter" idx="12"/>
          </p:nvPr>
        </p:nvSpPr>
        <p:spPr/>
        <p:txBody>
          <a:bodyPr/>
          <a:lstStyle/>
          <a:p>
            <a:fld id="{BDCDBBEF-AA6C-4BA6-85B2-A17D7F280E38}" type="slidenum">
              <a:rPr lang="en-US" smtClean="0"/>
              <a:pPr/>
              <a:t>16</a:t>
            </a:fld>
            <a:endParaRPr lang="en-US"/>
          </a:p>
        </p:txBody>
      </p:sp>
    </p:spTree>
    <p:extLst>
      <p:ext uri="{BB962C8B-B14F-4D97-AF65-F5344CB8AC3E}">
        <p14:creationId xmlns:p14="http://schemas.microsoft.com/office/powerpoint/2010/main" val="92605770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23F1FF-1FAC-C946-7F67-0956F9892027}"/>
              </a:ext>
            </a:extLst>
          </p:cNvPr>
          <p:cNvSpPr>
            <a:spLocks noGrp="1"/>
          </p:cNvSpPr>
          <p:nvPr>
            <p:ph type="title"/>
          </p:nvPr>
        </p:nvSpPr>
        <p:spPr/>
        <p:txBody>
          <a:bodyPr/>
          <a:lstStyle/>
          <a:p>
            <a:r>
              <a:rPr lang="en-IN" b="1" i="0" u="none" strike="noStrike" dirty="0">
                <a:solidFill>
                  <a:srgbClr val="000000"/>
                </a:solidFill>
                <a:effectLst/>
              </a:rPr>
              <a:t>Examples of Menu-Based Interfaces</a:t>
            </a:r>
            <a:endParaRPr lang="en-US" dirty="0"/>
          </a:p>
        </p:txBody>
      </p:sp>
      <p:sp>
        <p:nvSpPr>
          <p:cNvPr id="3" name="Content Placeholder 2">
            <a:extLst>
              <a:ext uri="{FF2B5EF4-FFF2-40B4-BE49-F238E27FC236}">
                <a16:creationId xmlns:a16="http://schemas.microsoft.com/office/drawing/2014/main" id="{1EC62592-A3BD-9EDA-562D-5247F7B49762}"/>
              </a:ext>
            </a:extLst>
          </p:cNvPr>
          <p:cNvSpPr>
            <a:spLocks noGrp="1"/>
          </p:cNvSpPr>
          <p:nvPr>
            <p:ph idx="1"/>
          </p:nvPr>
        </p:nvSpPr>
        <p:spPr>
          <a:xfrm>
            <a:off x="838200" y="1328057"/>
            <a:ext cx="10515600" cy="4848906"/>
          </a:xfrm>
        </p:spPr>
        <p:txBody>
          <a:bodyPr>
            <a:normAutofit fontScale="92500" lnSpcReduction="20000"/>
          </a:bodyPr>
          <a:lstStyle/>
          <a:p>
            <a:pPr algn="l"/>
            <a:endParaRPr lang="en-IN" b="1" i="0" u="none" strike="noStrike" dirty="0">
              <a:solidFill>
                <a:srgbClr val="000000"/>
              </a:solidFill>
              <a:effectLst/>
            </a:endParaRPr>
          </a:p>
          <a:p>
            <a:pPr algn="l">
              <a:buFont typeface="+mj-lt"/>
              <a:buAutoNum type="arabicPeriod"/>
            </a:pPr>
            <a:r>
              <a:rPr lang="en-IN" b="1" i="0" u="none" strike="noStrike" dirty="0">
                <a:solidFill>
                  <a:srgbClr val="000000"/>
                </a:solidFill>
                <a:effectLst/>
              </a:rPr>
              <a:t>ATMs (Automated Teller Machines)</a:t>
            </a:r>
            <a:endParaRPr lang="en-IN" b="0" i="0" u="none" strike="noStrike" dirty="0">
              <a:solidFill>
                <a:srgbClr val="000000"/>
              </a:solidFill>
              <a:effectLst/>
            </a:endParaRPr>
          </a:p>
          <a:p>
            <a:pPr marL="742950" lvl="1" indent="-285750" algn="l">
              <a:buFont typeface="+mj-lt"/>
              <a:buAutoNum type="arabicPeriod"/>
            </a:pPr>
            <a:r>
              <a:rPr lang="en-IN" b="0" i="0" u="none" strike="noStrike" dirty="0">
                <a:solidFill>
                  <a:srgbClr val="000000"/>
                </a:solidFill>
                <a:effectLst/>
              </a:rPr>
              <a:t>Users navigate options such as "Withdraw Cash," "Check Balance," or "Deposit Funds" using on-screen buttons or a touchscreen.</a:t>
            </a:r>
          </a:p>
          <a:p>
            <a:pPr algn="l">
              <a:buFont typeface="+mj-lt"/>
              <a:buAutoNum type="arabicPeriod"/>
            </a:pPr>
            <a:r>
              <a:rPr lang="en-IN" b="1" i="0" u="none" strike="noStrike" dirty="0">
                <a:solidFill>
                  <a:srgbClr val="000000"/>
                </a:solidFill>
                <a:effectLst/>
              </a:rPr>
              <a:t>Restaurant Self-Ordering Kiosks</a:t>
            </a:r>
            <a:endParaRPr lang="en-IN" b="0" i="0" u="none" strike="noStrike" dirty="0">
              <a:solidFill>
                <a:srgbClr val="000000"/>
              </a:solidFill>
              <a:effectLst/>
            </a:endParaRPr>
          </a:p>
          <a:p>
            <a:pPr marL="742950" lvl="1" indent="-285750" algn="l">
              <a:buFont typeface="+mj-lt"/>
              <a:buAutoNum type="arabicPeriod"/>
            </a:pPr>
            <a:r>
              <a:rPr lang="en-IN" b="0" i="0" u="none" strike="noStrike" dirty="0">
                <a:solidFill>
                  <a:srgbClr val="000000"/>
                </a:solidFill>
                <a:effectLst/>
              </a:rPr>
              <a:t>Customers select food and drinks from a digital menu displayed on a touchscreen.</a:t>
            </a:r>
          </a:p>
          <a:p>
            <a:pPr algn="l">
              <a:buFont typeface="+mj-lt"/>
              <a:buAutoNum type="arabicPeriod"/>
            </a:pPr>
            <a:r>
              <a:rPr lang="en-IN" b="1" i="0" u="none" strike="noStrike" dirty="0">
                <a:solidFill>
                  <a:srgbClr val="000000"/>
                </a:solidFill>
                <a:effectLst/>
              </a:rPr>
              <a:t>Mobile Phone Settings</a:t>
            </a:r>
            <a:endParaRPr lang="en-IN" b="0" i="0" u="none" strike="noStrike" dirty="0">
              <a:solidFill>
                <a:srgbClr val="000000"/>
              </a:solidFill>
              <a:effectLst/>
            </a:endParaRPr>
          </a:p>
          <a:p>
            <a:pPr marL="742950" lvl="1" indent="-285750" algn="l">
              <a:buFont typeface="+mj-lt"/>
              <a:buAutoNum type="arabicPeriod"/>
            </a:pPr>
            <a:r>
              <a:rPr lang="en-IN" b="0" i="0" u="none" strike="noStrike" dirty="0">
                <a:solidFill>
                  <a:srgbClr val="000000"/>
                </a:solidFill>
                <a:effectLst/>
              </a:rPr>
              <a:t>Smartphones have menu-based interfaces for settings like "Wi-Fi," "Bluetooth," and "Display" options.</a:t>
            </a:r>
          </a:p>
          <a:p>
            <a:pPr algn="l">
              <a:buFont typeface="+mj-lt"/>
              <a:buAutoNum type="arabicPeriod"/>
            </a:pPr>
            <a:r>
              <a:rPr lang="en-IN" b="1" i="0" u="none" strike="noStrike" dirty="0">
                <a:solidFill>
                  <a:srgbClr val="000000"/>
                </a:solidFill>
                <a:effectLst/>
              </a:rPr>
              <a:t>Video Game Menus</a:t>
            </a:r>
            <a:endParaRPr lang="en-IN" b="0" i="0" u="none" strike="noStrike" dirty="0">
              <a:solidFill>
                <a:srgbClr val="000000"/>
              </a:solidFill>
              <a:effectLst/>
            </a:endParaRPr>
          </a:p>
          <a:p>
            <a:pPr marL="742950" lvl="1" indent="-285750" algn="l">
              <a:buFont typeface="+mj-lt"/>
              <a:buAutoNum type="arabicPeriod"/>
            </a:pPr>
            <a:r>
              <a:rPr lang="en-IN" b="0" i="0" u="none" strike="noStrike" dirty="0">
                <a:solidFill>
                  <a:srgbClr val="000000"/>
                </a:solidFill>
                <a:effectLst/>
              </a:rPr>
              <a:t>Games have menus for selecting "Start Game," "Load Game," "Settings," and "Exit."</a:t>
            </a:r>
          </a:p>
          <a:p>
            <a:pPr algn="l">
              <a:buFont typeface="+mj-lt"/>
              <a:buAutoNum type="arabicPeriod"/>
            </a:pPr>
            <a:r>
              <a:rPr lang="en-IN" b="1" i="0" u="none" strike="noStrike" dirty="0">
                <a:solidFill>
                  <a:srgbClr val="000000"/>
                </a:solidFill>
                <a:effectLst/>
              </a:rPr>
              <a:t>Software Applications (e.g., Microsoft Word, Excel)</a:t>
            </a:r>
            <a:endParaRPr lang="en-IN" b="0" i="0" u="none" strike="noStrike" dirty="0">
              <a:solidFill>
                <a:srgbClr val="000000"/>
              </a:solidFill>
              <a:effectLst/>
            </a:endParaRPr>
          </a:p>
          <a:p>
            <a:pPr marL="742950" lvl="1" indent="-285750" algn="l">
              <a:buFont typeface="+mj-lt"/>
              <a:buAutoNum type="arabicPeriod"/>
            </a:pPr>
            <a:r>
              <a:rPr lang="en-IN" b="0" i="0" u="none" strike="noStrike" dirty="0">
                <a:solidFill>
                  <a:srgbClr val="000000"/>
                </a:solidFill>
                <a:effectLst/>
              </a:rPr>
              <a:t>Features like "File," "Edit," "View," and "Tools" are organized in a menu for easy access.</a:t>
            </a:r>
          </a:p>
          <a:p>
            <a:endParaRPr lang="en-US" dirty="0"/>
          </a:p>
        </p:txBody>
      </p:sp>
      <p:sp>
        <p:nvSpPr>
          <p:cNvPr id="4" name="Slide Number Placeholder 3">
            <a:extLst>
              <a:ext uri="{FF2B5EF4-FFF2-40B4-BE49-F238E27FC236}">
                <a16:creationId xmlns:a16="http://schemas.microsoft.com/office/drawing/2014/main" id="{09810AB8-85B5-2C28-A307-84E298E64EAE}"/>
              </a:ext>
            </a:extLst>
          </p:cNvPr>
          <p:cNvSpPr>
            <a:spLocks noGrp="1"/>
          </p:cNvSpPr>
          <p:nvPr>
            <p:ph type="sldNum" sz="quarter" idx="12"/>
          </p:nvPr>
        </p:nvSpPr>
        <p:spPr/>
        <p:txBody>
          <a:bodyPr/>
          <a:lstStyle/>
          <a:p>
            <a:fld id="{BDCDBBEF-AA6C-4BA6-85B2-A17D7F280E38}" type="slidenum">
              <a:rPr lang="en-US" smtClean="0"/>
              <a:pPr/>
              <a:t>17</a:t>
            </a:fld>
            <a:endParaRPr lang="en-US"/>
          </a:p>
        </p:txBody>
      </p:sp>
    </p:spTree>
    <p:extLst>
      <p:ext uri="{BB962C8B-B14F-4D97-AF65-F5344CB8AC3E}">
        <p14:creationId xmlns:p14="http://schemas.microsoft.com/office/powerpoint/2010/main" val="312384387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FDCE85D-B1F5-4351-DFFB-0197C5905422}"/>
              </a:ext>
            </a:extLst>
          </p:cNvPr>
          <p:cNvSpPr>
            <a:spLocks noGrp="1"/>
          </p:cNvSpPr>
          <p:nvPr>
            <p:ph idx="1"/>
          </p:nvPr>
        </p:nvSpPr>
        <p:spPr>
          <a:xfrm>
            <a:off x="772886" y="849086"/>
            <a:ext cx="10580914" cy="5327877"/>
          </a:xfrm>
        </p:spPr>
        <p:txBody>
          <a:bodyPr>
            <a:normAutofit fontScale="92500"/>
          </a:bodyPr>
          <a:lstStyle/>
          <a:p>
            <a:pPr marL="0" indent="0">
              <a:buNone/>
            </a:pPr>
            <a:r>
              <a:rPr lang="en-US" b="1" u="sng" dirty="0"/>
              <a:t>Advantages of a Menu-Driven Interface</a:t>
            </a:r>
          </a:p>
          <a:p>
            <a:r>
              <a:rPr lang="en-US" dirty="0"/>
              <a:t>Handy for computer beginners and novice users</a:t>
            </a:r>
          </a:p>
          <a:p>
            <a:r>
              <a:rPr lang="en-US" dirty="0"/>
              <a:t>Familiar interface across different platforms</a:t>
            </a:r>
          </a:p>
          <a:p>
            <a:r>
              <a:rPr lang="en-US" dirty="0"/>
              <a:t>You are in charge of creating an order and a hierarchy for user pathways</a:t>
            </a:r>
          </a:p>
          <a:p>
            <a:r>
              <a:rPr lang="en-US" dirty="0"/>
              <a:t>More control over user interactions </a:t>
            </a:r>
          </a:p>
          <a:p>
            <a:r>
              <a:rPr lang="en-US" dirty="0"/>
              <a:t>Simple to implement in various kinds of devices</a:t>
            </a:r>
          </a:p>
          <a:p>
            <a:pPr marL="0" indent="0">
              <a:buNone/>
            </a:pPr>
            <a:r>
              <a:rPr lang="en-US" b="1" u="sng" dirty="0"/>
              <a:t>Disadvantages of a Menu-Driven Interface</a:t>
            </a:r>
          </a:p>
          <a:p>
            <a:r>
              <a:rPr lang="en-US" dirty="0"/>
              <a:t>Limited menu options </a:t>
            </a:r>
          </a:p>
          <a:p>
            <a:r>
              <a:rPr lang="en-US" dirty="0"/>
              <a:t>Sub-menus might be difficult to find</a:t>
            </a:r>
          </a:p>
          <a:p>
            <a:r>
              <a:rPr lang="en-US" dirty="0"/>
              <a:t>Risks of taking up a lot of screen space or being too small</a:t>
            </a:r>
          </a:p>
          <a:p>
            <a:r>
              <a:rPr lang="en-US" dirty="0"/>
              <a:t>Requires unnecessary actions for a simple task</a:t>
            </a:r>
          </a:p>
          <a:p>
            <a:endParaRPr lang="en-US" dirty="0"/>
          </a:p>
        </p:txBody>
      </p:sp>
      <p:sp>
        <p:nvSpPr>
          <p:cNvPr id="4" name="Slide Number Placeholder 3">
            <a:extLst>
              <a:ext uri="{FF2B5EF4-FFF2-40B4-BE49-F238E27FC236}">
                <a16:creationId xmlns:a16="http://schemas.microsoft.com/office/drawing/2014/main" id="{6CC6811F-5365-7019-CD1D-79F4A512C3B1}"/>
              </a:ext>
            </a:extLst>
          </p:cNvPr>
          <p:cNvSpPr>
            <a:spLocks noGrp="1"/>
          </p:cNvSpPr>
          <p:nvPr>
            <p:ph type="sldNum" sz="quarter" idx="12"/>
          </p:nvPr>
        </p:nvSpPr>
        <p:spPr/>
        <p:txBody>
          <a:bodyPr/>
          <a:lstStyle/>
          <a:p>
            <a:fld id="{BDCDBBEF-AA6C-4BA6-85B2-A17D7F280E38}" type="slidenum">
              <a:rPr lang="en-US" smtClean="0"/>
              <a:pPr/>
              <a:t>18</a:t>
            </a:fld>
            <a:endParaRPr lang="en-US"/>
          </a:p>
        </p:txBody>
      </p:sp>
    </p:spTree>
    <p:extLst>
      <p:ext uri="{BB962C8B-B14F-4D97-AF65-F5344CB8AC3E}">
        <p14:creationId xmlns:p14="http://schemas.microsoft.com/office/powerpoint/2010/main" val="393662594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EE0C04-2205-FC7F-CA41-EBC3486FAA44}"/>
              </a:ext>
            </a:extLst>
          </p:cNvPr>
          <p:cNvSpPr>
            <a:spLocks noGrp="1"/>
          </p:cNvSpPr>
          <p:nvPr>
            <p:ph type="title"/>
          </p:nvPr>
        </p:nvSpPr>
        <p:spPr/>
        <p:txBody>
          <a:bodyPr/>
          <a:lstStyle/>
          <a:p>
            <a:endParaRPr lang="en-US" dirty="0"/>
          </a:p>
        </p:txBody>
      </p:sp>
      <p:sp>
        <p:nvSpPr>
          <p:cNvPr id="3" name="Content Placeholder 2">
            <a:extLst>
              <a:ext uri="{FF2B5EF4-FFF2-40B4-BE49-F238E27FC236}">
                <a16:creationId xmlns:a16="http://schemas.microsoft.com/office/drawing/2014/main" id="{EEB12D81-5AF2-D9A6-6459-E513922A6A14}"/>
              </a:ext>
            </a:extLst>
          </p:cNvPr>
          <p:cNvSpPr>
            <a:spLocks noGrp="1"/>
          </p:cNvSpPr>
          <p:nvPr>
            <p:ph idx="1"/>
          </p:nvPr>
        </p:nvSpPr>
        <p:spPr>
          <a:xfrm>
            <a:off x="664029" y="1458686"/>
            <a:ext cx="10689771" cy="4718277"/>
          </a:xfrm>
        </p:spPr>
        <p:txBody>
          <a:bodyPr>
            <a:normAutofit fontScale="92500" lnSpcReduction="10000"/>
          </a:bodyPr>
          <a:lstStyle/>
          <a:p>
            <a:pPr>
              <a:buNone/>
            </a:pPr>
            <a:r>
              <a:rPr lang="en-IN" b="0" i="0" u="none" strike="noStrike" dirty="0">
                <a:solidFill>
                  <a:srgbClr val="000000"/>
                </a:solidFill>
                <a:effectLst/>
                <a:latin typeface="-webkit-standard"/>
              </a:rPr>
              <a:t>A </a:t>
            </a:r>
            <a:r>
              <a:rPr lang="en-IN" b="1" i="0" u="none" strike="noStrike" dirty="0">
                <a:solidFill>
                  <a:srgbClr val="000000"/>
                </a:solidFill>
                <a:effectLst/>
              </a:rPr>
              <a:t>Direct Manipulation Interface (DMI)</a:t>
            </a:r>
            <a:r>
              <a:rPr lang="en-IN" b="0" i="0" u="none" strike="noStrike" dirty="0">
                <a:solidFill>
                  <a:srgbClr val="000000"/>
                </a:solidFill>
                <a:effectLst/>
                <a:latin typeface="-webkit-standard"/>
              </a:rPr>
              <a:t> </a:t>
            </a:r>
            <a:r>
              <a:rPr lang="en-US" b="1" dirty="0"/>
              <a:t>Direct Manipulation Interface (DMI)</a:t>
            </a:r>
          </a:p>
          <a:p>
            <a:r>
              <a:rPr lang="en-US" dirty="0"/>
              <a:t>A </a:t>
            </a:r>
            <a:r>
              <a:rPr lang="en-US" b="1" dirty="0"/>
              <a:t>Direct Manipulation Interface (DMI)</a:t>
            </a:r>
            <a:r>
              <a:rPr lang="en-US" dirty="0"/>
              <a:t> allows users to interact directly with objects on the screen rather than using text commands or menu selections. Users perform actions by clicking, dragging, or touching graphical elements.</a:t>
            </a:r>
          </a:p>
          <a:p>
            <a:pPr marL="0" indent="0" algn="l">
              <a:buNone/>
            </a:pPr>
            <a:r>
              <a:rPr lang="en-IN" sz="2200" b="1" i="0" u="sng" strike="noStrike" dirty="0">
                <a:solidFill>
                  <a:srgbClr val="000000"/>
                </a:solidFill>
                <a:effectLst/>
                <a:latin typeface="Times New Roman" panose="02020603050405020304" pitchFamily="18" charset="0"/>
                <a:cs typeface="Times New Roman" panose="02020603050405020304" pitchFamily="18" charset="0"/>
              </a:rPr>
              <a:t>Examples of Direct Manipulation Interfaces</a:t>
            </a:r>
          </a:p>
          <a:p>
            <a:pPr algn="l">
              <a:buFont typeface="Arial" panose="020B0604020202020204" pitchFamily="34" charset="0"/>
              <a:buChar char="•"/>
            </a:pPr>
            <a:r>
              <a:rPr lang="en-IN" sz="2200" b="1" i="0" u="none" strike="noStrike" dirty="0">
                <a:solidFill>
                  <a:srgbClr val="000000"/>
                </a:solidFill>
                <a:effectLst/>
                <a:latin typeface="Times New Roman" panose="02020603050405020304" pitchFamily="18" charset="0"/>
                <a:cs typeface="Times New Roman" panose="02020603050405020304" pitchFamily="18" charset="0"/>
              </a:rPr>
              <a:t>Graphical Operating Systems</a:t>
            </a:r>
            <a:r>
              <a:rPr lang="en-IN" sz="2200" b="0" i="0" u="none" strike="noStrike" dirty="0">
                <a:solidFill>
                  <a:srgbClr val="000000"/>
                </a:solidFill>
                <a:effectLst/>
                <a:latin typeface="Times New Roman" panose="02020603050405020304" pitchFamily="18" charset="0"/>
                <a:cs typeface="Times New Roman" panose="02020603050405020304" pitchFamily="18" charset="0"/>
              </a:rPr>
              <a:t> (e.g., Windows, macOS)</a:t>
            </a:r>
          </a:p>
          <a:p>
            <a:pPr marL="742950" lvl="1" indent="-285750" algn="l">
              <a:buFont typeface="Arial" panose="020B0604020202020204" pitchFamily="34" charset="0"/>
              <a:buChar char="•"/>
            </a:pPr>
            <a:r>
              <a:rPr lang="en-IN" sz="2200" b="0" i="0" u="none" strike="noStrike" dirty="0">
                <a:solidFill>
                  <a:srgbClr val="000000"/>
                </a:solidFill>
                <a:effectLst/>
                <a:latin typeface="Times New Roman" panose="02020603050405020304" pitchFamily="18" charset="0"/>
                <a:cs typeface="Times New Roman" panose="02020603050405020304" pitchFamily="18" charset="0"/>
              </a:rPr>
              <a:t>Dragging and dropping files, resizing windows.</a:t>
            </a:r>
          </a:p>
          <a:p>
            <a:pPr algn="l">
              <a:buFont typeface="Arial" panose="020B0604020202020204" pitchFamily="34" charset="0"/>
              <a:buChar char="•"/>
            </a:pPr>
            <a:r>
              <a:rPr lang="en-IN" sz="2200" b="1" i="0" u="none" strike="noStrike" dirty="0">
                <a:solidFill>
                  <a:srgbClr val="000000"/>
                </a:solidFill>
                <a:effectLst/>
                <a:latin typeface="Times New Roman" panose="02020603050405020304" pitchFamily="18" charset="0"/>
                <a:cs typeface="Times New Roman" panose="02020603050405020304" pitchFamily="18" charset="0"/>
              </a:rPr>
              <a:t>Photo Editing Software</a:t>
            </a:r>
            <a:r>
              <a:rPr lang="en-IN" sz="2200" b="0" i="0" u="none" strike="noStrike" dirty="0">
                <a:solidFill>
                  <a:srgbClr val="000000"/>
                </a:solidFill>
                <a:effectLst/>
                <a:latin typeface="Times New Roman" panose="02020603050405020304" pitchFamily="18" charset="0"/>
                <a:cs typeface="Times New Roman" panose="02020603050405020304" pitchFamily="18" charset="0"/>
              </a:rPr>
              <a:t> (e.g., Photoshop)</a:t>
            </a:r>
          </a:p>
          <a:p>
            <a:pPr marL="742950" lvl="1" indent="-285750" algn="l">
              <a:buFont typeface="Arial" panose="020B0604020202020204" pitchFamily="34" charset="0"/>
              <a:buChar char="•"/>
            </a:pPr>
            <a:r>
              <a:rPr lang="en-IN" sz="2200" b="0" i="0" u="none" strike="noStrike" dirty="0">
                <a:solidFill>
                  <a:srgbClr val="000000"/>
                </a:solidFill>
                <a:effectLst/>
                <a:latin typeface="Times New Roman" panose="02020603050405020304" pitchFamily="18" charset="0"/>
                <a:cs typeface="Times New Roman" panose="02020603050405020304" pitchFamily="18" charset="0"/>
              </a:rPr>
              <a:t>Adjusting image properties by dragging sliders.</a:t>
            </a:r>
          </a:p>
          <a:p>
            <a:pPr algn="l">
              <a:buFont typeface="Arial" panose="020B0604020202020204" pitchFamily="34" charset="0"/>
              <a:buChar char="•"/>
            </a:pPr>
            <a:r>
              <a:rPr lang="en-IN" sz="2200" b="1" i="0" u="none" strike="noStrike" dirty="0">
                <a:solidFill>
                  <a:srgbClr val="000000"/>
                </a:solidFill>
                <a:effectLst/>
                <a:latin typeface="Times New Roman" panose="02020603050405020304" pitchFamily="18" charset="0"/>
                <a:cs typeface="Times New Roman" panose="02020603050405020304" pitchFamily="18" charset="0"/>
              </a:rPr>
              <a:t>Touchscreen Interfaces</a:t>
            </a:r>
            <a:r>
              <a:rPr lang="en-IN" sz="2200" b="0" i="0" u="none" strike="noStrike" dirty="0">
                <a:solidFill>
                  <a:srgbClr val="000000"/>
                </a:solidFill>
                <a:effectLst/>
                <a:latin typeface="Times New Roman" panose="02020603050405020304" pitchFamily="18" charset="0"/>
                <a:cs typeface="Times New Roman" panose="02020603050405020304" pitchFamily="18" charset="0"/>
              </a:rPr>
              <a:t> (e.g., smartphones, tablets)</a:t>
            </a:r>
          </a:p>
          <a:p>
            <a:pPr marL="742950" lvl="1" indent="-285750" algn="l">
              <a:buFont typeface="Arial" panose="020B0604020202020204" pitchFamily="34" charset="0"/>
              <a:buChar char="•"/>
            </a:pPr>
            <a:r>
              <a:rPr lang="en-IN" sz="2200" b="0" i="0" u="none" strike="noStrike" dirty="0">
                <a:solidFill>
                  <a:srgbClr val="000000"/>
                </a:solidFill>
                <a:effectLst/>
                <a:latin typeface="Times New Roman" panose="02020603050405020304" pitchFamily="18" charset="0"/>
                <a:cs typeface="Times New Roman" panose="02020603050405020304" pitchFamily="18" charset="0"/>
              </a:rPr>
              <a:t>Pinching to zoom, swiping to navigate.</a:t>
            </a:r>
          </a:p>
          <a:p>
            <a:pPr algn="l">
              <a:buFont typeface="Arial" panose="020B0604020202020204" pitchFamily="34" charset="0"/>
              <a:buChar char="•"/>
            </a:pPr>
            <a:r>
              <a:rPr lang="en-IN" sz="2200" b="1" i="0" u="none" strike="noStrike" dirty="0">
                <a:solidFill>
                  <a:srgbClr val="000000"/>
                </a:solidFill>
                <a:effectLst/>
                <a:latin typeface="Times New Roman" panose="02020603050405020304" pitchFamily="18" charset="0"/>
                <a:cs typeface="Times New Roman" panose="02020603050405020304" pitchFamily="18" charset="0"/>
              </a:rPr>
              <a:t>Game Interfaces</a:t>
            </a:r>
            <a:endParaRPr lang="en-IN" sz="2200" b="0" i="0" u="none" strike="noStrike" dirty="0">
              <a:solidFill>
                <a:srgbClr val="000000"/>
              </a:solidFill>
              <a:effectLst/>
              <a:latin typeface="Times New Roman" panose="02020603050405020304" pitchFamily="18" charset="0"/>
              <a:cs typeface="Times New Roman" panose="02020603050405020304" pitchFamily="18" charset="0"/>
            </a:endParaRPr>
          </a:p>
          <a:p>
            <a:pPr marL="742950" lvl="1" indent="-285750" algn="l">
              <a:buFont typeface="Arial" panose="020B0604020202020204" pitchFamily="34" charset="0"/>
              <a:buChar char="•"/>
            </a:pPr>
            <a:r>
              <a:rPr lang="en-IN" sz="2200" b="0" i="0" u="none" strike="noStrike" dirty="0">
                <a:solidFill>
                  <a:srgbClr val="000000"/>
                </a:solidFill>
                <a:effectLst/>
                <a:latin typeface="Times New Roman" panose="02020603050405020304" pitchFamily="18" charset="0"/>
                <a:cs typeface="Times New Roman" panose="02020603050405020304" pitchFamily="18" charset="0"/>
              </a:rPr>
              <a:t>Controlling characters using joysticks or on-screen buttons.</a:t>
            </a:r>
          </a:p>
          <a:p>
            <a:pPr algn="just"/>
            <a:endParaRPr lang="en-US" dirty="0"/>
          </a:p>
        </p:txBody>
      </p:sp>
      <p:sp>
        <p:nvSpPr>
          <p:cNvPr id="4" name="Slide Number Placeholder 3">
            <a:extLst>
              <a:ext uri="{FF2B5EF4-FFF2-40B4-BE49-F238E27FC236}">
                <a16:creationId xmlns:a16="http://schemas.microsoft.com/office/drawing/2014/main" id="{E55C8594-2D4E-D4BA-57A5-3482117B2281}"/>
              </a:ext>
            </a:extLst>
          </p:cNvPr>
          <p:cNvSpPr>
            <a:spLocks noGrp="1"/>
          </p:cNvSpPr>
          <p:nvPr>
            <p:ph type="sldNum" sz="quarter" idx="12"/>
          </p:nvPr>
        </p:nvSpPr>
        <p:spPr/>
        <p:txBody>
          <a:bodyPr/>
          <a:lstStyle/>
          <a:p>
            <a:fld id="{BDCDBBEF-AA6C-4BA6-85B2-A17D7F280E38}" type="slidenum">
              <a:rPr lang="en-US" smtClean="0"/>
              <a:pPr/>
              <a:t>19</a:t>
            </a:fld>
            <a:endParaRPr lang="en-US"/>
          </a:p>
        </p:txBody>
      </p:sp>
    </p:spTree>
    <p:extLst>
      <p:ext uri="{BB962C8B-B14F-4D97-AF65-F5344CB8AC3E}">
        <p14:creationId xmlns:p14="http://schemas.microsoft.com/office/powerpoint/2010/main" val="221424385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8E2AC77-8257-C403-1BCF-2906DED5B36A}"/>
              </a:ext>
            </a:extLst>
          </p:cNvPr>
          <p:cNvSpPr>
            <a:spLocks noGrp="1"/>
          </p:cNvSpPr>
          <p:nvPr>
            <p:ph idx="1"/>
          </p:nvPr>
        </p:nvSpPr>
        <p:spPr>
          <a:xfrm>
            <a:off x="827314" y="827314"/>
            <a:ext cx="10526486" cy="5349649"/>
          </a:xfrm>
        </p:spPr>
        <p:txBody>
          <a:bodyPr>
            <a:normAutofit fontScale="92500" lnSpcReduction="10000"/>
          </a:bodyPr>
          <a:lstStyle/>
          <a:p>
            <a:pPr marL="0" indent="0" algn="l">
              <a:buNone/>
            </a:pPr>
            <a:r>
              <a:rPr lang="en-IN" b="1" i="0" u="sng" strike="noStrike" dirty="0">
                <a:solidFill>
                  <a:srgbClr val="000000"/>
                </a:solidFill>
                <a:effectLst/>
              </a:rPr>
              <a:t>Advantages of Direct Manipulation Interfaces</a:t>
            </a:r>
          </a:p>
          <a:p>
            <a:pPr marL="0" indent="0" algn="l">
              <a:buNone/>
            </a:pPr>
            <a:r>
              <a:rPr lang="en-IN" b="0" i="0" u="none" strike="noStrike" dirty="0">
                <a:solidFill>
                  <a:srgbClr val="000000"/>
                </a:solidFill>
                <a:effectLst/>
              </a:rPr>
              <a:t>✔️ </a:t>
            </a:r>
            <a:r>
              <a:rPr lang="en-IN" b="1" i="0" u="none" strike="noStrike" dirty="0">
                <a:solidFill>
                  <a:srgbClr val="000000"/>
                </a:solidFill>
                <a:effectLst/>
              </a:rPr>
              <a:t>User-friendly</a:t>
            </a:r>
            <a:r>
              <a:rPr lang="en-IN" b="0" i="0" u="none" strike="noStrike" dirty="0">
                <a:solidFill>
                  <a:srgbClr val="000000"/>
                </a:solidFill>
                <a:effectLst/>
              </a:rPr>
              <a:t> – Easy for beginners to use.</a:t>
            </a:r>
            <a:br>
              <a:rPr lang="en-IN" b="0" i="0" u="none" strike="noStrike" dirty="0">
                <a:solidFill>
                  <a:srgbClr val="000000"/>
                </a:solidFill>
                <a:effectLst/>
              </a:rPr>
            </a:br>
            <a:r>
              <a:rPr lang="en-IN" b="0" i="0" u="none" strike="noStrike" dirty="0">
                <a:solidFill>
                  <a:srgbClr val="000000"/>
                </a:solidFill>
                <a:effectLst/>
              </a:rPr>
              <a:t>✔️ </a:t>
            </a:r>
            <a:r>
              <a:rPr lang="en-IN" b="1" i="0" u="none" strike="noStrike" dirty="0">
                <a:solidFill>
                  <a:srgbClr val="000000"/>
                </a:solidFill>
                <a:effectLst/>
              </a:rPr>
              <a:t>Efficient</a:t>
            </a:r>
            <a:r>
              <a:rPr lang="en-IN" b="0" i="0" u="none" strike="noStrike" dirty="0">
                <a:solidFill>
                  <a:srgbClr val="000000"/>
                </a:solidFill>
                <a:effectLst/>
              </a:rPr>
              <a:t> – Faster than typing commands.</a:t>
            </a:r>
            <a:br>
              <a:rPr lang="en-IN" b="0" i="0" u="none" strike="noStrike" dirty="0">
                <a:solidFill>
                  <a:srgbClr val="000000"/>
                </a:solidFill>
                <a:effectLst/>
              </a:rPr>
            </a:br>
            <a:r>
              <a:rPr lang="en-IN" b="0" i="0" u="none" strike="noStrike" dirty="0">
                <a:solidFill>
                  <a:srgbClr val="000000"/>
                </a:solidFill>
                <a:effectLst/>
              </a:rPr>
              <a:t>✔️ </a:t>
            </a:r>
            <a:r>
              <a:rPr lang="en-IN" b="1" i="0" u="none" strike="noStrike" dirty="0">
                <a:solidFill>
                  <a:srgbClr val="000000"/>
                </a:solidFill>
                <a:effectLst/>
              </a:rPr>
              <a:t>Encourages Exploration</a:t>
            </a:r>
            <a:r>
              <a:rPr lang="en-IN" b="0" i="0" u="none" strike="noStrike" dirty="0">
                <a:solidFill>
                  <a:srgbClr val="000000"/>
                </a:solidFill>
                <a:effectLst/>
              </a:rPr>
              <a:t> – Users can try different actions with immediate feedback.</a:t>
            </a:r>
            <a:br>
              <a:rPr lang="en-IN" b="0" i="0" u="none" strike="noStrike" dirty="0">
                <a:solidFill>
                  <a:srgbClr val="000000"/>
                </a:solidFill>
                <a:effectLst/>
              </a:rPr>
            </a:br>
            <a:r>
              <a:rPr lang="en-IN" b="0" i="0" u="none" strike="noStrike" dirty="0">
                <a:solidFill>
                  <a:srgbClr val="000000"/>
                </a:solidFill>
                <a:effectLst/>
              </a:rPr>
              <a:t>✔️ </a:t>
            </a:r>
            <a:r>
              <a:rPr lang="en-IN" b="1" i="0" u="none" strike="noStrike" dirty="0">
                <a:solidFill>
                  <a:srgbClr val="000000"/>
                </a:solidFill>
                <a:effectLst/>
              </a:rPr>
              <a:t>Reduces Errors</a:t>
            </a:r>
            <a:r>
              <a:rPr lang="en-IN" b="0" i="0" u="none" strike="noStrike" dirty="0">
                <a:solidFill>
                  <a:srgbClr val="000000"/>
                </a:solidFill>
                <a:effectLst/>
              </a:rPr>
              <a:t> – The ability to undo mistakes makes the system more robust.</a:t>
            </a:r>
          </a:p>
          <a:p>
            <a:pPr marL="0" indent="0" algn="l">
              <a:buNone/>
            </a:pPr>
            <a:r>
              <a:rPr lang="en-IN" b="1" i="0" u="sng" strike="noStrike" dirty="0">
                <a:solidFill>
                  <a:srgbClr val="000000"/>
                </a:solidFill>
                <a:effectLst/>
              </a:rPr>
              <a:t>Disadvantages of Direct Manipulation Interfaces</a:t>
            </a:r>
          </a:p>
          <a:p>
            <a:pPr marL="0" indent="0" algn="l">
              <a:buNone/>
            </a:pPr>
            <a:r>
              <a:rPr lang="en-IN" b="0" i="0" u="none" strike="noStrike" dirty="0">
                <a:solidFill>
                  <a:srgbClr val="000000"/>
                </a:solidFill>
                <a:effectLst/>
              </a:rPr>
              <a:t>❌ </a:t>
            </a:r>
            <a:r>
              <a:rPr lang="en-IN" b="1" i="0" u="none" strike="noStrike" dirty="0">
                <a:solidFill>
                  <a:srgbClr val="000000"/>
                </a:solidFill>
                <a:effectLst/>
              </a:rPr>
              <a:t>Resource-Intensive</a:t>
            </a:r>
            <a:r>
              <a:rPr lang="en-IN" b="0" i="0" u="none" strike="noStrike" dirty="0">
                <a:solidFill>
                  <a:srgbClr val="000000"/>
                </a:solidFill>
                <a:effectLst/>
              </a:rPr>
              <a:t> – Requires more processing power and memory than text-based interfaces.</a:t>
            </a:r>
            <a:br>
              <a:rPr lang="en-IN" b="0" i="0" u="none" strike="noStrike" dirty="0">
                <a:solidFill>
                  <a:srgbClr val="000000"/>
                </a:solidFill>
                <a:effectLst/>
              </a:rPr>
            </a:br>
            <a:r>
              <a:rPr lang="en-IN" b="0" i="0" u="none" strike="noStrike" dirty="0">
                <a:solidFill>
                  <a:srgbClr val="000000"/>
                </a:solidFill>
                <a:effectLst/>
              </a:rPr>
              <a:t>❌ </a:t>
            </a:r>
            <a:r>
              <a:rPr lang="en-IN" b="1" i="0" u="none" strike="noStrike" dirty="0">
                <a:solidFill>
                  <a:srgbClr val="000000"/>
                </a:solidFill>
                <a:effectLst/>
              </a:rPr>
              <a:t>Not Ideal for Complex Tasks</a:t>
            </a:r>
            <a:r>
              <a:rPr lang="en-IN" b="0" i="0" u="none" strike="noStrike" dirty="0">
                <a:solidFill>
                  <a:srgbClr val="000000"/>
                </a:solidFill>
                <a:effectLst/>
              </a:rPr>
              <a:t> – Some advanced operations are harder to perform without command-line precision.</a:t>
            </a:r>
            <a:br>
              <a:rPr lang="en-IN" b="0" i="0" u="none" strike="noStrike" dirty="0">
                <a:solidFill>
                  <a:srgbClr val="000000"/>
                </a:solidFill>
                <a:effectLst/>
              </a:rPr>
            </a:br>
            <a:r>
              <a:rPr lang="en-IN" b="0" i="0" u="none" strike="noStrike" dirty="0">
                <a:solidFill>
                  <a:srgbClr val="000000"/>
                </a:solidFill>
                <a:effectLst/>
              </a:rPr>
              <a:t>❌ </a:t>
            </a:r>
            <a:r>
              <a:rPr lang="en-IN" b="1" i="0" u="none" strike="noStrike" dirty="0">
                <a:solidFill>
                  <a:srgbClr val="000000"/>
                </a:solidFill>
                <a:effectLst/>
              </a:rPr>
              <a:t>Scalability Issues</a:t>
            </a:r>
            <a:r>
              <a:rPr lang="en-IN" b="0" i="0" u="none" strike="noStrike" dirty="0">
                <a:solidFill>
                  <a:srgbClr val="000000"/>
                </a:solidFill>
                <a:effectLst/>
              </a:rPr>
              <a:t> – Can become cluttered when dealing with large datasets or complex workflows.</a:t>
            </a:r>
          </a:p>
          <a:p>
            <a:endParaRPr lang="en-US" dirty="0"/>
          </a:p>
        </p:txBody>
      </p:sp>
      <p:sp>
        <p:nvSpPr>
          <p:cNvPr id="4" name="Slide Number Placeholder 3">
            <a:extLst>
              <a:ext uri="{FF2B5EF4-FFF2-40B4-BE49-F238E27FC236}">
                <a16:creationId xmlns:a16="http://schemas.microsoft.com/office/drawing/2014/main" id="{95A6FC3E-CFD5-993A-EC0E-AA133A2F5D3E}"/>
              </a:ext>
            </a:extLst>
          </p:cNvPr>
          <p:cNvSpPr>
            <a:spLocks noGrp="1"/>
          </p:cNvSpPr>
          <p:nvPr>
            <p:ph type="sldNum" sz="quarter" idx="12"/>
          </p:nvPr>
        </p:nvSpPr>
        <p:spPr/>
        <p:txBody>
          <a:bodyPr/>
          <a:lstStyle/>
          <a:p>
            <a:fld id="{BDCDBBEF-AA6C-4BA6-85B2-A17D7F280E38}" type="slidenum">
              <a:rPr lang="en-US" smtClean="0"/>
              <a:pPr/>
              <a:t>20</a:t>
            </a:fld>
            <a:endParaRPr lang="en-US"/>
          </a:p>
        </p:txBody>
      </p:sp>
    </p:spTree>
    <p:extLst>
      <p:ext uri="{BB962C8B-B14F-4D97-AF65-F5344CB8AC3E}">
        <p14:creationId xmlns:p14="http://schemas.microsoft.com/office/powerpoint/2010/main" val="422167586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Autofit/>
          </a:bodyPr>
          <a:lstStyle/>
          <a:p>
            <a:r>
              <a:rPr lang="en-US" dirty="0">
                <a:hlinkClick r:id="rId2"/>
              </a:rPr>
              <a:t>https://www.tutorialspoint.com/software_engineering/software_user_interface_design.htm</a:t>
            </a:r>
            <a:endParaRPr lang="en-US" dirty="0"/>
          </a:p>
          <a:p>
            <a:r>
              <a:rPr lang="en-US" dirty="0">
                <a:hlinkClick r:id="rId3"/>
              </a:rPr>
              <a:t>https://www.usability.gov/what-and-why/user-interface-design.html#:~:text=The%20best%20interfaces%20are%20almost,get%20things%20done%20more%20quickly.</a:t>
            </a:r>
            <a:endParaRPr lang="en-US" dirty="0"/>
          </a:p>
          <a:p>
            <a:r>
              <a:rPr lang="en-US" dirty="0">
                <a:hlinkClick r:id="rId4"/>
              </a:rPr>
              <a:t>https://www.elegantthemes.com/blog/resources/10-rules-of-good-ui-design-to-follow-on-every-web-design-project</a:t>
            </a:r>
            <a:endParaRPr lang="en-US" dirty="0"/>
          </a:p>
        </p:txBody>
      </p:sp>
      <p:sp>
        <p:nvSpPr>
          <p:cNvPr id="5" name="Rectangle 4"/>
          <p:cNvSpPr/>
          <p:nvPr/>
        </p:nvSpPr>
        <p:spPr>
          <a:xfrm>
            <a:off x="838200" y="1803400"/>
            <a:ext cx="10515600" cy="4368800"/>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itle 5"/>
          <p:cNvSpPr>
            <a:spLocks noGrp="1"/>
          </p:cNvSpPr>
          <p:nvPr>
            <p:ph type="title"/>
          </p:nvPr>
        </p:nvSpPr>
        <p:spPr>
          <a:xfrm>
            <a:off x="838200" y="849854"/>
            <a:ext cx="10515600" cy="840834"/>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90000"/>
          </a:bodyPr>
          <a:lstStyle/>
          <a:p>
            <a:pPr algn="ctr"/>
            <a:br>
              <a:rPr lang="en-US" dirty="0">
                <a:solidFill>
                  <a:schemeClr val="tx1"/>
                </a:solidFill>
                <a:latin typeface="Times New Roman" pitchFamily="18" charset="0"/>
                <a:cs typeface="Times New Roman" pitchFamily="18" charset="0"/>
              </a:rPr>
            </a:br>
            <a:r>
              <a:rPr lang="en-US" dirty="0">
                <a:solidFill>
                  <a:schemeClr val="tx1"/>
                </a:solidFill>
                <a:latin typeface="Times New Roman" pitchFamily="18" charset="0"/>
                <a:cs typeface="Times New Roman" pitchFamily="18" charset="0"/>
              </a:rPr>
              <a:t>References</a:t>
            </a:r>
            <a:br>
              <a:rPr lang="en-US" dirty="0">
                <a:solidFill>
                  <a:schemeClr val="tx1"/>
                </a:solidFill>
                <a:latin typeface="Times New Roman" pitchFamily="18" charset="0"/>
                <a:cs typeface="Times New Roman" pitchFamily="18" charset="0"/>
              </a:rPr>
            </a:br>
            <a:endParaRPr lang="en-US" dirty="0">
              <a:solidFill>
                <a:schemeClr val="tx1"/>
              </a:solidFill>
              <a:latin typeface="Times New Roman" pitchFamily="18" charset="0"/>
              <a:cs typeface="Times New Roman" pitchFamily="18" charset="0"/>
            </a:endParaRPr>
          </a:p>
        </p:txBody>
      </p:sp>
      <p:sp>
        <p:nvSpPr>
          <p:cNvPr id="7" name="Slide Number Placeholder 6"/>
          <p:cNvSpPr>
            <a:spLocks noGrp="1"/>
          </p:cNvSpPr>
          <p:nvPr>
            <p:ph type="sldNum" sz="quarter" idx="12"/>
          </p:nvPr>
        </p:nvSpPr>
        <p:spPr/>
        <p:txBody>
          <a:bodyPr/>
          <a:lstStyle/>
          <a:p>
            <a:fld id="{BDCDBBEF-AA6C-4BA6-85B2-A17D7F280E38}" type="slidenum">
              <a:rPr lang="en-US" smtClean="0"/>
              <a:pPr/>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2C813A83-4CF3-4942-8C24-169E11C40466}"/>
              </a:ext>
            </a:extLst>
          </p:cNvPr>
          <p:cNvSpPr/>
          <p:nvPr/>
        </p:nvSpPr>
        <p:spPr>
          <a:xfrm>
            <a:off x="0" y="0"/>
            <a:ext cx="12192000" cy="4686918"/>
          </a:xfrm>
          <a:prstGeom prst="rect">
            <a:avLst/>
          </a:prstGeom>
          <a:solidFill>
            <a:schemeClr val="accent6">
              <a:lumMod val="50000"/>
              <a:alpha val="6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Light"/>
              </a:rPr>
              <a:t> </a:t>
            </a:r>
          </a:p>
        </p:txBody>
      </p:sp>
      <p:cxnSp>
        <p:nvCxnSpPr>
          <p:cNvPr id="18" name="Straight Connector 17">
            <a:extLst>
              <a:ext uri="{FF2B5EF4-FFF2-40B4-BE49-F238E27FC236}">
                <a16:creationId xmlns:a16="http://schemas.microsoft.com/office/drawing/2014/main" id="{8C6F3F28-25A8-4E20-83C7-12F88E7C28D0}"/>
              </a:ext>
            </a:extLst>
          </p:cNvPr>
          <p:cNvCxnSpPr>
            <a:cxnSpLocks/>
          </p:cNvCxnSpPr>
          <p:nvPr/>
        </p:nvCxnSpPr>
        <p:spPr>
          <a:xfrm>
            <a:off x="9347200" y="0"/>
            <a:ext cx="1828800" cy="182880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E1879BF-80CB-413D-9BC1-C05963A116D7}"/>
              </a:ext>
            </a:extLst>
          </p:cNvPr>
          <p:cNvCxnSpPr>
            <a:cxnSpLocks/>
          </p:cNvCxnSpPr>
          <p:nvPr/>
        </p:nvCxnSpPr>
        <p:spPr>
          <a:xfrm>
            <a:off x="10169128" y="0"/>
            <a:ext cx="663972" cy="663972"/>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ED354CBC-26FA-4C5C-B91C-AD6F2AE53BC2}"/>
              </a:ext>
            </a:extLst>
          </p:cNvPr>
          <p:cNvCxnSpPr>
            <a:cxnSpLocks/>
          </p:cNvCxnSpPr>
          <p:nvPr/>
        </p:nvCxnSpPr>
        <p:spPr>
          <a:xfrm>
            <a:off x="733426" y="6294597"/>
            <a:ext cx="558345" cy="558345"/>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B6F6E02B-7F30-40ED-9667-2C98864546BE}"/>
              </a:ext>
            </a:extLst>
          </p:cNvPr>
          <p:cNvCxnSpPr>
            <a:cxnSpLocks/>
          </p:cNvCxnSpPr>
          <p:nvPr/>
        </p:nvCxnSpPr>
        <p:spPr>
          <a:xfrm>
            <a:off x="390526" y="5129689"/>
            <a:ext cx="1728311" cy="1728311"/>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
        <p:nvSpPr>
          <p:cNvPr id="9" name="Title 1"/>
          <p:cNvSpPr txBox="1">
            <a:spLocks/>
          </p:cNvSpPr>
          <p:nvPr/>
        </p:nvSpPr>
        <p:spPr>
          <a:xfrm>
            <a:off x="1485902" y="2249080"/>
            <a:ext cx="10725148" cy="1231106"/>
          </a:xfrm>
          <a:prstGeom prst="rect">
            <a:avLst/>
          </a:prstGeom>
        </p:spPr>
        <p:txBody>
          <a:bodyPr wrap="square" lIns="0" tIns="0" rIns="0" bIns="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8000" b="0" i="0" u="none" strike="noStrike" kern="1200" cap="none" spc="0" normalizeH="0" baseline="0" noProof="0" dirty="0">
                <a:ln>
                  <a:noFill/>
                </a:ln>
                <a:solidFill>
                  <a:prstClr val="white"/>
                </a:solidFill>
                <a:effectLst/>
                <a:uLnTx/>
                <a:uFillTx/>
                <a:latin typeface="Casper" panose="02000506000000020004" pitchFamily="2" charset="0"/>
                <a:ea typeface="Segoe UI" panose="020B0502040204020203" pitchFamily="34" charset="0"/>
                <a:cs typeface="Segoe UI" panose="020B0502040204020203" pitchFamily="34" charset="0"/>
              </a:rPr>
              <a:t>THANK YOU</a:t>
            </a:r>
          </a:p>
        </p:txBody>
      </p:sp>
      <p:sp>
        <p:nvSpPr>
          <p:cNvPr id="22" name="Diamond 6">
            <a:extLst>
              <a:ext uri="{FF2B5EF4-FFF2-40B4-BE49-F238E27FC236}">
                <a16:creationId xmlns:a16="http://schemas.microsoft.com/office/drawing/2014/main" id="{AFBA4B1A-59E0-42F9-8062-FE9B4E00A99F}"/>
              </a:ext>
            </a:extLst>
          </p:cNvPr>
          <p:cNvSpPr/>
          <p:nvPr/>
        </p:nvSpPr>
        <p:spPr>
          <a:xfrm>
            <a:off x="2641599" y="1214279"/>
            <a:ext cx="2430463" cy="3225800"/>
          </a:xfrm>
          <a:custGeom>
            <a:avLst/>
            <a:gdLst>
              <a:gd name="connsiteX0" fmla="*/ 0 w 3225800"/>
              <a:gd name="connsiteY0" fmla="*/ 1612900 h 3225800"/>
              <a:gd name="connsiteX1" fmla="*/ 1612900 w 3225800"/>
              <a:gd name="connsiteY1" fmla="*/ 0 h 3225800"/>
              <a:gd name="connsiteX2" fmla="*/ 3225800 w 3225800"/>
              <a:gd name="connsiteY2" fmla="*/ 1612900 h 3225800"/>
              <a:gd name="connsiteX3" fmla="*/ 1612900 w 3225800"/>
              <a:gd name="connsiteY3" fmla="*/ 3225800 h 3225800"/>
              <a:gd name="connsiteX4" fmla="*/ 0 w 3225800"/>
              <a:gd name="connsiteY4"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1612900 w 3225800"/>
              <a:gd name="connsiteY4" fmla="*/ 3225800 h 3225800"/>
              <a:gd name="connsiteX5" fmla="*/ 0 w 3225800"/>
              <a:gd name="connsiteY5"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2430463 w 3225800"/>
              <a:gd name="connsiteY4" fmla="*/ 2413000 h 3225800"/>
              <a:gd name="connsiteX5" fmla="*/ 1612900 w 3225800"/>
              <a:gd name="connsiteY5" fmla="*/ 3225800 h 3225800"/>
              <a:gd name="connsiteX6" fmla="*/ 0 w 3225800"/>
              <a:gd name="connsiteY6" fmla="*/ 1612900 h 3225800"/>
              <a:gd name="connsiteX0" fmla="*/ 3225800 w 3317240"/>
              <a:gd name="connsiteY0" fmla="*/ 1612900 h 3225800"/>
              <a:gd name="connsiteX1" fmla="*/ 2430463 w 3317240"/>
              <a:gd name="connsiteY1" fmla="*/ 2413000 h 3225800"/>
              <a:gd name="connsiteX2" fmla="*/ 1612900 w 3317240"/>
              <a:gd name="connsiteY2" fmla="*/ 3225800 h 3225800"/>
              <a:gd name="connsiteX3" fmla="*/ 0 w 3317240"/>
              <a:gd name="connsiteY3" fmla="*/ 1612900 h 3225800"/>
              <a:gd name="connsiteX4" fmla="*/ 1612900 w 3317240"/>
              <a:gd name="connsiteY4" fmla="*/ 0 h 3225800"/>
              <a:gd name="connsiteX5" fmla="*/ 2430463 w 3317240"/>
              <a:gd name="connsiteY5" fmla="*/ 817563 h 3225800"/>
              <a:gd name="connsiteX6" fmla="*/ 3317240 w 3317240"/>
              <a:gd name="connsiteY6" fmla="*/ 1704340 h 3225800"/>
              <a:gd name="connsiteX0" fmla="*/ 2430463 w 3317240"/>
              <a:gd name="connsiteY0" fmla="*/ 2413000 h 3225800"/>
              <a:gd name="connsiteX1" fmla="*/ 1612900 w 3317240"/>
              <a:gd name="connsiteY1" fmla="*/ 3225800 h 3225800"/>
              <a:gd name="connsiteX2" fmla="*/ 0 w 3317240"/>
              <a:gd name="connsiteY2" fmla="*/ 1612900 h 3225800"/>
              <a:gd name="connsiteX3" fmla="*/ 1612900 w 3317240"/>
              <a:gd name="connsiteY3" fmla="*/ 0 h 3225800"/>
              <a:gd name="connsiteX4" fmla="*/ 2430463 w 3317240"/>
              <a:gd name="connsiteY4" fmla="*/ 817563 h 3225800"/>
              <a:gd name="connsiteX5" fmla="*/ 3317240 w 3317240"/>
              <a:gd name="connsiteY5" fmla="*/ 1704340 h 3225800"/>
              <a:gd name="connsiteX0" fmla="*/ 2430463 w 2430463"/>
              <a:gd name="connsiteY0" fmla="*/ 2413000 h 3225800"/>
              <a:gd name="connsiteX1" fmla="*/ 1612900 w 2430463"/>
              <a:gd name="connsiteY1" fmla="*/ 3225800 h 3225800"/>
              <a:gd name="connsiteX2" fmla="*/ 0 w 2430463"/>
              <a:gd name="connsiteY2" fmla="*/ 1612900 h 3225800"/>
              <a:gd name="connsiteX3" fmla="*/ 1612900 w 2430463"/>
              <a:gd name="connsiteY3" fmla="*/ 0 h 3225800"/>
              <a:gd name="connsiteX4" fmla="*/ 2430463 w 2430463"/>
              <a:gd name="connsiteY4" fmla="*/ 817563 h 3225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30463" h="3225800">
                <a:moveTo>
                  <a:pt x="2430463" y="2413000"/>
                </a:moveTo>
                <a:lnTo>
                  <a:pt x="1612900" y="3225800"/>
                </a:lnTo>
                <a:lnTo>
                  <a:pt x="0" y="1612900"/>
                </a:lnTo>
                <a:lnTo>
                  <a:pt x="1612900" y="0"/>
                </a:lnTo>
                <a:lnTo>
                  <a:pt x="2430463" y="817563"/>
                </a:lnTo>
              </a:path>
            </a:pathLst>
          </a:custGeom>
          <a:noFill/>
          <a:ln w="38100" cap="flat" cmpd="sng" algn="ctr">
            <a:solidFill>
              <a:schemeClr val="bg1"/>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Light"/>
            </a:endParaRPr>
          </a:p>
        </p:txBody>
      </p:sp>
      <p:sp>
        <p:nvSpPr>
          <p:cNvPr id="23" name="Diamond 6">
            <a:extLst>
              <a:ext uri="{FF2B5EF4-FFF2-40B4-BE49-F238E27FC236}">
                <a16:creationId xmlns:a16="http://schemas.microsoft.com/office/drawing/2014/main" id="{4F0CA98B-3337-4AC3-8305-ED6C9C731FFB}"/>
              </a:ext>
            </a:extLst>
          </p:cNvPr>
          <p:cNvSpPr/>
          <p:nvPr/>
        </p:nvSpPr>
        <p:spPr>
          <a:xfrm>
            <a:off x="2898774" y="1214279"/>
            <a:ext cx="2430463" cy="3225800"/>
          </a:xfrm>
          <a:custGeom>
            <a:avLst/>
            <a:gdLst>
              <a:gd name="connsiteX0" fmla="*/ 0 w 3225800"/>
              <a:gd name="connsiteY0" fmla="*/ 1612900 h 3225800"/>
              <a:gd name="connsiteX1" fmla="*/ 1612900 w 3225800"/>
              <a:gd name="connsiteY1" fmla="*/ 0 h 3225800"/>
              <a:gd name="connsiteX2" fmla="*/ 3225800 w 3225800"/>
              <a:gd name="connsiteY2" fmla="*/ 1612900 h 3225800"/>
              <a:gd name="connsiteX3" fmla="*/ 1612900 w 3225800"/>
              <a:gd name="connsiteY3" fmla="*/ 3225800 h 3225800"/>
              <a:gd name="connsiteX4" fmla="*/ 0 w 3225800"/>
              <a:gd name="connsiteY4"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1612900 w 3225800"/>
              <a:gd name="connsiteY4" fmla="*/ 3225800 h 3225800"/>
              <a:gd name="connsiteX5" fmla="*/ 0 w 3225800"/>
              <a:gd name="connsiteY5"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2430463 w 3225800"/>
              <a:gd name="connsiteY4" fmla="*/ 2413000 h 3225800"/>
              <a:gd name="connsiteX5" fmla="*/ 1612900 w 3225800"/>
              <a:gd name="connsiteY5" fmla="*/ 3225800 h 3225800"/>
              <a:gd name="connsiteX6" fmla="*/ 0 w 3225800"/>
              <a:gd name="connsiteY6" fmla="*/ 1612900 h 3225800"/>
              <a:gd name="connsiteX0" fmla="*/ 3225800 w 3317240"/>
              <a:gd name="connsiteY0" fmla="*/ 1612900 h 3225800"/>
              <a:gd name="connsiteX1" fmla="*/ 2430463 w 3317240"/>
              <a:gd name="connsiteY1" fmla="*/ 2413000 h 3225800"/>
              <a:gd name="connsiteX2" fmla="*/ 1612900 w 3317240"/>
              <a:gd name="connsiteY2" fmla="*/ 3225800 h 3225800"/>
              <a:gd name="connsiteX3" fmla="*/ 0 w 3317240"/>
              <a:gd name="connsiteY3" fmla="*/ 1612900 h 3225800"/>
              <a:gd name="connsiteX4" fmla="*/ 1612900 w 3317240"/>
              <a:gd name="connsiteY4" fmla="*/ 0 h 3225800"/>
              <a:gd name="connsiteX5" fmla="*/ 2430463 w 3317240"/>
              <a:gd name="connsiteY5" fmla="*/ 817563 h 3225800"/>
              <a:gd name="connsiteX6" fmla="*/ 3317240 w 3317240"/>
              <a:gd name="connsiteY6" fmla="*/ 1704340 h 3225800"/>
              <a:gd name="connsiteX0" fmla="*/ 2430463 w 3317240"/>
              <a:gd name="connsiteY0" fmla="*/ 2413000 h 3225800"/>
              <a:gd name="connsiteX1" fmla="*/ 1612900 w 3317240"/>
              <a:gd name="connsiteY1" fmla="*/ 3225800 h 3225800"/>
              <a:gd name="connsiteX2" fmla="*/ 0 w 3317240"/>
              <a:gd name="connsiteY2" fmla="*/ 1612900 h 3225800"/>
              <a:gd name="connsiteX3" fmla="*/ 1612900 w 3317240"/>
              <a:gd name="connsiteY3" fmla="*/ 0 h 3225800"/>
              <a:gd name="connsiteX4" fmla="*/ 2430463 w 3317240"/>
              <a:gd name="connsiteY4" fmla="*/ 817563 h 3225800"/>
              <a:gd name="connsiteX5" fmla="*/ 3317240 w 3317240"/>
              <a:gd name="connsiteY5" fmla="*/ 1704340 h 3225800"/>
              <a:gd name="connsiteX0" fmla="*/ 2430463 w 2430463"/>
              <a:gd name="connsiteY0" fmla="*/ 2413000 h 3225800"/>
              <a:gd name="connsiteX1" fmla="*/ 1612900 w 2430463"/>
              <a:gd name="connsiteY1" fmla="*/ 3225800 h 3225800"/>
              <a:gd name="connsiteX2" fmla="*/ 0 w 2430463"/>
              <a:gd name="connsiteY2" fmla="*/ 1612900 h 3225800"/>
              <a:gd name="connsiteX3" fmla="*/ 1612900 w 2430463"/>
              <a:gd name="connsiteY3" fmla="*/ 0 h 3225800"/>
              <a:gd name="connsiteX4" fmla="*/ 2430463 w 2430463"/>
              <a:gd name="connsiteY4" fmla="*/ 817563 h 3225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30463" h="3225800">
                <a:moveTo>
                  <a:pt x="2430463" y="2413000"/>
                </a:moveTo>
                <a:lnTo>
                  <a:pt x="1612900" y="3225800"/>
                </a:lnTo>
                <a:lnTo>
                  <a:pt x="0" y="1612900"/>
                </a:lnTo>
                <a:lnTo>
                  <a:pt x="1612900" y="0"/>
                </a:lnTo>
                <a:lnTo>
                  <a:pt x="2430463" y="817563"/>
                </a:lnTo>
              </a:path>
            </a:pathLst>
          </a:custGeom>
          <a:noFill/>
          <a:ln w="38100" cap="flat" cmpd="sng" algn="ctr">
            <a:solidFill>
              <a:sysClr val="window" lastClr="FFFFFF"/>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Light"/>
            </a:endParaRPr>
          </a:p>
        </p:txBody>
      </p:sp>
      <p:grpSp>
        <p:nvGrpSpPr>
          <p:cNvPr id="29" name="Group 28"/>
          <p:cNvGrpSpPr/>
          <p:nvPr/>
        </p:nvGrpSpPr>
        <p:grpSpPr>
          <a:xfrm>
            <a:off x="237520" y="152400"/>
            <a:ext cx="410563" cy="1612900"/>
            <a:chOff x="83821" y="0"/>
            <a:chExt cx="219636" cy="903079"/>
          </a:xfrm>
        </p:grpSpPr>
        <p:sp>
          <p:nvSpPr>
            <p:cNvPr id="30" name="Rectangle 29"/>
            <p:cNvSpPr/>
            <p:nvPr/>
          </p:nvSpPr>
          <p:spPr>
            <a:xfrm>
              <a:off x="84026" y="0"/>
              <a:ext cx="219431" cy="210952"/>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p:cNvSpPr/>
            <p:nvPr/>
          </p:nvSpPr>
          <p:spPr>
            <a:xfrm>
              <a:off x="84262" y="408599"/>
              <a:ext cx="219194" cy="494480"/>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p:cNvSpPr/>
            <p:nvPr/>
          </p:nvSpPr>
          <p:spPr>
            <a:xfrm>
              <a:off x="83821" y="210952"/>
              <a:ext cx="217937" cy="2209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33" name="Object 32">
              <a:extLst>
                <a:ext uri="{FF2B5EF4-FFF2-40B4-BE49-F238E27FC236}">
                  <a16:creationId xmlns:a16="http://schemas.microsoft.com/office/drawing/2014/main" id="{CAD0D7B8-E462-453C-B296-CA0154FA54AE}"/>
                </a:ext>
              </a:extLst>
            </p:cNvPr>
            <p:cNvGraphicFramePr>
              <a:graphicFrameLocks noChangeAspect="1"/>
            </p:cNvGraphicFramePr>
            <p:nvPr>
              <p:extLst>
                <p:ext uri="{D42A27DB-BD31-4B8C-83A1-F6EECF244321}">
                  <p14:modId xmlns:p14="http://schemas.microsoft.com/office/powerpoint/2010/main" val="4059142145"/>
                </p:ext>
              </p:extLst>
            </p:nvPr>
          </p:nvGraphicFramePr>
          <p:xfrm>
            <a:off x="100420" y="236973"/>
            <a:ext cx="183878" cy="183422"/>
          </p:xfrm>
          <a:graphic>
            <a:graphicData uri="http://schemas.openxmlformats.org/presentationml/2006/ole">
              <mc:AlternateContent xmlns:mc="http://schemas.openxmlformats.org/markup-compatibility/2006">
                <mc:Choice xmlns:v="urn:schemas-microsoft-com:vml" Requires="v">
                  <p:oleObj name="CorelDRAW" r:id="rId2" imgW="2169000" imgH="2169360" progId="">
                    <p:embed/>
                  </p:oleObj>
                </mc:Choice>
                <mc:Fallback>
                  <p:oleObj name="CorelDRAW" r:id="rId2" imgW="2169000" imgH="2169360" progId="">
                    <p:embed/>
                    <p:pic>
                      <p:nvPicPr>
                        <p:cNvPr id="0" name="Picture 1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0420" y="236973"/>
                          <a:ext cx="183878" cy="18342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
        <p:nvSpPr>
          <p:cNvPr id="16" name="Slide Number Placeholder 15"/>
          <p:cNvSpPr>
            <a:spLocks noGrp="1"/>
          </p:cNvSpPr>
          <p:nvPr>
            <p:ph type="sldNum" sz="quarter" idx="12"/>
          </p:nvPr>
        </p:nvSpPr>
        <p:spPr/>
        <p:txBody>
          <a:bodyPr/>
          <a:lstStyle/>
          <a:p>
            <a:fld id="{FC9A48AB-23F1-45F1-98E5-D2CDC7A5261D}" type="slidenum">
              <a:rPr lang="en-US" smtClean="0">
                <a:solidFill>
                  <a:prstClr val="black">
                    <a:tint val="75000"/>
                  </a:prstClr>
                </a:solidFill>
              </a:rPr>
              <a:pPr/>
              <a:t>22</a:t>
            </a:fld>
            <a:endParaRPr lang="en-US">
              <a:solidFill>
                <a:prstClr val="black">
                  <a:tint val="75000"/>
                </a:prstClr>
              </a:solidFill>
            </a:endParaRPr>
          </a:p>
        </p:txBody>
      </p:sp>
    </p:spTree>
    <p:extLst>
      <p:ext uri="{BB962C8B-B14F-4D97-AF65-F5344CB8AC3E}">
        <p14:creationId xmlns:p14="http://schemas.microsoft.com/office/powerpoint/2010/main" val="2656501266"/>
      </p:ext>
    </p:extLst>
  </p:cSld>
  <p:clrMapOvr>
    <a:masterClrMapping/>
  </p:clrMapOvr>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ontents Slide Master">
  <a:themeElements>
    <a:clrScheme name="ALLPPT-COLOR-A33">
      <a:dk1>
        <a:sysClr val="windowText" lastClr="000000"/>
      </a:dk1>
      <a:lt1>
        <a:sysClr val="window" lastClr="FFFFFF"/>
      </a:lt1>
      <a:dk2>
        <a:srgbClr val="1F497D"/>
      </a:dk2>
      <a:lt2>
        <a:srgbClr val="EEECE1"/>
      </a:lt2>
      <a:accent1>
        <a:srgbClr val="EF4A4A"/>
      </a:accent1>
      <a:accent2>
        <a:srgbClr val="262626"/>
      </a:accent2>
      <a:accent3>
        <a:srgbClr val="EF4A4A"/>
      </a:accent3>
      <a:accent4>
        <a:srgbClr val="262626"/>
      </a:accent4>
      <a:accent5>
        <a:srgbClr val="EF4A4A"/>
      </a:accent5>
      <a:accent6>
        <a:srgbClr val="262626"/>
      </a:accent6>
      <a:hlink>
        <a:srgbClr val="0000FF"/>
      </a:hlink>
      <a:folHlink>
        <a:srgbClr val="800080"/>
      </a:folHlink>
    </a:clrScheme>
    <a:fontScheme name="ALLPPT FONT">
      <a:majorFont>
        <a:latin typeface="Arial"/>
        <a:ea typeface="Arial Unicode MS"/>
        <a:cs typeface=""/>
      </a:majorFont>
      <a:minorFont>
        <a:latin typeface="Arial"/>
        <a:ea typeface="Arial Unicode MS"/>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smaple</Template>
  <TotalTime>1785</TotalTime>
  <Words>1702</Words>
  <Application>Microsoft Office PowerPoint</Application>
  <PresentationFormat>Widescreen</PresentationFormat>
  <Paragraphs>147</Paragraphs>
  <Slides>22</Slides>
  <Notes>1</Notes>
  <HiddenSlides>0</HiddenSlides>
  <MMClips>0</MMClips>
  <ScaleCrop>false</ScaleCrop>
  <HeadingPairs>
    <vt:vector size="8" baseType="variant">
      <vt:variant>
        <vt:lpstr>Fonts Used</vt:lpstr>
      </vt:variant>
      <vt:variant>
        <vt:i4>9</vt:i4>
      </vt:variant>
      <vt:variant>
        <vt:lpstr>Theme</vt:lpstr>
      </vt:variant>
      <vt:variant>
        <vt:i4>2</vt:i4>
      </vt:variant>
      <vt:variant>
        <vt:lpstr>Embedded OLE Servers</vt:lpstr>
      </vt:variant>
      <vt:variant>
        <vt:i4>1</vt:i4>
      </vt:variant>
      <vt:variant>
        <vt:lpstr>Slide Titles</vt:lpstr>
      </vt:variant>
      <vt:variant>
        <vt:i4>22</vt:i4>
      </vt:variant>
    </vt:vector>
  </HeadingPairs>
  <TitlesOfParts>
    <vt:vector size="34" baseType="lpstr">
      <vt:lpstr>Arial</vt:lpstr>
      <vt:lpstr>Arial Black</vt:lpstr>
      <vt:lpstr>Calibri</vt:lpstr>
      <vt:lpstr>Calibri Light</vt:lpstr>
      <vt:lpstr>Casper</vt:lpstr>
      <vt:lpstr>Nunito Sans</vt:lpstr>
      <vt:lpstr>Raleway ExtraBold</vt:lpstr>
      <vt:lpstr>Times New Roman</vt:lpstr>
      <vt:lpstr>-webkit-standard</vt:lpstr>
      <vt:lpstr>1_Office Theme</vt:lpstr>
      <vt:lpstr>Contents Slide Master</vt:lpstr>
      <vt:lpstr>CorelDRAW</vt:lpstr>
      <vt:lpstr>PowerPoint Presentation</vt:lpstr>
      <vt:lpstr>Chapter-4 User Interface Design</vt:lpstr>
      <vt:lpstr> Types of User Interface</vt:lpstr>
      <vt:lpstr> Command Line Interface (CLI) </vt:lpstr>
      <vt:lpstr> Examples of CLI Applications  </vt:lpstr>
      <vt:lpstr>PowerPoint Presentation</vt:lpstr>
      <vt:lpstr>CLI Elements </vt:lpstr>
      <vt:lpstr> CLI Elements </vt:lpstr>
      <vt:lpstr> Graphical User Interface </vt:lpstr>
      <vt:lpstr> Examples of GUI-Based Systems  </vt:lpstr>
      <vt:lpstr>PowerPoint Presentation</vt:lpstr>
      <vt:lpstr> GUI Elements </vt:lpstr>
      <vt:lpstr> GUI Elements </vt:lpstr>
      <vt:lpstr> GUI Elements </vt:lpstr>
      <vt:lpstr>PowerPoint Presentation</vt:lpstr>
      <vt:lpstr>Menu-Driven Interface </vt:lpstr>
      <vt:lpstr>Examples of Menu-Based Interfaces</vt:lpstr>
      <vt:lpstr>PowerPoint Presentation</vt:lpstr>
      <vt:lpstr>PowerPoint Presentation</vt:lpstr>
      <vt:lpstr>PowerPoint Presentation</vt:lpstr>
      <vt:lpstr> References </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Branding</dc:creator>
  <cp:lastModifiedBy>MOHD SHAN</cp:lastModifiedBy>
  <cp:revision>248</cp:revision>
  <dcterms:created xsi:type="dcterms:W3CDTF">2019-01-09T10:33:58Z</dcterms:created>
  <dcterms:modified xsi:type="dcterms:W3CDTF">2025-03-25T00:08:17Z</dcterms:modified>
</cp:coreProperties>
</file>