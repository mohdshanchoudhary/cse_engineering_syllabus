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662" r:id="rId3"/>
    <p:sldId id="280" r:id="rId4"/>
    <p:sldId id="294" r:id="rId5"/>
    <p:sldId id="327" r:id="rId6"/>
    <p:sldId id="663" r:id="rId7"/>
    <p:sldId id="332" r:id="rId8"/>
    <p:sldId id="331" r:id="rId9"/>
    <p:sldId id="664" r:id="rId10"/>
    <p:sldId id="672" r:id="rId11"/>
    <p:sldId id="665" r:id="rId12"/>
    <p:sldId id="667" r:id="rId13"/>
    <p:sldId id="673" r:id="rId14"/>
    <p:sldId id="668" r:id="rId15"/>
    <p:sldId id="669" r:id="rId16"/>
    <p:sldId id="670" r:id="rId17"/>
    <p:sldId id="674" r:id="rId18"/>
    <p:sldId id="671" r:id="rId19"/>
    <p:sldId id="328" r:id="rId20"/>
    <p:sldId id="333" r:id="rId21"/>
    <p:sldId id="338" r:id="rId22"/>
    <p:sldId id="326"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65" d="100"/>
          <a:sy n="65" d="100"/>
        </p:scale>
        <p:origin x="704" y="60"/>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6F9A3A5A-E114-7E96-D3B0-4ABBBF06404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17D87648-D926-55BC-1200-FF535085E316}"/>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7B9B23F0-EDDB-84D6-DE35-6D16F3A0C2A2}"/>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usability.gov/what-and-why/user-interface-design.html" TargetMode="External"/><Relationship Id="rId2" Type="http://schemas.openxmlformats.org/officeDocument/2006/relationships/hyperlink" Target="https://www.tutorialspoint.com/software_engineering/software_user_interface_design.htm" TargetMode="External"/><Relationship Id="rId1" Type="http://schemas.openxmlformats.org/officeDocument/2006/relationships/slideLayout" Target="../slideLayouts/slideLayout2.xml"/><Relationship Id="rId4" Type="http://schemas.openxmlformats.org/officeDocument/2006/relationships/hyperlink" Target="https://www.elegantthemes.com/blog/resources/10-rules-of-good-ui-design-to-follow-on-every-web-design-projec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760694" cy="369332"/>
          </a:xfrm>
          <a:prstGeom prst="rect">
            <a:avLst/>
          </a:prstGeom>
          <a:noFill/>
        </p:spPr>
        <p:txBody>
          <a:bodyPr wrap="square">
            <a:spAutoFit/>
          </a:bodyPr>
          <a:lstStyle/>
          <a:p>
            <a:pPr algn="ctr" eaLnBrk="1" hangingPunct="1"/>
            <a:r>
              <a:rPr lang="en-US" sz="1800" dirty="0">
                <a:latin typeface="Raleway ExtraBold" pitchFamily="34" charset="-52"/>
              </a:rPr>
              <a:t>User Interface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9767"/>
            <a:ext cx="10515600" cy="1048217"/>
          </a:xfrm>
        </p:spPr>
        <p:txBody>
          <a:bodyPr>
            <a:noAutofit/>
          </a:bodyPr>
          <a:lstStyle/>
          <a:p>
            <a:pPr algn="ctr"/>
            <a:r>
              <a:rPr lang="en-US" sz="3600" dirty="0">
                <a:latin typeface="Times New Roman" panose="02020603050405020304" pitchFamily="18" charset="0"/>
                <a:cs typeface="Times New Roman" pitchFamily="18" charset="0"/>
              </a:rPr>
              <a:t>Chapter-4</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User Interface Design</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302135"/>
            <a:ext cx="10515600" cy="3874827"/>
          </a:xfrm>
        </p:spPr>
        <p:txBody>
          <a:bodyPr>
            <a:normAutofit/>
          </a:bodyPr>
          <a:lstStyle/>
          <a:p>
            <a:pPr>
              <a:lnSpc>
                <a:spcPct val="150000"/>
              </a:lnSpc>
            </a:pPr>
            <a:endParaRPr lang="en-US" sz="3200" dirty="0">
              <a:latin typeface="Times New Roman" pitchFamily="18" charset="0"/>
              <a:cs typeface="Times New Roman" pitchFamily="18" charset="0"/>
            </a:endParaRPr>
          </a:p>
          <a:p>
            <a:pPr>
              <a:lnSpc>
                <a:spcPct val="150000"/>
              </a:lnSpc>
            </a:pPr>
            <a:r>
              <a:rPr lang="en-US" sz="3200" dirty="0">
                <a:latin typeface="Times New Roman" pitchFamily="18" charset="0"/>
                <a:cs typeface="Times New Roman" pitchFamily="18" charset="0"/>
              </a:rPr>
              <a:t>Good User Interface design</a:t>
            </a:r>
          </a:p>
        </p:txBody>
      </p:sp>
      <p:sp>
        <p:nvSpPr>
          <p:cNvPr id="5" name="Rectangle 4"/>
          <p:cNvSpPr/>
          <p:nvPr/>
        </p:nvSpPr>
        <p:spPr>
          <a:xfrm>
            <a:off x="838200" y="2302136"/>
            <a:ext cx="10515600" cy="387006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1074529"/>
            <a:ext cx="10515600" cy="104821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779276"/>
          </a:xfrm>
        </p:spPr>
        <p:txBody>
          <a:bodyPr>
            <a:noAutofit/>
          </a:bodyPr>
          <a:lstStyle/>
          <a:p>
            <a:pPr algn="ctr"/>
            <a:r>
              <a:rPr lang="en-US" dirty="0">
                <a:latin typeface="Times New Roman" pitchFamily="18" charset="0"/>
                <a:cs typeface="Times New Roman" pitchFamily="18" charset="0"/>
              </a:rPr>
              <a:t>What is User Interface Design?</a:t>
            </a: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User interface is the front-end application view to which user interacts in order to use the software. </a:t>
            </a:r>
          </a:p>
          <a:p>
            <a:pPr algn="just"/>
            <a:r>
              <a:rPr lang="en-US" dirty="0">
                <a:latin typeface="Times New Roman" panose="02020603050405020304" pitchFamily="18" charset="0"/>
                <a:cs typeface="Times New Roman" panose="02020603050405020304" pitchFamily="18" charset="0"/>
              </a:rPr>
              <a:t>User can manipulate and control the software as well as hardware by means of user interface. </a:t>
            </a:r>
          </a:p>
          <a:p>
            <a:pPr algn="just"/>
            <a:r>
              <a:rPr lang="en-US" dirty="0">
                <a:latin typeface="Times New Roman" panose="02020603050405020304" pitchFamily="18" charset="0"/>
                <a:cs typeface="Times New Roman" panose="02020603050405020304" pitchFamily="18" charset="0"/>
              </a:rPr>
              <a:t>Today, user interface is found at almost every place where digital technology exists, right from computers, mobile phones, cars, music players, airplanes, ships etc.</a:t>
            </a: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User interface is part of software and is designed such a way that it is expected to provide the user insight of the software. </a:t>
            </a:r>
          </a:p>
          <a:p>
            <a:pPr algn="just"/>
            <a:r>
              <a:rPr lang="en-US" dirty="0">
                <a:latin typeface="Times New Roman" panose="02020603050405020304" pitchFamily="18" charset="0"/>
                <a:cs typeface="Times New Roman" panose="02020603050405020304" pitchFamily="18" charset="0"/>
              </a:rPr>
              <a:t>UI provides fundamental platform for human-computer interaction.</a:t>
            </a:r>
          </a:p>
          <a:p>
            <a:pPr algn="just"/>
            <a:r>
              <a:rPr lang="en-US" dirty="0">
                <a:latin typeface="Times New Roman" panose="02020603050405020304" pitchFamily="18" charset="0"/>
                <a:cs typeface="Times New Roman" panose="02020603050405020304" pitchFamily="18" charset="0"/>
              </a:rPr>
              <a:t>UI can be graphical, text-based, audio-video based, depending upon the underlying hardware and software combination. </a:t>
            </a:r>
          </a:p>
          <a:p>
            <a:pPr algn="just"/>
            <a:r>
              <a:rPr lang="en-US" dirty="0">
                <a:latin typeface="Times New Roman" panose="02020603050405020304" pitchFamily="18" charset="0"/>
                <a:cs typeface="Times New Roman" panose="02020603050405020304" pitchFamily="18" charset="0"/>
              </a:rPr>
              <a:t>UI can be hardware or software or a combination of both.</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98BF5-B001-4A98-F750-BE9ACB31B0A6}"/>
              </a:ext>
            </a:extLst>
          </p:cNvPr>
          <p:cNvSpPr>
            <a:spLocks noGrp="1"/>
          </p:cNvSpPr>
          <p:nvPr>
            <p:ph type="title"/>
          </p:nvPr>
        </p:nvSpPr>
        <p:spPr/>
        <p:txBody>
          <a:bodyPr/>
          <a:lstStyle/>
          <a:p>
            <a:r>
              <a:rPr lang="en-IN" b="1" i="0" u="none" strike="noStrike" dirty="0">
                <a:solidFill>
                  <a:srgbClr val="273239"/>
                </a:solidFill>
                <a:effectLst/>
                <a:latin typeface="Times New Roman" panose="02020603050405020304" pitchFamily="18" charset="0"/>
                <a:cs typeface="Times New Roman" panose="02020603050405020304" pitchFamily="18" charset="0"/>
              </a:rPr>
              <a:t>Types of User Interface</a:t>
            </a:r>
            <a:br>
              <a:rPr lang="en-IN" b="1" i="0" u="none" strike="noStrike" dirty="0">
                <a:solidFill>
                  <a:srgbClr val="273239"/>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5AD043-352B-1E14-902A-11A43FB3E231}"/>
              </a:ext>
            </a:extLst>
          </p:cNvPr>
          <p:cNvSpPr>
            <a:spLocks noGrp="1"/>
          </p:cNvSpPr>
          <p:nvPr>
            <p:ph idx="1"/>
          </p:nvPr>
        </p:nvSpPr>
        <p:spPr/>
        <p:txBody>
          <a:bodyPr/>
          <a:lstStyle/>
          <a:p>
            <a:pPr algn="just" fontAlgn="base">
              <a:spcAft>
                <a:spcPts val="1800"/>
              </a:spcAft>
              <a:buFont typeface="+mj-lt"/>
              <a:buAutoNum type="arabicPeriod"/>
            </a:pPr>
            <a:r>
              <a:rPr lang="en-IN" b="1" i="0" u="none" strike="noStrike" dirty="0">
                <a:solidFill>
                  <a:srgbClr val="273239"/>
                </a:solidFill>
                <a:effectLst/>
                <a:latin typeface="Times New Roman" panose="02020603050405020304" pitchFamily="18" charset="0"/>
                <a:cs typeface="Times New Roman" panose="02020603050405020304" pitchFamily="18" charset="0"/>
              </a:rPr>
              <a:t>Command Line Interface:</a:t>
            </a:r>
            <a:r>
              <a:rPr lang="en-IN" b="0" i="0" u="none" strike="noStrike" dirty="0">
                <a:solidFill>
                  <a:srgbClr val="273239"/>
                </a:solidFill>
                <a:effectLst/>
                <a:latin typeface="Times New Roman" panose="02020603050405020304" pitchFamily="18" charset="0"/>
                <a:cs typeface="Times New Roman" panose="02020603050405020304" pitchFamily="18" charset="0"/>
              </a:rPr>
              <a:t> The Command Line Interface provides a command prompt, where the user types the command and feeds it to the system. The user needs to remember the syntax of the command and its use.</a:t>
            </a:r>
          </a:p>
          <a:p>
            <a:pPr algn="just" fontAlgn="base">
              <a:spcAft>
                <a:spcPts val="1800"/>
              </a:spcAft>
              <a:buFont typeface="+mj-lt"/>
              <a:buAutoNum type="arabicPeriod" startAt="2"/>
            </a:pPr>
            <a:r>
              <a:rPr lang="en-IN" b="1" i="0" u="none" strike="noStrike" dirty="0">
                <a:solidFill>
                  <a:srgbClr val="273239"/>
                </a:solidFill>
                <a:effectLst/>
                <a:latin typeface="Times New Roman" panose="02020603050405020304" pitchFamily="18" charset="0"/>
                <a:cs typeface="Times New Roman" panose="02020603050405020304" pitchFamily="18" charset="0"/>
              </a:rPr>
              <a:t>Graphical User Interface:</a:t>
            </a:r>
            <a:r>
              <a:rPr lang="en-IN" b="0" i="0" u="none" strike="noStrike" dirty="0">
                <a:solidFill>
                  <a:srgbClr val="273239"/>
                </a:solidFill>
                <a:effectLst/>
                <a:latin typeface="Times New Roman" panose="02020603050405020304" pitchFamily="18" charset="0"/>
                <a:cs typeface="Times New Roman" panose="02020603050405020304" pitchFamily="18" charset="0"/>
              </a:rPr>
              <a:t> Graphical User Interface provides a simple interactive interface to interact with the system. GUI can be a combination of both hardware and software. Using GUI, the user interprets the software.</a:t>
            </a:r>
          </a:p>
          <a:p>
            <a:endParaRPr lang="en-US" dirty="0"/>
          </a:p>
        </p:txBody>
      </p:sp>
      <p:sp>
        <p:nvSpPr>
          <p:cNvPr id="4" name="Slide Number Placeholder 3">
            <a:extLst>
              <a:ext uri="{FF2B5EF4-FFF2-40B4-BE49-F238E27FC236}">
                <a16:creationId xmlns:a16="http://schemas.microsoft.com/office/drawing/2014/main" id="{FE017A52-C288-BB3B-269B-3A32B8B4F59C}"/>
              </a:ext>
            </a:extLst>
          </p:cNvPr>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3394234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lstStyle/>
          <a:p>
            <a:r>
              <a:rPr lang="en-US" dirty="0">
                <a:latin typeface="Times New Roman" panose="02020603050405020304" pitchFamily="18" charset="0"/>
                <a:cs typeface="Times New Roman" panose="02020603050405020304" pitchFamily="18" charset="0"/>
              </a:rPr>
              <a:t>When do the software become popular?</a:t>
            </a: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software becomes more popular if its user interface is:</a:t>
            </a:r>
          </a:p>
          <a:p>
            <a:r>
              <a:rPr lang="en-US" dirty="0">
                <a:latin typeface="Times New Roman" panose="02020603050405020304" pitchFamily="18" charset="0"/>
                <a:cs typeface="Times New Roman" panose="02020603050405020304" pitchFamily="18" charset="0"/>
              </a:rPr>
              <a:t>Attractive</a:t>
            </a:r>
          </a:p>
          <a:p>
            <a:r>
              <a:rPr lang="en-US" dirty="0">
                <a:latin typeface="Times New Roman" panose="02020603050405020304" pitchFamily="18" charset="0"/>
                <a:cs typeface="Times New Roman" panose="02020603050405020304" pitchFamily="18" charset="0"/>
              </a:rPr>
              <a:t>Simple to use</a:t>
            </a:r>
          </a:p>
          <a:p>
            <a:r>
              <a:rPr lang="en-US" dirty="0">
                <a:latin typeface="Times New Roman" panose="02020603050405020304" pitchFamily="18" charset="0"/>
                <a:cs typeface="Times New Roman" panose="02020603050405020304" pitchFamily="18" charset="0"/>
              </a:rPr>
              <a:t>Responsive in short time</a:t>
            </a:r>
          </a:p>
          <a:p>
            <a:r>
              <a:rPr lang="en-US" dirty="0">
                <a:latin typeface="Times New Roman" panose="02020603050405020304" pitchFamily="18" charset="0"/>
                <a:cs typeface="Times New Roman" panose="02020603050405020304" pitchFamily="18" charset="0"/>
              </a:rPr>
              <a:t>Clear to understand</a:t>
            </a:r>
          </a:p>
          <a:p>
            <a:r>
              <a:rPr lang="en-US" dirty="0">
                <a:latin typeface="Times New Roman" panose="02020603050405020304" pitchFamily="18" charset="0"/>
                <a:cs typeface="Times New Roman" panose="02020603050405020304" pitchFamily="18" charset="0"/>
              </a:rPr>
              <a:t>Consistent on all interfacing screens</a:t>
            </a:r>
          </a:p>
          <a:p>
            <a:pPr marL="0" indent="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lstStyle/>
          <a:p>
            <a:pPr algn="ctr"/>
            <a:r>
              <a:rPr lang="en-US" dirty="0"/>
              <a:t>  </a:t>
            </a:r>
            <a:r>
              <a:rPr lang="en-US" dirty="0">
                <a:latin typeface="Times New Roman" panose="02020603050405020304" pitchFamily="18" charset="0"/>
                <a:cs typeface="Times New Roman" panose="02020603050405020304" pitchFamily="18" charset="0"/>
              </a:rPr>
              <a:t>User Interface Design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User Interface (UI) Design focuses on anticipating what users might need to do and ensuring that the interface has elements that are easy to access, understand, and use to facilitate those actions. </a:t>
            </a:r>
          </a:p>
          <a:p>
            <a:pPr algn="just"/>
            <a:r>
              <a:rPr lang="en-US" dirty="0">
                <a:latin typeface="Times New Roman" panose="02020603050405020304" pitchFamily="18" charset="0"/>
                <a:cs typeface="Times New Roman" panose="02020603050405020304" pitchFamily="18" charset="0"/>
              </a:rPr>
              <a:t>UI brings together concepts from interaction design, visual design, and information architecture.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3D81D-14D1-C907-3B9B-BD83D576D9CC}"/>
              </a:ext>
            </a:extLst>
          </p:cNvPr>
          <p:cNvSpPr>
            <a:spLocks noGrp="1"/>
          </p:cNvSpPr>
          <p:nvPr>
            <p:ph type="title"/>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D4C030-419B-FD7E-C175-427FBF082F6C}"/>
              </a:ext>
            </a:extLst>
          </p:cNvPr>
          <p:cNvSpPr>
            <a:spLocks noGrp="1"/>
          </p:cNvSpPr>
          <p:nvPr>
            <p:ph idx="1"/>
          </p:nvPr>
        </p:nvSpPr>
        <p:spPr/>
        <p:txBody>
          <a:bodyPr/>
          <a:lstStyle/>
          <a:p>
            <a:pPr algn="l" fontAlgn="base">
              <a:spcAft>
                <a:spcPts val="1800"/>
              </a:spcAft>
              <a:buFont typeface="+mj-lt"/>
              <a:buAutoNum type="arabicPeriod"/>
            </a:pPr>
            <a:r>
              <a:rPr lang="en-IN" b="1" i="0" u="none" strike="noStrike" dirty="0">
                <a:solidFill>
                  <a:srgbClr val="273239"/>
                </a:solidFill>
                <a:effectLst/>
                <a:latin typeface="Nunito" pitchFamily="2" charset="77"/>
              </a:rPr>
              <a:t> </a:t>
            </a:r>
            <a:r>
              <a:rPr lang="en-IN" b="1" i="0" u="none" strike="noStrike" dirty="0">
                <a:solidFill>
                  <a:srgbClr val="273239"/>
                </a:solidFill>
                <a:effectLst/>
                <a:latin typeface="Times New Roman" panose="02020603050405020304" pitchFamily="18" charset="0"/>
                <a:cs typeface="Times New Roman" panose="02020603050405020304" pitchFamily="18" charset="0"/>
              </a:rPr>
              <a:t>Simplicity :</a:t>
            </a:r>
            <a:r>
              <a:rPr lang="en-IN" b="0" i="0" u="none" strike="noStrike" dirty="0">
                <a:solidFill>
                  <a:srgbClr val="273239"/>
                </a:solidFill>
                <a:effectLst/>
                <a:latin typeface="Times New Roman" panose="02020603050405020304" pitchFamily="18" charset="0"/>
                <a:cs typeface="Times New Roman" panose="02020603050405020304" pitchFamily="18" charset="0"/>
              </a:rPr>
              <a:t> </a:t>
            </a:r>
          </a:p>
          <a:p>
            <a:pPr marL="742950" lvl="1" indent="-285750" algn="l"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User Interface design should be simple.</a:t>
            </a:r>
          </a:p>
          <a:p>
            <a:pPr marL="742950" lvl="1" indent="-285750" algn="l"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Less number of mouse clicks and keystrokes are required to accomplish this task.</a:t>
            </a:r>
          </a:p>
          <a:p>
            <a:pPr marL="742950" lvl="1" indent="-285750" algn="l"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It is important that new features only add if there is compelling need for them and they add significant values to the application.</a:t>
            </a:r>
          </a:p>
          <a:p>
            <a:endParaRPr lang="en-US" dirty="0"/>
          </a:p>
        </p:txBody>
      </p:sp>
      <p:sp>
        <p:nvSpPr>
          <p:cNvPr id="4" name="Slide Number Placeholder 3">
            <a:extLst>
              <a:ext uri="{FF2B5EF4-FFF2-40B4-BE49-F238E27FC236}">
                <a16:creationId xmlns:a16="http://schemas.microsoft.com/office/drawing/2014/main" id="{4CF1EAD5-D458-3FEC-2C89-5961D99CB640}"/>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2733247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CE091E-4EDF-7D4B-3F53-5BBA24FEDFFB}"/>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1">
            <a:extLst>
              <a:ext uri="{FF2B5EF4-FFF2-40B4-BE49-F238E27FC236}">
                <a16:creationId xmlns:a16="http://schemas.microsoft.com/office/drawing/2014/main" id="{12E63A98-FD51-27D0-C00D-3125AA56D19B}"/>
              </a:ext>
            </a:extLst>
          </p:cNvPr>
          <p:cNvSpPr>
            <a:spLocks noChangeArrowheads="1"/>
          </p:cNvSpPr>
          <p:nvPr/>
        </p:nvSpPr>
        <p:spPr bwMode="auto">
          <a:xfrm>
            <a:off x="0" y="2010425"/>
            <a:ext cx="7991290"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1. </a:t>
            </a:r>
            <a:r>
              <a:rPr kumimoji="0" lang="en-US" altLang="en-US" sz="2000" b="1" i="0" u="none" strike="noStrike" cap="none" normalizeH="0" baseline="0" dirty="0">
                <a:ln>
                  <a:noFill/>
                </a:ln>
                <a:solidFill>
                  <a:schemeClr val="tx1"/>
                </a:solidFill>
                <a:effectLst/>
                <a:latin typeface="Arial" panose="020B0604020202020204" pitchFamily="34" charset="0"/>
              </a:rPr>
              <a:t>Simplicity &amp; Clarity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UI should be </a:t>
            </a:r>
            <a:r>
              <a:rPr kumimoji="0" lang="en-US" altLang="en-US" sz="1800" b="1" i="0" u="none" strike="noStrike" cap="none" normalizeH="0" baseline="0" dirty="0">
                <a:ln>
                  <a:noFill/>
                </a:ln>
                <a:solidFill>
                  <a:schemeClr val="tx1"/>
                </a:solidFill>
                <a:effectLst/>
                <a:latin typeface="Arial" panose="020B0604020202020204" pitchFamily="34" charset="0"/>
              </a:rPr>
              <a:t>easy to understand</a:t>
            </a:r>
            <a:r>
              <a:rPr kumimoji="0" lang="en-US" altLang="en-US" sz="1800" b="0" i="0" u="none" strike="noStrike" cap="none" normalizeH="0" baseline="0" dirty="0">
                <a:ln>
                  <a:noFill/>
                </a:ln>
                <a:solidFill>
                  <a:schemeClr val="tx1"/>
                </a:solidFill>
                <a:effectLst/>
                <a:latin typeface="Arial" panose="020B0604020202020204" pitchFamily="34" charset="0"/>
              </a:rPr>
              <a:t> and not overloaded with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Clear labels, icons, and navigation</a:t>
            </a:r>
            <a:r>
              <a:rPr kumimoji="0" lang="en-US" altLang="en-US" sz="1800" b="0" i="0" u="none" strike="noStrike" cap="none" normalizeH="0" baseline="0" dirty="0">
                <a:ln>
                  <a:noFill/>
                </a:ln>
                <a:solidFill>
                  <a:schemeClr val="tx1"/>
                </a:solidFill>
                <a:effectLst/>
                <a:latin typeface="Arial" panose="020B0604020202020204" pitchFamily="34" charset="0"/>
              </a:rPr>
              <a:t> help users perform tasks quickly.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Google’s homepage is minimalistic and clutter-free.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86A62464-85FB-CE18-4CDC-138AF5778283}"/>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3">
            <a:extLst>
              <a:ext uri="{FF2B5EF4-FFF2-40B4-BE49-F238E27FC236}">
                <a16:creationId xmlns:a16="http://schemas.microsoft.com/office/drawing/2014/main" id="{8C306998-129C-1387-9B32-D87B487B3FC6}"/>
              </a:ext>
            </a:extLst>
          </p:cNvPr>
          <p:cNvSpPr>
            <a:spLocks noChangeArrowheads="1"/>
          </p:cNvSpPr>
          <p:nvPr/>
        </p:nvSpPr>
        <p:spPr bwMode="auto">
          <a:xfrm>
            <a:off x="0" y="3429000"/>
            <a:ext cx="10130979"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2. </a:t>
            </a:r>
            <a:r>
              <a:rPr kumimoji="0" lang="en-US" altLang="en-US" sz="2000" b="1" i="0" u="none" strike="noStrike" cap="none" normalizeH="0" baseline="0" dirty="0">
                <a:ln>
                  <a:noFill/>
                </a:ln>
                <a:solidFill>
                  <a:schemeClr val="tx1"/>
                </a:solidFill>
                <a:effectLst/>
                <a:latin typeface="Arial" panose="020B0604020202020204" pitchFamily="34" charset="0"/>
              </a:rPr>
              <a:t>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UI elements (buttons, fonts, colors) should follow </a:t>
            </a:r>
            <a:r>
              <a:rPr kumimoji="0" lang="en-US" altLang="en-US" sz="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uniform design</a:t>
            </a:r>
            <a:r>
              <a:rPr kumimoji="0" lang="en-US" altLang="en-US" sz="1800" b="0" i="0" u="none" strike="noStrike" cap="none" normalizeH="0" baseline="0" dirty="0">
                <a:ln>
                  <a:noFill/>
                </a:ln>
                <a:solidFill>
                  <a:schemeClr val="tx1"/>
                </a:solidFill>
                <a:effectLst/>
                <a:latin typeface="Arial" panose="020B0604020202020204" pitchFamily="34" charset="0"/>
              </a:rPr>
              <a:t> across the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Users should feel familiar with the layout on different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Microsoft Office uses similar menus and toolbars across Word, Excel, and PowerPoint.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4618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E1A6B-635B-1662-8CA8-E0C910C15FE3}"/>
              </a:ext>
            </a:extLst>
          </p:cNvPr>
          <p:cNvSpPr>
            <a:spLocks noGrp="1"/>
          </p:cNvSpPr>
          <p:nvPr>
            <p:ph idx="1"/>
          </p:nvPr>
        </p:nvSpPr>
        <p:spPr>
          <a:xfrm>
            <a:off x="849086" y="849086"/>
            <a:ext cx="10504714" cy="5327877"/>
          </a:xfrm>
        </p:spPr>
        <p:txBody>
          <a:bodyPr/>
          <a:lstStyle/>
          <a:p>
            <a:pPr marL="0" indent="0" algn="l" fontAlgn="base">
              <a:spcAft>
                <a:spcPts val="1800"/>
              </a:spcAft>
              <a:buNone/>
            </a:pPr>
            <a:r>
              <a:rPr lang="en-IN" b="1" i="0" u="none" strike="noStrike" dirty="0">
                <a:solidFill>
                  <a:srgbClr val="273239"/>
                </a:solidFill>
                <a:effectLst/>
                <a:latin typeface="Nunito" pitchFamily="2" charset="77"/>
              </a:rPr>
              <a:t>2. </a:t>
            </a:r>
            <a:r>
              <a:rPr lang="en-IN" b="1" i="0" u="none" strike="noStrike" dirty="0">
                <a:solidFill>
                  <a:srgbClr val="273239"/>
                </a:solidFill>
                <a:effectLst/>
                <a:latin typeface="Times New Roman" panose="02020603050405020304" pitchFamily="18" charset="0"/>
                <a:cs typeface="Times New Roman" panose="02020603050405020304" pitchFamily="18" charset="0"/>
              </a:rPr>
              <a:t>Consistency :</a:t>
            </a:r>
            <a:r>
              <a:rPr lang="en-IN" b="0" i="0" u="none" strike="noStrike" dirty="0">
                <a:solidFill>
                  <a:srgbClr val="273239"/>
                </a:solidFill>
                <a:effectLst/>
                <a:latin typeface="Times New Roman" panose="02020603050405020304" pitchFamily="18" charset="0"/>
                <a:cs typeface="Times New Roman" panose="02020603050405020304" pitchFamily="18" charset="0"/>
              </a:rPr>
              <a:t> </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The user interface should have a more consistency.</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Consistency also prevents online designers information chaos, ambiguity and instability.</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We should apply typeface, style and size convention in a consistent manner to all screen components that will add screen learning and improve screen readability. In this we can provide permanent objects as unchanging reference points around which the user can navigate.</a:t>
            </a:r>
          </a:p>
          <a:p>
            <a:endParaRPr lang="en-US" dirty="0"/>
          </a:p>
        </p:txBody>
      </p:sp>
      <p:sp>
        <p:nvSpPr>
          <p:cNvPr id="4" name="Slide Number Placeholder 3">
            <a:extLst>
              <a:ext uri="{FF2B5EF4-FFF2-40B4-BE49-F238E27FC236}">
                <a16:creationId xmlns:a16="http://schemas.microsoft.com/office/drawing/2014/main" id="{94D94071-93FA-F4AE-D3C6-B0BAAA1E1707}"/>
              </a:ext>
            </a:extLst>
          </p:cNvPr>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2445733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987A6-3B3C-DDE4-2DF2-E90CF7CE8E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0B23F-18BB-C87F-2B7B-BFB52D6E5393}"/>
              </a:ext>
            </a:extLst>
          </p:cNvPr>
          <p:cNvSpPr>
            <a:spLocks noGrp="1"/>
          </p:cNvSpPr>
          <p:nvPr>
            <p:ph idx="1"/>
          </p:nvPr>
        </p:nvSpPr>
        <p:spPr>
          <a:xfrm>
            <a:off x="849086" y="849086"/>
            <a:ext cx="10504714" cy="5327877"/>
          </a:xfrm>
        </p:spPr>
        <p:txBody>
          <a:bodyPr/>
          <a:lstStyle/>
          <a:p>
            <a:pPr marL="0" indent="0" algn="l" fontAlgn="base">
              <a:spcAft>
                <a:spcPts val="1800"/>
              </a:spcAft>
              <a:buNone/>
            </a:pPr>
            <a:r>
              <a:rPr lang="en-IN" b="1" i="0" u="none" strike="noStrike" dirty="0">
                <a:solidFill>
                  <a:srgbClr val="273239"/>
                </a:solidFill>
                <a:effectLst/>
                <a:latin typeface="Times New Roman" panose="02020603050405020304" pitchFamily="18" charset="0"/>
                <a:cs typeface="Times New Roman" panose="02020603050405020304" pitchFamily="18" charset="0"/>
              </a:rPr>
              <a:t>3. Intuitiveness :</a:t>
            </a:r>
            <a:r>
              <a:rPr lang="en-IN" b="0" i="0" u="none" strike="noStrike" dirty="0">
                <a:solidFill>
                  <a:srgbClr val="273239"/>
                </a:solidFill>
                <a:effectLst/>
                <a:latin typeface="Times New Roman" panose="02020603050405020304" pitchFamily="18" charset="0"/>
                <a:cs typeface="Times New Roman" panose="02020603050405020304" pitchFamily="18" charset="0"/>
              </a:rPr>
              <a:t> ( easy to learn)</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The most important quality of good user interface design is intuitive.</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Intuitive user interface design is one that is easy to learn so that user can pick it up quickly and easily.</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Icons and labels should be concise and cogent. A clear unambiguous icon can help to make user interface intuitive and a good practice is make labels conform to the terminology that the application supports.</a:t>
            </a:r>
          </a:p>
          <a:p>
            <a:endParaRPr lang="en-US" dirty="0"/>
          </a:p>
        </p:txBody>
      </p:sp>
      <p:sp>
        <p:nvSpPr>
          <p:cNvPr id="4" name="Slide Number Placeholder 3">
            <a:extLst>
              <a:ext uri="{FF2B5EF4-FFF2-40B4-BE49-F238E27FC236}">
                <a16:creationId xmlns:a16="http://schemas.microsoft.com/office/drawing/2014/main" id="{582FDEA0-C162-35F7-79AD-225190624686}"/>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59591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F902DD-72C4-66C9-F70A-8AA950FF8357}"/>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6" name="TextBox 5">
            <a:extLst>
              <a:ext uri="{FF2B5EF4-FFF2-40B4-BE49-F238E27FC236}">
                <a16:creationId xmlns:a16="http://schemas.microsoft.com/office/drawing/2014/main" id="{C146D2D1-72A4-C8AD-C494-79AE2386B72E}"/>
              </a:ext>
            </a:extLst>
          </p:cNvPr>
          <p:cNvSpPr txBox="1"/>
          <p:nvPr/>
        </p:nvSpPr>
        <p:spPr>
          <a:xfrm>
            <a:off x="245806" y="1337188"/>
            <a:ext cx="8898194" cy="1477328"/>
          </a:xfrm>
          <a:prstGeom prst="rect">
            <a:avLst/>
          </a:prstGeom>
          <a:noFill/>
        </p:spPr>
        <p:txBody>
          <a:bodyPr wrap="square">
            <a:spAutoFit/>
          </a:bodyPr>
          <a:lstStyle/>
          <a:p>
            <a:pPr>
              <a:buNone/>
            </a:pPr>
            <a:r>
              <a:rPr lang="en-US" b="1" dirty="0"/>
              <a:t>4 Responsiveness &amp; Speed</a:t>
            </a:r>
          </a:p>
          <a:p>
            <a:pPr>
              <a:buFont typeface="Arial" panose="020B0604020202020204" pitchFamily="34" charset="0"/>
              <a:buChar char="•"/>
            </a:pPr>
            <a:r>
              <a:rPr lang="en-US" dirty="0"/>
              <a:t>UI should respond </a:t>
            </a:r>
            <a:r>
              <a:rPr lang="en-US" b="1" dirty="0"/>
              <a:t>quickly to user actions</a:t>
            </a:r>
            <a:r>
              <a:rPr lang="en-US" dirty="0"/>
              <a:t> with minimal loading times.</a:t>
            </a:r>
          </a:p>
          <a:p>
            <a:pPr>
              <a:buFont typeface="Arial" panose="020B0604020202020204" pitchFamily="34" charset="0"/>
              <a:buChar char="•"/>
            </a:pPr>
            <a:r>
              <a:rPr lang="en-US" dirty="0"/>
              <a:t>Feedback mechanisms (e.g., loading spinners, progress bars) should inform users about delays.</a:t>
            </a:r>
          </a:p>
          <a:p>
            <a:pPr>
              <a:buFont typeface="Arial" panose="020B0604020202020204" pitchFamily="34" charset="0"/>
              <a:buChar char="•"/>
            </a:pPr>
            <a:r>
              <a:rPr lang="en-US" dirty="0"/>
              <a:t>Example: Websites that load within </a:t>
            </a:r>
            <a:r>
              <a:rPr lang="en-US" b="1" dirty="0"/>
              <a:t>2-3 seconds</a:t>
            </a:r>
            <a:r>
              <a:rPr lang="en-US" dirty="0"/>
              <a:t> retain more users.</a:t>
            </a:r>
          </a:p>
        </p:txBody>
      </p:sp>
      <p:sp>
        <p:nvSpPr>
          <p:cNvPr id="8" name="Rectangle 2">
            <a:extLst>
              <a:ext uri="{FF2B5EF4-FFF2-40B4-BE49-F238E27FC236}">
                <a16:creationId xmlns:a16="http://schemas.microsoft.com/office/drawing/2014/main" id="{C016CBD7-EB62-2FCF-B323-176799BB70E3}"/>
              </a:ext>
            </a:extLst>
          </p:cNvPr>
          <p:cNvSpPr>
            <a:spLocks noChangeArrowheads="1"/>
          </p:cNvSpPr>
          <p:nvPr/>
        </p:nvSpPr>
        <p:spPr bwMode="auto">
          <a:xfrm>
            <a:off x="0" y="3084773"/>
            <a:ext cx="8100294"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4. Intuitiveness &amp; Learnability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UI should be </a:t>
            </a:r>
            <a:r>
              <a:rPr kumimoji="0" lang="en-US" altLang="en-US" sz="1800" b="1" i="0" u="none" strike="noStrike" cap="none" normalizeH="0" baseline="0" dirty="0">
                <a:ln>
                  <a:noFill/>
                </a:ln>
                <a:solidFill>
                  <a:schemeClr val="tx1"/>
                </a:solidFill>
                <a:effectLst/>
                <a:latin typeface="Arial" panose="020B0604020202020204" pitchFamily="34" charset="0"/>
              </a:rPr>
              <a:t>self-explanatory</a:t>
            </a:r>
            <a:r>
              <a:rPr kumimoji="0" lang="en-US" altLang="en-US" sz="1800" b="0" i="0" u="none" strike="noStrike" cap="none" normalizeH="0" baseline="0" dirty="0">
                <a:ln>
                  <a:noFill/>
                </a:ln>
                <a:solidFill>
                  <a:schemeClr val="tx1"/>
                </a:solidFill>
                <a:effectLst/>
                <a:latin typeface="Arial" panose="020B0604020202020204" pitchFamily="34" charset="0"/>
              </a:rPr>
              <a:t>, requiring minimal training.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Common functions should be placed where users expect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In e-commerce sites, the </a:t>
            </a:r>
            <a:r>
              <a:rPr kumimoji="0" lang="en-US" altLang="en-US" sz="1800" b="1" i="0" u="none" strike="noStrike" cap="none" normalizeH="0" baseline="0" dirty="0">
                <a:ln>
                  <a:noFill/>
                </a:ln>
                <a:solidFill>
                  <a:schemeClr val="tx1"/>
                </a:solidFill>
                <a:effectLst/>
                <a:latin typeface="Arial" panose="020B0604020202020204" pitchFamily="34" charset="0"/>
              </a:rPr>
              <a:t>cart icon</a:t>
            </a:r>
            <a:r>
              <a:rPr kumimoji="0" lang="en-US" altLang="en-US" sz="1800" b="0" i="0" u="none" strike="noStrike" cap="none" normalizeH="0" baseline="0" dirty="0">
                <a:ln>
                  <a:noFill/>
                </a:ln>
                <a:solidFill>
                  <a:schemeClr val="tx1"/>
                </a:solidFill>
                <a:effectLst/>
                <a:latin typeface="Arial" panose="020B0604020202020204" pitchFamily="34" charset="0"/>
              </a:rPr>
              <a:t> is usually in the top right corner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3177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8D77D-3F44-BA78-8CEA-EF8C6597C1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E1B10A-BD72-47E1-D0A6-9B4FE5E97118}"/>
              </a:ext>
            </a:extLst>
          </p:cNvPr>
          <p:cNvSpPr>
            <a:spLocks noGrp="1"/>
          </p:cNvSpPr>
          <p:nvPr>
            <p:ph idx="1"/>
          </p:nvPr>
        </p:nvSpPr>
        <p:spPr>
          <a:xfrm>
            <a:off x="849086" y="849086"/>
            <a:ext cx="10504714" cy="5327877"/>
          </a:xfrm>
        </p:spPr>
        <p:txBody>
          <a:bodyPr/>
          <a:lstStyle/>
          <a:p>
            <a:pPr marL="0" indent="0" algn="l" fontAlgn="base">
              <a:spcAft>
                <a:spcPts val="1800"/>
              </a:spcAft>
              <a:buNone/>
            </a:pPr>
            <a:r>
              <a:rPr lang="en-IN" b="1" i="0" u="none" strike="noStrike" dirty="0">
                <a:solidFill>
                  <a:srgbClr val="273239"/>
                </a:solidFill>
                <a:effectLst/>
                <a:latin typeface="Nunito" pitchFamily="2" charset="77"/>
              </a:rPr>
              <a:t>4. </a:t>
            </a:r>
            <a:r>
              <a:rPr lang="en-IN" b="1" i="0" u="none" strike="noStrike" dirty="0">
                <a:solidFill>
                  <a:srgbClr val="273239"/>
                </a:solidFill>
                <a:effectLst/>
                <a:latin typeface="Times New Roman" panose="02020603050405020304" pitchFamily="18" charset="0"/>
                <a:cs typeface="Times New Roman" panose="02020603050405020304" pitchFamily="18" charset="0"/>
              </a:rPr>
              <a:t>Graphical User Interface Design :</a:t>
            </a:r>
            <a:r>
              <a:rPr lang="en-IN" b="0" i="0" u="none" strike="noStrike" dirty="0">
                <a:solidFill>
                  <a:srgbClr val="273239"/>
                </a:solidFill>
                <a:effectLst/>
                <a:latin typeface="Times New Roman" panose="02020603050405020304" pitchFamily="18" charset="0"/>
                <a:cs typeface="Times New Roman" panose="02020603050405020304" pitchFamily="18" charset="0"/>
              </a:rPr>
              <a:t> </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A graphic user interface design provides screen displays that create an operating environment for the user and form an explicit visual and functional context for user’s actions.</a:t>
            </a:r>
          </a:p>
          <a:p>
            <a:pPr marL="742950" lvl="1" indent="-285750" algn="just" fontAlgn="base">
              <a:spcAft>
                <a:spcPts val="1800"/>
              </a:spcAft>
              <a:buFont typeface="+mj-lt"/>
              <a:buAutoNum type="arabicPeriod"/>
            </a:pPr>
            <a:r>
              <a:rPr lang="en-IN" b="0" i="0" u="none" strike="noStrike" dirty="0">
                <a:solidFill>
                  <a:srgbClr val="273239"/>
                </a:solidFill>
                <a:effectLst/>
                <a:latin typeface="Times New Roman" panose="02020603050405020304" pitchFamily="18" charset="0"/>
                <a:cs typeface="Times New Roman" panose="02020603050405020304" pitchFamily="18" charset="0"/>
              </a:rPr>
              <a:t>It includes standard objects like buttons, icons, text, field, windows, images, pull-down and pop-up screen menus.</a:t>
            </a:r>
          </a:p>
          <a:p>
            <a:endParaRPr lang="en-US" dirty="0"/>
          </a:p>
        </p:txBody>
      </p:sp>
      <p:sp>
        <p:nvSpPr>
          <p:cNvPr id="4" name="Slide Number Placeholder 3">
            <a:extLst>
              <a:ext uri="{FF2B5EF4-FFF2-40B4-BE49-F238E27FC236}">
                <a16:creationId xmlns:a16="http://schemas.microsoft.com/office/drawing/2014/main" id="{E94F3E37-5A8B-ACD7-1043-1E89DE80FF12}"/>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2568908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72CE2-EEB2-0EFA-D165-6A2CF5D723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EFD72A-1898-8699-34F2-2989346641FF}"/>
              </a:ext>
            </a:extLst>
          </p:cNvPr>
          <p:cNvSpPr>
            <a:spLocks noGrp="1"/>
          </p:cNvSpPr>
          <p:nvPr>
            <p:ph idx="1"/>
          </p:nvPr>
        </p:nvSpPr>
        <p:spPr>
          <a:xfrm>
            <a:off x="849086" y="849086"/>
            <a:ext cx="10504714" cy="5327877"/>
          </a:xfrm>
        </p:spPr>
        <p:txBody>
          <a:bodyPr/>
          <a:lstStyle/>
          <a:p>
            <a:pPr marL="0" indent="0" algn="l" fontAlgn="base">
              <a:spcAft>
                <a:spcPts val="1800"/>
              </a:spcAft>
              <a:buNone/>
            </a:pPr>
            <a:r>
              <a:rPr lang="en-IN" b="1" i="0" u="none" strike="noStrike" dirty="0">
                <a:solidFill>
                  <a:srgbClr val="273239"/>
                </a:solidFill>
                <a:effectLst/>
                <a:latin typeface="Nunito" pitchFamily="2" charset="77"/>
              </a:rPr>
              <a:t>5</a:t>
            </a:r>
            <a:r>
              <a:rPr lang="en-IN" b="1" i="0" u="none" strike="noStrike" dirty="0">
                <a:solidFill>
                  <a:srgbClr val="273239"/>
                </a:solidFill>
                <a:effectLst/>
                <a:latin typeface="Times New Roman" panose="02020603050405020304" pitchFamily="18" charset="0"/>
                <a:cs typeface="Times New Roman" panose="02020603050405020304" pitchFamily="18" charset="0"/>
              </a:rPr>
              <a:t>. Aesthetic and attractive :</a:t>
            </a:r>
          </a:p>
          <a:p>
            <a:pPr>
              <a:buNone/>
            </a:pPr>
            <a:br>
              <a:rPr lang="en-IN" dirty="0">
                <a:latin typeface="Times New Roman" panose="02020603050405020304" pitchFamily="18" charset="0"/>
                <a:cs typeface="Times New Roman" panose="02020603050405020304" pitchFamily="18" charset="0"/>
              </a:rPr>
            </a:br>
            <a:r>
              <a:rPr lang="en-IN" b="0" i="0" u="none" strike="noStrike" dirty="0">
                <a:solidFill>
                  <a:srgbClr val="273239"/>
                </a:solidFill>
                <a:effectLst/>
                <a:latin typeface="Times New Roman" panose="02020603050405020304" pitchFamily="18" charset="0"/>
                <a:cs typeface="Times New Roman" panose="02020603050405020304" pitchFamily="18" charset="0"/>
              </a:rPr>
              <a:t>As we all know attractive things gain more attention. Thus, a good user interface should be attractive to use. Thus, graphics-based user interfaces are in great demand over text-based interfaces. </a:t>
            </a:r>
            <a:r>
              <a:rPr lang="en-US" b="1" dirty="0"/>
              <a:t>9. Aesthetic &amp; Visually Appealing</a:t>
            </a:r>
          </a:p>
          <a:p>
            <a:pPr>
              <a:buFont typeface="Arial" panose="020B0604020202020204" pitchFamily="34" charset="0"/>
              <a:buChar char="•"/>
            </a:pPr>
            <a:r>
              <a:rPr lang="en-US" b="1" dirty="0"/>
              <a:t>Good color combinations</a:t>
            </a:r>
            <a:r>
              <a:rPr lang="en-US" dirty="0"/>
              <a:t>, readable fonts, and spacing make the UI attractive.</a:t>
            </a:r>
          </a:p>
          <a:p>
            <a:pPr>
              <a:buFont typeface="Arial" panose="020B0604020202020204" pitchFamily="34" charset="0"/>
              <a:buChar char="•"/>
            </a:pPr>
            <a:r>
              <a:rPr lang="en-US" dirty="0"/>
              <a:t>Avoid excessive colors, text, or animations.</a:t>
            </a:r>
          </a:p>
          <a:p>
            <a:pPr>
              <a:buFont typeface="Arial" panose="020B0604020202020204" pitchFamily="34" charset="0"/>
              <a:buChar char="•"/>
            </a:pPr>
            <a:r>
              <a:rPr lang="en-US" dirty="0"/>
              <a:t>Example: Apple’s UI is clean, modern, and elegant.</a:t>
            </a:r>
          </a:p>
          <a:p>
            <a:pPr marL="0" indent="0" algn="just" fontAlgn="base">
              <a:spcAft>
                <a:spcPts val="1800"/>
              </a:spcAft>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61BB3D7-58E1-EB46-7F2F-0572A68DBEDA}"/>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770071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0F23C-102C-C305-2011-C85C7D0938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48464-DD26-3C26-2E09-CFB38EAAC48C}"/>
              </a:ext>
            </a:extLst>
          </p:cNvPr>
          <p:cNvSpPr>
            <a:spLocks noGrp="1"/>
          </p:cNvSpPr>
          <p:nvPr>
            <p:ph idx="1"/>
          </p:nvPr>
        </p:nvSpPr>
        <p:spPr>
          <a:xfrm>
            <a:off x="849086" y="849086"/>
            <a:ext cx="10504714" cy="5327877"/>
          </a:xfrm>
        </p:spPr>
        <p:txBody>
          <a:bodyPr>
            <a:normAutofit lnSpcReduction="10000"/>
          </a:bodyPr>
          <a:lstStyle/>
          <a:p>
            <a:pPr marL="0" indent="0" algn="l" fontAlgn="base">
              <a:spcAft>
                <a:spcPts val="750"/>
              </a:spcAft>
              <a:buNone/>
            </a:pPr>
            <a:r>
              <a:rPr lang="en-IN" b="1" i="0" u="none" strike="noStrike" dirty="0">
                <a:solidFill>
                  <a:srgbClr val="273239"/>
                </a:solidFill>
                <a:effectLst/>
                <a:latin typeface="Nunito" pitchFamily="2" charset="77"/>
              </a:rPr>
              <a:t>6</a:t>
            </a:r>
            <a:r>
              <a:rPr lang="en-IN" b="1" i="0" u="none" strike="noStrike" dirty="0">
                <a:solidFill>
                  <a:srgbClr val="273239"/>
                </a:solidFill>
                <a:effectLst/>
                <a:latin typeface="Times New Roman" panose="02020603050405020304" pitchFamily="18" charset="0"/>
                <a:cs typeface="Times New Roman" panose="02020603050405020304" pitchFamily="18" charset="0"/>
              </a:rPr>
              <a:t>. Feedback : (how fast you are getting the response)</a:t>
            </a:r>
          </a:p>
          <a:p>
            <a:pPr>
              <a:buNone/>
            </a:pPr>
            <a:br>
              <a:rPr lang="en-IN" b="0" i="0" u="none" strike="noStrike" dirty="0">
                <a:solidFill>
                  <a:srgbClr val="273239"/>
                </a:solidFill>
                <a:effectLst/>
                <a:latin typeface="Times New Roman" panose="02020603050405020304" pitchFamily="18" charset="0"/>
                <a:cs typeface="Times New Roman" panose="02020603050405020304" pitchFamily="18" charset="0"/>
              </a:rPr>
            </a:br>
            <a:r>
              <a:rPr lang="en-IN" b="0" i="0" u="none" strike="noStrike" dirty="0">
                <a:solidFill>
                  <a:srgbClr val="273239"/>
                </a:solidFill>
                <a:effectLst/>
                <a:latin typeface="Times New Roman" panose="02020603050405020304" pitchFamily="18" charset="0"/>
                <a:cs typeface="Times New Roman" panose="02020603050405020304" pitchFamily="18" charset="0"/>
              </a:rPr>
              <a:t>Providing remarks to the moves of the person facilitates person to apprehend processing of the system. If any request of user takes more than a few seconds then user starts to panic, that is what is happening, if the proper feedback is providing to user, then he must know about his actions. Thus, a good user interface must contain feedback about the processing. </a:t>
            </a:r>
            <a:r>
              <a:rPr lang="en-US" b="1" dirty="0"/>
              <a:t>5. Feedback &amp; Error Handling</a:t>
            </a:r>
          </a:p>
          <a:p>
            <a:pPr>
              <a:buFont typeface="Arial" panose="020B0604020202020204" pitchFamily="34" charset="0"/>
              <a:buChar char="•"/>
            </a:pPr>
            <a:r>
              <a:rPr lang="en-US" dirty="0"/>
              <a:t>Users should receive </a:t>
            </a:r>
            <a:r>
              <a:rPr lang="en-US" b="1" dirty="0"/>
              <a:t>immediate feedback</a:t>
            </a:r>
            <a:r>
              <a:rPr lang="en-US" dirty="0"/>
              <a:t> for actions (e.g., a success message after form submission).</a:t>
            </a:r>
          </a:p>
          <a:p>
            <a:pPr>
              <a:buFont typeface="Arial" panose="020B0604020202020204" pitchFamily="34" charset="0"/>
              <a:buChar char="•"/>
            </a:pPr>
            <a:r>
              <a:rPr lang="en-US" b="1" dirty="0"/>
              <a:t>Error messages should be clear</a:t>
            </a:r>
            <a:r>
              <a:rPr lang="en-US" dirty="0"/>
              <a:t>, guiding users on how to fix issues.</a:t>
            </a:r>
          </a:p>
          <a:p>
            <a:pPr>
              <a:buFont typeface="Arial" panose="020B0604020202020204" pitchFamily="34" charset="0"/>
              <a:buChar char="•"/>
            </a:pPr>
            <a:r>
              <a:rPr lang="en-US" dirty="0"/>
              <a:t>Example: A password field showing </a:t>
            </a:r>
            <a:r>
              <a:rPr lang="en-US" b="1" dirty="0"/>
              <a:t>"Weak password"</a:t>
            </a:r>
            <a:r>
              <a:rPr lang="en-US" dirty="0"/>
              <a:t> instead of just an error.</a:t>
            </a:r>
          </a:p>
          <a:p>
            <a:pPr marL="0" indent="0">
              <a:buNone/>
            </a:pPr>
            <a:endParaRPr lang="en-US" dirty="0"/>
          </a:p>
        </p:txBody>
      </p:sp>
      <p:sp>
        <p:nvSpPr>
          <p:cNvPr id="4" name="Slide Number Placeholder 3">
            <a:extLst>
              <a:ext uri="{FF2B5EF4-FFF2-40B4-BE49-F238E27FC236}">
                <a16:creationId xmlns:a16="http://schemas.microsoft.com/office/drawing/2014/main" id="{0A934AF9-905D-5BFD-268B-8A1D87C561AF}"/>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1047898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C4D6E-3B9D-F644-5612-B0B3533846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8C7B01-82FC-CACA-CA5A-555F59BAC678}"/>
              </a:ext>
            </a:extLst>
          </p:cNvPr>
          <p:cNvSpPr>
            <a:spLocks noGrp="1"/>
          </p:cNvSpPr>
          <p:nvPr>
            <p:ph idx="1"/>
          </p:nvPr>
        </p:nvSpPr>
        <p:spPr/>
        <p:txBody>
          <a:bodyPr/>
          <a:lstStyle/>
          <a:p>
            <a:pPr>
              <a:buNone/>
            </a:pPr>
            <a:r>
              <a:rPr lang="en-US" b="1" dirty="0"/>
              <a:t>7. Flexibility &amp; Customization</a:t>
            </a:r>
          </a:p>
          <a:p>
            <a:pPr>
              <a:buFont typeface="Arial" panose="020B0604020202020204" pitchFamily="34" charset="0"/>
              <a:buChar char="•"/>
            </a:pPr>
            <a:r>
              <a:rPr lang="en-US" dirty="0"/>
              <a:t>Users should be able to </a:t>
            </a:r>
            <a:r>
              <a:rPr lang="en-US" b="1" dirty="0"/>
              <a:t>adjust settings</a:t>
            </a:r>
            <a:r>
              <a:rPr lang="en-US" dirty="0"/>
              <a:t> to their preference (e.g., themes, font sizes).</a:t>
            </a:r>
          </a:p>
          <a:p>
            <a:pPr>
              <a:buFont typeface="Arial" panose="020B0604020202020204" pitchFamily="34" charset="0"/>
              <a:buChar char="•"/>
            </a:pPr>
            <a:r>
              <a:rPr lang="en-US" dirty="0"/>
              <a:t>Example: Dark mode in applications like YouTube and Twitter.</a:t>
            </a:r>
          </a:p>
          <a:p>
            <a:endParaRPr lang="en-IN" dirty="0"/>
          </a:p>
        </p:txBody>
      </p:sp>
      <p:sp>
        <p:nvSpPr>
          <p:cNvPr id="4" name="Slide Number Placeholder 3">
            <a:extLst>
              <a:ext uri="{FF2B5EF4-FFF2-40B4-BE49-F238E27FC236}">
                <a16:creationId xmlns:a16="http://schemas.microsoft.com/office/drawing/2014/main" id="{C90920E8-FDC2-1E5C-BF2A-F86E68901EEF}"/>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3681218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23F24-2235-5356-D030-D55769F982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D3FACB-B095-AB58-7A49-D1753279A2D1}"/>
              </a:ext>
            </a:extLst>
          </p:cNvPr>
          <p:cNvSpPr>
            <a:spLocks noGrp="1"/>
          </p:cNvSpPr>
          <p:nvPr>
            <p:ph idx="1"/>
          </p:nvPr>
        </p:nvSpPr>
        <p:spPr>
          <a:xfrm>
            <a:off x="849086" y="849086"/>
            <a:ext cx="10504714" cy="5327877"/>
          </a:xfrm>
        </p:spPr>
        <p:txBody>
          <a:bodyPr/>
          <a:lstStyle/>
          <a:p>
            <a:pPr marL="0" indent="0" algn="l" fontAlgn="base">
              <a:spcAft>
                <a:spcPts val="750"/>
              </a:spcAft>
              <a:buNone/>
            </a:pPr>
            <a:r>
              <a:rPr lang="en-IN" b="1" i="0" u="none" strike="noStrike" dirty="0">
                <a:solidFill>
                  <a:srgbClr val="273239"/>
                </a:solidFill>
                <a:effectLst/>
                <a:latin typeface="Times New Roman" panose="02020603050405020304" pitchFamily="18" charset="0"/>
                <a:cs typeface="Times New Roman" panose="02020603050405020304" pitchFamily="18" charset="0"/>
              </a:rPr>
              <a:t>7. Error recovery </a:t>
            </a:r>
            <a:r>
              <a:rPr lang="en-IN" b="1" dirty="0">
                <a:solidFill>
                  <a:srgbClr val="273239"/>
                </a:solidFill>
                <a:latin typeface="Times New Roman" panose="02020603050405020304" pitchFamily="18" charset="0"/>
                <a:cs typeface="Times New Roman" panose="02020603050405020304" pitchFamily="18" charset="0"/>
                <a:sym typeface="Wingdings" pitchFamily="2" charset="2"/>
              </a:rPr>
              <a:t>( undo)</a:t>
            </a:r>
            <a:endParaRPr lang="en-IN" b="1" i="0" u="none" strike="noStrike" dirty="0">
              <a:solidFill>
                <a:srgbClr val="273239"/>
              </a:solidFill>
              <a:effectLst/>
              <a:latin typeface="Times New Roman" panose="02020603050405020304" pitchFamily="18" charset="0"/>
              <a:cs typeface="Times New Roman" panose="02020603050405020304" pitchFamily="18" charset="0"/>
            </a:endParaRPr>
          </a:p>
          <a:p>
            <a:pPr marL="0" indent="0" algn="just" fontAlgn="base">
              <a:spcAft>
                <a:spcPts val="750"/>
              </a:spcAft>
              <a:buNone/>
            </a:pPr>
            <a:br>
              <a:rPr lang="en-IN" dirty="0">
                <a:latin typeface="Times New Roman" panose="02020603050405020304" pitchFamily="18" charset="0"/>
                <a:cs typeface="Times New Roman" panose="02020603050405020304" pitchFamily="18" charset="0"/>
              </a:rPr>
            </a:br>
            <a:r>
              <a:rPr lang="en-IN" b="0" i="0" u="none" strike="noStrike" dirty="0">
                <a:solidFill>
                  <a:srgbClr val="273239"/>
                </a:solidFill>
                <a:effectLst/>
                <a:latin typeface="Times New Roman" panose="02020603050405020304" pitchFamily="18" charset="0"/>
                <a:cs typeface="Times New Roman" panose="02020603050405020304" pitchFamily="18" charset="0"/>
              </a:rPr>
              <a:t>Error could be very common, all people can dedicate an blunders even specialists also can dedicate mistakes. Therefore, it’s also a responsibility of a great person interface to offer a undo facility in order that person can get better their errors at the same time as use of the interface. If the mistakes can’t be recovered through users, they experience irritated, helpless, and low.</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FF55CAB-D86D-CB93-7390-FB75856AE56D}"/>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496625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Best Practices for Designing an Interface</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fontAlgn="base">
              <a:buNone/>
            </a:pPr>
            <a:r>
              <a:rPr lang="en-US" dirty="0">
                <a:latin typeface="Times New Roman" panose="02020603050405020304" pitchFamily="18" charset="0"/>
                <a:cs typeface="Times New Roman" panose="02020603050405020304" pitchFamily="18" charset="0"/>
              </a:rPr>
              <a:t>Everything stems from knowing your users, including understanding their goals, skills, preferences, and tendencies.  Once you know about your user, make sure to consider the following when designing your interface:</a:t>
            </a:r>
          </a:p>
          <a:p>
            <a:pPr algn="just" fontAlgn="base"/>
            <a:r>
              <a:rPr lang="en-US" b="1" dirty="0">
                <a:latin typeface="Times New Roman" panose="02020603050405020304" pitchFamily="18" charset="0"/>
                <a:cs typeface="Times New Roman" panose="02020603050405020304" pitchFamily="18" charset="0"/>
              </a:rPr>
              <a:t>Keep the interface simple. </a:t>
            </a:r>
            <a:r>
              <a:rPr lang="en-US" dirty="0">
                <a:latin typeface="Times New Roman" panose="02020603050405020304" pitchFamily="18" charset="0"/>
                <a:cs typeface="Times New Roman" panose="02020603050405020304" pitchFamily="18" charset="0"/>
              </a:rPr>
              <a:t>The best interfaces are almost invisible to the user. They avoid unnecessary elements and are clear in the language they use on labels and in messaging.</a:t>
            </a:r>
          </a:p>
          <a:p>
            <a:pPr algn="just" fontAlgn="base"/>
            <a:r>
              <a:rPr lang="en-US" b="1" dirty="0">
                <a:latin typeface="Times New Roman" panose="02020603050405020304" pitchFamily="18" charset="0"/>
                <a:cs typeface="Times New Roman" panose="02020603050405020304" pitchFamily="18" charset="0"/>
              </a:rPr>
              <a:t>Create consistency and use common UI elements.</a:t>
            </a:r>
            <a:r>
              <a:rPr lang="en-US" dirty="0">
                <a:latin typeface="Times New Roman" panose="02020603050405020304" pitchFamily="18" charset="0"/>
                <a:cs typeface="Times New Roman" panose="02020603050405020304" pitchFamily="18" charset="0"/>
              </a:rPr>
              <a:t> By using common elements in your UI, users feel more comfortable and are able to get things done more quickly.  It is also important to create patterns in language, layout and design throughout the site to help facilitate efficiency. Once a user learns how to do something, they should be able to transfer that skill to other parts of the site. </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Best Practices for Designing an Interface</a:t>
            </a:r>
            <a:br>
              <a:rPr lang="en-US" b="1" dirty="0"/>
            </a:br>
            <a:endParaRPr lang="en-US" dirty="0"/>
          </a:p>
        </p:txBody>
      </p:sp>
      <p:sp>
        <p:nvSpPr>
          <p:cNvPr id="3" name="Content Placeholder 2"/>
          <p:cNvSpPr>
            <a:spLocks noGrp="1"/>
          </p:cNvSpPr>
          <p:nvPr>
            <p:ph idx="1"/>
          </p:nvPr>
        </p:nvSpPr>
        <p:spPr/>
        <p:txBody>
          <a:bodyPr>
            <a:normAutofit/>
          </a:bodyPr>
          <a:lstStyle/>
          <a:p>
            <a:pPr algn="just" fontAlgn="base"/>
            <a:r>
              <a:rPr lang="en-US" b="1" dirty="0">
                <a:latin typeface="Times New Roman" panose="02020603050405020304" pitchFamily="18" charset="0"/>
                <a:cs typeface="Times New Roman" panose="02020603050405020304" pitchFamily="18" charset="0"/>
              </a:rPr>
              <a:t>Strategically use color and texture.</a:t>
            </a:r>
            <a:r>
              <a:rPr lang="en-US" dirty="0">
                <a:latin typeface="Times New Roman" panose="02020603050405020304" pitchFamily="18" charset="0"/>
                <a:cs typeface="Times New Roman" panose="02020603050405020304" pitchFamily="18" charset="0"/>
              </a:rPr>
              <a:t> You can direct attention toward or redirect attention away from items using color, light, contrast, and texture to your advantage.</a:t>
            </a:r>
          </a:p>
          <a:p>
            <a:pPr algn="just" fontAlgn="base"/>
            <a:r>
              <a:rPr lang="en-US" b="1" dirty="0">
                <a:latin typeface="Times New Roman" panose="02020603050405020304" pitchFamily="18" charset="0"/>
                <a:cs typeface="Times New Roman" panose="02020603050405020304" pitchFamily="18" charset="0"/>
              </a:rPr>
              <a:t>Use typography to create hierarchy and clarity.</a:t>
            </a:r>
            <a:r>
              <a:rPr lang="en-US" dirty="0">
                <a:latin typeface="Times New Roman" panose="02020603050405020304" pitchFamily="18" charset="0"/>
                <a:cs typeface="Times New Roman" panose="02020603050405020304" pitchFamily="18" charset="0"/>
              </a:rPr>
              <a:t> Carefully consider how you use typeface. Different sizes, fonts, and arrangement of the text to help increase scan ability and readability.</a:t>
            </a:r>
          </a:p>
          <a:p>
            <a:pPr algn="just" fontAlgn="base"/>
            <a:r>
              <a:rPr lang="en-US" b="1" dirty="0">
                <a:latin typeface="Times New Roman" panose="02020603050405020304" pitchFamily="18" charset="0"/>
                <a:cs typeface="Times New Roman" panose="02020603050405020304" pitchFamily="18" charset="0"/>
              </a:rPr>
              <a:t>Be purposeful in page layout. </a:t>
            </a:r>
            <a:r>
              <a:rPr lang="en-US" dirty="0">
                <a:latin typeface="Times New Roman" panose="02020603050405020304" pitchFamily="18" charset="0"/>
                <a:cs typeface="Times New Roman" panose="02020603050405020304" pitchFamily="18" charset="0"/>
              </a:rPr>
              <a:t> Consider the spatial relationships between items on the page and structure the page based on importance. Careful placement of items can help draw attention to the most important pieces of information and can aid scanning and readability.</a:t>
            </a:r>
          </a:p>
          <a:p>
            <a:pPr algn="just" fontAlgn="base"/>
            <a:endParaRPr lang="en-US" dirty="0"/>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Best Practices for Designing an Interface</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Make sure that the system communicates what’s happening.  </a:t>
            </a:r>
            <a:r>
              <a:rPr lang="en-US" dirty="0">
                <a:latin typeface="Times New Roman" panose="02020603050405020304" pitchFamily="18" charset="0"/>
                <a:cs typeface="Times New Roman" panose="02020603050405020304" pitchFamily="18" charset="0"/>
              </a:rPr>
              <a:t>Always inform your users of location, actions, changes in state, or errors. The use of various UI elements to communicate status and, if necessary, next steps can reduce frustration for your user. </a:t>
            </a:r>
          </a:p>
          <a:p>
            <a:pPr algn="just" fontAlgn="base"/>
            <a:r>
              <a:rPr lang="en-US" b="1" dirty="0">
                <a:latin typeface="Times New Roman" panose="02020603050405020304" pitchFamily="18" charset="0"/>
                <a:cs typeface="Times New Roman" panose="02020603050405020304" pitchFamily="18" charset="0"/>
              </a:rPr>
              <a:t>Think about the defaults. </a:t>
            </a:r>
            <a:r>
              <a:rPr lang="en-US" dirty="0">
                <a:latin typeface="Times New Roman" panose="02020603050405020304" pitchFamily="18" charset="0"/>
                <a:cs typeface="Times New Roman" panose="02020603050405020304" pitchFamily="18" charset="0"/>
              </a:rPr>
              <a:t>By carefully thinking about and anticipating the goals people bring to your site, you can create defaults that reduce the burden on the user.  This becomes particularly important when it comes to form design where you might have an opportunity to have some fields pre-chosen or filled out.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https://www.tutorialspoint.com/software_engineering/software_user_interface_design.htm</a:t>
            </a:r>
            <a:endParaRPr lang="en-US" dirty="0"/>
          </a:p>
          <a:p>
            <a:r>
              <a:rPr lang="en-US" dirty="0">
                <a:hlinkClick r:id="rId3"/>
              </a:rPr>
              <a:t>https://www.usability.gov/what-and-why/user-interface-design.html#:~:text=The%20best%20interfaces%20are%20almost,get%20things%20done%20more%20quickly.</a:t>
            </a:r>
            <a:endParaRPr lang="en-US" dirty="0"/>
          </a:p>
          <a:p>
            <a:r>
              <a:rPr lang="en-US" dirty="0">
                <a:hlinkClick r:id="rId4"/>
              </a:rPr>
              <a:t>https://www.elegantthemes.com/blog/resources/10-rules-of-good-ui-design-to-follow-on-every-web-design-project</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14400"/>
            <a:ext cx="10515600" cy="7762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22</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1791</TotalTime>
  <Words>1604</Words>
  <Application>Microsoft Office PowerPoint</Application>
  <PresentationFormat>Widescreen</PresentationFormat>
  <Paragraphs>120</Paragraphs>
  <Slides>22</Slides>
  <Notes>1</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3" baseType="lpstr">
      <vt:lpstr>Arial</vt:lpstr>
      <vt:lpstr>Arial Black</vt:lpstr>
      <vt:lpstr>Calibri</vt:lpstr>
      <vt:lpstr>Calibri Light</vt:lpstr>
      <vt:lpstr>Casper</vt:lpstr>
      <vt:lpstr>Nunito</vt:lpstr>
      <vt:lpstr>Raleway ExtraBold</vt:lpstr>
      <vt:lpstr>Times New Roman</vt:lpstr>
      <vt:lpstr>1_Office Theme</vt:lpstr>
      <vt:lpstr>Contents Slide Master</vt:lpstr>
      <vt:lpstr>CorelDRAW</vt:lpstr>
      <vt:lpstr>PowerPoint Presentation</vt:lpstr>
      <vt:lpstr>Chapter-4 User Interface Design</vt:lpstr>
      <vt:lpstr>What is User Interface Design?</vt:lpstr>
      <vt:lpstr>PowerPoint Presentation</vt:lpstr>
      <vt:lpstr>Types of User Interface </vt:lpstr>
      <vt:lpstr>When do the software become popular?</vt:lpstr>
      <vt:lpstr>  User Interface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Best Practices for Designing an Interface </vt:lpstr>
      <vt:lpstr> Best Practices for Designing an Interface </vt:lpstr>
      <vt:lpstr> Best Practices for Designing an Interface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MOHD SHAN</cp:lastModifiedBy>
  <cp:revision>251</cp:revision>
  <dcterms:created xsi:type="dcterms:W3CDTF">2019-01-09T10:33:58Z</dcterms:created>
  <dcterms:modified xsi:type="dcterms:W3CDTF">2025-03-24T23:52:05Z</dcterms:modified>
</cp:coreProperties>
</file>