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662" r:id="rId3"/>
    <p:sldId id="280" r:id="rId4"/>
    <p:sldId id="294" r:id="rId5"/>
    <p:sldId id="327" r:id="rId6"/>
    <p:sldId id="341" r:id="rId7"/>
    <p:sldId id="340" r:id="rId8"/>
    <p:sldId id="339" r:id="rId9"/>
    <p:sldId id="338" r:id="rId10"/>
    <p:sldId id="342" r:id="rId11"/>
    <p:sldId id="337" r:id="rId12"/>
    <p:sldId id="343" r:id="rId13"/>
    <p:sldId id="336" r:id="rId14"/>
    <p:sldId id="344" r:id="rId15"/>
    <p:sldId id="335" r:id="rId16"/>
    <p:sldId id="334" r:id="rId17"/>
    <p:sldId id="333" r:id="rId18"/>
    <p:sldId id="332" r:id="rId19"/>
    <p:sldId id="345" r:id="rId20"/>
    <p:sldId id="326"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8" d="100"/>
          <a:sy n="118" d="100"/>
        </p:scale>
        <p:origin x="464" y="192"/>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IN"/>
              <a:t>09/12/24</a:t>
            </a:r>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IN"/>
              <a:t>09/12/24</a:t>
            </a:r>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IN"/>
              <a:t>09/12/24</a:t>
            </a:r>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IN"/>
              <a:t>09/12/24</a:t>
            </a:r>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09/12/24</a:t>
            </a:r>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09/12/24</a:t>
            </a:r>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IN">
                <a:solidFill>
                  <a:prstClr val="black">
                    <a:tint val="75000"/>
                  </a:prstClr>
                </a:solidFill>
              </a:rPr>
              <a:t>09/12/24</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09/12/24</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B3010160-46AC-214E-E617-BEED2097A44C}"/>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EC696EC9-4028-3367-3906-B54EB71CDC3E}"/>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8C67BCCA-A6D8-7D3C-B38F-38B4CA9501FD}"/>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tutorialspoint.com/software_quality_management/software_quality_management_factors.htm" TargetMode="External"/><Relationship Id="rId2" Type="http://schemas.openxmlformats.org/officeDocument/2006/relationships/hyperlink" Target="https://www.tutorialspoint.com/software_quality_management/software_quality_management_role_of_management_in_qa.ht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IN"/>
              <a:t>09/12/24</a:t>
            </a:r>
            <a:endParaRPr lang="en-US" dirty="0"/>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760694" cy="369332"/>
          </a:xfrm>
          <a:prstGeom prst="rect">
            <a:avLst/>
          </a:prstGeom>
          <a:noFill/>
        </p:spPr>
        <p:txBody>
          <a:bodyPr wrap="square">
            <a:spAutoFit/>
          </a:bodyPr>
          <a:lstStyle/>
          <a:p>
            <a:pPr eaLnBrk="1" hangingPunct="1"/>
            <a:r>
              <a:rPr lang="en-US" sz="1800" dirty="0">
                <a:latin typeface="Raleway ExtraBold" pitchFamily="34" charset="-52"/>
              </a:rPr>
              <a:t>Software Project Management</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33064"/>
          </a:xfrm>
        </p:spPr>
        <p:txBody>
          <a:bodyPr>
            <a:noAutofit/>
          </a:bodyPr>
          <a:lstStyle/>
          <a:p>
            <a:pPr algn="ctr"/>
            <a:r>
              <a:rPr lang="en-US" sz="3200" dirty="0">
                <a:latin typeface="Times New Roman" panose="02020603050405020304" pitchFamily="18" charset="0"/>
                <a:cs typeface="Times New Roman" pitchFamily="18" charset="0"/>
              </a:rPr>
              <a:t>Chapter-4</a:t>
            </a:r>
            <a:br>
              <a:rPr lang="en-US" sz="3200" dirty="0">
                <a:latin typeface="Times New Roman" panose="02020603050405020304" pitchFamily="18" charset="0"/>
                <a:cs typeface="Times New Roman" pitchFamily="18" charset="0"/>
              </a:rPr>
            </a:br>
            <a:r>
              <a:rPr lang="en-US" sz="3200" b="1" dirty="0">
                <a:latin typeface="Times New Roman" panose="02020603050405020304" pitchFamily="18" charset="0"/>
                <a:cs typeface="Times New Roman" panose="02020603050405020304" pitchFamily="18" charset="0"/>
              </a:rPr>
              <a:t>Software Project Management</a:t>
            </a:r>
            <a:endParaRPr lang="en-US" sz="32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Software quality and management</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806823"/>
            <a:ext cx="10515600" cy="99181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8" name="Date Placeholder 7">
            <a:extLst>
              <a:ext uri="{FF2B5EF4-FFF2-40B4-BE49-F238E27FC236}">
                <a16:creationId xmlns:a16="http://schemas.microsoft.com/office/drawing/2014/main" id="{57A3302F-37A9-FA68-6C0C-4E7671480278}"/>
              </a:ext>
            </a:extLst>
          </p:cNvPr>
          <p:cNvSpPr>
            <a:spLocks noGrp="1"/>
          </p:cNvSpPr>
          <p:nvPr>
            <p:ph type="dt" sz="half" idx="10"/>
          </p:nvPr>
        </p:nvSpPr>
        <p:spPr/>
        <p:txBody>
          <a:bodyPr/>
          <a:lstStyle/>
          <a:p>
            <a:r>
              <a:rPr lang="en-IN"/>
              <a:t>09/12/24</a:t>
            </a:r>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22307"/>
          </a:xfrm>
        </p:spPr>
        <p:txBody>
          <a:bodyPr>
            <a:noAutofit/>
          </a:bodyPr>
          <a:lstStyle/>
          <a:p>
            <a:pPr algn="ctr"/>
            <a:r>
              <a:rPr lang="en-US" dirty="0">
                <a:latin typeface="Times New Roman" pitchFamily="18" charset="0"/>
                <a:cs typeface="Times New Roman" pitchFamily="18" charset="0"/>
              </a:rPr>
              <a:t>Software Quality Management</a:t>
            </a:r>
          </a:p>
        </p:txBody>
      </p:sp>
      <p:sp>
        <p:nvSpPr>
          <p:cNvPr id="3" name="Content Placeholder 2"/>
          <p:cNvSpPr>
            <a:spLocks noGrp="1"/>
          </p:cNvSpPr>
          <p:nvPr>
            <p:ph idx="1"/>
          </p:nvPr>
        </p:nvSpPr>
        <p:spPr>
          <a:xfrm>
            <a:off x="838200" y="1825625"/>
            <a:ext cx="10515600" cy="4351338"/>
          </a:xfrm>
        </p:spPr>
        <p:txBody>
          <a:bodyPr>
            <a:normAutofit/>
          </a:bodyPr>
          <a:lstStyle/>
          <a:p>
            <a:pPr algn="just"/>
            <a:r>
              <a:rPr lang="en-IN" dirty="0">
                <a:latin typeface="Times New Roman" panose="02020603050405020304" pitchFamily="18" charset="0"/>
                <a:cs typeface="Times New Roman" panose="02020603050405020304" pitchFamily="18" charset="0"/>
              </a:rPr>
              <a:t>Software Quality shows how good and reliable a product is.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Software Quality Management is a process that ensures the required level of software quality is achieved when it reaches the users, so that they are satisfied by its performance. </a:t>
            </a:r>
          </a:p>
          <a:p>
            <a:pPr algn="just"/>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process involves quality assurance, quality planning, and quality control. This tutorial provides a complete overview of Software Quality Management and describes the various steps involved in the process. </a:t>
            </a:r>
            <a:br>
              <a:rPr lang="en-US" dirty="0"/>
            </a:br>
            <a:endParaRPr lang="en-US"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
        <p:nvSpPr>
          <p:cNvPr id="5" name="Date Placeholder 4">
            <a:extLst>
              <a:ext uri="{FF2B5EF4-FFF2-40B4-BE49-F238E27FC236}">
                <a16:creationId xmlns:a16="http://schemas.microsoft.com/office/drawing/2014/main" id="{8F2C3F82-11AC-B737-7AFD-8D347B3E2076}"/>
              </a:ext>
            </a:extLst>
          </p:cNvPr>
          <p:cNvSpPr>
            <a:spLocks noGrp="1"/>
          </p:cNvSpPr>
          <p:nvPr>
            <p:ph type="dt" sz="half" idx="10"/>
          </p:nvPr>
        </p:nvSpPr>
        <p:spPr/>
        <p:txBody>
          <a:bodyPr/>
          <a:lstStyle/>
          <a:p>
            <a:r>
              <a:rPr lang="en-IN"/>
              <a:t>09/12/24</a:t>
            </a:r>
            <a:endParaRPr lang="en-US"/>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lstStyle/>
          <a:p>
            <a:pPr algn="ctr"/>
            <a:r>
              <a:rPr lang="en-US" dirty="0">
                <a:latin typeface="Times New Roman" panose="02020603050405020304" pitchFamily="18" charset="0"/>
                <a:cs typeface="Times New Roman" panose="02020603050405020304" pitchFamily="18" charset="0"/>
              </a:rPr>
              <a:t>Software Quality Management</a:t>
            </a: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Quality software refers to a software which is reasonably bug or defect free, is delivered in time and within the specified budget, meets the requirements and/or expectations, and is maintainable. In the software engineering context, software quality reflects both </a:t>
            </a:r>
            <a:r>
              <a:rPr lang="en-US" b="1" dirty="0">
                <a:latin typeface="Times New Roman" panose="02020603050405020304" pitchFamily="18" charset="0"/>
                <a:cs typeface="Times New Roman" panose="02020603050405020304" pitchFamily="18" charset="0"/>
              </a:rPr>
              <a:t>functional quality</a:t>
            </a:r>
            <a:r>
              <a:rPr lang="en-US" dirty="0">
                <a:latin typeface="Times New Roman" panose="02020603050405020304" pitchFamily="18" charset="0"/>
                <a:cs typeface="Times New Roman" panose="02020603050405020304" pitchFamily="18" charset="0"/>
              </a:rPr>
              <a:t> as well as </a:t>
            </a:r>
            <a:r>
              <a:rPr lang="en-US" b="1" dirty="0">
                <a:latin typeface="Times New Roman" panose="02020603050405020304" pitchFamily="18" charset="0"/>
                <a:cs typeface="Times New Roman" panose="02020603050405020304" pitchFamily="18" charset="0"/>
              </a:rPr>
              <a:t>structural quality</a:t>
            </a:r>
            <a:r>
              <a:rPr lang="en-US" dirty="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Software Functional Quality</a:t>
            </a:r>
            <a:r>
              <a:rPr lang="en-US" dirty="0">
                <a:latin typeface="Times New Roman" panose="02020603050405020304" pitchFamily="18" charset="0"/>
                <a:cs typeface="Times New Roman" panose="02020603050405020304" pitchFamily="18" charset="0"/>
              </a:rPr>
              <a:t> − It reflects how well it satisfies a given design, based on the functional requirements or specifications.</a:t>
            </a:r>
          </a:p>
          <a:p>
            <a:pPr algn="just"/>
            <a:r>
              <a:rPr lang="en-US" b="1" dirty="0">
                <a:latin typeface="Times New Roman" panose="02020603050405020304" pitchFamily="18" charset="0"/>
                <a:cs typeface="Times New Roman" panose="02020603050405020304" pitchFamily="18" charset="0"/>
              </a:rPr>
              <a:t>Software Structural Quality</a:t>
            </a:r>
            <a:r>
              <a:rPr lang="en-US" dirty="0">
                <a:latin typeface="Times New Roman" panose="02020603050405020304" pitchFamily="18" charset="0"/>
                <a:cs typeface="Times New Roman" panose="02020603050405020304" pitchFamily="18" charset="0"/>
              </a:rPr>
              <a:t> − It deals with the handling of non-functional requirements that support the delivery of the functional requirements, such as robustness or maintainability, and the degree to which the software was produced correctly.</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6" name="Date Placeholder 5">
            <a:extLst>
              <a:ext uri="{FF2B5EF4-FFF2-40B4-BE49-F238E27FC236}">
                <a16:creationId xmlns:a16="http://schemas.microsoft.com/office/drawing/2014/main" id="{B961EE96-02CB-69CE-5742-D57A4DC8AA86}"/>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lstStyle/>
          <a:p>
            <a:pPr algn="ctr"/>
            <a:r>
              <a:rPr lang="en-US" dirty="0">
                <a:latin typeface="Times New Roman" panose="02020603050405020304" pitchFamily="18" charset="0"/>
                <a:cs typeface="Times New Roman" panose="02020603050405020304" pitchFamily="18" charset="0"/>
              </a:rPr>
              <a:t>Software Quality Management</a:t>
            </a:r>
          </a:p>
        </p:txBody>
      </p:sp>
      <p:sp>
        <p:nvSpPr>
          <p:cNvPr id="3" name="Content Placeholder 2"/>
          <p:cNvSpPr>
            <a:spLocks noGrp="1"/>
          </p:cNvSpPr>
          <p:nvPr>
            <p:ph idx="1"/>
          </p:nvPr>
        </p:nvSpPr>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Software Quality Assurance</a:t>
            </a:r>
            <a:r>
              <a:rPr lang="en-US" dirty="0">
                <a:latin typeface="Times New Roman" panose="02020603050405020304" pitchFamily="18" charset="0"/>
                <a:cs typeface="Times New Roman" panose="02020603050405020304" pitchFamily="18" charset="0"/>
              </a:rPr>
              <a:t> − Software Quality Assurance (SQA) is a set of activities to ensure the quality in software engineering processes that ultimately result in quality software products. The activities establish and evaluate the processes that produce products. It involves process-focused action.</a:t>
            </a:r>
          </a:p>
          <a:p>
            <a:pPr algn="just"/>
            <a:r>
              <a:rPr lang="en-US" b="1" dirty="0">
                <a:latin typeface="Times New Roman" panose="02020603050405020304" pitchFamily="18" charset="0"/>
                <a:cs typeface="Times New Roman" panose="02020603050405020304" pitchFamily="18" charset="0"/>
              </a:rPr>
              <a:t>Software Quality Control</a:t>
            </a:r>
            <a:r>
              <a:rPr lang="en-US" dirty="0">
                <a:latin typeface="Times New Roman" panose="02020603050405020304" pitchFamily="18" charset="0"/>
                <a:cs typeface="Times New Roman" panose="02020603050405020304" pitchFamily="18" charset="0"/>
              </a:rPr>
              <a:t> − Software Quality Control (SQC) is a set of activities to ensure the quality in software products. These activities focus on determining the defects in the actual products produced. It involves product-focused action.</a:t>
            </a:r>
          </a:p>
          <a:p>
            <a:pPr fontAlgn="ctr">
              <a:spcBef>
                <a:spcPts val="750"/>
              </a:spcBef>
              <a:spcAft>
                <a:spcPts val="1500"/>
              </a:spcAft>
            </a:pPr>
            <a:r>
              <a:rPr lang="en-IN" b="1" dirty="0">
                <a:effectLst/>
              </a:rPr>
              <a:t>QA focuses on preventing defects, while QC focuses on identifying and fixing defects. QA activities occur throughout the development process, while QC activities occur after development. </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6" name="Date Placeholder 5">
            <a:extLst>
              <a:ext uri="{FF2B5EF4-FFF2-40B4-BE49-F238E27FC236}">
                <a16:creationId xmlns:a16="http://schemas.microsoft.com/office/drawing/2014/main" id="{1464126B-8553-ADD5-76B3-9C769BF26F02}"/>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pPr algn="ctr"/>
            <a:br>
              <a:rPr lang="en-US" dirty="0"/>
            </a:br>
            <a:r>
              <a:rPr lang="en-US" dirty="0"/>
              <a:t>Software Quality Factors</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various factors, which influence the software quality, are termed as software factors. </a:t>
            </a:r>
          </a:p>
          <a:p>
            <a:pPr marL="0" indent="0" algn="just">
              <a:buNone/>
            </a:pPr>
            <a:r>
              <a:rPr lang="en-US" dirty="0">
                <a:latin typeface="Times New Roman" panose="02020603050405020304" pitchFamily="18" charset="0"/>
                <a:cs typeface="Times New Roman" panose="02020603050405020304" pitchFamily="18" charset="0"/>
              </a:rPr>
              <a:t>They can be broadly divided into two categories. </a:t>
            </a:r>
          </a:p>
          <a:p>
            <a:pPr algn="just"/>
            <a:r>
              <a:rPr lang="en-US" dirty="0">
                <a:latin typeface="Times New Roman" panose="02020603050405020304" pitchFamily="18" charset="0"/>
                <a:cs typeface="Times New Roman" panose="02020603050405020304" pitchFamily="18" charset="0"/>
              </a:rPr>
              <a:t>The first category of the factors is of those that can be measured directly such as the number of logical errors, and the second category clubs those factors which can be measured only indirectly. </a:t>
            </a:r>
          </a:p>
          <a:p>
            <a:pPr algn="just"/>
            <a:r>
              <a:rPr lang="en-US" dirty="0">
                <a:latin typeface="Times New Roman" panose="02020603050405020304" pitchFamily="18" charset="0"/>
                <a:cs typeface="Times New Roman" panose="02020603050405020304" pitchFamily="18" charset="0"/>
              </a:rPr>
              <a:t>For example, maintainability but each of the factors is to be measured to check for the content and the quality control.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dirty="0"/>
          </a:p>
        </p:txBody>
      </p:sp>
      <p:sp>
        <p:nvSpPr>
          <p:cNvPr id="6" name="Date Placeholder 5">
            <a:extLst>
              <a:ext uri="{FF2B5EF4-FFF2-40B4-BE49-F238E27FC236}">
                <a16:creationId xmlns:a16="http://schemas.microsoft.com/office/drawing/2014/main" id="{0445CFEF-3F74-4F55-C8C4-1DB90C2D5A86}"/>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4"/>
            <a:ext cx="10515600" cy="797803"/>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McCall’s Factor Model</a:t>
            </a:r>
            <a:br>
              <a:rPr lang="en-US" dirty="0"/>
            </a:br>
            <a:endParaRPr lang="en-US" dirty="0"/>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This model (1977) classifies all software requirements into 11 software quality factors. The 11 factors are grouped into </a:t>
            </a:r>
            <a:r>
              <a:rPr lang="en-US" dirty="0">
                <a:solidFill>
                  <a:srgbClr val="FF0000"/>
                </a:solidFill>
                <a:latin typeface="Times New Roman" panose="02020603050405020304" pitchFamily="18" charset="0"/>
                <a:cs typeface="Times New Roman" panose="02020603050405020304" pitchFamily="18" charset="0"/>
              </a:rPr>
              <a:t>three categories</a:t>
            </a:r>
            <a:r>
              <a:rPr lang="en-US" dirty="0">
                <a:latin typeface="Times New Roman" panose="02020603050405020304" pitchFamily="18" charset="0"/>
                <a:cs typeface="Times New Roman" panose="02020603050405020304" pitchFamily="18" charset="0"/>
              </a:rPr>
              <a:t> – product operation, product revision, and product transition factors.</a:t>
            </a:r>
          </a:p>
          <a:p>
            <a:pPr algn="just"/>
            <a:r>
              <a:rPr lang="en-US" b="1" dirty="0">
                <a:latin typeface="Times New Roman" panose="02020603050405020304" pitchFamily="18" charset="0"/>
                <a:cs typeface="Times New Roman" panose="02020603050405020304" pitchFamily="18" charset="0"/>
              </a:rPr>
              <a:t>Product operation factors</a:t>
            </a:r>
            <a:r>
              <a:rPr lang="en-US" dirty="0">
                <a:latin typeface="Times New Roman" panose="02020603050405020304" pitchFamily="18" charset="0"/>
                <a:cs typeface="Times New Roman" panose="02020603050405020304" pitchFamily="18" charset="0"/>
              </a:rPr>
              <a:t> − Correctness, Reliability, Efficiency, Integrity, Usability.</a:t>
            </a:r>
          </a:p>
          <a:p>
            <a:pPr algn="just"/>
            <a:r>
              <a:rPr lang="en-US" b="1" dirty="0">
                <a:latin typeface="Times New Roman" panose="02020603050405020304" pitchFamily="18" charset="0"/>
                <a:cs typeface="Times New Roman" panose="02020603050405020304" pitchFamily="18" charset="0"/>
              </a:rPr>
              <a:t>Product revision factors</a:t>
            </a:r>
            <a:r>
              <a:rPr lang="en-US" dirty="0">
                <a:latin typeface="Times New Roman" panose="02020603050405020304" pitchFamily="18" charset="0"/>
                <a:cs typeface="Times New Roman" panose="02020603050405020304" pitchFamily="18" charset="0"/>
              </a:rPr>
              <a:t> − Maintainability, Flexibility, Testability.</a:t>
            </a:r>
          </a:p>
          <a:p>
            <a:pPr algn="just"/>
            <a:r>
              <a:rPr lang="en-US" b="1" dirty="0">
                <a:latin typeface="Times New Roman" panose="02020603050405020304" pitchFamily="18" charset="0"/>
                <a:cs typeface="Times New Roman" panose="02020603050405020304" pitchFamily="18" charset="0"/>
              </a:rPr>
              <a:t>Product transition factors</a:t>
            </a:r>
            <a:r>
              <a:rPr lang="en-US" dirty="0">
                <a:latin typeface="Times New Roman" panose="02020603050405020304" pitchFamily="18" charset="0"/>
                <a:cs typeface="Times New Roman" panose="02020603050405020304" pitchFamily="18" charset="0"/>
              </a:rPr>
              <a:t> − Portability, Reusability, Interoperability.</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6" name="Date Placeholder 5">
            <a:extLst>
              <a:ext uri="{FF2B5EF4-FFF2-40B4-BE49-F238E27FC236}">
                <a16:creationId xmlns:a16="http://schemas.microsoft.com/office/drawing/2014/main" id="{F7F7A2AE-BC8D-E9A8-60E1-75D57AB20011}"/>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McCall’s Factor Model</a:t>
            </a:r>
            <a:br>
              <a:rPr lang="en-US" dirty="0"/>
            </a:br>
            <a:endParaRPr lang="en-US" dirty="0"/>
          </a:p>
        </p:txBody>
      </p:sp>
      <p:sp>
        <p:nvSpPr>
          <p:cNvPr id="3" name="Content Placeholder 2"/>
          <p:cNvSpPr>
            <a:spLocks noGrp="1"/>
          </p:cNvSpPr>
          <p:nvPr>
            <p:ph idx="1"/>
          </p:nvPr>
        </p:nvSpPr>
        <p:spPr>
          <a:xfrm>
            <a:off x="838200" y="1219200"/>
            <a:ext cx="10515600" cy="4957763"/>
          </a:xfrm>
        </p:spPr>
        <p:txBody>
          <a:bodyPr>
            <a:noAutofit/>
          </a:bodyPr>
          <a:lstStyle/>
          <a:p>
            <a:pPr marL="0" indent="0" algn="just">
              <a:buNone/>
            </a:pPr>
            <a:r>
              <a:rPr lang="en-US" sz="2200" dirty="0">
                <a:latin typeface="Times New Roman" panose="02020603050405020304" pitchFamily="18" charset="0"/>
                <a:cs typeface="Times New Roman" panose="02020603050405020304" pitchFamily="18" charset="0"/>
              </a:rPr>
              <a:t>1. </a:t>
            </a:r>
            <a:r>
              <a:rPr lang="en-US" sz="2200" b="1" u="sng" dirty="0">
                <a:latin typeface="Times New Roman" panose="02020603050405020304" pitchFamily="18" charset="0"/>
                <a:cs typeface="Times New Roman" panose="02020603050405020304" pitchFamily="18" charset="0"/>
              </a:rPr>
              <a:t>Product Operation Software Quality Factors</a:t>
            </a:r>
          </a:p>
          <a:p>
            <a:pPr marL="0" indent="0" algn="just">
              <a:buNone/>
            </a:pPr>
            <a:r>
              <a:rPr lang="en-US" sz="2200" dirty="0">
                <a:latin typeface="Times New Roman" panose="02020603050405020304" pitchFamily="18" charset="0"/>
                <a:cs typeface="Times New Roman" panose="02020603050405020304" pitchFamily="18" charset="0"/>
              </a:rPr>
              <a:t>According to McCall’s model, product operation category includes five software quality factors, which deal with the requirements that directly affect the daily operation of the software. They are as follows −</a:t>
            </a:r>
          </a:p>
          <a:p>
            <a:pPr marL="0" indent="0" algn="just">
              <a:buNone/>
            </a:pPr>
            <a:r>
              <a:rPr lang="en-US" sz="2200" b="1" dirty="0">
                <a:latin typeface="Times New Roman" panose="02020603050405020304" pitchFamily="18" charset="0"/>
                <a:cs typeface="Times New Roman" panose="02020603050405020304" pitchFamily="18" charset="0"/>
              </a:rPr>
              <a:t>Correctness</a:t>
            </a:r>
            <a:r>
              <a:rPr lang="en-US" sz="2200" dirty="0">
                <a:latin typeface="Times New Roman" panose="02020603050405020304" pitchFamily="18" charset="0"/>
                <a:cs typeface="Times New Roman" panose="02020603050405020304" pitchFamily="18" charset="0"/>
              </a:rPr>
              <a:t> These requirements deal with the correctness of the output of the software system. </a:t>
            </a:r>
          </a:p>
          <a:p>
            <a:pPr algn="just"/>
            <a:r>
              <a:rPr lang="en-US" sz="2200" dirty="0">
                <a:latin typeface="Times New Roman" panose="02020603050405020304" pitchFamily="18" charset="0"/>
                <a:cs typeface="Times New Roman" panose="02020603050405020304" pitchFamily="18" charset="0"/>
              </a:rPr>
              <a:t>Output Mission</a:t>
            </a:r>
          </a:p>
          <a:p>
            <a:pPr algn="just"/>
            <a:r>
              <a:rPr lang="en-US" sz="2200" dirty="0">
                <a:latin typeface="Times New Roman" panose="02020603050405020304" pitchFamily="18" charset="0"/>
                <a:cs typeface="Times New Roman" panose="02020603050405020304" pitchFamily="18" charset="0"/>
              </a:rPr>
              <a:t>The required accuracy of output that can be negatively affected by inaccurate data or inaccurate calculations.</a:t>
            </a:r>
          </a:p>
          <a:p>
            <a:pPr algn="just"/>
            <a:r>
              <a:rPr lang="en-US" sz="2200" dirty="0">
                <a:latin typeface="Times New Roman" panose="02020603050405020304" pitchFamily="18" charset="0"/>
                <a:cs typeface="Times New Roman" panose="02020603050405020304" pitchFamily="18" charset="0"/>
              </a:rPr>
              <a:t>The completeness of the output information, which can be affected by incomplete data.</a:t>
            </a:r>
          </a:p>
          <a:p>
            <a:pPr algn="just"/>
            <a:r>
              <a:rPr lang="en-US" sz="2200" dirty="0">
                <a:latin typeface="Times New Roman" panose="02020603050405020304" pitchFamily="18" charset="0"/>
                <a:cs typeface="Times New Roman" panose="02020603050405020304" pitchFamily="18" charset="0"/>
              </a:rPr>
              <a:t>The up-to-</a:t>
            </a:r>
            <a:r>
              <a:rPr lang="en-US" sz="2200" dirty="0" err="1">
                <a:latin typeface="Times New Roman" panose="02020603050405020304" pitchFamily="18" charset="0"/>
                <a:cs typeface="Times New Roman" panose="02020603050405020304" pitchFamily="18" charset="0"/>
              </a:rPr>
              <a:t>dateness</a:t>
            </a:r>
            <a:r>
              <a:rPr lang="en-US" sz="2200" dirty="0">
                <a:latin typeface="Times New Roman" panose="02020603050405020304" pitchFamily="18" charset="0"/>
                <a:cs typeface="Times New Roman" panose="02020603050405020304" pitchFamily="18" charset="0"/>
              </a:rPr>
              <a:t> of the information defined as the time between the event and the response by the software system.</a:t>
            </a:r>
          </a:p>
          <a:p>
            <a:pPr algn="just"/>
            <a:r>
              <a:rPr lang="en-US" sz="2200" dirty="0">
                <a:latin typeface="Times New Roman" panose="02020603050405020304" pitchFamily="18" charset="0"/>
                <a:cs typeface="Times New Roman" panose="02020603050405020304" pitchFamily="18" charset="0"/>
              </a:rPr>
              <a:t>The availability of the information.</a:t>
            </a:r>
          </a:p>
          <a:p>
            <a:pPr algn="just"/>
            <a:r>
              <a:rPr lang="en-US" sz="2200" dirty="0">
                <a:latin typeface="Times New Roman" panose="02020603050405020304" pitchFamily="18" charset="0"/>
                <a:cs typeface="Times New Roman" panose="02020603050405020304" pitchFamily="18" charset="0"/>
              </a:rPr>
              <a:t>The standards for coding and documenting the software system.</a:t>
            </a:r>
          </a:p>
          <a:p>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dirty="0"/>
          </a:p>
        </p:txBody>
      </p:sp>
      <p:sp>
        <p:nvSpPr>
          <p:cNvPr id="6" name="Date Placeholder 5">
            <a:extLst>
              <a:ext uri="{FF2B5EF4-FFF2-40B4-BE49-F238E27FC236}">
                <a16:creationId xmlns:a16="http://schemas.microsoft.com/office/drawing/2014/main" id="{FF570CAC-E4C3-92AF-FC2D-A6B97C7541DE}"/>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McCall’s Factor Model</a:t>
            </a:r>
            <a:br>
              <a:rPr lang="en-US" dirty="0"/>
            </a:br>
            <a:endParaRPr lang="en-US" dirty="0"/>
          </a:p>
        </p:txBody>
      </p:sp>
      <p:sp>
        <p:nvSpPr>
          <p:cNvPr id="3" name="Content Placeholder 2"/>
          <p:cNvSpPr>
            <a:spLocks noGrp="1"/>
          </p:cNvSpPr>
          <p:nvPr>
            <p:ph idx="1"/>
          </p:nvPr>
        </p:nvSpPr>
        <p:spPr>
          <a:xfrm>
            <a:off x="838200" y="1352550"/>
            <a:ext cx="10515600" cy="4824413"/>
          </a:xfrm>
        </p:spPr>
        <p:txBody>
          <a:bodyPr>
            <a:normAutofit fontScale="70000" lnSpcReduction="20000"/>
          </a:bodyPr>
          <a:lstStyle/>
          <a:p>
            <a:pPr marL="0" indent="0" algn="just">
              <a:buNone/>
            </a:pPr>
            <a:r>
              <a:rPr lang="en-US" b="1" dirty="0">
                <a:latin typeface="Times New Roman" panose="02020603050405020304" pitchFamily="18" charset="0"/>
                <a:cs typeface="Times New Roman" panose="02020603050405020304" pitchFamily="18" charset="0"/>
              </a:rPr>
              <a:t>Reliability</a:t>
            </a:r>
          </a:p>
          <a:p>
            <a:pPr algn="just"/>
            <a:r>
              <a:rPr lang="en-US" dirty="0">
                <a:latin typeface="Times New Roman" panose="02020603050405020304" pitchFamily="18" charset="0"/>
                <a:cs typeface="Times New Roman" panose="02020603050405020304" pitchFamily="18" charset="0"/>
              </a:rPr>
              <a:t>Reliability requirements deal with service failure. They determine the maximum allowed failure rate of the software system, and can refer to the entire system or to one or more of its separate functions.</a:t>
            </a:r>
          </a:p>
          <a:p>
            <a:pPr marL="0" indent="0" algn="just">
              <a:buNone/>
            </a:pPr>
            <a:r>
              <a:rPr lang="en-US" b="1" dirty="0">
                <a:latin typeface="Times New Roman" panose="02020603050405020304" pitchFamily="18" charset="0"/>
                <a:cs typeface="Times New Roman" panose="02020603050405020304" pitchFamily="18" charset="0"/>
              </a:rPr>
              <a:t>Efficiency</a:t>
            </a:r>
          </a:p>
          <a:p>
            <a:pPr algn="just"/>
            <a:r>
              <a:rPr lang="en-US" dirty="0">
                <a:latin typeface="Times New Roman" panose="02020603050405020304" pitchFamily="18" charset="0"/>
                <a:cs typeface="Times New Roman" panose="02020603050405020304" pitchFamily="18" charset="0"/>
              </a:rPr>
              <a:t>It deals with the hardware resources needed to perform the different functions of the software system. It includes processing capabilities (given in MHz), its storage capacity (given in MB or GB) and the data communication capability (given in MBPS or GBPS).</a:t>
            </a:r>
          </a:p>
          <a:p>
            <a:pPr algn="just"/>
            <a:r>
              <a:rPr lang="en-US" dirty="0">
                <a:latin typeface="Times New Roman" panose="02020603050405020304" pitchFamily="18" charset="0"/>
                <a:cs typeface="Times New Roman" panose="02020603050405020304" pitchFamily="18" charset="0"/>
              </a:rPr>
              <a:t>It also deals with the time between recharging of the system’s portable units, such as, information system units located in portable computers, or meteorological units placed outdoors.</a:t>
            </a:r>
          </a:p>
          <a:p>
            <a:pPr marL="0" indent="0" algn="just">
              <a:buNone/>
            </a:pPr>
            <a:r>
              <a:rPr lang="en-US" b="1" dirty="0">
                <a:latin typeface="Times New Roman" panose="02020603050405020304" pitchFamily="18" charset="0"/>
                <a:cs typeface="Times New Roman" panose="02020603050405020304" pitchFamily="18" charset="0"/>
              </a:rPr>
              <a:t>Integrity</a:t>
            </a:r>
          </a:p>
          <a:p>
            <a:pPr algn="just"/>
            <a:r>
              <a:rPr lang="en-US" dirty="0">
                <a:latin typeface="Times New Roman" panose="02020603050405020304" pitchFamily="18" charset="0"/>
                <a:cs typeface="Times New Roman" panose="02020603050405020304" pitchFamily="18" charset="0"/>
              </a:rPr>
              <a:t>This factor deals with the software system security, that is, to prevent access to unauthorized persons, also to distinguish between the group of people to be given read as well as write permit.</a:t>
            </a:r>
          </a:p>
          <a:p>
            <a:pPr marL="0" indent="0" algn="just">
              <a:buNone/>
            </a:pPr>
            <a:r>
              <a:rPr lang="en-US" b="1" dirty="0">
                <a:latin typeface="Times New Roman" panose="02020603050405020304" pitchFamily="18" charset="0"/>
                <a:cs typeface="Times New Roman" panose="02020603050405020304" pitchFamily="18" charset="0"/>
              </a:rPr>
              <a:t>Usability</a:t>
            </a:r>
          </a:p>
          <a:p>
            <a:pPr algn="just"/>
            <a:r>
              <a:rPr lang="en-US" dirty="0">
                <a:latin typeface="Times New Roman" panose="02020603050405020304" pitchFamily="18" charset="0"/>
                <a:cs typeface="Times New Roman" panose="02020603050405020304" pitchFamily="18" charset="0"/>
              </a:rPr>
              <a:t>Usability requirements deal with the staff resources needed to train a new employee and to operate the software system.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6" name="Date Placeholder 5">
            <a:extLst>
              <a:ext uri="{FF2B5EF4-FFF2-40B4-BE49-F238E27FC236}">
                <a16:creationId xmlns:a16="http://schemas.microsoft.com/office/drawing/2014/main" id="{E8874335-B860-A98A-23EF-80FC1BB01C32}"/>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McCall’s Factor Model</a:t>
            </a:r>
            <a:br>
              <a:rPr lang="en-US" dirty="0"/>
            </a:br>
            <a:endParaRPr lang="en-US" dirty="0"/>
          </a:p>
        </p:txBody>
      </p:sp>
      <p:sp>
        <p:nvSpPr>
          <p:cNvPr id="3" name="Content Placeholder 2"/>
          <p:cNvSpPr>
            <a:spLocks noGrp="1"/>
          </p:cNvSpPr>
          <p:nvPr>
            <p:ph idx="1"/>
          </p:nvPr>
        </p:nvSpPr>
        <p:spPr/>
        <p:txBody>
          <a:bodyPr>
            <a:noAutofit/>
          </a:bodyPr>
          <a:lstStyle/>
          <a:p>
            <a:pPr marL="0" indent="0" algn="just">
              <a:buNone/>
            </a:pPr>
            <a:r>
              <a:rPr lang="en-US" sz="2000" b="1" u="sng" dirty="0">
                <a:latin typeface="Times New Roman" panose="02020603050405020304" pitchFamily="18" charset="0"/>
                <a:cs typeface="Times New Roman" panose="02020603050405020304" pitchFamily="18" charset="0"/>
              </a:rPr>
              <a:t>2. Product Revision Quality Factors</a:t>
            </a:r>
          </a:p>
          <a:p>
            <a:pPr marL="0" indent="0" algn="just">
              <a:buNone/>
            </a:pPr>
            <a:r>
              <a:rPr lang="en-US" sz="2000" dirty="0">
                <a:latin typeface="Times New Roman" panose="02020603050405020304" pitchFamily="18" charset="0"/>
                <a:cs typeface="Times New Roman" panose="02020603050405020304" pitchFamily="18" charset="0"/>
              </a:rPr>
              <a:t>According to McCall’s model, three software quality factors are included in the product revision category. These factors are as follows −</a:t>
            </a:r>
          </a:p>
          <a:p>
            <a:pPr algn="just"/>
            <a:r>
              <a:rPr lang="en-US" sz="2000" dirty="0">
                <a:latin typeface="Times New Roman" panose="02020603050405020304" pitchFamily="18" charset="0"/>
                <a:cs typeface="Times New Roman" panose="02020603050405020304" pitchFamily="18" charset="0"/>
              </a:rPr>
              <a:t>Maintainability</a:t>
            </a:r>
          </a:p>
          <a:p>
            <a:pPr marL="0" indent="0" algn="just">
              <a:buNone/>
            </a:pPr>
            <a:r>
              <a:rPr lang="en-US" sz="2000" dirty="0">
                <a:latin typeface="Times New Roman" panose="02020603050405020304" pitchFamily="18" charset="0"/>
                <a:cs typeface="Times New Roman" panose="02020603050405020304" pitchFamily="18" charset="0"/>
              </a:rPr>
              <a:t>This factor considers the efforts that will be needed by users and maintenance personnel to identify the reasons for software failures, to correct the failures, and to verify the success of the corrections.</a:t>
            </a:r>
          </a:p>
          <a:p>
            <a:pPr algn="just"/>
            <a:r>
              <a:rPr lang="en-US" sz="2000" dirty="0">
                <a:latin typeface="Times New Roman" panose="02020603050405020304" pitchFamily="18" charset="0"/>
                <a:cs typeface="Times New Roman" panose="02020603050405020304" pitchFamily="18" charset="0"/>
              </a:rPr>
              <a:t>Flexibility</a:t>
            </a:r>
          </a:p>
          <a:p>
            <a:pPr marL="0" indent="0" algn="just">
              <a:buNone/>
            </a:pPr>
            <a:r>
              <a:rPr lang="en-US" sz="2000" dirty="0">
                <a:latin typeface="Times New Roman" panose="02020603050405020304" pitchFamily="18" charset="0"/>
                <a:cs typeface="Times New Roman" panose="02020603050405020304" pitchFamily="18" charset="0"/>
              </a:rPr>
              <a:t>This factor deals with the capabilities and efforts required to support adaptive maintenance activities of the software. These include adapting the current software to additional circumstances and customers without changing the software. This factor’s requirements also support perfective maintenance activities, such as changes and additions to the software in order to improve its service and to adapt it to changes in the firm’s technical or commercial environment.</a:t>
            </a:r>
          </a:p>
          <a:p>
            <a:endParaRPr lang="en-US" sz="20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6" name="Date Placeholder 5">
            <a:extLst>
              <a:ext uri="{FF2B5EF4-FFF2-40B4-BE49-F238E27FC236}">
                <a16:creationId xmlns:a16="http://schemas.microsoft.com/office/drawing/2014/main" id="{203942C9-4990-63D0-029E-C80D2ECC0234}"/>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009651"/>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McCall’s Factor Model</a:t>
            </a:r>
            <a:br>
              <a:rPr lang="en-US" dirty="0"/>
            </a:br>
            <a:endParaRPr lang="en-US" dirty="0"/>
          </a:p>
        </p:txBody>
      </p:sp>
      <p:sp>
        <p:nvSpPr>
          <p:cNvPr id="3" name="Content Placeholder 2"/>
          <p:cNvSpPr>
            <a:spLocks noGrp="1"/>
          </p:cNvSpPr>
          <p:nvPr>
            <p:ph idx="1"/>
          </p:nvPr>
        </p:nvSpPr>
        <p:spPr/>
        <p:txBody>
          <a:bodyPr/>
          <a:lstStyle/>
          <a:p>
            <a:pPr marL="0" indent="0" algn="just">
              <a:buNone/>
            </a:pPr>
            <a:r>
              <a:rPr lang="en-US" b="1" dirty="0">
                <a:latin typeface="Times New Roman" panose="02020603050405020304" pitchFamily="18" charset="0"/>
                <a:cs typeface="Times New Roman" panose="02020603050405020304" pitchFamily="18" charset="0"/>
              </a:rPr>
              <a:t>Testability</a:t>
            </a:r>
          </a:p>
          <a:p>
            <a:pPr algn="just"/>
            <a:r>
              <a:rPr lang="en-US" dirty="0">
                <a:latin typeface="Times New Roman" panose="02020603050405020304" pitchFamily="18" charset="0"/>
                <a:cs typeface="Times New Roman" panose="02020603050405020304" pitchFamily="18" charset="0"/>
              </a:rPr>
              <a:t>Testability requirements deal with the testing of the software system as well as with its operation. It includes predefined intermediate results, log files, and also the automatic diagnostics performed by the software system prior to starting the system, to find out whether all components of the system are in working order and to obtain a report about the detected faults. Another type of these requirements deals with automatic diagnostic checks applied by the maintenance technicians to detect the causes of software failures.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6" name="Date Placeholder 5">
            <a:extLst>
              <a:ext uri="{FF2B5EF4-FFF2-40B4-BE49-F238E27FC236}">
                <a16:creationId xmlns:a16="http://schemas.microsoft.com/office/drawing/2014/main" id="{0670B76E-BC5C-301C-B3DA-23AE15667F86}"/>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McCall’s Factor Model</a:t>
            </a:r>
            <a:br>
              <a:rPr lang="en-US" dirty="0"/>
            </a:br>
            <a:endParaRPr lang="en-US" dirty="0"/>
          </a:p>
        </p:txBody>
      </p:sp>
      <p:sp>
        <p:nvSpPr>
          <p:cNvPr id="3" name="Content Placeholder 2"/>
          <p:cNvSpPr>
            <a:spLocks noGrp="1"/>
          </p:cNvSpPr>
          <p:nvPr>
            <p:ph idx="1"/>
          </p:nvPr>
        </p:nvSpPr>
        <p:spPr/>
        <p:txBody>
          <a:bodyPr>
            <a:normAutofit/>
          </a:bodyPr>
          <a:lstStyle/>
          <a:p>
            <a:pPr marL="0" indent="0" algn="just">
              <a:buNone/>
            </a:pPr>
            <a:r>
              <a:rPr lang="en-US" b="1" u="sng" dirty="0">
                <a:latin typeface="Times New Roman" panose="02020603050405020304" pitchFamily="18" charset="0"/>
                <a:cs typeface="Times New Roman" panose="02020603050405020304" pitchFamily="18" charset="0"/>
              </a:rPr>
              <a:t>3.Product Transition Software Quality Factor</a:t>
            </a:r>
          </a:p>
          <a:p>
            <a:pPr marL="0" indent="0" algn="just">
              <a:buNone/>
            </a:pPr>
            <a:r>
              <a:rPr lang="en-US" dirty="0">
                <a:latin typeface="Times New Roman" panose="02020603050405020304" pitchFamily="18" charset="0"/>
                <a:cs typeface="Times New Roman" panose="02020603050405020304" pitchFamily="18" charset="0"/>
              </a:rPr>
              <a:t>According to McCall’s model, three software quality factors are included in the product transition category that deals with the adaptation of software to other environments and its interaction with other software systems. These factors are as follows −</a:t>
            </a:r>
          </a:p>
          <a:p>
            <a:pPr marL="0" indent="0" algn="just">
              <a:buNone/>
            </a:pPr>
            <a:r>
              <a:rPr lang="en-US" b="1" dirty="0">
                <a:latin typeface="Times New Roman" panose="02020603050405020304" pitchFamily="18" charset="0"/>
                <a:cs typeface="Times New Roman" panose="02020603050405020304" pitchFamily="18" charset="0"/>
              </a:rPr>
              <a:t>Portability</a:t>
            </a:r>
          </a:p>
          <a:p>
            <a:pPr algn="just"/>
            <a:r>
              <a:rPr lang="en-US" dirty="0">
                <a:latin typeface="Times New Roman" panose="02020603050405020304" pitchFamily="18" charset="0"/>
                <a:cs typeface="Times New Roman" panose="02020603050405020304" pitchFamily="18" charset="0"/>
              </a:rPr>
              <a:t>Portability requirements tend to the adaptation of a software system to other environments consisting of different hardware, different operating systems, and so forth. The software should be possible to continue using the same basic software in diverse situations.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6" name="Date Placeholder 5">
            <a:extLst>
              <a:ext uri="{FF2B5EF4-FFF2-40B4-BE49-F238E27FC236}">
                <a16:creationId xmlns:a16="http://schemas.microsoft.com/office/drawing/2014/main" id="{ED198404-D896-05A1-65D2-D4B4EA21AB73}"/>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McCall’s Factor Model</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b="1" dirty="0">
                <a:latin typeface="Times New Roman" panose="02020603050405020304" pitchFamily="18" charset="0"/>
                <a:cs typeface="Times New Roman" panose="02020603050405020304" pitchFamily="18" charset="0"/>
              </a:rPr>
              <a:t>Reusability</a:t>
            </a:r>
          </a:p>
          <a:p>
            <a:pPr algn="just"/>
            <a:r>
              <a:rPr lang="en-US" dirty="0">
                <a:latin typeface="Times New Roman" panose="02020603050405020304" pitchFamily="18" charset="0"/>
                <a:cs typeface="Times New Roman" panose="02020603050405020304" pitchFamily="18" charset="0"/>
              </a:rPr>
              <a:t>This factor deals with the use of software modules originally designed for one project in a new software project currently being developed. They may also enable future projects to make use of a given module or a group of modules of the currently developed software. The reuse of software is expected to save development resources, shorten the development period, and provide higher quality modules.</a:t>
            </a:r>
          </a:p>
          <a:p>
            <a:pPr marL="0" indent="0" algn="just">
              <a:buNone/>
            </a:pPr>
            <a:r>
              <a:rPr lang="en-US" b="1" dirty="0">
                <a:latin typeface="Times New Roman" panose="02020603050405020304" pitchFamily="18" charset="0"/>
                <a:cs typeface="Times New Roman" panose="02020603050405020304" pitchFamily="18" charset="0"/>
              </a:rPr>
              <a:t>Interoperability</a:t>
            </a:r>
          </a:p>
          <a:p>
            <a:pPr algn="just"/>
            <a:r>
              <a:rPr lang="en-US" dirty="0">
                <a:latin typeface="Times New Roman" panose="02020603050405020304" pitchFamily="18" charset="0"/>
                <a:cs typeface="Times New Roman" panose="02020603050405020304" pitchFamily="18" charset="0"/>
              </a:rPr>
              <a:t>Interoperability requirements focus on creating interfaces with other software systems or with other equipment firmware. For example, the firmware of the production machinery and testing equipment interfaces with the production control software.</a:t>
            </a:r>
          </a:p>
          <a:p>
            <a:pPr marL="0" indent="0" algn="just">
              <a:buNone/>
            </a:pPr>
            <a:r>
              <a:rPr lang="en-IN" dirty="0">
                <a:solidFill>
                  <a:schemeClr val="accent2">
                    <a:lumMod val="75000"/>
                  </a:schemeClr>
                </a:solidFill>
                <a:latin typeface="Times New Roman" panose="02020603050405020304" pitchFamily="18" charset="0"/>
                <a:cs typeface="Times New Roman" panose="02020603050405020304" pitchFamily="18" charset="0"/>
              </a:rPr>
              <a:t>Interoperability refers to the degree to which a software system, devices, applications or other entity can connect and communicate with other entities in a coordinated manner without effort from the end user. </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6" name="Date Placeholder 5">
            <a:extLst>
              <a:ext uri="{FF2B5EF4-FFF2-40B4-BE49-F238E27FC236}">
                <a16:creationId xmlns:a16="http://schemas.microsoft.com/office/drawing/2014/main" id="{167E046B-0CC3-2D31-6CA9-17C3614CFBDA}"/>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1219"/>
            <a:ext cx="10515600" cy="1348199"/>
          </a:xfrm>
        </p:spPr>
        <p:txBody>
          <a:bodyPr>
            <a:normAutofit/>
          </a:bodyPr>
          <a:lstStyle/>
          <a:p>
            <a:r>
              <a:rPr lang="en-US" dirty="0">
                <a:latin typeface="Times New Roman" panose="02020603050405020304" pitchFamily="18" charset="0"/>
                <a:cs typeface="Times New Roman" panose="02020603050405020304" pitchFamily="18" charset="0"/>
              </a:rPr>
              <a:t>Responsibilities of management in Software Quality</a:t>
            </a:r>
          </a:p>
        </p:txBody>
      </p:sp>
      <p:sp>
        <p:nvSpPr>
          <p:cNvPr id="3" name="Content Placeholder 2"/>
          <p:cNvSpPr>
            <a:spLocks noGrp="1"/>
          </p:cNvSpPr>
          <p:nvPr>
            <p:ph idx="1"/>
          </p:nvPr>
        </p:nvSpPr>
        <p:spPr>
          <a:xfrm>
            <a:off x="838200" y="2538805"/>
            <a:ext cx="10515600" cy="3638158"/>
          </a:xfrm>
        </p:spPr>
        <p:txBody>
          <a:bodyPr/>
          <a:lstStyle/>
          <a:p>
            <a:pPr marL="0" indent="0">
              <a:buNone/>
            </a:pPr>
            <a:r>
              <a:rPr lang="en-US" dirty="0">
                <a:latin typeface="Times New Roman" panose="02020603050405020304" pitchFamily="18" charset="0"/>
                <a:cs typeface="Times New Roman" panose="02020603050405020304" pitchFamily="18" charset="0"/>
              </a:rPr>
              <a:t>Basically, a three-level structure of management exists in software development organizations −</a:t>
            </a:r>
          </a:p>
          <a:p>
            <a:r>
              <a:rPr lang="en-US" dirty="0">
                <a:latin typeface="Times New Roman" panose="02020603050405020304" pitchFamily="18" charset="0"/>
                <a:cs typeface="Times New Roman" panose="02020603050405020304" pitchFamily="18" charset="0"/>
              </a:rPr>
              <a:t>Top management</a:t>
            </a:r>
          </a:p>
          <a:p>
            <a:r>
              <a:rPr lang="en-US" dirty="0">
                <a:latin typeface="Times New Roman" panose="02020603050405020304" pitchFamily="18" charset="0"/>
                <a:cs typeface="Times New Roman" panose="02020603050405020304" pitchFamily="18" charset="0"/>
              </a:rPr>
              <a:t>Department management</a:t>
            </a:r>
          </a:p>
          <a:p>
            <a:r>
              <a:rPr lang="en-US" dirty="0">
                <a:latin typeface="Times New Roman" panose="02020603050405020304" pitchFamily="18" charset="0"/>
                <a:cs typeface="Times New Roman" panose="02020603050405020304" pitchFamily="18" charset="0"/>
              </a:rPr>
              <a:t>Project management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6" name="Date Placeholder 5">
            <a:extLst>
              <a:ext uri="{FF2B5EF4-FFF2-40B4-BE49-F238E27FC236}">
                <a16:creationId xmlns:a16="http://schemas.microsoft.com/office/drawing/2014/main" id="{886FC40D-DE4A-5D96-DB9B-813D4D0D7232}"/>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Responsibilities of management in Software Quality</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b="1" u="sng" dirty="0">
                <a:latin typeface="Times New Roman" panose="02020603050405020304" pitchFamily="18" charset="0"/>
                <a:cs typeface="Times New Roman" panose="02020603050405020304" pitchFamily="18" charset="0"/>
              </a:rPr>
              <a:t>Top Management Responsibilities in Software Quality</a:t>
            </a:r>
          </a:p>
          <a:p>
            <a:pPr marL="0" indent="0" algn="just">
              <a:buNone/>
            </a:pPr>
            <a:r>
              <a:rPr lang="en-US" dirty="0">
                <a:latin typeface="Times New Roman" panose="02020603050405020304" pitchFamily="18" charset="0"/>
                <a:cs typeface="Times New Roman" panose="02020603050405020304" pitchFamily="18" charset="0"/>
              </a:rPr>
              <a:t>Following are the responsibilities of the top management in ensuring Software Quality −</a:t>
            </a:r>
          </a:p>
          <a:p>
            <a:pPr algn="just"/>
            <a:r>
              <a:rPr lang="en-US" dirty="0">
                <a:latin typeface="Times New Roman" panose="02020603050405020304" pitchFamily="18" charset="0"/>
                <a:cs typeface="Times New Roman" panose="02020603050405020304" pitchFamily="18" charset="0"/>
              </a:rPr>
              <a:t>Assure the quality of the company’s software products and software maintenance services</a:t>
            </a:r>
          </a:p>
          <a:p>
            <a:pPr algn="just"/>
            <a:r>
              <a:rPr lang="en-US" dirty="0">
                <a:latin typeface="Times New Roman" panose="02020603050405020304" pitchFamily="18" charset="0"/>
                <a:cs typeface="Times New Roman" panose="02020603050405020304" pitchFamily="18" charset="0"/>
              </a:rPr>
              <a:t>Communicate the importance of the product and service quality in addition to customer satisfaction to employees at all levels</a:t>
            </a:r>
          </a:p>
          <a:p>
            <a:pPr algn="just"/>
            <a:r>
              <a:rPr lang="en-US" dirty="0">
                <a:latin typeface="Times New Roman" panose="02020603050405020304" pitchFamily="18" charset="0"/>
                <a:cs typeface="Times New Roman" panose="02020603050405020304" pitchFamily="18" charset="0"/>
              </a:rPr>
              <a:t>Assure satisfactory functioning and full compliance with customer requirements</a:t>
            </a:r>
          </a:p>
          <a:p>
            <a:pPr algn="just"/>
            <a:r>
              <a:rPr lang="en-US" dirty="0">
                <a:latin typeface="Times New Roman" panose="02020603050405020304" pitchFamily="18" charset="0"/>
                <a:cs typeface="Times New Roman" panose="02020603050405020304" pitchFamily="18" charset="0"/>
              </a:rPr>
              <a:t>Ensure that quality objectives are established for the organization’s SQA system</a:t>
            </a:r>
          </a:p>
          <a:p>
            <a:pPr algn="just"/>
            <a:r>
              <a:rPr lang="en-US" dirty="0">
                <a:latin typeface="Times New Roman" panose="02020603050405020304" pitchFamily="18" charset="0"/>
                <a:cs typeface="Times New Roman" panose="02020603050405020304" pitchFamily="18" charset="0"/>
              </a:rPr>
              <a:t>Initiate planning and oversee implementation of changes necessary to adapt the SQA system to major internal as well as external changes related to the organization’s clientele, competition, and technology</a:t>
            </a:r>
          </a:p>
          <a:p>
            <a:pPr algn="just"/>
            <a:r>
              <a:rPr lang="en-US" dirty="0">
                <a:latin typeface="Times New Roman" panose="02020603050405020304" pitchFamily="18" charset="0"/>
                <a:cs typeface="Times New Roman" panose="02020603050405020304" pitchFamily="18" charset="0"/>
              </a:rPr>
              <a:t>Intervene directly to support resolution of crisis situations and minimize damages</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6" name="Date Placeholder 5">
            <a:extLst>
              <a:ext uri="{FF2B5EF4-FFF2-40B4-BE49-F238E27FC236}">
                <a16:creationId xmlns:a16="http://schemas.microsoft.com/office/drawing/2014/main" id="{45A370F1-58D5-821F-FD2F-6E4C173E1389}"/>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a:bodyPr>
          <a:lstStyle/>
          <a:p>
            <a:r>
              <a:rPr lang="en-US" sz="3600" dirty="0">
                <a:latin typeface="Times New Roman" panose="02020603050405020304" pitchFamily="18" charset="0"/>
                <a:cs typeface="Times New Roman" panose="02020603050405020304" pitchFamily="18" charset="0"/>
              </a:rPr>
              <a:t>Responsibilities of management in Software Quality</a:t>
            </a:r>
          </a:p>
        </p:txBody>
      </p:sp>
      <p:sp>
        <p:nvSpPr>
          <p:cNvPr id="3" name="Content Placeholder 2"/>
          <p:cNvSpPr>
            <a:spLocks noGrp="1"/>
          </p:cNvSpPr>
          <p:nvPr>
            <p:ph idx="1"/>
          </p:nvPr>
        </p:nvSpPr>
        <p:spPr/>
        <p:txBody>
          <a:bodyPr/>
          <a:lstStyle/>
          <a:p>
            <a:pPr marL="0" indent="0" algn="just">
              <a:buNone/>
            </a:pPr>
            <a:r>
              <a:rPr lang="en-US" b="1" u="sng" dirty="0">
                <a:latin typeface="Times New Roman" panose="02020603050405020304" pitchFamily="18" charset="0"/>
                <a:cs typeface="Times New Roman" panose="02020603050405020304" pitchFamily="18" charset="0"/>
              </a:rPr>
              <a:t>Department Management Responsibilities for SQA</a:t>
            </a:r>
          </a:p>
          <a:p>
            <a:pPr algn="just"/>
            <a:r>
              <a:rPr lang="en-US" dirty="0">
                <a:latin typeface="Times New Roman" panose="02020603050405020304" pitchFamily="18" charset="0"/>
                <a:cs typeface="Times New Roman" panose="02020603050405020304" pitchFamily="18" charset="0"/>
              </a:rPr>
              <a:t>Middle management’s quality assurance responsibilities include −</a:t>
            </a:r>
          </a:p>
          <a:p>
            <a:pPr algn="just"/>
            <a:r>
              <a:rPr lang="en-US" dirty="0">
                <a:latin typeface="Times New Roman" panose="02020603050405020304" pitchFamily="18" charset="0"/>
                <a:cs typeface="Times New Roman" panose="02020603050405020304" pitchFamily="18" charset="0"/>
              </a:rPr>
              <a:t>Management of the software quality management system (quality system-related tasks)</a:t>
            </a:r>
          </a:p>
          <a:p>
            <a:pPr algn="just"/>
            <a:r>
              <a:rPr lang="en-US" dirty="0">
                <a:latin typeface="Times New Roman" panose="02020603050405020304" pitchFamily="18" charset="0"/>
                <a:cs typeface="Times New Roman" panose="02020603050405020304" pitchFamily="18" charset="0"/>
              </a:rPr>
              <a:t>Management of tasks related to the projects and services performed by units or teams under the specific manager’s authority (project-related tasks)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6" name="Date Placeholder 5">
            <a:extLst>
              <a:ext uri="{FF2B5EF4-FFF2-40B4-BE49-F238E27FC236}">
                <a16:creationId xmlns:a16="http://schemas.microsoft.com/office/drawing/2014/main" id="{EB05272E-41D9-3DA6-6425-F0094CB40714}"/>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5158"/>
            <a:ext cx="10515600" cy="765530"/>
          </a:xfrm>
        </p:spPr>
        <p:txBody>
          <a:bodyPr>
            <a:normAutofit/>
          </a:bodyPr>
          <a:lstStyle/>
          <a:p>
            <a:r>
              <a:rPr lang="en-US" sz="3600" dirty="0">
                <a:latin typeface="Times New Roman" panose="02020603050405020304" pitchFamily="18" charset="0"/>
                <a:cs typeface="Times New Roman" panose="02020603050405020304" pitchFamily="18" charset="0"/>
              </a:rPr>
              <a:t>Responsibilities of management in Software Quality</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sz="3000" b="1" u="sng" dirty="0">
                <a:latin typeface="Times New Roman" panose="02020603050405020304" pitchFamily="18" charset="0"/>
                <a:cs typeface="Times New Roman" panose="02020603050405020304" pitchFamily="18" charset="0"/>
              </a:rPr>
              <a:t>Project management responsibilities on software quality</a:t>
            </a:r>
          </a:p>
          <a:p>
            <a:pPr algn="just"/>
            <a:r>
              <a:rPr lang="en-US" sz="3000" dirty="0">
                <a:latin typeface="Times New Roman" panose="02020603050405020304" pitchFamily="18" charset="0"/>
                <a:cs typeface="Times New Roman" panose="02020603050405020304" pitchFamily="18" charset="0"/>
              </a:rPr>
              <a:t>Most project management responsibilities are defined in procedures and work instructions; the project manager is the person in-charge of making sure that all the team members comply with the said procedures and instructions.</a:t>
            </a:r>
          </a:p>
          <a:p>
            <a:pPr algn="just"/>
            <a:r>
              <a:rPr lang="en-US" sz="3000" dirty="0">
                <a:latin typeface="Times New Roman" panose="02020603050405020304" pitchFamily="18" charset="0"/>
                <a:cs typeface="Times New Roman" panose="02020603050405020304" pitchFamily="18" charset="0"/>
              </a:rPr>
              <a:t>His tasks include professional hands-on and managerial tasks, particularly the following −</a:t>
            </a:r>
          </a:p>
          <a:p>
            <a:pPr algn="just"/>
            <a:r>
              <a:rPr lang="en-US" sz="3000" b="1" dirty="0">
                <a:latin typeface="Times New Roman" panose="02020603050405020304" pitchFamily="18" charset="0"/>
                <a:cs typeface="Times New Roman" panose="02020603050405020304" pitchFamily="18" charset="0"/>
              </a:rPr>
              <a:t>Professional hands-on tasks</a:t>
            </a:r>
            <a:endParaRPr lang="en-US" sz="3000" dirty="0">
              <a:latin typeface="Times New Roman" panose="02020603050405020304" pitchFamily="18" charset="0"/>
              <a:cs typeface="Times New Roman" panose="02020603050405020304" pitchFamily="18" charset="0"/>
            </a:endParaRPr>
          </a:p>
          <a:p>
            <a:pPr lvl="1" algn="just"/>
            <a:r>
              <a:rPr lang="en-US" sz="3000" dirty="0">
                <a:latin typeface="Times New Roman" panose="02020603050405020304" pitchFamily="18" charset="0"/>
                <a:cs typeface="Times New Roman" panose="02020603050405020304" pitchFamily="18" charset="0"/>
              </a:rPr>
              <a:t>Preparation of project and quality plans and their updates</a:t>
            </a:r>
          </a:p>
          <a:p>
            <a:pPr lvl="1" algn="just"/>
            <a:r>
              <a:rPr lang="en-US" sz="3000" dirty="0">
                <a:latin typeface="Times New Roman" panose="02020603050405020304" pitchFamily="18" charset="0"/>
                <a:cs typeface="Times New Roman" panose="02020603050405020304" pitchFamily="18" charset="0"/>
              </a:rPr>
              <a:t>Participation in joint customer–supplier committee</a:t>
            </a:r>
          </a:p>
          <a:p>
            <a:pPr lvl="1" algn="just"/>
            <a:r>
              <a:rPr lang="en-US" sz="3000" dirty="0">
                <a:latin typeface="Times New Roman" panose="02020603050405020304" pitchFamily="18" charset="0"/>
                <a:cs typeface="Times New Roman" panose="02020603050405020304" pitchFamily="18" charset="0"/>
              </a:rPr>
              <a:t>Close follow-up of project team staffing, including attending to recruitment, training and instruction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6" name="Date Placeholder 5">
            <a:extLst>
              <a:ext uri="{FF2B5EF4-FFF2-40B4-BE49-F238E27FC236}">
                <a16:creationId xmlns:a16="http://schemas.microsoft.com/office/drawing/2014/main" id="{7B2EE0F4-9AD6-DD55-EE4B-FA3A955778D8}"/>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a:bodyPr>
          <a:lstStyle/>
          <a:p>
            <a:r>
              <a:rPr lang="en-US" sz="3600" dirty="0">
                <a:latin typeface="Times New Roman" panose="02020603050405020304" pitchFamily="18" charset="0"/>
                <a:cs typeface="Times New Roman" panose="02020603050405020304" pitchFamily="18" charset="0"/>
              </a:rPr>
              <a:t>Responsibilities of management in Software Quality</a:t>
            </a:r>
          </a:p>
        </p:txBody>
      </p:sp>
      <p:sp>
        <p:nvSpPr>
          <p:cNvPr id="3" name="Content Placeholder 2"/>
          <p:cNvSpPr>
            <a:spLocks noGrp="1"/>
          </p:cNvSpPr>
          <p:nvPr>
            <p:ph idx="1"/>
          </p:nvPr>
        </p:nvSpPr>
        <p:spPr/>
        <p:txBody>
          <a:bodyPr>
            <a:normAutofit fontScale="85000" lnSpcReduction="20000"/>
          </a:bodyPr>
          <a:lstStyle/>
          <a:p>
            <a:pPr algn="just"/>
            <a:r>
              <a:rPr lang="en-US" sz="3000" dirty="0">
                <a:latin typeface="Times New Roman" panose="02020603050405020304" pitchFamily="18" charset="0"/>
                <a:cs typeface="Times New Roman" panose="02020603050405020304" pitchFamily="18" charset="0"/>
              </a:rPr>
              <a:t>Management tasks</a:t>
            </a:r>
          </a:p>
          <a:p>
            <a:pPr algn="just"/>
            <a:r>
              <a:rPr lang="en-US" sz="3000" dirty="0">
                <a:latin typeface="Times New Roman" panose="02020603050405020304" pitchFamily="18" charset="0"/>
                <a:cs typeface="Times New Roman" panose="02020603050405020304" pitchFamily="18" charset="0"/>
              </a:rPr>
              <a:t>Project managers address the follow-up issues such as −</a:t>
            </a:r>
          </a:p>
          <a:p>
            <a:pPr lvl="1" algn="just"/>
            <a:r>
              <a:rPr lang="en-US" sz="3000" dirty="0">
                <a:latin typeface="Times New Roman" panose="02020603050405020304" pitchFamily="18" charset="0"/>
                <a:cs typeface="Times New Roman" panose="02020603050405020304" pitchFamily="18" charset="0"/>
              </a:rPr>
              <a:t>Performance of review activities and the consequent corrections</a:t>
            </a:r>
          </a:p>
          <a:p>
            <a:pPr lvl="1" algn="just"/>
            <a:r>
              <a:rPr lang="en-US" sz="3000" dirty="0">
                <a:latin typeface="Times New Roman" panose="02020603050405020304" pitchFamily="18" charset="0"/>
                <a:cs typeface="Times New Roman" panose="02020603050405020304" pitchFamily="18" charset="0"/>
              </a:rPr>
              <a:t>Software development and maintenance unit’s performance, integration and system test activities as well as corrections and regression tests</a:t>
            </a:r>
          </a:p>
          <a:p>
            <a:pPr lvl="1" algn="just"/>
            <a:r>
              <a:rPr lang="en-US" sz="3000" dirty="0">
                <a:latin typeface="Times New Roman" panose="02020603050405020304" pitchFamily="18" charset="0"/>
                <a:cs typeface="Times New Roman" panose="02020603050405020304" pitchFamily="18" charset="0"/>
              </a:rPr>
              <a:t>Performance of acceptance tests</a:t>
            </a:r>
          </a:p>
          <a:p>
            <a:pPr lvl="1" algn="just"/>
            <a:r>
              <a:rPr lang="en-US" sz="3000" dirty="0">
                <a:latin typeface="Times New Roman" panose="02020603050405020304" pitchFamily="18" charset="0"/>
                <a:cs typeface="Times New Roman" panose="02020603050405020304" pitchFamily="18" charset="0"/>
              </a:rPr>
              <a:t>Software installation in remote customer sites and the execution of the software system by the customer</a:t>
            </a:r>
          </a:p>
          <a:p>
            <a:pPr lvl="1" algn="just"/>
            <a:r>
              <a:rPr lang="en-US" sz="3000" dirty="0">
                <a:latin typeface="Times New Roman" panose="02020603050405020304" pitchFamily="18" charset="0"/>
                <a:cs typeface="Times New Roman" panose="02020603050405020304" pitchFamily="18" charset="0"/>
              </a:rPr>
              <a:t>SQA training and instruction of project team members</a:t>
            </a:r>
          </a:p>
          <a:p>
            <a:pPr lvl="1" algn="just"/>
            <a:r>
              <a:rPr lang="en-US" sz="3000" dirty="0">
                <a:latin typeface="Times New Roman" panose="02020603050405020304" pitchFamily="18" charset="0"/>
                <a:cs typeface="Times New Roman" panose="02020603050405020304" pitchFamily="18" charset="0"/>
              </a:rPr>
              <a:t>Schedules and resources allocated to project activities</a:t>
            </a:r>
          </a:p>
          <a:p>
            <a:pPr lvl="1" algn="just"/>
            <a:r>
              <a:rPr lang="en-US" sz="3000" dirty="0">
                <a:latin typeface="Times New Roman" panose="02020603050405020304" pitchFamily="18" charset="0"/>
                <a:cs typeface="Times New Roman" panose="02020603050405020304" pitchFamily="18" charset="0"/>
              </a:rPr>
              <a:t>Customer requests and satisfaction</a:t>
            </a:r>
          </a:p>
          <a:p>
            <a:pPr lvl="1" algn="just"/>
            <a:r>
              <a:rPr lang="en-US" sz="3000" dirty="0">
                <a:latin typeface="Times New Roman" panose="02020603050405020304" pitchFamily="18" charset="0"/>
                <a:cs typeface="Times New Roman" panose="02020603050405020304" pitchFamily="18" charset="0"/>
              </a:rPr>
              <a:t>Evolving project development risks, application of solutions and control of results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6" name="Date Placeholder 5">
            <a:extLst>
              <a:ext uri="{FF2B5EF4-FFF2-40B4-BE49-F238E27FC236}">
                <a16:creationId xmlns:a16="http://schemas.microsoft.com/office/drawing/2014/main" id="{94D99965-9DB5-436E-4952-CDD521248F39}"/>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https://www.tutorialspoint.com/software_quality_management/software_quality_management_role_of_management_in_qa.htm</a:t>
            </a:r>
            <a:endParaRPr lang="en-US" dirty="0"/>
          </a:p>
          <a:p>
            <a:r>
              <a:rPr lang="en-US" dirty="0">
                <a:hlinkClick r:id="rId3"/>
              </a:rPr>
              <a:t>https://www.tutorialspoint.com/software_quality_management/software_quality_management_factors.htm</a:t>
            </a:r>
            <a:endParaRPr lang="en-US" dirty="0"/>
          </a:p>
          <a:p>
            <a:r>
              <a:rPr lang="en-US" dirty="0">
                <a:hlinkClick r:id="rId3"/>
              </a:rPr>
              <a:t>https://www.tutorialspoint.com/software_quality_management/software_quality_management_factors.htm</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39096"/>
            <a:ext cx="10515600" cy="85159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19</a:t>
            </a:fld>
            <a:endParaRPr lang="en-US"/>
          </a:p>
        </p:txBody>
      </p:sp>
      <p:sp>
        <p:nvSpPr>
          <p:cNvPr id="4" name="Date Placeholder 3">
            <a:extLst>
              <a:ext uri="{FF2B5EF4-FFF2-40B4-BE49-F238E27FC236}">
                <a16:creationId xmlns:a16="http://schemas.microsoft.com/office/drawing/2014/main" id="{18261F72-16F8-3791-E7FD-DA0BE07CBD4E}"/>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20</a:t>
            </a:fld>
            <a:endParaRPr lang="en-US">
              <a:solidFill>
                <a:prstClr val="black">
                  <a:tint val="75000"/>
                </a:prstClr>
              </a:solidFill>
            </a:endParaRPr>
          </a:p>
        </p:txBody>
      </p:sp>
      <p:sp>
        <p:nvSpPr>
          <p:cNvPr id="3" name="Date Placeholder 2">
            <a:extLst>
              <a:ext uri="{FF2B5EF4-FFF2-40B4-BE49-F238E27FC236}">
                <a16:creationId xmlns:a16="http://schemas.microsoft.com/office/drawing/2014/main" id="{5D31DAE6-B45B-78C8-9660-9581C30A1447}"/>
              </a:ext>
            </a:extLst>
          </p:cNvPr>
          <p:cNvSpPr>
            <a:spLocks noGrp="1"/>
          </p:cNvSpPr>
          <p:nvPr>
            <p:ph type="dt" sz="half" idx="10"/>
          </p:nvPr>
        </p:nvSpPr>
        <p:spPr/>
        <p:txBody>
          <a:bodyPr/>
          <a:lstStyle/>
          <a:p>
            <a:r>
              <a:rPr lang="en-IN">
                <a:solidFill>
                  <a:prstClr val="black">
                    <a:tint val="75000"/>
                  </a:prstClr>
                </a:solidFill>
              </a:rPr>
              <a:t>09/12/24</a:t>
            </a:r>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1829</TotalTime>
  <Words>1821</Words>
  <Application>Microsoft Macintosh PowerPoint</Application>
  <PresentationFormat>Widescreen</PresentationFormat>
  <Paragraphs>161</Paragraphs>
  <Slides>20</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0" baseType="lpstr">
      <vt:lpstr>Arial</vt:lpstr>
      <vt:lpstr>Arial Black</vt:lpstr>
      <vt:lpstr>Calibri</vt:lpstr>
      <vt:lpstr>Calibri Light</vt:lpstr>
      <vt:lpstr>Casper</vt:lpstr>
      <vt:lpstr>Raleway ExtraBold</vt:lpstr>
      <vt:lpstr>Times New Roman</vt:lpstr>
      <vt:lpstr>1_Office Theme</vt:lpstr>
      <vt:lpstr>Contents Slide Master</vt:lpstr>
      <vt:lpstr>CorelDRAW</vt:lpstr>
      <vt:lpstr>PowerPoint Presentation</vt:lpstr>
      <vt:lpstr>Chapter-4 Software Project Management</vt:lpstr>
      <vt:lpstr>Software Quality Management</vt:lpstr>
      <vt:lpstr>Software Quality Management</vt:lpstr>
      <vt:lpstr>Software Quality Management</vt:lpstr>
      <vt:lpstr> Software Quality Factors </vt:lpstr>
      <vt:lpstr> McCall’s Factor Model </vt:lpstr>
      <vt:lpstr>McCall’s Factor Model </vt:lpstr>
      <vt:lpstr>McCall’s Factor Model </vt:lpstr>
      <vt:lpstr> McCall’s Factor Model </vt:lpstr>
      <vt:lpstr> McCall’s Factor Model </vt:lpstr>
      <vt:lpstr> McCall’s Factor Model </vt:lpstr>
      <vt:lpstr> McCall’s Factor Model </vt:lpstr>
      <vt:lpstr>Responsibilities of management in Software Quality</vt:lpstr>
      <vt:lpstr>Responsibilities of management in Software Quality</vt:lpstr>
      <vt:lpstr>Responsibilities of management in Software Quality</vt:lpstr>
      <vt:lpstr>Responsibilities of management in Software Quality</vt:lpstr>
      <vt:lpstr>Responsibilities of management in Software Quality</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Office</cp:lastModifiedBy>
  <cp:revision>264</cp:revision>
  <dcterms:created xsi:type="dcterms:W3CDTF">2019-01-09T10:33:58Z</dcterms:created>
  <dcterms:modified xsi:type="dcterms:W3CDTF">2025-03-06T05:41:39Z</dcterms:modified>
</cp:coreProperties>
</file>