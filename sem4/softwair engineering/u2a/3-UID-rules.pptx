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662" r:id="rId3"/>
    <p:sldId id="280" r:id="rId4"/>
    <p:sldId id="294" r:id="rId5"/>
    <p:sldId id="327" r:id="rId6"/>
    <p:sldId id="336" r:id="rId7"/>
    <p:sldId id="663" r:id="rId8"/>
    <p:sldId id="335" r:id="rId9"/>
    <p:sldId id="334" r:id="rId10"/>
    <p:sldId id="333" r:id="rId11"/>
    <p:sldId id="342" r:id="rId12"/>
    <p:sldId id="332" r:id="rId13"/>
    <p:sldId id="331" r:id="rId14"/>
    <p:sldId id="330" r:id="rId15"/>
    <p:sldId id="343" r:id="rId16"/>
    <p:sldId id="329" r:id="rId17"/>
    <p:sldId id="341" r:id="rId18"/>
    <p:sldId id="328" r:id="rId19"/>
    <p:sldId id="339" r:id="rId20"/>
    <p:sldId id="326"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65" d="100"/>
          <a:sy n="65" d="100"/>
        </p:scale>
        <p:origin x="704" y="6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CEF86539-92FD-FA61-8285-63255D2E5B9B}"/>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0D3F932F-4A16-8968-9D8E-DD057CFC829A}"/>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AE7CB5FF-BB6A-CB3C-B7DE-A5FC2CB7F999}"/>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usability.gov/what-and-why/user-interface-design.html" TargetMode="External"/><Relationship Id="rId2" Type="http://schemas.openxmlformats.org/officeDocument/2006/relationships/hyperlink" Target="https://www.tutorialspoint.com/software_engineering/software_user_interface_design.htm" TargetMode="External"/><Relationship Id="rId1" Type="http://schemas.openxmlformats.org/officeDocument/2006/relationships/slideLayout" Target="../slideLayouts/slideLayout2.xml"/><Relationship Id="rId4" Type="http://schemas.openxmlformats.org/officeDocument/2006/relationships/hyperlink" Target="https://www.elegantthemes.com/blog/resources/10-rules-of-good-ui-design-to-follow-on-every-web-design-projec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algn="ctr" eaLnBrk="1" hangingPunct="1"/>
            <a:r>
              <a:rPr lang="en-US" sz="1800" dirty="0">
                <a:latin typeface="Raleway ExtraBold" pitchFamily="34" charset="-52"/>
              </a:rPr>
              <a:t>User Interface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1218"/>
            <a:ext cx="10515600" cy="628669"/>
          </a:xfrm>
        </p:spPr>
        <p:txBody>
          <a:bodyPr>
            <a:noAutofit/>
          </a:bodyPr>
          <a:lstStyle/>
          <a:p>
            <a:pPr algn="ctr"/>
            <a:r>
              <a:rPr lang="en-US" sz="3600" b="1" dirty="0">
                <a:latin typeface="Times New Roman" panose="02020603050405020304" pitchFamily="18" charset="0"/>
                <a:cs typeface="Times New Roman" panose="02020603050405020304" pitchFamily="18" charset="0"/>
              </a:rPr>
              <a:t>User Interface Design</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a:noAutofit/>
          </a:bodyPr>
          <a:lstStyle/>
          <a:p>
            <a:pPr>
              <a:lnSpc>
                <a:spcPct val="150000"/>
              </a:lnSpc>
            </a:pPr>
            <a:r>
              <a:rPr lang="en-US" dirty="0">
                <a:latin typeface="Times New Roman" panose="02020603050405020304" pitchFamily="18" charset="0"/>
                <a:cs typeface="Times New Roman" panose="02020603050405020304" pitchFamily="18" charset="0"/>
              </a:rPr>
              <a:t>User Interface Design Activities</a:t>
            </a:r>
          </a:p>
          <a:p>
            <a:pPr>
              <a:lnSpc>
                <a:spcPct val="150000"/>
              </a:lnSpc>
            </a:pPr>
            <a:r>
              <a:rPr lang="en-US" dirty="0">
                <a:latin typeface="Times New Roman" panose="02020603050405020304" pitchFamily="18" charset="0"/>
                <a:cs typeface="Times New Roman" panose="02020603050405020304" pitchFamily="18" charset="0"/>
              </a:rPr>
              <a:t>GUI Implementation Tools</a:t>
            </a:r>
          </a:p>
          <a:p>
            <a:pPr>
              <a:lnSpc>
                <a:spcPct val="150000"/>
              </a:lnSpc>
            </a:pPr>
            <a:r>
              <a:rPr lang="en-US" dirty="0">
                <a:latin typeface="Times New Roman" panose="02020603050405020304" pitchFamily="18" charset="0"/>
                <a:cs typeface="Times New Roman" panose="02020603050405020304" pitchFamily="18" charset="0"/>
              </a:rPr>
              <a:t>Command line interface (CLI)</a:t>
            </a:r>
            <a:br>
              <a:rPr lang="en-US" sz="3600" dirty="0"/>
            </a:br>
            <a:br>
              <a:rPr lang="en-US" sz="3600" dirty="0"/>
            </a:br>
            <a:br>
              <a:rPr lang="en-US" sz="3600" dirty="0"/>
            </a:br>
            <a:endParaRPr lang="en-US" sz="3600" dirty="0">
              <a:latin typeface="Times New Roman" pitchFamily="18" charset="0"/>
              <a:cs typeface="Times New Roman" pitchFamily="18" charset="0"/>
            </a:endParaRP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1025823"/>
            <a:ext cx="10515600" cy="62867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779276"/>
          </a:xfrm>
        </p:spPr>
        <p:txBody>
          <a:bodyPr>
            <a:noAutofit/>
          </a:bodyPr>
          <a:lstStyle/>
          <a:p>
            <a:pPr algn="ctr"/>
            <a:br>
              <a:rPr lang="en-US" dirty="0"/>
            </a:br>
            <a:r>
              <a:rPr lang="en-US" dirty="0">
                <a:latin typeface="Times New Roman" panose="02020603050405020304" pitchFamily="18" charset="0"/>
                <a:cs typeface="Times New Roman" panose="02020603050405020304" pitchFamily="18" charset="0"/>
              </a:rPr>
              <a:t>User Interface Design Activities</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There are a number of activities performed for designing user interface. The process of GUI design and implementation is alike SDLC. Any model can be used for GUI implementation among Waterfall, Iterative or Spiral Model.</a:t>
            </a: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User Interface Design Activities</a:t>
            </a:r>
            <a:br>
              <a:rPr lang="en-US" dirty="0"/>
            </a:br>
            <a:endParaRPr lang="en-US" dirty="0"/>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A model used for GUI design and development should fulfill these GUI specific steps.</a:t>
            </a:r>
          </a:p>
          <a:p>
            <a:pPr algn="just"/>
            <a:r>
              <a:rPr lang="en-US" b="1" dirty="0">
                <a:latin typeface="Times New Roman" panose="02020603050405020304" pitchFamily="18" charset="0"/>
                <a:cs typeface="Times New Roman" panose="02020603050405020304" pitchFamily="18" charset="0"/>
              </a:rPr>
              <a:t>GUI Requirement Gathering</a:t>
            </a:r>
            <a:r>
              <a:rPr lang="en-US" dirty="0">
                <a:latin typeface="Times New Roman" panose="02020603050405020304" pitchFamily="18" charset="0"/>
                <a:cs typeface="Times New Roman" panose="02020603050405020304" pitchFamily="18" charset="0"/>
              </a:rPr>
              <a:t> - The designers may like to have list of all functional and non-functional requirements of GUI. This can be taken from user and their existing software solution.</a:t>
            </a:r>
          </a:p>
          <a:p>
            <a:pPr algn="just"/>
            <a:r>
              <a:rPr lang="en-US" b="1" dirty="0">
                <a:latin typeface="Times New Roman" panose="02020603050405020304" pitchFamily="18" charset="0"/>
                <a:cs typeface="Times New Roman" panose="02020603050405020304" pitchFamily="18" charset="0"/>
              </a:rPr>
              <a:t>User Analysis</a:t>
            </a:r>
            <a:r>
              <a:rPr lang="en-US" dirty="0">
                <a:latin typeface="Times New Roman" panose="02020603050405020304" pitchFamily="18" charset="0"/>
                <a:cs typeface="Times New Roman" panose="02020603050405020304" pitchFamily="18" charset="0"/>
              </a:rPr>
              <a:t> - The designer studies who is going to use the software GUI. The target audience matters as the design details change according to the knowledge and competency level of the user. If user is technical savvy, advanced and complex GUI can be incorporated. For a novice user, more information is included on how-to of software.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User Interface Design Activities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Task Analysis</a:t>
            </a:r>
            <a:r>
              <a:rPr lang="en-US" dirty="0">
                <a:latin typeface="Times New Roman" panose="02020603050405020304" pitchFamily="18" charset="0"/>
                <a:cs typeface="Times New Roman" panose="02020603050405020304" pitchFamily="18" charset="0"/>
              </a:rPr>
              <a:t> - Designers have to analyze what task is to be done by the software solution. Here in GUI, it does not matter how it will be done. Tasks can be represented in hierarchical manner taking one major task and dividing it further into smaller sub-tasks. Tasks provide goals for GUI presentation. Flow of information among sub-tasks determines the flow of GUI contents in the software.</a:t>
            </a:r>
          </a:p>
          <a:p>
            <a:pPr algn="just"/>
            <a:r>
              <a:rPr lang="en-US" b="1" dirty="0">
                <a:latin typeface="Times New Roman" panose="02020603050405020304" pitchFamily="18" charset="0"/>
                <a:cs typeface="Times New Roman" panose="02020603050405020304" pitchFamily="18" charset="0"/>
              </a:rPr>
              <a:t>GUI Design &amp; implementation</a:t>
            </a:r>
            <a:r>
              <a:rPr lang="en-US" dirty="0">
                <a:latin typeface="Times New Roman" panose="02020603050405020304" pitchFamily="18" charset="0"/>
                <a:cs typeface="Times New Roman" panose="02020603050405020304" pitchFamily="18" charset="0"/>
              </a:rPr>
              <a:t> - Designers after having information about requirements, tasks and user environment, design the GUI and implements into code and embed the GUI with working or dummy software in the background. It is then self-tested by the developers.</a:t>
            </a:r>
          </a:p>
          <a:p>
            <a:pPr algn="just"/>
            <a:r>
              <a:rPr lang="en-US" b="1" dirty="0">
                <a:latin typeface="Times New Roman" panose="02020603050405020304" pitchFamily="18" charset="0"/>
                <a:cs typeface="Times New Roman" panose="02020603050405020304" pitchFamily="18" charset="0"/>
              </a:rPr>
              <a:t>Testing</a:t>
            </a:r>
            <a:r>
              <a:rPr lang="en-US" dirty="0">
                <a:latin typeface="Times New Roman" panose="02020603050405020304" pitchFamily="18" charset="0"/>
                <a:cs typeface="Times New Roman" panose="02020603050405020304" pitchFamily="18" charset="0"/>
              </a:rPr>
              <a:t> - GUI testing can be done in various ways. Organization can have in-house inspection, direct involvement of users and release of beta version are few of them. Testing may include usability, compatibility, user acceptance etc.</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95C6A64-DBC8-5355-8BBE-4C4DD8985261}"/>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35" name="Rectangle 31">
            <a:extLst>
              <a:ext uri="{FF2B5EF4-FFF2-40B4-BE49-F238E27FC236}">
                <a16:creationId xmlns:a16="http://schemas.microsoft.com/office/drawing/2014/main" id="{A38A0068-D56E-042D-D3D2-A5EE3039E8EA}"/>
              </a:ext>
            </a:extLst>
          </p:cNvPr>
          <p:cNvSpPr>
            <a:spLocks noChangeArrowheads="1"/>
          </p:cNvSpPr>
          <p:nvPr/>
        </p:nvSpPr>
        <p:spPr bwMode="auto">
          <a:xfrm>
            <a:off x="78658" y="280219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Requirement Analysis</a:t>
            </a:r>
            <a:r>
              <a:rPr kumimoji="0" lang="en-US" altLang="en-US" sz="1800" b="0" i="0" u="none" strike="noStrike" cap="none" normalizeH="0" baseline="0" dirty="0">
                <a:ln>
                  <a:noFill/>
                </a:ln>
                <a:solidFill>
                  <a:schemeClr val="tx1"/>
                </a:solidFill>
                <a:effectLst/>
                <a:latin typeface="Arial" panose="020B0604020202020204" pitchFamily="34" charset="0"/>
              </a:rPr>
              <a:t> – Identifying user needs, target audience, and system constraints.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&amp; Task Analysis</a:t>
            </a:r>
            <a:r>
              <a:rPr kumimoji="0" lang="en-US" altLang="en-US" sz="1800" b="0" i="0" u="none" strike="noStrike" cap="none" normalizeH="0" baseline="0" dirty="0">
                <a:ln>
                  <a:noFill/>
                </a:ln>
                <a:solidFill>
                  <a:schemeClr val="tx1"/>
                </a:solidFill>
                <a:effectLst/>
                <a:latin typeface="Arial" panose="020B0604020202020204" pitchFamily="34" charset="0"/>
              </a:rPr>
              <a:t> – Understanding user behavior, goals, and common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Conceptual Design</a:t>
            </a:r>
            <a:r>
              <a:rPr kumimoji="0" lang="en-US" altLang="en-US" sz="1800" b="0" i="0" u="none" strike="noStrike" cap="none" normalizeH="0" baseline="0" dirty="0">
                <a:ln>
                  <a:noFill/>
                </a:ln>
                <a:solidFill>
                  <a:schemeClr val="tx1"/>
                </a:solidFill>
                <a:effectLst/>
                <a:latin typeface="Arial" panose="020B0604020202020204" pitchFamily="34" charset="0"/>
              </a:rPr>
              <a:t> – Creating wireframes and prototypes for layout and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 Design &amp; Layout</a:t>
            </a:r>
            <a:r>
              <a:rPr kumimoji="0" lang="en-US" altLang="en-US" sz="1800" b="0" i="0" u="none" strike="noStrike" cap="none" normalizeH="0" baseline="0" dirty="0">
                <a:ln>
                  <a:noFill/>
                </a:ln>
                <a:solidFill>
                  <a:schemeClr val="tx1"/>
                </a:solidFill>
                <a:effectLst/>
                <a:latin typeface="Arial" panose="020B0604020202020204" pitchFamily="34" charset="0"/>
              </a:rPr>
              <a:t> – Designing colors, fonts, icons, and UI aesthetics.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Interaction &amp; Navigation Design</a:t>
            </a:r>
            <a:r>
              <a:rPr kumimoji="0" lang="en-US" altLang="en-US" sz="1800" b="0" i="0" u="none" strike="noStrike" cap="none" normalizeH="0" baseline="0" dirty="0">
                <a:ln>
                  <a:noFill/>
                </a:ln>
                <a:solidFill>
                  <a:schemeClr val="tx1"/>
                </a:solidFill>
                <a:effectLst/>
                <a:latin typeface="Arial" panose="020B0604020202020204" pitchFamily="34" charset="0"/>
              </a:rPr>
              <a:t> – Ensuring smooth user interactions with buttons, menus, and navigation.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Accessibility &amp; Usability Testing</a:t>
            </a:r>
            <a:r>
              <a:rPr kumimoji="0" lang="en-US" altLang="en-US" sz="1800" b="0" i="0" u="none" strike="noStrike" cap="none" normalizeH="0" baseline="0" dirty="0">
                <a:ln>
                  <a:noFill/>
                </a:ln>
                <a:solidFill>
                  <a:schemeClr val="tx1"/>
                </a:solidFill>
                <a:effectLst/>
                <a:latin typeface="Arial" panose="020B0604020202020204" pitchFamily="34" charset="0"/>
              </a:rPr>
              <a:t> – Testing UI for accessibility, usability, and user experience improvements.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Implementation &amp; Development</a:t>
            </a:r>
            <a:r>
              <a:rPr kumimoji="0" lang="en-US" altLang="en-US" sz="1800" b="0" i="0" u="none" strike="noStrike" cap="none" normalizeH="0" baseline="0" dirty="0">
                <a:ln>
                  <a:noFill/>
                </a:ln>
                <a:solidFill>
                  <a:schemeClr val="tx1"/>
                </a:solidFill>
                <a:effectLst/>
                <a:latin typeface="Arial" panose="020B0604020202020204" pitchFamily="34" charset="0"/>
              </a:rPr>
              <a:t> – Converting UI designs into functional code with responsiveness.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Evaluation &amp; Continuous Improvement</a:t>
            </a:r>
            <a:r>
              <a:rPr kumimoji="0" lang="en-US" altLang="en-US" sz="1800" b="0" i="0" u="none" strike="noStrike" cap="none" normalizeH="0" baseline="0" dirty="0">
                <a:ln>
                  <a:noFill/>
                </a:ln>
                <a:solidFill>
                  <a:schemeClr val="tx1"/>
                </a:solidFill>
                <a:effectLst/>
                <a:latin typeface="Arial" panose="020B0604020202020204" pitchFamily="34" charset="0"/>
              </a:rPr>
              <a:t> – Gathering feedback and optimizing UI based on user data.</a:t>
            </a:r>
          </a:p>
        </p:txBody>
      </p:sp>
    </p:spTree>
    <p:extLst>
      <p:ext uri="{BB962C8B-B14F-4D97-AF65-F5344CB8AC3E}">
        <p14:creationId xmlns:p14="http://schemas.microsoft.com/office/powerpoint/2010/main" val="2350500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61442" name="Picture 2" descr="GUI Process"/>
          <p:cNvPicPr>
            <a:picLocks noChangeAspect="1" noChangeArrowheads="1"/>
          </p:cNvPicPr>
          <p:nvPr/>
        </p:nvPicPr>
        <p:blipFill>
          <a:blip r:embed="rId2"/>
          <a:srcRect/>
          <a:stretch>
            <a:fillRect/>
          </a:stretch>
        </p:blipFill>
        <p:spPr bwMode="auto">
          <a:xfrm>
            <a:off x="3089275" y="773112"/>
            <a:ext cx="5515426" cy="5303838"/>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2579"/>
            <a:ext cx="10515600" cy="1228109"/>
          </a:xfrm>
        </p:spPr>
        <p:txBody>
          <a:bodyPr>
            <a:normAutofit fontScale="90000"/>
          </a:bodyPr>
          <a:lstStyle/>
          <a:p>
            <a:pPr algn="ctr"/>
            <a:br>
              <a:rPr lang="en-US" dirty="0"/>
            </a:br>
            <a:r>
              <a:rPr lang="en-US" dirty="0"/>
              <a:t>GUI Implementation Tools</a:t>
            </a:r>
            <a:br>
              <a:rPr lang="en-US" dirty="0"/>
            </a:br>
            <a:endParaRPr lang="en-US" dirty="0"/>
          </a:p>
        </p:txBody>
      </p:sp>
      <p:sp>
        <p:nvSpPr>
          <p:cNvPr id="3" name="Content Placeholder 2"/>
          <p:cNvSpPr>
            <a:spLocks noGrp="1"/>
          </p:cNvSpPr>
          <p:nvPr>
            <p:ph idx="1"/>
          </p:nvPr>
        </p:nvSpPr>
        <p:spPr>
          <a:xfrm>
            <a:off x="838200" y="1549101"/>
            <a:ext cx="10515600" cy="4627862"/>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There are several tools available using which the designers can create entire GUI on a mouse click. Some tools can be embedded into the software environment (IDE).</a:t>
            </a:r>
          </a:p>
          <a:p>
            <a:pPr algn="just"/>
            <a:r>
              <a:rPr lang="en-US" sz="2000" dirty="0">
                <a:latin typeface="Times New Roman" panose="02020603050405020304" pitchFamily="18" charset="0"/>
                <a:cs typeface="Times New Roman" panose="02020603050405020304" pitchFamily="18" charset="0"/>
              </a:rPr>
              <a:t>GUI implementation tools provide powerful array of GUI controls. For software customization, designers can change the code accordingly.</a:t>
            </a:r>
          </a:p>
          <a:p>
            <a:pPr algn="just"/>
            <a:r>
              <a:rPr lang="en-US" sz="2000" dirty="0">
                <a:latin typeface="Times New Roman" panose="02020603050405020304" pitchFamily="18" charset="0"/>
                <a:cs typeface="Times New Roman" panose="02020603050405020304" pitchFamily="18" charset="0"/>
              </a:rPr>
              <a:t>There are different segments of GUI tools according to their different use and platform.</a:t>
            </a:r>
          </a:p>
          <a:p>
            <a:pPr marL="0" indent="0" algn="just">
              <a:buNone/>
            </a:pPr>
            <a:r>
              <a:rPr lang="en-US" sz="2000" dirty="0">
                <a:latin typeface="Times New Roman" panose="02020603050405020304" pitchFamily="18" charset="0"/>
                <a:cs typeface="Times New Roman" panose="02020603050405020304" pitchFamily="18" charset="0"/>
              </a:rPr>
              <a:t>Example</a:t>
            </a:r>
          </a:p>
          <a:p>
            <a:pPr algn="just"/>
            <a:r>
              <a:rPr lang="en-US" sz="2000" dirty="0">
                <a:latin typeface="Times New Roman" panose="02020603050405020304" pitchFamily="18" charset="0"/>
                <a:cs typeface="Times New Roman" panose="02020603050405020304" pitchFamily="18" charset="0"/>
              </a:rPr>
              <a:t>Mobile GUI, Computer GUI, Touch-Screen GUI etc. Here is a list of few tools which come handy to build GUI:</a:t>
            </a:r>
          </a:p>
          <a:p>
            <a:pPr algn="just"/>
            <a:r>
              <a:rPr lang="en-US" sz="2000" dirty="0">
                <a:latin typeface="Times New Roman" panose="02020603050405020304" pitchFamily="18" charset="0"/>
                <a:cs typeface="Times New Roman" panose="02020603050405020304" pitchFamily="18" charset="0"/>
              </a:rPr>
              <a:t>FLUID</a:t>
            </a:r>
          </a:p>
          <a:p>
            <a:pPr algn="just"/>
            <a:r>
              <a:rPr lang="en-US" sz="2000" dirty="0" err="1">
                <a:latin typeface="Times New Roman" panose="02020603050405020304" pitchFamily="18" charset="0"/>
                <a:cs typeface="Times New Roman" panose="02020603050405020304" pitchFamily="18" charset="0"/>
              </a:rPr>
              <a:t>AppInventor</a:t>
            </a:r>
            <a:r>
              <a:rPr lang="en-US" sz="2000" dirty="0">
                <a:latin typeface="Times New Roman" panose="02020603050405020304" pitchFamily="18" charset="0"/>
                <a:cs typeface="Times New Roman" panose="02020603050405020304" pitchFamily="18" charset="0"/>
              </a:rPr>
              <a:t> (Android)</a:t>
            </a:r>
          </a:p>
          <a:p>
            <a:pPr algn="just"/>
            <a:r>
              <a:rPr lang="en-US" sz="2000" dirty="0" err="1">
                <a:latin typeface="Times New Roman" panose="02020603050405020304" pitchFamily="18" charset="0"/>
                <a:cs typeface="Times New Roman" panose="02020603050405020304" pitchFamily="18" charset="0"/>
              </a:rPr>
              <a:t>LucidChart</a:t>
            </a:r>
            <a:endParaRPr lang="en-US" sz="2000" dirty="0">
              <a:latin typeface="Times New Roman" panose="02020603050405020304" pitchFamily="18" charset="0"/>
              <a:cs typeface="Times New Roman" panose="02020603050405020304" pitchFamily="18" charset="0"/>
            </a:endParaRPr>
          </a:p>
          <a:p>
            <a:pPr algn="just"/>
            <a:r>
              <a:rPr lang="en-US" sz="2000" dirty="0" err="1">
                <a:latin typeface="Times New Roman" panose="02020603050405020304" pitchFamily="18" charset="0"/>
                <a:cs typeface="Times New Roman" panose="02020603050405020304" pitchFamily="18" charset="0"/>
              </a:rPr>
              <a:t>Wavemaker</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Visual Studio</a:t>
            </a:r>
          </a:p>
          <a:p>
            <a:pPr algn="just"/>
            <a:endParaRPr lang="en-US" sz="20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User Interface Golden rules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The following rules are mentioned to be the golden rules for GUI design</a:t>
            </a:r>
          </a:p>
          <a:p>
            <a:pPr algn="just"/>
            <a:r>
              <a:rPr lang="en-US" b="1" dirty="0">
                <a:latin typeface="Times New Roman" panose="02020603050405020304" pitchFamily="18" charset="0"/>
                <a:cs typeface="Times New Roman" panose="02020603050405020304" pitchFamily="18" charset="0"/>
              </a:rPr>
              <a:t>Strive for consistency</a:t>
            </a:r>
            <a:r>
              <a:rPr lang="en-US" dirty="0">
                <a:latin typeface="Times New Roman" panose="02020603050405020304" pitchFamily="18" charset="0"/>
                <a:cs typeface="Times New Roman" panose="02020603050405020304" pitchFamily="18" charset="0"/>
              </a:rPr>
              <a:t> - Consistent sequences of actions should be required in similar situations. Identical terminology should be used in prompts, menus, and help screens. Consistent commands should be employed throughout.</a:t>
            </a:r>
          </a:p>
          <a:p>
            <a:pPr algn="just"/>
            <a:r>
              <a:rPr lang="en-US" b="1" dirty="0">
                <a:latin typeface="Times New Roman" panose="02020603050405020304" pitchFamily="18" charset="0"/>
                <a:cs typeface="Times New Roman" panose="02020603050405020304" pitchFamily="18" charset="0"/>
              </a:rPr>
              <a:t>Enable frequent users to use short-cuts</a:t>
            </a:r>
            <a:r>
              <a:rPr lang="en-US" dirty="0">
                <a:latin typeface="Times New Roman" panose="02020603050405020304" pitchFamily="18" charset="0"/>
                <a:cs typeface="Times New Roman" panose="02020603050405020304" pitchFamily="18" charset="0"/>
              </a:rPr>
              <a:t> - The user’s desire to reduce the number of interactions increases with the frequency of use. Abbreviations, function keys, hidden commands, and macro facilities are very helpful to an expert user.</a:t>
            </a:r>
          </a:p>
          <a:p>
            <a:pPr algn="just"/>
            <a:r>
              <a:rPr lang="en-US" b="1" dirty="0">
                <a:latin typeface="Times New Roman" panose="02020603050405020304" pitchFamily="18" charset="0"/>
                <a:cs typeface="Times New Roman" panose="02020603050405020304" pitchFamily="18" charset="0"/>
              </a:rPr>
              <a:t>Offer informative feedback</a:t>
            </a:r>
            <a:r>
              <a:rPr lang="en-US" dirty="0">
                <a:latin typeface="Times New Roman" panose="02020603050405020304" pitchFamily="18" charset="0"/>
                <a:cs typeface="Times New Roman" panose="02020603050405020304" pitchFamily="18" charset="0"/>
              </a:rPr>
              <a:t> - For every operator action, there should be some system feedback. For frequent and minor actions, the response must be modest, while for infrequent and major actions, the response must be more substantial.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pPr algn="ctr"/>
            <a:endParaRPr lang="en-US" dirty="0"/>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Design dialog to yield closure</a:t>
            </a:r>
            <a:r>
              <a:rPr lang="en-US" dirty="0">
                <a:latin typeface="Times New Roman" panose="02020603050405020304" pitchFamily="18" charset="0"/>
                <a:cs typeface="Times New Roman" panose="02020603050405020304" pitchFamily="18" charset="0"/>
              </a:rPr>
              <a:t> - Sequences of actions should be organized into groups with a beginning, middle, and end. The informative feedback at the completion of a group of actions gives the operators the satisfaction of accomplishment, a sense of relief, the signal to drop contingency plans and options from their minds, and this indicates that the way ahead is clear to prepare for the next group of actions.</a:t>
            </a:r>
          </a:p>
          <a:p>
            <a:pPr algn="just"/>
            <a:r>
              <a:rPr lang="en-US" b="1" dirty="0">
                <a:latin typeface="Times New Roman" panose="02020603050405020304" pitchFamily="18" charset="0"/>
                <a:cs typeface="Times New Roman" panose="02020603050405020304" pitchFamily="18" charset="0"/>
              </a:rPr>
              <a:t>Offer simple error handling</a:t>
            </a:r>
            <a:r>
              <a:rPr lang="en-US" dirty="0">
                <a:latin typeface="Times New Roman" panose="02020603050405020304" pitchFamily="18" charset="0"/>
                <a:cs typeface="Times New Roman" panose="02020603050405020304" pitchFamily="18" charset="0"/>
              </a:rPr>
              <a:t> - As much as possible, design the system so the user will not make a serious error. If an error is made, the system should be able to detect it and offer simple, comprehensible mechanisms for handling the error.</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User Interface Golden rules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Permit easy reversal of actions</a:t>
            </a:r>
            <a:r>
              <a:rPr lang="en-US" dirty="0">
                <a:latin typeface="Times New Roman" panose="02020603050405020304" pitchFamily="18" charset="0"/>
                <a:cs typeface="Times New Roman" panose="02020603050405020304" pitchFamily="18" charset="0"/>
              </a:rPr>
              <a:t> - This feature relieves anxiety, since the user knows that errors can be undone. Easy reversal of actions encourages exploration of unfamiliar options. The units of reversibility may be a single action, a data entry, or a complete group of actions.</a:t>
            </a:r>
          </a:p>
          <a:p>
            <a:pPr algn="just"/>
            <a:r>
              <a:rPr lang="en-US" b="1" dirty="0">
                <a:latin typeface="Times New Roman" panose="02020603050405020304" pitchFamily="18" charset="0"/>
                <a:cs typeface="Times New Roman" panose="02020603050405020304" pitchFamily="18" charset="0"/>
              </a:rPr>
              <a:t>Support internal locus of control</a:t>
            </a:r>
            <a:r>
              <a:rPr lang="en-US" dirty="0">
                <a:latin typeface="Times New Roman" panose="02020603050405020304" pitchFamily="18" charset="0"/>
                <a:cs typeface="Times New Roman" panose="02020603050405020304" pitchFamily="18" charset="0"/>
              </a:rPr>
              <a:t> - Experienced operators strongly desire the sense that they are in charge of the system and that the system responds to their actions. Design the system to make users the initiators of actions rather than the responders.</a:t>
            </a:r>
          </a:p>
          <a:p>
            <a:pPr algn="just"/>
            <a:r>
              <a:rPr lang="en-US" b="1" dirty="0">
                <a:latin typeface="Times New Roman" panose="02020603050405020304" pitchFamily="18" charset="0"/>
                <a:cs typeface="Times New Roman" panose="02020603050405020304" pitchFamily="18" charset="0"/>
              </a:rPr>
              <a:t>Reduce short-term memory load</a:t>
            </a:r>
            <a:r>
              <a:rPr lang="en-US" dirty="0">
                <a:latin typeface="Times New Roman" panose="02020603050405020304" pitchFamily="18" charset="0"/>
                <a:cs typeface="Times New Roman" panose="02020603050405020304" pitchFamily="18" charset="0"/>
              </a:rPr>
              <a:t> - The limitation of human information processing in short-term memory requires the displays to be kept simple, multiple page displays be consolidated, window-motion frequency be reduced, and sufficient training time be allotted for codes, mnemonics, and sequences of actions.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461"/>
            <a:ext cx="10515600" cy="690227"/>
          </a:xfrm>
        </p:spPr>
        <p:txBody>
          <a:bodyPr>
            <a:normAutofit fontScale="90000"/>
          </a:bodyPr>
          <a:lstStyle/>
          <a:p>
            <a:pPr algn="ctr"/>
            <a:br>
              <a:rPr lang="en-US" b="1" dirty="0"/>
            </a:br>
            <a:r>
              <a:rPr lang="en-US" b="1" dirty="0">
                <a:latin typeface="Times New Roman" panose="02020603050405020304" pitchFamily="18" charset="0"/>
                <a:cs typeface="Times New Roman" panose="02020603050405020304" pitchFamily="18" charset="0"/>
              </a:rPr>
              <a:t>Command line interface (CLI)</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140771"/>
            <a:ext cx="10515600" cy="4036191"/>
          </a:xfrm>
        </p:spPr>
        <p:txBody>
          <a:bodyPr/>
          <a:lstStyle/>
          <a:p>
            <a:pPr algn="just"/>
            <a:r>
              <a:rPr lang="en-US" dirty="0">
                <a:latin typeface="Times New Roman" panose="02020603050405020304" pitchFamily="18" charset="0"/>
                <a:cs typeface="Times New Roman" panose="02020603050405020304" pitchFamily="18" charset="0"/>
              </a:rPr>
              <a:t>A command line interface (CLI) is a text-based user interface (UI) used to view and manage computer files. </a:t>
            </a:r>
          </a:p>
          <a:p>
            <a:pPr algn="just"/>
            <a:r>
              <a:rPr lang="en-US" dirty="0">
                <a:latin typeface="Times New Roman" panose="02020603050405020304" pitchFamily="18" charset="0"/>
                <a:cs typeface="Times New Roman" panose="02020603050405020304" pitchFamily="18" charset="0"/>
              </a:rPr>
              <a:t>Command line interfaces are also called command-line user interfaces, console user interfaces and character user interfaces.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b="1" dirty="0"/>
            </a:br>
            <a:r>
              <a:rPr lang="en-US" b="1" dirty="0">
                <a:latin typeface="Times New Roman" panose="02020603050405020304" pitchFamily="18" charset="0"/>
                <a:cs typeface="Times New Roman" panose="02020603050405020304" pitchFamily="18" charset="0"/>
              </a:rPr>
              <a:t>Prompts and commands</a:t>
            </a:r>
            <a:br>
              <a:rPr lang="en-US" b="1" dirty="0"/>
            </a:br>
            <a:endParaRPr lang="en-US" dirty="0"/>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There are hundreds of different commands available in a command line. The set of commands may vary dramatically between operating systems or applications.</a:t>
            </a:r>
          </a:p>
          <a:p>
            <a:r>
              <a:rPr lang="en-US" dirty="0">
                <a:latin typeface="Times New Roman" panose="02020603050405020304" pitchFamily="18" charset="0"/>
                <a:cs typeface="Times New Roman" panose="02020603050405020304" pitchFamily="18" charset="0"/>
              </a:rPr>
              <a:t>The following is a list of commands in the Microsoft task configuration and automation framework </a:t>
            </a:r>
            <a:r>
              <a:rPr lang="en-US" dirty="0" err="1">
                <a:latin typeface="Times New Roman" panose="02020603050405020304" pitchFamily="18" charset="0"/>
                <a:cs typeface="Times New Roman" panose="02020603050405020304" pitchFamily="18" charset="0"/>
              </a:rPr>
              <a:t>PowerShell</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Get-Date</a:t>
            </a:r>
            <a:r>
              <a:rPr lang="en-US" dirty="0">
                <a:latin typeface="Times New Roman" panose="02020603050405020304" pitchFamily="18" charset="0"/>
                <a:cs typeface="Times New Roman" panose="02020603050405020304" pitchFamily="18" charset="0"/>
              </a:rPr>
              <a:t>: Retrieves the current time and date.</a:t>
            </a:r>
          </a:p>
          <a:p>
            <a:r>
              <a:rPr lang="en-US" b="1" dirty="0" err="1">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Used to change directories.</a:t>
            </a:r>
          </a:p>
          <a:p>
            <a:r>
              <a:rPr lang="en-US" b="1" dirty="0">
                <a:latin typeface="Times New Roman" panose="02020603050405020304" pitchFamily="18" charset="0"/>
                <a:cs typeface="Times New Roman" panose="02020603050405020304" pitchFamily="18" charset="0"/>
              </a:rPr>
              <a:t>Stop-Process</a:t>
            </a:r>
            <a:r>
              <a:rPr lang="en-US" dirty="0">
                <a:latin typeface="Times New Roman" panose="02020603050405020304" pitchFamily="18" charset="0"/>
                <a:cs typeface="Times New Roman" panose="02020603050405020304" pitchFamily="18" charset="0"/>
              </a:rPr>
              <a:t>: Terminates one or more system processes.</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b="1" dirty="0"/>
            </a:br>
            <a:r>
              <a:rPr lang="en-US" b="1" dirty="0">
                <a:latin typeface="Times New Roman" panose="02020603050405020304" pitchFamily="18" charset="0"/>
                <a:cs typeface="Times New Roman" panose="02020603050405020304" pitchFamily="18" charset="0"/>
              </a:rPr>
              <a:t>Prompts and commands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Although some commands operate alone, others require the use of arguments. The argument follows the command and provides additional details or specifics. </a:t>
            </a:r>
          </a:p>
          <a:p>
            <a:pPr algn="just"/>
            <a:r>
              <a:rPr lang="en-US" dirty="0">
                <a:latin typeface="Times New Roman" panose="02020603050405020304" pitchFamily="18" charset="0"/>
                <a:cs typeface="Times New Roman" panose="02020603050405020304" pitchFamily="18" charset="0"/>
              </a:rPr>
              <a:t>For example, the </a:t>
            </a:r>
            <a:r>
              <a:rPr lang="en-US" dirty="0" err="1">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command tells the OS to change to a different directory, but the command line must include the name of the desired directory path, as well.</a:t>
            </a:r>
          </a:p>
          <a:p>
            <a:pPr algn="just"/>
            <a:r>
              <a:rPr lang="en-US" dirty="0">
                <a:latin typeface="Times New Roman" panose="02020603050405020304" pitchFamily="18" charset="0"/>
                <a:cs typeface="Times New Roman" panose="02020603050405020304" pitchFamily="18" charset="0"/>
              </a:rPr>
              <a:t>For example, a full command with an argument appears as:</a:t>
            </a:r>
          </a:p>
          <a:p>
            <a:pPr algn="just"/>
            <a:r>
              <a:rPr lang="en-US" dirty="0" err="1">
                <a:latin typeface="Times New Roman" panose="02020603050405020304" pitchFamily="18" charset="0"/>
                <a:cs typeface="Times New Roman" panose="02020603050405020304" pitchFamily="18" charset="0"/>
              </a:rPr>
              <a:t>cd</a:t>
            </a:r>
            <a:r>
              <a:rPr lang="en-US" dirty="0">
                <a:latin typeface="Times New Roman" panose="02020603050405020304" pitchFamily="18" charset="0"/>
                <a:cs typeface="Times New Roman" panose="02020603050405020304" pitchFamily="18" charset="0"/>
              </a:rPr>
              <a:t> \documents\user</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b="1" dirty="0"/>
            </a:br>
            <a:r>
              <a:rPr lang="en-US" b="1" dirty="0">
                <a:latin typeface="Times New Roman" panose="02020603050405020304" pitchFamily="18" charset="0"/>
                <a:cs typeface="Times New Roman" panose="02020603050405020304" pitchFamily="18" charset="0"/>
              </a:rPr>
              <a:t>CLI advantages and disadvantages</a:t>
            </a:r>
            <a:br>
              <a:rPr lang="en-US" b="1"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advantages of a command line interface are:</a:t>
            </a:r>
          </a:p>
          <a:p>
            <a:r>
              <a:rPr lang="en-US" dirty="0">
                <a:latin typeface="Times New Roman" panose="02020603050405020304" pitchFamily="18" charset="0"/>
                <a:cs typeface="Times New Roman" panose="02020603050405020304" pitchFamily="18" charset="0"/>
              </a:rPr>
              <a:t>granular control of an OS or application;</a:t>
            </a:r>
          </a:p>
          <a:p>
            <a:r>
              <a:rPr lang="en-US" dirty="0">
                <a:latin typeface="Times New Roman" panose="02020603050405020304" pitchFamily="18" charset="0"/>
                <a:cs typeface="Times New Roman" panose="02020603050405020304" pitchFamily="18" charset="0"/>
              </a:rPr>
              <a:t>faster management of a large number of operating systems;</a:t>
            </a:r>
          </a:p>
          <a:p>
            <a:r>
              <a:rPr lang="en-US" dirty="0">
                <a:latin typeface="Times New Roman" panose="02020603050405020304" pitchFamily="18" charset="0"/>
                <a:cs typeface="Times New Roman" panose="02020603050405020304" pitchFamily="18" charset="0"/>
              </a:rPr>
              <a:t>ability to store scripts to automate regular tasks; and</a:t>
            </a:r>
          </a:p>
          <a:p>
            <a:r>
              <a:rPr lang="en-US" dirty="0">
                <a:latin typeface="Times New Roman" panose="02020603050405020304" pitchFamily="18" charset="0"/>
                <a:cs typeface="Times New Roman" panose="02020603050405020304" pitchFamily="18" charset="0"/>
              </a:rPr>
              <a:t>basic command line interface knowledge to help with troubleshooting, such as network connection issues.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lstStyle/>
          <a:p>
            <a:pPr algn="ctr"/>
            <a:r>
              <a:rPr lang="en-US" dirty="0">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The disadvantages of a command line interface are:</a:t>
            </a:r>
          </a:p>
          <a:p>
            <a:r>
              <a:rPr lang="en-US" dirty="0">
                <a:latin typeface="Times New Roman" panose="02020603050405020304" pitchFamily="18" charset="0"/>
                <a:cs typeface="Times New Roman" panose="02020603050405020304" pitchFamily="18" charset="0"/>
              </a:rPr>
              <a:t>GUI is more user-friendly;</a:t>
            </a:r>
          </a:p>
          <a:p>
            <a:r>
              <a:rPr lang="en-US" dirty="0">
                <a:latin typeface="Times New Roman" panose="02020603050405020304" pitchFamily="18" charset="0"/>
                <a:cs typeface="Times New Roman" panose="02020603050405020304" pitchFamily="18" charset="0"/>
              </a:rPr>
              <a:t>steeper learning curve associated with memorizing commands and complex syntax/arguments; and</a:t>
            </a:r>
          </a:p>
          <a:p>
            <a:r>
              <a:rPr lang="en-US" dirty="0">
                <a:latin typeface="Times New Roman" panose="02020603050405020304" pitchFamily="18" charset="0"/>
                <a:cs typeface="Times New Roman" panose="02020603050405020304" pitchFamily="18" charset="0"/>
              </a:rPr>
              <a:t>different commands used in different shells.</a:t>
            </a:r>
          </a:p>
          <a:p>
            <a:pPr>
              <a:buNone/>
            </a:pP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pPr algn="ctr"/>
            <a:br>
              <a:rPr lang="en-US" b="1" dirty="0"/>
            </a:br>
            <a:r>
              <a:rPr lang="en-US" b="1" dirty="0">
                <a:latin typeface="Times New Roman" panose="02020603050405020304" pitchFamily="18" charset="0"/>
                <a:cs typeface="Times New Roman" panose="02020603050405020304" pitchFamily="18" charset="0"/>
              </a:rPr>
              <a:t>CLI versus GUI</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graphical user interface is the most popular user interface today. A GUI uses windows, menus and icons to execute commands.</a:t>
            </a:r>
          </a:p>
          <a:p>
            <a:pPr algn="just"/>
            <a:r>
              <a:rPr lang="en-US" dirty="0">
                <a:latin typeface="Times New Roman" panose="02020603050405020304" pitchFamily="18" charset="0"/>
                <a:cs typeface="Times New Roman" panose="02020603050405020304" pitchFamily="18" charset="0"/>
              </a:rPr>
              <a:t> A mouse is the most common way to navigate through a GUI, although many GUIs allow navigation and execution via a keyboard.</a:t>
            </a:r>
          </a:p>
          <a:p>
            <a:pPr algn="just"/>
            <a:r>
              <a:rPr lang="en-US" dirty="0">
                <a:latin typeface="Times New Roman" panose="02020603050405020304" pitchFamily="18" charset="0"/>
                <a:cs typeface="Times New Roman" panose="02020603050405020304" pitchFamily="18" charset="0"/>
              </a:rPr>
              <a:t>One example of a GUI-based application is Microsoft Word. </a:t>
            </a:r>
          </a:p>
          <a:p>
            <a:pPr algn="just"/>
            <a:r>
              <a:rPr lang="en-US" dirty="0">
                <a:latin typeface="Times New Roman" panose="02020603050405020304" pitchFamily="18" charset="0"/>
                <a:cs typeface="Times New Roman" panose="02020603050405020304" pitchFamily="18" charset="0"/>
              </a:rPr>
              <a:t>A user can change options for page layouts and styles by selecting the corresponding icon with a mouse or keyboard.</a:t>
            </a:r>
          </a:p>
          <a:p>
            <a:pPr algn="just">
              <a:buNone/>
            </a:pP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fontScale="90000"/>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CLI versus GUI</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Administrators who manage thousands of systems or user configurations will find a GUI far less efficient than a CLI. </a:t>
            </a:r>
          </a:p>
          <a:p>
            <a:pPr algn="just"/>
            <a:r>
              <a:rPr lang="en-US" dirty="0">
                <a:latin typeface="Times New Roman" panose="02020603050405020304" pitchFamily="18" charset="0"/>
                <a:cs typeface="Times New Roman" panose="02020603050405020304" pitchFamily="18" charset="0"/>
              </a:rPr>
              <a:t>But a simple CLI command can easily adjust configurations for a large group of systems at once.</a:t>
            </a:r>
          </a:p>
          <a:p>
            <a:pPr algn="just"/>
            <a:r>
              <a:rPr lang="en-US" dirty="0">
                <a:latin typeface="Times New Roman" panose="02020603050405020304" pitchFamily="18" charset="0"/>
                <a:cs typeface="Times New Roman" panose="02020603050405020304" pitchFamily="18" charset="0"/>
              </a:rPr>
              <a:t>Commands and arguments can also be combined and saved, then executed as a script each time that specific action -- or comprehensive set of actions -- is required.</a:t>
            </a:r>
          </a:p>
          <a:p>
            <a:pPr algn="just"/>
            <a:r>
              <a:rPr lang="en-US" dirty="0">
                <a:latin typeface="Times New Roman" panose="02020603050405020304" pitchFamily="18" charset="0"/>
                <a:cs typeface="Times New Roman" panose="02020603050405020304" pitchFamily="18" charset="0"/>
              </a:rPr>
              <a:t> The CLI is the preferred tool for many enterprise-wide systems management tasks.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https://www.tutorialspoint.com/software_engineering/software_user_interface_design.htm</a:t>
            </a:r>
            <a:endParaRPr lang="en-US" dirty="0"/>
          </a:p>
          <a:p>
            <a:r>
              <a:rPr lang="en-US" dirty="0">
                <a:hlinkClick r:id="rId3"/>
              </a:rPr>
              <a:t>https://www.usability.gov/what-and-why/user-interface-design.html#:~:text=The%20best%20interfaces%20are%20almost,get%20things%20done%20more%20quickly.</a:t>
            </a:r>
            <a:endParaRPr lang="en-US" dirty="0"/>
          </a:p>
          <a:p>
            <a:r>
              <a:rPr lang="en-US" dirty="0">
                <a:hlinkClick r:id="rId4"/>
              </a:rPr>
              <a:t>https://www.elegantthemes.com/blog/resources/10-rules-of-good-ui-design-to-follow-on-every-web-design-project</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14400"/>
            <a:ext cx="10515600" cy="7762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20</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1759</TotalTime>
  <Words>1587</Words>
  <Application>Microsoft Office PowerPoint</Application>
  <PresentationFormat>Widescreen</PresentationFormat>
  <Paragraphs>119</Paragraphs>
  <Slides>20</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0" baseType="lpstr">
      <vt:lpstr>Arial</vt:lpstr>
      <vt:lpstr>Arial Black</vt:lpstr>
      <vt:lpstr>Calibri</vt:lpstr>
      <vt:lpstr>Calibri Light</vt:lpstr>
      <vt:lpstr>Casper</vt:lpstr>
      <vt:lpstr>Raleway ExtraBold</vt:lpstr>
      <vt:lpstr>Times New Roman</vt:lpstr>
      <vt:lpstr>1_Office Theme</vt:lpstr>
      <vt:lpstr>Contents Slide Master</vt:lpstr>
      <vt:lpstr>CorelDRAW</vt:lpstr>
      <vt:lpstr>PowerPoint Presentation</vt:lpstr>
      <vt:lpstr>User Interface Design</vt:lpstr>
      <vt:lpstr> User Interface Design Activities </vt:lpstr>
      <vt:lpstr> User Interface Design Activities </vt:lpstr>
      <vt:lpstr> User Interface Design Activities </vt:lpstr>
      <vt:lpstr>PowerPoint Presentation</vt:lpstr>
      <vt:lpstr>PowerPoint Presentation</vt:lpstr>
      <vt:lpstr> GUI Implementation Tools </vt:lpstr>
      <vt:lpstr> User Interface Golden rules </vt:lpstr>
      <vt:lpstr>PowerPoint Presentation</vt:lpstr>
      <vt:lpstr> User Interface Golden rules </vt:lpstr>
      <vt:lpstr> Command line interface (CLI) </vt:lpstr>
      <vt:lpstr> Prompts and commands </vt:lpstr>
      <vt:lpstr> Prompts and commands </vt:lpstr>
      <vt:lpstr> CLI advantages and disadvantages </vt:lpstr>
      <vt:lpstr>Disadvantages</vt:lpstr>
      <vt:lpstr> CLI versus GUI </vt:lpstr>
      <vt:lpstr> CLI versus GUI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MOHD SHAN</cp:lastModifiedBy>
  <cp:revision>252</cp:revision>
  <dcterms:created xsi:type="dcterms:W3CDTF">2019-01-09T10:33:58Z</dcterms:created>
  <dcterms:modified xsi:type="dcterms:W3CDTF">2025-03-25T00:20:14Z</dcterms:modified>
</cp:coreProperties>
</file>