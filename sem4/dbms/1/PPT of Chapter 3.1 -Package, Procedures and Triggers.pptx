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8288000" cy="10287000"/>
  <p:notesSz cx="6858000" cy="9144000"/>
  <p:embeddedFontLst>
    <p:embeddedFont>
      <p:font typeface="Arimo" panose="020B0604020202020204" charset="0"/>
      <p:bold r:id="rId39"/>
      <p:boldItalic r:id="rId40"/>
    </p:embeddedFont>
    <p:embeddedFont>
      <p:font typeface="Rubik Vinyl" panose="020B0604020202020204" charset="-79"/>
      <p:regular r:id="rId41"/>
    </p:embeddedFont>
    <p:embeddedFont>
      <p:font typeface="Times" panose="02020603050405020304" pitchFamily="18"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Hiapz9lFwUbBAmsF05kKaLTTY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3C474F-6DF8-485E-AA2B-6D693DFE4CF4}">
  <a:tblStyle styleId="{963C474F-6DF8-485E-AA2B-6D693DFE4CF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47" d="100"/>
          <a:sy n="47" d="100"/>
        </p:scale>
        <p:origin x="1066"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9" name="Google Shape;119;p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20" name="Google Shape;120;p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1" name="Google Shape;121;p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23" name="Google Shape;123;p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5" name="Google Shape;30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9" name="Google Shape;32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6" name="Google Shape;33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3" name="Google Shape;38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9" name="Google Shape;399;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7" name="Google Shape;40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30" name="Google Shape;30;p4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31" name="Google Shape;31;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4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4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1" name="Google Shape;41;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4"/>
        <p:cNvGrpSpPr/>
        <p:nvPr/>
      </p:nvGrpSpPr>
      <p:grpSpPr>
        <a:xfrm>
          <a:off x="0" y="0"/>
          <a:ext cx="0" cy="0"/>
          <a:chOff x="0" y="0"/>
          <a:chExt cx="0" cy="0"/>
        </a:xfrm>
      </p:grpSpPr>
      <p:sp>
        <p:nvSpPr>
          <p:cNvPr id="45" name="Google Shape;45;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4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7" name="Google Shape;47;p4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8" name="Google Shape;48;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4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4" name="Google Shape;54;p4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5" name="Google Shape;55;p4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4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7" name="Google Shape;57;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
        <p:cNvGrpSpPr/>
        <p:nvPr/>
      </p:nvGrpSpPr>
      <p:grpSpPr>
        <a:xfrm>
          <a:off x="0" y="0"/>
          <a:ext cx="0" cy="0"/>
          <a:chOff x="0" y="0"/>
          <a:chExt cx="0" cy="0"/>
        </a:xfrm>
      </p:grpSpPr>
      <p:sp>
        <p:nvSpPr>
          <p:cNvPr id="61" name="Google Shape;61;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6"/>
          <p:cNvSpPr>
            <a:spLocks noGrp="1"/>
          </p:cNvSpPr>
          <p:nvPr>
            <p:ph type="pic" idx="2"/>
          </p:nvPr>
        </p:nvSpPr>
        <p:spPr>
          <a:xfrm>
            <a:off x="1792288" y="612775"/>
            <a:ext cx="5486400" cy="4114800"/>
          </a:xfrm>
          <a:prstGeom prst="rect">
            <a:avLst/>
          </a:prstGeom>
          <a:noFill/>
          <a:ln>
            <a:noFill/>
          </a:ln>
        </p:spPr>
      </p:sp>
      <p:sp>
        <p:nvSpPr>
          <p:cNvPr id="68" name="Google Shape;68;p4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7"/>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p:nvPr/>
        </p:nvSpPr>
        <p:spPr>
          <a:xfrm>
            <a:off x="752168" y="7256696"/>
            <a:ext cx="16437078" cy="2277830"/>
          </a:xfrm>
          <a:prstGeom prst="rect">
            <a:avLst/>
          </a:prstGeom>
          <a:solidFill>
            <a:schemeClr val="lt1"/>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89" name="Google Shape;89;p1"/>
          <p:cNvSpPr txBox="1">
            <a:spLocks noGrp="1"/>
          </p:cNvSpPr>
          <p:nvPr>
            <p:ph type="subTitle" idx="1"/>
          </p:nvPr>
        </p:nvSpPr>
        <p:spPr>
          <a:xfrm>
            <a:off x="843993" y="7337206"/>
            <a:ext cx="6235233" cy="18548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888888"/>
              </a:buClr>
              <a:buSzPts val="2700"/>
              <a:buNone/>
            </a:pPr>
            <a:r>
              <a:rPr lang="en-US" sz="2700" b="1">
                <a:latin typeface="Times New Roman"/>
                <a:ea typeface="Times New Roman"/>
                <a:cs typeface="Times New Roman"/>
                <a:sym typeface="Times New Roman"/>
              </a:rPr>
              <a:t>DR. GITANJALI</a:t>
            </a:r>
            <a:endParaRPr/>
          </a:p>
          <a:p>
            <a:pPr marL="0" lvl="0" indent="0" algn="l" rtl="0">
              <a:spcBef>
                <a:spcPts val="420"/>
              </a:spcBef>
              <a:spcAft>
                <a:spcPts val="0"/>
              </a:spcAft>
              <a:buClr>
                <a:srgbClr val="888888"/>
              </a:buClr>
              <a:buSzPts val="2100"/>
              <a:buNone/>
            </a:pPr>
            <a:r>
              <a:rPr lang="en-US" sz="2100" b="1">
                <a:latin typeface="Times New Roman"/>
                <a:ea typeface="Times New Roman"/>
                <a:cs typeface="Times New Roman"/>
                <a:sym typeface="Times New Roman"/>
              </a:rPr>
              <a:t>E16525</a:t>
            </a:r>
            <a:endParaRPr/>
          </a:p>
          <a:p>
            <a:pPr marL="0" lvl="0" indent="0" algn="l" rtl="0">
              <a:spcBef>
                <a:spcPts val="420"/>
              </a:spcBef>
              <a:spcAft>
                <a:spcPts val="0"/>
              </a:spcAft>
              <a:buClr>
                <a:srgbClr val="888888"/>
              </a:buClr>
              <a:buSzPts val="2100"/>
              <a:buNone/>
            </a:pPr>
            <a:r>
              <a:rPr lang="en-US" sz="2100" b="1">
                <a:latin typeface="Times New Roman"/>
                <a:ea typeface="Times New Roman"/>
                <a:cs typeface="Times New Roman"/>
                <a:sym typeface="Times New Roman"/>
              </a:rPr>
              <a:t>ASSISTANT PROFESSOR</a:t>
            </a:r>
            <a:endParaRPr/>
          </a:p>
          <a:p>
            <a:pPr marL="0" lvl="0" indent="0" algn="l" rtl="0">
              <a:spcBef>
                <a:spcPts val="420"/>
              </a:spcBef>
              <a:spcAft>
                <a:spcPts val="0"/>
              </a:spcAft>
              <a:buClr>
                <a:srgbClr val="888888"/>
              </a:buClr>
              <a:buSzPts val="2100"/>
              <a:buNone/>
            </a:pPr>
            <a:r>
              <a:rPr lang="en-US" sz="2100" b="1">
                <a:latin typeface="Times New Roman"/>
                <a:ea typeface="Times New Roman"/>
                <a:cs typeface="Times New Roman"/>
                <a:sym typeface="Times New Roman"/>
              </a:rPr>
              <a:t>CSE </a:t>
            </a:r>
            <a:endParaRPr/>
          </a:p>
        </p:txBody>
      </p:sp>
      <p:sp>
        <p:nvSpPr>
          <p:cNvPr id="90" name="Google Shape;90;p1"/>
          <p:cNvSpPr/>
          <p:nvPr/>
        </p:nvSpPr>
        <p:spPr>
          <a:xfrm flipH="1">
            <a:off x="14016935" y="7352263"/>
            <a:ext cx="3699566" cy="2569364"/>
          </a:xfrm>
          <a:prstGeom prst="rtTriangle">
            <a:avLst/>
          </a:prstGeom>
          <a:solidFill>
            <a:srgbClr val="C00000"/>
          </a:solidFill>
          <a:ln>
            <a:noFill/>
          </a:ln>
        </p:spPr>
        <p:txBody>
          <a:bodyPr spcFirstLastPara="1" wrap="square" lIns="113375" tIns="56650" rIns="113375" bIns="56650" anchor="ctr" anchorCtr="0">
            <a:noAutofit/>
          </a:bodyPr>
          <a:lstStyle/>
          <a:p>
            <a:pPr marL="0" marR="0" lvl="0" indent="0" algn="ctr" rtl="0">
              <a:spcBef>
                <a:spcPts val="0"/>
              </a:spcBef>
              <a:spcAft>
                <a:spcPts val="0"/>
              </a:spcAft>
              <a:buNone/>
            </a:pPr>
            <a:endParaRPr sz="2232" b="0" i="0" u="none" strike="noStrike" cap="none">
              <a:solidFill>
                <a:schemeClr val="lt1"/>
              </a:solidFill>
              <a:latin typeface="Calibri"/>
              <a:ea typeface="Calibri"/>
              <a:cs typeface="Calibri"/>
              <a:sym typeface="Calibri"/>
            </a:endParaRPr>
          </a:p>
        </p:txBody>
      </p:sp>
      <p:sp>
        <p:nvSpPr>
          <p:cNvPr id="91" name="Google Shape;91;p1"/>
          <p:cNvSpPr txBox="1"/>
          <p:nvPr/>
        </p:nvSpPr>
        <p:spPr>
          <a:xfrm>
            <a:off x="10737970" y="8235702"/>
            <a:ext cx="6112670" cy="801564"/>
          </a:xfrm>
          <a:prstGeom prst="rect">
            <a:avLst/>
          </a:prstGeom>
          <a:noFill/>
          <a:ln>
            <a:noFill/>
          </a:ln>
        </p:spPr>
        <p:txBody>
          <a:bodyPr spcFirstLastPara="1" wrap="square" lIns="113375" tIns="56650" rIns="113375" bIns="56650" anchor="t" anchorCtr="0">
            <a:spAutoFit/>
          </a:bodyPr>
          <a:lstStyle/>
          <a:p>
            <a:pPr marL="0" marR="0" lvl="0" indent="0" algn="l" rtl="0">
              <a:spcBef>
                <a:spcPts val="0"/>
              </a:spcBef>
              <a:spcAft>
                <a:spcPts val="0"/>
              </a:spcAft>
              <a:buNone/>
            </a:pPr>
            <a:r>
              <a:rPr lang="en-US" sz="2480" b="1" i="0" u="none" strike="noStrike" cap="none">
                <a:solidFill>
                  <a:srgbClr val="595959"/>
                </a:solidFill>
                <a:latin typeface="Arial"/>
                <a:ea typeface="Arial"/>
                <a:cs typeface="Arial"/>
                <a:sym typeface="Arial"/>
              </a:rPr>
              <a:t>DISCOVER . </a:t>
            </a:r>
            <a:r>
              <a:rPr lang="en-US" sz="2480" b="1" i="0" u="none" strike="noStrike" cap="none">
                <a:solidFill>
                  <a:srgbClr val="C00000"/>
                </a:solidFill>
                <a:latin typeface="Arial"/>
                <a:ea typeface="Arial"/>
                <a:cs typeface="Arial"/>
                <a:sym typeface="Arial"/>
              </a:rPr>
              <a:t>LEARN</a:t>
            </a:r>
            <a:r>
              <a:rPr lang="en-US" sz="2480" b="1" i="0" u="none" strike="noStrike" cap="none">
                <a:solidFill>
                  <a:srgbClr val="595959"/>
                </a:solidFill>
                <a:latin typeface="Arial"/>
                <a:ea typeface="Arial"/>
                <a:cs typeface="Arial"/>
                <a:sym typeface="Arial"/>
              </a:rPr>
              <a:t> . EMPOWER</a:t>
            </a:r>
            <a:endParaRPr sz="1488"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985" b="1" i="0" u="none" strike="noStrike" cap="none">
              <a:solidFill>
                <a:schemeClr val="dk1"/>
              </a:solidFill>
              <a:latin typeface="Arial"/>
              <a:ea typeface="Arial"/>
              <a:cs typeface="Arial"/>
              <a:sym typeface="Arial"/>
            </a:endParaRPr>
          </a:p>
        </p:txBody>
      </p:sp>
      <p:sp>
        <p:nvSpPr>
          <p:cNvPr id="92" name="Google Shape;92;p1"/>
          <p:cNvSpPr/>
          <p:nvPr/>
        </p:nvSpPr>
        <p:spPr>
          <a:xfrm>
            <a:off x="2739298" y="8852980"/>
            <a:ext cx="68579" cy="920822"/>
          </a:xfrm>
          <a:prstGeom prst="rect">
            <a:avLst/>
          </a:prstGeom>
          <a:solidFill>
            <a:srgbClr val="C00000"/>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93" name="Google Shape;93;p1"/>
          <p:cNvSpPr txBox="1"/>
          <p:nvPr/>
        </p:nvSpPr>
        <p:spPr>
          <a:xfrm>
            <a:off x="1561238" y="1339358"/>
            <a:ext cx="14584287" cy="5747667"/>
          </a:xfrm>
          <a:prstGeom prst="rect">
            <a:avLst/>
          </a:prstGeom>
          <a:noFill/>
          <a:ln>
            <a:noFill/>
          </a:ln>
        </p:spPr>
        <p:txBody>
          <a:bodyPr spcFirstLastPara="1" wrap="square" lIns="137125" tIns="68550" rIns="137125" bIns="68550" anchor="t" anchorCtr="0">
            <a:spAutoFit/>
          </a:bodyPr>
          <a:lstStyle/>
          <a:p>
            <a:pPr marL="0" marR="0" lvl="0" indent="0" algn="ctr" rtl="0">
              <a:spcBef>
                <a:spcPts val="0"/>
              </a:spcBef>
              <a:spcAft>
                <a:spcPts val="0"/>
              </a:spcAft>
              <a:buNone/>
            </a:pPr>
            <a:r>
              <a:rPr lang="en-US" sz="6000" b="1" i="0" u="none" strike="noStrike" cap="none">
                <a:solidFill>
                  <a:schemeClr val="dk1"/>
                </a:solidFill>
                <a:latin typeface="Arial"/>
                <a:ea typeface="Arial"/>
                <a:cs typeface="Arial"/>
                <a:sym typeface="Arial"/>
              </a:rPr>
              <a:t>UNIVERSITY INSTITUTE OF ENGINEERING</a:t>
            </a:r>
            <a:endParaRPr/>
          </a:p>
          <a:p>
            <a:pPr marL="0" marR="0" lvl="0" indent="0" algn="ctr" rtl="0">
              <a:spcBef>
                <a:spcPts val="0"/>
              </a:spcBef>
              <a:spcAft>
                <a:spcPts val="0"/>
              </a:spcAft>
              <a:buNone/>
            </a:pPr>
            <a:endParaRPr sz="66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4200" b="1" i="0" u="none" strike="noStrike" cap="none">
                <a:solidFill>
                  <a:schemeClr val="dk1"/>
                </a:solidFill>
                <a:latin typeface="Arial"/>
                <a:ea typeface="Arial"/>
                <a:cs typeface="Arial"/>
                <a:sym typeface="Arial"/>
              </a:rPr>
              <a:t>Department of Computer Science &amp; Engineering</a:t>
            </a:r>
            <a:endParaRPr/>
          </a:p>
          <a:p>
            <a:pPr marL="0" marR="0" lvl="0" indent="0" algn="ctr" rtl="0">
              <a:spcBef>
                <a:spcPts val="0"/>
              </a:spcBef>
              <a:spcAft>
                <a:spcPts val="0"/>
              </a:spcAft>
              <a:buNone/>
            </a:pPr>
            <a:endParaRPr sz="4200" b="1"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4200" b="1" i="0" u="none" strike="noStrike" cap="none">
                <a:solidFill>
                  <a:srgbClr val="000000"/>
                </a:solidFill>
                <a:latin typeface="Arial"/>
                <a:ea typeface="Arial"/>
                <a:cs typeface="Arial"/>
                <a:sym typeface="Arial"/>
              </a:rPr>
              <a:t>Databases Management System</a:t>
            </a:r>
            <a:endParaRPr/>
          </a:p>
          <a:p>
            <a:pPr marL="0" marR="0" lvl="0" indent="0" algn="ctr" rtl="0">
              <a:lnSpc>
                <a:spcPct val="116444"/>
              </a:lnSpc>
              <a:spcBef>
                <a:spcPts val="0"/>
              </a:spcBef>
              <a:spcAft>
                <a:spcPts val="0"/>
              </a:spcAft>
              <a:buNone/>
            </a:pPr>
            <a:r>
              <a:rPr lang="en-US" sz="5400" b="1" i="0" u="none" strike="noStrike" cap="none">
                <a:solidFill>
                  <a:srgbClr val="000000"/>
                </a:solidFill>
                <a:latin typeface="Arial"/>
                <a:ea typeface="Arial"/>
                <a:cs typeface="Arial"/>
                <a:sym typeface="Arial"/>
              </a:rPr>
              <a:t>(23CSH-205/23ITH-205)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3228975" y="7364"/>
            <a:ext cx="11830050" cy="198834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99" name="Google Shape;99;p2"/>
          <p:cNvSpPr txBox="1">
            <a:spLocks noGrp="1"/>
          </p:cNvSpPr>
          <p:nvPr>
            <p:ph type="body" idx="1"/>
          </p:nvPr>
        </p:nvSpPr>
        <p:spPr>
          <a:xfrm>
            <a:off x="1257301" y="2062237"/>
            <a:ext cx="16661990" cy="6683663"/>
          </a:xfrm>
          <a:prstGeom prst="rect">
            <a:avLst/>
          </a:prstGeom>
          <a:noFill/>
          <a:ln>
            <a:noFill/>
          </a:ln>
        </p:spPr>
        <p:txBody>
          <a:bodyPr spcFirstLastPara="1" wrap="square" lIns="102850" tIns="51425" rIns="102850" bIns="51425" anchor="t" anchorCtr="0">
            <a:noAutofit/>
          </a:bodyPr>
          <a:lstStyle/>
          <a:p>
            <a:pPr marL="342900" lvl="0" indent="-342900" algn="just" rtl="0">
              <a:spcBef>
                <a:spcPts val="0"/>
              </a:spcBef>
              <a:spcAft>
                <a:spcPts val="0"/>
              </a:spcAft>
              <a:buClr>
                <a:schemeClr val="dk1"/>
              </a:buClr>
              <a:buSzPts val="3600"/>
              <a:buChar char="•"/>
            </a:pPr>
            <a:r>
              <a:rPr lang="en-US" sz="3600">
                <a:latin typeface="Times New Roman"/>
                <a:ea typeface="Times New Roman"/>
                <a:cs typeface="Times New Roman"/>
                <a:sym typeface="Times New Roman"/>
              </a:rPr>
              <a:t>The main DBMS course, we learn about the </a:t>
            </a:r>
            <a:r>
              <a:rPr lang="en-US" sz="3600">
                <a:solidFill>
                  <a:srgbClr val="632423"/>
                </a:solidFill>
                <a:latin typeface="Times New Roman"/>
                <a:ea typeface="Times New Roman"/>
                <a:cs typeface="Times New Roman"/>
                <a:sym typeface="Times New Roman"/>
              </a:rPr>
              <a:t>structural formation of data</a:t>
            </a:r>
            <a:r>
              <a:rPr lang="en-US" sz="3600">
                <a:latin typeface="Times New Roman"/>
                <a:ea typeface="Times New Roman"/>
                <a:cs typeface="Times New Roman"/>
                <a:sym typeface="Times New Roman"/>
              </a:rPr>
              <a:t>, </a:t>
            </a:r>
            <a:r>
              <a:rPr lang="en-US" sz="3600">
                <a:solidFill>
                  <a:srgbClr val="31859B"/>
                </a:solidFill>
                <a:latin typeface="Times New Roman"/>
                <a:ea typeface="Times New Roman"/>
                <a:cs typeface="Times New Roman"/>
                <a:sym typeface="Times New Roman"/>
              </a:rPr>
              <a:t>maintain data integrity</a:t>
            </a:r>
            <a:r>
              <a:rPr lang="en-US" sz="3600">
                <a:latin typeface="Times New Roman"/>
                <a:ea typeface="Times New Roman"/>
                <a:cs typeface="Times New Roman"/>
                <a:sym typeface="Times New Roman"/>
              </a:rPr>
              <a:t>, </a:t>
            </a:r>
            <a:r>
              <a:rPr lang="en-US" sz="3600">
                <a:solidFill>
                  <a:srgbClr val="974806"/>
                </a:solidFill>
                <a:latin typeface="Times New Roman"/>
                <a:ea typeface="Times New Roman"/>
                <a:cs typeface="Times New Roman"/>
                <a:sym typeface="Times New Roman"/>
              </a:rPr>
              <a:t>multitasking with concurrent access </a:t>
            </a:r>
            <a:r>
              <a:rPr lang="en-US" sz="3600">
                <a:latin typeface="Times New Roman"/>
                <a:ea typeface="Times New Roman"/>
                <a:cs typeface="Times New Roman"/>
                <a:sym typeface="Times New Roman"/>
              </a:rPr>
              <a:t>and </a:t>
            </a:r>
            <a:r>
              <a:rPr lang="en-US" sz="3600">
                <a:solidFill>
                  <a:schemeClr val="dk2"/>
                </a:solidFill>
                <a:latin typeface="Times New Roman"/>
                <a:ea typeface="Times New Roman"/>
                <a:cs typeface="Times New Roman"/>
                <a:sym typeface="Times New Roman"/>
              </a:rPr>
              <a:t>recovery without occurring crashes</a:t>
            </a:r>
            <a:r>
              <a:rPr lang="en-US" sz="3600">
                <a:latin typeface="Times New Roman"/>
                <a:ea typeface="Times New Roman"/>
                <a:cs typeface="Times New Roman"/>
                <a:sym typeface="Times New Roman"/>
              </a:rPr>
              <a:t>, data structures, data models etc. and their working in which every organization is based. </a:t>
            </a:r>
            <a:endParaRPr/>
          </a:p>
          <a:p>
            <a:pPr marL="342900" lvl="0" indent="-342900" algn="just" rtl="0">
              <a:spcBef>
                <a:spcPts val="720"/>
              </a:spcBef>
              <a:spcAft>
                <a:spcPts val="0"/>
              </a:spcAft>
              <a:buClr>
                <a:schemeClr val="dk1"/>
              </a:buClr>
              <a:buSzPts val="3600"/>
              <a:buChar char="•"/>
            </a:pPr>
            <a:r>
              <a:rPr lang="en-US" sz="36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0" lvl="0" indent="0" algn="just" rtl="0">
              <a:spcBef>
                <a:spcPts val="720"/>
              </a:spcBef>
              <a:spcAft>
                <a:spcPts val="0"/>
              </a:spcAft>
              <a:buClr>
                <a:schemeClr val="dk1"/>
              </a:buClr>
              <a:buSzPts val="3600"/>
              <a:buNone/>
            </a:pPr>
            <a:endParaRPr sz="3600" i="1">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aphicFrame>
        <p:nvGraphicFramePr>
          <p:cNvPr id="104" name="Google Shape;104;p3"/>
          <p:cNvGraphicFramePr/>
          <p:nvPr/>
        </p:nvGraphicFramePr>
        <p:xfrm>
          <a:off x="464575" y="2697914"/>
          <a:ext cx="11765525" cy="6580960"/>
        </p:xfrm>
        <a:graphic>
          <a:graphicData uri="http://schemas.openxmlformats.org/drawingml/2006/table">
            <a:tbl>
              <a:tblPr>
                <a:noFill/>
                <a:tableStyleId>{963C474F-6DF8-485E-AA2B-6D693DFE4CF4}</a:tableStyleId>
              </a:tblPr>
              <a:tblGrid>
                <a:gridCol w="1263375">
                  <a:extLst>
                    <a:ext uri="{9D8B030D-6E8A-4147-A177-3AD203B41FA5}">
                      <a16:colId xmlns:a16="http://schemas.microsoft.com/office/drawing/2014/main" val="20000"/>
                    </a:ext>
                  </a:extLst>
                </a:gridCol>
                <a:gridCol w="8110150">
                  <a:extLst>
                    <a:ext uri="{9D8B030D-6E8A-4147-A177-3AD203B41FA5}">
                      <a16:colId xmlns:a16="http://schemas.microsoft.com/office/drawing/2014/main" val="20001"/>
                    </a:ext>
                  </a:extLst>
                </a:gridCol>
                <a:gridCol w="2392000">
                  <a:extLst>
                    <a:ext uri="{9D8B030D-6E8A-4147-A177-3AD203B41FA5}">
                      <a16:colId xmlns:a16="http://schemas.microsoft.com/office/drawing/2014/main" val="20002"/>
                    </a:ext>
                  </a:extLst>
                </a:gridCol>
              </a:tblGrid>
              <a:tr h="764525">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CO No.</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Title</a:t>
                      </a:r>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3000" b="1" i="0" u="none" strike="noStrike" cap="none">
                          <a:solidFill>
                            <a:srgbClr val="000000"/>
                          </a:solidFill>
                          <a:latin typeface="Calibri"/>
                          <a:ea typeface="Calibri"/>
                          <a:cs typeface="Calibri"/>
                          <a:sym typeface="Calibri"/>
                        </a:rPr>
                        <a:t>BT Level</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29050">
                <a:tc>
                  <a:txBody>
                    <a:bodyPr/>
                    <a:lstStyle/>
                    <a:p>
                      <a:pPr marL="0" marR="0" lvl="0" indent="0" algn="ctr" rtl="0">
                        <a:spcBef>
                          <a:spcPts val="0"/>
                        </a:spcBef>
                        <a:spcAft>
                          <a:spcPts val="0"/>
                        </a:spcAft>
                        <a:buNone/>
                      </a:pPr>
                      <a:r>
                        <a:rPr lang="en-US" sz="2400" b="1" i="0" u="none" strike="noStrike" cap="none">
                          <a:solidFill>
                            <a:srgbClr val="00B050"/>
                          </a:solidFill>
                          <a:highlight>
                            <a:srgbClr val="FFFF00"/>
                          </a:highlight>
                          <a:latin typeface="Times New Roman"/>
                          <a:ea typeface="Times New Roman"/>
                          <a:cs typeface="Times New Roman"/>
                          <a:sym typeface="Times New Roman"/>
                        </a:rPr>
                        <a:t>CO1</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None/>
                      </a:pPr>
                      <a:r>
                        <a:rPr lang="en-US" sz="3000" b="1" i="0" u="none" strike="noStrike" cap="none">
                          <a:solidFill>
                            <a:srgbClr val="C00000"/>
                          </a:solidFill>
                          <a:highlight>
                            <a:srgbClr val="FFFF00"/>
                          </a:highlight>
                          <a:latin typeface="Calibri"/>
                          <a:ea typeface="Calibri"/>
                          <a:cs typeface="Calibri"/>
                          <a:sym typeface="Calibri"/>
                        </a:rPr>
                        <a:t>Memorize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111575">
                <a:tc>
                  <a:txBody>
                    <a:bodyPr/>
                    <a:lstStyle/>
                    <a:p>
                      <a:pPr marL="0" marR="0" lvl="0" indent="0" algn="ctr" rtl="0">
                        <a:spcBef>
                          <a:spcPts val="0"/>
                        </a:spcBef>
                        <a:spcAft>
                          <a:spcPts val="0"/>
                        </a:spcAft>
                        <a:buNone/>
                      </a:pPr>
                      <a:r>
                        <a:rPr lang="en-US" sz="2400" b="1" i="0" u="none" strike="noStrike" cap="none">
                          <a:solidFill>
                            <a:srgbClr val="00B050"/>
                          </a:solidFill>
                          <a:highlight>
                            <a:srgbClr val="FFFF00"/>
                          </a:highlight>
                          <a:latin typeface="Times New Roman"/>
                          <a:ea typeface="Times New Roman"/>
                          <a:cs typeface="Times New Roman"/>
                          <a:sym typeface="Times New Roman"/>
                        </a:rPr>
                        <a:t>CO2</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24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6DDE7"/>
                    </a:solidFill>
                  </a:tcPr>
                </a:tc>
                <a:tc>
                  <a:txBody>
                    <a:bodyPr/>
                    <a:lstStyle/>
                    <a:p>
                      <a:pPr marL="0" marR="0" lvl="0" indent="0" algn="ctr" rtl="0">
                        <a:spcBef>
                          <a:spcPts val="0"/>
                        </a:spcBef>
                        <a:spcAft>
                          <a:spcPts val="0"/>
                        </a:spcAft>
                        <a:buNone/>
                      </a:pPr>
                      <a:r>
                        <a:rPr lang="en-US" sz="3000" b="1" i="0" u="none" strike="noStrike" cap="none">
                          <a:solidFill>
                            <a:srgbClr val="C00000"/>
                          </a:solidFill>
                          <a:highlight>
                            <a:srgbClr val="FFFF00"/>
                          </a:highlight>
                          <a:latin typeface="Calibri"/>
                          <a:ea typeface="Calibri"/>
                          <a:cs typeface="Calibri"/>
                          <a:sym typeface="Calibri"/>
                        </a:rPr>
                        <a:t>Understanding</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1299700">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CO3</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BF8E"/>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Apply</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764525">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CO4</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0D9"/>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Analyze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1111575">
                <a:tc>
                  <a:txBody>
                    <a:bodyPr/>
                    <a:lstStyle/>
                    <a:p>
                      <a:pPr marL="0" marR="0" lvl="0" indent="0" algn="ctr" rtl="0">
                        <a:spcBef>
                          <a:spcPts val="0"/>
                        </a:spcBef>
                        <a:spcAft>
                          <a:spcPts val="0"/>
                        </a:spcAft>
                        <a:buNone/>
                      </a:pPr>
                      <a:r>
                        <a:rPr lang="en-US" sz="2400" b="1" i="0" u="none" strike="noStrike" cap="none">
                          <a:solidFill>
                            <a:srgbClr val="00B050"/>
                          </a:solidFill>
                          <a:latin typeface="Times New Roman"/>
                          <a:ea typeface="Times New Roman"/>
                          <a:cs typeface="Times New Roman"/>
                          <a:sym typeface="Times New Roman"/>
                        </a:rPr>
                        <a:t>CO5</a:t>
                      </a:r>
                      <a:endParaRPr/>
                    </a:p>
                  </a:txBody>
                  <a:tcPr marL="14300" marR="14300" marT="14300"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4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2400" b="1" i="0" u="none" strike="noStrike" cap="none">
                        <a:solidFill>
                          <a:srgbClr val="000000"/>
                        </a:solidFill>
                        <a:latin typeface="Times New Roman"/>
                        <a:ea typeface="Times New Roman"/>
                        <a:cs typeface="Times New Roman"/>
                        <a:sym typeface="Times New Roman"/>
                      </a:endParaRPr>
                    </a:p>
                  </a:txBody>
                  <a:tcPr marL="14300" marR="14300" marT="1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3000" b="1" i="0" u="none" strike="noStrike" cap="none">
                          <a:solidFill>
                            <a:srgbClr val="C00000"/>
                          </a:solidFill>
                          <a:latin typeface="Calibri"/>
                          <a:ea typeface="Calibri"/>
                          <a:cs typeface="Calibri"/>
                          <a:sym typeface="Calibri"/>
                        </a:rPr>
                        <a:t>Evaluate</a:t>
                      </a:r>
                      <a:endParaRPr/>
                    </a:p>
                  </a:txBody>
                  <a:tcPr marL="14300" marR="14300" marT="14300"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05" name="Google Shape;105;p3"/>
          <p:cNvSpPr txBox="1">
            <a:spLocks noGrp="1"/>
          </p:cNvSpPr>
          <p:nvPr>
            <p:ph type="title"/>
          </p:nvPr>
        </p:nvSpPr>
        <p:spPr>
          <a:xfrm>
            <a:off x="2579124" y="564285"/>
            <a:ext cx="11830050" cy="978759"/>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rgbClr val="C00000"/>
              </a:buClr>
              <a:buSzPts val="5400"/>
              <a:buFont typeface="Arial Rounded"/>
              <a:buNone/>
            </a:pPr>
            <a:r>
              <a:rPr lang="en-US" sz="5400" b="1">
                <a:solidFill>
                  <a:srgbClr val="C00000"/>
                </a:solidFill>
                <a:latin typeface="Arial Rounded"/>
                <a:ea typeface="Arial Rounded"/>
                <a:cs typeface="Arial Rounded"/>
                <a:sym typeface="Arial Rounded"/>
              </a:rPr>
              <a:t>COURSE OUTCOMES </a:t>
            </a:r>
            <a:endParaRPr sz="5400" b="1">
              <a:solidFill>
                <a:srgbClr val="C00000"/>
              </a:solidFill>
              <a:latin typeface="Arial Rounded"/>
              <a:ea typeface="Arial Rounded"/>
              <a:cs typeface="Arial Rounded"/>
              <a:sym typeface="Arial Rounded"/>
            </a:endParaRPr>
          </a:p>
        </p:txBody>
      </p:sp>
      <p:sp>
        <p:nvSpPr>
          <p:cNvPr id="106" name="Google Shape;106;p3"/>
          <p:cNvSpPr/>
          <p:nvPr/>
        </p:nvSpPr>
        <p:spPr>
          <a:xfrm>
            <a:off x="12557861" y="1742162"/>
            <a:ext cx="5403569" cy="6209852"/>
          </a:xfrm>
          <a:prstGeom prst="rect">
            <a:avLst/>
          </a:prstGeom>
          <a:noFill/>
          <a:ln w="25400" cap="flat" cmpd="sng">
            <a:solidFill>
              <a:srgbClr val="395E89"/>
            </a:solidFill>
            <a:prstDash val="solid"/>
            <a:round/>
            <a:headEnd type="none" w="sm" len="sm"/>
            <a:tailEnd type="none" w="sm" len="sm"/>
          </a:ln>
        </p:spPr>
        <p:txBody>
          <a:bodyPr spcFirstLastPara="1" wrap="square" lIns="137125" tIns="68550" rIns="137125" bIns="68550" anchor="ctr" anchorCtr="0">
            <a:noAutofit/>
          </a:bodyPr>
          <a:lstStyle/>
          <a:p>
            <a:pPr marL="0" marR="0" lvl="0" indent="0" algn="ctr" rtl="0">
              <a:lnSpc>
                <a:spcPct val="100000"/>
              </a:lnSpc>
              <a:spcBef>
                <a:spcPts val="0"/>
              </a:spcBef>
              <a:spcAft>
                <a:spcPts val="0"/>
              </a:spcAft>
              <a:buNone/>
            </a:pPr>
            <a:endParaRPr sz="2700" b="0" i="0" u="none" strike="noStrike" cap="none">
              <a:solidFill>
                <a:schemeClr val="lt1"/>
              </a:solidFill>
              <a:latin typeface="Calibri"/>
              <a:ea typeface="Calibri"/>
              <a:cs typeface="Calibri"/>
              <a:sym typeface="Calibri"/>
            </a:endParaRPr>
          </a:p>
        </p:txBody>
      </p:sp>
      <p:sp>
        <p:nvSpPr>
          <p:cNvPr id="107" name="Google Shape;107;p3"/>
          <p:cNvSpPr/>
          <p:nvPr/>
        </p:nvSpPr>
        <p:spPr>
          <a:xfrm>
            <a:off x="13745003" y="2671381"/>
            <a:ext cx="3367341" cy="1602311"/>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137125" tIns="68550" rIns="137125" bIns="68550" anchor="ctr" anchorCtr="0">
            <a:noAutofit/>
          </a:bodyPr>
          <a:lstStyle/>
          <a:p>
            <a:pPr marL="0" marR="0" lvl="0" indent="0" algn="ctr" rtl="0">
              <a:lnSpc>
                <a:spcPct val="100000"/>
              </a:lnSpc>
              <a:spcBef>
                <a:spcPts val="0"/>
              </a:spcBef>
              <a:spcAft>
                <a:spcPts val="0"/>
              </a:spcAft>
              <a:buNone/>
            </a:pPr>
            <a:r>
              <a:rPr lang="en-US" sz="2700" b="0" i="0" u="none" strike="noStrike" cap="none">
                <a:solidFill>
                  <a:schemeClr val="dk1"/>
                </a:solidFill>
                <a:latin typeface="Calibri"/>
                <a:ea typeface="Calibri"/>
                <a:cs typeface="Calibri"/>
                <a:sym typeface="Calibri"/>
              </a:rPr>
              <a:t>Will be covered in this lecture</a:t>
            </a:r>
            <a:endParaRPr sz="2100" b="0" i="0" u="none" strike="noStrike" cap="none">
              <a:solidFill>
                <a:srgbClr val="000000"/>
              </a:solidFill>
              <a:latin typeface="Arial"/>
              <a:ea typeface="Arial"/>
              <a:cs typeface="Arial"/>
              <a:sym typeface="Arial"/>
            </a:endParaRPr>
          </a:p>
        </p:txBody>
      </p:sp>
      <p:cxnSp>
        <p:nvCxnSpPr>
          <p:cNvPr id="108" name="Google Shape;108;p3"/>
          <p:cNvCxnSpPr/>
          <p:nvPr/>
        </p:nvCxnSpPr>
        <p:spPr>
          <a:xfrm rot="10800000" flipH="1">
            <a:off x="11887201" y="3188530"/>
            <a:ext cx="1857803" cy="897314"/>
          </a:xfrm>
          <a:prstGeom prst="straightConnector1">
            <a:avLst/>
          </a:prstGeom>
          <a:noFill/>
          <a:ln w="9525" cap="flat" cmpd="sng">
            <a:solidFill>
              <a:srgbClr val="4A7DBA"/>
            </a:solidFill>
            <a:prstDash val="solid"/>
            <a:round/>
            <a:headEnd type="none" w="sm" len="sm"/>
            <a:tailEnd type="triangle" w="med" len="med"/>
          </a:ln>
        </p:spPr>
      </p:cxnSp>
      <p:cxnSp>
        <p:nvCxnSpPr>
          <p:cNvPr id="109" name="Google Shape;109;p3"/>
          <p:cNvCxnSpPr/>
          <p:nvPr/>
        </p:nvCxnSpPr>
        <p:spPr>
          <a:xfrm rot="10800000" flipH="1">
            <a:off x="12116757" y="4284962"/>
            <a:ext cx="2487162" cy="1301679"/>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4"/>
          <p:cNvSpPr/>
          <p:nvPr/>
        </p:nvSpPr>
        <p:spPr>
          <a:xfrm>
            <a:off x="572870" y="2887520"/>
            <a:ext cx="17324297" cy="4978735"/>
          </a:xfrm>
          <a:prstGeom prst="rect">
            <a:avLst/>
          </a:prstGeom>
          <a:noFill/>
          <a:ln>
            <a:noFill/>
          </a:ln>
        </p:spPr>
        <p:txBody>
          <a:bodyPr spcFirstLastPara="1" wrap="square" lIns="91425" tIns="45700" rIns="91425" bIns="45700" anchor="t" anchorCtr="0">
            <a:spAutoFit/>
          </a:bodyPr>
          <a:lstStyle/>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have good </a:t>
            </a:r>
            <a:r>
              <a:rPr lang="en-US" sz="3600" b="1" i="0" u="none" strike="noStrike" cap="none">
                <a:solidFill>
                  <a:schemeClr val="dk1"/>
                </a:solidFill>
                <a:latin typeface="Times New Roman"/>
                <a:ea typeface="Times New Roman"/>
                <a:cs typeface="Times New Roman"/>
                <a:sym typeface="Times New Roman"/>
              </a:rPr>
              <a:t>understanding of database system </a:t>
            </a:r>
            <a:r>
              <a:rPr lang="en-US" sz="3600" b="0" i="0" u="none" strike="noStrike" cap="none">
                <a:solidFill>
                  <a:schemeClr val="dk1"/>
                </a:solidFill>
                <a:latin typeface="Times New Roman"/>
                <a:ea typeface="Times New Roman"/>
                <a:cs typeface="Times New Roman"/>
                <a:sym typeface="Times New Roman"/>
              </a:rPr>
              <a:t>concepts and </a:t>
            </a:r>
            <a:r>
              <a:rPr lang="en-US" sz="3600" b="1" i="0" u="none" strike="noStrike" cap="none">
                <a:solidFill>
                  <a:schemeClr val="dk1"/>
                </a:solidFill>
                <a:latin typeface="Times New Roman"/>
                <a:ea typeface="Times New Roman"/>
                <a:cs typeface="Times New Roman"/>
                <a:sym typeface="Times New Roman"/>
              </a:rPr>
              <a:t>design databases </a:t>
            </a:r>
            <a:r>
              <a:rPr lang="en-US" sz="3600" b="0" i="0" u="none" strike="noStrike" cap="none">
                <a:solidFill>
                  <a:schemeClr val="dk1"/>
                </a:solidFill>
                <a:latin typeface="Times New Roman"/>
                <a:ea typeface="Times New Roman"/>
                <a:cs typeface="Times New Roman"/>
                <a:sym typeface="Times New Roman"/>
              </a:rPr>
              <a:t>for different applications.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learn how to use a </a:t>
            </a:r>
            <a:r>
              <a:rPr lang="en-US" sz="3600" b="1" i="0" u="none" strike="noStrike" cap="none">
                <a:solidFill>
                  <a:schemeClr val="dk1"/>
                </a:solidFill>
                <a:latin typeface="Times New Roman"/>
                <a:ea typeface="Times New Roman"/>
                <a:cs typeface="Times New Roman"/>
                <a:sym typeface="Times New Roman"/>
              </a:rPr>
              <a:t>DBMS and RDBMS.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implement and understand different types of </a:t>
            </a:r>
            <a:r>
              <a:rPr lang="en-US" sz="3600" b="1" i="0" u="none" strike="noStrike" cap="none">
                <a:solidFill>
                  <a:schemeClr val="dk1"/>
                </a:solidFill>
                <a:latin typeface="Times New Roman"/>
                <a:ea typeface="Times New Roman"/>
                <a:cs typeface="Times New Roman"/>
                <a:sym typeface="Times New Roman"/>
              </a:rPr>
              <a:t>DDL, DML and DCL </a:t>
            </a:r>
            <a:r>
              <a:rPr lang="en-US" sz="3600" b="0" i="0" u="none" strike="noStrike" cap="none">
                <a:solidFill>
                  <a:schemeClr val="dk1"/>
                </a:solidFill>
                <a:latin typeface="Times New Roman"/>
                <a:ea typeface="Times New Roman"/>
                <a:cs typeface="Times New Roman"/>
                <a:sym typeface="Times New Roman"/>
              </a:rPr>
              <a:t>statements.</a:t>
            </a:r>
            <a:endParaRPr/>
          </a:p>
          <a:p>
            <a:pPr marL="514350" marR="0" lvl="0" indent="-514350" algn="l" rtl="0">
              <a:lnSpc>
                <a:spcPct val="150000"/>
              </a:lnSpc>
              <a:spcBef>
                <a:spcPts val="0"/>
              </a:spcBef>
              <a:spcAft>
                <a:spcPts val="0"/>
              </a:spcAft>
              <a:buClr>
                <a:schemeClr val="dk1"/>
              </a:buClr>
              <a:buSzPts val="3600"/>
              <a:buFont typeface="Calibri"/>
              <a:buAutoNum type="arabicPeriod"/>
            </a:pPr>
            <a:r>
              <a:rPr lang="en-US" sz="3600" b="0" i="0" u="none" strike="noStrike" cap="none">
                <a:solidFill>
                  <a:schemeClr val="dk1"/>
                </a:solidFill>
                <a:latin typeface="Times New Roman"/>
                <a:ea typeface="Times New Roman"/>
                <a:cs typeface="Times New Roman"/>
                <a:sym typeface="Times New Roman"/>
              </a:rPr>
              <a:t>To understand </a:t>
            </a:r>
            <a:r>
              <a:rPr lang="en-US" sz="3600" b="1" i="0" u="none" strike="noStrike" cap="none">
                <a:solidFill>
                  <a:schemeClr val="dk1"/>
                </a:solidFill>
                <a:latin typeface="Times New Roman"/>
                <a:ea typeface="Times New Roman"/>
                <a:cs typeface="Times New Roman"/>
                <a:sym typeface="Times New Roman"/>
              </a:rPr>
              <a:t>transaction concepts </a:t>
            </a:r>
            <a:r>
              <a:rPr lang="en-US" sz="3600" b="0" i="0" u="none" strike="noStrike" cap="none">
                <a:solidFill>
                  <a:schemeClr val="dk1"/>
                </a:solidFill>
                <a:latin typeface="Times New Roman"/>
                <a:ea typeface="Times New Roman"/>
                <a:cs typeface="Times New Roman"/>
                <a:sym typeface="Times New Roman"/>
              </a:rPr>
              <a:t>related to databases and </a:t>
            </a:r>
            <a:r>
              <a:rPr lang="en-US" sz="3600" b="1" i="0" u="none" strike="noStrike" cap="none">
                <a:solidFill>
                  <a:schemeClr val="dk1"/>
                </a:solidFill>
                <a:latin typeface="Times New Roman"/>
                <a:ea typeface="Times New Roman"/>
                <a:cs typeface="Times New Roman"/>
                <a:sym typeface="Times New Roman"/>
              </a:rPr>
              <a:t>recovery/backup techniques </a:t>
            </a:r>
            <a:r>
              <a:rPr lang="en-US" sz="36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115" name="Google Shape;115;p4"/>
          <p:cNvSpPr/>
          <p:nvPr/>
        </p:nvSpPr>
        <p:spPr>
          <a:xfrm>
            <a:off x="1883657" y="2077157"/>
            <a:ext cx="1103224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116" name="Google Shape;116;p4"/>
          <p:cNvSpPr txBox="1">
            <a:spLocks noGrp="1"/>
          </p:cNvSpPr>
          <p:nvPr>
            <p:ph type="title"/>
          </p:nvPr>
        </p:nvSpPr>
        <p:spPr>
          <a:xfrm>
            <a:off x="3614472" y="659973"/>
            <a:ext cx="11830050" cy="854080"/>
          </a:xfrm>
          <a:prstGeom prst="rect">
            <a:avLst/>
          </a:prstGeom>
          <a:noFill/>
          <a:ln>
            <a:noFill/>
          </a:ln>
        </p:spPr>
        <p:txBody>
          <a:bodyPr spcFirstLastPara="1" wrap="square" lIns="91425" tIns="45700" rIns="91425" bIns="45700" anchor="ctr" anchorCtr="0">
            <a:spAutoFit/>
          </a:bodyPr>
          <a:lstStyle/>
          <a:p>
            <a:pPr marL="0" lvl="0" indent="0" algn="ctr" rtl="0">
              <a:spcBef>
                <a:spcPts val="0"/>
              </a:spcBef>
              <a:spcAft>
                <a:spcPts val="0"/>
              </a:spcAft>
              <a:buClr>
                <a:srgbClr val="C00000"/>
              </a:buClr>
              <a:buSzPts val="4950"/>
              <a:buFont typeface="Arial Rounded"/>
              <a:buNone/>
            </a:pPr>
            <a:r>
              <a:rPr lang="en-US" sz="4950" b="1">
                <a:solidFill>
                  <a:srgbClr val="C00000"/>
                </a:solidFill>
                <a:latin typeface="Arial Rounded"/>
                <a:ea typeface="Arial Rounded"/>
                <a:cs typeface="Arial Rounded"/>
                <a:sym typeface="Arial Rounded"/>
              </a:rPr>
              <a:t>COURSE OBJECTIVES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5"/>
          <p:cNvSpPr txBox="1"/>
          <p:nvPr/>
        </p:nvSpPr>
        <p:spPr>
          <a:xfrm>
            <a:off x="3228975" y="988517"/>
            <a:ext cx="11830050" cy="1513235"/>
          </a:xfrm>
          <a:prstGeom prst="rect">
            <a:avLst/>
          </a:prstGeom>
          <a:noFill/>
          <a:ln>
            <a:noFill/>
          </a:ln>
        </p:spPr>
        <p:txBody>
          <a:bodyPr spcFirstLastPara="1" wrap="square" lIns="0" tIns="0" rIns="0" bIns="0" anchor="t" anchorCtr="0">
            <a:spAutoFit/>
          </a:bodyPr>
          <a:lstStyle/>
          <a:p>
            <a:pPr marL="0" marR="0" lvl="0" indent="0" algn="ctr" rtl="0">
              <a:lnSpc>
                <a:spcPct val="120012"/>
              </a:lnSpc>
              <a:spcBef>
                <a:spcPts val="0"/>
              </a:spcBef>
              <a:spcAft>
                <a:spcPts val="0"/>
              </a:spcAft>
              <a:buNone/>
            </a:pPr>
            <a:r>
              <a:rPr lang="en-US" sz="4922" b="1">
                <a:solidFill>
                  <a:srgbClr val="C00000"/>
                </a:solidFill>
                <a:latin typeface="Arimo"/>
                <a:ea typeface="Arimo"/>
                <a:cs typeface="Arimo"/>
                <a:sym typeface="Arimo"/>
              </a:rPr>
              <a:t>Topics covered</a:t>
            </a:r>
            <a:endParaRPr/>
          </a:p>
          <a:p>
            <a:pPr marL="0" marR="0" lvl="0" indent="0" algn="ctr" rtl="0">
              <a:lnSpc>
                <a:spcPct val="120012"/>
              </a:lnSpc>
              <a:spcBef>
                <a:spcPts val="0"/>
              </a:spcBef>
              <a:spcAft>
                <a:spcPts val="0"/>
              </a:spcAft>
              <a:buNone/>
            </a:pPr>
            <a:r>
              <a:rPr lang="en-US" sz="4922" b="1">
                <a:solidFill>
                  <a:srgbClr val="C00000"/>
                </a:solidFill>
                <a:latin typeface="Arimo"/>
                <a:ea typeface="Arimo"/>
                <a:cs typeface="Arimo"/>
                <a:sym typeface="Arimo"/>
              </a:rPr>
              <a:t> </a:t>
            </a:r>
            <a:endParaRPr/>
          </a:p>
        </p:txBody>
      </p:sp>
      <p:sp>
        <p:nvSpPr>
          <p:cNvPr id="126" name="Google Shape;126;p5"/>
          <p:cNvSpPr txBox="1"/>
          <p:nvPr/>
        </p:nvSpPr>
        <p:spPr>
          <a:xfrm>
            <a:off x="1600200" y="2884893"/>
            <a:ext cx="9629283" cy="500137"/>
          </a:xfrm>
          <a:prstGeom prst="rect">
            <a:avLst/>
          </a:prstGeom>
          <a:noFill/>
          <a:ln>
            <a:noFill/>
          </a:ln>
        </p:spPr>
        <p:txBody>
          <a:bodyPr spcFirstLastPara="1" wrap="square" lIns="0" tIns="0" rIns="0" bIns="0" anchor="t" anchorCtr="0">
            <a:spAutoFit/>
          </a:bodyPr>
          <a:lstStyle/>
          <a:p>
            <a:pPr marL="0" marR="0" lvl="0" indent="0" algn="ctr" rtl="0">
              <a:lnSpc>
                <a:spcPct val="107833"/>
              </a:lnSpc>
              <a:spcBef>
                <a:spcPts val="0"/>
              </a:spcBef>
              <a:spcAft>
                <a:spcPts val="0"/>
              </a:spcAft>
              <a:buNone/>
            </a:pPr>
            <a:r>
              <a:rPr lang="en-US" sz="3600" b="1">
                <a:solidFill>
                  <a:schemeClr val="dk1"/>
                </a:solidFill>
                <a:latin typeface="Times New Roman"/>
                <a:ea typeface="Times New Roman"/>
                <a:cs typeface="Times New Roman"/>
                <a:sym typeface="Times New Roman"/>
              </a:rPr>
              <a:t>Package, Procedures and Triggers</a:t>
            </a:r>
            <a:endParaRPr sz="3600" b="1">
              <a:solidFill>
                <a:schemeClr val="dk1"/>
              </a:solidFill>
              <a:latin typeface="Times New Roman"/>
              <a:ea typeface="Times New Roman"/>
              <a:cs typeface="Times New Roman"/>
              <a:sym typeface="Times New Roman"/>
            </a:endParaRPr>
          </a:p>
        </p:txBody>
      </p:sp>
      <p:sp>
        <p:nvSpPr>
          <p:cNvPr id="127" name="Google Shape;127;p5"/>
          <p:cNvSpPr txBox="1"/>
          <p:nvPr/>
        </p:nvSpPr>
        <p:spPr>
          <a:xfrm>
            <a:off x="3090674" y="3768171"/>
            <a:ext cx="12596510" cy="1308050"/>
          </a:xfrm>
          <a:prstGeom prst="rect">
            <a:avLst/>
          </a:prstGeom>
          <a:noFill/>
          <a:ln>
            <a:noFill/>
          </a:ln>
        </p:spPr>
        <p:txBody>
          <a:bodyPr spcFirstLastPara="1" wrap="square" lIns="0" tIns="0" rIns="0" bIns="0" anchor="t" anchorCtr="0">
            <a:spAutoFit/>
          </a:bodyPr>
          <a:lstStyle/>
          <a:p>
            <a:pPr marL="0" marR="53975" lvl="0" indent="0" algn="just" rtl="0">
              <a:lnSpc>
                <a:spcPct val="112500"/>
              </a:lnSpc>
              <a:spcBef>
                <a:spcPts val="0"/>
              </a:spcBef>
              <a:spcAft>
                <a:spcPts val="0"/>
              </a:spcAft>
              <a:buNone/>
            </a:pPr>
            <a:r>
              <a:rPr lang="en-US" sz="3000">
                <a:solidFill>
                  <a:schemeClr val="dk1"/>
                </a:solidFill>
                <a:latin typeface="Calibri"/>
                <a:ea typeface="Calibri"/>
                <a:cs typeface="Calibri"/>
                <a:sym typeface="Calibri"/>
              </a:rPr>
              <a:t>Parts of procedures, Parameter modes, Advantages of procedures, Syntax for creating triggers, Types of triggers, package specification and package body, developing a package, Bodiless package, Advantages of packages.</a:t>
            </a:r>
            <a:endParaRPr sz="3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33" name="Google Shape;133;p6"/>
          <p:cNvSpPr txBox="1"/>
          <p:nvPr/>
        </p:nvSpPr>
        <p:spPr>
          <a:xfrm>
            <a:off x="1279120" y="771975"/>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sp>
        <p:nvSpPr>
          <p:cNvPr id="134" name="Google Shape;134;p6"/>
          <p:cNvSpPr txBox="1"/>
          <p:nvPr/>
        </p:nvSpPr>
        <p:spPr>
          <a:xfrm>
            <a:off x="1828800" y="1982992"/>
            <a:ext cx="15110460" cy="4136517"/>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200" dirty="0">
                <a:solidFill>
                  <a:srgbClr val="000000"/>
                </a:solidFill>
                <a:latin typeface="Arial"/>
                <a:ea typeface="Arial"/>
                <a:cs typeface="Arial"/>
                <a:sym typeface="Arial"/>
              </a:rPr>
              <a:t>PL/SQL packages are a way to organize and encapsulate related procedures, functions, variables, triggers, and other PL/SQL items into a single item. Packages provide a modular approach to write and maintain the code. It makes it easy to manage large codes.</a:t>
            </a:r>
            <a:endParaRPr sz="1200" dirty="0"/>
          </a:p>
          <a:p>
            <a:pPr marL="0" marR="0" lvl="0" indent="0" algn="just" rtl="0">
              <a:lnSpc>
                <a:spcPct val="120027"/>
              </a:lnSpc>
              <a:spcBef>
                <a:spcPts val="0"/>
              </a:spcBef>
              <a:spcAft>
                <a:spcPts val="0"/>
              </a:spcAft>
              <a:buNone/>
            </a:pPr>
            <a:r>
              <a:rPr lang="en-US" sz="3200" dirty="0">
                <a:solidFill>
                  <a:srgbClr val="000000"/>
                </a:solidFill>
                <a:latin typeface="Arial"/>
                <a:ea typeface="Arial"/>
                <a:cs typeface="Arial"/>
                <a:sym typeface="Arial"/>
              </a:rPr>
              <a:t>A package is compiled and then stored in the database, which then can be shared with many applications. The package also has specifications, which declare an item to be public or private. Public items can be referenced from outside of the package.</a:t>
            </a:r>
            <a:endParaRPr sz="1200" dirty="0"/>
          </a:p>
        </p:txBody>
      </p:sp>
      <p:grpSp>
        <p:nvGrpSpPr>
          <p:cNvPr id="135" name="Google Shape;135;p6"/>
          <p:cNvGrpSpPr/>
          <p:nvPr/>
        </p:nvGrpSpPr>
        <p:grpSpPr>
          <a:xfrm>
            <a:off x="10578596" y="6813549"/>
            <a:ext cx="7152399" cy="2070119"/>
            <a:chOff x="0" y="-19050"/>
            <a:chExt cx="1883759" cy="545216"/>
          </a:xfrm>
        </p:grpSpPr>
        <p:sp>
          <p:nvSpPr>
            <p:cNvPr id="136" name="Google Shape;136;p6"/>
            <p:cNvSpPr/>
            <p:nvPr/>
          </p:nvSpPr>
          <p:spPr>
            <a:xfrm>
              <a:off x="0" y="0"/>
              <a:ext cx="1883759" cy="526166"/>
            </a:xfrm>
            <a:custGeom>
              <a:avLst/>
              <a:gdLst/>
              <a:ahLst/>
              <a:cxnLst/>
              <a:rect l="l" t="t" r="r" b="b"/>
              <a:pathLst>
                <a:path w="1883759" h="526166" extrusionOk="0">
                  <a:moveTo>
                    <a:pt x="0" y="0"/>
                  </a:moveTo>
                  <a:lnTo>
                    <a:pt x="1883759" y="0"/>
                  </a:lnTo>
                  <a:lnTo>
                    <a:pt x="1883759" y="526166"/>
                  </a:lnTo>
                  <a:lnTo>
                    <a:pt x="0" y="526166"/>
                  </a:lnTo>
                  <a:close/>
                </a:path>
              </a:pathLst>
            </a:custGeom>
            <a:solidFill>
              <a:srgbClr val="FFFFFF"/>
            </a:solidFill>
            <a:ln w="66675" cap="sq" cmpd="sng">
              <a:solidFill>
                <a:srgbClr val="000000"/>
              </a:solidFill>
              <a:prstDash val="solid"/>
              <a:miter lim="8000"/>
              <a:headEnd type="none" w="sm" len="sm"/>
              <a:tailEnd type="none" w="sm" len="sm"/>
            </a:ln>
          </p:spPr>
        </p:sp>
        <p:sp>
          <p:nvSpPr>
            <p:cNvPr id="137" name="Google Shape;137;p6"/>
            <p:cNvSpPr txBox="1"/>
            <p:nvPr/>
          </p:nvSpPr>
          <p:spPr>
            <a:xfrm>
              <a:off x="0" y="-19050"/>
              <a:ext cx="1883759" cy="545216"/>
            </a:xfrm>
            <a:prstGeom prst="rect">
              <a:avLst/>
            </a:prstGeom>
            <a:noFill/>
            <a:ln>
              <a:noFill/>
            </a:ln>
          </p:spPr>
          <p:txBody>
            <a:bodyPr spcFirstLastPara="1" wrap="square" lIns="50800" tIns="50800" rIns="50800" bIns="50800" anchor="ctr" anchorCtr="0">
              <a:noAutofit/>
            </a:bodyPr>
            <a:lstStyle/>
            <a:p>
              <a:pPr marL="0" marR="0" lvl="0" indent="0" algn="ctr" rtl="0">
                <a:lnSpc>
                  <a:spcPct val="126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38" name="Google Shape;138;p6"/>
          <p:cNvSpPr txBox="1"/>
          <p:nvPr/>
        </p:nvSpPr>
        <p:spPr>
          <a:xfrm>
            <a:off x="10928497" y="7157642"/>
            <a:ext cx="6452597" cy="1568564"/>
          </a:xfrm>
          <a:prstGeom prst="rect">
            <a:avLst/>
          </a:prstGeom>
          <a:noFill/>
          <a:ln>
            <a:noFill/>
          </a:ln>
        </p:spPr>
        <p:txBody>
          <a:bodyPr spcFirstLastPara="1" wrap="square" lIns="0" tIns="0" rIns="0" bIns="0" anchor="t" anchorCtr="0">
            <a:spAutoFit/>
          </a:bodyPr>
          <a:lstStyle/>
          <a:p>
            <a:pPr marL="0" marR="0" lvl="0" indent="0" algn="l" rtl="0">
              <a:lnSpc>
                <a:spcPct val="107993"/>
              </a:lnSpc>
              <a:spcBef>
                <a:spcPts val="0"/>
              </a:spcBef>
              <a:spcAft>
                <a:spcPts val="0"/>
              </a:spcAft>
              <a:buNone/>
            </a:pPr>
            <a:r>
              <a:rPr lang="en-US" sz="11046">
                <a:solidFill>
                  <a:srgbClr val="000000"/>
                </a:solidFill>
                <a:latin typeface="Rubik Vinyl"/>
                <a:ea typeface="Rubik Vinyl"/>
                <a:cs typeface="Rubik Vinyl"/>
                <a:sym typeface="Rubik Vinyl"/>
              </a:rPr>
              <a:t>Package</a:t>
            </a:r>
            <a:endParaRPr/>
          </a:p>
        </p:txBody>
      </p:sp>
      <p:sp>
        <p:nvSpPr>
          <p:cNvPr id="139" name="Google Shape;139;p6"/>
          <p:cNvSpPr txBox="1"/>
          <p:nvPr/>
        </p:nvSpPr>
        <p:spPr>
          <a:xfrm>
            <a:off x="1828800" y="6813549"/>
            <a:ext cx="8460317" cy="2363724"/>
          </a:xfrm>
          <a:prstGeom prst="rect">
            <a:avLst/>
          </a:prstGeom>
          <a:noFill/>
          <a:ln>
            <a:noFill/>
          </a:ln>
        </p:spPr>
        <p:txBody>
          <a:bodyPr spcFirstLastPara="1" wrap="square" lIns="0" tIns="0" rIns="0" bIns="0" anchor="t" anchorCtr="0">
            <a:spAutoFit/>
          </a:bodyPr>
          <a:lstStyle/>
          <a:p>
            <a:pPr algn="just">
              <a:lnSpc>
                <a:spcPct val="120027"/>
              </a:lnSpc>
            </a:pPr>
            <a:r>
              <a:rPr lang="en-US" sz="3200" dirty="0">
                <a:sym typeface="Times New Roman"/>
              </a:rPr>
              <a:t>A PL/SQL package is a collection of related Procedures, Functions, Variables, and other elements that are grouped for Modularity and Reusability.</a:t>
            </a:r>
            <a:endParaRPr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45" name="Google Shape;145;p7"/>
          <p:cNvSpPr txBox="1"/>
          <p:nvPr/>
        </p:nvSpPr>
        <p:spPr>
          <a:xfrm>
            <a:off x="1531728" y="2717941"/>
            <a:ext cx="11866605" cy="6500241"/>
          </a:xfrm>
          <a:prstGeom prst="rect">
            <a:avLst/>
          </a:prstGeom>
          <a:noFill/>
          <a:ln>
            <a:noFill/>
          </a:ln>
        </p:spPr>
        <p:txBody>
          <a:bodyPr spcFirstLastPara="1" wrap="square" lIns="0" tIns="0" rIns="0" bIns="0" anchor="t" anchorCtr="0">
            <a:spAutoFit/>
          </a:bodyPr>
          <a:lstStyle/>
          <a:p>
            <a:pPr marL="0" marR="0" lvl="0" indent="0" algn="just" rtl="0">
              <a:lnSpc>
                <a:spcPct val="240055"/>
              </a:lnSpc>
              <a:spcBef>
                <a:spcPts val="0"/>
              </a:spcBef>
              <a:spcAft>
                <a:spcPts val="0"/>
              </a:spcAft>
              <a:buNone/>
            </a:pPr>
            <a:endParaRPr sz="1600" dirty="0">
              <a:solidFill>
                <a:schemeClr val="dk1"/>
              </a:solidFill>
              <a:latin typeface="Calibri"/>
              <a:ea typeface="Calibri"/>
              <a:cs typeface="Calibri"/>
              <a:sym typeface="Calibri"/>
            </a:endParaRPr>
          </a:p>
          <a:p>
            <a:pPr marL="777462" marR="0" lvl="1" indent="-388730" algn="just" rtl="0">
              <a:lnSpc>
                <a:spcPct val="120027"/>
              </a:lnSpc>
              <a:spcBef>
                <a:spcPts val="0"/>
              </a:spcBef>
              <a:spcAft>
                <a:spcPts val="0"/>
              </a:spcAft>
              <a:buClr>
                <a:srgbClr val="000000"/>
              </a:buClr>
              <a:buSzPts val="3600"/>
              <a:buFont typeface="Arial"/>
              <a:buChar char="•"/>
            </a:pPr>
            <a:r>
              <a:rPr lang="en-US" sz="3200" b="1" i="0" u="none" strike="noStrike" cap="none" dirty="0">
                <a:solidFill>
                  <a:srgbClr val="000000"/>
                </a:solidFill>
                <a:latin typeface="Arial"/>
                <a:ea typeface="Arial"/>
                <a:cs typeface="Arial"/>
                <a:sym typeface="Arial"/>
              </a:rPr>
              <a:t>Modularity: </a:t>
            </a:r>
            <a:r>
              <a:rPr lang="en-US" sz="3200" b="0" i="0" u="none" strike="noStrike" cap="none" dirty="0">
                <a:solidFill>
                  <a:srgbClr val="000000"/>
                </a:solidFill>
                <a:latin typeface="Arial"/>
                <a:ea typeface="Arial"/>
                <a:cs typeface="Arial"/>
                <a:sym typeface="Arial"/>
              </a:rPr>
              <a:t>Packages provide a modular structure, allowing developers to </a:t>
            </a:r>
            <a:r>
              <a:rPr lang="en-US" sz="3200" b="0" i="0" u="none" strike="noStrike" cap="none" dirty="0" err="1">
                <a:solidFill>
                  <a:srgbClr val="000000"/>
                </a:solidFill>
                <a:latin typeface="Arial"/>
                <a:ea typeface="Arial"/>
                <a:cs typeface="Arial"/>
                <a:sym typeface="Arial"/>
              </a:rPr>
              <a:t>organise</a:t>
            </a:r>
            <a:r>
              <a:rPr lang="en-US" sz="3200" b="0" i="0" u="none" strike="noStrike" cap="none" dirty="0">
                <a:solidFill>
                  <a:srgbClr val="000000"/>
                </a:solidFill>
                <a:latin typeface="Arial"/>
                <a:ea typeface="Arial"/>
                <a:cs typeface="Arial"/>
                <a:sym typeface="Arial"/>
              </a:rPr>
              <a:t> and manage code efficiently.</a:t>
            </a:r>
            <a:endParaRPr sz="1200" dirty="0"/>
          </a:p>
          <a:p>
            <a:pPr marL="777462" marR="0" lvl="1" indent="-388730" algn="just" rtl="0">
              <a:lnSpc>
                <a:spcPct val="120027"/>
              </a:lnSpc>
              <a:spcBef>
                <a:spcPts val="0"/>
              </a:spcBef>
              <a:spcAft>
                <a:spcPts val="0"/>
              </a:spcAft>
              <a:buClr>
                <a:srgbClr val="000000"/>
              </a:buClr>
              <a:buSzPts val="3600"/>
              <a:buFont typeface="Arial"/>
              <a:buChar char="•"/>
            </a:pPr>
            <a:r>
              <a:rPr lang="en-US" sz="3200" b="1" i="0" u="none" strike="noStrike" cap="none" dirty="0">
                <a:solidFill>
                  <a:srgbClr val="000000"/>
                </a:solidFill>
                <a:latin typeface="Arial"/>
                <a:ea typeface="Arial"/>
                <a:cs typeface="Arial"/>
                <a:sym typeface="Arial"/>
              </a:rPr>
              <a:t>Code Reusability:</a:t>
            </a:r>
            <a:r>
              <a:rPr lang="en-US" sz="3200" b="0" i="0" u="none" strike="noStrike" cap="none" dirty="0">
                <a:solidFill>
                  <a:srgbClr val="000000"/>
                </a:solidFill>
                <a:latin typeface="Arial"/>
                <a:ea typeface="Arial"/>
                <a:cs typeface="Arial"/>
                <a:sym typeface="Arial"/>
              </a:rPr>
              <a:t> Procedures and functions within a package can be reused across multiple programs, reducing redundancy.</a:t>
            </a:r>
            <a:endParaRPr sz="1200" dirty="0"/>
          </a:p>
          <a:p>
            <a:pPr marL="777462" marR="0" lvl="1" indent="-388730" algn="just" rtl="0">
              <a:lnSpc>
                <a:spcPct val="120027"/>
              </a:lnSpc>
              <a:spcBef>
                <a:spcPts val="0"/>
              </a:spcBef>
              <a:spcAft>
                <a:spcPts val="0"/>
              </a:spcAft>
              <a:buClr>
                <a:srgbClr val="000000"/>
              </a:buClr>
              <a:buSzPts val="3600"/>
              <a:buFont typeface="Arial"/>
              <a:buChar char="•"/>
            </a:pPr>
            <a:r>
              <a:rPr lang="en-US" sz="3200" b="1" i="0" u="none" strike="noStrike" cap="none" dirty="0">
                <a:solidFill>
                  <a:srgbClr val="000000"/>
                </a:solidFill>
                <a:latin typeface="Arial"/>
                <a:ea typeface="Arial"/>
                <a:cs typeface="Arial"/>
                <a:sym typeface="Arial"/>
              </a:rPr>
              <a:t>Private Elements:</a:t>
            </a:r>
            <a:r>
              <a:rPr lang="en-US" sz="3200" b="0" i="0" u="none" strike="noStrike" cap="none" dirty="0">
                <a:solidFill>
                  <a:srgbClr val="000000"/>
                </a:solidFill>
                <a:latin typeface="Arial"/>
                <a:ea typeface="Arial"/>
                <a:cs typeface="Arial"/>
                <a:sym typeface="Arial"/>
              </a:rPr>
              <a:t> Packages support private procedures and functions, limiting access to certain code components.</a:t>
            </a:r>
            <a:endParaRPr sz="1200" dirty="0"/>
          </a:p>
          <a:p>
            <a:pPr marL="777462" marR="0" lvl="1" indent="-388730" algn="just" rtl="0">
              <a:lnSpc>
                <a:spcPct val="120027"/>
              </a:lnSpc>
              <a:spcBef>
                <a:spcPts val="0"/>
              </a:spcBef>
              <a:spcAft>
                <a:spcPts val="0"/>
              </a:spcAft>
              <a:buClr>
                <a:srgbClr val="000000"/>
              </a:buClr>
              <a:buSzPts val="3600"/>
              <a:buFont typeface="Arial"/>
              <a:buChar char="•"/>
            </a:pPr>
            <a:r>
              <a:rPr lang="en-US" sz="3200" b="1" i="0" u="none" strike="noStrike" cap="none" dirty="0">
                <a:solidFill>
                  <a:srgbClr val="000000"/>
                </a:solidFill>
                <a:latin typeface="Arial"/>
                <a:ea typeface="Arial"/>
                <a:cs typeface="Arial"/>
                <a:sym typeface="Arial"/>
              </a:rPr>
              <a:t>Encapsulation:</a:t>
            </a:r>
            <a:r>
              <a:rPr lang="en-US" sz="3200" b="0" i="0" u="none" strike="noStrike" cap="none" dirty="0">
                <a:solidFill>
                  <a:srgbClr val="000000"/>
                </a:solidFill>
                <a:latin typeface="Arial"/>
                <a:ea typeface="Arial"/>
                <a:cs typeface="Arial"/>
                <a:sym typeface="Arial"/>
              </a:rPr>
              <a:t> Packages encapsulate related logic, protecting internal details and promoting a clear interface to other parts of the code.</a:t>
            </a:r>
            <a:endParaRPr sz="1200" dirty="0"/>
          </a:p>
        </p:txBody>
      </p:sp>
      <p:sp>
        <p:nvSpPr>
          <p:cNvPr id="146" name="Google Shape;146;p7"/>
          <p:cNvSpPr/>
          <p:nvPr/>
        </p:nvSpPr>
        <p:spPr>
          <a:xfrm>
            <a:off x="13582725" y="4271240"/>
            <a:ext cx="4311004" cy="3373361"/>
          </a:xfrm>
          <a:custGeom>
            <a:avLst/>
            <a:gdLst/>
            <a:ahLst/>
            <a:cxnLst/>
            <a:rect l="l" t="t" r="r" b="b"/>
            <a:pathLst>
              <a:path w="4311004" h="3373361" extrusionOk="0">
                <a:moveTo>
                  <a:pt x="0" y="0"/>
                </a:moveTo>
                <a:lnTo>
                  <a:pt x="4311005" y="0"/>
                </a:lnTo>
                <a:lnTo>
                  <a:pt x="4311005" y="3373361"/>
                </a:lnTo>
                <a:lnTo>
                  <a:pt x="0" y="3373361"/>
                </a:lnTo>
                <a:lnTo>
                  <a:pt x="0" y="0"/>
                </a:lnTo>
                <a:close/>
              </a:path>
            </a:pathLst>
          </a:custGeom>
          <a:blipFill rotWithShape="1">
            <a:blip r:embed="rId4">
              <a:alphaModFix/>
            </a:blip>
            <a:stretch>
              <a:fillRect/>
            </a:stretch>
          </a:blipFill>
          <a:ln>
            <a:noFill/>
          </a:ln>
        </p:spPr>
      </p:sp>
      <p:sp>
        <p:nvSpPr>
          <p:cNvPr id="147" name="Google Shape;147;p7"/>
          <p:cNvSpPr txBox="1"/>
          <p:nvPr/>
        </p:nvSpPr>
        <p:spPr>
          <a:xfrm>
            <a:off x="1223022" y="2004179"/>
            <a:ext cx="10223307" cy="11966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3600" b="1" dirty="0">
                <a:solidFill>
                  <a:srgbClr val="000000"/>
                </a:solidFill>
                <a:latin typeface="Arial"/>
                <a:ea typeface="Arial"/>
                <a:cs typeface="Arial"/>
                <a:sym typeface="Arial"/>
              </a:rPr>
              <a:t>    Key Benefits of Using PL/SQL Packages</a:t>
            </a:r>
            <a:endParaRPr dirty="0"/>
          </a:p>
          <a:p>
            <a:pPr marL="0" marR="0" lvl="0" indent="0" algn="ctr" rtl="0">
              <a:lnSpc>
                <a:spcPct val="108000"/>
              </a:lnSpc>
              <a:spcBef>
                <a:spcPts val="0"/>
              </a:spcBef>
              <a:spcAft>
                <a:spcPts val="0"/>
              </a:spcAft>
              <a:buNone/>
            </a:pPr>
            <a:endParaRPr sz="3600" b="1" dirty="0">
              <a:solidFill>
                <a:srgbClr val="000000"/>
              </a:solidFill>
              <a:latin typeface="Arial"/>
              <a:ea typeface="Arial"/>
              <a:cs typeface="Arial"/>
              <a:sym typeface="Arial"/>
            </a:endParaRPr>
          </a:p>
        </p:txBody>
      </p:sp>
      <p:sp>
        <p:nvSpPr>
          <p:cNvPr id="148" name="Google Shape;148;p7"/>
          <p:cNvSpPr txBox="1"/>
          <p:nvPr/>
        </p:nvSpPr>
        <p:spPr>
          <a:xfrm>
            <a:off x="1347281" y="659124"/>
            <a:ext cx="12235500"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a:solidFill>
                  <a:srgbClr val="C00000"/>
                </a:solidFill>
                <a:latin typeface="Times"/>
                <a:ea typeface="Times"/>
                <a:cs typeface="Times"/>
                <a:sym typeface="Times"/>
              </a:rPr>
              <a:t>Package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grpSp>
        <p:nvGrpSpPr>
          <p:cNvPr id="154" name="Google Shape;154;p8"/>
          <p:cNvGrpSpPr/>
          <p:nvPr/>
        </p:nvGrpSpPr>
        <p:grpSpPr>
          <a:xfrm>
            <a:off x="7830684" y="3096518"/>
            <a:ext cx="10114417" cy="5122917"/>
            <a:chOff x="0" y="-96441"/>
            <a:chExt cx="13485888" cy="6830558"/>
          </a:xfrm>
        </p:grpSpPr>
        <p:grpSp>
          <p:nvGrpSpPr>
            <p:cNvPr id="155" name="Google Shape;155;p8"/>
            <p:cNvGrpSpPr/>
            <p:nvPr/>
          </p:nvGrpSpPr>
          <p:grpSpPr>
            <a:xfrm>
              <a:off x="0" y="2319742"/>
              <a:ext cx="6233565" cy="3357802"/>
              <a:chOff x="0" y="-19050"/>
              <a:chExt cx="917982" cy="494485"/>
            </a:xfrm>
          </p:grpSpPr>
          <p:sp>
            <p:nvSpPr>
              <p:cNvPr id="156" name="Google Shape;156;p8"/>
              <p:cNvSpPr/>
              <p:nvPr/>
            </p:nvSpPr>
            <p:spPr>
              <a:xfrm>
                <a:off x="0" y="0"/>
                <a:ext cx="917982" cy="475435"/>
              </a:xfrm>
              <a:custGeom>
                <a:avLst/>
                <a:gdLst/>
                <a:ahLst/>
                <a:cxnLst/>
                <a:rect l="l" t="t" r="r" b="b"/>
                <a:pathLst>
                  <a:path w="917982" h="475435" extrusionOk="0">
                    <a:moveTo>
                      <a:pt x="113281" y="0"/>
                    </a:moveTo>
                    <a:lnTo>
                      <a:pt x="804701" y="0"/>
                    </a:lnTo>
                    <a:cubicBezTo>
                      <a:pt x="834745" y="0"/>
                      <a:pt x="863558" y="11935"/>
                      <a:pt x="884803" y="33179"/>
                    </a:cubicBezTo>
                    <a:cubicBezTo>
                      <a:pt x="906047" y="54424"/>
                      <a:pt x="917982" y="83237"/>
                      <a:pt x="917982" y="113281"/>
                    </a:cubicBezTo>
                    <a:lnTo>
                      <a:pt x="917982" y="362153"/>
                    </a:lnTo>
                    <a:cubicBezTo>
                      <a:pt x="917982" y="392197"/>
                      <a:pt x="906047" y="421011"/>
                      <a:pt x="884803" y="442255"/>
                    </a:cubicBezTo>
                    <a:cubicBezTo>
                      <a:pt x="863558" y="463500"/>
                      <a:pt x="834745" y="475435"/>
                      <a:pt x="804701" y="475435"/>
                    </a:cubicBezTo>
                    <a:lnTo>
                      <a:pt x="113281" y="475435"/>
                    </a:lnTo>
                    <a:cubicBezTo>
                      <a:pt x="83237" y="475435"/>
                      <a:pt x="54424" y="463500"/>
                      <a:pt x="33179" y="442255"/>
                    </a:cubicBezTo>
                    <a:cubicBezTo>
                      <a:pt x="11935" y="421011"/>
                      <a:pt x="0" y="392197"/>
                      <a:pt x="0" y="362153"/>
                    </a:cubicBezTo>
                    <a:lnTo>
                      <a:pt x="0" y="113281"/>
                    </a:lnTo>
                    <a:cubicBezTo>
                      <a:pt x="0" y="83237"/>
                      <a:pt x="11935" y="54424"/>
                      <a:pt x="33179" y="33179"/>
                    </a:cubicBezTo>
                    <a:cubicBezTo>
                      <a:pt x="54424" y="11935"/>
                      <a:pt x="83237" y="0"/>
                      <a:pt x="113281" y="0"/>
                    </a:cubicBezTo>
                    <a:close/>
                  </a:path>
                </a:pathLst>
              </a:custGeom>
              <a:solidFill>
                <a:srgbClr val="EB6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txBox="1"/>
              <p:nvPr/>
            </p:nvSpPr>
            <p:spPr>
              <a:xfrm>
                <a:off x="0" y="-19050"/>
                <a:ext cx="917982" cy="494485"/>
              </a:xfrm>
              <a:prstGeom prst="rect">
                <a:avLst/>
              </a:prstGeom>
              <a:noFill/>
              <a:ln>
                <a:noFill/>
              </a:ln>
            </p:spPr>
            <p:txBody>
              <a:bodyPr spcFirstLastPara="1" wrap="square" lIns="50800" tIns="50800" rIns="50800" bIns="50800" anchor="ctr" anchorCtr="0">
                <a:noAutofit/>
              </a:bodyPr>
              <a:lstStyle/>
              <a:p>
                <a:pPr marL="0" marR="0" lvl="0" indent="0" algn="ctr" rtl="0">
                  <a:lnSpc>
                    <a:spcPct val="126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158" name="Google Shape;158;p8"/>
            <p:cNvGrpSpPr/>
            <p:nvPr/>
          </p:nvGrpSpPr>
          <p:grpSpPr>
            <a:xfrm>
              <a:off x="398755" y="3205607"/>
              <a:ext cx="6245962" cy="3528510"/>
              <a:chOff x="0" y="-19050"/>
              <a:chExt cx="919808" cy="519624"/>
            </a:xfrm>
          </p:grpSpPr>
          <p:sp>
            <p:nvSpPr>
              <p:cNvPr id="159" name="Google Shape;159;p8"/>
              <p:cNvSpPr/>
              <p:nvPr/>
            </p:nvSpPr>
            <p:spPr>
              <a:xfrm>
                <a:off x="0" y="0"/>
                <a:ext cx="919808" cy="500574"/>
              </a:xfrm>
              <a:custGeom>
                <a:avLst/>
                <a:gdLst/>
                <a:ahLst/>
                <a:cxnLst/>
                <a:rect l="l" t="t" r="r" b="b"/>
                <a:pathLst>
                  <a:path w="919808" h="500574" extrusionOk="0">
                    <a:moveTo>
                      <a:pt x="113057" y="0"/>
                    </a:moveTo>
                    <a:lnTo>
                      <a:pt x="806751" y="0"/>
                    </a:lnTo>
                    <a:cubicBezTo>
                      <a:pt x="869190" y="0"/>
                      <a:pt x="919808" y="50617"/>
                      <a:pt x="919808" y="113057"/>
                    </a:cubicBezTo>
                    <a:lnTo>
                      <a:pt x="919808" y="387517"/>
                    </a:lnTo>
                    <a:cubicBezTo>
                      <a:pt x="919808" y="449957"/>
                      <a:pt x="869190" y="500574"/>
                      <a:pt x="806751" y="500574"/>
                    </a:cubicBezTo>
                    <a:lnTo>
                      <a:pt x="113057" y="500574"/>
                    </a:lnTo>
                    <a:cubicBezTo>
                      <a:pt x="50617" y="500574"/>
                      <a:pt x="0" y="449957"/>
                      <a:pt x="0" y="387517"/>
                    </a:cubicBezTo>
                    <a:lnTo>
                      <a:pt x="0" y="113057"/>
                    </a:lnTo>
                    <a:cubicBezTo>
                      <a:pt x="0" y="50617"/>
                      <a:pt x="50617" y="0"/>
                      <a:pt x="113057" y="0"/>
                    </a:cubicBezTo>
                    <a:close/>
                  </a:path>
                </a:pathLst>
              </a:custGeom>
              <a:solidFill>
                <a:srgbClr val="EB6064"/>
              </a:solidFill>
              <a:ln w="1047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txBox="1"/>
              <p:nvPr/>
            </p:nvSpPr>
            <p:spPr>
              <a:xfrm>
                <a:off x="0" y="-19050"/>
                <a:ext cx="919808" cy="519624"/>
              </a:xfrm>
              <a:prstGeom prst="rect">
                <a:avLst/>
              </a:prstGeom>
              <a:noFill/>
              <a:ln>
                <a:noFill/>
              </a:ln>
            </p:spPr>
            <p:txBody>
              <a:bodyPr spcFirstLastPara="1" wrap="square" lIns="50800" tIns="50800" rIns="50800" bIns="50800" anchor="ctr" anchorCtr="0">
                <a:noAutofit/>
              </a:bodyPr>
              <a:lstStyle/>
              <a:p>
                <a:pPr marL="0" marR="0" lvl="0" indent="0" algn="ctr" rtl="0">
                  <a:lnSpc>
                    <a:spcPct val="126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161" name="Google Shape;161;p8"/>
            <p:cNvGrpSpPr/>
            <p:nvPr/>
          </p:nvGrpSpPr>
          <p:grpSpPr>
            <a:xfrm>
              <a:off x="6841171" y="2319742"/>
              <a:ext cx="6233565" cy="3357802"/>
              <a:chOff x="0" y="-19050"/>
              <a:chExt cx="917982" cy="494485"/>
            </a:xfrm>
          </p:grpSpPr>
          <p:sp>
            <p:nvSpPr>
              <p:cNvPr id="162" name="Google Shape;162;p8"/>
              <p:cNvSpPr/>
              <p:nvPr/>
            </p:nvSpPr>
            <p:spPr>
              <a:xfrm>
                <a:off x="0" y="0"/>
                <a:ext cx="917982" cy="475435"/>
              </a:xfrm>
              <a:custGeom>
                <a:avLst/>
                <a:gdLst/>
                <a:ahLst/>
                <a:cxnLst/>
                <a:rect l="l" t="t" r="r" b="b"/>
                <a:pathLst>
                  <a:path w="917982" h="475435" extrusionOk="0">
                    <a:moveTo>
                      <a:pt x="113281" y="0"/>
                    </a:moveTo>
                    <a:lnTo>
                      <a:pt x="804701" y="0"/>
                    </a:lnTo>
                    <a:cubicBezTo>
                      <a:pt x="834745" y="0"/>
                      <a:pt x="863558" y="11935"/>
                      <a:pt x="884803" y="33179"/>
                    </a:cubicBezTo>
                    <a:cubicBezTo>
                      <a:pt x="906047" y="54424"/>
                      <a:pt x="917982" y="83237"/>
                      <a:pt x="917982" y="113281"/>
                    </a:cubicBezTo>
                    <a:lnTo>
                      <a:pt x="917982" y="362153"/>
                    </a:lnTo>
                    <a:cubicBezTo>
                      <a:pt x="917982" y="392197"/>
                      <a:pt x="906047" y="421011"/>
                      <a:pt x="884803" y="442255"/>
                    </a:cubicBezTo>
                    <a:cubicBezTo>
                      <a:pt x="863558" y="463500"/>
                      <a:pt x="834745" y="475435"/>
                      <a:pt x="804701" y="475435"/>
                    </a:cubicBezTo>
                    <a:lnTo>
                      <a:pt x="113281" y="475435"/>
                    </a:lnTo>
                    <a:cubicBezTo>
                      <a:pt x="83237" y="475435"/>
                      <a:pt x="54424" y="463500"/>
                      <a:pt x="33179" y="442255"/>
                    </a:cubicBezTo>
                    <a:cubicBezTo>
                      <a:pt x="11935" y="421011"/>
                      <a:pt x="0" y="392197"/>
                      <a:pt x="0" y="362153"/>
                    </a:cubicBezTo>
                    <a:lnTo>
                      <a:pt x="0" y="113281"/>
                    </a:lnTo>
                    <a:cubicBezTo>
                      <a:pt x="0" y="83237"/>
                      <a:pt x="11935" y="54424"/>
                      <a:pt x="33179" y="33179"/>
                    </a:cubicBezTo>
                    <a:cubicBezTo>
                      <a:pt x="54424" y="11935"/>
                      <a:pt x="83237" y="0"/>
                      <a:pt x="113281" y="0"/>
                    </a:cubicBezTo>
                    <a:close/>
                  </a:path>
                </a:pathLst>
              </a:custGeom>
              <a:solidFill>
                <a:srgbClr val="EB6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txBox="1"/>
              <p:nvPr/>
            </p:nvSpPr>
            <p:spPr>
              <a:xfrm>
                <a:off x="0" y="-19050"/>
                <a:ext cx="917982" cy="494485"/>
              </a:xfrm>
              <a:prstGeom prst="rect">
                <a:avLst/>
              </a:prstGeom>
              <a:noFill/>
              <a:ln>
                <a:noFill/>
              </a:ln>
            </p:spPr>
            <p:txBody>
              <a:bodyPr spcFirstLastPara="1" wrap="square" lIns="50800" tIns="50800" rIns="50800" bIns="50800" anchor="ctr" anchorCtr="0">
                <a:noAutofit/>
              </a:bodyPr>
              <a:lstStyle/>
              <a:p>
                <a:pPr marL="0" marR="0" lvl="0" indent="0" algn="ctr" rtl="0">
                  <a:lnSpc>
                    <a:spcPct val="126000"/>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164" name="Google Shape;164;p8"/>
            <p:cNvGrpSpPr/>
            <p:nvPr/>
          </p:nvGrpSpPr>
          <p:grpSpPr>
            <a:xfrm>
              <a:off x="7239926" y="3205607"/>
              <a:ext cx="6245962" cy="3528510"/>
              <a:chOff x="0" y="-19050"/>
              <a:chExt cx="919808" cy="519624"/>
            </a:xfrm>
          </p:grpSpPr>
          <p:sp>
            <p:nvSpPr>
              <p:cNvPr id="165" name="Google Shape;165;p8"/>
              <p:cNvSpPr/>
              <p:nvPr/>
            </p:nvSpPr>
            <p:spPr>
              <a:xfrm>
                <a:off x="0" y="0"/>
                <a:ext cx="919808" cy="500574"/>
              </a:xfrm>
              <a:custGeom>
                <a:avLst/>
                <a:gdLst/>
                <a:ahLst/>
                <a:cxnLst/>
                <a:rect l="l" t="t" r="r" b="b"/>
                <a:pathLst>
                  <a:path w="919808" h="500574" extrusionOk="0">
                    <a:moveTo>
                      <a:pt x="113057" y="0"/>
                    </a:moveTo>
                    <a:lnTo>
                      <a:pt x="806751" y="0"/>
                    </a:lnTo>
                    <a:cubicBezTo>
                      <a:pt x="869190" y="0"/>
                      <a:pt x="919808" y="50617"/>
                      <a:pt x="919808" y="113057"/>
                    </a:cubicBezTo>
                    <a:lnTo>
                      <a:pt x="919808" y="387517"/>
                    </a:lnTo>
                    <a:cubicBezTo>
                      <a:pt x="919808" y="449957"/>
                      <a:pt x="869190" y="500574"/>
                      <a:pt x="806751" y="500574"/>
                    </a:cubicBezTo>
                    <a:lnTo>
                      <a:pt x="113057" y="500574"/>
                    </a:lnTo>
                    <a:cubicBezTo>
                      <a:pt x="50617" y="500574"/>
                      <a:pt x="0" y="449957"/>
                      <a:pt x="0" y="387517"/>
                    </a:cubicBezTo>
                    <a:lnTo>
                      <a:pt x="0" y="113057"/>
                    </a:lnTo>
                    <a:cubicBezTo>
                      <a:pt x="0" y="50617"/>
                      <a:pt x="50617" y="0"/>
                      <a:pt x="113057" y="0"/>
                    </a:cubicBezTo>
                    <a:close/>
                  </a:path>
                </a:pathLst>
              </a:custGeom>
              <a:solidFill>
                <a:srgbClr val="EB6064"/>
              </a:solidFill>
              <a:ln w="104775"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txBox="1"/>
              <p:nvPr/>
            </p:nvSpPr>
            <p:spPr>
              <a:xfrm>
                <a:off x="0" y="-19050"/>
                <a:ext cx="919808" cy="519624"/>
              </a:xfrm>
              <a:prstGeom prst="rect">
                <a:avLst/>
              </a:prstGeom>
              <a:noFill/>
              <a:ln>
                <a:noFill/>
              </a:ln>
            </p:spPr>
            <p:txBody>
              <a:bodyPr spcFirstLastPara="1" wrap="square" lIns="50800" tIns="50800" rIns="50800" bIns="50800" anchor="ctr" anchorCtr="0">
                <a:noAutofit/>
              </a:bodyPr>
              <a:lstStyle/>
              <a:p>
                <a:pPr marL="0" marR="0" lvl="0" indent="0" algn="ctr" rtl="0">
                  <a:lnSpc>
                    <a:spcPct val="126000"/>
                  </a:lnSpc>
                  <a:spcBef>
                    <a:spcPts val="0"/>
                  </a:spcBef>
                  <a:spcAft>
                    <a:spcPts val="0"/>
                  </a:spcAft>
                  <a:buNone/>
                </a:pPr>
                <a:endParaRPr sz="1800">
                  <a:solidFill>
                    <a:schemeClr val="dk1"/>
                  </a:solidFill>
                  <a:latin typeface="Calibri"/>
                  <a:ea typeface="Calibri"/>
                  <a:cs typeface="Calibri"/>
                  <a:sym typeface="Calibri"/>
                </a:endParaRPr>
              </a:p>
            </p:txBody>
          </p:sp>
        </p:grpSp>
        <p:sp>
          <p:nvSpPr>
            <p:cNvPr id="167" name="Google Shape;167;p8"/>
            <p:cNvSpPr txBox="1"/>
            <p:nvPr/>
          </p:nvSpPr>
          <p:spPr>
            <a:xfrm>
              <a:off x="758055" y="4131480"/>
              <a:ext cx="5216680" cy="1756104"/>
            </a:xfrm>
            <a:prstGeom prst="rect">
              <a:avLst/>
            </a:prstGeom>
            <a:noFill/>
            <a:ln>
              <a:noFill/>
            </a:ln>
          </p:spPr>
          <p:txBody>
            <a:bodyPr spcFirstLastPara="1" wrap="square" lIns="0" tIns="0" rIns="0" bIns="0" anchor="t" anchorCtr="0">
              <a:spAutoFit/>
            </a:bodyPr>
            <a:lstStyle/>
            <a:p>
              <a:pPr marL="0" marR="0" lvl="0" indent="0" algn="ctr" rtl="0">
                <a:lnSpc>
                  <a:spcPct val="108016"/>
                </a:lnSpc>
                <a:spcBef>
                  <a:spcPts val="0"/>
                </a:spcBef>
                <a:spcAft>
                  <a:spcPts val="0"/>
                </a:spcAft>
                <a:buNone/>
              </a:pPr>
              <a:r>
                <a:rPr lang="en-US" sz="4491" b="1">
                  <a:solidFill>
                    <a:srgbClr val="000000"/>
                  </a:solidFill>
                  <a:latin typeface="Times"/>
                  <a:ea typeface="Times"/>
                  <a:cs typeface="Times"/>
                  <a:sym typeface="Times"/>
                </a:rPr>
                <a:t> Package Specification</a:t>
              </a:r>
              <a:endParaRPr/>
            </a:p>
          </p:txBody>
        </p:sp>
        <p:sp>
          <p:nvSpPr>
            <p:cNvPr id="168" name="Google Shape;168;p8"/>
            <p:cNvSpPr txBox="1"/>
            <p:nvPr/>
          </p:nvSpPr>
          <p:spPr>
            <a:xfrm>
              <a:off x="8635561" y="4131480"/>
              <a:ext cx="3910145" cy="2549660"/>
            </a:xfrm>
            <a:prstGeom prst="rect">
              <a:avLst/>
            </a:prstGeom>
            <a:noFill/>
            <a:ln>
              <a:noFill/>
            </a:ln>
          </p:spPr>
          <p:txBody>
            <a:bodyPr spcFirstLastPara="1" wrap="square" lIns="0" tIns="0" rIns="0" bIns="0" anchor="t" anchorCtr="0">
              <a:spAutoFit/>
            </a:bodyPr>
            <a:lstStyle/>
            <a:p>
              <a:pPr marL="0" marR="0" lvl="0" indent="0" algn="ctr" rtl="0">
                <a:lnSpc>
                  <a:spcPct val="108016"/>
                </a:lnSpc>
                <a:spcBef>
                  <a:spcPts val="0"/>
                </a:spcBef>
                <a:spcAft>
                  <a:spcPts val="0"/>
                </a:spcAft>
                <a:buNone/>
              </a:pPr>
              <a:r>
                <a:rPr lang="en-US" sz="4491" b="1">
                  <a:solidFill>
                    <a:srgbClr val="000000"/>
                  </a:solidFill>
                  <a:latin typeface="Times"/>
                  <a:ea typeface="Times"/>
                  <a:cs typeface="Times"/>
                  <a:sym typeface="Times"/>
                </a:rPr>
                <a:t>Package Body</a:t>
              </a:r>
              <a:endParaRPr/>
            </a:p>
            <a:p>
              <a:pPr marL="0" marR="0" lvl="0" indent="0" algn="ctr" rtl="0">
                <a:lnSpc>
                  <a:spcPct val="108016"/>
                </a:lnSpc>
                <a:spcBef>
                  <a:spcPts val="0"/>
                </a:spcBef>
                <a:spcAft>
                  <a:spcPts val="0"/>
                </a:spcAft>
                <a:buNone/>
              </a:pPr>
              <a:endParaRPr sz="4491" b="1">
                <a:solidFill>
                  <a:srgbClr val="000000"/>
                </a:solidFill>
                <a:latin typeface="Times"/>
                <a:ea typeface="Times"/>
                <a:cs typeface="Times"/>
                <a:sym typeface="Times"/>
              </a:endParaRPr>
            </a:p>
          </p:txBody>
        </p:sp>
        <p:grpSp>
          <p:nvGrpSpPr>
            <p:cNvPr id="169" name="Google Shape;169;p8"/>
            <p:cNvGrpSpPr/>
            <p:nvPr/>
          </p:nvGrpSpPr>
          <p:grpSpPr>
            <a:xfrm>
              <a:off x="2985579" y="-96441"/>
              <a:ext cx="6959800" cy="2256243"/>
              <a:chOff x="0" y="-19050"/>
              <a:chExt cx="1374775" cy="445678"/>
            </a:xfrm>
          </p:grpSpPr>
          <p:sp>
            <p:nvSpPr>
              <p:cNvPr id="170" name="Google Shape;170;p8"/>
              <p:cNvSpPr/>
              <p:nvPr/>
            </p:nvSpPr>
            <p:spPr>
              <a:xfrm>
                <a:off x="0" y="0"/>
                <a:ext cx="1374775" cy="426628"/>
              </a:xfrm>
              <a:custGeom>
                <a:avLst/>
                <a:gdLst/>
                <a:ahLst/>
                <a:cxnLst/>
                <a:rect l="l" t="t" r="r" b="b"/>
                <a:pathLst>
                  <a:path w="1374775" h="426628" extrusionOk="0">
                    <a:moveTo>
                      <a:pt x="101461" y="0"/>
                    </a:moveTo>
                    <a:lnTo>
                      <a:pt x="1273315" y="0"/>
                    </a:lnTo>
                    <a:cubicBezTo>
                      <a:pt x="1300224" y="0"/>
                      <a:pt x="1326031" y="10690"/>
                      <a:pt x="1345058" y="29717"/>
                    </a:cubicBezTo>
                    <a:cubicBezTo>
                      <a:pt x="1364086" y="48745"/>
                      <a:pt x="1374775" y="74552"/>
                      <a:pt x="1374775" y="101461"/>
                    </a:cubicBezTo>
                    <a:lnTo>
                      <a:pt x="1374775" y="325167"/>
                    </a:lnTo>
                    <a:cubicBezTo>
                      <a:pt x="1374775" y="352076"/>
                      <a:pt x="1364086" y="377883"/>
                      <a:pt x="1345058" y="396910"/>
                    </a:cubicBezTo>
                    <a:cubicBezTo>
                      <a:pt x="1326031" y="415938"/>
                      <a:pt x="1300224" y="426628"/>
                      <a:pt x="1273315" y="426628"/>
                    </a:cubicBezTo>
                    <a:lnTo>
                      <a:pt x="101461" y="426628"/>
                    </a:lnTo>
                    <a:cubicBezTo>
                      <a:pt x="74552" y="426628"/>
                      <a:pt x="48745" y="415938"/>
                      <a:pt x="29717" y="396910"/>
                    </a:cubicBezTo>
                    <a:cubicBezTo>
                      <a:pt x="10690" y="377883"/>
                      <a:pt x="0" y="352076"/>
                      <a:pt x="0" y="325167"/>
                    </a:cubicBezTo>
                    <a:lnTo>
                      <a:pt x="0" y="101461"/>
                    </a:lnTo>
                    <a:cubicBezTo>
                      <a:pt x="0" y="74552"/>
                      <a:pt x="10690" y="48745"/>
                      <a:pt x="29717" y="29717"/>
                    </a:cubicBezTo>
                    <a:cubicBezTo>
                      <a:pt x="48745" y="10690"/>
                      <a:pt x="74552" y="0"/>
                      <a:pt x="101461" y="0"/>
                    </a:cubicBezTo>
                    <a:close/>
                  </a:path>
                </a:pathLst>
              </a:custGeom>
              <a:solidFill>
                <a:srgbClr val="EB60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8"/>
              <p:cNvSpPr txBox="1"/>
              <p:nvPr/>
            </p:nvSpPr>
            <p:spPr>
              <a:xfrm>
                <a:off x="0" y="-19050"/>
                <a:ext cx="1374775" cy="445678"/>
              </a:xfrm>
              <a:prstGeom prst="rect">
                <a:avLst/>
              </a:prstGeom>
              <a:noFill/>
              <a:ln>
                <a:noFill/>
              </a:ln>
            </p:spPr>
            <p:txBody>
              <a:bodyPr spcFirstLastPara="1" wrap="square" lIns="37850" tIns="37850" rIns="37850" bIns="37850" anchor="ctr" anchorCtr="0">
                <a:noAutofit/>
              </a:bodyPr>
              <a:lstStyle/>
              <a:p>
                <a:pPr marL="0" marR="0" lvl="0" indent="0" algn="ctr" rtl="0">
                  <a:lnSpc>
                    <a:spcPct val="125944"/>
                  </a:lnSpc>
                  <a:spcBef>
                    <a:spcPts val="0"/>
                  </a:spcBef>
                  <a:spcAft>
                    <a:spcPts val="0"/>
                  </a:spcAft>
                  <a:buNone/>
                </a:pPr>
                <a:endParaRPr sz="1800">
                  <a:solidFill>
                    <a:schemeClr val="dk1"/>
                  </a:solidFill>
                  <a:latin typeface="Calibri"/>
                  <a:ea typeface="Calibri"/>
                  <a:cs typeface="Calibri"/>
                  <a:sym typeface="Calibri"/>
                </a:endParaRPr>
              </a:p>
            </p:txBody>
          </p:sp>
        </p:grpSp>
        <p:sp>
          <p:nvSpPr>
            <p:cNvPr id="172" name="Google Shape;172;p8"/>
            <p:cNvSpPr txBox="1"/>
            <p:nvPr/>
          </p:nvSpPr>
          <p:spPr>
            <a:xfrm>
              <a:off x="4570226" y="401555"/>
              <a:ext cx="4013562" cy="1387146"/>
            </a:xfrm>
            <a:prstGeom prst="rect">
              <a:avLst/>
            </a:prstGeom>
            <a:noFill/>
            <a:ln>
              <a:noFill/>
            </a:ln>
          </p:spPr>
          <p:txBody>
            <a:bodyPr spcFirstLastPara="1" wrap="square" lIns="0" tIns="0" rIns="0" bIns="0" anchor="t" anchorCtr="0">
              <a:spAutoFit/>
            </a:bodyPr>
            <a:lstStyle/>
            <a:p>
              <a:pPr marL="0" marR="0" lvl="0" indent="0" algn="ctr" rtl="0">
                <a:lnSpc>
                  <a:spcPct val="107994"/>
                </a:lnSpc>
                <a:spcBef>
                  <a:spcPts val="0"/>
                </a:spcBef>
                <a:spcAft>
                  <a:spcPts val="0"/>
                </a:spcAft>
                <a:buNone/>
              </a:pPr>
              <a:r>
                <a:rPr lang="en-US" sz="6592" b="1" dirty="0">
                  <a:solidFill>
                    <a:srgbClr val="000000"/>
                  </a:solidFill>
                  <a:latin typeface="Times"/>
                  <a:ea typeface="Times"/>
                  <a:cs typeface="Times"/>
                  <a:sym typeface="Times"/>
                </a:rPr>
                <a:t>Package</a:t>
              </a:r>
              <a:endParaRPr dirty="0"/>
            </a:p>
          </p:txBody>
        </p:sp>
      </p:grpSp>
      <p:sp>
        <p:nvSpPr>
          <p:cNvPr id="173" name="Google Shape;173;p8"/>
          <p:cNvSpPr txBox="1"/>
          <p:nvPr/>
        </p:nvSpPr>
        <p:spPr>
          <a:xfrm>
            <a:off x="1028700" y="3252930"/>
            <a:ext cx="9349838" cy="3333882"/>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600" b="1" dirty="0">
                <a:solidFill>
                  <a:srgbClr val="000000"/>
                </a:solidFill>
                <a:latin typeface="Arial"/>
                <a:ea typeface="Arial"/>
                <a:cs typeface="Arial"/>
                <a:sym typeface="Arial"/>
              </a:rPr>
              <a:t>Structure of a PL/SQL Package</a:t>
            </a:r>
            <a:endParaRPr dirty="0"/>
          </a:p>
          <a:p>
            <a:pPr marL="0" marR="0" lvl="0" indent="0" algn="just" rtl="0">
              <a:lnSpc>
                <a:spcPct val="120027"/>
              </a:lnSpc>
              <a:spcBef>
                <a:spcPts val="0"/>
              </a:spcBef>
              <a:spcAft>
                <a:spcPts val="0"/>
              </a:spcAft>
              <a:buNone/>
            </a:pPr>
            <a:r>
              <a:rPr lang="en-US" sz="3600" dirty="0">
                <a:solidFill>
                  <a:srgbClr val="000000"/>
                </a:solidFill>
                <a:latin typeface="Arial"/>
                <a:ea typeface="Arial"/>
                <a:cs typeface="Arial"/>
                <a:sym typeface="Arial"/>
              </a:rPr>
              <a:t>A PL/SQL package consists of two parts:</a:t>
            </a:r>
            <a:endParaRPr dirty="0"/>
          </a:p>
          <a:p>
            <a:pPr marL="777462" marR="0" lvl="1" indent="-388730" algn="just" rtl="0">
              <a:lnSpc>
                <a:spcPct val="120027"/>
              </a:lnSpc>
              <a:spcBef>
                <a:spcPts val="0"/>
              </a:spcBef>
              <a:spcAft>
                <a:spcPts val="0"/>
              </a:spcAft>
              <a:buClr>
                <a:srgbClr val="000000"/>
              </a:buClr>
              <a:buSzPts val="3600"/>
              <a:buFont typeface="Arial"/>
              <a:buChar char="•"/>
            </a:pPr>
            <a:r>
              <a:rPr lang="en-US" sz="3600" b="0" i="0" u="none" strike="noStrike" cap="none" dirty="0">
                <a:solidFill>
                  <a:srgbClr val="000000"/>
                </a:solidFill>
                <a:latin typeface="Arial"/>
                <a:ea typeface="Arial"/>
                <a:cs typeface="Arial"/>
                <a:sym typeface="Arial"/>
              </a:rPr>
              <a:t>A package Specification</a:t>
            </a:r>
            <a:endParaRPr dirty="0"/>
          </a:p>
          <a:p>
            <a:pPr marL="777462" marR="0" lvl="1" indent="-388730" algn="just" rtl="0">
              <a:lnSpc>
                <a:spcPct val="120027"/>
              </a:lnSpc>
              <a:spcBef>
                <a:spcPts val="0"/>
              </a:spcBef>
              <a:spcAft>
                <a:spcPts val="0"/>
              </a:spcAft>
              <a:buClr>
                <a:srgbClr val="000000"/>
              </a:buClr>
              <a:buSzPts val="3600"/>
              <a:buFont typeface="Arial"/>
              <a:buChar char="•"/>
            </a:pPr>
            <a:r>
              <a:rPr lang="en-US" sz="3600" b="0" i="0" u="none" strike="noStrike" cap="none" dirty="0">
                <a:solidFill>
                  <a:srgbClr val="000000"/>
                </a:solidFill>
                <a:latin typeface="Arial"/>
                <a:ea typeface="Arial"/>
                <a:cs typeface="Arial"/>
                <a:sym typeface="Arial"/>
              </a:rPr>
              <a:t>A package Body</a:t>
            </a:r>
            <a:endParaRPr dirty="0"/>
          </a:p>
          <a:p>
            <a:pPr marL="0" marR="0" lvl="0" indent="0" algn="just" rtl="0">
              <a:lnSpc>
                <a:spcPct val="119994"/>
              </a:lnSpc>
              <a:spcBef>
                <a:spcPts val="0"/>
              </a:spcBef>
              <a:spcAft>
                <a:spcPts val="0"/>
              </a:spcAft>
              <a:buNone/>
            </a:pPr>
            <a:endParaRPr sz="3600" dirty="0">
              <a:solidFill>
                <a:srgbClr val="000000"/>
              </a:solidFill>
              <a:latin typeface="Arial"/>
              <a:ea typeface="Arial"/>
              <a:cs typeface="Arial"/>
              <a:sym typeface="Arial"/>
            </a:endParaRPr>
          </a:p>
          <a:p>
            <a:pPr marL="0" marR="0" lvl="0" indent="0" algn="just" rtl="0">
              <a:lnSpc>
                <a:spcPct val="119994"/>
              </a:lnSpc>
              <a:spcBef>
                <a:spcPts val="0"/>
              </a:spcBef>
              <a:spcAft>
                <a:spcPts val="0"/>
              </a:spcAft>
              <a:buNone/>
            </a:pPr>
            <a:endParaRPr sz="3600" dirty="0">
              <a:solidFill>
                <a:srgbClr val="000000"/>
              </a:solidFill>
              <a:latin typeface="Arial"/>
              <a:ea typeface="Arial"/>
              <a:cs typeface="Arial"/>
              <a:sym typeface="Arial"/>
            </a:endParaRPr>
          </a:p>
        </p:txBody>
      </p:sp>
      <p:sp>
        <p:nvSpPr>
          <p:cNvPr id="174" name="Google Shape;174;p8"/>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sp>
        <p:nvSpPr>
          <p:cNvPr id="175" name="Google Shape;175;p8"/>
          <p:cNvSpPr txBox="1"/>
          <p:nvPr/>
        </p:nvSpPr>
        <p:spPr>
          <a:xfrm>
            <a:off x="1028700" y="2454510"/>
            <a:ext cx="5364537" cy="642008"/>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4000" b="1">
                <a:solidFill>
                  <a:srgbClr val="000000"/>
                </a:solidFill>
                <a:latin typeface="Arial"/>
                <a:ea typeface="Arial"/>
                <a:cs typeface="Arial"/>
                <a:sym typeface="Arial"/>
              </a:rPr>
              <a:t>Developing a Package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81" name="Google Shape;181;p9"/>
          <p:cNvSpPr/>
          <p:nvPr/>
        </p:nvSpPr>
        <p:spPr>
          <a:xfrm>
            <a:off x="1028700" y="6665073"/>
            <a:ext cx="11301259" cy="2901781"/>
          </a:xfrm>
          <a:custGeom>
            <a:avLst/>
            <a:gdLst/>
            <a:ahLst/>
            <a:cxnLst/>
            <a:rect l="l" t="t" r="r" b="b"/>
            <a:pathLst>
              <a:path w="11301259" h="2901781" extrusionOk="0">
                <a:moveTo>
                  <a:pt x="0" y="0"/>
                </a:moveTo>
                <a:lnTo>
                  <a:pt x="11301259" y="0"/>
                </a:lnTo>
                <a:lnTo>
                  <a:pt x="11301259" y="2901782"/>
                </a:lnTo>
                <a:lnTo>
                  <a:pt x="0" y="2901782"/>
                </a:lnTo>
                <a:lnTo>
                  <a:pt x="0" y="0"/>
                </a:lnTo>
                <a:close/>
              </a:path>
            </a:pathLst>
          </a:custGeom>
          <a:blipFill rotWithShape="1">
            <a:blip r:embed="rId4">
              <a:alphaModFix/>
            </a:blip>
            <a:stretch>
              <a:fillRect r="-2704"/>
            </a:stretch>
          </a:blipFill>
          <a:ln>
            <a:noFill/>
          </a:ln>
        </p:spPr>
      </p:sp>
      <p:sp>
        <p:nvSpPr>
          <p:cNvPr id="182" name="Google Shape;182;p9"/>
          <p:cNvSpPr txBox="1"/>
          <p:nvPr/>
        </p:nvSpPr>
        <p:spPr>
          <a:xfrm>
            <a:off x="803715" y="2247585"/>
            <a:ext cx="9349838" cy="619147"/>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600" b="1">
                <a:solidFill>
                  <a:srgbClr val="000000"/>
                </a:solidFill>
                <a:latin typeface="Arial"/>
                <a:ea typeface="Arial"/>
                <a:cs typeface="Arial"/>
                <a:sym typeface="Arial"/>
              </a:rPr>
              <a:t>1. Package Specification</a:t>
            </a:r>
            <a:endParaRPr/>
          </a:p>
        </p:txBody>
      </p:sp>
      <p:sp>
        <p:nvSpPr>
          <p:cNvPr id="183" name="Google Shape;183;p9"/>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sp>
        <p:nvSpPr>
          <p:cNvPr id="184" name="Google Shape;184;p9"/>
          <p:cNvSpPr txBox="1"/>
          <p:nvPr/>
        </p:nvSpPr>
        <p:spPr>
          <a:xfrm>
            <a:off x="1028700" y="3151022"/>
            <a:ext cx="16722643" cy="2997824"/>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The package specification declares the public interface of the package. It includes declarations of procedures, functions, variables, cursors, and other constructs that are meant to be accessible from outside the package. The specification is like a header file that defines what a package can do.</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Example of Package Specification:</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90" name="Google Shape;190;p10"/>
          <p:cNvSpPr/>
          <p:nvPr/>
        </p:nvSpPr>
        <p:spPr>
          <a:xfrm>
            <a:off x="7465003" y="4947557"/>
            <a:ext cx="10042068" cy="5036658"/>
          </a:xfrm>
          <a:custGeom>
            <a:avLst/>
            <a:gdLst/>
            <a:ahLst/>
            <a:cxnLst/>
            <a:rect l="l" t="t" r="r" b="b"/>
            <a:pathLst>
              <a:path w="10042068" h="5472927" extrusionOk="0">
                <a:moveTo>
                  <a:pt x="0" y="0"/>
                </a:moveTo>
                <a:lnTo>
                  <a:pt x="10042068" y="0"/>
                </a:lnTo>
                <a:lnTo>
                  <a:pt x="10042068" y="5472927"/>
                </a:lnTo>
                <a:lnTo>
                  <a:pt x="0" y="5472927"/>
                </a:lnTo>
                <a:lnTo>
                  <a:pt x="0" y="0"/>
                </a:lnTo>
                <a:close/>
              </a:path>
            </a:pathLst>
          </a:custGeom>
          <a:blipFill rotWithShape="1">
            <a:blip r:embed="rId4">
              <a:alphaModFix/>
            </a:blip>
            <a:stretch>
              <a:fillRect/>
            </a:stretch>
          </a:blipFill>
          <a:ln>
            <a:noFill/>
          </a:ln>
        </p:spPr>
      </p:sp>
      <p:sp>
        <p:nvSpPr>
          <p:cNvPr id="191" name="Google Shape;191;p10"/>
          <p:cNvSpPr txBox="1"/>
          <p:nvPr/>
        </p:nvSpPr>
        <p:spPr>
          <a:xfrm>
            <a:off x="803715" y="2247585"/>
            <a:ext cx="9349838" cy="619147"/>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600" b="1">
                <a:solidFill>
                  <a:srgbClr val="000000"/>
                </a:solidFill>
                <a:latin typeface="Arial"/>
                <a:ea typeface="Arial"/>
                <a:cs typeface="Arial"/>
                <a:sym typeface="Arial"/>
              </a:rPr>
              <a:t>2. Package Body</a:t>
            </a:r>
            <a:endParaRPr/>
          </a:p>
        </p:txBody>
      </p:sp>
      <p:sp>
        <p:nvSpPr>
          <p:cNvPr id="192" name="Google Shape;192;p10"/>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sp>
        <p:nvSpPr>
          <p:cNvPr id="193" name="Google Shape;193;p10"/>
          <p:cNvSpPr txBox="1"/>
          <p:nvPr/>
        </p:nvSpPr>
        <p:spPr>
          <a:xfrm>
            <a:off x="1028700" y="2998088"/>
            <a:ext cx="16722643" cy="2997824"/>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The package body contains the implementation of the details of the package. It includes the coding of the procedures or functions which are </a:t>
            </a:r>
            <a:r>
              <a:rPr lang="en-US" sz="3599" dirty="0" err="1">
                <a:solidFill>
                  <a:srgbClr val="000000"/>
                </a:solidFill>
                <a:latin typeface="Times New Roman"/>
                <a:ea typeface="Times New Roman"/>
                <a:cs typeface="Times New Roman"/>
                <a:sym typeface="Times New Roman"/>
              </a:rPr>
              <a:t>decalared</a:t>
            </a:r>
            <a:r>
              <a:rPr lang="en-US" sz="3599" dirty="0">
                <a:solidFill>
                  <a:srgbClr val="000000"/>
                </a:solidFill>
                <a:latin typeface="Times New Roman"/>
                <a:ea typeface="Times New Roman"/>
                <a:cs typeface="Times New Roman"/>
                <a:sym typeface="Times New Roman"/>
              </a:rPr>
              <a:t> in the package specification. The body can also contain private variables and procedures that are not exposed to outside the code.</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Example of Package Body:</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199" name="Google Shape;199;p11"/>
          <p:cNvSpPr txBox="1"/>
          <p:nvPr/>
        </p:nvSpPr>
        <p:spPr>
          <a:xfrm>
            <a:off x="1828799" y="2247585"/>
            <a:ext cx="8324753" cy="664797"/>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600" b="1" dirty="0">
                <a:solidFill>
                  <a:srgbClr val="000000"/>
                </a:solidFill>
                <a:latin typeface="Arial"/>
                <a:ea typeface="Arial"/>
                <a:cs typeface="Arial"/>
                <a:sym typeface="Arial"/>
              </a:rPr>
              <a:t>Bodiless Package</a:t>
            </a:r>
            <a:endParaRPr dirty="0"/>
          </a:p>
        </p:txBody>
      </p:sp>
      <p:sp>
        <p:nvSpPr>
          <p:cNvPr id="200" name="Google Shape;200;p11"/>
          <p:cNvSpPr txBox="1"/>
          <p:nvPr/>
        </p:nvSpPr>
        <p:spPr>
          <a:xfrm>
            <a:off x="1534881" y="585224"/>
            <a:ext cx="12235500"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sp>
        <p:nvSpPr>
          <p:cNvPr id="201" name="Google Shape;201;p11"/>
          <p:cNvSpPr txBox="1"/>
          <p:nvPr/>
        </p:nvSpPr>
        <p:spPr>
          <a:xfrm>
            <a:off x="1828800" y="2945845"/>
            <a:ext cx="15697558" cy="2127249"/>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dirty="0">
                <a:solidFill>
                  <a:srgbClr val="000000"/>
                </a:solidFill>
                <a:latin typeface="Times New Roman"/>
                <a:ea typeface="Times New Roman"/>
                <a:cs typeface="Times New Roman"/>
                <a:sym typeface="Times New Roman"/>
              </a:rPr>
              <a:t>A bodiless package in PL/SQL refers to a package that does not require a package body. In such cases, only the package specification is created, and it contains all the declarations of variables, constants, cursors, or subprograms. However, the package body is omitted because no implementation is required.</a:t>
            </a:r>
            <a:endParaRPr sz="1200" dirty="0"/>
          </a:p>
        </p:txBody>
      </p:sp>
      <p:sp>
        <p:nvSpPr>
          <p:cNvPr id="202" name="Google Shape;202;p11"/>
          <p:cNvSpPr txBox="1"/>
          <p:nvPr/>
        </p:nvSpPr>
        <p:spPr>
          <a:xfrm>
            <a:off x="1828799" y="5186298"/>
            <a:ext cx="8324754" cy="590931"/>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200" b="1" dirty="0">
                <a:solidFill>
                  <a:srgbClr val="000000"/>
                </a:solidFill>
                <a:latin typeface="Arial"/>
                <a:ea typeface="Arial"/>
                <a:cs typeface="Arial"/>
                <a:sym typeface="Arial"/>
              </a:rPr>
              <a:t>When to Use Bodiless Packages?</a:t>
            </a:r>
            <a:endParaRPr sz="1200" dirty="0"/>
          </a:p>
        </p:txBody>
      </p:sp>
      <p:sp>
        <p:nvSpPr>
          <p:cNvPr id="203" name="Google Shape;203;p11"/>
          <p:cNvSpPr txBox="1"/>
          <p:nvPr/>
        </p:nvSpPr>
        <p:spPr>
          <a:xfrm>
            <a:off x="1728008" y="5903676"/>
            <a:ext cx="15697558" cy="3190874"/>
          </a:xfrm>
          <a:prstGeom prst="rect">
            <a:avLst/>
          </a:prstGeom>
          <a:noFill/>
          <a:ln>
            <a:noFill/>
          </a:ln>
        </p:spPr>
        <p:txBody>
          <a:bodyPr spcFirstLastPara="1" wrap="square" lIns="0" tIns="0" rIns="0" bIns="0" anchor="t" anchorCtr="0">
            <a:spAutoFit/>
          </a:bodyPr>
          <a:lstStyle/>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Public Declarations Only: If the package contains only public variables, constants, or cursors and does not need any subprogram implementation.</a:t>
            </a:r>
            <a:endParaRPr sz="1200" dirty="0"/>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Forward Declarations: When subprograms (procedures/functions) are declared but implemented elsewhere (e.g., standalone procedures or functions).</a:t>
            </a:r>
            <a:endParaRPr sz="1200" dirty="0"/>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3200" b="0" i="0" u="none" strike="noStrike" cap="none" dirty="0">
                <a:solidFill>
                  <a:srgbClr val="000000"/>
                </a:solidFill>
                <a:latin typeface="Times New Roman"/>
                <a:ea typeface="Times New Roman"/>
                <a:cs typeface="Times New Roman"/>
                <a:sym typeface="Times New Roman"/>
              </a:rPr>
              <a:t>Minimal Complexity: If the package is used as a simple interface to expose global variables or cursors.</a:t>
            </a:r>
            <a:endParaRPr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1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txBody>
          <a:bodyPr/>
          <a:lstStyle/>
          <a:p>
            <a:endParaRPr lang="en-IN" dirty="0"/>
          </a:p>
        </p:txBody>
      </p:sp>
      <p:sp>
        <p:nvSpPr>
          <p:cNvPr id="209" name="Google Shape;209;p12"/>
          <p:cNvSpPr/>
          <p:nvPr/>
        </p:nvSpPr>
        <p:spPr>
          <a:xfrm>
            <a:off x="4067107" y="2661557"/>
            <a:ext cx="10379348" cy="7058314"/>
          </a:xfrm>
          <a:custGeom>
            <a:avLst/>
            <a:gdLst/>
            <a:ahLst/>
            <a:cxnLst/>
            <a:rect l="l" t="t" r="r" b="b"/>
            <a:pathLst>
              <a:path w="10379348" h="7196876" extrusionOk="0">
                <a:moveTo>
                  <a:pt x="0" y="0"/>
                </a:moveTo>
                <a:lnTo>
                  <a:pt x="10379348" y="0"/>
                </a:lnTo>
                <a:lnTo>
                  <a:pt x="10379348" y="7196876"/>
                </a:lnTo>
                <a:lnTo>
                  <a:pt x="0" y="7196876"/>
                </a:lnTo>
                <a:lnTo>
                  <a:pt x="0" y="0"/>
                </a:lnTo>
                <a:close/>
              </a:path>
            </a:pathLst>
          </a:custGeom>
          <a:blipFill rotWithShape="1">
            <a:blip r:embed="rId4">
              <a:alphaModFix/>
            </a:blip>
            <a:stretch>
              <a:fillRect t="-1963" b="-1"/>
            </a:stretch>
          </a:blipFill>
          <a:ln>
            <a:noFill/>
          </a:ln>
        </p:spPr>
        <p:txBody>
          <a:bodyPr/>
          <a:lstStyle/>
          <a:p>
            <a:endParaRPr lang="en-IN" dirty="0"/>
          </a:p>
        </p:txBody>
      </p:sp>
      <p:grpSp>
        <p:nvGrpSpPr>
          <p:cNvPr id="210" name="Google Shape;210;p12"/>
          <p:cNvGrpSpPr/>
          <p:nvPr/>
        </p:nvGrpSpPr>
        <p:grpSpPr>
          <a:xfrm>
            <a:off x="12172186" y="2830567"/>
            <a:ext cx="2274269" cy="2312933"/>
            <a:chOff x="0" y="-9525"/>
            <a:chExt cx="598984" cy="609168"/>
          </a:xfrm>
        </p:grpSpPr>
        <p:sp>
          <p:nvSpPr>
            <p:cNvPr id="211" name="Google Shape;211;p12"/>
            <p:cNvSpPr/>
            <p:nvPr/>
          </p:nvSpPr>
          <p:spPr>
            <a:xfrm>
              <a:off x="0" y="0"/>
              <a:ext cx="598984" cy="599643"/>
            </a:xfrm>
            <a:custGeom>
              <a:avLst/>
              <a:gdLst/>
              <a:ahLst/>
              <a:cxnLst/>
              <a:rect l="l" t="t" r="r" b="b"/>
              <a:pathLst>
                <a:path w="598984" h="599643" extrusionOk="0">
                  <a:moveTo>
                    <a:pt x="0" y="0"/>
                  </a:moveTo>
                  <a:lnTo>
                    <a:pt x="598984" y="0"/>
                  </a:lnTo>
                  <a:lnTo>
                    <a:pt x="598984" y="599643"/>
                  </a:lnTo>
                  <a:lnTo>
                    <a:pt x="0" y="599643"/>
                  </a:lnTo>
                  <a:close/>
                </a:path>
              </a:pathLst>
            </a:custGeom>
            <a:solidFill>
              <a:srgbClr val="F9F9F9"/>
            </a:solidFill>
            <a:ln>
              <a:noFill/>
            </a:ln>
          </p:spPr>
        </p:sp>
        <p:sp>
          <p:nvSpPr>
            <p:cNvPr id="212" name="Google Shape;212;p12"/>
            <p:cNvSpPr txBox="1"/>
            <p:nvPr/>
          </p:nvSpPr>
          <p:spPr>
            <a:xfrm>
              <a:off x="0" y="-9525"/>
              <a:ext cx="598984" cy="609168"/>
            </a:xfrm>
            <a:prstGeom prst="rect">
              <a:avLst/>
            </a:prstGeom>
            <a:noFill/>
            <a:ln>
              <a:noFill/>
            </a:ln>
          </p:spPr>
          <p:txBody>
            <a:bodyPr spcFirstLastPara="1" wrap="square" lIns="50800" tIns="50800" rIns="50800" bIns="50800" anchor="ctr" anchorCtr="0">
              <a:noAutofit/>
            </a:bodyPr>
            <a:lstStyle/>
            <a:p>
              <a:pPr marL="0" marR="0" lvl="0" indent="0" algn="ctr" rtl="0">
                <a:lnSpc>
                  <a:spcPct val="93888"/>
                </a:lnSpc>
                <a:spcBef>
                  <a:spcPts val="0"/>
                </a:spcBef>
                <a:spcAft>
                  <a:spcPts val="0"/>
                </a:spcAft>
                <a:buNone/>
              </a:pPr>
              <a:endParaRPr sz="1800">
                <a:solidFill>
                  <a:schemeClr val="dk1"/>
                </a:solidFill>
                <a:latin typeface="Calibri"/>
                <a:ea typeface="Calibri"/>
                <a:cs typeface="Calibri"/>
                <a:sym typeface="Calibri"/>
              </a:endParaRPr>
            </a:p>
          </p:txBody>
        </p:sp>
      </p:grpSp>
      <p:sp>
        <p:nvSpPr>
          <p:cNvPr id="213" name="Google Shape;213;p12"/>
          <p:cNvSpPr txBox="1"/>
          <p:nvPr/>
        </p:nvSpPr>
        <p:spPr>
          <a:xfrm>
            <a:off x="1473186" y="1776427"/>
            <a:ext cx="9349838" cy="619147"/>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600" b="1" dirty="0">
                <a:solidFill>
                  <a:srgbClr val="000000"/>
                </a:solidFill>
                <a:latin typeface="Arial"/>
                <a:ea typeface="Arial"/>
                <a:cs typeface="Arial"/>
                <a:sym typeface="Arial"/>
              </a:rPr>
              <a:t>Syntax of a Bodiless Package</a:t>
            </a:r>
            <a:endParaRPr dirty="0"/>
          </a:p>
        </p:txBody>
      </p:sp>
      <p:sp>
        <p:nvSpPr>
          <p:cNvPr id="214" name="Google Shape;214;p12"/>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grpSp>
        <p:nvGrpSpPr>
          <p:cNvPr id="215" name="Google Shape;215;p12"/>
          <p:cNvGrpSpPr/>
          <p:nvPr/>
        </p:nvGrpSpPr>
        <p:grpSpPr>
          <a:xfrm>
            <a:off x="8119647" y="9222135"/>
            <a:ext cx="2274269" cy="841473"/>
            <a:chOff x="0" y="-9525"/>
            <a:chExt cx="598984" cy="221622"/>
          </a:xfrm>
        </p:grpSpPr>
        <p:sp>
          <p:nvSpPr>
            <p:cNvPr id="216" name="Google Shape;216;p12"/>
            <p:cNvSpPr/>
            <p:nvPr/>
          </p:nvSpPr>
          <p:spPr>
            <a:xfrm>
              <a:off x="0" y="0"/>
              <a:ext cx="598984" cy="212097"/>
            </a:xfrm>
            <a:custGeom>
              <a:avLst/>
              <a:gdLst/>
              <a:ahLst/>
              <a:cxnLst/>
              <a:rect l="l" t="t" r="r" b="b"/>
              <a:pathLst>
                <a:path w="598984" h="212097" extrusionOk="0">
                  <a:moveTo>
                    <a:pt x="0" y="0"/>
                  </a:moveTo>
                  <a:lnTo>
                    <a:pt x="598984" y="0"/>
                  </a:lnTo>
                  <a:lnTo>
                    <a:pt x="598984" y="212097"/>
                  </a:lnTo>
                  <a:lnTo>
                    <a:pt x="0" y="212097"/>
                  </a:lnTo>
                  <a:close/>
                </a:path>
              </a:pathLst>
            </a:custGeom>
            <a:solidFill>
              <a:srgbClr val="F9F9F9"/>
            </a:solidFill>
            <a:ln>
              <a:noFill/>
            </a:ln>
          </p:spPr>
        </p:sp>
        <p:sp>
          <p:nvSpPr>
            <p:cNvPr id="217" name="Google Shape;217;p12"/>
            <p:cNvSpPr txBox="1"/>
            <p:nvPr/>
          </p:nvSpPr>
          <p:spPr>
            <a:xfrm>
              <a:off x="0" y="-9525"/>
              <a:ext cx="598984" cy="221622"/>
            </a:xfrm>
            <a:prstGeom prst="rect">
              <a:avLst/>
            </a:prstGeom>
            <a:noFill/>
            <a:ln>
              <a:noFill/>
            </a:ln>
          </p:spPr>
          <p:txBody>
            <a:bodyPr spcFirstLastPara="1" wrap="square" lIns="50800" tIns="50800" rIns="50800" bIns="50800" anchor="ctr" anchorCtr="0">
              <a:noAutofit/>
            </a:bodyPr>
            <a:lstStyle/>
            <a:p>
              <a:pPr marL="0" marR="0" lvl="0" indent="0" algn="ctr" rtl="0">
                <a:lnSpc>
                  <a:spcPct val="93888"/>
                </a:lnSpc>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23" name="Google Shape;223;p13"/>
          <p:cNvSpPr txBox="1"/>
          <p:nvPr/>
        </p:nvSpPr>
        <p:spPr>
          <a:xfrm>
            <a:off x="1028700" y="1770131"/>
            <a:ext cx="9349838" cy="664797"/>
          </a:xfrm>
          <a:prstGeom prst="rect">
            <a:avLst/>
          </a:prstGeom>
          <a:noFill/>
          <a:ln>
            <a:noFill/>
          </a:ln>
        </p:spPr>
        <p:txBody>
          <a:bodyPr spcFirstLastPara="1" wrap="square" lIns="0" tIns="0" rIns="0" bIns="0" anchor="t" anchorCtr="0">
            <a:spAutoFit/>
          </a:bodyPr>
          <a:lstStyle/>
          <a:p>
            <a:pPr marL="0" marR="0" lvl="0" indent="0" algn="ctr" rtl="0">
              <a:lnSpc>
                <a:spcPct val="120027"/>
              </a:lnSpc>
              <a:spcBef>
                <a:spcPts val="0"/>
              </a:spcBef>
              <a:spcAft>
                <a:spcPts val="0"/>
              </a:spcAft>
              <a:buNone/>
            </a:pPr>
            <a:r>
              <a:rPr lang="en-US" sz="3600" b="1" dirty="0">
                <a:solidFill>
                  <a:srgbClr val="000000"/>
                </a:solidFill>
                <a:latin typeface="Arial"/>
                <a:ea typeface="Arial"/>
                <a:cs typeface="Arial"/>
                <a:sym typeface="Arial"/>
              </a:rPr>
              <a:t>Example of a Bodiless Package</a:t>
            </a:r>
            <a:endParaRPr dirty="0"/>
          </a:p>
        </p:txBody>
      </p:sp>
      <p:sp>
        <p:nvSpPr>
          <p:cNvPr id="224" name="Google Shape;224;p13"/>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grpSp>
        <p:nvGrpSpPr>
          <p:cNvPr id="225" name="Google Shape;225;p13"/>
          <p:cNvGrpSpPr/>
          <p:nvPr/>
        </p:nvGrpSpPr>
        <p:grpSpPr>
          <a:xfrm>
            <a:off x="3481190" y="2589303"/>
            <a:ext cx="9651174" cy="6162811"/>
            <a:chOff x="0" y="0"/>
            <a:chExt cx="12868233" cy="10027749"/>
          </a:xfrm>
        </p:grpSpPr>
        <p:sp>
          <p:nvSpPr>
            <p:cNvPr id="226" name="Google Shape;226;p13"/>
            <p:cNvSpPr/>
            <p:nvPr/>
          </p:nvSpPr>
          <p:spPr>
            <a:xfrm>
              <a:off x="0" y="0"/>
              <a:ext cx="12868233" cy="8544001"/>
            </a:xfrm>
            <a:custGeom>
              <a:avLst/>
              <a:gdLst/>
              <a:ahLst/>
              <a:cxnLst/>
              <a:rect l="l" t="t" r="r" b="b"/>
              <a:pathLst>
                <a:path w="12868233" h="10027749" extrusionOk="0">
                  <a:moveTo>
                    <a:pt x="0" y="0"/>
                  </a:moveTo>
                  <a:lnTo>
                    <a:pt x="12868233" y="0"/>
                  </a:lnTo>
                  <a:lnTo>
                    <a:pt x="12868233" y="10027749"/>
                  </a:lnTo>
                  <a:lnTo>
                    <a:pt x="0" y="10027749"/>
                  </a:lnTo>
                  <a:lnTo>
                    <a:pt x="0" y="0"/>
                  </a:lnTo>
                  <a:close/>
                </a:path>
              </a:pathLst>
            </a:custGeom>
            <a:blipFill rotWithShape="1">
              <a:blip r:embed="rId4">
                <a:alphaModFix/>
              </a:blip>
              <a:stretch>
                <a:fillRect t="-1931" b="-1930"/>
              </a:stretch>
            </a:blipFill>
            <a:ln>
              <a:noFill/>
            </a:ln>
          </p:spPr>
          <p:txBody>
            <a:bodyPr/>
            <a:lstStyle/>
            <a:p>
              <a:endParaRPr lang="en-IN" dirty="0"/>
            </a:p>
          </p:txBody>
        </p:sp>
        <p:grpSp>
          <p:nvGrpSpPr>
            <p:cNvPr id="227" name="Google Shape;227;p13"/>
            <p:cNvGrpSpPr/>
            <p:nvPr/>
          </p:nvGrpSpPr>
          <p:grpSpPr>
            <a:xfrm>
              <a:off x="5933573" y="8905785"/>
              <a:ext cx="3149566" cy="1121964"/>
              <a:chOff x="0" y="-9525"/>
              <a:chExt cx="622137" cy="221622"/>
            </a:xfrm>
          </p:grpSpPr>
          <p:sp>
            <p:nvSpPr>
              <p:cNvPr id="228" name="Google Shape;228;p13"/>
              <p:cNvSpPr/>
              <p:nvPr/>
            </p:nvSpPr>
            <p:spPr>
              <a:xfrm>
                <a:off x="0" y="0"/>
                <a:ext cx="622137" cy="212097"/>
              </a:xfrm>
              <a:custGeom>
                <a:avLst/>
                <a:gdLst/>
                <a:ahLst/>
                <a:cxnLst/>
                <a:rect l="l" t="t" r="r" b="b"/>
                <a:pathLst>
                  <a:path w="622137" h="212097" extrusionOk="0">
                    <a:moveTo>
                      <a:pt x="0" y="0"/>
                    </a:moveTo>
                    <a:lnTo>
                      <a:pt x="622137" y="0"/>
                    </a:lnTo>
                    <a:lnTo>
                      <a:pt x="622137" y="212097"/>
                    </a:lnTo>
                    <a:lnTo>
                      <a:pt x="0" y="212097"/>
                    </a:lnTo>
                    <a:close/>
                  </a:path>
                </a:pathLst>
              </a:custGeom>
              <a:solidFill>
                <a:srgbClr val="F9F9F9"/>
              </a:solidFill>
              <a:ln>
                <a:noFill/>
              </a:ln>
            </p:spPr>
          </p:sp>
          <p:sp>
            <p:nvSpPr>
              <p:cNvPr id="229" name="Google Shape;229;p13"/>
              <p:cNvSpPr txBox="1"/>
              <p:nvPr/>
            </p:nvSpPr>
            <p:spPr>
              <a:xfrm>
                <a:off x="0" y="-9525"/>
                <a:ext cx="622137" cy="221622"/>
              </a:xfrm>
              <a:prstGeom prst="rect">
                <a:avLst/>
              </a:prstGeom>
              <a:noFill/>
              <a:ln>
                <a:noFill/>
              </a:ln>
            </p:spPr>
            <p:txBody>
              <a:bodyPr spcFirstLastPara="1" wrap="square" lIns="50800" tIns="50800" rIns="50800" bIns="50800" anchor="ctr" anchorCtr="0">
                <a:noAutofit/>
              </a:bodyPr>
              <a:lstStyle/>
              <a:p>
                <a:pPr marL="0" marR="0" lvl="0" indent="0" algn="ctr" rtl="0">
                  <a:lnSpc>
                    <a:spcPct val="93888"/>
                  </a:lnSpc>
                  <a:spcBef>
                    <a:spcPts val="0"/>
                  </a:spcBef>
                  <a:spcAft>
                    <a:spcPts val="0"/>
                  </a:spcAft>
                  <a:buNone/>
                </a:pPr>
                <a:endParaRPr sz="1800">
                  <a:solidFill>
                    <a:schemeClr val="dk1"/>
                  </a:solidFill>
                  <a:latin typeface="Calibri"/>
                  <a:ea typeface="Calibri"/>
                  <a:cs typeface="Calibri"/>
                  <a:sym typeface="Calibri"/>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35" name="Google Shape;235;p14"/>
          <p:cNvSpPr txBox="1"/>
          <p:nvPr/>
        </p:nvSpPr>
        <p:spPr>
          <a:xfrm>
            <a:off x="1469572" y="1593734"/>
            <a:ext cx="9349838" cy="590931"/>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200" b="1" dirty="0">
                <a:solidFill>
                  <a:srgbClr val="000000"/>
                </a:solidFill>
                <a:latin typeface="Arial"/>
                <a:ea typeface="Arial"/>
                <a:cs typeface="Arial"/>
                <a:sym typeface="Arial"/>
              </a:rPr>
              <a:t>Advantages of Bodiless Packages</a:t>
            </a:r>
            <a:endParaRPr sz="1200" dirty="0"/>
          </a:p>
        </p:txBody>
      </p:sp>
      <p:sp>
        <p:nvSpPr>
          <p:cNvPr id="236" name="Google Shape;236;p14"/>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Package</a:t>
            </a:r>
            <a:endParaRPr dirty="0"/>
          </a:p>
        </p:txBody>
      </p:sp>
      <p:grpSp>
        <p:nvGrpSpPr>
          <p:cNvPr id="237" name="Google Shape;237;p14"/>
          <p:cNvGrpSpPr/>
          <p:nvPr/>
        </p:nvGrpSpPr>
        <p:grpSpPr>
          <a:xfrm>
            <a:off x="7931370" y="9268642"/>
            <a:ext cx="2362175" cy="841473"/>
            <a:chOff x="0" y="-9525"/>
            <a:chExt cx="622137" cy="221622"/>
          </a:xfrm>
        </p:grpSpPr>
        <p:sp>
          <p:nvSpPr>
            <p:cNvPr id="238" name="Google Shape;238;p14"/>
            <p:cNvSpPr/>
            <p:nvPr/>
          </p:nvSpPr>
          <p:spPr>
            <a:xfrm>
              <a:off x="0" y="0"/>
              <a:ext cx="622137" cy="212097"/>
            </a:xfrm>
            <a:custGeom>
              <a:avLst/>
              <a:gdLst/>
              <a:ahLst/>
              <a:cxnLst/>
              <a:rect l="l" t="t" r="r" b="b"/>
              <a:pathLst>
                <a:path w="622137" h="212097" extrusionOk="0">
                  <a:moveTo>
                    <a:pt x="0" y="0"/>
                  </a:moveTo>
                  <a:lnTo>
                    <a:pt x="622137" y="0"/>
                  </a:lnTo>
                  <a:lnTo>
                    <a:pt x="622137" y="212097"/>
                  </a:lnTo>
                  <a:lnTo>
                    <a:pt x="0" y="212097"/>
                  </a:lnTo>
                  <a:close/>
                </a:path>
              </a:pathLst>
            </a:custGeom>
            <a:solidFill>
              <a:srgbClr val="F9F9F9"/>
            </a:solidFill>
            <a:ln>
              <a:noFill/>
            </a:ln>
          </p:spPr>
        </p:sp>
        <p:sp>
          <p:nvSpPr>
            <p:cNvPr id="239" name="Google Shape;239;p14"/>
            <p:cNvSpPr txBox="1"/>
            <p:nvPr/>
          </p:nvSpPr>
          <p:spPr>
            <a:xfrm>
              <a:off x="0" y="-9525"/>
              <a:ext cx="622137" cy="221622"/>
            </a:xfrm>
            <a:prstGeom prst="rect">
              <a:avLst/>
            </a:prstGeom>
            <a:noFill/>
            <a:ln>
              <a:noFill/>
            </a:ln>
          </p:spPr>
          <p:txBody>
            <a:bodyPr spcFirstLastPara="1" wrap="square" lIns="50800" tIns="50800" rIns="50800" bIns="50800" anchor="ctr" anchorCtr="0">
              <a:noAutofit/>
            </a:bodyPr>
            <a:lstStyle/>
            <a:p>
              <a:pPr marL="0" marR="0" lvl="0" indent="0" algn="ctr" rtl="0">
                <a:lnSpc>
                  <a:spcPct val="93888"/>
                </a:lnSpc>
                <a:spcBef>
                  <a:spcPts val="0"/>
                </a:spcBef>
                <a:spcAft>
                  <a:spcPts val="0"/>
                </a:spcAft>
                <a:buNone/>
              </a:pPr>
              <a:endParaRPr sz="1800">
                <a:solidFill>
                  <a:schemeClr val="dk1"/>
                </a:solidFill>
                <a:latin typeface="Calibri"/>
                <a:ea typeface="Calibri"/>
                <a:cs typeface="Calibri"/>
                <a:sym typeface="Calibri"/>
              </a:endParaRPr>
            </a:p>
          </p:txBody>
        </p:sp>
      </p:grpSp>
      <p:sp>
        <p:nvSpPr>
          <p:cNvPr id="240" name="Google Shape;240;p14"/>
          <p:cNvSpPr txBox="1"/>
          <p:nvPr/>
        </p:nvSpPr>
        <p:spPr>
          <a:xfrm>
            <a:off x="1028700" y="2384204"/>
            <a:ext cx="15864079" cy="3257367"/>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Simplified Structure:</a:t>
            </a:r>
            <a:r>
              <a:rPr lang="en-US" sz="3200" b="0" i="0" u="none" strike="noStrike" cap="none" dirty="0">
                <a:solidFill>
                  <a:srgbClr val="000000"/>
                </a:solidFill>
                <a:latin typeface="Times New Roman"/>
                <a:ea typeface="Times New Roman"/>
                <a:cs typeface="Times New Roman"/>
                <a:sym typeface="Times New Roman"/>
              </a:rPr>
              <a:t> No need for a body when implementation is not required.</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Improved Readability:</a:t>
            </a:r>
            <a:r>
              <a:rPr lang="en-US" sz="3200" b="0" i="0" u="none" strike="noStrike" cap="none" dirty="0">
                <a:solidFill>
                  <a:srgbClr val="000000"/>
                </a:solidFill>
                <a:latin typeface="Times New Roman"/>
                <a:ea typeface="Times New Roman"/>
                <a:cs typeface="Times New Roman"/>
                <a:sym typeface="Times New Roman"/>
              </a:rPr>
              <a:t> Only the interface (specification) is provided, making it easy to understand.</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Reusability:</a:t>
            </a:r>
            <a:r>
              <a:rPr lang="en-US" sz="3200" b="0" i="0" u="none" strike="noStrike" cap="none" dirty="0">
                <a:solidFill>
                  <a:srgbClr val="000000"/>
                </a:solidFill>
                <a:latin typeface="Times New Roman"/>
                <a:ea typeface="Times New Roman"/>
                <a:cs typeface="Times New Roman"/>
                <a:sym typeface="Times New Roman"/>
              </a:rPr>
              <a:t> Useful for sharing global variables, constants, or cursors across multiple PL/SQL programs.</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Forward Compatibility:</a:t>
            </a:r>
            <a:r>
              <a:rPr lang="en-US" sz="3200" b="0" i="0" u="none" strike="noStrike" cap="none" dirty="0">
                <a:solidFill>
                  <a:srgbClr val="000000"/>
                </a:solidFill>
                <a:latin typeface="Times New Roman"/>
                <a:ea typeface="Times New Roman"/>
                <a:cs typeface="Times New Roman"/>
                <a:sym typeface="Times New Roman"/>
              </a:rPr>
              <a:t> You can add a package body later if needed.</a:t>
            </a:r>
            <a:endParaRPr sz="1200" dirty="0"/>
          </a:p>
        </p:txBody>
      </p:sp>
      <p:sp>
        <p:nvSpPr>
          <p:cNvPr id="241" name="Google Shape;241;p14"/>
          <p:cNvSpPr txBox="1"/>
          <p:nvPr/>
        </p:nvSpPr>
        <p:spPr>
          <a:xfrm>
            <a:off x="1469572" y="5845089"/>
            <a:ext cx="9349838" cy="590931"/>
          </a:xfrm>
          <a:prstGeom prst="rect">
            <a:avLst/>
          </a:prstGeom>
          <a:noFill/>
          <a:ln>
            <a:noFill/>
          </a:ln>
        </p:spPr>
        <p:txBody>
          <a:bodyPr spcFirstLastPara="1" wrap="square" lIns="0" tIns="0" rIns="0" bIns="0" anchor="t" anchorCtr="0">
            <a:spAutoFit/>
          </a:bodyPr>
          <a:lstStyle/>
          <a:p>
            <a:pPr marL="0" marR="0" lvl="0" indent="0" algn="just" rtl="0">
              <a:lnSpc>
                <a:spcPct val="120027"/>
              </a:lnSpc>
              <a:spcBef>
                <a:spcPts val="0"/>
              </a:spcBef>
              <a:spcAft>
                <a:spcPts val="0"/>
              </a:spcAft>
              <a:buNone/>
            </a:pPr>
            <a:r>
              <a:rPr lang="en-US" sz="3200" b="1" dirty="0">
                <a:solidFill>
                  <a:srgbClr val="000000"/>
                </a:solidFill>
                <a:latin typeface="Arial"/>
                <a:ea typeface="Arial"/>
                <a:cs typeface="Arial"/>
                <a:sym typeface="Arial"/>
              </a:rPr>
              <a:t>Disadvantages of Bodiless Packages</a:t>
            </a:r>
            <a:endParaRPr dirty="0"/>
          </a:p>
        </p:txBody>
      </p:sp>
      <p:sp>
        <p:nvSpPr>
          <p:cNvPr id="242" name="Google Shape;242;p14"/>
          <p:cNvSpPr txBox="1"/>
          <p:nvPr/>
        </p:nvSpPr>
        <p:spPr>
          <a:xfrm>
            <a:off x="1180417" y="6621534"/>
            <a:ext cx="15864079" cy="1595437"/>
          </a:xfrm>
          <a:prstGeom prst="rect">
            <a:avLst/>
          </a:prstGeom>
          <a:noFill/>
          <a:ln>
            <a:noFill/>
          </a:ln>
        </p:spPr>
        <p:txBody>
          <a:bodyPr spcFirstLastPara="1" wrap="square" lIns="0" tIns="0" rIns="0" bIns="0" anchor="t" anchorCtr="0">
            <a:spAutoFit/>
          </a:bodyPr>
          <a:lstStyle/>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No Implementation of Logic: </a:t>
            </a:r>
            <a:r>
              <a:rPr lang="en-US" sz="3200" b="0" i="0" u="none" strike="noStrike" cap="none" dirty="0">
                <a:solidFill>
                  <a:srgbClr val="000000"/>
                </a:solidFill>
                <a:latin typeface="Times New Roman"/>
                <a:ea typeface="Times New Roman"/>
                <a:cs typeface="Times New Roman"/>
                <a:sym typeface="Times New Roman"/>
              </a:rPr>
              <a:t>Since a bodiless package only contains declarations, you cannot implement procedures, functions, or complex logic within the package.</a:t>
            </a:r>
            <a:endParaRPr sz="1200" dirty="0"/>
          </a:p>
          <a:p>
            <a:pPr marL="777240" marR="0" lvl="1" indent="-388620" algn="just" rtl="0">
              <a:lnSpc>
                <a:spcPct val="108000"/>
              </a:lnSpc>
              <a:spcBef>
                <a:spcPts val="0"/>
              </a:spcBef>
              <a:spcAft>
                <a:spcPts val="0"/>
              </a:spcAft>
              <a:buClr>
                <a:srgbClr val="000000"/>
              </a:buClr>
              <a:buSzPts val="3600"/>
              <a:buFont typeface="Arial"/>
              <a:buChar char="•"/>
            </a:pPr>
            <a:r>
              <a:rPr lang="en-US" sz="3200" b="1" i="0" u="none" strike="noStrike" cap="none" dirty="0">
                <a:solidFill>
                  <a:srgbClr val="000000"/>
                </a:solidFill>
                <a:latin typeface="Times"/>
                <a:ea typeface="Times"/>
                <a:cs typeface="Times"/>
                <a:sym typeface="Times"/>
              </a:rPr>
              <a:t>No Encapsulation: </a:t>
            </a:r>
            <a:r>
              <a:rPr lang="en-US" sz="3200" b="0" i="0" u="none" strike="noStrike" cap="none" dirty="0">
                <a:solidFill>
                  <a:srgbClr val="000000"/>
                </a:solidFill>
                <a:latin typeface="Times New Roman"/>
                <a:ea typeface="Times New Roman"/>
                <a:cs typeface="Times New Roman"/>
                <a:sym typeface="Times New Roman"/>
              </a:rPr>
              <a:t>Encapsulation of internal logic is not possible without a package body.</a:t>
            </a:r>
            <a:endParaRPr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1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48" name="Google Shape;248;p15"/>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249" name="Google Shape;249;p15"/>
          <p:cNvSpPr txBox="1"/>
          <p:nvPr/>
        </p:nvSpPr>
        <p:spPr>
          <a:xfrm>
            <a:off x="1534886" y="4737185"/>
            <a:ext cx="15724414" cy="4453912"/>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b="1" dirty="0">
                <a:solidFill>
                  <a:srgbClr val="000000"/>
                </a:solidFill>
                <a:latin typeface="Times"/>
                <a:ea typeface="Times"/>
                <a:cs typeface="Times"/>
                <a:sym typeface="Times"/>
              </a:rPr>
              <a:t>1. Procedure Header</a:t>
            </a:r>
            <a:endParaRPr sz="1200" dirty="0"/>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Times New Roman"/>
                <a:ea typeface="Times New Roman"/>
                <a:cs typeface="Times New Roman"/>
                <a:sym typeface="Times New Roman"/>
              </a:rPr>
              <a:t>The procedure header includes the procedure name and optional parameter list.</a:t>
            </a:r>
            <a:endParaRPr sz="1200" dirty="0"/>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Times New Roman"/>
                <a:ea typeface="Times New Roman"/>
                <a:cs typeface="Times New Roman"/>
                <a:sym typeface="Times New Roman"/>
              </a:rPr>
              <a:t>It is the first part of the procedure and specifies the name and parameters</a:t>
            </a:r>
          </a:p>
          <a:p>
            <a:pPr marL="388617" marR="0" lvl="1" algn="just" rtl="0">
              <a:lnSpc>
                <a:spcPct val="108002"/>
              </a:lnSpc>
              <a:spcBef>
                <a:spcPts val="0"/>
              </a:spcBef>
              <a:spcAft>
                <a:spcPts val="0"/>
              </a:spcAft>
              <a:buClr>
                <a:srgbClr val="000000"/>
              </a:buClr>
              <a:buSzPts val="3599"/>
            </a:pPr>
            <a:endParaRPr sz="1200" dirty="0"/>
          </a:p>
          <a:p>
            <a:pPr marL="0" marR="0" lvl="0" indent="0" algn="just" rtl="0">
              <a:lnSpc>
                <a:spcPct val="108002"/>
              </a:lnSpc>
              <a:spcBef>
                <a:spcPts val="0"/>
              </a:spcBef>
              <a:spcAft>
                <a:spcPts val="0"/>
              </a:spcAft>
              <a:buNone/>
            </a:pPr>
            <a:r>
              <a:rPr lang="en-US" sz="3200" b="1" dirty="0">
                <a:solidFill>
                  <a:srgbClr val="000000"/>
                </a:solidFill>
                <a:latin typeface="Times"/>
                <a:ea typeface="Times"/>
                <a:cs typeface="Times"/>
                <a:sym typeface="Times"/>
              </a:rPr>
              <a:t>2. Procedure Body</a:t>
            </a:r>
            <a:endParaRPr sz="1200" dirty="0"/>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Times New Roman"/>
                <a:ea typeface="Times New Roman"/>
                <a:cs typeface="Times New Roman"/>
                <a:sym typeface="Times New Roman"/>
              </a:rPr>
              <a:t>The procedure body contains the executable statements that implement the specific business logic.</a:t>
            </a:r>
            <a:endParaRPr sz="1200" dirty="0"/>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Times New Roman"/>
                <a:ea typeface="Times New Roman"/>
                <a:cs typeface="Times New Roman"/>
                <a:sym typeface="Times New Roman"/>
              </a:rPr>
              <a:t>It can include declarative statements, executable statements, and exception-handling statements</a:t>
            </a:r>
            <a:endParaRPr sz="1200" dirty="0"/>
          </a:p>
        </p:txBody>
      </p:sp>
      <p:sp>
        <p:nvSpPr>
          <p:cNvPr id="250" name="Google Shape;250;p15"/>
          <p:cNvSpPr txBox="1"/>
          <p:nvPr/>
        </p:nvSpPr>
        <p:spPr>
          <a:xfrm>
            <a:off x="1534886" y="2145676"/>
            <a:ext cx="15970435" cy="2725426"/>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dirty="0">
                <a:solidFill>
                  <a:srgbClr val="000000"/>
                </a:solidFill>
                <a:latin typeface="Times New Roman"/>
                <a:ea typeface="Times New Roman"/>
                <a:cs typeface="Times New Roman"/>
                <a:sym typeface="Times New Roman"/>
              </a:rPr>
              <a:t>PL/SQL procedures are reusable code blocks that perform specific actions or logic within a database environment. They consist of two main components such as the procedure header which defines the procedure name and optional parameters and the procedure body which contains the executable statements implementing the desired business logic.</a:t>
            </a:r>
            <a:endParaRPr sz="1200"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56" name="Google Shape;256;p16"/>
          <p:cNvSpPr/>
          <p:nvPr/>
        </p:nvSpPr>
        <p:spPr>
          <a:xfrm>
            <a:off x="7465031" y="2348658"/>
            <a:ext cx="9616799" cy="6049395"/>
          </a:xfrm>
          <a:custGeom>
            <a:avLst/>
            <a:gdLst/>
            <a:ahLst/>
            <a:cxnLst/>
            <a:rect l="l" t="t" r="r" b="b"/>
            <a:pathLst>
              <a:path w="9616799" h="6049395" extrusionOk="0">
                <a:moveTo>
                  <a:pt x="0" y="0"/>
                </a:moveTo>
                <a:lnTo>
                  <a:pt x="9616800" y="0"/>
                </a:lnTo>
                <a:lnTo>
                  <a:pt x="9616800" y="6049395"/>
                </a:lnTo>
                <a:lnTo>
                  <a:pt x="0" y="6049395"/>
                </a:lnTo>
                <a:lnTo>
                  <a:pt x="0" y="0"/>
                </a:lnTo>
                <a:close/>
              </a:path>
            </a:pathLst>
          </a:custGeom>
          <a:blipFill rotWithShape="1">
            <a:blip r:embed="rId4">
              <a:alphaModFix/>
            </a:blip>
            <a:stretch>
              <a:fillRect b="-3636"/>
            </a:stretch>
          </a:blipFill>
          <a:ln>
            <a:noFill/>
          </a:ln>
        </p:spPr>
        <p:txBody>
          <a:bodyPr/>
          <a:lstStyle/>
          <a:p>
            <a:endParaRPr lang="en-IN" dirty="0"/>
          </a:p>
        </p:txBody>
      </p:sp>
      <p:sp>
        <p:nvSpPr>
          <p:cNvPr id="257" name="Google Shape;257;p16"/>
          <p:cNvSpPr txBox="1"/>
          <p:nvPr/>
        </p:nvSpPr>
        <p:spPr>
          <a:xfrm>
            <a:off x="1347281" y="659124"/>
            <a:ext cx="12235500"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258" name="Google Shape;258;p16"/>
          <p:cNvSpPr txBox="1"/>
          <p:nvPr/>
        </p:nvSpPr>
        <p:spPr>
          <a:xfrm>
            <a:off x="782678" y="2702843"/>
            <a:ext cx="16476622" cy="1063625"/>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dirty="0">
                <a:solidFill>
                  <a:srgbClr val="000000"/>
                </a:solidFill>
                <a:latin typeface="Times New Roman"/>
                <a:ea typeface="Times New Roman"/>
                <a:cs typeface="Times New Roman"/>
                <a:sym typeface="Times New Roman"/>
              </a:rPr>
              <a:t>Syntax</a:t>
            </a:r>
            <a:endParaRPr sz="1200" dirty="0"/>
          </a:p>
          <a:p>
            <a:pPr marL="0" marR="0" lvl="0" indent="0" algn="just" rtl="0">
              <a:lnSpc>
                <a:spcPct val="108002"/>
              </a:lnSpc>
              <a:spcBef>
                <a:spcPts val="0"/>
              </a:spcBef>
              <a:spcAft>
                <a:spcPts val="0"/>
              </a:spcAft>
              <a:buNone/>
            </a:pPr>
            <a:r>
              <a:rPr lang="en-US" sz="3200" dirty="0">
                <a:solidFill>
                  <a:srgbClr val="000000"/>
                </a:solidFill>
                <a:latin typeface="Times New Roman"/>
                <a:ea typeface="Times New Roman"/>
                <a:cs typeface="Times New Roman"/>
                <a:sym typeface="Times New Roman"/>
              </a:rPr>
              <a:t>CREATE PROCEDURE syntax is:</a:t>
            </a:r>
            <a:endParaRPr sz="1200" dirty="0"/>
          </a:p>
        </p:txBody>
      </p:sp>
      <p:sp>
        <p:nvSpPr>
          <p:cNvPr id="259" name="Google Shape;259;p16"/>
          <p:cNvSpPr txBox="1"/>
          <p:nvPr/>
        </p:nvSpPr>
        <p:spPr>
          <a:xfrm>
            <a:off x="782678" y="1947660"/>
            <a:ext cx="16722643" cy="1054900"/>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a:solidFill>
                  <a:srgbClr val="000000"/>
                </a:solidFill>
                <a:latin typeface="Times"/>
                <a:ea typeface="Times"/>
                <a:cs typeface="Times"/>
                <a:sym typeface="Times"/>
              </a:rPr>
              <a:t>Create Procedures in PL/SQL</a:t>
            </a:r>
            <a:endParaRPr/>
          </a:p>
          <a:p>
            <a:pPr marL="0" marR="0" lvl="0" indent="0" algn="just" rtl="0">
              <a:lnSpc>
                <a:spcPct val="108002"/>
              </a:lnSpc>
              <a:spcBef>
                <a:spcPts val="0"/>
              </a:spcBef>
              <a:spcAft>
                <a:spcPts val="0"/>
              </a:spcAft>
              <a:buNone/>
            </a:pPr>
            <a:endParaRPr sz="3599" b="1">
              <a:solidFill>
                <a:srgbClr val="000000"/>
              </a:solidFill>
              <a:latin typeface="Times"/>
              <a:ea typeface="Times"/>
              <a:cs typeface="Times"/>
              <a:sym typeface="Time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65" name="Google Shape;265;p17"/>
          <p:cNvSpPr/>
          <p:nvPr/>
        </p:nvSpPr>
        <p:spPr>
          <a:xfrm>
            <a:off x="2789566" y="3348519"/>
            <a:ext cx="11004994" cy="5328000"/>
          </a:xfrm>
          <a:custGeom>
            <a:avLst/>
            <a:gdLst/>
            <a:ahLst/>
            <a:cxnLst/>
            <a:rect l="l" t="t" r="r" b="b"/>
            <a:pathLst>
              <a:path w="11004994" h="6579832" extrusionOk="0">
                <a:moveTo>
                  <a:pt x="0" y="0"/>
                </a:moveTo>
                <a:lnTo>
                  <a:pt x="11004994" y="0"/>
                </a:lnTo>
                <a:lnTo>
                  <a:pt x="11004994" y="6579831"/>
                </a:lnTo>
                <a:lnTo>
                  <a:pt x="0" y="6579831"/>
                </a:lnTo>
                <a:lnTo>
                  <a:pt x="0" y="0"/>
                </a:lnTo>
                <a:close/>
              </a:path>
            </a:pathLst>
          </a:custGeom>
          <a:blipFill rotWithShape="1">
            <a:blip r:embed="rId4">
              <a:alphaModFix/>
            </a:blip>
            <a:stretch>
              <a:fillRect t="-1961" b="-3196"/>
            </a:stretch>
          </a:blipFill>
          <a:ln>
            <a:noFill/>
          </a:ln>
        </p:spPr>
        <p:txBody>
          <a:bodyPr/>
          <a:lstStyle/>
          <a:p>
            <a:endParaRPr lang="en-IN" dirty="0"/>
          </a:p>
        </p:txBody>
      </p:sp>
      <p:sp>
        <p:nvSpPr>
          <p:cNvPr id="266" name="Google Shape;266;p17"/>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Example </a:t>
            </a:r>
            <a:endParaRPr dirty="0"/>
          </a:p>
        </p:txBody>
      </p:sp>
      <p:sp>
        <p:nvSpPr>
          <p:cNvPr id="267" name="Google Shape;267;p17"/>
          <p:cNvSpPr txBox="1"/>
          <p:nvPr/>
        </p:nvSpPr>
        <p:spPr>
          <a:xfrm>
            <a:off x="1347280" y="2086791"/>
            <a:ext cx="15912019" cy="1196353"/>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In this example, we will create a procedure in PL/SQL</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1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73" name="Google Shape;273;p18"/>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274" name="Google Shape;274;p18"/>
          <p:cNvSpPr txBox="1"/>
          <p:nvPr/>
        </p:nvSpPr>
        <p:spPr>
          <a:xfrm>
            <a:off x="1551214" y="1974027"/>
            <a:ext cx="15708086" cy="598177"/>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dirty="0">
                <a:solidFill>
                  <a:srgbClr val="000000"/>
                </a:solidFill>
                <a:latin typeface="Times"/>
                <a:ea typeface="Times"/>
                <a:cs typeface="Times"/>
                <a:sym typeface="Times"/>
              </a:rPr>
              <a:t>Parameters in Procedures</a:t>
            </a:r>
            <a:endParaRPr dirty="0"/>
          </a:p>
        </p:txBody>
      </p:sp>
      <p:sp>
        <p:nvSpPr>
          <p:cNvPr id="275" name="Google Shape;275;p18"/>
          <p:cNvSpPr txBox="1"/>
          <p:nvPr/>
        </p:nvSpPr>
        <p:spPr>
          <a:xfrm>
            <a:off x="1551214" y="2627386"/>
            <a:ext cx="15898419" cy="6515373"/>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In PL/SQL, parameters are used to pass values into procedures. There are three types of parameters used in procedures:</a:t>
            </a:r>
            <a:endParaRPr sz="1100" dirty="0"/>
          </a:p>
          <a:p>
            <a:pPr marL="0" marR="0" lvl="0" indent="0" algn="just" rtl="0">
              <a:lnSpc>
                <a:spcPct val="108000"/>
              </a:lnSpc>
              <a:spcBef>
                <a:spcPts val="0"/>
              </a:spcBef>
              <a:spcAft>
                <a:spcPts val="0"/>
              </a:spcAft>
              <a:buNone/>
            </a:pPr>
            <a:r>
              <a:rPr lang="en-US" sz="2800" b="1" dirty="0">
                <a:solidFill>
                  <a:srgbClr val="000000"/>
                </a:solidFill>
                <a:latin typeface="Times"/>
                <a:ea typeface="Times"/>
                <a:cs typeface="Times"/>
                <a:sym typeface="Times"/>
              </a:rPr>
              <a:t>1. IN parameters</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Used to pass values into the procedure</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Read-only inside the procedure</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Can be a variable, literal value, or expression in the calling statement.</a:t>
            </a:r>
            <a:endParaRPr sz="1100" dirty="0"/>
          </a:p>
          <a:p>
            <a:pPr marL="0" marR="0" lvl="0" indent="0" algn="just" rtl="0">
              <a:lnSpc>
                <a:spcPct val="108000"/>
              </a:lnSpc>
              <a:spcBef>
                <a:spcPts val="0"/>
              </a:spcBef>
              <a:spcAft>
                <a:spcPts val="0"/>
              </a:spcAft>
              <a:buNone/>
            </a:pPr>
            <a:r>
              <a:rPr lang="en-US" sz="2800" b="1" dirty="0">
                <a:solidFill>
                  <a:srgbClr val="000000"/>
                </a:solidFill>
                <a:latin typeface="Times"/>
                <a:ea typeface="Times"/>
                <a:cs typeface="Times"/>
                <a:sym typeface="Times"/>
              </a:rPr>
              <a:t>2. OUT parameters</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Used to return values from the procedure to the calling program</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Read-write inside the procedure</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Must be a variable in the calling statement to hold the returned value</a:t>
            </a:r>
            <a:endParaRPr sz="1100" dirty="0"/>
          </a:p>
          <a:p>
            <a:pPr marL="0" marR="0" lvl="0" indent="0" algn="just" rtl="0">
              <a:lnSpc>
                <a:spcPct val="108000"/>
              </a:lnSpc>
              <a:spcBef>
                <a:spcPts val="0"/>
              </a:spcBef>
              <a:spcAft>
                <a:spcPts val="0"/>
              </a:spcAft>
              <a:buNone/>
            </a:pPr>
            <a:r>
              <a:rPr lang="en-US" sz="2800" b="1" dirty="0">
                <a:solidFill>
                  <a:srgbClr val="000000"/>
                </a:solidFill>
                <a:latin typeface="Times"/>
                <a:ea typeface="Times"/>
                <a:cs typeface="Times"/>
                <a:sym typeface="Times"/>
              </a:rPr>
              <a:t>3. IN OUT parameters</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Used for both passing values into and returning values from the procedure</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Read-write inside the procedure</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Must be a variable in the calling statement</a:t>
            </a:r>
            <a:endParaRPr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81" name="Google Shape;281;p19"/>
          <p:cNvSpPr/>
          <p:nvPr/>
        </p:nvSpPr>
        <p:spPr>
          <a:xfrm>
            <a:off x="10437038" y="2227140"/>
            <a:ext cx="5390652" cy="6156000"/>
          </a:xfrm>
          <a:custGeom>
            <a:avLst/>
            <a:gdLst/>
            <a:ahLst/>
            <a:cxnLst/>
            <a:rect l="l" t="t" r="r" b="b"/>
            <a:pathLst>
              <a:path w="5390652" h="7755068" extrusionOk="0">
                <a:moveTo>
                  <a:pt x="0" y="0"/>
                </a:moveTo>
                <a:lnTo>
                  <a:pt x="5390652" y="0"/>
                </a:lnTo>
                <a:lnTo>
                  <a:pt x="5390652" y="7755068"/>
                </a:lnTo>
                <a:lnTo>
                  <a:pt x="0" y="7755068"/>
                </a:lnTo>
                <a:lnTo>
                  <a:pt x="0" y="0"/>
                </a:lnTo>
                <a:close/>
              </a:path>
            </a:pathLst>
          </a:custGeom>
          <a:blipFill rotWithShape="1">
            <a:blip r:embed="rId4">
              <a:alphaModFix/>
            </a:blip>
            <a:stretch>
              <a:fillRect t="-2130" r="-1322"/>
            </a:stretch>
          </a:blipFill>
          <a:ln>
            <a:noFill/>
          </a:ln>
        </p:spPr>
        <p:txBody>
          <a:bodyPr/>
          <a:lstStyle/>
          <a:p>
            <a:endParaRPr lang="en-IN" dirty="0"/>
          </a:p>
        </p:txBody>
      </p:sp>
      <p:sp>
        <p:nvSpPr>
          <p:cNvPr id="282" name="Google Shape;282;p19"/>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283" name="Google Shape;283;p19"/>
          <p:cNvSpPr txBox="1"/>
          <p:nvPr/>
        </p:nvSpPr>
        <p:spPr>
          <a:xfrm>
            <a:off x="2220686" y="2198565"/>
            <a:ext cx="6923314" cy="3589059"/>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dirty="0">
                <a:solidFill>
                  <a:srgbClr val="000000"/>
                </a:solidFill>
                <a:latin typeface="Times"/>
                <a:ea typeface="Times"/>
                <a:cs typeface="Times"/>
                <a:sym typeface="Times"/>
              </a:rPr>
              <a:t>Modify Procedures in PL/SQL</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To modify an existing procedures in PL/SQL use the ALTER PROCEDURE command:</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Syntax</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0"/>
          <p:cNvSpPr/>
          <p:nvPr/>
        </p:nvSpPr>
        <p:spPr>
          <a:xfrm>
            <a:off x="0" y="97974"/>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89" name="Google Shape;289;p20"/>
          <p:cNvSpPr/>
          <p:nvPr/>
        </p:nvSpPr>
        <p:spPr>
          <a:xfrm>
            <a:off x="7465003" y="1831500"/>
            <a:ext cx="9324000" cy="6624000"/>
          </a:xfrm>
          <a:custGeom>
            <a:avLst/>
            <a:gdLst/>
            <a:ahLst/>
            <a:cxnLst/>
            <a:rect l="l" t="t" r="r" b="b"/>
            <a:pathLst>
              <a:path w="10145736" h="7644048" extrusionOk="0">
                <a:moveTo>
                  <a:pt x="0" y="0"/>
                </a:moveTo>
                <a:lnTo>
                  <a:pt x="10145736" y="0"/>
                </a:lnTo>
                <a:lnTo>
                  <a:pt x="10145736" y="7644047"/>
                </a:lnTo>
                <a:lnTo>
                  <a:pt x="0" y="7644047"/>
                </a:lnTo>
                <a:lnTo>
                  <a:pt x="0" y="0"/>
                </a:lnTo>
                <a:close/>
              </a:path>
            </a:pathLst>
          </a:custGeom>
          <a:blipFill rotWithShape="1">
            <a:blip r:embed="rId4">
              <a:alphaModFix/>
            </a:blip>
            <a:stretch>
              <a:fillRect/>
            </a:stretch>
          </a:blipFill>
          <a:ln>
            <a:noFill/>
          </a:ln>
        </p:spPr>
        <p:txBody>
          <a:bodyPr/>
          <a:lstStyle/>
          <a:p>
            <a:endParaRPr lang="en-IN" dirty="0"/>
          </a:p>
        </p:txBody>
      </p:sp>
      <p:sp>
        <p:nvSpPr>
          <p:cNvPr id="290" name="Google Shape;290;p20"/>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291" name="Google Shape;291;p20"/>
          <p:cNvSpPr txBox="1"/>
          <p:nvPr/>
        </p:nvSpPr>
        <p:spPr>
          <a:xfrm>
            <a:off x="1347281" y="2097126"/>
            <a:ext cx="5766282" cy="2392706"/>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Example</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In this example, we will modify a procedure in PL/SQL</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297" name="Google Shape;297;p21"/>
          <p:cNvSpPr/>
          <p:nvPr/>
        </p:nvSpPr>
        <p:spPr>
          <a:xfrm>
            <a:off x="2087787" y="7142852"/>
            <a:ext cx="10065210" cy="763065"/>
          </a:xfrm>
          <a:custGeom>
            <a:avLst/>
            <a:gdLst/>
            <a:ahLst/>
            <a:cxnLst/>
            <a:rect l="l" t="t" r="r" b="b"/>
            <a:pathLst>
              <a:path w="10065210" h="763065" extrusionOk="0">
                <a:moveTo>
                  <a:pt x="0" y="0"/>
                </a:moveTo>
                <a:lnTo>
                  <a:pt x="10065210" y="0"/>
                </a:lnTo>
                <a:lnTo>
                  <a:pt x="10065210" y="763065"/>
                </a:lnTo>
                <a:lnTo>
                  <a:pt x="0" y="763065"/>
                </a:lnTo>
                <a:lnTo>
                  <a:pt x="0" y="0"/>
                </a:lnTo>
                <a:close/>
              </a:path>
            </a:pathLst>
          </a:custGeom>
          <a:blipFill rotWithShape="1">
            <a:blip r:embed="rId4">
              <a:alphaModFix/>
            </a:blip>
            <a:stretch>
              <a:fillRect b="-2782"/>
            </a:stretch>
          </a:blipFill>
          <a:ln>
            <a:noFill/>
          </a:ln>
        </p:spPr>
      </p:sp>
      <p:sp>
        <p:nvSpPr>
          <p:cNvPr id="298" name="Google Shape;298;p21"/>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299" name="Google Shape;299;p21"/>
          <p:cNvSpPr txBox="1"/>
          <p:nvPr/>
        </p:nvSpPr>
        <p:spPr>
          <a:xfrm>
            <a:off x="1649186" y="2110756"/>
            <a:ext cx="6302828" cy="1196353"/>
          </a:xfrm>
          <a:prstGeom prst="rect">
            <a:avLst/>
          </a:prstGeom>
          <a:noFill/>
          <a:ln>
            <a:noFill/>
          </a:ln>
        </p:spPr>
        <p:txBody>
          <a:bodyPr spcFirstLastPara="1" wrap="square" lIns="0" tIns="0" rIns="0" bIns="0" anchor="t" anchorCtr="0">
            <a:spAutoFit/>
          </a:bodyPr>
          <a:lstStyle/>
          <a:p>
            <a:pPr marL="0" marR="0" lvl="0" indent="0" algn="ctr" rtl="0">
              <a:lnSpc>
                <a:spcPct val="108002"/>
              </a:lnSpc>
              <a:spcBef>
                <a:spcPts val="0"/>
              </a:spcBef>
              <a:spcAft>
                <a:spcPts val="0"/>
              </a:spcAft>
              <a:buNone/>
            </a:pPr>
            <a:r>
              <a:rPr lang="en-US" sz="3599" b="1" dirty="0">
                <a:solidFill>
                  <a:srgbClr val="000000"/>
                </a:solidFill>
                <a:latin typeface="Times"/>
                <a:ea typeface="Times"/>
                <a:cs typeface="Times"/>
                <a:sym typeface="Times"/>
              </a:rPr>
              <a:t>Drop Procedure in PL/SQL</a:t>
            </a:r>
            <a:endParaRPr dirty="0"/>
          </a:p>
          <a:p>
            <a:pPr marL="0" marR="0" lvl="0" indent="0" algn="ctr" rtl="0">
              <a:lnSpc>
                <a:spcPct val="108002"/>
              </a:lnSpc>
              <a:spcBef>
                <a:spcPts val="0"/>
              </a:spcBef>
              <a:spcAft>
                <a:spcPts val="0"/>
              </a:spcAft>
              <a:buNone/>
            </a:pPr>
            <a:endParaRPr sz="3599" b="1" dirty="0">
              <a:solidFill>
                <a:srgbClr val="000000"/>
              </a:solidFill>
              <a:latin typeface="Times"/>
              <a:ea typeface="Times"/>
              <a:cs typeface="Times"/>
              <a:sym typeface="Times"/>
            </a:endParaRPr>
          </a:p>
        </p:txBody>
      </p:sp>
      <p:sp>
        <p:nvSpPr>
          <p:cNvPr id="300" name="Google Shape;300;p21"/>
          <p:cNvSpPr txBox="1"/>
          <p:nvPr/>
        </p:nvSpPr>
        <p:spPr>
          <a:xfrm>
            <a:off x="2073728" y="2967239"/>
            <a:ext cx="14138057" cy="1794530"/>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To drop a procedure in PL/SQL use the DROP PROCEDURE command</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Syntax:</a:t>
            </a:r>
            <a:endParaRPr sz="3599" dirty="0">
              <a:solidFill>
                <a:srgbClr val="000000"/>
              </a:solidFill>
              <a:latin typeface="Times New Roman"/>
              <a:ea typeface="Times New Roman"/>
              <a:cs typeface="Times New Roman"/>
              <a:sym typeface="Times New Roman"/>
            </a:endParaRPr>
          </a:p>
          <a:p>
            <a:pPr marL="0" marR="0" lvl="0" indent="0" algn="just" rtl="0">
              <a:lnSpc>
                <a:spcPct val="108002"/>
              </a:lnSpc>
              <a:spcBef>
                <a:spcPts val="0"/>
              </a:spcBef>
              <a:spcAft>
                <a:spcPts val="0"/>
              </a:spcAft>
              <a:buNone/>
            </a:pPr>
            <a:r>
              <a:rPr lang="en-US" sz="3599" i="1" dirty="0">
                <a:solidFill>
                  <a:srgbClr val="000000"/>
                </a:solidFill>
                <a:latin typeface="Times"/>
                <a:ea typeface="Times"/>
                <a:cs typeface="Times"/>
                <a:sym typeface="Times"/>
              </a:rPr>
              <a:t>DROP PROCEDURE </a:t>
            </a:r>
            <a:r>
              <a:rPr lang="en-US" sz="3599" i="1" dirty="0" err="1">
                <a:solidFill>
                  <a:srgbClr val="000000"/>
                </a:solidFill>
                <a:latin typeface="Times"/>
                <a:ea typeface="Times"/>
                <a:cs typeface="Times"/>
                <a:sym typeface="Times"/>
              </a:rPr>
              <a:t>procedure_name</a:t>
            </a:r>
            <a:r>
              <a:rPr lang="en-US" sz="3599" i="1" dirty="0">
                <a:solidFill>
                  <a:srgbClr val="000000"/>
                </a:solidFill>
                <a:latin typeface="Times"/>
                <a:ea typeface="Times"/>
                <a:cs typeface="Times"/>
                <a:sym typeface="Times"/>
              </a:rPr>
              <a:t> </a:t>
            </a:r>
            <a:endParaRPr dirty="0"/>
          </a:p>
        </p:txBody>
      </p:sp>
      <p:sp>
        <p:nvSpPr>
          <p:cNvPr id="301" name="Google Shape;301;p21"/>
          <p:cNvSpPr txBox="1"/>
          <p:nvPr/>
        </p:nvSpPr>
        <p:spPr>
          <a:xfrm>
            <a:off x="1649186" y="5441297"/>
            <a:ext cx="8474529" cy="1196353"/>
          </a:xfrm>
          <a:prstGeom prst="rect">
            <a:avLst/>
          </a:prstGeom>
          <a:noFill/>
          <a:ln>
            <a:noFill/>
          </a:ln>
        </p:spPr>
        <p:txBody>
          <a:bodyPr spcFirstLastPara="1" wrap="square" lIns="0" tIns="0" rIns="0" bIns="0" anchor="t" anchorCtr="0">
            <a:spAutoFit/>
          </a:bodyPr>
          <a:lstStyle/>
          <a:p>
            <a:pPr marL="0" marR="0" lvl="0" indent="0" algn="ctr" rtl="0">
              <a:lnSpc>
                <a:spcPct val="108002"/>
              </a:lnSpc>
              <a:spcBef>
                <a:spcPts val="0"/>
              </a:spcBef>
              <a:spcAft>
                <a:spcPts val="0"/>
              </a:spcAft>
              <a:buNone/>
            </a:pPr>
            <a:r>
              <a:rPr lang="en-US" sz="3599" b="1" dirty="0">
                <a:solidFill>
                  <a:srgbClr val="000000"/>
                </a:solidFill>
                <a:latin typeface="Times"/>
                <a:ea typeface="Times"/>
                <a:cs typeface="Times"/>
                <a:sym typeface="Times"/>
              </a:rPr>
              <a:t> PL/SQL DROP PROCEDURE Example</a:t>
            </a:r>
            <a:endParaRPr dirty="0"/>
          </a:p>
          <a:p>
            <a:pPr marL="0" marR="0" lvl="0" indent="0" algn="ctr" rtl="0">
              <a:lnSpc>
                <a:spcPct val="108002"/>
              </a:lnSpc>
              <a:spcBef>
                <a:spcPts val="0"/>
              </a:spcBef>
              <a:spcAft>
                <a:spcPts val="0"/>
              </a:spcAft>
              <a:buNone/>
            </a:pPr>
            <a:endParaRPr sz="3599" b="1" dirty="0">
              <a:solidFill>
                <a:srgbClr val="000000"/>
              </a:solidFill>
              <a:latin typeface="Times"/>
              <a:ea typeface="Times"/>
              <a:cs typeface="Times"/>
              <a:sym typeface="Times"/>
            </a:endParaRPr>
          </a:p>
        </p:txBody>
      </p:sp>
      <p:sp>
        <p:nvSpPr>
          <p:cNvPr id="302" name="Google Shape;302;p21"/>
          <p:cNvSpPr txBox="1"/>
          <p:nvPr/>
        </p:nvSpPr>
        <p:spPr>
          <a:xfrm>
            <a:off x="1894114" y="6274348"/>
            <a:ext cx="10452556" cy="1196353"/>
          </a:xfrm>
          <a:prstGeom prst="rect">
            <a:avLst/>
          </a:prstGeom>
          <a:noFill/>
          <a:ln>
            <a:noFill/>
          </a:ln>
        </p:spPr>
        <p:txBody>
          <a:bodyPr spcFirstLastPara="1" wrap="square" lIns="0" tIns="0" rIns="0" bIns="0" anchor="t" anchorCtr="0">
            <a:spAutoFit/>
          </a:bodyPr>
          <a:lstStyle/>
          <a:p>
            <a:pPr marL="0" marR="0" lvl="0" indent="0" algn="ctr"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In this example, we will delete a procedure in PL/SQL</a:t>
            </a:r>
            <a:endParaRPr dirty="0"/>
          </a:p>
          <a:p>
            <a:pPr marL="0" marR="0" lvl="0" indent="0" algn="ctr"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08" name="Google Shape;308;p22"/>
          <p:cNvSpPr txBox="1"/>
          <p:nvPr/>
        </p:nvSpPr>
        <p:spPr>
          <a:xfrm>
            <a:off x="1212911" y="1913437"/>
            <a:ext cx="11919453" cy="7178119"/>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dirty="0">
                <a:solidFill>
                  <a:srgbClr val="000000"/>
                </a:solidFill>
                <a:latin typeface="Times"/>
                <a:ea typeface="Times"/>
                <a:cs typeface="Times"/>
                <a:sym typeface="Times"/>
              </a:rPr>
              <a:t>   Advantages of Procedures</a:t>
            </a:r>
            <a:endParaRPr dirty="0"/>
          </a:p>
          <a:p>
            <a:pPr marL="777232" marR="0" lvl="1" indent="-388615" algn="just" rtl="0">
              <a:lnSpc>
                <a:spcPct val="108002"/>
              </a:lnSpc>
              <a:spcBef>
                <a:spcPts val="0"/>
              </a:spcBef>
              <a:spcAft>
                <a:spcPts val="0"/>
              </a:spcAft>
              <a:buClr>
                <a:srgbClr val="000000"/>
              </a:buClr>
              <a:buSzPts val="3599"/>
              <a:buFont typeface="Arial"/>
              <a:buChar char="•"/>
            </a:pPr>
            <a:r>
              <a:rPr lang="en-US" sz="3599" b="0" i="0" u="none" strike="noStrike" cap="none" dirty="0">
                <a:solidFill>
                  <a:srgbClr val="000000"/>
                </a:solidFill>
                <a:latin typeface="Times New Roman"/>
                <a:ea typeface="Times New Roman"/>
                <a:cs typeface="Times New Roman"/>
                <a:sym typeface="Times New Roman"/>
              </a:rPr>
              <a:t>They result in performance improvement of the application. If a procedure is being called frequently in an application in a single connection, then the compiled version of the procedure is delivered.</a:t>
            </a:r>
            <a:endParaRPr dirty="0"/>
          </a:p>
          <a:p>
            <a:pPr marL="777232" marR="0" lvl="1" indent="-388615" algn="just" rtl="0">
              <a:lnSpc>
                <a:spcPct val="108002"/>
              </a:lnSpc>
              <a:spcBef>
                <a:spcPts val="0"/>
              </a:spcBef>
              <a:spcAft>
                <a:spcPts val="0"/>
              </a:spcAft>
              <a:buClr>
                <a:srgbClr val="000000"/>
              </a:buClr>
              <a:buSzPts val="3599"/>
              <a:buFont typeface="Arial"/>
              <a:buChar char="•"/>
            </a:pPr>
            <a:r>
              <a:rPr lang="en-US" sz="3599" b="0" i="0" u="none" strike="noStrike" cap="none" dirty="0">
                <a:solidFill>
                  <a:srgbClr val="000000"/>
                </a:solidFill>
                <a:latin typeface="Times New Roman"/>
                <a:ea typeface="Times New Roman"/>
                <a:cs typeface="Times New Roman"/>
                <a:sym typeface="Times New Roman"/>
              </a:rPr>
              <a:t>They reduce the traffic </a:t>
            </a:r>
            <a:r>
              <a:rPr lang="en-US" sz="3200" b="0" i="0" u="none" strike="noStrike" cap="none" dirty="0">
                <a:solidFill>
                  <a:srgbClr val="000000"/>
                </a:solidFill>
                <a:latin typeface="Times New Roman"/>
                <a:ea typeface="Times New Roman"/>
                <a:cs typeface="Times New Roman"/>
                <a:sym typeface="Times New Roman"/>
              </a:rPr>
              <a:t>between</a:t>
            </a:r>
            <a:r>
              <a:rPr lang="en-US" sz="3599" b="0" i="0" u="none" strike="noStrike" cap="none" dirty="0">
                <a:solidFill>
                  <a:srgbClr val="000000"/>
                </a:solidFill>
                <a:latin typeface="Times New Roman"/>
                <a:ea typeface="Times New Roman"/>
                <a:cs typeface="Times New Roman"/>
                <a:sym typeface="Times New Roman"/>
              </a:rPr>
              <a:t> the database and the application since the lengthy statements are already fed into the database and need not be sent again and again via the application.</a:t>
            </a:r>
            <a:endParaRPr dirty="0"/>
          </a:p>
          <a:p>
            <a:pPr marL="777232" marR="0" lvl="1" indent="-388615" algn="just" rtl="0">
              <a:lnSpc>
                <a:spcPct val="108002"/>
              </a:lnSpc>
              <a:spcBef>
                <a:spcPts val="0"/>
              </a:spcBef>
              <a:spcAft>
                <a:spcPts val="0"/>
              </a:spcAft>
              <a:buClr>
                <a:srgbClr val="000000"/>
              </a:buClr>
              <a:buSzPts val="3599"/>
              <a:buFont typeface="Arial"/>
              <a:buChar char="•"/>
            </a:pPr>
            <a:r>
              <a:rPr lang="en-US" sz="3599" b="0" i="0" u="none" strike="noStrike" cap="none" dirty="0">
                <a:solidFill>
                  <a:srgbClr val="000000"/>
                </a:solidFill>
                <a:latin typeface="Times New Roman"/>
                <a:ea typeface="Times New Roman"/>
                <a:cs typeface="Times New Roman"/>
                <a:sym typeface="Times New Roman"/>
              </a:rPr>
              <a:t>They add to code reusability, similar to how functions and methods work in other languages such as</a:t>
            </a:r>
            <a:r>
              <a:rPr lang="en-US" sz="3599" b="0" i="0" u="sng" strike="noStrike" cap="none" dirty="0">
                <a:solidFill>
                  <a:srgbClr val="000000"/>
                </a:solidFill>
                <a:latin typeface="Times New Roman"/>
                <a:ea typeface="Times New Roman"/>
                <a:cs typeface="Times New Roman"/>
                <a:sym typeface="Times New Roman"/>
              </a:rPr>
              <a:t> C</a:t>
            </a:r>
            <a:r>
              <a:rPr lang="en-US" sz="3599" b="0" i="0" u="none" strike="noStrike" cap="none" dirty="0">
                <a:solidFill>
                  <a:srgbClr val="000000"/>
                </a:solidFill>
                <a:latin typeface="Times New Roman"/>
                <a:ea typeface="Times New Roman"/>
                <a:cs typeface="Times New Roman"/>
                <a:sym typeface="Times New Roman"/>
              </a:rPr>
              <a:t>/</a:t>
            </a:r>
            <a:r>
              <a:rPr lang="en-US" sz="3599" b="0" i="0" u="sng" strike="noStrike" cap="none" dirty="0">
                <a:solidFill>
                  <a:srgbClr val="000000"/>
                </a:solidFill>
                <a:latin typeface="Times New Roman"/>
                <a:ea typeface="Times New Roman"/>
                <a:cs typeface="Times New Roman"/>
                <a:sym typeface="Times New Roman"/>
              </a:rPr>
              <a:t>C++</a:t>
            </a:r>
            <a:r>
              <a:rPr lang="en-US" sz="3599" b="0" i="0" u="none" strike="noStrike" cap="none" dirty="0">
                <a:solidFill>
                  <a:srgbClr val="000000"/>
                </a:solidFill>
                <a:latin typeface="Times New Roman"/>
                <a:ea typeface="Times New Roman"/>
                <a:cs typeface="Times New Roman"/>
                <a:sym typeface="Times New Roman"/>
              </a:rPr>
              <a:t> and </a:t>
            </a:r>
            <a:r>
              <a:rPr lang="en-US" sz="3599" b="0" i="0" u="sng" strike="noStrike" cap="none" dirty="0">
                <a:solidFill>
                  <a:srgbClr val="000000"/>
                </a:solidFill>
                <a:latin typeface="Times New Roman"/>
                <a:ea typeface="Times New Roman"/>
                <a:cs typeface="Times New Roman"/>
                <a:sym typeface="Times New Roman"/>
              </a:rPr>
              <a:t>Java</a:t>
            </a:r>
            <a:r>
              <a:rPr lang="en-US" sz="3599" dirty="0">
                <a:latin typeface="Times New Roman"/>
                <a:ea typeface="Times New Roman"/>
                <a:cs typeface="Times New Roman"/>
                <a:sym typeface="Times New Roman"/>
              </a:rPr>
              <a:t>.</a:t>
            </a:r>
            <a:endParaRPr sz="3599" dirty="0">
              <a:solidFill>
                <a:srgbClr val="000000"/>
              </a:solidFill>
              <a:latin typeface="Times New Roman"/>
              <a:ea typeface="Times New Roman"/>
              <a:cs typeface="Times New Roman"/>
              <a:sym typeface="Times New Roman"/>
            </a:endParaRPr>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
        <p:nvSpPr>
          <p:cNvPr id="309" name="Google Shape;309;p22"/>
          <p:cNvSpPr/>
          <p:nvPr/>
        </p:nvSpPr>
        <p:spPr>
          <a:xfrm>
            <a:off x="13652782" y="2950870"/>
            <a:ext cx="4114800" cy="4114800"/>
          </a:xfrm>
          <a:custGeom>
            <a:avLst/>
            <a:gdLst/>
            <a:ahLst/>
            <a:cxnLst/>
            <a:rect l="l" t="t" r="r" b="b"/>
            <a:pathLst>
              <a:path w="4114800" h="4114800" extrusionOk="0">
                <a:moveTo>
                  <a:pt x="0" y="0"/>
                </a:moveTo>
                <a:lnTo>
                  <a:pt x="4114800" y="0"/>
                </a:lnTo>
                <a:lnTo>
                  <a:pt x="4114800" y="4114800"/>
                </a:lnTo>
                <a:lnTo>
                  <a:pt x="0" y="4114800"/>
                </a:lnTo>
                <a:lnTo>
                  <a:pt x="0" y="0"/>
                </a:lnTo>
                <a:close/>
              </a:path>
            </a:pathLst>
          </a:custGeom>
          <a:blipFill rotWithShape="1">
            <a:blip r:embed="rId4">
              <a:alphaModFix/>
            </a:blip>
            <a:stretch>
              <a:fillRect/>
            </a:stretch>
          </a:blipFill>
          <a:ln>
            <a:noFill/>
          </a:ln>
        </p:spPr>
      </p:sp>
      <p:sp>
        <p:nvSpPr>
          <p:cNvPr id="310" name="Google Shape;310;p22"/>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16" name="Google Shape;316;p23"/>
          <p:cNvSpPr txBox="1"/>
          <p:nvPr/>
        </p:nvSpPr>
        <p:spPr>
          <a:xfrm>
            <a:off x="1028700" y="2254632"/>
            <a:ext cx="11919453" cy="4785413"/>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dirty="0">
                <a:solidFill>
                  <a:srgbClr val="000000"/>
                </a:solidFill>
                <a:latin typeface="Times"/>
                <a:ea typeface="Times"/>
                <a:cs typeface="Times"/>
                <a:sym typeface="Times"/>
              </a:rPr>
              <a:t>   Disadvantages of Procedures</a:t>
            </a:r>
            <a:endParaRPr dirty="0"/>
          </a:p>
          <a:p>
            <a:pPr marL="777232" marR="0" lvl="1" indent="-388615" algn="just" rtl="0">
              <a:lnSpc>
                <a:spcPct val="108002"/>
              </a:lnSpc>
              <a:spcBef>
                <a:spcPts val="0"/>
              </a:spcBef>
              <a:spcAft>
                <a:spcPts val="0"/>
              </a:spcAft>
              <a:buClr>
                <a:srgbClr val="000000"/>
              </a:buClr>
              <a:buSzPts val="3599"/>
              <a:buFont typeface="Arial"/>
              <a:buChar char="•"/>
            </a:pPr>
            <a:r>
              <a:rPr lang="en-US" sz="3599" b="0" i="0" u="none" strike="noStrike" cap="none" dirty="0">
                <a:solidFill>
                  <a:srgbClr val="000000"/>
                </a:solidFill>
                <a:latin typeface="Times New Roman"/>
                <a:ea typeface="Times New Roman"/>
                <a:cs typeface="Times New Roman"/>
                <a:sym typeface="Times New Roman"/>
              </a:rPr>
              <a:t>Stored procedures can cause a lot of memory usage. The database administrator should decide an upper bound as to how many stored procedures are feasible for a particular application.</a:t>
            </a:r>
            <a:endParaRPr dirty="0"/>
          </a:p>
          <a:p>
            <a:pPr marL="777232" marR="0" lvl="1" indent="-388615" algn="just" rtl="0">
              <a:lnSpc>
                <a:spcPct val="108002"/>
              </a:lnSpc>
              <a:spcBef>
                <a:spcPts val="0"/>
              </a:spcBef>
              <a:spcAft>
                <a:spcPts val="0"/>
              </a:spcAft>
              <a:buClr>
                <a:srgbClr val="000000"/>
              </a:buClr>
              <a:buSzPts val="3599"/>
              <a:buFont typeface="Arial"/>
              <a:buChar char="•"/>
            </a:pPr>
            <a:r>
              <a:rPr lang="en-US" sz="3599" b="0" i="0" u="none" strike="noStrike" cap="none" dirty="0">
                <a:solidFill>
                  <a:srgbClr val="000000"/>
                </a:solidFill>
                <a:latin typeface="Times New Roman"/>
                <a:ea typeface="Times New Roman"/>
                <a:cs typeface="Times New Roman"/>
                <a:sym typeface="Times New Roman"/>
              </a:rPr>
              <a:t>MySQL does not provide the functionality of debugging the stored procedures.</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
        <p:nvSpPr>
          <p:cNvPr id="317" name="Google Shape;317;p23"/>
          <p:cNvSpPr/>
          <p:nvPr/>
        </p:nvSpPr>
        <p:spPr>
          <a:xfrm>
            <a:off x="13281258" y="3340949"/>
            <a:ext cx="4264041" cy="4114800"/>
          </a:xfrm>
          <a:custGeom>
            <a:avLst/>
            <a:gdLst/>
            <a:ahLst/>
            <a:cxnLst/>
            <a:rect l="l" t="t" r="r" b="b"/>
            <a:pathLst>
              <a:path w="4264041" h="4114800" extrusionOk="0">
                <a:moveTo>
                  <a:pt x="0" y="0"/>
                </a:moveTo>
                <a:lnTo>
                  <a:pt x="4264041" y="0"/>
                </a:lnTo>
                <a:lnTo>
                  <a:pt x="4264041" y="4114800"/>
                </a:lnTo>
                <a:lnTo>
                  <a:pt x="0" y="4114800"/>
                </a:lnTo>
                <a:lnTo>
                  <a:pt x="0" y="0"/>
                </a:lnTo>
                <a:close/>
              </a:path>
            </a:pathLst>
          </a:custGeom>
          <a:blipFill rotWithShape="1">
            <a:blip r:embed="rId4">
              <a:alphaModFix/>
            </a:blip>
            <a:stretch>
              <a:fillRect/>
            </a:stretch>
          </a:blipFill>
          <a:ln>
            <a:noFill/>
          </a:ln>
        </p:spPr>
      </p:sp>
      <p:sp>
        <p:nvSpPr>
          <p:cNvPr id="318" name="Google Shape;318;p23"/>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24" name="Google Shape;324;p24"/>
          <p:cNvSpPr/>
          <p:nvPr/>
        </p:nvSpPr>
        <p:spPr>
          <a:xfrm>
            <a:off x="7465003" y="2348658"/>
            <a:ext cx="10145736" cy="6588000"/>
          </a:xfrm>
          <a:custGeom>
            <a:avLst/>
            <a:gdLst/>
            <a:ahLst/>
            <a:cxnLst/>
            <a:rect l="l" t="t" r="r" b="b"/>
            <a:pathLst>
              <a:path w="10145736" h="7644048" extrusionOk="0">
                <a:moveTo>
                  <a:pt x="0" y="0"/>
                </a:moveTo>
                <a:lnTo>
                  <a:pt x="10145736" y="0"/>
                </a:lnTo>
                <a:lnTo>
                  <a:pt x="10145736" y="7644047"/>
                </a:lnTo>
                <a:lnTo>
                  <a:pt x="0" y="7644047"/>
                </a:lnTo>
                <a:lnTo>
                  <a:pt x="0" y="0"/>
                </a:lnTo>
                <a:close/>
              </a:path>
            </a:pathLst>
          </a:custGeom>
          <a:blipFill rotWithShape="1">
            <a:blip r:embed="rId4">
              <a:alphaModFix/>
            </a:blip>
            <a:stretch>
              <a:fillRect/>
            </a:stretch>
          </a:blipFill>
          <a:ln>
            <a:noFill/>
          </a:ln>
        </p:spPr>
        <p:txBody>
          <a:bodyPr/>
          <a:lstStyle/>
          <a:p>
            <a:endParaRPr lang="en-IN" dirty="0"/>
          </a:p>
        </p:txBody>
      </p:sp>
      <p:sp>
        <p:nvSpPr>
          <p:cNvPr id="325" name="Google Shape;325;p24"/>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
        <p:nvSpPr>
          <p:cNvPr id="326" name="Google Shape;326;p24"/>
          <p:cNvSpPr txBox="1"/>
          <p:nvPr/>
        </p:nvSpPr>
        <p:spPr>
          <a:xfrm>
            <a:off x="1485900" y="2097126"/>
            <a:ext cx="5627663" cy="2990883"/>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Example</a:t>
            </a:r>
            <a:endParaRPr dirty="0"/>
          </a:p>
          <a:p>
            <a:pPr marL="0" marR="0" lvl="0" indent="0" algn="just" rtl="0">
              <a:lnSpc>
                <a:spcPct val="108002"/>
              </a:lnSpc>
              <a:spcBef>
                <a:spcPts val="0"/>
              </a:spcBef>
              <a:spcAft>
                <a:spcPts val="0"/>
              </a:spcAft>
              <a:buNone/>
            </a:pPr>
            <a:r>
              <a:rPr lang="en-US" sz="3599" dirty="0">
                <a:solidFill>
                  <a:srgbClr val="000000"/>
                </a:solidFill>
                <a:latin typeface="Times New Roman"/>
                <a:ea typeface="Times New Roman"/>
                <a:cs typeface="Times New Roman"/>
                <a:sym typeface="Times New Roman"/>
              </a:rPr>
              <a:t>In this example, we will modify a procedure in PL/SQL</a:t>
            </a:r>
            <a:endParaRPr dirty="0"/>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32" name="Google Shape;332;p25"/>
          <p:cNvSpPr/>
          <p:nvPr/>
        </p:nvSpPr>
        <p:spPr>
          <a:xfrm>
            <a:off x="2524175" y="2056863"/>
            <a:ext cx="12528000" cy="6300000"/>
          </a:xfrm>
          <a:custGeom>
            <a:avLst/>
            <a:gdLst/>
            <a:ahLst/>
            <a:cxnLst/>
            <a:rect l="l" t="t" r="r" b="b"/>
            <a:pathLst>
              <a:path w="12734111" h="7721520" extrusionOk="0">
                <a:moveTo>
                  <a:pt x="0" y="0"/>
                </a:moveTo>
                <a:lnTo>
                  <a:pt x="12734111" y="0"/>
                </a:lnTo>
                <a:lnTo>
                  <a:pt x="12734111" y="7721520"/>
                </a:lnTo>
                <a:lnTo>
                  <a:pt x="0" y="7721520"/>
                </a:lnTo>
                <a:lnTo>
                  <a:pt x="0" y="0"/>
                </a:lnTo>
                <a:close/>
              </a:path>
            </a:pathLst>
          </a:custGeom>
          <a:blipFill rotWithShape="1">
            <a:blip r:embed="rId4">
              <a:alphaModFix/>
            </a:blip>
            <a:stretch>
              <a:fillRect l="-6299" r="-6497" b="-4639"/>
            </a:stretch>
          </a:blipFill>
          <a:ln>
            <a:noFill/>
          </a:ln>
        </p:spPr>
        <p:txBody>
          <a:bodyPr/>
          <a:lstStyle/>
          <a:p>
            <a:endParaRPr lang="en-IN" dirty="0"/>
          </a:p>
        </p:txBody>
      </p:sp>
      <p:sp>
        <p:nvSpPr>
          <p:cNvPr id="333" name="Google Shape;333;p25"/>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Procedures </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39" name="Google Shape;339;p26"/>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Trigger</a:t>
            </a:r>
            <a:endParaRPr dirty="0"/>
          </a:p>
        </p:txBody>
      </p:sp>
      <p:sp>
        <p:nvSpPr>
          <p:cNvPr id="340" name="Google Shape;340;p26"/>
          <p:cNvSpPr txBox="1"/>
          <p:nvPr/>
        </p:nvSpPr>
        <p:spPr>
          <a:xfrm>
            <a:off x="1861456" y="2303055"/>
            <a:ext cx="15529615" cy="2659061"/>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dirty="0">
                <a:solidFill>
                  <a:srgbClr val="000000"/>
                </a:solidFill>
                <a:latin typeface="+mj-lt"/>
                <a:ea typeface="Times New Roman"/>
                <a:cs typeface="Times New Roman"/>
                <a:sym typeface="Times New Roman"/>
              </a:rPr>
              <a:t>A trigger in a database is a set of SQL statements that are automatically executed (fired) in response to specific events on a particular table or view. Triggers help enforce business rules, maintain data integrity, and automate tasks. Events include INSERT, UPDATE, or DELETE operations on a table or view. Triggers are often used to validate data, log changes, or automate responses to changes in the database.</a:t>
            </a:r>
            <a:endParaRPr sz="3599" dirty="0">
              <a:solidFill>
                <a:srgbClr val="000000"/>
              </a:solidFill>
              <a:latin typeface="+mj-lt"/>
              <a:ea typeface="Times New Roman"/>
              <a:cs typeface="Times New Roman"/>
              <a:sym typeface="Times New Roman"/>
            </a:endParaRPr>
          </a:p>
        </p:txBody>
      </p:sp>
      <p:sp>
        <p:nvSpPr>
          <p:cNvPr id="341" name="Google Shape;341;p26"/>
          <p:cNvSpPr txBox="1"/>
          <p:nvPr/>
        </p:nvSpPr>
        <p:spPr>
          <a:xfrm>
            <a:off x="1861456" y="5324885"/>
            <a:ext cx="15529616" cy="3722686"/>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b="1" dirty="0">
                <a:solidFill>
                  <a:srgbClr val="000000"/>
                </a:solidFill>
                <a:latin typeface="+mj-lt"/>
                <a:ea typeface="Times"/>
                <a:cs typeface="Times"/>
                <a:sym typeface="Times"/>
              </a:rPr>
              <a:t>Key Features of SQL Triggers:</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1" i="0" u="none" strike="noStrike" cap="none" dirty="0">
                <a:solidFill>
                  <a:srgbClr val="000000"/>
                </a:solidFill>
                <a:latin typeface="+mj-lt"/>
                <a:ea typeface="Times"/>
                <a:cs typeface="Times"/>
                <a:sym typeface="Times"/>
              </a:rPr>
              <a:t>Automatic Execution: </a:t>
            </a:r>
            <a:r>
              <a:rPr lang="en-US" sz="3200" b="0" i="0" u="none" strike="noStrike" cap="none" dirty="0">
                <a:solidFill>
                  <a:srgbClr val="000000"/>
                </a:solidFill>
                <a:latin typeface="+mj-lt"/>
                <a:ea typeface="Times New Roman"/>
                <a:cs typeface="Times New Roman"/>
                <a:sym typeface="Times New Roman"/>
              </a:rPr>
              <a:t>Triggers fire automatically when the defined event occurs (e.g., INSERT, UPDATE, DELETE).</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1" i="0" u="none" strike="noStrike" cap="none" dirty="0">
                <a:solidFill>
                  <a:srgbClr val="000000"/>
                </a:solidFill>
                <a:latin typeface="+mj-lt"/>
                <a:ea typeface="Times"/>
                <a:cs typeface="Times"/>
                <a:sym typeface="Times"/>
              </a:rPr>
              <a:t>Event-Driven:</a:t>
            </a:r>
            <a:r>
              <a:rPr lang="en-US" sz="3200" b="0" i="0" u="none" strike="noStrike" cap="none" dirty="0">
                <a:solidFill>
                  <a:srgbClr val="000000"/>
                </a:solidFill>
                <a:latin typeface="+mj-lt"/>
                <a:ea typeface="Times New Roman"/>
                <a:cs typeface="Times New Roman"/>
                <a:sym typeface="Times New Roman"/>
              </a:rPr>
              <a:t> Triggers are tied to specific events that take place within the database.</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1" i="0" u="none" strike="noStrike" cap="none" dirty="0">
                <a:solidFill>
                  <a:srgbClr val="000000"/>
                </a:solidFill>
                <a:latin typeface="+mj-lt"/>
                <a:ea typeface="Times"/>
                <a:cs typeface="Times"/>
                <a:sym typeface="Times"/>
              </a:rPr>
              <a:t>Table Association: </a:t>
            </a:r>
            <a:r>
              <a:rPr lang="en-US" sz="3200" b="0" i="0" u="none" strike="noStrike" cap="none" dirty="0">
                <a:solidFill>
                  <a:srgbClr val="000000"/>
                </a:solidFill>
                <a:latin typeface="+mj-lt"/>
                <a:ea typeface="Times New Roman"/>
                <a:cs typeface="Times New Roman"/>
                <a:sym typeface="Times New Roman"/>
              </a:rPr>
              <a:t>A trigger is linked to a specific table or view, and operates whenever changes are made to the table’s data.</a:t>
            </a:r>
            <a:endParaRPr sz="1200" dirty="0">
              <a:latin typeface="+mj-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7"/>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47" name="Google Shape;347;p27"/>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Trigger</a:t>
            </a:r>
            <a:endParaRPr dirty="0"/>
          </a:p>
        </p:txBody>
      </p:sp>
      <p:sp>
        <p:nvSpPr>
          <p:cNvPr id="348" name="Google Shape;348;p27"/>
          <p:cNvSpPr txBox="1"/>
          <p:nvPr/>
        </p:nvSpPr>
        <p:spPr>
          <a:xfrm>
            <a:off x="1992086" y="2452745"/>
            <a:ext cx="15468730" cy="5384487"/>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b="1" dirty="0">
                <a:solidFill>
                  <a:srgbClr val="000000"/>
                </a:solidFill>
                <a:latin typeface="+mj-lt"/>
                <a:ea typeface="Times"/>
                <a:cs typeface="Times"/>
                <a:sym typeface="Times"/>
              </a:rPr>
              <a:t>Key Terms</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mj-lt"/>
                <a:ea typeface="Times New Roman"/>
                <a:cs typeface="Times New Roman"/>
                <a:sym typeface="Times New Roman"/>
              </a:rPr>
              <a:t>Create trigger [</a:t>
            </a:r>
            <a:r>
              <a:rPr lang="en-US" sz="3200" b="0" i="0" u="none" strike="noStrike" cap="none" dirty="0" err="1">
                <a:solidFill>
                  <a:srgbClr val="000000"/>
                </a:solidFill>
                <a:latin typeface="+mj-lt"/>
                <a:ea typeface="Times New Roman"/>
                <a:cs typeface="Times New Roman"/>
                <a:sym typeface="Times New Roman"/>
              </a:rPr>
              <a:t>trigger_name</a:t>
            </a:r>
            <a:r>
              <a:rPr lang="en-US" sz="3200" b="0" i="0" u="none" strike="noStrike" cap="none" dirty="0">
                <a:solidFill>
                  <a:srgbClr val="000000"/>
                </a:solidFill>
                <a:latin typeface="+mj-lt"/>
                <a:ea typeface="Times New Roman"/>
                <a:cs typeface="Times New Roman"/>
                <a:sym typeface="Times New Roman"/>
              </a:rPr>
              <a:t>]: Creates or replaces an existing trigger with the </a:t>
            </a:r>
            <a:r>
              <a:rPr lang="en-US" sz="3200" b="0" i="0" u="none" strike="noStrike" cap="none" dirty="0" err="1">
                <a:solidFill>
                  <a:srgbClr val="000000"/>
                </a:solidFill>
                <a:latin typeface="+mj-lt"/>
                <a:ea typeface="Times New Roman"/>
                <a:cs typeface="Times New Roman"/>
                <a:sym typeface="Times New Roman"/>
              </a:rPr>
              <a:t>trigger_name</a:t>
            </a:r>
            <a:r>
              <a:rPr lang="en-US" sz="3200" b="0" i="0" u="none" strike="noStrike" cap="none" dirty="0">
                <a:solidFill>
                  <a:srgbClr val="000000"/>
                </a:solidFill>
                <a:latin typeface="+mj-lt"/>
                <a:ea typeface="Times New Roman"/>
                <a:cs typeface="Times New Roman"/>
                <a:sym typeface="Times New Roman"/>
              </a:rPr>
              <a:t>.</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mj-lt"/>
                <a:ea typeface="Times New Roman"/>
                <a:cs typeface="Times New Roman"/>
                <a:sym typeface="Times New Roman"/>
              </a:rPr>
              <a:t>[before | after]: This specifies when the trigger will be executed.</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mj-lt"/>
                <a:ea typeface="Times New Roman"/>
                <a:cs typeface="Times New Roman"/>
                <a:sym typeface="Times New Roman"/>
              </a:rPr>
              <a:t>{insert | update | delete}: This specifies the DML operation.</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mj-lt"/>
                <a:ea typeface="Times New Roman"/>
                <a:cs typeface="Times New Roman"/>
                <a:sym typeface="Times New Roman"/>
              </a:rPr>
              <a:t>On [</a:t>
            </a:r>
            <a:r>
              <a:rPr lang="en-US" sz="3200" b="0" i="0" u="none" strike="noStrike" cap="none" dirty="0" err="1">
                <a:solidFill>
                  <a:srgbClr val="000000"/>
                </a:solidFill>
                <a:latin typeface="+mj-lt"/>
                <a:ea typeface="Times New Roman"/>
                <a:cs typeface="Times New Roman"/>
                <a:sym typeface="Times New Roman"/>
              </a:rPr>
              <a:t>table_name</a:t>
            </a:r>
            <a:r>
              <a:rPr lang="en-US" sz="3200" b="0" i="0" u="none" strike="noStrike" cap="none" dirty="0">
                <a:solidFill>
                  <a:srgbClr val="000000"/>
                </a:solidFill>
                <a:latin typeface="+mj-lt"/>
                <a:ea typeface="Times New Roman"/>
                <a:cs typeface="Times New Roman"/>
                <a:sym typeface="Times New Roman"/>
              </a:rPr>
              <a:t>]: This specifies the name of the table associated with the trigger.</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mj-lt"/>
                <a:ea typeface="Times New Roman"/>
                <a:cs typeface="Times New Roman"/>
                <a:sym typeface="Times New Roman"/>
              </a:rPr>
              <a:t>[for each row]: This specifies a row-level trigger, i.e., the trigger will be executed for each affected row.</a:t>
            </a:r>
            <a:endParaRPr sz="1200" dirty="0">
              <a:latin typeface="+mj-lt"/>
            </a:endParaRPr>
          </a:p>
          <a:p>
            <a:pPr marL="777232" marR="0" lvl="1" indent="-388615" algn="just" rtl="0">
              <a:lnSpc>
                <a:spcPct val="108002"/>
              </a:lnSpc>
              <a:spcBef>
                <a:spcPts val="0"/>
              </a:spcBef>
              <a:spcAft>
                <a:spcPts val="0"/>
              </a:spcAft>
              <a:buClr>
                <a:srgbClr val="000000"/>
              </a:buClr>
              <a:buSzPts val="3599"/>
              <a:buFont typeface="Arial"/>
              <a:buChar char="•"/>
            </a:pPr>
            <a:r>
              <a:rPr lang="en-US" sz="3200" b="0" i="0" u="none" strike="noStrike" cap="none" dirty="0">
                <a:solidFill>
                  <a:srgbClr val="000000"/>
                </a:solidFill>
                <a:latin typeface="+mj-lt"/>
                <a:ea typeface="Times New Roman"/>
                <a:cs typeface="Times New Roman"/>
                <a:sym typeface="Times New Roman"/>
              </a:rPr>
              <a:t>[</a:t>
            </a:r>
            <a:r>
              <a:rPr lang="en-US" sz="3200" b="0" i="0" u="none" strike="noStrike" cap="none" dirty="0" err="1">
                <a:solidFill>
                  <a:srgbClr val="000000"/>
                </a:solidFill>
                <a:latin typeface="+mj-lt"/>
                <a:ea typeface="Times New Roman"/>
                <a:cs typeface="Times New Roman"/>
                <a:sym typeface="Times New Roman"/>
              </a:rPr>
              <a:t>trigger_body</a:t>
            </a:r>
            <a:r>
              <a:rPr lang="en-US" sz="3200" b="0" i="0" u="none" strike="noStrike" cap="none" dirty="0">
                <a:solidFill>
                  <a:srgbClr val="000000"/>
                </a:solidFill>
                <a:latin typeface="+mj-lt"/>
                <a:ea typeface="Times New Roman"/>
                <a:cs typeface="Times New Roman"/>
                <a:sym typeface="Times New Roman"/>
              </a:rPr>
              <a:t>]: This provides the operation to be performed as the trigger is fired</a:t>
            </a:r>
            <a:endParaRPr sz="1200" dirty="0">
              <a:latin typeface="+mj-lt"/>
            </a:endParaRPr>
          </a:p>
          <a:p>
            <a:pPr marL="0" marR="0" lvl="0" indent="0" algn="just" rtl="0">
              <a:lnSpc>
                <a:spcPct val="108002"/>
              </a:lnSpc>
              <a:spcBef>
                <a:spcPts val="0"/>
              </a:spcBef>
              <a:spcAft>
                <a:spcPts val="0"/>
              </a:spcAft>
              <a:buNone/>
            </a:pPr>
            <a:endParaRPr sz="3599"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8"/>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54" name="Google Shape;354;p28"/>
          <p:cNvSpPr/>
          <p:nvPr/>
        </p:nvSpPr>
        <p:spPr>
          <a:xfrm>
            <a:off x="12040900" y="3747530"/>
            <a:ext cx="5723831" cy="3160904"/>
          </a:xfrm>
          <a:custGeom>
            <a:avLst/>
            <a:gdLst/>
            <a:ahLst/>
            <a:cxnLst/>
            <a:rect l="l" t="t" r="r" b="b"/>
            <a:pathLst>
              <a:path w="5723831" h="3160904" extrusionOk="0">
                <a:moveTo>
                  <a:pt x="0" y="0"/>
                </a:moveTo>
                <a:lnTo>
                  <a:pt x="5723831" y="0"/>
                </a:lnTo>
                <a:lnTo>
                  <a:pt x="5723831" y="3160904"/>
                </a:lnTo>
                <a:lnTo>
                  <a:pt x="0" y="3160904"/>
                </a:lnTo>
                <a:lnTo>
                  <a:pt x="0" y="0"/>
                </a:lnTo>
                <a:close/>
              </a:path>
            </a:pathLst>
          </a:custGeom>
          <a:blipFill rotWithShape="1">
            <a:blip r:embed="rId4">
              <a:alphaModFix/>
            </a:blip>
            <a:stretch>
              <a:fillRect l="-8390" t="-80619" r="-89042" b="-20482"/>
            </a:stretch>
          </a:blipFill>
          <a:ln w="66675" cap="sq" cmpd="sng">
            <a:solidFill>
              <a:srgbClr val="000000"/>
            </a:solidFill>
            <a:prstDash val="solid"/>
            <a:miter lim="8000"/>
            <a:headEnd type="none" w="sm" len="sm"/>
            <a:tailEnd type="none" w="sm" len="sm"/>
          </a:ln>
        </p:spPr>
      </p:sp>
      <p:sp>
        <p:nvSpPr>
          <p:cNvPr id="355" name="Google Shape;355;p28"/>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Trigger</a:t>
            </a:r>
            <a:endParaRPr dirty="0"/>
          </a:p>
        </p:txBody>
      </p:sp>
      <p:sp>
        <p:nvSpPr>
          <p:cNvPr id="356" name="Google Shape;356;p28"/>
          <p:cNvSpPr txBox="1"/>
          <p:nvPr/>
        </p:nvSpPr>
        <p:spPr>
          <a:xfrm>
            <a:off x="1534886" y="1864381"/>
            <a:ext cx="9982746" cy="6049990"/>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2800" dirty="0">
                <a:solidFill>
                  <a:srgbClr val="000000"/>
                </a:solidFill>
                <a:latin typeface="+mj-lt"/>
                <a:ea typeface="Times New Roman"/>
                <a:cs typeface="Times New Roman"/>
                <a:sym typeface="Times New Roman"/>
              </a:rPr>
              <a:t>We can define 6 types of triggers for each table: </a:t>
            </a:r>
            <a:endParaRPr sz="1100" dirty="0">
              <a:latin typeface="+mj-lt"/>
            </a:endParaRPr>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2800" b="0" i="0" u="none" strike="noStrike" cap="none" dirty="0">
                <a:solidFill>
                  <a:srgbClr val="000000"/>
                </a:solidFill>
                <a:latin typeface="+mj-lt"/>
                <a:ea typeface="Times New Roman"/>
                <a:cs typeface="Times New Roman"/>
                <a:sym typeface="Times New Roman"/>
              </a:rPr>
              <a:t>AFTER INSERT activated after data is inserted into the table. </a:t>
            </a:r>
            <a:endParaRPr sz="1100" dirty="0">
              <a:latin typeface="+mj-lt"/>
            </a:endParaRPr>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2800" b="0" i="0" u="none" strike="noStrike" cap="none" dirty="0">
                <a:solidFill>
                  <a:srgbClr val="000000"/>
                </a:solidFill>
                <a:latin typeface="+mj-lt"/>
                <a:ea typeface="Times New Roman"/>
                <a:cs typeface="Times New Roman"/>
                <a:sym typeface="Times New Roman"/>
              </a:rPr>
              <a:t>AFTER UPDATE: activated after data in the table is modified.  </a:t>
            </a:r>
            <a:endParaRPr sz="1100" dirty="0">
              <a:latin typeface="+mj-lt"/>
            </a:endParaRPr>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2800" b="0" i="0" u="none" strike="noStrike" cap="none" dirty="0">
                <a:solidFill>
                  <a:srgbClr val="000000"/>
                </a:solidFill>
                <a:latin typeface="+mj-lt"/>
                <a:ea typeface="Times New Roman"/>
                <a:cs typeface="Times New Roman"/>
                <a:sym typeface="Times New Roman"/>
              </a:rPr>
              <a:t>AFTER DELETE: activated after data is deleted/removed from the table. </a:t>
            </a:r>
            <a:endParaRPr sz="1100" dirty="0">
              <a:latin typeface="+mj-lt"/>
            </a:endParaRPr>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2800" b="0" i="0" u="none" strike="noStrike" cap="none" dirty="0">
                <a:solidFill>
                  <a:srgbClr val="000000"/>
                </a:solidFill>
                <a:latin typeface="+mj-lt"/>
                <a:ea typeface="Times New Roman"/>
                <a:cs typeface="Times New Roman"/>
                <a:sym typeface="Times New Roman"/>
              </a:rPr>
              <a:t>BEFORE INSERT: activated before data is inserted into the table. </a:t>
            </a:r>
            <a:endParaRPr sz="1100" dirty="0">
              <a:latin typeface="+mj-lt"/>
            </a:endParaRPr>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2800" b="0" i="0" u="none" strike="noStrike" cap="none" dirty="0">
                <a:solidFill>
                  <a:srgbClr val="000000"/>
                </a:solidFill>
                <a:latin typeface="+mj-lt"/>
                <a:ea typeface="Times New Roman"/>
                <a:cs typeface="Times New Roman"/>
                <a:sym typeface="Times New Roman"/>
              </a:rPr>
              <a:t>BEFORE UPDATE: activated before data in the table is modified. </a:t>
            </a:r>
            <a:endParaRPr sz="1100" dirty="0">
              <a:latin typeface="+mj-lt"/>
            </a:endParaRPr>
          </a:p>
          <a:p>
            <a:pPr marL="777232" marR="0" lvl="1" indent="-388615" algn="just" rtl="0">
              <a:lnSpc>
                <a:spcPct val="108002"/>
              </a:lnSpc>
              <a:spcBef>
                <a:spcPts val="0"/>
              </a:spcBef>
              <a:spcAft>
                <a:spcPts val="0"/>
              </a:spcAft>
              <a:buClr>
                <a:srgbClr val="000000"/>
              </a:buClr>
              <a:buSzPts val="3599"/>
              <a:buFont typeface="Times New Roman"/>
              <a:buAutoNum type="arabicPeriod"/>
            </a:pPr>
            <a:r>
              <a:rPr lang="en-US" sz="2800" b="0" i="0" u="none" strike="noStrike" cap="none" dirty="0">
                <a:solidFill>
                  <a:srgbClr val="000000"/>
                </a:solidFill>
                <a:latin typeface="+mj-lt"/>
                <a:ea typeface="Times New Roman"/>
                <a:cs typeface="Times New Roman"/>
                <a:sym typeface="Times New Roman"/>
              </a:rPr>
              <a:t>BEFORE DELETE: activated before data is deleted/removed from the table. </a:t>
            </a:r>
            <a:endParaRPr sz="1100"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9"/>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62" name="Google Shape;362;p29"/>
          <p:cNvSpPr/>
          <p:nvPr/>
        </p:nvSpPr>
        <p:spPr>
          <a:xfrm>
            <a:off x="6818504" y="5143500"/>
            <a:ext cx="4094226" cy="4114800"/>
          </a:xfrm>
          <a:custGeom>
            <a:avLst/>
            <a:gdLst/>
            <a:ahLst/>
            <a:cxnLst/>
            <a:rect l="l" t="t" r="r" b="b"/>
            <a:pathLst>
              <a:path w="4094226" h="4114800" extrusionOk="0">
                <a:moveTo>
                  <a:pt x="0" y="0"/>
                </a:moveTo>
                <a:lnTo>
                  <a:pt x="4094226" y="0"/>
                </a:lnTo>
                <a:lnTo>
                  <a:pt x="4094226" y="4114800"/>
                </a:lnTo>
                <a:lnTo>
                  <a:pt x="0" y="4114800"/>
                </a:lnTo>
                <a:lnTo>
                  <a:pt x="0" y="0"/>
                </a:lnTo>
                <a:close/>
              </a:path>
            </a:pathLst>
          </a:custGeom>
          <a:blipFill rotWithShape="1">
            <a:blip r:embed="rId4">
              <a:alphaModFix/>
            </a:blip>
            <a:stretch>
              <a:fillRect/>
            </a:stretch>
          </a:blipFill>
          <a:ln>
            <a:noFill/>
          </a:ln>
        </p:spPr>
      </p:sp>
      <p:sp>
        <p:nvSpPr>
          <p:cNvPr id="363" name="Google Shape;363;p29"/>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Trigger</a:t>
            </a:r>
            <a:endParaRPr dirty="0"/>
          </a:p>
        </p:txBody>
      </p:sp>
      <p:sp>
        <p:nvSpPr>
          <p:cNvPr id="364" name="Google Shape;364;p29"/>
          <p:cNvSpPr txBox="1"/>
          <p:nvPr/>
        </p:nvSpPr>
        <p:spPr>
          <a:xfrm>
            <a:off x="1975757" y="2408781"/>
            <a:ext cx="14072670" cy="2659061"/>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b="1" dirty="0">
                <a:solidFill>
                  <a:srgbClr val="000000"/>
                </a:solidFill>
                <a:latin typeface="+mn-lt"/>
                <a:ea typeface="Times"/>
                <a:cs typeface="Times"/>
                <a:sym typeface="Times"/>
              </a:rPr>
              <a:t>Applications of Triggers:</a:t>
            </a:r>
            <a:endParaRPr sz="1200" dirty="0">
              <a:latin typeface="+mn-lt"/>
            </a:endParaRPr>
          </a:p>
          <a:p>
            <a:pPr marL="1554464" marR="0" lvl="2" indent="-518155" algn="just" rtl="0">
              <a:lnSpc>
                <a:spcPct val="108002"/>
              </a:lnSpc>
              <a:spcBef>
                <a:spcPts val="0"/>
              </a:spcBef>
              <a:spcAft>
                <a:spcPts val="0"/>
              </a:spcAft>
              <a:buClr>
                <a:srgbClr val="000000"/>
              </a:buClr>
              <a:buSzPts val="3599"/>
              <a:buFont typeface="Times"/>
              <a:buAutoNum type="alphaLcPeriod"/>
            </a:pPr>
            <a:r>
              <a:rPr lang="en-US" sz="3200" b="1" i="0" u="none" strike="noStrike" cap="none" dirty="0">
                <a:solidFill>
                  <a:srgbClr val="000000"/>
                </a:solidFill>
                <a:latin typeface="+mn-lt"/>
                <a:ea typeface="Times"/>
                <a:cs typeface="Times"/>
                <a:sym typeface="Times"/>
              </a:rPr>
              <a:t>Audit Trails:</a:t>
            </a:r>
            <a:r>
              <a:rPr lang="en-US" sz="3200" b="0" i="0" u="none" strike="noStrike" cap="none" dirty="0">
                <a:solidFill>
                  <a:srgbClr val="000000"/>
                </a:solidFill>
                <a:latin typeface="+mn-lt"/>
                <a:ea typeface="Times New Roman"/>
                <a:cs typeface="Times New Roman"/>
                <a:sym typeface="Times New Roman"/>
              </a:rPr>
              <a:t> Automatically log changes to data.</a:t>
            </a:r>
            <a:endParaRPr sz="1200" dirty="0">
              <a:latin typeface="+mn-lt"/>
            </a:endParaRPr>
          </a:p>
          <a:p>
            <a:pPr marL="1554464" marR="0" lvl="2" indent="-518155" algn="just" rtl="0">
              <a:lnSpc>
                <a:spcPct val="108002"/>
              </a:lnSpc>
              <a:spcBef>
                <a:spcPts val="0"/>
              </a:spcBef>
              <a:spcAft>
                <a:spcPts val="0"/>
              </a:spcAft>
              <a:buClr>
                <a:srgbClr val="000000"/>
              </a:buClr>
              <a:buSzPts val="3599"/>
              <a:buFont typeface="Times"/>
              <a:buAutoNum type="alphaLcPeriod"/>
            </a:pPr>
            <a:r>
              <a:rPr lang="en-US" sz="3200" b="1" i="0" u="none" strike="noStrike" cap="none" dirty="0">
                <a:solidFill>
                  <a:srgbClr val="000000"/>
                </a:solidFill>
                <a:latin typeface="+mn-lt"/>
                <a:ea typeface="Times"/>
                <a:cs typeface="Times"/>
                <a:sym typeface="Times"/>
              </a:rPr>
              <a:t>Enforcing Constraints: </a:t>
            </a:r>
            <a:r>
              <a:rPr lang="en-US" sz="3200" b="0" i="0" u="none" strike="noStrike" cap="none" dirty="0">
                <a:solidFill>
                  <a:srgbClr val="000000"/>
                </a:solidFill>
                <a:latin typeface="+mn-lt"/>
                <a:ea typeface="Times New Roman"/>
                <a:cs typeface="Times New Roman"/>
                <a:sym typeface="Times New Roman"/>
              </a:rPr>
              <a:t>Prevent invalid data modifications.</a:t>
            </a:r>
            <a:endParaRPr sz="1200" dirty="0">
              <a:latin typeface="+mn-lt"/>
            </a:endParaRPr>
          </a:p>
          <a:p>
            <a:pPr marL="1554464" marR="0" lvl="2" indent="-518155" algn="just" rtl="0">
              <a:lnSpc>
                <a:spcPct val="108002"/>
              </a:lnSpc>
              <a:spcBef>
                <a:spcPts val="0"/>
              </a:spcBef>
              <a:spcAft>
                <a:spcPts val="0"/>
              </a:spcAft>
              <a:buClr>
                <a:srgbClr val="000000"/>
              </a:buClr>
              <a:buSzPts val="3599"/>
              <a:buFont typeface="Times"/>
              <a:buAutoNum type="alphaLcPeriod"/>
            </a:pPr>
            <a:r>
              <a:rPr lang="en-US" sz="3200" b="1" i="0" u="none" strike="noStrike" cap="none" dirty="0">
                <a:solidFill>
                  <a:srgbClr val="000000"/>
                </a:solidFill>
                <a:latin typeface="+mn-lt"/>
                <a:ea typeface="Times"/>
                <a:cs typeface="Times"/>
                <a:sym typeface="Times"/>
              </a:rPr>
              <a:t>Synchronous Replication: </a:t>
            </a:r>
            <a:r>
              <a:rPr lang="en-US" sz="3200" b="0" i="0" u="none" strike="noStrike" cap="none" dirty="0">
                <a:solidFill>
                  <a:srgbClr val="000000"/>
                </a:solidFill>
                <a:latin typeface="+mn-lt"/>
                <a:ea typeface="Times New Roman"/>
                <a:cs typeface="Times New Roman"/>
                <a:sym typeface="Times New Roman"/>
              </a:rPr>
              <a:t>Maintain a copy of data in another table.</a:t>
            </a:r>
            <a:endParaRPr sz="1200" dirty="0">
              <a:latin typeface="+mn-lt"/>
            </a:endParaRPr>
          </a:p>
          <a:p>
            <a:pPr marL="1554464" marR="0" lvl="2" indent="-518155" algn="just" rtl="0">
              <a:lnSpc>
                <a:spcPct val="108002"/>
              </a:lnSpc>
              <a:spcBef>
                <a:spcPts val="0"/>
              </a:spcBef>
              <a:spcAft>
                <a:spcPts val="0"/>
              </a:spcAft>
              <a:buClr>
                <a:srgbClr val="000000"/>
              </a:buClr>
              <a:buSzPts val="3599"/>
              <a:buFont typeface="Times"/>
              <a:buAutoNum type="alphaLcPeriod"/>
            </a:pPr>
            <a:r>
              <a:rPr lang="en-US" sz="3200" b="1" i="0" u="none" strike="noStrike" cap="none" dirty="0">
                <a:solidFill>
                  <a:srgbClr val="000000"/>
                </a:solidFill>
                <a:latin typeface="+mn-lt"/>
                <a:ea typeface="Times"/>
                <a:cs typeface="Times"/>
                <a:sym typeface="Times"/>
              </a:rPr>
              <a:t>Business Logic: </a:t>
            </a:r>
            <a:r>
              <a:rPr lang="en-US" sz="3200" b="0" i="0" u="none" strike="noStrike" cap="none" dirty="0">
                <a:solidFill>
                  <a:srgbClr val="000000"/>
                </a:solidFill>
                <a:latin typeface="+mn-lt"/>
                <a:ea typeface="Times New Roman"/>
                <a:cs typeface="Times New Roman"/>
                <a:sym typeface="Times New Roman"/>
              </a:rPr>
              <a:t>Implement rules like updating inventory after a sale.</a:t>
            </a:r>
            <a:endParaRPr dirty="0">
              <a:latin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0"/>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70" name="Google Shape;370;p30"/>
          <p:cNvSpPr/>
          <p:nvPr/>
        </p:nvSpPr>
        <p:spPr>
          <a:xfrm>
            <a:off x="3226453" y="2851739"/>
            <a:ext cx="10356272" cy="5168421"/>
          </a:xfrm>
          <a:custGeom>
            <a:avLst/>
            <a:gdLst/>
            <a:ahLst/>
            <a:cxnLst/>
            <a:rect l="l" t="t" r="r" b="b"/>
            <a:pathLst>
              <a:path w="10356272" h="5168421" extrusionOk="0">
                <a:moveTo>
                  <a:pt x="0" y="0"/>
                </a:moveTo>
                <a:lnTo>
                  <a:pt x="10356272" y="0"/>
                </a:lnTo>
                <a:lnTo>
                  <a:pt x="10356272" y="5168421"/>
                </a:lnTo>
                <a:lnTo>
                  <a:pt x="0" y="5168421"/>
                </a:lnTo>
                <a:lnTo>
                  <a:pt x="0" y="0"/>
                </a:lnTo>
                <a:close/>
              </a:path>
            </a:pathLst>
          </a:custGeom>
          <a:blipFill rotWithShape="1">
            <a:blip r:embed="rId4">
              <a:alphaModFix/>
            </a:blip>
            <a:stretch>
              <a:fillRect/>
            </a:stretch>
          </a:blipFill>
          <a:ln>
            <a:noFill/>
          </a:ln>
        </p:spPr>
      </p:sp>
      <p:sp>
        <p:nvSpPr>
          <p:cNvPr id="371" name="Google Shape;371;p30"/>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Syntax of Trigger</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78" name="Google Shape;378;p31"/>
          <p:cNvSpPr txBox="1"/>
          <p:nvPr/>
        </p:nvSpPr>
        <p:spPr>
          <a:xfrm>
            <a:off x="1538126" y="2097463"/>
            <a:ext cx="10690448" cy="6579943"/>
          </a:xfrm>
          <a:prstGeom prst="rect">
            <a:avLst/>
          </a:prstGeom>
          <a:noFill/>
          <a:ln>
            <a:noFill/>
          </a:ln>
        </p:spPr>
        <p:txBody>
          <a:bodyPr spcFirstLastPara="1" wrap="square" lIns="0" tIns="0" rIns="0" bIns="0" anchor="t" anchorCtr="0">
            <a:spAutoFit/>
          </a:bodyPr>
          <a:lstStyle/>
          <a:p>
            <a:pPr marL="777232" marR="0" lvl="1" indent="-388615" algn="just" rtl="0">
              <a:lnSpc>
                <a:spcPct val="108002"/>
              </a:lnSpc>
              <a:spcBef>
                <a:spcPts val="0"/>
              </a:spcBef>
              <a:spcAft>
                <a:spcPts val="0"/>
              </a:spcAft>
              <a:buClr>
                <a:srgbClr val="000000"/>
              </a:buClr>
              <a:buSzPts val="3599"/>
              <a:buFont typeface="Times"/>
              <a:buAutoNum type="arabicPeriod"/>
            </a:pPr>
            <a:r>
              <a:rPr lang="en-US" sz="3599" b="1" i="0" u="none" strike="noStrike" cap="none" dirty="0">
                <a:solidFill>
                  <a:srgbClr val="000000"/>
                </a:solidFill>
                <a:latin typeface="Times"/>
                <a:ea typeface="Times"/>
                <a:cs typeface="Times"/>
                <a:sym typeface="Times"/>
              </a:rPr>
              <a:t>Understand the Event: </a:t>
            </a:r>
            <a:r>
              <a:rPr lang="en-US" sz="3599" b="0" i="0" u="none" strike="noStrike" cap="none" dirty="0">
                <a:solidFill>
                  <a:srgbClr val="000000"/>
                </a:solidFill>
                <a:latin typeface="Times New Roman"/>
                <a:ea typeface="Times New Roman"/>
                <a:cs typeface="Times New Roman"/>
                <a:sym typeface="Times New Roman"/>
              </a:rPr>
              <a:t>Decide on the event that will activate the trigger (e.g., INSERT, UPDATE, DELETE).</a:t>
            </a:r>
            <a:endParaRPr dirty="0"/>
          </a:p>
          <a:p>
            <a:pPr marL="777232" marR="0" lvl="1" indent="-388615" algn="just" rtl="0">
              <a:lnSpc>
                <a:spcPct val="108002"/>
              </a:lnSpc>
              <a:spcBef>
                <a:spcPts val="0"/>
              </a:spcBef>
              <a:spcAft>
                <a:spcPts val="0"/>
              </a:spcAft>
              <a:buClr>
                <a:srgbClr val="000000"/>
              </a:buClr>
              <a:buSzPts val="3599"/>
              <a:buFont typeface="Times"/>
              <a:buAutoNum type="arabicPeriod"/>
            </a:pPr>
            <a:r>
              <a:rPr lang="en-US" sz="3599" b="1" i="0" u="none" strike="noStrike" cap="none" dirty="0">
                <a:solidFill>
                  <a:srgbClr val="000000"/>
                </a:solidFill>
                <a:latin typeface="Times"/>
                <a:ea typeface="Times"/>
                <a:cs typeface="Times"/>
                <a:sym typeface="Times"/>
              </a:rPr>
              <a:t>Define the Timing:</a:t>
            </a:r>
            <a:r>
              <a:rPr lang="en-US" sz="3599" b="0" i="0" u="none" strike="noStrike" cap="none" dirty="0">
                <a:solidFill>
                  <a:srgbClr val="000000"/>
                </a:solidFill>
                <a:latin typeface="Times New Roman"/>
                <a:ea typeface="Times New Roman"/>
                <a:cs typeface="Times New Roman"/>
                <a:sym typeface="Times New Roman"/>
              </a:rPr>
              <a:t> Specify whether the trigger should execute BEFORE or AFTER the event.</a:t>
            </a:r>
            <a:endParaRPr dirty="0"/>
          </a:p>
          <a:p>
            <a:pPr marL="777232" marR="0" lvl="1" indent="-388615" algn="just" rtl="0">
              <a:lnSpc>
                <a:spcPct val="108002"/>
              </a:lnSpc>
              <a:spcBef>
                <a:spcPts val="0"/>
              </a:spcBef>
              <a:spcAft>
                <a:spcPts val="0"/>
              </a:spcAft>
              <a:buClr>
                <a:srgbClr val="000000"/>
              </a:buClr>
              <a:buSzPts val="3599"/>
              <a:buFont typeface="Times"/>
              <a:buAutoNum type="arabicPeriod"/>
            </a:pPr>
            <a:r>
              <a:rPr lang="en-US" sz="3599" b="1" i="0" u="none" strike="noStrike" cap="none" dirty="0">
                <a:solidFill>
                  <a:srgbClr val="000000"/>
                </a:solidFill>
                <a:latin typeface="Times"/>
                <a:ea typeface="Times"/>
                <a:cs typeface="Times"/>
                <a:sym typeface="Times"/>
              </a:rPr>
              <a:t>Specify the Table:</a:t>
            </a:r>
            <a:r>
              <a:rPr lang="en-US" sz="3599" b="0" i="0" u="none" strike="noStrike" cap="none" dirty="0">
                <a:solidFill>
                  <a:srgbClr val="000000"/>
                </a:solidFill>
                <a:latin typeface="Times New Roman"/>
                <a:ea typeface="Times New Roman"/>
                <a:cs typeface="Times New Roman"/>
                <a:sym typeface="Times New Roman"/>
              </a:rPr>
              <a:t> Choose the table the trigger will be associated with.</a:t>
            </a:r>
            <a:endParaRPr dirty="0"/>
          </a:p>
          <a:p>
            <a:pPr marL="777232" marR="0" lvl="1" indent="-388615" algn="just" rtl="0">
              <a:lnSpc>
                <a:spcPct val="108002"/>
              </a:lnSpc>
              <a:spcBef>
                <a:spcPts val="0"/>
              </a:spcBef>
              <a:spcAft>
                <a:spcPts val="0"/>
              </a:spcAft>
              <a:buClr>
                <a:srgbClr val="000000"/>
              </a:buClr>
              <a:buSzPts val="3599"/>
              <a:buFont typeface="Times"/>
              <a:buAutoNum type="arabicPeriod"/>
            </a:pPr>
            <a:r>
              <a:rPr lang="en-US" sz="3599" b="1" i="0" u="none" strike="noStrike" cap="none" dirty="0">
                <a:solidFill>
                  <a:srgbClr val="000000"/>
                </a:solidFill>
                <a:latin typeface="Times"/>
                <a:ea typeface="Times"/>
                <a:cs typeface="Times"/>
                <a:sym typeface="Times"/>
              </a:rPr>
              <a:t>Write the Trigger Logic:</a:t>
            </a:r>
            <a:r>
              <a:rPr lang="en-US" sz="3599" b="0" i="0" u="none" strike="noStrike" cap="none" dirty="0">
                <a:solidFill>
                  <a:srgbClr val="000000"/>
                </a:solidFill>
                <a:latin typeface="Times New Roman"/>
                <a:ea typeface="Times New Roman"/>
                <a:cs typeface="Times New Roman"/>
                <a:sym typeface="Times New Roman"/>
              </a:rPr>
              <a:t> Define the operations to be executed when the trigger is activated.</a:t>
            </a:r>
            <a:endParaRPr dirty="0"/>
          </a:p>
          <a:p>
            <a:pPr marL="777232" marR="0" lvl="1" indent="-388615" algn="just" rtl="0">
              <a:lnSpc>
                <a:spcPct val="108002"/>
              </a:lnSpc>
              <a:spcBef>
                <a:spcPts val="0"/>
              </a:spcBef>
              <a:spcAft>
                <a:spcPts val="0"/>
              </a:spcAft>
              <a:buClr>
                <a:srgbClr val="000000"/>
              </a:buClr>
              <a:buSzPts val="3599"/>
              <a:buFont typeface="Times"/>
              <a:buAutoNum type="arabicPeriod"/>
            </a:pPr>
            <a:r>
              <a:rPr lang="en-US" sz="3599" b="1" i="0" u="none" strike="noStrike" cap="none" dirty="0">
                <a:solidFill>
                  <a:srgbClr val="000000"/>
                </a:solidFill>
                <a:latin typeface="Times"/>
                <a:ea typeface="Times"/>
                <a:cs typeface="Times"/>
                <a:sym typeface="Times"/>
              </a:rPr>
              <a:t>Test the Trigger:</a:t>
            </a:r>
            <a:r>
              <a:rPr lang="en-US" sz="3599" b="0" i="0" u="none" strike="noStrike" cap="none" dirty="0">
                <a:solidFill>
                  <a:srgbClr val="000000"/>
                </a:solidFill>
                <a:latin typeface="Times New Roman"/>
                <a:ea typeface="Times New Roman"/>
                <a:cs typeface="Times New Roman"/>
                <a:sym typeface="Times New Roman"/>
              </a:rPr>
              <a:t> Ensure it works correctly and does not cause unintended side effects.</a:t>
            </a:r>
            <a:endParaRPr sz="3599" dirty="0">
              <a:solidFill>
                <a:srgbClr val="000000"/>
              </a:solidFill>
              <a:latin typeface="Times New Roman"/>
              <a:ea typeface="Times New Roman"/>
              <a:cs typeface="Times New Roman"/>
              <a:sym typeface="Times New Roman"/>
            </a:endParaRPr>
          </a:p>
        </p:txBody>
      </p:sp>
      <p:sp>
        <p:nvSpPr>
          <p:cNvPr id="379" name="Google Shape;379;p31"/>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Steps to create a Trigger</a:t>
            </a:r>
            <a:endParaRPr dirty="0"/>
          </a:p>
        </p:txBody>
      </p:sp>
      <p:sp>
        <p:nvSpPr>
          <p:cNvPr id="380" name="Google Shape;380;p31"/>
          <p:cNvSpPr/>
          <p:nvPr/>
        </p:nvSpPr>
        <p:spPr>
          <a:xfrm>
            <a:off x="12690549" y="3432492"/>
            <a:ext cx="5135476" cy="4114800"/>
          </a:xfrm>
          <a:custGeom>
            <a:avLst/>
            <a:gdLst/>
            <a:ahLst/>
            <a:cxnLst/>
            <a:rect l="l" t="t" r="r" b="b"/>
            <a:pathLst>
              <a:path w="5135476" h="4114800" extrusionOk="0">
                <a:moveTo>
                  <a:pt x="0" y="0"/>
                </a:moveTo>
                <a:lnTo>
                  <a:pt x="5135475" y="0"/>
                </a:lnTo>
                <a:lnTo>
                  <a:pt x="5135475" y="4114800"/>
                </a:lnTo>
                <a:lnTo>
                  <a:pt x="0" y="4114800"/>
                </a:lnTo>
                <a:lnTo>
                  <a:pt x="0" y="0"/>
                </a:lnTo>
                <a:close/>
              </a:path>
            </a:pathLst>
          </a:custGeom>
          <a:blipFill rotWithShape="1">
            <a:blip r:embed="rId4">
              <a:alphaModFix/>
            </a:blip>
            <a:stretch>
              <a:fillRect/>
            </a:stretch>
          </a:blipFill>
          <a:ln>
            <a:noFill/>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2"/>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86" name="Google Shape;386;p32"/>
          <p:cNvSpPr/>
          <p:nvPr/>
        </p:nvSpPr>
        <p:spPr>
          <a:xfrm>
            <a:off x="6863145" y="3544576"/>
            <a:ext cx="9900000" cy="5364000"/>
          </a:xfrm>
          <a:custGeom>
            <a:avLst/>
            <a:gdLst/>
            <a:ahLst/>
            <a:cxnLst/>
            <a:rect l="l" t="t" r="r" b="b"/>
            <a:pathLst>
              <a:path w="10820251" h="6204423" extrusionOk="0">
                <a:moveTo>
                  <a:pt x="0" y="0"/>
                </a:moveTo>
                <a:lnTo>
                  <a:pt x="10820250" y="0"/>
                </a:lnTo>
                <a:lnTo>
                  <a:pt x="10820250" y="6204423"/>
                </a:lnTo>
                <a:lnTo>
                  <a:pt x="0" y="6204423"/>
                </a:lnTo>
                <a:lnTo>
                  <a:pt x="0" y="0"/>
                </a:lnTo>
                <a:close/>
              </a:path>
            </a:pathLst>
          </a:custGeom>
          <a:blipFill rotWithShape="1">
            <a:blip r:embed="rId4">
              <a:alphaModFix/>
            </a:blip>
            <a:stretch>
              <a:fillRect r="-14678"/>
            </a:stretch>
          </a:blipFill>
          <a:ln>
            <a:noFill/>
          </a:ln>
        </p:spPr>
        <p:txBody>
          <a:bodyPr/>
          <a:lstStyle/>
          <a:p>
            <a:endParaRPr lang="en-IN" dirty="0"/>
          </a:p>
        </p:txBody>
      </p:sp>
      <p:sp>
        <p:nvSpPr>
          <p:cNvPr id="387" name="Google Shape;387;p32"/>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SQL Triggers</a:t>
            </a:r>
            <a:endParaRPr dirty="0"/>
          </a:p>
        </p:txBody>
      </p:sp>
      <p:sp>
        <p:nvSpPr>
          <p:cNvPr id="388" name="Google Shape;388;p32"/>
          <p:cNvSpPr txBox="1"/>
          <p:nvPr/>
        </p:nvSpPr>
        <p:spPr>
          <a:xfrm>
            <a:off x="1975756" y="2145676"/>
            <a:ext cx="15283543" cy="1794530"/>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dirty="0">
                <a:solidFill>
                  <a:srgbClr val="000000"/>
                </a:solidFill>
                <a:latin typeface="Times"/>
                <a:ea typeface="Times"/>
                <a:cs typeface="Times"/>
                <a:sym typeface="Times"/>
              </a:rPr>
              <a:t>1. DDL Triggers : </a:t>
            </a:r>
            <a:r>
              <a:rPr lang="en-US" sz="3599" dirty="0">
                <a:solidFill>
                  <a:srgbClr val="000000"/>
                </a:solidFill>
                <a:latin typeface="Times New Roman"/>
                <a:ea typeface="Times New Roman"/>
                <a:cs typeface="Times New Roman"/>
                <a:sym typeface="Times New Roman"/>
              </a:rPr>
              <a:t>The Data Definition Language (DDL) command events such as </a:t>
            </a:r>
            <a:r>
              <a:rPr lang="en-US" sz="3599" dirty="0" err="1">
                <a:solidFill>
                  <a:srgbClr val="000000"/>
                </a:solidFill>
                <a:latin typeface="Times New Roman"/>
                <a:ea typeface="Times New Roman"/>
                <a:cs typeface="Times New Roman"/>
                <a:sym typeface="Times New Roman"/>
              </a:rPr>
              <a:t>Create_table</a:t>
            </a:r>
            <a:r>
              <a:rPr lang="en-US" sz="3599" dirty="0">
                <a:solidFill>
                  <a:srgbClr val="000000"/>
                </a:solidFill>
                <a:latin typeface="Times New Roman"/>
                <a:ea typeface="Times New Roman"/>
                <a:cs typeface="Times New Roman"/>
                <a:sym typeface="Times New Roman"/>
              </a:rPr>
              <a:t>, </a:t>
            </a:r>
            <a:r>
              <a:rPr lang="en-US" sz="3599" dirty="0" err="1">
                <a:solidFill>
                  <a:srgbClr val="000000"/>
                </a:solidFill>
                <a:latin typeface="Times New Roman"/>
                <a:ea typeface="Times New Roman"/>
                <a:cs typeface="Times New Roman"/>
                <a:sym typeface="Times New Roman"/>
              </a:rPr>
              <a:t>Create_view</a:t>
            </a:r>
            <a:r>
              <a:rPr lang="en-US" sz="3599" dirty="0">
                <a:solidFill>
                  <a:srgbClr val="000000"/>
                </a:solidFill>
                <a:latin typeface="Times New Roman"/>
                <a:ea typeface="Times New Roman"/>
                <a:cs typeface="Times New Roman"/>
                <a:sym typeface="Times New Roman"/>
              </a:rPr>
              <a:t>, </a:t>
            </a:r>
            <a:r>
              <a:rPr lang="en-US" sz="3599" dirty="0" err="1">
                <a:solidFill>
                  <a:srgbClr val="000000"/>
                </a:solidFill>
                <a:latin typeface="Times New Roman"/>
                <a:ea typeface="Times New Roman"/>
                <a:cs typeface="Times New Roman"/>
                <a:sym typeface="Times New Roman"/>
              </a:rPr>
              <a:t>drop_table</a:t>
            </a:r>
            <a:r>
              <a:rPr lang="en-US" sz="3599" dirty="0">
                <a:solidFill>
                  <a:srgbClr val="000000"/>
                </a:solidFill>
                <a:latin typeface="Times New Roman"/>
                <a:ea typeface="Times New Roman"/>
                <a:cs typeface="Times New Roman"/>
                <a:sym typeface="Times New Roman"/>
              </a:rPr>
              <a:t>, </a:t>
            </a:r>
            <a:r>
              <a:rPr lang="en-US" sz="3599" dirty="0" err="1">
                <a:solidFill>
                  <a:srgbClr val="000000"/>
                </a:solidFill>
                <a:latin typeface="Times New Roman"/>
                <a:ea typeface="Times New Roman"/>
                <a:cs typeface="Times New Roman"/>
                <a:sym typeface="Times New Roman"/>
              </a:rPr>
              <a:t>Drop_view</a:t>
            </a:r>
            <a:r>
              <a:rPr lang="en-US" sz="3599" dirty="0">
                <a:solidFill>
                  <a:srgbClr val="000000"/>
                </a:solidFill>
                <a:latin typeface="Times New Roman"/>
                <a:ea typeface="Times New Roman"/>
                <a:cs typeface="Times New Roman"/>
                <a:sym typeface="Times New Roman"/>
              </a:rPr>
              <a:t>, and </a:t>
            </a:r>
            <a:r>
              <a:rPr lang="en-US" sz="3599" dirty="0" err="1">
                <a:solidFill>
                  <a:srgbClr val="000000"/>
                </a:solidFill>
                <a:latin typeface="Times New Roman"/>
                <a:ea typeface="Times New Roman"/>
                <a:cs typeface="Times New Roman"/>
                <a:sym typeface="Times New Roman"/>
              </a:rPr>
              <a:t>Alter_table</a:t>
            </a:r>
            <a:r>
              <a:rPr lang="en-US" sz="3599" dirty="0">
                <a:solidFill>
                  <a:srgbClr val="000000"/>
                </a:solidFill>
                <a:latin typeface="Times New Roman"/>
                <a:ea typeface="Times New Roman"/>
                <a:cs typeface="Times New Roman"/>
                <a:sym typeface="Times New Roman"/>
              </a:rPr>
              <a:t> cause the DDL triggers to be activated.</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3"/>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394" name="Google Shape;394;p33"/>
          <p:cNvSpPr/>
          <p:nvPr/>
        </p:nvSpPr>
        <p:spPr>
          <a:xfrm>
            <a:off x="6773235" y="4070834"/>
            <a:ext cx="10296000" cy="5040000"/>
          </a:xfrm>
          <a:custGeom>
            <a:avLst/>
            <a:gdLst/>
            <a:ahLst/>
            <a:cxnLst/>
            <a:rect l="l" t="t" r="r" b="b"/>
            <a:pathLst>
              <a:path w="12919022" h="6007345" extrusionOk="0">
                <a:moveTo>
                  <a:pt x="0" y="0"/>
                </a:moveTo>
                <a:lnTo>
                  <a:pt x="12919022" y="0"/>
                </a:lnTo>
                <a:lnTo>
                  <a:pt x="12919022" y="6007345"/>
                </a:lnTo>
                <a:lnTo>
                  <a:pt x="0" y="6007345"/>
                </a:lnTo>
                <a:lnTo>
                  <a:pt x="0" y="0"/>
                </a:lnTo>
                <a:close/>
              </a:path>
            </a:pathLst>
          </a:custGeom>
          <a:blipFill rotWithShape="1">
            <a:blip r:embed="rId4">
              <a:alphaModFix/>
            </a:blip>
            <a:stretch>
              <a:fillRect/>
            </a:stretch>
          </a:blipFill>
          <a:ln>
            <a:noFill/>
          </a:ln>
        </p:spPr>
        <p:txBody>
          <a:bodyPr/>
          <a:lstStyle/>
          <a:p>
            <a:endParaRPr lang="en-IN" dirty="0"/>
          </a:p>
        </p:txBody>
      </p:sp>
      <p:sp>
        <p:nvSpPr>
          <p:cNvPr id="396" name="Google Shape;396;p33"/>
          <p:cNvSpPr txBox="1"/>
          <p:nvPr/>
        </p:nvSpPr>
        <p:spPr>
          <a:xfrm>
            <a:off x="1649186" y="2145676"/>
            <a:ext cx="15610114" cy="1794530"/>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599" b="1" dirty="0">
                <a:solidFill>
                  <a:srgbClr val="000000"/>
                </a:solidFill>
                <a:latin typeface="Times"/>
                <a:ea typeface="Times"/>
                <a:cs typeface="Times"/>
                <a:sym typeface="Times"/>
              </a:rPr>
              <a:t>2. DML Triggers: </a:t>
            </a:r>
            <a:r>
              <a:rPr lang="en-US" sz="3599" dirty="0">
                <a:solidFill>
                  <a:srgbClr val="000000"/>
                </a:solidFill>
                <a:latin typeface="Times New Roman"/>
                <a:ea typeface="Times New Roman"/>
                <a:cs typeface="Times New Roman"/>
                <a:sym typeface="Times New Roman"/>
              </a:rPr>
              <a:t>The Data manipulation Language (DML) command events that begin with Insert, Update, and Delete set off the DML triggers. corresponding to </a:t>
            </a:r>
            <a:r>
              <a:rPr lang="en-US" sz="3599" dirty="0" err="1">
                <a:solidFill>
                  <a:srgbClr val="000000"/>
                </a:solidFill>
                <a:latin typeface="Times New Roman"/>
                <a:ea typeface="Times New Roman"/>
                <a:cs typeface="Times New Roman"/>
                <a:sym typeface="Times New Roman"/>
              </a:rPr>
              <a:t>insert_table</a:t>
            </a:r>
            <a:r>
              <a:rPr lang="en-US" sz="3599" dirty="0">
                <a:solidFill>
                  <a:srgbClr val="000000"/>
                </a:solidFill>
                <a:latin typeface="Times New Roman"/>
                <a:ea typeface="Times New Roman"/>
                <a:cs typeface="Times New Roman"/>
                <a:sym typeface="Times New Roman"/>
              </a:rPr>
              <a:t>, </a:t>
            </a:r>
            <a:r>
              <a:rPr lang="en-US" sz="3599" dirty="0" err="1">
                <a:solidFill>
                  <a:srgbClr val="000000"/>
                </a:solidFill>
                <a:latin typeface="Times New Roman"/>
                <a:ea typeface="Times New Roman"/>
                <a:cs typeface="Times New Roman"/>
                <a:sym typeface="Times New Roman"/>
              </a:rPr>
              <a:t>update_view</a:t>
            </a:r>
            <a:r>
              <a:rPr lang="en-US" sz="3599" dirty="0">
                <a:solidFill>
                  <a:srgbClr val="000000"/>
                </a:solidFill>
                <a:latin typeface="Times New Roman"/>
                <a:ea typeface="Times New Roman"/>
                <a:cs typeface="Times New Roman"/>
                <a:sym typeface="Times New Roman"/>
              </a:rPr>
              <a:t>, and </a:t>
            </a:r>
            <a:r>
              <a:rPr lang="en-US" sz="3599" dirty="0" err="1">
                <a:solidFill>
                  <a:srgbClr val="000000"/>
                </a:solidFill>
                <a:latin typeface="Times New Roman"/>
                <a:ea typeface="Times New Roman"/>
                <a:cs typeface="Times New Roman"/>
                <a:sym typeface="Times New Roman"/>
              </a:rPr>
              <a:t>delete_table</a:t>
            </a:r>
            <a:r>
              <a:rPr lang="en-US" sz="3599" dirty="0">
                <a:solidFill>
                  <a:srgbClr val="000000"/>
                </a:solidFill>
                <a:latin typeface="Times New Roman"/>
                <a:ea typeface="Times New Roman"/>
                <a:cs typeface="Times New Roman"/>
                <a:sym typeface="Times New Roman"/>
              </a:rPr>
              <a:t>.</a:t>
            </a:r>
            <a:endParaRPr sz="3599" dirty="0">
              <a:solidFill>
                <a:srgbClr val="000000"/>
              </a:solidFill>
              <a:latin typeface="Times New Roman"/>
              <a:ea typeface="Times New Roman"/>
              <a:cs typeface="Times New Roman"/>
              <a:sym typeface="Times New Roman"/>
            </a:endParaRPr>
          </a:p>
        </p:txBody>
      </p:sp>
      <p:sp>
        <p:nvSpPr>
          <p:cNvPr id="2" name="Google Shape;387;p32">
            <a:extLst>
              <a:ext uri="{FF2B5EF4-FFF2-40B4-BE49-F238E27FC236}">
                <a16:creationId xmlns:a16="http://schemas.microsoft.com/office/drawing/2014/main" id="{B8312C0F-0E2E-30A1-146D-6C57095FF510}"/>
              </a:ext>
            </a:extLst>
          </p:cNvPr>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SQL Triggers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4"/>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02" name="Google Shape;402;p34"/>
          <p:cNvSpPr txBox="1"/>
          <p:nvPr/>
        </p:nvSpPr>
        <p:spPr>
          <a:xfrm>
            <a:off x="1347280" y="2145676"/>
            <a:ext cx="15912019" cy="3190874"/>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b="1" dirty="0">
                <a:solidFill>
                  <a:srgbClr val="000000"/>
                </a:solidFill>
                <a:latin typeface="Times"/>
                <a:ea typeface="Times"/>
                <a:cs typeface="Times"/>
                <a:sym typeface="Times"/>
              </a:rPr>
              <a:t>3. Logon Triggers:</a:t>
            </a:r>
            <a:r>
              <a:rPr lang="en-US" sz="3200" dirty="0">
                <a:solidFill>
                  <a:srgbClr val="000000"/>
                </a:solidFill>
                <a:latin typeface="Times New Roman"/>
                <a:ea typeface="Times New Roman"/>
                <a:cs typeface="Times New Roman"/>
                <a:sym typeface="Times New Roman"/>
              </a:rPr>
              <a:t> These triggers are fired in response to logon events. Logon triggers are useful for monitoring user sessions or restricting user access to the database. As a result, the PRINT statement messages and any errors generated by the trigger will all be visible in the SQL Server error log. Authentication errors prevent logon triggers from being used. These triggers can be used to track login activity or set a limit on the number of sessions that a given login can have in order to audit and manage server sessions.</a:t>
            </a:r>
            <a:endParaRPr sz="1200" dirty="0"/>
          </a:p>
        </p:txBody>
      </p:sp>
      <p:sp>
        <p:nvSpPr>
          <p:cNvPr id="403" name="Google Shape;403;p34"/>
          <p:cNvSpPr/>
          <p:nvPr/>
        </p:nvSpPr>
        <p:spPr>
          <a:xfrm>
            <a:off x="8849345" y="4840568"/>
            <a:ext cx="8556913" cy="4500463"/>
          </a:xfrm>
          <a:custGeom>
            <a:avLst/>
            <a:gdLst/>
            <a:ahLst/>
            <a:cxnLst/>
            <a:rect l="l" t="t" r="r" b="b"/>
            <a:pathLst>
              <a:path w="8556913" h="4500463" extrusionOk="0">
                <a:moveTo>
                  <a:pt x="0" y="0"/>
                </a:moveTo>
                <a:lnTo>
                  <a:pt x="8556913" y="0"/>
                </a:lnTo>
                <a:lnTo>
                  <a:pt x="8556913" y="4500463"/>
                </a:lnTo>
                <a:lnTo>
                  <a:pt x="0" y="4500463"/>
                </a:lnTo>
                <a:lnTo>
                  <a:pt x="0" y="0"/>
                </a:lnTo>
                <a:close/>
              </a:path>
            </a:pathLst>
          </a:custGeom>
          <a:blipFill rotWithShape="1">
            <a:blip r:embed="rId4">
              <a:alphaModFix/>
            </a:blip>
            <a:stretch>
              <a:fillRect r="-19839" b="-14896"/>
            </a:stretch>
          </a:blipFill>
          <a:ln>
            <a:noFill/>
          </a:ln>
        </p:spPr>
      </p:sp>
      <p:sp>
        <p:nvSpPr>
          <p:cNvPr id="404" name="Google Shape;404;p34"/>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Types of SQL Triggers</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35"/>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10" name="Google Shape;410;p35"/>
          <p:cNvSpPr txBox="1"/>
          <p:nvPr/>
        </p:nvSpPr>
        <p:spPr>
          <a:xfrm>
            <a:off x="1148090" y="1758072"/>
            <a:ext cx="16111210" cy="5051768"/>
          </a:xfrm>
          <a:prstGeom prst="rect">
            <a:avLst/>
          </a:prstGeom>
          <a:noFill/>
          <a:ln>
            <a:noFill/>
          </a:ln>
        </p:spPr>
        <p:txBody>
          <a:bodyPr spcFirstLastPara="1" wrap="square" lIns="0" tIns="0" rIns="0" bIns="0" anchor="t" anchorCtr="0">
            <a:spAutoFit/>
          </a:bodyPr>
          <a:lstStyle/>
          <a:p>
            <a:pPr marL="0" marR="0" lvl="0" indent="0" algn="just" rtl="0">
              <a:lnSpc>
                <a:spcPct val="108002"/>
              </a:lnSpc>
              <a:spcBef>
                <a:spcPts val="0"/>
              </a:spcBef>
              <a:spcAft>
                <a:spcPts val="0"/>
              </a:spcAft>
              <a:buNone/>
            </a:pPr>
            <a:r>
              <a:rPr lang="en-US" sz="3200" b="1" dirty="0">
                <a:solidFill>
                  <a:srgbClr val="000000"/>
                </a:solidFill>
                <a:latin typeface="Times"/>
                <a:ea typeface="Times"/>
                <a:cs typeface="Times"/>
                <a:sym typeface="Times"/>
              </a:rPr>
              <a:t>Viewing Triggers Using SQL Query: </a:t>
            </a:r>
            <a:r>
              <a:rPr lang="en-US" sz="3200" dirty="0">
                <a:solidFill>
                  <a:srgbClr val="000000"/>
                </a:solidFill>
                <a:latin typeface="Times New Roman"/>
                <a:ea typeface="Times New Roman"/>
                <a:cs typeface="Times New Roman"/>
                <a:sym typeface="Times New Roman"/>
              </a:rPr>
              <a:t>If we are working with many tables across multiple databases, we can use a simple query to list all available triggers in our SQL Server instance. This is helpful for tracking and managing triggers, especially when dealing with tables that have similar names across databases.</a:t>
            </a:r>
            <a:endParaRPr sz="1200" dirty="0"/>
          </a:p>
          <a:p>
            <a:pPr marL="0" marR="0" lvl="0" indent="0" algn="just" rtl="0">
              <a:lnSpc>
                <a:spcPct val="108002"/>
              </a:lnSpc>
              <a:spcBef>
                <a:spcPts val="0"/>
              </a:spcBef>
              <a:spcAft>
                <a:spcPts val="0"/>
              </a:spcAft>
              <a:buNone/>
            </a:pPr>
            <a:r>
              <a:rPr lang="en-US" sz="3200" b="1" dirty="0">
                <a:solidFill>
                  <a:srgbClr val="000000"/>
                </a:solidFill>
                <a:latin typeface="Times"/>
                <a:ea typeface="Times"/>
                <a:cs typeface="Times"/>
                <a:sym typeface="Times"/>
              </a:rPr>
              <a:t>Syntax:</a:t>
            </a:r>
            <a:endParaRPr sz="1200" dirty="0"/>
          </a:p>
          <a:p>
            <a:pPr marL="0" marR="0" lvl="0" indent="0" algn="just" rtl="0">
              <a:lnSpc>
                <a:spcPct val="108002"/>
              </a:lnSpc>
              <a:spcBef>
                <a:spcPts val="0"/>
              </a:spcBef>
              <a:spcAft>
                <a:spcPts val="0"/>
              </a:spcAft>
              <a:buNone/>
            </a:pPr>
            <a:endParaRPr sz="3599" b="1" dirty="0">
              <a:solidFill>
                <a:srgbClr val="000000"/>
              </a:solidFill>
              <a:latin typeface="Times"/>
              <a:ea typeface="Times"/>
              <a:cs typeface="Times"/>
              <a:sym typeface="Times"/>
            </a:endParaRPr>
          </a:p>
          <a:p>
            <a:pPr marL="0" marR="0" lvl="0" indent="0" algn="just" rtl="0">
              <a:lnSpc>
                <a:spcPct val="108002"/>
              </a:lnSpc>
              <a:spcBef>
                <a:spcPts val="0"/>
              </a:spcBef>
              <a:spcAft>
                <a:spcPts val="0"/>
              </a:spcAft>
              <a:buNone/>
            </a:pPr>
            <a:endParaRPr sz="3599" b="1" dirty="0">
              <a:solidFill>
                <a:srgbClr val="000000"/>
              </a:solidFill>
              <a:latin typeface="Times"/>
              <a:ea typeface="Times"/>
              <a:cs typeface="Times"/>
              <a:sym typeface="Times"/>
            </a:endParaRPr>
          </a:p>
          <a:p>
            <a:pPr marL="0" marR="0" lvl="0" indent="0" algn="just" rtl="0">
              <a:lnSpc>
                <a:spcPct val="108002"/>
              </a:lnSpc>
              <a:spcBef>
                <a:spcPts val="0"/>
              </a:spcBef>
              <a:spcAft>
                <a:spcPts val="0"/>
              </a:spcAft>
              <a:buNone/>
            </a:pPr>
            <a:endParaRPr sz="3599" b="1" dirty="0">
              <a:solidFill>
                <a:srgbClr val="000000"/>
              </a:solidFill>
              <a:latin typeface="Times"/>
              <a:ea typeface="Times"/>
              <a:cs typeface="Times"/>
              <a:sym typeface="Times"/>
            </a:endParaRPr>
          </a:p>
          <a:p>
            <a:pPr marL="0" marR="0" lvl="0" indent="0" algn="just" rtl="0">
              <a:lnSpc>
                <a:spcPct val="108002"/>
              </a:lnSpc>
              <a:spcBef>
                <a:spcPts val="0"/>
              </a:spcBef>
              <a:spcAft>
                <a:spcPts val="0"/>
              </a:spcAft>
              <a:buNone/>
            </a:pPr>
            <a:endParaRPr sz="3599" b="1" dirty="0">
              <a:solidFill>
                <a:srgbClr val="000000"/>
              </a:solidFill>
              <a:latin typeface="Times"/>
              <a:ea typeface="Times"/>
              <a:cs typeface="Times"/>
              <a:sym typeface="Times"/>
            </a:endParaRPr>
          </a:p>
        </p:txBody>
      </p:sp>
      <p:sp>
        <p:nvSpPr>
          <p:cNvPr id="411" name="Google Shape;411;p35"/>
          <p:cNvSpPr/>
          <p:nvPr/>
        </p:nvSpPr>
        <p:spPr>
          <a:xfrm>
            <a:off x="2550009" y="3824173"/>
            <a:ext cx="10149094" cy="2758364"/>
          </a:xfrm>
          <a:custGeom>
            <a:avLst/>
            <a:gdLst/>
            <a:ahLst/>
            <a:cxnLst/>
            <a:rect l="l" t="t" r="r" b="b"/>
            <a:pathLst>
              <a:path w="10149094" h="2758364" extrusionOk="0">
                <a:moveTo>
                  <a:pt x="0" y="0"/>
                </a:moveTo>
                <a:lnTo>
                  <a:pt x="10149094" y="0"/>
                </a:lnTo>
                <a:lnTo>
                  <a:pt x="10149094" y="2758364"/>
                </a:lnTo>
                <a:lnTo>
                  <a:pt x="0" y="2758364"/>
                </a:lnTo>
                <a:lnTo>
                  <a:pt x="0" y="0"/>
                </a:lnTo>
                <a:close/>
              </a:path>
            </a:pathLst>
          </a:custGeom>
          <a:blipFill rotWithShape="1">
            <a:blip r:embed="rId4">
              <a:alphaModFix/>
            </a:blip>
            <a:stretch>
              <a:fillRect/>
            </a:stretch>
          </a:blipFill>
          <a:ln>
            <a:noFill/>
          </a:ln>
        </p:spPr>
      </p:sp>
      <p:sp>
        <p:nvSpPr>
          <p:cNvPr id="412" name="Google Shape;412;p35"/>
          <p:cNvSpPr txBox="1"/>
          <p:nvPr/>
        </p:nvSpPr>
        <p:spPr>
          <a:xfrm>
            <a:off x="1347281" y="659124"/>
            <a:ext cx="12235445" cy="1030410"/>
          </a:xfrm>
          <a:prstGeom prst="rect">
            <a:avLst/>
          </a:prstGeom>
          <a:noFill/>
          <a:ln>
            <a:noFill/>
          </a:ln>
        </p:spPr>
        <p:txBody>
          <a:bodyPr spcFirstLastPara="1" wrap="square" lIns="0" tIns="0" rIns="0" bIns="0" anchor="t" anchorCtr="0">
            <a:spAutoFit/>
          </a:bodyPr>
          <a:lstStyle/>
          <a:p>
            <a:pPr marL="0" marR="0" lvl="0" indent="0" algn="ctr" rtl="0">
              <a:lnSpc>
                <a:spcPct val="108000"/>
              </a:lnSpc>
              <a:spcBef>
                <a:spcPts val="0"/>
              </a:spcBef>
              <a:spcAft>
                <a:spcPts val="0"/>
              </a:spcAft>
              <a:buNone/>
            </a:pPr>
            <a:r>
              <a:rPr lang="en-US" sz="6200" b="1" dirty="0">
                <a:solidFill>
                  <a:srgbClr val="C00000"/>
                </a:solidFill>
                <a:latin typeface="Times"/>
                <a:ea typeface="Times"/>
                <a:cs typeface="Times"/>
                <a:sym typeface="Times"/>
              </a:rPr>
              <a:t>Trigger</a:t>
            </a:r>
            <a:endParaRPr dirty="0"/>
          </a:p>
        </p:txBody>
      </p:sp>
      <p:sp>
        <p:nvSpPr>
          <p:cNvPr id="413" name="Google Shape;413;p35"/>
          <p:cNvSpPr txBox="1"/>
          <p:nvPr/>
        </p:nvSpPr>
        <p:spPr>
          <a:xfrm>
            <a:off x="1148090" y="6587753"/>
            <a:ext cx="13548654" cy="2060885"/>
          </a:xfrm>
          <a:prstGeom prst="rect">
            <a:avLst/>
          </a:prstGeom>
          <a:noFill/>
          <a:ln>
            <a:noFill/>
          </a:ln>
        </p:spPr>
        <p:txBody>
          <a:bodyPr spcFirstLastPara="1" wrap="square" lIns="0" tIns="0" rIns="0" bIns="0" anchor="t" anchorCtr="0">
            <a:spAutoFit/>
          </a:bodyPr>
          <a:lstStyle/>
          <a:p>
            <a:pPr marL="0" marR="0" lvl="0" indent="0" algn="just" rtl="0">
              <a:lnSpc>
                <a:spcPct val="108000"/>
              </a:lnSpc>
              <a:spcBef>
                <a:spcPts val="0"/>
              </a:spcBef>
              <a:spcAft>
                <a:spcPts val="0"/>
              </a:spcAft>
              <a:buNone/>
            </a:pPr>
            <a:r>
              <a:rPr lang="en-US" sz="2800" b="1" dirty="0">
                <a:solidFill>
                  <a:srgbClr val="000000"/>
                </a:solidFill>
                <a:latin typeface="Times"/>
                <a:ea typeface="Times"/>
                <a:cs typeface="Times"/>
                <a:sym typeface="Times"/>
              </a:rPr>
              <a:t>Key Terms</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name: The name of the trigger.</a:t>
            </a:r>
            <a:endParaRPr sz="1100" dirty="0"/>
          </a:p>
          <a:p>
            <a:pPr marL="0" marR="0" lvl="0" indent="0" algn="just" rtl="0">
              <a:lnSpc>
                <a:spcPct val="108000"/>
              </a:lnSpc>
              <a:spcBef>
                <a:spcPts val="0"/>
              </a:spcBef>
              <a:spcAft>
                <a:spcPts val="0"/>
              </a:spcAft>
              <a:buNone/>
            </a:pPr>
            <a:r>
              <a:rPr lang="en-US" sz="2800" dirty="0" err="1">
                <a:solidFill>
                  <a:srgbClr val="000000"/>
                </a:solidFill>
                <a:latin typeface="Times New Roman"/>
                <a:ea typeface="Times New Roman"/>
                <a:cs typeface="Times New Roman"/>
                <a:sym typeface="Times New Roman"/>
              </a:rPr>
              <a:t>is_instead_of_trigger</a:t>
            </a:r>
            <a:r>
              <a:rPr lang="en-US" sz="2800" dirty="0">
                <a:solidFill>
                  <a:srgbClr val="000000"/>
                </a:solidFill>
                <a:latin typeface="Times New Roman"/>
                <a:ea typeface="Times New Roman"/>
                <a:cs typeface="Times New Roman"/>
                <a:sym typeface="Times New Roman"/>
              </a:rPr>
              <a:t>: Whether the trigger is an INSTEAD OF trigger.</a:t>
            </a:r>
            <a:endParaRPr sz="1100" dirty="0"/>
          </a:p>
          <a:p>
            <a:pPr marL="0" marR="0" lvl="0" indent="0" algn="just" rtl="0">
              <a:lnSpc>
                <a:spcPct val="108000"/>
              </a:lnSpc>
              <a:spcBef>
                <a:spcPts val="0"/>
              </a:spcBef>
              <a:spcAft>
                <a:spcPts val="0"/>
              </a:spcAft>
              <a:buNone/>
            </a:pPr>
            <a:r>
              <a:rPr lang="en-US" sz="2800" dirty="0">
                <a:solidFill>
                  <a:srgbClr val="000000"/>
                </a:solidFill>
                <a:latin typeface="Times New Roman"/>
                <a:ea typeface="Times New Roman"/>
                <a:cs typeface="Times New Roman"/>
                <a:sym typeface="Times New Roman"/>
              </a:rPr>
              <a:t>type = ‘TR’: This filters the results to show only triggers</a:t>
            </a:r>
            <a:r>
              <a:rPr lang="en-US" sz="3600" dirty="0">
                <a:solidFill>
                  <a:srgbClr val="000000"/>
                </a:solidFill>
                <a:latin typeface="Times New Roman"/>
                <a:ea typeface="Times New Roman"/>
                <a:cs typeface="Times New Roman"/>
                <a:sym typeface="Times New Roman"/>
              </a:rPr>
              <a:t>.</a:t>
            </a:r>
            <a:endParaRPr dirty="0"/>
          </a:p>
        </p:txBody>
      </p:sp>
      <p:grpSp>
        <p:nvGrpSpPr>
          <p:cNvPr id="414" name="Google Shape;414;p35"/>
          <p:cNvGrpSpPr/>
          <p:nvPr/>
        </p:nvGrpSpPr>
        <p:grpSpPr>
          <a:xfrm>
            <a:off x="12699103" y="4148525"/>
            <a:ext cx="5254742" cy="3451014"/>
            <a:chOff x="-132479" y="0"/>
            <a:chExt cx="8858491" cy="5748909"/>
          </a:xfrm>
        </p:grpSpPr>
        <p:grpSp>
          <p:nvGrpSpPr>
            <p:cNvPr id="415" name="Google Shape;415;p35"/>
            <p:cNvGrpSpPr/>
            <p:nvPr/>
          </p:nvGrpSpPr>
          <p:grpSpPr>
            <a:xfrm>
              <a:off x="0" y="0"/>
              <a:ext cx="8726012" cy="3514400"/>
              <a:chOff x="0" y="0"/>
              <a:chExt cx="1723657" cy="694202"/>
            </a:xfrm>
          </p:grpSpPr>
          <p:sp>
            <p:nvSpPr>
              <p:cNvPr id="416" name="Google Shape;416;p35"/>
              <p:cNvSpPr/>
              <p:nvPr/>
            </p:nvSpPr>
            <p:spPr>
              <a:xfrm>
                <a:off x="0" y="0"/>
                <a:ext cx="1452617" cy="694202"/>
              </a:xfrm>
              <a:custGeom>
                <a:avLst/>
                <a:gdLst/>
                <a:ahLst/>
                <a:cxnLst/>
                <a:rect l="l" t="t" r="r" b="b"/>
                <a:pathLst>
                  <a:path w="1452617" h="694202" extrusionOk="0">
                    <a:moveTo>
                      <a:pt x="0" y="0"/>
                    </a:moveTo>
                    <a:lnTo>
                      <a:pt x="1452617" y="0"/>
                    </a:lnTo>
                    <a:lnTo>
                      <a:pt x="1452617" y="694202"/>
                    </a:lnTo>
                    <a:lnTo>
                      <a:pt x="0" y="694202"/>
                    </a:lnTo>
                    <a:close/>
                  </a:path>
                </a:pathLst>
              </a:custGeom>
              <a:solidFill>
                <a:srgbClr val="41719C"/>
              </a:solidFill>
              <a:ln>
                <a:noFill/>
              </a:ln>
            </p:spPr>
          </p:sp>
          <p:sp>
            <p:nvSpPr>
              <p:cNvPr id="417" name="Google Shape;417;p35"/>
              <p:cNvSpPr txBox="1"/>
              <p:nvPr/>
            </p:nvSpPr>
            <p:spPr>
              <a:xfrm>
                <a:off x="0" y="0"/>
                <a:ext cx="1723657" cy="694202"/>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418" name="Google Shape;418;p35"/>
            <p:cNvSpPr txBox="1"/>
            <p:nvPr/>
          </p:nvSpPr>
          <p:spPr>
            <a:xfrm>
              <a:off x="-132479" y="917658"/>
              <a:ext cx="7706177" cy="4831251"/>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US" sz="8725" dirty="0">
                  <a:solidFill>
                    <a:srgbClr val="FFFFFF"/>
                  </a:solidFill>
                  <a:latin typeface="Rubik Vinyl"/>
                  <a:ea typeface="Rubik Vinyl"/>
                  <a:cs typeface="Rubik Vinyl"/>
                  <a:sym typeface="Rubik Vinyl"/>
                </a:rPr>
                <a:t>Trigger</a:t>
              </a:r>
              <a:endParaRPr dirty="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6"/>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l="999" t="-999" r="999"/>
            </a:stretch>
          </a:blipFill>
          <a:ln>
            <a:noFill/>
          </a:ln>
        </p:spPr>
      </p:sp>
      <p:sp>
        <p:nvSpPr>
          <p:cNvPr id="424" name="Google Shape;424;p36"/>
          <p:cNvSpPr txBox="1"/>
          <p:nvPr/>
        </p:nvSpPr>
        <p:spPr>
          <a:xfrm>
            <a:off x="3992728" y="3895736"/>
            <a:ext cx="10302544" cy="2238353"/>
          </a:xfrm>
          <a:prstGeom prst="rect">
            <a:avLst/>
          </a:prstGeom>
          <a:noFill/>
          <a:ln>
            <a:noFill/>
          </a:ln>
        </p:spPr>
        <p:txBody>
          <a:bodyPr spcFirstLastPara="1" wrap="square" lIns="0" tIns="0" rIns="0" bIns="0" anchor="t" anchorCtr="0">
            <a:spAutoFit/>
          </a:bodyPr>
          <a:lstStyle/>
          <a:p>
            <a:pPr marL="0" marR="0" lvl="0" indent="0" algn="ctr" rtl="0">
              <a:lnSpc>
                <a:spcPct val="119995"/>
              </a:lnSpc>
              <a:spcBef>
                <a:spcPts val="0"/>
              </a:spcBef>
              <a:spcAft>
                <a:spcPts val="0"/>
              </a:spcAft>
              <a:buNone/>
            </a:pPr>
            <a:r>
              <a:rPr lang="en-US" sz="13038" b="1">
                <a:solidFill>
                  <a:srgbClr val="C00000"/>
                </a:solidFill>
                <a:latin typeface="Arial"/>
                <a:ea typeface="Arial"/>
                <a:cs typeface="Arial"/>
                <a:sym typeface="Arial"/>
              </a:rPr>
              <a:t>THANK YOU </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2262</Words>
  <Application>Microsoft Office PowerPoint</Application>
  <PresentationFormat>Custom</PresentationFormat>
  <Paragraphs>204</Paragraphs>
  <Slides>36</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Times</vt:lpstr>
      <vt:lpstr>Calibri</vt:lpstr>
      <vt:lpstr>Arimo</vt:lpstr>
      <vt:lpstr>Arial</vt:lpstr>
      <vt:lpstr>Times New Roman</vt:lpstr>
      <vt:lpstr>Rubik Vinyl</vt:lpstr>
      <vt:lpstr>Arial Rounded</vt:lpstr>
      <vt:lpstr>Office Theme</vt:lpstr>
      <vt:lpstr>PowerPoint Presentation</vt:lpstr>
      <vt:lpstr>ABOUT COURSE</vt:lpstr>
      <vt:lpstr>COURSE OUTCOMES </vt:lpstr>
      <vt:lpstr>COURSE OBJECTIVES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dell</cp:lastModifiedBy>
  <cp:revision>18</cp:revision>
  <dcterms:created xsi:type="dcterms:W3CDTF">2006-08-16T00:00:00Z</dcterms:created>
  <dcterms:modified xsi:type="dcterms:W3CDTF">2025-01-20T10:45:07Z</dcterms:modified>
</cp:coreProperties>
</file>