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1" r:id="rId2"/>
  </p:sldMasterIdLst>
  <p:notesMasterIdLst>
    <p:notesMasterId r:id="rId7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3" r:id="rId37"/>
    <p:sldId id="290" r:id="rId38"/>
    <p:sldId id="291" r:id="rId39"/>
    <p:sldId id="292" r:id="rId40"/>
    <p:sldId id="294" r:id="rId41"/>
    <p:sldId id="298" r:id="rId42"/>
    <p:sldId id="295" r:id="rId43"/>
    <p:sldId id="296" r:id="rId44"/>
    <p:sldId id="297" r:id="rId45"/>
    <p:sldId id="299" r:id="rId46"/>
    <p:sldId id="307" r:id="rId47"/>
    <p:sldId id="300" r:id="rId48"/>
    <p:sldId id="301" r:id="rId49"/>
    <p:sldId id="302" r:id="rId50"/>
    <p:sldId id="303" r:id="rId51"/>
    <p:sldId id="304" r:id="rId52"/>
    <p:sldId id="305" r:id="rId53"/>
    <p:sldId id="306" r:id="rId54"/>
    <p:sldId id="308" r:id="rId55"/>
    <p:sldId id="309" r:id="rId56"/>
    <p:sldId id="310" r:id="rId57"/>
    <p:sldId id="311" r:id="rId58"/>
    <p:sldId id="312" r:id="rId59"/>
    <p:sldId id="313" r:id="rId60"/>
    <p:sldId id="323" r:id="rId61"/>
    <p:sldId id="314" r:id="rId62"/>
    <p:sldId id="315" r:id="rId63"/>
    <p:sldId id="316" r:id="rId64"/>
    <p:sldId id="317" r:id="rId65"/>
    <p:sldId id="318" r:id="rId66"/>
    <p:sldId id="319" r:id="rId67"/>
    <p:sldId id="320" r:id="rId68"/>
    <p:sldId id="321" r:id="rId69"/>
    <p:sldId id="322" r:id="rId70"/>
  </p:sldIdLst>
  <p:sldSz cx="12192000" cy="6858000"/>
  <p:notesSz cx="6858000" cy="9144000"/>
  <p:embeddedFontLst>
    <p:embeddedFont>
      <p:font typeface="Arimo" panose="020B0604020202020204" charset="0"/>
      <p:bold r:id="rId72"/>
      <p:boldItalic r:id="rId73"/>
    </p:embeddedFont>
    <p:embeddedFont>
      <p:font typeface="Yeseva One" panose="020B0604020202020204" charset="0"/>
      <p:regular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7" roundtripDataSignature="AMtx7mh6rcvVLiroHkdYHf2zmjVR1L1c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C51D849-E1AC-4113-86C4-B9D10AFFC998}">
  <a:tblStyle styleId="{4C51D849-E1AC-4113-86C4-B9D10AFFC99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4F26A73-2107-4AED-AF40-E1B5DE402DE7}"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03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3.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2.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customschemas.google.com/relationships/presentationmetadata" Target="meta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1" name="Google Shape;221;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22" name="Google Shape;222;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5" name="Google Shape;225;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34" name="Google Shape;2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42" name="Google Shape;24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0" name="Google Shape;250;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51" name="Google Shape;251;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54" name="Google Shape;254;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6" name="Google Shape;266;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7" name="Google Shape;267;p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0" name="Google Shape;270;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3" name="Google Shape;283;p1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84" name="Google Shape;284;p1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1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1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7" name="Google Shape;287;p1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8" name="Google Shape;298;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9" name="Google Shape;299;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1" name="Google Shape;301;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2" name="Google Shape;302;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4" name="Google Shape;314;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15" name="Google Shape;315;p1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8" name="Google Shape;318;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9" name="Google Shape;329;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30" name="Google Shape;330;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1" name="Google Shape;331;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3" name="Google Shape;333;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5" name="Google Shape;345;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6" name="Google Shape;346;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9" name="Google Shape;349;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4" name="Google Shape;364;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65" name="Google Shape;365;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8" name="Google Shape;368;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2" name="Google Shape;382;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83" name="Google Shape;383;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4" name="Google Shape;384;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6" name="Google Shape;386;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8" name="Google Shape;398;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99" name="Google Shape;399;p1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0" name="Google Shape;400;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1" name="Google Shape;401;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02" name="Google Shape;402;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6" name="Google Shape;416;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17" name="Google Shape;417;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0" name="Google Shape;420;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2" name="Google Shape;432;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33" name="Google Shape;433;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6" name="Google Shape;436;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0" name="Google Shape;450;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1" name="Google Shape;451;p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4" name="Google Shape;454;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6" name="Google Shape;466;p2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67" name="Google Shape;467;p2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2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9" name="Google Shape;469;p2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70" name="Google Shape;470;p2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3" name="Google Shape;483;p2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84" name="Google Shape;484;p2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2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2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7" name="Google Shape;487;p2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2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9" name="Google Shape;499;p2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00" name="Google Shape;500;p2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1" name="Google Shape;501;p2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2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03" name="Google Shape;503;p2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2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5" name="Google Shape;515;p2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16" name="Google Shape;516;p2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7" name="Google Shape;517;p2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2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9" name="Google Shape;519;p2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31" name="Google Shape;531;p2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32" name="Google Shape;532;p2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2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4" name="Google Shape;534;p2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35" name="Google Shape;535;p2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550" name="Google Shape;55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558" name="Google Shape;55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566" name="Google Shape;56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574" name="Google Shape;57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582" name="Google Shape;582;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591" name="Google Shape;59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3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99" name="Google Shape;599;p3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00" name="Google Shape;600;p3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1" name="Google Shape;601;p3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2" name="Google Shape;602;p3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3" name="Google Shape;603;p3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15" name="Google Shape;615;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26" name="Google Shape;626;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80" name="Google Shape;680;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3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4" name="Google Shape;634;p3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35" name="Google Shape;635;p3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3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7" name="Google Shape;637;p3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8" name="Google Shape;638;p3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3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54" name="Google Shape;654;p3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55" name="Google Shape;655;p3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3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7" name="Google Shape;657;p3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58" name="Google Shape;658;p3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72" name="Google Shape;672;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87" name="Google Shape;687;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47" name="Google Shape;74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4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97" name="Google Shape;697;p4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98" name="Google Shape;698;p4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4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0" name="Google Shape;700;p4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01" name="Google Shape;701;p4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4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0" name="Google Shape;720;p4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21" name="Google Shape;721;p4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p4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p4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4" name="Google Shape;724;p4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39" name="Google Shape;73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54" name="Google Shape;754;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45" name="Google Shape;845;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65" name="Google Shape;765;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775" name="Google Shape;775;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4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84" name="Google Shape;784;p4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85" name="Google Shape;785;p4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4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4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88" name="Google Shape;788;p4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3" name="Google Shape;803;p4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04" name="Google Shape;804;p4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p4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6" name="Google Shape;806;p4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4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21" name="Google Shape;821;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28" name="Google Shape;828;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36" name="Google Shape;836;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3" name="Google Shape;85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1" name="Google Shape;861;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6" name="Google Shape;87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2" name="Google Shape;892;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1" name="Google Shape;901;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a:extLst>
            <a:ext uri="{FF2B5EF4-FFF2-40B4-BE49-F238E27FC236}">
              <a16:creationId xmlns:a16="http://schemas.microsoft.com/office/drawing/2014/main" id="{7CF7DDE5-103B-9770-1597-256656400DA8}"/>
            </a:ext>
          </a:extLst>
        </p:cNvPr>
        <p:cNvGrpSpPr/>
        <p:nvPr/>
      </p:nvGrpSpPr>
      <p:grpSpPr>
        <a:xfrm>
          <a:off x="0" y="0"/>
          <a:ext cx="0" cy="0"/>
          <a:chOff x="0" y="0"/>
          <a:chExt cx="0" cy="0"/>
        </a:xfrm>
      </p:grpSpPr>
      <p:sp>
        <p:nvSpPr>
          <p:cNvPr id="868" name="Google Shape;868;p55:notes">
            <a:extLst>
              <a:ext uri="{FF2B5EF4-FFF2-40B4-BE49-F238E27FC236}">
                <a16:creationId xmlns:a16="http://schemas.microsoft.com/office/drawing/2014/main" id="{E0A22EA4-B000-C2F4-DB54-CE987E6CB52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9" name="Google Shape;869;p55:notes">
            <a:extLst>
              <a:ext uri="{FF2B5EF4-FFF2-40B4-BE49-F238E27FC236}">
                <a16:creationId xmlns:a16="http://schemas.microsoft.com/office/drawing/2014/main" id="{B17DF113-5C2C-2D37-E1C9-D40DADD612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23052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2" name="Google Shape;91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1" name="Google Shape;921;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2" name="Google Shape;932;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0" name="Google Shape;950;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6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64" name="Google Shape;964;p6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965" name="Google Shape;965;p6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6" name="Google Shape;966;p6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7" name="Google Shape;967;p6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68" name="Google Shape;968;p6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6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81" name="Google Shape;981;p6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982" name="Google Shape;982;p6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p6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4" name="Google Shape;984;p6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85" name="Google Shape;985;p6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6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997" name="Google Shape;997;p6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998" name="Google Shape;998;p6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p6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0" name="Google Shape;1000;p6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01" name="Google Shape;1001;p6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6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13" name="Google Shape;1013;p6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014" name="Google Shape;1014;p6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p6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6" name="Google Shape;1016;p6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17" name="Google Shape;1017;p6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6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4" name="Google Shape;24;p69"/>
          <p:cNvPicPr preferRelativeResize="0"/>
          <p:nvPr/>
        </p:nvPicPr>
        <p:blipFill rotWithShape="1">
          <a:blip r:embed="rId2">
            <a:alphaModFix/>
          </a:blip>
          <a:srcRect/>
          <a:stretch/>
        </p:blipFill>
        <p:spPr>
          <a:xfrm>
            <a:off x="10275519" y="58916"/>
            <a:ext cx="1916480" cy="641551"/>
          </a:xfrm>
          <a:prstGeom prst="rect">
            <a:avLst/>
          </a:prstGeom>
          <a:noFill/>
          <a:ln>
            <a:noFill/>
          </a:ln>
        </p:spPr>
      </p:pic>
      <p:pic>
        <p:nvPicPr>
          <p:cNvPr id="25" name="Google Shape;25;p69"/>
          <p:cNvPicPr preferRelativeResize="0"/>
          <p:nvPr/>
        </p:nvPicPr>
        <p:blipFill rotWithShape="1">
          <a:blip r:embed="rId3">
            <a:alphaModFix/>
          </a:blip>
          <a:srcRect/>
          <a:stretch/>
        </p:blipFill>
        <p:spPr>
          <a:xfrm>
            <a:off x="8313446" y="0"/>
            <a:ext cx="882927" cy="785252"/>
          </a:xfrm>
          <a:prstGeom prst="rect">
            <a:avLst/>
          </a:prstGeom>
          <a:noFill/>
          <a:ln>
            <a:noFill/>
          </a:ln>
        </p:spPr>
      </p:pic>
      <p:pic>
        <p:nvPicPr>
          <p:cNvPr id="26" name="Google Shape;26;p69" descr="National Board of Accreditation - Wikipedia"/>
          <p:cNvPicPr preferRelativeResize="0"/>
          <p:nvPr/>
        </p:nvPicPr>
        <p:blipFill rotWithShape="1">
          <a:blip r:embed="rId4">
            <a:alphaModFix/>
          </a:blip>
          <a:srcRect/>
          <a:stretch/>
        </p:blipFill>
        <p:spPr>
          <a:xfrm>
            <a:off x="9299701" y="49261"/>
            <a:ext cx="872490" cy="68834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7"/>
        <p:cNvGrpSpPr/>
        <p:nvPr/>
      </p:nvGrpSpPr>
      <p:grpSpPr>
        <a:xfrm>
          <a:off x="0" y="0"/>
          <a:ext cx="0" cy="0"/>
          <a:chOff x="0" y="0"/>
          <a:chExt cx="0" cy="0"/>
        </a:xfrm>
      </p:grpSpPr>
      <p:sp>
        <p:nvSpPr>
          <p:cNvPr id="28" name="Google Shape;28;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3" name="Google Shape;33;p70"/>
          <p:cNvSpPr txBox="1"/>
          <p:nvPr/>
        </p:nvSpPr>
        <p:spPr>
          <a:xfrm>
            <a:off x="4191000" y="639791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7"/>
        <p:cNvGrpSpPr/>
        <p:nvPr/>
      </p:nvGrpSpPr>
      <p:grpSpPr>
        <a:xfrm>
          <a:off x="0" y="0"/>
          <a:ext cx="0" cy="0"/>
          <a:chOff x="0" y="0"/>
          <a:chExt cx="0" cy="0"/>
        </a:xfrm>
      </p:grpSpPr>
      <p:sp>
        <p:nvSpPr>
          <p:cNvPr id="38" name="Google Shape;3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0" name="Google Shape;40;p7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1" name="Google Shape;41;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4"/>
        <p:cNvGrpSpPr/>
        <p:nvPr/>
      </p:nvGrpSpPr>
      <p:grpSpPr>
        <a:xfrm>
          <a:off x="0" y="0"/>
          <a:ext cx="0" cy="0"/>
          <a:chOff x="0" y="0"/>
          <a:chExt cx="0" cy="0"/>
        </a:xfrm>
      </p:grpSpPr>
      <p:sp>
        <p:nvSpPr>
          <p:cNvPr id="45" name="Google Shape;45;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48"/>
        <p:cNvGrpSpPr/>
        <p:nvPr/>
      </p:nvGrpSpPr>
      <p:grpSpPr>
        <a:xfrm>
          <a:off x="0" y="0"/>
          <a:ext cx="0" cy="0"/>
          <a:chOff x="0" y="0"/>
          <a:chExt cx="0" cy="0"/>
        </a:xfrm>
      </p:grpSpPr>
      <p:sp>
        <p:nvSpPr>
          <p:cNvPr id="49" name="Google Shape;49;p7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7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1" name="Google Shape;5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54"/>
        <p:cNvGrpSpPr/>
        <p:nvPr/>
      </p:nvGrpSpPr>
      <p:grpSpPr>
        <a:xfrm>
          <a:off x="0" y="0"/>
          <a:ext cx="0" cy="0"/>
          <a:chOff x="0" y="0"/>
          <a:chExt cx="0" cy="0"/>
        </a:xfrm>
      </p:grpSpPr>
      <p:sp>
        <p:nvSpPr>
          <p:cNvPr id="55" name="Google Shape;55;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7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61"/>
        <p:cNvGrpSpPr/>
        <p:nvPr/>
      </p:nvGrpSpPr>
      <p:grpSpPr>
        <a:xfrm>
          <a:off x="0" y="0"/>
          <a:ext cx="0" cy="0"/>
          <a:chOff x="0" y="0"/>
          <a:chExt cx="0" cy="0"/>
        </a:xfrm>
      </p:grpSpPr>
      <p:sp>
        <p:nvSpPr>
          <p:cNvPr id="62" name="Google Shape;62;p7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7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7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7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7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70"/>
        <p:cNvGrpSpPr/>
        <p:nvPr/>
      </p:nvGrpSpPr>
      <p:grpSpPr>
        <a:xfrm>
          <a:off x="0" y="0"/>
          <a:ext cx="0" cy="0"/>
          <a:chOff x="0" y="0"/>
          <a:chExt cx="0" cy="0"/>
        </a:xfrm>
      </p:grpSpPr>
      <p:sp>
        <p:nvSpPr>
          <p:cNvPr id="71" name="Google Shape;71;p7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5"/>
        <p:cNvGrpSpPr/>
        <p:nvPr/>
      </p:nvGrpSpPr>
      <p:grpSpPr>
        <a:xfrm>
          <a:off x="0" y="0"/>
          <a:ext cx="0" cy="0"/>
          <a:chOff x="0" y="0"/>
          <a:chExt cx="0" cy="0"/>
        </a:xfrm>
      </p:grpSpPr>
      <p:sp>
        <p:nvSpPr>
          <p:cNvPr id="76" name="Google Shape;76;p7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77"/>
          <p:cNvSpPr>
            <a:spLocks noGrp="1"/>
          </p:cNvSpPr>
          <p:nvPr>
            <p:ph type="pic" idx="2"/>
          </p:nvPr>
        </p:nvSpPr>
        <p:spPr>
          <a:xfrm>
            <a:off x="5183188" y="987425"/>
            <a:ext cx="6172200" cy="4873625"/>
          </a:xfrm>
          <a:prstGeom prst="rect">
            <a:avLst/>
          </a:prstGeom>
          <a:noFill/>
          <a:ln>
            <a:noFill/>
          </a:ln>
        </p:spPr>
      </p:sp>
      <p:sp>
        <p:nvSpPr>
          <p:cNvPr id="78" name="Google Shape;78;p7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82"/>
        <p:cNvGrpSpPr/>
        <p:nvPr/>
      </p:nvGrpSpPr>
      <p:grpSpPr>
        <a:xfrm>
          <a:off x="0" y="0"/>
          <a:ext cx="0" cy="0"/>
          <a:chOff x="0" y="0"/>
          <a:chExt cx="0" cy="0"/>
        </a:xfrm>
      </p:grpSpPr>
      <p:sp>
        <p:nvSpPr>
          <p:cNvPr id="83" name="Google Shape;83;p7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7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7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7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Титульный слайд">
  <p:cSld name="1_Титульный слайд">
    <p:spTree>
      <p:nvGrpSpPr>
        <p:cNvPr id="1" name="Shape 94"/>
        <p:cNvGrpSpPr/>
        <p:nvPr/>
      </p:nvGrpSpPr>
      <p:grpSpPr>
        <a:xfrm>
          <a:off x="0" y="0"/>
          <a:ext cx="0" cy="0"/>
          <a:chOff x="0" y="0"/>
          <a:chExt cx="0" cy="0"/>
        </a:xfrm>
      </p:grpSpPr>
      <p:sp>
        <p:nvSpPr>
          <p:cNvPr id="95" name="Google Shape;95;p80"/>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 name="Google Shape;96;p80"/>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7" name="Google Shape;97;p80"/>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 name="Google Shape;98;p80"/>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Agenda Layout">
  <p:cSld name="Agenda Layout">
    <p:spTree>
      <p:nvGrpSpPr>
        <p:cNvPr id="1" name="Shape 10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Basic Layout">
  <p:cSld name="Basic Layout">
    <p:spTree>
      <p:nvGrpSpPr>
        <p:cNvPr id="1" name="Shape 101"/>
        <p:cNvGrpSpPr/>
        <p:nvPr/>
      </p:nvGrpSpPr>
      <p:grpSpPr>
        <a:xfrm>
          <a:off x="0" y="0"/>
          <a:ext cx="0" cy="0"/>
          <a:chOff x="0" y="0"/>
          <a:chExt cx="0" cy="0"/>
        </a:xfrm>
      </p:grpSpPr>
      <p:sp>
        <p:nvSpPr>
          <p:cNvPr id="102" name="Google Shape;102;p83"/>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3" name="Google Shape;103;p83"/>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chemeClr val="dk1"/>
              </a:buClr>
              <a:buSzPts val="1865"/>
              <a:buFont typeface="Arial"/>
              <a:buNone/>
              <a:defRPr sz="1865"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4" name="Google Shape;104;p83"/>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05" name="Google Shape;105;p83"/>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1_Basic Layout">
  <p:cSld name="1_Basic Layout">
    <p:spTree>
      <p:nvGrpSpPr>
        <p:cNvPr id="1" name="Shape 106"/>
        <p:cNvGrpSpPr/>
        <p:nvPr/>
      </p:nvGrpSpPr>
      <p:grpSpPr>
        <a:xfrm>
          <a:off x="0" y="0"/>
          <a:ext cx="0" cy="0"/>
          <a:chOff x="0" y="0"/>
          <a:chExt cx="0" cy="0"/>
        </a:xfrm>
      </p:grpSpPr>
      <p:sp>
        <p:nvSpPr>
          <p:cNvPr id="107" name="Google Shape;107;p84"/>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8" name="Google Shape;108;p84"/>
          <p:cNvSpPr txBox="1">
            <a:spLocks noGrp="1"/>
          </p:cNvSpPr>
          <p:nvPr>
            <p:ph type="body" idx="2"/>
          </p:nvPr>
        </p:nvSpPr>
        <p:spPr>
          <a:xfrm>
            <a:off x="0" y="932723"/>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09" name="Google Shape;109;p84"/>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0" name="Google Shape;110;p84"/>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2_Basic Layout">
  <p:cSld name="2_Basic Layout">
    <p:spTree>
      <p:nvGrpSpPr>
        <p:cNvPr id="1" name="Shape 111"/>
        <p:cNvGrpSpPr/>
        <p:nvPr/>
      </p:nvGrpSpPr>
      <p:grpSpPr>
        <a:xfrm>
          <a:off x="0" y="0"/>
          <a:ext cx="0" cy="0"/>
          <a:chOff x="0" y="0"/>
          <a:chExt cx="0" cy="0"/>
        </a:xfrm>
      </p:grpSpPr>
      <p:sp>
        <p:nvSpPr>
          <p:cNvPr id="112" name="Google Shape;112;p85"/>
          <p:cNvSpPr txBox="1">
            <a:spLocks noGrp="1"/>
          </p:cNvSpPr>
          <p:nvPr>
            <p:ph type="body" idx="1"/>
          </p:nvPr>
        </p:nvSpPr>
        <p:spPr>
          <a:xfrm>
            <a:off x="2735627" y="164638"/>
            <a:ext cx="9456373" cy="768085"/>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3" name="Google Shape;113;p85"/>
          <p:cNvSpPr txBox="1">
            <a:spLocks noGrp="1"/>
          </p:cNvSpPr>
          <p:nvPr>
            <p:ph type="body" idx="2"/>
          </p:nvPr>
        </p:nvSpPr>
        <p:spPr>
          <a:xfrm>
            <a:off x="2735627" y="932723"/>
            <a:ext cx="9456373" cy="384043"/>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4" name="Google Shape;114;p85"/>
          <p:cNvSpPr/>
          <p:nvPr/>
        </p:nvSpPr>
        <p:spPr>
          <a:xfrm>
            <a:off x="0" y="1"/>
            <a:ext cx="2543605" cy="6864183"/>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Images and Contents Layout">
  <p:cSld name="Images and Contents Layout">
    <p:spTree>
      <p:nvGrpSpPr>
        <p:cNvPr id="1" name="Shape 115"/>
        <p:cNvGrpSpPr/>
        <p:nvPr/>
      </p:nvGrpSpPr>
      <p:grpSpPr>
        <a:xfrm>
          <a:off x="0" y="0"/>
          <a:ext cx="0" cy="0"/>
          <a:chOff x="0" y="0"/>
          <a:chExt cx="0" cy="0"/>
        </a:xfrm>
      </p:grpSpPr>
      <p:sp>
        <p:nvSpPr>
          <p:cNvPr id="116" name="Google Shape;116;p86"/>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7" name="Google Shape;117;p86"/>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18" name="Google Shape;118;p86"/>
          <p:cNvSpPr/>
          <p:nvPr/>
        </p:nvSpPr>
        <p:spPr>
          <a:xfrm>
            <a:off x="0" y="2276872"/>
            <a:ext cx="12192000" cy="240026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19" name="Google Shape;119;p86"/>
          <p:cNvSpPr/>
          <p:nvPr/>
        </p:nvSpPr>
        <p:spPr>
          <a:xfrm rot="10800000">
            <a:off x="158339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0" name="Google Shape;120;p86"/>
          <p:cNvSpPr/>
          <p:nvPr/>
        </p:nvSpPr>
        <p:spPr>
          <a:xfrm rot="10800000">
            <a:off x="446371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1" name="Google Shape;121;p86"/>
          <p:cNvSpPr/>
          <p:nvPr/>
        </p:nvSpPr>
        <p:spPr>
          <a:xfrm rot="10800000">
            <a:off x="7344032"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2" name="Google Shape;122;p86"/>
          <p:cNvSpPr/>
          <p:nvPr/>
        </p:nvSpPr>
        <p:spPr>
          <a:xfrm rot="10800000">
            <a:off x="10224348" y="4677509"/>
            <a:ext cx="384043" cy="331071"/>
          </a:xfrm>
          <a:prstGeom prst="triangle">
            <a:avLst>
              <a:gd name="adj" fmla="val 50000"/>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3" name="Google Shape;123;p86"/>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4" name="Google Shape;124;p86"/>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25" name="Google Shape;125;p86"/>
          <p:cNvSpPr>
            <a:spLocks noGrp="1"/>
          </p:cNvSpPr>
          <p:nvPr>
            <p:ph type="pic" idx="3"/>
          </p:nvPr>
        </p:nvSpPr>
        <p:spPr>
          <a:xfrm>
            <a:off x="815413" y="2517005"/>
            <a:ext cx="1920000" cy="1920000"/>
          </a:xfrm>
          <a:prstGeom prst="ellipse">
            <a:avLst/>
          </a:prstGeom>
          <a:solidFill>
            <a:srgbClr val="F2F2F2"/>
          </a:solidFill>
          <a:ln>
            <a:noFill/>
          </a:ln>
        </p:spPr>
      </p:sp>
      <p:sp>
        <p:nvSpPr>
          <p:cNvPr id="126" name="Google Shape;126;p86"/>
          <p:cNvSpPr>
            <a:spLocks noGrp="1"/>
          </p:cNvSpPr>
          <p:nvPr>
            <p:ph type="pic" idx="4"/>
          </p:nvPr>
        </p:nvSpPr>
        <p:spPr>
          <a:xfrm>
            <a:off x="3695732" y="2517005"/>
            <a:ext cx="1920000" cy="1920000"/>
          </a:xfrm>
          <a:prstGeom prst="ellipse">
            <a:avLst/>
          </a:prstGeom>
          <a:solidFill>
            <a:srgbClr val="F2F2F2"/>
          </a:solidFill>
          <a:ln>
            <a:noFill/>
          </a:ln>
        </p:spPr>
      </p:sp>
      <p:sp>
        <p:nvSpPr>
          <p:cNvPr id="127" name="Google Shape;127;p86"/>
          <p:cNvSpPr>
            <a:spLocks noGrp="1"/>
          </p:cNvSpPr>
          <p:nvPr>
            <p:ph type="pic" idx="5"/>
          </p:nvPr>
        </p:nvSpPr>
        <p:spPr>
          <a:xfrm>
            <a:off x="6576051" y="2517005"/>
            <a:ext cx="1920000" cy="1920000"/>
          </a:xfrm>
          <a:prstGeom prst="ellipse">
            <a:avLst/>
          </a:prstGeom>
          <a:solidFill>
            <a:srgbClr val="F2F2F2"/>
          </a:solidFill>
          <a:ln>
            <a:noFill/>
          </a:ln>
        </p:spPr>
      </p:sp>
      <p:sp>
        <p:nvSpPr>
          <p:cNvPr id="128" name="Google Shape;128;p86"/>
          <p:cNvSpPr>
            <a:spLocks noGrp="1"/>
          </p:cNvSpPr>
          <p:nvPr>
            <p:ph type="pic" idx="6"/>
          </p:nvPr>
        </p:nvSpPr>
        <p:spPr>
          <a:xfrm>
            <a:off x="9456369" y="2517005"/>
            <a:ext cx="1920000" cy="1920000"/>
          </a:xfrm>
          <a:prstGeom prst="ellipse">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1_Images and Contents Layout">
  <p:cSld name="1_Images and Contents Layout">
    <p:spTree>
      <p:nvGrpSpPr>
        <p:cNvPr id="1" name="Shape 129"/>
        <p:cNvGrpSpPr/>
        <p:nvPr/>
      </p:nvGrpSpPr>
      <p:grpSpPr>
        <a:xfrm>
          <a:off x="0" y="0"/>
          <a:ext cx="0" cy="0"/>
          <a:chOff x="0" y="0"/>
          <a:chExt cx="0" cy="0"/>
        </a:xfrm>
      </p:grpSpPr>
      <p:sp>
        <p:nvSpPr>
          <p:cNvPr id="130" name="Google Shape;130;p87"/>
          <p:cNvSpPr/>
          <p:nvPr/>
        </p:nvSpPr>
        <p:spPr>
          <a:xfrm>
            <a:off x="5231904" y="2276872"/>
            <a:ext cx="5711957" cy="3936437"/>
          </a:xfrm>
          <a:prstGeom prst="rect">
            <a:avLst/>
          </a:prstGeom>
          <a:solidFill>
            <a:srgbClr val="F2F2F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2400">
              <a:solidFill>
                <a:srgbClr val="3F3F3F"/>
              </a:solidFill>
              <a:latin typeface="Arial"/>
              <a:ea typeface="Arial"/>
              <a:cs typeface="Arial"/>
              <a:sym typeface="Arial"/>
            </a:endParaRPr>
          </a:p>
        </p:txBody>
      </p:sp>
      <p:sp>
        <p:nvSpPr>
          <p:cNvPr id="131" name="Google Shape;131;p87"/>
          <p:cNvSpPr>
            <a:spLocks noGrp="1"/>
          </p:cNvSpPr>
          <p:nvPr>
            <p:ph type="pic" idx="2"/>
          </p:nvPr>
        </p:nvSpPr>
        <p:spPr>
          <a:xfrm>
            <a:off x="1103445" y="1412776"/>
            <a:ext cx="4560000" cy="3696000"/>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2_Images and Contents Layout">
  <p:cSld name="2_Images and Contents Layout">
    <p:spTree>
      <p:nvGrpSpPr>
        <p:cNvPr id="1" name="Shape 132"/>
        <p:cNvGrpSpPr/>
        <p:nvPr/>
      </p:nvGrpSpPr>
      <p:grpSpPr>
        <a:xfrm>
          <a:off x="0" y="0"/>
          <a:ext cx="0" cy="0"/>
          <a:chOff x="0" y="0"/>
          <a:chExt cx="0" cy="0"/>
        </a:xfrm>
      </p:grpSpPr>
      <p:sp>
        <p:nvSpPr>
          <p:cNvPr id="133" name="Google Shape;133;p88"/>
          <p:cNvSpPr>
            <a:spLocks noGrp="1"/>
          </p:cNvSpPr>
          <p:nvPr>
            <p:ph type="pic" idx="2"/>
          </p:nvPr>
        </p:nvSpPr>
        <p:spPr>
          <a:xfrm>
            <a:off x="0" y="990600"/>
            <a:ext cx="3887755" cy="5867400"/>
          </a:xfrm>
          <a:prstGeom prst="rect">
            <a:avLst/>
          </a:prstGeom>
          <a:solidFill>
            <a:srgbClr val="F2F2F2"/>
          </a:solidFill>
          <a:ln>
            <a:noFill/>
          </a:ln>
        </p:spPr>
      </p:sp>
      <p:sp>
        <p:nvSpPr>
          <p:cNvPr id="134" name="Google Shape;134;p88"/>
          <p:cNvSpPr>
            <a:spLocks noGrp="1"/>
          </p:cNvSpPr>
          <p:nvPr>
            <p:ph type="pic" idx="3"/>
          </p:nvPr>
        </p:nvSpPr>
        <p:spPr>
          <a:xfrm>
            <a:off x="4079776" y="0"/>
            <a:ext cx="8112224" cy="3621021"/>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3_Images and Contents Layout">
  <p:cSld name="3_Images and Contents Layout">
    <p:spTree>
      <p:nvGrpSpPr>
        <p:cNvPr id="1" name="Shape 135"/>
        <p:cNvGrpSpPr/>
        <p:nvPr/>
      </p:nvGrpSpPr>
      <p:grpSpPr>
        <a:xfrm>
          <a:off x="0" y="0"/>
          <a:ext cx="0" cy="0"/>
          <a:chOff x="0" y="0"/>
          <a:chExt cx="0" cy="0"/>
        </a:xfrm>
      </p:grpSpPr>
      <p:sp>
        <p:nvSpPr>
          <p:cNvPr id="136" name="Google Shape;136;p89"/>
          <p:cNvSpPr>
            <a:spLocks noGrp="1"/>
          </p:cNvSpPr>
          <p:nvPr>
            <p:ph type="pic" idx="2"/>
          </p:nvPr>
        </p:nvSpPr>
        <p:spPr>
          <a:xfrm>
            <a:off x="0" y="1013496"/>
            <a:ext cx="3887755" cy="3567632"/>
          </a:xfrm>
          <a:prstGeom prst="rect">
            <a:avLst/>
          </a:prstGeom>
          <a:solidFill>
            <a:srgbClr val="F2F2F2"/>
          </a:solidFill>
          <a:ln>
            <a:noFill/>
          </a:ln>
        </p:spPr>
      </p:sp>
      <p:sp>
        <p:nvSpPr>
          <p:cNvPr id="137" name="Google Shape;137;p89"/>
          <p:cNvSpPr>
            <a:spLocks noGrp="1"/>
          </p:cNvSpPr>
          <p:nvPr>
            <p:ph type="pic" idx="3"/>
          </p:nvPr>
        </p:nvSpPr>
        <p:spPr>
          <a:xfrm>
            <a:off x="8304245" y="0"/>
            <a:ext cx="3887755" cy="4581128"/>
          </a:xfrm>
          <a:prstGeom prst="rect">
            <a:avLst/>
          </a:prstGeom>
          <a:solidFill>
            <a:srgbClr val="F2F2F2"/>
          </a:solidFill>
          <a:ln>
            <a:noFill/>
          </a:ln>
        </p:spPr>
      </p:sp>
      <p:sp>
        <p:nvSpPr>
          <p:cNvPr id="138" name="Google Shape;138;p89"/>
          <p:cNvSpPr>
            <a:spLocks noGrp="1"/>
          </p:cNvSpPr>
          <p:nvPr>
            <p:ph type="pic" idx="4"/>
          </p:nvPr>
        </p:nvSpPr>
        <p:spPr>
          <a:xfrm>
            <a:off x="0" y="4773149"/>
            <a:ext cx="6096000" cy="208485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4_Images and Contents Layout">
  <p:cSld name="4_Images and Contents Layout">
    <p:spTree>
      <p:nvGrpSpPr>
        <p:cNvPr id="1" name="Shape 139"/>
        <p:cNvGrpSpPr/>
        <p:nvPr/>
      </p:nvGrpSpPr>
      <p:grpSpPr>
        <a:xfrm>
          <a:off x="0" y="0"/>
          <a:ext cx="0" cy="0"/>
          <a:chOff x="0" y="0"/>
          <a:chExt cx="0" cy="0"/>
        </a:xfrm>
      </p:grpSpPr>
      <p:sp>
        <p:nvSpPr>
          <p:cNvPr id="140" name="Google Shape;140;p90"/>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1" name="Google Shape;141;p90"/>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42" name="Google Shape;142;p90"/>
          <p:cNvSpPr/>
          <p:nvPr/>
        </p:nvSpPr>
        <p:spPr>
          <a:xfrm>
            <a:off x="595027" y="4101331"/>
            <a:ext cx="2400000" cy="2304000"/>
          </a:xfrm>
          <a:prstGeom prst="rect">
            <a:avLst/>
          </a:prstGeom>
          <a:solidFill>
            <a:schemeClr val="accent2"/>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3" name="Google Shape;143;p90"/>
          <p:cNvSpPr/>
          <p:nvPr/>
        </p:nvSpPr>
        <p:spPr>
          <a:xfrm>
            <a:off x="9196973" y="1700808"/>
            <a:ext cx="2400000" cy="2304000"/>
          </a:xfrm>
          <a:prstGeom prst="rect">
            <a:avLst/>
          </a:prstGeom>
          <a:solidFill>
            <a:schemeClr val="accent3"/>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600">
              <a:solidFill>
                <a:srgbClr val="3F3F3F"/>
              </a:solidFill>
              <a:latin typeface="Arial"/>
              <a:ea typeface="Arial"/>
              <a:cs typeface="Arial"/>
              <a:sym typeface="Arial"/>
            </a:endParaRPr>
          </a:p>
        </p:txBody>
      </p:sp>
      <p:sp>
        <p:nvSpPr>
          <p:cNvPr id="144" name="Google Shape;144;p90"/>
          <p:cNvSpPr>
            <a:spLocks noGrp="1"/>
          </p:cNvSpPr>
          <p:nvPr>
            <p:ph type="pic" idx="3"/>
          </p:nvPr>
        </p:nvSpPr>
        <p:spPr>
          <a:xfrm>
            <a:off x="595027" y="1700808"/>
            <a:ext cx="2400000" cy="2304000"/>
          </a:xfrm>
          <a:prstGeom prst="rect">
            <a:avLst/>
          </a:prstGeom>
          <a:solidFill>
            <a:srgbClr val="F2F2F2"/>
          </a:solidFill>
          <a:ln>
            <a:noFill/>
          </a:ln>
        </p:spPr>
      </p:sp>
      <p:sp>
        <p:nvSpPr>
          <p:cNvPr id="145" name="Google Shape;145;p90"/>
          <p:cNvSpPr>
            <a:spLocks noGrp="1"/>
          </p:cNvSpPr>
          <p:nvPr>
            <p:ph type="pic" idx="4"/>
          </p:nvPr>
        </p:nvSpPr>
        <p:spPr>
          <a:xfrm>
            <a:off x="9196973" y="4101331"/>
            <a:ext cx="2400000" cy="2304000"/>
          </a:xfrm>
          <a:prstGeom prst="rect">
            <a:avLst/>
          </a:prstGeom>
          <a:solidFill>
            <a:srgbClr val="F2F2F2"/>
          </a:solidFill>
          <a:ln>
            <a:noFill/>
          </a:ln>
        </p:spPr>
      </p:sp>
      <p:sp>
        <p:nvSpPr>
          <p:cNvPr id="146" name="Google Shape;146;p90"/>
          <p:cNvSpPr>
            <a:spLocks noGrp="1"/>
          </p:cNvSpPr>
          <p:nvPr>
            <p:ph type="pic" idx="5"/>
          </p:nvPr>
        </p:nvSpPr>
        <p:spPr>
          <a:xfrm>
            <a:off x="3119669" y="4101331"/>
            <a:ext cx="5952663" cy="2304000"/>
          </a:xfrm>
          <a:prstGeom prst="rect">
            <a:avLst/>
          </a:prstGeom>
          <a:solidFill>
            <a:srgbClr val="F2F2F2"/>
          </a:solidFill>
          <a:ln>
            <a:noFill/>
          </a:ln>
        </p:spPr>
      </p:sp>
      <p:sp>
        <p:nvSpPr>
          <p:cNvPr id="147" name="Google Shape;147;p90"/>
          <p:cNvSpPr>
            <a:spLocks noGrp="1"/>
          </p:cNvSpPr>
          <p:nvPr>
            <p:ph type="pic" idx="6"/>
          </p:nvPr>
        </p:nvSpPr>
        <p:spPr>
          <a:xfrm>
            <a:off x="3119669" y="1700808"/>
            <a:ext cx="5952663" cy="23040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5_Images and Contents Layout">
  <p:cSld name="5_Images and Contents Layout">
    <p:spTree>
      <p:nvGrpSpPr>
        <p:cNvPr id="1" name="Shape 148"/>
        <p:cNvGrpSpPr/>
        <p:nvPr/>
      </p:nvGrpSpPr>
      <p:grpSpPr>
        <a:xfrm>
          <a:off x="0" y="0"/>
          <a:ext cx="0" cy="0"/>
          <a:chOff x="0" y="0"/>
          <a:chExt cx="0" cy="0"/>
        </a:xfrm>
      </p:grpSpPr>
      <p:sp>
        <p:nvSpPr>
          <p:cNvPr id="149" name="Google Shape;149;p91"/>
          <p:cNvSpPr>
            <a:spLocks noGrp="1"/>
          </p:cNvSpPr>
          <p:nvPr>
            <p:ph type="pic" idx="2"/>
          </p:nvPr>
        </p:nvSpPr>
        <p:spPr>
          <a:xfrm>
            <a:off x="709650" y="480055"/>
            <a:ext cx="4224469" cy="4197085"/>
          </a:xfrm>
          <a:prstGeom prst="rect">
            <a:avLst/>
          </a:prstGeom>
          <a:solidFill>
            <a:srgbClr val="F2F2F2"/>
          </a:solidFill>
          <a:ln>
            <a:noFill/>
          </a:ln>
        </p:spPr>
      </p:sp>
      <p:sp>
        <p:nvSpPr>
          <p:cNvPr id="150" name="Google Shape;150;p91"/>
          <p:cNvSpPr>
            <a:spLocks noGrp="1"/>
          </p:cNvSpPr>
          <p:nvPr>
            <p:ph type="pic" idx="3"/>
          </p:nvPr>
        </p:nvSpPr>
        <p:spPr>
          <a:xfrm>
            <a:off x="5126140" y="480056"/>
            <a:ext cx="6336704" cy="2296105"/>
          </a:xfrm>
          <a:prstGeom prst="rect">
            <a:avLst/>
          </a:prstGeom>
          <a:solidFill>
            <a:srgbClr val="F2F2F2"/>
          </a:solidFill>
          <a:ln>
            <a:noFill/>
          </a:ln>
        </p:spPr>
      </p:sp>
      <p:sp>
        <p:nvSpPr>
          <p:cNvPr id="151" name="Google Shape;151;p91"/>
          <p:cNvSpPr>
            <a:spLocks noGrp="1"/>
          </p:cNvSpPr>
          <p:nvPr>
            <p:ph type="pic" idx="4"/>
          </p:nvPr>
        </p:nvSpPr>
        <p:spPr>
          <a:xfrm>
            <a:off x="5126140" y="2948948"/>
            <a:ext cx="1968000" cy="1728192"/>
          </a:xfrm>
          <a:prstGeom prst="rect">
            <a:avLst/>
          </a:prstGeom>
          <a:solidFill>
            <a:srgbClr val="F2F2F2"/>
          </a:solidFill>
          <a:ln>
            <a:noFill/>
          </a:ln>
        </p:spPr>
      </p:sp>
      <p:sp>
        <p:nvSpPr>
          <p:cNvPr id="152" name="Google Shape;152;p91"/>
          <p:cNvSpPr>
            <a:spLocks noGrp="1"/>
          </p:cNvSpPr>
          <p:nvPr>
            <p:ph type="pic" idx="5"/>
          </p:nvPr>
        </p:nvSpPr>
        <p:spPr>
          <a:xfrm>
            <a:off x="7310492" y="2948948"/>
            <a:ext cx="1968000" cy="1728192"/>
          </a:xfrm>
          <a:prstGeom prst="rect">
            <a:avLst/>
          </a:prstGeom>
          <a:solidFill>
            <a:srgbClr val="F2F2F2"/>
          </a:solidFill>
          <a:ln>
            <a:noFill/>
          </a:ln>
        </p:spPr>
      </p:sp>
      <p:sp>
        <p:nvSpPr>
          <p:cNvPr id="153" name="Google Shape;153;p91"/>
          <p:cNvSpPr>
            <a:spLocks noGrp="1"/>
          </p:cNvSpPr>
          <p:nvPr>
            <p:ph type="pic" idx="6"/>
          </p:nvPr>
        </p:nvSpPr>
        <p:spPr>
          <a:xfrm>
            <a:off x="9494844" y="2948948"/>
            <a:ext cx="1968000" cy="1728192"/>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7_Images and Contents Layout">
  <p:cSld name="7_Images and Contents Layout">
    <p:spTree>
      <p:nvGrpSpPr>
        <p:cNvPr id="1" name="Shape 154"/>
        <p:cNvGrpSpPr/>
        <p:nvPr/>
      </p:nvGrpSpPr>
      <p:grpSpPr>
        <a:xfrm>
          <a:off x="0" y="0"/>
          <a:ext cx="0" cy="0"/>
          <a:chOff x="0" y="0"/>
          <a:chExt cx="0" cy="0"/>
        </a:xfrm>
      </p:grpSpPr>
      <p:sp>
        <p:nvSpPr>
          <p:cNvPr id="155" name="Google Shape;155;p92"/>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56" name="Google Shape;156;p92"/>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57" name="Google Shape;157;p92"/>
          <p:cNvPicPr preferRelativeResize="0"/>
          <p:nvPr/>
        </p:nvPicPr>
        <p:blipFill rotWithShape="1">
          <a:blip r:embed="rId2">
            <a:alphaModFix/>
          </a:blip>
          <a:srcRect/>
          <a:stretch/>
        </p:blipFill>
        <p:spPr>
          <a:xfrm>
            <a:off x="4546767" y="2276873"/>
            <a:ext cx="7238124" cy="3966041"/>
          </a:xfrm>
          <a:prstGeom prst="rect">
            <a:avLst/>
          </a:prstGeom>
          <a:noFill/>
          <a:ln>
            <a:noFill/>
          </a:ln>
        </p:spPr>
      </p:pic>
      <p:sp>
        <p:nvSpPr>
          <p:cNvPr id="158" name="Google Shape;158;p92"/>
          <p:cNvSpPr>
            <a:spLocks noGrp="1"/>
          </p:cNvSpPr>
          <p:nvPr>
            <p:ph type="pic" idx="3"/>
          </p:nvPr>
        </p:nvSpPr>
        <p:spPr>
          <a:xfrm>
            <a:off x="5705875" y="2485912"/>
            <a:ext cx="4832891" cy="3124239"/>
          </a:xfrm>
          <a:prstGeom prst="rect">
            <a:avLst/>
          </a:prstGeom>
          <a:solidFill>
            <a:srgbClr val="F2F2F2"/>
          </a:solidFill>
          <a:ln>
            <a:noFill/>
          </a:ln>
        </p:spPr>
      </p:sp>
      <p:sp>
        <p:nvSpPr>
          <p:cNvPr id="159" name="Google Shape;159;p92"/>
          <p:cNvSpPr/>
          <p:nvPr/>
        </p:nvSpPr>
        <p:spPr>
          <a:xfrm>
            <a:off x="4037371" y="1"/>
            <a:ext cx="4128459" cy="60959"/>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60" name="Google Shape;160;p92"/>
          <p:cNvSpPr/>
          <p:nvPr/>
        </p:nvSpPr>
        <p:spPr>
          <a:xfrm>
            <a:off x="0" y="6753308"/>
            <a:ext cx="12192000" cy="110875"/>
          </a:xfrm>
          <a:prstGeom prst="rect">
            <a:avLst/>
          </a:prstGeom>
          <a:solidFill>
            <a:srgbClr val="EB494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8_Images and Contents Layout">
  <p:cSld name="8_Images and Contents Layout">
    <p:spTree>
      <p:nvGrpSpPr>
        <p:cNvPr id="1" name="Shape 161"/>
        <p:cNvGrpSpPr/>
        <p:nvPr/>
      </p:nvGrpSpPr>
      <p:grpSpPr>
        <a:xfrm>
          <a:off x="0" y="0"/>
          <a:ext cx="0" cy="0"/>
          <a:chOff x="0" y="0"/>
          <a:chExt cx="0" cy="0"/>
        </a:xfrm>
      </p:grpSpPr>
      <p:sp>
        <p:nvSpPr>
          <p:cNvPr id="162" name="Google Shape;162;p93"/>
          <p:cNvSpPr txBox="1">
            <a:spLocks noGrp="1"/>
          </p:cNvSpPr>
          <p:nvPr>
            <p:ph type="body" idx="1"/>
          </p:nvPr>
        </p:nvSpPr>
        <p:spPr>
          <a:xfrm>
            <a:off x="0" y="242176"/>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rgbClr val="3F3F3F"/>
              </a:buClr>
              <a:buSzPts val="4800"/>
              <a:buFont typeface="Arial"/>
              <a:buNone/>
              <a:defRPr sz="4800"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sp>
        <p:nvSpPr>
          <p:cNvPr id="163" name="Google Shape;163;p93"/>
          <p:cNvSpPr txBox="1">
            <a:spLocks noGrp="1"/>
          </p:cNvSpPr>
          <p:nvPr>
            <p:ph type="body" idx="2"/>
          </p:nvPr>
        </p:nvSpPr>
        <p:spPr>
          <a:xfrm>
            <a:off x="0" y="1010261"/>
            <a:ext cx="12192000" cy="384043"/>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373"/>
              </a:spcBef>
              <a:spcAft>
                <a:spcPts val="0"/>
              </a:spcAft>
              <a:buClr>
                <a:srgbClr val="3F3F3F"/>
              </a:buClr>
              <a:buSzPts val="1865"/>
              <a:buFont typeface="Arial"/>
              <a:buNone/>
              <a:defRPr sz="1865" b="0" i="0" u="none" strike="noStrike" cap="none">
                <a:solidFill>
                  <a:srgbClr val="3F3F3F"/>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pic>
        <p:nvPicPr>
          <p:cNvPr id="164" name="Google Shape;164;p93" descr="D:\Fullppt\005-PNG이미지\모니터.png"/>
          <p:cNvPicPr preferRelativeResize="0"/>
          <p:nvPr/>
        </p:nvPicPr>
        <p:blipFill rotWithShape="1">
          <a:blip r:embed="rId2">
            <a:alphaModFix/>
          </a:blip>
          <a:srcRect/>
          <a:stretch/>
        </p:blipFill>
        <p:spPr>
          <a:xfrm>
            <a:off x="776400" y="1815747"/>
            <a:ext cx="3360373" cy="3350541"/>
          </a:xfrm>
          <a:prstGeom prst="rect">
            <a:avLst/>
          </a:prstGeom>
          <a:noFill/>
          <a:ln>
            <a:noFill/>
          </a:ln>
        </p:spPr>
      </p:pic>
      <p:pic>
        <p:nvPicPr>
          <p:cNvPr id="165" name="Google Shape;165;p93" descr="D:\Fullppt\005-PNG이미지\모니터.png"/>
          <p:cNvPicPr preferRelativeResize="0"/>
          <p:nvPr/>
        </p:nvPicPr>
        <p:blipFill rotWithShape="1">
          <a:blip r:embed="rId2">
            <a:alphaModFix/>
          </a:blip>
          <a:srcRect/>
          <a:stretch/>
        </p:blipFill>
        <p:spPr>
          <a:xfrm>
            <a:off x="4406826" y="1815747"/>
            <a:ext cx="3360373" cy="3350541"/>
          </a:xfrm>
          <a:prstGeom prst="rect">
            <a:avLst/>
          </a:prstGeom>
          <a:noFill/>
          <a:ln>
            <a:noFill/>
          </a:ln>
        </p:spPr>
      </p:pic>
      <p:pic>
        <p:nvPicPr>
          <p:cNvPr id="166" name="Google Shape;166;p93" descr="D:\Fullppt\005-PNG이미지\모니터.png"/>
          <p:cNvPicPr preferRelativeResize="0"/>
          <p:nvPr/>
        </p:nvPicPr>
        <p:blipFill rotWithShape="1">
          <a:blip r:embed="rId2">
            <a:alphaModFix/>
          </a:blip>
          <a:srcRect/>
          <a:stretch/>
        </p:blipFill>
        <p:spPr>
          <a:xfrm>
            <a:off x="8037251" y="1815747"/>
            <a:ext cx="3360373" cy="3350541"/>
          </a:xfrm>
          <a:prstGeom prst="rect">
            <a:avLst/>
          </a:prstGeom>
          <a:noFill/>
          <a:ln>
            <a:noFill/>
          </a:ln>
        </p:spPr>
      </p:pic>
      <p:sp>
        <p:nvSpPr>
          <p:cNvPr id="167" name="Google Shape;167;p93"/>
          <p:cNvSpPr>
            <a:spLocks noGrp="1"/>
          </p:cNvSpPr>
          <p:nvPr>
            <p:ph type="pic" idx="3"/>
          </p:nvPr>
        </p:nvSpPr>
        <p:spPr>
          <a:xfrm>
            <a:off x="909901" y="1957962"/>
            <a:ext cx="3073864" cy="2080028"/>
          </a:xfrm>
          <a:prstGeom prst="rect">
            <a:avLst/>
          </a:prstGeom>
          <a:solidFill>
            <a:srgbClr val="F2F2F2"/>
          </a:solidFill>
          <a:ln>
            <a:noFill/>
          </a:ln>
        </p:spPr>
      </p:sp>
      <p:sp>
        <p:nvSpPr>
          <p:cNvPr id="168" name="Google Shape;168;p93"/>
          <p:cNvSpPr>
            <a:spLocks noGrp="1"/>
          </p:cNvSpPr>
          <p:nvPr>
            <p:ph type="pic" idx="4"/>
          </p:nvPr>
        </p:nvSpPr>
        <p:spPr>
          <a:xfrm>
            <a:off x="4539561" y="1957962"/>
            <a:ext cx="3073864" cy="2080028"/>
          </a:xfrm>
          <a:prstGeom prst="rect">
            <a:avLst/>
          </a:prstGeom>
          <a:solidFill>
            <a:srgbClr val="F2F2F2"/>
          </a:solidFill>
          <a:ln>
            <a:noFill/>
          </a:ln>
        </p:spPr>
      </p:sp>
      <p:sp>
        <p:nvSpPr>
          <p:cNvPr id="169" name="Google Shape;169;p93"/>
          <p:cNvSpPr>
            <a:spLocks noGrp="1"/>
          </p:cNvSpPr>
          <p:nvPr>
            <p:ph type="pic" idx="5"/>
          </p:nvPr>
        </p:nvSpPr>
        <p:spPr>
          <a:xfrm>
            <a:off x="8169221" y="1957962"/>
            <a:ext cx="3073864" cy="2080028"/>
          </a:xfrm>
          <a:prstGeom prst="rect">
            <a:avLst/>
          </a:prstGeom>
          <a:solidFill>
            <a:srgbClr val="F2F2F2"/>
          </a:solidFill>
          <a:ln>
            <a:noFill/>
          </a:ln>
        </p:spPr>
      </p:sp>
      <p:sp>
        <p:nvSpPr>
          <p:cNvPr id="170" name="Google Shape;170;p93"/>
          <p:cNvSpPr/>
          <p:nvPr/>
        </p:nvSpPr>
        <p:spPr>
          <a:xfrm>
            <a:off x="4037371" y="1"/>
            <a:ext cx="4128459" cy="609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1" name="Google Shape;171;p93"/>
          <p:cNvSpPr/>
          <p:nvPr/>
        </p:nvSpPr>
        <p:spPr>
          <a:xfrm>
            <a:off x="0" y="6753308"/>
            <a:ext cx="12192000" cy="1108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9_Images and Contents Layout">
  <p:cSld name="9_Images and Contents Layout">
    <p:spTree>
      <p:nvGrpSpPr>
        <p:cNvPr id="1" name="Shape 172"/>
        <p:cNvGrpSpPr/>
        <p:nvPr/>
      </p:nvGrpSpPr>
      <p:grpSpPr>
        <a:xfrm>
          <a:off x="0" y="0"/>
          <a:ext cx="0" cy="0"/>
          <a:chOff x="0" y="0"/>
          <a:chExt cx="0" cy="0"/>
        </a:xfrm>
      </p:grpSpPr>
      <p:sp>
        <p:nvSpPr>
          <p:cNvPr id="173" name="Google Shape;173;p94"/>
          <p:cNvSpPr>
            <a:spLocks noGrp="1"/>
          </p:cNvSpPr>
          <p:nvPr>
            <p:ph type="pic" idx="2"/>
          </p:nvPr>
        </p:nvSpPr>
        <p:spPr>
          <a:xfrm>
            <a:off x="0" y="0"/>
            <a:ext cx="12192000" cy="4101075"/>
          </a:xfrm>
          <a:prstGeom prst="rect">
            <a:avLst/>
          </a:prstGeom>
          <a:solidFill>
            <a:srgbClr val="D8D8D8"/>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icon sets layout">
  <p:cSld name="icon sets layout">
    <p:spTree>
      <p:nvGrpSpPr>
        <p:cNvPr id="1" name="Shape 174"/>
        <p:cNvGrpSpPr/>
        <p:nvPr/>
      </p:nvGrpSpPr>
      <p:grpSpPr>
        <a:xfrm>
          <a:off x="0" y="0"/>
          <a:ext cx="0" cy="0"/>
          <a:chOff x="0" y="0"/>
          <a:chExt cx="0" cy="0"/>
        </a:xfrm>
      </p:grpSpPr>
      <p:sp>
        <p:nvSpPr>
          <p:cNvPr id="175" name="Google Shape;175;p95"/>
          <p:cNvSpPr txBox="1">
            <a:spLocks noGrp="1"/>
          </p:cNvSpPr>
          <p:nvPr>
            <p:ph type="body" idx="1"/>
          </p:nvPr>
        </p:nvSpPr>
        <p:spPr>
          <a:xfrm>
            <a:off x="0" y="164638"/>
            <a:ext cx="12192000" cy="768085"/>
          </a:xfrm>
          <a:prstGeom prst="rect">
            <a:avLst/>
          </a:prstGeom>
          <a:noFill/>
          <a:ln>
            <a:noFill/>
          </a:ln>
        </p:spPr>
        <p:txBody>
          <a:bodyPr spcFirstLastPara="1" wrap="square" lIns="91425" tIns="45700" rIns="91425" bIns="45700" anchor="ctr" anchorCtr="0">
            <a:noAutofit/>
          </a:bodyPr>
          <a:lstStyle>
            <a:lvl1pPr marL="457200" marR="0" lvl="0" indent="-228600" algn="ctr" rtl="0">
              <a:spcBef>
                <a:spcPts val="96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L="914400" marR="0" lvl="1" indent="-465772" algn="l" rtl="0">
              <a:spcBef>
                <a:spcPts val="747"/>
              </a:spcBef>
              <a:spcAft>
                <a:spcPts val="0"/>
              </a:spcAft>
              <a:buClr>
                <a:schemeClr val="dk1"/>
              </a:buClr>
              <a:buSzPts val="3735"/>
              <a:buFont typeface="Arial"/>
              <a:buChar char="–"/>
              <a:defRPr sz="3734" b="0" i="0" u="none" strike="noStrike" cap="none">
                <a:solidFill>
                  <a:schemeClr val="dk1"/>
                </a:solidFill>
                <a:latin typeface="Arial"/>
                <a:ea typeface="Arial"/>
                <a:cs typeface="Arial"/>
                <a:sym typeface="Arial"/>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3pPr>
            <a:lvl4pPr marL="1828800" marR="0" lvl="3"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4pPr>
            <a:lvl5pPr marL="2286000" marR="0" lvl="4"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5pPr>
            <a:lvl6pPr marL="2743200" marR="0" lvl="5"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6pPr>
            <a:lvl7pPr marL="3200400" marR="0" lvl="6"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7pPr>
            <a:lvl8pPr marL="3657600" marR="0" lvl="7"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8pPr>
            <a:lvl9pPr marL="4114800" marR="0" lvl="8" indent="-397827" algn="l" rtl="0">
              <a:spcBef>
                <a:spcPts val="533"/>
              </a:spcBef>
              <a:spcAft>
                <a:spcPts val="0"/>
              </a:spcAft>
              <a:buClr>
                <a:schemeClr val="dk1"/>
              </a:buClr>
              <a:buSzPts val="2665"/>
              <a:buFont typeface="Arial"/>
              <a:buChar char="•"/>
              <a:defRPr sz="2665" b="0" i="0" u="none" strike="noStrike" cap="none">
                <a:solidFill>
                  <a:schemeClr val="dk1"/>
                </a:solidFill>
                <a:latin typeface="Arial"/>
                <a:ea typeface="Arial"/>
                <a:cs typeface="Arial"/>
                <a:sym typeface="Arial"/>
              </a:defRPr>
            </a:lvl9pPr>
          </a:lstStyle>
          <a:p>
            <a:endParaRPr/>
          </a:p>
        </p:txBody>
      </p:sp>
      <p:grpSp>
        <p:nvGrpSpPr>
          <p:cNvPr id="176" name="Google Shape;176;p95"/>
          <p:cNvGrpSpPr/>
          <p:nvPr/>
        </p:nvGrpSpPr>
        <p:grpSpPr>
          <a:xfrm>
            <a:off x="472011" y="1508786"/>
            <a:ext cx="3799787" cy="4865561"/>
            <a:chOff x="354008" y="1131589"/>
            <a:chExt cx="2849840" cy="3649171"/>
          </a:xfrm>
        </p:grpSpPr>
        <p:sp>
          <p:nvSpPr>
            <p:cNvPr id="177" name="Google Shape;177;p95"/>
            <p:cNvSpPr/>
            <p:nvPr/>
          </p:nvSpPr>
          <p:spPr>
            <a:xfrm>
              <a:off x="354008" y="1131589"/>
              <a:ext cx="2849840" cy="3649171"/>
            </a:xfrm>
            <a:prstGeom prst="roundRect">
              <a:avLst>
                <a:gd name="adj" fmla="val 3968"/>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8" name="Google Shape;178;p95"/>
            <p:cNvSpPr/>
            <p:nvPr/>
          </p:nvSpPr>
          <p:spPr>
            <a:xfrm>
              <a:off x="531932" y="1347500"/>
              <a:ext cx="108520" cy="3240473"/>
            </a:xfrm>
            <a:prstGeom prst="roundRect">
              <a:avLst>
                <a:gd name="adj" fmla="val 50000"/>
              </a:avLst>
            </a:prstGeom>
            <a:solidFill>
              <a:schemeClr val="lt1">
                <a:alpha val="40784"/>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Arial"/>
                <a:ea typeface="Arial"/>
                <a:cs typeface="Arial"/>
                <a:sym typeface="Arial"/>
              </a:endParaRPr>
            </a:p>
          </p:txBody>
        </p:sp>
        <p:sp>
          <p:nvSpPr>
            <p:cNvPr id="179" name="Google Shape;179;p95"/>
            <p:cNvSpPr/>
            <p:nvPr/>
          </p:nvSpPr>
          <p:spPr>
            <a:xfrm rot="5400000">
              <a:off x="2592642" y="1238201"/>
              <a:ext cx="502331" cy="502331"/>
            </a:xfrm>
            <a:prstGeom prst="halfFrame">
              <a:avLst>
                <a:gd name="adj1" fmla="val 23728"/>
                <a:gd name="adj2" fmla="val 24642"/>
              </a:avLst>
            </a:prstGeom>
            <a:solidFill>
              <a:schemeClr val="lt1">
                <a:alpha val="2274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68"/>
          <p:cNvPicPr preferRelativeResize="0"/>
          <p:nvPr/>
        </p:nvPicPr>
        <p:blipFill rotWithShape="1">
          <a:blip r:embed="rId15">
            <a:alphaModFix/>
          </a:blip>
          <a:srcRect/>
          <a:stretch/>
        </p:blipFill>
        <p:spPr>
          <a:xfrm>
            <a:off x="8313446" y="0"/>
            <a:ext cx="882927" cy="785252"/>
          </a:xfrm>
          <a:prstGeom prst="rect">
            <a:avLst/>
          </a:prstGeom>
          <a:noFill/>
          <a:ln>
            <a:noFill/>
          </a:ln>
        </p:spPr>
      </p:pic>
      <p:pic>
        <p:nvPicPr>
          <p:cNvPr id="16" name="Google Shape;16;p68" descr="National Board of Accreditation - Wikipedia"/>
          <p:cNvPicPr preferRelativeResize="0"/>
          <p:nvPr/>
        </p:nvPicPr>
        <p:blipFill rotWithShape="1">
          <a:blip r:embed="rId16">
            <a:alphaModFix/>
          </a:blip>
          <a:srcRect/>
          <a:stretch/>
        </p:blipFill>
        <p:spPr>
          <a:xfrm>
            <a:off x="9299701" y="49261"/>
            <a:ext cx="872490" cy="688340"/>
          </a:xfrm>
          <a:prstGeom prst="rect">
            <a:avLst/>
          </a:prstGeom>
          <a:noFill/>
          <a:ln>
            <a:noFill/>
          </a:ln>
        </p:spPr>
      </p:pic>
      <p:pic>
        <p:nvPicPr>
          <p:cNvPr id="17" name="Google Shape;17;p68"/>
          <p:cNvPicPr preferRelativeResize="0"/>
          <p:nvPr/>
        </p:nvPicPr>
        <p:blipFill rotWithShape="1">
          <a:blip r:embed="rId17">
            <a:alphaModFix/>
          </a:blip>
          <a:srcRect/>
          <a:stretch/>
        </p:blipFill>
        <p:spPr>
          <a:xfrm>
            <a:off x="10275519" y="113999"/>
            <a:ext cx="1916480" cy="6415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sp>
        <p:nvSpPr>
          <p:cNvPr id="184" name="Google Shape;184;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5" name="Google Shape;185;p1"/>
          <p:cNvSpPr txBox="1">
            <a:spLocks noGrp="1"/>
          </p:cNvSpPr>
          <p:nvPr>
            <p:ph type="subTitle" idx="1"/>
          </p:nvPr>
        </p:nvSpPr>
        <p:spPr>
          <a:xfrm>
            <a:off x="562662" y="4891470"/>
            <a:ext cx="4156822" cy="1236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DR. GITANJALI</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E16525</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ASSISTANT PROFESSOR</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CSE </a:t>
            </a:r>
            <a:endParaRPr/>
          </a:p>
        </p:txBody>
      </p:sp>
      <p:sp>
        <p:nvSpPr>
          <p:cNvPr id="186" name="Google Shape;186;p1"/>
          <p:cNvSpPr/>
          <p:nvPr/>
        </p:nvSpPr>
        <p:spPr>
          <a:xfrm flipH="1">
            <a:off x="9344623" y="4901508"/>
            <a:ext cx="2466377" cy="1712909"/>
          </a:xfrm>
          <a:prstGeom prst="rtTriangle">
            <a:avLst/>
          </a:prstGeom>
          <a:solidFill>
            <a:srgbClr val="C00000"/>
          </a:solidFill>
          <a:ln>
            <a:noFill/>
          </a:ln>
        </p:spPr>
        <p:txBody>
          <a:bodyPr spcFirstLastPara="1" wrap="square" lIns="75575" tIns="37775" rIns="75575" bIns="37775" anchor="ctr" anchorCtr="0">
            <a:noAutofit/>
          </a:bodyPr>
          <a:lstStyle/>
          <a:p>
            <a:pPr marL="0" marR="0" lvl="0" indent="0" algn="ctr" rtl="0">
              <a:spcBef>
                <a:spcPts val="0"/>
              </a:spcBef>
              <a:spcAft>
                <a:spcPts val="0"/>
              </a:spcAft>
              <a:buNone/>
            </a:pPr>
            <a:endParaRPr sz="1488" b="0" i="0" u="none" strike="noStrike" cap="none">
              <a:solidFill>
                <a:schemeClr val="lt1"/>
              </a:solidFill>
              <a:latin typeface="Calibri"/>
              <a:ea typeface="Calibri"/>
              <a:cs typeface="Calibri"/>
              <a:sym typeface="Calibri"/>
            </a:endParaRPr>
          </a:p>
        </p:txBody>
      </p:sp>
      <p:sp>
        <p:nvSpPr>
          <p:cNvPr id="187" name="Google Shape;187;p1"/>
          <p:cNvSpPr txBox="1"/>
          <p:nvPr/>
        </p:nvSpPr>
        <p:spPr>
          <a:xfrm>
            <a:off x="7158646" y="5490468"/>
            <a:ext cx="4075113" cy="534988"/>
          </a:xfrm>
          <a:prstGeom prst="rect">
            <a:avLst/>
          </a:prstGeom>
          <a:noFill/>
          <a:ln>
            <a:noFill/>
          </a:ln>
        </p:spPr>
        <p:txBody>
          <a:bodyPr spcFirstLastPara="1" wrap="square" lIns="75575" tIns="37775" rIns="75575" bIns="37775" anchor="t" anchorCtr="0">
            <a:spAutoFit/>
          </a:bodyPr>
          <a:lstStyle/>
          <a:p>
            <a:pPr marL="0" marR="0" lvl="0" indent="0" algn="l" rtl="0">
              <a:spcBef>
                <a:spcPts val="0"/>
              </a:spcBef>
              <a:spcAft>
                <a:spcPts val="0"/>
              </a:spcAft>
              <a:buNone/>
            </a:pPr>
            <a:r>
              <a:rPr lang="en-US" sz="1653" b="1" i="0" u="none" strike="noStrike" cap="none">
                <a:solidFill>
                  <a:srgbClr val="595959"/>
                </a:solidFill>
                <a:latin typeface="Arial"/>
                <a:ea typeface="Arial"/>
                <a:cs typeface="Arial"/>
                <a:sym typeface="Arial"/>
              </a:rPr>
              <a:t>DISCOVER . </a:t>
            </a:r>
            <a:r>
              <a:rPr lang="en-US" sz="1653" b="1" i="0" u="none" strike="noStrike" cap="none">
                <a:solidFill>
                  <a:srgbClr val="C00000"/>
                </a:solidFill>
                <a:latin typeface="Arial"/>
                <a:ea typeface="Arial"/>
                <a:cs typeface="Arial"/>
                <a:sym typeface="Arial"/>
              </a:rPr>
              <a:t>LEARN</a:t>
            </a:r>
            <a:r>
              <a:rPr lang="en-US" sz="1653" b="1" i="0" u="none" strike="noStrike" cap="none">
                <a:solidFill>
                  <a:srgbClr val="595959"/>
                </a:solidFill>
                <a:latin typeface="Arial"/>
                <a:ea typeface="Arial"/>
                <a:cs typeface="Arial"/>
                <a:sym typeface="Arial"/>
              </a:rPr>
              <a:t> . EMPOWER</a:t>
            </a:r>
            <a:endParaRPr sz="992"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323" b="1" i="0" u="none" strike="noStrike" cap="none">
              <a:solidFill>
                <a:schemeClr val="dk1"/>
              </a:solidFill>
              <a:latin typeface="Arial"/>
              <a:ea typeface="Arial"/>
              <a:cs typeface="Arial"/>
              <a:sym typeface="Arial"/>
            </a:endParaRPr>
          </a:p>
        </p:txBody>
      </p:sp>
      <p:sp>
        <p:nvSpPr>
          <p:cNvPr id="188" name="Google Shape;188;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9" name="Google Shape;189;p1"/>
          <p:cNvSpPr txBox="1"/>
          <p:nvPr/>
        </p:nvSpPr>
        <p:spPr>
          <a:xfrm>
            <a:off x="1040825" y="892905"/>
            <a:ext cx="9722858" cy="39702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chemeClr val="dk1"/>
                </a:solidFill>
                <a:latin typeface="Arial"/>
                <a:ea typeface="Arial"/>
                <a:cs typeface="Arial"/>
                <a:sym typeface="Arial"/>
              </a:rPr>
              <a:t>UNIVERSITY INSTITUTE OF ENGINEERING</a:t>
            </a:r>
            <a:endParaRPr/>
          </a:p>
          <a:p>
            <a:pPr marL="0" marR="0" lvl="0" indent="0" algn="ctr" rtl="0">
              <a:spcBef>
                <a:spcPts val="0"/>
              </a:spcBef>
              <a:spcAft>
                <a:spcPts val="0"/>
              </a:spcAft>
              <a:buNone/>
            </a:pPr>
            <a:endParaRPr sz="4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Department of Computer Science &amp; Engineering</a:t>
            </a:r>
            <a:endParaRPr/>
          </a:p>
          <a:p>
            <a:pPr marL="0" marR="0" lvl="0" indent="0" algn="ctr" rtl="0">
              <a:spcBef>
                <a:spcPts val="0"/>
              </a:spcBef>
              <a:spcAft>
                <a:spcPts val="0"/>
              </a:spcAft>
              <a:buNone/>
            </a:pPr>
            <a:endParaRPr sz="28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a:solidFill>
                  <a:srgbClr val="000000"/>
                </a:solidFill>
                <a:latin typeface="Arial"/>
                <a:ea typeface="Arial"/>
                <a:cs typeface="Arial"/>
                <a:sym typeface="Arial"/>
              </a:rPr>
              <a:t>Databases Management System</a:t>
            </a:r>
            <a:endParaRPr/>
          </a:p>
          <a:p>
            <a:pPr marL="0" marR="0" lvl="0" indent="0" algn="ctr" rtl="0">
              <a:lnSpc>
                <a:spcPct val="116444"/>
              </a:lnSpc>
              <a:spcBef>
                <a:spcPts val="0"/>
              </a:spcBef>
              <a:spcAft>
                <a:spcPts val="0"/>
              </a:spcAft>
              <a:buNone/>
            </a:pPr>
            <a:r>
              <a:rPr lang="en-US" sz="3600" b="1" i="0" u="none" strike="noStrike" cap="non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
          <p:cNvSpPr txBox="1">
            <a:spLocks noGrp="1"/>
          </p:cNvSpPr>
          <p:nvPr>
            <p:ph type="title"/>
          </p:nvPr>
        </p:nvSpPr>
        <p:spPr>
          <a:xfrm>
            <a:off x="2152650" y="49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95" name="Google Shape;195;p2"/>
          <p:cNvSpPr txBox="1">
            <a:spLocks noGrp="1"/>
          </p:cNvSpPr>
          <p:nvPr>
            <p:ph type="body" idx="1"/>
          </p:nvPr>
        </p:nvSpPr>
        <p:spPr>
          <a:xfrm>
            <a:off x="838200" y="1374824"/>
            <a:ext cx="11107993" cy="4455775"/>
          </a:xfrm>
          <a:prstGeom prst="rect">
            <a:avLst/>
          </a:prstGeom>
          <a:noFill/>
          <a:ln>
            <a:noFill/>
          </a:ln>
        </p:spPr>
        <p:txBody>
          <a:bodyPr spcFirstLastPara="1" wrap="square" lIns="68575" tIns="34275" rIns="68575" bIns="34275"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228600" lvl="0" indent="-76200" algn="just" rtl="0">
              <a:lnSpc>
                <a:spcPct val="90000"/>
              </a:lnSpc>
              <a:spcBef>
                <a:spcPts val="1000"/>
              </a:spcBef>
              <a:spcAft>
                <a:spcPts val="0"/>
              </a:spcAft>
              <a:buClr>
                <a:schemeClr val="dk1"/>
              </a:buClr>
              <a:buSzPts val="2400"/>
              <a:buNone/>
            </a:pPr>
            <a:endParaRPr sz="2400" i="1">
              <a:latin typeface="Times New Roman"/>
              <a:ea typeface="Times New Roman"/>
              <a:cs typeface="Times New Roman"/>
              <a:sym typeface="Times New Roman"/>
            </a:endParaRPr>
          </a:p>
        </p:txBody>
      </p:sp>
      <p:sp>
        <p:nvSpPr>
          <p:cNvPr id="196" name="Google Shape;196;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197" name="Google Shape;197;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graphicFrame>
        <p:nvGraphicFramePr>
          <p:cNvPr id="202" name="Google Shape;202;p3"/>
          <p:cNvGraphicFramePr/>
          <p:nvPr/>
        </p:nvGraphicFramePr>
        <p:xfrm>
          <a:off x="309716" y="1798609"/>
          <a:ext cx="7843700" cy="4387290"/>
        </p:xfrm>
        <a:graphic>
          <a:graphicData uri="http://schemas.openxmlformats.org/drawingml/2006/table">
            <a:tbl>
              <a:tblPr>
                <a:noFill/>
                <a:tableStyleId>{4C51D849-E1AC-4113-86C4-B9D10AFFC998}</a:tableStyleId>
              </a:tblPr>
              <a:tblGrid>
                <a:gridCol w="842250">
                  <a:extLst>
                    <a:ext uri="{9D8B030D-6E8A-4147-A177-3AD203B41FA5}">
                      <a16:colId xmlns:a16="http://schemas.microsoft.com/office/drawing/2014/main" val="20000"/>
                    </a:ext>
                  </a:extLst>
                </a:gridCol>
                <a:gridCol w="5406775">
                  <a:extLst>
                    <a:ext uri="{9D8B030D-6E8A-4147-A177-3AD203B41FA5}">
                      <a16:colId xmlns:a16="http://schemas.microsoft.com/office/drawing/2014/main" val="20001"/>
                    </a:ext>
                  </a:extLst>
                </a:gridCol>
                <a:gridCol w="1594675">
                  <a:extLst>
                    <a:ext uri="{9D8B030D-6E8A-4147-A177-3AD203B41FA5}">
                      <a16:colId xmlns:a16="http://schemas.microsoft.com/office/drawing/2014/main" val="20002"/>
                    </a:ext>
                  </a:extLst>
                </a:gridCol>
              </a:tblGrid>
              <a:tr h="509675">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CO No.</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Title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BT Level</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19375">
                <a:tc>
                  <a:txBody>
                    <a:bodyPr/>
                    <a:lstStyle/>
                    <a:p>
                      <a:pPr marL="0" marR="0" lvl="0" indent="0" algn="ctr" rtl="0">
                        <a:spcBef>
                          <a:spcPts val="0"/>
                        </a:spcBef>
                        <a:spcAft>
                          <a:spcPts val="0"/>
                        </a:spcAft>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CO1</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7CAAC"/>
                    </a:solidFill>
                  </a:tcPr>
                </a:tc>
                <a:tc>
                  <a:txBody>
                    <a:bodyPr/>
                    <a:lstStyle/>
                    <a:p>
                      <a:pPr marL="0" marR="0" lvl="0" indent="0" algn="ctr" rtl="0">
                        <a:spcBef>
                          <a:spcPts val="0"/>
                        </a:spcBef>
                        <a:spcAft>
                          <a:spcPts val="0"/>
                        </a:spcAft>
                        <a:buNone/>
                      </a:pPr>
                      <a:r>
                        <a:rPr lang="en-US" sz="2000" b="1" i="0" u="none" strike="noStrike" cap="none">
                          <a:solidFill>
                            <a:srgbClr val="C00000"/>
                          </a:solidFill>
                          <a:highlight>
                            <a:srgbClr val="FFFF00"/>
                          </a:highlight>
                          <a:latin typeface="Calibri"/>
                          <a:ea typeface="Calibri"/>
                          <a:cs typeface="Calibri"/>
                          <a:sym typeface="Calibri"/>
                        </a:rPr>
                        <a:t>Memorize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CO2</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16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Understanding</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6475">
                <a:tc>
                  <a:txBody>
                    <a:bodyPr/>
                    <a:lstStyle/>
                    <a:p>
                      <a:pPr marL="0" marR="0" lvl="0" indent="0" algn="ctr" rtl="0">
                        <a:spcBef>
                          <a:spcPts val="0"/>
                        </a:spcBef>
                        <a:spcAft>
                          <a:spcPts val="0"/>
                        </a:spcAft>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CO3</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8D08C"/>
                    </a:solidFill>
                  </a:tcPr>
                </a:tc>
                <a:tc>
                  <a:txBody>
                    <a:bodyPr/>
                    <a:lstStyle/>
                    <a:p>
                      <a:pPr marL="0" marR="0" lvl="0" indent="0" algn="ctr" rtl="0">
                        <a:spcBef>
                          <a:spcPts val="0"/>
                        </a:spcBef>
                        <a:spcAft>
                          <a:spcPts val="0"/>
                        </a:spcAft>
                        <a:buNone/>
                      </a:pPr>
                      <a:r>
                        <a:rPr lang="en-US" sz="2000" b="1" i="0" u="none" strike="noStrike" cap="none">
                          <a:solidFill>
                            <a:srgbClr val="C00000"/>
                          </a:solidFill>
                          <a:highlight>
                            <a:srgbClr val="FFFF00"/>
                          </a:highlight>
                          <a:latin typeface="Calibri"/>
                          <a:ea typeface="Calibri"/>
                          <a:cs typeface="Calibri"/>
                          <a:sym typeface="Calibri"/>
                        </a:rPr>
                        <a:t>Apply</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CO4</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99"/>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Analyze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1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CO5</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Evaluate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03" name="Google Shape;203;p3"/>
          <p:cNvSpPr txBox="1">
            <a:spLocks noGrp="1"/>
          </p:cNvSpPr>
          <p:nvPr>
            <p:ph type="title"/>
          </p:nvPr>
        </p:nvSpPr>
        <p:spPr>
          <a:xfrm>
            <a:off x="1719416" y="376190"/>
            <a:ext cx="7886700" cy="65250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3600"/>
              <a:buFont typeface="Arial Rounded"/>
              <a:buNone/>
            </a:pPr>
            <a:r>
              <a:rPr lang="en-US" sz="3600" b="1">
                <a:solidFill>
                  <a:srgbClr val="C00000"/>
                </a:solidFill>
                <a:latin typeface="Arial Rounded"/>
                <a:ea typeface="Arial Rounded"/>
                <a:cs typeface="Arial Rounded"/>
                <a:sym typeface="Arial Rounded"/>
              </a:rPr>
              <a:t>COURSE OUTCOMES </a:t>
            </a:r>
            <a:endParaRPr sz="3600" b="1">
              <a:solidFill>
                <a:srgbClr val="C00000"/>
              </a:solidFill>
              <a:latin typeface="Arial Rounded"/>
              <a:ea typeface="Arial Rounded"/>
              <a:cs typeface="Arial Rounded"/>
              <a:sym typeface="Arial Rounded"/>
            </a:endParaRPr>
          </a:p>
        </p:txBody>
      </p:sp>
      <p:sp>
        <p:nvSpPr>
          <p:cNvPr id="204" name="Google Shape;20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05" name="Google Shape;20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206" name="Google Shape;206;p3"/>
          <p:cNvSpPr/>
          <p:nvPr/>
        </p:nvSpPr>
        <p:spPr>
          <a:xfrm>
            <a:off x="8371907" y="1161441"/>
            <a:ext cx="3602379" cy="4139901"/>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7" name="Google Shape;207;p3"/>
          <p:cNvSpPr/>
          <p:nvPr/>
        </p:nvSpPr>
        <p:spPr>
          <a:xfrm>
            <a:off x="9163335" y="1780920"/>
            <a:ext cx="2244894" cy="106820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Will be covered in this lecture</a:t>
            </a:r>
            <a:endParaRPr sz="1400" b="0" i="0" u="none" strike="noStrike" cap="none">
              <a:solidFill>
                <a:srgbClr val="000000"/>
              </a:solidFill>
              <a:latin typeface="Arial"/>
              <a:ea typeface="Arial"/>
              <a:cs typeface="Arial"/>
              <a:sym typeface="Arial"/>
            </a:endParaRPr>
          </a:p>
        </p:txBody>
      </p:sp>
      <p:cxnSp>
        <p:nvCxnSpPr>
          <p:cNvPr id="208" name="Google Shape;208;p3"/>
          <p:cNvCxnSpPr/>
          <p:nvPr/>
        </p:nvCxnSpPr>
        <p:spPr>
          <a:xfrm rot="10800000" flipH="1">
            <a:off x="7924800" y="2125686"/>
            <a:ext cx="1238535" cy="598209"/>
          </a:xfrm>
          <a:prstGeom prst="straightConnector1">
            <a:avLst/>
          </a:prstGeom>
          <a:noFill/>
          <a:ln w="9525" cap="flat" cmpd="sng">
            <a:solidFill>
              <a:srgbClr val="4A7DBA"/>
            </a:solidFill>
            <a:prstDash val="solid"/>
            <a:round/>
            <a:headEnd type="none" w="sm" len="sm"/>
            <a:tailEnd type="triangle" w="med" len="med"/>
          </a:ln>
        </p:spPr>
      </p:cxnSp>
      <p:cxnSp>
        <p:nvCxnSpPr>
          <p:cNvPr id="209" name="Google Shape;209;p3"/>
          <p:cNvCxnSpPr/>
          <p:nvPr/>
        </p:nvCxnSpPr>
        <p:spPr>
          <a:xfrm rot="10800000" flipH="1">
            <a:off x="7663543" y="2849127"/>
            <a:ext cx="3173249" cy="1679330"/>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4"/>
          <p:cNvSpPr/>
          <p:nvPr/>
        </p:nvSpPr>
        <p:spPr>
          <a:xfrm>
            <a:off x="381913" y="1925013"/>
            <a:ext cx="11549531" cy="334995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have good </a:t>
            </a:r>
            <a:r>
              <a:rPr lang="en-US" sz="2400" b="1" i="0" u="none" strike="noStrike" cap="none">
                <a:solidFill>
                  <a:schemeClr val="dk1"/>
                </a:solidFill>
                <a:latin typeface="Times New Roman"/>
                <a:ea typeface="Times New Roman"/>
                <a:cs typeface="Times New Roman"/>
                <a:sym typeface="Times New Roman"/>
              </a:rPr>
              <a:t>understanding of database system </a:t>
            </a:r>
            <a:r>
              <a:rPr lang="en-US" sz="2400" b="0" i="0" u="none" strike="noStrike" cap="none">
                <a:solidFill>
                  <a:schemeClr val="dk1"/>
                </a:solidFill>
                <a:latin typeface="Times New Roman"/>
                <a:ea typeface="Times New Roman"/>
                <a:cs typeface="Times New Roman"/>
                <a:sym typeface="Times New Roman"/>
              </a:rPr>
              <a:t>concepts and </a:t>
            </a:r>
            <a:r>
              <a:rPr lang="en-US" sz="2400" b="1" i="0" u="none" strike="noStrike" cap="none">
                <a:solidFill>
                  <a:schemeClr val="dk1"/>
                </a:solidFill>
                <a:latin typeface="Times New Roman"/>
                <a:ea typeface="Times New Roman"/>
                <a:cs typeface="Times New Roman"/>
                <a:sym typeface="Times New Roman"/>
              </a:rPr>
              <a:t>design databases </a:t>
            </a:r>
            <a:r>
              <a:rPr lang="en-US" sz="2400" b="0" i="0" u="none" strike="noStrike" cap="none">
                <a:solidFill>
                  <a:schemeClr val="dk1"/>
                </a:solidFill>
                <a:latin typeface="Times New Roman"/>
                <a:ea typeface="Times New Roman"/>
                <a:cs typeface="Times New Roman"/>
                <a:sym typeface="Times New Roman"/>
              </a:rPr>
              <a:t>for different applications.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learn how to use a </a:t>
            </a:r>
            <a:r>
              <a:rPr lang="en-US" sz="2400" b="1" i="0" u="none" strike="noStrike" cap="none">
                <a:solidFill>
                  <a:schemeClr val="dk1"/>
                </a:solidFill>
                <a:latin typeface="Times New Roman"/>
                <a:ea typeface="Times New Roman"/>
                <a:cs typeface="Times New Roman"/>
                <a:sym typeface="Times New Roman"/>
              </a:rPr>
              <a:t>DBMS and RDBMS.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implement and understand different types of </a:t>
            </a:r>
            <a:r>
              <a:rPr lang="en-US" sz="2400" b="1" i="0" u="none" strike="noStrike" cap="none">
                <a:solidFill>
                  <a:schemeClr val="dk1"/>
                </a:solidFill>
                <a:latin typeface="Times New Roman"/>
                <a:ea typeface="Times New Roman"/>
                <a:cs typeface="Times New Roman"/>
                <a:sym typeface="Times New Roman"/>
              </a:rPr>
              <a:t>DDL, DML and DCL </a:t>
            </a:r>
            <a:r>
              <a:rPr lang="en-US" sz="2400" b="0" i="0" u="none" strike="noStrike" cap="none">
                <a:solidFill>
                  <a:schemeClr val="dk1"/>
                </a:solidFill>
                <a:latin typeface="Times New Roman"/>
                <a:ea typeface="Times New Roman"/>
                <a:cs typeface="Times New Roman"/>
                <a:sym typeface="Times New Roman"/>
              </a:rPr>
              <a:t>statements.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understand </a:t>
            </a:r>
            <a:r>
              <a:rPr lang="en-US" sz="2400" b="1" i="0" u="none" strike="noStrike" cap="none">
                <a:solidFill>
                  <a:schemeClr val="dk1"/>
                </a:solidFill>
                <a:latin typeface="Times New Roman"/>
                <a:ea typeface="Times New Roman"/>
                <a:cs typeface="Times New Roman"/>
                <a:sym typeface="Times New Roman"/>
              </a:rPr>
              <a:t>transaction concepts </a:t>
            </a:r>
            <a:r>
              <a:rPr lang="en-US" sz="2400" b="0" i="0" u="none" strike="noStrike" cap="none">
                <a:solidFill>
                  <a:schemeClr val="dk1"/>
                </a:solidFill>
                <a:latin typeface="Times New Roman"/>
                <a:ea typeface="Times New Roman"/>
                <a:cs typeface="Times New Roman"/>
                <a:sym typeface="Times New Roman"/>
              </a:rPr>
              <a:t>related to databases and </a:t>
            </a:r>
            <a:r>
              <a:rPr lang="en-US" sz="2400" b="1" i="0" u="none" strike="noStrike" cap="none">
                <a:solidFill>
                  <a:schemeClr val="dk1"/>
                </a:solidFill>
                <a:latin typeface="Times New Roman"/>
                <a:ea typeface="Times New Roman"/>
                <a:cs typeface="Times New Roman"/>
                <a:sym typeface="Times New Roman"/>
              </a:rPr>
              <a:t>recovery/backup techniques </a:t>
            </a:r>
            <a:r>
              <a:rPr lang="en-US" sz="24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215" name="Google Shape;215;p4"/>
          <p:cNvSpPr/>
          <p:nvPr/>
        </p:nvSpPr>
        <p:spPr>
          <a:xfrm>
            <a:off x="1255771" y="1384771"/>
            <a:ext cx="73548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216" name="Google Shape;216;p4"/>
          <p:cNvSpPr txBox="1">
            <a:spLocks noGrp="1"/>
          </p:cNvSpPr>
          <p:nvPr>
            <p:ph type="title"/>
          </p:nvPr>
        </p:nvSpPr>
        <p:spPr>
          <a:xfrm>
            <a:off x="2409648" y="449984"/>
            <a:ext cx="7886700" cy="549381"/>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a:solidFill>
                  <a:srgbClr val="C00000"/>
                </a:solidFill>
                <a:latin typeface="Arial Rounded"/>
                <a:ea typeface="Arial Rounded"/>
                <a:cs typeface="Arial Rounded"/>
                <a:sym typeface="Arial Rounded"/>
              </a:rPr>
              <a:t>COURSE OBJECTIVES </a:t>
            </a:r>
            <a:endParaRPr/>
          </a:p>
        </p:txBody>
      </p:sp>
      <p:sp>
        <p:nvSpPr>
          <p:cNvPr id="217" name="Google Shape;217;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18" name="Google Shape;218;p4"/>
          <p:cNvSpPr txBox="1">
            <a:spLocks noGrp="1"/>
          </p:cNvSpPr>
          <p:nvPr>
            <p:ph type="ftr" idx="11"/>
          </p:nvPr>
        </p:nvSpPr>
        <p:spPr>
          <a:xfrm>
            <a:off x="3948545" y="6231225"/>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5"/>
          <p:cNvSpPr txBox="1"/>
          <p:nvPr/>
        </p:nvSpPr>
        <p:spPr>
          <a:xfrm>
            <a:off x="2152650" y="659011"/>
            <a:ext cx="7886700" cy="1000274"/>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Topics covered</a:t>
            </a:r>
            <a:endParaRPr/>
          </a:p>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 </a:t>
            </a:r>
            <a:endParaRPr/>
          </a:p>
        </p:txBody>
      </p:sp>
      <p:sp>
        <p:nvSpPr>
          <p:cNvPr id="228" name="Google Shape;228;p5"/>
          <p:cNvSpPr txBox="1"/>
          <p:nvPr/>
        </p:nvSpPr>
        <p:spPr>
          <a:xfrm>
            <a:off x="1733878" y="2007919"/>
            <a:ext cx="6419522" cy="646459"/>
          </a:xfrm>
          <a:prstGeom prst="rect">
            <a:avLst/>
          </a:prstGeom>
          <a:noFill/>
          <a:ln>
            <a:noFill/>
          </a:ln>
        </p:spPr>
        <p:txBody>
          <a:bodyPr spcFirstLastPara="1" wrap="square" lIns="0" tIns="0" rIns="0" bIns="0" anchor="t" anchorCtr="0">
            <a:spAutoFit/>
          </a:bodyPr>
          <a:lstStyle/>
          <a:p>
            <a:pPr marL="0" marR="0" lvl="0" indent="0" algn="ctr" rtl="0">
              <a:lnSpc>
                <a:spcPct val="107833"/>
              </a:lnSpc>
              <a:spcBef>
                <a:spcPts val="0"/>
              </a:spcBef>
              <a:spcAft>
                <a:spcPts val="0"/>
              </a:spcAft>
              <a:buNone/>
            </a:pPr>
            <a:r>
              <a:rPr lang="en-US" sz="2400" b="1">
                <a:solidFill>
                  <a:schemeClr val="dk1"/>
                </a:solidFill>
                <a:latin typeface="Times New Roman"/>
                <a:ea typeface="Times New Roman"/>
                <a:cs typeface="Times New Roman"/>
                <a:sym typeface="Times New Roman"/>
              </a:rPr>
              <a:t>Functional dependencies and Normalization:</a:t>
            </a:r>
            <a:endParaRPr/>
          </a:p>
          <a:p>
            <a:pPr marL="0" marR="0" lvl="0" indent="0" algn="ctr" rtl="0">
              <a:lnSpc>
                <a:spcPct val="120037"/>
              </a:lnSpc>
              <a:spcBef>
                <a:spcPts val="0"/>
              </a:spcBef>
              <a:spcAft>
                <a:spcPts val="0"/>
              </a:spcAft>
              <a:buNone/>
            </a:pPr>
            <a:endParaRPr sz="2156" b="1">
              <a:solidFill>
                <a:srgbClr val="000000"/>
              </a:solidFill>
              <a:latin typeface="Arial"/>
              <a:ea typeface="Arial"/>
              <a:cs typeface="Arial"/>
              <a:sym typeface="Arial"/>
            </a:endParaRPr>
          </a:p>
        </p:txBody>
      </p:sp>
      <p:sp>
        <p:nvSpPr>
          <p:cNvPr id="229" name="Google Shape;229;p5"/>
          <p:cNvSpPr txBox="1"/>
          <p:nvPr/>
        </p:nvSpPr>
        <p:spPr>
          <a:xfrm>
            <a:off x="2060449" y="2512114"/>
            <a:ext cx="8397673" cy="884858"/>
          </a:xfrm>
          <a:prstGeom prst="rect">
            <a:avLst/>
          </a:prstGeom>
          <a:noFill/>
          <a:ln>
            <a:noFill/>
          </a:ln>
        </p:spPr>
        <p:txBody>
          <a:bodyPr spcFirstLastPara="1" wrap="square" lIns="0" tIns="0" rIns="0" bIns="0" anchor="t" anchorCtr="0">
            <a:spAutoFit/>
          </a:bodyPr>
          <a:lstStyle/>
          <a:p>
            <a:pPr marL="0" marR="0" lvl="0" indent="0" algn="just" rtl="0">
              <a:lnSpc>
                <a:spcPct val="112500"/>
              </a:lnSpc>
              <a:spcBef>
                <a:spcPts val="0"/>
              </a:spcBef>
              <a:spcAft>
                <a:spcPts val="0"/>
              </a:spcAft>
              <a:buNone/>
            </a:pPr>
            <a:r>
              <a:rPr lang="en-US" sz="2000">
                <a:solidFill>
                  <a:schemeClr val="dk1"/>
                </a:solidFill>
                <a:latin typeface="Calibri"/>
                <a:ea typeface="Calibri"/>
                <a:cs typeface="Calibri"/>
                <a:sym typeface="Calibri"/>
              </a:rPr>
              <a:t>Functional dependencies, Decomposition, Full Functional Dependency (FFD), Transitive Dependency (TD), Join Dependency (JD), Multi-valued Dependency (MVD), Normal Forms (1NF, 2NF, 3NF, BCNF), De-normalization.</a:t>
            </a:r>
            <a:endParaRPr sz="1875">
              <a:solidFill>
                <a:srgbClr val="000000"/>
              </a:solidFill>
              <a:latin typeface="Arial"/>
              <a:ea typeface="Arial"/>
              <a:cs typeface="Arial"/>
              <a:sym typeface="Arial"/>
            </a:endParaRPr>
          </a:p>
        </p:txBody>
      </p:sp>
      <p:sp>
        <p:nvSpPr>
          <p:cNvPr id="230" name="Google Shape;2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31" name="Google Shape;2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graphicFrame>
        <p:nvGraphicFramePr>
          <p:cNvPr id="236" name="Google Shape;236;p6"/>
          <p:cNvGraphicFramePr/>
          <p:nvPr/>
        </p:nvGraphicFramePr>
        <p:xfrm>
          <a:off x="2144487" y="1628801"/>
          <a:ext cx="7623925" cy="4694525"/>
        </p:xfrm>
        <a:graphic>
          <a:graphicData uri="http://schemas.openxmlformats.org/drawingml/2006/table">
            <a:tbl>
              <a:tblPr>
                <a:noFill/>
                <a:tableStyleId>{4C51D849-E1AC-4113-86C4-B9D10AFFC998}</a:tableStyleId>
              </a:tblPr>
              <a:tblGrid>
                <a:gridCol w="1654625">
                  <a:extLst>
                    <a:ext uri="{9D8B030D-6E8A-4147-A177-3AD203B41FA5}">
                      <a16:colId xmlns:a16="http://schemas.microsoft.com/office/drawing/2014/main" val="20000"/>
                    </a:ext>
                  </a:extLst>
                </a:gridCol>
                <a:gridCol w="5969300">
                  <a:extLst>
                    <a:ext uri="{9D8B030D-6E8A-4147-A177-3AD203B41FA5}">
                      <a16:colId xmlns:a16="http://schemas.microsoft.com/office/drawing/2014/main" val="20001"/>
                    </a:ext>
                  </a:extLst>
                </a:gridCol>
              </a:tblGrid>
              <a:tr h="267350">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a:latin typeface="Times New Roman"/>
                          <a:ea typeface="Times New Roman"/>
                          <a:cs typeface="Times New Roman"/>
                          <a:sym typeface="Times New Roman"/>
                        </a:rPr>
                        <a:t>Key Terms</a:t>
                      </a:r>
                      <a:endParaRPr sz="1800" u="none" strike="noStrike" cap="none"/>
                    </a:p>
                  </a:txBody>
                  <a:tcPr marL="47750" marR="47750" marT="47750" marB="47750"/>
                </a:tc>
                <a:tc>
                  <a:txBody>
                    <a:bodyPr/>
                    <a:lstStyle/>
                    <a:p>
                      <a:pPr marL="0" marR="0" lvl="0" indent="0" algn="ctr" rtl="0">
                        <a:lnSpc>
                          <a:spcPct val="100000"/>
                        </a:lnSpc>
                        <a:spcBef>
                          <a:spcPts val="0"/>
                        </a:spcBef>
                        <a:spcAft>
                          <a:spcPts val="0"/>
                        </a:spcAft>
                        <a:buClr>
                          <a:schemeClr val="dk1"/>
                        </a:buClr>
                        <a:buSzPts val="1800"/>
                        <a:buFont typeface="Times New Roman"/>
                        <a:buNone/>
                      </a:pPr>
                      <a:r>
                        <a:rPr lang="en-US" sz="1800" b="1" u="none" strike="noStrike" cap="none">
                          <a:latin typeface="Times New Roman"/>
                          <a:ea typeface="Times New Roman"/>
                          <a:cs typeface="Times New Roman"/>
                          <a:sym typeface="Times New Roman"/>
                        </a:rPr>
                        <a:t>Description</a:t>
                      </a:r>
                      <a:endParaRPr sz="1800" u="none" strike="noStrike" cap="none"/>
                    </a:p>
                  </a:txBody>
                  <a:tcPr marL="47750" marR="47750" marT="47750" marB="47750"/>
                </a:tc>
                <a:extLst>
                  <a:ext uri="{0D108BD9-81ED-4DB2-BD59-A6C34878D82A}">
                    <a16:rowId xmlns:a16="http://schemas.microsoft.com/office/drawing/2014/main" val="10000"/>
                  </a:ext>
                </a:extLst>
              </a:tr>
              <a:tr h="782975">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Axiom</a:t>
                      </a:r>
                      <a:endParaRPr sz="1800" u="none" strike="noStrike" cap="none"/>
                    </a:p>
                  </a:txBody>
                  <a:tcPr marL="47750" marR="47750" marT="47750" marB="47750"/>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Axioms is a set of inference rules used to infer all the functional dependencies on a relational database.</a:t>
                      </a:r>
                      <a:endParaRPr sz="1800" u="none" strike="noStrike" cap="none"/>
                    </a:p>
                  </a:txBody>
                  <a:tcPr marL="47750" marR="47750" marT="47750" marB="47750"/>
                </a:tc>
                <a:extLst>
                  <a:ext uri="{0D108BD9-81ED-4DB2-BD59-A6C34878D82A}">
                    <a16:rowId xmlns:a16="http://schemas.microsoft.com/office/drawing/2014/main" val="10001"/>
                  </a:ext>
                </a:extLst>
              </a:tr>
              <a:tr h="129860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Decomposition</a:t>
                      </a:r>
                      <a:endParaRPr sz="1800" u="none" strike="noStrike" cap="none"/>
                    </a:p>
                  </a:txBody>
                  <a:tcPr marL="47750" marR="47750" marT="47750" marB="47750"/>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It is a rule that suggests if you have a table that appears to contain two entities which are determined by the same primary key then you should consider breaking them up into two different tables.</a:t>
                      </a:r>
                      <a:endParaRPr sz="1800" u="none" strike="noStrike" cap="none"/>
                    </a:p>
                  </a:txBody>
                  <a:tcPr marL="47750" marR="47750" marT="47750" marB="47750"/>
                </a:tc>
                <a:extLst>
                  <a:ext uri="{0D108BD9-81ED-4DB2-BD59-A6C34878D82A}">
                    <a16:rowId xmlns:a16="http://schemas.microsoft.com/office/drawing/2014/main" val="10002"/>
                  </a:ext>
                </a:extLst>
              </a:tr>
              <a:tr h="61110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Dependent</a:t>
                      </a:r>
                      <a:endParaRPr sz="1800" u="none" strike="noStrike" cap="none"/>
                    </a:p>
                  </a:txBody>
                  <a:tcPr marL="47750" marR="47750" marT="47750" marB="47750"/>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It is displayed on the right side of the functional dependency diagram.</a:t>
                      </a:r>
                      <a:endParaRPr sz="1800" u="none" strike="noStrike" cap="none"/>
                    </a:p>
                  </a:txBody>
                  <a:tcPr marL="47750" marR="47750" marT="47750" marB="47750"/>
                </a:tc>
                <a:extLst>
                  <a:ext uri="{0D108BD9-81ED-4DB2-BD59-A6C34878D82A}">
                    <a16:rowId xmlns:a16="http://schemas.microsoft.com/office/drawing/2014/main" val="10003"/>
                  </a:ext>
                </a:extLst>
              </a:tr>
              <a:tr h="61110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Determinant</a:t>
                      </a:r>
                      <a:endParaRPr sz="1800" u="none" strike="noStrike" cap="none"/>
                    </a:p>
                  </a:txBody>
                  <a:tcPr marL="47750" marR="47750" marT="47750" marB="47750"/>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It is displayed on the left side of the functional dependency Diagram.</a:t>
                      </a:r>
                      <a:endParaRPr sz="1800" u="none" strike="noStrike" cap="none"/>
                    </a:p>
                  </a:txBody>
                  <a:tcPr marL="47750" marR="47750" marT="47750" marB="47750"/>
                </a:tc>
                <a:extLst>
                  <a:ext uri="{0D108BD9-81ED-4DB2-BD59-A6C34878D82A}">
                    <a16:rowId xmlns:a16="http://schemas.microsoft.com/office/drawing/2014/main" val="10004"/>
                  </a:ext>
                </a:extLst>
              </a:tr>
              <a:tr h="954850">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Union</a:t>
                      </a:r>
                      <a:endParaRPr sz="1800" u="none" strike="noStrike" cap="none"/>
                    </a:p>
                  </a:txBody>
                  <a:tcPr marL="47750" marR="47750" marT="47750" marB="47750"/>
                </a:tc>
                <a:tc>
                  <a:txBody>
                    <a:bodyPr/>
                    <a:lstStyle/>
                    <a:p>
                      <a:pPr marL="0" marR="0" lvl="0" indent="0" algn="l" rtl="0">
                        <a:lnSpc>
                          <a:spcPct val="100000"/>
                        </a:lnSpc>
                        <a:spcBef>
                          <a:spcPts val="0"/>
                        </a:spcBef>
                        <a:spcAft>
                          <a:spcPts val="0"/>
                        </a:spcAft>
                        <a:buClr>
                          <a:schemeClr val="dk1"/>
                        </a:buClr>
                        <a:buSzPts val="1800"/>
                        <a:buFont typeface="Times New Roman"/>
                        <a:buNone/>
                      </a:pPr>
                      <a:r>
                        <a:rPr lang="en-US" sz="1800" u="none" strike="noStrike" cap="none">
                          <a:latin typeface="Times New Roman"/>
                          <a:ea typeface="Times New Roman"/>
                          <a:cs typeface="Times New Roman"/>
                          <a:sym typeface="Times New Roman"/>
                        </a:rPr>
                        <a:t>It suggests that if two tables are separate, and the PK is the same, you should consider putting them. together</a:t>
                      </a:r>
                      <a:endParaRPr sz="1800" u="none" strike="noStrike" cap="none"/>
                    </a:p>
                  </a:txBody>
                  <a:tcPr marL="47750" marR="47750" marT="47750" marB="47750"/>
                </a:tc>
                <a:extLst>
                  <a:ext uri="{0D108BD9-81ED-4DB2-BD59-A6C34878D82A}">
                    <a16:rowId xmlns:a16="http://schemas.microsoft.com/office/drawing/2014/main" val="10005"/>
                  </a:ext>
                </a:extLst>
              </a:tr>
            </a:tbl>
          </a:graphicData>
        </a:graphic>
      </p:graphicFrame>
      <p:sp>
        <p:nvSpPr>
          <p:cNvPr id="237" name="Google Shape;237;p6"/>
          <p:cNvSpPr/>
          <p:nvPr/>
        </p:nvSpPr>
        <p:spPr>
          <a:xfrm>
            <a:off x="2567616" y="510548"/>
            <a:ext cx="7200800" cy="843267"/>
          </a:xfrm>
          <a:prstGeom prst="rect">
            <a:avLst/>
          </a:prstGeom>
          <a:solidFill>
            <a:srgbClr val="FFFFFF"/>
          </a:solid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3280" b="1">
                <a:solidFill>
                  <a:srgbClr val="C00000"/>
                </a:solidFill>
                <a:latin typeface="Arimo"/>
                <a:ea typeface="Arimo"/>
                <a:cs typeface="Arimo"/>
                <a:sym typeface="Arimo"/>
              </a:rPr>
              <a:t>Key terms</a:t>
            </a:r>
            <a:endParaRPr sz="3280" b="1">
              <a:solidFill>
                <a:srgbClr val="C00000"/>
              </a:solidFill>
              <a:latin typeface="Arimo"/>
              <a:ea typeface="Arimo"/>
              <a:cs typeface="Arimo"/>
              <a:sym typeface="Arimo"/>
            </a:endParaRPr>
          </a:p>
          <a:p>
            <a:pPr marL="0" marR="0" lvl="0" indent="0" algn="l" rtl="0">
              <a:spcBef>
                <a:spcPts val="0"/>
              </a:spcBef>
              <a:spcAft>
                <a:spcPts val="0"/>
              </a:spcAft>
              <a:buNone/>
            </a:pPr>
            <a:r>
              <a:rPr lang="en-US" sz="1600" b="1">
                <a:solidFill>
                  <a:srgbClr val="222222"/>
                </a:solidFill>
                <a:latin typeface="Times New Roman"/>
                <a:ea typeface="Times New Roman"/>
                <a:cs typeface="Times New Roman"/>
                <a:sym typeface="Times New Roman"/>
              </a:rPr>
              <a:t>Here, are some key terms for functional dependency</a:t>
            </a:r>
            <a:r>
              <a:rPr lang="en-US" sz="1300">
                <a:solidFill>
                  <a:srgbClr val="222222"/>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
        <p:nvSpPr>
          <p:cNvPr id="238" name="Google Shape;2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39" name="Google Shape;2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7"/>
          <p:cNvSpPr txBox="1"/>
          <p:nvPr/>
        </p:nvSpPr>
        <p:spPr>
          <a:xfrm>
            <a:off x="2057400" y="828852"/>
            <a:ext cx="7920880" cy="592429"/>
          </a:xfrm>
          <a:prstGeom prst="rect">
            <a:avLst/>
          </a:prstGeom>
          <a:noFill/>
          <a:ln>
            <a:noFill/>
          </a:ln>
        </p:spPr>
        <p:txBody>
          <a:bodyPr spcFirstLastPara="1" wrap="square" lIns="91425" tIns="45700" rIns="91425" bIns="4570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Types of Dependency</a:t>
            </a:r>
            <a:endParaRPr sz="3281" b="1">
              <a:solidFill>
                <a:srgbClr val="C00000"/>
              </a:solidFill>
              <a:latin typeface="Arimo"/>
              <a:ea typeface="Arimo"/>
              <a:cs typeface="Arimo"/>
              <a:sym typeface="Arimo"/>
            </a:endParaRPr>
          </a:p>
        </p:txBody>
      </p:sp>
      <p:sp>
        <p:nvSpPr>
          <p:cNvPr id="245" name="Google Shape;245;p7"/>
          <p:cNvSpPr/>
          <p:nvPr/>
        </p:nvSpPr>
        <p:spPr>
          <a:xfrm>
            <a:off x="2927648" y="1645904"/>
            <a:ext cx="6336704" cy="3785652"/>
          </a:xfrm>
          <a:prstGeom prst="rect">
            <a:avLst/>
          </a:prstGeom>
          <a:noFill/>
          <a:ln>
            <a:noFill/>
          </a:ln>
        </p:spPr>
        <p:txBody>
          <a:bodyPr spcFirstLastPara="1" wrap="square" lIns="91425" tIns="45700" rIns="91425" bIns="45700" anchor="t" anchorCtr="0">
            <a:spAutoFit/>
          </a:bodyPr>
          <a:lstStyle/>
          <a:p>
            <a:pPr marL="457200" marR="0" lvl="0" indent="-457200" algn="l" rtl="0">
              <a:lnSpc>
                <a:spcPct val="150000"/>
              </a:lnSpc>
              <a:spcBef>
                <a:spcPts val="0"/>
              </a:spcBef>
              <a:spcAft>
                <a:spcPts val="0"/>
              </a:spcAft>
              <a:buClr>
                <a:schemeClr val="dk1"/>
              </a:buClr>
              <a:buSzPts val="3200"/>
              <a:buFont typeface="Wingdings" panose="05000000000000000000" pitchFamily="2" charset="2"/>
              <a:buChar char="§"/>
            </a:pPr>
            <a:r>
              <a:rPr lang="en-US" sz="3200" dirty="0">
                <a:solidFill>
                  <a:schemeClr val="dk1"/>
                </a:solidFill>
                <a:latin typeface="Times New Roman"/>
                <a:ea typeface="Times New Roman"/>
                <a:cs typeface="Times New Roman"/>
                <a:sym typeface="Times New Roman"/>
              </a:rPr>
              <a:t>Functional Dependency</a:t>
            </a:r>
            <a:endParaRPr sz="1800" dirty="0">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3200"/>
              <a:buFont typeface="Wingdings" panose="05000000000000000000" pitchFamily="2" charset="2"/>
              <a:buChar char="§"/>
            </a:pPr>
            <a:r>
              <a:rPr lang="en-US" sz="3200" dirty="0">
                <a:solidFill>
                  <a:schemeClr val="dk1"/>
                </a:solidFill>
                <a:latin typeface="Times New Roman"/>
                <a:ea typeface="Times New Roman"/>
                <a:cs typeface="Times New Roman"/>
                <a:sym typeface="Times New Roman"/>
              </a:rPr>
              <a:t>Partial Dependency</a:t>
            </a:r>
            <a:endParaRPr sz="3200" dirty="0">
              <a:solidFill>
                <a:schemeClr val="dk1"/>
              </a:solidFill>
              <a:latin typeface="Times New Roman"/>
              <a:ea typeface="Times New Roman"/>
              <a:cs typeface="Times New Roman"/>
              <a:sym typeface="Times New Roman"/>
            </a:endParaRPr>
          </a:p>
          <a:p>
            <a:pPr marL="457200" marR="0" lvl="0" indent="-457200" algn="l" rtl="0">
              <a:lnSpc>
                <a:spcPct val="150000"/>
              </a:lnSpc>
              <a:spcBef>
                <a:spcPts val="0"/>
              </a:spcBef>
              <a:spcAft>
                <a:spcPts val="0"/>
              </a:spcAft>
              <a:buClr>
                <a:schemeClr val="dk1"/>
              </a:buClr>
              <a:buSzPts val="3200"/>
              <a:buFont typeface="Wingdings" panose="05000000000000000000" pitchFamily="2" charset="2"/>
              <a:buChar char="§"/>
            </a:pPr>
            <a:r>
              <a:rPr lang="en-US" sz="3200" dirty="0">
                <a:solidFill>
                  <a:schemeClr val="dk1"/>
                </a:solidFill>
                <a:latin typeface="Times New Roman"/>
                <a:ea typeface="Times New Roman"/>
                <a:cs typeface="Times New Roman"/>
                <a:sym typeface="Times New Roman"/>
              </a:rPr>
              <a:t>Fully Functional Dependency</a:t>
            </a:r>
            <a:endParaRPr sz="1800" dirty="0">
              <a:solidFill>
                <a:schemeClr val="dk1"/>
              </a:solidFill>
              <a:latin typeface="Calibri"/>
              <a:ea typeface="Calibri"/>
              <a:cs typeface="Calibri"/>
              <a:sym typeface="Calibri"/>
            </a:endParaRPr>
          </a:p>
          <a:p>
            <a:pPr marL="457200" marR="0" lvl="0" indent="-457200" algn="l" rtl="0">
              <a:lnSpc>
                <a:spcPct val="150000"/>
              </a:lnSpc>
              <a:spcBef>
                <a:spcPts val="0"/>
              </a:spcBef>
              <a:spcAft>
                <a:spcPts val="0"/>
              </a:spcAft>
              <a:buClr>
                <a:schemeClr val="dk1"/>
              </a:buClr>
              <a:buSzPts val="3200"/>
              <a:buFont typeface="Wingdings" panose="05000000000000000000" pitchFamily="2" charset="2"/>
              <a:buChar char="§"/>
            </a:pPr>
            <a:r>
              <a:rPr lang="en-US" sz="3200" dirty="0">
                <a:solidFill>
                  <a:schemeClr val="dk1"/>
                </a:solidFill>
                <a:latin typeface="Times New Roman"/>
                <a:ea typeface="Times New Roman"/>
                <a:cs typeface="Times New Roman"/>
                <a:sym typeface="Times New Roman"/>
              </a:rPr>
              <a:t>Multivalued dependency</a:t>
            </a:r>
            <a:endParaRPr sz="3200" dirty="0">
              <a:solidFill>
                <a:schemeClr val="dk1"/>
              </a:solidFill>
              <a:latin typeface="Times New Roman"/>
              <a:ea typeface="Times New Roman"/>
              <a:cs typeface="Times New Roman"/>
              <a:sym typeface="Times New Roman"/>
            </a:endParaRPr>
          </a:p>
          <a:p>
            <a:pPr marL="457200" marR="0" lvl="0" indent="-457200" algn="l" rtl="0">
              <a:lnSpc>
                <a:spcPct val="150000"/>
              </a:lnSpc>
              <a:spcBef>
                <a:spcPts val="0"/>
              </a:spcBef>
              <a:spcAft>
                <a:spcPts val="0"/>
              </a:spcAft>
              <a:buClr>
                <a:schemeClr val="dk1"/>
              </a:buClr>
              <a:buSzPts val="3200"/>
              <a:buFont typeface="Wingdings" panose="05000000000000000000" pitchFamily="2" charset="2"/>
              <a:buChar char="§"/>
            </a:pPr>
            <a:r>
              <a:rPr lang="en-US" sz="3200" dirty="0">
                <a:solidFill>
                  <a:schemeClr val="dk1"/>
                </a:solidFill>
                <a:latin typeface="Times New Roman"/>
                <a:ea typeface="Times New Roman"/>
                <a:cs typeface="Times New Roman"/>
                <a:sym typeface="Times New Roman"/>
              </a:rPr>
              <a:t>Transitive dependency</a:t>
            </a:r>
            <a:endParaRPr sz="1800" dirty="0">
              <a:solidFill>
                <a:schemeClr val="dk1"/>
              </a:solidFill>
              <a:latin typeface="Calibri"/>
              <a:ea typeface="Calibri"/>
              <a:cs typeface="Calibri"/>
              <a:sym typeface="Calibri"/>
            </a:endParaRPr>
          </a:p>
        </p:txBody>
      </p:sp>
      <p:sp>
        <p:nvSpPr>
          <p:cNvPr id="246" name="Google Shape;2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47" name="Google Shape;2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grpSp>
        <p:nvGrpSpPr>
          <p:cNvPr id="256" name="Google Shape;256;p8"/>
          <p:cNvGrpSpPr/>
          <p:nvPr/>
        </p:nvGrpSpPr>
        <p:grpSpPr>
          <a:xfrm>
            <a:off x="1524000" y="6356604"/>
            <a:ext cx="9144000" cy="88404"/>
            <a:chOff x="0" y="0"/>
            <a:chExt cx="13004800" cy="125730"/>
          </a:xfrm>
        </p:grpSpPr>
        <p:sp>
          <p:nvSpPr>
            <p:cNvPr id="257" name="Google Shape;257;p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58" name="Google Shape;258;p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59" name="Google Shape;259;p8"/>
          <p:cNvSpPr txBox="1"/>
          <p:nvPr/>
        </p:nvSpPr>
        <p:spPr>
          <a:xfrm>
            <a:off x="2003605" y="1176830"/>
            <a:ext cx="5558213" cy="470026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dependency function (FD) is a database constraint that determines the relationship of one attribute to another in a  database management system (DBMS). Functional dependencies help maintain the quality of data in the database. Functional dependence is a relationship that exists between two attributes. It usually exists between the primary key and non-prime attributes in the table.</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 X -&gt; 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In this case, the left side of the arrow is the determinant and the right of the arrow is dependent. X will be the primary attribute and Y will be a non-prime attribute of the table. It shows that the attributes of column X uniquely identify the attribute of column Y to satisfy this functional dependency.</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260" name="Google Shape;260;p8"/>
          <p:cNvSpPr/>
          <p:nvPr/>
        </p:nvSpPr>
        <p:spPr>
          <a:xfrm>
            <a:off x="7894307" y="2361350"/>
            <a:ext cx="2554913" cy="2819725"/>
          </a:xfrm>
          <a:custGeom>
            <a:avLst/>
            <a:gdLst/>
            <a:ahLst/>
            <a:cxnLst/>
            <a:rect l="l" t="t" r="r" b="b"/>
            <a:pathLst>
              <a:path w="2725240" h="3007707" extrusionOk="0">
                <a:moveTo>
                  <a:pt x="0" y="0"/>
                </a:moveTo>
                <a:lnTo>
                  <a:pt x="2725240" y="0"/>
                </a:lnTo>
                <a:lnTo>
                  <a:pt x="2725240" y="3007707"/>
                </a:lnTo>
                <a:lnTo>
                  <a:pt x="0" y="3007707"/>
                </a:lnTo>
                <a:lnTo>
                  <a:pt x="0" y="0"/>
                </a:lnTo>
                <a:close/>
              </a:path>
            </a:pathLst>
          </a:custGeom>
          <a:blipFill rotWithShape="1">
            <a:blip r:embed="rId3">
              <a:alphaModFix/>
            </a:blip>
            <a:stretch>
              <a:fillRect r="-73241"/>
            </a:stretch>
          </a:blipFill>
          <a:ln>
            <a:noFill/>
          </a:ln>
        </p:spPr>
      </p:sp>
      <p:sp>
        <p:nvSpPr>
          <p:cNvPr id="261" name="Google Shape;261;p8"/>
          <p:cNvSpPr txBox="1"/>
          <p:nvPr/>
        </p:nvSpPr>
        <p:spPr>
          <a:xfrm>
            <a:off x="3932917" y="457287"/>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Functional Dependency</a:t>
            </a:r>
            <a:endParaRPr dirty="0"/>
          </a:p>
        </p:txBody>
      </p:sp>
      <p:sp>
        <p:nvSpPr>
          <p:cNvPr id="262" name="Google Shape;262;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63" name="Google Shape;263;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pSp>
        <p:nvGrpSpPr>
          <p:cNvPr id="272" name="Google Shape;272;p9"/>
          <p:cNvGrpSpPr/>
          <p:nvPr/>
        </p:nvGrpSpPr>
        <p:grpSpPr>
          <a:xfrm>
            <a:off x="1524000" y="6356604"/>
            <a:ext cx="9144000" cy="88404"/>
            <a:chOff x="0" y="0"/>
            <a:chExt cx="13004800" cy="125730"/>
          </a:xfrm>
        </p:grpSpPr>
        <p:sp>
          <p:nvSpPr>
            <p:cNvPr id="273" name="Google Shape;273;p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74" name="Google Shape;274;p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75" name="Google Shape;275;p9"/>
          <p:cNvSpPr txBox="1"/>
          <p:nvPr/>
        </p:nvSpPr>
        <p:spPr>
          <a:xfrm>
            <a:off x="1796354" y="1456135"/>
            <a:ext cx="8599292" cy="646459"/>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a:solidFill>
                  <a:srgbClr val="000000"/>
                </a:solidFill>
                <a:latin typeface="Arial"/>
                <a:ea typeface="Arial"/>
                <a:cs typeface="Arial"/>
                <a:sym typeface="Arial"/>
              </a:rPr>
              <a:t>How to represent functional dependency in DBMS?</a:t>
            </a:r>
            <a:endParaRPr/>
          </a:p>
          <a:p>
            <a:pPr marL="0" marR="0" lvl="0" indent="0" algn="just" rtl="0">
              <a:lnSpc>
                <a:spcPct val="120037"/>
              </a:lnSpc>
              <a:spcBef>
                <a:spcPts val="0"/>
              </a:spcBef>
              <a:spcAft>
                <a:spcPts val="0"/>
              </a:spcAft>
              <a:buNone/>
            </a:pPr>
            <a:endParaRPr sz="2156" b="1">
              <a:solidFill>
                <a:srgbClr val="000000"/>
              </a:solidFill>
              <a:latin typeface="Arial"/>
              <a:ea typeface="Arial"/>
              <a:cs typeface="Arial"/>
              <a:sym typeface="Arial"/>
            </a:endParaRPr>
          </a:p>
        </p:txBody>
      </p:sp>
      <p:sp>
        <p:nvSpPr>
          <p:cNvPr id="276" name="Google Shape;276;p9"/>
          <p:cNvSpPr txBox="1"/>
          <p:nvPr/>
        </p:nvSpPr>
        <p:spPr>
          <a:xfrm>
            <a:off x="1833968" y="1638074"/>
            <a:ext cx="5141124" cy="4110356"/>
          </a:xfrm>
          <a:prstGeom prst="rect">
            <a:avLst/>
          </a:prstGeom>
          <a:noFill/>
          <a:ln>
            <a:noFill/>
          </a:ln>
        </p:spPr>
        <p:txBody>
          <a:bodyPr spcFirstLastPara="1" wrap="square" lIns="0" tIns="0" rIns="0" bIns="0" anchor="t" anchorCtr="0">
            <a:spAutoFit/>
          </a:bodyPr>
          <a:lstStyle/>
          <a:p>
            <a:pPr marL="0" marR="0" lvl="0" indent="0" algn="just" rtl="0">
              <a:lnSpc>
                <a:spcPct val="133293"/>
              </a:lnSpc>
              <a:spcBef>
                <a:spcPts val="0"/>
              </a:spcBef>
              <a:spcAft>
                <a:spcPts val="0"/>
              </a:spcAft>
              <a:buNone/>
            </a:pPr>
            <a:endParaRPr sz="1687">
              <a:solidFill>
                <a:schemeClr val="dk1"/>
              </a:solidFill>
              <a:latin typeface="Calibri"/>
              <a:ea typeface="Calibri"/>
              <a:cs typeface="Calibri"/>
              <a:sym typeface="Calibri"/>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Functional Dependency is expressed in the form of equations. Here you have an array of objects (A, B, C, etc.) and an arrow (-&gt;) that represents the dependency. For example, if we have an employee record with fields "EmployeeID", "FirstName" and "LastName", we can specify the function as follows:</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EmployeeID -&gt; FirstName, LastName</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To represent functional dependency in DBMS has two main features: left (LHS) and right (RHS) of the arrow (-&gt;).</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277" name="Google Shape;277;p9"/>
          <p:cNvSpPr/>
          <p:nvPr/>
        </p:nvSpPr>
        <p:spPr>
          <a:xfrm>
            <a:off x="7263268" y="2599052"/>
            <a:ext cx="2817150" cy="2743200"/>
          </a:xfrm>
          <a:custGeom>
            <a:avLst/>
            <a:gdLst/>
            <a:ahLst/>
            <a:cxnLst/>
            <a:rect l="l" t="t" r="r" b="b"/>
            <a:pathLst>
              <a:path w="3004960" h="2926080" extrusionOk="0">
                <a:moveTo>
                  <a:pt x="0" y="0"/>
                </a:moveTo>
                <a:lnTo>
                  <a:pt x="3004960" y="0"/>
                </a:lnTo>
                <a:lnTo>
                  <a:pt x="3004960" y="2926080"/>
                </a:lnTo>
                <a:lnTo>
                  <a:pt x="0" y="2926080"/>
                </a:lnTo>
                <a:lnTo>
                  <a:pt x="0" y="0"/>
                </a:lnTo>
                <a:close/>
              </a:path>
            </a:pathLst>
          </a:custGeom>
          <a:blipFill rotWithShape="1">
            <a:blip r:embed="rId3">
              <a:alphaModFix/>
            </a:blip>
            <a:stretch>
              <a:fillRect/>
            </a:stretch>
          </a:blipFill>
          <a:ln>
            <a:noFill/>
          </a:ln>
        </p:spPr>
      </p:sp>
      <p:sp>
        <p:nvSpPr>
          <p:cNvPr id="278" name="Google Shape;278;p9"/>
          <p:cNvSpPr txBox="1"/>
          <p:nvPr/>
        </p:nvSpPr>
        <p:spPr>
          <a:xfrm>
            <a:off x="4074008" y="518559"/>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279" name="Google Shape;27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80" name="Google Shape;28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grpSp>
        <p:nvGrpSpPr>
          <p:cNvPr id="289" name="Google Shape;289;p10"/>
          <p:cNvGrpSpPr/>
          <p:nvPr/>
        </p:nvGrpSpPr>
        <p:grpSpPr>
          <a:xfrm>
            <a:off x="1524000" y="6356604"/>
            <a:ext cx="9144000" cy="88404"/>
            <a:chOff x="0" y="0"/>
            <a:chExt cx="13004800" cy="125730"/>
          </a:xfrm>
        </p:grpSpPr>
        <p:sp>
          <p:nvSpPr>
            <p:cNvPr id="290" name="Google Shape;290;p1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91" name="Google Shape;291;p1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92" name="Google Shape;292;p10"/>
          <p:cNvSpPr/>
          <p:nvPr/>
        </p:nvSpPr>
        <p:spPr>
          <a:xfrm>
            <a:off x="2734529" y="1645253"/>
            <a:ext cx="6722942" cy="4182475"/>
          </a:xfrm>
          <a:custGeom>
            <a:avLst/>
            <a:gdLst/>
            <a:ahLst/>
            <a:cxnLst/>
            <a:rect l="l" t="t" r="r" b="b"/>
            <a:pathLst>
              <a:path w="7171138" h="4461307" extrusionOk="0">
                <a:moveTo>
                  <a:pt x="0" y="0"/>
                </a:moveTo>
                <a:lnTo>
                  <a:pt x="7171138" y="0"/>
                </a:lnTo>
                <a:lnTo>
                  <a:pt x="7171138" y="4461307"/>
                </a:lnTo>
                <a:lnTo>
                  <a:pt x="0" y="4461307"/>
                </a:lnTo>
                <a:lnTo>
                  <a:pt x="0" y="0"/>
                </a:lnTo>
                <a:close/>
              </a:path>
            </a:pathLst>
          </a:custGeom>
          <a:blipFill rotWithShape="1">
            <a:blip r:embed="rId3">
              <a:alphaModFix/>
            </a:blip>
            <a:stretch>
              <a:fillRect/>
            </a:stretch>
          </a:blipFill>
          <a:ln>
            <a:noFill/>
          </a:ln>
        </p:spPr>
      </p:sp>
      <p:sp>
        <p:nvSpPr>
          <p:cNvPr id="293" name="Google Shape;293;p10"/>
          <p:cNvSpPr txBox="1"/>
          <p:nvPr/>
        </p:nvSpPr>
        <p:spPr>
          <a:xfrm>
            <a:off x="3987352" y="589567"/>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294" name="Google Shape;29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295" name="Google Shape;29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grpSp>
        <p:nvGrpSpPr>
          <p:cNvPr id="304" name="Google Shape;304;p11"/>
          <p:cNvGrpSpPr/>
          <p:nvPr/>
        </p:nvGrpSpPr>
        <p:grpSpPr>
          <a:xfrm>
            <a:off x="1524000" y="6356604"/>
            <a:ext cx="9144000" cy="88404"/>
            <a:chOff x="0" y="0"/>
            <a:chExt cx="13004800" cy="125730"/>
          </a:xfrm>
        </p:grpSpPr>
        <p:sp>
          <p:nvSpPr>
            <p:cNvPr id="305" name="Google Shape;305;p1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06" name="Google Shape;306;p1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07" name="Google Shape;307;p11"/>
          <p:cNvSpPr txBox="1"/>
          <p:nvPr/>
        </p:nvSpPr>
        <p:spPr>
          <a:xfrm>
            <a:off x="1796354" y="1456135"/>
            <a:ext cx="8599292" cy="646459"/>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a:solidFill>
                  <a:srgbClr val="000000"/>
                </a:solidFill>
                <a:latin typeface="Arial"/>
                <a:ea typeface="Arial"/>
                <a:cs typeface="Arial"/>
                <a:sym typeface="Arial"/>
              </a:rPr>
              <a:t>Types of Functionality in DBMS</a:t>
            </a:r>
            <a:endParaRPr/>
          </a:p>
          <a:p>
            <a:pPr marL="0" marR="0" lvl="0" indent="0" algn="just" rtl="0">
              <a:lnSpc>
                <a:spcPct val="120037"/>
              </a:lnSpc>
              <a:spcBef>
                <a:spcPts val="0"/>
              </a:spcBef>
              <a:spcAft>
                <a:spcPts val="0"/>
              </a:spcAft>
              <a:buNone/>
            </a:pPr>
            <a:endParaRPr sz="2156" b="1">
              <a:solidFill>
                <a:srgbClr val="000000"/>
              </a:solidFill>
              <a:latin typeface="Arial"/>
              <a:ea typeface="Arial"/>
              <a:cs typeface="Arial"/>
              <a:sym typeface="Arial"/>
            </a:endParaRPr>
          </a:p>
        </p:txBody>
      </p:sp>
      <p:sp>
        <p:nvSpPr>
          <p:cNvPr id="308" name="Google Shape;308;p11"/>
          <p:cNvSpPr txBox="1"/>
          <p:nvPr/>
        </p:nvSpPr>
        <p:spPr>
          <a:xfrm>
            <a:off x="1796355" y="1923844"/>
            <a:ext cx="8423279" cy="352045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Trivial Functional Dependency: </a:t>
            </a:r>
            <a:r>
              <a:rPr lang="en-US" sz="1875">
                <a:solidFill>
                  <a:srgbClr val="000000"/>
                </a:solidFill>
                <a:latin typeface="Arial"/>
                <a:ea typeface="Arial"/>
                <a:cs typeface="Arial"/>
                <a:sym typeface="Arial"/>
              </a:rPr>
              <a:t>Trivial functional dependency occurs when an attribute or attributes (columns) appear in the DBMS. When the (-&gt;) function is present, the left element (LHS) already determines the right element (RHS) without additional information.</a:t>
            </a:r>
            <a:endParaRPr/>
          </a:p>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Example:</a:t>
            </a:r>
            <a:r>
              <a:rPr lang="en-US" sz="1875">
                <a:solidFill>
                  <a:srgbClr val="000000"/>
                </a:solidFill>
                <a:latin typeface="Arial"/>
                <a:ea typeface="Arial"/>
                <a:cs typeface="Arial"/>
                <a:sym typeface="Arial"/>
              </a:rPr>
              <a:t> Suppose we have a student table with attributes "EmployeeID" and "EmployeeName". In this case, if we declare the dependency function as</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EmployeeID -&gt; EmployeeName</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It will be a rivial functional dependency. Because there is only one "EmployeeName" in "EmployeeID". That is, the value of "EmployeeID" determines the value of "EmployeeName" without the need for any additional information or conditions.</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309" name="Google Shape;309;p11"/>
          <p:cNvSpPr txBox="1"/>
          <p:nvPr/>
        </p:nvSpPr>
        <p:spPr>
          <a:xfrm>
            <a:off x="4130227" y="641809"/>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310" name="Google Shape;31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11" name="Google Shape;31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grpSp>
        <p:nvGrpSpPr>
          <p:cNvPr id="320" name="Google Shape;320;p12"/>
          <p:cNvGrpSpPr/>
          <p:nvPr/>
        </p:nvGrpSpPr>
        <p:grpSpPr>
          <a:xfrm>
            <a:off x="1524000" y="6356604"/>
            <a:ext cx="9144000" cy="88404"/>
            <a:chOff x="0" y="0"/>
            <a:chExt cx="13004800" cy="125730"/>
          </a:xfrm>
        </p:grpSpPr>
        <p:sp>
          <p:nvSpPr>
            <p:cNvPr id="321" name="Google Shape;321;p1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22" name="Google Shape;322;p1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23" name="Google Shape;323;p12"/>
          <p:cNvSpPr/>
          <p:nvPr/>
        </p:nvSpPr>
        <p:spPr>
          <a:xfrm>
            <a:off x="2664094" y="1445439"/>
            <a:ext cx="7184091" cy="4202693"/>
          </a:xfrm>
          <a:custGeom>
            <a:avLst/>
            <a:gdLst/>
            <a:ahLst/>
            <a:cxnLst/>
            <a:rect l="l" t="t" r="r" b="b"/>
            <a:pathLst>
              <a:path w="7663030" h="4482873" extrusionOk="0">
                <a:moveTo>
                  <a:pt x="0" y="0"/>
                </a:moveTo>
                <a:lnTo>
                  <a:pt x="7663031" y="0"/>
                </a:lnTo>
                <a:lnTo>
                  <a:pt x="7663031" y="4482873"/>
                </a:lnTo>
                <a:lnTo>
                  <a:pt x="0" y="4482873"/>
                </a:lnTo>
                <a:lnTo>
                  <a:pt x="0" y="0"/>
                </a:lnTo>
                <a:close/>
              </a:path>
            </a:pathLst>
          </a:custGeom>
          <a:blipFill rotWithShape="1">
            <a:blip r:embed="rId3">
              <a:alphaModFix/>
            </a:blip>
            <a:stretch>
              <a:fillRect/>
            </a:stretch>
          </a:blipFill>
          <a:ln>
            <a:noFill/>
          </a:ln>
        </p:spPr>
      </p:sp>
      <p:sp>
        <p:nvSpPr>
          <p:cNvPr id="324" name="Google Shape;324;p12"/>
          <p:cNvSpPr txBox="1"/>
          <p:nvPr/>
        </p:nvSpPr>
        <p:spPr>
          <a:xfrm>
            <a:off x="4130227" y="641809"/>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325" name="Google Shape;32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26" name="Google Shape;32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pSp>
        <p:nvGrpSpPr>
          <p:cNvPr id="335" name="Google Shape;335;p13"/>
          <p:cNvGrpSpPr/>
          <p:nvPr/>
        </p:nvGrpSpPr>
        <p:grpSpPr>
          <a:xfrm>
            <a:off x="1524000" y="6356604"/>
            <a:ext cx="9144000" cy="88404"/>
            <a:chOff x="0" y="0"/>
            <a:chExt cx="13004800" cy="125730"/>
          </a:xfrm>
        </p:grpSpPr>
        <p:sp>
          <p:nvSpPr>
            <p:cNvPr id="336" name="Google Shape;336;p1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37" name="Google Shape;337;p1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38" name="Google Shape;338;p13"/>
          <p:cNvSpPr txBox="1"/>
          <p:nvPr/>
        </p:nvSpPr>
        <p:spPr>
          <a:xfrm>
            <a:off x="4303776" y="659012"/>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339" name="Google Shape;339;p13"/>
          <p:cNvSpPr txBox="1"/>
          <p:nvPr/>
        </p:nvSpPr>
        <p:spPr>
          <a:xfrm>
            <a:off x="1759190" y="1545431"/>
            <a:ext cx="8458200"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Non-trivial Functional Dependency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Non-trivial functional dependencies are a type of dependency between attributes (columns) in a table. Here the relationship is neither obvious nor important. It provides valuable information about how values ​​in one feature set determine values ​​in another feature set.</a:t>
            </a:r>
            <a:endParaRPr/>
          </a:p>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Example:</a:t>
            </a:r>
            <a:r>
              <a:rPr lang="en-US" sz="1875">
                <a:solidFill>
                  <a:srgbClr val="000000"/>
                </a:solidFill>
                <a:latin typeface="Arial"/>
                <a:ea typeface="Arial"/>
                <a:cs typeface="Arial"/>
                <a:sym typeface="Arial"/>
              </a:rPr>
              <a:t> Here is the functional dependency based on the employee's date of birth (EmployeeDOB) and Department. In this case the non-trivial dependency will be</a:t>
            </a:r>
            <a:endParaRPr/>
          </a:p>
        </p:txBody>
      </p:sp>
      <p:sp>
        <p:nvSpPr>
          <p:cNvPr id="340" name="Google Shape;340;p13"/>
          <p:cNvSpPr txBox="1"/>
          <p:nvPr/>
        </p:nvSpPr>
        <p:spPr>
          <a:xfrm>
            <a:off x="1759190" y="4302221"/>
            <a:ext cx="8458200"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err="1">
                <a:solidFill>
                  <a:srgbClr val="000000"/>
                </a:solidFill>
                <a:latin typeface="Arial"/>
                <a:ea typeface="Arial"/>
                <a:cs typeface="Arial"/>
                <a:sym typeface="Arial"/>
              </a:rPr>
              <a:t>EmployeeDOB</a:t>
            </a:r>
            <a:r>
              <a:rPr lang="en-US" sz="1875" dirty="0">
                <a:solidFill>
                  <a:srgbClr val="000000"/>
                </a:solidFill>
                <a:latin typeface="Arial"/>
                <a:ea typeface="Arial"/>
                <a:cs typeface="Arial"/>
                <a:sym typeface="Arial"/>
              </a:rPr>
              <a:t>, Department -&gt; </a:t>
            </a:r>
            <a:r>
              <a:rPr lang="en-US" sz="1875" dirty="0" err="1">
                <a:solidFill>
                  <a:srgbClr val="000000"/>
                </a:solidFill>
                <a:latin typeface="Arial"/>
                <a:ea typeface="Arial"/>
                <a:cs typeface="Arial"/>
                <a:sym typeface="Arial"/>
              </a:rPr>
              <a:t>EmployeeName</a:t>
            </a:r>
            <a:r>
              <a:rPr lang="en-US" sz="1875" dirty="0">
                <a:solidFill>
                  <a:srgbClr val="000000"/>
                </a:solidFill>
                <a:latin typeface="Arial"/>
                <a:ea typeface="Arial"/>
                <a:cs typeface="Arial"/>
                <a:sym typeface="Arial"/>
              </a:rPr>
              <a:t>.</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In this functional dependency given combination of employee's date of birth and class can uniquely determines employee names. It is important because it provides important information about the relationship between attributes in the language.</a:t>
            </a:r>
            <a:endParaRPr dirty="0"/>
          </a:p>
        </p:txBody>
      </p:sp>
      <p:sp>
        <p:nvSpPr>
          <p:cNvPr id="341" name="Google Shape;34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42" name="Google Shape;34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pSp>
        <p:nvGrpSpPr>
          <p:cNvPr id="351" name="Google Shape;351;p14"/>
          <p:cNvGrpSpPr/>
          <p:nvPr/>
        </p:nvGrpSpPr>
        <p:grpSpPr>
          <a:xfrm>
            <a:off x="1524000" y="6356604"/>
            <a:ext cx="9144000" cy="88404"/>
            <a:chOff x="0" y="0"/>
            <a:chExt cx="13004800" cy="125730"/>
          </a:xfrm>
        </p:grpSpPr>
        <p:sp>
          <p:nvSpPr>
            <p:cNvPr id="352" name="Google Shape;352;p1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53" name="Google Shape;353;p1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54" name="Google Shape;354;p14"/>
          <p:cNvSpPr/>
          <p:nvPr/>
        </p:nvSpPr>
        <p:spPr>
          <a:xfrm>
            <a:off x="8153400" y="3600487"/>
            <a:ext cx="3736391" cy="2114364"/>
          </a:xfrm>
          <a:custGeom>
            <a:avLst/>
            <a:gdLst/>
            <a:ahLst/>
            <a:cxnLst/>
            <a:rect l="l" t="t" r="r" b="b"/>
            <a:pathLst>
              <a:path w="3985484" h="2255322" extrusionOk="0">
                <a:moveTo>
                  <a:pt x="0" y="0"/>
                </a:moveTo>
                <a:lnTo>
                  <a:pt x="3985483" y="0"/>
                </a:lnTo>
                <a:lnTo>
                  <a:pt x="3985483" y="2255323"/>
                </a:lnTo>
                <a:lnTo>
                  <a:pt x="0" y="2255323"/>
                </a:lnTo>
                <a:lnTo>
                  <a:pt x="0" y="0"/>
                </a:lnTo>
                <a:close/>
              </a:path>
            </a:pathLst>
          </a:custGeom>
          <a:blipFill rotWithShape="1">
            <a:blip r:embed="rId3">
              <a:alphaModFix/>
            </a:blip>
            <a:stretch>
              <a:fillRect t="-17734"/>
            </a:stretch>
          </a:blipFill>
          <a:ln>
            <a:noFill/>
          </a:ln>
        </p:spPr>
      </p:sp>
      <p:sp>
        <p:nvSpPr>
          <p:cNvPr id="355" name="Google Shape;355;p14"/>
          <p:cNvSpPr txBox="1"/>
          <p:nvPr/>
        </p:nvSpPr>
        <p:spPr>
          <a:xfrm>
            <a:off x="1901219" y="1759703"/>
            <a:ext cx="8389562" cy="1750736"/>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Reflexivity:</a:t>
            </a:r>
            <a:r>
              <a:rPr lang="en-US" sz="1875" b="0" i="0" u="none" strike="noStrike" cap="none">
                <a:solidFill>
                  <a:srgbClr val="000000"/>
                </a:solidFill>
                <a:latin typeface="Arial"/>
                <a:ea typeface="Arial"/>
                <a:cs typeface="Arial"/>
                <a:sym typeface="Arial"/>
              </a:rPr>
              <a:t> If A is a set of attributes and B is a part of A, then the function A -&gt; B is valid.</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Augmentation:</a:t>
            </a:r>
            <a:r>
              <a:rPr lang="en-US" sz="1875" b="0" i="0" u="none" strike="noStrike" cap="none">
                <a:solidFill>
                  <a:srgbClr val="000000"/>
                </a:solidFill>
                <a:latin typeface="Arial"/>
                <a:ea typeface="Arial"/>
                <a:cs typeface="Arial"/>
                <a:sym typeface="Arial"/>
              </a:rPr>
              <a:t> If the A -&gt; B dependency is valid, adding multiple elements to either side of the dependency will not affect the dependency.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Transitivity:</a:t>
            </a:r>
            <a:r>
              <a:rPr lang="en-US" sz="1875" b="0" i="0" u="none" strike="noStrike" cap="none">
                <a:solidFill>
                  <a:srgbClr val="000000"/>
                </a:solidFill>
                <a:latin typeface="Arial"/>
                <a:ea typeface="Arial"/>
                <a:cs typeface="Arial"/>
                <a:sym typeface="Arial"/>
              </a:rPr>
              <a:t> If the functions X → Y and Y → Z are both valid, then X → Z is also valid according to the transitivity rule.</a:t>
            </a:r>
            <a:endParaRPr/>
          </a:p>
        </p:txBody>
      </p:sp>
      <p:sp>
        <p:nvSpPr>
          <p:cNvPr id="356" name="Google Shape;356;p14"/>
          <p:cNvSpPr txBox="1"/>
          <p:nvPr/>
        </p:nvSpPr>
        <p:spPr>
          <a:xfrm>
            <a:off x="2026863" y="1353444"/>
            <a:ext cx="8389562" cy="313034"/>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a:solidFill>
                  <a:srgbClr val="000000"/>
                </a:solidFill>
                <a:latin typeface="Arial"/>
                <a:ea typeface="Arial"/>
                <a:cs typeface="Arial"/>
                <a:sym typeface="Arial"/>
              </a:rPr>
              <a:t>Properties of Functional Dependency in DBMS</a:t>
            </a:r>
            <a:endParaRPr/>
          </a:p>
        </p:txBody>
      </p:sp>
      <p:sp>
        <p:nvSpPr>
          <p:cNvPr id="357" name="Google Shape;357;p14"/>
          <p:cNvSpPr txBox="1"/>
          <p:nvPr/>
        </p:nvSpPr>
        <p:spPr>
          <a:xfrm>
            <a:off x="3996041" y="524588"/>
            <a:ext cx="512696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358" name="Google Shape;358;p14"/>
          <p:cNvSpPr txBox="1"/>
          <p:nvPr/>
        </p:nvSpPr>
        <p:spPr>
          <a:xfrm>
            <a:off x="1901219" y="3836254"/>
            <a:ext cx="6147324" cy="313034"/>
          </a:xfrm>
          <a:prstGeom prst="rect">
            <a:avLst/>
          </a:prstGeom>
          <a:noFill/>
          <a:ln>
            <a:noFill/>
          </a:ln>
        </p:spPr>
        <p:txBody>
          <a:bodyPr spcFirstLastPara="1" wrap="square" lIns="0" tIns="0" rIns="0" bIns="0" anchor="t" anchorCtr="0">
            <a:spAutoFit/>
          </a:bodyPr>
          <a:lstStyle/>
          <a:p>
            <a:pPr marL="0" marR="0" lvl="0" indent="0" algn="ctr" rtl="0">
              <a:lnSpc>
                <a:spcPct val="120037"/>
              </a:lnSpc>
              <a:spcBef>
                <a:spcPts val="0"/>
              </a:spcBef>
              <a:spcAft>
                <a:spcPts val="0"/>
              </a:spcAft>
              <a:buNone/>
            </a:pPr>
            <a:r>
              <a:rPr lang="en-US" sz="2156" b="1" dirty="0">
                <a:solidFill>
                  <a:srgbClr val="000000"/>
                </a:solidFill>
                <a:latin typeface="Arial"/>
                <a:ea typeface="Arial"/>
                <a:cs typeface="Arial"/>
                <a:sym typeface="Arial"/>
              </a:rPr>
              <a:t>Advantages of functional dependency in DBMS</a:t>
            </a:r>
            <a:endParaRPr dirty="0"/>
          </a:p>
        </p:txBody>
      </p:sp>
      <p:sp>
        <p:nvSpPr>
          <p:cNvPr id="359" name="Google Shape;359;p14"/>
          <p:cNvSpPr txBox="1"/>
          <p:nvPr/>
        </p:nvSpPr>
        <p:spPr>
          <a:xfrm>
            <a:off x="2026863" y="4399567"/>
            <a:ext cx="2343178" cy="1731243"/>
          </a:xfrm>
          <a:prstGeom prst="rect">
            <a:avLst/>
          </a:prstGeom>
          <a:noFill/>
          <a:ln>
            <a:noFill/>
          </a:ln>
        </p:spPr>
        <p:txBody>
          <a:bodyPr spcFirstLastPara="1" wrap="square" lIns="0" tIns="0" rIns="0" bIns="0" anchor="t" anchorCtr="0">
            <a:spAutoFit/>
          </a:bodyPr>
          <a:lstStyle/>
          <a:p>
            <a:pPr marL="404813" marR="0" lvl="1" indent="-202406"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Data Integrity</a:t>
            </a:r>
            <a:endParaRPr dirty="0"/>
          </a:p>
          <a:p>
            <a:pPr marL="404813" marR="0" lvl="1" indent="-202406"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Normalization</a:t>
            </a:r>
            <a:endParaRPr dirty="0"/>
          </a:p>
          <a:p>
            <a:pPr marL="404813" marR="0" lvl="1" indent="-202406"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 Effective Storage</a:t>
            </a:r>
            <a:endParaRPr dirty="0"/>
          </a:p>
          <a:p>
            <a:pPr marL="404813" marR="0" lvl="1" indent="-202406"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Easy to maintain</a:t>
            </a:r>
            <a:endParaRPr dirty="0"/>
          </a:p>
          <a:p>
            <a:pPr marL="0" marR="0" lvl="0" indent="0" algn="ctr"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360" name="Google Shape;36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61" name="Google Shape;36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pSp>
        <p:nvGrpSpPr>
          <p:cNvPr id="370" name="Google Shape;370;p15"/>
          <p:cNvGrpSpPr/>
          <p:nvPr/>
        </p:nvGrpSpPr>
        <p:grpSpPr>
          <a:xfrm>
            <a:off x="1524000" y="6356604"/>
            <a:ext cx="9144000" cy="88404"/>
            <a:chOff x="0" y="0"/>
            <a:chExt cx="13004800" cy="125730"/>
          </a:xfrm>
        </p:grpSpPr>
        <p:sp>
          <p:nvSpPr>
            <p:cNvPr id="371" name="Google Shape;371;p1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72" name="Google Shape;372;p1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73" name="Google Shape;373;p15"/>
          <p:cNvSpPr/>
          <p:nvPr/>
        </p:nvSpPr>
        <p:spPr>
          <a:xfrm>
            <a:off x="5161132" y="3613403"/>
            <a:ext cx="5506868" cy="2743200"/>
          </a:xfrm>
          <a:custGeom>
            <a:avLst/>
            <a:gdLst/>
            <a:ahLst/>
            <a:cxnLst/>
            <a:rect l="l" t="t" r="r" b="b"/>
            <a:pathLst>
              <a:path w="5873992" h="2926080" extrusionOk="0">
                <a:moveTo>
                  <a:pt x="0" y="0"/>
                </a:moveTo>
                <a:lnTo>
                  <a:pt x="5873992" y="0"/>
                </a:lnTo>
                <a:lnTo>
                  <a:pt x="5873992" y="2926080"/>
                </a:lnTo>
                <a:lnTo>
                  <a:pt x="0" y="2926080"/>
                </a:lnTo>
                <a:lnTo>
                  <a:pt x="0" y="0"/>
                </a:lnTo>
                <a:close/>
              </a:path>
            </a:pathLst>
          </a:custGeom>
          <a:blipFill rotWithShape="1">
            <a:blip r:embed="rId3">
              <a:alphaModFix/>
            </a:blip>
            <a:stretch>
              <a:fillRect t="-11427" b="-7550"/>
            </a:stretch>
          </a:blipFill>
          <a:ln>
            <a:noFill/>
          </a:ln>
        </p:spPr>
      </p:sp>
      <p:sp>
        <p:nvSpPr>
          <p:cNvPr id="374" name="Google Shape;374;p15"/>
          <p:cNvSpPr txBox="1"/>
          <p:nvPr/>
        </p:nvSpPr>
        <p:spPr>
          <a:xfrm>
            <a:off x="2026863" y="1189065"/>
            <a:ext cx="8389562" cy="313034"/>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dirty="0">
                <a:solidFill>
                  <a:srgbClr val="000000"/>
                </a:solidFill>
                <a:latin typeface="Arial"/>
                <a:ea typeface="Arial"/>
                <a:cs typeface="Arial"/>
                <a:sym typeface="Arial"/>
              </a:rPr>
              <a:t>What is Decomposition in DBMS?</a:t>
            </a:r>
            <a:endParaRPr dirty="0"/>
          </a:p>
        </p:txBody>
      </p:sp>
      <p:sp>
        <p:nvSpPr>
          <p:cNvPr id="375" name="Google Shape;375;p15"/>
          <p:cNvSpPr txBox="1"/>
          <p:nvPr/>
        </p:nvSpPr>
        <p:spPr>
          <a:xfrm>
            <a:off x="4680699" y="409001"/>
            <a:ext cx="3081890"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Decomposition</a:t>
            </a:r>
            <a:endParaRPr/>
          </a:p>
        </p:txBody>
      </p:sp>
      <p:sp>
        <p:nvSpPr>
          <p:cNvPr id="376" name="Google Shape;376;p15"/>
          <p:cNvSpPr txBox="1"/>
          <p:nvPr/>
        </p:nvSpPr>
        <p:spPr>
          <a:xfrm>
            <a:off x="2024324" y="1620952"/>
            <a:ext cx="8208116" cy="204568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When we divide a table into multiple tables or divide a relation into multiple relations, then this process is termed Decomposition in DBMS. We perform decomposition in DBMS when we want to process a particular data set. It is performed in a database management system when we need to ensure consistency and remove anomalies and duplicate data present in the database. When we perform decomposition in DBMS, we must try to ensure that no information or data is lost.</a:t>
            </a:r>
            <a:endParaRPr dirty="0"/>
          </a:p>
        </p:txBody>
      </p:sp>
      <p:sp>
        <p:nvSpPr>
          <p:cNvPr id="377" name="Google Shape;377;p15"/>
          <p:cNvSpPr txBox="1"/>
          <p:nvPr/>
        </p:nvSpPr>
        <p:spPr>
          <a:xfrm>
            <a:off x="2000481" y="4139867"/>
            <a:ext cx="4076237"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Types of Decomposition</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There are two types of Decomposition: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Lossless Decomposition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Lossy Decomposition</a:t>
            </a:r>
            <a:endParaRPr dirty="0"/>
          </a:p>
        </p:txBody>
      </p:sp>
      <p:sp>
        <p:nvSpPr>
          <p:cNvPr id="378" name="Google Shape;37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79" name="Google Shape;37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p16"/>
          <p:cNvGrpSpPr/>
          <p:nvPr/>
        </p:nvGrpSpPr>
        <p:grpSpPr>
          <a:xfrm>
            <a:off x="1524000" y="6356604"/>
            <a:ext cx="9144000" cy="88404"/>
            <a:chOff x="0" y="0"/>
            <a:chExt cx="13004800" cy="125730"/>
          </a:xfrm>
        </p:grpSpPr>
        <p:sp>
          <p:nvSpPr>
            <p:cNvPr id="389" name="Google Shape;389;p1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90" name="Google Shape;390;p1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91" name="Google Shape;391;p16"/>
          <p:cNvSpPr txBox="1"/>
          <p:nvPr/>
        </p:nvSpPr>
        <p:spPr>
          <a:xfrm>
            <a:off x="2414138" y="964689"/>
            <a:ext cx="8389562" cy="313034"/>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dirty="0">
                <a:solidFill>
                  <a:srgbClr val="000000"/>
                </a:solidFill>
                <a:latin typeface="Arial"/>
                <a:ea typeface="Arial"/>
                <a:cs typeface="Arial"/>
                <a:sym typeface="Arial"/>
              </a:rPr>
              <a:t>Properties of Decomposition</a:t>
            </a:r>
            <a:endParaRPr dirty="0"/>
          </a:p>
        </p:txBody>
      </p:sp>
      <p:sp>
        <p:nvSpPr>
          <p:cNvPr id="392" name="Google Shape;392;p16"/>
          <p:cNvSpPr txBox="1"/>
          <p:nvPr/>
        </p:nvSpPr>
        <p:spPr>
          <a:xfrm>
            <a:off x="4680699" y="409001"/>
            <a:ext cx="3081890"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Decomposition</a:t>
            </a:r>
            <a:endParaRPr/>
          </a:p>
        </p:txBody>
      </p:sp>
      <p:sp>
        <p:nvSpPr>
          <p:cNvPr id="393" name="Google Shape;393;p16"/>
          <p:cNvSpPr txBox="1"/>
          <p:nvPr/>
        </p:nvSpPr>
        <p:spPr>
          <a:xfrm>
            <a:off x="2026863" y="1519780"/>
            <a:ext cx="8208116" cy="4405309"/>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Lossless:</a:t>
            </a:r>
            <a:r>
              <a:rPr lang="en-US" sz="1875" b="0" i="0" u="none" strike="noStrike" cap="none" dirty="0">
                <a:solidFill>
                  <a:srgbClr val="000000"/>
                </a:solidFill>
                <a:latin typeface="Arial"/>
                <a:ea typeface="Arial"/>
                <a:cs typeface="Arial"/>
                <a:sym typeface="Arial"/>
              </a:rPr>
              <a:t> All the decomposition that we perform in Database management system should be lossless. All the information should not be lost while performing the join on the sub-relation to get back the original relation. It helps to remove the redundant data from the database.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Dependency Preservation:</a:t>
            </a:r>
            <a:r>
              <a:rPr lang="en-US" sz="1875" b="0" i="0" u="none" strike="noStrike" cap="none" dirty="0">
                <a:solidFill>
                  <a:srgbClr val="000000"/>
                </a:solidFill>
                <a:latin typeface="Arial"/>
                <a:ea typeface="Arial"/>
                <a:cs typeface="Arial"/>
                <a:sym typeface="Arial"/>
              </a:rPr>
              <a:t> Dependency Preservation is an important technique in database management system. It ensures that the functional dependencies between the entities is maintained while performing decomposition. It helps to improve the database efficiency, maintain consistency and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Lack of Data Redundancy:</a:t>
            </a:r>
            <a:r>
              <a:rPr lang="en-US" sz="1875" b="0" i="0" u="none" strike="noStrike" cap="none" dirty="0">
                <a:solidFill>
                  <a:srgbClr val="000000"/>
                </a:solidFill>
                <a:latin typeface="Arial"/>
                <a:ea typeface="Arial"/>
                <a:cs typeface="Arial"/>
                <a:sym typeface="Arial"/>
              </a:rPr>
              <a:t> Data Redundancy is generally termed as duplicate data or repeated data. This property states that the decomposition performed should not suffer redundant data. It will help us to get rid of unwanted data and focus only on the useful data or information.</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394" name="Google Shape;39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395" name="Google Shape;39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grpSp>
        <p:nvGrpSpPr>
          <p:cNvPr id="404" name="Google Shape;404;p17"/>
          <p:cNvGrpSpPr/>
          <p:nvPr/>
        </p:nvGrpSpPr>
        <p:grpSpPr>
          <a:xfrm>
            <a:off x="1524000" y="6356604"/>
            <a:ext cx="9144000" cy="88404"/>
            <a:chOff x="0" y="0"/>
            <a:chExt cx="13004800" cy="125730"/>
          </a:xfrm>
        </p:grpSpPr>
        <p:sp>
          <p:nvSpPr>
            <p:cNvPr id="405" name="Google Shape;405;p1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06" name="Google Shape;406;p1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07" name="Google Shape;407;p17"/>
          <p:cNvSpPr/>
          <p:nvPr/>
        </p:nvSpPr>
        <p:spPr>
          <a:xfrm>
            <a:off x="7759655" y="3126588"/>
            <a:ext cx="3237683" cy="2743200"/>
          </a:xfrm>
          <a:custGeom>
            <a:avLst/>
            <a:gdLst/>
            <a:ahLst/>
            <a:cxnLst/>
            <a:rect l="l" t="t" r="r" b="b"/>
            <a:pathLst>
              <a:path w="3453528" h="2926080" extrusionOk="0">
                <a:moveTo>
                  <a:pt x="0" y="0"/>
                </a:moveTo>
                <a:lnTo>
                  <a:pt x="3453528" y="0"/>
                </a:lnTo>
                <a:lnTo>
                  <a:pt x="3453528" y="2926080"/>
                </a:lnTo>
                <a:lnTo>
                  <a:pt x="0" y="2926080"/>
                </a:lnTo>
                <a:lnTo>
                  <a:pt x="0" y="0"/>
                </a:lnTo>
                <a:close/>
              </a:path>
            </a:pathLst>
          </a:custGeom>
          <a:blipFill rotWithShape="1">
            <a:blip r:embed="rId3">
              <a:alphaModFix/>
            </a:blip>
            <a:stretch>
              <a:fillRect/>
            </a:stretch>
          </a:blipFill>
          <a:ln>
            <a:noFill/>
          </a:ln>
        </p:spPr>
      </p:sp>
      <p:sp>
        <p:nvSpPr>
          <p:cNvPr id="408" name="Google Shape;408;p17"/>
          <p:cNvSpPr txBox="1"/>
          <p:nvPr/>
        </p:nvSpPr>
        <p:spPr>
          <a:xfrm>
            <a:off x="2026863" y="1182329"/>
            <a:ext cx="8389562" cy="796244"/>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dirty="0">
                <a:solidFill>
                  <a:srgbClr val="000000"/>
                </a:solidFill>
                <a:latin typeface="Arial"/>
                <a:ea typeface="Arial"/>
                <a:cs typeface="Arial"/>
                <a:sym typeface="Arial"/>
              </a:rPr>
              <a:t>What is Fully Functional Dependency?</a:t>
            </a:r>
            <a:endParaRPr dirty="0"/>
          </a:p>
          <a:p>
            <a:pPr marL="0" marR="0" lvl="0" indent="0" algn="just" rtl="0">
              <a:lnSpc>
                <a:spcPct val="120037"/>
              </a:lnSpc>
              <a:spcBef>
                <a:spcPts val="0"/>
              </a:spcBef>
              <a:spcAft>
                <a:spcPts val="0"/>
              </a:spcAft>
              <a:buNone/>
            </a:pPr>
            <a:endParaRPr sz="2156" b="1" dirty="0">
              <a:solidFill>
                <a:srgbClr val="000000"/>
              </a:solidFill>
              <a:latin typeface="Arial"/>
              <a:ea typeface="Arial"/>
              <a:cs typeface="Arial"/>
              <a:sym typeface="Arial"/>
            </a:endParaRPr>
          </a:p>
        </p:txBody>
      </p:sp>
      <p:sp>
        <p:nvSpPr>
          <p:cNvPr id="409" name="Google Shape;409;p17"/>
          <p:cNvSpPr txBox="1"/>
          <p:nvPr/>
        </p:nvSpPr>
        <p:spPr>
          <a:xfrm>
            <a:off x="3012839" y="467333"/>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Fully Functional Dependency</a:t>
            </a:r>
            <a:endParaRPr dirty="0"/>
          </a:p>
        </p:txBody>
      </p:sp>
      <p:sp>
        <p:nvSpPr>
          <p:cNvPr id="410" name="Google Shape;410;p17"/>
          <p:cNvSpPr txBox="1"/>
          <p:nvPr/>
        </p:nvSpPr>
        <p:spPr>
          <a:xfrm>
            <a:off x="2026863" y="1542755"/>
            <a:ext cx="8208116"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Real-life dependencies emerge when, within one relationship, the value of one of the attributes is capable of identifying the value of another attribute. Simply put, if A fully determines B without any proper subset of A giving full cause to B, then A is said to fully depend on B. In other words, you cannot derive B from a smaller part of A.</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411" name="Google Shape;411;p17"/>
          <p:cNvSpPr txBox="1"/>
          <p:nvPr/>
        </p:nvSpPr>
        <p:spPr>
          <a:xfrm>
            <a:off x="2026863" y="3271988"/>
            <a:ext cx="5071174" cy="32254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An Example of Fully Functional Dependency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To visualize a relation called "Employee” with the attributes {</a:t>
            </a:r>
            <a:r>
              <a:rPr lang="en-US" sz="1875" dirty="0" err="1">
                <a:solidFill>
                  <a:srgbClr val="000000"/>
                </a:solidFill>
                <a:latin typeface="Arial"/>
                <a:ea typeface="Arial"/>
                <a:cs typeface="Arial"/>
                <a:sym typeface="Arial"/>
              </a:rPr>
              <a:t>Employee_ID</a:t>
            </a:r>
            <a:r>
              <a:rPr lang="en-US" sz="1875" dirty="0">
                <a:solidFill>
                  <a:srgbClr val="000000"/>
                </a:solidFill>
                <a:latin typeface="Arial"/>
                <a:ea typeface="Arial"/>
                <a:cs typeface="Arial"/>
                <a:sym typeface="Arial"/>
              </a:rPr>
              <a:t>, </a:t>
            </a:r>
            <a:r>
              <a:rPr lang="en-US" sz="1875" dirty="0" err="1">
                <a:solidFill>
                  <a:srgbClr val="000000"/>
                </a:solidFill>
                <a:latin typeface="Arial"/>
                <a:ea typeface="Arial"/>
                <a:cs typeface="Arial"/>
                <a:sym typeface="Arial"/>
              </a:rPr>
              <a:t>Employee_Name</a:t>
            </a:r>
            <a:r>
              <a:rPr lang="en-US" sz="1875" dirty="0">
                <a:solidFill>
                  <a:srgbClr val="000000"/>
                </a:solidFill>
                <a:latin typeface="Arial"/>
                <a:ea typeface="Arial"/>
                <a:cs typeface="Arial"/>
                <a:sym typeface="Arial"/>
              </a:rPr>
              <a:t>, Department, Salary}, use the following diagram: Basically, if that the </a:t>
            </a:r>
            <a:r>
              <a:rPr lang="en-US" sz="1875" dirty="0" err="1">
                <a:solidFill>
                  <a:srgbClr val="000000"/>
                </a:solidFill>
                <a:latin typeface="Arial"/>
                <a:ea typeface="Arial"/>
                <a:cs typeface="Arial"/>
                <a:sym typeface="Arial"/>
              </a:rPr>
              <a:t>Employee_ID</a:t>
            </a:r>
            <a:r>
              <a:rPr lang="en-US" sz="1875" dirty="0">
                <a:solidFill>
                  <a:srgbClr val="000000"/>
                </a:solidFill>
                <a:latin typeface="Arial"/>
                <a:ea typeface="Arial"/>
                <a:cs typeface="Arial"/>
                <a:sym typeface="Arial"/>
              </a:rPr>
              <a:t> attribute figures out the other attributes in the table, such as the </a:t>
            </a:r>
            <a:r>
              <a:rPr lang="en-US" sz="1875" dirty="0" err="1">
                <a:solidFill>
                  <a:srgbClr val="000000"/>
                </a:solidFill>
                <a:latin typeface="Arial"/>
                <a:ea typeface="Arial"/>
                <a:cs typeface="Arial"/>
                <a:sym typeface="Arial"/>
              </a:rPr>
              <a:t>Employee_Name</a:t>
            </a:r>
            <a:r>
              <a:rPr lang="en-US" sz="1875" dirty="0">
                <a:solidFill>
                  <a:srgbClr val="000000"/>
                </a:solidFill>
                <a:latin typeface="Arial"/>
                <a:ea typeface="Arial"/>
                <a:cs typeface="Arial"/>
                <a:sym typeface="Arial"/>
              </a:rPr>
              <a:t>, Department, and Salary, the </a:t>
            </a:r>
            <a:r>
              <a:rPr lang="en-US" sz="1875" dirty="0" err="1">
                <a:solidFill>
                  <a:srgbClr val="000000"/>
                </a:solidFill>
                <a:latin typeface="Arial"/>
                <a:ea typeface="Arial"/>
                <a:cs typeface="Arial"/>
                <a:sym typeface="Arial"/>
              </a:rPr>
              <a:t>Employee_ID</a:t>
            </a:r>
            <a:r>
              <a:rPr lang="en-US" sz="1875" dirty="0">
                <a:solidFill>
                  <a:srgbClr val="000000"/>
                </a:solidFill>
                <a:latin typeface="Arial"/>
                <a:ea typeface="Arial"/>
                <a:cs typeface="Arial"/>
                <a:sym typeface="Arial"/>
              </a:rPr>
              <a:t> attribute fully functionally depends on all these attributes.</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412" name="Google Shape;4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13" name="Google Shape;4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grpSp>
        <p:nvGrpSpPr>
          <p:cNvPr id="422" name="Google Shape;422;p18"/>
          <p:cNvGrpSpPr/>
          <p:nvPr/>
        </p:nvGrpSpPr>
        <p:grpSpPr>
          <a:xfrm>
            <a:off x="1524000" y="6356604"/>
            <a:ext cx="9144000" cy="88404"/>
            <a:chOff x="0" y="0"/>
            <a:chExt cx="13004800" cy="125730"/>
          </a:xfrm>
        </p:grpSpPr>
        <p:sp>
          <p:nvSpPr>
            <p:cNvPr id="423" name="Google Shape;423;p1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24" name="Google Shape;424;p1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25" name="Google Shape;425;p18"/>
          <p:cNvSpPr txBox="1"/>
          <p:nvPr/>
        </p:nvSpPr>
        <p:spPr>
          <a:xfrm>
            <a:off x="1642816" y="1076922"/>
            <a:ext cx="8389562" cy="313034"/>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dirty="0">
                <a:solidFill>
                  <a:srgbClr val="000000"/>
                </a:solidFill>
                <a:latin typeface="Arial"/>
                <a:ea typeface="Arial"/>
                <a:cs typeface="Arial"/>
                <a:sym typeface="Arial"/>
              </a:rPr>
              <a:t>Importance of Fully Functional Dependency</a:t>
            </a:r>
            <a:endParaRPr dirty="0"/>
          </a:p>
        </p:txBody>
      </p:sp>
      <p:sp>
        <p:nvSpPr>
          <p:cNvPr id="426" name="Google Shape;426;p18"/>
          <p:cNvSpPr txBox="1"/>
          <p:nvPr/>
        </p:nvSpPr>
        <p:spPr>
          <a:xfrm>
            <a:off x="3380860" y="368181"/>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Fully Functional Dependency</a:t>
            </a:r>
            <a:endParaRPr/>
          </a:p>
        </p:txBody>
      </p:sp>
      <p:sp>
        <p:nvSpPr>
          <p:cNvPr id="427" name="Google Shape;427;p18"/>
          <p:cNvSpPr txBox="1"/>
          <p:nvPr/>
        </p:nvSpPr>
        <p:spPr>
          <a:xfrm>
            <a:off x="1642816" y="1544577"/>
            <a:ext cx="8693390" cy="4110356"/>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Data Integrity:</a:t>
            </a:r>
            <a:r>
              <a:rPr lang="en-US" sz="1875" b="0" i="0" u="none" strike="noStrike" cap="none" dirty="0">
                <a:solidFill>
                  <a:srgbClr val="000000"/>
                </a:solidFill>
                <a:latin typeface="Arial"/>
                <a:ea typeface="Arial"/>
                <a:cs typeface="Arial"/>
                <a:sym typeface="Arial"/>
              </a:rPr>
              <a:t> Instantaneous reference derives ones and only one value from others on the elements, which provides data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Normalization:</a:t>
            </a:r>
            <a:r>
              <a:rPr lang="en-US" sz="1875" b="0" i="0" u="none" strike="noStrike" cap="none" dirty="0">
                <a:solidFill>
                  <a:srgbClr val="000000"/>
                </a:solidFill>
                <a:latin typeface="Arial"/>
                <a:ea typeface="Arial"/>
                <a:cs typeface="Arial"/>
                <a:sym typeface="Arial"/>
              </a:rPr>
              <a:t> Finding and ensuring all the relationships are incomplete for one (and only one) of the attributes is the central part of the normalization process. It plays a role in recording large tables into smaller, structured tables, which reduces redundancy and helps people to handle transactions successfully.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Efficient Queries:</a:t>
            </a:r>
            <a:r>
              <a:rPr lang="en-US" sz="1875" b="0" i="0" u="none" strike="noStrike" cap="none" dirty="0">
                <a:solidFill>
                  <a:srgbClr val="000000"/>
                </a:solidFill>
                <a:latin typeface="Arial"/>
                <a:ea typeface="Arial"/>
                <a:cs typeface="Arial"/>
                <a:sym typeface="Arial"/>
              </a:rPr>
              <a:t> Databases with well-thought-out dependencies that provide maximum functionality are usually the ones that tend to outperform in query response. In the data has a logical structure, the search process becomes faster as time goes by.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Update Anomalies:</a:t>
            </a:r>
            <a:r>
              <a:rPr lang="en-US" sz="1875" b="0" i="0" u="none" strike="noStrike" cap="none" dirty="0">
                <a:solidFill>
                  <a:srgbClr val="000000"/>
                </a:solidFill>
                <a:latin typeface="Arial"/>
                <a:ea typeface="Arial"/>
                <a:cs typeface="Arial"/>
                <a:sym typeface="Arial"/>
              </a:rPr>
              <a:t> All major operations will be enabled by this through reduced anomalies in updates. An update anomaly happens when performing an action on one attribute results in the ratification other attributes or errors.</a:t>
            </a:r>
            <a:endParaRPr dirty="0"/>
          </a:p>
        </p:txBody>
      </p:sp>
      <p:sp>
        <p:nvSpPr>
          <p:cNvPr id="428" name="Google Shape;42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29" name="Google Shape;42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grpSp>
        <p:nvGrpSpPr>
          <p:cNvPr id="438" name="Google Shape;438;p19"/>
          <p:cNvGrpSpPr/>
          <p:nvPr/>
        </p:nvGrpSpPr>
        <p:grpSpPr>
          <a:xfrm>
            <a:off x="1524000" y="6356604"/>
            <a:ext cx="9144000" cy="88404"/>
            <a:chOff x="0" y="0"/>
            <a:chExt cx="13004800" cy="125730"/>
          </a:xfrm>
        </p:grpSpPr>
        <p:sp>
          <p:nvSpPr>
            <p:cNvPr id="439" name="Google Shape;439;p1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40" name="Google Shape;440;p1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41" name="Google Shape;441;p19"/>
          <p:cNvSpPr txBox="1"/>
          <p:nvPr/>
        </p:nvSpPr>
        <p:spPr>
          <a:xfrm>
            <a:off x="3918127" y="409001"/>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442" name="Google Shape;442;p19"/>
          <p:cNvSpPr txBox="1"/>
          <p:nvPr/>
        </p:nvSpPr>
        <p:spPr>
          <a:xfrm>
            <a:off x="1974611" y="1426321"/>
            <a:ext cx="8693390" cy="1494255"/>
          </a:xfrm>
          <a:prstGeom prst="rect">
            <a:avLst/>
          </a:prstGeom>
          <a:noFill/>
          <a:ln>
            <a:noFill/>
          </a:ln>
        </p:spPr>
        <p:txBody>
          <a:bodyPr spcFirstLastPara="1" wrap="square" lIns="0" tIns="0" rIns="0" bIns="0" anchor="t" anchorCtr="0">
            <a:spAutoFit/>
          </a:bodyPr>
          <a:lstStyle/>
          <a:p>
            <a:pPr marL="0" marR="0" lvl="0" indent="0" algn="just" rtl="0">
              <a:lnSpc>
                <a:spcPct val="120046"/>
              </a:lnSpc>
              <a:spcBef>
                <a:spcPts val="0"/>
              </a:spcBef>
              <a:spcAft>
                <a:spcPts val="0"/>
              </a:spcAft>
              <a:buNone/>
            </a:pPr>
            <a:r>
              <a:rPr lang="en-US" sz="2155" b="1">
                <a:solidFill>
                  <a:srgbClr val="000000"/>
                </a:solidFill>
                <a:latin typeface="Arial"/>
                <a:ea typeface="Arial"/>
                <a:cs typeface="Arial"/>
                <a:sym typeface="Arial"/>
              </a:rPr>
              <a:t>Types of Dependencies</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Partial Dependency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Full Dependency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Transitive Dependency</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443" name="Google Shape;443;p19"/>
          <p:cNvSpPr txBox="1"/>
          <p:nvPr/>
        </p:nvSpPr>
        <p:spPr>
          <a:xfrm>
            <a:off x="1974611" y="2873213"/>
            <a:ext cx="8350490"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a:t>
            </a:r>
            <a:r>
              <a:rPr lang="en-US" sz="1875" b="1">
                <a:solidFill>
                  <a:srgbClr val="000000"/>
                </a:solidFill>
                <a:latin typeface="Arial"/>
                <a:ea typeface="Arial"/>
                <a:cs typeface="Arial"/>
                <a:sym typeface="Arial"/>
              </a:rPr>
              <a:t>Partial Dependency</a:t>
            </a:r>
            <a:r>
              <a:rPr lang="en-US" sz="1875">
                <a:solidFill>
                  <a:srgbClr val="000000"/>
                </a:solidFill>
                <a:latin typeface="Arial"/>
                <a:ea typeface="Arial"/>
                <a:cs typeface="Arial"/>
                <a:sym typeface="Arial"/>
              </a:rPr>
              <a:t> occurs when a non-prime attribute (an attribute that is not part of any candidate key) depends on part of a composite primary key rather than the whole key.</a:t>
            </a:r>
            <a:endParaRPr/>
          </a:p>
        </p:txBody>
      </p:sp>
      <p:sp>
        <p:nvSpPr>
          <p:cNvPr id="444" name="Google Shape;444;p19"/>
          <p:cNvSpPr txBox="1"/>
          <p:nvPr/>
        </p:nvSpPr>
        <p:spPr>
          <a:xfrm>
            <a:off x="3121286" y="3908991"/>
            <a:ext cx="4645194"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a:solidFill>
                  <a:srgbClr val="000000"/>
                </a:solidFill>
                <a:latin typeface="Arial"/>
                <a:ea typeface="Arial"/>
                <a:cs typeface="Arial"/>
                <a:sym typeface="Arial"/>
              </a:rPr>
              <a:t>OrderID, ProductID, ProductName, Quantity</a:t>
            </a:r>
            <a:endParaRPr/>
          </a:p>
        </p:txBody>
      </p:sp>
      <p:sp>
        <p:nvSpPr>
          <p:cNvPr id="445" name="Google Shape;445;p19"/>
          <p:cNvSpPr txBox="1"/>
          <p:nvPr/>
        </p:nvSpPr>
        <p:spPr>
          <a:xfrm>
            <a:off x="1920756" y="4373356"/>
            <a:ext cx="8458200"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OrderID and ProductID together form the composite primary key.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ProductName depends only on ProductID (not on the whole composite key).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This is a Partial Dependency because ProductName is determined by a part of the composite key (ProductID), not the entire key.</a:t>
            </a:r>
            <a:endParaRPr/>
          </a:p>
        </p:txBody>
      </p:sp>
      <p:sp>
        <p:nvSpPr>
          <p:cNvPr id="446" name="Google Shape;44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47" name="Google Shape;44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grpSp>
        <p:nvGrpSpPr>
          <p:cNvPr id="456" name="Google Shape;456;p20"/>
          <p:cNvGrpSpPr/>
          <p:nvPr/>
        </p:nvGrpSpPr>
        <p:grpSpPr>
          <a:xfrm>
            <a:off x="1524000" y="6356604"/>
            <a:ext cx="9144000" cy="88404"/>
            <a:chOff x="0" y="0"/>
            <a:chExt cx="13004800" cy="125730"/>
          </a:xfrm>
        </p:grpSpPr>
        <p:sp>
          <p:nvSpPr>
            <p:cNvPr id="457" name="Google Shape;457;p2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58" name="Google Shape;458;p2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59" name="Google Shape;459;p20"/>
          <p:cNvSpPr txBox="1"/>
          <p:nvPr/>
        </p:nvSpPr>
        <p:spPr>
          <a:xfrm>
            <a:off x="1920756" y="1556494"/>
            <a:ext cx="8350490"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a:t>
            </a:r>
            <a:r>
              <a:rPr lang="en-US" sz="1875" b="1">
                <a:solidFill>
                  <a:srgbClr val="000000"/>
                </a:solidFill>
                <a:latin typeface="Arial"/>
                <a:ea typeface="Arial"/>
                <a:cs typeface="Arial"/>
                <a:sym typeface="Arial"/>
              </a:rPr>
              <a:t>Full Dependency</a:t>
            </a:r>
            <a:r>
              <a:rPr lang="en-US" sz="1875">
                <a:solidFill>
                  <a:srgbClr val="000000"/>
                </a:solidFill>
                <a:latin typeface="Arial"/>
                <a:ea typeface="Arial"/>
                <a:cs typeface="Arial"/>
                <a:sym typeface="Arial"/>
              </a:rPr>
              <a:t> occurs when a non-prime attribute depends on all parts of a composite primary key and not just a subset.</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Example:</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OrderID, ProductID, Quantity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Quantity depends on both OrderID and ProductID.</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This is a Full Dependency because Quantity depends on the entire composite primary key.</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460" name="Google Shape;460;p20"/>
          <p:cNvSpPr/>
          <p:nvPr/>
        </p:nvSpPr>
        <p:spPr>
          <a:xfrm>
            <a:off x="1920755" y="3687493"/>
            <a:ext cx="8233536" cy="2484708"/>
          </a:xfrm>
          <a:custGeom>
            <a:avLst/>
            <a:gdLst/>
            <a:ahLst/>
            <a:cxnLst/>
            <a:rect l="l" t="t" r="r" b="b"/>
            <a:pathLst>
              <a:path w="8782438" h="2650355" extrusionOk="0">
                <a:moveTo>
                  <a:pt x="0" y="0"/>
                </a:moveTo>
                <a:lnTo>
                  <a:pt x="8782438" y="0"/>
                </a:lnTo>
                <a:lnTo>
                  <a:pt x="8782438" y="2650355"/>
                </a:lnTo>
                <a:lnTo>
                  <a:pt x="0" y="2650355"/>
                </a:lnTo>
                <a:lnTo>
                  <a:pt x="0" y="0"/>
                </a:lnTo>
                <a:close/>
              </a:path>
            </a:pathLst>
          </a:custGeom>
          <a:blipFill rotWithShape="1">
            <a:blip r:embed="rId3">
              <a:alphaModFix/>
            </a:blip>
            <a:stretch>
              <a:fillRect r="-2732"/>
            </a:stretch>
          </a:blipFill>
          <a:ln>
            <a:noFill/>
          </a:ln>
        </p:spPr>
      </p:sp>
      <p:sp>
        <p:nvSpPr>
          <p:cNvPr id="461" name="Google Shape;461;p20"/>
          <p:cNvSpPr txBox="1"/>
          <p:nvPr/>
        </p:nvSpPr>
        <p:spPr>
          <a:xfrm>
            <a:off x="3918127" y="409001"/>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462" name="Google Shape;46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63" name="Google Shape;46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grpSp>
        <p:nvGrpSpPr>
          <p:cNvPr id="472" name="Google Shape;472;p21"/>
          <p:cNvGrpSpPr/>
          <p:nvPr/>
        </p:nvGrpSpPr>
        <p:grpSpPr>
          <a:xfrm>
            <a:off x="1524000" y="6356604"/>
            <a:ext cx="9144000" cy="88404"/>
            <a:chOff x="0" y="0"/>
            <a:chExt cx="13004800" cy="125730"/>
          </a:xfrm>
        </p:grpSpPr>
        <p:sp>
          <p:nvSpPr>
            <p:cNvPr id="473" name="Google Shape;473;p2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74" name="Google Shape;474;p2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75" name="Google Shape;475;p21"/>
          <p:cNvSpPr/>
          <p:nvPr/>
        </p:nvSpPr>
        <p:spPr>
          <a:xfrm>
            <a:off x="8939248" y="3052650"/>
            <a:ext cx="3034013" cy="2330153"/>
          </a:xfrm>
          <a:custGeom>
            <a:avLst/>
            <a:gdLst/>
            <a:ahLst/>
            <a:cxnLst/>
            <a:rect l="l" t="t" r="r" b="b"/>
            <a:pathLst>
              <a:path w="3469602" h="2485497" extrusionOk="0">
                <a:moveTo>
                  <a:pt x="0" y="0"/>
                </a:moveTo>
                <a:lnTo>
                  <a:pt x="3469603" y="0"/>
                </a:lnTo>
                <a:lnTo>
                  <a:pt x="3469603" y="2485497"/>
                </a:lnTo>
                <a:lnTo>
                  <a:pt x="0" y="2485497"/>
                </a:lnTo>
                <a:lnTo>
                  <a:pt x="0" y="0"/>
                </a:lnTo>
                <a:close/>
              </a:path>
            </a:pathLst>
          </a:custGeom>
          <a:blipFill rotWithShape="1">
            <a:blip r:embed="rId3">
              <a:alphaModFix/>
            </a:blip>
            <a:stretch>
              <a:fillRect/>
            </a:stretch>
          </a:blipFill>
          <a:ln>
            <a:noFill/>
          </a:ln>
        </p:spPr>
      </p:sp>
      <p:sp>
        <p:nvSpPr>
          <p:cNvPr id="476" name="Google Shape;476;p21"/>
          <p:cNvSpPr txBox="1"/>
          <p:nvPr/>
        </p:nvSpPr>
        <p:spPr>
          <a:xfrm>
            <a:off x="1920755" y="1178768"/>
            <a:ext cx="8350490" cy="2084160"/>
          </a:xfrm>
          <a:prstGeom prst="rect">
            <a:avLst/>
          </a:prstGeom>
          <a:noFill/>
          <a:ln>
            <a:noFill/>
          </a:ln>
        </p:spPr>
        <p:txBody>
          <a:bodyPr spcFirstLastPara="1" wrap="square" lIns="0" tIns="0" rIns="0" bIns="0" anchor="t" anchorCtr="0">
            <a:spAutoFit/>
          </a:bodyPr>
          <a:lstStyle/>
          <a:p>
            <a:pPr marL="0" marR="0" lvl="0" indent="0" algn="just" rtl="0">
              <a:lnSpc>
                <a:spcPct val="120046"/>
              </a:lnSpc>
              <a:spcBef>
                <a:spcPts val="0"/>
              </a:spcBef>
              <a:spcAft>
                <a:spcPts val="0"/>
              </a:spcAft>
              <a:buNone/>
            </a:pPr>
            <a:r>
              <a:rPr lang="en-US" sz="2155" b="1" dirty="0">
                <a:solidFill>
                  <a:srgbClr val="000000"/>
                </a:solidFill>
                <a:latin typeface="Arial"/>
                <a:ea typeface="Arial"/>
                <a:cs typeface="Arial"/>
                <a:sym typeface="Arial"/>
              </a:rPr>
              <a:t>Transitive Dependency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If the value of a non-primary attribute can be defined using another non-primary attribute, then it is called a transitive dependency.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When any attribute does not require primary key and can easily get value using another non-primary attribute then it is called as Transitive Dependency.</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477" name="Google Shape;477;p21"/>
          <p:cNvSpPr txBox="1"/>
          <p:nvPr/>
        </p:nvSpPr>
        <p:spPr>
          <a:xfrm>
            <a:off x="3918127" y="409001"/>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478" name="Google Shape;478;p21"/>
          <p:cNvSpPr txBox="1"/>
          <p:nvPr/>
        </p:nvSpPr>
        <p:spPr>
          <a:xfrm>
            <a:off x="1935995" y="3429000"/>
            <a:ext cx="6702396" cy="138499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Let's take an example, we have a table where we have columns of student roll number, name, city where student live, and zip-code of city .</a:t>
            </a:r>
            <a:endParaRPr dirty="0"/>
          </a:p>
        </p:txBody>
      </p:sp>
      <p:sp>
        <p:nvSpPr>
          <p:cNvPr id="479" name="Google Shape;479;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80" name="Google Shape;480;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grpSp>
        <p:nvGrpSpPr>
          <p:cNvPr id="489" name="Google Shape;489;p22"/>
          <p:cNvGrpSpPr/>
          <p:nvPr/>
        </p:nvGrpSpPr>
        <p:grpSpPr>
          <a:xfrm>
            <a:off x="1524000" y="6356604"/>
            <a:ext cx="9144000" cy="88404"/>
            <a:chOff x="0" y="0"/>
            <a:chExt cx="13004800" cy="125730"/>
          </a:xfrm>
        </p:grpSpPr>
        <p:sp>
          <p:nvSpPr>
            <p:cNvPr id="490" name="Google Shape;490;p2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91" name="Google Shape;491;p2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92" name="Google Shape;492;p22"/>
          <p:cNvSpPr txBox="1"/>
          <p:nvPr/>
        </p:nvSpPr>
        <p:spPr>
          <a:xfrm>
            <a:off x="1920756" y="1504959"/>
            <a:ext cx="4975666" cy="4110356"/>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Here the primary key is roll_no but we can identify the city using zip-code where city and zip-code both are the primary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So here roll_no → city and city→zip-code eventually resulting into roll_no →zip-code. so, we can find a non-primary attribute using another non-primary attribute. For example, roll-no = 1 has city=pune and city=pune will have zip-code=411044.So wherever city is pune , zip-code will be 411044</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This type of functional Dependency is known as Transitive Dependency.</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493" name="Google Shape;493;p22"/>
          <p:cNvSpPr txBox="1"/>
          <p:nvPr/>
        </p:nvSpPr>
        <p:spPr>
          <a:xfrm>
            <a:off x="3918127" y="409001"/>
            <a:ext cx="623616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Functional Dependency</a:t>
            </a:r>
            <a:endParaRPr/>
          </a:p>
        </p:txBody>
      </p:sp>
      <p:sp>
        <p:nvSpPr>
          <p:cNvPr id="494" name="Google Shape;494;p22"/>
          <p:cNvSpPr/>
          <p:nvPr/>
        </p:nvSpPr>
        <p:spPr>
          <a:xfrm>
            <a:off x="7036590" y="1873584"/>
            <a:ext cx="3631791" cy="3676813"/>
          </a:xfrm>
          <a:custGeom>
            <a:avLst/>
            <a:gdLst/>
            <a:ahLst/>
            <a:cxnLst/>
            <a:rect l="l" t="t" r="r" b="b"/>
            <a:pathLst>
              <a:path w="3873910" h="3921934" extrusionOk="0">
                <a:moveTo>
                  <a:pt x="0" y="0"/>
                </a:moveTo>
                <a:lnTo>
                  <a:pt x="3873910" y="0"/>
                </a:lnTo>
                <a:lnTo>
                  <a:pt x="3873910" y="3921934"/>
                </a:lnTo>
                <a:lnTo>
                  <a:pt x="0" y="3921934"/>
                </a:lnTo>
                <a:lnTo>
                  <a:pt x="0" y="0"/>
                </a:lnTo>
                <a:close/>
              </a:path>
            </a:pathLst>
          </a:custGeom>
          <a:blipFill rotWithShape="1">
            <a:blip r:embed="rId3">
              <a:alphaModFix/>
            </a:blip>
            <a:stretch>
              <a:fillRect/>
            </a:stretch>
          </a:blipFill>
          <a:ln>
            <a:noFill/>
          </a:ln>
        </p:spPr>
      </p:sp>
      <p:sp>
        <p:nvSpPr>
          <p:cNvPr id="495" name="Google Shape;49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496" name="Google Shape;49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grpSp>
        <p:nvGrpSpPr>
          <p:cNvPr id="505" name="Google Shape;505;p23"/>
          <p:cNvGrpSpPr/>
          <p:nvPr/>
        </p:nvGrpSpPr>
        <p:grpSpPr>
          <a:xfrm>
            <a:off x="1524000" y="6356604"/>
            <a:ext cx="9144000" cy="88404"/>
            <a:chOff x="0" y="0"/>
            <a:chExt cx="13004800" cy="125730"/>
          </a:xfrm>
        </p:grpSpPr>
        <p:sp>
          <p:nvSpPr>
            <p:cNvPr id="506" name="Google Shape;506;p2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07" name="Google Shape;507;p2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08" name="Google Shape;508;p23"/>
          <p:cNvSpPr txBox="1"/>
          <p:nvPr/>
        </p:nvSpPr>
        <p:spPr>
          <a:xfrm>
            <a:off x="1920755" y="1291420"/>
            <a:ext cx="8355245" cy="3815403"/>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Join Dependency (JD) </a:t>
            </a:r>
            <a:r>
              <a:rPr lang="en-US" sz="1875" b="0" i="0" u="none" strike="noStrike" cap="none" dirty="0">
                <a:solidFill>
                  <a:srgbClr val="000000"/>
                </a:solidFill>
                <a:latin typeface="Arial"/>
                <a:ea typeface="Arial"/>
                <a:cs typeface="Arial"/>
                <a:sym typeface="Arial"/>
              </a:rPr>
              <a:t>can be illustrated as when the relation R is equal to the join of the sub-relations R1, R2,..., and Rn are present in the database. Join Dependency arises when the attributes in one relation are dependent on attributes in another relation, which means certain rows will exist in the table if there is the same row in another table. Multiple tables are joined to create a single table where one of the attributes is common in the sub-tables. We can also relate the join dependency to the 5th Normal Form. A join dependency is said to be not that important if any relational schemas in the join dependency are equivalent to the original relation R.</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Join dependency on a database is denoted by: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      </a:t>
            </a:r>
            <a:r>
              <a:rPr lang="en-US" sz="1875" i="1" dirty="0">
                <a:solidFill>
                  <a:srgbClr val="000000"/>
                </a:solidFill>
                <a:latin typeface="Arial"/>
                <a:ea typeface="Arial"/>
                <a:cs typeface="Arial"/>
                <a:sym typeface="Arial"/>
              </a:rPr>
              <a:t>R1 ⨝ R2 ⨝ R3 ⨝ ..... ⨝ Rn ; </a:t>
            </a:r>
            <a:endParaRPr dirty="0"/>
          </a:p>
          <a:p>
            <a:pPr marL="0" marR="0" lvl="0" indent="0" algn="just" rtl="0">
              <a:lnSpc>
                <a:spcPct val="120000"/>
              </a:lnSpc>
              <a:spcBef>
                <a:spcPts val="0"/>
              </a:spcBef>
              <a:spcAft>
                <a:spcPts val="0"/>
              </a:spcAft>
              <a:buNone/>
            </a:pPr>
            <a:endParaRPr sz="1875" i="1"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endParaRPr sz="1875" i="1" dirty="0">
              <a:solidFill>
                <a:srgbClr val="000000"/>
              </a:solidFill>
              <a:latin typeface="Arial"/>
              <a:ea typeface="Arial"/>
              <a:cs typeface="Arial"/>
              <a:sym typeface="Arial"/>
            </a:endParaRPr>
          </a:p>
        </p:txBody>
      </p:sp>
      <p:sp>
        <p:nvSpPr>
          <p:cNvPr id="509" name="Google Shape;509;p23"/>
          <p:cNvSpPr txBox="1"/>
          <p:nvPr/>
        </p:nvSpPr>
        <p:spPr>
          <a:xfrm>
            <a:off x="4648398" y="409001"/>
            <a:ext cx="356716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Join Dependency</a:t>
            </a:r>
            <a:endParaRPr/>
          </a:p>
        </p:txBody>
      </p:sp>
      <p:sp>
        <p:nvSpPr>
          <p:cNvPr id="510" name="Google Shape;510;p23"/>
          <p:cNvSpPr txBox="1"/>
          <p:nvPr/>
        </p:nvSpPr>
        <p:spPr>
          <a:xfrm>
            <a:off x="2312755" y="5203642"/>
            <a:ext cx="7963245" cy="57092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where R1 , R2, ... , Rn are the relations and ⨝ represents the natural join operator.</a:t>
            </a:r>
            <a:endParaRPr dirty="0"/>
          </a:p>
        </p:txBody>
      </p:sp>
      <p:sp>
        <p:nvSpPr>
          <p:cNvPr id="511" name="Google Shape;51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12" name="Google Shape;51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grpSp>
        <p:nvGrpSpPr>
          <p:cNvPr id="521" name="Google Shape;521;p24"/>
          <p:cNvGrpSpPr/>
          <p:nvPr/>
        </p:nvGrpSpPr>
        <p:grpSpPr>
          <a:xfrm>
            <a:off x="1524000" y="6356604"/>
            <a:ext cx="9144000" cy="88404"/>
            <a:chOff x="0" y="0"/>
            <a:chExt cx="13004800" cy="125730"/>
          </a:xfrm>
        </p:grpSpPr>
        <p:sp>
          <p:nvSpPr>
            <p:cNvPr id="522" name="Google Shape;522;p2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23" name="Google Shape;523;p2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24" name="Google Shape;524;p24"/>
          <p:cNvSpPr txBox="1"/>
          <p:nvPr/>
        </p:nvSpPr>
        <p:spPr>
          <a:xfrm>
            <a:off x="1108039" y="821853"/>
            <a:ext cx="9735670" cy="276998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Types of Join Dependency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There are two types of Join Dependencies: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Lossless Join Dependency: It means that whenever the join occurs between the tables, then no information should be lost, the new table must have all the content in the original table.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Lossy Join Dependency: In this type of join dependency, data loss may occur at some point in time which includes the absence of a tuple from the original table or duplicate tuples within the database.</a:t>
            </a:r>
            <a:endParaRPr sz="1875" dirty="0">
              <a:solidFill>
                <a:srgbClr val="000000"/>
              </a:solidFill>
              <a:latin typeface="Arial"/>
              <a:ea typeface="Arial"/>
              <a:cs typeface="Arial"/>
              <a:sym typeface="Arial"/>
            </a:endParaRPr>
          </a:p>
        </p:txBody>
      </p:sp>
      <p:sp>
        <p:nvSpPr>
          <p:cNvPr id="525" name="Google Shape;525;p24"/>
          <p:cNvSpPr txBox="1"/>
          <p:nvPr/>
        </p:nvSpPr>
        <p:spPr>
          <a:xfrm>
            <a:off x="4586237" y="205272"/>
            <a:ext cx="356716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Join Dependency</a:t>
            </a:r>
            <a:endParaRPr dirty="0"/>
          </a:p>
        </p:txBody>
      </p:sp>
      <p:sp>
        <p:nvSpPr>
          <p:cNvPr id="526" name="Google Shape;526;p24"/>
          <p:cNvSpPr txBox="1"/>
          <p:nvPr/>
        </p:nvSpPr>
        <p:spPr>
          <a:xfrm>
            <a:off x="1108039" y="3536490"/>
            <a:ext cx="9832488" cy="276998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Importance of Join Dependencies</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Data Integrity: </a:t>
            </a:r>
            <a:r>
              <a:rPr lang="en-US" sz="1875" dirty="0">
                <a:solidFill>
                  <a:srgbClr val="000000"/>
                </a:solidFill>
                <a:latin typeface="Arial"/>
                <a:ea typeface="Arial"/>
                <a:cs typeface="Arial"/>
                <a:sym typeface="Arial"/>
              </a:rPr>
              <a:t>Join Dependency helps maintain data integrity in a database. Database designers can make sure that the queries are consistent after checking for the dependencies. This will remove the data that is not accurate. </a:t>
            </a:r>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Query Optimization:</a:t>
            </a:r>
            <a:r>
              <a:rPr lang="en-US" sz="1875" dirty="0">
                <a:solidFill>
                  <a:srgbClr val="000000"/>
                </a:solidFill>
                <a:latin typeface="Arial"/>
                <a:ea typeface="Arial"/>
                <a:cs typeface="Arial"/>
                <a:sym typeface="Arial"/>
              </a:rPr>
              <a:t> Query optimization leads to improving the performance of the database system. The database designers can choose the best join order to execute the queries which in turn reduces the computational costs, memory utilization and </a:t>
            </a:r>
            <a:r>
              <a:rPr lang="en-US" sz="1875" dirty="0" err="1">
                <a:solidFill>
                  <a:srgbClr val="000000"/>
                </a:solidFill>
                <a:latin typeface="Arial"/>
                <a:ea typeface="Arial"/>
                <a:cs typeface="Arial"/>
                <a:sym typeface="Arial"/>
              </a:rPr>
              <a:t>i</a:t>
            </a:r>
            <a:r>
              <a:rPr lang="en-US" sz="1875" dirty="0">
                <a:solidFill>
                  <a:srgbClr val="000000"/>
                </a:solidFill>
                <a:latin typeface="Arial"/>
                <a:ea typeface="Arial"/>
                <a:cs typeface="Arial"/>
                <a:sym typeface="Arial"/>
              </a:rPr>
              <a:t>/o operations to get the queries executed quickly.</a:t>
            </a:r>
            <a:endParaRPr dirty="0"/>
          </a:p>
        </p:txBody>
      </p:sp>
      <p:sp>
        <p:nvSpPr>
          <p:cNvPr id="527" name="Google Shape;52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28" name="Google Shape;52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grpSp>
        <p:nvGrpSpPr>
          <p:cNvPr id="537" name="Google Shape;537;p25"/>
          <p:cNvGrpSpPr/>
          <p:nvPr/>
        </p:nvGrpSpPr>
        <p:grpSpPr>
          <a:xfrm>
            <a:off x="1524000" y="6356604"/>
            <a:ext cx="9144000" cy="88404"/>
            <a:chOff x="0" y="0"/>
            <a:chExt cx="13004800" cy="125730"/>
          </a:xfrm>
        </p:grpSpPr>
        <p:sp>
          <p:nvSpPr>
            <p:cNvPr id="538" name="Google Shape;538;p2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39" name="Google Shape;539;p2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40" name="Google Shape;540;p25"/>
          <p:cNvSpPr/>
          <p:nvPr/>
        </p:nvSpPr>
        <p:spPr>
          <a:xfrm>
            <a:off x="1827177" y="3131780"/>
            <a:ext cx="8446447" cy="1748622"/>
          </a:xfrm>
          <a:custGeom>
            <a:avLst/>
            <a:gdLst/>
            <a:ahLst/>
            <a:cxnLst/>
            <a:rect l="l" t="t" r="r" b="b"/>
            <a:pathLst>
              <a:path w="9009543" h="1865197" extrusionOk="0">
                <a:moveTo>
                  <a:pt x="0" y="0"/>
                </a:moveTo>
                <a:lnTo>
                  <a:pt x="9009543" y="0"/>
                </a:lnTo>
                <a:lnTo>
                  <a:pt x="9009543" y="1865196"/>
                </a:lnTo>
                <a:lnTo>
                  <a:pt x="0" y="1865196"/>
                </a:lnTo>
                <a:lnTo>
                  <a:pt x="0" y="0"/>
                </a:lnTo>
                <a:close/>
              </a:path>
            </a:pathLst>
          </a:custGeom>
          <a:blipFill rotWithShape="1">
            <a:blip r:embed="rId3">
              <a:alphaModFix/>
            </a:blip>
            <a:stretch>
              <a:fillRect r="-4820"/>
            </a:stretch>
          </a:blipFill>
          <a:ln>
            <a:noFill/>
          </a:ln>
        </p:spPr>
      </p:sp>
      <p:sp>
        <p:nvSpPr>
          <p:cNvPr id="541" name="Google Shape;541;p25"/>
          <p:cNvSpPr txBox="1"/>
          <p:nvPr/>
        </p:nvSpPr>
        <p:spPr>
          <a:xfrm>
            <a:off x="1918378" y="1747595"/>
            <a:ext cx="8355245"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When one attribute in a database depends on another attribute and has many independent values, it is said to have multivalued dependency (MVD). It supports maintaining data accuracy and managing intricate data interactions.</a:t>
            </a:r>
            <a:endParaRPr/>
          </a:p>
        </p:txBody>
      </p:sp>
      <p:sp>
        <p:nvSpPr>
          <p:cNvPr id="542" name="Google Shape;542;p25"/>
          <p:cNvSpPr txBox="1"/>
          <p:nvPr/>
        </p:nvSpPr>
        <p:spPr>
          <a:xfrm>
            <a:off x="3546650" y="616056"/>
            <a:ext cx="520825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Multivalued Dependency</a:t>
            </a:r>
            <a:endParaRPr/>
          </a:p>
        </p:txBody>
      </p:sp>
      <p:sp>
        <p:nvSpPr>
          <p:cNvPr id="543" name="Google Shape;543;p25"/>
          <p:cNvSpPr txBox="1"/>
          <p:nvPr/>
        </p:nvSpPr>
        <p:spPr>
          <a:xfrm>
            <a:off x="1918377" y="1375767"/>
            <a:ext cx="5208259" cy="31303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000000"/>
                </a:solidFill>
                <a:latin typeface="Arimo"/>
                <a:ea typeface="Arimo"/>
                <a:cs typeface="Arimo"/>
                <a:sym typeface="Arimo"/>
              </a:rPr>
              <a:t>Multivalued Dependency</a:t>
            </a:r>
            <a:endParaRPr/>
          </a:p>
        </p:txBody>
      </p:sp>
      <p:sp>
        <p:nvSpPr>
          <p:cNvPr id="544" name="Google Shape;544;p25"/>
          <p:cNvSpPr txBox="1"/>
          <p:nvPr/>
        </p:nvSpPr>
        <p:spPr>
          <a:xfrm>
            <a:off x="1744206" y="2734640"/>
            <a:ext cx="4455601"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a:solidFill>
                  <a:srgbClr val="000000"/>
                </a:solidFill>
                <a:latin typeface="Arial"/>
                <a:ea typeface="Arial"/>
                <a:cs typeface="Arial"/>
                <a:sym typeface="Arial"/>
              </a:rPr>
              <a:t> Example of Multivalued Dependency:</a:t>
            </a:r>
            <a:endParaRPr/>
          </a:p>
        </p:txBody>
      </p:sp>
      <p:sp>
        <p:nvSpPr>
          <p:cNvPr id="545" name="Google Shape;545;p25"/>
          <p:cNvSpPr/>
          <p:nvPr/>
        </p:nvSpPr>
        <p:spPr>
          <a:xfrm>
            <a:off x="6373978" y="4474376"/>
            <a:ext cx="4294403" cy="1748622"/>
          </a:xfrm>
          <a:custGeom>
            <a:avLst/>
            <a:gdLst/>
            <a:ahLst/>
            <a:cxnLst/>
            <a:rect l="l" t="t" r="r" b="b"/>
            <a:pathLst>
              <a:path w="4580697" h="2230142" extrusionOk="0">
                <a:moveTo>
                  <a:pt x="0" y="0"/>
                </a:moveTo>
                <a:lnTo>
                  <a:pt x="4580697" y="0"/>
                </a:lnTo>
                <a:lnTo>
                  <a:pt x="4580697" y="2230142"/>
                </a:lnTo>
                <a:lnTo>
                  <a:pt x="0" y="2230142"/>
                </a:lnTo>
                <a:lnTo>
                  <a:pt x="0" y="0"/>
                </a:lnTo>
                <a:close/>
              </a:path>
            </a:pathLst>
          </a:custGeom>
          <a:blipFill rotWithShape="1">
            <a:blip r:embed="rId4">
              <a:alphaModFix/>
            </a:blip>
            <a:stretch>
              <a:fillRect t="-8288" r="-11617"/>
            </a:stretch>
          </a:blipFill>
          <a:ln>
            <a:noFill/>
          </a:ln>
        </p:spPr>
      </p:sp>
      <p:sp>
        <p:nvSpPr>
          <p:cNvPr id="546" name="Google Shape;54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47" name="Google Shape;54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6"/>
          <p:cNvSpPr txBox="1">
            <a:spLocks noGrp="1"/>
          </p:cNvSpPr>
          <p:nvPr>
            <p:ph type="title"/>
          </p:nvPr>
        </p:nvSpPr>
        <p:spPr>
          <a:xfrm>
            <a:off x="2514600" y="1066800"/>
            <a:ext cx="7924800" cy="609600"/>
          </a:xfrm>
          <a:prstGeom prst="rect">
            <a:avLst/>
          </a:prstGeom>
          <a:noFill/>
          <a:ln>
            <a:noFill/>
          </a:ln>
        </p:spPr>
        <p:txBody>
          <a:bodyPr spcFirstLastPara="1" wrap="square" lIns="91425" tIns="45700" rIns="91425" bIns="45700" anchor="ctr" anchorCtr="0">
            <a:noAutofit/>
          </a:bodyPr>
          <a:lstStyle/>
          <a:p>
            <a:pPr marL="0" lvl="0" indent="0" algn="ctr" rtl="0">
              <a:lnSpc>
                <a:spcPct val="120024"/>
              </a:lnSpc>
              <a:spcBef>
                <a:spcPts val="0"/>
              </a:spcBef>
              <a:spcAft>
                <a:spcPts val="0"/>
              </a:spcAft>
              <a:buClr>
                <a:srgbClr val="FF0000"/>
              </a:buClr>
              <a:buSzPts val="4400"/>
              <a:buFont typeface="Arimo"/>
              <a:buNone/>
            </a:pPr>
            <a:r>
              <a:rPr lang="en-US" sz="3281" b="1">
                <a:solidFill>
                  <a:srgbClr val="C00000"/>
                </a:solidFill>
                <a:latin typeface="Arimo"/>
                <a:ea typeface="Arimo"/>
                <a:cs typeface="Arimo"/>
                <a:sym typeface="Arimo"/>
              </a:rPr>
              <a:t>Introduction to Normalization </a:t>
            </a:r>
            <a:endParaRPr sz="3281" b="1">
              <a:solidFill>
                <a:srgbClr val="C00000"/>
              </a:solidFill>
              <a:latin typeface="Arimo"/>
              <a:ea typeface="Arimo"/>
              <a:cs typeface="Arimo"/>
              <a:sym typeface="Arimo"/>
            </a:endParaRPr>
          </a:p>
        </p:txBody>
      </p:sp>
      <p:sp>
        <p:nvSpPr>
          <p:cNvPr id="553" name="Google Shape;553;p26"/>
          <p:cNvSpPr txBox="1">
            <a:spLocks noGrp="1"/>
          </p:cNvSpPr>
          <p:nvPr>
            <p:ph type="body" idx="1"/>
          </p:nvPr>
        </p:nvSpPr>
        <p:spPr>
          <a:xfrm>
            <a:off x="2438400" y="1752600"/>
            <a:ext cx="8001000" cy="4495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000"/>
              <a:buChar char="•"/>
            </a:pPr>
            <a:r>
              <a:rPr lang="en-US" sz="1879" b="1">
                <a:latin typeface="Arial"/>
                <a:ea typeface="Arial"/>
                <a:cs typeface="Arial"/>
                <a:sym typeface="Arial"/>
              </a:rPr>
              <a:t>Normalization</a:t>
            </a:r>
            <a:r>
              <a:rPr lang="en-US" sz="1879">
                <a:latin typeface="Arial"/>
                <a:ea typeface="Arial"/>
                <a:cs typeface="Arial"/>
                <a:sym typeface="Arial"/>
              </a:rPr>
              <a:t>: Process of decomposing unsatisfactory "bad" relations by breaking up their attributes into smaller relations</a:t>
            </a:r>
            <a:endParaRPr sz="1879">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Char char="•"/>
            </a:pPr>
            <a:r>
              <a:rPr lang="en-US" sz="1879">
                <a:latin typeface="Arial"/>
                <a:ea typeface="Arial"/>
                <a:cs typeface="Arial"/>
                <a:sym typeface="Arial"/>
              </a:rPr>
              <a:t>Normalization is the process of removing redundant data from your tables in order to improve storage efficiency, data integrity and scalability. </a:t>
            </a:r>
            <a:endParaRPr sz="1879">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Char char="•"/>
            </a:pPr>
            <a:r>
              <a:rPr lang="en-US" sz="1879">
                <a:latin typeface="Arial"/>
                <a:ea typeface="Arial"/>
                <a:cs typeface="Arial"/>
                <a:sym typeface="Arial"/>
              </a:rPr>
              <a:t>This improvement is balanced against an increase in complexity and potential performance losses from the joining of the normalized tables at query-time. </a:t>
            </a:r>
            <a:endParaRPr sz="1879">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Char char="•"/>
            </a:pPr>
            <a:r>
              <a:rPr lang="en-US" sz="1879">
                <a:latin typeface="Arial"/>
                <a:ea typeface="Arial"/>
                <a:cs typeface="Arial"/>
                <a:sym typeface="Arial"/>
              </a:rPr>
              <a:t>There are two goals of the normalization process: eliminating redundant data (for example, storing the same data in more than one table) and ensuring data dependencies make sense (only storing related data in a table). Both of these are worthy goals as they reduce the amount of space a database consumes and ensure that data is logically stored.</a:t>
            </a:r>
            <a:endParaRPr sz="1879">
              <a:latin typeface="Arial"/>
              <a:ea typeface="Arial"/>
              <a:cs typeface="Arial"/>
              <a:sym typeface="Arial"/>
            </a:endParaRPr>
          </a:p>
        </p:txBody>
      </p:sp>
      <p:sp>
        <p:nvSpPr>
          <p:cNvPr id="554" name="Google Shape;554;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55" name="Google Shape;555;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27"/>
          <p:cNvSpPr txBox="1">
            <a:spLocks noGrp="1"/>
          </p:cNvSpPr>
          <p:nvPr>
            <p:ph type="title"/>
          </p:nvPr>
        </p:nvSpPr>
        <p:spPr>
          <a:xfrm>
            <a:off x="2209800" y="784225"/>
            <a:ext cx="7924800" cy="609600"/>
          </a:xfrm>
          <a:prstGeom prst="rect">
            <a:avLst/>
          </a:prstGeom>
          <a:noFill/>
          <a:ln>
            <a:noFill/>
          </a:ln>
        </p:spPr>
        <p:txBody>
          <a:bodyPr spcFirstLastPara="1" wrap="square" lIns="91425" tIns="45700" rIns="91425" bIns="45700" anchor="ctr" anchorCtr="0">
            <a:noAutofit/>
          </a:bodyPr>
          <a:lstStyle/>
          <a:p>
            <a:pPr marL="0" lvl="0" indent="0" algn="ctr" rtl="0">
              <a:lnSpc>
                <a:spcPct val="120024"/>
              </a:lnSpc>
              <a:spcBef>
                <a:spcPts val="0"/>
              </a:spcBef>
              <a:spcAft>
                <a:spcPts val="0"/>
              </a:spcAft>
              <a:buClr>
                <a:srgbClr val="FF0000"/>
              </a:buClr>
              <a:buSzPts val="4400"/>
              <a:buFont typeface="Arimo"/>
              <a:buNone/>
            </a:pPr>
            <a:r>
              <a:rPr lang="en-US" sz="3281" b="1">
                <a:solidFill>
                  <a:srgbClr val="C00000"/>
                </a:solidFill>
                <a:latin typeface="Arimo"/>
                <a:ea typeface="Arimo"/>
                <a:cs typeface="Arimo"/>
                <a:sym typeface="Arimo"/>
              </a:rPr>
              <a:t>Introduction to Normalization </a:t>
            </a:r>
            <a:endParaRPr sz="3281" b="1">
              <a:solidFill>
                <a:srgbClr val="C00000"/>
              </a:solidFill>
              <a:latin typeface="Arimo"/>
              <a:ea typeface="Arimo"/>
              <a:cs typeface="Arimo"/>
              <a:sym typeface="Arimo"/>
            </a:endParaRPr>
          </a:p>
        </p:txBody>
      </p:sp>
      <p:sp>
        <p:nvSpPr>
          <p:cNvPr id="561" name="Google Shape;561;p27"/>
          <p:cNvSpPr txBox="1">
            <a:spLocks noGrp="1"/>
          </p:cNvSpPr>
          <p:nvPr>
            <p:ph type="body" idx="1"/>
          </p:nvPr>
        </p:nvSpPr>
        <p:spPr>
          <a:xfrm>
            <a:off x="2427514" y="1577975"/>
            <a:ext cx="8001000" cy="449580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1900"/>
              <a:buNone/>
            </a:pPr>
            <a:r>
              <a:rPr lang="en-US" sz="1900" b="1">
                <a:latin typeface="Arial"/>
                <a:ea typeface="Arial"/>
                <a:cs typeface="Arial"/>
                <a:sym typeface="Arial"/>
              </a:rPr>
              <a:t>Normal form</a:t>
            </a:r>
            <a:r>
              <a:rPr lang="en-US" sz="1900">
                <a:latin typeface="Arial"/>
                <a:ea typeface="Arial"/>
                <a:cs typeface="Arial"/>
                <a:sym typeface="Arial"/>
              </a:rPr>
              <a:t>: Condition using keys and FDs of a relation to certify whether a relation schema is in a particular normal form</a:t>
            </a:r>
            <a:endParaRPr sz="1900">
              <a:latin typeface="Arial"/>
              <a:ea typeface="Arial"/>
              <a:cs typeface="Arial"/>
              <a:sym typeface="Arial"/>
            </a:endParaRPr>
          </a:p>
          <a:p>
            <a:pPr marL="742950" lvl="1" indent="-285750" algn="just" rtl="0">
              <a:lnSpc>
                <a:spcPct val="90000"/>
              </a:lnSpc>
              <a:spcBef>
                <a:spcPts val="370"/>
              </a:spcBef>
              <a:spcAft>
                <a:spcPts val="0"/>
              </a:spcAft>
              <a:buClr>
                <a:schemeClr val="dk1"/>
              </a:buClr>
              <a:buSzPts val="1900"/>
              <a:buChar char="–"/>
            </a:pPr>
            <a:r>
              <a:rPr lang="en-US" sz="1900">
                <a:latin typeface="Arial"/>
                <a:ea typeface="Arial"/>
                <a:cs typeface="Arial"/>
                <a:sym typeface="Arial"/>
              </a:rPr>
              <a:t>2NF, 3NF, BCNF based on keys and FDs of a relation schema</a:t>
            </a:r>
            <a:endParaRPr sz="1900">
              <a:latin typeface="Arial"/>
              <a:ea typeface="Arial"/>
              <a:cs typeface="Arial"/>
              <a:sym typeface="Arial"/>
            </a:endParaRPr>
          </a:p>
          <a:p>
            <a:pPr marL="742950" lvl="1" indent="-285750" algn="just" rtl="0">
              <a:lnSpc>
                <a:spcPct val="90000"/>
              </a:lnSpc>
              <a:spcBef>
                <a:spcPts val="370"/>
              </a:spcBef>
              <a:spcAft>
                <a:spcPts val="0"/>
              </a:spcAft>
              <a:buClr>
                <a:schemeClr val="dk1"/>
              </a:buClr>
              <a:buSzPts val="1900"/>
              <a:buChar char="–"/>
            </a:pPr>
            <a:r>
              <a:rPr lang="en-US" sz="1900">
                <a:latin typeface="Arial"/>
                <a:ea typeface="Arial"/>
                <a:cs typeface="Arial"/>
                <a:sym typeface="Arial"/>
              </a:rPr>
              <a:t>4NF based on keys, multi-valued dependencies</a:t>
            </a:r>
            <a:endParaRPr sz="1900">
              <a:latin typeface="Arial"/>
              <a:ea typeface="Arial"/>
              <a:cs typeface="Arial"/>
              <a:sym typeface="Arial"/>
            </a:endParaRPr>
          </a:p>
          <a:p>
            <a:pPr marL="0" lvl="0" indent="0" algn="l" rtl="0">
              <a:lnSpc>
                <a:spcPct val="100000"/>
              </a:lnSpc>
              <a:spcBef>
                <a:spcPts val="407"/>
              </a:spcBef>
              <a:spcAft>
                <a:spcPts val="0"/>
              </a:spcAft>
              <a:buClr>
                <a:schemeClr val="dk1"/>
              </a:buClr>
              <a:buSzPts val="1900"/>
              <a:buNone/>
            </a:pPr>
            <a:r>
              <a:rPr lang="en-US" sz="1900">
                <a:latin typeface="Arial"/>
                <a:ea typeface="Arial"/>
                <a:cs typeface="Arial"/>
                <a:sym typeface="Arial"/>
              </a:rPr>
              <a:t>There is a sequence to normal forms: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1NF is considered the weakest,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2NF is stronger than 1NF,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3NF is stronger than 2NF, and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BCNF is considered the strongest</a:t>
            </a:r>
            <a:endParaRPr sz="1900">
              <a:latin typeface="Arial"/>
              <a:ea typeface="Arial"/>
              <a:cs typeface="Arial"/>
              <a:sym typeface="Arial"/>
            </a:endParaRPr>
          </a:p>
          <a:p>
            <a:pPr marL="342900" lvl="0" indent="-213677" algn="l" rtl="0">
              <a:lnSpc>
                <a:spcPct val="100000"/>
              </a:lnSpc>
              <a:spcBef>
                <a:spcPts val="407"/>
              </a:spcBef>
              <a:spcAft>
                <a:spcPts val="0"/>
              </a:spcAft>
              <a:buClr>
                <a:schemeClr val="dk1"/>
              </a:buClr>
              <a:buSzPts val="1900"/>
              <a:buNone/>
            </a:pPr>
            <a:endParaRPr sz="1900">
              <a:latin typeface="Arial"/>
              <a:ea typeface="Arial"/>
              <a:cs typeface="Arial"/>
              <a:sym typeface="Arial"/>
            </a:endParaRPr>
          </a:p>
          <a:p>
            <a:pPr marL="0" lvl="0" indent="0" algn="l" rtl="0">
              <a:lnSpc>
                <a:spcPct val="100000"/>
              </a:lnSpc>
              <a:spcBef>
                <a:spcPts val="407"/>
              </a:spcBef>
              <a:spcAft>
                <a:spcPts val="0"/>
              </a:spcAft>
              <a:buClr>
                <a:schemeClr val="dk1"/>
              </a:buClr>
              <a:buSzPts val="1900"/>
              <a:buNone/>
            </a:pPr>
            <a:r>
              <a:rPr lang="en-US" sz="1900">
                <a:latin typeface="Arial"/>
                <a:ea typeface="Arial"/>
                <a:cs typeface="Arial"/>
                <a:sym typeface="Arial"/>
              </a:rPr>
              <a:t>Also,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any relation that is in BCNF, is in 3NF;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any relation in 3NF is in 2NF; and </a:t>
            </a:r>
            <a:endParaRPr sz="1900">
              <a:latin typeface="Arial"/>
              <a:ea typeface="Arial"/>
              <a:cs typeface="Arial"/>
              <a:sym typeface="Arial"/>
            </a:endParaRPr>
          </a:p>
          <a:p>
            <a:pPr marL="742950" lvl="1" indent="-285750" algn="l" rtl="0">
              <a:lnSpc>
                <a:spcPct val="100000"/>
              </a:lnSpc>
              <a:spcBef>
                <a:spcPts val="407"/>
              </a:spcBef>
              <a:spcAft>
                <a:spcPts val="0"/>
              </a:spcAft>
              <a:buClr>
                <a:schemeClr val="dk1"/>
              </a:buClr>
              <a:buSzPts val="1900"/>
              <a:buChar char="–"/>
            </a:pPr>
            <a:r>
              <a:rPr lang="en-US" sz="1900">
                <a:latin typeface="Arial"/>
                <a:ea typeface="Arial"/>
                <a:cs typeface="Arial"/>
                <a:sym typeface="Arial"/>
              </a:rPr>
              <a:t>any relation in 2NF is in 1NF. </a:t>
            </a:r>
            <a:endParaRPr sz="1900">
              <a:latin typeface="Arial"/>
              <a:ea typeface="Arial"/>
              <a:cs typeface="Arial"/>
              <a:sym typeface="Arial"/>
            </a:endParaRPr>
          </a:p>
          <a:p>
            <a:pPr marL="742950" lvl="1" indent="-168275" algn="just" rtl="0">
              <a:lnSpc>
                <a:spcPct val="90000"/>
              </a:lnSpc>
              <a:spcBef>
                <a:spcPts val="370"/>
              </a:spcBef>
              <a:spcAft>
                <a:spcPts val="0"/>
              </a:spcAft>
              <a:buClr>
                <a:schemeClr val="dk1"/>
              </a:buClr>
              <a:buSzPts val="1900"/>
              <a:buNone/>
            </a:pPr>
            <a:endParaRPr sz="1900">
              <a:latin typeface="Arial"/>
              <a:ea typeface="Arial"/>
              <a:cs typeface="Arial"/>
              <a:sym typeface="Arial"/>
            </a:endParaRPr>
          </a:p>
        </p:txBody>
      </p:sp>
      <p:sp>
        <p:nvSpPr>
          <p:cNvPr id="562" name="Google Shape;562;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63" name="Google Shape;563;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28"/>
          <p:cNvSpPr txBox="1">
            <a:spLocks noGrp="1"/>
          </p:cNvSpPr>
          <p:nvPr>
            <p:ph type="title"/>
          </p:nvPr>
        </p:nvSpPr>
        <p:spPr>
          <a:xfrm>
            <a:off x="2590800" y="1066800"/>
            <a:ext cx="7924800" cy="457200"/>
          </a:xfrm>
          <a:prstGeom prst="rect">
            <a:avLst/>
          </a:prstGeom>
          <a:noFill/>
          <a:ln>
            <a:noFill/>
          </a:ln>
        </p:spPr>
        <p:txBody>
          <a:bodyPr spcFirstLastPara="1" wrap="square" lIns="91425" tIns="45700" rIns="91425" bIns="45700" anchor="ctr" anchorCtr="0">
            <a:noAutofit/>
          </a:bodyPr>
          <a:lstStyle/>
          <a:p>
            <a:pPr marL="0" lvl="0" indent="0" algn="ctr" rtl="0">
              <a:lnSpc>
                <a:spcPct val="120024"/>
              </a:lnSpc>
              <a:spcBef>
                <a:spcPts val="0"/>
              </a:spcBef>
              <a:spcAft>
                <a:spcPts val="0"/>
              </a:spcAft>
              <a:buClr>
                <a:srgbClr val="FF0000"/>
              </a:buClr>
              <a:buSzPts val="4400"/>
              <a:buFont typeface="Arimo"/>
              <a:buNone/>
            </a:pPr>
            <a:r>
              <a:rPr lang="en-US" sz="3281" b="1">
                <a:solidFill>
                  <a:srgbClr val="C00000"/>
                </a:solidFill>
                <a:latin typeface="Arimo"/>
                <a:ea typeface="Arimo"/>
                <a:cs typeface="Arimo"/>
                <a:sym typeface="Arimo"/>
              </a:rPr>
              <a:t>WHY WE NEED NORMALIZATION?</a:t>
            </a:r>
            <a:br>
              <a:rPr lang="en-US" sz="3281" b="1">
                <a:solidFill>
                  <a:srgbClr val="C00000"/>
                </a:solidFill>
                <a:latin typeface="Arimo"/>
                <a:ea typeface="Arimo"/>
                <a:cs typeface="Arimo"/>
                <a:sym typeface="Arimo"/>
              </a:rPr>
            </a:br>
            <a:endParaRPr sz="3281" b="1">
              <a:solidFill>
                <a:srgbClr val="C00000"/>
              </a:solidFill>
              <a:latin typeface="Arimo"/>
              <a:ea typeface="Arimo"/>
              <a:cs typeface="Arimo"/>
              <a:sym typeface="Arimo"/>
            </a:endParaRPr>
          </a:p>
        </p:txBody>
      </p:sp>
      <p:sp>
        <p:nvSpPr>
          <p:cNvPr id="569" name="Google Shape;569;p28"/>
          <p:cNvSpPr txBox="1">
            <a:spLocks noGrp="1"/>
          </p:cNvSpPr>
          <p:nvPr>
            <p:ph type="body" idx="1"/>
          </p:nvPr>
        </p:nvSpPr>
        <p:spPr>
          <a:xfrm>
            <a:off x="2057400" y="1600200"/>
            <a:ext cx="8382000" cy="41910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2000"/>
              <a:buNone/>
            </a:pPr>
            <a:r>
              <a:rPr lang="en-US" sz="1900">
                <a:latin typeface="Arial"/>
                <a:ea typeface="Arial"/>
                <a:cs typeface="Arial"/>
                <a:sym typeface="Arial"/>
              </a:rPr>
              <a:t>Normalization is the aim of well design Relational Database Management System (RDBMS). It is step by step set of rules by which data is put in its simplest forms. We normalize the relational database management system because of the following reasons: </a:t>
            </a:r>
            <a:endParaRPr/>
          </a:p>
          <a:p>
            <a:pPr marL="0" lvl="0" indent="0" algn="just" rtl="0">
              <a:lnSpc>
                <a:spcPct val="100000"/>
              </a:lnSpc>
              <a:spcBef>
                <a:spcPts val="0"/>
              </a:spcBef>
              <a:spcAft>
                <a:spcPts val="0"/>
              </a:spcAft>
              <a:buClr>
                <a:schemeClr val="dk1"/>
              </a:buClr>
              <a:buSzPts val="2000"/>
              <a:buNone/>
            </a:pPr>
            <a:endParaRPr sz="1900">
              <a:latin typeface="Arial"/>
              <a:ea typeface="Arial"/>
              <a:cs typeface="Arial"/>
              <a:sym typeface="Arial"/>
            </a:endParaRPr>
          </a:p>
          <a:p>
            <a:pPr marL="685800" lvl="1" indent="-228600" algn="just" rtl="0">
              <a:lnSpc>
                <a:spcPct val="100000"/>
              </a:lnSpc>
              <a:spcBef>
                <a:spcPts val="320"/>
              </a:spcBef>
              <a:spcAft>
                <a:spcPts val="0"/>
              </a:spcAft>
              <a:buClr>
                <a:schemeClr val="dk1"/>
              </a:buClr>
              <a:buSzPts val="1600"/>
              <a:buFont typeface="Noto Sans Symbols"/>
              <a:buChar char="❑"/>
            </a:pPr>
            <a:r>
              <a:rPr lang="en-US" sz="1900">
                <a:latin typeface="Arial"/>
                <a:ea typeface="Arial"/>
                <a:cs typeface="Arial"/>
                <a:sym typeface="Arial"/>
              </a:rPr>
              <a:t>Minimize data redundancy i.e. no unnecessarily duplication of data.</a:t>
            </a:r>
            <a:endParaRPr sz="1900">
              <a:latin typeface="Arial"/>
              <a:ea typeface="Arial"/>
              <a:cs typeface="Arial"/>
              <a:sym typeface="Arial"/>
            </a:endParaRPr>
          </a:p>
          <a:p>
            <a:pPr marL="685800" lvl="1" indent="-228600" algn="just" rtl="0">
              <a:lnSpc>
                <a:spcPct val="100000"/>
              </a:lnSpc>
              <a:spcBef>
                <a:spcPts val="320"/>
              </a:spcBef>
              <a:spcAft>
                <a:spcPts val="0"/>
              </a:spcAft>
              <a:buClr>
                <a:schemeClr val="dk1"/>
              </a:buClr>
              <a:buSzPts val="1600"/>
              <a:buFont typeface="Noto Sans Symbols"/>
              <a:buChar char="❑"/>
            </a:pPr>
            <a:r>
              <a:rPr lang="en-US" sz="1900">
                <a:latin typeface="Arial"/>
                <a:ea typeface="Arial"/>
                <a:cs typeface="Arial"/>
                <a:sym typeface="Arial"/>
              </a:rPr>
              <a:t>To make database structure flexible i.e. it should be possible to add new data values and rows without reorganizing the database structure.</a:t>
            </a:r>
            <a:endParaRPr sz="1900">
              <a:latin typeface="Arial"/>
              <a:ea typeface="Arial"/>
              <a:cs typeface="Arial"/>
              <a:sym typeface="Arial"/>
            </a:endParaRPr>
          </a:p>
          <a:p>
            <a:pPr marL="685800" lvl="1" indent="-228600" algn="just" rtl="0">
              <a:lnSpc>
                <a:spcPct val="100000"/>
              </a:lnSpc>
              <a:spcBef>
                <a:spcPts val="320"/>
              </a:spcBef>
              <a:spcAft>
                <a:spcPts val="0"/>
              </a:spcAft>
              <a:buClr>
                <a:schemeClr val="dk1"/>
              </a:buClr>
              <a:buSzPts val="1600"/>
              <a:buFont typeface="Noto Sans Symbols"/>
              <a:buChar char="❑"/>
            </a:pPr>
            <a:r>
              <a:rPr lang="en-US" sz="1900">
                <a:latin typeface="Arial"/>
                <a:ea typeface="Arial"/>
                <a:cs typeface="Arial"/>
                <a:sym typeface="Arial"/>
              </a:rPr>
              <a:t>Data should be consistent throughout the database i.e. it should not suffer from following anomalies.</a:t>
            </a:r>
            <a:endParaRPr sz="1900">
              <a:latin typeface="Arial"/>
              <a:ea typeface="Arial"/>
              <a:cs typeface="Arial"/>
              <a:sym typeface="Arial"/>
            </a:endParaRPr>
          </a:p>
          <a:p>
            <a:pPr marL="685800" lvl="1" indent="-228600" algn="just" rtl="0">
              <a:lnSpc>
                <a:spcPct val="100000"/>
              </a:lnSpc>
              <a:spcBef>
                <a:spcPts val="320"/>
              </a:spcBef>
              <a:spcAft>
                <a:spcPts val="0"/>
              </a:spcAft>
              <a:buClr>
                <a:schemeClr val="dk1"/>
              </a:buClr>
              <a:buSzPts val="1600"/>
              <a:buFont typeface="Noto Sans Symbols"/>
              <a:buChar char="❑"/>
            </a:pPr>
            <a:r>
              <a:rPr lang="en-US" sz="1900">
                <a:latin typeface="Arial"/>
                <a:ea typeface="Arial"/>
                <a:cs typeface="Arial"/>
                <a:sym typeface="Arial"/>
              </a:rPr>
              <a:t>Complex queries required by the user should be easy to handle.</a:t>
            </a:r>
            <a:endParaRPr sz="1900">
              <a:latin typeface="Arial"/>
              <a:ea typeface="Arial"/>
              <a:cs typeface="Arial"/>
              <a:sym typeface="Arial"/>
            </a:endParaRPr>
          </a:p>
          <a:p>
            <a:pPr marL="342900" lvl="0" indent="-228600" algn="just" rtl="0">
              <a:lnSpc>
                <a:spcPct val="100000"/>
              </a:lnSpc>
              <a:spcBef>
                <a:spcPts val="360"/>
              </a:spcBef>
              <a:spcAft>
                <a:spcPts val="0"/>
              </a:spcAft>
              <a:buClr>
                <a:schemeClr val="dk1"/>
              </a:buClr>
              <a:buSzPts val="1800"/>
              <a:buNone/>
            </a:pPr>
            <a:endParaRPr sz="1900">
              <a:latin typeface="Arial"/>
              <a:ea typeface="Arial"/>
              <a:cs typeface="Arial"/>
              <a:sym typeface="Arial"/>
            </a:endParaRPr>
          </a:p>
        </p:txBody>
      </p:sp>
      <p:sp>
        <p:nvSpPr>
          <p:cNvPr id="570" name="Google Shape;57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71" name="Google Shape;57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29"/>
          <p:cNvSpPr txBox="1"/>
          <p:nvPr/>
        </p:nvSpPr>
        <p:spPr>
          <a:xfrm>
            <a:off x="2477480" y="639713"/>
            <a:ext cx="7237040" cy="5970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80" b="1">
                <a:solidFill>
                  <a:srgbClr val="C00000"/>
                </a:solidFill>
                <a:latin typeface="Arimo"/>
                <a:ea typeface="Arimo"/>
                <a:cs typeface="Arimo"/>
                <a:sym typeface="Arimo"/>
              </a:rPr>
              <a:t>Types of Normalization</a:t>
            </a:r>
            <a:endParaRPr sz="3280" b="1">
              <a:solidFill>
                <a:srgbClr val="C00000"/>
              </a:solidFill>
              <a:latin typeface="Arimo"/>
              <a:ea typeface="Arimo"/>
              <a:cs typeface="Arimo"/>
              <a:sym typeface="Arimo"/>
            </a:endParaRPr>
          </a:p>
        </p:txBody>
      </p:sp>
      <p:pic>
        <p:nvPicPr>
          <p:cNvPr id="577" name="Google Shape;577;p29" descr="Normalization And Its Types » CS Taleem"/>
          <p:cNvPicPr preferRelativeResize="0"/>
          <p:nvPr/>
        </p:nvPicPr>
        <p:blipFill rotWithShape="1">
          <a:blip r:embed="rId3">
            <a:alphaModFix/>
          </a:blip>
          <a:srcRect/>
          <a:stretch/>
        </p:blipFill>
        <p:spPr>
          <a:xfrm>
            <a:off x="2017178" y="1936603"/>
            <a:ext cx="7697342" cy="2745921"/>
          </a:xfrm>
          <a:prstGeom prst="rect">
            <a:avLst/>
          </a:prstGeom>
          <a:noFill/>
          <a:ln>
            <a:noFill/>
          </a:ln>
        </p:spPr>
      </p:pic>
      <p:sp>
        <p:nvSpPr>
          <p:cNvPr id="578" name="Google Shape;57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79" name="Google Shape;57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30"/>
          <p:cNvSpPr txBox="1"/>
          <p:nvPr/>
        </p:nvSpPr>
        <p:spPr>
          <a:xfrm>
            <a:off x="2279576" y="548681"/>
            <a:ext cx="7272808" cy="83099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80" b="1">
                <a:solidFill>
                  <a:srgbClr val="C00000"/>
                </a:solidFill>
                <a:latin typeface="Arimo"/>
                <a:ea typeface="Arimo"/>
                <a:cs typeface="Arimo"/>
                <a:sym typeface="Arimo"/>
              </a:rPr>
              <a:t>1 Normal Form</a:t>
            </a:r>
            <a:endParaRPr sz="3280" b="1">
              <a:solidFill>
                <a:srgbClr val="C00000"/>
              </a:solidFill>
              <a:latin typeface="Arimo"/>
              <a:ea typeface="Arimo"/>
              <a:cs typeface="Arimo"/>
              <a:sym typeface="Arimo"/>
            </a:endParaRPr>
          </a:p>
        </p:txBody>
      </p:sp>
      <p:sp>
        <p:nvSpPr>
          <p:cNvPr id="585" name="Google Shape;585;p30"/>
          <p:cNvSpPr/>
          <p:nvPr/>
        </p:nvSpPr>
        <p:spPr>
          <a:xfrm>
            <a:off x="2135560" y="1484785"/>
            <a:ext cx="7704856"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As per the rule of first normal form, an attribute (column) of a table cannot hold multiple values. It should hold only atomic values.</a:t>
            </a:r>
            <a:endParaRPr sz="1800">
              <a:solidFill>
                <a:schemeClr val="dk1"/>
              </a:solidFill>
              <a:latin typeface="Arial"/>
              <a:ea typeface="Arial"/>
              <a:cs typeface="Arial"/>
              <a:sym typeface="Arial"/>
            </a:endParaRPr>
          </a:p>
        </p:txBody>
      </p:sp>
      <p:pic>
        <p:nvPicPr>
          <p:cNvPr id="586" name="Google Shape;586;p30"/>
          <p:cNvPicPr preferRelativeResize="0"/>
          <p:nvPr/>
        </p:nvPicPr>
        <p:blipFill rotWithShape="1">
          <a:blip r:embed="rId3">
            <a:alphaModFix/>
          </a:blip>
          <a:srcRect/>
          <a:stretch/>
        </p:blipFill>
        <p:spPr>
          <a:xfrm>
            <a:off x="3143672" y="2420888"/>
            <a:ext cx="6696744" cy="3888432"/>
          </a:xfrm>
          <a:prstGeom prst="rect">
            <a:avLst/>
          </a:prstGeom>
          <a:noFill/>
          <a:ln>
            <a:noFill/>
          </a:ln>
        </p:spPr>
      </p:pic>
      <p:sp>
        <p:nvSpPr>
          <p:cNvPr id="587" name="Google Shape;58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88" name="Google Shape;58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31"/>
          <p:cNvSpPr txBox="1">
            <a:spLocks noGrp="1"/>
          </p:cNvSpPr>
          <p:nvPr>
            <p:ph type="title"/>
          </p:nvPr>
        </p:nvSpPr>
        <p:spPr>
          <a:xfrm>
            <a:off x="2514600" y="1066800"/>
            <a:ext cx="7924800" cy="609600"/>
          </a:xfrm>
          <a:prstGeom prst="rect">
            <a:avLst/>
          </a:prstGeom>
          <a:noFill/>
          <a:ln>
            <a:noFill/>
          </a:ln>
        </p:spPr>
        <p:txBody>
          <a:bodyPr spcFirstLastPara="1" wrap="square" lIns="91425" tIns="45700" rIns="91425" bIns="45700" anchor="t" anchorCtr="0">
            <a:spAutoFit/>
          </a:bodyPr>
          <a:lstStyle/>
          <a:p>
            <a:pPr marL="0" lvl="0" indent="0" algn="ctr" rtl="0">
              <a:lnSpc>
                <a:spcPct val="90000"/>
              </a:lnSpc>
              <a:spcBef>
                <a:spcPts val="0"/>
              </a:spcBef>
              <a:spcAft>
                <a:spcPts val="0"/>
              </a:spcAft>
              <a:buClr>
                <a:srgbClr val="C00000"/>
              </a:buClr>
              <a:buSzPts val="3280"/>
              <a:buFont typeface="Arimo"/>
              <a:buNone/>
            </a:pPr>
            <a:r>
              <a:rPr lang="en-US" sz="3280" b="1">
                <a:solidFill>
                  <a:srgbClr val="C00000"/>
                </a:solidFill>
                <a:latin typeface="Arimo"/>
                <a:ea typeface="Arimo"/>
                <a:cs typeface="Arimo"/>
                <a:sym typeface="Arimo"/>
              </a:rPr>
              <a:t>First Normal Form </a:t>
            </a:r>
            <a:endParaRPr sz="3280" b="1">
              <a:solidFill>
                <a:srgbClr val="C00000"/>
              </a:solidFill>
              <a:latin typeface="Arimo"/>
              <a:ea typeface="Arimo"/>
              <a:cs typeface="Arimo"/>
              <a:sym typeface="Arimo"/>
            </a:endParaRPr>
          </a:p>
        </p:txBody>
      </p:sp>
      <p:sp>
        <p:nvSpPr>
          <p:cNvPr id="594" name="Google Shape;594;p31"/>
          <p:cNvSpPr txBox="1">
            <a:spLocks noGrp="1"/>
          </p:cNvSpPr>
          <p:nvPr>
            <p:ph type="body" idx="1"/>
          </p:nvPr>
        </p:nvSpPr>
        <p:spPr>
          <a:xfrm>
            <a:off x="2438400" y="1752600"/>
            <a:ext cx="8001000" cy="2378336"/>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000"/>
              <a:buChar char="•"/>
            </a:pPr>
            <a:r>
              <a:rPr lang="en-US" sz="1880" dirty="0">
                <a:latin typeface="Arial"/>
                <a:ea typeface="Arial"/>
                <a:cs typeface="Arial"/>
                <a:sym typeface="Arial"/>
              </a:rPr>
              <a:t>Disallows composite attributes, multivalued attributes, and </a:t>
            </a:r>
            <a:r>
              <a:rPr lang="en-US" sz="1880" b="1" dirty="0">
                <a:latin typeface="Arial"/>
                <a:ea typeface="Arial"/>
                <a:cs typeface="Arial"/>
                <a:sym typeface="Arial"/>
              </a:rPr>
              <a:t>nested relations</a:t>
            </a:r>
            <a:r>
              <a:rPr lang="en-US" sz="1880" dirty="0">
                <a:latin typeface="Arial"/>
                <a:ea typeface="Arial"/>
                <a:cs typeface="Arial"/>
                <a:sym typeface="Arial"/>
              </a:rPr>
              <a:t>; attributes whose values </a:t>
            </a:r>
            <a:r>
              <a:rPr lang="en-US" sz="1880" i="1" dirty="0">
                <a:latin typeface="Arial"/>
                <a:ea typeface="Arial"/>
                <a:cs typeface="Arial"/>
                <a:sym typeface="Arial"/>
              </a:rPr>
              <a:t>for an individual tuple</a:t>
            </a:r>
            <a:r>
              <a:rPr lang="en-US" sz="1880" dirty="0">
                <a:latin typeface="Arial"/>
                <a:ea typeface="Arial"/>
                <a:cs typeface="Arial"/>
                <a:sym typeface="Arial"/>
              </a:rPr>
              <a:t>  are non-atomic.</a:t>
            </a:r>
            <a:endParaRPr sz="1880" dirty="0">
              <a:latin typeface="Arial"/>
              <a:ea typeface="Arial"/>
              <a:cs typeface="Arial"/>
              <a:sym typeface="Arial"/>
            </a:endParaRPr>
          </a:p>
          <a:p>
            <a:pPr marL="342900" lvl="0" indent="-215900" algn="just" rtl="0">
              <a:lnSpc>
                <a:spcPct val="90000"/>
              </a:lnSpc>
              <a:spcBef>
                <a:spcPts val="400"/>
              </a:spcBef>
              <a:spcAft>
                <a:spcPts val="0"/>
              </a:spcAft>
              <a:buClr>
                <a:schemeClr val="dk1"/>
              </a:buClr>
              <a:buSzPts val="2000"/>
              <a:buNone/>
            </a:pPr>
            <a:endParaRPr sz="1880" dirty="0">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Char char="•"/>
            </a:pPr>
            <a:r>
              <a:rPr lang="en-US" sz="1880" dirty="0">
                <a:latin typeface="Arial"/>
                <a:ea typeface="Arial"/>
                <a:cs typeface="Arial"/>
                <a:sym typeface="Arial"/>
              </a:rPr>
              <a:t>We say a relation is in </a:t>
            </a:r>
            <a:r>
              <a:rPr lang="en-US" sz="1880" b="1" dirty="0">
                <a:latin typeface="Arial"/>
                <a:ea typeface="Arial"/>
                <a:cs typeface="Arial"/>
                <a:sym typeface="Arial"/>
              </a:rPr>
              <a:t>1NF</a:t>
            </a:r>
            <a:r>
              <a:rPr lang="en-US" sz="1880" dirty="0">
                <a:latin typeface="Arial"/>
                <a:ea typeface="Arial"/>
                <a:cs typeface="Arial"/>
                <a:sym typeface="Arial"/>
              </a:rPr>
              <a:t> if all values stored in the relation are single-valued and atomic. </a:t>
            </a:r>
            <a:endParaRPr sz="1880" dirty="0">
              <a:latin typeface="Arial"/>
              <a:ea typeface="Arial"/>
              <a:cs typeface="Arial"/>
              <a:sym typeface="Arial"/>
            </a:endParaRPr>
          </a:p>
        </p:txBody>
      </p:sp>
      <p:sp>
        <p:nvSpPr>
          <p:cNvPr id="595" name="Google Shape;59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596" name="Google Shape;59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grpSp>
        <p:nvGrpSpPr>
          <p:cNvPr id="605" name="Google Shape;605;p32"/>
          <p:cNvGrpSpPr/>
          <p:nvPr/>
        </p:nvGrpSpPr>
        <p:grpSpPr>
          <a:xfrm>
            <a:off x="1524000" y="6356604"/>
            <a:ext cx="9144000" cy="88404"/>
            <a:chOff x="0" y="0"/>
            <a:chExt cx="13004800" cy="125730"/>
          </a:xfrm>
        </p:grpSpPr>
        <p:sp>
          <p:nvSpPr>
            <p:cNvPr id="606" name="Google Shape;606;p3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07" name="Google Shape;607;p3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08" name="Google Shape;608;p32"/>
          <p:cNvSpPr/>
          <p:nvPr/>
        </p:nvSpPr>
        <p:spPr>
          <a:xfrm>
            <a:off x="1972621" y="2725088"/>
            <a:ext cx="8246759" cy="3541745"/>
          </a:xfrm>
          <a:custGeom>
            <a:avLst/>
            <a:gdLst/>
            <a:ahLst/>
            <a:cxnLst/>
            <a:rect l="l" t="t" r="r" b="b"/>
            <a:pathLst>
              <a:path w="8796543" h="3777861" extrusionOk="0">
                <a:moveTo>
                  <a:pt x="0" y="0"/>
                </a:moveTo>
                <a:lnTo>
                  <a:pt x="8796544" y="0"/>
                </a:lnTo>
                <a:lnTo>
                  <a:pt x="8796544" y="3777861"/>
                </a:lnTo>
                <a:lnTo>
                  <a:pt x="0" y="3777861"/>
                </a:lnTo>
                <a:lnTo>
                  <a:pt x="0" y="0"/>
                </a:lnTo>
                <a:close/>
              </a:path>
            </a:pathLst>
          </a:custGeom>
          <a:blipFill rotWithShape="1">
            <a:blip r:embed="rId3">
              <a:alphaModFix/>
            </a:blip>
            <a:stretch>
              <a:fillRect/>
            </a:stretch>
          </a:blipFill>
          <a:ln>
            <a:noFill/>
          </a:ln>
        </p:spPr>
      </p:sp>
      <p:sp>
        <p:nvSpPr>
          <p:cNvPr id="609" name="Google Shape;609;p32"/>
          <p:cNvSpPr txBox="1"/>
          <p:nvPr/>
        </p:nvSpPr>
        <p:spPr>
          <a:xfrm>
            <a:off x="4132687" y="409001"/>
            <a:ext cx="520825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Normal Forms in DBMS</a:t>
            </a:r>
            <a:endParaRPr/>
          </a:p>
        </p:txBody>
      </p:sp>
      <p:sp>
        <p:nvSpPr>
          <p:cNvPr id="610" name="Google Shape;610;p32"/>
          <p:cNvSpPr txBox="1"/>
          <p:nvPr/>
        </p:nvSpPr>
        <p:spPr>
          <a:xfrm>
            <a:off x="1918378" y="1733356"/>
            <a:ext cx="8355245"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Example 1 – </a:t>
            </a:r>
            <a:r>
              <a:rPr lang="en-US" sz="1875">
                <a:solidFill>
                  <a:srgbClr val="000000"/>
                </a:solidFill>
                <a:latin typeface="Arial"/>
                <a:ea typeface="Arial"/>
                <a:cs typeface="Arial"/>
                <a:sym typeface="Arial"/>
              </a:rPr>
              <a:t>Relation STUDENT in table 1 is not in 1NF because of multi-valued attribute STUD_PHONE. Its decomposition into 1NF has been shown in table 2.</a:t>
            </a:r>
            <a:endParaRPr/>
          </a:p>
        </p:txBody>
      </p:sp>
      <p:sp>
        <p:nvSpPr>
          <p:cNvPr id="611" name="Google Shape;61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12" name="Google Shape;61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33"/>
          <p:cNvSpPr txBox="1">
            <a:spLocks noGrp="1"/>
          </p:cNvSpPr>
          <p:nvPr>
            <p:ph type="title"/>
          </p:nvPr>
        </p:nvSpPr>
        <p:spPr>
          <a:xfrm>
            <a:off x="2555543" y="829907"/>
            <a:ext cx="7924800" cy="609600"/>
          </a:xfrm>
          <a:prstGeom prst="rect">
            <a:avLst/>
          </a:prstGeom>
          <a:noFill/>
          <a:ln>
            <a:noFill/>
          </a:ln>
        </p:spPr>
        <p:txBody>
          <a:bodyPr spcFirstLastPara="1" wrap="square" lIns="91425" tIns="45700" rIns="91425" bIns="45700" anchor="ctr" anchorCtr="0">
            <a:noAutofit/>
          </a:bodyPr>
          <a:lstStyle/>
          <a:p>
            <a:pPr marL="0" lvl="0" indent="0" algn="ctr" rtl="0">
              <a:lnSpc>
                <a:spcPct val="120024"/>
              </a:lnSpc>
              <a:spcBef>
                <a:spcPts val="0"/>
              </a:spcBef>
              <a:spcAft>
                <a:spcPts val="0"/>
              </a:spcAft>
              <a:buClr>
                <a:srgbClr val="FF0000"/>
              </a:buClr>
              <a:buSzPts val="2400"/>
              <a:buFont typeface="Arimo"/>
              <a:buNone/>
            </a:pPr>
            <a:r>
              <a:rPr lang="en-US" sz="3281" b="1">
                <a:solidFill>
                  <a:srgbClr val="C00000"/>
                </a:solidFill>
                <a:latin typeface="Arimo"/>
                <a:ea typeface="Arimo"/>
                <a:cs typeface="Arimo"/>
                <a:sym typeface="Arimo"/>
              </a:rPr>
              <a:t>First Normal Form (1NF) </a:t>
            </a:r>
            <a:endParaRPr sz="3281" b="1">
              <a:solidFill>
                <a:srgbClr val="C00000"/>
              </a:solidFill>
              <a:latin typeface="Arimo"/>
              <a:ea typeface="Arimo"/>
              <a:cs typeface="Arimo"/>
              <a:sym typeface="Arimo"/>
            </a:endParaRPr>
          </a:p>
        </p:txBody>
      </p:sp>
      <p:sp>
        <p:nvSpPr>
          <p:cNvPr id="618" name="Google Shape;618;p33"/>
          <p:cNvSpPr txBox="1">
            <a:spLocks noGrp="1"/>
          </p:cNvSpPr>
          <p:nvPr>
            <p:ph type="body" idx="1"/>
          </p:nvPr>
        </p:nvSpPr>
        <p:spPr>
          <a:xfrm>
            <a:off x="2555543" y="5532192"/>
            <a:ext cx="8001000" cy="7620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000"/>
              <a:buChar char="•"/>
            </a:pPr>
            <a:r>
              <a:rPr lang="en-US" sz="1880" dirty="0">
                <a:latin typeface="Arial"/>
                <a:ea typeface="Arial"/>
                <a:cs typeface="Arial"/>
                <a:sym typeface="Arial"/>
              </a:rPr>
              <a:t>An outer join between Employee and </a:t>
            </a:r>
            <a:r>
              <a:rPr lang="en-US" sz="1880" dirty="0" err="1">
                <a:latin typeface="Arial"/>
                <a:ea typeface="Arial"/>
                <a:cs typeface="Arial"/>
                <a:sym typeface="Arial"/>
              </a:rPr>
              <a:t>EmployeeDegree</a:t>
            </a:r>
            <a:r>
              <a:rPr lang="en-US" sz="1880" dirty="0">
                <a:latin typeface="Arial"/>
                <a:ea typeface="Arial"/>
                <a:cs typeface="Arial"/>
                <a:sym typeface="Arial"/>
              </a:rPr>
              <a:t> will produce the information we saw before</a:t>
            </a:r>
            <a:endParaRPr sz="1880" dirty="0">
              <a:latin typeface="Arial"/>
              <a:ea typeface="Arial"/>
              <a:cs typeface="Arial"/>
              <a:sym typeface="Arial"/>
            </a:endParaRPr>
          </a:p>
          <a:p>
            <a:pPr marL="342900" lvl="0" indent="-215900" algn="l" rtl="0">
              <a:lnSpc>
                <a:spcPct val="90000"/>
              </a:lnSpc>
              <a:spcBef>
                <a:spcPts val="400"/>
              </a:spcBef>
              <a:spcAft>
                <a:spcPts val="0"/>
              </a:spcAft>
              <a:buClr>
                <a:schemeClr val="dk1"/>
              </a:buClr>
              <a:buSzPts val="2000"/>
              <a:buNone/>
            </a:pPr>
            <a:endParaRPr sz="2000" dirty="0">
              <a:latin typeface="Arial"/>
              <a:ea typeface="Arial"/>
              <a:cs typeface="Arial"/>
              <a:sym typeface="Arial"/>
            </a:endParaRPr>
          </a:p>
        </p:txBody>
      </p:sp>
      <p:pic>
        <p:nvPicPr>
          <p:cNvPr id="619" name="Google Shape;619;p33"/>
          <p:cNvPicPr preferRelativeResize="0"/>
          <p:nvPr/>
        </p:nvPicPr>
        <p:blipFill rotWithShape="1">
          <a:blip r:embed="rId3">
            <a:alphaModFix/>
          </a:blip>
          <a:srcRect/>
          <a:stretch/>
        </p:blipFill>
        <p:spPr>
          <a:xfrm>
            <a:off x="3439236" y="1470444"/>
            <a:ext cx="5742864" cy="1428592"/>
          </a:xfrm>
          <a:prstGeom prst="rect">
            <a:avLst/>
          </a:prstGeom>
          <a:noFill/>
          <a:ln>
            <a:noFill/>
          </a:ln>
        </p:spPr>
      </p:pic>
      <p:pic>
        <p:nvPicPr>
          <p:cNvPr id="620" name="Google Shape;620;p33"/>
          <p:cNvPicPr preferRelativeResize="0"/>
          <p:nvPr/>
        </p:nvPicPr>
        <p:blipFill rotWithShape="1">
          <a:blip r:embed="rId4">
            <a:alphaModFix/>
          </a:blip>
          <a:srcRect/>
          <a:stretch/>
        </p:blipFill>
        <p:spPr>
          <a:xfrm>
            <a:off x="2667000" y="3117360"/>
            <a:ext cx="2895600" cy="2076450"/>
          </a:xfrm>
          <a:prstGeom prst="rect">
            <a:avLst/>
          </a:prstGeom>
          <a:noFill/>
          <a:ln>
            <a:noFill/>
          </a:ln>
        </p:spPr>
      </p:pic>
      <p:pic>
        <p:nvPicPr>
          <p:cNvPr id="621" name="Google Shape;621;p33"/>
          <p:cNvPicPr preferRelativeResize="0"/>
          <p:nvPr/>
        </p:nvPicPr>
        <p:blipFill rotWithShape="1">
          <a:blip r:embed="rId5">
            <a:alphaModFix/>
          </a:blip>
          <a:srcRect/>
          <a:stretch/>
        </p:blipFill>
        <p:spPr>
          <a:xfrm>
            <a:off x="7394089" y="3117360"/>
            <a:ext cx="2590800" cy="2352675"/>
          </a:xfrm>
          <a:prstGeom prst="rect">
            <a:avLst/>
          </a:prstGeom>
          <a:noFill/>
          <a:ln>
            <a:noFill/>
          </a:ln>
        </p:spPr>
      </p:pic>
      <p:sp>
        <p:nvSpPr>
          <p:cNvPr id="622" name="Google Shape;62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23" name="Google Shape;62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34"/>
          <p:cNvSpPr/>
          <p:nvPr/>
        </p:nvSpPr>
        <p:spPr>
          <a:xfrm>
            <a:off x="1687285" y="692696"/>
            <a:ext cx="8044543"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Implication of INF</a:t>
            </a:r>
            <a:endParaRPr sz="3281" b="1">
              <a:solidFill>
                <a:srgbClr val="C00000"/>
              </a:solidFill>
              <a:latin typeface="Arimo"/>
              <a:ea typeface="Arimo"/>
              <a:cs typeface="Arimo"/>
              <a:sym typeface="Arimo"/>
            </a:endParaRPr>
          </a:p>
        </p:txBody>
      </p:sp>
      <p:sp>
        <p:nvSpPr>
          <p:cNvPr id="629" name="Google Shape;629;p34"/>
          <p:cNvSpPr txBox="1"/>
          <p:nvPr/>
        </p:nvSpPr>
        <p:spPr>
          <a:xfrm>
            <a:off x="2279576" y="1916833"/>
            <a:ext cx="7668852" cy="3016170"/>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200000"/>
              </a:lnSpc>
              <a:spcBef>
                <a:spcPts val="0"/>
              </a:spcBef>
              <a:spcAft>
                <a:spcPts val="0"/>
              </a:spcAft>
              <a:buClr>
                <a:schemeClr val="dk1"/>
              </a:buClr>
              <a:buSzPts val="2000"/>
              <a:buFont typeface="Noto Sans Symbols"/>
              <a:buChar char="❖"/>
            </a:pPr>
            <a:r>
              <a:rPr lang="en-US" sz="1900">
                <a:solidFill>
                  <a:schemeClr val="dk1"/>
                </a:solidFill>
                <a:latin typeface="Arial"/>
                <a:ea typeface="Arial"/>
                <a:cs typeface="Arial"/>
                <a:sym typeface="Arial"/>
              </a:rPr>
              <a:t>You must have single value in a single column, null value can be present.</a:t>
            </a:r>
            <a:endParaRPr sz="190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000"/>
              <a:buFont typeface="Noto Sans Symbols"/>
              <a:buChar char="❖"/>
            </a:pPr>
            <a:r>
              <a:rPr lang="en-US" sz="1900">
                <a:solidFill>
                  <a:schemeClr val="dk1"/>
                </a:solidFill>
                <a:latin typeface="Arial"/>
                <a:ea typeface="Arial"/>
                <a:cs typeface="Arial"/>
                <a:sym typeface="Arial"/>
              </a:rPr>
              <a:t>Order of row and order of column is insignificant.</a:t>
            </a:r>
            <a:endParaRPr sz="190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000"/>
              <a:buFont typeface="Noto Sans Symbols"/>
              <a:buChar char="❖"/>
            </a:pPr>
            <a:r>
              <a:rPr lang="en-US" sz="1900">
                <a:solidFill>
                  <a:schemeClr val="dk1"/>
                </a:solidFill>
                <a:latin typeface="Arial"/>
                <a:ea typeface="Arial"/>
                <a:cs typeface="Arial"/>
                <a:sym typeface="Arial"/>
              </a:rPr>
              <a:t>Every value must belong to same domain.</a:t>
            </a:r>
            <a:endParaRPr sz="1900">
              <a:solidFill>
                <a:schemeClr val="dk1"/>
              </a:solidFill>
              <a:latin typeface="Arial"/>
              <a:ea typeface="Arial"/>
              <a:cs typeface="Arial"/>
              <a:sym typeface="Arial"/>
            </a:endParaRPr>
          </a:p>
          <a:p>
            <a:pPr marL="285750" marR="0" lvl="0" indent="-285750" algn="just" rtl="0">
              <a:lnSpc>
                <a:spcPct val="200000"/>
              </a:lnSpc>
              <a:spcBef>
                <a:spcPts val="0"/>
              </a:spcBef>
              <a:spcAft>
                <a:spcPts val="0"/>
              </a:spcAft>
              <a:buClr>
                <a:schemeClr val="dk1"/>
              </a:buClr>
              <a:buSzPts val="2000"/>
              <a:buFont typeface="Noto Sans Symbols"/>
              <a:buChar char="❖"/>
            </a:pPr>
            <a:r>
              <a:rPr lang="en-US" sz="1900">
                <a:solidFill>
                  <a:schemeClr val="dk1"/>
                </a:solidFill>
                <a:latin typeface="Arial"/>
                <a:ea typeface="Arial"/>
                <a:cs typeface="Arial"/>
                <a:sym typeface="Arial"/>
              </a:rPr>
              <a:t>Every column should have unique name.</a:t>
            </a:r>
            <a:endParaRPr sz="1900">
              <a:solidFill>
                <a:schemeClr val="dk1"/>
              </a:solidFill>
              <a:latin typeface="Arial"/>
              <a:ea typeface="Arial"/>
              <a:cs typeface="Arial"/>
              <a:sym typeface="Arial"/>
            </a:endParaRPr>
          </a:p>
        </p:txBody>
      </p:sp>
      <p:sp>
        <p:nvSpPr>
          <p:cNvPr id="630" name="Google Shape;630;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31" name="Google Shape;631;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38"/>
          <p:cNvPicPr preferRelativeResize="0"/>
          <p:nvPr/>
        </p:nvPicPr>
        <p:blipFill rotWithShape="1">
          <a:blip r:embed="rId3">
            <a:alphaModFix/>
          </a:blip>
          <a:srcRect/>
          <a:stretch/>
        </p:blipFill>
        <p:spPr>
          <a:xfrm>
            <a:off x="2639616" y="1196752"/>
            <a:ext cx="6768752" cy="4248472"/>
          </a:xfrm>
          <a:prstGeom prst="rect">
            <a:avLst/>
          </a:prstGeom>
          <a:noFill/>
          <a:ln>
            <a:noFill/>
          </a:ln>
        </p:spPr>
      </p:pic>
      <p:sp>
        <p:nvSpPr>
          <p:cNvPr id="683" name="Google Shape;683;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84" name="Google Shape;684;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grpSp>
        <p:nvGrpSpPr>
          <p:cNvPr id="640" name="Google Shape;640;p35"/>
          <p:cNvGrpSpPr/>
          <p:nvPr/>
        </p:nvGrpSpPr>
        <p:grpSpPr>
          <a:xfrm>
            <a:off x="1524000" y="6356604"/>
            <a:ext cx="9144000" cy="88404"/>
            <a:chOff x="0" y="0"/>
            <a:chExt cx="13004800" cy="125730"/>
          </a:xfrm>
        </p:grpSpPr>
        <p:sp>
          <p:nvSpPr>
            <p:cNvPr id="641" name="Google Shape;641;p3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42" name="Google Shape;642;p3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43" name="Google Shape;643;p35"/>
          <p:cNvSpPr txBox="1"/>
          <p:nvPr/>
        </p:nvSpPr>
        <p:spPr>
          <a:xfrm>
            <a:off x="3772603" y="725925"/>
            <a:ext cx="5208259" cy="605871"/>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Second Normal Forms </a:t>
            </a:r>
            <a:endParaRPr dirty="0"/>
          </a:p>
        </p:txBody>
      </p:sp>
      <p:sp>
        <p:nvSpPr>
          <p:cNvPr id="645" name="Google Shape;645;p35"/>
          <p:cNvSpPr txBox="1"/>
          <p:nvPr/>
        </p:nvSpPr>
        <p:spPr>
          <a:xfrm>
            <a:off x="1843195" y="3111096"/>
            <a:ext cx="5001918" cy="293054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functional dependency X-&gt;Y (where X and Y are set of attributes) is said to be in partial dependency, if Y can be determined by any proper subset of X.</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However, in 2NF it is possible for a prime attribute to be partially dependent on any candidate key, but every non-prime attribute must be fully dependent(or not partially dependent) on each candidate key of the table.</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646" name="Google Shape;646;p35"/>
          <p:cNvSpPr txBox="1"/>
          <p:nvPr/>
        </p:nvSpPr>
        <p:spPr>
          <a:xfrm>
            <a:off x="1843960" y="1627065"/>
            <a:ext cx="8504845"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relation is in 2NF if it is in 1NF and any non-prime attribute (attributes which are not part of any candidate key) is not partially dependent on any proper subset of any candidate key of the table. In other words, we can say that, every non-prime attribute must be fully dependent on each candidate key.</a:t>
            </a:r>
            <a:endParaRPr dirty="0"/>
          </a:p>
        </p:txBody>
      </p:sp>
      <p:grpSp>
        <p:nvGrpSpPr>
          <p:cNvPr id="647" name="Google Shape;647;p35"/>
          <p:cNvGrpSpPr/>
          <p:nvPr/>
        </p:nvGrpSpPr>
        <p:grpSpPr>
          <a:xfrm>
            <a:off x="7612920" y="3231667"/>
            <a:ext cx="3055081" cy="2743200"/>
            <a:chOff x="0" y="0"/>
            <a:chExt cx="4345004" cy="3901440"/>
          </a:xfrm>
        </p:grpSpPr>
        <p:sp>
          <p:nvSpPr>
            <p:cNvPr id="648" name="Google Shape;648;p35"/>
            <p:cNvSpPr/>
            <p:nvPr/>
          </p:nvSpPr>
          <p:spPr>
            <a:xfrm>
              <a:off x="0" y="0"/>
              <a:ext cx="3891036" cy="3901440"/>
            </a:xfrm>
            <a:custGeom>
              <a:avLst/>
              <a:gdLst/>
              <a:ahLst/>
              <a:cxnLst/>
              <a:rect l="l" t="t" r="r" b="b"/>
              <a:pathLst>
                <a:path w="3891036" h="3901440" extrusionOk="0">
                  <a:moveTo>
                    <a:pt x="0" y="0"/>
                  </a:moveTo>
                  <a:lnTo>
                    <a:pt x="3891036" y="0"/>
                  </a:lnTo>
                  <a:lnTo>
                    <a:pt x="3891036" y="3901440"/>
                  </a:lnTo>
                  <a:lnTo>
                    <a:pt x="0" y="3901440"/>
                  </a:lnTo>
                  <a:lnTo>
                    <a:pt x="0" y="0"/>
                  </a:lnTo>
                  <a:close/>
                </a:path>
              </a:pathLst>
            </a:custGeom>
            <a:blipFill rotWithShape="1">
              <a:blip r:embed="rId3">
                <a:alphaModFix/>
              </a:blip>
              <a:stretch>
                <a:fillRect/>
              </a:stretch>
            </a:blipFill>
            <a:ln>
              <a:noFill/>
            </a:ln>
          </p:spPr>
        </p:sp>
        <p:sp>
          <p:nvSpPr>
            <p:cNvPr id="649" name="Google Shape;649;p35"/>
            <p:cNvSpPr txBox="1"/>
            <p:nvPr/>
          </p:nvSpPr>
          <p:spPr>
            <a:xfrm>
              <a:off x="218396" y="465796"/>
              <a:ext cx="4126608" cy="39249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Yeseva One"/>
                  <a:ea typeface="Yeseva One"/>
                  <a:cs typeface="Yeseva One"/>
                  <a:sym typeface="Yeseva One"/>
                </a:rPr>
                <a:t>Second Normal Form</a:t>
              </a:r>
              <a:endParaRPr/>
            </a:p>
          </p:txBody>
        </p:sp>
      </p:grpSp>
      <p:sp>
        <p:nvSpPr>
          <p:cNvPr id="650" name="Google Shape;65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51" name="Google Shape;65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grpSp>
        <p:nvGrpSpPr>
          <p:cNvPr id="660" name="Google Shape;660;p36"/>
          <p:cNvGrpSpPr/>
          <p:nvPr/>
        </p:nvGrpSpPr>
        <p:grpSpPr>
          <a:xfrm>
            <a:off x="1524000" y="6356604"/>
            <a:ext cx="9144000" cy="88404"/>
            <a:chOff x="0" y="0"/>
            <a:chExt cx="13004800" cy="125730"/>
          </a:xfrm>
        </p:grpSpPr>
        <p:sp>
          <p:nvSpPr>
            <p:cNvPr id="661" name="Google Shape;661;p3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62" name="Google Shape;662;p3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63" name="Google Shape;663;p36"/>
          <p:cNvSpPr/>
          <p:nvPr/>
        </p:nvSpPr>
        <p:spPr>
          <a:xfrm>
            <a:off x="3202719" y="2120208"/>
            <a:ext cx="5178136" cy="845212"/>
          </a:xfrm>
          <a:custGeom>
            <a:avLst/>
            <a:gdLst/>
            <a:ahLst/>
            <a:cxnLst/>
            <a:rect l="l" t="t" r="r" b="b"/>
            <a:pathLst>
              <a:path w="5523345" h="901559" extrusionOk="0">
                <a:moveTo>
                  <a:pt x="0" y="0"/>
                </a:moveTo>
                <a:lnTo>
                  <a:pt x="5523346" y="0"/>
                </a:lnTo>
                <a:lnTo>
                  <a:pt x="5523346" y="901559"/>
                </a:lnTo>
                <a:lnTo>
                  <a:pt x="0" y="901559"/>
                </a:lnTo>
                <a:lnTo>
                  <a:pt x="0" y="0"/>
                </a:lnTo>
                <a:close/>
              </a:path>
            </a:pathLst>
          </a:custGeom>
          <a:blipFill rotWithShape="1">
            <a:blip r:embed="rId3">
              <a:alphaModFix/>
            </a:blip>
            <a:stretch>
              <a:fillRect/>
            </a:stretch>
          </a:blipFill>
          <a:ln>
            <a:noFill/>
          </a:ln>
        </p:spPr>
      </p:sp>
      <p:sp>
        <p:nvSpPr>
          <p:cNvPr id="664" name="Google Shape;664;p36"/>
          <p:cNvSpPr/>
          <p:nvPr/>
        </p:nvSpPr>
        <p:spPr>
          <a:xfrm>
            <a:off x="3202718" y="4286313"/>
            <a:ext cx="5933955" cy="956110"/>
          </a:xfrm>
          <a:custGeom>
            <a:avLst/>
            <a:gdLst/>
            <a:ahLst/>
            <a:cxnLst/>
            <a:rect l="l" t="t" r="r" b="b"/>
            <a:pathLst>
              <a:path w="6329552" h="1019851" extrusionOk="0">
                <a:moveTo>
                  <a:pt x="0" y="0"/>
                </a:moveTo>
                <a:lnTo>
                  <a:pt x="6329553" y="0"/>
                </a:lnTo>
                <a:lnTo>
                  <a:pt x="6329553" y="1019851"/>
                </a:lnTo>
                <a:lnTo>
                  <a:pt x="0" y="1019851"/>
                </a:lnTo>
                <a:lnTo>
                  <a:pt x="0" y="0"/>
                </a:lnTo>
                <a:close/>
              </a:path>
            </a:pathLst>
          </a:custGeom>
          <a:blipFill rotWithShape="1">
            <a:blip r:embed="rId4">
              <a:alphaModFix/>
            </a:blip>
            <a:stretch>
              <a:fillRect/>
            </a:stretch>
          </a:blipFill>
          <a:ln>
            <a:noFill/>
          </a:ln>
        </p:spPr>
      </p:sp>
      <p:sp>
        <p:nvSpPr>
          <p:cNvPr id="666" name="Google Shape;666;p36"/>
          <p:cNvSpPr txBox="1"/>
          <p:nvPr/>
        </p:nvSpPr>
        <p:spPr>
          <a:xfrm>
            <a:off x="1906466" y="1510467"/>
            <a:ext cx="8444095"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Example 2 – </a:t>
            </a:r>
            <a:r>
              <a:rPr lang="en-US" sz="1875">
                <a:solidFill>
                  <a:srgbClr val="000000"/>
                </a:solidFill>
                <a:latin typeface="Arial"/>
                <a:ea typeface="Arial"/>
                <a:cs typeface="Arial"/>
                <a:sym typeface="Arial"/>
              </a:rPr>
              <a:t>Consider following functional dependencies in relation R (A, B , C, D )</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667" name="Google Shape;667;p36"/>
          <p:cNvSpPr txBox="1"/>
          <p:nvPr/>
        </p:nvSpPr>
        <p:spPr>
          <a:xfrm>
            <a:off x="1906465" y="3384351"/>
            <a:ext cx="8363627"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In the above relation, AB is the only candidate key and there is no partial dependency, i.e., any proper subset of AB doesn’t determine any non-prime attribute.</a:t>
            </a:r>
            <a:endParaRPr/>
          </a:p>
        </p:txBody>
      </p:sp>
      <p:sp>
        <p:nvSpPr>
          <p:cNvPr id="668" name="Google Shape;668;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69" name="Google Shape;669;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37"/>
          <p:cNvSpPr txBox="1">
            <a:spLocks noGrp="1"/>
          </p:cNvSpPr>
          <p:nvPr>
            <p:ph type="title"/>
          </p:nvPr>
        </p:nvSpPr>
        <p:spPr>
          <a:xfrm>
            <a:off x="3015343" y="685800"/>
            <a:ext cx="7924800" cy="609600"/>
          </a:xfrm>
          <a:prstGeom prst="rect">
            <a:avLst/>
          </a:prstGeom>
          <a:noFill/>
          <a:ln>
            <a:noFill/>
          </a:ln>
        </p:spPr>
        <p:txBody>
          <a:bodyPr spcFirstLastPara="1" wrap="square" lIns="0" tIns="0" rIns="0" bIns="0" anchor="t" anchorCtr="0">
            <a:spAutoFit/>
          </a:bodyPr>
          <a:lstStyle/>
          <a:p>
            <a:pPr marL="0" lvl="0" indent="0" algn="l"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Second Normal Form </a:t>
            </a:r>
            <a:endParaRPr sz="3281" b="1">
              <a:solidFill>
                <a:srgbClr val="C00000"/>
              </a:solidFill>
              <a:latin typeface="Arimo"/>
              <a:ea typeface="Arimo"/>
              <a:cs typeface="Arimo"/>
              <a:sym typeface="Arimo"/>
            </a:endParaRPr>
          </a:p>
        </p:txBody>
      </p:sp>
      <p:sp>
        <p:nvSpPr>
          <p:cNvPr id="675" name="Google Shape;675;p37"/>
          <p:cNvSpPr txBox="1">
            <a:spLocks noGrp="1"/>
          </p:cNvSpPr>
          <p:nvPr>
            <p:ph type="body" idx="1"/>
          </p:nvPr>
        </p:nvSpPr>
        <p:spPr>
          <a:xfrm>
            <a:off x="2296886" y="1730828"/>
            <a:ext cx="7511143" cy="3211286"/>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000"/>
              <a:buChar char="•"/>
            </a:pPr>
            <a:r>
              <a:rPr lang="en-US" sz="2000">
                <a:latin typeface="Arial"/>
                <a:ea typeface="Arial"/>
                <a:cs typeface="Arial"/>
                <a:sym typeface="Arial"/>
              </a:rPr>
              <a:t>A relation is in </a:t>
            </a:r>
            <a:r>
              <a:rPr lang="en-US" sz="2000" b="1">
                <a:latin typeface="Arial"/>
                <a:ea typeface="Arial"/>
                <a:cs typeface="Arial"/>
                <a:sym typeface="Arial"/>
              </a:rPr>
              <a:t>2NF</a:t>
            </a:r>
            <a:r>
              <a:rPr lang="en-US" sz="2000">
                <a:latin typeface="Arial"/>
                <a:ea typeface="Arial"/>
                <a:cs typeface="Arial"/>
                <a:sym typeface="Arial"/>
              </a:rPr>
              <a:t> if it is in 1NF, and every non-key attribute is fully dependent on each candidate key. (That is, we don’t have any partial functional dependency.)</a:t>
            </a:r>
            <a:endParaRPr/>
          </a:p>
          <a:p>
            <a:pPr marL="342900" lvl="0" indent="-215900" algn="just" rtl="0">
              <a:lnSpc>
                <a:spcPct val="90000"/>
              </a:lnSpc>
              <a:spcBef>
                <a:spcPts val="0"/>
              </a:spcBef>
              <a:spcAft>
                <a:spcPts val="0"/>
              </a:spcAft>
              <a:buClr>
                <a:schemeClr val="dk1"/>
              </a:buClr>
              <a:buSzPts val="2000"/>
              <a:buNone/>
            </a:pPr>
            <a:endParaRPr sz="2000">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Font typeface="Times New Roman"/>
              <a:buChar char="•"/>
            </a:pPr>
            <a:r>
              <a:rPr lang="en-US" sz="2000">
                <a:latin typeface="Arial"/>
                <a:ea typeface="Arial"/>
                <a:cs typeface="Arial"/>
                <a:sym typeface="Arial"/>
              </a:rPr>
              <a:t> 2NF (and 3NF) both involve the concepts of key and non-key attributes. </a:t>
            </a:r>
            <a:endParaRPr/>
          </a:p>
          <a:p>
            <a:pPr marL="342900" lvl="0" indent="-215900" algn="just" rtl="0">
              <a:lnSpc>
                <a:spcPct val="90000"/>
              </a:lnSpc>
              <a:spcBef>
                <a:spcPts val="400"/>
              </a:spcBef>
              <a:spcAft>
                <a:spcPts val="0"/>
              </a:spcAft>
              <a:buClr>
                <a:schemeClr val="dk1"/>
              </a:buClr>
              <a:buSzPts val="2000"/>
              <a:buFont typeface="Times New Roman"/>
              <a:buNone/>
            </a:pPr>
            <a:endParaRPr>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Font typeface="Times New Roman"/>
              <a:buChar char="•"/>
            </a:pPr>
            <a:r>
              <a:rPr lang="en-US" sz="2000">
                <a:latin typeface="Arial"/>
                <a:ea typeface="Arial"/>
                <a:cs typeface="Arial"/>
                <a:sym typeface="Arial"/>
              </a:rPr>
              <a:t>A </a:t>
            </a:r>
            <a:r>
              <a:rPr lang="en-US" sz="2000" i="1">
                <a:latin typeface="Arial"/>
                <a:ea typeface="Arial"/>
                <a:cs typeface="Arial"/>
                <a:sym typeface="Arial"/>
              </a:rPr>
              <a:t>key attribute</a:t>
            </a:r>
            <a:r>
              <a:rPr lang="en-US" sz="2000">
                <a:latin typeface="Arial"/>
                <a:ea typeface="Arial"/>
                <a:cs typeface="Arial"/>
                <a:sym typeface="Arial"/>
              </a:rPr>
              <a:t> is any attribute that is part of a key; any attribute that is not a key attribute, is a </a:t>
            </a:r>
            <a:r>
              <a:rPr lang="en-US" sz="2000" i="1">
                <a:latin typeface="Arial"/>
                <a:ea typeface="Arial"/>
                <a:cs typeface="Arial"/>
                <a:sym typeface="Arial"/>
              </a:rPr>
              <a:t>non-key attribute .</a:t>
            </a:r>
            <a:endParaRPr>
              <a:latin typeface="Arial"/>
              <a:ea typeface="Arial"/>
              <a:cs typeface="Arial"/>
              <a:sym typeface="Arial"/>
            </a:endParaRPr>
          </a:p>
        </p:txBody>
      </p:sp>
      <p:sp>
        <p:nvSpPr>
          <p:cNvPr id="676" name="Google Shape;676;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77" name="Google Shape;677;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39"/>
          <p:cNvSpPr txBox="1">
            <a:spLocks noGrp="1"/>
          </p:cNvSpPr>
          <p:nvPr>
            <p:ph type="title"/>
          </p:nvPr>
        </p:nvSpPr>
        <p:spPr>
          <a:xfrm>
            <a:off x="2514600" y="1066800"/>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Second Normal Form</a:t>
            </a:r>
            <a:endParaRPr sz="3281" b="1">
              <a:solidFill>
                <a:srgbClr val="C00000"/>
              </a:solidFill>
              <a:latin typeface="Arimo"/>
              <a:ea typeface="Arimo"/>
              <a:cs typeface="Arimo"/>
              <a:sym typeface="Arimo"/>
            </a:endParaRPr>
          </a:p>
        </p:txBody>
      </p:sp>
      <p:sp>
        <p:nvSpPr>
          <p:cNvPr id="690" name="Google Shape;690;p39"/>
          <p:cNvSpPr txBox="1">
            <a:spLocks noGrp="1"/>
          </p:cNvSpPr>
          <p:nvPr>
            <p:ph type="body" idx="1"/>
          </p:nvPr>
        </p:nvSpPr>
        <p:spPr>
          <a:xfrm>
            <a:off x="2438400" y="1752600"/>
            <a:ext cx="8001000" cy="4495800"/>
          </a:xfrm>
          <a:prstGeom prst="rect">
            <a:avLst/>
          </a:prstGeom>
          <a:noFill/>
          <a:ln>
            <a:noFill/>
          </a:ln>
        </p:spPr>
        <p:txBody>
          <a:bodyPr spcFirstLastPara="1" wrap="square" lIns="91425" tIns="45700" rIns="91425" bIns="45700" anchor="t" anchorCtr="0">
            <a:normAutofit/>
          </a:bodyPr>
          <a:lstStyle/>
          <a:p>
            <a:pPr marL="342900" lvl="0" indent="-215900" algn="just" rtl="0">
              <a:lnSpc>
                <a:spcPct val="90000"/>
              </a:lnSpc>
              <a:spcBef>
                <a:spcPts val="0"/>
              </a:spcBef>
              <a:spcAft>
                <a:spcPts val="0"/>
              </a:spcAft>
              <a:buClr>
                <a:schemeClr val="dk1"/>
              </a:buClr>
              <a:buSzPts val="2000"/>
              <a:buNone/>
            </a:pPr>
            <a:endParaRPr sz="2000">
              <a:latin typeface="Times New Roman"/>
              <a:ea typeface="Times New Roman"/>
              <a:cs typeface="Times New Roman"/>
              <a:sym typeface="Times New Roman"/>
            </a:endParaRPr>
          </a:p>
          <a:p>
            <a:pPr marL="342900" lvl="0" indent="-215900" algn="just" rtl="0">
              <a:lnSpc>
                <a:spcPct val="90000"/>
              </a:lnSpc>
              <a:spcBef>
                <a:spcPts val="400"/>
              </a:spcBef>
              <a:spcAft>
                <a:spcPts val="0"/>
              </a:spcAft>
              <a:buClr>
                <a:schemeClr val="dk1"/>
              </a:buClr>
              <a:buSzPts val="2000"/>
              <a:buNone/>
            </a:pPr>
            <a:endParaRPr sz="2000">
              <a:latin typeface="Times New Roman"/>
              <a:ea typeface="Times New Roman"/>
              <a:cs typeface="Times New Roman"/>
              <a:sym typeface="Times New Roman"/>
            </a:endParaRPr>
          </a:p>
        </p:txBody>
      </p:sp>
      <p:pic>
        <p:nvPicPr>
          <p:cNvPr id="691" name="Google Shape;691;p39"/>
          <p:cNvPicPr preferRelativeResize="0"/>
          <p:nvPr/>
        </p:nvPicPr>
        <p:blipFill rotWithShape="1">
          <a:blip r:embed="rId3">
            <a:alphaModFix/>
          </a:blip>
          <a:srcRect/>
          <a:stretch/>
        </p:blipFill>
        <p:spPr>
          <a:xfrm>
            <a:off x="2879932" y="1902216"/>
            <a:ext cx="6477000" cy="1563855"/>
          </a:xfrm>
          <a:prstGeom prst="rect">
            <a:avLst/>
          </a:prstGeom>
          <a:noFill/>
          <a:ln>
            <a:noFill/>
          </a:ln>
        </p:spPr>
      </p:pic>
      <p:pic>
        <p:nvPicPr>
          <p:cNvPr id="692" name="Google Shape;692;p39"/>
          <p:cNvPicPr preferRelativeResize="0"/>
          <p:nvPr/>
        </p:nvPicPr>
        <p:blipFill rotWithShape="1">
          <a:blip r:embed="rId4">
            <a:alphaModFix/>
          </a:blip>
          <a:srcRect/>
          <a:stretch/>
        </p:blipFill>
        <p:spPr>
          <a:xfrm>
            <a:off x="2862872" y="3466070"/>
            <a:ext cx="6847256" cy="2325130"/>
          </a:xfrm>
          <a:prstGeom prst="rect">
            <a:avLst/>
          </a:prstGeom>
          <a:noFill/>
          <a:ln>
            <a:noFill/>
          </a:ln>
        </p:spPr>
      </p:pic>
      <p:sp>
        <p:nvSpPr>
          <p:cNvPr id="693" name="Google Shape;693;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694" name="Google Shape;694;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749" name="Google Shape;749;p43"/>
          <p:cNvPicPr preferRelativeResize="0"/>
          <p:nvPr/>
        </p:nvPicPr>
        <p:blipFill rotWithShape="1">
          <a:blip r:embed="rId3">
            <a:alphaModFix/>
          </a:blip>
          <a:srcRect/>
          <a:stretch/>
        </p:blipFill>
        <p:spPr>
          <a:xfrm>
            <a:off x="3071664" y="908721"/>
            <a:ext cx="6192688" cy="4536503"/>
          </a:xfrm>
          <a:prstGeom prst="rect">
            <a:avLst/>
          </a:prstGeom>
          <a:noFill/>
          <a:ln>
            <a:noFill/>
          </a:ln>
        </p:spPr>
      </p:pic>
      <p:sp>
        <p:nvSpPr>
          <p:cNvPr id="750" name="Google Shape;750;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51" name="Google Shape;751;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grpSp>
        <p:nvGrpSpPr>
          <p:cNvPr id="703" name="Google Shape;703;p40"/>
          <p:cNvGrpSpPr/>
          <p:nvPr/>
        </p:nvGrpSpPr>
        <p:grpSpPr>
          <a:xfrm>
            <a:off x="1524000" y="6356604"/>
            <a:ext cx="9144000" cy="88404"/>
            <a:chOff x="0" y="0"/>
            <a:chExt cx="13004800" cy="125730"/>
          </a:xfrm>
        </p:grpSpPr>
        <p:sp>
          <p:nvSpPr>
            <p:cNvPr id="704" name="Google Shape;704;p4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05" name="Google Shape;705;p4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06" name="Google Shape;706;p40"/>
          <p:cNvSpPr txBox="1"/>
          <p:nvPr/>
        </p:nvSpPr>
        <p:spPr>
          <a:xfrm>
            <a:off x="4132687" y="409001"/>
            <a:ext cx="5208259" cy="605871"/>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Third Normal Form</a:t>
            </a:r>
            <a:endParaRPr dirty="0"/>
          </a:p>
        </p:txBody>
      </p:sp>
      <p:sp>
        <p:nvSpPr>
          <p:cNvPr id="708" name="Google Shape;708;p40"/>
          <p:cNvSpPr txBox="1"/>
          <p:nvPr/>
        </p:nvSpPr>
        <p:spPr>
          <a:xfrm>
            <a:off x="1989254" y="1484615"/>
            <a:ext cx="8304976"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relation is in the third normal form, if there is no transitive dependency for non-prime attributes as well as it is in the second normal form. A relation is in 3NF if at least one of the following conditions holds in every non-trivial function dependency X –&gt; 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X is a super key.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Y is a prime attribute (each element of Y is part of some candidate key).</a:t>
            </a:r>
            <a:endParaRPr dirty="0"/>
          </a:p>
        </p:txBody>
      </p:sp>
      <p:sp>
        <p:nvSpPr>
          <p:cNvPr id="709" name="Google Shape;709;p40"/>
          <p:cNvSpPr txBox="1"/>
          <p:nvPr/>
        </p:nvSpPr>
        <p:spPr>
          <a:xfrm>
            <a:off x="1989254" y="3842917"/>
            <a:ext cx="4641191" cy="207749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In other words,</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relation that is in First and Second Normal Form and in which no non-primary-key attribute is transitively dependent on the primary key, then it is in Third Normal Form (3NF). </a:t>
            </a:r>
            <a:endParaRPr dirty="0"/>
          </a:p>
        </p:txBody>
      </p:sp>
      <p:grpSp>
        <p:nvGrpSpPr>
          <p:cNvPr id="710" name="Google Shape;710;p40"/>
          <p:cNvGrpSpPr/>
          <p:nvPr/>
        </p:nvGrpSpPr>
        <p:grpSpPr>
          <a:xfrm>
            <a:off x="7666207" y="3982767"/>
            <a:ext cx="2877344" cy="2269230"/>
            <a:chOff x="0" y="0"/>
            <a:chExt cx="4092222" cy="3674464"/>
          </a:xfrm>
        </p:grpSpPr>
        <p:sp>
          <p:nvSpPr>
            <p:cNvPr id="711" name="Google Shape;711;p40"/>
            <p:cNvSpPr/>
            <p:nvPr/>
          </p:nvSpPr>
          <p:spPr>
            <a:xfrm>
              <a:off x="0" y="0"/>
              <a:ext cx="3664665" cy="3674464"/>
            </a:xfrm>
            <a:custGeom>
              <a:avLst/>
              <a:gdLst/>
              <a:ahLst/>
              <a:cxnLst/>
              <a:rect l="l" t="t" r="r" b="b"/>
              <a:pathLst>
                <a:path w="3664665" h="3674464" extrusionOk="0">
                  <a:moveTo>
                    <a:pt x="0" y="0"/>
                  </a:moveTo>
                  <a:lnTo>
                    <a:pt x="3664665" y="0"/>
                  </a:lnTo>
                  <a:lnTo>
                    <a:pt x="3664665" y="3674464"/>
                  </a:lnTo>
                  <a:lnTo>
                    <a:pt x="0" y="3674464"/>
                  </a:lnTo>
                  <a:lnTo>
                    <a:pt x="0" y="0"/>
                  </a:lnTo>
                  <a:close/>
                </a:path>
              </a:pathLst>
            </a:custGeom>
            <a:blipFill rotWithShape="1">
              <a:blip r:embed="rId3">
                <a:alphaModFix/>
              </a:blip>
              <a:stretch>
                <a:fillRect/>
              </a:stretch>
            </a:blipFill>
            <a:ln>
              <a:noFill/>
            </a:ln>
          </p:spPr>
        </p:sp>
        <p:sp>
          <p:nvSpPr>
            <p:cNvPr id="712" name="Google Shape;712;p40"/>
            <p:cNvSpPr txBox="1"/>
            <p:nvPr/>
          </p:nvSpPr>
          <p:spPr>
            <a:xfrm>
              <a:off x="205692" y="447115"/>
              <a:ext cx="3886530" cy="383010"/>
            </a:xfrm>
            <a:prstGeom prst="rect">
              <a:avLst/>
            </a:prstGeom>
            <a:noFill/>
            <a:ln>
              <a:noFill/>
            </a:ln>
          </p:spPr>
          <p:txBody>
            <a:bodyPr spcFirstLastPara="1" wrap="square" lIns="0" tIns="0" rIns="0" bIns="0" anchor="t" anchorCtr="0">
              <a:spAutoFit/>
            </a:bodyPr>
            <a:lstStyle/>
            <a:p>
              <a:pPr marL="0" marR="0" lvl="0" indent="0" algn="just" rtl="0">
                <a:lnSpc>
                  <a:spcPct val="120056"/>
                </a:lnSpc>
                <a:spcBef>
                  <a:spcPts val="0"/>
                </a:spcBef>
                <a:spcAft>
                  <a:spcPts val="0"/>
                </a:spcAft>
                <a:buNone/>
              </a:pPr>
              <a:r>
                <a:rPr lang="en-US" sz="1765">
                  <a:solidFill>
                    <a:srgbClr val="000000"/>
                  </a:solidFill>
                  <a:latin typeface="Yeseva One"/>
                  <a:ea typeface="Yeseva One"/>
                  <a:cs typeface="Yeseva One"/>
                  <a:sym typeface="Yeseva One"/>
                </a:rPr>
                <a:t>Third Normal Form</a:t>
              </a:r>
              <a:endParaRPr/>
            </a:p>
          </p:txBody>
        </p:sp>
      </p:grpSp>
      <p:sp>
        <p:nvSpPr>
          <p:cNvPr id="716" name="Google Shape;716;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17" name="Google Shape;717;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grpSp>
        <p:nvGrpSpPr>
          <p:cNvPr id="726" name="Google Shape;726;p41"/>
          <p:cNvGrpSpPr/>
          <p:nvPr/>
        </p:nvGrpSpPr>
        <p:grpSpPr>
          <a:xfrm>
            <a:off x="1524000" y="6356604"/>
            <a:ext cx="9144000" cy="88404"/>
            <a:chOff x="0" y="0"/>
            <a:chExt cx="13004800" cy="125730"/>
          </a:xfrm>
        </p:grpSpPr>
        <p:sp>
          <p:nvSpPr>
            <p:cNvPr id="727" name="Google Shape;727;p4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28" name="Google Shape;728;p4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29" name="Google Shape;729;p41"/>
          <p:cNvSpPr/>
          <p:nvPr/>
        </p:nvSpPr>
        <p:spPr>
          <a:xfrm>
            <a:off x="7766480" y="3567324"/>
            <a:ext cx="2280259" cy="2604876"/>
          </a:xfrm>
          <a:custGeom>
            <a:avLst/>
            <a:gdLst/>
            <a:ahLst/>
            <a:cxnLst/>
            <a:rect l="l" t="t" r="r" b="b"/>
            <a:pathLst>
              <a:path w="2432276" h="2778534" extrusionOk="0">
                <a:moveTo>
                  <a:pt x="0" y="0"/>
                </a:moveTo>
                <a:lnTo>
                  <a:pt x="2432276" y="0"/>
                </a:lnTo>
                <a:lnTo>
                  <a:pt x="2432276" y="2778534"/>
                </a:lnTo>
                <a:lnTo>
                  <a:pt x="0" y="2778534"/>
                </a:lnTo>
                <a:lnTo>
                  <a:pt x="0" y="0"/>
                </a:lnTo>
                <a:close/>
              </a:path>
            </a:pathLst>
          </a:custGeom>
          <a:blipFill rotWithShape="1">
            <a:blip r:embed="rId3">
              <a:alphaModFix/>
            </a:blip>
            <a:stretch>
              <a:fillRect t="-8469"/>
            </a:stretch>
          </a:blipFill>
          <a:ln>
            <a:noFill/>
          </a:ln>
        </p:spPr>
      </p:sp>
      <p:sp>
        <p:nvSpPr>
          <p:cNvPr id="731" name="Google Shape;731;p41"/>
          <p:cNvSpPr txBox="1"/>
          <p:nvPr/>
        </p:nvSpPr>
        <p:spPr>
          <a:xfrm>
            <a:off x="1727997" y="1369476"/>
            <a:ext cx="2571860"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a:solidFill>
                  <a:srgbClr val="000000"/>
                </a:solidFill>
                <a:latin typeface="Arial"/>
                <a:ea typeface="Arial"/>
                <a:cs typeface="Arial"/>
                <a:sym typeface="Arial"/>
              </a:rPr>
              <a:t>Third Normal Form</a:t>
            </a:r>
            <a:endParaRPr/>
          </a:p>
        </p:txBody>
      </p:sp>
      <p:sp>
        <p:nvSpPr>
          <p:cNvPr id="732" name="Google Shape;732;p41"/>
          <p:cNvSpPr txBox="1"/>
          <p:nvPr/>
        </p:nvSpPr>
        <p:spPr>
          <a:xfrm>
            <a:off x="1989254" y="1804511"/>
            <a:ext cx="8304976"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normalization of 2NF relations to 3NF involves the removal of transitive dependencies. If a transitive dependency exists, we remove the transitively dependent attribute(s) from the relation by placing the attribute(s) in a new relation along with a copy of the determinant. Consider the examples given below. Y is a prime attribute (each element of Y is part of some candidate key).</a:t>
            </a:r>
            <a:endParaRPr dirty="0"/>
          </a:p>
        </p:txBody>
      </p:sp>
      <p:sp>
        <p:nvSpPr>
          <p:cNvPr id="733" name="Google Shape;733;p41"/>
          <p:cNvSpPr txBox="1"/>
          <p:nvPr/>
        </p:nvSpPr>
        <p:spPr>
          <a:xfrm>
            <a:off x="2026863" y="3743017"/>
            <a:ext cx="4962695" cy="57092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dirty="0">
                <a:solidFill>
                  <a:srgbClr val="000000"/>
                </a:solidFill>
                <a:latin typeface="Arial"/>
                <a:ea typeface="Arial"/>
                <a:cs typeface="Arial"/>
                <a:sym typeface="Arial"/>
              </a:rPr>
              <a:t>Example 2:</a:t>
            </a:r>
            <a:r>
              <a:rPr lang="en-US" sz="1875" dirty="0">
                <a:solidFill>
                  <a:srgbClr val="000000"/>
                </a:solidFill>
                <a:latin typeface="Arial"/>
                <a:ea typeface="Arial"/>
                <a:cs typeface="Arial"/>
                <a:sym typeface="Arial"/>
              </a:rPr>
              <a:t> Consider Relation R(A, B, C, D, E)</a:t>
            </a:r>
            <a:endParaRPr dirty="0"/>
          </a:p>
          <a:p>
            <a:pPr marL="0" marR="0" lvl="0" indent="0" algn="ctr"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734" name="Google Shape;734;p41"/>
          <p:cNvSpPr txBox="1"/>
          <p:nvPr/>
        </p:nvSpPr>
        <p:spPr>
          <a:xfrm>
            <a:off x="2026863" y="4436823"/>
            <a:ext cx="5091878"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All possible candidate keys in above relation are {A, E, CD, BC} All attribute are on right sides of all functional dependencies are prime.</a:t>
            </a:r>
            <a:endParaRPr dirty="0"/>
          </a:p>
        </p:txBody>
      </p:sp>
      <p:sp>
        <p:nvSpPr>
          <p:cNvPr id="735" name="Google Shape;735;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36" name="Google Shape;736;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42"/>
          <p:cNvSpPr txBox="1">
            <a:spLocks noGrp="1"/>
          </p:cNvSpPr>
          <p:nvPr>
            <p:ph type="title"/>
          </p:nvPr>
        </p:nvSpPr>
        <p:spPr>
          <a:xfrm>
            <a:off x="2514600" y="1066800"/>
            <a:ext cx="6553200" cy="500137"/>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Third Normal Form </a:t>
            </a:r>
            <a:endParaRPr sz="3281" b="1">
              <a:solidFill>
                <a:srgbClr val="C00000"/>
              </a:solidFill>
              <a:latin typeface="Arimo"/>
              <a:ea typeface="Arimo"/>
              <a:cs typeface="Arimo"/>
              <a:sym typeface="Arimo"/>
            </a:endParaRPr>
          </a:p>
        </p:txBody>
      </p:sp>
      <p:sp>
        <p:nvSpPr>
          <p:cNvPr id="742" name="Google Shape;742;p42"/>
          <p:cNvSpPr txBox="1">
            <a:spLocks noGrp="1"/>
          </p:cNvSpPr>
          <p:nvPr>
            <p:ph type="body" idx="1"/>
          </p:nvPr>
        </p:nvSpPr>
        <p:spPr>
          <a:xfrm>
            <a:off x="1790700" y="1860550"/>
            <a:ext cx="8001000" cy="4495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150000"/>
              </a:lnSpc>
              <a:spcBef>
                <a:spcPts val="0"/>
              </a:spcBef>
              <a:spcAft>
                <a:spcPts val="0"/>
              </a:spcAft>
              <a:buClr>
                <a:schemeClr val="dk1"/>
              </a:buClr>
              <a:buSzPts val="2000"/>
              <a:buChar char="•"/>
            </a:pPr>
            <a:r>
              <a:rPr lang="en-US" sz="2000" dirty="0">
                <a:latin typeface="Arial"/>
                <a:ea typeface="Arial"/>
                <a:cs typeface="Arial"/>
                <a:sym typeface="Arial"/>
              </a:rPr>
              <a:t>A database is in third normal form if it satisfies the following conditions:</a:t>
            </a:r>
            <a:endParaRPr dirty="0">
              <a:latin typeface="Arial"/>
              <a:ea typeface="Arial"/>
              <a:cs typeface="Arial"/>
              <a:sym typeface="Arial"/>
            </a:endParaRPr>
          </a:p>
          <a:p>
            <a:pPr marL="742950" lvl="1" indent="-285750" algn="just">
              <a:lnSpc>
                <a:spcPct val="150000"/>
              </a:lnSpc>
              <a:spcBef>
                <a:spcPts val="320"/>
              </a:spcBef>
              <a:buSzPts val="1600"/>
            </a:pPr>
            <a:r>
              <a:rPr lang="en-US" sz="1800" dirty="0">
                <a:latin typeface="Arial"/>
                <a:ea typeface="Arial"/>
                <a:cs typeface="Arial"/>
                <a:sym typeface="Arial"/>
              </a:rPr>
              <a:t>It is in second normal form</a:t>
            </a:r>
            <a:endParaRPr sz="2800" dirty="0">
              <a:latin typeface="Arial"/>
              <a:ea typeface="Arial"/>
              <a:cs typeface="Arial"/>
              <a:sym typeface="Arial"/>
            </a:endParaRPr>
          </a:p>
          <a:p>
            <a:pPr marL="742950" lvl="1" indent="-285750" algn="just">
              <a:lnSpc>
                <a:spcPct val="150000"/>
              </a:lnSpc>
              <a:spcBef>
                <a:spcPts val="320"/>
              </a:spcBef>
              <a:buSzPts val="1600"/>
            </a:pPr>
            <a:r>
              <a:rPr lang="en-US" sz="1800" dirty="0">
                <a:latin typeface="Arial"/>
                <a:ea typeface="Arial"/>
                <a:cs typeface="Arial"/>
                <a:sym typeface="Arial"/>
              </a:rPr>
              <a:t>There is no transitive functional dependency</a:t>
            </a:r>
            <a:endParaRPr sz="2400" dirty="0">
              <a:latin typeface="Arial"/>
              <a:ea typeface="Arial"/>
              <a:cs typeface="Arial"/>
              <a:sym typeface="Arial"/>
            </a:endParaRPr>
          </a:p>
          <a:p>
            <a:pPr marL="0" lvl="0" indent="0" algn="just" rtl="0">
              <a:lnSpc>
                <a:spcPct val="150000"/>
              </a:lnSpc>
              <a:spcBef>
                <a:spcPts val="400"/>
              </a:spcBef>
              <a:spcAft>
                <a:spcPts val="0"/>
              </a:spcAft>
              <a:buClr>
                <a:schemeClr val="dk1"/>
              </a:buClr>
              <a:buSzPts val="2000"/>
              <a:buNone/>
            </a:pPr>
            <a:r>
              <a:rPr lang="en-US" sz="2000" dirty="0">
                <a:latin typeface="Arial"/>
                <a:ea typeface="Arial"/>
                <a:cs typeface="Arial"/>
                <a:sym typeface="Arial"/>
              </a:rPr>
              <a:t>Definition</a:t>
            </a:r>
            <a:endParaRPr sz="3200" dirty="0">
              <a:latin typeface="Arial"/>
              <a:ea typeface="Arial"/>
              <a:cs typeface="Arial"/>
              <a:sym typeface="Arial"/>
            </a:endParaRPr>
          </a:p>
          <a:p>
            <a:pPr marL="800100" lvl="1" algn="just" rtl="0">
              <a:lnSpc>
                <a:spcPct val="150000"/>
              </a:lnSpc>
              <a:spcBef>
                <a:spcPts val="400"/>
              </a:spcBef>
              <a:spcAft>
                <a:spcPts val="0"/>
              </a:spcAft>
              <a:buClr>
                <a:schemeClr val="dk1"/>
              </a:buClr>
              <a:buSzPts val="2000"/>
              <a:buFont typeface="Arial" panose="020B0604020202020204" pitchFamily="34" charset="0"/>
              <a:buChar char="•"/>
            </a:pPr>
            <a:r>
              <a:rPr lang="en-US" sz="2000" b="1" dirty="0">
                <a:latin typeface="Arial"/>
                <a:ea typeface="Arial"/>
                <a:cs typeface="Arial"/>
                <a:sym typeface="Arial"/>
              </a:rPr>
              <a:t>Transitive functional dependency</a:t>
            </a:r>
            <a:r>
              <a:rPr lang="en-US" sz="2000" dirty="0">
                <a:latin typeface="Arial"/>
                <a:ea typeface="Arial"/>
                <a:cs typeface="Arial"/>
                <a:sym typeface="Arial"/>
              </a:rPr>
              <a:t> – if there a set of </a:t>
            </a:r>
            <a:r>
              <a:rPr lang="en-US" sz="2000" dirty="0" err="1">
                <a:latin typeface="Arial"/>
                <a:ea typeface="Arial"/>
                <a:cs typeface="Arial"/>
                <a:sym typeface="Arial"/>
              </a:rPr>
              <a:t>atribute</a:t>
            </a:r>
            <a:r>
              <a:rPr lang="en-US" sz="2000" dirty="0">
                <a:latin typeface="Arial"/>
                <a:ea typeface="Arial"/>
                <a:cs typeface="Arial"/>
                <a:sym typeface="Arial"/>
              </a:rPr>
              <a:t> Z that are neither a primary or candidate key and both X </a:t>
            </a:r>
            <a:r>
              <a:rPr lang="en-US" sz="2000" dirty="0">
                <a:solidFill>
                  <a:srgbClr val="000000"/>
                </a:solidFill>
                <a:latin typeface="Arial"/>
                <a:ea typeface="Arial"/>
                <a:cs typeface="Arial"/>
                <a:sym typeface="Arial"/>
              </a:rPr>
              <a:t>–&gt;</a:t>
            </a:r>
            <a:r>
              <a:rPr lang="en-US" sz="2000" dirty="0">
                <a:latin typeface="Arial"/>
                <a:ea typeface="Arial"/>
                <a:cs typeface="Arial"/>
                <a:sym typeface="Arial"/>
              </a:rPr>
              <a:t> Z  and Y </a:t>
            </a:r>
            <a:r>
              <a:rPr lang="en-US" sz="2000" dirty="0">
                <a:solidFill>
                  <a:srgbClr val="000000"/>
                </a:solidFill>
                <a:latin typeface="Arial"/>
                <a:ea typeface="Arial"/>
                <a:cs typeface="Arial"/>
                <a:sym typeface="Arial"/>
              </a:rPr>
              <a:t>–&gt;</a:t>
            </a:r>
            <a:r>
              <a:rPr lang="en-US" sz="2000" dirty="0">
                <a:latin typeface="Arial"/>
                <a:ea typeface="Arial"/>
                <a:cs typeface="Arial"/>
                <a:sym typeface="Arial"/>
              </a:rPr>
              <a:t> Z holds. </a:t>
            </a:r>
            <a:endParaRPr sz="2000" dirty="0">
              <a:latin typeface="Arial"/>
              <a:ea typeface="Arial"/>
              <a:cs typeface="Arial"/>
              <a:sym typeface="Arial"/>
            </a:endParaRPr>
          </a:p>
        </p:txBody>
      </p:sp>
      <p:sp>
        <p:nvSpPr>
          <p:cNvPr id="743" name="Google Shape;743;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44" name="Google Shape;744;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44"/>
          <p:cNvSpPr txBox="1">
            <a:spLocks noGrp="1"/>
          </p:cNvSpPr>
          <p:nvPr>
            <p:ph type="title"/>
          </p:nvPr>
        </p:nvSpPr>
        <p:spPr>
          <a:xfrm>
            <a:off x="2466974" y="609600"/>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Third Normal Form </a:t>
            </a:r>
            <a:endParaRPr sz="3281" b="1">
              <a:solidFill>
                <a:srgbClr val="C00000"/>
              </a:solidFill>
              <a:latin typeface="Arimo"/>
              <a:ea typeface="Arimo"/>
              <a:cs typeface="Arimo"/>
              <a:sym typeface="Arimo"/>
            </a:endParaRPr>
          </a:p>
        </p:txBody>
      </p:sp>
      <p:sp>
        <p:nvSpPr>
          <p:cNvPr id="757" name="Google Shape;757;p44"/>
          <p:cNvSpPr txBox="1">
            <a:spLocks noGrp="1"/>
          </p:cNvSpPr>
          <p:nvPr>
            <p:ph type="body" idx="1"/>
          </p:nvPr>
        </p:nvSpPr>
        <p:spPr>
          <a:xfrm>
            <a:off x="2438400" y="1371600"/>
            <a:ext cx="8001000" cy="4876800"/>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chemeClr val="dk1"/>
              </a:buClr>
              <a:buSzPts val="2000"/>
              <a:buChar char="•"/>
            </a:pPr>
            <a:r>
              <a:rPr lang="en-US" sz="1880" dirty="0">
                <a:latin typeface="Arial"/>
                <a:ea typeface="Arial"/>
                <a:cs typeface="Arial"/>
                <a:sym typeface="Arial"/>
              </a:rPr>
              <a:t>In the table able, [Book ID] determines [Genre ID], and [Genre ID] determines [Genre Type]. Therefore, [Book ID] determines [Genre Type] via [Genre ID] and we have transitive functional dependency, and this structure does not satisfy third normal form.</a:t>
            </a:r>
            <a:endParaRPr sz="1880" dirty="0">
              <a:latin typeface="Arial"/>
              <a:ea typeface="Arial"/>
              <a:cs typeface="Arial"/>
              <a:sym typeface="Arial"/>
            </a:endParaRPr>
          </a:p>
          <a:p>
            <a:pPr marL="342900" lvl="0" indent="-342900" algn="just" rtl="0">
              <a:lnSpc>
                <a:spcPct val="90000"/>
              </a:lnSpc>
              <a:spcBef>
                <a:spcPts val="400"/>
              </a:spcBef>
              <a:spcAft>
                <a:spcPts val="0"/>
              </a:spcAft>
              <a:buClr>
                <a:schemeClr val="dk1"/>
              </a:buClr>
              <a:buSzPts val="2000"/>
              <a:buChar char="•"/>
            </a:pPr>
            <a:r>
              <a:rPr lang="en-US" sz="1880" dirty="0">
                <a:latin typeface="Arial"/>
                <a:ea typeface="Arial"/>
                <a:cs typeface="Arial"/>
                <a:sym typeface="Arial"/>
              </a:rPr>
              <a:t>To bring this table to third normal form, we split the table into two as follows:</a:t>
            </a:r>
            <a:endParaRPr sz="1880" dirty="0">
              <a:latin typeface="Arial"/>
              <a:ea typeface="Arial"/>
              <a:cs typeface="Arial"/>
              <a:sym typeface="Arial"/>
            </a:endParaRPr>
          </a:p>
          <a:p>
            <a:pPr marL="342900" lvl="0" indent="-215900" algn="just" rtl="0">
              <a:lnSpc>
                <a:spcPct val="90000"/>
              </a:lnSpc>
              <a:spcBef>
                <a:spcPts val="400"/>
              </a:spcBef>
              <a:spcAft>
                <a:spcPts val="0"/>
              </a:spcAft>
              <a:buClr>
                <a:schemeClr val="dk1"/>
              </a:buClr>
              <a:buSzPts val="2000"/>
              <a:buNone/>
            </a:pPr>
            <a:endParaRPr sz="2000" dirty="0">
              <a:latin typeface="Arial"/>
              <a:ea typeface="Arial"/>
              <a:cs typeface="Arial"/>
              <a:sym typeface="Arial"/>
            </a:endParaRPr>
          </a:p>
        </p:txBody>
      </p:sp>
      <p:pic>
        <p:nvPicPr>
          <p:cNvPr id="758" name="Google Shape;758;p44"/>
          <p:cNvPicPr preferRelativeResize="0"/>
          <p:nvPr/>
        </p:nvPicPr>
        <p:blipFill rotWithShape="1">
          <a:blip r:embed="rId3">
            <a:alphaModFix/>
          </a:blip>
          <a:srcRect/>
          <a:stretch/>
        </p:blipFill>
        <p:spPr>
          <a:xfrm>
            <a:off x="2225768" y="3165550"/>
            <a:ext cx="3629025" cy="1733550"/>
          </a:xfrm>
          <a:prstGeom prst="rect">
            <a:avLst/>
          </a:prstGeom>
          <a:noFill/>
          <a:ln>
            <a:noFill/>
          </a:ln>
        </p:spPr>
      </p:pic>
      <p:pic>
        <p:nvPicPr>
          <p:cNvPr id="759" name="Google Shape;759;p44"/>
          <p:cNvPicPr preferRelativeResize="0"/>
          <p:nvPr/>
        </p:nvPicPr>
        <p:blipFill rotWithShape="1">
          <a:blip r:embed="rId4">
            <a:alphaModFix/>
          </a:blip>
          <a:srcRect/>
          <a:stretch/>
        </p:blipFill>
        <p:spPr>
          <a:xfrm>
            <a:off x="5854793" y="2987376"/>
            <a:ext cx="4210051" cy="1866900"/>
          </a:xfrm>
          <a:prstGeom prst="rect">
            <a:avLst/>
          </a:prstGeom>
          <a:noFill/>
          <a:ln>
            <a:noFill/>
          </a:ln>
        </p:spPr>
      </p:pic>
      <p:sp>
        <p:nvSpPr>
          <p:cNvPr id="760" name="Google Shape;760;p44"/>
          <p:cNvSpPr txBox="1"/>
          <p:nvPr/>
        </p:nvSpPr>
        <p:spPr>
          <a:xfrm>
            <a:off x="1930021" y="5125202"/>
            <a:ext cx="8509379" cy="9602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80" dirty="0">
                <a:solidFill>
                  <a:schemeClr val="dk1"/>
                </a:solidFill>
                <a:latin typeface="Arial"/>
                <a:ea typeface="Arial"/>
                <a:cs typeface="Arial"/>
                <a:sym typeface="Arial"/>
              </a:rPr>
              <a:t>Now all non-key attributes are fully functional dependent only on the primary key. In [TABLE_BOOK], both [Genre ID] and [Price] are only dependent on [Book ID]. In [TABLE_GENRE], [Genre Type] is only dependent on [Genre ID].</a:t>
            </a:r>
            <a:endParaRPr sz="1880" dirty="0">
              <a:solidFill>
                <a:schemeClr val="dk1"/>
              </a:solidFill>
              <a:latin typeface="Arial"/>
              <a:ea typeface="Arial"/>
              <a:cs typeface="Arial"/>
              <a:sym typeface="Arial"/>
            </a:endParaRPr>
          </a:p>
        </p:txBody>
      </p:sp>
      <p:sp>
        <p:nvSpPr>
          <p:cNvPr id="761" name="Google Shape;76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62" name="Google Shape;76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p52"/>
          <p:cNvSpPr/>
          <p:nvPr/>
        </p:nvSpPr>
        <p:spPr>
          <a:xfrm>
            <a:off x="2063552" y="668596"/>
            <a:ext cx="8691534" cy="12003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The difference between 3NF and BCNF is that for a functional dependency A🡪 B, 3NF allows this dependency in a relation if B is a primary-key attribute and A is not a candidate key, Whereas BCNF insists that for this dependency to remain in a relation, A must be a candidate key.</a:t>
            </a:r>
            <a:endParaRPr sz="1800">
              <a:solidFill>
                <a:schemeClr val="dk1"/>
              </a:solidFill>
              <a:latin typeface="Arial"/>
              <a:ea typeface="Arial"/>
              <a:cs typeface="Arial"/>
              <a:sym typeface="Arial"/>
            </a:endParaRPr>
          </a:p>
        </p:txBody>
      </p:sp>
      <p:pic>
        <p:nvPicPr>
          <p:cNvPr id="848" name="Google Shape;848;p52"/>
          <p:cNvPicPr preferRelativeResize="0"/>
          <p:nvPr/>
        </p:nvPicPr>
        <p:blipFill rotWithShape="1">
          <a:blip r:embed="rId3">
            <a:alphaModFix/>
          </a:blip>
          <a:srcRect/>
          <a:stretch/>
        </p:blipFill>
        <p:spPr>
          <a:xfrm>
            <a:off x="2639616" y="1988841"/>
            <a:ext cx="6480720" cy="3819525"/>
          </a:xfrm>
          <a:prstGeom prst="rect">
            <a:avLst/>
          </a:prstGeom>
          <a:noFill/>
          <a:ln>
            <a:noFill/>
          </a:ln>
        </p:spPr>
      </p:pic>
      <p:sp>
        <p:nvSpPr>
          <p:cNvPr id="849" name="Google Shape;84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50" name="Google Shape;85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45"/>
          <p:cNvSpPr txBox="1"/>
          <p:nvPr/>
        </p:nvSpPr>
        <p:spPr>
          <a:xfrm>
            <a:off x="3215680" y="332657"/>
            <a:ext cx="4968552" cy="83099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EXAMPLE</a:t>
            </a:r>
            <a:endParaRPr sz="3281" b="1">
              <a:solidFill>
                <a:srgbClr val="C00000"/>
              </a:solidFill>
              <a:latin typeface="Arimo"/>
              <a:ea typeface="Arimo"/>
              <a:cs typeface="Arimo"/>
              <a:sym typeface="Arimo"/>
            </a:endParaRPr>
          </a:p>
        </p:txBody>
      </p:sp>
      <p:pic>
        <p:nvPicPr>
          <p:cNvPr id="768" name="Google Shape;768;p45"/>
          <p:cNvPicPr preferRelativeResize="0"/>
          <p:nvPr/>
        </p:nvPicPr>
        <p:blipFill rotWithShape="1">
          <a:blip r:embed="rId3">
            <a:alphaModFix/>
          </a:blip>
          <a:srcRect/>
          <a:stretch/>
        </p:blipFill>
        <p:spPr>
          <a:xfrm>
            <a:off x="4779021" y="1014349"/>
            <a:ext cx="6134100" cy="733425"/>
          </a:xfrm>
          <a:prstGeom prst="rect">
            <a:avLst/>
          </a:prstGeom>
          <a:noFill/>
          <a:ln>
            <a:noFill/>
          </a:ln>
        </p:spPr>
      </p:pic>
      <p:sp>
        <p:nvSpPr>
          <p:cNvPr id="769" name="Google Shape;769;p45"/>
          <p:cNvSpPr txBox="1"/>
          <p:nvPr/>
        </p:nvSpPr>
        <p:spPr>
          <a:xfrm>
            <a:off x="1885378" y="1845346"/>
            <a:ext cx="7992888" cy="45242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FD set:</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{STUD_NO -&gt; STUD_NAME, STUD_NO -&gt; STUD_STATE, STUD_STATE -&gt; STUD_COUNTRY, STUD_NO -&gt; STUD_AGE}</a:t>
            </a:r>
            <a:endParaRPr sz="18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Candidate Key:</a:t>
            </a:r>
            <a:br>
              <a:rPr lang="en-US" sz="1800" dirty="0">
                <a:solidFill>
                  <a:schemeClr val="dk1"/>
                </a:solidFill>
                <a:latin typeface="Arial"/>
                <a:ea typeface="Arial"/>
                <a:cs typeface="Arial"/>
                <a:sym typeface="Arial"/>
              </a:rPr>
            </a:br>
            <a:r>
              <a:rPr lang="en-US" sz="1800" dirty="0">
                <a:solidFill>
                  <a:schemeClr val="dk1"/>
                </a:solidFill>
                <a:latin typeface="Arial"/>
                <a:ea typeface="Arial"/>
                <a:cs typeface="Arial"/>
                <a:sym typeface="Arial"/>
              </a:rPr>
              <a:t>{STUD_NO}</a:t>
            </a:r>
            <a:endParaRPr sz="18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For this relation in table , STUD_NO -&gt; STUD_STATE and STUD_STATE -&gt; STUD_COUNTRY are true. So STUD_COUNTRY is transitively dependent on STUD_NO. It violates the third normal form. To convert it in third normal form, we will decompose the relation STUDENT (STUD_NO, STUD_NAME, STUD_PHONE, STUD_STATE, STUD_COUNTRY_STUD_AGE) as:</a:t>
            </a:r>
            <a:endParaRPr sz="18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STUDENT (STUD_NO, STUD_NAME, STUD_PHONE, STUD_STATE, STUD_AGE) STATE_COUNTRY (STATE, COUNTRY) </a:t>
            </a:r>
            <a:endParaRPr sz="1800" dirty="0">
              <a:solidFill>
                <a:schemeClr val="dk1"/>
              </a:solidFill>
              <a:latin typeface="Arial"/>
              <a:ea typeface="Arial"/>
              <a:cs typeface="Arial"/>
              <a:sym typeface="Arial"/>
            </a:endParaRPr>
          </a:p>
          <a:p>
            <a:pPr marL="0" marR="0" lvl="0" indent="0" algn="l" rtl="0">
              <a:spcBef>
                <a:spcPts val="0"/>
              </a:spcBef>
              <a:spcAft>
                <a:spcPts val="0"/>
              </a:spcAft>
              <a:buNone/>
            </a:pPr>
            <a:endParaRPr sz="1800" dirty="0">
              <a:solidFill>
                <a:schemeClr val="dk1"/>
              </a:solidFill>
              <a:latin typeface="Arial"/>
              <a:ea typeface="Arial"/>
              <a:cs typeface="Arial"/>
              <a:sym typeface="Arial"/>
            </a:endParaRPr>
          </a:p>
        </p:txBody>
      </p:sp>
      <p:sp>
        <p:nvSpPr>
          <p:cNvPr id="770" name="Google Shape;770;p45"/>
          <p:cNvSpPr/>
          <p:nvPr/>
        </p:nvSpPr>
        <p:spPr>
          <a:xfrm>
            <a:off x="1741715" y="1268760"/>
            <a:ext cx="2359576"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Consider this table: </a:t>
            </a:r>
            <a:endParaRPr sz="2000">
              <a:solidFill>
                <a:schemeClr val="dk1"/>
              </a:solidFill>
              <a:latin typeface="Arial"/>
              <a:ea typeface="Arial"/>
              <a:cs typeface="Arial"/>
              <a:sym typeface="Arial"/>
            </a:endParaRPr>
          </a:p>
        </p:txBody>
      </p:sp>
      <p:sp>
        <p:nvSpPr>
          <p:cNvPr id="771" name="Google Shape;771;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72" name="Google Shape;772;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46"/>
          <p:cNvSpPr txBox="1">
            <a:spLocks noGrp="1"/>
          </p:cNvSpPr>
          <p:nvPr>
            <p:ph type="title"/>
          </p:nvPr>
        </p:nvSpPr>
        <p:spPr>
          <a:xfrm>
            <a:off x="2514600" y="533400"/>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dirty="0">
                <a:solidFill>
                  <a:srgbClr val="C00000"/>
                </a:solidFill>
                <a:latin typeface="Arimo"/>
                <a:ea typeface="Arimo"/>
                <a:cs typeface="Arimo"/>
                <a:sym typeface="Arimo"/>
              </a:rPr>
              <a:t>BCNF (Boyce-Codd Normal Form) </a:t>
            </a:r>
            <a:endParaRPr sz="3281" b="1" dirty="0">
              <a:solidFill>
                <a:srgbClr val="C00000"/>
              </a:solidFill>
              <a:latin typeface="Arimo"/>
              <a:ea typeface="Arimo"/>
              <a:cs typeface="Arimo"/>
              <a:sym typeface="Arimo"/>
            </a:endParaRPr>
          </a:p>
        </p:txBody>
      </p:sp>
      <p:sp>
        <p:nvSpPr>
          <p:cNvPr id="778" name="Google Shape;778;p46"/>
          <p:cNvSpPr txBox="1">
            <a:spLocks noGrp="1"/>
          </p:cNvSpPr>
          <p:nvPr>
            <p:ph type="body" idx="1"/>
          </p:nvPr>
        </p:nvSpPr>
        <p:spPr>
          <a:xfrm>
            <a:off x="2514600" y="1219200"/>
            <a:ext cx="8001000" cy="12192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000"/>
              <a:buNone/>
            </a:pPr>
            <a:r>
              <a:rPr lang="en-US" sz="2000">
                <a:latin typeface="Arial"/>
                <a:ea typeface="Arial"/>
                <a:cs typeface="Arial"/>
                <a:sym typeface="Arial"/>
              </a:rPr>
              <a:t>For a table to be in BCNF, following conditions must be satisfied:</a:t>
            </a:r>
            <a:endParaRPr>
              <a:latin typeface="Arial"/>
              <a:ea typeface="Arial"/>
              <a:cs typeface="Arial"/>
              <a:sym typeface="Arial"/>
            </a:endParaRPr>
          </a:p>
          <a:p>
            <a:pPr marL="342900" lvl="0" indent="-342900" algn="l" rtl="0">
              <a:lnSpc>
                <a:spcPct val="90000"/>
              </a:lnSpc>
              <a:spcBef>
                <a:spcPts val="400"/>
              </a:spcBef>
              <a:spcAft>
                <a:spcPts val="0"/>
              </a:spcAft>
              <a:buClr>
                <a:schemeClr val="dk1"/>
              </a:buClr>
              <a:buSzPts val="2000"/>
              <a:buChar char="•"/>
            </a:pPr>
            <a:r>
              <a:rPr lang="en-US" sz="2000">
                <a:latin typeface="Arial"/>
                <a:ea typeface="Arial"/>
                <a:cs typeface="Arial"/>
                <a:sym typeface="Arial"/>
              </a:rPr>
              <a:t>R must be in 3rd Normal Form</a:t>
            </a:r>
            <a:endParaRPr>
              <a:latin typeface="Arial"/>
              <a:ea typeface="Arial"/>
              <a:cs typeface="Arial"/>
              <a:sym typeface="Arial"/>
            </a:endParaRPr>
          </a:p>
          <a:p>
            <a:pPr marL="342900" lvl="0" indent="-342900" algn="l" rtl="0">
              <a:lnSpc>
                <a:spcPct val="90000"/>
              </a:lnSpc>
              <a:spcBef>
                <a:spcPts val="400"/>
              </a:spcBef>
              <a:spcAft>
                <a:spcPts val="0"/>
              </a:spcAft>
              <a:buClr>
                <a:schemeClr val="dk1"/>
              </a:buClr>
              <a:buSzPts val="2000"/>
              <a:buChar char="•"/>
            </a:pPr>
            <a:r>
              <a:rPr lang="en-US" sz="2000">
                <a:latin typeface="Arial"/>
                <a:ea typeface="Arial"/>
                <a:cs typeface="Arial"/>
                <a:sym typeface="Arial"/>
              </a:rPr>
              <a:t>and, for each functional dependency ( X -&gt; Y ), X should be a super Key.</a:t>
            </a:r>
            <a:endParaRPr>
              <a:latin typeface="Arial"/>
              <a:ea typeface="Arial"/>
              <a:cs typeface="Arial"/>
              <a:sym typeface="Arial"/>
            </a:endParaRPr>
          </a:p>
          <a:p>
            <a:pPr marL="342900" lvl="0" indent="-215900" algn="l" rtl="0">
              <a:lnSpc>
                <a:spcPct val="90000"/>
              </a:lnSpc>
              <a:spcBef>
                <a:spcPts val="400"/>
              </a:spcBef>
              <a:spcAft>
                <a:spcPts val="0"/>
              </a:spcAft>
              <a:buClr>
                <a:schemeClr val="dk1"/>
              </a:buClr>
              <a:buSzPts val="2000"/>
              <a:buNone/>
            </a:pPr>
            <a:endParaRPr sz="2000">
              <a:latin typeface="Arial"/>
              <a:ea typeface="Arial"/>
              <a:cs typeface="Arial"/>
              <a:sym typeface="Arial"/>
            </a:endParaRPr>
          </a:p>
        </p:txBody>
      </p:sp>
      <p:pic>
        <p:nvPicPr>
          <p:cNvPr id="779" name="Google Shape;779;p46"/>
          <p:cNvPicPr preferRelativeResize="0"/>
          <p:nvPr/>
        </p:nvPicPr>
        <p:blipFill rotWithShape="1">
          <a:blip r:embed="rId3">
            <a:alphaModFix/>
          </a:blip>
          <a:srcRect/>
          <a:stretch/>
        </p:blipFill>
        <p:spPr>
          <a:xfrm>
            <a:off x="2057400" y="2514600"/>
            <a:ext cx="8077200" cy="3676650"/>
          </a:xfrm>
          <a:prstGeom prst="rect">
            <a:avLst/>
          </a:prstGeom>
          <a:noFill/>
          <a:ln>
            <a:noFill/>
          </a:ln>
        </p:spPr>
      </p:pic>
      <p:sp>
        <p:nvSpPr>
          <p:cNvPr id="780" name="Google Shape;78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781" name="Google Shape;78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grpSp>
        <p:nvGrpSpPr>
          <p:cNvPr id="790" name="Google Shape;790;p47"/>
          <p:cNvGrpSpPr/>
          <p:nvPr/>
        </p:nvGrpSpPr>
        <p:grpSpPr>
          <a:xfrm>
            <a:off x="1524000" y="6356604"/>
            <a:ext cx="9144000" cy="88404"/>
            <a:chOff x="0" y="0"/>
            <a:chExt cx="13004800" cy="125730"/>
          </a:xfrm>
        </p:grpSpPr>
        <p:sp>
          <p:nvSpPr>
            <p:cNvPr id="791" name="Google Shape;791;p4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92" name="Google Shape;792;p4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93" name="Google Shape;793;p47"/>
          <p:cNvSpPr/>
          <p:nvPr/>
        </p:nvSpPr>
        <p:spPr>
          <a:xfrm>
            <a:off x="6350149" y="2192922"/>
            <a:ext cx="3886200" cy="426205"/>
          </a:xfrm>
          <a:custGeom>
            <a:avLst/>
            <a:gdLst/>
            <a:ahLst/>
            <a:cxnLst/>
            <a:rect l="l" t="t" r="r" b="b"/>
            <a:pathLst>
              <a:path w="4145280" h="454619" extrusionOk="0">
                <a:moveTo>
                  <a:pt x="0" y="0"/>
                </a:moveTo>
                <a:lnTo>
                  <a:pt x="4145280" y="0"/>
                </a:lnTo>
                <a:lnTo>
                  <a:pt x="4145280" y="454618"/>
                </a:lnTo>
                <a:lnTo>
                  <a:pt x="0" y="454618"/>
                </a:lnTo>
                <a:lnTo>
                  <a:pt x="0" y="0"/>
                </a:lnTo>
                <a:close/>
              </a:path>
            </a:pathLst>
          </a:custGeom>
          <a:blipFill rotWithShape="1">
            <a:blip r:embed="rId3">
              <a:alphaModFix/>
            </a:blip>
            <a:stretch>
              <a:fillRect l="-4068" t="-16344" r="-3285" b="-46315"/>
            </a:stretch>
          </a:blipFill>
          <a:ln>
            <a:noFill/>
          </a:ln>
        </p:spPr>
      </p:sp>
      <p:sp>
        <p:nvSpPr>
          <p:cNvPr id="794" name="Google Shape;794;p47"/>
          <p:cNvSpPr txBox="1"/>
          <p:nvPr/>
        </p:nvSpPr>
        <p:spPr>
          <a:xfrm>
            <a:off x="4132687" y="409001"/>
            <a:ext cx="5208259" cy="605871"/>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Rules for BCNF</a:t>
            </a:r>
            <a:endParaRPr dirty="0"/>
          </a:p>
        </p:txBody>
      </p:sp>
      <p:sp>
        <p:nvSpPr>
          <p:cNvPr id="795" name="Google Shape;795;p47"/>
          <p:cNvSpPr txBox="1"/>
          <p:nvPr/>
        </p:nvSpPr>
        <p:spPr>
          <a:xfrm>
            <a:off x="1858016" y="1077166"/>
            <a:ext cx="8475969" cy="12972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Rule 1: </a:t>
            </a:r>
            <a:r>
              <a:rPr lang="en-US" sz="1875" dirty="0">
                <a:solidFill>
                  <a:srgbClr val="000000"/>
                </a:solidFill>
                <a:latin typeface="Arial"/>
                <a:ea typeface="Arial"/>
                <a:cs typeface="Arial"/>
                <a:sym typeface="Arial"/>
              </a:rPr>
              <a:t>The table should be in the 3rd Normal Form.</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Rule 2: </a:t>
            </a:r>
            <a:r>
              <a:rPr lang="en-US" sz="1875" dirty="0">
                <a:solidFill>
                  <a:srgbClr val="000000"/>
                </a:solidFill>
                <a:latin typeface="Arial"/>
                <a:ea typeface="Arial"/>
                <a:cs typeface="Arial"/>
                <a:sym typeface="Arial"/>
              </a:rPr>
              <a:t>X should be a </a:t>
            </a:r>
            <a:r>
              <a:rPr lang="en-US" sz="1875" dirty="0" err="1">
                <a:solidFill>
                  <a:srgbClr val="000000"/>
                </a:solidFill>
                <a:latin typeface="Arial"/>
                <a:ea typeface="Arial"/>
                <a:cs typeface="Arial"/>
                <a:sym typeface="Arial"/>
              </a:rPr>
              <a:t>superkey</a:t>
            </a:r>
            <a:r>
              <a:rPr lang="en-US" sz="1875" dirty="0">
                <a:solidFill>
                  <a:srgbClr val="000000"/>
                </a:solidFill>
                <a:latin typeface="Arial"/>
                <a:ea typeface="Arial"/>
                <a:cs typeface="Arial"/>
                <a:sym typeface="Arial"/>
              </a:rPr>
              <a:t> for every functional dependency (FD) X−&gt;Y in a given relation. </a:t>
            </a:r>
            <a:endParaRPr dirty="0"/>
          </a:p>
        </p:txBody>
      </p:sp>
      <p:sp>
        <p:nvSpPr>
          <p:cNvPr id="796" name="Google Shape;796;p47"/>
          <p:cNvSpPr txBox="1"/>
          <p:nvPr/>
        </p:nvSpPr>
        <p:spPr>
          <a:xfrm>
            <a:off x="1858016" y="2895151"/>
            <a:ext cx="7728623"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dirty="0">
                <a:solidFill>
                  <a:srgbClr val="000000"/>
                </a:solidFill>
                <a:latin typeface="Arial"/>
                <a:ea typeface="Arial"/>
                <a:cs typeface="Arial"/>
                <a:sym typeface="Arial"/>
              </a:rPr>
              <a:t>Find the highest normal form of a relation R(A, B, C, D, E) with FD set as:</a:t>
            </a:r>
            <a:endParaRPr dirty="0"/>
          </a:p>
        </p:txBody>
      </p:sp>
      <p:sp>
        <p:nvSpPr>
          <p:cNvPr id="797" name="Google Shape;797;p47"/>
          <p:cNvSpPr txBox="1"/>
          <p:nvPr/>
        </p:nvSpPr>
        <p:spPr>
          <a:xfrm>
            <a:off x="1858016" y="2521500"/>
            <a:ext cx="979475"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p:txBody>
      </p:sp>
      <p:sp>
        <p:nvSpPr>
          <p:cNvPr id="798" name="Google Shape;798;p47"/>
          <p:cNvSpPr txBox="1"/>
          <p:nvPr/>
        </p:nvSpPr>
        <p:spPr>
          <a:xfrm>
            <a:off x="1858016" y="3364889"/>
            <a:ext cx="8238484" cy="299158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00" b="1" dirty="0">
                <a:solidFill>
                  <a:srgbClr val="000000"/>
                </a:solidFill>
                <a:latin typeface="Arial"/>
                <a:ea typeface="Arial"/>
                <a:cs typeface="Arial"/>
                <a:sym typeface="Arial"/>
              </a:rPr>
              <a:t>Explanation:</a:t>
            </a:r>
            <a:endParaRPr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Step-1: As we can see, (AC)+ ={A, C, B, E, D} but none of its subsets can determine all attributes of the relation, So AC will be the candidate key. A or C can’t be derived from any other attribute of the relation, so there will be only 1 candidate key {AC}.</a:t>
            </a:r>
            <a:endParaRPr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Step-2: Prime attributes are those attributes that are part of candidate key {A, C} in this example and others will be non-prime {B, D, E} in this example.</a:t>
            </a:r>
            <a:endParaRPr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Step-3: The relation R is in 1st normal form as a relational DBMS does not allow multi-valued or composite attributes.</a:t>
            </a:r>
            <a:endParaRPr dirty="0"/>
          </a:p>
        </p:txBody>
      </p:sp>
      <p:sp>
        <p:nvSpPr>
          <p:cNvPr id="799" name="Google Shape;79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00" name="Google Shape;80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grpSp>
        <p:nvGrpSpPr>
          <p:cNvPr id="809" name="Google Shape;809;p48"/>
          <p:cNvGrpSpPr/>
          <p:nvPr/>
        </p:nvGrpSpPr>
        <p:grpSpPr>
          <a:xfrm>
            <a:off x="1524000" y="6356604"/>
            <a:ext cx="9144000" cy="88404"/>
            <a:chOff x="0" y="0"/>
            <a:chExt cx="13004800" cy="125730"/>
          </a:xfrm>
        </p:grpSpPr>
        <p:sp>
          <p:nvSpPr>
            <p:cNvPr id="810" name="Google Shape;810;p4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811" name="Google Shape;811;p4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812" name="Google Shape;812;p48"/>
          <p:cNvSpPr/>
          <p:nvPr/>
        </p:nvSpPr>
        <p:spPr>
          <a:xfrm>
            <a:off x="6492800" y="3048827"/>
            <a:ext cx="4357869" cy="2655796"/>
          </a:xfrm>
          <a:custGeom>
            <a:avLst/>
            <a:gdLst/>
            <a:ahLst/>
            <a:cxnLst/>
            <a:rect l="l" t="t" r="r" b="b"/>
            <a:pathLst>
              <a:path w="4648394" h="2832849" extrusionOk="0">
                <a:moveTo>
                  <a:pt x="0" y="0"/>
                </a:moveTo>
                <a:lnTo>
                  <a:pt x="4648395" y="0"/>
                </a:lnTo>
                <a:lnTo>
                  <a:pt x="4648395" y="2832849"/>
                </a:lnTo>
                <a:lnTo>
                  <a:pt x="0" y="2832849"/>
                </a:lnTo>
                <a:lnTo>
                  <a:pt x="0" y="0"/>
                </a:lnTo>
                <a:close/>
              </a:path>
            </a:pathLst>
          </a:custGeom>
          <a:blipFill rotWithShape="1">
            <a:blip r:embed="rId3">
              <a:alphaModFix/>
            </a:blip>
            <a:stretch>
              <a:fillRect l="-14183" r="-15476"/>
            </a:stretch>
          </a:blipFill>
          <a:ln>
            <a:noFill/>
          </a:ln>
        </p:spPr>
      </p:sp>
      <p:sp>
        <p:nvSpPr>
          <p:cNvPr id="813" name="Google Shape;813;p48"/>
          <p:cNvSpPr txBox="1"/>
          <p:nvPr/>
        </p:nvSpPr>
        <p:spPr>
          <a:xfrm>
            <a:off x="2775473" y="409001"/>
            <a:ext cx="7132320" cy="605871"/>
          </a:xfrm>
          <a:prstGeom prst="rect">
            <a:avLst/>
          </a:prstGeom>
          <a:noFill/>
          <a:ln>
            <a:noFill/>
          </a:ln>
        </p:spPr>
        <p:txBody>
          <a:bodyPr spcFirstLastPara="1" wrap="square" lIns="0" tIns="0" rIns="0" bIns="0" anchor="t" anchorCtr="0">
            <a:spAutoFit/>
          </a:bodyPr>
          <a:lstStyle/>
          <a:p>
            <a:pPr>
              <a:lnSpc>
                <a:spcPct val="120024"/>
              </a:lnSpc>
            </a:pPr>
            <a:r>
              <a:rPr lang="en-US" sz="3281" b="1" dirty="0">
                <a:solidFill>
                  <a:srgbClr val="C00000"/>
                </a:solidFill>
                <a:latin typeface="Arimo"/>
                <a:ea typeface="Arimo"/>
                <a:cs typeface="Arimo"/>
              </a:rPr>
              <a:t>Boyce-Codd Normal Form (BCNF)</a:t>
            </a:r>
          </a:p>
        </p:txBody>
      </p:sp>
      <p:sp>
        <p:nvSpPr>
          <p:cNvPr id="815" name="Google Shape;815;p48"/>
          <p:cNvSpPr txBox="1"/>
          <p:nvPr/>
        </p:nvSpPr>
        <p:spPr>
          <a:xfrm>
            <a:off x="1907574" y="1289437"/>
            <a:ext cx="8376854"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Although, 3NF is an adequate normal form for relational databases, this (3NF) normal form may not remove 100% redundancy because of X−&gt;Y functional dependency if X is not a candidate key of the given relation. This can be solved by the Boyce-Codd Normal Form (BCNF).</a:t>
            </a:r>
            <a:endParaRPr dirty="0"/>
          </a:p>
        </p:txBody>
      </p:sp>
      <p:sp>
        <p:nvSpPr>
          <p:cNvPr id="816" name="Google Shape;816;p48"/>
          <p:cNvSpPr txBox="1"/>
          <p:nvPr/>
        </p:nvSpPr>
        <p:spPr>
          <a:xfrm>
            <a:off x="1907574" y="2907525"/>
            <a:ext cx="4829244"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Boyce-Codd Normal Form (BCNF) An advanced version of the third normal form, which is a little more strict. This is a tougher criterion that helps eliminate redundancy and anomalies from your Database. BCNF (Boyce-Codd Normal Form) is a further refinement of the third normal form which simplifies our database design. </a:t>
            </a:r>
            <a:endParaRPr dirty="0"/>
          </a:p>
        </p:txBody>
      </p:sp>
      <p:sp>
        <p:nvSpPr>
          <p:cNvPr id="817" name="Google Shape;81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18" name="Google Shape;81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2"/>
        <p:cNvGrpSpPr/>
        <p:nvPr/>
      </p:nvGrpSpPr>
      <p:grpSpPr>
        <a:xfrm>
          <a:off x="0" y="0"/>
          <a:ext cx="0" cy="0"/>
          <a:chOff x="0" y="0"/>
          <a:chExt cx="0" cy="0"/>
        </a:xfrm>
      </p:grpSpPr>
      <p:sp>
        <p:nvSpPr>
          <p:cNvPr id="823" name="Google Shape;823;p49"/>
          <p:cNvSpPr/>
          <p:nvPr/>
        </p:nvSpPr>
        <p:spPr>
          <a:xfrm>
            <a:off x="2351583" y="666798"/>
            <a:ext cx="7911211" cy="4628960"/>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80" b="1" dirty="0">
                <a:solidFill>
                  <a:schemeClr val="dk1"/>
                </a:solidFill>
                <a:latin typeface="Arial"/>
                <a:ea typeface="Arial"/>
                <a:cs typeface="Arial"/>
                <a:sym typeface="Arial"/>
              </a:rPr>
              <a:t>Example:</a:t>
            </a:r>
            <a:endParaRPr sz="1880" dirty="0">
              <a:solidFill>
                <a:schemeClr val="dk1"/>
              </a:solidFill>
              <a:latin typeface="Arial"/>
              <a:ea typeface="Arial"/>
              <a:cs typeface="Arial"/>
              <a:sym typeface="Arial"/>
            </a:endParaRPr>
          </a:p>
          <a:p>
            <a:pPr marL="0" marR="0" lvl="0" indent="0" algn="l" rtl="0">
              <a:spcBef>
                <a:spcPts val="0"/>
              </a:spcBef>
              <a:spcAft>
                <a:spcPts val="0"/>
              </a:spcAft>
              <a:buNone/>
            </a:pPr>
            <a:endParaRPr sz="1880" b="1" dirty="0">
              <a:solidFill>
                <a:schemeClr val="dk1"/>
              </a:solidFill>
              <a:latin typeface="Arial"/>
              <a:ea typeface="Arial"/>
              <a:cs typeface="Arial"/>
              <a:sym typeface="Arial"/>
            </a:endParaRPr>
          </a:p>
          <a:p>
            <a:pPr marL="0" marR="0" lvl="0" indent="0" algn="l" rtl="0">
              <a:spcBef>
                <a:spcPts val="0"/>
              </a:spcBef>
              <a:spcAft>
                <a:spcPts val="0"/>
              </a:spcAft>
              <a:buNone/>
            </a:pPr>
            <a:r>
              <a:rPr lang="en-US" sz="1880" dirty="0">
                <a:solidFill>
                  <a:schemeClr val="dk1"/>
                </a:solidFill>
                <a:latin typeface="Arial"/>
                <a:ea typeface="Arial"/>
                <a:cs typeface="Arial"/>
                <a:sym typeface="Arial"/>
              </a:rPr>
              <a:t>For example consider relation R(A, B, C)</a:t>
            </a:r>
            <a:endParaRPr sz="1880" dirty="0">
              <a:solidFill>
                <a:schemeClr val="dk1"/>
              </a:solidFill>
              <a:latin typeface="Arial"/>
              <a:ea typeface="Arial"/>
              <a:cs typeface="Arial"/>
              <a:sym typeface="Arial"/>
            </a:endParaRPr>
          </a:p>
          <a:p>
            <a:pPr marL="0" marR="0" lvl="0" indent="0" algn="l" rtl="0">
              <a:spcBef>
                <a:spcPts val="0"/>
              </a:spcBef>
              <a:spcAft>
                <a:spcPts val="0"/>
              </a:spcAft>
              <a:buNone/>
            </a:pPr>
            <a:r>
              <a:rPr lang="en-US" sz="1880" dirty="0">
                <a:solidFill>
                  <a:schemeClr val="dk1"/>
                </a:solidFill>
                <a:latin typeface="Arial"/>
                <a:ea typeface="Arial"/>
                <a:cs typeface="Arial"/>
                <a:sym typeface="Arial"/>
              </a:rPr>
              <a:t>A -&gt; BC, B -&gt; A</a:t>
            </a:r>
            <a:endParaRPr sz="1880" dirty="0">
              <a:solidFill>
                <a:schemeClr val="dk1"/>
              </a:solidFill>
              <a:latin typeface="Arial"/>
              <a:ea typeface="Arial"/>
              <a:cs typeface="Arial"/>
              <a:sym typeface="Arial"/>
            </a:endParaRPr>
          </a:p>
          <a:p>
            <a:pPr marL="0" marR="0" lvl="0" indent="0" algn="l" rtl="0">
              <a:spcBef>
                <a:spcPts val="0"/>
              </a:spcBef>
              <a:spcAft>
                <a:spcPts val="0"/>
              </a:spcAft>
              <a:buNone/>
            </a:pPr>
            <a:r>
              <a:rPr lang="en-US" sz="1880" dirty="0">
                <a:solidFill>
                  <a:schemeClr val="dk1"/>
                </a:solidFill>
                <a:latin typeface="Arial"/>
                <a:ea typeface="Arial"/>
                <a:cs typeface="Arial"/>
                <a:sym typeface="Arial"/>
              </a:rPr>
              <a:t>A and B both are super keys so above relation is in BCNF.</a:t>
            </a:r>
            <a:endParaRPr sz="1880" dirty="0">
              <a:solidFill>
                <a:schemeClr val="dk1"/>
              </a:solidFill>
              <a:latin typeface="Arial"/>
              <a:ea typeface="Arial"/>
              <a:cs typeface="Arial"/>
              <a:sym typeface="Arial"/>
            </a:endParaRPr>
          </a:p>
          <a:p>
            <a:pPr marL="0" marR="0" lvl="0" indent="0" algn="l" rtl="0">
              <a:spcBef>
                <a:spcPts val="0"/>
              </a:spcBef>
              <a:spcAft>
                <a:spcPts val="0"/>
              </a:spcAft>
              <a:buNone/>
            </a:pPr>
            <a:endParaRPr sz="1880" b="1" dirty="0">
              <a:solidFill>
                <a:schemeClr val="dk1"/>
              </a:solidFill>
              <a:latin typeface="Arial"/>
              <a:ea typeface="Arial"/>
              <a:cs typeface="Arial"/>
              <a:sym typeface="Arial"/>
            </a:endParaRPr>
          </a:p>
          <a:p>
            <a:pPr marL="0" marR="0" lvl="0" indent="0" algn="l" rtl="0">
              <a:spcBef>
                <a:spcPts val="0"/>
              </a:spcBef>
              <a:spcAft>
                <a:spcPts val="0"/>
              </a:spcAft>
              <a:buNone/>
            </a:pPr>
            <a:r>
              <a:rPr lang="en-US" sz="1880" b="1" dirty="0">
                <a:solidFill>
                  <a:schemeClr val="dk1"/>
                </a:solidFill>
                <a:latin typeface="Arial"/>
                <a:ea typeface="Arial"/>
                <a:cs typeface="Arial"/>
                <a:sym typeface="Arial"/>
              </a:rPr>
              <a:t>Note –</a:t>
            </a:r>
            <a:br>
              <a:rPr lang="en-US" sz="1880" dirty="0">
                <a:solidFill>
                  <a:schemeClr val="dk1"/>
                </a:solidFill>
                <a:latin typeface="Arial"/>
                <a:ea typeface="Arial"/>
                <a:cs typeface="Arial"/>
                <a:sym typeface="Arial"/>
              </a:rPr>
            </a:br>
            <a:endParaRPr sz="1880" dirty="0">
              <a:solidFill>
                <a:schemeClr val="dk1"/>
              </a:solidFill>
              <a:latin typeface="Arial"/>
              <a:ea typeface="Arial"/>
              <a:cs typeface="Arial"/>
              <a:sym typeface="Arial"/>
            </a:endParaRPr>
          </a:p>
          <a:p>
            <a:pPr marL="0" marR="0" lvl="0" indent="0" algn="just" rtl="0">
              <a:spcBef>
                <a:spcPts val="0"/>
              </a:spcBef>
              <a:spcAft>
                <a:spcPts val="0"/>
              </a:spcAft>
              <a:buNone/>
            </a:pPr>
            <a:r>
              <a:rPr lang="en-US" sz="1880" dirty="0">
                <a:solidFill>
                  <a:schemeClr val="dk1"/>
                </a:solidFill>
                <a:latin typeface="Arial"/>
                <a:ea typeface="Arial"/>
                <a:cs typeface="Arial"/>
                <a:sym typeface="Arial"/>
              </a:rPr>
              <a:t>BCNF decomposition may always not possible with </a:t>
            </a:r>
            <a:r>
              <a:rPr lang="en-US" sz="1880" dirty="0">
                <a:solidFill>
                  <a:srgbClr val="EC4E20"/>
                </a:solidFill>
                <a:latin typeface="Arial"/>
                <a:ea typeface="Arial"/>
                <a:cs typeface="Arial"/>
                <a:sym typeface="Arial"/>
              </a:rPr>
              <a:t>dependency preserving</a:t>
            </a:r>
            <a:r>
              <a:rPr lang="en-US" sz="1880" dirty="0">
                <a:solidFill>
                  <a:schemeClr val="dk1"/>
                </a:solidFill>
                <a:latin typeface="Arial"/>
                <a:ea typeface="Arial"/>
                <a:cs typeface="Arial"/>
                <a:sym typeface="Arial"/>
              </a:rPr>
              <a:t>, however, it always satisfies </a:t>
            </a:r>
            <a:r>
              <a:rPr lang="en-US" sz="1880" dirty="0">
                <a:solidFill>
                  <a:srgbClr val="EC4E20"/>
                </a:solidFill>
                <a:latin typeface="Arial"/>
                <a:ea typeface="Arial"/>
                <a:cs typeface="Arial"/>
                <a:sym typeface="Arial"/>
              </a:rPr>
              <a:t>lossless join</a:t>
            </a:r>
            <a:r>
              <a:rPr lang="en-US" sz="1880" dirty="0">
                <a:solidFill>
                  <a:schemeClr val="dk1"/>
                </a:solidFill>
                <a:latin typeface="Arial"/>
                <a:ea typeface="Arial"/>
                <a:cs typeface="Arial"/>
                <a:sym typeface="Arial"/>
              </a:rPr>
              <a:t> condition. For example, relation R (V, W, X, Y, Z), with functional dependencies:</a:t>
            </a:r>
            <a:endParaRPr sz="1880" dirty="0">
              <a:solidFill>
                <a:schemeClr val="dk1"/>
              </a:solidFill>
              <a:latin typeface="Arial"/>
              <a:ea typeface="Arial"/>
              <a:cs typeface="Arial"/>
              <a:sym typeface="Arial"/>
            </a:endParaRPr>
          </a:p>
          <a:p>
            <a:pPr marL="0" marR="0" lvl="0" indent="0" algn="just" rtl="0">
              <a:spcBef>
                <a:spcPts val="0"/>
              </a:spcBef>
              <a:spcAft>
                <a:spcPts val="0"/>
              </a:spcAft>
              <a:buNone/>
            </a:pPr>
            <a:r>
              <a:rPr lang="en-US" sz="1880" dirty="0">
                <a:solidFill>
                  <a:schemeClr val="dk1"/>
                </a:solidFill>
                <a:latin typeface="Arial"/>
                <a:ea typeface="Arial"/>
                <a:cs typeface="Arial"/>
                <a:sym typeface="Arial"/>
              </a:rPr>
              <a:t>V, W -&gt; X Y, Z -&gt; X W -&gt; Y </a:t>
            </a:r>
            <a:endParaRPr sz="1880" dirty="0">
              <a:solidFill>
                <a:schemeClr val="dk1"/>
              </a:solidFill>
              <a:latin typeface="Arial"/>
              <a:ea typeface="Arial"/>
              <a:cs typeface="Arial"/>
              <a:sym typeface="Arial"/>
            </a:endParaRPr>
          </a:p>
          <a:p>
            <a:pPr marL="0" marR="0" lvl="0" indent="0" algn="just" rtl="0">
              <a:spcBef>
                <a:spcPts val="0"/>
              </a:spcBef>
              <a:spcAft>
                <a:spcPts val="0"/>
              </a:spcAft>
              <a:buNone/>
            </a:pPr>
            <a:r>
              <a:rPr lang="en-US" sz="1880" dirty="0">
                <a:solidFill>
                  <a:schemeClr val="dk1"/>
                </a:solidFill>
                <a:latin typeface="Arial"/>
                <a:ea typeface="Arial"/>
                <a:cs typeface="Arial"/>
                <a:sym typeface="Arial"/>
              </a:rPr>
              <a:t>It would not satisfy dependency preserving BCNF decomposition.</a:t>
            </a:r>
            <a:br>
              <a:rPr lang="en-US" sz="1880" dirty="0">
                <a:solidFill>
                  <a:schemeClr val="dk1"/>
                </a:solidFill>
                <a:latin typeface="Arial"/>
                <a:ea typeface="Arial"/>
                <a:cs typeface="Arial"/>
                <a:sym typeface="Arial"/>
              </a:rPr>
            </a:br>
            <a:endParaRPr sz="1880" dirty="0">
              <a:solidFill>
                <a:schemeClr val="dk1"/>
              </a:solidFill>
              <a:latin typeface="Arial"/>
              <a:ea typeface="Arial"/>
              <a:cs typeface="Arial"/>
              <a:sym typeface="Arial"/>
            </a:endParaRPr>
          </a:p>
          <a:p>
            <a:pPr marL="0" marR="0" lvl="0" indent="0" algn="just" rtl="0">
              <a:spcBef>
                <a:spcPts val="0"/>
              </a:spcBef>
              <a:spcAft>
                <a:spcPts val="0"/>
              </a:spcAft>
              <a:buNone/>
            </a:pPr>
            <a:r>
              <a:rPr lang="en-US" sz="1880" b="1" dirty="0">
                <a:solidFill>
                  <a:schemeClr val="dk1"/>
                </a:solidFill>
                <a:latin typeface="Arial"/>
                <a:ea typeface="Arial"/>
                <a:cs typeface="Arial"/>
                <a:sym typeface="Arial"/>
              </a:rPr>
              <a:t>Note -:</a:t>
            </a:r>
            <a:r>
              <a:rPr lang="en-US" sz="1880" dirty="0">
                <a:solidFill>
                  <a:schemeClr val="dk1"/>
                </a:solidFill>
                <a:latin typeface="Arial"/>
                <a:ea typeface="Arial"/>
                <a:cs typeface="Arial"/>
                <a:sym typeface="Arial"/>
              </a:rPr>
              <a:t>Redundancies are sometimes still present in a BCNF relation as it is not always possible to eliminate them completely.</a:t>
            </a:r>
            <a:endParaRPr sz="1880" dirty="0">
              <a:solidFill>
                <a:schemeClr val="dk1"/>
              </a:solidFill>
              <a:latin typeface="Arial"/>
              <a:ea typeface="Arial"/>
              <a:cs typeface="Arial"/>
              <a:sym typeface="Arial"/>
            </a:endParaRPr>
          </a:p>
        </p:txBody>
      </p:sp>
      <p:sp>
        <p:nvSpPr>
          <p:cNvPr id="824" name="Google Shape;82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25" name="Google Shape;82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50"/>
          <p:cNvSpPr txBox="1"/>
          <p:nvPr/>
        </p:nvSpPr>
        <p:spPr>
          <a:xfrm>
            <a:off x="2438400" y="671692"/>
            <a:ext cx="8352928"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Boyce Codd Normal Form</a:t>
            </a:r>
            <a:endParaRPr sz="3281" b="1">
              <a:solidFill>
                <a:srgbClr val="C00000"/>
              </a:solidFill>
              <a:latin typeface="Arimo"/>
              <a:ea typeface="Arimo"/>
              <a:cs typeface="Arimo"/>
              <a:sym typeface="Arimo"/>
            </a:endParaRPr>
          </a:p>
        </p:txBody>
      </p:sp>
      <p:sp>
        <p:nvSpPr>
          <p:cNvPr id="831" name="Google Shape;831;p50"/>
          <p:cNvSpPr/>
          <p:nvPr/>
        </p:nvSpPr>
        <p:spPr>
          <a:xfrm>
            <a:off x="1400672" y="1171829"/>
            <a:ext cx="9953128" cy="4662775"/>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1800" b="1">
                <a:solidFill>
                  <a:schemeClr val="dk1"/>
                </a:solidFill>
                <a:latin typeface="Arial"/>
                <a:ea typeface="Arial"/>
                <a:cs typeface="Arial"/>
                <a:sym typeface="Arial"/>
              </a:rPr>
              <a:t>In BCNF: </a:t>
            </a:r>
            <a:endParaRPr sz="1800" b="1">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When a relation has more than one candidate key, anomalies may result even though the relation is in 3NF.</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3NF does not deal satisfactorily with the case of a relation with overlapping candidate keys</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i.e. composite candidate keys with at least one attribute in common.</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BCNF is based on the concept of a determinant.</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A determinant is any attribute (simple or composite) on which some other attribute is fully functionally dependent.</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A relation is in BCNF is, and only if, every determinant is a candidate key.</a:t>
            </a:r>
            <a:endParaRPr sz="1800">
              <a:solidFill>
                <a:schemeClr val="dk1"/>
              </a:solidFill>
              <a:latin typeface="Arial"/>
              <a:ea typeface="Arial"/>
              <a:cs typeface="Arial"/>
              <a:sym typeface="Arial"/>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Definition: A relation is in Boyce-Codd Normal Form (BCNF) if every determinant is a candidate key. </a:t>
            </a:r>
            <a:endParaRPr sz="1800">
              <a:solidFill>
                <a:schemeClr val="dk1"/>
              </a:solidFill>
              <a:latin typeface="Arial"/>
              <a:ea typeface="Arial"/>
              <a:cs typeface="Arial"/>
              <a:sym typeface="Arial"/>
            </a:endParaRPr>
          </a:p>
        </p:txBody>
      </p:sp>
      <p:sp>
        <p:nvSpPr>
          <p:cNvPr id="832" name="Google Shape;83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33" name="Google Shape;83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p51"/>
          <p:cNvSpPr txBox="1"/>
          <p:nvPr/>
        </p:nvSpPr>
        <p:spPr>
          <a:xfrm>
            <a:off x="3215680" y="332657"/>
            <a:ext cx="4968552" cy="83099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EXAMPLE</a:t>
            </a:r>
            <a:endParaRPr sz="3281" b="1">
              <a:solidFill>
                <a:srgbClr val="C00000"/>
              </a:solidFill>
              <a:latin typeface="Arimo"/>
              <a:ea typeface="Arimo"/>
              <a:cs typeface="Arimo"/>
              <a:sym typeface="Arimo"/>
            </a:endParaRPr>
          </a:p>
        </p:txBody>
      </p:sp>
      <p:pic>
        <p:nvPicPr>
          <p:cNvPr id="839" name="Google Shape;839;p51"/>
          <p:cNvPicPr preferRelativeResize="0"/>
          <p:nvPr/>
        </p:nvPicPr>
        <p:blipFill rotWithShape="1">
          <a:blip r:embed="rId3">
            <a:alphaModFix/>
          </a:blip>
          <a:srcRect/>
          <a:stretch/>
        </p:blipFill>
        <p:spPr>
          <a:xfrm>
            <a:off x="7315002" y="748155"/>
            <a:ext cx="3352999" cy="3047457"/>
          </a:xfrm>
          <a:prstGeom prst="rect">
            <a:avLst/>
          </a:prstGeom>
          <a:noFill/>
          <a:ln>
            <a:noFill/>
          </a:ln>
        </p:spPr>
      </p:pic>
      <p:sp>
        <p:nvSpPr>
          <p:cNvPr id="840" name="Google Shape;840;p51"/>
          <p:cNvSpPr txBox="1"/>
          <p:nvPr/>
        </p:nvSpPr>
        <p:spPr>
          <a:xfrm>
            <a:off x="1523999" y="1204829"/>
            <a:ext cx="5377702" cy="48012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It (like, chomsky hierarchy) can be inferred that </a:t>
            </a:r>
            <a:r>
              <a:rPr lang="en-US" sz="1800" i="1">
                <a:solidFill>
                  <a:schemeClr val="dk1"/>
                </a:solidFill>
                <a:latin typeface="Arial"/>
                <a:ea typeface="Arial"/>
                <a:cs typeface="Arial"/>
                <a:sym typeface="Arial"/>
              </a:rPr>
              <a:t>every relation in BCNF is also in 3NF</a:t>
            </a:r>
            <a:r>
              <a:rPr lang="en-US" sz="1800">
                <a:solidFill>
                  <a:schemeClr val="dk1"/>
                </a:solidFill>
                <a:latin typeface="Arial"/>
                <a:ea typeface="Arial"/>
                <a:cs typeface="Arial"/>
                <a:sym typeface="Arial"/>
              </a:rPr>
              <a:t>. To put it another way, a relation in 3NF need not to be in BCNF. Ponder over this statement for a while.</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To determine the highest normal form of a given relation R with functional dependencies, the first step is to check whether the BCNF condition holds. If R is found to be in BCNF, it can be safely deduced that the relation is also in 3NF, 2NF and 1NF as the hierarchy shows. The 1NF has the least restrictive constraint – it only requires a relation R to have atomic values in each tuple. The 2NF has a slightly more restrictive constraint. The 3NF has more restrictive constraint than the first two normal forms but is less restrictive than the BCNF. In this manner, the restriction increases as we traverse down the hierarchy.</a:t>
            </a:r>
            <a:endParaRPr sz="1800">
              <a:solidFill>
                <a:schemeClr val="dk1"/>
              </a:solidFill>
              <a:latin typeface="Arial"/>
              <a:ea typeface="Arial"/>
              <a:cs typeface="Arial"/>
              <a:sym typeface="Arial"/>
            </a:endParaRPr>
          </a:p>
        </p:txBody>
      </p:sp>
      <p:sp>
        <p:nvSpPr>
          <p:cNvPr id="841" name="Google Shape;841;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42" name="Google Shape;84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53"/>
          <p:cNvSpPr txBox="1">
            <a:spLocks noGrp="1"/>
          </p:cNvSpPr>
          <p:nvPr>
            <p:ph type="title"/>
          </p:nvPr>
        </p:nvSpPr>
        <p:spPr>
          <a:xfrm>
            <a:off x="2514600" y="609600"/>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Fourth Normal Form </a:t>
            </a:r>
            <a:endParaRPr/>
          </a:p>
        </p:txBody>
      </p:sp>
      <p:sp>
        <p:nvSpPr>
          <p:cNvPr id="856" name="Google Shape;856;p53"/>
          <p:cNvSpPr txBox="1">
            <a:spLocks noGrp="1"/>
          </p:cNvSpPr>
          <p:nvPr>
            <p:ph type="body" idx="1"/>
          </p:nvPr>
        </p:nvSpPr>
        <p:spPr>
          <a:xfrm>
            <a:off x="2438400" y="1660525"/>
            <a:ext cx="8001000" cy="2133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dirty="0"/>
              <a:t>A relation will be in 4NF if it is in Boyce Codd normal form and has no multi-valued dependency.</a:t>
            </a:r>
            <a:endParaRPr dirty="0"/>
          </a:p>
          <a:p>
            <a:pPr marL="228600" lvl="0" indent="-228600" algn="l" rtl="0">
              <a:lnSpc>
                <a:spcPct val="90000"/>
              </a:lnSpc>
              <a:spcBef>
                <a:spcPts val="1000"/>
              </a:spcBef>
              <a:spcAft>
                <a:spcPts val="0"/>
              </a:spcAft>
              <a:buClr>
                <a:schemeClr val="dk1"/>
              </a:buClr>
              <a:buSzPts val="2400"/>
              <a:buChar char="•"/>
            </a:pPr>
            <a:r>
              <a:rPr lang="en-US" sz="2400" dirty="0"/>
              <a:t>For a dependency A → B, if for a single value of A, multiple values of B exists, then the relation will be a multi-valued dependency.</a:t>
            </a:r>
            <a:endParaRPr dirty="0"/>
          </a:p>
        </p:txBody>
      </p:sp>
      <p:sp>
        <p:nvSpPr>
          <p:cNvPr id="857" name="Google Shape;857;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58" name="Google Shape;858;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54"/>
          <p:cNvSpPr txBox="1"/>
          <p:nvPr/>
        </p:nvSpPr>
        <p:spPr>
          <a:xfrm>
            <a:off x="1991544" y="548681"/>
            <a:ext cx="8352928" cy="83099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4th Normal Form</a:t>
            </a:r>
            <a:endParaRPr/>
          </a:p>
        </p:txBody>
      </p:sp>
      <p:sp>
        <p:nvSpPr>
          <p:cNvPr id="864" name="Google Shape;864;p54"/>
          <p:cNvSpPr/>
          <p:nvPr/>
        </p:nvSpPr>
        <p:spPr>
          <a:xfrm>
            <a:off x="1703512" y="1048818"/>
            <a:ext cx="8640960" cy="480127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chemeClr val="dk1"/>
                </a:solidFill>
                <a:latin typeface="Arial"/>
                <a:ea typeface="Arial"/>
                <a:cs typeface="Arial"/>
                <a:sym typeface="Arial"/>
              </a:rPr>
              <a:t> </a:t>
            </a:r>
            <a:endParaRPr dirty="0"/>
          </a:p>
          <a:p>
            <a:pPr marL="0" marR="0" lvl="0" indent="0" algn="just" rtl="0">
              <a:spcBef>
                <a:spcPts val="0"/>
              </a:spcBef>
              <a:spcAft>
                <a:spcPts val="0"/>
              </a:spcAft>
              <a:buNone/>
            </a:pPr>
            <a:r>
              <a:rPr lang="en-US" sz="1800" dirty="0">
                <a:solidFill>
                  <a:schemeClr val="dk1"/>
                </a:solidFill>
                <a:latin typeface="Arial"/>
                <a:ea typeface="Arial"/>
                <a:cs typeface="Arial"/>
                <a:sym typeface="Arial"/>
              </a:rPr>
              <a:t>An entity is in Fourth Normal Form (4NF) when it meets the requirement of being in Third Normal Form (3NF) and additionally: Has no multiple sets of multi-valued dependencies. </a:t>
            </a:r>
            <a:endParaRPr dirty="0"/>
          </a:p>
          <a:p>
            <a:pPr marL="0" marR="0" lvl="0" indent="0" algn="just" rtl="0">
              <a:spcBef>
                <a:spcPts val="0"/>
              </a:spcBef>
              <a:spcAft>
                <a:spcPts val="0"/>
              </a:spcAft>
              <a:buNone/>
            </a:pPr>
            <a:endParaRPr sz="1800" dirty="0">
              <a:solidFill>
                <a:schemeClr val="dk1"/>
              </a:solidFill>
              <a:latin typeface="Arial"/>
              <a:ea typeface="Arial"/>
              <a:cs typeface="Arial"/>
              <a:sym typeface="Arial"/>
            </a:endParaRPr>
          </a:p>
          <a:p>
            <a:pPr marL="0" marR="0" lvl="0" indent="0" algn="just" rtl="0">
              <a:spcBef>
                <a:spcPts val="0"/>
              </a:spcBef>
              <a:spcAft>
                <a:spcPts val="0"/>
              </a:spcAft>
              <a:buNone/>
            </a:pPr>
            <a:r>
              <a:rPr lang="en-US" sz="1800" dirty="0">
                <a:solidFill>
                  <a:schemeClr val="dk1"/>
                </a:solidFill>
                <a:latin typeface="Arial"/>
                <a:ea typeface="Arial"/>
                <a:cs typeface="Arial"/>
                <a:sym typeface="Arial"/>
              </a:rPr>
              <a:t>In other words, 4NF states that no entity can have more than a single one-to-many relationship within an entity if the one-to-many attributes are independent of each other.</a:t>
            </a:r>
            <a:endParaRPr dirty="0"/>
          </a:p>
          <a:p>
            <a:pPr marL="0" marR="0" lvl="0" indent="0" algn="just" rtl="0">
              <a:spcBef>
                <a:spcPts val="0"/>
              </a:spcBef>
              <a:spcAft>
                <a:spcPts val="0"/>
              </a:spcAft>
              <a:buNone/>
            </a:pPr>
            <a:endParaRPr sz="1800" dirty="0">
              <a:solidFill>
                <a:schemeClr val="dk1"/>
              </a:solidFill>
              <a:latin typeface="Arial"/>
              <a:ea typeface="Arial"/>
              <a:cs typeface="Arial"/>
              <a:sym typeface="Arial"/>
            </a:endParaRPr>
          </a:p>
          <a:p>
            <a:pPr marL="0" marR="0" lvl="0" indent="0" algn="just" rtl="0">
              <a:spcBef>
                <a:spcPts val="0"/>
              </a:spcBef>
              <a:spcAft>
                <a:spcPts val="0"/>
              </a:spcAft>
              <a:buNone/>
            </a:pPr>
            <a:r>
              <a:rPr lang="en-US" sz="1800" dirty="0">
                <a:solidFill>
                  <a:schemeClr val="dk1"/>
                </a:solidFill>
                <a:latin typeface="Arial"/>
                <a:ea typeface="Arial"/>
                <a:cs typeface="Arial"/>
                <a:sym typeface="Arial"/>
              </a:rPr>
              <a:t>Fourth Normal Form applies to situations involving many-to-many relationships.</a:t>
            </a:r>
            <a:endParaRPr dirty="0"/>
          </a:p>
          <a:p>
            <a:pPr marL="0" marR="0" lvl="0" indent="0" algn="just" rtl="0">
              <a:spcBef>
                <a:spcPts val="0"/>
              </a:spcBef>
              <a:spcAft>
                <a:spcPts val="0"/>
              </a:spcAft>
              <a:buNone/>
            </a:pPr>
            <a:endParaRPr sz="1800" dirty="0">
              <a:solidFill>
                <a:schemeClr val="dk1"/>
              </a:solidFill>
              <a:latin typeface="Arial"/>
              <a:ea typeface="Arial"/>
              <a:cs typeface="Arial"/>
              <a:sym typeface="Arial"/>
            </a:endParaRPr>
          </a:p>
          <a:p>
            <a:pPr marL="0" marR="0" lvl="0" indent="0" algn="just" rtl="0">
              <a:spcBef>
                <a:spcPts val="0"/>
              </a:spcBef>
              <a:spcAft>
                <a:spcPts val="0"/>
              </a:spcAft>
              <a:buNone/>
            </a:pPr>
            <a:r>
              <a:rPr lang="en-US" sz="1800" dirty="0">
                <a:solidFill>
                  <a:schemeClr val="dk1"/>
                </a:solidFill>
                <a:latin typeface="Arial"/>
                <a:ea typeface="Arial"/>
                <a:cs typeface="Arial"/>
                <a:sym typeface="Arial"/>
              </a:rPr>
              <a:t>In relational databases, many-to-many relationships are expressed through cross-reference tables.</a:t>
            </a:r>
            <a:endParaRPr dirty="0"/>
          </a:p>
          <a:p>
            <a:pPr marL="0" marR="0" lvl="0" indent="0" algn="just" rtl="0">
              <a:spcBef>
                <a:spcPts val="0"/>
              </a:spcBef>
              <a:spcAft>
                <a:spcPts val="0"/>
              </a:spcAft>
              <a:buNone/>
            </a:pPr>
            <a:r>
              <a:rPr lang="en-US" sz="1800" dirty="0">
                <a:solidFill>
                  <a:schemeClr val="dk1"/>
                </a:solidFill>
                <a:latin typeface="Arial"/>
                <a:ea typeface="Arial"/>
                <a:cs typeface="Arial"/>
                <a:sym typeface="Arial"/>
              </a:rPr>
              <a:t> </a:t>
            </a:r>
            <a:endParaRPr dirty="0"/>
          </a:p>
          <a:p>
            <a:pPr marL="0" marR="0" lvl="0" indent="0" algn="just" rtl="0">
              <a:spcBef>
                <a:spcPts val="0"/>
              </a:spcBef>
              <a:spcAft>
                <a:spcPts val="0"/>
              </a:spcAft>
              <a:buNone/>
            </a:pPr>
            <a:r>
              <a:rPr lang="en-US" sz="1800" dirty="0">
                <a:solidFill>
                  <a:schemeClr val="dk1"/>
                </a:solidFill>
                <a:latin typeface="Arial"/>
                <a:ea typeface="Arial"/>
                <a:cs typeface="Arial"/>
                <a:sym typeface="Arial"/>
              </a:rPr>
              <a:t>Definition: A table is in fourth normal form (4NF) if and only if it is in BCNF and contains no more than one multi-valued dependency. </a:t>
            </a:r>
            <a:endParaRPr dirty="0"/>
          </a:p>
          <a:p>
            <a:pPr marL="0" marR="0" lvl="0" indent="0" algn="just" rtl="0">
              <a:spcBef>
                <a:spcPts val="0"/>
              </a:spcBef>
              <a:spcAft>
                <a:spcPts val="0"/>
              </a:spcAft>
              <a:buNone/>
            </a:pPr>
            <a:endParaRPr sz="1800" dirty="0">
              <a:solidFill>
                <a:schemeClr val="dk1"/>
              </a:solidFill>
              <a:latin typeface="Arial"/>
              <a:ea typeface="Arial"/>
              <a:cs typeface="Arial"/>
              <a:sym typeface="Arial"/>
            </a:endParaRPr>
          </a:p>
        </p:txBody>
      </p:sp>
      <p:sp>
        <p:nvSpPr>
          <p:cNvPr id="865" name="Google Shape;865;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66" name="Google Shape;866;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pic>
        <p:nvPicPr>
          <p:cNvPr id="871" name="Google Shape;871;p55"/>
          <p:cNvPicPr preferRelativeResize="0"/>
          <p:nvPr/>
        </p:nvPicPr>
        <p:blipFill rotWithShape="1">
          <a:blip r:embed="rId3">
            <a:alphaModFix/>
          </a:blip>
          <a:srcRect/>
          <a:stretch/>
        </p:blipFill>
        <p:spPr>
          <a:xfrm>
            <a:off x="2567608" y="1052736"/>
            <a:ext cx="6984776" cy="4752528"/>
          </a:xfrm>
          <a:prstGeom prst="rect">
            <a:avLst/>
          </a:prstGeom>
          <a:noFill/>
          <a:ln>
            <a:noFill/>
          </a:ln>
        </p:spPr>
      </p:pic>
      <p:sp>
        <p:nvSpPr>
          <p:cNvPr id="872" name="Google Shape;872;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73" name="Google Shape;873;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56"/>
          <p:cNvSpPr/>
          <p:nvPr/>
        </p:nvSpPr>
        <p:spPr>
          <a:xfrm>
            <a:off x="1992434" y="1409940"/>
            <a:ext cx="8208022" cy="92333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Consider the database table of a class which has two relations R1 contains student ID(SID) and student name (SNAME) and R2 contains course id(CID) and course name (CNAME).</a:t>
            </a:r>
            <a:endParaRPr/>
          </a:p>
        </p:txBody>
      </p:sp>
      <p:sp>
        <p:nvSpPr>
          <p:cNvPr id="879" name="Google Shape;879;p56"/>
          <p:cNvSpPr txBox="1"/>
          <p:nvPr/>
        </p:nvSpPr>
        <p:spPr>
          <a:xfrm>
            <a:off x="1991544" y="548681"/>
            <a:ext cx="8352928" cy="83099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Example: 4th NF</a:t>
            </a:r>
            <a:endParaRPr/>
          </a:p>
        </p:txBody>
      </p:sp>
      <p:graphicFrame>
        <p:nvGraphicFramePr>
          <p:cNvPr id="880" name="Google Shape;880;p56"/>
          <p:cNvGraphicFramePr/>
          <p:nvPr/>
        </p:nvGraphicFramePr>
        <p:xfrm>
          <a:off x="2068664" y="3068960"/>
          <a:ext cx="2376250" cy="1242060"/>
        </p:xfrm>
        <a:graphic>
          <a:graphicData uri="http://schemas.openxmlformats.org/drawingml/2006/table">
            <a:tbl>
              <a:tblPr>
                <a:noFill/>
                <a:tableStyleId>{04F26A73-2107-4AED-AF40-E1B5DE402DE7}</a:tableStyleId>
              </a:tblPr>
              <a:tblGrid>
                <a:gridCol w="1188125">
                  <a:extLst>
                    <a:ext uri="{9D8B030D-6E8A-4147-A177-3AD203B41FA5}">
                      <a16:colId xmlns:a16="http://schemas.microsoft.com/office/drawing/2014/main" val="20000"/>
                    </a:ext>
                  </a:extLst>
                </a:gridCol>
                <a:gridCol w="1188125">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SID</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SNAME</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B</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2"/>
                  </a:ext>
                </a:extLst>
              </a:tr>
            </a:tbl>
          </a:graphicData>
        </a:graphic>
      </p:graphicFrame>
      <p:sp>
        <p:nvSpPr>
          <p:cNvPr id="881" name="Google Shape;881;p56"/>
          <p:cNvSpPr/>
          <p:nvPr/>
        </p:nvSpPr>
        <p:spPr>
          <a:xfrm>
            <a:off x="2001770" y="2534128"/>
            <a:ext cx="2510054" cy="246221"/>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a:solidFill>
                  <a:schemeClr val="dk1"/>
                </a:solidFill>
                <a:latin typeface="Arial"/>
                <a:ea typeface="Arial"/>
                <a:cs typeface="Arial"/>
                <a:sym typeface="Arial"/>
              </a:rPr>
              <a:t>Table –</a:t>
            </a:r>
            <a:r>
              <a:rPr lang="en-US" sz="1600">
                <a:solidFill>
                  <a:schemeClr val="dk1"/>
                </a:solidFill>
                <a:latin typeface="Arial"/>
                <a:ea typeface="Arial"/>
                <a:cs typeface="Arial"/>
                <a:sym typeface="Arial"/>
              </a:rPr>
              <a:t> R1(SID, SNAME)</a:t>
            </a:r>
            <a:r>
              <a:rPr lang="en-US" sz="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p:txBody>
      </p:sp>
      <p:graphicFrame>
        <p:nvGraphicFramePr>
          <p:cNvPr id="882" name="Google Shape;882;p56"/>
          <p:cNvGraphicFramePr/>
          <p:nvPr/>
        </p:nvGraphicFramePr>
        <p:xfrm>
          <a:off x="4877467" y="3068960"/>
          <a:ext cx="2437950" cy="1242060"/>
        </p:xfrm>
        <a:graphic>
          <a:graphicData uri="http://schemas.openxmlformats.org/drawingml/2006/table">
            <a:tbl>
              <a:tblPr>
                <a:noFill/>
                <a:tableStyleId>{04F26A73-2107-4AED-AF40-E1B5DE402DE7}</a:tableStyleId>
              </a:tblPr>
              <a:tblGrid>
                <a:gridCol w="1218975">
                  <a:extLst>
                    <a:ext uri="{9D8B030D-6E8A-4147-A177-3AD203B41FA5}">
                      <a16:colId xmlns:a16="http://schemas.microsoft.com/office/drawing/2014/main" val="20000"/>
                    </a:ext>
                  </a:extLst>
                </a:gridCol>
                <a:gridCol w="1218975">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CID</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CNAME</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2"/>
                  </a:ext>
                </a:extLst>
              </a:tr>
            </a:tbl>
          </a:graphicData>
        </a:graphic>
      </p:graphicFrame>
      <p:sp>
        <p:nvSpPr>
          <p:cNvPr id="883" name="Google Shape;883;p56"/>
          <p:cNvSpPr/>
          <p:nvPr/>
        </p:nvSpPr>
        <p:spPr>
          <a:xfrm>
            <a:off x="4841418" y="2560581"/>
            <a:ext cx="2510054" cy="246221"/>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a:solidFill>
                  <a:schemeClr val="dk1"/>
                </a:solidFill>
                <a:latin typeface="Arial"/>
                <a:ea typeface="Arial"/>
                <a:cs typeface="Arial"/>
                <a:sym typeface="Arial"/>
              </a:rPr>
              <a:t>Table –</a:t>
            </a:r>
            <a:r>
              <a:rPr lang="en-US" sz="1600">
                <a:solidFill>
                  <a:schemeClr val="dk1"/>
                </a:solidFill>
                <a:latin typeface="Arial"/>
                <a:ea typeface="Arial"/>
                <a:cs typeface="Arial"/>
                <a:sym typeface="Arial"/>
              </a:rPr>
              <a:t> R2(CID, CNAME)</a:t>
            </a:r>
            <a:r>
              <a:rPr lang="en-US" sz="800">
                <a:solidFill>
                  <a:schemeClr val="dk1"/>
                </a:solidFill>
                <a:latin typeface="Arial"/>
                <a:ea typeface="Arial"/>
                <a:cs typeface="Arial"/>
                <a:sym typeface="Arial"/>
              </a:rPr>
              <a:t> </a:t>
            </a:r>
            <a:endParaRPr sz="1800">
              <a:solidFill>
                <a:schemeClr val="dk1"/>
              </a:solidFill>
              <a:latin typeface="Arial"/>
              <a:ea typeface="Arial"/>
              <a:cs typeface="Arial"/>
              <a:sym typeface="Arial"/>
            </a:endParaRPr>
          </a:p>
        </p:txBody>
      </p:sp>
      <p:sp>
        <p:nvSpPr>
          <p:cNvPr id="884" name="Google Shape;884;p56"/>
          <p:cNvSpPr/>
          <p:nvPr/>
        </p:nvSpPr>
        <p:spPr>
          <a:xfrm>
            <a:off x="1956162" y="4653137"/>
            <a:ext cx="457200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When there cross product is done it resulted in multivalued dependencies:</a:t>
            </a:r>
            <a:endParaRPr/>
          </a:p>
        </p:txBody>
      </p:sp>
      <p:graphicFrame>
        <p:nvGraphicFramePr>
          <p:cNvPr id="885" name="Google Shape;885;p56"/>
          <p:cNvGraphicFramePr/>
          <p:nvPr/>
        </p:nvGraphicFramePr>
        <p:xfrm>
          <a:off x="7569937" y="2967747"/>
          <a:ext cx="2798400" cy="2331720"/>
        </p:xfrm>
        <a:graphic>
          <a:graphicData uri="http://schemas.openxmlformats.org/drawingml/2006/table">
            <a:tbl>
              <a:tblPr>
                <a:noFill/>
                <a:tableStyleId>{04F26A73-2107-4AED-AF40-E1B5DE402DE7}</a:tableStyleId>
              </a:tblPr>
              <a:tblGrid>
                <a:gridCol w="699600">
                  <a:extLst>
                    <a:ext uri="{9D8B030D-6E8A-4147-A177-3AD203B41FA5}">
                      <a16:colId xmlns:a16="http://schemas.microsoft.com/office/drawing/2014/main" val="20000"/>
                    </a:ext>
                  </a:extLst>
                </a:gridCol>
                <a:gridCol w="699600">
                  <a:extLst>
                    <a:ext uri="{9D8B030D-6E8A-4147-A177-3AD203B41FA5}">
                      <a16:colId xmlns:a16="http://schemas.microsoft.com/office/drawing/2014/main" val="20001"/>
                    </a:ext>
                  </a:extLst>
                </a:gridCol>
                <a:gridCol w="699600">
                  <a:extLst>
                    <a:ext uri="{9D8B030D-6E8A-4147-A177-3AD203B41FA5}">
                      <a16:colId xmlns:a16="http://schemas.microsoft.com/office/drawing/2014/main" val="20002"/>
                    </a:ext>
                  </a:extLst>
                </a:gridCol>
                <a:gridCol w="699600">
                  <a:extLst>
                    <a:ext uri="{9D8B030D-6E8A-4147-A177-3AD203B41FA5}">
                      <a16:colId xmlns:a16="http://schemas.microsoft.com/office/drawing/2014/main" val="20003"/>
                    </a:ext>
                  </a:extLst>
                </a:gridCol>
              </a:tblGrid>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SID</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SNAME</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CID</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CNAME</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A</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B</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S2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B</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C2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D</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4"/>
                  </a:ext>
                </a:extLst>
              </a:tr>
            </a:tbl>
          </a:graphicData>
        </a:graphic>
      </p:graphicFrame>
      <p:sp>
        <p:nvSpPr>
          <p:cNvPr id="886" name="Google Shape;886;p56"/>
          <p:cNvSpPr/>
          <p:nvPr/>
        </p:nvSpPr>
        <p:spPr>
          <a:xfrm>
            <a:off x="8449821" y="2564906"/>
            <a:ext cx="1732620" cy="246221"/>
          </a:xfrm>
          <a:prstGeom prst="rect">
            <a:avLst/>
          </a:prstGeom>
          <a:solidFill>
            <a:srgbClr val="FFFFFF"/>
          </a:solid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a:solidFill>
                  <a:schemeClr val="dk1"/>
                </a:solidFill>
                <a:latin typeface="Arial"/>
                <a:ea typeface="Arial"/>
                <a:cs typeface="Arial"/>
                <a:sym typeface="Arial"/>
              </a:rPr>
              <a:t>Table</a:t>
            </a:r>
            <a:r>
              <a:rPr lang="en-US" sz="1600">
                <a:solidFill>
                  <a:schemeClr val="dk1"/>
                </a:solidFill>
                <a:latin typeface="Arial"/>
                <a:ea typeface="Arial"/>
                <a:cs typeface="Arial"/>
                <a:sym typeface="Arial"/>
              </a:rPr>
              <a:t> – R1 X R2 </a:t>
            </a:r>
            <a:endParaRPr/>
          </a:p>
        </p:txBody>
      </p:sp>
      <p:sp>
        <p:nvSpPr>
          <p:cNvPr id="887" name="Google Shape;887;p56"/>
          <p:cNvSpPr/>
          <p:nvPr/>
        </p:nvSpPr>
        <p:spPr>
          <a:xfrm>
            <a:off x="1836140" y="5456087"/>
            <a:ext cx="8568952" cy="582182"/>
          </a:xfrm>
          <a:prstGeom prst="rect">
            <a:avLst/>
          </a:prstGeom>
          <a:solidFill>
            <a:srgbClr val="E0E0E0"/>
          </a:solidFill>
          <a:ln>
            <a:noFill/>
          </a:ln>
        </p:spPr>
        <p:txBody>
          <a:bodyPr spcFirstLastPara="1" wrap="square" lIns="0" tIns="0" rIns="0" bIns="88850" anchor="ctr" anchorCtr="0">
            <a:spAutoFit/>
          </a:bodyPr>
          <a:lstStyle/>
          <a:p>
            <a:pPr marL="0" marR="0" lvl="0" indent="0" algn="l" rtl="0">
              <a:spcBef>
                <a:spcPts val="0"/>
              </a:spcBef>
              <a:spcAft>
                <a:spcPts val="0"/>
              </a:spcAft>
              <a:buNone/>
            </a:pPr>
            <a:r>
              <a:rPr lang="en-US" sz="1600">
                <a:solidFill>
                  <a:schemeClr val="dk1"/>
                </a:solidFill>
                <a:latin typeface="Arial"/>
                <a:ea typeface="Arial"/>
                <a:cs typeface="Arial"/>
                <a:sym typeface="Arial"/>
              </a:rPr>
              <a:t>Multivalued dependencies (MVD) are:</a:t>
            </a:r>
            <a:endParaRPr/>
          </a:p>
          <a:p>
            <a:pPr marL="0" marR="0" lvl="0" indent="0" algn="l" rtl="0">
              <a:spcBef>
                <a:spcPts val="0"/>
              </a:spcBef>
              <a:spcAft>
                <a:spcPts val="0"/>
              </a:spcAft>
              <a:buNone/>
            </a:pPr>
            <a:r>
              <a:rPr lang="en-US" sz="1600">
                <a:solidFill>
                  <a:schemeClr val="dk1"/>
                </a:solidFill>
                <a:latin typeface="Arial"/>
                <a:ea typeface="Arial"/>
                <a:cs typeface="Arial"/>
                <a:sym typeface="Arial"/>
              </a:rPr>
              <a:t>SID-&gt;-&gt;CID; SID-&gt;-&gt;CNAME; SNAME-&gt;-&gt;CNAME </a:t>
            </a:r>
            <a:endParaRPr/>
          </a:p>
        </p:txBody>
      </p:sp>
      <p:sp>
        <p:nvSpPr>
          <p:cNvPr id="888" name="Google Shape;888;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89" name="Google Shape;889;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57"/>
          <p:cNvSpPr txBox="1">
            <a:spLocks noGrp="1"/>
          </p:cNvSpPr>
          <p:nvPr>
            <p:ph type="title"/>
          </p:nvPr>
        </p:nvSpPr>
        <p:spPr>
          <a:xfrm>
            <a:off x="2781300" y="859423"/>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Fourth Normal Form</a:t>
            </a:r>
            <a:endParaRPr/>
          </a:p>
        </p:txBody>
      </p:sp>
      <p:sp>
        <p:nvSpPr>
          <p:cNvPr id="895" name="Google Shape;895;p57"/>
          <p:cNvSpPr/>
          <p:nvPr/>
        </p:nvSpPr>
        <p:spPr>
          <a:xfrm>
            <a:off x="2438400" y="1507510"/>
            <a:ext cx="2964282" cy="3431709"/>
          </a:xfrm>
          <a:prstGeom prst="rect">
            <a:avLst/>
          </a:prstGeom>
          <a:noFill/>
          <a:ln>
            <a:noFill/>
          </a:ln>
        </p:spPr>
        <p:txBody>
          <a:bodyPr spcFirstLastPara="1" wrap="square" lIns="91425" tIns="0" rIns="91425" bIns="45700" anchor="ctr"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Let us see an example −</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&lt;Movie&gt;</a:t>
            </a:r>
            <a:endParaRPr/>
          </a:p>
          <a:p>
            <a:pPr marL="0" marR="0" lvl="0" indent="0" algn="l" rtl="0">
              <a:spcBef>
                <a:spcPts val="0"/>
              </a:spcBef>
              <a:spcAft>
                <a:spcPts val="0"/>
              </a:spcAft>
              <a:buNone/>
            </a:pPr>
            <a:r>
              <a:rPr lang="en-US" sz="2000">
                <a:solidFill>
                  <a:schemeClr val="dk1"/>
                </a:solidFill>
                <a:latin typeface="Arial"/>
                <a:ea typeface="Arial"/>
                <a:cs typeface="Arial"/>
                <a:sym typeface="Arial"/>
              </a:rPr>
              <a:t>The above is not in 4NF, since</a:t>
            </a:r>
            <a:endParaRPr/>
          </a:p>
          <a:p>
            <a:pPr marL="0" marR="0" lvl="0" indent="-1270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Many shooting locations can have the same movie</a:t>
            </a:r>
            <a:endParaRPr/>
          </a:p>
          <a:p>
            <a:pPr marL="0" marR="0" lvl="0" indent="0" algn="l" rtl="0">
              <a:spcBef>
                <a:spcPts val="0"/>
              </a:spcBef>
              <a:spcAft>
                <a:spcPts val="0"/>
              </a:spcAft>
              <a:buNone/>
            </a:pPr>
            <a:endParaRPr sz="2000">
              <a:solidFill>
                <a:schemeClr val="dk1"/>
              </a:solidFill>
              <a:latin typeface="Arial"/>
              <a:ea typeface="Arial"/>
              <a:cs typeface="Arial"/>
              <a:sym typeface="Arial"/>
            </a:endParaRPr>
          </a:p>
          <a:p>
            <a:pPr marL="0" marR="0" lvl="0" indent="-127000" algn="l" rtl="0">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More than one movie can have the same listing</a:t>
            </a:r>
            <a:endParaRPr/>
          </a:p>
        </p:txBody>
      </p:sp>
      <p:graphicFrame>
        <p:nvGraphicFramePr>
          <p:cNvPr id="896" name="Google Shape;896;p57"/>
          <p:cNvGraphicFramePr/>
          <p:nvPr/>
        </p:nvGraphicFramePr>
        <p:xfrm>
          <a:off x="5943600" y="1981200"/>
          <a:ext cx="4191000" cy="4175760"/>
        </p:xfrm>
        <a:graphic>
          <a:graphicData uri="http://schemas.openxmlformats.org/drawingml/2006/table">
            <a:tbl>
              <a:tblPr>
                <a:noFill/>
                <a:tableStyleId>{04F26A73-2107-4AED-AF40-E1B5DE402DE7}</a:tableStyleId>
              </a:tblPr>
              <a:tblGrid>
                <a:gridCol w="1397000">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7000">
                  <a:extLst>
                    <a:ext uri="{9D8B030D-6E8A-4147-A177-3AD203B41FA5}">
                      <a16:colId xmlns:a16="http://schemas.microsoft.com/office/drawing/2014/main" val="20002"/>
                    </a:ext>
                  </a:extLst>
                </a:gridCol>
              </a:tblGrid>
              <a:tr h="637750">
                <a:tc>
                  <a:txBody>
                    <a:bodyPr/>
                    <a:lstStyle/>
                    <a:p>
                      <a:pPr marL="0" marR="0" lvl="0" indent="0" algn="l" rtl="0">
                        <a:spcBef>
                          <a:spcPts val="0"/>
                        </a:spcBef>
                        <a:spcAft>
                          <a:spcPts val="0"/>
                        </a:spcAft>
                        <a:buNone/>
                      </a:pPr>
                      <a:r>
                        <a:rPr lang="en-US" sz="1800" u="none" strike="noStrike" cap="none"/>
                        <a:t>Movie_Name</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Shooting_Location</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Listing</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0"/>
                  </a:ext>
                </a:extLst>
              </a:tr>
              <a:tr h="448525">
                <a:tc>
                  <a:txBody>
                    <a:bodyPr/>
                    <a:lstStyle/>
                    <a:p>
                      <a:pPr marL="0" marR="0" lvl="0" indent="0" algn="l" rtl="0">
                        <a:spcBef>
                          <a:spcPts val="0"/>
                        </a:spcBef>
                        <a:spcAft>
                          <a:spcPts val="0"/>
                        </a:spcAft>
                        <a:buNone/>
                      </a:pPr>
                      <a:r>
                        <a:rPr lang="en-US" sz="1800" u="none" strike="noStrike" cap="none"/>
                        <a:t>MovieOne</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UK</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Comedy</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1"/>
                  </a:ext>
                </a:extLst>
              </a:tr>
              <a:tr h="448525">
                <a:tc>
                  <a:txBody>
                    <a:bodyPr/>
                    <a:lstStyle/>
                    <a:p>
                      <a:pPr marL="0" marR="0" lvl="0" indent="0" algn="l" rtl="0">
                        <a:spcBef>
                          <a:spcPts val="0"/>
                        </a:spcBef>
                        <a:spcAft>
                          <a:spcPts val="0"/>
                        </a:spcAft>
                        <a:buNone/>
                      </a:pPr>
                      <a:r>
                        <a:rPr lang="en-US" sz="1800" u="none" strike="noStrike" cap="none"/>
                        <a:t>MovieOne</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UK</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Thriller</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2"/>
                  </a:ext>
                </a:extLst>
              </a:tr>
              <a:tr h="448525">
                <a:tc>
                  <a:txBody>
                    <a:bodyPr/>
                    <a:lstStyle/>
                    <a:p>
                      <a:pPr marL="0" marR="0" lvl="0" indent="0" algn="l" rtl="0">
                        <a:spcBef>
                          <a:spcPts val="0"/>
                        </a:spcBef>
                        <a:spcAft>
                          <a:spcPts val="0"/>
                        </a:spcAft>
                        <a:buNone/>
                      </a:pPr>
                      <a:r>
                        <a:rPr lang="en-US" sz="1800" u="none" strike="noStrike" cap="none"/>
                        <a:t>MovieTwo</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Australia</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Action</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3"/>
                  </a:ext>
                </a:extLst>
              </a:tr>
              <a:tr h="448525">
                <a:tc>
                  <a:txBody>
                    <a:bodyPr/>
                    <a:lstStyle/>
                    <a:p>
                      <a:pPr marL="0" marR="0" lvl="0" indent="0" algn="l" rtl="0">
                        <a:spcBef>
                          <a:spcPts val="0"/>
                        </a:spcBef>
                        <a:spcAft>
                          <a:spcPts val="0"/>
                        </a:spcAft>
                        <a:buNone/>
                      </a:pPr>
                      <a:r>
                        <a:rPr lang="en-US" sz="1800" u="none" strike="noStrike" cap="none"/>
                        <a:t>MovieTwo</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Australia</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Crime</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4"/>
                  </a:ext>
                </a:extLst>
              </a:tr>
              <a:tr h="448525">
                <a:tc>
                  <a:txBody>
                    <a:bodyPr/>
                    <a:lstStyle/>
                    <a:p>
                      <a:pPr marL="0" marR="0" lvl="0" indent="0" algn="l" rtl="0">
                        <a:spcBef>
                          <a:spcPts val="0"/>
                        </a:spcBef>
                        <a:spcAft>
                          <a:spcPts val="0"/>
                        </a:spcAft>
                        <a:buNone/>
                      </a:pPr>
                      <a:r>
                        <a:rPr lang="en-US" sz="1800" u="none" strike="noStrike" cap="none"/>
                        <a:t>MovieThree</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India</a:t>
                      </a:r>
                      <a:br>
                        <a:rPr lang="en-US" sz="1800" u="none" strike="noStrike" cap="none"/>
                      </a:br>
                      <a:endParaRPr sz="1800" b="0" i="0" u="none" strike="noStrike" cap="none">
                        <a:latin typeface="Arial"/>
                        <a:ea typeface="Arial"/>
                        <a:cs typeface="Arial"/>
                        <a:sym typeface="Arial"/>
                      </a:endParaRPr>
                    </a:p>
                  </a:txBody>
                  <a:tcPr marL="50800" marR="50800" marT="50800" marB="50800"/>
                </a:tc>
                <a:tc>
                  <a:txBody>
                    <a:bodyPr/>
                    <a:lstStyle/>
                    <a:p>
                      <a:pPr marL="0" marR="0" lvl="0" indent="0" algn="l" rtl="0">
                        <a:spcBef>
                          <a:spcPts val="0"/>
                        </a:spcBef>
                        <a:spcAft>
                          <a:spcPts val="0"/>
                        </a:spcAft>
                        <a:buNone/>
                      </a:pPr>
                      <a:r>
                        <a:rPr lang="en-US" sz="1800" u="none" strike="noStrike" cap="none"/>
                        <a:t>Drama</a:t>
                      </a:r>
                      <a:br>
                        <a:rPr lang="en-US" sz="1800" u="none" strike="noStrike" cap="none"/>
                      </a:br>
                      <a:endParaRPr sz="1800" b="0" i="0" u="none" strike="noStrike" cap="none">
                        <a:latin typeface="Arial"/>
                        <a:ea typeface="Arial"/>
                        <a:cs typeface="Arial"/>
                        <a:sym typeface="Arial"/>
                      </a:endParaRPr>
                    </a:p>
                  </a:txBody>
                  <a:tcPr marL="50800" marR="50800" marT="50800" marB="50800"/>
                </a:tc>
                <a:extLst>
                  <a:ext uri="{0D108BD9-81ED-4DB2-BD59-A6C34878D82A}">
                    <a16:rowId xmlns:a16="http://schemas.microsoft.com/office/drawing/2014/main" val="10005"/>
                  </a:ext>
                </a:extLst>
              </a:tr>
            </a:tbl>
          </a:graphicData>
        </a:graphic>
      </p:graphicFrame>
      <p:sp>
        <p:nvSpPr>
          <p:cNvPr id="897" name="Google Shape;897;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98" name="Google Shape;898;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p58"/>
          <p:cNvSpPr txBox="1">
            <a:spLocks noGrp="1"/>
          </p:cNvSpPr>
          <p:nvPr>
            <p:ph type="title"/>
          </p:nvPr>
        </p:nvSpPr>
        <p:spPr>
          <a:xfrm>
            <a:off x="2514600" y="647700"/>
            <a:ext cx="7924800" cy="609600"/>
          </a:xfrm>
          <a:prstGeom prst="rect">
            <a:avLst/>
          </a:prstGeom>
          <a:noFill/>
          <a:ln>
            <a:noFill/>
          </a:ln>
        </p:spPr>
        <p:txBody>
          <a:bodyPr spcFirstLastPara="1" wrap="square" lIns="0" tIns="0" rIns="0" bIns="0" anchor="t" anchorCtr="0">
            <a:spAutoFit/>
          </a:bodyPr>
          <a:lstStyle/>
          <a:p>
            <a:pPr marL="0" lvl="0" indent="0" algn="l"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Fourth Normal Form</a:t>
            </a:r>
            <a:endParaRPr/>
          </a:p>
        </p:txBody>
      </p:sp>
      <p:sp>
        <p:nvSpPr>
          <p:cNvPr id="904" name="Google Shape;904;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101600" algn="just" rtl="0">
              <a:lnSpc>
                <a:spcPct val="90000"/>
              </a:lnSpc>
              <a:spcBef>
                <a:spcPts val="0"/>
              </a:spcBef>
              <a:spcAft>
                <a:spcPts val="0"/>
              </a:spcAft>
              <a:buClr>
                <a:schemeClr val="dk1"/>
              </a:buClr>
              <a:buSzPts val="2000"/>
              <a:buNone/>
            </a:pPr>
            <a:endParaRPr sz="2000">
              <a:latin typeface="Arial"/>
              <a:ea typeface="Arial"/>
              <a:cs typeface="Arial"/>
              <a:sym typeface="Arial"/>
            </a:endParaRPr>
          </a:p>
          <a:p>
            <a:pPr marL="228600" lvl="0" indent="-101600" algn="just" rtl="0">
              <a:lnSpc>
                <a:spcPct val="90000"/>
              </a:lnSpc>
              <a:spcBef>
                <a:spcPts val="1000"/>
              </a:spcBef>
              <a:spcAft>
                <a:spcPts val="0"/>
              </a:spcAft>
              <a:buClr>
                <a:schemeClr val="dk1"/>
              </a:buClr>
              <a:buSzPts val="2000"/>
              <a:buNone/>
            </a:pPr>
            <a:endParaRPr sz="2000">
              <a:latin typeface="Arial"/>
              <a:ea typeface="Arial"/>
              <a:cs typeface="Arial"/>
              <a:sym typeface="Arial"/>
            </a:endParaRPr>
          </a:p>
        </p:txBody>
      </p:sp>
      <p:sp>
        <p:nvSpPr>
          <p:cNvPr id="905" name="Google Shape;905;p58"/>
          <p:cNvSpPr/>
          <p:nvPr/>
        </p:nvSpPr>
        <p:spPr>
          <a:xfrm>
            <a:off x="2116138" y="2058889"/>
            <a:ext cx="2434091" cy="255454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Let us convert the above table in 4NF −</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&lt;Movie_Shooting&gt;</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&lt;Movie_Listing&gt;</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Now the violation is removed and the tables are in 4NF.</a:t>
            </a:r>
            <a:endParaRPr/>
          </a:p>
        </p:txBody>
      </p:sp>
      <p:graphicFrame>
        <p:nvGraphicFramePr>
          <p:cNvPr id="906" name="Google Shape;906;p58"/>
          <p:cNvGraphicFramePr/>
          <p:nvPr/>
        </p:nvGraphicFramePr>
        <p:xfrm>
          <a:off x="5181601" y="1371600"/>
          <a:ext cx="3775075" cy="2209800"/>
        </p:xfrm>
        <a:graphic>
          <a:graphicData uri="http://schemas.openxmlformats.org/drawingml/2006/table">
            <a:tbl>
              <a:tblPr>
                <a:noFill/>
                <a:tableStyleId>{04F26A73-2107-4AED-AF40-E1B5DE402DE7}</a:tableStyleId>
              </a:tblPr>
              <a:tblGrid>
                <a:gridCol w="1876425">
                  <a:extLst>
                    <a:ext uri="{9D8B030D-6E8A-4147-A177-3AD203B41FA5}">
                      <a16:colId xmlns:a16="http://schemas.microsoft.com/office/drawing/2014/main" val="20000"/>
                    </a:ext>
                  </a:extLst>
                </a:gridCol>
                <a:gridCol w="1898650">
                  <a:extLst>
                    <a:ext uri="{9D8B030D-6E8A-4147-A177-3AD203B41FA5}">
                      <a16:colId xmlns:a16="http://schemas.microsoft.com/office/drawing/2014/main" val="20001"/>
                    </a:ext>
                  </a:extLst>
                </a:gridCol>
              </a:tblGrid>
              <a:tr h="368300">
                <a:tc>
                  <a:txBody>
                    <a:bodyPr/>
                    <a:lstStyle/>
                    <a:p>
                      <a:pPr marL="0" marR="0" lvl="0" indent="0" algn="ctr" rtl="0">
                        <a:spcBef>
                          <a:spcPts val="0"/>
                        </a:spcBef>
                        <a:spcAft>
                          <a:spcPts val="0"/>
                        </a:spcAft>
                        <a:buNone/>
                      </a:pPr>
                      <a:r>
                        <a:rPr lang="en-US" sz="1200" u="none" strike="noStrike" cap="none"/>
                        <a:t>Movie_Name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Shooting_Location</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0"/>
                  </a:ext>
                </a:extLst>
              </a:tr>
              <a:tr h="368300">
                <a:tc>
                  <a:txBody>
                    <a:bodyPr/>
                    <a:lstStyle/>
                    <a:p>
                      <a:pPr marL="0" marR="0" lvl="0" indent="0" algn="ctr" rtl="0">
                        <a:spcBef>
                          <a:spcPts val="0"/>
                        </a:spcBef>
                        <a:spcAft>
                          <a:spcPts val="0"/>
                        </a:spcAft>
                        <a:buNone/>
                      </a:pPr>
                      <a:r>
                        <a:rPr lang="en-US" sz="1200" u="none" strike="noStrike" cap="none"/>
                        <a:t>MovieOne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UK</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1"/>
                  </a:ext>
                </a:extLst>
              </a:tr>
              <a:tr h="368300">
                <a:tc>
                  <a:txBody>
                    <a:bodyPr/>
                    <a:lstStyle/>
                    <a:p>
                      <a:pPr marL="0" marR="0" lvl="0" indent="0" algn="ctr" rtl="0">
                        <a:spcBef>
                          <a:spcPts val="0"/>
                        </a:spcBef>
                        <a:spcAft>
                          <a:spcPts val="0"/>
                        </a:spcAft>
                        <a:buNone/>
                      </a:pPr>
                      <a:r>
                        <a:rPr lang="en-US" sz="1200" u="none" strike="noStrike" cap="none"/>
                        <a:t>MovieOne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UK</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2"/>
                  </a:ext>
                </a:extLst>
              </a:tr>
              <a:tr h="368300">
                <a:tc>
                  <a:txBody>
                    <a:bodyPr/>
                    <a:lstStyle/>
                    <a:p>
                      <a:pPr marL="0" marR="0" lvl="0" indent="0" algn="ctr" rtl="0">
                        <a:spcBef>
                          <a:spcPts val="0"/>
                        </a:spcBef>
                        <a:spcAft>
                          <a:spcPts val="0"/>
                        </a:spcAft>
                        <a:buNone/>
                      </a:pPr>
                      <a:r>
                        <a:rPr lang="en-US" sz="1200" u="none" strike="noStrike" cap="none"/>
                        <a:t>MovieTwo</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Australia</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3"/>
                  </a:ext>
                </a:extLst>
              </a:tr>
              <a:tr h="368300">
                <a:tc>
                  <a:txBody>
                    <a:bodyPr/>
                    <a:lstStyle/>
                    <a:p>
                      <a:pPr marL="0" marR="0" lvl="0" indent="0" algn="ctr" rtl="0">
                        <a:spcBef>
                          <a:spcPts val="0"/>
                        </a:spcBef>
                        <a:spcAft>
                          <a:spcPts val="0"/>
                        </a:spcAft>
                        <a:buNone/>
                      </a:pPr>
                      <a:r>
                        <a:rPr lang="en-US" sz="1200" u="none" strike="noStrike" cap="none"/>
                        <a:t>MovieTwo</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Australia</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4"/>
                  </a:ext>
                </a:extLst>
              </a:tr>
              <a:tr h="368300">
                <a:tc>
                  <a:txBody>
                    <a:bodyPr/>
                    <a:lstStyle/>
                    <a:p>
                      <a:pPr marL="0" marR="0" lvl="0" indent="0" algn="ctr" rtl="0">
                        <a:spcBef>
                          <a:spcPts val="0"/>
                        </a:spcBef>
                        <a:spcAft>
                          <a:spcPts val="0"/>
                        </a:spcAft>
                        <a:buNone/>
                      </a:pPr>
                      <a:r>
                        <a:rPr lang="en-US" sz="1200" u="none" strike="noStrike" cap="none"/>
                        <a:t>MovieThree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ctr" rtl="0">
                        <a:spcBef>
                          <a:spcPts val="0"/>
                        </a:spcBef>
                        <a:spcAft>
                          <a:spcPts val="0"/>
                        </a:spcAft>
                        <a:buNone/>
                      </a:pPr>
                      <a:r>
                        <a:rPr lang="en-US" sz="1200" u="none" strike="noStrike" cap="none"/>
                        <a:t>India</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5"/>
                  </a:ext>
                </a:extLst>
              </a:tr>
            </a:tbl>
          </a:graphicData>
        </a:graphic>
      </p:graphicFrame>
      <p:graphicFrame>
        <p:nvGraphicFramePr>
          <p:cNvPr id="907" name="Google Shape;907;p58"/>
          <p:cNvGraphicFramePr/>
          <p:nvPr/>
        </p:nvGraphicFramePr>
        <p:xfrm>
          <a:off x="5181600" y="3933825"/>
          <a:ext cx="3797300" cy="2194560"/>
        </p:xfrm>
        <a:graphic>
          <a:graphicData uri="http://schemas.openxmlformats.org/drawingml/2006/table">
            <a:tbl>
              <a:tblPr>
                <a:noFill/>
                <a:tableStyleId>{04F26A73-2107-4AED-AF40-E1B5DE402DE7}</a:tableStyleId>
              </a:tblPr>
              <a:tblGrid>
                <a:gridCol w="1898650">
                  <a:extLst>
                    <a:ext uri="{9D8B030D-6E8A-4147-A177-3AD203B41FA5}">
                      <a16:colId xmlns:a16="http://schemas.microsoft.com/office/drawing/2014/main" val="20000"/>
                    </a:ext>
                  </a:extLst>
                </a:gridCol>
                <a:gridCol w="1898650">
                  <a:extLst>
                    <a:ext uri="{9D8B030D-6E8A-4147-A177-3AD203B41FA5}">
                      <a16:colId xmlns:a16="http://schemas.microsoft.com/office/drawing/2014/main" val="20001"/>
                    </a:ext>
                  </a:extLst>
                </a:gridCol>
              </a:tblGrid>
              <a:tr h="152400">
                <a:tc>
                  <a:txBody>
                    <a:bodyPr/>
                    <a:lstStyle/>
                    <a:p>
                      <a:pPr marL="0" marR="0" lvl="0" indent="0" algn="l" rtl="0">
                        <a:spcBef>
                          <a:spcPts val="0"/>
                        </a:spcBef>
                        <a:spcAft>
                          <a:spcPts val="0"/>
                        </a:spcAft>
                        <a:buNone/>
                      </a:pPr>
                      <a:r>
                        <a:rPr lang="en-US" sz="1200" u="none" strike="noStrike" cap="none"/>
                        <a:t>Movie_Name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Listing</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0"/>
                  </a:ext>
                </a:extLst>
              </a:tr>
              <a:tr h="152400">
                <a:tc>
                  <a:txBody>
                    <a:bodyPr/>
                    <a:lstStyle/>
                    <a:p>
                      <a:pPr marL="0" marR="0" lvl="0" indent="0" algn="l" rtl="0">
                        <a:spcBef>
                          <a:spcPts val="0"/>
                        </a:spcBef>
                        <a:spcAft>
                          <a:spcPts val="0"/>
                        </a:spcAft>
                        <a:buNone/>
                      </a:pPr>
                      <a:r>
                        <a:rPr lang="en-US" sz="1200" u="none" strike="noStrike" cap="none"/>
                        <a:t>MovieOne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Comedy</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1"/>
                  </a:ext>
                </a:extLst>
              </a:tr>
              <a:tr h="152400">
                <a:tc>
                  <a:txBody>
                    <a:bodyPr/>
                    <a:lstStyle/>
                    <a:p>
                      <a:pPr marL="0" marR="0" lvl="0" indent="0" algn="l" rtl="0">
                        <a:spcBef>
                          <a:spcPts val="0"/>
                        </a:spcBef>
                        <a:spcAft>
                          <a:spcPts val="0"/>
                        </a:spcAft>
                        <a:buNone/>
                      </a:pPr>
                      <a:r>
                        <a:rPr lang="en-US" sz="1200" u="none" strike="noStrike" cap="none"/>
                        <a:t>MovieOne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Thriller</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2"/>
                  </a:ext>
                </a:extLst>
              </a:tr>
              <a:tr h="152400">
                <a:tc>
                  <a:txBody>
                    <a:bodyPr/>
                    <a:lstStyle/>
                    <a:p>
                      <a:pPr marL="0" marR="0" lvl="0" indent="0" algn="l" rtl="0">
                        <a:spcBef>
                          <a:spcPts val="0"/>
                        </a:spcBef>
                        <a:spcAft>
                          <a:spcPts val="0"/>
                        </a:spcAft>
                        <a:buNone/>
                      </a:pPr>
                      <a:r>
                        <a:rPr lang="en-US" sz="1200" u="none" strike="noStrike" cap="none"/>
                        <a:t>MovieTwo</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Action</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3"/>
                  </a:ext>
                </a:extLst>
              </a:tr>
              <a:tr h="152400">
                <a:tc>
                  <a:txBody>
                    <a:bodyPr/>
                    <a:lstStyle/>
                    <a:p>
                      <a:pPr marL="0" marR="0" lvl="0" indent="0" algn="l" rtl="0">
                        <a:spcBef>
                          <a:spcPts val="0"/>
                        </a:spcBef>
                        <a:spcAft>
                          <a:spcPts val="0"/>
                        </a:spcAft>
                        <a:buNone/>
                      </a:pPr>
                      <a:r>
                        <a:rPr lang="en-US" sz="1200" u="none" strike="noStrike" cap="none"/>
                        <a:t>MovieTwo</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Crime</a:t>
                      </a:r>
                      <a:br>
                        <a:rPr lang="en-US" sz="1200" u="none" strike="noStrike" cap="none"/>
                      </a:b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4"/>
                  </a:ext>
                </a:extLst>
              </a:tr>
              <a:tr h="152400">
                <a:tc>
                  <a:txBody>
                    <a:bodyPr/>
                    <a:lstStyle/>
                    <a:p>
                      <a:pPr marL="0" marR="0" lvl="0" indent="0" algn="l" rtl="0">
                        <a:spcBef>
                          <a:spcPts val="0"/>
                        </a:spcBef>
                        <a:spcAft>
                          <a:spcPts val="0"/>
                        </a:spcAft>
                        <a:buNone/>
                      </a:pPr>
                      <a:r>
                        <a:rPr lang="en-US" sz="1200" u="none" strike="noStrike" cap="none"/>
                        <a:t>MovieThree</a:t>
                      </a:r>
                      <a:br>
                        <a:rPr lang="en-US" sz="1200" u="none" strike="noStrike" cap="none"/>
                      </a:br>
                      <a:endParaRPr sz="1200" b="0" i="0" u="none" strike="noStrike" cap="none">
                        <a:latin typeface="Arial"/>
                        <a:ea typeface="Arial"/>
                        <a:cs typeface="Arial"/>
                        <a:sym typeface="Arial"/>
                      </a:endParaRPr>
                    </a:p>
                  </a:txBody>
                  <a:tcPr marL="50800" marR="50800" marT="0" marB="0"/>
                </a:tc>
                <a:tc>
                  <a:txBody>
                    <a:bodyPr/>
                    <a:lstStyle/>
                    <a:p>
                      <a:pPr marL="0" marR="0" lvl="0" indent="0" algn="l" rtl="0">
                        <a:spcBef>
                          <a:spcPts val="0"/>
                        </a:spcBef>
                        <a:spcAft>
                          <a:spcPts val="0"/>
                        </a:spcAft>
                        <a:buNone/>
                      </a:pPr>
                      <a:r>
                        <a:rPr lang="en-US" sz="1200" u="none" strike="noStrike" cap="none"/>
                        <a:t>Drama</a:t>
                      </a:r>
                      <a:endParaRPr sz="1200" b="0" i="0" u="none" strike="noStrike" cap="none">
                        <a:latin typeface="Arial"/>
                        <a:ea typeface="Arial"/>
                        <a:cs typeface="Arial"/>
                        <a:sym typeface="Arial"/>
                      </a:endParaRPr>
                    </a:p>
                  </a:txBody>
                  <a:tcPr marL="50800" marR="50800" marT="0" marB="0"/>
                </a:tc>
                <a:extLst>
                  <a:ext uri="{0D108BD9-81ED-4DB2-BD59-A6C34878D82A}">
                    <a16:rowId xmlns:a16="http://schemas.microsoft.com/office/drawing/2014/main" val="10005"/>
                  </a:ext>
                </a:extLst>
              </a:tr>
            </a:tbl>
          </a:graphicData>
        </a:graphic>
      </p:graphicFrame>
      <p:sp>
        <p:nvSpPr>
          <p:cNvPr id="908" name="Google Shape;908;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09" name="Google Shape;909;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70">
          <a:extLst>
            <a:ext uri="{FF2B5EF4-FFF2-40B4-BE49-F238E27FC236}">
              <a16:creationId xmlns:a16="http://schemas.microsoft.com/office/drawing/2014/main" id="{1DABC2F5-86A0-2122-57B2-9024467B24F8}"/>
            </a:ext>
          </a:extLst>
        </p:cNvPr>
        <p:cNvGrpSpPr/>
        <p:nvPr/>
      </p:nvGrpSpPr>
      <p:grpSpPr>
        <a:xfrm>
          <a:off x="0" y="0"/>
          <a:ext cx="0" cy="0"/>
          <a:chOff x="0" y="0"/>
          <a:chExt cx="0" cy="0"/>
        </a:xfrm>
      </p:grpSpPr>
      <p:sp>
        <p:nvSpPr>
          <p:cNvPr id="872" name="Google Shape;872;p55">
            <a:extLst>
              <a:ext uri="{FF2B5EF4-FFF2-40B4-BE49-F238E27FC236}">
                <a16:creationId xmlns:a16="http://schemas.microsoft.com/office/drawing/2014/main" id="{D8B83564-C9D2-3AEE-86E1-80409677A57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873" name="Google Shape;873;p55">
            <a:extLst>
              <a:ext uri="{FF2B5EF4-FFF2-40B4-BE49-F238E27FC236}">
                <a16:creationId xmlns:a16="http://schemas.microsoft.com/office/drawing/2014/main" id="{B71B106F-B394-F33D-CFA2-A01334AD9DAB}"/>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pic>
        <p:nvPicPr>
          <p:cNvPr id="2050" name="Picture 2">
            <a:extLst>
              <a:ext uri="{FF2B5EF4-FFF2-40B4-BE49-F238E27FC236}">
                <a16:creationId xmlns:a16="http://schemas.microsoft.com/office/drawing/2014/main" id="{4DDF7ACA-9BA1-6F0A-39E2-B1B1DC51F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185" y="278355"/>
            <a:ext cx="6624000" cy="5922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6833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59"/>
          <p:cNvSpPr txBox="1">
            <a:spLocks noGrp="1"/>
          </p:cNvSpPr>
          <p:nvPr>
            <p:ph type="title"/>
          </p:nvPr>
        </p:nvSpPr>
        <p:spPr>
          <a:xfrm>
            <a:off x="838200" y="691696"/>
            <a:ext cx="10515600" cy="500137"/>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Fifth Normal Form </a:t>
            </a:r>
            <a:endParaRPr/>
          </a:p>
        </p:txBody>
      </p:sp>
      <p:sp>
        <p:nvSpPr>
          <p:cNvPr id="915" name="Google Shape;915;p59"/>
          <p:cNvSpPr/>
          <p:nvPr/>
        </p:nvSpPr>
        <p:spPr>
          <a:xfrm>
            <a:off x="838200" y="1666324"/>
            <a:ext cx="5257800" cy="332398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5NF (Fifth Normal Form) is also known as project-join normal form. A relation is in Fifth Normal Form (5NF), if it is in 4NF, and won’t have lossless decomposition into smaller tables.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You can also consider that a relation is in 5NF, if the candidate key implies every join dependency in it.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Example</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The below relation violates the Fifth Normal Form (5NF) of Normalization −</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&lt;Employee&gt;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The above relation can be decomposed into the following three tables; therefore, it is not in 5NF −</a:t>
            </a:r>
            <a:endParaRPr/>
          </a:p>
        </p:txBody>
      </p:sp>
      <p:graphicFrame>
        <p:nvGraphicFramePr>
          <p:cNvPr id="916" name="Google Shape;916;p59"/>
          <p:cNvGraphicFramePr/>
          <p:nvPr/>
        </p:nvGraphicFramePr>
        <p:xfrm>
          <a:off x="6400800" y="1920240"/>
          <a:ext cx="4038600" cy="3017520"/>
        </p:xfrm>
        <a:graphic>
          <a:graphicData uri="http://schemas.openxmlformats.org/drawingml/2006/table">
            <a:tbl>
              <a:tblPr>
                <a:noFill/>
                <a:tableStyleId>{04F26A73-2107-4AED-AF40-E1B5DE402DE7}</a:tableStyleId>
              </a:tblPr>
              <a:tblGrid>
                <a:gridCol w="1346200">
                  <a:extLst>
                    <a:ext uri="{9D8B030D-6E8A-4147-A177-3AD203B41FA5}">
                      <a16:colId xmlns:a16="http://schemas.microsoft.com/office/drawing/2014/main" val="20000"/>
                    </a:ext>
                  </a:extLst>
                </a:gridCol>
                <a:gridCol w="1346200">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tblGrid>
              <a:tr h="770175">
                <a:tc>
                  <a:txBody>
                    <a:bodyPr/>
                    <a:lstStyle/>
                    <a:p>
                      <a:pPr marL="0" marR="0" lvl="0" indent="0" algn="l" rtl="0">
                        <a:spcBef>
                          <a:spcPts val="0"/>
                        </a:spcBef>
                        <a:spcAft>
                          <a:spcPts val="0"/>
                        </a:spcAft>
                        <a:buNone/>
                      </a:pPr>
                      <a:r>
                        <a:rPr lang="en-US" sz="1800" u="none" strike="noStrike" cap="none"/>
                        <a:t>EmpName</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EmpSkills</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EmpJob (Assigned Work)</a:t>
                      </a:r>
                      <a:br>
                        <a:rPr lang="en-US" sz="1800" u="none" strike="noStrike" cap="none"/>
                      </a:br>
                      <a:endParaRPr sz="18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0"/>
                  </a:ext>
                </a:extLst>
              </a:tr>
              <a:tr h="513450">
                <a:tc>
                  <a:txBody>
                    <a:bodyPr/>
                    <a:lstStyle/>
                    <a:p>
                      <a:pPr marL="0" marR="0" lvl="0" indent="0" algn="l" rtl="0">
                        <a:spcBef>
                          <a:spcPts val="0"/>
                        </a:spcBef>
                        <a:spcAft>
                          <a:spcPts val="0"/>
                        </a:spcAft>
                        <a:buNone/>
                      </a:pPr>
                      <a:r>
                        <a:rPr lang="en-US" sz="1800" u="none" strike="noStrike" cap="none"/>
                        <a:t>David</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Java</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E145</a:t>
                      </a:r>
                      <a:br>
                        <a:rPr lang="en-US" sz="1800" u="none" strike="noStrike" cap="none"/>
                      </a:br>
                      <a:endParaRPr sz="18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1"/>
                  </a:ext>
                </a:extLst>
              </a:tr>
              <a:tr h="513450">
                <a:tc>
                  <a:txBody>
                    <a:bodyPr/>
                    <a:lstStyle/>
                    <a:p>
                      <a:pPr marL="0" marR="0" lvl="0" indent="0" algn="l" rtl="0">
                        <a:spcBef>
                          <a:spcPts val="0"/>
                        </a:spcBef>
                        <a:spcAft>
                          <a:spcPts val="0"/>
                        </a:spcAft>
                        <a:buNone/>
                      </a:pPr>
                      <a:r>
                        <a:rPr lang="en-US" sz="1800" u="none" strike="noStrike" cap="none"/>
                        <a:t>John</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JavaScript</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E146</a:t>
                      </a:r>
                      <a:br>
                        <a:rPr lang="en-US" sz="1800" u="none" strike="noStrike" cap="none"/>
                      </a:br>
                      <a:endParaRPr sz="18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2"/>
                  </a:ext>
                </a:extLst>
              </a:tr>
              <a:tr h="513450">
                <a:tc>
                  <a:txBody>
                    <a:bodyPr/>
                    <a:lstStyle/>
                    <a:p>
                      <a:pPr marL="0" marR="0" lvl="0" indent="0" algn="l" rtl="0">
                        <a:spcBef>
                          <a:spcPts val="0"/>
                        </a:spcBef>
                        <a:spcAft>
                          <a:spcPts val="0"/>
                        </a:spcAft>
                        <a:buNone/>
                      </a:pPr>
                      <a:r>
                        <a:rPr lang="en-US" sz="1800" u="none" strike="noStrike" cap="none"/>
                        <a:t>Jamie</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jQuery</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E146</a:t>
                      </a:r>
                      <a:br>
                        <a:rPr lang="en-US" sz="1800" u="none" strike="noStrike" cap="none"/>
                      </a:br>
                      <a:endParaRPr sz="18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3"/>
                  </a:ext>
                </a:extLst>
              </a:tr>
              <a:tr h="513450">
                <a:tc>
                  <a:txBody>
                    <a:bodyPr/>
                    <a:lstStyle/>
                    <a:p>
                      <a:pPr marL="0" marR="0" lvl="0" indent="0" algn="l" rtl="0">
                        <a:spcBef>
                          <a:spcPts val="0"/>
                        </a:spcBef>
                        <a:spcAft>
                          <a:spcPts val="0"/>
                        </a:spcAft>
                        <a:buNone/>
                      </a:pPr>
                      <a:r>
                        <a:rPr lang="en-US" sz="1800" u="none" strike="noStrike" cap="none"/>
                        <a:t>Emma</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Java</a:t>
                      </a:r>
                      <a:br>
                        <a:rPr lang="en-US" sz="1800" u="none" strike="noStrike" cap="none"/>
                      </a:br>
                      <a:endParaRPr sz="18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800" u="none" strike="noStrike" cap="none"/>
                        <a:t>E147</a:t>
                      </a:r>
                      <a:br>
                        <a:rPr lang="en-US" sz="1800" u="none" strike="noStrike" cap="none"/>
                      </a:br>
                      <a:endParaRPr sz="18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4"/>
                  </a:ext>
                </a:extLst>
              </a:tr>
            </a:tbl>
          </a:graphicData>
        </a:graphic>
      </p:graphicFrame>
      <p:sp>
        <p:nvSpPr>
          <p:cNvPr id="917" name="Google Shape;917;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18" name="Google Shape;918;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60"/>
          <p:cNvSpPr txBox="1">
            <a:spLocks noGrp="1"/>
          </p:cNvSpPr>
          <p:nvPr>
            <p:ph type="title"/>
          </p:nvPr>
        </p:nvSpPr>
        <p:spPr>
          <a:xfrm>
            <a:off x="2466974" y="609600"/>
            <a:ext cx="7924800" cy="609600"/>
          </a:xfrm>
          <a:prstGeom prst="rect">
            <a:avLst/>
          </a:prstGeom>
          <a:noFill/>
          <a:ln>
            <a:noFill/>
          </a:ln>
        </p:spPr>
        <p:txBody>
          <a:bodyPr spcFirstLastPara="1" wrap="square" lIns="0" tIns="0" rIns="0" bIns="0" anchor="t" anchorCtr="0">
            <a:spAutoFit/>
          </a:bodyPr>
          <a:lstStyle/>
          <a:p>
            <a:pPr marL="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Fifth Normal Form </a:t>
            </a:r>
            <a:endParaRPr/>
          </a:p>
        </p:txBody>
      </p:sp>
      <p:sp>
        <p:nvSpPr>
          <p:cNvPr id="924" name="Google Shape;924;p60"/>
          <p:cNvSpPr/>
          <p:nvPr/>
        </p:nvSpPr>
        <p:spPr>
          <a:xfrm>
            <a:off x="2308226" y="1219200"/>
            <a:ext cx="4121149" cy="2123658"/>
          </a:xfrm>
          <a:prstGeom prst="rect">
            <a:avLst/>
          </a:prstGeom>
          <a:noFill/>
          <a:ln>
            <a:noFill/>
          </a:ln>
        </p:spPr>
        <p:txBody>
          <a:bodyPr spcFirstLastPara="1" wrap="square" lIns="91425" tIns="45700" rIns="91425" bIns="45700" anchor="ctr" anchorCtr="0">
            <a:spAutoFit/>
          </a:bodyPr>
          <a:lstStyle/>
          <a:p>
            <a:pPr marL="0" marR="0" lvl="0" indent="0" algn="just" rtl="0">
              <a:spcBef>
                <a:spcPts val="0"/>
              </a:spcBef>
              <a:spcAft>
                <a:spcPts val="0"/>
              </a:spcAft>
              <a:buNone/>
            </a:pPr>
            <a:r>
              <a:rPr lang="en-US" sz="1200" b="1">
                <a:solidFill>
                  <a:srgbClr val="000000"/>
                </a:solidFill>
                <a:latin typeface="Arial"/>
                <a:ea typeface="Arial"/>
                <a:cs typeface="Arial"/>
                <a:sym typeface="Arial"/>
              </a:rPr>
              <a:t>EmployeeSkills&gt;</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rgbClr val="000000"/>
                </a:solidFill>
                <a:latin typeface="Arial"/>
                <a:ea typeface="Arial"/>
                <a:cs typeface="Arial"/>
                <a:sym typeface="Arial"/>
              </a:rPr>
              <a:t>The following is the &lt;EmployeeJob&gt; relation that displays the jobs assigned to each employee −</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b="1">
                <a:solidFill>
                  <a:srgbClr val="000000"/>
                </a:solidFill>
                <a:latin typeface="Arial"/>
                <a:ea typeface="Arial"/>
                <a:cs typeface="Arial"/>
                <a:sym typeface="Arial"/>
              </a:rPr>
              <a:t>&lt;EmployeeJob&gt;</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rgbClr val="000000"/>
                </a:solidFill>
                <a:latin typeface="Arial"/>
                <a:ea typeface="Arial"/>
                <a:cs typeface="Arial"/>
                <a:sym typeface="Arial"/>
              </a:rPr>
              <a:t>Here is the skills that are related to the assigned jobs −</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b="1">
                <a:solidFill>
                  <a:srgbClr val="000000"/>
                </a:solidFill>
                <a:latin typeface="Arial"/>
                <a:ea typeface="Arial"/>
                <a:cs typeface="Arial"/>
                <a:sym typeface="Arial"/>
              </a:rPr>
              <a:t>&lt;JobSkills&gt;</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rgbClr val="000000"/>
                </a:solidFill>
                <a:latin typeface="Arial"/>
                <a:ea typeface="Arial"/>
                <a:cs typeface="Arial"/>
                <a:sym typeface="Arial"/>
              </a:rPr>
              <a:t>Our Join Dependency −</a:t>
            </a:r>
            <a:endParaRPr sz="600">
              <a:solidFill>
                <a:schemeClr val="dk1"/>
              </a:solidFill>
              <a:latin typeface="Arial"/>
              <a:ea typeface="Arial"/>
              <a:cs typeface="Arial"/>
              <a:sym typeface="Arial"/>
            </a:endParaRPr>
          </a:p>
          <a:p>
            <a:pPr marL="0" marR="0" lvl="0" indent="0" algn="just" rtl="0">
              <a:spcBef>
                <a:spcPts val="0"/>
              </a:spcBef>
              <a:spcAft>
                <a:spcPts val="0"/>
              </a:spcAft>
              <a:buNone/>
            </a:pPr>
            <a:r>
              <a:rPr lang="en-US" sz="1200">
                <a:solidFill>
                  <a:srgbClr val="000000"/>
                </a:solidFill>
                <a:latin typeface="Arial"/>
                <a:ea typeface="Arial"/>
                <a:cs typeface="Arial"/>
                <a:sym typeface="Arial"/>
              </a:rPr>
              <a:t>The above relations have join dependency, so they are not in 5NF. That would mean that a join relation of the above three relations is equal to our original relation </a:t>
            </a:r>
            <a:r>
              <a:rPr lang="en-US" sz="1200" b="1">
                <a:solidFill>
                  <a:srgbClr val="000000"/>
                </a:solidFill>
                <a:latin typeface="Arial"/>
                <a:ea typeface="Arial"/>
                <a:cs typeface="Arial"/>
                <a:sym typeface="Arial"/>
              </a:rPr>
              <a:t>&lt;Employee&gt;</a:t>
            </a:r>
            <a:r>
              <a:rPr lang="en-US" sz="1200">
                <a:solidFill>
                  <a:srgbClr val="000000"/>
                </a:solidFill>
                <a:latin typeface="Arial"/>
                <a:ea typeface="Arial"/>
                <a:cs typeface="Arial"/>
                <a:sym typeface="Arial"/>
              </a:rPr>
              <a:t>.</a:t>
            </a:r>
            <a:endParaRPr sz="1800">
              <a:solidFill>
                <a:schemeClr val="dk1"/>
              </a:solidFill>
              <a:latin typeface="Arial"/>
              <a:ea typeface="Arial"/>
              <a:cs typeface="Arial"/>
              <a:sym typeface="Arial"/>
            </a:endParaRPr>
          </a:p>
        </p:txBody>
      </p:sp>
      <p:graphicFrame>
        <p:nvGraphicFramePr>
          <p:cNvPr id="925" name="Google Shape;925;p60"/>
          <p:cNvGraphicFramePr/>
          <p:nvPr/>
        </p:nvGraphicFramePr>
        <p:xfrm>
          <a:off x="6800849" y="1219200"/>
          <a:ext cx="2705100" cy="2209750"/>
        </p:xfrm>
        <a:graphic>
          <a:graphicData uri="http://schemas.openxmlformats.org/drawingml/2006/table">
            <a:tbl>
              <a:tblPr>
                <a:noFill/>
                <a:tableStyleId>{04F26A73-2107-4AED-AF40-E1B5DE402DE7}</a:tableStyleId>
              </a:tblPr>
              <a:tblGrid>
                <a:gridCol w="13525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tblGrid>
              <a:tr h="441950">
                <a:tc>
                  <a:txBody>
                    <a:bodyPr/>
                    <a:lstStyle/>
                    <a:p>
                      <a:pPr marL="0" marR="0" lvl="0" indent="0" algn="l" rtl="0">
                        <a:spcBef>
                          <a:spcPts val="0"/>
                        </a:spcBef>
                        <a:spcAft>
                          <a:spcPts val="0"/>
                        </a:spcAft>
                        <a:buNone/>
                      </a:pPr>
                      <a:r>
                        <a:rPr lang="en-US" sz="1400" u="none" strike="noStrike" cap="none"/>
                        <a:t>EmpName</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EmpSkills</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0"/>
                  </a:ext>
                </a:extLst>
              </a:tr>
              <a:tr h="441950">
                <a:tc>
                  <a:txBody>
                    <a:bodyPr/>
                    <a:lstStyle/>
                    <a:p>
                      <a:pPr marL="0" marR="0" lvl="0" indent="0" algn="l" rtl="0">
                        <a:spcBef>
                          <a:spcPts val="0"/>
                        </a:spcBef>
                        <a:spcAft>
                          <a:spcPts val="0"/>
                        </a:spcAft>
                        <a:buNone/>
                      </a:pPr>
                      <a:r>
                        <a:rPr lang="en-US" sz="1400" u="none" strike="noStrike" cap="none"/>
                        <a:t>David</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Java</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1"/>
                  </a:ext>
                </a:extLst>
              </a:tr>
              <a:tr h="441950">
                <a:tc>
                  <a:txBody>
                    <a:bodyPr/>
                    <a:lstStyle/>
                    <a:p>
                      <a:pPr marL="0" marR="0" lvl="0" indent="0" algn="l" rtl="0">
                        <a:spcBef>
                          <a:spcPts val="0"/>
                        </a:spcBef>
                        <a:spcAft>
                          <a:spcPts val="0"/>
                        </a:spcAft>
                        <a:buNone/>
                      </a:pPr>
                      <a:r>
                        <a:rPr lang="en-US" sz="1400" u="none" strike="noStrike" cap="none"/>
                        <a:t>John</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JavaScript</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2"/>
                  </a:ext>
                </a:extLst>
              </a:tr>
              <a:tr h="441950">
                <a:tc>
                  <a:txBody>
                    <a:bodyPr/>
                    <a:lstStyle/>
                    <a:p>
                      <a:pPr marL="0" marR="0" lvl="0" indent="0" algn="l" rtl="0">
                        <a:spcBef>
                          <a:spcPts val="0"/>
                        </a:spcBef>
                        <a:spcAft>
                          <a:spcPts val="0"/>
                        </a:spcAft>
                        <a:buNone/>
                      </a:pPr>
                      <a:r>
                        <a:rPr lang="en-US" sz="1400" u="none" strike="noStrike" cap="none"/>
                        <a:t>Jamie</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jQuery</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3"/>
                  </a:ext>
                </a:extLst>
              </a:tr>
              <a:tr h="441950">
                <a:tc>
                  <a:txBody>
                    <a:bodyPr/>
                    <a:lstStyle/>
                    <a:p>
                      <a:pPr marL="0" marR="0" lvl="0" indent="0" algn="l" rtl="0">
                        <a:spcBef>
                          <a:spcPts val="0"/>
                        </a:spcBef>
                        <a:spcAft>
                          <a:spcPts val="0"/>
                        </a:spcAft>
                        <a:buNone/>
                      </a:pPr>
                      <a:r>
                        <a:rPr lang="en-US" sz="1400" u="none" strike="noStrike" cap="none"/>
                        <a:t>Emma</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Java</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4"/>
                  </a:ext>
                </a:extLst>
              </a:tr>
            </a:tbl>
          </a:graphicData>
        </a:graphic>
      </p:graphicFrame>
      <p:graphicFrame>
        <p:nvGraphicFramePr>
          <p:cNvPr id="926" name="Google Shape;926;p60"/>
          <p:cNvGraphicFramePr/>
          <p:nvPr/>
        </p:nvGraphicFramePr>
        <p:xfrm>
          <a:off x="3162300" y="3429000"/>
          <a:ext cx="2705100" cy="2133600"/>
        </p:xfrm>
        <a:graphic>
          <a:graphicData uri="http://schemas.openxmlformats.org/drawingml/2006/table">
            <a:tbl>
              <a:tblPr>
                <a:noFill/>
                <a:tableStyleId>{04F26A73-2107-4AED-AF40-E1B5DE402DE7}</a:tableStyleId>
              </a:tblPr>
              <a:tblGrid>
                <a:gridCol w="13525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tblGrid>
              <a:tr h="177800">
                <a:tc>
                  <a:txBody>
                    <a:bodyPr/>
                    <a:lstStyle/>
                    <a:p>
                      <a:pPr marL="0" marR="0" lvl="0" indent="0" algn="l" rtl="0">
                        <a:spcBef>
                          <a:spcPts val="0"/>
                        </a:spcBef>
                        <a:spcAft>
                          <a:spcPts val="0"/>
                        </a:spcAft>
                        <a:buNone/>
                      </a:pPr>
                      <a:r>
                        <a:rPr lang="en-US" sz="1400" u="none" strike="noStrike" cap="none"/>
                        <a:t>EmpName</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EmpJob</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0"/>
                  </a:ext>
                </a:extLst>
              </a:tr>
              <a:tr h="177800">
                <a:tc>
                  <a:txBody>
                    <a:bodyPr/>
                    <a:lstStyle/>
                    <a:p>
                      <a:pPr marL="0" marR="0" lvl="0" indent="0" algn="l" rtl="0">
                        <a:spcBef>
                          <a:spcPts val="0"/>
                        </a:spcBef>
                        <a:spcAft>
                          <a:spcPts val="0"/>
                        </a:spcAft>
                        <a:buNone/>
                      </a:pPr>
                      <a:r>
                        <a:rPr lang="en-US" sz="1400" u="none" strike="noStrike" cap="none"/>
                        <a:t>David</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E145</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1"/>
                  </a:ext>
                </a:extLst>
              </a:tr>
              <a:tr h="177800">
                <a:tc>
                  <a:txBody>
                    <a:bodyPr/>
                    <a:lstStyle/>
                    <a:p>
                      <a:pPr marL="0" marR="0" lvl="0" indent="0" algn="l" rtl="0">
                        <a:spcBef>
                          <a:spcPts val="0"/>
                        </a:spcBef>
                        <a:spcAft>
                          <a:spcPts val="0"/>
                        </a:spcAft>
                        <a:buNone/>
                      </a:pPr>
                      <a:r>
                        <a:rPr lang="en-US" sz="1400" u="none" strike="noStrike" cap="none"/>
                        <a:t>John</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E146</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2"/>
                  </a:ext>
                </a:extLst>
              </a:tr>
              <a:tr h="177800">
                <a:tc>
                  <a:txBody>
                    <a:bodyPr/>
                    <a:lstStyle/>
                    <a:p>
                      <a:pPr marL="0" marR="0" lvl="0" indent="0" algn="l" rtl="0">
                        <a:spcBef>
                          <a:spcPts val="0"/>
                        </a:spcBef>
                        <a:spcAft>
                          <a:spcPts val="0"/>
                        </a:spcAft>
                        <a:buNone/>
                      </a:pPr>
                      <a:r>
                        <a:rPr lang="en-US" sz="1400" u="none" strike="noStrike" cap="none"/>
                        <a:t>Jamie</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E146</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3"/>
                  </a:ext>
                </a:extLst>
              </a:tr>
              <a:tr h="177800">
                <a:tc>
                  <a:txBody>
                    <a:bodyPr/>
                    <a:lstStyle/>
                    <a:p>
                      <a:pPr marL="0" marR="0" lvl="0" indent="0" algn="l" rtl="0">
                        <a:spcBef>
                          <a:spcPts val="0"/>
                        </a:spcBef>
                        <a:spcAft>
                          <a:spcPts val="0"/>
                        </a:spcAft>
                        <a:buNone/>
                      </a:pPr>
                      <a:r>
                        <a:rPr lang="en-US" sz="1400" u="none" strike="noStrike" cap="none"/>
                        <a:t>Emma</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E147</a:t>
                      </a: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4"/>
                  </a:ext>
                </a:extLst>
              </a:tr>
            </a:tbl>
          </a:graphicData>
        </a:graphic>
      </p:graphicFrame>
      <p:graphicFrame>
        <p:nvGraphicFramePr>
          <p:cNvPr id="927" name="Google Shape;927;p60"/>
          <p:cNvGraphicFramePr/>
          <p:nvPr/>
        </p:nvGraphicFramePr>
        <p:xfrm>
          <a:off x="6800848" y="3952458"/>
          <a:ext cx="2705100" cy="2296000"/>
        </p:xfrm>
        <a:graphic>
          <a:graphicData uri="http://schemas.openxmlformats.org/drawingml/2006/table">
            <a:tbl>
              <a:tblPr>
                <a:noFill/>
                <a:tableStyleId>{04F26A73-2107-4AED-AF40-E1B5DE402DE7}</a:tableStyleId>
              </a:tblPr>
              <a:tblGrid>
                <a:gridCol w="1352550">
                  <a:extLst>
                    <a:ext uri="{9D8B030D-6E8A-4147-A177-3AD203B41FA5}">
                      <a16:colId xmlns:a16="http://schemas.microsoft.com/office/drawing/2014/main" val="20000"/>
                    </a:ext>
                  </a:extLst>
                </a:gridCol>
                <a:gridCol w="1352550">
                  <a:extLst>
                    <a:ext uri="{9D8B030D-6E8A-4147-A177-3AD203B41FA5}">
                      <a16:colId xmlns:a16="http://schemas.microsoft.com/office/drawing/2014/main" val="20001"/>
                    </a:ext>
                  </a:extLst>
                </a:gridCol>
              </a:tblGrid>
              <a:tr h="459200">
                <a:tc>
                  <a:txBody>
                    <a:bodyPr/>
                    <a:lstStyle/>
                    <a:p>
                      <a:pPr marL="0" marR="0" lvl="0" indent="0" algn="l" rtl="0">
                        <a:spcBef>
                          <a:spcPts val="0"/>
                        </a:spcBef>
                        <a:spcAft>
                          <a:spcPts val="0"/>
                        </a:spcAft>
                        <a:buNone/>
                      </a:pPr>
                      <a:r>
                        <a:rPr lang="en-US" sz="1400" u="none" strike="noStrike" cap="none"/>
                        <a:t>EmpSkills</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EmpJob</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0"/>
                  </a:ext>
                </a:extLst>
              </a:tr>
              <a:tr h="459200">
                <a:tc>
                  <a:txBody>
                    <a:bodyPr/>
                    <a:lstStyle/>
                    <a:p>
                      <a:pPr marL="0" marR="0" lvl="0" indent="0" algn="l" rtl="0">
                        <a:spcBef>
                          <a:spcPts val="0"/>
                        </a:spcBef>
                        <a:spcAft>
                          <a:spcPts val="0"/>
                        </a:spcAft>
                        <a:buNone/>
                      </a:pPr>
                      <a:r>
                        <a:rPr lang="en-US" sz="1400" u="none" strike="noStrike" cap="none"/>
                        <a:t>Java</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E145</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1"/>
                  </a:ext>
                </a:extLst>
              </a:tr>
              <a:tr h="459200">
                <a:tc>
                  <a:txBody>
                    <a:bodyPr/>
                    <a:lstStyle/>
                    <a:p>
                      <a:pPr marL="0" marR="0" lvl="0" indent="0" algn="l" rtl="0">
                        <a:spcBef>
                          <a:spcPts val="0"/>
                        </a:spcBef>
                        <a:spcAft>
                          <a:spcPts val="0"/>
                        </a:spcAft>
                        <a:buNone/>
                      </a:pPr>
                      <a:r>
                        <a:rPr lang="en-US" sz="1400" u="none" strike="noStrike" cap="none"/>
                        <a:t>JavaScript</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E146</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2"/>
                  </a:ext>
                </a:extLst>
              </a:tr>
              <a:tr h="459200">
                <a:tc>
                  <a:txBody>
                    <a:bodyPr/>
                    <a:lstStyle/>
                    <a:p>
                      <a:pPr marL="0" marR="0" lvl="0" indent="0" algn="l" rtl="0">
                        <a:spcBef>
                          <a:spcPts val="0"/>
                        </a:spcBef>
                        <a:spcAft>
                          <a:spcPts val="0"/>
                        </a:spcAft>
                        <a:buNone/>
                      </a:pPr>
                      <a:r>
                        <a:rPr lang="en-US" sz="1400" u="none" strike="noStrike" cap="none"/>
                        <a:t>jQuery</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E146</a:t>
                      </a:r>
                      <a:br>
                        <a:rPr lang="en-US" sz="1400" u="none" strike="noStrike" cap="none"/>
                      </a:b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3"/>
                  </a:ext>
                </a:extLst>
              </a:tr>
              <a:tr h="459200">
                <a:tc>
                  <a:txBody>
                    <a:bodyPr/>
                    <a:lstStyle/>
                    <a:p>
                      <a:pPr marL="0" marR="0" lvl="0" indent="0" algn="l" rtl="0">
                        <a:spcBef>
                          <a:spcPts val="0"/>
                        </a:spcBef>
                        <a:spcAft>
                          <a:spcPts val="0"/>
                        </a:spcAft>
                        <a:buNone/>
                      </a:pPr>
                      <a:r>
                        <a:rPr lang="en-US" sz="1400" u="none" strike="noStrike" cap="none"/>
                        <a:t>Java</a:t>
                      </a:r>
                      <a:br>
                        <a:rPr lang="en-US" sz="1400" u="none" strike="noStrike" cap="none"/>
                      </a:br>
                      <a:endParaRPr sz="1400" b="0" i="0" u="none" strike="noStrike" cap="none">
                        <a:latin typeface="Arial"/>
                        <a:ea typeface="Arial"/>
                        <a:cs typeface="Arial"/>
                        <a:sym typeface="Arial"/>
                      </a:endParaRPr>
                    </a:p>
                  </a:txBody>
                  <a:tcPr marL="0" marR="0" marT="0" marB="0"/>
                </a:tc>
                <a:tc>
                  <a:txBody>
                    <a:bodyPr/>
                    <a:lstStyle/>
                    <a:p>
                      <a:pPr marL="0" marR="0" lvl="0" indent="0" algn="l" rtl="0">
                        <a:spcBef>
                          <a:spcPts val="0"/>
                        </a:spcBef>
                        <a:spcAft>
                          <a:spcPts val="0"/>
                        </a:spcAft>
                        <a:buNone/>
                      </a:pPr>
                      <a:r>
                        <a:rPr lang="en-US" sz="1400" u="none" strike="noStrike" cap="none"/>
                        <a:t>E147</a:t>
                      </a:r>
                      <a:endParaRPr sz="1400" b="0" i="0" u="none" strike="noStrike" cap="none">
                        <a:latin typeface="Arial"/>
                        <a:ea typeface="Arial"/>
                        <a:cs typeface="Arial"/>
                        <a:sym typeface="Arial"/>
                      </a:endParaRPr>
                    </a:p>
                  </a:txBody>
                  <a:tcPr marL="0" marR="0" marT="0" marB="0"/>
                </a:tc>
                <a:extLst>
                  <a:ext uri="{0D108BD9-81ED-4DB2-BD59-A6C34878D82A}">
                    <a16:rowId xmlns:a16="http://schemas.microsoft.com/office/drawing/2014/main" val="10004"/>
                  </a:ext>
                </a:extLst>
              </a:tr>
            </a:tbl>
          </a:graphicData>
        </a:graphic>
      </p:graphicFrame>
      <p:sp>
        <p:nvSpPr>
          <p:cNvPr id="928" name="Google Shape;928;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29" name="Google Shape;929;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61"/>
          <p:cNvSpPr txBox="1"/>
          <p:nvPr/>
        </p:nvSpPr>
        <p:spPr>
          <a:xfrm>
            <a:off x="1991544" y="548681"/>
            <a:ext cx="8352928" cy="83099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Clr>
                <a:srgbClr val="C00000"/>
              </a:buClr>
              <a:buSzPts val="3281"/>
              <a:buFont typeface="Arimo"/>
              <a:buNone/>
            </a:pPr>
            <a:r>
              <a:rPr lang="en-US" sz="3281" b="1">
                <a:solidFill>
                  <a:srgbClr val="C00000"/>
                </a:solidFill>
                <a:latin typeface="Arimo"/>
                <a:ea typeface="Arimo"/>
                <a:cs typeface="Arimo"/>
                <a:sym typeface="Arimo"/>
              </a:rPr>
              <a:t>5th Normal Form</a:t>
            </a:r>
            <a:endParaRPr/>
          </a:p>
        </p:txBody>
      </p:sp>
      <p:sp>
        <p:nvSpPr>
          <p:cNvPr id="935" name="Google Shape;935;p61"/>
          <p:cNvSpPr/>
          <p:nvPr/>
        </p:nvSpPr>
        <p:spPr>
          <a:xfrm>
            <a:off x="1703512" y="1502688"/>
            <a:ext cx="8640960" cy="452431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Arial"/>
                <a:ea typeface="Arial"/>
                <a:cs typeface="Arial"/>
                <a:sym typeface="Arial"/>
              </a:rPr>
              <a:t>In 5th NF:</a:t>
            </a:r>
            <a:endParaRPr/>
          </a:p>
          <a:p>
            <a:pPr marL="0" marR="0" lvl="0" indent="0" algn="just" rtl="0">
              <a:spcBef>
                <a:spcPts val="0"/>
              </a:spcBef>
              <a:spcAft>
                <a:spcPts val="0"/>
              </a:spcAft>
              <a:buNone/>
            </a:pPr>
            <a:endParaRPr sz="1800">
              <a:solidFill>
                <a:schemeClr val="dk1"/>
              </a:solidFill>
              <a:latin typeface="Arial"/>
              <a:ea typeface="Arial"/>
              <a:cs typeface="Arial"/>
              <a:sym typeface="Arial"/>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A relation that has a join dependency cannot be decomposed by a projection into other relations without spurious results</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A relation is in 5NF when its information content cannot be reconstructed from several smaller relations i.e. from relations having fewer attributes than the original relation</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Definition: A table is in fifth normal form (5NF) or Project-Join Normal Form (PJNF) if it is in 4NF and it cannot have a lossless decomposition into any number of smaller tables.</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 </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Fifth normal form, also known as join-projection normal form (JPNF), states that no non-trivial join dependencies exist. 5NF states that any fact should be able to be reconstructed without any anomalous results in any case, regardless of the number of tables being joined. A 5NF table should have only candidate keys and it's primary key should consist of only a single column.</a:t>
            </a:r>
            <a:endParaRPr/>
          </a:p>
        </p:txBody>
      </p:sp>
      <p:sp>
        <p:nvSpPr>
          <p:cNvPr id="936" name="Google Shape;936;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37" name="Google Shape;937;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62"/>
          <p:cNvSpPr/>
          <p:nvPr/>
        </p:nvSpPr>
        <p:spPr>
          <a:xfrm>
            <a:off x="1919536" y="548680"/>
            <a:ext cx="7920880" cy="258532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a:solidFill>
                  <a:schemeClr val="dk1"/>
                </a:solidFill>
                <a:latin typeface="Arial"/>
                <a:ea typeface="Arial"/>
                <a:cs typeface="Arial"/>
                <a:sym typeface="Arial"/>
              </a:rPr>
              <a:t>A relation R is in 5NF if and only if every join dependency in R is implied by the candidate keys of R. A relation decomposed into two relations must have loss-less join Property, which ensures that no spurious or extra tuples are generated, when relations are reunited through a natural join.</a:t>
            </a:r>
            <a:endParaRPr/>
          </a:p>
          <a:p>
            <a:pPr marL="0" marR="0" lvl="0" indent="0" algn="just" rtl="0">
              <a:spcBef>
                <a:spcPts val="0"/>
              </a:spcBef>
              <a:spcAft>
                <a:spcPts val="0"/>
              </a:spcAft>
              <a:buNone/>
            </a:pPr>
            <a:endParaRPr sz="1800" b="1">
              <a:solidFill>
                <a:schemeClr val="dk1"/>
              </a:solidFill>
              <a:latin typeface="Arial"/>
              <a:ea typeface="Arial"/>
              <a:cs typeface="Arial"/>
              <a:sym typeface="Arial"/>
            </a:endParaRPr>
          </a:p>
          <a:p>
            <a:pPr marL="0" marR="0" lvl="0" indent="0" algn="just" rtl="0">
              <a:spcBef>
                <a:spcPts val="0"/>
              </a:spcBef>
              <a:spcAft>
                <a:spcPts val="0"/>
              </a:spcAft>
              <a:buNone/>
            </a:pPr>
            <a:r>
              <a:rPr lang="en-US" sz="1800" b="1">
                <a:solidFill>
                  <a:schemeClr val="dk1"/>
                </a:solidFill>
                <a:latin typeface="Arial"/>
                <a:ea typeface="Arial"/>
                <a:cs typeface="Arial"/>
                <a:sym typeface="Arial"/>
              </a:rPr>
              <a:t>Properties –</a:t>
            </a:r>
            <a:r>
              <a:rPr lang="en-US" sz="1800">
                <a:solidFill>
                  <a:schemeClr val="dk1"/>
                </a:solidFill>
                <a:latin typeface="Arial"/>
                <a:ea typeface="Arial"/>
                <a:cs typeface="Arial"/>
                <a:sym typeface="Arial"/>
              </a:rPr>
              <a:t> A relation R is in 5NF if and only if it satisfies following conditions:</a:t>
            </a:r>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R should be already in 4NF.</a:t>
            </a:r>
            <a:endParaRPr/>
          </a:p>
          <a:p>
            <a:pPr marL="285750" marR="0" lvl="0" indent="-285750" algn="just" rtl="0">
              <a:spcBef>
                <a:spcPts val="0"/>
              </a:spcBef>
              <a:spcAft>
                <a:spcPts val="0"/>
              </a:spcAft>
              <a:buClr>
                <a:schemeClr val="dk1"/>
              </a:buClr>
              <a:buSzPts val="1800"/>
              <a:buFont typeface="Noto Sans Symbols"/>
              <a:buChar char="❖"/>
            </a:pPr>
            <a:r>
              <a:rPr lang="en-US" sz="1800">
                <a:solidFill>
                  <a:schemeClr val="dk1"/>
                </a:solidFill>
                <a:latin typeface="Arial"/>
                <a:ea typeface="Arial"/>
                <a:cs typeface="Arial"/>
                <a:sym typeface="Arial"/>
              </a:rPr>
              <a:t>It cannot be further non loss decomposed (join dependency)</a:t>
            </a:r>
            <a:endParaRPr/>
          </a:p>
        </p:txBody>
      </p:sp>
      <p:sp>
        <p:nvSpPr>
          <p:cNvPr id="943" name="Google Shape;943;p62"/>
          <p:cNvSpPr/>
          <p:nvPr/>
        </p:nvSpPr>
        <p:spPr>
          <a:xfrm>
            <a:off x="2027548" y="3140969"/>
            <a:ext cx="2988332" cy="286232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b="1">
                <a:solidFill>
                  <a:schemeClr val="dk1"/>
                </a:solidFill>
                <a:latin typeface="Arial"/>
                <a:ea typeface="Arial"/>
                <a:cs typeface="Arial"/>
                <a:sym typeface="Arial"/>
              </a:rPr>
              <a:t>Example –</a:t>
            </a:r>
            <a:r>
              <a:rPr lang="en-US" sz="1800">
                <a:solidFill>
                  <a:schemeClr val="dk1"/>
                </a:solidFill>
                <a:latin typeface="Arial"/>
                <a:ea typeface="Arial"/>
                <a:cs typeface="Arial"/>
                <a:sym typeface="Arial"/>
              </a:rPr>
              <a:t> Consider the schema, with a case as “if a company makes a product and an agent is an agent for that company, then he always sells that product for the company”. Under these circumstances, the ACP table is shown as: </a:t>
            </a:r>
            <a:endParaRPr/>
          </a:p>
        </p:txBody>
      </p:sp>
      <p:graphicFrame>
        <p:nvGraphicFramePr>
          <p:cNvPr id="944" name="Google Shape;944;p62"/>
          <p:cNvGraphicFramePr/>
          <p:nvPr/>
        </p:nvGraphicFramePr>
        <p:xfrm>
          <a:off x="5663952" y="3109245"/>
          <a:ext cx="4012725" cy="2465070"/>
        </p:xfrm>
        <a:graphic>
          <a:graphicData uri="http://schemas.openxmlformats.org/drawingml/2006/table">
            <a:tbl>
              <a:tblPr>
                <a:noFill/>
                <a:tableStyleId>{04F26A73-2107-4AED-AF40-E1B5DE402DE7}</a:tableStyleId>
              </a:tblPr>
              <a:tblGrid>
                <a:gridCol w="1337575">
                  <a:extLst>
                    <a:ext uri="{9D8B030D-6E8A-4147-A177-3AD203B41FA5}">
                      <a16:colId xmlns:a16="http://schemas.microsoft.com/office/drawing/2014/main" val="20000"/>
                    </a:ext>
                  </a:extLst>
                </a:gridCol>
                <a:gridCol w="1337575">
                  <a:extLst>
                    <a:ext uri="{9D8B030D-6E8A-4147-A177-3AD203B41FA5}">
                      <a16:colId xmlns:a16="http://schemas.microsoft.com/office/drawing/2014/main" val="20001"/>
                    </a:ext>
                  </a:extLst>
                </a:gridCol>
                <a:gridCol w="1337575">
                  <a:extLst>
                    <a:ext uri="{9D8B030D-6E8A-4147-A177-3AD203B41FA5}">
                      <a16:colId xmlns:a16="http://schemas.microsoft.com/office/drawing/2014/main" val="20002"/>
                    </a:ext>
                  </a:extLst>
                </a:gridCol>
              </a:tblGrid>
              <a:tr h="228600">
                <a:tc>
                  <a:txBody>
                    <a:bodyPr/>
                    <a:lstStyle/>
                    <a:p>
                      <a:pPr marL="0" marR="0" lvl="0" indent="0" algn="ctr" rtl="0">
                        <a:spcBef>
                          <a:spcPts val="0"/>
                        </a:spcBef>
                        <a:spcAft>
                          <a:spcPts val="0"/>
                        </a:spcAft>
                        <a:buNone/>
                      </a:pPr>
                      <a:r>
                        <a:rPr lang="en-US" sz="1800" u="none" strike="noStrike" cap="none"/>
                        <a:t>AGENT</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t>COMPANY</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t>PRODUCT</a:t>
                      </a:r>
                      <a:endParaRPr sz="1800" b="1" u="none" strike="noStrike" cap="none">
                        <a:solidFill>
                          <a:srgbClr val="000000"/>
                        </a:solidFill>
                        <a:latin typeface="Times New Roman"/>
                        <a:ea typeface="Times New Roman"/>
                        <a:cs typeface="Times New Roman"/>
                        <a:sym typeface="Times New Roman"/>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PQR</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Nut</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PQR</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Bolt</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XYZ</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Nut</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3"/>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XYZ</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Bolt</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4"/>
                  </a:ext>
                </a:extLst>
              </a:tr>
              <a:tr h="228600">
                <a:tc>
                  <a:txBody>
                    <a:bodyPr/>
                    <a:lstStyle/>
                    <a:p>
                      <a:pPr marL="0" marR="0" lvl="0" indent="0" algn="ctr" rtl="0">
                        <a:spcBef>
                          <a:spcPts val="0"/>
                        </a:spcBef>
                        <a:spcAft>
                          <a:spcPts val="0"/>
                        </a:spcAft>
                        <a:buNone/>
                      </a:pPr>
                      <a:r>
                        <a:rPr lang="en-US" sz="1800" u="none" strike="noStrike" cap="none"/>
                        <a:t>A2</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PQR</a:t>
                      </a:r>
                      <a:endParaRPr sz="18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800" u="none" strike="noStrike" cap="none"/>
                        <a:t>Nut</a:t>
                      </a:r>
                      <a:endParaRPr sz="18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5"/>
                  </a:ext>
                </a:extLst>
              </a:tr>
            </a:tbl>
          </a:graphicData>
        </a:graphic>
      </p:graphicFrame>
      <p:sp>
        <p:nvSpPr>
          <p:cNvPr id="945" name="Google Shape;945;p62"/>
          <p:cNvSpPr/>
          <p:nvPr/>
        </p:nvSpPr>
        <p:spPr>
          <a:xfrm>
            <a:off x="6826566" y="5661248"/>
            <a:ext cx="128445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Table –</a:t>
            </a:r>
            <a:r>
              <a:rPr lang="en-US" sz="1800">
                <a:solidFill>
                  <a:schemeClr val="dk1"/>
                </a:solidFill>
                <a:latin typeface="Calibri"/>
                <a:ea typeface="Calibri"/>
                <a:cs typeface="Calibri"/>
                <a:sym typeface="Calibri"/>
              </a:rPr>
              <a:t> ACP</a:t>
            </a:r>
            <a:endParaRPr/>
          </a:p>
        </p:txBody>
      </p:sp>
      <p:sp>
        <p:nvSpPr>
          <p:cNvPr id="946" name="Google Shape;946;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47" name="Google Shape;947;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p63"/>
          <p:cNvSpPr/>
          <p:nvPr/>
        </p:nvSpPr>
        <p:spPr>
          <a:xfrm>
            <a:off x="1847528" y="548681"/>
            <a:ext cx="842493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The relation ACP is again decompose into 3 relations. Now, the natural Join of all the three relations will be shown as:</a:t>
            </a:r>
            <a:endParaRPr/>
          </a:p>
        </p:txBody>
      </p:sp>
      <p:graphicFrame>
        <p:nvGraphicFramePr>
          <p:cNvPr id="953" name="Google Shape;953;p63"/>
          <p:cNvGraphicFramePr/>
          <p:nvPr/>
        </p:nvGraphicFramePr>
        <p:xfrm>
          <a:off x="2063552" y="1700808"/>
          <a:ext cx="2520275" cy="1649730"/>
        </p:xfrm>
        <a:graphic>
          <a:graphicData uri="http://schemas.openxmlformats.org/drawingml/2006/table">
            <a:tbl>
              <a:tblPr>
                <a:noFill/>
                <a:tableStyleId>{04F26A73-2107-4AED-AF40-E1B5DE402DE7}</a:tableStyleId>
              </a:tblPr>
              <a:tblGrid>
                <a:gridCol w="1080125">
                  <a:extLst>
                    <a:ext uri="{9D8B030D-6E8A-4147-A177-3AD203B41FA5}">
                      <a16:colId xmlns:a16="http://schemas.microsoft.com/office/drawing/2014/main" val="20000"/>
                    </a:ext>
                  </a:extLst>
                </a:gridCol>
                <a:gridCol w="1440150">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None/>
                      </a:pPr>
                      <a:r>
                        <a:rPr lang="en-US" sz="1800" u="none" strike="noStrike" cap="none"/>
                        <a:t>AGENT</a:t>
                      </a:r>
                      <a:endParaRPr sz="1800" b="1" u="none" strike="noStrike" cap="none">
                        <a:solidFill>
                          <a:srgbClr val="000000"/>
                        </a:solidFill>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t>COMPANY</a:t>
                      </a:r>
                      <a:endParaRPr sz="1800" b="1" u="none" strike="noStrike" cap="none">
                        <a:solidFill>
                          <a:srgbClr val="000000"/>
                        </a:solidFill>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PQR</a:t>
                      </a:r>
                      <a:endParaRPr sz="1800" b="0" u="none" strike="noStrike" cap="none"/>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XYZ</a:t>
                      </a:r>
                      <a:endParaRPr sz="1800" b="0" u="none" strike="noStrike" cap="none"/>
                    </a:p>
                  </a:txBody>
                  <a:tcPr marL="133350" marR="133350" marT="66675" marB="66675" anchor="ct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None/>
                      </a:pPr>
                      <a:r>
                        <a:rPr lang="en-US" sz="1800" u="none" strike="noStrike" cap="none"/>
                        <a:t>A2</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PQR</a:t>
                      </a:r>
                      <a:endParaRPr sz="1800" b="0" u="none" strike="noStrike" cap="none"/>
                    </a:p>
                  </a:txBody>
                  <a:tcPr marL="133350" marR="133350" marT="66675" marB="66675" anchor="ctr"/>
                </a:tc>
                <a:extLst>
                  <a:ext uri="{0D108BD9-81ED-4DB2-BD59-A6C34878D82A}">
                    <a16:rowId xmlns:a16="http://schemas.microsoft.com/office/drawing/2014/main" val="10003"/>
                  </a:ext>
                </a:extLst>
              </a:tr>
            </a:tbl>
          </a:graphicData>
        </a:graphic>
      </p:graphicFrame>
      <p:graphicFrame>
        <p:nvGraphicFramePr>
          <p:cNvPr id="954" name="Google Shape;954;p63"/>
          <p:cNvGraphicFramePr/>
          <p:nvPr/>
        </p:nvGraphicFramePr>
        <p:xfrm>
          <a:off x="5159896" y="1772816"/>
          <a:ext cx="2448250" cy="1649730"/>
        </p:xfrm>
        <a:graphic>
          <a:graphicData uri="http://schemas.openxmlformats.org/drawingml/2006/table">
            <a:tbl>
              <a:tblPr>
                <a:noFill/>
                <a:tableStyleId>{04F26A73-2107-4AED-AF40-E1B5DE402DE7}</a:tableStyleId>
              </a:tblPr>
              <a:tblGrid>
                <a:gridCol w="1008100">
                  <a:extLst>
                    <a:ext uri="{9D8B030D-6E8A-4147-A177-3AD203B41FA5}">
                      <a16:colId xmlns:a16="http://schemas.microsoft.com/office/drawing/2014/main" val="20000"/>
                    </a:ext>
                  </a:extLst>
                </a:gridCol>
                <a:gridCol w="1440150">
                  <a:extLst>
                    <a:ext uri="{9D8B030D-6E8A-4147-A177-3AD203B41FA5}">
                      <a16:colId xmlns:a16="http://schemas.microsoft.com/office/drawing/2014/main" val="20001"/>
                    </a:ext>
                  </a:extLst>
                </a:gridCol>
              </a:tblGrid>
              <a:tr h="228600">
                <a:tc>
                  <a:txBody>
                    <a:bodyPr/>
                    <a:lstStyle/>
                    <a:p>
                      <a:pPr marL="0" marR="0" lvl="0" indent="0" algn="ctr" rtl="0">
                        <a:spcBef>
                          <a:spcPts val="0"/>
                        </a:spcBef>
                        <a:spcAft>
                          <a:spcPts val="0"/>
                        </a:spcAft>
                        <a:buNone/>
                      </a:pPr>
                      <a:r>
                        <a:rPr lang="en-US" sz="1800" u="none" strike="noStrike" cap="none"/>
                        <a:t>AGENT</a:t>
                      </a:r>
                      <a:endParaRPr sz="1800" b="1" u="none" strike="noStrike" cap="none">
                        <a:solidFill>
                          <a:srgbClr val="000000"/>
                        </a:solidFill>
                      </a:endParaRPr>
                    </a:p>
                  </a:txBody>
                  <a:tcPr marL="76200" marR="76200" marT="76200" marB="76200" anchor="ctr"/>
                </a:tc>
                <a:tc>
                  <a:txBody>
                    <a:bodyPr/>
                    <a:lstStyle/>
                    <a:p>
                      <a:pPr marL="0" marR="0" lvl="0" indent="0" algn="ctr" rtl="0">
                        <a:spcBef>
                          <a:spcPts val="0"/>
                        </a:spcBef>
                        <a:spcAft>
                          <a:spcPts val="0"/>
                        </a:spcAft>
                        <a:buNone/>
                      </a:pPr>
                      <a:r>
                        <a:rPr lang="en-US" sz="1800" u="none" strike="noStrike" cap="none"/>
                        <a:t>PRODUCT</a:t>
                      </a:r>
                      <a:endParaRPr sz="1800" b="1" u="none" strike="noStrike" cap="none">
                        <a:solidFill>
                          <a:srgbClr val="000000"/>
                        </a:solidFill>
                      </a:endParaRPr>
                    </a:p>
                  </a:txBody>
                  <a:tcPr marL="76200" marR="76200" marT="76200" marB="76200" anchor="ctr"/>
                </a:tc>
                <a:extLst>
                  <a:ext uri="{0D108BD9-81ED-4DB2-BD59-A6C34878D82A}">
                    <a16:rowId xmlns:a16="http://schemas.microsoft.com/office/drawing/2014/main" val="10000"/>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Nut</a:t>
                      </a:r>
                      <a:endParaRPr sz="1800" b="0" u="none" strike="noStrike" cap="none"/>
                    </a:p>
                  </a:txBody>
                  <a:tcPr marL="133350" marR="133350" marT="66675" marB="66675" anchor="ctr"/>
                </a:tc>
                <a:extLst>
                  <a:ext uri="{0D108BD9-81ED-4DB2-BD59-A6C34878D82A}">
                    <a16:rowId xmlns:a16="http://schemas.microsoft.com/office/drawing/2014/main" val="10001"/>
                  </a:ext>
                </a:extLst>
              </a:tr>
              <a:tr h="228600">
                <a:tc>
                  <a:txBody>
                    <a:bodyPr/>
                    <a:lstStyle/>
                    <a:p>
                      <a:pPr marL="0" marR="0" lvl="0" indent="0" algn="ctr" rtl="0">
                        <a:spcBef>
                          <a:spcPts val="0"/>
                        </a:spcBef>
                        <a:spcAft>
                          <a:spcPts val="0"/>
                        </a:spcAft>
                        <a:buNone/>
                      </a:pPr>
                      <a:r>
                        <a:rPr lang="en-US" sz="1800" u="none" strike="noStrike" cap="none"/>
                        <a:t>A1</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Bolt</a:t>
                      </a:r>
                      <a:endParaRPr sz="1800" b="0" u="none" strike="noStrike" cap="none"/>
                    </a:p>
                  </a:txBody>
                  <a:tcPr marL="133350" marR="133350" marT="66675" marB="66675" anchor="ctr"/>
                </a:tc>
                <a:extLst>
                  <a:ext uri="{0D108BD9-81ED-4DB2-BD59-A6C34878D82A}">
                    <a16:rowId xmlns:a16="http://schemas.microsoft.com/office/drawing/2014/main" val="10002"/>
                  </a:ext>
                </a:extLst>
              </a:tr>
              <a:tr h="228600">
                <a:tc>
                  <a:txBody>
                    <a:bodyPr/>
                    <a:lstStyle/>
                    <a:p>
                      <a:pPr marL="0" marR="0" lvl="0" indent="0" algn="ctr" rtl="0">
                        <a:spcBef>
                          <a:spcPts val="0"/>
                        </a:spcBef>
                        <a:spcAft>
                          <a:spcPts val="0"/>
                        </a:spcAft>
                        <a:buNone/>
                      </a:pPr>
                      <a:r>
                        <a:rPr lang="en-US" sz="1800" u="none" strike="noStrike" cap="none"/>
                        <a:t>A2</a:t>
                      </a:r>
                      <a:endParaRPr sz="1800" b="0" u="none" strike="noStrike" cap="none"/>
                    </a:p>
                  </a:txBody>
                  <a:tcPr marL="133350" marR="133350" marT="66675" marB="66675" anchor="ctr"/>
                </a:tc>
                <a:tc>
                  <a:txBody>
                    <a:bodyPr/>
                    <a:lstStyle/>
                    <a:p>
                      <a:pPr marL="0" marR="0" lvl="0" indent="0" algn="ctr" rtl="0">
                        <a:spcBef>
                          <a:spcPts val="0"/>
                        </a:spcBef>
                        <a:spcAft>
                          <a:spcPts val="0"/>
                        </a:spcAft>
                        <a:buNone/>
                      </a:pPr>
                      <a:r>
                        <a:rPr lang="en-US" sz="1800" u="none" strike="noStrike" cap="none"/>
                        <a:t>Nut</a:t>
                      </a:r>
                      <a:endParaRPr sz="1800" b="0" u="none" strike="noStrike" cap="none"/>
                    </a:p>
                  </a:txBody>
                  <a:tcPr marL="133350" marR="133350" marT="66675" marB="66675" anchor="ctr"/>
                </a:tc>
                <a:extLst>
                  <a:ext uri="{0D108BD9-81ED-4DB2-BD59-A6C34878D82A}">
                    <a16:rowId xmlns:a16="http://schemas.microsoft.com/office/drawing/2014/main" val="10003"/>
                  </a:ext>
                </a:extLst>
              </a:tr>
            </a:tbl>
          </a:graphicData>
        </a:graphic>
      </p:graphicFrame>
      <p:sp>
        <p:nvSpPr>
          <p:cNvPr id="955" name="Google Shape;955;p63"/>
          <p:cNvSpPr/>
          <p:nvPr/>
        </p:nvSpPr>
        <p:spPr>
          <a:xfrm>
            <a:off x="5591945" y="1214756"/>
            <a:ext cx="13217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Table –</a:t>
            </a:r>
            <a:r>
              <a:rPr lang="en-US" sz="1800">
                <a:solidFill>
                  <a:schemeClr val="dk1"/>
                </a:solidFill>
                <a:latin typeface="Arial"/>
                <a:ea typeface="Arial"/>
                <a:cs typeface="Arial"/>
                <a:sym typeface="Arial"/>
              </a:rPr>
              <a:t> R2</a:t>
            </a:r>
            <a:endParaRPr/>
          </a:p>
        </p:txBody>
      </p:sp>
      <p:sp>
        <p:nvSpPr>
          <p:cNvPr id="956" name="Google Shape;956;p63"/>
          <p:cNvSpPr/>
          <p:nvPr/>
        </p:nvSpPr>
        <p:spPr>
          <a:xfrm>
            <a:off x="2423593" y="1211236"/>
            <a:ext cx="13217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Table –</a:t>
            </a:r>
            <a:r>
              <a:rPr lang="en-US" sz="1800">
                <a:solidFill>
                  <a:schemeClr val="dk1"/>
                </a:solidFill>
                <a:latin typeface="Arial"/>
                <a:ea typeface="Arial"/>
                <a:cs typeface="Arial"/>
                <a:sym typeface="Arial"/>
              </a:rPr>
              <a:t> R1</a:t>
            </a:r>
            <a:endParaRPr/>
          </a:p>
        </p:txBody>
      </p:sp>
      <p:sp>
        <p:nvSpPr>
          <p:cNvPr id="957" name="Google Shape;957;p63"/>
          <p:cNvSpPr/>
          <p:nvPr/>
        </p:nvSpPr>
        <p:spPr>
          <a:xfrm>
            <a:off x="8328249" y="1195011"/>
            <a:ext cx="13217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Table –</a:t>
            </a:r>
            <a:r>
              <a:rPr lang="en-US" sz="1800">
                <a:solidFill>
                  <a:schemeClr val="dk1"/>
                </a:solidFill>
                <a:latin typeface="Arial"/>
                <a:ea typeface="Arial"/>
                <a:cs typeface="Arial"/>
                <a:sym typeface="Arial"/>
              </a:rPr>
              <a:t> R3</a:t>
            </a:r>
            <a:endParaRPr/>
          </a:p>
        </p:txBody>
      </p:sp>
      <p:graphicFrame>
        <p:nvGraphicFramePr>
          <p:cNvPr id="958" name="Google Shape;958;p63"/>
          <p:cNvGraphicFramePr/>
          <p:nvPr/>
        </p:nvGraphicFramePr>
        <p:xfrm>
          <a:off x="7859688" y="1772816"/>
          <a:ext cx="2628800" cy="1905000"/>
        </p:xfrm>
        <a:graphic>
          <a:graphicData uri="http://schemas.openxmlformats.org/drawingml/2006/table">
            <a:tbl>
              <a:tblPr>
                <a:noFill/>
                <a:tableStyleId>{04F26A73-2107-4AED-AF40-E1B5DE402DE7}</a:tableStyleId>
              </a:tblPr>
              <a:tblGrid>
                <a:gridCol w="1404675">
                  <a:extLst>
                    <a:ext uri="{9D8B030D-6E8A-4147-A177-3AD203B41FA5}">
                      <a16:colId xmlns:a16="http://schemas.microsoft.com/office/drawing/2014/main" val="20000"/>
                    </a:ext>
                  </a:extLst>
                </a:gridCol>
                <a:gridCol w="1224125">
                  <a:extLst>
                    <a:ext uri="{9D8B030D-6E8A-4147-A177-3AD203B41FA5}">
                      <a16:colId xmlns:a16="http://schemas.microsoft.com/office/drawing/2014/main" val="20001"/>
                    </a:ext>
                  </a:extLst>
                </a:gridCol>
              </a:tblGrid>
              <a:tr h="203200">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COMPANY</a:t>
                      </a:r>
                      <a:endParaRPr sz="1600" b="1" u="none" strike="noStrike" cap="none">
                        <a:solidFill>
                          <a:srgbClr val="000000"/>
                        </a:solidFill>
                        <a:latin typeface="Times New Roman"/>
                        <a:ea typeface="Times New Roman"/>
                        <a:cs typeface="Times New Roman"/>
                        <a:sym typeface="Times New Roman"/>
                      </a:endParaRPr>
                    </a:p>
                  </a:txBody>
                  <a:tcPr marL="76200" marR="76200" marT="76200" marB="76200" anchor="ctr"/>
                </a:tc>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PRODUCT</a:t>
                      </a:r>
                      <a:endParaRPr sz="1600" b="1" u="none" strike="noStrike" cap="none">
                        <a:solidFill>
                          <a:srgbClr val="000000"/>
                        </a:solidFill>
                        <a:latin typeface="Times New Roman"/>
                        <a:ea typeface="Times New Roman"/>
                        <a:cs typeface="Times New Roman"/>
                        <a:sym typeface="Times New Roman"/>
                      </a:endParaRPr>
                    </a:p>
                  </a:txBody>
                  <a:tcPr marL="76200" marR="76200" marT="76200" marB="76200" anchor="ctr"/>
                </a:tc>
                <a:extLst>
                  <a:ext uri="{0D108BD9-81ED-4DB2-BD59-A6C34878D82A}">
                    <a16:rowId xmlns:a16="http://schemas.microsoft.com/office/drawing/2014/main" val="10000"/>
                  </a:ext>
                </a:extLst>
              </a:tr>
              <a:tr h="203200">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PQR</a:t>
                      </a:r>
                      <a:endParaRPr sz="16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Nut</a:t>
                      </a:r>
                      <a:endParaRPr sz="16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1"/>
                  </a:ext>
                </a:extLst>
              </a:tr>
              <a:tr h="203200">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PQR</a:t>
                      </a:r>
                      <a:endParaRPr sz="16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Bolt</a:t>
                      </a:r>
                      <a:endParaRPr sz="16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2"/>
                  </a:ext>
                </a:extLst>
              </a:tr>
              <a:tr h="203200">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XYZ</a:t>
                      </a:r>
                      <a:endParaRPr sz="16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Nut</a:t>
                      </a:r>
                      <a:endParaRPr sz="16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3"/>
                  </a:ext>
                </a:extLst>
              </a:tr>
              <a:tr h="203200">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XYZ</a:t>
                      </a:r>
                      <a:endParaRPr sz="1600" b="0" u="none" strike="noStrike" cap="none">
                        <a:latin typeface="Times New Roman"/>
                        <a:ea typeface="Times New Roman"/>
                        <a:cs typeface="Times New Roman"/>
                        <a:sym typeface="Times New Roman"/>
                      </a:endParaRPr>
                    </a:p>
                  </a:txBody>
                  <a:tcPr marL="133350" marR="133350" marT="66675" marB="66675" anchor="ctr"/>
                </a:tc>
                <a:tc>
                  <a:txBody>
                    <a:bodyPr/>
                    <a:lstStyle/>
                    <a:p>
                      <a:pPr marL="0" marR="0" lvl="0" indent="0" algn="ctr" rtl="0">
                        <a:spcBef>
                          <a:spcPts val="0"/>
                        </a:spcBef>
                        <a:spcAft>
                          <a:spcPts val="0"/>
                        </a:spcAft>
                        <a:buNone/>
                      </a:pPr>
                      <a:r>
                        <a:rPr lang="en-US" sz="1600" u="none" strike="noStrike" cap="none">
                          <a:latin typeface="Times New Roman"/>
                          <a:ea typeface="Times New Roman"/>
                          <a:cs typeface="Times New Roman"/>
                          <a:sym typeface="Times New Roman"/>
                        </a:rPr>
                        <a:t>Bolt</a:t>
                      </a:r>
                      <a:endParaRPr sz="1600" b="0" u="none" strike="noStrike" cap="none">
                        <a:latin typeface="Times New Roman"/>
                        <a:ea typeface="Times New Roman"/>
                        <a:cs typeface="Times New Roman"/>
                        <a:sym typeface="Times New Roman"/>
                      </a:endParaRPr>
                    </a:p>
                  </a:txBody>
                  <a:tcPr marL="133350" marR="133350" marT="66675" marB="66675" anchor="ctr"/>
                </a:tc>
                <a:extLst>
                  <a:ext uri="{0D108BD9-81ED-4DB2-BD59-A6C34878D82A}">
                    <a16:rowId xmlns:a16="http://schemas.microsoft.com/office/drawing/2014/main" val="10004"/>
                  </a:ext>
                </a:extLst>
              </a:tr>
            </a:tbl>
          </a:graphicData>
        </a:graphic>
      </p:graphicFrame>
      <p:sp>
        <p:nvSpPr>
          <p:cNvPr id="959" name="Google Shape;959;p63"/>
          <p:cNvSpPr/>
          <p:nvPr/>
        </p:nvSpPr>
        <p:spPr>
          <a:xfrm>
            <a:off x="1968322" y="4149080"/>
            <a:ext cx="8568952"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Result of Natural Join of R1 and R3 over ‘Company’ and then Natural Join of R13 and R2 over ‘</a:t>
            </a:r>
            <a:r>
              <a:rPr lang="en-US" sz="1800" dirty="0" err="1">
                <a:solidFill>
                  <a:schemeClr val="dk1"/>
                </a:solidFill>
                <a:latin typeface="Arial"/>
                <a:ea typeface="Arial"/>
                <a:cs typeface="Arial"/>
                <a:sym typeface="Arial"/>
              </a:rPr>
              <a:t>Agent’and</a:t>
            </a:r>
            <a:r>
              <a:rPr lang="en-US" sz="1800" dirty="0">
                <a:solidFill>
                  <a:schemeClr val="dk1"/>
                </a:solidFill>
                <a:latin typeface="Arial"/>
                <a:ea typeface="Arial"/>
                <a:cs typeface="Arial"/>
                <a:sym typeface="Arial"/>
              </a:rPr>
              <a:t> ‘Product’ will be table </a:t>
            </a:r>
            <a:r>
              <a:rPr lang="en-US" sz="1800" b="1" dirty="0">
                <a:solidFill>
                  <a:schemeClr val="dk1"/>
                </a:solidFill>
                <a:latin typeface="Arial"/>
                <a:ea typeface="Arial"/>
                <a:cs typeface="Arial"/>
                <a:sym typeface="Arial"/>
              </a:rPr>
              <a:t>ACP</a:t>
            </a:r>
            <a:r>
              <a:rPr lang="en-US" sz="1800" dirty="0">
                <a:solidFill>
                  <a:schemeClr val="dk1"/>
                </a:solidFill>
                <a:latin typeface="Arial"/>
                <a:ea typeface="Arial"/>
                <a:cs typeface="Arial"/>
                <a:sym typeface="Arial"/>
              </a:rPr>
              <a:t>.</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Arial"/>
                <a:ea typeface="Arial"/>
                <a:cs typeface="Arial"/>
                <a:sym typeface="Arial"/>
              </a:rPr>
              <a:t>Hence, in this example, all the redundancies are eliminated, and the decomposition of ACP is a lossless join decomposition. Therefore, the relation is in 5NF as it does not violate the property of lossless join.</a:t>
            </a:r>
            <a:endParaRPr dirty="0"/>
          </a:p>
        </p:txBody>
      </p:sp>
      <p:sp>
        <p:nvSpPr>
          <p:cNvPr id="960" name="Google Shape;960;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61" name="Google Shape;961;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grpSp>
        <p:nvGrpSpPr>
          <p:cNvPr id="970" name="Google Shape;970;p64"/>
          <p:cNvGrpSpPr/>
          <p:nvPr/>
        </p:nvGrpSpPr>
        <p:grpSpPr>
          <a:xfrm>
            <a:off x="1524000" y="6356604"/>
            <a:ext cx="9144000" cy="88404"/>
            <a:chOff x="0" y="0"/>
            <a:chExt cx="13004800" cy="125730"/>
          </a:xfrm>
        </p:grpSpPr>
        <p:sp>
          <p:nvSpPr>
            <p:cNvPr id="971" name="Google Shape;971;p6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972" name="Google Shape;972;p6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973" name="Google Shape;973;p64"/>
          <p:cNvSpPr txBox="1"/>
          <p:nvPr/>
        </p:nvSpPr>
        <p:spPr>
          <a:xfrm>
            <a:off x="3405221" y="409001"/>
            <a:ext cx="6391806" cy="500137"/>
          </a:xfrm>
          <a:prstGeom prst="rect">
            <a:avLst/>
          </a:prstGeom>
          <a:noFill/>
          <a:ln>
            <a:noFill/>
          </a:ln>
        </p:spPr>
        <p:txBody>
          <a:bodyPr spcFirstLastPara="1" wrap="square" lIns="0" tIns="0" rIns="0" bIns="0" anchor="t" anchorCtr="0">
            <a:spAutoFit/>
          </a:bodyPr>
          <a:lstStyle/>
          <a:p>
            <a:pPr marL="0" marR="0" lvl="0" indent="0" algn="just" rtl="0">
              <a:lnSpc>
                <a:spcPct val="120024"/>
              </a:lnSpc>
              <a:spcBef>
                <a:spcPts val="0"/>
              </a:spcBef>
              <a:spcAft>
                <a:spcPts val="0"/>
              </a:spcAft>
              <a:buNone/>
            </a:pPr>
            <a:r>
              <a:rPr lang="en-US" sz="3281" b="1">
                <a:solidFill>
                  <a:srgbClr val="C00000"/>
                </a:solidFill>
                <a:latin typeface="Arimo"/>
                <a:ea typeface="Arimo"/>
                <a:cs typeface="Arimo"/>
                <a:sym typeface="Arimo"/>
              </a:rPr>
              <a:t>Denormalization in Databases</a:t>
            </a:r>
            <a:endParaRPr/>
          </a:p>
        </p:txBody>
      </p:sp>
      <p:sp>
        <p:nvSpPr>
          <p:cNvPr id="974" name="Google Shape;974;p64"/>
          <p:cNvSpPr txBox="1"/>
          <p:nvPr/>
        </p:nvSpPr>
        <p:spPr>
          <a:xfrm>
            <a:off x="1744734" y="1044896"/>
            <a:ext cx="8702532" cy="242374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Denormalization</a:t>
            </a:r>
            <a:r>
              <a:rPr lang="en-US" sz="1875" dirty="0">
                <a:solidFill>
                  <a:srgbClr val="000000"/>
                </a:solidFill>
                <a:latin typeface="Arial"/>
                <a:ea typeface="Arial"/>
                <a:cs typeface="Arial"/>
                <a:sym typeface="Arial"/>
              </a:rPr>
              <a:t> is a database optimization technique in which we add redundant data to one or more tables. This can help us avoid costly joins in a relational database. Note that denormalization does not mean ‘reversing normalization’ or ‘not to normalize’. It is an optimization technique that is applied after normalization.</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Basically, The process of taking a normalized schema and making it non-normalized is called denormalization, and designers use it to tune the performance of systems to support time-critical operations.</a:t>
            </a:r>
          </a:p>
        </p:txBody>
      </p:sp>
      <p:sp>
        <p:nvSpPr>
          <p:cNvPr id="975" name="Google Shape;975;p64"/>
          <p:cNvSpPr txBox="1"/>
          <p:nvPr/>
        </p:nvSpPr>
        <p:spPr>
          <a:xfrm>
            <a:off x="1658673" y="3520879"/>
            <a:ext cx="6395357" cy="275973"/>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dirty="0">
                <a:solidFill>
                  <a:srgbClr val="000000"/>
                </a:solidFill>
                <a:latin typeface="Arial"/>
                <a:ea typeface="Arial"/>
                <a:cs typeface="Arial"/>
                <a:sym typeface="Arial"/>
              </a:rPr>
              <a:t>How is Denormalization Different From Normalization ?</a:t>
            </a:r>
            <a:endParaRPr dirty="0"/>
          </a:p>
        </p:txBody>
      </p:sp>
      <p:sp>
        <p:nvSpPr>
          <p:cNvPr id="976" name="Google Shape;976;p64"/>
          <p:cNvSpPr txBox="1"/>
          <p:nvPr/>
        </p:nvSpPr>
        <p:spPr>
          <a:xfrm>
            <a:off x="1744734" y="3991434"/>
            <a:ext cx="8702532" cy="207749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One side normalization is used for reduce or removing the redundancy which means there will be no duplicate data or entries in the same table and also optimizes for data integrity and efficient storage, while Denormalization is used for add the redundancy into normalized table so that enhance the functionality and minimize the running time of database queries (like joins operation ) and optimizes for performance and query simplicity.</a:t>
            </a:r>
            <a:endParaRPr dirty="0"/>
          </a:p>
        </p:txBody>
      </p:sp>
      <p:sp>
        <p:nvSpPr>
          <p:cNvPr id="977" name="Google Shape;977;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78" name="Google Shape;978;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grpSp>
        <p:nvGrpSpPr>
          <p:cNvPr id="987" name="Google Shape;987;p65"/>
          <p:cNvGrpSpPr/>
          <p:nvPr/>
        </p:nvGrpSpPr>
        <p:grpSpPr>
          <a:xfrm>
            <a:off x="1524000" y="6356604"/>
            <a:ext cx="9144000" cy="88404"/>
            <a:chOff x="0" y="0"/>
            <a:chExt cx="13004800" cy="125730"/>
          </a:xfrm>
        </p:grpSpPr>
        <p:sp>
          <p:nvSpPr>
            <p:cNvPr id="988" name="Google Shape;988;p6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989" name="Google Shape;989;p6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990" name="Google Shape;990;p65"/>
          <p:cNvSpPr txBox="1"/>
          <p:nvPr/>
        </p:nvSpPr>
        <p:spPr>
          <a:xfrm>
            <a:off x="1420009" y="1084669"/>
            <a:ext cx="6733391" cy="55399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Advantages of Denormalization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Improved Query Performance: Denormalization can improve query performance by reducing the number of joins required to retrieve data.</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Reduced Complexity: By combining related data into fewer tables, denormalization can simplify the database schema and make it easier to manage.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Easier Maintenance and Updates: Denormalization can make it easier to update and maintain the database by reducing the number of tables.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Improved Read Performance: Denormalization can improve read performance by making it easier to access data.</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Better Scalability: Denormalization can improve the scalability of a database system by reducing the number of tables and improving the overall performance.</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991" name="Google Shape;991;p65"/>
          <p:cNvSpPr txBox="1"/>
          <p:nvPr/>
        </p:nvSpPr>
        <p:spPr>
          <a:xfrm>
            <a:off x="3405221" y="409001"/>
            <a:ext cx="6391806" cy="500137"/>
          </a:xfrm>
          <a:prstGeom prst="rect">
            <a:avLst/>
          </a:prstGeom>
          <a:noFill/>
          <a:ln>
            <a:noFill/>
          </a:ln>
        </p:spPr>
        <p:txBody>
          <a:bodyPr spcFirstLastPara="1" wrap="square" lIns="0" tIns="0" rIns="0" bIns="0" anchor="t" anchorCtr="0">
            <a:spAutoFit/>
          </a:bodyPr>
          <a:lstStyle/>
          <a:p>
            <a:pPr marL="0" marR="0" lvl="0" indent="0" algn="just" rtl="0">
              <a:lnSpc>
                <a:spcPct val="120024"/>
              </a:lnSpc>
              <a:spcBef>
                <a:spcPts val="0"/>
              </a:spcBef>
              <a:spcAft>
                <a:spcPts val="0"/>
              </a:spcAft>
              <a:buNone/>
            </a:pPr>
            <a:r>
              <a:rPr lang="en-US" sz="3281" b="1">
                <a:solidFill>
                  <a:srgbClr val="C00000"/>
                </a:solidFill>
                <a:latin typeface="Arimo"/>
                <a:ea typeface="Arimo"/>
                <a:cs typeface="Arimo"/>
                <a:sym typeface="Arimo"/>
              </a:rPr>
              <a:t>Denormalization in Databases</a:t>
            </a:r>
            <a:endParaRPr/>
          </a:p>
        </p:txBody>
      </p:sp>
      <p:sp>
        <p:nvSpPr>
          <p:cNvPr id="992" name="Google Shape;992;p65"/>
          <p:cNvSpPr/>
          <p:nvPr/>
        </p:nvSpPr>
        <p:spPr>
          <a:xfrm>
            <a:off x="8735209" y="2405189"/>
            <a:ext cx="2174854" cy="2205174"/>
          </a:xfrm>
          <a:custGeom>
            <a:avLst/>
            <a:gdLst/>
            <a:ahLst/>
            <a:cxnLst/>
            <a:rect l="l" t="t" r="r" b="b"/>
            <a:pathLst>
              <a:path w="2319844" h="2352186" extrusionOk="0">
                <a:moveTo>
                  <a:pt x="0" y="0"/>
                </a:moveTo>
                <a:lnTo>
                  <a:pt x="2319844" y="0"/>
                </a:lnTo>
                <a:lnTo>
                  <a:pt x="2319844" y="2352187"/>
                </a:lnTo>
                <a:lnTo>
                  <a:pt x="0" y="2352187"/>
                </a:lnTo>
                <a:lnTo>
                  <a:pt x="0" y="0"/>
                </a:lnTo>
                <a:close/>
              </a:path>
            </a:pathLst>
          </a:custGeom>
          <a:blipFill rotWithShape="1">
            <a:blip r:embed="rId3">
              <a:alphaModFix/>
            </a:blip>
            <a:stretch>
              <a:fillRect/>
            </a:stretch>
          </a:blipFill>
          <a:ln>
            <a:noFill/>
          </a:ln>
        </p:spPr>
      </p:sp>
      <p:sp>
        <p:nvSpPr>
          <p:cNvPr id="993" name="Google Shape;993;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994" name="Google Shape;994;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grpSp>
        <p:nvGrpSpPr>
          <p:cNvPr id="1003" name="Google Shape;1003;p66"/>
          <p:cNvGrpSpPr/>
          <p:nvPr/>
        </p:nvGrpSpPr>
        <p:grpSpPr>
          <a:xfrm>
            <a:off x="1524000" y="6356604"/>
            <a:ext cx="9144000" cy="88404"/>
            <a:chOff x="0" y="0"/>
            <a:chExt cx="13004800" cy="125730"/>
          </a:xfrm>
        </p:grpSpPr>
        <p:sp>
          <p:nvSpPr>
            <p:cNvPr id="1004" name="Google Shape;1004;p6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1005" name="Google Shape;1005;p6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1006" name="Google Shape;1006;p66"/>
          <p:cNvSpPr txBox="1"/>
          <p:nvPr/>
        </p:nvSpPr>
        <p:spPr>
          <a:xfrm>
            <a:off x="1524000" y="1348979"/>
            <a:ext cx="6618701" cy="484748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Disadvantages of Denormalization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Reduced Data Integrity: By adding redundant data, denormalization can reduce data integrity and increase the risk of inconsistencies.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Increased Complexity: While denormalization can simplify the database schema in some cases, it can also increase complexity by introducing redundant data.</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Increased Storage Requirements: By adding redundant data, denormalization can increase storage requirements and increase the cost of maintaining the database.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Increased Update and Maintenance Complexity: Denormalization can increase the complexity of updating and maintaining the database by introducing redundant data</a:t>
            </a:r>
            <a:r>
              <a:rPr lang="en-US" sz="1875" dirty="0"/>
              <a:t>.</a:t>
            </a:r>
            <a:endParaRPr sz="1875" dirty="0">
              <a:solidFill>
                <a:srgbClr val="000000"/>
              </a:solidFill>
              <a:latin typeface="Arial"/>
              <a:ea typeface="Arial"/>
              <a:cs typeface="Arial"/>
              <a:sym typeface="Arial"/>
            </a:endParaRPr>
          </a:p>
        </p:txBody>
      </p:sp>
      <p:sp>
        <p:nvSpPr>
          <p:cNvPr id="1007" name="Google Shape;1007;p66"/>
          <p:cNvSpPr txBox="1"/>
          <p:nvPr/>
        </p:nvSpPr>
        <p:spPr>
          <a:xfrm>
            <a:off x="3405221" y="409001"/>
            <a:ext cx="6391806" cy="500137"/>
          </a:xfrm>
          <a:prstGeom prst="rect">
            <a:avLst/>
          </a:prstGeom>
          <a:noFill/>
          <a:ln>
            <a:noFill/>
          </a:ln>
        </p:spPr>
        <p:txBody>
          <a:bodyPr spcFirstLastPara="1" wrap="square" lIns="0" tIns="0" rIns="0" bIns="0" anchor="t" anchorCtr="0">
            <a:spAutoFit/>
          </a:bodyPr>
          <a:lstStyle/>
          <a:p>
            <a:pPr marL="0" marR="0" lvl="0" indent="0" algn="just" rtl="0">
              <a:lnSpc>
                <a:spcPct val="120024"/>
              </a:lnSpc>
              <a:spcBef>
                <a:spcPts val="0"/>
              </a:spcBef>
              <a:spcAft>
                <a:spcPts val="0"/>
              </a:spcAft>
              <a:buNone/>
            </a:pPr>
            <a:r>
              <a:rPr lang="en-US" sz="3281" b="1">
                <a:solidFill>
                  <a:srgbClr val="C00000"/>
                </a:solidFill>
                <a:latin typeface="Arimo"/>
                <a:ea typeface="Arimo"/>
                <a:cs typeface="Arimo"/>
                <a:sym typeface="Arimo"/>
              </a:rPr>
              <a:t>Denormalization in Databases</a:t>
            </a:r>
            <a:endParaRPr/>
          </a:p>
        </p:txBody>
      </p:sp>
      <p:sp>
        <p:nvSpPr>
          <p:cNvPr id="1008" name="Google Shape;1008;p66"/>
          <p:cNvSpPr/>
          <p:nvPr/>
        </p:nvSpPr>
        <p:spPr>
          <a:xfrm>
            <a:off x="8847679" y="2151917"/>
            <a:ext cx="2386080" cy="2386080"/>
          </a:xfrm>
          <a:custGeom>
            <a:avLst/>
            <a:gdLst/>
            <a:ahLst/>
            <a:cxnLst/>
            <a:rect l="l" t="t" r="r" b="b"/>
            <a:pathLst>
              <a:path w="2545152" h="2545152" extrusionOk="0">
                <a:moveTo>
                  <a:pt x="0" y="0"/>
                </a:moveTo>
                <a:lnTo>
                  <a:pt x="2545153" y="0"/>
                </a:lnTo>
                <a:lnTo>
                  <a:pt x="2545153" y="2545153"/>
                </a:lnTo>
                <a:lnTo>
                  <a:pt x="0" y="2545153"/>
                </a:lnTo>
                <a:lnTo>
                  <a:pt x="0" y="0"/>
                </a:lnTo>
                <a:close/>
              </a:path>
            </a:pathLst>
          </a:custGeom>
          <a:blipFill rotWithShape="1">
            <a:blip r:embed="rId3">
              <a:alphaModFix/>
            </a:blip>
            <a:stretch>
              <a:fillRect/>
            </a:stretch>
          </a:blipFill>
          <a:ln>
            <a:noFill/>
          </a:ln>
        </p:spPr>
      </p:sp>
      <p:sp>
        <p:nvSpPr>
          <p:cNvPr id="1009" name="Google Shape;1009;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12/20/2024</a:t>
            </a:r>
            <a:endParaRPr dirty="0"/>
          </a:p>
        </p:txBody>
      </p:sp>
      <p:sp>
        <p:nvSpPr>
          <p:cNvPr id="1010" name="Google Shape;1010;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Dr. Gitanjali , Asst. Prof., UIE-CSE, Chandigarh University</a:t>
            </a: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grpSp>
        <p:nvGrpSpPr>
          <p:cNvPr id="1019" name="Google Shape;1019;p67"/>
          <p:cNvGrpSpPr/>
          <p:nvPr/>
        </p:nvGrpSpPr>
        <p:grpSpPr>
          <a:xfrm>
            <a:off x="1524000" y="6356604"/>
            <a:ext cx="9144000" cy="88404"/>
            <a:chOff x="0" y="0"/>
            <a:chExt cx="13004800" cy="125730"/>
          </a:xfrm>
        </p:grpSpPr>
        <p:sp>
          <p:nvSpPr>
            <p:cNvPr id="1020" name="Google Shape;1020;p6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1021" name="Google Shape;1021;p6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1022" name="Google Shape;1022;p67"/>
          <p:cNvSpPr txBox="1"/>
          <p:nvPr/>
        </p:nvSpPr>
        <p:spPr>
          <a:xfrm>
            <a:off x="3497975" y="2697131"/>
            <a:ext cx="5472121" cy="10232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49">
                <a:solidFill>
                  <a:srgbClr val="000000"/>
                </a:solidFill>
                <a:latin typeface="Arial"/>
                <a:ea typeface="Arial"/>
                <a:cs typeface="Arial"/>
                <a:sym typeface="Arial"/>
              </a:rPr>
              <a:t>THANK YOU </a:t>
            </a:r>
            <a:endParaRPr/>
          </a:p>
        </p:txBody>
      </p:sp>
      <p:sp>
        <p:nvSpPr>
          <p:cNvPr id="1023" name="Google Shape;1023;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12/20/2024</a:t>
            </a:r>
            <a:endParaRPr/>
          </a:p>
        </p:txBody>
      </p:sp>
      <p:sp>
        <p:nvSpPr>
          <p:cNvPr id="1024" name="Google Shape;1024;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3">
      <a:dk1>
        <a:srgbClr val="000000"/>
      </a:dk1>
      <a:lt1>
        <a:srgbClr val="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7135</Words>
  <Application>Microsoft Office PowerPoint</Application>
  <PresentationFormat>Widescreen</PresentationFormat>
  <Paragraphs>739</Paragraphs>
  <Slides>68</Slides>
  <Notes>68</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68</vt:i4>
      </vt:variant>
    </vt:vector>
  </HeadingPairs>
  <TitlesOfParts>
    <vt:vector size="78" baseType="lpstr">
      <vt:lpstr>Times New Roman</vt:lpstr>
      <vt:lpstr>Noto Sans Symbols</vt:lpstr>
      <vt:lpstr>Arimo</vt:lpstr>
      <vt:lpstr>Wingdings</vt:lpstr>
      <vt:lpstr>Calibri</vt:lpstr>
      <vt:lpstr>Yeseva One</vt:lpstr>
      <vt:lpstr>Arial Rounded</vt:lpstr>
      <vt:lpstr>Arial</vt:lpstr>
      <vt:lpstr>Theme1</vt:lpstr>
      <vt:lpstr>Contents Slide Master</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Normalization </vt:lpstr>
      <vt:lpstr>Introduction to Normalization </vt:lpstr>
      <vt:lpstr>WHY WE NEED NORMALIZATION? </vt:lpstr>
      <vt:lpstr>PowerPoint Presentation</vt:lpstr>
      <vt:lpstr>PowerPoint Presentation</vt:lpstr>
      <vt:lpstr>First Normal Form </vt:lpstr>
      <vt:lpstr>PowerPoint Presentation</vt:lpstr>
      <vt:lpstr>First Normal Form (1NF) </vt:lpstr>
      <vt:lpstr>PowerPoint Presentation</vt:lpstr>
      <vt:lpstr>PowerPoint Presentation</vt:lpstr>
      <vt:lpstr>PowerPoint Presentation</vt:lpstr>
      <vt:lpstr>PowerPoint Presentation</vt:lpstr>
      <vt:lpstr>Second Normal Form </vt:lpstr>
      <vt:lpstr>Second Normal Form</vt:lpstr>
      <vt:lpstr>PowerPoint Presentation</vt:lpstr>
      <vt:lpstr>PowerPoint Presentation</vt:lpstr>
      <vt:lpstr>PowerPoint Presentation</vt:lpstr>
      <vt:lpstr>Third Normal Form </vt:lpstr>
      <vt:lpstr>Third Normal Form </vt:lpstr>
      <vt:lpstr>PowerPoint Presentation</vt:lpstr>
      <vt:lpstr>PowerPoint Presentation</vt:lpstr>
      <vt:lpstr>BCNF (Boyce-Codd Normal Form) </vt:lpstr>
      <vt:lpstr>PowerPoint Presentation</vt:lpstr>
      <vt:lpstr>PowerPoint Presentation</vt:lpstr>
      <vt:lpstr>PowerPoint Presentation</vt:lpstr>
      <vt:lpstr>PowerPoint Presentation</vt:lpstr>
      <vt:lpstr>PowerPoint Presentation</vt:lpstr>
      <vt:lpstr>Fourth Normal Form </vt:lpstr>
      <vt:lpstr>PowerPoint Presentation</vt:lpstr>
      <vt:lpstr>PowerPoint Presentation</vt:lpstr>
      <vt:lpstr>PowerPoint Presentation</vt:lpstr>
      <vt:lpstr>Fourth Normal Form</vt:lpstr>
      <vt:lpstr>Fourth Normal Form</vt:lpstr>
      <vt:lpstr>PowerPoint Presentation</vt:lpstr>
      <vt:lpstr>Fifth Normal Form </vt:lpstr>
      <vt:lpstr>Fifth Normal 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srivastav</dc:creator>
  <cp:lastModifiedBy>dell</cp:lastModifiedBy>
  <cp:revision>4</cp:revision>
  <dcterms:created xsi:type="dcterms:W3CDTF">2020-08-04T18:57:56Z</dcterms:created>
  <dcterms:modified xsi:type="dcterms:W3CDTF">2025-01-18T06:40:40Z</dcterms:modified>
</cp:coreProperties>
</file>