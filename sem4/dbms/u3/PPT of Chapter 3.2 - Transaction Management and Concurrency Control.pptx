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0"/>
  </p:notes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sldSz cx="18288000" cy="10287000"/>
  <p:notesSz cx="6858000" cy="9144000"/>
  <p:embeddedFontLst>
    <p:embeddedFont>
      <p:font typeface="Arimo" panose="020B0604020202020204" charset="0"/>
      <p:bold r:id="rId61"/>
      <p:boldItalic r:id="rId62"/>
    </p:embeddedFont>
    <p:embeddedFont>
      <p:font typeface="Rubik Vinyl" panose="020B0604020202020204" charset="-79"/>
      <p:regular r:id="rId63"/>
    </p:embeddedFont>
    <p:embeddedFont>
      <p:font typeface="Times" panose="02020603050405020304" pitchFamily="18" charset="0"/>
      <p:regular r:id="rId64"/>
      <p:bold r:id="rId65"/>
      <p:italic r:id="rId66"/>
      <p:boldItalic r:id="rId6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8" roundtripDataSignature="AMtx7miRetBY1xjv/Zhlw7TkLAFInuxQW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4C4D786-FA9D-4522-BD5E-1539DDB2F8B1}">
  <a:tblStyle styleId="{64C4D786-FA9D-4522-BD5E-1539DDB2F8B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7" d="100"/>
          <a:sy n="47" d="100"/>
        </p:scale>
        <p:origin x="1066"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font" Target="fonts/font3.fntdata"/><Relationship Id="rId68" Type="http://customschemas.google.com/relationships/presentationmetadata" Target="metadata"/><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4.fntdata"/><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2.fntdata"/><Relationship Id="rId7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19" name="Google Shape;119;p5: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120" name="Google Shape;120;p5: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 name="Google Shape;121;p5: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5: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23" name="Google Shape;123;p5: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 name="Google Shape;15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3" name="Google Shape;233;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2" name="Google Shape;242;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0" name="Google Shape;250;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8" name="Google Shape;258;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6" name="Google Shape;266;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0" name="Google Shape;280;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7" name="Google Shape;287;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8" name="Google Shape;298;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6" name="Google Shape;306;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1" name="Google Shape;321;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1" name="Google Shape;331;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8" name="Google Shape;348;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7" name="Google Shape;357;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4" name="Google Shape;364;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6" name="Google Shape;376;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5" name="Google Shape;385;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2" name="Google Shape;392;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8" name="Google Shape;408;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5" name="Google Shape;415;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4" name="Google Shape;424;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6" name="Google Shape;436;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4" name="Google Shape;454;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3" name="Google Shape;463;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2" name="Google Shape;472;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1" name="Google Shape;481;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0" name="Google Shape;490;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8" name="Google Shape;508;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5" name="Google Shape;515;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2" name="Google Shape;522;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9" name="Google Shape;529;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6" name="Google Shape;536;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4" name="Google Shape;544;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1" name="Google Shape;551;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8" name="Google Shape;558;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6" name="Google Shape;566;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4" name="Google Shape;574;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2" name="Google Shape;582;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6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6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6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92E529FF-78C6-43EB-AA75-260D4E48EDDA}" type="datetime1">
              <a:rPr lang="en-US" smtClean="0"/>
              <a:t>2/27/2025</a:t>
            </a:fld>
            <a:endParaRPr/>
          </a:p>
        </p:txBody>
      </p:sp>
      <p:sp>
        <p:nvSpPr>
          <p:cNvPr id="19" name="Google Shape;19;p6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Dr. Gitanjali , Asst. Prof., UIE-CSE, Chandigarh University</a:t>
            </a:r>
            <a:endParaRPr/>
          </a:p>
        </p:txBody>
      </p:sp>
      <p:sp>
        <p:nvSpPr>
          <p:cNvPr id="20" name="Google Shape;20;p6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6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6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6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4AD23EDD-13E8-47F9-950D-96A56D3A4943}" type="datetime1">
              <a:rPr lang="en-US" smtClean="0"/>
              <a:t>2/27/2025</a:t>
            </a:fld>
            <a:endParaRPr/>
          </a:p>
        </p:txBody>
      </p:sp>
      <p:sp>
        <p:nvSpPr>
          <p:cNvPr id="25" name="Google Shape;25;p6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Dr. Gitanjali , Asst. Prof., UIE-CSE, Chandigarh University</a:t>
            </a:r>
            <a:endParaRPr/>
          </a:p>
        </p:txBody>
      </p:sp>
      <p:sp>
        <p:nvSpPr>
          <p:cNvPr id="26" name="Google Shape;26;p6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7"/>
        <p:cNvGrpSpPr/>
        <p:nvPr/>
      </p:nvGrpSpPr>
      <p:grpSpPr>
        <a:xfrm>
          <a:off x="0" y="0"/>
          <a:ext cx="0" cy="0"/>
          <a:chOff x="0" y="0"/>
          <a:chExt cx="0" cy="0"/>
        </a:xfrm>
      </p:grpSpPr>
      <p:sp>
        <p:nvSpPr>
          <p:cNvPr id="28" name="Google Shape;28;p62"/>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62"/>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30" name="Google Shape;30;p62"/>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31" name="Google Shape;31;p6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A65D4215-9E3A-41CE-93DF-D09DEAD352A1}" type="datetime1">
              <a:rPr lang="en-US" smtClean="0"/>
              <a:t>2/27/2025</a:t>
            </a:fld>
            <a:endParaRPr/>
          </a:p>
        </p:txBody>
      </p:sp>
      <p:sp>
        <p:nvSpPr>
          <p:cNvPr id="32" name="Google Shape;32;p6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Dr. Gitanjali , Asst. Prof., UIE-CSE, Chandigarh University</a:t>
            </a:r>
            <a:endParaRPr/>
          </a:p>
        </p:txBody>
      </p:sp>
      <p:sp>
        <p:nvSpPr>
          <p:cNvPr id="33" name="Google Shape;33;p6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4"/>
        <p:cNvGrpSpPr/>
        <p:nvPr/>
      </p:nvGrpSpPr>
      <p:grpSpPr>
        <a:xfrm>
          <a:off x="0" y="0"/>
          <a:ext cx="0" cy="0"/>
          <a:chOff x="0" y="0"/>
          <a:chExt cx="0" cy="0"/>
        </a:xfrm>
      </p:grpSpPr>
      <p:sp>
        <p:nvSpPr>
          <p:cNvPr id="35" name="Google Shape;35;p6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3F6C4CDA-7A22-42A6-AF1D-98D756196489}" type="datetime1">
              <a:rPr lang="en-US" smtClean="0"/>
              <a:t>2/27/2025</a:t>
            </a:fld>
            <a:endParaRPr/>
          </a:p>
        </p:txBody>
      </p:sp>
      <p:sp>
        <p:nvSpPr>
          <p:cNvPr id="36" name="Google Shape;36;p6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Dr. Gitanjali , Asst. Prof., UIE-CSE, Chandigarh University</a:t>
            </a:r>
            <a:endParaRPr/>
          </a:p>
        </p:txBody>
      </p:sp>
      <p:sp>
        <p:nvSpPr>
          <p:cNvPr id="37" name="Google Shape;37;p6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8"/>
        <p:cNvGrpSpPr/>
        <p:nvPr/>
      </p:nvGrpSpPr>
      <p:grpSpPr>
        <a:xfrm>
          <a:off x="0" y="0"/>
          <a:ext cx="0" cy="0"/>
          <a:chOff x="0" y="0"/>
          <a:chExt cx="0" cy="0"/>
        </a:xfrm>
      </p:grpSpPr>
      <p:sp>
        <p:nvSpPr>
          <p:cNvPr id="39" name="Google Shape;39;p6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41" name="Google Shape;41;p6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DD110532-629A-4E56-B05E-4F933C65C772}" type="datetime1">
              <a:rPr lang="en-US" smtClean="0"/>
              <a:t>2/27/2025</a:t>
            </a:fld>
            <a:endParaRPr/>
          </a:p>
        </p:txBody>
      </p:sp>
      <p:sp>
        <p:nvSpPr>
          <p:cNvPr id="42" name="Google Shape;42;p6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Dr. Gitanjali , Asst. Prof., UIE-CSE, Chandigarh University</a:t>
            </a:r>
            <a:endParaRPr/>
          </a:p>
        </p:txBody>
      </p:sp>
      <p:sp>
        <p:nvSpPr>
          <p:cNvPr id="43" name="Google Shape;43;p6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4"/>
        <p:cNvGrpSpPr/>
        <p:nvPr/>
      </p:nvGrpSpPr>
      <p:grpSpPr>
        <a:xfrm>
          <a:off x="0" y="0"/>
          <a:ext cx="0" cy="0"/>
          <a:chOff x="0" y="0"/>
          <a:chExt cx="0" cy="0"/>
        </a:xfrm>
      </p:grpSpPr>
      <p:sp>
        <p:nvSpPr>
          <p:cNvPr id="45" name="Google Shape;45;p6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6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7" name="Google Shape;47;p6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8" name="Google Shape;48;p6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AC8C26F2-2D3E-4776-90F2-BAC26449C80D}" type="datetime1">
              <a:rPr lang="en-US" smtClean="0"/>
              <a:t>2/27/2025</a:t>
            </a:fld>
            <a:endParaRPr/>
          </a:p>
        </p:txBody>
      </p:sp>
      <p:sp>
        <p:nvSpPr>
          <p:cNvPr id="49" name="Google Shape;49;p6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Dr. Gitanjali , Asst. Prof., UIE-CSE, Chandigarh University</a:t>
            </a:r>
            <a:endParaRPr/>
          </a:p>
        </p:txBody>
      </p:sp>
      <p:sp>
        <p:nvSpPr>
          <p:cNvPr id="50" name="Google Shape;50;p6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1"/>
        <p:cNvGrpSpPr/>
        <p:nvPr/>
      </p:nvGrpSpPr>
      <p:grpSpPr>
        <a:xfrm>
          <a:off x="0" y="0"/>
          <a:ext cx="0" cy="0"/>
          <a:chOff x="0" y="0"/>
          <a:chExt cx="0" cy="0"/>
        </a:xfrm>
      </p:grpSpPr>
      <p:sp>
        <p:nvSpPr>
          <p:cNvPr id="52" name="Google Shape;52;p6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6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4" name="Google Shape;54;p6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5" name="Google Shape;55;p6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6" name="Google Shape;56;p6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7" name="Google Shape;57;p6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DF9BC04E-A787-4694-BBD7-8EDFDCE2745A}" type="datetime1">
              <a:rPr lang="en-US" smtClean="0"/>
              <a:t>2/27/2025</a:t>
            </a:fld>
            <a:endParaRPr/>
          </a:p>
        </p:txBody>
      </p:sp>
      <p:sp>
        <p:nvSpPr>
          <p:cNvPr id="58" name="Google Shape;58;p6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Dr. Gitanjali , Asst. Prof., UIE-CSE, Chandigarh University</a:t>
            </a:r>
            <a:endParaRPr/>
          </a:p>
        </p:txBody>
      </p:sp>
      <p:sp>
        <p:nvSpPr>
          <p:cNvPr id="59" name="Google Shape;59;p6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0"/>
        <p:cNvGrpSpPr/>
        <p:nvPr/>
      </p:nvGrpSpPr>
      <p:grpSpPr>
        <a:xfrm>
          <a:off x="0" y="0"/>
          <a:ext cx="0" cy="0"/>
          <a:chOff x="0" y="0"/>
          <a:chExt cx="0" cy="0"/>
        </a:xfrm>
      </p:grpSpPr>
      <p:sp>
        <p:nvSpPr>
          <p:cNvPr id="61" name="Google Shape;61;p6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6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6DD76286-1E82-4522-B9FD-85A919941032}" type="datetime1">
              <a:rPr lang="en-US" smtClean="0"/>
              <a:t>2/27/2025</a:t>
            </a:fld>
            <a:endParaRPr/>
          </a:p>
        </p:txBody>
      </p:sp>
      <p:sp>
        <p:nvSpPr>
          <p:cNvPr id="63" name="Google Shape;63;p6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Dr. Gitanjali , Asst. Prof., UIE-CSE, Chandigarh University</a:t>
            </a:r>
            <a:endParaRPr/>
          </a:p>
        </p:txBody>
      </p:sp>
      <p:sp>
        <p:nvSpPr>
          <p:cNvPr id="64" name="Google Shape;64;p6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6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68"/>
          <p:cNvSpPr>
            <a:spLocks noGrp="1"/>
          </p:cNvSpPr>
          <p:nvPr>
            <p:ph type="pic" idx="2"/>
          </p:nvPr>
        </p:nvSpPr>
        <p:spPr>
          <a:xfrm>
            <a:off x="1792288" y="612775"/>
            <a:ext cx="5486400" cy="4114800"/>
          </a:xfrm>
          <a:prstGeom prst="rect">
            <a:avLst/>
          </a:prstGeom>
          <a:noFill/>
          <a:ln>
            <a:noFill/>
          </a:ln>
        </p:spPr>
      </p:sp>
      <p:sp>
        <p:nvSpPr>
          <p:cNvPr id="68" name="Google Shape;68;p6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6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804114DE-1760-45B6-8254-CD8A2D9E5995}" type="datetime1">
              <a:rPr lang="en-US" smtClean="0"/>
              <a:t>2/27/2025</a:t>
            </a:fld>
            <a:endParaRPr/>
          </a:p>
        </p:txBody>
      </p:sp>
      <p:sp>
        <p:nvSpPr>
          <p:cNvPr id="70" name="Google Shape;70;p6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Dr. Gitanjali , Asst. Prof., UIE-CSE, Chandigarh University</a:t>
            </a:r>
            <a:endParaRPr/>
          </a:p>
        </p:txBody>
      </p:sp>
      <p:sp>
        <p:nvSpPr>
          <p:cNvPr id="71" name="Google Shape;71;p6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6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69"/>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6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BAEF1EC8-BCFA-4EF6-9DE0-ADB335A23FB6}" type="datetime1">
              <a:rPr lang="en-US" smtClean="0"/>
              <a:t>2/27/2025</a:t>
            </a:fld>
            <a:endParaRPr/>
          </a:p>
        </p:txBody>
      </p:sp>
      <p:sp>
        <p:nvSpPr>
          <p:cNvPr id="76" name="Google Shape;76;p6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Dr. Gitanjali , Asst. Prof., UIE-CSE, Chandigarh University</a:t>
            </a:r>
            <a:endParaRPr/>
          </a:p>
        </p:txBody>
      </p:sp>
      <p:sp>
        <p:nvSpPr>
          <p:cNvPr id="77" name="Google Shape;77;p6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7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7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7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35AE6391-21CE-4ACE-BEC0-94444FB9401C}" type="datetime1">
              <a:rPr lang="en-US" smtClean="0"/>
              <a:t>2/27/2025</a:t>
            </a:fld>
            <a:endParaRPr/>
          </a:p>
        </p:txBody>
      </p:sp>
      <p:sp>
        <p:nvSpPr>
          <p:cNvPr id="82" name="Google Shape;82;p7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Dr. Gitanjali , Asst. Prof., UIE-CSE, Chandigarh University</a:t>
            </a:r>
            <a:endParaRPr/>
          </a:p>
        </p:txBody>
      </p:sp>
      <p:sp>
        <p:nvSpPr>
          <p:cNvPr id="83" name="Google Shape;83;p7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5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5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735CA766-3E2D-4CD9-A21A-EC0862C1B8C1}" type="datetime1">
              <a:rPr lang="en-US" smtClean="0"/>
              <a:t>2/27/2025</a:t>
            </a:fld>
            <a:endParaRPr/>
          </a:p>
        </p:txBody>
      </p:sp>
      <p:sp>
        <p:nvSpPr>
          <p:cNvPr id="13" name="Google Shape;13;p5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IN"/>
              <a:t>Dr. Gitanjali , Asst. Prof., UIE-CSE, Chandigarh University</a:t>
            </a:r>
            <a:endParaRPr/>
          </a:p>
        </p:txBody>
      </p:sp>
      <p:sp>
        <p:nvSpPr>
          <p:cNvPr id="14" name="Google Shape;14;p5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4.jp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12.jp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hyperlink" Target="https://www.geeksforgeeks.org/view-serializability-in-dbms/"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hyperlink" Target="https://www.geeksforgeeks.org/types-of-schedules-in-dbms/"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4.xml"/><Relationship Id="rId5" Type="http://schemas.openxmlformats.org/officeDocument/2006/relationships/image" Target="../media/image23.png"/><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4.xml"/><Relationship Id="rId5" Type="http://schemas.openxmlformats.org/officeDocument/2006/relationships/hyperlink" Target="https://www.geeksforgeeks.org/timestamp-based-concurrency-control/" TargetMode="External"/><Relationship Id="rId4" Type="http://schemas.openxmlformats.org/officeDocument/2006/relationships/image" Target="../media/image29.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p:nvPr/>
        </p:nvSpPr>
        <p:spPr>
          <a:xfrm>
            <a:off x="752168" y="7256696"/>
            <a:ext cx="16437078" cy="2277830"/>
          </a:xfrm>
          <a:prstGeom prst="rect">
            <a:avLst/>
          </a:prstGeom>
          <a:solidFill>
            <a:schemeClr val="lt1"/>
          </a:solidFill>
          <a:ln>
            <a:noFill/>
          </a:ln>
        </p:spPr>
        <p:txBody>
          <a:bodyPr spcFirstLastPara="1" wrap="square" lIns="137125" tIns="68550" rIns="137125" bIns="68550" anchor="ctr" anchorCtr="0">
            <a:noAutofit/>
          </a:bodyPr>
          <a:lstStyle/>
          <a:p>
            <a:pPr marL="0" marR="0" lvl="0" indent="0" algn="ctr" rtl="0">
              <a:spcBef>
                <a:spcPts val="0"/>
              </a:spcBef>
              <a:spcAft>
                <a:spcPts val="0"/>
              </a:spcAft>
              <a:buNone/>
            </a:pPr>
            <a:endParaRPr sz="2700" b="0" i="0" u="none" strike="noStrike" cap="none">
              <a:solidFill>
                <a:schemeClr val="lt1"/>
              </a:solidFill>
              <a:latin typeface="Calibri"/>
              <a:ea typeface="Calibri"/>
              <a:cs typeface="Calibri"/>
              <a:sym typeface="Calibri"/>
            </a:endParaRPr>
          </a:p>
        </p:txBody>
      </p:sp>
      <p:sp>
        <p:nvSpPr>
          <p:cNvPr id="89" name="Google Shape;89;p1"/>
          <p:cNvSpPr txBox="1">
            <a:spLocks noGrp="1"/>
          </p:cNvSpPr>
          <p:nvPr>
            <p:ph type="subTitle" idx="1"/>
          </p:nvPr>
        </p:nvSpPr>
        <p:spPr>
          <a:xfrm>
            <a:off x="843993" y="7337206"/>
            <a:ext cx="6235233" cy="18548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888888"/>
              </a:buClr>
              <a:buSzPts val="2700"/>
              <a:buNone/>
            </a:pPr>
            <a:r>
              <a:rPr lang="en-US" sz="2700" b="1">
                <a:latin typeface="Times New Roman"/>
                <a:ea typeface="Times New Roman"/>
                <a:cs typeface="Times New Roman"/>
                <a:sym typeface="Times New Roman"/>
              </a:rPr>
              <a:t>DR. GITANJALI</a:t>
            </a:r>
            <a:endParaRPr/>
          </a:p>
          <a:p>
            <a:pPr marL="0" lvl="0" indent="0" algn="l" rtl="0">
              <a:spcBef>
                <a:spcPts val="420"/>
              </a:spcBef>
              <a:spcAft>
                <a:spcPts val="0"/>
              </a:spcAft>
              <a:buClr>
                <a:srgbClr val="888888"/>
              </a:buClr>
              <a:buSzPts val="2100"/>
              <a:buNone/>
            </a:pPr>
            <a:r>
              <a:rPr lang="en-US" sz="2100" b="1">
                <a:latin typeface="Times New Roman"/>
                <a:ea typeface="Times New Roman"/>
                <a:cs typeface="Times New Roman"/>
                <a:sym typeface="Times New Roman"/>
              </a:rPr>
              <a:t>E16525</a:t>
            </a:r>
            <a:endParaRPr/>
          </a:p>
          <a:p>
            <a:pPr marL="0" lvl="0" indent="0" algn="l" rtl="0">
              <a:spcBef>
                <a:spcPts val="420"/>
              </a:spcBef>
              <a:spcAft>
                <a:spcPts val="0"/>
              </a:spcAft>
              <a:buClr>
                <a:srgbClr val="888888"/>
              </a:buClr>
              <a:buSzPts val="2100"/>
              <a:buNone/>
            </a:pPr>
            <a:r>
              <a:rPr lang="en-US" sz="2100" b="1">
                <a:latin typeface="Times New Roman"/>
                <a:ea typeface="Times New Roman"/>
                <a:cs typeface="Times New Roman"/>
                <a:sym typeface="Times New Roman"/>
              </a:rPr>
              <a:t>ASSISTANT PROFESSOR</a:t>
            </a:r>
            <a:endParaRPr/>
          </a:p>
          <a:p>
            <a:pPr marL="0" lvl="0" indent="0" algn="l" rtl="0">
              <a:spcBef>
                <a:spcPts val="420"/>
              </a:spcBef>
              <a:spcAft>
                <a:spcPts val="0"/>
              </a:spcAft>
              <a:buClr>
                <a:srgbClr val="888888"/>
              </a:buClr>
              <a:buSzPts val="2100"/>
              <a:buNone/>
            </a:pPr>
            <a:r>
              <a:rPr lang="en-US" sz="2100" b="1">
                <a:latin typeface="Times New Roman"/>
                <a:ea typeface="Times New Roman"/>
                <a:cs typeface="Times New Roman"/>
                <a:sym typeface="Times New Roman"/>
              </a:rPr>
              <a:t>CSE </a:t>
            </a:r>
            <a:endParaRPr/>
          </a:p>
        </p:txBody>
      </p:sp>
      <p:sp>
        <p:nvSpPr>
          <p:cNvPr id="90" name="Google Shape;90;p1"/>
          <p:cNvSpPr/>
          <p:nvPr/>
        </p:nvSpPr>
        <p:spPr>
          <a:xfrm flipH="1">
            <a:off x="14016935" y="7352263"/>
            <a:ext cx="3699566" cy="2569364"/>
          </a:xfrm>
          <a:prstGeom prst="rtTriangle">
            <a:avLst/>
          </a:prstGeom>
          <a:solidFill>
            <a:srgbClr val="C00000"/>
          </a:solidFill>
          <a:ln>
            <a:noFill/>
          </a:ln>
        </p:spPr>
        <p:txBody>
          <a:bodyPr spcFirstLastPara="1" wrap="square" lIns="113375" tIns="56650" rIns="113375" bIns="56650" anchor="ctr" anchorCtr="0">
            <a:noAutofit/>
          </a:bodyPr>
          <a:lstStyle/>
          <a:p>
            <a:pPr marL="0" marR="0" lvl="0" indent="0" algn="ctr" rtl="0">
              <a:spcBef>
                <a:spcPts val="0"/>
              </a:spcBef>
              <a:spcAft>
                <a:spcPts val="0"/>
              </a:spcAft>
              <a:buNone/>
            </a:pPr>
            <a:endParaRPr sz="2232" b="0" i="0" u="none" strike="noStrike" cap="none">
              <a:solidFill>
                <a:schemeClr val="lt1"/>
              </a:solidFill>
              <a:latin typeface="Calibri"/>
              <a:ea typeface="Calibri"/>
              <a:cs typeface="Calibri"/>
              <a:sym typeface="Calibri"/>
            </a:endParaRPr>
          </a:p>
        </p:txBody>
      </p:sp>
      <p:sp>
        <p:nvSpPr>
          <p:cNvPr id="91" name="Google Shape;91;p1"/>
          <p:cNvSpPr txBox="1"/>
          <p:nvPr/>
        </p:nvSpPr>
        <p:spPr>
          <a:xfrm>
            <a:off x="10737970" y="8235702"/>
            <a:ext cx="6112670" cy="801564"/>
          </a:xfrm>
          <a:prstGeom prst="rect">
            <a:avLst/>
          </a:prstGeom>
          <a:noFill/>
          <a:ln>
            <a:noFill/>
          </a:ln>
        </p:spPr>
        <p:txBody>
          <a:bodyPr spcFirstLastPara="1" wrap="square" lIns="113375" tIns="56650" rIns="113375" bIns="56650" anchor="t" anchorCtr="0">
            <a:spAutoFit/>
          </a:bodyPr>
          <a:lstStyle/>
          <a:p>
            <a:pPr marL="0" marR="0" lvl="0" indent="0" algn="l" rtl="0">
              <a:spcBef>
                <a:spcPts val="0"/>
              </a:spcBef>
              <a:spcAft>
                <a:spcPts val="0"/>
              </a:spcAft>
              <a:buNone/>
            </a:pPr>
            <a:r>
              <a:rPr lang="en-US" sz="2480" b="1" i="0" u="none" strike="noStrike" cap="none">
                <a:solidFill>
                  <a:srgbClr val="595959"/>
                </a:solidFill>
                <a:latin typeface="Arial"/>
                <a:ea typeface="Arial"/>
                <a:cs typeface="Arial"/>
                <a:sym typeface="Arial"/>
              </a:rPr>
              <a:t>DISCOVER . </a:t>
            </a:r>
            <a:r>
              <a:rPr lang="en-US" sz="2480" b="1" i="0" u="none" strike="noStrike" cap="none">
                <a:solidFill>
                  <a:srgbClr val="C00000"/>
                </a:solidFill>
                <a:latin typeface="Arial"/>
                <a:ea typeface="Arial"/>
                <a:cs typeface="Arial"/>
                <a:sym typeface="Arial"/>
              </a:rPr>
              <a:t>LEARN</a:t>
            </a:r>
            <a:r>
              <a:rPr lang="en-US" sz="2480" b="1" i="0" u="none" strike="noStrike" cap="none">
                <a:solidFill>
                  <a:srgbClr val="595959"/>
                </a:solidFill>
                <a:latin typeface="Arial"/>
                <a:ea typeface="Arial"/>
                <a:cs typeface="Arial"/>
                <a:sym typeface="Arial"/>
              </a:rPr>
              <a:t> . EMPOWER</a:t>
            </a:r>
            <a:endParaRPr sz="1488" b="1" i="0" u="none" strike="noStrike" cap="none">
              <a:solidFill>
                <a:srgbClr val="000000"/>
              </a:solidFill>
              <a:latin typeface="Arial"/>
              <a:ea typeface="Arial"/>
              <a:cs typeface="Arial"/>
              <a:sym typeface="Arial"/>
            </a:endParaRPr>
          </a:p>
          <a:p>
            <a:pPr marL="0" marR="0" lvl="0" indent="0" algn="l" rtl="0">
              <a:spcBef>
                <a:spcPts val="0"/>
              </a:spcBef>
              <a:spcAft>
                <a:spcPts val="0"/>
              </a:spcAft>
              <a:buNone/>
            </a:pPr>
            <a:endParaRPr sz="1985" b="1" i="0" u="none" strike="noStrike" cap="none">
              <a:solidFill>
                <a:schemeClr val="dk1"/>
              </a:solidFill>
              <a:latin typeface="Arial"/>
              <a:ea typeface="Arial"/>
              <a:cs typeface="Arial"/>
              <a:sym typeface="Arial"/>
            </a:endParaRPr>
          </a:p>
        </p:txBody>
      </p:sp>
      <p:sp>
        <p:nvSpPr>
          <p:cNvPr id="92" name="Google Shape;92;p1"/>
          <p:cNvSpPr/>
          <p:nvPr/>
        </p:nvSpPr>
        <p:spPr>
          <a:xfrm>
            <a:off x="2739298" y="8852980"/>
            <a:ext cx="68579" cy="920822"/>
          </a:xfrm>
          <a:prstGeom prst="rect">
            <a:avLst/>
          </a:prstGeom>
          <a:solidFill>
            <a:srgbClr val="C00000"/>
          </a:solidFill>
          <a:ln>
            <a:noFill/>
          </a:ln>
        </p:spPr>
        <p:txBody>
          <a:bodyPr spcFirstLastPara="1" wrap="square" lIns="137125" tIns="68550" rIns="137125" bIns="68550" anchor="ctr" anchorCtr="0">
            <a:noAutofit/>
          </a:bodyPr>
          <a:lstStyle/>
          <a:p>
            <a:pPr marL="0" marR="0" lvl="0" indent="0" algn="ctr" rtl="0">
              <a:spcBef>
                <a:spcPts val="0"/>
              </a:spcBef>
              <a:spcAft>
                <a:spcPts val="0"/>
              </a:spcAft>
              <a:buNone/>
            </a:pPr>
            <a:endParaRPr sz="2700" b="0" i="0" u="none" strike="noStrike" cap="none">
              <a:solidFill>
                <a:schemeClr val="lt1"/>
              </a:solidFill>
              <a:latin typeface="Calibri"/>
              <a:ea typeface="Calibri"/>
              <a:cs typeface="Calibri"/>
              <a:sym typeface="Calibri"/>
            </a:endParaRPr>
          </a:p>
        </p:txBody>
      </p:sp>
      <p:sp>
        <p:nvSpPr>
          <p:cNvPr id="93" name="Google Shape;93;p1"/>
          <p:cNvSpPr txBox="1"/>
          <p:nvPr/>
        </p:nvSpPr>
        <p:spPr>
          <a:xfrm>
            <a:off x="1561238" y="1339358"/>
            <a:ext cx="14584287" cy="5747667"/>
          </a:xfrm>
          <a:prstGeom prst="rect">
            <a:avLst/>
          </a:prstGeom>
          <a:noFill/>
          <a:ln>
            <a:noFill/>
          </a:ln>
        </p:spPr>
        <p:txBody>
          <a:bodyPr spcFirstLastPara="1" wrap="square" lIns="137125" tIns="68550" rIns="137125" bIns="68550" anchor="t" anchorCtr="0">
            <a:spAutoFit/>
          </a:bodyPr>
          <a:lstStyle/>
          <a:p>
            <a:pPr marL="0" marR="0" lvl="0" indent="0" algn="ctr" rtl="0">
              <a:spcBef>
                <a:spcPts val="0"/>
              </a:spcBef>
              <a:spcAft>
                <a:spcPts val="0"/>
              </a:spcAft>
              <a:buNone/>
            </a:pPr>
            <a:r>
              <a:rPr lang="en-US" sz="6000" b="1" i="0" u="none" strike="noStrike" cap="none">
                <a:solidFill>
                  <a:schemeClr val="dk1"/>
                </a:solidFill>
                <a:latin typeface="Arial"/>
                <a:ea typeface="Arial"/>
                <a:cs typeface="Arial"/>
                <a:sym typeface="Arial"/>
              </a:rPr>
              <a:t>UNIVERSITY INSTITUTE OF ENGINEERING</a:t>
            </a:r>
            <a:endParaRPr/>
          </a:p>
          <a:p>
            <a:pPr marL="0" marR="0" lvl="0" indent="0" algn="ctr" rtl="0">
              <a:spcBef>
                <a:spcPts val="0"/>
              </a:spcBef>
              <a:spcAft>
                <a:spcPts val="0"/>
              </a:spcAft>
              <a:buNone/>
            </a:pPr>
            <a:endParaRPr sz="6600" b="0" i="0" u="none" strike="noStrike" cap="none">
              <a:solidFill>
                <a:schemeClr val="dk1"/>
              </a:solidFill>
              <a:latin typeface="Arial"/>
              <a:ea typeface="Arial"/>
              <a:cs typeface="Arial"/>
              <a:sym typeface="Arial"/>
            </a:endParaRPr>
          </a:p>
          <a:p>
            <a:pPr marL="0" marR="0" lvl="0" indent="0" algn="ctr" rtl="0">
              <a:spcBef>
                <a:spcPts val="0"/>
              </a:spcBef>
              <a:spcAft>
                <a:spcPts val="0"/>
              </a:spcAft>
              <a:buNone/>
            </a:pPr>
            <a:r>
              <a:rPr lang="en-US" sz="4200" b="1" i="0" u="none" strike="noStrike" cap="none">
                <a:solidFill>
                  <a:schemeClr val="dk1"/>
                </a:solidFill>
                <a:latin typeface="Arial"/>
                <a:ea typeface="Arial"/>
                <a:cs typeface="Arial"/>
                <a:sym typeface="Arial"/>
              </a:rPr>
              <a:t>Department of Computer Science &amp; Engineering</a:t>
            </a:r>
            <a:endParaRPr/>
          </a:p>
          <a:p>
            <a:pPr marL="0" marR="0" lvl="0" indent="0" algn="ctr" rtl="0">
              <a:spcBef>
                <a:spcPts val="0"/>
              </a:spcBef>
              <a:spcAft>
                <a:spcPts val="0"/>
              </a:spcAft>
              <a:buNone/>
            </a:pPr>
            <a:endParaRPr sz="4200" b="1" i="0" u="none" strike="noStrike" cap="none">
              <a:solidFill>
                <a:schemeClr val="dk1"/>
              </a:solidFill>
              <a:latin typeface="Calibri"/>
              <a:ea typeface="Calibri"/>
              <a:cs typeface="Calibri"/>
              <a:sym typeface="Calibri"/>
            </a:endParaRPr>
          </a:p>
          <a:p>
            <a:pPr marL="0" marR="0" lvl="0" indent="0" algn="ctr" rtl="0">
              <a:spcBef>
                <a:spcPts val="0"/>
              </a:spcBef>
              <a:spcAft>
                <a:spcPts val="0"/>
              </a:spcAft>
              <a:buNone/>
            </a:pPr>
            <a:r>
              <a:rPr lang="en-US" sz="4200" b="1" i="0" u="none" strike="noStrike" cap="none">
                <a:solidFill>
                  <a:srgbClr val="000000"/>
                </a:solidFill>
                <a:latin typeface="Arial"/>
                <a:ea typeface="Arial"/>
                <a:cs typeface="Arial"/>
                <a:sym typeface="Arial"/>
              </a:rPr>
              <a:t>Databases Management System</a:t>
            </a:r>
            <a:endParaRPr/>
          </a:p>
          <a:p>
            <a:pPr marL="0" marR="0" lvl="0" indent="0" algn="ctr" rtl="0">
              <a:lnSpc>
                <a:spcPct val="116444"/>
              </a:lnSpc>
              <a:spcBef>
                <a:spcPts val="0"/>
              </a:spcBef>
              <a:spcAft>
                <a:spcPts val="0"/>
              </a:spcAft>
              <a:buNone/>
            </a:pPr>
            <a:r>
              <a:rPr lang="en-US" sz="5400" b="1" i="0" u="none" strike="noStrike" cap="none">
                <a:solidFill>
                  <a:srgbClr val="000000"/>
                </a:solidFill>
                <a:latin typeface="Arial"/>
                <a:ea typeface="Arial"/>
                <a:cs typeface="Arial"/>
                <a:sym typeface="Arial"/>
              </a:rPr>
              <a:t>(23CSH-205/23ITH-205)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3228975" y="7364"/>
            <a:ext cx="11830050" cy="198834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C00000"/>
              </a:buClr>
              <a:buSzPts val="4400"/>
              <a:buFont typeface="Arial"/>
              <a:buNone/>
            </a:pPr>
            <a:r>
              <a:rPr lang="en-US" b="1">
                <a:solidFill>
                  <a:srgbClr val="C00000"/>
                </a:solidFill>
                <a:latin typeface="Arial"/>
                <a:ea typeface="Arial"/>
                <a:cs typeface="Arial"/>
                <a:sym typeface="Arial"/>
              </a:rPr>
              <a:t>ABOUT COURSE</a:t>
            </a:r>
            <a:endParaRPr>
              <a:solidFill>
                <a:srgbClr val="C00000"/>
              </a:solidFill>
            </a:endParaRPr>
          </a:p>
        </p:txBody>
      </p:sp>
      <p:sp>
        <p:nvSpPr>
          <p:cNvPr id="99" name="Google Shape;99;p2"/>
          <p:cNvSpPr txBox="1">
            <a:spLocks noGrp="1"/>
          </p:cNvSpPr>
          <p:nvPr>
            <p:ph type="body" idx="1"/>
          </p:nvPr>
        </p:nvSpPr>
        <p:spPr>
          <a:xfrm>
            <a:off x="1257301" y="2062237"/>
            <a:ext cx="16661990" cy="6683663"/>
          </a:xfrm>
          <a:prstGeom prst="rect">
            <a:avLst/>
          </a:prstGeom>
          <a:noFill/>
          <a:ln>
            <a:noFill/>
          </a:ln>
        </p:spPr>
        <p:txBody>
          <a:bodyPr spcFirstLastPara="1" wrap="square" lIns="102850" tIns="51425" rIns="102850" bIns="51425" anchor="t" anchorCtr="0">
            <a:noAutofit/>
          </a:bodyPr>
          <a:lstStyle/>
          <a:p>
            <a:pPr marL="342900" lvl="0" indent="-342900" algn="just" rtl="0">
              <a:spcBef>
                <a:spcPts val="0"/>
              </a:spcBef>
              <a:spcAft>
                <a:spcPts val="0"/>
              </a:spcAft>
              <a:buClr>
                <a:schemeClr val="dk1"/>
              </a:buClr>
              <a:buSzPts val="3600"/>
              <a:buChar char="•"/>
            </a:pPr>
            <a:r>
              <a:rPr lang="en-US" sz="3600">
                <a:latin typeface="Times New Roman"/>
                <a:ea typeface="Times New Roman"/>
                <a:cs typeface="Times New Roman"/>
                <a:sym typeface="Times New Roman"/>
              </a:rPr>
              <a:t>The main DBMS course, we learn about the </a:t>
            </a:r>
            <a:r>
              <a:rPr lang="en-US" sz="3600">
                <a:solidFill>
                  <a:srgbClr val="632423"/>
                </a:solidFill>
                <a:latin typeface="Times New Roman"/>
                <a:ea typeface="Times New Roman"/>
                <a:cs typeface="Times New Roman"/>
                <a:sym typeface="Times New Roman"/>
              </a:rPr>
              <a:t>structural formation of data</a:t>
            </a:r>
            <a:r>
              <a:rPr lang="en-US" sz="3600">
                <a:latin typeface="Times New Roman"/>
                <a:ea typeface="Times New Roman"/>
                <a:cs typeface="Times New Roman"/>
                <a:sym typeface="Times New Roman"/>
              </a:rPr>
              <a:t>, </a:t>
            </a:r>
            <a:r>
              <a:rPr lang="en-US" sz="3600">
                <a:solidFill>
                  <a:srgbClr val="31859B"/>
                </a:solidFill>
                <a:latin typeface="Times New Roman"/>
                <a:ea typeface="Times New Roman"/>
                <a:cs typeface="Times New Roman"/>
                <a:sym typeface="Times New Roman"/>
              </a:rPr>
              <a:t>maintain data integrity</a:t>
            </a:r>
            <a:r>
              <a:rPr lang="en-US" sz="3600">
                <a:latin typeface="Times New Roman"/>
                <a:ea typeface="Times New Roman"/>
                <a:cs typeface="Times New Roman"/>
                <a:sym typeface="Times New Roman"/>
              </a:rPr>
              <a:t>, </a:t>
            </a:r>
            <a:r>
              <a:rPr lang="en-US" sz="3600">
                <a:solidFill>
                  <a:srgbClr val="974806"/>
                </a:solidFill>
                <a:latin typeface="Times New Roman"/>
                <a:ea typeface="Times New Roman"/>
                <a:cs typeface="Times New Roman"/>
                <a:sym typeface="Times New Roman"/>
              </a:rPr>
              <a:t>multitasking with concurrent access </a:t>
            </a:r>
            <a:r>
              <a:rPr lang="en-US" sz="3600">
                <a:latin typeface="Times New Roman"/>
                <a:ea typeface="Times New Roman"/>
                <a:cs typeface="Times New Roman"/>
                <a:sym typeface="Times New Roman"/>
              </a:rPr>
              <a:t>and </a:t>
            </a:r>
            <a:r>
              <a:rPr lang="en-US" sz="3600">
                <a:solidFill>
                  <a:schemeClr val="dk2"/>
                </a:solidFill>
                <a:latin typeface="Times New Roman"/>
                <a:ea typeface="Times New Roman"/>
                <a:cs typeface="Times New Roman"/>
                <a:sym typeface="Times New Roman"/>
              </a:rPr>
              <a:t>recovery without occurring crashes</a:t>
            </a:r>
            <a:r>
              <a:rPr lang="en-US" sz="3600">
                <a:latin typeface="Times New Roman"/>
                <a:ea typeface="Times New Roman"/>
                <a:cs typeface="Times New Roman"/>
                <a:sym typeface="Times New Roman"/>
              </a:rPr>
              <a:t>, data structures, data models etc. and their working in which every organization is based. </a:t>
            </a:r>
            <a:endParaRPr/>
          </a:p>
          <a:p>
            <a:pPr marL="342900" lvl="0" indent="-342900" algn="just" rtl="0">
              <a:spcBef>
                <a:spcPts val="720"/>
              </a:spcBef>
              <a:spcAft>
                <a:spcPts val="0"/>
              </a:spcAft>
              <a:buClr>
                <a:schemeClr val="dk1"/>
              </a:buClr>
              <a:buSzPts val="3600"/>
              <a:buChar char="•"/>
            </a:pPr>
            <a:r>
              <a:rPr lang="en-US" sz="3600">
                <a:latin typeface="Times New Roman"/>
                <a:ea typeface="Times New Roman"/>
                <a:cs typeface="Times New Roman"/>
                <a:sym typeface="Times New Roman"/>
              </a:rPr>
              <a:t>At the end of the course, the students may understand the concepts of data structures, data models and design, construction of queries by using SQL, uses and applications of database design etc</a:t>
            </a:r>
            <a:endParaRPr/>
          </a:p>
          <a:p>
            <a:pPr marL="342900" lvl="0" indent="-114300" algn="just" rtl="0">
              <a:spcBef>
                <a:spcPts val="720"/>
              </a:spcBef>
              <a:spcAft>
                <a:spcPts val="0"/>
              </a:spcAft>
              <a:buClr>
                <a:schemeClr val="dk1"/>
              </a:buClr>
              <a:buSzPts val="3600"/>
              <a:buNone/>
            </a:pPr>
            <a:endParaRPr sz="3600" i="1">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graphicFrame>
        <p:nvGraphicFramePr>
          <p:cNvPr id="104" name="Google Shape;104;p3"/>
          <p:cNvGraphicFramePr/>
          <p:nvPr/>
        </p:nvGraphicFramePr>
        <p:xfrm>
          <a:off x="464575" y="2697914"/>
          <a:ext cx="11765525" cy="6580960"/>
        </p:xfrm>
        <a:graphic>
          <a:graphicData uri="http://schemas.openxmlformats.org/drawingml/2006/table">
            <a:tbl>
              <a:tblPr>
                <a:noFill/>
                <a:tableStyleId>{64C4D786-FA9D-4522-BD5E-1539DDB2F8B1}</a:tableStyleId>
              </a:tblPr>
              <a:tblGrid>
                <a:gridCol w="1263375">
                  <a:extLst>
                    <a:ext uri="{9D8B030D-6E8A-4147-A177-3AD203B41FA5}">
                      <a16:colId xmlns:a16="http://schemas.microsoft.com/office/drawing/2014/main" val="20000"/>
                    </a:ext>
                  </a:extLst>
                </a:gridCol>
                <a:gridCol w="8110150">
                  <a:extLst>
                    <a:ext uri="{9D8B030D-6E8A-4147-A177-3AD203B41FA5}">
                      <a16:colId xmlns:a16="http://schemas.microsoft.com/office/drawing/2014/main" val="20001"/>
                    </a:ext>
                  </a:extLst>
                </a:gridCol>
                <a:gridCol w="2392000">
                  <a:extLst>
                    <a:ext uri="{9D8B030D-6E8A-4147-A177-3AD203B41FA5}">
                      <a16:colId xmlns:a16="http://schemas.microsoft.com/office/drawing/2014/main" val="20002"/>
                    </a:ext>
                  </a:extLst>
                </a:gridCol>
              </a:tblGrid>
              <a:tr h="764525">
                <a:tc>
                  <a:txBody>
                    <a:bodyPr/>
                    <a:lstStyle/>
                    <a:p>
                      <a:pPr marL="0" marR="0" lvl="0" indent="0" algn="ctr" rtl="0">
                        <a:spcBef>
                          <a:spcPts val="0"/>
                        </a:spcBef>
                        <a:spcAft>
                          <a:spcPts val="0"/>
                        </a:spcAft>
                        <a:buNone/>
                      </a:pPr>
                      <a:r>
                        <a:rPr lang="en-US" sz="3000" b="1" i="0" u="none" strike="noStrike" cap="none">
                          <a:solidFill>
                            <a:srgbClr val="000000"/>
                          </a:solidFill>
                          <a:latin typeface="Calibri"/>
                          <a:ea typeface="Calibri"/>
                          <a:cs typeface="Calibri"/>
                          <a:sym typeface="Calibri"/>
                        </a:rPr>
                        <a:t>CO No.</a:t>
                      </a:r>
                      <a:endParaRPr/>
                    </a:p>
                  </a:txBody>
                  <a:tcPr marL="14300" marR="14300" marT="14300"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3000" b="1" i="0" u="none" strike="noStrike" cap="none">
                          <a:solidFill>
                            <a:srgbClr val="000000"/>
                          </a:solidFill>
                          <a:latin typeface="Calibri"/>
                          <a:ea typeface="Calibri"/>
                          <a:cs typeface="Calibri"/>
                          <a:sym typeface="Calibri"/>
                        </a:rPr>
                        <a:t>Title</a:t>
                      </a:r>
                      <a:endParaRPr/>
                    </a:p>
                  </a:txBody>
                  <a:tcPr marL="14300" marR="14300" marT="1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3000" b="1" i="0" u="none" strike="noStrike" cap="none">
                          <a:solidFill>
                            <a:srgbClr val="000000"/>
                          </a:solidFill>
                          <a:latin typeface="Calibri"/>
                          <a:ea typeface="Calibri"/>
                          <a:cs typeface="Calibri"/>
                          <a:sym typeface="Calibri"/>
                        </a:rPr>
                        <a:t>BT Level</a:t>
                      </a:r>
                      <a:endParaRPr/>
                    </a:p>
                  </a:txBody>
                  <a:tcPr marL="14300" marR="14300" marT="14300"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529050">
                <a:tc>
                  <a:txBody>
                    <a:bodyPr/>
                    <a:lstStyle/>
                    <a:p>
                      <a:pPr marL="0" marR="0" lvl="0" indent="0" algn="ctr" rtl="0">
                        <a:spcBef>
                          <a:spcPts val="0"/>
                        </a:spcBef>
                        <a:spcAft>
                          <a:spcPts val="0"/>
                        </a:spcAft>
                        <a:buNone/>
                      </a:pPr>
                      <a:r>
                        <a:rPr lang="en-US" sz="2400" b="1" i="0" u="none" strike="noStrike" cap="none">
                          <a:solidFill>
                            <a:srgbClr val="00B050"/>
                          </a:solidFill>
                          <a:latin typeface="Times New Roman"/>
                          <a:ea typeface="Times New Roman"/>
                          <a:cs typeface="Times New Roman"/>
                          <a:sym typeface="Times New Roman"/>
                        </a:rPr>
                        <a:t>CO1</a:t>
                      </a:r>
                      <a:endParaRPr/>
                    </a:p>
                  </a:txBody>
                  <a:tcPr marL="14300" marR="14300" marT="14300"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Students will be able to understand the database system concepts and design databases for different applications. </a:t>
                      </a:r>
                      <a:endParaRPr/>
                    </a:p>
                  </a:txBody>
                  <a:tcPr marL="14300" marR="14300" marT="1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5B8B7"/>
                    </a:solidFill>
                  </a:tcPr>
                </a:tc>
                <a:tc>
                  <a:txBody>
                    <a:bodyPr/>
                    <a:lstStyle/>
                    <a:p>
                      <a:pPr marL="0" marR="0" lvl="0" indent="0" algn="ctr" rtl="0">
                        <a:spcBef>
                          <a:spcPts val="0"/>
                        </a:spcBef>
                        <a:spcAft>
                          <a:spcPts val="0"/>
                        </a:spcAft>
                        <a:buNone/>
                      </a:pPr>
                      <a:r>
                        <a:rPr lang="en-US" sz="3000" b="1" i="0" u="none" strike="noStrike" cap="none">
                          <a:solidFill>
                            <a:srgbClr val="C00000"/>
                          </a:solidFill>
                          <a:latin typeface="Calibri"/>
                          <a:ea typeface="Calibri"/>
                          <a:cs typeface="Calibri"/>
                          <a:sym typeface="Calibri"/>
                        </a:rPr>
                        <a:t>Memorize</a:t>
                      </a:r>
                      <a:endParaRPr/>
                    </a:p>
                  </a:txBody>
                  <a:tcPr marL="14300" marR="14300" marT="14300"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111575">
                <a:tc>
                  <a:txBody>
                    <a:bodyPr/>
                    <a:lstStyle/>
                    <a:p>
                      <a:pPr marL="0" marR="0" lvl="0" indent="0" algn="ctr" rtl="0">
                        <a:spcBef>
                          <a:spcPts val="0"/>
                        </a:spcBef>
                        <a:spcAft>
                          <a:spcPts val="0"/>
                        </a:spcAft>
                        <a:buNone/>
                      </a:pPr>
                      <a:r>
                        <a:rPr lang="en-US" sz="2400" b="1" i="0" u="none" strike="noStrike" cap="none">
                          <a:solidFill>
                            <a:srgbClr val="00B050"/>
                          </a:solidFill>
                          <a:latin typeface="Times New Roman"/>
                          <a:ea typeface="Times New Roman"/>
                          <a:cs typeface="Times New Roman"/>
                          <a:sym typeface="Times New Roman"/>
                        </a:rPr>
                        <a:t>CO2</a:t>
                      </a:r>
                      <a:endParaRPr/>
                    </a:p>
                  </a:txBody>
                  <a:tcPr marL="14300" marR="14300" marT="14300"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Students will be able to identify different types of DDL, DML, DCL and TCL commands and their usage.</a:t>
                      </a:r>
                      <a:endParaRPr sz="2400" b="1" i="0" u="none" strike="noStrike" cap="none">
                        <a:solidFill>
                          <a:srgbClr val="000000"/>
                        </a:solidFill>
                        <a:latin typeface="Times New Roman"/>
                        <a:ea typeface="Times New Roman"/>
                        <a:cs typeface="Times New Roman"/>
                        <a:sym typeface="Times New Roman"/>
                      </a:endParaRPr>
                    </a:p>
                    <a:p>
                      <a:pPr marL="0" marR="0" lvl="0" indent="0" algn="ctr" rtl="0">
                        <a:spcBef>
                          <a:spcPts val="0"/>
                        </a:spcBef>
                        <a:spcAft>
                          <a:spcPts val="0"/>
                        </a:spcAft>
                        <a:buNone/>
                      </a:pPr>
                      <a:endParaRPr sz="2400" b="1" i="0" u="none" strike="noStrike" cap="none">
                        <a:solidFill>
                          <a:srgbClr val="000000"/>
                        </a:solidFill>
                        <a:latin typeface="Times New Roman"/>
                        <a:ea typeface="Times New Roman"/>
                        <a:cs typeface="Times New Roman"/>
                        <a:sym typeface="Times New Roman"/>
                      </a:endParaRPr>
                    </a:p>
                  </a:txBody>
                  <a:tcPr marL="14300" marR="14300" marT="1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DE7"/>
                    </a:solidFill>
                  </a:tcPr>
                </a:tc>
                <a:tc>
                  <a:txBody>
                    <a:bodyPr/>
                    <a:lstStyle/>
                    <a:p>
                      <a:pPr marL="0" marR="0" lvl="0" indent="0" algn="ctr" rtl="0">
                        <a:spcBef>
                          <a:spcPts val="0"/>
                        </a:spcBef>
                        <a:spcAft>
                          <a:spcPts val="0"/>
                        </a:spcAft>
                        <a:buNone/>
                      </a:pPr>
                      <a:r>
                        <a:rPr lang="en-US" sz="3000" b="1" i="0" u="none" strike="noStrike" cap="none">
                          <a:solidFill>
                            <a:srgbClr val="C00000"/>
                          </a:solidFill>
                          <a:latin typeface="Calibri"/>
                          <a:ea typeface="Calibri"/>
                          <a:cs typeface="Calibri"/>
                          <a:sym typeface="Calibri"/>
                        </a:rPr>
                        <a:t>Understanding</a:t>
                      </a:r>
                      <a:endParaRPr/>
                    </a:p>
                  </a:txBody>
                  <a:tcPr marL="14300" marR="14300" marT="14300"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299700">
                <a:tc>
                  <a:txBody>
                    <a:bodyPr/>
                    <a:lstStyle/>
                    <a:p>
                      <a:pPr marL="0" marR="0" lvl="0" indent="0" algn="ctr" rtl="0">
                        <a:spcBef>
                          <a:spcPts val="0"/>
                        </a:spcBef>
                        <a:spcAft>
                          <a:spcPts val="0"/>
                        </a:spcAft>
                        <a:buNone/>
                      </a:pPr>
                      <a:r>
                        <a:rPr lang="en-US" sz="2400" b="1" i="0" u="none" strike="noStrike" cap="none">
                          <a:solidFill>
                            <a:srgbClr val="00B050"/>
                          </a:solidFill>
                          <a:highlight>
                            <a:srgbClr val="FFFF00"/>
                          </a:highlight>
                          <a:latin typeface="Times New Roman"/>
                          <a:ea typeface="Times New Roman"/>
                          <a:cs typeface="Times New Roman"/>
                          <a:sym typeface="Times New Roman"/>
                        </a:rPr>
                        <a:t>CO3</a:t>
                      </a:r>
                      <a:endParaRPr/>
                    </a:p>
                  </a:txBody>
                  <a:tcPr marL="14300" marR="14300" marT="14300"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Students will be able to classifying Normalization, Dependencies and Denormalization along with their requirements.</a:t>
                      </a:r>
                      <a:endParaRPr sz="2400" b="1" i="0" u="none" strike="noStrike" cap="none">
                        <a:solidFill>
                          <a:srgbClr val="000000"/>
                        </a:solidFill>
                        <a:latin typeface="Times New Roman"/>
                        <a:ea typeface="Times New Roman"/>
                        <a:cs typeface="Times New Roman"/>
                        <a:sym typeface="Times New Roman"/>
                      </a:endParaRPr>
                    </a:p>
                  </a:txBody>
                  <a:tcPr marL="14300" marR="14300" marT="1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ABF8E"/>
                    </a:solidFill>
                  </a:tcPr>
                </a:tc>
                <a:tc>
                  <a:txBody>
                    <a:bodyPr/>
                    <a:lstStyle/>
                    <a:p>
                      <a:pPr marL="0" marR="0" lvl="0" indent="0" algn="ctr" rtl="0">
                        <a:spcBef>
                          <a:spcPts val="0"/>
                        </a:spcBef>
                        <a:spcAft>
                          <a:spcPts val="0"/>
                        </a:spcAft>
                        <a:buNone/>
                      </a:pPr>
                      <a:r>
                        <a:rPr lang="en-US" sz="3000" b="1" i="0" u="none" strike="noStrike" cap="none">
                          <a:solidFill>
                            <a:srgbClr val="C00000"/>
                          </a:solidFill>
                          <a:highlight>
                            <a:srgbClr val="FFFF00"/>
                          </a:highlight>
                          <a:latin typeface="Calibri"/>
                          <a:ea typeface="Calibri"/>
                          <a:cs typeface="Calibri"/>
                          <a:sym typeface="Calibri"/>
                        </a:rPr>
                        <a:t>Apply</a:t>
                      </a:r>
                      <a:endParaRPr/>
                    </a:p>
                  </a:txBody>
                  <a:tcPr marL="14300" marR="14300" marT="14300"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764525">
                <a:tc>
                  <a:txBody>
                    <a:bodyPr/>
                    <a:lstStyle/>
                    <a:p>
                      <a:pPr marL="0" marR="0" lvl="0" indent="0" algn="ctr" rtl="0">
                        <a:spcBef>
                          <a:spcPts val="0"/>
                        </a:spcBef>
                        <a:spcAft>
                          <a:spcPts val="0"/>
                        </a:spcAft>
                        <a:buNone/>
                      </a:pPr>
                      <a:r>
                        <a:rPr lang="en-US" sz="2400" b="1" i="0" u="none" strike="noStrike" cap="none">
                          <a:solidFill>
                            <a:srgbClr val="00B050"/>
                          </a:solidFill>
                          <a:highlight>
                            <a:srgbClr val="FFFF00"/>
                          </a:highlight>
                          <a:latin typeface="Times New Roman"/>
                          <a:ea typeface="Times New Roman"/>
                          <a:cs typeface="Times New Roman"/>
                          <a:sym typeface="Times New Roman"/>
                        </a:rPr>
                        <a:t>CO4</a:t>
                      </a:r>
                      <a:endParaRPr/>
                    </a:p>
                  </a:txBody>
                  <a:tcPr marL="14300" marR="14300" marT="14300"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Students will be able to analyse and Compare Transaction Processing techniques and Recovery techniques.</a:t>
                      </a:r>
                      <a:endParaRPr sz="2400" b="1" i="0" u="none" strike="noStrike" cap="none">
                        <a:solidFill>
                          <a:srgbClr val="000000"/>
                        </a:solidFill>
                        <a:latin typeface="Times New Roman"/>
                        <a:ea typeface="Times New Roman"/>
                        <a:cs typeface="Times New Roman"/>
                        <a:sym typeface="Times New Roman"/>
                      </a:endParaRPr>
                    </a:p>
                  </a:txBody>
                  <a:tcPr marL="14300" marR="14300" marT="1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0D9"/>
                    </a:solidFill>
                  </a:tcPr>
                </a:tc>
                <a:tc>
                  <a:txBody>
                    <a:bodyPr/>
                    <a:lstStyle/>
                    <a:p>
                      <a:pPr marL="0" marR="0" lvl="0" indent="0" algn="ctr" rtl="0">
                        <a:spcBef>
                          <a:spcPts val="0"/>
                        </a:spcBef>
                        <a:spcAft>
                          <a:spcPts val="0"/>
                        </a:spcAft>
                        <a:buNone/>
                      </a:pPr>
                      <a:r>
                        <a:rPr lang="en-US" sz="3000" b="1" i="0" u="none" strike="noStrike" cap="none">
                          <a:solidFill>
                            <a:srgbClr val="C00000"/>
                          </a:solidFill>
                          <a:highlight>
                            <a:srgbClr val="FFFF00"/>
                          </a:highlight>
                          <a:latin typeface="Calibri"/>
                          <a:ea typeface="Calibri"/>
                          <a:cs typeface="Calibri"/>
                          <a:sym typeface="Calibri"/>
                        </a:rPr>
                        <a:t>Analyze</a:t>
                      </a:r>
                      <a:endParaRPr/>
                    </a:p>
                  </a:txBody>
                  <a:tcPr marL="14300" marR="14300" marT="14300"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1111575">
                <a:tc>
                  <a:txBody>
                    <a:bodyPr/>
                    <a:lstStyle/>
                    <a:p>
                      <a:pPr marL="0" marR="0" lvl="0" indent="0" algn="ctr" rtl="0">
                        <a:spcBef>
                          <a:spcPts val="0"/>
                        </a:spcBef>
                        <a:spcAft>
                          <a:spcPts val="0"/>
                        </a:spcAft>
                        <a:buNone/>
                      </a:pPr>
                      <a:r>
                        <a:rPr lang="en-US" sz="2400" b="1" i="0" u="none" strike="noStrike" cap="none">
                          <a:solidFill>
                            <a:srgbClr val="00B050"/>
                          </a:solidFill>
                          <a:latin typeface="Times New Roman"/>
                          <a:ea typeface="Times New Roman"/>
                          <a:cs typeface="Times New Roman"/>
                          <a:sym typeface="Times New Roman"/>
                        </a:rPr>
                        <a:t>CO5</a:t>
                      </a:r>
                      <a:endParaRPr/>
                    </a:p>
                  </a:txBody>
                  <a:tcPr marL="14300" marR="14300" marT="14300"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Students will be able to evaluate database performance after implementing Triggers, procedures, packages, cursors and views.</a:t>
                      </a:r>
                      <a:endParaRPr sz="2400" b="1" i="0" u="none" strike="noStrike" cap="none">
                        <a:solidFill>
                          <a:srgbClr val="000000"/>
                        </a:solidFill>
                        <a:latin typeface="Times New Roman"/>
                        <a:ea typeface="Times New Roman"/>
                        <a:cs typeface="Times New Roman"/>
                        <a:sym typeface="Times New Roman"/>
                      </a:endParaRPr>
                    </a:p>
                  </a:txBody>
                  <a:tcPr marL="14300" marR="14300" marT="1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8D8D8"/>
                    </a:solidFill>
                  </a:tcPr>
                </a:tc>
                <a:tc>
                  <a:txBody>
                    <a:bodyPr/>
                    <a:lstStyle/>
                    <a:p>
                      <a:pPr marL="0" marR="0" lvl="0" indent="0" algn="ctr" rtl="0">
                        <a:spcBef>
                          <a:spcPts val="0"/>
                        </a:spcBef>
                        <a:spcAft>
                          <a:spcPts val="0"/>
                        </a:spcAft>
                        <a:buNone/>
                      </a:pPr>
                      <a:r>
                        <a:rPr lang="en-US" sz="3000" b="1" i="0" u="none" strike="noStrike" cap="none">
                          <a:solidFill>
                            <a:srgbClr val="C00000"/>
                          </a:solidFill>
                          <a:latin typeface="Calibri"/>
                          <a:ea typeface="Calibri"/>
                          <a:cs typeface="Calibri"/>
                          <a:sym typeface="Calibri"/>
                        </a:rPr>
                        <a:t>Evaluate</a:t>
                      </a:r>
                      <a:endParaRPr/>
                    </a:p>
                  </a:txBody>
                  <a:tcPr marL="14300" marR="14300" marT="14300"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05" name="Google Shape;105;p3"/>
          <p:cNvSpPr txBox="1">
            <a:spLocks noGrp="1"/>
          </p:cNvSpPr>
          <p:nvPr>
            <p:ph type="title"/>
          </p:nvPr>
        </p:nvSpPr>
        <p:spPr>
          <a:xfrm>
            <a:off x="2579124" y="564285"/>
            <a:ext cx="11830050" cy="978759"/>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rgbClr val="C00000"/>
              </a:buClr>
              <a:buSzPts val="5400"/>
              <a:buFont typeface="Arial Rounded"/>
              <a:buNone/>
            </a:pPr>
            <a:r>
              <a:rPr lang="en-US" sz="5400" b="1">
                <a:solidFill>
                  <a:srgbClr val="C00000"/>
                </a:solidFill>
                <a:latin typeface="Arial Rounded"/>
                <a:ea typeface="Arial Rounded"/>
                <a:cs typeface="Arial Rounded"/>
                <a:sym typeface="Arial Rounded"/>
              </a:rPr>
              <a:t>COURSE OUTCOMES </a:t>
            </a:r>
            <a:endParaRPr sz="5400" b="1">
              <a:solidFill>
                <a:srgbClr val="C00000"/>
              </a:solidFill>
              <a:latin typeface="Arial Rounded"/>
              <a:ea typeface="Arial Rounded"/>
              <a:cs typeface="Arial Rounded"/>
              <a:sym typeface="Arial Rounded"/>
            </a:endParaRPr>
          </a:p>
        </p:txBody>
      </p:sp>
      <p:sp>
        <p:nvSpPr>
          <p:cNvPr id="106" name="Google Shape;106;p3"/>
          <p:cNvSpPr/>
          <p:nvPr/>
        </p:nvSpPr>
        <p:spPr>
          <a:xfrm>
            <a:off x="12557861" y="1742162"/>
            <a:ext cx="5403569" cy="6209852"/>
          </a:xfrm>
          <a:prstGeom prst="rect">
            <a:avLst/>
          </a:prstGeom>
          <a:noFill/>
          <a:ln w="25400" cap="flat" cmpd="sng">
            <a:solidFill>
              <a:srgbClr val="395E89"/>
            </a:solidFill>
            <a:prstDash val="solid"/>
            <a:round/>
            <a:headEnd type="none" w="sm" len="sm"/>
            <a:tailEnd type="none" w="sm" len="sm"/>
          </a:ln>
        </p:spPr>
        <p:txBody>
          <a:bodyPr spcFirstLastPara="1" wrap="square" lIns="137125" tIns="68550" rIns="137125" bIns="68550" anchor="ctr" anchorCtr="0">
            <a:noAutofit/>
          </a:bodyPr>
          <a:lstStyle/>
          <a:p>
            <a:pPr marL="0" marR="0" lvl="0" indent="0" algn="ctr" rtl="0">
              <a:lnSpc>
                <a:spcPct val="100000"/>
              </a:lnSpc>
              <a:spcBef>
                <a:spcPts val="0"/>
              </a:spcBef>
              <a:spcAft>
                <a:spcPts val="0"/>
              </a:spcAft>
              <a:buNone/>
            </a:pPr>
            <a:endParaRPr sz="2700" b="0" i="0" u="none" strike="noStrike" cap="none">
              <a:solidFill>
                <a:schemeClr val="lt1"/>
              </a:solidFill>
              <a:latin typeface="Calibri"/>
              <a:ea typeface="Calibri"/>
              <a:cs typeface="Calibri"/>
              <a:sym typeface="Calibri"/>
            </a:endParaRPr>
          </a:p>
        </p:txBody>
      </p:sp>
      <p:sp>
        <p:nvSpPr>
          <p:cNvPr id="107" name="Google Shape;107;p3"/>
          <p:cNvSpPr/>
          <p:nvPr/>
        </p:nvSpPr>
        <p:spPr>
          <a:xfrm>
            <a:off x="13729608" y="2770939"/>
            <a:ext cx="3367341" cy="1602311"/>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137125" tIns="68550" rIns="137125" bIns="68550" anchor="ctr" anchorCtr="0">
            <a:noAutofit/>
          </a:bodyPr>
          <a:lstStyle/>
          <a:p>
            <a:pPr marL="0" marR="0" lvl="0" indent="0" algn="ctr" rtl="0">
              <a:lnSpc>
                <a:spcPct val="100000"/>
              </a:lnSpc>
              <a:spcBef>
                <a:spcPts val="0"/>
              </a:spcBef>
              <a:spcAft>
                <a:spcPts val="0"/>
              </a:spcAft>
              <a:buNone/>
            </a:pPr>
            <a:r>
              <a:rPr lang="en-US" sz="2700" b="0" i="0" u="none" strike="noStrike" cap="none">
                <a:solidFill>
                  <a:schemeClr val="dk1"/>
                </a:solidFill>
                <a:latin typeface="Calibri"/>
                <a:ea typeface="Calibri"/>
                <a:cs typeface="Calibri"/>
                <a:sym typeface="Calibri"/>
              </a:rPr>
              <a:t>Will be covered in this lecture</a:t>
            </a:r>
            <a:endParaRPr sz="2100" b="0" i="0" u="none" strike="noStrike" cap="none">
              <a:solidFill>
                <a:srgbClr val="000000"/>
              </a:solidFill>
              <a:latin typeface="Arial"/>
              <a:ea typeface="Arial"/>
              <a:cs typeface="Arial"/>
              <a:sym typeface="Arial"/>
            </a:endParaRPr>
          </a:p>
        </p:txBody>
      </p:sp>
      <p:cxnSp>
        <p:nvCxnSpPr>
          <p:cNvPr id="108" name="Google Shape;108;p3"/>
          <p:cNvCxnSpPr/>
          <p:nvPr/>
        </p:nvCxnSpPr>
        <p:spPr>
          <a:xfrm rot="10800000" flipH="1">
            <a:off x="11882341" y="4472810"/>
            <a:ext cx="4043459" cy="3217190"/>
          </a:xfrm>
          <a:prstGeom prst="straightConnector1">
            <a:avLst/>
          </a:prstGeom>
          <a:noFill/>
          <a:ln w="9525" cap="flat" cmpd="sng">
            <a:solidFill>
              <a:srgbClr val="4A7DBA"/>
            </a:solidFill>
            <a:prstDash val="solid"/>
            <a:round/>
            <a:headEnd type="none" w="sm" len="sm"/>
            <a:tailEnd type="triangle" w="med" len="med"/>
          </a:ln>
        </p:spPr>
      </p:cxnSp>
      <p:cxnSp>
        <p:nvCxnSpPr>
          <p:cNvPr id="109" name="Google Shape;109;p3"/>
          <p:cNvCxnSpPr/>
          <p:nvPr/>
        </p:nvCxnSpPr>
        <p:spPr>
          <a:xfrm rot="10800000" flipH="1">
            <a:off x="11620636" y="4472810"/>
            <a:ext cx="2983283" cy="2332410"/>
          </a:xfrm>
          <a:prstGeom prst="straightConnector1">
            <a:avLst/>
          </a:prstGeom>
          <a:noFill/>
          <a:ln w="9525" cap="flat" cmpd="sng">
            <a:solidFill>
              <a:srgbClr val="4A7DBA"/>
            </a:solidFill>
            <a:prstDash val="solid"/>
            <a:round/>
            <a:headEnd type="none" w="sm" len="sm"/>
            <a:tailEnd type="triangl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4"/>
          <p:cNvSpPr/>
          <p:nvPr/>
        </p:nvSpPr>
        <p:spPr>
          <a:xfrm>
            <a:off x="572870" y="2887520"/>
            <a:ext cx="17324297" cy="4978735"/>
          </a:xfrm>
          <a:prstGeom prst="rect">
            <a:avLst/>
          </a:prstGeom>
          <a:noFill/>
          <a:ln>
            <a:noFill/>
          </a:ln>
        </p:spPr>
        <p:txBody>
          <a:bodyPr spcFirstLastPara="1" wrap="square" lIns="91425" tIns="45700" rIns="91425" bIns="45700" anchor="t" anchorCtr="0">
            <a:spAutoFit/>
          </a:bodyPr>
          <a:lstStyle/>
          <a:p>
            <a:pPr marL="514350" marR="0" lvl="0" indent="-514350" algn="l" rtl="0">
              <a:lnSpc>
                <a:spcPct val="150000"/>
              </a:lnSpc>
              <a:spcBef>
                <a:spcPts val="0"/>
              </a:spcBef>
              <a:spcAft>
                <a:spcPts val="0"/>
              </a:spcAft>
              <a:buClr>
                <a:schemeClr val="dk1"/>
              </a:buClr>
              <a:buSzPts val="3600"/>
              <a:buFont typeface="Calibri"/>
              <a:buAutoNum type="arabicPeriod"/>
            </a:pPr>
            <a:r>
              <a:rPr lang="en-US" sz="3600" b="0" i="0" u="none" strike="noStrike" cap="none">
                <a:solidFill>
                  <a:schemeClr val="dk1"/>
                </a:solidFill>
                <a:latin typeface="Times New Roman"/>
                <a:ea typeface="Times New Roman"/>
                <a:cs typeface="Times New Roman"/>
                <a:sym typeface="Times New Roman"/>
              </a:rPr>
              <a:t>To have good </a:t>
            </a:r>
            <a:r>
              <a:rPr lang="en-US" sz="3600" b="1" i="0" u="none" strike="noStrike" cap="none">
                <a:solidFill>
                  <a:schemeClr val="dk1"/>
                </a:solidFill>
                <a:latin typeface="Times New Roman"/>
                <a:ea typeface="Times New Roman"/>
                <a:cs typeface="Times New Roman"/>
                <a:sym typeface="Times New Roman"/>
              </a:rPr>
              <a:t>understanding of database system </a:t>
            </a:r>
            <a:r>
              <a:rPr lang="en-US" sz="3600" b="0" i="0" u="none" strike="noStrike" cap="none">
                <a:solidFill>
                  <a:schemeClr val="dk1"/>
                </a:solidFill>
                <a:latin typeface="Times New Roman"/>
                <a:ea typeface="Times New Roman"/>
                <a:cs typeface="Times New Roman"/>
                <a:sym typeface="Times New Roman"/>
              </a:rPr>
              <a:t>concepts and </a:t>
            </a:r>
            <a:r>
              <a:rPr lang="en-US" sz="3600" b="1" i="0" u="none" strike="noStrike" cap="none">
                <a:solidFill>
                  <a:schemeClr val="dk1"/>
                </a:solidFill>
                <a:latin typeface="Times New Roman"/>
                <a:ea typeface="Times New Roman"/>
                <a:cs typeface="Times New Roman"/>
                <a:sym typeface="Times New Roman"/>
              </a:rPr>
              <a:t>design databases </a:t>
            </a:r>
            <a:r>
              <a:rPr lang="en-US" sz="3600" b="0" i="0" u="none" strike="noStrike" cap="none">
                <a:solidFill>
                  <a:schemeClr val="dk1"/>
                </a:solidFill>
                <a:latin typeface="Times New Roman"/>
                <a:ea typeface="Times New Roman"/>
                <a:cs typeface="Times New Roman"/>
                <a:sym typeface="Times New Roman"/>
              </a:rPr>
              <a:t>for different applications.</a:t>
            </a:r>
            <a:endParaRPr/>
          </a:p>
          <a:p>
            <a:pPr marL="514350" marR="0" lvl="0" indent="-514350" algn="l" rtl="0">
              <a:lnSpc>
                <a:spcPct val="150000"/>
              </a:lnSpc>
              <a:spcBef>
                <a:spcPts val="0"/>
              </a:spcBef>
              <a:spcAft>
                <a:spcPts val="0"/>
              </a:spcAft>
              <a:buClr>
                <a:schemeClr val="dk1"/>
              </a:buClr>
              <a:buSzPts val="3600"/>
              <a:buFont typeface="Calibri"/>
              <a:buAutoNum type="arabicPeriod"/>
            </a:pPr>
            <a:r>
              <a:rPr lang="en-US" sz="3600" b="0" i="0" u="none" strike="noStrike" cap="none">
                <a:solidFill>
                  <a:schemeClr val="dk1"/>
                </a:solidFill>
                <a:latin typeface="Times New Roman"/>
                <a:ea typeface="Times New Roman"/>
                <a:cs typeface="Times New Roman"/>
                <a:sym typeface="Times New Roman"/>
              </a:rPr>
              <a:t>To learn how to use a </a:t>
            </a:r>
            <a:r>
              <a:rPr lang="en-US" sz="3600" b="1" i="0" u="none" strike="noStrike" cap="none">
                <a:solidFill>
                  <a:schemeClr val="dk1"/>
                </a:solidFill>
                <a:latin typeface="Times New Roman"/>
                <a:ea typeface="Times New Roman"/>
                <a:cs typeface="Times New Roman"/>
                <a:sym typeface="Times New Roman"/>
              </a:rPr>
              <a:t>DBMS and RDBMS.</a:t>
            </a:r>
            <a:endParaRPr/>
          </a:p>
          <a:p>
            <a:pPr marL="514350" marR="0" lvl="0" indent="-514350" algn="l" rtl="0">
              <a:lnSpc>
                <a:spcPct val="150000"/>
              </a:lnSpc>
              <a:spcBef>
                <a:spcPts val="0"/>
              </a:spcBef>
              <a:spcAft>
                <a:spcPts val="0"/>
              </a:spcAft>
              <a:buClr>
                <a:schemeClr val="dk1"/>
              </a:buClr>
              <a:buSzPts val="3600"/>
              <a:buFont typeface="Calibri"/>
              <a:buAutoNum type="arabicPeriod"/>
            </a:pPr>
            <a:r>
              <a:rPr lang="en-US" sz="3600" b="0" i="0" u="none" strike="noStrike" cap="none">
                <a:solidFill>
                  <a:schemeClr val="dk1"/>
                </a:solidFill>
                <a:latin typeface="Times New Roman"/>
                <a:ea typeface="Times New Roman"/>
                <a:cs typeface="Times New Roman"/>
                <a:sym typeface="Times New Roman"/>
              </a:rPr>
              <a:t>To implement and understand different types of </a:t>
            </a:r>
            <a:r>
              <a:rPr lang="en-US" sz="3600" b="1" i="0" u="none" strike="noStrike" cap="none">
                <a:solidFill>
                  <a:schemeClr val="dk1"/>
                </a:solidFill>
                <a:latin typeface="Times New Roman"/>
                <a:ea typeface="Times New Roman"/>
                <a:cs typeface="Times New Roman"/>
                <a:sym typeface="Times New Roman"/>
              </a:rPr>
              <a:t>DDL, DML and DCL </a:t>
            </a:r>
            <a:r>
              <a:rPr lang="en-US" sz="3600" b="0" i="0" u="none" strike="noStrike" cap="none">
                <a:solidFill>
                  <a:schemeClr val="dk1"/>
                </a:solidFill>
                <a:latin typeface="Times New Roman"/>
                <a:ea typeface="Times New Roman"/>
                <a:cs typeface="Times New Roman"/>
                <a:sym typeface="Times New Roman"/>
              </a:rPr>
              <a:t>statements.</a:t>
            </a:r>
            <a:endParaRPr/>
          </a:p>
          <a:p>
            <a:pPr marL="514350" marR="0" lvl="0" indent="-514350" algn="l" rtl="0">
              <a:lnSpc>
                <a:spcPct val="150000"/>
              </a:lnSpc>
              <a:spcBef>
                <a:spcPts val="0"/>
              </a:spcBef>
              <a:spcAft>
                <a:spcPts val="0"/>
              </a:spcAft>
              <a:buClr>
                <a:schemeClr val="dk1"/>
              </a:buClr>
              <a:buSzPts val="3600"/>
              <a:buFont typeface="Calibri"/>
              <a:buAutoNum type="arabicPeriod"/>
            </a:pPr>
            <a:r>
              <a:rPr lang="en-US" sz="3600" b="0" i="0" u="none" strike="noStrike" cap="none">
                <a:solidFill>
                  <a:schemeClr val="dk1"/>
                </a:solidFill>
                <a:latin typeface="Times New Roman"/>
                <a:ea typeface="Times New Roman"/>
                <a:cs typeface="Times New Roman"/>
                <a:sym typeface="Times New Roman"/>
              </a:rPr>
              <a:t>To understand </a:t>
            </a:r>
            <a:r>
              <a:rPr lang="en-US" sz="3600" b="1" i="0" u="none" strike="noStrike" cap="none">
                <a:solidFill>
                  <a:schemeClr val="dk1"/>
                </a:solidFill>
                <a:latin typeface="Times New Roman"/>
                <a:ea typeface="Times New Roman"/>
                <a:cs typeface="Times New Roman"/>
                <a:sym typeface="Times New Roman"/>
              </a:rPr>
              <a:t>transaction concepts </a:t>
            </a:r>
            <a:r>
              <a:rPr lang="en-US" sz="3600" b="0" i="0" u="none" strike="noStrike" cap="none">
                <a:solidFill>
                  <a:schemeClr val="dk1"/>
                </a:solidFill>
                <a:latin typeface="Times New Roman"/>
                <a:ea typeface="Times New Roman"/>
                <a:cs typeface="Times New Roman"/>
                <a:sym typeface="Times New Roman"/>
              </a:rPr>
              <a:t>related to databases and </a:t>
            </a:r>
            <a:r>
              <a:rPr lang="en-US" sz="3600" b="1" i="0" u="none" strike="noStrike" cap="none">
                <a:solidFill>
                  <a:schemeClr val="dk1"/>
                </a:solidFill>
                <a:latin typeface="Times New Roman"/>
                <a:ea typeface="Times New Roman"/>
                <a:cs typeface="Times New Roman"/>
                <a:sym typeface="Times New Roman"/>
              </a:rPr>
              <a:t>recovery/backup techniques </a:t>
            </a:r>
            <a:r>
              <a:rPr lang="en-US" sz="3600" b="0" i="0" u="none" strike="noStrike" cap="none">
                <a:solidFill>
                  <a:schemeClr val="dk1"/>
                </a:solidFill>
                <a:latin typeface="Times New Roman"/>
                <a:ea typeface="Times New Roman"/>
                <a:cs typeface="Times New Roman"/>
                <a:sym typeface="Times New Roman"/>
              </a:rPr>
              <a:t>required for the proper storage of data.</a:t>
            </a:r>
            <a:endParaRPr/>
          </a:p>
        </p:txBody>
      </p:sp>
      <p:sp>
        <p:nvSpPr>
          <p:cNvPr id="115" name="Google Shape;115;p4"/>
          <p:cNvSpPr/>
          <p:nvPr/>
        </p:nvSpPr>
        <p:spPr>
          <a:xfrm>
            <a:off x="1883657" y="2077157"/>
            <a:ext cx="11032244"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0" i="0" u="none" strike="noStrike" cap="none">
                <a:solidFill>
                  <a:schemeClr val="dk1"/>
                </a:solidFill>
                <a:latin typeface="Times New Roman"/>
                <a:ea typeface="Times New Roman"/>
                <a:cs typeface="Times New Roman"/>
                <a:sym typeface="Times New Roman"/>
              </a:rPr>
              <a:t>This course will enable students to,</a:t>
            </a:r>
            <a:endParaRPr/>
          </a:p>
        </p:txBody>
      </p:sp>
      <p:sp>
        <p:nvSpPr>
          <p:cNvPr id="116" name="Google Shape;116;p4"/>
          <p:cNvSpPr txBox="1">
            <a:spLocks noGrp="1"/>
          </p:cNvSpPr>
          <p:nvPr>
            <p:ph type="title"/>
          </p:nvPr>
        </p:nvSpPr>
        <p:spPr>
          <a:xfrm>
            <a:off x="3614472" y="659973"/>
            <a:ext cx="11830050" cy="854080"/>
          </a:xfrm>
          <a:prstGeom prst="rect">
            <a:avLst/>
          </a:prstGeom>
          <a:noFill/>
          <a:ln>
            <a:noFill/>
          </a:ln>
        </p:spPr>
        <p:txBody>
          <a:bodyPr spcFirstLastPara="1" wrap="square" lIns="91425" tIns="45700" rIns="91425" bIns="45700" anchor="ctr" anchorCtr="0">
            <a:spAutoFit/>
          </a:bodyPr>
          <a:lstStyle/>
          <a:p>
            <a:pPr marL="0" lvl="0" indent="0" algn="ctr" rtl="0">
              <a:spcBef>
                <a:spcPts val="0"/>
              </a:spcBef>
              <a:spcAft>
                <a:spcPts val="0"/>
              </a:spcAft>
              <a:buClr>
                <a:srgbClr val="C00000"/>
              </a:buClr>
              <a:buSzPts val="4950"/>
              <a:buFont typeface="Arial Rounded"/>
              <a:buNone/>
            </a:pPr>
            <a:r>
              <a:rPr lang="en-US" sz="4950" b="1">
                <a:solidFill>
                  <a:srgbClr val="C00000"/>
                </a:solidFill>
                <a:latin typeface="Arial Rounded"/>
                <a:ea typeface="Arial Rounded"/>
                <a:cs typeface="Arial Rounded"/>
                <a:sym typeface="Arial Rounded"/>
              </a:rPr>
              <a:t>COURSE OBJECTIVES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5"/>
          <p:cNvSpPr txBox="1"/>
          <p:nvPr/>
        </p:nvSpPr>
        <p:spPr>
          <a:xfrm>
            <a:off x="3228975" y="988517"/>
            <a:ext cx="11830050" cy="1513235"/>
          </a:xfrm>
          <a:prstGeom prst="rect">
            <a:avLst/>
          </a:prstGeom>
          <a:noFill/>
          <a:ln>
            <a:noFill/>
          </a:ln>
        </p:spPr>
        <p:txBody>
          <a:bodyPr spcFirstLastPara="1" wrap="square" lIns="0" tIns="0" rIns="0" bIns="0" anchor="t" anchorCtr="0">
            <a:spAutoFit/>
          </a:bodyPr>
          <a:lstStyle/>
          <a:p>
            <a:pPr marL="0" marR="0" lvl="0" indent="0" algn="ctr" rtl="0">
              <a:lnSpc>
                <a:spcPct val="120012"/>
              </a:lnSpc>
              <a:spcBef>
                <a:spcPts val="0"/>
              </a:spcBef>
              <a:spcAft>
                <a:spcPts val="0"/>
              </a:spcAft>
              <a:buNone/>
            </a:pPr>
            <a:r>
              <a:rPr lang="en-US" sz="4922" b="1">
                <a:solidFill>
                  <a:srgbClr val="C00000"/>
                </a:solidFill>
                <a:latin typeface="Arimo"/>
                <a:ea typeface="Arimo"/>
                <a:cs typeface="Arimo"/>
                <a:sym typeface="Arimo"/>
              </a:rPr>
              <a:t>Topics covered</a:t>
            </a:r>
            <a:endParaRPr/>
          </a:p>
          <a:p>
            <a:pPr marL="0" marR="0" lvl="0" indent="0" algn="ctr" rtl="0">
              <a:lnSpc>
                <a:spcPct val="120012"/>
              </a:lnSpc>
              <a:spcBef>
                <a:spcPts val="0"/>
              </a:spcBef>
              <a:spcAft>
                <a:spcPts val="0"/>
              </a:spcAft>
              <a:buNone/>
            </a:pPr>
            <a:r>
              <a:rPr lang="en-US" sz="4922" b="1">
                <a:solidFill>
                  <a:srgbClr val="C00000"/>
                </a:solidFill>
                <a:latin typeface="Arimo"/>
                <a:ea typeface="Arimo"/>
                <a:cs typeface="Arimo"/>
                <a:sym typeface="Arimo"/>
              </a:rPr>
              <a:t> </a:t>
            </a:r>
            <a:endParaRPr/>
          </a:p>
        </p:txBody>
      </p:sp>
      <p:sp>
        <p:nvSpPr>
          <p:cNvPr id="126" name="Google Shape;126;p5"/>
          <p:cNvSpPr txBox="1"/>
          <p:nvPr/>
        </p:nvSpPr>
        <p:spPr>
          <a:xfrm>
            <a:off x="2895600" y="2837301"/>
            <a:ext cx="10581783" cy="969689"/>
          </a:xfrm>
          <a:prstGeom prst="rect">
            <a:avLst/>
          </a:prstGeom>
          <a:noFill/>
          <a:ln>
            <a:noFill/>
          </a:ln>
        </p:spPr>
        <p:txBody>
          <a:bodyPr spcFirstLastPara="1" wrap="square" lIns="0" tIns="0" rIns="0" bIns="0" anchor="t" anchorCtr="0">
            <a:spAutoFit/>
          </a:bodyPr>
          <a:lstStyle/>
          <a:p>
            <a:pPr marL="0" marR="0" lvl="0" indent="0" algn="ctr" rtl="0">
              <a:lnSpc>
                <a:spcPct val="107833"/>
              </a:lnSpc>
              <a:spcBef>
                <a:spcPts val="0"/>
              </a:spcBef>
              <a:spcAft>
                <a:spcPts val="0"/>
              </a:spcAft>
              <a:buNone/>
            </a:pPr>
            <a:r>
              <a:rPr lang="en-US" sz="3600" b="1">
                <a:solidFill>
                  <a:schemeClr val="dk1"/>
                </a:solidFill>
                <a:latin typeface="Times New Roman"/>
                <a:ea typeface="Times New Roman"/>
                <a:cs typeface="Times New Roman"/>
                <a:sym typeface="Times New Roman"/>
              </a:rPr>
              <a:t>Transaction Management and Concurrency Control:</a:t>
            </a:r>
            <a:endParaRPr/>
          </a:p>
          <a:p>
            <a:pPr marL="0" marR="0" lvl="0" indent="0" algn="ctr" rtl="0">
              <a:lnSpc>
                <a:spcPct val="120037"/>
              </a:lnSpc>
              <a:spcBef>
                <a:spcPts val="0"/>
              </a:spcBef>
              <a:spcAft>
                <a:spcPts val="0"/>
              </a:spcAft>
              <a:buNone/>
            </a:pPr>
            <a:endParaRPr sz="3234" b="1">
              <a:solidFill>
                <a:srgbClr val="000000"/>
              </a:solidFill>
              <a:latin typeface="Arial"/>
              <a:ea typeface="Arial"/>
              <a:cs typeface="Arial"/>
              <a:sym typeface="Arial"/>
            </a:endParaRPr>
          </a:p>
        </p:txBody>
      </p:sp>
      <p:sp>
        <p:nvSpPr>
          <p:cNvPr id="127" name="Google Shape;127;p5"/>
          <p:cNvSpPr txBox="1"/>
          <p:nvPr/>
        </p:nvSpPr>
        <p:spPr>
          <a:xfrm>
            <a:off x="3090674" y="3768171"/>
            <a:ext cx="12596510" cy="1308050"/>
          </a:xfrm>
          <a:prstGeom prst="rect">
            <a:avLst/>
          </a:prstGeom>
          <a:noFill/>
          <a:ln>
            <a:noFill/>
          </a:ln>
        </p:spPr>
        <p:txBody>
          <a:bodyPr spcFirstLastPara="1" wrap="square" lIns="0" tIns="0" rIns="0" bIns="0" anchor="t" anchorCtr="0">
            <a:spAutoFit/>
          </a:bodyPr>
          <a:lstStyle/>
          <a:p>
            <a:pPr marL="0" marR="0" lvl="0" indent="0" algn="just" rtl="0">
              <a:lnSpc>
                <a:spcPct val="112500"/>
              </a:lnSpc>
              <a:spcBef>
                <a:spcPts val="0"/>
              </a:spcBef>
              <a:spcAft>
                <a:spcPts val="0"/>
              </a:spcAft>
              <a:buNone/>
            </a:pPr>
            <a:r>
              <a:rPr lang="en-US" sz="3000">
                <a:solidFill>
                  <a:schemeClr val="dk1"/>
                </a:solidFill>
                <a:latin typeface="Calibri"/>
                <a:ea typeface="Calibri"/>
                <a:cs typeface="Calibri"/>
                <a:sym typeface="Calibri"/>
              </a:rPr>
              <a:t>Introduction to Transaction Processing, Properties of Transactions, Serializability and Recoverability, Need for Concurrency Control, Locking Techniques, Time Stamping Methods, Optimistic Techniques and Granularity of Data items.</a:t>
            </a:r>
            <a:endParaRPr sz="30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133" name="Google Shape;133;p6"/>
          <p:cNvSpPr txBox="1"/>
          <p:nvPr/>
        </p:nvSpPr>
        <p:spPr>
          <a:xfrm>
            <a:off x="1279120" y="771975"/>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Transaction Management</a:t>
            </a:r>
            <a:endParaRPr dirty="0"/>
          </a:p>
        </p:txBody>
      </p:sp>
      <p:sp>
        <p:nvSpPr>
          <p:cNvPr id="134" name="Google Shape;134;p6"/>
          <p:cNvSpPr/>
          <p:nvPr/>
        </p:nvSpPr>
        <p:spPr>
          <a:xfrm>
            <a:off x="12470169" y="3338152"/>
            <a:ext cx="5112246" cy="4354110"/>
          </a:xfrm>
          <a:custGeom>
            <a:avLst/>
            <a:gdLst/>
            <a:ahLst/>
            <a:cxnLst/>
            <a:rect l="l" t="t" r="r" b="b"/>
            <a:pathLst>
              <a:path w="5112246" h="4354110" extrusionOk="0">
                <a:moveTo>
                  <a:pt x="0" y="0"/>
                </a:moveTo>
                <a:lnTo>
                  <a:pt x="5112246" y="0"/>
                </a:lnTo>
                <a:lnTo>
                  <a:pt x="5112246" y="4354109"/>
                </a:lnTo>
                <a:lnTo>
                  <a:pt x="0" y="4354109"/>
                </a:lnTo>
                <a:lnTo>
                  <a:pt x="0" y="0"/>
                </a:lnTo>
                <a:close/>
              </a:path>
            </a:pathLst>
          </a:custGeom>
          <a:blipFill rotWithShape="1">
            <a:blip r:embed="rId4">
              <a:alphaModFix/>
            </a:blip>
            <a:stretch>
              <a:fillRect r="-66331" b="-17269"/>
            </a:stretch>
          </a:blipFill>
          <a:ln>
            <a:noFill/>
          </a:ln>
        </p:spPr>
      </p:sp>
      <p:sp>
        <p:nvSpPr>
          <p:cNvPr id="135" name="Google Shape;135;p6"/>
          <p:cNvSpPr txBox="1"/>
          <p:nvPr/>
        </p:nvSpPr>
        <p:spPr>
          <a:xfrm>
            <a:off x="1583870" y="2173108"/>
            <a:ext cx="9936461" cy="7179658"/>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Transactions are a set of operations used to perform a logical set of work. A transaction usually means that the data in the database has changed. One of the major uses of DBMS is to protect the user data from system failures. It is done by ensuring that all the data is restored to a consistent state when the computer is restarted after a crash. The transaction is any one execution of the user program in a DBMS. One of the important properties of the transaction is that it contains a finite number of steps. Executing the same program multiple times will generate multiple transactions. </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7"/>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141" name="Google Shape;141;p7"/>
          <p:cNvSpPr txBox="1"/>
          <p:nvPr/>
        </p:nvSpPr>
        <p:spPr>
          <a:xfrm>
            <a:off x="1279120" y="771975"/>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Transaction Management</a:t>
            </a:r>
            <a:endParaRPr dirty="0"/>
          </a:p>
        </p:txBody>
      </p:sp>
      <p:sp>
        <p:nvSpPr>
          <p:cNvPr id="142" name="Google Shape;142;p7"/>
          <p:cNvSpPr txBox="1"/>
          <p:nvPr/>
        </p:nvSpPr>
        <p:spPr>
          <a:xfrm>
            <a:off x="1279120" y="2173108"/>
            <a:ext cx="16152477" cy="7777963"/>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b="1" dirty="0">
                <a:solidFill>
                  <a:srgbClr val="000000"/>
                </a:solidFill>
                <a:latin typeface="Times"/>
                <a:ea typeface="Times"/>
                <a:cs typeface="Times"/>
                <a:sym typeface="Times"/>
              </a:rPr>
              <a:t>Example:</a:t>
            </a:r>
            <a:r>
              <a:rPr lang="en-US" sz="3600" dirty="0">
                <a:solidFill>
                  <a:srgbClr val="000000"/>
                </a:solidFill>
                <a:latin typeface="Times New Roman"/>
                <a:ea typeface="Times New Roman"/>
                <a:cs typeface="Times New Roman"/>
                <a:sym typeface="Times New Roman"/>
              </a:rPr>
              <a:t> Consider the following example of transaction operations to be performed to withdraw cash from an ATM vestibule.</a:t>
            </a:r>
            <a:endParaRPr dirty="0"/>
          </a:p>
          <a:p>
            <a:pPr marL="0" marR="0" lvl="0" indent="0" algn="just" rtl="0">
              <a:lnSpc>
                <a:spcPct val="108000"/>
              </a:lnSpc>
              <a:spcBef>
                <a:spcPts val="0"/>
              </a:spcBef>
              <a:spcAft>
                <a:spcPts val="0"/>
              </a:spcAft>
              <a:buNone/>
            </a:pPr>
            <a:r>
              <a:rPr lang="en-US" sz="3600" b="1" dirty="0">
                <a:solidFill>
                  <a:srgbClr val="000000"/>
                </a:solidFill>
                <a:latin typeface="Times New Roman"/>
                <a:ea typeface="Times New Roman"/>
                <a:cs typeface="Times New Roman"/>
                <a:sym typeface="Times New Roman"/>
              </a:rPr>
              <a:t>Steps for ATM Transaction </a:t>
            </a:r>
            <a:endParaRPr b="1" dirty="0"/>
          </a:p>
          <a:p>
            <a:pPr marL="777240" marR="0" lvl="1" indent="-388620" algn="just" rtl="0">
              <a:lnSpc>
                <a:spcPct val="108000"/>
              </a:lnSpc>
              <a:spcBef>
                <a:spcPts val="0"/>
              </a:spcBef>
              <a:spcAft>
                <a:spcPts val="0"/>
              </a:spcAft>
              <a:buClr>
                <a:srgbClr val="000000"/>
              </a:buClr>
              <a:buSzPts val="3600"/>
              <a:buFont typeface="Times New Roman"/>
              <a:buAutoNum type="arabicPeriod"/>
            </a:pPr>
            <a:r>
              <a:rPr lang="en-US" sz="3600" b="0" i="0" u="none" strike="noStrike" cap="none" dirty="0">
                <a:solidFill>
                  <a:srgbClr val="000000"/>
                </a:solidFill>
                <a:latin typeface="Times New Roman"/>
                <a:ea typeface="Times New Roman"/>
                <a:cs typeface="Times New Roman"/>
                <a:sym typeface="Times New Roman"/>
              </a:rPr>
              <a:t>Transaction Start.</a:t>
            </a:r>
            <a:endParaRPr dirty="0"/>
          </a:p>
          <a:p>
            <a:pPr marL="777240" marR="0" lvl="1" indent="-388620" algn="just" rtl="0">
              <a:lnSpc>
                <a:spcPct val="108000"/>
              </a:lnSpc>
              <a:spcBef>
                <a:spcPts val="0"/>
              </a:spcBef>
              <a:spcAft>
                <a:spcPts val="0"/>
              </a:spcAft>
              <a:buClr>
                <a:srgbClr val="000000"/>
              </a:buClr>
              <a:buSzPts val="3600"/>
              <a:buFont typeface="Times New Roman"/>
              <a:buAutoNum type="arabicPeriod"/>
            </a:pPr>
            <a:r>
              <a:rPr lang="en-US" sz="3600" b="0" i="0" u="none" strike="noStrike" cap="none" dirty="0">
                <a:solidFill>
                  <a:srgbClr val="000000"/>
                </a:solidFill>
                <a:latin typeface="Times New Roman"/>
                <a:ea typeface="Times New Roman"/>
                <a:cs typeface="Times New Roman"/>
                <a:sym typeface="Times New Roman"/>
              </a:rPr>
              <a:t>Insert your ATM card.</a:t>
            </a:r>
            <a:endParaRPr dirty="0"/>
          </a:p>
          <a:p>
            <a:pPr marL="777240" marR="0" lvl="1" indent="-388620" algn="just" rtl="0">
              <a:lnSpc>
                <a:spcPct val="108000"/>
              </a:lnSpc>
              <a:spcBef>
                <a:spcPts val="0"/>
              </a:spcBef>
              <a:spcAft>
                <a:spcPts val="0"/>
              </a:spcAft>
              <a:buClr>
                <a:srgbClr val="000000"/>
              </a:buClr>
              <a:buSzPts val="3600"/>
              <a:buFont typeface="Times New Roman"/>
              <a:buAutoNum type="arabicPeriod"/>
            </a:pPr>
            <a:r>
              <a:rPr lang="en-US" sz="3600" b="0" i="0" u="none" strike="noStrike" cap="none" dirty="0">
                <a:solidFill>
                  <a:srgbClr val="000000"/>
                </a:solidFill>
                <a:latin typeface="Times New Roman"/>
                <a:ea typeface="Times New Roman"/>
                <a:cs typeface="Times New Roman"/>
                <a:sym typeface="Times New Roman"/>
              </a:rPr>
              <a:t>Select a language for your transaction.</a:t>
            </a:r>
            <a:endParaRPr dirty="0"/>
          </a:p>
          <a:p>
            <a:pPr marL="777240" marR="0" lvl="1" indent="-388620" algn="just" rtl="0">
              <a:lnSpc>
                <a:spcPct val="108000"/>
              </a:lnSpc>
              <a:spcBef>
                <a:spcPts val="0"/>
              </a:spcBef>
              <a:spcAft>
                <a:spcPts val="0"/>
              </a:spcAft>
              <a:buClr>
                <a:srgbClr val="000000"/>
              </a:buClr>
              <a:buSzPts val="3600"/>
              <a:buFont typeface="Times New Roman"/>
              <a:buAutoNum type="arabicPeriod"/>
            </a:pPr>
            <a:r>
              <a:rPr lang="en-US" sz="3600" b="0" i="0" u="none" strike="noStrike" cap="none" dirty="0">
                <a:solidFill>
                  <a:srgbClr val="000000"/>
                </a:solidFill>
                <a:latin typeface="Times New Roman"/>
                <a:ea typeface="Times New Roman"/>
                <a:cs typeface="Times New Roman"/>
                <a:sym typeface="Times New Roman"/>
              </a:rPr>
              <a:t>Select the Savings Account option.</a:t>
            </a:r>
            <a:endParaRPr dirty="0"/>
          </a:p>
          <a:p>
            <a:pPr marL="777240" marR="0" lvl="1" indent="-388620" algn="just" rtl="0">
              <a:lnSpc>
                <a:spcPct val="108000"/>
              </a:lnSpc>
              <a:spcBef>
                <a:spcPts val="0"/>
              </a:spcBef>
              <a:spcAft>
                <a:spcPts val="0"/>
              </a:spcAft>
              <a:buClr>
                <a:srgbClr val="000000"/>
              </a:buClr>
              <a:buSzPts val="3600"/>
              <a:buFont typeface="Times New Roman"/>
              <a:buAutoNum type="arabicPeriod"/>
            </a:pPr>
            <a:r>
              <a:rPr lang="en-US" sz="3600" b="0" i="0" u="none" strike="noStrike" cap="none" dirty="0">
                <a:solidFill>
                  <a:srgbClr val="000000"/>
                </a:solidFill>
                <a:latin typeface="Times New Roman"/>
                <a:ea typeface="Times New Roman"/>
                <a:cs typeface="Times New Roman"/>
                <a:sym typeface="Times New Roman"/>
              </a:rPr>
              <a:t>Enter the amount you want to withdraw.</a:t>
            </a:r>
            <a:endParaRPr dirty="0"/>
          </a:p>
          <a:p>
            <a:pPr marL="777240" marR="0" lvl="1" indent="-388620" algn="just" rtl="0">
              <a:lnSpc>
                <a:spcPct val="108000"/>
              </a:lnSpc>
              <a:spcBef>
                <a:spcPts val="0"/>
              </a:spcBef>
              <a:spcAft>
                <a:spcPts val="0"/>
              </a:spcAft>
              <a:buClr>
                <a:srgbClr val="000000"/>
              </a:buClr>
              <a:buSzPts val="3600"/>
              <a:buFont typeface="Times New Roman"/>
              <a:buAutoNum type="arabicPeriod"/>
            </a:pPr>
            <a:r>
              <a:rPr lang="en-US" sz="3600" b="0" i="0" u="none" strike="noStrike" cap="none" dirty="0">
                <a:solidFill>
                  <a:srgbClr val="000000"/>
                </a:solidFill>
                <a:latin typeface="Times New Roman"/>
                <a:ea typeface="Times New Roman"/>
                <a:cs typeface="Times New Roman"/>
                <a:sym typeface="Times New Roman"/>
              </a:rPr>
              <a:t>Enter your secret pin.</a:t>
            </a:r>
            <a:endParaRPr dirty="0"/>
          </a:p>
          <a:p>
            <a:pPr marL="777240" marR="0" lvl="1" indent="-388620" algn="just" rtl="0">
              <a:lnSpc>
                <a:spcPct val="108000"/>
              </a:lnSpc>
              <a:spcBef>
                <a:spcPts val="0"/>
              </a:spcBef>
              <a:spcAft>
                <a:spcPts val="0"/>
              </a:spcAft>
              <a:buClr>
                <a:srgbClr val="000000"/>
              </a:buClr>
              <a:buSzPts val="3600"/>
              <a:buFont typeface="Times New Roman"/>
              <a:buAutoNum type="arabicPeriod"/>
            </a:pPr>
            <a:r>
              <a:rPr lang="en-US" sz="3600" b="0" i="0" u="none" strike="noStrike" cap="none" dirty="0">
                <a:solidFill>
                  <a:srgbClr val="000000"/>
                </a:solidFill>
                <a:latin typeface="Times New Roman"/>
                <a:ea typeface="Times New Roman"/>
                <a:cs typeface="Times New Roman"/>
                <a:sym typeface="Times New Roman"/>
              </a:rPr>
              <a:t>Wait for some time for processing.</a:t>
            </a:r>
            <a:endParaRPr dirty="0"/>
          </a:p>
          <a:p>
            <a:pPr marL="777240" marR="0" lvl="1" indent="-388620" algn="just" rtl="0">
              <a:lnSpc>
                <a:spcPct val="108000"/>
              </a:lnSpc>
              <a:spcBef>
                <a:spcPts val="0"/>
              </a:spcBef>
              <a:spcAft>
                <a:spcPts val="0"/>
              </a:spcAft>
              <a:buClr>
                <a:srgbClr val="000000"/>
              </a:buClr>
              <a:buSzPts val="3600"/>
              <a:buFont typeface="Times New Roman"/>
              <a:buAutoNum type="arabicPeriod"/>
            </a:pPr>
            <a:r>
              <a:rPr lang="en-US" sz="3600" b="0" i="0" u="none" strike="noStrike" cap="none" dirty="0">
                <a:solidFill>
                  <a:srgbClr val="000000"/>
                </a:solidFill>
                <a:latin typeface="Times New Roman"/>
                <a:ea typeface="Times New Roman"/>
                <a:cs typeface="Times New Roman"/>
                <a:sym typeface="Times New Roman"/>
              </a:rPr>
              <a:t>Collect your Cash.</a:t>
            </a:r>
            <a:endParaRPr dirty="0"/>
          </a:p>
          <a:p>
            <a:pPr marL="777240" marR="0" lvl="1" indent="-388620" algn="just" rtl="0">
              <a:lnSpc>
                <a:spcPct val="108000"/>
              </a:lnSpc>
              <a:spcBef>
                <a:spcPts val="0"/>
              </a:spcBef>
              <a:spcAft>
                <a:spcPts val="0"/>
              </a:spcAft>
              <a:buClr>
                <a:srgbClr val="000000"/>
              </a:buClr>
              <a:buSzPts val="3600"/>
              <a:buFont typeface="Times New Roman"/>
              <a:buAutoNum type="arabicPeriod"/>
            </a:pPr>
            <a:r>
              <a:rPr lang="en-US" sz="3600" b="0" i="0" u="none" strike="noStrike" cap="none" dirty="0">
                <a:solidFill>
                  <a:srgbClr val="000000"/>
                </a:solidFill>
                <a:latin typeface="Times New Roman"/>
                <a:ea typeface="Times New Roman"/>
                <a:cs typeface="Times New Roman"/>
                <a:sym typeface="Times New Roman"/>
              </a:rPr>
              <a:t>Transaction Completed.</a:t>
            </a: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
        <p:nvSpPr>
          <p:cNvPr id="143" name="Google Shape;143;p7"/>
          <p:cNvSpPr/>
          <p:nvPr/>
        </p:nvSpPr>
        <p:spPr>
          <a:xfrm>
            <a:off x="10115547" y="3190489"/>
            <a:ext cx="7143753" cy="5858932"/>
          </a:xfrm>
          <a:custGeom>
            <a:avLst/>
            <a:gdLst/>
            <a:ahLst/>
            <a:cxnLst/>
            <a:rect l="l" t="t" r="r" b="b"/>
            <a:pathLst>
              <a:path w="7143753" h="5858932" extrusionOk="0">
                <a:moveTo>
                  <a:pt x="0" y="0"/>
                </a:moveTo>
                <a:lnTo>
                  <a:pt x="7143753" y="0"/>
                </a:lnTo>
                <a:lnTo>
                  <a:pt x="7143753" y="5858932"/>
                </a:lnTo>
                <a:lnTo>
                  <a:pt x="0" y="5858932"/>
                </a:lnTo>
                <a:lnTo>
                  <a:pt x="0" y="0"/>
                </a:lnTo>
                <a:close/>
              </a:path>
            </a:pathLst>
          </a:custGeom>
          <a:blipFill rotWithShape="1">
            <a:blip r:embed="rId4">
              <a:alphaModFix/>
            </a:blip>
            <a:stretch>
              <a:fillRect r="-23098"/>
            </a:stretch>
          </a:blipFill>
          <a:ln w="28575" cap="sq" cmpd="sng">
            <a:solidFill>
              <a:srgbClr val="000000"/>
            </a:solidFill>
            <a:prstDash val="solid"/>
            <a:miter lim="8000"/>
            <a:headEnd type="none" w="sm" len="sm"/>
            <a:tailEnd type="none" w="sm" len="sm"/>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8"/>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149" name="Google Shape;149;p8"/>
          <p:cNvSpPr txBox="1"/>
          <p:nvPr/>
        </p:nvSpPr>
        <p:spPr>
          <a:xfrm>
            <a:off x="1279120" y="771975"/>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Transaction Management</a:t>
            </a:r>
            <a:endParaRPr dirty="0"/>
          </a:p>
        </p:txBody>
      </p:sp>
      <p:sp>
        <p:nvSpPr>
          <p:cNvPr id="150" name="Google Shape;150;p8"/>
          <p:cNvSpPr/>
          <p:nvPr/>
        </p:nvSpPr>
        <p:spPr>
          <a:xfrm>
            <a:off x="10339522" y="2412490"/>
            <a:ext cx="7134007" cy="5385382"/>
          </a:xfrm>
          <a:custGeom>
            <a:avLst/>
            <a:gdLst/>
            <a:ahLst/>
            <a:cxnLst/>
            <a:rect l="l" t="t" r="r" b="b"/>
            <a:pathLst>
              <a:path w="7134007" h="5385382" extrusionOk="0">
                <a:moveTo>
                  <a:pt x="0" y="0"/>
                </a:moveTo>
                <a:lnTo>
                  <a:pt x="7134007" y="0"/>
                </a:lnTo>
                <a:lnTo>
                  <a:pt x="7134007" y="5385382"/>
                </a:lnTo>
                <a:lnTo>
                  <a:pt x="0" y="5385382"/>
                </a:lnTo>
                <a:lnTo>
                  <a:pt x="0" y="0"/>
                </a:lnTo>
                <a:close/>
              </a:path>
            </a:pathLst>
          </a:custGeom>
          <a:blipFill rotWithShape="1">
            <a:blip r:embed="rId4">
              <a:alphaModFix/>
            </a:blip>
            <a:stretch>
              <a:fillRect r="-16808"/>
            </a:stretch>
          </a:blipFill>
          <a:ln w="28575" cap="sq" cmpd="sng">
            <a:solidFill>
              <a:srgbClr val="000000"/>
            </a:solidFill>
            <a:prstDash val="solid"/>
            <a:miter lim="8000"/>
            <a:headEnd type="none" w="sm" len="sm"/>
            <a:tailEnd type="none" w="sm" len="sm"/>
          </a:ln>
        </p:spPr>
      </p:sp>
      <p:sp>
        <p:nvSpPr>
          <p:cNvPr id="151" name="Google Shape;151;p8"/>
          <p:cNvSpPr txBox="1"/>
          <p:nvPr/>
        </p:nvSpPr>
        <p:spPr>
          <a:xfrm>
            <a:off x="1094014" y="2173108"/>
            <a:ext cx="8421083" cy="8376267"/>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A transaction can include the following basic database access operation.</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Read/Access data (R): Accessing the database item from disk (where the database stored data) to memory variable.</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Write/Change data (W): Write the data item from the memory variable to the disk.</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Commit: Commit is a transaction control language that is used to permanently save the changes done in a transaction</a:t>
            </a: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9"/>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157" name="Google Shape;157;p9"/>
          <p:cNvSpPr txBox="1"/>
          <p:nvPr/>
        </p:nvSpPr>
        <p:spPr>
          <a:xfrm>
            <a:off x="1279120" y="771975"/>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Transaction Management</a:t>
            </a:r>
            <a:endParaRPr dirty="0"/>
          </a:p>
        </p:txBody>
      </p:sp>
      <p:sp>
        <p:nvSpPr>
          <p:cNvPr id="158" name="Google Shape;158;p9"/>
          <p:cNvSpPr/>
          <p:nvPr/>
        </p:nvSpPr>
        <p:spPr>
          <a:xfrm>
            <a:off x="3302660" y="4390050"/>
            <a:ext cx="11301259" cy="3531643"/>
          </a:xfrm>
          <a:custGeom>
            <a:avLst/>
            <a:gdLst/>
            <a:ahLst/>
            <a:cxnLst/>
            <a:rect l="l" t="t" r="r" b="b"/>
            <a:pathLst>
              <a:path w="11301259" h="3531643" extrusionOk="0">
                <a:moveTo>
                  <a:pt x="0" y="0"/>
                </a:moveTo>
                <a:lnTo>
                  <a:pt x="11301259" y="0"/>
                </a:lnTo>
                <a:lnTo>
                  <a:pt x="11301259" y="3531644"/>
                </a:lnTo>
                <a:lnTo>
                  <a:pt x="0" y="3531644"/>
                </a:lnTo>
                <a:lnTo>
                  <a:pt x="0" y="0"/>
                </a:lnTo>
                <a:close/>
              </a:path>
            </a:pathLst>
          </a:custGeom>
          <a:blipFill rotWithShape="1">
            <a:blip r:embed="rId4">
              <a:alphaModFix/>
            </a:blip>
            <a:stretch>
              <a:fillRect/>
            </a:stretch>
          </a:blipFill>
          <a:ln>
            <a:noFill/>
          </a:ln>
        </p:spPr>
      </p:sp>
      <p:sp>
        <p:nvSpPr>
          <p:cNvPr id="159" name="Google Shape;159;p9"/>
          <p:cNvSpPr txBox="1"/>
          <p:nvPr/>
        </p:nvSpPr>
        <p:spPr>
          <a:xfrm>
            <a:off x="1279120" y="2173108"/>
            <a:ext cx="15980180" cy="2393219"/>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b="1" dirty="0">
                <a:solidFill>
                  <a:srgbClr val="000000"/>
                </a:solidFill>
                <a:latin typeface="Times"/>
                <a:ea typeface="Times"/>
                <a:cs typeface="Times"/>
                <a:sym typeface="Times"/>
              </a:rPr>
              <a:t>Example:</a:t>
            </a:r>
            <a:r>
              <a:rPr lang="en-US" sz="3600" dirty="0">
                <a:solidFill>
                  <a:srgbClr val="000000"/>
                </a:solidFill>
                <a:latin typeface="Times New Roman"/>
                <a:ea typeface="Times New Roman"/>
                <a:cs typeface="Times New Roman"/>
                <a:sym typeface="Times New Roman"/>
              </a:rPr>
              <a:t> Transfer of 50₹ from Account A to Account B. Initially A= 500₹, B= 800₹. This data is brought to RAM from Hard Disk. </a:t>
            </a: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0"/>
          <p:cNvSpPr/>
          <p:nvPr/>
        </p:nvSpPr>
        <p:spPr>
          <a:xfrm>
            <a:off x="0" y="48987"/>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165" name="Google Shape;165;p10"/>
          <p:cNvSpPr txBox="1"/>
          <p:nvPr/>
        </p:nvSpPr>
        <p:spPr>
          <a:xfrm>
            <a:off x="1279120" y="771975"/>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Transaction Management</a:t>
            </a:r>
            <a:endParaRPr dirty="0"/>
          </a:p>
        </p:txBody>
      </p:sp>
      <p:sp>
        <p:nvSpPr>
          <p:cNvPr id="166" name="Google Shape;166;p10"/>
          <p:cNvSpPr/>
          <p:nvPr/>
        </p:nvSpPr>
        <p:spPr>
          <a:xfrm>
            <a:off x="3568448" y="2795851"/>
            <a:ext cx="10226111" cy="4695298"/>
          </a:xfrm>
          <a:custGeom>
            <a:avLst/>
            <a:gdLst/>
            <a:ahLst/>
            <a:cxnLst/>
            <a:rect l="l" t="t" r="r" b="b"/>
            <a:pathLst>
              <a:path w="10226111" h="4695298" extrusionOk="0">
                <a:moveTo>
                  <a:pt x="0" y="0"/>
                </a:moveTo>
                <a:lnTo>
                  <a:pt x="10226112" y="0"/>
                </a:lnTo>
                <a:lnTo>
                  <a:pt x="10226112" y="4695298"/>
                </a:lnTo>
                <a:lnTo>
                  <a:pt x="0" y="4695298"/>
                </a:lnTo>
                <a:lnTo>
                  <a:pt x="0" y="0"/>
                </a:lnTo>
                <a:close/>
              </a:path>
            </a:pathLst>
          </a:custGeom>
          <a:blipFill rotWithShape="1">
            <a:blip r:embed="rId4">
              <a:alphaModFix/>
            </a:blip>
            <a:stretch>
              <a:fillRect b="-8896"/>
            </a:stretch>
          </a:blipFill>
          <a:ln>
            <a:noFill/>
          </a:ln>
        </p:spPr>
      </p:sp>
      <p:sp>
        <p:nvSpPr>
          <p:cNvPr id="167" name="Google Shape;167;p10"/>
          <p:cNvSpPr txBox="1"/>
          <p:nvPr/>
        </p:nvSpPr>
        <p:spPr>
          <a:xfrm>
            <a:off x="1279120" y="2016707"/>
            <a:ext cx="6134051" cy="1196610"/>
          </a:xfrm>
          <a:prstGeom prst="rect">
            <a:avLst/>
          </a:prstGeom>
          <a:noFill/>
          <a:ln>
            <a:noFill/>
          </a:ln>
        </p:spPr>
        <p:txBody>
          <a:bodyPr spcFirstLastPara="1" wrap="square" lIns="0" tIns="0" rIns="0" bIns="0" anchor="t" anchorCtr="0">
            <a:spAutoFit/>
          </a:bodyPr>
          <a:lstStyle/>
          <a:p>
            <a:pPr marL="0" marR="0" lvl="0" indent="0" rtl="0">
              <a:lnSpc>
                <a:spcPct val="108000"/>
              </a:lnSpc>
              <a:spcBef>
                <a:spcPts val="0"/>
              </a:spcBef>
              <a:spcAft>
                <a:spcPts val="0"/>
              </a:spcAft>
              <a:buNone/>
            </a:pPr>
            <a:r>
              <a:rPr lang="en-US" sz="3600" b="1" dirty="0">
                <a:solidFill>
                  <a:srgbClr val="000000"/>
                </a:solidFill>
                <a:latin typeface="Times"/>
                <a:ea typeface="Times"/>
                <a:cs typeface="Times"/>
                <a:sym typeface="Times"/>
              </a:rPr>
              <a:t>Stages of Transaction</a:t>
            </a:r>
            <a:endParaRPr dirty="0"/>
          </a:p>
          <a:p>
            <a:pPr marL="0" marR="0" lvl="0" indent="0" algn="ctr" rtl="0">
              <a:lnSpc>
                <a:spcPct val="108000"/>
              </a:lnSpc>
              <a:spcBef>
                <a:spcPts val="0"/>
              </a:spcBef>
              <a:spcAft>
                <a:spcPts val="0"/>
              </a:spcAft>
              <a:buNone/>
            </a:pPr>
            <a:endParaRPr sz="3600" b="1" dirty="0">
              <a:solidFill>
                <a:srgbClr val="000000"/>
              </a:solidFill>
              <a:latin typeface="Times"/>
              <a:ea typeface="Times"/>
              <a:cs typeface="Times"/>
              <a:sym typeface="Times"/>
            </a:endParaRPr>
          </a:p>
        </p:txBody>
      </p:sp>
      <p:sp>
        <p:nvSpPr>
          <p:cNvPr id="168" name="Google Shape;168;p10"/>
          <p:cNvSpPr txBox="1"/>
          <p:nvPr/>
        </p:nvSpPr>
        <p:spPr>
          <a:xfrm>
            <a:off x="1279120" y="7726790"/>
            <a:ext cx="15818272" cy="1595437"/>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200" b="1" dirty="0">
                <a:solidFill>
                  <a:srgbClr val="000000"/>
                </a:solidFill>
                <a:latin typeface="Times"/>
                <a:ea typeface="Times"/>
                <a:cs typeface="Times"/>
                <a:sym typeface="Times"/>
              </a:rPr>
              <a:t>Note:</a:t>
            </a:r>
            <a:r>
              <a:rPr lang="en-US" sz="3200" dirty="0">
                <a:solidFill>
                  <a:srgbClr val="000000"/>
                </a:solidFill>
                <a:latin typeface="Times New Roman"/>
                <a:ea typeface="Times New Roman"/>
                <a:cs typeface="Times New Roman"/>
                <a:sym typeface="Times New Roman"/>
              </a:rPr>
              <a:t> The updated value of Account A = 450₹ and Account B = 850₹. </a:t>
            </a:r>
            <a:endParaRPr sz="1200" dirty="0"/>
          </a:p>
          <a:p>
            <a:pPr marL="0" marR="0" lvl="0" indent="0" algn="just" rtl="0">
              <a:lnSpc>
                <a:spcPct val="108000"/>
              </a:lnSpc>
              <a:spcBef>
                <a:spcPts val="0"/>
              </a:spcBef>
              <a:spcAft>
                <a:spcPts val="0"/>
              </a:spcAft>
              <a:buNone/>
            </a:pPr>
            <a:r>
              <a:rPr lang="en-US" sz="3200" dirty="0">
                <a:solidFill>
                  <a:srgbClr val="000000"/>
                </a:solidFill>
                <a:latin typeface="Times New Roman"/>
                <a:ea typeface="Times New Roman"/>
                <a:cs typeface="Times New Roman"/>
                <a:sym typeface="Times New Roman"/>
              </a:rPr>
              <a:t>All instructions before committing come under a partially committed state and are stored in RAM. When the commit is read the data is fully accepted and is stored on a Hard Disk. </a:t>
            </a:r>
            <a:endParaRPr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2"/>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183" name="Google Shape;183;p12"/>
          <p:cNvSpPr txBox="1"/>
          <p:nvPr/>
        </p:nvSpPr>
        <p:spPr>
          <a:xfrm>
            <a:off x="1279120" y="771975"/>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Transaction Management</a:t>
            </a:r>
            <a:endParaRPr dirty="0"/>
          </a:p>
        </p:txBody>
      </p:sp>
      <p:sp>
        <p:nvSpPr>
          <p:cNvPr id="184" name="Google Shape;184;p12"/>
          <p:cNvSpPr/>
          <p:nvPr/>
        </p:nvSpPr>
        <p:spPr>
          <a:xfrm>
            <a:off x="5165234" y="4196981"/>
            <a:ext cx="11117531" cy="5431580"/>
          </a:xfrm>
          <a:custGeom>
            <a:avLst/>
            <a:gdLst/>
            <a:ahLst/>
            <a:cxnLst/>
            <a:rect l="l" t="t" r="r" b="b"/>
            <a:pathLst>
              <a:path w="11117531" h="5431580" extrusionOk="0">
                <a:moveTo>
                  <a:pt x="0" y="0"/>
                </a:moveTo>
                <a:lnTo>
                  <a:pt x="11117531" y="0"/>
                </a:lnTo>
                <a:lnTo>
                  <a:pt x="11117531" y="5431580"/>
                </a:lnTo>
                <a:lnTo>
                  <a:pt x="0" y="5431580"/>
                </a:lnTo>
                <a:lnTo>
                  <a:pt x="0" y="0"/>
                </a:lnTo>
                <a:close/>
              </a:path>
            </a:pathLst>
          </a:custGeom>
          <a:blipFill rotWithShape="1">
            <a:blip r:embed="rId4">
              <a:alphaModFix/>
            </a:blip>
            <a:stretch>
              <a:fillRect/>
            </a:stretch>
          </a:blipFill>
          <a:ln>
            <a:noFill/>
          </a:ln>
        </p:spPr>
      </p:sp>
      <p:sp>
        <p:nvSpPr>
          <p:cNvPr id="185" name="Google Shape;185;p12"/>
          <p:cNvSpPr txBox="1"/>
          <p:nvPr/>
        </p:nvSpPr>
        <p:spPr>
          <a:xfrm>
            <a:off x="1279120" y="2170618"/>
            <a:ext cx="16846737" cy="1794915"/>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b="1" dirty="0">
                <a:solidFill>
                  <a:srgbClr val="000000"/>
                </a:solidFill>
                <a:latin typeface="Times"/>
                <a:ea typeface="Times"/>
                <a:cs typeface="Times"/>
                <a:sym typeface="Times"/>
              </a:rPr>
              <a:t>Transaction States</a:t>
            </a:r>
            <a:endParaRPr dirty="0"/>
          </a:p>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Transactions can be implemented using SQL queries and Servers. In the diagram, you can see how transaction states work. </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1"/>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174" name="Google Shape;174;p11"/>
          <p:cNvSpPr txBox="1"/>
          <p:nvPr/>
        </p:nvSpPr>
        <p:spPr>
          <a:xfrm>
            <a:off x="1279120" y="771975"/>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Transaction Management</a:t>
            </a:r>
            <a:endParaRPr dirty="0"/>
          </a:p>
        </p:txBody>
      </p:sp>
      <p:sp>
        <p:nvSpPr>
          <p:cNvPr id="175" name="Google Shape;175;p11"/>
          <p:cNvSpPr/>
          <p:nvPr/>
        </p:nvSpPr>
        <p:spPr>
          <a:xfrm>
            <a:off x="9640087" y="5431213"/>
            <a:ext cx="7658017" cy="3978128"/>
          </a:xfrm>
          <a:custGeom>
            <a:avLst/>
            <a:gdLst/>
            <a:ahLst/>
            <a:cxnLst/>
            <a:rect l="l" t="t" r="r" b="b"/>
            <a:pathLst>
              <a:path w="7658017" h="3978128" extrusionOk="0">
                <a:moveTo>
                  <a:pt x="0" y="0"/>
                </a:moveTo>
                <a:lnTo>
                  <a:pt x="7658017" y="0"/>
                </a:lnTo>
                <a:lnTo>
                  <a:pt x="7658017" y="3978128"/>
                </a:lnTo>
                <a:lnTo>
                  <a:pt x="0" y="3978128"/>
                </a:lnTo>
                <a:lnTo>
                  <a:pt x="0" y="0"/>
                </a:lnTo>
                <a:close/>
              </a:path>
            </a:pathLst>
          </a:custGeom>
          <a:blipFill rotWithShape="1">
            <a:blip r:embed="rId4">
              <a:alphaModFix/>
            </a:blip>
            <a:stretch>
              <a:fillRect l="-8181" t="-15751" r="-7634" b="-12600"/>
            </a:stretch>
          </a:blipFill>
          <a:ln>
            <a:noFill/>
          </a:ln>
        </p:spPr>
      </p:sp>
      <p:sp>
        <p:nvSpPr>
          <p:cNvPr id="176" name="Google Shape;176;p11"/>
          <p:cNvSpPr txBox="1"/>
          <p:nvPr/>
        </p:nvSpPr>
        <p:spPr>
          <a:xfrm>
            <a:off x="626636" y="2170619"/>
            <a:ext cx="16512532" cy="569170"/>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b="1">
                <a:solidFill>
                  <a:srgbClr val="000000"/>
                </a:solidFill>
                <a:latin typeface="Times"/>
                <a:ea typeface="Times"/>
                <a:cs typeface="Times"/>
                <a:sym typeface="Times"/>
              </a:rPr>
              <a:t>Desirable Properties of Transaction (ACID Properties)</a:t>
            </a:r>
            <a:endParaRPr/>
          </a:p>
        </p:txBody>
      </p:sp>
      <p:sp>
        <p:nvSpPr>
          <p:cNvPr id="177" name="Google Shape;177;p11"/>
          <p:cNvSpPr txBox="1"/>
          <p:nvPr/>
        </p:nvSpPr>
        <p:spPr>
          <a:xfrm>
            <a:off x="626636" y="2882426"/>
            <a:ext cx="16773630" cy="2997824"/>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Transaction management in a Database Management System (DBMS) ensures that database transactions are executed reliably and follow ACID properties: Atomicity, Consistency, Isolation, and Durability. These principles help maintain data integrity, even during failures or concurrent user interactions, ensuring that all transactions are either fully completed or rolled back if errors occur.</a:t>
            </a: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3"/>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191" name="Google Shape;191;p13"/>
          <p:cNvSpPr txBox="1"/>
          <p:nvPr/>
        </p:nvSpPr>
        <p:spPr>
          <a:xfrm>
            <a:off x="1279120" y="771975"/>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Atomicity</a:t>
            </a:r>
            <a:endParaRPr dirty="0"/>
          </a:p>
        </p:txBody>
      </p:sp>
      <p:sp>
        <p:nvSpPr>
          <p:cNvPr id="192" name="Google Shape;192;p13"/>
          <p:cNvSpPr txBox="1"/>
          <p:nvPr/>
        </p:nvSpPr>
        <p:spPr>
          <a:xfrm>
            <a:off x="720631" y="1947046"/>
            <a:ext cx="16846737" cy="6215741"/>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States that all operations of the transaction take place at once if not, the transactions are aborted.</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There is no midway, i.e., the transaction cannot occur partially. Each transaction is treated as one unit and either run to completion or is not executed at all.</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Atomicity involves the following two operations:</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Abort: If a transaction stops or fails, none of the changes it made will be saved or visible.</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Commit: If a transaction completes successfully, all the changes it made will be saved and visible.</a:t>
            </a: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grpSp>
        <p:nvGrpSpPr>
          <p:cNvPr id="193" name="Google Shape;193;p13"/>
          <p:cNvGrpSpPr/>
          <p:nvPr/>
        </p:nvGrpSpPr>
        <p:grpSpPr>
          <a:xfrm>
            <a:off x="9872285" y="6964950"/>
            <a:ext cx="7284561" cy="2645901"/>
            <a:chOff x="0" y="-192881"/>
            <a:chExt cx="9712747" cy="3527867"/>
          </a:xfrm>
        </p:grpSpPr>
        <p:grpSp>
          <p:nvGrpSpPr>
            <p:cNvPr id="194" name="Google Shape;194;p13"/>
            <p:cNvGrpSpPr/>
            <p:nvPr/>
          </p:nvGrpSpPr>
          <p:grpSpPr>
            <a:xfrm>
              <a:off x="0" y="-192881"/>
              <a:ext cx="9712747" cy="3527867"/>
              <a:chOff x="0" y="-38100"/>
              <a:chExt cx="1918567" cy="696863"/>
            </a:xfrm>
          </p:grpSpPr>
          <p:sp>
            <p:nvSpPr>
              <p:cNvPr id="195" name="Google Shape;195;p13"/>
              <p:cNvSpPr/>
              <p:nvPr/>
            </p:nvSpPr>
            <p:spPr>
              <a:xfrm>
                <a:off x="0" y="0"/>
                <a:ext cx="1918567" cy="658763"/>
              </a:xfrm>
              <a:custGeom>
                <a:avLst/>
                <a:gdLst/>
                <a:ahLst/>
                <a:cxnLst/>
                <a:rect l="l" t="t" r="r" b="b"/>
                <a:pathLst>
                  <a:path w="1918567" h="658763" extrusionOk="0">
                    <a:moveTo>
                      <a:pt x="0" y="0"/>
                    </a:moveTo>
                    <a:lnTo>
                      <a:pt x="1918567" y="0"/>
                    </a:lnTo>
                    <a:lnTo>
                      <a:pt x="1918567" y="658763"/>
                    </a:lnTo>
                    <a:lnTo>
                      <a:pt x="0" y="658763"/>
                    </a:lnTo>
                    <a:close/>
                  </a:path>
                </a:pathLst>
              </a:custGeom>
              <a:solidFill>
                <a:srgbClr val="41719C"/>
              </a:solidFill>
              <a:ln>
                <a:noFill/>
              </a:ln>
            </p:spPr>
          </p:sp>
          <p:sp>
            <p:nvSpPr>
              <p:cNvPr id="196" name="Google Shape;196;p13"/>
              <p:cNvSpPr txBox="1"/>
              <p:nvPr/>
            </p:nvSpPr>
            <p:spPr>
              <a:xfrm>
                <a:off x="0" y="-38100"/>
                <a:ext cx="1918567" cy="69686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sp>
          <p:nvSpPr>
            <p:cNvPr id="197" name="Google Shape;197;p13"/>
            <p:cNvSpPr txBox="1"/>
            <p:nvPr/>
          </p:nvSpPr>
          <p:spPr>
            <a:xfrm>
              <a:off x="273203" y="531953"/>
              <a:ext cx="9166342" cy="1956793"/>
            </a:xfrm>
            <a:prstGeom prst="rect">
              <a:avLst/>
            </a:prstGeom>
            <a:noFill/>
            <a:ln>
              <a:noFill/>
            </a:ln>
          </p:spPr>
          <p:txBody>
            <a:bodyPr spcFirstLastPara="1" wrap="square" lIns="0" tIns="0" rIns="0" bIns="0" anchor="t" anchorCtr="0">
              <a:spAutoFit/>
            </a:bodyPr>
            <a:lstStyle/>
            <a:p>
              <a:pPr marL="0" marR="0" lvl="0" indent="0" algn="ctr" rtl="0">
                <a:lnSpc>
                  <a:spcPct val="107993"/>
                </a:lnSpc>
                <a:spcBef>
                  <a:spcPts val="0"/>
                </a:spcBef>
                <a:spcAft>
                  <a:spcPts val="0"/>
                </a:spcAft>
                <a:buNone/>
              </a:pPr>
              <a:r>
                <a:rPr lang="en-US" sz="10208">
                  <a:solidFill>
                    <a:srgbClr val="FFFFFF"/>
                  </a:solidFill>
                  <a:latin typeface="Rubik Vinyl"/>
                  <a:ea typeface="Rubik Vinyl"/>
                  <a:cs typeface="Rubik Vinyl"/>
                  <a:sym typeface="Rubik Vinyl"/>
                </a:rPr>
                <a:t>Atomicity</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4"/>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203" name="Google Shape;203;p14"/>
          <p:cNvSpPr txBox="1"/>
          <p:nvPr/>
        </p:nvSpPr>
        <p:spPr>
          <a:xfrm>
            <a:off x="1279120" y="771975"/>
            <a:ext cx="12235445" cy="1096903"/>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600" b="1" dirty="0">
                <a:solidFill>
                  <a:srgbClr val="C00000"/>
                </a:solidFill>
                <a:latin typeface="Times"/>
                <a:ea typeface="Times"/>
                <a:cs typeface="Times"/>
                <a:sym typeface="Times"/>
              </a:rPr>
              <a:t>Consistency</a:t>
            </a:r>
            <a:endParaRPr lang="en-US" dirty="0"/>
          </a:p>
        </p:txBody>
      </p:sp>
      <p:sp>
        <p:nvSpPr>
          <p:cNvPr id="204" name="Google Shape;204;p14"/>
          <p:cNvSpPr txBox="1"/>
          <p:nvPr/>
        </p:nvSpPr>
        <p:spPr>
          <a:xfrm>
            <a:off x="1279120" y="2170619"/>
            <a:ext cx="16194253" cy="5983048"/>
          </a:xfrm>
          <a:prstGeom prst="rect">
            <a:avLst/>
          </a:prstGeom>
          <a:noFill/>
          <a:ln>
            <a:noFill/>
          </a:ln>
        </p:spPr>
        <p:txBody>
          <a:bodyPr spcFirstLastPara="1" wrap="square" lIns="0" tIns="0" rIns="0" bIns="0" anchor="t" anchorCtr="0">
            <a:spAutoFit/>
          </a:bodyPr>
          <a:lstStyle/>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The rules (integrity constraint) that keep the database accurate and consistent are followed before and after a transaction.</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When a transaction is completed, it leaves the database either as it was before or in a new stable state.</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This property means every transaction works with a reliable and consistent version of the database.</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The transaction is used to transform the database from one consistent state to another consistent state. A transaction changes the database from one consistent state to another consistent state.</a:t>
            </a: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grpSp>
        <p:nvGrpSpPr>
          <p:cNvPr id="205" name="Google Shape;205;p14"/>
          <p:cNvGrpSpPr/>
          <p:nvPr/>
        </p:nvGrpSpPr>
        <p:grpSpPr>
          <a:xfrm>
            <a:off x="9872285" y="7215604"/>
            <a:ext cx="7284561" cy="2042696"/>
            <a:chOff x="0" y="-38100"/>
            <a:chExt cx="1918567" cy="537994"/>
          </a:xfrm>
        </p:grpSpPr>
        <p:sp>
          <p:nvSpPr>
            <p:cNvPr id="206" name="Google Shape;206;p14"/>
            <p:cNvSpPr/>
            <p:nvPr/>
          </p:nvSpPr>
          <p:spPr>
            <a:xfrm>
              <a:off x="0" y="0"/>
              <a:ext cx="1918567" cy="499894"/>
            </a:xfrm>
            <a:custGeom>
              <a:avLst/>
              <a:gdLst/>
              <a:ahLst/>
              <a:cxnLst/>
              <a:rect l="l" t="t" r="r" b="b"/>
              <a:pathLst>
                <a:path w="1918567" h="499894" extrusionOk="0">
                  <a:moveTo>
                    <a:pt x="0" y="0"/>
                  </a:moveTo>
                  <a:lnTo>
                    <a:pt x="1918567" y="0"/>
                  </a:lnTo>
                  <a:lnTo>
                    <a:pt x="1918567" y="499894"/>
                  </a:lnTo>
                  <a:lnTo>
                    <a:pt x="0" y="499894"/>
                  </a:lnTo>
                  <a:close/>
                </a:path>
              </a:pathLst>
            </a:custGeom>
            <a:solidFill>
              <a:srgbClr val="41719C"/>
            </a:solidFill>
            <a:ln>
              <a:noFill/>
            </a:ln>
          </p:spPr>
        </p:sp>
        <p:sp>
          <p:nvSpPr>
            <p:cNvPr id="207" name="Google Shape;207;p14"/>
            <p:cNvSpPr txBox="1"/>
            <p:nvPr/>
          </p:nvSpPr>
          <p:spPr>
            <a:xfrm>
              <a:off x="0" y="-38100"/>
              <a:ext cx="1918567" cy="537994"/>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sp>
        <p:nvSpPr>
          <p:cNvPr id="208" name="Google Shape;208;p14"/>
          <p:cNvSpPr txBox="1"/>
          <p:nvPr/>
        </p:nvSpPr>
        <p:spPr>
          <a:xfrm>
            <a:off x="10025388" y="7822286"/>
            <a:ext cx="6978354" cy="1161614"/>
          </a:xfrm>
          <a:prstGeom prst="rect">
            <a:avLst/>
          </a:prstGeom>
          <a:noFill/>
          <a:ln>
            <a:noFill/>
          </a:ln>
        </p:spPr>
        <p:txBody>
          <a:bodyPr spcFirstLastPara="1" wrap="square" lIns="0" tIns="0" rIns="0" bIns="0" anchor="t" anchorCtr="0">
            <a:spAutoFit/>
          </a:bodyPr>
          <a:lstStyle/>
          <a:p>
            <a:pPr marL="0" marR="0" lvl="0" indent="0" algn="ctr" rtl="0">
              <a:lnSpc>
                <a:spcPct val="107990"/>
              </a:lnSpc>
              <a:spcBef>
                <a:spcPts val="0"/>
              </a:spcBef>
              <a:spcAft>
                <a:spcPts val="0"/>
              </a:spcAft>
              <a:buNone/>
            </a:pPr>
            <a:r>
              <a:rPr lang="en-US" sz="8235">
                <a:solidFill>
                  <a:srgbClr val="FFFFFF"/>
                </a:solidFill>
                <a:latin typeface="Rubik Vinyl"/>
                <a:ea typeface="Rubik Vinyl"/>
                <a:cs typeface="Rubik Vinyl"/>
                <a:sym typeface="Rubik Vinyl"/>
              </a:rPr>
              <a:t>Consistency</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5"/>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214" name="Google Shape;214;p15"/>
          <p:cNvSpPr txBox="1"/>
          <p:nvPr/>
        </p:nvSpPr>
        <p:spPr>
          <a:xfrm>
            <a:off x="1279120" y="771975"/>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Isolation</a:t>
            </a:r>
            <a:endParaRPr dirty="0"/>
          </a:p>
        </p:txBody>
      </p:sp>
      <p:sp>
        <p:nvSpPr>
          <p:cNvPr id="215" name="Google Shape;215;p15"/>
          <p:cNvSpPr txBox="1"/>
          <p:nvPr/>
        </p:nvSpPr>
        <p:spPr>
          <a:xfrm>
            <a:off x="626636" y="2170619"/>
            <a:ext cx="16846737" cy="3589829"/>
          </a:xfrm>
          <a:prstGeom prst="rect">
            <a:avLst/>
          </a:prstGeom>
          <a:noFill/>
          <a:ln>
            <a:noFill/>
          </a:ln>
        </p:spPr>
        <p:txBody>
          <a:bodyPr spcFirstLastPara="1" wrap="square" lIns="0" tIns="0" rIns="0" bIns="0" anchor="t" anchorCtr="0">
            <a:spAutoFit/>
          </a:bodyPr>
          <a:lstStyle/>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It shows that the data which is used at the time of execution of a transaction cannot be used by the second transaction until the first one is completed.</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In isolation, if the transaction T1 is being executed and using the data item X, then that data item can’t be accessed by any other transaction T2 until the transaction T1ends.</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The concurrency control subsystem of the DBMS enforced the isolation property</a:t>
            </a: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grpSp>
        <p:nvGrpSpPr>
          <p:cNvPr id="216" name="Google Shape;216;p15"/>
          <p:cNvGrpSpPr/>
          <p:nvPr/>
        </p:nvGrpSpPr>
        <p:grpSpPr>
          <a:xfrm>
            <a:off x="9872285" y="7215604"/>
            <a:ext cx="7284561" cy="2042696"/>
            <a:chOff x="0" y="-38100"/>
            <a:chExt cx="1918567" cy="537994"/>
          </a:xfrm>
        </p:grpSpPr>
        <p:sp>
          <p:nvSpPr>
            <p:cNvPr id="217" name="Google Shape;217;p15"/>
            <p:cNvSpPr/>
            <p:nvPr/>
          </p:nvSpPr>
          <p:spPr>
            <a:xfrm>
              <a:off x="0" y="0"/>
              <a:ext cx="1918567" cy="499894"/>
            </a:xfrm>
            <a:custGeom>
              <a:avLst/>
              <a:gdLst/>
              <a:ahLst/>
              <a:cxnLst/>
              <a:rect l="l" t="t" r="r" b="b"/>
              <a:pathLst>
                <a:path w="1918567" h="499894" extrusionOk="0">
                  <a:moveTo>
                    <a:pt x="0" y="0"/>
                  </a:moveTo>
                  <a:lnTo>
                    <a:pt x="1918567" y="0"/>
                  </a:lnTo>
                  <a:lnTo>
                    <a:pt x="1918567" y="499894"/>
                  </a:lnTo>
                  <a:lnTo>
                    <a:pt x="0" y="499894"/>
                  </a:lnTo>
                  <a:close/>
                </a:path>
              </a:pathLst>
            </a:custGeom>
            <a:solidFill>
              <a:srgbClr val="41719C"/>
            </a:solidFill>
            <a:ln>
              <a:noFill/>
            </a:ln>
          </p:spPr>
        </p:sp>
        <p:sp>
          <p:nvSpPr>
            <p:cNvPr id="218" name="Google Shape;218;p15"/>
            <p:cNvSpPr txBox="1"/>
            <p:nvPr/>
          </p:nvSpPr>
          <p:spPr>
            <a:xfrm>
              <a:off x="0" y="-38100"/>
              <a:ext cx="1918567" cy="537994"/>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sp>
        <p:nvSpPr>
          <p:cNvPr id="219" name="Google Shape;219;p15"/>
          <p:cNvSpPr txBox="1"/>
          <p:nvPr/>
        </p:nvSpPr>
        <p:spPr>
          <a:xfrm>
            <a:off x="9229089" y="7648054"/>
            <a:ext cx="8570952" cy="1427232"/>
          </a:xfrm>
          <a:prstGeom prst="rect">
            <a:avLst/>
          </a:prstGeom>
          <a:noFill/>
          <a:ln>
            <a:noFill/>
          </a:ln>
        </p:spPr>
        <p:txBody>
          <a:bodyPr spcFirstLastPara="1" wrap="square" lIns="0" tIns="0" rIns="0" bIns="0" anchor="t" anchorCtr="0">
            <a:spAutoFit/>
          </a:bodyPr>
          <a:lstStyle/>
          <a:p>
            <a:pPr marL="0" marR="0" lvl="0" indent="0" algn="ctr" rtl="0">
              <a:lnSpc>
                <a:spcPct val="107998"/>
              </a:lnSpc>
              <a:spcBef>
                <a:spcPts val="0"/>
              </a:spcBef>
              <a:spcAft>
                <a:spcPts val="0"/>
              </a:spcAft>
              <a:buNone/>
            </a:pPr>
            <a:r>
              <a:rPr lang="en-US" sz="10114">
                <a:solidFill>
                  <a:srgbClr val="FFFFFF"/>
                </a:solidFill>
                <a:latin typeface="Rubik Vinyl"/>
                <a:ea typeface="Rubik Vinyl"/>
                <a:cs typeface="Rubik Vinyl"/>
                <a:sym typeface="Rubik Vinyl"/>
              </a:rPr>
              <a:t>Isolation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225" name="Google Shape;225;p16"/>
          <p:cNvSpPr txBox="1"/>
          <p:nvPr/>
        </p:nvSpPr>
        <p:spPr>
          <a:xfrm>
            <a:off x="1279120" y="771975"/>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cs typeface="Times"/>
                <a:sym typeface="Times"/>
              </a:rPr>
              <a:t>Durability</a:t>
            </a:r>
            <a:endParaRPr dirty="0"/>
          </a:p>
        </p:txBody>
      </p:sp>
      <p:sp>
        <p:nvSpPr>
          <p:cNvPr id="226" name="Google Shape;226;p16"/>
          <p:cNvSpPr txBox="1"/>
          <p:nvPr/>
        </p:nvSpPr>
        <p:spPr>
          <a:xfrm>
            <a:off x="626636" y="2170619"/>
            <a:ext cx="16846737" cy="4940748"/>
          </a:xfrm>
          <a:prstGeom prst="rect">
            <a:avLst/>
          </a:prstGeom>
          <a:noFill/>
          <a:ln>
            <a:noFill/>
          </a:ln>
        </p:spPr>
        <p:txBody>
          <a:bodyPr spcFirstLastPara="1" wrap="square" lIns="0" tIns="0" rIns="0" bIns="0" anchor="t" anchorCtr="0">
            <a:spAutoFit/>
          </a:bodyPr>
          <a:lstStyle/>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The durability property is used to indicate the performance of the database’s consistent state. It states that the transaction made the permanent changes.</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They cannot be lost by the erroneous operation of a faulty transaction or by the system failure. When a transaction is completed, then the database reaches a state known as the consistent state. That consistent state cannot be lost, even in the event of a system’s failure.</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The recovery subsystem of the DBMS has the responsibility of Durability property.</a:t>
            </a: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grpSp>
        <p:nvGrpSpPr>
          <p:cNvPr id="227" name="Google Shape;227;p16"/>
          <p:cNvGrpSpPr/>
          <p:nvPr/>
        </p:nvGrpSpPr>
        <p:grpSpPr>
          <a:xfrm>
            <a:off x="9872285" y="7215604"/>
            <a:ext cx="7284561" cy="2042696"/>
            <a:chOff x="0" y="-38100"/>
            <a:chExt cx="1918567" cy="537994"/>
          </a:xfrm>
        </p:grpSpPr>
        <p:sp>
          <p:nvSpPr>
            <p:cNvPr id="228" name="Google Shape;228;p16"/>
            <p:cNvSpPr/>
            <p:nvPr/>
          </p:nvSpPr>
          <p:spPr>
            <a:xfrm>
              <a:off x="0" y="0"/>
              <a:ext cx="1918567" cy="499894"/>
            </a:xfrm>
            <a:custGeom>
              <a:avLst/>
              <a:gdLst/>
              <a:ahLst/>
              <a:cxnLst/>
              <a:rect l="l" t="t" r="r" b="b"/>
              <a:pathLst>
                <a:path w="1918567" h="499894" extrusionOk="0">
                  <a:moveTo>
                    <a:pt x="0" y="0"/>
                  </a:moveTo>
                  <a:lnTo>
                    <a:pt x="1918567" y="0"/>
                  </a:lnTo>
                  <a:lnTo>
                    <a:pt x="1918567" y="499894"/>
                  </a:lnTo>
                  <a:lnTo>
                    <a:pt x="0" y="499894"/>
                  </a:lnTo>
                  <a:close/>
                </a:path>
              </a:pathLst>
            </a:custGeom>
            <a:solidFill>
              <a:srgbClr val="41719C"/>
            </a:solidFill>
            <a:ln>
              <a:noFill/>
            </a:ln>
          </p:spPr>
        </p:sp>
        <p:sp>
          <p:nvSpPr>
            <p:cNvPr id="229" name="Google Shape;229;p16"/>
            <p:cNvSpPr txBox="1"/>
            <p:nvPr/>
          </p:nvSpPr>
          <p:spPr>
            <a:xfrm>
              <a:off x="0" y="-38100"/>
              <a:ext cx="1918567" cy="537994"/>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sp>
        <p:nvSpPr>
          <p:cNvPr id="230" name="Google Shape;230;p16"/>
          <p:cNvSpPr txBox="1"/>
          <p:nvPr/>
        </p:nvSpPr>
        <p:spPr>
          <a:xfrm>
            <a:off x="9229089" y="7648054"/>
            <a:ext cx="8570952" cy="1427232"/>
          </a:xfrm>
          <a:prstGeom prst="rect">
            <a:avLst/>
          </a:prstGeom>
          <a:noFill/>
          <a:ln>
            <a:noFill/>
          </a:ln>
        </p:spPr>
        <p:txBody>
          <a:bodyPr spcFirstLastPara="1" wrap="square" lIns="0" tIns="0" rIns="0" bIns="0" anchor="t" anchorCtr="0">
            <a:spAutoFit/>
          </a:bodyPr>
          <a:lstStyle/>
          <a:p>
            <a:pPr marL="0" marR="0" lvl="0" indent="0" algn="ctr" rtl="0">
              <a:lnSpc>
                <a:spcPct val="107998"/>
              </a:lnSpc>
              <a:spcBef>
                <a:spcPts val="0"/>
              </a:spcBef>
              <a:spcAft>
                <a:spcPts val="0"/>
              </a:spcAft>
              <a:buNone/>
            </a:pPr>
            <a:r>
              <a:rPr lang="en-US" sz="10114">
                <a:solidFill>
                  <a:srgbClr val="FFFFFF"/>
                </a:solidFill>
                <a:latin typeface="Rubik Vinyl"/>
                <a:ea typeface="Rubik Vinyl"/>
                <a:cs typeface="Rubik Vinyl"/>
                <a:sym typeface="Rubik Vinyl"/>
              </a:rPr>
              <a:t>Durability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17"/>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236" name="Google Shape;236;p17"/>
          <p:cNvSpPr txBox="1"/>
          <p:nvPr/>
        </p:nvSpPr>
        <p:spPr>
          <a:xfrm>
            <a:off x="1279120" y="771975"/>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Failure Classification</a:t>
            </a:r>
            <a:endParaRPr dirty="0"/>
          </a:p>
        </p:txBody>
      </p:sp>
      <p:sp>
        <p:nvSpPr>
          <p:cNvPr id="237" name="Google Shape;237;p17"/>
          <p:cNvSpPr/>
          <p:nvPr/>
        </p:nvSpPr>
        <p:spPr>
          <a:xfrm>
            <a:off x="11768296" y="4901242"/>
            <a:ext cx="4362511" cy="4357058"/>
          </a:xfrm>
          <a:custGeom>
            <a:avLst/>
            <a:gdLst/>
            <a:ahLst/>
            <a:cxnLst/>
            <a:rect l="l" t="t" r="r" b="b"/>
            <a:pathLst>
              <a:path w="4362511" h="4357058" extrusionOk="0">
                <a:moveTo>
                  <a:pt x="0" y="0"/>
                </a:moveTo>
                <a:lnTo>
                  <a:pt x="4362511" y="0"/>
                </a:lnTo>
                <a:lnTo>
                  <a:pt x="4362511" y="4357058"/>
                </a:lnTo>
                <a:lnTo>
                  <a:pt x="0" y="4357058"/>
                </a:lnTo>
                <a:lnTo>
                  <a:pt x="0" y="0"/>
                </a:lnTo>
                <a:close/>
              </a:path>
            </a:pathLst>
          </a:custGeom>
          <a:blipFill rotWithShape="1">
            <a:blip r:embed="rId4">
              <a:alphaModFix/>
            </a:blip>
            <a:stretch>
              <a:fillRect/>
            </a:stretch>
          </a:blipFill>
          <a:ln>
            <a:noFill/>
          </a:ln>
        </p:spPr>
      </p:sp>
      <p:sp>
        <p:nvSpPr>
          <p:cNvPr id="239" name="Google Shape;239;p17"/>
          <p:cNvSpPr txBox="1"/>
          <p:nvPr/>
        </p:nvSpPr>
        <p:spPr>
          <a:xfrm>
            <a:off x="1796143" y="2077627"/>
            <a:ext cx="15363311" cy="3589829"/>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To find that where the problem has occurred, we generalize a failure into the following categories:</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Transaction failure</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System crash</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Disk failure</a:t>
            </a: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18"/>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245" name="Google Shape;245;p18"/>
          <p:cNvSpPr txBox="1"/>
          <p:nvPr/>
        </p:nvSpPr>
        <p:spPr>
          <a:xfrm>
            <a:off x="1279120" y="771975"/>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1.Transaction Failure</a:t>
            </a:r>
            <a:endParaRPr dirty="0"/>
          </a:p>
        </p:txBody>
      </p:sp>
      <p:sp>
        <p:nvSpPr>
          <p:cNvPr id="246" name="Google Shape;246;p18"/>
          <p:cNvSpPr txBox="1"/>
          <p:nvPr/>
        </p:nvSpPr>
        <p:spPr>
          <a:xfrm>
            <a:off x="1061356" y="2066132"/>
            <a:ext cx="10874829" cy="7777963"/>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The transaction failure occurs when it fails to execute or when it reaches a point from where it can’t go any further. If a few transactions or process is hurt, then this is called as transaction failure.</a:t>
            </a:r>
            <a:endParaRPr dirty="0"/>
          </a:p>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Reasons for a transaction failure could be –</a:t>
            </a:r>
            <a:endParaRPr dirty="0"/>
          </a:p>
          <a:p>
            <a:pPr marL="777240" marR="0" lvl="1" indent="-388620" algn="just" rtl="0">
              <a:lnSpc>
                <a:spcPct val="108000"/>
              </a:lnSpc>
              <a:spcBef>
                <a:spcPts val="0"/>
              </a:spcBef>
              <a:spcAft>
                <a:spcPts val="0"/>
              </a:spcAft>
              <a:buClr>
                <a:srgbClr val="000000"/>
              </a:buClr>
              <a:buSzPts val="3600"/>
              <a:buFont typeface="Times"/>
              <a:buAutoNum type="arabicPeriod"/>
            </a:pPr>
            <a:r>
              <a:rPr lang="en-US" sz="3600" b="1" i="0" u="none" strike="noStrike" cap="none" dirty="0">
                <a:solidFill>
                  <a:srgbClr val="000000"/>
                </a:solidFill>
                <a:latin typeface="Times"/>
                <a:ea typeface="Times"/>
                <a:cs typeface="Times"/>
                <a:sym typeface="Times"/>
              </a:rPr>
              <a:t>Logical errors: </a:t>
            </a:r>
            <a:r>
              <a:rPr lang="en-US" sz="3600" b="0" i="0" u="none" strike="noStrike" cap="none" dirty="0">
                <a:solidFill>
                  <a:srgbClr val="000000"/>
                </a:solidFill>
                <a:latin typeface="Times New Roman"/>
                <a:ea typeface="Times New Roman"/>
                <a:cs typeface="Times New Roman"/>
                <a:sym typeface="Times New Roman"/>
              </a:rPr>
              <a:t>If a transaction cannot complete due to some code error or an internal error condition, then the logical error occurs.</a:t>
            </a:r>
            <a:endParaRPr dirty="0"/>
          </a:p>
          <a:p>
            <a:pPr marL="777240" marR="0" lvl="1" indent="-388620" algn="just" rtl="0">
              <a:lnSpc>
                <a:spcPct val="108000"/>
              </a:lnSpc>
              <a:spcBef>
                <a:spcPts val="0"/>
              </a:spcBef>
              <a:spcAft>
                <a:spcPts val="0"/>
              </a:spcAft>
              <a:buClr>
                <a:srgbClr val="000000"/>
              </a:buClr>
              <a:buSzPts val="3600"/>
              <a:buFont typeface="Times"/>
              <a:buAutoNum type="arabicPeriod"/>
            </a:pPr>
            <a:r>
              <a:rPr lang="en-US" sz="3600" b="1" i="0" u="none" strike="noStrike" cap="none" dirty="0">
                <a:solidFill>
                  <a:srgbClr val="000000"/>
                </a:solidFill>
                <a:latin typeface="Times"/>
                <a:ea typeface="Times"/>
                <a:cs typeface="Times"/>
                <a:sym typeface="Times"/>
              </a:rPr>
              <a:t>Syntax error:</a:t>
            </a:r>
            <a:r>
              <a:rPr lang="en-US" sz="3600" b="0" i="0" u="none" strike="noStrike" cap="none" dirty="0">
                <a:solidFill>
                  <a:srgbClr val="000000"/>
                </a:solidFill>
                <a:latin typeface="Times New Roman"/>
                <a:ea typeface="Times New Roman"/>
                <a:cs typeface="Times New Roman"/>
                <a:sym typeface="Times New Roman"/>
              </a:rPr>
              <a:t> It occurs where the DBMS itself terminates an active transaction because the database system is not able to execute it. For example, The system aborts an active transaction, in case of </a:t>
            </a:r>
            <a:r>
              <a:rPr lang="en-US" sz="3600" b="0" i="0" u="none" strike="noStrike" cap="none" dirty="0">
                <a:solidFill>
                  <a:srgbClr val="000000"/>
                </a:solidFill>
                <a:latin typeface="Times"/>
                <a:ea typeface="Times"/>
                <a:cs typeface="Times"/>
                <a:sym typeface="Times"/>
              </a:rPr>
              <a:t>deadlock</a:t>
            </a:r>
            <a:r>
              <a:rPr lang="en-US" sz="3600" b="0" i="0" u="none" strike="noStrike" cap="none" dirty="0">
                <a:solidFill>
                  <a:srgbClr val="000000"/>
                </a:solidFill>
                <a:latin typeface="Times New Roman"/>
                <a:ea typeface="Times New Roman"/>
                <a:cs typeface="Times New Roman"/>
                <a:sym typeface="Times New Roman"/>
              </a:rPr>
              <a:t> or resource unavailability.</a:t>
            </a:r>
            <a:endParaRPr sz="3600" dirty="0">
              <a:solidFill>
                <a:srgbClr val="000000"/>
              </a:solidFill>
              <a:latin typeface="Times New Roman"/>
              <a:ea typeface="Times New Roman"/>
              <a:cs typeface="Times New Roman"/>
              <a:sym typeface="Times New Roman"/>
            </a:endParaRPr>
          </a:p>
        </p:txBody>
      </p:sp>
      <p:sp>
        <p:nvSpPr>
          <p:cNvPr id="247" name="Google Shape;247;p18"/>
          <p:cNvSpPr/>
          <p:nvPr/>
        </p:nvSpPr>
        <p:spPr>
          <a:xfrm>
            <a:off x="12305172" y="2653127"/>
            <a:ext cx="5396426" cy="5084696"/>
          </a:xfrm>
          <a:custGeom>
            <a:avLst/>
            <a:gdLst/>
            <a:ahLst/>
            <a:cxnLst/>
            <a:rect l="l" t="t" r="r" b="b"/>
            <a:pathLst>
              <a:path w="5396426" h="5084696" extrusionOk="0">
                <a:moveTo>
                  <a:pt x="0" y="0"/>
                </a:moveTo>
                <a:lnTo>
                  <a:pt x="5396426" y="0"/>
                </a:lnTo>
                <a:lnTo>
                  <a:pt x="5396426" y="5084697"/>
                </a:lnTo>
                <a:lnTo>
                  <a:pt x="0" y="5084697"/>
                </a:lnTo>
                <a:lnTo>
                  <a:pt x="0" y="0"/>
                </a:lnTo>
                <a:close/>
              </a:path>
            </a:pathLst>
          </a:custGeom>
          <a:blipFill rotWithShape="1">
            <a:blip r:embed="rId4">
              <a:alphaModFix/>
            </a:blip>
            <a:stretch>
              <a:fillRect l="-40750" t="-20151" r="-13048"/>
            </a:stretch>
          </a:blipFill>
          <a:ln>
            <a:noFill/>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9"/>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253" name="Google Shape;253;p19"/>
          <p:cNvSpPr txBox="1"/>
          <p:nvPr/>
        </p:nvSpPr>
        <p:spPr>
          <a:xfrm>
            <a:off x="1279120" y="771975"/>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cs typeface="Times"/>
                <a:sym typeface="Times"/>
              </a:rPr>
              <a:t>2. System Crash</a:t>
            </a:r>
            <a:endParaRPr dirty="0"/>
          </a:p>
        </p:txBody>
      </p:sp>
      <p:sp>
        <p:nvSpPr>
          <p:cNvPr id="254" name="Google Shape;254;p19"/>
          <p:cNvSpPr/>
          <p:nvPr/>
        </p:nvSpPr>
        <p:spPr>
          <a:xfrm>
            <a:off x="11113279" y="5143500"/>
            <a:ext cx="6146021" cy="4114800"/>
          </a:xfrm>
          <a:custGeom>
            <a:avLst/>
            <a:gdLst/>
            <a:ahLst/>
            <a:cxnLst/>
            <a:rect l="l" t="t" r="r" b="b"/>
            <a:pathLst>
              <a:path w="6146021" h="4328396" extrusionOk="0">
                <a:moveTo>
                  <a:pt x="0" y="0"/>
                </a:moveTo>
                <a:lnTo>
                  <a:pt x="6146021" y="0"/>
                </a:lnTo>
                <a:lnTo>
                  <a:pt x="6146021" y="4328396"/>
                </a:lnTo>
                <a:lnTo>
                  <a:pt x="0" y="4328396"/>
                </a:lnTo>
                <a:lnTo>
                  <a:pt x="0" y="0"/>
                </a:lnTo>
                <a:close/>
              </a:path>
            </a:pathLst>
          </a:custGeom>
          <a:blipFill rotWithShape="1">
            <a:blip r:embed="rId4">
              <a:alphaModFix/>
            </a:blip>
            <a:stretch>
              <a:fillRect l="-20389" t="-8202" r="-20939" b="-9761"/>
            </a:stretch>
          </a:blipFill>
          <a:ln>
            <a:noFill/>
          </a:ln>
        </p:spPr>
      </p:sp>
      <p:sp>
        <p:nvSpPr>
          <p:cNvPr id="255" name="Google Shape;255;p19"/>
          <p:cNvSpPr txBox="1"/>
          <p:nvPr/>
        </p:nvSpPr>
        <p:spPr>
          <a:xfrm>
            <a:off x="1502229" y="2066132"/>
            <a:ext cx="10082162" cy="2991525"/>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System failure can occur due to power failure or other hardware or software failure. Example: Operating system error.</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Fail-stop assumption: In the system crash, non-volatile storage is assumed not to be corrupted.</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20"/>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261" name="Google Shape;261;p20"/>
          <p:cNvSpPr txBox="1"/>
          <p:nvPr/>
        </p:nvSpPr>
        <p:spPr>
          <a:xfrm>
            <a:off x="1279120" y="771975"/>
            <a:ext cx="12235445" cy="1030410"/>
          </a:xfrm>
          <a:prstGeom prst="rect">
            <a:avLst/>
          </a:prstGeom>
          <a:noFill/>
          <a:ln>
            <a:noFill/>
          </a:ln>
        </p:spPr>
        <p:txBody>
          <a:bodyPr spcFirstLastPara="1" wrap="square" lIns="0" tIns="0" rIns="0" bIns="0" anchor="t" anchorCtr="0">
            <a:spAutoFit/>
          </a:bodyPr>
          <a:lstStyle/>
          <a:p>
            <a:pPr algn="ctr">
              <a:lnSpc>
                <a:spcPct val="108000"/>
              </a:lnSpc>
            </a:pPr>
            <a:r>
              <a:rPr lang="en-US" sz="6200" b="1" dirty="0">
                <a:solidFill>
                  <a:srgbClr val="C00000"/>
                </a:solidFill>
                <a:latin typeface="Times"/>
                <a:cs typeface="Times"/>
                <a:sym typeface="Times"/>
              </a:rPr>
              <a:t>3. Disk Failure</a:t>
            </a:r>
            <a:endParaRPr lang="en-US" sz="6200" b="1" dirty="0">
              <a:solidFill>
                <a:srgbClr val="C00000"/>
              </a:solidFill>
              <a:latin typeface="Times"/>
              <a:cs typeface="Times"/>
            </a:endParaRPr>
          </a:p>
        </p:txBody>
      </p:sp>
      <p:sp>
        <p:nvSpPr>
          <p:cNvPr id="262" name="Google Shape;262;p20"/>
          <p:cNvSpPr/>
          <p:nvPr/>
        </p:nvSpPr>
        <p:spPr>
          <a:xfrm>
            <a:off x="8164011" y="4821643"/>
            <a:ext cx="8380748" cy="4805027"/>
          </a:xfrm>
          <a:custGeom>
            <a:avLst/>
            <a:gdLst/>
            <a:ahLst/>
            <a:cxnLst/>
            <a:rect l="l" t="t" r="r" b="b"/>
            <a:pathLst>
              <a:path w="8380748" h="4805027" extrusionOk="0">
                <a:moveTo>
                  <a:pt x="0" y="0"/>
                </a:moveTo>
                <a:lnTo>
                  <a:pt x="8380748" y="0"/>
                </a:lnTo>
                <a:lnTo>
                  <a:pt x="8380748" y="4805027"/>
                </a:lnTo>
                <a:lnTo>
                  <a:pt x="0" y="4805027"/>
                </a:lnTo>
                <a:lnTo>
                  <a:pt x="0" y="0"/>
                </a:lnTo>
                <a:close/>
              </a:path>
            </a:pathLst>
          </a:custGeom>
          <a:blipFill rotWithShape="1">
            <a:blip r:embed="rId4">
              <a:alphaModFix/>
            </a:blip>
            <a:stretch>
              <a:fillRect b="-16421"/>
            </a:stretch>
          </a:blipFill>
          <a:ln>
            <a:noFill/>
          </a:ln>
        </p:spPr>
      </p:sp>
      <p:sp>
        <p:nvSpPr>
          <p:cNvPr id="263" name="Google Shape;263;p20"/>
          <p:cNvSpPr txBox="1"/>
          <p:nvPr/>
        </p:nvSpPr>
        <p:spPr>
          <a:xfrm>
            <a:off x="868746" y="2090031"/>
            <a:ext cx="16550508" cy="3589829"/>
          </a:xfrm>
          <a:prstGeom prst="rect">
            <a:avLst/>
          </a:prstGeom>
          <a:noFill/>
          <a:ln>
            <a:noFill/>
          </a:ln>
        </p:spPr>
        <p:txBody>
          <a:bodyPr spcFirstLastPara="1" wrap="square" lIns="0" tIns="0" rIns="0" bIns="0" anchor="t" anchorCtr="0">
            <a:spAutoFit/>
          </a:bodyPr>
          <a:lstStyle/>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It occurs where hard-disk drives or storage drives used to fail frequently. It was a common problem in the early days of technology evolution.</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Disk failure occurs due to the formation of bad sectors, disk head crash, and unreachability to the disk or any other failure, which destroy all or part of disk storage.</a:t>
            </a: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21"/>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269" name="Google Shape;269;p21"/>
          <p:cNvSpPr txBox="1"/>
          <p:nvPr/>
        </p:nvSpPr>
        <p:spPr>
          <a:xfrm>
            <a:off x="1279120" y="771975"/>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Serializability</a:t>
            </a:r>
            <a:endParaRPr dirty="0"/>
          </a:p>
        </p:txBody>
      </p:sp>
      <p:sp>
        <p:nvSpPr>
          <p:cNvPr id="270" name="Google Shape;270;p21"/>
          <p:cNvSpPr txBox="1"/>
          <p:nvPr/>
        </p:nvSpPr>
        <p:spPr>
          <a:xfrm>
            <a:off x="1616528" y="2003468"/>
            <a:ext cx="15962679" cy="5384744"/>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b="1" dirty="0">
                <a:solidFill>
                  <a:srgbClr val="000000"/>
                </a:solidFill>
                <a:latin typeface="Times"/>
                <a:ea typeface="Times"/>
                <a:cs typeface="Times"/>
                <a:sym typeface="Times"/>
              </a:rPr>
              <a:t>Serializability</a:t>
            </a:r>
            <a:endParaRPr dirty="0"/>
          </a:p>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It is an important aspect of Transactions. In simple meaning, you can say that serializability is a way to check whether two transactions working on a database are maintaining database consistency or not.</a:t>
            </a:r>
            <a:endParaRPr dirty="0"/>
          </a:p>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It is of two types:</a:t>
            </a: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a:p>
            <a:pPr marL="777240" marR="0" lvl="1" indent="-388620" algn="just" rtl="0">
              <a:lnSpc>
                <a:spcPct val="108000"/>
              </a:lnSpc>
              <a:spcBef>
                <a:spcPts val="0"/>
              </a:spcBef>
              <a:spcAft>
                <a:spcPts val="0"/>
              </a:spcAft>
              <a:buClr>
                <a:srgbClr val="000000"/>
              </a:buClr>
              <a:buSzPts val="3600"/>
              <a:buFont typeface="Times"/>
              <a:buAutoNum type="arabicPeriod"/>
            </a:pPr>
            <a:r>
              <a:rPr lang="en-US" sz="3600" b="1" i="0" u="none" strike="noStrike" cap="none" dirty="0">
                <a:solidFill>
                  <a:srgbClr val="000000"/>
                </a:solidFill>
                <a:latin typeface="Times"/>
                <a:ea typeface="Times"/>
                <a:cs typeface="Times"/>
                <a:sym typeface="Times"/>
              </a:rPr>
              <a:t>Conflict Serializability</a:t>
            </a:r>
            <a:endParaRPr dirty="0"/>
          </a:p>
          <a:p>
            <a:pPr marL="777240" marR="0" lvl="1" indent="-388620" algn="just" rtl="0">
              <a:lnSpc>
                <a:spcPct val="108000"/>
              </a:lnSpc>
              <a:spcBef>
                <a:spcPts val="0"/>
              </a:spcBef>
              <a:spcAft>
                <a:spcPts val="0"/>
              </a:spcAft>
              <a:buClr>
                <a:srgbClr val="000000"/>
              </a:buClr>
              <a:buSzPts val="3600"/>
              <a:buFont typeface="Times"/>
              <a:buAutoNum type="arabicPeriod"/>
            </a:pPr>
            <a:r>
              <a:rPr lang="en-US" sz="3600" b="1" i="0" u="none" strike="noStrike" cap="none" dirty="0">
                <a:solidFill>
                  <a:srgbClr val="000000"/>
                </a:solidFill>
                <a:latin typeface="Times"/>
                <a:ea typeface="Times"/>
                <a:cs typeface="Times"/>
                <a:sym typeface="Times"/>
              </a:rPr>
              <a:t>View Serializability</a:t>
            </a:r>
            <a:endParaRPr sz="3600" b="1" i="0" u="sng" strike="noStrike" cap="none" dirty="0">
              <a:solidFill>
                <a:srgbClr val="000000"/>
              </a:solidFill>
              <a:latin typeface="Times"/>
              <a:ea typeface="Times"/>
              <a:cs typeface="Times"/>
              <a:sym typeface="Times"/>
              <a:hlinkClick r:id="rId4">
                <a:extLst>
                  <a:ext uri="{A12FA001-AC4F-418D-AE19-62706E023703}">
                    <ahyp:hlinkClr xmlns:ahyp="http://schemas.microsoft.com/office/drawing/2018/hyperlinkcolor" val="tx"/>
                  </a:ext>
                </a:extLst>
              </a:hlinkClick>
            </a:endParaRPr>
          </a:p>
          <a:p>
            <a:pPr marL="0" marR="0" lvl="0" indent="0" algn="just" rtl="0">
              <a:lnSpc>
                <a:spcPct val="108000"/>
              </a:lnSpc>
              <a:spcBef>
                <a:spcPts val="0"/>
              </a:spcBef>
              <a:spcAft>
                <a:spcPts val="0"/>
              </a:spcAft>
              <a:buNone/>
            </a:pPr>
            <a:endParaRPr sz="3600" b="1" u="sng" dirty="0">
              <a:solidFill>
                <a:srgbClr val="000000"/>
              </a:solidFill>
              <a:latin typeface="Times"/>
              <a:ea typeface="Times"/>
              <a:cs typeface="Times"/>
              <a:sym typeface="Times"/>
              <a:hlinkClick r:id="rId4">
                <a:extLst>
                  <a:ext uri="{A12FA001-AC4F-418D-AE19-62706E023703}">
                    <ahyp:hlinkClr xmlns:ahyp="http://schemas.microsoft.com/office/drawing/2018/hyperlinkcolor" val="tx"/>
                  </a:ext>
                </a:extLst>
              </a:hlinkClick>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22"/>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276" name="Google Shape;276;p22"/>
          <p:cNvSpPr txBox="1"/>
          <p:nvPr/>
        </p:nvSpPr>
        <p:spPr>
          <a:xfrm>
            <a:off x="1279120" y="771975"/>
            <a:ext cx="12235445" cy="1263103"/>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Conflict Serializable</a:t>
            </a:r>
          </a:p>
          <a:p>
            <a:pPr marL="0" marR="0" lvl="0" indent="0" algn="l" rtl="0">
              <a:lnSpc>
                <a:spcPct val="108000"/>
              </a:lnSpc>
              <a:spcBef>
                <a:spcPts val="0"/>
              </a:spcBef>
              <a:spcAft>
                <a:spcPts val="0"/>
              </a:spcAft>
              <a:buNone/>
            </a:pPr>
            <a:endParaRPr lang="en-US" dirty="0"/>
          </a:p>
        </p:txBody>
      </p:sp>
      <p:sp>
        <p:nvSpPr>
          <p:cNvPr id="277" name="Google Shape;277;p22"/>
          <p:cNvSpPr txBox="1"/>
          <p:nvPr/>
        </p:nvSpPr>
        <p:spPr>
          <a:xfrm>
            <a:off x="1665514" y="2415973"/>
            <a:ext cx="15593786" cy="6581353"/>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Concurrency serializability, also known as conflict serializability, is a type of concurrency control that guarantees that the outcome of concurrent transactions is the same as if the transactions were executed consecutively.</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1" i="0" u="none" strike="noStrike" cap="none" dirty="0">
                <a:solidFill>
                  <a:srgbClr val="000000"/>
                </a:solidFill>
                <a:latin typeface="Times"/>
                <a:ea typeface="Times"/>
                <a:cs typeface="Times"/>
                <a:sym typeface="Times"/>
              </a:rPr>
              <a:t>Conflict serializable schedules:</a:t>
            </a:r>
            <a:r>
              <a:rPr lang="en-US" sz="3600" b="0" i="0" u="none" strike="noStrike" cap="none" dirty="0">
                <a:solidFill>
                  <a:srgbClr val="000000"/>
                </a:solidFill>
                <a:latin typeface="Times New Roman"/>
                <a:ea typeface="Times New Roman"/>
                <a:cs typeface="Times New Roman"/>
                <a:sym typeface="Times New Roman"/>
              </a:rPr>
              <a:t> A schedule is called conflict serializable if it can be transformed into a serial schedule by swapping non-conflicting operations.</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1" i="0" u="none" strike="noStrike" cap="none" dirty="0">
                <a:solidFill>
                  <a:srgbClr val="000000"/>
                </a:solidFill>
                <a:latin typeface="Times"/>
                <a:ea typeface="Times"/>
                <a:cs typeface="Times"/>
                <a:sym typeface="Times"/>
              </a:rPr>
              <a:t>Non-conflicting operations:</a:t>
            </a:r>
            <a:r>
              <a:rPr lang="en-US" sz="3600" b="0" i="0" u="none" strike="noStrike" cap="none" dirty="0">
                <a:solidFill>
                  <a:srgbClr val="000000"/>
                </a:solidFill>
                <a:latin typeface="Times New Roman"/>
                <a:ea typeface="Times New Roman"/>
                <a:cs typeface="Times New Roman"/>
                <a:sym typeface="Times New Roman"/>
              </a:rPr>
              <a:t> When two operations operate on separate data items or the same data item but at least one of them is a read operation, they are said to be non-conflicting.</a:t>
            </a: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3"/>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283" name="Google Shape;283;p23"/>
          <p:cNvSpPr txBox="1"/>
          <p:nvPr/>
        </p:nvSpPr>
        <p:spPr>
          <a:xfrm>
            <a:off x="1279120" y="771975"/>
            <a:ext cx="12235445" cy="1263103"/>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Conflicting Operations</a:t>
            </a:r>
          </a:p>
          <a:p>
            <a:pPr marL="0" marR="0" lvl="0" indent="0" algn="l" rtl="0">
              <a:lnSpc>
                <a:spcPct val="108000"/>
              </a:lnSpc>
              <a:spcBef>
                <a:spcPts val="0"/>
              </a:spcBef>
              <a:spcAft>
                <a:spcPts val="0"/>
              </a:spcAft>
              <a:buNone/>
            </a:pPr>
            <a:endParaRPr lang="en-US" dirty="0"/>
          </a:p>
        </p:txBody>
      </p:sp>
      <p:sp>
        <p:nvSpPr>
          <p:cNvPr id="284" name="Google Shape;284;p23"/>
          <p:cNvSpPr txBox="1"/>
          <p:nvPr/>
        </p:nvSpPr>
        <p:spPr>
          <a:xfrm>
            <a:off x="1551214" y="2109263"/>
            <a:ext cx="15868040" cy="7179658"/>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Two operations are said to be conflicting if all conditions are satisfied: </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They belong to different transactions</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They operate on the same data item</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At Least one of them is a write operation</a:t>
            </a:r>
            <a:endParaRPr dirty="0"/>
          </a:p>
          <a:p>
            <a:pPr marL="0" marR="0" lvl="0" indent="0" algn="just" rtl="0">
              <a:lnSpc>
                <a:spcPct val="108000"/>
              </a:lnSpc>
              <a:spcBef>
                <a:spcPts val="0"/>
              </a:spcBef>
              <a:spcAft>
                <a:spcPts val="0"/>
              </a:spcAft>
              <a:buNone/>
            </a:pPr>
            <a:r>
              <a:rPr lang="en-US" sz="3600" b="1" dirty="0">
                <a:solidFill>
                  <a:srgbClr val="000000"/>
                </a:solidFill>
                <a:latin typeface="Times"/>
                <a:ea typeface="Times"/>
                <a:cs typeface="Times"/>
                <a:sym typeface="Times"/>
              </a:rPr>
              <a:t>Example:</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Conflicting operations pair (R1(A), W2(A)) because they belong to two different transactions on the same data item A and one of them is a write operation.</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Similarly, (W1(A), W2(A)) and (W1(A), R2(A)) pairs are also conflicting.</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On the other hand, the (R1(A), W2(B)) pair is non-conflicting because they operate on different data items.</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Similarly, ((W1(A), W2(B)) pair is non-conflicting.</a:t>
            </a: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24"/>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291" name="Google Shape;291;p24"/>
          <p:cNvSpPr/>
          <p:nvPr/>
        </p:nvSpPr>
        <p:spPr>
          <a:xfrm>
            <a:off x="2582420" y="2807532"/>
            <a:ext cx="11212140" cy="842363"/>
          </a:xfrm>
          <a:custGeom>
            <a:avLst/>
            <a:gdLst/>
            <a:ahLst/>
            <a:cxnLst/>
            <a:rect l="l" t="t" r="r" b="b"/>
            <a:pathLst>
              <a:path w="11212140" h="842363" extrusionOk="0">
                <a:moveTo>
                  <a:pt x="0" y="0"/>
                </a:moveTo>
                <a:lnTo>
                  <a:pt x="11212140" y="0"/>
                </a:lnTo>
                <a:lnTo>
                  <a:pt x="11212140" y="842363"/>
                </a:lnTo>
                <a:lnTo>
                  <a:pt x="0" y="842363"/>
                </a:lnTo>
                <a:lnTo>
                  <a:pt x="0" y="0"/>
                </a:lnTo>
                <a:close/>
              </a:path>
            </a:pathLst>
          </a:custGeom>
          <a:blipFill rotWithShape="1">
            <a:blip r:embed="rId4">
              <a:alphaModFix/>
            </a:blip>
            <a:stretch>
              <a:fillRect/>
            </a:stretch>
          </a:blipFill>
          <a:ln>
            <a:noFill/>
          </a:ln>
        </p:spPr>
      </p:sp>
      <p:sp>
        <p:nvSpPr>
          <p:cNvPr id="292" name="Google Shape;292;p24"/>
          <p:cNvSpPr txBox="1"/>
          <p:nvPr/>
        </p:nvSpPr>
        <p:spPr>
          <a:xfrm>
            <a:off x="708792" y="2022929"/>
            <a:ext cx="16550508" cy="1540632"/>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b="1" dirty="0">
                <a:solidFill>
                  <a:srgbClr val="000000"/>
                </a:solidFill>
                <a:latin typeface="Times"/>
                <a:ea typeface="Times"/>
                <a:cs typeface="Times"/>
                <a:sym typeface="Times"/>
              </a:rPr>
              <a:t>Consider the following schedule: </a:t>
            </a:r>
            <a:endParaRPr dirty="0"/>
          </a:p>
          <a:p>
            <a:pPr marL="0" marR="0" lvl="0" indent="0" algn="just" rtl="0">
              <a:lnSpc>
                <a:spcPct val="108000"/>
              </a:lnSpc>
              <a:spcBef>
                <a:spcPts val="0"/>
              </a:spcBef>
              <a:spcAft>
                <a:spcPts val="0"/>
              </a:spcAft>
              <a:buNone/>
            </a:pPr>
            <a:endParaRPr sz="3600" b="1" dirty="0">
              <a:solidFill>
                <a:srgbClr val="000000"/>
              </a:solidFill>
              <a:latin typeface="Times"/>
              <a:ea typeface="Times"/>
              <a:cs typeface="Times"/>
              <a:sym typeface="Times"/>
            </a:endParaRPr>
          </a:p>
          <a:p>
            <a:pPr marL="0" marR="0" lvl="0" indent="0" algn="just" rtl="0">
              <a:lnSpc>
                <a:spcPct val="108000"/>
              </a:lnSpc>
              <a:spcBef>
                <a:spcPts val="0"/>
              </a:spcBef>
              <a:spcAft>
                <a:spcPts val="0"/>
              </a:spcAft>
              <a:buNone/>
            </a:pPr>
            <a:endParaRPr sz="3600" b="1" dirty="0">
              <a:solidFill>
                <a:srgbClr val="000000"/>
              </a:solidFill>
              <a:latin typeface="Times"/>
              <a:ea typeface="Times"/>
              <a:cs typeface="Times"/>
              <a:sym typeface="Times"/>
            </a:endParaRPr>
          </a:p>
        </p:txBody>
      </p:sp>
      <p:sp>
        <p:nvSpPr>
          <p:cNvPr id="293" name="Google Shape;293;p24"/>
          <p:cNvSpPr txBox="1"/>
          <p:nvPr/>
        </p:nvSpPr>
        <p:spPr>
          <a:xfrm>
            <a:off x="651427" y="4158029"/>
            <a:ext cx="16767827" cy="1540632"/>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If Oi and </a:t>
            </a:r>
            <a:r>
              <a:rPr lang="en-US" sz="3600" dirty="0" err="1">
                <a:solidFill>
                  <a:srgbClr val="000000"/>
                </a:solidFill>
                <a:latin typeface="Times New Roman"/>
                <a:ea typeface="Times New Roman"/>
                <a:cs typeface="Times New Roman"/>
                <a:sym typeface="Times New Roman"/>
              </a:rPr>
              <a:t>Oj</a:t>
            </a:r>
            <a:r>
              <a:rPr lang="en-US" sz="3600" dirty="0">
                <a:solidFill>
                  <a:srgbClr val="000000"/>
                </a:solidFill>
                <a:latin typeface="Times New Roman"/>
                <a:ea typeface="Times New Roman"/>
                <a:cs typeface="Times New Roman"/>
                <a:sym typeface="Times New Roman"/>
              </a:rPr>
              <a:t> are two operations in a transaction and Oi&lt; </a:t>
            </a:r>
            <a:r>
              <a:rPr lang="en-US" sz="3600" dirty="0" err="1">
                <a:solidFill>
                  <a:srgbClr val="000000"/>
                </a:solidFill>
                <a:latin typeface="Times New Roman"/>
                <a:ea typeface="Times New Roman"/>
                <a:cs typeface="Times New Roman"/>
                <a:sym typeface="Times New Roman"/>
              </a:rPr>
              <a:t>Oj</a:t>
            </a:r>
            <a:r>
              <a:rPr lang="en-US" sz="3600" dirty="0">
                <a:solidFill>
                  <a:srgbClr val="000000"/>
                </a:solidFill>
                <a:latin typeface="Times New Roman"/>
                <a:ea typeface="Times New Roman"/>
                <a:cs typeface="Times New Roman"/>
                <a:sym typeface="Times New Roman"/>
              </a:rPr>
              <a:t> (Oi is executed before </a:t>
            </a:r>
            <a:r>
              <a:rPr lang="en-US" sz="3600" dirty="0" err="1">
                <a:solidFill>
                  <a:srgbClr val="000000"/>
                </a:solidFill>
                <a:latin typeface="Times New Roman"/>
                <a:ea typeface="Times New Roman"/>
                <a:cs typeface="Times New Roman"/>
                <a:sym typeface="Times New Roman"/>
              </a:rPr>
              <a:t>Oj</a:t>
            </a:r>
            <a:r>
              <a:rPr lang="en-US" sz="3600" dirty="0">
                <a:solidFill>
                  <a:srgbClr val="000000"/>
                </a:solidFill>
                <a:latin typeface="Times New Roman"/>
                <a:ea typeface="Times New Roman"/>
                <a:cs typeface="Times New Roman"/>
                <a:sym typeface="Times New Roman"/>
              </a:rPr>
              <a:t>), same order will follow in the schedule as well. Using this property, we can get two transactions of schedule S1: </a:t>
            </a:r>
            <a:endParaRPr dirty="0"/>
          </a:p>
        </p:txBody>
      </p:sp>
      <p:sp>
        <p:nvSpPr>
          <p:cNvPr id="294" name="Google Shape;294;p24"/>
          <p:cNvSpPr txBox="1"/>
          <p:nvPr/>
        </p:nvSpPr>
        <p:spPr>
          <a:xfrm>
            <a:off x="5082654" y="6203486"/>
            <a:ext cx="6543917" cy="1054901"/>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3600">
                <a:solidFill>
                  <a:srgbClr val="000000"/>
                </a:solidFill>
                <a:latin typeface="Times New Roman"/>
                <a:ea typeface="Times New Roman"/>
                <a:cs typeface="Times New Roman"/>
                <a:sym typeface="Times New Roman"/>
              </a:rPr>
              <a:t>T1: R1(A), W1(A), R1(B), W1(B)</a:t>
            </a:r>
            <a:endParaRPr/>
          </a:p>
          <a:p>
            <a:pPr marL="0" marR="0" lvl="0" indent="0" algn="ctr" rtl="0">
              <a:lnSpc>
                <a:spcPct val="108000"/>
              </a:lnSpc>
              <a:spcBef>
                <a:spcPts val="0"/>
              </a:spcBef>
              <a:spcAft>
                <a:spcPts val="0"/>
              </a:spcAft>
              <a:buNone/>
            </a:pPr>
            <a:r>
              <a:rPr lang="en-US" sz="3600">
                <a:solidFill>
                  <a:srgbClr val="000000"/>
                </a:solidFill>
                <a:latin typeface="Times New Roman"/>
                <a:ea typeface="Times New Roman"/>
                <a:cs typeface="Times New Roman"/>
                <a:sym typeface="Times New Roman"/>
              </a:rPr>
              <a:t>T2: R2(A), W2(A), R2(B), W2(B)</a:t>
            </a:r>
            <a:endParaRPr/>
          </a:p>
        </p:txBody>
      </p:sp>
      <p:sp>
        <p:nvSpPr>
          <p:cNvPr id="295" name="Google Shape;295;p24"/>
          <p:cNvSpPr txBox="1"/>
          <p:nvPr/>
        </p:nvSpPr>
        <p:spPr>
          <a:xfrm>
            <a:off x="618299" y="7515562"/>
            <a:ext cx="9602170" cy="1054901"/>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3600">
                <a:solidFill>
                  <a:srgbClr val="000000"/>
                </a:solidFill>
                <a:latin typeface="Times New Roman"/>
                <a:ea typeface="Times New Roman"/>
                <a:cs typeface="Times New Roman"/>
                <a:sym typeface="Times New Roman"/>
              </a:rPr>
              <a:t>Possible Serial Schedules are: T1-&gt;T2 or T2-&gt;T1 </a:t>
            </a:r>
            <a:endParaRPr/>
          </a:p>
          <a:p>
            <a:pPr marL="0" marR="0" lvl="0" indent="0" algn="ctr" rtl="0">
              <a:lnSpc>
                <a:spcPct val="108000"/>
              </a:lnSpc>
              <a:spcBef>
                <a:spcPts val="0"/>
              </a:spcBef>
              <a:spcAft>
                <a:spcPts val="0"/>
              </a:spcAft>
              <a:buNone/>
            </a:pPr>
            <a:endParaRPr sz="3600">
              <a:solidFill>
                <a:srgbClr val="000000"/>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25"/>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302" name="Google Shape;302;p25"/>
          <p:cNvSpPr txBox="1"/>
          <p:nvPr/>
        </p:nvSpPr>
        <p:spPr>
          <a:xfrm>
            <a:off x="1637607" y="2251874"/>
            <a:ext cx="16220102" cy="6980052"/>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200" dirty="0">
                <a:solidFill>
                  <a:srgbClr val="000000"/>
                </a:solidFill>
                <a:latin typeface="Times New Roman"/>
                <a:ea typeface="Times New Roman"/>
                <a:cs typeface="Times New Roman"/>
                <a:sym typeface="Times New Roman"/>
              </a:rPr>
              <a:t>Swapping non-conflicting operations R2(A) and R1(B) in S1, the schedule becomes, </a:t>
            </a:r>
            <a:endParaRPr sz="1200" dirty="0"/>
          </a:p>
          <a:p>
            <a:pPr marL="0" marR="0" lvl="0" indent="0" algn="just" rtl="0">
              <a:lnSpc>
                <a:spcPct val="108000"/>
              </a:lnSpc>
              <a:spcBef>
                <a:spcPts val="0"/>
              </a:spcBef>
              <a:spcAft>
                <a:spcPts val="0"/>
              </a:spcAft>
              <a:buNone/>
            </a:pPr>
            <a:endParaRPr sz="3200" dirty="0">
              <a:solidFill>
                <a:srgbClr val="000000"/>
              </a:solidFill>
              <a:latin typeface="Times New Roman"/>
              <a:ea typeface="Times New Roman"/>
              <a:cs typeface="Times New Roman"/>
              <a:sym typeface="Times New Roman"/>
            </a:endParaRPr>
          </a:p>
          <a:p>
            <a:pPr marL="0" marR="0" lvl="0" indent="0" algn="just" rtl="0">
              <a:lnSpc>
                <a:spcPct val="108000"/>
              </a:lnSpc>
              <a:spcBef>
                <a:spcPts val="0"/>
              </a:spcBef>
              <a:spcAft>
                <a:spcPts val="0"/>
              </a:spcAft>
              <a:buNone/>
            </a:pPr>
            <a:r>
              <a:rPr lang="en-US" sz="3200" dirty="0">
                <a:solidFill>
                  <a:srgbClr val="000000"/>
                </a:solidFill>
                <a:latin typeface="Times New Roman"/>
                <a:ea typeface="Times New Roman"/>
                <a:cs typeface="Times New Roman"/>
                <a:sym typeface="Times New Roman"/>
              </a:rPr>
              <a:t>S11: R1(A), W1(A), R1(B), W2(A), R2(A), W1(B), R2(B), W2(B)</a:t>
            </a:r>
            <a:endParaRPr sz="1200" dirty="0"/>
          </a:p>
          <a:p>
            <a:pPr marL="0" marR="0" lvl="0" indent="0" algn="just" rtl="0">
              <a:lnSpc>
                <a:spcPct val="108000"/>
              </a:lnSpc>
              <a:spcBef>
                <a:spcPts val="0"/>
              </a:spcBef>
              <a:spcAft>
                <a:spcPts val="0"/>
              </a:spcAft>
              <a:buNone/>
            </a:pPr>
            <a:endParaRPr sz="3200" dirty="0">
              <a:solidFill>
                <a:srgbClr val="000000"/>
              </a:solidFill>
              <a:latin typeface="Times New Roman"/>
              <a:ea typeface="Times New Roman"/>
              <a:cs typeface="Times New Roman"/>
              <a:sym typeface="Times New Roman"/>
            </a:endParaRPr>
          </a:p>
          <a:p>
            <a:pPr marL="0" marR="0" lvl="0" indent="0" algn="just" rtl="0">
              <a:lnSpc>
                <a:spcPct val="108000"/>
              </a:lnSpc>
              <a:spcBef>
                <a:spcPts val="0"/>
              </a:spcBef>
              <a:spcAft>
                <a:spcPts val="0"/>
              </a:spcAft>
              <a:buNone/>
            </a:pPr>
            <a:r>
              <a:rPr lang="en-US" sz="3200" dirty="0">
                <a:solidFill>
                  <a:srgbClr val="000000"/>
                </a:solidFill>
                <a:latin typeface="Times New Roman"/>
                <a:ea typeface="Times New Roman"/>
                <a:cs typeface="Times New Roman"/>
                <a:sym typeface="Times New Roman"/>
              </a:rPr>
              <a:t>-&gt; Similarly, swapping non-conflicting operations W2(A) and W1(B) in S11, the schedule becomes, </a:t>
            </a:r>
            <a:endParaRPr sz="1200" dirty="0"/>
          </a:p>
          <a:p>
            <a:pPr marL="0" marR="0" lvl="0" indent="0" algn="just" rtl="0">
              <a:lnSpc>
                <a:spcPct val="108000"/>
              </a:lnSpc>
              <a:spcBef>
                <a:spcPts val="0"/>
              </a:spcBef>
              <a:spcAft>
                <a:spcPts val="0"/>
              </a:spcAft>
              <a:buNone/>
            </a:pPr>
            <a:endParaRPr sz="3200" dirty="0">
              <a:solidFill>
                <a:srgbClr val="000000"/>
              </a:solidFill>
              <a:latin typeface="Times New Roman"/>
              <a:ea typeface="Times New Roman"/>
              <a:cs typeface="Times New Roman"/>
              <a:sym typeface="Times New Roman"/>
            </a:endParaRPr>
          </a:p>
          <a:p>
            <a:pPr marL="0" marR="0" lvl="0" indent="0" algn="just" rtl="0">
              <a:lnSpc>
                <a:spcPct val="108000"/>
              </a:lnSpc>
              <a:spcBef>
                <a:spcPts val="0"/>
              </a:spcBef>
              <a:spcAft>
                <a:spcPts val="0"/>
              </a:spcAft>
              <a:buNone/>
            </a:pPr>
            <a:r>
              <a:rPr lang="en-US" sz="3200" dirty="0">
                <a:solidFill>
                  <a:srgbClr val="000000"/>
                </a:solidFill>
                <a:latin typeface="Times New Roman"/>
                <a:ea typeface="Times New Roman"/>
                <a:cs typeface="Times New Roman"/>
                <a:sym typeface="Times New Roman"/>
              </a:rPr>
              <a:t>S12: R1(A), W1(A), R1(B), W1(B), R2(A), W2(A), R2(B), W2(B)</a:t>
            </a:r>
            <a:endParaRPr sz="1200" dirty="0"/>
          </a:p>
          <a:p>
            <a:pPr marL="0" marR="0" lvl="0" indent="0" algn="just" rtl="0">
              <a:lnSpc>
                <a:spcPct val="108000"/>
              </a:lnSpc>
              <a:spcBef>
                <a:spcPts val="0"/>
              </a:spcBef>
              <a:spcAft>
                <a:spcPts val="0"/>
              </a:spcAft>
              <a:buNone/>
            </a:pPr>
            <a:endParaRPr sz="3200" dirty="0">
              <a:solidFill>
                <a:srgbClr val="000000"/>
              </a:solidFill>
              <a:latin typeface="Times New Roman"/>
              <a:ea typeface="Times New Roman"/>
              <a:cs typeface="Times New Roman"/>
              <a:sym typeface="Times New Roman"/>
            </a:endParaRPr>
          </a:p>
          <a:p>
            <a:pPr marL="0" marR="0" lvl="0" indent="0" algn="just" rtl="0">
              <a:lnSpc>
                <a:spcPct val="108000"/>
              </a:lnSpc>
              <a:spcBef>
                <a:spcPts val="0"/>
              </a:spcBef>
              <a:spcAft>
                <a:spcPts val="0"/>
              </a:spcAft>
              <a:buNone/>
            </a:pPr>
            <a:r>
              <a:rPr lang="en-US" sz="3200" dirty="0">
                <a:solidFill>
                  <a:srgbClr val="000000"/>
                </a:solidFill>
                <a:latin typeface="Times New Roman"/>
                <a:ea typeface="Times New Roman"/>
                <a:cs typeface="Times New Roman"/>
                <a:sym typeface="Times New Roman"/>
              </a:rPr>
              <a:t>S12 is a serial schedule in which all operations of T1 are performed before starting any operation of T2. Since S has been transformed into a serial schedule S12 by swapping non-conflicting operations of S1, S1 is conflict serializable.</a:t>
            </a:r>
            <a:endParaRPr sz="1200"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
        <p:nvSpPr>
          <p:cNvPr id="303" name="Google Shape;303;p25"/>
          <p:cNvSpPr txBox="1"/>
          <p:nvPr/>
        </p:nvSpPr>
        <p:spPr>
          <a:xfrm>
            <a:off x="1286760" y="1196973"/>
            <a:ext cx="9602170" cy="1054901"/>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Possible Serial Schedules are: T1-&gt;T2 or T2-&gt;T1 </a:t>
            </a:r>
            <a:endParaRPr dirty="0"/>
          </a:p>
          <a:p>
            <a:pPr marL="0" marR="0" lvl="0" indent="0" algn="ctr"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2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309" name="Google Shape;309;p26"/>
          <p:cNvSpPr txBox="1"/>
          <p:nvPr/>
        </p:nvSpPr>
        <p:spPr>
          <a:xfrm>
            <a:off x="1279120" y="771975"/>
            <a:ext cx="12235445" cy="1263103"/>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Conflict Equivalent</a:t>
            </a:r>
          </a:p>
          <a:p>
            <a:pPr marL="0" marR="0" lvl="0" indent="0" algn="l" rtl="0">
              <a:lnSpc>
                <a:spcPct val="108000"/>
              </a:lnSpc>
              <a:spcBef>
                <a:spcPts val="0"/>
              </a:spcBef>
              <a:spcAft>
                <a:spcPts val="0"/>
              </a:spcAft>
              <a:buNone/>
            </a:pPr>
            <a:endParaRPr lang="en-US" dirty="0"/>
          </a:p>
        </p:txBody>
      </p:sp>
      <p:sp>
        <p:nvSpPr>
          <p:cNvPr id="310" name="Google Shape;310;p26"/>
          <p:cNvSpPr txBox="1"/>
          <p:nvPr/>
        </p:nvSpPr>
        <p:spPr>
          <a:xfrm>
            <a:off x="1698171" y="2173108"/>
            <a:ext cx="15358272" cy="6581353"/>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Two schedules are said to be conflict equivalent when one can be transformed to another by swapping non-conflicting operations. In the example discussed above, S11 is conflict equivalent to S1 (S1 can be converted to S11 by swapping non-conflicting operations). Similarly, S11 is conflict equivalent to S12, and so on.</a:t>
            </a:r>
            <a:endParaRPr dirty="0"/>
          </a:p>
          <a:p>
            <a:pPr marL="0" marR="0" lvl="0" indent="0" algn="just" rtl="0">
              <a:lnSpc>
                <a:spcPct val="108000"/>
              </a:lnSpc>
              <a:spcBef>
                <a:spcPts val="0"/>
              </a:spcBef>
              <a:spcAft>
                <a:spcPts val="0"/>
              </a:spcAft>
              <a:buNone/>
            </a:pPr>
            <a:r>
              <a:rPr lang="en-US" sz="3600" b="1" dirty="0">
                <a:solidFill>
                  <a:srgbClr val="000000"/>
                </a:solidFill>
                <a:latin typeface="Times New Roman"/>
                <a:ea typeface="Times New Roman"/>
                <a:cs typeface="Times New Roman"/>
                <a:sym typeface="Times New Roman"/>
              </a:rPr>
              <a:t>Note 1: </a:t>
            </a:r>
            <a:r>
              <a:rPr lang="en-US" sz="3600" dirty="0">
                <a:solidFill>
                  <a:srgbClr val="000000"/>
                </a:solidFill>
                <a:latin typeface="Times New Roman"/>
                <a:ea typeface="Times New Roman"/>
                <a:cs typeface="Times New Roman"/>
                <a:sym typeface="Times New Roman"/>
              </a:rPr>
              <a:t>Although S2 is not conflict serializable, still it is conflict equivalent to S21 and S22 because S2 can be converted to S21 and S22 by swapping non-conflicting operations.</a:t>
            </a:r>
            <a:endParaRPr dirty="0"/>
          </a:p>
          <a:p>
            <a:pPr marL="0" marR="0" lvl="0" indent="0" algn="just" rtl="0">
              <a:lnSpc>
                <a:spcPct val="108000"/>
              </a:lnSpc>
              <a:spcBef>
                <a:spcPts val="0"/>
              </a:spcBef>
              <a:spcAft>
                <a:spcPts val="0"/>
              </a:spcAft>
              <a:buNone/>
            </a:pPr>
            <a:r>
              <a:rPr lang="en-US" sz="3600" b="1" dirty="0">
                <a:solidFill>
                  <a:srgbClr val="000000"/>
                </a:solidFill>
                <a:latin typeface="Times New Roman"/>
                <a:ea typeface="Times New Roman"/>
                <a:cs typeface="Times New Roman"/>
                <a:sym typeface="Times New Roman"/>
              </a:rPr>
              <a:t>Note 2: </a:t>
            </a:r>
            <a:r>
              <a:rPr lang="en-US" sz="3600" dirty="0">
                <a:solidFill>
                  <a:srgbClr val="000000"/>
                </a:solidFill>
                <a:latin typeface="Times New Roman"/>
                <a:ea typeface="Times New Roman"/>
                <a:cs typeface="Times New Roman"/>
                <a:sym typeface="Times New Roman"/>
              </a:rPr>
              <a:t>The schedule which is conflict serializable is always conflict equivalent to one of the serial schedule. S1 schedule discussed above (which is conflict serializable) is equivalent to the serial schedule (T1-&gt;T2).</a:t>
            </a: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27"/>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317" name="Google Shape;317;p27"/>
          <p:cNvSpPr txBox="1"/>
          <p:nvPr/>
        </p:nvSpPr>
        <p:spPr>
          <a:xfrm>
            <a:off x="1544938" y="352259"/>
            <a:ext cx="15730692" cy="4188134"/>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b="1" dirty="0">
                <a:solidFill>
                  <a:srgbClr val="000000"/>
                </a:solidFill>
                <a:latin typeface="Times"/>
                <a:ea typeface="Times"/>
                <a:cs typeface="Times"/>
                <a:sym typeface="Times"/>
              </a:rPr>
              <a:t>Advantages of Conflict Serializability</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1" i="0" u="none" strike="noStrike" cap="none" dirty="0">
                <a:solidFill>
                  <a:srgbClr val="000000"/>
                </a:solidFill>
                <a:latin typeface="Times"/>
                <a:ea typeface="Times"/>
                <a:cs typeface="Times"/>
                <a:sym typeface="Times"/>
              </a:rPr>
              <a:t>Consistency: </a:t>
            </a:r>
            <a:r>
              <a:rPr lang="en-US" sz="3600" b="0" i="0" u="none" strike="noStrike" cap="none" dirty="0">
                <a:solidFill>
                  <a:srgbClr val="000000"/>
                </a:solidFill>
                <a:latin typeface="Times New Roman"/>
                <a:ea typeface="Times New Roman"/>
                <a:cs typeface="Times New Roman"/>
                <a:sym typeface="Times New Roman"/>
              </a:rPr>
              <a:t>Conflict serializability guarantees that the transactions’ outcomes correspond to the sequence in which they were carried out.</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1" i="0" u="none" strike="noStrike" cap="none" dirty="0">
                <a:solidFill>
                  <a:srgbClr val="000000"/>
                </a:solidFill>
                <a:latin typeface="Times"/>
                <a:ea typeface="Times"/>
                <a:cs typeface="Times"/>
                <a:sym typeface="Times"/>
              </a:rPr>
              <a:t>Correctness:</a:t>
            </a:r>
            <a:r>
              <a:rPr lang="en-US" sz="3600" b="0" i="0" u="none" strike="noStrike" cap="none" dirty="0">
                <a:solidFill>
                  <a:srgbClr val="000000"/>
                </a:solidFill>
                <a:latin typeface="Times New Roman"/>
                <a:ea typeface="Times New Roman"/>
                <a:cs typeface="Times New Roman"/>
                <a:sym typeface="Times New Roman"/>
              </a:rPr>
              <a:t> Regardless of the order in which transactions were submitted, conflict serializability guarantees that transactions are executed correctly.</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1" i="0" u="none" strike="noStrike" cap="none" dirty="0">
                <a:solidFill>
                  <a:srgbClr val="000000"/>
                </a:solidFill>
                <a:latin typeface="Times"/>
                <a:ea typeface="Times"/>
                <a:cs typeface="Times"/>
                <a:sym typeface="Times"/>
              </a:rPr>
              <a:t>Decreased Overhead:</a:t>
            </a:r>
            <a:r>
              <a:rPr lang="en-US" sz="3600" b="0" i="0" u="none" strike="noStrike" cap="none" dirty="0">
                <a:solidFill>
                  <a:srgbClr val="000000"/>
                </a:solidFill>
                <a:latin typeface="Times New Roman"/>
                <a:ea typeface="Times New Roman"/>
                <a:cs typeface="Times New Roman"/>
                <a:sym typeface="Times New Roman"/>
              </a:rPr>
              <a:t> By doing away with pointless locking and other conflict resolution techniques, conflict serializability lowers overhead.</a:t>
            </a:r>
            <a:endParaRPr dirty="0"/>
          </a:p>
        </p:txBody>
      </p:sp>
      <p:sp>
        <p:nvSpPr>
          <p:cNvPr id="318" name="Google Shape;318;p27"/>
          <p:cNvSpPr txBox="1"/>
          <p:nvPr/>
        </p:nvSpPr>
        <p:spPr>
          <a:xfrm>
            <a:off x="1544938" y="4892652"/>
            <a:ext cx="15910306" cy="5384744"/>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b="1" dirty="0">
                <a:solidFill>
                  <a:srgbClr val="000000"/>
                </a:solidFill>
                <a:latin typeface="Times"/>
                <a:ea typeface="Times"/>
                <a:cs typeface="Times"/>
                <a:sym typeface="Times"/>
              </a:rPr>
              <a:t>Disadvantages of Conflict Serializability</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1" i="0" u="none" strike="noStrike" cap="none" dirty="0">
                <a:solidFill>
                  <a:srgbClr val="000000"/>
                </a:solidFill>
                <a:latin typeface="Times"/>
                <a:ea typeface="Times"/>
                <a:cs typeface="Times"/>
                <a:sym typeface="Times"/>
              </a:rPr>
              <a:t>Complexity:</a:t>
            </a:r>
            <a:r>
              <a:rPr lang="en-US" sz="3600" b="0" i="0" u="none" strike="noStrike" cap="none" dirty="0">
                <a:solidFill>
                  <a:srgbClr val="000000"/>
                </a:solidFill>
                <a:latin typeface="Times New Roman"/>
                <a:ea typeface="Times New Roman"/>
                <a:cs typeface="Times New Roman"/>
                <a:sym typeface="Times New Roman"/>
              </a:rPr>
              <a:t> Conflict serializability can be complex to implement, especially in large and complex databases.</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1" i="0" u="none" strike="noStrike" cap="none" dirty="0">
                <a:solidFill>
                  <a:srgbClr val="000000"/>
                </a:solidFill>
                <a:latin typeface="Times"/>
                <a:ea typeface="Times"/>
                <a:cs typeface="Times"/>
                <a:sym typeface="Times"/>
              </a:rPr>
              <a:t>Reduced Performance:</a:t>
            </a:r>
            <a:r>
              <a:rPr lang="en-US" sz="3600" b="0" i="0" u="none" strike="noStrike" cap="none" dirty="0">
                <a:solidFill>
                  <a:srgbClr val="000000"/>
                </a:solidFill>
                <a:latin typeface="Times New Roman"/>
                <a:ea typeface="Times New Roman"/>
                <a:cs typeface="Times New Roman"/>
                <a:sym typeface="Times New Roman"/>
              </a:rPr>
              <a:t> Conflict serializability can reduce performance by introducing delays and overhead due to locking and other conflict resolution mechanisms.</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1" i="0" u="none" strike="noStrike" cap="none" dirty="0">
                <a:solidFill>
                  <a:srgbClr val="000000"/>
                </a:solidFill>
                <a:latin typeface="Times"/>
                <a:ea typeface="Times"/>
                <a:cs typeface="Times"/>
                <a:sym typeface="Times"/>
              </a:rPr>
              <a:t>Limited Concurrency:</a:t>
            </a:r>
            <a:r>
              <a:rPr lang="en-US" sz="3600" b="0" i="0" u="none" strike="noStrike" cap="none" dirty="0">
                <a:solidFill>
                  <a:srgbClr val="000000"/>
                </a:solidFill>
                <a:latin typeface="Times New Roman"/>
                <a:ea typeface="Times New Roman"/>
                <a:cs typeface="Times New Roman"/>
                <a:sym typeface="Times New Roman"/>
              </a:rPr>
              <a:t> Conflict serializability can limit the degree of concurrency in the system because it may delay some transactions to avoid conflicts.</a:t>
            </a: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28"/>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324" name="Google Shape;324;p28"/>
          <p:cNvSpPr txBox="1"/>
          <p:nvPr/>
        </p:nvSpPr>
        <p:spPr>
          <a:xfrm>
            <a:off x="1196634" y="609958"/>
            <a:ext cx="12235445" cy="1263103"/>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View Serializability</a:t>
            </a:r>
          </a:p>
          <a:p>
            <a:pPr marL="0" marR="0" lvl="0" indent="0" algn="l" rtl="0">
              <a:lnSpc>
                <a:spcPct val="108000"/>
              </a:lnSpc>
              <a:spcBef>
                <a:spcPts val="0"/>
              </a:spcBef>
              <a:spcAft>
                <a:spcPts val="0"/>
              </a:spcAft>
              <a:buNone/>
            </a:pPr>
            <a:endParaRPr lang="en-US" dirty="0"/>
          </a:p>
        </p:txBody>
      </p:sp>
      <p:sp>
        <p:nvSpPr>
          <p:cNvPr id="325" name="Google Shape;325;p28"/>
          <p:cNvSpPr/>
          <p:nvPr/>
        </p:nvSpPr>
        <p:spPr>
          <a:xfrm>
            <a:off x="9609086" y="4896417"/>
            <a:ext cx="7460517" cy="4950530"/>
          </a:xfrm>
          <a:custGeom>
            <a:avLst/>
            <a:gdLst/>
            <a:ahLst/>
            <a:cxnLst/>
            <a:rect l="l" t="t" r="r" b="b"/>
            <a:pathLst>
              <a:path w="7460517" h="5893199" extrusionOk="0">
                <a:moveTo>
                  <a:pt x="0" y="0"/>
                </a:moveTo>
                <a:lnTo>
                  <a:pt x="7460517" y="0"/>
                </a:lnTo>
                <a:lnTo>
                  <a:pt x="7460517" y="5893198"/>
                </a:lnTo>
                <a:lnTo>
                  <a:pt x="0" y="5893198"/>
                </a:lnTo>
                <a:lnTo>
                  <a:pt x="0" y="0"/>
                </a:lnTo>
                <a:close/>
              </a:path>
            </a:pathLst>
          </a:custGeom>
          <a:blipFill rotWithShape="1">
            <a:blip r:embed="rId4">
              <a:alphaModFix/>
            </a:blip>
            <a:stretch>
              <a:fillRect r="-1298" b="-2751"/>
            </a:stretch>
          </a:blipFill>
          <a:ln>
            <a:noFill/>
          </a:ln>
        </p:spPr>
      </p:sp>
      <p:sp>
        <p:nvSpPr>
          <p:cNvPr id="327" name="Google Shape;327;p28"/>
          <p:cNvSpPr txBox="1"/>
          <p:nvPr/>
        </p:nvSpPr>
        <p:spPr>
          <a:xfrm>
            <a:off x="1518557" y="2220702"/>
            <a:ext cx="16166621" cy="2393219"/>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The </a:t>
            </a:r>
            <a:r>
              <a:rPr lang="en-US" sz="3600" b="1" dirty="0">
                <a:solidFill>
                  <a:srgbClr val="000000"/>
                </a:solidFill>
                <a:latin typeface="Times"/>
                <a:ea typeface="Times"/>
                <a:cs typeface="Times"/>
                <a:sym typeface="Times"/>
              </a:rPr>
              <a:t>View serializability</a:t>
            </a:r>
            <a:r>
              <a:rPr lang="en-US" sz="3600" dirty="0">
                <a:solidFill>
                  <a:srgbClr val="000000"/>
                </a:solidFill>
                <a:latin typeface="Times New Roman"/>
                <a:ea typeface="Times New Roman"/>
                <a:cs typeface="Times New Roman"/>
                <a:sym typeface="Times New Roman"/>
              </a:rPr>
              <a:t> is a concept that is used to compute whether schedules are View-Serializable or not. A schedule is said to be View-Serializable if it is viewing equivalent to a Serial Schedule (where no interleaving of transactions is possible). </a:t>
            </a: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
        <p:nvSpPr>
          <p:cNvPr id="328" name="Google Shape;328;p28"/>
          <p:cNvSpPr txBox="1"/>
          <p:nvPr/>
        </p:nvSpPr>
        <p:spPr>
          <a:xfrm>
            <a:off x="1665514" y="4601762"/>
            <a:ext cx="7013402" cy="2393219"/>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b="1" dirty="0">
                <a:solidFill>
                  <a:srgbClr val="000000"/>
                </a:solidFill>
                <a:latin typeface="Times"/>
                <a:ea typeface="Times"/>
                <a:cs typeface="Times"/>
                <a:sym typeface="Times"/>
              </a:rPr>
              <a:t>Example: </a:t>
            </a:r>
            <a:r>
              <a:rPr lang="en-US" sz="3600" dirty="0">
                <a:solidFill>
                  <a:srgbClr val="000000"/>
                </a:solidFill>
                <a:latin typeface="Times New Roman"/>
                <a:ea typeface="Times New Roman"/>
                <a:cs typeface="Times New Roman"/>
                <a:sym typeface="Times New Roman"/>
              </a:rPr>
              <a:t>Understanding</a:t>
            </a:r>
            <a:r>
              <a:rPr lang="en-US" sz="3600" b="1" dirty="0">
                <a:solidFill>
                  <a:srgbClr val="000000"/>
                </a:solidFill>
                <a:latin typeface="Times"/>
                <a:ea typeface="Times"/>
                <a:cs typeface="Times"/>
                <a:sym typeface="Times"/>
              </a:rPr>
              <a:t> </a:t>
            </a:r>
            <a:r>
              <a:rPr lang="en-US" sz="3600" dirty="0">
                <a:solidFill>
                  <a:srgbClr val="000000"/>
                </a:solidFill>
                <a:latin typeface="Times New Roman"/>
                <a:ea typeface="Times New Roman"/>
                <a:cs typeface="Times New Roman"/>
                <a:sym typeface="Times New Roman"/>
              </a:rPr>
              <a:t>View-Serializability first with a Schedule S1 : </a:t>
            </a: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29"/>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335" name="Google Shape;335;p29"/>
          <p:cNvSpPr/>
          <p:nvPr/>
        </p:nvSpPr>
        <p:spPr>
          <a:xfrm>
            <a:off x="10642091" y="2697529"/>
            <a:ext cx="6614920" cy="5192158"/>
          </a:xfrm>
          <a:custGeom>
            <a:avLst/>
            <a:gdLst/>
            <a:ahLst/>
            <a:cxnLst/>
            <a:rect l="l" t="t" r="r" b="b"/>
            <a:pathLst>
              <a:path w="6614920" h="5192158" extrusionOk="0">
                <a:moveTo>
                  <a:pt x="0" y="0"/>
                </a:moveTo>
                <a:lnTo>
                  <a:pt x="6614921" y="0"/>
                </a:lnTo>
                <a:lnTo>
                  <a:pt x="6614921" y="5192158"/>
                </a:lnTo>
                <a:lnTo>
                  <a:pt x="0" y="5192158"/>
                </a:lnTo>
                <a:lnTo>
                  <a:pt x="0" y="0"/>
                </a:lnTo>
                <a:close/>
              </a:path>
            </a:pathLst>
          </a:custGeom>
          <a:blipFill rotWithShape="1">
            <a:blip r:embed="rId4">
              <a:alphaModFix/>
            </a:blip>
            <a:stretch>
              <a:fillRect/>
            </a:stretch>
          </a:blipFill>
          <a:ln>
            <a:noFill/>
          </a:ln>
        </p:spPr>
      </p:sp>
      <p:sp>
        <p:nvSpPr>
          <p:cNvPr id="336" name="Google Shape;336;p29"/>
          <p:cNvSpPr txBox="1"/>
          <p:nvPr/>
        </p:nvSpPr>
        <p:spPr>
          <a:xfrm>
            <a:off x="1191986" y="2128359"/>
            <a:ext cx="16493192" cy="598305"/>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So, its Conflict Precedence Graph is as follows – </a:t>
            </a:r>
            <a:endParaRPr dirty="0"/>
          </a:p>
        </p:txBody>
      </p:sp>
      <p:sp>
        <p:nvSpPr>
          <p:cNvPr id="337" name="Google Shape;337;p29"/>
          <p:cNvSpPr txBox="1"/>
          <p:nvPr/>
        </p:nvSpPr>
        <p:spPr>
          <a:xfrm>
            <a:off x="1191986" y="3075808"/>
            <a:ext cx="8666702" cy="3589829"/>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The above graph contains cycle/loop which means it is not conflict-serializable but it does not mean that it cannot be consistent and equivalent to the serial schedule it may or may not be. </a:t>
            </a:r>
            <a:endParaRPr dirty="0"/>
          </a:p>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 </a:t>
            </a:r>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30"/>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344" name="Google Shape;344;p30"/>
          <p:cNvSpPr/>
          <p:nvPr/>
        </p:nvSpPr>
        <p:spPr>
          <a:xfrm>
            <a:off x="4908613" y="4201311"/>
            <a:ext cx="7421572" cy="6085689"/>
          </a:xfrm>
          <a:custGeom>
            <a:avLst/>
            <a:gdLst/>
            <a:ahLst/>
            <a:cxnLst/>
            <a:rect l="l" t="t" r="r" b="b"/>
            <a:pathLst>
              <a:path w="7421572" h="6085689" extrusionOk="0">
                <a:moveTo>
                  <a:pt x="0" y="0"/>
                </a:moveTo>
                <a:lnTo>
                  <a:pt x="7421572" y="0"/>
                </a:lnTo>
                <a:lnTo>
                  <a:pt x="7421572" y="6085689"/>
                </a:lnTo>
                <a:lnTo>
                  <a:pt x="0" y="6085689"/>
                </a:lnTo>
                <a:lnTo>
                  <a:pt x="0" y="0"/>
                </a:lnTo>
                <a:close/>
              </a:path>
            </a:pathLst>
          </a:custGeom>
          <a:blipFill rotWithShape="1">
            <a:blip r:embed="rId4">
              <a:alphaModFix/>
            </a:blip>
            <a:stretch>
              <a:fillRect/>
            </a:stretch>
          </a:blipFill>
          <a:ln>
            <a:noFill/>
          </a:ln>
        </p:spPr>
      </p:sp>
      <p:sp>
        <p:nvSpPr>
          <p:cNvPr id="345" name="Google Shape;345;p30"/>
          <p:cNvSpPr txBox="1"/>
          <p:nvPr/>
        </p:nvSpPr>
        <p:spPr>
          <a:xfrm>
            <a:off x="1377091" y="1721133"/>
            <a:ext cx="15980180" cy="2991525"/>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err="1">
                <a:solidFill>
                  <a:srgbClr val="000000"/>
                </a:solidFill>
                <a:latin typeface="Times New Roman"/>
                <a:ea typeface="Times New Roman"/>
                <a:cs typeface="Times New Roman"/>
                <a:sym typeface="Times New Roman"/>
              </a:rPr>
              <a:t>LookSchedule</a:t>
            </a:r>
            <a:r>
              <a:rPr lang="en-US" sz="3600" dirty="0">
                <a:solidFill>
                  <a:srgbClr val="000000"/>
                </a:solidFill>
                <a:latin typeface="Times New Roman"/>
                <a:ea typeface="Times New Roman"/>
                <a:cs typeface="Times New Roman"/>
                <a:sym typeface="Times New Roman"/>
              </a:rPr>
              <a:t> S’1 : </a:t>
            </a:r>
            <a:endParaRPr dirty="0"/>
          </a:p>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In the above example if we do swapping among some transaction’s operation so our table will look like this – </a:t>
            </a: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 </a:t>
            </a:r>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31"/>
          <p:cNvSpPr/>
          <p:nvPr/>
        </p:nvSpPr>
        <p:spPr>
          <a:xfrm>
            <a:off x="27169" y="-815518"/>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352" name="Google Shape;352;p31"/>
          <p:cNvSpPr/>
          <p:nvPr/>
        </p:nvSpPr>
        <p:spPr>
          <a:xfrm>
            <a:off x="4701838" y="799189"/>
            <a:ext cx="5257792" cy="4183290"/>
          </a:xfrm>
          <a:custGeom>
            <a:avLst/>
            <a:gdLst/>
            <a:ahLst/>
            <a:cxnLst/>
            <a:rect l="l" t="t" r="r" b="b"/>
            <a:pathLst>
              <a:path w="5257792" h="4183290" extrusionOk="0">
                <a:moveTo>
                  <a:pt x="0" y="0"/>
                </a:moveTo>
                <a:lnTo>
                  <a:pt x="5257792" y="0"/>
                </a:lnTo>
                <a:lnTo>
                  <a:pt x="5257792" y="4183290"/>
                </a:lnTo>
                <a:lnTo>
                  <a:pt x="0" y="4183290"/>
                </a:lnTo>
                <a:lnTo>
                  <a:pt x="0" y="0"/>
                </a:lnTo>
                <a:close/>
              </a:path>
            </a:pathLst>
          </a:custGeom>
          <a:blipFill rotWithShape="1">
            <a:blip r:embed="rId4">
              <a:alphaModFix/>
            </a:blip>
            <a:stretch>
              <a:fillRect l="-11826" t="-9694" r="-12593" b="-15491"/>
            </a:stretch>
          </a:blipFill>
          <a:ln>
            <a:noFill/>
          </a:ln>
        </p:spPr>
      </p:sp>
      <p:sp>
        <p:nvSpPr>
          <p:cNvPr id="353" name="Google Shape;353;p31"/>
          <p:cNvSpPr txBox="1"/>
          <p:nvPr/>
        </p:nvSpPr>
        <p:spPr>
          <a:xfrm>
            <a:off x="1658430" y="276818"/>
            <a:ext cx="16602401" cy="1054901"/>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Its Precedence Graph is as follows – </a:t>
            </a:r>
            <a:endParaRPr dirty="0"/>
          </a:p>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 </a:t>
            </a:r>
            <a:endParaRPr dirty="0"/>
          </a:p>
        </p:txBody>
      </p:sp>
      <p:sp>
        <p:nvSpPr>
          <p:cNvPr id="354" name="Google Shape;354;p31"/>
          <p:cNvSpPr txBox="1"/>
          <p:nvPr/>
        </p:nvSpPr>
        <p:spPr>
          <a:xfrm>
            <a:off x="1658430" y="5154652"/>
            <a:ext cx="15617200" cy="4387483"/>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200" dirty="0">
                <a:solidFill>
                  <a:srgbClr val="000000"/>
                </a:solidFill>
                <a:latin typeface="Times New Roman"/>
                <a:ea typeface="Times New Roman"/>
                <a:cs typeface="Times New Roman"/>
                <a:sym typeface="Times New Roman"/>
              </a:rPr>
              <a:t>Now, we see that the precedence graph of the second table does not contain any cycle/loop, which means it is conflict serializable (equivalent to serial schedule, consistent) and the final result is coming the same as the first table. </a:t>
            </a:r>
            <a:endParaRPr sz="1200" dirty="0"/>
          </a:p>
          <a:p>
            <a:pPr marL="0" marR="0" lvl="0" indent="0" algn="just" rtl="0">
              <a:lnSpc>
                <a:spcPct val="108000"/>
              </a:lnSpc>
              <a:spcBef>
                <a:spcPts val="0"/>
              </a:spcBef>
              <a:spcAft>
                <a:spcPts val="0"/>
              </a:spcAft>
              <a:buNone/>
            </a:pPr>
            <a:r>
              <a:rPr lang="en-US" sz="3200" dirty="0">
                <a:solidFill>
                  <a:srgbClr val="000000"/>
                </a:solidFill>
                <a:latin typeface="Times New Roman"/>
                <a:ea typeface="Times New Roman"/>
                <a:cs typeface="Times New Roman"/>
                <a:sym typeface="Times New Roman"/>
              </a:rPr>
              <a:t>Note: In the above example we understood that if a schedule is Conflict-serializable so we can easily predict that It would be – </a:t>
            </a:r>
            <a:endParaRPr sz="1200" dirty="0"/>
          </a:p>
          <a:p>
            <a:pPr marL="0" marR="0" lvl="0" indent="0" algn="just" rtl="0">
              <a:lnSpc>
                <a:spcPct val="108000"/>
              </a:lnSpc>
              <a:spcBef>
                <a:spcPts val="0"/>
              </a:spcBef>
              <a:spcAft>
                <a:spcPts val="0"/>
              </a:spcAft>
              <a:buNone/>
            </a:pPr>
            <a:r>
              <a:rPr lang="en-US" sz="3200" dirty="0">
                <a:solidFill>
                  <a:srgbClr val="000000"/>
                </a:solidFill>
                <a:latin typeface="Times New Roman"/>
                <a:ea typeface="Times New Roman"/>
                <a:cs typeface="Times New Roman"/>
                <a:sym typeface="Times New Roman"/>
              </a:rPr>
              <a:t>Equivalent to a serial schedule,</a:t>
            </a:r>
            <a:endParaRPr sz="1200" dirty="0"/>
          </a:p>
          <a:p>
            <a:pPr marL="0" marR="0" lvl="0" indent="0" algn="just" rtl="0">
              <a:lnSpc>
                <a:spcPct val="108000"/>
              </a:lnSpc>
              <a:spcBef>
                <a:spcPts val="0"/>
              </a:spcBef>
              <a:spcAft>
                <a:spcPts val="0"/>
              </a:spcAft>
              <a:buNone/>
            </a:pPr>
            <a:r>
              <a:rPr lang="en-US" sz="3200" dirty="0">
                <a:solidFill>
                  <a:srgbClr val="000000"/>
                </a:solidFill>
                <a:latin typeface="Times New Roman"/>
                <a:ea typeface="Times New Roman"/>
                <a:cs typeface="Times New Roman"/>
                <a:sym typeface="Times New Roman"/>
              </a:rPr>
              <a:t>Consistent,</a:t>
            </a:r>
            <a:endParaRPr sz="1200" dirty="0"/>
          </a:p>
          <a:p>
            <a:pPr marL="0" marR="0" lvl="0" indent="0" algn="just" rtl="0">
              <a:lnSpc>
                <a:spcPct val="108000"/>
              </a:lnSpc>
              <a:spcBef>
                <a:spcPts val="0"/>
              </a:spcBef>
              <a:spcAft>
                <a:spcPts val="0"/>
              </a:spcAft>
              <a:buNone/>
            </a:pPr>
            <a:r>
              <a:rPr lang="en-US" sz="3200" dirty="0">
                <a:solidFill>
                  <a:srgbClr val="000000"/>
                </a:solidFill>
                <a:latin typeface="Times New Roman"/>
                <a:ea typeface="Times New Roman"/>
                <a:cs typeface="Times New Roman"/>
                <a:sym typeface="Times New Roman"/>
              </a:rPr>
              <a:t>And also, a View-Serializable.</a:t>
            </a:r>
            <a:endParaRPr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32"/>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360" name="Google Shape;360;p32"/>
          <p:cNvSpPr txBox="1"/>
          <p:nvPr/>
        </p:nvSpPr>
        <p:spPr>
          <a:xfrm>
            <a:off x="1279120" y="771975"/>
            <a:ext cx="12235445" cy="1263103"/>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Schedule</a:t>
            </a:r>
          </a:p>
          <a:p>
            <a:pPr marL="0" marR="0" lvl="0" indent="0" algn="l" rtl="0">
              <a:lnSpc>
                <a:spcPct val="108000"/>
              </a:lnSpc>
              <a:spcBef>
                <a:spcPts val="0"/>
              </a:spcBef>
              <a:spcAft>
                <a:spcPts val="0"/>
              </a:spcAft>
              <a:buNone/>
            </a:pPr>
            <a:endParaRPr lang="en-US" dirty="0"/>
          </a:p>
        </p:txBody>
      </p:sp>
      <p:sp>
        <p:nvSpPr>
          <p:cNvPr id="361" name="Google Shape;361;p32"/>
          <p:cNvSpPr txBox="1"/>
          <p:nvPr/>
        </p:nvSpPr>
        <p:spPr>
          <a:xfrm>
            <a:off x="1567543" y="2118442"/>
            <a:ext cx="15691757" cy="5384744"/>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Schedule, as the name suggests is a process of lining the transactions and executing them one by one. When there are multiple transactions that are running in a concurrent manner and the order of operation is needed to be set so that the operations do not overlap each other, Scheduling is brought into play and the transactions are timed accordingly.</a:t>
            </a:r>
            <a:endParaRPr dirty="0"/>
          </a:p>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It is of two types:</a:t>
            </a:r>
            <a:endParaRPr dirty="0"/>
          </a:p>
          <a:p>
            <a:pPr marL="777240" marR="0" lvl="1" indent="-388620" algn="just" rtl="0">
              <a:lnSpc>
                <a:spcPct val="108000"/>
              </a:lnSpc>
              <a:spcBef>
                <a:spcPts val="0"/>
              </a:spcBef>
              <a:spcAft>
                <a:spcPts val="0"/>
              </a:spcAft>
              <a:buClr>
                <a:srgbClr val="000000"/>
              </a:buClr>
              <a:buSzPts val="3600"/>
              <a:buFont typeface="Times"/>
              <a:buAutoNum type="arabicPeriod"/>
            </a:pPr>
            <a:r>
              <a:rPr lang="en-US" sz="3600" b="1" i="0" u="none" strike="noStrike" cap="none" dirty="0">
                <a:solidFill>
                  <a:srgbClr val="000000"/>
                </a:solidFill>
                <a:latin typeface="Times"/>
                <a:ea typeface="Times"/>
                <a:cs typeface="Times"/>
                <a:sym typeface="Times"/>
              </a:rPr>
              <a:t>Serial Schedule</a:t>
            </a:r>
            <a:endParaRPr dirty="0"/>
          </a:p>
          <a:p>
            <a:pPr marL="777240" marR="0" lvl="1" indent="-388620" algn="just" rtl="0">
              <a:lnSpc>
                <a:spcPct val="108000"/>
              </a:lnSpc>
              <a:spcBef>
                <a:spcPts val="0"/>
              </a:spcBef>
              <a:spcAft>
                <a:spcPts val="0"/>
              </a:spcAft>
              <a:buClr>
                <a:srgbClr val="000000"/>
              </a:buClr>
              <a:buSzPts val="3600"/>
              <a:buFont typeface="Times"/>
              <a:buAutoNum type="arabicPeriod"/>
            </a:pPr>
            <a:r>
              <a:rPr lang="en-US" sz="3600" b="1" i="0" u="none" strike="noStrike" cap="none" dirty="0">
                <a:solidFill>
                  <a:srgbClr val="000000"/>
                </a:solidFill>
                <a:latin typeface="Times"/>
                <a:ea typeface="Times"/>
                <a:cs typeface="Times"/>
                <a:sym typeface="Times"/>
              </a:rPr>
              <a:t>Non-Serial Schedule</a:t>
            </a:r>
            <a:endParaRPr sz="3600" b="1" i="0" u="sng" strike="noStrike" cap="none" dirty="0">
              <a:solidFill>
                <a:srgbClr val="000000"/>
              </a:solidFill>
              <a:latin typeface="Times"/>
              <a:ea typeface="Times"/>
              <a:cs typeface="Times"/>
              <a:sym typeface="Times"/>
              <a:hlinkClick r:id="rId4">
                <a:extLst>
                  <a:ext uri="{A12FA001-AC4F-418D-AE19-62706E023703}">
                    <ahyp:hlinkClr xmlns:ahyp="http://schemas.microsoft.com/office/drawing/2018/hyperlinkcolor" val="tx"/>
                  </a:ext>
                </a:extLst>
              </a:hlinkClick>
            </a:endParaRPr>
          </a:p>
          <a:p>
            <a:pPr marL="0" marR="0" lvl="0" indent="0" algn="just" rtl="0">
              <a:lnSpc>
                <a:spcPct val="108000"/>
              </a:lnSpc>
              <a:spcBef>
                <a:spcPts val="0"/>
              </a:spcBef>
              <a:spcAft>
                <a:spcPts val="0"/>
              </a:spcAft>
              <a:buNone/>
            </a:pPr>
            <a:endParaRPr sz="3600" b="1" u="sng" dirty="0">
              <a:solidFill>
                <a:srgbClr val="000000"/>
              </a:solidFill>
              <a:latin typeface="Times"/>
              <a:ea typeface="Times"/>
              <a:cs typeface="Times"/>
              <a:sym typeface="Times"/>
              <a:hlinkClick r:id="rId4">
                <a:extLst>
                  <a:ext uri="{A12FA001-AC4F-418D-AE19-62706E023703}">
                    <ahyp:hlinkClr xmlns:ahyp="http://schemas.microsoft.com/office/drawing/2018/hyperlinkcolor" val="tx"/>
                  </a:ext>
                </a:extLst>
              </a:hlinkClick>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33"/>
          <p:cNvSpPr/>
          <p:nvPr/>
        </p:nvSpPr>
        <p:spPr>
          <a:xfrm>
            <a:off x="0" y="-16329"/>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367" name="Google Shape;367;p33"/>
          <p:cNvSpPr txBox="1"/>
          <p:nvPr/>
        </p:nvSpPr>
        <p:spPr>
          <a:xfrm>
            <a:off x="1279120" y="771975"/>
            <a:ext cx="12235445" cy="1263103"/>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Types of Schedules in DBMS</a:t>
            </a:r>
          </a:p>
          <a:p>
            <a:pPr marL="0" marR="0" lvl="0" indent="0" algn="l" rtl="0">
              <a:lnSpc>
                <a:spcPct val="108000"/>
              </a:lnSpc>
              <a:spcBef>
                <a:spcPts val="0"/>
              </a:spcBef>
              <a:spcAft>
                <a:spcPts val="0"/>
              </a:spcAft>
              <a:buNone/>
            </a:pPr>
            <a:endParaRPr lang="en-US" dirty="0"/>
          </a:p>
        </p:txBody>
      </p:sp>
      <p:grpSp>
        <p:nvGrpSpPr>
          <p:cNvPr id="368" name="Google Shape;368;p33"/>
          <p:cNvGrpSpPr/>
          <p:nvPr/>
        </p:nvGrpSpPr>
        <p:grpSpPr>
          <a:xfrm>
            <a:off x="3408784" y="3659073"/>
            <a:ext cx="10385776" cy="6387252"/>
            <a:chOff x="0" y="0"/>
            <a:chExt cx="13847701" cy="8516336"/>
          </a:xfrm>
        </p:grpSpPr>
        <p:sp>
          <p:nvSpPr>
            <p:cNvPr id="369" name="Google Shape;369;p33"/>
            <p:cNvSpPr/>
            <p:nvPr/>
          </p:nvSpPr>
          <p:spPr>
            <a:xfrm>
              <a:off x="0" y="0"/>
              <a:ext cx="13847701" cy="8516336"/>
            </a:xfrm>
            <a:custGeom>
              <a:avLst/>
              <a:gdLst/>
              <a:ahLst/>
              <a:cxnLst/>
              <a:rect l="l" t="t" r="r" b="b"/>
              <a:pathLst>
                <a:path w="13847701" h="8516336" extrusionOk="0">
                  <a:moveTo>
                    <a:pt x="0" y="0"/>
                  </a:moveTo>
                  <a:lnTo>
                    <a:pt x="13847701" y="0"/>
                  </a:lnTo>
                  <a:lnTo>
                    <a:pt x="13847701" y="8516336"/>
                  </a:lnTo>
                  <a:lnTo>
                    <a:pt x="0" y="8516336"/>
                  </a:lnTo>
                  <a:lnTo>
                    <a:pt x="0" y="0"/>
                  </a:lnTo>
                  <a:close/>
                </a:path>
              </a:pathLst>
            </a:custGeom>
            <a:blipFill rotWithShape="1">
              <a:blip r:embed="rId4">
                <a:alphaModFix/>
              </a:blip>
              <a:stretch>
                <a:fillRect/>
              </a:stretch>
            </a:blipFill>
            <a:ln>
              <a:noFill/>
            </a:ln>
          </p:spPr>
        </p:sp>
        <p:grpSp>
          <p:nvGrpSpPr>
            <p:cNvPr id="370" name="Google Shape;370;p33"/>
            <p:cNvGrpSpPr/>
            <p:nvPr/>
          </p:nvGrpSpPr>
          <p:grpSpPr>
            <a:xfrm>
              <a:off x="11457524" y="6991905"/>
              <a:ext cx="2016851" cy="1187382"/>
              <a:chOff x="0" y="-38100"/>
              <a:chExt cx="398390" cy="234544"/>
            </a:xfrm>
          </p:grpSpPr>
          <p:sp>
            <p:nvSpPr>
              <p:cNvPr id="371" name="Google Shape;371;p33"/>
              <p:cNvSpPr/>
              <p:nvPr/>
            </p:nvSpPr>
            <p:spPr>
              <a:xfrm>
                <a:off x="0" y="0"/>
                <a:ext cx="398390" cy="196444"/>
              </a:xfrm>
              <a:custGeom>
                <a:avLst/>
                <a:gdLst/>
                <a:ahLst/>
                <a:cxnLst/>
                <a:rect l="l" t="t" r="r" b="b"/>
                <a:pathLst>
                  <a:path w="398390" h="196444" extrusionOk="0">
                    <a:moveTo>
                      <a:pt x="0" y="0"/>
                    </a:moveTo>
                    <a:lnTo>
                      <a:pt x="398390" y="0"/>
                    </a:lnTo>
                    <a:lnTo>
                      <a:pt x="398390" y="196444"/>
                    </a:lnTo>
                    <a:lnTo>
                      <a:pt x="0" y="196444"/>
                    </a:lnTo>
                    <a:close/>
                  </a:path>
                </a:pathLst>
              </a:custGeom>
              <a:solidFill>
                <a:srgbClr val="FFFFFF"/>
              </a:solidFill>
              <a:ln>
                <a:noFill/>
              </a:ln>
            </p:spPr>
          </p:sp>
          <p:sp>
            <p:nvSpPr>
              <p:cNvPr id="372" name="Google Shape;372;p33"/>
              <p:cNvSpPr txBox="1"/>
              <p:nvPr/>
            </p:nvSpPr>
            <p:spPr>
              <a:xfrm>
                <a:off x="0" y="-38100"/>
                <a:ext cx="398390" cy="234544"/>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grpSp>
      <p:sp>
        <p:nvSpPr>
          <p:cNvPr id="373" name="Google Shape;373;p33"/>
          <p:cNvSpPr txBox="1"/>
          <p:nvPr/>
        </p:nvSpPr>
        <p:spPr>
          <a:xfrm>
            <a:off x="1279120" y="2118442"/>
            <a:ext cx="15980180" cy="1196610"/>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Schedules in DBMS ensure that transactions are executed in a serializable order. Understanding the types of schedules is crucial for ensuring database consistency. </a:t>
            </a: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34"/>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379" name="Google Shape;379;p34"/>
          <p:cNvSpPr txBox="1"/>
          <p:nvPr/>
        </p:nvSpPr>
        <p:spPr>
          <a:xfrm>
            <a:off x="1279120" y="771975"/>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Serial Schedules: </a:t>
            </a:r>
            <a:endParaRPr dirty="0"/>
          </a:p>
        </p:txBody>
      </p:sp>
      <p:sp>
        <p:nvSpPr>
          <p:cNvPr id="380" name="Google Shape;380;p34"/>
          <p:cNvSpPr/>
          <p:nvPr/>
        </p:nvSpPr>
        <p:spPr>
          <a:xfrm>
            <a:off x="14603919" y="3884740"/>
            <a:ext cx="2118897" cy="5941023"/>
          </a:xfrm>
          <a:custGeom>
            <a:avLst/>
            <a:gdLst/>
            <a:ahLst/>
            <a:cxnLst/>
            <a:rect l="l" t="t" r="r" b="b"/>
            <a:pathLst>
              <a:path w="2118897" h="5941023" extrusionOk="0">
                <a:moveTo>
                  <a:pt x="0" y="0"/>
                </a:moveTo>
                <a:lnTo>
                  <a:pt x="2118897" y="0"/>
                </a:lnTo>
                <a:lnTo>
                  <a:pt x="2118897" y="5941023"/>
                </a:lnTo>
                <a:lnTo>
                  <a:pt x="0" y="5941023"/>
                </a:lnTo>
                <a:lnTo>
                  <a:pt x="0" y="0"/>
                </a:lnTo>
                <a:close/>
              </a:path>
            </a:pathLst>
          </a:custGeom>
          <a:blipFill rotWithShape="1">
            <a:blip r:embed="rId4">
              <a:alphaModFix/>
            </a:blip>
            <a:stretch>
              <a:fillRect/>
            </a:stretch>
          </a:blipFill>
          <a:ln>
            <a:noFill/>
          </a:ln>
        </p:spPr>
      </p:sp>
      <p:sp>
        <p:nvSpPr>
          <p:cNvPr id="381" name="Google Shape;381;p34"/>
          <p:cNvSpPr txBox="1"/>
          <p:nvPr/>
        </p:nvSpPr>
        <p:spPr>
          <a:xfrm>
            <a:off x="1279120" y="2118442"/>
            <a:ext cx="15443696" cy="2393219"/>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Schedules in which the transactions are executed non-interleaved, i.e., a serial schedule is one in which no transaction starts until a running transaction has ended are called serial schedules. Example: Consider the following schedule involving two transactions T 1 and T 2 .</a:t>
            </a:r>
            <a:endParaRPr dirty="0"/>
          </a:p>
        </p:txBody>
      </p:sp>
      <p:sp>
        <p:nvSpPr>
          <p:cNvPr id="382" name="Google Shape;382;p34"/>
          <p:cNvSpPr txBox="1"/>
          <p:nvPr/>
        </p:nvSpPr>
        <p:spPr>
          <a:xfrm>
            <a:off x="1279120" y="4775492"/>
            <a:ext cx="12670432" cy="2393219"/>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where R(A) denotes that a read operation is performed on some data item ‘A’ This is a serial schedule since the transactions perform serially in the order T 1 —&gt; T 2</a:t>
            </a: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35"/>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388" name="Google Shape;388;p35"/>
          <p:cNvSpPr txBox="1"/>
          <p:nvPr/>
        </p:nvSpPr>
        <p:spPr>
          <a:xfrm>
            <a:off x="1279120" y="771975"/>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Non-Serial Schedule</a:t>
            </a:r>
            <a:endParaRPr dirty="0"/>
          </a:p>
        </p:txBody>
      </p:sp>
      <p:sp>
        <p:nvSpPr>
          <p:cNvPr id="389" name="Google Shape;389;p35"/>
          <p:cNvSpPr txBox="1"/>
          <p:nvPr/>
        </p:nvSpPr>
        <p:spPr>
          <a:xfrm>
            <a:off x="1453243" y="2202090"/>
            <a:ext cx="15806057" cy="5983048"/>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This is a type of Scheduling where the operations of multiple transactions are interleaved. This might lead to a rise in the concurrency problem. The transactions are executed in a non-serial manner, keeping the end result correct and same as the serial schedule. Unlike the serial schedule where one transaction must wait for another to complete all its operation, in the non-serial schedule, the other transaction proceeds without waiting for the previous transaction to complete. This sort of schedule does not provide any benefit of the concurrent transaction. It can be of two types namely, Serializable and Non-Serializable Schedule. The Non-Serial Schedule can be divided further into Serializable and Non-Serializable.</a:t>
            </a: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36"/>
          <p:cNvSpPr/>
          <p:nvPr/>
        </p:nvSpPr>
        <p:spPr>
          <a:xfrm>
            <a:off x="0" y="16329"/>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395" name="Google Shape;395;p36"/>
          <p:cNvSpPr txBox="1"/>
          <p:nvPr/>
        </p:nvSpPr>
        <p:spPr>
          <a:xfrm>
            <a:off x="1279120" y="771975"/>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Serializable</a:t>
            </a:r>
            <a:endParaRPr dirty="0"/>
          </a:p>
        </p:txBody>
      </p:sp>
      <p:sp>
        <p:nvSpPr>
          <p:cNvPr id="396" name="Google Shape;396;p36"/>
          <p:cNvSpPr txBox="1"/>
          <p:nvPr/>
        </p:nvSpPr>
        <p:spPr>
          <a:xfrm>
            <a:off x="1279120" y="1957161"/>
            <a:ext cx="15980180" cy="5983048"/>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This is used to maintain the consistency of the database. It is mainly used in the Non-Serial scheduling to verify whether the scheduling will lead to any inconsistency or not. On the other hand, a serial schedule does not need the serializability because it follows a transaction only when the previous transaction is complete. The non-serial schedule is said to be in a serializable schedule only when it is equivalent to the serial schedules, for an n number of transactions. Since concurrency is allowed in this case thus, multiple transactions can execute concurrently. A serializable schedule helps in improving both resource utilization and CPU throughput. These are of two types:</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Conflict Serializable</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View Serializable</a:t>
            </a:r>
            <a:endParaRPr dirty="0"/>
          </a:p>
        </p:txBody>
      </p:sp>
      <p:sp>
        <p:nvSpPr>
          <p:cNvPr id="397" name="Google Shape;397;p36"/>
          <p:cNvSpPr/>
          <p:nvPr/>
        </p:nvSpPr>
        <p:spPr>
          <a:xfrm>
            <a:off x="7168243" y="6920737"/>
            <a:ext cx="6582981" cy="2818203"/>
          </a:xfrm>
          <a:custGeom>
            <a:avLst/>
            <a:gdLst/>
            <a:ahLst/>
            <a:cxnLst/>
            <a:rect l="l" t="t" r="r" b="b"/>
            <a:pathLst>
              <a:path w="6582981" h="3744954" extrusionOk="0">
                <a:moveTo>
                  <a:pt x="0" y="0"/>
                </a:moveTo>
                <a:lnTo>
                  <a:pt x="6582981" y="0"/>
                </a:lnTo>
                <a:lnTo>
                  <a:pt x="6582981" y="3744955"/>
                </a:lnTo>
                <a:lnTo>
                  <a:pt x="0" y="3744955"/>
                </a:lnTo>
                <a:lnTo>
                  <a:pt x="0" y="0"/>
                </a:lnTo>
                <a:close/>
              </a:path>
            </a:pathLst>
          </a:custGeom>
          <a:blipFill rotWithShape="1">
            <a:blip r:embed="rId4">
              <a:alphaModFix/>
            </a:blip>
            <a:stretch>
              <a:fillRect t="-6890" b="-11713"/>
            </a:stretch>
          </a:blipFill>
          <a:ln>
            <a:noFill/>
          </a:ln>
        </p:spPr>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37"/>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403" name="Google Shape;403;p37"/>
          <p:cNvSpPr txBox="1"/>
          <p:nvPr/>
        </p:nvSpPr>
        <p:spPr>
          <a:xfrm>
            <a:off x="1279120" y="771975"/>
            <a:ext cx="12235445" cy="1263103"/>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Conflict Serializable</a:t>
            </a:r>
          </a:p>
          <a:p>
            <a:pPr marL="0" marR="0" lvl="0" indent="0" algn="l" rtl="0">
              <a:lnSpc>
                <a:spcPct val="108000"/>
              </a:lnSpc>
              <a:spcBef>
                <a:spcPts val="0"/>
              </a:spcBef>
              <a:spcAft>
                <a:spcPts val="0"/>
              </a:spcAft>
              <a:buNone/>
            </a:pPr>
            <a:endParaRPr lang="en-US" dirty="0"/>
          </a:p>
        </p:txBody>
      </p:sp>
      <p:sp>
        <p:nvSpPr>
          <p:cNvPr id="404" name="Google Shape;404;p37"/>
          <p:cNvSpPr txBox="1"/>
          <p:nvPr/>
        </p:nvSpPr>
        <p:spPr>
          <a:xfrm>
            <a:off x="1864145" y="1875519"/>
            <a:ext cx="14790998" cy="5983048"/>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Concurrency serializability, also known as conflict serializability, is a type of concurrency control that guarantees that the outcome of concurrent transactions is the same as if the transactions were executed consecutively.</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1" i="0" u="none" strike="noStrike" cap="none" dirty="0">
                <a:solidFill>
                  <a:srgbClr val="000000"/>
                </a:solidFill>
                <a:latin typeface="Times"/>
                <a:ea typeface="Times"/>
                <a:cs typeface="Times"/>
                <a:sym typeface="Times"/>
              </a:rPr>
              <a:t>Conflict serializable schedules:</a:t>
            </a:r>
            <a:r>
              <a:rPr lang="en-US" sz="3600" b="0" i="0" u="none" strike="noStrike" cap="none" dirty="0">
                <a:solidFill>
                  <a:srgbClr val="000000"/>
                </a:solidFill>
                <a:latin typeface="Times New Roman"/>
                <a:ea typeface="Times New Roman"/>
                <a:cs typeface="Times New Roman"/>
                <a:sym typeface="Times New Roman"/>
              </a:rPr>
              <a:t> A schedule is called conflict serializable if it can be transformed into a serial schedule by swapping non-conflicting operations.</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1" i="0" u="none" strike="noStrike" cap="none" dirty="0">
                <a:solidFill>
                  <a:srgbClr val="000000"/>
                </a:solidFill>
                <a:latin typeface="Times"/>
                <a:ea typeface="Times"/>
                <a:cs typeface="Times"/>
                <a:sym typeface="Times"/>
              </a:rPr>
              <a:t>Non-conflicting operations:</a:t>
            </a:r>
            <a:r>
              <a:rPr lang="en-US" sz="3600" b="0" i="0" u="none" strike="noStrike" cap="none" dirty="0">
                <a:solidFill>
                  <a:srgbClr val="000000"/>
                </a:solidFill>
                <a:latin typeface="Times New Roman"/>
                <a:ea typeface="Times New Roman"/>
                <a:cs typeface="Times New Roman"/>
                <a:sym typeface="Times New Roman"/>
              </a:rPr>
              <a:t> When two operations operate on separate data items or the same data item but at least one of them is a read operation, they are said to be non-conflicting.</a:t>
            </a: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
        <p:nvSpPr>
          <p:cNvPr id="405" name="Google Shape;405;p37"/>
          <p:cNvSpPr/>
          <p:nvPr/>
        </p:nvSpPr>
        <p:spPr>
          <a:xfrm>
            <a:off x="9259644" y="6836184"/>
            <a:ext cx="6582981" cy="3110022"/>
          </a:xfrm>
          <a:custGeom>
            <a:avLst/>
            <a:gdLst/>
            <a:ahLst/>
            <a:cxnLst/>
            <a:rect l="l" t="t" r="r" b="b"/>
            <a:pathLst>
              <a:path w="6582981" h="3744954" extrusionOk="0">
                <a:moveTo>
                  <a:pt x="0" y="0"/>
                </a:moveTo>
                <a:lnTo>
                  <a:pt x="6582981" y="0"/>
                </a:lnTo>
                <a:lnTo>
                  <a:pt x="6582981" y="3744955"/>
                </a:lnTo>
                <a:lnTo>
                  <a:pt x="0" y="3744955"/>
                </a:lnTo>
                <a:lnTo>
                  <a:pt x="0" y="0"/>
                </a:lnTo>
                <a:close/>
              </a:path>
            </a:pathLst>
          </a:custGeom>
          <a:blipFill rotWithShape="1">
            <a:blip r:embed="rId4">
              <a:alphaModFix/>
            </a:blip>
            <a:stretch>
              <a:fillRect t="-6890" b="-11713"/>
            </a:stretch>
          </a:blipFill>
          <a:ln>
            <a:noFill/>
          </a:ln>
        </p:spPr>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38"/>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411" name="Google Shape;411;p38"/>
          <p:cNvSpPr txBox="1"/>
          <p:nvPr/>
        </p:nvSpPr>
        <p:spPr>
          <a:xfrm>
            <a:off x="1279120" y="771975"/>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Conflicting Operations</a:t>
            </a:r>
            <a:endParaRPr lang="en-US" dirty="0"/>
          </a:p>
        </p:txBody>
      </p:sp>
      <p:sp>
        <p:nvSpPr>
          <p:cNvPr id="412" name="Google Shape;412;p38"/>
          <p:cNvSpPr txBox="1"/>
          <p:nvPr/>
        </p:nvSpPr>
        <p:spPr>
          <a:xfrm>
            <a:off x="1279120" y="2447019"/>
            <a:ext cx="16243576" cy="7179658"/>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Two operations are said to be conflicting if all conditions are satisfied:</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They belong to different transactions</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They operate on the same data item</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At Least one of them is a write operation</a:t>
            </a:r>
            <a:endParaRPr dirty="0"/>
          </a:p>
          <a:p>
            <a:pPr marL="0" marR="0" lvl="0" indent="0" algn="just" rtl="0">
              <a:lnSpc>
                <a:spcPct val="108000"/>
              </a:lnSpc>
              <a:spcBef>
                <a:spcPts val="0"/>
              </a:spcBef>
              <a:spcAft>
                <a:spcPts val="0"/>
              </a:spcAft>
              <a:buNone/>
            </a:pPr>
            <a:r>
              <a:rPr lang="en-US" sz="3600" b="1" dirty="0">
                <a:solidFill>
                  <a:srgbClr val="000000"/>
                </a:solidFill>
                <a:latin typeface="Times"/>
                <a:ea typeface="Times"/>
                <a:cs typeface="Times"/>
                <a:sym typeface="Times"/>
              </a:rPr>
              <a:t>Example:</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Conflicting operations pair (R1(A), W2(A)) because they belong to two different transactions on the same data item A and one of them is a write operation.</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Similarly, (W1(A), W2(A)) and (W1(A), R2(A)) pairs are also conflicting.</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On the other hand, the (R1(A), W2(B)) pair is non-conflicting because they operate on different data items.</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Similarly, ((W1(A), W2(B)) pair is non-conflicting.</a:t>
            </a: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39"/>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txBody>
          <a:bodyPr/>
          <a:lstStyle/>
          <a:p>
            <a:endParaRPr lang="en-IN" dirty="0"/>
          </a:p>
        </p:txBody>
      </p:sp>
      <p:sp>
        <p:nvSpPr>
          <p:cNvPr id="418" name="Google Shape;418;p39"/>
          <p:cNvSpPr txBox="1"/>
          <p:nvPr/>
        </p:nvSpPr>
        <p:spPr>
          <a:xfrm>
            <a:off x="1279120" y="771975"/>
            <a:ext cx="12235445" cy="1263103"/>
          </a:xfrm>
          <a:prstGeom prst="rect">
            <a:avLst/>
          </a:prstGeom>
          <a:noFill/>
          <a:ln>
            <a:noFill/>
          </a:ln>
        </p:spPr>
        <p:txBody>
          <a:bodyPr spcFirstLastPara="1" wrap="square" lIns="0" tIns="0" rIns="0" bIns="0" anchor="t" anchorCtr="0">
            <a:spAutoFit/>
          </a:bodyPr>
          <a:lstStyle/>
          <a:p>
            <a:pPr algn="ctr">
              <a:lnSpc>
                <a:spcPct val="108000"/>
              </a:lnSpc>
            </a:pPr>
            <a:r>
              <a:rPr lang="en-US" sz="6200" b="1" dirty="0">
                <a:solidFill>
                  <a:srgbClr val="C00000"/>
                </a:solidFill>
                <a:latin typeface="Times"/>
                <a:cs typeface="Times"/>
                <a:sym typeface="Times"/>
              </a:rPr>
              <a:t>View Serializable Schedule</a:t>
            </a:r>
            <a:endParaRPr lang="en-US" sz="6200" b="1" dirty="0">
              <a:solidFill>
                <a:srgbClr val="C00000"/>
              </a:solidFill>
              <a:latin typeface="Times"/>
              <a:cs typeface="Times"/>
            </a:endParaRPr>
          </a:p>
          <a:p>
            <a:pPr marL="0" marR="0" lvl="0" indent="0" algn="l" rtl="0">
              <a:lnSpc>
                <a:spcPct val="108000"/>
              </a:lnSpc>
              <a:spcBef>
                <a:spcPts val="0"/>
              </a:spcBef>
              <a:spcAft>
                <a:spcPts val="0"/>
              </a:spcAft>
              <a:buNone/>
            </a:pPr>
            <a:endParaRPr dirty="0"/>
          </a:p>
        </p:txBody>
      </p:sp>
      <p:sp>
        <p:nvSpPr>
          <p:cNvPr id="419" name="Google Shape;419;p39"/>
          <p:cNvSpPr txBox="1"/>
          <p:nvPr/>
        </p:nvSpPr>
        <p:spPr>
          <a:xfrm>
            <a:off x="1279120" y="1848941"/>
            <a:ext cx="16116300" cy="4420826"/>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A View Serializable Schedule is a type of schedule in DBMS that ensures the final outcome of the schedule is the same as that of a serial schedule, even if the operations are interleaved.</a:t>
            </a:r>
            <a:endParaRPr dirty="0"/>
          </a:p>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It is broader than Conflict Serializable Schedules, meaning all conflict-serializable schedules are view-serializable, but not all view-serializable schedules are conflict-serializable.</a:t>
            </a:r>
          </a:p>
          <a:p>
            <a:pPr marL="0" marR="0" lvl="0" indent="0" algn="just" rtl="0">
              <a:lnSpc>
                <a:spcPct val="108000"/>
              </a:lnSpc>
              <a:spcBef>
                <a:spcPts val="0"/>
              </a:spcBef>
              <a:spcAft>
                <a:spcPts val="0"/>
              </a:spcAft>
              <a:buNone/>
            </a:pP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
        <p:nvSpPr>
          <p:cNvPr id="431" name="Google Shape;431;p40"/>
          <p:cNvSpPr txBox="1"/>
          <p:nvPr/>
        </p:nvSpPr>
        <p:spPr>
          <a:xfrm>
            <a:off x="1279119" y="5536937"/>
            <a:ext cx="13955438" cy="4420826"/>
          </a:xfrm>
          <a:prstGeom prst="rect">
            <a:avLst/>
          </a:prstGeom>
          <a:noFill/>
          <a:ln>
            <a:noFill/>
          </a:ln>
        </p:spPr>
        <p:txBody>
          <a:bodyPr spcFirstLastPara="1" wrap="square" lIns="0" tIns="0" rIns="0" bIns="0" anchor="t" anchorCtr="0">
            <a:spAutoFit/>
          </a:bodyPr>
          <a:lstStyle/>
          <a:p>
            <a:pPr marL="0" marR="0" lvl="0" indent="0" rtl="0">
              <a:lnSpc>
                <a:spcPct val="108000"/>
              </a:lnSpc>
              <a:spcBef>
                <a:spcPts val="0"/>
              </a:spcBef>
              <a:spcAft>
                <a:spcPts val="0"/>
              </a:spcAft>
              <a:buNone/>
            </a:pPr>
            <a:r>
              <a:rPr lang="en-US" sz="3600" b="1" dirty="0">
                <a:solidFill>
                  <a:srgbClr val="000000"/>
                </a:solidFill>
                <a:latin typeface="Times"/>
                <a:ea typeface="Times"/>
                <a:cs typeface="Times"/>
                <a:sym typeface="Times"/>
              </a:rPr>
              <a:t>Example of a View Serializable Schedule</a:t>
            </a:r>
          </a:p>
          <a:p>
            <a:pPr marL="571500" indent="-571500" algn="just">
              <a:lnSpc>
                <a:spcPct val="108000"/>
              </a:lnSpc>
              <a:buFont typeface="Arial" panose="020B0604020202020204" pitchFamily="34" charset="0"/>
              <a:buChar char="•"/>
            </a:pPr>
            <a:r>
              <a:rPr lang="en-US" sz="3600" dirty="0">
                <a:latin typeface="Times New Roman"/>
                <a:cs typeface="Times New Roman"/>
                <a:sym typeface="Times New Roman"/>
              </a:rPr>
              <a:t>The initial read condition is satisfied as T2T2T2 reads AAA after T1T1T1 writes it.</a:t>
            </a:r>
            <a:endParaRPr lang="en-US" sz="3600" dirty="0">
              <a:latin typeface="Times New Roman"/>
              <a:cs typeface="Times New Roman"/>
            </a:endParaRPr>
          </a:p>
          <a:p>
            <a:pPr marL="571500" indent="-571500" algn="just">
              <a:lnSpc>
                <a:spcPct val="108000"/>
              </a:lnSpc>
              <a:buFont typeface="Arial" panose="020B0604020202020204" pitchFamily="34" charset="0"/>
              <a:buChar char="•"/>
            </a:pPr>
            <a:r>
              <a:rPr lang="en-US" sz="3600" dirty="0">
                <a:latin typeface="Times New Roman"/>
                <a:cs typeface="Times New Roman"/>
                <a:sym typeface="Times New Roman"/>
              </a:rPr>
              <a:t>The final write condition is satisfied as T3T3T3 performs the final write on AAA.</a:t>
            </a:r>
            <a:endParaRPr lang="en-US" sz="3600" dirty="0">
              <a:latin typeface="Times New Roman"/>
              <a:cs typeface="Times New Roman"/>
            </a:endParaRPr>
          </a:p>
          <a:p>
            <a:pPr marL="571500" indent="-571500" algn="just">
              <a:lnSpc>
                <a:spcPct val="108000"/>
              </a:lnSpc>
              <a:buFont typeface="Arial" panose="020B0604020202020204" pitchFamily="34" charset="0"/>
              <a:buChar char="•"/>
            </a:pPr>
            <a:r>
              <a:rPr lang="en-US" sz="3600" dirty="0">
                <a:latin typeface="Times New Roman"/>
                <a:cs typeface="Times New Roman"/>
                <a:sym typeface="Times New Roman"/>
              </a:rPr>
              <a:t>The read-write dependency condition is satisfied as T2T2T2 reads the value of AAA written by T1T1T1.</a:t>
            </a:r>
            <a:endParaRPr lang="en-US" sz="3600" dirty="0">
              <a:latin typeface="Times New Roman"/>
              <a:cs typeface="Times New Roman"/>
            </a:endParaRPr>
          </a:p>
          <a:p>
            <a:pPr marL="0" marR="0" lvl="0" indent="0" algn="ctr" rtl="0">
              <a:lnSpc>
                <a:spcPct val="108000"/>
              </a:lnSpc>
              <a:spcBef>
                <a:spcPts val="0"/>
              </a:spcBef>
              <a:spcAft>
                <a:spcPts val="0"/>
              </a:spcAft>
              <a:buNone/>
            </a:pPr>
            <a:endParaRP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40"/>
          <p:cNvSpPr/>
          <p:nvPr/>
        </p:nvSpPr>
        <p:spPr>
          <a:xfrm>
            <a:off x="0" y="344049"/>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430" name="Google Shape;430;p40"/>
          <p:cNvSpPr txBox="1"/>
          <p:nvPr/>
        </p:nvSpPr>
        <p:spPr>
          <a:xfrm>
            <a:off x="1530608" y="685357"/>
            <a:ext cx="14651006" cy="8608960"/>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b="1" dirty="0">
                <a:solidFill>
                  <a:srgbClr val="000000"/>
                </a:solidFill>
                <a:latin typeface="Times"/>
                <a:ea typeface="Times"/>
                <a:cs typeface="Times"/>
                <a:sym typeface="Times"/>
              </a:rPr>
              <a:t>Conditions for View Serializability </a:t>
            </a:r>
            <a:r>
              <a:rPr lang="en-US" sz="3600" dirty="0">
                <a:solidFill>
                  <a:srgbClr val="000000"/>
                </a:solidFill>
                <a:latin typeface="Times New Roman"/>
                <a:ea typeface="Times New Roman"/>
                <a:cs typeface="Times New Roman"/>
                <a:sym typeface="Times New Roman"/>
              </a:rPr>
              <a:t>A schedule is view-serializable if it satisfies the following three conditions:</a:t>
            </a:r>
          </a:p>
          <a:p>
            <a:pPr marL="0" marR="0" lvl="0" indent="0" algn="just" rtl="0">
              <a:lnSpc>
                <a:spcPct val="108000"/>
              </a:lnSpc>
              <a:spcBef>
                <a:spcPts val="0"/>
              </a:spcBef>
              <a:spcAft>
                <a:spcPts val="0"/>
              </a:spcAft>
              <a:buNone/>
            </a:pPr>
            <a:endParaRPr lang="en-US" dirty="0"/>
          </a:p>
          <a:p>
            <a:pPr marL="0" marR="0" lvl="0" indent="0" algn="just" rtl="0">
              <a:lnSpc>
                <a:spcPct val="108000"/>
              </a:lnSpc>
              <a:spcBef>
                <a:spcPts val="0"/>
              </a:spcBef>
              <a:spcAft>
                <a:spcPts val="0"/>
              </a:spcAft>
              <a:buNone/>
            </a:pPr>
            <a:r>
              <a:rPr lang="en-US" sz="3600" b="1" dirty="0">
                <a:solidFill>
                  <a:srgbClr val="000000"/>
                </a:solidFill>
                <a:latin typeface="Times"/>
                <a:ea typeface="Times"/>
                <a:cs typeface="Times"/>
                <a:sym typeface="Times"/>
              </a:rPr>
              <a:t>Initial Read Condition:</a:t>
            </a:r>
            <a:endParaRPr lang="en-US"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If a transaction </a:t>
            </a:r>
            <a:r>
              <a:rPr lang="en-US" sz="3600" b="0" i="0" u="none" strike="noStrike" cap="none" dirty="0" err="1">
                <a:solidFill>
                  <a:srgbClr val="000000"/>
                </a:solidFill>
                <a:latin typeface="Times New Roman"/>
                <a:ea typeface="Times New Roman"/>
                <a:cs typeface="Times New Roman"/>
                <a:sym typeface="Times New Roman"/>
              </a:rPr>
              <a:t>TiT_iTi</a:t>
            </a:r>
            <a:r>
              <a:rPr lang="en-US" sz="3600" b="0" i="0" u="none" strike="noStrike" cap="none" dirty="0">
                <a:solidFill>
                  <a:srgbClr val="000000"/>
                </a:solidFill>
                <a:latin typeface="Times New Roman"/>
                <a:ea typeface="Times New Roman"/>
                <a:cs typeface="Times New Roman"/>
                <a:sym typeface="Times New Roman"/>
              </a:rPr>
              <a:t>​ reads a data item initially (i.e., no other transaction writes it before </a:t>
            </a:r>
            <a:r>
              <a:rPr lang="en-US" sz="3600" b="0" i="0" u="none" strike="noStrike" cap="none" dirty="0" err="1">
                <a:solidFill>
                  <a:srgbClr val="000000"/>
                </a:solidFill>
                <a:latin typeface="Times New Roman"/>
                <a:ea typeface="Times New Roman"/>
                <a:cs typeface="Times New Roman"/>
                <a:sym typeface="Times New Roman"/>
              </a:rPr>
              <a:t>TiT_iTi</a:t>
            </a:r>
            <a:r>
              <a:rPr lang="en-US" sz="3600" b="0" i="0" u="none" strike="noStrike" cap="none" dirty="0">
                <a:solidFill>
                  <a:srgbClr val="000000"/>
                </a:solidFill>
                <a:latin typeface="Times New Roman"/>
                <a:ea typeface="Times New Roman"/>
                <a:cs typeface="Times New Roman"/>
                <a:sym typeface="Times New Roman"/>
              </a:rPr>
              <a:t>​), then in the equivalent serial schedule, </a:t>
            </a:r>
            <a:r>
              <a:rPr lang="en-US" sz="3600" b="0" i="0" u="none" strike="noStrike" cap="none" dirty="0" err="1">
                <a:solidFill>
                  <a:srgbClr val="000000"/>
                </a:solidFill>
                <a:latin typeface="Times New Roman"/>
                <a:ea typeface="Times New Roman"/>
                <a:cs typeface="Times New Roman"/>
                <a:sym typeface="Times New Roman"/>
              </a:rPr>
              <a:t>TiT_iTi</a:t>
            </a:r>
            <a:r>
              <a:rPr lang="en-US" sz="3600" b="0" i="0" u="none" strike="noStrike" cap="none" dirty="0">
                <a:solidFill>
                  <a:srgbClr val="000000"/>
                </a:solidFill>
                <a:latin typeface="Times New Roman"/>
                <a:ea typeface="Times New Roman"/>
                <a:cs typeface="Times New Roman"/>
                <a:sym typeface="Times New Roman"/>
              </a:rPr>
              <a:t>​ must also be the first to read that data item.</a:t>
            </a:r>
            <a:endParaRPr lang="en-US" dirty="0"/>
          </a:p>
          <a:p>
            <a:pPr marL="0" marR="0" lvl="0" indent="0" algn="just" rtl="0">
              <a:lnSpc>
                <a:spcPct val="108000"/>
              </a:lnSpc>
              <a:spcBef>
                <a:spcPts val="0"/>
              </a:spcBef>
              <a:spcAft>
                <a:spcPts val="0"/>
              </a:spcAft>
              <a:buNone/>
            </a:pPr>
            <a:r>
              <a:rPr lang="en-US" sz="3600" b="1" dirty="0">
                <a:solidFill>
                  <a:srgbClr val="000000"/>
                </a:solidFill>
                <a:latin typeface="Times"/>
                <a:ea typeface="Times"/>
                <a:cs typeface="Times"/>
                <a:sym typeface="Times"/>
              </a:rPr>
              <a:t>Final Write Condition:</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If a transaction </a:t>
            </a:r>
            <a:r>
              <a:rPr lang="en-US" sz="3600" b="0" i="0" u="none" strike="noStrike" cap="none" dirty="0" err="1">
                <a:solidFill>
                  <a:srgbClr val="000000"/>
                </a:solidFill>
                <a:latin typeface="Times New Roman"/>
                <a:ea typeface="Times New Roman"/>
                <a:cs typeface="Times New Roman"/>
                <a:sym typeface="Times New Roman"/>
              </a:rPr>
              <a:t>TjT_jTj</a:t>
            </a:r>
            <a:r>
              <a:rPr lang="en-US" sz="3600" b="0" i="0" u="none" strike="noStrike" cap="none" dirty="0">
                <a:solidFill>
                  <a:srgbClr val="000000"/>
                </a:solidFill>
                <a:latin typeface="Times New Roman"/>
                <a:ea typeface="Times New Roman"/>
                <a:cs typeface="Times New Roman"/>
                <a:sym typeface="Times New Roman"/>
              </a:rPr>
              <a:t>​ performs the final write on a data item in the schedule, it must also perform the final write in the equivalent serial schedule.</a:t>
            </a:r>
            <a:endParaRPr dirty="0"/>
          </a:p>
          <a:p>
            <a:pPr marL="0" marR="0" lvl="0" indent="0" algn="just" rtl="0">
              <a:lnSpc>
                <a:spcPct val="108000"/>
              </a:lnSpc>
              <a:spcBef>
                <a:spcPts val="0"/>
              </a:spcBef>
              <a:spcAft>
                <a:spcPts val="0"/>
              </a:spcAft>
              <a:buNone/>
            </a:pPr>
            <a:r>
              <a:rPr lang="en-US" sz="3600" b="1" dirty="0">
                <a:solidFill>
                  <a:srgbClr val="000000"/>
                </a:solidFill>
                <a:latin typeface="Times"/>
                <a:ea typeface="Times"/>
                <a:cs typeface="Times"/>
                <a:sym typeface="Times"/>
              </a:rPr>
              <a:t>Read-Write Dependency Condition:</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If a transaction </a:t>
            </a:r>
            <a:r>
              <a:rPr lang="en-US" sz="3600" b="0" i="0" u="none" strike="noStrike" cap="none" dirty="0" err="1">
                <a:solidFill>
                  <a:srgbClr val="000000"/>
                </a:solidFill>
                <a:latin typeface="Times New Roman"/>
                <a:ea typeface="Times New Roman"/>
                <a:cs typeface="Times New Roman"/>
                <a:sym typeface="Times New Roman"/>
              </a:rPr>
              <a:t>TkT_kTk</a:t>
            </a:r>
            <a:r>
              <a:rPr lang="en-US" sz="3600" b="0" i="0" u="none" strike="noStrike" cap="none" dirty="0">
                <a:solidFill>
                  <a:srgbClr val="000000"/>
                </a:solidFill>
                <a:latin typeface="Times New Roman"/>
                <a:ea typeface="Times New Roman"/>
                <a:cs typeface="Times New Roman"/>
                <a:sym typeface="Times New Roman"/>
              </a:rPr>
              <a:t>​ reads a data item XXX written by </a:t>
            </a:r>
            <a:r>
              <a:rPr lang="en-US" sz="3600" b="0" i="0" u="none" strike="noStrike" cap="none" dirty="0" err="1">
                <a:solidFill>
                  <a:srgbClr val="000000"/>
                </a:solidFill>
                <a:latin typeface="Times New Roman"/>
                <a:ea typeface="Times New Roman"/>
                <a:cs typeface="Times New Roman"/>
                <a:sym typeface="Times New Roman"/>
              </a:rPr>
              <a:t>TmT_mTm</a:t>
            </a:r>
            <a:r>
              <a:rPr lang="en-US" sz="3600" b="0" i="0" u="none" strike="noStrike" cap="none" dirty="0">
                <a:solidFill>
                  <a:srgbClr val="000000"/>
                </a:solidFill>
                <a:latin typeface="Times New Roman"/>
                <a:ea typeface="Times New Roman"/>
                <a:cs typeface="Times New Roman"/>
                <a:sym typeface="Times New Roman"/>
              </a:rPr>
              <a:t>​ in the schedule, then </a:t>
            </a:r>
            <a:r>
              <a:rPr lang="en-US" sz="3600" b="0" i="0" u="none" strike="noStrike" cap="none" dirty="0" err="1">
                <a:solidFill>
                  <a:srgbClr val="000000"/>
                </a:solidFill>
                <a:latin typeface="Times New Roman"/>
                <a:ea typeface="Times New Roman"/>
                <a:cs typeface="Times New Roman"/>
                <a:sym typeface="Times New Roman"/>
              </a:rPr>
              <a:t>TkT_kTk</a:t>
            </a:r>
            <a:r>
              <a:rPr lang="en-US" sz="3600" b="0" i="0" u="none" strike="noStrike" cap="none" dirty="0">
                <a:solidFill>
                  <a:srgbClr val="000000"/>
                </a:solidFill>
                <a:latin typeface="Times New Roman"/>
                <a:ea typeface="Times New Roman"/>
                <a:cs typeface="Times New Roman"/>
                <a:sym typeface="Times New Roman"/>
              </a:rPr>
              <a:t>​ must read XXX after </a:t>
            </a:r>
            <a:r>
              <a:rPr lang="en-US" sz="3600" b="0" i="0" u="none" strike="noStrike" cap="none" dirty="0" err="1">
                <a:solidFill>
                  <a:srgbClr val="000000"/>
                </a:solidFill>
                <a:latin typeface="Times New Roman"/>
                <a:ea typeface="Times New Roman"/>
                <a:cs typeface="Times New Roman"/>
                <a:sym typeface="Times New Roman"/>
              </a:rPr>
              <a:t>TmT_mTm</a:t>
            </a:r>
            <a:r>
              <a:rPr lang="en-US" sz="3600" b="0" i="0" u="none" strike="noStrike" cap="none" dirty="0">
                <a:solidFill>
                  <a:srgbClr val="000000"/>
                </a:solidFill>
                <a:latin typeface="Times New Roman"/>
                <a:ea typeface="Times New Roman"/>
                <a:cs typeface="Times New Roman"/>
                <a:sym typeface="Times New Roman"/>
              </a:rPr>
              <a:t>​ writes it in the equivalent serial schedule.</a:t>
            </a:r>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41"/>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439" name="Google Shape;439;p41"/>
          <p:cNvSpPr txBox="1"/>
          <p:nvPr/>
        </p:nvSpPr>
        <p:spPr>
          <a:xfrm>
            <a:off x="1279120" y="771975"/>
            <a:ext cx="15000466" cy="1828257"/>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4800" b="1" dirty="0">
                <a:solidFill>
                  <a:srgbClr val="C00000"/>
                </a:solidFill>
                <a:latin typeface="Times"/>
                <a:ea typeface="Times"/>
                <a:cs typeface="Times"/>
                <a:sym typeface="Times"/>
              </a:rPr>
              <a:t>Difference Between View Serializability and Conflict Serializability</a:t>
            </a:r>
          </a:p>
          <a:p>
            <a:pPr marL="0" marR="0" lvl="0" indent="0" algn="l" rtl="0">
              <a:lnSpc>
                <a:spcPct val="108000"/>
              </a:lnSpc>
              <a:spcBef>
                <a:spcPts val="0"/>
              </a:spcBef>
              <a:spcAft>
                <a:spcPts val="0"/>
              </a:spcAft>
              <a:buNone/>
            </a:pPr>
            <a:endParaRPr lang="en-US" dirty="0"/>
          </a:p>
        </p:txBody>
      </p:sp>
      <p:sp>
        <p:nvSpPr>
          <p:cNvPr id="440" name="Google Shape;440;p41"/>
          <p:cNvSpPr/>
          <p:nvPr/>
        </p:nvSpPr>
        <p:spPr>
          <a:xfrm>
            <a:off x="2683976" y="2868154"/>
            <a:ext cx="12829996" cy="6683921"/>
          </a:xfrm>
          <a:custGeom>
            <a:avLst/>
            <a:gdLst/>
            <a:ahLst/>
            <a:cxnLst/>
            <a:rect l="l" t="t" r="r" b="b"/>
            <a:pathLst>
              <a:path w="12829996" h="6683921" extrusionOk="0">
                <a:moveTo>
                  <a:pt x="0" y="0"/>
                </a:moveTo>
                <a:lnTo>
                  <a:pt x="12829996" y="0"/>
                </a:lnTo>
                <a:lnTo>
                  <a:pt x="12829996" y="6683921"/>
                </a:lnTo>
                <a:lnTo>
                  <a:pt x="0" y="6683921"/>
                </a:lnTo>
                <a:lnTo>
                  <a:pt x="0" y="0"/>
                </a:lnTo>
                <a:close/>
              </a:path>
            </a:pathLst>
          </a:custGeom>
          <a:blipFill rotWithShape="1">
            <a:blip r:embed="rId4">
              <a:alphaModFix/>
            </a:blip>
            <a:stretch>
              <a:fillRect t="-1076" r="-2844" b="-3798"/>
            </a:stretch>
          </a:blipFill>
          <a:ln>
            <a:noFill/>
          </a:ln>
        </p:spPr>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2"/>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447" name="Google Shape;447;p42"/>
          <p:cNvSpPr txBox="1"/>
          <p:nvPr/>
        </p:nvSpPr>
        <p:spPr>
          <a:xfrm>
            <a:off x="1279120" y="771975"/>
            <a:ext cx="12235445" cy="1263103"/>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1. Recoverable Schedules</a:t>
            </a:r>
          </a:p>
          <a:p>
            <a:pPr marL="0" marR="0" lvl="0" indent="0" algn="l" rtl="0">
              <a:lnSpc>
                <a:spcPct val="108000"/>
              </a:lnSpc>
              <a:spcBef>
                <a:spcPts val="0"/>
              </a:spcBef>
              <a:spcAft>
                <a:spcPts val="0"/>
              </a:spcAft>
              <a:buNone/>
            </a:pPr>
            <a:endParaRPr lang="en-US" dirty="0"/>
          </a:p>
        </p:txBody>
      </p:sp>
      <p:sp>
        <p:nvSpPr>
          <p:cNvPr id="448" name="Google Shape;448;p42"/>
          <p:cNvSpPr/>
          <p:nvPr/>
        </p:nvSpPr>
        <p:spPr>
          <a:xfrm>
            <a:off x="14880564" y="7712945"/>
            <a:ext cx="2378736" cy="2279278"/>
          </a:xfrm>
          <a:custGeom>
            <a:avLst/>
            <a:gdLst/>
            <a:ahLst/>
            <a:cxnLst/>
            <a:rect l="l" t="t" r="r" b="b"/>
            <a:pathLst>
              <a:path w="2378736" h="2279278" extrusionOk="0">
                <a:moveTo>
                  <a:pt x="0" y="0"/>
                </a:moveTo>
                <a:lnTo>
                  <a:pt x="2378736" y="0"/>
                </a:lnTo>
                <a:lnTo>
                  <a:pt x="2378736" y="2279278"/>
                </a:lnTo>
                <a:lnTo>
                  <a:pt x="0" y="2279278"/>
                </a:lnTo>
                <a:lnTo>
                  <a:pt x="0" y="0"/>
                </a:lnTo>
                <a:close/>
              </a:path>
            </a:pathLst>
          </a:custGeom>
          <a:blipFill rotWithShape="1">
            <a:blip r:embed="rId4">
              <a:alphaModFix/>
            </a:blip>
            <a:stretch>
              <a:fillRect r="-16599" b="-4787"/>
            </a:stretch>
          </a:blipFill>
          <a:ln>
            <a:noFill/>
          </a:ln>
        </p:spPr>
      </p:sp>
      <p:sp>
        <p:nvSpPr>
          <p:cNvPr id="449" name="Google Shape;449;p42"/>
          <p:cNvSpPr/>
          <p:nvPr/>
        </p:nvSpPr>
        <p:spPr>
          <a:xfrm>
            <a:off x="11538911" y="3961288"/>
            <a:ext cx="6130015" cy="3023781"/>
          </a:xfrm>
          <a:custGeom>
            <a:avLst/>
            <a:gdLst/>
            <a:ahLst/>
            <a:cxnLst/>
            <a:rect l="l" t="t" r="r" b="b"/>
            <a:pathLst>
              <a:path w="6130015" h="3023781" extrusionOk="0">
                <a:moveTo>
                  <a:pt x="0" y="0"/>
                </a:moveTo>
                <a:lnTo>
                  <a:pt x="6130016" y="0"/>
                </a:lnTo>
                <a:lnTo>
                  <a:pt x="6130016" y="3023781"/>
                </a:lnTo>
                <a:lnTo>
                  <a:pt x="0" y="3023781"/>
                </a:lnTo>
                <a:lnTo>
                  <a:pt x="0" y="0"/>
                </a:lnTo>
                <a:close/>
              </a:path>
            </a:pathLst>
          </a:custGeom>
          <a:blipFill rotWithShape="1">
            <a:blip r:embed="rId5">
              <a:alphaModFix/>
            </a:blip>
            <a:stretch>
              <a:fillRect t="-1187" b="-1186"/>
            </a:stretch>
          </a:blipFill>
          <a:ln>
            <a:noFill/>
          </a:ln>
        </p:spPr>
      </p:sp>
      <p:sp>
        <p:nvSpPr>
          <p:cNvPr id="450" name="Google Shape;450;p42"/>
          <p:cNvSpPr txBox="1"/>
          <p:nvPr/>
        </p:nvSpPr>
        <p:spPr>
          <a:xfrm>
            <a:off x="538567" y="1962358"/>
            <a:ext cx="15980180" cy="3589829"/>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A recoverable schedule ensures that if a transaction </a:t>
            </a:r>
            <a:r>
              <a:rPr lang="en-US" sz="3600" dirty="0" err="1">
                <a:solidFill>
                  <a:srgbClr val="000000"/>
                </a:solidFill>
                <a:latin typeface="Times New Roman"/>
                <a:ea typeface="Times New Roman"/>
                <a:cs typeface="Times New Roman"/>
                <a:sym typeface="Times New Roman"/>
              </a:rPr>
              <a:t>TiT_iTi</a:t>
            </a:r>
            <a:r>
              <a:rPr lang="en-US" sz="3600" dirty="0">
                <a:solidFill>
                  <a:srgbClr val="000000"/>
                </a:solidFill>
                <a:latin typeface="Times New Roman"/>
                <a:ea typeface="Times New Roman"/>
                <a:cs typeface="Times New Roman"/>
                <a:sym typeface="Times New Roman"/>
              </a:rPr>
              <a:t>​ reads data modified by another transaction </a:t>
            </a:r>
            <a:r>
              <a:rPr lang="en-US" sz="3600" dirty="0" err="1">
                <a:solidFill>
                  <a:srgbClr val="000000"/>
                </a:solidFill>
                <a:latin typeface="Times New Roman"/>
                <a:ea typeface="Times New Roman"/>
                <a:cs typeface="Times New Roman"/>
                <a:sym typeface="Times New Roman"/>
              </a:rPr>
              <a:t>TjT_jTj</a:t>
            </a:r>
            <a:r>
              <a:rPr lang="en-US" sz="3600" dirty="0">
                <a:solidFill>
                  <a:srgbClr val="000000"/>
                </a:solidFill>
                <a:latin typeface="Times New Roman"/>
                <a:ea typeface="Times New Roman"/>
                <a:cs typeface="Times New Roman"/>
                <a:sym typeface="Times New Roman"/>
              </a:rPr>
              <a:t>​, </a:t>
            </a:r>
            <a:r>
              <a:rPr lang="en-US" sz="3600" dirty="0" err="1">
                <a:solidFill>
                  <a:srgbClr val="000000"/>
                </a:solidFill>
                <a:latin typeface="Times New Roman"/>
                <a:ea typeface="Times New Roman"/>
                <a:cs typeface="Times New Roman"/>
                <a:sym typeface="Times New Roman"/>
              </a:rPr>
              <a:t>TjT_jTj</a:t>
            </a:r>
            <a:r>
              <a:rPr lang="en-US" sz="3600" dirty="0">
                <a:solidFill>
                  <a:srgbClr val="000000"/>
                </a:solidFill>
                <a:latin typeface="Times New Roman"/>
                <a:ea typeface="Times New Roman"/>
                <a:cs typeface="Times New Roman"/>
                <a:sym typeface="Times New Roman"/>
              </a:rPr>
              <a:t>​ must commit before </a:t>
            </a:r>
            <a:r>
              <a:rPr lang="en-US" sz="3600" dirty="0" err="1">
                <a:solidFill>
                  <a:srgbClr val="000000"/>
                </a:solidFill>
                <a:latin typeface="Times New Roman"/>
                <a:ea typeface="Times New Roman"/>
                <a:cs typeface="Times New Roman"/>
                <a:sym typeface="Times New Roman"/>
              </a:rPr>
              <a:t>TiT_iTi</a:t>
            </a:r>
            <a:r>
              <a:rPr lang="en-US" sz="3600" dirty="0">
                <a:solidFill>
                  <a:srgbClr val="000000"/>
                </a:solidFill>
                <a:latin typeface="Times New Roman"/>
                <a:ea typeface="Times New Roman"/>
                <a:cs typeface="Times New Roman"/>
                <a:sym typeface="Times New Roman"/>
              </a:rPr>
              <a:t>​ commits. This ensures that the database can be recovered to a consistent state if a failure occurs.</a:t>
            </a:r>
            <a:endParaRPr dirty="0"/>
          </a:p>
          <a:p>
            <a:pPr marL="0" marR="0" lvl="0" indent="0" algn="just" rtl="0">
              <a:lnSpc>
                <a:spcPct val="108000"/>
              </a:lnSpc>
              <a:spcBef>
                <a:spcPts val="0"/>
              </a:spcBef>
              <a:spcAft>
                <a:spcPts val="0"/>
              </a:spcAft>
              <a:buNone/>
            </a:pPr>
            <a:r>
              <a:rPr lang="en-US" sz="3600" b="1" dirty="0">
                <a:solidFill>
                  <a:srgbClr val="000000"/>
                </a:solidFill>
                <a:latin typeface="Times"/>
                <a:ea typeface="Times"/>
                <a:cs typeface="Times"/>
                <a:sym typeface="Times"/>
              </a:rPr>
              <a:t>Key Features:</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Ensures no cascading aborts.</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Maintains consistency during failures.</a:t>
            </a:r>
            <a:endParaRPr dirty="0"/>
          </a:p>
        </p:txBody>
      </p:sp>
      <p:sp>
        <p:nvSpPr>
          <p:cNvPr id="451" name="Google Shape;451;p42"/>
          <p:cNvSpPr txBox="1"/>
          <p:nvPr/>
        </p:nvSpPr>
        <p:spPr>
          <a:xfrm>
            <a:off x="558996" y="5729022"/>
            <a:ext cx="13675692" cy="2512093"/>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b="1" dirty="0">
                <a:solidFill>
                  <a:srgbClr val="000000"/>
                </a:solidFill>
                <a:latin typeface="Times"/>
                <a:ea typeface="Times"/>
                <a:cs typeface="Times"/>
                <a:sym typeface="Times"/>
              </a:rPr>
              <a:t>Example of a Recoverable Schedule:</a:t>
            </a:r>
            <a:endParaRPr dirty="0"/>
          </a:p>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T2 reads the value of AAA written by T1T1T1.</a:t>
            </a:r>
            <a:endParaRPr dirty="0"/>
          </a:p>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T1T1T1 commits before T2T2T2, making the schedule recoverable.</a:t>
            </a:r>
            <a:endParaRPr dirty="0"/>
          </a:p>
          <a:p>
            <a:pPr marL="0" marR="0" lvl="0" indent="0" algn="just" rtl="0">
              <a:lnSpc>
                <a:spcPct val="108000"/>
              </a:lnSpc>
              <a:spcBef>
                <a:spcPts val="0"/>
              </a:spcBef>
              <a:spcAft>
                <a:spcPts val="0"/>
              </a:spcAft>
              <a:buNone/>
            </a:pPr>
            <a:r>
              <a:rPr lang="en-US" sz="3600" b="1" dirty="0">
                <a:solidFill>
                  <a:srgbClr val="000000"/>
                </a:solidFill>
                <a:latin typeface="Times"/>
                <a:ea typeface="Times"/>
                <a:cs typeface="Times"/>
                <a:sym typeface="Times"/>
              </a:rPr>
              <a:t>Importance:</a:t>
            </a:r>
            <a:endParaRPr dirty="0"/>
          </a:p>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Recoverable schedules prevent data inconsistency during rollbacks.</a:t>
            </a: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43"/>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457" name="Google Shape;457;p43"/>
          <p:cNvSpPr txBox="1"/>
          <p:nvPr/>
        </p:nvSpPr>
        <p:spPr>
          <a:xfrm>
            <a:off x="1279120" y="771975"/>
            <a:ext cx="12235445" cy="1263103"/>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2. Non-Recoverable Schedules</a:t>
            </a:r>
          </a:p>
          <a:p>
            <a:pPr marL="0" marR="0" lvl="0" indent="0" algn="l" rtl="0">
              <a:lnSpc>
                <a:spcPct val="108000"/>
              </a:lnSpc>
              <a:spcBef>
                <a:spcPts val="0"/>
              </a:spcBef>
              <a:spcAft>
                <a:spcPts val="0"/>
              </a:spcAft>
              <a:buNone/>
            </a:pPr>
            <a:endParaRPr lang="en-US" dirty="0"/>
          </a:p>
        </p:txBody>
      </p:sp>
      <p:sp>
        <p:nvSpPr>
          <p:cNvPr id="458" name="Google Shape;458;p43"/>
          <p:cNvSpPr/>
          <p:nvPr/>
        </p:nvSpPr>
        <p:spPr>
          <a:xfrm>
            <a:off x="13132364" y="5770283"/>
            <a:ext cx="3648487" cy="3392860"/>
          </a:xfrm>
          <a:custGeom>
            <a:avLst/>
            <a:gdLst/>
            <a:ahLst/>
            <a:cxnLst/>
            <a:rect l="l" t="t" r="r" b="b"/>
            <a:pathLst>
              <a:path w="3648487" h="3392860" extrusionOk="0">
                <a:moveTo>
                  <a:pt x="0" y="0"/>
                </a:moveTo>
                <a:lnTo>
                  <a:pt x="3648487" y="0"/>
                </a:lnTo>
                <a:lnTo>
                  <a:pt x="3648487" y="3392860"/>
                </a:lnTo>
                <a:lnTo>
                  <a:pt x="0" y="3392860"/>
                </a:lnTo>
                <a:lnTo>
                  <a:pt x="0" y="0"/>
                </a:lnTo>
                <a:close/>
              </a:path>
            </a:pathLst>
          </a:custGeom>
          <a:blipFill rotWithShape="1">
            <a:blip r:embed="rId4">
              <a:alphaModFix/>
            </a:blip>
            <a:stretch>
              <a:fillRect/>
            </a:stretch>
          </a:blipFill>
          <a:ln>
            <a:noFill/>
          </a:ln>
        </p:spPr>
      </p:sp>
      <p:sp>
        <p:nvSpPr>
          <p:cNvPr id="459" name="Google Shape;459;p43"/>
          <p:cNvSpPr txBox="1"/>
          <p:nvPr/>
        </p:nvSpPr>
        <p:spPr>
          <a:xfrm>
            <a:off x="538567" y="1962834"/>
            <a:ext cx="15980180" cy="2997824"/>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A non-recoverable schedule occurs when a transaction </a:t>
            </a:r>
            <a:r>
              <a:rPr lang="en-US" sz="3600" dirty="0" err="1">
                <a:solidFill>
                  <a:srgbClr val="000000"/>
                </a:solidFill>
                <a:latin typeface="Times New Roman"/>
                <a:ea typeface="Times New Roman"/>
                <a:cs typeface="Times New Roman"/>
                <a:sym typeface="Times New Roman"/>
              </a:rPr>
              <a:t>TiT_iTi</a:t>
            </a:r>
            <a:r>
              <a:rPr lang="en-US" sz="3600" dirty="0">
                <a:solidFill>
                  <a:srgbClr val="000000"/>
                </a:solidFill>
                <a:latin typeface="Times New Roman"/>
                <a:ea typeface="Times New Roman"/>
                <a:cs typeface="Times New Roman"/>
                <a:sym typeface="Times New Roman"/>
              </a:rPr>
              <a:t>​ reads data written by </a:t>
            </a:r>
            <a:r>
              <a:rPr lang="en-US" sz="3600" dirty="0" err="1">
                <a:solidFill>
                  <a:srgbClr val="000000"/>
                </a:solidFill>
                <a:latin typeface="Times New Roman"/>
                <a:ea typeface="Times New Roman"/>
                <a:cs typeface="Times New Roman"/>
                <a:sym typeface="Times New Roman"/>
              </a:rPr>
              <a:t>TjT_jTj</a:t>
            </a:r>
            <a:r>
              <a:rPr lang="en-US" sz="3600" dirty="0">
                <a:solidFill>
                  <a:srgbClr val="000000"/>
                </a:solidFill>
                <a:latin typeface="Times New Roman"/>
                <a:ea typeface="Times New Roman"/>
                <a:cs typeface="Times New Roman"/>
                <a:sym typeface="Times New Roman"/>
              </a:rPr>
              <a:t>​, but </a:t>
            </a:r>
            <a:r>
              <a:rPr lang="en-US" sz="3600" dirty="0" err="1">
                <a:solidFill>
                  <a:srgbClr val="000000"/>
                </a:solidFill>
                <a:latin typeface="Times New Roman"/>
                <a:ea typeface="Times New Roman"/>
                <a:cs typeface="Times New Roman"/>
                <a:sym typeface="Times New Roman"/>
              </a:rPr>
              <a:t>TjT_jTj</a:t>
            </a:r>
            <a:r>
              <a:rPr lang="en-US" sz="3600" dirty="0">
                <a:solidFill>
                  <a:srgbClr val="000000"/>
                </a:solidFill>
                <a:latin typeface="Times New Roman"/>
                <a:ea typeface="Times New Roman"/>
                <a:cs typeface="Times New Roman"/>
                <a:sym typeface="Times New Roman"/>
              </a:rPr>
              <a:t>​ is not committed before </a:t>
            </a:r>
            <a:r>
              <a:rPr lang="en-US" sz="3600" dirty="0" err="1">
                <a:solidFill>
                  <a:srgbClr val="000000"/>
                </a:solidFill>
                <a:latin typeface="Times New Roman"/>
                <a:ea typeface="Times New Roman"/>
                <a:cs typeface="Times New Roman"/>
                <a:sym typeface="Times New Roman"/>
              </a:rPr>
              <a:t>TiT_iTi</a:t>
            </a:r>
            <a:r>
              <a:rPr lang="en-US" sz="3600" dirty="0">
                <a:solidFill>
                  <a:srgbClr val="000000"/>
                </a:solidFill>
                <a:latin typeface="Times New Roman"/>
                <a:ea typeface="Times New Roman"/>
                <a:cs typeface="Times New Roman"/>
                <a:sym typeface="Times New Roman"/>
              </a:rPr>
              <a:t>​ commits. If </a:t>
            </a:r>
            <a:r>
              <a:rPr lang="en-US" sz="3600" dirty="0" err="1">
                <a:solidFill>
                  <a:srgbClr val="000000"/>
                </a:solidFill>
                <a:latin typeface="Times New Roman"/>
                <a:ea typeface="Times New Roman"/>
                <a:cs typeface="Times New Roman"/>
                <a:sym typeface="Times New Roman"/>
              </a:rPr>
              <a:t>TjT_jTj</a:t>
            </a:r>
            <a:r>
              <a:rPr lang="en-US" sz="3600" dirty="0">
                <a:solidFill>
                  <a:srgbClr val="000000"/>
                </a:solidFill>
                <a:latin typeface="Times New Roman"/>
                <a:ea typeface="Times New Roman"/>
                <a:cs typeface="Times New Roman"/>
                <a:sym typeface="Times New Roman"/>
              </a:rPr>
              <a:t>​ later aborts, it becomes impossible to maintain consistency because </a:t>
            </a:r>
            <a:r>
              <a:rPr lang="en-US" sz="3600" dirty="0" err="1">
                <a:solidFill>
                  <a:srgbClr val="000000"/>
                </a:solidFill>
                <a:latin typeface="Times New Roman"/>
                <a:ea typeface="Times New Roman"/>
                <a:cs typeface="Times New Roman"/>
                <a:sym typeface="Times New Roman"/>
              </a:rPr>
              <a:t>TiT_iTi</a:t>
            </a:r>
            <a:r>
              <a:rPr lang="en-US" sz="3600" dirty="0">
                <a:solidFill>
                  <a:srgbClr val="000000"/>
                </a:solidFill>
                <a:latin typeface="Times New Roman"/>
                <a:ea typeface="Times New Roman"/>
                <a:cs typeface="Times New Roman"/>
                <a:sym typeface="Times New Roman"/>
              </a:rPr>
              <a:t>​ has already committed invalid data.</a:t>
            </a: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
        <p:nvSpPr>
          <p:cNvPr id="460" name="Google Shape;460;p43"/>
          <p:cNvSpPr txBox="1"/>
          <p:nvPr/>
        </p:nvSpPr>
        <p:spPr>
          <a:xfrm>
            <a:off x="538567" y="4678511"/>
            <a:ext cx="11401237" cy="2997824"/>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b="1">
                <a:solidFill>
                  <a:srgbClr val="000000"/>
                </a:solidFill>
                <a:latin typeface="Times"/>
                <a:ea typeface="Times"/>
                <a:cs typeface="Times"/>
                <a:sym typeface="Times"/>
              </a:rPr>
              <a:t>Example of a Non-Recoverable Schedule:</a:t>
            </a:r>
            <a:endParaRPr/>
          </a:p>
          <a:p>
            <a:pPr marL="0" marR="0" lvl="0" indent="0" algn="just" rtl="0">
              <a:lnSpc>
                <a:spcPct val="108000"/>
              </a:lnSpc>
              <a:spcBef>
                <a:spcPts val="0"/>
              </a:spcBef>
              <a:spcAft>
                <a:spcPts val="0"/>
              </a:spcAft>
              <a:buNone/>
            </a:pPr>
            <a:r>
              <a:rPr lang="en-US" sz="3600">
                <a:solidFill>
                  <a:srgbClr val="000000"/>
                </a:solidFill>
                <a:latin typeface="Times New Roman"/>
                <a:ea typeface="Times New Roman"/>
                <a:cs typeface="Times New Roman"/>
                <a:sym typeface="Times New Roman"/>
              </a:rPr>
              <a:t>T2T2T2 reads the value of AAA written by T1T1T1.</a:t>
            </a:r>
            <a:endParaRPr/>
          </a:p>
          <a:p>
            <a:pPr marL="0" marR="0" lvl="0" indent="0" algn="just" rtl="0">
              <a:lnSpc>
                <a:spcPct val="108000"/>
              </a:lnSpc>
              <a:spcBef>
                <a:spcPts val="0"/>
              </a:spcBef>
              <a:spcAft>
                <a:spcPts val="0"/>
              </a:spcAft>
              <a:buNone/>
            </a:pPr>
            <a:r>
              <a:rPr lang="en-US" sz="3600">
                <a:solidFill>
                  <a:srgbClr val="000000"/>
                </a:solidFill>
                <a:latin typeface="Times New Roman"/>
                <a:ea typeface="Times New Roman"/>
                <a:cs typeface="Times New Roman"/>
                <a:sym typeface="Times New Roman"/>
              </a:rPr>
              <a:t>T2T2T2 commits before T1T1T1, but T1T1T1 aborts, making the data read by T2T2T2 invalid.</a:t>
            </a:r>
            <a:endParaRPr/>
          </a:p>
          <a:p>
            <a:pPr marL="0" marR="0" lvl="0" indent="0" algn="just" rtl="0">
              <a:lnSpc>
                <a:spcPct val="108000"/>
              </a:lnSpc>
              <a:spcBef>
                <a:spcPts val="0"/>
              </a:spcBef>
              <a:spcAft>
                <a:spcPts val="0"/>
              </a:spcAft>
              <a:buNone/>
            </a:pPr>
            <a:r>
              <a:rPr lang="en-US" sz="3600">
                <a:solidFill>
                  <a:srgbClr val="000000"/>
                </a:solidFill>
                <a:latin typeface="Times New Roman"/>
                <a:ea typeface="Times New Roman"/>
                <a:cs typeface="Times New Roman"/>
                <a:sym typeface="Times New Roman"/>
              </a:rPr>
              <a:t>This leads to inconsistency and makes recovery impossible.</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44"/>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466" name="Google Shape;466;p44"/>
          <p:cNvSpPr txBox="1"/>
          <p:nvPr/>
        </p:nvSpPr>
        <p:spPr>
          <a:xfrm>
            <a:off x="1279120" y="771975"/>
            <a:ext cx="12235445" cy="1263103"/>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Cascading Abort Schedules</a:t>
            </a:r>
          </a:p>
          <a:p>
            <a:pPr marL="0" marR="0" lvl="0" indent="0" algn="l" rtl="0">
              <a:lnSpc>
                <a:spcPct val="108000"/>
              </a:lnSpc>
              <a:spcBef>
                <a:spcPts val="0"/>
              </a:spcBef>
              <a:spcAft>
                <a:spcPts val="0"/>
              </a:spcAft>
              <a:buNone/>
            </a:pPr>
            <a:endParaRPr lang="en-US" dirty="0"/>
          </a:p>
        </p:txBody>
      </p:sp>
      <p:sp>
        <p:nvSpPr>
          <p:cNvPr id="467" name="Google Shape;467;p44"/>
          <p:cNvSpPr/>
          <p:nvPr/>
        </p:nvSpPr>
        <p:spPr>
          <a:xfrm>
            <a:off x="12929865" y="3718183"/>
            <a:ext cx="4329435" cy="3939962"/>
          </a:xfrm>
          <a:custGeom>
            <a:avLst/>
            <a:gdLst/>
            <a:ahLst/>
            <a:cxnLst/>
            <a:rect l="l" t="t" r="r" b="b"/>
            <a:pathLst>
              <a:path w="4329435" h="3939962" extrusionOk="0">
                <a:moveTo>
                  <a:pt x="0" y="0"/>
                </a:moveTo>
                <a:lnTo>
                  <a:pt x="4329435" y="0"/>
                </a:lnTo>
                <a:lnTo>
                  <a:pt x="4329435" y="3939962"/>
                </a:lnTo>
                <a:lnTo>
                  <a:pt x="0" y="3939962"/>
                </a:lnTo>
                <a:lnTo>
                  <a:pt x="0" y="0"/>
                </a:lnTo>
                <a:close/>
              </a:path>
            </a:pathLst>
          </a:custGeom>
          <a:blipFill rotWithShape="1">
            <a:blip r:embed="rId4">
              <a:alphaModFix/>
            </a:blip>
            <a:stretch>
              <a:fillRect r="-15183"/>
            </a:stretch>
          </a:blipFill>
          <a:ln>
            <a:noFill/>
          </a:ln>
        </p:spPr>
      </p:sp>
      <p:sp>
        <p:nvSpPr>
          <p:cNvPr id="468" name="Google Shape;468;p44"/>
          <p:cNvSpPr txBox="1"/>
          <p:nvPr/>
        </p:nvSpPr>
        <p:spPr>
          <a:xfrm>
            <a:off x="1279120" y="1962118"/>
            <a:ext cx="15980180" cy="2997824"/>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A cascading abort schedule occurs when the failure of one transaction causes multiple other transactions to roll back because they read uncommitted data.</a:t>
            </a:r>
            <a:endParaRPr dirty="0"/>
          </a:p>
          <a:p>
            <a:pPr marL="0" marR="0" lvl="0" indent="0" algn="just" rtl="0">
              <a:lnSpc>
                <a:spcPct val="108000"/>
              </a:lnSpc>
              <a:spcBef>
                <a:spcPts val="0"/>
              </a:spcBef>
              <a:spcAft>
                <a:spcPts val="0"/>
              </a:spcAft>
              <a:buNone/>
            </a:pPr>
            <a:r>
              <a:rPr lang="en-US" sz="3600" b="1" dirty="0">
                <a:solidFill>
                  <a:srgbClr val="000000"/>
                </a:solidFill>
                <a:latin typeface="Times"/>
                <a:ea typeface="Times"/>
                <a:cs typeface="Times"/>
                <a:sym typeface="Times"/>
              </a:rPr>
              <a:t>Example:</a:t>
            </a:r>
            <a:endParaRPr dirty="0"/>
          </a:p>
          <a:p>
            <a:pPr marL="0" marR="0" lvl="0" indent="0" algn="just" rtl="0">
              <a:lnSpc>
                <a:spcPct val="108000"/>
              </a:lnSpc>
              <a:spcBef>
                <a:spcPts val="0"/>
              </a:spcBef>
              <a:spcAft>
                <a:spcPts val="0"/>
              </a:spcAft>
              <a:buNone/>
            </a:pPr>
            <a:endParaRPr sz="3600" b="1" dirty="0">
              <a:solidFill>
                <a:srgbClr val="000000"/>
              </a:solidFill>
              <a:latin typeface="Times"/>
              <a:ea typeface="Times"/>
              <a:cs typeface="Times"/>
              <a:sym typeface="Times"/>
            </a:endParaRPr>
          </a:p>
          <a:p>
            <a:pPr marL="0" marR="0" lvl="0" indent="0" algn="just" rtl="0">
              <a:lnSpc>
                <a:spcPct val="108000"/>
              </a:lnSpc>
              <a:spcBef>
                <a:spcPts val="0"/>
              </a:spcBef>
              <a:spcAft>
                <a:spcPts val="0"/>
              </a:spcAft>
              <a:buNone/>
            </a:pPr>
            <a:endParaRPr sz="3600" b="1" dirty="0">
              <a:solidFill>
                <a:srgbClr val="000000"/>
              </a:solidFill>
              <a:latin typeface="Times"/>
              <a:ea typeface="Times"/>
              <a:cs typeface="Times"/>
              <a:sym typeface="Times"/>
            </a:endParaRPr>
          </a:p>
        </p:txBody>
      </p:sp>
      <p:sp>
        <p:nvSpPr>
          <p:cNvPr id="469" name="Google Shape;469;p44"/>
          <p:cNvSpPr txBox="1"/>
          <p:nvPr/>
        </p:nvSpPr>
        <p:spPr>
          <a:xfrm>
            <a:off x="1279119" y="4175339"/>
            <a:ext cx="10705403" cy="2393219"/>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T2 and T3T3T3 read uncommitted data written by T1T1T1.</a:t>
            </a:r>
            <a:endParaRPr dirty="0"/>
          </a:p>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When T1T1T1 aborts, both T2T2T2 and T3T3T3 must also abort, leading to a cascading rollback.</a:t>
            </a:r>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45"/>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475" name="Google Shape;475;p45"/>
          <p:cNvSpPr txBox="1"/>
          <p:nvPr/>
        </p:nvSpPr>
        <p:spPr>
          <a:xfrm>
            <a:off x="674515" y="406131"/>
            <a:ext cx="16176123" cy="1030410"/>
          </a:xfrm>
          <a:prstGeom prst="rect">
            <a:avLst/>
          </a:prstGeom>
          <a:noFill/>
          <a:ln>
            <a:noFill/>
          </a:ln>
        </p:spPr>
        <p:txBody>
          <a:bodyPr spcFirstLastPara="1" wrap="square" lIns="0" tIns="0" rIns="0" bIns="0" anchor="t" anchorCtr="0">
            <a:spAutoFit/>
          </a:bodyPr>
          <a:lstStyle/>
          <a:p>
            <a:pPr algn="ctr">
              <a:lnSpc>
                <a:spcPct val="108000"/>
              </a:lnSpc>
            </a:pPr>
            <a:r>
              <a:rPr lang="en-US" sz="6200" b="1" dirty="0" err="1">
                <a:solidFill>
                  <a:srgbClr val="C00000"/>
                </a:solidFill>
                <a:latin typeface="Times"/>
                <a:cs typeface="Times"/>
                <a:sym typeface="Times"/>
              </a:rPr>
              <a:t>Cascadeless</a:t>
            </a:r>
            <a:r>
              <a:rPr lang="en-US" sz="6200" b="1" dirty="0">
                <a:solidFill>
                  <a:srgbClr val="C00000"/>
                </a:solidFill>
                <a:latin typeface="Times"/>
                <a:cs typeface="Times"/>
                <a:sym typeface="Times"/>
              </a:rPr>
              <a:t> Schedules</a:t>
            </a:r>
            <a:endParaRPr lang="en-US" sz="6200" b="1" dirty="0">
              <a:solidFill>
                <a:srgbClr val="C00000"/>
              </a:solidFill>
              <a:latin typeface="Times"/>
              <a:cs typeface="Times"/>
            </a:endParaRPr>
          </a:p>
        </p:txBody>
      </p:sp>
      <p:sp>
        <p:nvSpPr>
          <p:cNvPr id="476" name="Google Shape;476;p45"/>
          <p:cNvSpPr/>
          <p:nvPr/>
        </p:nvSpPr>
        <p:spPr>
          <a:xfrm>
            <a:off x="13444892" y="5333358"/>
            <a:ext cx="3814408" cy="2610733"/>
          </a:xfrm>
          <a:custGeom>
            <a:avLst/>
            <a:gdLst/>
            <a:ahLst/>
            <a:cxnLst/>
            <a:rect l="l" t="t" r="r" b="b"/>
            <a:pathLst>
              <a:path w="3814408" h="2610733" extrusionOk="0">
                <a:moveTo>
                  <a:pt x="0" y="0"/>
                </a:moveTo>
                <a:lnTo>
                  <a:pt x="3814408" y="0"/>
                </a:lnTo>
                <a:lnTo>
                  <a:pt x="3814408" y="2610733"/>
                </a:lnTo>
                <a:lnTo>
                  <a:pt x="0" y="2610733"/>
                </a:lnTo>
                <a:lnTo>
                  <a:pt x="0" y="0"/>
                </a:lnTo>
                <a:close/>
              </a:path>
            </a:pathLst>
          </a:custGeom>
          <a:blipFill rotWithShape="1">
            <a:blip r:embed="rId4">
              <a:alphaModFix/>
            </a:blip>
            <a:stretch>
              <a:fillRect t="-6575" r="-6925" b="-10117"/>
            </a:stretch>
          </a:blipFill>
          <a:ln>
            <a:noFill/>
          </a:ln>
        </p:spPr>
      </p:sp>
      <p:sp>
        <p:nvSpPr>
          <p:cNvPr id="477" name="Google Shape;477;p45"/>
          <p:cNvSpPr txBox="1"/>
          <p:nvPr/>
        </p:nvSpPr>
        <p:spPr>
          <a:xfrm>
            <a:off x="1083177" y="1962118"/>
            <a:ext cx="16176123" cy="5019131"/>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A </a:t>
            </a:r>
            <a:r>
              <a:rPr lang="en-US" sz="3600" dirty="0" err="1">
                <a:solidFill>
                  <a:srgbClr val="000000"/>
                </a:solidFill>
                <a:latin typeface="Times New Roman"/>
                <a:ea typeface="Times New Roman"/>
                <a:cs typeface="Times New Roman"/>
                <a:sym typeface="Times New Roman"/>
              </a:rPr>
              <a:t>cascadeless</a:t>
            </a:r>
            <a:r>
              <a:rPr lang="en-US" sz="3600" dirty="0">
                <a:solidFill>
                  <a:srgbClr val="000000"/>
                </a:solidFill>
                <a:latin typeface="Times New Roman"/>
                <a:ea typeface="Times New Roman"/>
                <a:cs typeface="Times New Roman"/>
                <a:sym typeface="Times New Roman"/>
              </a:rPr>
              <a:t> schedule avoids cascading aborts by ensuring that a transaction </a:t>
            </a:r>
            <a:r>
              <a:rPr lang="en-US" sz="3600" dirty="0" err="1">
                <a:solidFill>
                  <a:srgbClr val="000000"/>
                </a:solidFill>
                <a:latin typeface="Times New Roman"/>
                <a:ea typeface="Times New Roman"/>
                <a:cs typeface="Times New Roman"/>
                <a:sym typeface="Times New Roman"/>
              </a:rPr>
              <a:t>TiT_iTi</a:t>
            </a:r>
            <a:r>
              <a:rPr lang="en-US" sz="3600" dirty="0">
                <a:solidFill>
                  <a:srgbClr val="000000"/>
                </a:solidFill>
                <a:latin typeface="Times New Roman"/>
                <a:ea typeface="Times New Roman"/>
                <a:cs typeface="Times New Roman"/>
                <a:sym typeface="Times New Roman"/>
              </a:rPr>
              <a:t>​ can only read data written by another transaction </a:t>
            </a:r>
            <a:r>
              <a:rPr lang="en-US" sz="3600" dirty="0" err="1">
                <a:solidFill>
                  <a:srgbClr val="000000"/>
                </a:solidFill>
                <a:latin typeface="Times New Roman"/>
                <a:ea typeface="Times New Roman"/>
                <a:cs typeface="Times New Roman"/>
                <a:sym typeface="Times New Roman"/>
              </a:rPr>
              <a:t>TjT_jTj</a:t>
            </a:r>
            <a:r>
              <a:rPr lang="en-US" sz="3600" dirty="0">
                <a:solidFill>
                  <a:srgbClr val="000000"/>
                </a:solidFill>
                <a:latin typeface="Times New Roman"/>
                <a:ea typeface="Times New Roman"/>
                <a:cs typeface="Times New Roman"/>
                <a:sym typeface="Times New Roman"/>
              </a:rPr>
              <a:t>​ if </a:t>
            </a:r>
            <a:r>
              <a:rPr lang="en-US" sz="3600" dirty="0" err="1">
                <a:solidFill>
                  <a:srgbClr val="000000"/>
                </a:solidFill>
                <a:latin typeface="Times New Roman"/>
                <a:ea typeface="Times New Roman"/>
                <a:cs typeface="Times New Roman"/>
                <a:sym typeface="Times New Roman"/>
              </a:rPr>
              <a:t>TjT_jTj</a:t>
            </a:r>
            <a:r>
              <a:rPr lang="en-US" sz="3600" dirty="0">
                <a:solidFill>
                  <a:srgbClr val="000000"/>
                </a:solidFill>
                <a:latin typeface="Times New Roman"/>
                <a:ea typeface="Times New Roman"/>
                <a:cs typeface="Times New Roman"/>
                <a:sym typeface="Times New Roman"/>
              </a:rPr>
              <a:t>​ has already committed.</a:t>
            </a:r>
            <a:endParaRPr dirty="0"/>
          </a:p>
          <a:p>
            <a:pPr marL="0" marR="0" lvl="0" indent="0" algn="just" rtl="0">
              <a:lnSpc>
                <a:spcPct val="108000"/>
              </a:lnSpc>
              <a:spcBef>
                <a:spcPts val="0"/>
              </a:spcBef>
              <a:spcAft>
                <a:spcPts val="0"/>
              </a:spcAft>
              <a:buNone/>
            </a:pPr>
            <a:r>
              <a:rPr lang="en-US" sz="3600" b="1" dirty="0">
                <a:solidFill>
                  <a:srgbClr val="000000"/>
                </a:solidFill>
                <a:latin typeface="Times"/>
                <a:ea typeface="Times"/>
                <a:cs typeface="Times"/>
                <a:sym typeface="Times"/>
              </a:rPr>
              <a:t>Example:</a:t>
            </a:r>
          </a:p>
          <a:p>
            <a:pPr marL="777240" lvl="1" indent="-388620" algn="just">
              <a:lnSpc>
                <a:spcPct val="108000"/>
              </a:lnSpc>
              <a:buSzPts val="3600"/>
              <a:buFont typeface="Arial"/>
              <a:buChar char="•"/>
            </a:pPr>
            <a:r>
              <a:rPr lang="en-US" sz="3600" dirty="0">
                <a:latin typeface="Times New Roman"/>
                <a:cs typeface="Times New Roman"/>
              </a:rPr>
              <a:t>T2 reads the value of AAA only after T1T1T1 has committed, ensuring no cascading aborts.</a:t>
            </a:r>
          </a:p>
          <a:p>
            <a:pPr marL="777240" lvl="1" indent="-388620" algn="just">
              <a:lnSpc>
                <a:spcPct val="108000"/>
              </a:lnSpc>
              <a:buSzPts val="3600"/>
              <a:buFont typeface="Arial"/>
              <a:buChar char="•"/>
            </a:pPr>
            <a:endParaRPr lang="en-US" sz="3600" dirty="0">
              <a:latin typeface="Times New Roman"/>
              <a:cs typeface="Times New Roman"/>
            </a:endParaRPr>
          </a:p>
          <a:p>
            <a:pPr marL="0" marR="0" lvl="0" indent="0" algn="just" rtl="0">
              <a:lnSpc>
                <a:spcPct val="108000"/>
              </a:lnSpc>
              <a:spcBef>
                <a:spcPts val="0"/>
              </a:spcBef>
              <a:spcAft>
                <a:spcPts val="0"/>
              </a:spcAft>
              <a:buNone/>
            </a:pPr>
            <a:endParaRPr lang="en-IN" dirty="0"/>
          </a:p>
          <a:p>
            <a:pPr marL="0" marR="0" lvl="0" indent="0" algn="just" rtl="0">
              <a:lnSpc>
                <a:spcPct val="108000"/>
              </a:lnSpc>
              <a:spcBef>
                <a:spcPts val="0"/>
              </a:spcBef>
              <a:spcAft>
                <a:spcPts val="0"/>
              </a:spcAft>
              <a:buNone/>
            </a:pPr>
            <a:endParaRPr sz="3600" b="1" dirty="0">
              <a:solidFill>
                <a:srgbClr val="000000"/>
              </a:solidFill>
              <a:latin typeface="Times"/>
              <a:ea typeface="Times"/>
              <a:cs typeface="Times"/>
              <a:sym typeface="Times"/>
            </a:endParaRPr>
          </a:p>
        </p:txBody>
      </p:sp>
      <p:sp>
        <p:nvSpPr>
          <p:cNvPr id="478" name="Google Shape;478;p45"/>
          <p:cNvSpPr txBox="1"/>
          <p:nvPr/>
        </p:nvSpPr>
        <p:spPr>
          <a:xfrm>
            <a:off x="1083177" y="6062501"/>
            <a:ext cx="11911178" cy="2991525"/>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b="1" dirty="0">
                <a:solidFill>
                  <a:srgbClr val="000000"/>
                </a:solidFill>
                <a:latin typeface="Times"/>
                <a:ea typeface="Times"/>
                <a:cs typeface="Times"/>
                <a:sym typeface="Times"/>
              </a:rPr>
              <a:t>Benefits</a:t>
            </a:r>
            <a:r>
              <a:rPr lang="en-US" sz="3600" b="1" dirty="0">
                <a:latin typeface="Times"/>
                <a:ea typeface="Times"/>
                <a:cs typeface="Times"/>
                <a:sym typeface="Times"/>
              </a:rPr>
              <a:t>:</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Simplifies recovery.</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Reduces the number of transactions affected by rollbacks.</a:t>
            </a: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4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484" name="Google Shape;484;p46"/>
          <p:cNvSpPr txBox="1"/>
          <p:nvPr/>
        </p:nvSpPr>
        <p:spPr>
          <a:xfrm>
            <a:off x="1279120" y="771975"/>
            <a:ext cx="12235445" cy="1263103"/>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Strict Schedules</a:t>
            </a:r>
          </a:p>
          <a:p>
            <a:pPr marL="0" marR="0" lvl="0" indent="0" algn="l" rtl="0">
              <a:lnSpc>
                <a:spcPct val="108000"/>
              </a:lnSpc>
              <a:spcBef>
                <a:spcPts val="0"/>
              </a:spcBef>
              <a:spcAft>
                <a:spcPts val="0"/>
              </a:spcAft>
              <a:buNone/>
            </a:pPr>
            <a:endParaRPr lang="en-US" dirty="0"/>
          </a:p>
        </p:txBody>
      </p:sp>
      <p:sp>
        <p:nvSpPr>
          <p:cNvPr id="485" name="Google Shape;485;p46"/>
          <p:cNvSpPr/>
          <p:nvPr/>
        </p:nvSpPr>
        <p:spPr>
          <a:xfrm>
            <a:off x="13132364" y="4667348"/>
            <a:ext cx="4388640" cy="3087038"/>
          </a:xfrm>
          <a:custGeom>
            <a:avLst/>
            <a:gdLst/>
            <a:ahLst/>
            <a:cxnLst/>
            <a:rect l="l" t="t" r="r" b="b"/>
            <a:pathLst>
              <a:path w="4388640" h="3087038" extrusionOk="0">
                <a:moveTo>
                  <a:pt x="0" y="0"/>
                </a:moveTo>
                <a:lnTo>
                  <a:pt x="4388640" y="0"/>
                </a:lnTo>
                <a:lnTo>
                  <a:pt x="4388640" y="3087038"/>
                </a:lnTo>
                <a:lnTo>
                  <a:pt x="0" y="3087038"/>
                </a:lnTo>
                <a:lnTo>
                  <a:pt x="0" y="0"/>
                </a:lnTo>
                <a:close/>
              </a:path>
            </a:pathLst>
          </a:custGeom>
          <a:blipFill rotWithShape="1">
            <a:blip r:embed="rId4">
              <a:alphaModFix/>
            </a:blip>
            <a:stretch>
              <a:fillRect r="-10995"/>
            </a:stretch>
          </a:blipFill>
          <a:ln>
            <a:noFill/>
          </a:ln>
        </p:spPr>
      </p:sp>
      <p:sp>
        <p:nvSpPr>
          <p:cNvPr id="486" name="Google Shape;486;p46"/>
          <p:cNvSpPr txBox="1"/>
          <p:nvPr/>
        </p:nvSpPr>
        <p:spPr>
          <a:xfrm>
            <a:off x="1279120" y="1962118"/>
            <a:ext cx="15980180" cy="4188134"/>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A strict schedule ensures that a transaction </a:t>
            </a:r>
            <a:r>
              <a:rPr lang="en-US" sz="3600" dirty="0" err="1">
                <a:solidFill>
                  <a:srgbClr val="000000"/>
                </a:solidFill>
                <a:latin typeface="Times New Roman"/>
                <a:ea typeface="Times New Roman"/>
                <a:cs typeface="Times New Roman"/>
                <a:sym typeface="Times New Roman"/>
              </a:rPr>
              <a:t>TiT_iTi</a:t>
            </a:r>
            <a:r>
              <a:rPr lang="en-US" sz="3600" dirty="0">
                <a:solidFill>
                  <a:srgbClr val="000000"/>
                </a:solidFill>
                <a:latin typeface="Times New Roman"/>
                <a:ea typeface="Times New Roman"/>
                <a:cs typeface="Times New Roman"/>
                <a:sym typeface="Times New Roman"/>
              </a:rPr>
              <a:t>​ can neither read nor write a data item modified by another transaction </a:t>
            </a:r>
            <a:r>
              <a:rPr lang="en-US" sz="3600" dirty="0" err="1">
                <a:solidFill>
                  <a:srgbClr val="000000"/>
                </a:solidFill>
                <a:latin typeface="Times New Roman"/>
                <a:ea typeface="Times New Roman"/>
                <a:cs typeface="Times New Roman"/>
                <a:sym typeface="Times New Roman"/>
              </a:rPr>
              <a:t>TjT_jTj</a:t>
            </a:r>
            <a:r>
              <a:rPr lang="en-US" sz="3600" dirty="0">
                <a:solidFill>
                  <a:srgbClr val="000000"/>
                </a:solidFill>
                <a:latin typeface="Times New Roman"/>
                <a:ea typeface="Times New Roman"/>
                <a:cs typeface="Times New Roman"/>
                <a:sym typeface="Times New Roman"/>
              </a:rPr>
              <a:t>​ until </a:t>
            </a:r>
            <a:r>
              <a:rPr lang="en-US" sz="3600" dirty="0" err="1">
                <a:solidFill>
                  <a:srgbClr val="000000"/>
                </a:solidFill>
                <a:latin typeface="Times New Roman"/>
                <a:ea typeface="Times New Roman"/>
                <a:cs typeface="Times New Roman"/>
                <a:sym typeface="Times New Roman"/>
              </a:rPr>
              <a:t>TjT_jTj</a:t>
            </a:r>
            <a:r>
              <a:rPr lang="en-US" sz="3600" dirty="0">
                <a:solidFill>
                  <a:srgbClr val="000000"/>
                </a:solidFill>
                <a:latin typeface="Times New Roman"/>
                <a:ea typeface="Times New Roman"/>
                <a:cs typeface="Times New Roman"/>
                <a:sym typeface="Times New Roman"/>
              </a:rPr>
              <a:t>​ has committed or aborted.</a:t>
            </a:r>
            <a:endParaRPr dirty="0"/>
          </a:p>
          <a:p>
            <a:pPr marL="0" marR="0" lvl="0" indent="0" algn="just" rtl="0">
              <a:lnSpc>
                <a:spcPct val="108000"/>
              </a:lnSpc>
              <a:spcBef>
                <a:spcPts val="0"/>
              </a:spcBef>
              <a:spcAft>
                <a:spcPts val="0"/>
              </a:spcAft>
              <a:buNone/>
            </a:pPr>
            <a:r>
              <a:rPr lang="en-US" sz="3600" b="1" dirty="0">
                <a:solidFill>
                  <a:srgbClr val="000000"/>
                </a:solidFill>
                <a:latin typeface="Times"/>
                <a:ea typeface="Times"/>
                <a:cs typeface="Times"/>
                <a:sym typeface="Times"/>
              </a:rPr>
              <a:t>Example:</a:t>
            </a:r>
          </a:p>
          <a:p>
            <a:pPr marL="777240" lvl="1" indent="-388620" algn="just">
              <a:lnSpc>
                <a:spcPct val="108000"/>
              </a:lnSpc>
              <a:buSzPts val="3600"/>
              <a:buFont typeface="Arial"/>
              <a:buChar char="•"/>
            </a:pPr>
            <a:r>
              <a:rPr lang="en-US" sz="3600" dirty="0">
                <a:latin typeface="Times New Roman"/>
                <a:cs typeface="Times New Roman"/>
              </a:rPr>
              <a:t>T2 cannot access AAA until T1T1T1 has completed, making recovery straightforward.</a:t>
            </a:r>
          </a:p>
          <a:p>
            <a:pPr marL="777240" lvl="1" indent="-388620" algn="just">
              <a:lnSpc>
                <a:spcPct val="108000"/>
              </a:lnSpc>
              <a:buSzPts val="3600"/>
              <a:buFont typeface="Arial"/>
              <a:buChar char="•"/>
            </a:pPr>
            <a:endParaRPr lang="en-IN" sz="3600" dirty="0">
              <a:latin typeface="Times New Roman"/>
              <a:cs typeface="Times New Roman"/>
            </a:endParaRPr>
          </a:p>
          <a:p>
            <a:pPr marL="0" marR="0" lvl="0" indent="0" algn="just" rtl="0">
              <a:lnSpc>
                <a:spcPct val="108000"/>
              </a:lnSpc>
              <a:spcBef>
                <a:spcPts val="0"/>
              </a:spcBef>
              <a:spcAft>
                <a:spcPts val="0"/>
              </a:spcAft>
              <a:buNone/>
            </a:pPr>
            <a:endParaRPr sz="3600" b="1" dirty="0">
              <a:solidFill>
                <a:srgbClr val="000000"/>
              </a:solidFill>
              <a:latin typeface="Times"/>
              <a:ea typeface="Times"/>
              <a:cs typeface="Times"/>
              <a:sym typeface="Times"/>
            </a:endParaRPr>
          </a:p>
        </p:txBody>
      </p:sp>
      <p:sp>
        <p:nvSpPr>
          <p:cNvPr id="487" name="Google Shape;487;p46"/>
          <p:cNvSpPr txBox="1"/>
          <p:nvPr/>
        </p:nvSpPr>
        <p:spPr>
          <a:xfrm>
            <a:off x="1389234" y="5313409"/>
            <a:ext cx="10922944" cy="1794915"/>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b="1" dirty="0">
                <a:solidFill>
                  <a:srgbClr val="000000"/>
                </a:solidFill>
                <a:latin typeface="Times"/>
                <a:ea typeface="Times"/>
                <a:cs typeface="Times"/>
                <a:sym typeface="Times"/>
              </a:rPr>
              <a:t>Benefits:</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Guarantees recoverability.</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Avoids cascading aborts.</a:t>
            </a:r>
            <a:endParaRPr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47"/>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493" name="Google Shape;493;p47"/>
          <p:cNvSpPr txBox="1"/>
          <p:nvPr/>
        </p:nvSpPr>
        <p:spPr>
          <a:xfrm>
            <a:off x="2422120" y="375440"/>
            <a:ext cx="12235445" cy="2027671"/>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5400" b="1" dirty="0">
                <a:solidFill>
                  <a:srgbClr val="C00000"/>
                </a:solidFill>
                <a:latin typeface="Times"/>
                <a:ea typeface="Times"/>
                <a:cs typeface="Times"/>
                <a:sym typeface="Times"/>
              </a:rPr>
              <a:t>Difference between Serial Schedule and Serializable Schedule</a:t>
            </a:r>
          </a:p>
          <a:p>
            <a:pPr marL="0" marR="0" lvl="0" indent="0" algn="l" rtl="0">
              <a:lnSpc>
                <a:spcPct val="108000"/>
              </a:lnSpc>
              <a:spcBef>
                <a:spcPts val="0"/>
              </a:spcBef>
              <a:spcAft>
                <a:spcPts val="0"/>
              </a:spcAft>
              <a:buNone/>
            </a:pPr>
            <a:endParaRPr lang="en-US" dirty="0"/>
          </a:p>
        </p:txBody>
      </p:sp>
      <p:grpSp>
        <p:nvGrpSpPr>
          <p:cNvPr id="495" name="Google Shape;495;p47"/>
          <p:cNvGrpSpPr/>
          <p:nvPr/>
        </p:nvGrpSpPr>
        <p:grpSpPr>
          <a:xfrm>
            <a:off x="3630435" y="2318436"/>
            <a:ext cx="10195666" cy="7290763"/>
            <a:chOff x="0" y="-183032"/>
            <a:chExt cx="13594221" cy="9721017"/>
          </a:xfrm>
        </p:grpSpPr>
        <p:sp>
          <p:nvSpPr>
            <p:cNvPr id="496" name="Google Shape;496;p47"/>
            <p:cNvSpPr/>
            <p:nvPr/>
          </p:nvSpPr>
          <p:spPr>
            <a:xfrm>
              <a:off x="0" y="0"/>
              <a:ext cx="13594221" cy="9537985"/>
            </a:xfrm>
            <a:custGeom>
              <a:avLst/>
              <a:gdLst/>
              <a:ahLst/>
              <a:cxnLst/>
              <a:rect l="l" t="t" r="r" b="b"/>
              <a:pathLst>
                <a:path w="13594221" h="9537985" extrusionOk="0">
                  <a:moveTo>
                    <a:pt x="0" y="0"/>
                  </a:moveTo>
                  <a:lnTo>
                    <a:pt x="13594221" y="0"/>
                  </a:lnTo>
                  <a:lnTo>
                    <a:pt x="13594221" y="9537985"/>
                  </a:lnTo>
                  <a:lnTo>
                    <a:pt x="0" y="9537985"/>
                  </a:lnTo>
                  <a:lnTo>
                    <a:pt x="0" y="0"/>
                  </a:lnTo>
                  <a:close/>
                </a:path>
              </a:pathLst>
            </a:custGeom>
            <a:blipFill rotWithShape="1">
              <a:blip r:embed="rId4">
                <a:alphaModFix/>
              </a:blip>
              <a:stretch>
                <a:fillRect t="-2963" b="-1078"/>
              </a:stretch>
            </a:blipFill>
            <a:ln>
              <a:noFill/>
            </a:ln>
          </p:spPr>
        </p:sp>
        <p:grpSp>
          <p:nvGrpSpPr>
            <p:cNvPr id="497" name="Google Shape;497;p47"/>
            <p:cNvGrpSpPr/>
            <p:nvPr/>
          </p:nvGrpSpPr>
          <p:grpSpPr>
            <a:xfrm>
              <a:off x="6797111" y="-183032"/>
              <a:ext cx="6511837" cy="1774823"/>
              <a:chOff x="0" y="-38100"/>
              <a:chExt cx="1355503" cy="369447"/>
            </a:xfrm>
          </p:grpSpPr>
          <p:sp>
            <p:nvSpPr>
              <p:cNvPr id="498" name="Google Shape;498;p47"/>
              <p:cNvSpPr/>
              <p:nvPr/>
            </p:nvSpPr>
            <p:spPr>
              <a:xfrm>
                <a:off x="0" y="0"/>
                <a:ext cx="1355503" cy="331347"/>
              </a:xfrm>
              <a:custGeom>
                <a:avLst/>
                <a:gdLst/>
                <a:ahLst/>
                <a:cxnLst/>
                <a:rect l="l" t="t" r="r" b="b"/>
                <a:pathLst>
                  <a:path w="1355503" h="331347" extrusionOk="0">
                    <a:moveTo>
                      <a:pt x="0" y="0"/>
                    </a:moveTo>
                    <a:lnTo>
                      <a:pt x="1355503" y="0"/>
                    </a:lnTo>
                    <a:lnTo>
                      <a:pt x="1355503" y="331347"/>
                    </a:lnTo>
                    <a:lnTo>
                      <a:pt x="0" y="331347"/>
                    </a:lnTo>
                    <a:close/>
                  </a:path>
                </a:pathLst>
              </a:custGeom>
              <a:solidFill>
                <a:srgbClr val="F2F1F1"/>
              </a:solidFill>
              <a:ln>
                <a:noFill/>
              </a:ln>
            </p:spPr>
          </p:sp>
          <p:sp>
            <p:nvSpPr>
              <p:cNvPr id="499" name="Google Shape;499;p47"/>
              <p:cNvSpPr txBox="1"/>
              <p:nvPr/>
            </p:nvSpPr>
            <p:spPr>
              <a:xfrm>
                <a:off x="0" y="-38100"/>
                <a:ext cx="1355503" cy="369447"/>
              </a:xfrm>
              <a:prstGeom prst="rect">
                <a:avLst/>
              </a:prstGeom>
              <a:noFill/>
              <a:ln>
                <a:noFill/>
              </a:ln>
            </p:spPr>
            <p:txBody>
              <a:bodyPr spcFirstLastPara="1" wrap="square" lIns="50800" tIns="50800" rIns="50800" bIns="50800" anchor="ctr" anchorCtr="0">
                <a:noAutofit/>
              </a:bodyPr>
              <a:lstStyle/>
              <a:p>
                <a:pPr marL="0" marR="0" lvl="0" indent="0" algn="ctr" rtl="0">
                  <a:lnSpc>
                    <a:spcPct val="147777"/>
                  </a:lnSpc>
                  <a:spcBef>
                    <a:spcPts val="0"/>
                  </a:spcBef>
                  <a:spcAft>
                    <a:spcPts val="0"/>
                  </a:spcAft>
                  <a:buNone/>
                </a:pPr>
                <a:endParaRPr sz="1800">
                  <a:solidFill>
                    <a:schemeClr val="dk1"/>
                  </a:solidFill>
                  <a:latin typeface="Calibri"/>
                  <a:ea typeface="Calibri"/>
                  <a:cs typeface="Calibri"/>
                  <a:sym typeface="Calibri"/>
                </a:endParaRPr>
              </a:p>
            </p:txBody>
          </p:sp>
        </p:grpSp>
        <p:sp>
          <p:nvSpPr>
            <p:cNvPr id="500" name="Google Shape;500;p47"/>
            <p:cNvSpPr txBox="1"/>
            <p:nvPr/>
          </p:nvSpPr>
          <p:spPr>
            <a:xfrm>
              <a:off x="7435283" y="462292"/>
              <a:ext cx="4626955" cy="638633"/>
            </a:xfrm>
            <a:prstGeom prst="rect">
              <a:avLst/>
            </a:prstGeom>
            <a:noFill/>
            <a:ln>
              <a:noFill/>
            </a:ln>
          </p:spPr>
          <p:txBody>
            <a:bodyPr spcFirstLastPara="1" wrap="square" lIns="0" tIns="0" rIns="0" bIns="0" anchor="t" anchorCtr="0">
              <a:spAutoFit/>
            </a:bodyPr>
            <a:lstStyle/>
            <a:p>
              <a:pPr marL="0" marR="0" lvl="0" indent="0" algn="ctr" rtl="0">
                <a:lnSpc>
                  <a:spcPct val="108006"/>
                </a:lnSpc>
                <a:spcBef>
                  <a:spcPts val="0"/>
                </a:spcBef>
                <a:spcAft>
                  <a:spcPts val="0"/>
                </a:spcAft>
                <a:buNone/>
              </a:pPr>
              <a:r>
                <a:rPr lang="en-US" sz="3010" b="1">
                  <a:solidFill>
                    <a:srgbClr val="000000"/>
                  </a:solidFill>
                  <a:latin typeface="Times"/>
                  <a:ea typeface="Times"/>
                  <a:cs typeface="Times"/>
                  <a:sym typeface="Times"/>
                </a:rPr>
                <a:t> Serializable Schedule</a:t>
              </a:r>
              <a:endParaRPr/>
            </a:p>
          </p:txBody>
        </p:sp>
        <p:grpSp>
          <p:nvGrpSpPr>
            <p:cNvPr id="501" name="Google Shape;501;p47"/>
            <p:cNvGrpSpPr/>
            <p:nvPr/>
          </p:nvGrpSpPr>
          <p:grpSpPr>
            <a:xfrm>
              <a:off x="285274" y="-183032"/>
              <a:ext cx="6511837" cy="1774823"/>
              <a:chOff x="0" y="-38100"/>
              <a:chExt cx="1355503" cy="369447"/>
            </a:xfrm>
          </p:grpSpPr>
          <p:sp>
            <p:nvSpPr>
              <p:cNvPr id="502" name="Google Shape;502;p47"/>
              <p:cNvSpPr/>
              <p:nvPr/>
            </p:nvSpPr>
            <p:spPr>
              <a:xfrm>
                <a:off x="0" y="0"/>
                <a:ext cx="1355503" cy="331347"/>
              </a:xfrm>
              <a:custGeom>
                <a:avLst/>
                <a:gdLst/>
                <a:ahLst/>
                <a:cxnLst/>
                <a:rect l="l" t="t" r="r" b="b"/>
                <a:pathLst>
                  <a:path w="1355503" h="331347" extrusionOk="0">
                    <a:moveTo>
                      <a:pt x="0" y="0"/>
                    </a:moveTo>
                    <a:lnTo>
                      <a:pt x="1355503" y="0"/>
                    </a:lnTo>
                    <a:lnTo>
                      <a:pt x="1355503" y="331347"/>
                    </a:lnTo>
                    <a:lnTo>
                      <a:pt x="0" y="331347"/>
                    </a:lnTo>
                    <a:close/>
                  </a:path>
                </a:pathLst>
              </a:custGeom>
              <a:solidFill>
                <a:srgbClr val="F2F1F1"/>
              </a:solidFill>
              <a:ln>
                <a:noFill/>
              </a:ln>
            </p:spPr>
          </p:sp>
          <p:sp>
            <p:nvSpPr>
              <p:cNvPr id="503" name="Google Shape;503;p47"/>
              <p:cNvSpPr txBox="1"/>
              <p:nvPr/>
            </p:nvSpPr>
            <p:spPr>
              <a:xfrm>
                <a:off x="0" y="-38100"/>
                <a:ext cx="1355503" cy="369447"/>
              </a:xfrm>
              <a:prstGeom prst="rect">
                <a:avLst/>
              </a:prstGeom>
              <a:noFill/>
              <a:ln>
                <a:noFill/>
              </a:ln>
            </p:spPr>
            <p:txBody>
              <a:bodyPr spcFirstLastPara="1" wrap="square" lIns="50800" tIns="50800" rIns="50800" bIns="50800" anchor="ctr" anchorCtr="0">
                <a:noAutofit/>
              </a:bodyPr>
              <a:lstStyle/>
              <a:p>
                <a:pPr marL="0" marR="0" lvl="0" indent="0" algn="ctr" rtl="0">
                  <a:lnSpc>
                    <a:spcPct val="147777"/>
                  </a:lnSpc>
                  <a:spcBef>
                    <a:spcPts val="0"/>
                  </a:spcBef>
                  <a:spcAft>
                    <a:spcPts val="0"/>
                  </a:spcAft>
                  <a:buNone/>
                </a:pPr>
                <a:endParaRPr sz="1800">
                  <a:solidFill>
                    <a:schemeClr val="dk1"/>
                  </a:solidFill>
                  <a:latin typeface="Calibri"/>
                  <a:ea typeface="Calibri"/>
                  <a:cs typeface="Calibri"/>
                  <a:sym typeface="Calibri"/>
                </a:endParaRPr>
              </a:p>
            </p:txBody>
          </p:sp>
        </p:grpSp>
        <p:cxnSp>
          <p:nvCxnSpPr>
            <p:cNvPr id="504" name="Google Shape;504;p47"/>
            <p:cNvCxnSpPr/>
            <p:nvPr/>
          </p:nvCxnSpPr>
          <p:spPr>
            <a:xfrm rot="10800000">
              <a:off x="6797111" y="0"/>
              <a:ext cx="0" cy="5208082"/>
            </a:xfrm>
            <a:prstGeom prst="straightConnector1">
              <a:avLst/>
            </a:prstGeom>
            <a:noFill/>
            <a:ln w="48200" cap="flat" cmpd="sng">
              <a:solidFill>
                <a:srgbClr val="FFFFFF"/>
              </a:solidFill>
              <a:prstDash val="solid"/>
              <a:round/>
              <a:headEnd type="none" w="sm" len="sm"/>
              <a:tailEnd type="none" w="sm" len="sm"/>
            </a:ln>
          </p:spPr>
        </p:cxnSp>
        <p:sp>
          <p:nvSpPr>
            <p:cNvPr id="505" name="Google Shape;505;p47"/>
            <p:cNvSpPr txBox="1"/>
            <p:nvPr/>
          </p:nvSpPr>
          <p:spPr>
            <a:xfrm>
              <a:off x="114695" y="462292"/>
              <a:ext cx="5729433" cy="1174387"/>
            </a:xfrm>
            <a:prstGeom prst="rect">
              <a:avLst/>
            </a:prstGeom>
            <a:noFill/>
            <a:ln>
              <a:noFill/>
            </a:ln>
          </p:spPr>
          <p:txBody>
            <a:bodyPr spcFirstLastPara="1" wrap="square" lIns="0" tIns="0" rIns="0" bIns="0" anchor="t" anchorCtr="0">
              <a:spAutoFit/>
            </a:bodyPr>
            <a:lstStyle/>
            <a:p>
              <a:pPr marL="0" marR="0" lvl="0" indent="0" algn="l" rtl="0">
                <a:lnSpc>
                  <a:spcPct val="108006"/>
                </a:lnSpc>
                <a:spcBef>
                  <a:spcPts val="0"/>
                </a:spcBef>
                <a:spcAft>
                  <a:spcPts val="0"/>
                </a:spcAft>
                <a:buNone/>
              </a:pPr>
              <a:r>
                <a:rPr lang="en-US" sz="3010" b="1" dirty="0">
                  <a:solidFill>
                    <a:srgbClr val="000000"/>
                  </a:solidFill>
                  <a:latin typeface="Times"/>
                  <a:ea typeface="Times"/>
                  <a:cs typeface="Times"/>
                  <a:sym typeface="Times"/>
                </a:rPr>
                <a:t>              Serial Schedule</a:t>
              </a:r>
              <a:endParaRPr dirty="0"/>
            </a:p>
            <a:p>
              <a:pPr marL="0" marR="0" lvl="0" indent="0" algn="l" rtl="0">
                <a:lnSpc>
                  <a:spcPct val="108006"/>
                </a:lnSpc>
                <a:spcBef>
                  <a:spcPts val="0"/>
                </a:spcBef>
                <a:spcAft>
                  <a:spcPts val="0"/>
                </a:spcAft>
                <a:buNone/>
              </a:pPr>
              <a:endParaRPr sz="3010" b="1" dirty="0">
                <a:solidFill>
                  <a:srgbClr val="000000"/>
                </a:solidFill>
                <a:latin typeface="Times"/>
                <a:ea typeface="Times"/>
                <a:cs typeface="Times"/>
                <a:sym typeface="Times"/>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48"/>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511" name="Google Shape;511;p48"/>
          <p:cNvSpPr txBox="1"/>
          <p:nvPr/>
        </p:nvSpPr>
        <p:spPr>
          <a:xfrm>
            <a:off x="1279120" y="771975"/>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Concurrency Control</a:t>
            </a:r>
            <a:endParaRPr dirty="0"/>
          </a:p>
        </p:txBody>
      </p:sp>
      <p:sp>
        <p:nvSpPr>
          <p:cNvPr id="512" name="Google Shape;512;p48"/>
          <p:cNvSpPr txBox="1"/>
          <p:nvPr/>
        </p:nvSpPr>
        <p:spPr>
          <a:xfrm>
            <a:off x="1279120" y="2022075"/>
            <a:ext cx="15980180" cy="7777963"/>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Concurrency control is a very important concept of DBMS which ensures the simultaneous execution or manipulation of data by several processes or user without resulting in data inconsistency. Concurrency Control deals with interleaved execution of more than one transaction.</a:t>
            </a: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a:p>
            <a:pPr marL="0" marR="0" lvl="0" indent="0" algn="just" rtl="0">
              <a:lnSpc>
                <a:spcPct val="108000"/>
              </a:lnSpc>
              <a:spcBef>
                <a:spcPts val="0"/>
              </a:spcBef>
              <a:spcAft>
                <a:spcPts val="0"/>
              </a:spcAft>
              <a:buNone/>
            </a:pPr>
            <a:r>
              <a:rPr lang="en-US" sz="3600" b="1" dirty="0">
                <a:solidFill>
                  <a:srgbClr val="000000"/>
                </a:solidFill>
                <a:latin typeface="Times"/>
                <a:ea typeface="Times"/>
                <a:cs typeface="Times"/>
                <a:sym typeface="Times"/>
              </a:rPr>
              <a:t>Goals of Concurrency Control</a:t>
            </a:r>
            <a:endParaRPr dirty="0"/>
          </a:p>
          <a:p>
            <a:pPr marL="777240" marR="0" lvl="1" indent="-388620" algn="just" rtl="0">
              <a:lnSpc>
                <a:spcPct val="108000"/>
              </a:lnSpc>
              <a:spcBef>
                <a:spcPts val="0"/>
              </a:spcBef>
              <a:spcAft>
                <a:spcPts val="0"/>
              </a:spcAft>
              <a:buClr>
                <a:srgbClr val="000000"/>
              </a:buClr>
              <a:buSzPts val="3600"/>
              <a:buFont typeface="Times New Roman"/>
              <a:buAutoNum type="arabicPeriod"/>
            </a:pPr>
            <a:r>
              <a:rPr lang="en-US" sz="3600" b="0" i="0" u="none" strike="noStrike" cap="none" dirty="0">
                <a:solidFill>
                  <a:srgbClr val="000000"/>
                </a:solidFill>
                <a:latin typeface="Times New Roman"/>
                <a:ea typeface="Times New Roman"/>
                <a:cs typeface="Times New Roman"/>
                <a:sym typeface="Times New Roman"/>
              </a:rPr>
              <a:t>Maintain Database Consistency: Ensure that the database remains in a consistent state even when multiple transactions execute concurrently.</a:t>
            </a:r>
            <a:endParaRPr dirty="0"/>
          </a:p>
          <a:p>
            <a:pPr marL="777240" marR="0" lvl="1" indent="-388620" algn="just" rtl="0">
              <a:lnSpc>
                <a:spcPct val="108000"/>
              </a:lnSpc>
              <a:spcBef>
                <a:spcPts val="0"/>
              </a:spcBef>
              <a:spcAft>
                <a:spcPts val="0"/>
              </a:spcAft>
              <a:buClr>
                <a:srgbClr val="000000"/>
              </a:buClr>
              <a:buSzPts val="3600"/>
              <a:buFont typeface="Times New Roman"/>
              <a:buAutoNum type="arabicPeriod"/>
            </a:pPr>
            <a:r>
              <a:rPr lang="en-US" sz="3600" b="0" i="0" u="none" strike="noStrike" cap="none" dirty="0">
                <a:solidFill>
                  <a:srgbClr val="000000"/>
                </a:solidFill>
                <a:latin typeface="Times New Roman"/>
                <a:ea typeface="Times New Roman"/>
                <a:cs typeface="Times New Roman"/>
                <a:sym typeface="Times New Roman"/>
              </a:rPr>
              <a:t>Isolation: Provide each transaction the illusion of being executed alone.</a:t>
            </a:r>
            <a:endParaRPr dirty="0"/>
          </a:p>
          <a:p>
            <a:pPr marL="777240" marR="0" lvl="1" indent="-388620" algn="just" rtl="0">
              <a:lnSpc>
                <a:spcPct val="108000"/>
              </a:lnSpc>
              <a:spcBef>
                <a:spcPts val="0"/>
              </a:spcBef>
              <a:spcAft>
                <a:spcPts val="0"/>
              </a:spcAft>
              <a:buClr>
                <a:srgbClr val="000000"/>
              </a:buClr>
              <a:buSzPts val="3600"/>
              <a:buFont typeface="Times New Roman"/>
              <a:buAutoNum type="arabicPeriod"/>
            </a:pPr>
            <a:r>
              <a:rPr lang="en-US" sz="3600" b="0" i="0" u="none" strike="noStrike" cap="none" dirty="0">
                <a:solidFill>
                  <a:srgbClr val="000000"/>
                </a:solidFill>
                <a:latin typeface="Times New Roman"/>
                <a:ea typeface="Times New Roman"/>
                <a:cs typeface="Times New Roman"/>
                <a:sym typeface="Times New Roman"/>
              </a:rPr>
              <a:t>Maximize Throughput: Allow maximum concurrency without compromising data integrity.</a:t>
            </a:r>
            <a:endParaRPr dirty="0"/>
          </a:p>
          <a:p>
            <a:pPr marL="777240" marR="0" lvl="1" indent="-388620" algn="just" rtl="0">
              <a:lnSpc>
                <a:spcPct val="108000"/>
              </a:lnSpc>
              <a:spcBef>
                <a:spcPts val="0"/>
              </a:spcBef>
              <a:spcAft>
                <a:spcPts val="0"/>
              </a:spcAft>
              <a:buClr>
                <a:srgbClr val="000000"/>
              </a:buClr>
              <a:buSzPts val="3600"/>
              <a:buFont typeface="Times New Roman"/>
              <a:buAutoNum type="arabicPeriod"/>
            </a:pPr>
            <a:r>
              <a:rPr lang="en-US" sz="3600" b="0" i="0" u="none" strike="noStrike" cap="none" dirty="0">
                <a:solidFill>
                  <a:srgbClr val="000000"/>
                </a:solidFill>
                <a:latin typeface="Times New Roman"/>
                <a:ea typeface="Times New Roman"/>
                <a:cs typeface="Times New Roman"/>
                <a:sym typeface="Times New Roman"/>
              </a:rPr>
              <a:t>Avoid Anomalies: Prevent problems such as lost updates, dirty reads, uncommitted data, and non-repeatable reads</a:t>
            </a:r>
            <a:r>
              <a:rPr lang="en-US" sz="3600" dirty="0">
                <a:latin typeface="Times New Roman"/>
                <a:ea typeface="Times New Roman"/>
                <a:cs typeface="Times New Roman"/>
                <a:sym typeface="Times New Roman"/>
              </a:rPr>
              <a:t>.</a:t>
            </a:r>
            <a:endParaRPr sz="36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49"/>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518" name="Google Shape;518;p49"/>
          <p:cNvSpPr txBox="1"/>
          <p:nvPr/>
        </p:nvSpPr>
        <p:spPr>
          <a:xfrm>
            <a:off x="1279120" y="771975"/>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Concurrency Control</a:t>
            </a:r>
            <a:endParaRPr dirty="0"/>
          </a:p>
        </p:txBody>
      </p:sp>
      <p:sp>
        <p:nvSpPr>
          <p:cNvPr id="519" name="Google Shape;519;p49"/>
          <p:cNvSpPr txBox="1"/>
          <p:nvPr/>
        </p:nvSpPr>
        <p:spPr>
          <a:xfrm>
            <a:off x="1061357" y="2022075"/>
            <a:ext cx="16197943" cy="6980052"/>
          </a:xfrm>
          <a:prstGeom prst="rect">
            <a:avLst/>
          </a:prstGeom>
          <a:noFill/>
          <a:ln>
            <a:noFill/>
          </a:ln>
        </p:spPr>
        <p:txBody>
          <a:bodyPr spcFirstLastPara="1" wrap="square" lIns="0" tIns="0" rIns="0" bIns="0" anchor="t" anchorCtr="0">
            <a:spAutoFit/>
          </a:bodyPr>
          <a:lstStyle/>
          <a:p>
            <a:pPr marL="777240" marR="0" lvl="1" indent="-388620" algn="just" rtl="0">
              <a:lnSpc>
                <a:spcPct val="108000"/>
              </a:lnSpc>
              <a:spcBef>
                <a:spcPts val="0"/>
              </a:spcBef>
              <a:spcAft>
                <a:spcPts val="0"/>
              </a:spcAft>
              <a:buClr>
                <a:srgbClr val="000000"/>
              </a:buClr>
              <a:buSzPts val="3600"/>
              <a:buFont typeface="Arial"/>
              <a:buChar char="•"/>
            </a:pPr>
            <a:r>
              <a:rPr lang="en-US" sz="3200" b="0" i="0" u="none" strike="noStrike" cap="none" dirty="0">
                <a:solidFill>
                  <a:srgbClr val="000000"/>
                </a:solidFill>
                <a:latin typeface="Times New Roman"/>
                <a:ea typeface="Times New Roman"/>
                <a:cs typeface="Times New Roman"/>
                <a:sym typeface="Times New Roman"/>
              </a:rPr>
              <a:t>Executing a single transaction at a time will increase the waiting time of the other transactions which may result in delay in the overall execution. Hence for increasing the overall throughput and efficiency of the system, several transactions are executed.</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0" i="0" u="none" strike="noStrike" cap="none" dirty="0">
                <a:solidFill>
                  <a:srgbClr val="000000"/>
                </a:solidFill>
                <a:latin typeface="Times New Roman"/>
                <a:ea typeface="Times New Roman"/>
                <a:cs typeface="Times New Roman"/>
                <a:sym typeface="Times New Roman"/>
              </a:rPr>
              <a:t>Concurrency control is a very important concept of DBMS which ensures the simultaneous execution or manipulation of data by several processes or user without resulting in data inconsistency.</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0" i="0" u="none" strike="noStrike" cap="none" dirty="0">
                <a:solidFill>
                  <a:srgbClr val="000000"/>
                </a:solidFill>
                <a:latin typeface="Times New Roman"/>
                <a:ea typeface="Times New Roman"/>
                <a:cs typeface="Times New Roman"/>
                <a:sym typeface="Times New Roman"/>
              </a:rPr>
              <a:t>Concurrency control provides a procedure that is able to control concurrent execution of the operations in the database. </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0" i="0" u="none" strike="noStrike" cap="none" dirty="0">
                <a:solidFill>
                  <a:srgbClr val="000000"/>
                </a:solidFill>
                <a:latin typeface="Times New Roman"/>
                <a:ea typeface="Times New Roman"/>
                <a:cs typeface="Times New Roman"/>
                <a:sym typeface="Times New Roman"/>
              </a:rPr>
              <a:t>The fundamental goal of database concurrency control is to ensure that concurrent execution of transactions does not result in a loss of database consistency. The concept of serializability can be used to achieve this goal, since all serializable schedules preserve consistency of the database. However, not all schedules that preserve consistency of the database are serializable</a:t>
            </a:r>
            <a:r>
              <a:rPr lang="en-US" sz="3200" dirty="0">
                <a:latin typeface="Times New Roman"/>
                <a:ea typeface="Times New Roman"/>
                <a:cs typeface="Times New Roman"/>
                <a:sym typeface="Times New Roman"/>
              </a:rPr>
              <a:t>.</a:t>
            </a:r>
            <a:endParaRPr sz="3200" dirty="0">
              <a:solidFill>
                <a:srgbClr val="000000"/>
              </a:solidFill>
              <a:latin typeface="Times New Roman"/>
              <a:ea typeface="Times New Roman"/>
              <a:cs typeface="Times New Roman"/>
              <a:sym typeface="Times New Roman"/>
            </a:endParaRPr>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50"/>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525" name="Google Shape;525;p50"/>
          <p:cNvSpPr txBox="1"/>
          <p:nvPr/>
        </p:nvSpPr>
        <p:spPr>
          <a:xfrm>
            <a:off x="1279119" y="771975"/>
            <a:ext cx="15425009" cy="1263103"/>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    Dirty Read Problem(Write-Read conflict)</a:t>
            </a:r>
          </a:p>
          <a:p>
            <a:pPr marL="0" marR="0" lvl="0" indent="0" algn="l" rtl="0">
              <a:lnSpc>
                <a:spcPct val="108000"/>
              </a:lnSpc>
              <a:spcBef>
                <a:spcPts val="0"/>
              </a:spcBef>
              <a:spcAft>
                <a:spcPts val="0"/>
              </a:spcAft>
              <a:buNone/>
            </a:pPr>
            <a:endParaRPr lang="en-US" dirty="0"/>
          </a:p>
        </p:txBody>
      </p:sp>
      <p:sp>
        <p:nvSpPr>
          <p:cNvPr id="526" name="Google Shape;526;p50"/>
          <p:cNvSpPr txBox="1"/>
          <p:nvPr/>
        </p:nvSpPr>
        <p:spPr>
          <a:xfrm>
            <a:off x="1028700" y="2322100"/>
            <a:ext cx="16493996" cy="7179658"/>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Dirty read problem occurs when one transaction updates an item but due to some unconditional events that transaction fails but before the transaction performs rollback, some other transaction reads the updated value. Thus creates an inconsistency in the database. Dirty read problem comes under the scenario of Write-Read conflict between the transactions in the database</a:t>
            </a:r>
            <a:endParaRPr dirty="0"/>
          </a:p>
          <a:p>
            <a:pPr marL="777240" marR="0" lvl="1" indent="-388620" algn="just" rtl="0">
              <a:lnSpc>
                <a:spcPct val="108000"/>
              </a:lnSpc>
              <a:spcBef>
                <a:spcPts val="0"/>
              </a:spcBef>
              <a:spcAft>
                <a:spcPts val="0"/>
              </a:spcAft>
              <a:buClr>
                <a:srgbClr val="000000"/>
              </a:buClr>
              <a:buSzPts val="3600"/>
              <a:buFont typeface="Times New Roman"/>
              <a:buAutoNum type="arabicPeriod"/>
            </a:pPr>
            <a:r>
              <a:rPr lang="en-US" sz="3600" b="0" i="0" u="none" strike="noStrike" cap="none" dirty="0">
                <a:solidFill>
                  <a:srgbClr val="000000"/>
                </a:solidFill>
                <a:latin typeface="Times New Roman"/>
                <a:ea typeface="Times New Roman"/>
                <a:cs typeface="Times New Roman"/>
                <a:sym typeface="Times New Roman"/>
              </a:rPr>
              <a:t>The lost update problem can be illustrated with the below scenario between two transactions T1 and T2.</a:t>
            </a:r>
            <a:endParaRPr dirty="0"/>
          </a:p>
          <a:p>
            <a:pPr marL="777240" marR="0" lvl="1" indent="-388620" algn="just" rtl="0">
              <a:lnSpc>
                <a:spcPct val="108000"/>
              </a:lnSpc>
              <a:spcBef>
                <a:spcPts val="0"/>
              </a:spcBef>
              <a:spcAft>
                <a:spcPts val="0"/>
              </a:spcAft>
              <a:buClr>
                <a:srgbClr val="000000"/>
              </a:buClr>
              <a:buSzPts val="3600"/>
              <a:buFont typeface="Times New Roman"/>
              <a:buAutoNum type="arabicPeriod"/>
            </a:pPr>
            <a:r>
              <a:rPr lang="en-US" sz="3600" b="0" i="0" u="none" strike="noStrike" cap="none" dirty="0">
                <a:solidFill>
                  <a:srgbClr val="000000"/>
                </a:solidFill>
                <a:latin typeface="Times New Roman"/>
                <a:ea typeface="Times New Roman"/>
                <a:cs typeface="Times New Roman"/>
                <a:sym typeface="Times New Roman"/>
              </a:rPr>
              <a:t>Transaction T1 modifies a database record without committing the changes.</a:t>
            </a:r>
            <a:endParaRPr dirty="0"/>
          </a:p>
          <a:p>
            <a:pPr marL="777240" marR="0" lvl="1" indent="-388620" algn="just" rtl="0">
              <a:lnSpc>
                <a:spcPct val="108000"/>
              </a:lnSpc>
              <a:spcBef>
                <a:spcPts val="0"/>
              </a:spcBef>
              <a:spcAft>
                <a:spcPts val="0"/>
              </a:spcAft>
              <a:buClr>
                <a:srgbClr val="000000"/>
              </a:buClr>
              <a:buSzPts val="3600"/>
              <a:buFont typeface="Times New Roman"/>
              <a:buAutoNum type="arabicPeriod"/>
            </a:pPr>
            <a:r>
              <a:rPr lang="en-US" sz="3600" b="0" i="0" u="none" strike="noStrike" cap="none" dirty="0">
                <a:solidFill>
                  <a:srgbClr val="000000"/>
                </a:solidFill>
                <a:latin typeface="Times New Roman"/>
                <a:ea typeface="Times New Roman"/>
                <a:cs typeface="Times New Roman"/>
                <a:sym typeface="Times New Roman"/>
              </a:rPr>
              <a:t>T2 reads the uncommitted data changed by T1</a:t>
            </a:r>
            <a:endParaRPr dirty="0"/>
          </a:p>
          <a:p>
            <a:pPr marL="777240" marR="0" lvl="1" indent="-388620" algn="just" rtl="0">
              <a:lnSpc>
                <a:spcPct val="108000"/>
              </a:lnSpc>
              <a:spcBef>
                <a:spcPts val="0"/>
              </a:spcBef>
              <a:spcAft>
                <a:spcPts val="0"/>
              </a:spcAft>
              <a:buClr>
                <a:srgbClr val="000000"/>
              </a:buClr>
              <a:buSzPts val="3600"/>
              <a:buFont typeface="Times New Roman"/>
              <a:buAutoNum type="arabicPeriod"/>
            </a:pPr>
            <a:r>
              <a:rPr lang="en-US" sz="3600" b="0" i="0" u="none" strike="noStrike" cap="none" dirty="0">
                <a:solidFill>
                  <a:srgbClr val="000000"/>
                </a:solidFill>
                <a:latin typeface="Times New Roman"/>
                <a:ea typeface="Times New Roman"/>
                <a:cs typeface="Times New Roman"/>
                <a:sym typeface="Times New Roman"/>
              </a:rPr>
              <a:t>T1 performs rollback</a:t>
            </a:r>
            <a:endParaRPr dirty="0"/>
          </a:p>
          <a:p>
            <a:pPr marL="777240" marR="0" lvl="1" indent="-388620" algn="just" rtl="0">
              <a:lnSpc>
                <a:spcPct val="108000"/>
              </a:lnSpc>
              <a:spcBef>
                <a:spcPts val="0"/>
              </a:spcBef>
              <a:spcAft>
                <a:spcPts val="0"/>
              </a:spcAft>
              <a:buClr>
                <a:srgbClr val="000000"/>
              </a:buClr>
              <a:buSzPts val="3600"/>
              <a:buFont typeface="Times New Roman"/>
              <a:buAutoNum type="arabicPeriod"/>
            </a:pPr>
            <a:r>
              <a:rPr lang="en-US" sz="3600" b="0" i="0" u="none" strike="noStrike" cap="none" dirty="0">
                <a:solidFill>
                  <a:srgbClr val="000000"/>
                </a:solidFill>
                <a:latin typeface="Times New Roman"/>
                <a:ea typeface="Times New Roman"/>
                <a:cs typeface="Times New Roman"/>
                <a:sym typeface="Times New Roman"/>
              </a:rPr>
              <a:t>T2 has already read the uncommitted data of T1 which is no longer valid, thus creating inconsistency in the database.</a:t>
            </a:r>
            <a:endParaRPr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51"/>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532" name="Google Shape;532;p51"/>
          <p:cNvSpPr txBox="1"/>
          <p:nvPr/>
        </p:nvSpPr>
        <p:spPr>
          <a:xfrm>
            <a:off x="1279120" y="771975"/>
            <a:ext cx="12235445" cy="1263103"/>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Lost Update Problem</a:t>
            </a:r>
          </a:p>
          <a:p>
            <a:pPr marL="0" marR="0" lvl="0" indent="0" algn="l" rtl="0">
              <a:lnSpc>
                <a:spcPct val="108000"/>
              </a:lnSpc>
              <a:spcBef>
                <a:spcPts val="0"/>
              </a:spcBef>
              <a:spcAft>
                <a:spcPts val="0"/>
              </a:spcAft>
              <a:buNone/>
            </a:pPr>
            <a:endParaRPr lang="en-US" dirty="0"/>
          </a:p>
        </p:txBody>
      </p:sp>
      <p:sp>
        <p:nvSpPr>
          <p:cNvPr id="533" name="Google Shape;533;p51"/>
          <p:cNvSpPr txBox="1"/>
          <p:nvPr/>
        </p:nvSpPr>
        <p:spPr>
          <a:xfrm>
            <a:off x="1469571" y="2172088"/>
            <a:ext cx="16053125" cy="6581353"/>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Lost update problem occurs when two or more transactions modify the same data, resulting in the update being overwritten or lost by another transaction. The lost update problem can be illustrated with the below scenario between two transactions T1 and T2.</a:t>
            </a:r>
            <a:endParaRPr dirty="0"/>
          </a:p>
          <a:p>
            <a:pPr marL="777240" marR="0" lvl="1" indent="-388620" algn="just" rtl="0">
              <a:lnSpc>
                <a:spcPct val="108000"/>
              </a:lnSpc>
              <a:spcBef>
                <a:spcPts val="0"/>
              </a:spcBef>
              <a:spcAft>
                <a:spcPts val="0"/>
              </a:spcAft>
              <a:buClr>
                <a:srgbClr val="000000"/>
              </a:buClr>
              <a:buSzPts val="3600"/>
              <a:buFont typeface="Times New Roman"/>
              <a:buAutoNum type="arabicPeriod"/>
            </a:pPr>
            <a:r>
              <a:rPr lang="en-US" sz="3600" b="0" i="0" u="none" strike="noStrike" cap="none" dirty="0">
                <a:solidFill>
                  <a:srgbClr val="000000"/>
                </a:solidFill>
                <a:latin typeface="Times New Roman"/>
                <a:ea typeface="Times New Roman"/>
                <a:cs typeface="Times New Roman"/>
                <a:sym typeface="Times New Roman"/>
              </a:rPr>
              <a:t>T1 reads the value of an item from the database.</a:t>
            </a:r>
            <a:endParaRPr dirty="0"/>
          </a:p>
          <a:p>
            <a:pPr marL="777240" marR="0" lvl="1" indent="-388620" algn="just" rtl="0">
              <a:lnSpc>
                <a:spcPct val="108000"/>
              </a:lnSpc>
              <a:spcBef>
                <a:spcPts val="0"/>
              </a:spcBef>
              <a:spcAft>
                <a:spcPts val="0"/>
              </a:spcAft>
              <a:buClr>
                <a:srgbClr val="000000"/>
              </a:buClr>
              <a:buSzPts val="3600"/>
              <a:buFont typeface="Times New Roman"/>
              <a:buAutoNum type="arabicPeriod"/>
            </a:pPr>
            <a:r>
              <a:rPr lang="en-US" sz="3600" b="0" i="0" u="none" strike="noStrike" cap="none" dirty="0">
                <a:solidFill>
                  <a:srgbClr val="000000"/>
                </a:solidFill>
                <a:latin typeface="Times New Roman"/>
                <a:ea typeface="Times New Roman"/>
                <a:cs typeface="Times New Roman"/>
                <a:sym typeface="Times New Roman"/>
              </a:rPr>
              <a:t>T2 starts and reads the same database item.</a:t>
            </a:r>
            <a:endParaRPr dirty="0"/>
          </a:p>
          <a:p>
            <a:pPr marL="777240" marR="0" lvl="1" indent="-388620" algn="just" rtl="0">
              <a:lnSpc>
                <a:spcPct val="108000"/>
              </a:lnSpc>
              <a:spcBef>
                <a:spcPts val="0"/>
              </a:spcBef>
              <a:spcAft>
                <a:spcPts val="0"/>
              </a:spcAft>
              <a:buClr>
                <a:srgbClr val="000000"/>
              </a:buClr>
              <a:buSzPts val="3600"/>
              <a:buFont typeface="Times New Roman"/>
              <a:buAutoNum type="arabicPeriod"/>
            </a:pPr>
            <a:r>
              <a:rPr lang="en-US" sz="3600" b="0" i="0" u="none" strike="noStrike" cap="none" dirty="0">
                <a:solidFill>
                  <a:srgbClr val="000000"/>
                </a:solidFill>
                <a:latin typeface="Times New Roman"/>
                <a:ea typeface="Times New Roman"/>
                <a:cs typeface="Times New Roman"/>
                <a:sym typeface="Times New Roman"/>
              </a:rPr>
              <a:t>T1 updates the value of that data and performs a commit.</a:t>
            </a:r>
            <a:endParaRPr dirty="0"/>
          </a:p>
          <a:p>
            <a:pPr marL="777240" marR="0" lvl="1" indent="-388620" algn="just" rtl="0">
              <a:lnSpc>
                <a:spcPct val="108000"/>
              </a:lnSpc>
              <a:spcBef>
                <a:spcPts val="0"/>
              </a:spcBef>
              <a:spcAft>
                <a:spcPts val="0"/>
              </a:spcAft>
              <a:buClr>
                <a:srgbClr val="000000"/>
              </a:buClr>
              <a:buSzPts val="3600"/>
              <a:buFont typeface="Times New Roman"/>
              <a:buAutoNum type="arabicPeriod"/>
            </a:pPr>
            <a:r>
              <a:rPr lang="en-US" sz="3600" b="0" i="0" u="none" strike="noStrike" cap="none" dirty="0">
                <a:solidFill>
                  <a:srgbClr val="000000"/>
                </a:solidFill>
                <a:latin typeface="Times New Roman"/>
                <a:ea typeface="Times New Roman"/>
                <a:cs typeface="Times New Roman"/>
                <a:sym typeface="Times New Roman"/>
              </a:rPr>
              <a:t>T2 updates the same data item based on its initial read and performs commit.</a:t>
            </a:r>
            <a:endParaRPr dirty="0"/>
          </a:p>
          <a:p>
            <a:pPr marL="777240" marR="0" lvl="1" indent="-388620" algn="just" rtl="0">
              <a:lnSpc>
                <a:spcPct val="108000"/>
              </a:lnSpc>
              <a:spcBef>
                <a:spcPts val="0"/>
              </a:spcBef>
              <a:spcAft>
                <a:spcPts val="0"/>
              </a:spcAft>
              <a:buClr>
                <a:srgbClr val="000000"/>
              </a:buClr>
              <a:buSzPts val="3600"/>
              <a:buFont typeface="Times New Roman"/>
              <a:buAutoNum type="arabicPeriod"/>
            </a:pPr>
            <a:r>
              <a:rPr lang="en-US" sz="3600" b="0" i="0" u="none" strike="noStrike" cap="none" dirty="0">
                <a:solidFill>
                  <a:srgbClr val="000000"/>
                </a:solidFill>
                <a:latin typeface="Times New Roman"/>
                <a:ea typeface="Times New Roman"/>
                <a:cs typeface="Times New Roman"/>
                <a:sym typeface="Times New Roman"/>
              </a:rPr>
              <a:t>This results in the modification of T1 gets lost by the T2’s write which causes a lost update problem in the database.</a:t>
            </a:r>
            <a:endParaRPr sz="3600" dirty="0">
              <a:solidFill>
                <a:srgbClr val="000000"/>
              </a:solidFill>
              <a:latin typeface="Times New Roman"/>
              <a:ea typeface="Times New Roman"/>
              <a:cs typeface="Times New Roman"/>
              <a:sym typeface="Times New Roman"/>
            </a:endParaRPr>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52"/>
          <p:cNvSpPr/>
          <p:nvPr/>
        </p:nvSpPr>
        <p:spPr>
          <a:xfrm>
            <a:off x="0" y="11430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539" name="Google Shape;539;p52"/>
          <p:cNvSpPr txBox="1"/>
          <p:nvPr/>
        </p:nvSpPr>
        <p:spPr>
          <a:xfrm>
            <a:off x="1279120" y="771975"/>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Concurrency Control Protocols</a:t>
            </a:r>
            <a:endParaRPr dirty="0"/>
          </a:p>
        </p:txBody>
      </p:sp>
      <p:sp>
        <p:nvSpPr>
          <p:cNvPr id="540" name="Google Shape;540;p52"/>
          <p:cNvSpPr/>
          <p:nvPr/>
        </p:nvSpPr>
        <p:spPr>
          <a:xfrm>
            <a:off x="11840844" y="3527771"/>
            <a:ext cx="6015390" cy="3229419"/>
          </a:xfrm>
          <a:custGeom>
            <a:avLst/>
            <a:gdLst/>
            <a:ahLst/>
            <a:cxnLst/>
            <a:rect l="l" t="t" r="r" b="b"/>
            <a:pathLst>
              <a:path w="6015390" h="3229419" extrusionOk="0">
                <a:moveTo>
                  <a:pt x="0" y="0"/>
                </a:moveTo>
                <a:lnTo>
                  <a:pt x="6015390" y="0"/>
                </a:lnTo>
                <a:lnTo>
                  <a:pt x="6015390" y="3229418"/>
                </a:lnTo>
                <a:lnTo>
                  <a:pt x="0" y="3229418"/>
                </a:lnTo>
                <a:lnTo>
                  <a:pt x="0" y="0"/>
                </a:lnTo>
                <a:close/>
              </a:path>
            </a:pathLst>
          </a:custGeom>
          <a:blipFill rotWithShape="1">
            <a:blip r:embed="rId4">
              <a:alphaModFix/>
            </a:blip>
            <a:stretch>
              <a:fillRect l="-12002" t="-16225" r="-15034" b="-16878"/>
            </a:stretch>
          </a:blipFill>
          <a:ln>
            <a:noFill/>
          </a:ln>
        </p:spPr>
      </p:sp>
      <p:sp>
        <p:nvSpPr>
          <p:cNvPr id="541" name="Google Shape;541;p52"/>
          <p:cNvSpPr txBox="1"/>
          <p:nvPr/>
        </p:nvSpPr>
        <p:spPr>
          <a:xfrm>
            <a:off x="1279120" y="2172088"/>
            <a:ext cx="10243070" cy="6581353"/>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Concurrency control protocols are the set of rules which are maintained in order to solve the concurrency control problems in the database. It ensures that the concurrent transactions can execute properly while maintaining the database consistency. The concurrent execution of a transaction is provided with atomicity, consistency, isolation, durability, and serializability via the concurrency control protocols.</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1" i="0" u="none" strike="noStrike" cap="none" dirty="0">
                <a:solidFill>
                  <a:srgbClr val="000000"/>
                </a:solidFill>
                <a:latin typeface="Times"/>
                <a:ea typeface="Times"/>
                <a:cs typeface="Times"/>
                <a:sym typeface="Times"/>
              </a:rPr>
              <a:t>Locked based concurrency control protocol</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1" i="0" u="none" strike="noStrike" cap="none" dirty="0">
                <a:solidFill>
                  <a:srgbClr val="000000"/>
                </a:solidFill>
                <a:latin typeface="Times"/>
                <a:ea typeface="Times"/>
                <a:cs typeface="Times"/>
                <a:sym typeface="Times"/>
              </a:rPr>
              <a:t>Timestamp based concurrency control protocol</a:t>
            </a:r>
            <a:endParaRPr sz="3600" b="1" i="0" u="sng" strike="noStrike" cap="none" dirty="0">
              <a:solidFill>
                <a:srgbClr val="000000"/>
              </a:solidFill>
              <a:latin typeface="Times"/>
              <a:ea typeface="Times"/>
              <a:cs typeface="Times"/>
              <a:sym typeface="Times"/>
              <a:hlinkClick r:id="rId5">
                <a:extLst>
                  <a:ext uri="{A12FA001-AC4F-418D-AE19-62706E023703}">
                    <ahyp:hlinkClr xmlns:ahyp="http://schemas.microsoft.com/office/drawing/2018/hyperlinkcolor" val="tx"/>
                  </a:ext>
                </a:extLst>
              </a:hlinkClick>
            </a:endParaRPr>
          </a:p>
          <a:p>
            <a:pPr marL="0" marR="0" lvl="0" indent="0" algn="just" rtl="0">
              <a:lnSpc>
                <a:spcPct val="108000"/>
              </a:lnSpc>
              <a:spcBef>
                <a:spcPts val="0"/>
              </a:spcBef>
              <a:spcAft>
                <a:spcPts val="0"/>
              </a:spcAft>
              <a:buNone/>
            </a:pPr>
            <a:endParaRPr sz="3600" b="1" u="sng" dirty="0">
              <a:solidFill>
                <a:srgbClr val="000000"/>
              </a:solidFill>
              <a:latin typeface="Times"/>
              <a:ea typeface="Times"/>
              <a:cs typeface="Times"/>
              <a:sym typeface="Times"/>
              <a:hlinkClick r:id="rId5">
                <a:extLst>
                  <a:ext uri="{A12FA001-AC4F-418D-AE19-62706E023703}">
                    <ahyp:hlinkClr xmlns:ahyp="http://schemas.microsoft.com/office/drawing/2018/hyperlinkcolor" val="tx"/>
                  </a:ext>
                </a:extLst>
              </a:hlinkClick>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53"/>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547" name="Google Shape;547;p53"/>
          <p:cNvSpPr txBox="1"/>
          <p:nvPr/>
        </p:nvSpPr>
        <p:spPr>
          <a:xfrm>
            <a:off x="1279120" y="771975"/>
            <a:ext cx="12235445" cy="1263103"/>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Locked based Protocol</a:t>
            </a:r>
          </a:p>
          <a:p>
            <a:pPr marL="0" marR="0" lvl="0" indent="0" algn="l" rtl="0">
              <a:lnSpc>
                <a:spcPct val="108000"/>
              </a:lnSpc>
              <a:spcBef>
                <a:spcPts val="0"/>
              </a:spcBef>
              <a:spcAft>
                <a:spcPts val="0"/>
              </a:spcAft>
              <a:buNone/>
            </a:pPr>
            <a:endParaRPr lang="en-US" dirty="0"/>
          </a:p>
        </p:txBody>
      </p:sp>
      <p:sp>
        <p:nvSpPr>
          <p:cNvPr id="548" name="Google Shape;548;p53"/>
          <p:cNvSpPr txBox="1"/>
          <p:nvPr/>
        </p:nvSpPr>
        <p:spPr>
          <a:xfrm>
            <a:off x="1279120" y="2172088"/>
            <a:ext cx="15980180" cy="6581353"/>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In </a:t>
            </a:r>
            <a:r>
              <a:rPr lang="en-US" sz="3600" b="1" dirty="0">
                <a:solidFill>
                  <a:srgbClr val="000000"/>
                </a:solidFill>
                <a:latin typeface="Times"/>
                <a:ea typeface="Times"/>
                <a:cs typeface="Times"/>
                <a:sym typeface="Times"/>
              </a:rPr>
              <a:t>locked based protocol</a:t>
            </a:r>
            <a:r>
              <a:rPr lang="en-US" sz="3600" dirty="0">
                <a:solidFill>
                  <a:srgbClr val="000000"/>
                </a:solidFill>
                <a:latin typeface="Times New Roman"/>
                <a:ea typeface="Times New Roman"/>
                <a:cs typeface="Times New Roman"/>
                <a:sym typeface="Times New Roman"/>
              </a:rPr>
              <a:t>, each transaction needs to acquire locks before they start accessing or modifying the data items. There are two types of locks used in databases.</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Shared Lock : Shared lock is also known as read lock which allows multiple transactions to read the data simultaneously. The transaction which is holding a shared lock can only read the data item but it can not modify the data item.</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Exclusive Lock : Exclusive lock is also known as the write lock. Exclusive lock allows a transaction to update a data item. Only one transaction can hold the exclusive lock on a data item at a time. While a transaction is holding an exclusive lock on a data item, no other transaction is allowed to acquire a shared/exclusive lock on the same data item.</a:t>
            </a:r>
            <a:endParaRPr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54"/>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554" name="Google Shape;554;p54"/>
          <p:cNvSpPr txBox="1"/>
          <p:nvPr/>
        </p:nvSpPr>
        <p:spPr>
          <a:xfrm>
            <a:off x="1279120" y="771975"/>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Phase Locking Protocol </a:t>
            </a:r>
            <a:endParaRPr dirty="0"/>
          </a:p>
        </p:txBody>
      </p:sp>
      <p:sp>
        <p:nvSpPr>
          <p:cNvPr id="555" name="Google Shape;555;p54"/>
          <p:cNvSpPr txBox="1"/>
          <p:nvPr/>
        </p:nvSpPr>
        <p:spPr>
          <a:xfrm>
            <a:off x="1061357" y="1939081"/>
            <a:ext cx="16554661" cy="7511865"/>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200" dirty="0">
                <a:solidFill>
                  <a:srgbClr val="000000"/>
                </a:solidFill>
                <a:latin typeface="Times New Roman"/>
                <a:ea typeface="Times New Roman"/>
                <a:cs typeface="Times New Roman"/>
                <a:sym typeface="Times New Roman"/>
              </a:rPr>
              <a:t>There are two kind of Two-Phase protocol mostly used in database:</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0" i="0" u="none" strike="noStrike" cap="none" dirty="0">
                <a:solidFill>
                  <a:srgbClr val="000000"/>
                </a:solidFill>
                <a:latin typeface="Times New Roman"/>
                <a:ea typeface="Times New Roman"/>
                <a:cs typeface="Times New Roman"/>
                <a:sym typeface="Times New Roman"/>
              </a:rPr>
              <a:t>Two Phase Locking Protocol : It is a widely used technique which ensures strict ordering of lock acquisition and release. Two phase locking protocol works in two phases.</a:t>
            </a:r>
            <a:endParaRPr sz="1200" dirty="0"/>
          </a:p>
          <a:p>
            <a:pPr marL="1554480" marR="0" lvl="2" indent="-518160" algn="just" rtl="0">
              <a:lnSpc>
                <a:spcPct val="108000"/>
              </a:lnSpc>
              <a:spcBef>
                <a:spcPts val="0"/>
              </a:spcBef>
              <a:spcAft>
                <a:spcPts val="0"/>
              </a:spcAft>
              <a:buClr>
                <a:srgbClr val="000000"/>
              </a:buClr>
              <a:buSzPts val="3600"/>
              <a:buFont typeface="Arial"/>
              <a:buChar char="⚬"/>
            </a:pPr>
            <a:r>
              <a:rPr lang="en-US" sz="3200" b="0" i="0" u="none" strike="noStrike" cap="none" dirty="0">
                <a:solidFill>
                  <a:srgbClr val="000000"/>
                </a:solidFill>
                <a:latin typeface="Times New Roman"/>
                <a:ea typeface="Times New Roman"/>
                <a:cs typeface="Times New Roman"/>
                <a:sym typeface="Times New Roman"/>
              </a:rPr>
              <a:t>Growing Phase : In this phase, the transaction starts acquiring locks before performing any modification on the data items. Once a transaction acquires a lock, that lock can not be released until the transaction reaches the end of the execution.</a:t>
            </a:r>
            <a:endParaRPr sz="1200" dirty="0"/>
          </a:p>
          <a:p>
            <a:pPr marL="1554480" marR="0" lvl="2" indent="-518160" algn="just" rtl="0">
              <a:lnSpc>
                <a:spcPct val="108000"/>
              </a:lnSpc>
              <a:spcBef>
                <a:spcPts val="0"/>
              </a:spcBef>
              <a:spcAft>
                <a:spcPts val="0"/>
              </a:spcAft>
              <a:buClr>
                <a:srgbClr val="000000"/>
              </a:buClr>
              <a:buSzPts val="3600"/>
              <a:buFont typeface="Arial"/>
              <a:buChar char="⚬"/>
            </a:pPr>
            <a:r>
              <a:rPr lang="en-US" sz="3200" b="0" i="0" u="none" strike="noStrike" cap="none" dirty="0">
                <a:solidFill>
                  <a:srgbClr val="000000"/>
                </a:solidFill>
                <a:latin typeface="Times New Roman"/>
                <a:ea typeface="Times New Roman"/>
                <a:cs typeface="Times New Roman"/>
                <a:sym typeface="Times New Roman"/>
              </a:rPr>
              <a:t>Shrinking Phase : In this phase, the transaction releases all the acquired locks once it performs all the modifications on the data item. Once the transaction starts releasing the locks, it can not acquire any locks further. </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0" i="0" u="none" strike="noStrike" cap="none" dirty="0">
                <a:solidFill>
                  <a:srgbClr val="000000"/>
                </a:solidFill>
                <a:latin typeface="Times New Roman"/>
                <a:ea typeface="Times New Roman"/>
                <a:cs typeface="Times New Roman"/>
                <a:sym typeface="Times New Roman"/>
              </a:rPr>
              <a:t>Strict Two-Phase Locking Protocol : It is almost similar to the two phase locking protocol the only difference is that in two phase locking the transaction can release its locks before it commits, but in case of strict two phase locking the transactions are only allowed to release the locks only when they performs commits. </a:t>
            </a:r>
            <a:endParaRPr sz="1200"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55"/>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561" name="Google Shape;561;p55"/>
          <p:cNvSpPr txBox="1"/>
          <p:nvPr/>
        </p:nvSpPr>
        <p:spPr>
          <a:xfrm>
            <a:off x="1279120" y="771975"/>
            <a:ext cx="14167709"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Timestamp Based Concurrency Control</a:t>
            </a:r>
            <a:endParaRPr dirty="0"/>
          </a:p>
        </p:txBody>
      </p:sp>
      <p:sp>
        <p:nvSpPr>
          <p:cNvPr id="562" name="Google Shape;562;p55"/>
          <p:cNvSpPr txBox="1"/>
          <p:nvPr/>
        </p:nvSpPr>
        <p:spPr>
          <a:xfrm>
            <a:off x="1279120" y="2036082"/>
            <a:ext cx="16158538" cy="7179658"/>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The main idea for this protocol is to order the transactions based on their Timestamps. A schedule in which the transactions participate is then serializable and the only equivalent serial schedule permitted has the transactions in the order of their Timestamp Values. Stating simply, the schedule is equivalent to the particular Serial Order corresponding to the order of the Transaction timestamps. An algorithm must ensure that, for each item accessed by Conflicting Operations in the schedule, the order in which the item is accessed does not violate the ordering. To ensure this, use two Timestamp Values relating to each database item X. </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W­_TS(X) is the largest timestamp of any transaction that executed write(X) successfully.</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R_TS(X) is the largest timestamp of any transaction that executed read(X) successfully.</a:t>
            </a:r>
            <a:endParaRPr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5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569" name="Google Shape;569;p56"/>
          <p:cNvSpPr txBox="1"/>
          <p:nvPr/>
        </p:nvSpPr>
        <p:spPr>
          <a:xfrm>
            <a:off x="2258835" y="533599"/>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Advantages of Concurrency Control</a:t>
            </a:r>
            <a:endParaRPr dirty="0"/>
          </a:p>
        </p:txBody>
      </p:sp>
      <p:sp>
        <p:nvSpPr>
          <p:cNvPr id="570" name="Google Shape;570;p56"/>
          <p:cNvSpPr txBox="1"/>
          <p:nvPr/>
        </p:nvSpPr>
        <p:spPr>
          <a:xfrm>
            <a:off x="1143000" y="1944529"/>
            <a:ext cx="16148957" cy="7179658"/>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dirty="0">
                <a:solidFill>
                  <a:srgbClr val="000000"/>
                </a:solidFill>
                <a:latin typeface="Times New Roman"/>
                <a:ea typeface="Times New Roman"/>
                <a:cs typeface="Times New Roman"/>
                <a:sym typeface="Times New Roman"/>
              </a:rPr>
              <a:t>In general, concurrency means, that more than one transaction can work on a system. The advantages of a concurrent system are:</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1" i="0" u="none" strike="noStrike" cap="none" dirty="0">
                <a:solidFill>
                  <a:srgbClr val="000000"/>
                </a:solidFill>
                <a:latin typeface="Times"/>
                <a:ea typeface="Times"/>
                <a:cs typeface="Times"/>
                <a:sym typeface="Times"/>
              </a:rPr>
              <a:t>Waiting Time:</a:t>
            </a:r>
            <a:r>
              <a:rPr lang="en-US" sz="3600" b="0" i="0" u="none" strike="noStrike" cap="none" dirty="0">
                <a:solidFill>
                  <a:srgbClr val="000000"/>
                </a:solidFill>
                <a:latin typeface="Times New Roman"/>
                <a:ea typeface="Times New Roman"/>
                <a:cs typeface="Times New Roman"/>
                <a:sym typeface="Times New Roman"/>
              </a:rPr>
              <a:t> It means if a process is in a ready state but still the process does not get the system to get execute is called waiting time. So, concurrency leads to less waiting time.</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1" i="0" u="none" strike="noStrike" cap="none" dirty="0">
                <a:solidFill>
                  <a:srgbClr val="000000"/>
                </a:solidFill>
                <a:latin typeface="Times"/>
                <a:ea typeface="Times"/>
                <a:cs typeface="Times"/>
                <a:sym typeface="Times"/>
              </a:rPr>
              <a:t>Response Time:</a:t>
            </a:r>
            <a:r>
              <a:rPr lang="en-US" sz="3600" b="0" i="0" u="none" strike="noStrike" cap="none" dirty="0">
                <a:solidFill>
                  <a:srgbClr val="000000"/>
                </a:solidFill>
                <a:latin typeface="Times New Roman"/>
                <a:ea typeface="Times New Roman"/>
                <a:cs typeface="Times New Roman"/>
                <a:sym typeface="Times New Roman"/>
              </a:rPr>
              <a:t> The time wasted in getting the response from the </a:t>
            </a:r>
            <a:r>
              <a:rPr lang="en-US" sz="3600" b="0" i="0" u="none" strike="noStrike" cap="none" dirty="0" err="1">
                <a:solidFill>
                  <a:srgbClr val="000000"/>
                </a:solidFill>
                <a:latin typeface="Times New Roman"/>
                <a:ea typeface="Times New Roman"/>
                <a:cs typeface="Times New Roman"/>
                <a:sym typeface="Times New Roman"/>
              </a:rPr>
              <a:t>cpu</a:t>
            </a:r>
            <a:r>
              <a:rPr lang="en-US" sz="3600" b="0" i="0" u="none" strike="noStrike" cap="none" dirty="0">
                <a:solidFill>
                  <a:srgbClr val="000000"/>
                </a:solidFill>
                <a:latin typeface="Times New Roman"/>
                <a:ea typeface="Times New Roman"/>
                <a:cs typeface="Times New Roman"/>
                <a:sym typeface="Times New Roman"/>
              </a:rPr>
              <a:t> for the first time, is called response time. So, concurrency leads to less Response Time.</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1" i="0" u="none" strike="noStrike" cap="none" dirty="0">
                <a:solidFill>
                  <a:srgbClr val="000000"/>
                </a:solidFill>
                <a:latin typeface="Times"/>
                <a:ea typeface="Times"/>
                <a:cs typeface="Times"/>
                <a:sym typeface="Times"/>
              </a:rPr>
              <a:t>Resource Utilization:</a:t>
            </a:r>
            <a:r>
              <a:rPr lang="en-US" sz="3600" b="0" i="0" u="none" strike="noStrike" cap="none" dirty="0">
                <a:solidFill>
                  <a:srgbClr val="000000"/>
                </a:solidFill>
                <a:latin typeface="Times New Roman"/>
                <a:ea typeface="Times New Roman"/>
                <a:cs typeface="Times New Roman"/>
                <a:sym typeface="Times New Roman"/>
              </a:rPr>
              <a:t> The amount of Resource utilization in a particular system is called Resource Utilization. Multiple transactions can run parallel in a system. So, concurrency leads to more Resource Utilization.</a:t>
            </a:r>
            <a:endParaRPr dirty="0"/>
          </a:p>
          <a:p>
            <a:pPr marL="777240" marR="0" lvl="1" indent="-388620" algn="just" rtl="0">
              <a:lnSpc>
                <a:spcPct val="108000"/>
              </a:lnSpc>
              <a:spcBef>
                <a:spcPts val="0"/>
              </a:spcBef>
              <a:spcAft>
                <a:spcPts val="0"/>
              </a:spcAft>
              <a:buClr>
                <a:srgbClr val="000000"/>
              </a:buClr>
              <a:buSzPts val="3600"/>
              <a:buFont typeface="Arial"/>
              <a:buChar char="•"/>
            </a:pPr>
            <a:r>
              <a:rPr lang="en-US" sz="3600" b="1" i="0" u="none" strike="noStrike" cap="none" dirty="0">
                <a:solidFill>
                  <a:srgbClr val="000000"/>
                </a:solidFill>
                <a:latin typeface="Times"/>
                <a:ea typeface="Times"/>
                <a:cs typeface="Times"/>
                <a:sym typeface="Times"/>
              </a:rPr>
              <a:t>Efficiency:</a:t>
            </a:r>
            <a:r>
              <a:rPr lang="en-US" sz="3600" b="0" i="0" u="none" strike="noStrike" cap="none" dirty="0">
                <a:solidFill>
                  <a:srgbClr val="000000"/>
                </a:solidFill>
                <a:latin typeface="Times New Roman"/>
                <a:ea typeface="Times New Roman"/>
                <a:cs typeface="Times New Roman"/>
                <a:sym typeface="Times New Roman"/>
              </a:rPr>
              <a:t> The amount of output produced in comparison to given input is called efficiency. So, Concurrency leads to more Efficiency.</a:t>
            </a:r>
            <a:endParaRPr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p57"/>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577" name="Google Shape;577;p57"/>
          <p:cNvSpPr txBox="1"/>
          <p:nvPr/>
        </p:nvSpPr>
        <p:spPr>
          <a:xfrm>
            <a:off x="1279120" y="771975"/>
            <a:ext cx="13661523"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Disadvantages of Concurrency Control</a:t>
            </a:r>
            <a:endParaRPr dirty="0"/>
          </a:p>
        </p:txBody>
      </p:sp>
      <p:sp>
        <p:nvSpPr>
          <p:cNvPr id="578" name="Google Shape;578;p57"/>
          <p:cNvSpPr txBox="1"/>
          <p:nvPr/>
        </p:nvSpPr>
        <p:spPr>
          <a:xfrm>
            <a:off x="1583871" y="2010853"/>
            <a:ext cx="15513321" cy="8043677"/>
          </a:xfrm>
          <a:prstGeom prst="rect">
            <a:avLst/>
          </a:prstGeom>
          <a:noFill/>
          <a:ln>
            <a:noFill/>
          </a:ln>
        </p:spPr>
        <p:txBody>
          <a:bodyPr spcFirstLastPara="1" wrap="square" lIns="0" tIns="0" rIns="0" bIns="0" anchor="t" anchorCtr="0">
            <a:spAutoFit/>
          </a:bodyPr>
          <a:lstStyle/>
          <a:p>
            <a:pPr marL="777240" marR="0" lvl="1" indent="-388620" algn="just" rtl="0">
              <a:lnSpc>
                <a:spcPct val="108000"/>
              </a:lnSpc>
              <a:spcBef>
                <a:spcPts val="0"/>
              </a:spcBef>
              <a:spcAft>
                <a:spcPts val="0"/>
              </a:spcAft>
              <a:buClr>
                <a:srgbClr val="000000"/>
              </a:buClr>
              <a:buSzPts val="3600"/>
              <a:buFont typeface="Arial"/>
              <a:buChar char="•"/>
            </a:pPr>
            <a:r>
              <a:rPr lang="en-US" sz="3200" b="1" i="0" u="none" strike="noStrike" cap="none" dirty="0">
                <a:solidFill>
                  <a:srgbClr val="000000"/>
                </a:solidFill>
                <a:latin typeface="Times"/>
                <a:ea typeface="Times"/>
                <a:cs typeface="Times"/>
                <a:sym typeface="Times"/>
              </a:rPr>
              <a:t>Overhead:</a:t>
            </a:r>
            <a:r>
              <a:rPr lang="en-US" sz="3200" b="0" i="0" u="none" strike="noStrike" cap="none" dirty="0">
                <a:solidFill>
                  <a:srgbClr val="000000"/>
                </a:solidFill>
                <a:latin typeface="Times New Roman"/>
                <a:ea typeface="Times New Roman"/>
                <a:cs typeface="Times New Roman"/>
                <a:sym typeface="Times New Roman"/>
              </a:rPr>
              <a:t> Implementing concurrency control requires additional overhead, such as acquiring and releasing locks on database objects. This overhead can lead to slower performance and increased resource consumption, particularly in systems with high levels of concurrency.</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1" i="0" u="none" strike="noStrike" cap="none" dirty="0">
                <a:solidFill>
                  <a:srgbClr val="000000"/>
                </a:solidFill>
                <a:latin typeface="Times"/>
                <a:ea typeface="Times"/>
                <a:cs typeface="Times"/>
                <a:sym typeface="Times"/>
              </a:rPr>
              <a:t>Deadlocks:</a:t>
            </a:r>
            <a:r>
              <a:rPr lang="en-US" sz="3200" b="0" i="0" u="none" strike="noStrike" cap="none" dirty="0">
                <a:solidFill>
                  <a:srgbClr val="000000"/>
                </a:solidFill>
                <a:latin typeface="Times New Roman"/>
                <a:ea typeface="Times New Roman"/>
                <a:cs typeface="Times New Roman"/>
                <a:sym typeface="Times New Roman"/>
              </a:rPr>
              <a:t> Deadlocks can occur when two or more transactions are waiting for each other to release resources, causing a circular dependency that can prevent any of the transactions from completing. Deadlocks can be difficult to detect and resolve, and can result in reduced throughput and increased latency.</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1" i="0" u="none" strike="noStrike" cap="none" dirty="0">
                <a:solidFill>
                  <a:srgbClr val="000000"/>
                </a:solidFill>
                <a:latin typeface="Times"/>
                <a:ea typeface="Times"/>
                <a:cs typeface="Times"/>
                <a:sym typeface="Times"/>
              </a:rPr>
              <a:t>Reduced concurrency:</a:t>
            </a:r>
            <a:r>
              <a:rPr lang="en-US" sz="3200" b="0" i="0" u="none" strike="noStrike" cap="none" dirty="0">
                <a:solidFill>
                  <a:srgbClr val="000000"/>
                </a:solidFill>
                <a:latin typeface="Times New Roman"/>
                <a:ea typeface="Times New Roman"/>
                <a:cs typeface="Times New Roman"/>
                <a:sym typeface="Times New Roman"/>
              </a:rPr>
              <a:t> Concurrency control can limit the number of users or applications that can access the database simultaneously. This can lead to reduced concurrency and slower performance in systems with high levels of concurrency.</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1" i="0" u="none" strike="noStrike" cap="none" dirty="0">
                <a:solidFill>
                  <a:srgbClr val="000000"/>
                </a:solidFill>
                <a:latin typeface="Times"/>
                <a:ea typeface="Times"/>
                <a:cs typeface="Times"/>
                <a:sym typeface="Times"/>
              </a:rPr>
              <a:t>Complexity:</a:t>
            </a:r>
            <a:r>
              <a:rPr lang="en-US" sz="3200" b="0" i="0" u="none" strike="noStrike" cap="none" dirty="0">
                <a:solidFill>
                  <a:srgbClr val="000000"/>
                </a:solidFill>
                <a:latin typeface="Times New Roman"/>
                <a:ea typeface="Times New Roman"/>
                <a:cs typeface="Times New Roman"/>
                <a:sym typeface="Times New Roman"/>
              </a:rPr>
              <a:t> Implementing concurrency control can be complex, particularly in distributed systems or in systems with complex transactional logic. This complexity can lead to increased development and maintenance costs.</a:t>
            </a:r>
            <a:endParaRPr sz="1200" dirty="0"/>
          </a:p>
          <a:p>
            <a:pPr marL="0" marR="0" lvl="0" indent="0" algn="just" rtl="0">
              <a:lnSpc>
                <a:spcPct val="108000"/>
              </a:lnSpc>
              <a:spcBef>
                <a:spcPts val="0"/>
              </a:spcBef>
              <a:spcAft>
                <a:spcPts val="0"/>
              </a:spcAft>
              <a:buNone/>
            </a:pPr>
            <a:endParaRPr sz="36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58"/>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585" name="Google Shape;585;p58"/>
          <p:cNvSpPr txBox="1"/>
          <p:nvPr/>
        </p:nvSpPr>
        <p:spPr>
          <a:xfrm>
            <a:off x="3992728" y="3895736"/>
            <a:ext cx="10302544" cy="2238353"/>
          </a:xfrm>
          <a:prstGeom prst="rect">
            <a:avLst/>
          </a:prstGeom>
          <a:noFill/>
          <a:ln>
            <a:noFill/>
          </a:ln>
        </p:spPr>
        <p:txBody>
          <a:bodyPr spcFirstLastPara="1" wrap="square" lIns="0" tIns="0" rIns="0" bIns="0" anchor="t" anchorCtr="0">
            <a:spAutoFit/>
          </a:bodyPr>
          <a:lstStyle/>
          <a:p>
            <a:pPr marL="0" marR="0" lvl="0" indent="0" algn="ctr" rtl="0">
              <a:lnSpc>
                <a:spcPct val="119995"/>
              </a:lnSpc>
              <a:spcBef>
                <a:spcPts val="0"/>
              </a:spcBef>
              <a:spcAft>
                <a:spcPts val="0"/>
              </a:spcAft>
              <a:buNone/>
            </a:pPr>
            <a:r>
              <a:rPr lang="en-US" sz="13038" b="1">
                <a:solidFill>
                  <a:srgbClr val="C00000"/>
                </a:solidFill>
                <a:latin typeface="Arial"/>
                <a:ea typeface="Arial"/>
                <a:cs typeface="Arial"/>
                <a:sym typeface="Arial"/>
              </a:rPr>
              <a:t>THANK YOU </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113</TotalTime>
  <Words>5200</Words>
  <Application>Microsoft Office PowerPoint</Application>
  <PresentationFormat>Custom</PresentationFormat>
  <Paragraphs>324</Paragraphs>
  <Slides>58</Slides>
  <Notes>58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58</vt:i4>
      </vt:variant>
    </vt:vector>
  </HeadingPairs>
  <TitlesOfParts>
    <vt:vector size="66" baseType="lpstr">
      <vt:lpstr>Times</vt:lpstr>
      <vt:lpstr>Calibri</vt:lpstr>
      <vt:lpstr>Arimo</vt:lpstr>
      <vt:lpstr>Arial</vt:lpstr>
      <vt:lpstr>Times New Roman</vt:lpstr>
      <vt:lpstr>Rubik Vinyl</vt:lpstr>
      <vt:lpstr>Arial Rounded</vt:lpstr>
      <vt:lpstr>Office Theme</vt:lpstr>
      <vt:lpstr>PowerPoint Presentation</vt:lpstr>
      <vt:lpstr>ABOUT COURSE</vt:lpstr>
      <vt:lpstr>COURSE OUTCOMES </vt:lpstr>
      <vt:lpstr>COURSE OBJECTIVES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dell</cp:lastModifiedBy>
  <cp:revision>15</cp:revision>
  <dcterms:created xsi:type="dcterms:W3CDTF">2006-08-16T00:00:00Z</dcterms:created>
  <dcterms:modified xsi:type="dcterms:W3CDTF">2025-02-27T08:25:47Z</dcterms:modified>
</cp:coreProperties>
</file>