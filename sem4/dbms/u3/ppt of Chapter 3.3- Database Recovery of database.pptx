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Arimo" panose="020B0604020202020204" charset="0"/>
      <p:bold r:id="rId31"/>
      <p:boldItalic r:id="rId32"/>
    </p:embeddedFont>
    <p:embeddedFont>
      <p:font typeface="Rubik Vinyl" panose="020B0604020202020204" charset="-79"/>
      <p:regular r:id="rId33"/>
    </p:embeddedFont>
    <p:embeddedFont>
      <p:font typeface="Times" panose="02020603050405020304" pitchFamily="18"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DIgajRmpxo/1Av8oyg4xjNO5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B3447E-0342-4817-8CC3-64A89BC6A27F}">
  <a:tblStyle styleId="{49B3447E-0342-4817-8CC3-64A89BC6A27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066"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1" name="Google Shape;121;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22" name="Google Shape;122;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5" name="Google Shape;125;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5"/>
        <p:cNvGrpSpPr/>
        <p:nvPr/>
      </p:nvGrpSpPr>
      <p:grpSpPr>
        <a:xfrm>
          <a:off x="0" y="0"/>
          <a:ext cx="0" cy="0"/>
          <a:chOff x="0" y="0"/>
          <a:chExt cx="0" cy="0"/>
        </a:xfrm>
      </p:grpSpPr>
      <p:sp>
        <p:nvSpPr>
          <p:cNvPr id="26" name="Google Shape;26;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8" name="Google Shape;28;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9" name="Google Shape;29;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
        <p:cNvGrpSpPr/>
        <p:nvPr/>
      </p:nvGrpSpPr>
      <p:grpSpPr>
        <a:xfrm>
          <a:off x="0" y="0"/>
          <a:ext cx="0" cy="0"/>
          <a:chOff x="0" y="0"/>
          <a:chExt cx="0" cy="0"/>
        </a:xfrm>
      </p:grpSpPr>
      <p:sp>
        <p:nvSpPr>
          <p:cNvPr id="33" name="Google Shape;33;p3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5" name="Google Shape;3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 name="Google Shape;4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3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8" name="Google Shape;48;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3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3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3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7" name="Google Shape;57;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8"/>
          <p:cNvSpPr>
            <a:spLocks noGrp="1"/>
          </p:cNvSpPr>
          <p:nvPr>
            <p:ph type="pic" idx="2"/>
          </p:nvPr>
        </p:nvSpPr>
        <p:spPr>
          <a:xfrm>
            <a:off x="1792288" y="612775"/>
            <a:ext cx="5486400" cy="4114800"/>
          </a:xfrm>
          <a:prstGeom prst="rect">
            <a:avLst/>
          </a:prstGeom>
          <a:noFill/>
          <a:ln>
            <a:noFill/>
          </a:ln>
        </p:spPr>
      </p:sp>
      <p:sp>
        <p:nvSpPr>
          <p:cNvPr id="68" name="Google Shape;68;p3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89" name="Google Shape;89;p1"/>
          <p:cNvSpPr/>
          <p:nvPr/>
        </p:nvSpPr>
        <p:spPr>
          <a:xfrm>
            <a:off x="752168" y="7256696"/>
            <a:ext cx="16437103" cy="2277809"/>
          </a:xfrm>
          <a:custGeom>
            <a:avLst/>
            <a:gdLst/>
            <a:ahLst/>
            <a:cxnLst/>
            <a:rect l="l" t="t" r="r" b="b"/>
            <a:pathLst>
              <a:path w="21916137" h="3037078" extrusionOk="0">
                <a:moveTo>
                  <a:pt x="0" y="0"/>
                </a:moveTo>
                <a:lnTo>
                  <a:pt x="21916137" y="0"/>
                </a:lnTo>
                <a:lnTo>
                  <a:pt x="21916137" y="3037078"/>
                </a:lnTo>
                <a:lnTo>
                  <a:pt x="0" y="3037078"/>
                </a:lnTo>
                <a:close/>
              </a:path>
            </a:pathLst>
          </a:custGeom>
          <a:solidFill>
            <a:srgbClr val="FFFFFF"/>
          </a:solidFill>
          <a:ln>
            <a:noFill/>
          </a:ln>
        </p:spPr>
      </p:sp>
      <p:sp>
        <p:nvSpPr>
          <p:cNvPr id="90" name="Google Shape;90;p1"/>
          <p:cNvSpPr txBox="1"/>
          <p:nvPr/>
        </p:nvSpPr>
        <p:spPr>
          <a:xfrm>
            <a:off x="752167" y="7617032"/>
            <a:ext cx="6052353" cy="1284329"/>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700" b="1" i="0" u="none" strike="noStrike" cap="none">
                <a:solidFill>
                  <a:srgbClr val="000000"/>
                </a:solidFill>
                <a:latin typeface="Times"/>
                <a:ea typeface="Times"/>
                <a:cs typeface="Times"/>
                <a:sym typeface="Times"/>
              </a:rPr>
              <a:t>DR. GITANJALI</a:t>
            </a:r>
            <a:endParaRPr/>
          </a:p>
          <a:p>
            <a:pPr marL="0" marR="0" lvl="0" indent="0" algn="l" rtl="0">
              <a:lnSpc>
                <a:spcPct val="108000"/>
              </a:lnSpc>
              <a:spcBef>
                <a:spcPts val="0"/>
              </a:spcBef>
              <a:spcAft>
                <a:spcPts val="0"/>
              </a:spcAft>
              <a:buNone/>
            </a:pPr>
            <a:r>
              <a:rPr lang="en-US" sz="2100" b="1" i="0" u="none" strike="noStrike" cap="none">
                <a:solidFill>
                  <a:srgbClr val="000000"/>
                </a:solidFill>
                <a:latin typeface="Times"/>
                <a:ea typeface="Times"/>
                <a:cs typeface="Times"/>
                <a:sym typeface="Times"/>
              </a:rPr>
              <a:t>E16525</a:t>
            </a:r>
            <a:endParaRPr/>
          </a:p>
          <a:p>
            <a:pPr marL="0" marR="0" lvl="0" indent="0" algn="l" rtl="0">
              <a:lnSpc>
                <a:spcPct val="108000"/>
              </a:lnSpc>
              <a:spcBef>
                <a:spcPts val="0"/>
              </a:spcBef>
              <a:spcAft>
                <a:spcPts val="0"/>
              </a:spcAft>
              <a:buNone/>
            </a:pPr>
            <a:r>
              <a:rPr lang="en-US" sz="2100" b="1" i="0" u="none" strike="noStrike" cap="none">
                <a:solidFill>
                  <a:srgbClr val="000000"/>
                </a:solidFill>
                <a:latin typeface="Times"/>
                <a:ea typeface="Times"/>
                <a:cs typeface="Times"/>
                <a:sym typeface="Times"/>
              </a:rPr>
              <a:t>ASSISTANT PROFESSOR</a:t>
            </a:r>
            <a:endParaRPr/>
          </a:p>
          <a:p>
            <a:pPr marL="0" marR="0" lvl="0" indent="0" algn="l" rtl="0">
              <a:lnSpc>
                <a:spcPct val="108000"/>
              </a:lnSpc>
              <a:spcBef>
                <a:spcPts val="0"/>
              </a:spcBef>
              <a:spcAft>
                <a:spcPts val="0"/>
              </a:spcAft>
              <a:buNone/>
            </a:pPr>
            <a:r>
              <a:rPr lang="en-US" sz="2100" b="1" i="0" u="none" strike="noStrike" cap="none">
                <a:solidFill>
                  <a:srgbClr val="000000"/>
                </a:solidFill>
                <a:latin typeface="Times"/>
                <a:ea typeface="Times"/>
                <a:cs typeface="Times"/>
                <a:sym typeface="Times"/>
              </a:rPr>
              <a:t>CSE </a:t>
            </a:r>
            <a:endParaRPr/>
          </a:p>
        </p:txBody>
      </p:sp>
      <p:sp>
        <p:nvSpPr>
          <p:cNvPr id="91" name="Google Shape;91;p1"/>
          <p:cNvSpPr/>
          <p:nvPr/>
        </p:nvSpPr>
        <p:spPr>
          <a:xfrm>
            <a:off x="14016935" y="7352262"/>
            <a:ext cx="3699605" cy="2569369"/>
          </a:xfrm>
          <a:custGeom>
            <a:avLst/>
            <a:gdLst/>
            <a:ahLst/>
            <a:cxnLst/>
            <a:rect l="l" t="t" r="r" b="b"/>
            <a:pathLst>
              <a:path w="4932807" h="3425825" extrusionOk="0">
                <a:moveTo>
                  <a:pt x="4932807" y="3425825"/>
                </a:moveTo>
                <a:lnTo>
                  <a:pt x="4932807" y="0"/>
                </a:lnTo>
                <a:lnTo>
                  <a:pt x="0" y="3425825"/>
                </a:lnTo>
                <a:close/>
              </a:path>
            </a:pathLst>
          </a:custGeom>
          <a:solidFill>
            <a:srgbClr val="C00000"/>
          </a:solidFill>
          <a:ln>
            <a:noFill/>
          </a:ln>
        </p:spPr>
      </p:sp>
      <p:sp>
        <p:nvSpPr>
          <p:cNvPr id="92" name="Google Shape;92;p1"/>
          <p:cNvSpPr txBox="1"/>
          <p:nvPr/>
        </p:nvSpPr>
        <p:spPr>
          <a:xfrm>
            <a:off x="10813554" y="8216334"/>
            <a:ext cx="5961500" cy="784068"/>
          </a:xfrm>
          <a:prstGeom prst="rect">
            <a:avLst/>
          </a:prstGeom>
          <a:noFill/>
          <a:ln>
            <a:noFill/>
          </a:ln>
        </p:spPr>
        <p:txBody>
          <a:bodyPr spcFirstLastPara="1" wrap="square" lIns="0" tIns="0" rIns="0" bIns="0" anchor="t" anchorCtr="0">
            <a:spAutoFit/>
          </a:bodyPr>
          <a:lstStyle/>
          <a:p>
            <a:pPr marL="0" marR="0" lvl="0" indent="0" algn="l" rtl="0">
              <a:lnSpc>
                <a:spcPct val="120008"/>
              </a:lnSpc>
              <a:spcBef>
                <a:spcPts val="0"/>
              </a:spcBef>
              <a:spcAft>
                <a:spcPts val="0"/>
              </a:spcAft>
              <a:buNone/>
            </a:pPr>
            <a:r>
              <a:rPr lang="en-US" sz="2479" b="1" i="0" u="none" strike="noStrike" cap="none">
                <a:solidFill>
                  <a:srgbClr val="595959"/>
                </a:solidFill>
                <a:latin typeface="Arial"/>
                <a:ea typeface="Arial"/>
                <a:cs typeface="Arial"/>
                <a:sym typeface="Arial"/>
              </a:rPr>
              <a:t>DISCOVER . </a:t>
            </a:r>
            <a:r>
              <a:rPr lang="en-US" sz="2479" b="1" i="0" u="none" strike="noStrike" cap="none">
                <a:solidFill>
                  <a:srgbClr val="C00000"/>
                </a:solidFill>
                <a:latin typeface="Arial"/>
                <a:ea typeface="Arial"/>
                <a:cs typeface="Arial"/>
                <a:sym typeface="Arial"/>
              </a:rPr>
              <a:t>LEARN</a:t>
            </a:r>
            <a:r>
              <a:rPr lang="en-US" sz="2479" b="1" i="0" u="none" strike="noStrike" cap="none">
                <a:solidFill>
                  <a:srgbClr val="595959"/>
                </a:solidFill>
                <a:latin typeface="Arial"/>
                <a:ea typeface="Arial"/>
                <a:cs typeface="Arial"/>
                <a:sym typeface="Arial"/>
              </a:rPr>
              <a:t> . EMPOWER</a:t>
            </a:r>
            <a:endParaRPr/>
          </a:p>
          <a:p>
            <a:pPr marL="0" marR="0" lvl="0" indent="0" algn="l" rtl="0">
              <a:lnSpc>
                <a:spcPct val="120008"/>
              </a:lnSpc>
              <a:spcBef>
                <a:spcPts val="0"/>
              </a:spcBef>
              <a:spcAft>
                <a:spcPts val="0"/>
              </a:spcAft>
              <a:buNone/>
            </a:pPr>
            <a:endParaRPr sz="2479" b="1" i="0" u="none" strike="noStrike" cap="none">
              <a:solidFill>
                <a:srgbClr val="595959"/>
              </a:solidFill>
              <a:latin typeface="Arial"/>
              <a:ea typeface="Arial"/>
              <a:cs typeface="Arial"/>
              <a:sym typeface="Arial"/>
            </a:endParaRPr>
          </a:p>
        </p:txBody>
      </p:sp>
      <p:sp>
        <p:nvSpPr>
          <p:cNvPr id="93" name="Google Shape;93;p1"/>
          <p:cNvSpPr/>
          <p:nvPr/>
        </p:nvSpPr>
        <p:spPr>
          <a:xfrm>
            <a:off x="2739297" y="8852979"/>
            <a:ext cx="68579" cy="920781"/>
          </a:xfrm>
          <a:custGeom>
            <a:avLst/>
            <a:gdLst/>
            <a:ahLst/>
            <a:cxnLst/>
            <a:rect l="l" t="t" r="r" b="b"/>
            <a:pathLst>
              <a:path w="91440" h="1227709" extrusionOk="0">
                <a:moveTo>
                  <a:pt x="0" y="0"/>
                </a:moveTo>
                <a:lnTo>
                  <a:pt x="91440" y="0"/>
                </a:lnTo>
                <a:lnTo>
                  <a:pt x="91440" y="1227709"/>
                </a:lnTo>
                <a:lnTo>
                  <a:pt x="0" y="1227709"/>
                </a:lnTo>
                <a:close/>
              </a:path>
            </a:pathLst>
          </a:custGeom>
          <a:solidFill>
            <a:srgbClr val="C00000"/>
          </a:solidFill>
          <a:ln>
            <a:noFill/>
          </a:ln>
        </p:spPr>
      </p:sp>
      <p:sp>
        <p:nvSpPr>
          <p:cNvPr id="94" name="Google Shape;94;p1"/>
          <p:cNvSpPr txBox="1"/>
          <p:nvPr/>
        </p:nvSpPr>
        <p:spPr>
          <a:xfrm>
            <a:off x="13007340" y="9580245"/>
            <a:ext cx="3931920" cy="456248"/>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1800" b="0" i="0" u="none" strike="noStrike" cap="none">
                <a:solidFill>
                  <a:srgbClr val="898989"/>
                </a:solidFill>
                <a:latin typeface="Arial"/>
                <a:ea typeface="Arial"/>
                <a:cs typeface="Arial"/>
                <a:sym typeface="Arial"/>
              </a:rPr>
              <a:t>1</a:t>
            </a:r>
            <a:endParaRPr/>
          </a:p>
        </p:txBody>
      </p:sp>
      <p:sp>
        <p:nvSpPr>
          <p:cNvPr id="95" name="Google Shape;95;p1"/>
          <p:cNvSpPr txBox="1"/>
          <p:nvPr/>
        </p:nvSpPr>
        <p:spPr>
          <a:xfrm>
            <a:off x="2266564" y="1657265"/>
            <a:ext cx="14221132" cy="500335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600" b="1" i="0" u="none" strike="noStrike" cap="none">
                <a:solidFill>
                  <a:srgbClr val="000000"/>
                </a:solidFill>
                <a:latin typeface="Arial"/>
                <a:ea typeface="Arial"/>
                <a:cs typeface="Arial"/>
                <a:sym typeface="Arial"/>
              </a:rPr>
              <a:t>UNIVERSITY INSTITUTE OF ENGINEERING</a:t>
            </a:r>
            <a:endParaRPr/>
          </a:p>
          <a:p>
            <a:pPr marL="0" marR="0" lvl="0" indent="0" algn="ctr" rtl="0">
              <a:lnSpc>
                <a:spcPct val="120000"/>
              </a:lnSpc>
              <a:spcBef>
                <a:spcPts val="0"/>
              </a:spcBef>
              <a:spcAft>
                <a:spcPts val="0"/>
              </a:spcAft>
              <a:buNone/>
            </a:pPr>
            <a:r>
              <a:rPr lang="en-US" sz="4200" b="1" i="0" u="none" strike="noStrike" cap="none">
                <a:solidFill>
                  <a:srgbClr val="000000"/>
                </a:solidFill>
                <a:latin typeface="Arial"/>
                <a:ea typeface="Arial"/>
                <a:cs typeface="Arial"/>
                <a:sym typeface="Arial"/>
              </a:rPr>
              <a:t>Department of Computer Science &amp; Engineering</a:t>
            </a:r>
            <a:endParaRPr/>
          </a:p>
          <a:p>
            <a:pPr marL="0" marR="0" lvl="0" indent="0" algn="ctr" rtl="0">
              <a:lnSpc>
                <a:spcPct val="120000"/>
              </a:lnSpc>
              <a:spcBef>
                <a:spcPts val="0"/>
              </a:spcBef>
              <a:spcAft>
                <a:spcPts val="0"/>
              </a:spcAft>
              <a:buNone/>
            </a:pPr>
            <a:endParaRPr sz="4200" b="1"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None/>
            </a:pPr>
            <a:r>
              <a:rPr lang="en-US" sz="4200" b="1" i="0" u="none" strike="noStrike" cap="none">
                <a:solidFill>
                  <a:srgbClr val="000000"/>
                </a:solidFill>
                <a:latin typeface="Arial"/>
                <a:ea typeface="Arial"/>
                <a:cs typeface="Arial"/>
                <a:sym typeface="Arial"/>
              </a:rPr>
              <a:t>Databases Management System </a:t>
            </a:r>
            <a:endParaRPr/>
          </a:p>
          <a:p>
            <a:pPr marL="0" marR="0" lvl="0" indent="0" algn="ctr" rtl="0">
              <a:lnSpc>
                <a:spcPct val="108000"/>
              </a:lnSpc>
              <a:spcBef>
                <a:spcPts val="0"/>
              </a:spcBef>
              <a:spcAft>
                <a:spcPts val="0"/>
              </a:spcAft>
              <a:buNone/>
            </a:pPr>
            <a:r>
              <a:rPr lang="en-US" sz="6600" b="1" i="0" u="none" strike="noStrike" cap="none">
                <a:solidFill>
                  <a:srgbClr val="000000"/>
                </a:solidFill>
                <a:latin typeface="Arial"/>
                <a:ea typeface="Arial"/>
                <a:cs typeface="Arial"/>
                <a:sym typeface="Arial"/>
              </a:rPr>
              <a:t>(23CSH-205/23ITH-205)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3228975" y="7364"/>
            <a:ext cx="11830050" cy="198834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101" name="Google Shape;101;p2"/>
          <p:cNvSpPr txBox="1">
            <a:spLocks noGrp="1"/>
          </p:cNvSpPr>
          <p:nvPr>
            <p:ph type="body" idx="1"/>
          </p:nvPr>
        </p:nvSpPr>
        <p:spPr>
          <a:xfrm>
            <a:off x="1257301" y="2062237"/>
            <a:ext cx="16661990" cy="6683663"/>
          </a:xfrm>
          <a:prstGeom prst="rect">
            <a:avLst/>
          </a:prstGeom>
          <a:noFill/>
          <a:ln>
            <a:noFill/>
          </a:ln>
        </p:spPr>
        <p:txBody>
          <a:bodyPr spcFirstLastPara="1" wrap="square" lIns="102850" tIns="51425" rIns="102850" bIns="51425" anchor="t" anchorCtr="0">
            <a:noAutofit/>
          </a:bodyPr>
          <a:lstStyle/>
          <a:p>
            <a:pPr marL="342900" lvl="0" indent="-342900" algn="just" rtl="0">
              <a:spcBef>
                <a:spcPts val="0"/>
              </a:spcBef>
              <a:spcAft>
                <a:spcPts val="0"/>
              </a:spcAft>
              <a:buClr>
                <a:schemeClr val="dk1"/>
              </a:buClr>
              <a:buSzPts val="3600"/>
              <a:buChar char="•"/>
            </a:pPr>
            <a:r>
              <a:rPr lang="en-US" sz="3600">
                <a:latin typeface="Times New Roman"/>
                <a:ea typeface="Times New Roman"/>
                <a:cs typeface="Times New Roman"/>
                <a:sym typeface="Times New Roman"/>
              </a:rPr>
              <a:t>The main DBMS course, we learn about the </a:t>
            </a:r>
            <a:r>
              <a:rPr lang="en-US" sz="3600">
                <a:solidFill>
                  <a:srgbClr val="632423"/>
                </a:solidFill>
                <a:latin typeface="Times New Roman"/>
                <a:ea typeface="Times New Roman"/>
                <a:cs typeface="Times New Roman"/>
                <a:sym typeface="Times New Roman"/>
              </a:rPr>
              <a:t>structural formation of data</a:t>
            </a:r>
            <a:r>
              <a:rPr lang="en-US" sz="3600">
                <a:latin typeface="Times New Roman"/>
                <a:ea typeface="Times New Roman"/>
                <a:cs typeface="Times New Roman"/>
                <a:sym typeface="Times New Roman"/>
              </a:rPr>
              <a:t>, </a:t>
            </a:r>
            <a:r>
              <a:rPr lang="en-US" sz="3600">
                <a:solidFill>
                  <a:srgbClr val="31859B"/>
                </a:solidFill>
                <a:latin typeface="Times New Roman"/>
                <a:ea typeface="Times New Roman"/>
                <a:cs typeface="Times New Roman"/>
                <a:sym typeface="Times New Roman"/>
              </a:rPr>
              <a:t>maintain data integrity</a:t>
            </a:r>
            <a:r>
              <a:rPr lang="en-US" sz="3600">
                <a:latin typeface="Times New Roman"/>
                <a:ea typeface="Times New Roman"/>
                <a:cs typeface="Times New Roman"/>
                <a:sym typeface="Times New Roman"/>
              </a:rPr>
              <a:t>, </a:t>
            </a:r>
            <a:r>
              <a:rPr lang="en-US" sz="3600">
                <a:solidFill>
                  <a:srgbClr val="974806"/>
                </a:solidFill>
                <a:latin typeface="Times New Roman"/>
                <a:ea typeface="Times New Roman"/>
                <a:cs typeface="Times New Roman"/>
                <a:sym typeface="Times New Roman"/>
              </a:rPr>
              <a:t>multitasking with concurrent access </a:t>
            </a:r>
            <a:r>
              <a:rPr lang="en-US" sz="3600">
                <a:latin typeface="Times New Roman"/>
                <a:ea typeface="Times New Roman"/>
                <a:cs typeface="Times New Roman"/>
                <a:sym typeface="Times New Roman"/>
              </a:rPr>
              <a:t>and </a:t>
            </a:r>
            <a:r>
              <a:rPr lang="en-US" sz="3600">
                <a:solidFill>
                  <a:schemeClr val="dk2"/>
                </a:solidFill>
                <a:latin typeface="Times New Roman"/>
                <a:ea typeface="Times New Roman"/>
                <a:cs typeface="Times New Roman"/>
                <a:sym typeface="Times New Roman"/>
              </a:rPr>
              <a:t>recovery without occurring crashes</a:t>
            </a:r>
            <a:r>
              <a:rPr lang="en-US" sz="3600">
                <a:latin typeface="Times New Roman"/>
                <a:ea typeface="Times New Roman"/>
                <a:cs typeface="Times New Roman"/>
                <a:sym typeface="Times New Roman"/>
              </a:rPr>
              <a:t>, data structures, data models etc. and their working in which every organization is based. </a:t>
            </a:r>
            <a:endParaRPr/>
          </a:p>
          <a:p>
            <a:pPr marL="342900" lvl="0" indent="-342900" algn="just" rtl="0">
              <a:spcBef>
                <a:spcPts val="720"/>
              </a:spcBef>
              <a:spcAft>
                <a:spcPts val="0"/>
              </a:spcAft>
              <a:buClr>
                <a:schemeClr val="dk1"/>
              </a:buClr>
              <a:buSzPts val="3600"/>
              <a:buChar char="•"/>
            </a:pPr>
            <a:r>
              <a:rPr lang="en-US" sz="36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342900" lvl="0" indent="-114300" algn="just" rtl="0">
              <a:spcBef>
                <a:spcPts val="720"/>
              </a:spcBef>
              <a:spcAft>
                <a:spcPts val="0"/>
              </a:spcAft>
              <a:buClr>
                <a:schemeClr val="dk1"/>
              </a:buClr>
              <a:buSzPts val="3600"/>
              <a:buNone/>
            </a:pPr>
            <a:endParaRPr sz="3600" i="1">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graphicFrame>
        <p:nvGraphicFramePr>
          <p:cNvPr id="106" name="Google Shape;106;p3"/>
          <p:cNvGraphicFramePr/>
          <p:nvPr/>
        </p:nvGraphicFramePr>
        <p:xfrm>
          <a:off x="464575" y="2697914"/>
          <a:ext cx="11765525" cy="6580960"/>
        </p:xfrm>
        <a:graphic>
          <a:graphicData uri="http://schemas.openxmlformats.org/drawingml/2006/table">
            <a:tbl>
              <a:tblPr>
                <a:noFill/>
                <a:tableStyleId>{49B3447E-0342-4817-8CC3-64A89BC6A27F}</a:tableStyleId>
              </a:tblPr>
              <a:tblGrid>
                <a:gridCol w="1263375">
                  <a:extLst>
                    <a:ext uri="{9D8B030D-6E8A-4147-A177-3AD203B41FA5}">
                      <a16:colId xmlns:a16="http://schemas.microsoft.com/office/drawing/2014/main" val="20000"/>
                    </a:ext>
                  </a:extLst>
                </a:gridCol>
                <a:gridCol w="8110150">
                  <a:extLst>
                    <a:ext uri="{9D8B030D-6E8A-4147-A177-3AD203B41FA5}">
                      <a16:colId xmlns:a16="http://schemas.microsoft.com/office/drawing/2014/main" val="20001"/>
                    </a:ext>
                  </a:extLst>
                </a:gridCol>
                <a:gridCol w="2392000">
                  <a:extLst>
                    <a:ext uri="{9D8B030D-6E8A-4147-A177-3AD203B41FA5}">
                      <a16:colId xmlns:a16="http://schemas.microsoft.com/office/drawing/2014/main" val="20002"/>
                    </a:ext>
                  </a:extLst>
                </a:gridCol>
              </a:tblGrid>
              <a:tr h="764525">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CO No.</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Title</a:t>
                      </a:r>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BT Level</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29050">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CO1</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Memorize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11575">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CO2</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24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DE7"/>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Understanding</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99700">
                <a:tc>
                  <a:txBody>
                    <a:bodyPr/>
                    <a:lstStyle/>
                    <a:p>
                      <a:pPr marL="0" marR="0" lvl="0" indent="0" algn="ctr" rtl="0">
                        <a:spcBef>
                          <a:spcPts val="0"/>
                        </a:spcBef>
                        <a:spcAft>
                          <a:spcPts val="0"/>
                        </a:spcAft>
                        <a:buNone/>
                      </a:pPr>
                      <a:r>
                        <a:rPr lang="en-US" sz="2400" b="1" i="0" u="none" strike="noStrike" cap="none">
                          <a:solidFill>
                            <a:srgbClr val="00B050"/>
                          </a:solidFill>
                          <a:highlight>
                            <a:srgbClr val="FFFF00"/>
                          </a:highlight>
                          <a:latin typeface="Times New Roman"/>
                          <a:ea typeface="Times New Roman"/>
                          <a:cs typeface="Times New Roman"/>
                          <a:sym typeface="Times New Roman"/>
                        </a:rPr>
                        <a:t>CO3</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BF8E"/>
                    </a:solidFill>
                  </a:tcPr>
                </a:tc>
                <a:tc>
                  <a:txBody>
                    <a:bodyPr/>
                    <a:lstStyle/>
                    <a:p>
                      <a:pPr marL="0" marR="0" lvl="0" indent="0" algn="ctr" rtl="0">
                        <a:spcBef>
                          <a:spcPts val="0"/>
                        </a:spcBef>
                        <a:spcAft>
                          <a:spcPts val="0"/>
                        </a:spcAft>
                        <a:buNone/>
                      </a:pPr>
                      <a:r>
                        <a:rPr lang="en-US" sz="3000" b="1" i="0" u="none" strike="noStrike" cap="none">
                          <a:solidFill>
                            <a:srgbClr val="C00000"/>
                          </a:solidFill>
                          <a:highlight>
                            <a:srgbClr val="FFFF00"/>
                          </a:highlight>
                          <a:latin typeface="Calibri"/>
                          <a:ea typeface="Calibri"/>
                          <a:cs typeface="Calibri"/>
                          <a:sym typeface="Calibri"/>
                        </a:rPr>
                        <a:t>Apply</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64525">
                <a:tc>
                  <a:txBody>
                    <a:bodyPr/>
                    <a:lstStyle/>
                    <a:p>
                      <a:pPr marL="0" marR="0" lvl="0" indent="0" algn="ctr" rtl="0">
                        <a:spcBef>
                          <a:spcPts val="0"/>
                        </a:spcBef>
                        <a:spcAft>
                          <a:spcPts val="0"/>
                        </a:spcAft>
                        <a:buNone/>
                      </a:pPr>
                      <a:r>
                        <a:rPr lang="en-US" sz="2400" b="1" i="0" u="none" strike="noStrike" cap="none">
                          <a:solidFill>
                            <a:srgbClr val="00B050"/>
                          </a:solidFill>
                          <a:highlight>
                            <a:srgbClr val="FFFF00"/>
                          </a:highlight>
                          <a:latin typeface="Times New Roman"/>
                          <a:ea typeface="Times New Roman"/>
                          <a:cs typeface="Times New Roman"/>
                          <a:sym typeface="Times New Roman"/>
                        </a:rPr>
                        <a:t>CO4</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0D9"/>
                    </a:solidFill>
                  </a:tcPr>
                </a:tc>
                <a:tc>
                  <a:txBody>
                    <a:bodyPr/>
                    <a:lstStyle/>
                    <a:p>
                      <a:pPr marL="0" marR="0" lvl="0" indent="0" algn="ctr" rtl="0">
                        <a:spcBef>
                          <a:spcPts val="0"/>
                        </a:spcBef>
                        <a:spcAft>
                          <a:spcPts val="0"/>
                        </a:spcAft>
                        <a:buNone/>
                      </a:pPr>
                      <a:r>
                        <a:rPr lang="en-US" sz="3000" b="1" i="0" u="none" strike="noStrike" cap="none">
                          <a:solidFill>
                            <a:srgbClr val="C00000"/>
                          </a:solidFill>
                          <a:highlight>
                            <a:srgbClr val="FFFF00"/>
                          </a:highlight>
                          <a:latin typeface="Calibri"/>
                          <a:ea typeface="Calibri"/>
                          <a:cs typeface="Calibri"/>
                          <a:sym typeface="Calibri"/>
                        </a:rPr>
                        <a:t>Analyze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11575">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CO5</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Evaluate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7" name="Google Shape;107;p3"/>
          <p:cNvSpPr txBox="1">
            <a:spLocks noGrp="1"/>
          </p:cNvSpPr>
          <p:nvPr>
            <p:ph type="title"/>
          </p:nvPr>
        </p:nvSpPr>
        <p:spPr>
          <a:xfrm>
            <a:off x="2579124" y="564285"/>
            <a:ext cx="11830050" cy="978759"/>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C00000"/>
              </a:buClr>
              <a:buSzPts val="5400"/>
              <a:buFont typeface="Arial Rounded"/>
              <a:buNone/>
            </a:pPr>
            <a:r>
              <a:rPr lang="en-US" sz="5400" b="1">
                <a:solidFill>
                  <a:srgbClr val="C00000"/>
                </a:solidFill>
                <a:latin typeface="Arial Rounded"/>
                <a:ea typeface="Arial Rounded"/>
                <a:cs typeface="Arial Rounded"/>
                <a:sym typeface="Arial Rounded"/>
              </a:rPr>
              <a:t>COURSE OUTCOMES </a:t>
            </a:r>
            <a:endParaRPr sz="5400" b="1">
              <a:solidFill>
                <a:srgbClr val="C00000"/>
              </a:solidFill>
              <a:latin typeface="Arial Rounded"/>
              <a:ea typeface="Arial Rounded"/>
              <a:cs typeface="Arial Rounded"/>
              <a:sym typeface="Arial Rounded"/>
            </a:endParaRPr>
          </a:p>
        </p:txBody>
      </p:sp>
      <p:sp>
        <p:nvSpPr>
          <p:cNvPr id="108" name="Google Shape;108;p3"/>
          <p:cNvSpPr/>
          <p:nvPr/>
        </p:nvSpPr>
        <p:spPr>
          <a:xfrm>
            <a:off x="12557861" y="1742162"/>
            <a:ext cx="5403569" cy="6209852"/>
          </a:xfrm>
          <a:prstGeom prst="rect">
            <a:avLst/>
          </a:prstGeom>
          <a:noFill/>
          <a:ln w="25400" cap="flat" cmpd="sng">
            <a:solidFill>
              <a:srgbClr val="395E89"/>
            </a:solidFill>
            <a:prstDash val="solid"/>
            <a:round/>
            <a:headEnd type="none" w="sm" len="sm"/>
            <a:tailEnd type="none" w="sm" len="sm"/>
          </a:ln>
        </p:spPr>
        <p:txBody>
          <a:bodyPr spcFirstLastPara="1" wrap="square" lIns="137125" tIns="68550" rIns="137125" bIns="68550" anchor="ctr" anchorCtr="0">
            <a:noAutofit/>
          </a:bodyPr>
          <a:lstStyle/>
          <a:p>
            <a:pPr marL="0" marR="0" lvl="0" indent="0" algn="ctr" rtl="0">
              <a:lnSpc>
                <a:spcPct val="100000"/>
              </a:lnSpc>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109" name="Google Shape;109;p3"/>
          <p:cNvSpPr/>
          <p:nvPr/>
        </p:nvSpPr>
        <p:spPr>
          <a:xfrm>
            <a:off x="13729608" y="2770939"/>
            <a:ext cx="3367341" cy="160231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37125" tIns="68550" rIns="137125" bIns="68550" anchor="ctr" anchorCtr="0">
            <a:noAutofit/>
          </a:bodyPr>
          <a:lstStyle/>
          <a:p>
            <a:pPr marL="0" marR="0" lvl="0" indent="0" algn="ctr" rtl="0">
              <a:lnSpc>
                <a:spcPct val="100000"/>
              </a:lnSpc>
              <a:spcBef>
                <a:spcPts val="0"/>
              </a:spcBef>
              <a:spcAft>
                <a:spcPts val="0"/>
              </a:spcAft>
              <a:buNone/>
            </a:pPr>
            <a:r>
              <a:rPr lang="en-US" sz="2700" b="0" i="0" u="none" strike="noStrike" cap="none">
                <a:solidFill>
                  <a:schemeClr val="dk1"/>
                </a:solidFill>
                <a:latin typeface="Calibri"/>
                <a:ea typeface="Calibri"/>
                <a:cs typeface="Calibri"/>
                <a:sym typeface="Calibri"/>
              </a:rPr>
              <a:t>Will be covered in this lecture</a:t>
            </a:r>
            <a:endParaRPr sz="2100" b="0" i="0" u="none" strike="noStrike" cap="none">
              <a:solidFill>
                <a:srgbClr val="000000"/>
              </a:solidFill>
              <a:latin typeface="Arial"/>
              <a:ea typeface="Arial"/>
              <a:cs typeface="Arial"/>
              <a:sym typeface="Arial"/>
            </a:endParaRPr>
          </a:p>
        </p:txBody>
      </p:sp>
      <p:cxnSp>
        <p:nvCxnSpPr>
          <p:cNvPr id="110" name="Google Shape;110;p3"/>
          <p:cNvCxnSpPr/>
          <p:nvPr/>
        </p:nvCxnSpPr>
        <p:spPr>
          <a:xfrm rot="10800000" flipH="1">
            <a:off x="11882341" y="4472810"/>
            <a:ext cx="4043459" cy="3217190"/>
          </a:xfrm>
          <a:prstGeom prst="straightConnector1">
            <a:avLst/>
          </a:prstGeom>
          <a:noFill/>
          <a:ln w="9525" cap="flat" cmpd="sng">
            <a:solidFill>
              <a:srgbClr val="4A7DBA"/>
            </a:solidFill>
            <a:prstDash val="solid"/>
            <a:round/>
            <a:headEnd type="none" w="sm" len="sm"/>
            <a:tailEnd type="triangle" w="med" len="med"/>
          </a:ln>
        </p:spPr>
      </p:cxnSp>
      <p:cxnSp>
        <p:nvCxnSpPr>
          <p:cNvPr id="111" name="Google Shape;111;p3"/>
          <p:cNvCxnSpPr/>
          <p:nvPr/>
        </p:nvCxnSpPr>
        <p:spPr>
          <a:xfrm rot="10800000" flipH="1">
            <a:off x="11620636" y="4472810"/>
            <a:ext cx="2983283" cy="2332410"/>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p:nvPr/>
        </p:nvSpPr>
        <p:spPr>
          <a:xfrm>
            <a:off x="572870" y="2887520"/>
            <a:ext cx="17324297" cy="4978735"/>
          </a:xfrm>
          <a:prstGeom prst="rect">
            <a:avLst/>
          </a:prstGeom>
          <a:noFill/>
          <a:ln>
            <a:noFill/>
          </a:ln>
        </p:spPr>
        <p:txBody>
          <a:bodyPr spcFirstLastPara="1" wrap="square" lIns="91425" tIns="45700" rIns="91425" bIns="45700" anchor="t" anchorCtr="0">
            <a:spAutoFit/>
          </a:bodyPr>
          <a:lstStyle/>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have good </a:t>
            </a:r>
            <a:r>
              <a:rPr lang="en-US" sz="3600" b="1" i="0" u="none" strike="noStrike" cap="none">
                <a:solidFill>
                  <a:schemeClr val="dk1"/>
                </a:solidFill>
                <a:latin typeface="Times New Roman"/>
                <a:ea typeface="Times New Roman"/>
                <a:cs typeface="Times New Roman"/>
                <a:sym typeface="Times New Roman"/>
              </a:rPr>
              <a:t>understanding of database system </a:t>
            </a:r>
            <a:r>
              <a:rPr lang="en-US" sz="3600" b="0" i="0" u="none" strike="noStrike" cap="none">
                <a:solidFill>
                  <a:schemeClr val="dk1"/>
                </a:solidFill>
                <a:latin typeface="Times New Roman"/>
                <a:ea typeface="Times New Roman"/>
                <a:cs typeface="Times New Roman"/>
                <a:sym typeface="Times New Roman"/>
              </a:rPr>
              <a:t>concepts and </a:t>
            </a:r>
            <a:r>
              <a:rPr lang="en-US" sz="3600" b="1" i="0" u="none" strike="noStrike" cap="none">
                <a:solidFill>
                  <a:schemeClr val="dk1"/>
                </a:solidFill>
                <a:latin typeface="Times New Roman"/>
                <a:ea typeface="Times New Roman"/>
                <a:cs typeface="Times New Roman"/>
                <a:sym typeface="Times New Roman"/>
              </a:rPr>
              <a:t>design databases </a:t>
            </a:r>
            <a:r>
              <a:rPr lang="en-US" sz="3600" b="0" i="0" u="none" strike="noStrike" cap="none">
                <a:solidFill>
                  <a:schemeClr val="dk1"/>
                </a:solidFill>
                <a:latin typeface="Times New Roman"/>
                <a:ea typeface="Times New Roman"/>
                <a:cs typeface="Times New Roman"/>
                <a:sym typeface="Times New Roman"/>
              </a:rPr>
              <a:t>for different applications.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learn how to use a </a:t>
            </a:r>
            <a:r>
              <a:rPr lang="en-US" sz="3600" b="1" i="0" u="none" strike="noStrike" cap="none">
                <a:solidFill>
                  <a:schemeClr val="dk1"/>
                </a:solidFill>
                <a:latin typeface="Times New Roman"/>
                <a:ea typeface="Times New Roman"/>
                <a:cs typeface="Times New Roman"/>
                <a:sym typeface="Times New Roman"/>
              </a:rPr>
              <a:t>DBMS and RDBMS.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implement and understand different types of </a:t>
            </a:r>
            <a:r>
              <a:rPr lang="en-US" sz="3600" b="1" i="0" u="none" strike="noStrike" cap="none">
                <a:solidFill>
                  <a:schemeClr val="dk1"/>
                </a:solidFill>
                <a:latin typeface="Times New Roman"/>
                <a:ea typeface="Times New Roman"/>
                <a:cs typeface="Times New Roman"/>
                <a:sym typeface="Times New Roman"/>
              </a:rPr>
              <a:t>DDL, DML and DCL </a:t>
            </a:r>
            <a:r>
              <a:rPr lang="en-US" sz="3600" b="0" i="0" u="none" strike="noStrike" cap="none">
                <a:solidFill>
                  <a:schemeClr val="dk1"/>
                </a:solidFill>
                <a:latin typeface="Times New Roman"/>
                <a:ea typeface="Times New Roman"/>
                <a:cs typeface="Times New Roman"/>
                <a:sym typeface="Times New Roman"/>
              </a:rPr>
              <a:t>statements.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understand </a:t>
            </a:r>
            <a:r>
              <a:rPr lang="en-US" sz="3600" b="1" i="0" u="none" strike="noStrike" cap="none">
                <a:solidFill>
                  <a:schemeClr val="dk1"/>
                </a:solidFill>
                <a:latin typeface="Times New Roman"/>
                <a:ea typeface="Times New Roman"/>
                <a:cs typeface="Times New Roman"/>
                <a:sym typeface="Times New Roman"/>
              </a:rPr>
              <a:t>transaction concepts </a:t>
            </a:r>
            <a:r>
              <a:rPr lang="en-US" sz="3600" b="0" i="0" u="none" strike="noStrike" cap="none">
                <a:solidFill>
                  <a:schemeClr val="dk1"/>
                </a:solidFill>
                <a:latin typeface="Times New Roman"/>
                <a:ea typeface="Times New Roman"/>
                <a:cs typeface="Times New Roman"/>
                <a:sym typeface="Times New Roman"/>
              </a:rPr>
              <a:t>related to databases and </a:t>
            </a:r>
            <a:r>
              <a:rPr lang="en-US" sz="3600" b="1" i="0" u="none" strike="noStrike" cap="none">
                <a:solidFill>
                  <a:schemeClr val="dk1"/>
                </a:solidFill>
                <a:latin typeface="Times New Roman"/>
                <a:ea typeface="Times New Roman"/>
                <a:cs typeface="Times New Roman"/>
                <a:sym typeface="Times New Roman"/>
              </a:rPr>
              <a:t>recovery/backup techniques </a:t>
            </a:r>
            <a:r>
              <a:rPr lang="en-US" sz="36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117" name="Google Shape;117;p4"/>
          <p:cNvSpPr/>
          <p:nvPr/>
        </p:nvSpPr>
        <p:spPr>
          <a:xfrm>
            <a:off x="1883657" y="2077157"/>
            <a:ext cx="1103224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118" name="Google Shape;118;p4"/>
          <p:cNvSpPr txBox="1">
            <a:spLocks noGrp="1"/>
          </p:cNvSpPr>
          <p:nvPr>
            <p:ph type="title"/>
          </p:nvPr>
        </p:nvSpPr>
        <p:spPr>
          <a:xfrm>
            <a:off x="3614472" y="659973"/>
            <a:ext cx="11830050" cy="854080"/>
          </a:xfrm>
          <a:prstGeom prst="rect">
            <a:avLst/>
          </a:prstGeom>
          <a:noFill/>
          <a:ln>
            <a:noFill/>
          </a:ln>
        </p:spPr>
        <p:txBody>
          <a:bodyPr spcFirstLastPara="1" wrap="square" lIns="91425" tIns="45700" rIns="91425" bIns="45700" anchor="ctr" anchorCtr="0">
            <a:spAutoFit/>
          </a:bodyPr>
          <a:lstStyle/>
          <a:p>
            <a:pPr marL="0" lvl="0" indent="0" algn="ctr" rtl="0">
              <a:spcBef>
                <a:spcPts val="0"/>
              </a:spcBef>
              <a:spcAft>
                <a:spcPts val="0"/>
              </a:spcAft>
              <a:buClr>
                <a:srgbClr val="C00000"/>
              </a:buClr>
              <a:buSzPts val="4950"/>
              <a:buFont typeface="Arial Rounded"/>
              <a:buNone/>
            </a:pPr>
            <a:r>
              <a:rPr lang="en-US" sz="4950" b="1">
                <a:solidFill>
                  <a:srgbClr val="C00000"/>
                </a:solidFill>
                <a:latin typeface="Arial Rounded"/>
                <a:ea typeface="Arial Rounded"/>
                <a:cs typeface="Arial Rounded"/>
                <a:sym typeface="Arial Rounded"/>
              </a:rPr>
              <a:t>COURSE OBJECTIVES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p:nvPr/>
        </p:nvSpPr>
        <p:spPr>
          <a:xfrm>
            <a:off x="3228975" y="988517"/>
            <a:ext cx="11830050" cy="1513235"/>
          </a:xfrm>
          <a:prstGeom prst="rect">
            <a:avLst/>
          </a:prstGeom>
          <a:noFill/>
          <a:ln>
            <a:noFill/>
          </a:ln>
        </p:spPr>
        <p:txBody>
          <a:bodyPr spcFirstLastPara="1" wrap="square" lIns="0" tIns="0" rIns="0" bIns="0" anchor="t" anchorCtr="0">
            <a:spAutoFit/>
          </a:bodyPr>
          <a:lstStyle/>
          <a:p>
            <a:pPr marL="0" marR="0" lvl="0" indent="0" algn="ctr" rtl="0">
              <a:lnSpc>
                <a:spcPct val="120012"/>
              </a:lnSpc>
              <a:spcBef>
                <a:spcPts val="0"/>
              </a:spcBef>
              <a:spcAft>
                <a:spcPts val="0"/>
              </a:spcAft>
              <a:buNone/>
            </a:pPr>
            <a:r>
              <a:rPr lang="en-US" sz="4922" b="1">
                <a:solidFill>
                  <a:srgbClr val="C00000"/>
                </a:solidFill>
                <a:latin typeface="Arimo"/>
                <a:ea typeface="Arimo"/>
                <a:cs typeface="Arimo"/>
                <a:sym typeface="Arimo"/>
              </a:rPr>
              <a:t>Topics covered</a:t>
            </a:r>
            <a:endParaRPr/>
          </a:p>
          <a:p>
            <a:pPr marL="0" marR="0" lvl="0" indent="0" algn="ctr" rtl="0">
              <a:lnSpc>
                <a:spcPct val="120012"/>
              </a:lnSpc>
              <a:spcBef>
                <a:spcPts val="0"/>
              </a:spcBef>
              <a:spcAft>
                <a:spcPts val="0"/>
              </a:spcAft>
              <a:buNone/>
            </a:pPr>
            <a:r>
              <a:rPr lang="en-US" sz="4922" b="1">
                <a:solidFill>
                  <a:srgbClr val="C00000"/>
                </a:solidFill>
                <a:latin typeface="Arimo"/>
                <a:ea typeface="Arimo"/>
                <a:cs typeface="Arimo"/>
                <a:sym typeface="Arimo"/>
              </a:rPr>
              <a:t> </a:t>
            </a:r>
            <a:endParaRPr/>
          </a:p>
        </p:txBody>
      </p:sp>
      <p:sp>
        <p:nvSpPr>
          <p:cNvPr id="128" name="Google Shape;128;p5"/>
          <p:cNvSpPr txBox="1"/>
          <p:nvPr/>
        </p:nvSpPr>
        <p:spPr>
          <a:xfrm>
            <a:off x="1447800" y="2931532"/>
            <a:ext cx="9629283" cy="969689"/>
          </a:xfrm>
          <a:prstGeom prst="rect">
            <a:avLst/>
          </a:prstGeom>
          <a:noFill/>
          <a:ln>
            <a:noFill/>
          </a:ln>
        </p:spPr>
        <p:txBody>
          <a:bodyPr spcFirstLastPara="1" wrap="square" lIns="0" tIns="0" rIns="0" bIns="0" anchor="t" anchorCtr="0">
            <a:spAutoFit/>
          </a:bodyPr>
          <a:lstStyle/>
          <a:p>
            <a:pPr marL="0" marR="0" lvl="0" indent="0" algn="ctr" rtl="0">
              <a:lnSpc>
                <a:spcPct val="107833"/>
              </a:lnSpc>
              <a:spcBef>
                <a:spcPts val="0"/>
              </a:spcBef>
              <a:spcAft>
                <a:spcPts val="0"/>
              </a:spcAft>
              <a:buNone/>
            </a:pPr>
            <a:r>
              <a:rPr lang="en-US" sz="3600" b="1">
                <a:solidFill>
                  <a:schemeClr val="dk1"/>
                </a:solidFill>
                <a:latin typeface="Times New Roman"/>
                <a:ea typeface="Times New Roman"/>
                <a:cs typeface="Times New Roman"/>
                <a:sym typeface="Times New Roman"/>
              </a:rPr>
              <a:t>Database Recovery of database:</a:t>
            </a:r>
            <a:endParaRPr/>
          </a:p>
          <a:p>
            <a:pPr marL="0" marR="0" lvl="0" indent="0" algn="ctr" rtl="0">
              <a:lnSpc>
                <a:spcPct val="120037"/>
              </a:lnSpc>
              <a:spcBef>
                <a:spcPts val="0"/>
              </a:spcBef>
              <a:spcAft>
                <a:spcPts val="0"/>
              </a:spcAft>
              <a:buNone/>
            </a:pPr>
            <a:endParaRPr sz="3234" b="1">
              <a:solidFill>
                <a:srgbClr val="000000"/>
              </a:solidFill>
              <a:latin typeface="Arial"/>
              <a:ea typeface="Arial"/>
              <a:cs typeface="Arial"/>
              <a:sym typeface="Arial"/>
            </a:endParaRPr>
          </a:p>
        </p:txBody>
      </p:sp>
      <p:sp>
        <p:nvSpPr>
          <p:cNvPr id="129" name="Google Shape;129;p5"/>
          <p:cNvSpPr txBox="1"/>
          <p:nvPr/>
        </p:nvSpPr>
        <p:spPr>
          <a:xfrm>
            <a:off x="3090674" y="3768171"/>
            <a:ext cx="12596510" cy="499752"/>
          </a:xfrm>
          <a:prstGeom prst="rect">
            <a:avLst/>
          </a:prstGeom>
          <a:noFill/>
          <a:ln>
            <a:noFill/>
          </a:ln>
        </p:spPr>
        <p:txBody>
          <a:bodyPr spcFirstLastPara="1" wrap="square" lIns="0" tIns="0" rIns="0" bIns="0" anchor="t" anchorCtr="0">
            <a:spAutoFit/>
          </a:bodyPr>
          <a:lstStyle/>
          <a:p>
            <a:pPr marL="0" marR="53975" lvl="0" indent="0" algn="just" rtl="0">
              <a:lnSpc>
                <a:spcPct val="115000"/>
              </a:lnSpc>
              <a:spcBef>
                <a:spcPts val="0"/>
              </a:spcBef>
              <a:spcAft>
                <a:spcPts val="0"/>
              </a:spcAft>
              <a:buNone/>
            </a:pPr>
            <a:r>
              <a:rPr lang="en-US" sz="3000">
                <a:solidFill>
                  <a:schemeClr val="dk1"/>
                </a:solidFill>
                <a:latin typeface="Calibri"/>
                <a:ea typeface="Calibri"/>
                <a:cs typeface="Calibri"/>
                <a:sym typeface="Calibri"/>
              </a:rPr>
              <a:t>Introduction, Need for Recovery, Types of errors, Recovery Techniques.</a:t>
            </a:r>
            <a:endParaRPr sz="3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6"/>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35" name="Google Shape;135;p6"/>
          <p:cNvSpPr txBox="1"/>
          <p:nvPr/>
        </p:nvSpPr>
        <p:spPr>
          <a:xfrm>
            <a:off x="3156906" y="591613"/>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Introduction to Database Recovery</a:t>
            </a:r>
          </a:p>
          <a:p>
            <a:pPr marL="0" marR="0" lvl="0" indent="0" algn="ctr" rtl="0">
              <a:lnSpc>
                <a:spcPct val="108000"/>
              </a:lnSpc>
              <a:spcBef>
                <a:spcPts val="0"/>
              </a:spcBef>
              <a:spcAft>
                <a:spcPts val="0"/>
              </a:spcAft>
              <a:buNone/>
            </a:pPr>
            <a:endParaRPr lang="en-US" dirty="0"/>
          </a:p>
        </p:txBody>
      </p:sp>
      <p:sp>
        <p:nvSpPr>
          <p:cNvPr id="136" name="Google Shape;136;p6"/>
          <p:cNvSpPr/>
          <p:nvPr/>
        </p:nvSpPr>
        <p:spPr>
          <a:xfrm>
            <a:off x="9601200" y="6442801"/>
            <a:ext cx="7658100" cy="3589829"/>
          </a:xfrm>
          <a:custGeom>
            <a:avLst/>
            <a:gdLst/>
            <a:ahLst/>
            <a:cxnLst/>
            <a:rect l="l" t="t" r="r" b="b"/>
            <a:pathLst>
              <a:path w="8906954" h="4660178" extrusionOk="0">
                <a:moveTo>
                  <a:pt x="0" y="0"/>
                </a:moveTo>
                <a:lnTo>
                  <a:pt x="8906954" y="0"/>
                </a:lnTo>
                <a:lnTo>
                  <a:pt x="8906954" y="4660178"/>
                </a:lnTo>
                <a:lnTo>
                  <a:pt x="0" y="4660178"/>
                </a:lnTo>
                <a:lnTo>
                  <a:pt x="0" y="0"/>
                </a:lnTo>
                <a:close/>
              </a:path>
            </a:pathLst>
          </a:custGeom>
          <a:blipFill rotWithShape="1">
            <a:blip r:embed="rId4">
              <a:alphaModFix/>
            </a:blip>
            <a:stretch>
              <a:fillRect/>
            </a:stretch>
          </a:blipFill>
          <a:ln>
            <a:noFill/>
          </a:ln>
        </p:spPr>
      </p:sp>
      <p:sp>
        <p:nvSpPr>
          <p:cNvPr id="137" name="Google Shape;137;p6"/>
          <p:cNvSpPr txBox="1"/>
          <p:nvPr/>
        </p:nvSpPr>
        <p:spPr>
          <a:xfrm>
            <a:off x="1649186" y="1926002"/>
            <a:ext cx="15832034" cy="299152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Database recovery is the process of restoring a database to a correct state in the event of a failure. Failures can occur due to various reasons, such as hardware crashes, software bugs, power outages, or human errors. Recovery ensures the consistency, integrity, and durability of the database, as defined by the ACID properties.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43" name="Google Shape;143;p7"/>
          <p:cNvSpPr txBox="1"/>
          <p:nvPr/>
        </p:nvSpPr>
        <p:spPr>
          <a:xfrm>
            <a:off x="1279120" y="771975"/>
            <a:ext cx="15327037"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    Why Recovery is Required in Database?</a:t>
            </a:r>
          </a:p>
          <a:p>
            <a:pPr marL="0" marR="0" lvl="0" indent="0" algn="l" rtl="0">
              <a:lnSpc>
                <a:spcPct val="108000"/>
              </a:lnSpc>
              <a:spcBef>
                <a:spcPts val="0"/>
              </a:spcBef>
              <a:spcAft>
                <a:spcPts val="0"/>
              </a:spcAft>
              <a:buNone/>
            </a:pPr>
            <a:endParaRPr lang="en-US" dirty="0"/>
          </a:p>
        </p:txBody>
      </p:sp>
      <p:sp>
        <p:nvSpPr>
          <p:cNvPr id="144" name="Google Shape;144;p7"/>
          <p:cNvSpPr txBox="1"/>
          <p:nvPr/>
        </p:nvSpPr>
        <p:spPr>
          <a:xfrm>
            <a:off x="1828800" y="1995381"/>
            <a:ext cx="15180080" cy="6980052"/>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System failures: </a:t>
            </a:r>
            <a:r>
              <a:rPr lang="en-US" sz="3200" dirty="0">
                <a:solidFill>
                  <a:srgbClr val="000000"/>
                </a:solidFill>
                <a:latin typeface="Times New Roman"/>
                <a:ea typeface="Times New Roman"/>
                <a:cs typeface="Times New Roman"/>
                <a:sym typeface="Times New Roman"/>
              </a:rPr>
              <a:t>The DBMS can experience various types of failures, such as hardware failures, software bugs, or power outages, which can lead to data corruption or loss. Recovery mechanisms can help restore the database to a consistent state after such failures.</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Transaction failures:</a:t>
            </a:r>
            <a:r>
              <a:rPr lang="en-US" sz="3200" dirty="0">
                <a:solidFill>
                  <a:srgbClr val="000000"/>
                </a:solidFill>
                <a:latin typeface="Times New Roman"/>
                <a:ea typeface="Times New Roman"/>
                <a:cs typeface="Times New Roman"/>
                <a:sym typeface="Times New Roman"/>
              </a:rPr>
              <a:t> Transactions can fail due to various reasons, such as network failures, deadlock, or errors in application logic. Recovery mechanisms can help roll back or undo the effects of such failed transactions to ensure data consistency.</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Human errors:</a:t>
            </a:r>
            <a:r>
              <a:rPr lang="en-US" sz="3200" dirty="0">
                <a:solidFill>
                  <a:srgbClr val="000000"/>
                </a:solidFill>
                <a:latin typeface="Times New Roman"/>
                <a:ea typeface="Times New Roman"/>
                <a:cs typeface="Times New Roman"/>
                <a:sym typeface="Times New Roman"/>
              </a:rPr>
              <a:t> Human errors such as accidental deletion, updating or overwriting data, or incorrect data entry can cause data inconsistencies. Recovery mechanisms can help recover the lost or corrupted data and restore it to the correct state.</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Security breaches:</a:t>
            </a:r>
            <a:r>
              <a:rPr lang="en-US" sz="3200" dirty="0">
                <a:solidFill>
                  <a:srgbClr val="000000"/>
                </a:solidFill>
                <a:latin typeface="Times New Roman"/>
                <a:ea typeface="Times New Roman"/>
                <a:cs typeface="Times New Roman"/>
                <a:sym typeface="Times New Roman"/>
              </a:rPr>
              <a:t> Security breaches such as hacking or unauthorized access can compromise the integrity of data. Recovery mechanisms can help restore the database to a consistent state and prevent further data breaches.</a:t>
            </a:r>
            <a:endParaRPr sz="1200"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50" name="Google Shape;150;p8"/>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Database Recovery</a:t>
            </a:r>
            <a:endParaRPr dirty="0"/>
          </a:p>
        </p:txBody>
      </p:sp>
      <p:sp>
        <p:nvSpPr>
          <p:cNvPr id="151" name="Google Shape;151;p8"/>
          <p:cNvSpPr txBox="1"/>
          <p:nvPr/>
        </p:nvSpPr>
        <p:spPr>
          <a:xfrm>
            <a:off x="1469571" y="1802385"/>
            <a:ext cx="15539309" cy="8043677"/>
          </a:xfrm>
          <a:prstGeom prst="rect">
            <a:avLst/>
          </a:prstGeom>
          <a:noFill/>
          <a:ln>
            <a:noFill/>
          </a:ln>
        </p:spPr>
        <p:txBody>
          <a:bodyPr spcFirstLastPara="1" wrap="square" lIns="0" tIns="0" rIns="0" bIns="0" anchor="t" anchorCtr="0">
            <a:spAutoFit/>
          </a:bodyPr>
          <a:lstStyle/>
          <a:p>
            <a:pPr marL="0" marR="0" lvl="0" indent="0" algn="just" rtl="0">
              <a:lnSpc>
                <a:spcPct val="216000"/>
              </a:lnSpc>
              <a:spcBef>
                <a:spcPts val="0"/>
              </a:spcBef>
              <a:spcAft>
                <a:spcPts val="0"/>
              </a:spcAft>
              <a:buNone/>
            </a:pPr>
            <a:endParaRPr sz="1600" dirty="0">
              <a:solidFill>
                <a:schemeClr val="dk1"/>
              </a:solidFill>
              <a:latin typeface="Calibri"/>
              <a:ea typeface="Calibri"/>
              <a:cs typeface="Calibri"/>
              <a:sym typeface="Calibri"/>
            </a:endParaRPr>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Hardware upgrades:</a:t>
            </a:r>
            <a:r>
              <a:rPr lang="en-US" sz="3200" b="0" i="0" u="none" strike="noStrike" cap="none" dirty="0">
                <a:solidFill>
                  <a:srgbClr val="000000"/>
                </a:solidFill>
                <a:latin typeface="Times New Roman"/>
                <a:ea typeface="Times New Roman"/>
                <a:cs typeface="Times New Roman"/>
                <a:sym typeface="Times New Roman"/>
              </a:rPr>
              <a:t> When a DBMS is upgraded to a new hardware system, the migration process can potentially lead to data loss or corruption. Recovery mechanisms can help ensure that the data is successfully migrated and the integrity of the database is maintained.</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Natural disasters:</a:t>
            </a:r>
            <a:r>
              <a:rPr lang="en-US" sz="3200" b="0" i="0" u="none" strike="noStrike" cap="none" dirty="0">
                <a:solidFill>
                  <a:srgbClr val="000000"/>
                </a:solidFill>
                <a:latin typeface="Times New Roman"/>
                <a:ea typeface="Times New Roman"/>
                <a:cs typeface="Times New Roman"/>
                <a:sym typeface="Times New Roman"/>
              </a:rPr>
              <a:t> Natural disasters such as earthquakes, floods, or fires can damage the hardware on which the database is stored, leading to data loss. Recovery mechanisms can help restore the data from backups and minimize the impact of the disaster.</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Compliance regulations:</a:t>
            </a:r>
            <a:r>
              <a:rPr lang="en-US" sz="3200" b="0" i="0" u="none" strike="noStrike" cap="none" dirty="0">
                <a:solidFill>
                  <a:srgbClr val="000000"/>
                </a:solidFill>
                <a:latin typeface="Times New Roman"/>
                <a:ea typeface="Times New Roman"/>
                <a:cs typeface="Times New Roman"/>
                <a:sym typeface="Times New Roman"/>
              </a:rPr>
              <a:t> Many industries have regulations that require businesses to retain data for a certain period of time. Recovery mechanisms can help ensure that the data is available for compliance purposes even if it was deleted or lost accidentally.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Data corruption:</a:t>
            </a:r>
            <a:r>
              <a:rPr lang="en-US" sz="3200" b="0" i="0" u="none" strike="noStrike" cap="none" dirty="0">
                <a:solidFill>
                  <a:srgbClr val="000000"/>
                </a:solidFill>
                <a:latin typeface="Times New Roman"/>
                <a:ea typeface="Times New Roman"/>
                <a:cs typeface="Times New Roman"/>
                <a:sym typeface="Times New Roman"/>
              </a:rPr>
              <a:t> Data corruption can occur due to various reasons such as hardware failure, software bugs, or viruses. Recovery mechanisms can help restore the database to a consistent state and recover any lost or corrupted data.</a:t>
            </a:r>
            <a:endParaRPr sz="1200"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57" name="Google Shape;157;p9"/>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Need for Recovery</a:t>
            </a:r>
          </a:p>
          <a:p>
            <a:pPr marL="0" marR="0" lvl="0" indent="0" algn="l" rtl="0">
              <a:lnSpc>
                <a:spcPct val="108000"/>
              </a:lnSpc>
              <a:spcBef>
                <a:spcPts val="0"/>
              </a:spcBef>
              <a:spcAft>
                <a:spcPts val="0"/>
              </a:spcAft>
              <a:buNone/>
            </a:pPr>
            <a:endParaRPr lang="en-US" dirty="0"/>
          </a:p>
        </p:txBody>
      </p:sp>
      <p:sp>
        <p:nvSpPr>
          <p:cNvPr id="158" name="Google Shape;158;p9"/>
          <p:cNvSpPr txBox="1"/>
          <p:nvPr/>
        </p:nvSpPr>
        <p:spPr>
          <a:xfrm>
            <a:off x="1279120" y="2173108"/>
            <a:ext cx="11191049" cy="777796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need for database recovery arises in the following scenarios: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System Crashes: </a:t>
            </a:r>
            <a:r>
              <a:rPr lang="en-US" sz="3600" b="0" i="0" u="none" strike="noStrike" cap="none" dirty="0">
                <a:solidFill>
                  <a:srgbClr val="000000"/>
                </a:solidFill>
                <a:latin typeface="Times New Roman"/>
                <a:ea typeface="Times New Roman"/>
                <a:cs typeface="Times New Roman"/>
                <a:sym typeface="Times New Roman"/>
              </a:rPr>
              <a:t>When the system fails unexpectedly due to hardware or software issues.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Media Failures: </a:t>
            </a:r>
            <a:r>
              <a:rPr lang="en-US" sz="3600" b="0" i="0" u="none" strike="noStrike" cap="none" dirty="0">
                <a:solidFill>
                  <a:srgbClr val="000000"/>
                </a:solidFill>
                <a:latin typeface="Times New Roman"/>
                <a:ea typeface="Times New Roman"/>
                <a:cs typeface="Times New Roman"/>
                <a:sym typeface="Times New Roman"/>
              </a:rPr>
              <a:t>Physical damage to storage devices (e.g., disk crashes).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Transaction Failures: </a:t>
            </a:r>
            <a:r>
              <a:rPr lang="en-US" sz="3600" b="0" i="0" u="none" strike="noStrike" cap="none" dirty="0">
                <a:solidFill>
                  <a:srgbClr val="000000"/>
                </a:solidFill>
                <a:latin typeface="Times New Roman"/>
                <a:ea typeface="Times New Roman"/>
                <a:cs typeface="Times New Roman"/>
                <a:sym typeface="Times New Roman"/>
              </a:rPr>
              <a:t>Improper termination of transactions due to logical errors or deadlocks.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Natural Disasters:</a:t>
            </a:r>
            <a:r>
              <a:rPr lang="en-US" sz="3600" b="0" i="0" u="none" strike="noStrike" cap="none" dirty="0">
                <a:solidFill>
                  <a:srgbClr val="000000"/>
                </a:solidFill>
                <a:latin typeface="Times New Roman"/>
                <a:ea typeface="Times New Roman"/>
                <a:cs typeface="Times New Roman"/>
                <a:sym typeface="Times New Roman"/>
              </a:rPr>
              <a:t> Events such as floods, fires, or earthquakes that damage the database infrastructure.</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Human Errors:</a:t>
            </a:r>
            <a:r>
              <a:rPr lang="en-US" sz="3600" b="0" i="0" u="none" strike="noStrike" cap="none" dirty="0">
                <a:solidFill>
                  <a:srgbClr val="000000"/>
                </a:solidFill>
                <a:latin typeface="Times New Roman"/>
                <a:ea typeface="Times New Roman"/>
                <a:cs typeface="Times New Roman"/>
                <a:sym typeface="Times New Roman"/>
              </a:rPr>
              <a:t> Accidental deletion or modification of critical data.</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159" name="Google Shape;159;p9"/>
          <p:cNvSpPr/>
          <p:nvPr/>
        </p:nvSpPr>
        <p:spPr>
          <a:xfrm>
            <a:off x="13514565" y="3086100"/>
            <a:ext cx="3896536" cy="4481570"/>
          </a:xfrm>
          <a:custGeom>
            <a:avLst/>
            <a:gdLst/>
            <a:ahLst/>
            <a:cxnLst/>
            <a:rect l="l" t="t" r="r" b="b"/>
            <a:pathLst>
              <a:path w="4544051" h="4481570" extrusionOk="0">
                <a:moveTo>
                  <a:pt x="0" y="0"/>
                </a:moveTo>
                <a:lnTo>
                  <a:pt x="4544051" y="0"/>
                </a:lnTo>
                <a:lnTo>
                  <a:pt x="4544051" y="4481570"/>
                </a:lnTo>
                <a:lnTo>
                  <a:pt x="0" y="4481570"/>
                </a:lnTo>
                <a:lnTo>
                  <a:pt x="0" y="0"/>
                </a:lnTo>
                <a:close/>
              </a:path>
            </a:pathLst>
          </a:custGeom>
          <a:blipFill rotWithShape="1">
            <a:blip r:embed="rId4">
              <a:alphaModFix/>
            </a:blip>
            <a:stretch>
              <a:fillRect/>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65" name="Google Shape;165;p10"/>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Errors</a:t>
            </a:r>
          </a:p>
          <a:p>
            <a:pPr marL="0" marR="0" lvl="0" indent="0" algn="l" rtl="0">
              <a:lnSpc>
                <a:spcPct val="108000"/>
              </a:lnSpc>
              <a:spcBef>
                <a:spcPts val="0"/>
              </a:spcBef>
              <a:spcAft>
                <a:spcPts val="0"/>
              </a:spcAft>
              <a:buNone/>
            </a:pPr>
            <a:endParaRPr lang="en-US" dirty="0"/>
          </a:p>
        </p:txBody>
      </p:sp>
      <p:sp>
        <p:nvSpPr>
          <p:cNvPr id="166" name="Google Shape;166;p10"/>
          <p:cNvSpPr txBox="1"/>
          <p:nvPr/>
        </p:nvSpPr>
        <p:spPr>
          <a:xfrm>
            <a:off x="2201389" y="2035078"/>
            <a:ext cx="13539354" cy="5384744"/>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Transaction Errors:</a:t>
            </a:r>
            <a:r>
              <a:rPr lang="en-US" sz="3600" b="0" i="0" u="none" strike="noStrike" cap="none" dirty="0">
                <a:solidFill>
                  <a:srgbClr val="000000"/>
                </a:solidFill>
                <a:latin typeface="Times New Roman"/>
                <a:ea typeface="Times New Roman"/>
                <a:cs typeface="Times New Roman"/>
                <a:sym typeface="Times New Roman"/>
              </a:rPr>
              <a:t> Occur due to incorrect logic, violation of constraints, or system aborts.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System Errors:</a:t>
            </a:r>
            <a:r>
              <a:rPr lang="en-US" sz="3600" b="0" i="0" u="none" strike="noStrike" cap="none" dirty="0">
                <a:solidFill>
                  <a:srgbClr val="000000"/>
                </a:solidFill>
                <a:latin typeface="Times New Roman"/>
                <a:ea typeface="Times New Roman"/>
                <a:cs typeface="Times New Roman"/>
                <a:sym typeface="Times New Roman"/>
              </a:rPr>
              <a:t> Result from issues in the database system, such as deadlocks or crashes.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Media Errors:</a:t>
            </a:r>
            <a:r>
              <a:rPr lang="en-US" sz="3600" b="0" i="0" u="none" strike="noStrike" cap="none" dirty="0">
                <a:solidFill>
                  <a:srgbClr val="000000"/>
                </a:solidFill>
                <a:latin typeface="Times New Roman"/>
                <a:ea typeface="Times New Roman"/>
                <a:cs typeface="Times New Roman"/>
                <a:sym typeface="Times New Roman"/>
              </a:rPr>
              <a:t> Caused by hardware malfunctions, such as disk failures.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Natural Disasters: </a:t>
            </a:r>
            <a:r>
              <a:rPr lang="en-US" sz="3600" b="0" i="0" u="none" strike="noStrike" cap="none" dirty="0">
                <a:solidFill>
                  <a:srgbClr val="000000"/>
                </a:solidFill>
                <a:latin typeface="Times New Roman"/>
                <a:ea typeface="Times New Roman"/>
                <a:cs typeface="Times New Roman"/>
                <a:sym typeface="Times New Roman"/>
              </a:rPr>
              <a:t>Unpredictable events that affect the physical infrastructure.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167" name="Google Shape;167;p10"/>
          <p:cNvSpPr/>
          <p:nvPr/>
        </p:nvSpPr>
        <p:spPr>
          <a:xfrm>
            <a:off x="8588828" y="7557852"/>
            <a:ext cx="6052408" cy="1572768"/>
          </a:xfrm>
          <a:custGeom>
            <a:avLst/>
            <a:gdLst/>
            <a:ahLst/>
            <a:cxnLst/>
            <a:rect l="l" t="t" r="r" b="b"/>
            <a:pathLst>
              <a:path w="7315200" h="1572768" extrusionOk="0">
                <a:moveTo>
                  <a:pt x="0" y="0"/>
                </a:moveTo>
                <a:lnTo>
                  <a:pt x="7315200" y="0"/>
                </a:lnTo>
                <a:lnTo>
                  <a:pt x="7315200" y="1572768"/>
                </a:lnTo>
                <a:lnTo>
                  <a:pt x="0" y="1572768"/>
                </a:lnTo>
                <a:lnTo>
                  <a:pt x="0" y="0"/>
                </a:lnTo>
                <a:close/>
              </a:path>
            </a:pathLst>
          </a:custGeom>
          <a:blipFill rotWithShape="1">
            <a:blip r:embed="rId4">
              <a:alphaModFix/>
            </a:blip>
            <a:stretch>
              <a:fillRect/>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73" name="Google Shape;173;p11"/>
          <p:cNvSpPr txBox="1"/>
          <p:nvPr/>
        </p:nvSpPr>
        <p:spPr>
          <a:xfrm>
            <a:off x="3690257" y="771975"/>
            <a:ext cx="10858500"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Recovery Techniques </a:t>
            </a:r>
            <a:endParaRPr lang="en-US" dirty="0"/>
          </a:p>
        </p:txBody>
      </p:sp>
      <p:sp>
        <p:nvSpPr>
          <p:cNvPr id="174" name="Google Shape;174;p11"/>
          <p:cNvSpPr txBox="1"/>
          <p:nvPr/>
        </p:nvSpPr>
        <p:spPr>
          <a:xfrm>
            <a:off x="1894113" y="2310538"/>
            <a:ext cx="15624485" cy="538474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Database recovery techniques are used in database management systems (DBMS) to restore a database to a consistent state after a failure or error has occurred. The main goal of recovery techniques is to ensure data integrity and consistency and prevent data loss.</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There are mainly two types of recovery techniques used in DBMS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Rollback/Undo Recovery Technique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Commit/Redo Recovery Technique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Checkpoint Recovery Technique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175" name="Google Shape;175;p11"/>
          <p:cNvSpPr txBox="1"/>
          <p:nvPr/>
        </p:nvSpPr>
        <p:spPr>
          <a:xfrm>
            <a:off x="7621418" y="7568983"/>
            <a:ext cx="8772469" cy="1946042"/>
          </a:xfrm>
          <a:prstGeom prst="rect">
            <a:avLst/>
          </a:prstGeom>
          <a:noFill/>
          <a:ln>
            <a:noFill/>
          </a:ln>
        </p:spPr>
        <p:txBody>
          <a:bodyPr spcFirstLastPara="1" wrap="square" lIns="0" tIns="0" rIns="0" bIns="0" anchor="t" anchorCtr="0">
            <a:spAutoFit/>
          </a:bodyPr>
          <a:lstStyle/>
          <a:p>
            <a:pPr marL="0" marR="0" lvl="0" indent="0" algn="ctr" rtl="0">
              <a:lnSpc>
                <a:spcPct val="108002"/>
              </a:lnSpc>
              <a:spcBef>
                <a:spcPts val="0"/>
              </a:spcBef>
              <a:spcAft>
                <a:spcPts val="0"/>
              </a:spcAft>
              <a:buNone/>
            </a:pPr>
            <a:r>
              <a:rPr lang="en-US" sz="13770" dirty="0">
                <a:solidFill>
                  <a:srgbClr val="000000"/>
                </a:solidFill>
                <a:latin typeface="Rubik Vinyl"/>
                <a:ea typeface="Rubik Vinyl"/>
                <a:cs typeface="Rubik Vinyl"/>
                <a:sym typeface="Rubik Vinyl"/>
              </a:rPr>
              <a:t>Recovery</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81" name="Google Shape;181;p12"/>
          <p:cNvSpPr txBox="1"/>
          <p:nvPr/>
        </p:nvSpPr>
        <p:spPr>
          <a:xfrm>
            <a:off x="3026277" y="878798"/>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Rollback/Undo Recovery Technique</a:t>
            </a:r>
          </a:p>
          <a:p>
            <a:pPr marL="0" marR="0" lvl="0" indent="0" algn="ctr" rtl="0">
              <a:lnSpc>
                <a:spcPct val="108000"/>
              </a:lnSpc>
              <a:spcBef>
                <a:spcPts val="0"/>
              </a:spcBef>
              <a:spcAft>
                <a:spcPts val="0"/>
              </a:spcAft>
              <a:buNone/>
            </a:pPr>
            <a:endParaRPr lang="en-US" dirty="0"/>
          </a:p>
        </p:txBody>
      </p:sp>
      <p:sp>
        <p:nvSpPr>
          <p:cNvPr id="182" name="Google Shape;182;p12"/>
          <p:cNvSpPr txBox="1"/>
          <p:nvPr/>
        </p:nvSpPr>
        <p:spPr>
          <a:xfrm>
            <a:off x="1583780" y="2357940"/>
            <a:ext cx="15120440" cy="478643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rollback/undo recovery technique is based on the principle of backing out or undoing the effects of a transaction that has not been completed successfully due to a system failure or error. This technique is accomplished by undoing the changes made by the transaction using the log records stored in the transaction log. The transaction log contains a record of all the transactions that have been performed on the database. The system uses the log records to undo the changes made by the failed transaction and restore the database to its previous state.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183" name="Google Shape;183;p12"/>
          <p:cNvSpPr/>
          <p:nvPr/>
        </p:nvSpPr>
        <p:spPr>
          <a:xfrm>
            <a:off x="13132364" y="7576457"/>
            <a:ext cx="3571856" cy="2177436"/>
          </a:xfrm>
          <a:custGeom>
            <a:avLst/>
            <a:gdLst/>
            <a:ahLst/>
            <a:cxnLst/>
            <a:rect l="l" t="t" r="r" b="b"/>
            <a:pathLst>
              <a:path w="3571856" h="3571856" extrusionOk="0">
                <a:moveTo>
                  <a:pt x="0" y="0"/>
                </a:moveTo>
                <a:lnTo>
                  <a:pt x="3571856" y="0"/>
                </a:lnTo>
                <a:lnTo>
                  <a:pt x="3571856" y="3571856"/>
                </a:lnTo>
                <a:lnTo>
                  <a:pt x="0" y="3571856"/>
                </a:lnTo>
                <a:lnTo>
                  <a:pt x="0" y="0"/>
                </a:lnTo>
                <a:close/>
              </a:path>
            </a:pathLst>
          </a:custGeom>
          <a:blipFill rotWithShape="1">
            <a:blip r:embed="rId4">
              <a:alphaModFix/>
            </a:blip>
            <a:stretch>
              <a:fillRect/>
            </a:stretch>
          </a:blipFill>
          <a:ln>
            <a:noFill/>
          </a:ln>
        </p:spPr>
        <p:txBody>
          <a:bodyPr/>
          <a:lstStyle/>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3"/>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89" name="Google Shape;189;p13"/>
          <p:cNvSpPr txBox="1"/>
          <p:nvPr/>
        </p:nvSpPr>
        <p:spPr>
          <a:xfrm>
            <a:off x="2324148" y="860890"/>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Database Recovery</a:t>
            </a:r>
            <a:endParaRPr dirty="0"/>
          </a:p>
        </p:txBody>
      </p:sp>
      <p:sp>
        <p:nvSpPr>
          <p:cNvPr id="190" name="Google Shape;190;p13"/>
          <p:cNvSpPr txBox="1"/>
          <p:nvPr/>
        </p:nvSpPr>
        <p:spPr>
          <a:xfrm>
            <a:off x="1812470" y="1733282"/>
            <a:ext cx="15680301" cy="5384744"/>
          </a:xfrm>
          <a:prstGeom prst="rect">
            <a:avLst/>
          </a:prstGeom>
          <a:noFill/>
          <a:ln>
            <a:noFill/>
          </a:ln>
        </p:spPr>
        <p:txBody>
          <a:bodyPr spcFirstLastPara="1" wrap="square" lIns="0" tIns="0" rIns="0" bIns="0" anchor="t" anchorCtr="0">
            <a:spAutoFit/>
          </a:bodyPr>
          <a:lstStyle/>
          <a:p>
            <a:pPr marL="0" marR="0" lvl="0" indent="0" algn="just" rtl="0">
              <a:lnSpc>
                <a:spcPct val="216000"/>
              </a:lnSpc>
              <a:spcBef>
                <a:spcPts val="0"/>
              </a:spcBef>
              <a:spcAft>
                <a:spcPts val="0"/>
              </a:spcAft>
              <a:buNone/>
            </a:pPr>
            <a:endParaRPr sz="1800" dirty="0">
              <a:solidFill>
                <a:schemeClr val="dk1"/>
              </a:solidFill>
              <a:latin typeface="Calibri"/>
              <a:ea typeface="Calibri"/>
              <a:cs typeface="Calibri"/>
              <a:sym typeface="Calibri"/>
            </a:endParaRPr>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Commit/Redo Recovery Technique</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commit/redo recovery technique is based on the principle of reapplying the changes made by a transaction that has been completed successfully to the database. This technique is accomplished by using the log records stored in the transaction log to redo the changes made by the transaction that was in progress at the time of the failure or error. The system uses the log records to reapply the changes made by the transaction and restore the database to its most recent consistent state.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191" name="Google Shape;191;p13"/>
          <p:cNvSpPr txBox="1"/>
          <p:nvPr/>
        </p:nvSpPr>
        <p:spPr>
          <a:xfrm>
            <a:off x="10163412" y="7425188"/>
            <a:ext cx="6837752" cy="1861665"/>
          </a:xfrm>
          <a:prstGeom prst="rect">
            <a:avLst/>
          </a:prstGeom>
          <a:noFill/>
          <a:ln>
            <a:noFill/>
          </a:ln>
        </p:spPr>
        <p:txBody>
          <a:bodyPr spcFirstLastPara="1" wrap="square" lIns="0" tIns="0" rIns="0" bIns="0" anchor="t" anchorCtr="0">
            <a:spAutoFit/>
          </a:bodyPr>
          <a:lstStyle/>
          <a:p>
            <a:pPr marL="0" marR="0" lvl="0" indent="0" algn="ctr" rtl="0">
              <a:lnSpc>
                <a:spcPct val="108007"/>
              </a:lnSpc>
              <a:spcBef>
                <a:spcPts val="0"/>
              </a:spcBef>
              <a:spcAft>
                <a:spcPts val="0"/>
              </a:spcAft>
              <a:buNone/>
            </a:pPr>
            <a:r>
              <a:rPr lang="en-US" sz="13112" dirty="0">
                <a:solidFill>
                  <a:srgbClr val="000000"/>
                </a:solidFill>
                <a:latin typeface="Rubik Vinyl"/>
                <a:ea typeface="Rubik Vinyl"/>
                <a:cs typeface="Rubik Vinyl"/>
                <a:sym typeface="Rubik Vinyl"/>
              </a:rPr>
              <a:t>Commit</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97" name="Google Shape;197;p14"/>
          <p:cNvSpPr txBox="1"/>
          <p:nvPr/>
        </p:nvSpPr>
        <p:spPr>
          <a:xfrm>
            <a:off x="3037829" y="1033232"/>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Checkpoint Recovery Technique</a:t>
            </a:r>
          </a:p>
          <a:p>
            <a:pPr marL="0" marR="0" lvl="0" indent="0" algn="l" rtl="0">
              <a:lnSpc>
                <a:spcPct val="108000"/>
              </a:lnSpc>
              <a:spcBef>
                <a:spcPts val="0"/>
              </a:spcBef>
              <a:spcAft>
                <a:spcPts val="0"/>
              </a:spcAft>
              <a:buNone/>
            </a:pPr>
            <a:endParaRPr lang="en-US" dirty="0"/>
          </a:p>
        </p:txBody>
      </p:sp>
      <p:sp>
        <p:nvSpPr>
          <p:cNvPr id="198" name="Google Shape;198;p14"/>
          <p:cNvSpPr txBox="1"/>
          <p:nvPr/>
        </p:nvSpPr>
        <p:spPr>
          <a:xfrm>
            <a:off x="1518556" y="2173108"/>
            <a:ext cx="15871373" cy="658135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Checkpoint Recovery is a technique used to improve data integrity and system stability, especially in databases and distributed systems. It entails preserving the system’s state at regular intervals, known as checkpoints, at which all ongoing transactions are either completed or not initiated. This saved state, which includes memory and CPU registers, is kept in stable, non-volatile storage so that it can withstand system crashes. In the event of a breakdown, the system can be restored to the most recent checkpoint, which reduces data loss and downtime. The frequency of checkpoint formation is carefully regulated to decrease system overhead while ensuring that recent data may be restored quickly.</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04" name="Google Shape;204;p15"/>
          <p:cNvSpPr txBox="1"/>
          <p:nvPr/>
        </p:nvSpPr>
        <p:spPr>
          <a:xfrm>
            <a:off x="2949181" y="561700"/>
            <a:ext cx="11932436"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Why do We Need Checkpoints?</a:t>
            </a:r>
          </a:p>
          <a:p>
            <a:pPr marL="0" marR="0" lvl="0" indent="0" algn="l" rtl="0">
              <a:lnSpc>
                <a:spcPct val="108000"/>
              </a:lnSpc>
              <a:spcBef>
                <a:spcPts val="0"/>
              </a:spcBef>
              <a:spcAft>
                <a:spcPts val="0"/>
              </a:spcAft>
              <a:buNone/>
            </a:pPr>
            <a:endParaRPr lang="en-US" dirty="0"/>
          </a:p>
        </p:txBody>
      </p:sp>
      <p:sp>
        <p:nvSpPr>
          <p:cNvPr id="205" name="Google Shape;205;p15"/>
          <p:cNvSpPr/>
          <p:nvPr/>
        </p:nvSpPr>
        <p:spPr>
          <a:xfrm>
            <a:off x="11164704" y="6161279"/>
            <a:ext cx="6466691" cy="3353263"/>
          </a:xfrm>
          <a:custGeom>
            <a:avLst/>
            <a:gdLst/>
            <a:ahLst/>
            <a:cxnLst/>
            <a:rect l="l" t="t" r="r" b="b"/>
            <a:pathLst>
              <a:path w="6466691" h="3814448" extrusionOk="0">
                <a:moveTo>
                  <a:pt x="0" y="0"/>
                </a:moveTo>
                <a:lnTo>
                  <a:pt x="6466691" y="0"/>
                </a:lnTo>
                <a:lnTo>
                  <a:pt x="6466691" y="3814448"/>
                </a:lnTo>
                <a:lnTo>
                  <a:pt x="0" y="3814448"/>
                </a:lnTo>
                <a:lnTo>
                  <a:pt x="0" y="0"/>
                </a:lnTo>
                <a:close/>
              </a:path>
            </a:pathLst>
          </a:custGeom>
          <a:blipFill rotWithShape="1">
            <a:blip r:embed="rId4">
              <a:alphaModFix/>
            </a:blip>
            <a:stretch>
              <a:fillRect l="-21552" r="-9770" b="-8461"/>
            </a:stretch>
          </a:blipFill>
          <a:ln>
            <a:noFill/>
          </a:ln>
        </p:spPr>
      </p:sp>
      <p:sp>
        <p:nvSpPr>
          <p:cNvPr id="206" name="Google Shape;206;p15"/>
          <p:cNvSpPr txBox="1"/>
          <p:nvPr/>
        </p:nvSpPr>
        <p:spPr>
          <a:xfrm>
            <a:off x="1469570" y="1824803"/>
            <a:ext cx="14891659" cy="418813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Whenever transaction logs are created in a real-time environment, it eats up lots of storage space. Also keeping track of every update and its maintenance may increase the physical space of the system. Eventually, the transaction log file may not be handled as the size keeps growing. This can be addressed with checkpoints. The methodology utilized for removing all previous transaction logs and storing them in permanent storage is called a Checkpoint. </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207" name="Google Shape;207;p15"/>
          <p:cNvSpPr txBox="1"/>
          <p:nvPr/>
        </p:nvSpPr>
        <p:spPr>
          <a:xfrm>
            <a:off x="1583871" y="5595131"/>
            <a:ext cx="9208738" cy="418813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Steps to Use Checkpoints in the Database</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Write the </a:t>
            </a:r>
            <a:r>
              <a:rPr lang="en-US" sz="3600" b="0" i="0" u="none" strike="noStrike" cap="none" dirty="0" err="1">
                <a:solidFill>
                  <a:srgbClr val="000000"/>
                </a:solidFill>
                <a:latin typeface="Times New Roman"/>
                <a:ea typeface="Times New Roman"/>
                <a:cs typeface="Times New Roman"/>
                <a:sym typeface="Times New Roman"/>
              </a:rPr>
              <a:t>begin_checkpoint</a:t>
            </a:r>
            <a:r>
              <a:rPr lang="en-US" sz="3600" b="0" i="0" u="none" strike="noStrike" cap="none" dirty="0">
                <a:solidFill>
                  <a:srgbClr val="000000"/>
                </a:solidFill>
                <a:latin typeface="Times New Roman"/>
                <a:ea typeface="Times New Roman"/>
                <a:cs typeface="Times New Roman"/>
                <a:sym typeface="Times New Roman"/>
              </a:rPr>
              <a:t> record into a log.</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Collect checkpoint data in stable storage.</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Write the </a:t>
            </a:r>
            <a:r>
              <a:rPr lang="en-US" sz="3600" b="0" i="0" u="none" strike="noStrike" cap="none" dirty="0" err="1">
                <a:solidFill>
                  <a:srgbClr val="000000"/>
                </a:solidFill>
                <a:latin typeface="Times New Roman"/>
                <a:ea typeface="Times New Roman"/>
                <a:cs typeface="Times New Roman"/>
                <a:sym typeface="Times New Roman"/>
              </a:rPr>
              <a:t>end_checkpoint</a:t>
            </a:r>
            <a:r>
              <a:rPr lang="en-US" sz="3600" b="0" i="0" u="none" strike="noStrike" cap="none" dirty="0">
                <a:solidFill>
                  <a:srgbClr val="000000"/>
                </a:solidFill>
                <a:latin typeface="Times New Roman"/>
                <a:ea typeface="Times New Roman"/>
                <a:cs typeface="Times New Roman"/>
                <a:sym typeface="Times New Roman"/>
              </a:rPr>
              <a:t> record into a log.</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behavior when the system crashes and recovers when concurrent transactions are executed is shown below:</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13" name="Google Shape;213;p16"/>
          <p:cNvSpPr txBox="1"/>
          <p:nvPr/>
        </p:nvSpPr>
        <p:spPr>
          <a:xfrm>
            <a:off x="2144534" y="848175"/>
            <a:ext cx="15196409" cy="1130181"/>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5400" b="1" dirty="0">
                <a:solidFill>
                  <a:srgbClr val="C00000"/>
                </a:solidFill>
                <a:latin typeface="Times"/>
                <a:ea typeface="Times"/>
                <a:cs typeface="Times"/>
                <a:sym typeface="Times"/>
              </a:rPr>
              <a:t>Transactions and operations of the above diagram:</a:t>
            </a:r>
          </a:p>
          <a:p>
            <a:pPr marL="0" marR="0" lvl="0" indent="0" algn="l" rtl="0">
              <a:lnSpc>
                <a:spcPct val="108000"/>
              </a:lnSpc>
              <a:spcBef>
                <a:spcPts val="0"/>
              </a:spcBef>
              <a:spcAft>
                <a:spcPts val="0"/>
              </a:spcAft>
              <a:buNone/>
            </a:pPr>
            <a:endParaRPr lang="en-US" dirty="0"/>
          </a:p>
        </p:txBody>
      </p:sp>
      <p:sp>
        <p:nvSpPr>
          <p:cNvPr id="214" name="Google Shape;214;p16"/>
          <p:cNvSpPr/>
          <p:nvPr/>
        </p:nvSpPr>
        <p:spPr>
          <a:xfrm>
            <a:off x="10566625" y="2533495"/>
            <a:ext cx="6921488" cy="6232173"/>
          </a:xfrm>
          <a:custGeom>
            <a:avLst/>
            <a:gdLst/>
            <a:ahLst/>
            <a:cxnLst/>
            <a:rect l="l" t="t" r="r" b="b"/>
            <a:pathLst>
              <a:path w="7360432" h="5787140" extrusionOk="0">
                <a:moveTo>
                  <a:pt x="0" y="0"/>
                </a:moveTo>
                <a:lnTo>
                  <a:pt x="7360433" y="0"/>
                </a:lnTo>
                <a:lnTo>
                  <a:pt x="7360433" y="5787140"/>
                </a:lnTo>
                <a:lnTo>
                  <a:pt x="0" y="5787140"/>
                </a:lnTo>
                <a:lnTo>
                  <a:pt x="0" y="0"/>
                </a:lnTo>
                <a:close/>
              </a:path>
            </a:pathLst>
          </a:custGeom>
          <a:blipFill rotWithShape="1">
            <a:blip r:embed="rId4">
              <a:alphaModFix/>
            </a:blip>
            <a:stretch>
              <a:fillRect/>
            </a:stretch>
          </a:blipFill>
          <a:ln>
            <a:noFill/>
          </a:ln>
        </p:spPr>
      </p:sp>
      <p:sp>
        <p:nvSpPr>
          <p:cNvPr id="216" name="Google Shape;216;p16"/>
          <p:cNvSpPr txBox="1"/>
          <p:nvPr/>
        </p:nvSpPr>
        <p:spPr>
          <a:xfrm>
            <a:off x="1469571" y="2458709"/>
            <a:ext cx="8644726" cy="6381747"/>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The recovery system reads the logs backward from the end to the last checkpoint i.e. from T4 to T1.</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It will keep track of two lists – Undo and Redo.</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Whenever there is a log with instructions &lt;Tn, start&gt;and &lt;Tn, commit&gt; or only &lt;Tn, commit&gt; then it will put that transaction in Redo List. T2 and T3 contain &lt;Tn, Start&gt; and &lt;Tn, Commit&gt; whereas T1 will have only &lt;Tn, Commit&gt;. Here, T1, T2, and T3 are in the redo list.</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Whenever a log record with no instruction of commit or abort is found, that transaction is put to Undo List &lt;Here, T4 has &lt;Tn, Start&gt; but no &lt;Tn, co</a:t>
            </a:r>
            <a:endParaRPr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7"/>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22" name="Google Shape;222;p17"/>
          <p:cNvSpPr txBox="1"/>
          <p:nvPr/>
        </p:nvSpPr>
        <p:spPr>
          <a:xfrm>
            <a:off x="1589363" y="770531"/>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Checkpoints</a:t>
            </a:r>
          </a:p>
          <a:p>
            <a:pPr marL="0" marR="0" lvl="0" indent="0" algn="l" rtl="0">
              <a:lnSpc>
                <a:spcPct val="108000"/>
              </a:lnSpc>
              <a:spcBef>
                <a:spcPts val="0"/>
              </a:spcBef>
              <a:spcAft>
                <a:spcPts val="0"/>
              </a:spcAft>
              <a:buNone/>
            </a:pPr>
            <a:endParaRPr lang="en-US" dirty="0"/>
          </a:p>
        </p:txBody>
      </p:sp>
      <p:sp>
        <p:nvSpPr>
          <p:cNvPr id="223" name="Google Shape;223;p17"/>
          <p:cNvSpPr txBox="1"/>
          <p:nvPr/>
        </p:nvSpPr>
        <p:spPr>
          <a:xfrm>
            <a:off x="1589362" y="2033634"/>
            <a:ext cx="15903410" cy="179491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There are basically two main types of Checkpoints:</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Automatic Checkpoint</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Manual Checkpoint</a:t>
            </a:r>
            <a:endParaRPr dirty="0"/>
          </a:p>
        </p:txBody>
      </p:sp>
      <p:sp>
        <p:nvSpPr>
          <p:cNvPr id="224" name="Google Shape;224;p17"/>
          <p:cNvSpPr txBox="1"/>
          <p:nvPr/>
        </p:nvSpPr>
        <p:spPr>
          <a:xfrm>
            <a:off x="1589363" y="4209979"/>
            <a:ext cx="15903410" cy="478643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1. Automatic Checkpoint:</a:t>
            </a:r>
            <a:r>
              <a:rPr lang="en-US" sz="3600" dirty="0">
                <a:solidFill>
                  <a:srgbClr val="000000"/>
                </a:solidFill>
                <a:latin typeface="Times New Roman"/>
                <a:ea typeface="Times New Roman"/>
                <a:cs typeface="Times New Roman"/>
                <a:sym typeface="Times New Roman"/>
              </a:rPr>
              <a:t> These checkpoints occur very frequently like every hour or every day. These intervals are set by the database administrator. They are generally used by heavy databases as they are frequently updated, and we can recover the data easily in case of failure.</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2. Manual Checkpoint:</a:t>
            </a:r>
            <a:r>
              <a:rPr lang="en-US" sz="3600" dirty="0">
                <a:solidFill>
                  <a:srgbClr val="000000"/>
                </a:solidFill>
                <a:latin typeface="Times New Roman"/>
                <a:ea typeface="Times New Roman"/>
                <a:cs typeface="Times New Roman"/>
                <a:sym typeface="Times New Roman"/>
              </a:rPr>
              <a:t> These are the checkpoints that are manually set by the database administrator. Manual checkpoints are generally used for smaller databases. They are updated very less frequently only when they are set by the database administrator.</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30" name="Google Shape;230;p18"/>
          <p:cNvSpPr txBox="1"/>
          <p:nvPr/>
        </p:nvSpPr>
        <p:spPr>
          <a:xfrm>
            <a:off x="2781348" y="770531"/>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Advantages of Checkpoints</a:t>
            </a:r>
          </a:p>
          <a:p>
            <a:pPr marL="0" marR="0" lvl="0" indent="0" algn="l" rtl="0">
              <a:lnSpc>
                <a:spcPct val="108000"/>
              </a:lnSpc>
              <a:spcBef>
                <a:spcPts val="0"/>
              </a:spcBef>
              <a:spcAft>
                <a:spcPts val="0"/>
              </a:spcAft>
              <a:buNone/>
            </a:pPr>
            <a:endParaRPr lang="en-US" dirty="0"/>
          </a:p>
        </p:txBody>
      </p:sp>
      <p:sp>
        <p:nvSpPr>
          <p:cNvPr id="231" name="Google Shape;231;p18"/>
          <p:cNvSpPr txBox="1"/>
          <p:nvPr/>
        </p:nvSpPr>
        <p:spPr>
          <a:xfrm>
            <a:off x="979714" y="2033634"/>
            <a:ext cx="16279586" cy="7445372"/>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Checkpoints help us in recovering the transaction of the database in case of a random shutdown of the database.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It enhancing the consistency of the database in case when multiple transactions are executing in the database simultaneously.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It increasing the data recovery process.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Checkpoints work as a synchronization point between the database and the transaction log file in the database.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Checkpoint records in the log file are used to prevent unnecessary redo operations.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Since dirty pages are flushed out continuously in the background, it has a very low overhead and can be done frequently.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Checkpoints provide the baseline information needed for the restoration of the lost state in the event of a system failure.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A database checkpoint keeps track of change information and enables incremental database backup. </a:t>
            </a:r>
            <a:endParaRPr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37" name="Google Shape;237;p19"/>
          <p:cNvSpPr txBox="1"/>
          <p:nvPr/>
        </p:nvSpPr>
        <p:spPr>
          <a:xfrm>
            <a:off x="2144534" y="862947"/>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Disadvantages of Checkpoints</a:t>
            </a:r>
          </a:p>
          <a:p>
            <a:pPr marL="0" marR="0" lvl="0" indent="0" algn="l" rtl="0">
              <a:lnSpc>
                <a:spcPct val="108000"/>
              </a:lnSpc>
              <a:spcBef>
                <a:spcPts val="0"/>
              </a:spcBef>
              <a:spcAft>
                <a:spcPts val="0"/>
              </a:spcAft>
              <a:buNone/>
            </a:pPr>
            <a:endParaRPr lang="en-US" dirty="0"/>
          </a:p>
        </p:txBody>
      </p:sp>
      <p:sp>
        <p:nvSpPr>
          <p:cNvPr id="239" name="Google Shape;239;p19"/>
          <p:cNvSpPr txBox="1"/>
          <p:nvPr/>
        </p:nvSpPr>
        <p:spPr>
          <a:xfrm>
            <a:off x="2144534" y="2449286"/>
            <a:ext cx="13041037" cy="358982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1. Database storage checkpoints can only be used to restore from logical errors (E.g. a human error).</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2. Because all the data blocks are on the same physical device, database storage checkpoints cannot be used to restore files due to a media failure.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45" name="Google Shape;245;p20"/>
          <p:cNvSpPr txBox="1"/>
          <p:nvPr/>
        </p:nvSpPr>
        <p:spPr>
          <a:xfrm>
            <a:off x="1932263" y="794068"/>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Shadow Paging</a:t>
            </a:r>
            <a:endParaRPr dirty="0"/>
          </a:p>
        </p:txBody>
      </p:sp>
      <p:sp>
        <p:nvSpPr>
          <p:cNvPr id="247" name="Google Shape;247;p20"/>
          <p:cNvSpPr txBox="1"/>
          <p:nvPr/>
        </p:nvSpPr>
        <p:spPr>
          <a:xfrm>
            <a:off x="1779814" y="1940000"/>
            <a:ext cx="15397844" cy="179491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Shadow paging is a database recovery technique that ensures atomicity and durability without the need for a log. It works by maintaining two versions of the database: the current page table and the shadow page table.</a:t>
            </a:r>
            <a:endParaRPr dirty="0"/>
          </a:p>
        </p:txBody>
      </p:sp>
      <p:sp>
        <p:nvSpPr>
          <p:cNvPr id="248" name="Google Shape;248;p20"/>
          <p:cNvSpPr txBox="1"/>
          <p:nvPr/>
        </p:nvSpPr>
        <p:spPr>
          <a:xfrm>
            <a:off x="1779814" y="4019433"/>
            <a:ext cx="15681673" cy="598304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How it Works:</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Shadow Page Table:</a:t>
            </a:r>
            <a:r>
              <a:rPr lang="en-US" sz="3600" dirty="0">
                <a:solidFill>
                  <a:srgbClr val="000000"/>
                </a:solidFill>
                <a:latin typeface="Times New Roman"/>
                <a:ea typeface="Times New Roman"/>
                <a:cs typeface="Times New Roman"/>
                <a:sym typeface="Times New Roman"/>
              </a:rPr>
              <a:t> A copy of the database page table is created before any updates are made. This shadow page table remains unchanged during the transaction.</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Current Page Table:</a:t>
            </a:r>
            <a:r>
              <a:rPr lang="en-US" sz="3600" dirty="0">
                <a:solidFill>
                  <a:srgbClr val="000000"/>
                </a:solidFill>
                <a:latin typeface="Times New Roman"/>
                <a:ea typeface="Times New Roman"/>
                <a:cs typeface="Times New Roman"/>
                <a:sym typeface="Times New Roman"/>
              </a:rPr>
              <a:t> Updates are made to the current page table, pointing to the updated data pages. The original data pages remain intact until the transaction commits.</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Commit Process:</a:t>
            </a:r>
            <a:r>
              <a:rPr lang="en-US" sz="3600" dirty="0">
                <a:solidFill>
                  <a:srgbClr val="000000"/>
                </a:solidFill>
                <a:latin typeface="Times New Roman"/>
                <a:ea typeface="Times New Roman"/>
                <a:cs typeface="Times New Roman"/>
                <a:sym typeface="Times New Roman"/>
              </a:rPr>
              <a:t> Once the transaction commits, the shadow page table is replaced with the current page table.</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Failure Handling:</a:t>
            </a:r>
            <a:r>
              <a:rPr lang="en-US" sz="3600" dirty="0">
                <a:solidFill>
                  <a:srgbClr val="000000"/>
                </a:solidFill>
                <a:latin typeface="Times New Roman"/>
                <a:ea typeface="Times New Roman"/>
                <a:cs typeface="Times New Roman"/>
                <a:sym typeface="Times New Roman"/>
              </a:rPr>
              <a:t> If a failure occurs, the shadow page table is used to restore the database to its previous state.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55" name="Google Shape;255;p21"/>
          <p:cNvSpPr/>
          <p:nvPr/>
        </p:nvSpPr>
        <p:spPr>
          <a:xfrm>
            <a:off x="10865770" y="2411824"/>
            <a:ext cx="6843459" cy="4586955"/>
          </a:xfrm>
          <a:custGeom>
            <a:avLst/>
            <a:gdLst/>
            <a:ahLst/>
            <a:cxnLst/>
            <a:rect l="l" t="t" r="r" b="b"/>
            <a:pathLst>
              <a:path w="6843459" h="4586955" extrusionOk="0">
                <a:moveTo>
                  <a:pt x="0" y="0"/>
                </a:moveTo>
                <a:lnTo>
                  <a:pt x="6843460" y="0"/>
                </a:lnTo>
                <a:lnTo>
                  <a:pt x="6843460" y="4586956"/>
                </a:lnTo>
                <a:lnTo>
                  <a:pt x="0" y="4586956"/>
                </a:lnTo>
                <a:lnTo>
                  <a:pt x="0" y="0"/>
                </a:lnTo>
                <a:close/>
              </a:path>
            </a:pathLst>
          </a:custGeom>
          <a:blipFill rotWithShape="1">
            <a:blip r:embed="rId4">
              <a:alphaModFix/>
            </a:blip>
            <a:stretch>
              <a:fillRect l="-29967" t="-37891" r="-30458" b="-16785"/>
            </a:stretch>
          </a:blipFill>
          <a:ln>
            <a:noFill/>
          </a:ln>
        </p:spPr>
      </p:sp>
      <p:sp>
        <p:nvSpPr>
          <p:cNvPr id="256" name="Google Shape;256;p21"/>
          <p:cNvSpPr txBox="1"/>
          <p:nvPr/>
        </p:nvSpPr>
        <p:spPr>
          <a:xfrm>
            <a:off x="1641191" y="1597432"/>
            <a:ext cx="8645809" cy="6215741"/>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Advantages: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No logging is required.</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Provides fast recovery by simply reverting to the shadow page table.</a:t>
            </a:r>
          </a:p>
          <a:p>
            <a:pPr marL="777240" marR="0" lvl="1" indent="-388620" algn="just" rtl="0">
              <a:lnSpc>
                <a:spcPct val="108000"/>
              </a:lnSpc>
              <a:spcBef>
                <a:spcPts val="0"/>
              </a:spcBef>
              <a:spcAft>
                <a:spcPts val="0"/>
              </a:spcAft>
              <a:buClr>
                <a:srgbClr val="000000"/>
              </a:buClr>
              <a:buSzPts val="3600"/>
              <a:buFont typeface="Arial"/>
              <a:buChar char="•"/>
            </a:pPr>
            <a:endParaRPr lang="en-US" sz="3600" dirty="0">
              <a:latin typeface="Times New Roman"/>
              <a:cs typeface="Times New Roman"/>
              <a:sym typeface="Times New Roman"/>
            </a:endParaRPr>
          </a:p>
          <a:p>
            <a:pPr marL="388620" marR="0" lvl="1" algn="just" rtl="0">
              <a:lnSpc>
                <a:spcPct val="108000"/>
              </a:lnSpc>
              <a:spcBef>
                <a:spcPts val="0"/>
              </a:spcBef>
              <a:spcAft>
                <a:spcPts val="0"/>
              </a:spcAft>
              <a:buClr>
                <a:srgbClr val="000000"/>
              </a:buClr>
              <a:buSzPts val="3600"/>
            </a:pP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Disadvantages: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High overhead due to duplication of pages.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Limited scalability for large databases.</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62" name="Google Shape;262;p22"/>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Deferred Update</a:t>
            </a:r>
            <a:endParaRPr dirty="0"/>
          </a:p>
        </p:txBody>
      </p:sp>
      <p:sp>
        <p:nvSpPr>
          <p:cNvPr id="264" name="Google Shape;264;p22"/>
          <p:cNvSpPr txBox="1"/>
          <p:nvPr/>
        </p:nvSpPr>
        <p:spPr>
          <a:xfrm>
            <a:off x="1279120" y="2084402"/>
            <a:ext cx="15784237" cy="691355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Deferred update is a recovery technique where changes made by a transaction are not immediately applied to the database. Instead, they are stored in a log or temporary buffer and applied only after the transaction commits.</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How it Works:</a:t>
            </a:r>
            <a:endParaRPr sz="1200"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Changes are recorded in a log but not written to the database immediately.</a:t>
            </a:r>
            <a:endParaRPr sz="1200"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When the transaction commits, all changes are applied to the database in one go.</a:t>
            </a:r>
            <a:endParaRPr sz="1200"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If a failure occurs before the transaction commits, no changes are applied.</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Advantages: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Simplifies recovery, as uncommitted changes are not applied.</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Ensures data consistency, as only committed transactions modify the database.</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Disadvantages: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Increased delay in applying changes.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Higher memory usage to store uncommitted changes.</a:t>
            </a:r>
            <a:endParaRPr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70" name="Google Shape;270;p23"/>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Immediate Update</a:t>
            </a:r>
            <a:endParaRPr dirty="0"/>
          </a:p>
        </p:txBody>
      </p:sp>
      <p:sp>
        <p:nvSpPr>
          <p:cNvPr id="272" name="Google Shape;272;p23"/>
          <p:cNvSpPr txBox="1"/>
          <p:nvPr/>
        </p:nvSpPr>
        <p:spPr>
          <a:xfrm>
            <a:off x="1507720" y="2003160"/>
            <a:ext cx="15833223" cy="751186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Immediate update is a recovery technique where changes made by a transaction are applied to the database as soon as they occur, even before the transaction commits.</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How it Works:</a:t>
            </a:r>
            <a:endParaRPr sz="1200"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Changes are written to the database immediately after they are performed.</a:t>
            </a:r>
            <a:endParaRPr sz="1200"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Logs are maintained for both undo and redo operations.</a:t>
            </a:r>
            <a:endParaRPr sz="1200" dirty="0"/>
          </a:p>
          <a:p>
            <a:pPr marL="1554480" marR="0" lvl="2" indent="-51816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Undo Log: Reverts changes if the transaction aborts.</a:t>
            </a:r>
            <a:endParaRPr sz="1200" dirty="0"/>
          </a:p>
          <a:p>
            <a:pPr marL="1554480" marR="0" lvl="2" indent="-51816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Redo Log: Reapplies changes if the system crashes after a transaction commits.</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Advantages: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Faster processing as changes are immediately visible.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Reduces delay in making data available.</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Disadvantages: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Complex recovery process, as both undo and redo operations may be required.</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Risk of data inconsistency if a failure occurs during a transaction</a:t>
            </a:r>
            <a:r>
              <a:rPr lang="en-US" sz="3200" dirty="0">
                <a:latin typeface="Times New Roman"/>
                <a:ea typeface="Times New Roman"/>
                <a:cs typeface="Times New Roman"/>
                <a:sym typeface="Times New Roman"/>
              </a:rPr>
              <a:t>.</a:t>
            </a: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78" name="Google Shape;278;p24"/>
          <p:cNvSpPr txBox="1"/>
          <p:nvPr/>
        </p:nvSpPr>
        <p:spPr>
          <a:xfrm>
            <a:off x="2291492" y="589621"/>
            <a:ext cx="12235445" cy="2027671"/>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5400" b="1" dirty="0">
                <a:solidFill>
                  <a:srgbClr val="C00000"/>
                </a:solidFill>
                <a:latin typeface="Times"/>
                <a:ea typeface="Times"/>
                <a:cs typeface="Times"/>
                <a:sym typeface="Times"/>
              </a:rPr>
              <a:t>ARIES (Algorithm for Recovery and Isolation Exploiting Semantics)</a:t>
            </a:r>
          </a:p>
          <a:p>
            <a:pPr marL="0" marR="0" lvl="0" indent="0" algn="l" rtl="0">
              <a:lnSpc>
                <a:spcPct val="108000"/>
              </a:lnSpc>
              <a:spcBef>
                <a:spcPts val="0"/>
              </a:spcBef>
              <a:spcAft>
                <a:spcPts val="0"/>
              </a:spcAft>
              <a:buNone/>
            </a:pPr>
            <a:endParaRPr lang="en-US" dirty="0"/>
          </a:p>
        </p:txBody>
      </p:sp>
      <p:sp>
        <p:nvSpPr>
          <p:cNvPr id="280" name="Google Shape;280;p24"/>
          <p:cNvSpPr txBox="1"/>
          <p:nvPr/>
        </p:nvSpPr>
        <p:spPr>
          <a:xfrm>
            <a:off x="1338943" y="2617292"/>
            <a:ext cx="16099972" cy="6880986"/>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ARIES is a widely used recovery algorithm that ensures database consistency using a combination of Write-Ahead Logging (WAL), checkpoints, and log analysis.</a:t>
            </a:r>
          </a:p>
          <a:p>
            <a:pPr marL="0" marR="0" lvl="0" indent="0" algn="just" rtl="0">
              <a:lnSpc>
                <a:spcPct val="108000"/>
              </a:lnSpc>
              <a:spcBef>
                <a:spcPts val="0"/>
              </a:spcBef>
              <a:spcAft>
                <a:spcPts val="0"/>
              </a:spcAft>
              <a:buNone/>
            </a:pPr>
            <a:endParaRPr sz="1100" dirty="0"/>
          </a:p>
          <a:p>
            <a:pPr marL="0" marR="0" lvl="0" indent="0" algn="just" rtl="0">
              <a:lnSpc>
                <a:spcPct val="108000"/>
              </a:lnSpc>
              <a:spcBef>
                <a:spcPts val="0"/>
              </a:spcBef>
              <a:spcAft>
                <a:spcPts val="0"/>
              </a:spcAft>
              <a:buNone/>
            </a:pPr>
            <a:r>
              <a:rPr lang="en-US" sz="2800" b="1" dirty="0">
                <a:solidFill>
                  <a:srgbClr val="000000"/>
                </a:solidFill>
                <a:latin typeface="Times"/>
                <a:ea typeface="Times"/>
                <a:cs typeface="Times"/>
                <a:sym typeface="Times"/>
              </a:rPr>
              <a:t>Key Features:</a:t>
            </a:r>
          </a:p>
          <a:p>
            <a:pPr marL="0" marR="0" lvl="0" indent="0" algn="just" rtl="0">
              <a:lnSpc>
                <a:spcPct val="108000"/>
              </a:lnSpc>
              <a:spcBef>
                <a:spcPts val="0"/>
              </a:spcBef>
              <a:spcAft>
                <a:spcPts val="0"/>
              </a:spcAft>
              <a:buNone/>
            </a:pPr>
            <a:endParaRPr sz="1100"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2800" b="1" i="0" u="none" strike="noStrike" cap="none" dirty="0">
                <a:solidFill>
                  <a:srgbClr val="000000"/>
                </a:solidFill>
                <a:latin typeface="Times"/>
                <a:ea typeface="Times"/>
                <a:cs typeface="Times"/>
                <a:sym typeface="Times"/>
              </a:rPr>
              <a:t>Write-Ahead Logging (WAL):</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Logs are written before any changes are made to the database.</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Ensures that no changes are permanent until they are logged.</a:t>
            </a:r>
            <a:endParaRPr sz="1100"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2800" b="1" i="0" u="none" strike="noStrike" cap="none" dirty="0">
                <a:solidFill>
                  <a:srgbClr val="000000"/>
                </a:solidFill>
                <a:latin typeface="Times"/>
                <a:ea typeface="Times"/>
                <a:cs typeface="Times"/>
                <a:sym typeface="Times"/>
              </a:rPr>
              <a:t>Three Phases of Recovery:</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Analysis Phase: Scans the logs to identify dirty pages (modified but not written to disk) and active transactions.</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Redo Phase: Reapplies changes of committed transactions to ensure durability.</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Undo Phase: Rolls back changes of uncommitted transactions to ensure atomicity.</a:t>
            </a:r>
            <a:endParaRPr sz="1100"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2800" b="1" i="0" u="none" strike="noStrike" cap="none" dirty="0">
                <a:solidFill>
                  <a:srgbClr val="000000"/>
                </a:solidFill>
                <a:latin typeface="Times"/>
                <a:ea typeface="Times"/>
                <a:cs typeface="Times"/>
                <a:sym typeface="Times"/>
              </a:rPr>
              <a:t>Checkpoints:</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Periodic checkpoints are created to minimize recovery time.</a:t>
            </a:r>
            <a:endParaRPr sz="1100" dirty="0"/>
          </a:p>
          <a:p>
            <a:pPr marL="1554480" marR="0" lvl="2" indent="-518160" algn="just" rtl="0">
              <a:lnSpc>
                <a:spcPct val="108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Times New Roman"/>
                <a:ea typeface="Times New Roman"/>
                <a:cs typeface="Times New Roman"/>
                <a:sym typeface="Times New Roman"/>
              </a:rPr>
              <a:t>Reduces the number of logs that need to be analyzed during recovery.</a:t>
            </a:r>
            <a:endParaRPr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88" name="Google Shape;288;p25"/>
          <p:cNvSpPr txBox="1"/>
          <p:nvPr/>
        </p:nvSpPr>
        <p:spPr>
          <a:xfrm>
            <a:off x="1649186" y="2209078"/>
            <a:ext cx="11168743" cy="591642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4. </a:t>
            </a:r>
            <a:r>
              <a:rPr lang="en-US" sz="3200" b="1" dirty="0">
                <a:solidFill>
                  <a:srgbClr val="000000"/>
                </a:solidFill>
                <a:latin typeface="Times"/>
                <a:ea typeface="Times"/>
                <a:cs typeface="Times"/>
                <a:sym typeface="Times"/>
              </a:rPr>
              <a:t>Transaction Isolation:</a:t>
            </a:r>
            <a:endParaRPr sz="1200" dirty="0"/>
          </a:p>
          <a:p>
            <a:pPr marL="1554480" marR="0" lvl="2" indent="-51816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ARIES uses locking mechanisms to ensure transaction isolation during recovery.</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Advantages: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Efficient and robust for large-scale systems.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Handles both committed and uncommitted transactions.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Reduces recovery time with checkpoints.</a:t>
            </a:r>
            <a:endParaRPr sz="1200" dirty="0"/>
          </a:p>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Disadvantages: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Complex to implement and manage.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High overhead for maintaining logs and checkpoints.</a:t>
            </a:r>
            <a:endParaRPr sz="1200"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289" name="Google Shape;289;p25"/>
          <p:cNvSpPr txBox="1"/>
          <p:nvPr/>
        </p:nvSpPr>
        <p:spPr>
          <a:xfrm>
            <a:off x="13247010" y="4197693"/>
            <a:ext cx="4611908" cy="1601232"/>
          </a:xfrm>
          <a:prstGeom prst="rect">
            <a:avLst/>
          </a:prstGeom>
          <a:noFill/>
          <a:ln>
            <a:noFill/>
          </a:ln>
        </p:spPr>
        <p:txBody>
          <a:bodyPr spcFirstLastPara="1" wrap="square" lIns="0" tIns="0" rIns="0" bIns="0" anchor="t" anchorCtr="0">
            <a:spAutoFit/>
          </a:bodyPr>
          <a:lstStyle/>
          <a:p>
            <a:pPr marL="0" marR="0" lvl="0" indent="0" algn="ctr" rtl="0">
              <a:lnSpc>
                <a:spcPct val="107997"/>
              </a:lnSpc>
              <a:spcBef>
                <a:spcPts val="0"/>
              </a:spcBef>
              <a:spcAft>
                <a:spcPts val="0"/>
              </a:spcAft>
              <a:buNone/>
            </a:pPr>
            <a:r>
              <a:rPr lang="en-US" sz="11316" dirty="0">
                <a:solidFill>
                  <a:srgbClr val="000000"/>
                </a:solidFill>
                <a:latin typeface="Rubik Vinyl"/>
                <a:ea typeface="Rubik Vinyl"/>
                <a:cs typeface="Rubik Vinyl"/>
                <a:sym typeface="Rubik Vinyl"/>
              </a:rPr>
              <a:t>ARIES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95" name="Google Shape;295;p26"/>
          <p:cNvSpPr txBox="1"/>
          <p:nvPr/>
        </p:nvSpPr>
        <p:spPr>
          <a:xfrm>
            <a:off x="2438449" y="76369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Comparison of Techniques</a:t>
            </a:r>
            <a:endParaRPr dirty="0"/>
          </a:p>
        </p:txBody>
      </p:sp>
      <p:sp>
        <p:nvSpPr>
          <p:cNvPr id="296" name="Google Shape;296;p26"/>
          <p:cNvSpPr/>
          <p:nvPr/>
        </p:nvSpPr>
        <p:spPr>
          <a:xfrm>
            <a:off x="2212179" y="2454695"/>
            <a:ext cx="13863641" cy="6735600"/>
          </a:xfrm>
          <a:custGeom>
            <a:avLst/>
            <a:gdLst/>
            <a:ahLst/>
            <a:cxnLst/>
            <a:rect l="l" t="t" r="r" b="b"/>
            <a:pathLst>
              <a:path w="13863641" h="6735600" extrusionOk="0">
                <a:moveTo>
                  <a:pt x="0" y="0"/>
                </a:moveTo>
                <a:lnTo>
                  <a:pt x="13863641" y="0"/>
                </a:lnTo>
                <a:lnTo>
                  <a:pt x="13863641" y="6735600"/>
                </a:lnTo>
                <a:lnTo>
                  <a:pt x="0" y="6735600"/>
                </a:lnTo>
                <a:lnTo>
                  <a:pt x="0" y="0"/>
                </a:lnTo>
                <a:close/>
              </a:path>
            </a:pathLst>
          </a:custGeom>
          <a:blipFill rotWithShape="1">
            <a:blip r:embed="rId4">
              <a:alphaModFix/>
            </a:blip>
            <a:stretch>
              <a:fillRect l="-734" t="-2271" r="-735" b="-1893"/>
            </a:stretch>
          </a:blipFill>
          <a:ln>
            <a:no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03" name="Google Shape;303;p27"/>
          <p:cNvSpPr txBox="1"/>
          <p:nvPr/>
        </p:nvSpPr>
        <p:spPr>
          <a:xfrm>
            <a:off x="2177191" y="734641"/>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Backup Techniques</a:t>
            </a:r>
            <a:endParaRPr dirty="0"/>
          </a:p>
        </p:txBody>
      </p:sp>
      <p:sp>
        <p:nvSpPr>
          <p:cNvPr id="305" name="Google Shape;305;p27"/>
          <p:cNvSpPr txBox="1"/>
          <p:nvPr/>
        </p:nvSpPr>
        <p:spPr>
          <a:xfrm>
            <a:off x="1257300" y="1765051"/>
            <a:ext cx="15821938" cy="7777963"/>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Full database Backup:</a:t>
            </a:r>
            <a:r>
              <a:rPr lang="en-US" sz="3600" b="0" i="0" u="none" strike="noStrike" cap="none" dirty="0">
                <a:solidFill>
                  <a:srgbClr val="000000"/>
                </a:solidFill>
                <a:latin typeface="Times New Roman"/>
                <a:ea typeface="Times New Roman"/>
                <a:cs typeface="Times New Roman"/>
                <a:sym typeface="Times New Roman"/>
              </a:rPr>
              <a:t> In this full database including data and database, Meta information needed to restore the whole database, including full-text catalogs are backed up in a predefined time series.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Differential Backup:</a:t>
            </a:r>
            <a:r>
              <a:rPr lang="en-US" sz="3600" b="0" i="0" u="none" strike="noStrike" cap="none" dirty="0">
                <a:solidFill>
                  <a:srgbClr val="000000"/>
                </a:solidFill>
                <a:latin typeface="Times New Roman"/>
                <a:ea typeface="Times New Roman"/>
                <a:cs typeface="Times New Roman"/>
                <a:sym typeface="Times New Roman"/>
              </a:rPr>
              <a:t> It stores only the data changes that have occurred since the last full database backup. When some data has changed many times since the last full database backup, a differential backup stores the most recent version of the changed data. For this first, we need to restore a full database backup.</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Transaction Log Backup:</a:t>
            </a:r>
            <a:r>
              <a:rPr lang="en-US" sz="3600" b="0" i="0" u="none" strike="noStrike" cap="none" dirty="0">
                <a:solidFill>
                  <a:srgbClr val="000000"/>
                </a:solidFill>
                <a:latin typeface="Times New Roman"/>
                <a:ea typeface="Times New Roman"/>
                <a:cs typeface="Times New Roman"/>
                <a:sym typeface="Times New Roman"/>
              </a:rPr>
              <a:t> In this, all events that have occurred in the database, like a record of every single statement executed is backed up. It is the backup of transaction log entries and contains all transactions that had happened to the database. Through this, the database can be recovered to a specific point in time. It is even possible to perform a backup from a transaction log if the data files are destroyed and not even a single committed transaction is lost.</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11" name="Google Shape;311;p28"/>
          <p:cNvSpPr txBox="1"/>
          <p:nvPr/>
        </p:nvSpPr>
        <p:spPr>
          <a:xfrm>
            <a:off x="3992728" y="3895736"/>
            <a:ext cx="10302544" cy="2238353"/>
          </a:xfrm>
          <a:prstGeom prst="rect">
            <a:avLst/>
          </a:prstGeom>
          <a:noFill/>
          <a:ln>
            <a:noFill/>
          </a:ln>
        </p:spPr>
        <p:txBody>
          <a:bodyPr spcFirstLastPara="1" wrap="square" lIns="0" tIns="0" rIns="0" bIns="0" anchor="t" anchorCtr="0">
            <a:spAutoFit/>
          </a:bodyPr>
          <a:lstStyle/>
          <a:p>
            <a:pPr marL="0" marR="0" lvl="0" indent="0" algn="ctr" rtl="0">
              <a:lnSpc>
                <a:spcPct val="119995"/>
              </a:lnSpc>
              <a:spcBef>
                <a:spcPts val="0"/>
              </a:spcBef>
              <a:spcAft>
                <a:spcPts val="0"/>
              </a:spcAft>
              <a:buNone/>
            </a:pPr>
            <a:r>
              <a:rPr lang="en-US" sz="13038" b="1">
                <a:solidFill>
                  <a:srgbClr val="C00000"/>
                </a:solidFill>
                <a:latin typeface="Arial"/>
                <a:ea typeface="Arial"/>
                <a:cs typeface="Arial"/>
                <a:sym typeface="Arial"/>
              </a:rPr>
              <a:t>THANK YOU </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2703</Words>
  <Application>Microsoft Office PowerPoint</Application>
  <PresentationFormat>Custom</PresentationFormat>
  <Paragraphs>190</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Times</vt:lpstr>
      <vt:lpstr>Arial</vt:lpstr>
      <vt:lpstr>Arimo</vt:lpstr>
      <vt:lpstr>Calibri</vt:lpstr>
      <vt:lpstr>Times New Roman</vt:lpstr>
      <vt:lpstr>Rubik Vinyl</vt:lpstr>
      <vt:lpstr>Arial Rounded</vt:lpstr>
      <vt:lpstr>Office Theme</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dell</cp:lastModifiedBy>
  <cp:revision>3</cp:revision>
  <dcterms:created xsi:type="dcterms:W3CDTF">2006-08-16T00:00:00Z</dcterms:created>
  <dcterms:modified xsi:type="dcterms:W3CDTF">2025-02-28T10:11:05Z</dcterms:modified>
</cp:coreProperties>
</file>