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  <p:sldMasterId id="2147483690" r:id="rId3"/>
  </p:sldMasterIdLst>
  <p:notesMasterIdLst>
    <p:notesMasterId r:id="rId32"/>
  </p:notesMasterIdLst>
  <p:sldIdLst>
    <p:sldId id="274" r:id="rId4"/>
    <p:sldId id="305" r:id="rId5"/>
    <p:sldId id="306" r:id="rId6"/>
    <p:sldId id="275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8" r:id="rId15"/>
    <p:sldId id="289" r:id="rId16"/>
    <p:sldId id="290" r:id="rId17"/>
    <p:sldId id="302" r:id="rId18"/>
    <p:sldId id="301" r:id="rId19"/>
    <p:sldId id="284" r:id="rId20"/>
    <p:sldId id="286" r:id="rId21"/>
    <p:sldId id="291" r:id="rId22"/>
    <p:sldId id="299" r:id="rId23"/>
    <p:sldId id="303" r:id="rId24"/>
    <p:sldId id="292" r:id="rId25"/>
    <p:sldId id="296" r:id="rId26"/>
    <p:sldId id="297" r:id="rId27"/>
    <p:sldId id="295" r:id="rId28"/>
    <p:sldId id="307" r:id="rId29"/>
    <p:sldId id="272" r:id="rId30"/>
    <p:sldId id="273" r:id="rId31"/>
  </p:sldIdLst>
  <p:sldSz cx="9144000" cy="5143500" type="screen16x9"/>
  <p:notesSz cx="6858000" cy="9144000"/>
  <p:defaultTextStyle>
    <a:defPPr>
      <a:defRPr lang="en-US"/>
    </a:defPPr>
    <a:lvl1pPr marL="0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6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33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98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64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29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95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60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26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184" autoAdjust="0"/>
  </p:normalViewPr>
  <p:slideViewPr>
    <p:cSldViewPr>
      <p:cViewPr varScale="1">
        <p:scale>
          <a:sx n="98" d="100"/>
          <a:sy n="98" d="100"/>
        </p:scale>
        <p:origin x="576" y="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AEB381-64C1-424E-8FC1-548ABF342418}" type="datetimeFigureOut">
              <a:rPr lang="en-IN" smtClean="0"/>
              <a:pPr/>
              <a:t>28-06-2023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87A68-5CD7-4B7E-95FC-906DDDECA18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1513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920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IN" altLang="en-US" dirty="0" smtClean="0"/>
          </a:p>
        </p:txBody>
      </p:sp>
      <p:sp>
        <p:nvSpPr>
          <p:cNvPr id="179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F1BD6A1-B9F7-4FDF-9535-FB9238559347}" type="slidenum">
              <a:rPr lang="en-US" altLang="en-US" sz="1200" smtClean="0"/>
              <a:pPr/>
              <a:t>1</a:t>
            </a:fld>
            <a:endParaRPr lang="en-US" altLang="en-US" sz="1200" dirty="0" smtClean="0"/>
          </a:p>
        </p:txBody>
      </p:sp>
    </p:spTree>
    <p:extLst>
      <p:ext uri="{BB962C8B-B14F-4D97-AF65-F5344CB8AC3E}">
        <p14:creationId xmlns:p14="http://schemas.microsoft.com/office/powerpoint/2010/main" val="3459901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87A68-5CD7-4B7E-95FC-906DDDECA186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632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algn="just">
              <a:buFont typeface="+mj-lt"/>
              <a:buAutoNum type="arabicPeriod"/>
            </a:pPr>
            <a:r>
              <a:rPr lang="en-US" b="1" dirty="0" smtClean="0"/>
              <a:t>Triggering Event or Statement:</a:t>
            </a:r>
            <a:r>
              <a:rPr lang="en-US" dirty="0" smtClean="0"/>
              <a:t> </a:t>
            </a:r>
          </a:p>
          <a:p>
            <a:pPr marL="0" indent="0" algn="just">
              <a:buFont typeface="+mj-lt"/>
              <a:buNone/>
            </a:pPr>
            <a:r>
              <a:rPr lang="en-US" dirty="0" smtClean="0"/>
              <a:t>     The statements due to which a trigger occurs is called triggering event or statement. </a:t>
            </a:r>
          </a:p>
          <a:p>
            <a:pPr marL="0" indent="0" algn="just">
              <a:buFont typeface="+mj-lt"/>
              <a:buNone/>
            </a:pPr>
            <a:r>
              <a:rPr lang="en-US" dirty="0" smtClean="0"/>
              <a:t>     Such statements can be DDL statements, DML statements or any database operation, executing which gives rise to a trigger.</a:t>
            </a:r>
          </a:p>
          <a:p>
            <a:pPr marL="0" indent="0" algn="just">
              <a:buFont typeface="+mj-lt"/>
              <a:buNone/>
            </a:pPr>
            <a:endParaRPr lang="en-US" b="1" dirty="0" smtClean="0"/>
          </a:p>
          <a:p>
            <a:pPr marL="0" indent="0" algn="just">
              <a:buFont typeface="+mj-lt"/>
              <a:buNone/>
            </a:pPr>
            <a:r>
              <a:rPr lang="en-US" b="1" dirty="0" smtClean="0"/>
              <a:t>2. Trigger Restriction:</a:t>
            </a:r>
            <a:r>
              <a:rPr lang="en-US" dirty="0" smtClean="0"/>
              <a:t> </a:t>
            </a:r>
          </a:p>
          <a:p>
            <a:pPr marL="0" indent="0" algn="just">
              <a:buFont typeface="+mj-lt"/>
              <a:buNone/>
            </a:pPr>
            <a:r>
              <a:rPr lang="en-US" dirty="0" smtClean="0"/>
              <a:t>    The condition or any limitation applied on the trigger is called trigger restriction. </a:t>
            </a:r>
          </a:p>
          <a:p>
            <a:pPr marL="0" indent="0" algn="just">
              <a:buFont typeface="+mj-lt"/>
              <a:buNone/>
            </a:pPr>
            <a:r>
              <a:rPr lang="en-US" dirty="0" smtClean="0"/>
              <a:t>    Thus, if such a condition is </a:t>
            </a:r>
            <a:r>
              <a:rPr lang="en-US" b="1" dirty="0" smtClean="0"/>
              <a:t>TRUE</a:t>
            </a:r>
            <a:r>
              <a:rPr lang="en-US" dirty="0" smtClean="0"/>
              <a:t> then trigger occurs otherwise it does not occur.</a:t>
            </a:r>
          </a:p>
          <a:p>
            <a:pPr marL="0" indent="0" algn="just">
              <a:buFont typeface="+mj-lt"/>
              <a:buNone/>
            </a:pPr>
            <a:endParaRPr lang="en-US" b="1" dirty="0" smtClean="0"/>
          </a:p>
          <a:p>
            <a:pPr marL="0" indent="0" algn="just">
              <a:buFont typeface="+mj-lt"/>
              <a:buNone/>
            </a:pPr>
            <a:r>
              <a:rPr lang="en-US" b="1" dirty="0" smtClean="0"/>
              <a:t>3. Trigger Action:</a:t>
            </a:r>
            <a:r>
              <a:rPr lang="en-US" dirty="0" smtClean="0"/>
              <a:t> </a:t>
            </a:r>
          </a:p>
          <a:p>
            <a:pPr marL="0" indent="0" algn="just">
              <a:buFont typeface="+mj-lt"/>
              <a:buNone/>
            </a:pPr>
            <a:r>
              <a:rPr lang="en-US" dirty="0" smtClean="0"/>
              <a:t>    The body containing the executable statements that is to be executed when trigger occurs that is with the execution of Triggering statement and upon     </a:t>
            </a:r>
          </a:p>
          <a:p>
            <a:pPr marL="0" indent="0" algn="just">
              <a:buFont typeface="+mj-lt"/>
              <a:buNone/>
            </a:pPr>
            <a:r>
              <a:rPr lang="en-US" dirty="0" smtClean="0"/>
              <a:t>    evaluation of Trigger restriction as </a:t>
            </a:r>
            <a:r>
              <a:rPr lang="en-US" b="1" dirty="0" smtClean="0"/>
              <a:t>True</a:t>
            </a:r>
            <a:r>
              <a:rPr lang="en-US" dirty="0" smtClean="0"/>
              <a:t> is called Trigger Action.</a:t>
            </a:r>
          </a:p>
          <a:p>
            <a:pPr marL="0" indent="0" algn="just">
              <a:buFont typeface="+mj-lt"/>
              <a:buNone/>
            </a:pPr>
            <a:endParaRPr lang="en-IN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87A68-5CD7-4B7E-95FC-906DDDECA186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2152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dirty="0" smtClean="0"/>
              <a:t>If the optional third parameter is </a:t>
            </a:r>
            <a:r>
              <a:rPr lang="en-US" b="1" dirty="0" smtClean="0"/>
              <a:t>TRUE</a:t>
            </a:r>
            <a:r>
              <a:rPr lang="en-US" dirty="0" smtClean="0"/>
              <a:t>, the error is placed on the stack of previous errors.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dirty="0" smtClean="0"/>
              <a:t>If the parameter is </a:t>
            </a:r>
            <a:r>
              <a:rPr lang="en-US" b="1" dirty="0" smtClean="0"/>
              <a:t>FALSE (the default), </a:t>
            </a:r>
            <a:r>
              <a:rPr lang="en-US" dirty="0" smtClean="0"/>
              <a:t>the error replaces all previous errors. 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RAISE_APPLICATION_ERROR</a:t>
            </a:r>
            <a:r>
              <a:rPr lang="en-US" dirty="0" smtClean="0"/>
              <a:t> is part of package </a:t>
            </a:r>
            <a:r>
              <a:rPr lang="en-US" b="1" dirty="0" smtClean="0"/>
              <a:t>DBMS_STANDARD</a:t>
            </a:r>
            <a:r>
              <a:rPr lang="en-US" dirty="0" smtClean="0"/>
              <a:t>, and as with package STANDARD, you do not need to qualify references to it.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dirty="0" smtClean="0"/>
              <a:t>An application can call </a:t>
            </a:r>
            <a:r>
              <a:rPr lang="en-US" b="1" dirty="0" err="1" smtClean="0">
                <a:solidFill>
                  <a:srgbClr val="FF0000"/>
                </a:solidFill>
              </a:rPr>
              <a:t>raise_application_error</a:t>
            </a:r>
            <a:r>
              <a:rPr lang="en-US" b="1" dirty="0" smtClean="0">
                <a:solidFill>
                  <a:srgbClr val="FF0000"/>
                </a:solidFill>
              </a:rPr>
              <a:t>()</a:t>
            </a:r>
            <a:r>
              <a:rPr lang="en-US" dirty="0" smtClean="0"/>
              <a:t> only from an executing stored subprogram (or method).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dirty="0" smtClean="0"/>
              <a:t>When called, </a:t>
            </a:r>
            <a:r>
              <a:rPr lang="en-US" dirty="0" err="1" smtClean="0"/>
              <a:t>raise_application_error</a:t>
            </a:r>
            <a:r>
              <a:rPr lang="en-US" dirty="0" smtClean="0"/>
              <a:t> ends the subprogram and returns a user-defined error number and message to the application. The error number and message can be trapped like any Oracle error.</a:t>
            </a:r>
          </a:p>
          <a:p>
            <a:pPr marL="0" indent="0" algn="just">
              <a:buNone/>
            </a:pPr>
            <a:endParaRPr lang="en-IN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87A68-5CD7-4B7E-95FC-906DDDECA186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58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Task: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87A68-5CD7-4B7E-95FC-906DDDECA186}" type="slidenum">
              <a:rPr lang="en-IN" smtClean="0"/>
              <a:pPr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7295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DUAL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automatically created by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Oracle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Database along with the data dictionary.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DUAL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in the schema of the user SYS but is accessible by the name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DUAL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all users. It has one column,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DUMMY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, defined to be VARCHAR2(1) , and contains one row with a value X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87A68-5CD7-4B7E-95FC-906DDDECA186}" type="slidenum">
              <a:rPr lang="en-IN" smtClean="0"/>
              <a:pPr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2893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80000"/>
              </a:lnSpc>
            </a:pPr>
            <a:r>
              <a: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  <a:t>This trigger is used to keep track of all the transactions performed on the employee table. </a:t>
            </a:r>
          </a:p>
          <a:p>
            <a:pPr marL="342900" indent="-342900" algn="just">
              <a:lnSpc>
                <a:spcPct val="80000"/>
              </a:lnSpc>
              <a:buFont typeface="+mj-lt"/>
              <a:buAutoNum type="arabicPeriod"/>
            </a:pPr>
            <a:r>
              <a: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  <a:t>If any employee is deleted, a new row containing the details of this employee is stored in a table called </a:t>
            </a:r>
            <a:r>
              <a:rPr lang="en-GB" sz="1400" kern="1200" dirty="0" err="1" smtClean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  <a:t>xemployee</a:t>
            </a:r>
            <a:r>
              <a: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  <a:t>. </a:t>
            </a:r>
          </a:p>
          <a:p>
            <a:pPr marL="342900" indent="-342900" algn="just">
              <a:lnSpc>
                <a:spcPct val="80000"/>
              </a:lnSpc>
              <a:buFont typeface="+mj-lt"/>
              <a:buAutoNum type="arabicPeriod"/>
            </a:pPr>
            <a:r>
              <a: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  <a:t>Similarly, if a new employee is inserted, a new row is created in another table called </a:t>
            </a:r>
            <a:r>
              <a:rPr lang="en-GB" sz="1400" kern="1200" dirty="0" err="1" smtClean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  <a:t>nemployee</a:t>
            </a:r>
            <a:r>
              <a: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  <a:t>, and so on.</a:t>
            </a:r>
          </a:p>
          <a:p>
            <a:pPr marL="342900" indent="-342900" algn="just">
              <a:lnSpc>
                <a:spcPct val="80000"/>
              </a:lnSpc>
              <a:buFont typeface="+mj-lt"/>
              <a:buAutoNum type="arabicPeriod"/>
            </a:pPr>
            <a:r>
              <a: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  <a:t>Note that we can specify the old and new values of an updated row by prefixing the column names with the </a:t>
            </a:r>
            <a:r>
              <a:rPr lang="en-GB" sz="1400" b="1" kern="1200" dirty="0" smtClean="0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:OLD </a:t>
            </a:r>
            <a:r>
              <a: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  <a:t>and </a:t>
            </a:r>
            <a:r>
              <a:rPr lang="en-GB" sz="1400" b="1" kern="1200" dirty="0" smtClean="0">
                <a:solidFill>
                  <a:srgbClr val="FF0000"/>
                </a:solidFill>
                <a:latin typeface="+mn-lt"/>
                <a:ea typeface="+mn-ea"/>
                <a:cs typeface="Times New Roman" pitchFamily="18" charset="0"/>
              </a:rPr>
              <a:t>:NEW </a:t>
            </a:r>
            <a:r>
              <a:rPr lang="en-GB" sz="1400" kern="1200" dirty="0" smtClean="0">
                <a:solidFill>
                  <a:schemeClr val="tx1"/>
                </a:solidFill>
                <a:latin typeface="+mn-lt"/>
                <a:ea typeface="+mn-ea"/>
                <a:cs typeface="Times New Roman" pitchFamily="18" charset="0"/>
              </a:rPr>
              <a:t>qualifiers.</a:t>
            </a:r>
            <a:endParaRPr lang="en-US" sz="1400" kern="1200" dirty="0" smtClean="0">
              <a:solidFill>
                <a:schemeClr val="tx1"/>
              </a:solidFill>
              <a:latin typeface="+mn-lt"/>
              <a:ea typeface="+mn-ea"/>
              <a:cs typeface="Times New Roman" pitchFamily="18" charset="0"/>
            </a:endParaRPr>
          </a:p>
          <a:p>
            <a:endParaRPr lang="en-IN" sz="14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IN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TASK:</a:t>
            </a:r>
          </a:p>
          <a:p>
            <a:r>
              <a:rPr lang="en-I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Create table </a:t>
            </a:r>
            <a:r>
              <a:rPr lang="en-IN" sz="14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</a:t>
            </a:r>
            <a:r>
              <a:rPr lang="en-I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IN" sz="14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rollno</a:t>
            </a:r>
            <a:r>
              <a:rPr lang="en-I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name, add)</a:t>
            </a:r>
          </a:p>
          <a:p>
            <a:r>
              <a:rPr lang="en-I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Create table </a:t>
            </a:r>
            <a:r>
              <a:rPr lang="en-IN" sz="14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nstu</a:t>
            </a:r>
            <a:r>
              <a:rPr lang="en-I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IN" sz="14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rollno</a:t>
            </a:r>
            <a:r>
              <a:rPr lang="en-I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name, add, date)</a:t>
            </a:r>
          </a:p>
          <a:p>
            <a:r>
              <a:rPr lang="en-I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Create table </a:t>
            </a:r>
            <a:r>
              <a:rPr lang="en-IN" sz="14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xstu</a:t>
            </a:r>
            <a:r>
              <a:rPr lang="en-I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IN" sz="14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rollno</a:t>
            </a:r>
            <a:r>
              <a:rPr lang="en-I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name, add, date)</a:t>
            </a:r>
          </a:p>
          <a:p>
            <a:r>
              <a:rPr lang="en-I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 Create table </a:t>
            </a:r>
            <a:r>
              <a:rPr lang="en-IN" sz="14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ustu</a:t>
            </a:r>
            <a:r>
              <a:rPr lang="en-I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IN" sz="14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rollno</a:t>
            </a:r>
            <a:r>
              <a:rPr lang="en-I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name, add, date)</a:t>
            </a:r>
          </a:p>
          <a:p>
            <a:r>
              <a:rPr lang="en-I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5. Create a </a:t>
            </a:r>
            <a:r>
              <a:rPr lang="en-IN" sz="14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trrigger</a:t>
            </a:r>
            <a:r>
              <a:rPr lang="en-I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N" sz="14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trg_log</a:t>
            </a:r>
            <a:r>
              <a:rPr lang="en-IN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after delete or insert or update:-</a:t>
            </a:r>
          </a:p>
          <a:p>
            <a:endParaRPr lang="en-IN" sz="14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IN" sz="1400" dirty="0" smtClean="0"/>
          </a:p>
          <a:p>
            <a:endParaRPr lang="en-IN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87A68-5CD7-4B7E-95FC-906DDDECA186}" type="slidenum">
              <a:rPr lang="en-IN" smtClean="0"/>
              <a:pPr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75561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87A68-5CD7-4B7E-95FC-906DDDECA186}" type="slidenum">
              <a:rPr lang="en-IN" smtClean="0"/>
              <a:pPr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8322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75" indent="0" algn="ctr">
              <a:buNone/>
              <a:defRPr sz="1500"/>
            </a:lvl2pPr>
            <a:lvl3pPr marL="685749" indent="0" algn="ctr">
              <a:buNone/>
              <a:defRPr sz="1400"/>
            </a:lvl3pPr>
            <a:lvl4pPr marL="1028624" indent="0" algn="ctr">
              <a:buNone/>
              <a:defRPr sz="1200"/>
            </a:lvl4pPr>
            <a:lvl5pPr marL="1371498" indent="0" algn="ctr">
              <a:buNone/>
              <a:defRPr sz="1200"/>
            </a:lvl5pPr>
            <a:lvl6pPr marL="1714373" indent="0" algn="ctr">
              <a:buNone/>
              <a:defRPr sz="1200"/>
            </a:lvl6pPr>
            <a:lvl7pPr marL="2057246" indent="0" algn="ctr">
              <a:buNone/>
              <a:defRPr sz="1200"/>
            </a:lvl7pPr>
            <a:lvl8pPr marL="2400120" indent="0" algn="ctr">
              <a:buNone/>
              <a:defRPr sz="1200"/>
            </a:lvl8pPr>
            <a:lvl9pPr marL="2742995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975" y="1001317"/>
            <a:ext cx="7886700" cy="36314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7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7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4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62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49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37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4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299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9629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2450" y="1058467"/>
            <a:ext cx="3962400" cy="36314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58467"/>
            <a:ext cx="3886200" cy="36314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691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1742" y="1041797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75" indent="0">
              <a:buNone/>
              <a:defRPr sz="1500" b="1"/>
            </a:lvl2pPr>
            <a:lvl3pPr marL="685749" indent="0">
              <a:buNone/>
              <a:defRPr sz="1400" b="1"/>
            </a:lvl3pPr>
            <a:lvl4pPr marL="1028624" indent="0">
              <a:buNone/>
              <a:defRPr sz="1200" b="1"/>
            </a:lvl4pPr>
            <a:lvl5pPr marL="1371498" indent="0">
              <a:buNone/>
              <a:defRPr sz="1200" b="1"/>
            </a:lvl5pPr>
            <a:lvl6pPr marL="1714373" indent="0">
              <a:buNone/>
              <a:defRPr sz="1200" b="1"/>
            </a:lvl6pPr>
            <a:lvl7pPr marL="2057246" indent="0">
              <a:buNone/>
              <a:defRPr sz="1200" b="1"/>
            </a:lvl7pPr>
            <a:lvl8pPr marL="2400120" indent="0">
              <a:buNone/>
              <a:defRPr sz="1200" b="1"/>
            </a:lvl8pPr>
            <a:lvl9pPr marL="2742995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267" y="1774031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060847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75" indent="0">
              <a:buNone/>
              <a:defRPr sz="1500" b="1"/>
            </a:lvl2pPr>
            <a:lvl3pPr marL="685749" indent="0">
              <a:buNone/>
              <a:defRPr sz="1400" b="1"/>
            </a:lvl3pPr>
            <a:lvl4pPr marL="1028624" indent="0">
              <a:buNone/>
              <a:defRPr sz="1200" b="1"/>
            </a:lvl4pPr>
            <a:lvl5pPr marL="1371498" indent="0">
              <a:buNone/>
              <a:defRPr sz="1200" b="1"/>
            </a:lvl5pPr>
            <a:lvl6pPr marL="1714373" indent="0">
              <a:buNone/>
              <a:defRPr sz="1200" b="1"/>
            </a:lvl6pPr>
            <a:lvl7pPr marL="2057246" indent="0">
              <a:buNone/>
              <a:defRPr sz="1200" b="1"/>
            </a:lvl7pPr>
            <a:lvl8pPr marL="2400120" indent="0">
              <a:buNone/>
              <a:defRPr sz="1200" b="1"/>
            </a:lvl8pPr>
            <a:lvl9pPr marL="2742995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178355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975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2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75" indent="0">
              <a:buNone/>
              <a:defRPr sz="1100"/>
            </a:lvl2pPr>
            <a:lvl3pPr marL="685749" indent="0">
              <a:buNone/>
              <a:defRPr sz="900"/>
            </a:lvl3pPr>
            <a:lvl4pPr marL="1028624" indent="0">
              <a:buNone/>
              <a:defRPr sz="800"/>
            </a:lvl4pPr>
            <a:lvl5pPr marL="1371498" indent="0">
              <a:buNone/>
              <a:defRPr sz="800"/>
            </a:lvl5pPr>
            <a:lvl6pPr marL="1714373" indent="0">
              <a:buNone/>
              <a:defRPr sz="800"/>
            </a:lvl6pPr>
            <a:lvl7pPr marL="2057246" indent="0">
              <a:buNone/>
              <a:defRPr sz="800"/>
            </a:lvl7pPr>
            <a:lvl8pPr marL="2400120" indent="0">
              <a:buNone/>
              <a:defRPr sz="800"/>
            </a:lvl8pPr>
            <a:lvl9pPr marL="2742995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72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875" indent="0">
              <a:buNone/>
              <a:defRPr sz="2100"/>
            </a:lvl2pPr>
            <a:lvl3pPr marL="685749" indent="0">
              <a:buNone/>
              <a:defRPr sz="1800"/>
            </a:lvl3pPr>
            <a:lvl4pPr marL="1028624" indent="0">
              <a:buNone/>
              <a:defRPr sz="1500"/>
            </a:lvl4pPr>
            <a:lvl5pPr marL="1371498" indent="0">
              <a:buNone/>
              <a:defRPr sz="1500"/>
            </a:lvl5pPr>
            <a:lvl6pPr marL="1714373" indent="0">
              <a:buNone/>
              <a:defRPr sz="1500"/>
            </a:lvl6pPr>
            <a:lvl7pPr marL="2057246" indent="0">
              <a:buNone/>
              <a:defRPr sz="1500"/>
            </a:lvl7pPr>
            <a:lvl8pPr marL="2400120" indent="0">
              <a:buNone/>
              <a:defRPr sz="1500"/>
            </a:lvl8pPr>
            <a:lvl9pPr marL="2742995" indent="0">
              <a:buNone/>
              <a:defRPr sz="15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75" indent="0">
              <a:buNone/>
              <a:defRPr sz="1100"/>
            </a:lvl2pPr>
            <a:lvl3pPr marL="685749" indent="0">
              <a:buNone/>
              <a:defRPr sz="900"/>
            </a:lvl3pPr>
            <a:lvl4pPr marL="1028624" indent="0">
              <a:buNone/>
              <a:defRPr sz="800"/>
            </a:lvl4pPr>
            <a:lvl5pPr marL="1371498" indent="0">
              <a:buNone/>
              <a:defRPr sz="800"/>
            </a:lvl5pPr>
            <a:lvl6pPr marL="1714373" indent="0">
              <a:buNone/>
              <a:defRPr sz="800"/>
            </a:lvl6pPr>
            <a:lvl7pPr marL="2057246" indent="0">
              <a:buNone/>
              <a:defRPr sz="800"/>
            </a:lvl7pPr>
            <a:lvl8pPr marL="2400120" indent="0">
              <a:buNone/>
              <a:defRPr sz="800"/>
            </a:lvl8pPr>
            <a:lvl9pPr marL="2742995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045371"/>
            <a:ext cx="7886700" cy="350758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7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7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258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4288" y="1428750"/>
            <a:ext cx="9158288" cy="37147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6" tIns="34289" rIns="68576" bIns="3428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4288" y="1"/>
            <a:ext cx="9158288" cy="3328988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6" tIns="34289" rIns="68576" bIns="3428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814388" y="757240"/>
            <a:ext cx="7515225" cy="3929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6" tIns="34289" rIns="68576" bIns="3428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385888" y="2114553"/>
            <a:ext cx="6372225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dirty="0" smtClean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3684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40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975" y="1001317"/>
            <a:ext cx="7886700" cy="36314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6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9629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2450" y="1058467"/>
            <a:ext cx="3962400" cy="36314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58467"/>
            <a:ext cx="3886200" cy="36314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691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1742" y="1041797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40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267" y="1774031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060847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40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178355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975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100"/>
            </a:lvl2pPr>
            <a:lvl3pPr marL="685766" indent="0">
              <a:buNone/>
              <a:defRPr sz="900"/>
            </a:lvl3pPr>
            <a:lvl4pPr marL="1028649" indent="0">
              <a:buNone/>
              <a:defRPr sz="800"/>
            </a:lvl4pPr>
            <a:lvl5pPr marL="1371532" indent="0">
              <a:buNone/>
              <a:defRPr sz="800"/>
            </a:lvl5pPr>
            <a:lvl6pPr marL="1714415" indent="0">
              <a:buNone/>
              <a:defRPr sz="800"/>
            </a:lvl6pPr>
            <a:lvl7pPr marL="2057297" indent="0">
              <a:buNone/>
              <a:defRPr sz="800"/>
            </a:lvl7pPr>
            <a:lvl8pPr marL="2400180" indent="0">
              <a:buNone/>
              <a:defRPr sz="800"/>
            </a:lvl8pPr>
            <a:lvl9pPr marL="2743064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884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7" indent="0">
              <a:buNone/>
              <a:defRPr sz="1500"/>
            </a:lvl7pPr>
            <a:lvl8pPr marL="2400180" indent="0">
              <a:buNone/>
              <a:defRPr sz="1500"/>
            </a:lvl8pPr>
            <a:lvl9pPr marL="2743064" indent="0">
              <a:buNone/>
              <a:defRPr sz="15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100"/>
            </a:lvl2pPr>
            <a:lvl3pPr marL="685766" indent="0">
              <a:buNone/>
              <a:defRPr sz="900"/>
            </a:lvl3pPr>
            <a:lvl4pPr marL="1028649" indent="0">
              <a:buNone/>
              <a:defRPr sz="800"/>
            </a:lvl4pPr>
            <a:lvl5pPr marL="1371532" indent="0">
              <a:buNone/>
              <a:defRPr sz="800"/>
            </a:lvl5pPr>
            <a:lvl6pPr marL="1714415" indent="0">
              <a:buNone/>
              <a:defRPr sz="800"/>
            </a:lvl6pPr>
            <a:lvl7pPr marL="2057297" indent="0">
              <a:buNone/>
              <a:defRPr sz="800"/>
            </a:lvl7pPr>
            <a:lvl8pPr marL="2400180" indent="0">
              <a:buNone/>
              <a:defRPr sz="800"/>
            </a:lvl8pPr>
            <a:lvl9pPr marL="2743064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045371"/>
            <a:ext cx="7886700" cy="350758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6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6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258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4288" y="1428750"/>
            <a:ext cx="9158288" cy="37147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4288" y="1"/>
            <a:ext cx="9158288" cy="3328988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814388" y="757239"/>
            <a:ext cx="7515225" cy="3929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7" tIns="34289" rIns="68577" bIns="3428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385888" y="2114552"/>
            <a:ext cx="6372225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dirty="0" smtClean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3684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975" y="1001317"/>
            <a:ext cx="7886700" cy="36314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9629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2450" y="1058467"/>
            <a:ext cx="3962400" cy="36314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58467"/>
            <a:ext cx="3886200" cy="36314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691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1742" y="1041797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267" y="1774031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060847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78355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975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7144"/>
            <a:ext cx="7886700" cy="994172"/>
          </a:xfrm>
        </p:spPr>
        <p:txBody>
          <a:bodyPr>
            <a:normAutofit/>
          </a:bodyPr>
          <a:lstStyle>
            <a:lvl1pPr>
              <a:defRPr sz="27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045369"/>
            <a:ext cx="7886700" cy="350758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258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4288" y="1428750"/>
            <a:ext cx="9158288" cy="37147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4288" y="0"/>
            <a:ext cx="9158288" cy="3328988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814388" y="757237"/>
            <a:ext cx="7515225" cy="3929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385888" y="2114550"/>
            <a:ext cx="6372225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dirty="0" smtClean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3684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2450" y="16669"/>
            <a:ext cx="7962900" cy="994172"/>
          </a:xfrm>
          <a:prstGeom prst="rect">
            <a:avLst/>
          </a:prstGeom>
        </p:spPr>
        <p:txBody>
          <a:bodyPr vert="horz" lIns="68576" tIns="34289" rIns="68576" bIns="3428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2450" y="1058470"/>
            <a:ext cx="7962900" cy="3621881"/>
          </a:xfrm>
          <a:prstGeom prst="rect">
            <a:avLst/>
          </a:prstGeom>
        </p:spPr>
        <p:txBody>
          <a:bodyPr vert="horz" lIns="68576" tIns="34289" rIns="68576" bIns="342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68576" tIns="34289" rIns="68576" bIns="34289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68576" tIns="34289" rIns="68576" bIns="34289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68576" tIns="34289" rIns="68576" bIns="34289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iming>
    <p:tnLst>
      <p:par>
        <p:cTn id="1" dur="indefinite" restart="never" nodeType="tmRoot"/>
      </p:par>
    </p:tnLst>
  </p:timing>
  <p:txStyles>
    <p:titleStyle>
      <a:lvl1pPr algn="l" defTabSz="685749" rtl="0" eaLnBrk="1" latinLnBrk="0" hangingPunct="1">
        <a:lnSpc>
          <a:spcPct val="900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38" indent="-171438" algn="l" defTabSz="685749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13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186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60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35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09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84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58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33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5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49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24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8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73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46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20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95" algn="l" defTabSz="6857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2450" y="16669"/>
            <a:ext cx="7962900" cy="994172"/>
          </a:xfrm>
          <a:prstGeom prst="rect">
            <a:avLst/>
          </a:prstGeom>
        </p:spPr>
        <p:txBody>
          <a:bodyPr vert="horz" lIns="68577" tIns="34289" rIns="68577" bIns="3428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2450" y="1058469"/>
            <a:ext cx="7962900" cy="3621881"/>
          </a:xfrm>
          <a:prstGeom prst="rect">
            <a:avLst/>
          </a:prstGeom>
        </p:spPr>
        <p:txBody>
          <a:bodyPr vert="horz" lIns="68577" tIns="34289" rIns="68577" bIns="342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68577" tIns="34289" rIns="68577" bIns="34289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68577" tIns="34289" rIns="68577" bIns="34289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68577" tIns="34289" rIns="68577" bIns="34289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timing>
    <p:tnLst>
      <p:par>
        <p:cTn id="1" dur="indefinite" restart="never" nodeType="tmRoot"/>
      </p:par>
    </p:tnLst>
  </p:timing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2450" y="16669"/>
            <a:ext cx="79629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2450" y="1058467"/>
            <a:ext cx="7962900" cy="362188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database/121/LNPLS/packages.htm" TargetMode="External"/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0.xml"/><Relationship Id="rId1" Type="http://schemas.openxmlformats.org/officeDocument/2006/relationships/vmlDrawing" Target="../drawings/vmlDrawing2.vml"/><Relationship Id="rId5" Type="http://schemas.openxmlformats.org/officeDocument/2006/relationships/hyperlink" Target="mailto:shaveta.e13464@cumail.in" TargetMode="Externa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3572" y="4070747"/>
            <a:ext cx="9147572" cy="11382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226219" y="4426744"/>
            <a:ext cx="34529" cy="4595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42340" name="Slide Number Placeholder 2"/>
          <p:cNvSpPr txBox="1">
            <a:spLocks/>
          </p:cNvSpPr>
          <p:nvPr/>
        </p:nvSpPr>
        <p:spPr bwMode="auto">
          <a:xfrm>
            <a:off x="6572250" y="4881563"/>
            <a:ext cx="20574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mbria" pitchFamily="18" charset="0"/>
              </a:defRPr>
            </a:lvl1pPr>
            <a:lvl2pPr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mbria" pitchFamily="18" charset="0"/>
              </a:defRPr>
            </a:lvl2pPr>
            <a:lvl3pPr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</a:defRPr>
            </a:lvl3pPr>
            <a:lvl4pPr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4pPr>
            <a:lvl5pPr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5pPr>
            <a:lvl6pPr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6pPr>
            <a:lvl7pPr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7pPr>
            <a:lvl8pPr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8pPr>
            <a:lvl9pPr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900" dirty="0">
              <a:solidFill>
                <a:srgbClr val="898989"/>
              </a:solidFill>
            </a:endParaRPr>
          </a:p>
        </p:txBody>
      </p:sp>
      <p:sp>
        <p:nvSpPr>
          <p:cNvPr id="46" name="Right Triangle 45">
            <a:extLst>
              <a:ext uri="{FF2B5EF4-FFF2-40B4-BE49-F238E27FC236}"/>
            </a:extLst>
          </p:cNvPr>
          <p:cNvSpPr/>
          <p:nvPr/>
        </p:nvSpPr>
        <p:spPr>
          <a:xfrm flipV="1">
            <a:off x="7130654" y="4455319"/>
            <a:ext cx="967978" cy="86796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anchor="ctr"/>
          <a:lstStyle/>
          <a:p>
            <a:pPr algn="ctr">
              <a:defRPr/>
            </a:pPr>
            <a:endParaRPr lang="en-ID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142342" name="Object 47"/>
          <p:cNvGraphicFramePr>
            <a:graphicFrameLocks noChangeAspect="1"/>
          </p:cNvGraphicFramePr>
          <p:nvPr/>
        </p:nvGraphicFramePr>
        <p:xfrm>
          <a:off x="57150" y="2340769"/>
          <a:ext cx="2477691" cy="2361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" name="CorelDRAW" r:id="rId4" imgW="2169000" imgH="2169360" progId="">
                  <p:embed/>
                </p:oleObj>
              </mc:Choice>
              <mc:Fallback>
                <p:oleObj name="CorelDRAW" r:id="rId4" imgW="2169000" imgH="2169360" progId="">
                  <p:embed/>
                  <p:pic>
                    <p:nvPicPr>
                      <p:cNvPr id="0" name="Picture 2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" y="2340769"/>
                        <a:ext cx="2477691" cy="23610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/>
            </a:extLst>
          </p:cNvPr>
          <p:cNvSpPr/>
          <p:nvPr/>
        </p:nvSpPr>
        <p:spPr>
          <a:xfrm flipH="1">
            <a:off x="5283994" y="-48816"/>
            <a:ext cx="3860006" cy="438983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anchor="ctr"/>
          <a:lstStyle/>
          <a:p>
            <a:pPr algn="ctr">
              <a:defRPr/>
            </a:pPr>
            <a:endParaRPr lang="en-ID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593056" y="151914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en-US" dirty="0"/>
          </a:p>
        </p:txBody>
      </p:sp>
      <p:pic>
        <p:nvPicPr>
          <p:cNvPr id="142347" name="Picture 2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17860"/>
            <a:ext cx="2894410" cy="1153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ight Triangle 42"/>
          <p:cNvSpPr/>
          <p:nvPr/>
        </p:nvSpPr>
        <p:spPr>
          <a:xfrm rot="10800000" flipV="1">
            <a:off x="7372351" y="4000500"/>
            <a:ext cx="1775222" cy="120015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42349" name="TextBox 35"/>
          <p:cNvSpPr txBox="1">
            <a:spLocks noChangeArrowheads="1"/>
          </p:cNvSpPr>
          <p:nvPr/>
        </p:nvSpPr>
        <p:spPr bwMode="auto">
          <a:xfrm>
            <a:off x="5161360" y="4514850"/>
            <a:ext cx="3695700" cy="484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mbria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mbria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500" b="1" dirty="0">
                <a:solidFill>
                  <a:srgbClr val="595959"/>
                </a:solidFill>
                <a:latin typeface="Casper"/>
                <a:ea typeface="Karla"/>
                <a:cs typeface="Karla"/>
              </a:rPr>
              <a:t>DISCOVER . </a:t>
            </a:r>
            <a:r>
              <a:rPr lang="en-US" altLang="en-US" sz="1500" b="1" dirty="0">
                <a:solidFill>
                  <a:srgbClr val="C00000"/>
                </a:solidFill>
                <a:latin typeface="Casper"/>
                <a:ea typeface="Karla"/>
                <a:cs typeface="Karla"/>
              </a:rPr>
              <a:t>LEARN</a:t>
            </a:r>
            <a:r>
              <a:rPr lang="en-US" altLang="en-US" sz="1500" b="1" dirty="0">
                <a:solidFill>
                  <a:srgbClr val="595959"/>
                </a:solidFill>
                <a:latin typeface="Casper"/>
                <a:ea typeface="Karla"/>
                <a:cs typeface="Karla"/>
              </a:rPr>
              <a:t> . EMPOWER</a:t>
            </a:r>
            <a:endParaRPr lang="en-US" altLang="en-US" sz="900" b="1" dirty="0">
              <a:solidFill>
                <a:srgbClr val="000000"/>
              </a:solidFill>
              <a:latin typeface="Casper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200" b="1" dirty="0">
              <a:latin typeface="Casper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163741" y="4532710"/>
            <a:ext cx="34528" cy="27741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340519" y="4481513"/>
            <a:ext cx="4823222" cy="401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 defTabSz="466725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2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Triggers</a:t>
            </a:r>
          </a:p>
        </p:txBody>
      </p:sp>
      <p:sp>
        <p:nvSpPr>
          <p:cNvPr id="142352" name="TextBox 25"/>
          <p:cNvSpPr txBox="1">
            <a:spLocks noChangeArrowheads="1"/>
          </p:cNvSpPr>
          <p:nvPr/>
        </p:nvSpPr>
        <p:spPr bwMode="auto">
          <a:xfrm>
            <a:off x="372666" y="1096566"/>
            <a:ext cx="8328422" cy="2543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Cambria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mbria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mbria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3600" b="1" dirty="0"/>
              <a:t>APEX INSTITUTE OF TECHNOLOGY</a:t>
            </a:r>
            <a:endParaRPr lang="en-US" altLang="en-US" sz="3600" dirty="0"/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IN" altLang="en-US" sz="2400" b="1" dirty="0"/>
              <a:t>DEPARTMENT OF COMPUTER SCIENCE &amp; ENGINEERING</a:t>
            </a:r>
            <a:endParaRPr lang="en-US" altLang="en-US" sz="2400" b="1" dirty="0"/>
          </a:p>
          <a:p>
            <a:pPr algn="ctr">
              <a:spcBef>
                <a:spcPct val="0"/>
              </a:spcBef>
              <a:spcAft>
                <a:spcPct val="35000"/>
              </a:spcAft>
              <a:buFontTx/>
              <a:buNone/>
            </a:pPr>
            <a:endParaRPr lang="en-US" altLang="en-US" sz="2400" b="1" dirty="0">
              <a:ea typeface="Calibri" pitchFamily="34" charset="0"/>
              <a:cs typeface="Times New Roman" pitchFamily="18" charset="0"/>
            </a:endParaRPr>
          </a:p>
          <a:p>
            <a:pPr algn="ctr">
              <a:spcBef>
                <a:spcPct val="0"/>
              </a:spcBef>
              <a:spcAft>
                <a:spcPct val="35000"/>
              </a:spcAft>
              <a:buFontTx/>
              <a:buNone/>
            </a:pPr>
            <a:r>
              <a:rPr lang="en-US" altLang="en-US" sz="2400" dirty="0">
                <a:solidFill>
                  <a:srgbClr val="262626"/>
                </a:solidFill>
                <a:cs typeface="Times New Roman" pitchFamily="18" charset="0"/>
              </a:rPr>
              <a:t>Database Management System </a:t>
            </a:r>
            <a:r>
              <a:rPr lang="en-US" altLang="en-US" sz="2400" dirty="0" smtClean="0">
                <a:solidFill>
                  <a:srgbClr val="262626"/>
                </a:solidFill>
                <a:cs typeface="Times New Roman" pitchFamily="18" charset="0"/>
              </a:rPr>
              <a:t>(22CSH-243</a:t>
            </a:r>
            <a:r>
              <a:rPr lang="en-US" altLang="en-US" sz="2400" dirty="0" smtClean="0">
                <a:solidFill>
                  <a:srgbClr val="262626"/>
                </a:solidFill>
                <a:cs typeface="Times New Roman" pitchFamily="18" charset="0"/>
              </a:rPr>
              <a:t>)</a:t>
            </a:r>
            <a:endParaRPr lang="en-US" altLang="en-US" sz="2400" dirty="0">
              <a:solidFill>
                <a:srgbClr val="262626"/>
              </a:solidFill>
              <a:cs typeface="Times New Roman" pitchFamily="18" charset="0"/>
            </a:endParaRPr>
          </a:p>
          <a:p>
            <a:pPr algn="ctr" defTabSz="622300">
              <a:spcBef>
                <a:spcPct val="0"/>
              </a:spcBef>
              <a:spcAft>
                <a:spcPct val="35000"/>
              </a:spcAft>
            </a:pPr>
            <a:r>
              <a:rPr lang="en-US" altLang="en-US" sz="2400" b="1" dirty="0">
                <a:solidFill>
                  <a:srgbClr val="262626"/>
                </a:solidFill>
                <a:cs typeface="Times New Roman" pitchFamily="18" charset="0"/>
              </a:rPr>
              <a:t>Faculty:</a:t>
            </a:r>
            <a:r>
              <a:rPr lang="en-US" altLang="en-US" sz="2400" dirty="0">
                <a:solidFill>
                  <a:srgbClr val="262626"/>
                </a:solidFill>
                <a:cs typeface="Times New Roman" pitchFamily="18" charset="0"/>
              </a:rPr>
              <a:t> </a:t>
            </a:r>
            <a:r>
              <a:rPr lang="en-US" sz="2400" dirty="0">
                <a:solidFill>
                  <a:prstClr val="black">
                    <a:lumMod val="85000"/>
                    <a:lumOff val="15000"/>
                  </a:prstClr>
                </a:solidFill>
                <a:cs typeface="Times New Roman" panose="02020603050405020304" pitchFamily="18" charset="0"/>
              </a:rPr>
              <a:t>Ms. </a:t>
            </a:r>
            <a:r>
              <a:rPr lang="en-US" sz="2400" dirty="0" err="1">
                <a:solidFill>
                  <a:prstClr val="black">
                    <a:lumMod val="85000"/>
                    <a:lumOff val="15000"/>
                  </a:prstClr>
                </a:solidFill>
                <a:cs typeface="Times New Roman" panose="02020603050405020304" pitchFamily="18" charset="0"/>
              </a:rPr>
              <a:t>Shaveta</a:t>
            </a:r>
            <a:r>
              <a:rPr lang="en-US" sz="2400" dirty="0">
                <a:solidFill>
                  <a:prstClr val="black">
                    <a:lumMod val="85000"/>
                    <a:lumOff val="15000"/>
                  </a:prstClr>
                </a:solidFill>
                <a:cs typeface="Times New Roman" panose="02020603050405020304" pitchFamily="18" charset="0"/>
              </a:rPr>
              <a:t> Jain (13464)</a:t>
            </a:r>
          </a:p>
          <a:p>
            <a:pPr algn="ctr">
              <a:spcBef>
                <a:spcPct val="0"/>
              </a:spcBef>
              <a:spcAft>
                <a:spcPct val="35000"/>
              </a:spcAft>
              <a:buFontTx/>
              <a:buNone/>
            </a:pPr>
            <a:endParaRPr lang="en-US" altLang="en-US" sz="1200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68F729-0D61-4535-976E-E42E431D79D1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44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058" y="0"/>
            <a:ext cx="7886700" cy="1014212"/>
          </a:xfrm>
        </p:spPr>
        <p:txBody>
          <a:bodyPr>
            <a:normAutofit/>
          </a:bodyPr>
          <a:lstStyle/>
          <a:p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DBMS: Course Objectives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50572" y="859665"/>
            <a:ext cx="8306873" cy="2700739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lvl="0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OBJECTIVES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Course aims to: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database system concepts and design databases for different applications and to acquire the knowledge on DBMS and RDBMS.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and understand different types of DDL, DML and DCL statements.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transaction concepts related to databases and recovery/backup techniques required for the proper storage of data.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0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32625" y="263602"/>
            <a:ext cx="8344139" cy="401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COURSE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8412957" y="4743451"/>
            <a:ext cx="333375" cy="31670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40373" y="878126"/>
            <a:ext cx="6660092" cy="392415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completion of this course, the students shall be able to:-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696714"/>
              </p:ext>
            </p:extLst>
          </p:nvPr>
        </p:nvGraphicFramePr>
        <p:xfrm>
          <a:off x="627846" y="1448872"/>
          <a:ext cx="8118487" cy="401777"/>
        </p:xfrm>
        <a:graphic>
          <a:graphicData uri="http://schemas.openxmlformats.org/drawingml/2006/table">
            <a:tbl>
              <a:tblPr firstRow="1" firstCol="1" bandRow="1"/>
              <a:tblGrid>
                <a:gridCol w="705955"/>
                <a:gridCol w="7412532"/>
              </a:tblGrid>
              <a:tr h="401777">
                <a:tc>
                  <a:txBody>
                    <a:bodyPr/>
                    <a:lstStyle/>
                    <a:p>
                      <a:pPr marL="0" marR="53975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700" b="1" dirty="0">
                          <a:effectLst/>
                          <a:latin typeface="Times New Roman"/>
                          <a:ea typeface="Calibri"/>
                          <a:cs typeface="Arial"/>
                        </a:rPr>
                        <a:t>CO4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08305" algn="l"/>
                        </a:tabLst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Implement the package, procedures and triggers</a:t>
                      </a:r>
                      <a:endParaRPr lang="en-US" sz="1700" dirty="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813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Triggers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895350"/>
            <a:ext cx="8229600" cy="3962400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Triggers in oracle are blocks of PL/SQL code which oracle engine can execute automatically based on some action or event.</a:t>
            </a:r>
          </a:p>
          <a:p>
            <a:pPr algn="just"/>
            <a:r>
              <a:rPr lang="en-US" sz="2400" dirty="0"/>
              <a:t>These events can be: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/>
              <a:t>DDL statements (CREATE, ALTER, DROP, TRUNCATE)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/>
              <a:t>DML statements (INSERT, SELECT, UPDATE, DELETE)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/>
              <a:t>Database operation like connecting or disconnecting to oracle (LOGON, LOGOFF, SHUTDOWN)</a:t>
            </a:r>
          </a:p>
          <a:p>
            <a:pPr marL="0" indent="0" algn="just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56021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Parts of a </a:t>
            </a:r>
            <a:r>
              <a:rPr lang="en-US" dirty="0" smtClean="0"/>
              <a:t>Trigger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 smtClean="0"/>
              <a:t>Whenever </a:t>
            </a:r>
            <a:r>
              <a:rPr lang="en-US" sz="2400" dirty="0"/>
              <a:t>a trigger is created, it contains the following three sequential parts: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Triggering Event or </a:t>
            </a:r>
            <a:r>
              <a:rPr lang="en-US" sz="2400" b="1" dirty="0" smtClean="0"/>
              <a:t>Statement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 smtClean="0"/>
              <a:t>Trigger Restriction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 smtClean="0"/>
              <a:t>Trigger Action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6589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Triggers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Triggers </a:t>
            </a:r>
            <a:r>
              <a:rPr lang="en-US" sz="2400" dirty="0"/>
              <a:t>can be classified into three categories: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Level Triggers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Event Triggers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Timing Triggers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which are further divided into different parts.</a:t>
            </a:r>
            <a:endParaRPr lang="en-US" sz="2400" dirty="0" smtClean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47207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Level Triggers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There </a:t>
            </a:r>
            <a:r>
              <a:rPr lang="en-US" sz="2400" dirty="0"/>
              <a:t>are 2 different types of level triggers, they are: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ROW LEVEL TRIGGERS</a:t>
            </a:r>
            <a:endParaRPr lang="en-US" sz="2400" dirty="0"/>
          </a:p>
          <a:p>
            <a:pPr lvl="1"/>
            <a:r>
              <a:rPr lang="en-US" sz="2000" dirty="0"/>
              <a:t>It fires for every record that got affected with the execution of DML statements like INSERT, UPDATE, DELETE etc.</a:t>
            </a:r>
          </a:p>
          <a:p>
            <a:pPr lvl="1"/>
            <a:r>
              <a:rPr lang="en-US" sz="2000" dirty="0"/>
              <a:t>It always use a FOR EACH ROW clause in a triggering statement.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STATEMENT LEVEL TRIGGERS</a:t>
            </a:r>
            <a:endParaRPr lang="en-US" sz="2400" dirty="0"/>
          </a:p>
          <a:p>
            <a:pPr lvl="1"/>
            <a:r>
              <a:rPr lang="en-US" sz="2000" dirty="0"/>
              <a:t>It fires once for each statement that is executed.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4767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Event Triggers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There </a:t>
            </a:r>
            <a:r>
              <a:rPr lang="en-US" dirty="0"/>
              <a:t>are 3 different types of event triggers, they are: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DDL EVENT TRIGGER</a:t>
            </a:r>
            <a:endParaRPr lang="en-US" dirty="0"/>
          </a:p>
          <a:p>
            <a:pPr lvl="1"/>
            <a:r>
              <a:rPr lang="en-US" dirty="0"/>
              <a:t>It fires with the execution of every DDL statement(CREATE, ALTER, DROP, TRUNCATE).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DML EVENT TRIGGER</a:t>
            </a:r>
            <a:endParaRPr lang="en-US" dirty="0"/>
          </a:p>
          <a:p>
            <a:pPr lvl="1"/>
            <a:r>
              <a:rPr lang="en-US" dirty="0"/>
              <a:t>It fires with the execution of every DML statement(INSERT, UPDATE, DELETE).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DATABASE EVENT TRIGGER</a:t>
            </a:r>
            <a:endParaRPr lang="en-US" dirty="0"/>
          </a:p>
          <a:p>
            <a:pPr lvl="1"/>
            <a:r>
              <a:rPr lang="en-US" dirty="0"/>
              <a:t>It fires with the execution of every database operation which can be LOGON, LOGOFF, SHUTDOWN, SERVERERROR etc.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6610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Timing Triggers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There </a:t>
            </a:r>
            <a:r>
              <a:rPr lang="en-US" dirty="0"/>
              <a:t>are 2 different types of timing triggers, they are: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BEFORE TRIGGER</a:t>
            </a:r>
            <a:endParaRPr lang="en-US" dirty="0"/>
          </a:p>
          <a:p>
            <a:pPr lvl="1"/>
            <a:r>
              <a:rPr lang="en-US" dirty="0"/>
              <a:t>It fires before executing DML statement.</a:t>
            </a:r>
          </a:p>
          <a:p>
            <a:pPr lvl="1"/>
            <a:r>
              <a:rPr lang="en-US" dirty="0"/>
              <a:t>Triggering statement may or may not executed depending upon the before condition block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AFTER TRIGGER</a:t>
            </a:r>
            <a:endParaRPr lang="en-US" dirty="0"/>
          </a:p>
          <a:p>
            <a:pPr lvl="1"/>
            <a:r>
              <a:rPr lang="en-US" dirty="0"/>
              <a:t>It fires after executing DML statement.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212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Syntax for creating </a:t>
            </a:r>
            <a:r>
              <a:rPr lang="en-IN" dirty="0" smtClean="0"/>
              <a:t>Triggers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975" y="895350"/>
            <a:ext cx="7886700" cy="373737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CREATE OR REPLACE TRIGGER </a:t>
            </a:r>
            <a:r>
              <a:rPr lang="en-US" dirty="0"/>
              <a:t>&lt;</a:t>
            </a:r>
            <a:r>
              <a:rPr lang="en-US" dirty="0" err="1"/>
              <a:t>trigger_name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BEFORE/AFTER/INSTEAD OF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INSERT/DELETE/UPDATE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ON</a:t>
            </a:r>
            <a:r>
              <a:rPr lang="en-US" dirty="0"/>
              <a:t> &lt;</a:t>
            </a:r>
            <a:r>
              <a:rPr lang="en-US" dirty="0" err="1"/>
              <a:t>table_name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REFERENCING</a:t>
            </a:r>
            <a:r>
              <a:rPr lang="en-US" dirty="0"/>
              <a:t> (OLD AS O, NEW AS N)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FOR EACH ROW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WHEN (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test_condition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DECLARE</a:t>
            </a:r>
          </a:p>
          <a:p>
            <a:pPr marL="0" indent="0">
              <a:buNone/>
            </a:pPr>
            <a:r>
              <a:rPr lang="en-US" dirty="0"/>
              <a:t>	-- Variable declaration;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BEGIN</a:t>
            </a:r>
          </a:p>
          <a:p>
            <a:pPr marL="0" indent="0">
              <a:buNone/>
            </a:pPr>
            <a:r>
              <a:rPr lang="en-US" dirty="0"/>
              <a:t>	-- Executable statements;</a:t>
            </a:r>
          </a:p>
          <a:p>
            <a:pPr marL="0" indent="0">
              <a:buNone/>
            </a:pPr>
            <a:r>
              <a:rPr lang="en-US" dirty="0"/>
              <a:t>EXCEPTION</a:t>
            </a:r>
          </a:p>
          <a:p>
            <a:pPr marL="0" indent="0">
              <a:buNone/>
            </a:pPr>
            <a:r>
              <a:rPr lang="en-US" dirty="0"/>
              <a:t>	-- Error handling statements;</a:t>
            </a:r>
          </a:p>
          <a:p>
            <a:pPr marL="0" indent="0">
              <a:buNone/>
            </a:pPr>
            <a:r>
              <a:rPr lang="en-US" dirty="0"/>
              <a:t>END &lt;</a:t>
            </a:r>
            <a:r>
              <a:rPr lang="en-US" dirty="0" err="1"/>
              <a:t>trigger_name</a:t>
            </a:r>
            <a:r>
              <a:rPr lang="en-US" dirty="0" smtClean="0"/>
              <a:t>&gt;;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314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Explanation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819150"/>
            <a:ext cx="8229599" cy="4038599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CREATE OR REPLACE TRIGGER</a:t>
            </a:r>
            <a:r>
              <a:rPr lang="en-US" dirty="0"/>
              <a:t> is a keyword used to create a trigger and </a:t>
            </a:r>
            <a:r>
              <a:rPr lang="en-US" b="1" dirty="0"/>
              <a:t>&lt;</a:t>
            </a:r>
            <a:r>
              <a:rPr lang="en-US" b="1" dirty="0" err="1"/>
              <a:t>trigger_name</a:t>
            </a:r>
            <a:r>
              <a:rPr lang="en-US" b="1" dirty="0"/>
              <a:t>&gt;</a:t>
            </a:r>
            <a:r>
              <a:rPr lang="en-US" dirty="0"/>
              <a:t> is user-defined where a trigger can be given a name.</a:t>
            </a:r>
          </a:p>
          <a:p>
            <a:pPr algn="just"/>
            <a:r>
              <a:rPr lang="en-US" dirty="0"/>
              <a:t>BEFORE/AFTER/INSTEAD OF specify the timing of the trigger's </a:t>
            </a:r>
            <a:r>
              <a:rPr lang="en-US" dirty="0" err="1"/>
              <a:t>occurance</a:t>
            </a:r>
            <a:r>
              <a:rPr lang="en-US" dirty="0"/>
              <a:t>. INSTEAD OF is used when a view is created.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INSERT/UPDATE/DELETE</a:t>
            </a:r>
            <a:r>
              <a:rPr lang="en-US" dirty="0"/>
              <a:t> specify the DML statement.</a:t>
            </a:r>
          </a:p>
          <a:p>
            <a:pPr algn="just"/>
            <a:r>
              <a:rPr lang="en-US" b="1" dirty="0"/>
              <a:t>&lt;</a:t>
            </a:r>
            <a:r>
              <a:rPr lang="en-US" b="1" dirty="0" err="1"/>
              <a:t>table_name</a:t>
            </a:r>
            <a:r>
              <a:rPr lang="en-US" b="1" dirty="0"/>
              <a:t>&gt;</a:t>
            </a:r>
            <a:r>
              <a:rPr lang="en-US" dirty="0"/>
              <a:t> specify the name of the table on which DML statement is to be applied.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REFERENCING</a:t>
            </a:r>
            <a:r>
              <a:rPr lang="en-US" dirty="0"/>
              <a:t> is a keyword used to provide reference to old and new values for DML statements.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FOR EACH ROW</a:t>
            </a:r>
            <a:r>
              <a:rPr lang="en-US" dirty="0"/>
              <a:t> is the clause used to specify row level </a:t>
            </a:r>
            <a:r>
              <a:rPr lang="en-US" dirty="0" err="1"/>
              <a:t>tigger</a:t>
            </a:r>
            <a:r>
              <a:rPr lang="en-US" dirty="0"/>
              <a:t>.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WHEN</a:t>
            </a:r>
            <a:r>
              <a:rPr lang="en-US" dirty="0"/>
              <a:t> is a clause used to specify condition to be applied and is only applicable for row-level trigger.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DECLARE, BEGIN, EXCEPTION, END</a:t>
            </a:r>
            <a:r>
              <a:rPr lang="en-US" dirty="0"/>
              <a:t> are the different sections of PL/SQL code block containing variable declaration, executable statements, error handling statements and marking end of PL/SQL block respectively where DECLARE and EXCEPTION part are optional.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898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Programs!!! </a:t>
            </a:r>
            <a:r>
              <a:rPr lang="en-IN" dirty="0" smtClean="0">
                <a:solidFill>
                  <a:srgbClr val="FF0000"/>
                </a:solidFill>
              </a:rPr>
              <a:t>Before Insert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 smtClean="0"/>
              <a:t>1. CREATE </a:t>
            </a:r>
            <a:r>
              <a:rPr lang="en-IN" dirty="0"/>
              <a:t>TABLE </a:t>
            </a:r>
            <a:r>
              <a:rPr lang="en-IN" dirty="0" smtClean="0"/>
              <a:t>TEST(</a:t>
            </a:r>
            <a:r>
              <a:rPr lang="en-IN" dirty="0" err="1" smtClean="0"/>
              <a:t>num</a:t>
            </a:r>
            <a:r>
              <a:rPr lang="en-IN" dirty="0" smtClean="0"/>
              <a:t> </a:t>
            </a:r>
            <a:r>
              <a:rPr lang="en-IN" dirty="0"/>
              <a:t>number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2. CREATE </a:t>
            </a:r>
            <a:r>
              <a:rPr lang="en-US" dirty="0"/>
              <a:t>OR REPLACE TRIGGER </a:t>
            </a:r>
            <a:r>
              <a:rPr lang="en-US" dirty="0" smtClean="0"/>
              <a:t>mytrig1 </a:t>
            </a:r>
            <a:r>
              <a:rPr lang="en-US" b="1" dirty="0">
                <a:solidFill>
                  <a:srgbClr val="FF0000"/>
                </a:solidFill>
              </a:rPr>
              <a:t>BEFORE</a:t>
            </a:r>
            <a:r>
              <a:rPr lang="en-US" dirty="0"/>
              <a:t> INSERT ON Test </a:t>
            </a:r>
            <a:r>
              <a:rPr lang="en-US" dirty="0">
                <a:solidFill>
                  <a:srgbClr val="FF0000"/>
                </a:solidFill>
              </a:rPr>
              <a:t>FOR EACH ROW</a:t>
            </a:r>
          </a:p>
          <a:p>
            <a:pPr marL="0" indent="0">
              <a:buNone/>
            </a:pPr>
            <a:r>
              <a:rPr lang="en-US" dirty="0"/>
              <a:t>      BEGIN</a:t>
            </a:r>
          </a:p>
          <a:p>
            <a:pPr marL="0" indent="0">
              <a:buNone/>
            </a:pPr>
            <a:r>
              <a:rPr lang="en-US" dirty="0"/>
              <a:t>     DBMS_OUTPUT.PUT_LINE('The control is inside MyTrig1');     </a:t>
            </a:r>
          </a:p>
          <a:p>
            <a:pPr marL="0" indent="0">
              <a:buNone/>
            </a:pPr>
            <a:r>
              <a:rPr lang="en-US" dirty="0" smtClean="0"/>
              <a:t>     DBMS_OUTPUT.PUT_LINE</a:t>
            </a:r>
            <a:r>
              <a:rPr lang="en-US" dirty="0"/>
              <a:t>('Before insert of '||:</a:t>
            </a:r>
            <a:r>
              <a:rPr lang="en-US" dirty="0" err="1"/>
              <a:t>NEW.num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END</a:t>
            </a:r>
            <a:r>
              <a:rPr lang="en-US" dirty="0" smtClean="0"/>
              <a:t>;</a:t>
            </a:r>
            <a:endParaRPr lang="en-US" dirty="0"/>
          </a:p>
          <a:p>
            <a:pPr marL="0" indent="0">
              <a:buNone/>
            </a:pPr>
            <a:r>
              <a:rPr lang="en-IN" dirty="0" smtClean="0"/>
              <a:t>3. INSERT INTO TEST VALUES(1)</a:t>
            </a:r>
          </a:p>
          <a:p>
            <a:pPr marL="0" indent="0">
              <a:buNone/>
            </a:pPr>
            <a:r>
              <a:rPr lang="en-IN" b="1" dirty="0" smtClean="0"/>
              <a:t>Output: </a:t>
            </a:r>
            <a:endParaRPr lang="en-US" b="1" dirty="0" smtClean="0"/>
          </a:p>
          <a:p>
            <a:pPr marL="0" indent="0">
              <a:buNone/>
            </a:pPr>
            <a:r>
              <a:rPr lang="en-US" dirty="0" smtClean="0"/>
              <a:t>Before </a:t>
            </a:r>
            <a:r>
              <a:rPr lang="en-US" dirty="0"/>
              <a:t>insert of 1 </a:t>
            </a:r>
          </a:p>
          <a:p>
            <a:pPr marL="0" indent="0">
              <a:buNone/>
            </a:pPr>
            <a:r>
              <a:rPr lang="en-US" dirty="0" smtClean="0"/>
              <a:t>1 </a:t>
            </a:r>
            <a:r>
              <a:rPr lang="en-US" dirty="0"/>
              <a:t>row(s) inserted.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7302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 dirty="0"/>
              <a:t>Example Programs!!! </a:t>
            </a:r>
            <a:r>
              <a:rPr lang="en-US" dirty="0" smtClean="0">
                <a:solidFill>
                  <a:srgbClr val="FF0000"/>
                </a:solidFill>
              </a:rPr>
              <a:t>After </a:t>
            </a:r>
            <a:r>
              <a:rPr lang="en-US" dirty="0">
                <a:solidFill>
                  <a:srgbClr val="FF0000"/>
                </a:solidFill>
              </a:rPr>
              <a:t>insert </a:t>
            </a:r>
            <a:r>
              <a:rPr lang="en-US" dirty="0" smtClean="0">
                <a:solidFill>
                  <a:srgbClr val="FF0000"/>
                </a:solidFill>
              </a:rPr>
              <a:t>Trigger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(a)</a:t>
            </a:r>
            <a:r>
              <a:rPr lang="en-US" dirty="0"/>
              <a:t>  </a:t>
            </a:r>
            <a:r>
              <a:rPr lang="en-US" b="1" dirty="0"/>
              <a:t>CREATE OR REPLACE TRIGGER</a:t>
            </a:r>
            <a:r>
              <a:rPr lang="en-US" dirty="0"/>
              <a:t> </a:t>
            </a:r>
            <a:r>
              <a:rPr lang="en-US" dirty="0" smtClean="0"/>
              <a:t>mytrig2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>
                <a:solidFill>
                  <a:srgbClr val="FF0000"/>
                </a:solidFill>
              </a:rPr>
              <a:t>AFTER</a:t>
            </a:r>
            <a:r>
              <a:rPr lang="en-US" dirty="0"/>
              <a:t> INSERT ON </a:t>
            </a:r>
            <a:r>
              <a:rPr lang="en-US" dirty="0" smtClean="0"/>
              <a:t>Test </a:t>
            </a:r>
            <a:r>
              <a:rPr lang="en-US" dirty="0">
                <a:solidFill>
                  <a:srgbClr val="FF0000"/>
                </a:solidFill>
              </a:rPr>
              <a:t>FOR EACH ROW</a:t>
            </a: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     BEGIN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DBMS_OUTPUT.PUT_LINE('The control is inside </a:t>
            </a:r>
            <a:r>
              <a:rPr lang="en-US" dirty="0" smtClean="0"/>
              <a:t>MyTrig2'); 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DBMS_OUTPUT.PUT_LINE</a:t>
            </a:r>
            <a:r>
              <a:rPr lang="en-US" dirty="0" smtClean="0"/>
              <a:t>(‘After </a:t>
            </a:r>
            <a:r>
              <a:rPr lang="en-US" dirty="0"/>
              <a:t>insert of '||:</a:t>
            </a:r>
            <a:r>
              <a:rPr lang="en-US" dirty="0" err="1"/>
              <a:t>NEW.num</a:t>
            </a:r>
            <a:r>
              <a:rPr lang="en-US" dirty="0"/>
              <a:t>);     </a:t>
            </a:r>
          </a:p>
          <a:p>
            <a:pPr marL="0" indent="0">
              <a:buNone/>
            </a:pPr>
            <a:r>
              <a:rPr lang="en-US" dirty="0" smtClean="0"/>
              <a:t>END</a:t>
            </a:r>
            <a:r>
              <a:rPr lang="en-US" dirty="0"/>
              <a:t>;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      /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b="1" dirty="0"/>
              <a:t>(b)</a:t>
            </a:r>
            <a:r>
              <a:rPr lang="en-US" dirty="0"/>
              <a:t> INSERT INTO </a:t>
            </a:r>
            <a:r>
              <a:rPr lang="en-US" dirty="0" smtClean="0"/>
              <a:t>Test VALUES(2);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3738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Another Example!!!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OR REPLACE TRIGGER </a:t>
            </a:r>
            <a:r>
              <a:rPr lang="en-US" dirty="0" err="1"/>
              <a:t>test_insert_before</a:t>
            </a:r>
            <a:r>
              <a:rPr lang="en-US" dirty="0"/>
              <a:t> BEFORE INSERT ON Test </a:t>
            </a:r>
            <a:r>
              <a:rPr lang="en-US" dirty="0">
                <a:solidFill>
                  <a:srgbClr val="FF0000"/>
                </a:solidFill>
              </a:rPr>
              <a:t>FOR EACH ROW</a:t>
            </a:r>
          </a:p>
          <a:p>
            <a:pPr marL="342900" lvl="1" indent="0">
              <a:buNone/>
            </a:pPr>
            <a:r>
              <a:rPr lang="en-US" dirty="0"/>
              <a:t>BEGIN</a:t>
            </a:r>
          </a:p>
          <a:p>
            <a:pPr marL="342900" lvl="1" indent="0">
              <a:buNone/>
            </a:pPr>
            <a:r>
              <a:rPr lang="en-US" dirty="0"/>
              <a:t>If :</a:t>
            </a:r>
            <a:r>
              <a:rPr lang="en-US" dirty="0" err="1" smtClean="0"/>
              <a:t>NEW.num</a:t>
            </a:r>
            <a:r>
              <a:rPr lang="en-US" dirty="0" smtClean="0"/>
              <a:t>&gt;0 </a:t>
            </a:r>
            <a:r>
              <a:rPr lang="en-US" dirty="0"/>
              <a:t>then</a:t>
            </a:r>
          </a:p>
          <a:p>
            <a:pPr marL="342900" lvl="1" indent="0">
              <a:buNone/>
            </a:pPr>
            <a:r>
              <a:rPr lang="en-US" dirty="0" smtClean="0"/>
              <a:t>   DBMS_OUTPUT.PUT_LINE</a:t>
            </a:r>
            <a:r>
              <a:rPr lang="en-US" dirty="0"/>
              <a:t>('This is +</a:t>
            </a:r>
            <a:r>
              <a:rPr lang="en-US" dirty="0" err="1"/>
              <a:t>ve</a:t>
            </a:r>
            <a:r>
              <a:rPr lang="en-US" dirty="0"/>
              <a:t> No. '||:</a:t>
            </a:r>
            <a:r>
              <a:rPr lang="en-US" dirty="0" err="1" smtClean="0"/>
              <a:t>NEW.num</a:t>
            </a:r>
            <a:r>
              <a:rPr lang="en-US" dirty="0" smtClean="0"/>
              <a:t>);</a:t>
            </a:r>
            <a:endParaRPr lang="en-US" dirty="0"/>
          </a:p>
          <a:p>
            <a:pPr marL="342900" lvl="1" indent="0">
              <a:buNone/>
            </a:pPr>
            <a:r>
              <a:rPr lang="en-US" dirty="0"/>
              <a:t>else</a:t>
            </a:r>
          </a:p>
          <a:p>
            <a:pPr marL="342900" lvl="1" indent="0">
              <a:buNone/>
            </a:pPr>
            <a:r>
              <a:rPr lang="en-US" dirty="0" smtClean="0"/>
              <a:t>   DBMS_OUTPUT.PUT_LINE</a:t>
            </a:r>
            <a:r>
              <a:rPr lang="en-US" dirty="0"/>
              <a:t>('This is -</a:t>
            </a:r>
            <a:r>
              <a:rPr lang="en-US" dirty="0" err="1"/>
              <a:t>ve</a:t>
            </a:r>
            <a:r>
              <a:rPr lang="en-US" dirty="0"/>
              <a:t> No. '||:</a:t>
            </a:r>
            <a:r>
              <a:rPr lang="en-US" dirty="0" err="1" smtClean="0"/>
              <a:t>NEW.num</a:t>
            </a:r>
            <a:r>
              <a:rPr lang="en-US" dirty="0" smtClean="0"/>
              <a:t>);</a:t>
            </a:r>
            <a:endParaRPr lang="en-US" dirty="0"/>
          </a:p>
          <a:p>
            <a:pPr marL="342900" lvl="1" indent="0">
              <a:buNone/>
            </a:pPr>
            <a:r>
              <a:rPr lang="en-US" dirty="0"/>
              <a:t>end if;       </a:t>
            </a:r>
          </a:p>
          <a:p>
            <a:pPr marL="342900" lvl="1" indent="0">
              <a:buNone/>
            </a:pPr>
            <a:r>
              <a:rPr lang="en-US" dirty="0"/>
              <a:t>END;</a:t>
            </a:r>
          </a:p>
          <a:p>
            <a:r>
              <a:rPr lang="en-US" dirty="0" smtClean="0"/>
              <a:t>Output: INSERT INTO TEST VALUES(-5)</a:t>
            </a:r>
          </a:p>
          <a:p>
            <a:pPr marL="0" indent="0">
              <a:buNone/>
            </a:pPr>
            <a:r>
              <a:rPr lang="en-US" dirty="0" smtClean="0"/>
              <a:t>This is –</a:t>
            </a:r>
            <a:r>
              <a:rPr lang="en-US" dirty="0" err="1" smtClean="0"/>
              <a:t>ve</a:t>
            </a:r>
            <a:r>
              <a:rPr lang="en-US" dirty="0" smtClean="0"/>
              <a:t> no…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6096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Defining Your Own Error Messages: </a:t>
            </a:r>
            <a:r>
              <a:rPr lang="en-US" sz="2400" dirty="0" smtClean="0">
                <a:solidFill>
                  <a:srgbClr val="0070C0"/>
                </a:solidFill>
              </a:rPr>
              <a:t> 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>
                <a:solidFill>
                  <a:srgbClr val="FF0000"/>
                </a:solidFill>
              </a:rPr>
              <a:t>RAISE_APPLICATION_ERROR()</a:t>
            </a:r>
            <a:endParaRPr lang="en-IN" sz="18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974" y="895350"/>
            <a:ext cx="8277226" cy="40386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The </a:t>
            </a:r>
            <a:r>
              <a:rPr lang="en-US" dirty="0"/>
              <a:t>procedure RAISE_APPLICATION_ERROR lets you issue user-defined ORA- error messages from stored subprograms. That way, you can report errors to your application and avoid returning unhandled exceptions.</a:t>
            </a:r>
          </a:p>
          <a:p>
            <a:pPr algn="just"/>
            <a:r>
              <a:rPr lang="en-US" dirty="0"/>
              <a:t>To call RAISE_APPLICATION_ERROR, use the </a:t>
            </a:r>
            <a:r>
              <a:rPr lang="en-US" dirty="0" smtClean="0"/>
              <a:t>following Syntax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sz="1800" b="1" dirty="0" smtClean="0">
                <a:solidFill>
                  <a:srgbClr val="FF0000"/>
                </a:solidFill>
              </a:rPr>
              <a:t>RAISE_APPLICATION_ERROR(</a:t>
            </a:r>
            <a:r>
              <a:rPr lang="en-US" sz="1800" dirty="0" err="1" smtClean="0"/>
              <a:t>error_number</a:t>
            </a:r>
            <a:r>
              <a:rPr lang="en-US" sz="1800" dirty="0"/>
              <a:t>, message[, {TRUE | FALSE}]</a:t>
            </a:r>
            <a:r>
              <a:rPr lang="en-US" sz="1800" b="1" dirty="0">
                <a:solidFill>
                  <a:srgbClr val="FF0000"/>
                </a:solidFill>
              </a:rPr>
              <a:t>)</a:t>
            </a:r>
            <a:r>
              <a:rPr lang="en-US" sz="1800" dirty="0"/>
              <a:t>;</a:t>
            </a:r>
            <a:br>
              <a:rPr lang="en-US" sz="1800" dirty="0"/>
            </a:b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Where,</a:t>
            </a:r>
            <a:r>
              <a:rPr lang="en-US" b="1" dirty="0"/>
              <a:t> </a:t>
            </a:r>
            <a:endParaRPr lang="en-US" b="1" dirty="0" smtClean="0"/>
          </a:p>
          <a:p>
            <a:r>
              <a:rPr lang="en-US" b="1" dirty="0" err="1" smtClean="0"/>
              <a:t>error_number</a:t>
            </a:r>
            <a:r>
              <a:rPr lang="en-US" dirty="0"/>
              <a:t> is a negative integer in the range </a:t>
            </a:r>
            <a:r>
              <a:rPr lang="en-US" dirty="0">
                <a:solidFill>
                  <a:srgbClr val="FF0000"/>
                </a:solidFill>
              </a:rPr>
              <a:t>-20000 .. -20999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b="1" dirty="0" smtClean="0"/>
              <a:t>message</a:t>
            </a:r>
            <a:r>
              <a:rPr lang="en-US" dirty="0"/>
              <a:t> is a character string up to 2048 bytes long. </a:t>
            </a:r>
            <a:endParaRPr lang="en-US" dirty="0" smtClean="0"/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4674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Program!!!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000" dirty="0"/>
              <a:t>CREATE OR REPLACE TRIGGER </a:t>
            </a:r>
            <a:r>
              <a:rPr lang="en-US" sz="2000" b="1" dirty="0">
                <a:solidFill>
                  <a:srgbClr val="0070C0"/>
                </a:solidFill>
              </a:rPr>
              <a:t>mytrig1</a:t>
            </a:r>
            <a:r>
              <a:rPr lang="en-US" sz="2000" dirty="0"/>
              <a:t> BEFORE INSERT ON </a:t>
            </a:r>
            <a:r>
              <a:rPr lang="en-US" sz="2000" b="1" dirty="0">
                <a:solidFill>
                  <a:srgbClr val="0070C0"/>
                </a:solidFill>
              </a:rPr>
              <a:t>test</a:t>
            </a:r>
            <a:r>
              <a:rPr lang="en-US" sz="2000" dirty="0"/>
              <a:t> FOR EACH ROW</a:t>
            </a:r>
          </a:p>
          <a:p>
            <a:pPr marL="0" indent="0" algn="just">
              <a:buNone/>
            </a:pPr>
            <a:r>
              <a:rPr lang="en-US" b="1" dirty="0" smtClean="0"/>
              <a:t>BEGIN</a:t>
            </a:r>
            <a:r>
              <a:rPr lang="en-US" dirty="0" smtClean="0"/>
              <a:t> 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IF </a:t>
            </a:r>
            <a:r>
              <a:rPr lang="en-US" b="1" dirty="0" smtClean="0">
                <a:solidFill>
                  <a:srgbClr val="C00000"/>
                </a:solidFill>
              </a:rPr>
              <a:t>:</a:t>
            </a:r>
            <a:r>
              <a:rPr lang="en-US" b="1" dirty="0" err="1">
                <a:solidFill>
                  <a:srgbClr val="C00000"/>
                </a:solidFill>
              </a:rPr>
              <a:t>N</a:t>
            </a:r>
            <a:r>
              <a:rPr lang="en-US" b="1" dirty="0" err="1" smtClean="0">
                <a:solidFill>
                  <a:srgbClr val="C00000"/>
                </a:solidFill>
              </a:rPr>
              <a:t>ew.</a:t>
            </a:r>
            <a:r>
              <a:rPr lang="en-US" dirty="0" err="1" smtClean="0">
                <a:solidFill>
                  <a:srgbClr val="0070C0"/>
                </a:solidFill>
              </a:rPr>
              <a:t>num</a:t>
            </a:r>
            <a:r>
              <a:rPr lang="en-US" dirty="0" smtClean="0"/>
              <a:t> </a:t>
            </a:r>
            <a:r>
              <a:rPr lang="en-US" dirty="0"/>
              <a:t>&gt; 0 </a:t>
            </a:r>
            <a:r>
              <a:rPr lang="en-US" dirty="0" smtClean="0"/>
              <a:t>THEN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 </a:t>
            </a:r>
            <a:r>
              <a:rPr lang="en-US" sz="1800" dirty="0" smtClean="0"/>
              <a:t>DBMS_OUTPUT.PUT_LINE</a:t>
            </a:r>
            <a:r>
              <a:rPr lang="en-US" sz="1800" dirty="0"/>
              <a:t>('This is my trigger-1, which is executed before inserting value '||</a:t>
            </a:r>
            <a:r>
              <a:rPr lang="en-US" sz="1800" dirty="0">
                <a:solidFill>
                  <a:srgbClr val="C00000"/>
                </a:solidFill>
              </a:rPr>
              <a:t>:</a:t>
            </a:r>
            <a:r>
              <a:rPr lang="en-US" sz="1800" dirty="0" err="1">
                <a:solidFill>
                  <a:srgbClr val="C00000"/>
                </a:solidFill>
              </a:rPr>
              <a:t>NEW.</a:t>
            </a:r>
            <a:r>
              <a:rPr lang="en-US" sz="1800" dirty="0" err="1">
                <a:solidFill>
                  <a:srgbClr val="0070C0"/>
                </a:solidFill>
              </a:rPr>
              <a:t>num</a:t>
            </a:r>
            <a:r>
              <a:rPr lang="en-US" sz="1800" dirty="0"/>
              <a:t>||' Into the table');</a:t>
            </a:r>
          </a:p>
          <a:p>
            <a:pPr marL="0" indent="0" algn="just">
              <a:buNone/>
            </a:pPr>
            <a:r>
              <a:rPr lang="en-US" dirty="0" smtClean="0"/>
              <a:t>ELSE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 </a:t>
            </a:r>
            <a:r>
              <a:rPr lang="en-US" sz="1800" dirty="0" smtClean="0">
                <a:solidFill>
                  <a:srgbClr val="FF0000"/>
                </a:solidFill>
              </a:rPr>
              <a:t>RAISE_APPLICATION_ERROR</a:t>
            </a:r>
            <a:r>
              <a:rPr lang="en-US" sz="1800" b="1" dirty="0">
                <a:solidFill>
                  <a:srgbClr val="FF0000"/>
                </a:solidFill>
              </a:rPr>
              <a:t>(</a:t>
            </a:r>
            <a:r>
              <a:rPr lang="en-US" sz="1800" dirty="0">
                <a:solidFill>
                  <a:srgbClr val="FF0000"/>
                </a:solidFill>
              </a:rPr>
              <a:t>-20001 </a:t>
            </a:r>
            <a:r>
              <a:rPr lang="en-US" sz="1800" dirty="0"/>
              <a:t>,'Negative Numbers are not allows, </a:t>
            </a:r>
            <a:r>
              <a:rPr lang="en-US" sz="1800" dirty="0" err="1"/>
              <a:t>pls</a:t>
            </a:r>
            <a:r>
              <a:rPr lang="en-US" sz="1800" dirty="0"/>
              <a:t> insert +</a:t>
            </a:r>
            <a:r>
              <a:rPr lang="en-US" sz="1800" dirty="0" err="1"/>
              <a:t>ve</a:t>
            </a:r>
            <a:r>
              <a:rPr lang="en-US" sz="1800" dirty="0"/>
              <a:t> values....'</a:t>
            </a:r>
            <a:r>
              <a:rPr lang="en-US" sz="1800" b="1" dirty="0">
                <a:solidFill>
                  <a:srgbClr val="FF0000"/>
                </a:solidFill>
              </a:rPr>
              <a:t>)</a:t>
            </a:r>
            <a:r>
              <a:rPr lang="en-US" sz="1800" dirty="0"/>
              <a:t>;</a:t>
            </a:r>
          </a:p>
          <a:p>
            <a:pPr marL="0" indent="0" algn="just">
              <a:buNone/>
            </a:pPr>
            <a:r>
              <a:rPr lang="en-US" dirty="0" smtClean="0"/>
              <a:t>END IF;</a:t>
            </a:r>
            <a:endParaRPr lang="en-US" dirty="0"/>
          </a:p>
          <a:p>
            <a:pPr marL="0" indent="0" algn="just">
              <a:buNone/>
            </a:pPr>
            <a:r>
              <a:rPr lang="en-US" b="1" dirty="0"/>
              <a:t>END;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226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895350"/>
            <a:ext cx="8229599" cy="3962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CREATE OR REPLACE TRIGGER </a:t>
            </a:r>
            <a:r>
              <a:rPr lang="en-US" b="1" dirty="0" err="1">
                <a:solidFill>
                  <a:srgbClr val="0070C0"/>
                </a:solidFill>
              </a:rPr>
              <a:t>CheckAge</a:t>
            </a: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 smtClean="0"/>
              <a:t>BEFORE INSERT </a:t>
            </a:r>
            <a:r>
              <a:rPr lang="en-US" dirty="0"/>
              <a:t>OR UPDATE ON </a:t>
            </a:r>
            <a:r>
              <a:rPr lang="en-US" b="1" dirty="0" smtClean="0">
                <a:solidFill>
                  <a:srgbClr val="0070C0"/>
                </a:solidFill>
              </a:rPr>
              <a:t>student</a:t>
            </a:r>
            <a:r>
              <a:rPr lang="en-US" dirty="0" smtClean="0"/>
              <a:t> FOR </a:t>
            </a:r>
            <a:r>
              <a:rPr lang="en-US" dirty="0"/>
              <a:t>EACH ROW</a:t>
            </a:r>
          </a:p>
          <a:p>
            <a:pPr marL="0" indent="0">
              <a:buNone/>
            </a:pPr>
            <a:r>
              <a:rPr lang="en-US" dirty="0"/>
              <a:t>BEGIN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IF </a:t>
            </a:r>
            <a:r>
              <a:rPr lang="en-US" b="1" dirty="0">
                <a:solidFill>
                  <a:srgbClr val="FF0000"/>
                </a:solidFill>
              </a:rPr>
              <a:t>:</a:t>
            </a:r>
            <a:r>
              <a:rPr lang="en-US" b="1" dirty="0" err="1" smtClean="0">
                <a:solidFill>
                  <a:srgbClr val="FF0000"/>
                </a:solidFill>
              </a:rPr>
              <a:t>new.</a:t>
            </a:r>
            <a:r>
              <a:rPr lang="en-US" b="1" dirty="0" err="1" smtClean="0"/>
              <a:t>Age</a:t>
            </a:r>
            <a:r>
              <a:rPr lang="en-US" b="1" dirty="0" smtClean="0"/>
              <a:t> </a:t>
            </a:r>
            <a:r>
              <a:rPr lang="en-US" dirty="0" smtClean="0"/>
              <a:t>&gt; 30 </a:t>
            </a:r>
            <a:r>
              <a:rPr lang="en-US" dirty="0"/>
              <a:t>THEN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sz="1800" b="1" dirty="0" smtClean="0">
                <a:solidFill>
                  <a:srgbClr val="FF0000"/>
                </a:solidFill>
              </a:rPr>
              <a:t>RAISE_APPLICATION_ERROR</a:t>
            </a:r>
            <a:r>
              <a:rPr lang="en-US" sz="1800" dirty="0" smtClean="0"/>
              <a:t>(-</a:t>
            </a:r>
            <a:r>
              <a:rPr lang="en-US" sz="1800" dirty="0"/>
              <a:t>20001, 'Age should not be greater than 30</a:t>
            </a:r>
            <a:r>
              <a:rPr lang="en-US" sz="1800" dirty="0" smtClean="0"/>
              <a:t>');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</a:t>
            </a:r>
            <a:r>
              <a:rPr lang="en-US" dirty="0" smtClean="0"/>
              <a:t>END </a:t>
            </a:r>
            <a:r>
              <a:rPr lang="en-US" dirty="0"/>
              <a:t>IF;</a:t>
            </a:r>
          </a:p>
          <a:p>
            <a:pPr marL="0" indent="0">
              <a:buNone/>
            </a:pPr>
            <a:r>
              <a:rPr lang="en-US" dirty="0"/>
              <a:t>END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>
                <a:solidFill>
                  <a:srgbClr val="0070C0"/>
                </a:solidFill>
              </a:rPr>
              <a:t>Student(</a:t>
            </a:r>
            <a:r>
              <a:rPr lang="en-US" dirty="0" err="1" smtClean="0">
                <a:solidFill>
                  <a:srgbClr val="0070C0"/>
                </a:solidFill>
              </a:rPr>
              <a:t>rn</a:t>
            </a:r>
            <a:r>
              <a:rPr lang="en-US" dirty="0" smtClean="0">
                <a:solidFill>
                  <a:srgbClr val="0070C0"/>
                </a:solidFill>
              </a:rPr>
              <a:t>, name, age)</a:t>
            </a:r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912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Let's take a few examples and try to understand this</a:t>
            </a:r>
            <a:r>
              <a:rPr lang="en-US" sz="2400" dirty="0" smtClean="0"/>
              <a:t>,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895350"/>
            <a:ext cx="8305799" cy="40385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Example 1:</a:t>
            </a:r>
            <a:endParaRPr lang="en-US" dirty="0"/>
          </a:p>
          <a:p>
            <a:r>
              <a:rPr lang="en-US" dirty="0"/>
              <a:t>INSERT into STUDENT values(16, '</a:t>
            </a:r>
            <a:r>
              <a:rPr lang="en-US" dirty="0" err="1"/>
              <a:t>Saina</a:t>
            </a:r>
            <a:r>
              <a:rPr lang="en-US" dirty="0"/>
              <a:t>', </a:t>
            </a:r>
            <a:r>
              <a:rPr lang="en-US" dirty="0" smtClean="0"/>
              <a:t>32);</a:t>
            </a:r>
          </a:p>
          <a:p>
            <a:r>
              <a:rPr lang="en-US" dirty="0" smtClean="0"/>
              <a:t>Output: Age </a:t>
            </a:r>
            <a:r>
              <a:rPr lang="en-US" dirty="0"/>
              <a:t>should not be greater than </a:t>
            </a:r>
            <a:r>
              <a:rPr lang="en-US" dirty="0" smtClean="0"/>
              <a:t>30</a:t>
            </a:r>
          </a:p>
          <a:p>
            <a:pPr marL="0" indent="0">
              <a:buNone/>
            </a:pPr>
            <a:r>
              <a:rPr lang="en-US" b="1" dirty="0" smtClean="0"/>
              <a:t>Example </a:t>
            </a:r>
            <a:r>
              <a:rPr lang="en-US" b="1" dirty="0"/>
              <a:t>2:</a:t>
            </a:r>
            <a:endParaRPr lang="en-US" dirty="0"/>
          </a:p>
          <a:p>
            <a:r>
              <a:rPr lang="en-US" dirty="0"/>
              <a:t>INSERT into STUDENT values(17, 'Anna', </a:t>
            </a:r>
            <a:r>
              <a:rPr lang="en-US" dirty="0" smtClean="0"/>
              <a:t>22);</a:t>
            </a:r>
          </a:p>
          <a:p>
            <a:r>
              <a:rPr lang="en-US" dirty="0" smtClean="0"/>
              <a:t>Output: 1 </a:t>
            </a:r>
            <a:r>
              <a:rPr lang="en-US" dirty="0"/>
              <a:t>row created</a:t>
            </a:r>
          </a:p>
          <a:p>
            <a:pPr marL="0" indent="0">
              <a:buNone/>
            </a:pPr>
            <a:r>
              <a:rPr lang="en-US" b="1" dirty="0"/>
              <a:t>Example 3:</a:t>
            </a:r>
            <a:endParaRPr lang="en-US" dirty="0"/>
          </a:p>
          <a:p>
            <a:r>
              <a:rPr lang="en-US" dirty="0"/>
              <a:t>UPDATE STUDENT set age=31 where ROLLNO=12; </a:t>
            </a:r>
            <a:endParaRPr lang="en-US" dirty="0" smtClean="0"/>
          </a:p>
          <a:p>
            <a:r>
              <a:rPr lang="en-US" dirty="0"/>
              <a:t>Output: </a:t>
            </a:r>
            <a:r>
              <a:rPr lang="en-US" dirty="0" smtClean="0"/>
              <a:t>Age </a:t>
            </a:r>
            <a:r>
              <a:rPr lang="en-US" dirty="0"/>
              <a:t>should not be greater than 30 </a:t>
            </a:r>
          </a:p>
          <a:p>
            <a:pPr marL="0" indent="0">
              <a:buNone/>
            </a:pPr>
            <a:r>
              <a:rPr lang="en-US" b="1" dirty="0"/>
              <a:t>Example 4:</a:t>
            </a:r>
            <a:endParaRPr lang="en-US" dirty="0"/>
          </a:p>
          <a:p>
            <a:r>
              <a:rPr lang="en-US" dirty="0"/>
              <a:t>UPDATE STUDENT set age=23 where ROLLNO=12; </a:t>
            </a:r>
            <a:endParaRPr lang="en-US" dirty="0" smtClean="0"/>
          </a:p>
          <a:p>
            <a:r>
              <a:rPr lang="en-US" dirty="0"/>
              <a:t>Output: </a:t>
            </a:r>
            <a:r>
              <a:rPr lang="en-US" dirty="0" smtClean="0"/>
              <a:t>1 </a:t>
            </a:r>
            <a:r>
              <a:rPr lang="en-US" dirty="0"/>
              <a:t>row updated.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898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0"/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:- Statement Trigger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buNone/>
            </a:pPr>
            <a:r>
              <a:rPr lang="en-GB" sz="1600" dirty="0" smtClean="0">
                <a:latin typeface="Times New Roman" pitchFamily="18" charset="0"/>
                <a:cs typeface="Times New Roman" pitchFamily="18" charset="0"/>
              </a:rPr>
              <a:t>CREATE 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OR REPLACE TRIGGER mytrig1 BEFORE DELETE OR INSERT OR UPDATE ON </a:t>
            </a:r>
            <a:r>
              <a:rPr lang="en-GB" sz="1600" dirty="0" err="1" smtClean="0">
                <a:latin typeface="Times New Roman" pitchFamily="18" charset="0"/>
                <a:cs typeface="Times New Roman" pitchFamily="18" charset="0"/>
              </a:rPr>
              <a:t>emp</a:t>
            </a:r>
            <a:endParaRPr lang="en-GB" sz="1600" dirty="0">
              <a:latin typeface="Times New Roman" pitchFamily="18" charset="0"/>
              <a:cs typeface="Times New Roman" pitchFamily="18" charset="0"/>
            </a:endParaRPr>
          </a:p>
          <a:p>
            <a:pPr indent="0">
              <a:buNone/>
            </a:pP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BEGIN     </a:t>
            </a:r>
          </a:p>
          <a:p>
            <a:pPr indent="0">
              <a:buNone/>
            </a:pPr>
            <a:r>
              <a:rPr lang="en-GB" sz="1600" dirty="0" smtClean="0">
                <a:latin typeface="Times New Roman" pitchFamily="18" charset="0"/>
                <a:cs typeface="Times New Roman" pitchFamily="18" charset="0"/>
              </a:rPr>
              <a:t>  RAISE_APPLICATION_ERROR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(-20500, 'table is secured');     </a:t>
            </a:r>
          </a:p>
          <a:p>
            <a:pPr indent="0">
              <a:buNone/>
            </a:pPr>
            <a:endParaRPr lang="en-GB" sz="1600" dirty="0">
              <a:latin typeface="Times New Roman" pitchFamily="18" charset="0"/>
              <a:cs typeface="Times New Roman" pitchFamily="18" charset="0"/>
            </a:endParaRPr>
          </a:p>
          <a:p>
            <a:pPr indent="0">
              <a:buNone/>
            </a:pP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END</a:t>
            </a:r>
            <a:r>
              <a:rPr lang="en-GB" sz="16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indent="0">
              <a:buNone/>
            </a:pPr>
            <a:endParaRPr lang="en-GB" sz="1600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7082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0"/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:- Statement Trigger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buNone/>
            </a:pPr>
            <a:r>
              <a:rPr lang="en-GB" sz="1600" dirty="0" smtClean="0">
                <a:latin typeface="Times New Roman" pitchFamily="18" charset="0"/>
                <a:cs typeface="Times New Roman" pitchFamily="18" charset="0"/>
              </a:rPr>
              <a:t>CREATE 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OR REPLACE TRIGGER </a:t>
            </a:r>
            <a:r>
              <a:rPr lang="en-GB" sz="1600" dirty="0" smtClean="0">
                <a:latin typeface="Times New Roman" pitchFamily="18" charset="0"/>
                <a:cs typeface="Times New Roman" pitchFamily="18" charset="0"/>
              </a:rPr>
              <a:t>mytrig4 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BEFORE DELETE OR INSERT OR UPDATE ON </a:t>
            </a:r>
            <a:r>
              <a:rPr lang="en-GB" sz="1600" dirty="0" err="1" smtClean="0">
                <a:latin typeface="Times New Roman" pitchFamily="18" charset="0"/>
                <a:cs typeface="Times New Roman" pitchFamily="18" charset="0"/>
              </a:rPr>
              <a:t>emp</a:t>
            </a:r>
            <a:endParaRPr lang="en-GB" sz="1600" dirty="0">
              <a:latin typeface="Times New Roman" pitchFamily="18" charset="0"/>
              <a:cs typeface="Times New Roman" pitchFamily="18" charset="0"/>
            </a:endParaRPr>
          </a:p>
          <a:p>
            <a:pPr indent="0">
              <a:buNone/>
            </a:pP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BEGIN     </a:t>
            </a:r>
          </a:p>
          <a:p>
            <a:pPr indent="0">
              <a:buNone/>
            </a:pP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GB" sz="16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TO_CHAR(SYSDATE, 'day') IN ('sat', 'sun')</a:t>
            </a:r>
            <a:r>
              <a:rPr lang="en-GB" sz="16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1600" b="1" dirty="0"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16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TO_CHAR(SYSDATE,'</a:t>
            </a:r>
            <a:r>
              <a:rPr lang="en-GB" sz="1600" dirty="0" err="1">
                <a:latin typeface="Times New Roman" pitchFamily="18" charset="0"/>
                <a:cs typeface="Times New Roman" pitchFamily="18" charset="0"/>
              </a:rPr>
              <a:t>hh:mi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') NOT BETWEEN '08:30' AND '18:30') THEN </a:t>
            </a:r>
            <a:endParaRPr lang="en-GB" sz="1600" dirty="0" smtClean="0">
              <a:latin typeface="Times New Roman" pitchFamily="18" charset="0"/>
              <a:cs typeface="Times New Roman" pitchFamily="18" charset="0"/>
            </a:endParaRPr>
          </a:p>
          <a:p>
            <a:pPr indent="0">
              <a:buNone/>
            </a:pP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1600" dirty="0" smtClean="0">
                <a:latin typeface="Times New Roman" pitchFamily="18" charset="0"/>
                <a:cs typeface="Times New Roman" pitchFamily="18" charset="0"/>
              </a:rPr>
              <a:t>RAISE_APPLICATION_ERROR</a:t>
            </a: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(-20500, 'table is secured');     </a:t>
            </a:r>
          </a:p>
          <a:p>
            <a:pPr indent="0">
              <a:buNone/>
            </a:pP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END IF;</a:t>
            </a:r>
          </a:p>
          <a:p>
            <a:pPr indent="0">
              <a:buNone/>
            </a:pPr>
            <a:r>
              <a:rPr lang="en-GB" sz="1600" dirty="0">
                <a:latin typeface="Times New Roman" pitchFamily="18" charset="0"/>
                <a:cs typeface="Times New Roman" pitchFamily="18" charset="0"/>
              </a:rPr>
              <a:t>END</a:t>
            </a:r>
            <a:r>
              <a:rPr lang="en-GB" sz="16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indent="0">
              <a:buNone/>
            </a:pPr>
            <a:endParaRPr lang="en-GB" sz="1600" dirty="0">
              <a:latin typeface="Times New Roman" pitchFamily="18" charset="0"/>
              <a:cs typeface="Times New Roman" pitchFamily="18" charset="0"/>
            </a:endParaRPr>
          </a:p>
          <a:p>
            <a:pPr indent="0">
              <a:buNone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/*The </a:t>
            </a:r>
            <a:r>
              <a:rPr lang="en-GB" sz="1800" dirty="0">
                <a:latin typeface="Times New Roman" pitchFamily="18" charset="0"/>
                <a:cs typeface="Times New Roman" pitchFamily="18" charset="0"/>
              </a:rPr>
              <a:t>above example shows a trigger that limits the DML actions to the employee table to weekdays from 8.30am to 6.30pm. If a user tries to insert/update/delete a row in the EMPLOYEE table, a warning message will be prompted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.*/ 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5720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Simple Log of </a:t>
            </a:r>
            <a:r>
              <a:rPr lang="en-IN" dirty="0" err="1" smtClean="0"/>
              <a:t>Ex_Stu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buNone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CREATE OR REPLACE TRIGGER </a:t>
            </a:r>
            <a:r>
              <a:rPr lang="en-GB" sz="2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mytrig2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AFTER DELETE ON </a:t>
            </a:r>
            <a:r>
              <a:rPr lang="en-GB" sz="2000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stu</a:t>
            </a:r>
            <a:r>
              <a:rPr lang="en-GB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FOR EACH ROW</a:t>
            </a:r>
          </a:p>
          <a:p>
            <a:pPr indent="0">
              <a:buNone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BEGIN 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pPr indent="0">
              <a:buNone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    INSERT </a:t>
            </a:r>
            <a:r>
              <a:rPr lang="en-GB" sz="1800" dirty="0">
                <a:latin typeface="Times New Roman" pitchFamily="18" charset="0"/>
                <a:cs typeface="Times New Roman" pitchFamily="18" charset="0"/>
              </a:rPr>
              <a:t>INTO </a:t>
            </a:r>
            <a:r>
              <a:rPr lang="en-GB" sz="1800" b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ex_stu</a:t>
            </a:r>
            <a:r>
              <a:rPr lang="en-GB" sz="1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VALUES </a:t>
            </a:r>
            <a:r>
              <a:rPr lang="en-GB" sz="1800" dirty="0">
                <a:latin typeface="Times New Roman" pitchFamily="18" charset="0"/>
                <a:cs typeface="Times New Roman" pitchFamily="18" charset="0"/>
              </a:rPr>
              <a:t>(:</a:t>
            </a:r>
            <a:r>
              <a:rPr lang="en-GB" sz="1800" dirty="0" err="1" smtClean="0">
                <a:latin typeface="Times New Roman" pitchFamily="18" charset="0"/>
                <a:cs typeface="Times New Roman" pitchFamily="18" charset="0"/>
              </a:rPr>
              <a:t>old.rn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, :old.name</a:t>
            </a:r>
            <a:r>
              <a:rPr lang="en-GB" sz="1800" dirty="0">
                <a:latin typeface="Times New Roman" pitchFamily="18" charset="0"/>
                <a:cs typeface="Times New Roman" pitchFamily="18" charset="0"/>
              </a:rPr>
              <a:t>,:</a:t>
            </a:r>
            <a:r>
              <a:rPr lang="en-GB" sz="1800" dirty="0" err="1" smtClean="0">
                <a:latin typeface="Times New Roman" pitchFamily="18" charset="0"/>
                <a:cs typeface="Times New Roman" pitchFamily="18" charset="0"/>
              </a:rPr>
              <a:t>old.age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GB" sz="1800" dirty="0" err="1">
                <a:latin typeface="Times New Roman" pitchFamily="18" charset="0"/>
                <a:cs typeface="Times New Roman" pitchFamily="18" charset="0"/>
              </a:rPr>
              <a:t>sysdate</a:t>
            </a:r>
            <a:r>
              <a:rPr lang="en-GB" sz="1800" dirty="0">
                <a:latin typeface="Times New Roman" pitchFamily="18" charset="0"/>
                <a:cs typeface="Times New Roman" pitchFamily="18" charset="0"/>
              </a:rPr>
              <a:t>);         </a:t>
            </a:r>
          </a:p>
          <a:p>
            <a:pPr indent="0">
              <a:buNone/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END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285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975" y="438150"/>
            <a:ext cx="7886700" cy="4194573"/>
          </a:xfrm>
        </p:spPr>
        <p:txBody>
          <a:bodyPr>
            <a:normAutofit fontScale="85000" lnSpcReduction="20000"/>
          </a:bodyPr>
          <a:lstStyle/>
          <a:p>
            <a:pPr indent="0">
              <a:buNone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CREATE OR REPLACE TRIGGER </a:t>
            </a:r>
            <a:r>
              <a:rPr lang="en-GB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mytrig5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pPr indent="0">
              <a:buNone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AFTER DELETE OR INSERT OR UPDATE ON </a:t>
            </a:r>
            <a:r>
              <a:rPr lang="en-GB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employee </a:t>
            </a:r>
            <a:r>
              <a:rPr lang="en-GB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GB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EACH ROW</a:t>
            </a:r>
          </a:p>
          <a:p>
            <a:pPr indent="0">
              <a:buNone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BEGIN        </a:t>
            </a:r>
          </a:p>
          <a:p>
            <a:pPr indent="0">
              <a:buNone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GB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DELETING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 THEN   </a:t>
            </a:r>
          </a:p>
          <a:p>
            <a:pPr indent="0">
              <a:buNone/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INSERT INTO </a:t>
            </a:r>
            <a:r>
              <a:rPr lang="en-GB" sz="2000" b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xemployee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GB" sz="2000" dirty="0" err="1" smtClean="0">
                <a:latin typeface="Times New Roman" pitchFamily="18" charset="0"/>
                <a:cs typeface="Times New Roman" pitchFamily="18" charset="0"/>
              </a:rPr>
              <a:t>emp_ssn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GB" sz="2000" dirty="0" err="1" smtClean="0">
                <a:latin typeface="Times New Roman" pitchFamily="18" charset="0"/>
                <a:cs typeface="Times New Roman" pitchFamily="18" charset="0"/>
              </a:rPr>
              <a:t>emp_last_name,emp_first_name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GB" sz="2000" dirty="0" err="1" smtClean="0">
                <a:latin typeface="Times New Roman" pitchFamily="18" charset="0"/>
                <a:cs typeface="Times New Roman" pitchFamily="18" charset="0"/>
              </a:rPr>
              <a:t>deldate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)          </a:t>
            </a:r>
          </a:p>
          <a:p>
            <a:pPr indent="0">
              <a:buNone/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VALUES (:</a:t>
            </a:r>
            <a:r>
              <a:rPr lang="en-GB" sz="2000" dirty="0" err="1" smtClean="0">
                <a:latin typeface="Times New Roman" pitchFamily="18" charset="0"/>
                <a:cs typeface="Times New Roman" pitchFamily="18" charset="0"/>
              </a:rPr>
              <a:t>old.emp_ssn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, :old.emp_last_name,:</a:t>
            </a:r>
            <a:r>
              <a:rPr lang="en-GB" sz="2000" dirty="0" err="1" smtClean="0">
                <a:latin typeface="Times New Roman" pitchFamily="18" charset="0"/>
                <a:cs typeface="Times New Roman" pitchFamily="18" charset="0"/>
              </a:rPr>
              <a:t>old.emp_first_name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GB" sz="2000" dirty="0" err="1" smtClean="0">
                <a:latin typeface="Times New Roman" pitchFamily="18" charset="0"/>
                <a:cs typeface="Times New Roman" pitchFamily="18" charset="0"/>
              </a:rPr>
              <a:t>sysdate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);         </a:t>
            </a:r>
          </a:p>
          <a:p>
            <a:pPr indent="0">
              <a:buNone/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ELSIF </a:t>
            </a:r>
            <a:r>
              <a:rPr lang="en-GB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INSERTING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 THEN         </a:t>
            </a:r>
          </a:p>
          <a:p>
            <a:pPr indent="0">
              <a:buNone/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INSERT INTO </a:t>
            </a:r>
            <a:r>
              <a:rPr lang="en-GB" sz="2000" b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nemployee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GB" sz="2000" dirty="0" err="1" smtClean="0">
                <a:latin typeface="Times New Roman" pitchFamily="18" charset="0"/>
                <a:cs typeface="Times New Roman" pitchFamily="18" charset="0"/>
              </a:rPr>
              <a:t>emp_ssn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GB" sz="2000" dirty="0" err="1" smtClean="0">
                <a:latin typeface="Times New Roman" pitchFamily="18" charset="0"/>
                <a:cs typeface="Times New Roman" pitchFamily="18" charset="0"/>
              </a:rPr>
              <a:t>emp_last_name,emp_first_name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GB" sz="2000" dirty="0" err="1" smtClean="0">
                <a:latin typeface="Times New Roman" pitchFamily="18" charset="0"/>
                <a:cs typeface="Times New Roman" pitchFamily="18" charset="0"/>
              </a:rPr>
              <a:t>adddate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)           </a:t>
            </a:r>
          </a:p>
          <a:p>
            <a:pPr indent="0">
              <a:buNone/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VALUES (:</a:t>
            </a:r>
            <a:r>
              <a:rPr lang="en-GB" sz="2000" dirty="0" err="1" smtClean="0">
                <a:latin typeface="Times New Roman" pitchFamily="18" charset="0"/>
                <a:cs typeface="Times New Roman" pitchFamily="18" charset="0"/>
              </a:rPr>
              <a:t>new.emp_ssn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, :new.emp_last_name,:</a:t>
            </a:r>
            <a:r>
              <a:rPr lang="en-GB" sz="2000" dirty="0" err="1" smtClean="0">
                <a:latin typeface="Times New Roman" pitchFamily="18" charset="0"/>
                <a:cs typeface="Times New Roman" pitchFamily="18" charset="0"/>
              </a:rPr>
              <a:t>new.emp_first_name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GB" sz="2000" dirty="0" err="1" smtClean="0">
                <a:latin typeface="Times New Roman" pitchFamily="18" charset="0"/>
                <a:cs typeface="Times New Roman" pitchFamily="18" charset="0"/>
              </a:rPr>
              <a:t>sysdate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);    </a:t>
            </a:r>
          </a:p>
          <a:p>
            <a:pPr indent="0">
              <a:buNone/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ELSE          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pPr indent="0">
              <a:buNone/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INSERT INTO </a:t>
            </a:r>
            <a:r>
              <a:rPr lang="en-GB" sz="2000" b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uemployee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GB" sz="2000" dirty="0" err="1" smtClean="0">
                <a:latin typeface="Times New Roman" pitchFamily="18" charset="0"/>
                <a:cs typeface="Times New Roman" pitchFamily="18" charset="0"/>
              </a:rPr>
              <a:t>emp_ssn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GB" sz="2000" dirty="0" err="1" smtClean="0">
                <a:latin typeface="Times New Roman" pitchFamily="18" charset="0"/>
                <a:cs typeface="Times New Roman" pitchFamily="18" charset="0"/>
              </a:rPr>
              <a:t>emp_address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GB" sz="2000" dirty="0" err="1" smtClean="0">
                <a:latin typeface="Times New Roman" pitchFamily="18" charset="0"/>
                <a:cs typeface="Times New Roman" pitchFamily="18" charset="0"/>
              </a:rPr>
              <a:t>up_date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)           </a:t>
            </a:r>
          </a:p>
          <a:p>
            <a:pPr indent="0">
              <a:buNone/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VALUES (:</a:t>
            </a:r>
            <a:r>
              <a:rPr lang="en-GB" sz="2000" dirty="0" err="1" smtClean="0">
                <a:latin typeface="Times New Roman" pitchFamily="18" charset="0"/>
                <a:cs typeface="Times New Roman" pitchFamily="18" charset="0"/>
              </a:rPr>
              <a:t>old.emp_ssn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, :</a:t>
            </a:r>
            <a:r>
              <a:rPr lang="en-GB" sz="2000" dirty="0" err="1" smtClean="0">
                <a:latin typeface="Times New Roman" pitchFamily="18" charset="0"/>
                <a:cs typeface="Times New Roman" pitchFamily="18" charset="0"/>
              </a:rPr>
              <a:t>new.emp_address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GB" sz="2000" dirty="0" err="1" smtClean="0">
                <a:latin typeface="Times New Roman" pitchFamily="18" charset="0"/>
                <a:cs typeface="Times New Roman" pitchFamily="18" charset="0"/>
              </a:rPr>
              <a:t>sysdate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);        </a:t>
            </a:r>
          </a:p>
          <a:p>
            <a:pPr indent="0">
              <a:buNone/>
            </a:pP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END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IF;</a:t>
            </a:r>
          </a:p>
          <a:p>
            <a:pPr indent="0">
              <a:buNone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END;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7867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Check the log now,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342900"/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SQL&gt;  DELETE FROM  employee WHERE </a:t>
            </a:r>
            <a:r>
              <a:rPr lang="en-GB" sz="2000" dirty="0" err="1" smtClean="0">
                <a:latin typeface="Times New Roman" pitchFamily="18" charset="0"/>
                <a:cs typeface="Times New Roman" pitchFamily="18" charset="0"/>
              </a:rPr>
              <a:t>ename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= 'Joshi';</a:t>
            </a:r>
          </a:p>
          <a:p>
            <a:pPr indent="0">
              <a:buNone/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1 row deleted.</a:t>
            </a:r>
          </a:p>
          <a:p>
            <a:pPr marL="514350" indent="-342900"/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SQL&gt; SELECT * FROM </a:t>
            </a:r>
            <a:r>
              <a:rPr lang="en-GB" sz="2000" dirty="0" err="1">
                <a:latin typeface="Times New Roman" pitchFamily="18" charset="0"/>
                <a:cs typeface="Times New Roman" pitchFamily="18" charset="0"/>
              </a:rPr>
              <a:t>xemployee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5924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Enabling or Disabling the Triggers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342900" algn="just"/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SQL&gt;</a:t>
            </a:r>
            <a:r>
              <a:rPr lang="en-GB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ALTER TRIGGER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000" dirty="0" err="1">
                <a:latin typeface="Times New Roman" pitchFamily="18" charset="0"/>
                <a:cs typeface="Times New Roman" pitchFamily="18" charset="0"/>
              </a:rPr>
              <a:t>trigger_name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DISABLE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514350" indent="-342900" algn="just"/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SQL&gt;</a:t>
            </a:r>
            <a:r>
              <a:rPr lang="en-GB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ALTER TABLE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000" dirty="0" err="1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DISABLE ALL TRIGGERS;</a:t>
            </a:r>
          </a:p>
          <a:p>
            <a:pPr marL="514350" indent="-342900" algn="just"/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pPr indent="0" algn="just">
              <a:buNone/>
            </a:pPr>
            <a:r>
              <a:rPr lang="en-GB" sz="2000" b="1" dirty="0">
                <a:latin typeface="Times New Roman" pitchFamily="18" charset="0"/>
                <a:cs typeface="Times New Roman" pitchFamily="18" charset="0"/>
              </a:rPr>
              <a:t>To enable a trigger, which is disabled, we can use the following syntax:</a:t>
            </a:r>
          </a:p>
          <a:p>
            <a:pPr marL="514350" indent="-342900" algn="just"/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SQL&gt;</a:t>
            </a:r>
            <a:r>
              <a:rPr lang="en-GB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ALTER TABLE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000" dirty="0" err="1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ENABLE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000" dirty="0" err="1">
                <a:latin typeface="Times New Roman" pitchFamily="18" charset="0"/>
                <a:cs typeface="Times New Roman" pitchFamily="18" charset="0"/>
              </a:rPr>
              <a:t>trigger_name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514350" indent="-342900" algn="just"/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pPr indent="0" algn="just">
              <a:buNone/>
            </a:pP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All triggers can be enabled for a specific table by using the following command</a:t>
            </a:r>
          </a:p>
          <a:p>
            <a:pPr marL="514350" indent="-342900" algn="just"/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SQL&gt; ALTER TABLE </a:t>
            </a:r>
            <a:r>
              <a:rPr lang="en-GB" sz="2000" dirty="0" err="1" smtClean="0">
                <a:latin typeface="Times New Roman" pitchFamily="18" charset="0"/>
                <a:cs typeface="Times New Roman" pitchFamily="18" charset="0"/>
              </a:rPr>
              <a:t>table_name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 ENABLE ALL TRIGGERS;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342900" algn="just"/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SQL&gt; </a:t>
            </a:r>
            <a:r>
              <a:rPr lang="en-GB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DROP TRIGGER</a:t>
            </a:r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000" dirty="0" err="1" smtClean="0">
                <a:latin typeface="Times New Roman" pitchFamily="18" charset="0"/>
                <a:cs typeface="Times New Roman" pitchFamily="18" charset="0"/>
              </a:rPr>
              <a:t>trigger_name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0542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</a:t>
            </a:r>
            <a:r>
              <a:rPr lang="en-US" dirty="0" smtClean="0"/>
              <a:t>Triggers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400" dirty="0" smtClean="0">
                <a:latin typeface="+mj-lt"/>
              </a:rPr>
              <a:t>Maintaining complex constraints</a:t>
            </a:r>
          </a:p>
          <a:p>
            <a:pPr algn="just"/>
            <a:r>
              <a:rPr lang="en-US" sz="2400" dirty="0" smtClean="0">
                <a:latin typeface="+mj-lt"/>
              </a:rPr>
              <a:t>Recording the changes made on the table.</a:t>
            </a:r>
          </a:p>
          <a:p>
            <a:pPr algn="just"/>
            <a:r>
              <a:rPr lang="en-US" sz="2400" dirty="0" smtClean="0">
                <a:latin typeface="+mj-lt"/>
              </a:rPr>
              <a:t>Automatically generating primary key values.</a:t>
            </a:r>
          </a:p>
          <a:p>
            <a:pPr algn="just"/>
            <a:r>
              <a:rPr lang="en-US" sz="2400" dirty="0" smtClean="0">
                <a:latin typeface="+mj-lt"/>
              </a:rPr>
              <a:t>Prevent invalid transactions to occur.</a:t>
            </a:r>
          </a:p>
          <a:p>
            <a:pPr algn="just"/>
            <a:r>
              <a:rPr lang="en-US" sz="2400" dirty="0" smtClean="0">
                <a:latin typeface="+mj-lt"/>
              </a:rPr>
              <a:t>Granting authorization and providing security to database.</a:t>
            </a:r>
          </a:p>
          <a:p>
            <a:pPr algn="just"/>
            <a:r>
              <a:rPr lang="en-US" sz="2400" dirty="0" smtClean="0">
                <a:latin typeface="+mj-lt"/>
              </a:rPr>
              <a:t>Enforcing referential integrity.</a:t>
            </a:r>
          </a:p>
          <a:p>
            <a:pPr algn="just"/>
            <a:r>
              <a:rPr lang="en-US" sz="2400" dirty="0" smtClean="0">
                <a:latin typeface="+mj-lt"/>
                <a:cs typeface="Times New Roman" pitchFamily="18" charset="0"/>
              </a:rPr>
              <a:t>Audit data modification </a:t>
            </a:r>
          </a:p>
          <a:p>
            <a:pPr algn="just"/>
            <a:r>
              <a:rPr lang="en-US" sz="2400" dirty="0" smtClean="0">
                <a:latin typeface="+mj-lt"/>
                <a:cs typeface="Times New Roman" pitchFamily="18" charset="0"/>
              </a:rPr>
              <a:t>Log events transparently </a:t>
            </a:r>
          </a:p>
          <a:p>
            <a:pPr algn="just"/>
            <a:endParaRPr lang="en-US" sz="2400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6761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55938" y="230210"/>
            <a:ext cx="7924800" cy="457200"/>
          </a:xfrm>
        </p:spPr>
        <p:txBody>
          <a:bodyPr>
            <a:no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21595" y="840347"/>
            <a:ext cx="8316533" cy="4114800"/>
          </a:xfrm>
        </p:spPr>
        <p:txBody>
          <a:bodyPr>
            <a:normAutofit/>
          </a:bodyPr>
          <a:lstStyle/>
          <a:p>
            <a:pPr lvl="0" algn="just"/>
            <a:r>
              <a:rPr lang="en-US" sz="1800" dirty="0" err="1"/>
              <a:t>RamezElmasri</a:t>
            </a:r>
            <a:r>
              <a:rPr lang="en-US" sz="1800" dirty="0"/>
              <a:t> and </a:t>
            </a:r>
            <a:r>
              <a:rPr lang="en-US" sz="1800" dirty="0" err="1"/>
              <a:t>Shamkant</a:t>
            </a:r>
            <a:r>
              <a:rPr lang="en-US" sz="1800" dirty="0"/>
              <a:t> B. </a:t>
            </a:r>
            <a:r>
              <a:rPr lang="en-US" sz="1800" dirty="0" err="1"/>
              <a:t>Navathe</a:t>
            </a:r>
            <a:r>
              <a:rPr lang="en-US" sz="1800" dirty="0"/>
              <a:t>, “Fundamentals of Database System”, The Benjamin / Cummings Publishing Co.</a:t>
            </a:r>
          </a:p>
          <a:p>
            <a:pPr lvl="0" algn="just"/>
            <a:r>
              <a:rPr lang="en-US" sz="1800" dirty="0" err="1"/>
              <a:t>Korth</a:t>
            </a:r>
            <a:r>
              <a:rPr lang="en-US" sz="1800" dirty="0"/>
              <a:t> and </a:t>
            </a:r>
            <a:r>
              <a:rPr lang="en-US" sz="1800" dirty="0" err="1"/>
              <a:t>Silberschatz</a:t>
            </a:r>
            <a:r>
              <a:rPr lang="en-US" sz="1800" dirty="0"/>
              <a:t> Abraham, “Database System Concepts”, McGraw Hall.</a:t>
            </a:r>
          </a:p>
          <a:p>
            <a:pPr lvl="0" algn="just"/>
            <a:r>
              <a:rPr lang="en-US" sz="1800" dirty="0" err="1"/>
              <a:t>C.J.Date</a:t>
            </a:r>
            <a:r>
              <a:rPr lang="en-US" sz="1800" dirty="0"/>
              <a:t>, “An Introduction to Database Systems”, Addison Wesley.</a:t>
            </a:r>
          </a:p>
          <a:p>
            <a:pPr lvl="0" algn="just"/>
            <a:r>
              <a:rPr lang="en-US" sz="1800" dirty="0"/>
              <a:t>Thomas M. Connolly, Carolyn &amp; E. </a:t>
            </a:r>
            <a:r>
              <a:rPr lang="en-US" sz="1800" dirty="0" err="1"/>
              <a:t>Begg</a:t>
            </a:r>
            <a:r>
              <a:rPr lang="en-US" sz="1800" dirty="0"/>
              <a:t>, “Database Systems: A Practical Approach to Design, Implementation and Management”, 5/E, University of Paisley, Addison-Wesley.</a:t>
            </a:r>
          </a:p>
          <a:p>
            <a:pPr algn="just"/>
            <a:endParaRPr lang="en-US" sz="18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094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33400" y="209550"/>
            <a:ext cx="7924800" cy="457200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0" y="895350"/>
            <a:ext cx="8001000" cy="3371850"/>
          </a:xfrm>
        </p:spPr>
        <p:txBody>
          <a:bodyPr>
            <a:normAutofit/>
          </a:bodyPr>
          <a:lstStyle/>
          <a:p>
            <a:pPr lvl="0"/>
            <a:r>
              <a:rPr lang="en-US" sz="2400" dirty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docs.oracle.com/database/121/LNPLS/packages.htm</a:t>
            </a:r>
            <a:endParaRPr lang="en-US" sz="2400" dirty="0" smtClean="0"/>
          </a:p>
          <a:p>
            <a:pPr lvl="0"/>
            <a:endParaRPr lang="en-US" sz="24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36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9144000" cy="3514725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/>
            </a:extLst>
          </p:cNvPr>
          <p:cNvCxnSpPr>
            <a:cxnSpLocks/>
          </p:cNvCxnSpPr>
          <p:nvPr/>
        </p:nvCxnSpPr>
        <p:spPr>
          <a:xfrm>
            <a:off x="7010400" y="0"/>
            <a:ext cx="1371600" cy="13716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/>
            </a:extLst>
          </p:cNvPr>
          <p:cNvCxnSpPr>
            <a:cxnSpLocks/>
          </p:cNvCxnSpPr>
          <p:nvPr/>
        </p:nvCxnSpPr>
        <p:spPr>
          <a:xfrm>
            <a:off x="7627144" y="1"/>
            <a:ext cx="497681" cy="49768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/>
            </a:extLst>
          </p:cNvPr>
          <p:cNvCxnSpPr>
            <a:cxnSpLocks/>
          </p:cNvCxnSpPr>
          <p:nvPr/>
        </p:nvCxnSpPr>
        <p:spPr>
          <a:xfrm>
            <a:off x="550069" y="4720829"/>
            <a:ext cx="419100" cy="41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/>
            </a:extLst>
          </p:cNvPr>
          <p:cNvCxnSpPr>
            <a:cxnSpLocks/>
          </p:cNvCxnSpPr>
          <p:nvPr/>
        </p:nvCxnSpPr>
        <p:spPr>
          <a:xfrm>
            <a:off x="292894" y="3846910"/>
            <a:ext cx="1296591" cy="12965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159" name="Title 1"/>
          <p:cNvSpPr txBox="1">
            <a:spLocks/>
          </p:cNvSpPr>
          <p:nvPr/>
        </p:nvSpPr>
        <p:spPr bwMode="auto">
          <a:xfrm>
            <a:off x="1114425" y="1687116"/>
            <a:ext cx="8043863" cy="922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 sz="6000" dirty="0">
                <a:solidFill>
                  <a:srgbClr val="FFFFFF"/>
                </a:solidFill>
                <a:ea typeface="Segoe UI" pitchFamily="34" charset="0"/>
                <a:cs typeface="Times New Roman" pitchFamily="18" charset="0"/>
              </a:rPr>
              <a:t>THANK YOU</a:t>
            </a:r>
          </a:p>
        </p:txBody>
      </p:sp>
      <p:sp>
        <p:nvSpPr>
          <p:cNvPr id="177160" name="Diamond 6"/>
          <p:cNvSpPr>
            <a:spLocks/>
          </p:cNvSpPr>
          <p:nvPr/>
        </p:nvSpPr>
        <p:spPr bwMode="auto">
          <a:xfrm>
            <a:off x="1981201" y="910829"/>
            <a:ext cx="1822847" cy="2419350"/>
          </a:xfrm>
          <a:custGeom>
            <a:avLst/>
            <a:gdLst>
              <a:gd name="T0" fmla="*/ 2430463 w 2430463"/>
              <a:gd name="T1" fmla="*/ 2413000 h 3225800"/>
              <a:gd name="T2" fmla="*/ 1612900 w 2430463"/>
              <a:gd name="T3" fmla="*/ 3225800 h 3225800"/>
              <a:gd name="T4" fmla="*/ 0 w 2430463"/>
              <a:gd name="T5" fmla="*/ 1612900 h 3225800"/>
              <a:gd name="T6" fmla="*/ 1612900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 anchor="ctr"/>
          <a:lstStyle/>
          <a:p>
            <a:endParaRPr lang="en-IN" dirty="0"/>
          </a:p>
        </p:txBody>
      </p:sp>
      <p:sp>
        <p:nvSpPr>
          <p:cNvPr id="177161" name="Diamond 6"/>
          <p:cNvSpPr>
            <a:spLocks/>
          </p:cNvSpPr>
          <p:nvPr/>
        </p:nvSpPr>
        <p:spPr bwMode="auto">
          <a:xfrm>
            <a:off x="2174082" y="910829"/>
            <a:ext cx="1822847" cy="2419350"/>
          </a:xfrm>
          <a:custGeom>
            <a:avLst/>
            <a:gdLst>
              <a:gd name="T0" fmla="*/ 2430463 w 2430463"/>
              <a:gd name="T1" fmla="*/ 2413000 h 3225800"/>
              <a:gd name="T2" fmla="*/ 1612900 w 2430463"/>
              <a:gd name="T3" fmla="*/ 3225800 h 3225800"/>
              <a:gd name="T4" fmla="*/ 0 w 2430463"/>
              <a:gd name="T5" fmla="*/ 1612900 h 3225800"/>
              <a:gd name="T6" fmla="*/ 1612900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rgbClr val="FFFFF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 anchor="ctr"/>
          <a:lstStyle/>
          <a:p>
            <a:endParaRPr lang="en-IN" dirty="0"/>
          </a:p>
        </p:txBody>
      </p:sp>
      <p:grpSp>
        <p:nvGrpSpPr>
          <p:cNvPr id="177162" name="Group 28"/>
          <p:cNvGrpSpPr>
            <a:grpSpLocks/>
          </p:cNvGrpSpPr>
          <p:nvPr/>
        </p:nvGrpSpPr>
        <p:grpSpPr bwMode="auto">
          <a:xfrm>
            <a:off x="178594" y="114300"/>
            <a:ext cx="307181" cy="1209675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3821" y="0"/>
              <a:ext cx="219636" cy="21065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673" y="408874"/>
              <a:ext cx="218784" cy="494205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659"/>
              <a:ext cx="217933" cy="221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graphicFrame>
          <p:nvGraphicFramePr>
            <p:cNvPr id="177168" name="Object 32"/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6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2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7163" name="Rectangle 1"/>
          <p:cNvSpPr>
            <a:spLocks noChangeArrowheads="1"/>
          </p:cNvSpPr>
          <p:nvPr/>
        </p:nvSpPr>
        <p:spPr bwMode="auto">
          <a:xfrm>
            <a:off x="3084910" y="4045744"/>
            <a:ext cx="4886594" cy="80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dirty="0">
                <a:latin typeface="Casper"/>
                <a:cs typeface="Segoe UI" pitchFamily="34" charset="0"/>
              </a:rPr>
              <a:t>For queries</a:t>
            </a:r>
          </a:p>
          <a:p>
            <a:r>
              <a:rPr lang="en-US" altLang="en-US" dirty="0">
                <a:latin typeface="Casper"/>
                <a:cs typeface="Segoe UI" pitchFamily="34" charset="0"/>
              </a:rPr>
              <a:t>Email</a:t>
            </a:r>
            <a:r>
              <a:rPr lang="en-US" altLang="en-US">
                <a:latin typeface="Casper"/>
                <a:cs typeface="Segoe UI" pitchFamily="34" charset="0"/>
              </a:rPr>
              <a:t>: </a:t>
            </a:r>
            <a:r>
              <a:rPr lang="en-US" altLang="en-US" smtClean="0">
                <a:latin typeface="Casper"/>
                <a:cs typeface="Segoe UI" pitchFamily="34" charset="0"/>
                <a:hlinkClick r:id="rId5"/>
              </a:rPr>
              <a:t>shaveta.e13464@cumail.in</a:t>
            </a:r>
            <a:r>
              <a:rPr lang="en-US" altLang="en-US" smtClean="0">
                <a:latin typeface="Casper"/>
                <a:cs typeface="Segoe UI" pitchFamily="34" charset="0"/>
              </a:rPr>
              <a:t> </a:t>
            </a:r>
            <a:endParaRPr lang="en-US" altLang="en-US" dirty="0"/>
          </a:p>
        </p:txBody>
      </p:sp>
      <p:sp>
        <p:nvSpPr>
          <p:cNvPr id="177164" name="Slide Number Placeholder 1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chemeClr val="tx1"/>
                </a:solidFill>
                <a:latin typeface="Times New Roman" pitchFamily="18" charset="0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Times New Roman" pitchFamily="18" charset="0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Times New Roman" pitchFamily="18" charset="0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Times New Roman" pitchFamily="18" charset="0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Times New Roman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AC26643-7CEF-4538-9372-1F7FE56F9D0A}" type="slidenum">
              <a:rPr lang="en-US" altLang="en-US" sz="900">
                <a:solidFill>
                  <a:srgbClr val="898989"/>
                </a:solidFill>
              </a:rPr>
              <a:pPr/>
              <a:t>28</a:t>
            </a:fld>
            <a:endParaRPr lang="en-US" altLang="en-US" sz="9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241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">
      <a:maj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">
      <a:maj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">
      <a:maj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CU THEME</Template>
  <TotalTime>1669</TotalTime>
  <Words>1450</Words>
  <Application>Microsoft Office PowerPoint</Application>
  <PresentationFormat>On-screen Show (16:9)</PresentationFormat>
  <Paragraphs>263</Paragraphs>
  <Slides>28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1" baseType="lpstr">
      <vt:lpstr>Arial</vt:lpstr>
      <vt:lpstr>Calibri</vt:lpstr>
      <vt:lpstr>Calibri Light</vt:lpstr>
      <vt:lpstr>Cambria</vt:lpstr>
      <vt:lpstr>Casper</vt:lpstr>
      <vt:lpstr>Karla</vt:lpstr>
      <vt:lpstr>Segoe UI</vt:lpstr>
      <vt:lpstr>Times New Roman</vt:lpstr>
      <vt:lpstr>Wingdings</vt:lpstr>
      <vt:lpstr>CU THEME</vt:lpstr>
      <vt:lpstr>1_CU THEME</vt:lpstr>
      <vt:lpstr>2_CU THEME</vt:lpstr>
      <vt:lpstr>CorelDRAW</vt:lpstr>
      <vt:lpstr>PowerPoint Presentation</vt:lpstr>
      <vt:lpstr>DBMS: Course Objectives</vt:lpstr>
      <vt:lpstr>COURSE OUTCOMES</vt:lpstr>
      <vt:lpstr>Triggers</vt:lpstr>
      <vt:lpstr>Parts of a Trigger</vt:lpstr>
      <vt:lpstr>Types of Triggers </vt:lpstr>
      <vt:lpstr>1. Level Triggers</vt:lpstr>
      <vt:lpstr>2. Event Triggers</vt:lpstr>
      <vt:lpstr>3. Timing Triggers</vt:lpstr>
      <vt:lpstr>Syntax for creating Triggers</vt:lpstr>
      <vt:lpstr>Explanation</vt:lpstr>
      <vt:lpstr>Example Programs!!! Before Insert</vt:lpstr>
      <vt:lpstr>Example Programs!!! After insert Trigger</vt:lpstr>
      <vt:lpstr>Another Example!!!</vt:lpstr>
      <vt:lpstr>Defining Your Own Error Messages:   RAISE_APPLICATION_ERROR()</vt:lpstr>
      <vt:lpstr>Example Program!!!</vt:lpstr>
      <vt:lpstr>Example…</vt:lpstr>
      <vt:lpstr>Let's take a few examples and try to understand this,</vt:lpstr>
      <vt:lpstr>Example:- Statement Trigger</vt:lpstr>
      <vt:lpstr>Example:- Statement Trigger</vt:lpstr>
      <vt:lpstr>Simple Log of Ex_Stu</vt:lpstr>
      <vt:lpstr>PowerPoint Presentation</vt:lpstr>
      <vt:lpstr>Check the log now,</vt:lpstr>
      <vt:lpstr>Enabling or Disabling the Triggers</vt:lpstr>
      <vt:lpstr>Uses of Triggers</vt:lpstr>
      <vt:lpstr>References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PROCEDURES</dc:title>
  <dc:creator>PRAMOD</dc:creator>
  <cp:lastModifiedBy>shavetapc</cp:lastModifiedBy>
  <cp:revision>203</cp:revision>
  <dcterms:created xsi:type="dcterms:W3CDTF">2006-08-16T00:00:00Z</dcterms:created>
  <dcterms:modified xsi:type="dcterms:W3CDTF">2023-06-28T04:56:43Z</dcterms:modified>
</cp:coreProperties>
</file>