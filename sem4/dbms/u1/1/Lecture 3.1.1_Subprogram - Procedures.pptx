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22"/>
  </p:notesMasterIdLst>
  <p:sldIdLst>
    <p:sldId id="274" r:id="rId4"/>
    <p:sldId id="277" r:id="rId5"/>
    <p:sldId id="27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5" r:id="rId18"/>
    <p:sldId id="279" r:id="rId19"/>
    <p:sldId id="272" r:id="rId20"/>
    <p:sldId id="273" r:id="rId21"/>
  </p:sldIdLst>
  <p:sldSz cx="9144000" cy="5143500" type="screen16x9"/>
  <p:notesSz cx="6858000" cy="9144000"/>
  <p:defaultTextStyle>
    <a:defPPr>
      <a:defRPr lang="en-US"/>
    </a:defPPr>
    <a:lvl1pPr marL="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9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5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EB381-64C1-424E-8FC1-548ABF342418}" type="datetimeFigureOut">
              <a:rPr lang="en-IN" smtClean="0"/>
              <a:pPr/>
              <a:t>28-06-2023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87A68-5CD7-4B7E-95FC-906DDDECA18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51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 dirty="0"/>
          </a:p>
        </p:txBody>
      </p:sp>
      <p:sp>
        <p:nvSpPr>
          <p:cNvPr id="179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F1BD6A1-B9F7-4FDF-9535-FB9238559347}" type="slidenum">
              <a:rPr lang="en-US" altLang="en-US" sz="1200" smtClean="0"/>
              <a:pPr/>
              <a:t>1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93667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40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7"/>
            <a:ext cx="7886700" cy="363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7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4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6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4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4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9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9629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058467"/>
            <a:ext cx="3962400" cy="363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8467"/>
            <a:ext cx="3886200" cy="363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691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42" y="1041797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9" indent="0">
              <a:buNone/>
              <a:defRPr sz="140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267" y="1774031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060847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9" indent="0">
              <a:buNone/>
              <a:defRPr sz="140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78355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2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5" indent="0">
              <a:buNone/>
              <a:defRPr sz="1100"/>
            </a:lvl2pPr>
            <a:lvl3pPr marL="685749" indent="0">
              <a:buNone/>
              <a:defRPr sz="900"/>
            </a:lvl3pPr>
            <a:lvl4pPr marL="1028624" indent="0">
              <a:buNone/>
              <a:defRPr sz="800"/>
            </a:lvl4pPr>
            <a:lvl5pPr marL="1371498" indent="0">
              <a:buNone/>
              <a:defRPr sz="800"/>
            </a:lvl5pPr>
            <a:lvl6pPr marL="1714373" indent="0">
              <a:buNone/>
              <a:defRPr sz="800"/>
            </a:lvl6pPr>
            <a:lvl7pPr marL="2057246" indent="0">
              <a:buNone/>
              <a:defRPr sz="800"/>
            </a:lvl7pPr>
            <a:lvl8pPr marL="2400120" indent="0">
              <a:buNone/>
              <a:defRPr sz="800"/>
            </a:lvl8pPr>
            <a:lvl9pPr marL="2742995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72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75" indent="0">
              <a:buNone/>
              <a:defRPr sz="2100"/>
            </a:lvl2pPr>
            <a:lvl3pPr marL="685749" indent="0">
              <a:buNone/>
              <a:defRPr sz="1800"/>
            </a:lvl3pPr>
            <a:lvl4pPr marL="1028624" indent="0">
              <a:buNone/>
              <a:defRPr sz="1500"/>
            </a:lvl4pPr>
            <a:lvl5pPr marL="1371498" indent="0">
              <a:buNone/>
              <a:defRPr sz="1500"/>
            </a:lvl5pPr>
            <a:lvl6pPr marL="1714373" indent="0">
              <a:buNone/>
              <a:defRPr sz="1500"/>
            </a:lvl6pPr>
            <a:lvl7pPr marL="2057246" indent="0">
              <a:buNone/>
              <a:defRPr sz="1500"/>
            </a:lvl7pPr>
            <a:lvl8pPr marL="2400120" indent="0">
              <a:buNone/>
              <a:defRPr sz="1500"/>
            </a:lvl8pPr>
            <a:lvl9pPr marL="2742995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5" indent="0">
              <a:buNone/>
              <a:defRPr sz="1100"/>
            </a:lvl2pPr>
            <a:lvl3pPr marL="685749" indent="0">
              <a:buNone/>
              <a:defRPr sz="900"/>
            </a:lvl3pPr>
            <a:lvl4pPr marL="1028624" indent="0">
              <a:buNone/>
              <a:defRPr sz="800"/>
            </a:lvl4pPr>
            <a:lvl5pPr marL="1371498" indent="0">
              <a:buNone/>
              <a:defRPr sz="800"/>
            </a:lvl5pPr>
            <a:lvl6pPr marL="1714373" indent="0">
              <a:buNone/>
              <a:defRPr sz="800"/>
            </a:lvl6pPr>
            <a:lvl7pPr marL="2057246" indent="0">
              <a:buNone/>
              <a:defRPr sz="800"/>
            </a:lvl7pPr>
            <a:lvl8pPr marL="2400120" indent="0">
              <a:buNone/>
              <a:defRPr sz="800"/>
            </a:lvl8pPr>
            <a:lvl9pPr marL="2742995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45371"/>
            <a:ext cx="7886700" cy="3507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428750"/>
            <a:ext cx="9158288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1"/>
            <a:ext cx="9158288" cy="3328988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757240"/>
            <a:ext cx="7515225" cy="392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114553"/>
            <a:ext cx="6372225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40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7"/>
            <a:ext cx="7886700" cy="363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6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9629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058467"/>
            <a:ext cx="3962400" cy="363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8467"/>
            <a:ext cx="3886200" cy="363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691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42" y="1041797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40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267" y="1774031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060847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40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78355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100"/>
            </a:lvl2pPr>
            <a:lvl3pPr marL="685766" indent="0">
              <a:buNone/>
              <a:defRPr sz="900"/>
            </a:lvl3pPr>
            <a:lvl4pPr marL="1028649" indent="0">
              <a:buNone/>
              <a:defRPr sz="800"/>
            </a:lvl4pPr>
            <a:lvl5pPr marL="1371532" indent="0">
              <a:buNone/>
              <a:defRPr sz="800"/>
            </a:lvl5pPr>
            <a:lvl6pPr marL="1714415" indent="0">
              <a:buNone/>
              <a:defRPr sz="800"/>
            </a:lvl6pPr>
            <a:lvl7pPr marL="2057297" indent="0">
              <a:buNone/>
              <a:defRPr sz="800"/>
            </a:lvl7pPr>
            <a:lvl8pPr marL="2400180" indent="0">
              <a:buNone/>
              <a:defRPr sz="800"/>
            </a:lvl8pPr>
            <a:lvl9pPr marL="2743064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100"/>
            </a:lvl2pPr>
            <a:lvl3pPr marL="685766" indent="0">
              <a:buNone/>
              <a:defRPr sz="900"/>
            </a:lvl3pPr>
            <a:lvl4pPr marL="1028649" indent="0">
              <a:buNone/>
              <a:defRPr sz="800"/>
            </a:lvl4pPr>
            <a:lvl5pPr marL="1371532" indent="0">
              <a:buNone/>
              <a:defRPr sz="800"/>
            </a:lvl5pPr>
            <a:lvl6pPr marL="1714415" indent="0">
              <a:buNone/>
              <a:defRPr sz="800"/>
            </a:lvl6pPr>
            <a:lvl7pPr marL="2057297" indent="0">
              <a:buNone/>
              <a:defRPr sz="800"/>
            </a:lvl7pPr>
            <a:lvl8pPr marL="2400180" indent="0">
              <a:buNone/>
              <a:defRPr sz="800"/>
            </a:lvl8pPr>
            <a:lvl9pPr marL="2743064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45371"/>
            <a:ext cx="7886700" cy="3507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6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6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428750"/>
            <a:ext cx="9158288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1"/>
            <a:ext cx="9158288" cy="3328988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757239"/>
            <a:ext cx="7515225" cy="392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114552"/>
            <a:ext cx="6372225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7"/>
            <a:ext cx="7886700" cy="363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9629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058467"/>
            <a:ext cx="3962400" cy="363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8467"/>
            <a:ext cx="3886200" cy="363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691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42" y="1041797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267" y="1774031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060847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78355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45369"/>
            <a:ext cx="7886700" cy="3507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428750"/>
            <a:ext cx="9158288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0"/>
            <a:ext cx="9158288" cy="3328988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757237"/>
            <a:ext cx="7515225" cy="392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2450" y="16669"/>
            <a:ext cx="7962900" cy="994172"/>
          </a:xfrm>
          <a:prstGeom prst="rect">
            <a:avLst/>
          </a:prstGeom>
        </p:spPr>
        <p:txBody>
          <a:bodyPr vert="horz" lIns="68576" tIns="34289" rIns="68576" bIns="3428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450" y="1058470"/>
            <a:ext cx="7962900" cy="3621881"/>
          </a:xfrm>
          <a:prstGeom prst="rect">
            <a:avLst/>
          </a:prstGeom>
        </p:spPr>
        <p:txBody>
          <a:bodyPr vert="horz" lIns="68576" tIns="34289" rIns="68576" bIns="342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6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2450" y="16669"/>
            <a:ext cx="7962900" cy="994172"/>
          </a:xfrm>
          <a:prstGeom prst="rect">
            <a:avLst/>
          </a:prstGeom>
        </p:spPr>
        <p:txBody>
          <a:bodyPr vert="horz" lIns="68577" tIns="34289" rIns="68577" bIns="3428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450" y="1058469"/>
            <a:ext cx="7962900" cy="3621881"/>
          </a:xfrm>
          <a:prstGeom prst="rect">
            <a:avLst/>
          </a:prstGeom>
        </p:spPr>
        <p:txBody>
          <a:bodyPr vert="horz" lIns="68577" tIns="34289" rIns="68577" bIns="342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68577" tIns="34289" rIns="68577" bIns="3428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77" tIns="34289" rIns="68577" bIns="3428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68577" tIns="34289" rIns="68577" bIns="3428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2450" y="16669"/>
            <a:ext cx="79629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450" y="1058467"/>
            <a:ext cx="7962900" cy="362188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cd/B19306_01/server.102/b14200/statements_6009.htm" TargetMode="Externa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.vml"/><Relationship Id="rId5" Type="http://schemas.openxmlformats.org/officeDocument/2006/relationships/hyperlink" Target="mailto:shaveta.e13464@cumail.in" TargetMode="Externa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3572" y="4070747"/>
            <a:ext cx="9147572" cy="1138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26219" y="4426744"/>
            <a:ext cx="34529" cy="4595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2340" name="Slide Number Placeholder 2"/>
          <p:cNvSpPr txBox="1">
            <a:spLocks/>
          </p:cNvSpPr>
          <p:nvPr/>
        </p:nvSpPr>
        <p:spPr bwMode="auto"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5pPr>
            <a:lvl6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6pPr>
            <a:lvl7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7pPr>
            <a:lvl8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8pPr>
            <a:lvl9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7130654" y="4455319"/>
            <a:ext cx="967978" cy="86796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en-ID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142342" name="Object 47"/>
          <p:cNvGraphicFramePr>
            <a:graphicFrameLocks noChangeAspect="1"/>
          </p:cNvGraphicFramePr>
          <p:nvPr/>
        </p:nvGraphicFramePr>
        <p:xfrm>
          <a:off x="57150" y="2340769"/>
          <a:ext cx="2477691" cy="23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" y="2340769"/>
                        <a:ext cx="2477691" cy="23610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/>
          <p:cNvSpPr/>
          <p:nvPr/>
        </p:nvSpPr>
        <p:spPr>
          <a:xfrm flipH="1">
            <a:off x="5283994" y="-48816"/>
            <a:ext cx="3860006" cy="438983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en-ID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3056" y="151914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142347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7860"/>
            <a:ext cx="2894410" cy="1153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7372351" y="4000500"/>
            <a:ext cx="1775222" cy="120015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2349" name="TextBox 35"/>
          <p:cNvSpPr txBox="1">
            <a:spLocks noChangeArrowheads="1"/>
          </p:cNvSpPr>
          <p:nvPr/>
        </p:nvSpPr>
        <p:spPr bwMode="auto">
          <a:xfrm>
            <a:off x="5161360" y="4514850"/>
            <a:ext cx="3695700" cy="48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500" b="1" dirty="0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sz="1500" b="1" dirty="0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sz="1500" b="1" dirty="0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</a:t>
            </a:r>
            <a:endParaRPr lang="en-US" altLang="en-US" sz="900" b="1" dirty="0">
              <a:solidFill>
                <a:srgbClr val="000000"/>
              </a:solidFill>
              <a:latin typeface="Casper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200" b="1" dirty="0">
              <a:latin typeface="Casp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163741" y="4532710"/>
            <a:ext cx="34528" cy="2774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40519" y="4481513"/>
            <a:ext cx="4823222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466725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PROCEDURES</a:t>
            </a:r>
            <a:endParaRPr lang="en-US" sz="1500" b="1" dirty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352" name="TextBox 25"/>
          <p:cNvSpPr txBox="1">
            <a:spLocks noChangeArrowheads="1"/>
          </p:cNvSpPr>
          <p:nvPr/>
        </p:nvSpPr>
        <p:spPr bwMode="auto">
          <a:xfrm>
            <a:off x="372666" y="1096566"/>
            <a:ext cx="8328422" cy="2543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3600" b="1" dirty="0"/>
              <a:t>APEX INSTITUTE OF TECHNOLOGY</a:t>
            </a:r>
            <a:endParaRPr lang="en-US" altLang="en-US" sz="3600" dirty="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2400" b="1" dirty="0"/>
              <a:t>DEPARTMENT OF COMPUTER SCIENCE &amp; ENGINEERING</a:t>
            </a:r>
            <a:endParaRPr lang="en-US" altLang="en-US" sz="2400" b="1" dirty="0"/>
          </a:p>
          <a:p>
            <a:pPr algn="ctr">
              <a:spcBef>
                <a:spcPct val="0"/>
              </a:spcBef>
              <a:spcAft>
                <a:spcPct val="35000"/>
              </a:spcAft>
              <a:buFontTx/>
              <a:buNone/>
            </a:pPr>
            <a:endParaRPr lang="en-US" altLang="en-US" sz="2400" b="1" dirty="0">
              <a:ea typeface="Calibri" pitchFamily="34" charset="0"/>
              <a:cs typeface="Times New Roman" pitchFamily="18" charset="0"/>
            </a:endParaRPr>
          </a:p>
          <a:p>
            <a:pPr algn="ctr">
              <a:spcBef>
                <a:spcPct val="0"/>
              </a:spcBef>
              <a:spcAft>
                <a:spcPct val="35000"/>
              </a:spcAft>
              <a:buFontTx/>
              <a:buNone/>
            </a:pPr>
            <a:r>
              <a:rPr lang="en-US" altLang="en-US" sz="2400" dirty="0">
                <a:solidFill>
                  <a:srgbClr val="262626"/>
                </a:solidFill>
                <a:cs typeface="Times New Roman" pitchFamily="18" charset="0"/>
              </a:rPr>
              <a:t>Database Management System (</a:t>
            </a:r>
            <a:r>
              <a:rPr lang="en-US" altLang="en-US" sz="2400" dirty="0" smtClean="0">
                <a:solidFill>
                  <a:srgbClr val="262626"/>
                </a:solidFill>
                <a:cs typeface="Times New Roman" pitchFamily="18" charset="0"/>
              </a:rPr>
              <a:t>22CSH-243</a:t>
            </a:r>
            <a:r>
              <a:rPr lang="en-US" altLang="en-US" sz="2400" dirty="0" smtClean="0">
                <a:solidFill>
                  <a:srgbClr val="262626"/>
                </a:solidFill>
                <a:cs typeface="Times New Roman" pitchFamily="18" charset="0"/>
              </a:rPr>
              <a:t>)</a:t>
            </a:r>
            <a:endParaRPr lang="en-US" altLang="en-US" sz="2400" dirty="0">
              <a:solidFill>
                <a:srgbClr val="262626"/>
              </a:solidFill>
              <a:cs typeface="Times New Roman" pitchFamily="18" charset="0"/>
            </a:endParaRPr>
          </a:p>
          <a:p>
            <a:pPr algn="ctr" defTabSz="622300">
              <a:spcBef>
                <a:spcPct val="0"/>
              </a:spcBef>
              <a:spcAft>
                <a:spcPct val="35000"/>
              </a:spcAft>
            </a:pPr>
            <a:r>
              <a:rPr lang="en-US" altLang="en-US" sz="2400" b="1" dirty="0">
                <a:solidFill>
                  <a:srgbClr val="262626"/>
                </a:solidFill>
                <a:cs typeface="Times New Roman" pitchFamily="18" charset="0"/>
              </a:rPr>
              <a:t>Faculty:</a:t>
            </a:r>
            <a:r>
              <a:rPr lang="en-US" altLang="en-US" sz="2400" dirty="0">
                <a:solidFill>
                  <a:srgbClr val="262626"/>
                </a:solidFill>
                <a:cs typeface="Times New Roman" pitchFamily="18" charset="0"/>
              </a:rPr>
              <a:t> </a:t>
            </a: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Ms. </a:t>
            </a:r>
            <a:r>
              <a:rPr lang="en-US" sz="2400" dirty="0" err="1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Shaveta</a:t>
            </a: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 Jain (13464)</a:t>
            </a:r>
          </a:p>
          <a:p>
            <a:pPr algn="ctr">
              <a:spcBef>
                <a:spcPct val="0"/>
              </a:spcBef>
              <a:spcAft>
                <a:spcPct val="35000"/>
              </a:spcAft>
              <a:buFontTx/>
              <a:buNone/>
            </a:pPr>
            <a:endParaRPr lang="en-US" altLang="en-US" sz="1200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8F729-0D61-4535-976E-E42E431D79D1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4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058" y="0"/>
            <a:ext cx="7886700" cy="1014212"/>
          </a:xfrm>
        </p:spPr>
        <p:txBody>
          <a:bodyPr>
            <a:normAutofit/>
          </a:bodyPr>
          <a:lstStyle/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DBMS: Course Objectives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0572" y="859665"/>
            <a:ext cx="8306873" cy="270073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Course aims to: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database system concepts and design databases for different applications and to acquire the knowledge on DBMS and RDBMS.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understand different types of DDL, DML and DCL statements.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transaction concepts related to databases and recovery/backup techniques required for the proper storage of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02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32625" y="263602"/>
            <a:ext cx="8344139" cy="40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412957" y="474345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40373" y="878126"/>
            <a:ext cx="6660092" cy="39241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completion of this course, the students shall be able to:-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696714"/>
              </p:ext>
            </p:extLst>
          </p:nvPr>
        </p:nvGraphicFramePr>
        <p:xfrm>
          <a:off x="627846" y="1448872"/>
          <a:ext cx="8118487" cy="401777"/>
        </p:xfrm>
        <a:graphic>
          <a:graphicData uri="http://schemas.openxmlformats.org/drawingml/2006/table">
            <a:tbl>
              <a:tblPr firstRow="1" firstCol="1" bandRow="1"/>
              <a:tblGrid>
                <a:gridCol w="7059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125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01777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700" b="1" dirty="0">
                          <a:effectLst/>
                          <a:latin typeface="Times New Roman"/>
                          <a:ea typeface="Calibri"/>
                          <a:cs typeface="Arial"/>
                        </a:rPr>
                        <a:t>CO4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Implement the package, procedures and triggers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81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UNIT-3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/>
              <a:t>Package, Procedures and Triggers: </a:t>
            </a:r>
            <a:r>
              <a:rPr lang="en-US" sz="2000" dirty="0"/>
              <a:t>Parts of procedures, Parameter modes, Advantages of procedures, Syntax for creating triggers, Types of triggers, package specification and package body, developing a package, Bodiless package, Advantages of packages. 		</a:t>
            </a:r>
          </a:p>
          <a:p>
            <a:pPr algn="just"/>
            <a:r>
              <a:rPr lang="en-US" sz="2000" b="1" dirty="0"/>
              <a:t>Transaction Management and Concurrency Control: </a:t>
            </a:r>
            <a:r>
              <a:rPr lang="en-US" sz="2000" dirty="0"/>
              <a:t>Introduction to Transaction Processing, Properties of Transactions, Serializability and Recoverability, Need for Concurrency Control, Locking Techniques, Time Stamping Methods, Optimistic Techniques and Granularity of Data items. 							</a:t>
            </a:r>
          </a:p>
          <a:p>
            <a:pPr algn="just"/>
            <a:r>
              <a:rPr lang="en-US" sz="2000" b="1" dirty="0"/>
              <a:t>Database Recovery of database: </a:t>
            </a:r>
            <a:r>
              <a:rPr lang="en-US" sz="2000" dirty="0"/>
              <a:t>Introduction, Need for Recovery, Types of errors, Recovery Techniques. </a:t>
            </a:r>
            <a:r>
              <a:rPr lang="en-US" dirty="0"/>
              <a:t>	</a:t>
            </a:r>
            <a:endParaRPr lang="en-US" sz="1800" b="1" dirty="0">
              <a:solidFill>
                <a:srgbClr val="C00000"/>
              </a:solidFill>
              <a:cs typeface="Times New Roman" pitchFamily="18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9291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Subprogram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A </a:t>
            </a:r>
            <a:r>
              <a:rPr lang="pt-BR" sz="2400" b="1" dirty="0"/>
              <a:t>subprogram </a:t>
            </a:r>
            <a:r>
              <a:rPr lang="pt-BR" sz="2400" dirty="0"/>
              <a:t>is a program unit/module </a:t>
            </a:r>
            <a:r>
              <a:rPr lang="en-IN" sz="2400" dirty="0"/>
              <a:t>that performs a particular task. </a:t>
            </a:r>
          </a:p>
          <a:p>
            <a:pPr algn="just"/>
            <a:r>
              <a:rPr lang="en-IN" sz="2400" dirty="0"/>
              <a:t>These subprograms are combined to form larger programs. This is basically called the </a:t>
            </a:r>
            <a:r>
              <a:rPr lang="en-IN" sz="2400" b="1" dirty="0"/>
              <a:t>''Modular design''</a:t>
            </a:r>
            <a:r>
              <a:rPr lang="en-IN" sz="2400" dirty="0"/>
              <a:t>. </a:t>
            </a:r>
          </a:p>
          <a:p>
            <a:pPr algn="just"/>
            <a:r>
              <a:rPr lang="en-IN" sz="2400" dirty="0"/>
              <a:t>A subprogram can be invoked by another subprogram or program which is called tithe </a:t>
            </a:r>
            <a:r>
              <a:rPr lang="en-IN" sz="2400" b="1" dirty="0"/>
              <a:t>calling program</a:t>
            </a:r>
            <a:r>
              <a:rPr lang="en-IN" sz="2400" dirty="0"/>
              <a:t>.</a:t>
            </a:r>
          </a:p>
          <a:p>
            <a:pPr algn="just"/>
            <a:r>
              <a:rPr lang="en-IN" sz="2400" dirty="0"/>
              <a:t>PL/SQL subprograms are named PL/SQL blocks that can be invoked with a set of parameters.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8480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Subprogram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PL/SQL provides two kinds of subprograms −</a:t>
            </a:r>
          </a:p>
          <a:p>
            <a:pPr algn="just"/>
            <a:r>
              <a:rPr lang="en-IN" b="1" dirty="0"/>
              <a:t>Procedures </a:t>
            </a:r>
            <a:r>
              <a:rPr lang="en-IN" dirty="0"/>
              <a:t>− These subprograms do not return a value directly; mainly used to perform an action.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Functions </a:t>
            </a:r>
            <a:r>
              <a:rPr lang="en-IN" dirty="0"/>
              <a:t>− These subprograms return a single value; mainly used tot compute and return a value..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38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 procedure is created with tithe </a:t>
            </a:r>
            <a:r>
              <a:rPr lang="en-US" sz="2000" b="1" dirty="0"/>
              <a:t>CREATE OR REPLACE PROCEDURE </a:t>
            </a:r>
            <a:r>
              <a:rPr lang="en-US" sz="2000" dirty="0"/>
              <a:t>statement. </a:t>
            </a:r>
          </a:p>
          <a:p>
            <a:r>
              <a:rPr lang="en-IN" b="1" dirty="0"/>
              <a:t>Syntax:-</a:t>
            </a:r>
          </a:p>
          <a:p>
            <a:pPr marL="342900" lvl="1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CREATE</a:t>
            </a:r>
            <a:r>
              <a:rPr lang="en-US" sz="2000" dirty="0"/>
              <a:t> [OR REPLACE] </a:t>
            </a:r>
            <a:r>
              <a:rPr lang="en-US" sz="2000" b="1" dirty="0">
                <a:solidFill>
                  <a:srgbClr val="FF0000"/>
                </a:solidFill>
              </a:rPr>
              <a:t>PROCEDURE</a:t>
            </a:r>
            <a:r>
              <a:rPr lang="en-US" sz="2000" dirty="0"/>
              <a:t> procedure_name</a:t>
            </a:r>
          </a:p>
          <a:p>
            <a:pPr marL="342900" lvl="1" indent="0">
              <a:buNone/>
            </a:pPr>
            <a:r>
              <a:rPr lang="en-US" sz="2000" dirty="0"/>
              <a:t>[(parameter_name [</a:t>
            </a:r>
            <a:r>
              <a:rPr lang="en-US" sz="2000" dirty="0">
                <a:solidFill>
                  <a:srgbClr val="00B050"/>
                </a:solidFill>
              </a:rPr>
              <a:t>IN | OUT | IN OUT</a:t>
            </a:r>
            <a:r>
              <a:rPr lang="en-US" sz="2000" dirty="0"/>
              <a:t>] </a:t>
            </a:r>
            <a:r>
              <a:rPr lang="en-US" sz="2000" dirty="0" err="1"/>
              <a:t>datatype</a:t>
            </a:r>
            <a:r>
              <a:rPr lang="en-US" sz="2000" dirty="0"/>
              <a:t> [, ...])]</a:t>
            </a:r>
          </a:p>
          <a:p>
            <a:pPr marL="342900" lvl="1" indent="0">
              <a:buNone/>
            </a:pPr>
            <a:r>
              <a:rPr lang="en-IN" sz="2000" dirty="0"/>
              <a:t>{</a:t>
            </a:r>
            <a:r>
              <a:rPr lang="en-IN" sz="2000" b="1" dirty="0">
                <a:solidFill>
                  <a:srgbClr val="FF0000"/>
                </a:solidFill>
              </a:rPr>
              <a:t>IS </a:t>
            </a:r>
            <a:r>
              <a:rPr lang="en-IN" sz="2000" dirty="0"/>
              <a:t>| </a:t>
            </a:r>
            <a:r>
              <a:rPr lang="en-IN" sz="2000" b="1" dirty="0">
                <a:solidFill>
                  <a:srgbClr val="FF0000"/>
                </a:solidFill>
              </a:rPr>
              <a:t>AS</a:t>
            </a:r>
            <a:r>
              <a:rPr lang="en-IN" sz="2000" dirty="0"/>
              <a:t>}</a:t>
            </a:r>
          </a:p>
          <a:p>
            <a:pPr marL="342900" lvl="1" indent="0">
              <a:buNone/>
            </a:pPr>
            <a:r>
              <a:rPr lang="en-IN" sz="2000" dirty="0"/>
              <a:t>      --------------------; --Declarative Part</a:t>
            </a:r>
          </a:p>
          <a:p>
            <a:pPr marL="342900" lvl="1" indent="0">
              <a:buNone/>
            </a:pPr>
            <a:r>
              <a:rPr lang="en-IN" sz="2000" b="1" dirty="0"/>
              <a:t>BEGIN</a:t>
            </a:r>
          </a:p>
          <a:p>
            <a:pPr marL="342900" lvl="1" indent="0">
              <a:buNone/>
            </a:pPr>
            <a:r>
              <a:rPr lang="en-IN" sz="2000" dirty="0"/>
              <a:t>    &lt; procedure_body &gt;; --Executable Part</a:t>
            </a:r>
          </a:p>
          <a:p>
            <a:pPr marL="342900" lvl="1" indent="0">
              <a:buNone/>
            </a:pPr>
            <a:r>
              <a:rPr lang="en-IN" sz="2000" dirty="0"/>
              <a:t>     -----------------------;</a:t>
            </a:r>
          </a:p>
          <a:p>
            <a:pPr marL="342900" lvl="1" indent="0">
              <a:buNone/>
            </a:pPr>
            <a:r>
              <a:rPr lang="en-IN" sz="2000" b="1" dirty="0"/>
              <a:t>END [</a:t>
            </a:r>
            <a:r>
              <a:rPr lang="en-IN" sz="2000" dirty="0"/>
              <a:t>procedure_name</a:t>
            </a:r>
            <a:r>
              <a:rPr lang="en-IN" sz="2000" b="1" dirty="0"/>
              <a:t>]</a:t>
            </a:r>
            <a:r>
              <a:rPr lang="en-IN" sz="2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4824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Example-(Non-Parameterized)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CREATE</a:t>
            </a:r>
            <a:r>
              <a:rPr lang="en-US" dirty="0"/>
              <a:t> OR REPLACE </a:t>
            </a:r>
            <a:r>
              <a:rPr lang="en-US" dirty="0">
                <a:solidFill>
                  <a:srgbClr val="FF0000"/>
                </a:solidFill>
              </a:rPr>
              <a:t>PROCEDURE</a:t>
            </a:r>
            <a:r>
              <a:rPr lang="en-US" dirty="0"/>
              <a:t> proc1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AS</a:t>
            </a:r>
          </a:p>
          <a:p>
            <a:pPr marL="0" indent="0">
              <a:buNone/>
            </a:pPr>
            <a:r>
              <a:rPr lang="en-IN" b="1" dirty="0"/>
              <a:t>BEGIN</a:t>
            </a:r>
          </a:p>
          <a:p>
            <a:pPr marL="0" indent="0">
              <a:buNone/>
            </a:pPr>
            <a:r>
              <a:rPr lang="en-IN" dirty="0"/>
              <a:t>  dbms_output.put_line('This is my first procedure…');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END </a:t>
            </a:r>
            <a:r>
              <a:rPr lang="en-IN" dirty="0"/>
              <a:t>proc1;</a:t>
            </a:r>
          </a:p>
          <a:p>
            <a:pPr marL="0" indent="0">
              <a:buNone/>
            </a:pPr>
            <a:r>
              <a:rPr lang="en-IN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7162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Executing a Standalone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A standalone procedure can be called in two ways −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Using the </a:t>
            </a:r>
            <a:r>
              <a:rPr lang="en-IN" b="1" dirty="0"/>
              <a:t>EXECUTE </a:t>
            </a:r>
            <a:r>
              <a:rPr lang="en-IN" dirty="0"/>
              <a:t>keyword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Calling the name of the procedure from a PL/SQL block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The above procedure named </a:t>
            </a:r>
            <a:r>
              <a:rPr lang="en-US" b="1" dirty="0"/>
              <a:t>'‘proc1'' </a:t>
            </a:r>
            <a:r>
              <a:rPr lang="en-US" dirty="0"/>
              <a:t>can be called with tithe EXECUTE keyword ass −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>
                <a:solidFill>
                  <a:srgbClr val="FF0000"/>
                </a:solidFill>
              </a:rPr>
              <a:t>SQL&gt; EXECUTE </a:t>
            </a:r>
            <a:r>
              <a:rPr lang="en-US" b="1" dirty="0"/>
              <a:t>proc1</a:t>
            </a:r>
            <a:r>
              <a:rPr lang="en-IN" b="1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The procedure can also be called from another PL/SQL block −</a:t>
            </a:r>
          </a:p>
          <a:p>
            <a:pPr marL="0" indent="0">
              <a:buNone/>
            </a:pPr>
            <a:r>
              <a:rPr lang="en-IN" b="1" dirty="0"/>
              <a:t>    BEGIN</a:t>
            </a:r>
          </a:p>
          <a:p>
            <a:pPr marL="0" indent="0">
              <a:buNone/>
            </a:pPr>
            <a:r>
              <a:rPr lang="en-IN" dirty="0"/>
              <a:t>          </a:t>
            </a:r>
            <a:r>
              <a:rPr lang="en-US" b="1" dirty="0">
                <a:solidFill>
                  <a:srgbClr val="FF0000"/>
                </a:solidFill>
              </a:rPr>
              <a:t>proc1</a:t>
            </a:r>
            <a:r>
              <a:rPr lang="en-IN" b="1" dirty="0">
                <a:solidFill>
                  <a:srgbClr val="FF0000"/>
                </a:solidFill>
              </a:rPr>
              <a:t>; </a:t>
            </a:r>
            <a:r>
              <a:rPr lang="en-IN" b="1" dirty="0">
                <a:solidFill>
                  <a:schemeClr val="accent6"/>
                </a:solidFill>
              </a:rPr>
              <a:t>--Procedure call</a:t>
            </a:r>
          </a:p>
          <a:p>
            <a:pPr marL="0" indent="0">
              <a:buNone/>
            </a:pPr>
            <a:r>
              <a:rPr lang="en-IN" b="1" dirty="0"/>
              <a:t>     END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/</a:t>
            </a:r>
          </a:p>
        </p:txBody>
      </p:sp>
    </p:spTree>
    <p:extLst>
      <p:ext uri="{BB962C8B-B14F-4D97-AF65-F5344CB8AC3E}">
        <p14:creationId xmlns:p14="http://schemas.microsoft.com/office/powerpoint/2010/main" val="175581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Deleting a Standalone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200" dirty="0"/>
              <a:t>A standalone procedure is deleted with the </a:t>
            </a:r>
            <a:r>
              <a:rPr lang="en-IN" sz="2200" b="1" dirty="0"/>
              <a:t>DROP PROCEDURE </a:t>
            </a:r>
            <a:r>
              <a:rPr lang="en-IN" sz="2200" dirty="0"/>
              <a:t>statement. </a:t>
            </a:r>
          </a:p>
          <a:p>
            <a:r>
              <a:rPr lang="en-IN" sz="2400" b="1" dirty="0"/>
              <a:t>Syntax:-</a:t>
            </a:r>
          </a:p>
          <a:p>
            <a:pPr lvl="1"/>
            <a:r>
              <a:rPr lang="en-IN" sz="2000" dirty="0">
                <a:solidFill>
                  <a:srgbClr val="FF0000"/>
                </a:solidFill>
              </a:rPr>
              <a:t>DROP PROCEDURE </a:t>
            </a:r>
            <a:r>
              <a:rPr lang="en-IN" sz="2000" dirty="0"/>
              <a:t>procedure-name;</a:t>
            </a:r>
          </a:p>
          <a:p>
            <a:pPr lvl="1"/>
            <a:endParaRPr lang="en-IN" sz="2000" dirty="0"/>
          </a:p>
          <a:p>
            <a:r>
              <a:rPr lang="en-IN" sz="2400" b="1" dirty="0"/>
              <a:t>Example:-</a:t>
            </a:r>
          </a:p>
          <a:p>
            <a:pPr lvl="1"/>
            <a:r>
              <a:rPr lang="en-IN" sz="2000" dirty="0"/>
              <a:t>DROP PROCEDURE proc1;</a:t>
            </a:r>
          </a:p>
        </p:txBody>
      </p:sp>
    </p:spTree>
    <p:extLst>
      <p:ext uri="{BB962C8B-B14F-4D97-AF65-F5344CB8AC3E}">
        <p14:creationId xmlns:p14="http://schemas.microsoft.com/office/powerpoint/2010/main" val="311780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Parameter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b="1" dirty="0">
                <a:solidFill>
                  <a:srgbClr val="FF0000"/>
                </a:solidFill>
              </a:rPr>
              <a:t>1. IN: </a:t>
            </a:r>
          </a:p>
          <a:p>
            <a:pPr algn="just"/>
            <a:r>
              <a:rPr lang="en-IN" sz="2400" dirty="0"/>
              <a:t>An IN parameter lets you pass a value to the subprogram. It is a read only parameter. </a:t>
            </a:r>
          </a:p>
          <a:p>
            <a:pPr algn="just"/>
            <a:r>
              <a:rPr lang="en-IN" sz="2400" dirty="0"/>
              <a:t>Inside the subprogram, an IN parameter acts like a constant. It cannot be assigned a value. </a:t>
            </a:r>
          </a:p>
          <a:p>
            <a:pPr algn="just"/>
            <a:r>
              <a:rPr lang="en-IN" sz="2400" dirty="0"/>
              <a:t>You can pass a constant, literal, initialized variable, or expression as an IN parameter. </a:t>
            </a:r>
          </a:p>
          <a:p>
            <a:pPr algn="just"/>
            <a:r>
              <a:rPr lang="en-IN" sz="2400" dirty="0"/>
              <a:t>It is the default mode of parameter passing. Parameters are passed by reference. </a:t>
            </a:r>
          </a:p>
        </p:txBody>
      </p:sp>
    </p:spTree>
    <p:extLst>
      <p:ext uri="{BB962C8B-B14F-4D97-AF65-F5344CB8AC3E}">
        <p14:creationId xmlns:p14="http://schemas.microsoft.com/office/powerpoint/2010/main" val="88335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Parameter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6"/>
            <a:ext cx="7886700" cy="385643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IN" sz="2400" b="1" dirty="0">
                <a:solidFill>
                  <a:srgbClr val="FF0000"/>
                </a:solidFill>
              </a:rPr>
              <a:t>2. OUT</a:t>
            </a:r>
          </a:p>
          <a:p>
            <a:pPr algn="just"/>
            <a:r>
              <a:rPr lang="en-IN" sz="2400" dirty="0"/>
              <a:t>An OUT parameter returns a value to the calling program. Inside the subprogram, an OUT parameter acts like a variable. </a:t>
            </a:r>
          </a:p>
          <a:p>
            <a:pPr algn="just"/>
            <a:r>
              <a:rPr lang="en-IN" sz="2400" dirty="0"/>
              <a:t>You can change its value and reference the value after assigning it. </a:t>
            </a:r>
          </a:p>
          <a:p>
            <a:pPr algn="just"/>
            <a:r>
              <a:rPr lang="en-IN" sz="2400" dirty="0"/>
              <a:t>The actual parameter must be variable and it is passed by value.</a:t>
            </a:r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b="1" dirty="0">
                <a:solidFill>
                  <a:srgbClr val="FF0000"/>
                </a:solidFill>
              </a:rPr>
              <a:t>3. IN OUT</a:t>
            </a:r>
          </a:p>
          <a:p>
            <a:pPr algn="just"/>
            <a:r>
              <a:rPr lang="en-IN" sz="2400" dirty="0"/>
              <a:t>An IN OUT parameter passes an initial value to a subprogram and returns an updated value to the caller. </a:t>
            </a:r>
          </a:p>
          <a:p>
            <a:pPr algn="just"/>
            <a:r>
              <a:rPr lang="en-IN" sz="2400" dirty="0"/>
              <a:t>It can be assssiigned a value and the value can be read. </a:t>
            </a:r>
          </a:p>
          <a:p>
            <a:pPr algn="just"/>
            <a:r>
              <a:rPr lang="en-IN" sz="2400" dirty="0"/>
              <a:t>The actual parameter corresponding to an IIN OUT formal parameter must be a variable, not a constant or an exprressssiion. Formal parameter must be assigned a value. Actual parameter is passed by value.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587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Example- (Parameterized) </a:t>
            </a:r>
            <a:r>
              <a:rPr lang="en-IN" dirty="0">
                <a:solidFill>
                  <a:srgbClr val="FF0000"/>
                </a:solidFill>
              </a:rPr>
              <a:t>IN</a:t>
            </a:r>
            <a:r>
              <a:rPr lang="en-IN" dirty="0"/>
              <a:t> and </a:t>
            </a:r>
            <a:r>
              <a:rPr lang="en-IN" dirty="0">
                <a:solidFill>
                  <a:srgbClr val="FF0000"/>
                </a:solidFill>
              </a:rPr>
              <a:t>OUT</a:t>
            </a:r>
            <a:r>
              <a:rPr lang="en-IN" dirty="0"/>
              <a:t>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19150"/>
            <a:ext cx="7886700" cy="411479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050" b="1" dirty="0"/>
              <a:t>DECLARE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50" dirty="0"/>
              <a:t>      a number; b number; c number;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0000"/>
                </a:solidFill>
              </a:rPr>
              <a:t>PROCEDURE</a:t>
            </a:r>
            <a:r>
              <a:rPr lang="en-US" sz="1050" dirty="0"/>
              <a:t> findMin(x </a:t>
            </a:r>
            <a:r>
              <a:rPr lang="en-US" sz="1050" b="1" dirty="0">
                <a:solidFill>
                  <a:srgbClr val="00B0F0"/>
                </a:solidFill>
              </a:rPr>
              <a:t>IN</a:t>
            </a:r>
            <a:r>
              <a:rPr lang="en-US" sz="1050" dirty="0"/>
              <a:t> number, y </a:t>
            </a:r>
            <a:r>
              <a:rPr lang="en-US" sz="1050" b="1" dirty="0">
                <a:solidFill>
                  <a:srgbClr val="00B0F0"/>
                </a:solidFill>
              </a:rPr>
              <a:t>IN</a:t>
            </a:r>
            <a:r>
              <a:rPr lang="en-US" sz="1050" dirty="0"/>
              <a:t> number, z </a:t>
            </a:r>
            <a:r>
              <a:rPr lang="en-US" sz="1050" b="1" dirty="0">
                <a:solidFill>
                  <a:srgbClr val="00B0F0"/>
                </a:solidFill>
              </a:rPr>
              <a:t>OUT</a:t>
            </a:r>
            <a:r>
              <a:rPr lang="en-US" sz="1050" dirty="0"/>
              <a:t> number) </a:t>
            </a:r>
            <a:r>
              <a:rPr lang="en-US" sz="1050" b="1" dirty="0">
                <a:solidFill>
                  <a:srgbClr val="FF0000"/>
                </a:solidFill>
              </a:rPr>
              <a:t>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50" b="1" dirty="0"/>
              <a:t>BEGIN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IN" sz="1050" dirty="0"/>
              <a:t>IF x &lt; y THEN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IN" sz="1050" dirty="0"/>
              <a:t>	z:= x;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IN" sz="1050" dirty="0"/>
              <a:t>ELSE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IN" sz="1050" dirty="0"/>
              <a:t>	z:= y;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IN" sz="1050" dirty="0"/>
              <a:t>END IF;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50" b="1" dirty="0">
                <a:solidFill>
                  <a:srgbClr val="FF0000"/>
                </a:solidFill>
              </a:rPr>
              <a:t>END</a:t>
            </a:r>
            <a:r>
              <a:rPr lang="en-IN" sz="1050" dirty="0">
                <a:solidFill>
                  <a:srgbClr val="FF0000"/>
                </a:solidFill>
              </a:rPr>
              <a:t>; </a:t>
            </a:r>
            <a:r>
              <a:rPr lang="en-IN" sz="1050" dirty="0"/>
              <a:t>--Procedure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50" b="1" dirty="0"/>
              <a:t>BEGIN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50" dirty="0"/>
              <a:t>             a:= 25;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50" dirty="0"/>
              <a:t>             b:= 15;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50" dirty="0"/>
              <a:t>              findMin(a, b, c);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/>
              <a:t>              dbms_output.put_line(' Minimum of (25, 15) : ' || c);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50" b="1" dirty="0"/>
              <a:t>END</a:t>
            </a:r>
            <a:r>
              <a:rPr lang="en-IN" sz="105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50" b="1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106833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</a:t>
            </a:r>
            <a:r>
              <a:rPr lang="en-IN" dirty="0">
                <a:solidFill>
                  <a:srgbClr val="FF0000"/>
                </a:solidFill>
              </a:rPr>
              <a:t>IN OUT </a:t>
            </a:r>
            <a:r>
              <a:rPr lang="en-IN" dirty="0"/>
              <a:t>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DECLARE</a:t>
            </a:r>
          </a:p>
          <a:p>
            <a:pPr marL="0" indent="0">
              <a:buNone/>
            </a:pPr>
            <a:r>
              <a:rPr lang="en-IN" sz="1800" dirty="0"/>
              <a:t>       a number;</a:t>
            </a:r>
          </a:p>
          <a:p>
            <a:pPr marL="0" indent="0">
              <a:buNone/>
            </a:pPr>
            <a:r>
              <a:rPr lang="en-US" sz="1800" dirty="0"/>
              <a:t>PROCEDURE squareNum(x </a:t>
            </a:r>
            <a:r>
              <a:rPr lang="en-US" sz="1800" b="1" dirty="0">
                <a:solidFill>
                  <a:srgbClr val="FF0000"/>
                </a:solidFill>
              </a:rPr>
              <a:t>IN OUT </a:t>
            </a:r>
            <a:r>
              <a:rPr lang="en-US" sz="1800" dirty="0"/>
              <a:t>number) </a:t>
            </a:r>
            <a:r>
              <a:rPr lang="en-US" sz="1800" b="1" dirty="0"/>
              <a:t>IS</a:t>
            </a:r>
          </a:p>
          <a:p>
            <a:pPr marL="0" indent="0">
              <a:buNone/>
            </a:pPr>
            <a:r>
              <a:rPr lang="en-IN" sz="1800" b="1" dirty="0"/>
              <a:t>BEGIN</a:t>
            </a:r>
          </a:p>
          <a:p>
            <a:pPr marL="0" indent="0">
              <a:buNone/>
            </a:pPr>
            <a:r>
              <a:rPr lang="en-IN" sz="1800" dirty="0"/>
              <a:t>    x := x * x;</a:t>
            </a:r>
          </a:p>
          <a:p>
            <a:pPr marL="0" indent="0">
              <a:buNone/>
            </a:pPr>
            <a:r>
              <a:rPr lang="en-IN" sz="1800" b="1" dirty="0"/>
              <a:t>END</a:t>
            </a:r>
            <a:r>
              <a:rPr lang="en-IN" sz="1800" dirty="0"/>
              <a:t>; --end of procedure</a:t>
            </a:r>
          </a:p>
          <a:p>
            <a:pPr marL="0" indent="0">
              <a:buNone/>
            </a:pPr>
            <a:r>
              <a:rPr lang="en-IN" sz="1800" b="1" dirty="0"/>
              <a:t>BEGIN</a:t>
            </a:r>
          </a:p>
          <a:p>
            <a:pPr marL="0" indent="0">
              <a:buNone/>
            </a:pPr>
            <a:r>
              <a:rPr lang="en-IN" sz="1800" dirty="0"/>
              <a:t>    a:= 25;</a:t>
            </a:r>
          </a:p>
          <a:p>
            <a:pPr marL="0" indent="0">
              <a:buNone/>
            </a:pPr>
            <a:r>
              <a:rPr lang="en-IN" sz="1800" dirty="0"/>
              <a:t>     squareNum(a);</a:t>
            </a:r>
          </a:p>
          <a:p>
            <a:pPr marL="0" indent="0">
              <a:buNone/>
            </a:pPr>
            <a:r>
              <a:rPr lang="en-US" sz="1800" dirty="0"/>
              <a:t>      dbms_output.put_line(' Square of (25): ' || a);</a:t>
            </a:r>
          </a:p>
          <a:p>
            <a:pPr marL="0" indent="0">
              <a:buNone/>
            </a:pPr>
            <a:r>
              <a:rPr lang="en-IN" sz="1800" b="1" dirty="0"/>
              <a:t>END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4959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Following are the advantages of stored procedures:</a:t>
            </a:r>
          </a:p>
          <a:p>
            <a:pPr algn="just"/>
            <a:r>
              <a:rPr lang="en-US" dirty="0"/>
              <a:t>Since stored procedures are compiled and stored, whenever you call a procedure the response is quick.</a:t>
            </a:r>
          </a:p>
          <a:p>
            <a:pPr algn="just"/>
            <a:r>
              <a:rPr lang="en-US" dirty="0"/>
              <a:t>you can group all the required SQL statements in a procedure and execute them at once.</a:t>
            </a:r>
          </a:p>
          <a:p>
            <a:pPr algn="just"/>
            <a:r>
              <a:rPr lang="en-US" dirty="0"/>
              <a:t>Since procedures are stored on the database server which is faster than client. You can execute all the complicated quires using it, which will be faster.</a:t>
            </a:r>
          </a:p>
          <a:p>
            <a:pPr algn="just"/>
            <a:r>
              <a:rPr lang="en-US" dirty="0"/>
              <a:t>Using procedures, you can avoid repetition of code moreover with these you can use additional SQL functionalities like calling stored functions.</a:t>
            </a:r>
          </a:p>
          <a:p>
            <a:pPr algn="just"/>
            <a:r>
              <a:rPr lang="en-US" dirty="0"/>
              <a:t>Once you compile a stored procedure you can use it in any number of applications. If any changes are needed you can just change the procedures without touching the application code.</a:t>
            </a:r>
          </a:p>
          <a:p>
            <a:pPr algn="just"/>
            <a:r>
              <a:rPr lang="en-US" dirty="0"/>
              <a:t>You can call PL/SQL stored procedures from Java and Java Stored procedures from PL/SQL.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30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5938" y="230210"/>
            <a:ext cx="7924800" cy="457200"/>
          </a:xfrm>
        </p:spPr>
        <p:txBody>
          <a:bodyPr>
            <a:no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1595" y="840347"/>
            <a:ext cx="8316533" cy="4114800"/>
          </a:xfrm>
        </p:spPr>
        <p:txBody>
          <a:bodyPr>
            <a:normAutofit/>
          </a:bodyPr>
          <a:lstStyle/>
          <a:p>
            <a:pPr lvl="0" algn="just"/>
            <a:r>
              <a:rPr lang="en-US" sz="1800" dirty="0" err="1"/>
              <a:t>RamezElmasri</a:t>
            </a:r>
            <a:r>
              <a:rPr lang="en-US" sz="1800" dirty="0"/>
              <a:t> and </a:t>
            </a:r>
            <a:r>
              <a:rPr lang="en-US" sz="1800" dirty="0" err="1"/>
              <a:t>Shamkant</a:t>
            </a:r>
            <a:r>
              <a:rPr lang="en-US" sz="1800" dirty="0"/>
              <a:t> B. </a:t>
            </a:r>
            <a:r>
              <a:rPr lang="en-US" sz="1800" dirty="0" err="1"/>
              <a:t>Navathe</a:t>
            </a:r>
            <a:r>
              <a:rPr lang="en-US" sz="1800" dirty="0"/>
              <a:t>, “Fundamentals of Database System”, The Benjamin / Cummings Publishing Co.</a:t>
            </a:r>
          </a:p>
          <a:p>
            <a:pPr lvl="0" algn="just"/>
            <a:r>
              <a:rPr lang="en-US" sz="1800" dirty="0" err="1"/>
              <a:t>Korth</a:t>
            </a:r>
            <a:r>
              <a:rPr lang="en-US" sz="1800" dirty="0"/>
              <a:t> and </a:t>
            </a:r>
            <a:r>
              <a:rPr lang="en-US" sz="1800" dirty="0" err="1"/>
              <a:t>Silberschatz</a:t>
            </a:r>
            <a:r>
              <a:rPr lang="en-US" sz="1800" dirty="0"/>
              <a:t> Abraham, “Database System Concepts”, McGraw Hall.</a:t>
            </a:r>
          </a:p>
          <a:p>
            <a:pPr lvl="0" algn="just"/>
            <a:r>
              <a:rPr lang="en-US" sz="1800" dirty="0" err="1"/>
              <a:t>C.J.Date</a:t>
            </a:r>
            <a:r>
              <a:rPr lang="en-US" sz="1800" dirty="0"/>
              <a:t>, “An Introduction to Database Systems”, Addison Wesley.</a:t>
            </a:r>
          </a:p>
          <a:p>
            <a:pPr lvl="0" algn="just"/>
            <a:r>
              <a:rPr lang="en-US" sz="1800" dirty="0"/>
              <a:t>Thomas M. Connolly, Carolyn &amp; E. </a:t>
            </a:r>
            <a:r>
              <a:rPr lang="en-US" sz="1800" dirty="0" err="1"/>
              <a:t>Begg</a:t>
            </a:r>
            <a:r>
              <a:rPr lang="en-US" sz="1800" dirty="0"/>
              <a:t>, “Database Systems: A Practical Approach to Design, Implementation and Management”, 5/E, University of Paisley, Addison-Wesley.</a:t>
            </a:r>
          </a:p>
          <a:p>
            <a:pPr algn="just"/>
            <a:endParaRPr lang="en-US" sz="1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4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209550"/>
            <a:ext cx="7924800" cy="457200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0" y="895350"/>
            <a:ext cx="8001000" cy="3371850"/>
          </a:xfrm>
        </p:spPr>
        <p:txBody>
          <a:bodyPr/>
          <a:lstStyle/>
          <a:p>
            <a:pPr lvl="0"/>
            <a:r>
              <a:rPr lang="en-US" dirty="0">
                <a:hlinkClick r:id="rId2"/>
              </a:rPr>
              <a:t>https://docs.oracle.com/cd/B19306_01/server.102/b14200/statements_6009.htm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360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9144000" cy="3514725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7010400" y="0"/>
            <a:ext cx="1371600" cy="13716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7627144" y="1"/>
            <a:ext cx="497681" cy="49768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550069" y="4720829"/>
            <a:ext cx="419100" cy="41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292894" y="3846910"/>
            <a:ext cx="1296591" cy="12965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159" name="Title 1"/>
          <p:cNvSpPr txBox="1">
            <a:spLocks/>
          </p:cNvSpPr>
          <p:nvPr/>
        </p:nvSpPr>
        <p:spPr bwMode="auto">
          <a:xfrm>
            <a:off x="1114425" y="1687116"/>
            <a:ext cx="8043863" cy="922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 sz="6000" dirty="0">
                <a:solidFill>
                  <a:srgbClr val="FFFFFF"/>
                </a:solidFill>
                <a:ea typeface="Segoe UI" pitchFamily="34" charset="0"/>
                <a:cs typeface="Times New Roman" pitchFamily="18" charset="0"/>
              </a:rPr>
              <a:t>THANK YOU</a:t>
            </a:r>
          </a:p>
        </p:txBody>
      </p:sp>
      <p:sp>
        <p:nvSpPr>
          <p:cNvPr id="177160" name="Diamond 6"/>
          <p:cNvSpPr>
            <a:spLocks/>
          </p:cNvSpPr>
          <p:nvPr/>
        </p:nvSpPr>
        <p:spPr bwMode="auto">
          <a:xfrm>
            <a:off x="1981201" y="910829"/>
            <a:ext cx="1822847" cy="2419350"/>
          </a:xfrm>
          <a:custGeom>
            <a:avLst/>
            <a:gdLst>
              <a:gd name="T0" fmla="*/ 2430463 w 2430463"/>
              <a:gd name="T1" fmla="*/ 2413000 h 3225800"/>
              <a:gd name="T2" fmla="*/ 1612900 w 2430463"/>
              <a:gd name="T3" fmla="*/ 3225800 h 3225800"/>
              <a:gd name="T4" fmla="*/ 0 w 2430463"/>
              <a:gd name="T5" fmla="*/ 1612900 h 3225800"/>
              <a:gd name="T6" fmla="*/ 1612900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 anchor="ctr"/>
          <a:lstStyle/>
          <a:p>
            <a:endParaRPr lang="en-IN" dirty="0"/>
          </a:p>
        </p:txBody>
      </p:sp>
      <p:sp>
        <p:nvSpPr>
          <p:cNvPr id="177161" name="Diamond 6"/>
          <p:cNvSpPr>
            <a:spLocks/>
          </p:cNvSpPr>
          <p:nvPr/>
        </p:nvSpPr>
        <p:spPr bwMode="auto">
          <a:xfrm>
            <a:off x="2174082" y="910829"/>
            <a:ext cx="1822847" cy="2419350"/>
          </a:xfrm>
          <a:custGeom>
            <a:avLst/>
            <a:gdLst>
              <a:gd name="T0" fmla="*/ 2430463 w 2430463"/>
              <a:gd name="T1" fmla="*/ 2413000 h 3225800"/>
              <a:gd name="T2" fmla="*/ 1612900 w 2430463"/>
              <a:gd name="T3" fmla="*/ 3225800 h 3225800"/>
              <a:gd name="T4" fmla="*/ 0 w 2430463"/>
              <a:gd name="T5" fmla="*/ 1612900 h 3225800"/>
              <a:gd name="T6" fmla="*/ 1612900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 anchor="ctr"/>
          <a:lstStyle/>
          <a:p>
            <a:endParaRPr lang="en-IN" dirty="0"/>
          </a:p>
        </p:txBody>
      </p:sp>
      <p:grpSp>
        <p:nvGrpSpPr>
          <p:cNvPr id="177162" name="Group 28"/>
          <p:cNvGrpSpPr>
            <a:grpSpLocks/>
          </p:cNvGrpSpPr>
          <p:nvPr/>
        </p:nvGrpSpPr>
        <p:grpSpPr bwMode="auto">
          <a:xfrm>
            <a:off x="178594" y="114300"/>
            <a:ext cx="307181" cy="1209675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6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673" y="408874"/>
              <a:ext cx="218784" cy="4942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659"/>
              <a:ext cx="217933" cy="221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aphicFrame>
          <p:nvGraphicFramePr>
            <p:cNvPr id="177168" name="Object 3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0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7163" name="Rectangle 1"/>
          <p:cNvSpPr>
            <a:spLocks noChangeArrowheads="1"/>
          </p:cNvSpPr>
          <p:nvPr/>
        </p:nvSpPr>
        <p:spPr bwMode="auto">
          <a:xfrm>
            <a:off x="3084910" y="4045744"/>
            <a:ext cx="4886594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dirty="0">
                <a:latin typeface="Casper"/>
                <a:cs typeface="Segoe UI" pitchFamily="34" charset="0"/>
              </a:rPr>
              <a:t>For queries</a:t>
            </a:r>
          </a:p>
          <a:p>
            <a:r>
              <a:rPr lang="en-US" altLang="en-US" dirty="0">
                <a:latin typeface="Casper"/>
                <a:cs typeface="Segoe UI" pitchFamily="34" charset="0"/>
              </a:rPr>
              <a:t>Email</a:t>
            </a:r>
            <a:r>
              <a:rPr lang="en-US" altLang="en-US">
                <a:latin typeface="Casper"/>
                <a:cs typeface="Segoe UI" pitchFamily="34" charset="0"/>
              </a:rPr>
              <a:t>: </a:t>
            </a:r>
            <a:r>
              <a:rPr lang="en-US" altLang="en-US" smtClean="0">
                <a:latin typeface="Casper"/>
                <a:cs typeface="Segoe UI" pitchFamily="34" charset="0"/>
                <a:hlinkClick r:id="rId5"/>
              </a:rPr>
              <a:t>shaveta.e13464@cumail.in</a:t>
            </a:r>
            <a:r>
              <a:rPr lang="en-US" altLang="en-US" smtClean="0">
                <a:latin typeface="Casper"/>
                <a:cs typeface="Segoe UI" pitchFamily="34" charset="0"/>
              </a:rPr>
              <a:t> </a:t>
            </a:r>
            <a:endParaRPr lang="en-US" altLang="en-US" dirty="0"/>
          </a:p>
        </p:txBody>
      </p:sp>
      <p:sp>
        <p:nvSpPr>
          <p:cNvPr id="177164" name="Slide Number Placeholder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1"/>
                </a:solidFill>
                <a:latin typeface="Times New Roman" pitchFamily="18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Times New Roman" pitchFamily="18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Times New Roman" pitchFamily="18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Times New Roman" pitchFamily="18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AC26643-7CEF-4538-9372-1F7FE56F9D0A}" type="slidenum">
              <a:rPr lang="en-US" altLang="en-US" sz="900">
                <a:solidFill>
                  <a:srgbClr val="898989"/>
                </a:solidFill>
              </a:rPr>
              <a:pPr/>
              <a:t>18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41321"/>
      </p:ext>
    </p:extLst>
  </p:cSld>
  <p:clrMapOvr>
    <a:masterClrMapping/>
  </p:clrMapOvr>
</p:sld>
</file>

<file path=ppt/theme/theme1.xml><?xml version="1.0" encoding="utf-8"?>
<a:theme xmlns:a="http://schemas.openxmlformats.org/drawingml/2006/main" name="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 THEME</Template>
  <TotalTime>335</TotalTime>
  <Words>976</Words>
  <Application>Microsoft Office PowerPoint</Application>
  <PresentationFormat>On-screen Show (16:9)</PresentationFormat>
  <Paragraphs>144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Casper</vt:lpstr>
      <vt:lpstr>Karla</vt:lpstr>
      <vt:lpstr>Segoe UI</vt:lpstr>
      <vt:lpstr>Times New Roman</vt:lpstr>
      <vt:lpstr>CU THEME</vt:lpstr>
      <vt:lpstr>1_CU THEME</vt:lpstr>
      <vt:lpstr>2_CU THEME</vt:lpstr>
      <vt:lpstr>CorelDRAW</vt:lpstr>
      <vt:lpstr>PowerPoint Presentation</vt:lpstr>
      <vt:lpstr>DBMS: Course Objectives</vt:lpstr>
      <vt:lpstr>COURSE OUTCOMES</vt:lpstr>
      <vt:lpstr>UNIT-3</vt:lpstr>
      <vt:lpstr>Subprogram</vt:lpstr>
      <vt:lpstr>Types of Subprogram</vt:lpstr>
      <vt:lpstr>Procedure</vt:lpstr>
      <vt:lpstr>Example-(Non-Parameterized)</vt:lpstr>
      <vt:lpstr>Executing a Standalone Procedure</vt:lpstr>
      <vt:lpstr>Deleting a Standalone Procedure</vt:lpstr>
      <vt:lpstr>Parameter Modes</vt:lpstr>
      <vt:lpstr>Parameter Modes</vt:lpstr>
      <vt:lpstr>Example- (Parameterized) IN and OUT Mode</vt:lpstr>
      <vt:lpstr>Example: IN OUT Mode</vt:lpstr>
      <vt:lpstr>Advantages of Procedures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PROCEDURES</dc:title>
  <dc:creator>PRAMOD</dc:creator>
  <cp:lastModifiedBy>shavetapc</cp:lastModifiedBy>
  <cp:revision>86</cp:revision>
  <dcterms:created xsi:type="dcterms:W3CDTF">2006-08-16T00:00:00Z</dcterms:created>
  <dcterms:modified xsi:type="dcterms:W3CDTF">2023-06-28T04:55:15Z</dcterms:modified>
</cp:coreProperties>
</file>