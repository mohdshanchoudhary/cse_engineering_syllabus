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4" r:id="rId1"/>
    <p:sldMasterId id="2147483686" r:id="rId2"/>
  </p:sldMasterIdLst>
  <p:notesMasterIdLst>
    <p:notesMasterId r:id="rId24"/>
  </p:notesMasterIdLst>
  <p:handoutMasterIdLst>
    <p:handoutMasterId r:id="rId25"/>
  </p:handoutMasterIdLst>
  <p:sldIdLst>
    <p:sldId id="525" r:id="rId3"/>
    <p:sldId id="522" r:id="rId4"/>
    <p:sldId id="265" r:id="rId5"/>
    <p:sldId id="490" r:id="rId6"/>
    <p:sldId id="492" r:id="rId7"/>
    <p:sldId id="493" r:id="rId8"/>
    <p:sldId id="494" r:id="rId9"/>
    <p:sldId id="495" r:id="rId10"/>
    <p:sldId id="496" r:id="rId11"/>
    <p:sldId id="497" r:id="rId12"/>
    <p:sldId id="498" r:id="rId13"/>
    <p:sldId id="499" r:id="rId14"/>
    <p:sldId id="500" r:id="rId15"/>
    <p:sldId id="510" r:id="rId16"/>
    <p:sldId id="511" r:id="rId17"/>
    <p:sldId id="512" r:id="rId18"/>
    <p:sldId id="514" r:id="rId19"/>
    <p:sldId id="523" r:id="rId20"/>
    <p:sldId id="364" r:id="rId21"/>
    <p:sldId id="489" r:id="rId22"/>
    <p:sldId id="52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15" autoAdjust="0"/>
    <p:restoredTop sz="94660"/>
  </p:normalViewPr>
  <p:slideViewPr>
    <p:cSldViewPr snapToGrid="0">
      <p:cViewPr varScale="1">
        <p:scale>
          <a:sx n="74" d="100"/>
          <a:sy n="74" d="100"/>
        </p:scale>
        <p:origin x="558"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6/15/2023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60732FBC-CC67-4B17-8935-02F23E3364AC}" type="slidenum">
              <a:rPr lang="en-US" smtClean="0"/>
              <a:pPr/>
              <a:t>10</a:t>
            </a:fld>
            <a:endParaRPr lang="en-US"/>
          </a:p>
        </p:txBody>
      </p:sp>
    </p:spTree>
    <p:extLst>
      <p:ext uri="{BB962C8B-B14F-4D97-AF65-F5344CB8AC3E}">
        <p14:creationId xmlns:p14="http://schemas.microsoft.com/office/powerpoint/2010/main" val="2322825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By: Pramod Vishwakarma (E9758)</a:t>
            </a:r>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By: Pramod Vishwakarma (E9758)</a:t>
            </a:r>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By: Pramod Vishwakarma (E9758)</a:t>
            </a:r>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smtClean="0"/>
              <a:t>By: Pramod Vishwakarma (E9758)</a:t>
            </a: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smtClean="0"/>
              <a:t>By: Pramod Vishwakarma (E9758)</a:t>
            </a:r>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smtClean="0"/>
              <a:t>By: Pramod Vishwakarma (E9758)</a:t>
            </a:r>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smtClean="0"/>
              <a:t>By: Pramod Vishwakarma (E9758)</a:t>
            </a:r>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smtClean="0"/>
              <a:t>By: Pramod Vishwakarma (E9758)</a:t>
            </a: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smtClean="0"/>
              <a:t>By: Pramod Vishwakarma (E9758)</a:t>
            </a: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By: Pramod Vishwakarma (E9758)</a:t>
            </a:r>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By: Pramod Vishwakarma (E9758)</a:t>
            </a:r>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16000" y="1447800"/>
            <a:ext cx="10972800" cy="4800600"/>
          </a:xfrm>
          <a:prstGeom prst="rect">
            <a:avLst/>
          </a:prstGeo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Text Placeholder 10"/>
          <p:cNvSpPr>
            <a:spLocks noGrp="1"/>
          </p:cNvSpPr>
          <p:nvPr>
            <p:ph type="body" sz="quarter" idx="10"/>
          </p:nvPr>
        </p:nvSpPr>
        <p:spPr>
          <a:xfrm>
            <a:off x="1422400" y="609600"/>
            <a:ext cx="10566400" cy="685800"/>
          </a:xfrm>
          <a:prstGeom prst="rect">
            <a:avLst/>
          </a:prstGeom>
          <a:solidFill>
            <a:schemeClr val="bg1"/>
          </a:solidFill>
        </p:spPr>
        <p:txBody>
          <a:bodyPr anchor="ctr">
            <a:normAutofit/>
          </a:bodyPr>
          <a:lstStyle>
            <a:lvl1pPr algn="ctr">
              <a:buNone/>
              <a:defRPr sz="3200" b="1">
                <a:solidFill>
                  <a:srgbClr val="C00000"/>
                </a:solidFill>
              </a:defRPr>
            </a:lvl1pPr>
          </a:lstStyle>
          <a:p>
            <a:pPr lvl="0"/>
            <a:r>
              <a:rPr lang="en-US" smtClean="0"/>
              <a:t>Click to edit Master text styles</a:t>
            </a:r>
          </a:p>
        </p:txBody>
      </p:sp>
    </p:spTree>
    <p:extLst>
      <p:ext uri="{BB962C8B-B14F-4D97-AF65-F5344CB8AC3E}">
        <p14:creationId xmlns:p14="http://schemas.microsoft.com/office/powerpoint/2010/main" val="18250285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smtClean="0">
                <a:solidFill>
                  <a:prstClr val="black">
                    <a:tint val="75000"/>
                  </a:prstClr>
                </a:solidFill>
              </a:rPr>
              <a:t>By: Pramod Vishwakarma (E9758)</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03903175"/>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By: Pramod Vishwakarma (E9758)</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704" r:id="rId12"/>
    <p:sldLayoutId id="2147483705" r:id="rId1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beginnersbook.com/2015/04/e-r-model-in-dbm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beginnersbook.com/2015/04/e-r-model-in-dbm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beginnersbook.com/2015/04/e-r-model-in-dbms/" TargetMode="Externa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beginnersbook.com/2015/04/e-r-model-in-dbms/" TargetMode="External"/><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hyperlink" Target="mailto:saurabh.e12800@cumail.in" TargetMode="External"/><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 xmlns:a16="http://schemas.microsoft.com/office/drawing/2014/main" id="{CAD0D7B8-E462-453C-B296-CA0154FA54AE}"/>
              </a:ext>
            </a:extLst>
          </p:cNvPr>
          <p:cNvGraphicFramePr>
            <a:graphicFrameLocks noChangeAspect="1"/>
          </p:cNvGraphicFramePr>
          <p:nvPr>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40981" name="CorelDRAW" r:id="rId3" imgW="2169000" imgH="2169360" progId="">
                  <p:embed/>
                </p:oleObj>
              </mc:Choice>
              <mc:Fallback>
                <p:oleObj name="CorelDRAW" r:id="rId3" imgW="2169000" imgH="2169360" progId="">
                  <p:embed/>
                  <p:pic>
                    <p:nvPicPr>
                      <p:cNvPr id="0" name="Picture 19"/>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 xmlns:a16="http://schemas.microsoft.com/office/drawing/2014/main" id="{0983CA01-DED8-4A8A-82CA-5B1BE1DADB0C}"/>
              </a:ext>
            </a:extLst>
          </p:cNvPr>
          <p:cNvSpPr/>
          <p:nvPr/>
        </p:nvSpPr>
        <p:spPr>
          <a:xfrm flipH="1">
            <a:off x="7045437" y="-25771"/>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5">
            <a:extLst>
              <a:ext uri="{BEBA8EAE-BF5A-486C-A8C5-ECC9F3942E4B}">
                <a14:imgProps xmlns:a14="http://schemas.microsoft.com/office/drawing/2010/main">
                  <a14:imgLayer r:embed="rId6">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455187" y="6027219"/>
            <a:ext cx="6432043" cy="886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IN" sz="2400" b="1" dirty="0">
                <a:solidFill>
                  <a:prstClr val="black">
                    <a:lumMod val="85000"/>
                    <a:lumOff val="15000"/>
                  </a:prstClr>
                </a:solidFill>
                <a:latin typeface="Times New Roman" panose="02020603050405020304" pitchFamily="18" charset="0"/>
                <a:cs typeface="Times New Roman" panose="02020603050405020304" pitchFamily="18" charset="0"/>
              </a:rPr>
              <a:t>Lecture - 1</a:t>
            </a:r>
            <a:endParaRPr lang="en-US" sz="24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2400" b="1" dirty="0">
                <a:latin typeface="Times New Roman" panose="02020603050405020304" pitchFamily="18" charset="0"/>
                <a:cs typeface="Times New Roman" panose="02020603050405020304" pitchFamily="18" charset="0"/>
              </a:rPr>
              <a:t>Overview of </a:t>
            </a:r>
            <a:r>
              <a:rPr lang="en-US" sz="2400" b="1" dirty="0" smtClean="0">
                <a:latin typeface="Times New Roman" panose="02020603050405020304" pitchFamily="18" charset="0"/>
                <a:cs typeface="Times New Roman" panose="02020603050405020304" pitchFamily="18" charset="0"/>
              </a:rPr>
              <a:t>Databases</a:t>
            </a:r>
            <a:endParaRPr lang="en-US" sz="2400" b="1" dirty="0">
              <a:latin typeface="Times New Roman" panose="02020603050405020304" pitchFamily="18" charset="0"/>
              <a:cs typeface="Times New Roman" panose="02020603050405020304" pitchFamily="18" charset="0"/>
            </a:endParaRPr>
          </a:p>
        </p:txBody>
      </p:sp>
      <p:sp>
        <p:nvSpPr>
          <p:cNvPr id="26" name="TextBox 25"/>
          <p:cNvSpPr txBox="1">
            <a:spLocks noChangeArrowheads="1"/>
          </p:cNvSpPr>
          <p:nvPr/>
        </p:nvSpPr>
        <p:spPr bwMode="auto">
          <a:xfrm>
            <a:off x="497492" y="1461582"/>
            <a:ext cx="11103427" cy="3391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IN" sz="4800" b="1" dirty="0">
                <a:latin typeface="Cambria" panose="02040503050406030204" pitchFamily="18" charset="0"/>
              </a:rPr>
              <a:t>APEX INSTITUTE OF TECHNOLOGY</a:t>
            </a:r>
            <a:endParaRPr lang="en-US" sz="4800" dirty="0">
              <a:latin typeface="Cambria" panose="02040503050406030204" pitchFamily="18" charset="0"/>
            </a:endParaRPr>
          </a:p>
          <a:p>
            <a:pPr algn="ctr"/>
            <a:r>
              <a:rPr lang="en-IN" sz="3200" b="1" dirty="0" smtClean="0">
                <a:latin typeface="Cambria" panose="02040503050406030204" pitchFamily="18" charset="0"/>
              </a:rPr>
              <a:t>DEPARTMENT </a:t>
            </a:r>
            <a:r>
              <a:rPr lang="en-IN" sz="3200" b="1" dirty="0">
                <a:latin typeface="Cambria" panose="02040503050406030204" pitchFamily="18" charset="0"/>
              </a:rPr>
              <a:t>OF COMPUTER SCIENCE &amp; ENGINEERING</a:t>
            </a:r>
            <a:endParaRPr lang="en-US" sz="3200" b="1" dirty="0">
              <a:latin typeface="Cambria" panose="02040503050406030204" pitchFamily="18" charset="0"/>
            </a:endParaRPr>
          </a:p>
          <a:p>
            <a:pPr algn="ctr" defTabSz="622300">
              <a:lnSpc>
                <a:spcPct val="90000"/>
              </a:lnSpc>
              <a:spcBef>
                <a:spcPct val="0"/>
              </a:spcBef>
              <a:spcAft>
                <a:spcPct val="35000"/>
              </a:spcAft>
            </a:pPr>
            <a:endParaRPr lang="en-US" altLang="en-US" sz="3200" b="1" dirty="0" smtClean="0">
              <a:latin typeface="Cambria" panose="02040503050406030204" pitchFamily="18" charset="0"/>
              <a:ea typeface="Calibri" charset="0"/>
              <a:cs typeface="Times New Roman" charset="0"/>
            </a:endParaRPr>
          </a:p>
          <a:p>
            <a:pPr lvl="0" algn="ctr" defTabSz="622300">
              <a:lnSpc>
                <a:spcPct val="90000"/>
              </a:lnSpc>
              <a:spcBef>
                <a:spcPct val="0"/>
              </a:spcBef>
              <a:spcAft>
                <a:spcPct val="35000"/>
              </a:spcAft>
            </a:pPr>
            <a:r>
              <a:rPr lang="en-US" sz="3200" dirty="0" smtClean="0">
                <a:solidFill>
                  <a:prstClr val="black">
                    <a:lumMod val="85000"/>
                    <a:lumOff val="15000"/>
                  </a:prstClr>
                </a:solidFill>
                <a:latin typeface="Cambria" panose="02040503050406030204" pitchFamily="18" charset="0"/>
                <a:cs typeface="Times New Roman" panose="02020603050405020304" pitchFamily="18" charset="0"/>
              </a:rPr>
              <a:t>Database Management </a:t>
            </a:r>
            <a:r>
              <a:rPr lang="en-US" sz="3200" dirty="0">
                <a:solidFill>
                  <a:prstClr val="black">
                    <a:lumMod val="85000"/>
                    <a:lumOff val="15000"/>
                  </a:prstClr>
                </a:solidFill>
                <a:latin typeface="Cambria" panose="02040503050406030204" pitchFamily="18" charset="0"/>
                <a:cs typeface="Times New Roman" panose="02020603050405020304" pitchFamily="18" charset="0"/>
              </a:rPr>
              <a:t>System </a:t>
            </a:r>
            <a:r>
              <a:rPr lang="en-US" sz="3200" dirty="0" smtClean="0">
                <a:solidFill>
                  <a:prstClr val="black">
                    <a:lumMod val="85000"/>
                    <a:lumOff val="15000"/>
                  </a:prstClr>
                </a:solidFill>
                <a:latin typeface="Cambria" panose="02040503050406030204" pitchFamily="18" charset="0"/>
                <a:cs typeface="Times New Roman" panose="02020603050405020304" pitchFamily="18" charset="0"/>
              </a:rPr>
              <a:t>(</a:t>
            </a:r>
            <a:r>
              <a:rPr lang="en-US" sz="3200" dirty="0" smtClean="0">
                <a:solidFill>
                  <a:prstClr val="black">
                    <a:lumMod val="85000"/>
                    <a:lumOff val="15000"/>
                  </a:prstClr>
                </a:solidFill>
                <a:latin typeface="Cambria" panose="02040503050406030204" pitchFamily="18" charset="0"/>
                <a:cs typeface="Times New Roman" panose="02020603050405020304" pitchFamily="18" charset="0"/>
              </a:rPr>
              <a:t>22CSH-243</a:t>
            </a:r>
            <a:r>
              <a:rPr lang="en-US" sz="3200" dirty="0" smtClean="0">
                <a:solidFill>
                  <a:prstClr val="black">
                    <a:lumMod val="85000"/>
                    <a:lumOff val="15000"/>
                  </a:prstClr>
                </a:solidFill>
                <a:latin typeface="Cambria" panose="02040503050406030204" pitchFamily="18" charset="0"/>
                <a:cs typeface="Times New Roman" panose="02020603050405020304" pitchFamily="18" charset="0"/>
              </a:rPr>
              <a:t>)</a:t>
            </a:r>
            <a:endParaRPr lang="en-US" sz="3200" dirty="0">
              <a:solidFill>
                <a:prstClr val="black">
                  <a:lumMod val="85000"/>
                  <a:lumOff val="15000"/>
                </a:prstClr>
              </a:solidFill>
              <a:latin typeface="Cambria" panose="02040503050406030204" pitchFamily="18" charset="0"/>
              <a:cs typeface="Times New Roman" panose="02020603050405020304" pitchFamily="18" charset="0"/>
            </a:endParaRPr>
          </a:p>
          <a:p>
            <a:pPr algn="ctr" defTabSz="622300">
              <a:lnSpc>
                <a:spcPct val="90000"/>
              </a:lnSpc>
              <a:spcBef>
                <a:spcPct val="0"/>
              </a:spcBef>
              <a:spcAft>
                <a:spcPct val="35000"/>
              </a:spcAft>
            </a:pPr>
            <a:r>
              <a:rPr lang="en-US" sz="3200" b="1" dirty="0" smtClean="0">
                <a:solidFill>
                  <a:prstClr val="black">
                    <a:lumMod val="85000"/>
                    <a:lumOff val="15000"/>
                  </a:prstClr>
                </a:solidFill>
                <a:latin typeface="Cambria" panose="02040503050406030204" pitchFamily="18" charset="0"/>
                <a:cs typeface="Times New Roman" panose="02020603050405020304" pitchFamily="18" charset="0"/>
              </a:rPr>
              <a:t>Faculty:</a:t>
            </a:r>
            <a:r>
              <a:rPr lang="en-US" sz="3200" dirty="0" smtClean="0">
                <a:solidFill>
                  <a:prstClr val="black">
                    <a:lumMod val="85000"/>
                    <a:lumOff val="15000"/>
                  </a:prstClr>
                </a:solidFill>
                <a:latin typeface="Cambria" panose="02040503050406030204" pitchFamily="18" charset="0"/>
                <a:cs typeface="Times New Roman" panose="02020603050405020304" pitchFamily="18" charset="0"/>
              </a:rPr>
              <a:t> </a:t>
            </a:r>
            <a:r>
              <a:rPr lang="en-US" sz="3200" dirty="0" smtClean="0">
                <a:solidFill>
                  <a:prstClr val="black">
                    <a:lumMod val="85000"/>
                    <a:lumOff val="15000"/>
                  </a:prstClr>
                </a:solidFill>
                <a:latin typeface="Cambria" panose="02040503050406030204" pitchFamily="18" charset="0"/>
                <a:cs typeface="Times New Roman" panose="02020603050405020304" pitchFamily="18" charset="0"/>
              </a:rPr>
              <a:t>Ms. </a:t>
            </a:r>
            <a:r>
              <a:rPr lang="en-US" sz="3200" dirty="0" err="1" smtClean="0">
                <a:solidFill>
                  <a:prstClr val="black">
                    <a:lumMod val="85000"/>
                    <a:lumOff val="15000"/>
                  </a:prstClr>
                </a:solidFill>
                <a:latin typeface="Cambria" panose="02040503050406030204" pitchFamily="18" charset="0"/>
                <a:cs typeface="Times New Roman" panose="02020603050405020304" pitchFamily="18" charset="0"/>
              </a:rPr>
              <a:t>Shaveta</a:t>
            </a:r>
            <a:r>
              <a:rPr lang="en-US" sz="3200" dirty="0" smtClean="0">
                <a:solidFill>
                  <a:prstClr val="black">
                    <a:lumMod val="85000"/>
                    <a:lumOff val="15000"/>
                  </a:prstClr>
                </a:solidFill>
                <a:latin typeface="Cambria" panose="02040503050406030204" pitchFamily="18" charset="0"/>
                <a:cs typeface="Times New Roman" panose="02020603050405020304" pitchFamily="18" charset="0"/>
              </a:rPr>
              <a:t> Jain (13464)</a:t>
            </a:r>
            <a:endParaRPr lang="en-US" sz="3200" dirty="0">
              <a:solidFill>
                <a:prstClr val="black">
                  <a:lumMod val="85000"/>
                  <a:lumOff val="15000"/>
                </a:prstClr>
              </a:solidFill>
              <a:latin typeface="Cambria" panose="02040503050406030204" pitchFamily="18" charset="0"/>
              <a:cs typeface="Times New Roman" panose="02020603050405020304" pitchFamily="18" charset="0"/>
            </a:endParaRPr>
          </a:p>
          <a:p>
            <a:pPr lvl="0" algn="ctr" defTabSz="622300">
              <a:lnSpc>
                <a:spcPct val="90000"/>
              </a:lnSpc>
              <a:spcBef>
                <a:spcPct val="0"/>
              </a:spcBef>
              <a:spcAft>
                <a:spcPct val="35000"/>
              </a:spcAft>
            </a:pPr>
            <a:endParaRPr lang="en-US" sz="1600" dirty="0">
              <a:latin typeface="Cambria" panose="02040503050406030204" pitchFamily="18" charset="0"/>
            </a:endParaRPr>
          </a:p>
        </p:txBody>
      </p:sp>
      <p:sp>
        <p:nvSpPr>
          <p:cNvPr id="15" name="Slide Number Placeholder 14"/>
          <p:cNvSpPr>
            <a:spLocks noGrp="1"/>
          </p:cNvSpPr>
          <p:nvPr>
            <p:ph type="sldNum" sz="quarter" idx="12"/>
          </p:nvPr>
        </p:nvSpPr>
        <p:spPr/>
        <p:txBody>
          <a:bodyPr/>
          <a:lstStyle/>
          <a:p>
            <a:fld id="{BDCDBBEF-AA6C-4BA6-85B2-A17D7F280E38}" type="slidenum">
              <a:rPr lang="en-US" smtClean="0"/>
              <a:pPr/>
              <a:t>1</a:t>
            </a:fld>
            <a:endParaRPr lang="en-US"/>
          </a:p>
        </p:txBody>
      </p:sp>
    </p:spTree>
    <p:extLst>
      <p:ext uri="{BB962C8B-B14F-4D97-AF65-F5344CB8AC3E}">
        <p14:creationId xmlns:p14="http://schemas.microsoft.com/office/powerpoint/2010/main" val="23665705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411" y="0"/>
            <a:ext cx="10515600" cy="1352282"/>
          </a:xfrm>
        </p:spPr>
        <p:txBody>
          <a:bodyPr>
            <a:normAutofit/>
          </a:bodyPr>
          <a:lstStyle/>
          <a:p>
            <a:r>
              <a:rPr lang="en-IN" sz="3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DBMS: Course Objectives</a:t>
            </a:r>
            <a:endParaRPr lang="en-IN"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Slide Number Placeholder 8"/>
          <p:cNvSpPr>
            <a:spLocks noGrp="1"/>
          </p:cNvSpPr>
          <p:nvPr>
            <p:ph type="sldNum" sz="quarter" idx="12"/>
          </p:nvPr>
        </p:nvSpPr>
        <p:spPr/>
        <p:txBody>
          <a:bodyPr/>
          <a:lstStyle/>
          <a:p>
            <a:fld id="{BDCDBBEF-AA6C-4BA6-85B2-A17D7F280E38}" type="slidenum">
              <a:rPr lang="en-US" smtClean="0"/>
              <a:pPr/>
              <a:t>2</a:t>
            </a:fld>
            <a:endParaRPr lang="en-US"/>
          </a:p>
        </p:txBody>
      </p:sp>
      <p:sp>
        <p:nvSpPr>
          <p:cNvPr id="4" name="Rectangle 3"/>
          <p:cNvSpPr/>
          <p:nvPr/>
        </p:nvSpPr>
        <p:spPr>
          <a:xfrm>
            <a:off x="734095" y="1146220"/>
            <a:ext cx="11075831" cy="3534622"/>
          </a:xfrm>
          <a:prstGeom prst="rect">
            <a:avLst/>
          </a:prstGeom>
        </p:spPr>
        <p:txBody>
          <a:bodyPr wrap="square">
            <a:spAutoFit/>
          </a:bodyPr>
          <a:lstStyle/>
          <a:p>
            <a:pPr lvl="0" algn="just"/>
            <a:r>
              <a:rPr lang="en-US" sz="2400" b="1" dirty="0">
                <a:latin typeface="Times New Roman" panose="02020603050405020304" pitchFamily="18" charset="0"/>
                <a:cs typeface="Times New Roman" panose="02020603050405020304" pitchFamily="18" charset="0"/>
              </a:rPr>
              <a:t>COURSE OBJECTIVES</a:t>
            </a:r>
            <a:endParaRPr lang="en-US" sz="2400" b="1" i="1"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Course aims to:</a:t>
            </a:r>
            <a:endParaRPr lang="en-US" sz="2400" b="1" i="1" dirty="0">
              <a:latin typeface="Times New Roman" panose="02020603050405020304" pitchFamily="18" charset="0"/>
              <a:cs typeface="Times New Roman" panose="02020603050405020304" pitchFamily="18" charset="0"/>
            </a:endParaRPr>
          </a:p>
          <a:p>
            <a:pPr marL="457200" lvl="0" indent="-4572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Understand database system concepts and design databases for different applications and to acquire the knowledge on DBMS and RDBMS.</a:t>
            </a:r>
            <a:endParaRPr lang="en-US" sz="2400" dirty="0">
              <a:latin typeface="Times New Roman" panose="02020603050405020304" pitchFamily="18" charset="0"/>
              <a:cs typeface="Times New Roman" panose="02020603050405020304" pitchFamily="18" charset="0"/>
            </a:endParaRPr>
          </a:p>
          <a:p>
            <a:pPr marL="457200" lvl="0" indent="-4572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Implement and understand different types of DDL, DML and DCL statements.</a:t>
            </a:r>
            <a:endParaRPr lang="en-US" sz="2400" dirty="0">
              <a:latin typeface="Times New Roman" panose="02020603050405020304" pitchFamily="18" charset="0"/>
              <a:cs typeface="Times New Roman" panose="02020603050405020304" pitchFamily="18" charset="0"/>
            </a:endParaRPr>
          </a:p>
          <a:p>
            <a:pPr marL="457200" lvl="0" indent="-4572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Understand transaction concepts related to databases and recovery/backup techniques required for the proper storage of data.</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txBox="1">
            <a:spLocks noGrp="1" noChangeArrowheads="1"/>
          </p:cNvSpPr>
          <p:nvPr>
            <p:ph type="title"/>
          </p:nvPr>
        </p:nvSpPr>
        <p:spPr bwMode="auto">
          <a:xfrm>
            <a:off x="710166" y="351468"/>
            <a:ext cx="11125519"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COURSE </a:t>
            </a:r>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OUTCOMES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12"/>
          <p:cNvSpPr>
            <a:spLocks noGrp="1"/>
          </p:cNvSpPr>
          <p:nvPr>
            <p:ph type="sldNum" sz="quarter" idx="12"/>
          </p:nvPr>
        </p:nvSpPr>
        <p:spPr/>
        <p:txBody>
          <a:bodyPr/>
          <a:lstStyle/>
          <a:p>
            <a:fld id="{BDCDBBEF-AA6C-4BA6-85B2-A17D7F280E38}" type="slidenum">
              <a:rPr lang="en-US" smtClean="0"/>
              <a:pPr/>
              <a:t>3</a:t>
            </a:fld>
            <a:endParaRPr lang="en-US"/>
          </a:p>
        </p:txBody>
      </p:sp>
      <p:sp>
        <p:nvSpPr>
          <p:cNvPr id="4" name="Rectangle 3"/>
          <p:cNvSpPr/>
          <p:nvPr/>
        </p:nvSpPr>
        <p:spPr>
          <a:xfrm>
            <a:off x="720497" y="1170835"/>
            <a:ext cx="8880123" cy="523220"/>
          </a:xfrm>
          <a:prstGeom prst="rect">
            <a:avLst/>
          </a:prstGeom>
        </p:spPr>
        <p:txBody>
          <a:bodyPr wrap="none">
            <a:spAutoFit/>
          </a:bodyPr>
          <a:lstStyle/>
          <a:p>
            <a:r>
              <a:rPr lang="en-IN" sz="2800" dirty="0">
                <a:latin typeface="Times New Roman" panose="02020603050405020304" pitchFamily="18" charset="0"/>
                <a:cs typeface="Times New Roman" panose="02020603050405020304" pitchFamily="18" charset="0"/>
              </a:rPr>
              <a:t>On completion of this course, the students shall be able </a:t>
            </a:r>
            <a:r>
              <a:rPr lang="en-IN" sz="2800" dirty="0" smtClean="0">
                <a:latin typeface="Times New Roman" panose="02020603050405020304" pitchFamily="18" charset="0"/>
                <a:cs typeface="Times New Roman" panose="02020603050405020304" pitchFamily="18" charset="0"/>
              </a:rPr>
              <a:t>to:-</a:t>
            </a:r>
            <a:endParaRPr lang="en-US" sz="2800"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819050713"/>
              </p:ext>
            </p:extLst>
          </p:nvPr>
        </p:nvGraphicFramePr>
        <p:xfrm>
          <a:off x="837127" y="1931829"/>
          <a:ext cx="10824649" cy="722595"/>
        </p:xfrm>
        <a:graphic>
          <a:graphicData uri="http://schemas.openxmlformats.org/drawingml/2006/table">
            <a:tbl>
              <a:tblPr firstRow="1" firstCol="1" bandRow="1"/>
              <a:tblGrid>
                <a:gridCol w="941273"/>
                <a:gridCol w="9883376"/>
              </a:tblGrid>
              <a:tr h="722595">
                <a:tc>
                  <a:txBody>
                    <a:bodyPr/>
                    <a:lstStyle/>
                    <a:p>
                      <a:pPr marL="0" marR="53975" algn="l">
                        <a:spcBef>
                          <a:spcPts val="0"/>
                        </a:spcBef>
                        <a:spcAft>
                          <a:spcPts val="0"/>
                        </a:spcAft>
                      </a:pPr>
                      <a:r>
                        <a:rPr lang="en-IN" sz="2200" b="1" dirty="0">
                          <a:effectLst/>
                          <a:latin typeface="Times New Roman"/>
                          <a:ea typeface="Calibri"/>
                          <a:cs typeface="Arial"/>
                        </a:rPr>
                        <a:t>CO1</a:t>
                      </a:r>
                      <a:endParaRPr lang="en-US" sz="2200" dirty="0">
                        <a:effectLst/>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IN" sz="2200" dirty="0">
                          <a:solidFill>
                            <a:srgbClr val="000000"/>
                          </a:solidFill>
                          <a:effectLst/>
                          <a:latin typeface="Times New Roman"/>
                          <a:ea typeface="Times New Roman"/>
                          <a:cs typeface="Arial"/>
                        </a:rPr>
                        <a:t>Understand the database concept, system architecture and role of database administrator</a:t>
                      </a:r>
                      <a:endParaRPr lang="en-US" sz="2200" dirty="0">
                        <a:effectLst/>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40180973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291" y="94670"/>
            <a:ext cx="10515600" cy="858368"/>
          </a:xfrm>
        </p:spPr>
        <p:txBody>
          <a:bodyPr>
            <a:normAutofit/>
          </a:bodyPr>
          <a:lstStyle/>
          <a:p>
            <a:pPr algn="ctr"/>
            <a:r>
              <a:rPr lang="en-IN" sz="3200" b="1" dirty="0" smtClean="0">
                <a:latin typeface="Times New Roman" pitchFamily="18" charset="0"/>
                <a:cs typeface="Times New Roman" pitchFamily="18" charset="0"/>
              </a:rPr>
              <a:t>Unit-1 Syllabus</a:t>
            </a:r>
            <a:endParaRPr lang="en-IN" sz="3200" b="1"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DCDBBEF-AA6C-4BA6-85B2-A17D7F280E38}" type="slidenum">
              <a:rPr lang="en-US" smtClean="0"/>
              <a:pPr/>
              <a:t>4</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409409505"/>
              </p:ext>
            </p:extLst>
          </p:nvPr>
        </p:nvGraphicFramePr>
        <p:xfrm>
          <a:off x="708338" y="1120462"/>
          <a:ext cx="11127347" cy="5331359"/>
        </p:xfrm>
        <a:graphic>
          <a:graphicData uri="http://schemas.openxmlformats.org/drawingml/2006/table">
            <a:tbl>
              <a:tblPr firstRow="1" firstCol="1" bandRow="1"/>
              <a:tblGrid>
                <a:gridCol w="2456155"/>
                <a:gridCol w="8671192"/>
              </a:tblGrid>
              <a:tr h="529260">
                <a:tc>
                  <a:txBody>
                    <a:bodyPr/>
                    <a:lstStyle/>
                    <a:p>
                      <a:pPr marL="0" marR="53975" algn="just">
                        <a:spcBef>
                          <a:spcPts val="0"/>
                        </a:spcBef>
                        <a:spcAft>
                          <a:spcPts val="0"/>
                        </a:spcAft>
                      </a:pPr>
                      <a:r>
                        <a:rPr lang="en-IN" sz="2400" b="1" dirty="0">
                          <a:effectLst/>
                          <a:latin typeface="Times New Roman"/>
                          <a:ea typeface="Calibri"/>
                          <a:cs typeface="Arial"/>
                        </a:rPr>
                        <a:t>Unit-1</a:t>
                      </a:r>
                      <a:endParaRPr lang="en-US" sz="2400" dirty="0">
                        <a:effectLst/>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53975" algn="just">
                        <a:spcBef>
                          <a:spcPts val="0"/>
                        </a:spcBef>
                        <a:spcAft>
                          <a:spcPts val="0"/>
                        </a:spcAft>
                      </a:pPr>
                      <a:r>
                        <a:rPr lang="en-IN" sz="2400" b="1">
                          <a:effectLst/>
                          <a:latin typeface="Times New Roman"/>
                          <a:ea typeface="Times New Roman"/>
                          <a:cs typeface="Arial"/>
                        </a:rPr>
                        <a:t>Introduction to Databases and Relational Algebra</a:t>
                      </a:r>
                      <a:endParaRPr lang="en-US" sz="2400">
                        <a:effectLst/>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r>
              <a:tr h="2117039">
                <a:tc>
                  <a:txBody>
                    <a:bodyPr/>
                    <a:lstStyle/>
                    <a:p>
                      <a:pPr marL="0" marR="53975">
                        <a:spcBef>
                          <a:spcPts val="0"/>
                        </a:spcBef>
                        <a:spcAft>
                          <a:spcPts val="0"/>
                        </a:spcAft>
                      </a:pPr>
                      <a:r>
                        <a:rPr lang="en-IN" sz="2400" b="1" dirty="0">
                          <a:effectLst/>
                          <a:latin typeface="Times New Roman"/>
                          <a:ea typeface="Times New Roman"/>
                          <a:cs typeface="Arial"/>
                        </a:rPr>
                        <a:t>Overview of Databases</a:t>
                      </a:r>
                      <a:r>
                        <a:rPr lang="en-IN" sz="2400" b="1" dirty="0">
                          <a:solidFill>
                            <a:srgbClr val="00B050"/>
                          </a:solidFill>
                          <a:effectLst/>
                          <a:latin typeface="Times New Roman"/>
                          <a:ea typeface="Times New Roman"/>
                          <a:cs typeface="Arial"/>
                        </a:rPr>
                        <a:t>:</a:t>
                      </a:r>
                      <a:endParaRPr lang="en-US" sz="2400" dirty="0">
                        <a:effectLst/>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53975" algn="just">
                        <a:spcBef>
                          <a:spcPts val="0"/>
                        </a:spcBef>
                        <a:spcAft>
                          <a:spcPts val="0"/>
                        </a:spcAft>
                      </a:pPr>
                      <a:r>
                        <a:rPr lang="en-IN" sz="2400" dirty="0">
                          <a:solidFill>
                            <a:srgbClr val="000000"/>
                          </a:solidFill>
                          <a:effectLst/>
                          <a:latin typeface="Times New Roman"/>
                          <a:ea typeface="Times New Roman"/>
                          <a:cs typeface="Arial"/>
                        </a:rPr>
                        <a:t>Database concepts, DBMS, Data Base System Architecture (Three Level ANSI-SPARC Architecture), Advantages and Disadvantages of DBMS, Data Independence, DBA and Responsibilities of DBA, Relational Data Structure, Keys, Relations, Attributes, Schema and Instances, Referential integrity, Entity integrity.</a:t>
                      </a:r>
                      <a:endParaRPr lang="en-US" sz="2400" dirty="0">
                        <a:effectLst/>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63513">
                <a:tc>
                  <a:txBody>
                    <a:bodyPr/>
                    <a:lstStyle/>
                    <a:p>
                      <a:pPr marL="0" marR="53975">
                        <a:spcBef>
                          <a:spcPts val="0"/>
                        </a:spcBef>
                        <a:spcAft>
                          <a:spcPts val="0"/>
                        </a:spcAft>
                      </a:pPr>
                      <a:r>
                        <a:rPr lang="en-IN" sz="2400" b="1">
                          <a:solidFill>
                            <a:srgbClr val="000000"/>
                          </a:solidFill>
                          <a:effectLst/>
                          <a:latin typeface="Times New Roman"/>
                          <a:ea typeface="Times New Roman"/>
                          <a:cs typeface="Arial"/>
                        </a:rPr>
                        <a:t>Data Models:</a:t>
                      </a:r>
                      <a:endParaRPr lang="en-US" sz="2400">
                        <a:effectLst/>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53975" algn="just">
                        <a:spcBef>
                          <a:spcPts val="0"/>
                        </a:spcBef>
                        <a:spcAft>
                          <a:spcPts val="0"/>
                        </a:spcAft>
                      </a:pPr>
                      <a:r>
                        <a:rPr lang="en-IN" sz="2400">
                          <a:solidFill>
                            <a:srgbClr val="000000"/>
                          </a:solidFill>
                          <a:effectLst/>
                          <a:latin typeface="Times New Roman"/>
                          <a:ea typeface="Times New Roman"/>
                          <a:cs typeface="Arial"/>
                        </a:rPr>
                        <a:t>Relational Model, Network Model, Hierarchical Model, ER Model: Design, issues, Mapping constraints, ER diagram, Comparison of Models</a:t>
                      </a:r>
                      <a:endParaRPr lang="en-US" sz="2400">
                        <a:effectLst/>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87780">
                <a:tc>
                  <a:txBody>
                    <a:bodyPr/>
                    <a:lstStyle/>
                    <a:p>
                      <a:pPr marL="0" marR="53975">
                        <a:spcBef>
                          <a:spcPts val="0"/>
                        </a:spcBef>
                        <a:spcAft>
                          <a:spcPts val="0"/>
                        </a:spcAft>
                      </a:pPr>
                      <a:r>
                        <a:rPr lang="en-IN" sz="2400" b="1">
                          <a:solidFill>
                            <a:srgbClr val="000000"/>
                          </a:solidFill>
                          <a:effectLst/>
                          <a:latin typeface="Times New Roman"/>
                          <a:ea typeface="Times New Roman"/>
                          <a:cs typeface="Arial"/>
                        </a:rPr>
                        <a:t>Relational Algebra &amp; Relational Calculus:</a:t>
                      </a:r>
                      <a:endParaRPr lang="en-US" sz="2400">
                        <a:effectLst/>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IN" sz="2400" dirty="0">
                          <a:solidFill>
                            <a:srgbClr val="000000"/>
                          </a:solidFill>
                          <a:effectLst/>
                          <a:latin typeface="Times New Roman"/>
                          <a:ea typeface="Times New Roman"/>
                          <a:cs typeface="Arial"/>
                        </a:rPr>
                        <a:t>Introduction, Syntax, Semantics, Additional operators, Grouping and Ungrouping, Relational comparisons, Tuple Calculus, Domain Calculus, Calculus </a:t>
                      </a:r>
                      <a:r>
                        <a:rPr lang="en-IN" sz="2400" dirty="0" err="1">
                          <a:solidFill>
                            <a:srgbClr val="000000"/>
                          </a:solidFill>
                          <a:effectLst/>
                          <a:latin typeface="Times New Roman"/>
                          <a:ea typeface="Times New Roman"/>
                          <a:cs typeface="Arial"/>
                        </a:rPr>
                        <a:t>Vs</a:t>
                      </a:r>
                      <a:r>
                        <a:rPr lang="en-IN" sz="2400" dirty="0">
                          <a:solidFill>
                            <a:srgbClr val="000000"/>
                          </a:solidFill>
                          <a:effectLst/>
                          <a:latin typeface="Times New Roman"/>
                          <a:ea typeface="Times New Roman"/>
                          <a:cs typeface="Arial"/>
                        </a:rPr>
                        <a:t> Algebra, Computational capabilities</a:t>
                      </a:r>
                      <a:endParaRPr lang="en-US" sz="2400" dirty="0">
                        <a:effectLst/>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0927" y="141670"/>
            <a:ext cx="11164910" cy="940158"/>
          </a:xfrm>
        </p:spPr>
        <p:txBody>
          <a:bodyPr/>
          <a:lstStyle/>
          <a:p>
            <a:r>
              <a:rPr lang="en-IN" b="1" dirty="0" smtClean="0">
                <a:latin typeface="Times New Roman" pitchFamily="18" charset="0"/>
                <a:cs typeface="Times New Roman" pitchFamily="18" charset="0"/>
              </a:rPr>
              <a:t>Outline </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dirty="0" smtClean="0">
                <a:latin typeface="Times New Roman" pitchFamily="18" charset="0"/>
                <a:cs typeface="Times New Roman" pitchFamily="18" charset="0"/>
              </a:rPr>
              <a:t>Overview of Databases</a:t>
            </a:r>
          </a:p>
          <a:p>
            <a:r>
              <a:rPr lang="en-US" dirty="0" smtClean="0">
                <a:latin typeface="Times New Roman" pitchFamily="18" charset="0"/>
                <a:cs typeface="Times New Roman" pitchFamily="18" charset="0"/>
              </a:rPr>
              <a:t> Database concepts, DBMS, </a:t>
            </a:r>
          </a:p>
          <a:p>
            <a:r>
              <a:rPr lang="en-US" dirty="0" smtClean="0">
                <a:latin typeface="Times New Roman" pitchFamily="18" charset="0"/>
                <a:cs typeface="Times New Roman" pitchFamily="18" charset="0"/>
              </a:rPr>
              <a:t>Importance of DBMS</a:t>
            </a:r>
          </a:p>
          <a:p>
            <a:r>
              <a:rPr lang="en-US" dirty="0" smtClean="0">
                <a:latin typeface="Times New Roman" pitchFamily="18" charset="0"/>
                <a:cs typeface="Times New Roman" pitchFamily="18" charset="0"/>
              </a:rPr>
              <a:t>Advantages and Disadvantages of DBMS</a:t>
            </a:r>
          </a:p>
          <a:p>
            <a:r>
              <a:rPr lang="en-US" dirty="0" smtClean="0">
                <a:latin typeface="Times New Roman" pitchFamily="18" charset="0"/>
                <a:cs typeface="Times New Roman" pitchFamily="18" charset="0"/>
              </a:rPr>
              <a:t> DBA and Responsibilities of DBA</a:t>
            </a:r>
          </a:p>
          <a:p>
            <a:endParaRPr lang="en-IN"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Times New Roman" pitchFamily="18" charset="0"/>
                <a:cs typeface="Times New Roman" pitchFamily="18" charset="0"/>
              </a:rPr>
              <a:t>Common Terminologies</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b="1" dirty="0" smtClean="0">
                <a:solidFill>
                  <a:srgbClr val="FF0000"/>
                </a:solidFill>
                <a:latin typeface="Times New Roman" pitchFamily="18" charset="0"/>
                <a:cs typeface="Times New Roman" pitchFamily="18" charset="0"/>
              </a:rPr>
              <a:t>Data</a:t>
            </a:r>
            <a:r>
              <a:rPr lang="en-US" dirty="0" smtClean="0">
                <a:latin typeface="Times New Roman" pitchFamily="18" charset="0"/>
                <a:cs typeface="Times New Roman" pitchFamily="18" charset="0"/>
              </a:rPr>
              <a:t>: Facts, figures, statistics etc. having no particular meaning (e.g. 1, ABC, 19 etc). </a:t>
            </a:r>
          </a:p>
          <a:p>
            <a:endParaRPr lang="en-US" dirty="0" smtClean="0">
              <a:latin typeface="Times New Roman" pitchFamily="18" charset="0"/>
              <a:cs typeface="Times New Roman" pitchFamily="18" charset="0"/>
            </a:endParaRPr>
          </a:p>
          <a:p>
            <a:r>
              <a:rPr lang="en-US" b="1" dirty="0" smtClean="0">
                <a:solidFill>
                  <a:srgbClr val="FF0000"/>
                </a:solidFill>
                <a:latin typeface="Times New Roman" pitchFamily="18" charset="0"/>
                <a:cs typeface="Times New Roman" pitchFamily="18" charset="0"/>
              </a:rPr>
              <a:t>Record</a:t>
            </a:r>
            <a:r>
              <a:rPr lang="en-US" dirty="0" smtClean="0">
                <a:latin typeface="Times New Roman" pitchFamily="18" charset="0"/>
                <a:cs typeface="Times New Roman" pitchFamily="18" charset="0"/>
              </a:rPr>
              <a:t>: Collection of related data items, e.g. in the above example the three data items had no meaning. But if we organize them in the following way, then they collectively represent meaningful information. </a:t>
            </a:r>
          </a:p>
          <a:p>
            <a:endParaRPr lang="en-US" dirty="0" smtClean="0"/>
          </a:p>
          <a:p>
            <a:pPr algn="ctr">
              <a:buNone/>
            </a:pPr>
            <a:r>
              <a:rPr lang="en-IN" sz="1200" dirty="0" smtClean="0">
                <a:hlinkClick r:id="rId2"/>
              </a:rPr>
              <a:t>https://beginnersbook.com/2015/04/e-r-model-in-dbms/</a:t>
            </a:r>
            <a:endParaRPr lang="en-IN" sz="1200" dirty="0" smtClean="0"/>
          </a:p>
          <a:p>
            <a:pPr algn="ctr">
              <a:buNone/>
            </a:pPr>
            <a:endParaRPr lang="en-IN" dirty="0" smtClean="0"/>
          </a:p>
          <a:p>
            <a:pPr algn="ctr"/>
            <a:endParaRPr lang="en-IN" dirty="0" smtClean="0"/>
          </a:p>
        </p:txBody>
      </p:sp>
      <p:pic>
        <p:nvPicPr>
          <p:cNvPr id="5" name="Picture 7"/>
          <p:cNvPicPr>
            <a:picLocks noChangeAspect="1" noChangeArrowheads="1"/>
          </p:cNvPicPr>
          <p:nvPr/>
        </p:nvPicPr>
        <p:blipFill>
          <a:blip r:embed="rId3"/>
          <a:srcRect/>
          <a:stretch>
            <a:fillRect/>
          </a:stretch>
        </p:blipFill>
        <p:spPr bwMode="auto">
          <a:xfrm>
            <a:off x="3668519" y="4496986"/>
            <a:ext cx="4775200" cy="990600"/>
          </a:xfrm>
          <a:prstGeom prst="rect">
            <a:avLst/>
          </a:prstGeom>
          <a:noFill/>
          <a:ln w="9525">
            <a:noFill/>
            <a:miter lim="800000"/>
            <a:headEnd/>
            <a:tailEnd/>
          </a:ln>
          <a:effectLst/>
        </p:spPr>
      </p:pic>
      <p:sp>
        <p:nvSpPr>
          <p:cNvPr id="7" name="Slide Number Placeholder 6"/>
          <p:cNvSpPr>
            <a:spLocks noGrp="1"/>
          </p:cNvSpPr>
          <p:nvPr>
            <p:ph type="sldNum" sz="quarter" idx="12"/>
          </p:nvPr>
        </p:nvSpPr>
        <p:spPr/>
        <p:txBody>
          <a:bodyPr/>
          <a:lstStyle/>
          <a:p>
            <a:fld id="{BDCDBBEF-AA6C-4BA6-85B2-A17D7F280E38}"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Cont…</a:t>
            </a:r>
            <a:endParaRPr lang="en-IN" b="1" dirty="0"/>
          </a:p>
        </p:txBody>
      </p:sp>
      <p:sp>
        <p:nvSpPr>
          <p:cNvPr id="3" name="Content Placeholder 2"/>
          <p:cNvSpPr>
            <a:spLocks noGrp="1"/>
          </p:cNvSpPr>
          <p:nvPr>
            <p:ph idx="1"/>
          </p:nvPr>
        </p:nvSpPr>
        <p:spPr/>
        <p:txBody>
          <a:bodyPr>
            <a:normAutofit fontScale="47500" lnSpcReduction="20000"/>
          </a:bodyPr>
          <a:lstStyle/>
          <a:p>
            <a:r>
              <a:rPr lang="en-US" b="1" dirty="0" smtClean="0">
                <a:solidFill>
                  <a:srgbClr val="FF0000"/>
                </a:solidFill>
                <a:latin typeface="Times New Roman" pitchFamily="18" charset="0"/>
                <a:cs typeface="Times New Roman" pitchFamily="18" charset="0"/>
              </a:rPr>
              <a:t>Table or Relation</a:t>
            </a:r>
            <a:r>
              <a:rPr lang="en-US" dirty="0" smtClean="0">
                <a:latin typeface="Times New Roman" pitchFamily="18" charset="0"/>
                <a:cs typeface="Times New Roman" pitchFamily="18" charset="0"/>
              </a:rPr>
              <a:t>: Collection of related records</a:t>
            </a: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pPr algn="ctr">
              <a:buNone/>
            </a:pPr>
            <a:endParaRPr lang="en-US" dirty="0" smtClean="0">
              <a:latin typeface="Times New Roman" pitchFamily="18" charset="0"/>
              <a:cs typeface="Times New Roman" pitchFamily="18" charset="0"/>
              <a:hlinkClick r:id="rId2"/>
            </a:endParaRPr>
          </a:p>
          <a:p>
            <a:pPr algn="ctr">
              <a:buNone/>
            </a:pPr>
            <a:endParaRPr lang="en-US" dirty="0" smtClean="0">
              <a:latin typeface="Times New Roman" pitchFamily="18" charset="0"/>
              <a:cs typeface="Times New Roman" pitchFamily="18" charset="0"/>
              <a:hlinkClick r:id="rId2"/>
            </a:endParaRPr>
          </a:p>
          <a:p>
            <a:pPr algn="ctr">
              <a:buNone/>
            </a:pPr>
            <a:r>
              <a:rPr lang="en-IN" dirty="0" smtClean="0">
                <a:hlinkClick r:id="rId2"/>
              </a:rPr>
              <a:t>https://beginnersbook.com/2015/04/e-r-model-in-dbms/</a:t>
            </a:r>
            <a:endParaRPr lang="en-IN" dirty="0" smtClean="0"/>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The columns of this relation are called Fields, Attributes or Domains. The rows are called </a:t>
            </a:r>
            <a:r>
              <a:rPr lang="en-US" dirty="0" err="1" smtClean="0">
                <a:latin typeface="Times New Roman" pitchFamily="18" charset="0"/>
                <a:cs typeface="Times New Roman" pitchFamily="18" charset="0"/>
              </a:rPr>
              <a:t>Tuples</a:t>
            </a:r>
            <a:r>
              <a:rPr lang="en-US" dirty="0" smtClean="0">
                <a:latin typeface="Times New Roman" pitchFamily="18" charset="0"/>
                <a:cs typeface="Times New Roman" pitchFamily="18" charset="0"/>
              </a:rPr>
              <a:t> or Records. </a:t>
            </a:r>
          </a:p>
          <a:p>
            <a:endParaRPr lang="en-IN" dirty="0"/>
          </a:p>
        </p:txBody>
      </p:sp>
      <p:pic>
        <p:nvPicPr>
          <p:cNvPr id="5" name="Picture 8"/>
          <p:cNvPicPr>
            <a:picLocks noChangeAspect="1" noChangeArrowheads="1"/>
          </p:cNvPicPr>
          <p:nvPr/>
        </p:nvPicPr>
        <p:blipFill>
          <a:blip r:embed="rId3"/>
          <a:srcRect/>
          <a:stretch>
            <a:fillRect/>
          </a:stretch>
        </p:blipFill>
        <p:spPr bwMode="auto">
          <a:xfrm>
            <a:off x="2628379" y="2391666"/>
            <a:ext cx="6324600" cy="2429172"/>
          </a:xfrm>
          <a:prstGeom prst="rect">
            <a:avLst/>
          </a:prstGeom>
          <a:noFill/>
          <a:ln w="9525">
            <a:noFill/>
            <a:miter lim="800000"/>
            <a:headEnd/>
            <a:tailEnd/>
          </a:ln>
          <a:effectLst/>
        </p:spPr>
      </p:pic>
      <p:sp>
        <p:nvSpPr>
          <p:cNvPr id="7" name="Slide Number Placeholder 6"/>
          <p:cNvSpPr>
            <a:spLocks noGrp="1"/>
          </p:cNvSpPr>
          <p:nvPr>
            <p:ph type="sldNum" sz="quarter" idx="12"/>
          </p:nvPr>
        </p:nvSpPr>
        <p:spPr/>
        <p:txBody>
          <a:bodyPr/>
          <a:lstStyle/>
          <a:p>
            <a:fld id="{BDCDBBEF-AA6C-4BA6-85B2-A17D7F280E38}"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Cont…</a:t>
            </a:r>
            <a:endParaRPr lang="en-IN" b="1" dirty="0"/>
          </a:p>
        </p:txBody>
      </p:sp>
      <p:sp>
        <p:nvSpPr>
          <p:cNvPr id="3" name="Content Placeholder 2"/>
          <p:cNvSpPr>
            <a:spLocks noGrp="1"/>
          </p:cNvSpPr>
          <p:nvPr>
            <p:ph idx="1"/>
          </p:nvPr>
        </p:nvSpPr>
        <p:spPr/>
        <p:txBody>
          <a:bodyPr>
            <a:normAutofit/>
          </a:bodyPr>
          <a:lstStyle/>
          <a:p>
            <a:r>
              <a:rPr lang="en-US" b="1" dirty="0" smtClean="0">
                <a:solidFill>
                  <a:srgbClr val="FF0000"/>
                </a:solidFill>
                <a:latin typeface="Times New Roman" pitchFamily="18" charset="0"/>
                <a:cs typeface="Times New Roman" pitchFamily="18" charset="0"/>
              </a:rPr>
              <a:t>Database</a:t>
            </a:r>
            <a:r>
              <a:rPr lang="en-US"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Collection of related relations. Consider the following collection of tables:</a:t>
            </a:r>
          </a:p>
          <a:p>
            <a:endParaRPr lang="en-US" dirty="0" smtClean="0"/>
          </a:p>
          <a:p>
            <a:pPr>
              <a:buNone/>
            </a:pPr>
            <a:endParaRPr lang="en-IN" dirty="0" smtClean="0"/>
          </a:p>
          <a:p>
            <a:pPr>
              <a:buNone/>
            </a:pPr>
            <a:endParaRPr lang="en-IN" dirty="0" smtClean="0"/>
          </a:p>
          <a:p>
            <a:pPr>
              <a:buNone/>
            </a:pPr>
            <a:endParaRPr lang="en-IN" dirty="0" smtClean="0"/>
          </a:p>
          <a:p>
            <a:pPr>
              <a:buNone/>
            </a:pPr>
            <a:endParaRPr lang="en-IN" dirty="0" smtClean="0"/>
          </a:p>
          <a:p>
            <a:pPr algn="ctr">
              <a:buNone/>
            </a:pPr>
            <a:endParaRPr lang="en-IN" sz="1300" dirty="0" smtClean="0">
              <a:hlinkClick r:id="rId2"/>
            </a:endParaRPr>
          </a:p>
          <a:p>
            <a:pPr algn="ctr">
              <a:buNone/>
            </a:pPr>
            <a:r>
              <a:rPr lang="en-IN" sz="1300" dirty="0" smtClean="0">
                <a:hlinkClick r:id="rId2"/>
              </a:rPr>
              <a:t>https://beginnersbook.com/2015/04/e-r-model-in-dbms/</a:t>
            </a:r>
            <a:endParaRPr lang="en-IN" sz="1300" dirty="0" smtClean="0"/>
          </a:p>
          <a:p>
            <a:pPr>
              <a:buNone/>
            </a:pPr>
            <a:endParaRPr lang="en-IN" dirty="0"/>
          </a:p>
        </p:txBody>
      </p:sp>
      <p:pic>
        <p:nvPicPr>
          <p:cNvPr id="5" name="Picture 3"/>
          <p:cNvPicPr>
            <a:picLocks noChangeAspect="1" noChangeArrowheads="1"/>
          </p:cNvPicPr>
          <p:nvPr/>
        </p:nvPicPr>
        <p:blipFill>
          <a:blip r:embed="rId3"/>
          <a:srcRect/>
          <a:stretch>
            <a:fillRect/>
          </a:stretch>
        </p:blipFill>
        <p:spPr bwMode="auto">
          <a:xfrm>
            <a:off x="2078966" y="2648310"/>
            <a:ext cx="3148641" cy="1449238"/>
          </a:xfrm>
          <a:prstGeom prst="rect">
            <a:avLst/>
          </a:prstGeom>
          <a:noFill/>
          <a:ln w="9525">
            <a:noFill/>
            <a:miter lim="800000"/>
            <a:headEnd/>
            <a:tailEnd/>
          </a:ln>
          <a:effectLst/>
        </p:spPr>
      </p:pic>
      <p:pic>
        <p:nvPicPr>
          <p:cNvPr id="6" name="Picture 4"/>
          <p:cNvPicPr>
            <a:picLocks noChangeAspect="1" noChangeArrowheads="1"/>
          </p:cNvPicPr>
          <p:nvPr/>
        </p:nvPicPr>
        <p:blipFill>
          <a:blip r:embed="rId4"/>
          <a:srcRect/>
          <a:stretch>
            <a:fillRect/>
          </a:stretch>
        </p:blipFill>
        <p:spPr bwMode="auto">
          <a:xfrm>
            <a:off x="5762445" y="2662687"/>
            <a:ext cx="2225616" cy="1374475"/>
          </a:xfrm>
          <a:prstGeom prst="rect">
            <a:avLst/>
          </a:prstGeom>
          <a:noFill/>
          <a:ln w="9525">
            <a:noFill/>
            <a:miter lim="800000"/>
            <a:headEnd/>
            <a:tailEnd/>
          </a:ln>
          <a:effectLst/>
        </p:spPr>
      </p:pic>
      <p:pic>
        <p:nvPicPr>
          <p:cNvPr id="7" name="Picture 5"/>
          <p:cNvPicPr>
            <a:picLocks noChangeAspect="1" noChangeArrowheads="1"/>
          </p:cNvPicPr>
          <p:nvPr/>
        </p:nvPicPr>
        <p:blipFill>
          <a:blip r:embed="rId5"/>
          <a:srcRect/>
          <a:stretch>
            <a:fillRect/>
          </a:stretch>
        </p:blipFill>
        <p:spPr bwMode="auto">
          <a:xfrm>
            <a:off x="3079631" y="4408099"/>
            <a:ext cx="2044460" cy="1250830"/>
          </a:xfrm>
          <a:prstGeom prst="rect">
            <a:avLst/>
          </a:prstGeom>
          <a:noFill/>
          <a:ln w="9525">
            <a:noFill/>
            <a:miter lim="800000"/>
            <a:headEnd/>
            <a:tailEnd/>
          </a:ln>
          <a:effectLst/>
        </p:spPr>
      </p:pic>
      <p:pic>
        <p:nvPicPr>
          <p:cNvPr id="8" name="Picture 6"/>
          <p:cNvPicPr>
            <a:picLocks noChangeAspect="1" noChangeArrowheads="1"/>
          </p:cNvPicPr>
          <p:nvPr/>
        </p:nvPicPr>
        <p:blipFill>
          <a:blip r:embed="rId6"/>
          <a:srcRect/>
          <a:stretch>
            <a:fillRect/>
          </a:stretch>
        </p:blipFill>
        <p:spPr bwMode="auto">
          <a:xfrm>
            <a:off x="5645945" y="4192437"/>
            <a:ext cx="2195467" cy="1245756"/>
          </a:xfrm>
          <a:prstGeom prst="rect">
            <a:avLst/>
          </a:prstGeom>
          <a:noFill/>
          <a:ln w="9525">
            <a:noFill/>
            <a:miter lim="800000"/>
            <a:headEnd/>
            <a:tailEnd/>
          </a:ln>
          <a:effectLst/>
        </p:spPr>
      </p:pic>
      <p:sp>
        <p:nvSpPr>
          <p:cNvPr id="10" name="Slide Number Placeholder 9"/>
          <p:cNvSpPr>
            <a:spLocks noGrp="1"/>
          </p:cNvSpPr>
          <p:nvPr>
            <p:ph type="sldNum" sz="quarter" idx="12"/>
          </p:nvPr>
        </p:nvSpPr>
        <p:spPr/>
        <p:txBody>
          <a:bodyPr/>
          <a:lstStyle/>
          <a:p>
            <a:fld id="{BDCDBBEF-AA6C-4BA6-85B2-A17D7F280E38}"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Files and Databases</a:t>
            </a:r>
            <a:endParaRPr lang="en-IN" b="1" dirty="0"/>
          </a:p>
        </p:txBody>
      </p:sp>
      <p:sp>
        <p:nvSpPr>
          <p:cNvPr id="3" name="Content Placeholder 2"/>
          <p:cNvSpPr>
            <a:spLocks noGrp="1"/>
          </p:cNvSpPr>
          <p:nvPr>
            <p:ph idx="1"/>
          </p:nvPr>
        </p:nvSpPr>
        <p:spPr/>
        <p:txBody>
          <a:bodyPr/>
          <a:lstStyle/>
          <a:p>
            <a:r>
              <a:rPr lang="en-US" sz="2400" dirty="0" smtClean="0">
                <a:solidFill>
                  <a:srgbClr val="FF0000"/>
                </a:solidFill>
                <a:latin typeface="Times New Roman" pitchFamily="18" charset="0"/>
                <a:cs typeface="Times New Roman" pitchFamily="18" charset="0"/>
              </a:rPr>
              <a:t>File</a:t>
            </a:r>
            <a:r>
              <a:rPr lang="en-US" sz="2400" dirty="0" smtClean="0">
                <a:latin typeface="Times New Roman" pitchFamily="18" charset="0"/>
                <a:cs typeface="Times New Roman" pitchFamily="18" charset="0"/>
              </a:rPr>
              <a:t>: A collection of records or documents dealing with one organization, person, area or subject (Rowley)</a:t>
            </a:r>
          </a:p>
          <a:p>
            <a:pPr lvl="1"/>
            <a:r>
              <a:rPr lang="en-US" dirty="0" smtClean="0">
                <a:latin typeface="Times New Roman" pitchFamily="18" charset="0"/>
                <a:cs typeface="Times New Roman" pitchFamily="18" charset="0"/>
              </a:rPr>
              <a:t>Manual (paper) files</a:t>
            </a:r>
          </a:p>
          <a:p>
            <a:pPr lvl="1"/>
            <a:r>
              <a:rPr lang="en-US" dirty="0" smtClean="0">
                <a:latin typeface="Times New Roman" pitchFamily="18" charset="0"/>
                <a:cs typeface="Times New Roman" pitchFamily="18" charset="0"/>
              </a:rPr>
              <a:t>Computer files</a:t>
            </a:r>
          </a:p>
          <a:p>
            <a:r>
              <a:rPr lang="en-US" sz="2400" dirty="0" smtClean="0">
                <a:solidFill>
                  <a:srgbClr val="FF0000"/>
                </a:solidFill>
                <a:latin typeface="Times New Roman" pitchFamily="18" charset="0"/>
                <a:cs typeface="Times New Roman" pitchFamily="18" charset="0"/>
              </a:rPr>
              <a:t>Database</a:t>
            </a:r>
            <a:r>
              <a:rPr lang="en-US" sz="2400" dirty="0" smtClean="0">
                <a:latin typeface="Times New Roman" pitchFamily="18" charset="0"/>
                <a:cs typeface="Times New Roman" pitchFamily="18" charset="0"/>
              </a:rPr>
              <a:t>: A collection of similar records with relationships between the records (Rowley)</a:t>
            </a:r>
          </a:p>
          <a:p>
            <a:pPr lvl="1"/>
            <a:r>
              <a:rPr lang="en-US" dirty="0" smtClean="0">
                <a:latin typeface="Times New Roman" pitchFamily="18" charset="0"/>
                <a:cs typeface="Times New Roman" pitchFamily="18" charset="0"/>
              </a:rPr>
              <a:t>Bibliographic, statistical, business data, images, etc.</a:t>
            </a:r>
          </a:p>
          <a:p>
            <a:endParaRPr lang="en-US" dirty="0" smtClean="0"/>
          </a:p>
          <a:p>
            <a:endParaRPr lang="en-IN"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Times New Roman" pitchFamily="18" charset="0"/>
                <a:cs typeface="Times New Roman" pitchFamily="18" charset="0"/>
              </a:rPr>
              <a:t>Purpose of DBMS</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a:bodyPr>
          <a:lstStyle/>
          <a:p>
            <a:r>
              <a:rPr lang="en-US" sz="2600" dirty="0" smtClean="0">
                <a:latin typeface="Times New Roman" pitchFamily="18" charset="0"/>
                <a:cs typeface="Times New Roman" pitchFamily="18" charset="0"/>
              </a:rPr>
              <a:t>In the early days, database applications were built directly on top of file systems</a:t>
            </a:r>
          </a:p>
          <a:p>
            <a:r>
              <a:rPr lang="en-US" sz="2600" dirty="0" smtClean="0">
                <a:latin typeface="Times New Roman" pitchFamily="18" charset="0"/>
                <a:cs typeface="Times New Roman" pitchFamily="18" charset="0"/>
              </a:rPr>
              <a:t>Drawbacks of using file systems to store data:</a:t>
            </a:r>
          </a:p>
          <a:p>
            <a:pPr lvl="1"/>
            <a:r>
              <a:rPr lang="en-US" sz="2600" b="1" dirty="0" smtClean="0">
                <a:latin typeface="Times New Roman" pitchFamily="18" charset="0"/>
                <a:cs typeface="Times New Roman" pitchFamily="18" charset="0"/>
              </a:rPr>
              <a:t>Data redundancy and inconsistency</a:t>
            </a:r>
          </a:p>
          <a:p>
            <a:pPr lvl="2"/>
            <a:r>
              <a:rPr lang="en-US" sz="2600" dirty="0" smtClean="0">
                <a:latin typeface="Times New Roman" pitchFamily="18" charset="0"/>
                <a:cs typeface="Times New Roman" pitchFamily="18" charset="0"/>
              </a:rPr>
              <a:t>Multiple file formats, duplication of information in different files</a:t>
            </a:r>
          </a:p>
          <a:p>
            <a:pPr lvl="1"/>
            <a:r>
              <a:rPr lang="en-US" sz="2600" b="1" dirty="0" smtClean="0">
                <a:latin typeface="Times New Roman" pitchFamily="18" charset="0"/>
                <a:cs typeface="Times New Roman" pitchFamily="18" charset="0"/>
              </a:rPr>
              <a:t>Difficulty in accessing data </a:t>
            </a:r>
          </a:p>
          <a:p>
            <a:pPr lvl="2"/>
            <a:r>
              <a:rPr lang="en-US" sz="2600" dirty="0" smtClean="0">
                <a:latin typeface="Times New Roman" pitchFamily="18" charset="0"/>
                <a:cs typeface="Times New Roman" pitchFamily="18" charset="0"/>
              </a:rPr>
              <a:t>Need to write a new program to carry out each new task</a:t>
            </a:r>
          </a:p>
          <a:p>
            <a:pPr lvl="1"/>
            <a:r>
              <a:rPr lang="en-US" sz="2600" dirty="0" smtClean="0">
                <a:latin typeface="Times New Roman" pitchFamily="18" charset="0"/>
                <a:cs typeface="Times New Roman" pitchFamily="18" charset="0"/>
              </a:rPr>
              <a:t>Data isolation — multiple files and formats</a:t>
            </a:r>
          </a:p>
          <a:p>
            <a:pPr lvl="1"/>
            <a:r>
              <a:rPr lang="en-US" sz="2600" b="1" dirty="0" smtClean="0">
                <a:latin typeface="Times New Roman" pitchFamily="18" charset="0"/>
                <a:cs typeface="Times New Roman" pitchFamily="18" charset="0"/>
              </a:rPr>
              <a:t>Integrity problems</a:t>
            </a:r>
          </a:p>
          <a:p>
            <a:pPr lvl="2"/>
            <a:r>
              <a:rPr lang="en-US" sz="2600" dirty="0" smtClean="0">
                <a:latin typeface="Times New Roman" pitchFamily="18" charset="0"/>
                <a:cs typeface="Times New Roman" pitchFamily="18" charset="0"/>
              </a:rPr>
              <a:t>Integrity constraints  (e.g. account balance &gt; 0) become “buried” in program code rather than being stated explicitly</a:t>
            </a:r>
          </a:p>
          <a:p>
            <a:pPr lvl="2"/>
            <a:r>
              <a:rPr lang="en-US" sz="2600" dirty="0" smtClean="0">
                <a:latin typeface="Times New Roman" pitchFamily="18" charset="0"/>
                <a:cs typeface="Times New Roman" pitchFamily="18" charset="0"/>
              </a:rPr>
              <a:t>Hard to add new constraints or change existing ones</a:t>
            </a:r>
            <a:endParaRPr lang="en-US" dirty="0" smtClean="0"/>
          </a:p>
          <a:p>
            <a:endParaRPr lang="en-IN"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Cont…</a:t>
            </a:r>
            <a:endParaRPr lang="en-IN" b="1" dirty="0"/>
          </a:p>
        </p:txBody>
      </p:sp>
      <p:sp>
        <p:nvSpPr>
          <p:cNvPr id="3" name="Content Placeholder 2"/>
          <p:cNvSpPr>
            <a:spLocks noGrp="1"/>
          </p:cNvSpPr>
          <p:nvPr>
            <p:ph idx="1"/>
          </p:nvPr>
        </p:nvSpPr>
        <p:spPr/>
        <p:txBody>
          <a:bodyPr>
            <a:normAutofit fontScale="85000" lnSpcReduction="10000"/>
          </a:bodyPr>
          <a:lstStyle/>
          <a:p>
            <a:r>
              <a:rPr lang="en-US" sz="2600" b="1" dirty="0" smtClean="0">
                <a:latin typeface="Times New Roman" pitchFamily="18" charset="0"/>
                <a:cs typeface="Times New Roman" pitchFamily="18" charset="0"/>
              </a:rPr>
              <a:t>Drawbacks of using file systems (cont.) </a:t>
            </a:r>
          </a:p>
          <a:p>
            <a:pPr lvl="1"/>
            <a:r>
              <a:rPr lang="en-US" sz="2600" b="1" dirty="0" smtClean="0">
                <a:latin typeface="Times New Roman" pitchFamily="18" charset="0"/>
                <a:cs typeface="Times New Roman" pitchFamily="18" charset="0"/>
              </a:rPr>
              <a:t>Atomicity of updates</a:t>
            </a:r>
          </a:p>
          <a:p>
            <a:pPr lvl="2"/>
            <a:r>
              <a:rPr lang="en-US" sz="2600" dirty="0" smtClean="0">
                <a:latin typeface="Times New Roman" pitchFamily="18" charset="0"/>
                <a:cs typeface="Times New Roman" pitchFamily="18" charset="0"/>
              </a:rPr>
              <a:t>Failures may leave database in an inconsistent state with partial updates carried out</a:t>
            </a:r>
          </a:p>
          <a:p>
            <a:pPr lvl="2"/>
            <a:r>
              <a:rPr lang="en-US" sz="2600" dirty="0" smtClean="0">
                <a:latin typeface="Times New Roman" pitchFamily="18" charset="0"/>
                <a:cs typeface="Times New Roman" pitchFamily="18" charset="0"/>
              </a:rPr>
              <a:t>Example: Transfer of funds from one account to another should either complete or not happen at all</a:t>
            </a:r>
          </a:p>
          <a:p>
            <a:pPr lvl="1"/>
            <a:r>
              <a:rPr lang="en-US" sz="2600" b="1" dirty="0" smtClean="0">
                <a:latin typeface="Times New Roman" pitchFamily="18" charset="0"/>
                <a:cs typeface="Times New Roman" pitchFamily="18" charset="0"/>
              </a:rPr>
              <a:t>Concurrent access by multiple users</a:t>
            </a:r>
          </a:p>
          <a:p>
            <a:pPr lvl="2"/>
            <a:r>
              <a:rPr lang="en-US" sz="2600" dirty="0" smtClean="0">
                <a:latin typeface="Times New Roman" pitchFamily="18" charset="0"/>
                <a:cs typeface="Times New Roman" pitchFamily="18" charset="0"/>
              </a:rPr>
              <a:t>Concurrent accessed needed for performance</a:t>
            </a:r>
          </a:p>
          <a:p>
            <a:pPr lvl="2"/>
            <a:r>
              <a:rPr lang="en-US" sz="2600" dirty="0" smtClean="0">
                <a:latin typeface="Times New Roman" pitchFamily="18" charset="0"/>
                <a:cs typeface="Times New Roman" pitchFamily="18" charset="0"/>
              </a:rPr>
              <a:t>Uncontrolled concurrent accesses can lead to inconsistencies</a:t>
            </a:r>
          </a:p>
          <a:p>
            <a:pPr lvl="3"/>
            <a:r>
              <a:rPr lang="en-US" sz="2600" dirty="0" smtClean="0">
                <a:latin typeface="Times New Roman" pitchFamily="18" charset="0"/>
                <a:cs typeface="Times New Roman" pitchFamily="18" charset="0"/>
              </a:rPr>
              <a:t>Example: Two people reading a balance and updating it at the same time</a:t>
            </a:r>
          </a:p>
          <a:p>
            <a:pPr lvl="1"/>
            <a:r>
              <a:rPr lang="en-US" sz="2600" b="1" dirty="0" smtClean="0">
                <a:latin typeface="Times New Roman" pitchFamily="18" charset="0"/>
                <a:cs typeface="Times New Roman" pitchFamily="18" charset="0"/>
              </a:rPr>
              <a:t>Security problems</a:t>
            </a:r>
          </a:p>
          <a:p>
            <a:pPr lvl="2"/>
            <a:r>
              <a:rPr lang="en-US" sz="2600" dirty="0" smtClean="0">
                <a:latin typeface="Times New Roman" pitchFamily="18" charset="0"/>
                <a:cs typeface="Times New Roman" pitchFamily="18" charset="0"/>
              </a:rPr>
              <a:t>Hard to provide user access to some, but not all, data</a:t>
            </a:r>
          </a:p>
          <a:p>
            <a:r>
              <a:rPr lang="en-US" sz="2600" dirty="0" smtClean="0">
                <a:latin typeface="Times New Roman" pitchFamily="18" charset="0"/>
                <a:cs typeface="Times New Roman" pitchFamily="18" charset="0"/>
              </a:rPr>
              <a:t>Database systems offer solutions to all the above problems</a:t>
            </a:r>
          </a:p>
          <a:p>
            <a:endParaRPr lang="en-US" dirty="0" smtClean="0"/>
          </a:p>
          <a:p>
            <a:endParaRPr lang="en-IN"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Times New Roman" pitchFamily="18" charset="0"/>
                <a:cs typeface="Times New Roman" pitchFamily="18" charset="0"/>
              </a:rPr>
              <a:t>Importance of DBMS</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20000"/>
          </a:bodyPr>
          <a:lstStyle/>
          <a:p>
            <a:pPr lvl="0"/>
            <a:r>
              <a:rPr lang="en-US" dirty="0" smtClean="0">
                <a:latin typeface="Times New Roman" pitchFamily="18" charset="0"/>
                <a:cs typeface="Times New Roman" pitchFamily="18" charset="0"/>
              </a:rPr>
              <a:t>It helps make data management more efficient and effective.</a:t>
            </a:r>
          </a:p>
          <a:p>
            <a:pPr lvl="0"/>
            <a:r>
              <a:rPr lang="en-US" dirty="0" smtClean="0">
                <a:latin typeface="Times New Roman" pitchFamily="18" charset="0"/>
                <a:cs typeface="Times New Roman" pitchFamily="18" charset="0"/>
              </a:rPr>
              <a:t>Its query language allows quick answers to </a:t>
            </a:r>
            <a:r>
              <a:rPr lang="en-US" i="1" dirty="0" smtClean="0">
                <a:latin typeface="Times New Roman" pitchFamily="18" charset="0"/>
                <a:cs typeface="Times New Roman" pitchFamily="18" charset="0"/>
              </a:rPr>
              <a:t>ad hoc</a:t>
            </a:r>
            <a:r>
              <a:rPr lang="en-US" dirty="0" smtClean="0">
                <a:latin typeface="Times New Roman" pitchFamily="18" charset="0"/>
                <a:cs typeface="Times New Roman" pitchFamily="18" charset="0"/>
              </a:rPr>
              <a:t> queries.</a:t>
            </a:r>
          </a:p>
          <a:p>
            <a:pPr lvl="0"/>
            <a:r>
              <a:rPr lang="en-US" dirty="0" smtClean="0">
                <a:latin typeface="Times New Roman" pitchFamily="18" charset="0"/>
                <a:cs typeface="Times New Roman" pitchFamily="18" charset="0"/>
              </a:rPr>
              <a:t>It provides end users better access to more and better-managed data.</a:t>
            </a:r>
          </a:p>
          <a:p>
            <a:pPr lvl="0"/>
            <a:r>
              <a:rPr lang="en-US" dirty="0" smtClean="0">
                <a:latin typeface="Times New Roman" pitchFamily="18" charset="0"/>
                <a:cs typeface="Times New Roman" pitchFamily="18" charset="0"/>
              </a:rPr>
              <a:t>It promotes an integrated view of organization’s operations -- “big picture.”</a:t>
            </a:r>
          </a:p>
          <a:p>
            <a:pPr lvl="0"/>
            <a:r>
              <a:rPr lang="en-US" dirty="0" smtClean="0">
                <a:latin typeface="Times New Roman" pitchFamily="18" charset="0"/>
                <a:cs typeface="Times New Roman" pitchFamily="18" charset="0"/>
              </a:rPr>
              <a:t>It reduces the probability of inconsistent data. </a:t>
            </a:r>
          </a:p>
          <a:p>
            <a:pPr lvl="0"/>
            <a:r>
              <a:rPr lang="en-US" dirty="0" smtClean="0">
                <a:latin typeface="Times New Roman" pitchFamily="18" charset="0"/>
                <a:cs typeface="Times New Roman" pitchFamily="18" charset="0"/>
              </a:rPr>
              <a:t>Data Independence</a:t>
            </a:r>
          </a:p>
          <a:p>
            <a:pPr lvl="0"/>
            <a:r>
              <a:rPr lang="en-US" dirty="0" smtClean="0">
                <a:latin typeface="Times New Roman" pitchFamily="18" charset="0"/>
                <a:cs typeface="Times New Roman" pitchFamily="18" charset="0"/>
              </a:rPr>
              <a:t>Efficient data access</a:t>
            </a:r>
          </a:p>
          <a:p>
            <a:pPr lvl="0"/>
            <a:r>
              <a:rPr lang="en-US" dirty="0" smtClean="0">
                <a:latin typeface="Times New Roman" pitchFamily="18" charset="0"/>
                <a:cs typeface="Times New Roman" pitchFamily="18" charset="0"/>
              </a:rPr>
              <a:t>Data integrity and security</a:t>
            </a:r>
          </a:p>
          <a:p>
            <a:pPr lvl="0"/>
            <a:r>
              <a:rPr lang="en-US" dirty="0" smtClean="0">
                <a:latin typeface="Times New Roman" pitchFamily="18" charset="0"/>
                <a:cs typeface="Times New Roman" pitchFamily="18" charset="0"/>
              </a:rPr>
              <a:t>Data administration</a:t>
            </a:r>
          </a:p>
          <a:p>
            <a:pPr lvl="0"/>
            <a:r>
              <a:rPr lang="en-US" dirty="0" smtClean="0">
                <a:latin typeface="Times New Roman" pitchFamily="18" charset="0"/>
                <a:cs typeface="Times New Roman" pitchFamily="18" charset="0"/>
              </a:rPr>
              <a:t>Concurrent access and crash recovery</a:t>
            </a:r>
          </a:p>
          <a:p>
            <a:endParaRPr lang="en-IN"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Times New Roman" pitchFamily="18" charset="0"/>
                <a:cs typeface="Times New Roman" pitchFamily="18" charset="0"/>
              </a:rPr>
              <a:t>Examples of Database application</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lvl="1"/>
            <a:r>
              <a:rPr lang="en-US" b="1" dirty="0" smtClean="0">
                <a:latin typeface="Times New Roman" pitchFamily="18" charset="0"/>
                <a:cs typeface="Times New Roman" pitchFamily="18" charset="0"/>
              </a:rPr>
              <a:t>Banking: </a:t>
            </a:r>
            <a:r>
              <a:rPr lang="en-US" dirty="0" smtClean="0">
                <a:latin typeface="Times New Roman" pitchFamily="18" charset="0"/>
                <a:cs typeface="Times New Roman" pitchFamily="18" charset="0"/>
              </a:rPr>
              <a:t>all transactions</a:t>
            </a:r>
          </a:p>
          <a:p>
            <a:pPr lvl="1"/>
            <a:r>
              <a:rPr lang="en-US" b="1" dirty="0" smtClean="0">
                <a:latin typeface="Times New Roman" pitchFamily="18" charset="0"/>
                <a:cs typeface="Times New Roman" pitchFamily="18" charset="0"/>
              </a:rPr>
              <a:t>Airlines: </a:t>
            </a:r>
            <a:r>
              <a:rPr lang="en-US" dirty="0" smtClean="0">
                <a:latin typeface="Times New Roman" pitchFamily="18" charset="0"/>
                <a:cs typeface="Times New Roman" pitchFamily="18" charset="0"/>
              </a:rPr>
              <a:t>reservations, schedules</a:t>
            </a:r>
          </a:p>
          <a:p>
            <a:pPr lvl="1"/>
            <a:r>
              <a:rPr lang="en-US" b="1" dirty="0" smtClean="0">
                <a:latin typeface="Times New Roman" pitchFamily="18" charset="0"/>
                <a:cs typeface="Times New Roman" pitchFamily="18" charset="0"/>
              </a:rPr>
              <a:t>Universities:</a:t>
            </a:r>
            <a:r>
              <a:rPr lang="en-US" dirty="0" smtClean="0">
                <a:latin typeface="Times New Roman" pitchFamily="18" charset="0"/>
                <a:cs typeface="Times New Roman" pitchFamily="18" charset="0"/>
              </a:rPr>
              <a:t>  registration, grades</a:t>
            </a:r>
          </a:p>
          <a:p>
            <a:pPr lvl="1"/>
            <a:r>
              <a:rPr lang="en-US" b="1" dirty="0" smtClean="0">
                <a:latin typeface="Times New Roman" pitchFamily="18" charset="0"/>
                <a:cs typeface="Times New Roman" pitchFamily="18" charset="0"/>
              </a:rPr>
              <a:t>Sales: </a:t>
            </a:r>
            <a:r>
              <a:rPr lang="en-US" dirty="0" smtClean="0">
                <a:latin typeface="Times New Roman" pitchFamily="18" charset="0"/>
                <a:cs typeface="Times New Roman" pitchFamily="18" charset="0"/>
              </a:rPr>
              <a:t>customers, products, purchases</a:t>
            </a:r>
          </a:p>
          <a:p>
            <a:pPr lvl="1"/>
            <a:r>
              <a:rPr lang="en-US" b="1" dirty="0" smtClean="0">
                <a:latin typeface="Times New Roman" pitchFamily="18" charset="0"/>
                <a:cs typeface="Times New Roman" pitchFamily="18" charset="0"/>
              </a:rPr>
              <a:t>Online retailers: </a:t>
            </a:r>
            <a:r>
              <a:rPr lang="en-US" dirty="0" smtClean="0">
                <a:latin typeface="Times New Roman" pitchFamily="18" charset="0"/>
                <a:cs typeface="Times New Roman" pitchFamily="18" charset="0"/>
              </a:rPr>
              <a:t>order tracking, customized recommendations</a:t>
            </a:r>
          </a:p>
          <a:p>
            <a:pPr lvl="1"/>
            <a:r>
              <a:rPr lang="en-US" b="1" dirty="0" smtClean="0">
                <a:latin typeface="Times New Roman" pitchFamily="18" charset="0"/>
                <a:cs typeface="Times New Roman" pitchFamily="18" charset="0"/>
              </a:rPr>
              <a:t>Manufacturing:</a:t>
            </a:r>
            <a:r>
              <a:rPr lang="en-US" dirty="0" smtClean="0">
                <a:latin typeface="Times New Roman" pitchFamily="18" charset="0"/>
                <a:cs typeface="Times New Roman" pitchFamily="18" charset="0"/>
              </a:rPr>
              <a:t> production, inventory, orders, supply chain</a:t>
            </a:r>
          </a:p>
          <a:p>
            <a:pPr lvl="1"/>
            <a:r>
              <a:rPr lang="en-US" b="1" dirty="0" smtClean="0">
                <a:latin typeface="Times New Roman" pitchFamily="18" charset="0"/>
                <a:cs typeface="Times New Roman" pitchFamily="18" charset="0"/>
              </a:rPr>
              <a:t>Human resources:  </a:t>
            </a:r>
            <a:r>
              <a:rPr lang="en-US" dirty="0" smtClean="0">
                <a:latin typeface="Times New Roman" pitchFamily="18" charset="0"/>
                <a:cs typeface="Times New Roman" pitchFamily="18" charset="0"/>
              </a:rPr>
              <a:t>employee records, salaries, tax deductions</a:t>
            </a:r>
          </a:p>
          <a:p>
            <a:endParaRPr lang="en-US" dirty="0" smtClean="0"/>
          </a:p>
          <a:p>
            <a:endParaRPr lang="en-IN"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Times New Roman" pitchFamily="18" charset="0"/>
                <a:cs typeface="Times New Roman" pitchFamily="18" charset="0"/>
              </a:rPr>
              <a:t>Database users</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a:lnSpc>
                <a:spcPct val="80000"/>
              </a:lnSpc>
            </a:pPr>
            <a:r>
              <a:rPr lang="en-US" sz="2400" b="1" dirty="0" smtClean="0">
                <a:solidFill>
                  <a:srgbClr val="FF0000"/>
                </a:solidFill>
                <a:latin typeface="Times New Roman" pitchFamily="18" charset="0"/>
                <a:cs typeface="Times New Roman" pitchFamily="18" charset="0"/>
              </a:rPr>
              <a:t>Data Base Administrator (DBA</a:t>
            </a:r>
            <a:r>
              <a:rPr lang="en-US" sz="2400" dirty="0" smtClean="0">
                <a:solidFill>
                  <a:srgbClr val="FF0000"/>
                </a:solidFill>
                <a:latin typeface="Times New Roman" pitchFamily="18" charset="0"/>
                <a:cs typeface="Times New Roman" pitchFamily="18" charset="0"/>
              </a:rPr>
              <a:t>):- </a:t>
            </a:r>
          </a:p>
          <a:p>
            <a:pPr lvl="1"/>
            <a:r>
              <a:rPr lang="en-US" dirty="0" smtClean="0">
                <a:latin typeface="Times New Roman" pitchFamily="18" charset="0"/>
                <a:cs typeface="Times New Roman" pitchFamily="18" charset="0"/>
              </a:rPr>
              <a:t>Authorizing access to the database</a:t>
            </a:r>
          </a:p>
          <a:p>
            <a:pPr lvl="1"/>
            <a:r>
              <a:rPr lang="en-US" dirty="0" smtClean="0">
                <a:latin typeface="Times New Roman" pitchFamily="18" charset="0"/>
                <a:cs typeface="Times New Roman" pitchFamily="18" charset="0"/>
              </a:rPr>
              <a:t>Coordinating and monitoring its use</a:t>
            </a:r>
          </a:p>
          <a:p>
            <a:pPr lvl="1"/>
            <a:r>
              <a:rPr lang="en-US" dirty="0" smtClean="0">
                <a:latin typeface="Times New Roman" pitchFamily="18" charset="0"/>
                <a:cs typeface="Times New Roman" pitchFamily="18" charset="0"/>
              </a:rPr>
              <a:t>Acquiring software and hardware resources</a:t>
            </a:r>
          </a:p>
          <a:p>
            <a:r>
              <a:rPr lang="en-US" sz="2400" b="1" dirty="0" smtClean="0">
                <a:solidFill>
                  <a:srgbClr val="FF0000"/>
                </a:solidFill>
                <a:latin typeface="Times New Roman" pitchFamily="18" charset="0"/>
                <a:cs typeface="Times New Roman" pitchFamily="18" charset="0"/>
              </a:rPr>
              <a:t>Database designers </a:t>
            </a:r>
            <a:r>
              <a:rPr lang="en-US" sz="2400" dirty="0" smtClean="0">
                <a:latin typeface="Times New Roman" pitchFamily="18" charset="0"/>
                <a:cs typeface="Times New Roman" pitchFamily="18" charset="0"/>
              </a:rPr>
              <a:t>are responsible for: </a:t>
            </a:r>
          </a:p>
          <a:p>
            <a:pPr lvl="1"/>
            <a:r>
              <a:rPr lang="en-US" dirty="0" smtClean="0">
                <a:latin typeface="Times New Roman" pitchFamily="18" charset="0"/>
                <a:cs typeface="Times New Roman" pitchFamily="18" charset="0"/>
              </a:rPr>
              <a:t>Identifying the data to be stored </a:t>
            </a:r>
          </a:p>
          <a:p>
            <a:pPr lvl="1"/>
            <a:r>
              <a:rPr lang="en-US" dirty="0" smtClean="0">
                <a:latin typeface="Times New Roman" pitchFamily="18" charset="0"/>
                <a:cs typeface="Times New Roman" pitchFamily="18" charset="0"/>
              </a:rPr>
              <a:t>Choosing appropriate structures to represent and store this data</a:t>
            </a:r>
          </a:p>
          <a:p>
            <a:r>
              <a:rPr lang="en-US" sz="2400" b="1" dirty="0" smtClean="0">
                <a:solidFill>
                  <a:srgbClr val="FF0000"/>
                </a:solidFill>
                <a:latin typeface="Times New Roman" pitchFamily="18" charset="0"/>
                <a:cs typeface="Times New Roman" pitchFamily="18" charset="0"/>
              </a:rPr>
              <a:t>System analysts</a:t>
            </a:r>
          </a:p>
          <a:p>
            <a:pPr lvl="1"/>
            <a:r>
              <a:rPr lang="en-US" dirty="0" smtClean="0">
                <a:latin typeface="Times New Roman" pitchFamily="18" charset="0"/>
                <a:cs typeface="Times New Roman" pitchFamily="18" charset="0"/>
              </a:rPr>
              <a:t>Determine requirements of end users</a:t>
            </a:r>
          </a:p>
          <a:p>
            <a:r>
              <a:rPr lang="en-US" sz="2400" b="1" dirty="0" smtClean="0">
                <a:solidFill>
                  <a:srgbClr val="FF0000"/>
                </a:solidFill>
                <a:latin typeface="Times New Roman" pitchFamily="18" charset="0"/>
                <a:cs typeface="Times New Roman" pitchFamily="18" charset="0"/>
              </a:rPr>
              <a:t>Application programmers </a:t>
            </a:r>
          </a:p>
          <a:p>
            <a:pPr lvl="1"/>
            <a:r>
              <a:rPr lang="en-US" dirty="0" smtClean="0">
                <a:latin typeface="Times New Roman" pitchFamily="18" charset="0"/>
                <a:cs typeface="Times New Roman" pitchFamily="18" charset="0"/>
              </a:rPr>
              <a:t>Implement these specifications as programs</a:t>
            </a:r>
          </a:p>
          <a:p>
            <a:endParaRPr lang="en-US" dirty="0" smtClean="0"/>
          </a:p>
          <a:p>
            <a:endParaRPr lang="en-IN"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Cont…</a:t>
            </a:r>
            <a:endParaRPr lang="en-IN" b="1" dirty="0"/>
          </a:p>
        </p:txBody>
      </p:sp>
      <p:sp>
        <p:nvSpPr>
          <p:cNvPr id="3" name="Content Placeholder 2"/>
          <p:cNvSpPr>
            <a:spLocks noGrp="1"/>
          </p:cNvSpPr>
          <p:nvPr>
            <p:ph idx="1"/>
          </p:nvPr>
        </p:nvSpPr>
        <p:spPr/>
        <p:txBody>
          <a:bodyPr/>
          <a:lstStyle/>
          <a:p>
            <a:r>
              <a:rPr lang="en-US" sz="2400" b="1" dirty="0" smtClean="0">
                <a:solidFill>
                  <a:srgbClr val="FF0000"/>
                </a:solidFill>
                <a:latin typeface="Times New Roman" pitchFamily="18" charset="0"/>
                <a:cs typeface="Times New Roman" pitchFamily="18" charset="0"/>
              </a:rPr>
              <a:t>End users </a:t>
            </a:r>
            <a:r>
              <a:rPr lang="en-US" sz="2400" b="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People whose jobs require access to the database</a:t>
            </a:r>
          </a:p>
          <a:p>
            <a:pPr lvl="1"/>
            <a:r>
              <a:rPr lang="en-US" b="1" dirty="0" smtClean="0">
                <a:latin typeface="Times New Roman" pitchFamily="18" charset="0"/>
                <a:cs typeface="Times New Roman" pitchFamily="18" charset="0"/>
              </a:rPr>
              <a:t>Types</a:t>
            </a:r>
          </a:p>
          <a:p>
            <a:pPr lvl="2"/>
            <a:r>
              <a:rPr lang="en-US" b="1" dirty="0" smtClean="0">
                <a:solidFill>
                  <a:srgbClr val="FF0000"/>
                </a:solidFill>
                <a:latin typeface="Times New Roman" pitchFamily="18" charset="0"/>
                <a:cs typeface="Times New Roman" pitchFamily="18" charset="0"/>
              </a:rPr>
              <a:t>Casual end users</a:t>
            </a:r>
            <a:r>
              <a:rPr lang="en-US" b="1"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access database occasionally by sophisticated query language when needed.</a:t>
            </a:r>
          </a:p>
          <a:p>
            <a:pPr lvl="2">
              <a:buNone/>
            </a:pPr>
            <a:r>
              <a:rPr lang="en-US" dirty="0" smtClean="0">
                <a:latin typeface="Times New Roman" pitchFamily="18" charset="0"/>
                <a:cs typeface="Times New Roman" pitchFamily="18" charset="0"/>
              </a:rPr>
              <a:t>  (Manager)</a:t>
            </a:r>
            <a:endParaRPr lang="en-US" b="1" dirty="0" smtClean="0">
              <a:latin typeface="Times New Roman" pitchFamily="18" charset="0"/>
              <a:cs typeface="Times New Roman" pitchFamily="18" charset="0"/>
            </a:endParaRPr>
          </a:p>
          <a:p>
            <a:pPr lvl="2"/>
            <a:r>
              <a:rPr lang="en-US" b="1" dirty="0" smtClean="0">
                <a:solidFill>
                  <a:srgbClr val="FF0000"/>
                </a:solidFill>
                <a:latin typeface="Times New Roman" pitchFamily="18" charset="0"/>
                <a:cs typeface="Times New Roman" pitchFamily="18" charset="0"/>
              </a:rPr>
              <a:t>Naive or parametric end users</a:t>
            </a:r>
            <a:r>
              <a:rPr lang="en-US"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they make up a large section of the end-user population.  Learn only a few facilities that they may use repeatedly</a:t>
            </a:r>
          </a:p>
          <a:p>
            <a:pPr lvl="2">
              <a:buNone/>
            </a:pPr>
            <a:r>
              <a:rPr lang="en-US" dirty="0" smtClean="0">
                <a:latin typeface="Times New Roman" pitchFamily="18" charset="0"/>
                <a:cs typeface="Times New Roman" pitchFamily="18" charset="0"/>
              </a:rPr>
              <a:t>  (bank clerk)</a:t>
            </a:r>
          </a:p>
          <a:p>
            <a:pPr lvl="2">
              <a:buFont typeface="Arial" charset="0"/>
              <a:buChar char="•"/>
            </a:pPr>
            <a:r>
              <a:rPr lang="en-US" b="1" dirty="0" smtClean="0">
                <a:solidFill>
                  <a:srgbClr val="FF0000"/>
                </a:solidFill>
                <a:latin typeface="Times New Roman" pitchFamily="18" charset="0"/>
                <a:cs typeface="Times New Roman" pitchFamily="18" charset="0"/>
              </a:rPr>
              <a:t>Sophisticated end users</a:t>
            </a:r>
            <a:r>
              <a:rPr lang="en-US"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These include business analysts, scientists, engineers, others thoroughly familiar with the system capabilities.</a:t>
            </a:r>
            <a:endParaRPr lang="en-US" b="1" dirty="0" smtClean="0">
              <a:latin typeface="Times New Roman" pitchFamily="18" charset="0"/>
              <a:cs typeface="Times New Roman" pitchFamily="18" charset="0"/>
            </a:endParaRPr>
          </a:p>
          <a:p>
            <a:pPr lvl="2">
              <a:buFont typeface="Arial" charset="0"/>
              <a:buChar char="•"/>
            </a:pPr>
            <a:r>
              <a:rPr lang="en-US" b="1" dirty="0" smtClean="0">
                <a:solidFill>
                  <a:srgbClr val="FF0000"/>
                </a:solidFill>
                <a:latin typeface="Times New Roman" pitchFamily="18" charset="0"/>
                <a:cs typeface="Times New Roman" pitchFamily="18" charset="0"/>
              </a:rPr>
              <a:t>Standalone users</a:t>
            </a:r>
            <a:r>
              <a:rPr lang="en-US"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Normal users</a:t>
            </a:r>
            <a:endParaRPr lang="en-US" b="1" dirty="0" smtClean="0">
              <a:latin typeface="Times New Roman" pitchFamily="18" charset="0"/>
              <a:cs typeface="Times New Roman" pitchFamily="18" charset="0"/>
            </a:endParaRPr>
          </a:p>
          <a:p>
            <a:endParaRPr lang="en-US" dirty="0" smtClean="0"/>
          </a:p>
          <a:p>
            <a:endParaRPr lang="en-IN"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Times New Roman" pitchFamily="18" charset="0"/>
                <a:cs typeface="Times New Roman" pitchFamily="18" charset="0"/>
              </a:rPr>
              <a:t>Database Administrator</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dirty="0" smtClean="0">
                <a:latin typeface="Times New Roman" pitchFamily="18" charset="0"/>
                <a:cs typeface="Times New Roman" pitchFamily="18" charset="0"/>
              </a:rPr>
              <a:t>Coordinates all the activities of the database system</a:t>
            </a:r>
          </a:p>
          <a:p>
            <a:pPr lvl="1"/>
            <a:r>
              <a:rPr lang="en-US" dirty="0" smtClean="0">
                <a:latin typeface="Times New Roman" pitchFamily="18" charset="0"/>
                <a:cs typeface="Times New Roman" pitchFamily="18" charset="0"/>
              </a:rPr>
              <a:t>has a good understanding of the enterprise’s information resources and needs.</a:t>
            </a:r>
          </a:p>
          <a:p>
            <a:r>
              <a:rPr lang="en-US" dirty="0" smtClean="0">
                <a:latin typeface="Times New Roman" pitchFamily="18" charset="0"/>
                <a:cs typeface="Times New Roman" pitchFamily="18" charset="0"/>
              </a:rPr>
              <a:t>Database administrator's duties include:</a:t>
            </a:r>
          </a:p>
          <a:p>
            <a:pPr lvl="1"/>
            <a:r>
              <a:rPr lang="en-US" dirty="0" smtClean="0">
                <a:latin typeface="Times New Roman" pitchFamily="18" charset="0"/>
                <a:cs typeface="Times New Roman" pitchFamily="18" charset="0"/>
              </a:rPr>
              <a:t>Schema definition</a:t>
            </a:r>
          </a:p>
          <a:p>
            <a:pPr lvl="1"/>
            <a:r>
              <a:rPr lang="en-US" dirty="0" smtClean="0">
                <a:latin typeface="Times New Roman" pitchFamily="18" charset="0"/>
                <a:cs typeface="Times New Roman" pitchFamily="18" charset="0"/>
              </a:rPr>
              <a:t>Storage structure and access method definition</a:t>
            </a:r>
          </a:p>
          <a:p>
            <a:pPr lvl="1"/>
            <a:r>
              <a:rPr lang="en-US" dirty="0" smtClean="0">
                <a:latin typeface="Times New Roman" pitchFamily="18" charset="0"/>
                <a:cs typeface="Times New Roman" pitchFamily="18" charset="0"/>
              </a:rPr>
              <a:t>Schema and physical organization modification</a:t>
            </a:r>
          </a:p>
          <a:p>
            <a:pPr lvl="1"/>
            <a:r>
              <a:rPr lang="en-US" dirty="0" smtClean="0">
                <a:latin typeface="Times New Roman" pitchFamily="18" charset="0"/>
                <a:cs typeface="Times New Roman" pitchFamily="18" charset="0"/>
              </a:rPr>
              <a:t>Granting users authority to access the database</a:t>
            </a:r>
          </a:p>
          <a:p>
            <a:pPr lvl="1"/>
            <a:r>
              <a:rPr lang="en-US" dirty="0" smtClean="0">
                <a:latin typeface="Times New Roman" pitchFamily="18" charset="0"/>
                <a:cs typeface="Times New Roman" pitchFamily="18" charset="0"/>
              </a:rPr>
              <a:t>Backing up data</a:t>
            </a:r>
          </a:p>
          <a:p>
            <a:pPr lvl="1"/>
            <a:r>
              <a:rPr lang="en-US" dirty="0" smtClean="0">
                <a:latin typeface="Times New Roman" pitchFamily="18" charset="0"/>
                <a:cs typeface="Times New Roman" pitchFamily="18" charset="0"/>
              </a:rPr>
              <a:t>Monitoring performance and responding to changes</a:t>
            </a:r>
          </a:p>
          <a:p>
            <a:pPr lvl="1"/>
            <a:r>
              <a:rPr lang="en-US" dirty="0" smtClean="0">
                <a:latin typeface="Times New Roman" pitchFamily="18" charset="0"/>
                <a:cs typeface="Times New Roman" pitchFamily="18" charset="0"/>
              </a:rPr>
              <a:t>Database tuning</a:t>
            </a:r>
          </a:p>
          <a:p>
            <a:endParaRPr lang="en-US" dirty="0" smtClean="0"/>
          </a:p>
          <a:p>
            <a:endParaRPr lang="en-IN"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Times New Roman" pitchFamily="18" charset="0"/>
                <a:cs typeface="Times New Roman" pitchFamily="18" charset="0"/>
              </a:rPr>
              <a:t>Database Management System(DBMS)</a:t>
            </a:r>
            <a:endParaRPr lang="en-IN" b="1" dirty="0">
              <a:latin typeface="Times New Roman" pitchFamily="18" charset="0"/>
              <a:cs typeface="Times New Roman" pitchFamily="18" charset="0"/>
            </a:endParaRPr>
          </a:p>
        </p:txBody>
      </p:sp>
      <p:pic>
        <p:nvPicPr>
          <p:cNvPr id="5" name="Content Placeholder 6" descr="C01NF07"/>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42679" y="1574276"/>
            <a:ext cx="8796543" cy="4162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Slide Number Placeholder 6"/>
          <p:cNvSpPr>
            <a:spLocks noGrp="1"/>
          </p:cNvSpPr>
          <p:nvPr>
            <p:ph type="sldNum" sz="quarter" idx="12"/>
          </p:nvPr>
        </p:nvSpPr>
        <p:spPr/>
        <p:txBody>
          <a:bodyPr/>
          <a:lstStyle/>
          <a:p>
            <a:fld id="{BDCDBBEF-AA6C-4BA6-85B2-A17D7F280E38}" type="slidenum">
              <a:rPr lang="en-US" smtClean="0"/>
              <a:pPr/>
              <a:t>17</a:t>
            </a:fld>
            <a:endParaRPr lang="en-US"/>
          </a:p>
        </p:txBody>
      </p:sp>
      <p:sp>
        <p:nvSpPr>
          <p:cNvPr id="8" name="TextBox 7"/>
          <p:cNvSpPr txBox="1"/>
          <p:nvPr/>
        </p:nvSpPr>
        <p:spPr>
          <a:xfrm>
            <a:off x="2976113" y="5822831"/>
            <a:ext cx="3856008" cy="553998"/>
          </a:xfrm>
          <a:prstGeom prst="rect">
            <a:avLst/>
          </a:prstGeom>
          <a:noFill/>
        </p:spPr>
        <p:txBody>
          <a:bodyPr wrap="square" rtlCol="0">
            <a:spAutoFit/>
          </a:bodyPr>
          <a:lstStyle/>
          <a:p>
            <a:r>
              <a:rPr lang="en-IN" sz="1200" dirty="0" smtClean="0">
                <a:hlinkClick r:id="rId3"/>
              </a:rPr>
              <a:t>https://beginnersbook.com/2015/04/e-r-model-in-dbms/</a:t>
            </a:r>
            <a:endParaRPr lang="en-IN" sz="1200" dirty="0" smtClean="0"/>
          </a:p>
          <a:p>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Summary</a:t>
            </a:r>
            <a:endParaRPr lang="en-IN" b="1" dirty="0"/>
          </a:p>
        </p:txBody>
      </p:sp>
      <p:sp>
        <p:nvSpPr>
          <p:cNvPr id="3" name="Content Placeholder 2"/>
          <p:cNvSpPr>
            <a:spLocks noGrp="1"/>
          </p:cNvSpPr>
          <p:nvPr>
            <p:ph idx="1"/>
          </p:nvPr>
        </p:nvSpPr>
        <p:spPr/>
        <p:txBody>
          <a:bodyPr/>
          <a:lstStyle/>
          <a:p>
            <a:pPr algn="just">
              <a:buNone/>
            </a:pPr>
            <a:r>
              <a:rPr lang="en-IN" dirty="0" smtClean="0">
                <a:latin typeface="Times New Roman" pitchFamily="18" charset="0"/>
                <a:cs typeface="Times New Roman" pitchFamily="18" charset="0"/>
              </a:rPr>
              <a:t> </a:t>
            </a:r>
          </a:p>
          <a:p>
            <a:pPr algn="just">
              <a:buNone/>
            </a:pPr>
            <a:r>
              <a:rPr lang="en-US" dirty="0" smtClean="0">
                <a:latin typeface="Times New Roman" pitchFamily="18" charset="0"/>
                <a:cs typeface="Times New Roman" pitchFamily="18" charset="0"/>
              </a:rPr>
              <a:t>In the early days, database applications were built directly on top of file systems but due to many drawbacks of the file systems there is a need </a:t>
            </a:r>
            <a:r>
              <a:rPr lang="en-IN" dirty="0" smtClean="0">
                <a:latin typeface="Times New Roman" pitchFamily="18" charset="0"/>
                <a:cs typeface="Times New Roman" pitchFamily="18" charset="0"/>
              </a:rPr>
              <a:t>for the paradigm shift from file systems to the Database Management Systems. </a:t>
            </a:r>
            <a:endParaRPr lang="en-IN" dirty="0"/>
          </a:p>
        </p:txBody>
      </p:sp>
      <p:sp>
        <p:nvSpPr>
          <p:cNvPr id="5" name="Slide Number Placeholder 4"/>
          <p:cNvSpPr>
            <a:spLocks noGrp="1"/>
          </p:cNvSpPr>
          <p:nvPr>
            <p:ph type="sldNum" sz="quarter" idx="12"/>
          </p:nvPr>
        </p:nvSpPr>
        <p:spPr/>
        <p:txBody>
          <a:bodyPr/>
          <a:lstStyle/>
          <a:p>
            <a:fld id="{BDCDBBEF-AA6C-4BA6-85B2-A17D7F280E38}"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Content Placeholder 1"/>
          <p:cNvSpPr>
            <a:spLocks noGrp="1"/>
          </p:cNvSpPr>
          <p:nvPr>
            <p:ph sz="half" idx="1"/>
          </p:nvPr>
        </p:nvSpPr>
        <p:spPr bwMode="auto">
          <a:xfrm>
            <a:off x="1016000" y="1846052"/>
            <a:ext cx="10972800" cy="440234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buFont typeface="Arial" charset="0"/>
              <a:buChar char="•"/>
              <a:defRPr/>
            </a:pPr>
            <a:r>
              <a:rPr lang="en-US" sz="1600" dirty="0" smtClean="0">
                <a:cs typeface="Cordia New" pitchFamily="34" charset="-34"/>
              </a:rPr>
              <a:t>Why the paradigm shift from file system to database system is important?</a:t>
            </a:r>
          </a:p>
          <a:p>
            <a:pPr>
              <a:buFont typeface="Arial" charset="0"/>
              <a:buChar char="•"/>
              <a:defRPr/>
            </a:pPr>
            <a:r>
              <a:rPr lang="en-US" sz="1600" dirty="0" smtClean="0">
                <a:cs typeface="Cordia New" pitchFamily="34" charset="-34"/>
              </a:rPr>
              <a:t>What  is the importance of Database Management System?</a:t>
            </a:r>
          </a:p>
          <a:p>
            <a:pPr>
              <a:buFont typeface="Arial" charset="0"/>
              <a:buChar char="•"/>
              <a:defRPr/>
            </a:pPr>
            <a:r>
              <a:rPr lang="en-US" sz="1600" dirty="0" smtClean="0">
                <a:cs typeface="Cordia New" pitchFamily="34" charset="-34"/>
              </a:rPr>
              <a:t>List some of the applications of DBMS.</a:t>
            </a:r>
          </a:p>
          <a:p>
            <a:pPr>
              <a:buFont typeface="Arial" charset="0"/>
              <a:buChar char="•"/>
              <a:defRPr/>
            </a:pPr>
            <a:r>
              <a:rPr lang="en-US" sz="1600" dirty="0" smtClean="0">
                <a:cs typeface="Cordia New" pitchFamily="34" charset="-34"/>
              </a:rPr>
              <a:t>What is DBA?</a:t>
            </a:r>
          </a:p>
          <a:p>
            <a:pPr>
              <a:buFont typeface="Arial" charset="0"/>
              <a:buChar char="•"/>
              <a:defRPr/>
            </a:pPr>
            <a:r>
              <a:rPr lang="en-US" sz="1600" dirty="0" smtClean="0">
                <a:cs typeface="Cordia New" pitchFamily="34" charset="-34"/>
              </a:rPr>
              <a:t>What are the role and responsibilities of DBA.</a:t>
            </a:r>
          </a:p>
          <a:p>
            <a:pPr>
              <a:buFont typeface="Arial" charset="0"/>
              <a:buChar char="•"/>
              <a:defRPr/>
            </a:pPr>
            <a:endParaRPr lang="en-US" dirty="0">
              <a:cs typeface="Cordia New" pitchFamily="34" charset="-34"/>
            </a:endParaRPr>
          </a:p>
          <a:p>
            <a:pPr>
              <a:buFont typeface="Arial" charset="0"/>
              <a:buChar char="•"/>
              <a:defRPr/>
            </a:pPr>
            <a:endParaRPr lang="en-US" dirty="0" smtClean="0">
              <a:cs typeface="Cordia New" pitchFamily="34" charset="-34"/>
            </a:endParaRPr>
          </a:p>
          <a:p>
            <a:pPr>
              <a:buFont typeface="Arial" charset="0"/>
              <a:buChar char="•"/>
              <a:defRPr/>
            </a:pPr>
            <a:endParaRPr lang="en-US" dirty="0" smtClean="0">
              <a:cs typeface="Cordia New" pitchFamily="34" charset="-34"/>
            </a:endParaRPr>
          </a:p>
          <a:p>
            <a:pPr>
              <a:buFont typeface="Arial" charset="0"/>
              <a:buChar char="•"/>
              <a:defRPr/>
            </a:pPr>
            <a:endParaRPr lang="en-US" dirty="0" smtClean="0">
              <a:cs typeface="Cordia New" pitchFamily="34" charset="-34"/>
            </a:endParaRPr>
          </a:p>
          <a:p>
            <a:pPr>
              <a:buFont typeface="Arial" charset="0"/>
              <a:buChar char="•"/>
              <a:defRPr/>
            </a:pPr>
            <a:endParaRPr lang="en-US" dirty="0" smtClean="0">
              <a:cs typeface="Cordia New" pitchFamily="34" charset="-34"/>
            </a:endParaRPr>
          </a:p>
          <a:p>
            <a:pPr>
              <a:buFont typeface="Arial" charset="0"/>
              <a:buChar char="•"/>
              <a:defRPr/>
            </a:pPr>
            <a:endParaRPr lang="en-US" dirty="0" smtClean="0">
              <a:cs typeface="Cordia New" pitchFamily="34" charset="-34"/>
            </a:endParaRPr>
          </a:p>
        </p:txBody>
      </p:sp>
      <p:sp>
        <p:nvSpPr>
          <p:cNvPr id="87043" name="Text Placeholder 2"/>
          <p:cNvSpPr>
            <a:spLocks noGrp="1"/>
          </p:cNvSpPr>
          <p:nvPr>
            <p:ph type="body" sz="quarter" idx="10"/>
          </p:nvPr>
        </p:nvSpPr>
        <p:spPr bwMode="auto">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rmAutofit/>
          </a:bodyPr>
          <a:lstStyle/>
          <a:p>
            <a:pPr algn="l"/>
            <a:r>
              <a:rPr lang="en-US" altLang="en-US" dirty="0" smtClean="0">
                <a:cs typeface="Cordia New" pitchFamily="34" charset="-34"/>
              </a:rPr>
              <a:t>FAQs</a:t>
            </a:r>
          </a:p>
        </p:txBody>
      </p:sp>
    </p:spTree>
    <p:extLst>
      <p:ext uri="{BB962C8B-B14F-4D97-AF65-F5344CB8AC3E}">
        <p14:creationId xmlns:p14="http://schemas.microsoft.com/office/powerpoint/2010/main" val="3226849272"/>
      </p:ext>
    </p:extLst>
  </p:cSld>
  <p:clrMapOvr>
    <a:masterClrMapping/>
  </p:clrMapOvr>
  <p:transition>
    <p:fade thruBlk="1"/>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741250" y="306946"/>
            <a:ext cx="10566400" cy="609600"/>
          </a:xfrm>
        </p:spPr>
        <p:txBody>
          <a:bodyPr>
            <a:noAutofit/>
          </a:bodyPr>
          <a:lstStyle/>
          <a:p>
            <a:r>
              <a:rPr lang="en-US" sz="3200" b="1" dirty="0" smtClean="0">
                <a:effectLst>
                  <a:outerShdw blurRad="38100" dist="38100" dir="2700000" algn="tl">
                    <a:srgbClr val="000000">
                      <a:alpha val="43137"/>
                    </a:srgbClr>
                  </a:outerShdw>
                </a:effectLst>
                <a:latin typeface="Times New Roman" pitchFamily="18" charset="0"/>
                <a:cs typeface="Times New Roman" pitchFamily="18" charset="0"/>
              </a:rPr>
              <a:t>References</a:t>
            </a:r>
            <a:endParaRPr lang="en-US" sz="3200" b="1"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5" name="Content Placeholder 2"/>
          <p:cNvSpPr>
            <a:spLocks noGrp="1"/>
          </p:cNvSpPr>
          <p:nvPr>
            <p:ph idx="1"/>
          </p:nvPr>
        </p:nvSpPr>
        <p:spPr>
          <a:xfrm>
            <a:off x="695460" y="1120462"/>
            <a:ext cx="11088710" cy="5486400"/>
          </a:xfrm>
        </p:spPr>
        <p:txBody>
          <a:bodyPr>
            <a:normAutofit/>
          </a:bodyPr>
          <a:lstStyle/>
          <a:p>
            <a:pPr lvl="0" algn="just"/>
            <a:r>
              <a:rPr lang="en-US" sz="2400" dirty="0" err="1" smtClean="0"/>
              <a:t>RamezElmasri</a:t>
            </a:r>
            <a:r>
              <a:rPr lang="en-US" sz="2400" dirty="0" smtClean="0"/>
              <a:t> and </a:t>
            </a:r>
            <a:r>
              <a:rPr lang="en-US" sz="2400" dirty="0" err="1" smtClean="0"/>
              <a:t>Shamkant</a:t>
            </a:r>
            <a:r>
              <a:rPr lang="en-US" sz="2400" dirty="0" smtClean="0"/>
              <a:t> B. </a:t>
            </a:r>
            <a:r>
              <a:rPr lang="en-US" sz="2400" dirty="0" err="1" smtClean="0"/>
              <a:t>Navathe</a:t>
            </a:r>
            <a:r>
              <a:rPr lang="en-US" sz="2400" dirty="0" smtClean="0"/>
              <a:t>, “Fundamentals of Database System”, The Benjamin / Cummings Publishing Co.</a:t>
            </a:r>
          </a:p>
          <a:p>
            <a:pPr lvl="0" algn="just"/>
            <a:r>
              <a:rPr lang="en-US" sz="2400" dirty="0" err="1" smtClean="0"/>
              <a:t>Korth</a:t>
            </a:r>
            <a:r>
              <a:rPr lang="en-US" sz="2400" dirty="0" smtClean="0"/>
              <a:t> and </a:t>
            </a:r>
            <a:r>
              <a:rPr lang="en-US" sz="2400" dirty="0" err="1" smtClean="0"/>
              <a:t>Silberschatz</a:t>
            </a:r>
            <a:r>
              <a:rPr lang="en-US" sz="2400" dirty="0" smtClean="0"/>
              <a:t> Abraham, “Database System Concepts”, McGraw Hall.</a:t>
            </a:r>
          </a:p>
          <a:p>
            <a:pPr lvl="0" algn="just"/>
            <a:r>
              <a:rPr lang="en-US" sz="2400" dirty="0" err="1" smtClean="0"/>
              <a:t>C.J.Date</a:t>
            </a:r>
            <a:r>
              <a:rPr lang="en-US" sz="2400" dirty="0" smtClean="0"/>
              <a:t>, “An Introduction to Database Systems”, Addison Wesley.</a:t>
            </a:r>
          </a:p>
          <a:p>
            <a:pPr lvl="0" algn="just"/>
            <a:r>
              <a:rPr lang="en-US" sz="2400" dirty="0" smtClean="0"/>
              <a:t>Thomas M. Connolly, Carolyn &amp; E. </a:t>
            </a:r>
            <a:r>
              <a:rPr lang="en-US" sz="2400" dirty="0" err="1" smtClean="0"/>
              <a:t>Begg</a:t>
            </a:r>
            <a:r>
              <a:rPr lang="en-US" sz="2400" dirty="0" smtClean="0"/>
              <a:t>, “Database Systems: A Practical Approach to Design, Implementation and Management”, 5/E, University of Paisley, Addison-Wesley.</a:t>
            </a:r>
          </a:p>
          <a:p>
            <a:pPr algn="just"/>
            <a:endParaRPr lang="en-US" sz="2400" dirty="0"/>
          </a:p>
        </p:txBody>
      </p:sp>
      <p:sp>
        <p:nvSpPr>
          <p:cNvPr id="8" name="Slide Number Placeholder 7"/>
          <p:cNvSpPr>
            <a:spLocks noGrp="1"/>
          </p:cNvSpPr>
          <p:nvPr>
            <p:ph type="sldNum" sz="quarter" idx="12"/>
          </p:nvPr>
        </p:nvSpPr>
        <p:spPr/>
        <p:txBody>
          <a:bodyPr/>
          <a:lstStyle/>
          <a:p>
            <a:fld id="{BDCDBBEF-AA6C-4BA6-85B2-A17D7F280E38}" type="slidenum">
              <a:rPr lang="en-US" smtClean="0"/>
              <a:pPr/>
              <a:t>20</a:t>
            </a:fld>
            <a:endParaRPr lang="en-US"/>
          </a:p>
        </p:txBody>
      </p:sp>
    </p:spTree>
    <p:extLst>
      <p:ext uri="{BB962C8B-B14F-4D97-AF65-F5344CB8AC3E}">
        <p14:creationId xmlns:p14="http://schemas.microsoft.com/office/powerpoint/2010/main" val="35424640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Times New Roman" panose="02020603050405020304" pitchFamily="18" charset="0"/>
                <a:ea typeface="Segoe UI" panose="020B0502040204020203" pitchFamily="34" charset="0"/>
                <a:cs typeface="Times New Roman" panose="02020603050405020304" pitchFamily="18" charset="0"/>
              </a:rPr>
              <a:t>THANK YOU</a:t>
            </a:r>
          </a:p>
        </p:txBody>
      </p:sp>
      <p:sp>
        <p:nvSpPr>
          <p:cNvPr id="22" name="Diamond 6">
            <a:extLst>
              <a:ext uri="{FF2B5EF4-FFF2-40B4-BE49-F238E27FC236}">
                <a16:creationId xmlns=""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 xmlns:a16="http://schemas.microsoft.com/office/drawing/2014/main" id="{CAD0D7B8-E462-453C-B296-CA0154FA54AE}"/>
                </a:ext>
              </a:extLst>
            </p:cNvPr>
            <p:cNvGraphicFramePr>
              <a:graphicFrameLocks noChangeAspect="1"/>
            </p:cNvGraphicFramePr>
            <p:nvPr>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39960" name="CorelDRAW" r:id="rId3" imgW="2169000" imgH="2169360" progId="">
                    <p:embed/>
                  </p:oleObj>
                </mc:Choice>
                <mc:Fallback>
                  <p:oleObj name="CorelDRAW" r:id="rId3" imgW="2169000" imgH="2169360" progId="">
                    <p:embed/>
                    <p:pic>
                      <p:nvPicPr>
                        <p:cNvPr id="0" name="Picture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Rectangle 1"/>
          <p:cNvSpPr/>
          <p:nvPr/>
        </p:nvSpPr>
        <p:spPr>
          <a:xfrm>
            <a:off x="4114005" y="5394447"/>
            <a:ext cx="3132589" cy="646331"/>
          </a:xfrm>
          <a:prstGeom prst="rect">
            <a:avLst/>
          </a:prstGeom>
        </p:spPr>
        <p:txBody>
          <a:bodyPr wrap="none">
            <a:spAutoFit/>
          </a:bodyPr>
          <a:lstStyle/>
          <a:p>
            <a:r>
              <a:rPr lang="en-US" dirty="0">
                <a:latin typeface="Casper" panose="02000506000000020004" pitchFamily="2" charset="0"/>
                <a:ea typeface="Segoe UI" panose="020B0502040204020203" pitchFamily="34" charset="0"/>
                <a:cs typeface="Segoe UI" panose="020B0502040204020203" pitchFamily="34" charset="0"/>
              </a:rPr>
              <a:t>For queries</a:t>
            </a:r>
          </a:p>
          <a:p>
            <a:r>
              <a:rPr lang="en-US" dirty="0">
                <a:latin typeface="Casper" panose="02000506000000020004" pitchFamily="2" charset="0"/>
                <a:cs typeface="Segoe UI" panose="020B0502040204020203" pitchFamily="34" charset="0"/>
              </a:rPr>
              <a:t>Email: </a:t>
            </a:r>
            <a:r>
              <a:rPr lang="en-US" dirty="0" smtClean="0">
                <a:latin typeface="Casper" panose="02000506000000020004" pitchFamily="2" charset="0"/>
                <a:cs typeface="Segoe UI" panose="020B0502040204020203" pitchFamily="34" charset="0"/>
                <a:hlinkClick r:id="rId5"/>
              </a:rPr>
              <a:t>shaveta.e13464@cumail.in</a:t>
            </a:r>
            <a:r>
              <a:rPr lang="en-US" dirty="0" smtClean="0">
                <a:latin typeface="Casper" panose="02000506000000020004" pitchFamily="2" charset="0"/>
                <a:cs typeface="Segoe UI" panose="020B0502040204020203" pitchFamily="34" charset="0"/>
              </a:rPr>
              <a:t> </a:t>
            </a:r>
            <a:endParaRPr lang="en-US" dirty="0"/>
          </a:p>
        </p:txBody>
      </p:sp>
      <p:sp>
        <p:nvSpPr>
          <p:cNvPr id="16" name="Slide Number Placeholder 15"/>
          <p:cNvSpPr>
            <a:spLocks noGrp="1"/>
          </p:cNvSpPr>
          <p:nvPr>
            <p:ph type="sldNum" sz="quarter" idx="12"/>
          </p:nvPr>
        </p:nvSpPr>
        <p:spPr/>
        <p:txBody>
          <a:bodyPr/>
          <a:lstStyle/>
          <a:p>
            <a:fld id="{FC9A48AB-23F1-45F1-98E5-D2CDC7A5261D}" type="slidenum">
              <a:rPr lang="en-US" smtClean="0">
                <a:solidFill>
                  <a:prstClr val="black">
                    <a:tint val="75000"/>
                  </a:prstClr>
                </a:solidFill>
              </a:rPr>
              <a:pPr/>
              <a:t>21</a:t>
            </a:fld>
            <a:endParaRPr lang="en-US">
              <a:solidFill>
                <a:prstClr val="black">
                  <a:tint val="75000"/>
                </a:prstClr>
              </a:solidFill>
            </a:endParaRPr>
          </a:p>
        </p:txBody>
      </p:sp>
    </p:spTree>
    <p:extLst>
      <p:ext uri="{BB962C8B-B14F-4D97-AF65-F5344CB8AC3E}">
        <p14:creationId xmlns:p14="http://schemas.microsoft.com/office/powerpoint/2010/main" val="2278354245"/>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983</TotalTime>
  <Words>1148</Words>
  <Application>Microsoft Office PowerPoint</Application>
  <PresentationFormat>Widescreen</PresentationFormat>
  <Paragraphs>190</Paragraphs>
  <Slides>21</Slides>
  <Notes>1</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21</vt:i4>
      </vt:variant>
    </vt:vector>
  </HeadingPairs>
  <TitlesOfParts>
    <vt:vector size="34" baseType="lpstr">
      <vt:lpstr>Arial Unicode MS</vt:lpstr>
      <vt:lpstr>Arial</vt:lpstr>
      <vt:lpstr>Calibri</vt:lpstr>
      <vt:lpstr>Calibri Light</vt:lpstr>
      <vt:lpstr>Cambria</vt:lpstr>
      <vt:lpstr>Casper</vt:lpstr>
      <vt:lpstr>Cordia New</vt:lpstr>
      <vt:lpstr>Karla</vt:lpstr>
      <vt:lpstr>Segoe UI</vt:lpstr>
      <vt:lpstr>Times New Roman</vt:lpstr>
      <vt:lpstr>1_Office Theme</vt:lpstr>
      <vt:lpstr>Contents Slide Master</vt:lpstr>
      <vt:lpstr>CorelDRAW</vt:lpstr>
      <vt:lpstr>PowerPoint Presentation</vt:lpstr>
      <vt:lpstr>DBMS: Course Objectives</vt:lpstr>
      <vt:lpstr>COURSE OUTCOMES</vt:lpstr>
      <vt:lpstr>Unit-1 Syllabus</vt:lpstr>
      <vt:lpstr>Outline </vt:lpstr>
      <vt:lpstr>Common Terminologies</vt:lpstr>
      <vt:lpstr>Cont…</vt:lpstr>
      <vt:lpstr>Cont…</vt:lpstr>
      <vt:lpstr>Files and Databases</vt:lpstr>
      <vt:lpstr>Purpose of DBMS</vt:lpstr>
      <vt:lpstr>Cont…</vt:lpstr>
      <vt:lpstr>Importance of DBMS</vt:lpstr>
      <vt:lpstr>Examples of Database application</vt:lpstr>
      <vt:lpstr>Database users</vt:lpstr>
      <vt:lpstr>Cont…</vt:lpstr>
      <vt:lpstr>Database Administrator</vt:lpstr>
      <vt:lpstr>Database Management System(DBMS)</vt:lpstr>
      <vt:lpstr>Summary</vt:lpstr>
      <vt:lpstr>PowerPoint Presentation</vt:lpstr>
      <vt:lpstr>References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shavetapc</cp:lastModifiedBy>
  <cp:revision>118</cp:revision>
  <dcterms:created xsi:type="dcterms:W3CDTF">2019-01-09T10:33:58Z</dcterms:created>
  <dcterms:modified xsi:type="dcterms:W3CDTF">2023-06-15T04:48:25Z</dcterms:modified>
</cp:coreProperties>
</file>