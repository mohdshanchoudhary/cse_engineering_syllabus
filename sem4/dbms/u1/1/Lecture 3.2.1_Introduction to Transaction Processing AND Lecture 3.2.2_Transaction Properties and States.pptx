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78" r:id="rId2"/>
    <p:sldId id="286" r:id="rId3"/>
    <p:sldId id="287"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1" r:id="rId23"/>
    <p:sldId id="282" r:id="rId24"/>
    <p:sldId id="284" r:id="rId25"/>
    <p:sldId id="277" r:id="rId26"/>
    <p:sldId id="288" r:id="rId27"/>
    <p:sldId id="280" r:id="rId2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68327" autoAdjust="0"/>
  </p:normalViewPr>
  <p:slideViewPr>
    <p:cSldViewPr>
      <p:cViewPr varScale="1">
        <p:scale>
          <a:sx n="98" d="100"/>
          <a:sy n="98" d="100"/>
        </p:scale>
        <p:origin x="576" y="8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B1FD9B-EDA4-47B1-8CFF-BD65ABB2720A}" type="datetimeFigureOut">
              <a:rPr lang="en-IN" smtClean="0"/>
              <a:pPr/>
              <a:t>28-06-2023</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754D99-AF6D-4A39-81D6-E26BE50F3D53}" type="slidenum">
              <a:rPr lang="en-IN" smtClean="0"/>
              <a:pPr/>
              <a:t>‹#›</a:t>
            </a:fld>
            <a:endParaRPr lang="en-IN"/>
          </a:p>
        </p:txBody>
      </p:sp>
    </p:spTree>
    <p:extLst>
      <p:ext uri="{BB962C8B-B14F-4D97-AF65-F5344CB8AC3E}">
        <p14:creationId xmlns:p14="http://schemas.microsoft.com/office/powerpoint/2010/main" val="827744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eeksforgeeks.org/sql-transaction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en.wikipedia.org/wiki/Hard_disk_drive" TargetMode="External"/><Relationship Id="rId3" Type="http://schemas.openxmlformats.org/officeDocument/2006/relationships/hyperlink" Target="https://en.wikipedia.org/wiki/Virtual_memory" TargetMode="External"/><Relationship Id="rId7" Type="http://schemas.openxmlformats.org/officeDocument/2006/relationships/hyperlink" Target="https://en.wikipedia.org/wiki/Page_(computer_memory)"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en.wikipedia.org/wiki/Physical_memory" TargetMode="External"/><Relationship Id="rId5" Type="http://schemas.openxmlformats.org/officeDocument/2006/relationships/hyperlink" Target="https://en.wikipedia.org/wiki/Operating_system" TargetMode="External"/><Relationship Id="rId4" Type="http://schemas.openxmlformats.org/officeDocument/2006/relationships/hyperlink" Target="https://en.wikipedia.org/wiki/Page_table" TargetMode="External"/><Relationship Id="rId9" Type="http://schemas.openxmlformats.org/officeDocument/2006/relationships/hyperlink" Target="https://en.wikipedia.org/wiki/Paging"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ln/>
        </p:spPr>
      </p:sp>
      <p:sp>
        <p:nvSpPr>
          <p:cNvPr id="179203" name="Notes Placeholder 2"/>
          <p:cNvSpPr>
            <a:spLocks noGrp="1"/>
          </p:cNvSpPr>
          <p:nvPr>
            <p:ph type="body" idx="1"/>
          </p:nvPr>
        </p:nvSpPr>
        <p:spPr>
          <a:noFill/>
        </p:spPr>
        <p:txBody>
          <a:bodyPr/>
          <a:lstStyle/>
          <a:p>
            <a:endParaRPr lang="en-IN" altLang="en-US" dirty="0" smtClean="0"/>
          </a:p>
        </p:txBody>
      </p:sp>
      <p:sp>
        <p:nvSpPr>
          <p:cNvPr id="179204" name="Slide Number Placeholder 3"/>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0F1BD6A1-B9F7-4FDF-9535-FB9238559347}" type="slidenum">
              <a:rPr lang="en-US" altLang="en-US" sz="1200" smtClean="0"/>
              <a:pPr/>
              <a:t>1</a:t>
            </a:fld>
            <a:endParaRPr lang="en-US" altLang="en-US" sz="1200" dirty="0" smtClean="0"/>
          </a:p>
        </p:txBody>
      </p:sp>
    </p:spTree>
    <p:extLst>
      <p:ext uri="{BB962C8B-B14F-4D97-AF65-F5344CB8AC3E}">
        <p14:creationId xmlns:p14="http://schemas.microsoft.com/office/powerpoint/2010/main" val="2379132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6693AF3-706E-486D-9AE3-EA96C6AEBF93}" type="slidenum">
              <a:rPr lang="en-US" smtClean="0"/>
              <a:pPr/>
              <a:t>4</a:t>
            </a:fld>
            <a:endParaRPr lang="en-US"/>
          </a:p>
        </p:txBody>
      </p:sp>
    </p:spTree>
    <p:extLst>
      <p:ext uri="{BB962C8B-B14F-4D97-AF65-F5344CB8AC3E}">
        <p14:creationId xmlns:p14="http://schemas.microsoft.com/office/powerpoint/2010/main" val="3429696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u="none" strike="noStrike" kern="1200" dirty="0" smtClean="0">
                <a:solidFill>
                  <a:schemeClr val="tx1"/>
                </a:solidFill>
                <a:effectLst/>
                <a:latin typeface="+mn-lt"/>
                <a:ea typeface="+mn-ea"/>
                <a:cs typeface="+mn-cs"/>
                <a:hlinkClick r:id="rId3"/>
              </a:rPr>
              <a:t>transaction</a:t>
            </a:r>
            <a:r>
              <a:rPr lang="en-US" sz="1200" b="0" i="0" kern="1200" dirty="0" smtClean="0">
                <a:solidFill>
                  <a:schemeClr val="tx1"/>
                </a:solidFill>
                <a:effectLst/>
                <a:latin typeface="+mn-lt"/>
                <a:ea typeface="+mn-ea"/>
                <a:cs typeface="+mn-cs"/>
              </a:rPr>
              <a:t> is a single logical unit of work which accesses and possibly modifies the contents of a database. Transactions access data using read and write operations.</a:t>
            </a:r>
            <a:r>
              <a:rPr lang="en-US" dirty="0" smtClean="0"/>
              <a:t/>
            </a:r>
            <a:br>
              <a:rPr lang="en-US" dirty="0" smtClean="0"/>
            </a:br>
            <a:r>
              <a:rPr lang="en-US" sz="1200" b="0" i="0" kern="1200" dirty="0" smtClean="0">
                <a:solidFill>
                  <a:schemeClr val="tx1"/>
                </a:solidFill>
                <a:effectLst/>
                <a:latin typeface="+mn-lt"/>
                <a:ea typeface="+mn-ea"/>
                <a:cs typeface="+mn-cs"/>
              </a:rPr>
              <a:t>In order to maintain consistency in a database, before and after the transaction, certain properties are followed. These are called </a:t>
            </a:r>
            <a:r>
              <a:rPr lang="en-US" sz="1200" b="1" i="0" kern="1200" dirty="0" smtClean="0">
                <a:solidFill>
                  <a:schemeClr val="tx1"/>
                </a:solidFill>
                <a:effectLst/>
                <a:latin typeface="+mn-lt"/>
                <a:ea typeface="+mn-ea"/>
                <a:cs typeface="+mn-cs"/>
              </a:rPr>
              <a:t>ACID</a:t>
            </a:r>
            <a:r>
              <a:rPr lang="en-US" sz="1200" b="0" i="0" kern="1200" dirty="0" smtClean="0">
                <a:solidFill>
                  <a:schemeClr val="tx1"/>
                </a:solidFill>
                <a:effectLst/>
                <a:latin typeface="+mn-lt"/>
                <a:ea typeface="+mn-ea"/>
                <a:cs typeface="+mn-cs"/>
              </a:rPr>
              <a:t> properties.</a:t>
            </a:r>
            <a:endParaRPr lang="en-IN"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5</a:t>
            </a:fld>
            <a:endParaRPr lang="en-IN"/>
          </a:p>
        </p:txBody>
      </p:sp>
    </p:spTree>
    <p:extLst>
      <p:ext uri="{BB962C8B-B14F-4D97-AF65-F5344CB8AC3E}">
        <p14:creationId xmlns:p14="http://schemas.microsoft.com/office/powerpoint/2010/main" val="359319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transaction is a very small unit of a program and it may contain several </a:t>
            </a:r>
            <a:r>
              <a:rPr lang="en-US" sz="1200" b="0" i="0" kern="1200" dirty="0" err="1" smtClean="0">
                <a:solidFill>
                  <a:schemeClr val="tx1"/>
                </a:solidFill>
                <a:effectLst/>
                <a:latin typeface="+mn-lt"/>
                <a:ea typeface="+mn-ea"/>
                <a:cs typeface="+mn-cs"/>
              </a:rPr>
              <a:t>lowlevel</a:t>
            </a:r>
            <a:r>
              <a:rPr lang="en-US" sz="1200" b="0" i="0" kern="1200" dirty="0" smtClean="0">
                <a:solidFill>
                  <a:schemeClr val="tx1"/>
                </a:solidFill>
                <a:effectLst/>
                <a:latin typeface="+mn-lt"/>
                <a:ea typeface="+mn-ea"/>
                <a:cs typeface="+mn-cs"/>
              </a:rPr>
              <a:t> tasks. A transaction in a database system must maintain </a:t>
            </a:r>
            <a:r>
              <a:rPr lang="en-US" sz="1200" b="1" i="0" kern="1200" dirty="0" smtClean="0">
                <a:solidFill>
                  <a:schemeClr val="tx1"/>
                </a:solidFill>
                <a:effectLst/>
                <a:latin typeface="+mn-lt"/>
                <a:ea typeface="+mn-ea"/>
                <a:cs typeface="+mn-cs"/>
              </a:rPr>
              <a:t>A</a:t>
            </a:r>
            <a:r>
              <a:rPr lang="en-US" sz="1200" b="0" i="0" kern="1200" dirty="0" smtClean="0">
                <a:solidFill>
                  <a:schemeClr val="tx1"/>
                </a:solidFill>
                <a:effectLst/>
                <a:latin typeface="+mn-lt"/>
                <a:ea typeface="+mn-ea"/>
                <a:cs typeface="+mn-cs"/>
              </a:rPr>
              <a:t>tomicity, </a:t>
            </a:r>
            <a:r>
              <a:rPr lang="en-US" sz="1200" b="1" i="0" kern="1200" dirty="0" smtClean="0">
                <a:solidFill>
                  <a:schemeClr val="tx1"/>
                </a:solidFill>
                <a:effectLst/>
                <a:latin typeface="+mn-lt"/>
                <a:ea typeface="+mn-ea"/>
                <a:cs typeface="+mn-cs"/>
              </a:rPr>
              <a:t>C</a:t>
            </a:r>
            <a:r>
              <a:rPr lang="en-US" sz="1200" b="0" i="0" kern="1200" dirty="0" smtClean="0">
                <a:solidFill>
                  <a:schemeClr val="tx1"/>
                </a:solidFill>
                <a:effectLst/>
                <a:latin typeface="+mn-lt"/>
                <a:ea typeface="+mn-ea"/>
                <a:cs typeface="+mn-cs"/>
              </a:rPr>
              <a:t>onsistency, </a:t>
            </a:r>
            <a:r>
              <a:rPr lang="en-US" sz="1200" b="1" i="0" kern="1200" dirty="0" smtClean="0">
                <a:solidFill>
                  <a:schemeClr val="tx1"/>
                </a:solidFill>
                <a:effectLst/>
                <a:latin typeface="+mn-lt"/>
                <a:ea typeface="+mn-ea"/>
                <a:cs typeface="+mn-cs"/>
              </a:rPr>
              <a:t>I</a:t>
            </a:r>
            <a:r>
              <a:rPr lang="en-US" sz="1200" b="0" i="0" kern="1200" dirty="0" smtClean="0">
                <a:solidFill>
                  <a:schemeClr val="tx1"/>
                </a:solidFill>
                <a:effectLst/>
                <a:latin typeface="+mn-lt"/>
                <a:ea typeface="+mn-ea"/>
                <a:cs typeface="+mn-cs"/>
              </a:rPr>
              <a:t>solation, and </a:t>
            </a:r>
            <a:r>
              <a:rPr lang="en-US" sz="1200" b="1" i="0" kern="1200" dirty="0" smtClean="0">
                <a:solidFill>
                  <a:schemeClr val="tx1"/>
                </a:solidFill>
                <a:effectLst/>
                <a:latin typeface="+mn-lt"/>
                <a:ea typeface="+mn-ea"/>
                <a:cs typeface="+mn-cs"/>
              </a:rPr>
              <a:t>D</a:t>
            </a:r>
            <a:r>
              <a:rPr lang="en-US" sz="1200" b="0" i="0" kern="1200" dirty="0" smtClean="0">
                <a:solidFill>
                  <a:schemeClr val="tx1"/>
                </a:solidFill>
                <a:effectLst/>
                <a:latin typeface="+mn-lt"/>
                <a:ea typeface="+mn-ea"/>
                <a:cs typeface="+mn-cs"/>
              </a:rPr>
              <a:t>urability − commonly known as ACID properties − in order to ensure accuracy, completeness, and </a:t>
            </a:r>
            <a:r>
              <a:rPr lang="en-US" sz="1200" b="1" i="0" kern="1200" dirty="0" smtClean="0">
                <a:solidFill>
                  <a:schemeClr val="tx1"/>
                </a:solidFill>
                <a:effectLst/>
                <a:latin typeface="+mn-lt"/>
                <a:ea typeface="+mn-ea"/>
                <a:cs typeface="+mn-cs"/>
              </a:rPr>
              <a:t>data</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integrity.</a:t>
            </a:r>
            <a:endParaRPr lang="en-IN" b="1"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6</a:t>
            </a:fld>
            <a:endParaRPr lang="en-IN"/>
          </a:p>
        </p:txBody>
      </p:sp>
    </p:spTree>
    <p:extLst>
      <p:ext uri="{BB962C8B-B14F-4D97-AF65-F5344CB8AC3E}">
        <p14:creationId xmlns:p14="http://schemas.microsoft.com/office/powerpoint/2010/main" val="3623000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ACID Properties</a:t>
            </a:r>
          </a:p>
          <a:p>
            <a:r>
              <a:rPr lang="en-US" sz="1200" b="0" i="0" kern="1200" dirty="0" smtClean="0">
                <a:solidFill>
                  <a:schemeClr val="tx1"/>
                </a:solidFill>
                <a:effectLst/>
                <a:latin typeface="+mn-lt"/>
                <a:ea typeface="+mn-ea"/>
                <a:cs typeface="+mn-cs"/>
              </a:rPr>
              <a:t>A transaction is a very small unit of a program and it may contain several </a:t>
            </a:r>
            <a:r>
              <a:rPr lang="en-US" sz="1200" b="0" i="0" kern="1200" dirty="0" err="1" smtClean="0">
                <a:solidFill>
                  <a:schemeClr val="tx1"/>
                </a:solidFill>
                <a:effectLst/>
                <a:latin typeface="+mn-lt"/>
                <a:ea typeface="+mn-ea"/>
                <a:cs typeface="+mn-cs"/>
              </a:rPr>
              <a:t>lowlevel</a:t>
            </a:r>
            <a:r>
              <a:rPr lang="en-US" sz="1200" b="0" i="0" kern="1200" dirty="0" smtClean="0">
                <a:solidFill>
                  <a:schemeClr val="tx1"/>
                </a:solidFill>
                <a:effectLst/>
                <a:latin typeface="+mn-lt"/>
                <a:ea typeface="+mn-ea"/>
                <a:cs typeface="+mn-cs"/>
              </a:rPr>
              <a:t> tasks. A transaction in a database system must maintain </a:t>
            </a:r>
            <a:r>
              <a:rPr lang="en-US" sz="1200" b="1" i="0" kern="1200" dirty="0" smtClean="0">
                <a:solidFill>
                  <a:schemeClr val="tx1"/>
                </a:solidFill>
                <a:effectLst/>
                <a:latin typeface="+mn-lt"/>
                <a:ea typeface="+mn-ea"/>
                <a:cs typeface="+mn-cs"/>
              </a:rPr>
              <a:t>A</a:t>
            </a:r>
            <a:r>
              <a:rPr lang="en-US" sz="1200" b="0" i="0" kern="1200" dirty="0" smtClean="0">
                <a:solidFill>
                  <a:schemeClr val="tx1"/>
                </a:solidFill>
                <a:effectLst/>
                <a:latin typeface="+mn-lt"/>
                <a:ea typeface="+mn-ea"/>
                <a:cs typeface="+mn-cs"/>
              </a:rPr>
              <a:t>tomicity, </a:t>
            </a:r>
            <a:r>
              <a:rPr lang="en-US" sz="1200" b="1" i="0" kern="1200" dirty="0" smtClean="0">
                <a:solidFill>
                  <a:schemeClr val="tx1"/>
                </a:solidFill>
                <a:effectLst/>
                <a:latin typeface="+mn-lt"/>
                <a:ea typeface="+mn-ea"/>
                <a:cs typeface="+mn-cs"/>
              </a:rPr>
              <a:t>C</a:t>
            </a:r>
            <a:r>
              <a:rPr lang="en-US" sz="1200" b="0" i="0" kern="1200" dirty="0" smtClean="0">
                <a:solidFill>
                  <a:schemeClr val="tx1"/>
                </a:solidFill>
                <a:effectLst/>
                <a:latin typeface="+mn-lt"/>
                <a:ea typeface="+mn-ea"/>
                <a:cs typeface="+mn-cs"/>
              </a:rPr>
              <a:t>onsistency, </a:t>
            </a:r>
            <a:r>
              <a:rPr lang="en-US" sz="1200" b="1" i="0" kern="1200" dirty="0" smtClean="0">
                <a:solidFill>
                  <a:schemeClr val="tx1"/>
                </a:solidFill>
                <a:effectLst/>
                <a:latin typeface="+mn-lt"/>
                <a:ea typeface="+mn-ea"/>
                <a:cs typeface="+mn-cs"/>
              </a:rPr>
              <a:t>I</a:t>
            </a:r>
            <a:r>
              <a:rPr lang="en-US" sz="1200" b="0" i="0" kern="1200" dirty="0" smtClean="0">
                <a:solidFill>
                  <a:schemeClr val="tx1"/>
                </a:solidFill>
                <a:effectLst/>
                <a:latin typeface="+mn-lt"/>
                <a:ea typeface="+mn-ea"/>
                <a:cs typeface="+mn-cs"/>
              </a:rPr>
              <a:t>solation, and </a:t>
            </a:r>
            <a:r>
              <a:rPr lang="en-US" sz="1200" b="1" i="0" kern="1200" dirty="0" smtClean="0">
                <a:solidFill>
                  <a:schemeClr val="tx1"/>
                </a:solidFill>
                <a:effectLst/>
                <a:latin typeface="+mn-lt"/>
                <a:ea typeface="+mn-ea"/>
                <a:cs typeface="+mn-cs"/>
              </a:rPr>
              <a:t>D</a:t>
            </a:r>
            <a:r>
              <a:rPr lang="en-US" sz="1200" b="0" i="0" kern="1200" dirty="0" smtClean="0">
                <a:solidFill>
                  <a:schemeClr val="tx1"/>
                </a:solidFill>
                <a:effectLst/>
                <a:latin typeface="+mn-lt"/>
                <a:ea typeface="+mn-ea"/>
                <a:cs typeface="+mn-cs"/>
              </a:rPr>
              <a:t>urability − commonly known as ACID properties − in order to ensure accuracy, completeness, and data integrity.</a:t>
            </a:r>
          </a:p>
          <a:p>
            <a:r>
              <a:rPr lang="en-US" sz="1200" b="1" i="0" kern="1200" dirty="0" smtClean="0">
                <a:solidFill>
                  <a:schemeClr val="tx1"/>
                </a:solidFill>
                <a:effectLst/>
                <a:latin typeface="+mn-lt"/>
                <a:ea typeface="+mn-ea"/>
                <a:cs typeface="+mn-cs"/>
              </a:rPr>
              <a:t>Atomicity</a:t>
            </a:r>
            <a:r>
              <a:rPr lang="en-US" sz="1200" b="0" i="0" kern="1200" dirty="0" smtClean="0">
                <a:solidFill>
                  <a:schemeClr val="tx1"/>
                </a:solidFill>
                <a:effectLst/>
                <a:latin typeface="+mn-lt"/>
                <a:ea typeface="+mn-ea"/>
                <a:cs typeface="+mn-cs"/>
              </a:rPr>
              <a:t> − This property states that a transaction must be treated as an atomic unit, that is, either all of its operations are executed or none. There must be no state in a database where a transaction is left partially completed. States should be defined either before the execution of the transaction or after the execution/abortion/failure of the transaction.</a:t>
            </a:r>
          </a:p>
        </p:txBody>
      </p:sp>
      <p:sp>
        <p:nvSpPr>
          <p:cNvPr id="4" name="Slide Number Placeholder 3"/>
          <p:cNvSpPr>
            <a:spLocks noGrp="1"/>
          </p:cNvSpPr>
          <p:nvPr>
            <p:ph type="sldNum" sz="quarter" idx="10"/>
          </p:nvPr>
        </p:nvSpPr>
        <p:spPr/>
        <p:txBody>
          <a:bodyPr/>
          <a:lstStyle/>
          <a:p>
            <a:fld id="{49754D99-AF6D-4A39-81D6-E26BE50F3D53}" type="slidenum">
              <a:rPr lang="en-IN" smtClean="0"/>
              <a:pPr/>
              <a:t>7</a:t>
            </a:fld>
            <a:endParaRPr lang="en-IN"/>
          </a:p>
        </p:txBody>
      </p:sp>
    </p:spTree>
    <p:extLst>
      <p:ext uri="{BB962C8B-B14F-4D97-AF65-F5344CB8AC3E}">
        <p14:creationId xmlns:p14="http://schemas.microsoft.com/office/powerpoint/2010/main" val="7565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Consistency</a:t>
            </a:r>
            <a:r>
              <a:rPr lang="en-US" sz="1200" b="0" i="0" kern="1200" dirty="0" smtClean="0">
                <a:solidFill>
                  <a:schemeClr val="tx1"/>
                </a:solidFill>
                <a:effectLst/>
                <a:latin typeface="+mn-lt"/>
                <a:ea typeface="+mn-ea"/>
                <a:cs typeface="+mn-cs"/>
              </a:rPr>
              <a:t> − The database must remain in a consistent state after any transaction. No transaction should have any adverse effect on the data residing in the database. If the database was in a consistent state before the execution of a transaction, it must remain consistent after the execution of the transaction as well.</a:t>
            </a:r>
          </a:p>
          <a:p>
            <a:endParaRPr lang="en-IN"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8</a:t>
            </a:fld>
            <a:endParaRPr lang="en-IN"/>
          </a:p>
        </p:txBody>
      </p:sp>
    </p:spTree>
    <p:extLst>
      <p:ext uri="{BB962C8B-B14F-4D97-AF65-F5344CB8AC3E}">
        <p14:creationId xmlns:p14="http://schemas.microsoft.com/office/powerpoint/2010/main" val="3611689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Isolation</a:t>
            </a:r>
            <a:r>
              <a:rPr lang="en-US" sz="1200" b="0" i="0" kern="1200" dirty="0" smtClean="0">
                <a:solidFill>
                  <a:schemeClr val="tx1"/>
                </a:solidFill>
                <a:effectLst/>
                <a:latin typeface="+mn-lt"/>
                <a:ea typeface="+mn-ea"/>
                <a:cs typeface="+mn-cs"/>
              </a:rPr>
              <a:t> − In a database system where more than one transaction are being executed simultaneously and in parallel, the property of isolation states that all the transactions will be carried out and executed as if it is the only transaction in the system. No transaction will affect the existence of any other transaction.</a:t>
            </a:r>
          </a:p>
          <a:p>
            <a:endParaRPr lang="en-IN" dirty="0" smtClean="0"/>
          </a:p>
          <a:p>
            <a:r>
              <a:rPr lang="en-US" sz="1200" b="1" i="0" kern="1200" dirty="0" smtClean="0">
                <a:solidFill>
                  <a:schemeClr val="tx1"/>
                </a:solidFill>
                <a:effectLst/>
                <a:latin typeface="+mn-lt"/>
                <a:ea typeface="+mn-ea"/>
                <a:cs typeface="+mn-cs"/>
              </a:rPr>
              <a:t>Durability</a:t>
            </a:r>
            <a:r>
              <a:rPr lang="en-US" sz="1200" b="0" i="0" kern="1200" dirty="0" smtClean="0">
                <a:solidFill>
                  <a:schemeClr val="tx1"/>
                </a:solidFill>
                <a:effectLst/>
                <a:latin typeface="+mn-lt"/>
                <a:ea typeface="+mn-ea"/>
                <a:cs typeface="+mn-cs"/>
              </a:rPr>
              <a:t> − The database should be durable enough to hold all its latest updates even if the system fails or restarts. If a transaction updates a chunk of data in a database and commits, then the database will hold the modified data. If a transaction commits but the system fails before the data could be written on to the disk, then that data will be updated once the system springs back into action.</a:t>
            </a:r>
          </a:p>
          <a:p>
            <a:endParaRPr lang="en-IN"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9</a:t>
            </a:fld>
            <a:endParaRPr lang="en-IN"/>
          </a:p>
        </p:txBody>
      </p:sp>
    </p:spTree>
    <p:extLst>
      <p:ext uri="{BB962C8B-B14F-4D97-AF65-F5344CB8AC3E}">
        <p14:creationId xmlns:p14="http://schemas.microsoft.com/office/powerpoint/2010/main" val="3257626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For recovery from any type of failure data values prior to</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modification (BFIM - </a:t>
            </a:r>
            <a:r>
              <a:rPr lang="en-US" sz="1200" b="0" i="0" kern="1200" dirty="0" err="1" smtClean="0">
                <a:solidFill>
                  <a:schemeClr val="tx1"/>
                </a:solidFill>
                <a:effectLst/>
                <a:latin typeface="+mn-lt"/>
                <a:ea typeface="+mn-ea"/>
                <a:cs typeface="+mn-cs"/>
              </a:rPr>
              <a:t>BeFore</a:t>
            </a:r>
            <a:r>
              <a:rPr lang="en-US" sz="1200" b="0" i="0" kern="1200" dirty="0" smtClean="0">
                <a:solidFill>
                  <a:schemeClr val="tx1"/>
                </a:solidFill>
                <a:effectLst/>
                <a:latin typeface="+mn-lt"/>
                <a:ea typeface="+mn-ea"/>
                <a:cs typeface="+mn-cs"/>
              </a:rPr>
              <a:t> Image) and the new value after</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modification (AFIM – </a:t>
            </a:r>
            <a:r>
              <a:rPr lang="en-US" sz="1200" b="0" i="0" kern="1200" dirty="0" err="1" smtClean="0">
                <a:solidFill>
                  <a:schemeClr val="tx1"/>
                </a:solidFill>
                <a:effectLst/>
                <a:latin typeface="+mn-lt"/>
                <a:ea typeface="+mn-ea"/>
                <a:cs typeface="+mn-cs"/>
              </a:rPr>
              <a:t>AFter</a:t>
            </a:r>
            <a:r>
              <a:rPr lang="en-US" sz="1200" b="0" i="0" kern="1200" dirty="0" smtClean="0">
                <a:solidFill>
                  <a:schemeClr val="tx1"/>
                </a:solidFill>
                <a:effectLst/>
                <a:latin typeface="+mn-lt"/>
                <a:ea typeface="+mn-ea"/>
                <a:cs typeface="+mn-cs"/>
              </a:rPr>
              <a:t> Image) are required.</a:t>
            </a:r>
            <a:r>
              <a:rPr lang="en-US" dirty="0" smtClean="0"/>
              <a:t> </a:t>
            </a:r>
            <a:br>
              <a:rPr lang="en-US" dirty="0" smtClean="0"/>
            </a:br>
            <a:endParaRPr lang="en-IN"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11</a:t>
            </a:fld>
            <a:endParaRPr lang="en-IN"/>
          </a:p>
        </p:txBody>
      </p:sp>
    </p:spTree>
    <p:extLst>
      <p:ext uri="{BB962C8B-B14F-4D97-AF65-F5344CB8AC3E}">
        <p14:creationId xmlns:p14="http://schemas.microsoft.com/office/powerpoint/2010/main" val="1981398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page</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memory page</a:t>
            </a:r>
            <a:r>
              <a:rPr lang="en-US" sz="1200" b="0" i="0" kern="1200" dirty="0" smtClean="0">
                <a:solidFill>
                  <a:schemeClr val="tx1"/>
                </a:solidFill>
                <a:effectLst/>
                <a:latin typeface="+mn-lt"/>
                <a:ea typeface="+mn-ea"/>
                <a:cs typeface="+mn-cs"/>
              </a:rPr>
              <a:t>, or </a:t>
            </a:r>
            <a:r>
              <a:rPr lang="en-US" sz="1200" b="1" i="0" kern="1200" dirty="0" smtClean="0">
                <a:solidFill>
                  <a:schemeClr val="tx1"/>
                </a:solidFill>
                <a:effectLst/>
                <a:latin typeface="+mn-lt"/>
                <a:ea typeface="+mn-ea"/>
                <a:cs typeface="+mn-cs"/>
              </a:rPr>
              <a:t>virtual page</a:t>
            </a:r>
            <a:r>
              <a:rPr lang="en-US" sz="1200" b="0" i="0" kern="1200" dirty="0" smtClean="0">
                <a:solidFill>
                  <a:schemeClr val="tx1"/>
                </a:solidFill>
                <a:effectLst/>
                <a:latin typeface="+mn-lt"/>
                <a:ea typeface="+mn-ea"/>
                <a:cs typeface="+mn-cs"/>
              </a:rPr>
              <a:t> is a fixed-length contiguous block of </a:t>
            </a:r>
            <a:r>
              <a:rPr lang="en-US" sz="1200" b="0" i="0" u="none" strike="noStrike" kern="1200" dirty="0" smtClean="0">
                <a:solidFill>
                  <a:schemeClr val="tx1"/>
                </a:solidFill>
                <a:effectLst/>
                <a:latin typeface="+mn-lt"/>
                <a:ea typeface="+mn-ea"/>
                <a:cs typeface="+mn-cs"/>
                <a:hlinkClick r:id="rId3" tooltip="Virtual memory"/>
              </a:rPr>
              <a:t>virtual memory</a:t>
            </a:r>
            <a:r>
              <a:rPr lang="en-US" sz="1200" b="0" i="0" kern="1200" dirty="0" smtClean="0">
                <a:solidFill>
                  <a:schemeClr val="tx1"/>
                </a:solidFill>
                <a:effectLst/>
                <a:latin typeface="+mn-lt"/>
                <a:ea typeface="+mn-ea"/>
                <a:cs typeface="+mn-cs"/>
              </a:rPr>
              <a:t>, described by a single entry in the </a:t>
            </a:r>
            <a:r>
              <a:rPr lang="en-US" sz="1200" b="0" i="0" u="none" strike="noStrike" kern="1200" dirty="0" smtClean="0">
                <a:solidFill>
                  <a:schemeClr val="tx1"/>
                </a:solidFill>
                <a:effectLst/>
                <a:latin typeface="+mn-lt"/>
                <a:ea typeface="+mn-ea"/>
                <a:cs typeface="+mn-cs"/>
                <a:hlinkClick r:id="rId4" tooltip="Page table"/>
              </a:rPr>
              <a:t>page table</a:t>
            </a:r>
            <a:r>
              <a:rPr lang="en-US" sz="1200" b="0" i="0" kern="1200" dirty="0" smtClean="0">
                <a:solidFill>
                  <a:schemeClr val="tx1"/>
                </a:solidFill>
                <a:effectLst/>
                <a:latin typeface="+mn-lt"/>
                <a:ea typeface="+mn-ea"/>
                <a:cs typeface="+mn-cs"/>
              </a:rPr>
              <a:t>. It is the smallest unit of data for memory management in a virtual memory </a:t>
            </a:r>
            <a:r>
              <a:rPr lang="en-US" sz="1200" b="0" i="0" u="none" strike="noStrike" kern="1200" dirty="0" smtClean="0">
                <a:solidFill>
                  <a:schemeClr val="tx1"/>
                </a:solidFill>
                <a:effectLst/>
                <a:latin typeface="+mn-lt"/>
                <a:ea typeface="+mn-ea"/>
                <a:cs typeface="+mn-cs"/>
                <a:hlinkClick r:id="rId5" tooltip="Operating system"/>
              </a:rPr>
              <a:t>operating system</a:t>
            </a:r>
            <a:r>
              <a:rPr lang="en-US" sz="1200" b="0" i="0" kern="1200" dirty="0" smtClean="0">
                <a:solidFill>
                  <a:schemeClr val="tx1"/>
                </a:solidFill>
                <a:effectLst/>
                <a:latin typeface="+mn-lt"/>
                <a:ea typeface="+mn-ea"/>
                <a:cs typeface="+mn-cs"/>
              </a:rPr>
              <a:t>. Similarly, a </a:t>
            </a:r>
            <a:r>
              <a:rPr lang="en-US" sz="1200" b="1" i="0" kern="1200" dirty="0" smtClean="0">
                <a:solidFill>
                  <a:schemeClr val="tx1"/>
                </a:solidFill>
                <a:effectLst/>
                <a:latin typeface="+mn-lt"/>
                <a:ea typeface="+mn-ea"/>
                <a:cs typeface="+mn-cs"/>
              </a:rPr>
              <a:t>page frame</a:t>
            </a:r>
            <a:r>
              <a:rPr lang="en-US" sz="1200" b="0" i="0" kern="1200" dirty="0" smtClean="0">
                <a:solidFill>
                  <a:schemeClr val="tx1"/>
                </a:solidFill>
                <a:effectLst/>
                <a:latin typeface="+mn-lt"/>
                <a:ea typeface="+mn-ea"/>
                <a:cs typeface="+mn-cs"/>
              </a:rPr>
              <a:t> is the smallest fixed-length contiguous block of </a:t>
            </a:r>
            <a:r>
              <a:rPr lang="en-US" sz="1200" b="0" i="0" u="none" strike="noStrike" kern="1200" dirty="0" smtClean="0">
                <a:solidFill>
                  <a:schemeClr val="tx1"/>
                </a:solidFill>
                <a:effectLst/>
                <a:latin typeface="+mn-lt"/>
                <a:ea typeface="+mn-ea"/>
                <a:cs typeface="+mn-cs"/>
                <a:hlinkClick r:id="rId6" tooltip="Physical memory"/>
              </a:rPr>
              <a:t>physical memory</a:t>
            </a:r>
            <a:r>
              <a:rPr lang="en-US" sz="1200" b="0" i="0" kern="1200" dirty="0" smtClean="0">
                <a:solidFill>
                  <a:schemeClr val="tx1"/>
                </a:solidFill>
                <a:effectLst/>
                <a:latin typeface="+mn-lt"/>
                <a:ea typeface="+mn-ea"/>
                <a:cs typeface="+mn-cs"/>
              </a:rPr>
              <a:t> into which memory pages are mapped by the operating system.</a:t>
            </a:r>
            <a:r>
              <a:rPr lang="en-US" sz="1200" b="0" i="0" u="none" strike="noStrike" kern="1200" baseline="30000" dirty="0" smtClean="0">
                <a:solidFill>
                  <a:schemeClr val="tx1"/>
                </a:solidFill>
                <a:effectLst/>
                <a:latin typeface="+mn-lt"/>
                <a:ea typeface="+mn-ea"/>
                <a:cs typeface="+mn-cs"/>
                <a:hlinkClick r:id="rId7"/>
              </a:rPr>
              <a:t>[1][2][3]</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transfer of pages between main memory and an auxiliary store, such as a </a:t>
            </a:r>
            <a:r>
              <a:rPr lang="en-US" sz="1200" b="0" i="0" u="none" strike="noStrike" kern="1200" dirty="0" smtClean="0">
                <a:solidFill>
                  <a:schemeClr val="tx1"/>
                </a:solidFill>
                <a:effectLst/>
                <a:latin typeface="+mn-lt"/>
                <a:ea typeface="+mn-ea"/>
                <a:cs typeface="+mn-cs"/>
                <a:hlinkClick r:id="rId8" tooltip="Hard disk drive"/>
              </a:rPr>
              <a:t>hard disk drive</a:t>
            </a:r>
            <a:r>
              <a:rPr lang="en-US" sz="1200" b="0" i="0" kern="1200" dirty="0" smtClean="0">
                <a:solidFill>
                  <a:schemeClr val="tx1"/>
                </a:solidFill>
                <a:effectLst/>
                <a:latin typeface="+mn-lt"/>
                <a:ea typeface="+mn-ea"/>
                <a:cs typeface="+mn-cs"/>
              </a:rPr>
              <a:t>, is referred to as </a:t>
            </a:r>
            <a:r>
              <a:rPr lang="en-US" sz="1200" b="0" i="0" u="none" strike="noStrike" kern="1200" dirty="0" smtClean="0">
                <a:solidFill>
                  <a:schemeClr val="tx1"/>
                </a:solidFill>
                <a:effectLst/>
                <a:latin typeface="+mn-lt"/>
                <a:ea typeface="+mn-ea"/>
                <a:cs typeface="+mn-cs"/>
                <a:hlinkClick r:id="rId9" tooltip="Paging"/>
              </a:rPr>
              <a:t>paging</a:t>
            </a:r>
            <a:r>
              <a:rPr lang="en-US" sz="1200" b="0" i="0" kern="1200" dirty="0" smtClean="0">
                <a:solidFill>
                  <a:schemeClr val="tx1"/>
                </a:solidFill>
                <a:effectLst/>
                <a:latin typeface="+mn-lt"/>
                <a:ea typeface="+mn-ea"/>
                <a:cs typeface="+mn-cs"/>
              </a:rPr>
              <a:t> or swapping.</a:t>
            </a:r>
            <a:r>
              <a:rPr lang="en-US" sz="1200" b="0" i="0" u="none" strike="noStrike" kern="1200" baseline="30000" dirty="0" smtClean="0">
                <a:solidFill>
                  <a:schemeClr val="tx1"/>
                </a:solidFill>
                <a:effectLst/>
                <a:latin typeface="+mn-lt"/>
                <a:ea typeface="+mn-ea"/>
                <a:cs typeface="+mn-cs"/>
                <a:hlinkClick r:id="rId7"/>
              </a:rPr>
              <a:t>[4]</a:t>
            </a:r>
            <a:endParaRPr lang="en-US" sz="1200" b="0" i="0" kern="1200" dirty="0" smtClean="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15</a:t>
            </a:fld>
            <a:endParaRPr lang="en-IN"/>
          </a:p>
        </p:txBody>
      </p:sp>
    </p:spTree>
    <p:extLst>
      <p:ext uri="{BB962C8B-B14F-4D97-AF65-F5344CB8AC3E}">
        <p14:creationId xmlns:p14="http://schemas.microsoft.com/office/powerpoint/2010/main" val="2374963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18</a:t>
            </a:fld>
            <a:endParaRPr lang="en-IN"/>
          </a:p>
        </p:txBody>
      </p:sp>
    </p:spTree>
    <p:extLst>
      <p:ext uri="{BB962C8B-B14F-4D97-AF65-F5344CB8AC3E}">
        <p14:creationId xmlns:p14="http://schemas.microsoft.com/office/powerpoint/2010/main" val="1646631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sng" dirty="0" smtClean="0">
                <a:latin typeface="Times New Roman" pitchFamily="18" charset="0"/>
                <a:cs typeface="Times New Roman" pitchFamily="18" charset="0"/>
              </a:rPr>
              <a:t>Relinquish: </a:t>
            </a:r>
            <a:r>
              <a:rPr lang="en-US" sz="1200" b="0" u="none" dirty="0" smtClean="0">
                <a:latin typeface="Times New Roman" pitchFamily="18" charset="0"/>
                <a:cs typeface="Times New Roman" pitchFamily="18" charset="0"/>
              </a:rPr>
              <a:t>Abandon,</a:t>
            </a:r>
            <a:r>
              <a:rPr lang="en-US" sz="1200" b="0" u="none" baseline="0" dirty="0" smtClean="0">
                <a:latin typeface="Times New Roman" pitchFamily="18" charset="0"/>
                <a:cs typeface="Times New Roman" pitchFamily="18" charset="0"/>
              </a:rPr>
              <a:t> Give-up, </a:t>
            </a:r>
            <a:endParaRPr lang="en-IN"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19</a:t>
            </a:fld>
            <a:endParaRPr lang="en-IN"/>
          </a:p>
        </p:txBody>
      </p:sp>
    </p:spTree>
    <p:extLst>
      <p:ext uri="{BB962C8B-B14F-4D97-AF65-F5344CB8AC3E}">
        <p14:creationId xmlns:p14="http://schemas.microsoft.com/office/powerpoint/2010/main" val="10913903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dirty="0" smtClean="0">
                <a:solidFill>
                  <a:srgbClr val="FF0000"/>
                </a:solidFill>
                <a:latin typeface="Times New Roman" pitchFamily="18" charset="0"/>
                <a:cs typeface="Times New Roman" pitchFamily="18" charset="0"/>
              </a:rPr>
              <a:t>Indefinitely:</a:t>
            </a:r>
            <a:r>
              <a:rPr lang="en-US" sz="1200" u="none" dirty="0" smtClean="0">
                <a:solidFill>
                  <a:srgbClr val="FF0000"/>
                </a:solidFill>
                <a:latin typeface="Times New Roman" pitchFamily="18" charset="0"/>
                <a:cs typeface="Times New Roman" pitchFamily="18" charset="0"/>
              </a:rPr>
              <a:t> </a:t>
            </a:r>
            <a:r>
              <a:rPr lang="en-US" sz="1200" u="none" dirty="0" err="1" smtClean="0">
                <a:solidFill>
                  <a:srgbClr val="FF0000"/>
                </a:solidFill>
                <a:latin typeface="Times New Roman" pitchFamily="18" charset="0"/>
                <a:cs typeface="Times New Roman" pitchFamily="18" charset="0"/>
              </a:rPr>
              <a:t>Forver</a:t>
            </a:r>
            <a:endParaRPr lang="en-IN" u="none" dirty="0"/>
          </a:p>
        </p:txBody>
      </p:sp>
      <p:sp>
        <p:nvSpPr>
          <p:cNvPr id="4" name="Slide Number Placeholder 3"/>
          <p:cNvSpPr>
            <a:spLocks noGrp="1"/>
          </p:cNvSpPr>
          <p:nvPr>
            <p:ph type="sldNum" sz="quarter" idx="10"/>
          </p:nvPr>
        </p:nvSpPr>
        <p:spPr/>
        <p:txBody>
          <a:bodyPr/>
          <a:lstStyle/>
          <a:p>
            <a:fld id="{49754D99-AF6D-4A39-81D6-E26BE50F3D53}" type="slidenum">
              <a:rPr lang="en-IN" smtClean="0"/>
              <a:pPr/>
              <a:t>20</a:t>
            </a:fld>
            <a:endParaRPr lang="en-IN"/>
          </a:p>
        </p:txBody>
      </p:sp>
    </p:spTree>
    <p:extLst>
      <p:ext uri="{BB962C8B-B14F-4D97-AF65-F5344CB8AC3E}">
        <p14:creationId xmlns:p14="http://schemas.microsoft.com/office/powerpoint/2010/main" val="3408956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idx="1"/>
          </p:nvPr>
        </p:nvSpPr>
        <p:spPr>
          <a:xfrm>
            <a:off x="561975" y="1001317"/>
            <a:ext cx="78867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962900" cy="994172"/>
          </a:xfrm>
        </p:spPr>
        <p:txBody>
          <a:bodyPr>
            <a:normAutofit/>
          </a:bodyPr>
          <a:lstStyle>
            <a:lvl1pPr>
              <a:defRPr sz="2700" b="1"/>
            </a:lvl1pPr>
          </a:lstStyle>
          <a:p>
            <a:r>
              <a:rPr lang="en-US" smtClean="0"/>
              <a:t>Click to edit Master title style</a:t>
            </a:r>
            <a:endParaRPr lang="en-US" dirty="0"/>
          </a:p>
        </p:txBody>
      </p:sp>
      <p:sp>
        <p:nvSpPr>
          <p:cNvPr id="3" name="Content Placeholder 2"/>
          <p:cNvSpPr>
            <a:spLocks noGrp="1"/>
          </p:cNvSpPr>
          <p:nvPr>
            <p:ph sz="half" idx="1"/>
          </p:nvPr>
        </p:nvSpPr>
        <p:spPr>
          <a:xfrm>
            <a:off x="552450" y="1058467"/>
            <a:ext cx="39624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058467"/>
            <a:ext cx="3886200" cy="36314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72691" y="7144"/>
            <a:ext cx="7886700" cy="994172"/>
          </a:xfrm>
        </p:spPr>
        <p:txBody>
          <a:bodyPr>
            <a:normAutofit/>
          </a:bodyPr>
          <a:lstStyle>
            <a:lvl1pPr>
              <a:defRPr sz="2700" b="1"/>
            </a:lvl1pPr>
          </a:lstStyle>
          <a:p>
            <a:r>
              <a:rPr lang="en-US" smtClean="0"/>
              <a:t>Click to edit Master title style</a:t>
            </a:r>
            <a:endParaRPr lang="en-US" dirty="0"/>
          </a:p>
        </p:txBody>
      </p:sp>
      <p:sp>
        <p:nvSpPr>
          <p:cNvPr id="3" name="Text Placeholder 2"/>
          <p:cNvSpPr>
            <a:spLocks noGrp="1"/>
          </p:cNvSpPr>
          <p:nvPr>
            <p:ph type="body" idx="1"/>
          </p:nvPr>
        </p:nvSpPr>
        <p:spPr>
          <a:xfrm>
            <a:off x="591742" y="1041797"/>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01267" y="1774031"/>
            <a:ext cx="3868340"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060847"/>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1783556"/>
            <a:ext cx="3887391"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1975" y="7144"/>
            <a:ext cx="7886700" cy="994172"/>
          </a:xfrm>
        </p:spPr>
        <p:txBody>
          <a:bodyPr>
            <a:normAutofit/>
          </a:bodyPr>
          <a:lstStyle>
            <a:lvl1pPr>
              <a:defRPr sz="2700" b="1"/>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52450" y="7144"/>
            <a:ext cx="7886700" cy="994172"/>
          </a:xfrm>
        </p:spPr>
        <p:txBody>
          <a:bodyPr>
            <a:normAutofit/>
          </a:bodyPr>
          <a:lstStyle>
            <a:lvl1pPr>
              <a:defRPr sz="2700" b="1"/>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1045369"/>
            <a:ext cx="7886700" cy="35075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25258224"/>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4288" y="1428750"/>
            <a:ext cx="9158288" cy="37147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4288" y="0"/>
            <a:ext cx="9158288" cy="3328988"/>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814388" y="757237"/>
            <a:ext cx="7515225" cy="39290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385888" y="2114550"/>
            <a:ext cx="6372225" cy="2100263"/>
          </a:xfrm>
          <a:prstGeom prst="rect">
            <a:avLst/>
          </a:prstGeom>
        </p:spPr>
        <p:txBody>
          <a:bodyPr/>
          <a:lstStyle/>
          <a:p>
            <a:pPr lvl="0"/>
            <a:r>
              <a:rPr lang="en-US" noProof="0" smtClean="0"/>
              <a:t>Click icon to add picture</a:t>
            </a:r>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pPr/>
              <a:t>6/28/2023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8636840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2450" y="16669"/>
            <a:ext cx="7962900" cy="994172"/>
          </a:xfrm>
          <a:prstGeom prst="rect">
            <a:avLst/>
          </a:prstGeom>
        </p:spPr>
        <p:txBody>
          <a:bodyPr vert="horz" lIns="68580" tIns="34290" rIns="68580" bIns="3429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52450" y="1058467"/>
            <a:ext cx="7962900" cy="3621881"/>
          </a:xfrm>
          <a:prstGeom prst="rect">
            <a:avLst/>
          </a:prstGeom>
        </p:spPr>
        <p:txBody>
          <a:bodyPr vert="horz" lIns="68580" tIns="34290" rIns="68580" bIns="3429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1D8BD707-D9CF-40AE-B4C6-C98DA3205C09}" type="datetimeFigureOut">
              <a:rPr lang="en-US" smtClean="0"/>
              <a:pPr/>
              <a:t>6/28/2023</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iming>
    <p:tnLst>
      <p:par>
        <p:cTn id="1" dur="indefinite" restart="never" nodeType="tmRoot"/>
      </p:par>
    </p:tnLst>
  </p:timing>
  <p:txStyles>
    <p:titleStyle>
      <a:lvl1pPr algn="l" defTabSz="685800" rtl="0" eaLnBrk="1" latinLnBrk="0" hangingPunct="1">
        <a:lnSpc>
          <a:spcPct val="90000"/>
        </a:lnSpc>
        <a:spcBef>
          <a:spcPct val="0"/>
        </a:spcBef>
        <a:buNone/>
        <a:defRPr sz="27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hyperlink" Target="mailto:shaveta.e13464@cumail.in" TargetMode="Externa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3572" y="4070747"/>
            <a:ext cx="9147572" cy="11382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32" name="Rectangle 31"/>
          <p:cNvSpPr/>
          <p:nvPr/>
        </p:nvSpPr>
        <p:spPr>
          <a:xfrm>
            <a:off x="226219" y="4426744"/>
            <a:ext cx="34529" cy="4595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142340" name="Slide Number Placeholder 2"/>
          <p:cNvSpPr txBox="1">
            <a:spLocks/>
          </p:cNvSpPr>
          <p:nvPr/>
        </p:nvSpPr>
        <p:spPr bwMode="auto">
          <a:xfrm>
            <a:off x="6572250" y="4881563"/>
            <a:ext cx="20574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nSpc>
                <a:spcPct val="90000"/>
              </a:lnSpc>
              <a:spcBef>
                <a:spcPts val="1000"/>
              </a:spcBef>
              <a:buFont typeface="Arial" pitchFamily="34" charset="0"/>
              <a:buChar char="•"/>
              <a:defRPr sz="2800">
                <a:solidFill>
                  <a:schemeClr val="tx1"/>
                </a:solidFill>
                <a:latin typeface="Cambria" pitchFamily="18" charset="0"/>
              </a:defRPr>
            </a:lvl1pPr>
            <a:lvl2pPr indent="-228600">
              <a:lnSpc>
                <a:spcPct val="90000"/>
              </a:lnSpc>
              <a:spcBef>
                <a:spcPts val="500"/>
              </a:spcBef>
              <a:buFont typeface="Arial" pitchFamily="34" charset="0"/>
              <a:buChar char="•"/>
              <a:defRPr sz="2400">
                <a:solidFill>
                  <a:schemeClr val="tx1"/>
                </a:solidFill>
                <a:latin typeface="Cambria" pitchFamily="18" charset="0"/>
              </a:defRPr>
            </a:lvl2pPr>
            <a:lvl3pPr indent="-228600">
              <a:lnSpc>
                <a:spcPct val="90000"/>
              </a:lnSpc>
              <a:spcBef>
                <a:spcPts val="500"/>
              </a:spcBef>
              <a:buFont typeface="Arial" pitchFamily="34" charset="0"/>
              <a:buChar char="•"/>
              <a:defRPr sz="2000">
                <a:solidFill>
                  <a:schemeClr val="tx1"/>
                </a:solidFill>
                <a:latin typeface="Cambria" pitchFamily="18" charset="0"/>
              </a:defRPr>
            </a:lvl3pPr>
            <a:lvl4pPr indent="-228600">
              <a:lnSpc>
                <a:spcPct val="90000"/>
              </a:lnSpc>
              <a:spcBef>
                <a:spcPts val="500"/>
              </a:spcBef>
              <a:buFont typeface="Arial" pitchFamily="34" charset="0"/>
              <a:buChar char="•"/>
              <a:defRPr>
                <a:solidFill>
                  <a:schemeClr val="tx1"/>
                </a:solidFill>
                <a:latin typeface="Cambria" pitchFamily="18" charset="0"/>
              </a:defRPr>
            </a:lvl4pPr>
            <a:lvl5pPr indent="-228600">
              <a:lnSpc>
                <a:spcPct val="90000"/>
              </a:lnSpc>
              <a:spcBef>
                <a:spcPts val="500"/>
              </a:spcBef>
              <a:buFont typeface="Arial" pitchFamily="34" charset="0"/>
              <a:buChar char="•"/>
              <a:defRPr>
                <a:solidFill>
                  <a:schemeClr val="tx1"/>
                </a:solidFill>
                <a:latin typeface="Cambria" pitchFamily="18" charset="0"/>
              </a:defRPr>
            </a:lvl5pPr>
            <a:lvl6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6pPr>
            <a:lvl7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7pPr>
            <a:lvl8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8pPr>
            <a:lvl9pPr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9pPr>
          </a:lstStyle>
          <a:p>
            <a:pPr algn="r" eaLnBrk="1" hangingPunct="1">
              <a:lnSpc>
                <a:spcPct val="100000"/>
              </a:lnSpc>
              <a:spcBef>
                <a:spcPct val="0"/>
              </a:spcBef>
              <a:buFontTx/>
              <a:buNone/>
            </a:pPr>
            <a:endParaRPr lang="en-US" altLang="en-US" sz="900" dirty="0">
              <a:solidFill>
                <a:srgbClr val="898989"/>
              </a:solidFill>
            </a:endParaRPr>
          </a:p>
        </p:txBody>
      </p:sp>
      <p:sp>
        <p:nvSpPr>
          <p:cNvPr id="46" name="Right Triangle 45">
            <a:extLst>
              <a:ext uri="{FF2B5EF4-FFF2-40B4-BE49-F238E27FC236}"/>
            </a:extLst>
          </p:cNvPr>
          <p:cNvSpPr/>
          <p:nvPr/>
        </p:nvSpPr>
        <p:spPr>
          <a:xfrm flipV="1">
            <a:off x="7130654" y="4455319"/>
            <a:ext cx="967978" cy="867966"/>
          </a:xfrm>
          <a:prstGeom prst="rtTriangle">
            <a:avLst/>
          </a:prstGeom>
          <a:solidFill>
            <a:srgbClr val="FFFFFF">
              <a:lumMod val="95000"/>
              <a:alpha val="17000"/>
            </a:srgbClr>
          </a:solidFill>
          <a:ln w="12700" cap="flat" cmpd="sng" algn="ctr">
            <a:noFill/>
            <a:prstDash val="solid"/>
            <a:miter lim="800000"/>
          </a:ln>
          <a:effectLst/>
        </p:spPr>
        <p:txBody>
          <a:bodyPr lIns="68580" tIns="34290" rIns="68580" bIns="34290" anchor="ctr"/>
          <a:lstStyle/>
          <a:p>
            <a:pPr algn="ctr">
              <a:defRPr/>
            </a:pPr>
            <a:endParaRPr lang="en-ID" kern="0" dirty="0">
              <a:solidFill>
                <a:srgbClr val="FFFFFF"/>
              </a:solidFill>
              <a:latin typeface="Calibri" panose="020F0502020204030204"/>
            </a:endParaRPr>
          </a:p>
        </p:txBody>
      </p:sp>
      <p:graphicFrame>
        <p:nvGraphicFramePr>
          <p:cNvPr id="142342" name="Object 47"/>
          <p:cNvGraphicFramePr>
            <a:graphicFrameLocks noChangeAspect="1"/>
          </p:cNvGraphicFramePr>
          <p:nvPr/>
        </p:nvGraphicFramePr>
        <p:xfrm>
          <a:off x="57150" y="2340769"/>
          <a:ext cx="2477691" cy="2361010"/>
        </p:xfrm>
        <a:graphic>
          <a:graphicData uri="http://schemas.openxmlformats.org/presentationml/2006/ole">
            <mc:AlternateContent xmlns:mc="http://schemas.openxmlformats.org/markup-compatibility/2006">
              <mc:Choice xmlns:v="urn:schemas-microsoft-com:vml" Requires="v">
                <p:oleObj spid="_x0000_s1091" name="CorelDRAW" r:id="rId4" imgW="2169000" imgH="2169360" progId="">
                  <p:embed/>
                </p:oleObj>
              </mc:Choice>
              <mc:Fallback>
                <p:oleObj name="CorelDRAW" r:id="rId4" imgW="2169000" imgH="2169360" progId="">
                  <p:embed/>
                  <p:pic>
                    <p:nvPicPr>
                      <p:cNvPr id="0" name="Picture 66"/>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57150" y="2340769"/>
                        <a:ext cx="2477691" cy="23610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extLst>
          </p:cNvPr>
          <p:cNvSpPr/>
          <p:nvPr/>
        </p:nvSpPr>
        <p:spPr>
          <a:xfrm flipH="1">
            <a:off x="5283994" y="-48816"/>
            <a:ext cx="3860006" cy="4389835"/>
          </a:xfrm>
          <a:prstGeom prst="rtTriangle">
            <a:avLst/>
          </a:prstGeom>
          <a:solidFill>
            <a:srgbClr val="FFFFFF">
              <a:lumMod val="95000"/>
              <a:alpha val="17000"/>
            </a:srgbClr>
          </a:solidFill>
          <a:ln w="12700" cap="flat" cmpd="sng" algn="ctr">
            <a:noFill/>
            <a:prstDash val="solid"/>
            <a:miter lim="800000"/>
          </a:ln>
          <a:effectLst/>
        </p:spPr>
        <p:txBody>
          <a:bodyPr lIns="68580" tIns="34290" rIns="68580" bIns="34290" anchor="ctr"/>
          <a:lstStyle/>
          <a:p>
            <a:pPr algn="ctr">
              <a:defRPr/>
            </a:pPr>
            <a:endParaRPr lang="en-ID" kern="0" dirty="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pic>
        <p:nvPicPr>
          <p:cNvPr id="142347" name="Picture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525" y="17860"/>
            <a:ext cx="2894410" cy="1153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7372351" y="4000500"/>
            <a:ext cx="1775222" cy="120015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142349" name="TextBox 35"/>
          <p:cNvSpPr txBox="1">
            <a:spLocks noChangeArrowheads="1"/>
          </p:cNvSpPr>
          <p:nvPr/>
        </p:nvSpPr>
        <p:spPr bwMode="auto">
          <a:xfrm>
            <a:off x="5161360" y="4514850"/>
            <a:ext cx="3695700" cy="48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1000"/>
              </a:spcBef>
              <a:buFont typeface="Arial" pitchFamily="34" charset="0"/>
              <a:buChar char="•"/>
              <a:defRPr sz="2800">
                <a:solidFill>
                  <a:schemeClr val="tx1"/>
                </a:solidFill>
                <a:latin typeface="Cambria" pitchFamily="18" charset="0"/>
              </a:defRPr>
            </a:lvl1pPr>
            <a:lvl2pPr marL="742950" indent="-285750">
              <a:lnSpc>
                <a:spcPct val="90000"/>
              </a:lnSpc>
              <a:spcBef>
                <a:spcPts val="500"/>
              </a:spcBef>
              <a:buFont typeface="Arial" pitchFamily="34" charset="0"/>
              <a:buChar char="•"/>
              <a:defRPr sz="2400">
                <a:solidFill>
                  <a:schemeClr val="tx1"/>
                </a:solidFill>
                <a:latin typeface="Cambria" pitchFamily="18" charset="0"/>
              </a:defRPr>
            </a:lvl2pPr>
            <a:lvl3pPr marL="1143000" indent="-228600">
              <a:lnSpc>
                <a:spcPct val="90000"/>
              </a:lnSpc>
              <a:spcBef>
                <a:spcPts val="500"/>
              </a:spcBef>
              <a:buFont typeface="Arial" pitchFamily="34" charset="0"/>
              <a:buChar char="•"/>
              <a:defRPr sz="2000">
                <a:solidFill>
                  <a:schemeClr val="tx1"/>
                </a:solidFill>
                <a:latin typeface="Cambria" pitchFamily="18" charset="0"/>
              </a:defRPr>
            </a:lvl3pPr>
            <a:lvl4pPr marL="1600200" indent="-228600">
              <a:lnSpc>
                <a:spcPct val="90000"/>
              </a:lnSpc>
              <a:spcBef>
                <a:spcPts val="500"/>
              </a:spcBef>
              <a:buFont typeface="Arial" pitchFamily="34" charset="0"/>
              <a:buChar char="•"/>
              <a:defRPr>
                <a:solidFill>
                  <a:schemeClr val="tx1"/>
                </a:solidFill>
                <a:latin typeface="Cambria" pitchFamily="18" charset="0"/>
              </a:defRPr>
            </a:lvl4pPr>
            <a:lvl5pPr marL="2057400" indent="-228600">
              <a:lnSpc>
                <a:spcPct val="90000"/>
              </a:lnSpc>
              <a:spcBef>
                <a:spcPts val="500"/>
              </a:spcBef>
              <a:buFont typeface="Arial" pitchFamily="34" charset="0"/>
              <a:buChar char="•"/>
              <a:defRPr>
                <a:solidFill>
                  <a:schemeClr val="tx1"/>
                </a:solidFill>
                <a:latin typeface="Cambria" pitchFamily="18"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9pPr>
          </a:lstStyle>
          <a:p>
            <a:pPr>
              <a:lnSpc>
                <a:spcPct val="100000"/>
              </a:lnSpc>
              <a:spcBef>
                <a:spcPct val="0"/>
              </a:spcBef>
              <a:buFontTx/>
              <a:buNone/>
            </a:pPr>
            <a:r>
              <a:rPr lang="en-US" altLang="en-US" sz="1500" b="1" dirty="0">
                <a:solidFill>
                  <a:srgbClr val="595959"/>
                </a:solidFill>
                <a:latin typeface="Casper"/>
                <a:ea typeface="Karla"/>
                <a:cs typeface="Karla"/>
              </a:rPr>
              <a:t>DISCOVER . </a:t>
            </a:r>
            <a:r>
              <a:rPr lang="en-US" altLang="en-US" sz="1500" b="1" dirty="0">
                <a:solidFill>
                  <a:srgbClr val="C00000"/>
                </a:solidFill>
                <a:latin typeface="Casper"/>
                <a:ea typeface="Karla"/>
                <a:cs typeface="Karla"/>
              </a:rPr>
              <a:t>LEARN</a:t>
            </a:r>
            <a:r>
              <a:rPr lang="en-US" altLang="en-US" sz="1500" b="1" dirty="0">
                <a:solidFill>
                  <a:srgbClr val="595959"/>
                </a:solidFill>
                <a:latin typeface="Casper"/>
                <a:ea typeface="Karla"/>
                <a:cs typeface="Karla"/>
              </a:rPr>
              <a:t> . EMPOWER</a:t>
            </a:r>
            <a:endParaRPr lang="en-US" altLang="en-US" sz="900" b="1" dirty="0">
              <a:solidFill>
                <a:srgbClr val="000000"/>
              </a:solidFill>
              <a:latin typeface="Casper"/>
            </a:endParaRPr>
          </a:p>
          <a:p>
            <a:pPr eaLnBrk="1" hangingPunct="1">
              <a:lnSpc>
                <a:spcPct val="100000"/>
              </a:lnSpc>
              <a:spcBef>
                <a:spcPct val="0"/>
              </a:spcBef>
              <a:buFontTx/>
              <a:buNone/>
            </a:pPr>
            <a:endParaRPr lang="en-US" altLang="en-US" sz="1200" b="1" dirty="0">
              <a:latin typeface="Casper"/>
            </a:endParaRPr>
          </a:p>
        </p:txBody>
      </p:sp>
      <p:sp>
        <p:nvSpPr>
          <p:cNvPr id="52" name="Rectangle 51"/>
          <p:cNvSpPr/>
          <p:nvPr/>
        </p:nvSpPr>
        <p:spPr>
          <a:xfrm>
            <a:off x="5163741" y="4532710"/>
            <a:ext cx="34528" cy="27741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en-US" dirty="0"/>
          </a:p>
        </p:txBody>
      </p:sp>
      <p:sp>
        <p:nvSpPr>
          <p:cNvPr id="53" name="TextBox 52"/>
          <p:cNvSpPr txBox="1">
            <a:spLocks noChangeArrowheads="1"/>
          </p:cNvSpPr>
          <p:nvPr/>
        </p:nvSpPr>
        <p:spPr bwMode="auto">
          <a:xfrm>
            <a:off x="340519" y="4481513"/>
            <a:ext cx="4823222" cy="40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Aft>
                <a:spcPct val="35000"/>
              </a:spcAft>
              <a:defRPr/>
            </a:pPr>
            <a:r>
              <a:rPr lang="en-US" sz="2400" b="1" dirty="0" smtClean="0">
                <a:solidFill>
                  <a:prstClr val="black">
                    <a:lumMod val="85000"/>
                    <a:lumOff val="15000"/>
                  </a:prstClr>
                </a:solidFill>
                <a:latin typeface="Cambria" panose="02040503050406030204" pitchFamily="18" charset="0"/>
                <a:ea typeface="Cambria" panose="02040503050406030204" pitchFamily="18" charset="0"/>
                <a:cs typeface="Times New Roman" panose="02020603050405020304" pitchFamily="18" charset="0"/>
              </a:rPr>
              <a:t>TRANSACTIONS</a:t>
            </a:r>
          </a:p>
        </p:txBody>
      </p:sp>
      <p:sp>
        <p:nvSpPr>
          <p:cNvPr id="142352" name="TextBox 25"/>
          <p:cNvSpPr txBox="1">
            <a:spLocks noChangeArrowheads="1"/>
          </p:cNvSpPr>
          <p:nvPr/>
        </p:nvSpPr>
        <p:spPr bwMode="auto">
          <a:xfrm>
            <a:off x="372666" y="1096566"/>
            <a:ext cx="8328422"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1000"/>
              </a:spcBef>
              <a:buFont typeface="Arial" pitchFamily="34" charset="0"/>
              <a:buChar char="•"/>
              <a:defRPr sz="2800">
                <a:solidFill>
                  <a:schemeClr val="tx1"/>
                </a:solidFill>
                <a:latin typeface="Cambria" pitchFamily="18" charset="0"/>
              </a:defRPr>
            </a:lvl1pPr>
            <a:lvl2pPr marL="742950" indent="-285750">
              <a:lnSpc>
                <a:spcPct val="90000"/>
              </a:lnSpc>
              <a:spcBef>
                <a:spcPts val="500"/>
              </a:spcBef>
              <a:buFont typeface="Arial" pitchFamily="34" charset="0"/>
              <a:buChar char="•"/>
              <a:defRPr sz="2400">
                <a:solidFill>
                  <a:schemeClr val="tx1"/>
                </a:solidFill>
                <a:latin typeface="Cambria" pitchFamily="18" charset="0"/>
              </a:defRPr>
            </a:lvl2pPr>
            <a:lvl3pPr marL="1143000" indent="-228600">
              <a:lnSpc>
                <a:spcPct val="90000"/>
              </a:lnSpc>
              <a:spcBef>
                <a:spcPts val="500"/>
              </a:spcBef>
              <a:buFont typeface="Arial" pitchFamily="34" charset="0"/>
              <a:buChar char="•"/>
              <a:defRPr sz="2000">
                <a:solidFill>
                  <a:schemeClr val="tx1"/>
                </a:solidFill>
                <a:latin typeface="Cambria" pitchFamily="18" charset="0"/>
              </a:defRPr>
            </a:lvl3pPr>
            <a:lvl4pPr marL="1600200" indent="-228600">
              <a:lnSpc>
                <a:spcPct val="90000"/>
              </a:lnSpc>
              <a:spcBef>
                <a:spcPts val="500"/>
              </a:spcBef>
              <a:buFont typeface="Arial" pitchFamily="34" charset="0"/>
              <a:buChar char="•"/>
              <a:defRPr>
                <a:solidFill>
                  <a:schemeClr val="tx1"/>
                </a:solidFill>
                <a:latin typeface="Cambria" pitchFamily="18" charset="0"/>
              </a:defRPr>
            </a:lvl4pPr>
            <a:lvl5pPr marL="2057400" indent="-228600">
              <a:lnSpc>
                <a:spcPct val="90000"/>
              </a:lnSpc>
              <a:spcBef>
                <a:spcPts val="500"/>
              </a:spcBef>
              <a:buFont typeface="Arial" pitchFamily="34" charset="0"/>
              <a:buChar char="•"/>
              <a:defRPr>
                <a:solidFill>
                  <a:schemeClr val="tx1"/>
                </a:solidFill>
                <a:latin typeface="Cambria" pitchFamily="18" charset="0"/>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mbria" pitchFamily="18" charset="0"/>
              </a:defRPr>
            </a:lvl9pPr>
          </a:lstStyle>
          <a:p>
            <a:pPr algn="ctr">
              <a:lnSpc>
                <a:spcPct val="100000"/>
              </a:lnSpc>
              <a:spcBef>
                <a:spcPct val="0"/>
              </a:spcBef>
              <a:buFontTx/>
              <a:buNone/>
            </a:pPr>
            <a:r>
              <a:rPr lang="en-IN" altLang="en-US" sz="3600" b="1" dirty="0"/>
              <a:t>APEX INSTITUTE OF TECHNOLOGY</a:t>
            </a:r>
            <a:endParaRPr lang="en-US" altLang="en-US" sz="3600" dirty="0"/>
          </a:p>
          <a:p>
            <a:pPr algn="ctr">
              <a:lnSpc>
                <a:spcPct val="100000"/>
              </a:lnSpc>
              <a:spcBef>
                <a:spcPct val="0"/>
              </a:spcBef>
              <a:buFontTx/>
              <a:buNone/>
            </a:pPr>
            <a:r>
              <a:rPr lang="en-IN" altLang="en-US" sz="2400" b="1" dirty="0"/>
              <a:t>DEPARTMENT OF COMPUTER SCIENCE &amp; ENGINEERING</a:t>
            </a:r>
            <a:endParaRPr lang="en-US" altLang="en-US" sz="2400" b="1" dirty="0"/>
          </a:p>
          <a:p>
            <a:pPr algn="ctr">
              <a:spcBef>
                <a:spcPct val="0"/>
              </a:spcBef>
              <a:spcAft>
                <a:spcPct val="35000"/>
              </a:spcAft>
              <a:buFontTx/>
              <a:buNone/>
            </a:pPr>
            <a:endParaRPr lang="en-US" altLang="en-US" sz="2400" b="1" dirty="0">
              <a:ea typeface="Calibri" pitchFamily="34" charset="0"/>
              <a:cs typeface="Times New Roman" pitchFamily="18" charset="0"/>
            </a:endParaRPr>
          </a:p>
          <a:p>
            <a:pPr algn="ctr">
              <a:spcBef>
                <a:spcPct val="0"/>
              </a:spcBef>
              <a:spcAft>
                <a:spcPct val="35000"/>
              </a:spcAft>
              <a:buFontTx/>
              <a:buNone/>
            </a:pPr>
            <a:r>
              <a:rPr lang="en-US" altLang="en-US" sz="2400" dirty="0">
                <a:solidFill>
                  <a:srgbClr val="262626"/>
                </a:solidFill>
                <a:cs typeface="Times New Roman" pitchFamily="18" charset="0"/>
              </a:rPr>
              <a:t>Database Management System </a:t>
            </a:r>
            <a:r>
              <a:rPr lang="en-US" altLang="en-US" sz="2400" dirty="0" smtClean="0">
                <a:solidFill>
                  <a:srgbClr val="262626"/>
                </a:solidFill>
                <a:cs typeface="Times New Roman" pitchFamily="18" charset="0"/>
              </a:rPr>
              <a:t>(22CSH-243</a:t>
            </a:r>
            <a:r>
              <a:rPr lang="en-US" altLang="en-US" sz="2400" dirty="0" smtClean="0">
                <a:solidFill>
                  <a:srgbClr val="262626"/>
                </a:solidFill>
                <a:cs typeface="Times New Roman" pitchFamily="18" charset="0"/>
              </a:rPr>
              <a:t>)</a:t>
            </a:r>
            <a:endParaRPr lang="en-US" altLang="en-US" sz="2400" dirty="0">
              <a:solidFill>
                <a:srgbClr val="262626"/>
              </a:solidFill>
              <a:cs typeface="Times New Roman" pitchFamily="18" charset="0"/>
            </a:endParaRPr>
          </a:p>
          <a:p>
            <a:pPr algn="ctr" defTabSz="622300">
              <a:spcBef>
                <a:spcPct val="0"/>
              </a:spcBef>
              <a:spcAft>
                <a:spcPct val="35000"/>
              </a:spcAft>
            </a:pPr>
            <a:r>
              <a:rPr lang="en-US" altLang="en-US" sz="2400" b="1" dirty="0">
                <a:solidFill>
                  <a:srgbClr val="262626"/>
                </a:solidFill>
                <a:cs typeface="Times New Roman" pitchFamily="18" charset="0"/>
              </a:rPr>
              <a:t>Faculty:</a:t>
            </a:r>
            <a:r>
              <a:rPr lang="en-US" altLang="en-US" sz="2400" dirty="0">
                <a:solidFill>
                  <a:srgbClr val="262626"/>
                </a:solidFill>
                <a:cs typeface="Times New Roman" pitchFamily="18" charset="0"/>
              </a:rPr>
              <a:t> </a:t>
            </a:r>
            <a:r>
              <a:rPr lang="en-US" sz="2400" dirty="0">
                <a:solidFill>
                  <a:prstClr val="black">
                    <a:lumMod val="85000"/>
                    <a:lumOff val="15000"/>
                  </a:prstClr>
                </a:solidFill>
                <a:cs typeface="Times New Roman" panose="02020603050405020304" pitchFamily="18" charset="0"/>
              </a:rPr>
              <a:t>Ms. </a:t>
            </a:r>
            <a:r>
              <a:rPr lang="en-US" sz="2400" dirty="0" err="1">
                <a:solidFill>
                  <a:prstClr val="black">
                    <a:lumMod val="85000"/>
                    <a:lumOff val="15000"/>
                  </a:prstClr>
                </a:solidFill>
                <a:cs typeface="Times New Roman" panose="02020603050405020304" pitchFamily="18" charset="0"/>
              </a:rPr>
              <a:t>Shaveta</a:t>
            </a:r>
            <a:r>
              <a:rPr lang="en-US" sz="2400" dirty="0">
                <a:solidFill>
                  <a:prstClr val="black">
                    <a:lumMod val="85000"/>
                    <a:lumOff val="15000"/>
                  </a:prstClr>
                </a:solidFill>
                <a:cs typeface="Times New Roman" panose="02020603050405020304" pitchFamily="18" charset="0"/>
              </a:rPr>
              <a:t> Jain (13464)</a:t>
            </a:r>
          </a:p>
          <a:p>
            <a:pPr algn="ctr">
              <a:spcBef>
                <a:spcPct val="0"/>
              </a:spcBef>
              <a:spcAft>
                <a:spcPct val="35000"/>
              </a:spcAft>
              <a:buFontTx/>
              <a:buNone/>
            </a:pPr>
            <a:endParaRPr lang="en-US" altLang="en-US" sz="1200" dirty="0"/>
          </a:p>
        </p:txBody>
      </p:sp>
      <p:sp>
        <p:nvSpPr>
          <p:cNvPr id="15" name="Slide Number Placeholder 14"/>
          <p:cNvSpPr>
            <a:spLocks noGrp="1"/>
          </p:cNvSpPr>
          <p:nvPr>
            <p:ph type="sldNum" sz="quarter" idx="12"/>
          </p:nvPr>
        </p:nvSpPr>
        <p:spPr/>
        <p:txBody>
          <a:bodyPr/>
          <a:lstStyle/>
          <a:p>
            <a:pPr>
              <a:defRPr/>
            </a:pPr>
            <a:fld id="{FB68F729-0D61-4535-976E-E42E431D79D1}" type="slidenum">
              <a:rPr lang="en-US" smtClean="0"/>
              <a:pPr>
                <a:defRPr/>
              </a:pPr>
              <a:t>1</a:t>
            </a:fld>
            <a:endParaRPr lang="en-US" dirty="0"/>
          </a:p>
        </p:txBody>
      </p:sp>
    </p:spTree>
    <p:extLst>
      <p:ext uri="{BB962C8B-B14F-4D97-AF65-F5344CB8AC3E}">
        <p14:creationId xmlns:p14="http://schemas.microsoft.com/office/powerpoint/2010/main" val="37120785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058" y="0"/>
            <a:ext cx="7886700" cy="1014212"/>
          </a:xfrm>
        </p:spPr>
        <p:txBody>
          <a:bodyPr>
            <a:normAutofit/>
          </a:bodyPr>
          <a:lstStyle/>
          <a:p>
            <a:r>
              <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DBMS: Course Objectives</a:t>
            </a:r>
          </a:p>
        </p:txBody>
      </p:sp>
      <p:sp>
        <p:nvSpPr>
          <p:cNvPr id="9" name="Slide Number Placeholder 8"/>
          <p:cNvSpPr>
            <a:spLocks noGrp="1"/>
          </p:cNvSpPr>
          <p:nvPr>
            <p:ph type="sldNum" sz="quarter" idx="12"/>
          </p:nvPr>
        </p:nvSpPr>
        <p:spPr/>
        <p:txBody>
          <a:bodyPr/>
          <a:lstStyle/>
          <a:p>
            <a:fld id="{BDCDBBEF-AA6C-4BA6-85B2-A17D7F280E38}" type="slidenum">
              <a:rPr lang="en-US" smtClean="0"/>
              <a:pPr/>
              <a:t>2</a:t>
            </a:fld>
            <a:endParaRPr lang="en-US"/>
          </a:p>
        </p:txBody>
      </p:sp>
      <p:sp>
        <p:nvSpPr>
          <p:cNvPr id="4" name="Rectangle 3"/>
          <p:cNvSpPr/>
          <p:nvPr/>
        </p:nvSpPr>
        <p:spPr>
          <a:xfrm>
            <a:off x="550572" y="859665"/>
            <a:ext cx="8306873" cy="2700739"/>
          </a:xfrm>
          <a:prstGeom prst="rect">
            <a:avLst/>
          </a:prstGeom>
        </p:spPr>
        <p:txBody>
          <a:bodyPr wrap="square" lIns="68580" tIns="34290" rIns="68580" bIns="34290">
            <a:spAutoFit/>
          </a:bodyPr>
          <a:lstStyle/>
          <a:p>
            <a:pPr lvl="0" algn="just"/>
            <a:r>
              <a:rPr lang="en-US" b="1" dirty="0">
                <a:latin typeface="Times New Roman" panose="02020603050405020304" pitchFamily="18" charset="0"/>
                <a:cs typeface="Times New Roman" panose="02020603050405020304" pitchFamily="18" charset="0"/>
              </a:rPr>
              <a:t>COURSE OBJECTIVES</a:t>
            </a:r>
            <a:endParaRPr lang="en-US" b="1" i="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Course aims to:</a:t>
            </a:r>
            <a:endParaRPr lang="en-US" b="1" i="1"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Understand database system concepts and design databases for different applications and to acquire the knowledge on DBMS and RDBMS.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and understand different types of DDL, DML and DCL statements.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Understand transaction concepts related to databases and recovery/backup techniques required for the proper storage of data.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0028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532625" y="263602"/>
            <a:ext cx="8344139" cy="40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OUTCOMES</a:t>
            </a:r>
          </a:p>
        </p:txBody>
      </p:sp>
      <p:sp>
        <p:nvSpPr>
          <p:cNvPr id="13" name="Slide Number Placeholder 12"/>
          <p:cNvSpPr>
            <a:spLocks noGrp="1"/>
          </p:cNvSpPr>
          <p:nvPr>
            <p:ph type="sldNum" sz="quarter" idx="12"/>
          </p:nvPr>
        </p:nvSpPr>
        <p:spPr/>
        <p:txBody>
          <a:bodyPr/>
          <a:lstStyle/>
          <a:p>
            <a:fld id="{BDCDBBEF-AA6C-4BA6-85B2-A17D7F280E38}" type="slidenum">
              <a:rPr lang="en-US" smtClean="0"/>
              <a:pPr/>
              <a:t>3</a:t>
            </a:fld>
            <a:endParaRPr lang="en-US"/>
          </a:p>
        </p:txBody>
      </p:sp>
      <p:sp>
        <p:nvSpPr>
          <p:cNvPr id="10" name="Oval 9"/>
          <p:cNvSpPr/>
          <p:nvPr/>
        </p:nvSpPr>
        <p:spPr>
          <a:xfrm>
            <a:off x="8412957" y="4743451"/>
            <a:ext cx="333375" cy="31670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4" name="Rectangle 3"/>
          <p:cNvSpPr/>
          <p:nvPr/>
        </p:nvSpPr>
        <p:spPr>
          <a:xfrm>
            <a:off x="540373" y="878126"/>
            <a:ext cx="6660092" cy="392415"/>
          </a:xfrm>
          <a:prstGeom prst="rect">
            <a:avLst/>
          </a:prstGeom>
        </p:spPr>
        <p:txBody>
          <a:bodyPr wrap="none" lIns="68580" tIns="34290" rIns="68580" bIns="34290">
            <a:spAutoFit/>
          </a:bodyPr>
          <a:lstStyle/>
          <a:p>
            <a:r>
              <a:rPr lang="en-IN" sz="2100" dirty="0">
                <a:latin typeface="Times New Roman" panose="02020603050405020304" pitchFamily="18" charset="0"/>
                <a:cs typeface="Times New Roman" panose="02020603050405020304" pitchFamily="18" charset="0"/>
              </a:rPr>
              <a:t>On completion of this course, the students shall be able to:-</a:t>
            </a:r>
            <a:endParaRPr lang="en-US" sz="21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36696714"/>
              </p:ext>
            </p:extLst>
          </p:nvPr>
        </p:nvGraphicFramePr>
        <p:xfrm>
          <a:off x="627846" y="1448872"/>
          <a:ext cx="8118487" cy="401777"/>
        </p:xfrm>
        <a:graphic>
          <a:graphicData uri="http://schemas.openxmlformats.org/drawingml/2006/table">
            <a:tbl>
              <a:tblPr firstRow="1" firstCol="1" bandRow="1"/>
              <a:tblGrid>
                <a:gridCol w="705955"/>
                <a:gridCol w="7412532"/>
              </a:tblGrid>
              <a:tr h="401777">
                <a:tc>
                  <a:txBody>
                    <a:bodyPr/>
                    <a:lstStyle/>
                    <a:p>
                      <a:pPr marL="0" marR="53975" algn="l">
                        <a:spcBef>
                          <a:spcPts val="0"/>
                        </a:spcBef>
                        <a:spcAft>
                          <a:spcPts val="0"/>
                        </a:spcAft>
                      </a:pPr>
                      <a:r>
                        <a:rPr lang="en-IN" sz="1700" b="1" dirty="0">
                          <a:effectLst/>
                          <a:latin typeface="Times New Roman"/>
                          <a:ea typeface="Calibri"/>
                          <a:cs typeface="Arial"/>
                        </a:rPr>
                        <a:t>CO5</a:t>
                      </a:r>
                      <a:endParaRPr lang="en-US" sz="1700" dirty="0">
                        <a:effectLst/>
                        <a:latin typeface="Calibri"/>
                        <a:ea typeface="Calibri"/>
                        <a:cs typeface="Arial"/>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3975" algn="l">
                        <a:spcBef>
                          <a:spcPts val="0"/>
                        </a:spcBef>
                        <a:spcAft>
                          <a:spcPts val="0"/>
                        </a:spcAft>
                      </a:pPr>
                      <a:r>
                        <a:rPr lang="en-IN" sz="1700" dirty="0">
                          <a:solidFill>
                            <a:srgbClr val="000000"/>
                          </a:solidFill>
                          <a:effectLst/>
                          <a:latin typeface="Times New Roman"/>
                          <a:ea typeface="Times New Roman"/>
                          <a:cs typeface="Arial"/>
                        </a:rPr>
                        <a:t>Understand the concept of transaction processing and concurrency  control</a:t>
                      </a:r>
                      <a:endParaRPr lang="en-US" sz="1700" dirty="0">
                        <a:effectLst/>
                        <a:latin typeface="Calibri"/>
                        <a:ea typeface="Calibri"/>
                        <a:cs typeface="Arial"/>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0018139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95350"/>
            <a:ext cx="8382000" cy="4038600"/>
          </a:xfrm>
        </p:spPr>
        <p:txBody>
          <a:bodyPr>
            <a:noAutofit/>
          </a:bodyPr>
          <a:lstStyle/>
          <a:p>
            <a:pPr marL="628604" indent="-457166">
              <a:buAutoNum type="arabicPeriod"/>
            </a:pPr>
            <a:r>
              <a:rPr lang="en-US" sz="2400" dirty="0" smtClean="0">
                <a:latin typeface="Times New Roman" pitchFamily="18" charset="0"/>
                <a:cs typeface="Times New Roman" pitchFamily="18" charset="0"/>
              </a:rPr>
              <a:t>Introduction </a:t>
            </a:r>
            <a:r>
              <a:rPr lang="en-US" sz="2400" dirty="0">
                <a:latin typeface="Times New Roman" pitchFamily="18" charset="0"/>
                <a:cs typeface="Times New Roman" pitchFamily="18" charset="0"/>
              </a:rPr>
              <a:t>to Transaction Processing </a:t>
            </a:r>
          </a:p>
          <a:p>
            <a:pPr marL="628604" indent="-457166">
              <a:buAutoNum type="arabicPeriod"/>
            </a:pPr>
            <a:r>
              <a:rPr lang="en-US" sz="2400" dirty="0">
                <a:latin typeface="Times New Roman" pitchFamily="18" charset="0"/>
                <a:cs typeface="Times New Roman" pitchFamily="18" charset="0"/>
              </a:rPr>
              <a:t>Properties of Transactions </a:t>
            </a:r>
          </a:p>
          <a:p>
            <a:pPr marL="628604" indent="-457166">
              <a:buAutoNum type="arabicPeriod"/>
            </a:pPr>
            <a:r>
              <a:rPr lang="en-US" sz="2400" dirty="0" err="1">
                <a:latin typeface="Times New Roman" pitchFamily="18" charset="0"/>
                <a:cs typeface="Times New Roman" pitchFamily="18" charset="0"/>
              </a:rPr>
              <a:t>Serializability</a:t>
            </a:r>
            <a:r>
              <a:rPr lang="en-US" sz="2400" dirty="0">
                <a:latin typeface="Times New Roman" pitchFamily="18" charset="0"/>
                <a:cs typeface="Times New Roman" pitchFamily="18" charset="0"/>
              </a:rPr>
              <a:t> and Recoverability  </a:t>
            </a:r>
          </a:p>
          <a:p>
            <a:pPr marL="628604" indent="-457166">
              <a:buAutoNum type="arabicPeriod"/>
            </a:pPr>
            <a:r>
              <a:rPr lang="en-US" sz="2400" dirty="0">
                <a:latin typeface="Times New Roman" pitchFamily="18" charset="0"/>
                <a:cs typeface="Times New Roman" pitchFamily="18" charset="0"/>
              </a:rPr>
              <a:t>Need for Concurrency Control  </a:t>
            </a:r>
          </a:p>
          <a:p>
            <a:pPr marL="628604" indent="-457166">
              <a:buAutoNum type="arabicPeriod"/>
            </a:pPr>
            <a:r>
              <a:rPr lang="en-US" sz="2400" dirty="0">
                <a:latin typeface="Times New Roman" pitchFamily="18" charset="0"/>
                <a:cs typeface="Times New Roman" pitchFamily="18" charset="0"/>
              </a:rPr>
              <a:t>Locking Techniques  </a:t>
            </a:r>
          </a:p>
          <a:p>
            <a:pPr marL="628604" indent="-457166">
              <a:buAutoNum type="arabicPeriod"/>
            </a:pPr>
            <a:r>
              <a:rPr lang="en-US" sz="2400" dirty="0">
                <a:latin typeface="Times New Roman" pitchFamily="18" charset="0"/>
                <a:cs typeface="Times New Roman" pitchFamily="18" charset="0"/>
              </a:rPr>
              <a:t>Time Stamping Methods </a:t>
            </a:r>
          </a:p>
          <a:p>
            <a:pPr marL="628604" indent="-457166">
              <a:buAutoNum type="arabicPeriod"/>
            </a:pPr>
            <a:r>
              <a:rPr lang="en-US" sz="2400" dirty="0">
                <a:latin typeface="Times New Roman" pitchFamily="18" charset="0"/>
                <a:cs typeface="Times New Roman" pitchFamily="18" charset="0"/>
              </a:rPr>
              <a:t>Optimistic Techniques and Granularity of Data items</a:t>
            </a:r>
            <a:endParaRPr lang="en-US" sz="2400" b="1"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552450" y="7144"/>
            <a:ext cx="7886700" cy="994172"/>
          </a:xfrm>
        </p:spPr>
        <p:txBody>
          <a:bodyPr/>
          <a:lstStyle/>
          <a:p>
            <a:r>
              <a:rPr lang="en-US" sz="2800" dirty="0" smtClean="0">
                <a:latin typeface="Times New Roman" panose="02020603050405020304" pitchFamily="18" charset="0"/>
                <a:cs typeface="Times New Roman" panose="02020603050405020304" pitchFamily="18" charset="0"/>
              </a:rPr>
              <a:t>Table of Content</a:t>
            </a:r>
            <a:endParaRPr lang="en-IN" dirty="0"/>
          </a:p>
        </p:txBody>
      </p:sp>
    </p:spTree>
    <p:extLst>
      <p:ext uri="{BB962C8B-B14F-4D97-AF65-F5344CB8AC3E}">
        <p14:creationId xmlns:p14="http://schemas.microsoft.com/office/powerpoint/2010/main" val="35278177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smtClean="0">
                <a:latin typeface="Times New Roman" panose="02020603050405020304" pitchFamily="18" charset="0"/>
                <a:cs typeface="Times New Roman" panose="02020603050405020304" pitchFamily="18" charset="0"/>
              </a:rPr>
              <a:t>Transaction</a:t>
            </a:r>
            <a:endParaRPr lang="en-IN" dirty="0"/>
          </a:p>
        </p:txBody>
      </p:sp>
      <p:sp>
        <p:nvSpPr>
          <p:cNvPr id="3" name="Content Placeholder 2"/>
          <p:cNvSpPr>
            <a:spLocks noGrp="1"/>
          </p:cNvSpPr>
          <p:nvPr>
            <p:ph idx="1"/>
          </p:nvPr>
        </p:nvSpPr>
        <p:spPr>
          <a:xfrm>
            <a:off x="533400" y="902494"/>
            <a:ext cx="8458200" cy="3955256"/>
          </a:xfrm>
        </p:spPr>
        <p:txBody>
          <a:bodyPr>
            <a:noAutofit/>
          </a:bodyPr>
          <a:lstStyle/>
          <a:p>
            <a:pPr marL="514338" indent="-342900" algn="just"/>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transaction is an event which occurs on the database. </a:t>
            </a:r>
            <a:endParaRPr lang="en-US" sz="2400" dirty="0" smtClean="0">
              <a:latin typeface="Times New Roman" panose="02020603050405020304" pitchFamily="18" charset="0"/>
              <a:cs typeface="Times New Roman" panose="02020603050405020304" pitchFamily="18" charset="0"/>
            </a:endParaRPr>
          </a:p>
          <a:p>
            <a:pPr marL="514338" indent="-342900" algn="just"/>
            <a:r>
              <a:rPr lang="en-US" sz="2400" dirty="0" smtClean="0">
                <a:latin typeface="Times New Roman" panose="02020603050405020304" pitchFamily="18" charset="0"/>
                <a:cs typeface="Times New Roman" panose="02020603050405020304" pitchFamily="18" charset="0"/>
              </a:rPr>
              <a:t>Generally </a:t>
            </a:r>
            <a:r>
              <a:rPr lang="en-US" sz="2400" dirty="0">
                <a:latin typeface="Times New Roman" panose="02020603050405020304" pitchFamily="18" charset="0"/>
                <a:cs typeface="Times New Roman" panose="02020603050405020304" pitchFamily="18" charset="0"/>
              </a:rPr>
              <a:t>a transaction reads a value from the database or writes a value to the database.</a:t>
            </a:r>
          </a:p>
          <a:p>
            <a:pPr marL="171438" indent="0" algn="just">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9081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02494"/>
            <a:ext cx="8229600" cy="3955256"/>
          </a:xfrm>
        </p:spPr>
        <p:txBody>
          <a:bodyPr>
            <a:noAutofit/>
          </a:bodyPr>
          <a:lstStyle/>
          <a:p>
            <a:pPr algn="just"/>
            <a:r>
              <a:rPr lang="en-US" sz="2000" dirty="0" smtClean="0">
                <a:latin typeface="Times New Roman" pitchFamily="18" charset="0"/>
                <a:cs typeface="Times New Roman" pitchFamily="18" charset="0"/>
              </a:rPr>
              <a:t>Every </a:t>
            </a:r>
            <a:r>
              <a:rPr lang="en-US" sz="2000" dirty="0">
                <a:latin typeface="Times New Roman" pitchFamily="18" charset="0"/>
                <a:cs typeface="Times New Roman" pitchFamily="18" charset="0"/>
              </a:rPr>
              <a:t>transaction, for whatever purpose it is being used, has the following four properties.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Taking </a:t>
            </a:r>
            <a:r>
              <a:rPr lang="en-US" sz="2000" dirty="0">
                <a:latin typeface="Times New Roman" pitchFamily="18" charset="0"/>
                <a:cs typeface="Times New Roman" pitchFamily="18" charset="0"/>
              </a:rPr>
              <a:t>the initial letters of these four properties we collectively call them the </a:t>
            </a:r>
            <a:r>
              <a:rPr lang="en-US" sz="2000" b="1" dirty="0">
                <a:latin typeface="Times New Roman" pitchFamily="18" charset="0"/>
                <a:cs typeface="Times New Roman" pitchFamily="18" charset="0"/>
              </a:rPr>
              <a:t>ACID Properties</a:t>
            </a:r>
            <a:r>
              <a:rPr lang="en-US" sz="2000" dirty="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Here </a:t>
            </a:r>
            <a:r>
              <a:rPr lang="en-US" sz="2000" dirty="0">
                <a:latin typeface="Times New Roman" pitchFamily="18" charset="0"/>
                <a:cs typeface="Times New Roman" pitchFamily="18" charset="0"/>
              </a:rPr>
              <a:t>we try to describe them and explain them.</a:t>
            </a:r>
          </a:p>
          <a:p>
            <a:pPr marL="800100" lvl="1" indent="-457200" algn="just">
              <a:buFont typeface="+mj-lt"/>
              <a:buAutoNum type="arabicPeriod"/>
            </a:pPr>
            <a:r>
              <a:rPr lang="en-US" b="1" dirty="0"/>
              <a:t>Atomicity</a:t>
            </a:r>
          </a:p>
          <a:p>
            <a:pPr marL="800100" lvl="1" indent="-457200" algn="just">
              <a:buFont typeface="+mj-lt"/>
              <a:buAutoNum type="arabicPeriod"/>
            </a:pPr>
            <a:r>
              <a:rPr lang="en-US" b="1" dirty="0"/>
              <a:t>Consistency</a:t>
            </a:r>
          </a:p>
          <a:p>
            <a:pPr marL="800100" lvl="1" indent="-457200" algn="just">
              <a:buFont typeface="+mj-lt"/>
              <a:buAutoNum type="arabicPeriod"/>
            </a:pPr>
            <a:r>
              <a:rPr lang="en-US" b="1" dirty="0"/>
              <a:t>Isolation</a:t>
            </a:r>
          </a:p>
          <a:p>
            <a:pPr marL="800100" lvl="1" indent="-457200" algn="just">
              <a:buFont typeface="+mj-lt"/>
              <a:buAutoNum type="arabicPeriod"/>
            </a:pPr>
            <a:r>
              <a:rPr lang="en-US" b="1" dirty="0"/>
              <a:t>Durability</a:t>
            </a:r>
            <a:endParaRPr lang="en-US" dirty="0">
              <a:latin typeface="Times New Roman" pitchFamily="18" charset="0"/>
              <a:cs typeface="Times New Roman" pitchFamily="18" charset="0"/>
            </a:endParaRPr>
          </a:p>
          <a:p>
            <a:pPr marL="171438" indent="0">
              <a:buNone/>
            </a:pPr>
            <a:endParaRPr lang="en-US" sz="2400" b="1" dirty="0">
              <a:latin typeface="Times New Roman" panose="02020603050405020304" pitchFamily="18" charset="0"/>
              <a:cs typeface="Times New Roman" panose="02020603050405020304" pitchFamily="18" charset="0"/>
            </a:endParaRPr>
          </a:p>
        </p:txBody>
      </p:sp>
      <p:sp>
        <p:nvSpPr>
          <p:cNvPr id="4" name="Title 3"/>
          <p:cNvSpPr>
            <a:spLocks noGrp="1"/>
          </p:cNvSpPr>
          <p:nvPr>
            <p:ph type="title"/>
          </p:nvPr>
        </p:nvSpPr>
        <p:spPr>
          <a:xfrm>
            <a:off x="552450" y="-19050"/>
            <a:ext cx="7886700" cy="994172"/>
          </a:xfrm>
        </p:spPr>
        <p:txBody>
          <a:bodyPr/>
          <a:lstStyle/>
          <a:p>
            <a:r>
              <a:rPr lang="en-US" sz="2800" dirty="0">
                <a:latin typeface="Times New Roman" panose="02020603050405020304" pitchFamily="18" charset="0"/>
                <a:cs typeface="Times New Roman" panose="02020603050405020304" pitchFamily="18" charset="0"/>
              </a:rPr>
              <a:t>ACID Properties</a:t>
            </a:r>
            <a:r>
              <a:rPr lang="en-US" sz="2800" dirty="0" smtClean="0">
                <a:latin typeface="Times New Roman" panose="02020603050405020304" pitchFamily="18" charset="0"/>
                <a:cs typeface="Times New Roman" panose="02020603050405020304" pitchFamily="18" charset="0"/>
              </a:rPr>
              <a:t>:</a:t>
            </a:r>
            <a:endParaRPr lang="en-IN" dirty="0"/>
          </a:p>
        </p:txBody>
      </p:sp>
    </p:spTree>
    <p:extLst>
      <p:ext uri="{BB962C8B-B14F-4D97-AF65-F5344CB8AC3E}">
        <p14:creationId xmlns:p14="http://schemas.microsoft.com/office/powerpoint/2010/main" val="72573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ACID Properties</a:t>
            </a:r>
            <a:r>
              <a:rPr lang="en-US" sz="2800" dirty="0" smtClean="0">
                <a:latin typeface="Times New Roman" panose="02020603050405020304" pitchFamily="18" charset="0"/>
                <a:cs typeface="Times New Roman" panose="02020603050405020304" pitchFamily="18" charset="0"/>
              </a:rPr>
              <a:t>:</a:t>
            </a:r>
            <a:endParaRPr lang="en-IN" dirty="0"/>
          </a:p>
        </p:txBody>
      </p:sp>
      <p:sp>
        <p:nvSpPr>
          <p:cNvPr id="3" name="Content Placeholder 2"/>
          <p:cNvSpPr>
            <a:spLocks noGrp="1"/>
          </p:cNvSpPr>
          <p:nvPr>
            <p:ph idx="1"/>
          </p:nvPr>
        </p:nvSpPr>
        <p:spPr>
          <a:xfrm>
            <a:off x="533400" y="902494"/>
            <a:ext cx="8229600" cy="3955256"/>
          </a:xfrm>
        </p:spPr>
        <p:txBody>
          <a:bodyPr>
            <a:noAutofit/>
          </a:bodyPr>
          <a:lstStyle/>
          <a:p>
            <a:pPr marL="0" indent="0" algn="just">
              <a:buNone/>
            </a:pPr>
            <a:r>
              <a:rPr lang="en-US" sz="2000" b="1" u="sng" dirty="0" smtClean="0">
                <a:latin typeface="Times New Roman" pitchFamily="18" charset="0"/>
                <a:cs typeface="Times New Roman" pitchFamily="18" charset="0"/>
              </a:rPr>
              <a:t>1. ATOMICIY</a:t>
            </a:r>
          </a:p>
          <a:p>
            <a:pPr algn="just"/>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means that either all of the instructions within the transaction will be reflected in the database, or none of them will be reflected.</a:t>
            </a:r>
          </a:p>
          <a:p>
            <a:pPr algn="just"/>
            <a:r>
              <a:rPr lang="en-US" sz="2000" b="1" dirty="0">
                <a:latin typeface="Times New Roman" pitchFamily="18" charset="0"/>
                <a:cs typeface="Times New Roman" pitchFamily="18" charset="0"/>
              </a:rPr>
              <a:t>Say for example</a:t>
            </a:r>
            <a:r>
              <a:rPr lang="en-US" sz="2000" dirty="0">
                <a:latin typeface="Times New Roman" pitchFamily="18" charset="0"/>
                <a:cs typeface="Times New Roman" pitchFamily="18" charset="0"/>
              </a:rPr>
              <a:t>, we have two accounts A and B, each containing </a:t>
            </a:r>
            <a:r>
              <a:rPr lang="en-US" sz="2000" dirty="0" err="1">
                <a:latin typeface="Times New Roman" pitchFamily="18" charset="0"/>
                <a:cs typeface="Times New Roman" pitchFamily="18" charset="0"/>
              </a:rPr>
              <a:t>Rs</a:t>
            </a:r>
            <a:r>
              <a:rPr lang="en-US" sz="2000" dirty="0">
                <a:latin typeface="Times New Roman" pitchFamily="18" charset="0"/>
                <a:cs typeface="Times New Roman" pitchFamily="18" charset="0"/>
              </a:rPr>
              <a:t> 1000/-. We now start a transaction to deposit </a:t>
            </a:r>
            <a:r>
              <a:rPr lang="en-US" sz="2000" dirty="0" err="1">
                <a:latin typeface="Times New Roman" pitchFamily="18" charset="0"/>
                <a:cs typeface="Times New Roman" pitchFamily="18" charset="0"/>
              </a:rPr>
              <a:t>Rs</a:t>
            </a:r>
            <a:r>
              <a:rPr lang="en-US" sz="2000" dirty="0">
                <a:latin typeface="Times New Roman" pitchFamily="18" charset="0"/>
                <a:cs typeface="Times New Roman" pitchFamily="18" charset="0"/>
              </a:rPr>
              <a:t> 100/- from account A to Account B.</a:t>
            </a:r>
          </a:p>
          <a:p>
            <a:pPr>
              <a:buNone/>
            </a:pP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Read A;</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A </a:t>
            </a:r>
            <a:r>
              <a:rPr lang="en-US" sz="2000" dirty="0">
                <a:latin typeface="Times New Roman" pitchFamily="18" charset="0"/>
                <a:cs typeface="Times New Roman" pitchFamily="18" charset="0"/>
              </a:rPr>
              <a:t>= A – 100;</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Write </a:t>
            </a:r>
            <a:r>
              <a:rPr lang="en-US" sz="2000" dirty="0">
                <a:latin typeface="Times New Roman" pitchFamily="18" charset="0"/>
                <a:cs typeface="Times New Roman" pitchFamily="18" charset="0"/>
              </a:rPr>
              <a:t>A;</a:t>
            </a:r>
            <a:br>
              <a:rPr lang="en-US" sz="2000" dirty="0">
                <a:latin typeface="Times New Roman" pitchFamily="18" charset="0"/>
                <a:cs typeface="Times New Roman" pitchFamily="18" charset="0"/>
              </a:rPr>
            </a:br>
            <a:r>
              <a:rPr lang="en-US" sz="2000" b="1" dirty="0">
                <a:latin typeface="Times New Roman" pitchFamily="18" charset="0"/>
                <a:cs typeface="Times New Roman" pitchFamily="18" charset="0"/>
              </a:rPr>
              <a:t>Read B;</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B </a:t>
            </a:r>
            <a:r>
              <a:rPr lang="en-US" sz="2000" dirty="0">
                <a:latin typeface="Times New Roman" pitchFamily="18" charset="0"/>
                <a:cs typeface="Times New Roman" pitchFamily="18" charset="0"/>
              </a:rPr>
              <a:t>= B + 100;</a:t>
            </a:r>
            <a:br>
              <a:rPr lang="en-US" sz="2000" dirty="0">
                <a:latin typeface="Times New Roman" pitchFamily="18" charset="0"/>
                <a:cs typeface="Times New Roman" pitchFamily="18" charset="0"/>
              </a:rPr>
            </a:br>
            <a:r>
              <a:rPr lang="en-US" sz="2000" dirty="0" smtClean="0">
                <a:latin typeface="Times New Roman" pitchFamily="18" charset="0"/>
                <a:cs typeface="Times New Roman" pitchFamily="18" charset="0"/>
              </a:rPr>
              <a:t>   Write </a:t>
            </a:r>
            <a:r>
              <a:rPr lang="en-US" sz="2000" dirty="0">
                <a:latin typeface="Times New Roman" pitchFamily="18" charset="0"/>
                <a:cs typeface="Times New Roman" pitchFamily="18" charset="0"/>
              </a:rPr>
              <a:t>B;</a:t>
            </a:r>
          </a:p>
          <a:p>
            <a:pPr marL="171438" indent="0">
              <a:buNone/>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12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ACID Properties</a:t>
            </a:r>
            <a:r>
              <a:rPr lang="en-US" sz="2800" dirty="0" smtClean="0">
                <a:latin typeface="Times New Roman" panose="02020603050405020304" pitchFamily="18" charset="0"/>
                <a:cs typeface="Times New Roman" panose="02020603050405020304" pitchFamily="18" charset="0"/>
              </a:rPr>
              <a:t>:</a:t>
            </a:r>
            <a:endParaRPr lang="en-IN" dirty="0"/>
          </a:p>
        </p:txBody>
      </p:sp>
      <p:sp>
        <p:nvSpPr>
          <p:cNvPr id="3" name="Content Placeholder 2"/>
          <p:cNvSpPr>
            <a:spLocks noGrp="1"/>
          </p:cNvSpPr>
          <p:nvPr>
            <p:ph idx="1"/>
          </p:nvPr>
        </p:nvSpPr>
        <p:spPr>
          <a:xfrm>
            <a:off x="533400" y="902494"/>
            <a:ext cx="8458200" cy="3955256"/>
          </a:xfrm>
        </p:spPr>
        <p:txBody>
          <a:bodyPr>
            <a:noAutofit/>
          </a:bodyPr>
          <a:lstStyle/>
          <a:p>
            <a:pPr marL="0" indent="0">
              <a:buNone/>
            </a:pPr>
            <a:r>
              <a:rPr lang="en-US" sz="2400" b="1" i="1" u="sng" dirty="0" smtClean="0">
                <a:latin typeface="Times New Roman" pitchFamily="18" charset="0"/>
                <a:cs typeface="Times New Roman" pitchFamily="18" charset="0"/>
              </a:rPr>
              <a:t>Consistent</a:t>
            </a:r>
            <a:r>
              <a:rPr lang="en-US" sz="2400" b="1" dirty="0" smtClean="0">
                <a:solidFill>
                  <a:srgbClr val="FF0000"/>
                </a:solidFill>
                <a:latin typeface="Times New Roman" pitchFamily="18" charset="0"/>
                <a:cs typeface="Times New Roman" pitchFamily="18" charset="0"/>
              </a:rPr>
              <a:t> </a:t>
            </a:r>
            <a:endParaRPr lang="en-US" sz="2400" b="1" dirty="0">
              <a:solidFill>
                <a:srgbClr val="FF0000"/>
              </a:solidFill>
              <a:latin typeface="Times New Roman" pitchFamily="18" charset="0"/>
              <a:cs typeface="Times New Roman" pitchFamily="18" charset="0"/>
            </a:endParaRPr>
          </a:p>
          <a:p>
            <a:pPr algn="just">
              <a:buFont typeface="Wingdings" pitchFamily="2" charset="2"/>
              <a:buNone/>
            </a:pPr>
            <a:r>
              <a:rPr lang="en-US" sz="2400" dirty="0">
                <a:latin typeface="Times New Roman" pitchFamily="18" charset="0"/>
                <a:cs typeface="Times New Roman" pitchFamily="18" charset="0"/>
              </a:rPr>
              <a:t>	Each user is responsible to ensure that their transaction (if executed by itself) would leave the database in a consistent state</a:t>
            </a:r>
          </a:p>
          <a:p>
            <a:pPr algn="just">
              <a:buFont typeface="Wingdings" pitchFamily="2" charset="2"/>
              <a:buNone/>
            </a:pPr>
            <a:endParaRPr lang="en-US" sz="2400" dirty="0">
              <a:latin typeface="Times New Roman" pitchFamily="18" charset="0"/>
              <a:cs typeface="Times New Roman" pitchFamily="18" charset="0"/>
            </a:endParaRPr>
          </a:p>
          <a:p>
            <a:pPr algn="just">
              <a:buFont typeface="Wingdings" pitchFamily="2" charset="2"/>
              <a:buNone/>
            </a:pPr>
            <a:r>
              <a:rPr lang="en-US" sz="2400" b="1" u="sng" dirty="0" smtClean="0">
                <a:latin typeface="Times New Roman" pitchFamily="18" charset="0"/>
                <a:cs typeface="Times New Roman" pitchFamily="18" charset="0"/>
              </a:rPr>
              <a:t>2. CONSISTENCY:</a:t>
            </a:r>
            <a:r>
              <a:rPr lang="en-US" sz="2400" dirty="0" smtClean="0">
                <a:latin typeface="Times New Roman" pitchFamily="18" charset="0"/>
                <a:cs typeface="Times New Roman" pitchFamily="18" charset="0"/>
              </a:rPr>
              <a:t> If </a:t>
            </a:r>
            <a:r>
              <a:rPr lang="en-US" sz="2400" dirty="0">
                <a:latin typeface="Times New Roman" pitchFamily="18" charset="0"/>
                <a:cs typeface="Times New Roman" pitchFamily="18" charset="0"/>
              </a:rPr>
              <a:t>we execute a particular transaction in isolation or together with other transaction, (i.e. presumably in a multi-programming environment), the transaction will yield the same expected result</a:t>
            </a:r>
          </a:p>
          <a:p>
            <a:pPr marL="171438"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830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ACID Properties</a:t>
            </a:r>
            <a:r>
              <a:rPr lang="en-US" sz="2800" dirty="0" smtClean="0">
                <a:latin typeface="Times New Roman" panose="02020603050405020304" pitchFamily="18" charset="0"/>
                <a:cs typeface="Times New Roman" panose="02020603050405020304" pitchFamily="18" charset="0"/>
              </a:rPr>
              <a:t>:</a:t>
            </a:r>
            <a:endParaRPr lang="en-IN" dirty="0"/>
          </a:p>
        </p:txBody>
      </p:sp>
      <p:sp>
        <p:nvSpPr>
          <p:cNvPr id="3" name="Content Placeholder 2"/>
          <p:cNvSpPr>
            <a:spLocks noGrp="1"/>
          </p:cNvSpPr>
          <p:nvPr>
            <p:ph idx="1"/>
          </p:nvPr>
        </p:nvSpPr>
        <p:spPr>
          <a:xfrm>
            <a:off x="533400" y="902494"/>
            <a:ext cx="8229600" cy="3955256"/>
          </a:xfrm>
        </p:spPr>
        <p:txBody>
          <a:bodyPr>
            <a:noAutofit/>
          </a:bodyPr>
          <a:lstStyle/>
          <a:p>
            <a:pPr marL="0" indent="0">
              <a:buNone/>
            </a:pPr>
            <a:r>
              <a:rPr lang="en-US" sz="2400" b="1" u="sng" dirty="0" smtClean="0">
                <a:latin typeface="Times New Roman" pitchFamily="18" charset="0"/>
                <a:cs typeface="Times New Roman" pitchFamily="18" charset="0"/>
              </a:rPr>
              <a:t>3. ISOLATION</a:t>
            </a:r>
          </a:p>
          <a:p>
            <a:pPr algn="just">
              <a:lnSpc>
                <a:spcPct val="90000"/>
              </a:lnSpc>
              <a:buFont typeface="Wingdings" pitchFamily="2" charset="2"/>
              <a:buNone/>
            </a:pPr>
            <a:r>
              <a:rPr lang="en-US" sz="2400" dirty="0">
                <a:latin typeface="Times New Roman" pitchFamily="18" charset="0"/>
                <a:cs typeface="Times New Roman" pitchFamily="18" charset="0"/>
              </a:rPr>
              <a:t>	The final effects of multiple simultaneous transactions must be the same as if they were executed one right after the other</a:t>
            </a:r>
          </a:p>
          <a:p>
            <a:pPr marL="0" indent="0">
              <a:buNone/>
            </a:pPr>
            <a:endParaRPr lang="en-US" sz="2400" b="1" i="1" u="sng" dirty="0" smtClean="0">
              <a:latin typeface="Times New Roman" pitchFamily="18" charset="0"/>
              <a:cs typeface="Times New Roman" pitchFamily="18" charset="0"/>
            </a:endParaRPr>
          </a:p>
          <a:p>
            <a:pPr marL="0" indent="0">
              <a:buNone/>
            </a:pPr>
            <a:r>
              <a:rPr lang="en-US" sz="2400" b="1" u="sng" dirty="0" smtClean="0">
                <a:latin typeface="Times New Roman" pitchFamily="18" charset="0"/>
                <a:cs typeface="Times New Roman" pitchFamily="18" charset="0"/>
              </a:rPr>
              <a:t>4. DURABILITY</a:t>
            </a:r>
          </a:p>
          <a:p>
            <a:pPr algn="just">
              <a:lnSpc>
                <a:spcPct val="90000"/>
              </a:lnSpc>
              <a:buFont typeface="Wingdings" pitchFamily="2" charset="2"/>
              <a:buNone/>
            </a:pPr>
            <a:r>
              <a:rPr lang="en-US" sz="2400" dirty="0">
                <a:latin typeface="Times New Roman" pitchFamily="18" charset="0"/>
                <a:cs typeface="Times New Roman" pitchFamily="18" charset="0"/>
              </a:rPr>
              <a:t>	If a transaction has been committed, the DBMS must ensure that its effects are permanently recorded in the database (even if the system crashes)</a:t>
            </a:r>
          </a:p>
          <a:p>
            <a:pPr marL="171438"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10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Transaction States</a:t>
            </a:r>
            <a:r>
              <a:rPr lang="en-US" sz="2800" dirty="0" smtClean="0">
                <a:latin typeface="Times New Roman" panose="02020603050405020304" pitchFamily="18" charset="0"/>
                <a:cs typeface="Times New Roman" panose="02020603050405020304" pitchFamily="18" charset="0"/>
              </a:rPr>
              <a:t>:</a:t>
            </a:r>
            <a:endParaRPr lang="en-IN" dirty="0"/>
          </a:p>
        </p:txBody>
      </p:sp>
      <p:sp>
        <p:nvSpPr>
          <p:cNvPr id="3" name="Content Placeholder 2"/>
          <p:cNvSpPr>
            <a:spLocks noGrp="1"/>
          </p:cNvSpPr>
          <p:nvPr>
            <p:ph idx="1"/>
          </p:nvPr>
        </p:nvSpPr>
        <p:spPr>
          <a:xfrm>
            <a:off x="533400" y="854923"/>
            <a:ext cx="8305800" cy="4155227"/>
          </a:xfrm>
        </p:spPr>
        <p:txBody>
          <a:bodyPr>
            <a:noAutofit/>
          </a:bodyPr>
          <a:lstStyle/>
          <a:p>
            <a:pPr algn="just">
              <a:buNone/>
            </a:pPr>
            <a:r>
              <a:rPr lang="en-US" sz="2400" dirty="0" smtClean="0">
                <a:latin typeface="Times New Roman" pitchFamily="18" charset="0"/>
                <a:cs typeface="Times New Roman" pitchFamily="18" charset="0"/>
              </a:rPr>
              <a:t>There </a:t>
            </a:r>
            <a:r>
              <a:rPr lang="en-US" sz="2400" dirty="0">
                <a:latin typeface="Times New Roman" pitchFamily="18" charset="0"/>
                <a:cs typeface="Times New Roman" pitchFamily="18" charset="0"/>
              </a:rPr>
              <a:t>are the following six states in which a transaction may </a:t>
            </a:r>
            <a:r>
              <a:rPr lang="en-US" sz="2400" dirty="0" smtClean="0">
                <a:latin typeface="Times New Roman" pitchFamily="18" charset="0"/>
                <a:cs typeface="Times New Roman" pitchFamily="18" charset="0"/>
              </a:rPr>
              <a:t>exist:</a:t>
            </a:r>
          </a:p>
          <a:p>
            <a:pPr algn="just"/>
            <a:r>
              <a:rPr lang="en-US" sz="2400" b="1" dirty="0" smtClean="0">
                <a:solidFill>
                  <a:srgbClr val="FF0000"/>
                </a:solidFill>
                <a:latin typeface="Times New Roman" pitchFamily="18" charset="0"/>
                <a:cs typeface="Times New Roman" pitchFamily="18" charset="0"/>
              </a:rPr>
              <a:t>Active</a:t>
            </a:r>
            <a:r>
              <a:rPr lang="en-US" sz="2400" b="1" dirty="0">
                <a:solidFill>
                  <a:srgbClr val="FF0000"/>
                </a:solidFill>
                <a:latin typeface="Times New Roman" pitchFamily="18" charset="0"/>
                <a:cs typeface="Times New Roman" pitchFamily="18" charset="0"/>
              </a:rPr>
              <a:t>:</a:t>
            </a:r>
            <a:r>
              <a:rPr lang="en-US" sz="2400" dirty="0">
                <a:latin typeface="Times New Roman" pitchFamily="18" charset="0"/>
                <a:cs typeface="Times New Roman" pitchFamily="18" charset="0"/>
              </a:rPr>
              <a:t> The initial state when the transaction has just started execution.</a:t>
            </a:r>
          </a:p>
          <a:p>
            <a:pPr algn="just"/>
            <a:r>
              <a:rPr lang="en-US" sz="2400" b="1" dirty="0">
                <a:solidFill>
                  <a:srgbClr val="FF0000"/>
                </a:solidFill>
                <a:latin typeface="Times New Roman" pitchFamily="18" charset="0"/>
                <a:cs typeface="Times New Roman" pitchFamily="18" charset="0"/>
              </a:rPr>
              <a:t>Partially Committed:</a:t>
            </a:r>
            <a:r>
              <a:rPr lang="en-US" sz="2400" dirty="0">
                <a:latin typeface="Times New Roman" pitchFamily="18" charset="0"/>
                <a:cs typeface="Times New Roman" pitchFamily="18" charset="0"/>
              </a:rPr>
              <a:t> At any given point of time if the transaction is executing properly, then it is going towards it COMMIT POINT. The values generated during the execution are all stored in volatile storage.</a:t>
            </a:r>
          </a:p>
          <a:p>
            <a:pPr algn="just"/>
            <a:r>
              <a:rPr lang="en-US" sz="2400" b="1" dirty="0">
                <a:solidFill>
                  <a:srgbClr val="FF0000"/>
                </a:solidFill>
                <a:latin typeface="Times New Roman" pitchFamily="18" charset="0"/>
                <a:cs typeface="Times New Roman" pitchFamily="18" charset="0"/>
              </a:rPr>
              <a:t>Failed:</a:t>
            </a:r>
            <a:r>
              <a:rPr lang="en-US" sz="2400" dirty="0">
                <a:latin typeface="Times New Roman" pitchFamily="18" charset="0"/>
                <a:cs typeface="Times New Roman" pitchFamily="18" charset="0"/>
              </a:rPr>
              <a:t> If the transaction fails for some reason. The temporary values are no longer required, and the transaction is set to </a:t>
            </a:r>
            <a:r>
              <a:rPr lang="en-US" sz="2400" b="1" dirty="0">
                <a:latin typeface="Times New Roman" pitchFamily="18" charset="0"/>
                <a:cs typeface="Times New Roman" pitchFamily="18" charset="0"/>
              </a:rPr>
              <a:t>ROLLBACK</a:t>
            </a:r>
            <a:r>
              <a:rPr lang="en-US" sz="2400" dirty="0">
                <a:latin typeface="Times New Roman" pitchFamily="18" charset="0"/>
                <a:cs typeface="Times New Roman" pitchFamily="18" charset="0"/>
              </a:rPr>
              <a:t>. It means that any change made to the database by this transaction up to the point of the failure must be undone. </a:t>
            </a:r>
          </a:p>
          <a:p>
            <a:pPr marL="0" indent="0" algn="just">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60686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Transaction States</a:t>
            </a:r>
            <a:r>
              <a:rPr lang="en-US" sz="2800" dirty="0" smtClean="0">
                <a:latin typeface="Times New Roman" panose="02020603050405020304" pitchFamily="18" charset="0"/>
                <a:cs typeface="Times New Roman" panose="02020603050405020304" pitchFamily="18" charset="0"/>
              </a:rPr>
              <a:t>:</a:t>
            </a:r>
            <a:endParaRPr lang="en-IN" dirty="0"/>
          </a:p>
        </p:txBody>
      </p:sp>
      <p:sp>
        <p:nvSpPr>
          <p:cNvPr id="3" name="Content Placeholder 2"/>
          <p:cNvSpPr>
            <a:spLocks noGrp="1"/>
          </p:cNvSpPr>
          <p:nvPr>
            <p:ph idx="1"/>
          </p:nvPr>
        </p:nvSpPr>
        <p:spPr>
          <a:xfrm>
            <a:off x="533400" y="854923"/>
            <a:ext cx="8229600" cy="4079027"/>
          </a:xfrm>
        </p:spPr>
        <p:txBody>
          <a:bodyPr>
            <a:noAutofit/>
          </a:bodyPr>
          <a:lstStyle/>
          <a:p>
            <a:pPr algn="just"/>
            <a:r>
              <a:rPr lang="en-US" sz="2400" b="1" dirty="0" smtClean="0">
                <a:solidFill>
                  <a:srgbClr val="FF0000"/>
                </a:solidFill>
                <a:latin typeface="Times New Roman" pitchFamily="18" charset="0"/>
                <a:cs typeface="Times New Roman" pitchFamily="18" charset="0"/>
              </a:rPr>
              <a:t>Aborted</a:t>
            </a:r>
            <a:r>
              <a:rPr lang="en-US" sz="2400" b="1" dirty="0">
                <a:solidFill>
                  <a:srgbClr val="FF0000"/>
                </a:solidFill>
                <a:latin typeface="Times New Roman" pitchFamily="18" charset="0"/>
                <a:cs typeface="Times New Roman" pitchFamily="18" charset="0"/>
              </a:rPr>
              <a:t>:</a:t>
            </a:r>
            <a:r>
              <a:rPr lang="en-US" sz="2400" dirty="0">
                <a:latin typeface="Times New Roman" pitchFamily="18" charset="0"/>
                <a:cs typeface="Times New Roman" pitchFamily="18" charset="0"/>
              </a:rPr>
              <a:t> When the ROLLBACK operation is over, the database reaches the BFIM. The transaction is now said to have been aborted.</a:t>
            </a:r>
          </a:p>
          <a:p>
            <a:pPr algn="just"/>
            <a:r>
              <a:rPr lang="en-US" sz="2400" b="1" dirty="0">
                <a:solidFill>
                  <a:srgbClr val="FF0000"/>
                </a:solidFill>
                <a:latin typeface="Times New Roman" pitchFamily="18" charset="0"/>
                <a:cs typeface="Times New Roman" pitchFamily="18" charset="0"/>
              </a:rPr>
              <a:t>Committed:</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If no failure occurs then the transaction reaches the COMMIT POINT. All the temporary values are written to the stable storage and the transaction is said to have been committed.</a:t>
            </a:r>
          </a:p>
          <a:p>
            <a:pPr algn="just"/>
            <a:r>
              <a:rPr lang="en-US" sz="2400" b="1" dirty="0">
                <a:solidFill>
                  <a:srgbClr val="FF0000"/>
                </a:solidFill>
                <a:latin typeface="Times New Roman" pitchFamily="18" charset="0"/>
                <a:cs typeface="Times New Roman" pitchFamily="18" charset="0"/>
              </a:rPr>
              <a:t>Terminated:</a:t>
            </a:r>
            <a:r>
              <a:rPr lang="en-US" sz="2400" dirty="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Either committed or aborted, the transaction finally reaches this state.</a:t>
            </a:r>
          </a:p>
          <a:p>
            <a:pPr marL="0" indent="0">
              <a:buNone/>
            </a:pPr>
            <a:endParaRPr lang="en-US" sz="2400" dirty="0">
              <a:latin typeface="Times New Roman" pitchFamily="18" charset="0"/>
              <a:cs typeface="Times New Roman" pitchFamily="18" charset="0"/>
            </a:endParaRPr>
          </a:p>
          <a:p>
            <a:pPr marL="171438"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880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anose="02020603050405020304" pitchFamily="18" charset="0"/>
                <a:cs typeface="Times New Roman" panose="02020603050405020304" pitchFamily="18" charset="0"/>
              </a:rPr>
              <a:t>Transaction States</a:t>
            </a:r>
            <a:r>
              <a:rPr lang="en-US" sz="2800" dirty="0" smtClean="0">
                <a:latin typeface="Times New Roman" panose="02020603050405020304" pitchFamily="18" charset="0"/>
                <a:cs typeface="Times New Roman" panose="02020603050405020304" pitchFamily="18" charset="0"/>
              </a:rPr>
              <a:t>:</a:t>
            </a:r>
            <a:endParaRPr lang="en-IN" dirty="0"/>
          </a:p>
        </p:txBody>
      </p:sp>
      <p:pic>
        <p:nvPicPr>
          <p:cNvPr id="7" name="Picture 2"/>
          <p:cNvPicPr>
            <a:picLocks noChangeAspect="1" noChangeArrowheads="1"/>
          </p:cNvPicPr>
          <p:nvPr/>
        </p:nvPicPr>
        <p:blipFill>
          <a:blip r:embed="rId2" cstate="print"/>
          <a:srcRect/>
          <a:stretch>
            <a:fillRect/>
          </a:stretch>
        </p:blipFill>
        <p:spPr bwMode="auto">
          <a:xfrm>
            <a:off x="609599" y="1352550"/>
            <a:ext cx="7822325" cy="2971800"/>
          </a:xfrm>
          <a:prstGeom prst="rect">
            <a:avLst/>
          </a:prstGeom>
          <a:noFill/>
          <a:ln w="9525">
            <a:noFill/>
            <a:miter lim="800000"/>
            <a:headEnd/>
            <a:tailEnd/>
          </a:ln>
        </p:spPr>
      </p:pic>
    </p:spTree>
    <p:extLst>
      <p:ext uri="{BB962C8B-B14F-4D97-AF65-F5344CB8AC3E}">
        <p14:creationId xmlns:p14="http://schemas.microsoft.com/office/powerpoint/2010/main" val="9161803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marL="171438" indent="0"/>
            <a:r>
              <a:rPr lang="en-US" sz="2800" dirty="0">
                <a:latin typeface="Times New Roman" pitchFamily="18" charset="0"/>
                <a:cs typeface="Times New Roman" pitchFamily="18" charset="0"/>
              </a:rPr>
              <a:t>Concurrency Control Algorithms:</a:t>
            </a:r>
          </a:p>
        </p:txBody>
      </p:sp>
      <p:sp>
        <p:nvSpPr>
          <p:cNvPr id="3" name="Content Placeholder 2"/>
          <p:cNvSpPr>
            <a:spLocks noGrp="1"/>
          </p:cNvSpPr>
          <p:nvPr>
            <p:ph idx="1"/>
          </p:nvPr>
        </p:nvSpPr>
        <p:spPr>
          <a:xfrm>
            <a:off x="571500" y="915031"/>
            <a:ext cx="8191500" cy="3942719"/>
          </a:xfrm>
        </p:spPr>
        <p:txBody>
          <a:bodyPr>
            <a:noAutofit/>
          </a:bodyPr>
          <a:lstStyle/>
          <a:p>
            <a:pPr>
              <a:lnSpc>
                <a:spcPct val="90000"/>
              </a:lnSpc>
            </a:pPr>
            <a:r>
              <a:rPr lang="en-US" sz="2400" dirty="0" smtClean="0">
                <a:solidFill>
                  <a:srgbClr val="FF0000"/>
                </a:solidFill>
                <a:latin typeface="Times New Roman" pitchFamily="18" charset="0"/>
                <a:cs typeface="Times New Roman" pitchFamily="18" charset="0"/>
              </a:rPr>
              <a:t>Locking</a:t>
            </a:r>
            <a:endParaRPr lang="en-US" sz="2400" dirty="0">
              <a:solidFill>
                <a:srgbClr val="FF0000"/>
              </a:solidFill>
              <a:latin typeface="Times New Roman" pitchFamily="18" charset="0"/>
              <a:cs typeface="Times New Roman" pitchFamily="18" charset="0"/>
            </a:endParaRPr>
          </a:p>
          <a:p>
            <a:pPr lvl="1">
              <a:lnSpc>
                <a:spcPct val="90000"/>
              </a:lnSpc>
              <a:buFont typeface="Wingdings" pitchFamily="2" charset="2"/>
              <a:buNone/>
            </a:pPr>
            <a:r>
              <a:rPr lang="en-US" sz="2400" dirty="0">
                <a:latin typeface="Times New Roman" pitchFamily="18" charset="0"/>
                <a:cs typeface="Times New Roman" pitchFamily="18" charset="0"/>
              </a:rPr>
              <a:t>A Transaction “locks” a database object to prevent another object from modifying the object</a:t>
            </a:r>
          </a:p>
          <a:p>
            <a:pPr>
              <a:lnSpc>
                <a:spcPct val="90000"/>
              </a:lnSpc>
            </a:pPr>
            <a:r>
              <a:rPr lang="en-US" sz="2400" dirty="0">
                <a:solidFill>
                  <a:srgbClr val="FF0000"/>
                </a:solidFill>
                <a:latin typeface="Times New Roman" pitchFamily="18" charset="0"/>
                <a:cs typeface="Times New Roman" pitchFamily="18" charset="0"/>
              </a:rPr>
              <a:t>Time-Stamping</a:t>
            </a:r>
          </a:p>
          <a:p>
            <a:pPr>
              <a:lnSpc>
                <a:spcPct val="90000"/>
              </a:lnSpc>
              <a:buFont typeface="Wingdings" pitchFamily="2" charset="2"/>
              <a:buNone/>
            </a:pPr>
            <a:r>
              <a:rPr lang="en-US" sz="2400" dirty="0">
                <a:latin typeface="Times New Roman" pitchFamily="18" charset="0"/>
                <a:cs typeface="Times New Roman" pitchFamily="18" charset="0"/>
              </a:rPr>
              <a:t>	Assign a global unique time stamp to each transaction</a:t>
            </a:r>
          </a:p>
          <a:p>
            <a:pPr>
              <a:lnSpc>
                <a:spcPct val="90000"/>
              </a:lnSpc>
            </a:pPr>
            <a:r>
              <a:rPr lang="en-US" sz="2400" dirty="0">
                <a:solidFill>
                  <a:srgbClr val="FF0000"/>
                </a:solidFill>
                <a:latin typeface="Times New Roman" pitchFamily="18" charset="0"/>
                <a:cs typeface="Times New Roman" pitchFamily="18" charset="0"/>
              </a:rPr>
              <a:t>Optimistic</a:t>
            </a:r>
          </a:p>
          <a:p>
            <a:pPr>
              <a:lnSpc>
                <a:spcPct val="90000"/>
              </a:lnSpc>
              <a:buFont typeface="Wingdings" pitchFamily="2" charset="2"/>
              <a:buNone/>
            </a:pPr>
            <a:r>
              <a:rPr lang="en-US" sz="2400" dirty="0">
                <a:latin typeface="Times New Roman" pitchFamily="18" charset="0"/>
                <a:cs typeface="Times New Roman" pitchFamily="18" charset="0"/>
              </a:rPr>
              <a:t>	Assumption that most database operations do not conflict</a:t>
            </a:r>
          </a:p>
          <a:p>
            <a:pPr marL="171438"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78896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itchFamily="18" charset="0"/>
                <a:cs typeface="Times New Roman" pitchFamily="18" charset="0"/>
              </a:rPr>
              <a:t>Concurrency Control Algorithms:</a:t>
            </a:r>
            <a:br>
              <a:rPr lang="en-US" sz="2800"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71500" y="743584"/>
            <a:ext cx="8343900" cy="3714119"/>
          </a:xfrm>
        </p:spPr>
        <p:txBody>
          <a:bodyPr>
            <a:noAutofit/>
          </a:bodyPr>
          <a:lstStyle/>
          <a:p>
            <a:pPr marL="171438" indent="0">
              <a:buNone/>
            </a:pPr>
            <a:r>
              <a:rPr lang="en-US" sz="2400" b="1" u="sng" dirty="0" smtClean="0">
                <a:latin typeface="Times New Roman" pitchFamily="18" charset="0"/>
                <a:cs typeface="Times New Roman" pitchFamily="18" charset="0"/>
              </a:rPr>
              <a:t>Locking</a:t>
            </a:r>
            <a:r>
              <a:rPr lang="en-US" sz="2400" b="1" u="sng" dirty="0">
                <a:latin typeface="Times New Roman" pitchFamily="18" charset="0"/>
                <a:cs typeface="Times New Roman" pitchFamily="18" charset="0"/>
              </a:rPr>
              <a:t>:</a:t>
            </a:r>
          </a:p>
          <a:p>
            <a:r>
              <a:rPr lang="en-US" sz="2400" dirty="0">
                <a:latin typeface="Times New Roman" pitchFamily="18" charset="0"/>
                <a:cs typeface="Times New Roman" pitchFamily="18" charset="0"/>
              </a:rPr>
              <a:t>Lock guarantees exclusive use of data item to current transaction</a:t>
            </a:r>
          </a:p>
          <a:p>
            <a:r>
              <a:rPr lang="en-US" sz="2400" dirty="0">
                <a:latin typeface="Times New Roman" pitchFamily="18" charset="0"/>
                <a:cs typeface="Times New Roman" pitchFamily="18" charset="0"/>
              </a:rPr>
              <a:t>Prevents reading Inconsistent Data</a:t>
            </a:r>
          </a:p>
          <a:p>
            <a:r>
              <a:rPr lang="en-US" sz="2400" dirty="0">
                <a:latin typeface="Times New Roman" pitchFamily="18" charset="0"/>
                <a:cs typeface="Times New Roman" pitchFamily="18" charset="0"/>
              </a:rPr>
              <a:t>Lock Manager is responsible for assigning and policing the locks used by the transaction</a:t>
            </a:r>
          </a:p>
          <a:p>
            <a:pPr marL="171438" indent="0">
              <a:buNone/>
            </a:pPr>
            <a:endParaRPr lang="en-US" sz="2400" i="1" u="sng" dirty="0">
              <a:latin typeface="Times New Roman" pitchFamily="18" charset="0"/>
              <a:cs typeface="Times New Roman" pitchFamily="18" charset="0"/>
            </a:endParaRPr>
          </a:p>
        </p:txBody>
      </p:sp>
    </p:spTree>
    <p:extLst>
      <p:ext uri="{BB962C8B-B14F-4D97-AF65-F5344CB8AC3E}">
        <p14:creationId xmlns:p14="http://schemas.microsoft.com/office/powerpoint/2010/main" val="147898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itchFamily="18" charset="0"/>
                <a:cs typeface="Times New Roman" pitchFamily="18" charset="0"/>
              </a:rPr>
              <a:t>Concurrency Control Algorithms:</a:t>
            </a:r>
            <a:br>
              <a:rPr lang="en-US" sz="2800"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71500" y="743584"/>
            <a:ext cx="8343900" cy="3714119"/>
          </a:xfrm>
        </p:spPr>
        <p:txBody>
          <a:bodyPr>
            <a:noAutofit/>
          </a:bodyPr>
          <a:lstStyle/>
          <a:p>
            <a:pPr marL="171438" indent="0">
              <a:buNone/>
            </a:pPr>
            <a:r>
              <a:rPr lang="en-US" sz="2400" b="1" u="sng" dirty="0" smtClean="0">
                <a:latin typeface="Times New Roman" pitchFamily="18" charset="0"/>
                <a:cs typeface="Times New Roman" pitchFamily="18" charset="0"/>
              </a:rPr>
              <a:t>Locking Granularity</a:t>
            </a:r>
            <a:r>
              <a:rPr lang="en-US" sz="2400" b="1" i="1" u="sng" dirty="0" smtClean="0">
                <a:latin typeface="Times New Roman" pitchFamily="18" charset="0"/>
                <a:cs typeface="Times New Roman" pitchFamily="18" charset="0"/>
              </a:rPr>
              <a:t>:</a:t>
            </a:r>
          </a:p>
          <a:p>
            <a:pPr marL="171438" indent="0">
              <a:buNone/>
            </a:pPr>
            <a:r>
              <a:rPr lang="en-US" sz="2400" dirty="0" smtClean="0">
                <a:latin typeface="Times New Roman" pitchFamily="18" charset="0"/>
                <a:cs typeface="Times New Roman" pitchFamily="18" charset="0"/>
              </a:rPr>
              <a:t>Indicates </a:t>
            </a:r>
            <a:r>
              <a:rPr lang="en-US" sz="2400" dirty="0">
                <a:latin typeface="Times New Roman" pitchFamily="18" charset="0"/>
                <a:cs typeface="Times New Roman" pitchFamily="18" charset="0"/>
              </a:rPr>
              <a:t>the level of lock use</a:t>
            </a:r>
          </a:p>
          <a:p>
            <a:pPr>
              <a:lnSpc>
                <a:spcPct val="90000"/>
              </a:lnSpc>
            </a:pPr>
            <a:r>
              <a:rPr lang="en-US" sz="2400" dirty="0">
                <a:solidFill>
                  <a:srgbClr val="FF0000"/>
                </a:solidFill>
                <a:latin typeface="Times New Roman" pitchFamily="18" charset="0"/>
                <a:cs typeface="Times New Roman" pitchFamily="18" charset="0"/>
              </a:rPr>
              <a:t>Database Level </a:t>
            </a:r>
            <a:r>
              <a:rPr lang="en-US" sz="2400" dirty="0">
                <a:latin typeface="Times New Roman" pitchFamily="18" charset="0"/>
                <a:cs typeface="Times New Roman" pitchFamily="18" charset="0"/>
              </a:rPr>
              <a:t>– Entire Database is Locked</a:t>
            </a:r>
          </a:p>
          <a:p>
            <a:pPr>
              <a:lnSpc>
                <a:spcPct val="90000"/>
              </a:lnSpc>
            </a:pPr>
            <a:r>
              <a:rPr lang="en-US" sz="2400" dirty="0">
                <a:solidFill>
                  <a:srgbClr val="FF0000"/>
                </a:solidFill>
                <a:latin typeface="Times New Roman" pitchFamily="18" charset="0"/>
                <a:cs typeface="Times New Roman" pitchFamily="18" charset="0"/>
              </a:rPr>
              <a:t>Table Level </a:t>
            </a:r>
            <a:r>
              <a:rPr lang="en-US" sz="2400" dirty="0">
                <a:latin typeface="Times New Roman" pitchFamily="18" charset="0"/>
                <a:cs typeface="Times New Roman" pitchFamily="18" charset="0"/>
              </a:rPr>
              <a:t>– Entire Table is Locked</a:t>
            </a:r>
          </a:p>
          <a:p>
            <a:pPr>
              <a:lnSpc>
                <a:spcPct val="90000"/>
              </a:lnSpc>
            </a:pPr>
            <a:r>
              <a:rPr lang="en-US" sz="2400" dirty="0">
                <a:solidFill>
                  <a:srgbClr val="FF0000"/>
                </a:solidFill>
                <a:latin typeface="Times New Roman" pitchFamily="18" charset="0"/>
                <a:cs typeface="Times New Roman" pitchFamily="18" charset="0"/>
              </a:rPr>
              <a:t>Page Level </a:t>
            </a:r>
            <a:r>
              <a:rPr lang="en-US" sz="2400" dirty="0">
                <a:latin typeface="Times New Roman" pitchFamily="18" charset="0"/>
                <a:cs typeface="Times New Roman" pitchFamily="18" charset="0"/>
              </a:rPr>
              <a:t>– Locks an Entire Disk page </a:t>
            </a:r>
          </a:p>
          <a:p>
            <a:pPr>
              <a:lnSpc>
                <a:spcPct val="90000"/>
              </a:lnSpc>
              <a:buFont typeface="Wingdings" pitchFamily="2" charset="2"/>
              <a:buNone/>
            </a:pPr>
            <a:r>
              <a:rPr lang="en-US" sz="2400" dirty="0">
                <a:latin typeface="Times New Roman" pitchFamily="18" charset="0"/>
                <a:cs typeface="Times New Roman" pitchFamily="18" charset="0"/>
                <a:sym typeface="Wingdings" pitchFamily="2" charset="2"/>
              </a:rPr>
              <a:t>	(Most Frequently Used)</a:t>
            </a:r>
            <a:endParaRPr lang="en-US" sz="2400" dirty="0">
              <a:latin typeface="Times New Roman" pitchFamily="18" charset="0"/>
              <a:cs typeface="Times New Roman" pitchFamily="18" charset="0"/>
            </a:endParaRPr>
          </a:p>
          <a:p>
            <a:pPr>
              <a:lnSpc>
                <a:spcPct val="90000"/>
              </a:lnSpc>
            </a:pPr>
            <a:r>
              <a:rPr lang="en-US" sz="2400" dirty="0">
                <a:solidFill>
                  <a:srgbClr val="FF0000"/>
                </a:solidFill>
                <a:latin typeface="Times New Roman" pitchFamily="18" charset="0"/>
                <a:cs typeface="Times New Roman" pitchFamily="18" charset="0"/>
              </a:rPr>
              <a:t>Row Level </a:t>
            </a:r>
            <a:r>
              <a:rPr lang="en-US" sz="2400" dirty="0">
                <a:latin typeface="Times New Roman" pitchFamily="18" charset="0"/>
                <a:cs typeface="Times New Roman" pitchFamily="18" charset="0"/>
              </a:rPr>
              <a:t>– Locks Single Row of Table</a:t>
            </a:r>
          </a:p>
          <a:p>
            <a:pPr>
              <a:lnSpc>
                <a:spcPct val="90000"/>
              </a:lnSpc>
            </a:pPr>
            <a:r>
              <a:rPr lang="en-US" sz="2400" dirty="0">
                <a:solidFill>
                  <a:srgbClr val="FF0000"/>
                </a:solidFill>
                <a:latin typeface="Times New Roman" pitchFamily="18" charset="0"/>
                <a:cs typeface="Times New Roman" pitchFamily="18" charset="0"/>
              </a:rPr>
              <a:t>Field Level </a:t>
            </a:r>
            <a:r>
              <a:rPr lang="en-US" sz="2400" dirty="0">
                <a:latin typeface="Times New Roman" pitchFamily="18" charset="0"/>
                <a:cs typeface="Times New Roman" pitchFamily="18" charset="0"/>
              </a:rPr>
              <a:t>– Locks a Single Attribute of a Single Row (Rarely Done)</a:t>
            </a:r>
          </a:p>
          <a:p>
            <a:pPr marL="171438" indent="0">
              <a:buNone/>
            </a:pPr>
            <a:endParaRPr lang="en-US" sz="2400" i="1" u="sng" dirty="0">
              <a:latin typeface="Times New Roman" pitchFamily="18" charset="0"/>
              <a:cs typeface="Times New Roman" pitchFamily="18" charset="0"/>
            </a:endParaRPr>
          </a:p>
        </p:txBody>
      </p:sp>
    </p:spTree>
    <p:extLst>
      <p:ext uri="{BB962C8B-B14F-4D97-AF65-F5344CB8AC3E}">
        <p14:creationId xmlns:p14="http://schemas.microsoft.com/office/powerpoint/2010/main" val="23078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itchFamily="18" charset="0"/>
                <a:cs typeface="Times New Roman" pitchFamily="18" charset="0"/>
              </a:rPr>
              <a:t>Concurrency Control Algorithms:</a:t>
            </a:r>
            <a:br>
              <a:rPr lang="en-US" sz="2800"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71500" y="743584"/>
            <a:ext cx="8343900" cy="3714119"/>
          </a:xfrm>
        </p:spPr>
        <p:txBody>
          <a:bodyPr>
            <a:noAutofit/>
          </a:bodyPr>
          <a:lstStyle/>
          <a:p>
            <a:pPr marL="171438" indent="0">
              <a:buNone/>
            </a:pPr>
            <a:r>
              <a:rPr lang="en-US" sz="2400" b="1" i="1" u="sng" dirty="0" smtClean="0">
                <a:latin typeface="Times New Roman" pitchFamily="18" charset="0"/>
                <a:cs typeface="Times New Roman" pitchFamily="18" charset="0"/>
              </a:rPr>
              <a:t>Types </a:t>
            </a:r>
            <a:r>
              <a:rPr lang="en-US" sz="2400" b="1" i="1" u="sng" dirty="0">
                <a:latin typeface="Times New Roman" pitchFamily="18" charset="0"/>
                <a:cs typeface="Times New Roman" pitchFamily="18" charset="0"/>
              </a:rPr>
              <a:t>of Locks: </a:t>
            </a:r>
            <a:endParaRPr lang="en-US" sz="2400" b="1" i="1" u="sng" dirty="0" smtClean="0">
              <a:latin typeface="Times New Roman" pitchFamily="18" charset="0"/>
              <a:cs typeface="Times New Roman" pitchFamily="18" charset="0"/>
            </a:endParaRPr>
          </a:p>
          <a:p>
            <a:pPr marL="171438" indent="0">
              <a:buNone/>
            </a:pPr>
            <a:r>
              <a:rPr lang="en-US" sz="2400" b="1" u="sng" dirty="0" smtClean="0">
                <a:latin typeface="Times New Roman" pitchFamily="18" charset="0"/>
                <a:cs typeface="Times New Roman" pitchFamily="18" charset="0"/>
              </a:rPr>
              <a:t>Binary</a:t>
            </a:r>
            <a:r>
              <a:rPr lang="en-US" sz="2400" b="1" u="sng" dirty="0">
                <a:latin typeface="Times New Roman" pitchFamily="18" charset="0"/>
                <a:cs typeface="Times New Roman" pitchFamily="18" charset="0"/>
              </a:rPr>
              <a:t>:</a:t>
            </a:r>
          </a:p>
          <a:p>
            <a:r>
              <a:rPr lang="en-US" sz="2000" dirty="0">
                <a:latin typeface="Times New Roman" pitchFamily="18" charset="0"/>
                <a:cs typeface="Times New Roman" pitchFamily="18" charset="0"/>
              </a:rPr>
              <a:t>Binary Locks – Lock with 2 </a:t>
            </a:r>
            <a:r>
              <a:rPr lang="en-US" sz="2000" dirty="0" smtClean="0">
                <a:latin typeface="Times New Roman" pitchFamily="18" charset="0"/>
                <a:cs typeface="Times New Roman" pitchFamily="18" charset="0"/>
              </a:rPr>
              <a:t>States</a:t>
            </a:r>
          </a:p>
          <a:p>
            <a:pPr lvl="1"/>
            <a:r>
              <a:rPr lang="en-US" b="1" dirty="0" smtClean="0">
                <a:solidFill>
                  <a:srgbClr val="FF0000"/>
                </a:solidFill>
                <a:latin typeface="Times New Roman" pitchFamily="18" charset="0"/>
                <a:cs typeface="Times New Roman" pitchFamily="18" charset="0"/>
              </a:rPr>
              <a:t>Locked</a:t>
            </a:r>
            <a:r>
              <a:rPr lang="en-US" dirty="0" smtClean="0">
                <a:solidFill>
                  <a:srgbClr val="FF0000"/>
                </a:solidFill>
                <a:latin typeface="Times New Roman" pitchFamily="18" charset="0"/>
                <a:cs typeface="Times New Roman" pitchFamily="18" charset="0"/>
              </a:rPr>
              <a:t> </a:t>
            </a:r>
            <a:r>
              <a:rPr lang="en-US" dirty="0">
                <a:latin typeface="Times New Roman" pitchFamily="18" charset="0"/>
                <a:cs typeface="Times New Roman" pitchFamily="18" charset="0"/>
              </a:rPr>
              <a:t>– No other transaction can use that object</a:t>
            </a:r>
          </a:p>
          <a:p>
            <a:pPr lvl="1"/>
            <a:r>
              <a:rPr lang="en-US" b="1" dirty="0">
                <a:solidFill>
                  <a:srgbClr val="00B050"/>
                </a:solidFill>
                <a:latin typeface="Times New Roman" pitchFamily="18" charset="0"/>
                <a:cs typeface="Times New Roman" pitchFamily="18" charset="0"/>
              </a:rPr>
              <a:t>Unlocked</a:t>
            </a:r>
            <a:r>
              <a:rPr lang="en-US" dirty="0">
                <a:latin typeface="Times New Roman" pitchFamily="18" charset="0"/>
                <a:cs typeface="Times New Roman" pitchFamily="18" charset="0"/>
              </a:rPr>
              <a:t> – Any transaction can lock and use object</a:t>
            </a:r>
          </a:p>
          <a:p>
            <a:pPr lvl="1">
              <a:buFont typeface="Wingdings" pitchFamily="2" charset="2"/>
              <a:buNone/>
            </a:pPr>
            <a:endParaRPr lang="en-US" dirty="0" smtClean="0">
              <a:latin typeface="Times New Roman" pitchFamily="18" charset="0"/>
              <a:cs typeface="Times New Roman" pitchFamily="18" charset="0"/>
            </a:endParaRPr>
          </a:p>
          <a:p>
            <a:pPr lvl="1">
              <a:buFont typeface="Wingdings" pitchFamily="2" charset="2"/>
              <a:buNone/>
            </a:pPr>
            <a:r>
              <a:rPr lang="en-US" dirty="0" smtClean="0">
                <a:latin typeface="Times New Roman" pitchFamily="18" charset="0"/>
                <a:cs typeface="Times New Roman" pitchFamily="18" charset="0"/>
              </a:rPr>
              <a:t>All </a:t>
            </a:r>
            <a:r>
              <a:rPr lang="en-US" dirty="0">
                <a:latin typeface="Times New Roman" pitchFamily="18" charset="0"/>
                <a:cs typeface="Times New Roman" pitchFamily="18" charset="0"/>
              </a:rPr>
              <a:t>Transactions require a Lock and Unlock Operation for Each </a:t>
            </a:r>
            <a:r>
              <a:rPr lang="en-US" dirty="0" smtClean="0">
                <a:latin typeface="Times New Roman" pitchFamily="18" charset="0"/>
                <a:cs typeface="Times New Roman" pitchFamily="18" charset="0"/>
              </a:rPr>
              <a:t>Object </a:t>
            </a:r>
            <a:r>
              <a:rPr lang="en-US" dirty="0">
                <a:latin typeface="Times New Roman" pitchFamily="18" charset="0"/>
                <a:cs typeface="Times New Roman" pitchFamily="18" charset="0"/>
              </a:rPr>
              <a:t>Accessed (Handled by DBMS)</a:t>
            </a:r>
          </a:p>
          <a:p>
            <a:pPr lvl="1"/>
            <a:r>
              <a:rPr lang="en-US" dirty="0">
                <a:latin typeface="Times New Roman" pitchFamily="18" charset="0"/>
                <a:cs typeface="Times New Roman" pitchFamily="18" charset="0"/>
              </a:rPr>
              <a:t>Eliminates Lost Updates</a:t>
            </a:r>
          </a:p>
          <a:p>
            <a:pPr lvl="1"/>
            <a:r>
              <a:rPr lang="en-US" dirty="0">
                <a:latin typeface="Times New Roman" pitchFamily="18" charset="0"/>
                <a:cs typeface="Times New Roman" pitchFamily="18" charset="0"/>
              </a:rPr>
              <a:t>Too Restrictive to Yield Optimal Concurrency Conditions</a:t>
            </a:r>
          </a:p>
          <a:p>
            <a:pPr marL="171438" indent="0">
              <a:buNone/>
            </a:pPr>
            <a:endParaRPr lang="en-US" sz="2400" i="1" u="sng" dirty="0">
              <a:latin typeface="Times New Roman" pitchFamily="18" charset="0"/>
              <a:cs typeface="Times New Roman" pitchFamily="18" charset="0"/>
            </a:endParaRPr>
          </a:p>
        </p:txBody>
      </p:sp>
    </p:spTree>
    <p:extLst>
      <p:ext uri="{BB962C8B-B14F-4D97-AF65-F5344CB8AC3E}">
        <p14:creationId xmlns:p14="http://schemas.microsoft.com/office/powerpoint/2010/main" val="140515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1000"/>
                                        <p:tgtEl>
                                          <p:spTgt spid="3">
                                            <p:txEl>
                                              <p:pRg st="8" end="8"/>
                                            </p:txEl>
                                          </p:spTgt>
                                        </p:tgtEl>
                                      </p:cBhvr>
                                    </p:animEffect>
                                    <p:anim calcmode="lin" valueType="num">
                                      <p:cBhvr>
                                        <p:cTn id="4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itchFamily="18" charset="0"/>
                <a:cs typeface="Times New Roman" pitchFamily="18" charset="0"/>
              </a:rPr>
              <a:t>Concurrency Control Algorithms:</a:t>
            </a:r>
            <a:br>
              <a:rPr lang="en-US" sz="2800"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71500" y="743584"/>
            <a:ext cx="8343900" cy="3714119"/>
          </a:xfrm>
        </p:spPr>
        <p:txBody>
          <a:bodyPr>
            <a:noAutofit/>
          </a:bodyPr>
          <a:lstStyle/>
          <a:p>
            <a:pPr marL="171438" indent="0">
              <a:buNone/>
            </a:pPr>
            <a:r>
              <a:rPr lang="en-US" sz="2400" b="1" i="1" u="sng" dirty="0" smtClean="0">
                <a:latin typeface="Times New Roman" pitchFamily="18" charset="0"/>
                <a:cs typeface="Times New Roman" pitchFamily="18" charset="0"/>
              </a:rPr>
              <a:t>Types </a:t>
            </a:r>
            <a:r>
              <a:rPr lang="en-US" sz="2400" b="1" i="1" u="sng" dirty="0">
                <a:latin typeface="Times New Roman" pitchFamily="18" charset="0"/>
                <a:cs typeface="Times New Roman" pitchFamily="18" charset="0"/>
              </a:rPr>
              <a:t>of Locks: </a:t>
            </a:r>
            <a:r>
              <a:rPr lang="en-US" sz="2400" b="1" dirty="0">
                <a:latin typeface="Times New Roman" pitchFamily="18" charset="0"/>
                <a:cs typeface="Times New Roman" pitchFamily="18" charset="0"/>
              </a:rPr>
              <a:t>Shared / Exclusive Locks:</a:t>
            </a:r>
          </a:p>
          <a:p>
            <a:pPr>
              <a:lnSpc>
                <a:spcPct val="80000"/>
              </a:lnSpc>
            </a:pPr>
            <a:r>
              <a:rPr lang="en-US" sz="2000" dirty="0" smtClean="0">
                <a:latin typeface="Times New Roman" pitchFamily="18" charset="0"/>
                <a:cs typeface="Times New Roman" pitchFamily="18" charset="0"/>
              </a:rPr>
              <a:t>Indicates </a:t>
            </a:r>
            <a:r>
              <a:rPr lang="en-US" sz="2000" dirty="0">
                <a:latin typeface="Times New Roman" pitchFamily="18" charset="0"/>
                <a:cs typeface="Times New Roman" pitchFamily="18" charset="0"/>
              </a:rPr>
              <a:t>the Nature of the Lock</a:t>
            </a:r>
          </a:p>
          <a:p>
            <a:pPr>
              <a:lnSpc>
                <a:spcPct val="80000"/>
              </a:lnSpc>
            </a:pPr>
            <a:r>
              <a:rPr lang="en-US" sz="2000" dirty="0">
                <a:solidFill>
                  <a:srgbClr val="FF0000"/>
                </a:solidFill>
                <a:latin typeface="Times New Roman" pitchFamily="18" charset="0"/>
                <a:cs typeface="Times New Roman" pitchFamily="18" charset="0"/>
              </a:rPr>
              <a:t>Shared Lock </a:t>
            </a:r>
            <a:r>
              <a:rPr lang="en-US" sz="2000" dirty="0">
                <a:latin typeface="Times New Roman" pitchFamily="18" charset="0"/>
                <a:cs typeface="Times New Roman" pitchFamily="18" charset="0"/>
              </a:rPr>
              <a:t>– Concurrent Transactions are granted READ access on the basis of a common lock.</a:t>
            </a:r>
          </a:p>
          <a:p>
            <a:pPr>
              <a:lnSpc>
                <a:spcPct val="80000"/>
              </a:lnSpc>
            </a:pPr>
            <a:r>
              <a:rPr lang="en-US" sz="2000" dirty="0">
                <a:solidFill>
                  <a:srgbClr val="FF0000"/>
                </a:solidFill>
                <a:latin typeface="Times New Roman" pitchFamily="18" charset="0"/>
                <a:cs typeface="Times New Roman" pitchFamily="18" charset="0"/>
              </a:rPr>
              <a:t>Exclusive Lock </a:t>
            </a:r>
            <a:r>
              <a:rPr lang="en-US" sz="2000" dirty="0">
                <a:latin typeface="Times New Roman" pitchFamily="18" charset="0"/>
                <a:cs typeface="Times New Roman" pitchFamily="18" charset="0"/>
              </a:rPr>
              <a:t>– Access is reserved for the transaction that locked the object.</a:t>
            </a:r>
          </a:p>
          <a:p>
            <a:pPr>
              <a:lnSpc>
                <a:spcPct val="80000"/>
              </a:lnSpc>
            </a:pPr>
            <a:r>
              <a:rPr lang="en-US" sz="2000" b="1" dirty="0">
                <a:latin typeface="Times New Roman" pitchFamily="18" charset="0"/>
                <a:cs typeface="Times New Roman" pitchFamily="18" charset="0"/>
              </a:rPr>
              <a:t>3 States:  </a:t>
            </a:r>
            <a:r>
              <a:rPr lang="en-US" sz="2000" dirty="0">
                <a:latin typeface="Times New Roman" pitchFamily="18" charset="0"/>
                <a:cs typeface="Times New Roman" pitchFamily="18" charset="0"/>
              </a:rPr>
              <a:t>Unlocked, Shared (Read), Exclusive (Write)</a:t>
            </a:r>
          </a:p>
          <a:p>
            <a:pPr>
              <a:lnSpc>
                <a:spcPct val="80000"/>
              </a:lnSpc>
            </a:pPr>
            <a:r>
              <a:rPr lang="en-US" sz="2000" dirty="0">
                <a:latin typeface="Times New Roman" pitchFamily="18" charset="0"/>
                <a:cs typeface="Times New Roman" pitchFamily="18" charset="0"/>
              </a:rPr>
              <a:t>More Efficient Data Access Solution</a:t>
            </a:r>
          </a:p>
          <a:p>
            <a:pPr>
              <a:lnSpc>
                <a:spcPct val="80000"/>
              </a:lnSpc>
            </a:pPr>
            <a:r>
              <a:rPr lang="en-US" sz="2000" dirty="0">
                <a:latin typeface="Times New Roman" pitchFamily="18" charset="0"/>
                <a:cs typeface="Times New Roman" pitchFamily="18" charset="0"/>
              </a:rPr>
              <a:t>More Overhead for Lock Manager</a:t>
            </a:r>
          </a:p>
          <a:p>
            <a:pPr lvl="1">
              <a:lnSpc>
                <a:spcPct val="80000"/>
              </a:lnSpc>
            </a:pPr>
            <a:r>
              <a:rPr lang="en-US" dirty="0">
                <a:latin typeface="Times New Roman" pitchFamily="18" charset="0"/>
                <a:cs typeface="Times New Roman" pitchFamily="18" charset="0"/>
              </a:rPr>
              <a:t>Type of lock needed must be known </a:t>
            </a:r>
          </a:p>
          <a:p>
            <a:pPr lvl="1">
              <a:lnSpc>
                <a:spcPct val="80000"/>
              </a:lnSpc>
            </a:pPr>
            <a:r>
              <a:rPr lang="en-US" dirty="0">
                <a:latin typeface="Times New Roman" pitchFamily="18" charset="0"/>
                <a:cs typeface="Times New Roman" pitchFamily="18" charset="0"/>
              </a:rPr>
              <a:t>3 Operations:  </a:t>
            </a:r>
          </a:p>
          <a:p>
            <a:pPr lvl="2">
              <a:lnSpc>
                <a:spcPct val="80000"/>
              </a:lnSpc>
            </a:pPr>
            <a:r>
              <a:rPr lang="en-US" dirty="0" err="1">
                <a:latin typeface="Times New Roman" pitchFamily="18" charset="0"/>
                <a:cs typeface="Times New Roman" pitchFamily="18" charset="0"/>
              </a:rPr>
              <a:t>Read_Lock</a:t>
            </a:r>
            <a:r>
              <a:rPr lang="en-US" dirty="0">
                <a:latin typeface="Times New Roman" pitchFamily="18" charset="0"/>
                <a:cs typeface="Times New Roman" pitchFamily="18" charset="0"/>
              </a:rPr>
              <a:t> – Check to see the type of lock</a:t>
            </a:r>
          </a:p>
          <a:p>
            <a:pPr lvl="2">
              <a:lnSpc>
                <a:spcPct val="80000"/>
              </a:lnSpc>
            </a:pPr>
            <a:r>
              <a:rPr lang="en-US" dirty="0" err="1">
                <a:latin typeface="Times New Roman" pitchFamily="18" charset="0"/>
                <a:cs typeface="Times New Roman" pitchFamily="18" charset="0"/>
              </a:rPr>
              <a:t>Write_Lock</a:t>
            </a:r>
            <a:r>
              <a:rPr lang="en-US" dirty="0">
                <a:latin typeface="Times New Roman" pitchFamily="18" charset="0"/>
                <a:cs typeface="Times New Roman" pitchFamily="18" charset="0"/>
              </a:rPr>
              <a:t> – Issue a Lock</a:t>
            </a:r>
          </a:p>
          <a:p>
            <a:pPr lvl="2">
              <a:lnSpc>
                <a:spcPct val="80000"/>
              </a:lnSpc>
            </a:pPr>
            <a:r>
              <a:rPr lang="en-US" dirty="0">
                <a:latin typeface="Times New Roman" pitchFamily="18" charset="0"/>
                <a:cs typeface="Times New Roman" pitchFamily="18" charset="0"/>
              </a:rPr>
              <a:t>Unlock – Release a Lock</a:t>
            </a:r>
          </a:p>
          <a:p>
            <a:pPr lvl="1">
              <a:lnSpc>
                <a:spcPct val="80000"/>
              </a:lnSpc>
            </a:pPr>
            <a:r>
              <a:rPr lang="en-US" dirty="0">
                <a:latin typeface="Times New Roman" pitchFamily="18" charset="0"/>
                <a:cs typeface="Times New Roman" pitchFamily="18" charset="0"/>
              </a:rPr>
              <a:t>Allow Upgrading / Downgrading of Locks</a:t>
            </a:r>
          </a:p>
          <a:p>
            <a:pPr marL="171438" indent="0">
              <a:buNone/>
            </a:pPr>
            <a:endParaRPr lang="en-US" sz="2400" i="1" u="sng" dirty="0">
              <a:latin typeface="Times New Roman" pitchFamily="18" charset="0"/>
              <a:cs typeface="Times New Roman" pitchFamily="18" charset="0"/>
            </a:endParaRPr>
          </a:p>
        </p:txBody>
      </p:sp>
    </p:spTree>
    <p:extLst>
      <p:ext uri="{BB962C8B-B14F-4D97-AF65-F5344CB8AC3E}">
        <p14:creationId xmlns:p14="http://schemas.microsoft.com/office/powerpoint/2010/main" val="70065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fade">
                                      <p:cBhvr>
                                        <p:cTn id="54" dur="1000"/>
                                        <p:tgtEl>
                                          <p:spTgt spid="3">
                                            <p:txEl>
                                              <p:pRg st="7" end="7"/>
                                            </p:txEl>
                                          </p:spTgt>
                                        </p:tgtEl>
                                      </p:cBhvr>
                                    </p:animEffect>
                                    <p:anim calcmode="lin" valueType="num">
                                      <p:cBhvr>
                                        <p:cTn id="5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1000"/>
                                        <p:tgtEl>
                                          <p:spTgt spid="3">
                                            <p:txEl>
                                              <p:pRg st="8" end="8"/>
                                            </p:txEl>
                                          </p:spTgt>
                                        </p:tgtEl>
                                      </p:cBhvr>
                                    </p:animEffect>
                                    <p:anim calcmode="lin" valueType="num">
                                      <p:cBhvr>
                                        <p:cTn id="6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8" end="8"/>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Effect transition="in" filter="fade">
                                      <p:cBhvr>
                                        <p:cTn id="64" dur="1000"/>
                                        <p:tgtEl>
                                          <p:spTgt spid="3">
                                            <p:txEl>
                                              <p:pRg st="9" end="9"/>
                                            </p:txEl>
                                          </p:spTgt>
                                        </p:tgtEl>
                                      </p:cBhvr>
                                    </p:animEffect>
                                    <p:anim calcmode="lin" valueType="num">
                                      <p:cBhvr>
                                        <p:cTn id="6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animEffect transition="in" filter="fade">
                                      <p:cBhvr>
                                        <p:cTn id="69" dur="1000"/>
                                        <p:tgtEl>
                                          <p:spTgt spid="3">
                                            <p:txEl>
                                              <p:pRg st="10" end="10"/>
                                            </p:txEl>
                                          </p:spTgt>
                                        </p:tgtEl>
                                      </p:cBhvr>
                                    </p:animEffect>
                                    <p:anim calcmode="lin" valueType="num">
                                      <p:cBhvr>
                                        <p:cTn id="7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3">
                                            <p:txEl>
                                              <p:pRg st="11" end="11"/>
                                            </p:txEl>
                                          </p:spTgt>
                                        </p:tgtEl>
                                        <p:attrNameLst>
                                          <p:attrName>style.visibility</p:attrName>
                                        </p:attrNameLst>
                                      </p:cBhvr>
                                      <p:to>
                                        <p:strVal val="visible"/>
                                      </p:to>
                                    </p:set>
                                    <p:animEffect transition="in" filter="fade">
                                      <p:cBhvr>
                                        <p:cTn id="74" dur="1000"/>
                                        <p:tgtEl>
                                          <p:spTgt spid="3">
                                            <p:txEl>
                                              <p:pRg st="11" end="11"/>
                                            </p:txEl>
                                          </p:spTgt>
                                        </p:tgtEl>
                                      </p:cBhvr>
                                    </p:animEffect>
                                    <p:anim calcmode="lin" valueType="num">
                                      <p:cBhvr>
                                        <p:cTn id="7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6"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Effect transition="in" filter="fade">
                                      <p:cBhvr>
                                        <p:cTn id="79" dur="1000"/>
                                        <p:tgtEl>
                                          <p:spTgt spid="3">
                                            <p:txEl>
                                              <p:pRg st="12" end="12"/>
                                            </p:txEl>
                                          </p:spTgt>
                                        </p:tgtEl>
                                      </p:cBhvr>
                                    </p:animEffect>
                                    <p:anim calcmode="lin" valueType="num">
                                      <p:cBhvr>
                                        <p:cTn id="8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81"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itchFamily="18" charset="0"/>
                <a:cs typeface="Times New Roman" pitchFamily="18" charset="0"/>
              </a:rPr>
              <a:t>Concurrency Control Algorithms:</a:t>
            </a:r>
            <a:br>
              <a:rPr lang="en-US" sz="2800"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71500" y="743584"/>
            <a:ext cx="8343900" cy="3714119"/>
          </a:xfrm>
        </p:spPr>
        <p:txBody>
          <a:bodyPr>
            <a:noAutofit/>
          </a:bodyPr>
          <a:lstStyle/>
          <a:p>
            <a:pPr marL="171438" indent="0">
              <a:buNone/>
            </a:pPr>
            <a:r>
              <a:rPr lang="en-US" sz="2400" b="1" i="1" u="sng" dirty="0" smtClean="0">
                <a:latin typeface="Times New Roman" pitchFamily="18" charset="0"/>
                <a:cs typeface="Times New Roman" pitchFamily="18" charset="0"/>
              </a:rPr>
              <a:t>Problems </a:t>
            </a:r>
            <a:r>
              <a:rPr lang="en-US" sz="2400" b="1" i="1" u="sng" dirty="0">
                <a:latin typeface="Times New Roman" pitchFamily="18" charset="0"/>
                <a:cs typeface="Times New Roman" pitchFamily="18" charset="0"/>
              </a:rPr>
              <a:t>with Locking:</a:t>
            </a:r>
          </a:p>
          <a:p>
            <a:pPr algn="just"/>
            <a:r>
              <a:rPr lang="en-US" sz="2000" dirty="0">
                <a:latin typeface="Times New Roman" pitchFamily="18" charset="0"/>
                <a:cs typeface="Times New Roman" pitchFamily="18" charset="0"/>
              </a:rPr>
              <a:t>Transaction Schedule May Not be </a:t>
            </a:r>
            <a:r>
              <a:rPr lang="en-US" sz="2000" dirty="0" err="1">
                <a:latin typeface="Times New Roman" pitchFamily="18" charset="0"/>
                <a:cs typeface="Times New Roman" pitchFamily="18" charset="0"/>
              </a:rPr>
              <a:t>Serializable</a:t>
            </a:r>
            <a:endParaRPr lang="en-US" sz="2000" dirty="0">
              <a:latin typeface="Times New Roman" pitchFamily="18" charset="0"/>
              <a:cs typeface="Times New Roman" pitchFamily="18" charset="0"/>
            </a:endParaRPr>
          </a:p>
          <a:p>
            <a:pPr lvl="1" algn="just"/>
            <a:r>
              <a:rPr lang="en-US" dirty="0">
                <a:latin typeface="Times New Roman" pitchFamily="18" charset="0"/>
                <a:cs typeface="Times New Roman" pitchFamily="18" charset="0"/>
              </a:rPr>
              <a:t>Can be solved with 2-Phase Locking</a:t>
            </a:r>
          </a:p>
          <a:p>
            <a:pPr algn="just"/>
            <a:r>
              <a:rPr lang="en-US" sz="2000" dirty="0">
                <a:latin typeface="Times New Roman" pitchFamily="18" charset="0"/>
                <a:cs typeface="Times New Roman" pitchFamily="18" charset="0"/>
              </a:rPr>
              <a:t>May Cause </a:t>
            </a:r>
            <a:r>
              <a:rPr lang="en-US" sz="2000" b="1" u="sng" dirty="0">
                <a:solidFill>
                  <a:srgbClr val="FF0000"/>
                </a:solidFill>
                <a:latin typeface="Times New Roman" pitchFamily="18" charset="0"/>
                <a:cs typeface="Times New Roman" pitchFamily="18" charset="0"/>
              </a:rPr>
              <a:t>Deadlocks</a:t>
            </a:r>
          </a:p>
          <a:p>
            <a:pPr lvl="1" algn="just"/>
            <a:r>
              <a:rPr lang="en-US" dirty="0">
                <a:latin typeface="Times New Roman" pitchFamily="18" charset="0"/>
                <a:cs typeface="Times New Roman" pitchFamily="18" charset="0"/>
              </a:rPr>
              <a:t>A deadlock is caused when 2 transactions wait for each other to unlock data</a:t>
            </a:r>
          </a:p>
          <a:p>
            <a:pPr marL="171438" indent="0">
              <a:buNone/>
            </a:pPr>
            <a:endParaRPr lang="en-US" sz="2400" i="1" u="sng" dirty="0">
              <a:latin typeface="Times New Roman" pitchFamily="18" charset="0"/>
              <a:cs typeface="Times New Roman" pitchFamily="18" charset="0"/>
            </a:endParaRPr>
          </a:p>
        </p:txBody>
      </p:sp>
    </p:spTree>
    <p:extLst>
      <p:ext uri="{BB962C8B-B14F-4D97-AF65-F5344CB8AC3E}">
        <p14:creationId xmlns:p14="http://schemas.microsoft.com/office/powerpoint/2010/main" val="292533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itchFamily="18" charset="0"/>
                <a:cs typeface="Times New Roman" pitchFamily="18" charset="0"/>
              </a:rPr>
              <a:t>Concurrency Control Algorithms:</a:t>
            </a:r>
            <a:br>
              <a:rPr lang="en-US" sz="2800"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71500" y="743584"/>
            <a:ext cx="8343900" cy="3714119"/>
          </a:xfrm>
        </p:spPr>
        <p:txBody>
          <a:bodyPr>
            <a:noAutofit/>
          </a:bodyPr>
          <a:lstStyle/>
          <a:p>
            <a:pPr marL="171438" indent="0">
              <a:buNone/>
            </a:pPr>
            <a:r>
              <a:rPr lang="en-US" sz="2400" b="1" i="1" u="sng" dirty="0" smtClean="0">
                <a:latin typeface="Times New Roman" pitchFamily="18" charset="0"/>
                <a:cs typeface="Times New Roman" pitchFamily="18" charset="0"/>
              </a:rPr>
              <a:t>Two </a:t>
            </a:r>
            <a:r>
              <a:rPr lang="en-US" sz="2400" b="1" i="1" u="sng" dirty="0">
                <a:latin typeface="Times New Roman" pitchFamily="18" charset="0"/>
                <a:cs typeface="Times New Roman" pitchFamily="18" charset="0"/>
              </a:rPr>
              <a:t>Phase Locking:</a:t>
            </a:r>
          </a:p>
          <a:p>
            <a:pPr marL="0" indent="0">
              <a:buNone/>
            </a:pPr>
            <a:r>
              <a:rPr lang="en-US" sz="2400" dirty="0">
                <a:latin typeface="Times New Roman" pitchFamily="18" charset="0"/>
                <a:cs typeface="Times New Roman" pitchFamily="18" charset="0"/>
              </a:rPr>
              <a:t>Defines how transactions </a:t>
            </a:r>
            <a:r>
              <a:rPr lang="en-US" sz="2400" b="1" u="sng" dirty="0">
                <a:latin typeface="Times New Roman" pitchFamily="18" charset="0"/>
                <a:cs typeface="Times New Roman" pitchFamily="18" charset="0"/>
              </a:rPr>
              <a:t>Acquire</a:t>
            </a:r>
            <a:r>
              <a:rPr lang="en-US" sz="2400" dirty="0">
                <a:latin typeface="Times New Roman" pitchFamily="18" charset="0"/>
                <a:cs typeface="Times New Roman" pitchFamily="18" charset="0"/>
              </a:rPr>
              <a:t> and </a:t>
            </a:r>
            <a:r>
              <a:rPr lang="en-US" sz="2400" b="1" u="sng" dirty="0">
                <a:latin typeface="Times New Roman" pitchFamily="18" charset="0"/>
                <a:cs typeface="Times New Roman" pitchFamily="18" charset="0"/>
              </a:rPr>
              <a:t>Relinquish</a:t>
            </a:r>
            <a:r>
              <a:rPr lang="en-US" sz="2400" dirty="0">
                <a:latin typeface="Times New Roman" pitchFamily="18" charset="0"/>
                <a:cs typeface="Times New Roman" pitchFamily="18" charset="0"/>
              </a:rPr>
              <a:t> Locks</a:t>
            </a:r>
          </a:p>
          <a:p>
            <a:pPr marL="609555" indent="-609555">
              <a:buFont typeface="Wingdings" pitchFamily="2" charset="2"/>
              <a:buAutoNum type="arabicPeriod"/>
            </a:pPr>
            <a:r>
              <a:rPr lang="en-US" sz="2400" b="1" u="sng" dirty="0">
                <a:latin typeface="Times New Roman" pitchFamily="18" charset="0"/>
                <a:cs typeface="Times New Roman" pitchFamily="18" charset="0"/>
              </a:rPr>
              <a:t>Growing Phase </a:t>
            </a:r>
            <a:r>
              <a:rPr lang="en-US" sz="2400" dirty="0">
                <a:latin typeface="Times New Roman" pitchFamily="18" charset="0"/>
                <a:cs typeface="Times New Roman" pitchFamily="18" charset="0"/>
              </a:rPr>
              <a:t>– The transaction acquires all locks (doesn’t unlock any data)</a:t>
            </a:r>
          </a:p>
          <a:p>
            <a:pPr marL="609555" indent="-609555">
              <a:buFont typeface="Wingdings" pitchFamily="2" charset="2"/>
              <a:buAutoNum type="arabicPeriod"/>
            </a:pPr>
            <a:r>
              <a:rPr lang="en-US" sz="2400" b="1" u="sng" dirty="0">
                <a:latin typeface="Times New Roman" pitchFamily="18" charset="0"/>
                <a:cs typeface="Times New Roman" pitchFamily="18" charset="0"/>
              </a:rPr>
              <a:t>Shrinking Phase </a:t>
            </a:r>
            <a:r>
              <a:rPr lang="en-US" sz="2400" dirty="0">
                <a:latin typeface="Times New Roman" pitchFamily="18" charset="0"/>
                <a:cs typeface="Times New Roman" pitchFamily="18" charset="0"/>
              </a:rPr>
              <a:t>– The transaction releases locks (doesn’t lock any additional data)</a:t>
            </a:r>
          </a:p>
          <a:p>
            <a:pPr marL="609555" indent="-609555"/>
            <a:r>
              <a:rPr lang="en-US" sz="2400" dirty="0">
                <a:latin typeface="Times New Roman" pitchFamily="18" charset="0"/>
                <a:cs typeface="Times New Roman" pitchFamily="18" charset="0"/>
              </a:rPr>
              <a:t>Transactions acquire all locks it needs until it reaches locked point</a:t>
            </a:r>
          </a:p>
          <a:p>
            <a:pPr marL="609555" indent="-609555"/>
            <a:r>
              <a:rPr lang="en-US" sz="2400" dirty="0">
                <a:latin typeface="Times New Roman" pitchFamily="18" charset="0"/>
                <a:cs typeface="Times New Roman" pitchFamily="18" charset="0"/>
              </a:rPr>
              <a:t>When locked, data is modified and locks are released</a:t>
            </a:r>
          </a:p>
          <a:p>
            <a:pPr marL="171438" indent="0">
              <a:buNone/>
            </a:pPr>
            <a:endParaRPr lang="en-US" sz="2400" i="1" u="sng" dirty="0">
              <a:latin typeface="Times New Roman" pitchFamily="18" charset="0"/>
              <a:cs typeface="Times New Roman" pitchFamily="18" charset="0"/>
            </a:endParaRPr>
          </a:p>
        </p:txBody>
      </p:sp>
    </p:spTree>
    <p:extLst>
      <p:ext uri="{BB962C8B-B14F-4D97-AF65-F5344CB8AC3E}">
        <p14:creationId xmlns:p14="http://schemas.microsoft.com/office/powerpoint/2010/main" val="33479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400" u="sng" dirty="0">
                <a:solidFill>
                  <a:srgbClr val="FF0000"/>
                </a:solidFill>
                <a:latin typeface="Times New Roman" pitchFamily="18" charset="0"/>
                <a:cs typeface="Times New Roman" pitchFamily="18" charset="0"/>
              </a:rPr>
              <a:t>Deadlocks:</a:t>
            </a:r>
            <a:br>
              <a:rPr lang="en-US" sz="2400" u="sng" dirty="0">
                <a:solidFill>
                  <a:srgbClr val="FF0000"/>
                </a:solidFill>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33400" y="895350"/>
            <a:ext cx="8343900" cy="3714119"/>
          </a:xfrm>
        </p:spPr>
        <p:txBody>
          <a:bodyPr>
            <a:noAutofit/>
          </a:bodyPr>
          <a:lstStyle/>
          <a:p>
            <a:pPr>
              <a:lnSpc>
                <a:spcPct val="80000"/>
              </a:lnSpc>
            </a:pPr>
            <a:r>
              <a:rPr lang="en-US" sz="2400" dirty="0" smtClean="0">
                <a:latin typeface="Times New Roman" pitchFamily="18" charset="0"/>
                <a:cs typeface="Times New Roman" pitchFamily="18" charset="0"/>
              </a:rPr>
              <a:t>Occur </a:t>
            </a:r>
            <a:r>
              <a:rPr lang="en-US" sz="2400" dirty="0">
                <a:latin typeface="Times New Roman" pitchFamily="18" charset="0"/>
                <a:cs typeface="Times New Roman" pitchFamily="18" charset="0"/>
              </a:rPr>
              <a:t>when 2 transactions exist in the following mode:</a:t>
            </a:r>
          </a:p>
          <a:p>
            <a:pPr>
              <a:lnSpc>
                <a:spcPct val="80000"/>
              </a:lnSpc>
              <a:buFont typeface="Wingdings" pitchFamily="2" charset="2"/>
              <a:buNone/>
            </a:pPr>
            <a:r>
              <a:rPr lang="en-US" sz="2400" dirty="0">
                <a:latin typeface="Times New Roman" pitchFamily="18" charset="0"/>
                <a:cs typeface="Times New Roman" pitchFamily="18" charset="0"/>
              </a:rPr>
              <a:t>	T1 = access data item X and Y</a:t>
            </a:r>
          </a:p>
          <a:p>
            <a:pPr>
              <a:lnSpc>
                <a:spcPct val="80000"/>
              </a:lnSpc>
              <a:buFont typeface="Wingdings" pitchFamily="2" charset="2"/>
              <a:buNone/>
            </a:pPr>
            <a:r>
              <a:rPr lang="en-US" sz="2400" dirty="0">
                <a:latin typeface="Times New Roman" pitchFamily="18" charset="0"/>
                <a:cs typeface="Times New Roman" pitchFamily="18" charset="0"/>
              </a:rPr>
              <a:t>	T2 = Access data items Y and X</a:t>
            </a:r>
          </a:p>
          <a:p>
            <a:pPr>
              <a:lnSpc>
                <a:spcPct val="80000"/>
              </a:lnSpc>
              <a:buFont typeface="Wingdings" pitchFamily="2" charset="2"/>
              <a:buNone/>
            </a:pPr>
            <a:endParaRPr lang="en-US" sz="2400" dirty="0">
              <a:latin typeface="Times New Roman" pitchFamily="18" charset="0"/>
              <a:cs typeface="Times New Roman" pitchFamily="18" charset="0"/>
            </a:endParaRPr>
          </a:p>
          <a:p>
            <a:pPr>
              <a:lnSpc>
                <a:spcPct val="80000"/>
              </a:lnSpc>
              <a:buFont typeface="Wingdings" pitchFamily="2" charset="2"/>
              <a:buNone/>
            </a:pPr>
            <a:r>
              <a:rPr lang="en-US" sz="2400" dirty="0">
                <a:latin typeface="Times New Roman" pitchFamily="18" charset="0"/>
                <a:cs typeface="Times New Roman" pitchFamily="18" charset="0"/>
              </a:rPr>
              <a:t>If T1 does not unlock Y, T2 cannot begin</a:t>
            </a:r>
          </a:p>
          <a:p>
            <a:pPr>
              <a:lnSpc>
                <a:spcPct val="80000"/>
              </a:lnSpc>
              <a:buFont typeface="Wingdings" pitchFamily="2" charset="2"/>
              <a:buNone/>
            </a:pPr>
            <a:r>
              <a:rPr lang="en-US" sz="2400" dirty="0">
                <a:latin typeface="Times New Roman" pitchFamily="18" charset="0"/>
                <a:cs typeface="Times New Roman" pitchFamily="18" charset="0"/>
              </a:rPr>
              <a:t>If T2 does not unlock X, T1 cannot continue</a:t>
            </a:r>
          </a:p>
          <a:p>
            <a:pPr>
              <a:lnSpc>
                <a:spcPct val="80000"/>
              </a:lnSpc>
              <a:buFont typeface="Wingdings" pitchFamily="2" charset="2"/>
              <a:buNone/>
            </a:pPr>
            <a:endParaRPr lang="en-US" sz="2400" dirty="0">
              <a:latin typeface="Times New Roman" pitchFamily="18" charset="0"/>
              <a:cs typeface="Times New Roman" pitchFamily="18" charset="0"/>
            </a:endParaRPr>
          </a:p>
          <a:p>
            <a:pPr>
              <a:lnSpc>
                <a:spcPct val="80000"/>
              </a:lnSpc>
              <a:buFont typeface="Wingdings" pitchFamily="2" charset="2"/>
              <a:buNone/>
            </a:pPr>
            <a:r>
              <a:rPr lang="en-US" sz="2400" dirty="0">
                <a:latin typeface="Times New Roman" pitchFamily="18" charset="0"/>
                <a:cs typeface="Times New Roman" pitchFamily="18" charset="0"/>
              </a:rPr>
              <a:t>T1 &amp; T2 </a:t>
            </a:r>
            <a:r>
              <a:rPr lang="en-US" sz="2400" u="sng" dirty="0">
                <a:solidFill>
                  <a:srgbClr val="FF0000"/>
                </a:solidFill>
                <a:latin typeface="Times New Roman" pitchFamily="18" charset="0"/>
                <a:cs typeface="Times New Roman" pitchFamily="18" charset="0"/>
              </a:rPr>
              <a:t>wait indefinitely </a:t>
            </a:r>
            <a:r>
              <a:rPr lang="en-US" sz="2400" dirty="0">
                <a:latin typeface="Times New Roman" pitchFamily="18" charset="0"/>
                <a:cs typeface="Times New Roman" pitchFamily="18" charset="0"/>
              </a:rPr>
              <a:t>for each other to unlock data</a:t>
            </a:r>
          </a:p>
          <a:p>
            <a:pPr>
              <a:lnSpc>
                <a:spcPct val="80000"/>
              </a:lnSpc>
            </a:pPr>
            <a:r>
              <a:rPr lang="en-US" sz="2400" dirty="0">
                <a:latin typeface="Times New Roman" pitchFamily="18" charset="0"/>
                <a:cs typeface="Times New Roman" pitchFamily="18" charset="0"/>
              </a:rPr>
              <a:t>Deadlocks are only possible if a transactions wants an Exclusive Lock (No Deadlocks on Shared Locks)</a:t>
            </a:r>
          </a:p>
          <a:p>
            <a:pPr marL="171438" indent="0">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423100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2800" dirty="0">
                <a:latin typeface="Times New Roman" pitchFamily="18" charset="0"/>
                <a:cs typeface="Times New Roman" pitchFamily="18" charset="0"/>
              </a:rPr>
              <a:t>Controlling Deadlocks:</a:t>
            </a:r>
            <a:br>
              <a:rPr lang="en-US" sz="2800"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571500" y="895350"/>
            <a:ext cx="8343900" cy="3714119"/>
          </a:xfrm>
        </p:spPr>
        <p:txBody>
          <a:bodyPr>
            <a:noAutofit/>
          </a:bodyPr>
          <a:lstStyle/>
          <a:p>
            <a:pPr algn="just">
              <a:lnSpc>
                <a:spcPct val="90000"/>
              </a:lnSpc>
            </a:pPr>
            <a:r>
              <a:rPr lang="en-US" sz="2400" b="1" dirty="0" smtClean="0">
                <a:solidFill>
                  <a:srgbClr val="FF0000"/>
                </a:solidFill>
                <a:latin typeface="Times New Roman" pitchFamily="18" charset="0"/>
                <a:cs typeface="Times New Roman" pitchFamily="18" charset="0"/>
              </a:rPr>
              <a:t>Prevention</a:t>
            </a:r>
            <a:r>
              <a:rPr lang="en-US" sz="2400" dirty="0" smtClean="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 A transaction requesting a new lock is aborted if there is the possibility of a deadlock – Transaction is rolled back, Locks are released, Transaction is </a:t>
            </a:r>
            <a:r>
              <a:rPr lang="en-US" sz="2400" dirty="0" smtClean="0">
                <a:latin typeface="Times New Roman" pitchFamily="18" charset="0"/>
                <a:cs typeface="Times New Roman" pitchFamily="18" charset="0"/>
              </a:rPr>
              <a:t>rescheduled</a:t>
            </a:r>
          </a:p>
          <a:p>
            <a:pPr algn="just">
              <a:lnSpc>
                <a:spcPct val="90000"/>
              </a:lnSpc>
            </a:pPr>
            <a:endParaRPr lang="en-US" sz="2400" dirty="0">
              <a:latin typeface="Times New Roman" pitchFamily="18" charset="0"/>
              <a:cs typeface="Times New Roman" pitchFamily="18" charset="0"/>
            </a:endParaRPr>
          </a:p>
          <a:p>
            <a:pPr algn="just">
              <a:lnSpc>
                <a:spcPct val="90000"/>
              </a:lnSpc>
            </a:pPr>
            <a:r>
              <a:rPr lang="en-US" sz="2400" b="1" dirty="0">
                <a:solidFill>
                  <a:srgbClr val="FF0000"/>
                </a:solidFill>
                <a:latin typeface="Times New Roman" pitchFamily="18" charset="0"/>
                <a:cs typeface="Times New Roman" pitchFamily="18" charset="0"/>
              </a:rPr>
              <a:t>Detection</a:t>
            </a:r>
            <a:r>
              <a:rPr lang="en-US" sz="2400" dirty="0">
                <a:latin typeface="Times New Roman" pitchFamily="18" charset="0"/>
                <a:cs typeface="Times New Roman" pitchFamily="18" charset="0"/>
              </a:rPr>
              <a:t> – Periodically test the database for deadlocks.  If a deadlock is found, abort / rollback one of the </a:t>
            </a:r>
            <a:r>
              <a:rPr lang="en-US" sz="2400" dirty="0" smtClean="0">
                <a:latin typeface="Times New Roman" pitchFamily="18" charset="0"/>
                <a:cs typeface="Times New Roman" pitchFamily="18" charset="0"/>
              </a:rPr>
              <a:t>transactions</a:t>
            </a:r>
          </a:p>
          <a:p>
            <a:pPr algn="just">
              <a:lnSpc>
                <a:spcPct val="90000"/>
              </a:lnSpc>
            </a:pPr>
            <a:endParaRPr lang="en-US" sz="2400" dirty="0">
              <a:latin typeface="Times New Roman" pitchFamily="18" charset="0"/>
              <a:cs typeface="Times New Roman" pitchFamily="18" charset="0"/>
            </a:endParaRPr>
          </a:p>
          <a:p>
            <a:pPr algn="just">
              <a:lnSpc>
                <a:spcPct val="90000"/>
              </a:lnSpc>
            </a:pPr>
            <a:r>
              <a:rPr lang="en-US" sz="2400" b="1" dirty="0">
                <a:solidFill>
                  <a:srgbClr val="FF0000"/>
                </a:solidFill>
                <a:latin typeface="Times New Roman" pitchFamily="18" charset="0"/>
                <a:cs typeface="Times New Roman" pitchFamily="18" charset="0"/>
              </a:rPr>
              <a:t>Avoidance</a:t>
            </a:r>
            <a:r>
              <a:rPr lang="en-US" sz="2400" dirty="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 Requires a transaction to obtain all locks needed before it can execute – requires locks to be obtained in succession</a:t>
            </a:r>
          </a:p>
          <a:p>
            <a:pPr marL="171438" indent="0">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114488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Timestamp Ordering </a:t>
            </a:r>
            <a:r>
              <a:rPr lang="en-IN" sz="3200" dirty="0" smtClean="0"/>
              <a:t>Protocol</a:t>
            </a:r>
            <a:endParaRPr lang="en-IN" sz="3200" dirty="0"/>
          </a:p>
        </p:txBody>
      </p:sp>
      <p:sp>
        <p:nvSpPr>
          <p:cNvPr id="3" name="Content Placeholder 2"/>
          <p:cNvSpPr>
            <a:spLocks noGrp="1"/>
          </p:cNvSpPr>
          <p:nvPr>
            <p:ph idx="1"/>
          </p:nvPr>
        </p:nvSpPr>
        <p:spPr/>
        <p:txBody>
          <a:bodyPr>
            <a:normAutofit/>
          </a:bodyPr>
          <a:lstStyle/>
          <a:p>
            <a:pPr algn="just"/>
            <a:r>
              <a:rPr lang="en-US" dirty="0"/>
              <a:t>The Timestamp Ordering Protocol is used to order the transactions based on their Timestamps. The order of transaction is nothing but the ascending order of the transaction creation.</a:t>
            </a:r>
          </a:p>
          <a:p>
            <a:pPr algn="just"/>
            <a:r>
              <a:rPr lang="en-US" dirty="0"/>
              <a:t>The priority of the older transaction is higher that's why it executes first. To determine the timestamp of the transaction, this protocol uses system time or logical counter.</a:t>
            </a:r>
          </a:p>
          <a:p>
            <a:pPr algn="just"/>
            <a:r>
              <a:rPr lang="en-US" dirty="0"/>
              <a:t>The lock-based protocol is used to manage the order between conflicting pairs among transactions at the execution time. </a:t>
            </a:r>
            <a:endParaRPr lang="en-US" dirty="0" smtClean="0"/>
          </a:p>
          <a:p>
            <a:pPr algn="just"/>
            <a:r>
              <a:rPr lang="en-US" dirty="0" smtClean="0"/>
              <a:t>But </a:t>
            </a:r>
            <a:r>
              <a:rPr lang="en-US" dirty="0"/>
              <a:t>Timestamp based protocols start working as soon as a transaction is created</a:t>
            </a:r>
            <a:r>
              <a:rPr lang="en-US" dirty="0" smtClean="0"/>
              <a:t>.</a:t>
            </a:r>
            <a:endParaRPr lang="en-US" dirty="0"/>
          </a:p>
        </p:txBody>
      </p:sp>
    </p:spTree>
    <p:extLst>
      <p:ext uri="{BB962C8B-B14F-4D97-AF65-F5344CB8AC3E}">
        <p14:creationId xmlns:p14="http://schemas.microsoft.com/office/powerpoint/2010/main" val="294893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0" dirty="0"/>
              <a:t>Timestamp Ordering </a:t>
            </a:r>
            <a:r>
              <a:rPr lang="en-IN" sz="3200" b="0" dirty="0" smtClean="0"/>
              <a:t>Protocol</a:t>
            </a:r>
            <a:endParaRPr lang="en-IN" sz="3200" dirty="0"/>
          </a:p>
        </p:txBody>
      </p:sp>
      <p:sp>
        <p:nvSpPr>
          <p:cNvPr id="3" name="Content Placeholder 2"/>
          <p:cNvSpPr>
            <a:spLocks noGrp="1"/>
          </p:cNvSpPr>
          <p:nvPr>
            <p:ph idx="1"/>
          </p:nvPr>
        </p:nvSpPr>
        <p:spPr/>
        <p:txBody>
          <a:bodyPr>
            <a:normAutofit/>
          </a:bodyPr>
          <a:lstStyle/>
          <a:p>
            <a:pPr algn="just"/>
            <a:r>
              <a:rPr lang="en-US" dirty="0" smtClean="0"/>
              <a:t>Let's </a:t>
            </a:r>
            <a:r>
              <a:rPr lang="en-US" dirty="0"/>
              <a:t>assume there are two transactions T1 and T2. Suppose the transaction T1 has entered the system at 007 times and transaction T2 has entered the system at 009 times. T1 has the higher priority, so it executes first as it is entered the system first.</a:t>
            </a:r>
          </a:p>
          <a:p>
            <a:pPr algn="just"/>
            <a:r>
              <a:rPr lang="en-US" dirty="0"/>
              <a:t>The timestamp ordering protocol also maintains the timestamp of last 'read' and 'write' operation on a data</a:t>
            </a:r>
            <a:r>
              <a:rPr lang="en-US" dirty="0" smtClean="0"/>
              <a:t>.</a:t>
            </a:r>
          </a:p>
        </p:txBody>
      </p:sp>
    </p:spTree>
    <p:extLst>
      <p:ext uri="{BB962C8B-B14F-4D97-AF65-F5344CB8AC3E}">
        <p14:creationId xmlns:p14="http://schemas.microsoft.com/office/powerpoint/2010/main" val="146387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Advantage </a:t>
            </a:r>
            <a:r>
              <a:rPr lang="en-US" dirty="0"/>
              <a:t>and </a:t>
            </a:r>
            <a:r>
              <a:rPr lang="en-US" dirty="0">
                <a:solidFill>
                  <a:srgbClr val="FF0000"/>
                </a:solidFill>
              </a:rPr>
              <a:t>Disadvantage</a:t>
            </a:r>
            <a:r>
              <a:rPr lang="en-US" dirty="0" smtClean="0"/>
              <a:t>:-</a:t>
            </a:r>
            <a:endParaRPr lang="en-IN" dirty="0"/>
          </a:p>
        </p:txBody>
      </p:sp>
      <p:sp>
        <p:nvSpPr>
          <p:cNvPr id="3" name="Content Placeholder 2"/>
          <p:cNvSpPr>
            <a:spLocks noGrp="1"/>
          </p:cNvSpPr>
          <p:nvPr>
            <p:ph idx="1"/>
          </p:nvPr>
        </p:nvSpPr>
        <p:spPr/>
        <p:txBody>
          <a:bodyPr/>
          <a:lstStyle/>
          <a:p>
            <a:pPr algn="just"/>
            <a:r>
              <a:rPr lang="en-US" dirty="0" smtClean="0">
                <a:solidFill>
                  <a:schemeClr val="accent6">
                    <a:lumMod val="50000"/>
                  </a:schemeClr>
                </a:solidFill>
              </a:rPr>
              <a:t>TS </a:t>
            </a:r>
            <a:r>
              <a:rPr lang="en-US" dirty="0">
                <a:solidFill>
                  <a:schemeClr val="accent6">
                    <a:lumMod val="50000"/>
                  </a:schemeClr>
                </a:solidFill>
              </a:rPr>
              <a:t>protocol ensures freedom from deadlock that means no transaction ever waits.</a:t>
            </a:r>
          </a:p>
          <a:p>
            <a:pPr algn="just"/>
            <a:r>
              <a:rPr lang="en-US" dirty="0">
                <a:solidFill>
                  <a:srgbClr val="FF0000"/>
                </a:solidFill>
              </a:rPr>
              <a:t>But the schedule may not be recoverable</a:t>
            </a:r>
            <a:r>
              <a:rPr lang="en-US" dirty="0"/>
              <a:t> </a:t>
            </a:r>
            <a:endParaRPr lang="en-US" b="1" u="sng" dirty="0">
              <a:solidFill>
                <a:srgbClr val="FF0000"/>
              </a:solidFill>
            </a:endParaRPr>
          </a:p>
          <a:p>
            <a:pPr algn="just"/>
            <a:endParaRPr lang="en-IN" dirty="0"/>
          </a:p>
          <a:p>
            <a:endParaRPr lang="en-IN" dirty="0"/>
          </a:p>
        </p:txBody>
      </p:sp>
    </p:spTree>
    <p:extLst>
      <p:ext uri="{BB962C8B-B14F-4D97-AF65-F5344CB8AC3E}">
        <p14:creationId xmlns:p14="http://schemas.microsoft.com/office/powerpoint/2010/main" val="34852217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latin typeface="Times New Roman" pitchFamily="18" charset="0"/>
                <a:cs typeface="Times New Roman" pitchFamily="18" charset="0"/>
              </a:rPr>
              <a:t>Optimistic Method</a:t>
            </a:r>
            <a:r>
              <a:rPr lang="en-US" sz="3200" dirty="0" smtClean="0">
                <a:latin typeface="Times New Roman" pitchFamily="18" charset="0"/>
                <a:cs typeface="Times New Roman" pitchFamily="18" charset="0"/>
              </a:rPr>
              <a:t>:</a:t>
            </a:r>
            <a:endParaRPr lang="en-IN" sz="2800" dirty="0"/>
          </a:p>
        </p:txBody>
      </p:sp>
      <p:sp>
        <p:nvSpPr>
          <p:cNvPr id="3" name="Content Placeholder 2"/>
          <p:cNvSpPr>
            <a:spLocks noGrp="1"/>
          </p:cNvSpPr>
          <p:nvPr>
            <p:ph idx="1"/>
          </p:nvPr>
        </p:nvSpPr>
        <p:spPr>
          <a:xfrm>
            <a:off x="571500" y="884074"/>
            <a:ext cx="8420100" cy="4126076"/>
          </a:xfrm>
        </p:spPr>
        <p:txBody>
          <a:bodyPr>
            <a:noAutofit/>
          </a:bodyPr>
          <a:lstStyle/>
          <a:p>
            <a:pPr algn="just">
              <a:lnSpc>
                <a:spcPct val="90000"/>
              </a:lnSpc>
            </a:pPr>
            <a:r>
              <a:rPr lang="en-US" sz="2400" dirty="0" smtClean="0">
                <a:latin typeface="Times New Roman" pitchFamily="18" charset="0"/>
                <a:cs typeface="Times New Roman" pitchFamily="18" charset="0"/>
              </a:rPr>
              <a:t>Most </a:t>
            </a:r>
            <a:r>
              <a:rPr lang="en-US" sz="2400" dirty="0">
                <a:latin typeface="Times New Roman" pitchFamily="18" charset="0"/>
                <a:cs typeface="Times New Roman" pitchFamily="18" charset="0"/>
              </a:rPr>
              <a:t>database operations do not conflict</a:t>
            </a:r>
          </a:p>
          <a:p>
            <a:pPr algn="just">
              <a:lnSpc>
                <a:spcPct val="90000"/>
              </a:lnSpc>
            </a:pPr>
            <a:r>
              <a:rPr lang="en-US" sz="2400" dirty="0">
                <a:latin typeface="Times New Roman" pitchFamily="18" charset="0"/>
                <a:cs typeface="Times New Roman" pitchFamily="18" charset="0"/>
              </a:rPr>
              <a:t>No locking or time stamping</a:t>
            </a:r>
          </a:p>
          <a:p>
            <a:pPr algn="just">
              <a:lnSpc>
                <a:spcPct val="90000"/>
              </a:lnSpc>
            </a:pPr>
            <a:r>
              <a:rPr lang="en-US" sz="2400" dirty="0">
                <a:latin typeface="Times New Roman" pitchFamily="18" charset="0"/>
                <a:cs typeface="Times New Roman" pitchFamily="18" charset="0"/>
              </a:rPr>
              <a:t>Transactions execute until commit</a:t>
            </a:r>
          </a:p>
          <a:p>
            <a:pPr lvl="1" algn="just">
              <a:lnSpc>
                <a:spcPct val="90000"/>
              </a:lnSpc>
            </a:pPr>
            <a:r>
              <a:rPr lang="en-US" sz="2400" dirty="0">
                <a:solidFill>
                  <a:srgbClr val="0070C0"/>
                </a:solidFill>
                <a:latin typeface="Times New Roman" pitchFamily="18" charset="0"/>
                <a:cs typeface="Times New Roman" pitchFamily="18" charset="0"/>
              </a:rPr>
              <a:t>Read Phase </a:t>
            </a:r>
            <a:r>
              <a:rPr lang="en-US" sz="2400" dirty="0">
                <a:latin typeface="Times New Roman" pitchFamily="18" charset="0"/>
                <a:cs typeface="Times New Roman" pitchFamily="18" charset="0"/>
              </a:rPr>
              <a:t>– Read database, execute computations, make local updates (temporary update file)</a:t>
            </a:r>
          </a:p>
          <a:p>
            <a:pPr lvl="1" algn="just">
              <a:lnSpc>
                <a:spcPct val="90000"/>
              </a:lnSpc>
            </a:pPr>
            <a:r>
              <a:rPr lang="en-US" sz="2400" dirty="0">
                <a:solidFill>
                  <a:schemeClr val="accent6"/>
                </a:solidFill>
                <a:latin typeface="Times New Roman" pitchFamily="18" charset="0"/>
                <a:cs typeface="Times New Roman" pitchFamily="18" charset="0"/>
              </a:rPr>
              <a:t>Validate Phase</a:t>
            </a:r>
            <a:r>
              <a:rPr lang="en-US" sz="2400" dirty="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 Transaction is validated to ensure changes will not effect integrity of database</a:t>
            </a:r>
          </a:p>
          <a:p>
            <a:pPr lvl="2" algn="just">
              <a:lnSpc>
                <a:spcPct val="90000"/>
              </a:lnSpc>
            </a:pPr>
            <a:r>
              <a:rPr lang="en-US" dirty="0">
                <a:latin typeface="Times New Roman" pitchFamily="18" charset="0"/>
                <a:cs typeface="Times New Roman" pitchFamily="18" charset="0"/>
              </a:rPr>
              <a:t>If  Validated </a:t>
            </a:r>
            <a:r>
              <a:rPr lang="en-US" dirty="0">
                <a:latin typeface="Times New Roman" pitchFamily="18" charset="0"/>
                <a:cs typeface="Times New Roman" pitchFamily="18" charset="0"/>
                <a:sym typeface="Wingdings" pitchFamily="2" charset="2"/>
              </a:rPr>
              <a:t> Go to Write Phase</a:t>
            </a:r>
          </a:p>
          <a:p>
            <a:pPr lvl="2" algn="just">
              <a:lnSpc>
                <a:spcPct val="90000"/>
              </a:lnSpc>
            </a:pPr>
            <a:r>
              <a:rPr lang="en-US" dirty="0">
                <a:latin typeface="Times New Roman" pitchFamily="18" charset="0"/>
                <a:cs typeface="Times New Roman" pitchFamily="18" charset="0"/>
              </a:rPr>
              <a:t>If Not Validated </a:t>
            </a:r>
            <a:r>
              <a:rPr lang="en-US" dirty="0">
                <a:latin typeface="Times New Roman" pitchFamily="18" charset="0"/>
                <a:cs typeface="Times New Roman" pitchFamily="18" charset="0"/>
                <a:sym typeface="Wingdings" pitchFamily="2" charset="2"/>
              </a:rPr>
              <a:t> Restart Transaction and discard initial changes</a:t>
            </a:r>
            <a:endParaRPr lang="en-US" dirty="0">
              <a:latin typeface="Times New Roman" pitchFamily="18" charset="0"/>
              <a:cs typeface="Times New Roman" pitchFamily="18" charset="0"/>
            </a:endParaRPr>
          </a:p>
          <a:p>
            <a:pPr lvl="1" algn="just">
              <a:lnSpc>
                <a:spcPct val="90000"/>
              </a:lnSpc>
            </a:pPr>
            <a:r>
              <a:rPr lang="en-US" sz="2400" dirty="0">
                <a:solidFill>
                  <a:srgbClr val="FF0000"/>
                </a:solidFill>
                <a:latin typeface="Times New Roman" pitchFamily="18" charset="0"/>
                <a:cs typeface="Times New Roman" pitchFamily="18" charset="0"/>
              </a:rPr>
              <a:t>Write Phase </a:t>
            </a:r>
            <a:r>
              <a:rPr lang="en-US" sz="2400" dirty="0">
                <a:latin typeface="Times New Roman" pitchFamily="18" charset="0"/>
                <a:cs typeface="Times New Roman" pitchFamily="18" charset="0"/>
              </a:rPr>
              <a:t>– Commit Changes to database</a:t>
            </a:r>
          </a:p>
          <a:p>
            <a:pPr algn="just">
              <a:lnSpc>
                <a:spcPct val="90000"/>
              </a:lnSpc>
            </a:pPr>
            <a:r>
              <a:rPr lang="en-US" sz="2400" dirty="0">
                <a:latin typeface="Times New Roman" pitchFamily="18" charset="0"/>
                <a:cs typeface="Times New Roman" pitchFamily="18" charset="0"/>
              </a:rPr>
              <a:t>Good for Read / Query Databases (Few Updates)</a:t>
            </a:r>
          </a:p>
          <a:p>
            <a:pPr marL="171438" indent="0">
              <a:buNone/>
            </a:pP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42318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55938" y="230210"/>
            <a:ext cx="7924800" cy="457200"/>
          </a:xfrm>
        </p:spPr>
        <p:txBody>
          <a:bodyPr>
            <a:noAutofit/>
          </a:bodyPr>
          <a:lstStyle/>
          <a:p>
            <a:r>
              <a:rPr lang="en-US" sz="2400" dirty="0">
                <a:effectLst>
                  <a:outerShdw blurRad="38100" dist="38100" dir="2700000" algn="tl">
                    <a:srgbClr val="000000">
                      <a:alpha val="43137"/>
                    </a:srgbClr>
                  </a:outerShdw>
                </a:effectLst>
                <a:latin typeface="Times New Roman" pitchFamily="18" charset="0"/>
                <a:cs typeface="Times New Roman" pitchFamily="18" charset="0"/>
              </a:rPr>
              <a:t>References</a:t>
            </a:r>
          </a:p>
        </p:txBody>
      </p:sp>
      <p:sp>
        <p:nvSpPr>
          <p:cNvPr id="5" name="Content Placeholder 2"/>
          <p:cNvSpPr>
            <a:spLocks noGrp="1"/>
          </p:cNvSpPr>
          <p:nvPr>
            <p:ph idx="1"/>
          </p:nvPr>
        </p:nvSpPr>
        <p:spPr>
          <a:xfrm>
            <a:off x="521595" y="840347"/>
            <a:ext cx="8316533" cy="4114800"/>
          </a:xfrm>
        </p:spPr>
        <p:txBody>
          <a:bodyPr>
            <a:normAutofit/>
          </a:bodyPr>
          <a:lstStyle/>
          <a:p>
            <a:pPr lvl="0" algn="just"/>
            <a:r>
              <a:rPr lang="en-US" sz="1800" dirty="0" err="1"/>
              <a:t>RamezElmasri</a:t>
            </a:r>
            <a:r>
              <a:rPr lang="en-US" sz="1800" dirty="0"/>
              <a:t> and </a:t>
            </a:r>
            <a:r>
              <a:rPr lang="en-US" sz="1800" dirty="0" err="1"/>
              <a:t>Shamkant</a:t>
            </a:r>
            <a:r>
              <a:rPr lang="en-US" sz="1800" dirty="0"/>
              <a:t> B. </a:t>
            </a:r>
            <a:r>
              <a:rPr lang="en-US" sz="1800" dirty="0" err="1"/>
              <a:t>Navathe</a:t>
            </a:r>
            <a:r>
              <a:rPr lang="en-US" sz="1800" dirty="0"/>
              <a:t>, “Fundamentals of Database System”, The Benjamin / Cummings Publishing Co.</a:t>
            </a:r>
          </a:p>
          <a:p>
            <a:pPr lvl="0" algn="just"/>
            <a:r>
              <a:rPr lang="en-US" sz="1800" dirty="0" err="1"/>
              <a:t>Korth</a:t>
            </a:r>
            <a:r>
              <a:rPr lang="en-US" sz="1800" dirty="0"/>
              <a:t> and </a:t>
            </a:r>
            <a:r>
              <a:rPr lang="en-US" sz="1800" dirty="0" err="1"/>
              <a:t>Silberschatz</a:t>
            </a:r>
            <a:r>
              <a:rPr lang="en-US" sz="1800" dirty="0"/>
              <a:t> Abraham, “Database System Concepts”, McGraw Hall.</a:t>
            </a:r>
          </a:p>
          <a:p>
            <a:pPr lvl="0" algn="just"/>
            <a:r>
              <a:rPr lang="en-US" sz="1800" dirty="0" err="1"/>
              <a:t>C.J.Date</a:t>
            </a:r>
            <a:r>
              <a:rPr lang="en-US" sz="1800" dirty="0"/>
              <a:t>, “An Introduction to Database Systems”, Addison Wesley.</a:t>
            </a:r>
          </a:p>
          <a:p>
            <a:pPr lvl="0" algn="just"/>
            <a:r>
              <a:rPr lang="en-US" sz="1800" dirty="0"/>
              <a:t>Thomas M. Connolly, Carolyn &amp; E. </a:t>
            </a:r>
            <a:r>
              <a:rPr lang="en-US" sz="1800" dirty="0" err="1"/>
              <a:t>Begg</a:t>
            </a:r>
            <a:r>
              <a:rPr lang="en-US" sz="1800" dirty="0"/>
              <a:t>, “Database Systems: A Practical Approach to Design, Implementation and Management”, 5/E, University of Paisley, Addison-Wesley.</a:t>
            </a:r>
          </a:p>
          <a:p>
            <a:pPr algn="just"/>
            <a:endParaRPr lang="en-US" sz="1800" dirty="0"/>
          </a:p>
        </p:txBody>
      </p:sp>
      <p:sp>
        <p:nvSpPr>
          <p:cNvPr id="8" name="Slide Number Placeholder 7"/>
          <p:cNvSpPr>
            <a:spLocks noGrp="1"/>
          </p:cNvSpPr>
          <p:nvPr>
            <p:ph type="sldNum" sz="quarter" idx="12"/>
          </p:nvPr>
        </p:nvSpPr>
        <p:spPr/>
        <p:txBody>
          <a:bodyPr/>
          <a:lstStyle/>
          <a:p>
            <a:fld id="{BDCDBBEF-AA6C-4BA6-85B2-A17D7F280E38}" type="slidenum">
              <a:rPr lang="en-US" smtClean="0"/>
              <a:pPr/>
              <a:t>26</a:t>
            </a:fld>
            <a:endParaRPr lang="en-US"/>
          </a:p>
        </p:txBody>
      </p:sp>
    </p:spTree>
    <p:extLst>
      <p:ext uri="{BB962C8B-B14F-4D97-AF65-F5344CB8AC3E}">
        <p14:creationId xmlns:p14="http://schemas.microsoft.com/office/powerpoint/2010/main" val="18320943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extLst>
          </p:cNvPr>
          <p:cNvSpPr/>
          <p:nvPr/>
        </p:nvSpPr>
        <p:spPr>
          <a:xfrm>
            <a:off x="0" y="1"/>
            <a:ext cx="9144000" cy="3514725"/>
          </a:xfrm>
          <a:prstGeom prst="rect">
            <a:avLst/>
          </a:prstGeom>
          <a:solidFill>
            <a:schemeClr val="accent6">
              <a:lumMod val="50000"/>
              <a:alpha val="60000"/>
            </a:schemeClr>
          </a:solidFill>
          <a:ln w="12700" cap="flat" cmpd="sng" algn="ctr">
            <a:noFill/>
            <a:prstDash val="solid"/>
            <a:miter lim="800000"/>
          </a:ln>
          <a:effectLst/>
        </p:spPr>
        <p:txBody>
          <a:bodyPr lIns="68579" tIns="34289" rIns="68579" bIns="34289" anchor="ctr"/>
          <a:lstStyle/>
          <a:p>
            <a:pPr algn="ctr">
              <a:defRPr/>
            </a:pPr>
            <a:r>
              <a:rPr lang="en-US" dirty="0">
                <a:solidFill>
                  <a:prstClr val="white"/>
                </a:solidFill>
                <a:latin typeface="Calibri Light"/>
              </a:rPr>
              <a:t> </a:t>
            </a:r>
          </a:p>
        </p:txBody>
      </p:sp>
      <p:cxnSp>
        <p:nvCxnSpPr>
          <p:cNvPr id="18" name="Straight Connector 17">
            <a:extLst>
              <a:ext uri="{FF2B5EF4-FFF2-40B4-BE49-F238E27FC236}"/>
            </a:extLst>
          </p:cNvPr>
          <p:cNvCxnSpPr>
            <a:cxnSpLocks/>
          </p:cNvCxnSpPr>
          <p:nvPr/>
        </p:nvCxnSpPr>
        <p:spPr>
          <a:xfrm>
            <a:off x="7010400" y="0"/>
            <a:ext cx="1371600" cy="13716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extLst>
          </p:cNvPr>
          <p:cNvCxnSpPr>
            <a:cxnSpLocks/>
          </p:cNvCxnSpPr>
          <p:nvPr/>
        </p:nvCxnSpPr>
        <p:spPr>
          <a:xfrm>
            <a:off x="7627145" y="2"/>
            <a:ext cx="497681" cy="49768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extLst>
          </p:cNvPr>
          <p:cNvCxnSpPr>
            <a:cxnSpLocks/>
          </p:cNvCxnSpPr>
          <p:nvPr/>
        </p:nvCxnSpPr>
        <p:spPr>
          <a:xfrm>
            <a:off x="550069" y="4720829"/>
            <a:ext cx="419100" cy="4191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extLst>
          </p:cNvPr>
          <p:cNvCxnSpPr>
            <a:cxnSpLocks/>
          </p:cNvCxnSpPr>
          <p:nvPr/>
        </p:nvCxnSpPr>
        <p:spPr>
          <a:xfrm>
            <a:off x="292895" y="3846910"/>
            <a:ext cx="1296591" cy="12965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77159" name="Title 1"/>
          <p:cNvSpPr txBox="1">
            <a:spLocks/>
          </p:cNvSpPr>
          <p:nvPr/>
        </p:nvSpPr>
        <p:spPr bwMode="auto">
          <a:xfrm>
            <a:off x="1114426" y="1687116"/>
            <a:ext cx="8043863" cy="92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US" altLang="en-US" sz="6000">
                <a:solidFill>
                  <a:srgbClr val="FFFFFF"/>
                </a:solidFill>
                <a:ea typeface="Segoe UI" pitchFamily="34" charset="0"/>
                <a:cs typeface="Times New Roman" pitchFamily="18" charset="0"/>
              </a:rPr>
              <a:t>THANK YOU</a:t>
            </a:r>
          </a:p>
        </p:txBody>
      </p:sp>
      <p:sp>
        <p:nvSpPr>
          <p:cNvPr id="177160" name="Diamond 6"/>
          <p:cNvSpPr>
            <a:spLocks/>
          </p:cNvSpPr>
          <p:nvPr/>
        </p:nvSpPr>
        <p:spPr bwMode="auto">
          <a:xfrm>
            <a:off x="1981202" y="910829"/>
            <a:ext cx="1822847" cy="2419350"/>
          </a:xfrm>
          <a:custGeom>
            <a:avLst/>
            <a:gdLst>
              <a:gd name="T0" fmla="*/ 2430463 w 2430463"/>
              <a:gd name="T1" fmla="*/ 2413000 h 3225800"/>
              <a:gd name="T2" fmla="*/ 1612900 w 2430463"/>
              <a:gd name="T3" fmla="*/ 3225800 h 3225800"/>
              <a:gd name="T4" fmla="*/ 0 w 2430463"/>
              <a:gd name="T5" fmla="*/ 1612900 h 3225800"/>
              <a:gd name="T6" fmla="*/ 1612900 w 2430463"/>
              <a:gd name="T7" fmla="*/ 0 h 3225800"/>
              <a:gd name="T8" fmla="*/ 2430463 w 2430463"/>
              <a:gd name="T9" fmla="*/ 817563 h 322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79" tIns="34289" rIns="68579" bIns="34289" anchor="ctr"/>
          <a:lstStyle/>
          <a:p>
            <a:endParaRPr lang="en-IN"/>
          </a:p>
        </p:txBody>
      </p:sp>
      <p:sp>
        <p:nvSpPr>
          <p:cNvPr id="177161" name="Diamond 6"/>
          <p:cNvSpPr>
            <a:spLocks/>
          </p:cNvSpPr>
          <p:nvPr/>
        </p:nvSpPr>
        <p:spPr bwMode="auto">
          <a:xfrm>
            <a:off x="2174083" y="910829"/>
            <a:ext cx="1822847" cy="2419350"/>
          </a:xfrm>
          <a:custGeom>
            <a:avLst/>
            <a:gdLst>
              <a:gd name="T0" fmla="*/ 2430463 w 2430463"/>
              <a:gd name="T1" fmla="*/ 2413000 h 3225800"/>
              <a:gd name="T2" fmla="*/ 1612900 w 2430463"/>
              <a:gd name="T3" fmla="*/ 3225800 h 3225800"/>
              <a:gd name="T4" fmla="*/ 0 w 2430463"/>
              <a:gd name="T5" fmla="*/ 1612900 h 3225800"/>
              <a:gd name="T6" fmla="*/ 1612900 w 2430463"/>
              <a:gd name="T7" fmla="*/ 0 h 3225800"/>
              <a:gd name="T8" fmla="*/ 2430463 w 2430463"/>
              <a:gd name="T9" fmla="*/ 817563 h 322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79" tIns="34289" rIns="68579" bIns="34289" anchor="ctr"/>
          <a:lstStyle/>
          <a:p>
            <a:endParaRPr lang="en-IN"/>
          </a:p>
        </p:txBody>
      </p:sp>
      <p:grpSp>
        <p:nvGrpSpPr>
          <p:cNvPr id="177162" name="Group 28"/>
          <p:cNvGrpSpPr>
            <a:grpSpLocks/>
          </p:cNvGrpSpPr>
          <p:nvPr/>
        </p:nvGrpSpPr>
        <p:grpSpPr bwMode="auto">
          <a:xfrm>
            <a:off x="178595" y="114301"/>
            <a:ext cx="307181" cy="1209675"/>
            <a:chOff x="83821" y="0"/>
            <a:chExt cx="219636" cy="903079"/>
          </a:xfrm>
        </p:grpSpPr>
        <p:sp>
          <p:nvSpPr>
            <p:cNvPr id="30" name="Rectangle 29"/>
            <p:cNvSpPr/>
            <p:nvPr/>
          </p:nvSpPr>
          <p:spPr>
            <a:xfrm>
              <a:off x="83821" y="0"/>
              <a:ext cx="219636" cy="2106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84673" y="408874"/>
              <a:ext cx="218784" cy="49420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ectangle 31"/>
            <p:cNvSpPr/>
            <p:nvPr/>
          </p:nvSpPr>
          <p:spPr>
            <a:xfrm>
              <a:off x="83821" y="210659"/>
              <a:ext cx="217933" cy="221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177168" name="Object 32"/>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114" name="CorelDRAW" r:id="rId3" imgW="2169000" imgH="2169360" progId="">
                    <p:embed/>
                  </p:oleObj>
                </mc:Choice>
                <mc:Fallback>
                  <p:oleObj name="CorelDRAW" r:id="rId3" imgW="2169000" imgH="2169360" progId="">
                    <p:embed/>
                    <p:pic>
                      <p:nvPicPr>
                        <p:cNvPr id="0"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77163" name="Rectangle 1"/>
          <p:cNvSpPr>
            <a:spLocks noChangeArrowheads="1"/>
          </p:cNvSpPr>
          <p:nvPr/>
        </p:nvSpPr>
        <p:spPr bwMode="auto">
          <a:xfrm>
            <a:off x="3084910" y="4045745"/>
            <a:ext cx="4645309" cy="807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79" tIns="34289" rIns="68579" bIns="34289">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dirty="0">
                <a:latin typeface="+mj-lt"/>
                <a:cs typeface="Segoe UI" pitchFamily="34" charset="0"/>
              </a:rPr>
              <a:t>For queries</a:t>
            </a:r>
          </a:p>
          <a:p>
            <a:r>
              <a:rPr lang="en-US" altLang="en-US" dirty="0">
                <a:latin typeface="+mj-lt"/>
                <a:cs typeface="Segoe UI" pitchFamily="34" charset="0"/>
              </a:rPr>
              <a:t>Email</a:t>
            </a:r>
            <a:r>
              <a:rPr lang="en-US" altLang="en-US">
                <a:latin typeface="+mj-lt"/>
                <a:cs typeface="Segoe UI" pitchFamily="34" charset="0"/>
              </a:rPr>
              <a:t>: </a:t>
            </a:r>
            <a:r>
              <a:rPr lang="en-US" altLang="en-US" smtClean="0">
                <a:latin typeface="+mj-lt"/>
                <a:cs typeface="Segoe UI" pitchFamily="34" charset="0"/>
                <a:hlinkClick r:id="rId5"/>
              </a:rPr>
              <a:t>shaveta.e13464@cumail.in</a:t>
            </a:r>
            <a:r>
              <a:rPr lang="en-US" altLang="en-US" smtClean="0">
                <a:latin typeface="+mj-lt"/>
                <a:cs typeface="Segoe UI" pitchFamily="34" charset="0"/>
              </a:rPr>
              <a:t> </a:t>
            </a:r>
            <a:endParaRPr lang="en-US" altLang="en-US" dirty="0">
              <a:latin typeface="+mj-lt"/>
            </a:endParaRPr>
          </a:p>
        </p:txBody>
      </p:sp>
      <p:sp>
        <p:nvSpPr>
          <p:cNvPr id="177164" name="Slide Number Placeholder 1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800">
                <a:solidFill>
                  <a:schemeClr val="tx1"/>
                </a:solidFill>
                <a:latin typeface="Times New Roman" pitchFamily="18" charset="0"/>
              </a:defRPr>
            </a:lvl1pPr>
            <a:lvl2pPr marL="557199" indent="-214308">
              <a:defRPr sz="1800">
                <a:solidFill>
                  <a:schemeClr val="tx1"/>
                </a:solidFill>
                <a:latin typeface="Times New Roman" pitchFamily="18" charset="0"/>
              </a:defRPr>
            </a:lvl2pPr>
            <a:lvl3pPr marL="857228" indent="-171446">
              <a:defRPr sz="1800">
                <a:solidFill>
                  <a:schemeClr val="tx1"/>
                </a:solidFill>
                <a:latin typeface="Times New Roman" pitchFamily="18" charset="0"/>
              </a:defRPr>
            </a:lvl3pPr>
            <a:lvl4pPr marL="1200120" indent="-171446">
              <a:defRPr sz="1800">
                <a:solidFill>
                  <a:schemeClr val="tx1"/>
                </a:solidFill>
                <a:latin typeface="Times New Roman" pitchFamily="18" charset="0"/>
              </a:defRPr>
            </a:lvl4pPr>
            <a:lvl5pPr marL="1543012" indent="-171446">
              <a:defRPr sz="1800">
                <a:solidFill>
                  <a:schemeClr val="tx1"/>
                </a:solidFill>
                <a:latin typeface="Times New Roman" pitchFamily="18" charset="0"/>
              </a:defRPr>
            </a:lvl5pPr>
            <a:lvl6pPr marL="1885903" indent="-171446" eaLnBrk="0" fontAlgn="base" hangingPunct="0">
              <a:spcBef>
                <a:spcPct val="0"/>
              </a:spcBef>
              <a:spcAft>
                <a:spcPct val="0"/>
              </a:spcAft>
              <a:defRPr sz="1800">
                <a:solidFill>
                  <a:schemeClr val="tx1"/>
                </a:solidFill>
                <a:latin typeface="Times New Roman" pitchFamily="18" charset="0"/>
              </a:defRPr>
            </a:lvl6pPr>
            <a:lvl7pPr marL="2228795" indent="-171446" eaLnBrk="0" fontAlgn="base" hangingPunct="0">
              <a:spcBef>
                <a:spcPct val="0"/>
              </a:spcBef>
              <a:spcAft>
                <a:spcPct val="0"/>
              </a:spcAft>
              <a:defRPr sz="1800">
                <a:solidFill>
                  <a:schemeClr val="tx1"/>
                </a:solidFill>
                <a:latin typeface="Times New Roman" pitchFamily="18" charset="0"/>
              </a:defRPr>
            </a:lvl7pPr>
            <a:lvl8pPr marL="2571686" indent="-171446" eaLnBrk="0" fontAlgn="base" hangingPunct="0">
              <a:spcBef>
                <a:spcPct val="0"/>
              </a:spcBef>
              <a:spcAft>
                <a:spcPct val="0"/>
              </a:spcAft>
              <a:defRPr sz="1800">
                <a:solidFill>
                  <a:schemeClr val="tx1"/>
                </a:solidFill>
                <a:latin typeface="Times New Roman" pitchFamily="18" charset="0"/>
              </a:defRPr>
            </a:lvl8pPr>
            <a:lvl9pPr marL="2914577" indent="-171446" eaLnBrk="0" fontAlgn="base" hangingPunct="0">
              <a:spcBef>
                <a:spcPct val="0"/>
              </a:spcBef>
              <a:spcAft>
                <a:spcPct val="0"/>
              </a:spcAft>
              <a:defRPr sz="1800">
                <a:solidFill>
                  <a:schemeClr val="tx1"/>
                </a:solidFill>
                <a:latin typeface="Times New Roman" pitchFamily="18" charset="0"/>
              </a:defRPr>
            </a:lvl9pPr>
          </a:lstStyle>
          <a:p>
            <a:fld id="{8AC26643-7CEF-4538-9372-1F7FE56F9D0A}" type="slidenum">
              <a:rPr lang="en-US" altLang="en-US" sz="900">
                <a:solidFill>
                  <a:srgbClr val="898989"/>
                </a:solidFill>
              </a:rPr>
              <a:pPr/>
              <a:t>27</a:t>
            </a:fld>
            <a:endParaRPr lang="en-US" altLang="en-US" sz="900">
              <a:solidFill>
                <a:srgbClr val="898989"/>
              </a:solidFill>
            </a:endParaRPr>
          </a:p>
        </p:txBody>
      </p:sp>
    </p:spTree>
    <p:extLst>
      <p:ext uri="{BB962C8B-B14F-4D97-AF65-F5344CB8AC3E}">
        <p14:creationId xmlns:p14="http://schemas.microsoft.com/office/powerpoint/2010/main" val="120616636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 THEME</Template>
  <TotalTime>817</TotalTime>
  <Words>1216</Words>
  <Application>Microsoft Office PowerPoint</Application>
  <PresentationFormat>On-screen Show (16:9)</PresentationFormat>
  <Paragraphs>197</Paragraphs>
  <Slides>27</Slides>
  <Notes>12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8" baseType="lpstr">
      <vt:lpstr>Arial</vt:lpstr>
      <vt:lpstr>Calibri</vt:lpstr>
      <vt:lpstr>Calibri Light</vt:lpstr>
      <vt:lpstr>Cambria</vt:lpstr>
      <vt:lpstr>Casper</vt:lpstr>
      <vt:lpstr>Karla</vt:lpstr>
      <vt:lpstr>Segoe UI</vt:lpstr>
      <vt:lpstr>Times New Roman</vt:lpstr>
      <vt:lpstr>Wingdings</vt:lpstr>
      <vt:lpstr>CU THEME</vt:lpstr>
      <vt:lpstr>CorelDRAW</vt:lpstr>
      <vt:lpstr>PowerPoint Presentation</vt:lpstr>
      <vt:lpstr>DBMS: Course Objectives</vt:lpstr>
      <vt:lpstr>COURSE OUTCOMES</vt:lpstr>
      <vt:lpstr>Table of Content</vt:lpstr>
      <vt:lpstr>Transaction</vt:lpstr>
      <vt:lpstr>ACID Properties:</vt:lpstr>
      <vt:lpstr>ACID Properties:</vt:lpstr>
      <vt:lpstr>ACID Properties:</vt:lpstr>
      <vt:lpstr>ACID Properties:</vt:lpstr>
      <vt:lpstr>Transaction States:</vt:lpstr>
      <vt:lpstr>Transaction States:</vt:lpstr>
      <vt:lpstr>Transaction States:</vt:lpstr>
      <vt:lpstr>Concurrency Control Algorithms:</vt:lpstr>
      <vt:lpstr>Concurrency Control Algorithms: </vt:lpstr>
      <vt:lpstr>Concurrency Control Algorithms: </vt:lpstr>
      <vt:lpstr>Concurrency Control Algorithms: </vt:lpstr>
      <vt:lpstr>Concurrency Control Algorithms: </vt:lpstr>
      <vt:lpstr>Concurrency Control Algorithms: </vt:lpstr>
      <vt:lpstr>Concurrency Control Algorithms: </vt:lpstr>
      <vt:lpstr>Deadlocks: </vt:lpstr>
      <vt:lpstr>Controlling Deadlocks: </vt:lpstr>
      <vt:lpstr>Timestamp Ordering Protocol</vt:lpstr>
      <vt:lpstr>Timestamp Ordering Protocol</vt:lpstr>
      <vt:lpstr>Advantage and Disadvantage:-</vt:lpstr>
      <vt:lpstr>Optimistic Method:</vt:lpstr>
      <vt:lpstr>References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PRAMOD</dc:creator>
  <cp:lastModifiedBy>shavetapc</cp:lastModifiedBy>
  <cp:revision>61</cp:revision>
  <dcterms:created xsi:type="dcterms:W3CDTF">2006-08-16T00:00:00Z</dcterms:created>
  <dcterms:modified xsi:type="dcterms:W3CDTF">2023-06-28T05:06:00Z</dcterms:modified>
</cp:coreProperties>
</file>