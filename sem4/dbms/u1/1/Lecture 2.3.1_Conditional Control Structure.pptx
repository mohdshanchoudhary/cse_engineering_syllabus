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  <p:sldMasterId id="2147483716" r:id="rId2"/>
    <p:sldMasterId id="2147483724" r:id="rId3"/>
  </p:sldMasterIdLst>
  <p:notesMasterIdLst>
    <p:notesMasterId r:id="rId20"/>
  </p:notesMasterIdLst>
  <p:handoutMasterIdLst>
    <p:handoutMasterId r:id="rId21"/>
  </p:handoutMasterIdLst>
  <p:sldIdLst>
    <p:sldId id="564" r:id="rId4"/>
    <p:sldId id="565" r:id="rId5"/>
    <p:sldId id="566" r:id="rId6"/>
    <p:sldId id="492" r:id="rId7"/>
    <p:sldId id="542" r:id="rId8"/>
    <p:sldId id="543" r:id="rId9"/>
    <p:sldId id="544" r:id="rId10"/>
    <p:sldId id="545" r:id="rId11"/>
    <p:sldId id="560" r:id="rId12"/>
    <p:sldId id="546" r:id="rId13"/>
    <p:sldId id="547" r:id="rId14"/>
    <p:sldId id="561" r:id="rId15"/>
    <p:sldId id="563" r:id="rId16"/>
    <p:sldId id="562" r:id="rId17"/>
    <p:sldId id="567" r:id="rId18"/>
    <p:sldId id="568" r:id="rId19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1" y="114301"/>
            <a:ext cx="11137900" cy="952500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1" y="1130301"/>
            <a:ext cx="11112500" cy="54229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525"/>
            <a:ext cx="106172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411289"/>
            <a:ext cx="5283200" cy="4841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11289"/>
            <a:ext cx="5181600" cy="48418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8989" y="1389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3653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4144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9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378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300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500"/>
            </a:lvl2pPr>
            <a:lvl3pPr marL="914377" indent="0">
              <a:buNone/>
              <a:defRPr sz="1200"/>
            </a:lvl3pPr>
            <a:lvl4pPr marL="1371566" indent="0">
              <a:buNone/>
              <a:defRPr sz="1100"/>
            </a:lvl4pPr>
            <a:lvl5pPr marL="1828754" indent="0">
              <a:buNone/>
              <a:defRPr sz="1100"/>
            </a:lvl5pPr>
            <a:lvl6pPr marL="2285943" indent="0">
              <a:buNone/>
              <a:defRPr sz="1100"/>
            </a:lvl6pPr>
            <a:lvl7pPr marL="2743131" indent="0">
              <a:buNone/>
              <a:defRPr sz="1100"/>
            </a:lvl7pPr>
            <a:lvl8pPr marL="3200320" indent="0">
              <a:buNone/>
              <a:defRPr sz="1100"/>
            </a:lvl8pPr>
            <a:lvl9pPr marL="3657509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9525"/>
            <a:ext cx="10515600" cy="132556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93826"/>
            <a:ext cx="10515600" cy="46767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0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0"/>
            <a:ext cx="10020300" cy="523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1"/>
            <a:ext cx="8496300" cy="2800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840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5D0073C8-0A48-4244-8E9D-08D8DD12C58D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82214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"/>
          <p:cNvSpPr>
            <a:spLocks noChangeShapeType="1"/>
          </p:cNvSpPr>
          <p:nvPr userDrawn="1"/>
        </p:nvSpPr>
        <p:spPr bwMode="auto">
          <a:xfrm>
            <a:off x="493186" y="6371167"/>
            <a:ext cx="1113578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© Shamkant B. Navathe</a:t>
            </a:r>
          </a:p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47548-8845-4F0E-8A07-710E305E2AE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95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515600" cy="10414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231903"/>
            <a:ext cx="10515600" cy="4945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C46B2302-045A-4668-984B-3C5BE618699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659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2"/>
            <a:ext cx="10617200" cy="10795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282703"/>
            <a:ext cx="5283200" cy="497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3503"/>
            <a:ext cx="5181600" cy="49196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9AA05721-3903-495E-894A-65F9BE153C7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7296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139702"/>
            <a:ext cx="10515600" cy="10033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9" y="1262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235201"/>
            <a:ext cx="5157787" cy="3814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274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260603"/>
            <a:ext cx="5183188" cy="3802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B13DEAD1-F451-4E82-89A6-99DCDD23E42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940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836" y="2"/>
            <a:ext cx="3932237" cy="11136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9" y="1266094"/>
            <a:ext cx="6185511" cy="45949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556" y="1242647"/>
            <a:ext cx="4278923" cy="4626343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0DCEE521-46F3-4C13-A306-CBFB70C57F5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680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16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2" y="1257300"/>
            <a:ext cx="10680700" cy="48132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884265B6-0BB3-435B-B77A-F18C8DD5AF4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474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1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2"/>
            <a:ext cx="10020300" cy="5238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2"/>
            <a:ext cx="8496300" cy="2800351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23730640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© Shamkant B. Navathe</a:t>
            </a:r>
          </a:p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1C96D6-C8F7-4C32-9AA2-6BF4C34B36A6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493187" y="6371167"/>
            <a:ext cx="11135783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8165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515600" cy="10414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2" y="1155701"/>
            <a:ext cx="11099799" cy="5410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A8916FEE-7A26-42F3-99D1-9208733151A7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151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2"/>
            <a:ext cx="10617200" cy="10795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6600" y="1282703"/>
            <a:ext cx="5283200" cy="49704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3503"/>
            <a:ext cx="5181600" cy="49196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E1444DA8-889D-4499-94A7-885073F29CBC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9386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88" y="139702"/>
            <a:ext cx="10515600" cy="10033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9" y="12620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689" y="2235201"/>
            <a:ext cx="5157787" cy="3814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2747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260603"/>
            <a:ext cx="5183188" cy="3802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74220612-F9CC-4544-B51B-1C152B0C8099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286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836" y="2"/>
            <a:ext cx="3932237" cy="111369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879" y="1266094"/>
            <a:ext cx="6185511" cy="459495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556" y="1242647"/>
            <a:ext cx="4278923" cy="4626343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500"/>
            </a:lvl2pPr>
            <a:lvl3pPr marL="914354" indent="0">
              <a:buNone/>
              <a:defRPr sz="1200"/>
            </a:lvl3pPr>
            <a:lvl4pPr marL="1371532" indent="0">
              <a:buNone/>
              <a:defRPr sz="1100"/>
            </a:lvl4pPr>
            <a:lvl5pPr marL="1828709" indent="0">
              <a:buNone/>
              <a:defRPr sz="1100"/>
            </a:lvl5pPr>
            <a:lvl6pPr marL="2285886" indent="0">
              <a:buNone/>
              <a:defRPr sz="1100"/>
            </a:lvl6pPr>
            <a:lvl7pPr marL="2743062" indent="0">
              <a:buNone/>
              <a:defRPr sz="1100"/>
            </a:lvl7pPr>
            <a:lvl8pPr marL="3200240" indent="0">
              <a:buNone/>
              <a:defRPr sz="1100"/>
            </a:lvl8pPr>
            <a:lvl9pPr marL="3657418" indent="0">
              <a:buNone/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14E47071-1705-42E1-A06A-E02AACAC3DBA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149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14300"/>
            <a:ext cx="10617200" cy="1016000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1202" y="1130299"/>
            <a:ext cx="11087100" cy="5448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t>Chapter 23-</a:t>
            </a:r>
            <a:fld id="{D2B044A6-BB09-4CB9-9D5E-A50A2A2FB080}" type="slidenum">
              <a:rPr lang="en-US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846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1" y="1905000"/>
            <a:ext cx="12211051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4" name="Прямоугольник 8"/>
          <p:cNvSpPr/>
          <p:nvPr/>
        </p:nvSpPr>
        <p:spPr>
          <a:xfrm>
            <a:off x="-19051" y="1"/>
            <a:ext cx="12211051" cy="4438651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-1" fmla="*/ 19050 w 12211050"/>
              <a:gd name="connsiteY0-2" fmla="*/ 0 h 4133850"/>
              <a:gd name="connsiteX1-3" fmla="*/ 12211050 w 12211050"/>
              <a:gd name="connsiteY1-4" fmla="*/ 0 h 4133850"/>
              <a:gd name="connsiteX2-5" fmla="*/ 12211050 w 12211050"/>
              <a:gd name="connsiteY2-6" fmla="*/ 4133850 h 4133850"/>
              <a:gd name="connsiteX3-7" fmla="*/ 0 w 12211050"/>
              <a:gd name="connsiteY3-8" fmla="*/ 3219450 h 4133850"/>
              <a:gd name="connsiteX4-9" fmla="*/ 19050 w 12211050"/>
              <a:gd name="connsiteY4-10" fmla="*/ 0 h 4133850"/>
              <a:gd name="connsiteX0-11" fmla="*/ 19050 w 12211050"/>
              <a:gd name="connsiteY0-12" fmla="*/ 0 h 4438650"/>
              <a:gd name="connsiteX1-13" fmla="*/ 12211050 w 12211050"/>
              <a:gd name="connsiteY1-14" fmla="*/ 0 h 4438650"/>
              <a:gd name="connsiteX2-15" fmla="*/ 12211050 w 12211050"/>
              <a:gd name="connsiteY2-16" fmla="*/ 4438650 h 4438650"/>
              <a:gd name="connsiteX3-17" fmla="*/ 0 w 12211050"/>
              <a:gd name="connsiteY3-18" fmla="*/ 3219450 h 4438650"/>
              <a:gd name="connsiteX4-19" fmla="*/ 19050 w 12211050"/>
              <a:gd name="connsiteY4-20" fmla="*/ 0 h 443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5" name="Прямоугольник 3"/>
          <p:cNvSpPr/>
          <p:nvPr/>
        </p:nvSpPr>
        <p:spPr>
          <a:xfrm>
            <a:off x="1085851" y="1009651"/>
            <a:ext cx="10020300" cy="523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400">
              <a:buClr>
                <a:srgbClr val="FF0000"/>
              </a:buClr>
              <a:buFont typeface="Wingdings" pitchFamily="2" charset="2"/>
              <a:buNone/>
              <a:defRPr/>
            </a:pPr>
            <a:endParaRPr lang="ru-RU" sz="4300" baseline="-25000" dirty="0">
              <a:solidFill>
                <a:prstClr val="white"/>
              </a:solidFill>
            </a:endParaRPr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1" y="2819402"/>
            <a:ext cx="8496300" cy="2800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 smtClean="0"/>
              <a:t>Click icon to add picture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1114968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9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6600" y="22225"/>
            <a:ext cx="106172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600" y="1411290"/>
            <a:ext cx="10617200" cy="4829175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4" r:id="rId12"/>
    <p:sldLayoutId id="2147483715" r:id="rId13"/>
    <p:sldLayoutId id="2147483733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736600" y="101600"/>
            <a:ext cx="106172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36600" y="1270000"/>
            <a:ext cx="10617200" cy="496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6183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altLang="en-US" baseline="-2500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t>Chapter 23-</a:t>
            </a:r>
            <a:fld id="{811BD57C-FFFB-4588-83A2-DF40ECF90F9A}" type="slidenum">
              <a:rPr lang="en-US" altLang="en-US" baseline="-2500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alt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5" name="Line 23"/>
          <p:cNvSpPr>
            <a:spLocks noChangeShapeType="1"/>
          </p:cNvSpPr>
          <p:nvPr userDrawn="1"/>
        </p:nvSpPr>
        <p:spPr bwMode="auto">
          <a:xfrm flipH="1">
            <a:off x="406401" y="6443133"/>
            <a:ext cx="11804651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83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2pPr>
      <a:lvl3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3pPr>
      <a:lvl4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4pPr>
      <a:lvl5pPr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5pPr>
      <a:lvl6pPr marL="60957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6pPr>
      <a:lvl7pPr marL="121914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7pPr>
      <a:lvl8pPr marL="182870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8pPr>
      <a:lvl9pPr marL="2438278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Calibri" pitchFamily="34" charset="0"/>
        </a:defRPr>
      </a:lvl9pPr>
    </p:titleStyle>
    <p:bodyStyle>
      <a:lvl1pPr marL="228589" indent="-228589" algn="l" defTabSz="914354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6601" y="101600"/>
            <a:ext cx="11036299" cy="10414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599" y="1143002"/>
            <a:ext cx="11036300" cy="5310716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 dirty="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altLang="en-US" baseline="-25000" smtClean="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t>Chapter 23-</a:t>
            </a:r>
            <a:fld id="{556D1AAB-69AF-4F0B-9C74-B602DBF2CC1B}" type="slidenum">
              <a:rPr lang="en-US" altLang="en-US" baseline="-25000" smtClean="0">
                <a:solidFill>
                  <a:prstClr val="black">
                    <a:tint val="75000"/>
                  </a:prstClr>
                </a:solidFill>
                <a:latin typeface="Times New Roman" pitchFamily="18" charset="0"/>
                <a:cs typeface="Times New Roman" pitchFamily="18" charset="0"/>
              </a:rPr>
              <a:pPr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t>‹#›</a:t>
            </a:fld>
            <a:endParaRPr lang="en-US" altLang="en-US" baseline="-25000">
              <a:solidFill>
                <a:prstClr val="black">
                  <a:tint val="75000"/>
                </a:prst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Line 23"/>
          <p:cNvSpPr>
            <a:spLocks noChangeShapeType="1"/>
          </p:cNvSpPr>
          <p:nvPr userDrawn="1"/>
        </p:nvSpPr>
        <p:spPr bwMode="auto">
          <a:xfrm flipH="1">
            <a:off x="406401" y="6453717"/>
            <a:ext cx="11804651" cy="0"/>
          </a:xfrm>
          <a:prstGeom prst="line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04" tIns="60952" rIns="121904" bIns="60952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4300" baseline="-25000" smtClean="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06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2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5" Type="http://schemas.openxmlformats.org/officeDocument/2006/relationships/hyperlink" Target="mailto:shaveta.e13464@cumail.in" TargetMode="Externa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233" y="5427133"/>
            <a:ext cx="12196233" cy="1517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688" y="5903387"/>
            <a:ext cx="44449" cy="6117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9220" name="Slide Number Placeholder 2"/>
          <p:cNvSpPr txBox="1">
            <a:spLocks/>
          </p:cNvSpPr>
          <p:nvPr/>
        </p:nvSpPr>
        <p:spPr bwMode="auto">
          <a:xfrm>
            <a:off x="8763000" y="6508754"/>
            <a:ext cx="2743200" cy="36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5143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8572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2001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154305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0002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4574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29146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37185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endParaRPr lang="en-US" altLang="en-US" sz="1200" baseline="-25000">
              <a:solidFill>
                <a:srgbClr val="898989"/>
              </a:solidFill>
              <a:cs typeface="Times New Roman" pitchFamily="18" charset="0"/>
            </a:endParaRPr>
          </a:p>
        </p:txBody>
      </p:sp>
      <p:sp>
        <p:nvSpPr>
          <p:cNvPr id="46" name="Right Triangle 45">
            <a:extLst>
              <a:ext uri="{FF2B5EF4-FFF2-40B4-BE49-F238E27FC236}"/>
            </a:extLst>
          </p:cNvPr>
          <p:cNvSpPr/>
          <p:nvPr/>
        </p:nvSpPr>
        <p:spPr>
          <a:xfrm flipV="1">
            <a:off x="9508070" y="5941487"/>
            <a:ext cx="1291167" cy="115570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en-ID" kern="0" baseline="-25000">
              <a:solidFill>
                <a:srgbClr val="FFFFFF"/>
              </a:solidFill>
              <a:cs typeface="Times New Roman" pitchFamily="18" charset="0"/>
            </a:endParaRPr>
          </a:p>
        </p:txBody>
      </p:sp>
      <p:graphicFrame>
        <p:nvGraphicFramePr>
          <p:cNvPr id="9222" name="Object 47"/>
          <p:cNvGraphicFramePr>
            <a:graphicFrameLocks noChangeAspect="1"/>
          </p:cNvGraphicFramePr>
          <p:nvPr/>
        </p:nvGraphicFramePr>
        <p:xfrm>
          <a:off x="76200" y="3122085"/>
          <a:ext cx="3304117" cy="314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3122085"/>
                        <a:ext cx="3304117" cy="31474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/>
            </a:extLst>
          </p:cNvPr>
          <p:cNvSpPr/>
          <p:nvPr/>
        </p:nvSpPr>
        <p:spPr>
          <a:xfrm flipH="1">
            <a:off x="7046384" y="-65617"/>
            <a:ext cx="5145616" cy="5854701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>
              <a:buClr>
                <a:srgbClr val="FF0000"/>
              </a:buClr>
              <a:buFont typeface="Wingdings" pitchFamily="2" charset="2"/>
              <a:buNone/>
              <a:defRPr/>
            </a:pPr>
            <a:endParaRPr lang="en-ID" kern="0" baseline="-25000">
              <a:solidFill>
                <a:srgbClr val="FFFFFF"/>
              </a:solidFill>
              <a:cs typeface="Times New Roman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80" y="2025530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pic>
        <p:nvPicPr>
          <p:cNvPr id="9227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" y="23284"/>
            <a:ext cx="3858684" cy="1538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9829804" y="5334000"/>
            <a:ext cx="2366433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9229" name="TextBox 35"/>
          <p:cNvSpPr txBox="1">
            <a:spLocks noChangeArrowheads="1"/>
          </p:cNvSpPr>
          <p:nvPr/>
        </p:nvSpPr>
        <p:spPr bwMode="auto">
          <a:xfrm>
            <a:off x="6881284" y="6019804"/>
            <a:ext cx="4927600" cy="46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US" altLang="en-US" sz="2000" b="1" baseline="-25000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sz="2000" b="1" baseline="-25000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sz="2000" b="1" baseline="-25000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</a:t>
            </a:r>
            <a:endParaRPr lang="en-US" altLang="en-US" sz="1200" b="1" baseline="-25000">
              <a:solidFill>
                <a:srgbClr val="000000"/>
              </a:solidFill>
              <a:latin typeface="Casper"/>
              <a:cs typeface="Times New Roman" pitchFamily="18" charset="0"/>
            </a:endParaRP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endParaRPr lang="en-US" altLang="en-US" sz="1600" b="1" baseline="-2500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521" y="6043084"/>
            <a:ext cx="46567" cy="3704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5135" name="TextBox 52"/>
          <p:cNvSpPr txBox="1">
            <a:spLocks noChangeArrowheads="1"/>
          </p:cNvSpPr>
          <p:nvPr/>
        </p:nvSpPr>
        <p:spPr bwMode="auto">
          <a:xfrm>
            <a:off x="455084" y="6028267"/>
            <a:ext cx="6432549" cy="387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 defTabSz="622300">
              <a:lnSpc>
                <a:spcPct val="90000"/>
              </a:lnSpc>
              <a:spcBef>
                <a:spcPts val="1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622300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6223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  <a:defRPr/>
            </a:pPr>
            <a:r>
              <a:rPr lang="en-US" altLang="en-US" sz="3200" b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Conditional Control Structure</a:t>
            </a:r>
          </a:p>
        </p:txBody>
      </p:sp>
      <p:sp>
        <p:nvSpPr>
          <p:cNvPr id="9232" name="TextBox 25"/>
          <p:cNvSpPr txBox="1">
            <a:spLocks noChangeArrowheads="1"/>
          </p:cNvSpPr>
          <p:nvPr/>
        </p:nvSpPr>
        <p:spPr bwMode="auto">
          <a:xfrm>
            <a:off x="497421" y="1462621"/>
            <a:ext cx="11104033" cy="3208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8" rIns="91432" bIns="45718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5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IN" altLang="en-US" sz="4800" b="1" baseline="-25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APEX INSTITUTE OF TECHNOLOGY</a:t>
            </a:r>
            <a:endParaRPr lang="en-US" altLang="en-US" sz="4800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FontTx/>
              <a:buNone/>
            </a:pPr>
            <a:r>
              <a:rPr lang="en-IN" altLang="en-US" sz="3200" b="1" baseline="-25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DEPARTMENT OF COMPUTER SCIENCE &amp; ENGINEERING</a:t>
            </a: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3200" b="1" baseline="-25000" dirty="0">
              <a:solidFill>
                <a:prstClr val="black"/>
              </a:solidFill>
              <a:latin typeface="Cambria" pitchFamily="18" charset="0"/>
              <a:ea typeface="Calibri" pitchFamily="34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r>
              <a:rPr lang="en-US" altLang="en-US" sz="4800" b="1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Database Management System (</a:t>
            </a:r>
            <a:r>
              <a:rPr lang="en-US" altLang="en-US" sz="4800" b="1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22CSH-243</a:t>
            </a:r>
            <a:r>
              <a:rPr lang="en-US" altLang="en-US" sz="4800" b="1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)</a:t>
            </a:r>
            <a:endParaRPr lang="en-US" altLang="en-US" sz="4800" b="1" baseline="-25000" dirty="0">
              <a:solidFill>
                <a:srgbClr val="262626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r>
              <a:rPr lang="en-US" altLang="en-US" sz="3700" b="1" baseline="-25000" dirty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Faculty: </a:t>
            </a:r>
            <a:r>
              <a:rPr lang="en-US" altLang="en-US" sz="3700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Ms. </a:t>
            </a:r>
            <a:r>
              <a:rPr lang="en-US" altLang="en-US" sz="3700" baseline="-25000" dirty="0" err="1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Shaveta</a:t>
            </a:r>
            <a:r>
              <a:rPr lang="en-US" altLang="en-US" sz="3700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 Jain</a:t>
            </a:r>
            <a:r>
              <a:rPr lang="en-US" altLang="en-US" sz="37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altLang="en-US" sz="3700" baseline="-25000" dirty="0" smtClean="0">
                <a:solidFill>
                  <a:srgbClr val="262626"/>
                </a:solidFill>
                <a:latin typeface="Cambria" pitchFamily="18" charset="0"/>
                <a:cs typeface="Times New Roman" pitchFamily="18" charset="0"/>
              </a:rPr>
              <a:t>(E13464)</a:t>
            </a:r>
            <a:endParaRPr lang="en-US" altLang="en-US" sz="3700" baseline="-25000" dirty="0">
              <a:solidFill>
                <a:srgbClr val="262626"/>
              </a:solidFill>
              <a:latin typeface="Cambria" pitchFamily="18" charset="0"/>
              <a:cs typeface="Times New Roman" pitchFamily="18" charset="0"/>
            </a:endParaRPr>
          </a:p>
          <a:p>
            <a:pPr algn="ctr" fontAlgn="base">
              <a:spcBef>
                <a:spcPct val="0"/>
              </a:spcBef>
              <a:spcAft>
                <a:spcPct val="35000"/>
              </a:spcAft>
              <a:buClr>
                <a:srgbClr val="FF0000"/>
              </a:buClr>
              <a:buFontTx/>
              <a:buNone/>
            </a:pPr>
            <a:endParaRPr lang="en-US" altLang="en-US" sz="1600" baseline="-250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B4551E-6DCE-45DD-AA5D-A5BE73813C6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503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084" y="3"/>
            <a:ext cx="10515600" cy="1352551"/>
          </a:xfrm>
        </p:spPr>
        <p:txBody>
          <a:bodyPr rtlCol="0"/>
          <a:lstStyle/>
          <a:p>
            <a:pPr fontAlgn="auto">
              <a:spcAft>
                <a:spcPts val="0"/>
              </a:spcAft>
              <a:defRPr/>
            </a:pPr>
            <a:r>
              <a:rPr lang="en-I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DBMS: Course Objectives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5BBA92-600E-410E-8319-D8C11B3452A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4484" y="1147235"/>
            <a:ext cx="11074400" cy="4036484"/>
          </a:xfrm>
          <a:prstGeom prst="rect">
            <a:avLst/>
          </a:prstGeom>
        </p:spPr>
        <p:txBody>
          <a:bodyPr lIns="91432" tIns="45718" rIns="91432" bIns="45718">
            <a:spAutoFit/>
          </a:bodyPr>
          <a:lstStyle/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sz="3700" b="1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COURSE OBJECTIVES</a:t>
            </a:r>
            <a:endParaRPr lang="en-US" sz="37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r>
              <a:rPr lang="en-US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Course aims to:</a:t>
            </a:r>
            <a:endParaRPr lang="en-US" sz="3700" b="1" i="1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Understand database system concepts and design databases for different applications and to acquire the knowledge on DBMS and RDBMS.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Implement and understand different types of DDL, DML and DCL statements.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155" indent="-457155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IN" sz="3700" baseline="-25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Understand transaction concepts related to databases and recovery/backup techniques required for the proper storage of data.</a:t>
            </a:r>
            <a:endParaRPr lang="en-US" sz="3700" baseline="-25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78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>
          <a:xfrm>
            <a:off x="709087" y="351368"/>
            <a:ext cx="11127316" cy="535517"/>
          </a:xfrm>
          <a:extLst/>
        </p:spPr>
        <p:txBody>
          <a:bodyPr rtlCol="0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E82911-6D97-47FF-B3A8-48569A1384A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6219" y="6324600"/>
            <a:ext cx="444500" cy="4233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2" tIns="45718" rIns="91432" bIns="45718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  <a:defRPr/>
            </a:pPr>
            <a:endParaRPr lang="en-US" sz="4300" baseline="-25000">
              <a:solidFill>
                <a:prstClr val="white"/>
              </a:solidFill>
            </a:endParaRPr>
          </a:p>
        </p:txBody>
      </p:sp>
      <p:sp>
        <p:nvSpPr>
          <p:cNvPr id="11270" name="Rectangle 3"/>
          <p:cNvSpPr>
            <a:spLocks noChangeArrowheads="1"/>
          </p:cNvSpPr>
          <p:nvPr/>
        </p:nvSpPr>
        <p:spPr bwMode="auto">
          <a:xfrm>
            <a:off x="721784" y="1172636"/>
            <a:ext cx="7747000" cy="474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8" rIns="91432" bIns="45718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IN" altLang="en-US" sz="3700">
                <a:solidFill>
                  <a:prstClr val="black"/>
                </a:solidFill>
              </a:rPr>
              <a:t>On completion of this course, the students shall be able to:-</a:t>
            </a:r>
            <a:endParaRPr lang="en-US" altLang="en-US" sz="3700">
              <a:solidFill>
                <a:prstClr val="black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6084" y="1932517"/>
          <a:ext cx="10826749" cy="722437"/>
        </p:xfrm>
        <a:graphic>
          <a:graphicData uri="http://schemas.openxmlformats.org/drawingml/2006/table">
            <a:tbl>
              <a:tblPr/>
              <a:tblGrid>
                <a:gridCol w="941525"/>
                <a:gridCol w="9885224"/>
              </a:tblGrid>
              <a:tr h="72243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IN" altLang="en-US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Arial" pitchFamily="34" charset="0"/>
                        </a:rPr>
                        <a:t>CO3</a:t>
                      </a:r>
                      <a:endParaRPr kumimoji="0" lang="en-US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Arial" pitchFamily="34" charset="0"/>
                      </a:endParaRPr>
                    </a:p>
                  </a:txBody>
                  <a:tcPr marL="68591" marR="6859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6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itchFamily="34" charset="0"/>
                        <a:tabLst>
                          <a:tab pos="407988" algn="l"/>
                        </a:tabLst>
                        <a:defRPr sz="1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425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07988" algn="l"/>
                        </a:tabLst>
                      </a:pPr>
                      <a:r>
                        <a:rPr kumimoji="0" lang="en-IN" altLang="en-US" sz="2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 pitchFamily="18" charset="0"/>
                          <a:cs typeface="Arial" pitchFamily="34" charset="0"/>
                        </a:rPr>
                        <a:t>Apply relational algebra and relational calculus to query the database of organization</a:t>
                      </a:r>
                      <a:endParaRPr kumimoji="0" lang="en-US" altLang="en-US" sz="2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Arial" pitchFamily="34" charset="0"/>
                      </a:endParaRPr>
                    </a:p>
                  </a:txBody>
                  <a:tcPr marL="68591" marR="68591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64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Lecture Outline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Control Structures of PL/SQL</a:t>
            </a:r>
          </a:p>
          <a:p>
            <a:r>
              <a:rPr lang="en-IN" dirty="0" smtClean="0"/>
              <a:t>Loops</a:t>
            </a:r>
          </a:p>
          <a:p>
            <a:r>
              <a:rPr lang="en-IN" dirty="0" smtClean="0"/>
              <a:t>Nested Loops</a:t>
            </a:r>
          </a:p>
          <a:p>
            <a:r>
              <a:rPr lang="en-IN" dirty="0" smtClean="0"/>
              <a:t>For</a:t>
            </a:r>
          </a:p>
          <a:p>
            <a:r>
              <a:rPr lang="en-IN" dirty="0" smtClean="0"/>
              <a:t>While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Structure of PL/SQL</a:t>
            </a:r>
            <a:endParaRPr lang="en-IN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2837" y="1223494"/>
            <a:ext cx="10414511" cy="4678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Structure of PL/SQL</a:t>
            </a:r>
            <a:endParaRPr lang="en-IN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390" y="1197249"/>
            <a:ext cx="9062433" cy="5437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 for Structure of PL/SQL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0070" y="1159098"/>
            <a:ext cx="7659439" cy="491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 for Structure of PL/SQL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DECLARE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a number;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		text1 varchar2(20);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text2 varchar2(20)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:=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“HI”;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BEGIN</a:t>
            </a:r>
          </a:p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DBMS_OUTPUT.PUT_LINE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(text2) ;        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---------- ---------- ----------;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END;</a:t>
            </a:r>
          </a:p>
          <a:p>
            <a:endParaRPr lang="en-IN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DBMS_OUTPUT.PUT_LINE(text2)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It prints Message and value of variable</a:t>
            </a:r>
          </a:p>
          <a:p>
            <a:r>
              <a:rPr lang="en-IN" dirty="0" smtClean="0"/>
              <a:t>Package: </a:t>
            </a:r>
            <a:r>
              <a:rPr lang="en-IN" dirty="0" err="1" smtClean="0"/>
              <a:t>Dbms_Output</a:t>
            </a:r>
            <a:endParaRPr lang="en-IN" dirty="0" smtClean="0"/>
          </a:p>
          <a:p>
            <a:r>
              <a:rPr lang="en-IN" dirty="0" smtClean="0"/>
              <a:t>Procedure: </a:t>
            </a:r>
            <a:r>
              <a:rPr lang="en-IN" dirty="0" err="1" smtClean="0"/>
              <a:t>Put_Line</a:t>
            </a:r>
            <a:r>
              <a:rPr lang="en-IN" dirty="0" smtClean="0"/>
              <a:t>()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PL/SQL Control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PL/SQL has a number of control structures which  includes: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Conditional controls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Iterative or loop controls.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It is these controls, used singly or together, that allow the PL/SQL developer to direct the flow of execution through the program.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30978" y="4089248"/>
            <a:ext cx="6900625" cy="1918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PL/SQL Control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Structure: Conditional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Controls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6" y="1113692"/>
            <a:ext cx="11106543" cy="5454533"/>
          </a:xfrm>
        </p:spPr>
        <p:txBody>
          <a:bodyPr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Conditional Controls</a:t>
            </a:r>
          </a:p>
          <a:p>
            <a:pPr lvl="1">
              <a:buFontTx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IF....THEN....END IF;</a:t>
            </a:r>
          </a:p>
          <a:p>
            <a:pPr lvl="1">
              <a:buFontTx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IF....THEN...ELSE....END IF;</a:t>
            </a:r>
          </a:p>
          <a:p>
            <a:pPr lvl="1">
              <a:buFontTx/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Tx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IF....THEN...ELSIF....THEN....ELSE....END IF;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THEN ELSE STATEMENT</a:t>
            </a:r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21217" y="1120463"/>
            <a:ext cx="11037195" cy="5647698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r>
              <a:rPr lang="en-US" dirty="0" smtClean="0"/>
              <a:t>1</a:t>
            </a:r>
            <a:r>
              <a:rPr lang="en-US" dirty="0"/>
              <a:t>)		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IF </a:t>
            </a:r>
            <a:r>
              <a:rPr lang="en-US" dirty="0"/>
              <a:t>condition THEN </a:t>
            </a:r>
          </a:p>
          <a:p>
            <a:r>
              <a:rPr lang="en-US" dirty="0"/>
              <a:t> 	Statement 1; </a:t>
            </a:r>
          </a:p>
          <a:p>
            <a:r>
              <a:rPr lang="en-US" dirty="0"/>
              <a:t>ELSE 	</a:t>
            </a:r>
          </a:p>
          <a:p>
            <a:r>
              <a:rPr lang="en-US" dirty="0"/>
              <a:t> 	Statement 2; </a:t>
            </a:r>
          </a:p>
          <a:p>
            <a:r>
              <a:rPr lang="en-US" b="1" dirty="0"/>
              <a:t>END IF;</a:t>
            </a:r>
            <a:endParaRPr lang="en-US" dirty="0"/>
          </a:p>
          <a:p>
            <a:r>
              <a:rPr lang="en-US" dirty="0"/>
              <a:t> 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2)		</a:t>
            </a:r>
            <a:endParaRPr lang="en-US" dirty="0" smtClean="0"/>
          </a:p>
          <a:p>
            <a:endParaRPr lang="en-US" b="1" dirty="0"/>
          </a:p>
          <a:p>
            <a:r>
              <a:rPr lang="en-US" b="1" dirty="0" smtClean="0"/>
              <a:t>IF</a:t>
            </a:r>
            <a:r>
              <a:rPr lang="en-US" dirty="0" smtClean="0"/>
              <a:t> </a:t>
            </a:r>
            <a:r>
              <a:rPr lang="en-US" dirty="0"/>
              <a:t>condition 1 </a:t>
            </a:r>
            <a:r>
              <a:rPr lang="en-US" b="1" dirty="0"/>
              <a:t>THEN</a:t>
            </a:r>
            <a:r>
              <a:rPr lang="en-US" dirty="0"/>
              <a:t> </a:t>
            </a:r>
          </a:p>
          <a:p>
            <a:r>
              <a:rPr lang="en-US" dirty="0"/>
              <a:t> 	Statement 1; </a:t>
            </a:r>
          </a:p>
          <a:p>
            <a:r>
              <a:rPr lang="en-US" dirty="0"/>
              <a:t> 	Statement 2; </a:t>
            </a:r>
          </a:p>
          <a:p>
            <a:r>
              <a:rPr lang="en-US" b="1" dirty="0" err="1"/>
              <a:t>ELSIF</a:t>
            </a:r>
            <a:r>
              <a:rPr lang="en-US" dirty="0"/>
              <a:t> condtion2 THEN </a:t>
            </a:r>
          </a:p>
          <a:p>
            <a:r>
              <a:rPr lang="en-US" dirty="0"/>
              <a:t> 	Statement 3; </a:t>
            </a:r>
          </a:p>
          <a:p>
            <a:r>
              <a:rPr lang="en-US" dirty="0"/>
              <a:t>        ELSE </a:t>
            </a:r>
          </a:p>
          <a:p>
            <a:r>
              <a:rPr lang="en-US" dirty="0"/>
              <a:t> 	Statement 4; </a:t>
            </a:r>
          </a:p>
          <a:p>
            <a:r>
              <a:rPr lang="en-US" dirty="0"/>
              <a:t>END IF</a:t>
            </a:r>
          </a:p>
        </p:txBody>
      </p:sp>
    </p:spTree>
    <p:extLst>
      <p:ext uri="{BB962C8B-B14F-4D97-AF65-F5344CB8AC3E}">
        <p14:creationId xmlns:p14="http://schemas.microsoft.com/office/powerpoint/2010/main" val="79403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PL/SQL code for finding Even Numbers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BEGIN</a:t>
            </a:r>
          </a:p>
          <a:p>
            <a:pPr marL="0" indent="0">
              <a:buNone/>
            </a:pPr>
            <a:r>
              <a:rPr lang="en-US" sz="2400" dirty="0"/>
              <a:t>FOR I IN 1..100 LOOP</a:t>
            </a:r>
          </a:p>
          <a:p>
            <a:pPr marL="0" indent="0">
              <a:buNone/>
            </a:pPr>
            <a:r>
              <a:rPr lang="en-US" sz="2400" dirty="0"/>
              <a:t>  IF MOD(I,2)=0 THEN</a:t>
            </a:r>
          </a:p>
          <a:p>
            <a:pPr marL="0" indent="0">
              <a:buNone/>
            </a:pPr>
            <a:r>
              <a:rPr lang="en-US" sz="2400" dirty="0"/>
              <a:t>     </a:t>
            </a:r>
            <a:r>
              <a:rPr lang="en-US" sz="2400" dirty="0" err="1"/>
              <a:t>DBMS_OUTPUT.PUT_LINE</a:t>
            </a:r>
            <a:r>
              <a:rPr lang="en-US" sz="2400" dirty="0"/>
              <a:t>(I);</a:t>
            </a:r>
          </a:p>
          <a:p>
            <a:pPr marL="0" indent="0">
              <a:buNone/>
            </a:pPr>
            <a:r>
              <a:rPr lang="en-US" sz="2400" dirty="0"/>
              <a:t>  END IF;</a:t>
            </a:r>
          </a:p>
          <a:p>
            <a:pPr marL="0" indent="0">
              <a:buNone/>
            </a:pPr>
            <a:r>
              <a:rPr lang="en-US" sz="2400" dirty="0"/>
              <a:t>END LOOP;</a:t>
            </a:r>
          </a:p>
          <a:p>
            <a:pPr marL="0" indent="0">
              <a:buNone/>
            </a:pPr>
            <a:r>
              <a:rPr lang="en-US" sz="2400" dirty="0"/>
              <a:t>END;</a:t>
            </a:r>
          </a:p>
          <a:p>
            <a:pPr marL="0" indent="0">
              <a:buNone/>
            </a:pPr>
            <a:r>
              <a:rPr lang="en-US" sz="2400" dirty="0"/>
              <a:t>/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7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4" y="605307"/>
            <a:ext cx="10985679" cy="5885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b="1" dirty="0"/>
              <a:t>//Write PL/SQL code to find Largest of three numbers.</a:t>
            </a:r>
          </a:p>
          <a:p>
            <a:pPr marL="0" indent="0">
              <a:buNone/>
            </a:pPr>
            <a:r>
              <a:rPr lang="en-US" sz="1200" dirty="0"/>
              <a:t>DECLARE</a:t>
            </a:r>
          </a:p>
          <a:p>
            <a:pPr marL="0" indent="0">
              <a:buNone/>
            </a:pPr>
            <a:r>
              <a:rPr lang="en-US" sz="1200" dirty="0"/>
              <a:t>A NUMBER;</a:t>
            </a:r>
          </a:p>
          <a:p>
            <a:pPr marL="0" indent="0">
              <a:buNone/>
            </a:pPr>
            <a:r>
              <a:rPr lang="en-US" sz="1200" dirty="0"/>
              <a:t>B NUMBER;</a:t>
            </a:r>
          </a:p>
          <a:p>
            <a:pPr marL="0" indent="0">
              <a:buNone/>
            </a:pPr>
            <a:r>
              <a:rPr lang="en-US" sz="1200" dirty="0"/>
              <a:t>C NUMBER;</a:t>
            </a:r>
          </a:p>
          <a:p>
            <a:pPr marL="0" indent="0">
              <a:buNone/>
            </a:pPr>
            <a:r>
              <a:rPr lang="en-US" sz="1200" dirty="0"/>
              <a:t>BEGIN</a:t>
            </a:r>
          </a:p>
          <a:p>
            <a:pPr marL="0" indent="0">
              <a:buNone/>
            </a:pPr>
            <a:r>
              <a:rPr lang="en-US" sz="1200" dirty="0"/>
              <a:t>A:=&amp;A;</a:t>
            </a:r>
          </a:p>
          <a:p>
            <a:pPr marL="0" indent="0">
              <a:buNone/>
            </a:pPr>
            <a:r>
              <a:rPr lang="en-US" sz="1200" dirty="0"/>
              <a:t>B:=&amp;B;</a:t>
            </a:r>
          </a:p>
          <a:p>
            <a:pPr marL="0" indent="0">
              <a:buNone/>
            </a:pPr>
            <a:r>
              <a:rPr lang="en-US" sz="1200" dirty="0"/>
              <a:t>C:=&amp;C;</a:t>
            </a:r>
          </a:p>
          <a:p>
            <a:pPr marL="0" indent="0">
              <a:buNone/>
            </a:pPr>
            <a:r>
              <a:rPr lang="en-US" sz="1200" dirty="0"/>
              <a:t>IF A=B AND B=C AND C=A THEN</a:t>
            </a:r>
          </a:p>
          <a:p>
            <a:pPr marL="0" indent="0">
              <a:buNone/>
            </a:pPr>
            <a:r>
              <a:rPr lang="en-US" sz="1200" dirty="0" err="1"/>
              <a:t>DBMS_OUTPUT.PUT_LINE</a:t>
            </a:r>
            <a:r>
              <a:rPr lang="en-US" sz="1200" dirty="0"/>
              <a:t>('ALL ARE EQUAL');</a:t>
            </a:r>
          </a:p>
          <a:p>
            <a:pPr marL="0" indent="0">
              <a:buNone/>
            </a:pPr>
            <a:r>
              <a:rPr lang="en-US" sz="1200" dirty="0"/>
              <a:t>ELSE IF A&gt;B AND A&gt;C THEN</a:t>
            </a:r>
          </a:p>
          <a:p>
            <a:pPr marL="0" indent="0">
              <a:buNone/>
            </a:pPr>
            <a:r>
              <a:rPr lang="en-US" sz="1200" dirty="0" err="1"/>
              <a:t>DBMS_OUTPUT.PUT_LINE</a:t>
            </a:r>
            <a:r>
              <a:rPr lang="en-US" sz="1200" dirty="0"/>
              <a:t>('A IS GREATER');</a:t>
            </a:r>
          </a:p>
          <a:p>
            <a:pPr marL="0" indent="0">
              <a:buNone/>
            </a:pPr>
            <a:r>
              <a:rPr lang="en-US" sz="1200" dirty="0"/>
              <a:t>ELSE IF B&gt;C THEN</a:t>
            </a:r>
          </a:p>
          <a:p>
            <a:pPr marL="0" indent="0">
              <a:buNone/>
            </a:pPr>
            <a:r>
              <a:rPr lang="en-US" sz="1200" dirty="0" err="1"/>
              <a:t>DBMS_OUTPUT.PUT_LINE</a:t>
            </a:r>
            <a:r>
              <a:rPr lang="en-US" sz="1200" dirty="0"/>
              <a:t>('B IS GREATER');</a:t>
            </a:r>
          </a:p>
          <a:p>
            <a:pPr marL="0" indent="0">
              <a:buNone/>
            </a:pPr>
            <a:r>
              <a:rPr lang="en-US" sz="1200" dirty="0"/>
              <a:t>ELSE</a:t>
            </a:r>
          </a:p>
          <a:p>
            <a:pPr marL="0" indent="0">
              <a:buNone/>
            </a:pPr>
            <a:r>
              <a:rPr lang="en-US" sz="1200" dirty="0" err="1"/>
              <a:t>DBMS_OUTPUT.PUT_LINE</a:t>
            </a:r>
            <a:r>
              <a:rPr lang="en-US" sz="1200" dirty="0"/>
              <a:t>('C IS GREATER');</a:t>
            </a:r>
          </a:p>
          <a:p>
            <a:pPr marL="0" indent="0">
              <a:buNone/>
            </a:pPr>
            <a:r>
              <a:rPr lang="en-US" sz="1200" dirty="0"/>
              <a:t>END IF;</a:t>
            </a:r>
          </a:p>
          <a:p>
            <a:pPr marL="0" indent="0">
              <a:buNone/>
            </a:pPr>
            <a:r>
              <a:rPr lang="en-US" sz="1200" dirty="0"/>
              <a:t>END IF;</a:t>
            </a:r>
          </a:p>
          <a:p>
            <a:pPr marL="0" indent="0">
              <a:buNone/>
            </a:pPr>
            <a:r>
              <a:rPr lang="en-US" sz="1200" dirty="0"/>
              <a:t>END IF;</a:t>
            </a:r>
          </a:p>
          <a:p>
            <a:pPr marL="0" indent="0">
              <a:buNone/>
            </a:pPr>
            <a:r>
              <a:rPr lang="en-US" sz="1200" dirty="0"/>
              <a:t>END;/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209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690037" y="243417"/>
            <a:ext cx="11197167" cy="609600"/>
          </a:xfrm>
        </p:spPr>
        <p:txBody>
          <a:bodyPr/>
          <a:lstStyle/>
          <a:p>
            <a:r>
              <a:rPr lang="en-US" altLang="en-US" smtClean="0"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690033" y="1109133"/>
            <a:ext cx="11093451" cy="5446184"/>
          </a:xfrm>
        </p:spPr>
        <p:txBody>
          <a:bodyPr/>
          <a:lstStyle/>
          <a:p>
            <a:pPr algn="just"/>
            <a:r>
              <a:rPr lang="en-US" altLang="en-US" dirty="0" err="1" smtClean="0"/>
              <a:t>RamezElmasri</a:t>
            </a:r>
            <a:r>
              <a:rPr lang="en-US" altLang="en-US" dirty="0" smtClean="0"/>
              <a:t> and </a:t>
            </a:r>
            <a:r>
              <a:rPr lang="en-US" altLang="en-US" dirty="0" err="1" smtClean="0"/>
              <a:t>Shamkant</a:t>
            </a:r>
            <a:r>
              <a:rPr lang="en-US" altLang="en-US" dirty="0" smtClean="0"/>
              <a:t> B. </a:t>
            </a:r>
            <a:r>
              <a:rPr lang="en-US" altLang="en-US" dirty="0" err="1" smtClean="0"/>
              <a:t>Navathe</a:t>
            </a:r>
            <a:r>
              <a:rPr lang="en-US" altLang="en-US" dirty="0" smtClean="0"/>
              <a:t>, “Fundamentals of Database System”, The Benjamin / Cummings Publishing Co.</a:t>
            </a:r>
          </a:p>
          <a:p>
            <a:pPr algn="just"/>
            <a:r>
              <a:rPr lang="en-US" altLang="en-US" dirty="0" err="1" smtClean="0"/>
              <a:t>Korth</a:t>
            </a:r>
            <a:r>
              <a:rPr lang="en-US" altLang="en-US" dirty="0" smtClean="0"/>
              <a:t> and </a:t>
            </a:r>
            <a:r>
              <a:rPr lang="en-US" altLang="en-US" dirty="0" err="1" smtClean="0"/>
              <a:t>Silberschatz</a:t>
            </a:r>
            <a:r>
              <a:rPr lang="en-US" altLang="en-US" dirty="0" smtClean="0"/>
              <a:t> Abraham, “Database System Concepts”, McGraw Hall.</a:t>
            </a:r>
          </a:p>
          <a:p>
            <a:pPr algn="just"/>
            <a:r>
              <a:rPr lang="en-US" altLang="en-US" dirty="0" err="1" smtClean="0"/>
              <a:t>C.J.Date</a:t>
            </a:r>
            <a:r>
              <a:rPr lang="en-US" altLang="en-US" dirty="0" smtClean="0"/>
              <a:t>, “An Introduction to Database Systems”, Addison Wesley.</a:t>
            </a:r>
          </a:p>
          <a:p>
            <a:pPr algn="just"/>
            <a:r>
              <a:rPr lang="en-US" altLang="en-US" dirty="0" smtClean="0"/>
              <a:t>Thomas M. Connolly, Carolyn &amp; E. </a:t>
            </a:r>
            <a:r>
              <a:rPr lang="en-US" altLang="en-US" dirty="0" err="1" smtClean="0"/>
              <a:t>Begg</a:t>
            </a:r>
            <a:r>
              <a:rPr lang="en-US" altLang="en-US" dirty="0" smtClean="0"/>
              <a:t>, “Database Systems: A Practical Approach to Design, Implementation and Management”, 5/E, University of Paisley, Addison-Wesley.</a:t>
            </a:r>
          </a:p>
          <a:p>
            <a:pPr algn="just"/>
            <a:endParaRPr lang="en-US" altLang="en-US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04815B-7D27-42A5-8C12-7AA74EE5C8C8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500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/>
            </a:extLst>
          </p:cNvPr>
          <p:cNvSpPr/>
          <p:nvPr/>
        </p:nvSpPr>
        <p:spPr>
          <a:xfrm>
            <a:off x="0" y="3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32" tIns="45718" rIns="91432" bIns="45718" anchor="ctr"/>
          <a:lstStyle/>
          <a:p>
            <a:pPr algn="ctr" defTabSz="1219170">
              <a:buClr>
                <a:srgbClr val="FF0000"/>
              </a:buClr>
              <a:defRPr/>
            </a:pPr>
            <a:r>
              <a:rPr lang="en-US" baseline="-25000" dirty="0">
                <a:solidFill>
                  <a:prstClr val="white"/>
                </a:solidFill>
                <a:latin typeface="Calibri Light"/>
                <a:cs typeface="Times New Roman" pitchFamily="18" charset="0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10170587" y="4"/>
            <a:ext cx="662516" cy="66463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734484" y="6294967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/>
            </a:extLst>
          </p:cNvPr>
          <p:cNvCxnSpPr>
            <a:cxnSpLocks/>
          </p:cNvCxnSpPr>
          <p:nvPr/>
        </p:nvCxnSpPr>
        <p:spPr>
          <a:xfrm>
            <a:off x="391584" y="5128687"/>
            <a:ext cx="1727200" cy="172931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7" name="Title 1"/>
          <p:cNvSpPr txBox="1">
            <a:spLocks/>
          </p:cNvSpPr>
          <p:nvPr/>
        </p:nvSpPr>
        <p:spPr bwMode="auto">
          <a:xfrm>
            <a:off x="1485903" y="2455337"/>
            <a:ext cx="10725151" cy="819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sz="8000">
                <a:solidFill>
                  <a:srgbClr val="FFFFFF"/>
                </a:solidFill>
                <a:cs typeface="Segoe UI" pitchFamily="34" charset="0"/>
              </a:rPr>
              <a:t>THANK YOU</a:t>
            </a:r>
          </a:p>
        </p:txBody>
      </p:sp>
      <p:sp>
        <p:nvSpPr>
          <p:cNvPr id="30728" name="Diamond 6"/>
          <p:cNvSpPr>
            <a:spLocks/>
          </p:cNvSpPr>
          <p:nvPr/>
        </p:nvSpPr>
        <p:spPr bwMode="auto">
          <a:xfrm>
            <a:off x="2641600" y="1214967"/>
            <a:ext cx="2429933" cy="3225800"/>
          </a:xfrm>
          <a:custGeom>
            <a:avLst/>
            <a:gdLst>
              <a:gd name="T0" fmla="*/ 1822847 w 2430463"/>
              <a:gd name="T1" fmla="*/ 1809750 h 3225800"/>
              <a:gd name="T2" fmla="*/ 1209675 w 2430463"/>
              <a:gd name="T3" fmla="*/ 2419350 h 3225800"/>
              <a:gd name="T4" fmla="*/ 0 w 2430463"/>
              <a:gd name="T5" fmla="*/ 1209675 h 3225800"/>
              <a:gd name="T6" fmla="*/ 1209675 w 2430463"/>
              <a:gd name="T7" fmla="*/ 0 h 3225800"/>
              <a:gd name="T8" fmla="*/ 1822847 w 2430463"/>
              <a:gd name="T9" fmla="*/ 613172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2" tIns="45718" rIns="91432" bIns="45718" anchor="ctr"/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9" name="Diamond 6"/>
          <p:cNvSpPr>
            <a:spLocks/>
          </p:cNvSpPr>
          <p:nvPr/>
        </p:nvSpPr>
        <p:spPr bwMode="auto">
          <a:xfrm>
            <a:off x="2899836" y="1214967"/>
            <a:ext cx="2429933" cy="3225800"/>
          </a:xfrm>
          <a:custGeom>
            <a:avLst/>
            <a:gdLst>
              <a:gd name="T0" fmla="*/ 1822847 w 2430463"/>
              <a:gd name="T1" fmla="*/ 1809750 h 3225800"/>
              <a:gd name="T2" fmla="*/ 1209675 w 2430463"/>
              <a:gd name="T3" fmla="*/ 2419350 h 3225800"/>
              <a:gd name="T4" fmla="*/ 0 w 2430463"/>
              <a:gd name="T5" fmla="*/ 1209675 h 3225800"/>
              <a:gd name="T6" fmla="*/ 1209675 w 2430463"/>
              <a:gd name="T7" fmla="*/ 0 h 3225800"/>
              <a:gd name="T8" fmla="*/ 1822847 w 2430463"/>
              <a:gd name="T9" fmla="*/ 613172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32" tIns="45718" rIns="91432" bIns="45718" anchor="ctr"/>
          <a:lstStyle/>
          <a:p>
            <a:pPr defTabSz="1219170"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endParaRPr lang="en-US" sz="4300" baseline="-25000">
              <a:solidFill>
                <a:srgbClr val="E7E6E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0730" name="Group 28"/>
          <p:cNvGrpSpPr>
            <a:grpSpLocks/>
          </p:cNvGrpSpPr>
          <p:nvPr/>
        </p:nvGrpSpPr>
        <p:grpSpPr bwMode="auto">
          <a:xfrm>
            <a:off x="239187" y="152403"/>
            <a:ext cx="408516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955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959" y="408875"/>
              <a:ext cx="218498" cy="494204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5"/>
              <a:ext cx="218498" cy="2204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1219170" fontAlgn="base">
                <a:spcBef>
                  <a:spcPct val="20000"/>
                </a:spcBef>
                <a:spcAft>
                  <a:spcPct val="0"/>
                </a:spcAft>
                <a:buClr>
                  <a:srgbClr val="FF0000"/>
                </a:buClr>
                <a:defRPr/>
              </a:pPr>
              <a:endParaRPr lang="en-US" sz="4300" baseline="-25000">
                <a:solidFill>
                  <a:prstClr val="white"/>
                </a:solidFill>
              </a:endParaRPr>
            </a:p>
          </p:txBody>
        </p:sp>
        <p:graphicFrame>
          <p:nvGraphicFramePr>
            <p:cNvPr id="30737" name="Object 3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1" name="Rectangle 1"/>
          <p:cNvSpPr>
            <a:spLocks noChangeArrowheads="1"/>
          </p:cNvSpPr>
          <p:nvPr/>
        </p:nvSpPr>
        <p:spPr bwMode="auto">
          <a:xfrm>
            <a:off x="4112687" y="5395386"/>
            <a:ext cx="4397341" cy="814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2" tIns="45718" rIns="91432" bIns="45718">
            <a:spAutoFit/>
          </a:bodyPr>
          <a:lstStyle>
            <a:lvl1pPr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32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dirty="0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For queries</a:t>
            </a:r>
          </a:p>
          <a:p>
            <a:pPr defTabSz="121917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</a:pPr>
            <a:r>
              <a:rPr lang="en-US" altLang="en-US" dirty="0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Email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: 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  <a:hlinkClick r:id="rId5"/>
              </a:rPr>
              <a:t>shaveta.e13464@cumail.in</a:t>
            </a:r>
            <a:r>
              <a:rPr lang="en-US" altLang="en-US" smtClean="0">
                <a:solidFill>
                  <a:prstClr val="black"/>
                </a:solidFill>
                <a:latin typeface="Casper"/>
                <a:cs typeface="Segoe UI" pitchFamily="34" charset="0"/>
              </a:rPr>
              <a:t> </a:t>
            </a:r>
            <a:endParaRPr lang="en-US" altLang="en-US" dirty="0" smtClean="0">
              <a:solidFill>
                <a:prstClr val="black"/>
              </a:solidFill>
            </a:endParaRPr>
          </a:p>
        </p:txBody>
      </p:sp>
      <p:sp>
        <p:nvSpPr>
          <p:cNvPr id="30733" name="Slide Number Placeholder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0777" indent="-283613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0798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3pPr>
            <a:lvl4pPr marL="1597964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5131" indent="-226468" eaLnBrk="0" hangingPunct="0"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5pPr>
            <a:lvl6pPr marL="2664684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6pPr>
            <a:lvl7pPr marL="3274239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7pPr>
            <a:lvl8pPr marL="3883794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8pPr>
            <a:lvl9pPr marL="4493348" indent="-226468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defRPr sz="4300" baseline="-2500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fld id="{E7FDD9CB-D15E-4F7D-827E-19A6D57ED279}" type="slidenum">
              <a:rPr lang="en-US" altLang="en-US" sz="1200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834641"/>
      </p:ext>
    </p:extLst>
  </p:cSld>
  <p:clrMapOvr>
    <a:masterClrMapping/>
  </p:clrMapOvr>
</p:sld>
</file>

<file path=ppt/theme/theme1.xml><?xml version="1.0" encoding="utf-8"?>
<a:theme xmlns:a="http://schemas.openxmlformats.org/drawingml/2006/main" name="CU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HEME_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_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1362</TotalTime>
  <Words>429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Casper</vt:lpstr>
      <vt:lpstr>Karla</vt:lpstr>
      <vt:lpstr>Segoe UI</vt:lpstr>
      <vt:lpstr>Times New Roman</vt:lpstr>
      <vt:lpstr>Wingdings</vt:lpstr>
      <vt:lpstr>CU THEME</vt:lpstr>
      <vt:lpstr>1_THEME_CU</vt:lpstr>
      <vt:lpstr>THEME_CU</vt:lpstr>
      <vt:lpstr>CorelDRAW</vt:lpstr>
      <vt:lpstr>PowerPoint Presentation</vt:lpstr>
      <vt:lpstr>DBMS: Course Objectives</vt:lpstr>
      <vt:lpstr>COURSE OUTCOMES</vt:lpstr>
      <vt:lpstr>Lecture Outline </vt:lpstr>
      <vt:lpstr>Structure of PL/SQL</vt:lpstr>
      <vt:lpstr>Structure of PL/SQL</vt:lpstr>
      <vt:lpstr>Example for Structure of PL/SQL </vt:lpstr>
      <vt:lpstr>Example for Structure of PL/SQL </vt:lpstr>
      <vt:lpstr>DBMS_OUTPUT.PUT_LINE(text2) </vt:lpstr>
      <vt:lpstr>PL/SQL Control Structure</vt:lpstr>
      <vt:lpstr>PL/SQL Control Structure: Conditional Controls</vt:lpstr>
      <vt:lpstr>IF THEN ELSE STATEMENT:</vt:lpstr>
      <vt:lpstr>Write PL/SQL code for finding Even Numbers.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shavetapc</cp:lastModifiedBy>
  <cp:revision>138</cp:revision>
  <dcterms:created xsi:type="dcterms:W3CDTF">2019-01-09T10:33:58Z</dcterms:created>
  <dcterms:modified xsi:type="dcterms:W3CDTF">2023-06-28T04:25:25Z</dcterms:modified>
</cp:coreProperties>
</file>