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01" r:id="rId2"/>
    <p:sldMasterId id="2147483716" r:id="rId3"/>
    <p:sldMasterId id="2147483724" r:id="rId4"/>
  </p:sldMasterIdLst>
  <p:notesMasterIdLst>
    <p:notesMasterId r:id="rId23"/>
  </p:notesMasterIdLst>
  <p:handoutMasterIdLst>
    <p:handoutMasterId r:id="rId24"/>
  </p:handoutMasterIdLst>
  <p:sldIdLst>
    <p:sldId id="566" r:id="rId5"/>
    <p:sldId id="567" r:id="rId6"/>
    <p:sldId id="568" r:id="rId7"/>
    <p:sldId id="492" r:id="rId8"/>
    <p:sldId id="548" r:id="rId9"/>
    <p:sldId id="563" r:id="rId10"/>
    <p:sldId id="564" r:id="rId11"/>
    <p:sldId id="549" r:id="rId12"/>
    <p:sldId id="550" r:id="rId13"/>
    <p:sldId id="551" r:id="rId14"/>
    <p:sldId id="552" r:id="rId15"/>
    <p:sldId id="553" r:id="rId16"/>
    <p:sldId id="554" r:id="rId17"/>
    <p:sldId id="555" r:id="rId18"/>
    <p:sldId id="559" r:id="rId19"/>
    <p:sldId id="565" r:id="rId20"/>
    <p:sldId id="569" r:id="rId21"/>
    <p:sldId id="570" r:id="rId2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4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4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8" y="164639"/>
            <a:ext cx="9456373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8" y="932724"/>
            <a:ext cx="9456373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2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3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3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3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3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9" y="4677510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17" tIns="60958" rIns="121917" bIns="6095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70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70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1" y="480056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7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4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6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9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8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7" y="1815748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2" y="1815748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3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3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3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2" y="2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9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70" indent="0">
              <a:buNone/>
              <a:defRPr sz="3700"/>
            </a:lvl2pPr>
            <a:lvl3pPr marL="1219140" indent="0">
              <a:buNone/>
              <a:defRPr sz="3200"/>
            </a:lvl3pPr>
            <a:lvl4pPr marL="1828709" indent="0">
              <a:buNone/>
              <a:defRPr sz="2700"/>
            </a:lvl4pPr>
            <a:lvl5pPr marL="2438278" indent="0">
              <a:buNone/>
              <a:defRPr sz="2700"/>
            </a:lvl5pPr>
            <a:lvl6pPr marL="3047848" indent="0">
              <a:buNone/>
              <a:defRPr sz="2700"/>
            </a:lvl6pPr>
            <a:lvl7pPr marL="3657418" indent="0">
              <a:buNone/>
              <a:defRPr sz="2700"/>
            </a:lvl7pPr>
            <a:lvl8pPr marL="4266987" indent="0">
              <a:buNone/>
              <a:defRPr sz="2700"/>
            </a:lvl8pPr>
            <a:lvl9pPr marL="4876557" indent="0">
              <a:buNone/>
              <a:defRPr sz="27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9"/>
            <a:ext cx="12192000" cy="768085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2" y="1508788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335089"/>
            <a:ext cx="105156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6172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411289"/>
            <a:ext cx="52832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11289"/>
            <a:ext cx="51816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989" y="1389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3653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4144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378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3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93826"/>
            <a:ext cx="10515600" cy="46767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0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0"/>
            <a:ext cx="10020300" cy="523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1"/>
            <a:ext cx="8496300" cy="2800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5D0073C8-0A48-4244-8E9D-08D8DD12C58D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19060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/>
          <p:cNvSpPr>
            <a:spLocks noChangeShapeType="1"/>
          </p:cNvSpPr>
          <p:nvPr userDrawn="1"/>
        </p:nvSpPr>
        <p:spPr bwMode="auto">
          <a:xfrm>
            <a:off x="493186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47548-8845-4F0E-8A07-710E305E2AE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5724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5156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231903"/>
            <a:ext cx="10515600" cy="4945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C46B2302-045A-4668-984B-3C5BE618699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327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2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3"/>
            <a:ext cx="5283200" cy="497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3"/>
            <a:ext cx="5181600" cy="4919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9AA05721-3903-495E-894A-65F9BE153C7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9891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2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9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235201"/>
            <a:ext cx="5157787" cy="3814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260603"/>
            <a:ext cx="5183188" cy="3802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B13DEAD1-F451-4E82-89A6-99DCDD23E4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732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6" y="2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9" y="1266094"/>
            <a:ext cx="6185511" cy="45949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6" y="1242647"/>
            <a:ext cx="4278923" cy="4626343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0DCEE521-46F3-4C13-A306-CBFB70C57F5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1097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2" y="1257300"/>
            <a:ext cx="10680700" cy="48132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884265B6-0BB3-435B-B77A-F18C8DD5AF4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017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1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2"/>
            <a:ext cx="10020300" cy="5238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2"/>
            <a:ext cx="8496300" cy="2800351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59747051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C96D6-C8F7-4C32-9AA2-6BF4C34B36A6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93187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435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5156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2" y="1155701"/>
            <a:ext cx="11099799" cy="5410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A8916FEE-7A26-42F3-99D1-9208733151A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292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2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3"/>
            <a:ext cx="5283200" cy="497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3"/>
            <a:ext cx="5181600" cy="4919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E1444DA8-889D-4499-94A7-885073F29CBC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868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2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9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235201"/>
            <a:ext cx="5157787" cy="3814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260603"/>
            <a:ext cx="5183188" cy="3802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74220612-F9CC-4544-B51B-1C152B0C809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1183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6" y="2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9" y="1266094"/>
            <a:ext cx="6185511" cy="45949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6" y="1242647"/>
            <a:ext cx="4278923" cy="4626343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14E47071-1705-42E1-A06A-E02AACAC3DB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645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2" y="1130299"/>
            <a:ext cx="11087100" cy="5448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D2B044A6-BB09-4CB9-9D5E-A50A2A2FB080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455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1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1"/>
            <a:ext cx="10020300" cy="523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2"/>
            <a:ext cx="8496300" cy="2800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6507922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6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dt="0"/>
  <p:txStyles>
    <p:titleStyle>
      <a:lvl1pPr algn="ctr" defTabSz="1219140" rtl="0" eaLnBrk="1" latinLnBrk="1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1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1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1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1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0" y="22225"/>
            <a:ext cx="106172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600" y="1411290"/>
            <a:ext cx="10617200" cy="4829175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4" r:id="rId12"/>
    <p:sldLayoutId id="2147483715" r:id="rId13"/>
    <p:sldLayoutId id="2147483733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736600" y="101600"/>
            <a:ext cx="106172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36600" y="1270000"/>
            <a:ext cx="10617200" cy="496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811BD57C-FFFB-4588-83A2-DF40ECF90F9A}" type="slidenum"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5" name="Line 23"/>
          <p:cNvSpPr>
            <a:spLocks noChangeShapeType="1"/>
          </p:cNvSpPr>
          <p:nvPr userDrawn="1"/>
        </p:nvSpPr>
        <p:spPr bwMode="auto">
          <a:xfrm flipH="1">
            <a:off x="406401" y="6443133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25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2pPr>
      <a:lvl3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3pPr>
      <a:lvl4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4pPr>
      <a:lvl5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5pPr>
      <a:lvl6pPr marL="60957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6pPr>
      <a:lvl7pPr marL="121914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7pPr>
      <a:lvl8pPr marL="182870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8pPr>
      <a:lvl9pPr marL="2438278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9pPr>
    </p:titleStyle>
    <p:bodyStyle>
      <a:lvl1pPr marL="228589" indent="-228589" algn="l" defTabSz="914354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1" y="101600"/>
            <a:ext cx="11036299" cy="10414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99" y="1143002"/>
            <a:ext cx="11036300" cy="531071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556D1AAB-69AF-4F0B-9C74-B602DBF2CC1B}" type="slidenum"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Line 23"/>
          <p:cNvSpPr>
            <a:spLocks noChangeShapeType="1"/>
          </p:cNvSpPr>
          <p:nvPr userDrawn="1"/>
        </p:nvSpPr>
        <p:spPr bwMode="auto">
          <a:xfrm flipH="1">
            <a:off x="406401" y="6453717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66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2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233" y="5427133"/>
            <a:ext cx="12196233" cy="1517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688" y="5903387"/>
            <a:ext cx="44449" cy="6117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0" name="Slide Number Placeholder 2"/>
          <p:cNvSpPr txBox="1">
            <a:spLocks/>
          </p:cNvSpPr>
          <p:nvPr/>
        </p:nvSpPr>
        <p:spPr bwMode="auto">
          <a:xfrm>
            <a:off x="8763000" y="6508754"/>
            <a:ext cx="2743200" cy="36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5143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2001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15430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0002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4574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29146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3718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200" baseline="-25000">
              <a:solidFill>
                <a:srgbClr val="898989"/>
              </a:solidFill>
              <a:cs typeface="Times New Roman" pitchFamily="18" charset="0"/>
            </a:endParaRPr>
          </a:p>
        </p:txBody>
      </p:sp>
      <p:sp>
        <p:nvSpPr>
          <p:cNvPr id="46" name="Right Triangle 45">
            <a:extLst>
              <a:ext uri="{FF2B5EF4-FFF2-40B4-BE49-F238E27FC236}"/>
            </a:extLst>
          </p:cNvPr>
          <p:cNvSpPr/>
          <p:nvPr/>
        </p:nvSpPr>
        <p:spPr>
          <a:xfrm flipV="1">
            <a:off x="9508070" y="5941487"/>
            <a:ext cx="1291167" cy="115570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graphicFrame>
        <p:nvGraphicFramePr>
          <p:cNvPr id="9222" name="Object 47"/>
          <p:cNvGraphicFramePr>
            <a:graphicFrameLocks noChangeAspect="1"/>
          </p:cNvGraphicFramePr>
          <p:nvPr/>
        </p:nvGraphicFramePr>
        <p:xfrm>
          <a:off x="76200" y="3122085"/>
          <a:ext cx="3304117" cy="314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122085"/>
                        <a:ext cx="3304117" cy="314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/>
            </a:extLst>
          </p:cNvPr>
          <p:cNvSpPr/>
          <p:nvPr/>
        </p:nvSpPr>
        <p:spPr>
          <a:xfrm flipH="1">
            <a:off x="7046384" y="-65617"/>
            <a:ext cx="5145616" cy="5854701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80" y="2025530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pic>
        <p:nvPicPr>
          <p:cNvPr id="9227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" y="23284"/>
            <a:ext cx="3858684" cy="1538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9829804" y="5334000"/>
            <a:ext cx="236643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9" name="TextBox 35"/>
          <p:cNvSpPr txBox="1">
            <a:spLocks noChangeArrowheads="1"/>
          </p:cNvSpPr>
          <p:nvPr/>
        </p:nvSpPr>
        <p:spPr bwMode="auto">
          <a:xfrm>
            <a:off x="6881284" y="6019804"/>
            <a:ext cx="4927600" cy="46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2000" b="1" baseline="-25000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1200" b="1" baseline="-25000">
              <a:solidFill>
                <a:srgbClr val="000000"/>
              </a:solidFill>
              <a:latin typeface="Casper"/>
              <a:cs typeface="Times New Roman" pitchFamily="18" charset="0"/>
            </a:endParaRP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600" b="1" baseline="-2500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521" y="6043084"/>
            <a:ext cx="46567" cy="3704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5135" name="TextBox 52"/>
          <p:cNvSpPr txBox="1">
            <a:spLocks noChangeArrowheads="1"/>
          </p:cNvSpPr>
          <p:nvPr/>
        </p:nvSpPr>
        <p:spPr bwMode="auto">
          <a:xfrm>
            <a:off x="455084" y="6028267"/>
            <a:ext cx="6432549" cy="387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 defTabSz="62230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  <a:defRPr/>
            </a:pPr>
            <a:r>
              <a:rPr lang="en-US" altLang="en-US" sz="3200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Iterative Control Structure</a:t>
            </a:r>
            <a:endParaRPr lang="en-US" altLang="en-US" sz="3200" b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32" name="TextBox 25"/>
          <p:cNvSpPr txBox="1">
            <a:spLocks noChangeArrowheads="1"/>
          </p:cNvSpPr>
          <p:nvPr/>
        </p:nvSpPr>
        <p:spPr bwMode="auto">
          <a:xfrm>
            <a:off x="497421" y="1462621"/>
            <a:ext cx="11104033" cy="3208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48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APEX INSTITUTE OF TECHNOLOGY</a:t>
            </a:r>
            <a:endParaRPr lang="en-US" altLang="en-US" sz="48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32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DEPARTMENT OF COMPUTER SCIENCE &amp; ENGINEERING</a:t>
            </a: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48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Database Management System 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(22CSH-243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)</a:t>
            </a:r>
            <a:endParaRPr lang="en-US" altLang="en-US" sz="4800" b="1" baseline="-25000" dirty="0">
              <a:solidFill>
                <a:srgbClr val="262626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37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Faculty: 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Ms. </a:t>
            </a:r>
            <a:r>
              <a:rPr lang="en-US" altLang="en-US" sz="3700" baseline="-25000" dirty="0" err="1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Shaveta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Jain</a:t>
            </a:r>
            <a:r>
              <a:rPr lang="en-US" altLang="en-US" sz="37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altLang="en-US" sz="3700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(E13464)</a:t>
            </a: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16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B4551E-6DCE-45DD-AA5D-A5BE73813C6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91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084" y="3"/>
            <a:ext cx="10515600" cy="1352551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5BBA92-600E-410E-8319-D8C11B3452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4484" y="1147235"/>
            <a:ext cx="11074400" cy="4036484"/>
          </a:xfrm>
          <a:prstGeom prst="rect">
            <a:avLst/>
          </a:prstGeom>
        </p:spPr>
        <p:txBody>
          <a:bodyPr lIns="91432" tIns="45718" rIns="91432" bIns="45718"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COURSE OBJECTIVES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Course aims to: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database system concepts and design databases for different applications and to acquire the knowledge on DBMS and RDBMS.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Implement and understand different types of DDL, DML and DCL statements.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transaction concepts related to databases and recovery/backup techniques required for the proper storage of data.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216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709087" y="351368"/>
            <a:ext cx="11127316" cy="535517"/>
          </a:xfrm>
          <a:extLst/>
        </p:spPr>
        <p:txBody>
          <a:bodyPr rtlCol="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E82911-6D97-47FF-B3A8-48569A1384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6219" y="6324600"/>
            <a:ext cx="444500" cy="4233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11270" name="Rectangle 3"/>
          <p:cNvSpPr>
            <a:spLocks noChangeArrowheads="1"/>
          </p:cNvSpPr>
          <p:nvPr/>
        </p:nvSpPr>
        <p:spPr bwMode="auto">
          <a:xfrm>
            <a:off x="721784" y="1172636"/>
            <a:ext cx="7747000" cy="474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IN" altLang="en-US" sz="3700">
                <a:solidFill>
                  <a:prstClr val="black"/>
                </a:solidFill>
              </a:rPr>
              <a:t>On completion of this course, the students shall be able to:-</a:t>
            </a:r>
            <a:endParaRPr lang="en-US" altLang="en-US" sz="3700">
              <a:solidFill>
                <a:prstClr val="black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6084" y="1932517"/>
          <a:ext cx="10826749" cy="722437"/>
        </p:xfrm>
        <a:graphic>
          <a:graphicData uri="http://schemas.openxmlformats.org/drawingml/2006/table">
            <a:tbl>
              <a:tblPr/>
              <a:tblGrid>
                <a:gridCol w="941525"/>
                <a:gridCol w="9885224"/>
              </a:tblGrid>
              <a:tr h="7224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N" altLang="en-US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Arial" pitchFamily="34" charset="0"/>
                        </a:rPr>
                        <a:t>CO3</a:t>
                      </a:r>
                      <a:endParaRPr kumimoji="0" lang="en-US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07988" algn="l"/>
                        </a:tabLst>
                      </a:pPr>
                      <a:r>
                        <a:rPr kumimoji="0" lang="en-IN" alt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pitchFamily="34" charset="0"/>
                        </a:rPr>
                        <a:t>Apply relational algebra and relational calculus to query the database of organization</a:t>
                      </a:r>
                      <a:endParaRPr kumimoji="0" lang="en-US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71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Outline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Control Structures of PL/SQL</a:t>
            </a:r>
          </a:p>
          <a:p>
            <a:r>
              <a:rPr lang="en-IN" dirty="0" smtClean="0"/>
              <a:t>Loops</a:t>
            </a:r>
          </a:p>
          <a:p>
            <a:r>
              <a:rPr lang="en-IN" dirty="0" smtClean="0"/>
              <a:t>Nested Loops</a:t>
            </a:r>
          </a:p>
          <a:p>
            <a:r>
              <a:rPr lang="en-IN" dirty="0" smtClean="0"/>
              <a:t>For</a:t>
            </a:r>
          </a:p>
          <a:p>
            <a:r>
              <a:rPr lang="en-IN" dirty="0" smtClean="0"/>
              <a:t>While</a:t>
            </a:r>
          </a:p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PL/SQL Control Structure : Loop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used to repeatedly execute a set of statements. This is the simplest form of looping structures. </a:t>
            </a:r>
          </a:p>
          <a:p>
            <a:pPr lvl="2"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LOOP </a:t>
            </a:r>
          </a:p>
          <a:p>
            <a:pPr lvl="2"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Statements; </a:t>
            </a:r>
          </a:p>
          <a:p>
            <a:pPr lvl="2"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-------------;</a:t>
            </a:r>
          </a:p>
          <a:p>
            <a:pPr lvl="2"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-------------;</a:t>
            </a:r>
          </a:p>
          <a:p>
            <a:pPr lvl="2"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EXIT [WHEN condition];</a:t>
            </a:r>
          </a:p>
          <a:p>
            <a:pPr lvl="2"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END LOOP;</a:t>
            </a:r>
            <a:endParaRPr lang="en-US" sz="2800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Write PL/SQL code to find Factorial of a given number.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DECLARE</a:t>
            </a:r>
          </a:p>
          <a:p>
            <a:pPr marL="0" indent="0">
              <a:buNone/>
            </a:pPr>
            <a:r>
              <a:rPr lang="en-US" sz="2000" dirty="0"/>
              <a:t>N NUMBER(2);</a:t>
            </a:r>
          </a:p>
          <a:p>
            <a:pPr marL="0" indent="0">
              <a:buNone/>
            </a:pPr>
            <a:r>
              <a:rPr lang="en-US" sz="2000" dirty="0"/>
              <a:t>I NUMBER(2);</a:t>
            </a:r>
          </a:p>
          <a:p>
            <a:pPr marL="0" indent="0">
              <a:buNone/>
            </a:pPr>
            <a:r>
              <a:rPr lang="en-US" sz="2000" dirty="0"/>
              <a:t>F NUMBER(5):=1;</a:t>
            </a:r>
          </a:p>
          <a:p>
            <a:pPr marL="0" indent="0">
              <a:buNone/>
            </a:pPr>
            <a:r>
              <a:rPr lang="en-US" sz="2000" dirty="0"/>
              <a:t>BEGIN</a:t>
            </a:r>
          </a:p>
          <a:p>
            <a:pPr marL="0" indent="0">
              <a:buNone/>
            </a:pPr>
            <a:r>
              <a:rPr lang="en-US" sz="2000" dirty="0"/>
              <a:t>N:=&amp;N;</a:t>
            </a:r>
          </a:p>
          <a:p>
            <a:pPr marL="0" indent="0">
              <a:buNone/>
            </a:pPr>
            <a:r>
              <a:rPr lang="en-US" sz="2000" dirty="0"/>
              <a:t>FOR I IN 1..N LOOP</a:t>
            </a:r>
          </a:p>
          <a:p>
            <a:pPr marL="0" indent="0">
              <a:buNone/>
            </a:pPr>
            <a:r>
              <a:rPr lang="en-US" sz="2000" dirty="0"/>
              <a:t>F:=F*I;</a:t>
            </a:r>
          </a:p>
          <a:p>
            <a:pPr marL="0" indent="0">
              <a:buNone/>
            </a:pPr>
            <a:r>
              <a:rPr lang="en-US" sz="2000" dirty="0"/>
              <a:t>END LOOP;</a:t>
            </a:r>
          </a:p>
          <a:p>
            <a:pPr marL="0" indent="0">
              <a:buNone/>
            </a:pPr>
            <a:r>
              <a:rPr lang="en-US" sz="2000" dirty="0" err="1"/>
              <a:t>DBMS_OUTPUT.PUT_LINE</a:t>
            </a:r>
            <a:r>
              <a:rPr lang="en-US" sz="2000" dirty="0"/>
              <a:t>('THE FACTORIAL VALUE IS =' || F);</a:t>
            </a:r>
          </a:p>
          <a:p>
            <a:pPr marL="0" indent="0">
              <a:buNone/>
            </a:pPr>
            <a:r>
              <a:rPr lang="en-US" sz="2000" dirty="0"/>
              <a:t>END;</a:t>
            </a:r>
          </a:p>
          <a:p>
            <a:pPr marL="0" indent="0">
              <a:buNone/>
            </a:pPr>
            <a:r>
              <a:rPr lang="en-US" sz="2000" dirty="0"/>
              <a:t>/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88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Write PL/SQL code to Read number  and prints its Multiplication Table.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DECLARE</a:t>
            </a:r>
          </a:p>
          <a:p>
            <a:pPr marL="0" indent="0">
              <a:buNone/>
            </a:pPr>
            <a:r>
              <a:rPr lang="en-US" sz="2400" dirty="0"/>
              <a:t>T NUMBER(3):=3;</a:t>
            </a:r>
          </a:p>
          <a:p>
            <a:pPr marL="0" indent="0">
              <a:buNone/>
            </a:pPr>
            <a:r>
              <a:rPr lang="en-US" sz="2400" dirty="0"/>
              <a:t>BEGIN</a:t>
            </a:r>
          </a:p>
          <a:p>
            <a:pPr marL="0" indent="0">
              <a:buNone/>
            </a:pPr>
            <a:r>
              <a:rPr lang="en-US" sz="2400" dirty="0"/>
              <a:t>T:=&amp;T;</a:t>
            </a:r>
          </a:p>
          <a:p>
            <a:pPr marL="0" indent="0">
              <a:buNone/>
            </a:pPr>
            <a:r>
              <a:rPr lang="en-US" sz="2400" dirty="0"/>
              <a:t>FOR I IN 1..3 LOOP</a:t>
            </a:r>
          </a:p>
          <a:p>
            <a:pPr marL="0" indent="0">
              <a:buNone/>
            </a:pPr>
            <a:r>
              <a:rPr lang="en-US" sz="2400" dirty="0" err="1"/>
              <a:t>DBMS_OUTPUT.PUT_LINE</a:t>
            </a:r>
            <a:r>
              <a:rPr lang="en-US" sz="2400" dirty="0"/>
              <a:t>(T||'X'||I||'='||I*T);</a:t>
            </a:r>
          </a:p>
          <a:p>
            <a:pPr marL="0" indent="0">
              <a:buNone/>
            </a:pPr>
            <a:r>
              <a:rPr lang="en-US" sz="2400" dirty="0"/>
              <a:t>END LOOP;</a:t>
            </a:r>
          </a:p>
          <a:p>
            <a:pPr marL="0" indent="0">
              <a:buNone/>
            </a:pPr>
            <a:r>
              <a:rPr lang="en-US" sz="2400" dirty="0"/>
              <a:t>END;</a:t>
            </a:r>
          </a:p>
          <a:p>
            <a:pPr marL="0" indent="0">
              <a:buNone/>
            </a:pPr>
            <a:r>
              <a:rPr lang="en-US" sz="2400" dirty="0"/>
              <a:t>/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10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PL/SQL Control Structure : Nested Loop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possible to have a loop within another loop. When a loop is placed within another loop it is called as nested loop. The inner loop is executed for each iteration of outer loop.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following example will display table up to 10 for numbers from 1 to 5. </a:t>
            </a:r>
          </a:p>
          <a:p>
            <a:pPr lvl="2" algn="just">
              <a:buNone/>
            </a:pPr>
            <a:r>
              <a:rPr lang="nl-NL" sz="2800" dirty="0">
                <a:latin typeface="Times New Roman" pitchFamily="18" charset="0"/>
                <a:cs typeface="Times New Roman" pitchFamily="18" charset="0"/>
              </a:rPr>
              <a:t>LOOP ... </a:t>
            </a:r>
          </a:p>
          <a:p>
            <a:pPr lvl="3" algn="just">
              <a:buNone/>
            </a:pPr>
            <a:r>
              <a:rPr lang="nl-NL" sz="2800" dirty="0">
                <a:latin typeface="Times New Roman" pitchFamily="18" charset="0"/>
                <a:cs typeface="Times New Roman" pitchFamily="18" charset="0"/>
              </a:rPr>
              <a:t>LOOP ... </a:t>
            </a:r>
          </a:p>
          <a:p>
            <a:pPr lvl="4" algn="just">
              <a:buNone/>
            </a:pPr>
            <a:r>
              <a:rPr lang="nl-NL" sz="2800" dirty="0">
                <a:latin typeface="Times New Roman" pitchFamily="18" charset="0"/>
                <a:cs typeface="Times New Roman" pitchFamily="18" charset="0"/>
              </a:rPr>
              <a:t>EXIT outerloop WHEN ... </a:t>
            </a:r>
          </a:p>
          <a:p>
            <a:pPr lvl="2" algn="just">
              <a:buNone/>
            </a:pPr>
            <a:r>
              <a:rPr lang="nl-NL" sz="2800" dirty="0">
                <a:latin typeface="Times New Roman" pitchFamily="18" charset="0"/>
                <a:cs typeface="Times New Roman" pitchFamily="18" charset="0"/>
              </a:rPr>
              <a:t>– </a:t>
            </a:r>
          </a:p>
          <a:p>
            <a:pPr lvl="3" algn="just">
              <a:buNone/>
            </a:pPr>
            <a:r>
              <a:rPr lang="nl-NL" sz="2800" dirty="0">
                <a:latin typeface="Times New Roman" pitchFamily="18" charset="0"/>
                <a:cs typeface="Times New Roman" pitchFamily="18" charset="0"/>
              </a:rPr>
              <a:t>END LOOP; ... </a:t>
            </a:r>
          </a:p>
          <a:p>
            <a:pPr lvl="2" algn="just">
              <a:buNone/>
            </a:pPr>
            <a:r>
              <a:rPr lang="nl-NL" sz="2800" dirty="0">
                <a:latin typeface="Times New Roman" pitchFamily="18" charset="0"/>
                <a:cs typeface="Times New Roman" pitchFamily="18" charset="0"/>
              </a:rPr>
              <a:t>END LOOP; </a:t>
            </a:r>
          </a:p>
          <a:p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Nested Loop: Example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None/>
            </a:pPr>
            <a:r>
              <a:rPr lang="en-US" sz="1500" b="1" dirty="0">
                <a:latin typeface="Consolas" panose="020B0609020204030204" pitchFamily="49" charset="0"/>
                <a:cs typeface="Times New Roman" pitchFamily="18" charset="0"/>
              </a:rPr>
              <a:t>DECLARE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</a:t>
            </a:r>
          </a:p>
          <a:p>
            <a:pPr lvl="1" algn="just">
              <a:buNone/>
            </a:pP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i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number(2); </a:t>
            </a:r>
          </a:p>
          <a:p>
            <a:pPr lvl="1"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j number(2); </a:t>
            </a:r>
          </a:p>
          <a:p>
            <a:pPr algn="just">
              <a:buNone/>
            </a:pPr>
            <a:r>
              <a:rPr lang="en-US" sz="1500" b="1" dirty="0">
                <a:latin typeface="Consolas" panose="020B0609020204030204" pitchFamily="49" charset="0"/>
                <a:cs typeface="Times New Roman" pitchFamily="18" charset="0"/>
              </a:rPr>
              <a:t>BEGIN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</a:t>
            </a: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i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:= 1; </a:t>
            </a:r>
          </a:p>
          <a:p>
            <a:pPr algn="just">
              <a:buNone/>
            </a:pPr>
            <a:r>
              <a:rPr lang="en-US" sz="1500" b="1" dirty="0">
                <a:latin typeface="Consolas" panose="020B0609020204030204" pitchFamily="49" charset="0"/>
                <a:cs typeface="Times New Roman" pitchFamily="18" charset="0"/>
              </a:rPr>
              <a:t>LOOP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j:= 1;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</a:t>
            </a:r>
            <a:r>
              <a:rPr lang="en-US" sz="1500" b="1" dirty="0">
                <a:latin typeface="Consolas" panose="020B0609020204030204" pitchFamily="49" charset="0"/>
                <a:cs typeface="Times New Roman" pitchFamily="18" charset="0"/>
              </a:rPr>
              <a:t>LOOP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	</a:t>
            </a: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dbms_output.put_line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(</a:t>
            </a: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i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|| '*' || j || '=' || </a:t>
            </a: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i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* j);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	j := j + 1;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	exit when j &gt; 10;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</a:t>
            </a:r>
            <a:r>
              <a:rPr lang="en-US" sz="1500" b="1" dirty="0">
                <a:latin typeface="Consolas" panose="020B0609020204030204" pitchFamily="49" charset="0"/>
                <a:cs typeface="Times New Roman" pitchFamily="18" charset="0"/>
              </a:rPr>
              <a:t>END LOOP;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</a:t>
            </a: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i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:= </a:t>
            </a: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i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+ 1; </a:t>
            </a:r>
          </a:p>
          <a:p>
            <a:pPr algn="just">
              <a:buNone/>
            </a:pP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	exit when </a:t>
            </a:r>
            <a:r>
              <a:rPr lang="en-US" sz="1500" dirty="0" err="1">
                <a:latin typeface="Consolas" panose="020B0609020204030204" pitchFamily="49" charset="0"/>
                <a:cs typeface="Times New Roman" pitchFamily="18" charset="0"/>
              </a:rPr>
              <a:t>i</a:t>
            </a:r>
            <a:r>
              <a:rPr lang="en-US" sz="1500" dirty="0">
                <a:latin typeface="Consolas" panose="020B0609020204030204" pitchFamily="49" charset="0"/>
                <a:cs typeface="Times New Roman" pitchFamily="18" charset="0"/>
              </a:rPr>
              <a:t> &gt; 5; </a:t>
            </a:r>
          </a:p>
          <a:p>
            <a:pPr algn="just">
              <a:buNone/>
            </a:pPr>
            <a:r>
              <a:rPr lang="en-US" sz="1500" b="1" dirty="0">
                <a:latin typeface="Consolas" panose="020B0609020204030204" pitchFamily="49" charset="0"/>
                <a:cs typeface="Times New Roman" pitchFamily="18" charset="0"/>
              </a:rPr>
              <a:t>END LOOP; </a:t>
            </a:r>
          </a:p>
          <a:p>
            <a:pPr algn="just">
              <a:buNone/>
            </a:pPr>
            <a:r>
              <a:rPr lang="en-US" sz="1500" b="1" dirty="0">
                <a:latin typeface="Consolas" panose="020B0609020204030204" pitchFamily="49" charset="0"/>
                <a:cs typeface="Times New Roman" pitchFamily="18" charset="0"/>
              </a:rPr>
              <a:t>END;/</a:t>
            </a:r>
            <a:endParaRPr lang="en-US" sz="1500" b="1" dirty="0">
              <a:latin typeface="Consolas" panose="020B0609020204030204" pitchFamily="49" charset="0"/>
            </a:endParaRPr>
          </a:p>
          <a:p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10419" y="3244335"/>
            <a:ext cx="2488178" cy="384719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Nested Loop: Example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PL/SQL Control Structure : While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Executes a series of statements as long as the given condition is true.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condition LOOP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Statements; 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-------------;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END LOOP;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: Example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declare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number(2) := 1;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begin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while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&lt;= 10 loop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dbms_output.put_line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:=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+ 1;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end loop;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end;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PL/SQL Control Structure : For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looping structure is best suited to cases where we have to repeatedly execute a set of statements by varying a variable from one value to another.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counter IN [REVERSE] lower range .. Upper range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LOOP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Statements;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END LOOP; 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: Example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Declare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=1;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Begin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for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1..10 loop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dbms_output.put_line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end loop;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End;/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: Example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REVERSE option is used the following steps will take place: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Counter is set to upper range.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If counter is greater than or equal to lower range then statements are executed otherwise loop is terminated.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Counter is decremented by 1.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Go to step 2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Declare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		i </a:t>
            </a:r>
            <a:r>
              <a:rPr lang="en-US" sz="2400" dirty="0" err="1">
                <a:latin typeface="Consolas" panose="020B0609020204030204" pitchFamily="49" charset="0"/>
                <a:cs typeface="Times New Roman" pitchFamily="18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=1;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	Begin 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		for i in REVERSE 1..10 loop 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			</a:t>
            </a:r>
            <a:r>
              <a:rPr lang="en-US" sz="2400" dirty="0" err="1">
                <a:latin typeface="Consolas" panose="020B0609020204030204" pitchFamily="49" charset="0"/>
                <a:cs typeface="Times New Roman" pitchFamily="18" charset="0"/>
              </a:rPr>
              <a:t>dbms_output.put_line</a:t>
            </a: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(i);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		end loop; </a:t>
            </a:r>
          </a:p>
          <a:p>
            <a:pPr>
              <a:buNone/>
            </a:pPr>
            <a:r>
              <a:rPr lang="en-US" sz="2400" dirty="0">
                <a:latin typeface="Consolas" panose="020B0609020204030204" pitchFamily="49" charset="0"/>
                <a:cs typeface="Times New Roman" pitchFamily="18" charset="0"/>
              </a:rPr>
              <a:t>	End;/</a:t>
            </a:r>
            <a:endParaRPr lang="en-US" sz="2400" dirty="0">
              <a:latin typeface="Consolas" panose="020B0609020204030204" pitchFamily="49" charset="0"/>
            </a:endParaRPr>
          </a:p>
          <a:p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2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smtClean="0"/>
              <a:t>Write </a:t>
            </a:r>
            <a:r>
              <a:rPr lang="en-US" dirty="0"/>
              <a:t>PL/SQL code to print the numbers in this form  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</a:t>
            </a:r>
          </a:p>
          <a:p>
            <a:pPr marL="0" indent="0">
              <a:buNone/>
            </a:pPr>
            <a:r>
              <a:rPr lang="en-US" dirty="0" smtClean="0"/>
              <a:t>1 </a:t>
            </a:r>
            <a:r>
              <a:rPr lang="en-US" dirty="0"/>
              <a:t>2</a:t>
            </a:r>
          </a:p>
          <a:p>
            <a:pPr marL="0" indent="0">
              <a:buNone/>
            </a:pPr>
            <a:r>
              <a:rPr lang="en-US" dirty="0" smtClean="0"/>
              <a:t>123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DECLARE</a:t>
            </a:r>
          </a:p>
          <a:p>
            <a:pPr marL="0" indent="0">
              <a:buNone/>
            </a:pPr>
            <a:r>
              <a:rPr lang="en-US" dirty="0"/>
              <a:t>I NUMBER;</a:t>
            </a:r>
          </a:p>
          <a:p>
            <a:pPr marL="0" indent="0">
              <a:buNone/>
            </a:pPr>
            <a:r>
              <a:rPr lang="en-US" dirty="0"/>
              <a:t>J NUMBER;</a:t>
            </a:r>
          </a:p>
          <a:p>
            <a:pPr marL="0" indent="0">
              <a:buNone/>
            </a:pPr>
            <a:r>
              <a:rPr lang="en-US" dirty="0"/>
              <a:t>N NUMBER;</a:t>
            </a:r>
          </a:p>
          <a:p>
            <a:pPr marL="0" indent="0">
              <a:buNone/>
            </a:pPr>
            <a:r>
              <a:rPr lang="en-US" dirty="0"/>
              <a:t>BEGIN</a:t>
            </a:r>
          </a:p>
          <a:p>
            <a:pPr marL="0" indent="0">
              <a:buNone/>
            </a:pPr>
            <a:r>
              <a:rPr lang="en-US" dirty="0"/>
              <a:t>N:=&amp;N;</a:t>
            </a:r>
          </a:p>
          <a:p>
            <a:pPr marL="0" indent="0">
              <a:buNone/>
            </a:pPr>
            <a:r>
              <a:rPr lang="en-US" dirty="0"/>
              <a:t>FOR I IN 1..N LOOP</a:t>
            </a:r>
          </a:p>
          <a:p>
            <a:pPr marL="0" indent="0">
              <a:buNone/>
            </a:pPr>
            <a:r>
              <a:rPr lang="en-US" dirty="0"/>
              <a:t>FOR J IN 1..I LOOP</a:t>
            </a:r>
          </a:p>
          <a:p>
            <a:pPr marL="0" indent="0">
              <a:buNone/>
            </a:pPr>
            <a:r>
              <a:rPr lang="en-US" dirty="0" err="1"/>
              <a:t>DBMS_OUTPUT.PUT</a:t>
            </a:r>
            <a:r>
              <a:rPr lang="en-US" dirty="0"/>
              <a:t>(J);</a:t>
            </a:r>
          </a:p>
          <a:p>
            <a:pPr marL="0" indent="0">
              <a:buNone/>
            </a:pPr>
            <a:r>
              <a:rPr lang="en-US" dirty="0"/>
              <a:t>END LOOP;</a:t>
            </a:r>
          </a:p>
          <a:p>
            <a:pPr marL="0" indent="0">
              <a:buNone/>
            </a:pPr>
            <a:r>
              <a:rPr lang="en-US" dirty="0" err="1"/>
              <a:t>DBMS_OUTPUT.PUT_LINE</a:t>
            </a:r>
            <a:r>
              <a:rPr lang="en-US" dirty="0"/>
              <a:t>('');</a:t>
            </a:r>
          </a:p>
          <a:p>
            <a:pPr marL="0" indent="0">
              <a:buNone/>
            </a:pPr>
            <a:r>
              <a:rPr lang="en-US" dirty="0"/>
              <a:t>END LOOP;</a:t>
            </a:r>
          </a:p>
          <a:p>
            <a:pPr marL="0" indent="0">
              <a:buNone/>
            </a:pP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/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009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90037" y="243417"/>
            <a:ext cx="11197167" cy="609600"/>
          </a:xfrm>
        </p:spPr>
        <p:txBody>
          <a:bodyPr/>
          <a:lstStyle/>
          <a:p>
            <a:r>
              <a:rPr lang="en-US" altLang="en-US" smtClean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690033" y="1109133"/>
            <a:ext cx="11093451" cy="5446184"/>
          </a:xfrm>
        </p:spPr>
        <p:txBody>
          <a:bodyPr/>
          <a:lstStyle/>
          <a:p>
            <a:pPr algn="just"/>
            <a:r>
              <a:rPr lang="en-US" altLang="en-US" dirty="0" err="1" smtClean="0"/>
              <a:t>RamezElmasri</a:t>
            </a:r>
            <a:r>
              <a:rPr lang="en-US" altLang="en-US" dirty="0" smtClean="0"/>
              <a:t> and </a:t>
            </a:r>
            <a:r>
              <a:rPr lang="en-US" altLang="en-US" dirty="0" err="1" smtClean="0"/>
              <a:t>Shamkant</a:t>
            </a:r>
            <a:r>
              <a:rPr lang="en-US" altLang="en-US" dirty="0" smtClean="0"/>
              <a:t> B. </a:t>
            </a:r>
            <a:r>
              <a:rPr lang="en-US" altLang="en-US" dirty="0" err="1" smtClean="0"/>
              <a:t>Navathe</a:t>
            </a:r>
            <a:r>
              <a:rPr lang="en-US" altLang="en-US" dirty="0" smtClean="0"/>
              <a:t>, “Fundamentals of Database System”, The Benjamin / Cummings Publishing Co.</a:t>
            </a:r>
          </a:p>
          <a:p>
            <a:pPr algn="just"/>
            <a:r>
              <a:rPr lang="en-US" altLang="en-US" dirty="0" err="1" smtClean="0"/>
              <a:t>Korth</a:t>
            </a:r>
            <a:r>
              <a:rPr lang="en-US" altLang="en-US" dirty="0" smtClean="0"/>
              <a:t> and </a:t>
            </a:r>
            <a:r>
              <a:rPr lang="en-US" altLang="en-US" dirty="0" err="1" smtClean="0"/>
              <a:t>Silberschatz</a:t>
            </a:r>
            <a:r>
              <a:rPr lang="en-US" altLang="en-US" dirty="0" smtClean="0"/>
              <a:t> Abraham, “Database System Concepts”, McGraw Hall.</a:t>
            </a:r>
          </a:p>
          <a:p>
            <a:pPr algn="just"/>
            <a:r>
              <a:rPr lang="en-US" altLang="en-US" dirty="0" err="1" smtClean="0"/>
              <a:t>C.J.Date</a:t>
            </a:r>
            <a:r>
              <a:rPr lang="en-US" altLang="en-US" dirty="0" smtClean="0"/>
              <a:t>, “An Introduction to Database Systems”, Addison Wesley.</a:t>
            </a:r>
          </a:p>
          <a:p>
            <a:pPr algn="just"/>
            <a:r>
              <a:rPr lang="en-US" altLang="en-US" dirty="0" smtClean="0"/>
              <a:t>Thomas M. Connolly, Carolyn &amp; E. </a:t>
            </a:r>
            <a:r>
              <a:rPr lang="en-US" altLang="en-US" dirty="0" err="1" smtClean="0"/>
              <a:t>Begg</a:t>
            </a:r>
            <a:r>
              <a:rPr lang="en-US" altLang="en-US" dirty="0" smtClean="0"/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altLang="en-US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4815B-7D27-42A5-8C12-7AA74EE5C8C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335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/>
            </a:extLst>
          </p:cNvPr>
          <p:cNvSpPr/>
          <p:nvPr/>
        </p:nvSpPr>
        <p:spPr>
          <a:xfrm>
            <a:off x="0" y="3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 defTabSz="1219170">
              <a:buClr>
                <a:srgbClr val="FF0000"/>
              </a:buClr>
              <a:defRPr/>
            </a:pPr>
            <a:r>
              <a:rPr lang="en-US" baseline="-25000" dirty="0">
                <a:solidFill>
                  <a:prstClr val="white"/>
                </a:solidFill>
                <a:latin typeface="Calibri Light"/>
                <a:cs typeface="Times New Roman" pitchFamily="18" charset="0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10170587" y="4"/>
            <a:ext cx="662516" cy="66463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734484" y="6294967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391584" y="5128687"/>
            <a:ext cx="1727200" cy="172931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7" name="Title 1"/>
          <p:cNvSpPr txBox="1">
            <a:spLocks/>
          </p:cNvSpPr>
          <p:nvPr/>
        </p:nvSpPr>
        <p:spPr bwMode="auto">
          <a:xfrm>
            <a:off x="1485903" y="2455337"/>
            <a:ext cx="10725151" cy="81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8000">
                <a:solidFill>
                  <a:srgbClr val="FFFFFF"/>
                </a:solidFill>
                <a:cs typeface="Segoe UI" pitchFamily="34" charset="0"/>
              </a:rPr>
              <a:t>THANK YOU</a:t>
            </a:r>
          </a:p>
        </p:txBody>
      </p:sp>
      <p:sp>
        <p:nvSpPr>
          <p:cNvPr id="30728" name="Diamond 6"/>
          <p:cNvSpPr>
            <a:spLocks/>
          </p:cNvSpPr>
          <p:nvPr/>
        </p:nvSpPr>
        <p:spPr bwMode="auto">
          <a:xfrm>
            <a:off x="2641600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9" name="Diamond 6"/>
          <p:cNvSpPr>
            <a:spLocks/>
          </p:cNvSpPr>
          <p:nvPr/>
        </p:nvSpPr>
        <p:spPr bwMode="auto">
          <a:xfrm>
            <a:off x="2899836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0730" name="Group 28"/>
          <p:cNvGrpSpPr>
            <a:grpSpLocks/>
          </p:cNvGrpSpPr>
          <p:nvPr/>
        </p:nvGrpSpPr>
        <p:grpSpPr bwMode="auto">
          <a:xfrm>
            <a:off x="239187" y="152403"/>
            <a:ext cx="408516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95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959" y="408875"/>
              <a:ext cx="218498" cy="49420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5"/>
              <a:ext cx="218498" cy="220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graphicFrame>
          <p:nvGraphicFramePr>
            <p:cNvPr id="30737" name="Object 3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1" name="Rectangle 1"/>
          <p:cNvSpPr>
            <a:spLocks noChangeArrowheads="1"/>
          </p:cNvSpPr>
          <p:nvPr/>
        </p:nvSpPr>
        <p:spPr bwMode="auto">
          <a:xfrm>
            <a:off x="4112687" y="5395386"/>
            <a:ext cx="4435814" cy="101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For queries</a:t>
            </a:r>
          </a:p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Email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: 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  <a:hlinkClick r:id="rId5"/>
              </a:rPr>
              <a:t>shaveta.e13464@cumail.in</a:t>
            </a:r>
            <a:r>
              <a:rPr lang="en-US" altLang="en-US" baseline="0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 </a:t>
            </a:r>
            <a:endParaRPr lang="en-US" altLang="en-US" dirty="0" smtClean="0">
              <a:solidFill>
                <a:prstClr val="black"/>
              </a:solidFill>
            </a:endParaRPr>
          </a:p>
        </p:txBody>
      </p:sp>
      <p:sp>
        <p:nvSpPr>
          <p:cNvPr id="30733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0777" indent="-283613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0798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597964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5131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66468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74239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88379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4493348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fld id="{E7FDD9CB-D15E-4F7D-827E-19A6D57ED279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1441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1359</TotalTime>
  <Words>627</Words>
  <Application>Microsoft Office PowerPoint</Application>
  <PresentationFormat>Widescreen</PresentationFormat>
  <Paragraphs>175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Arial Unicode MS</vt:lpstr>
      <vt:lpstr>Arial</vt:lpstr>
      <vt:lpstr>Calibri</vt:lpstr>
      <vt:lpstr>Calibri Light</vt:lpstr>
      <vt:lpstr>Cambria</vt:lpstr>
      <vt:lpstr>Casper</vt:lpstr>
      <vt:lpstr>Consolas</vt:lpstr>
      <vt:lpstr>Karla</vt:lpstr>
      <vt:lpstr>Segoe UI</vt:lpstr>
      <vt:lpstr>Times New Roman</vt:lpstr>
      <vt:lpstr>Wingdings</vt:lpstr>
      <vt:lpstr>Contents Slide Master</vt:lpstr>
      <vt:lpstr>CU THEME</vt:lpstr>
      <vt:lpstr>1_THEME_CU</vt:lpstr>
      <vt:lpstr>THEME_CU</vt:lpstr>
      <vt:lpstr>CorelDRAW</vt:lpstr>
      <vt:lpstr>PowerPoint Presentation</vt:lpstr>
      <vt:lpstr>DBMS: Course Objectives</vt:lpstr>
      <vt:lpstr>COURSE OUTCOMES</vt:lpstr>
      <vt:lpstr>Outline </vt:lpstr>
      <vt:lpstr> PL/SQL Control Structure : Loop </vt:lpstr>
      <vt:lpstr>Write PL/SQL code to find Factorial of a given number.</vt:lpstr>
      <vt:lpstr>Write PL/SQL code to Read number  and prints its Multiplication Table.</vt:lpstr>
      <vt:lpstr> PL/SQL Control Structure : Nested Loop </vt:lpstr>
      <vt:lpstr> Nested Loop: Example </vt:lpstr>
      <vt:lpstr>PL/SQL Control Structure : While</vt:lpstr>
      <vt:lpstr> While : Example </vt:lpstr>
      <vt:lpstr> PL/SQL Control Structure : For </vt:lpstr>
      <vt:lpstr> For : Example </vt:lpstr>
      <vt:lpstr> For : Example 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shavetapc</cp:lastModifiedBy>
  <cp:revision>137</cp:revision>
  <dcterms:created xsi:type="dcterms:W3CDTF">2019-01-09T10:33:58Z</dcterms:created>
  <dcterms:modified xsi:type="dcterms:W3CDTF">2023-06-28T04:26:10Z</dcterms:modified>
</cp:coreProperties>
</file>