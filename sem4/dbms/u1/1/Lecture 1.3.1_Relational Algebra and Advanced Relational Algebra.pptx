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  <p:sldMasterId id="2147483789" r:id="rId2"/>
    <p:sldMasterId id="2147483804" r:id="rId3"/>
    <p:sldMasterId id="2147483818" r:id="rId4"/>
  </p:sldMasterIdLst>
  <p:notesMasterIdLst>
    <p:notesMasterId r:id="rId35"/>
  </p:notesMasterIdLst>
  <p:handoutMasterIdLst>
    <p:handoutMasterId r:id="rId36"/>
  </p:handoutMasterIdLst>
  <p:sldIdLst>
    <p:sldId id="653" r:id="rId5"/>
    <p:sldId id="656" r:id="rId6"/>
    <p:sldId id="657" r:id="rId7"/>
    <p:sldId id="658" r:id="rId8"/>
    <p:sldId id="408" r:id="rId9"/>
    <p:sldId id="256" r:id="rId10"/>
    <p:sldId id="516" r:id="rId11"/>
    <p:sldId id="600" r:id="rId12"/>
    <p:sldId id="640" r:id="rId13"/>
    <p:sldId id="601" r:id="rId14"/>
    <p:sldId id="641" r:id="rId15"/>
    <p:sldId id="602" r:id="rId16"/>
    <p:sldId id="642" r:id="rId17"/>
    <p:sldId id="603" r:id="rId18"/>
    <p:sldId id="643" r:id="rId19"/>
    <p:sldId id="639" r:id="rId20"/>
    <p:sldId id="644" r:id="rId21"/>
    <p:sldId id="526" r:id="rId22"/>
    <p:sldId id="645" r:id="rId23"/>
    <p:sldId id="646" r:id="rId24"/>
    <p:sldId id="528" r:id="rId25"/>
    <p:sldId id="647" r:id="rId26"/>
    <p:sldId id="648" r:id="rId27"/>
    <p:sldId id="649" r:id="rId28"/>
    <p:sldId id="650" r:id="rId29"/>
    <p:sldId id="651" r:id="rId30"/>
    <p:sldId id="652" r:id="rId31"/>
    <p:sldId id="534" r:id="rId32"/>
    <p:sldId id="654" r:id="rId33"/>
    <p:sldId id="655" r:id="rId34"/>
  </p:sldIdLst>
  <p:sldSz cx="12192000" cy="6858000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 userDrawn="1">
          <p15:clr>
            <a:srgbClr val="A4A3A4"/>
          </p15:clr>
        </p15:guide>
        <p15:guide id="2" pos="7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1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72"/>
      </p:cViewPr>
      <p:guideLst>
        <p:guide orient="horz" pos="734"/>
        <p:guide pos="73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4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3455CD8C-7DC8-4898-8F55-EBF2F44FAF2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195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4813" y="696913"/>
            <a:ext cx="6188075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5FFE32EC-0785-4CD4-81F3-8A411A4EAA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32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B0CD53A-3084-43CA-9277-3DB3FFA30C8D}" type="slidenum">
              <a:rPr lang="en-US">
                <a:latin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2525603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66BE3968-0F13-41C5-9D48-A10FF186107F}" type="slidenum">
              <a:rPr lang="en-US">
                <a:latin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349468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B5E1643-25BA-4080-84B4-7ABF53A2ABF7}" type="slidenum">
              <a:rPr lang="en-US">
                <a:latin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3044059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C9752B9-1A3E-4B7C-9D89-13AA0F8993E5}" type="slidenum">
              <a:rPr lang="en-US">
                <a:latin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4242137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E7C18C-1AEC-424C-B3A2-926F69E690F4}" type="slidenum">
              <a:rPr lang="en-US" altLang="en-US" sz="1200" smtClean="0">
                <a:latin typeface="Times New Roman" panose="02020603050405020304" pitchFamily="18" charset="0"/>
              </a:rPr>
              <a:pPr/>
              <a:t>9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5367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93B2D23-226C-4222-B666-A0370D8D8411}" type="slidenum">
              <a:rPr lang="en-US">
                <a:latin typeface="Times New Roman" panose="02020603050405020304" pitchFamily="18" charset="0"/>
              </a:rPr>
              <a:pPr/>
              <a:t>10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1839542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32BE247-8AD6-42B1-97A2-E0CF8E3F5DF4}" type="slidenum">
              <a:rPr lang="en-US" altLang="en-US" sz="1200" smtClean="0">
                <a:latin typeface="Times New Roman" panose="02020603050405020304" pitchFamily="18" charset="0"/>
              </a:rPr>
              <a:pPr/>
              <a:t>11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8731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3659EDD-A5CE-497E-993B-7CC049AFC589}" type="slidenum">
              <a:rPr lang="en-US">
                <a:latin typeface="Times New Roman" panose="02020603050405020304" pitchFamily="18" charset="0"/>
              </a:rPr>
              <a:pPr/>
              <a:t>12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1741753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73CB58-DF91-4BC0-A6A4-0AD4E53ADE56}" type="slidenum">
              <a:rPr lang="en-US" altLang="en-US" sz="12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0648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F1E62FD-9E59-4463-9E8F-2106681C05D8}" type="slidenum">
              <a:rPr lang="en-US">
                <a:latin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3611750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BC39F5-D9C5-414A-ABB3-DDD0AFD72BE1}" type="slidenum">
              <a:rPr lang="en-US" altLang="en-US" sz="1200" smtClean="0">
                <a:latin typeface="Times New Roman" panose="02020603050405020304" pitchFamily="18" charset="0"/>
              </a:rPr>
              <a:pPr/>
              <a:t>15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192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C8014A5-6917-437C-ADAA-08DD01D08056}" type="slidenum">
              <a:rPr lang="en-US">
                <a:latin typeface="Times New Roman" panose="02020603050405020304" pitchFamily="18" charset="0"/>
              </a:rPr>
              <a:pPr/>
              <a:t>16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1946434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789347-2B80-44FE-9CCD-6A57C68EFA4A}" type="slidenum">
              <a:rPr lang="en-US" altLang="en-US" sz="120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4289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74203873-5D91-4A01-8B71-36648B4E4105}" type="slidenum">
              <a:rPr lang="en-US">
                <a:latin typeface="Times New Roman" panose="02020603050405020304" pitchFamily="18" charset="0"/>
              </a:rPr>
              <a:pPr/>
              <a:t>18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1583898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03F7A32-49E1-4C08-A6B0-C306C21C6E7A}" type="slidenum">
              <a:rPr lang="en-US" altLang="en-US" sz="1200" smtClean="0">
                <a:latin typeface="Times New Roman" panose="02020603050405020304" pitchFamily="18" charset="0"/>
              </a:rPr>
              <a:pPr/>
              <a:t>19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920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BC7E1B-3ECF-4C00-B347-B8B5FFE267E0}" type="slidenum">
              <a:rPr lang="en-US" altLang="en-US" sz="1200" smtClean="0">
                <a:latin typeface="Times New Roman" panose="02020603050405020304" pitchFamily="18" charset="0"/>
              </a:rPr>
              <a:pPr/>
              <a:t>20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1085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9D189B7-8DD4-4874-A810-71FF410F1780}" type="slidenum">
              <a:rPr lang="en-US">
                <a:latin typeface="Times New Roman" panose="02020603050405020304" pitchFamily="18" charset="0"/>
              </a:rPr>
              <a:pPr/>
              <a:t>21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3442122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C8FA83-0B95-43F0-B2D3-A4FEE0D2BDFB}" type="slidenum">
              <a:rPr lang="en-US" altLang="en-US" sz="1200" smtClean="0">
                <a:latin typeface="Times New Roman" panose="02020603050405020304" pitchFamily="18" charset="0"/>
              </a:rPr>
              <a:pPr/>
              <a:t>22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99951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FEE8A5-0FE5-43EB-98CF-C76680DC47AF}" type="slidenum">
              <a:rPr lang="en-US" altLang="en-US" sz="1200" smtClean="0">
                <a:latin typeface="Times New Roman" panose="02020603050405020304" pitchFamily="18" charset="0"/>
              </a:rPr>
              <a:pPr/>
              <a:t>23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56385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BCD70D-9333-44C7-9D1D-75414682C6EC}" type="slidenum">
              <a:rPr lang="en-US" altLang="en-US" sz="1200" smtClean="0"/>
              <a:pPr/>
              <a:t>24</a:t>
            </a:fld>
            <a:endParaRPr lang="en-US" altLang="en-US" sz="120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3848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602B97-535F-45DA-898C-E87331BCF2DC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19457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71" tIns="46586" rIns="93171" bIns="46586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91D7EE1D-475A-4EE4-94B4-B95059AF45F5}" type="slidenum">
              <a:rPr lang="en-US" altLang="en-US" sz="1200"/>
              <a:pPr algn="r"/>
              <a:t>26</a:t>
            </a:fld>
            <a:endParaRPr lang="en-US" alt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03839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AAC4C9-E14B-4508-85EB-8F3FD3B907C3}" type="slidenum">
              <a:rPr lang="en-US" altLang="en-US" sz="1200" smtClean="0"/>
              <a:pPr/>
              <a:t>27</a:t>
            </a:fld>
            <a:endParaRPr lang="en-US" altLang="en-US" sz="120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8039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14A64B7-A0E8-448B-AE67-D4DF68683222}" type="slidenum">
              <a:rPr lang="en-US">
                <a:latin typeface="Times New Roman" panose="02020603050405020304" pitchFamily="18" charset="0"/>
              </a:rPr>
              <a:pPr/>
              <a:t>28</a:t>
            </a:fld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4813" y="696913"/>
            <a:ext cx="6188075" cy="3481387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smtClean="0"/>
          </a:p>
        </p:txBody>
      </p:sp>
    </p:spTree>
    <p:extLst>
      <p:ext uri="{BB962C8B-B14F-4D97-AF65-F5344CB8AC3E}">
        <p14:creationId xmlns:p14="http://schemas.microsoft.com/office/powerpoint/2010/main" val="890145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CA0-DFCC-4D06-9EA2-D68015AA31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0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01FB-985D-498C-BFC2-94CA1184B1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14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E84-EC7E-4E87-841E-91E7D3BD79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53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C84E-B50C-4710-9BE4-4405E00BA0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01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E5C95-BA38-4DC0-9DB4-FBB4071D6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125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89-CCF5-47B2-8F04-4B9E2457EB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92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CB5-7381-4AA5-AF74-537D74A223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10F7D-C653-453D-975C-0247AC4A34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9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7D36F-D10D-4196-B2D2-98A44B0ABE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5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9DA5-100F-465C-B7A9-089435836A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3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0"/>
            <a:ext cx="12211051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01333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EFC7-146E-4440-9A07-5D98554B88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10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065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0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5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5492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0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5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29842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8" y="164640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8" y="932725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69201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4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3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3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3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9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7886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4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889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2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709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51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5233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70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70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81705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1" y="480057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8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26881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5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6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72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9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7" y="1815749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2" y="1815749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2064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55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0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2" y="1508788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399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560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4CA0-DFCC-4D06-9EA2-D68015AA31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19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B01FB-985D-498C-BFC2-94CA1184B1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52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E84-EC7E-4E87-841E-91E7D3BD79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41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5C84E-B50C-4710-9BE4-4405E00BA0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639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E5C95-BA38-4DC0-9DB4-FBB4071D6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68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C1889-CCF5-47B2-8F04-4B9E2457EB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32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CB5-7381-4AA5-AF74-537D74A223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977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10F7D-C653-453D-975C-0247AC4A34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120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7D36F-D10D-4196-B2D2-98A44B0ABE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644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9DA5-100F-465C-B7A9-089435836A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972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0"/>
            <a:ext cx="12211051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7131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EFC7-146E-4440-9A07-5D98554B88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367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228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0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5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4449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0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5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04753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8" y="164640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8" y="932725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61669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4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3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3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3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9" y="4677511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51867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4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8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803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2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2372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51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46287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2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70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70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6627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1" y="480057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8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92235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5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6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5551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9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7" y="1815749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2" y="1815749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2" y="3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10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4801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23771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0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2" y="1508788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091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8EFC7-146E-4440-9A07-5D98554B88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3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43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37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8EFC7-146E-4440-9A07-5D98554B88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4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41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37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jpeg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xmlns="" id="{CAD0D7B8-E462-453C-B296-CA0154FA54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53737" y="5975448"/>
            <a:ext cx="643204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</a:t>
            </a: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97492" y="1461582"/>
            <a:ext cx="11103427" cy="3391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4800" b="1" dirty="0">
                <a:latin typeface="Cambria" panose="02040503050406030204" pitchFamily="18" charset="0"/>
              </a:rPr>
              <a:t>APEX INSTITUTE OF TECHNOLOGY</a:t>
            </a:r>
            <a:endParaRPr lang="en-US" sz="4800" dirty="0">
              <a:latin typeface="Cambria" panose="02040503050406030204" pitchFamily="18" charset="0"/>
            </a:endParaRPr>
          </a:p>
          <a:p>
            <a:pPr algn="ctr"/>
            <a:r>
              <a:rPr lang="en-IN" sz="3200" b="1" dirty="0" smtClean="0">
                <a:latin typeface="Cambria" panose="02040503050406030204" pitchFamily="18" charset="0"/>
              </a:rPr>
              <a:t>DEPARTMENT </a:t>
            </a:r>
            <a:r>
              <a:rPr lang="en-IN" sz="3200" b="1" dirty="0">
                <a:latin typeface="Cambria" panose="02040503050406030204" pitchFamily="18" charset="0"/>
              </a:rPr>
              <a:t>OF COMPUTER SCIENCE &amp; ENGINEERING</a:t>
            </a:r>
            <a:endParaRPr lang="en-US" sz="3200" b="1" dirty="0">
              <a:latin typeface="Cambria" panose="020405030504060302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altLang="en-US" sz="3200" b="1" dirty="0" smtClean="0">
              <a:latin typeface="Cambria" panose="02040503050406030204" pitchFamily="18" charset="0"/>
              <a:ea typeface="Calibri" charset="0"/>
              <a:cs typeface="Times New Roman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Database Management </a:t>
            </a:r>
            <a:r>
              <a:rPr 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System 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22CSH-243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Faculty: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Ms. </a:t>
            </a:r>
            <a:r>
              <a:rPr lang="en-US" sz="32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Shaveta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Jain 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E13464)</a:t>
            </a:r>
            <a:endParaRPr lang="en-US" sz="3200" dirty="0">
              <a:solidFill>
                <a:prstClr val="black">
                  <a:lumMod val="85000"/>
                  <a:lumOff val="15000"/>
                </a:prstClr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2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411" y="0"/>
            <a:ext cx="10515600" cy="1352282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34095" y="1146220"/>
            <a:ext cx="11075831" cy="3534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aims to:</a:t>
            </a: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database system concepts and design databases for different applications and to acquire the knowledge on DBMS and RDBMS.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understand different types of DDL, DML and DCL statements.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transaction concepts related to databases and recovery/backup techniques required for the proper storage of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1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10166" y="351468"/>
            <a:ext cx="11125519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20497" y="1170835"/>
            <a:ext cx="88801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completion of this course, the students shall be able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to:-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947470"/>
              </p:ext>
            </p:extLst>
          </p:nvPr>
        </p:nvGraphicFramePr>
        <p:xfrm>
          <a:off x="837127" y="1931829"/>
          <a:ext cx="10824649" cy="722595"/>
        </p:xfrm>
        <a:graphic>
          <a:graphicData uri="http://schemas.openxmlformats.org/drawingml/2006/table">
            <a:tbl>
              <a:tblPr firstRow="1" firstCol="1" bandRow="1"/>
              <a:tblGrid>
                <a:gridCol w="941273"/>
                <a:gridCol w="9883376"/>
              </a:tblGrid>
              <a:tr h="722595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/>
                          <a:ea typeface="Calibri"/>
                          <a:cs typeface="Arial"/>
                        </a:rPr>
                        <a:t>CO3</a:t>
                      </a:r>
                      <a:endParaRPr lang="en-US" sz="2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43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IN" sz="2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Apply relational algebra and relational calculus to query the database of organization</a:t>
                      </a:r>
                      <a:endParaRPr lang="en-US" sz="22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91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291" y="94670"/>
            <a:ext cx="10515600" cy="85836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Unit-1 Syllabus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410110"/>
              </p:ext>
            </p:extLst>
          </p:nvPr>
        </p:nvGraphicFramePr>
        <p:xfrm>
          <a:off x="708338" y="1120462"/>
          <a:ext cx="11127347" cy="5201777"/>
        </p:xfrm>
        <a:graphic>
          <a:graphicData uri="http://schemas.openxmlformats.org/drawingml/2006/table">
            <a:tbl>
              <a:tblPr firstRow="1" firstCol="1" bandRow="1"/>
              <a:tblGrid>
                <a:gridCol w="2456155"/>
                <a:gridCol w="8671192"/>
              </a:tblGrid>
              <a:tr h="513062"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Times New Roman"/>
                          <a:ea typeface="Calibri"/>
                          <a:cs typeface="Arial"/>
                        </a:rPr>
                        <a:t>Unit-1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Introduction to Databases and Relational Algebra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2052248">
                <a:tc>
                  <a:txBody>
                    <a:bodyPr/>
                    <a:lstStyle/>
                    <a:p>
                      <a:pPr marL="0" marR="539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Overview of Databases</a:t>
                      </a:r>
                      <a:r>
                        <a:rPr lang="en-IN" sz="2400" b="1" dirty="0">
                          <a:solidFill>
                            <a:srgbClr val="00B05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: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Database concepts, DBMS, Data Base System Architecture (Three Level ANSI-SPARC Architecture), Advantages and Disadvantages of DBMS, Data Independence, DBA and Responsibilities of DBA, Relational Data Structure, Keys, Relations, Attributes, Schema and Instances, Referential integrity, Entity integrity.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3698">
                <a:tc>
                  <a:txBody>
                    <a:bodyPr/>
                    <a:lstStyle/>
                    <a:p>
                      <a:pPr marL="0" marR="539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Data Models: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3975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Relational Model, Network Model, Hierarchical Model, ER Model: Design, issues, Mapping constraints, ER diagram, Comparison of Models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9187">
                <a:tc>
                  <a:txBody>
                    <a:bodyPr/>
                    <a:lstStyle/>
                    <a:p>
                      <a:pPr marL="0" marR="539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Relational Algebra &amp; Relational Calculus: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Introduction, Syntax, Semantics, Additional operators, Grouping and Ungrouping, Relational comparisons, Tuple Calculus, Domain Calculus, Calculus </a:t>
                      </a:r>
                      <a:r>
                        <a:rPr lang="en-IN" sz="24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Vs</a:t>
                      </a:r>
                      <a:r>
                        <a:rPr lang="en-IN" sz="24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 Algebra, Computational capabilities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64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Formal Relational Query Languages</a:t>
            </a:r>
            <a:br>
              <a:rPr lang="en-US" dirty="0" smtClean="0"/>
            </a:br>
            <a:r>
              <a:rPr lang="en-US" dirty="0" smtClean="0"/>
              <a:t>(Relational Algebra)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1582" y="287561"/>
            <a:ext cx="8382000" cy="609600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Relational </a:t>
            </a:r>
            <a:r>
              <a:rPr lang="en-US" sz="2800" dirty="0"/>
              <a:t>Query Languages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434174" y="1281135"/>
            <a:ext cx="7848600" cy="4876800"/>
          </a:xfrm>
        </p:spPr>
        <p:txBody>
          <a:bodyPr/>
          <a:lstStyle/>
          <a:p>
            <a:r>
              <a:rPr lang="en-US" dirty="0" smtClean="0"/>
              <a:t>Relational Algebra</a:t>
            </a:r>
          </a:p>
          <a:p>
            <a:r>
              <a:rPr lang="en-US" dirty="0" smtClean="0"/>
              <a:t>Tuple Relational Calculus</a:t>
            </a:r>
          </a:p>
          <a:p>
            <a:r>
              <a:rPr lang="en-US" dirty="0" smtClean="0"/>
              <a:t>Domain Relational Calculus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Relational Algebra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399885"/>
            <a:ext cx="10515600" cy="4876800"/>
          </a:xfrm>
        </p:spPr>
        <p:txBody>
          <a:bodyPr/>
          <a:lstStyle/>
          <a:p>
            <a:r>
              <a:rPr lang="en-US" dirty="0" smtClean="0"/>
              <a:t>Procedural language</a:t>
            </a:r>
          </a:p>
          <a:p>
            <a:r>
              <a:rPr lang="en-US" dirty="0" smtClean="0"/>
              <a:t>Six basic operators</a:t>
            </a:r>
          </a:p>
          <a:p>
            <a:pPr lvl="1"/>
            <a:r>
              <a:rPr lang="en-US" dirty="0" smtClean="0"/>
              <a:t>select: </a:t>
            </a:r>
            <a:r>
              <a:rPr lang="en-US" sz="2400" dirty="0">
                <a:sym typeface="Symbol" panose="05050102010706020507" pitchFamily="18" charset="2"/>
              </a:rPr>
              <a:t></a:t>
            </a:r>
            <a:endParaRPr lang="en-US" dirty="0" smtClean="0"/>
          </a:p>
          <a:p>
            <a:pPr lvl="1"/>
            <a:r>
              <a:rPr lang="en-US" dirty="0" smtClean="0"/>
              <a:t>project: </a:t>
            </a:r>
            <a:r>
              <a:rPr lang="en-US" dirty="0" smtClean="0">
                <a:sym typeface="Symbol" panose="05050102010706020507" pitchFamily="18" charset="2"/>
              </a:rPr>
              <a:t></a:t>
            </a:r>
            <a:endParaRPr lang="en-US" dirty="0" smtClean="0"/>
          </a:p>
          <a:p>
            <a:pPr lvl="1"/>
            <a:r>
              <a:rPr lang="en-US" dirty="0" smtClean="0"/>
              <a:t>union: </a:t>
            </a:r>
            <a:r>
              <a:rPr lang="en-US" dirty="0" smtClean="0">
                <a:sym typeface="Symbol" panose="05050102010706020507" pitchFamily="18" charset="2"/>
              </a:rPr>
              <a:t></a:t>
            </a:r>
            <a:endParaRPr lang="en-US" dirty="0" smtClean="0"/>
          </a:p>
          <a:p>
            <a:pPr lvl="1"/>
            <a:r>
              <a:rPr lang="en-US" dirty="0" smtClean="0"/>
              <a:t>set difference: </a:t>
            </a:r>
            <a:r>
              <a:rPr lang="en-US" i="1" dirty="0" smtClean="0"/>
              <a:t>–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Cartesian product: x</a:t>
            </a:r>
          </a:p>
          <a:p>
            <a:pPr lvl="1"/>
            <a:r>
              <a:rPr lang="en-US" dirty="0" smtClean="0"/>
              <a:t>rename: </a:t>
            </a:r>
            <a:r>
              <a:rPr lang="en-US" sz="2000" i="1" dirty="0">
                <a:sym typeface="Symbol" panose="05050102010706020507" pitchFamily="18" charset="2"/>
              </a:rPr>
              <a:t></a:t>
            </a:r>
            <a:endParaRPr lang="en-US" dirty="0" smtClean="0"/>
          </a:p>
          <a:p>
            <a:r>
              <a:rPr lang="en-US" dirty="0" smtClean="0"/>
              <a:t>The operators take one or  two relations as inputs and produce a new relation as a result.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 Operation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38523"/>
            <a:ext cx="10515600" cy="4781973"/>
          </a:xfrm>
        </p:spPr>
        <p:txBody>
          <a:bodyPr>
            <a:normAutofit/>
          </a:bodyPr>
          <a:lstStyle/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sz="2400" b="1" dirty="0"/>
              <a:t>Notation:  </a:t>
            </a:r>
            <a:r>
              <a:rPr lang="en-US" sz="2400" b="1" i="1" dirty="0">
                <a:sym typeface="Symbol" panose="05050102010706020507" pitchFamily="18" charset="2"/>
              </a:rPr>
              <a:t></a:t>
            </a:r>
            <a:r>
              <a:rPr lang="en-US" sz="2400" b="1" dirty="0">
                <a:sym typeface="Symbol" panose="05050102010706020507" pitchFamily="18" charset="2"/>
              </a:rPr>
              <a:t> </a:t>
            </a:r>
            <a:r>
              <a:rPr lang="en-US" sz="4000" b="1" i="1" baseline="-25000" dirty="0" smtClean="0">
                <a:sym typeface="Symbol" panose="05050102010706020507" pitchFamily="18" charset="2"/>
              </a:rPr>
              <a:t>p</a:t>
            </a:r>
            <a:r>
              <a:rPr lang="en-US" sz="2400" b="1" dirty="0">
                <a:sym typeface="Symbol" panose="05050102010706020507" pitchFamily="18" charset="2"/>
              </a:rPr>
              <a:t>(</a:t>
            </a:r>
            <a:r>
              <a:rPr lang="en-US" sz="2400" b="1" i="1" dirty="0">
                <a:sym typeface="Symbol" panose="05050102010706020507" pitchFamily="18" charset="2"/>
              </a:rPr>
              <a:t>r</a:t>
            </a:r>
            <a:r>
              <a:rPr lang="en-US" sz="2400" b="1" dirty="0" smtClean="0">
                <a:sym typeface="Symbol" panose="05050102010706020507" pitchFamily="18" charset="2"/>
              </a:rPr>
              <a:t>)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endParaRPr lang="en-US" sz="2400" b="1" dirty="0">
              <a:sym typeface="Symbol" panose="05050102010706020507" pitchFamily="18" charset="2"/>
            </a:endParaRP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sz="1600" i="1" dirty="0">
                <a:sym typeface="Symbol" panose="05050102010706020507" pitchFamily="18" charset="2"/>
              </a:rPr>
              <a:t>p</a:t>
            </a:r>
            <a:r>
              <a:rPr lang="en-US" sz="1600" dirty="0">
                <a:sym typeface="Symbol" panose="05050102010706020507" pitchFamily="18" charset="2"/>
              </a:rPr>
              <a:t> is called the </a:t>
            </a:r>
            <a:r>
              <a:rPr lang="en-US" sz="1600" b="1" dirty="0">
                <a:solidFill>
                  <a:schemeClr val="tx2"/>
                </a:solidFill>
                <a:sym typeface="Symbol" panose="05050102010706020507" pitchFamily="18" charset="2"/>
              </a:rPr>
              <a:t>selection predicate</a:t>
            </a:r>
            <a:endParaRPr lang="en-US" sz="1600" b="1" i="1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sz="1600" dirty="0"/>
              <a:t>Defined as:</a:t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	 </a:t>
            </a:r>
            <a:r>
              <a:rPr lang="en-US" sz="1600" i="1" dirty="0">
                <a:sym typeface="Symbol" panose="05050102010706020507" pitchFamily="18" charset="2"/>
              </a:rPr>
              <a:t></a:t>
            </a:r>
            <a:r>
              <a:rPr lang="en-US" i="1" baseline="-25000" dirty="0" smtClean="0">
                <a:sym typeface="Symbol" panose="05050102010706020507" pitchFamily="18" charset="2"/>
              </a:rPr>
              <a:t>p</a:t>
            </a:r>
            <a:r>
              <a:rPr lang="en-US" sz="1600" dirty="0">
                <a:sym typeface="Symbol" panose="05050102010706020507" pitchFamily="18" charset="2"/>
              </a:rPr>
              <a:t>(</a:t>
            </a:r>
            <a:r>
              <a:rPr lang="en-US" sz="1600" b="1" i="1" dirty="0">
                <a:sym typeface="Symbol" panose="05050102010706020507" pitchFamily="18" charset="2"/>
              </a:rPr>
              <a:t>r</a:t>
            </a:r>
            <a:r>
              <a:rPr lang="en-US" sz="1600" dirty="0">
                <a:sym typeface="Symbol" panose="05050102010706020507" pitchFamily="18" charset="2"/>
              </a:rPr>
              <a:t>) = {</a:t>
            </a:r>
            <a:r>
              <a:rPr lang="en-US" sz="1600" i="1" dirty="0">
                <a:sym typeface="Symbol" panose="05050102010706020507" pitchFamily="18" charset="2"/>
              </a:rPr>
              <a:t>t</a:t>
            </a:r>
            <a:r>
              <a:rPr lang="en-US" sz="1600" dirty="0">
                <a:sym typeface="Symbol" panose="05050102010706020507" pitchFamily="18" charset="2"/>
              </a:rPr>
              <a:t> | </a:t>
            </a:r>
            <a:r>
              <a:rPr lang="en-US" sz="1600" i="1" dirty="0">
                <a:sym typeface="Symbol" panose="05050102010706020507" pitchFamily="18" charset="2"/>
              </a:rPr>
              <a:t>t</a:t>
            </a:r>
            <a:r>
              <a:rPr lang="en-US" sz="1600" dirty="0">
                <a:sym typeface="Symbol" panose="05050102010706020507" pitchFamily="18" charset="2"/>
              </a:rPr>
              <a:t>  </a:t>
            </a:r>
            <a:r>
              <a:rPr lang="en-US" sz="1600" i="1" dirty="0">
                <a:sym typeface="Symbol" panose="05050102010706020507" pitchFamily="18" charset="2"/>
              </a:rPr>
              <a:t>r</a:t>
            </a:r>
            <a:r>
              <a:rPr lang="en-US" sz="1600" dirty="0">
                <a:sym typeface="Symbol" panose="05050102010706020507" pitchFamily="18" charset="2"/>
              </a:rPr>
              <a:t> </a:t>
            </a:r>
            <a:r>
              <a:rPr lang="en-US" sz="1600" b="1" dirty="0">
                <a:sym typeface="Symbol" panose="05050102010706020507" pitchFamily="18" charset="2"/>
              </a:rPr>
              <a:t>and </a:t>
            </a:r>
            <a:r>
              <a:rPr lang="en-US" sz="1600" i="1" dirty="0">
                <a:sym typeface="Symbol" panose="05050102010706020507" pitchFamily="18" charset="2"/>
              </a:rPr>
              <a:t>p(t)</a:t>
            </a:r>
            <a:r>
              <a:rPr lang="en-US" sz="1600" dirty="0">
                <a:sym typeface="Symbol" panose="05050102010706020507" pitchFamily="18" charset="2"/>
              </a:rPr>
              <a:t>}</a:t>
            </a:r>
            <a:br>
              <a:rPr lang="en-US" sz="1600" dirty="0">
                <a:sym typeface="Symbol" panose="05050102010706020507" pitchFamily="18" charset="2"/>
              </a:rPr>
            </a:br>
            <a:endParaRPr lang="en-US" sz="1600" dirty="0">
              <a:sym typeface="Symbol" panose="05050102010706020507" pitchFamily="18" charset="2"/>
            </a:endParaRPr>
          </a:p>
          <a:p>
            <a:pPr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sz="1600" dirty="0">
                <a:sym typeface="Symbol" panose="05050102010706020507" pitchFamily="18" charset="2"/>
              </a:rPr>
              <a:t>	Where</a:t>
            </a:r>
            <a:r>
              <a:rPr lang="en-US" sz="1600" i="1" dirty="0">
                <a:sym typeface="Symbol" panose="05050102010706020507" pitchFamily="18" charset="2"/>
              </a:rPr>
              <a:t> p</a:t>
            </a:r>
            <a:r>
              <a:rPr lang="en-US" sz="1600" dirty="0">
                <a:sym typeface="Symbol" panose="05050102010706020507" pitchFamily="18" charset="2"/>
              </a:rPr>
              <a:t> is a formula in propositional calculus consisting of </a:t>
            </a:r>
            <a:r>
              <a:rPr lang="en-US" sz="1600" b="1" dirty="0">
                <a:solidFill>
                  <a:schemeClr val="tx2"/>
                </a:solidFill>
                <a:sym typeface="Symbol" panose="05050102010706020507" pitchFamily="18" charset="2"/>
              </a:rPr>
              <a:t>terms</a:t>
            </a:r>
            <a:r>
              <a:rPr lang="en-US" sz="1600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sz="1600" dirty="0">
                <a:sym typeface="Symbol" panose="05050102010706020507" pitchFamily="18" charset="2"/>
              </a:rPr>
              <a:t>connected by :  (</a:t>
            </a:r>
            <a:r>
              <a:rPr lang="en-US" sz="1600" b="1" dirty="0">
                <a:sym typeface="Symbol" panose="05050102010706020507" pitchFamily="18" charset="2"/>
              </a:rPr>
              <a:t>and</a:t>
            </a:r>
            <a:r>
              <a:rPr lang="en-US" sz="1600" dirty="0">
                <a:sym typeface="Symbol" panose="05050102010706020507" pitchFamily="18" charset="2"/>
              </a:rPr>
              <a:t>),  (</a:t>
            </a:r>
            <a:r>
              <a:rPr lang="en-US" sz="1600" b="1" dirty="0">
                <a:sym typeface="Symbol" panose="05050102010706020507" pitchFamily="18" charset="2"/>
              </a:rPr>
              <a:t>or</a:t>
            </a:r>
            <a:r>
              <a:rPr lang="en-US" sz="1600" dirty="0">
                <a:sym typeface="Symbol" panose="05050102010706020507" pitchFamily="18" charset="2"/>
              </a:rPr>
              <a:t>),  (</a:t>
            </a:r>
            <a:r>
              <a:rPr lang="en-US" sz="1600" b="1" dirty="0">
                <a:sym typeface="Symbol" panose="05050102010706020507" pitchFamily="18" charset="2"/>
              </a:rPr>
              <a:t>not</a:t>
            </a:r>
            <a:r>
              <a:rPr lang="en-US" sz="1600" dirty="0">
                <a:sym typeface="Symbol" panose="05050102010706020507" pitchFamily="18" charset="2"/>
              </a:rPr>
              <a:t>)</a:t>
            </a:r>
            <a:br>
              <a:rPr lang="en-US" sz="1600" dirty="0">
                <a:sym typeface="Symbol" panose="05050102010706020507" pitchFamily="18" charset="2"/>
              </a:rPr>
            </a:br>
            <a:r>
              <a:rPr lang="en-US" sz="1600" dirty="0">
                <a:sym typeface="Symbol" panose="05050102010706020507" pitchFamily="18" charset="2"/>
              </a:rPr>
              <a:t>Each </a:t>
            </a:r>
            <a:r>
              <a:rPr lang="en-US" sz="1600" b="1" dirty="0">
                <a:solidFill>
                  <a:schemeClr val="tx2"/>
                </a:solidFill>
                <a:sym typeface="Symbol" panose="05050102010706020507" pitchFamily="18" charset="2"/>
              </a:rPr>
              <a:t>term</a:t>
            </a:r>
            <a:r>
              <a:rPr lang="en-US" sz="1600" dirty="0">
                <a:sym typeface="Symbol" panose="05050102010706020507" pitchFamily="18" charset="2"/>
              </a:rPr>
              <a:t> is one of:</a:t>
            </a:r>
          </a:p>
          <a:p>
            <a:pPr>
              <a:lnSpc>
                <a:spcPct val="11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sz="1600" dirty="0">
                <a:sym typeface="Symbol" panose="05050102010706020507" pitchFamily="18" charset="2"/>
              </a:rPr>
              <a:t>		&lt;attribute&gt;	</a:t>
            </a:r>
            <a:r>
              <a:rPr lang="en-US" sz="1600" i="1" dirty="0">
                <a:sym typeface="Symbol" panose="05050102010706020507" pitchFamily="18" charset="2"/>
              </a:rPr>
              <a:t>op</a:t>
            </a:r>
            <a:r>
              <a:rPr lang="en-US" sz="1600" dirty="0">
                <a:sym typeface="Symbol" panose="05050102010706020507" pitchFamily="18" charset="2"/>
              </a:rPr>
              <a:t> 	&lt;attribute&gt; or &lt;constant&gt;</a:t>
            </a:r>
          </a:p>
          <a:p>
            <a:pPr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sz="1600" dirty="0">
                <a:sym typeface="Symbol" panose="05050102010706020507" pitchFamily="18" charset="2"/>
              </a:rPr>
              <a:t>     where </a:t>
            </a:r>
            <a:r>
              <a:rPr lang="en-US" sz="1600" i="1" dirty="0">
                <a:sym typeface="Symbol" panose="05050102010706020507" pitchFamily="18" charset="2"/>
              </a:rPr>
              <a:t>op</a:t>
            </a:r>
            <a:r>
              <a:rPr lang="en-US" sz="1600" dirty="0">
                <a:sym typeface="Symbol" panose="05050102010706020507" pitchFamily="18" charset="2"/>
              </a:rPr>
              <a:t> is one of:  =, , &gt;, . &lt;. </a:t>
            </a:r>
            <a:br>
              <a:rPr lang="en-US" sz="1600" dirty="0">
                <a:sym typeface="Symbol" panose="05050102010706020507" pitchFamily="18" charset="2"/>
              </a:rPr>
            </a:br>
            <a:endParaRPr lang="en-US" sz="1600" dirty="0">
              <a:sym typeface="Symbol" panose="05050102010706020507" pitchFamily="18" charset="2"/>
            </a:endParaRP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sz="1600" dirty="0">
                <a:sym typeface="Symbol" panose="05050102010706020507" pitchFamily="18" charset="2"/>
              </a:rPr>
              <a:t>Example of selection:</a:t>
            </a:r>
            <a:br>
              <a:rPr lang="en-US" sz="1600" dirty="0">
                <a:sym typeface="Symbol" panose="05050102010706020507" pitchFamily="18" charset="2"/>
              </a:rPr>
            </a:br>
            <a:r>
              <a:rPr lang="en-US" sz="1600" dirty="0">
                <a:sym typeface="Symbol" panose="05050102010706020507" pitchFamily="18" charset="2"/>
              </a:rPr>
              <a:t/>
            </a:r>
            <a:br>
              <a:rPr lang="en-US" sz="1600" dirty="0">
                <a:sym typeface="Symbol" panose="05050102010706020507" pitchFamily="18" charset="2"/>
              </a:rPr>
            </a:br>
            <a:r>
              <a:rPr lang="en-US" sz="1600" dirty="0">
                <a:sym typeface="Symbol" panose="05050102010706020507" pitchFamily="18" charset="2"/>
              </a:rPr>
              <a:t>  </a:t>
            </a:r>
            <a:r>
              <a:rPr lang="en-US" sz="2000" dirty="0">
                <a:sym typeface="Symbol" panose="05050102010706020507" pitchFamily="18" charset="2"/>
              </a:rPr>
              <a:t>	</a:t>
            </a:r>
            <a:r>
              <a:rPr lang="en-US" sz="2000" i="1" dirty="0">
                <a:sym typeface="Symbol" panose="05050102010706020507" pitchFamily="18" charset="2"/>
              </a:rPr>
              <a:t>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400" i="1" baseline="-25000" dirty="0" err="1">
                <a:sym typeface="Symbol" panose="05050102010706020507" pitchFamily="18" charset="2"/>
              </a:rPr>
              <a:t>dept_name</a:t>
            </a:r>
            <a:r>
              <a:rPr lang="en-US" sz="2400" i="1" baseline="-25000" dirty="0">
                <a:sym typeface="Symbol" panose="05050102010706020507" pitchFamily="18" charset="2"/>
              </a:rPr>
              <a:t>=“Physics”</a:t>
            </a:r>
            <a:r>
              <a:rPr lang="en-US" sz="2000" dirty="0">
                <a:sym typeface="Symbol" panose="05050102010706020507" pitchFamily="18" charset="2"/>
              </a:rPr>
              <a:t>(</a:t>
            </a:r>
            <a:r>
              <a:rPr lang="en-US" sz="2000" i="1" dirty="0">
                <a:sym typeface="Symbol" panose="05050102010706020507" pitchFamily="18" charset="2"/>
              </a:rPr>
              <a:t>instructor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11213" y="0"/>
            <a:ext cx="10515600" cy="1325563"/>
          </a:xfrm>
        </p:spPr>
        <p:txBody>
          <a:bodyPr/>
          <a:lstStyle/>
          <a:p>
            <a:r>
              <a:rPr lang="en-US" sz="2800" dirty="0" smtClean="0"/>
              <a:t>Select Operation – selection of rows (</a:t>
            </a:r>
            <a:r>
              <a:rPr lang="en-US" sz="2800" dirty="0" err="1" smtClean="0"/>
              <a:t>tuples</a:t>
            </a:r>
            <a:r>
              <a:rPr lang="en-US" sz="2800" dirty="0" smtClean="0"/>
              <a:t>)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484438" y="1449388"/>
            <a:ext cx="16398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600" dirty="0">
                <a:latin typeface="Helvetica" panose="020B0604020202020204" pitchFamily="34" charset="0"/>
              </a:rPr>
              <a:t>Relation r</a:t>
            </a: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850" y="1449388"/>
            <a:ext cx="1887538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2484438" y="4005263"/>
            <a:ext cx="2060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>
                <a:schemeClr val="tx2"/>
              </a:buClr>
              <a:buFont typeface="Wingdings 2" panose="05020102010507070707" pitchFamily="18" charset="2"/>
              <a:buChar char="¡"/>
            </a:pP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400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A=B ^ D &gt; 5</a:t>
            </a:r>
            <a:r>
              <a:rPr lang="en-US" altLang="en-US" sz="2000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Helvetica" panose="020B0604020202020204" pitchFamily="34" charset="0"/>
                <a:sym typeface="Symbol" panose="05050102010706020507" pitchFamily="18" charset="2"/>
              </a:rPr>
              <a:t>(r)</a:t>
            </a:r>
            <a:endParaRPr lang="en-US" altLang="en-US" sz="24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9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Project Operation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96219"/>
            <a:ext cx="10515600" cy="4876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dirty="0" smtClean="0"/>
              <a:t>Notation:</a:t>
            </a:r>
            <a:br>
              <a:rPr lang="en-US" dirty="0" smtClean="0"/>
            </a:br>
            <a:r>
              <a:rPr lang="en-US" dirty="0" smtClean="0"/>
              <a:t>	where </a:t>
            </a:r>
            <a:r>
              <a:rPr lang="en-US" i="1" dirty="0" smtClean="0"/>
              <a:t>A</a:t>
            </a:r>
            <a:r>
              <a:rPr lang="en-US" i="1" baseline="-25000" dirty="0" smtClean="0"/>
              <a:t>1</a:t>
            </a:r>
            <a:r>
              <a:rPr lang="en-US" i="1" dirty="0" smtClean="0"/>
              <a:t>, A</a:t>
            </a:r>
            <a:r>
              <a:rPr lang="en-US" i="1" baseline="-25000" dirty="0" smtClean="0"/>
              <a:t>2</a:t>
            </a:r>
            <a:r>
              <a:rPr lang="en-US" dirty="0" smtClean="0"/>
              <a:t> are attribute names and </a:t>
            </a:r>
            <a:r>
              <a:rPr lang="en-US" i="1" dirty="0" smtClean="0"/>
              <a:t>r</a:t>
            </a:r>
            <a:r>
              <a:rPr lang="en-US" dirty="0" smtClean="0"/>
              <a:t> is a relation name.</a:t>
            </a:r>
          </a:p>
          <a:p>
            <a:pPr>
              <a:tabLst>
                <a:tab pos="3257550" algn="ctr"/>
              </a:tabLst>
            </a:pPr>
            <a:endParaRPr lang="en-US" dirty="0" smtClean="0"/>
          </a:p>
          <a:p>
            <a:pPr>
              <a:tabLst>
                <a:tab pos="3257550" algn="ctr"/>
              </a:tabLst>
            </a:pPr>
            <a:r>
              <a:rPr lang="en-US" dirty="0" smtClean="0"/>
              <a:t>The result is defined as the relation of </a:t>
            </a:r>
            <a:r>
              <a:rPr lang="en-US" i="1" dirty="0" smtClean="0"/>
              <a:t>k</a:t>
            </a:r>
            <a:r>
              <a:rPr lang="en-US" dirty="0" smtClean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dirty="0" smtClean="0"/>
              <a:t>Duplicate rows removed from result, since relations are sets</a:t>
            </a:r>
          </a:p>
          <a:p>
            <a:pPr>
              <a:tabLst>
                <a:tab pos="3257550" algn="ctr"/>
              </a:tabLst>
            </a:pPr>
            <a:r>
              <a:rPr lang="en-US" dirty="0" smtClean="0"/>
              <a:t>Example: To eliminate the </a:t>
            </a:r>
            <a:r>
              <a:rPr lang="en-US" i="1" dirty="0" err="1" smtClean="0"/>
              <a:t>dept_name</a:t>
            </a:r>
            <a:r>
              <a:rPr lang="en-US" dirty="0" smtClean="0"/>
              <a:t> attribute of </a:t>
            </a:r>
            <a:r>
              <a:rPr lang="en-US" i="1" dirty="0" smtClean="0"/>
              <a:t>instructor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	 </a:t>
            </a:r>
            <a:r>
              <a:rPr lang="en-US" dirty="0" smtClean="0">
                <a:sym typeface="Symbol" panose="05050102010706020507" pitchFamily="18" charset="2"/>
              </a:rPr>
              <a:t></a:t>
            </a:r>
            <a:r>
              <a:rPr lang="en-US" sz="2400" i="1" baseline="-25000" dirty="0"/>
              <a:t>ID, name, salary</a:t>
            </a:r>
            <a:r>
              <a:rPr lang="en-US" dirty="0" smtClean="0"/>
              <a:t> (</a:t>
            </a:r>
            <a:r>
              <a:rPr lang="en-US" sz="2000" i="1" dirty="0"/>
              <a:t>instructor</a:t>
            </a:r>
            <a:r>
              <a:rPr lang="en-US" dirty="0" smtClean="0"/>
              <a:t>) </a:t>
            </a:r>
            <a:br>
              <a:rPr lang="en-US" dirty="0" smtClean="0"/>
            </a:br>
            <a:endParaRPr lang="en-US" dirty="0" smtClean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613289"/>
              </p:ext>
            </p:extLst>
          </p:nvPr>
        </p:nvGraphicFramePr>
        <p:xfrm>
          <a:off x="2607280" y="1496219"/>
          <a:ext cx="1914525" cy="738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Equation" r:id="rId4" imgW="875920" imgH="266584" progId="Equation.3">
                  <p:embed/>
                </p:oleObj>
              </mc:Choice>
              <mc:Fallback>
                <p:oleObj name="Equation" r:id="rId4" imgW="875920" imgH="266584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280" y="1496219"/>
                        <a:ext cx="1914525" cy="7389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0450" y="92075"/>
            <a:ext cx="8077200" cy="609600"/>
          </a:xfrm>
        </p:spPr>
        <p:txBody>
          <a:bodyPr/>
          <a:lstStyle/>
          <a:p>
            <a:r>
              <a:rPr lang="en-US" sz="2400" dirty="0" smtClean="0"/>
              <a:t>Project Operation – selection of columns (Attributes)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901825" y="1077913"/>
            <a:ext cx="2441575" cy="411162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Relation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 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5146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2400">
              <a:latin typeface="Times New Roman" panose="02020603050405020304" pitchFamily="18" charset="0"/>
            </a:endParaRP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2438400" y="39624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2400">
              <a:latin typeface="Times New Roman" panose="02020603050405020304" pitchFamily="18" charset="0"/>
            </a:endParaRP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20574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charset="2"/>
              <a:buNone/>
            </a:pPr>
            <a:endParaRPr kumimoji="1" lang="en-IN" altLang="en-US" sz="2000">
              <a:latin typeface="Times New Roman" panose="02020603050405020304" pitchFamily="18" charset="0"/>
            </a:endParaRP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1931988" y="41402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2400">
              <a:latin typeface="Times New Roman" panose="02020603050405020304" pitchFamily="18" charset="0"/>
            </a:endParaRP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1928813" y="3659188"/>
            <a:ext cx="2057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600">
                <a:latin typeface="Helvetica" panose="020B0604020202020204" pitchFamily="34" charset="0"/>
              </a:rPr>
              <a:t> </a:t>
            </a:r>
            <a:r>
              <a:rPr kumimoji="1" lang="en-US" altLang="en-US" sz="160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1600">
              <a:latin typeface="Helvetica" panose="020B0604020202020204" pitchFamily="34" charset="0"/>
            </a:endParaRPr>
          </a:p>
        </p:txBody>
      </p:sp>
      <p:pic>
        <p:nvPicPr>
          <p:cNvPr id="3380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163" y="1189038"/>
            <a:ext cx="2708275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2247900" y="3597275"/>
            <a:ext cx="14684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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A,C</a:t>
            </a:r>
            <a:r>
              <a:rPr lang="en-US" altLang="en-US" sz="2400" dirty="0">
                <a:latin typeface="Times New Roman" panose="02020603050405020304" pitchFamily="18" charset="0"/>
              </a:rPr>
              <a:t> (</a:t>
            </a:r>
            <a:r>
              <a:rPr lang="en-US" altLang="en-US" sz="2400" i="1" dirty="0">
                <a:latin typeface="Times New Roman" panose="02020603050405020304" pitchFamily="18" charset="0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200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Union Operation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399885"/>
            <a:ext cx="10515600" cy="4876800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2965450" algn="ctr"/>
              </a:tabLst>
            </a:pPr>
            <a:r>
              <a:rPr lang="en-US" dirty="0" smtClean="0"/>
              <a:t>Notation:  </a:t>
            </a:r>
            <a:r>
              <a:rPr lang="en-US" i="1" dirty="0" smtClean="0"/>
              <a:t>r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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</a:p>
          <a:p>
            <a:pPr>
              <a:tabLst>
                <a:tab pos="2965450" algn="ctr"/>
              </a:tabLst>
            </a:pPr>
            <a:r>
              <a:rPr lang="en-US" dirty="0" smtClean="0">
                <a:sym typeface="Symbol" panose="05050102010706020507" pitchFamily="18" charset="2"/>
              </a:rPr>
              <a:t>Defined as: </a:t>
            </a:r>
          </a:p>
          <a:p>
            <a:pPr>
              <a:buNone/>
              <a:tabLst>
                <a:tab pos="2965450" algn="ctr"/>
              </a:tabLst>
            </a:pPr>
            <a:r>
              <a:rPr lang="en-US" dirty="0" smtClean="0"/>
              <a:t>		</a:t>
            </a:r>
            <a:r>
              <a:rPr lang="en-US" i="1" dirty="0" smtClean="0"/>
              <a:t>r</a:t>
            </a:r>
            <a:r>
              <a:rPr lang="en-US" dirty="0" smtClean="0"/>
              <a:t>  </a:t>
            </a:r>
            <a:r>
              <a:rPr lang="en-US" dirty="0" smtClean="0">
                <a:sym typeface="Symbol" panose="05050102010706020507" pitchFamily="18" charset="2"/>
              </a:rPr>
              <a:t>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 = {</a:t>
            </a:r>
            <a:r>
              <a:rPr lang="en-US" i="1" dirty="0" smtClean="0">
                <a:sym typeface="Symbol" panose="05050102010706020507" pitchFamily="18" charset="2"/>
              </a:rPr>
              <a:t>t</a:t>
            </a:r>
            <a:r>
              <a:rPr lang="en-US" dirty="0" smtClean="0">
                <a:sym typeface="Symbol" panose="05050102010706020507" pitchFamily="18" charset="2"/>
              </a:rPr>
              <a:t> | </a:t>
            </a:r>
            <a:r>
              <a:rPr lang="en-US" i="1" dirty="0" smtClean="0">
                <a:sym typeface="Symbol" panose="05050102010706020507" pitchFamily="18" charset="2"/>
              </a:rPr>
              <a:t>t</a:t>
            </a:r>
            <a:r>
              <a:rPr lang="en-US" dirty="0" smtClean="0">
                <a:sym typeface="Symbol" panose="05050102010706020507" pitchFamily="18" charset="2"/>
              </a:rPr>
              <a:t>  </a:t>
            </a:r>
            <a:r>
              <a:rPr lang="en-US" i="1" dirty="0" smtClean="0">
                <a:sym typeface="Symbol" panose="05050102010706020507" pitchFamily="18" charset="2"/>
              </a:rPr>
              <a:t>r</a:t>
            </a:r>
            <a:r>
              <a:rPr lang="en-US" dirty="0" smtClean="0">
                <a:sym typeface="Symbol" panose="05050102010706020507" pitchFamily="18" charset="2"/>
              </a:rPr>
              <a:t> or</a:t>
            </a:r>
            <a:r>
              <a:rPr lang="en-US" i="1" dirty="0" smtClean="0">
                <a:sym typeface="Symbol" panose="05050102010706020507" pitchFamily="18" charset="2"/>
              </a:rPr>
              <a:t> t</a:t>
            </a:r>
            <a:r>
              <a:rPr lang="en-US" dirty="0" smtClean="0">
                <a:sym typeface="Symbol" panose="05050102010706020507" pitchFamily="18" charset="2"/>
              </a:rPr>
              <a:t> 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}</a:t>
            </a:r>
          </a:p>
          <a:p>
            <a:pPr>
              <a:tabLst>
                <a:tab pos="2965450" algn="ctr"/>
              </a:tabLst>
            </a:pPr>
            <a:r>
              <a:rPr lang="en-US" dirty="0" smtClean="0">
                <a:sym typeface="Symbol" panose="05050102010706020507" pitchFamily="18" charset="2"/>
              </a:rPr>
              <a:t>For </a:t>
            </a:r>
            <a:r>
              <a:rPr lang="en-US" i="1" dirty="0" smtClean="0"/>
              <a:t>r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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 to be valid.</a:t>
            </a:r>
          </a:p>
          <a:p>
            <a:pPr>
              <a:buNone/>
              <a:tabLst>
                <a:tab pos="2965450" algn="ctr"/>
              </a:tabLst>
            </a:pPr>
            <a:r>
              <a:rPr lang="en-US" i="1" dirty="0" smtClean="0">
                <a:sym typeface="Symbol" panose="05050102010706020507" pitchFamily="18" charset="2"/>
              </a:rPr>
              <a:t>	</a:t>
            </a:r>
            <a:r>
              <a:rPr lang="en-US" dirty="0" smtClean="0">
                <a:sym typeface="Symbol" panose="05050102010706020507" pitchFamily="18" charset="2"/>
              </a:rPr>
              <a:t>1.  </a:t>
            </a:r>
            <a:r>
              <a:rPr lang="en-US" i="1" dirty="0" smtClean="0">
                <a:sym typeface="Symbol" panose="05050102010706020507" pitchFamily="18" charset="2"/>
              </a:rPr>
              <a:t>r,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 must have the </a:t>
            </a:r>
            <a:r>
              <a:rPr lang="en-US" i="1" dirty="0" smtClean="0">
                <a:sym typeface="Symbol" panose="05050102010706020507" pitchFamily="18" charset="2"/>
              </a:rPr>
              <a:t>same </a:t>
            </a:r>
            <a:r>
              <a:rPr lang="en-US" b="1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arity</a:t>
            </a:r>
            <a:r>
              <a:rPr lang="en-US" dirty="0" smtClean="0">
                <a:sym typeface="Symbol" panose="05050102010706020507" pitchFamily="18" charset="2"/>
              </a:rPr>
              <a:t> (same number of attributes)</a:t>
            </a:r>
          </a:p>
          <a:p>
            <a:pPr>
              <a:buNone/>
              <a:tabLst>
                <a:tab pos="2965450" algn="ctr"/>
              </a:tabLst>
            </a:pPr>
            <a:r>
              <a:rPr lang="en-US" dirty="0" smtClean="0">
                <a:sym typeface="Symbol" panose="05050102010706020507" pitchFamily="18" charset="2"/>
              </a:rPr>
              <a:t>	2.  The attribute domains must be </a:t>
            </a:r>
            <a:r>
              <a:rPr lang="en-US" b="1" dirty="0" smtClean="0">
                <a:solidFill>
                  <a:schemeClr val="tx2"/>
                </a:solidFill>
                <a:sym typeface="Symbol" panose="05050102010706020507" pitchFamily="18" charset="2"/>
              </a:rPr>
              <a:t>compatible</a:t>
            </a:r>
            <a:r>
              <a:rPr lang="en-US" dirty="0" smtClean="0">
                <a:sym typeface="Symbol" panose="05050102010706020507" pitchFamily="18" charset="2"/>
              </a:rPr>
              <a:t> (example: 2</a:t>
            </a:r>
            <a:r>
              <a:rPr lang="en-US" baseline="30000" dirty="0" smtClean="0">
                <a:sym typeface="Symbol" panose="05050102010706020507" pitchFamily="18" charset="2"/>
              </a:rPr>
              <a:t>nd</a:t>
            </a:r>
            <a:r>
              <a:rPr lang="en-US" dirty="0" smtClean="0">
                <a:sym typeface="Symbol" panose="05050102010706020507" pitchFamily="18" charset="2"/>
              </a:rPr>
              <a:t> column </a:t>
            </a:r>
            <a:br>
              <a:rPr lang="en-US" dirty="0" smtClean="0">
                <a:sym typeface="Symbol" panose="05050102010706020507" pitchFamily="18" charset="2"/>
              </a:rPr>
            </a:br>
            <a:r>
              <a:rPr lang="en-US" dirty="0" smtClean="0">
                <a:sym typeface="Symbol" panose="05050102010706020507" pitchFamily="18" charset="2"/>
              </a:rPr>
              <a:t>     	of </a:t>
            </a:r>
            <a:r>
              <a:rPr lang="en-US" i="1" dirty="0" smtClean="0">
                <a:sym typeface="Symbol" panose="05050102010706020507" pitchFamily="18" charset="2"/>
              </a:rPr>
              <a:t>r</a:t>
            </a:r>
            <a:r>
              <a:rPr lang="en-US" dirty="0" smtClean="0">
                <a:sym typeface="Symbol" panose="05050102010706020507" pitchFamily="18" charset="2"/>
              </a:rPr>
              <a:t> deals with the same type of values as does the 2</a:t>
            </a:r>
            <a:r>
              <a:rPr lang="en-US" baseline="30000" dirty="0" smtClean="0">
                <a:sym typeface="Symbol" panose="05050102010706020507" pitchFamily="18" charset="2"/>
              </a:rPr>
              <a:t>nd </a:t>
            </a:r>
            <a:r>
              <a:rPr lang="en-US" dirty="0" smtClean="0">
                <a:sym typeface="Symbol" panose="05050102010706020507" pitchFamily="18" charset="2"/>
              </a:rPr>
              <a:t/>
            </a:r>
            <a:br>
              <a:rPr lang="en-US" dirty="0" smtClean="0">
                <a:sym typeface="Symbol" panose="05050102010706020507" pitchFamily="18" charset="2"/>
              </a:rPr>
            </a:br>
            <a:r>
              <a:rPr lang="en-US" dirty="0" smtClean="0">
                <a:sym typeface="Symbol" panose="05050102010706020507" pitchFamily="18" charset="2"/>
              </a:rPr>
              <a:t>     column of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dirty="0" smtClean="0"/>
              <a:t>Example: to find all courses taught in the Fall 2009 semester, or in the Spring 2010 semester, or in both</a:t>
            </a:r>
            <a:br>
              <a:rPr lang="en-US" dirty="0" smtClean="0"/>
            </a:br>
            <a:r>
              <a:rPr lang="en-US" dirty="0" smtClean="0"/>
              <a:t>   </a:t>
            </a:r>
            <a:r>
              <a:rPr lang="en-US" sz="2000" dirty="0">
                <a:sym typeface="Symbol" panose="05050102010706020507" pitchFamily="18" charset="2"/>
              </a:rPr>
              <a:t></a:t>
            </a:r>
            <a:r>
              <a:rPr lang="en-US" sz="2800" i="1" baseline="-25000" dirty="0" err="1"/>
              <a:t>course_id</a:t>
            </a:r>
            <a:r>
              <a:rPr lang="en-US" dirty="0" smtClean="0"/>
              <a:t> </a:t>
            </a:r>
            <a:r>
              <a:rPr lang="en-US" sz="2400" dirty="0"/>
              <a:t>(</a:t>
            </a:r>
            <a:r>
              <a:rPr lang="en-US" sz="2400" i="1" dirty="0">
                <a:sym typeface="Symbol" panose="05050102010706020507" pitchFamily="18" charset="2"/>
              </a:rPr>
              <a:t>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800" i="1" baseline="-25000" dirty="0">
                <a:sym typeface="Symbol" panose="05050102010706020507" pitchFamily="18" charset="2"/>
              </a:rPr>
              <a:t>semester=“Fall”  </a:t>
            </a:r>
            <a:r>
              <a:rPr lang="el-GR" sz="2800" i="1" baseline="-25000" dirty="0">
                <a:sym typeface="Symbol" panose="05050102010706020507" pitchFamily="18" charset="2"/>
              </a:rPr>
              <a:t>Λ</a:t>
            </a:r>
            <a:r>
              <a:rPr lang="en-US" sz="2800" i="1" baseline="-25000" dirty="0">
                <a:sym typeface="Symbol" panose="05050102010706020507" pitchFamily="18" charset="2"/>
              </a:rPr>
              <a:t> year=2009 </a:t>
            </a:r>
            <a:r>
              <a:rPr lang="en-US" sz="2400" dirty="0">
                <a:sym typeface="Symbol" panose="05050102010706020507" pitchFamily="18" charset="2"/>
              </a:rPr>
              <a:t>(</a:t>
            </a:r>
            <a:r>
              <a:rPr lang="en-US" sz="2400" i="1" dirty="0">
                <a:sym typeface="Symbol" panose="05050102010706020507" pitchFamily="18" charset="2"/>
              </a:rPr>
              <a:t>section</a:t>
            </a:r>
            <a:r>
              <a:rPr lang="en-US" sz="2400" dirty="0">
                <a:sym typeface="Symbol" panose="05050102010706020507" pitchFamily="18" charset="2"/>
              </a:rPr>
              <a:t>))  </a:t>
            </a:r>
            <a:r>
              <a:rPr lang="en-US" dirty="0" smtClean="0">
                <a:sym typeface="Symbol" panose="05050102010706020507" pitchFamily="18" charset="2"/>
              </a:rPr>
              <a:t>  </a:t>
            </a:r>
            <a:br>
              <a:rPr lang="en-US" dirty="0" smtClean="0">
                <a:sym typeface="Symbol" panose="05050102010706020507" pitchFamily="18" charset="2"/>
              </a:rPr>
            </a:br>
            <a:r>
              <a:rPr lang="en-US" dirty="0" smtClean="0">
                <a:sym typeface="Symbol" panose="05050102010706020507" pitchFamily="18" charset="2"/>
              </a:rPr>
              <a:t>   </a:t>
            </a:r>
            <a:r>
              <a:rPr lang="en-US" sz="2000" dirty="0">
                <a:sym typeface="Symbol" panose="05050102010706020507" pitchFamily="18" charset="2"/>
              </a:rPr>
              <a:t></a:t>
            </a:r>
            <a:r>
              <a:rPr lang="en-US" sz="2800" i="1" baseline="-25000" dirty="0" err="1"/>
              <a:t>course_id</a:t>
            </a:r>
            <a:r>
              <a:rPr lang="en-US" dirty="0" smtClean="0"/>
              <a:t> </a:t>
            </a:r>
            <a:r>
              <a:rPr lang="en-US" sz="2400" dirty="0"/>
              <a:t>(</a:t>
            </a:r>
            <a:r>
              <a:rPr lang="en-US" sz="2400" i="1" dirty="0">
                <a:sym typeface="Symbol" panose="05050102010706020507" pitchFamily="18" charset="2"/>
              </a:rPr>
              <a:t>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800" i="1" baseline="-25000" dirty="0">
                <a:sym typeface="Symbol" panose="05050102010706020507" pitchFamily="18" charset="2"/>
              </a:rPr>
              <a:t>semester=“Spring”  </a:t>
            </a:r>
            <a:r>
              <a:rPr lang="el-GR" sz="2800" i="1" baseline="-25000" dirty="0">
                <a:sym typeface="Symbol" panose="05050102010706020507" pitchFamily="18" charset="2"/>
              </a:rPr>
              <a:t>Λ</a:t>
            </a:r>
            <a:r>
              <a:rPr lang="en-US" sz="2800" i="1" baseline="-25000" dirty="0">
                <a:sym typeface="Symbol" panose="05050102010706020507" pitchFamily="18" charset="2"/>
              </a:rPr>
              <a:t> year=2010 </a:t>
            </a:r>
            <a:r>
              <a:rPr lang="en-US" sz="2400" dirty="0">
                <a:sym typeface="Symbol" panose="05050102010706020507" pitchFamily="18" charset="2"/>
              </a:rPr>
              <a:t>(</a:t>
            </a:r>
            <a:r>
              <a:rPr lang="en-US" sz="2400" i="1" dirty="0">
                <a:sym typeface="Symbol" panose="05050102010706020507" pitchFamily="18" charset="2"/>
              </a:rPr>
              <a:t>section</a:t>
            </a:r>
            <a:r>
              <a:rPr lang="en-US" sz="24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dirty="0" smtClean="0"/>
          </a:p>
          <a:p>
            <a:pPr>
              <a:lnSpc>
                <a:spcPct val="140000"/>
              </a:lnSpc>
              <a:buNone/>
              <a:tabLst>
                <a:tab pos="2965450" algn="ctr"/>
              </a:tabLst>
            </a:pPr>
            <a:endParaRPr lang="en-U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784225" y="0"/>
            <a:ext cx="10515600" cy="1325563"/>
          </a:xfrm>
        </p:spPr>
        <p:txBody>
          <a:bodyPr/>
          <a:lstStyle/>
          <a:p>
            <a:r>
              <a:rPr lang="en-US" dirty="0" smtClean="0"/>
              <a:t>Union of two relations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322513" y="1200150"/>
            <a:ext cx="6861175" cy="334963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Relations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r, s: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322513" y="3238500"/>
            <a:ext cx="70294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600" dirty="0">
                <a:latin typeface="Helvetica" panose="020B0604020202020204" pitchFamily="34" charset="0"/>
              </a:rPr>
              <a:t>r </a:t>
            </a:r>
            <a:r>
              <a:rPr kumimoji="1" lang="en-US" altLang="en-US" sz="1600" dirty="0">
                <a:latin typeface="Helvetica" panose="020B0604020202020204" pitchFamily="34" charset="0"/>
                <a:sym typeface="Symbol" panose="05050102010706020507" pitchFamily="18" charset="2"/>
              </a:rPr>
              <a:t> s</a:t>
            </a:r>
            <a:r>
              <a:rPr kumimoji="1" lang="en-US" altLang="en-US" sz="1600" dirty="0">
                <a:latin typeface="Helvetica" panose="020B0604020202020204" pitchFamily="34" charset="0"/>
              </a:rPr>
              <a:t>: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88" y="1138238"/>
            <a:ext cx="2357437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991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Set Difference Operation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1401"/>
            <a:ext cx="10941676" cy="491648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dirty="0"/>
              <a:t>Notation </a:t>
            </a:r>
            <a:r>
              <a:rPr lang="en-US" i="1" dirty="0"/>
              <a:t>r – s</a:t>
            </a:r>
          </a:p>
          <a:p>
            <a:r>
              <a:rPr lang="en-US" sz="2000" dirty="0"/>
              <a:t>Defined as:</a:t>
            </a:r>
          </a:p>
          <a:p>
            <a:pPr>
              <a:buFont typeface="Monotype Sorts" pitchFamily="2" charset="2"/>
              <a:buNone/>
            </a:pPr>
            <a:r>
              <a:rPr lang="en-US" sz="2000" dirty="0"/>
              <a:t>		 </a:t>
            </a:r>
            <a:r>
              <a:rPr lang="en-US" sz="2000" i="1" dirty="0"/>
              <a:t>r – s</a:t>
            </a:r>
            <a:r>
              <a:rPr lang="en-US" sz="2000" dirty="0"/>
              <a:t>  = {</a:t>
            </a:r>
            <a:r>
              <a:rPr lang="en-US" sz="2000" i="1" dirty="0"/>
              <a:t>t</a:t>
            </a:r>
            <a:r>
              <a:rPr lang="en-US" sz="2000" dirty="0"/>
              <a:t> | </a:t>
            </a:r>
            <a:r>
              <a:rPr lang="en-US" sz="2000" i="1" dirty="0"/>
              <a:t>t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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b="1" dirty="0">
                <a:sym typeface="Symbol" panose="05050102010706020507" pitchFamily="18" charset="2"/>
              </a:rPr>
              <a:t>and</a:t>
            </a:r>
            <a:r>
              <a:rPr lang="en-US" sz="2000" dirty="0">
                <a:sym typeface="Symbol" panose="05050102010706020507" pitchFamily="18" charset="2"/>
              </a:rPr>
              <a:t> t  </a:t>
            </a:r>
            <a:r>
              <a:rPr lang="en-US" sz="2000" i="1" dirty="0">
                <a:sym typeface="Symbol" panose="05050102010706020507" pitchFamily="18" charset="2"/>
              </a:rPr>
              <a:t>s</a:t>
            </a:r>
            <a:r>
              <a:rPr lang="en-US" sz="2000" dirty="0">
                <a:sym typeface="Symbol" panose="05050102010706020507" pitchFamily="18" charset="2"/>
              </a:rPr>
              <a:t>}</a:t>
            </a:r>
          </a:p>
          <a:p>
            <a:pPr>
              <a:buFont typeface="Monotype Sorts" pitchFamily="2" charset="2"/>
              <a:buNone/>
            </a:pPr>
            <a:endParaRPr lang="en-US" sz="2000" i="1" dirty="0"/>
          </a:p>
          <a:p>
            <a:r>
              <a:rPr lang="en-US" sz="2000" dirty="0"/>
              <a:t>Set differences must be taken between </a:t>
            </a:r>
            <a:r>
              <a:rPr lang="en-US" sz="2000" b="1" dirty="0">
                <a:solidFill>
                  <a:schemeClr val="tx2"/>
                </a:solidFill>
              </a:rPr>
              <a:t>compatible</a:t>
            </a:r>
            <a:r>
              <a:rPr lang="en-US" sz="2000" dirty="0"/>
              <a:t> relations.</a:t>
            </a:r>
          </a:p>
          <a:p>
            <a:pPr lvl="1"/>
            <a:r>
              <a:rPr lang="en-US" sz="2000" i="1" dirty="0"/>
              <a:t>r</a:t>
            </a:r>
            <a:r>
              <a:rPr lang="en-US" sz="2000" dirty="0"/>
              <a:t> and </a:t>
            </a:r>
            <a:r>
              <a:rPr lang="en-US" sz="2000" i="1" dirty="0"/>
              <a:t>s</a:t>
            </a:r>
            <a:r>
              <a:rPr lang="en-US" sz="2000" dirty="0"/>
              <a:t> must have the </a:t>
            </a:r>
            <a:r>
              <a:rPr lang="en-US" sz="2000" dirty="0">
                <a:solidFill>
                  <a:schemeClr val="tx2"/>
                </a:solidFill>
              </a:rPr>
              <a:t>same</a:t>
            </a:r>
            <a:r>
              <a:rPr lang="en-US" sz="2000" dirty="0"/>
              <a:t> </a:t>
            </a:r>
            <a:r>
              <a:rPr lang="en-US" sz="2000" dirty="0" err="1"/>
              <a:t>arity</a:t>
            </a:r>
            <a:endParaRPr lang="en-US" sz="2000" dirty="0"/>
          </a:p>
          <a:p>
            <a:pPr lvl="1"/>
            <a:r>
              <a:rPr lang="en-US" sz="2000" dirty="0"/>
              <a:t>attribute domains of </a:t>
            </a:r>
            <a:r>
              <a:rPr lang="en-US" sz="2000" i="1" dirty="0"/>
              <a:t>r </a:t>
            </a:r>
            <a:r>
              <a:rPr lang="en-US" sz="2000" dirty="0"/>
              <a:t>and </a:t>
            </a:r>
            <a:r>
              <a:rPr lang="en-US" sz="2000" i="1" dirty="0"/>
              <a:t>s </a:t>
            </a:r>
            <a:r>
              <a:rPr lang="en-US" sz="2000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sz="2000" dirty="0"/>
              <a:t>Example: to find all courses taught in the Fall 2009 semester, but not in the Spring 2010 semester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3600" dirty="0" smtClean="0">
                <a:sym typeface="Symbol" panose="05050102010706020507" pitchFamily="18" charset="2"/>
              </a:rPr>
              <a:t></a:t>
            </a:r>
            <a:r>
              <a:rPr lang="en-US" sz="3200" i="1" baseline="-25000" dirty="0" err="1"/>
              <a:t>course_id</a:t>
            </a:r>
            <a:r>
              <a:rPr lang="en-US" sz="2000" dirty="0"/>
              <a:t> </a:t>
            </a:r>
            <a:r>
              <a:rPr lang="en-US" dirty="0"/>
              <a:t>(</a:t>
            </a:r>
            <a:r>
              <a:rPr lang="en-US" i="1" dirty="0">
                <a:sym typeface="Symbol" panose="05050102010706020507" pitchFamily="18" charset="2"/>
              </a:rPr>
              <a:t>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sz="3200" i="1" baseline="-25000" dirty="0">
                <a:sym typeface="Symbol" panose="05050102010706020507" pitchFamily="18" charset="2"/>
              </a:rPr>
              <a:t>semester=“Fall”  </a:t>
            </a:r>
            <a:r>
              <a:rPr lang="el-GR" sz="3200" i="1" baseline="-25000" dirty="0">
                <a:sym typeface="Symbol" panose="05050102010706020507" pitchFamily="18" charset="2"/>
              </a:rPr>
              <a:t>Λ</a:t>
            </a:r>
            <a:r>
              <a:rPr lang="en-US" sz="3200" i="1" baseline="-25000" dirty="0">
                <a:sym typeface="Symbol" panose="05050102010706020507" pitchFamily="18" charset="2"/>
              </a:rPr>
              <a:t> year=2009 </a:t>
            </a:r>
            <a:r>
              <a:rPr lang="en-US" dirty="0">
                <a:sym typeface="Symbol" panose="05050102010706020507" pitchFamily="18" charset="2"/>
              </a:rPr>
              <a:t>(</a:t>
            </a:r>
            <a:r>
              <a:rPr lang="en-US" i="1" dirty="0">
                <a:sym typeface="Symbol" panose="05050102010706020507" pitchFamily="18" charset="2"/>
              </a:rPr>
              <a:t>section</a:t>
            </a:r>
            <a:r>
              <a:rPr lang="en-US" dirty="0">
                <a:sym typeface="Symbol" panose="05050102010706020507" pitchFamily="18" charset="2"/>
              </a:rPr>
              <a:t>))  −</a:t>
            </a:r>
            <a:r>
              <a:rPr lang="en-US" sz="2000" dirty="0">
                <a:sym typeface="Symbol" panose="05050102010706020507" pitchFamily="18" charset="2"/>
              </a:rPr>
              <a:t>  </a:t>
            </a:r>
            <a:br>
              <a:rPr lang="en-US" sz="2000" dirty="0">
                <a:sym typeface="Symbol" panose="05050102010706020507" pitchFamily="18" charset="2"/>
              </a:rPr>
            </a:br>
            <a:r>
              <a:rPr lang="en-US" sz="2000" dirty="0">
                <a:sym typeface="Symbol" panose="05050102010706020507" pitchFamily="18" charset="2"/>
              </a:rPr>
              <a:t>   </a:t>
            </a:r>
            <a:r>
              <a:rPr lang="en-US" sz="3600" dirty="0" smtClean="0">
                <a:sym typeface="Symbol" panose="05050102010706020507" pitchFamily="18" charset="2"/>
              </a:rPr>
              <a:t></a:t>
            </a:r>
            <a:r>
              <a:rPr lang="en-US" sz="3200" i="1" baseline="-25000" dirty="0" err="1"/>
              <a:t>course_id</a:t>
            </a:r>
            <a:r>
              <a:rPr lang="en-US" sz="2000" dirty="0"/>
              <a:t> </a:t>
            </a:r>
            <a:r>
              <a:rPr lang="en-US" dirty="0"/>
              <a:t>(</a:t>
            </a:r>
            <a:r>
              <a:rPr lang="en-US" i="1" dirty="0">
                <a:sym typeface="Symbol" panose="05050102010706020507" pitchFamily="18" charset="2"/>
              </a:rPr>
              <a:t>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sz="3200" i="1" baseline="-25000" dirty="0">
                <a:sym typeface="Symbol" panose="05050102010706020507" pitchFamily="18" charset="2"/>
              </a:rPr>
              <a:t>semester=“Spring”  </a:t>
            </a:r>
            <a:r>
              <a:rPr lang="el-GR" sz="3200" i="1" baseline="-25000" dirty="0">
                <a:sym typeface="Symbol" panose="05050102010706020507" pitchFamily="18" charset="2"/>
              </a:rPr>
              <a:t>Λ</a:t>
            </a:r>
            <a:r>
              <a:rPr lang="en-US" sz="3200" i="1" baseline="-25000" dirty="0">
                <a:sym typeface="Symbol" panose="05050102010706020507" pitchFamily="18" charset="2"/>
              </a:rPr>
              <a:t> year=2010 </a:t>
            </a:r>
            <a:r>
              <a:rPr lang="en-US" dirty="0">
                <a:sym typeface="Symbol" panose="05050102010706020507" pitchFamily="18" charset="2"/>
              </a:rPr>
              <a:t>(</a:t>
            </a:r>
            <a:r>
              <a:rPr lang="en-US" i="1" dirty="0">
                <a:sym typeface="Symbol" panose="05050102010706020507" pitchFamily="18" charset="2"/>
              </a:rPr>
              <a:t>section</a:t>
            </a:r>
            <a:r>
              <a:rPr lang="en-US" dirty="0">
                <a:sym typeface="Symbol" panose="05050102010706020507" pitchFamily="18" charset="2"/>
              </a:rPr>
              <a:t>))</a:t>
            </a:r>
          </a:p>
          <a:p>
            <a:endParaRPr lang="en-US" sz="2000" dirty="0">
              <a:sym typeface="Symbol" panose="05050102010706020507" pitchFamily="18" charset="2"/>
            </a:endParaRPr>
          </a:p>
          <a:p>
            <a:pPr>
              <a:buFont typeface="Monotype Sorts" pitchFamily="2" charset="2"/>
              <a:buNone/>
            </a:pPr>
            <a:endParaRPr lang="en-US" sz="1600" dirty="0">
              <a:sym typeface="Symbol" panose="05050102010706020507" pitchFamily="18" charset="2"/>
            </a:endParaRPr>
          </a:p>
          <a:p>
            <a:pPr>
              <a:buFont typeface="Monotype Sorts" pitchFamily="2" charset="2"/>
              <a:buNone/>
            </a:pPr>
            <a:endParaRPr lang="en-US" sz="1600" dirty="0">
              <a:sym typeface="Symbol" panose="05050102010706020507" pitchFamily="18" charset="2"/>
            </a:endParaRPr>
          </a:p>
          <a:p>
            <a:pPr>
              <a:buFont typeface="Monotype Sorts" pitchFamily="2" charset="2"/>
              <a:buNone/>
            </a:pPr>
            <a:endParaRPr lang="en-US" sz="16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47913" y="66675"/>
            <a:ext cx="8077200" cy="609600"/>
          </a:xfrm>
        </p:spPr>
        <p:txBody>
          <a:bodyPr/>
          <a:lstStyle/>
          <a:p>
            <a:r>
              <a:rPr lang="en-US" dirty="0" smtClean="0"/>
              <a:t>Set difference of two relations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322513" y="1077913"/>
            <a:ext cx="6861175" cy="334962"/>
          </a:xfrm>
        </p:spPr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Relations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2322513" y="3221038"/>
            <a:ext cx="702945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600" i="1" dirty="0">
                <a:latin typeface="Helvetica" panose="020B0604020202020204" pitchFamily="34" charset="0"/>
              </a:rPr>
              <a:t>r  </a:t>
            </a:r>
            <a:r>
              <a:rPr kumimoji="1" lang="en-US" altLang="en-US" sz="1600" i="1" dirty="0">
                <a:latin typeface="Helvetica" panose="020B0604020202020204" pitchFamily="34" charset="0"/>
                <a:sym typeface="Symbol" panose="05050102010706020507" pitchFamily="18" charset="2"/>
              </a:rPr>
              <a:t>– s</a:t>
            </a:r>
            <a:r>
              <a:rPr kumimoji="1" lang="en-US" altLang="en-US" sz="1600" i="1" dirty="0">
                <a:latin typeface="Helvetica" panose="020B0604020202020204" pitchFamily="34" charset="0"/>
              </a:rPr>
              <a:t>:</a:t>
            </a:r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0" y="1211263"/>
            <a:ext cx="2554288" cy="323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077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Set-Intersection Operation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38521"/>
            <a:ext cx="10515600" cy="4876800"/>
          </a:xfrm>
        </p:spPr>
        <p:txBody>
          <a:bodyPr/>
          <a:lstStyle/>
          <a:p>
            <a:r>
              <a:rPr lang="en-US" dirty="0" smtClean="0"/>
              <a:t>Notation: </a:t>
            </a:r>
            <a:r>
              <a:rPr lang="en-US" i="1" dirty="0" smtClean="0"/>
              <a:t>r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 </a:t>
            </a:r>
            <a:r>
              <a:rPr lang="en-US" i="1" dirty="0" smtClean="0"/>
              <a:t>s</a:t>
            </a:r>
            <a:endParaRPr lang="en-US" dirty="0" smtClean="0"/>
          </a:p>
          <a:p>
            <a:r>
              <a:rPr lang="en-US" dirty="0" smtClean="0"/>
              <a:t>Defined as:</a:t>
            </a:r>
          </a:p>
          <a:p>
            <a:r>
              <a:rPr lang="en-US" i="1" dirty="0" smtClean="0"/>
              <a:t>r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</a:t>
            </a:r>
            <a:r>
              <a:rPr lang="en-US" dirty="0" smtClean="0"/>
              <a:t> </a:t>
            </a:r>
            <a:r>
              <a:rPr lang="en-US" i="1" dirty="0" smtClean="0"/>
              <a:t>s</a:t>
            </a:r>
            <a:r>
              <a:rPr lang="en-US" dirty="0" smtClean="0"/>
              <a:t> = { </a:t>
            </a:r>
            <a:r>
              <a:rPr lang="en-US" i="1" dirty="0" smtClean="0"/>
              <a:t>t </a:t>
            </a:r>
            <a:r>
              <a:rPr lang="en-US" dirty="0" smtClean="0"/>
              <a:t>| </a:t>
            </a:r>
            <a:r>
              <a:rPr lang="en-US" i="1" dirty="0" smtClean="0"/>
              <a:t>t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</a:t>
            </a:r>
            <a:r>
              <a:rPr lang="en-US" dirty="0" smtClean="0"/>
              <a:t> </a:t>
            </a:r>
            <a:r>
              <a:rPr lang="en-US" i="1" dirty="0" smtClean="0"/>
              <a:t>r</a:t>
            </a:r>
            <a:r>
              <a:rPr lang="en-US" dirty="0" smtClean="0"/>
              <a:t> </a:t>
            </a:r>
            <a:r>
              <a:rPr lang="en-US" b="1" dirty="0" smtClean="0"/>
              <a:t>and</a:t>
            </a:r>
            <a:r>
              <a:rPr lang="en-US" dirty="0" smtClean="0"/>
              <a:t> </a:t>
            </a:r>
            <a:r>
              <a:rPr lang="en-US" i="1" dirty="0" smtClean="0"/>
              <a:t>t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</a:t>
            </a:r>
            <a:r>
              <a:rPr lang="en-US" dirty="0" smtClean="0"/>
              <a:t> </a:t>
            </a:r>
            <a:r>
              <a:rPr lang="en-US" i="1" dirty="0" smtClean="0"/>
              <a:t>s</a:t>
            </a:r>
            <a:r>
              <a:rPr lang="en-US" dirty="0" smtClean="0"/>
              <a:t> }</a:t>
            </a:r>
          </a:p>
          <a:p>
            <a:r>
              <a:rPr lang="en-US" dirty="0" smtClean="0"/>
              <a:t>Assume: </a:t>
            </a:r>
          </a:p>
          <a:p>
            <a:pPr lvl="1"/>
            <a:r>
              <a:rPr lang="en-US" i="1" dirty="0" smtClean="0"/>
              <a:t>r</a:t>
            </a:r>
            <a:r>
              <a:rPr lang="en-US" dirty="0" smtClean="0"/>
              <a:t>, </a:t>
            </a:r>
            <a:r>
              <a:rPr lang="en-US" i="1" dirty="0" smtClean="0"/>
              <a:t>s</a:t>
            </a:r>
            <a:r>
              <a:rPr lang="en-US" dirty="0" smtClean="0"/>
              <a:t> have the </a:t>
            </a:r>
            <a:r>
              <a:rPr lang="en-US" i="1" dirty="0" smtClean="0"/>
              <a:t>same </a:t>
            </a:r>
            <a:r>
              <a:rPr lang="en-US" i="1" dirty="0" err="1" smtClean="0"/>
              <a:t>arity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attributes of </a:t>
            </a:r>
            <a:r>
              <a:rPr lang="en-US" i="1" dirty="0" smtClean="0"/>
              <a:t>r</a:t>
            </a:r>
            <a:r>
              <a:rPr lang="en-US" dirty="0" smtClean="0"/>
              <a:t> and </a:t>
            </a:r>
            <a:r>
              <a:rPr lang="en-US" i="1" dirty="0" smtClean="0"/>
              <a:t>s</a:t>
            </a:r>
            <a:r>
              <a:rPr lang="en-US" dirty="0" smtClean="0"/>
              <a:t> are compatible</a:t>
            </a:r>
          </a:p>
          <a:p>
            <a:r>
              <a:rPr lang="en-US" dirty="0" smtClean="0"/>
              <a:t>Note: </a:t>
            </a:r>
            <a:r>
              <a:rPr lang="en-US" i="1" dirty="0" smtClean="0"/>
              <a:t>r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</a:t>
            </a:r>
            <a:r>
              <a:rPr lang="en-US" dirty="0" smtClean="0"/>
              <a:t> </a:t>
            </a:r>
            <a:r>
              <a:rPr lang="en-US" i="1" dirty="0" smtClean="0"/>
              <a:t>s</a:t>
            </a:r>
            <a:r>
              <a:rPr lang="en-US" dirty="0" smtClean="0"/>
              <a:t> = </a:t>
            </a:r>
            <a:r>
              <a:rPr lang="en-US" i="1" dirty="0" smtClean="0"/>
              <a:t>r</a:t>
            </a:r>
            <a:r>
              <a:rPr lang="en-US" dirty="0" smtClean="0"/>
              <a:t> – (</a:t>
            </a:r>
            <a:r>
              <a:rPr lang="en-US" i="1" dirty="0" smtClean="0"/>
              <a:t>r</a:t>
            </a:r>
            <a:r>
              <a:rPr lang="en-US" dirty="0" smtClean="0"/>
              <a:t> – </a:t>
            </a:r>
            <a:r>
              <a:rPr lang="en-US" i="1" dirty="0" smtClean="0"/>
              <a:t>s</a:t>
            </a:r>
            <a:r>
              <a:rPr lang="en-US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7913" y="23813"/>
            <a:ext cx="8077200" cy="609600"/>
          </a:xfrm>
        </p:spPr>
        <p:txBody>
          <a:bodyPr/>
          <a:lstStyle/>
          <a:p>
            <a:r>
              <a:rPr lang="en-US" dirty="0" smtClean="0"/>
              <a:t>Set intersection of two relations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2322513" y="1200150"/>
            <a:ext cx="7848600" cy="38100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Relation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r, 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</a:t>
            </a:r>
          </a:p>
          <a:p>
            <a:pPr fontAlgn="auto">
              <a:spcAft>
                <a:spcPts val="0"/>
              </a:spcAft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fontAlgn="auto">
              <a:spcAft>
                <a:spcPts val="0"/>
              </a:spcAft>
              <a:buFont typeface="Monotype Sorts" charset="2"/>
              <a:buNone/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fontAlgn="auto">
              <a:spcAft>
                <a:spcPts val="0"/>
              </a:spcAft>
              <a:buFont typeface="Monotype Sorts" charset="2"/>
              <a:buNone/>
              <a:defRPr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i="1" dirty="0" smtClean="0">
                <a:ea typeface="ＭＳ Ｐゴシック" panose="020B0600070205080204" pitchFamily="34" charset="-128"/>
              </a:rPr>
              <a:t>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 </a:t>
            </a: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s</a:t>
            </a:r>
            <a:endParaRPr lang="en-US" altLang="en-US" i="1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963" y="1628775"/>
            <a:ext cx="2657475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2433638" y="5346700"/>
            <a:ext cx="2498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Helvetica" panose="020B0604020202020204" pitchFamily="34" charset="0"/>
              </a:rPr>
              <a:t>Note: </a:t>
            </a:r>
            <a:r>
              <a:rPr lang="en-US" altLang="en-US" sz="1800" i="1" dirty="0">
                <a:latin typeface="Helvetica" panose="020B0604020202020204" pitchFamily="34" charset="0"/>
              </a:rPr>
              <a:t>r</a:t>
            </a:r>
            <a:r>
              <a:rPr lang="en-US" altLang="en-US" sz="1800" dirty="0">
                <a:latin typeface="Helvetica" panose="020B0604020202020204" pitchFamily="34" charset="0"/>
              </a:rPr>
              <a:t> </a:t>
            </a:r>
            <a:r>
              <a:rPr lang="en-US" altLang="en-US" sz="1800" dirty="0">
                <a:latin typeface="Helvetica" panose="020B060402020202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1800" dirty="0">
                <a:latin typeface="Helvetica" panose="020B0604020202020204" pitchFamily="34" charset="0"/>
              </a:rPr>
              <a:t> </a:t>
            </a:r>
            <a:r>
              <a:rPr lang="en-US" altLang="en-US" sz="1800" i="1" dirty="0">
                <a:latin typeface="Helvetica" panose="020B0604020202020204" pitchFamily="34" charset="0"/>
              </a:rPr>
              <a:t>s</a:t>
            </a:r>
            <a:r>
              <a:rPr lang="en-US" altLang="en-US" sz="1800" dirty="0">
                <a:latin typeface="Helvetica" panose="020B0604020202020204" pitchFamily="34" charset="0"/>
              </a:rPr>
              <a:t> = </a:t>
            </a:r>
            <a:r>
              <a:rPr lang="en-US" altLang="en-US" sz="1800" i="1" dirty="0">
                <a:latin typeface="Helvetica" panose="020B0604020202020204" pitchFamily="34" charset="0"/>
              </a:rPr>
              <a:t>r</a:t>
            </a:r>
            <a:r>
              <a:rPr lang="en-US" altLang="en-US" sz="1800" dirty="0">
                <a:latin typeface="Helvetica" panose="020B0604020202020204" pitchFamily="34" charset="0"/>
              </a:rPr>
              <a:t> – (</a:t>
            </a:r>
            <a:r>
              <a:rPr lang="en-US" altLang="en-US" sz="1800" i="1" dirty="0">
                <a:latin typeface="Helvetica" panose="020B0604020202020204" pitchFamily="34" charset="0"/>
              </a:rPr>
              <a:t>r</a:t>
            </a:r>
            <a:r>
              <a:rPr lang="en-US" altLang="en-US" sz="1800" dirty="0">
                <a:latin typeface="Helvetica" panose="020B0604020202020204" pitchFamily="34" charset="0"/>
              </a:rPr>
              <a:t> – </a:t>
            </a:r>
            <a:r>
              <a:rPr lang="en-US" altLang="en-US" sz="1800" i="1" dirty="0">
                <a:latin typeface="Helvetica" panose="020B0604020202020204" pitchFamily="34" charset="0"/>
              </a:rPr>
              <a:t>s</a:t>
            </a:r>
            <a:r>
              <a:rPr lang="en-US" altLang="en-US" sz="1800" dirty="0">
                <a:latin typeface="Helvetica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890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Cartesian-Product Operation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90037"/>
            <a:ext cx="10611118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sz="3200" b="1" dirty="0" smtClean="0"/>
              <a:t>Notation</a:t>
            </a:r>
            <a:r>
              <a:rPr lang="en-US" sz="3200" b="1" i="1" dirty="0" smtClean="0"/>
              <a:t> r </a:t>
            </a:r>
            <a:r>
              <a:rPr lang="en-US" sz="3200" b="1" dirty="0" smtClean="0"/>
              <a:t>x</a:t>
            </a:r>
            <a:r>
              <a:rPr lang="en-US" sz="3200" b="1" i="1" dirty="0" smtClean="0"/>
              <a:t> s</a:t>
            </a:r>
            <a:endParaRPr lang="en-US" sz="3200" b="1" dirty="0" smtClean="0"/>
          </a:p>
          <a:p>
            <a:pPr>
              <a:tabLst>
                <a:tab pos="3149600" algn="ctr"/>
              </a:tabLst>
            </a:pPr>
            <a:r>
              <a:rPr lang="en-US" dirty="0" smtClean="0"/>
              <a:t>Defined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dirty="0" smtClean="0"/>
              <a:t>		</a:t>
            </a:r>
            <a:r>
              <a:rPr lang="en-US" i="1" dirty="0" smtClean="0"/>
              <a:t>r</a:t>
            </a:r>
            <a:r>
              <a:rPr lang="en-US" dirty="0" smtClean="0"/>
              <a:t> x </a:t>
            </a:r>
            <a:r>
              <a:rPr lang="en-US" i="1" dirty="0" smtClean="0"/>
              <a:t>s</a:t>
            </a:r>
            <a:r>
              <a:rPr lang="en-US" dirty="0" smtClean="0"/>
              <a:t> = {</a:t>
            </a:r>
            <a:r>
              <a:rPr lang="en-US" i="1" dirty="0" smtClean="0"/>
              <a:t>t q </a:t>
            </a:r>
            <a:r>
              <a:rPr lang="en-US" dirty="0" smtClean="0"/>
              <a:t>|</a:t>
            </a:r>
            <a:r>
              <a:rPr lang="en-US" i="1" dirty="0" smtClean="0"/>
              <a:t> t </a:t>
            </a:r>
            <a:r>
              <a:rPr lang="en-US" dirty="0" smtClean="0">
                <a:sym typeface="Symbol" panose="05050102010706020507" pitchFamily="18" charset="2"/>
              </a:rPr>
              <a:t></a:t>
            </a:r>
            <a:r>
              <a:rPr lang="en-US" i="1" dirty="0" smtClean="0">
                <a:sym typeface="Symbol" panose="05050102010706020507" pitchFamily="18" charset="2"/>
              </a:rPr>
              <a:t> r </a:t>
            </a:r>
            <a:r>
              <a:rPr lang="en-US" b="1" dirty="0" smtClean="0">
                <a:sym typeface="Symbol" panose="05050102010706020507" pitchFamily="18" charset="2"/>
              </a:rPr>
              <a:t>and </a:t>
            </a:r>
            <a:r>
              <a:rPr lang="en-US" i="1" dirty="0" smtClean="0">
                <a:sym typeface="Symbol" panose="05050102010706020507" pitchFamily="18" charset="2"/>
              </a:rPr>
              <a:t>q </a:t>
            </a:r>
            <a:r>
              <a:rPr lang="en-US" dirty="0" smtClean="0">
                <a:sym typeface="Symbol" panose="05050102010706020507" pitchFamily="18" charset="2"/>
              </a:rPr>
              <a:t>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}</a:t>
            </a:r>
            <a:br>
              <a:rPr lang="en-US" dirty="0" smtClean="0">
                <a:sym typeface="Symbol" panose="05050102010706020507" pitchFamily="18" charset="2"/>
              </a:rPr>
            </a:br>
            <a:endParaRPr lang="en-US" dirty="0" smtClean="0">
              <a:sym typeface="Symbol" panose="05050102010706020507" pitchFamily="18" charset="2"/>
            </a:endParaRPr>
          </a:p>
          <a:p>
            <a:pPr>
              <a:tabLst>
                <a:tab pos="3149600" algn="ctr"/>
              </a:tabLst>
            </a:pPr>
            <a:r>
              <a:rPr lang="en-US" dirty="0" smtClean="0">
                <a:sym typeface="Symbol" panose="05050102010706020507" pitchFamily="18" charset="2"/>
              </a:rPr>
              <a:t>Assume that attributes of r(R) and s(S) are disjoint. (That is, </a:t>
            </a:r>
            <a:r>
              <a:rPr lang="en-US" i="1" dirty="0" smtClean="0">
                <a:sym typeface="Symbol" panose="05050102010706020507" pitchFamily="18" charset="2"/>
              </a:rPr>
              <a:t>R</a:t>
            </a:r>
            <a:r>
              <a:rPr lang="en-US" dirty="0" smtClean="0">
                <a:sym typeface="Symbol" panose="05050102010706020507" pitchFamily="18" charset="2"/>
              </a:rPr>
              <a:t> </a:t>
            </a:r>
            <a:r>
              <a:rPr lang="en-US" i="1" dirty="0" smtClean="0">
                <a:sym typeface="Symbol" panose="05050102010706020507" pitchFamily="18" charset="2"/>
              </a:rPr>
              <a:t> S</a:t>
            </a:r>
            <a:r>
              <a:rPr lang="en-US" dirty="0" smtClean="0">
                <a:sym typeface="Symbol" panose="05050102010706020507" pitchFamily="18" charset="2"/>
              </a:rPr>
              <a:t> = </a:t>
            </a:r>
            <a:r>
              <a:rPr lang="en-US" i="1" dirty="0" smtClean="0">
                <a:sym typeface="Symbol" panose="05050102010706020507" pitchFamily="18" charset="2"/>
              </a:rPr>
              <a:t></a:t>
            </a:r>
            <a:r>
              <a:rPr lang="en-US" dirty="0" smtClean="0">
                <a:sym typeface="Symbol" panose="05050102010706020507" pitchFamily="18" charset="2"/>
              </a:rPr>
              <a:t>).</a:t>
            </a:r>
          </a:p>
          <a:p>
            <a:pPr>
              <a:tabLst>
                <a:tab pos="3149600" algn="ctr"/>
              </a:tabLst>
            </a:pPr>
            <a:r>
              <a:rPr lang="en-US" dirty="0" smtClean="0">
                <a:sym typeface="Symbol" panose="05050102010706020507" pitchFamily="18" charset="2"/>
              </a:rPr>
              <a:t>If attributes of </a:t>
            </a:r>
            <a:r>
              <a:rPr lang="en-US" i="1" dirty="0" smtClean="0">
                <a:sym typeface="Symbol" panose="05050102010706020507" pitchFamily="18" charset="2"/>
              </a:rPr>
              <a:t>r(R)</a:t>
            </a:r>
            <a:r>
              <a:rPr lang="en-US" dirty="0" smtClean="0">
                <a:sym typeface="Symbol" panose="05050102010706020507" pitchFamily="18" charset="2"/>
              </a:rPr>
              <a:t> and </a:t>
            </a:r>
            <a:r>
              <a:rPr lang="en-US" i="1" dirty="0" smtClean="0">
                <a:sym typeface="Symbol" panose="05050102010706020507" pitchFamily="18" charset="2"/>
              </a:rPr>
              <a:t>s(S</a:t>
            </a:r>
            <a:r>
              <a:rPr lang="en-US" dirty="0" smtClean="0">
                <a:sym typeface="Symbol" panose="05050102010706020507" pitchFamily="18" charset="2"/>
              </a:rPr>
              <a:t>) are not disjoint, then renaming must be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33513" y="193675"/>
            <a:ext cx="9648825" cy="503238"/>
          </a:xfrm>
        </p:spPr>
        <p:txBody>
          <a:bodyPr/>
          <a:lstStyle/>
          <a:p>
            <a:r>
              <a:rPr lang="en-US" b="1" dirty="0" smtClean="0"/>
              <a:t>Joining Two Relations -- Cartesian-product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2322513" y="10779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kumimoji="1" lang="en-US" altLang="en-US" sz="1600" dirty="0">
                <a:latin typeface="Helvetica" panose="020B0604020202020204" pitchFamily="34" charset="0"/>
              </a:rPr>
              <a:t>Relations </a:t>
            </a:r>
            <a:r>
              <a:rPr kumimoji="1" lang="en-US" altLang="en-US" sz="1600" i="1" dirty="0">
                <a:latin typeface="Helvetica" panose="020B0604020202020204" pitchFamily="34" charset="0"/>
              </a:rPr>
              <a:t>r, s</a:t>
            </a:r>
            <a:r>
              <a:rPr kumimoji="1" lang="en-US" altLang="en-US" sz="1600" dirty="0">
                <a:latin typeface="Helvetica" panose="020B0604020202020204" pitchFamily="34" charset="0"/>
              </a:rPr>
              <a:t>: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2322513" y="31353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kumimoji="1" lang="en-US" altLang="en-US" sz="1600" i="1" dirty="0">
                <a:latin typeface="Helvetica" panose="020B0604020202020204" pitchFamily="34" charset="0"/>
              </a:rPr>
              <a:t>r</a:t>
            </a:r>
            <a:r>
              <a:rPr kumimoji="1" lang="en-US" altLang="en-US" sz="1600" dirty="0">
                <a:latin typeface="Helvetica" panose="020B0604020202020204" pitchFamily="34" charset="0"/>
              </a:rPr>
              <a:t> x</a:t>
            </a:r>
            <a:r>
              <a:rPr kumimoji="1" lang="en-US" altLang="en-US" sz="16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1600" i="1" dirty="0">
                <a:latin typeface="Helvetica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en-US" sz="1600" dirty="0">
                <a:latin typeface="Helvetica" panose="020B0604020202020204" pitchFamily="34" charset="0"/>
              </a:rPr>
              <a:t>:</a:t>
            </a:r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063" y="1076325"/>
            <a:ext cx="243205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030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0" y="193675"/>
            <a:ext cx="8229600" cy="503238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Cartesian-product – naming issue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2322513" y="10779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kumimoji="1" lang="en-US" altLang="en-US" sz="1600" dirty="0">
                <a:latin typeface="Helvetica" panose="020B0604020202020204" pitchFamily="34" charset="0"/>
              </a:rPr>
              <a:t>Relations </a:t>
            </a:r>
            <a:r>
              <a:rPr kumimoji="1" lang="en-US" altLang="en-US" sz="1600" i="1" dirty="0">
                <a:latin typeface="Helvetica" panose="020B0604020202020204" pitchFamily="34" charset="0"/>
              </a:rPr>
              <a:t>r, s</a:t>
            </a:r>
            <a:r>
              <a:rPr kumimoji="1" lang="en-US" altLang="en-US" sz="1600" dirty="0">
                <a:latin typeface="Helvetica" panose="020B0604020202020204" pitchFamily="34" charset="0"/>
              </a:rPr>
              <a:t>: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2322513" y="31353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kumimoji="1" lang="en-US" altLang="en-US" sz="1600" i="1" dirty="0">
                <a:latin typeface="Helvetica" panose="020B0604020202020204" pitchFamily="34" charset="0"/>
              </a:rPr>
              <a:t>r</a:t>
            </a:r>
            <a:r>
              <a:rPr kumimoji="1" lang="en-US" altLang="en-US" sz="1600" dirty="0">
                <a:latin typeface="Helvetica" panose="020B0604020202020204" pitchFamily="34" charset="0"/>
              </a:rPr>
              <a:t> x</a:t>
            </a:r>
            <a:r>
              <a:rPr kumimoji="1" lang="en-US" altLang="en-US" sz="16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1600" i="1" dirty="0">
                <a:latin typeface="Helvetica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en-US" sz="1600" dirty="0">
                <a:latin typeface="Helvetica" panose="020B0604020202020204" pitchFamily="34" charset="0"/>
              </a:rPr>
              <a:t>:</a:t>
            </a:r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063" y="1076325"/>
            <a:ext cx="243205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Rectangle 1"/>
          <p:cNvSpPr>
            <a:spLocks noChangeArrowheads="1"/>
          </p:cNvSpPr>
          <p:nvPr/>
        </p:nvSpPr>
        <p:spPr bwMode="auto">
          <a:xfrm>
            <a:off x="5881688" y="1162050"/>
            <a:ext cx="249237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4039" name="Rectangle 6"/>
          <p:cNvSpPr>
            <a:spLocks noChangeArrowheads="1"/>
          </p:cNvSpPr>
          <p:nvPr/>
        </p:nvSpPr>
        <p:spPr bwMode="auto">
          <a:xfrm>
            <a:off x="5162550" y="3135313"/>
            <a:ext cx="24765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4040" name="TextBox 2"/>
          <p:cNvSpPr txBox="1">
            <a:spLocks noChangeArrowheads="1"/>
          </p:cNvSpPr>
          <p:nvPr/>
        </p:nvSpPr>
        <p:spPr bwMode="auto">
          <a:xfrm>
            <a:off x="5048250" y="3060700"/>
            <a:ext cx="1330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s.B</a:t>
            </a:r>
          </a:p>
        </p:txBody>
      </p:sp>
      <p:sp>
        <p:nvSpPr>
          <p:cNvPr id="44041" name="TextBox 8"/>
          <p:cNvSpPr txBox="1">
            <a:spLocks noChangeArrowheads="1"/>
          </p:cNvSpPr>
          <p:nvPr/>
        </p:nvSpPr>
        <p:spPr bwMode="auto">
          <a:xfrm>
            <a:off x="5832475" y="1036638"/>
            <a:ext cx="13287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4042" name="Rectangle 6"/>
          <p:cNvSpPr>
            <a:spLocks noChangeArrowheads="1"/>
          </p:cNvSpPr>
          <p:nvPr/>
        </p:nvSpPr>
        <p:spPr bwMode="auto">
          <a:xfrm>
            <a:off x="4827588" y="3141663"/>
            <a:ext cx="24765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4043" name="TextBox 2"/>
          <p:cNvSpPr txBox="1">
            <a:spLocks noChangeArrowheads="1"/>
          </p:cNvSpPr>
          <p:nvPr/>
        </p:nvSpPr>
        <p:spPr bwMode="auto">
          <a:xfrm>
            <a:off x="4705350" y="3059113"/>
            <a:ext cx="1330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r.B</a:t>
            </a:r>
          </a:p>
        </p:txBody>
      </p:sp>
    </p:spTree>
    <p:extLst>
      <p:ext uri="{BB962C8B-B14F-4D97-AF65-F5344CB8AC3E}">
        <p14:creationId xmlns:p14="http://schemas.microsoft.com/office/powerpoint/2010/main" val="350643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Rename Operation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06538"/>
            <a:ext cx="10515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Allows us to name, and therefore to refer to, the results of relational-algebra expressions.</a:t>
            </a:r>
          </a:p>
          <a:p>
            <a:r>
              <a:rPr lang="en-US" dirty="0" smtClean="0"/>
              <a:t>Allows us to refer to a relation by more than one name.</a:t>
            </a:r>
          </a:p>
          <a:p>
            <a:r>
              <a:rPr lang="en-US" dirty="0" smtClean="0"/>
              <a:t>Example:</a:t>
            </a:r>
          </a:p>
          <a:p>
            <a:pPr>
              <a:buFont typeface="Monotype Sorts" pitchFamily="2" charset="2"/>
              <a:buNone/>
            </a:pPr>
            <a:r>
              <a:rPr lang="en-US" dirty="0" smtClean="0"/>
              <a:t> 				</a:t>
            </a:r>
            <a:r>
              <a:rPr lang="en-US" sz="2000" i="1" dirty="0">
                <a:sym typeface="Symbol" panose="05050102010706020507" pitchFamily="18" charset="2"/>
              </a:rPr>
              <a:t></a:t>
            </a:r>
            <a:r>
              <a:rPr lang="en-US" i="1" dirty="0" smtClean="0"/>
              <a:t> </a:t>
            </a:r>
            <a:r>
              <a:rPr lang="en-US" sz="2400" i="1" baseline="-25000" dirty="0"/>
              <a:t>x</a:t>
            </a:r>
            <a:r>
              <a:rPr lang="en-US" dirty="0" smtClean="0"/>
              <a:t> (</a:t>
            </a:r>
            <a:r>
              <a:rPr lang="en-US" i="1" dirty="0" smtClean="0"/>
              <a:t>E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 smtClean="0"/>
          </a:p>
          <a:p>
            <a:pPr>
              <a:buFont typeface="Monotype Sorts" pitchFamily="2" charset="2"/>
              <a:buNone/>
            </a:pPr>
            <a:r>
              <a:rPr lang="en-US" dirty="0" smtClean="0"/>
              <a:t>	returns the expression </a:t>
            </a:r>
            <a:r>
              <a:rPr lang="en-US" i="1" dirty="0" smtClean="0"/>
              <a:t>E</a:t>
            </a:r>
            <a:r>
              <a:rPr lang="en-US" dirty="0" smtClean="0"/>
              <a:t> under the name </a:t>
            </a:r>
            <a:r>
              <a:rPr lang="en-US" i="1" dirty="0" smtClean="0"/>
              <a:t>X</a:t>
            </a:r>
            <a:endParaRPr lang="en-US" dirty="0" smtClean="0"/>
          </a:p>
          <a:p>
            <a:r>
              <a:rPr lang="en-US" dirty="0" smtClean="0"/>
              <a:t>If a relational-algebra expression </a:t>
            </a:r>
            <a:r>
              <a:rPr lang="en-US" i="1" dirty="0" smtClean="0"/>
              <a:t>E</a:t>
            </a:r>
            <a:r>
              <a:rPr lang="en-US" dirty="0" smtClean="0"/>
              <a:t> has </a:t>
            </a:r>
            <a:r>
              <a:rPr lang="en-US" dirty="0" err="1" smtClean="0"/>
              <a:t>arity</a:t>
            </a:r>
            <a:r>
              <a:rPr lang="en-US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, then </a:t>
            </a:r>
          </a:p>
          <a:p>
            <a:pPr>
              <a:buFont typeface="Monotype Sorts" pitchFamily="2" charset="2"/>
              <a:buNone/>
            </a:pPr>
            <a:r>
              <a:rPr lang="en-US" dirty="0" smtClean="0"/>
              <a:t>                                          </a:t>
            </a:r>
          </a:p>
          <a:p>
            <a:pPr>
              <a:buFont typeface="Monotype Sorts" pitchFamily="2" charset="2"/>
              <a:buNone/>
            </a:pPr>
            <a:endParaRPr lang="en-US" dirty="0" smtClean="0"/>
          </a:p>
          <a:p>
            <a:pPr>
              <a:buFont typeface="Monotype Sorts" pitchFamily="2" charset="2"/>
              <a:buNone/>
            </a:pPr>
            <a:r>
              <a:rPr lang="en-US" dirty="0" smtClean="0"/>
              <a:t>	returns the result of expression </a:t>
            </a:r>
            <a:r>
              <a:rPr lang="en-US" i="1" dirty="0" smtClean="0"/>
              <a:t>E</a:t>
            </a:r>
            <a:r>
              <a:rPr lang="en-US" dirty="0" smtClean="0"/>
              <a:t> under the name </a:t>
            </a:r>
            <a:r>
              <a:rPr lang="en-US" i="1" dirty="0" smtClean="0"/>
              <a:t>X</a:t>
            </a:r>
            <a:r>
              <a:rPr lang="en-US" dirty="0" smtClean="0"/>
              <a:t>, and with the</a:t>
            </a:r>
          </a:p>
          <a:p>
            <a:pPr>
              <a:buFont typeface="Monotype Sorts" pitchFamily="2" charset="2"/>
              <a:buNone/>
            </a:pPr>
            <a:r>
              <a:rPr lang="en-US" dirty="0" smtClean="0"/>
              <a:t>	attributes renamed to </a:t>
            </a:r>
            <a:r>
              <a:rPr lang="en-US" sz="2000" i="1" dirty="0"/>
              <a:t>A</a:t>
            </a:r>
            <a:r>
              <a:rPr lang="en-US" sz="2400" i="1" baseline="-25000" dirty="0"/>
              <a:t>1</a:t>
            </a:r>
            <a:r>
              <a:rPr lang="en-US" i="1" baseline="-25000" dirty="0" smtClean="0"/>
              <a:t> </a:t>
            </a:r>
            <a:r>
              <a:rPr lang="en-US" sz="2000" i="1" dirty="0"/>
              <a:t>, A</a:t>
            </a:r>
            <a:r>
              <a:rPr lang="en-US" sz="2400" i="1" baseline="-25000" dirty="0"/>
              <a:t>2</a:t>
            </a:r>
            <a:r>
              <a:rPr lang="en-US" sz="2000" i="1" baseline="-25000" dirty="0"/>
              <a:t> </a:t>
            </a:r>
            <a:r>
              <a:rPr lang="en-US" sz="2000" i="1" dirty="0"/>
              <a:t>, …., A</a:t>
            </a:r>
            <a:r>
              <a:rPr lang="en-US" sz="2400" i="1" baseline="-25000" dirty="0"/>
              <a:t>n</a:t>
            </a:r>
            <a:r>
              <a:rPr lang="en-US" i="1" baseline="-25000" dirty="0" smtClean="0"/>
              <a:t> </a:t>
            </a:r>
            <a:r>
              <a:rPr lang="en-US" dirty="0" smtClean="0"/>
              <a:t>.</a:t>
            </a:r>
          </a:p>
          <a:p>
            <a:endParaRPr lang="en-US" dirty="0" smtClean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930821"/>
              </p:ext>
            </p:extLst>
          </p:nvPr>
        </p:nvGraphicFramePr>
        <p:xfrm>
          <a:off x="4028338" y="4743428"/>
          <a:ext cx="297973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4" imgW="964781" imgH="266584" progId="Equation.3">
                  <p:embed/>
                </p:oleObj>
              </mc:Choice>
              <mc:Fallback>
                <p:oleObj name="Equation" r:id="rId4" imgW="964781" imgH="266584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338" y="4743428"/>
                        <a:ext cx="2979737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06463" y="106363"/>
            <a:ext cx="10515600" cy="1325562"/>
          </a:xfrm>
        </p:spPr>
        <p:txBody>
          <a:bodyPr/>
          <a:lstStyle/>
          <a:p>
            <a:r>
              <a:rPr lang="en-US" dirty="0" smtClean="0"/>
              <a:t>Renaming a Table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339975" y="1060450"/>
            <a:ext cx="7848600" cy="4876800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Allows us to refer to a relation, (say E) by more than one name.</a:t>
            </a:r>
          </a:p>
          <a:p>
            <a:pPr>
              <a:buFont typeface="Monotype Sorts" charset="2"/>
              <a:buNone/>
            </a:pPr>
            <a:r>
              <a:rPr lang="en-US" altLang="en-US" sz="1600" dirty="0" smtClean="0">
                <a:ea typeface="ＭＳ Ｐゴシック" panose="020B0600070205080204" pitchFamily="34" charset="-128"/>
              </a:rPr>
              <a:t> 				</a:t>
            </a:r>
            <a:r>
              <a:rPr lang="en-US" altLang="en-US" sz="1600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</a:t>
            </a:r>
            <a:r>
              <a:rPr lang="en-US" altLang="en-US" sz="1600" i="1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sz="1600" i="1" baseline="-25000" dirty="0" smtClean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(</a:t>
            </a:r>
            <a:r>
              <a:rPr lang="en-US" altLang="en-US" sz="1600" i="1" dirty="0" smtClean="0">
                <a:ea typeface="ＭＳ Ｐゴシック" panose="020B0600070205080204" pitchFamily="34" charset="-128"/>
              </a:rPr>
              <a:t>E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)</a:t>
            </a:r>
            <a:br>
              <a:rPr lang="en-US" altLang="en-US" sz="1600" dirty="0" smtClean="0">
                <a:ea typeface="ＭＳ Ｐゴシック" panose="020B0600070205080204" pitchFamily="34" charset="-128"/>
              </a:rPr>
            </a:br>
            <a:endParaRPr lang="en-US" altLang="en-US" sz="1600" dirty="0" smtClean="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r>
              <a:rPr lang="en-US" altLang="en-US" sz="1600" dirty="0" smtClean="0">
                <a:ea typeface="ＭＳ Ｐゴシック" panose="020B0600070205080204" pitchFamily="34" charset="-128"/>
              </a:rPr>
              <a:t>	 returns the expression </a:t>
            </a:r>
            <a:r>
              <a:rPr lang="en-US" altLang="en-US" sz="1600" i="1" dirty="0" smtClean="0">
                <a:ea typeface="ＭＳ Ｐゴシック" panose="020B0600070205080204" pitchFamily="34" charset="-128"/>
              </a:rPr>
              <a:t>E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under the name </a:t>
            </a:r>
            <a:r>
              <a:rPr lang="en-US" altLang="en-US" sz="1600" i="1" dirty="0" smtClean="0">
                <a:ea typeface="ＭＳ Ｐゴシック" panose="020B0600070205080204" pitchFamily="34" charset="-128"/>
              </a:rPr>
              <a:t>X</a:t>
            </a:r>
            <a:endParaRPr lang="en-US" altLang="en-US" sz="1600" dirty="0" smtClean="0">
              <a:ea typeface="ＭＳ Ｐゴシック" panose="020B0600070205080204" pitchFamily="34" charset="-128"/>
            </a:endParaRPr>
          </a:p>
        </p:txBody>
      </p:sp>
      <p:sp>
        <p:nvSpPr>
          <p:cNvPr id="46084" name="Rectangle 3"/>
          <p:cNvSpPr>
            <a:spLocks noChangeArrowheads="1"/>
          </p:cNvSpPr>
          <p:nvPr/>
        </p:nvSpPr>
        <p:spPr bwMode="auto">
          <a:xfrm>
            <a:off x="2339975" y="273526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kumimoji="1" lang="en-US" altLang="en-US" sz="1600" dirty="0">
                <a:latin typeface="Helvetica" panose="020B0604020202020204" pitchFamily="34" charset="0"/>
              </a:rPr>
              <a:t> Relations </a:t>
            </a:r>
            <a:r>
              <a:rPr kumimoji="1" lang="en-US" altLang="en-US" sz="1600" i="1" dirty="0">
                <a:latin typeface="Helvetica" panose="020B0604020202020204" pitchFamily="34" charset="0"/>
              </a:rPr>
              <a:t>r</a:t>
            </a: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2339975" y="40497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3149600" algn="ctr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kumimoji="1" lang="en-US" altLang="en-US" sz="1600" i="1" dirty="0">
                <a:latin typeface="Helvetica" panose="020B0604020202020204" pitchFamily="34" charset="0"/>
              </a:rPr>
              <a:t> r</a:t>
            </a:r>
            <a:r>
              <a:rPr kumimoji="1" lang="en-US" altLang="en-US" sz="1600" dirty="0">
                <a:latin typeface="Helvetica" panose="020B0604020202020204" pitchFamily="34" charset="0"/>
              </a:rPr>
              <a:t> x</a:t>
            </a:r>
            <a:r>
              <a:rPr kumimoji="1" lang="en-US" altLang="en-US" sz="16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1600" i="1" dirty="0">
                <a:latin typeface="Helvetica" panose="020B0604020202020204" pitchFamily="34" charset="0"/>
                <a:sym typeface="Symbol" panose="05050102010706020507" pitchFamily="18" charset="2"/>
              </a:rPr>
              <a:t></a:t>
            </a:r>
            <a:r>
              <a:rPr kumimoji="1" lang="en-US" altLang="en-US" sz="1600" i="1" dirty="0">
                <a:latin typeface="Helvetica" panose="020B0604020202020204" pitchFamily="34" charset="0"/>
              </a:rPr>
              <a:t> </a:t>
            </a:r>
            <a:r>
              <a:rPr kumimoji="1" lang="en-US" altLang="en-US" sz="1600" i="1" baseline="-25000" dirty="0">
                <a:latin typeface="Helvetica" panose="020B0604020202020204" pitchFamily="34" charset="0"/>
              </a:rPr>
              <a:t>s</a:t>
            </a:r>
            <a:r>
              <a:rPr kumimoji="1" lang="en-US" altLang="en-US" sz="1600" dirty="0">
                <a:latin typeface="Helvetica" panose="020B0604020202020204" pitchFamily="34" charset="0"/>
              </a:rPr>
              <a:t> </a:t>
            </a:r>
            <a:r>
              <a:rPr kumimoji="1" lang="en-US" altLang="en-US" sz="1600" dirty="0">
                <a:latin typeface="Helvetica" panose="020B0604020202020204" pitchFamily="34" charset="0"/>
                <a:sym typeface="Symbol" panose="05050102010706020507" pitchFamily="18" charset="2"/>
              </a:rPr>
              <a:t>(r)</a:t>
            </a: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4608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5" y="2538413"/>
            <a:ext cx="2559050" cy="395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7" name="Rectangle 25"/>
          <p:cNvSpPr>
            <a:spLocks noChangeArrowheads="1"/>
          </p:cNvSpPr>
          <p:nvPr/>
        </p:nvSpPr>
        <p:spPr bwMode="auto">
          <a:xfrm>
            <a:off x="5794375" y="2503488"/>
            <a:ext cx="1208088" cy="18383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6088" name="Rectangle 26"/>
          <p:cNvSpPr>
            <a:spLocks noChangeArrowheads="1"/>
          </p:cNvSpPr>
          <p:nvPr/>
        </p:nvSpPr>
        <p:spPr bwMode="auto">
          <a:xfrm>
            <a:off x="8129588" y="3429000"/>
            <a:ext cx="2062162" cy="3060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6089" name="Rectangle 27"/>
          <p:cNvSpPr>
            <a:spLocks noChangeArrowheads="1"/>
          </p:cNvSpPr>
          <p:nvPr/>
        </p:nvSpPr>
        <p:spPr bwMode="auto">
          <a:xfrm>
            <a:off x="4445000" y="3870325"/>
            <a:ext cx="1719263" cy="27273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6090" name="Rectangle 2"/>
          <p:cNvSpPr>
            <a:spLocks noChangeArrowheads="1"/>
          </p:cNvSpPr>
          <p:nvPr/>
        </p:nvSpPr>
        <p:spPr bwMode="auto">
          <a:xfrm>
            <a:off x="4267200" y="4216400"/>
            <a:ext cx="393700" cy="25352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6091" name="Rectangle 42"/>
          <p:cNvSpPr>
            <a:spLocks noChangeArrowheads="1"/>
          </p:cNvSpPr>
          <p:nvPr/>
        </p:nvSpPr>
        <p:spPr bwMode="auto">
          <a:xfrm>
            <a:off x="3959225" y="4305300"/>
            <a:ext cx="1487488" cy="1292225"/>
          </a:xfrm>
          <a:prstGeom prst="rect">
            <a:avLst/>
          </a:prstGeom>
          <a:solidFill>
            <a:schemeClr val="accent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cxnSp>
        <p:nvCxnSpPr>
          <p:cNvPr id="46092" name="Straight Connector 43"/>
          <p:cNvCxnSpPr>
            <a:cxnSpLocks noChangeShapeType="1"/>
          </p:cNvCxnSpPr>
          <p:nvPr/>
        </p:nvCxnSpPr>
        <p:spPr bwMode="auto">
          <a:xfrm>
            <a:off x="4327525" y="4305300"/>
            <a:ext cx="0" cy="129222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3" name="Straight Connector 44"/>
          <p:cNvCxnSpPr>
            <a:cxnSpLocks noChangeShapeType="1"/>
          </p:cNvCxnSpPr>
          <p:nvPr/>
        </p:nvCxnSpPr>
        <p:spPr bwMode="auto">
          <a:xfrm>
            <a:off x="4702175" y="4313238"/>
            <a:ext cx="0" cy="128428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4" name="Straight Connector 45"/>
          <p:cNvCxnSpPr>
            <a:cxnSpLocks noChangeShapeType="1"/>
          </p:cNvCxnSpPr>
          <p:nvPr/>
        </p:nvCxnSpPr>
        <p:spPr bwMode="auto">
          <a:xfrm>
            <a:off x="5086350" y="4313238"/>
            <a:ext cx="0" cy="128428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95" name="TextBox 46"/>
          <p:cNvSpPr txBox="1">
            <a:spLocks noChangeArrowheads="1"/>
          </p:cNvSpPr>
          <p:nvPr/>
        </p:nvSpPr>
        <p:spPr bwMode="auto">
          <a:xfrm>
            <a:off x="3984625" y="4264025"/>
            <a:ext cx="53816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96" name="TextBox 47"/>
          <p:cNvSpPr txBox="1">
            <a:spLocks noChangeArrowheads="1"/>
          </p:cNvSpPr>
          <p:nvPr/>
        </p:nvSpPr>
        <p:spPr bwMode="auto">
          <a:xfrm>
            <a:off x="4351338" y="4262438"/>
            <a:ext cx="5381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97" name="TextBox 48"/>
          <p:cNvSpPr txBox="1">
            <a:spLocks noChangeArrowheads="1"/>
          </p:cNvSpPr>
          <p:nvPr/>
        </p:nvSpPr>
        <p:spPr bwMode="auto">
          <a:xfrm>
            <a:off x="4727575" y="4270375"/>
            <a:ext cx="53816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98" name="TextBox 49"/>
          <p:cNvSpPr txBox="1">
            <a:spLocks noChangeArrowheads="1"/>
          </p:cNvSpPr>
          <p:nvPr/>
        </p:nvSpPr>
        <p:spPr bwMode="auto">
          <a:xfrm>
            <a:off x="5110163" y="4260850"/>
            <a:ext cx="5381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99" name="Rectangle 1"/>
          <p:cNvSpPr>
            <a:spLocks noChangeArrowheads="1"/>
          </p:cNvSpPr>
          <p:nvPr/>
        </p:nvSpPr>
        <p:spPr bwMode="auto">
          <a:xfrm>
            <a:off x="3959225" y="4027488"/>
            <a:ext cx="1487488" cy="242887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>
              <a:latin typeface="Helvetica" panose="020B0604020202020204" pitchFamily="34" charset="0"/>
            </a:endParaRPr>
          </a:p>
        </p:txBody>
      </p:sp>
      <p:sp>
        <p:nvSpPr>
          <p:cNvPr id="46100" name="TextBox 50"/>
          <p:cNvSpPr txBox="1">
            <a:spLocks noChangeArrowheads="1"/>
          </p:cNvSpPr>
          <p:nvPr/>
        </p:nvSpPr>
        <p:spPr bwMode="auto">
          <a:xfrm>
            <a:off x="3916363" y="3956050"/>
            <a:ext cx="1828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r.A  r.B </a:t>
            </a:r>
            <a:r>
              <a:rPr lang="en-US" altLang="en-US" sz="11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s.A  s.B</a:t>
            </a:r>
          </a:p>
        </p:txBody>
      </p:sp>
      <p:cxnSp>
        <p:nvCxnSpPr>
          <p:cNvPr id="46101" name="Straight Connector 51"/>
          <p:cNvCxnSpPr>
            <a:cxnSpLocks noChangeShapeType="1"/>
          </p:cNvCxnSpPr>
          <p:nvPr/>
        </p:nvCxnSpPr>
        <p:spPr bwMode="auto">
          <a:xfrm flipV="1">
            <a:off x="4319588" y="4044950"/>
            <a:ext cx="0" cy="21748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2" name="Straight Connector 52"/>
          <p:cNvCxnSpPr>
            <a:cxnSpLocks noChangeShapeType="1"/>
          </p:cNvCxnSpPr>
          <p:nvPr/>
        </p:nvCxnSpPr>
        <p:spPr bwMode="auto">
          <a:xfrm flipV="1">
            <a:off x="4695825" y="4041775"/>
            <a:ext cx="0" cy="21748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3" name="Straight Connector 53"/>
          <p:cNvCxnSpPr>
            <a:cxnSpLocks noChangeShapeType="1"/>
          </p:cNvCxnSpPr>
          <p:nvPr/>
        </p:nvCxnSpPr>
        <p:spPr bwMode="auto">
          <a:xfrm flipV="1">
            <a:off x="5081588" y="4041775"/>
            <a:ext cx="0" cy="21748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91772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92350" y="52388"/>
            <a:ext cx="8077200" cy="609600"/>
          </a:xfrm>
        </p:spPr>
        <p:txBody>
          <a:bodyPr/>
          <a:lstStyle/>
          <a:p>
            <a:r>
              <a:rPr lang="en-US" dirty="0" smtClean="0"/>
              <a:t>Composition of Operations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903288"/>
            <a:ext cx="7848600" cy="4876800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Can build expressions using multiple operations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Example:  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A=C 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r x s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fontAlgn="auto">
              <a:spcAft>
                <a:spcPts val="0"/>
              </a:spcAft>
              <a:buFont typeface="Monotype Sorts" charset="2"/>
              <a:buNone/>
              <a:defRPr/>
            </a:pPr>
            <a:endParaRPr lang="en-US" alt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r x s</a:t>
            </a:r>
          </a:p>
          <a:p>
            <a:pPr fontAlgn="auto">
              <a:spcAft>
                <a:spcPts val="0"/>
              </a:spcAft>
              <a:defRPr/>
            </a:pPr>
            <a:endParaRPr lang="en-US" altLang="en-US" i="1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i="1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i="1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i="1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i="1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i="1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A=C 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r x s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4975225" y="2916238"/>
          <a:ext cx="1397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4" imgW="139639" imgH="291973" progId="Equation.3">
                  <p:embed/>
                </p:oleObj>
              </mc:Choice>
              <mc:Fallback>
                <p:oleObj name="Equation" r:id="rId4" imgW="139639" imgH="291973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225" y="2916238"/>
                        <a:ext cx="139700" cy="290512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 Box 25"/>
          <p:cNvSpPr txBox="1">
            <a:spLocks noChangeArrowheads="1"/>
          </p:cNvSpPr>
          <p:nvPr/>
        </p:nvSpPr>
        <p:spPr bwMode="auto">
          <a:xfrm>
            <a:off x="3962400" y="5610225"/>
            <a:ext cx="184150" cy="338138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1600">
              <a:latin typeface="Helvetica" panose="020B0604020202020204" pitchFamily="34" charset="0"/>
            </a:endParaRPr>
          </a:p>
        </p:txBody>
      </p:sp>
      <p:pic>
        <p:nvPicPr>
          <p:cNvPr id="48134" name="Picture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63" y="1949450"/>
            <a:ext cx="1757362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64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84225" y="0"/>
            <a:ext cx="10515600" cy="132556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Joining two relations – Natural Join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784226" y="1138238"/>
            <a:ext cx="10781002" cy="5207000"/>
          </a:xfrm>
        </p:spPr>
        <p:txBody>
          <a:bodyPr/>
          <a:lstStyle/>
          <a:p>
            <a:pPr algn="just"/>
            <a:r>
              <a:rPr lang="en-US" altLang="en-US" dirty="0" smtClean="0">
                <a:ea typeface="ＭＳ Ｐゴシック" panose="020B0600070205080204" pitchFamily="34" charset="-128"/>
              </a:rPr>
              <a:t>Let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and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be relations on schemas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and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respectively. </a:t>
            </a:r>
            <a:br>
              <a:rPr lang="en-US" altLang="en-US" dirty="0" smtClean="0">
                <a:ea typeface="ＭＳ Ｐゴシック" panose="020B0600070205080204" pitchFamily="34" charset="-128"/>
              </a:rPr>
            </a:br>
            <a:r>
              <a:rPr lang="en-US" altLang="en-US" dirty="0" smtClean="0">
                <a:ea typeface="ＭＳ Ｐゴシック" panose="020B0600070205080204" pitchFamily="34" charset="-128"/>
              </a:rPr>
              <a:t>Then,  the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“natural join”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of relations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and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is a relation on schema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 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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obtained as follows:</a:t>
            </a:r>
          </a:p>
          <a:p>
            <a:pPr lvl="1" algn="just"/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Consider each pair of tuples </a:t>
            </a:r>
            <a:r>
              <a:rPr lang="en-US" altLang="en-US" sz="2800" i="1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i="1" baseline="-25000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r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 from </a:t>
            </a:r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r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and </a:t>
            </a:r>
            <a:r>
              <a:rPr lang="en-US" altLang="en-US" sz="2800" i="1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i="1" baseline="-25000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from </a:t>
            </a:r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.  </a:t>
            </a:r>
          </a:p>
          <a:p>
            <a:pPr lvl="1" algn="just"/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If </a:t>
            </a:r>
            <a:r>
              <a:rPr lang="en-US" altLang="en-US" sz="2800" i="1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i="1" baseline="-25000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r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and </a:t>
            </a:r>
            <a:r>
              <a:rPr lang="en-US" altLang="en-US" sz="2800" i="1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i="1" baseline="-25000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have the same value on each of the attributes in </a:t>
            </a:r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R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, add a tuple </a:t>
            </a:r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 to the result, where:-</a:t>
            </a:r>
          </a:p>
          <a:p>
            <a:pPr lvl="2" algn="just"/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has the same value as </a:t>
            </a:r>
            <a:r>
              <a:rPr lang="en-US" altLang="en-US" sz="2800" i="1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i="1" baseline="-25000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r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 on </a:t>
            </a:r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r</a:t>
            </a:r>
            <a:endParaRPr lang="en-US" altLang="en-US" sz="2800" dirty="0" smtClean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2" algn="just"/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has the same value as </a:t>
            </a:r>
            <a:r>
              <a:rPr lang="en-US" altLang="en-US" sz="2800" i="1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2800" i="1" baseline="-25000" dirty="0" err="1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  on </a:t>
            </a:r>
            <a:r>
              <a:rPr lang="en-US" altLang="en-US" sz="2800" i="1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endParaRPr lang="en-US" altLang="en-US" sz="2800" dirty="0" smtClean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65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11213" y="0"/>
            <a:ext cx="10515600" cy="1325563"/>
          </a:xfrm>
        </p:spPr>
        <p:txBody>
          <a:bodyPr/>
          <a:lstStyle/>
          <a:p>
            <a:r>
              <a:rPr lang="en-US" dirty="0" smtClean="0"/>
              <a:t>Natural Join Example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322513" y="1214438"/>
            <a:ext cx="6843712" cy="382587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 smtClean="0">
                <a:ea typeface="ＭＳ Ｐゴシック" panose="020B0600070205080204" pitchFamily="34" charset="-128"/>
              </a:rPr>
              <a:t>Relations r, s:</a:t>
            </a:r>
          </a:p>
        </p:txBody>
      </p:sp>
      <p:grpSp>
        <p:nvGrpSpPr>
          <p:cNvPr id="52228" name="Group 4"/>
          <p:cNvGrpSpPr>
            <a:grpSpLocks/>
          </p:cNvGrpSpPr>
          <p:nvPr/>
        </p:nvGrpSpPr>
        <p:grpSpPr bwMode="auto">
          <a:xfrm>
            <a:off x="2343150" y="3357563"/>
            <a:ext cx="7029450" cy="996950"/>
            <a:chOff x="288" y="2688"/>
            <a:chExt cx="4428" cy="258"/>
          </a:xfrm>
        </p:grpSpPr>
        <p:sp>
          <p:nvSpPr>
            <p:cNvPr id="52232" name="Rectangle 5"/>
            <p:cNvSpPr>
              <a:spLocks noChangeArrowheads="1"/>
            </p:cNvSpPr>
            <p:nvPr/>
          </p:nvSpPr>
          <p:spPr bwMode="auto">
            <a:xfrm>
              <a:off x="288" y="2688"/>
              <a:ext cx="4428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35000"/>
                </a:spcBef>
                <a:buClr>
                  <a:srgbClr val="C00000"/>
                </a:buClr>
                <a:buSzPct val="90000"/>
                <a:buFont typeface="Monotype Sorts" charset="2"/>
                <a:buChar char="n"/>
              </a:pPr>
              <a:r>
                <a:rPr kumimoji="1" lang="en-US" altLang="en-US" sz="1800" dirty="0">
                  <a:latin typeface="Helvetica" panose="020B0604020202020204" pitchFamily="34" charset="0"/>
                </a:rPr>
                <a:t>Natural Join</a:t>
              </a:r>
            </a:p>
            <a:p>
              <a:pPr lvl="1">
                <a:lnSpc>
                  <a:spcPct val="100000"/>
                </a:lnSpc>
                <a:spcBef>
                  <a:spcPct val="35000"/>
                </a:spcBef>
                <a:buClr>
                  <a:srgbClr val="C00000"/>
                </a:buClr>
                <a:buSzPct val="90000"/>
                <a:buFont typeface="Monotype Sorts" charset="2"/>
                <a:buChar char="n"/>
              </a:pPr>
              <a:r>
                <a:rPr kumimoji="1" lang="en-US" altLang="en-US" sz="1800" dirty="0">
                  <a:latin typeface="Helvetica" panose="020B0604020202020204" pitchFamily="34" charset="0"/>
                </a:rPr>
                <a:t>r </a:t>
              </a:r>
              <a:r>
                <a:rPr kumimoji="1" lang="en-US" altLang="en-US" sz="1800" dirty="0">
                  <a:latin typeface="Helvetica" panose="020B0604020202020204" pitchFamily="34" charset="0"/>
                  <a:sym typeface="dbsym" pitchFamily="34" charset="2"/>
                </a:rPr>
                <a:t>    s</a:t>
              </a:r>
            </a:p>
          </p:txBody>
        </p:sp>
        <p:sp>
          <p:nvSpPr>
            <p:cNvPr id="52233" name="AutoShape 6"/>
            <p:cNvSpPr>
              <a:spLocks noChangeArrowheads="1"/>
            </p:cNvSpPr>
            <p:nvPr/>
          </p:nvSpPr>
          <p:spPr bwMode="auto">
            <a:xfrm rot="16200000" flipV="1">
              <a:off x="470" y="2784"/>
              <a:ext cx="96" cy="96"/>
            </a:xfrm>
            <a:prstGeom prst="flowChartCollat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600">
                <a:latin typeface="Helvetica" panose="020B0604020202020204" pitchFamily="34" charset="0"/>
              </a:endParaRPr>
            </a:p>
          </p:txBody>
        </p:sp>
      </p:grpSp>
      <p:pic>
        <p:nvPicPr>
          <p:cNvPr id="5222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1211263"/>
            <a:ext cx="3575050" cy="387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11" name="AutoShape 11"/>
          <p:cNvSpPr>
            <a:spLocks noChangeArrowheads="1"/>
          </p:cNvSpPr>
          <p:nvPr/>
        </p:nvSpPr>
        <p:spPr bwMode="auto">
          <a:xfrm rot="5400000">
            <a:off x="3314700" y="3836988"/>
            <a:ext cx="188913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1600">
              <a:latin typeface="Helvetica" panose="020B0604020202020204" pitchFamily="34" charset="0"/>
            </a:endParaRPr>
          </a:p>
        </p:txBody>
      </p:sp>
      <p:sp>
        <p:nvSpPr>
          <p:cNvPr id="52231" name="Rectangle 8"/>
          <p:cNvSpPr>
            <a:spLocks noChangeArrowheads="1"/>
          </p:cNvSpPr>
          <p:nvPr/>
        </p:nvSpPr>
        <p:spPr bwMode="auto">
          <a:xfrm>
            <a:off x="2566988" y="5500688"/>
            <a:ext cx="5044426" cy="40011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en-US" sz="2000" b="1" dirty="0">
                <a:latin typeface="Helvetica" panose="020B0604020202020204" pitchFamily="34" charset="0"/>
                <a:sym typeface="Symbol" panose="05050102010706020507" pitchFamily="18" charset="2"/>
              </a:rPr>
              <a:t></a:t>
            </a:r>
            <a:r>
              <a:rPr kumimoji="1" lang="en-US" altLang="en-US" sz="2000" b="1" i="1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2000" b="1" i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A, </a:t>
            </a:r>
            <a:r>
              <a:rPr kumimoji="1" lang="en-US" altLang="en-US" sz="2000" b="1" i="1" baseline="-25000" dirty="0" err="1">
                <a:latin typeface="Helvetica" panose="020B0604020202020204" pitchFamily="34" charset="0"/>
                <a:sym typeface="Symbol" panose="05050102010706020507" pitchFamily="18" charset="2"/>
              </a:rPr>
              <a:t>r.B</a:t>
            </a:r>
            <a:r>
              <a:rPr kumimoji="1" lang="en-US" altLang="en-US" sz="2000" b="1" i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, C, </a:t>
            </a:r>
            <a:r>
              <a:rPr kumimoji="1" lang="en-US" altLang="en-US" sz="2000" b="1" i="1" baseline="-25000" dirty="0" err="1">
                <a:latin typeface="Helvetica" panose="020B0604020202020204" pitchFamily="34" charset="0"/>
                <a:sym typeface="Symbol" panose="05050102010706020507" pitchFamily="18" charset="2"/>
              </a:rPr>
              <a:t>r.D</a:t>
            </a:r>
            <a:r>
              <a:rPr kumimoji="1" lang="en-US" altLang="en-US" sz="2000" b="1" i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, E</a:t>
            </a:r>
            <a:r>
              <a:rPr kumimoji="1" lang="en-US" altLang="en-US" sz="2000" b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2000" b="1" dirty="0">
                <a:latin typeface="Helvetica" panose="020B0604020202020204" pitchFamily="34" charset="0"/>
                <a:sym typeface="Symbol" panose="05050102010706020507" pitchFamily="18" charset="2"/>
              </a:rPr>
              <a:t>( </a:t>
            </a:r>
            <a:r>
              <a:rPr kumimoji="1" lang="en-US" altLang="en-US" sz="2000" b="1" i="1" baseline="-25000" dirty="0" err="1">
                <a:latin typeface="Helvetica" panose="020B0604020202020204" pitchFamily="34" charset="0"/>
                <a:sym typeface="Symbol" panose="05050102010706020507" pitchFamily="18" charset="2"/>
              </a:rPr>
              <a:t>r.B</a:t>
            </a:r>
            <a:r>
              <a:rPr kumimoji="1" lang="en-US" altLang="en-US" sz="2000" b="1" i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 = </a:t>
            </a:r>
            <a:r>
              <a:rPr kumimoji="1" lang="en-US" altLang="en-US" sz="2000" b="1" i="1" baseline="-25000" dirty="0" err="1">
                <a:latin typeface="Helvetica" panose="020B0604020202020204" pitchFamily="34" charset="0"/>
                <a:sym typeface="Symbol" panose="05050102010706020507" pitchFamily="18" charset="2"/>
              </a:rPr>
              <a:t>s.B</a:t>
            </a:r>
            <a:r>
              <a:rPr kumimoji="1" lang="en-US" altLang="en-US" sz="2000" b="1" i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˄ </a:t>
            </a:r>
            <a:r>
              <a:rPr kumimoji="1" lang="en-US" altLang="en-US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r.D</a:t>
            </a:r>
            <a:r>
              <a:rPr kumimoji="1" lang="en-US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1" lang="en-US" altLang="en-US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s.D</a:t>
            </a:r>
            <a:r>
              <a:rPr kumimoji="1" lang="en-US" altLang="en-US" sz="2000" b="1" i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2000" b="1" baseline="-25000" dirty="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2000" b="1" dirty="0">
                <a:latin typeface="Helvetica" panose="020B0604020202020204" pitchFamily="34" charset="0"/>
                <a:sym typeface="Symbol" panose="05050102010706020507" pitchFamily="18" charset="2"/>
              </a:rPr>
              <a:t>(</a:t>
            </a:r>
            <a:r>
              <a:rPr kumimoji="1" lang="en-US" altLang="en-US" sz="2000" b="1" i="1" dirty="0">
                <a:latin typeface="Helvetica" panose="020B0604020202020204" pitchFamily="34" charset="0"/>
                <a:sym typeface="Symbol" panose="05050102010706020507" pitchFamily="18" charset="2"/>
              </a:rPr>
              <a:t>r </a:t>
            </a:r>
            <a:r>
              <a:rPr kumimoji="1" lang="en-US" altLang="en-US" sz="2000" b="1" dirty="0">
                <a:latin typeface="Helvetica" panose="020B0604020202020204" pitchFamily="34" charset="0"/>
                <a:sym typeface="Symbol" panose="05050102010706020507" pitchFamily="18" charset="2"/>
              </a:rPr>
              <a:t>x </a:t>
            </a:r>
            <a:r>
              <a:rPr kumimoji="1" lang="en-US" altLang="en-US" sz="2000" b="1" i="1" dirty="0">
                <a:latin typeface="Helvetica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en-US" sz="2000" b="1" dirty="0">
                <a:latin typeface="Helvetica" panose="020B0604020202020204" pitchFamily="34" charset="0"/>
                <a:sym typeface="Symbol" panose="05050102010706020507" pitchFamily="18" charset="2"/>
              </a:rPr>
              <a:t>)))</a:t>
            </a:r>
            <a:endParaRPr lang="en-US" altLang="en-US" sz="2000" b="1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44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22400" y="117475"/>
            <a:ext cx="10769600" cy="609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Notes about Relational Languages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36725" y="1241425"/>
            <a:ext cx="7848600" cy="4876800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Each Query input is a table (or set of tables)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Each query output is a table.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All data in the output table appears in one of the input tables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Relational Algebra is not Turning complete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Can we compute: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SUM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AVG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MAX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MIN</a:t>
            </a:r>
          </a:p>
          <a:p>
            <a:pPr lvl="1"/>
            <a:endParaRPr lang="en-US" altLang="en-US" dirty="0" smtClean="0">
              <a:ea typeface="ＭＳ Ｐゴシック" panose="020B0600070205080204" pitchFamily="34" charset="-128"/>
            </a:endParaRP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8497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9938" y="9525"/>
            <a:ext cx="10515600" cy="1325563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Summary of Relational Algebra Operators</a:t>
            </a: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2617788" y="803275"/>
            <a:ext cx="7246937" cy="325438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2617788" y="1179513"/>
            <a:ext cx="7253287" cy="4895850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200">
              <a:latin typeface="Helvetica" panose="020B0604020202020204" pitchFamily="34" charset="0"/>
            </a:endParaRPr>
          </a:p>
        </p:txBody>
      </p:sp>
      <p:cxnSp>
        <p:nvCxnSpPr>
          <p:cNvPr id="56325" name="Straight Connector 5"/>
          <p:cNvCxnSpPr>
            <a:cxnSpLocks noChangeShapeType="1"/>
          </p:cNvCxnSpPr>
          <p:nvPr/>
        </p:nvCxnSpPr>
        <p:spPr bwMode="auto">
          <a:xfrm>
            <a:off x="4386263" y="1169988"/>
            <a:ext cx="0" cy="490537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26" name="Straight Connector 2"/>
          <p:cNvCxnSpPr>
            <a:cxnSpLocks noChangeShapeType="1"/>
          </p:cNvCxnSpPr>
          <p:nvPr/>
        </p:nvCxnSpPr>
        <p:spPr bwMode="auto">
          <a:xfrm flipV="1">
            <a:off x="4386263" y="803275"/>
            <a:ext cx="0" cy="32543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27" name="TextBox 6"/>
          <p:cNvSpPr txBox="1">
            <a:spLocks noChangeArrowheads="1"/>
          </p:cNvSpPr>
          <p:nvPr/>
        </p:nvSpPr>
        <p:spPr bwMode="auto">
          <a:xfrm>
            <a:off x="2566988" y="846138"/>
            <a:ext cx="6186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 Symbol (Name)                  Example of Use</a:t>
            </a:r>
          </a:p>
        </p:txBody>
      </p:sp>
      <p:sp>
        <p:nvSpPr>
          <p:cNvPr id="56328" name="TextBox 9"/>
          <p:cNvSpPr txBox="1">
            <a:spLocks noChangeArrowheads="1"/>
          </p:cNvSpPr>
          <p:nvPr/>
        </p:nvSpPr>
        <p:spPr bwMode="auto">
          <a:xfrm>
            <a:off x="2547938" y="1306513"/>
            <a:ext cx="648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 (Selection)	                        </a:t>
            </a:r>
            <a:r>
              <a:rPr lang="el-GR" altLang="en-US" sz="1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>
                <a:latin typeface="Palatino Linotype" panose="02040502050505030304" pitchFamily="18" charset="0"/>
              </a:rPr>
              <a:t>salary &gt; = 85000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>
                <a:latin typeface="Palatino Linotype" panose="02040502050505030304" pitchFamily="18" charset="0"/>
              </a:rPr>
              <a:t>instructor</a:t>
            </a:r>
            <a:r>
              <a:rPr lang="en-US" altLang="en-US" sz="1200" baseline="30000"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56329" name="TextBox 8"/>
          <p:cNvSpPr txBox="1">
            <a:spLocks noChangeArrowheads="1"/>
          </p:cNvSpPr>
          <p:nvPr/>
        </p:nvSpPr>
        <p:spPr bwMode="auto">
          <a:xfrm>
            <a:off x="2652713" y="1111250"/>
            <a:ext cx="8874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lang="en-US" altLang="en-US" sz="120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6330" name="Straight Connector 11"/>
          <p:cNvCxnSpPr>
            <a:cxnSpLocks noChangeShapeType="1"/>
          </p:cNvCxnSpPr>
          <p:nvPr/>
        </p:nvCxnSpPr>
        <p:spPr bwMode="auto">
          <a:xfrm>
            <a:off x="4386263" y="1574800"/>
            <a:ext cx="54784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31" name="TextBox 12"/>
          <p:cNvSpPr txBox="1">
            <a:spLocks noChangeArrowheads="1"/>
          </p:cNvSpPr>
          <p:nvPr/>
        </p:nvSpPr>
        <p:spPr bwMode="auto">
          <a:xfrm>
            <a:off x="4394200" y="1581150"/>
            <a:ext cx="5478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Return rows of the input relation that satisfy the predicate.</a:t>
            </a:r>
          </a:p>
        </p:txBody>
      </p:sp>
      <p:cxnSp>
        <p:nvCxnSpPr>
          <p:cNvPr id="56332" name="Straight Connector 16"/>
          <p:cNvCxnSpPr>
            <a:cxnSpLocks noChangeShapeType="1"/>
          </p:cNvCxnSpPr>
          <p:nvPr/>
        </p:nvCxnSpPr>
        <p:spPr bwMode="auto">
          <a:xfrm>
            <a:off x="2617788" y="1900238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3" name="Straight Connector 18"/>
          <p:cNvCxnSpPr>
            <a:cxnSpLocks noChangeShapeType="1"/>
          </p:cNvCxnSpPr>
          <p:nvPr/>
        </p:nvCxnSpPr>
        <p:spPr bwMode="auto">
          <a:xfrm>
            <a:off x="4394200" y="2335213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4" name="Straight Connector 19"/>
          <p:cNvCxnSpPr>
            <a:cxnSpLocks noChangeShapeType="1"/>
          </p:cNvCxnSpPr>
          <p:nvPr/>
        </p:nvCxnSpPr>
        <p:spPr bwMode="auto">
          <a:xfrm>
            <a:off x="2625725" y="2795588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35" name="TextBox 20"/>
          <p:cNvSpPr txBox="1">
            <a:spLocks noChangeArrowheads="1"/>
          </p:cNvSpPr>
          <p:nvPr/>
        </p:nvSpPr>
        <p:spPr bwMode="auto">
          <a:xfrm>
            <a:off x="2659063" y="1852613"/>
            <a:ext cx="8890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en-US" altLang="en-US" sz="120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336" name="TextBox 21"/>
          <p:cNvSpPr txBox="1">
            <a:spLocks noChangeArrowheads="1"/>
          </p:cNvSpPr>
          <p:nvPr/>
        </p:nvSpPr>
        <p:spPr bwMode="auto">
          <a:xfrm>
            <a:off x="2555875" y="2047875"/>
            <a:ext cx="64849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 (Projection)	                         </a:t>
            </a:r>
            <a:r>
              <a:rPr lang="el-GR" altLang="en-US" sz="1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>
                <a:latin typeface="Palatino Linotype" panose="02040502050505030304" pitchFamily="18" charset="0"/>
              </a:rPr>
              <a:t>ID, salary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>
                <a:latin typeface="Palatino Linotype" panose="02040502050505030304" pitchFamily="18" charset="0"/>
              </a:rPr>
              <a:t>instructor</a:t>
            </a:r>
            <a:r>
              <a:rPr lang="en-US" altLang="en-US" sz="1200" baseline="30000">
                <a:latin typeface="Palatino Linotype" panose="02040502050505030304" pitchFamily="18" charset="0"/>
              </a:rPr>
              <a:t>)</a:t>
            </a:r>
          </a:p>
        </p:txBody>
      </p:sp>
      <p:sp>
        <p:nvSpPr>
          <p:cNvPr id="56337" name="TextBox 22"/>
          <p:cNvSpPr txBox="1">
            <a:spLocks noChangeArrowheads="1"/>
          </p:cNvSpPr>
          <p:nvPr/>
        </p:nvSpPr>
        <p:spPr bwMode="auto">
          <a:xfrm>
            <a:off x="4394200" y="2322513"/>
            <a:ext cx="5476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Output specified attributes from all rows of the input relation.  Remove duplicate tuples from the output.</a:t>
            </a:r>
          </a:p>
        </p:txBody>
      </p:sp>
      <p:cxnSp>
        <p:nvCxnSpPr>
          <p:cNvPr id="56338" name="Straight Connector 25"/>
          <p:cNvCxnSpPr>
            <a:cxnSpLocks noChangeShapeType="1"/>
          </p:cNvCxnSpPr>
          <p:nvPr/>
        </p:nvCxnSpPr>
        <p:spPr bwMode="auto">
          <a:xfrm>
            <a:off x="4392613" y="3205163"/>
            <a:ext cx="54784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9" name="Straight Connector 26"/>
          <p:cNvCxnSpPr>
            <a:cxnSpLocks noChangeShapeType="1"/>
          </p:cNvCxnSpPr>
          <p:nvPr/>
        </p:nvCxnSpPr>
        <p:spPr bwMode="auto">
          <a:xfrm>
            <a:off x="2624138" y="3673475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40" name="TextBox 31"/>
          <p:cNvSpPr txBox="1">
            <a:spLocks noChangeArrowheads="1"/>
          </p:cNvSpPr>
          <p:nvPr/>
        </p:nvSpPr>
        <p:spPr bwMode="auto">
          <a:xfrm>
            <a:off x="2581275" y="2735263"/>
            <a:ext cx="9223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</a:t>
            </a:r>
            <a:r>
              <a:rPr lang="en-US" altLang="en-US" sz="1200">
                <a:latin typeface="Lucida Sans Unicode" panose="020B0602030504020204" pitchFamily="34" charset="0"/>
              </a:rPr>
              <a:t>x</a:t>
            </a:r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56341" name="TextBox 32"/>
          <p:cNvSpPr txBox="1">
            <a:spLocks noChangeArrowheads="1"/>
          </p:cNvSpPr>
          <p:nvPr/>
        </p:nvSpPr>
        <p:spPr bwMode="auto">
          <a:xfrm>
            <a:off x="2560638" y="2908300"/>
            <a:ext cx="64865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(Cartesian Product)	 </a:t>
            </a:r>
            <a:r>
              <a:rPr lang="en-US" altLang="en-US" sz="1200" i="1">
                <a:latin typeface="Palatino Linotype" panose="02040502050505030304" pitchFamily="18" charset="0"/>
              </a:rPr>
              <a:t>instructor</a:t>
            </a:r>
            <a:r>
              <a:rPr lang="en-US" altLang="en-US" sz="1200">
                <a:latin typeface="Palatino Linotype" panose="02040502050505030304" pitchFamily="18" charset="0"/>
              </a:rPr>
              <a:t> </a:t>
            </a:r>
            <a:r>
              <a:rPr lang="en-US" altLang="en-US" sz="1200">
                <a:latin typeface="Lucida Sans Unicode" panose="020B0602030504020204" pitchFamily="34" charset="0"/>
              </a:rPr>
              <a:t>x</a:t>
            </a:r>
            <a:r>
              <a:rPr lang="en-US" altLang="en-US" sz="1200" i="1">
                <a:latin typeface="Palatino Linotype" panose="02040502050505030304" pitchFamily="18" charset="0"/>
              </a:rPr>
              <a:t>  department</a:t>
            </a:r>
          </a:p>
        </p:txBody>
      </p:sp>
      <p:sp>
        <p:nvSpPr>
          <p:cNvPr id="56342" name="TextBox 34"/>
          <p:cNvSpPr txBox="1">
            <a:spLocks noChangeArrowheads="1"/>
          </p:cNvSpPr>
          <p:nvPr/>
        </p:nvSpPr>
        <p:spPr bwMode="auto">
          <a:xfrm>
            <a:off x="4398963" y="3209925"/>
            <a:ext cx="557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Output pairs of rows from the two input relations that have the same value on all attributes that have the same name.</a:t>
            </a:r>
          </a:p>
        </p:txBody>
      </p:sp>
      <p:cxnSp>
        <p:nvCxnSpPr>
          <p:cNvPr id="56343" name="Straight Connector 35"/>
          <p:cNvCxnSpPr>
            <a:cxnSpLocks noChangeShapeType="1"/>
          </p:cNvCxnSpPr>
          <p:nvPr/>
        </p:nvCxnSpPr>
        <p:spPr bwMode="auto">
          <a:xfrm>
            <a:off x="2617788" y="4400550"/>
            <a:ext cx="7259637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4" name="Straight Connector 36"/>
          <p:cNvCxnSpPr>
            <a:cxnSpLocks noChangeShapeType="1"/>
          </p:cNvCxnSpPr>
          <p:nvPr/>
        </p:nvCxnSpPr>
        <p:spPr bwMode="auto">
          <a:xfrm>
            <a:off x="2630488" y="5108575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45" name="TextBox 37"/>
          <p:cNvSpPr txBox="1">
            <a:spLocks noChangeArrowheads="1"/>
          </p:cNvSpPr>
          <p:nvPr/>
        </p:nvSpPr>
        <p:spPr bwMode="auto">
          <a:xfrm>
            <a:off x="2579688" y="3622675"/>
            <a:ext cx="9223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</a:t>
            </a:r>
            <a:r>
              <a:rPr lang="en-US" altLang="en-US" sz="1200">
                <a:latin typeface="Lucida Sans Unicode" panose="020B0602030504020204" pitchFamily="34" charset="0"/>
              </a:rPr>
              <a:t>∪</a:t>
            </a:r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56346" name="TextBox 38"/>
          <p:cNvSpPr txBox="1">
            <a:spLocks noChangeArrowheads="1"/>
          </p:cNvSpPr>
          <p:nvPr/>
        </p:nvSpPr>
        <p:spPr bwMode="auto">
          <a:xfrm>
            <a:off x="2559050" y="3795713"/>
            <a:ext cx="6486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(Union)		 </a:t>
            </a:r>
            <a:r>
              <a:rPr lang="el-GR" altLang="en-US" sz="1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>
                <a:latin typeface="Palatino Linotype" panose="02040502050505030304" pitchFamily="18" charset="0"/>
              </a:rPr>
              <a:t>instructor) 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∪  </a:t>
            </a:r>
            <a:r>
              <a:rPr lang="el-GR" altLang="en-US" sz="1200" baseline="30000">
                <a:latin typeface="Times New Roman" panose="02020603050405020304" pitchFamily="18" charset="0"/>
              </a:rPr>
              <a:t>Π</a:t>
            </a:r>
            <a:r>
              <a:rPr lang="en-US" altLang="en-US" sz="1200" baseline="30000">
                <a:latin typeface="Times New Roman" panose="02020603050405020304" pitchFamily="18" charset="0"/>
              </a:rPr>
              <a:t> </a:t>
            </a:r>
            <a:r>
              <a:rPr lang="en-US" altLang="en-US" sz="1200" i="1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>
                <a:latin typeface="Palatino Linotype" panose="02040502050505030304" pitchFamily="18" charset="0"/>
              </a:rPr>
              <a:t>student)</a:t>
            </a:r>
            <a:endParaRPr lang="en-US" altLang="en-US" sz="1200" i="1">
              <a:latin typeface="Palatino Linotype" panose="02040502050505030304" pitchFamily="18" charset="0"/>
            </a:endParaRPr>
          </a:p>
        </p:txBody>
      </p:sp>
      <p:sp>
        <p:nvSpPr>
          <p:cNvPr id="56347" name="TextBox 39"/>
          <p:cNvSpPr txBox="1">
            <a:spLocks noChangeArrowheads="1"/>
          </p:cNvSpPr>
          <p:nvPr/>
        </p:nvSpPr>
        <p:spPr bwMode="auto">
          <a:xfrm>
            <a:off x="4391025" y="4089400"/>
            <a:ext cx="5575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Output the union of tuples from the </a:t>
            </a:r>
            <a:r>
              <a:rPr lang="en-US" altLang="en-US" sz="1200" i="1">
                <a:latin typeface="Palatino Linotype" panose="02040502050505030304" pitchFamily="18" charset="0"/>
              </a:rPr>
              <a:t>two </a:t>
            </a:r>
            <a:r>
              <a:rPr lang="en-US" altLang="en-US" sz="1200">
                <a:latin typeface="Palatino Linotype" panose="02040502050505030304" pitchFamily="18" charset="0"/>
              </a:rPr>
              <a:t>input relations.</a:t>
            </a:r>
          </a:p>
        </p:txBody>
      </p:sp>
      <p:cxnSp>
        <p:nvCxnSpPr>
          <p:cNvPr id="56348" name="Straight Connector 42"/>
          <p:cNvCxnSpPr>
            <a:cxnSpLocks noChangeShapeType="1"/>
          </p:cNvCxnSpPr>
          <p:nvPr/>
        </p:nvCxnSpPr>
        <p:spPr bwMode="auto">
          <a:xfrm>
            <a:off x="4398963" y="4056063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49" name="TextBox 24"/>
          <p:cNvSpPr txBox="1">
            <a:spLocks noChangeArrowheads="1"/>
          </p:cNvSpPr>
          <p:nvPr/>
        </p:nvSpPr>
        <p:spPr bwMode="auto">
          <a:xfrm>
            <a:off x="2562225" y="5259388"/>
            <a:ext cx="6486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(Natural Join)	 </a:t>
            </a:r>
            <a:r>
              <a:rPr lang="en-US" altLang="en-US" sz="1200" i="1">
                <a:latin typeface="Palatino Linotype" panose="02040502050505030304" pitchFamily="18" charset="0"/>
              </a:rPr>
              <a:t>instructor</a:t>
            </a:r>
            <a:r>
              <a:rPr lang="en-US" altLang="en-US" sz="1200">
                <a:latin typeface="Palatino Linotype" panose="02040502050505030304" pitchFamily="18" charset="0"/>
              </a:rPr>
              <a:t> </a:t>
            </a:r>
            <a:r>
              <a:rPr lang="en-US" altLang="en-US" sz="1200">
                <a:latin typeface="Lucida Sans Unicode" panose="020B0602030504020204" pitchFamily="34" charset="0"/>
              </a:rPr>
              <a:t>⋈</a:t>
            </a:r>
            <a:r>
              <a:rPr lang="en-US" altLang="en-US" sz="1200" i="1">
                <a:latin typeface="Palatino Linotype" panose="02040502050505030304" pitchFamily="18" charset="0"/>
              </a:rPr>
              <a:t>  department</a:t>
            </a:r>
          </a:p>
        </p:txBody>
      </p:sp>
      <p:sp>
        <p:nvSpPr>
          <p:cNvPr id="56350" name="TextBox 27"/>
          <p:cNvSpPr txBox="1">
            <a:spLocks noChangeArrowheads="1"/>
          </p:cNvSpPr>
          <p:nvPr/>
        </p:nvSpPr>
        <p:spPr bwMode="auto">
          <a:xfrm>
            <a:off x="4392613" y="5559425"/>
            <a:ext cx="557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Output pairs of rows from the two input relations that have the same value on all attributes that have the same name.</a:t>
            </a:r>
          </a:p>
        </p:txBody>
      </p:sp>
      <p:sp>
        <p:nvSpPr>
          <p:cNvPr id="56351" name="TextBox 30"/>
          <p:cNvSpPr txBox="1">
            <a:spLocks noChangeArrowheads="1"/>
          </p:cNvSpPr>
          <p:nvPr/>
        </p:nvSpPr>
        <p:spPr bwMode="auto">
          <a:xfrm>
            <a:off x="2573338" y="5078413"/>
            <a:ext cx="9239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</a:t>
            </a:r>
            <a:r>
              <a:rPr lang="en-US" altLang="en-US" sz="1200">
                <a:latin typeface="Lucida Sans Unicode" panose="020B0602030504020204" pitchFamily="34" charset="0"/>
              </a:rPr>
              <a:t>⋈</a:t>
            </a:r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56352" name="TextBox 37"/>
          <p:cNvSpPr txBox="1">
            <a:spLocks noChangeArrowheads="1"/>
          </p:cNvSpPr>
          <p:nvPr/>
        </p:nvSpPr>
        <p:spPr bwMode="auto">
          <a:xfrm>
            <a:off x="2570163" y="4348163"/>
            <a:ext cx="922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</a:t>
            </a:r>
            <a:r>
              <a:rPr lang="en-US" altLang="en-US" sz="1200">
                <a:latin typeface="Lucida Sans Unicode" panose="020B0602030504020204" pitchFamily="34" charset="0"/>
              </a:rPr>
              <a:t>-</a:t>
            </a:r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56353" name="TextBox 38"/>
          <p:cNvSpPr txBox="1">
            <a:spLocks noChangeArrowheads="1"/>
          </p:cNvSpPr>
          <p:nvPr/>
        </p:nvSpPr>
        <p:spPr bwMode="auto">
          <a:xfrm>
            <a:off x="2549525" y="4521200"/>
            <a:ext cx="648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 (Set Difference)	 </a:t>
            </a:r>
            <a:r>
              <a:rPr lang="el-GR" altLang="en-US" sz="1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i="1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>
                <a:latin typeface="Palatino Linotype" panose="02040502050505030304" pitchFamily="18" charset="0"/>
              </a:rPr>
              <a:t>instructor) </a:t>
            </a:r>
            <a:r>
              <a:rPr lang="en-US" altLang="en-US" sz="1200">
                <a:latin typeface="Lucida Sans Unicode" panose="020B0602030504020204" pitchFamily="34" charset="0"/>
              </a:rPr>
              <a:t>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--  </a:t>
            </a:r>
            <a:r>
              <a:rPr lang="el-GR" altLang="en-US" sz="1200" baseline="30000">
                <a:latin typeface="Times New Roman" panose="02020603050405020304" pitchFamily="18" charset="0"/>
              </a:rPr>
              <a:t>Π</a:t>
            </a:r>
            <a:r>
              <a:rPr lang="en-US" altLang="en-US" sz="1200" baseline="30000">
                <a:latin typeface="Times New Roman" panose="02020603050405020304" pitchFamily="18" charset="0"/>
              </a:rPr>
              <a:t> </a:t>
            </a:r>
            <a:r>
              <a:rPr lang="en-US" altLang="en-US" sz="1200" i="1">
                <a:latin typeface="Palatino Linotype" panose="02040502050505030304" pitchFamily="18" charset="0"/>
              </a:rPr>
              <a:t>name </a:t>
            </a:r>
            <a:r>
              <a:rPr lang="en-US" altLang="en-US" sz="1200" baseline="30000">
                <a:latin typeface="Palatino Linotype" panose="02040502050505030304" pitchFamily="18" charset="0"/>
              </a:rPr>
              <a:t>(</a:t>
            </a:r>
            <a:r>
              <a:rPr lang="en-US" altLang="en-US" sz="1200" i="1" baseline="30000">
                <a:latin typeface="Palatino Linotype" panose="02040502050505030304" pitchFamily="18" charset="0"/>
              </a:rPr>
              <a:t>student)</a:t>
            </a:r>
            <a:endParaRPr lang="en-US" altLang="en-US" sz="1200" i="1">
              <a:latin typeface="Palatino Linotype" panose="02040502050505030304" pitchFamily="18" charset="0"/>
            </a:endParaRPr>
          </a:p>
        </p:txBody>
      </p:sp>
      <p:sp>
        <p:nvSpPr>
          <p:cNvPr id="56354" name="TextBox 39"/>
          <p:cNvSpPr txBox="1">
            <a:spLocks noChangeArrowheads="1"/>
          </p:cNvSpPr>
          <p:nvPr/>
        </p:nvSpPr>
        <p:spPr bwMode="auto">
          <a:xfrm>
            <a:off x="4397375" y="4805363"/>
            <a:ext cx="5575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latin typeface="Palatino Linotype" panose="02040502050505030304" pitchFamily="18" charset="0"/>
              </a:rPr>
              <a:t>Output the set difference of tuples from the two input relations. </a:t>
            </a:r>
          </a:p>
        </p:txBody>
      </p:sp>
      <p:cxnSp>
        <p:nvCxnSpPr>
          <p:cNvPr id="56355" name="Straight Connector 42"/>
          <p:cNvCxnSpPr>
            <a:cxnSpLocks noChangeShapeType="1"/>
          </p:cNvCxnSpPr>
          <p:nvPr/>
        </p:nvCxnSpPr>
        <p:spPr bwMode="auto">
          <a:xfrm>
            <a:off x="4397375" y="4764088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56" name="Straight Connector 35"/>
          <p:cNvCxnSpPr>
            <a:cxnSpLocks noChangeShapeType="1"/>
          </p:cNvCxnSpPr>
          <p:nvPr/>
        </p:nvCxnSpPr>
        <p:spPr bwMode="auto">
          <a:xfrm>
            <a:off x="4378325" y="5527675"/>
            <a:ext cx="549751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11678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Formal Definition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2764"/>
            <a:ext cx="10515600" cy="4876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 smtClean="0"/>
              <a:t>A basic expression in the relational algebra consists of either one of the following: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A relation in the database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A constant relation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Let </a:t>
            </a:r>
            <a:r>
              <a:rPr lang="en-US" i="1" dirty="0" smtClean="0"/>
              <a:t>E</a:t>
            </a:r>
            <a:r>
              <a:rPr lang="en-US" i="1" baseline="-25000" dirty="0" smtClean="0"/>
              <a:t>1</a:t>
            </a:r>
            <a:r>
              <a:rPr lang="en-US" dirty="0" smtClean="0"/>
              <a:t> and </a:t>
            </a:r>
            <a:r>
              <a:rPr lang="en-US" i="1" dirty="0" smtClean="0"/>
              <a:t>E</a:t>
            </a:r>
            <a:r>
              <a:rPr lang="en-US" i="1" baseline="-25000" dirty="0" smtClean="0"/>
              <a:t>2</a:t>
            </a:r>
            <a:r>
              <a:rPr lang="en-US" dirty="0" smtClean="0"/>
              <a:t>  be relational-algebra expressions; the following are all relational-algebra expressions:</a:t>
            </a:r>
          </a:p>
          <a:p>
            <a:pPr lvl="1">
              <a:lnSpc>
                <a:spcPct val="110000"/>
              </a:lnSpc>
            </a:pPr>
            <a:r>
              <a:rPr lang="en-US" i="1" dirty="0" smtClean="0"/>
              <a:t>E</a:t>
            </a:r>
            <a:r>
              <a:rPr lang="en-US" sz="2400" i="1" baseline="-25000" dirty="0"/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 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2</a:t>
            </a:r>
            <a:endParaRPr lang="en-US" sz="2400" dirty="0"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1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smtClean="0"/>
              <a:t>–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2</a:t>
            </a:r>
            <a:endParaRPr lang="en-US" sz="2400" dirty="0"/>
          </a:p>
          <a:p>
            <a:pPr lvl="1">
              <a:lnSpc>
                <a:spcPct val="110000"/>
              </a:lnSpc>
            </a:pPr>
            <a:r>
              <a:rPr lang="en-US" i="1" dirty="0" smtClean="0"/>
              <a:t>E</a:t>
            </a:r>
            <a:r>
              <a:rPr lang="en-US" sz="2400" i="1" baseline="-25000" dirty="0"/>
              <a:t>1</a:t>
            </a:r>
            <a:r>
              <a:rPr lang="en-US" dirty="0" smtClean="0"/>
              <a:t> x </a:t>
            </a:r>
            <a:r>
              <a:rPr lang="en-US" i="1" dirty="0" smtClean="0"/>
              <a:t>E</a:t>
            </a:r>
            <a:r>
              <a:rPr lang="en-US" sz="2400" i="1" baseline="-25000" dirty="0"/>
              <a:t>2</a:t>
            </a:r>
            <a:endParaRPr lang="en-US" sz="2400" dirty="0"/>
          </a:p>
          <a:p>
            <a:pPr lvl="1">
              <a:lnSpc>
                <a:spcPct val="110000"/>
              </a:lnSpc>
            </a:pPr>
            <a:r>
              <a:rPr lang="en-US" i="1" dirty="0" smtClean="0">
                <a:sym typeface="Symbol" panose="05050102010706020507" pitchFamily="18" charset="2"/>
              </a:rPr>
              <a:t></a:t>
            </a:r>
            <a:r>
              <a:rPr lang="en-US" sz="2400" i="1" baseline="-25000" dirty="0">
                <a:sym typeface="Symbol" panose="05050102010706020507" pitchFamily="18" charset="2"/>
              </a:rPr>
              <a:t>p</a:t>
            </a:r>
            <a:r>
              <a:rPr lang="en-US" dirty="0" smtClean="0">
                <a:sym typeface="Symbol" panose="05050102010706020507" pitchFamily="18" charset="2"/>
              </a:rPr>
              <a:t> (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1</a:t>
            </a:r>
            <a:r>
              <a:rPr lang="en-US" dirty="0" smtClean="0">
                <a:sym typeface="Symbol" panose="05050102010706020507" pitchFamily="18" charset="2"/>
              </a:rPr>
              <a:t>), </a:t>
            </a:r>
            <a:r>
              <a:rPr lang="en-US" i="1" dirty="0" smtClean="0">
                <a:sym typeface="Symbol" panose="05050102010706020507" pitchFamily="18" charset="2"/>
              </a:rPr>
              <a:t>P</a:t>
            </a:r>
            <a:r>
              <a:rPr lang="en-US" dirty="0" smtClean="0">
                <a:sym typeface="Symbol" panose="05050102010706020507" pitchFamily="18" charset="2"/>
              </a:rPr>
              <a:t> is a predicate on attributes in 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1</a:t>
            </a:r>
            <a:endParaRPr lang="en-US" sz="2400" dirty="0"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en-US" dirty="0" smtClean="0">
                <a:sym typeface="Symbol" panose="05050102010706020507" pitchFamily="18" charset="2"/>
              </a:rPr>
              <a:t></a:t>
            </a:r>
            <a:r>
              <a:rPr lang="en-US" sz="2400" i="1" baseline="-25000" dirty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(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1</a:t>
            </a:r>
            <a:r>
              <a:rPr lang="en-US" dirty="0" smtClean="0">
                <a:sym typeface="Symbol" panose="05050102010706020507" pitchFamily="18" charset="2"/>
              </a:rPr>
              <a:t>), </a:t>
            </a:r>
            <a:r>
              <a:rPr lang="en-US" i="1" dirty="0" smtClean="0">
                <a:sym typeface="Symbol" panose="05050102010706020507" pitchFamily="18" charset="2"/>
              </a:rPr>
              <a:t>S</a:t>
            </a:r>
            <a:r>
              <a:rPr lang="en-US" dirty="0" smtClean="0">
                <a:sym typeface="Symbol" panose="05050102010706020507" pitchFamily="18" charset="2"/>
              </a:rPr>
              <a:t> is a list consisting of some of the attributes in 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1</a:t>
            </a:r>
            <a:endParaRPr lang="en-US" sz="2400" dirty="0"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en-US" sz="2000" i="1" dirty="0">
                <a:sym typeface="Symbol" panose="05050102010706020507" pitchFamily="18" charset="2"/>
              </a:rPr>
              <a:t></a:t>
            </a:r>
            <a:r>
              <a:rPr lang="en-US" i="1" dirty="0" smtClean="0">
                <a:sym typeface="Symbol" panose="05050102010706020507" pitchFamily="18" charset="2"/>
              </a:rPr>
              <a:t> </a:t>
            </a:r>
            <a:r>
              <a:rPr lang="en-US" sz="2400" i="1" baseline="-25000" dirty="0">
                <a:sym typeface="Symbol" panose="05050102010706020507" pitchFamily="18" charset="2"/>
              </a:rPr>
              <a:t>x</a:t>
            </a:r>
            <a:r>
              <a:rPr lang="en-US" i="1" dirty="0" smtClean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(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1</a:t>
            </a:r>
            <a:r>
              <a:rPr lang="en-US" dirty="0" smtClean="0">
                <a:sym typeface="Symbol" panose="05050102010706020507" pitchFamily="18" charset="2"/>
              </a:rPr>
              <a:t>), x is the new name for the result of </a:t>
            </a:r>
            <a:r>
              <a:rPr lang="en-US" i="1" dirty="0" smtClean="0">
                <a:sym typeface="Symbol" panose="05050102010706020507" pitchFamily="18" charset="2"/>
              </a:rPr>
              <a:t>E</a:t>
            </a:r>
            <a:r>
              <a:rPr lang="en-US" sz="2400" i="1" baseline="-25000" dirty="0">
                <a:sym typeface="Symbol" panose="05050102010706020507" pitchFamily="18" charset="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87400" y="316173"/>
            <a:ext cx="10566400" cy="6096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91654" y="1393161"/>
            <a:ext cx="10668000" cy="4495800"/>
          </a:xfrm>
        </p:spPr>
        <p:txBody>
          <a:bodyPr/>
          <a:lstStyle/>
          <a:p>
            <a:pPr lvl="0" algn="just"/>
            <a:r>
              <a:rPr lang="en-US" dirty="0" err="1" smtClean="0"/>
              <a:t>RamezElmasri</a:t>
            </a:r>
            <a:r>
              <a:rPr lang="en-US" dirty="0" smtClean="0"/>
              <a:t> and </a:t>
            </a:r>
            <a:r>
              <a:rPr lang="en-US" dirty="0" err="1" smtClean="0"/>
              <a:t>Shamkant</a:t>
            </a:r>
            <a:r>
              <a:rPr lang="en-US" dirty="0" smtClean="0"/>
              <a:t> B. </a:t>
            </a:r>
            <a:r>
              <a:rPr lang="en-US" dirty="0" err="1" smtClean="0"/>
              <a:t>Navathe</a:t>
            </a:r>
            <a:r>
              <a:rPr lang="en-US" dirty="0" smtClean="0"/>
              <a:t>, “Fundamentals of Database System”, The Benjamin / Cummings Publishing Co.</a:t>
            </a:r>
          </a:p>
          <a:p>
            <a:pPr lvl="0" algn="just"/>
            <a:r>
              <a:rPr lang="en-US" dirty="0" err="1" smtClean="0"/>
              <a:t>Korth</a:t>
            </a:r>
            <a:r>
              <a:rPr lang="en-US" dirty="0" smtClean="0"/>
              <a:t> and </a:t>
            </a:r>
            <a:r>
              <a:rPr lang="en-US" dirty="0" err="1" smtClean="0"/>
              <a:t>Silberschatz</a:t>
            </a:r>
            <a:r>
              <a:rPr lang="en-US" dirty="0" smtClean="0"/>
              <a:t> Abraham, “Database System Concepts”, McGraw Hall.</a:t>
            </a:r>
          </a:p>
          <a:p>
            <a:pPr lvl="0" algn="just"/>
            <a:r>
              <a:rPr lang="en-US" dirty="0" err="1" smtClean="0"/>
              <a:t>C.J.Date</a:t>
            </a:r>
            <a:r>
              <a:rPr lang="en-US" dirty="0" smtClean="0"/>
              <a:t>, “An Introduction to Database Systems”, Addison Wesley.</a:t>
            </a:r>
          </a:p>
          <a:p>
            <a:pPr lvl="0" algn="just"/>
            <a:r>
              <a:rPr lang="en-US" dirty="0" smtClean="0"/>
              <a:t>Thomas M. Connolly, Carolyn &amp; E. </a:t>
            </a:r>
            <a:r>
              <a:rPr lang="en-US" dirty="0" err="1" smtClean="0"/>
              <a:t>Begg</a:t>
            </a:r>
            <a:r>
              <a:rPr lang="en-US" dirty="0" smtClean="0"/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xmlns="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xmlns="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xmlns="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325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</a:t>
            </a:r>
            <a:r>
              <a:rPr lang="en-US">
                <a:latin typeface="Casper" panose="02000506000000020004" pitchFamily="2" charset="0"/>
                <a:cs typeface="Segoe UI" panose="020B0502040204020203" pitchFamily="34" charset="0"/>
              </a:rPr>
              <a:t>: </a:t>
            </a:r>
            <a:r>
              <a:rPr lang="en-US" smtClean="0">
                <a:latin typeface="Casper" panose="02000506000000020004" pitchFamily="2" charset="0"/>
                <a:cs typeface="Segoe UI" panose="020B0502040204020203" pitchFamily="34" charset="0"/>
                <a:hlinkClick r:id="rId5"/>
              </a:rPr>
              <a:t>shaveta.e13464@cumail.in</a:t>
            </a:r>
            <a:r>
              <a:rPr lang="en-US" smtClean="0">
                <a:latin typeface="Casper" panose="02000506000000020004" pitchFamily="2" charset="0"/>
                <a:cs typeface="Segoe UI" panose="020B0502040204020203" pitchFamily="34" charset="0"/>
              </a:rPr>
              <a:t> 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00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 Theme" id="{64E02839-7708-43E4-BC0F-C2ED89757F0C}" vid="{2C68CB4D-6375-4A4D-AA93-47BBE0FE03B9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1_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 Theme" id="{64E02839-7708-43E4-BC0F-C2ED89757F0C}" vid="{2C68CB4D-6375-4A4D-AA93-47BBE0FE03B9}"/>
    </a:ext>
  </a:extLst>
</a:theme>
</file>

<file path=ppt/theme/theme4.xml><?xml version="1.0" encoding="utf-8"?>
<a:theme xmlns:a="http://schemas.openxmlformats.org/drawingml/2006/main" name="1_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 Theme</Template>
  <TotalTime>20466</TotalTime>
  <Words>1088</Words>
  <Application>Microsoft Office PowerPoint</Application>
  <PresentationFormat>Widescreen</PresentationFormat>
  <Paragraphs>269</Paragraphs>
  <Slides>30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53" baseType="lpstr">
      <vt:lpstr>Arial Unicode MS</vt:lpstr>
      <vt:lpstr>ＭＳ Ｐゴシック</vt:lpstr>
      <vt:lpstr>Arial</vt:lpstr>
      <vt:lpstr>Calibri</vt:lpstr>
      <vt:lpstr>Calibri Light</vt:lpstr>
      <vt:lpstr>Cambria</vt:lpstr>
      <vt:lpstr>Casper</vt:lpstr>
      <vt:lpstr>dbsym</vt:lpstr>
      <vt:lpstr>Helvetica</vt:lpstr>
      <vt:lpstr>Karla</vt:lpstr>
      <vt:lpstr>Lucida Sans Unicode</vt:lpstr>
      <vt:lpstr>Monotype Sorts</vt:lpstr>
      <vt:lpstr>Palatino Linotype</vt:lpstr>
      <vt:lpstr>Segoe UI</vt:lpstr>
      <vt:lpstr>Symbol</vt:lpstr>
      <vt:lpstr>Times New Roman</vt:lpstr>
      <vt:lpstr>Wingdings 2</vt:lpstr>
      <vt:lpstr>CU Theme</vt:lpstr>
      <vt:lpstr>Contents Slide Master</vt:lpstr>
      <vt:lpstr>1_CU Theme</vt:lpstr>
      <vt:lpstr>1_Contents Slide Master</vt:lpstr>
      <vt:lpstr>CorelDRAW</vt:lpstr>
      <vt:lpstr>Equation</vt:lpstr>
      <vt:lpstr>PowerPoint Presentation</vt:lpstr>
      <vt:lpstr>DBMS: Course Objectives</vt:lpstr>
      <vt:lpstr>COURSE OUTCOMES</vt:lpstr>
      <vt:lpstr>Unit-1 Syllabus</vt:lpstr>
      <vt:lpstr>Formal Relational Query Languages (Relational Algebra) </vt:lpstr>
      <vt:lpstr>Relational Query Languages</vt:lpstr>
      <vt:lpstr>Relational Algebra</vt:lpstr>
      <vt:lpstr>Select Operation</vt:lpstr>
      <vt:lpstr>Select Operation – selection of rows (tuples)</vt:lpstr>
      <vt:lpstr>Project Operation</vt:lpstr>
      <vt:lpstr>Project Operation – selection of columns (Attributes) </vt:lpstr>
      <vt:lpstr>Union Operation</vt:lpstr>
      <vt:lpstr>Union of two relations</vt:lpstr>
      <vt:lpstr>Set Difference Operation</vt:lpstr>
      <vt:lpstr>Set difference of two relations</vt:lpstr>
      <vt:lpstr>Set-Intersection Operation</vt:lpstr>
      <vt:lpstr>Set intersection of two relations</vt:lpstr>
      <vt:lpstr>Cartesian-Product Operation</vt:lpstr>
      <vt:lpstr>Joining Two Relations -- Cartesian-product</vt:lpstr>
      <vt:lpstr>Cartesian-product – naming issue</vt:lpstr>
      <vt:lpstr>Rename Operation</vt:lpstr>
      <vt:lpstr>Renaming a Table</vt:lpstr>
      <vt:lpstr>Composition of Operations</vt:lpstr>
      <vt:lpstr>Joining two relations – Natural Join</vt:lpstr>
      <vt:lpstr>Natural Join Example</vt:lpstr>
      <vt:lpstr>Notes about Relational Languages</vt:lpstr>
      <vt:lpstr>Summary of Relational Algebra Operators</vt:lpstr>
      <vt:lpstr>Formal Definition</vt:lpstr>
      <vt:lpstr>References</vt:lpstr>
      <vt:lpstr>PowerPoint Presentation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Other Relational Languages</dc:title>
  <dc:creator>Marilyn Turnamian</dc:creator>
  <cp:lastModifiedBy>shavetapc</cp:lastModifiedBy>
  <cp:revision>406</cp:revision>
  <cp:lastPrinted>1999-06-28T19:27:31Z</cp:lastPrinted>
  <dcterms:created xsi:type="dcterms:W3CDTF">1999-12-16T14:50:30Z</dcterms:created>
  <dcterms:modified xsi:type="dcterms:W3CDTF">2023-06-15T09:07:05Z</dcterms:modified>
</cp:coreProperties>
</file>