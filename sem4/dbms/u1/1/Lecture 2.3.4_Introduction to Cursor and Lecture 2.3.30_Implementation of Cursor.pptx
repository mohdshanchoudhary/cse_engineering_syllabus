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  <p:sldMasterId id="2147483741" r:id="rId2"/>
  </p:sldMasterIdLst>
  <p:notesMasterIdLst>
    <p:notesMasterId r:id="rId24"/>
  </p:notesMasterIdLst>
  <p:handoutMasterIdLst>
    <p:handoutMasterId r:id="rId25"/>
  </p:handoutMasterIdLst>
  <p:sldIdLst>
    <p:sldId id="573" r:id="rId3"/>
    <p:sldId id="574" r:id="rId4"/>
    <p:sldId id="575" r:id="rId5"/>
    <p:sldId id="492" r:id="rId6"/>
    <p:sldId id="534" r:id="rId7"/>
    <p:sldId id="572" r:id="rId8"/>
    <p:sldId id="535" r:id="rId9"/>
    <p:sldId id="567" r:id="rId10"/>
    <p:sldId id="536" r:id="rId11"/>
    <p:sldId id="544" r:id="rId12"/>
    <p:sldId id="538" r:id="rId13"/>
    <p:sldId id="546" r:id="rId14"/>
    <p:sldId id="569" r:id="rId15"/>
    <p:sldId id="548" r:id="rId16"/>
    <p:sldId id="565" r:id="rId17"/>
    <p:sldId id="566" r:id="rId18"/>
    <p:sldId id="570" r:id="rId19"/>
    <p:sldId id="564" r:id="rId20"/>
    <p:sldId id="364" r:id="rId21"/>
    <p:sldId id="576" r:id="rId22"/>
    <p:sldId id="577" r:id="rId23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5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9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© Shamkant B. Navathe</a:t>
            </a:r>
          </a:p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C96D6-C8F7-4C32-9AA2-6BF4C34B36A6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493187" y="6371167"/>
            <a:ext cx="11135783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04" tIns="60952" rIns="121904" bIns="60952"/>
          <a:lstStyle/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</a:pPr>
            <a:endParaRPr lang="en-US" sz="4300" baseline="-2500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27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0"/>
            <a:ext cx="10515600" cy="10414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2" y="1155701"/>
            <a:ext cx="11099799" cy="5410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A8916FEE-7A26-42F3-99D1-9208733151A7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185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2"/>
            <a:ext cx="10617200" cy="10795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6600" y="1282703"/>
            <a:ext cx="5283200" cy="4970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33503"/>
            <a:ext cx="5181600" cy="4919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E1444DA8-889D-4499-94A7-885073F29CBC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892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88" y="139702"/>
            <a:ext cx="10515600" cy="10033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689" y="12620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1689" y="2235201"/>
            <a:ext cx="5157787" cy="3814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2747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260603"/>
            <a:ext cx="5183188" cy="38020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74220612-F9CC-4544-B51B-1C152B0C8099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493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836" y="2"/>
            <a:ext cx="3932237" cy="111369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9879" y="1266094"/>
            <a:ext cx="6185511" cy="459495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8556" y="1242647"/>
            <a:ext cx="4278923" cy="4626343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500"/>
            </a:lvl2pPr>
            <a:lvl3pPr marL="914354" indent="0">
              <a:buNone/>
              <a:defRPr sz="1200"/>
            </a:lvl3pPr>
            <a:lvl4pPr marL="1371532" indent="0">
              <a:buNone/>
              <a:defRPr sz="1100"/>
            </a:lvl4pPr>
            <a:lvl5pPr marL="1828709" indent="0">
              <a:buNone/>
              <a:defRPr sz="1100"/>
            </a:lvl5pPr>
            <a:lvl6pPr marL="2285886" indent="0">
              <a:buNone/>
              <a:defRPr sz="1100"/>
            </a:lvl6pPr>
            <a:lvl7pPr marL="2743062" indent="0">
              <a:buNone/>
              <a:defRPr sz="1100"/>
            </a:lvl7pPr>
            <a:lvl8pPr marL="3200240" indent="0">
              <a:buNone/>
              <a:defRPr sz="1100"/>
            </a:lvl8pPr>
            <a:lvl9pPr marL="3657418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14E47071-1705-42E1-A06A-E02AACAC3DBA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260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0"/>
            <a:ext cx="10617200" cy="10160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202" y="1130299"/>
            <a:ext cx="11087100" cy="5448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D2B044A6-BB09-4CB9-9D5E-A50A2A2FB080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453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1" y="1905000"/>
            <a:ext cx="12211051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defTabSz="914400">
              <a:buClr>
                <a:srgbClr val="FF0000"/>
              </a:buClr>
              <a:buFont typeface="Wingdings" pitchFamily="2" charset="2"/>
              <a:buNone/>
              <a:defRPr/>
            </a:pPr>
            <a:endParaRPr lang="ru-RU" sz="4300" baseline="-25000" dirty="0">
              <a:solidFill>
                <a:prstClr val="white"/>
              </a:solidFill>
            </a:endParaRPr>
          </a:p>
        </p:txBody>
      </p:sp>
      <p:sp>
        <p:nvSpPr>
          <p:cNvPr id="4" name="Прямоугольник 8"/>
          <p:cNvSpPr/>
          <p:nvPr/>
        </p:nvSpPr>
        <p:spPr>
          <a:xfrm>
            <a:off x="-19051" y="1"/>
            <a:ext cx="12211051" cy="4438651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-1" fmla="*/ 19050 w 12211050"/>
              <a:gd name="connsiteY0-2" fmla="*/ 0 h 4133850"/>
              <a:gd name="connsiteX1-3" fmla="*/ 12211050 w 12211050"/>
              <a:gd name="connsiteY1-4" fmla="*/ 0 h 4133850"/>
              <a:gd name="connsiteX2-5" fmla="*/ 12211050 w 12211050"/>
              <a:gd name="connsiteY2-6" fmla="*/ 4133850 h 4133850"/>
              <a:gd name="connsiteX3-7" fmla="*/ 0 w 12211050"/>
              <a:gd name="connsiteY3-8" fmla="*/ 3219450 h 4133850"/>
              <a:gd name="connsiteX4-9" fmla="*/ 19050 w 12211050"/>
              <a:gd name="connsiteY4-10" fmla="*/ 0 h 4133850"/>
              <a:gd name="connsiteX0-11" fmla="*/ 19050 w 12211050"/>
              <a:gd name="connsiteY0-12" fmla="*/ 0 h 4438650"/>
              <a:gd name="connsiteX1-13" fmla="*/ 12211050 w 12211050"/>
              <a:gd name="connsiteY1-14" fmla="*/ 0 h 4438650"/>
              <a:gd name="connsiteX2-15" fmla="*/ 12211050 w 12211050"/>
              <a:gd name="connsiteY2-16" fmla="*/ 4438650 h 4438650"/>
              <a:gd name="connsiteX3-17" fmla="*/ 0 w 12211050"/>
              <a:gd name="connsiteY3-18" fmla="*/ 3219450 h 4438650"/>
              <a:gd name="connsiteX4-19" fmla="*/ 19050 w 12211050"/>
              <a:gd name="connsiteY4-20" fmla="*/ 0 h 44386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defTabSz="914400">
              <a:buClr>
                <a:srgbClr val="FF0000"/>
              </a:buClr>
              <a:buFont typeface="Wingdings" pitchFamily="2" charset="2"/>
              <a:buNone/>
              <a:defRPr/>
            </a:pPr>
            <a:endParaRPr lang="ru-RU" sz="4300" baseline="-25000" dirty="0">
              <a:solidFill>
                <a:prstClr val="white"/>
              </a:solidFill>
            </a:endParaRPr>
          </a:p>
        </p:txBody>
      </p:sp>
      <p:sp>
        <p:nvSpPr>
          <p:cNvPr id="5" name="Прямоугольник 3"/>
          <p:cNvSpPr/>
          <p:nvPr/>
        </p:nvSpPr>
        <p:spPr>
          <a:xfrm>
            <a:off x="1085851" y="1009651"/>
            <a:ext cx="10020300" cy="523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defTabSz="914400">
              <a:buClr>
                <a:srgbClr val="FF0000"/>
              </a:buClr>
              <a:buFont typeface="Wingdings" pitchFamily="2" charset="2"/>
              <a:buNone/>
              <a:defRPr/>
            </a:pPr>
            <a:endParaRPr lang="ru-RU" sz="4300" baseline="-25000" dirty="0">
              <a:solidFill>
                <a:prstClr val="white"/>
              </a:solidFill>
            </a:endParaRPr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1" y="2819402"/>
            <a:ext cx="8496300" cy="28003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6673655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5D0073C8-0A48-4244-8E9D-08D8DD12C58D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36630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0" y="1447800"/>
            <a:ext cx="10972800" cy="4800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00"/>
            </a:lvl1pPr>
            <a:lvl2pPr>
              <a:defRPr sz="2000"/>
            </a:lvl2pPr>
            <a:lvl3pPr>
              <a:defRPr sz="19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422400" y="609600"/>
            <a:ext cx="10566400" cy="685800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buNone/>
              <a:defRPr sz="3200" b="1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5028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© Shamkant B. Navathe</a:t>
            </a:r>
          </a:p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C96D6-C8F7-4C32-9AA2-6BF4C34B36A6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493187" y="6371167"/>
            <a:ext cx="11135783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04" tIns="60952" rIns="121904" bIns="60952"/>
          <a:lstStyle/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</a:pPr>
            <a:endParaRPr lang="en-US" sz="4300" baseline="-2500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0"/>
            <a:ext cx="11061700" cy="10414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300" y="1231900"/>
            <a:ext cx="11049000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A8916FEE-7A26-42F3-99D1-9208733151A7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0"/>
            <a:ext cx="10617200" cy="10795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6600" y="1282700"/>
            <a:ext cx="5283200" cy="4970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33500"/>
            <a:ext cx="5181600" cy="4919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E1444DA8-889D-4499-94A7-885073F29CBC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88" y="139700"/>
            <a:ext cx="10515600" cy="10033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688" y="12620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1688" y="2235200"/>
            <a:ext cx="5157787" cy="3814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2747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60600"/>
            <a:ext cx="5183188" cy="38020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74220612-F9CC-4544-B51B-1C152B0C8099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834" y="0"/>
            <a:ext cx="3932237" cy="111369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9877" y="1266092"/>
            <a:ext cx="6185511" cy="459495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8554" y="1242646"/>
            <a:ext cx="4278923" cy="462634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14E47071-1705-42E1-A06A-E02AACAC3DBA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0"/>
            <a:ext cx="10617200" cy="10160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200" y="1257300"/>
            <a:ext cx="10680700" cy="48132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D2B044A6-BB09-4CB9-9D5E-A50A2A2FB080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5D0073C8-0A48-4244-8E9D-08D8DD12C58D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25822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-1" fmla="*/ 19050 w 12211050"/>
              <a:gd name="connsiteY0-2" fmla="*/ 0 h 4133850"/>
              <a:gd name="connsiteX1-3" fmla="*/ 12211050 w 12211050"/>
              <a:gd name="connsiteY1-4" fmla="*/ 0 h 4133850"/>
              <a:gd name="connsiteX2-5" fmla="*/ 12211050 w 12211050"/>
              <a:gd name="connsiteY2-6" fmla="*/ 4133850 h 4133850"/>
              <a:gd name="connsiteX3-7" fmla="*/ 0 w 12211050"/>
              <a:gd name="connsiteY3-8" fmla="*/ 3219450 h 4133850"/>
              <a:gd name="connsiteX4-9" fmla="*/ 19050 w 12211050"/>
              <a:gd name="connsiteY4-10" fmla="*/ 0 h 4133850"/>
              <a:gd name="connsiteX0-11" fmla="*/ 19050 w 12211050"/>
              <a:gd name="connsiteY0-12" fmla="*/ 0 h 4438650"/>
              <a:gd name="connsiteX1-13" fmla="*/ 12211050 w 12211050"/>
              <a:gd name="connsiteY1-14" fmla="*/ 0 h 4438650"/>
              <a:gd name="connsiteX2-15" fmla="*/ 12211050 w 12211050"/>
              <a:gd name="connsiteY2-16" fmla="*/ 4438650 h 4438650"/>
              <a:gd name="connsiteX3-17" fmla="*/ 0 w 12211050"/>
              <a:gd name="connsiteY3-18" fmla="*/ 3219450 h 4438650"/>
              <a:gd name="connsiteX4-19" fmla="*/ 19050 w 12211050"/>
              <a:gd name="connsiteY4-20" fmla="*/ 0 h 44386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ru-RU" noProof="0" dirty="0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0" y="1447800"/>
            <a:ext cx="10972800" cy="4800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00"/>
            </a:lvl1pPr>
            <a:lvl2pPr>
              <a:defRPr sz="2000"/>
            </a:lvl2pPr>
            <a:lvl3pPr>
              <a:defRPr sz="19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422400" y="609600"/>
            <a:ext cx="10566400" cy="685800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buNone/>
              <a:defRPr sz="3200" b="1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5028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6601" y="101600"/>
            <a:ext cx="11036299" cy="104140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599" y="1143002"/>
            <a:ext cx="11036300" cy="5310716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baseline="-25000" dirty="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baseline="-2500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altLang="en-US" baseline="-25000">
                <a:solidFill>
                  <a:prstClr val="black">
                    <a:tint val="75000"/>
                  </a:prstClr>
                </a:solidFill>
                <a:latin typeface="Times New Roman" pitchFamily="18" charset="0"/>
                <a:cs typeface="Times New Roman" pitchFamily="18" charset="0"/>
              </a:rPr>
              <a:t>Chapter 23-</a:t>
            </a:r>
            <a:fld id="{556D1AAB-69AF-4F0B-9C74-B602DBF2CC1B}" type="slidenum">
              <a:rPr lang="en-US" altLang="en-US" baseline="-25000" smtClean="0">
                <a:solidFill>
                  <a:prstClr val="black">
                    <a:tint val="75000"/>
                  </a:prstClr>
                </a:solidFill>
                <a:latin typeface="Times New Roman" pitchFamily="18" charset="0"/>
                <a:cs typeface="Times New Roman" pitchFamily="18" charset="0"/>
              </a:rPr>
              <a:pPr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buNone/>
                <a:defRPr/>
              </a:pPr>
              <a:t>‹#›</a:t>
            </a:fld>
            <a:endParaRPr lang="en-US" altLang="en-US" baseline="-2500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Line 23"/>
          <p:cNvSpPr>
            <a:spLocks noChangeShapeType="1"/>
          </p:cNvSpPr>
          <p:nvPr userDrawn="1"/>
        </p:nvSpPr>
        <p:spPr bwMode="auto">
          <a:xfrm flipH="1">
            <a:off x="406401" y="6453717"/>
            <a:ext cx="11804651" cy="0"/>
          </a:xfrm>
          <a:prstGeom prst="line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04" tIns="60952" rIns="121904" bIns="60952"/>
          <a:lstStyle/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</a:pPr>
            <a:endParaRPr lang="en-US" sz="4300" baseline="-2500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159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7" r:id="rId7"/>
    <p:sldLayoutId id="2147483738" r:id="rId8"/>
    <p:sldLayoutId id="2147483740" r:id="rId9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6600" y="101600"/>
            <a:ext cx="10617200" cy="1041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600" y="1270000"/>
            <a:ext cx="10617200" cy="497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baseline="-25000" dirty="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baseline="-2500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altLang="en-US" baseline="-25000">
                <a:solidFill>
                  <a:prstClr val="black">
                    <a:tint val="75000"/>
                  </a:prstClr>
                </a:solidFill>
                <a:latin typeface="Times New Roman" pitchFamily="18" charset="0"/>
                <a:cs typeface="Times New Roman" pitchFamily="18" charset="0"/>
              </a:rPr>
              <a:t>Chapter 23-</a:t>
            </a:r>
            <a:fld id="{556D1AAB-69AF-4F0B-9C74-B602DBF2CC1B}" type="slidenum">
              <a:rPr lang="en-US" altLang="en-US" baseline="-25000" smtClean="0">
                <a:solidFill>
                  <a:prstClr val="black">
                    <a:tint val="75000"/>
                  </a:prstClr>
                </a:solidFill>
                <a:latin typeface="Times New Roman" pitchFamily="18" charset="0"/>
                <a:cs typeface="Times New Roman" pitchFamily="18" charset="0"/>
              </a:rPr>
              <a:pPr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buNone/>
                <a:defRPr/>
              </a:pPr>
              <a:t>‹#›</a:t>
            </a:fld>
            <a:endParaRPr lang="en-US" altLang="en-US" baseline="-2500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Line 23"/>
          <p:cNvSpPr>
            <a:spLocks noChangeShapeType="1"/>
          </p:cNvSpPr>
          <p:nvPr userDrawn="1"/>
        </p:nvSpPr>
        <p:spPr bwMode="auto">
          <a:xfrm flipH="1">
            <a:off x="406401" y="6453717"/>
            <a:ext cx="11804651" cy="0"/>
          </a:xfrm>
          <a:prstGeom prst="line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04" tIns="60952" rIns="121904" bIns="60952"/>
          <a:lstStyle/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</a:pPr>
            <a:endParaRPr lang="en-US" sz="4300" baseline="-2500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tutorial.com/oracle-basics/oracle-insert-into-select/" TargetMode="External"/><Relationship Id="rId2" Type="http://schemas.openxmlformats.org/officeDocument/2006/relationships/hyperlink" Target="https://www.oracletutorial.com/plsql-tutorial/plsql-select-into/" TargetMode="Externa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www.oracletutorial.com/oracle-basics/oracle-delete/" TargetMode="External"/><Relationship Id="rId4" Type="http://schemas.openxmlformats.org/officeDocument/2006/relationships/hyperlink" Target="https://www.oracletutorial.com/oracle-basics/oracle-update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2.vml"/><Relationship Id="rId5" Type="http://schemas.openxmlformats.org/officeDocument/2006/relationships/hyperlink" Target="mailto:shaveta.e13464@cumail.in" TargetMode="Externa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233" y="5427133"/>
            <a:ext cx="12196233" cy="15176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2688" y="5903387"/>
            <a:ext cx="44449" cy="6117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sp>
        <p:nvSpPr>
          <p:cNvPr id="9220" name="Slide Number Placeholder 2"/>
          <p:cNvSpPr txBox="1">
            <a:spLocks/>
          </p:cNvSpPr>
          <p:nvPr/>
        </p:nvSpPr>
        <p:spPr bwMode="auto">
          <a:xfrm>
            <a:off x="8763000" y="6508754"/>
            <a:ext cx="2743200" cy="366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8" rIns="91432" bIns="45718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51435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3pPr>
            <a:lvl4pPr marL="120015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154305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00025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45745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291465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37185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Tx/>
              <a:buNone/>
            </a:pPr>
            <a:endParaRPr lang="en-US" altLang="en-US" sz="1200" baseline="-25000">
              <a:solidFill>
                <a:srgbClr val="898989"/>
              </a:solidFill>
              <a:cs typeface="Times New Roman" pitchFamily="18" charset="0"/>
            </a:endParaRPr>
          </a:p>
        </p:txBody>
      </p:sp>
      <p:sp>
        <p:nvSpPr>
          <p:cNvPr id="46" name="Right Triangle 45"/>
          <p:cNvSpPr/>
          <p:nvPr/>
        </p:nvSpPr>
        <p:spPr>
          <a:xfrm flipV="1">
            <a:off x="9508070" y="5941487"/>
            <a:ext cx="1291167" cy="115570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32" tIns="45718" rIns="91432" bIns="45718" anchor="ctr"/>
          <a:lstStyle/>
          <a:p>
            <a:pPr algn="ctr">
              <a:buClr>
                <a:srgbClr val="FF0000"/>
              </a:buClr>
              <a:buFont typeface="Wingdings" pitchFamily="2" charset="2"/>
              <a:buNone/>
              <a:defRPr/>
            </a:pPr>
            <a:endParaRPr lang="en-ID" kern="0" baseline="-25000">
              <a:solidFill>
                <a:srgbClr val="FFFFFF"/>
              </a:solidFill>
              <a:cs typeface="Times New Roman" pitchFamily="18" charset="0"/>
            </a:endParaRPr>
          </a:p>
        </p:txBody>
      </p:sp>
      <p:graphicFrame>
        <p:nvGraphicFramePr>
          <p:cNvPr id="9222" name="Object 47"/>
          <p:cNvGraphicFramePr>
            <a:graphicFrameLocks noChangeAspect="1"/>
          </p:cNvGraphicFramePr>
          <p:nvPr/>
        </p:nvGraphicFramePr>
        <p:xfrm>
          <a:off x="76200" y="3122085"/>
          <a:ext cx="3304117" cy="3147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5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122085"/>
                        <a:ext cx="3304117" cy="31474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/>
          <p:cNvSpPr/>
          <p:nvPr/>
        </p:nvSpPr>
        <p:spPr>
          <a:xfrm flipH="1">
            <a:off x="7046384" y="-65617"/>
            <a:ext cx="5145616" cy="5854701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32" tIns="45718" rIns="91432" bIns="45718" anchor="ctr"/>
          <a:lstStyle/>
          <a:p>
            <a:pPr algn="ctr">
              <a:buClr>
                <a:srgbClr val="FF0000"/>
              </a:buClr>
              <a:buFont typeface="Wingdings" pitchFamily="2" charset="2"/>
              <a:buNone/>
              <a:defRPr/>
            </a:pPr>
            <a:endParaRPr lang="en-ID" kern="0" baseline="-25000">
              <a:solidFill>
                <a:srgbClr val="FFFFFF"/>
              </a:solidFill>
              <a:cs typeface="Times New Roman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80" y="2025530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pic>
        <p:nvPicPr>
          <p:cNvPr id="9227" name="Picture 2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3" y="23284"/>
            <a:ext cx="3858684" cy="1538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ight Triangle 42"/>
          <p:cNvSpPr/>
          <p:nvPr/>
        </p:nvSpPr>
        <p:spPr>
          <a:xfrm rot="10800000" flipV="1">
            <a:off x="9829804" y="5334000"/>
            <a:ext cx="2366433" cy="16002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sp>
        <p:nvSpPr>
          <p:cNvPr id="9229" name="TextBox 35"/>
          <p:cNvSpPr txBox="1">
            <a:spLocks noChangeArrowheads="1"/>
          </p:cNvSpPr>
          <p:nvPr/>
        </p:nvSpPr>
        <p:spPr bwMode="auto">
          <a:xfrm>
            <a:off x="6881284" y="6019804"/>
            <a:ext cx="4927600" cy="46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8" rIns="91432" bIns="45718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Tx/>
              <a:buNone/>
            </a:pPr>
            <a:r>
              <a:rPr lang="en-US" altLang="en-US" sz="2000" b="1" baseline="-25000">
                <a:solidFill>
                  <a:srgbClr val="595959"/>
                </a:solidFill>
                <a:latin typeface="Casper"/>
                <a:ea typeface="Karla"/>
                <a:cs typeface="Karla"/>
              </a:rPr>
              <a:t>DISCOVER . </a:t>
            </a:r>
            <a:r>
              <a:rPr lang="en-US" altLang="en-US" sz="2000" b="1" baseline="-25000">
                <a:solidFill>
                  <a:srgbClr val="C00000"/>
                </a:solidFill>
                <a:latin typeface="Casper"/>
                <a:ea typeface="Karla"/>
                <a:cs typeface="Karla"/>
              </a:rPr>
              <a:t>LEARN</a:t>
            </a:r>
            <a:r>
              <a:rPr lang="en-US" altLang="en-US" sz="2000" b="1" baseline="-25000">
                <a:solidFill>
                  <a:srgbClr val="595959"/>
                </a:solidFill>
                <a:latin typeface="Casper"/>
                <a:ea typeface="Karla"/>
                <a:cs typeface="Karla"/>
              </a:rPr>
              <a:t> . EMPOWER</a:t>
            </a:r>
            <a:endParaRPr lang="en-US" altLang="en-US" sz="1200" b="1" baseline="-25000">
              <a:solidFill>
                <a:srgbClr val="000000"/>
              </a:solidFill>
              <a:latin typeface="Casper"/>
              <a:cs typeface="Times New Roman" pitchFamily="18" charset="0"/>
            </a:endParaRPr>
          </a:p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Tx/>
              <a:buNone/>
            </a:pPr>
            <a:endParaRPr lang="en-US" altLang="en-US" sz="1600" b="1" baseline="-25000">
              <a:solidFill>
                <a:prstClr val="black"/>
              </a:solidFill>
              <a:latin typeface="Casper"/>
              <a:cs typeface="Times New Roman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521" y="6043084"/>
            <a:ext cx="46567" cy="3704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sp>
        <p:nvSpPr>
          <p:cNvPr id="5135" name="TextBox 52"/>
          <p:cNvSpPr txBox="1">
            <a:spLocks noChangeArrowheads="1"/>
          </p:cNvSpPr>
          <p:nvPr/>
        </p:nvSpPr>
        <p:spPr bwMode="auto">
          <a:xfrm>
            <a:off x="455084" y="6028267"/>
            <a:ext cx="6432549" cy="387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8" rIns="91432" bIns="45718">
            <a:spAutoFit/>
          </a:bodyPr>
          <a:lstStyle>
            <a:lvl1pPr defTabSz="62230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6223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6223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6223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6223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6223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6223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6223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6223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  <a:defRPr/>
            </a:pPr>
            <a:r>
              <a:rPr lang="en-US" altLang="en-US" sz="3200" b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Cursor</a:t>
            </a:r>
          </a:p>
        </p:txBody>
      </p:sp>
      <p:sp>
        <p:nvSpPr>
          <p:cNvPr id="9232" name="TextBox 25"/>
          <p:cNvSpPr txBox="1">
            <a:spLocks noChangeArrowheads="1"/>
          </p:cNvSpPr>
          <p:nvPr/>
        </p:nvSpPr>
        <p:spPr bwMode="auto">
          <a:xfrm>
            <a:off x="497421" y="1462621"/>
            <a:ext cx="11104033" cy="3208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8" rIns="91432" bIns="45718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Tx/>
              <a:buNone/>
            </a:pPr>
            <a:r>
              <a:rPr lang="en-IN" altLang="en-US" sz="4800" b="1" baseline="-25000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APEX INSTITUTE OF TECHNOLOGY</a:t>
            </a:r>
            <a:endParaRPr lang="en-US" altLang="en-US" sz="4800" baseline="-25000" dirty="0">
              <a:solidFill>
                <a:prstClr val="black"/>
              </a:solidFill>
              <a:latin typeface="Cambria" pitchFamily="18" charset="0"/>
              <a:cs typeface="Times New Roman" pitchFamily="18" charset="0"/>
            </a:endParaRPr>
          </a:p>
          <a:p>
            <a:pPr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Tx/>
              <a:buNone/>
            </a:pPr>
            <a:r>
              <a:rPr lang="en-IN" altLang="en-US" sz="3200" b="1" baseline="-25000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DEPARTMENT OF COMPUTER SCIENCE &amp; ENGINEERING</a:t>
            </a:r>
            <a:endParaRPr lang="en-US" altLang="en-US" sz="3200" b="1" baseline="-25000" dirty="0">
              <a:solidFill>
                <a:prstClr val="black"/>
              </a:solidFill>
              <a:latin typeface="Cambria" pitchFamily="18" charset="0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</a:pPr>
            <a:endParaRPr lang="en-US" altLang="en-US" sz="3200" b="1" baseline="-25000" dirty="0">
              <a:solidFill>
                <a:prstClr val="black"/>
              </a:solidFill>
              <a:latin typeface="Cambria" pitchFamily="18" charset="0"/>
              <a:ea typeface="Calibri" pitchFamily="34" charset="0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</a:pPr>
            <a:endParaRPr lang="en-US" altLang="en-US" sz="3200" b="1" baseline="-25000" dirty="0">
              <a:solidFill>
                <a:prstClr val="black"/>
              </a:solidFill>
              <a:latin typeface="Cambria" pitchFamily="18" charset="0"/>
              <a:ea typeface="Calibri" pitchFamily="34" charset="0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</a:pPr>
            <a:r>
              <a:rPr lang="en-US" altLang="en-US" sz="4800" b="1" baseline="-25000" dirty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Database Management System (</a:t>
            </a:r>
            <a:r>
              <a:rPr lang="en-US" altLang="en-US" sz="4800" b="1" baseline="-25000" dirty="0" smtClean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22CSH-243</a:t>
            </a:r>
            <a:r>
              <a:rPr lang="en-US" altLang="en-US" sz="4800" b="1" baseline="-25000" dirty="0" smtClean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)</a:t>
            </a:r>
            <a:endParaRPr lang="en-US" altLang="en-US" sz="4800" b="1" baseline="-25000" dirty="0">
              <a:solidFill>
                <a:srgbClr val="262626"/>
              </a:solidFill>
              <a:latin typeface="Cambria" pitchFamily="18" charset="0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</a:pPr>
            <a:r>
              <a:rPr lang="en-US" altLang="en-US" sz="3700" b="1" baseline="-25000" dirty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Faculty: </a:t>
            </a:r>
            <a:r>
              <a:rPr lang="en-US" altLang="en-US" sz="3700" baseline="-25000" dirty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Ms. </a:t>
            </a:r>
            <a:r>
              <a:rPr lang="en-US" altLang="en-US" sz="3700" baseline="-25000" dirty="0" err="1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Shaveta</a:t>
            </a:r>
            <a:r>
              <a:rPr lang="en-US" altLang="en-US" sz="3700" baseline="-25000" dirty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 Jain</a:t>
            </a:r>
            <a:r>
              <a:rPr lang="en-US" altLang="en-US" sz="3700" dirty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 </a:t>
            </a:r>
            <a:r>
              <a:rPr lang="en-US" altLang="en-US" sz="3700" baseline="-25000" dirty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(E13464)</a:t>
            </a:r>
          </a:p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</a:pPr>
            <a:endParaRPr lang="en-US" altLang="en-US" sz="1600" baseline="-25000" dirty="0">
              <a:solidFill>
                <a:prstClr val="black"/>
              </a:solidFill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B4551E-6DCE-45DD-AA5D-A5BE73813C6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621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084" y="3"/>
            <a:ext cx="10515600" cy="1352551"/>
          </a:xfrm>
        </p:spPr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DBMS: Course Objectives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5BBA92-600E-410E-8319-D8C11B3452A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4484" y="1147235"/>
            <a:ext cx="11074400" cy="4036484"/>
          </a:xfrm>
          <a:prstGeom prst="rect">
            <a:avLst/>
          </a:prstGeom>
        </p:spPr>
        <p:txBody>
          <a:bodyPr lIns="91432" tIns="45718" rIns="91432" bIns="45718">
            <a:spAutoFit/>
          </a:bodyPr>
          <a:lstStyle/>
          <a:p>
            <a:pPr algn="just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sz="3700" b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COURSE OBJECTIVES</a:t>
            </a:r>
            <a:endParaRPr lang="en-US" sz="37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sz="3700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The Course aims to:</a:t>
            </a:r>
            <a:endParaRPr lang="en-US" sz="37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155" indent="-457155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IN" sz="3700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Understand database system concepts and design databases for different applications and to acquire the knowledge on DBMS and RDBMS.</a:t>
            </a:r>
            <a:endParaRPr lang="en-US" sz="37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155" indent="-457155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IN" sz="3700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Implement and understand different types of DDL, DML and DCL statements.</a:t>
            </a:r>
            <a:endParaRPr lang="en-US" sz="37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155" indent="-457155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IN" sz="3700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Understand transaction concepts related to databases and recovery/backup techniques required for the proper storage of data.</a:t>
            </a:r>
            <a:endParaRPr lang="en-US" sz="37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247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>
          <a:xfrm>
            <a:off x="709087" y="351368"/>
            <a:ext cx="11127316" cy="535517"/>
          </a:xfrm>
        </p:spPr>
        <p:txBody>
          <a:bodyPr rtlCol="0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COURSE OUTCOMES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E82911-6D97-47FF-B3A8-48569A1384A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6219" y="6324600"/>
            <a:ext cx="444500" cy="42333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sp>
        <p:nvSpPr>
          <p:cNvPr id="11270" name="Rectangle 3"/>
          <p:cNvSpPr>
            <a:spLocks noChangeArrowheads="1"/>
          </p:cNvSpPr>
          <p:nvPr/>
        </p:nvSpPr>
        <p:spPr bwMode="auto">
          <a:xfrm>
            <a:off x="721784" y="1172636"/>
            <a:ext cx="7747000" cy="474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2" tIns="45718" rIns="91432" bIns="45718">
            <a:spAutoFit/>
          </a:bodyPr>
          <a:lstStyle>
            <a:lvl1pPr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IN" altLang="en-US" sz="3700">
                <a:solidFill>
                  <a:prstClr val="black"/>
                </a:solidFill>
              </a:rPr>
              <a:t>On completion of this course, the students shall be able to:-</a:t>
            </a:r>
            <a:endParaRPr lang="en-US" altLang="en-US" sz="3700">
              <a:solidFill>
                <a:prstClr val="black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6084" y="1932517"/>
          <a:ext cx="10826749" cy="722437"/>
        </p:xfrm>
        <a:graphic>
          <a:graphicData uri="http://schemas.openxmlformats.org/drawingml/2006/table">
            <a:tbl>
              <a:tblPr/>
              <a:tblGrid>
                <a:gridCol w="941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88522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72243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N" alt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Arial" pitchFamily="34" charset="0"/>
                        </a:rPr>
                        <a:t>CO3</a:t>
                      </a:r>
                      <a:endParaRPr kumimoji="0" lang="en-US" altLang="en-US" sz="2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Arial" pitchFamily="34" charset="0"/>
                      </a:endParaRPr>
                    </a:p>
                  </a:txBody>
                  <a:tcPr marL="68591" marR="6859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itchFamily="34" charset="0"/>
                        <a:tabLst>
                          <a:tab pos="407988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tabLst>
                          <a:tab pos="407988" algn="l"/>
                        </a:tabLst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tabLst>
                          <a:tab pos="407988" algn="l"/>
                        </a:tabLst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25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07988" algn="l"/>
                        </a:tabLst>
                      </a:pPr>
                      <a:r>
                        <a:rPr kumimoji="0" lang="en-IN" alt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Arial" pitchFamily="34" charset="0"/>
                        </a:rPr>
                        <a:t>Apply relational algebra and relational calculus to query the database of organization</a:t>
                      </a:r>
                      <a:endParaRPr kumimoji="0" lang="en-US" altLang="en-US" sz="2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Arial" pitchFamily="34" charset="0"/>
                      </a:endParaRPr>
                    </a:p>
                  </a:txBody>
                  <a:tcPr marL="68591" marR="6859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4169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Lecture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048" y="1284243"/>
            <a:ext cx="10515600" cy="4210140"/>
          </a:xfrm>
        </p:spPr>
        <p:txBody>
          <a:bodyPr/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Concept of Cursors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Implicit cursor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Explicit cursor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Cursors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Oracle creates a memory area, known as the </a:t>
            </a:r>
            <a:r>
              <a:rPr lang="en-US" sz="2400" b="1" dirty="0"/>
              <a:t>context area</a:t>
            </a:r>
            <a:r>
              <a:rPr lang="en-US" sz="2400" dirty="0"/>
              <a:t>, for processing an SQL statement, which contains all the information needed for processing the statement.</a:t>
            </a:r>
          </a:p>
          <a:p>
            <a:pPr algn="just"/>
            <a:r>
              <a:rPr lang="en-US" sz="2400" dirty="0"/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cursor is a pointer to this context area.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PL/SQL controls the context area through a cursor.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cursor holds the rows (one or more) returned by a SQL statement.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set of rows the cursor holds is referred to as the 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active set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4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In simple words, </a:t>
            </a:r>
            <a:r>
              <a:rPr lang="en-US" sz="2400" b="1" u="sng" dirty="0">
                <a:solidFill>
                  <a:srgbClr val="00B050"/>
                </a:solidFill>
              </a:rPr>
              <a:t>A cursor is a pointer that points to a result of a query. </a:t>
            </a:r>
            <a:endParaRPr lang="en-US" sz="2400" b="1" u="sng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Cursor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There are two types of cursors:</a:t>
            </a:r>
          </a:p>
          <a:p>
            <a:pPr marL="914377" lvl="1" indent="-457189" algn="just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Implicit cursors</a:t>
            </a:r>
          </a:p>
          <a:p>
            <a:pPr marL="914377" lvl="1" indent="-457189" algn="just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Explicit cursors</a:t>
            </a:r>
          </a:p>
          <a:p>
            <a:endParaRPr lang="en-IN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85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Implicit cursors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cs typeface="Times New Roman" pitchFamily="18" charset="0"/>
              </a:rPr>
              <a:t>Implicit cursors are </a:t>
            </a:r>
            <a:r>
              <a:rPr lang="en-US" sz="2400" b="1" u="sng" dirty="0">
                <a:solidFill>
                  <a:srgbClr val="FF0000"/>
                </a:solidFill>
                <a:cs typeface="Times New Roman" pitchFamily="18" charset="0"/>
              </a:rPr>
              <a:t>automatically</a:t>
            </a:r>
            <a:r>
              <a:rPr lang="en-US" sz="2400" dirty="0">
                <a:cs typeface="Times New Roman" pitchFamily="18" charset="0"/>
              </a:rPr>
              <a:t> created by Oracle whenever an SQL statement is executed, when there is no explicit cursor for the statement. </a:t>
            </a:r>
          </a:p>
          <a:p>
            <a:pPr algn="just"/>
            <a:r>
              <a:rPr lang="en-US" sz="2400" dirty="0">
                <a:cs typeface="Times New Roman" pitchFamily="18" charset="0"/>
              </a:rPr>
              <a:t>Programmers cannot control the implicit cursors and the information in it.</a:t>
            </a:r>
          </a:p>
          <a:p>
            <a:pPr algn="just"/>
            <a:r>
              <a:rPr lang="en-US" sz="2400" dirty="0"/>
              <a:t>Whenever Oracle executes an SQL statement such as </a:t>
            </a:r>
            <a:r>
              <a:rPr lang="en-US" sz="2400" dirty="0">
                <a:hlinkClick r:id="rId2"/>
              </a:rPr>
              <a:t>SELECT INTO</a:t>
            </a:r>
            <a:r>
              <a:rPr lang="en-US" sz="2400" dirty="0"/>
              <a:t>, </a:t>
            </a:r>
            <a:r>
              <a:rPr lang="en-US" sz="2400" dirty="0">
                <a:hlinkClick r:id="rId3"/>
              </a:rPr>
              <a:t>INSERT</a:t>
            </a:r>
            <a:r>
              <a:rPr lang="en-US" sz="2400" dirty="0"/>
              <a:t>, </a:t>
            </a:r>
            <a:r>
              <a:rPr lang="en-US" sz="2400" dirty="0">
                <a:hlinkClick r:id="rId4"/>
              </a:rPr>
              <a:t>UPDATE</a:t>
            </a:r>
            <a:r>
              <a:rPr lang="en-US" sz="2400" dirty="0"/>
              <a:t>, and </a:t>
            </a:r>
            <a:r>
              <a:rPr lang="en-US" sz="2400" dirty="0">
                <a:hlinkClick r:id="rId5"/>
              </a:rPr>
              <a:t>DELETE</a:t>
            </a:r>
            <a:r>
              <a:rPr lang="en-US" sz="2400" dirty="0"/>
              <a:t>, it automatically creates an implicit cursor.</a:t>
            </a:r>
          </a:p>
          <a:p>
            <a:pPr algn="just"/>
            <a:r>
              <a:rPr lang="en-US" sz="2400" dirty="0"/>
              <a:t>Oracle internally manages the whole execution cycle of implicit cursors and reveals only the cursor’s information and statuses such as </a:t>
            </a:r>
            <a:r>
              <a:rPr lang="en-US" sz="2400" dirty="0">
                <a:solidFill>
                  <a:srgbClr val="FF0000"/>
                </a:solidFill>
              </a:rPr>
              <a:t>SQL%ROWCOUNT, SQL%ISOPEN, SQL%FOUND, and SQL%NOTFOUND</a:t>
            </a:r>
            <a:r>
              <a:rPr lang="en-US" sz="2400" dirty="0"/>
              <a:t>.</a:t>
            </a:r>
          </a:p>
          <a:p>
            <a:pPr algn="just"/>
            <a:r>
              <a:rPr lang="en-US" sz="2400" b="1" dirty="0">
                <a:solidFill>
                  <a:srgbClr val="FF0000"/>
                </a:solidFill>
              </a:rPr>
              <a:t>The implicit cursor is not elegant </a:t>
            </a:r>
            <a:r>
              <a:rPr lang="en-US" sz="2400" dirty="0"/>
              <a:t>when the query returns zero or multiple rows which cause NO_DATA_FOUND or TOO_MANY_ROWS exception respectively.</a:t>
            </a:r>
          </a:p>
          <a:p>
            <a:pPr algn="just"/>
            <a:endParaRPr lang="en-IN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Write PL/SQL code to UPDATE values in created tables by using </a:t>
            </a:r>
            <a:r>
              <a:rPr lang="en-US" sz="2400" u="sng" dirty="0">
                <a:solidFill>
                  <a:srgbClr val="FF0000"/>
                </a:solidFill>
              </a:rPr>
              <a:t>IMPLICIT CURSORS.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516" y="1270977"/>
            <a:ext cx="11049000" cy="5334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DECLARE</a:t>
            </a:r>
            <a:endParaRPr lang="en-IN" sz="2000" b="1" dirty="0"/>
          </a:p>
          <a:p>
            <a:pPr marL="0" indent="0">
              <a:buNone/>
            </a:pPr>
            <a:r>
              <a:rPr lang="en-US" sz="2000" dirty="0"/>
              <a:t>	VAR_ROWS NUMBER(5);</a:t>
            </a:r>
            <a:endParaRPr lang="en-IN" sz="2000" dirty="0"/>
          </a:p>
          <a:p>
            <a:pPr marL="0" indent="0">
              <a:buNone/>
            </a:pPr>
            <a:r>
              <a:rPr lang="en-US" sz="2000" b="1" dirty="0"/>
              <a:t>BEGIN</a:t>
            </a:r>
            <a:endParaRPr lang="en-IN" sz="2000" b="1" dirty="0"/>
          </a:p>
          <a:p>
            <a:pPr marL="0" indent="0">
              <a:buNone/>
            </a:pPr>
            <a:r>
              <a:rPr lang="en-US" sz="2000" dirty="0"/>
              <a:t>	UPDATE EMP SET SAL=SAL+100;</a:t>
            </a:r>
            <a:endParaRPr lang="en-IN" sz="2000" dirty="0"/>
          </a:p>
          <a:p>
            <a:pPr marL="0" indent="0">
              <a:buNone/>
            </a:pPr>
            <a:r>
              <a:rPr lang="en-US" sz="2000" dirty="0"/>
              <a:t> 	IF </a:t>
            </a:r>
            <a:r>
              <a:rPr lang="en-US" sz="2000" b="1" dirty="0">
                <a:solidFill>
                  <a:srgbClr val="FF0000"/>
                </a:solidFill>
              </a:rPr>
              <a:t>SQL%NOTFOUND</a:t>
            </a:r>
            <a:r>
              <a:rPr lang="en-US" sz="2000" dirty="0"/>
              <a:t> THEN</a:t>
            </a:r>
            <a:endParaRPr lang="en-IN" sz="2000" dirty="0"/>
          </a:p>
          <a:p>
            <a:pPr marL="0" indent="0">
              <a:buNone/>
            </a:pPr>
            <a:r>
              <a:rPr lang="en-US" sz="2000" dirty="0"/>
              <a:t>  	     DBMS_OUTPUT.PUT_LINE('NONE OF THE SALARIES WERE UPDATED');</a:t>
            </a:r>
            <a:endParaRPr lang="en-IN" sz="2000" dirty="0"/>
          </a:p>
          <a:p>
            <a:pPr marL="0" indent="0">
              <a:buNone/>
            </a:pPr>
            <a:r>
              <a:rPr lang="en-US" sz="2000" dirty="0"/>
              <a:t> 	ELSE IF </a:t>
            </a:r>
            <a:r>
              <a:rPr lang="en-US" sz="2000" b="1" dirty="0">
                <a:solidFill>
                  <a:srgbClr val="FF0000"/>
                </a:solidFill>
              </a:rPr>
              <a:t>SQL%FOUND</a:t>
            </a:r>
            <a:r>
              <a:rPr lang="en-US" sz="2000" dirty="0"/>
              <a:t> THEN</a:t>
            </a:r>
            <a:endParaRPr lang="en-IN" sz="2000" dirty="0"/>
          </a:p>
          <a:p>
            <a:pPr marL="0" indent="0">
              <a:buNone/>
            </a:pPr>
            <a:r>
              <a:rPr lang="en-US" sz="2000" dirty="0"/>
              <a:t>  		VAR_ROWS:=</a:t>
            </a:r>
            <a:r>
              <a:rPr lang="en-US" sz="2000" b="1" dirty="0">
                <a:solidFill>
                  <a:srgbClr val="FF0000"/>
                </a:solidFill>
              </a:rPr>
              <a:t>SQL%ROWCOUNT</a:t>
            </a:r>
            <a:r>
              <a:rPr lang="en-US" sz="2000" dirty="0"/>
              <a:t>;</a:t>
            </a:r>
            <a:endParaRPr lang="en-IN" sz="2000" dirty="0"/>
          </a:p>
          <a:p>
            <a:pPr marL="0" indent="0">
              <a:buNone/>
            </a:pPr>
            <a:r>
              <a:rPr lang="en-US" sz="2000" dirty="0"/>
              <a:t>  		</a:t>
            </a:r>
            <a:r>
              <a:rPr lang="en-US" sz="1900" dirty="0"/>
              <a:t>DBMS_OUTPUT.PUT_LINE('SALARIES FOR'||VAR_ROWS||'EMPLOYEES ARE UPDATED');</a:t>
            </a:r>
            <a:endParaRPr lang="en-IN" sz="1900" dirty="0"/>
          </a:p>
          <a:p>
            <a:pPr marL="0" indent="0">
              <a:buNone/>
            </a:pPr>
            <a:r>
              <a:rPr lang="en-US" sz="2000" dirty="0"/>
              <a:t> 	END IF ;</a:t>
            </a:r>
            <a:endParaRPr lang="en-IN" sz="2000" dirty="0"/>
          </a:p>
          <a:p>
            <a:pPr marL="0" indent="0">
              <a:buNone/>
            </a:pPr>
            <a:r>
              <a:rPr lang="en-US" sz="2000" dirty="0"/>
              <a:t>	END IF;</a:t>
            </a:r>
            <a:endParaRPr lang="en-IN" sz="2000" dirty="0"/>
          </a:p>
          <a:p>
            <a:pPr marL="0" indent="0">
              <a:buNone/>
            </a:pPr>
            <a:r>
              <a:rPr lang="en-US" sz="2000" b="1" dirty="0"/>
              <a:t>END;</a:t>
            </a:r>
            <a:endParaRPr lang="en-IN" sz="2000" b="1" dirty="0"/>
          </a:p>
          <a:p>
            <a:pPr marL="0" indent="0">
              <a:buNone/>
            </a:pPr>
            <a:r>
              <a:rPr lang="en-US" sz="2000" b="1" dirty="0"/>
              <a:t>/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568198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Explicit cursors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Explicit cursors are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programmer defined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cursors for gaining more control over the 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context area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 explicit cursor should be defined in the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declaration section of the PL/SQL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Block.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is created on a SELECT Statement which returns more than one row.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Working with an explicit cursor involves four steps:</a:t>
            </a:r>
          </a:p>
          <a:p>
            <a:pPr marL="914377" lvl="1" indent="-457189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Declaring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the cursor for initializing in the memory</a:t>
            </a:r>
          </a:p>
          <a:p>
            <a:pPr marL="914377" lvl="1" indent="-457189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Opening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the cursor for allocating memory</a:t>
            </a:r>
          </a:p>
          <a:p>
            <a:pPr marL="914377" lvl="1" indent="-457189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Fetching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the cursor for retrieving data</a:t>
            </a:r>
          </a:p>
          <a:p>
            <a:pPr marL="914377" lvl="1" indent="-457189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Closing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the cursor to release allocated memory</a:t>
            </a: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Oracle defines an execution cycle that executes an SQL statement and associates a cursor with it.</a:t>
            </a:r>
          </a:p>
          <a:p>
            <a:r>
              <a:rPr lang="en-US" dirty="0"/>
              <a:t>The following illustration shows the execution cycle of an explicit cursor: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39938" name="Picture 2" descr="PL/SQL Cursor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582" y="3082992"/>
            <a:ext cx="9996079" cy="262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468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Cursor Attribute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cursorname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%ROWCOUNT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	:Rows returned so far</a:t>
            </a:r>
          </a:p>
          <a:p>
            <a:pPr algn="just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cursorname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%FOUND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		:One or more rows retrieved</a:t>
            </a:r>
          </a:p>
          <a:p>
            <a:pPr algn="just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cursorname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%NOTFOUND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	:No rows found</a:t>
            </a:r>
          </a:p>
          <a:p>
            <a:pPr algn="just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Cursorname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%ISOPEN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		:Is the cursor open</a:t>
            </a: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Syntax: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300" dirty="0"/>
              <a:t>DECLARE</a:t>
            </a:r>
          </a:p>
          <a:p>
            <a:pPr marL="0" indent="0">
              <a:buNone/>
            </a:pPr>
            <a:r>
              <a:rPr lang="en-US" sz="2300" dirty="0"/>
              <a:t>	</a:t>
            </a:r>
            <a:r>
              <a:rPr lang="en-US" sz="2300" dirty="0">
                <a:solidFill>
                  <a:srgbClr val="FF0000"/>
                </a:solidFill>
              </a:rPr>
              <a:t>CURSOR</a:t>
            </a:r>
            <a:r>
              <a:rPr lang="en-US" sz="2300" dirty="0"/>
              <a:t> &lt;</a:t>
            </a:r>
            <a:r>
              <a:rPr lang="en-US" sz="2300" dirty="0" err="1"/>
              <a:t>cursor_name</a:t>
            </a:r>
            <a:r>
              <a:rPr lang="en-US" sz="2300" dirty="0"/>
              <a:t>&gt;</a:t>
            </a:r>
            <a:r>
              <a:rPr lang="en-US" sz="2300" b="1" dirty="0">
                <a:solidFill>
                  <a:srgbClr val="FF0000"/>
                </a:solidFill>
              </a:rPr>
              <a:t> IS </a:t>
            </a:r>
            <a:r>
              <a:rPr lang="en-US" sz="2300" dirty="0"/>
              <a:t>&lt;SELECT statement</a:t>
            </a:r>
            <a:r>
              <a:rPr lang="en-US" sz="2300" b="1" dirty="0"/>
              <a:t>&gt;;</a:t>
            </a:r>
          </a:p>
          <a:p>
            <a:pPr marL="0" indent="0">
              <a:buNone/>
            </a:pPr>
            <a:r>
              <a:rPr lang="en-US" sz="2300" dirty="0"/>
              <a:t>	</a:t>
            </a:r>
            <a:r>
              <a:rPr lang="en-US" sz="2300" dirty="0" err="1"/>
              <a:t>cursor_variable</a:t>
            </a:r>
            <a:r>
              <a:rPr lang="en-US" sz="2300" dirty="0"/>
              <a:t> declaration;</a:t>
            </a:r>
          </a:p>
          <a:p>
            <a:pPr marL="0" indent="0">
              <a:buNone/>
            </a:pPr>
            <a:r>
              <a:rPr lang="en-US" sz="2300" dirty="0"/>
              <a:t>BEGIN</a:t>
            </a:r>
          </a:p>
          <a:p>
            <a:pPr marL="0" indent="0">
              <a:buNone/>
            </a:pPr>
            <a:r>
              <a:rPr lang="en-US" sz="2300" dirty="0">
                <a:solidFill>
                  <a:srgbClr val="FF0000"/>
                </a:solidFill>
              </a:rPr>
              <a:t>	OPEN</a:t>
            </a:r>
            <a:r>
              <a:rPr lang="en-US" sz="2300" dirty="0"/>
              <a:t> &lt;</a:t>
            </a:r>
            <a:r>
              <a:rPr lang="en-US" sz="2300" dirty="0" err="1"/>
              <a:t>cursor_name</a:t>
            </a:r>
            <a:r>
              <a:rPr lang="en-US" sz="2300" dirty="0"/>
              <a:t>&gt;;</a:t>
            </a:r>
          </a:p>
          <a:p>
            <a:pPr marL="0" indent="0">
              <a:buNone/>
            </a:pPr>
            <a:r>
              <a:rPr lang="en-US" sz="2300" dirty="0">
                <a:solidFill>
                  <a:srgbClr val="FF0000"/>
                </a:solidFill>
              </a:rPr>
              <a:t>	FETCH</a:t>
            </a:r>
            <a:r>
              <a:rPr lang="en-US" sz="2300" dirty="0"/>
              <a:t> &lt;</a:t>
            </a:r>
            <a:r>
              <a:rPr lang="en-US" sz="2300" dirty="0" err="1"/>
              <a:t>cursor_name</a:t>
            </a:r>
            <a:r>
              <a:rPr lang="en-US" sz="2300" dirty="0"/>
              <a:t>&gt; INTO &lt;</a:t>
            </a:r>
            <a:r>
              <a:rPr lang="en-US" sz="2300" dirty="0" err="1"/>
              <a:t>cursor_variable</a:t>
            </a:r>
            <a:r>
              <a:rPr lang="en-US" sz="2300" dirty="0"/>
              <a:t>&gt;;</a:t>
            </a:r>
          </a:p>
          <a:p>
            <a:pPr marL="0" indent="0">
              <a:buNone/>
            </a:pPr>
            <a:r>
              <a:rPr lang="en-US" sz="2300" dirty="0"/>
              <a:t>	.</a:t>
            </a:r>
          </a:p>
          <a:p>
            <a:pPr marL="0" indent="0">
              <a:buNone/>
            </a:pPr>
            <a:r>
              <a:rPr lang="en-US" sz="2300" dirty="0"/>
              <a:t>	.</a:t>
            </a:r>
          </a:p>
          <a:p>
            <a:pPr marL="0" indent="0">
              <a:buNone/>
            </a:pPr>
            <a:r>
              <a:rPr lang="en-US" sz="2300" dirty="0">
                <a:solidFill>
                  <a:srgbClr val="FF0000"/>
                </a:solidFill>
              </a:rPr>
              <a:t>CLOSE</a:t>
            </a:r>
            <a:r>
              <a:rPr lang="en-US" sz="2300" dirty="0"/>
              <a:t> &lt;</a:t>
            </a:r>
            <a:r>
              <a:rPr lang="en-US" sz="2300" dirty="0" err="1"/>
              <a:t>cursor_name</a:t>
            </a:r>
            <a:r>
              <a:rPr lang="en-US" sz="2300" dirty="0"/>
              <a:t>&gt;;</a:t>
            </a:r>
          </a:p>
          <a:p>
            <a:pPr marL="0" indent="0">
              <a:buNone/>
            </a:pPr>
            <a:r>
              <a:rPr lang="en-US" sz="2300" dirty="0"/>
              <a:t>END;/</a:t>
            </a:r>
            <a:endParaRPr lang="en-IN" sz="2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74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700" dirty="0"/>
              <a:t>Write PL/SQL code to display Employee details using </a:t>
            </a:r>
            <a:r>
              <a:rPr lang="en-US" sz="2700" u="sng" dirty="0">
                <a:solidFill>
                  <a:srgbClr val="FF0000"/>
                </a:solidFill>
              </a:rPr>
              <a:t>EXPLICIT CURSORS</a:t>
            </a:r>
            <a:r>
              <a:rPr lang="en-US" sz="2700" dirty="0">
                <a:solidFill>
                  <a:srgbClr val="FF0000"/>
                </a:solidFill>
              </a:rPr>
              <a:t>.</a:t>
            </a:r>
            <a:endParaRPr lang="en-IN" sz="27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DECLARE</a:t>
            </a:r>
            <a:endParaRPr lang="en-IN" sz="2000" dirty="0"/>
          </a:p>
          <a:p>
            <a:pPr marL="0" indent="0">
              <a:buNone/>
            </a:pPr>
            <a:r>
              <a:rPr lang="en-US" sz="2000" b="1" dirty="0"/>
              <a:t>	</a:t>
            </a:r>
            <a:r>
              <a:rPr lang="en-US" sz="2000" b="1" dirty="0">
                <a:solidFill>
                  <a:srgbClr val="FF0000"/>
                </a:solidFill>
              </a:rPr>
              <a:t>CURSOR</a:t>
            </a:r>
            <a:r>
              <a:rPr lang="en-US" sz="2000" dirty="0"/>
              <a:t> </a:t>
            </a:r>
            <a:r>
              <a:rPr lang="en-US" sz="2000" b="1" dirty="0" err="1">
                <a:solidFill>
                  <a:srgbClr val="00B050"/>
                </a:solidFill>
              </a:rPr>
              <a:t>emp_cur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FF0000"/>
                </a:solidFill>
              </a:rPr>
              <a:t>IS</a:t>
            </a:r>
            <a:r>
              <a:rPr lang="en-US" sz="2000" dirty="0"/>
              <a:t> SELECT * FROM EMP;</a:t>
            </a:r>
            <a:endParaRPr lang="en-IN" sz="2000" dirty="0"/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b="1" dirty="0" err="1"/>
              <a:t>emp_rec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00B0F0"/>
                </a:solidFill>
              </a:rPr>
              <a:t>EMP%ROWTYPE</a:t>
            </a:r>
            <a:r>
              <a:rPr lang="en-US" sz="2000" dirty="0">
                <a:solidFill>
                  <a:srgbClr val="FF0000"/>
                </a:solidFill>
              </a:rPr>
              <a:t>;</a:t>
            </a:r>
            <a:endParaRPr lang="en-IN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000" dirty="0"/>
              <a:t>BEGIN</a:t>
            </a:r>
            <a:endParaRPr lang="en-IN" sz="2000" dirty="0"/>
          </a:p>
          <a:p>
            <a:pPr marL="0" indent="0">
              <a:buNone/>
            </a:pPr>
            <a:r>
              <a:rPr lang="en-US" sz="2000" b="1" dirty="0"/>
              <a:t>  </a:t>
            </a:r>
            <a:r>
              <a:rPr lang="en-US" sz="2000" b="1" dirty="0">
                <a:solidFill>
                  <a:srgbClr val="FF0000"/>
                </a:solidFill>
              </a:rPr>
              <a:t>OPEN </a:t>
            </a:r>
            <a:r>
              <a:rPr lang="en-US" sz="2000" b="1" dirty="0" err="1">
                <a:solidFill>
                  <a:srgbClr val="00B050"/>
                </a:solidFill>
              </a:rPr>
              <a:t>emp_cur</a:t>
            </a:r>
            <a:r>
              <a:rPr lang="en-US" sz="2000" b="1" dirty="0">
                <a:solidFill>
                  <a:srgbClr val="FF0000"/>
                </a:solidFill>
              </a:rPr>
              <a:t>;</a:t>
            </a:r>
            <a:endParaRPr lang="en-IN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b="1" dirty="0"/>
              <a:t>LOOP</a:t>
            </a:r>
            <a:endParaRPr lang="en-IN" sz="2000" b="1" dirty="0"/>
          </a:p>
          <a:p>
            <a:pPr marL="0" indent="0">
              <a:buNone/>
            </a:pPr>
            <a:r>
              <a:rPr lang="en-US" sz="2000" b="1" dirty="0"/>
              <a:t>         </a:t>
            </a:r>
            <a:r>
              <a:rPr lang="en-US" sz="2000" b="1" dirty="0">
                <a:solidFill>
                  <a:srgbClr val="FF0000"/>
                </a:solidFill>
              </a:rPr>
              <a:t>FETCH</a:t>
            </a:r>
            <a:r>
              <a:rPr lang="en-US" sz="2000" dirty="0"/>
              <a:t> </a:t>
            </a:r>
            <a:r>
              <a:rPr lang="en-US" sz="2000" b="1" dirty="0" err="1">
                <a:solidFill>
                  <a:srgbClr val="00B050"/>
                </a:solidFill>
              </a:rPr>
              <a:t>emp_cur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FF0000"/>
                </a:solidFill>
              </a:rPr>
              <a:t>INTO</a:t>
            </a:r>
            <a:r>
              <a:rPr lang="en-US" sz="2000" dirty="0"/>
              <a:t> </a:t>
            </a:r>
            <a:r>
              <a:rPr lang="en-US" sz="2000" b="1" dirty="0" err="1"/>
              <a:t>emp_rec</a:t>
            </a:r>
            <a:r>
              <a:rPr lang="en-US" sz="2000" dirty="0"/>
              <a:t>;</a:t>
            </a:r>
            <a:endParaRPr lang="en-IN" sz="2000" dirty="0"/>
          </a:p>
          <a:p>
            <a:pPr marL="0" indent="0">
              <a:buNone/>
            </a:pPr>
            <a:r>
              <a:rPr lang="en-US" sz="2000" dirty="0"/>
              <a:t>         </a:t>
            </a:r>
            <a:r>
              <a:rPr lang="en-US" sz="2000" b="1" dirty="0"/>
              <a:t>EXIT</a:t>
            </a:r>
            <a:r>
              <a:rPr lang="en-US" sz="2000" dirty="0"/>
              <a:t> WHEN </a:t>
            </a:r>
            <a:r>
              <a:rPr lang="en-US" sz="2000" b="1" dirty="0" err="1">
                <a:solidFill>
                  <a:srgbClr val="00B050"/>
                </a:solidFill>
              </a:rPr>
              <a:t>emp_cur</a:t>
            </a:r>
            <a:r>
              <a:rPr lang="en-US" sz="2000" b="1" dirty="0" err="1">
                <a:solidFill>
                  <a:srgbClr val="FF0000"/>
                </a:solidFill>
              </a:rPr>
              <a:t>%NOTFOUND</a:t>
            </a:r>
            <a:r>
              <a:rPr lang="en-US" sz="2000" dirty="0">
                <a:solidFill>
                  <a:srgbClr val="FF0000"/>
                </a:solidFill>
              </a:rPr>
              <a:t>;</a:t>
            </a:r>
            <a:endParaRPr lang="en-IN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000" dirty="0"/>
              <a:t>         </a:t>
            </a:r>
            <a:r>
              <a:rPr lang="en-US" sz="1900" dirty="0"/>
              <a:t>DBMS_OUTPUT.PUT_LINE(</a:t>
            </a:r>
            <a:r>
              <a:rPr lang="en-US" sz="1900" b="1" dirty="0" err="1"/>
              <a:t>emp_rec</a:t>
            </a:r>
            <a:r>
              <a:rPr lang="en-US" sz="2000" b="1" dirty="0" err="1">
                <a:solidFill>
                  <a:srgbClr val="FF0000"/>
                </a:solidFill>
              </a:rPr>
              <a:t>.</a:t>
            </a:r>
            <a:r>
              <a:rPr lang="en-US" sz="1900" dirty="0" err="1"/>
              <a:t>EMPNO</a:t>
            </a:r>
            <a:r>
              <a:rPr lang="en-US" sz="1900" dirty="0"/>
              <a:t>||' '||</a:t>
            </a:r>
            <a:r>
              <a:rPr lang="en-US" sz="1900" b="1" dirty="0" err="1"/>
              <a:t>emp_rec</a:t>
            </a:r>
            <a:r>
              <a:rPr lang="en-US" sz="2000" b="1" dirty="0" err="1">
                <a:solidFill>
                  <a:srgbClr val="FF0000"/>
                </a:solidFill>
              </a:rPr>
              <a:t>.</a:t>
            </a:r>
            <a:r>
              <a:rPr lang="en-US" sz="1900" dirty="0" err="1"/>
              <a:t>ENAME</a:t>
            </a:r>
            <a:r>
              <a:rPr lang="en-US" sz="1900" dirty="0"/>
              <a:t>||' '||</a:t>
            </a:r>
            <a:r>
              <a:rPr lang="en-US" sz="1900" b="1" dirty="0" err="1"/>
              <a:t>emp_rec</a:t>
            </a:r>
            <a:r>
              <a:rPr lang="en-US" sz="1900" b="1" dirty="0" err="1">
                <a:solidFill>
                  <a:srgbClr val="FF0000"/>
                </a:solidFill>
              </a:rPr>
              <a:t>.</a:t>
            </a:r>
            <a:r>
              <a:rPr lang="en-US" sz="1900" dirty="0" err="1"/>
              <a:t>SAL</a:t>
            </a:r>
            <a:r>
              <a:rPr lang="en-US" sz="1900" dirty="0"/>
              <a:t>);</a:t>
            </a:r>
            <a:endParaRPr lang="en-IN" sz="1900" dirty="0"/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b="1" dirty="0"/>
              <a:t>END LOOP;</a:t>
            </a:r>
            <a:endParaRPr lang="en-IN" sz="2000" b="1" dirty="0"/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 CLOSE EMP_CUR;</a:t>
            </a:r>
            <a:endParaRPr lang="en-IN" sz="20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000" dirty="0"/>
              <a:t>END;</a:t>
            </a:r>
            <a:r>
              <a:rPr lang="en-IN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70842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PL/SQL Control Structure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cs typeface="Times New Roman" pitchFamily="18" charset="0"/>
              </a:rPr>
              <a:t>	DECLARE</a:t>
            </a:r>
            <a:br>
              <a:rPr lang="en-US" sz="2000" dirty="0">
                <a:latin typeface="Consolas" panose="020B0609020204030204" pitchFamily="49" charset="0"/>
                <a:cs typeface="Times New Roman" pitchFamily="18" charset="0"/>
              </a:rPr>
            </a:br>
            <a:r>
              <a:rPr lang="en-US" sz="2000" dirty="0">
                <a:latin typeface="Consolas" panose="020B0609020204030204" pitchFamily="49" charset="0"/>
                <a:cs typeface="Times New Roman" pitchFamily="18" charset="0"/>
              </a:rPr>
              <a:t>     name varchar2(20);  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cs typeface="Times New Roman" pitchFamily="18" charset="0"/>
              </a:rPr>
              <a:t>      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Times New Roman" pitchFamily="18" charset="0"/>
              </a:rPr>
              <a:t>Cursor</a:t>
            </a:r>
            <a:r>
              <a:rPr lang="en-US" sz="2000" dirty="0">
                <a:latin typeface="Consolas" panose="020B0609020204030204" pitchFamily="49" charset="0"/>
                <a:cs typeface="Times New Roman" pitchFamily="18" charset="0"/>
              </a:rPr>
              <a:t> c1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Times New Roman" pitchFamily="18" charset="0"/>
              </a:rPr>
              <a:t>IS</a:t>
            </a:r>
            <a:r>
              <a:rPr lang="en-US" sz="2000" dirty="0">
                <a:latin typeface="Consolas" panose="020B0609020204030204" pitchFamily="49" charset="0"/>
                <a:cs typeface="Times New Roman" pitchFamily="18" charset="0"/>
              </a:rPr>
              <a:t> select </a:t>
            </a:r>
            <a:r>
              <a:rPr lang="en-US" sz="20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itchFamily="18" charset="0"/>
              </a:rPr>
              <a:t>t.name</a:t>
            </a:r>
            <a:r>
              <a:rPr lang="en-US" sz="2000" dirty="0">
                <a:latin typeface="Consolas" panose="020B0609020204030204" pitchFamily="49" charset="0"/>
                <a:cs typeface="Times New Roman" pitchFamily="18" charset="0"/>
              </a:rPr>
              <a:t> from table t where date is not null;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cs typeface="Times New Roman" pitchFamily="18" charset="0"/>
              </a:rPr>
              <a:t>  BEGIN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cs typeface="Times New Roman" pitchFamily="18" charset="0"/>
              </a:rPr>
              <a:t>      	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Times New Roman" pitchFamily="18" charset="0"/>
              </a:rPr>
              <a:t>OPEN c1</a:t>
            </a:r>
            <a:r>
              <a:rPr lang="en-US" sz="2000" dirty="0">
                <a:latin typeface="Consolas" panose="020B0609020204030204" pitchFamily="49" charset="0"/>
                <a:cs typeface="Times New Roman" pitchFamily="18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cs typeface="Times New Roman" pitchFamily="18" charset="0"/>
              </a:rPr>
              <a:t>	     LOOP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cs typeface="Times New Roman" pitchFamily="18" charset="0"/>
              </a:rPr>
              <a:t>        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Times New Roman" pitchFamily="18" charset="0"/>
              </a:rPr>
              <a:t>FETCH c1 </a:t>
            </a:r>
            <a:r>
              <a:rPr lang="en-US" sz="2000" dirty="0">
                <a:latin typeface="Consolas" panose="020B0609020204030204" pitchFamily="49" charset="0"/>
                <a:cs typeface="Times New Roman" pitchFamily="18" charset="0"/>
              </a:rPr>
              <a:t>into name;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cs typeface="Times New Roman" pitchFamily="18" charset="0"/>
              </a:rPr>
              <a:t>         EXIT WHEN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Times New Roman" pitchFamily="18" charset="0"/>
              </a:rPr>
              <a:t>c1%NOTFOUND</a:t>
            </a:r>
            <a:r>
              <a:rPr lang="en-US" sz="2000" dirty="0">
                <a:latin typeface="Consolas" panose="020B0609020204030204" pitchFamily="49" charset="0"/>
                <a:cs typeface="Times New Roman" pitchFamily="18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cs typeface="Times New Roman" pitchFamily="18" charset="0"/>
              </a:rPr>
              <a:t>       END LOOP;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cs typeface="Times New Roman" pitchFamily="18" charset="0"/>
              </a:rPr>
              <a:t>      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Times New Roman" pitchFamily="18" charset="0"/>
              </a:rPr>
              <a:t>CLOSE c1</a:t>
            </a:r>
            <a:r>
              <a:rPr lang="en-US" sz="2000" dirty="0">
                <a:latin typeface="Consolas" panose="020B0609020204030204" pitchFamily="49" charset="0"/>
                <a:cs typeface="Times New Roman" pitchFamily="18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cs typeface="Times New Roman" pitchFamily="18" charset="0"/>
              </a:rPr>
              <a:t>  END;</a:t>
            </a:r>
            <a:r>
              <a:rPr lang="en-US" sz="2000" dirty="0">
                <a:latin typeface="Consolas" panose="020B0609020204030204" pitchFamily="49" charset="0"/>
              </a:rPr>
              <a:t>/</a:t>
            </a:r>
            <a:endParaRPr lang="en-US" sz="2000" dirty="0">
              <a:latin typeface="Consolas" panose="020B0609020204030204" pitchFamily="49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72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%TYPE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Attribute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Declare a variable according to: 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A database column definition 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Another previously declared variable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– Prefix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%TYPE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with: 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The database table and column 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The previously declared variable name</a:t>
            </a:r>
          </a:p>
          <a:p>
            <a:pPr algn="just"/>
            <a:endParaRPr lang="en-US" dirty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90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%TYPE (</a:t>
            </a:r>
            <a:r>
              <a:rPr lang="en-IN" dirty="0" err="1">
                <a:solidFill>
                  <a:srgbClr val="FF0000"/>
                </a:solidFill>
              </a:rPr>
              <a:t>table.col%TYPE</a:t>
            </a:r>
            <a:r>
              <a:rPr lang="en-IN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Consolas" panose="020B0609020204030204" pitchFamily="49" charset="0"/>
                <a:cs typeface="Times New Roman" pitchFamily="18" charset="0"/>
              </a:rPr>
              <a:t>	DECLARE</a:t>
            </a:r>
            <a:br>
              <a:rPr lang="en-US" dirty="0">
                <a:latin typeface="Consolas" panose="020B0609020204030204" pitchFamily="49" charset="0"/>
                <a:cs typeface="Times New Roman" pitchFamily="18" charset="0"/>
              </a:rPr>
            </a:br>
            <a:r>
              <a:rPr lang="en-US" dirty="0">
                <a:latin typeface="Consolas" panose="020B0609020204030204" pitchFamily="49" charset="0"/>
                <a:cs typeface="Times New Roman" pitchFamily="18" charset="0"/>
              </a:rPr>
              <a:t>     </a:t>
            </a:r>
            <a:r>
              <a:rPr lang="en-US" dirty="0" err="1">
                <a:latin typeface="Consolas" panose="020B0609020204030204" pitchFamily="49" charset="0"/>
                <a:cs typeface="Times New Roman" pitchFamily="18" charset="0"/>
              </a:rPr>
              <a:t>vname</a:t>
            </a:r>
            <a:r>
              <a:rPr lang="en-US" dirty="0">
                <a:latin typeface="Consolas" panose="020B0609020204030204" pitchFamily="49" charset="0"/>
                <a:cs typeface="Times New Roman" pitchFamily="18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Times New Roman" pitchFamily="18" charset="0"/>
              </a:rPr>
              <a:t>emp.name</a:t>
            </a:r>
            <a:r>
              <a:rPr lang="en-US" b="1" dirty="0" err="1">
                <a:latin typeface="Consolas" panose="020B0609020204030204" pitchFamily="49" charset="0"/>
                <a:cs typeface="Times New Roman" pitchFamily="18" charset="0"/>
              </a:rPr>
              <a:t>%TYPE</a:t>
            </a:r>
            <a:r>
              <a:rPr lang="en-US" b="1" dirty="0">
                <a:latin typeface="Consolas" panose="020B0609020204030204" pitchFamily="49" charset="0"/>
                <a:cs typeface="Times New Roman" pitchFamily="18" charset="0"/>
              </a:rPr>
              <a:t>;  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Consolas" panose="020B0609020204030204" pitchFamily="49" charset="0"/>
                <a:cs typeface="Times New Roman" pitchFamily="18" charset="0"/>
              </a:rPr>
              <a:t>    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Times New Roman" pitchFamily="18" charset="0"/>
              </a:rPr>
              <a:t>Cursor</a:t>
            </a:r>
            <a:r>
              <a:rPr lang="en-US" dirty="0">
                <a:latin typeface="Consolas" panose="020B0609020204030204" pitchFamily="49" charset="0"/>
                <a:cs typeface="Times New Roman" pitchFamily="18" charset="0"/>
              </a:rPr>
              <a:t> c1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Times New Roman" pitchFamily="18" charset="0"/>
              </a:rPr>
              <a:t>IS</a:t>
            </a:r>
            <a:r>
              <a:rPr lang="en-US" dirty="0">
                <a:latin typeface="Consolas" panose="020B0609020204030204" pitchFamily="49" charset="0"/>
                <a:cs typeface="Times New Roman" pitchFamily="18" charset="0"/>
              </a:rPr>
              <a:t> select t.name from table t where date is not null;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Consolas" panose="020B0609020204030204" pitchFamily="49" charset="0"/>
                <a:cs typeface="Times New Roman" pitchFamily="18" charset="0"/>
              </a:rPr>
              <a:t>  BEGIN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Consolas" panose="020B0609020204030204" pitchFamily="49" charset="0"/>
                <a:cs typeface="Times New Roman" pitchFamily="18" charset="0"/>
              </a:rPr>
              <a:t>      	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Times New Roman" pitchFamily="18" charset="0"/>
              </a:rPr>
              <a:t>OPEN c1</a:t>
            </a:r>
            <a:r>
              <a:rPr lang="en-US" dirty="0">
                <a:latin typeface="Consolas" panose="020B0609020204030204" pitchFamily="49" charset="0"/>
                <a:cs typeface="Times New Roman" pitchFamily="18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Consolas" panose="020B0609020204030204" pitchFamily="49" charset="0"/>
                <a:cs typeface="Times New Roman" pitchFamily="18" charset="0"/>
              </a:rPr>
              <a:t>	     LOOP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Consolas" panose="020B0609020204030204" pitchFamily="49" charset="0"/>
                <a:cs typeface="Times New Roman" pitchFamily="18" charset="0"/>
              </a:rPr>
              <a:t>      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Times New Roman" pitchFamily="18" charset="0"/>
              </a:rPr>
              <a:t>FETCH c1 </a:t>
            </a:r>
            <a:r>
              <a:rPr lang="en-US" dirty="0">
                <a:latin typeface="Consolas" panose="020B0609020204030204" pitchFamily="49" charset="0"/>
                <a:cs typeface="Times New Roman" pitchFamily="18" charset="0"/>
              </a:rPr>
              <a:t>into </a:t>
            </a:r>
            <a:r>
              <a:rPr lang="en-US" dirty="0" err="1">
                <a:latin typeface="Consolas" panose="020B0609020204030204" pitchFamily="49" charset="0"/>
                <a:cs typeface="Times New Roman" pitchFamily="18" charset="0"/>
              </a:rPr>
              <a:t>vname</a:t>
            </a:r>
            <a:r>
              <a:rPr lang="en-US" dirty="0">
                <a:latin typeface="Consolas" panose="020B0609020204030204" pitchFamily="49" charset="0"/>
                <a:cs typeface="Times New Roman" pitchFamily="18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Consolas" panose="020B0609020204030204" pitchFamily="49" charset="0"/>
                <a:cs typeface="Times New Roman" pitchFamily="18" charset="0"/>
              </a:rPr>
              <a:t>         EXIT WHEN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Times New Roman" pitchFamily="18" charset="0"/>
              </a:rPr>
              <a:t>c1%NOTFOUND</a:t>
            </a:r>
            <a:r>
              <a:rPr lang="en-US" dirty="0">
                <a:latin typeface="Consolas" panose="020B0609020204030204" pitchFamily="49" charset="0"/>
                <a:cs typeface="Times New Roman" pitchFamily="18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Consolas" panose="020B0609020204030204" pitchFamily="49" charset="0"/>
                <a:cs typeface="Times New Roman" pitchFamily="18" charset="0"/>
              </a:rPr>
              <a:t>       END LOOP;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Consolas" panose="020B0609020204030204" pitchFamily="49" charset="0"/>
                <a:cs typeface="Times New Roman" pitchFamily="18" charset="0"/>
              </a:rPr>
              <a:t>    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Times New Roman" pitchFamily="18" charset="0"/>
              </a:rPr>
              <a:t>CLOSE c1</a:t>
            </a:r>
            <a:r>
              <a:rPr lang="en-US" dirty="0">
                <a:latin typeface="Consolas" panose="020B0609020204030204" pitchFamily="49" charset="0"/>
                <a:cs typeface="Times New Roman" pitchFamily="18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Consolas" panose="020B0609020204030204" pitchFamily="49" charset="0"/>
                <a:cs typeface="Times New Roman" pitchFamily="18" charset="0"/>
              </a:rPr>
              <a:t>  END;</a:t>
            </a:r>
            <a:r>
              <a:rPr lang="en-US" dirty="0">
                <a:latin typeface="Consolas" panose="020B0609020204030204" pitchFamily="49" charset="0"/>
              </a:rPr>
              <a:t>/</a:t>
            </a:r>
            <a:endParaRPr lang="en-US" dirty="0">
              <a:latin typeface="Consolas" panose="020B0609020204030204" pitchFamily="49" charset="0"/>
              <a:cs typeface="Times New Roman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711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2400" dirty="0"/>
              <a:t>Write a procedure to retrieve the salary of a particular employee.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DECLARE</a:t>
            </a:r>
          </a:p>
          <a:p>
            <a:pPr marL="0" indent="0">
              <a:buNone/>
            </a:pPr>
            <a:r>
              <a:rPr lang="en-IN" sz="2400" dirty="0"/>
              <a:t>        vid </a:t>
            </a:r>
            <a:r>
              <a:rPr lang="en-IN" sz="2400" dirty="0" err="1"/>
              <a:t>emp.eid%TYPE</a:t>
            </a:r>
            <a:r>
              <a:rPr lang="en-IN" sz="2400" dirty="0"/>
              <a:t>;      </a:t>
            </a:r>
          </a:p>
          <a:p>
            <a:pPr marL="0" indent="0">
              <a:buNone/>
            </a:pPr>
            <a:r>
              <a:rPr lang="en-IN" sz="2400" dirty="0"/>
              <a:t>	</a:t>
            </a:r>
            <a:r>
              <a:rPr lang="en-IN" sz="2400" dirty="0" err="1"/>
              <a:t>vsal</a:t>
            </a:r>
            <a:r>
              <a:rPr lang="en-IN" sz="2400" dirty="0"/>
              <a:t> EMP.SALARY%TYPE;</a:t>
            </a:r>
          </a:p>
          <a:p>
            <a:pPr marL="0" indent="0">
              <a:buNone/>
            </a:pPr>
            <a:r>
              <a:rPr lang="en-IN" sz="2400" dirty="0"/>
              <a:t>BEGIN</a:t>
            </a:r>
          </a:p>
          <a:p>
            <a:pPr marL="0" indent="0">
              <a:buNone/>
            </a:pPr>
            <a:r>
              <a:rPr lang="en-IN" sz="2400" dirty="0"/>
              <a:t>         vid:='e101' ;    </a:t>
            </a:r>
          </a:p>
          <a:p>
            <a:pPr marL="0" indent="0">
              <a:buNone/>
            </a:pPr>
            <a:r>
              <a:rPr lang="en-IN" sz="2400" dirty="0"/>
              <a:t>           --vid = &amp;vid ; </a:t>
            </a:r>
          </a:p>
          <a:p>
            <a:pPr marL="0" indent="0">
              <a:buNone/>
            </a:pPr>
            <a:r>
              <a:rPr lang="en-IN" sz="2400" dirty="0"/>
              <a:t>	SELECT SALARY INTO </a:t>
            </a:r>
            <a:r>
              <a:rPr lang="en-IN" sz="2400" dirty="0" err="1"/>
              <a:t>vsal</a:t>
            </a:r>
            <a:r>
              <a:rPr lang="en-IN" sz="2400" dirty="0"/>
              <a:t> FROM EMP WHERE </a:t>
            </a:r>
            <a:r>
              <a:rPr lang="en-IN" sz="2400" dirty="0" err="1"/>
              <a:t>eid</a:t>
            </a:r>
            <a:r>
              <a:rPr lang="en-IN" sz="2400" dirty="0"/>
              <a:t> = vid;</a:t>
            </a:r>
          </a:p>
          <a:p>
            <a:pPr marL="0" indent="0">
              <a:buNone/>
            </a:pPr>
            <a:r>
              <a:rPr lang="en-IN" sz="2400" dirty="0"/>
              <a:t>        DBMS_OUTPUT.PUT_LINE('SALARY OF '|| vid || ' IS '|| VSAL);</a:t>
            </a:r>
          </a:p>
          <a:p>
            <a:pPr marL="0" indent="0">
              <a:buNone/>
            </a:pPr>
            <a:r>
              <a:rPr lang="en-IN" sz="2400" dirty="0"/>
              <a:t>END;/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97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%ROWTYPE: Using Explicit Cursor</a:t>
            </a:r>
          </a:p>
        </p:txBody>
      </p:sp>
      <p:pic>
        <p:nvPicPr>
          <p:cNvPr id="6" name="Content Placeholder 5" descr="10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 r="30309"/>
          <a:stretch/>
        </p:blipFill>
        <p:spPr>
          <a:xfrm>
            <a:off x="680660" y="1236371"/>
            <a:ext cx="9545165" cy="5417935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46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Content Placeholder 1"/>
          <p:cNvSpPr>
            <a:spLocks noGrp="1"/>
          </p:cNvSpPr>
          <p:nvPr>
            <p:ph sz="half" idx="1"/>
          </p:nvPr>
        </p:nvSpPr>
        <p:spPr bwMode="auto">
          <a:xfrm>
            <a:off x="1016000" y="1846053"/>
            <a:ext cx="10972800" cy="440234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buFont typeface="Arial" charset="0"/>
              <a:buChar char="•"/>
              <a:defRPr/>
            </a:pPr>
            <a:r>
              <a:rPr lang="en-US" dirty="0">
                <a:cs typeface="Cordia New" pitchFamily="34" charset="-34"/>
              </a:rPr>
              <a:t>Explain the concept of cursors</a:t>
            </a:r>
          </a:p>
          <a:p>
            <a:pPr>
              <a:buFont typeface="Arial" charset="0"/>
              <a:buChar char="•"/>
              <a:defRPr/>
            </a:pPr>
            <a:r>
              <a:rPr lang="en-US" dirty="0">
                <a:cs typeface="Cordia New" pitchFamily="34" charset="-34"/>
              </a:rPr>
              <a:t>What is explicit cursor?</a:t>
            </a:r>
          </a:p>
          <a:p>
            <a:pPr>
              <a:buFont typeface="Arial" charset="0"/>
              <a:buChar char="•"/>
              <a:defRPr/>
            </a:pPr>
            <a:r>
              <a:rPr lang="en-US" dirty="0">
                <a:cs typeface="Cordia New" pitchFamily="34" charset="-34"/>
              </a:rPr>
              <a:t>What is implicit cursor?</a:t>
            </a:r>
          </a:p>
          <a:p>
            <a:pPr>
              <a:buFont typeface="Arial" charset="0"/>
              <a:buChar char="•"/>
              <a:defRPr/>
            </a:pPr>
            <a:r>
              <a:rPr lang="en-US" dirty="0">
                <a:cs typeface="Cordia New" pitchFamily="34" charset="-34"/>
              </a:rPr>
              <a:t>Explain %TYPE?</a:t>
            </a:r>
          </a:p>
          <a:p>
            <a:pPr>
              <a:buFont typeface="Arial" charset="0"/>
              <a:buChar char="•"/>
              <a:defRPr/>
            </a:pPr>
            <a:endParaRPr lang="en-US" dirty="0">
              <a:cs typeface="Cordia New" pitchFamily="34" charset="-34"/>
            </a:endParaRPr>
          </a:p>
          <a:p>
            <a:pPr>
              <a:buFont typeface="Arial" charset="0"/>
              <a:buChar char="•"/>
              <a:defRPr/>
            </a:pPr>
            <a:endParaRPr lang="en-US" dirty="0">
              <a:cs typeface="Cordia New" pitchFamily="34" charset="-34"/>
            </a:endParaRPr>
          </a:p>
          <a:p>
            <a:pPr>
              <a:buFont typeface="Arial" charset="0"/>
              <a:buChar char="•"/>
              <a:defRPr/>
            </a:pPr>
            <a:endParaRPr lang="en-US" dirty="0">
              <a:cs typeface="Cordia New" pitchFamily="34" charset="-34"/>
            </a:endParaRPr>
          </a:p>
          <a:p>
            <a:pPr>
              <a:buFont typeface="Arial" charset="0"/>
              <a:buChar char="•"/>
              <a:defRPr/>
            </a:pPr>
            <a:endParaRPr lang="en-US" dirty="0">
              <a:cs typeface="Cordia New" pitchFamily="34" charset="-34"/>
            </a:endParaRPr>
          </a:p>
          <a:p>
            <a:pPr>
              <a:buFont typeface="Arial" charset="0"/>
              <a:buChar char="•"/>
              <a:defRPr/>
            </a:pPr>
            <a:endParaRPr lang="en-US" dirty="0">
              <a:cs typeface="Cordia New" pitchFamily="34" charset="-34"/>
            </a:endParaRPr>
          </a:p>
        </p:txBody>
      </p:sp>
      <p:sp>
        <p:nvSpPr>
          <p:cNvPr id="87043" name="Text Placeholder 2"/>
          <p:cNvSpPr>
            <a:spLocks noGrp="1"/>
          </p:cNvSpPr>
          <p:nvPr>
            <p:ph type="body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n-US" altLang="en-US" dirty="0">
                <a:cs typeface="Cordia New" pitchFamily="34" charset="-34"/>
              </a:rPr>
              <a:t>FAQs</a:t>
            </a:r>
          </a:p>
        </p:txBody>
      </p:sp>
    </p:spTree>
    <p:extLst>
      <p:ext uri="{BB962C8B-B14F-4D97-AF65-F5344CB8AC3E}">
        <p14:creationId xmlns:p14="http://schemas.microsoft.com/office/powerpoint/2010/main" val="3226849272"/>
      </p:ext>
    </p:extLst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690037" y="243417"/>
            <a:ext cx="11197167" cy="609600"/>
          </a:xfrm>
        </p:spPr>
        <p:txBody>
          <a:bodyPr/>
          <a:lstStyle/>
          <a:p>
            <a:r>
              <a:rPr lang="en-US" altLang="en-US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690033" y="1109133"/>
            <a:ext cx="11093451" cy="5446184"/>
          </a:xfrm>
        </p:spPr>
        <p:txBody>
          <a:bodyPr/>
          <a:lstStyle/>
          <a:p>
            <a:pPr algn="just"/>
            <a:r>
              <a:rPr lang="en-US" altLang="en-US"/>
              <a:t>RamezElmasri and Shamkant B. Navathe, “Fundamentals of Database System”, The Benjamin / Cummings Publishing Co.</a:t>
            </a:r>
          </a:p>
          <a:p>
            <a:pPr algn="just"/>
            <a:r>
              <a:rPr lang="en-US" altLang="en-US"/>
              <a:t>Korth and Silberschatz Abraham, “Database System Concepts”, McGraw Hall.</a:t>
            </a:r>
          </a:p>
          <a:p>
            <a:pPr algn="just"/>
            <a:r>
              <a:rPr lang="en-US" altLang="en-US"/>
              <a:t>C.J.Date, “An Introduction to Database Systems”, Addison Wesley.</a:t>
            </a:r>
          </a:p>
          <a:p>
            <a:pPr algn="just"/>
            <a:r>
              <a:rPr lang="en-US" altLang="en-US"/>
              <a:t>Thomas M. Connolly, Carolyn &amp; E. Begg, “Database Systems: A Practical Approach to Design, Implementation and Management”, 5/E, University of Paisley, Addison-Wesley.</a:t>
            </a:r>
          </a:p>
          <a:p>
            <a:pPr algn="just"/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04815B-7D27-42A5-8C12-7AA74EE5C8C8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677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3"/>
            <a:ext cx="12192000" cy="4686300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32" tIns="45718" rIns="91432" bIns="45718" anchor="ctr"/>
          <a:lstStyle/>
          <a:p>
            <a:pPr algn="ctr" defTabSz="1219170">
              <a:buClr>
                <a:srgbClr val="FF0000"/>
              </a:buClr>
              <a:defRPr/>
            </a:pPr>
            <a:r>
              <a:rPr lang="en-US" baseline="-25000" dirty="0">
                <a:solidFill>
                  <a:prstClr val="white"/>
                </a:solidFill>
                <a:latin typeface="Calibri Light"/>
                <a:cs typeface="Times New Roman" pitchFamily="18" charset="0"/>
              </a:rPr>
              <a:t> 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/>
          </p:cNvCxnSpPr>
          <p:nvPr/>
        </p:nvCxnSpPr>
        <p:spPr>
          <a:xfrm>
            <a:off x="10170587" y="4"/>
            <a:ext cx="662516" cy="66463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cxnSpLocks/>
          </p:cNvCxnSpPr>
          <p:nvPr/>
        </p:nvCxnSpPr>
        <p:spPr>
          <a:xfrm>
            <a:off x="734484" y="6294967"/>
            <a:ext cx="558800" cy="55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391584" y="5128687"/>
            <a:ext cx="1727200" cy="172931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27" name="Title 1"/>
          <p:cNvSpPr txBox="1">
            <a:spLocks/>
          </p:cNvSpPr>
          <p:nvPr/>
        </p:nvSpPr>
        <p:spPr bwMode="auto">
          <a:xfrm>
            <a:off x="1485903" y="2455337"/>
            <a:ext cx="10725151" cy="819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defTabSz="121917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</a:pPr>
            <a:r>
              <a:rPr lang="en-US" altLang="en-US" sz="8000">
                <a:solidFill>
                  <a:srgbClr val="FFFFFF"/>
                </a:solidFill>
                <a:cs typeface="Segoe UI" pitchFamily="34" charset="0"/>
              </a:rPr>
              <a:t>THANK YOU</a:t>
            </a:r>
          </a:p>
        </p:txBody>
      </p:sp>
      <p:sp>
        <p:nvSpPr>
          <p:cNvPr id="30728" name="Diamond 6"/>
          <p:cNvSpPr>
            <a:spLocks/>
          </p:cNvSpPr>
          <p:nvPr/>
        </p:nvSpPr>
        <p:spPr bwMode="auto">
          <a:xfrm>
            <a:off x="2641600" y="1214967"/>
            <a:ext cx="2429933" cy="3225800"/>
          </a:xfrm>
          <a:custGeom>
            <a:avLst/>
            <a:gdLst>
              <a:gd name="T0" fmla="*/ 1822847 w 2430463"/>
              <a:gd name="T1" fmla="*/ 1809750 h 3225800"/>
              <a:gd name="T2" fmla="*/ 1209675 w 2430463"/>
              <a:gd name="T3" fmla="*/ 2419350 h 3225800"/>
              <a:gd name="T4" fmla="*/ 0 w 2430463"/>
              <a:gd name="T5" fmla="*/ 1209675 h 3225800"/>
              <a:gd name="T6" fmla="*/ 1209675 w 2430463"/>
              <a:gd name="T7" fmla="*/ 0 h 3225800"/>
              <a:gd name="T8" fmla="*/ 1822847 w 2430463"/>
              <a:gd name="T9" fmla="*/ 613172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32" tIns="45718" rIns="91432" bIns="45718" anchor="ctr"/>
          <a:lstStyle/>
          <a:p>
            <a:pPr defTabSz="121917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</a:pPr>
            <a:endParaRPr lang="en-US" sz="4300" baseline="-2500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29" name="Diamond 6"/>
          <p:cNvSpPr>
            <a:spLocks/>
          </p:cNvSpPr>
          <p:nvPr/>
        </p:nvSpPr>
        <p:spPr bwMode="auto">
          <a:xfrm>
            <a:off x="2899836" y="1214967"/>
            <a:ext cx="2429933" cy="3225800"/>
          </a:xfrm>
          <a:custGeom>
            <a:avLst/>
            <a:gdLst>
              <a:gd name="T0" fmla="*/ 1822847 w 2430463"/>
              <a:gd name="T1" fmla="*/ 1809750 h 3225800"/>
              <a:gd name="T2" fmla="*/ 1209675 w 2430463"/>
              <a:gd name="T3" fmla="*/ 2419350 h 3225800"/>
              <a:gd name="T4" fmla="*/ 0 w 2430463"/>
              <a:gd name="T5" fmla="*/ 1209675 h 3225800"/>
              <a:gd name="T6" fmla="*/ 1209675 w 2430463"/>
              <a:gd name="T7" fmla="*/ 0 h 3225800"/>
              <a:gd name="T8" fmla="*/ 1822847 w 2430463"/>
              <a:gd name="T9" fmla="*/ 613172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rgbClr val="FFFF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32" tIns="45718" rIns="91432" bIns="45718" anchor="ctr"/>
          <a:lstStyle/>
          <a:p>
            <a:pPr defTabSz="121917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</a:pPr>
            <a:endParaRPr lang="en-US" sz="4300" baseline="-2500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0730" name="Group 28"/>
          <p:cNvGrpSpPr>
            <a:grpSpLocks/>
          </p:cNvGrpSpPr>
          <p:nvPr/>
        </p:nvGrpSpPr>
        <p:grpSpPr bwMode="auto">
          <a:xfrm>
            <a:off x="239187" y="152403"/>
            <a:ext cx="408516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3821" y="0"/>
              <a:ext cx="219636" cy="21095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9170" fontAlgn="base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defRPr/>
              </a:pPr>
              <a:endParaRPr lang="en-US" sz="4300" baseline="-25000">
                <a:solidFill>
                  <a:prstClr val="white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959" y="408875"/>
              <a:ext cx="218498" cy="49420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9170" fontAlgn="base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defRPr/>
              </a:pPr>
              <a:endParaRPr lang="en-US" sz="4300" baseline="-25000">
                <a:solidFill>
                  <a:prstClr val="white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5"/>
              <a:ext cx="218498" cy="2204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9170" fontAlgn="base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defRPr/>
              </a:pPr>
              <a:endParaRPr lang="en-US" sz="4300" baseline="-25000">
                <a:solidFill>
                  <a:prstClr val="white"/>
                </a:solidFill>
              </a:endParaRPr>
            </a:p>
          </p:txBody>
        </p:sp>
        <p:graphicFrame>
          <p:nvGraphicFramePr>
            <p:cNvPr id="30737" name="Object 32"/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19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31" name="Rectangle 1"/>
          <p:cNvSpPr>
            <a:spLocks noChangeArrowheads="1"/>
          </p:cNvSpPr>
          <p:nvPr/>
        </p:nvSpPr>
        <p:spPr bwMode="auto">
          <a:xfrm>
            <a:off x="4112687" y="5395386"/>
            <a:ext cx="4397341" cy="814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2" tIns="45718" rIns="91432" bIns="45718">
            <a:spAutoFit/>
          </a:bodyPr>
          <a:lstStyle>
            <a:lvl1pPr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defTabSz="121917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</a:pPr>
            <a:r>
              <a:rPr lang="en-US" altLang="en-US" dirty="0">
                <a:solidFill>
                  <a:prstClr val="black"/>
                </a:solidFill>
                <a:latin typeface="Casper"/>
                <a:cs typeface="Segoe UI" pitchFamily="34" charset="0"/>
              </a:rPr>
              <a:t>For queries</a:t>
            </a:r>
          </a:p>
          <a:p>
            <a:pPr defTabSz="121917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</a:pPr>
            <a:r>
              <a:rPr lang="en-US" altLang="en-US" dirty="0">
                <a:solidFill>
                  <a:prstClr val="black"/>
                </a:solidFill>
                <a:latin typeface="Casper"/>
                <a:cs typeface="Segoe UI" pitchFamily="34" charset="0"/>
              </a:rPr>
              <a:t>Email</a:t>
            </a:r>
            <a:r>
              <a:rPr lang="en-US" altLang="en-US">
                <a:solidFill>
                  <a:prstClr val="black"/>
                </a:solidFill>
                <a:latin typeface="Casper"/>
                <a:cs typeface="Segoe UI" pitchFamily="34" charset="0"/>
              </a:rPr>
              <a:t>: </a:t>
            </a:r>
            <a:r>
              <a:rPr lang="en-US" altLang="en-US" smtClean="0">
                <a:solidFill>
                  <a:prstClr val="black"/>
                </a:solidFill>
                <a:latin typeface="Casper"/>
                <a:cs typeface="Segoe UI" pitchFamily="34" charset="0"/>
                <a:hlinkClick r:id="rId5"/>
              </a:rPr>
              <a:t>shaveta.e13464@cumail.in</a:t>
            </a:r>
            <a:r>
              <a:rPr lang="en-US" altLang="en-US" smtClean="0">
                <a:solidFill>
                  <a:prstClr val="black"/>
                </a:solidFill>
                <a:latin typeface="Casper"/>
                <a:cs typeface="Segoe UI" pitchFamily="34" charset="0"/>
              </a:rPr>
              <a:t>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30733" name="Slide Number Placeholder 1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0777" indent="-283613" eaLnBrk="0" hangingPunct="0"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0798" indent="-226468" eaLnBrk="0" hangingPunct="0"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3pPr>
            <a:lvl4pPr marL="1597964" indent="-226468" eaLnBrk="0" hangingPunct="0"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5131" indent="-226468" eaLnBrk="0" hangingPunct="0"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5pPr>
            <a:lvl6pPr marL="2664684" indent="-22646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74239" indent="-22646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7pPr>
            <a:lvl8pPr marL="3883794" indent="-22646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8pPr>
            <a:lvl9pPr marL="4493348" indent="-22646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fld id="{E7FDD9CB-D15E-4F7D-827E-19A6D57ED279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17804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_C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EME_C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2138</TotalTime>
  <Words>517</Words>
  <Application>Microsoft Office PowerPoint</Application>
  <PresentationFormat>Widescreen</PresentationFormat>
  <Paragraphs>170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5" baseType="lpstr">
      <vt:lpstr>Arial</vt:lpstr>
      <vt:lpstr>Calibri</vt:lpstr>
      <vt:lpstr>Calibri Light</vt:lpstr>
      <vt:lpstr>Cambria</vt:lpstr>
      <vt:lpstr>Casper</vt:lpstr>
      <vt:lpstr>Consolas</vt:lpstr>
      <vt:lpstr>Cordia New</vt:lpstr>
      <vt:lpstr>Karla</vt:lpstr>
      <vt:lpstr>Segoe UI</vt:lpstr>
      <vt:lpstr>Times New Roman</vt:lpstr>
      <vt:lpstr>Wingdings</vt:lpstr>
      <vt:lpstr>THEME_CU</vt:lpstr>
      <vt:lpstr>1_THEME_CU</vt:lpstr>
      <vt:lpstr>CorelDRAW</vt:lpstr>
      <vt:lpstr>PowerPoint Presentation</vt:lpstr>
      <vt:lpstr>DBMS: Course Objectives</vt:lpstr>
      <vt:lpstr>COURSE OUTCOMES</vt:lpstr>
      <vt:lpstr>Lecture Outline</vt:lpstr>
      <vt:lpstr>Cursors</vt:lpstr>
      <vt:lpstr>Types of Cursor</vt:lpstr>
      <vt:lpstr>Implicit cursors</vt:lpstr>
      <vt:lpstr>Write PL/SQL code to UPDATE values in created tables by using IMPLICIT CURSORS.</vt:lpstr>
      <vt:lpstr>Explicit cursors</vt:lpstr>
      <vt:lpstr>PowerPoint Presentation</vt:lpstr>
      <vt:lpstr>Cursor Attribute</vt:lpstr>
      <vt:lpstr>Syntax:</vt:lpstr>
      <vt:lpstr>Write PL/SQL code to display Employee details using EXPLICIT CURSORS.</vt:lpstr>
      <vt:lpstr> PL/SQL Control Structure  </vt:lpstr>
      <vt:lpstr>The %TYPE Attribute </vt:lpstr>
      <vt:lpstr>%TYPE (table.col%TYPE)</vt:lpstr>
      <vt:lpstr>Write a procedure to retrieve the salary of a particular employee.</vt:lpstr>
      <vt:lpstr>%ROWTYPE: Using Explicit Cursor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shavetapc</cp:lastModifiedBy>
  <cp:revision>179</cp:revision>
  <dcterms:created xsi:type="dcterms:W3CDTF">2019-01-09T10:33:58Z</dcterms:created>
  <dcterms:modified xsi:type="dcterms:W3CDTF">2023-06-28T04:27:23Z</dcterms:modified>
</cp:coreProperties>
</file>