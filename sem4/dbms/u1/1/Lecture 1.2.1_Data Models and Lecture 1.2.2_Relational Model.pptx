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7"/>
  </p:notesMasterIdLst>
  <p:handoutMasterIdLst>
    <p:handoutMasterId r:id="rId28"/>
  </p:handoutMasterIdLst>
  <p:sldIdLst>
    <p:sldId id="556" r:id="rId3"/>
    <p:sldId id="557" r:id="rId4"/>
    <p:sldId id="558" r:id="rId5"/>
    <p:sldId id="559" r:id="rId6"/>
    <p:sldId id="549" r:id="rId7"/>
    <p:sldId id="535" r:id="rId8"/>
    <p:sldId id="537" r:id="rId9"/>
    <p:sldId id="518" r:id="rId10"/>
    <p:sldId id="519" r:id="rId11"/>
    <p:sldId id="520" r:id="rId12"/>
    <p:sldId id="521" r:id="rId13"/>
    <p:sldId id="522" r:id="rId14"/>
    <p:sldId id="523" r:id="rId15"/>
    <p:sldId id="524" r:id="rId16"/>
    <p:sldId id="525" r:id="rId17"/>
    <p:sldId id="526" r:id="rId18"/>
    <p:sldId id="527" r:id="rId19"/>
    <p:sldId id="528" r:id="rId20"/>
    <p:sldId id="551" r:id="rId21"/>
    <p:sldId id="552" r:id="rId22"/>
    <p:sldId id="553" r:id="rId23"/>
    <p:sldId id="540" r:id="rId24"/>
    <p:sldId id="489" r:id="rId25"/>
    <p:sldId id="55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6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5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5028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By: Pramod Vishwakarma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145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By: Pramod Vishwakarma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01" r:id="rId12"/>
    <p:sldLayoutId id="214748370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hyperlink" Target="mailto:saurabh.e12800@cumail.in" TargetMode="Externa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xmlns="" id="{CAD0D7B8-E462-453C-B296-CA0154FA54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55187" y="6027219"/>
            <a:ext cx="643204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97492" y="1461582"/>
            <a:ext cx="11103427" cy="3391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sz="4800" b="1" dirty="0">
                <a:latin typeface="Cambria" panose="02040503050406030204" pitchFamily="18" charset="0"/>
              </a:rPr>
              <a:t>APEX INSTITUTE OF TECHNOLOGY</a:t>
            </a:r>
            <a:endParaRPr lang="en-US" sz="4800" dirty="0">
              <a:latin typeface="Cambria" panose="02040503050406030204" pitchFamily="18" charset="0"/>
            </a:endParaRPr>
          </a:p>
          <a:p>
            <a:pPr algn="ctr"/>
            <a:r>
              <a:rPr lang="en-IN" sz="3200" b="1" dirty="0" smtClean="0">
                <a:latin typeface="Cambria" panose="02040503050406030204" pitchFamily="18" charset="0"/>
              </a:rPr>
              <a:t>DEPARTMENT </a:t>
            </a:r>
            <a:r>
              <a:rPr lang="en-IN" sz="3200" b="1" dirty="0">
                <a:latin typeface="Cambria" panose="02040503050406030204" pitchFamily="18" charset="0"/>
              </a:rPr>
              <a:t>OF COMPUTER SCIENCE &amp; ENGINEERING</a:t>
            </a:r>
            <a:endParaRPr lang="en-US" sz="3200" b="1" dirty="0">
              <a:latin typeface="Cambria" panose="020405030504060302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altLang="en-US" sz="3200" b="1" dirty="0" smtClean="0">
              <a:latin typeface="Cambria" panose="02040503050406030204" pitchFamily="18" charset="0"/>
              <a:ea typeface="Calibri" charset="0"/>
              <a:cs typeface="Times New Roman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Database Management </a:t>
            </a:r>
            <a:r>
              <a:rPr 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System 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(22CSH-243)</a:t>
            </a:r>
            <a:endParaRPr lang="en-US" sz="3200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Faculty:</a:t>
            </a:r>
            <a:r>
              <a:rPr 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Ms. </a:t>
            </a:r>
            <a:r>
              <a:rPr lang="en-US" sz="320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Shaveta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Jain(E13464)</a:t>
            </a:r>
            <a:endParaRPr lang="en-US" sz="3200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1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411" y="0"/>
            <a:ext cx="10515600" cy="1352282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34095" y="1146220"/>
            <a:ext cx="11075831" cy="3534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aims to: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database system concepts and design databases for different applications and to acquire the knowledge on DBMS and RDBMS.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understand different types of DDL, DML and DCL statements.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transaction concepts related to databases and recovery/backup techniques required for the proper storage of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1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10166" y="351468"/>
            <a:ext cx="11125519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20497" y="1170835"/>
            <a:ext cx="8880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completion of this course, the students shall be able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to:-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947470"/>
              </p:ext>
            </p:extLst>
          </p:nvPr>
        </p:nvGraphicFramePr>
        <p:xfrm>
          <a:off x="837127" y="1931829"/>
          <a:ext cx="10824649" cy="535702"/>
        </p:xfrm>
        <a:graphic>
          <a:graphicData uri="http://schemas.openxmlformats.org/drawingml/2006/table">
            <a:tbl>
              <a:tblPr firstRow="1" firstCol="1" bandRow="1"/>
              <a:tblGrid>
                <a:gridCol w="941273"/>
                <a:gridCol w="9883376"/>
              </a:tblGrid>
              <a:tr h="535702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/>
                          <a:ea typeface="Calibri"/>
                          <a:cs typeface="Arial"/>
                        </a:rPr>
                        <a:t>CO2</a:t>
                      </a:r>
                      <a:endParaRPr lang="en-US" sz="2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43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IN" sz="2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Design database for an organization using relational model</a:t>
                      </a:r>
                      <a:endParaRPr lang="en-US" sz="2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91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91" y="94670"/>
            <a:ext cx="10515600" cy="85836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Unit-1 Syllabus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410110"/>
              </p:ext>
            </p:extLst>
          </p:nvPr>
        </p:nvGraphicFramePr>
        <p:xfrm>
          <a:off x="673833" y="930681"/>
          <a:ext cx="11127347" cy="5465794"/>
        </p:xfrm>
        <a:graphic>
          <a:graphicData uri="http://schemas.openxmlformats.org/drawingml/2006/table">
            <a:tbl>
              <a:tblPr firstRow="1" firstCol="1" bandRow="1"/>
              <a:tblGrid>
                <a:gridCol w="2456155"/>
                <a:gridCol w="8671192"/>
              </a:tblGrid>
              <a:tr h="546064">
                <a:tc>
                  <a:txBody>
                    <a:bodyPr/>
                    <a:lstStyle/>
                    <a:p>
                      <a:pPr marL="0" marR="5397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Times New Roman"/>
                          <a:ea typeface="Calibri"/>
                          <a:cs typeface="Arial"/>
                        </a:rPr>
                        <a:t>Unit-1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397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Introduction to Databases and Relational Algebra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184257">
                <a:tc>
                  <a:txBody>
                    <a:bodyPr/>
                    <a:lstStyle/>
                    <a:p>
                      <a:pPr marL="0" marR="5397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Overview of Databases</a:t>
                      </a:r>
                      <a:r>
                        <a:rPr lang="en-IN" sz="2400" b="1" dirty="0">
                          <a:solidFill>
                            <a:srgbClr val="00B05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: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397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Database concepts, DBMS, Data Base System Architecture (Three Level ANSI-SPARC Architecture), Advantages and Disadvantages of DBMS, Data Independence, DBA and Responsibilities of DBA, Relational Data Structure, Keys, Relations, Attributes, Schema and Instances, Referential integrity, Entity integrity.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2128">
                <a:tc>
                  <a:txBody>
                    <a:bodyPr/>
                    <a:lstStyle/>
                    <a:p>
                      <a:pPr marL="0" marR="5397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Data Models: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397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Relational Model, Network Model, Hierarchical Model, ER Model: Design, issues, Mapping constraints, ER diagram, Comparison of Models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8193">
                <a:tc>
                  <a:txBody>
                    <a:bodyPr/>
                    <a:lstStyle/>
                    <a:p>
                      <a:pPr marL="0" marR="5397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Relational Algebra &amp; Relational Calculus: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Introduction, Syntax, Semantics, Additional operators, Grouping and Ungrouping, Relational comparisons, Tuple Calculus, Domain Calculus, Calculus </a:t>
                      </a:r>
                      <a:r>
                        <a:rPr lang="en-IN" sz="24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Vs</a:t>
                      </a: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 Algebra, Computational capabilities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64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57" y="321970"/>
            <a:ext cx="10764077" cy="6793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DATA MODELS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647686" y="2235948"/>
            <a:ext cx="6172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What is Data Model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868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 </a:t>
            </a:r>
            <a:r>
              <a:rPr lang="en-US"/>
              <a:t>data </a:t>
            </a:r>
            <a:r>
              <a:rPr lang="en-US" smtClean="0"/>
              <a:t>model is </a:t>
            </a:r>
            <a:r>
              <a:rPr lang="en-US" dirty="0"/>
              <a:t>an abstract model that organizes elements of data  </a:t>
            </a:r>
          </a:p>
          <a:p>
            <a:pPr algn="just"/>
            <a:r>
              <a:rPr lang="en-US" dirty="0"/>
              <a:t>It standardizes how they relate to one another and to the properties of real-world entities.</a:t>
            </a:r>
          </a:p>
          <a:p>
            <a:pPr algn="just"/>
            <a:r>
              <a:rPr lang="en-US" dirty="0" smtClean="0"/>
              <a:t>Data </a:t>
            </a:r>
            <a:r>
              <a:rPr lang="en-US" dirty="0"/>
              <a:t>models define how the logical structure of a database is modeled. </a:t>
            </a:r>
            <a:endParaRPr lang="en-US" dirty="0" smtClean="0"/>
          </a:p>
          <a:p>
            <a:pPr algn="just"/>
            <a:r>
              <a:rPr lang="en-US" dirty="0" smtClean="0"/>
              <a:t>Data </a:t>
            </a:r>
            <a:r>
              <a:rPr lang="en-US" dirty="0"/>
              <a:t>Models are fundamental entities to introduce abstraction in a DBMS. </a:t>
            </a:r>
            <a:endParaRPr lang="en-US" dirty="0" smtClean="0"/>
          </a:p>
          <a:p>
            <a:pPr algn="just"/>
            <a:r>
              <a:rPr lang="en-US" dirty="0" smtClean="0"/>
              <a:t>Data </a:t>
            </a:r>
            <a:r>
              <a:rPr lang="en-US" dirty="0"/>
              <a:t>models define how data is connected to each other and how they are processed and stored inside the system.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Need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>
              <a:buNone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aid in the development of a sound database design that does not allow anomalies or inconsistencies</a:t>
            </a:r>
          </a:p>
          <a:p>
            <a:pPr marL="274320" indent="-274320">
              <a:buNone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Goal:  to create database tables that do not contain duplicate data values that can become inconsistent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Hierarchical Model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86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 algn="ctr">
              <a:buNone/>
            </a:pPr>
            <a:endParaRPr lang="en-IN" sz="1200" dirty="0" smtClean="0"/>
          </a:p>
          <a:p>
            <a:pPr algn="ctr">
              <a:buNone/>
            </a:pPr>
            <a:r>
              <a:rPr lang="en-IN" sz="1200" dirty="0" smtClean="0"/>
              <a:t>slideplayer.com</a:t>
            </a:r>
            <a:endParaRPr lang="en-I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6762" y="1885285"/>
            <a:ext cx="8709804" cy="3758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Equivalent model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080" y="2721134"/>
            <a:ext cx="4053840" cy="256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494362" y="5339751"/>
            <a:ext cx="2984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Slideplayer.com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Cont...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pPr lvl="1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Many of the hierarchical data model’s features formed the foundation for current data models</a:t>
            </a:r>
          </a:p>
          <a:p>
            <a:pPr lvl="1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Its database application advantages are replicated, implemented in a different form, in current database environments</a:t>
            </a:r>
          </a:p>
          <a:p>
            <a:pPr lvl="1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Generated a large installed (mainframe) base, created a pool of programmers who developed numerous tried-and-true business applications</a:t>
            </a:r>
          </a:p>
          <a:p>
            <a:r>
              <a:rPr lang="en-US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Disadvantages</a:t>
            </a:r>
          </a:p>
          <a:p>
            <a:pPr lvl="1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Complex to implement</a:t>
            </a:r>
          </a:p>
          <a:p>
            <a:pPr lvl="1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Difficult to manage</a:t>
            </a:r>
          </a:p>
          <a:p>
            <a:pPr lvl="1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Lacks structural independence</a:t>
            </a:r>
          </a:p>
          <a:p>
            <a:pPr lvl="1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Implementation limitations</a:t>
            </a:r>
          </a:p>
          <a:p>
            <a:pPr lvl="1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Lack of standards</a:t>
            </a:r>
          </a:p>
          <a:p>
            <a:endParaRPr lang="en-US" dirty="0" smtClean="0"/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Network Model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59221" y="2202721"/>
            <a:ext cx="9073557" cy="3597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743864" y="5779698"/>
            <a:ext cx="3554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slideplayer.com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Equivalent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811" y="1686035"/>
            <a:ext cx="6685472" cy="3990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12543" y="5684808"/>
            <a:ext cx="3554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slideplayer.com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Cont...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Represent complex data relationships more effectively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Improve database performance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Impose a database standard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Disadvantages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Too cumbersome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lack of ad hoc query capability put heavy pressure on programmers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Any structural change in the database could produce havoc in all application programs that drew data from the database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Many database old-timers can recall the interminable information delays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Relational Model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651613" y="1825625"/>
            <a:ext cx="6888773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002657" y="6167887"/>
            <a:ext cx="3381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Slideplayer.com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Equivalent model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857" y="1846052"/>
            <a:ext cx="6314535" cy="4138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Relational Database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 database whose logical organization is based on relational data model is a </a:t>
            </a:r>
            <a:r>
              <a:rPr lang="en-US" b="1" dirty="0" smtClean="0"/>
              <a:t>Relational Database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2800" y="2717568"/>
            <a:ext cx="10392913" cy="3536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329796" y="6167888"/>
            <a:ext cx="4442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Quantumcomputingtech.blogspot.com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Relational Model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main highlights of this model are −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is stored in tables called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relations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Relations can be normalized.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normalized relations, values saved are atomic values.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row in a relation contains a unique value.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column in a relation contains values from a same domain.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Entity- Relationship Model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Entity-Relationship (ER) Model is based on the notion of real-world entities and relationships among them. While formulating real-world scenario into the database model, the ER Model creates entity set, relationship set, general attributes and constraints.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ER Model is best used for the conceptual design of a database.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7276" y="4218564"/>
            <a:ext cx="1016000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433977" y="6254151"/>
            <a:ext cx="2139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>
                <a:latin typeface="Times New Roman" pitchFamily="18" charset="0"/>
                <a:cs typeface="Times New Roman" pitchFamily="18" charset="0"/>
              </a:rPr>
              <a:t>tutorialspoint.com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Schema </a:t>
            </a:r>
            <a:r>
              <a:rPr lang="en-IN" b="1" dirty="0" err="1" smtClean="0"/>
              <a:t>vs</a:t>
            </a:r>
            <a:r>
              <a:rPr lang="en-IN" b="1" dirty="0" smtClean="0"/>
              <a:t> Instances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Times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Database Schema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description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of a database. Includes descriptions of the database structure and the constraints that should hold on the database.</a:t>
            </a:r>
          </a:p>
          <a:p>
            <a:pPr algn="just">
              <a:buFont typeface="Times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Schema Diagram: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diagrammatic display of (some aspects of) a database schema.</a:t>
            </a:r>
          </a:p>
          <a:p>
            <a:pPr algn="just">
              <a:buFont typeface="Times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Database Instance: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actual data stored in a database at a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particular moment in time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Also called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database state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(or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occurrence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DBMS Schema </a:t>
            </a:r>
            <a:r>
              <a:rPr lang="en-IN" b="1" dirty="0" err="1" smtClean="0"/>
              <a:t>vs</a:t>
            </a:r>
            <a:r>
              <a:rPr lang="en-IN" b="1" dirty="0" smtClean="0"/>
              <a:t> DBMS State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/>
              <a:buChar char="•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Database State</a:t>
            </a: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Refers to the content of a database at a moment in time.</a:t>
            </a:r>
          </a:p>
          <a:p>
            <a:pPr>
              <a:buFont typeface="Times"/>
              <a:buChar char="•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Initial Database State</a:t>
            </a: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Refers to the database when it is loaded</a:t>
            </a:r>
          </a:p>
          <a:p>
            <a:pPr>
              <a:buFont typeface="Times"/>
              <a:buChar char="•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Valid State</a:t>
            </a:r>
            <a:r>
              <a:rPr 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state that satisfies the structure and constraints of the database.</a:t>
            </a:r>
          </a:p>
          <a:p>
            <a:pPr>
              <a:buFont typeface="Times"/>
              <a:buChar char="•"/>
            </a:pPr>
            <a:endParaRPr lang="en-US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"/>
              <a:buChar char="•"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Distinction</a:t>
            </a:r>
          </a:p>
          <a:p>
            <a:pPr lvl="1"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database schema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changes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very infrequently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database state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changes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every time the database is updated. </a:t>
            </a:r>
            <a:endParaRPr lang="en-US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Times"/>
              <a:buChar char="•"/>
            </a:pP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is also called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intension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whereas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is called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extension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Summary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6823"/>
            <a:ext cx="10515600" cy="4210140"/>
          </a:xfrm>
        </p:spPr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Data Model is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precise description of the data content in a system.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Models are required to aid in the development of a sound database design that does not allow anomalies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or inconsistencies where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basic goal is to create database tables that do not contain duplicate data values that can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become inconsistent.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ontent Placeholder 1"/>
          <p:cNvSpPr>
            <a:spLocks noGrp="1"/>
          </p:cNvSpPr>
          <p:nvPr>
            <p:ph sz="half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What are Data Models?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What is Schema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What are instances.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What is the difference between DBMS Schema and DBMS State.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Why there is need for Data models?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How many types of Data Models we Have?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What is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hierarichal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Cordia New" pitchFamily="34" charset="-34"/>
              </a:rPr>
              <a:t> Data Model?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ordia New" pitchFamily="34" charset="-34"/>
            </a:endParaRPr>
          </a:p>
          <a:p>
            <a:pPr marL="0" indent="0">
              <a:buNone/>
              <a:defRPr/>
            </a:pP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  <a:cs typeface="Cordia New" pitchFamily="34" charset="-34"/>
            </a:endParaRPr>
          </a:p>
        </p:txBody>
      </p:sp>
      <p:sp>
        <p:nvSpPr>
          <p:cNvPr id="87043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1016000" y="467933"/>
            <a:ext cx="10566400" cy="685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altLang="en-US" dirty="0" smtClean="0">
                <a:cs typeface="Cordia New" pitchFamily="34" charset="-34"/>
              </a:rPr>
              <a:t>FAQs</a:t>
            </a:r>
          </a:p>
        </p:txBody>
      </p:sp>
    </p:spTree>
    <p:extLst>
      <p:ext uri="{BB962C8B-B14F-4D97-AF65-F5344CB8AC3E}">
        <p14:creationId xmlns:p14="http://schemas.microsoft.com/office/powerpoint/2010/main" val="322684927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12799" y="154546"/>
            <a:ext cx="10881217" cy="968062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219200" y="1752600"/>
            <a:ext cx="10668000" cy="4495800"/>
          </a:xfrm>
        </p:spPr>
        <p:txBody>
          <a:bodyPr/>
          <a:lstStyle/>
          <a:p>
            <a:pPr lvl="0" algn="just"/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RamezElmasri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Shamkant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B.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Navathe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, “Fundamentals of Database System”, The Benjamin / Cummings Publishing Co.</a:t>
            </a:r>
          </a:p>
          <a:p>
            <a:pPr lvl="0" algn="just"/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Korth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Silberschatz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Abraham, “Database System Concepts”, McGraw Hall.</a:t>
            </a:r>
          </a:p>
          <a:p>
            <a:pPr lvl="0" algn="just"/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C.J.Date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, “An Introduction to Database Systems”, Addison Wesley.</a:t>
            </a:r>
          </a:p>
          <a:p>
            <a:pPr lvl="0" algn="just"/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Thomas M. Connolly, Carolyn &amp; E.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Begg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, “Database Systems: A Practical Approach to Design, Implementation and Management”, 5/E, University of Paisley, Addison-Wesley.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64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xmlns="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xmlns="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xmlns="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4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325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</a:t>
            </a:r>
            <a:r>
              <a:rPr lang="en-US">
                <a:latin typeface="Casper" panose="02000506000000020004" pitchFamily="2" charset="0"/>
                <a:cs typeface="Segoe UI" panose="020B0502040204020203" pitchFamily="34" charset="0"/>
              </a:rPr>
              <a:t>: </a:t>
            </a:r>
            <a:r>
              <a:rPr lang="en-US" smtClean="0">
                <a:latin typeface="Casper" panose="02000506000000020004" pitchFamily="2" charset="0"/>
                <a:cs typeface="Segoe UI" panose="020B0502040204020203" pitchFamily="34" charset="0"/>
                <a:hlinkClick r:id="rId5"/>
              </a:rPr>
              <a:t>shaveta.e13464@cumail.in</a:t>
            </a:r>
            <a:r>
              <a:rPr lang="en-US" smtClean="0">
                <a:latin typeface="Casper" panose="02000506000000020004" pitchFamily="2" charset="0"/>
                <a:cs typeface="Segoe UI" panose="020B0502040204020203" pitchFamily="34" charset="0"/>
              </a:rPr>
              <a:t> 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01332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1669</TotalTime>
  <Words>859</Words>
  <Application>Microsoft Office PowerPoint</Application>
  <PresentationFormat>Widescreen</PresentationFormat>
  <Paragraphs>148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Arial Unicode MS</vt:lpstr>
      <vt:lpstr>Arial</vt:lpstr>
      <vt:lpstr>Calibri</vt:lpstr>
      <vt:lpstr>Calibri Light</vt:lpstr>
      <vt:lpstr>Cambria</vt:lpstr>
      <vt:lpstr>Casper</vt:lpstr>
      <vt:lpstr>Cordia New</vt:lpstr>
      <vt:lpstr>Karla</vt:lpstr>
      <vt:lpstr>Segoe UI</vt:lpstr>
      <vt:lpstr>Times</vt:lpstr>
      <vt:lpstr>Times New Roman</vt:lpstr>
      <vt:lpstr>1_Office Theme</vt:lpstr>
      <vt:lpstr>Contents Slide Master</vt:lpstr>
      <vt:lpstr>CorelDRAW</vt:lpstr>
      <vt:lpstr>PowerPoint Presentation</vt:lpstr>
      <vt:lpstr>DBMS: Course Objectives</vt:lpstr>
      <vt:lpstr>COURSE OUTCOMES</vt:lpstr>
      <vt:lpstr>Unit-1 Syllabus</vt:lpstr>
      <vt:lpstr>DATA MODELS</vt:lpstr>
      <vt:lpstr>What is Data Model </vt:lpstr>
      <vt:lpstr>Need </vt:lpstr>
      <vt:lpstr>Hierarchical Model</vt:lpstr>
      <vt:lpstr>Equivalent model</vt:lpstr>
      <vt:lpstr>Cont...</vt:lpstr>
      <vt:lpstr>Network Model</vt:lpstr>
      <vt:lpstr>Equivalent</vt:lpstr>
      <vt:lpstr>Cont...</vt:lpstr>
      <vt:lpstr>Relational Model</vt:lpstr>
      <vt:lpstr>Equivalent model</vt:lpstr>
      <vt:lpstr>Relational Database</vt:lpstr>
      <vt:lpstr>Relational Model</vt:lpstr>
      <vt:lpstr>Entity- Relationship Model</vt:lpstr>
      <vt:lpstr>Schema vs Instances</vt:lpstr>
      <vt:lpstr>DBMS Schema vs DBMS State</vt:lpstr>
      <vt:lpstr>Summary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shavetapc</cp:lastModifiedBy>
  <cp:revision>142</cp:revision>
  <dcterms:created xsi:type="dcterms:W3CDTF">2019-01-09T10:33:58Z</dcterms:created>
  <dcterms:modified xsi:type="dcterms:W3CDTF">2023-06-15T10:42:29Z</dcterms:modified>
</cp:coreProperties>
</file>