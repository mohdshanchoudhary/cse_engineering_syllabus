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9"/>
  </p:notesMasterIdLst>
  <p:handoutMasterIdLst>
    <p:handoutMasterId r:id="rId40"/>
  </p:handoutMasterIdLst>
  <p:sldIdLst>
    <p:sldId id="555" r:id="rId3"/>
    <p:sldId id="576" r:id="rId4"/>
    <p:sldId id="577" r:id="rId5"/>
    <p:sldId id="578" r:id="rId6"/>
    <p:sldId id="574" r:id="rId7"/>
    <p:sldId id="552" r:id="rId8"/>
    <p:sldId id="531" r:id="rId9"/>
    <p:sldId id="532" r:id="rId10"/>
    <p:sldId id="533" r:id="rId11"/>
    <p:sldId id="558" r:id="rId12"/>
    <p:sldId id="534" r:id="rId13"/>
    <p:sldId id="535" r:id="rId14"/>
    <p:sldId id="536" r:id="rId15"/>
    <p:sldId id="537" r:id="rId16"/>
    <p:sldId id="538" r:id="rId17"/>
    <p:sldId id="539" r:id="rId18"/>
    <p:sldId id="540" r:id="rId19"/>
    <p:sldId id="569" r:id="rId20"/>
    <p:sldId id="556" r:id="rId21"/>
    <p:sldId id="564" r:id="rId22"/>
    <p:sldId id="565" r:id="rId23"/>
    <p:sldId id="557" r:id="rId24"/>
    <p:sldId id="572" r:id="rId25"/>
    <p:sldId id="559" r:id="rId26"/>
    <p:sldId id="573" r:id="rId27"/>
    <p:sldId id="571" r:id="rId28"/>
    <p:sldId id="570" r:id="rId29"/>
    <p:sldId id="562" r:id="rId30"/>
    <p:sldId id="563" r:id="rId31"/>
    <p:sldId id="567" r:id="rId32"/>
    <p:sldId id="568" r:id="rId33"/>
    <p:sldId id="575" r:id="rId34"/>
    <p:sldId id="553" r:id="rId35"/>
    <p:sldId id="545" r:id="rId36"/>
    <p:sldId id="544" r:id="rId37"/>
    <p:sldId id="55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4" d="100"/>
          <a:sy n="74" d="100"/>
        </p:scale>
        <p:origin x="55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6/16/2023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616674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smtClean="0"/>
              <a:t>By: Pramod Vishwakarma</a:t>
            </a:r>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By: Pramod Vishwakarma</a:t>
            </a:r>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smtClean="0"/>
              <a:t>By: Pramod Vishwakarma</a:t>
            </a:r>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p:spPr>
        <p:txBody>
          <a:bodyPr anchor="ctr">
            <a:normAutofit/>
          </a:bodyPr>
          <a:lstStyle>
            <a:lvl1pPr algn="ctr">
              <a:buNone/>
              <a:defRPr sz="3200" b="1">
                <a:solidFill>
                  <a:srgbClr val="C00000"/>
                </a:solidFill>
              </a:defRPr>
            </a:lvl1pPr>
          </a:lstStyle>
          <a:p>
            <a:pPr lvl="0"/>
            <a:r>
              <a:rPr lang="en-US" smtClean="0"/>
              <a:t>Click to edit Master text styles</a:t>
            </a:r>
          </a:p>
        </p:txBody>
      </p:sp>
    </p:spTree>
    <p:extLst>
      <p:ext uri="{BB962C8B-B14F-4D97-AF65-F5344CB8AC3E}">
        <p14:creationId xmlns:p14="http://schemas.microsoft.com/office/powerpoint/2010/main" val="1825028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By: Pramod Vishwakarma</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838308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By: Pramod Vishwakarma</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701" r:id="rId12"/>
    <p:sldLayoutId id="214748370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hyperlink" Target="mailto:shaveta.e13464@cumail.in"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41004" name="CorelDRAW" r:id="rId4" imgW="2169000" imgH="2169360" progId="">
                  <p:embed/>
                </p:oleObj>
              </mc:Choice>
              <mc:Fallback>
                <p:oleObj name="CorelDRAW" r:id="rId4" imgW="2169000" imgH="2169360" progId="">
                  <p:embed/>
                  <p:pic>
                    <p:nvPicPr>
                      <p:cNvPr id="0" name="Picture 42"/>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3737" y="5975448"/>
            <a:ext cx="6432043"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ER </a:t>
            </a: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Model</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26" name="TextBox 25"/>
          <p:cNvSpPr txBox="1">
            <a:spLocks noChangeArrowheads="1"/>
          </p:cNvSpPr>
          <p:nvPr/>
        </p:nvSpPr>
        <p:spPr bwMode="auto">
          <a:xfrm>
            <a:off x="497492" y="1461582"/>
            <a:ext cx="11103427" cy="339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800" b="1" dirty="0">
                <a:latin typeface="Cambria" panose="02040503050406030204" pitchFamily="18" charset="0"/>
              </a:rPr>
              <a:t>APEX INSTITUTE OF TECHNOLOGY</a:t>
            </a:r>
            <a:endParaRPr lang="en-US" sz="4800" dirty="0">
              <a:latin typeface="Cambria" panose="02040503050406030204" pitchFamily="18" charset="0"/>
            </a:endParaRPr>
          </a:p>
          <a:p>
            <a:pPr algn="ctr"/>
            <a:r>
              <a:rPr lang="en-IN" sz="3200" b="1" dirty="0" smtClean="0">
                <a:latin typeface="Cambria" panose="02040503050406030204" pitchFamily="18" charset="0"/>
              </a:rPr>
              <a:t>DEPARTMENT </a:t>
            </a:r>
            <a:r>
              <a:rPr lang="en-IN" sz="3200" b="1" dirty="0">
                <a:latin typeface="Cambria" panose="02040503050406030204" pitchFamily="18" charset="0"/>
              </a:rPr>
              <a:t>OF COMPUTER SCIENCE &amp; ENGINEERING</a:t>
            </a:r>
            <a:endParaRPr lang="en-US" sz="3200" b="1" dirty="0">
              <a:latin typeface="Cambria" panose="02040503050406030204" pitchFamily="18" charset="0"/>
            </a:endParaRPr>
          </a:p>
          <a:p>
            <a:pPr algn="ctr" defTabSz="622300">
              <a:lnSpc>
                <a:spcPct val="90000"/>
              </a:lnSpc>
              <a:spcBef>
                <a:spcPct val="0"/>
              </a:spcBef>
              <a:spcAft>
                <a:spcPct val="35000"/>
              </a:spcAft>
            </a:pPr>
            <a:endParaRPr lang="en-US" altLang="en-US" sz="3200" b="1" dirty="0" smtClean="0">
              <a:latin typeface="Cambria" panose="02040503050406030204" pitchFamily="18" charset="0"/>
              <a:ea typeface="Calibri" charset="0"/>
              <a:cs typeface="Times New Roman" charset="0"/>
            </a:endParaRPr>
          </a:p>
          <a:p>
            <a:pPr lvl="0" algn="ctr" defTabSz="622300">
              <a:lnSpc>
                <a:spcPct val="90000"/>
              </a:lnSpc>
              <a:spcBef>
                <a:spcPct val="0"/>
              </a:spcBef>
              <a:spcAft>
                <a:spcPct val="35000"/>
              </a:spcAft>
            </a:pP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Database Management </a:t>
            </a:r>
            <a:r>
              <a:rPr lang="en-US" sz="3200" dirty="0">
                <a:solidFill>
                  <a:prstClr val="black">
                    <a:lumMod val="85000"/>
                    <a:lumOff val="15000"/>
                  </a:prstClr>
                </a:solidFill>
                <a:latin typeface="Cambria" panose="02040503050406030204" pitchFamily="18" charset="0"/>
                <a:cs typeface="Times New Roman" panose="02020603050405020304" pitchFamily="18" charset="0"/>
              </a:rPr>
              <a:t>System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22CSH-243</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algn="ctr" defTabSz="622300">
              <a:lnSpc>
                <a:spcPct val="90000"/>
              </a:lnSpc>
              <a:spcBef>
                <a:spcPct val="0"/>
              </a:spcBef>
              <a:spcAft>
                <a:spcPct val="35000"/>
              </a:spcAft>
            </a:pPr>
            <a:r>
              <a:rPr lang="en-US" sz="3200" b="1" dirty="0" smtClean="0">
                <a:solidFill>
                  <a:prstClr val="black">
                    <a:lumMod val="85000"/>
                    <a:lumOff val="15000"/>
                  </a:prstClr>
                </a:solidFill>
                <a:latin typeface="Cambria" panose="02040503050406030204" pitchFamily="18" charset="0"/>
                <a:cs typeface="Times New Roman" panose="02020603050405020304" pitchFamily="18" charset="0"/>
              </a:rPr>
              <a:t>Faculty:</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a:t>
            </a:r>
            <a:r>
              <a:rPr lang="en-US" sz="3200" dirty="0" err="1" smtClean="0">
                <a:solidFill>
                  <a:prstClr val="black">
                    <a:lumMod val="85000"/>
                    <a:lumOff val="15000"/>
                  </a:prstClr>
                </a:solidFill>
                <a:latin typeface="Cambria" panose="02040503050406030204" pitchFamily="18" charset="0"/>
                <a:cs typeface="Times New Roman" panose="02020603050405020304" pitchFamily="18" charset="0"/>
              </a:rPr>
              <a:t>Ms.Shaveta</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Jain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E13464)</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lvl="0" algn="ctr" defTabSz="622300">
              <a:lnSpc>
                <a:spcPct val="90000"/>
              </a:lnSpc>
              <a:spcBef>
                <a:spcPct val="0"/>
              </a:spcBef>
              <a:spcAft>
                <a:spcPct val="35000"/>
              </a:spcAft>
            </a:pPr>
            <a:endParaRPr lang="en-US" sz="1600" dirty="0">
              <a:latin typeface="Cambria" panose="02040503050406030204" pitchFamily="18" charset="0"/>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42395433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0"/>
            <a:ext cx="10515600" cy="1352282"/>
          </a:xfrm>
        </p:spPr>
        <p:txBody>
          <a:bodyPr>
            <a:normAutofit/>
          </a:bodyPr>
          <a:lstStyle/>
          <a:p>
            <a:r>
              <a:rPr lang="en-IN"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DBMS: Course Objectives</a:t>
            </a:r>
            <a:endPar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pPr/>
              <a:t>2</a:t>
            </a:fld>
            <a:endParaRPr lang="en-US"/>
          </a:p>
        </p:txBody>
      </p:sp>
      <p:sp>
        <p:nvSpPr>
          <p:cNvPr id="4" name="Rectangle 3"/>
          <p:cNvSpPr/>
          <p:nvPr/>
        </p:nvSpPr>
        <p:spPr>
          <a:xfrm>
            <a:off x="734095" y="1146220"/>
            <a:ext cx="11075831" cy="3534622"/>
          </a:xfrm>
          <a:prstGeom prst="rect">
            <a:avLst/>
          </a:prstGeom>
        </p:spPr>
        <p:txBody>
          <a:bodyPr wrap="square">
            <a:spAutoFit/>
          </a:bodyPr>
          <a:lstStyle/>
          <a:p>
            <a:pPr lvl="0" algn="just"/>
            <a:r>
              <a:rPr lang="en-US" sz="2400" b="1" dirty="0">
                <a:latin typeface="Times New Roman" panose="02020603050405020304" pitchFamily="18" charset="0"/>
                <a:cs typeface="Times New Roman" panose="02020603050405020304" pitchFamily="18" charset="0"/>
              </a:rPr>
              <a:t>COURSE OBJECTIVES</a:t>
            </a:r>
            <a:endParaRPr lang="en-US" sz="2400" b="1" i="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Course aims to:</a:t>
            </a:r>
            <a:endParaRPr lang="en-US" sz="2400" b="1" i="1"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database system concepts and design databases for different applications and to acquire the knowledge on DBMS and RDBMS.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 and understand different types of DDL, DML and DCL statements.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transaction concepts related to databases and recovery/backup techniques required for the proper storage of data.</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13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710166" y="351468"/>
            <a:ext cx="1112551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p:cNvSpPr>
            <a:spLocks noGrp="1"/>
          </p:cNvSpPr>
          <p:nvPr>
            <p:ph type="sldNum" sz="quarter" idx="12"/>
          </p:nvPr>
        </p:nvSpPr>
        <p:spPr/>
        <p:txBody>
          <a:bodyPr/>
          <a:lstStyle/>
          <a:p>
            <a:fld id="{BDCDBBEF-AA6C-4BA6-85B2-A17D7F280E38}" type="slidenum">
              <a:rPr lang="en-US" smtClean="0"/>
              <a:pPr/>
              <a:t>3</a:t>
            </a:fld>
            <a:endParaRPr lang="en-US"/>
          </a:p>
        </p:txBody>
      </p:sp>
      <p:sp>
        <p:nvSpPr>
          <p:cNvPr id="4" name="Rectangle 3"/>
          <p:cNvSpPr/>
          <p:nvPr/>
        </p:nvSpPr>
        <p:spPr>
          <a:xfrm>
            <a:off x="720497" y="1170835"/>
            <a:ext cx="8880123" cy="523220"/>
          </a:xfrm>
          <a:prstGeom prst="rect">
            <a:avLst/>
          </a:prstGeom>
        </p:spPr>
        <p:txBody>
          <a:bodyPr wrap="none">
            <a:spAutoFit/>
          </a:bodyPr>
          <a:lstStyle/>
          <a:p>
            <a:r>
              <a:rPr lang="en-IN" sz="2800" dirty="0">
                <a:latin typeface="Times New Roman" panose="02020603050405020304" pitchFamily="18" charset="0"/>
                <a:cs typeface="Times New Roman" panose="02020603050405020304" pitchFamily="18" charset="0"/>
              </a:rPr>
              <a:t>On completion of this course, the students shall be able </a:t>
            </a:r>
            <a:r>
              <a:rPr lang="en-IN" sz="2800" dirty="0" smtClean="0">
                <a:latin typeface="Times New Roman" panose="02020603050405020304" pitchFamily="18" charset="0"/>
                <a:cs typeface="Times New Roman" panose="02020603050405020304" pitchFamily="18" charset="0"/>
              </a:rPr>
              <a:t>to:-</a:t>
            </a:r>
            <a:endParaRPr lang="en-US" sz="28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40947470"/>
              </p:ext>
            </p:extLst>
          </p:nvPr>
        </p:nvGraphicFramePr>
        <p:xfrm>
          <a:off x="837127" y="1931829"/>
          <a:ext cx="10824649" cy="535702"/>
        </p:xfrm>
        <a:graphic>
          <a:graphicData uri="http://schemas.openxmlformats.org/drawingml/2006/table">
            <a:tbl>
              <a:tblPr firstRow="1" firstCol="1" bandRow="1"/>
              <a:tblGrid>
                <a:gridCol w="941273"/>
                <a:gridCol w="9883376"/>
              </a:tblGrid>
              <a:tr h="535702">
                <a:tc>
                  <a:txBody>
                    <a:bodyPr/>
                    <a:lstStyle/>
                    <a:p>
                      <a:pPr marL="0" marR="53975" algn="l">
                        <a:spcBef>
                          <a:spcPts val="0"/>
                        </a:spcBef>
                        <a:spcAft>
                          <a:spcPts val="0"/>
                        </a:spcAft>
                      </a:pPr>
                      <a:r>
                        <a:rPr lang="en-IN" sz="2200" b="1" dirty="0">
                          <a:effectLst/>
                          <a:latin typeface="Times New Roman"/>
                          <a:ea typeface="Calibri"/>
                          <a:cs typeface="Arial"/>
                        </a:rPr>
                        <a:t>CO2</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IN" sz="2200" dirty="0">
                          <a:solidFill>
                            <a:srgbClr val="000000"/>
                          </a:solidFill>
                          <a:effectLst/>
                          <a:latin typeface="Times New Roman"/>
                          <a:ea typeface="Times New Roman"/>
                          <a:cs typeface="Arial"/>
                        </a:rPr>
                        <a:t>Design database for an organization using relational model</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76910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291" y="94670"/>
            <a:ext cx="10515600" cy="858368"/>
          </a:xfrm>
        </p:spPr>
        <p:txBody>
          <a:bodyPr>
            <a:normAutofit/>
          </a:bodyPr>
          <a:lstStyle/>
          <a:p>
            <a:pPr algn="ctr"/>
            <a:r>
              <a:rPr lang="en-IN" sz="3200" b="1" dirty="0" smtClean="0">
                <a:latin typeface="Times New Roman" pitchFamily="18" charset="0"/>
                <a:cs typeface="Times New Roman" pitchFamily="18" charset="0"/>
              </a:rPr>
              <a:t>Unit-1 Syllabus</a:t>
            </a:r>
            <a:endParaRPr lang="en-IN" sz="3200" b="1"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pPr/>
              <a:t>4</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780410110"/>
              </p:ext>
            </p:extLst>
          </p:nvPr>
        </p:nvGraphicFramePr>
        <p:xfrm>
          <a:off x="708338" y="1120462"/>
          <a:ext cx="11127347" cy="5324464"/>
        </p:xfrm>
        <a:graphic>
          <a:graphicData uri="http://schemas.openxmlformats.org/drawingml/2006/table">
            <a:tbl>
              <a:tblPr firstRow="1" firstCol="1" bandRow="1"/>
              <a:tblGrid>
                <a:gridCol w="2456155"/>
                <a:gridCol w="8671192"/>
              </a:tblGrid>
              <a:tr h="528398">
                <a:tc>
                  <a:txBody>
                    <a:bodyPr/>
                    <a:lstStyle/>
                    <a:p>
                      <a:pPr marL="0" marR="53975" algn="just">
                        <a:spcBef>
                          <a:spcPts val="0"/>
                        </a:spcBef>
                        <a:spcAft>
                          <a:spcPts val="0"/>
                        </a:spcAft>
                      </a:pPr>
                      <a:r>
                        <a:rPr lang="en-IN" sz="2400" b="1" dirty="0">
                          <a:effectLst/>
                          <a:latin typeface="Times New Roman"/>
                          <a:ea typeface="Calibri"/>
                          <a:cs typeface="Arial"/>
                        </a:rPr>
                        <a:t>Unit-1</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53975" algn="just">
                        <a:spcBef>
                          <a:spcPts val="0"/>
                        </a:spcBef>
                        <a:spcAft>
                          <a:spcPts val="0"/>
                        </a:spcAft>
                      </a:pPr>
                      <a:r>
                        <a:rPr lang="en-IN" sz="2400" b="1">
                          <a:effectLst/>
                          <a:latin typeface="Times New Roman"/>
                          <a:ea typeface="Times New Roman"/>
                          <a:cs typeface="Arial"/>
                        </a:rPr>
                        <a:t>Introduction to Databases and Relational Algebra</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2113592">
                <a:tc>
                  <a:txBody>
                    <a:bodyPr/>
                    <a:lstStyle/>
                    <a:p>
                      <a:pPr marL="0" marR="53975">
                        <a:spcBef>
                          <a:spcPts val="0"/>
                        </a:spcBef>
                        <a:spcAft>
                          <a:spcPts val="0"/>
                        </a:spcAft>
                      </a:pPr>
                      <a:r>
                        <a:rPr lang="en-IN" sz="2400" b="1" dirty="0">
                          <a:effectLst/>
                          <a:latin typeface="Times New Roman"/>
                          <a:ea typeface="Times New Roman"/>
                          <a:cs typeface="Arial"/>
                        </a:rPr>
                        <a:t>Overview of Databases</a:t>
                      </a:r>
                      <a:r>
                        <a:rPr lang="en-IN" sz="2400" b="1" dirty="0">
                          <a:solidFill>
                            <a:srgbClr val="00B050"/>
                          </a:solidFill>
                          <a:effectLst/>
                          <a:latin typeface="Times New Roman"/>
                          <a:ea typeface="Times New Roman"/>
                          <a:cs typeface="Arial"/>
                        </a:rPr>
                        <a:t>:</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just">
                        <a:spcBef>
                          <a:spcPts val="0"/>
                        </a:spcBef>
                        <a:spcAft>
                          <a:spcPts val="0"/>
                        </a:spcAft>
                      </a:pPr>
                      <a:r>
                        <a:rPr lang="en-IN" sz="2400" dirty="0">
                          <a:solidFill>
                            <a:srgbClr val="000000"/>
                          </a:solidFill>
                          <a:effectLst/>
                          <a:latin typeface="Times New Roman"/>
                          <a:ea typeface="Times New Roman"/>
                          <a:cs typeface="Arial"/>
                        </a:rPr>
                        <a:t>Database concepts, DBMS, Data Base System Architecture (Three Level ANSI-SPARC Architecture), Advantages and Disadvantages of DBMS, Data Independence, DBA and Responsibilities of DBA, Relational Data Structure, Keys, Relations, Attributes, Schema and Instances, Referential integrity, Entity integrity.</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61781">
                <a:tc>
                  <a:txBody>
                    <a:bodyPr/>
                    <a:lstStyle/>
                    <a:p>
                      <a:pPr marL="0" marR="53975">
                        <a:spcBef>
                          <a:spcPts val="0"/>
                        </a:spcBef>
                        <a:spcAft>
                          <a:spcPts val="0"/>
                        </a:spcAft>
                      </a:pPr>
                      <a:r>
                        <a:rPr lang="en-IN" sz="2400" b="1">
                          <a:solidFill>
                            <a:srgbClr val="000000"/>
                          </a:solidFill>
                          <a:effectLst/>
                          <a:latin typeface="Times New Roman"/>
                          <a:ea typeface="Times New Roman"/>
                          <a:cs typeface="Arial"/>
                        </a:rPr>
                        <a:t>Data Models:</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just">
                        <a:spcBef>
                          <a:spcPts val="0"/>
                        </a:spcBef>
                        <a:spcAft>
                          <a:spcPts val="0"/>
                        </a:spcAft>
                      </a:pPr>
                      <a:r>
                        <a:rPr lang="en-IN" sz="2400">
                          <a:solidFill>
                            <a:srgbClr val="000000"/>
                          </a:solidFill>
                          <a:effectLst/>
                          <a:latin typeface="Times New Roman"/>
                          <a:ea typeface="Times New Roman"/>
                          <a:cs typeface="Arial"/>
                        </a:rPr>
                        <a:t>Relational Model, Network Model, Hierarchical Model, ER Model: Design, issues, Mapping constraints, ER diagram, Comparison of Models</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85194">
                <a:tc>
                  <a:txBody>
                    <a:bodyPr/>
                    <a:lstStyle/>
                    <a:p>
                      <a:pPr marL="0" marR="53975">
                        <a:spcBef>
                          <a:spcPts val="0"/>
                        </a:spcBef>
                        <a:spcAft>
                          <a:spcPts val="0"/>
                        </a:spcAft>
                      </a:pPr>
                      <a:r>
                        <a:rPr lang="en-IN" sz="2400" b="1">
                          <a:solidFill>
                            <a:srgbClr val="000000"/>
                          </a:solidFill>
                          <a:effectLst/>
                          <a:latin typeface="Times New Roman"/>
                          <a:ea typeface="Times New Roman"/>
                          <a:cs typeface="Arial"/>
                        </a:rPr>
                        <a:t>Relational Algebra &amp; Relational Calculus:</a:t>
                      </a:r>
                      <a:endParaRPr lang="en-US" sz="240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IN" sz="2400" dirty="0">
                          <a:solidFill>
                            <a:srgbClr val="000000"/>
                          </a:solidFill>
                          <a:effectLst/>
                          <a:latin typeface="Times New Roman"/>
                          <a:ea typeface="Times New Roman"/>
                          <a:cs typeface="Arial"/>
                        </a:rPr>
                        <a:t>Introduction, Syntax, Semantics, Additional operators, Grouping and Ungrouping, Relational comparisons, Tuple Calculus, Domain Calculus, Calculus </a:t>
                      </a:r>
                      <a:r>
                        <a:rPr lang="en-IN" sz="2400" dirty="0" err="1">
                          <a:solidFill>
                            <a:srgbClr val="000000"/>
                          </a:solidFill>
                          <a:effectLst/>
                          <a:latin typeface="Times New Roman"/>
                          <a:ea typeface="Times New Roman"/>
                          <a:cs typeface="Arial"/>
                        </a:rPr>
                        <a:t>Vs</a:t>
                      </a:r>
                      <a:r>
                        <a:rPr lang="en-IN" sz="2400" dirty="0">
                          <a:solidFill>
                            <a:srgbClr val="000000"/>
                          </a:solidFill>
                          <a:effectLst/>
                          <a:latin typeface="Times New Roman"/>
                          <a:ea typeface="Times New Roman"/>
                          <a:cs typeface="Arial"/>
                        </a:rPr>
                        <a:t> Algebra, Computational capabilities</a:t>
                      </a:r>
                      <a:endParaRPr lang="en-US" sz="2400" dirty="0">
                        <a:effectLst/>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92645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95819"/>
            <a:ext cx="10515600" cy="1325563"/>
          </a:xfrm>
        </p:spPr>
        <p:txBody>
          <a:bodyPr/>
          <a:lstStyle/>
          <a:p>
            <a:r>
              <a:rPr lang="en-IN" b="1" dirty="0" smtClean="0"/>
              <a:t>Entity- Relationship Model</a:t>
            </a:r>
            <a:endParaRPr lang="en-IN" b="1" dirty="0"/>
          </a:p>
        </p:txBody>
      </p:sp>
      <p:sp>
        <p:nvSpPr>
          <p:cNvPr id="3" name="Content Placeholder 2"/>
          <p:cNvSpPr>
            <a:spLocks noGrp="1"/>
          </p:cNvSpPr>
          <p:nvPr>
            <p:ph idx="1"/>
          </p:nvPr>
        </p:nvSpPr>
        <p:spPr>
          <a:xfrm>
            <a:off x="838200" y="2173857"/>
            <a:ext cx="10515600" cy="4003106"/>
          </a:xfrm>
        </p:spPr>
        <p:txBody>
          <a:bodyPr/>
          <a:lstStyle/>
          <a:p>
            <a:pPr algn="just"/>
            <a:r>
              <a:rPr lang="en-US" dirty="0" smtClean="0">
                <a:latin typeface="Times New Roman" pitchFamily="18" charset="0"/>
                <a:cs typeface="Times New Roman" pitchFamily="18" charset="0"/>
              </a:rPr>
              <a:t>Entity-Relationship (ER) Model is based on the notion of real-world entities and relationships among them</a:t>
            </a:r>
            <a:r>
              <a:rPr lang="en-US" smtClean="0">
                <a:latin typeface="Times New Roman" pitchFamily="18" charset="0"/>
                <a:cs typeface="Times New Roman" pitchFamily="18" charset="0"/>
              </a:rPr>
              <a:t>. </a:t>
            </a:r>
          </a:p>
          <a:p>
            <a:pPr algn="just"/>
            <a:r>
              <a:rPr lang="en-US" smtClean="0">
                <a:latin typeface="Times New Roman" pitchFamily="18" charset="0"/>
                <a:cs typeface="Times New Roman" pitchFamily="18" charset="0"/>
              </a:rPr>
              <a:t>While </a:t>
            </a:r>
            <a:r>
              <a:rPr lang="en-US" dirty="0" smtClean="0">
                <a:latin typeface="Times New Roman" pitchFamily="18" charset="0"/>
                <a:cs typeface="Times New Roman" pitchFamily="18" charset="0"/>
              </a:rPr>
              <a:t>formulating real-world scenario into the database model, the ER Model creates entity set, relationship set, general attributes and constraints.</a:t>
            </a:r>
          </a:p>
          <a:p>
            <a:pPr algn="just"/>
            <a:r>
              <a:rPr lang="en-US" dirty="0" smtClean="0">
                <a:latin typeface="Times New Roman" pitchFamily="18" charset="0"/>
                <a:cs typeface="Times New Roman" pitchFamily="18" charset="0"/>
              </a:rPr>
              <a:t>ER Model is best used for the conceptual design of a database.</a:t>
            </a:r>
          </a:p>
          <a:p>
            <a:pPr algn="just"/>
            <a:endParaRPr lang="en-US" dirty="0" smtClean="0"/>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28278365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187" y="123563"/>
            <a:ext cx="10683626" cy="1035170"/>
          </a:xfrm>
        </p:spPr>
        <p:txBody>
          <a:bodyPr>
            <a:noAutofit/>
          </a:bodyPr>
          <a:lstStyle/>
          <a:p>
            <a:r>
              <a:rPr lang="en-IN" sz="4000" b="1" dirty="0" smtClean="0">
                <a:latin typeface="Times New Roman" pitchFamily="18" charset="0"/>
                <a:cs typeface="Times New Roman" pitchFamily="18" charset="0"/>
              </a:rPr>
              <a:t>Entity- Relationship Model</a:t>
            </a:r>
            <a:endParaRPr lang="en-IN" sz="40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6</a:t>
            </a:fld>
            <a:endParaRPr lang="en-US"/>
          </a:p>
        </p:txBody>
      </p:sp>
      <p:pic>
        <p:nvPicPr>
          <p:cNvPr id="6" name="Picture 3"/>
          <p:cNvPicPr>
            <a:picLocks noChangeAspect="1" noChangeArrowheads="1"/>
          </p:cNvPicPr>
          <p:nvPr/>
        </p:nvPicPr>
        <p:blipFill>
          <a:blip r:embed="rId2"/>
          <a:srcRect/>
          <a:stretch>
            <a:fillRect/>
          </a:stretch>
        </p:blipFill>
        <p:spPr bwMode="auto">
          <a:xfrm>
            <a:off x="754187" y="2153202"/>
            <a:ext cx="10160000" cy="29509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normAutofit fontScale="92500" lnSpcReduction="10000"/>
          </a:bodyPr>
          <a:lstStyle/>
          <a:p>
            <a:pPr algn="just">
              <a:buNone/>
            </a:pPr>
            <a:r>
              <a:rPr lang="en-US" b="1" dirty="0" smtClean="0">
                <a:solidFill>
                  <a:srgbClr val="FF0000"/>
                </a:solidFill>
                <a:latin typeface="Times New Roman" pitchFamily="18" charset="0"/>
                <a:cs typeface="Times New Roman" pitchFamily="18" charset="0"/>
              </a:rPr>
              <a:t>Types of Attributes</a:t>
            </a:r>
          </a:p>
          <a:p>
            <a:pPr algn="just"/>
            <a:r>
              <a:rPr lang="en-US" b="1" dirty="0" smtClean="0">
                <a:solidFill>
                  <a:srgbClr val="FF0000"/>
                </a:solidFill>
                <a:latin typeface="Times New Roman" pitchFamily="18" charset="0"/>
                <a:cs typeface="Times New Roman" pitchFamily="18" charset="0"/>
              </a:rPr>
              <a:t>Simple attribute</a:t>
            </a:r>
            <a:r>
              <a:rPr lang="en-US" dirty="0" smtClean="0">
                <a:latin typeface="Times New Roman" pitchFamily="18" charset="0"/>
                <a:cs typeface="Times New Roman" pitchFamily="18" charset="0"/>
              </a:rPr>
              <a:t> − Simple attributes are atomic values, which cannot be divided further. </a:t>
            </a:r>
            <a:r>
              <a:rPr lang="en-US" b="1" dirty="0" smtClean="0">
                <a:latin typeface="Times New Roman" pitchFamily="18" charset="0"/>
                <a:cs typeface="Times New Roman" pitchFamily="18" charset="0"/>
              </a:rPr>
              <a:t>For example</a:t>
            </a:r>
            <a:r>
              <a:rPr lang="en-US" dirty="0" smtClean="0">
                <a:latin typeface="Times New Roman" pitchFamily="18" charset="0"/>
                <a:cs typeface="Times New Roman" pitchFamily="18" charset="0"/>
              </a:rPr>
              <a:t>, a student's phone number is an atomic value of 10 digits.</a:t>
            </a:r>
          </a:p>
          <a:p>
            <a:pPr algn="just"/>
            <a:r>
              <a:rPr lang="en-US" b="1" dirty="0" smtClean="0">
                <a:solidFill>
                  <a:srgbClr val="FF0000"/>
                </a:solidFill>
                <a:latin typeface="Times New Roman" pitchFamily="18" charset="0"/>
                <a:cs typeface="Times New Roman" pitchFamily="18" charset="0"/>
              </a:rPr>
              <a:t>Composite attribute</a:t>
            </a:r>
            <a:r>
              <a:rPr lang="en-US" dirty="0" smtClean="0">
                <a:latin typeface="Times New Roman" pitchFamily="18" charset="0"/>
                <a:cs typeface="Times New Roman" pitchFamily="18" charset="0"/>
              </a:rPr>
              <a:t> − Composite attributes are made of more than one simple attribute. </a:t>
            </a:r>
            <a:r>
              <a:rPr lang="en-US" b="1" dirty="0" smtClean="0">
                <a:latin typeface="Times New Roman" pitchFamily="18" charset="0"/>
                <a:cs typeface="Times New Roman" pitchFamily="18" charset="0"/>
              </a:rPr>
              <a:t>For example,</a:t>
            </a:r>
            <a:r>
              <a:rPr lang="en-US" dirty="0" smtClean="0">
                <a:latin typeface="Times New Roman" pitchFamily="18" charset="0"/>
                <a:cs typeface="Times New Roman" pitchFamily="18" charset="0"/>
              </a:rPr>
              <a:t> a student's complete name may have </a:t>
            </a:r>
            <a:r>
              <a:rPr lang="en-US" dirty="0" err="1" smtClean="0">
                <a:latin typeface="Times New Roman" pitchFamily="18" charset="0"/>
                <a:cs typeface="Times New Roman" pitchFamily="18" charset="0"/>
              </a:rPr>
              <a:t>first_name</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middle_name</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last_name</a:t>
            </a:r>
            <a:r>
              <a:rPr lang="en-US" dirty="0" smtClean="0">
                <a:latin typeface="Times New Roman" pitchFamily="18" charset="0"/>
                <a:cs typeface="Times New Roman" pitchFamily="18" charset="0"/>
              </a:rPr>
              <a:t>.</a:t>
            </a:r>
          </a:p>
          <a:p>
            <a:pPr algn="just"/>
            <a:r>
              <a:rPr lang="en-US" b="1" dirty="0" smtClean="0">
                <a:solidFill>
                  <a:srgbClr val="FF0000"/>
                </a:solidFill>
                <a:latin typeface="Times New Roman" pitchFamily="18" charset="0"/>
                <a:cs typeface="Times New Roman" pitchFamily="18" charset="0"/>
              </a:rPr>
              <a:t>Derived</a:t>
            </a:r>
            <a:r>
              <a:rPr lang="en-US" b="1" dirty="0" smtClean="0">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attribute</a:t>
            </a:r>
            <a:r>
              <a:rPr lang="en-US" dirty="0" smtClean="0">
                <a:latin typeface="Times New Roman" pitchFamily="18" charset="0"/>
                <a:cs typeface="Times New Roman" pitchFamily="18" charset="0"/>
              </a:rPr>
              <a:t> − Derived attributes are the attributes that do not exist in the physical database, but their values are derived from other attributes present in the database. </a:t>
            </a:r>
            <a:r>
              <a:rPr lang="en-US" b="1" dirty="0" smtClean="0">
                <a:latin typeface="Times New Roman" pitchFamily="18" charset="0"/>
                <a:cs typeface="Times New Roman" pitchFamily="18" charset="0"/>
              </a:rPr>
              <a:t>For example,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average_salary</a:t>
            </a:r>
            <a:r>
              <a:rPr lang="en-US" dirty="0" smtClean="0">
                <a:latin typeface="Times New Roman" pitchFamily="18" charset="0"/>
                <a:cs typeface="Times New Roman" pitchFamily="18" charset="0"/>
              </a:rPr>
              <a:t> in a department should not be saved directly in the database, instead it can be derived. For another example, age can be derived from </a:t>
            </a:r>
            <a:r>
              <a:rPr lang="en-US" dirty="0" err="1" smtClean="0">
                <a:latin typeface="Times New Roman" pitchFamily="18" charset="0"/>
                <a:cs typeface="Times New Roman" pitchFamily="18" charset="0"/>
              </a:rPr>
              <a:t>data_of_birth</a:t>
            </a:r>
            <a:r>
              <a:rPr lang="en-US"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pPr>
              <a:buNone/>
            </a:pPr>
            <a:r>
              <a:rPr lang="en-US" b="1" dirty="0" smtClean="0">
                <a:solidFill>
                  <a:srgbClr val="FF0000"/>
                </a:solidFill>
                <a:latin typeface="Times New Roman" pitchFamily="18" charset="0"/>
                <a:cs typeface="Times New Roman" pitchFamily="18" charset="0"/>
              </a:rPr>
              <a:t>Types of Attributes</a:t>
            </a:r>
          </a:p>
          <a:p>
            <a:r>
              <a:rPr lang="en-US" b="1" dirty="0" smtClean="0">
                <a:solidFill>
                  <a:srgbClr val="FF0000"/>
                </a:solidFill>
                <a:latin typeface="Times New Roman" pitchFamily="18" charset="0"/>
                <a:cs typeface="Times New Roman" pitchFamily="18" charset="0"/>
              </a:rPr>
              <a:t>Single-value attribute</a:t>
            </a:r>
            <a:r>
              <a:rPr lang="en-US" dirty="0" smtClean="0">
                <a:latin typeface="Times New Roman" pitchFamily="18" charset="0"/>
                <a:cs typeface="Times New Roman" pitchFamily="18" charset="0"/>
              </a:rPr>
              <a:t> − Single-value attributes contain single value. For example − </a:t>
            </a:r>
            <a:r>
              <a:rPr lang="en-US" dirty="0" err="1" smtClean="0">
                <a:latin typeface="Times New Roman" pitchFamily="18" charset="0"/>
                <a:cs typeface="Times New Roman" pitchFamily="18" charset="0"/>
              </a:rPr>
              <a:t>Social_Security_Number</a:t>
            </a:r>
            <a:r>
              <a:rPr lang="en-US" dirty="0" smtClean="0">
                <a:latin typeface="Times New Roman" pitchFamily="18" charset="0"/>
                <a:cs typeface="Times New Roman" pitchFamily="18" charset="0"/>
              </a:rPr>
              <a:t>.</a:t>
            </a:r>
          </a:p>
          <a:p>
            <a:r>
              <a:rPr lang="en-US" b="1" dirty="0" smtClean="0">
                <a:solidFill>
                  <a:srgbClr val="FF0000"/>
                </a:solidFill>
                <a:latin typeface="Times New Roman" pitchFamily="18" charset="0"/>
                <a:cs typeface="Times New Roman" pitchFamily="18" charset="0"/>
              </a:rPr>
              <a:t>Multi-value attribute</a:t>
            </a:r>
            <a:r>
              <a:rPr lang="en-US" dirty="0" smtClean="0">
                <a:latin typeface="Times New Roman" pitchFamily="18" charset="0"/>
                <a:cs typeface="Times New Roman" pitchFamily="18" charset="0"/>
              </a:rPr>
              <a:t> − Multi-value attributes may contain more than one values. </a:t>
            </a:r>
            <a:r>
              <a:rPr lang="en-US" b="1" dirty="0" smtClean="0">
                <a:latin typeface="Times New Roman" pitchFamily="18" charset="0"/>
                <a:cs typeface="Times New Roman" pitchFamily="18" charset="0"/>
              </a:rPr>
              <a:t>For example,</a:t>
            </a:r>
            <a:r>
              <a:rPr lang="en-US" dirty="0" smtClean="0">
                <a:latin typeface="Times New Roman" pitchFamily="18" charset="0"/>
                <a:cs typeface="Times New Roman" pitchFamily="18" charset="0"/>
              </a:rPr>
              <a:t> a person can have more than one phone no.</a:t>
            </a:r>
            <a:endParaRPr lang="en-US" dirty="0" smtClean="0"/>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a:xfrm>
            <a:off x="708339" y="1365161"/>
            <a:ext cx="11101588" cy="4811802"/>
          </a:xfrm>
        </p:spPr>
        <p:txBody>
          <a:bodyPr>
            <a:noAutofit/>
          </a:bodyPr>
          <a:lstStyle/>
          <a:p>
            <a:pPr marL="0" indent="0" algn="just">
              <a:lnSpc>
                <a:spcPct val="80000"/>
              </a:lnSpc>
              <a:buNone/>
            </a:pPr>
            <a:r>
              <a:rPr lang="en-US" sz="2300" b="1" dirty="0" smtClean="0">
                <a:latin typeface="Times New Roman" pitchFamily="18" charset="0"/>
                <a:cs typeface="Times New Roman" pitchFamily="18" charset="0"/>
              </a:rPr>
              <a:t>Relationships</a:t>
            </a:r>
            <a:r>
              <a:rPr lang="en-US" sz="2300" dirty="0" smtClean="0">
                <a:latin typeface="Times New Roman" pitchFamily="18" charset="0"/>
                <a:cs typeface="Times New Roman" pitchFamily="18" charset="0"/>
              </a:rPr>
              <a:t>: </a:t>
            </a:r>
          </a:p>
          <a:p>
            <a:r>
              <a:rPr lang="en-US" sz="2300" dirty="0"/>
              <a:t>The association among entities is called a relationship. For example, an employee </a:t>
            </a:r>
            <a:r>
              <a:rPr lang="en-US" sz="2300" b="1" dirty="0" err="1"/>
              <a:t>works_at</a:t>
            </a:r>
            <a:r>
              <a:rPr lang="en-US" sz="2300" b="1" dirty="0"/>
              <a:t> </a:t>
            </a:r>
            <a:r>
              <a:rPr lang="en-US" sz="2300" dirty="0" smtClean="0"/>
              <a:t>a department</a:t>
            </a:r>
            <a:r>
              <a:rPr lang="en-US" sz="2300" dirty="0"/>
              <a:t>, a student </a:t>
            </a:r>
            <a:r>
              <a:rPr lang="en-US" sz="2300" b="1" dirty="0"/>
              <a:t>enrolls </a:t>
            </a:r>
            <a:r>
              <a:rPr lang="en-US" sz="2300" dirty="0"/>
              <a:t>in a course. Here, </a:t>
            </a:r>
            <a:r>
              <a:rPr lang="en-US" sz="2300" dirty="0" err="1"/>
              <a:t>Works_at</a:t>
            </a:r>
            <a:r>
              <a:rPr lang="en-US" sz="2300" dirty="0"/>
              <a:t> and Enrolls are called relationships</a:t>
            </a:r>
            <a:endParaRPr lang="en-US" sz="2300" dirty="0" smtClean="0">
              <a:latin typeface="Times New Roman" pitchFamily="18" charset="0"/>
              <a:cs typeface="Times New Roman" pitchFamily="18" charset="0"/>
            </a:endParaRPr>
          </a:p>
          <a:p>
            <a:pPr marL="0" indent="0">
              <a:buNone/>
            </a:pPr>
            <a:r>
              <a:rPr lang="en-IN" sz="2300" b="1" dirty="0" smtClean="0"/>
              <a:t>Relationship </a:t>
            </a:r>
            <a:r>
              <a:rPr lang="en-IN" sz="2300" b="1" dirty="0"/>
              <a:t>Set</a:t>
            </a:r>
          </a:p>
          <a:p>
            <a:r>
              <a:rPr lang="en-US" sz="2300" dirty="0"/>
              <a:t>A set of relationships of similar type is called a relationship set. Like entities, a relationship too can have attributes. </a:t>
            </a:r>
            <a:r>
              <a:rPr lang="en-US" sz="2300" dirty="0" smtClean="0"/>
              <a:t>These </a:t>
            </a:r>
            <a:r>
              <a:rPr lang="en-US" sz="2300" dirty="0"/>
              <a:t>attributes are called </a:t>
            </a:r>
            <a:r>
              <a:rPr lang="en-US" sz="2300" b="1" dirty="0"/>
              <a:t>descriptive attributes</a:t>
            </a:r>
            <a:r>
              <a:rPr lang="en-US" sz="2300" dirty="0"/>
              <a:t>.</a:t>
            </a:r>
          </a:p>
          <a:p>
            <a:pPr marL="0" indent="0">
              <a:buNone/>
            </a:pPr>
            <a:r>
              <a:rPr lang="en-IN" sz="2300" b="1" dirty="0"/>
              <a:t>Degree of Relationship</a:t>
            </a:r>
          </a:p>
          <a:p>
            <a:r>
              <a:rPr lang="en-US" sz="2300" dirty="0"/>
              <a:t>The number of participating entities in a relationship defines the degree of the relationship.</a:t>
            </a:r>
          </a:p>
          <a:p>
            <a:pPr marL="457200" lvl="1" indent="0">
              <a:buNone/>
            </a:pPr>
            <a:r>
              <a:rPr lang="en-IN" sz="2300" dirty="0"/>
              <a:t>Binary = degree 2</a:t>
            </a:r>
          </a:p>
          <a:p>
            <a:pPr marL="457200" lvl="1" indent="0">
              <a:buNone/>
            </a:pPr>
            <a:r>
              <a:rPr lang="en-IN" sz="2300" dirty="0"/>
              <a:t>Ternary = degree 3</a:t>
            </a:r>
          </a:p>
          <a:p>
            <a:pPr marL="457200" lvl="1" indent="0">
              <a:buNone/>
            </a:pPr>
            <a:r>
              <a:rPr lang="en-IN" sz="2300" dirty="0"/>
              <a:t>n-</a:t>
            </a:r>
            <a:r>
              <a:rPr lang="en-IN" sz="2300" dirty="0" err="1"/>
              <a:t>ary</a:t>
            </a:r>
            <a:r>
              <a:rPr lang="en-IN" sz="2300" dirty="0"/>
              <a:t> = </a:t>
            </a:r>
            <a:r>
              <a:rPr lang="en-IN" sz="2300" dirty="0" smtClean="0"/>
              <a:t>degree</a:t>
            </a:r>
            <a:endParaRPr lang="en-IN" sz="23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nSpc>
                <a:spcPct val="80000"/>
              </a:lnSpc>
              <a:buNone/>
            </a:pPr>
            <a:r>
              <a:rPr lang="en-US" b="1" dirty="0" smtClean="0">
                <a:solidFill>
                  <a:srgbClr val="FF0000"/>
                </a:solidFill>
                <a:latin typeface="Times New Roman" pitchFamily="18" charset="0"/>
                <a:cs typeface="Times New Roman" pitchFamily="18" charset="0"/>
              </a:rPr>
              <a:t>Mapping </a:t>
            </a:r>
            <a:r>
              <a:rPr lang="en-US" b="1" dirty="0">
                <a:solidFill>
                  <a:srgbClr val="FF0000"/>
                </a:solidFill>
                <a:latin typeface="Times New Roman" pitchFamily="18" charset="0"/>
                <a:cs typeface="Times New Roman" pitchFamily="18" charset="0"/>
              </a:rPr>
              <a:t>Cardinalities</a:t>
            </a:r>
          </a:p>
          <a:p>
            <a:pPr>
              <a:buNone/>
            </a:pPr>
            <a:r>
              <a:rPr lang="en-US" b="1" dirty="0">
                <a:latin typeface="Times New Roman" pitchFamily="18" charset="0"/>
                <a:cs typeface="Times New Roman" pitchFamily="18" charset="0"/>
              </a:rPr>
              <a:t>Cardinality</a:t>
            </a:r>
            <a:r>
              <a:rPr lang="en-US" dirty="0">
                <a:latin typeface="Times New Roman" pitchFamily="18" charset="0"/>
                <a:cs typeface="Times New Roman" pitchFamily="18" charset="0"/>
              </a:rPr>
              <a:t> defines the number of entities in one entity set, which can be associated with the number of entities of other set via relationship set.</a:t>
            </a:r>
          </a:p>
          <a:p>
            <a:r>
              <a:rPr lang="en-US" dirty="0">
                <a:latin typeface="Times New Roman" pitchFamily="18" charset="0"/>
                <a:cs typeface="Times New Roman" pitchFamily="18" charset="0"/>
              </a:rPr>
              <a:t>Express the number of entities to which another entity can be associated via a relationship set.</a:t>
            </a:r>
          </a:p>
          <a:p>
            <a:r>
              <a:rPr lang="en-US" dirty="0">
                <a:latin typeface="Times New Roman" pitchFamily="18" charset="0"/>
                <a:cs typeface="Times New Roman" pitchFamily="18" charset="0"/>
              </a:rPr>
              <a:t>Most useful in describing binary relationship sets.</a:t>
            </a:r>
          </a:p>
          <a:p>
            <a:pPr marL="0" indent="0">
              <a:buNone/>
            </a:pPr>
            <a:endParaRPr lang="en-IN"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38772165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Cambria" panose="02040503050406030204" pitchFamily="18" charset="0"/>
                <a:ea typeface="Cambria" panose="02040503050406030204" pitchFamily="18" charset="0"/>
              </a:rPr>
              <a:t>Types of Relationship</a:t>
            </a:r>
            <a:endParaRPr lang="en-IN"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fontScale="85000" lnSpcReduction="10000"/>
          </a:bodyPr>
          <a:lstStyle/>
          <a:p>
            <a:pPr marL="0" indent="0" algn="just">
              <a:lnSpc>
                <a:spcPct val="80000"/>
              </a:lnSpc>
              <a:buNone/>
            </a:pPr>
            <a:r>
              <a:rPr lang="en-US" b="1" dirty="0" smtClean="0">
                <a:solidFill>
                  <a:srgbClr val="FF0000"/>
                </a:solidFill>
                <a:latin typeface="Times New Roman" pitchFamily="18" charset="0"/>
                <a:cs typeface="Times New Roman" pitchFamily="18" charset="0"/>
              </a:rPr>
              <a:t>One - One Relationship:- (1 – 1) </a:t>
            </a:r>
          </a:p>
          <a:p>
            <a:pPr algn="just">
              <a:lnSpc>
                <a:spcPct val="80000"/>
              </a:lnSpc>
              <a:buNone/>
            </a:pPr>
            <a:r>
              <a:rPr lang="en-US" dirty="0" smtClean="0">
                <a:latin typeface="Times New Roman" pitchFamily="18" charset="0"/>
                <a:cs typeface="Times New Roman" pitchFamily="18" charset="0"/>
              </a:rPr>
              <a:t>    Each value in the first table could relate with only one record in the second table.</a:t>
            </a:r>
          </a:p>
          <a:p>
            <a:pPr marL="0" indent="0" algn="just">
              <a:lnSpc>
                <a:spcPct val="80000"/>
              </a:lnSpc>
              <a:buNone/>
            </a:pPr>
            <a:r>
              <a:rPr lang="en-US" b="1" dirty="0" smtClean="0">
                <a:solidFill>
                  <a:srgbClr val="FF0000"/>
                </a:solidFill>
                <a:latin typeface="Times New Roman" pitchFamily="18" charset="0"/>
                <a:cs typeface="Times New Roman" pitchFamily="18" charset="0"/>
              </a:rPr>
              <a:t>One – Many Relationship:- (1 - ∞)</a:t>
            </a:r>
          </a:p>
          <a:p>
            <a:pPr marL="0" indent="0" algn="just">
              <a:lnSpc>
                <a:spcPct val="80000"/>
              </a:lnSpc>
              <a:buNone/>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Each value in the first table</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could relate with many records in the second table.</a:t>
            </a:r>
          </a:p>
          <a:p>
            <a:pPr algn="just">
              <a:lnSpc>
                <a:spcPct val="80000"/>
              </a:lnSpc>
              <a:buNone/>
            </a:pPr>
            <a:r>
              <a:rPr lang="en-US" b="1" dirty="0" smtClean="0">
                <a:solidFill>
                  <a:srgbClr val="FF0000"/>
                </a:solidFill>
                <a:latin typeface="Times New Roman" pitchFamily="18" charset="0"/>
                <a:cs typeface="Times New Roman" pitchFamily="18" charset="0"/>
              </a:rPr>
              <a:t>Many – Many Relationship (∞ - ∞)</a:t>
            </a:r>
          </a:p>
          <a:p>
            <a:pPr algn="just">
              <a:lnSpc>
                <a:spcPct val="80000"/>
              </a:lnSpc>
              <a:buNone/>
            </a:pPr>
            <a:r>
              <a:rPr lang="en-US" dirty="0" smtClean="0">
                <a:latin typeface="Times New Roman" pitchFamily="18" charset="0"/>
                <a:cs typeface="Times New Roman" pitchFamily="18" charset="0"/>
              </a:rPr>
              <a:t>    Each value in the first table could relate with many records in the second table and each value of the second table could relate with many records in the first table.</a:t>
            </a:r>
          </a:p>
          <a:p>
            <a:pPr algn="just">
              <a:lnSpc>
                <a:spcPct val="80000"/>
              </a:lnSpc>
              <a:buNone/>
            </a:pPr>
            <a:r>
              <a:rPr lang="en-US" b="1" dirty="0" smtClean="0">
                <a:solidFill>
                  <a:srgbClr val="FF0000"/>
                </a:solidFill>
                <a:latin typeface="Times New Roman" pitchFamily="18" charset="0"/>
                <a:cs typeface="Times New Roman" pitchFamily="18" charset="0"/>
              </a:rPr>
              <a:t>Many – One Relationship(∞-1)</a:t>
            </a:r>
          </a:p>
          <a:p>
            <a:pPr algn="just"/>
            <a:r>
              <a:rPr lang="en-US" dirty="0" smtClean="0">
                <a:latin typeface="Times New Roman" pitchFamily="18" charset="0"/>
                <a:cs typeface="Times New Roman" pitchFamily="18" charset="0"/>
              </a:rPr>
              <a:t>More than one entities from entity set A can be associated with at most one entity of entity set B, however an entity from entity set B can be associated with more than one entity from entity set A.</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pPr marL="0" indent="0" algn="just">
              <a:lnSpc>
                <a:spcPct val="80000"/>
              </a:lnSpc>
              <a:buNone/>
            </a:pPr>
            <a:r>
              <a:rPr lang="en-US" b="1" dirty="0" smtClean="0">
                <a:solidFill>
                  <a:srgbClr val="FF0000"/>
                </a:solidFill>
                <a:latin typeface="Times New Roman" pitchFamily="18" charset="0"/>
                <a:cs typeface="Times New Roman" pitchFamily="18" charset="0"/>
              </a:rPr>
              <a:t>One - One Relationship:- (1 – 1) </a:t>
            </a:r>
          </a:p>
          <a:p>
            <a:pPr algn="just">
              <a:lnSpc>
                <a:spcPct val="80000"/>
              </a:lnSpc>
              <a:buNone/>
            </a:pPr>
            <a:r>
              <a:rPr lang="en-US" dirty="0" smtClean="0">
                <a:latin typeface="Times New Roman" pitchFamily="18" charset="0"/>
                <a:cs typeface="Times New Roman" pitchFamily="18" charset="0"/>
              </a:rPr>
              <a:t>    Each value in the first table could relate with only one record in the second table</a:t>
            </a:r>
          </a:p>
          <a:p>
            <a:pPr algn="just">
              <a:lnSpc>
                <a:spcPct val="80000"/>
              </a:lnSpc>
              <a:buNone/>
            </a:pPr>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pic>
        <p:nvPicPr>
          <p:cNvPr id="5" name="Picture 3"/>
          <p:cNvPicPr>
            <a:picLocks noChangeAspect="1" noChangeArrowheads="1"/>
          </p:cNvPicPr>
          <p:nvPr/>
        </p:nvPicPr>
        <p:blipFill>
          <a:blip r:embed="rId2"/>
          <a:srcRect/>
          <a:stretch>
            <a:fillRect/>
          </a:stretch>
        </p:blipFill>
        <p:spPr bwMode="auto">
          <a:xfrm>
            <a:off x="2438400" y="3124200"/>
            <a:ext cx="7416800" cy="266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pPr marL="0" indent="0" algn="just">
              <a:lnSpc>
                <a:spcPct val="80000"/>
              </a:lnSpc>
              <a:buNone/>
            </a:pPr>
            <a:r>
              <a:rPr lang="en-US" b="1" dirty="0" smtClean="0">
                <a:solidFill>
                  <a:srgbClr val="FF0000"/>
                </a:solidFill>
                <a:latin typeface="Times New Roman" pitchFamily="18" charset="0"/>
                <a:cs typeface="Times New Roman" pitchFamily="18" charset="0"/>
              </a:rPr>
              <a:t>One – Many Relationship:- (1 - ∞)</a:t>
            </a:r>
          </a:p>
          <a:p>
            <a:pPr marL="0" indent="0" algn="just">
              <a:lnSpc>
                <a:spcPct val="80000"/>
              </a:lnSpc>
              <a:buNone/>
            </a:pPr>
            <a:r>
              <a:rPr lang="en-US" b="1" dirty="0" smtClean="0">
                <a:latin typeface="Times New Roman" pitchFamily="18" charset="0"/>
                <a:cs typeface="Times New Roman" pitchFamily="18" charset="0"/>
              </a:rPr>
              <a:t>   Each value in the first table </a:t>
            </a:r>
            <a:r>
              <a:rPr lang="en-US" dirty="0" smtClean="0">
                <a:latin typeface="Times New Roman" pitchFamily="18" charset="0"/>
                <a:cs typeface="Times New Roman" pitchFamily="18" charset="0"/>
              </a:rPr>
              <a:t>could relate with many records in the second table.</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pic>
        <p:nvPicPr>
          <p:cNvPr id="5" name="Picture 3"/>
          <p:cNvPicPr>
            <a:picLocks noChangeAspect="1" noChangeArrowheads="1"/>
          </p:cNvPicPr>
          <p:nvPr/>
        </p:nvPicPr>
        <p:blipFill>
          <a:blip r:embed="rId2"/>
          <a:srcRect/>
          <a:stretch>
            <a:fillRect/>
          </a:stretch>
        </p:blipFill>
        <p:spPr bwMode="auto">
          <a:xfrm>
            <a:off x="1991744" y="3590151"/>
            <a:ext cx="7416800" cy="2447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Many-to-many</a:t>
            </a:r>
            <a:r>
              <a:rPr lang="en-US" dirty="0" smtClean="0">
                <a:latin typeface="Times New Roman" pitchFamily="18" charset="0"/>
                <a:cs typeface="Times New Roman" pitchFamily="18" charset="0"/>
              </a:rPr>
              <a:t> − One entity from A can be associated with more than one entity from B and vice versa</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800" y="2743201"/>
            <a:ext cx="7416800" cy="304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Cont...</a:t>
            </a:r>
            <a:endParaRPr lang="en-IN" b="1" dirty="0"/>
          </a:p>
        </p:txBody>
      </p:sp>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Many-to-one</a:t>
            </a:r>
            <a:r>
              <a:rPr lang="en-US" dirty="0" smtClean="0">
                <a:latin typeface="Times New Roman" pitchFamily="18" charset="0"/>
                <a:cs typeface="Times New Roman" pitchFamily="18" charset="0"/>
              </a:rPr>
              <a:t> − More than one entities from entity set A can be associated with at most one entity of entity set B, however an entity from entity set B can be associated with more than one entity from entity set A.</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5" name="Picture 2"/>
          <p:cNvPicPr>
            <a:picLocks noChangeAspect="1" noChangeArrowheads="1"/>
          </p:cNvPicPr>
          <p:nvPr/>
        </p:nvPicPr>
        <p:blipFill>
          <a:blip r:embed="rId2"/>
          <a:srcRect/>
          <a:stretch>
            <a:fillRect/>
          </a:stretch>
        </p:blipFill>
        <p:spPr bwMode="auto">
          <a:xfrm>
            <a:off x="3657600" y="3352801"/>
            <a:ext cx="4622800" cy="2295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IN" b="1" dirty="0" smtClean="0"/>
              <a:t>ER- Diagram</a:t>
            </a:r>
            <a:endParaRPr lang="en-IN" b="1" dirty="0"/>
          </a:p>
        </p:txBody>
      </p:sp>
      <p:sp>
        <p:nvSpPr>
          <p:cNvPr id="3" name="Content Placeholder 2"/>
          <p:cNvSpPr>
            <a:spLocks noGrp="1"/>
          </p:cNvSpPr>
          <p:nvPr>
            <p:ph idx="1"/>
          </p:nvPr>
        </p:nvSpPr>
        <p:spPr>
          <a:xfrm>
            <a:off x="838200" y="1299368"/>
            <a:ext cx="10515600" cy="4351338"/>
          </a:xfrm>
        </p:spPr>
        <p:txBody>
          <a:bodyPr/>
          <a:lstStyle/>
          <a:p>
            <a:pPr>
              <a:spcBef>
                <a:spcPct val="35000"/>
              </a:spcBef>
              <a:buClr>
                <a:schemeClr val="tx2"/>
              </a:buClr>
              <a:buSzPct val="90000"/>
              <a:buFont typeface="Monotype Sorts" pitchFamily="2" charset="2"/>
              <a:buChar char="n"/>
            </a:pPr>
            <a:r>
              <a:rPr kumimoji="1" lang="en-US" sz="2400" b="1" dirty="0" smtClean="0">
                <a:latin typeface="Times New Roman" pitchFamily="18" charset="0"/>
                <a:cs typeface="Times New Roman" pitchFamily="18" charset="0"/>
              </a:rPr>
              <a:t>Rectangles</a:t>
            </a:r>
            <a:r>
              <a:rPr kumimoji="1" lang="en-US" sz="2400" dirty="0" smtClean="0">
                <a:latin typeface="Times New Roman" pitchFamily="18" charset="0"/>
                <a:cs typeface="Times New Roman" pitchFamily="18" charset="0"/>
              </a:rPr>
              <a:t> represent </a:t>
            </a:r>
            <a:r>
              <a:rPr kumimoji="1" lang="en-US" sz="2400" b="1" dirty="0" smtClean="0">
                <a:latin typeface="Times New Roman" pitchFamily="18" charset="0"/>
                <a:cs typeface="Times New Roman" pitchFamily="18" charset="0"/>
              </a:rPr>
              <a:t>Entity Sets</a:t>
            </a:r>
            <a:r>
              <a:rPr kumimoji="1" lang="en-US" sz="2400" dirty="0" smtClean="0">
                <a:latin typeface="Times New Roman" pitchFamily="18" charset="0"/>
                <a:cs typeface="Times New Roman" pitchFamily="18" charset="0"/>
              </a:rPr>
              <a:t>.</a:t>
            </a:r>
          </a:p>
          <a:p>
            <a:pPr>
              <a:spcBef>
                <a:spcPct val="35000"/>
              </a:spcBef>
              <a:buClr>
                <a:schemeClr val="tx2"/>
              </a:buClr>
              <a:buSzPct val="90000"/>
              <a:buFont typeface="Monotype Sorts" pitchFamily="2" charset="2"/>
              <a:buChar char="n"/>
            </a:pPr>
            <a:r>
              <a:rPr kumimoji="1" lang="en-US" sz="2400" b="1" dirty="0" smtClean="0">
                <a:latin typeface="Times New Roman" pitchFamily="18" charset="0"/>
                <a:cs typeface="Times New Roman" pitchFamily="18" charset="0"/>
              </a:rPr>
              <a:t>Diamonds</a:t>
            </a:r>
            <a:r>
              <a:rPr kumimoji="1" lang="en-US" sz="2400" dirty="0" smtClean="0">
                <a:latin typeface="Times New Roman" pitchFamily="18" charset="0"/>
                <a:cs typeface="Times New Roman" pitchFamily="18" charset="0"/>
              </a:rPr>
              <a:t> represent </a:t>
            </a:r>
            <a:r>
              <a:rPr kumimoji="1" lang="en-US" sz="2400" b="1" dirty="0" smtClean="0">
                <a:latin typeface="Times New Roman" pitchFamily="18" charset="0"/>
                <a:cs typeface="Times New Roman" pitchFamily="18" charset="0"/>
              </a:rPr>
              <a:t>Relationship Sets</a:t>
            </a:r>
            <a:r>
              <a:rPr kumimoji="1" lang="en-US" sz="2400" dirty="0" smtClean="0">
                <a:latin typeface="Times New Roman" pitchFamily="18" charset="0"/>
                <a:cs typeface="Times New Roman" pitchFamily="18" charset="0"/>
              </a:rPr>
              <a:t>.</a:t>
            </a:r>
          </a:p>
          <a:p>
            <a:pPr>
              <a:spcBef>
                <a:spcPct val="35000"/>
              </a:spcBef>
              <a:buClr>
                <a:schemeClr val="tx2"/>
              </a:buClr>
              <a:buSzPct val="90000"/>
              <a:buFont typeface="Monotype Sorts" pitchFamily="2" charset="2"/>
              <a:buChar char="n"/>
            </a:pPr>
            <a:r>
              <a:rPr kumimoji="1" lang="en-US" sz="2400" b="1" dirty="0" smtClean="0">
                <a:latin typeface="Times New Roman" pitchFamily="18" charset="0"/>
                <a:cs typeface="Times New Roman" pitchFamily="18" charset="0"/>
              </a:rPr>
              <a:t>Lines</a:t>
            </a:r>
            <a:r>
              <a:rPr kumimoji="1" lang="en-US" sz="2400" dirty="0" smtClean="0">
                <a:latin typeface="Times New Roman" pitchFamily="18" charset="0"/>
                <a:cs typeface="Times New Roman" pitchFamily="18" charset="0"/>
              </a:rPr>
              <a:t> link attributes to entity sets and entity sets to relationship sets.</a:t>
            </a:r>
          </a:p>
          <a:p>
            <a:pPr>
              <a:spcBef>
                <a:spcPct val="35000"/>
              </a:spcBef>
              <a:buClr>
                <a:schemeClr val="tx2"/>
              </a:buClr>
              <a:buSzPct val="90000"/>
              <a:buFont typeface="Monotype Sorts" pitchFamily="2" charset="2"/>
              <a:buChar char="n"/>
            </a:pPr>
            <a:r>
              <a:rPr kumimoji="1" lang="en-US" sz="2400" b="1" dirty="0" smtClean="0">
                <a:latin typeface="Times New Roman" pitchFamily="18" charset="0"/>
                <a:cs typeface="Times New Roman" pitchFamily="18" charset="0"/>
              </a:rPr>
              <a:t>Ellipses</a:t>
            </a:r>
            <a:r>
              <a:rPr kumimoji="1" lang="en-US" sz="2400" dirty="0" smtClean="0">
                <a:latin typeface="Times New Roman" pitchFamily="18" charset="0"/>
                <a:cs typeface="Times New Roman" pitchFamily="18" charset="0"/>
              </a:rPr>
              <a:t> represent </a:t>
            </a:r>
            <a:r>
              <a:rPr kumimoji="1" lang="en-US" sz="2400" b="1" dirty="0" smtClean="0">
                <a:latin typeface="Times New Roman" pitchFamily="18" charset="0"/>
                <a:cs typeface="Times New Roman" pitchFamily="18" charset="0"/>
              </a:rPr>
              <a:t>Attributes</a:t>
            </a:r>
          </a:p>
          <a:p>
            <a:pPr lvl="1">
              <a:spcBef>
                <a:spcPct val="35000"/>
              </a:spcBef>
              <a:buClr>
                <a:schemeClr val="hlink"/>
              </a:buClr>
              <a:buSzPct val="80000"/>
              <a:buFont typeface="Monotype Sorts" pitchFamily="2" charset="2"/>
              <a:buChar char="l"/>
            </a:pPr>
            <a:r>
              <a:rPr kumimoji="1" lang="en-US" b="1" dirty="0" smtClean="0">
                <a:latin typeface="Times New Roman" pitchFamily="18" charset="0"/>
                <a:cs typeface="Times New Roman" pitchFamily="18" charset="0"/>
              </a:rPr>
              <a:t>Double Ellipses </a:t>
            </a:r>
            <a:r>
              <a:rPr kumimoji="1" lang="en-US" dirty="0" smtClean="0">
                <a:latin typeface="Times New Roman" pitchFamily="18" charset="0"/>
                <a:cs typeface="Times New Roman" pitchFamily="18" charset="0"/>
              </a:rPr>
              <a:t>represent </a:t>
            </a:r>
            <a:r>
              <a:rPr kumimoji="1" lang="en-US" b="1" dirty="0" smtClean="0">
                <a:latin typeface="Times New Roman" pitchFamily="18" charset="0"/>
                <a:cs typeface="Times New Roman" pitchFamily="18" charset="0"/>
              </a:rPr>
              <a:t>Multivalued Attributes</a:t>
            </a:r>
            <a:r>
              <a:rPr kumimoji="1" lang="en-US" dirty="0" smtClean="0">
                <a:latin typeface="Times New Roman" pitchFamily="18" charset="0"/>
                <a:cs typeface="Times New Roman" pitchFamily="18" charset="0"/>
              </a:rPr>
              <a:t>.</a:t>
            </a:r>
          </a:p>
          <a:p>
            <a:pPr lvl="1">
              <a:spcBef>
                <a:spcPct val="35000"/>
              </a:spcBef>
              <a:buClr>
                <a:schemeClr val="hlink"/>
              </a:buClr>
              <a:buSzPct val="80000"/>
              <a:buFont typeface="Monotype Sorts" pitchFamily="2" charset="2"/>
              <a:buChar char="l"/>
            </a:pPr>
            <a:r>
              <a:rPr kumimoji="1" lang="en-US" b="1" dirty="0" smtClean="0">
                <a:latin typeface="Times New Roman" pitchFamily="18" charset="0"/>
                <a:cs typeface="Times New Roman" pitchFamily="18" charset="0"/>
              </a:rPr>
              <a:t>Dashed Ellipses </a:t>
            </a:r>
            <a:r>
              <a:rPr kumimoji="1" lang="en-US" dirty="0" smtClean="0">
                <a:latin typeface="Times New Roman" pitchFamily="18" charset="0"/>
                <a:cs typeface="Times New Roman" pitchFamily="18" charset="0"/>
              </a:rPr>
              <a:t>denote </a:t>
            </a:r>
            <a:r>
              <a:rPr kumimoji="1" lang="en-US" b="1" dirty="0" smtClean="0">
                <a:latin typeface="Times New Roman" pitchFamily="18" charset="0"/>
                <a:cs typeface="Times New Roman" pitchFamily="18" charset="0"/>
              </a:rPr>
              <a:t>Derived Attributes</a:t>
            </a:r>
            <a:r>
              <a:rPr kumimoji="1" lang="en-US" dirty="0" smtClean="0">
                <a:latin typeface="Times New Roman" pitchFamily="18" charset="0"/>
                <a:cs typeface="Times New Roman" pitchFamily="18" charset="0"/>
              </a:rPr>
              <a:t>.</a:t>
            </a:r>
          </a:p>
          <a:p>
            <a:pPr>
              <a:spcBef>
                <a:spcPct val="35000"/>
              </a:spcBef>
              <a:buClr>
                <a:schemeClr val="tx2"/>
              </a:buClr>
              <a:buSzPct val="90000"/>
              <a:buFont typeface="Monotype Sorts" pitchFamily="2" charset="2"/>
              <a:buChar char="n"/>
            </a:pPr>
            <a:r>
              <a:rPr kumimoji="1" lang="en-US" sz="2400" b="1" dirty="0" smtClean="0">
                <a:latin typeface="Times New Roman" pitchFamily="18" charset="0"/>
                <a:cs typeface="Times New Roman" pitchFamily="18" charset="0"/>
              </a:rPr>
              <a:t>Underline</a:t>
            </a:r>
            <a:r>
              <a:rPr kumimoji="1" lang="en-US" sz="2400" dirty="0" smtClean="0">
                <a:latin typeface="Times New Roman" pitchFamily="18" charset="0"/>
                <a:cs typeface="Times New Roman" pitchFamily="18" charset="0"/>
              </a:rPr>
              <a:t> indicates </a:t>
            </a:r>
            <a:r>
              <a:rPr kumimoji="1" lang="en-US" sz="2400" b="1" dirty="0" smtClean="0">
                <a:latin typeface="Times New Roman" pitchFamily="18" charset="0"/>
                <a:cs typeface="Times New Roman" pitchFamily="18" charset="0"/>
              </a:rPr>
              <a:t>Primary Key </a:t>
            </a:r>
            <a:r>
              <a:rPr kumimoji="1" lang="en-US" sz="2400" dirty="0" smtClean="0">
                <a:latin typeface="Times New Roman" pitchFamily="18" charset="0"/>
                <a:cs typeface="Times New Roman" pitchFamily="18" charset="0"/>
              </a:rPr>
              <a:t>attributes (will study later)</a:t>
            </a:r>
          </a:p>
          <a:p>
            <a:pPr>
              <a:spcBef>
                <a:spcPct val="35000"/>
              </a:spcBef>
              <a:buClr>
                <a:schemeClr val="tx2"/>
              </a:buClr>
              <a:buSzPct val="90000"/>
              <a:buNone/>
            </a:pPr>
            <a:endParaRPr kumimoji="1" lang="en-US" sz="2400" dirty="0" smtClean="0">
              <a:latin typeface="Times New Roman" pitchFamily="18" charset="0"/>
              <a:cs typeface="Times New Roman" pitchFamily="18" charset="0"/>
            </a:endParaRPr>
          </a:p>
          <a:p>
            <a:endParaRPr lang="en-US" dirty="0" smtClean="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5" name="Picture 8"/>
          <p:cNvPicPr>
            <a:picLocks noChangeAspect="1" noChangeArrowheads="1"/>
          </p:cNvPicPr>
          <p:nvPr/>
        </p:nvPicPr>
        <p:blipFill>
          <a:blip r:embed="rId2"/>
          <a:srcRect l="423" t="30743" r="635" b="31024"/>
          <a:stretch>
            <a:fillRect/>
          </a:stretch>
        </p:blipFill>
        <p:spPr bwMode="auto">
          <a:xfrm>
            <a:off x="1104721" y="4641850"/>
            <a:ext cx="9567333" cy="2079625"/>
          </a:xfrm>
          <a:prstGeom prst="rect">
            <a:avLst/>
          </a:prstGeom>
          <a:noFill/>
          <a:ln w="38100" cmpd="dbl">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820"/>
            <a:ext cx="10515600" cy="1325563"/>
          </a:xfrm>
        </p:spPr>
        <p:txBody>
          <a:bodyPr>
            <a:normAutofit/>
          </a:bodyPr>
          <a:lstStyle/>
          <a:p>
            <a:r>
              <a:rPr lang="en-IN" sz="4000" b="1" dirty="0" smtClean="0">
                <a:latin typeface="Times New Roman" pitchFamily="18" charset="0"/>
                <a:cs typeface="Times New Roman" pitchFamily="18" charset="0"/>
              </a:rPr>
              <a:t>ER-Diagram with Composite, Multivalued and Derived value </a:t>
            </a:r>
            <a:endParaRPr lang="en-IN" sz="40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5" name="Content Placeholder 4"/>
          <p:cNvPicPr>
            <a:picLocks noGrp="1" noChangeAspect="1" noChangeArrowheads="1"/>
          </p:cNvPicPr>
          <p:nvPr>
            <p:ph idx="1"/>
          </p:nvPr>
        </p:nvPicPr>
        <p:blipFill>
          <a:blip r:embed="rId2"/>
          <a:srcRect l="600" t="15976" r="998" b="15976"/>
          <a:stretch>
            <a:fillRect/>
          </a:stretch>
        </p:blipFill>
        <p:spPr bwMode="auto">
          <a:xfrm>
            <a:off x="838200" y="1510382"/>
            <a:ext cx="9812628" cy="5089299"/>
          </a:xfrm>
          <a:prstGeom prst="rect">
            <a:avLst/>
          </a:prstGeom>
          <a:noFill/>
          <a:ln w="38100" cmpd="dbl">
            <a:solidFill>
              <a:schemeClr val="tx2"/>
            </a:solid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709411" y="133305"/>
            <a:ext cx="10515600" cy="1325563"/>
          </a:xfrm>
        </p:spPr>
        <p:txBody>
          <a:bodyPr/>
          <a:lstStyle/>
          <a:p>
            <a:r>
              <a:rPr lang="en-US" b="1" dirty="0"/>
              <a:t>Design Issues</a:t>
            </a:r>
          </a:p>
        </p:txBody>
      </p:sp>
      <p:sp>
        <p:nvSpPr>
          <p:cNvPr id="37891" name="Rectangle 3"/>
          <p:cNvSpPr>
            <a:spLocks noGrp="1" noChangeArrowheads="1"/>
          </p:cNvSpPr>
          <p:nvPr>
            <p:ph type="body" idx="1"/>
          </p:nvPr>
        </p:nvSpPr>
        <p:spPr>
          <a:xfrm>
            <a:off x="709411" y="1458868"/>
            <a:ext cx="10752786" cy="4241800"/>
          </a:xfrm>
        </p:spPr>
        <p:txBody>
          <a:bodyPr>
            <a:normAutofit fontScale="92500" lnSpcReduction="10000"/>
          </a:bodyPr>
          <a:lstStyle/>
          <a:p>
            <a:pPr>
              <a:lnSpc>
                <a:spcPct val="90000"/>
              </a:lnSpc>
            </a:pPr>
            <a:r>
              <a:rPr lang="en-US" dirty="0"/>
              <a:t>Use of entity sets vs. attributes</a:t>
            </a:r>
            <a:br>
              <a:rPr lang="en-US" dirty="0"/>
            </a:br>
            <a:r>
              <a:rPr lang="en-US" dirty="0"/>
              <a:t>Choice mainly depends on the structure of the enterprise being modeled, and on the semantics associated with the attribute in question.</a:t>
            </a:r>
          </a:p>
          <a:p>
            <a:pPr>
              <a:lnSpc>
                <a:spcPct val="90000"/>
              </a:lnSpc>
            </a:pPr>
            <a:r>
              <a:rPr lang="en-US" dirty="0"/>
              <a:t>Use of entity sets vs. relationship sets</a:t>
            </a:r>
            <a:br>
              <a:rPr lang="en-US" dirty="0"/>
            </a:br>
            <a:r>
              <a:rPr lang="en-US" dirty="0"/>
              <a:t>Possible guideline is to designate a relationship set to describe an action that occurs between entities</a:t>
            </a:r>
          </a:p>
          <a:p>
            <a:pPr>
              <a:lnSpc>
                <a:spcPct val="90000"/>
              </a:lnSpc>
            </a:pPr>
            <a:r>
              <a:rPr lang="en-US" dirty="0"/>
              <a:t>Binary versus </a:t>
            </a:r>
            <a:r>
              <a:rPr lang="en-US" i="1" dirty="0"/>
              <a:t>n</a:t>
            </a:r>
            <a:r>
              <a:rPr lang="en-US" dirty="0"/>
              <a:t>-</a:t>
            </a:r>
            <a:r>
              <a:rPr lang="en-US" dirty="0" err="1"/>
              <a:t>ary</a:t>
            </a:r>
            <a:r>
              <a:rPr lang="en-US" dirty="0"/>
              <a:t> relationship sets</a:t>
            </a:r>
            <a:br>
              <a:rPr lang="en-US" dirty="0"/>
            </a:br>
            <a:r>
              <a:rPr lang="en-US" dirty="0"/>
              <a:t>Although it is possible to replace any </a:t>
            </a:r>
            <a:r>
              <a:rPr lang="en-US" dirty="0" err="1"/>
              <a:t>nonbinary</a:t>
            </a:r>
            <a:r>
              <a:rPr lang="en-US" dirty="0"/>
              <a:t> (</a:t>
            </a:r>
            <a:r>
              <a:rPr lang="en-US" i="1" dirty="0"/>
              <a:t>n</a:t>
            </a:r>
            <a:r>
              <a:rPr lang="en-US" dirty="0"/>
              <a:t>-</a:t>
            </a:r>
            <a:r>
              <a:rPr lang="en-US" dirty="0" err="1"/>
              <a:t>ary</a:t>
            </a:r>
            <a:r>
              <a:rPr lang="en-US" dirty="0"/>
              <a:t>, for </a:t>
            </a:r>
            <a:r>
              <a:rPr lang="en-US" i="1" dirty="0"/>
              <a:t>n</a:t>
            </a:r>
            <a:r>
              <a:rPr lang="en-US" dirty="0"/>
              <a:t> &gt; 2) relationship set by a number of distinct binary relationship sets, a </a:t>
            </a:r>
            <a:r>
              <a:rPr lang="en-US" i="1" dirty="0"/>
              <a:t>n</a:t>
            </a:r>
            <a:r>
              <a:rPr lang="en-US" dirty="0"/>
              <a:t>-</a:t>
            </a:r>
            <a:r>
              <a:rPr lang="en-US" dirty="0" err="1"/>
              <a:t>ary</a:t>
            </a:r>
            <a:r>
              <a:rPr lang="en-US" dirty="0"/>
              <a:t> relationship set shows more clearly that several entities participate in a single relationship.</a:t>
            </a:r>
          </a:p>
          <a:p>
            <a:pPr>
              <a:lnSpc>
                <a:spcPct val="90000"/>
              </a:lnSpc>
            </a:pPr>
            <a:r>
              <a:rPr lang="en-US" dirty="0"/>
              <a:t>Placement of relationship attributes</a:t>
            </a:r>
          </a:p>
        </p:txBody>
      </p:sp>
    </p:spTree>
    <p:extLst>
      <p:ext uri="{BB962C8B-B14F-4D97-AF65-F5344CB8AC3E}">
        <p14:creationId xmlns:p14="http://schemas.microsoft.com/office/powerpoint/2010/main" val="8518078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Participation Constraints</a:t>
            </a:r>
          </a:p>
        </p:txBody>
      </p:sp>
      <p:sp>
        <p:nvSpPr>
          <p:cNvPr id="3" name="Content Placeholder 2"/>
          <p:cNvSpPr>
            <a:spLocks noGrp="1"/>
          </p:cNvSpPr>
          <p:nvPr>
            <p:ph idx="1"/>
          </p:nvPr>
        </p:nvSpPr>
        <p:spPr/>
        <p:txBody>
          <a:bodyPr/>
          <a:lstStyle/>
          <a:p>
            <a:r>
              <a:rPr lang="en-US" b="1" dirty="0"/>
              <a:t>Total Participation </a:t>
            </a:r>
            <a:r>
              <a:rPr lang="en-US" dirty="0"/>
              <a:t>− Each entity is involved in the relationship. Total participation </a:t>
            </a:r>
            <a:r>
              <a:rPr lang="en-US" dirty="0" smtClean="0"/>
              <a:t>is </a:t>
            </a:r>
            <a:r>
              <a:rPr lang="en-IN" dirty="0" smtClean="0"/>
              <a:t>represented </a:t>
            </a:r>
            <a:r>
              <a:rPr lang="en-IN" dirty="0"/>
              <a:t>by double lines.</a:t>
            </a:r>
          </a:p>
          <a:p>
            <a:r>
              <a:rPr lang="en-US" b="1" dirty="0"/>
              <a:t>Partial participation </a:t>
            </a:r>
            <a:r>
              <a:rPr lang="en-US" dirty="0"/>
              <a:t>− Not all entities are involved in the relationship. Partial </a:t>
            </a:r>
            <a:r>
              <a:rPr lang="en-US" dirty="0" smtClean="0"/>
              <a:t>participation is </a:t>
            </a:r>
            <a:r>
              <a:rPr lang="en-US" dirty="0"/>
              <a:t>represented by single lines</a:t>
            </a:r>
            <a:r>
              <a:rPr lang="en-US" dirty="0" smtClean="0"/>
              <a:t>.</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pic>
        <p:nvPicPr>
          <p:cNvPr id="6" name="Picture 5"/>
          <p:cNvPicPr>
            <a:picLocks noChangeAspect="1"/>
          </p:cNvPicPr>
          <p:nvPr/>
        </p:nvPicPr>
        <p:blipFill>
          <a:blip r:embed="rId2"/>
          <a:stretch>
            <a:fillRect/>
          </a:stretch>
        </p:blipFill>
        <p:spPr>
          <a:xfrm>
            <a:off x="2307198" y="3679485"/>
            <a:ext cx="7767472" cy="2270555"/>
          </a:xfrm>
          <a:prstGeom prst="rect">
            <a:avLst/>
          </a:prstGeom>
        </p:spPr>
      </p:pic>
    </p:spTree>
    <p:extLst>
      <p:ext uri="{BB962C8B-B14F-4D97-AF65-F5344CB8AC3E}">
        <p14:creationId xmlns:p14="http://schemas.microsoft.com/office/powerpoint/2010/main" val="42268060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b="1" dirty="0"/>
              <a:t>Weak Entity Sets</a:t>
            </a:r>
          </a:p>
        </p:txBody>
      </p:sp>
      <p:sp>
        <p:nvSpPr>
          <p:cNvPr id="47107" name="Rectangle 3"/>
          <p:cNvSpPr>
            <a:spLocks noGrp="1" noChangeArrowheads="1"/>
          </p:cNvSpPr>
          <p:nvPr>
            <p:ph type="body" idx="1"/>
          </p:nvPr>
        </p:nvSpPr>
        <p:spPr/>
        <p:txBody>
          <a:bodyPr>
            <a:normAutofit fontScale="92500" lnSpcReduction="10000"/>
          </a:bodyPr>
          <a:lstStyle/>
          <a:p>
            <a:pPr algn="just"/>
            <a:r>
              <a:rPr lang="en-US" dirty="0"/>
              <a:t>An entity set that does not have a primary key is referred to as a </a:t>
            </a:r>
            <a:r>
              <a:rPr lang="en-US" i="1" dirty="0"/>
              <a:t>weak entity set</a:t>
            </a:r>
            <a:r>
              <a:rPr lang="en-US" dirty="0"/>
              <a:t>.</a:t>
            </a:r>
          </a:p>
          <a:p>
            <a:pPr algn="just"/>
            <a:r>
              <a:rPr lang="en-US" dirty="0"/>
              <a:t>The existence of a weak entity set depends on the existence of a </a:t>
            </a:r>
            <a:r>
              <a:rPr lang="en-US" i="1" dirty="0"/>
              <a:t>identifying entity set</a:t>
            </a:r>
          </a:p>
          <a:p>
            <a:pPr lvl="1" algn="just"/>
            <a:r>
              <a:rPr lang="en-US" dirty="0"/>
              <a:t> it must relate to the identifying entity set via a total, one-to-many relationship set from the identifying to the weak entity set</a:t>
            </a:r>
          </a:p>
          <a:p>
            <a:pPr lvl="1" algn="just"/>
            <a:r>
              <a:rPr lang="en-US" dirty="0"/>
              <a:t>Identifying relationship depicted using a </a:t>
            </a:r>
            <a:r>
              <a:rPr lang="en-US" b="1" dirty="0"/>
              <a:t>double diamond</a:t>
            </a:r>
          </a:p>
          <a:p>
            <a:pPr algn="just"/>
            <a:r>
              <a:rPr lang="en-US" b="1" dirty="0"/>
              <a:t>The </a:t>
            </a:r>
            <a:r>
              <a:rPr lang="en-US" b="1" i="1" dirty="0"/>
              <a:t>discriminator (or partial key</a:t>
            </a:r>
            <a:r>
              <a:rPr lang="en-US" i="1" dirty="0"/>
              <a:t>)</a:t>
            </a:r>
            <a:r>
              <a:rPr lang="en-US" dirty="0"/>
              <a:t> of a weak entity set is the set of attributes that distinguishes among all the entities of a weak entity set.</a:t>
            </a:r>
          </a:p>
          <a:p>
            <a:pPr algn="just"/>
            <a:r>
              <a:rPr lang="en-US" dirty="0"/>
              <a:t>The primary key of a weak entity set is formed by the primary key of the strong entity set on which the weak entity set is existence dependent, plus the weak entity set’s discriminator.</a:t>
            </a:r>
          </a:p>
        </p:txBody>
      </p:sp>
    </p:spTree>
    <p:extLst>
      <p:ext uri="{BB962C8B-B14F-4D97-AF65-F5344CB8AC3E}">
        <p14:creationId xmlns:p14="http://schemas.microsoft.com/office/powerpoint/2010/main" val="10910806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063750" y="47625"/>
            <a:ext cx="8077200" cy="609600"/>
          </a:xfrm>
        </p:spPr>
        <p:txBody>
          <a:bodyPr>
            <a:normAutofit fontScale="90000"/>
          </a:bodyPr>
          <a:lstStyle/>
          <a:p>
            <a:r>
              <a:rPr lang="en-US" b="1" dirty="0"/>
              <a:t>Weak Entity Sets (Cont.)</a:t>
            </a:r>
          </a:p>
        </p:txBody>
      </p:sp>
      <p:sp>
        <p:nvSpPr>
          <p:cNvPr id="48131" name="Rectangle 3"/>
          <p:cNvSpPr>
            <a:spLocks noGrp="1" noChangeArrowheads="1"/>
          </p:cNvSpPr>
          <p:nvPr>
            <p:ph type="body" idx="1"/>
          </p:nvPr>
        </p:nvSpPr>
        <p:spPr>
          <a:xfrm>
            <a:off x="2195513" y="833438"/>
            <a:ext cx="7478712" cy="2095500"/>
          </a:xfrm>
        </p:spPr>
        <p:txBody>
          <a:bodyPr>
            <a:normAutofit fontScale="77500" lnSpcReduction="20000"/>
          </a:bodyPr>
          <a:lstStyle/>
          <a:p>
            <a:r>
              <a:rPr lang="en-US"/>
              <a:t>We depict a weak entity set by double rectangles.</a:t>
            </a:r>
          </a:p>
          <a:p>
            <a:r>
              <a:rPr lang="en-US"/>
              <a:t>We underline the discriminator of a weak entity set  with a dashed line.</a:t>
            </a:r>
          </a:p>
          <a:p>
            <a:r>
              <a:rPr lang="en-US" i="1"/>
              <a:t>payment-number</a:t>
            </a:r>
            <a:r>
              <a:rPr lang="en-US"/>
              <a:t> – discriminator of the </a:t>
            </a:r>
            <a:r>
              <a:rPr lang="en-US" i="1"/>
              <a:t>payment </a:t>
            </a:r>
            <a:r>
              <a:rPr lang="en-US"/>
              <a:t>entity set </a:t>
            </a:r>
          </a:p>
          <a:p>
            <a:r>
              <a:rPr lang="en-US"/>
              <a:t>Primary key for </a:t>
            </a:r>
            <a:r>
              <a:rPr lang="en-US" i="1"/>
              <a:t>payment </a:t>
            </a:r>
            <a:r>
              <a:rPr lang="en-US"/>
              <a:t>– (</a:t>
            </a:r>
            <a:r>
              <a:rPr lang="en-US" i="1"/>
              <a:t>loan-number, payment-number</a:t>
            </a:r>
            <a:r>
              <a:rPr lang="en-US"/>
              <a:t>) </a:t>
            </a:r>
          </a:p>
        </p:txBody>
      </p:sp>
      <p:pic>
        <p:nvPicPr>
          <p:cNvPr id="48133" name="Picture 5"/>
          <p:cNvPicPr>
            <a:picLocks noChangeAspect="1" noChangeArrowheads="1"/>
          </p:cNvPicPr>
          <p:nvPr/>
        </p:nvPicPr>
        <p:blipFill>
          <a:blip r:embed="rId2">
            <a:extLst>
              <a:ext uri="{28A0092B-C50C-407E-A947-70E740481C1C}">
                <a14:useLocalDpi xmlns:a14="http://schemas.microsoft.com/office/drawing/2010/main" val="0"/>
              </a:ext>
            </a:extLst>
          </a:blip>
          <a:srcRect l="900" t="27867" r="1082" b="27628"/>
          <a:stretch>
            <a:fillRect/>
          </a:stretch>
        </p:blipFill>
        <p:spPr bwMode="auto">
          <a:xfrm>
            <a:off x="1905001" y="2943226"/>
            <a:ext cx="8475663" cy="2886075"/>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25081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169" y="94669"/>
            <a:ext cx="10515600" cy="1325563"/>
          </a:xfrm>
        </p:spPr>
        <p:txBody>
          <a:bodyPr/>
          <a:lstStyle/>
          <a:p>
            <a:r>
              <a:rPr lang="en-IN" b="1" dirty="0" smtClean="0"/>
              <a:t>Generalization and Specialization</a:t>
            </a:r>
            <a:endParaRPr lang="en-IN" b="1" dirty="0"/>
          </a:p>
        </p:txBody>
      </p:sp>
      <p:sp>
        <p:nvSpPr>
          <p:cNvPr id="3" name="Content Placeholder 2"/>
          <p:cNvSpPr>
            <a:spLocks noGrp="1"/>
          </p:cNvSpPr>
          <p:nvPr>
            <p:ph idx="1"/>
          </p:nvPr>
        </p:nvSpPr>
        <p:spPr/>
        <p:txBody>
          <a:bodyPr>
            <a:normAutofit/>
          </a:bodyPr>
          <a:lstStyle/>
          <a:p>
            <a:pPr algn="just"/>
            <a:r>
              <a:rPr lang="en-US" dirty="0"/>
              <a:t>The ER Model has the power of expressing database entities in a conceptual hierarchical manner</a:t>
            </a:r>
            <a:r>
              <a:rPr lang="en-US" dirty="0" smtClean="0"/>
              <a:t>. </a:t>
            </a:r>
          </a:p>
          <a:p>
            <a:pPr marL="0" indent="0" algn="just">
              <a:buNone/>
            </a:pPr>
            <a:r>
              <a:rPr lang="en-US" b="1" dirty="0" smtClean="0"/>
              <a:t>Generalization:</a:t>
            </a:r>
          </a:p>
          <a:p>
            <a:pPr algn="just"/>
            <a:r>
              <a:rPr lang="en-US" dirty="0"/>
              <a:t>Going up in this structure is called </a:t>
            </a:r>
            <a:r>
              <a:rPr lang="en-US" b="1" dirty="0" smtClean="0"/>
              <a:t>generalization (Bottom-Up)</a:t>
            </a:r>
            <a:r>
              <a:rPr lang="en-US" dirty="0" smtClean="0"/>
              <a:t>, </a:t>
            </a:r>
            <a:r>
              <a:rPr lang="en-US" dirty="0"/>
              <a:t>where entities are clubbed together </a:t>
            </a:r>
            <a:r>
              <a:rPr lang="en-US" dirty="0" smtClean="0"/>
              <a:t>to represent </a:t>
            </a:r>
            <a:r>
              <a:rPr lang="en-US" dirty="0"/>
              <a:t>a more </a:t>
            </a:r>
            <a:r>
              <a:rPr lang="en-US" b="1" dirty="0"/>
              <a:t>generalized view</a:t>
            </a:r>
            <a:r>
              <a:rPr lang="en-US" dirty="0"/>
              <a:t>. </a:t>
            </a:r>
            <a:endParaRPr lang="en-US" dirty="0" smtClean="0"/>
          </a:p>
          <a:p>
            <a:pPr algn="just"/>
            <a:r>
              <a:rPr lang="en-US" b="1" dirty="0" smtClean="0"/>
              <a:t>For </a:t>
            </a:r>
            <a:r>
              <a:rPr lang="en-US" b="1" dirty="0"/>
              <a:t>example</a:t>
            </a:r>
            <a:r>
              <a:rPr lang="en-US" dirty="0"/>
              <a:t>, a particular student named </a:t>
            </a:r>
            <a:r>
              <a:rPr lang="en-US" dirty="0" smtClean="0"/>
              <a:t>‘Amit’ </a:t>
            </a:r>
            <a:r>
              <a:rPr lang="en-US" dirty="0"/>
              <a:t>can </a:t>
            </a:r>
            <a:r>
              <a:rPr lang="en-US" dirty="0" smtClean="0"/>
              <a:t>be generalized </a:t>
            </a:r>
            <a:r>
              <a:rPr lang="en-US" dirty="0"/>
              <a:t>along with all the students. The entity shall be a student, and further, the student is </a:t>
            </a:r>
            <a:r>
              <a:rPr lang="en-US" dirty="0" smtClean="0"/>
              <a:t>a </a:t>
            </a:r>
            <a:r>
              <a:rPr lang="en-IN" dirty="0" smtClean="0"/>
              <a:t>person</a:t>
            </a:r>
            <a:r>
              <a:rPr lang="en-IN"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12378614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762000" y="0"/>
            <a:ext cx="10515600" cy="1325563"/>
          </a:xfrm>
        </p:spPr>
        <p:txBody>
          <a:bodyPr/>
          <a:lstStyle/>
          <a:p>
            <a:r>
              <a:rPr lang="en-US" b="1" dirty="0"/>
              <a:t>Generalization</a:t>
            </a:r>
          </a:p>
        </p:txBody>
      </p:sp>
      <p:sp>
        <p:nvSpPr>
          <p:cNvPr id="51203" name="Rectangle 3"/>
          <p:cNvSpPr>
            <a:spLocks noGrp="1" noChangeArrowheads="1"/>
          </p:cNvSpPr>
          <p:nvPr>
            <p:ph type="body" idx="1"/>
          </p:nvPr>
        </p:nvSpPr>
        <p:spPr>
          <a:xfrm>
            <a:off x="762000" y="1835643"/>
            <a:ext cx="10790349" cy="3869698"/>
          </a:xfrm>
        </p:spPr>
        <p:txBody>
          <a:bodyPr>
            <a:normAutofit/>
          </a:bodyPr>
          <a:lstStyle/>
          <a:p>
            <a:r>
              <a:rPr lang="en-US" b="1" dirty="0"/>
              <a:t>A bottom-up design process </a:t>
            </a:r>
            <a:r>
              <a:rPr lang="en-US" dirty="0"/>
              <a:t>– combine a number of entity sets that share the same features into a higher-level entity set.</a:t>
            </a:r>
          </a:p>
          <a:p>
            <a:r>
              <a:rPr lang="en-US" dirty="0"/>
              <a:t>Specialization and generalization are simple inversions of each other; they are represented in an E-R diagram in the same way</a:t>
            </a:r>
            <a:r>
              <a:rPr lang="en-US" dirty="0" smtClean="0"/>
              <a:t>.</a:t>
            </a:r>
            <a:endParaRPr lang="en-US" dirty="0"/>
          </a:p>
        </p:txBody>
      </p:sp>
    </p:spTree>
    <p:extLst>
      <p:ext uri="{BB962C8B-B14F-4D97-AF65-F5344CB8AC3E}">
        <p14:creationId xmlns:p14="http://schemas.microsoft.com/office/powerpoint/2010/main" val="35208079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09541" y="1297589"/>
            <a:ext cx="10515600" cy="4351338"/>
          </a:xfrm>
        </p:spPr>
        <p:txBody>
          <a:bodyPr/>
          <a:lstStyle/>
          <a:p>
            <a:pPr marL="0" indent="0">
              <a:buNone/>
            </a:pPr>
            <a:endParaRPr lang="en-US" dirty="0"/>
          </a:p>
          <a:p>
            <a:endParaRPr lang="en-IN" dirty="0"/>
          </a:p>
        </p:txBody>
      </p:sp>
      <p:sp>
        <p:nvSpPr>
          <p:cNvPr id="4" name="Slide Number Placeholder 3"/>
          <p:cNvSpPr>
            <a:spLocks noGrp="1"/>
          </p:cNvSpPr>
          <p:nvPr>
            <p:ph type="sldNum" sz="quarter" idx="12"/>
          </p:nvPr>
        </p:nvSpPr>
        <p:spPr>
          <a:xfrm>
            <a:off x="6562859" y="5828314"/>
            <a:ext cx="2743200" cy="365125"/>
          </a:xfrm>
        </p:spPr>
        <p:txBody>
          <a:bodyPr/>
          <a:lstStyle/>
          <a:p>
            <a:fld id="{BDCDBBEF-AA6C-4BA6-85B2-A17D7F280E38}" type="slidenum">
              <a:rPr lang="en-US" smtClean="0"/>
              <a:pPr/>
              <a:t>24</a:t>
            </a:fld>
            <a:endParaRPr lang="en-US"/>
          </a:p>
        </p:txBody>
      </p:sp>
      <p:sp>
        <p:nvSpPr>
          <p:cNvPr id="6" name="TextBox 5"/>
          <p:cNvSpPr txBox="1"/>
          <p:nvPr/>
        </p:nvSpPr>
        <p:spPr>
          <a:xfrm>
            <a:off x="4256732" y="5616899"/>
            <a:ext cx="2518895" cy="707886"/>
          </a:xfrm>
          <a:prstGeom prst="rect">
            <a:avLst/>
          </a:prstGeom>
          <a:noFill/>
        </p:spPr>
        <p:txBody>
          <a:bodyPr wrap="none" rtlCol="0">
            <a:spAutoFit/>
          </a:bodyPr>
          <a:lstStyle/>
          <a:p>
            <a:r>
              <a:rPr lang="en-IN" sz="2000" b="1" dirty="0" smtClean="0"/>
              <a:t>Figure: Generalization</a:t>
            </a:r>
          </a:p>
          <a:p>
            <a:r>
              <a:rPr lang="en-IN" sz="2000" b="1" dirty="0" smtClean="0"/>
              <a:t>           (Bottom-Up)</a:t>
            </a:r>
            <a:endParaRPr lang="en-IN" sz="2000" b="1" dirty="0"/>
          </a:p>
        </p:txBody>
      </p:sp>
      <p:pic>
        <p:nvPicPr>
          <p:cNvPr id="23" name="Content Placeholder 4"/>
          <p:cNvPicPr>
            <a:picLocks noChangeAspect="1"/>
          </p:cNvPicPr>
          <p:nvPr/>
        </p:nvPicPr>
        <p:blipFill>
          <a:blip r:embed="rId2"/>
          <a:stretch>
            <a:fillRect/>
          </a:stretch>
        </p:blipFill>
        <p:spPr>
          <a:xfrm>
            <a:off x="2624872" y="929507"/>
            <a:ext cx="5782614" cy="4089011"/>
          </a:xfrm>
          <a:prstGeom prst="rect">
            <a:avLst/>
          </a:prstGeom>
        </p:spPr>
      </p:pic>
      <p:sp>
        <p:nvSpPr>
          <p:cNvPr id="24" name="Up Arrow 23"/>
          <p:cNvSpPr/>
          <p:nvPr/>
        </p:nvSpPr>
        <p:spPr>
          <a:xfrm>
            <a:off x="8238586" y="925264"/>
            <a:ext cx="618186" cy="409325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50391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850900" y="0"/>
            <a:ext cx="10515600" cy="1325563"/>
          </a:xfrm>
        </p:spPr>
        <p:txBody>
          <a:bodyPr/>
          <a:lstStyle/>
          <a:p>
            <a:r>
              <a:rPr lang="en-US" b="1" dirty="0"/>
              <a:t>Specialization</a:t>
            </a:r>
          </a:p>
        </p:txBody>
      </p:sp>
      <p:sp>
        <p:nvSpPr>
          <p:cNvPr id="49155" name="Rectangle 3"/>
          <p:cNvSpPr>
            <a:spLocks noGrp="1" noChangeArrowheads="1"/>
          </p:cNvSpPr>
          <p:nvPr>
            <p:ph type="body" idx="1"/>
          </p:nvPr>
        </p:nvSpPr>
        <p:spPr>
          <a:xfrm>
            <a:off x="850900" y="1325563"/>
            <a:ext cx="10688570" cy="4791901"/>
          </a:xfrm>
        </p:spPr>
        <p:txBody>
          <a:bodyPr>
            <a:normAutofit/>
          </a:bodyPr>
          <a:lstStyle/>
          <a:p>
            <a:pPr algn="just"/>
            <a:r>
              <a:rPr lang="en-US" b="1" dirty="0"/>
              <a:t>Top-down design process</a:t>
            </a:r>
            <a:r>
              <a:rPr lang="en-US" dirty="0"/>
              <a:t>; we designate subgroupings within an entity set that are distinctive from other entities in the set.</a:t>
            </a:r>
          </a:p>
          <a:p>
            <a:pPr algn="just"/>
            <a:r>
              <a:rPr lang="en-US" dirty="0"/>
              <a:t>These subgroupings become lower-level entity sets that have attributes or participate in relationships that do not apply to the higher-level entity set.</a:t>
            </a:r>
          </a:p>
          <a:p>
            <a:pPr algn="just"/>
            <a:r>
              <a:rPr lang="en-US" dirty="0"/>
              <a:t>Depicted by a </a:t>
            </a:r>
            <a:r>
              <a:rPr lang="en-US" b="1" i="1" dirty="0">
                <a:solidFill>
                  <a:srgbClr val="C00000"/>
                </a:solidFill>
              </a:rPr>
              <a:t>triangle</a:t>
            </a:r>
            <a:r>
              <a:rPr lang="en-US" dirty="0"/>
              <a:t> component </a:t>
            </a:r>
            <a:r>
              <a:rPr lang="en-US" b="1" dirty="0">
                <a:solidFill>
                  <a:srgbClr val="C00000"/>
                </a:solidFill>
              </a:rPr>
              <a:t>labeled ISA </a:t>
            </a:r>
            <a:r>
              <a:rPr lang="en-US" dirty="0"/>
              <a:t>(E.g. </a:t>
            </a:r>
            <a:r>
              <a:rPr lang="en-US" i="1" dirty="0"/>
              <a:t>customer</a:t>
            </a:r>
            <a:r>
              <a:rPr lang="en-US" dirty="0"/>
              <a:t> “is a” </a:t>
            </a:r>
            <a:r>
              <a:rPr lang="en-US" i="1" dirty="0"/>
              <a:t>person</a:t>
            </a:r>
            <a:r>
              <a:rPr lang="en-US" dirty="0"/>
              <a:t>).</a:t>
            </a:r>
          </a:p>
          <a:p>
            <a:pPr algn="just"/>
            <a:r>
              <a:rPr lang="en-US" b="1" dirty="0">
                <a:solidFill>
                  <a:schemeClr val="tx2"/>
                </a:solidFill>
              </a:rPr>
              <a:t>Attribute inheritance</a:t>
            </a:r>
            <a:r>
              <a:rPr lang="en-US" dirty="0"/>
              <a:t> – a lower-level entity set inherits all the attributes and relationship participation of the higher-level entity set to which it is linked.</a:t>
            </a:r>
          </a:p>
          <a:p>
            <a:pPr algn="just"/>
            <a:endParaRPr lang="en-US" dirty="0"/>
          </a:p>
        </p:txBody>
      </p:sp>
    </p:spTree>
    <p:extLst>
      <p:ext uri="{BB962C8B-B14F-4D97-AF65-F5344CB8AC3E}">
        <p14:creationId xmlns:p14="http://schemas.microsoft.com/office/powerpoint/2010/main" val="12983814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290" y="0"/>
            <a:ext cx="10515600" cy="1325563"/>
          </a:xfrm>
        </p:spPr>
        <p:txBody>
          <a:bodyPr>
            <a:normAutofit/>
          </a:bodyPr>
          <a:lstStyle/>
          <a:p>
            <a:r>
              <a:rPr lang="en-US" sz="4000" b="1" dirty="0"/>
              <a:t>Specialization Example</a:t>
            </a:r>
            <a:endParaRPr lang="en-IN" sz="4000" b="1" dirty="0"/>
          </a:p>
        </p:txBody>
      </p:sp>
      <p:pic>
        <p:nvPicPr>
          <p:cNvPr id="5" name="Content Placeholder 4"/>
          <p:cNvPicPr>
            <a:picLocks noGrp="1" noChangeAspect="1"/>
          </p:cNvPicPr>
          <p:nvPr>
            <p:ph idx="1"/>
          </p:nvPr>
        </p:nvPicPr>
        <p:blipFill>
          <a:blip r:embed="rId2"/>
          <a:stretch>
            <a:fillRect/>
          </a:stretch>
        </p:blipFill>
        <p:spPr>
          <a:xfrm>
            <a:off x="471152" y="1842327"/>
            <a:ext cx="5782614" cy="4089011"/>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6" name="TextBox 5"/>
          <p:cNvSpPr txBox="1"/>
          <p:nvPr/>
        </p:nvSpPr>
        <p:spPr>
          <a:xfrm>
            <a:off x="2146677" y="6082977"/>
            <a:ext cx="3736151" cy="400110"/>
          </a:xfrm>
          <a:prstGeom prst="rect">
            <a:avLst/>
          </a:prstGeom>
          <a:noFill/>
        </p:spPr>
        <p:txBody>
          <a:bodyPr wrap="none" rtlCol="0">
            <a:spAutoFit/>
          </a:bodyPr>
          <a:lstStyle/>
          <a:p>
            <a:r>
              <a:rPr lang="en-IN" sz="2000" b="1" dirty="0" smtClean="0"/>
              <a:t>Figure: Specialization (Top-Down)</a:t>
            </a:r>
            <a:endParaRPr lang="en-IN" sz="2000" b="1" dirty="0"/>
          </a:p>
        </p:txBody>
      </p:sp>
      <p:sp>
        <p:nvSpPr>
          <p:cNvPr id="7" name="Rectangle 6"/>
          <p:cNvSpPr/>
          <p:nvPr/>
        </p:nvSpPr>
        <p:spPr>
          <a:xfrm>
            <a:off x="6253766" y="1971125"/>
            <a:ext cx="5633434" cy="1569660"/>
          </a:xfrm>
          <a:prstGeom prst="rect">
            <a:avLst/>
          </a:prstGeom>
        </p:spPr>
        <p:txBody>
          <a:bodyPr wrap="square">
            <a:spAutoFit/>
          </a:bodyPr>
          <a:lstStyle/>
          <a:p>
            <a:pPr algn="just"/>
            <a:r>
              <a:rPr lang="en-US" sz="2400" dirty="0">
                <a:latin typeface="DejaVuSans"/>
              </a:rPr>
              <a:t>Similarly, in a school database, persons can be specialized as teacher, student, or a staff, based </a:t>
            </a:r>
            <a:r>
              <a:rPr lang="en-US" sz="2400" dirty="0" smtClean="0">
                <a:latin typeface="DejaVuSans"/>
              </a:rPr>
              <a:t>on what </a:t>
            </a:r>
            <a:r>
              <a:rPr lang="en-US" sz="2400" dirty="0">
                <a:latin typeface="DejaVuSans"/>
              </a:rPr>
              <a:t>role they play in school as entities.</a:t>
            </a:r>
            <a:endParaRPr lang="en-IN" sz="2400" dirty="0"/>
          </a:p>
        </p:txBody>
      </p:sp>
      <p:sp>
        <p:nvSpPr>
          <p:cNvPr id="3" name="Down Arrow 2"/>
          <p:cNvSpPr/>
          <p:nvPr/>
        </p:nvSpPr>
        <p:spPr>
          <a:xfrm>
            <a:off x="5738611" y="1629820"/>
            <a:ext cx="515155" cy="45140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08067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711200" y="90153"/>
            <a:ext cx="10515600" cy="888642"/>
          </a:xfrm>
        </p:spPr>
        <p:txBody>
          <a:bodyPr>
            <a:normAutofit/>
          </a:bodyPr>
          <a:lstStyle/>
          <a:p>
            <a:r>
              <a:rPr lang="en-US" sz="3800" b="1" dirty="0"/>
              <a:t>Specialization Example</a:t>
            </a:r>
          </a:p>
        </p:txBody>
      </p:sp>
      <p:pic>
        <p:nvPicPr>
          <p:cNvPr id="97283" name="Picture 3"/>
          <p:cNvPicPr>
            <a:picLocks noChangeAspect="1" noChangeArrowheads="1"/>
          </p:cNvPicPr>
          <p:nvPr/>
        </p:nvPicPr>
        <p:blipFill>
          <a:blip r:embed="rId2">
            <a:extLst>
              <a:ext uri="{28A0092B-C50C-407E-A947-70E740481C1C}">
                <a14:useLocalDpi xmlns:a14="http://schemas.microsoft.com/office/drawing/2010/main" val="0"/>
              </a:ext>
            </a:extLst>
          </a:blip>
          <a:srcRect l="12401" t="1050" r="12599" b="787"/>
          <a:stretch>
            <a:fillRect/>
          </a:stretch>
        </p:blipFill>
        <p:spPr bwMode="auto">
          <a:xfrm>
            <a:off x="2463621" y="1170143"/>
            <a:ext cx="7010758" cy="5584825"/>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31210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168" y="0"/>
            <a:ext cx="10997485" cy="1325563"/>
          </a:xfrm>
        </p:spPr>
        <p:txBody>
          <a:bodyPr/>
          <a:lstStyle/>
          <a:p>
            <a:r>
              <a:rPr lang="en-IN" b="1" dirty="0" smtClean="0"/>
              <a:t>Attribute Inheritance</a:t>
            </a:r>
            <a:endParaRPr lang="en-IN" dirty="0"/>
          </a:p>
        </p:txBody>
      </p:sp>
      <p:sp>
        <p:nvSpPr>
          <p:cNvPr id="3" name="Content Placeholder 2"/>
          <p:cNvSpPr>
            <a:spLocks noGrp="1"/>
          </p:cNvSpPr>
          <p:nvPr>
            <p:ph idx="1"/>
          </p:nvPr>
        </p:nvSpPr>
        <p:spPr/>
        <p:txBody>
          <a:bodyPr>
            <a:normAutofit/>
          </a:bodyPr>
          <a:lstStyle/>
          <a:p>
            <a:pPr algn="just"/>
            <a:r>
              <a:rPr lang="en-US" dirty="0"/>
              <a:t>We use all the above features of ER-Model in order to create classes of objects in </a:t>
            </a:r>
            <a:r>
              <a:rPr lang="en-US" dirty="0" smtClean="0"/>
              <a:t>object-oriented programming</a:t>
            </a:r>
            <a:r>
              <a:rPr lang="en-US" dirty="0"/>
              <a:t>. </a:t>
            </a:r>
            <a:endParaRPr lang="en-US" dirty="0" smtClean="0"/>
          </a:p>
          <a:p>
            <a:pPr algn="just"/>
            <a:r>
              <a:rPr lang="en-US" dirty="0" smtClean="0"/>
              <a:t>The </a:t>
            </a:r>
            <a:r>
              <a:rPr lang="en-US" dirty="0"/>
              <a:t>details of entities are generally hidden from the user; this process known </a:t>
            </a:r>
            <a:r>
              <a:rPr lang="en-US" dirty="0" smtClean="0"/>
              <a:t>as </a:t>
            </a:r>
            <a:r>
              <a:rPr lang="en-IN" b="1" dirty="0" smtClean="0"/>
              <a:t>abstraction</a:t>
            </a:r>
            <a:r>
              <a:rPr lang="en-IN" dirty="0" smtClean="0"/>
              <a:t>.</a:t>
            </a:r>
          </a:p>
          <a:p>
            <a:pPr algn="just"/>
            <a:r>
              <a:rPr lang="en-US" dirty="0"/>
              <a:t>Inheritance is an important feature of Generalization and </a:t>
            </a:r>
            <a:r>
              <a:rPr lang="en-US" dirty="0" smtClean="0"/>
              <a:t>Specialization</a:t>
            </a:r>
            <a:r>
              <a:rPr lang="en-US" dirty="0"/>
              <a:t>. It allows </a:t>
            </a:r>
            <a:r>
              <a:rPr lang="en-US" dirty="0" smtClean="0"/>
              <a:t>lower-level entities </a:t>
            </a:r>
            <a:r>
              <a:rPr lang="en-US" dirty="0"/>
              <a:t>to inherit the attributes of higher-level entities.</a:t>
            </a:r>
            <a:endParaRPr lang="en-IN" dirty="0" smtClean="0"/>
          </a:p>
          <a:p>
            <a:pPr algn="just"/>
            <a:r>
              <a:rPr lang="en-US" dirty="0"/>
              <a:t>For example, the attributes of a Person class such as name, age, and gender can be inherited </a:t>
            </a:r>
            <a:r>
              <a:rPr lang="en-US" dirty="0" smtClean="0"/>
              <a:t>by lower-level </a:t>
            </a:r>
            <a:r>
              <a:rPr lang="en-US" dirty="0"/>
              <a:t>entities such as Student or Teacher.</a:t>
            </a:r>
            <a:endParaRPr lang="en-IN" dirty="0"/>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Tree>
    <p:extLst>
      <p:ext uri="{BB962C8B-B14F-4D97-AF65-F5344CB8AC3E}">
        <p14:creationId xmlns:p14="http://schemas.microsoft.com/office/powerpoint/2010/main" val="27722015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757989" y="717280"/>
            <a:ext cx="5852611" cy="4958559"/>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7" name="TextBox 6"/>
          <p:cNvSpPr txBox="1"/>
          <p:nvPr/>
        </p:nvSpPr>
        <p:spPr>
          <a:xfrm>
            <a:off x="4591174" y="5956240"/>
            <a:ext cx="2186240" cy="400110"/>
          </a:xfrm>
          <a:prstGeom prst="rect">
            <a:avLst/>
          </a:prstGeom>
          <a:noFill/>
        </p:spPr>
        <p:txBody>
          <a:bodyPr wrap="none" rtlCol="0">
            <a:spAutoFit/>
          </a:bodyPr>
          <a:lstStyle/>
          <a:p>
            <a:r>
              <a:rPr lang="en-IN" sz="2000" b="1" dirty="0" smtClean="0"/>
              <a:t>Figure: Inheritance</a:t>
            </a:r>
            <a:endParaRPr lang="en-IN" sz="2000" b="1" dirty="0"/>
          </a:p>
        </p:txBody>
      </p:sp>
    </p:spTree>
    <p:extLst>
      <p:ext uri="{BB962C8B-B14F-4D97-AF65-F5344CB8AC3E}">
        <p14:creationId xmlns:p14="http://schemas.microsoft.com/office/powerpoint/2010/main" val="35404701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870753" y="327025"/>
            <a:ext cx="10797505" cy="609600"/>
          </a:xfrm>
        </p:spPr>
        <p:txBody>
          <a:bodyPr>
            <a:normAutofit fontScale="90000"/>
          </a:bodyPr>
          <a:lstStyle/>
          <a:p>
            <a:r>
              <a:rPr lang="en-US" b="1" dirty="0"/>
              <a:t>Summary of Symbols Used in E-R Notation</a:t>
            </a:r>
          </a:p>
        </p:txBody>
      </p:sp>
      <p:pic>
        <p:nvPicPr>
          <p:cNvPr id="100355" name="Picture 3"/>
          <p:cNvPicPr>
            <a:picLocks noChangeAspect="1" noChangeArrowheads="1"/>
          </p:cNvPicPr>
          <p:nvPr/>
        </p:nvPicPr>
        <p:blipFill>
          <a:blip r:embed="rId2">
            <a:extLst>
              <a:ext uri="{28A0092B-C50C-407E-A947-70E740481C1C}">
                <a14:useLocalDpi xmlns:a14="http://schemas.microsoft.com/office/drawing/2010/main" val="0"/>
              </a:ext>
            </a:extLst>
          </a:blip>
          <a:srcRect l="22081" t="1402" r="22781" b="53848"/>
          <a:stretch>
            <a:fillRect/>
          </a:stretch>
        </p:blipFill>
        <p:spPr bwMode="auto">
          <a:xfrm>
            <a:off x="2591516" y="1828689"/>
            <a:ext cx="6935788" cy="4221162"/>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57312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1026"/>
          <p:cNvSpPr>
            <a:spLocks noGrp="1" noChangeArrowheads="1"/>
          </p:cNvSpPr>
          <p:nvPr>
            <p:ph type="title"/>
          </p:nvPr>
        </p:nvSpPr>
        <p:spPr>
          <a:xfrm>
            <a:off x="838200" y="94668"/>
            <a:ext cx="10515600" cy="1325563"/>
          </a:xfrm>
        </p:spPr>
        <p:txBody>
          <a:bodyPr/>
          <a:lstStyle/>
          <a:p>
            <a:r>
              <a:rPr lang="en-US" b="1" dirty="0"/>
              <a:t>Summary of Symbols (Cont.)</a:t>
            </a:r>
          </a:p>
        </p:txBody>
      </p:sp>
      <p:pic>
        <p:nvPicPr>
          <p:cNvPr id="116739" name="Picture 1027"/>
          <p:cNvPicPr>
            <a:picLocks noChangeAspect="1" noChangeArrowheads="1"/>
          </p:cNvPicPr>
          <p:nvPr/>
        </p:nvPicPr>
        <p:blipFill>
          <a:blip r:embed="rId2">
            <a:extLst>
              <a:ext uri="{28A0092B-C50C-407E-A947-70E740481C1C}">
                <a14:useLocalDpi xmlns:a14="http://schemas.microsoft.com/office/drawing/2010/main" val="0"/>
              </a:ext>
            </a:extLst>
          </a:blip>
          <a:srcRect l="22081" t="46487" r="22781" b="6075"/>
          <a:stretch>
            <a:fillRect/>
          </a:stretch>
        </p:blipFill>
        <p:spPr bwMode="auto">
          <a:xfrm>
            <a:off x="2647950" y="1936728"/>
            <a:ext cx="6896100" cy="4449762"/>
          </a:xfrm>
          <a:prstGeom prst="rect">
            <a:avLst/>
          </a:prstGeom>
          <a:noFill/>
          <a:ln w="76200" cmpd="tri">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77794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838200" y="0"/>
            <a:ext cx="10515600" cy="1325563"/>
          </a:xfrm>
        </p:spPr>
        <p:txBody>
          <a:bodyPr/>
          <a:lstStyle/>
          <a:p>
            <a:r>
              <a:rPr lang="en-US" b="1" dirty="0"/>
              <a:t>E-R Design Decisions</a:t>
            </a:r>
          </a:p>
        </p:txBody>
      </p:sp>
      <p:sp>
        <p:nvSpPr>
          <p:cNvPr id="56326" name="Rectangle 6"/>
          <p:cNvSpPr>
            <a:spLocks noGrp="1" noChangeArrowheads="1"/>
          </p:cNvSpPr>
          <p:nvPr>
            <p:ph type="body" idx="1"/>
          </p:nvPr>
        </p:nvSpPr>
        <p:spPr>
          <a:xfrm>
            <a:off x="838200" y="1604091"/>
            <a:ext cx="10515600" cy="4351338"/>
          </a:xfrm>
        </p:spPr>
        <p:txBody>
          <a:bodyPr/>
          <a:lstStyle/>
          <a:p>
            <a:pPr algn="just"/>
            <a:r>
              <a:rPr lang="en-US" dirty="0"/>
              <a:t>The use of an attribute or entity set to represent an object.</a:t>
            </a:r>
          </a:p>
          <a:p>
            <a:pPr algn="just"/>
            <a:r>
              <a:rPr lang="en-US" dirty="0"/>
              <a:t>Whether a real-world concept is best expressed by an entity set or a relationship set.</a:t>
            </a:r>
          </a:p>
          <a:p>
            <a:pPr algn="just"/>
            <a:r>
              <a:rPr lang="en-US" dirty="0"/>
              <a:t>The use of a ternary relationship versus a pair of binary relationships.</a:t>
            </a:r>
          </a:p>
          <a:p>
            <a:pPr algn="just"/>
            <a:r>
              <a:rPr lang="en-US" dirty="0"/>
              <a:t>The use of a strong or weak entity set.</a:t>
            </a:r>
          </a:p>
          <a:p>
            <a:pPr algn="just"/>
            <a:r>
              <a:rPr lang="en-US" dirty="0"/>
              <a:t>The use of specialization/generalization – contributes to modularity in the design</a:t>
            </a:r>
            <a:r>
              <a:rPr lang="en-US" dirty="0" smtClean="0"/>
              <a:t>.</a:t>
            </a:r>
            <a:endParaRPr lang="en-US" dirty="0"/>
          </a:p>
        </p:txBody>
      </p:sp>
    </p:spTree>
    <p:extLst>
      <p:ext uri="{BB962C8B-B14F-4D97-AF65-F5344CB8AC3E}">
        <p14:creationId xmlns:p14="http://schemas.microsoft.com/office/powerpoint/2010/main" val="34537429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Summary		</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838200" y="2096219"/>
            <a:ext cx="10515600" cy="4080744"/>
          </a:xfrm>
        </p:spPr>
        <p:txBody>
          <a:bodyPr/>
          <a:lstStyle/>
          <a:p>
            <a:pPr algn="just"/>
            <a:r>
              <a:rPr lang="en-US" dirty="0" smtClean="0">
                <a:latin typeface="Times New Roman" pitchFamily="18" charset="0"/>
                <a:cs typeface="Times New Roman" pitchFamily="18" charset="0"/>
              </a:rPr>
              <a:t>ER Model is based on the notion of real-world entities and relationships among them. While formulating real-world scenario into the database model, the ER Model creates entity set, relationship set, general attributes and constraints.</a:t>
            </a:r>
          </a:p>
          <a:p>
            <a:pPr algn="just"/>
            <a:r>
              <a:rPr lang="en-US" dirty="0" smtClean="0">
                <a:latin typeface="Times New Roman" pitchFamily="18" charset="0"/>
                <a:cs typeface="Times New Roman" pitchFamily="18" charset="0"/>
              </a:rPr>
              <a:t>The model have some design issues discussed in </a:t>
            </a:r>
            <a:r>
              <a:rPr lang="en-US" smtClean="0">
                <a:latin typeface="Times New Roman" pitchFamily="18" charset="0"/>
                <a:cs typeface="Times New Roman" pitchFamily="18" charset="0"/>
              </a:rPr>
              <a:t>the lecture.</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1"/>
          <p:cNvSpPr>
            <a:spLocks noGrp="1"/>
          </p:cNvSpPr>
          <p:nvPr>
            <p:ph sz="half"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buFont typeface="Arial" charset="0"/>
              <a:buChar char="•"/>
              <a:defRPr/>
            </a:pPr>
            <a:endParaRPr lang="en-US" dirty="0">
              <a:cs typeface="Cordia New" pitchFamily="34" charset="-34"/>
            </a:endParaRPr>
          </a:p>
          <a:p>
            <a:pPr>
              <a:buFont typeface="Arial" charset="0"/>
              <a:buChar char="•"/>
              <a:defRPr/>
            </a:pPr>
            <a:r>
              <a:rPr lang="en-US" dirty="0" smtClean="0">
                <a:cs typeface="Cordia New" pitchFamily="34" charset="-34"/>
              </a:rPr>
              <a:t>Explain ER Model</a:t>
            </a:r>
          </a:p>
          <a:p>
            <a:pPr>
              <a:buFont typeface="Arial" charset="0"/>
              <a:buChar char="•"/>
              <a:defRPr/>
            </a:pPr>
            <a:r>
              <a:rPr lang="en-US" dirty="0" smtClean="0">
                <a:cs typeface="Cordia New" pitchFamily="34" charset="-34"/>
              </a:rPr>
              <a:t>What are the design issues?</a:t>
            </a:r>
          </a:p>
          <a:p>
            <a:pPr>
              <a:buFont typeface="Arial" charset="0"/>
              <a:buChar char="•"/>
              <a:defRPr/>
            </a:pPr>
            <a:r>
              <a:rPr lang="en-US" dirty="0" smtClean="0">
                <a:cs typeface="Cordia New" pitchFamily="34" charset="-34"/>
              </a:rPr>
              <a:t>What are derived and </a:t>
            </a:r>
            <a:r>
              <a:rPr lang="en-US" dirty="0" err="1" smtClean="0">
                <a:cs typeface="Cordia New" pitchFamily="34" charset="-34"/>
              </a:rPr>
              <a:t>multivalued</a:t>
            </a:r>
            <a:r>
              <a:rPr lang="en-US" dirty="0" smtClean="0">
                <a:cs typeface="Cordia New" pitchFamily="34" charset="-34"/>
              </a:rPr>
              <a:t> attributes?</a:t>
            </a:r>
          </a:p>
          <a:p>
            <a:pPr>
              <a:buFont typeface="Arial" charset="0"/>
              <a:buChar char="•"/>
              <a:defRPr/>
            </a:pPr>
            <a:r>
              <a:rPr lang="en-US" dirty="0" smtClean="0">
                <a:cs typeface="Cordia New" pitchFamily="34" charset="-34"/>
              </a:rPr>
              <a:t>What is cardinality?</a:t>
            </a:r>
          </a:p>
          <a:p>
            <a:pPr>
              <a:buFont typeface="Arial" charset="0"/>
              <a:buChar char="•"/>
              <a:defRPr/>
            </a:pPr>
            <a:r>
              <a:rPr lang="en-US" dirty="0" smtClean="0">
                <a:cs typeface="Cordia New" pitchFamily="34" charset="-34"/>
              </a:rPr>
              <a:t>What are the different kind of relationships we have in ER Model?</a:t>
            </a: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p:txBody>
      </p:sp>
      <p:sp>
        <p:nvSpPr>
          <p:cNvPr id="87043" name="Text Placeholder 2"/>
          <p:cNvSpPr>
            <a:spLocks noGrp="1"/>
          </p:cNvSpPr>
          <p:nvPr>
            <p:ph type="body"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pPr algn="l"/>
            <a:r>
              <a:rPr lang="en-US" altLang="en-US" dirty="0" smtClean="0">
                <a:cs typeface="Cordia New" pitchFamily="34" charset="-34"/>
              </a:rPr>
              <a:t>FAQs</a:t>
            </a:r>
          </a:p>
        </p:txBody>
      </p:sp>
    </p:spTree>
    <p:extLst>
      <p:ext uri="{BB962C8B-B14F-4D97-AF65-F5344CB8AC3E}">
        <p14:creationId xmlns:p14="http://schemas.microsoft.com/office/powerpoint/2010/main" val="3226849272"/>
      </p:ext>
    </p:extLst>
  </p:cSld>
  <p:clrMapOvr>
    <a:masterClrMapping/>
  </p:clrMapOvr>
  <p:transition>
    <p:fade thruBlk="1"/>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320800" y="1066800"/>
            <a:ext cx="10566400" cy="609600"/>
          </a:xfrm>
        </p:spPr>
        <p:txBody>
          <a:bodyPr>
            <a:normAutofit fontScale="90000"/>
          </a:bodyPr>
          <a:lstStyle/>
          <a:p>
            <a:r>
              <a:rPr lang="en-US" b="1" dirty="0" smtClean="0"/>
              <a:t>References</a:t>
            </a:r>
            <a:endParaRPr lang="en-US" b="1" dirty="0"/>
          </a:p>
        </p:txBody>
      </p:sp>
      <p:sp>
        <p:nvSpPr>
          <p:cNvPr id="5" name="Content Placeholder 2"/>
          <p:cNvSpPr>
            <a:spLocks noGrp="1"/>
          </p:cNvSpPr>
          <p:nvPr>
            <p:ph idx="1"/>
          </p:nvPr>
        </p:nvSpPr>
        <p:spPr>
          <a:xfrm>
            <a:off x="1219200" y="1752600"/>
            <a:ext cx="10668000" cy="4495800"/>
          </a:xfrm>
        </p:spPr>
        <p:txBody>
          <a:bodyPr/>
          <a:lstStyle/>
          <a:p>
            <a:pPr lvl="0"/>
            <a:r>
              <a:rPr lang="en-US" dirty="0" err="1" smtClean="0"/>
              <a:t>RamezElmasri</a:t>
            </a:r>
            <a:r>
              <a:rPr lang="en-US" dirty="0" smtClean="0"/>
              <a:t> and </a:t>
            </a:r>
            <a:r>
              <a:rPr lang="en-US" dirty="0" err="1" smtClean="0"/>
              <a:t>Shamkant</a:t>
            </a:r>
            <a:r>
              <a:rPr lang="en-US" dirty="0" smtClean="0"/>
              <a:t> B. </a:t>
            </a:r>
            <a:r>
              <a:rPr lang="en-US" dirty="0" err="1" smtClean="0"/>
              <a:t>Navathe</a:t>
            </a:r>
            <a:r>
              <a:rPr lang="en-US" dirty="0" smtClean="0"/>
              <a:t>, “Fundamentals of Database System”, The Benjamin / Cummings Publishing Co.</a:t>
            </a:r>
          </a:p>
          <a:p>
            <a:pPr lvl="0"/>
            <a:r>
              <a:rPr lang="en-US" dirty="0" err="1" smtClean="0"/>
              <a:t>Korth</a:t>
            </a:r>
            <a:r>
              <a:rPr lang="en-US" dirty="0" smtClean="0"/>
              <a:t> and </a:t>
            </a:r>
            <a:r>
              <a:rPr lang="en-US" dirty="0" err="1" smtClean="0"/>
              <a:t>Silberschatz</a:t>
            </a:r>
            <a:r>
              <a:rPr lang="en-US" dirty="0" smtClean="0"/>
              <a:t> Abraham, “Database System Concepts”, McGraw Hall.</a:t>
            </a:r>
          </a:p>
          <a:p>
            <a:pPr lvl="0"/>
            <a:r>
              <a:rPr lang="en-US" dirty="0" err="1" smtClean="0"/>
              <a:t>C.J.Date</a:t>
            </a:r>
            <a:r>
              <a:rPr lang="en-US" dirty="0" smtClean="0"/>
              <a:t>, “An Introduction to Database Systems”, Addison Wesley.</a:t>
            </a:r>
          </a:p>
          <a:p>
            <a:pPr lvl="0"/>
            <a:r>
              <a:rPr lang="en-US" dirty="0" smtClean="0"/>
              <a:t>Thomas M. Connolly, Carolyn &amp; E. </a:t>
            </a:r>
            <a:r>
              <a:rPr lang="en-US" dirty="0" err="1" smtClean="0"/>
              <a:t>Begg</a:t>
            </a:r>
            <a:r>
              <a:rPr lang="en-US" dirty="0" smtClean="0"/>
              <a:t>, “Database Systems: A Practical Approach to Design, Implementation and Management”, 5/E, University of Paisley, Addison-Wesley.</a:t>
            </a:r>
          </a:p>
          <a:p>
            <a:pPr algn="just"/>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35</a:t>
            </a:fld>
            <a:endParaRPr lang="en-US"/>
          </a:p>
        </p:txBody>
      </p:sp>
    </p:spTree>
    <p:extLst>
      <p:ext uri="{BB962C8B-B14F-4D97-AF65-F5344CB8AC3E}">
        <p14:creationId xmlns:p14="http://schemas.microsoft.com/office/powerpoint/2010/main" val="35424640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9982" name="CorelDRAW" r:id="rId3" imgW="2169000" imgH="2169360" progId="">
                    <p:embed/>
                  </p:oleObj>
                </mc:Choice>
                <mc:Fallback>
                  <p:oleObj name="CorelDRAW" r:id="rId3" imgW="2169000" imgH="2169360" progId="">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32589"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a:t>
            </a:r>
            <a:r>
              <a:rPr lang="en-US">
                <a:latin typeface="Casper" panose="02000506000000020004" pitchFamily="2" charset="0"/>
                <a:cs typeface="Segoe UI" panose="020B0502040204020203" pitchFamily="34" charset="0"/>
              </a:rPr>
              <a:t>: </a:t>
            </a:r>
            <a:r>
              <a:rPr lang="en-US" smtClean="0">
                <a:latin typeface="Casper" panose="02000506000000020004" pitchFamily="2" charset="0"/>
                <a:cs typeface="Segoe UI" panose="020B0502040204020203" pitchFamily="34" charset="0"/>
                <a:hlinkClick r:id="rId5"/>
              </a:rPr>
              <a:t>shaveta.e13464@cumail.in</a:t>
            </a:r>
            <a:r>
              <a:rPr lang="en-US" smtClean="0">
                <a:latin typeface="Casper" panose="02000506000000020004" pitchFamily="2" charset="0"/>
                <a:cs typeface="Segoe UI" panose="020B0502040204020203" pitchFamily="34" charset="0"/>
              </a:rPr>
              <a:t> </a:t>
            </a:r>
            <a:endParaRPr lang="en-US" dirty="0"/>
          </a:p>
        </p:txBody>
      </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36</a:t>
            </a:fld>
            <a:endParaRPr lang="en-US">
              <a:solidFill>
                <a:prstClr val="black">
                  <a:tint val="75000"/>
                </a:prstClr>
              </a:solidFill>
            </a:endParaRPr>
          </a:p>
        </p:txBody>
      </p:sp>
    </p:spTree>
    <p:extLst>
      <p:ext uri="{BB962C8B-B14F-4D97-AF65-F5344CB8AC3E}">
        <p14:creationId xmlns:p14="http://schemas.microsoft.com/office/powerpoint/2010/main" val="232406584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1392</TotalTime>
  <Words>1528</Words>
  <Application>Microsoft Office PowerPoint</Application>
  <PresentationFormat>Widescreen</PresentationFormat>
  <Paragraphs>185</Paragraphs>
  <Slides>36</Slides>
  <Notes>1</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51" baseType="lpstr">
      <vt:lpstr>Arial Unicode MS</vt:lpstr>
      <vt:lpstr>Arial</vt:lpstr>
      <vt:lpstr>Calibri</vt:lpstr>
      <vt:lpstr>Calibri Light</vt:lpstr>
      <vt:lpstr>Cambria</vt:lpstr>
      <vt:lpstr>Casper</vt:lpstr>
      <vt:lpstr>Cordia New</vt:lpstr>
      <vt:lpstr>DejaVuSans</vt:lpstr>
      <vt:lpstr>Karla</vt:lpstr>
      <vt:lpstr>Monotype Sorts</vt:lpstr>
      <vt:lpstr>Segoe UI</vt:lpstr>
      <vt:lpstr>Times New Roman</vt:lpstr>
      <vt:lpstr>1_Office Theme</vt:lpstr>
      <vt:lpstr>Contents Slide Master</vt:lpstr>
      <vt:lpstr>CorelDRAW</vt:lpstr>
      <vt:lpstr>PowerPoint Presentation</vt:lpstr>
      <vt:lpstr>DBMS: Course Objectives</vt:lpstr>
      <vt:lpstr>COURSE OUTCOMES</vt:lpstr>
      <vt:lpstr>Unit-1 Syllabus</vt:lpstr>
      <vt:lpstr>Entity- Relationship Model</vt:lpstr>
      <vt:lpstr>Entity- Relationship Model</vt:lpstr>
      <vt:lpstr>Cont...</vt:lpstr>
      <vt:lpstr>Cont...</vt:lpstr>
      <vt:lpstr>Cont...</vt:lpstr>
      <vt:lpstr>PowerPoint Presentation</vt:lpstr>
      <vt:lpstr>Types of Relationship</vt:lpstr>
      <vt:lpstr>Cont...</vt:lpstr>
      <vt:lpstr>Cont...</vt:lpstr>
      <vt:lpstr>Cont...</vt:lpstr>
      <vt:lpstr>Cont...</vt:lpstr>
      <vt:lpstr>ER- Diagram</vt:lpstr>
      <vt:lpstr>ER-Diagram with Composite, Multivalued and Derived value </vt:lpstr>
      <vt:lpstr>Design Issues</vt:lpstr>
      <vt:lpstr>Participation Constraints</vt:lpstr>
      <vt:lpstr>Weak Entity Sets</vt:lpstr>
      <vt:lpstr>Weak Entity Sets (Cont.)</vt:lpstr>
      <vt:lpstr>Generalization and Specialization</vt:lpstr>
      <vt:lpstr>Generalization</vt:lpstr>
      <vt:lpstr>PowerPoint Presentation</vt:lpstr>
      <vt:lpstr>Specialization</vt:lpstr>
      <vt:lpstr>Specialization Example</vt:lpstr>
      <vt:lpstr>Specialization Example</vt:lpstr>
      <vt:lpstr>Attribute Inheritance</vt:lpstr>
      <vt:lpstr>PowerPoint Presentation</vt:lpstr>
      <vt:lpstr>Summary of Symbols Used in E-R Notation</vt:lpstr>
      <vt:lpstr>Summary of Symbols (Cont.)</vt:lpstr>
      <vt:lpstr>E-R Design Decisions</vt:lpstr>
      <vt:lpstr>Summary  </vt:lpstr>
      <vt:lpstr>PowerPoint Presentation</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shavetapc</cp:lastModifiedBy>
  <cp:revision>145</cp:revision>
  <dcterms:created xsi:type="dcterms:W3CDTF">2019-01-09T10:33:58Z</dcterms:created>
  <dcterms:modified xsi:type="dcterms:W3CDTF">2023-06-16T06:08:12Z</dcterms:modified>
</cp:coreProperties>
</file>