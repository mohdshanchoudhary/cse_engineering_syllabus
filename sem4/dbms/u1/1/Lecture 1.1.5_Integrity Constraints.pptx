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613" r:id="rId3"/>
    <p:sldId id="622" r:id="rId4"/>
    <p:sldId id="623" r:id="rId5"/>
    <p:sldId id="614" r:id="rId6"/>
    <p:sldId id="615" r:id="rId7"/>
    <p:sldId id="616" r:id="rId8"/>
    <p:sldId id="617" r:id="rId9"/>
    <p:sldId id="618" r:id="rId10"/>
    <p:sldId id="619" r:id="rId11"/>
    <p:sldId id="620" r:id="rId12"/>
    <p:sldId id="621" r:id="rId13"/>
    <p:sldId id="583" r:id="rId14"/>
    <p:sldId id="584" r:id="rId15"/>
    <p:sldId id="585" r:id="rId16"/>
    <p:sldId id="586" r:id="rId17"/>
    <p:sldId id="587" r:id="rId18"/>
    <p:sldId id="611" r:id="rId19"/>
    <p:sldId id="364" r:id="rId20"/>
    <p:sldId id="489" r:id="rId21"/>
    <p:sldId id="61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4" d="100"/>
          <a:sy n="74" d="100"/>
        </p:scale>
        <p:origin x="55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8/5/2023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8/5/2023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1550909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3755877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By: Pramod Vishwakarma (E9758)</a:t>
            </a:r>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By: Pramod Vishwakarma (E9758)</a:t>
            </a:r>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By: Pramod Vishwakarma (E9758)</a:t>
            </a:r>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p:spPr>
        <p:txBody>
          <a:bodyPr anchor="ctr">
            <a:normAutofit/>
          </a:bodyPr>
          <a:lstStyle>
            <a:lvl1pPr algn="ctr">
              <a:buNone/>
              <a:defRPr sz="3200" b="1">
                <a:solidFill>
                  <a:srgbClr val="C00000"/>
                </a:solidFill>
              </a:defRPr>
            </a:lvl1pPr>
          </a:lstStyle>
          <a:p>
            <a:pPr lvl="0"/>
            <a:r>
              <a:rPr lang="en-US" smtClean="0"/>
              <a:t>Click to edit Master text styles</a:t>
            </a:r>
          </a:p>
        </p:txBody>
      </p:sp>
    </p:spTree>
    <p:extLst>
      <p:ext uri="{BB962C8B-B14F-4D97-AF65-F5344CB8AC3E}">
        <p14:creationId xmlns:p14="http://schemas.microsoft.com/office/powerpoint/2010/main" val="1825028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By: Pramod Vishwakarma (E9758)</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525822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By: Pramod Vishwakarma (E9758)</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704" r:id="rId12"/>
    <p:sldLayoutId id="214748370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hyperlink" Target="mailto:saurabh.e12800@cumail.i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40978" name="CorelDRAW" r:id="rId4" imgW="2169000" imgH="2169360" progId="">
                  <p:embed/>
                </p:oleObj>
              </mc:Choice>
              <mc:Fallback>
                <p:oleObj name="CorelDRAW" r:id="rId4" imgW="2169000" imgH="2169360" progId="">
                  <p:embed/>
                  <p:pic>
                    <p:nvPicPr>
                      <p:cNvPr id="0" name="Picture 15"/>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3737" y="5975448"/>
            <a:ext cx="6432043"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IN" sz="2400" b="1" dirty="0">
                <a:solidFill>
                  <a:prstClr val="black">
                    <a:lumMod val="85000"/>
                    <a:lumOff val="15000"/>
                  </a:prstClr>
                </a:solidFill>
                <a:latin typeface="Times New Roman" panose="02020603050405020304" pitchFamily="18" charset="0"/>
                <a:cs typeface="Times New Roman" panose="02020603050405020304" pitchFamily="18" charset="0"/>
              </a:rPr>
              <a:t>Lecture - </a:t>
            </a:r>
            <a:r>
              <a:rPr lang="en-IN" sz="2400" b="1" dirty="0" smtClean="0">
                <a:solidFill>
                  <a:prstClr val="black">
                    <a:lumMod val="85000"/>
                    <a:lumOff val="15000"/>
                  </a:prstClr>
                </a:solidFill>
                <a:latin typeface="Times New Roman" panose="02020603050405020304" pitchFamily="18" charset="0"/>
                <a:cs typeface="Times New Roman" panose="02020603050405020304" pitchFamily="18" charset="0"/>
              </a:rPr>
              <a:t>6</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Integrity </a:t>
            </a: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Constraints</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26" name="TextBox 25"/>
          <p:cNvSpPr txBox="1">
            <a:spLocks noChangeArrowheads="1"/>
          </p:cNvSpPr>
          <p:nvPr/>
        </p:nvSpPr>
        <p:spPr bwMode="auto">
          <a:xfrm>
            <a:off x="497492" y="1461582"/>
            <a:ext cx="11103427" cy="33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800" b="1" dirty="0">
                <a:latin typeface="Cambria" panose="02040503050406030204" pitchFamily="18" charset="0"/>
              </a:rPr>
              <a:t>APEX INSTITUTE OF TECHNOLOGY</a:t>
            </a:r>
            <a:endParaRPr lang="en-US" sz="4800" dirty="0">
              <a:latin typeface="Cambria" panose="02040503050406030204" pitchFamily="18" charset="0"/>
            </a:endParaRPr>
          </a:p>
          <a:p>
            <a:pPr algn="ctr"/>
            <a:r>
              <a:rPr lang="en-IN" sz="3200" b="1" dirty="0" smtClean="0">
                <a:latin typeface="Cambria" panose="02040503050406030204" pitchFamily="18" charset="0"/>
              </a:rPr>
              <a:t>DEPARTMENT </a:t>
            </a:r>
            <a:r>
              <a:rPr lang="en-IN" sz="3200" b="1" dirty="0">
                <a:latin typeface="Cambria" panose="02040503050406030204" pitchFamily="18" charset="0"/>
              </a:rPr>
              <a:t>OF COMPUTER SCIENCE &amp; ENGINEERING</a:t>
            </a:r>
            <a:endParaRPr lang="en-US" sz="3200" b="1" dirty="0">
              <a:latin typeface="Cambria" panose="02040503050406030204" pitchFamily="18" charset="0"/>
            </a:endParaRPr>
          </a:p>
          <a:p>
            <a:pPr algn="ctr" defTabSz="622300">
              <a:lnSpc>
                <a:spcPct val="90000"/>
              </a:lnSpc>
              <a:spcBef>
                <a:spcPct val="0"/>
              </a:spcBef>
              <a:spcAft>
                <a:spcPct val="35000"/>
              </a:spcAft>
            </a:pPr>
            <a:endParaRPr lang="en-US" altLang="en-US" sz="3200" b="1" dirty="0" smtClean="0">
              <a:latin typeface="Cambria" panose="02040503050406030204" pitchFamily="18" charset="0"/>
              <a:ea typeface="Calibri" charset="0"/>
              <a:cs typeface="Times New Roman" charset="0"/>
            </a:endParaRPr>
          </a:p>
          <a:p>
            <a:pPr lvl="0" algn="ctr" defTabSz="622300">
              <a:lnSpc>
                <a:spcPct val="90000"/>
              </a:lnSpc>
              <a:spcBef>
                <a:spcPct val="0"/>
              </a:spcBef>
              <a:spcAft>
                <a:spcPct val="35000"/>
              </a:spcAft>
            </a:pP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Database Management </a:t>
            </a:r>
            <a:r>
              <a:rPr lang="en-US" sz="3200" dirty="0">
                <a:solidFill>
                  <a:prstClr val="black">
                    <a:lumMod val="85000"/>
                    <a:lumOff val="15000"/>
                  </a:prstClr>
                </a:solidFill>
                <a:latin typeface="Cambria" panose="02040503050406030204" pitchFamily="18" charset="0"/>
                <a:cs typeface="Times New Roman" panose="02020603050405020304" pitchFamily="18" charset="0"/>
              </a:rPr>
              <a:t>System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(22CSH-243)</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algn="ctr" defTabSz="622300">
              <a:lnSpc>
                <a:spcPct val="90000"/>
              </a:lnSpc>
              <a:spcBef>
                <a:spcPct val="0"/>
              </a:spcBef>
              <a:spcAft>
                <a:spcPct val="35000"/>
              </a:spcAft>
            </a:pPr>
            <a:r>
              <a:rPr lang="en-US" sz="3200" b="1" dirty="0" smtClean="0">
                <a:solidFill>
                  <a:prstClr val="black">
                    <a:lumMod val="85000"/>
                    <a:lumOff val="15000"/>
                  </a:prstClr>
                </a:solidFill>
                <a:latin typeface="Cambria" panose="02040503050406030204" pitchFamily="18" charset="0"/>
                <a:cs typeface="Times New Roman" panose="02020603050405020304" pitchFamily="18" charset="0"/>
              </a:rPr>
              <a:t>Faculty:</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a:t>
            </a:r>
            <a:r>
              <a:rPr lang="en-US" sz="3200" dirty="0" err="1" smtClean="0">
                <a:solidFill>
                  <a:prstClr val="black">
                    <a:lumMod val="85000"/>
                    <a:lumOff val="15000"/>
                  </a:prstClr>
                </a:solidFill>
                <a:latin typeface="Cambria" panose="02040503050406030204" pitchFamily="18" charset="0"/>
                <a:cs typeface="Times New Roman" panose="02020603050405020304" pitchFamily="18" charset="0"/>
              </a:rPr>
              <a:t>Ms.Shaveta</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Jain (E13464)</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lvl="0" algn="ctr" defTabSz="622300">
              <a:lnSpc>
                <a:spcPct val="90000"/>
              </a:lnSpc>
              <a:spcBef>
                <a:spcPct val="0"/>
              </a:spcBef>
              <a:spcAft>
                <a:spcPct val="35000"/>
              </a:spcAft>
            </a:pPr>
            <a:endParaRPr lang="en-US" sz="1600" dirty="0">
              <a:latin typeface="Cambria" panose="020405030504060302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33604572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0"/>
            <a:ext cx="10515600" cy="1352282"/>
          </a:xfrm>
        </p:spPr>
        <p:txBody>
          <a:bodyPr>
            <a:normAutofit/>
          </a:bodyPr>
          <a:lstStyle/>
          <a:p>
            <a:r>
              <a:rPr lang="en-IN"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DBMS: Course Objectives</a:t>
            </a:r>
            <a:endPar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734095" y="1146220"/>
            <a:ext cx="11075831" cy="3534622"/>
          </a:xfrm>
          <a:prstGeom prst="rect">
            <a:avLst/>
          </a:prstGeom>
        </p:spPr>
        <p:txBody>
          <a:bodyPr wrap="square">
            <a:spAutoFit/>
          </a:bodyPr>
          <a:lstStyle/>
          <a:p>
            <a:pPr lvl="0" algn="just"/>
            <a:r>
              <a:rPr lang="en-US" sz="2400" b="1" dirty="0">
                <a:latin typeface="Times New Roman" panose="02020603050405020304" pitchFamily="18" charset="0"/>
                <a:cs typeface="Times New Roman" panose="02020603050405020304" pitchFamily="18" charset="0"/>
              </a:rPr>
              <a:t>COURSE OBJECTIVES</a:t>
            </a:r>
            <a:endParaRPr lang="en-US" sz="2400" b="1" i="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Course aims to:</a:t>
            </a:r>
            <a:endParaRPr lang="en-US" sz="2400" b="1" i="1"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database system concepts and design databases for different applications and to acquire the knowledge on DBMS and RDBMS.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and understand different types of DDL, DML and DCL statements.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transaction concepts related to databases and recovery/backup techniques required for the proper storage of data.</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13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710166" y="351468"/>
            <a:ext cx="1112551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4" name="Rectangle 3"/>
          <p:cNvSpPr/>
          <p:nvPr/>
        </p:nvSpPr>
        <p:spPr>
          <a:xfrm>
            <a:off x="720497" y="1170835"/>
            <a:ext cx="8880123" cy="523220"/>
          </a:xfrm>
          <a:prstGeom prst="rect">
            <a:avLst/>
          </a:prstGeom>
        </p:spPr>
        <p:txBody>
          <a:bodyPr wrap="none">
            <a:spAutoFit/>
          </a:bodyPr>
          <a:lstStyle/>
          <a:p>
            <a:r>
              <a:rPr lang="en-IN" sz="2800" dirty="0">
                <a:latin typeface="Times New Roman" panose="02020603050405020304" pitchFamily="18" charset="0"/>
                <a:cs typeface="Times New Roman" panose="02020603050405020304" pitchFamily="18" charset="0"/>
              </a:rPr>
              <a:t>On completion of this course, the students shall be able </a:t>
            </a:r>
            <a:r>
              <a:rPr lang="en-IN" sz="2800" dirty="0" smtClean="0">
                <a:latin typeface="Times New Roman" panose="02020603050405020304" pitchFamily="18" charset="0"/>
                <a:cs typeface="Times New Roman" panose="02020603050405020304" pitchFamily="18" charset="0"/>
              </a:rPr>
              <a:t>to:-</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40947470"/>
              </p:ext>
            </p:extLst>
          </p:nvPr>
        </p:nvGraphicFramePr>
        <p:xfrm>
          <a:off x="863006" y="1940456"/>
          <a:ext cx="10824649" cy="722595"/>
        </p:xfrm>
        <a:graphic>
          <a:graphicData uri="http://schemas.openxmlformats.org/drawingml/2006/table">
            <a:tbl>
              <a:tblPr firstRow="1" firstCol="1" bandRow="1"/>
              <a:tblGrid>
                <a:gridCol w="941273"/>
                <a:gridCol w="9883376"/>
              </a:tblGrid>
              <a:tr h="722595">
                <a:tc>
                  <a:txBody>
                    <a:bodyPr/>
                    <a:lstStyle/>
                    <a:p>
                      <a:pPr marL="0" marR="53975" algn="l">
                        <a:spcBef>
                          <a:spcPts val="0"/>
                        </a:spcBef>
                        <a:spcAft>
                          <a:spcPts val="0"/>
                        </a:spcAft>
                      </a:pPr>
                      <a:r>
                        <a:rPr lang="en-IN" sz="2200" b="1" dirty="0">
                          <a:effectLst/>
                          <a:latin typeface="Times New Roman"/>
                          <a:ea typeface="Calibri"/>
                          <a:cs typeface="Arial"/>
                        </a:rPr>
                        <a:t>CO1</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IN" sz="2200" dirty="0">
                          <a:solidFill>
                            <a:srgbClr val="000000"/>
                          </a:solidFill>
                          <a:effectLst/>
                          <a:latin typeface="Times New Roman"/>
                          <a:ea typeface="Times New Roman"/>
                          <a:cs typeface="Arial"/>
                        </a:rPr>
                        <a:t>Understand the database concept, system architecture and role of database administrator</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76910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Attribute Types</a:t>
            </a:r>
            <a:endParaRPr lang="en-IN" b="1" dirty="0"/>
          </a:p>
        </p:txBody>
      </p:sp>
      <p:sp>
        <p:nvSpPr>
          <p:cNvPr id="3" name="Content Placeholder 2"/>
          <p:cNvSpPr>
            <a:spLocks noGrp="1"/>
          </p:cNvSpPr>
          <p:nvPr>
            <p:ph idx="1"/>
          </p:nvPr>
        </p:nvSpPr>
        <p:spPr/>
        <p:txBody>
          <a:bodyPr/>
          <a:lstStyle/>
          <a:p>
            <a:pPr algn="just"/>
            <a:r>
              <a:rPr lang="en-US" altLang="en-US" dirty="0" smtClean="0">
                <a:latin typeface="Times New Roman" pitchFamily="18" charset="0"/>
                <a:ea typeface="ＭＳ Ｐゴシック" pitchFamily="34" charset="-128"/>
                <a:cs typeface="Times New Roman" pitchFamily="18" charset="0"/>
              </a:rPr>
              <a:t>The set of allowed values for each attribute is called the </a:t>
            </a:r>
            <a:r>
              <a:rPr lang="en-US" altLang="en-US" b="1" dirty="0" smtClean="0">
                <a:latin typeface="Times New Roman" pitchFamily="18" charset="0"/>
                <a:ea typeface="ＭＳ Ｐゴシック" pitchFamily="34" charset="-128"/>
                <a:cs typeface="Times New Roman" pitchFamily="18" charset="0"/>
              </a:rPr>
              <a:t>domain</a:t>
            </a:r>
            <a:r>
              <a:rPr lang="en-US" altLang="en-US" dirty="0" smtClean="0">
                <a:latin typeface="Times New Roman" pitchFamily="18" charset="0"/>
                <a:ea typeface="ＭＳ Ｐゴシック" pitchFamily="34" charset="-128"/>
                <a:cs typeface="Times New Roman" pitchFamily="18" charset="0"/>
              </a:rPr>
              <a:t> of the attribute</a:t>
            </a:r>
          </a:p>
          <a:p>
            <a:pPr algn="just"/>
            <a:r>
              <a:rPr lang="en-US" altLang="en-US" dirty="0" smtClean="0">
                <a:latin typeface="Times New Roman" pitchFamily="18" charset="0"/>
                <a:ea typeface="ＭＳ Ｐゴシック" pitchFamily="34" charset="-128"/>
                <a:cs typeface="Times New Roman" pitchFamily="18" charset="0"/>
              </a:rPr>
              <a:t>Attribute values are (normally) required to be </a:t>
            </a:r>
            <a:r>
              <a:rPr lang="en-US" altLang="en-US" b="1" dirty="0" smtClean="0">
                <a:latin typeface="Times New Roman" pitchFamily="18" charset="0"/>
                <a:ea typeface="ＭＳ Ｐゴシック" pitchFamily="34" charset="-128"/>
                <a:cs typeface="Times New Roman" pitchFamily="18" charset="0"/>
              </a:rPr>
              <a:t>atomic</a:t>
            </a:r>
            <a:r>
              <a:rPr lang="en-US" altLang="en-US" dirty="0" smtClean="0">
                <a:latin typeface="Times New Roman" pitchFamily="18" charset="0"/>
                <a:ea typeface="ＭＳ Ｐゴシック" pitchFamily="34" charset="-128"/>
                <a:cs typeface="Times New Roman" pitchFamily="18" charset="0"/>
              </a:rPr>
              <a:t>; that is, indivisible</a:t>
            </a:r>
          </a:p>
          <a:p>
            <a:pPr algn="just"/>
            <a:r>
              <a:rPr lang="en-US" altLang="en-US" dirty="0" smtClean="0">
                <a:latin typeface="Times New Roman" pitchFamily="18" charset="0"/>
                <a:ea typeface="ＭＳ Ｐゴシック" pitchFamily="34" charset="-128"/>
                <a:cs typeface="Times New Roman" pitchFamily="18" charset="0"/>
              </a:rPr>
              <a:t>The special value</a:t>
            </a:r>
            <a:r>
              <a:rPr lang="en-US" altLang="en-US" b="1" dirty="0" smtClean="0">
                <a:latin typeface="Times New Roman" pitchFamily="18" charset="0"/>
                <a:ea typeface="ＭＳ Ｐゴシック" pitchFamily="34" charset="-128"/>
                <a:cs typeface="Times New Roman" pitchFamily="18" charset="0"/>
              </a:rPr>
              <a:t> </a:t>
            </a:r>
            <a:r>
              <a:rPr lang="en-US" altLang="en-US" b="1" i="1" dirty="0" smtClean="0">
                <a:latin typeface="Times New Roman" pitchFamily="18" charset="0"/>
                <a:ea typeface="ＭＳ Ｐゴシック" pitchFamily="34" charset="-128"/>
                <a:cs typeface="Times New Roman" pitchFamily="18" charset="0"/>
              </a:rPr>
              <a:t>null</a:t>
            </a:r>
            <a:r>
              <a:rPr lang="en-US" altLang="en-US" dirty="0" smtClean="0">
                <a:latin typeface="Times New Roman" pitchFamily="18" charset="0"/>
                <a:ea typeface="ＭＳ Ｐゴシック" pitchFamily="34" charset="-128"/>
                <a:cs typeface="Times New Roman" pitchFamily="18" charset="0"/>
              </a:rPr>
              <a:t>  is a member of every domain. Indicated that the value is “unknown”</a:t>
            </a:r>
          </a:p>
          <a:p>
            <a:pPr algn="just"/>
            <a:r>
              <a:rPr lang="en-US" altLang="en-US" dirty="0" smtClean="0">
                <a:latin typeface="Times New Roman" pitchFamily="18" charset="0"/>
                <a:ea typeface="ＭＳ Ｐゴシック" pitchFamily="34" charset="-128"/>
                <a:cs typeface="Times New Roman" pitchFamily="18" charset="0"/>
              </a:rPr>
              <a:t>The null value causes complications in the definition of many operations</a:t>
            </a:r>
          </a:p>
          <a:p>
            <a:pPr algn="just"/>
            <a:endParaRPr lang="en-US" dirty="0" smtClean="0">
              <a:latin typeface="Times New Roman" pitchFamily="18" charset="0"/>
              <a:cs typeface="Times New Roman" pitchFamily="18" charset="0"/>
            </a:endParaRPr>
          </a:p>
          <a:p>
            <a:pPr algn="just"/>
            <a:endParaRPr lang="en-US" dirty="0" smtClean="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125152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Integrity Constraints</a:t>
            </a:r>
            <a:endParaRPr lang="en-IN" b="1" dirty="0"/>
          </a:p>
        </p:txBody>
      </p:sp>
      <p:sp>
        <p:nvSpPr>
          <p:cNvPr id="3" name="Content Placeholder 2"/>
          <p:cNvSpPr>
            <a:spLocks noGrp="1"/>
          </p:cNvSpPr>
          <p:nvPr>
            <p:ph idx="1"/>
          </p:nvPr>
        </p:nvSpPr>
        <p:spPr>
          <a:xfrm>
            <a:off x="838200" y="1838688"/>
            <a:ext cx="10515600" cy="4351338"/>
          </a:xfrm>
        </p:spPr>
        <p:txBody>
          <a:bodyPr/>
          <a:lstStyle/>
          <a:p>
            <a:pPr algn="just"/>
            <a:endParaRPr lang="en-IN" dirty="0" smtClean="0"/>
          </a:p>
          <a:p>
            <a:pPr algn="just"/>
            <a:r>
              <a:rPr lang="en-IN" dirty="0" smtClean="0"/>
              <a:t>Integrity constraints are a set of rules. It is used to maintain the quality of information.</a:t>
            </a:r>
          </a:p>
          <a:p>
            <a:pPr algn="just"/>
            <a:r>
              <a:rPr lang="en-IN" dirty="0" smtClean="0"/>
              <a:t>Integrity constraints ensure that the data insertion, updating, and other processes have to be performed in such a way that data integrity is not affected.</a:t>
            </a:r>
          </a:p>
          <a:p>
            <a:pPr algn="just"/>
            <a:r>
              <a:rPr lang="en-IN" dirty="0" smtClean="0"/>
              <a:t>Thus, integrity constraint is used to guard against accidental damage to the database.</a:t>
            </a:r>
          </a:p>
          <a:p>
            <a:pPr algn="just"/>
            <a:endParaRPr lang="en-IN"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1081508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Integrity Constraints</a:t>
            </a:r>
            <a:endParaRPr lang="en-IN" b="1" dirty="0"/>
          </a:p>
        </p:txBody>
      </p:sp>
      <p:sp>
        <p:nvSpPr>
          <p:cNvPr id="3" name="Content Placeholder 2"/>
          <p:cNvSpPr>
            <a:spLocks noGrp="1"/>
          </p:cNvSpPr>
          <p:nvPr>
            <p:ph idx="1"/>
          </p:nvPr>
        </p:nvSpPr>
        <p:spPr/>
        <p:txBody>
          <a:bodyPr>
            <a:normAutofit lnSpcReduction="10000"/>
          </a:bodyPr>
          <a:lstStyle/>
          <a:p>
            <a:r>
              <a:rPr lang="en-US" b="1" dirty="0" smtClean="0">
                <a:solidFill>
                  <a:srgbClr val="FF0000"/>
                </a:solidFill>
                <a:latin typeface="Times New Roman" pitchFamily="18" charset="0"/>
                <a:cs typeface="Times New Roman" pitchFamily="18" charset="0"/>
              </a:rPr>
              <a:t>Domain Constraints</a:t>
            </a:r>
          </a:p>
          <a:p>
            <a:pPr lvl="1"/>
            <a:r>
              <a:rPr lang="en-US" dirty="0" smtClean="0">
                <a:latin typeface="Times New Roman" pitchFamily="18" charset="0"/>
                <a:cs typeface="Times New Roman" pitchFamily="18" charset="0"/>
              </a:rPr>
              <a:t>Allowable values for an attribute. </a:t>
            </a:r>
          </a:p>
          <a:p>
            <a:pPr lvl="1"/>
            <a:r>
              <a:rPr lang="en-US" dirty="0" smtClean="0">
                <a:latin typeface="Times New Roman" pitchFamily="18" charset="0"/>
                <a:cs typeface="Times New Roman" pitchFamily="18" charset="0"/>
              </a:rPr>
              <a:t>Domain integrity means the definition of a valid set of values for an attribute. You define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data type,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length </a:t>
            </a:r>
            <a:r>
              <a:rPr lang="en-US" dirty="0" smtClean="0">
                <a:latin typeface="Times New Roman" pitchFamily="18" charset="0"/>
                <a:cs typeface="Times New Roman" pitchFamily="18" charset="0"/>
              </a:rPr>
              <a:t>or size</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is null value allowed</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is the value unique or not for an attribute.</a:t>
            </a:r>
          </a:p>
          <a:p>
            <a:r>
              <a:rPr lang="en-US" b="1" dirty="0" smtClean="0">
                <a:solidFill>
                  <a:srgbClr val="FF0000"/>
                </a:solidFill>
                <a:latin typeface="Times New Roman" pitchFamily="18" charset="0"/>
                <a:cs typeface="Times New Roman" pitchFamily="18" charset="0"/>
              </a:rPr>
              <a:t>Entity Integrity</a:t>
            </a:r>
          </a:p>
          <a:p>
            <a:pPr lvl="1"/>
            <a:r>
              <a:rPr lang="en-US" dirty="0" smtClean="0">
                <a:latin typeface="Times New Roman" pitchFamily="18" charset="0"/>
                <a:cs typeface="Times New Roman" pitchFamily="18" charset="0"/>
              </a:rPr>
              <a:t>No primary key attribute may be null. All primary key fields </a:t>
            </a:r>
            <a:r>
              <a:rPr lang="en-US" b="1" dirty="0" smtClean="0">
                <a:latin typeface="Times New Roman" pitchFamily="18" charset="0"/>
                <a:cs typeface="Times New Roman" pitchFamily="18" charset="0"/>
              </a:rPr>
              <a:t>MUST</a:t>
            </a:r>
            <a:r>
              <a:rPr lang="en-US" dirty="0" smtClean="0">
                <a:latin typeface="Times New Roman" pitchFamily="18" charset="0"/>
                <a:cs typeface="Times New Roman" pitchFamily="18" charset="0"/>
              </a:rPr>
              <a:t> have data</a:t>
            </a:r>
            <a:endParaRPr lang="en-US" b="1" dirty="0" smtClean="0">
              <a:latin typeface="Times New Roman" pitchFamily="18" charset="0"/>
              <a:cs typeface="Times New Roman" pitchFamily="18" charset="0"/>
            </a:endParaRPr>
          </a:p>
          <a:p>
            <a:pPr marL="393192" lvl="1" indent="0">
              <a:buNone/>
            </a:pPr>
            <a:r>
              <a:rPr lang="en-US" b="1" dirty="0" smtClean="0">
                <a:solidFill>
                  <a:srgbClr val="FF0000"/>
                </a:solidFill>
                <a:latin typeface="Times New Roman" pitchFamily="18" charset="0"/>
                <a:cs typeface="Times New Roman" pitchFamily="18" charset="0"/>
              </a:rPr>
              <a:t>Entity</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Any thing which has some attributes is called an entity. Like hospital, doctor, car etc</a:t>
            </a:r>
          </a:p>
          <a:p>
            <a:pPr lvl="1"/>
            <a:endParaRPr lang="en-US" sz="2000" dirty="0" smtClean="0">
              <a:latin typeface="Times New Roman" pitchFamily="18" charset="0"/>
              <a:cs typeface="Times New Roman" pitchFamily="18" charset="0"/>
            </a:endParaRP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301696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Kinds of Integrity Constraints</a:t>
            </a:r>
            <a:endParaRPr lang="en-IN" b="1" dirty="0"/>
          </a:p>
        </p:txBody>
      </p:sp>
      <p:sp>
        <p:nvSpPr>
          <p:cNvPr id="3" name="Content Placeholder 2"/>
          <p:cNvSpPr>
            <a:spLocks noGrp="1"/>
          </p:cNvSpPr>
          <p:nvPr>
            <p:ph idx="1"/>
          </p:nvPr>
        </p:nvSpPr>
        <p:spPr/>
        <p:txBody>
          <a:bodyPr>
            <a:normAutofit/>
          </a:bodyPr>
          <a:lstStyle/>
          <a:p>
            <a:r>
              <a:rPr lang="en-US" b="1" dirty="0" smtClean="0">
                <a:solidFill>
                  <a:srgbClr val="FF0000"/>
                </a:solidFill>
                <a:latin typeface="Times New Roman" pitchFamily="18" charset="0"/>
                <a:cs typeface="Times New Roman" pitchFamily="18" charset="0"/>
              </a:rPr>
              <a:t>Tables Operations</a:t>
            </a:r>
            <a:r>
              <a:rPr lang="en-US" b="1" dirty="0" smtClean="0">
                <a:latin typeface="Times New Roman" pitchFamily="18" charset="0"/>
                <a:cs typeface="Times New Roman" pitchFamily="18" charset="0"/>
              </a:rPr>
              <a:t>:- ADD, Delete, Append and Update.</a:t>
            </a:r>
          </a:p>
          <a:p>
            <a:r>
              <a:rPr lang="en-US" b="1" dirty="0" smtClean="0">
                <a:solidFill>
                  <a:srgbClr val="FF0000"/>
                </a:solidFill>
                <a:latin typeface="Times New Roman" pitchFamily="18" charset="0"/>
                <a:cs typeface="Times New Roman" pitchFamily="18" charset="0"/>
              </a:rPr>
              <a:t>Integrity Rules </a:t>
            </a:r>
            <a:r>
              <a:rPr lang="en-US" b="1" dirty="0" smtClean="0">
                <a:latin typeface="Times New Roman" pitchFamily="18" charset="0"/>
                <a:cs typeface="Times New Roman" pitchFamily="18" charset="0"/>
              </a:rPr>
              <a:t>:-</a:t>
            </a:r>
          </a:p>
          <a:p>
            <a:pPr>
              <a:buFont typeface="Wingdings" pitchFamily="2" charset="2"/>
              <a:buChar char="ü"/>
            </a:pPr>
            <a:r>
              <a:rPr lang="en-US" dirty="0" smtClean="0">
                <a:latin typeface="Times New Roman" pitchFamily="18" charset="0"/>
                <a:cs typeface="Times New Roman" pitchFamily="18" charset="0"/>
              </a:rPr>
              <a:t>PK must be unique.</a:t>
            </a:r>
          </a:p>
          <a:p>
            <a:pPr>
              <a:buFont typeface="Wingdings" pitchFamily="2" charset="2"/>
              <a:buChar char="ü"/>
            </a:pPr>
            <a:r>
              <a:rPr lang="en-US" dirty="0" smtClean="0">
                <a:latin typeface="Times New Roman" pitchFamily="18" charset="0"/>
                <a:cs typeface="Times New Roman" pitchFamily="18" charset="0"/>
              </a:rPr>
              <a:t>Related fields should have the same field type.</a:t>
            </a:r>
          </a:p>
          <a:p>
            <a:pPr>
              <a:buFont typeface="Wingdings" pitchFamily="2" charset="2"/>
              <a:buChar char="ü"/>
            </a:pPr>
            <a:r>
              <a:rPr lang="en-US" dirty="0" smtClean="0">
                <a:latin typeface="Times New Roman" pitchFamily="18" charset="0"/>
                <a:cs typeface="Times New Roman" pitchFamily="18" charset="0"/>
              </a:rPr>
              <a:t>Related tables should belong to the same DB.</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1739795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normAutofit fontScale="92500" lnSpcReduction="20000"/>
          </a:bodyPr>
          <a:lstStyle/>
          <a:p>
            <a:r>
              <a:rPr lang="en-US" b="1" dirty="0" smtClean="0">
                <a:solidFill>
                  <a:srgbClr val="FF0000"/>
                </a:solidFill>
                <a:latin typeface="Times New Roman" pitchFamily="18" charset="0"/>
                <a:cs typeface="Times New Roman" pitchFamily="18" charset="0"/>
              </a:rPr>
              <a:t>Integrity</a:t>
            </a:r>
            <a:r>
              <a:rPr lang="en-US" b="1" dirty="0" smtClean="0">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Conditions</a:t>
            </a:r>
            <a:r>
              <a:rPr lang="en-US" b="1" dirty="0" smtClean="0">
                <a:latin typeface="Times New Roman" pitchFamily="18" charset="0"/>
                <a:cs typeface="Times New Roman" pitchFamily="18" charset="0"/>
              </a:rPr>
              <a:t>:-</a:t>
            </a:r>
            <a:endParaRPr lang="ar-AE" b="1" dirty="0" smtClean="0">
              <a:latin typeface="Times New Roman" pitchFamily="18" charset="0"/>
              <a:cs typeface="Times New Roman" pitchFamily="18" charset="0"/>
            </a:endParaRPr>
          </a:p>
          <a:p>
            <a:pPr>
              <a:buFont typeface="Wingdings" pitchFamily="2" charset="2"/>
              <a:buChar char="ü"/>
            </a:pPr>
            <a:r>
              <a:rPr lang="en-US" dirty="0" smtClean="0">
                <a:latin typeface="Times New Roman" pitchFamily="18" charset="0"/>
                <a:cs typeface="Times New Roman" pitchFamily="18" charset="0"/>
              </a:rPr>
              <a:t>Foreign Key values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must be identical to PK values.</a:t>
            </a:r>
          </a:p>
          <a:p>
            <a:pPr>
              <a:buFont typeface="Wingdings" pitchFamily="2" charset="2"/>
              <a:buChar char="ü"/>
            </a:pPr>
            <a:r>
              <a:rPr lang="en-US" dirty="0" smtClean="0">
                <a:latin typeface="Times New Roman" pitchFamily="18" charset="0"/>
                <a:cs typeface="Times New Roman" pitchFamily="18" charset="0"/>
              </a:rPr>
              <a:t>Records of primary tables shouldn’t be deleted if it is related to another table.</a:t>
            </a:r>
          </a:p>
          <a:p>
            <a:pPr>
              <a:buFont typeface="Wingdings" pitchFamily="2" charset="2"/>
              <a:buChar char="ü"/>
            </a:pPr>
            <a:r>
              <a:rPr lang="en-US" dirty="0" smtClean="0">
                <a:latin typeface="Times New Roman" pitchFamily="18" charset="0"/>
                <a:cs typeface="Times New Roman" pitchFamily="18" charset="0"/>
              </a:rPr>
              <a:t>Primary key shouldn’t be changed if this record is related to another table.</a:t>
            </a:r>
            <a:endParaRPr lang="en-US" b="1" dirty="0" smtClean="0">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Cascade update related fields</a:t>
            </a:r>
            <a:r>
              <a:rPr lang="en-US" dirty="0" smtClean="0">
                <a:solidFill>
                  <a:srgbClr val="FF0000"/>
                </a:solidFill>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During updating the PK in the primary table the value of the FK should be updated automatically.</a:t>
            </a:r>
          </a:p>
          <a:p>
            <a:r>
              <a:rPr lang="en-US" b="1" dirty="0" smtClean="0">
                <a:solidFill>
                  <a:srgbClr val="FF0000"/>
                </a:solidFill>
                <a:latin typeface="Times New Roman" pitchFamily="18" charset="0"/>
                <a:cs typeface="Times New Roman" pitchFamily="18" charset="0"/>
              </a:rPr>
              <a:t>Cascade deletes related records :- </a:t>
            </a:r>
          </a:p>
          <a:p>
            <a:pPr>
              <a:buNone/>
            </a:pPr>
            <a:r>
              <a:rPr lang="en-US" dirty="0" smtClean="0">
                <a:latin typeface="Times New Roman" pitchFamily="18" charset="0"/>
                <a:cs typeface="Times New Roman" pitchFamily="18" charset="0"/>
              </a:rPr>
              <a:t>    During delete a record from the primary table all related records in related tables should be deleted also. </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495604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Referential Integrity Constraint</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buNone/>
            </a:pPr>
            <a:r>
              <a:rPr lang="en-US" sz="2600" dirty="0" smtClean="0">
                <a:latin typeface="Times New Roman" pitchFamily="18" charset="0"/>
                <a:cs typeface="Times New Roman" pitchFamily="18" charset="0"/>
              </a:rPr>
              <a:t>The rule that states that any foreign key value (on the relation of the many side) MUST match a primary key value in the relation of the one side. (Or the foreign key can be null) </a:t>
            </a:r>
          </a:p>
          <a:p>
            <a:pPr lvl="1"/>
            <a:r>
              <a:rPr lang="en-US" sz="2600" dirty="0" smtClean="0">
                <a:latin typeface="Times New Roman" pitchFamily="18" charset="0"/>
                <a:cs typeface="Times New Roman" pitchFamily="18" charset="0"/>
              </a:rPr>
              <a:t>The rules are:</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1. You can't delete a record from a primary table if matching records exist in a related table.</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2. You can't change a primary key value in the primary table if that record has related records.</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3. You can't enter a value in the foreign key field of the related table that doesn't exist in the primary key of the primary table.</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4. However, you can enter a Null value in the foreign key, specifying that the records are unrelated.</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61759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r>
              <a:rPr lang="en-IN" dirty="0" smtClean="0"/>
              <a:t>.</a:t>
            </a:r>
            <a:r>
              <a:rPr lang="en-IN" b="1" dirty="0" smtClean="0"/>
              <a:t>..</a:t>
            </a: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3499" y="1731015"/>
            <a:ext cx="6865352" cy="4625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2964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Entity integrity rule</a:t>
            </a:r>
            <a:endParaRPr lang="en-IN" b="1" dirty="0"/>
          </a:p>
        </p:txBody>
      </p:sp>
      <p:sp>
        <p:nvSpPr>
          <p:cNvPr id="3" name="Content Placeholder 2"/>
          <p:cNvSpPr>
            <a:spLocks noGrp="1"/>
          </p:cNvSpPr>
          <p:nvPr>
            <p:ph idx="1"/>
          </p:nvPr>
        </p:nvSpPr>
        <p:spPr/>
        <p:txBody>
          <a:bodyPr/>
          <a:lstStyle/>
          <a:p>
            <a:pPr marL="0" indent="0" algn="just">
              <a:buNone/>
            </a:pPr>
            <a:r>
              <a:rPr lang="en-US" dirty="0" smtClean="0">
                <a:latin typeface="Times New Roman" pitchFamily="18" charset="0"/>
                <a:cs typeface="Times New Roman" pitchFamily="18" charset="0"/>
              </a:rPr>
              <a:t>The entity integrity constraint states that primary keys can't be null. There must be a proper value in the primary key field.</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This is because the primary key value is used to identify individual rows in a table. If there were null values for primary keys, it would mean that we could not indentify those rows.</a:t>
            </a:r>
          </a:p>
          <a:p>
            <a:pPr marL="0" indent="0" algn="just">
              <a:buNone/>
            </a:pPr>
            <a:endParaRPr lang="en-US" dirty="0" smtClean="0">
              <a:latin typeface="Times New Roman" pitchFamily="18" charset="0"/>
              <a:cs typeface="Times New Roman" pitchFamily="18" charset="0"/>
            </a:endParaRPr>
          </a:p>
          <a:p>
            <a:pPr marL="0" indent="0" algn="just">
              <a:buNone/>
            </a:pPr>
            <a:r>
              <a:rPr lang="en-US" dirty="0" smtClean="0">
                <a:latin typeface="Times New Roman" pitchFamily="18" charset="0"/>
                <a:cs typeface="Times New Roman" pitchFamily="18" charset="0"/>
              </a:rPr>
              <a:t>On the other hand, there can be null values other than primary key fields. Null value means that one doesn't know the value for that field. Null value is different from zero value or space. </a:t>
            </a:r>
          </a:p>
          <a:p>
            <a:pPr algn="just"/>
            <a:endParaRPr lang="en-US" dirty="0" smtClean="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132480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Constraints</a:t>
            </a:r>
            <a:endParaRPr lang="en-IN" b="1" dirty="0"/>
          </a:p>
        </p:txBody>
      </p:sp>
      <p:sp>
        <p:nvSpPr>
          <p:cNvPr id="3" name="Content Placeholder 2"/>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Values in a column (or columns) of a relation are unique: at most one row in a relation instance can contain a particular value(s) </a:t>
            </a:r>
          </a:p>
          <a:p>
            <a:pPr marL="0" indent="0">
              <a:buNone/>
            </a:pPr>
            <a:endParaRPr lang="en-US" dirty="0" smtClean="0">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Key</a:t>
            </a:r>
            <a:r>
              <a:rPr lang="en-US" b="1" dirty="0" smtClean="0">
                <a:latin typeface="Times New Roman" pitchFamily="18" charset="0"/>
                <a:cs typeface="Times New Roman" pitchFamily="18" charset="0"/>
              </a:rPr>
              <a:t> - </a:t>
            </a:r>
            <a:r>
              <a:rPr lang="en-US" dirty="0" smtClean="0">
                <a:latin typeface="Times New Roman" pitchFamily="18" charset="0"/>
                <a:cs typeface="Times New Roman" pitchFamily="18" charset="0"/>
              </a:rPr>
              <a:t>set of attributes satisfying key constraint</a:t>
            </a:r>
          </a:p>
          <a:p>
            <a:pPr lvl="1"/>
            <a:r>
              <a:rPr lang="en-US" dirty="0" smtClean="0">
                <a:latin typeface="Times New Roman" pitchFamily="18" charset="0"/>
                <a:cs typeface="Times New Roman" pitchFamily="18" charset="0"/>
              </a:rPr>
              <a:t>e.g., Id  in Student, </a:t>
            </a:r>
          </a:p>
          <a:p>
            <a:pPr lvl="1"/>
            <a:r>
              <a:rPr lang="en-US" dirty="0" smtClean="0">
                <a:latin typeface="Times New Roman" pitchFamily="18" charset="0"/>
                <a:cs typeface="Times New Roman" pitchFamily="18" charset="0"/>
              </a:rPr>
              <a:t>e.g., (</a:t>
            </a:r>
            <a:r>
              <a:rPr lang="en-US" dirty="0" err="1" smtClean="0">
                <a:latin typeface="Times New Roman" pitchFamily="18" charset="0"/>
                <a:cs typeface="Times New Roman" pitchFamily="18" charset="0"/>
              </a:rPr>
              <a:t>StudId</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CrsCode</a:t>
            </a:r>
            <a:r>
              <a:rPr lang="en-US" dirty="0" smtClean="0">
                <a:latin typeface="Times New Roman" pitchFamily="18" charset="0"/>
                <a:cs typeface="Times New Roman" pitchFamily="18" charset="0"/>
              </a:rPr>
              <a:t>, Semester) in Transcript</a:t>
            </a:r>
          </a:p>
          <a:p>
            <a:r>
              <a:rPr lang="en-US" b="1" dirty="0" smtClean="0">
                <a:solidFill>
                  <a:srgbClr val="FF0000"/>
                </a:solidFill>
                <a:latin typeface="Times New Roman" pitchFamily="18" charset="0"/>
                <a:cs typeface="Times New Roman" pitchFamily="18" charset="0"/>
              </a:rPr>
              <a:t>Super Key</a:t>
            </a:r>
            <a:endParaRPr lang="en-US" dirty="0" smtClean="0">
              <a:solidFill>
                <a:srgbClr val="FF0000"/>
              </a:solidFill>
              <a:latin typeface="Times New Roman" pitchFamily="18" charset="0"/>
              <a:cs typeface="Times New Roman" pitchFamily="18" charset="0"/>
            </a:endParaRPr>
          </a:p>
          <a:p>
            <a:pPr marL="393192" lvl="1" indent="0">
              <a:buNone/>
            </a:pPr>
            <a:r>
              <a:rPr lang="en-US" b="1" dirty="0" smtClean="0">
                <a:latin typeface="Times New Roman" pitchFamily="18" charset="0"/>
                <a:cs typeface="Times New Roman" pitchFamily="18" charset="0"/>
              </a:rPr>
              <a:t>Super Key</a:t>
            </a:r>
            <a:r>
              <a:rPr lang="en-US" dirty="0" smtClean="0">
                <a:latin typeface="Times New Roman" pitchFamily="18" charset="0"/>
                <a:cs typeface="Times New Roman" pitchFamily="18" charset="0"/>
              </a:rPr>
              <a:t> is defined as a set of attributes within a table that uniquely identifies each record within a table. Super Key is a superset of Candidate key.</a:t>
            </a:r>
          </a:p>
          <a:p>
            <a:r>
              <a:rPr lang="en-US" b="1" dirty="0" smtClean="0">
                <a:solidFill>
                  <a:srgbClr val="FF0000"/>
                </a:solidFill>
                <a:latin typeface="Times New Roman" pitchFamily="18" charset="0"/>
                <a:cs typeface="Times New Roman" pitchFamily="18" charset="0"/>
              </a:rPr>
              <a:t>Candidate Key</a:t>
            </a:r>
          </a:p>
          <a:p>
            <a:pPr marL="393192" lvl="1" indent="0">
              <a:buNone/>
            </a:pPr>
            <a:r>
              <a:rPr lang="en-US" dirty="0" smtClean="0">
                <a:latin typeface="Times New Roman" pitchFamily="18" charset="0"/>
                <a:cs typeface="Times New Roman" pitchFamily="18" charset="0"/>
              </a:rPr>
              <a:t>Candidate keys are defined as the set of fields from which primary key can be selected. It is an attribute or set of attribute that can act as a primary key for a table to uniquely identify each record in that table.</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r>
              <a:rPr lang="en-US" sz="2400" b="1" dirty="0" smtClean="0">
                <a:solidFill>
                  <a:srgbClr val="FF0000"/>
                </a:solidFill>
                <a:latin typeface="Times New Roman" pitchFamily="18" charset="0"/>
                <a:cs typeface="Times New Roman" pitchFamily="18" charset="0"/>
              </a:rPr>
              <a:t>Primary Key</a:t>
            </a:r>
          </a:p>
          <a:p>
            <a:pPr marL="393192" lvl="1" indent="0">
              <a:buNone/>
            </a:pPr>
            <a:r>
              <a:rPr lang="en-US" dirty="0" smtClean="0">
                <a:latin typeface="Times New Roman" pitchFamily="18" charset="0"/>
                <a:cs typeface="Times New Roman" pitchFamily="18" charset="0"/>
              </a:rPr>
              <a:t>Primary key is a candidate key that is most appropriate to become main key of the table. It is a key that uniquely identify each record in a table. PK must be </a:t>
            </a:r>
            <a:r>
              <a:rPr lang="en-US" b="1" dirty="0" smtClean="0">
                <a:latin typeface="Times New Roman" pitchFamily="18" charset="0"/>
                <a:cs typeface="Times New Roman" pitchFamily="18" charset="0"/>
              </a:rPr>
              <a:t>unique</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Not Null</a:t>
            </a:r>
            <a:r>
              <a:rPr lang="en-US" dirty="0" smtClean="0">
                <a:latin typeface="Times New Roman" pitchFamily="18" charset="0"/>
                <a:cs typeface="Times New Roman" pitchFamily="18" charset="0"/>
              </a:rPr>
              <a:t>.</a:t>
            </a:r>
          </a:p>
          <a:p>
            <a:r>
              <a:rPr lang="en-US" sz="2400" b="1" dirty="0" smtClean="0">
                <a:solidFill>
                  <a:srgbClr val="FF0000"/>
                </a:solidFill>
                <a:latin typeface="Times New Roman" pitchFamily="18" charset="0"/>
                <a:cs typeface="Times New Roman" pitchFamily="18" charset="0"/>
              </a:rPr>
              <a:t>Foreign Key</a:t>
            </a:r>
          </a:p>
          <a:p>
            <a:pPr marL="393192" lvl="1" indent="0" algn="just">
              <a:buNone/>
            </a:pPr>
            <a:r>
              <a:rPr lang="en-US" dirty="0" smtClean="0">
                <a:latin typeface="Times New Roman" pitchFamily="18" charset="0"/>
                <a:cs typeface="Times New Roman" pitchFamily="18" charset="0"/>
              </a:rPr>
              <a:t>Foreign Key is a field or set of fields that are identical to a primary key in another table.</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normAutofit lnSpcReduction="10000"/>
          </a:bodyPr>
          <a:lstStyle/>
          <a:p>
            <a:r>
              <a:rPr lang="en-US" b="1" dirty="0" smtClean="0">
                <a:solidFill>
                  <a:srgbClr val="FF0000"/>
                </a:solidFill>
                <a:latin typeface="Times New Roman" pitchFamily="18" charset="0"/>
                <a:cs typeface="Times New Roman" pitchFamily="18" charset="0"/>
              </a:rPr>
              <a:t>Composite Key</a:t>
            </a:r>
          </a:p>
          <a:p>
            <a:pPr marL="393192" lvl="1" indent="0" algn="just">
              <a:buNone/>
            </a:pPr>
            <a:r>
              <a:rPr lang="en-US" b="1" i="1" dirty="0" smtClean="0">
                <a:latin typeface="Times New Roman" pitchFamily="18" charset="0"/>
                <a:cs typeface="Times New Roman" pitchFamily="18" charset="0"/>
              </a:rPr>
              <a:t>Key that consist of two or more attributes </a:t>
            </a:r>
            <a:r>
              <a:rPr lang="en-US" dirty="0" smtClean="0">
                <a:latin typeface="Times New Roman" pitchFamily="18" charset="0"/>
                <a:cs typeface="Times New Roman" pitchFamily="18" charset="0"/>
              </a:rPr>
              <a:t>that uniquely identify an entity </a:t>
            </a:r>
            <a:r>
              <a:rPr lang="en-US" dirty="0" err="1" smtClean="0">
                <a:latin typeface="Times New Roman" pitchFamily="18" charset="0"/>
                <a:cs typeface="Times New Roman" pitchFamily="18" charset="0"/>
              </a:rPr>
              <a:t>occurance</a:t>
            </a:r>
            <a:r>
              <a:rPr lang="en-US" dirty="0" smtClean="0">
                <a:latin typeface="Times New Roman" pitchFamily="18" charset="0"/>
                <a:cs typeface="Times New Roman" pitchFamily="18" charset="0"/>
              </a:rPr>
              <a:t> is called </a:t>
            </a:r>
            <a:r>
              <a:rPr lang="en-US" b="1" dirty="0" smtClean="0">
                <a:latin typeface="Times New Roman" pitchFamily="18" charset="0"/>
                <a:cs typeface="Times New Roman" pitchFamily="18" charset="0"/>
              </a:rPr>
              <a:t>Composite key</a:t>
            </a:r>
            <a:r>
              <a:rPr lang="en-US" dirty="0" smtClean="0">
                <a:latin typeface="Times New Roman" pitchFamily="18" charset="0"/>
                <a:cs typeface="Times New Roman" pitchFamily="18" charset="0"/>
              </a:rPr>
              <a:t>. But any attribute that makes up the </a:t>
            </a:r>
            <a:r>
              <a:rPr lang="en-US" b="1" dirty="0" smtClean="0">
                <a:latin typeface="Times New Roman" pitchFamily="18" charset="0"/>
                <a:cs typeface="Times New Roman" pitchFamily="18" charset="0"/>
              </a:rPr>
              <a:t>Composite key</a:t>
            </a:r>
            <a:r>
              <a:rPr lang="en-US" dirty="0" smtClean="0">
                <a:latin typeface="Times New Roman" pitchFamily="18" charset="0"/>
                <a:cs typeface="Times New Roman" pitchFamily="18" charset="0"/>
              </a:rPr>
              <a:t> is not a simple key in its own.</a:t>
            </a:r>
          </a:p>
          <a:p>
            <a:r>
              <a:rPr lang="en-US" b="1" dirty="0" smtClean="0">
                <a:solidFill>
                  <a:srgbClr val="FF0000"/>
                </a:solidFill>
                <a:latin typeface="Times New Roman" pitchFamily="18" charset="0"/>
                <a:cs typeface="Times New Roman" pitchFamily="18" charset="0"/>
              </a:rPr>
              <a:t>Secondary or Alternative key</a:t>
            </a:r>
          </a:p>
          <a:p>
            <a:pPr marL="393192" lvl="1" indent="0">
              <a:buNone/>
            </a:pPr>
            <a:r>
              <a:rPr lang="en-US" dirty="0" smtClean="0">
                <a:latin typeface="Times New Roman" pitchFamily="18" charset="0"/>
                <a:cs typeface="Times New Roman" pitchFamily="18" charset="0"/>
              </a:rPr>
              <a:t>The candidate key which are not selected for primary key are known as secondary keys or alternative keys</a:t>
            </a:r>
          </a:p>
          <a:p>
            <a:r>
              <a:rPr lang="en-US" b="1" dirty="0" smtClean="0">
                <a:solidFill>
                  <a:srgbClr val="FF0000"/>
                </a:solidFill>
                <a:latin typeface="Times New Roman" pitchFamily="18" charset="0"/>
                <a:cs typeface="Times New Roman" pitchFamily="18" charset="0"/>
              </a:rPr>
              <a:t>Non-key Attribute</a:t>
            </a:r>
          </a:p>
          <a:p>
            <a:pPr marL="393192" lvl="1" indent="0">
              <a:buNone/>
            </a:pPr>
            <a:r>
              <a:rPr lang="en-US" b="1" dirty="0" smtClean="0">
                <a:latin typeface="Times New Roman" pitchFamily="18" charset="0"/>
                <a:cs typeface="Times New Roman" pitchFamily="18" charset="0"/>
              </a:rPr>
              <a:t>Non-key</a:t>
            </a:r>
            <a:r>
              <a:rPr lang="en-US" dirty="0" smtClean="0">
                <a:latin typeface="Times New Roman" pitchFamily="18" charset="0"/>
                <a:cs typeface="Times New Roman" pitchFamily="18" charset="0"/>
              </a:rPr>
              <a:t> attributes are attributes other than </a:t>
            </a:r>
            <a:r>
              <a:rPr lang="en-US" b="1" dirty="0" smtClean="0">
                <a:latin typeface="Times New Roman" pitchFamily="18" charset="0"/>
                <a:cs typeface="Times New Roman" pitchFamily="18" charset="0"/>
              </a:rPr>
              <a:t>candidate key</a:t>
            </a:r>
            <a:r>
              <a:rPr lang="en-US" dirty="0" smtClean="0">
                <a:latin typeface="Times New Roman" pitchFamily="18" charset="0"/>
                <a:cs typeface="Times New Roman" pitchFamily="18" charset="0"/>
              </a:rPr>
              <a:t> attributes in a table.</a:t>
            </a:r>
          </a:p>
          <a:p>
            <a:r>
              <a:rPr lang="en-US" b="1" dirty="0" smtClean="0">
                <a:solidFill>
                  <a:srgbClr val="FF0000"/>
                </a:solidFill>
                <a:latin typeface="Times New Roman" pitchFamily="18" charset="0"/>
                <a:cs typeface="Times New Roman" pitchFamily="18" charset="0"/>
              </a:rPr>
              <a:t>Non-prime Attribute</a:t>
            </a:r>
          </a:p>
          <a:p>
            <a:pPr marL="393192" lvl="1" indent="0">
              <a:buNone/>
            </a:pPr>
            <a:r>
              <a:rPr lang="en-US" b="1" dirty="0" smtClean="0">
                <a:latin typeface="Times New Roman" pitchFamily="18" charset="0"/>
                <a:cs typeface="Times New Roman" pitchFamily="18" charset="0"/>
              </a:rPr>
              <a:t>Non-prime</a:t>
            </a:r>
            <a:r>
              <a:rPr lang="en-US" dirty="0" smtClean="0">
                <a:latin typeface="Times New Roman" pitchFamily="18" charset="0"/>
                <a:cs typeface="Times New Roman" pitchFamily="18" charset="0"/>
              </a:rPr>
              <a:t> Attributes are attributes other than </a:t>
            </a:r>
            <a:r>
              <a:rPr lang="en-US" b="1" dirty="0" smtClean="0">
                <a:latin typeface="Times New Roman" pitchFamily="18" charset="0"/>
                <a:cs typeface="Times New Roman" pitchFamily="18" charset="0"/>
              </a:rPr>
              <a:t>Primary attribute</a:t>
            </a:r>
            <a:r>
              <a:rPr lang="en-US" dirty="0" smtClean="0">
                <a:latin typeface="Times New Roman" pitchFamily="18" charset="0"/>
                <a:cs typeface="Times New Roman" pitchFamily="18" charset="0"/>
              </a:rPr>
              <a:t>.</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r>
              <a:rPr lang="en-IN" b="1" dirty="0" smtClean="0"/>
              <a:t>Primary Key </a:t>
            </a:r>
          </a:p>
          <a:p>
            <a:endParaRPr lang="en-IN" dirty="0" smtClean="0"/>
          </a:p>
          <a:p>
            <a:pPr algn="ctr">
              <a:buNone/>
            </a:pPr>
            <a:r>
              <a:rPr lang="en-IN" dirty="0" smtClean="0"/>
              <a:t>Customers</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64" y="3400023"/>
            <a:ext cx="11371749" cy="1906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6225" y="1376709"/>
            <a:ext cx="6885260" cy="4630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Summary</a:t>
            </a:r>
            <a:endParaRPr lang="en-IN" b="1" dirty="0"/>
          </a:p>
        </p:txBody>
      </p:sp>
      <p:sp>
        <p:nvSpPr>
          <p:cNvPr id="3" name="Content Placeholder 2"/>
          <p:cNvSpPr>
            <a:spLocks noGrp="1"/>
          </p:cNvSpPr>
          <p:nvPr>
            <p:ph idx="1"/>
          </p:nvPr>
        </p:nvSpPr>
        <p:spPr/>
        <p:txBody>
          <a:bodyPr/>
          <a:lstStyle/>
          <a:p>
            <a:r>
              <a:rPr lang="en-IN" dirty="0" smtClean="0"/>
              <a:t>Integrity constraints are a set of rules. It is used to maintain the quality of information.</a:t>
            </a:r>
          </a:p>
          <a:p>
            <a:r>
              <a:rPr lang="en-IN" dirty="0" smtClean="0"/>
              <a:t>Thus, integrity constraint is used to guard against accidental damage to the database.</a:t>
            </a:r>
          </a:p>
          <a:p>
            <a:r>
              <a:rPr lang="en-IN" dirty="0" smtClean="0"/>
              <a:t>There four types of integrity constraint discussed:</a:t>
            </a:r>
          </a:p>
          <a:p>
            <a:r>
              <a:rPr lang="en-IN" dirty="0" smtClean="0"/>
              <a:t>Domain- integrity constraint</a:t>
            </a:r>
          </a:p>
          <a:p>
            <a:r>
              <a:rPr lang="en-IN" dirty="0" smtClean="0"/>
              <a:t>Entity-integrity Constraint</a:t>
            </a:r>
          </a:p>
          <a:p>
            <a:r>
              <a:rPr lang="en-IN" dirty="0" smtClean="0"/>
              <a:t>Key constraint</a:t>
            </a:r>
          </a:p>
          <a:p>
            <a:r>
              <a:rPr lang="en-IN" dirty="0" smtClean="0"/>
              <a:t>Referential- integrity constraint.</a:t>
            </a:r>
          </a:p>
          <a:p>
            <a:endParaRPr lang="en-IN"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1"/>
          <p:cNvSpPr>
            <a:spLocks noGrp="1"/>
          </p:cNvSpPr>
          <p:nvPr>
            <p:ph sz="half"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buFont typeface="Arial" charset="0"/>
              <a:buChar char="•"/>
              <a:defRPr/>
            </a:pPr>
            <a:endParaRPr lang="en-US" sz="1600" dirty="0" smtClean="0">
              <a:cs typeface="Cordia New" pitchFamily="34" charset="-34"/>
            </a:endParaRPr>
          </a:p>
          <a:p>
            <a:pPr>
              <a:buFont typeface="Arial" charset="0"/>
              <a:buChar char="•"/>
              <a:defRPr/>
            </a:pPr>
            <a:r>
              <a:rPr lang="en-US" sz="1600" dirty="0" smtClean="0">
                <a:cs typeface="Cordia New" pitchFamily="34" charset="-34"/>
              </a:rPr>
              <a:t>What are Entity integrity constraint</a:t>
            </a:r>
          </a:p>
          <a:p>
            <a:pPr>
              <a:buFont typeface="Arial" charset="0"/>
              <a:buChar char="•"/>
              <a:defRPr/>
            </a:pPr>
            <a:r>
              <a:rPr lang="en-US" sz="1600" dirty="0" smtClean="0">
                <a:cs typeface="Cordia New" pitchFamily="34" charset="-34"/>
              </a:rPr>
              <a:t>What is referential integrity constraint</a:t>
            </a:r>
          </a:p>
          <a:p>
            <a:pPr>
              <a:buFont typeface="Arial" charset="0"/>
              <a:buChar char="•"/>
              <a:defRPr/>
            </a:pPr>
            <a:r>
              <a:rPr lang="en-US" sz="1600" dirty="0" smtClean="0">
                <a:cs typeface="Cordia New" pitchFamily="34" charset="-34"/>
              </a:rPr>
              <a:t>What is super key?</a:t>
            </a:r>
          </a:p>
          <a:p>
            <a:pPr>
              <a:buFont typeface="Arial" charset="0"/>
              <a:buChar char="•"/>
              <a:defRPr/>
            </a:pPr>
            <a:r>
              <a:rPr lang="en-US" sz="1600" dirty="0" smtClean="0">
                <a:cs typeface="Cordia New" pitchFamily="34" charset="-34"/>
              </a:rPr>
              <a:t>What is alternate key?</a:t>
            </a:r>
          </a:p>
          <a:p>
            <a:pPr>
              <a:buFont typeface="Arial" charset="0"/>
              <a:buChar char="•"/>
              <a:defRPr/>
            </a:pPr>
            <a:r>
              <a:rPr lang="en-US" sz="1600" dirty="0" smtClean="0">
                <a:cs typeface="Cordia New" pitchFamily="34" charset="-34"/>
              </a:rPr>
              <a:t>How many primary keys can we have in a relation.</a:t>
            </a:r>
          </a:p>
          <a:p>
            <a:pPr>
              <a:buFont typeface="Arial" charset="0"/>
              <a:buChar char="•"/>
              <a:defRPr/>
            </a:pPr>
            <a:endParaRPr lang="en-US" dirty="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p:txBody>
      </p:sp>
      <p:sp>
        <p:nvSpPr>
          <p:cNvPr id="87043" name="Text Placeholder 2"/>
          <p:cNvSpPr>
            <a:spLocks noGrp="1"/>
          </p:cNvSpPr>
          <p:nvPr>
            <p:ph type="body"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lgn="l"/>
            <a:r>
              <a:rPr lang="en-US" altLang="en-US" dirty="0" smtClean="0">
                <a:cs typeface="Cordia New" pitchFamily="34" charset="-34"/>
              </a:rPr>
              <a:t>FAQs</a:t>
            </a:r>
          </a:p>
        </p:txBody>
      </p:sp>
    </p:spTree>
    <p:extLst>
      <p:ext uri="{BB962C8B-B14F-4D97-AF65-F5344CB8AC3E}">
        <p14:creationId xmlns:p14="http://schemas.microsoft.com/office/powerpoint/2010/main" val="3226849272"/>
      </p:ext>
    </p:extLst>
  </p:cSld>
  <p:clrMapOvr>
    <a:masterClrMapping/>
  </p:clrMapOvr>
  <p:transition>
    <p:fade thruBlk="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20800" y="1066800"/>
            <a:ext cx="10566400" cy="609600"/>
          </a:xfrm>
        </p:spPr>
        <p:txBody>
          <a:bodyPr>
            <a:noAutofit/>
          </a:bodyPr>
          <a:lstStyle/>
          <a:p>
            <a:r>
              <a:rPr lang="en-US" b="1" dirty="0" smtClean="0">
                <a:latin typeface="Times New Roman" pitchFamily="18" charset="0"/>
                <a:cs typeface="Times New Roman" pitchFamily="18" charset="0"/>
              </a:rPr>
              <a:t>References</a:t>
            </a:r>
            <a:endParaRPr lang="en-US" b="1" dirty="0">
              <a:latin typeface="Times New Roman" pitchFamily="18" charset="0"/>
              <a:cs typeface="Times New Roman" pitchFamily="18" charset="0"/>
            </a:endParaRPr>
          </a:p>
        </p:txBody>
      </p:sp>
      <p:sp>
        <p:nvSpPr>
          <p:cNvPr id="5" name="Content Placeholder 2"/>
          <p:cNvSpPr>
            <a:spLocks noGrp="1"/>
          </p:cNvSpPr>
          <p:nvPr>
            <p:ph idx="1"/>
          </p:nvPr>
        </p:nvSpPr>
        <p:spPr>
          <a:xfrm>
            <a:off x="1219200" y="1752600"/>
            <a:ext cx="10668000" cy="4495800"/>
          </a:xfrm>
        </p:spPr>
        <p:txBody>
          <a:bodyPr/>
          <a:lstStyle/>
          <a:p>
            <a:pPr lvl="0"/>
            <a:r>
              <a:rPr lang="en-US" dirty="0" err="1" smtClean="0"/>
              <a:t>RamezElmasri</a:t>
            </a:r>
            <a:r>
              <a:rPr lang="en-US" dirty="0" smtClean="0"/>
              <a:t> and </a:t>
            </a:r>
            <a:r>
              <a:rPr lang="en-US" dirty="0" err="1" smtClean="0"/>
              <a:t>Shamkant</a:t>
            </a:r>
            <a:r>
              <a:rPr lang="en-US" dirty="0" smtClean="0"/>
              <a:t> B. </a:t>
            </a:r>
            <a:r>
              <a:rPr lang="en-US" dirty="0" err="1" smtClean="0"/>
              <a:t>Navathe</a:t>
            </a:r>
            <a:r>
              <a:rPr lang="en-US" dirty="0" smtClean="0"/>
              <a:t>, “Fundamentals of Database System”, The Benjamin / Cummings Publishing Co.</a:t>
            </a:r>
          </a:p>
          <a:p>
            <a:pPr lvl="0"/>
            <a:r>
              <a:rPr lang="en-US" dirty="0" err="1" smtClean="0"/>
              <a:t>Korth</a:t>
            </a:r>
            <a:r>
              <a:rPr lang="en-US" dirty="0" smtClean="0"/>
              <a:t> and </a:t>
            </a:r>
            <a:r>
              <a:rPr lang="en-US" dirty="0" err="1" smtClean="0"/>
              <a:t>Silberschatz</a:t>
            </a:r>
            <a:r>
              <a:rPr lang="en-US" dirty="0" smtClean="0"/>
              <a:t> Abraham, “Database System Concepts”, McGraw Hall.</a:t>
            </a:r>
          </a:p>
          <a:p>
            <a:pPr lvl="0"/>
            <a:r>
              <a:rPr lang="en-US" dirty="0" err="1" smtClean="0"/>
              <a:t>C.J.Date</a:t>
            </a:r>
            <a:r>
              <a:rPr lang="en-US" dirty="0" smtClean="0"/>
              <a:t>, “An Introduction to Database Systems”, Addison Wesley.</a:t>
            </a:r>
          </a:p>
          <a:p>
            <a:pPr lvl="0"/>
            <a:r>
              <a:rPr lang="en-US" dirty="0" smtClean="0"/>
              <a:t>Thomas M. Connolly, Carolyn &amp; E. </a:t>
            </a:r>
            <a:r>
              <a:rPr lang="en-US" dirty="0" err="1" smtClean="0"/>
              <a:t>Begg</a:t>
            </a:r>
            <a:r>
              <a:rPr lang="en-US" dirty="0" smtClean="0"/>
              <a:t>, “Database Systems: A Practical Approach to Design, Implementation and Management”, 5/E, University of Paisley, Addison-Wesley.</a:t>
            </a:r>
          </a:p>
          <a:p>
            <a:pPr algn="just"/>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3542464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9956" name="CorelDRAW" r:id="rId3" imgW="2169000" imgH="2169360" progId="">
                    <p:embed/>
                  </p:oleObj>
                </mc:Choice>
                <mc:Fallback>
                  <p:oleObj name="CorelDRAW" r:id="rId3" imgW="2169000" imgH="2169360" progId="">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32589"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hlinkClick r:id="rId5"/>
              </a:rPr>
              <a:t>shaveta.e13464@cumail.in</a:t>
            </a:r>
            <a:r>
              <a:rPr lang="en-US" dirty="0" smtClean="0">
                <a:latin typeface="Casper" panose="02000506000000020004" pitchFamily="2" charset="0"/>
                <a:cs typeface="Segoe UI" panose="020B0502040204020203" pitchFamily="34" charset="0"/>
              </a:rPr>
              <a:t> </a:t>
            </a:r>
            <a:endParaRPr lang="en-US" dirty="0"/>
          </a:p>
        </p:txBody>
      </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20</a:t>
            </a:fld>
            <a:endParaRPr lang="en-US">
              <a:solidFill>
                <a:prstClr val="black">
                  <a:tint val="75000"/>
                </a:prstClr>
              </a:solidFill>
            </a:endParaRPr>
          </a:p>
        </p:txBody>
      </p:sp>
    </p:spTree>
    <p:extLst>
      <p:ext uri="{BB962C8B-B14F-4D97-AF65-F5344CB8AC3E}">
        <p14:creationId xmlns:p14="http://schemas.microsoft.com/office/powerpoint/2010/main" val="388717948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1701</TotalTime>
  <Words>807</Words>
  <Application>Microsoft Office PowerPoint</Application>
  <PresentationFormat>Widescreen</PresentationFormat>
  <Paragraphs>138</Paragraphs>
  <Slides>20</Slides>
  <Notes>2</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5" baseType="lpstr">
      <vt:lpstr>Arial Unicode MS</vt:lpstr>
      <vt:lpstr>ＭＳ Ｐゴシック</vt:lpstr>
      <vt:lpstr>Arial</vt:lpstr>
      <vt:lpstr>Calibri</vt:lpstr>
      <vt:lpstr>Calibri Light</vt:lpstr>
      <vt:lpstr>Cambria</vt:lpstr>
      <vt:lpstr>Casper</vt:lpstr>
      <vt:lpstr>Cordia New</vt:lpstr>
      <vt:lpstr>Karla</vt:lpstr>
      <vt:lpstr>Segoe UI</vt:lpstr>
      <vt:lpstr>Times New Roman</vt:lpstr>
      <vt:lpstr>Wingdings</vt:lpstr>
      <vt:lpstr>1_Office Theme</vt:lpstr>
      <vt:lpstr>Contents Slide Master</vt:lpstr>
      <vt:lpstr>CorelDRAW</vt:lpstr>
      <vt:lpstr>PowerPoint Presentation</vt:lpstr>
      <vt:lpstr>DBMS: Course Objectives</vt:lpstr>
      <vt:lpstr>COURSE OUTCOMES</vt:lpstr>
      <vt:lpstr>Attribute Types</vt:lpstr>
      <vt:lpstr>Integrity Constraints</vt:lpstr>
      <vt:lpstr>Integrity Constraints</vt:lpstr>
      <vt:lpstr>Kinds of Integrity Constraints</vt:lpstr>
      <vt:lpstr>Cont...</vt:lpstr>
      <vt:lpstr>Referential Integrity Constraint</vt:lpstr>
      <vt:lpstr>Cont...</vt:lpstr>
      <vt:lpstr>Entity integrity rule</vt:lpstr>
      <vt:lpstr>Key Constraints</vt:lpstr>
      <vt:lpstr>Cont...</vt:lpstr>
      <vt:lpstr>Cont...</vt:lpstr>
      <vt:lpstr>Cont...</vt:lpstr>
      <vt:lpstr>Cont...</vt:lpstr>
      <vt:lpstr>Summary</vt:lpstr>
      <vt:lpstr>PowerPoint Presentation</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shavetapc</cp:lastModifiedBy>
  <cp:revision>179</cp:revision>
  <dcterms:created xsi:type="dcterms:W3CDTF">2019-01-09T10:33:58Z</dcterms:created>
  <dcterms:modified xsi:type="dcterms:W3CDTF">2023-08-05T04:04:08Z</dcterms:modified>
</cp:coreProperties>
</file>