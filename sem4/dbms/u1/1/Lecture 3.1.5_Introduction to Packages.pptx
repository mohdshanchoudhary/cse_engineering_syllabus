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23"/>
  </p:notesMasterIdLst>
  <p:sldIdLst>
    <p:sldId id="274" r:id="rId4"/>
    <p:sldId id="290" r:id="rId5"/>
    <p:sldId id="291" r:id="rId6"/>
    <p:sldId id="275" r:id="rId7"/>
    <p:sldId id="276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77" r:id="rId19"/>
    <p:sldId id="292" r:id="rId20"/>
    <p:sldId id="272" r:id="rId21"/>
    <p:sldId id="273" r:id="rId22"/>
  </p:sldIdLst>
  <p:sldSz cx="9144000" cy="5143500" type="screen16x9"/>
  <p:notesSz cx="6858000" cy="9144000"/>
  <p:defaultTextStyle>
    <a:defPPr>
      <a:defRPr lang="en-US"/>
    </a:defPPr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75" autoAdjust="0"/>
  </p:normalViewPr>
  <p:slideViewPr>
    <p:cSldViewPr>
      <p:cViewPr varScale="1">
        <p:scale>
          <a:sx n="83" d="100"/>
          <a:sy n="83" d="100"/>
        </p:scale>
        <p:origin x="1026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EB381-64C1-424E-8FC1-548ABF342418}" type="datetimeFigureOut">
              <a:rPr lang="en-IN" smtClean="0"/>
              <a:pPr/>
              <a:t>28-06-2023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87A68-5CD7-4B7E-95FC-906DDDECA18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51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 dirty="0" smtClean="0"/>
          </a:p>
        </p:txBody>
      </p:sp>
      <p:sp>
        <p:nvSpPr>
          <p:cNvPr id="179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1BD6A1-B9F7-4FDF-9535-FB9238559347}" type="slidenum">
              <a:rPr lang="en-US" altLang="en-US" sz="1200" smtClean="0"/>
              <a:pPr/>
              <a:t>1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086796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3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CREATE OR REPLACE PACKAGE pkg_student1 IS</a:t>
            </a:r>
          </a:p>
          <a:p>
            <a:r>
              <a:rPr lang="en-IN" dirty="0" smtClean="0"/>
              <a:t> PROCEDURE </a:t>
            </a:r>
            <a:r>
              <a:rPr lang="en-IN" dirty="0" err="1" smtClean="0"/>
              <a:t>updateRec</a:t>
            </a:r>
            <a:r>
              <a:rPr lang="en-IN" dirty="0" smtClean="0"/>
              <a:t>(</a:t>
            </a:r>
            <a:r>
              <a:rPr lang="en-IN" dirty="0" err="1" smtClean="0"/>
              <a:t>rn</a:t>
            </a:r>
            <a:r>
              <a:rPr lang="en-IN" dirty="0" smtClean="0"/>
              <a:t> student1.rollno%type);</a:t>
            </a:r>
          </a:p>
          <a:p>
            <a:r>
              <a:rPr lang="en-IN" dirty="0" smtClean="0"/>
              <a:t> FUNCTION </a:t>
            </a:r>
            <a:r>
              <a:rPr lang="en-IN" dirty="0" err="1" smtClean="0"/>
              <a:t>delRec</a:t>
            </a:r>
            <a:r>
              <a:rPr lang="en-IN" dirty="0" smtClean="0"/>
              <a:t>(</a:t>
            </a:r>
            <a:r>
              <a:rPr lang="en-IN" dirty="0" err="1" smtClean="0"/>
              <a:t>sn</a:t>
            </a:r>
            <a:r>
              <a:rPr lang="en-IN" dirty="0" smtClean="0"/>
              <a:t> student1.name%type) RETURN BOOLEAN;</a:t>
            </a:r>
          </a:p>
          <a:p>
            <a:r>
              <a:rPr lang="en-IN" dirty="0" smtClean="0"/>
              <a:t>END pkg_student1;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82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CREATE OR REPLACE PACKAGE BODY pkg_student1 IS</a:t>
            </a:r>
          </a:p>
          <a:p>
            <a:r>
              <a:rPr lang="en-IN" dirty="0" smtClean="0"/>
              <a:t>	PROCEDURE </a:t>
            </a:r>
            <a:r>
              <a:rPr lang="en-IN" dirty="0" err="1" smtClean="0"/>
              <a:t>updateRec</a:t>
            </a:r>
            <a:r>
              <a:rPr lang="en-IN" dirty="0" smtClean="0"/>
              <a:t>(</a:t>
            </a:r>
            <a:r>
              <a:rPr lang="en-IN" dirty="0" err="1" smtClean="0"/>
              <a:t>rn</a:t>
            </a:r>
            <a:r>
              <a:rPr lang="en-IN" dirty="0" smtClean="0"/>
              <a:t> student1.rollno%type) IS</a:t>
            </a:r>
          </a:p>
          <a:p>
            <a:r>
              <a:rPr lang="en-IN" dirty="0" smtClean="0"/>
              <a:t>		BEGIN</a:t>
            </a:r>
          </a:p>
          <a:p>
            <a:r>
              <a:rPr lang="en-IN" dirty="0" smtClean="0"/>
              <a:t>			Update student1 set </a:t>
            </a:r>
            <a:r>
              <a:rPr lang="en-IN" dirty="0" err="1" smtClean="0"/>
              <a:t>rollno</a:t>
            </a:r>
            <a:r>
              <a:rPr lang="en-IN" dirty="0" smtClean="0"/>
              <a:t>=10 where </a:t>
            </a:r>
            <a:r>
              <a:rPr lang="en-IN" dirty="0" err="1" smtClean="0"/>
              <a:t>rollno</a:t>
            </a:r>
            <a:r>
              <a:rPr lang="en-IN" dirty="0" smtClean="0"/>
              <a:t>=</a:t>
            </a:r>
            <a:r>
              <a:rPr lang="en-IN" dirty="0" err="1" smtClean="0"/>
              <a:t>rn</a:t>
            </a:r>
            <a:r>
              <a:rPr lang="en-IN" dirty="0" smtClean="0"/>
              <a:t>;</a:t>
            </a:r>
          </a:p>
          <a:p>
            <a:r>
              <a:rPr lang="en-IN" dirty="0" smtClean="0"/>
              <a:t>			IF  SQL%FOUND THEN</a:t>
            </a:r>
          </a:p>
          <a:p>
            <a:r>
              <a:rPr lang="en-IN" dirty="0" smtClean="0"/>
              <a:t>				</a:t>
            </a:r>
            <a:r>
              <a:rPr lang="en-IN" dirty="0" err="1" smtClean="0"/>
              <a:t>dbms_output.put_line</a:t>
            </a:r>
            <a:r>
              <a:rPr lang="en-IN" dirty="0" smtClean="0"/>
              <a:t>('RECORD UPDATED');</a:t>
            </a:r>
          </a:p>
          <a:p>
            <a:r>
              <a:rPr lang="en-IN" dirty="0" smtClean="0"/>
              <a:t>			ELSE</a:t>
            </a:r>
          </a:p>
          <a:p>
            <a:r>
              <a:rPr lang="en-IN" dirty="0" smtClean="0"/>
              <a:t>				</a:t>
            </a:r>
            <a:r>
              <a:rPr lang="en-IN" dirty="0" err="1" smtClean="0"/>
              <a:t>dbms_output.put_line</a:t>
            </a:r>
            <a:r>
              <a:rPr lang="en-IN" dirty="0" smtClean="0"/>
              <a:t>('RECORD NOT FOUND');</a:t>
            </a:r>
          </a:p>
          <a:p>
            <a:r>
              <a:rPr lang="en-IN" dirty="0" smtClean="0"/>
              <a:t>			END IF;</a:t>
            </a:r>
          </a:p>
          <a:p>
            <a:r>
              <a:rPr lang="en-IN" dirty="0" smtClean="0"/>
              <a:t>       END </a:t>
            </a:r>
            <a:r>
              <a:rPr lang="en-IN" dirty="0" err="1" smtClean="0"/>
              <a:t>updateRec</a:t>
            </a:r>
            <a:r>
              <a:rPr lang="en-IN" dirty="0" smtClean="0"/>
              <a:t>;</a:t>
            </a:r>
          </a:p>
          <a:p>
            <a:r>
              <a:rPr lang="en-IN" dirty="0" smtClean="0"/>
              <a:t>       </a:t>
            </a:r>
          </a:p>
          <a:p>
            <a:r>
              <a:rPr lang="en-IN" dirty="0" smtClean="0"/>
              <a:t>       FUNCTION </a:t>
            </a:r>
            <a:r>
              <a:rPr lang="en-IN" dirty="0" err="1" smtClean="0"/>
              <a:t>delRec</a:t>
            </a:r>
            <a:r>
              <a:rPr lang="en-IN" dirty="0" smtClean="0"/>
              <a:t>(</a:t>
            </a:r>
            <a:r>
              <a:rPr lang="en-IN" dirty="0" err="1" smtClean="0"/>
              <a:t>sn</a:t>
            </a:r>
            <a:r>
              <a:rPr lang="en-IN" dirty="0" smtClean="0"/>
              <a:t> student1.name%type) RETURN </a:t>
            </a:r>
            <a:r>
              <a:rPr lang="en-IN" dirty="0" err="1" smtClean="0"/>
              <a:t>boolean</a:t>
            </a:r>
            <a:r>
              <a:rPr lang="en-IN" dirty="0" smtClean="0"/>
              <a:t> IS</a:t>
            </a:r>
          </a:p>
          <a:p>
            <a:r>
              <a:rPr lang="en-IN" dirty="0" smtClean="0"/>
              <a:t>		BEGIN</a:t>
            </a:r>
          </a:p>
          <a:p>
            <a:r>
              <a:rPr lang="en-IN" dirty="0" smtClean="0"/>
              <a:t>			Delete from student1 where name=</a:t>
            </a:r>
            <a:r>
              <a:rPr lang="en-IN" dirty="0" err="1" smtClean="0"/>
              <a:t>sn</a:t>
            </a:r>
            <a:r>
              <a:rPr lang="en-IN" dirty="0" smtClean="0"/>
              <a:t>;</a:t>
            </a:r>
          </a:p>
          <a:p>
            <a:r>
              <a:rPr lang="en-IN" dirty="0" smtClean="0"/>
              <a:t>			RETURN SQL%FOUND;</a:t>
            </a:r>
          </a:p>
          <a:p>
            <a:r>
              <a:rPr lang="en-IN" dirty="0" smtClean="0"/>
              <a:t>		END </a:t>
            </a:r>
            <a:r>
              <a:rPr lang="en-IN" dirty="0" err="1" smtClean="0"/>
              <a:t>delRec</a:t>
            </a:r>
            <a:r>
              <a:rPr lang="en-IN" dirty="0" smtClean="0"/>
              <a:t>;</a:t>
            </a:r>
          </a:p>
          <a:p>
            <a:r>
              <a:rPr lang="en-IN" dirty="0" smtClean="0"/>
              <a:t>END pkg_student1;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78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DECLARE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rn</a:t>
            </a:r>
            <a:r>
              <a:rPr lang="en-IN" dirty="0" smtClean="0"/>
              <a:t> student1.rollno%type;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sn</a:t>
            </a:r>
            <a:r>
              <a:rPr lang="en-IN" dirty="0" smtClean="0"/>
              <a:t> student1.name%type;</a:t>
            </a:r>
          </a:p>
          <a:p>
            <a:r>
              <a:rPr lang="en-IN" dirty="0" smtClean="0"/>
              <a:t>BEGIN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rn</a:t>
            </a:r>
            <a:r>
              <a:rPr lang="en-IN" dirty="0" smtClean="0"/>
              <a:t>:=3;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sn</a:t>
            </a:r>
            <a:r>
              <a:rPr lang="en-IN" dirty="0" smtClean="0"/>
              <a:t>:='</a:t>
            </a:r>
            <a:r>
              <a:rPr lang="en-IN" dirty="0" err="1" smtClean="0"/>
              <a:t>anand</a:t>
            </a:r>
            <a:r>
              <a:rPr lang="en-IN" dirty="0" smtClean="0"/>
              <a:t>';</a:t>
            </a:r>
          </a:p>
          <a:p>
            <a:r>
              <a:rPr lang="en-IN" dirty="0" smtClean="0"/>
              <a:t>	</a:t>
            </a:r>
          </a:p>
          <a:p>
            <a:r>
              <a:rPr lang="en-IN" dirty="0" smtClean="0"/>
              <a:t>        pkg_student1.updateRec(</a:t>
            </a:r>
            <a:r>
              <a:rPr lang="en-IN" dirty="0" err="1" smtClean="0"/>
              <a:t>rn</a:t>
            </a:r>
            <a:r>
              <a:rPr lang="en-IN" dirty="0" smtClean="0"/>
              <a:t>);</a:t>
            </a:r>
          </a:p>
          <a:p>
            <a:r>
              <a:rPr lang="en-IN" dirty="0" smtClean="0"/>
              <a:t>	</a:t>
            </a:r>
          </a:p>
          <a:p>
            <a:r>
              <a:rPr lang="en-IN" dirty="0" smtClean="0"/>
              <a:t>        IF pkg_student1.delRec(</a:t>
            </a:r>
            <a:r>
              <a:rPr lang="en-IN" dirty="0" err="1" smtClean="0"/>
              <a:t>sn</a:t>
            </a:r>
            <a:r>
              <a:rPr lang="en-IN" dirty="0" smtClean="0"/>
              <a:t>) THEN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dbms_output.put_line</a:t>
            </a:r>
            <a:r>
              <a:rPr lang="en-IN" dirty="0" smtClean="0"/>
              <a:t>('RECORD DELETED');</a:t>
            </a:r>
          </a:p>
          <a:p>
            <a:r>
              <a:rPr lang="en-IN" dirty="0" smtClean="0"/>
              <a:t>	ELSE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dbms_output.put_line</a:t>
            </a:r>
            <a:r>
              <a:rPr lang="en-IN" dirty="0" smtClean="0"/>
              <a:t>('RECORD NOT FOUND');</a:t>
            </a:r>
          </a:p>
          <a:p>
            <a:r>
              <a:rPr lang="en-IN" dirty="0" smtClean="0"/>
              <a:t>	END IF;</a:t>
            </a:r>
          </a:p>
          <a:p>
            <a:r>
              <a:rPr lang="en-IN" dirty="0" smtClean="0"/>
              <a:t>END;/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69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Following are some of the benefits of packages in PL/SQL:</a:t>
            </a:r>
          </a:p>
          <a:p>
            <a:pPr algn="just"/>
            <a:r>
              <a:rPr lang="en-US" b="1" dirty="0" smtClean="0"/>
              <a:t>REUSABILITY: </a:t>
            </a:r>
            <a:r>
              <a:rPr lang="en-US" dirty="0" smtClean="0"/>
              <a:t>Whenever a package is created, it is compiled and stored in the database. So, you write the code once which can be reused by other applications.</a:t>
            </a:r>
          </a:p>
          <a:p>
            <a:pPr algn="just"/>
            <a:r>
              <a:rPr lang="en-US" b="1" dirty="0" smtClean="0"/>
              <a:t>OVERLOADING: </a:t>
            </a:r>
            <a:r>
              <a:rPr lang="en-US" dirty="0" smtClean="0"/>
              <a:t>Two or more &gt;procedures or functions can be created in a package with the same name.</a:t>
            </a:r>
          </a:p>
          <a:p>
            <a:pPr algn="just"/>
            <a:r>
              <a:rPr lang="en-US" b="1" dirty="0" smtClean="0"/>
              <a:t>CREATING MODULES: </a:t>
            </a:r>
            <a:r>
              <a:rPr lang="en-US" dirty="0" smtClean="0"/>
              <a:t>A large application can be created by simply creating modules(or subprograms) clearly defined and easy to work.</a:t>
            </a:r>
          </a:p>
          <a:p>
            <a:pPr algn="just"/>
            <a:r>
              <a:rPr lang="en-US" b="1" dirty="0" smtClean="0"/>
              <a:t>IMPROVES PERFORMANCE: </a:t>
            </a:r>
            <a:r>
              <a:rPr lang="en-US" dirty="0" smtClean="0"/>
              <a:t>Package code gets loaded inside the SGA(system global area) of Oracle at first call itself due to which other subsequent calls will work very fast.</a:t>
            </a:r>
          </a:p>
          <a:p>
            <a:pPr algn="just"/>
            <a:r>
              <a:rPr lang="en-US" b="1" dirty="0" smtClean="0"/>
              <a:t>GLOBAL DECLARATION: </a:t>
            </a:r>
            <a:r>
              <a:rPr lang="en-US" dirty="0" smtClean="0"/>
              <a:t>If the objects(procedures, functions, variables, constants, exceptions, cursor </a:t>
            </a:r>
            <a:r>
              <a:rPr lang="en-US" dirty="0" err="1" smtClean="0"/>
              <a:t>etc</a:t>
            </a:r>
            <a:r>
              <a:rPr lang="en-US" dirty="0" smtClean="0"/>
              <a:t>) are declared globally in a package, they can be easily used when required.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47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40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9" indent="0">
              <a:buNone/>
              <a:defRPr sz="1800"/>
            </a:lvl3pPr>
            <a:lvl4pPr marL="1028624" indent="0">
              <a:buNone/>
              <a:defRPr sz="1500"/>
            </a:lvl4pPr>
            <a:lvl5pPr marL="1371498" indent="0">
              <a:buNone/>
              <a:defRPr sz="1500"/>
            </a:lvl5pPr>
            <a:lvl6pPr marL="1714373" indent="0">
              <a:buNone/>
              <a:defRPr sz="1500"/>
            </a:lvl6pPr>
            <a:lvl7pPr marL="2057246" indent="0">
              <a:buNone/>
              <a:defRPr sz="1500"/>
            </a:lvl7pPr>
            <a:lvl8pPr marL="2400120" indent="0">
              <a:buNone/>
              <a:defRPr sz="1500"/>
            </a:lvl8pPr>
            <a:lvl9pPr marL="2742995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7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40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3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40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6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9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2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69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0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7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6" tIns="34289" rIns="68576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70"/>
            <a:ext cx="7962900" cy="3621881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7" tIns="34289" rIns="68577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9"/>
            <a:ext cx="7962900" cy="3621881"/>
          </a:xfrm>
          <a:prstGeom prst="rect">
            <a:avLst/>
          </a:prstGeom>
        </p:spPr>
        <p:txBody>
          <a:bodyPr vert="horz" lIns="68577" tIns="34289" rIns="68577" bIns="342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iming>
    <p:tnLst>
      <p:par>
        <p:cTn id="1" dur="indefinite" restart="never" nodeType="tmRoot"/>
      </p:par>
    </p:tnLst>
  </p:timing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7"/>
            <a:ext cx="7962900" cy="36218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database/121/LNPLS/packages.htm" TargetMode="Externa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3572" y="4070747"/>
            <a:ext cx="9147572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26219" y="4426744"/>
            <a:ext cx="34529" cy="459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0" name="Slide Number Placeholder 2"/>
          <p:cNvSpPr txBox="1">
            <a:spLocks/>
          </p:cNvSpPr>
          <p:nvPr/>
        </p:nvSpPr>
        <p:spPr bwMode="auto"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46" name="Right Triangle 45">
            <a:extLst>
              <a:ext uri="{FF2B5EF4-FFF2-40B4-BE49-F238E27FC236}"/>
            </a:extLst>
          </p:cNvPr>
          <p:cNvSpPr/>
          <p:nvPr/>
        </p:nvSpPr>
        <p:spPr>
          <a:xfrm flipV="1">
            <a:off x="7130654" y="4455319"/>
            <a:ext cx="967978" cy="86796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142342" name="Object 47"/>
          <p:cNvGraphicFramePr>
            <a:graphicFrameLocks noChangeAspect="1"/>
          </p:cNvGraphicFramePr>
          <p:nvPr/>
        </p:nvGraphicFramePr>
        <p:xfrm>
          <a:off x="57150" y="2340769"/>
          <a:ext cx="2477691" cy="23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2340769"/>
                        <a:ext cx="2477691" cy="23610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/>
            </a:extLst>
          </p:cNvPr>
          <p:cNvSpPr/>
          <p:nvPr/>
        </p:nvSpPr>
        <p:spPr>
          <a:xfrm flipH="1">
            <a:off x="5283994" y="-48816"/>
            <a:ext cx="3860006" cy="438983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6" y="151914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42347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7860"/>
            <a:ext cx="2894410" cy="115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2351" y="4000500"/>
            <a:ext cx="1775222" cy="120015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9" name="TextBox 35"/>
          <p:cNvSpPr txBox="1">
            <a:spLocks noChangeArrowheads="1"/>
          </p:cNvSpPr>
          <p:nvPr/>
        </p:nvSpPr>
        <p:spPr bwMode="auto">
          <a:xfrm>
            <a:off x="5161360" y="4514850"/>
            <a:ext cx="3695700" cy="48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1500" b="1" dirty="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900" b="1" dirty="0">
              <a:solidFill>
                <a:srgbClr val="000000"/>
              </a:solidFill>
              <a:latin typeface="Casper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 b="1" dirty="0"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3741" y="4532710"/>
            <a:ext cx="34528" cy="2774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40519" y="4481513"/>
            <a:ext cx="4823222" cy="4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Packages in PL/SQL</a:t>
            </a:r>
            <a:endParaRPr lang="en-US" sz="2400" b="1" dirty="0" smtClean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352" name="TextBox 25"/>
          <p:cNvSpPr txBox="1">
            <a:spLocks noChangeArrowheads="1"/>
          </p:cNvSpPr>
          <p:nvPr/>
        </p:nvSpPr>
        <p:spPr bwMode="auto">
          <a:xfrm>
            <a:off x="372666" y="1096566"/>
            <a:ext cx="8328422" cy="254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3600" b="1" dirty="0"/>
              <a:t>APEX INSTITUTE OF TECHNOLOGY</a:t>
            </a:r>
            <a:endParaRPr lang="en-US" altLang="en-US" sz="3600" dirty="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2400" b="1" dirty="0"/>
              <a:t>DEPARTMENT OF COMPUTER SCIENCE &amp; ENGINEERING</a:t>
            </a:r>
            <a:endParaRPr lang="en-US" altLang="en-US" sz="2400" b="1" dirty="0"/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2400" b="1" dirty="0">
              <a:ea typeface="Calibri" pitchFamily="34" charset="0"/>
              <a:cs typeface="Times New Roman" pitchFamily="18" charset="0"/>
            </a:endParaRP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Database Management System 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(22CSH-243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cs typeface="Times New Roman" pitchFamily="18" charset="0"/>
            </a:endParaRPr>
          </a:p>
          <a:p>
            <a:pPr algn="ctr" defTabSz="622300">
              <a:spcBef>
                <a:spcPct val="0"/>
              </a:spcBef>
              <a:spcAft>
                <a:spcPct val="35000"/>
              </a:spcAft>
            </a:pPr>
            <a:r>
              <a:rPr lang="en-US" altLang="en-US" sz="2400" b="1" dirty="0">
                <a:solidFill>
                  <a:srgbClr val="262626"/>
                </a:solidFill>
                <a:cs typeface="Times New Roman" pitchFamily="18" charset="0"/>
              </a:rPr>
              <a:t>Faculty:</a:t>
            </a: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Ms. </a:t>
            </a:r>
            <a:r>
              <a:rPr lang="en-US" sz="2400" dirty="0" err="1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Shaveta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 Jain (13464)</a:t>
            </a: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12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8F729-0D61-4535-976E-E42E431D79D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58" y="0"/>
            <a:ext cx="7886700" cy="1014212"/>
          </a:xfrm>
        </p:spPr>
        <p:txBody>
          <a:bodyPr>
            <a:norm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0572" y="859665"/>
            <a:ext cx="8306873" cy="270073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aims to: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system concepts and design databases for different applications and to acquire the knowledge on DBMS and RDBMS.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understand different types of DDL, DML and DCL statements.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concepts related to databases and recovery/backup techniques required for the proper storage of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32625" y="263602"/>
            <a:ext cx="8344139" cy="4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412957" y="474345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0373" y="878126"/>
            <a:ext cx="6660092" cy="39241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course, the students shall be able to:-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96714"/>
              </p:ext>
            </p:extLst>
          </p:nvPr>
        </p:nvGraphicFramePr>
        <p:xfrm>
          <a:off x="627846" y="1448872"/>
          <a:ext cx="8118487" cy="401777"/>
        </p:xfrm>
        <a:graphic>
          <a:graphicData uri="http://schemas.openxmlformats.org/drawingml/2006/table">
            <a:tbl>
              <a:tblPr firstRow="1" firstCol="1" bandRow="1"/>
              <a:tblGrid>
                <a:gridCol w="705955"/>
                <a:gridCol w="7412532"/>
              </a:tblGrid>
              <a:tr h="401777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7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CO4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Implement the package, procedures and triggers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81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Packages in PL/SQL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/>
              <a:t>A package is a way of logically storing the subprograms like procedure, function, exception or cursor into a single common unit.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A package can be defined as an oracle object that is compiled and stored in the database.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Once it is compiled and stored in the database it can be used by all the users of database who have executable permissions on Oracle database.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602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Components of </a:t>
            </a:r>
            <a:r>
              <a:rPr lang="en-US" sz="2800" dirty="0" smtClean="0"/>
              <a:t>Package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smtClean="0"/>
              <a:t>Package </a:t>
            </a:r>
            <a:r>
              <a:rPr lang="en-US" sz="2800" dirty="0"/>
              <a:t>has two basic components:</a:t>
            </a:r>
          </a:p>
          <a:p>
            <a:pPr algn="just"/>
            <a:r>
              <a:rPr lang="en-US" sz="2800" b="1" dirty="0"/>
              <a:t>Specification</a:t>
            </a:r>
            <a:r>
              <a:rPr lang="en-US" sz="2800" dirty="0"/>
              <a:t>: It is the declaration section of a Package</a:t>
            </a:r>
          </a:p>
          <a:p>
            <a:pPr algn="just"/>
            <a:r>
              <a:rPr lang="en-US" sz="2800" b="1" dirty="0"/>
              <a:t>Body</a:t>
            </a:r>
            <a:r>
              <a:rPr lang="en-US" sz="2800" dirty="0"/>
              <a:t>: It is the definition section of a Package</a:t>
            </a:r>
            <a:r>
              <a:rPr lang="en-US" sz="2800" dirty="0" smtClean="0"/>
              <a:t>.</a:t>
            </a:r>
            <a:r>
              <a:rPr lang="en-US" sz="2800" dirty="0"/>
              <a:t/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7354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Creating Package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1: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b="1" u="sng" dirty="0"/>
              <a:t>Package specification or declaration</a:t>
            </a:r>
            <a:r>
              <a:rPr lang="en-US" sz="2400" dirty="0"/>
              <a:t>, </a:t>
            </a:r>
          </a:p>
          <a:p>
            <a:pPr algn="just"/>
            <a:r>
              <a:rPr lang="en-US" sz="2400" dirty="0" smtClean="0"/>
              <a:t>It </a:t>
            </a:r>
            <a:r>
              <a:rPr lang="en-US" sz="2400" dirty="0"/>
              <a:t>mainly comprises of the following:</a:t>
            </a:r>
          </a:p>
          <a:p>
            <a:pPr lvl="1" algn="just"/>
            <a:r>
              <a:rPr lang="en-US" sz="2400" dirty="0"/>
              <a:t>Package Name.</a:t>
            </a:r>
          </a:p>
          <a:p>
            <a:pPr lvl="1" algn="just"/>
            <a:r>
              <a:rPr lang="en-US" sz="2400" dirty="0"/>
              <a:t>Variable/constant/cursor/procedure/function/exception declaration.</a:t>
            </a:r>
          </a:p>
          <a:p>
            <a:pPr lvl="1" algn="just"/>
            <a:r>
              <a:rPr lang="en-US" sz="2400" dirty="0"/>
              <a:t>This declaration is global to the package.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Syntax: </a:t>
            </a:r>
            <a:r>
              <a:rPr lang="en-US" sz="2800" u="sng" dirty="0"/>
              <a:t>Package specification or declaration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CREATE OR REPLACE PACKAGE </a:t>
            </a:r>
            <a:r>
              <a:rPr lang="en-US" sz="2400" dirty="0"/>
              <a:t>&lt;</a:t>
            </a:r>
            <a:r>
              <a:rPr lang="en-US" sz="2400" dirty="0" err="1"/>
              <a:t>package_name</a:t>
            </a:r>
            <a:r>
              <a:rPr lang="en-US" sz="2400" dirty="0"/>
              <a:t>&gt; IS/AS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FUNCTION </a:t>
            </a:r>
            <a:r>
              <a:rPr lang="en-US" sz="2000" dirty="0"/>
              <a:t>&lt;</a:t>
            </a:r>
            <a:r>
              <a:rPr lang="en-US" sz="2000" dirty="0" err="1"/>
              <a:t>function_name</a:t>
            </a:r>
            <a:r>
              <a:rPr lang="en-US" sz="2000" dirty="0"/>
              <a:t>&gt; (&lt;list of arguments</a:t>
            </a:r>
            <a:r>
              <a:rPr lang="en-US" sz="2000" dirty="0" smtClean="0"/>
              <a:t>&gt;)	RETURN </a:t>
            </a:r>
            <a:r>
              <a:rPr lang="en-US" sz="2000" dirty="0"/>
              <a:t>&lt;</a:t>
            </a:r>
            <a:r>
              <a:rPr lang="en-US" sz="2000" dirty="0" err="1"/>
              <a:t>datatype</a:t>
            </a:r>
            <a:r>
              <a:rPr lang="en-US" sz="2000" dirty="0"/>
              <a:t>&gt;;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PROCEDURE</a:t>
            </a:r>
            <a:r>
              <a:rPr lang="en-US" sz="2400" dirty="0"/>
              <a:t> </a:t>
            </a:r>
            <a:r>
              <a:rPr lang="en-US" sz="2000" dirty="0"/>
              <a:t>&lt;</a:t>
            </a:r>
            <a:r>
              <a:rPr lang="en-US" sz="2000" dirty="0" err="1"/>
              <a:t>procedure_name</a:t>
            </a:r>
            <a:r>
              <a:rPr lang="en-US" sz="2000" dirty="0"/>
              <a:t>&gt; (&lt;list of arguments&gt;);</a:t>
            </a:r>
          </a:p>
          <a:p>
            <a:pPr marL="0" indent="0">
              <a:buNone/>
            </a:pPr>
            <a:r>
              <a:rPr lang="en-US" sz="2400" dirty="0"/>
              <a:t>	-- code statements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END </a:t>
            </a:r>
            <a:r>
              <a:rPr lang="en-US" sz="2400" dirty="0"/>
              <a:t>&lt;</a:t>
            </a:r>
            <a:r>
              <a:rPr lang="en-US" sz="2400" dirty="0" err="1"/>
              <a:t>package_name</a:t>
            </a:r>
            <a:r>
              <a:rPr lang="en-US" sz="2400" dirty="0" smtClean="0"/>
              <a:t>&gt;;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725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STEP 2: </a:t>
            </a:r>
            <a:r>
              <a:rPr lang="en-US" dirty="0"/>
              <a:t>Package </a:t>
            </a:r>
            <a:r>
              <a:rPr lang="en-US" dirty="0" smtClean="0"/>
              <a:t>Body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 smtClean="0"/>
              <a:t>It </a:t>
            </a:r>
            <a:r>
              <a:rPr lang="en-US" sz="2800" dirty="0"/>
              <a:t>mainly comprises of the following:</a:t>
            </a:r>
          </a:p>
          <a:p>
            <a:pPr lvl="1" algn="just"/>
            <a:r>
              <a:rPr lang="en-US" sz="2400" dirty="0"/>
              <a:t>It contains the definition of procedure, function or cursor that is declared in the package specification.</a:t>
            </a:r>
          </a:p>
          <a:p>
            <a:pPr lvl="1" algn="just"/>
            <a:r>
              <a:rPr lang="en-US" sz="2400" dirty="0"/>
              <a:t>It contains the subprogram bodies containing executable statements for which package has been created</a:t>
            </a:r>
          </a:p>
          <a:p>
            <a:pPr marL="0" indent="0" algn="just">
              <a:buNone/>
            </a:pPr>
            <a:r>
              <a:rPr lang="en-US" sz="2800" dirty="0"/>
              <a:t>Here is the </a:t>
            </a:r>
            <a:r>
              <a:rPr lang="en-US" sz="2800" b="1" dirty="0"/>
              <a:t>syntax:</a:t>
            </a:r>
            <a:endParaRPr lang="en-US" sz="2800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59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Syntax- Package Body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819150"/>
            <a:ext cx="78867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CREATE  OR REPLACE PACKAGE BODY </a:t>
            </a:r>
            <a:r>
              <a:rPr lang="en-US" dirty="0"/>
              <a:t>&lt;</a:t>
            </a:r>
            <a:r>
              <a:rPr lang="en-US" dirty="0" err="1"/>
              <a:t>package_name</a:t>
            </a:r>
            <a:r>
              <a:rPr lang="en-US" dirty="0"/>
              <a:t>&gt; </a:t>
            </a:r>
            <a:r>
              <a:rPr lang="en-US" b="1" dirty="0">
                <a:solidFill>
                  <a:srgbClr val="FF0000"/>
                </a:solidFill>
              </a:rPr>
              <a:t>IS/AS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FUNCTION </a:t>
            </a:r>
            <a:r>
              <a:rPr lang="en-US" dirty="0"/>
              <a:t>&lt;</a:t>
            </a:r>
            <a:r>
              <a:rPr lang="en-US" dirty="0" err="1"/>
              <a:t>function_name</a:t>
            </a:r>
            <a:r>
              <a:rPr lang="en-US" dirty="0"/>
              <a:t>&gt; (&lt;list of arguments&gt;) RETURN &lt;</a:t>
            </a:r>
            <a:r>
              <a:rPr lang="en-US" dirty="0" err="1"/>
              <a:t>datatype</a:t>
            </a:r>
            <a:r>
              <a:rPr lang="en-US" dirty="0"/>
              <a:t>&gt;IS/AS</a:t>
            </a:r>
          </a:p>
          <a:p>
            <a:pPr marL="0" indent="0">
              <a:buNone/>
            </a:pPr>
            <a:r>
              <a:rPr lang="en-US" dirty="0"/>
              <a:t>	-- local variable declaration;</a:t>
            </a:r>
          </a:p>
          <a:p>
            <a:pPr marL="0" indent="0">
              <a:buNone/>
            </a:pPr>
            <a:r>
              <a:rPr lang="en-US" dirty="0"/>
              <a:t>	BEGIN</a:t>
            </a:r>
          </a:p>
          <a:p>
            <a:pPr marL="0" indent="0">
              <a:buNone/>
            </a:pPr>
            <a:r>
              <a:rPr lang="en-US" dirty="0"/>
              <a:t>		-- executable  statements;</a:t>
            </a:r>
          </a:p>
          <a:p>
            <a:pPr marL="0" indent="0">
              <a:buNone/>
            </a:pPr>
            <a:r>
              <a:rPr lang="en-US" dirty="0"/>
              <a:t>	EXCEPTION</a:t>
            </a:r>
          </a:p>
          <a:p>
            <a:pPr marL="0" indent="0">
              <a:buNone/>
            </a:pPr>
            <a:r>
              <a:rPr lang="en-US" dirty="0"/>
              <a:t>		-- error handling statements;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END &lt;</a:t>
            </a:r>
            <a:r>
              <a:rPr lang="en-US" b="1" dirty="0" err="1">
                <a:solidFill>
                  <a:srgbClr val="7030A0"/>
                </a:solidFill>
              </a:rPr>
              <a:t>function_name</a:t>
            </a:r>
            <a:r>
              <a:rPr lang="en-US" b="1" dirty="0">
                <a:solidFill>
                  <a:srgbClr val="7030A0"/>
                </a:solidFill>
              </a:rPr>
              <a:t>&gt;;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PROCEDURE </a:t>
            </a:r>
            <a:r>
              <a:rPr lang="en-US" dirty="0"/>
              <a:t>&lt;</a:t>
            </a:r>
            <a:r>
              <a:rPr lang="en-US" dirty="0" err="1"/>
              <a:t>procedure_name</a:t>
            </a:r>
            <a:r>
              <a:rPr lang="en-US" dirty="0"/>
              <a:t>&gt; (&lt;list of arguments&gt;)IS/AS</a:t>
            </a:r>
          </a:p>
          <a:p>
            <a:pPr marL="0" indent="0">
              <a:buNone/>
            </a:pPr>
            <a:r>
              <a:rPr lang="en-US" dirty="0"/>
              <a:t>	-- local variable declaration;</a:t>
            </a:r>
          </a:p>
          <a:p>
            <a:pPr marL="0" indent="0">
              <a:buNone/>
            </a:pPr>
            <a:r>
              <a:rPr lang="en-US" dirty="0"/>
              <a:t>	BEGIN</a:t>
            </a:r>
          </a:p>
          <a:p>
            <a:pPr marL="0" indent="0">
              <a:buNone/>
            </a:pPr>
            <a:r>
              <a:rPr lang="en-US" dirty="0"/>
              <a:t>		-- executable statements;</a:t>
            </a:r>
          </a:p>
          <a:p>
            <a:pPr marL="0" indent="0">
              <a:buNone/>
            </a:pPr>
            <a:r>
              <a:rPr lang="en-US" dirty="0"/>
              <a:t>	EXCEPTION</a:t>
            </a:r>
          </a:p>
          <a:p>
            <a:pPr marL="0" indent="0">
              <a:buNone/>
            </a:pPr>
            <a:r>
              <a:rPr lang="en-US" dirty="0"/>
              <a:t>		-- error handling statements;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END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procedure_name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&gt;;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END &lt;</a:t>
            </a:r>
            <a:r>
              <a:rPr lang="en-US" b="1" dirty="0" err="1">
                <a:solidFill>
                  <a:srgbClr val="FF0000"/>
                </a:solidFill>
              </a:rPr>
              <a:t>package_name</a:t>
            </a:r>
            <a:r>
              <a:rPr lang="en-US" b="1" dirty="0">
                <a:solidFill>
                  <a:srgbClr val="FF0000"/>
                </a:solidFill>
              </a:rPr>
              <a:t>&gt;;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16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Where,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CREATE OR REPLACE PACKAGE</a:t>
            </a:r>
            <a:r>
              <a:rPr lang="en-US" dirty="0"/>
              <a:t> BODY are keywords used to create the package with a body.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FUNCTION and PROCEDURE</a:t>
            </a:r>
            <a:r>
              <a:rPr lang="en-US" dirty="0"/>
              <a:t> are keywords used to define function and procedure while creating package.</a:t>
            </a:r>
          </a:p>
          <a:p>
            <a:pPr algn="just"/>
            <a:r>
              <a:rPr lang="en-US" b="1" dirty="0"/>
              <a:t>&lt;</a:t>
            </a:r>
            <a:r>
              <a:rPr lang="en-US" b="1" dirty="0" err="1"/>
              <a:t>package_name</a:t>
            </a:r>
            <a:r>
              <a:rPr lang="en-US" b="1" dirty="0"/>
              <a:t>&gt;</a:t>
            </a:r>
            <a:r>
              <a:rPr lang="en-US" dirty="0"/>
              <a:t>, </a:t>
            </a:r>
            <a:r>
              <a:rPr lang="en-US" b="1" dirty="0"/>
              <a:t>&lt;</a:t>
            </a:r>
            <a:r>
              <a:rPr lang="en-US" b="1" dirty="0" err="1"/>
              <a:t>function_name</a:t>
            </a:r>
            <a:r>
              <a:rPr lang="en-US" b="1" dirty="0"/>
              <a:t>&gt;</a:t>
            </a:r>
            <a:r>
              <a:rPr lang="en-US" dirty="0"/>
              <a:t>, </a:t>
            </a:r>
            <a:r>
              <a:rPr lang="en-US" b="1" dirty="0"/>
              <a:t>&lt;</a:t>
            </a:r>
            <a:r>
              <a:rPr lang="en-US" b="1" dirty="0" err="1"/>
              <a:t>procedure_name</a:t>
            </a:r>
            <a:r>
              <a:rPr lang="en-US" b="1" dirty="0"/>
              <a:t>&gt;</a:t>
            </a:r>
            <a:r>
              <a:rPr lang="en-US" dirty="0"/>
              <a:t> are user-defined.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IS/AS</a:t>
            </a:r>
            <a:r>
              <a:rPr lang="en-US" dirty="0"/>
              <a:t> are keywords used to define the body of package, function and procedure.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RETURN</a:t>
            </a:r>
            <a:r>
              <a:rPr lang="en-US" dirty="0"/>
              <a:t> is a keyword specifying value returned by the function defined.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DECLARE,</a:t>
            </a:r>
            <a:r>
              <a:rPr lang="en-US" dirty="0"/>
              <a:t> BEGIN, EXCEPTION, END are the different sections of PL/SQL code block containing variable declaration, executable statements, error handling statements and marking end of PL/SQL block respectively where DECLARE and EXCEPTION part are optional.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94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Referring A Package Object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Note: </a:t>
            </a:r>
            <a:r>
              <a:rPr lang="en-US" sz="2400" dirty="0"/>
              <a:t>Creating a package only defines it, to use it we must refer it using the package object.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 smtClean="0"/>
              <a:t>Syntax: </a:t>
            </a:r>
            <a:r>
              <a:rPr lang="en-US" sz="2400" dirty="0" smtClean="0"/>
              <a:t>Following </a:t>
            </a:r>
            <a:r>
              <a:rPr lang="en-US" sz="2400" dirty="0"/>
              <a:t>is the </a:t>
            </a:r>
            <a:r>
              <a:rPr lang="en-US" sz="2400" dirty="0" smtClean="0"/>
              <a:t>syntax </a:t>
            </a:r>
            <a:r>
              <a:rPr lang="en-US" sz="2400" dirty="0"/>
              <a:t>for referring a package object:</a:t>
            </a:r>
          </a:p>
          <a:p>
            <a:pPr marL="342900" lvl="1" indent="0" algn="just">
              <a:buNone/>
            </a:pPr>
            <a:r>
              <a:rPr lang="en-US" sz="2000" b="1" dirty="0" err="1" smtClean="0">
                <a:solidFill>
                  <a:srgbClr val="FF0000"/>
                </a:solidFill>
              </a:rPr>
              <a:t>Packagename.objectname</a:t>
            </a:r>
            <a:r>
              <a:rPr lang="en-US" sz="2000" b="1" dirty="0" smtClean="0">
                <a:solidFill>
                  <a:srgbClr val="FF0000"/>
                </a:solidFill>
              </a:rPr>
              <a:t>;</a:t>
            </a:r>
            <a:endParaRPr lang="en-US" sz="2000" b="1" dirty="0">
              <a:solidFill>
                <a:srgbClr val="FF0000"/>
              </a:solidFill>
            </a:endParaRPr>
          </a:p>
          <a:p>
            <a:pPr algn="just"/>
            <a:r>
              <a:rPr lang="en-US" sz="2200" dirty="0"/>
              <a:t>The Object can be a function, procedure, cursor, exception that has been declared in the package specification and defined in the package body and to access their executable statements above syntax is used.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8638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  <a:r>
              <a:rPr lang="en-IN" b="0" dirty="0" smtClean="0"/>
              <a:t> </a:t>
            </a:r>
            <a:r>
              <a:rPr lang="en-US" dirty="0"/>
              <a:t>PL/SQL code for package specification: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CREATE OR REPLACE PACKAGE </a:t>
            </a:r>
            <a:r>
              <a:rPr lang="en-IN" dirty="0" err="1"/>
              <a:t>pkg_student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IS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/>
              <a:t>PROCEDURE</a:t>
            </a:r>
            <a:r>
              <a:rPr lang="en-IN" dirty="0"/>
              <a:t>  </a:t>
            </a:r>
            <a:r>
              <a:rPr lang="en-IN" dirty="0" err="1"/>
              <a:t>updateRecord</a:t>
            </a:r>
            <a:r>
              <a:rPr lang="en-IN" dirty="0"/>
              <a:t>(</a:t>
            </a:r>
            <a:r>
              <a:rPr lang="en-IN" dirty="0" err="1"/>
              <a:t>sno</a:t>
            </a:r>
            <a:r>
              <a:rPr lang="en-IN" dirty="0"/>
              <a:t> </a:t>
            </a:r>
            <a:r>
              <a:rPr lang="en-IN" dirty="0" err="1"/>
              <a:t>student.rollno</a:t>
            </a:r>
            <a:r>
              <a:rPr lang="en-IN" b="1" dirty="0" err="1"/>
              <a:t>%type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/>
              <a:t>FUNCTION</a:t>
            </a:r>
            <a:r>
              <a:rPr lang="en-IN" dirty="0"/>
              <a:t> </a:t>
            </a:r>
            <a:r>
              <a:rPr lang="en-IN" dirty="0" err="1"/>
              <a:t>deleteRecord</a:t>
            </a:r>
            <a:r>
              <a:rPr lang="en-IN" dirty="0"/>
              <a:t>(</a:t>
            </a:r>
            <a:r>
              <a:rPr lang="en-IN" dirty="0" err="1"/>
              <a:t>snm</a:t>
            </a:r>
            <a:r>
              <a:rPr lang="en-IN" dirty="0"/>
              <a:t> </a:t>
            </a:r>
            <a:r>
              <a:rPr lang="en-IN" dirty="0" err="1"/>
              <a:t>student.sname</a:t>
            </a:r>
            <a:r>
              <a:rPr lang="en-IN" b="1" dirty="0" err="1"/>
              <a:t>%type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RETURN </a:t>
            </a:r>
            <a:r>
              <a:rPr lang="en-IN" dirty="0" err="1"/>
              <a:t>boolean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END </a:t>
            </a:r>
            <a:r>
              <a:rPr lang="en-IN" b="1" dirty="0" err="1" smtClean="0">
                <a:solidFill>
                  <a:srgbClr val="FF0000"/>
                </a:solidFill>
              </a:rPr>
              <a:t>pkg_Emp</a:t>
            </a:r>
            <a:r>
              <a:rPr lang="en-IN" b="1" dirty="0" smtClean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Output: Package is created.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90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PL/SQL code for package body: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742950"/>
            <a:ext cx="7886700" cy="4267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100" b="1" dirty="0" smtClean="0">
                <a:solidFill>
                  <a:srgbClr val="FF0000"/>
                </a:solidFill>
              </a:rPr>
              <a:t>CREATE </a:t>
            </a:r>
            <a:r>
              <a:rPr lang="en-IN" sz="1100" b="1" dirty="0">
                <a:solidFill>
                  <a:srgbClr val="FF0000"/>
                </a:solidFill>
              </a:rPr>
              <a:t>OR REPLACE PACKAGE BODY </a:t>
            </a:r>
            <a:r>
              <a:rPr lang="en-IN" sz="1100" dirty="0" err="1"/>
              <a:t>pkg_student</a:t>
            </a:r>
            <a:r>
              <a:rPr lang="en-IN" sz="1100" dirty="0"/>
              <a:t> </a:t>
            </a:r>
            <a:r>
              <a:rPr lang="en-IN" sz="1100" b="1" dirty="0">
                <a:solidFill>
                  <a:srgbClr val="FF0000"/>
                </a:solidFill>
              </a:rPr>
              <a:t>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</a:t>
            </a:r>
            <a:r>
              <a:rPr lang="en-IN" sz="1100" b="1" dirty="0">
                <a:solidFill>
                  <a:srgbClr val="7030A0"/>
                </a:solidFill>
              </a:rPr>
              <a:t>PROCEDURE</a:t>
            </a:r>
            <a:r>
              <a:rPr lang="en-IN" sz="1100" dirty="0"/>
              <a:t> </a:t>
            </a:r>
            <a:r>
              <a:rPr lang="en-IN" sz="1100" dirty="0" err="1"/>
              <a:t>updateRecord</a:t>
            </a:r>
            <a:r>
              <a:rPr lang="en-IN" sz="1100" dirty="0"/>
              <a:t>(</a:t>
            </a:r>
            <a:r>
              <a:rPr lang="en-IN" sz="1100" dirty="0" err="1"/>
              <a:t>sno</a:t>
            </a:r>
            <a:r>
              <a:rPr lang="en-IN" sz="1100" dirty="0"/>
              <a:t> </a:t>
            </a:r>
            <a:r>
              <a:rPr lang="en-IN" sz="1100" dirty="0" err="1"/>
              <a:t>student.rollno%type</a:t>
            </a:r>
            <a:r>
              <a:rPr lang="en-IN" sz="1100" dirty="0"/>
              <a:t>) 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BEGIN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Update student set age=23 where </a:t>
            </a:r>
            <a:r>
              <a:rPr lang="en-IN" sz="1100" dirty="0" err="1"/>
              <a:t>rollno</a:t>
            </a:r>
            <a:r>
              <a:rPr lang="en-IN" sz="1100" dirty="0"/>
              <a:t>=</a:t>
            </a:r>
            <a:r>
              <a:rPr lang="en-IN" sz="1100" dirty="0" err="1"/>
              <a:t>sno</a:t>
            </a:r>
            <a:r>
              <a:rPr lang="en-IN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IF  SQL%FOUND THEN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	</a:t>
            </a:r>
            <a:r>
              <a:rPr lang="en-IN" sz="1100" dirty="0" err="1"/>
              <a:t>dbms_output.put_line</a:t>
            </a:r>
            <a:r>
              <a:rPr lang="en-IN" sz="1100" dirty="0"/>
              <a:t>('RECORD UPDATED');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ELSE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	</a:t>
            </a:r>
            <a:r>
              <a:rPr lang="en-IN" sz="1100" dirty="0" err="1"/>
              <a:t>dbms_output.put_line</a:t>
            </a:r>
            <a:r>
              <a:rPr lang="en-IN" sz="1100" dirty="0"/>
              <a:t>('RECORD NOT FOUND');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END IF;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END </a:t>
            </a:r>
            <a:r>
              <a:rPr lang="en-IN" sz="1100" dirty="0" err="1"/>
              <a:t>updateRecord</a:t>
            </a:r>
            <a:r>
              <a:rPr lang="en-IN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</a:t>
            </a:r>
            <a:r>
              <a:rPr lang="en-IN" sz="1100" b="1" dirty="0">
                <a:solidFill>
                  <a:srgbClr val="7030A0"/>
                </a:solidFill>
              </a:rPr>
              <a:t>FUNCTION</a:t>
            </a:r>
            <a:r>
              <a:rPr lang="en-IN" sz="1100" dirty="0"/>
              <a:t> </a:t>
            </a:r>
            <a:r>
              <a:rPr lang="en-IN" sz="1100" dirty="0" err="1"/>
              <a:t>deleteRecord</a:t>
            </a:r>
            <a:r>
              <a:rPr lang="en-IN" sz="1100" dirty="0"/>
              <a:t>(</a:t>
            </a:r>
            <a:r>
              <a:rPr lang="en-IN" sz="1100" dirty="0" err="1"/>
              <a:t>snm</a:t>
            </a:r>
            <a:r>
              <a:rPr lang="en-IN" sz="1100" dirty="0"/>
              <a:t> </a:t>
            </a:r>
            <a:r>
              <a:rPr lang="en-IN" sz="1100" dirty="0" err="1"/>
              <a:t>student.sname%type</a:t>
            </a:r>
            <a:r>
              <a:rPr lang="en-IN" sz="1100" dirty="0"/>
              <a:t>) RETURN </a:t>
            </a:r>
            <a:r>
              <a:rPr lang="en-IN" sz="1100" dirty="0" err="1"/>
              <a:t>boolean</a:t>
            </a:r>
            <a:r>
              <a:rPr lang="en-IN" sz="1100" dirty="0"/>
              <a:t> 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BEGIN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Delete from student where </a:t>
            </a:r>
            <a:r>
              <a:rPr lang="en-IN" sz="1100" dirty="0" err="1"/>
              <a:t>sname</a:t>
            </a:r>
            <a:r>
              <a:rPr lang="en-IN" sz="1100" dirty="0"/>
              <a:t>=</a:t>
            </a:r>
            <a:r>
              <a:rPr lang="en-IN" sz="1100" dirty="0" err="1"/>
              <a:t>snm</a:t>
            </a:r>
            <a:r>
              <a:rPr lang="en-IN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	RETURN SQL%FOUND;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dirty="0"/>
              <a:t>		END </a:t>
            </a:r>
            <a:r>
              <a:rPr lang="en-IN" sz="1100" dirty="0" err="1"/>
              <a:t>deleteRecord</a:t>
            </a:r>
            <a:r>
              <a:rPr lang="en-IN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100" b="1" dirty="0">
                <a:solidFill>
                  <a:srgbClr val="FF0000"/>
                </a:solidFill>
              </a:rPr>
              <a:t>END </a:t>
            </a:r>
            <a:r>
              <a:rPr lang="en-IN" sz="1100" b="1" dirty="0" err="1">
                <a:solidFill>
                  <a:srgbClr val="FF0000"/>
                </a:solidFill>
              </a:rPr>
              <a:t>pkg_student</a:t>
            </a:r>
            <a:r>
              <a:rPr lang="en-IN" sz="1100" b="1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4129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Calling </a:t>
            </a:r>
            <a:r>
              <a:rPr lang="en-US" sz="2800" dirty="0"/>
              <a:t>the Procedure and </a:t>
            </a:r>
            <a:r>
              <a:rPr lang="en-US" sz="2800" dirty="0" smtClean="0"/>
              <a:t>Function</a:t>
            </a:r>
            <a:endParaRPr lang="en-IN" sz="2800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set </a:t>
            </a:r>
            <a:r>
              <a:rPr lang="en-IN" dirty="0" err="1"/>
              <a:t>serveroutput</a:t>
            </a:r>
            <a:r>
              <a:rPr lang="en-IN" dirty="0"/>
              <a:t> on;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DECLARE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sno</a:t>
            </a:r>
            <a:r>
              <a:rPr lang="en-IN" dirty="0"/>
              <a:t> </a:t>
            </a:r>
            <a:r>
              <a:rPr lang="en-IN" dirty="0" err="1"/>
              <a:t>student.rollno</a:t>
            </a:r>
            <a:r>
              <a:rPr lang="en-IN" b="1" dirty="0" err="1">
                <a:solidFill>
                  <a:srgbClr val="FF0000"/>
                </a:solidFill>
              </a:rPr>
              <a:t>%type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s_age</a:t>
            </a:r>
            <a:r>
              <a:rPr lang="en-IN" dirty="0"/>
              <a:t> </a:t>
            </a:r>
            <a:r>
              <a:rPr lang="en-IN" dirty="0" err="1"/>
              <a:t>student.age</a:t>
            </a:r>
            <a:r>
              <a:rPr lang="en-IN" b="1" dirty="0" err="1">
                <a:solidFill>
                  <a:srgbClr val="FF0000"/>
                </a:solidFill>
              </a:rPr>
              <a:t>%type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snm</a:t>
            </a:r>
            <a:r>
              <a:rPr lang="en-IN" dirty="0"/>
              <a:t> </a:t>
            </a:r>
            <a:r>
              <a:rPr lang="en-IN" dirty="0" err="1"/>
              <a:t>student.sname</a:t>
            </a:r>
            <a:r>
              <a:rPr lang="en-IN" b="1" dirty="0" err="1">
                <a:solidFill>
                  <a:srgbClr val="FF0000"/>
                </a:solidFill>
              </a:rPr>
              <a:t>%type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BEGIN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sno</a:t>
            </a:r>
            <a:r>
              <a:rPr lang="en-IN" dirty="0"/>
              <a:t> := </a:t>
            </a:r>
            <a:r>
              <a:rPr lang="en-IN" b="1" dirty="0">
                <a:solidFill>
                  <a:srgbClr val="FF0000"/>
                </a:solidFill>
              </a:rPr>
              <a:t>&amp;</a:t>
            </a:r>
            <a:r>
              <a:rPr lang="en-IN" dirty="0" err="1"/>
              <a:t>sno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snm</a:t>
            </a:r>
            <a:r>
              <a:rPr lang="en-IN" dirty="0"/>
              <a:t> := </a:t>
            </a:r>
            <a:r>
              <a:rPr lang="en-IN" b="1" dirty="0">
                <a:solidFill>
                  <a:srgbClr val="FF0000"/>
                </a:solidFill>
              </a:rPr>
              <a:t>&amp;</a:t>
            </a:r>
            <a:r>
              <a:rPr lang="en-IN" dirty="0" err="1"/>
              <a:t>snm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pkg_student.updateRecord(</a:t>
            </a:r>
            <a:r>
              <a:rPr lang="en-IN" b="1" dirty="0" err="1">
                <a:solidFill>
                  <a:srgbClr val="00B050"/>
                </a:solidFill>
              </a:rPr>
              <a:t>sno</a:t>
            </a:r>
            <a:r>
              <a:rPr lang="en-IN" b="1" dirty="0">
                <a:solidFill>
                  <a:srgbClr val="00B050"/>
                </a:solidFill>
              </a:rPr>
              <a:t>);</a:t>
            </a:r>
          </a:p>
          <a:p>
            <a:pPr marL="0" indent="0">
              <a:buNone/>
            </a:pPr>
            <a:r>
              <a:rPr lang="en-IN" dirty="0"/>
              <a:t>	IF </a:t>
            </a:r>
            <a:r>
              <a:rPr lang="en-IN" dirty="0" err="1"/>
              <a:t>pkg_student.deleteRecord</a:t>
            </a:r>
            <a:r>
              <a:rPr lang="en-IN" dirty="0"/>
              <a:t>(</a:t>
            </a:r>
            <a:r>
              <a:rPr lang="en-IN" dirty="0" err="1"/>
              <a:t>snm</a:t>
            </a:r>
            <a:r>
              <a:rPr lang="en-IN" dirty="0"/>
              <a:t>) THEN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dbms_output.put_line</a:t>
            </a:r>
            <a:r>
              <a:rPr lang="en-IN" dirty="0"/>
              <a:t>('RECORD DELETED');</a:t>
            </a:r>
          </a:p>
          <a:p>
            <a:pPr marL="0" indent="0">
              <a:buNone/>
            </a:pPr>
            <a:r>
              <a:rPr lang="en-IN" dirty="0"/>
              <a:t>	ELSE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dbms_output.put_line</a:t>
            </a:r>
            <a:r>
              <a:rPr lang="en-IN" dirty="0"/>
              <a:t>('RECORD NOT FOUND');</a:t>
            </a:r>
          </a:p>
          <a:p>
            <a:pPr marL="0" indent="0">
              <a:buNone/>
            </a:pPr>
            <a:r>
              <a:rPr lang="en-IN" dirty="0"/>
              <a:t>	END IF;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04993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Error!!!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1" dirty="0"/>
              <a:t>Note:</a:t>
            </a:r>
            <a:r>
              <a:rPr lang="en-US" sz="2400" dirty="0"/>
              <a:t> If the package specification or package body has been created with compilation errors then a following warning message is displayed on the screen:</a:t>
            </a:r>
          </a:p>
          <a:p>
            <a:pPr algn="just"/>
            <a:r>
              <a:rPr lang="en-US" sz="2400" dirty="0"/>
              <a:t>WARNING: Package Body created with compilation errors. </a:t>
            </a:r>
          </a:p>
          <a:p>
            <a:pPr algn="just"/>
            <a:r>
              <a:rPr lang="en-US" sz="2400" dirty="0"/>
              <a:t>In that case, the errors can be seen by executing following statement:</a:t>
            </a:r>
          </a:p>
          <a:p>
            <a:pPr marL="0" indent="0" algn="just">
              <a:buNone/>
            </a:pPr>
            <a:r>
              <a:rPr lang="en-IN" b="1" dirty="0" smtClean="0">
                <a:solidFill>
                  <a:srgbClr val="FF0000"/>
                </a:solidFill>
              </a:rPr>
              <a:t>   SHOW </a:t>
            </a:r>
            <a:r>
              <a:rPr lang="en-IN" b="1" dirty="0">
                <a:solidFill>
                  <a:srgbClr val="FF0000"/>
                </a:solidFill>
              </a:rPr>
              <a:t>ERRORS;</a:t>
            </a:r>
          </a:p>
        </p:txBody>
      </p:sp>
    </p:spTree>
    <p:extLst>
      <p:ext uri="{BB962C8B-B14F-4D97-AF65-F5344CB8AC3E}">
        <p14:creationId xmlns:p14="http://schemas.microsoft.com/office/powerpoint/2010/main" val="258619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using </a:t>
            </a:r>
            <a:r>
              <a:rPr lang="en-IN" dirty="0" smtClean="0"/>
              <a:t>Package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500" dirty="0" smtClean="0"/>
              <a:t>Following </a:t>
            </a:r>
            <a:r>
              <a:rPr lang="en-US" sz="2500" dirty="0"/>
              <a:t>are some of the benefits of packages in PL/SQL: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REUSABILITY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OVERLOADING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CREATING MODULES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IMPROVES PERFORMANCE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GLOBAL DECLARATION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0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5938" y="230210"/>
            <a:ext cx="7924800" cy="457200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1595" y="840347"/>
            <a:ext cx="8316533" cy="4114800"/>
          </a:xfrm>
        </p:spPr>
        <p:txBody>
          <a:bodyPr>
            <a:normAutofit/>
          </a:bodyPr>
          <a:lstStyle/>
          <a:p>
            <a:pPr lvl="0" algn="just"/>
            <a:r>
              <a:rPr lang="en-US" sz="1800" dirty="0" err="1"/>
              <a:t>RamezElmasri</a:t>
            </a:r>
            <a:r>
              <a:rPr lang="en-US" sz="1800" dirty="0"/>
              <a:t> and </a:t>
            </a:r>
            <a:r>
              <a:rPr lang="en-US" sz="1800" dirty="0" err="1"/>
              <a:t>Shamkant</a:t>
            </a:r>
            <a:r>
              <a:rPr lang="en-US" sz="1800" dirty="0"/>
              <a:t> B. </a:t>
            </a:r>
            <a:r>
              <a:rPr lang="en-US" sz="1800" dirty="0" err="1"/>
              <a:t>Navathe</a:t>
            </a:r>
            <a:r>
              <a:rPr lang="en-US" sz="1800" dirty="0"/>
              <a:t>, “Fundamentals of Database System”, The Benjamin / Cummings Publishing Co.</a:t>
            </a:r>
          </a:p>
          <a:p>
            <a:pPr lvl="0" algn="just"/>
            <a:r>
              <a:rPr lang="en-US" sz="1800" dirty="0" err="1"/>
              <a:t>Korth</a:t>
            </a:r>
            <a:r>
              <a:rPr lang="en-US" sz="1800" dirty="0"/>
              <a:t> and </a:t>
            </a:r>
            <a:r>
              <a:rPr lang="en-US" sz="1800" dirty="0" err="1"/>
              <a:t>Silberschatz</a:t>
            </a:r>
            <a:r>
              <a:rPr lang="en-US" sz="1800" dirty="0"/>
              <a:t> Abraham, “Database System Concepts”, McGraw Hall.</a:t>
            </a:r>
          </a:p>
          <a:p>
            <a:pPr lvl="0" algn="just"/>
            <a:r>
              <a:rPr lang="en-US" sz="1800" dirty="0" err="1"/>
              <a:t>C.J.Date</a:t>
            </a:r>
            <a:r>
              <a:rPr lang="en-US" sz="1800" dirty="0"/>
              <a:t>, “An Introduction to Database Systems”, Addison Wesley.</a:t>
            </a:r>
          </a:p>
          <a:p>
            <a:pPr lvl="0" algn="just"/>
            <a:r>
              <a:rPr lang="en-US" sz="1800" dirty="0"/>
              <a:t>Thomas M. Connolly, Carolyn &amp; E. </a:t>
            </a:r>
            <a:r>
              <a:rPr lang="en-US" sz="1800" dirty="0" err="1"/>
              <a:t>Begg</a:t>
            </a:r>
            <a:r>
              <a:rPr lang="en-US" sz="1800" dirty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sz="1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209550"/>
            <a:ext cx="7924800" cy="4572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895350"/>
            <a:ext cx="8001000" cy="337185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docs.oracle.com/database/121/LNPLS/packages.htm</a:t>
            </a:r>
            <a:endParaRPr lang="en-US" sz="2400" dirty="0" smtClean="0"/>
          </a:p>
          <a:p>
            <a:pPr lvl="0"/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6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9144000" cy="3514725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010400" y="0"/>
            <a:ext cx="1371600" cy="137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627144" y="1"/>
            <a:ext cx="497681" cy="4976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550069" y="4720829"/>
            <a:ext cx="419100" cy="41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292894" y="3846910"/>
            <a:ext cx="1296591" cy="12965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159" name="Title 1"/>
          <p:cNvSpPr txBox="1">
            <a:spLocks/>
          </p:cNvSpPr>
          <p:nvPr/>
        </p:nvSpPr>
        <p:spPr bwMode="auto">
          <a:xfrm>
            <a:off x="1114425" y="1687116"/>
            <a:ext cx="8043863" cy="92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6000" dirty="0">
                <a:solidFill>
                  <a:srgbClr val="FFFFFF"/>
                </a:solidFill>
                <a:ea typeface="Segoe UI" pitchFamily="34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77160" name="Diamond 6"/>
          <p:cNvSpPr>
            <a:spLocks/>
          </p:cNvSpPr>
          <p:nvPr/>
        </p:nvSpPr>
        <p:spPr bwMode="auto">
          <a:xfrm>
            <a:off x="1981201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sp>
        <p:nvSpPr>
          <p:cNvPr id="177161" name="Diamond 6"/>
          <p:cNvSpPr>
            <a:spLocks/>
          </p:cNvSpPr>
          <p:nvPr/>
        </p:nvSpPr>
        <p:spPr bwMode="auto">
          <a:xfrm>
            <a:off x="2174082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grpSp>
        <p:nvGrpSpPr>
          <p:cNvPr id="177162" name="Group 28"/>
          <p:cNvGrpSpPr>
            <a:grpSpLocks/>
          </p:cNvGrpSpPr>
          <p:nvPr/>
        </p:nvGrpSpPr>
        <p:grpSpPr bwMode="auto">
          <a:xfrm>
            <a:off x="178594" y="114300"/>
            <a:ext cx="307181" cy="1209675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aphicFrame>
          <p:nvGraphicFramePr>
            <p:cNvPr id="177168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3" name="Rectangle 1"/>
          <p:cNvSpPr>
            <a:spLocks noChangeArrowheads="1"/>
          </p:cNvSpPr>
          <p:nvPr/>
        </p:nvSpPr>
        <p:spPr bwMode="auto">
          <a:xfrm>
            <a:off x="3084910" y="4045744"/>
            <a:ext cx="4886594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>
                <a:latin typeface="Casper"/>
                <a:cs typeface="Segoe UI" pitchFamily="34" charset="0"/>
              </a:rPr>
              <a:t>For queries</a:t>
            </a:r>
          </a:p>
          <a:p>
            <a:r>
              <a:rPr lang="en-US" altLang="en-US" dirty="0">
                <a:latin typeface="Casper"/>
                <a:cs typeface="Segoe UI" pitchFamily="34" charset="0"/>
              </a:rPr>
              <a:t>Email</a:t>
            </a:r>
            <a:r>
              <a:rPr lang="en-US" altLang="en-US"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latin typeface="Casper"/>
                <a:cs typeface="Segoe UI" pitchFamily="34" charset="0"/>
              </a:rPr>
              <a:t> </a:t>
            </a:r>
            <a:endParaRPr lang="en-US" altLang="en-US" dirty="0"/>
          </a:p>
        </p:txBody>
      </p:sp>
      <p:sp>
        <p:nvSpPr>
          <p:cNvPr id="177164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1"/>
                </a:solidFill>
                <a:latin typeface="Times New Roman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AC26643-7CEF-4538-9372-1F7FE56F9D0A}" type="slidenum">
              <a:rPr lang="en-US" altLang="en-US" sz="900">
                <a:solidFill>
                  <a:srgbClr val="898989"/>
                </a:solidFill>
              </a:rPr>
              <a:pPr/>
              <a:t>19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4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 THEME</Template>
  <TotalTime>1056</TotalTime>
  <Words>641</Words>
  <Application>Microsoft Office PowerPoint</Application>
  <PresentationFormat>On-screen Show (16:9)</PresentationFormat>
  <Paragraphs>193</Paragraphs>
  <Slides>19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Casper</vt:lpstr>
      <vt:lpstr>Karla</vt:lpstr>
      <vt:lpstr>Segoe UI</vt:lpstr>
      <vt:lpstr>Times New Roman</vt:lpstr>
      <vt:lpstr>CU THEME</vt:lpstr>
      <vt:lpstr>1_CU THEME</vt:lpstr>
      <vt:lpstr>2_CU THEME</vt:lpstr>
      <vt:lpstr>CorelDRAW</vt:lpstr>
      <vt:lpstr>PowerPoint Presentation</vt:lpstr>
      <vt:lpstr>DBMS: Course Objectives</vt:lpstr>
      <vt:lpstr>COURSE OUTCOMES</vt:lpstr>
      <vt:lpstr>Packages in PL/SQL</vt:lpstr>
      <vt:lpstr>Components of Package</vt:lpstr>
      <vt:lpstr>Creating Package</vt:lpstr>
      <vt:lpstr>Syntax: Package specification or declaration</vt:lpstr>
      <vt:lpstr>STEP 2: Package Body</vt:lpstr>
      <vt:lpstr>Syntax- Package Body</vt:lpstr>
      <vt:lpstr>Where,</vt:lpstr>
      <vt:lpstr>Referring A Package Object</vt:lpstr>
      <vt:lpstr>Example: PL/SQL code for package specification:</vt:lpstr>
      <vt:lpstr>PL/SQL code for package body:</vt:lpstr>
      <vt:lpstr>Calling the Procedure and Function</vt:lpstr>
      <vt:lpstr>Error!!!</vt:lpstr>
      <vt:lpstr>Benefits of using Package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PROCEDURES</dc:title>
  <dc:creator>PRAMOD</dc:creator>
  <cp:lastModifiedBy>shavetapc</cp:lastModifiedBy>
  <cp:revision>119</cp:revision>
  <dcterms:created xsi:type="dcterms:W3CDTF">2006-08-16T00:00:00Z</dcterms:created>
  <dcterms:modified xsi:type="dcterms:W3CDTF">2023-06-28T04:58:11Z</dcterms:modified>
</cp:coreProperties>
</file>