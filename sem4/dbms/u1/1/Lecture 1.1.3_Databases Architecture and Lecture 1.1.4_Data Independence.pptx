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531" r:id="rId3"/>
    <p:sldId id="532" r:id="rId4"/>
    <p:sldId id="533" r:id="rId5"/>
    <p:sldId id="492" r:id="rId6"/>
    <p:sldId id="523" r:id="rId7"/>
    <p:sldId id="524" r:id="rId8"/>
    <p:sldId id="525" r:id="rId9"/>
    <p:sldId id="526" r:id="rId10"/>
    <p:sldId id="527" r:id="rId11"/>
    <p:sldId id="528" r:id="rId12"/>
    <p:sldId id="501" r:id="rId13"/>
    <p:sldId id="503" r:id="rId14"/>
    <p:sldId id="504" r:id="rId15"/>
    <p:sldId id="505" r:id="rId16"/>
    <p:sldId id="506" r:id="rId17"/>
    <p:sldId id="507" r:id="rId18"/>
    <p:sldId id="508" r:id="rId19"/>
    <p:sldId id="509" r:id="rId20"/>
    <p:sldId id="529" r:id="rId21"/>
    <p:sldId id="364" r:id="rId22"/>
    <p:sldId id="489" r:id="rId23"/>
    <p:sldId id="53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4" d="100"/>
          <a:sy n="74" d="100"/>
        </p:scale>
        <p:origin x="55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070280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By: Pramod Vishwakarma (E9758)</a:t>
            </a:r>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By: Pramod Vishwakarma (E9758)</a:t>
            </a:r>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By: Pramod Vishwakarma (E9758)</a:t>
            </a:r>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By: Pramod Vishwakarma (E9758)</a:t>
            </a: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By: Pramod Vishwakarma (E9758)</a:t>
            </a:r>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p:spPr>
        <p:txBody>
          <a:bodyPr anchor="ctr">
            <a:normAutofit/>
          </a:bodyPr>
          <a:lstStyle>
            <a:lvl1pPr algn="ctr">
              <a:buNone/>
              <a:defRPr sz="3200" b="1">
                <a:solidFill>
                  <a:srgbClr val="C00000"/>
                </a:solidFill>
              </a:defRPr>
            </a:lvl1pPr>
          </a:lstStyle>
          <a:p>
            <a:pPr lvl="0"/>
            <a:r>
              <a:rPr lang="en-US" smtClean="0"/>
              <a:t>Click to edit Master text styles</a:t>
            </a:r>
          </a:p>
        </p:txBody>
      </p:sp>
    </p:spTree>
    <p:extLst>
      <p:ext uri="{BB962C8B-B14F-4D97-AF65-F5344CB8AC3E}">
        <p14:creationId xmlns:p14="http://schemas.microsoft.com/office/powerpoint/2010/main" val="1825028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smtClean="0">
                <a:solidFill>
                  <a:prstClr val="black">
                    <a:tint val="75000"/>
                  </a:prstClr>
                </a:solidFill>
              </a:rPr>
              <a:t>By: Pramod Vishwakarma (E9758)</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7527707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By: Pramod Vishwakarma (E9758)</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704" r:id="rId12"/>
    <p:sldLayoutId id="214748370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eginnersbook.com/2015/04/e-r-model-in-dbm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hyperlink" Target="mailto:saurabh.e12800@cumail.in"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40967" name="CorelDRAW" r:id="rId4" imgW="2169000" imgH="2169360" progId="">
                  <p:embed/>
                </p:oleObj>
              </mc:Choice>
              <mc:Fallback>
                <p:oleObj name="CorelDRAW" r:id="rId4" imgW="2169000" imgH="2169360" progId="">
                  <p:embed/>
                  <p:pic>
                    <p:nvPicPr>
                      <p:cNvPr id="0" name="Picture 6"/>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5187" y="6027219"/>
            <a:ext cx="6432043"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IN" sz="2400" b="1" dirty="0">
                <a:solidFill>
                  <a:prstClr val="black">
                    <a:lumMod val="85000"/>
                    <a:lumOff val="15000"/>
                  </a:prstClr>
                </a:solidFill>
                <a:latin typeface="Times New Roman" panose="02020603050405020304" pitchFamily="18" charset="0"/>
                <a:cs typeface="Times New Roman" panose="02020603050405020304" pitchFamily="18" charset="0"/>
              </a:rPr>
              <a:t>Lecture - </a:t>
            </a:r>
            <a:r>
              <a:rPr lang="en-IN" sz="2400" b="1" dirty="0" smtClean="0">
                <a:solidFill>
                  <a:prstClr val="black">
                    <a:lumMod val="85000"/>
                    <a:lumOff val="15000"/>
                  </a:prstClr>
                </a:solidFill>
                <a:latin typeface="Times New Roman" panose="02020603050405020304" pitchFamily="18" charset="0"/>
                <a:cs typeface="Times New Roman" panose="02020603050405020304" pitchFamily="18" charset="0"/>
              </a:rPr>
              <a:t>2</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Databases Architecture</a:t>
            </a:r>
            <a:endParaRPr lang="en-US" sz="2400" b="1" dirty="0">
              <a:latin typeface="Times New Roman" panose="02020603050405020304" pitchFamily="18" charset="0"/>
              <a:cs typeface="Times New Roman" panose="02020603050405020304" pitchFamily="18" charset="0"/>
            </a:endParaRPr>
          </a:p>
        </p:txBody>
      </p:sp>
      <p:sp>
        <p:nvSpPr>
          <p:cNvPr id="26" name="TextBox 25"/>
          <p:cNvSpPr txBox="1">
            <a:spLocks noChangeArrowheads="1"/>
          </p:cNvSpPr>
          <p:nvPr/>
        </p:nvSpPr>
        <p:spPr bwMode="auto">
          <a:xfrm>
            <a:off x="497492" y="1461582"/>
            <a:ext cx="11103427" cy="33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800" b="1" dirty="0">
                <a:latin typeface="Cambria" panose="02040503050406030204" pitchFamily="18" charset="0"/>
              </a:rPr>
              <a:t>APEX INSTITUTE OF TECHNOLOGY</a:t>
            </a:r>
            <a:endParaRPr lang="en-US" sz="4800" dirty="0">
              <a:latin typeface="Cambria" panose="02040503050406030204" pitchFamily="18" charset="0"/>
            </a:endParaRPr>
          </a:p>
          <a:p>
            <a:pPr algn="ctr"/>
            <a:r>
              <a:rPr lang="en-IN" sz="3200" b="1" dirty="0" smtClean="0">
                <a:latin typeface="Cambria" panose="02040503050406030204" pitchFamily="18" charset="0"/>
              </a:rPr>
              <a:t>DEPARTMENT </a:t>
            </a:r>
            <a:r>
              <a:rPr lang="en-IN" sz="3200" b="1" dirty="0">
                <a:latin typeface="Cambria" panose="02040503050406030204" pitchFamily="18" charset="0"/>
              </a:rPr>
              <a:t>OF COMPUTER SCIENCE &amp; ENGINEERING</a:t>
            </a:r>
            <a:endParaRPr lang="en-US" sz="3200" b="1" dirty="0">
              <a:latin typeface="Cambria" panose="02040503050406030204" pitchFamily="18" charset="0"/>
            </a:endParaRPr>
          </a:p>
          <a:p>
            <a:pPr algn="ctr" defTabSz="622300">
              <a:lnSpc>
                <a:spcPct val="90000"/>
              </a:lnSpc>
              <a:spcBef>
                <a:spcPct val="0"/>
              </a:spcBef>
              <a:spcAft>
                <a:spcPct val="35000"/>
              </a:spcAft>
            </a:pPr>
            <a:endParaRPr lang="en-US" altLang="en-US" sz="3200" b="1" dirty="0" smtClean="0">
              <a:latin typeface="Cambria" panose="02040503050406030204" pitchFamily="18" charset="0"/>
              <a:ea typeface="Calibri" charset="0"/>
              <a:cs typeface="Times New Roman" charset="0"/>
            </a:endParaRPr>
          </a:p>
          <a:p>
            <a:pPr lvl="0" algn="ctr" defTabSz="622300">
              <a:lnSpc>
                <a:spcPct val="90000"/>
              </a:lnSpc>
              <a:spcBef>
                <a:spcPct val="0"/>
              </a:spcBef>
              <a:spcAft>
                <a:spcPct val="35000"/>
              </a:spcAft>
            </a:pP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Database Management </a:t>
            </a:r>
            <a:r>
              <a:rPr lang="en-US" sz="3200" dirty="0">
                <a:solidFill>
                  <a:prstClr val="black">
                    <a:lumMod val="85000"/>
                    <a:lumOff val="15000"/>
                  </a:prstClr>
                </a:solidFill>
                <a:latin typeface="Cambria" panose="02040503050406030204" pitchFamily="18" charset="0"/>
                <a:cs typeface="Times New Roman" panose="02020603050405020304" pitchFamily="18" charset="0"/>
              </a:rPr>
              <a:t>System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22CSH-243</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algn="ctr" defTabSz="622300">
              <a:lnSpc>
                <a:spcPct val="90000"/>
              </a:lnSpc>
              <a:spcBef>
                <a:spcPct val="0"/>
              </a:spcBef>
              <a:spcAft>
                <a:spcPct val="35000"/>
              </a:spcAft>
            </a:pPr>
            <a:r>
              <a:rPr lang="en-US" sz="3200" b="1" dirty="0" smtClean="0">
                <a:solidFill>
                  <a:prstClr val="black">
                    <a:lumMod val="85000"/>
                    <a:lumOff val="15000"/>
                  </a:prstClr>
                </a:solidFill>
                <a:latin typeface="Cambria" panose="02040503050406030204" pitchFamily="18" charset="0"/>
                <a:cs typeface="Times New Roman" panose="02020603050405020304" pitchFamily="18" charset="0"/>
              </a:rPr>
              <a:t>Faculty:</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Ms. </a:t>
            </a:r>
            <a:r>
              <a:rPr lang="en-US" sz="3200" dirty="0" err="1" smtClean="0">
                <a:solidFill>
                  <a:prstClr val="black">
                    <a:lumMod val="85000"/>
                    <a:lumOff val="15000"/>
                  </a:prstClr>
                </a:solidFill>
                <a:latin typeface="Cambria" panose="02040503050406030204" pitchFamily="18" charset="0"/>
                <a:cs typeface="Times New Roman" panose="02020603050405020304" pitchFamily="18" charset="0"/>
              </a:rPr>
              <a:t>Shaveta</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 Jain </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a:t>
            </a:r>
            <a:r>
              <a:rPr lang="en-US" sz="3200" dirty="0" smtClean="0">
                <a:solidFill>
                  <a:prstClr val="black">
                    <a:lumMod val="85000"/>
                    <a:lumOff val="15000"/>
                  </a:prstClr>
                </a:solidFill>
                <a:latin typeface="Cambria" panose="02040503050406030204" pitchFamily="18" charset="0"/>
                <a:cs typeface="Times New Roman" panose="02020603050405020304" pitchFamily="18" charset="0"/>
              </a:rPr>
              <a:t>E13464)</a:t>
            </a:r>
            <a:endParaRPr lang="en-US" sz="3200" dirty="0">
              <a:solidFill>
                <a:prstClr val="black">
                  <a:lumMod val="85000"/>
                  <a:lumOff val="15000"/>
                </a:prstClr>
              </a:solidFill>
              <a:latin typeface="Cambria" panose="02040503050406030204" pitchFamily="18" charset="0"/>
              <a:cs typeface="Times New Roman" panose="02020603050405020304" pitchFamily="18" charset="0"/>
            </a:endParaRPr>
          </a:p>
          <a:p>
            <a:pPr lvl="0" algn="ctr" defTabSz="622300">
              <a:lnSpc>
                <a:spcPct val="90000"/>
              </a:lnSpc>
              <a:spcBef>
                <a:spcPct val="0"/>
              </a:spcBef>
              <a:spcAft>
                <a:spcPct val="35000"/>
              </a:spcAft>
            </a:pPr>
            <a:endParaRPr lang="en-US" sz="1600" dirty="0">
              <a:latin typeface="Cambria" panose="02040503050406030204" pitchFamily="18" charset="0"/>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2964749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411" y="0"/>
            <a:ext cx="10515600" cy="1352282"/>
          </a:xfrm>
        </p:spPr>
        <p:txBody>
          <a:bodyPr>
            <a:normAutofit/>
          </a:bodyPr>
          <a:lstStyle/>
          <a:p>
            <a:r>
              <a:rPr lang="en-IN"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DBMS: Course Objectives</a:t>
            </a:r>
            <a:endPar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734095" y="1146220"/>
            <a:ext cx="11075831" cy="3534622"/>
          </a:xfrm>
          <a:prstGeom prst="rect">
            <a:avLst/>
          </a:prstGeom>
        </p:spPr>
        <p:txBody>
          <a:bodyPr wrap="square">
            <a:spAutoFit/>
          </a:bodyPr>
          <a:lstStyle/>
          <a:p>
            <a:pPr lvl="0" algn="just"/>
            <a:r>
              <a:rPr lang="en-US" sz="2400" b="1" dirty="0">
                <a:latin typeface="Times New Roman" panose="02020603050405020304" pitchFamily="18" charset="0"/>
                <a:cs typeface="Times New Roman" panose="02020603050405020304" pitchFamily="18" charset="0"/>
              </a:rPr>
              <a:t>COURSE OBJECTIVES</a:t>
            </a:r>
            <a:endParaRPr lang="en-US" sz="2400" b="1" i="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Course aims to:</a:t>
            </a:r>
            <a:endParaRPr lang="en-US" sz="2400" b="1" i="1"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database system concepts and design databases for different applications and to acquire the knowledge on DBMS and RDBMS.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and understand different types of DDL, DML and DCL statements.</a:t>
            </a:r>
            <a:endParaRPr lang="en-US" sz="2400" dirty="0">
              <a:latin typeface="Times New Roman" panose="02020603050405020304" pitchFamily="18" charset="0"/>
              <a:cs typeface="Times New Roman" panose="02020603050405020304" pitchFamily="18" charset="0"/>
            </a:endParaRPr>
          </a:p>
          <a:p>
            <a:pPr marL="457200" lvl="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transaction concepts related to databases and recovery/backup techniques required for the proper storage of data.</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13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710166" y="351468"/>
            <a:ext cx="1112551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4" name="Rectangle 3"/>
          <p:cNvSpPr/>
          <p:nvPr/>
        </p:nvSpPr>
        <p:spPr>
          <a:xfrm>
            <a:off x="720497" y="1170835"/>
            <a:ext cx="8880123" cy="523220"/>
          </a:xfrm>
          <a:prstGeom prst="rect">
            <a:avLst/>
          </a:prstGeom>
        </p:spPr>
        <p:txBody>
          <a:bodyPr wrap="none">
            <a:spAutoFit/>
          </a:bodyPr>
          <a:lstStyle/>
          <a:p>
            <a:r>
              <a:rPr lang="en-IN" sz="2800" dirty="0">
                <a:latin typeface="Times New Roman" panose="02020603050405020304" pitchFamily="18" charset="0"/>
                <a:cs typeface="Times New Roman" panose="02020603050405020304" pitchFamily="18" charset="0"/>
              </a:rPr>
              <a:t>On completion of this course, the students shall be able </a:t>
            </a:r>
            <a:r>
              <a:rPr lang="en-IN" sz="2800" dirty="0" smtClean="0">
                <a:latin typeface="Times New Roman" panose="02020603050405020304" pitchFamily="18" charset="0"/>
                <a:cs typeface="Times New Roman" panose="02020603050405020304" pitchFamily="18" charset="0"/>
              </a:rPr>
              <a:t>to:-</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40947470"/>
              </p:ext>
            </p:extLst>
          </p:nvPr>
        </p:nvGraphicFramePr>
        <p:xfrm>
          <a:off x="837127" y="1931829"/>
          <a:ext cx="10824649" cy="722595"/>
        </p:xfrm>
        <a:graphic>
          <a:graphicData uri="http://schemas.openxmlformats.org/drawingml/2006/table">
            <a:tbl>
              <a:tblPr firstRow="1" firstCol="1" bandRow="1"/>
              <a:tblGrid>
                <a:gridCol w="941273"/>
                <a:gridCol w="9883376"/>
              </a:tblGrid>
              <a:tr h="722595">
                <a:tc>
                  <a:txBody>
                    <a:bodyPr/>
                    <a:lstStyle/>
                    <a:p>
                      <a:pPr marL="0" marR="53975" algn="l">
                        <a:spcBef>
                          <a:spcPts val="0"/>
                        </a:spcBef>
                        <a:spcAft>
                          <a:spcPts val="0"/>
                        </a:spcAft>
                      </a:pPr>
                      <a:r>
                        <a:rPr lang="en-IN" sz="2200" b="1" dirty="0">
                          <a:effectLst/>
                          <a:latin typeface="Times New Roman"/>
                          <a:ea typeface="Calibri"/>
                          <a:cs typeface="Arial"/>
                        </a:rPr>
                        <a:t>CO1</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IN" sz="2200" dirty="0">
                          <a:solidFill>
                            <a:srgbClr val="000000"/>
                          </a:solidFill>
                          <a:effectLst/>
                          <a:latin typeface="Times New Roman"/>
                          <a:ea typeface="Times New Roman"/>
                          <a:cs typeface="Arial"/>
                        </a:rPr>
                        <a:t>Understand the database concept, system architecture and role of database administrator</a:t>
                      </a:r>
                      <a:endParaRPr lang="en-US" sz="2200" dirty="0">
                        <a:effectLst/>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76910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Outline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Type of system Architectures</a:t>
            </a:r>
          </a:p>
          <a:p>
            <a:r>
              <a:rPr lang="en-US" dirty="0" smtClean="0">
                <a:latin typeface="Times New Roman" pitchFamily="18" charset="0"/>
                <a:cs typeface="Times New Roman" pitchFamily="18" charset="0"/>
              </a:rPr>
              <a:t>Data Base System Architecture (Three Level ANSI-SPARC Architecture)</a:t>
            </a:r>
          </a:p>
          <a:p>
            <a:r>
              <a:rPr lang="en-US" dirty="0" smtClean="0">
                <a:latin typeface="Times New Roman" pitchFamily="18" charset="0"/>
                <a:cs typeface="Times New Roman" pitchFamily="18" charset="0"/>
              </a:rPr>
              <a:t>Data Independence</a:t>
            </a:r>
          </a:p>
          <a:p>
            <a:r>
              <a:rPr lang="en-US" dirty="0" smtClean="0">
                <a:latin typeface="Times New Roman" pitchFamily="18" charset="0"/>
                <a:cs typeface="Times New Roman" pitchFamily="18" charset="0"/>
              </a:rPr>
              <a:t>Types of Data Independence</a:t>
            </a:r>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DBMS Architecture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dirty="0" smtClean="0">
                <a:latin typeface="Times New Roman" pitchFamily="18" charset="0"/>
                <a:cs typeface="Times New Roman" pitchFamily="18" charset="0"/>
              </a:rPr>
              <a:t>The DBMS design depends upon its architecture. The basic client/server architecture is used to deal with a large number of PCs, web servers, database servers, and other components that are connected with networks.</a:t>
            </a:r>
          </a:p>
          <a:p>
            <a:r>
              <a:rPr lang="en-IN" dirty="0" smtClean="0">
                <a:latin typeface="Times New Roman" pitchFamily="18" charset="0"/>
                <a:cs typeface="Times New Roman" pitchFamily="18" charset="0"/>
              </a:rPr>
              <a:t>The client/server architecture consists of many PCs and a workstation that are connected via the network.</a:t>
            </a:r>
          </a:p>
          <a:p>
            <a:r>
              <a:rPr lang="en-IN" dirty="0" smtClean="0">
                <a:latin typeface="Times New Roman" pitchFamily="18" charset="0"/>
                <a:cs typeface="Times New Roman" pitchFamily="18" charset="0"/>
              </a:rPr>
              <a:t>DBMS architecture depends upon how users are connected to the database to get their requests done.</a:t>
            </a:r>
          </a:p>
          <a:p>
            <a:endParaRPr lang="en-IN"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Type of Architectures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endParaRPr lang="en-IN" dirty="0" smtClean="0"/>
          </a:p>
          <a:p>
            <a:endParaRPr lang="en-IN" dirty="0" smtClean="0"/>
          </a:p>
          <a:p>
            <a:endParaRPr lang="en-IN" dirty="0" smtClean="0"/>
          </a:p>
          <a:p>
            <a:endParaRPr lang="en-IN" dirty="0" smtClean="0"/>
          </a:p>
          <a:p>
            <a:pPr>
              <a:buNone/>
            </a:pPr>
            <a:endParaRPr lang="en-IN" dirty="0" smtClean="0"/>
          </a:p>
          <a:p>
            <a:pPr>
              <a:buNone/>
            </a:pPr>
            <a:endParaRPr lang="en-IN" sz="1200" dirty="0" smtClean="0"/>
          </a:p>
          <a:p>
            <a:pPr>
              <a:buNone/>
            </a:pPr>
            <a:endParaRPr lang="en-IN" sz="1200" dirty="0" smtClean="0"/>
          </a:p>
          <a:p>
            <a:pPr algn="ctr">
              <a:buNone/>
            </a:pPr>
            <a:endParaRPr lang="en-IN" sz="1200" dirty="0" smtClean="0"/>
          </a:p>
          <a:p>
            <a:pPr algn="ctr">
              <a:buNone/>
            </a:pPr>
            <a:endParaRPr lang="en-IN" sz="1200" dirty="0" smtClean="0"/>
          </a:p>
          <a:p>
            <a:pPr algn="ctr">
              <a:buNone/>
            </a:pPr>
            <a:endParaRPr lang="en-IN" sz="1200" dirty="0" smtClean="0"/>
          </a:p>
          <a:p>
            <a:pPr algn="ctr">
              <a:buNone/>
            </a:pPr>
            <a:r>
              <a:rPr lang="en-IN" sz="1200" dirty="0" smtClean="0"/>
              <a:t>Image </a:t>
            </a:r>
            <a:r>
              <a:rPr lang="en-IN" sz="1200" dirty="0" err="1" smtClean="0"/>
              <a:t>Source:Javatpoint.com</a:t>
            </a:r>
            <a:endParaRPr lang="en-IN" sz="1200"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6</a:t>
            </a:fld>
            <a:endParaRPr lang="en-US"/>
          </a:p>
        </p:txBody>
      </p:sp>
      <p:pic>
        <p:nvPicPr>
          <p:cNvPr id="7" name="Picture 6" descr="dbms-architecture.png"/>
          <p:cNvPicPr>
            <a:picLocks noChangeAspect="1"/>
          </p:cNvPicPr>
          <p:nvPr/>
        </p:nvPicPr>
        <p:blipFill>
          <a:blip r:embed="rId2"/>
          <a:stretch>
            <a:fillRect/>
          </a:stretch>
        </p:blipFill>
        <p:spPr>
          <a:xfrm>
            <a:off x="3062377" y="1808887"/>
            <a:ext cx="5447222" cy="396218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1-Tier Architecture</a:t>
            </a:r>
            <a:br>
              <a:rPr lang="en-IN" b="1" dirty="0" smtClean="0">
                <a:latin typeface="Times New Roman" pitchFamily="18" charset="0"/>
                <a:cs typeface="Times New Roman" pitchFamily="18" charset="0"/>
              </a:rPr>
            </a:b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smtClean="0">
                <a:latin typeface="Times New Roman" pitchFamily="18" charset="0"/>
                <a:cs typeface="Times New Roman" pitchFamily="18" charset="0"/>
              </a:rPr>
              <a:t>In this architecture, the database is directly available to the user. It means the user can directly sit on the DBMS and uses it.</a:t>
            </a:r>
          </a:p>
          <a:p>
            <a:pPr algn="just"/>
            <a:r>
              <a:rPr lang="en-IN" dirty="0" smtClean="0">
                <a:latin typeface="Times New Roman" pitchFamily="18" charset="0"/>
                <a:cs typeface="Times New Roman" pitchFamily="18" charset="0"/>
              </a:rPr>
              <a:t>Any changes done here will directly be done on the database itself. It doesn't provide a handy tool for end-users.</a:t>
            </a:r>
          </a:p>
          <a:p>
            <a:pPr algn="just"/>
            <a:r>
              <a:rPr lang="en-IN" dirty="0" smtClean="0">
                <a:latin typeface="Times New Roman" pitchFamily="18" charset="0"/>
                <a:cs typeface="Times New Roman" pitchFamily="18" charset="0"/>
              </a:rPr>
              <a:t>The 1-Tier architecture is used for the development of the local application, where programmers can directly communicate with the database for the quick response.</a:t>
            </a:r>
          </a:p>
          <a:p>
            <a:pPr algn="just"/>
            <a:endParaRPr lang="en-IN"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2475"/>
            <a:ext cx="10515600" cy="1078213"/>
          </a:xfrm>
        </p:spPr>
        <p:txBody>
          <a:bodyPr>
            <a:normAutofit fontScale="90000"/>
          </a:bodyPr>
          <a:lstStyle/>
          <a:p>
            <a:r>
              <a:rPr lang="en-IN" b="1" dirty="0" smtClean="0">
                <a:latin typeface="Times New Roman" pitchFamily="18" charset="0"/>
                <a:cs typeface="Times New Roman" pitchFamily="18" charset="0"/>
              </a:rPr>
              <a:t>2-Tier Architecture</a:t>
            </a:r>
            <a:br>
              <a:rPr lang="en-IN" b="1" dirty="0" smtClean="0">
                <a:latin typeface="Times New Roman" pitchFamily="18" charset="0"/>
                <a:cs typeface="Times New Roman" pitchFamily="18" charset="0"/>
              </a:rPr>
            </a:b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smtClean="0">
                <a:latin typeface="Times New Roman" pitchFamily="18" charset="0"/>
                <a:cs typeface="Times New Roman" pitchFamily="18" charset="0"/>
              </a:rPr>
              <a:t>2-Tier architecture is the same as the basic client-server. In the two-tier architecture, applications on the client end can directly communicate with the database at the server-side. For this interaction, API's like </a:t>
            </a:r>
            <a:r>
              <a:rPr lang="en-IN" b="1" dirty="0" smtClean="0">
                <a:latin typeface="Times New Roman" pitchFamily="18" charset="0"/>
                <a:cs typeface="Times New Roman" pitchFamily="18" charset="0"/>
              </a:rPr>
              <a:t>ODBC</a:t>
            </a: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JDBC</a:t>
            </a:r>
            <a:r>
              <a:rPr lang="en-IN" dirty="0" smtClean="0">
                <a:latin typeface="Times New Roman" pitchFamily="18" charset="0"/>
                <a:cs typeface="Times New Roman" pitchFamily="18" charset="0"/>
              </a:rPr>
              <a:t> are used.</a:t>
            </a:r>
          </a:p>
          <a:p>
            <a:pPr algn="just"/>
            <a:r>
              <a:rPr lang="en-IN" dirty="0" smtClean="0">
                <a:latin typeface="Times New Roman" pitchFamily="18" charset="0"/>
                <a:cs typeface="Times New Roman" pitchFamily="18" charset="0"/>
              </a:rPr>
              <a:t>The user interfaces and application programs are run on the client-side.</a:t>
            </a:r>
          </a:p>
          <a:p>
            <a:pPr algn="just"/>
            <a:r>
              <a:rPr lang="en-IN" dirty="0" smtClean="0">
                <a:latin typeface="Times New Roman" pitchFamily="18" charset="0"/>
                <a:cs typeface="Times New Roman" pitchFamily="18" charset="0"/>
              </a:rPr>
              <a:t>The server side is responsible to provide the functionalities like query processing and transaction management.</a:t>
            </a:r>
          </a:p>
          <a:p>
            <a:pPr algn="just"/>
            <a:r>
              <a:rPr lang="en-IN" dirty="0" smtClean="0">
                <a:latin typeface="Times New Roman" pitchFamily="18" charset="0"/>
                <a:cs typeface="Times New Roman" pitchFamily="18" charset="0"/>
              </a:rPr>
              <a:t>To communicate with the DBMS, the client-side application establishes a connection with the server-side.</a:t>
            </a:r>
          </a:p>
          <a:p>
            <a:pPr algn="just"/>
            <a:endParaRPr lang="en-IN"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3-Tier Architecture</a:t>
            </a:r>
            <a:br>
              <a:rPr lang="en-IN" b="1" dirty="0" smtClean="0">
                <a:latin typeface="Times New Roman" pitchFamily="18" charset="0"/>
                <a:cs typeface="Times New Roman" pitchFamily="18" charset="0"/>
              </a:rPr>
            </a:b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smtClean="0">
                <a:latin typeface="Times New Roman" pitchFamily="18" charset="0"/>
                <a:cs typeface="Times New Roman" pitchFamily="18" charset="0"/>
              </a:rPr>
              <a:t>The 3-Tier architecture contains another layer between the client and the server. In this architecture, the client can't directly communicate with the server.</a:t>
            </a:r>
          </a:p>
          <a:p>
            <a:pPr algn="just"/>
            <a:r>
              <a:rPr lang="en-IN" dirty="0" smtClean="0">
                <a:latin typeface="Times New Roman" pitchFamily="18" charset="0"/>
                <a:cs typeface="Times New Roman" pitchFamily="18" charset="0"/>
              </a:rPr>
              <a:t>The application on the client-end interacts with an application server which further communicates with the database system.</a:t>
            </a:r>
          </a:p>
          <a:p>
            <a:pPr algn="just"/>
            <a:r>
              <a:rPr lang="en-IN" dirty="0" smtClean="0">
                <a:latin typeface="Times New Roman" pitchFamily="18" charset="0"/>
                <a:cs typeface="Times New Roman" pitchFamily="18" charset="0"/>
              </a:rPr>
              <a:t>End-user has no idea about the existence of the database beyond the application server. The database also has no idea about any other user beyond the application.</a:t>
            </a:r>
          </a:p>
          <a:p>
            <a:pPr algn="just"/>
            <a:r>
              <a:rPr lang="en-IN" dirty="0" smtClean="0">
                <a:latin typeface="Times New Roman" pitchFamily="18" charset="0"/>
                <a:cs typeface="Times New Roman" pitchFamily="18" charset="0"/>
              </a:rPr>
              <a:t>The 3-Tier architecture is used in case of the large web applications.</a:t>
            </a:r>
          </a:p>
          <a:p>
            <a:pPr algn="just"/>
            <a:endParaRPr lang="en-IN"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Three schema Architecture</a:t>
            </a:r>
            <a:br>
              <a:rPr lang="en-IN" b="1" dirty="0" smtClean="0">
                <a:latin typeface="Times New Roman" pitchFamily="18" charset="0"/>
                <a:cs typeface="Times New Roman" pitchFamily="18" charset="0"/>
              </a:rPr>
            </a:b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IN" dirty="0" smtClean="0">
                <a:latin typeface="Times New Roman" pitchFamily="18" charset="0"/>
                <a:cs typeface="Times New Roman" pitchFamily="18" charset="0"/>
              </a:rPr>
              <a:t>The three schema architecture is also called ANSI/SPARC architecture or three-level architecture.</a:t>
            </a:r>
          </a:p>
          <a:p>
            <a:pPr algn="just"/>
            <a:r>
              <a:rPr lang="en-IN" dirty="0" smtClean="0">
                <a:latin typeface="Times New Roman" pitchFamily="18" charset="0"/>
                <a:cs typeface="Times New Roman" pitchFamily="18" charset="0"/>
              </a:rPr>
              <a:t>This framework is used to describe the structure of a specific database system.</a:t>
            </a:r>
          </a:p>
          <a:p>
            <a:pPr algn="just"/>
            <a:r>
              <a:rPr lang="en-IN" dirty="0" smtClean="0">
                <a:latin typeface="Times New Roman" pitchFamily="18" charset="0"/>
                <a:cs typeface="Times New Roman" pitchFamily="18" charset="0"/>
              </a:rPr>
              <a:t>The three schema architecture is also used to separate the user applications and physical database.</a:t>
            </a:r>
          </a:p>
          <a:p>
            <a:pPr algn="just"/>
            <a:r>
              <a:rPr lang="en-IN" dirty="0" smtClean="0">
                <a:latin typeface="Times New Roman" pitchFamily="18" charset="0"/>
                <a:cs typeface="Times New Roman" pitchFamily="18" charset="0"/>
              </a:rPr>
              <a:t>The three schema architecture contains three-levels. It breaks the database down into three different categories.</a:t>
            </a:r>
          </a:p>
          <a:p>
            <a:pPr algn="just"/>
            <a:endParaRPr lang="en-IN"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3-schema/views of Data</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a:tabLst>
                <a:tab pos="1820863" algn="l"/>
                <a:tab pos="3659188" algn="l"/>
                <a:tab pos="3943350" algn="l"/>
              </a:tabLst>
            </a:pPr>
            <a:r>
              <a:rPr lang="en-US" b="1" dirty="0" smtClean="0">
                <a:solidFill>
                  <a:srgbClr val="FF0000"/>
                </a:solidFill>
                <a:latin typeface="Times New Roman" pitchFamily="18" charset="0"/>
                <a:cs typeface="Times New Roman" pitchFamily="18" charset="0"/>
              </a:rPr>
              <a:t>Physical level</a:t>
            </a:r>
            <a:r>
              <a:rPr lang="en-US" b="1" dirty="0" smtClean="0">
                <a:solidFill>
                  <a:schemeClr val="tx2"/>
                </a:solidFill>
                <a:latin typeface="Times New Roman" pitchFamily="18" charset="0"/>
                <a:cs typeface="Times New Roman" pitchFamily="18" charset="0"/>
              </a:rPr>
              <a:t>:</a:t>
            </a:r>
            <a:r>
              <a:rPr lang="en-US" dirty="0" smtClean="0">
                <a:latin typeface="Times New Roman" pitchFamily="18" charset="0"/>
                <a:cs typeface="Times New Roman" pitchFamily="18" charset="0"/>
              </a:rPr>
              <a:t> describes how a record (e.g., customer) is stored.</a:t>
            </a:r>
          </a:p>
          <a:p>
            <a:pPr>
              <a:tabLst>
                <a:tab pos="1820863" algn="l"/>
                <a:tab pos="3659188" algn="l"/>
                <a:tab pos="3943350" algn="l"/>
              </a:tabLst>
            </a:pPr>
            <a:r>
              <a:rPr lang="en-US" b="1" dirty="0" smtClean="0">
                <a:solidFill>
                  <a:srgbClr val="FF0000"/>
                </a:solidFill>
                <a:latin typeface="Times New Roman" pitchFamily="18" charset="0"/>
                <a:cs typeface="Times New Roman" pitchFamily="18" charset="0"/>
              </a:rPr>
              <a:t>Logical level</a:t>
            </a:r>
            <a:r>
              <a:rPr lang="en-US" b="1" dirty="0" smtClean="0">
                <a:solidFill>
                  <a:schemeClr val="tx2"/>
                </a:solidFill>
                <a:latin typeface="Times New Roman" pitchFamily="18" charset="0"/>
                <a:cs typeface="Times New Roman" pitchFamily="18" charset="0"/>
              </a:rPr>
              <a:t>:</a:t>
            </a:r>
            <a:r>
              <a:rPr lang="en-US" dirty="0" smtClean="0">
                <a:latin typeface="Times New Roman" pitchFamily="18" charset="0"/>
                <a:cs typeface="Times New Roman" pitchFamily="18" charset="0"/>
              </a:rPr>
              <a:t> describes data stored in database, and the relationships among the data.</a:t>
            </a:r>
          </a:p>
          <a:p>
            <a:pPr>
              <a:tabLst>
                <a:tab pos="1820863" algn="l"/>
                <a:tab pos="3659188" algn="l"/>
                <a:tab pos="3943350" algn="l"/>
              </a:tabLst>
            </a:pPr>
            <a:r>
              <a:rPr lang="en-US" b="1" dirty="0" smtClean="0">
                <a:solidFill>
                  <a:srgbClr val="FF0000"/>
                </a:solidFill>
                <a:latin typeface="Times New Roman" pitchFamily="18" charset="0"/>
                <a:cs typeface="Times New Roman" pitchFamily="18" charset="0"/>
              </a:rPr>
              <a:t>View level</a:t>
            </a:r>
            <a:r>
              <a:rPr lang="en-US" b="1" dirty="0" smtClean="0">
                <a:solidFill>
                  <a:schemeClr val="tx2"/>
                </a:solidFill>
                <a:latin typeface="Times New Roman" pitchFamily="18" charset="0"/>
                <a:cs typeface="Times New Roman" pitchFamily="18" charset="0"/>
              </a:rPr>
              <a:t>:</a:t>
            </a:r>
            <a:r>
              <a:rPr lang="en-US" dirty="0" smtClean="0">
                <a:latin typeface="Times New Roman" pitchFamily="18" charset="0"/>
                <a:cs typeface="Times New Roman" pitchFamily="18" charset="0"/>
              </a:rPr>
              <a:t> application programs hide details of data types.  Views can also hide information (such as an employee’s salary) for security purposes. </a:t>
            </a:r>
          </a:p>
          <a:p>
            <a:pPr algn="just"/>
            <a:r>
              <a:rPr lang="en-US" dirty="0" smtClean="0">
                <a:latin typeface="Times New Roman" pitchFamily="18" charset="0"/>
                <a:cs typeface="Times New Roman" pitchFamily="18" charset="0"/>
              </a:rPr>
              <a:t>The database can be viewed from different levels of abstraction to reveal different levels of details. From a bottom-up manner, we may find that there are three levels of abstraction or views in the database. </a:t>
            </a:r>
          </a:p>
          <a:p>
            <a:pPr algn="just"/>
            <a:r>
              <a:rPr lang="en-US" dirty="0" smtClean="0">
                <a:latin typeface="Times New Roman" pitchFamily="18" charset="0"/>
                <a:cs typeface="Times New Roman" pitchFamily="18" charset="0"/>
              </a:rPr>
              <a:t>The term Abstraction is very important here. Generally it means the amount of detail you want to hide. Any entity can be seen from different perspectives and levels of complexity to make it a reveal its current amount of abstraction.</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40000" lnSpcReduction="20000"/>
          </a:bodyPr>
          <a:lstStyle/>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lgn="ctr">
              <a:buNone/>
            </a:pPr>
            <a:endParaRPr lang="en-US" dirty="0" smtClean="0">
              <a:latin typeface="Times New Roman" pitchFamily="18" charset="0"/>
              <a:cs typeface="Times New Roman" pitchFamily="18" charset="0"/>
              <a:hlinkClick r:id="rId2"/>
            </a:endParaRPr>
          </a:p>
          <a:p>
            <a:pPr>
              <a:buNone/>
            </a:pPr>
            <a:endParaRPr lang="en-US" u="sng" dirty="0" smtClean="0">
              <a:latin typeface="Times New Roman" pitchFamily="18" charset="0"/>
              <a:cs typeface="Times New Roman" pitchFamily="18" charset="0"/>
              <a:hlinkClick r:id="rId2"/>
            </a:endParaRPr>
          </a:p>
          <a:p>
            <a:pPr>
              <a:buNone/>
            </a:pPr>
            <a:r>
              <a:rPr lang="en-US" dirty="0" smtClean="0">
                <a:latin typeface="Times New Roman" pitchFamily="18" charset="0"/>
                <a:cs typeface="Times New Roman" pitchFamily="18" charset="0"/>
                <a:hlinkClick r:id="rId2"/>
              </a:rPr>
              <a:t> </a:t>
            </a:r>
            <a:r>
              <a:rPr lang="en-IN" dirty="0" smtClean="0">
                <a:hlinkClick r:id="rId2"/>
              </a:rPr>
              <a:t>https://beginnersbook.com/2015/04/e-r-model-in-dbms/</a:t>
            </a:r>
            <a:endParaRPr lang="en-IN" dirty="0" smtClean="0"/>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word </a:t>
            </a:r>
            <a:r>
              <a:rPr lang="en-US" b="1" dirty="0" smtClean="0">
                <a:latin typeface="Times New Roman" pitchFamily="18" charset="0"/>
                <a:cs typeface="Times New Roman" pitchFamily="18" charset="0"/>
              </a:rPr>
              <a:t>schema</a:t>
            </a:r>
            <a:r>
              <a:rPr lang="en-US" dirty="0" smtClean="0">
                <a:latin typeface="Times New Roman" pitchFamily="18" charset="0"/>
                <a:cs typeface="Times New Roman" pitchFamily="18" charset="0"/>
              </a:rPr>
              <a:t> means arrangement – how we want to arrange things that we have to store. The diagram above shows the three different schemas used in DBMS, seen from different levels of abstraction.</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Instance – the actual content of the database at a particular point in time </a:t>
            </a:r>
          </a:p>
          <a:p>
            <a:r>
              <a:rPr lang="en-US" dirty="0" smtClean="0">
                <a:latin typeface="Times New Roman" pitchFamily="18" charset="0"/>
                <a:cs typeface="Times New Roman" pitchFamily="18" charset="0"/>
              </a:rPr>
              <a:t>★ Analogous to the value of a variable</a:t>
            </a:r>
          </a:p>
          <a:p>
            <a:endParaRPr lang="en-IN" dirty="0"/>
          </a:p>
        </p:txBody>
      </p:sp>
      <p:pic>
        <p:nvPicPr>
          <p:cNvPr id="5" name="Picture 2"/>
          <p:cNvPicPr>
            <a:picLocks noChangeAspect="1" noChangeArrowheads="1"/>
          </p:cNvPicPr>
          <p:nvPr/>
        </p:nvPicPr>
        <p:blipFill>
          <a:blip r:embed="rId3"/>
          <a:srcRect/>
          <a:stretch>
            <a:fillRect/>
          </a:stretch>
        </p:blipFill>
        <p:spPr bwMode="auto">
          <a:xfrm>
            <a:off x="773800" y="207033"/>
            <a:ext cx="5782276" cy="3976777"/>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Cont…</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itchFamily="18" charset="0"/>
                <a:cs typeface="Times New Roman" pitchFamily="18" charset="0"/>
              </a:rPr>
              <a:t>Three General levels :-</a:t>
            </a:r>
          </a:p>
          <a:p>
            <a:pPr marL="0" indent="0">
              <a:buNone/>
            </a:pPr>
            <a:r>
              <a:rPr lang="en-US" b="1" dirty="0" smtClean="0">
                <a:solidFill>
                  <a:srgbClr val="FF0000"/>
                </a:solidFill>
                <a:latin typeface="Times New Roman" pitchFamily="18" charset="0"/>
                <a:cs typeface="Times New Roman" pitchFamily="18" charset="0"/>
              </a:rPr>
              <a:t>Internal Schema (Physical View) </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p>
          <a:p>
            <a:pPr marL="0" indent="0">
              <a:buNone/>
            </a:pPr>
            <a:r>
              <a:rPr lang="en-US" dirty="0" smtClean="0">
                <a:latin typeface="Times New Roman" pitchFamily="18" charset="0"/>
                <a:cs typeface="Times New Roman" pitchFamily="18" charset="0"/>
              </a:rPr>
              <a:t>	The way the data is stored in the storage media.  (Specified by the DBA) </a:t>
            </a:r>
          </a:p>
          <a:p>
            <a:pPr marL="0" indent="0">
              <a:buNone/>
            </a:pPr>
            <a:r>
              <a:rPr lang="en-US" b="1" dirty="0" smtClean="0">
                <a:solidFill>
                  <a:srgbClr val="FF0000"/>
                </a:solidFill>
                <a:latin typeface="Times New Roman" pitchFamily="18" charset="0"/>
                <a:cs typeface="Times New Roman" pitchFamily="18" charset="0"/>
              </a:rPr>
              <a:t>Conceptual Schema (Logic View)</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p>
          <a:p>
            <a:pPr marL="0" indent="0">
              <a:buNone/>
            </a:pPr>
            <a:r>
              <a:rPr lang="en-US" dirty="0" smtClean="0">
                <a:latin typeface="Times New Roman" pitchFamily="18" charset="0"/>
                <a:cs typeface="Times New Roman" pitchFamily="18" charset="0"/>
              </a:rPr>
              <a:t>	Describes the structure and constraints for the whole database. (Specified and used by the programmers). </a:t>
            </a:r>
          </a:p>
          <a:p>
            <a:pPr marL="0" indent="0">
              <a:buNone/>
            </a:pPr>
            <a:r>
              <a:rPr lang="en-US" b="1" dirty="0" smtClean="0">
                <a:solidFill>
                  <a:srgbClr val="FF0000"/>
                </a:solidFill>
                <a:latin typeface="Times New Roman" pitchFamily="18" charset="0"/>
                <a:cs typeface="Times New Roman" pitchFamily="18" charset="0"/>
              </a:rPr>
              <a:t>External Schema(Sub-Schema)</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p>
          <a:p>
            <a:pPr marL="0" indent="0">
              <a:buNone/>
            </a:pPr>
            <a:r>
              <a:rPr lang="en-US" dirty="0" smtClean="0">
                <a:latin typeface="Times New Roman" pitchFamily="18" charset="0"/>
                <a:cs typeface="Times New Roman" pitchFamily="18" charset="0"/>
              </a:rPr>
              <a:t>	The view of the database as seen by the end user.</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Internal or physical schema</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The lowest level, called the Internal or Physical schema, deals with the description of how raw data items (like 1, ABC, KOL, H2 etc.) are stored in the </a:t>
            </a:r>
            <a:r>
              <a:rPr lang="en-US" b="1" dirty="0" smtClean="0">
                <a:latin typeface="Times New Roman" pitchFamily="18" charset="0"/>
                <a:cs typeface="Times New Roman" pitchFamily="18" charset="0"/>
              </a:rPr>
              <a:t>physical storage </a:t>
            </a:r>
            <a:r>
              <a:rPr lang="en-US" dirty="0" smtClean="0">
                <a:latin typeface="Times New Roman" pitchFamily="18" charset="0"/>
                <a:cs typeface="Times New Roman" pitchFamily="18" charset="0"/>
              </a:rPr>
              <a:t>(Hard Disc, CD</a:t>
            </a:r>
            <a:r>
              <a:rPr lang="en-US" smtClean="0">
                <a:latin typeface="Times New Roman" pitchFamily="18" charset="0"/>
                <a:cs typeface="Times New Roman" pitchFamily="18" charset="0"/>
              </a:rPr>
              <a:t>, Pen </a:t>
            </a:r>
            <a:r>
              <a:rPr lang="en-US" dirty="0" smtClean="0">
                <a:latin typeface="Times New Roman" pitchFamily="18" charset="0"/>
                <a:cs typeface="Times New Roman" pitchFamily="18" charset="0"/>
              </a:rPr>
              <a:t>Drive etc.). </a:t>
            </a:r>
          </a:p>
          <a:p>
            <a:pPr algn="just"/>
            <a:r>
              <a:rPr lang="en-US" dirty="0" smtClean="0">
                <a:latin typeface="Times New Roman" pitchFamily="18" charset="0"/>
                <a:cs typeface="Times New Roman" pitchFamily="18" charset="0"/>
              </a:rPr>
              <a:t>It also describes the </a:t>
            </a:r>
            <a:r>
              <a:rPr lang="en-US" b="1" dirty="0" smtClean="0">
                <a:latin typeface="Times New Roman" pitchFamily="18" charset="0"/>
                <a:cs typeface="Times New Roman" pitchFamily="18" charset="0"/>
              </a:rPr>
              <a:t>data type </a:t>
            </a:r>
            <a:r>
              <a:rPr lang="en-US" dirty="0" smtClean="0">
                <a:latin typeface="Times New Roman" pitchFamily="18" charset="0"/>
                <a:cs typeface="Times New Roman" pitchFamily="18" charset="0"/>
              </a:rPr>
              <a:t>of these data items, the size of the items in the storage media, the location (physical address) of the items in the storage device and so on. This schema is useful for database application developers and database administrator.</a:t>
            </a:r>
            <a:endParaRPr lang="en-US" dirty="0" smtClean="0"/>
          </a:p>
          <a:p>
            <a:pPr algn="just"/>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Conceptual or logical schema</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The middle level is known as the Conceptual or Logical Schema, and deals with the </a:t>
            </a:r>
            <a:r>
              <a:rPr lang="en-US" b="1" dirty="0" smtClean="0">
                <a:latin typeface="Times New Roman" pitchFamily="18" charset="0"/>
                <a:cs typeface="Times New Roman" pitchFamily="18" charset="0"/>
              </a:rPr>
              <a:t>structure of the entire database</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Please note that at this level we are not interested with the raw data items anymore, we are interested with the structure of the database. </a:t>
            </a:r>
          </a:p>
          <a:p>
            <a:pPr algn="just"/>
            <a:r>
              <a:rPr lang="en-US" dirty="0" smtClean="0">
                <a:latin typeface="Times New Roman" pitchFamily="18" charset="0"/>
                <a:cs typeface="Times New Roman" pitchFamily="18" charset="0"/>
              </a:rPr>
              <a:t>This means we want to know the information about the attributes of each table, the common attributes in different tables that help them to be combined, what kind of data can be input into these attributes, and so on. </a:t>
            </a:r>
          </a:p>
          <a:p>
            <a:pPr algn="just"/>
            <a:r>
              <a:rPr lang="en-US" dirty="0" smtClean="0">
                <a:latin typeface="Times New Roman" pitchFamily="18" charset="0"/>
                <a:cs typeface="Times New Roman" pitchFamily="18" charset="0"/>
              </a:rPr>
              <a:t>Conceptual or Logical schema is very useful for database administrators whose responsibility is to maintain the entire database.</a:t>
            </a:r>
            <a:endParaRPr lang="en-US" dirty="0" smtClean="0"/>
          </a:p>
          <a:p>
            <a:pPr algn="just"/>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External or View Schema</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The highest level of abstraction is the External or View Schema. </a:t>
            </a:r>
          </a:p>
          <a:p>
            <a:pPr algn="just"/>
            <a:r>
              <a:rPr lang="en-US" dirty="0" smtClean="0">
                <a:latin typeface="Times New Roman" pitchFamily="18" charset="0"/>
                <a:cs typeface="Times New Roman" pitchFamily="18" charset="0"/>
              </a:rPr>
              <a:t>This is targeted for the end users. </a:t>
            </a:r>
          </a:p>
          <a:p>
            <a:pPr algn="just"/>
            <a:r>
              <a:rPr lang="en-US" dirty="0" smtClean="0">
                <a:latin typeface="Times New Roman" pitchFamily="18" charset="0"/>
                <a:cs typeface="Times New Roman" pitchFamily="18" charset="0"/>
              </a:rPr>
              <a:t>Now, an end user does not need to know everything about the structure of the entire database, rather than the amount of details he/she needs to work with. </a:t>
            </a:r>
            <a:endParaRPr lang="en-US" dirty="0" smtClean="0"/>
          </a:p>
          <a:p>
            <a:pPr algn="just"/>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Data Independence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algn="just"/>
            <a:r>
              <a:rPr lang="en-US" dirty="0" smtClean="0">
                <a:latin typeface="Times New Roman" pitchFamily="18" charset="0"/>
                <a:cs typeface="Times New Roman" pitchFamily="18" charset="0"/>
              </a:rPr>
              <a:t>It is the property of the database which tries to ensure that if we make any change in any level of schema of the database, the schema immediately above it would require minimal or no need of change.</a:t>
            </a:r>
          </a:p>
          <a:p>
            <a:pPr algn="just"/>
            <a:r>
              <a:rPr lang="en-US" dirty="0" smtClean="0">
                <a:latin typeface="Times New Roman" pitchFamily="18" charset="0"/>
                <a:cs typeface="Times New Roman" pitchFamily="18" charset="0"/>
              </a:rPr>
              <a:t>Ability to modify a schema definition in one level without affecting a schema definition in the next higher level. </a:t>
            </a:r>
          </a:p>
          <a:p>
            <a:pPr algn="just"/>
            <a:r>
              <a:rPr lang="en-US" dirty="0" smtClean="0">
                <a:latin typeface="Times New Roman" pitchFamily="18" charset="0"/>
                <a:cs typeface="Times New Roman" pitchFamily="18" charset="0"/>
              </a:rPr>
              <a:t>The interfaces between the various levels and components should be well defined so that changes in some parts do not seriously influence others.</a:t>
            </a:r>
          </a:p>
          <a:p>
            <a:pPr algn="just"/>
            <a:r>
              <a:rPr lang="en-US" dirty="0" smtClean="0">
                <a:latin typeface="Times New Roman" pitchFamily="18" charset="0"/>
                <a:cs typeface="Times New Roman" pitchFamily="18" charset="0"/>
              </a:rPr>
              <a:t>What does this mean? We know that in a building, each floor stands on the floor below it. If we change the design of any one floor, e.g. extending the width of a room by demolishing the western wall of that room, it is likely that the design in the above floors will have to be changed also. As a result, one change needed in one particular floor would mean continuing to change the design of each floor until we reach the top floor, with an increase in the time, cost and </a:t>
            </a:r>
            <a:r>
              <a:rPr lang="en-US" dirty="0" err="1" smtClean="0">
                <a:latin typeface="Times New Roman" pitchFamily="18" charset="0"/>
                <a:cs typeface="Times New Roman" pitchFamily="18" charset="0"/>
              </a:rPr>
              <a:t>labour</a:t>
            </a:r>
            <a:r>
              <a:rPr lang="en-US" dirty="0" smtClean="0">
                <a:latin typeface="Times New Roman" pitchFamily="18" charset="0"/>
                <a:cs typeface="Times New Roman" pitchFamily="18" charset="0"/>
              </a:rPr>
              <a:t>. Would not life be easy if the change could be contained in one floor only? Data independence is the answer for this. It removes the need for additional amount of work needed in adopting the single change into all the levels above.</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Types of Data Independence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459861"/>
            <a:ext cx="10515600" cy="4351338"/>
          </a:xfrm>
        </p:spPr>
        <p:txBody>
          <a:bodyPr>
            <a:normAutofit fontScale="85000" lnSpcReduction="20000"/>
          </a:bodyPr>
          <a:lstStyle/>
          <a:p>
            <a:pPr algn="just">
              <a:buNone/>
            </a:pPr>
            <a:r>
              <a:rPr lang="en-US" dirty="0" smtClean="0">
                <a:latin typeface="Times New Roman" pitchFamily="18" charset="0"/>
                <a:cs typeface="Times New Roman" pitchFamily="18" charset="0"/>
              </a:rPr>
              <a:t>Data independence can be classified into the following two types: </a:t>
            </a:r>
          </a:p>
          <a:p>
            <a:pPr marL="514350" indent="-514350" algn="just">
              <a:buFont typeface="+mj-lt"/>
              <a:buAutoNum type="arabicPeriod"/>
            </a:pPr>
            <a:r>
              <a:rPr lang="en-US" dirty="0" smtClean="0">
                <a:latin typeface="Times New Roman" pitchFamily="18" charset="0"/>
                <a:cs typeface="Times New Roman" pitchFamily="18" charset="0"/>
              </a:rPr>
              <a:t>Physical Data Independence </a:t>
            </a:r>
          </a:p>
          <a:p>
            <a:pPr marL="514350" indent="-514350" algn="just">
              <a:buFont typeface="+mj-lt"/>
              <a:buAutoNum type="arabicPeriod"/>
            </a:pPr>
            <a:r>
              <a:rPr lang="en-US" dirty="0" smtClean="0">
                <a:latin typeface="Times New Roman" pitchFamily="18" charset="0"/>
                <a:cs typeface="Times New Roman" pitchFamily="18" charset="0"/>
              </a:rPr>
              <a:t>Logical Data Independence</a:t>
            </a:r>
          </a:p>
          <a:p>
            <a:pPr algn="just"/>
            <a:endParaRPr lang="en-US" dirty="0" smtClean="0">
              <a:latin typeface="Times New Roman" pitchFamily="18" charset="0"/>
              <a:cs typeface="Times New Roman" pitchFamily="18" charset="0"/>
            </a:endParaRPr>
          </a:p>
          <a:p>
            <a:pPr algn="just">
              <a:buNone/>
            </a:pPr>
            <a:r>
              <a:rPr lang="en-US" b="1" dirty="0" smtClean="0">
                <a:latin typeface="Times New Roman" pitchFamily="18" charset="0"/>
                <a:cs typeface="Times New Roman" pitchFamily="18" charset="0"/>
              </a:rPr>
              <a:t>Physical Data Independence:</a:t>
            </a:r>
            <a:r>
              <a:rPr lang="en-US" dirty="0" smtClean="0">
                <a:latin typeface="Times New Roman" pitchFamily="18" charset="0"/>
                <a:cs typeface="Times New Roman" pitchFamily="18" charset="0"/>
              </a:rPr>
              <a:t> This means that for any change made in the</a:t>
            </a:r>
          </a:p>
          <a:p>
            <a:pPr algn="just">
              <a:buNone/>
            </a:pPr>
            <a:r>
              <a:rPr lang="en-US" dirty="0" smtClean="0">
                <a:latin typeface="Times New Roman" pitchFamily="18" charset="0"/>
                <a:cs typeface="Times New Roman" pitchFamily="18" charset="0"/>
              </a:rPr>
              <a:t>physical schema, the need to change the logical schema is minimal. This is</a:t>
            </a:r>
          </a:p>
          <a:p>
            <a:pPr algn="just">
              <a:buNone/>
            </a:pPr>
            <a:r>
              <a:rPr lang="en-US" dirty="0" smtClean="0">
                <a:latin typeface="Times New Roman" pitchFamily="18" charset="0"/>
                <a:cs typeface="Times New Roman" pitchFamily="18" charset="0"/>
              </a:rPr>
              <a:t>practically easier to achieve. </a:t>
            </a:r>
          </a:p>
          <a:p>
            <a:pPr algn="just">
              <a:buNone/>
            </a:pPr>
            <a:endParaRPr lang="en-US" dirty="0" smtClean="0">
              <a:latin typeface="Times New Roman" pitchFamily="18" charset="0"/>
              <a:cs typeface="Times New Roman" pitchFamily="18" charset="0"/>
            </a:endParaRPr>
          </a:p>
          <a:p>
            <a:pPr algn="just">
              <a:buNone/>
            </a:pPr>
            <a:r>
              <a:rPr lang="en-US" b="1" dirty="0" smtClean="0">
                <a:latin typeface="Times New Roman" pitchFamily="18" charset="0"/>
                <a:cs typeface="Times New Roman" pitchFamily="18" charset="0"/>
              </a:rPr>
              <a:t>Logical Data Independence:</a:t>
            </a:r>
            <a:r>
              <a:rPr lang="en-US" dirty="0" smtClean="0">
                <a:latin typeface="Times New Roman" pitchFamily="18" charset="0"/>
                <a:cs typeface="Times New Roman" pitchFamily="18" charset="0"/>
              </a:rPr>
              <a:t> This means that for any change made in the</a:t>
            </a:r>
          </a:p>
          <a:p>
            <a:pPr algn="just">
              <a:buNone/>
            </a:pPr>
            <a:r>
              <a:rPr lang="en-US" dirty="0" smtClean="0">
                <a:latin typeface="Times New Roman" pitchFamily="18" charset="0"/>
                <a:cs typeface="Times New Roman" pitchFamily="18" charset="0"/>
              </a:rPr>
              <a:t>logical schema, the need to change the external schema is minimal. As we</a:t>
            </a:r>
          </a:p>
          <a:p>
            <a:pPr algn="just">
              <a:buNone/>
            </a:pPr>
            <a:r>
              <a:rPr lang="en-US" dirty="0" smtClean="0">
                <a:latin typeface="Times New Roman" pitchFamily="18" charset="0"/>
                <a:cs typeface="Times New Roman" pitchFamily="18" charset="0"/>
              </a:rPr>
              <a:t>shall see, this is a little difficult to achieve.</a:t>
            </a:r>
          </a:p>
          <a:p>
            <a:endParaRPr lang="en-US" dirty="0" smtClean="0"/>
          </a:p>
          <a:p>
            <a:endParaRPr lang="en-IN"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itchFamily="18" charset="0"/>
                <a:cs typeface="Times New Roman" pitchFamily="18" charset="0"/>
              </a:rPr>
              <a:t>Summary</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992701"/>
            <a:ext cx="10515600" cy="4184261"/>
          </a:xfrm>
        </p:spPr>
        <p:txBody>
          <a:bodyPr/>
          <a:lstStyle/>
          <a:p>
            <a:pPr algn="just"/>
            <a:r>
              <a:rPr lang="en-IN" dirty="0" smtClean="0">
                <a:latin typeface="Times New Roman" pitchFamily="18" charset="0"/>
                <a:cs typeface="Times New Roman" pitchFamily="18" charset="0"/>
              </a:rPr>
              <a:t>The DBMS design depends upon its architecture. The basic client/server architecture is used to deal with a large number of PCs, web servers, database servers, and other components that are connected with networks</a:t>
            </a:r>
          </a:p>
          <a:p>
            <a:pPr algn="just"/>
            <a:r>
              <a:rPr lang="en-IN" dirty="0" smtClean="0">
                <a:latin typeface="Times New Roman" pitchFamily="18" charset="0"/>
                <a:cs typeface="Times New Roman" pitchFamily="18" charset="0"/>
              </a:rPr>
              <a:t>Level of Data Independence gives the </a:t>
            </a:r>
            <a:r>
              <a:rPr lang="en-US" smtClean="0">
                <a:latin typeface="Times New Roman" pitchFamily="18" charset="0"/>
                <a:cs typeface="Times New Roman" pitchFamily="18" charset="0"/>
              </a:rPr>
              <a:t>ability </a:t>
            </a:r>
            <a:r>
              <a:rPr lang="en-US" dirty="0" smtClean="0">
                <a:latin typeface="Times New Roman" pitchFamily="18" charset="0"/>
                <a:cs typeface="Times New Roman" pitchFamily="18" charset="0"/>
              </a:rPr>
              <a:t>to modify a schema definition in one level without affecting a schema definition in the next higher level. </a:t>
            </a:r>
          </a:p>
          <a:p>
            <a:pPr algn="just"/>
            <a:endParaRPr lang="en-IN"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1"/>
          <p:cNvSpPr>
            <a:spLocks noGrp="1"/>
          </p:cNvSpPr>
          <p:nvPr>
            <p:ph sz="half" idx="1"/>
          </p:nvPr>
        </p:nvSpPr>
        <p:spPr bwMode="auto">
          <a:xfrm>
            <a:off x="1285336" y="1742536"/>
            <a:ext cx="10703464" cy="450586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buFont typeface="Arial" charset="0"/>
              <a:buChar char="•"/>
              <a:defRPr/>
            </a:pPr>
            <a:r>
              <a:rPr lang="en-US" sz="1600" dirty="0" smtClean="0">
                <a:cs typeface="Cordia New" pitchFamily="34" charset="-34"/>
              </a:rPr>
              <a:t>What is Data Independence?</a:t>
            </a:r>
          </a:p>
          <a:p>
            <a:pPr>
              <a:buFont typeface="Arial" charset="0"/>
              <a:buChar char="•"/>
              <a:defRPr/>
            </a:pPr>
            <a:r>
              <a:rPr lang="en-US" sz="1600" dirty="0" smtClean="0">
                <a:cs typeface="Cordia New" pitchFamily="34" charset="-34"/>
              </a:rPr>
              <a:t>What are three level of independence?</a:t>
            </a:r>
          </a:p>
          <a:p>
            <a:pPr>
              <a:buFont typeface="Arial" charset="0"/>
              <a:buChar char="•"/>
              <a:defRPr/>
            </a:pPr>
            <a:r>
              <a:rPr lang="en-US" sz="1600" dirty="0" smtClean="0">
                <a:cs typeface="Cordia New" pitchFamily="34" charset="-34"/>
              </a:rPr>
              <a:t>What is 3- level architecture?</a:t>
            </a:r>
          </a:p>
          <a:p>
            <a:pPr>
              <a:buFont typeface="Arial" charset="0"/>
              <a:buChar char="•"/>
              <a:defRPr/>
            </a:pPr>
            <a:r>
              <a:rPr lang="en-US" sz="1600" dirty="0" smtClean="0">
                <a:cs typeface="Cordia New" pitchFamily="34" charset="-34"/>
              </a:rPr>
              <a:t>What is internal level independence?</a:t>
            </a:r>
          </a:p>
          <a:p>
            <a:pPr>
              <a:buFont typeface="Arial" charset="0"/>
              <a:buChar char="•"/>
              <a:defRPr/>
            </a:pPr>
            <a:r>
              <a:rPr lang="en-US" sz="1600" dirty="0" smtClean="0">
                <a:cs typeface="Cordia New" pitchFamily="34" charset="-34"/>
              </a:rPr>
              <a:t>What is conceptual level independence?</a:t>
            </a:r>
          </a:p>
          <a:p>
            <a:pPr>
              <a:buFont typeface="Arial" charset="0"/>
              <a:buChar char="•"/>
              <a:defRPr/>
            </a:pPr>
            <a:r>
              <a:rPr lang="en-US" sz="1600" dirty="0" smtClean="0">
                <a:cs typeface="Cordia New" pitchFamily="34" charset="-34"/>
              </a:rPr>
              <a:t>What is external level independence?</a:t>
            </a:r>
          </a:p>
          <a:p>
            <a:pPr>
              <a:buFont typeface="Arial" charset="0"/>
              <a:buChar char="•"/>
              <a:defRPr/>
            </a:pPr>
            <a:endParaRPr lang="en-US" dirty="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a:p>
            <a:pPr>
              <a:buFont typeface="Arial" charset="0"/>
              <a:buChar char="•"/>
              <a:defRPr/>
            </a:pPr>
            <a:endParaRPr lang="en-US" dirty="0" smtClean="0">
              <a:cs typeface="Cordia New" pitchFamily="34" charset="-34"/>
            </a:endParaRPr>
          </a:p>
        </p:txBody>
      </p:sp>
      <p:sp>
        <p:nvSpPr>
          <p:cNvPr id="87043" name="Text Placeholder 2"/>
          <p:cNvSpPr>
            <a:spLocks noGrp="1"/>
          </p:cNvSpPr>
          <p:nvPr>
            <p:ph type="body"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p>
            <a:pPr algn="l"/>
            <a:r>
              <a:rPr lang="en-US" altLang="en-US" dirty="0" smtClean="0">
                <a:cs typeface="Cordia New" pitchFamily="34" charset="-34"/>
              </a:rPr>
              <a:t>FAQs</a:t>
            </a:r>
          </a:p>
        </p:txBody>
      </p:sp>
    </p:spTree>
    <p:extLst>
      <p:ext uri="{BB962C8B-B14F-4D97-AF65-F5344CB8AC3E}">
        <p14:creationId xmlns:p14="http://schemas.microsoft.com/office/powerpoint/2010/main" val="3226849272"/>
      </p:ext>
    </p:extLst>
  </p:cSld>
  <p:clrMapOvr>
    <a:masterClrMapping/>
  </p:clrMapOvr>
  <p:transition>
    <p:fade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20800" y="1066800"/>
            <a:ext cx="10566400" cy="609600"/>
          </a:xfrm>
        </p:spPr>
        <p:txBody>
          <a:bodyPr>
            <a:noAutofit/>
          </a:bodyPr>
          <a:lstStyle/>
          <a:p>
            <a:r>
              <a:rPr lang="en-US" dirty="0" smtClean="0">
                <a:latin typeface="Times New Roman" pitchFamily="18" charset="0"/>
                <a:cs typeface="Times New Roman" pitchFamily="18" charset="0"/>
              </a:rPr>
              <a:t>References</a:t>
            </a:r>
            <a:endParaRPr lang="en-US" dirty="0">
              <a:latin typeface="Times New Roman" pitchFamily="18" charset="0"/>
              <a:cs typeface="Times New Roman" pitchFamily="18" charset="0"/>
            </a:endParaRPr>
          </a:p>
        </p:txBody>
      </p:sp>
      <p:sp>
        <p:nvSpPr>
          <p:cNvPr id="5" name="Content Placeholder 2"/>
          <p:cNvSpPr>
            <a:spLocks noGrp="1"/>
          </p:cNvSpPr>
          <p:nvPr>
            <p:ph idx="1"/>
          </p:nvPr>
        </p:nvSpPr>
        <p:spPr>
          <a:xfrm>
            <a:off x="1219200" y="1752600"/>
            <a:ext cx="10668000" cy="4495800"/>
          </a:xfrm>
        </p:spPr>
        <p:txBody>
          <a:bodyPr/>
          <a:lstStyle/>
          <a:p>
            <a:pPr lvl="0"/>
            <a:r>
              <a:rPr lang="en-US" dirty="0" err="1" smtClean="0"/>
              <a:t>RamezElmasri</a:t>
            </a:r>
            <a:r>
              <a:rPr lang="en-US" dirty="0" smtClean="0"/>
              <a:t> and </a:t>
            </a:r>
            <a:r>
              <a:rPr lang="en-US" dirty="0" err="1" smtClean="0"/>
              <a:t>Shamkant</a:t>
            </a:r>
            <a:r>
              <a:rPr lang="en-US" dirty="0" smtClean="0"/>
              <a:t> B. </a:t>
            </a:r>
            <a:r>
              <a:rPr lang="en-US" dirty="0" err="1" smtClean="0"/>
              <a:t>Navathe</a:t>
            </a:r>
            <a:r>
              <a:rPr lang="en-US" dirty="0" smtClean="0"/>
              <a:t>, “Fundamentals of Database System”, The Benjamin / Cummings Publishing Co.</a:t>
            </a:r>
          </a:p>
          <a:p>
            <a:pPr lvl="0"/>
            <a:r>
              <a:rPr lang="en-US" dirty="0" err="1" smtClean="0"/>
              <a:t>Korth</a:t>
            </a:r>
            <a:r>
              <a:rPr lang="en-US" dirty="0" smtClean="0"/>
              <a:t> and </a:t>
            </a:r>
            <a:r>
              <a:rPr lang="en-US" dirty="0" err="1" smtClean="0"/>
              <a:t>Silberschatz</a:t>
            </a:r>
            <a:r>
              <a:rPr lang="en-US" dirty="0" smtClean="0"/>
              <a:t> Abraham, “Database System Concepts”, McGraw Hall.</a:t>
            </a:r>
          </a:p>
          <a:p>
            <a:pPr lvl="0"/>
            <a:r>
              <a:rPr lang="en-US" dirty="0" err="1" smtClean="0"/>
              <a:t>C.J.Date</a:t>
            </a:r>
            <a:r>
              <a:rPr lang="en-US" dirty="0" smtClean="0"/>
              <a:t>, “An Introduction to Database Systems”, Addison Wesley.</a:t>
            </a:r>
          </a:p>
          <a:p>
            <a:pPr lvl="0"/>
            <a:r>
              <a:rPr lang="en-US" dirty="0" smtClean="0"/>
              <a:t>Thomas M. Connolly, Carolyn &amp; E. </a:t>
            </a:r>
            <a:r>
              <a:rPr lang="en-US" dirty="0" err="1" smtClean="0"/>
              <a:t>Begg</a:t>
            </a:r>
            <a:r>
              <a:rPr lang="en-US" dirty="0" smtClean="0"/>
              <a:t>, “Database Systems: A Practical Approach to Design, Implementation and Management”, 5/E, University of Paisley, Addison-Wesley.</a:t>
            </a:r>
          </a:p>
          <a:p>
            <a:pPr algn="just"/>
            <a:endParaRPr lang="en-US" dirty="0"/>
          </a:p>
        </p:txBody>
      </p:sp>
      <p:sp>
        <p:nvSpPr>
          <p:cNvPr id="8" name="Slide Number Placeholder 7"/>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35424640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xmlns=""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xmlns=""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xmlns=""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xmlns=""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39949" name="CorelDRAW" r:id="rId3" imgW="2169000" imgH="2169360" progId="">
                    <p:embed/>
                  </p:oleObj>
                </mc:Choice>
                <mc:Fallback>
                  <p:oleObj name="CorelDRAW" r:id="rId3" imgW="2169000" imgH="2169360" progId="">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32589"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a:t>
            </a:r>
            <a:r>
              <a:rPr lang="en-US">
                <a:latin typeface="Casper" panose="02000506000000020004" pitchFamily="2" charset="0"/>
                <a:cs typeface="Segoe UI" panose="020B0502040204020203" pitchFamily="34" charset="0"/>
              </a:rPr>
              <a:t>: </a:t>
            </a:r>
            <a:r>
              <a:rPr lang="en-US" smtClean="0">
                <a:latin typeface="Casper" panose="02000506000000020004" pitchFamily="2" charset="0"/>
                <a:cs typeface="Segoe UI" panose="020B0502040204020203" pitchFamily="34" charset="0"/>
                <a:hlinkClick r:id="rId5"/>
              </a:rPr>
              <a:t>shaveta.e13464@cumail.in</a:t>
            </a:r>
            <a:r>
              <a:rPr lang="en-US" smtClean="0">
                <a:latin typeface="Casper" panose="02000506000000020004" pitchFamily="2" charset="0"/>
                <a:cs typeface="Segoe UI" panose="020B0502040204020203" pitchFamily="34" charset="0"/>
              </a:rPr>
              <a:t> </a:t>
            </a:r>
            <a:endParaRPr lang="en-US" dirty="0"/>
          </a:p>
        </p:txBody>
      </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22</a:t>
            </a:fld>
            <a:endParaRPr lang="en-US">
              <a:solidFill>
                <a:prstClr val="black">
                  <a:tint val="75000"/>
                </a:prstClr>
              </a:solidFill>
            </a:endParaRPr>
          </a:p>
        </p:txBody>
      </p:sp>
    </p:spTree>
    <p:extLst>
      <p:ext uri="{BB962C8B-B14F-4D97-AF65-F5344CB8AC3E}">
        <p14:creationId xmlns:p14="http://schemas.microsoft.com/office/powerpoint/2010/main" val="120476848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1396</TotalTime>
  <Words>1496</Words>
  <Application>Microsoft Office PowerPoint</Application>
  <PresentationFormat>Widescreen</PresentationFormat>
  <Paragraphs>163</Paragraphs>
  <Slides>22</Slides>
  <Notes>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5" baseType="lpstr">
      <vt:lpstr>Arial Unicode MS</vt:lpstr>
      <vt:lpstr>Arial</vt:lpstr>
      <vt:lpstr>Calibri</vt:lpstr>
      <vt:lpstr>Calibri Light</vt:lpstr>
      <vt:lpstr>Cambria</vt:lpstr>
      <vt:lpstr>Casper</vt:lpstr>
      <vt:lpstr>Cordia New</vt:lpstr>
      <vt:lpstr>Karla</vt:lpstr>
      <vt:lpstr>Segoe UI</vt:lpstr>
      <vt:lpstr>Times New Roman</vt:lpstr>
      <vt:lpstr>1_Office Theme</vt:lpstr>
      <vt:lpstr>Contents Slide Master</vt:lpstr>
      <vt:lpstr>CorelDRAW</vt:lpstr>
      <vt:lpstr>PowerPoint Presentation</vt:lpstr>
      <vt:lpstr>DBMS: Course Objectives</vt:lpstr>
      <vt:lpstr>COURSE OUTCOMES</vt:lpstr>
      <vt:lpstr>Outline</vt:lpstr>
      <vt:lpstr>DBMS Architecture</vt:lpstr>
      <vt:lpstr>Type of Architectures</vt:lpstr>
      <vt:lpstr>1-Tier Architecture </vt:lpstr>
      <vt:lpstr>2-Tier Architecture </vt:lpstr>
      <vt:lpstr>3-Tier Architecture </vt:lpstr>
      <vt:lpstr>Three schema Architecture </vt:lpstr>
      <vt:lpstr>3-schema/views of Data</vt:lpstr>
      <vt:lpstr>PowerPoint Presentation</vt:lpstr>
      <vt:lpstr>Cont…</vt:lpstr>
      <vt:lpstr>Internal or physical schema</vt:lpstr>
      <vt:lpstr>Conceptual or logical schema</vt:lpstr>
      <vt:lpstr>External or View Schema</vt:lpstr>
      <vt:lpstr>Data Independence</vt:lpstr>
      <vt:lpstr>Types of Data Independence</vt:lpstr>
      <vt:lpstr>Summary</vt:lpstr>
      <vt:lpstr>PowerPoint Presentation</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shavetapc</cp:lastModifiedBy>
  <cp:revision>137</cp:revision>
  <dcterms:created xsi:type="dcterms:W3CDTF">2019-01-09T10:33:58Z</dcterms:created>
  <dcterms:modified xsi:type="dcterms:W3CDTF">2023-06-15T04:57:22Z</dcterms:modified>
</cp:coreProperties>
</file>