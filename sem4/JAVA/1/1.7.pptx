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87" r:id="rId3"/>
    <p:sldId id="281" r:id="rId4"/>
    <p:sldId id="328" r:id="rId5"/>
    <p:sldId id="329" r:id="rId6"/>
    <p:sldId id="416" r:id="rId7"/>
    <p:sldId id="417" r:id="rId8"/>
    <p:sldId id="418" r:id="rId9"/>
    <p:sldId id="312" r:id="rId10"/>
    <p:sldId id="314" r:id="rId11"/>
    <p:sldId id="315" r:id="rId12"/>
    <p:sldId id="316" r:id="rId13"/>
    <p:sldId id="419" r:id="rId14"/>
    <p:sldId id="317" r:id="rId15"/>
    <p:sldId id="318" r:id="rId16"/>
    <p:sldId id="319" r:id="rId17"/>
    <p:sldId id="320" r:id="rId18"/>
    <p:sldId id="321" r:id="rId19"/>
    <p:sldId id="398" r:id="rId20"/>
    <p:sldId id="410" r:id="rId21"/>
    <p:sldId id="408" r:id="rId22"/>
    <p:sldId id="409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24" autoAdjust="0"/>
  </p:normalViewPr>
  <p:slideViewPr>
    <p:cSldViewPr snapToGrid="0">
      <p:cViewPr varScale="1">
        <p:scale>
          <a:sx n="75" d="100"/>
          <a:sy n="75" d="100"/>
        </p:scale>
        <p:origin x="917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510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A78ECD-5D36-49C6-8C9F-F97C62AE3EA1}" type="doc">
      <dgm:prSet loTypeId="urn:microsoft.com/office/officeart/2005/8/layout/hList3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IN"/>
        </a:p>
      </dgm:t>
    </dgm:pt>
    <dgm:pt modelId="{D7A8D461-5622-4395-9676-6E80B79FE233}">
      <dgm:prSet phldrT="[Text]"/>
      <dgm:spPr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pPr>
            <a:buNone/>
          </a:pPr>
          <a:r>
            <a:rPr lang="en-US" dirty="0">
              <a:latin typeface="Times New Roman" pitchFamily="18" charset="0"/>
              <a:cs typeface="Times New Roman" pitchFamily="18" charset="0"/>
            </a:rPr>
            <a:t>Types of inner classes in java</a:t>
          </a:r>
          <a:endParaRPr lang="en-IN" dirty="0"/>
        </a:p>
      </dgm:t>
    </dgm:pt>
    <dgm:pt modelId="{847C13E6-C9FC-4310-8005-33150D3CAC8D}" type="parTrans" cxnId="{735466BB-1159-4D0D-9CCB-C469FCF389AA}">
      <dgm:prSet/>
      <dgm:spPr/>
      <dgm:t>
        <a:bodyPr/>
        <a:lstStyle/>
        <a:p>
          <a:endParaRPr lang="en-IN"/>
        </a:p>
      </dgm:t>
    </dgm:pt>
    <dgm:pt modelId="{78A4D6B6-4A7A-47F1-ADC0-8522F929826B}" type="sibTrans" cxnId="{735466BB-1159-4D0D-9CCB-C469FCF389AA}">
      <dgm:prSet/>
      <dgm:spPr/>
      <dgm:t>
        <a:bodyPr/>
        <a:lstStyle/>
        <a:p>
          <a:endParaRPr lang="en-IN"/>
        </a:p>
      </dgm:t>
    </dgm:pt>
    <dgm:pt modelId="{93924321-35DD-43BD-BC6D-0F24BC93A5CB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Nested Inner class</a:t>
          </a:r>
          <a:endParaRPr lang="en-IN" dirty="0"/>
        </a:p>
      </dgm:t>
    </dgm:pt>
    <dgm:pt modelId="{A4CE2F6C-FF5D-4A73-8FFF-8C31AFE56F7A}" type="parTrans" cxnId="{E9FFDABF-292A-43F8-88C8-8B0BDBD30732}">
      <dgm:prSet/>
      <dgm:spPr/>
      <dgm:t>
        <a:bodyPr/>
        <a:lstStyle/>
        <a:p>
          <a:endParaRPr lang="en-IN"/>
        </a:p>
      </dgm:t>
    </dgm:pt>
    <dgm:pt modelId="{1899956F-3443-44EA-BF0F-A554F756D8E8}" type="sibTrans" cxnId="{E9FFDABF-292A-43F8-88C8-8B0BDBD30732}">
      <dgm:prSet/>
      <dgm:spPr/>
      <dgm:t>
        <a:bodyPr/>
        <a:lstStyle/>
        <a:p>
          <a:endParaRPr lang="en-IN"/>
        </a:p>
      </dgm:t>
    </dgm:pt>
    <dgm:pt modelId="{F59E3BB7-9DCF-410A-8804-570C9C761F06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Method Local inner classes</a:t>
          </a:r>
          <a:endParaRPr lang="en-IN" dirty="0"/>
        </a:p>
      </dgm:t>
    </dgm:pt>
    <dgm:pt modelId="{F42DDF6B-FF7D-44DB-A0FF-A2ED681D588E}" type="parTrans" cxnId="{0439D466-DBEA-4D19-B307-892A92E65B78}">
      <dgm:prSet/>
      <dgm:spPr/>
      <dgm:t>
        <a:bodyPr/>
        <a:lstStyle/>
        <a:p>
          <a:endParaRPr lang="en-IN"/>
        </a:p>
      </dgm:t>
    </dgm:pt>
    <dgm:pt modelId="{D520B198-198A-4291-8DFF-81CD9D2F841F}" type="sibTrans" cxnId="{0439D466-DBEA-4D19-B307-892A92E65B78}">
      <dgm:prSet/>
      <dgm:spPr/>
      <dgm:t>
        <a:bodyPr/>
        <a:lstStyle/>
        <a:p>
          <a:endParaRPr lang="en-IN"/>
        </a:p>
      </dgm:t>
    </dgm:pt>
    <dgm:pt modelId="{FA89B921-2F7C-42BE-94C8-DF9F2C1D38A1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Anonymous inner classes</a:t>
          </a:r>
          <a:endParaRPr lang="en-IN" dirty="0"/>
        </a:p>
      </dgm:t>
    </dgm:pt>
    <dgm:pt modelId="{E07ADCDF-E716-4CFA-BF43-50C2D27CE362}" type="parTrans" cxnId="{BCFB7C04-417F-45C0-A4CB-263CA287AA59}">
      <dgm:prSet/>
      <dgm:spPr/>
      <dgm:t>
        <a:bodyPr/>
        <a:lstStyle/>
        <a:p>
          <a:endParaRPr lang="en-IN"/>
        </a:p>
      </dgm:t>
    </dgm:pt>
    <dgm:pt modelId="{3F3F14A3-2916-49A5-96A2-C1CE0AF89A85}" type="sibTrans" cxnId="{BCFB7C04-417F-45C0-A4CB-263CA287AA59}">
      <dgm:prSet/>
      <dgm:spPr/>
      <dgm:t>
        <a:bodyPr/>
        <a:lstStyle/>
        <a:p>
          <a:endParaRPr lang="en-IN"/>
        </a:p>
      </dgm:t>
    </dgm:pt>
    <dgm:pt modelId="{BD24C160-0760-432D-A95C-CAF8E23C9B81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Static nested classes</a:t>
          </a:r>
          <a:endParaRPr lang="en-IN" dirty="0"/>
        </a:p>
      </dgm:t>
    </dgm:pt>
    <dgm:pt modelId="{AC0B9F77-5243-4667-999E-321536295E2D}" type="parTrans" cxnId="{4B9D9BEB-E07E-423A-8D65-D73B39727EB3}">
      <dgm:prSet/>
      <dgm:spPr/>
      <dgm:t>
        <a:bodyPr/>
        <a:lstStyle/>
        <a:p>
          <a:endParaRPr lang="en-IN"/>
        </a:p>
      </dgm:t>
    </dgm:pt>
    <dgm:pt modelId="{65929AB6-FA0A-4183-A671-68F6B42F4123}" type="sibTrans" cxnId="{4B9D9BEB-E07E-423A-8D65-D73B39727EB3}">
      <dgm:prSet/>
      <dgm:spPr/>
      <dgm:t>
        <a:bodyPr/>
        <a:lstStyle/>
        <a:p>
          <a:endParaRPr lang="en-IN"/>
        </a:p>
      </dgm:t>
    </dgm:pt>
    <dgm:pt modelId="{DD9F8005-0FC5-45B8-AD1F-27BA0532255D}" type="pres">
      <dgm:prSet presAssocID="{51A78ECD-5D36-49C6-8C9F-F97C62AE3EA1}" presName="composite" presStyleCnt="0">
        <dgm:presLayoutVars>
          <dgm:chMax val="1"/>
          <dgm:dir/>
          <dgm:resizeHandles val="exact"/>
        </dgm:presLayoutVars>
      </dgm:prSet>
      <dgm:spPr/>
    </dgm:pt>
    <dgm:pt modelId="{471B178C-7A00-4F93-BF19-2B962FA94C50}" type="pres">
      <dgm:prSet presAssocID="{D7A8D461-5622-4395-9676-6E80B79FE233}" presName="roof" presStyleLbl="dkBgShp" presStyleIdx="0" presStyleCnt="2" custLinFactNeighborX="4000" custLinFactNeighborY="8210"/>
      <dgm:spPr/>
    </dgm:pt>
    <dgm:pt modelId="{8F073465-23D3-442A-89D3-267A0C0932DC}" type="pres">
      <dgm:prSet presAssocID="{D7A8D461-5622-4395-9676-6E80B79FE233}" presName="pillars" presStyleCnt="0"/>
      <dgm:spPr/>
    </dgm:pt>
    <dgm:pt modelId="{54740D69-44C1-41DA-A91D-F815EEDBAFB1}" type="pres">
      <dgm:prSet presAssocID="{D7A8D461-5622-4395-9676-6E80B79FE233}" presName="pillar1" presStyleLbl="node1" presStyleIdx="0" presStyleCnt="4">
        <dgm:presLayoutVars>
          <dgm:bulletEnabled val="1"/>
        </dgm:presLayoutVars>
      </dgm:prSet>
      <dgm:spPr/>
    </dgm:pt>
    <dgm:pt modelId="{31A6FA42-5E23-4F45-8F57-CF571177C9C8}" type="pres">
      <dgm:prSet presAssocID="{F59E3BB7-9DCF-410A-8804-570C9C761F06}" presName="pillarX" presStyleLbl="node1" presStyleIdx="1" presStyleCnt="4">
        <dgm:presLayoutVars>
          <dgm:bulletEnabled val="1"/>
        </dgm:presLayoutVars>
      </dgm:prSet>
      <dgm:spPr/>
    </dgm:pt>
    <dgm:pt modelId="{E91DF824-76B0-4201-8A1F-EBA7B982A1BE}" type="pres">
      <dgm:prSet presAssocID="{FA89B921-2F7C-42BE-94C8-DF9F2C1D38A1}" presName="pillarX" presStyleLbl="node1" presStyleIdx="2" presStyleCnt="4">
        <dgm:presLayoutVars>
          <dgm:bulletEnabled val="1"/>
        </dgm:presLayoutVars>
      </dgm:prSet>
      <dgm:spPr/>
    </dgm:pt>
    <dgm:pt modelId="{DA31B843-8BDE-4ED8-B82D-B7F45C3C59BB}" type="pres">
      <dgm:prSet presAssocID="{BD24C160-0760-432D-A95C-CAF8E23C9B81}" presName="pillarX" presStyleLbl="node1" presStyleIdx="3" presStyleCnt="4">
        <dgm:presLayoutVars>
          <dgm:bulletEnabled val="1"/>
        </dgm:presLayoutVars>
      </dgm:prSet>
      <dgm:spPr/>
    </dgm:pt>
    <dgm:pt modelId="{15353434-5C92-4188-B0B6-EA2E1FC0CA18}" type="pres">
      <dgm:prSet presAssocID="{D7A8D461-5622-4395-9676-6E80B79FE233}" presName="base" presStyleLbl="dkBgShp" presStyleIdx="1" presStyleCnt="2"/>
      <dgm:spPr/>
    </dgm:pt>
  </dgm:ptLst>
  <dgm:cxnLst>
    <dgm:cxn modelId="{3A0B8B00-E8DC-4F6F-B266-4B2CAD44A3A7}" type="presOf" srcId="{BD24C160-0760-432D-A95C-CAF8E23C9B81}" destId="{DA31B843-8BDE-4ED8-B82D-B7F45C3C59BB}" srcOrd="0" destOrd="0" presId="urn:microsoft.com/office/officeart/2005/8/layout/hList3"/>
    <dgm:cxn modelId="{BCFB7C04-417F-45C0-A4CB-263CA287AA59}" srcId="{D7A8D461-5622-4395-9676-6E80B79FE233}" destId="{FA89B921-2F7C-42BE-94C8-DF9F2C1D38A1}" srcOrd="2" destOrd="0" parTransId="{E07ADCDF-E716-4CFA-BF43-50C2D27CE362}" sibTransId="{3F3F14A3-2916-49A5-96A2-C1CE0AF89A85}"/>
    <dgm:cxn modelId="{D0140462-685F-4CC3-A96C-18F834671BDE}" type="presOf" srcId="{FA89B921-2F7C-42BE-94C8-DF9F2C1D38A1}" destId="{E91DF824-76B0-4201-8A1F-EBA7B982A1BE}" srcOrd="0" destOrd="0" presId="urn:microsoft.com/office/officeart/2005/8/layout/hList3"/>
    <dgm:cxn modelId="{94312765-9D74-47F7-901E-E8B4E8E0FB2A}" type="presOf" srcId="{F59E3BB7-9DCF-410A-8804-570C9C761F06}" destId="{31A6FA42-5E23-4F45-8F57-CF571177C9C8}" srcOrd="0" destOrd="0" presId="urn:microsoft.com/office/officeart/2005/8/layout/hList3"/>
    <dgm:cxn modelId="{0439D466-DBEA-4D19-B307-892A92E65B78}" srcId="{D7A8D461-5622-4395-9676-6E80B79FE233}" destId="{F59E3BB7-9DCF-410A-8804-570C9C761F06}" srcOrd="1" destOrd="0" parTransId="{F42DDF6B-FF7D-44DB-A0FF-A2ED681D588E}" sibTransId="{D520B198-198A-4291-8DFF-81CD9D2F841F}"/>
    <dgm:cxn modelId="{248FD3A5-4E91-469E-847E-EA9AF5EB5FE4}" type="presOf" srcId="{51A78ECD-5D36-49C6-8C9F-F97C62AE3EA1}" destId="{DD9F8005-0FC5-45B8-AD1F-27BA0532255D}" srcOrd="0" destOrd="0" presId="urn:microsoft.com/office/officeart/2005/8/layout/hList3"/>
    <dgm:cxn modelId="{735466BB-1159-4D0D-9CCB-C469FCF389AA}" srcId="{51A78ECD-5D36-49C6-8C9F-F97C62AE3EA1}" destId="{D7A8D461-5622-4395-9676-6E80B79FE233}" srcOrd="0" destOrd="0" parTransId="{847C13E6-C9FC-4310-8005-33150D3CAC8D}" sibTransId="{78A4D6B6-4A7A-47F1-ADC0-8522F929826B}"/>
    <dgm:cxn modelId="{E9FFDABF-292A-43F8-88C8-8B0BDBD30732}" srcId="{D7A8D461-5622-4395-9676-6E80B79FE233}" destId="{93924321-35DD-43BD-BC6D-0F24BC93A5CB}" srcOrd="0" destOrd="0" parTransId="{A4CE2F6C-FF5D-4A73-8FFF-8C31AFE56F7A}" sibTransId="{1899956F-3443-44EA-BF0F-A554F756D8E8}"/>
    <dgm:cxn modelId="{2492F1D4-3F28-482B-8E16-64CF3F97F0B9}" type="presOf" srcId="{D7A8D461-5622-4395-9676-6E80B79FE233}" destId="{471B178C-7A00-4F93-BF19-2B962FA94C50}" srcOrd="0" destOrd="0" presId="urn:microsoft.com/office/officeart/2005/8/layout/hList3"/>
    <dgm:cxn modelId="{FED9E7D6-0687-4FB4-9E84-45CBEC879E10}" type="presOf" srcId="{93924321-35DD-43BD-BC6D-0F24BC93A5CB}" destId="{54740D69-44C1-41DA-A91D-F815EEDBAFB1}" srcOrd="0" destOrd="0" presId="urn:microsoft.com/office/officeart/2005/8/layout/hList3"/>
    <dgm:cxn modelId="{4B9D9BEB-E07E-423A-8D65-D73B39727EB3}" srcId="{D7A8D461-5622-4395-9676-6E80B79FE233}" destId="{BD24C160-0760-432D-A95C-CAF8E23C9B81}" srcOrd="3" destOrd="0" parTransId="{AC0B9F77-5243-4667-999E-321536295E2D}" sibTransId="{65929AB6-FA0A-4183-A671-68F6B42F4123}"/>
    <dgm:cxn modelId="{BC9C8E84-0CA6-4563-9278-C24A8866D889}" type="presParOf" srcId="{DD9F8005-0FC5-45B8-AD1F-27BA0532255D}" destId="{471B178C-7A00-4F93-BF19-2B962FA94C50}" srcOrd="0" destOrd="0" presId="urn:microsoft.com/office/officeart/2005/8/layout/hList3"/>
    <dgm:cxn modelId="{AD5E5E0D-03AA-4364-8E6E-B11D102DAB08}" type="presParOf" srcId="{DD9F8005-0FC5-45B8-AD1F-27BA0532255D}" destId="{8F073465-23D3-442A-89D3-267A0C0932DC}" srcOrd="1" destOrd="0" presId="urn:microsoft.com/office/officeart/2005/8/layout/hList3"/>
    <dgm:cxn modelId="{54D3B27F-6612-4D2F-B51F-8DC30DA0100F}" type="presParOf" srcId="{8F073465-23D3-442A-89D3-267A0C0932DC}" destId="{54740D69-44C1-41DA-A91D-F815EEDBAFB1}" srcOrd="0" destOrd="0" presId="urn:microsoft.com/office/officeart/2005/8/layout/hList3"/>
    <dgm:cxn modelId="{82FAE941-9BCE-4958-A02C-F923C0042BA6}" type="presParOf" srcId="{8F073465-23D3-442A-89D3-267A0C0932DC}" destId="{31A6FA42-5E23-4F45-8F57-CF571177C9C8}" srcOrd="1" destOrd="0" presId="urn:microsoft.com/office/officeart/2005/8/layout/hList3"/>
    <dgm:cxn modelId="{0E5B9D46-A0B8-4D93-8978-3019B624120C}" type="presParOf" srcId="{8F073465-23D3-442A-89D3-267A0C0932DC}" destId="{E91DF824-76B0-4201-8A1F-EBA7B982A1BE}" srcOrd="2" destOrd="0" presId="urn:microsoft.com/office/officeart/2005/8/layout/hList3"/>
    <dgm:cxn modelId="{BFD6B9C1-4378-4154-9064-FF8C26F06C31}" type="presParOf" srcId="{8F073465-23D3-442A-89D3-267A0C0932DC}" destId="{DA31B843-8BDE-4ED8-B82D-B7F45C3C59BB}" srcOrd="3" destOrd="0" presId="urn:microsoft.com/office/officeart/2005/8/layout/hList3"/>
    <dgm:cxn modelId="{13DE9B72-28B5-4B8B-86E0-032B66BCCCD2}" type="presParOf" srcId="{DD9F8005-0FC5-45B8-AD1F-27BA0532255D}" destId="{15353434-5C92-4188-B0B6-EA2E1FC0CA18}" srcOrd="2" destOrd="0" presId="urn:microsoft.com/office/officeart/2005/8/layout/hList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B178C-7A00-4F93-BF19-2B962FA94C50}">
      <dsp:nvSpPr>
        <dsp:cNvPr id="0" name=""/>
        <dsp:cNvSpPr/>
      </dsp:nvSpPr>
      <dsp:spPr>
        <a:xfrm>
          <a:off x="0" y="110804"/>
          <a:ext cx="8054908" cy="1349627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>
              <a:latin typeface="Times New Roman" pitchFamily="18" charset="0"/>
              <a:cs typeface="Times New Roman" pitchFamily="18" charset="0"/>
            </a:rPr>
            <a:t>Types of inner classes in java</a:t>
          </a:r>
          <a:endParaRPr lang="en-IN" sz="5100" kern="1200" dirty="0"/>
        </a:p>
      </dsp:txBody>
      <dsp:txXfrm>
        <a:off x="0" y="110804"/>
        <a:ext cx="8054908" cy="1349627"/>
      </dsp:txXfrm>
    </dsp:sp>
    <dsp:sp modelId="{54740D69-44C1-41DA-A91D-F815EEDBAFB1}">
      <dsp:nvSpPr>
        <dsp:cNvPr id="0" name=""/>
        <dsp:cNvSpPr/>
      </dsp:nvSpPr>
      <dsp:spPr>
        <a:xfrm>
          <a:off x="0" y="1349627"/>
          <a:ext cx="2013727" cy="2834217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itchFamily="18" charset="0"/>
              <a:cs typeface="Times New Roman" pitchFamily="18" charset="0"/>
            </a:rPr>
            <a:t>Nested Inner class</a:t>
          </a:r>
          <a:endParaRPr lang="en-IN" sz="2800" kern="1200" dirty="0"/>
        </a:p>
      </dsp:txBody>
      <dsp:txXfrm>
        <a:off x="0" y="1349627"/>
        <a:ext cx="2013727" cy="2834217"/>
      </dsp:txXfrm>
    </dsp:sp>
    <dsp:sp modelId="{31A6FA42-5E23-4F45-8F57-CF571177C9C8}">
      <dsp:nvSpPr>
        <dsp:cNvPr id="0" name=""/>
        <dsp:cNvSpPr/>
      </dsp:nvSpPr>
      <dsp:spPr>
        <a:xfrm>
          <a:off x="2013727" y="1349627"/>
          <a:ext cx="2013727" cy="2834217"/>
        </a:xfrm>
        <a:prstGeom prst="rect">
          <a:avLst/>
        </a:prstGeom>
        <a:solidFill>
          <a:schemeClr val="accent2">
            <a:shade val="50000"/>
            <a:hueOff val="-295587"/>
            <a:satOff val="3892"/>
            <a:lumOff val="233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itchFamily="18" charset="0"/>
              <a:cs typeface="Times New Roman" pitchFamily="18" charset="0"/>
            </a:rPr>
            <a:t>Method Local inner classes</a:t>
          </a:r>
          <a:endParaRPr lang="en-IN" sz="2800" kern="1200" dirty="0"/>
        </a:p>
      </dsp:txBody>
      <dsp:txXfrm>
        <a:off x="2013727" y="1349627"/>
        <a:ext cx="2013727" cy="2834217"/>
      </dsp:txXfrm>
    </dsp:sp>
    <dsp:sp modelId="{E91DF824-76B0-4201-8A1F-EBA7B982A1BE}">
      <dsp:nvSpPr>
        <dsp:cNvPr id="0" name=""/>
        <dsp:cNvSpPr/>
      </dsp:nvSpPr>
      <dsp:spPr>
        <a:xfrm>
          <a:off x="4027454" y="1349627"/>
          <a:ext cx="2013727" cy="2834217"/>
        </a:xfrm>
        <a:prstGeom prst="rect">
          <a:avLst/>
        </a:prstGeom>
        <a:solidFill>
          <a:schemeClr val="accent2">
            <a:shade val="50000"/>
            <a:hueOff val="-591173"/>
            <a:satOff val="7783"/>
            <a:lumOff val="466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itchFamily="18" charset="0"/>
              <a:cs typeface="Times New Roman" pitchFamily="18" charset="0"/>
            </a:rPr>
            <a:t>Anonymous inner classes</a:t>
          </a:r>
          <a:endParaRPr lang="en-IN" sz="2800" kern="1200" dirty="0"/>
        </a:p>
      </dsp:txBody>
      <dsp:txXfrm>
        <a:off x="4027454" y="1349627"/>
        <a:ext cx="2013727" cy="2834217"/>
      </dsp:txXfrm>
    </dsp:sp>
    <dsp:sp modelId="{DA31B843-8BDE-4ED8-B82D-B7F45C3C59BB}">
      <dsp:nvSpPr>
        <dsp:cNvPr id="0" name=""/>
        <dsp:cNvSpPr/>
      </dsp:nvSpPr>
      <dsp:spPr>
        <a:xfrm>
          <a:off x="6041180" y="1349627"/>
          <a:ext cx="2013727" cy="2834217"/>
        </a:xfrm>
        <a:prstGeom prst="rect">
          <a:avLst/>
        </a:prstGeom>
        <a:solidFill>
          <a:schemeClr val="accent2">
            <a:shade val="50000"/>
            <a:hueOff val="-295587"/>
            <a:satOff val="3892"/>
            <a:lumOff val="233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itchFamily="18" charset="0"/>
              <a:cs typeface="Times New Roman" pitchFamily="18" charset="0"/>
            </a:rPr>
            <a:t>Static nested classes</a:t>
          </a:r>
          <a:endParaRPr lang="en-IN" sz="2800" kern="1200" dirty="0"/>
        </a:p>
      </dsp:txBody>
      <dsp:txXfrm>
        <a:off x="6041180" y="1349627"/>
        <a:ext cx="2013727" cy="2834217"/>
      </dsp:txXfrm>
    </dsp:sp>
    <dsp:sp modelId="{15353434-5C92-4188-B0B6-EA2E1FC0CA18}">
      <dsp:nvSpPr>
        <dsp:cNvPr id="0" name=""/>
        <dsp:cNvSpPr/>
      </dsp:nvSpPr>
      <dsp:spPr>
        <a:xfrm>
          <a:off x="0" y="4183844"/>
          <a:ext cx="8054908" cy="31491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39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2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7yVbG9_xkM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81208" y="41246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83B967-41CC-4702-9A6A-3CAB326C3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Classes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18366-CEC0-4982-12CC-E159175B772C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9F2DDB-FBF8-AD2B-A295-52807677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783571-FF87-F351-5E28-37AAA76F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784" y="6137454"/>
            <a:ext cx="7617272" cy="3532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Inner Class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Packages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Times New Roman" pitchFamily="18" charset="0"/>
                <a:cs typeface="Times New Roman" pitchFamily="18" charset="0"/>
              </a:rPr>
              <a:t>Lecture Objectives</a:t>
            </a:r>
            <a:br>
              <a:rPr lang="en-US" sz="20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722"/>
            <a:ext cx="10515600" cy="6374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Inner class means one class which is a member of another class. </a:t>
            </a:r>
          </a:p>
          <a:p>
            <a:pPr marL="355600" algn="just">
              <a:lnSpc>
                <a:spcPts val="2375"/>
              </a:lnSpc>
              <a:spcBef>
                <a:spcPts val="95"/>
              </a:spcBef>
              <a:tabLst>
                <a:tab pos="355600" algn="l"/>
              </a:tabLst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3319847" y="152717"/>
            <a:ext cx="361829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CLASS</a:t>
            </a:r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B922599-1660-568B-1166-9AA9FEBA5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427094"/>
              </p:ext>
            </p:extLst>
          </p:nvPr>
        </p:nvGraphicFramePr>
        <p:xfrm>
          <a:off x="2216852" y="1917282"/>
          <a:ext cx="8054908" cy="4498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1392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4104"/>
            <a:ext cx="10515600" cy="576389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Nested Inner class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can access any private instance variable of outer class. Like any other instance variable, we can have access modifier private, protected, public and default modifier.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Outer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Inner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public void show()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("In a nested class method");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 } }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Main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static void main(String[]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Outer.Inner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 = new Outer().new Inner();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in.show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 }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lnSpc>
                <a:spcPts val="2375"/>
              </a:lnSpc>
              <a:spcBef>
                <a:spcPts val="95"/>
              </a:spcBef>
              <a:tabLst>
                <a:tab pos="355600" algn="l"/>
              </a:tabLst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2113280" y="342483"/>
            <a:ext cx="7366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INNER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5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64" y="1114424"/>
            <a:ext cx="10515600" cy="560133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Inner class can be declared within a method of an outer class.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the following example, Inner is an inner class in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class Outer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("inside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class Inner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void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 {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("inside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innerMethod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} }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Inner y = new Inner();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y.innerMethod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} }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42349-BC8D-4279-B959-302EBD6EE939}"/>
              </a:ext>
            </a:extLst>
          </p:cNvPr>
          <p:cNvSpPr txBox="1"/>
          <p:nvPr/>
        </p:nvSpPr>
        <p:spPr>
          <a:xfrm>
            <a:off x="1259841" y="342483"/>
            <a:ext cx="81381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LOCAL INNER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057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114424"/>
            <a:ext cx="10515600" cy="560133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Anonymous inner classes are declared without any name at all.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class Demo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void show()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am in show method of super class");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} }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class Flavor1Demo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// An anonymous class with Demo as base class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static Demo d = new Demo()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void show()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super.show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("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am in Flavor1Demo class");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} };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public static void main(String[]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d.show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} }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42349-BC8D-4279-B959-302EBD6EE939}"/>
              </a:ext>
            </a:extLst>
          </p:cNvPr>
          <p:cNvSpPr txBox="1"/>
          <p:nvPr/>
        </p:nvSpPr>
        <p:spPr>
          <a:xfrm>
            <a:off x="1259841" y="342483"/>
            <a:ext cx="81381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ANONYMOUS INNER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06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114424"/>
            <a:ext cx="10515600" cy="560133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Static nested classes are not technically an inner class. They are like a static member of outer class.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class Outer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private static void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("inside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");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// A static inner class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static class Inner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public static void main(String[] 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 {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System.out.println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("inside inner class Method");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outerMethod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	}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1270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42349-BC8D-4279-B959-302EBD6EE939}"/>
              </a:ext>
            </a:extLst>
          </p:cNvPr>
          <p:cNvSpPr txBox="1"/>
          <p:nvPr/>
        </p:nvSpPr>
        <p:spPr>
          <a:xfrm>
            <a:off x="1259841" y="342483"/>
            <a:ext cx="813815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NESTED INNER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813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DE75B-855D-4CE8-8126-6B184DBE1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661160"/>
            <a:ext cx="10937240" cy="4820919"/>
          </a:xfrm>
        </p:spPr>
        <p:txBody>
          <a:bodyPr>
            <a:noAutofit/>
          </a:bodyPr>
          <a:lstStyle/>
          <a:p>
            <a:pPr marL="12700" indent="0" algn="just">
              <a:lnSpc>
                <a:spcPts val="2375"/>
              </a:lnSpc>
              <a:spcBef>
                <a:spcPts val="95"/>
              </a:spcBef>
              <a:buNone/>
              <a:tabLst>
                <a:tab pos="355600" algn="l"/>
              </a:tabLst>
            </a:pP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Package</a:t>
            </a:r>
            <a:r>
              <a:rPr lang="en-US" sz="2400" b="1" spc="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400" b="1" spc="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en-US" sz="2400" b="1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400" b="1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mechanism</a:t>
            </a:r>
            <a:r>
              <a:rPr lang="en-US" sz="2400" b="1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400" b="1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encapsulate</a:t>
            </a:r>
            <a:r>
              <a:rPr lang="en-US" sz="2400" b="1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group</a:t>
            </a:r>
            <a:r>
              <a:rPr lang="en-US" sz="2400" b="1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400" b="1"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classes,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sub </a:t>
            </a: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packages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b="1" spc="1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interfaces.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12700" indent="0" algn="just">
              <a:lnSpc>
                <a:spcPts val="2375"/>
              </a:lnSpc>
              <a:buNone/>
            </a:pP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u="sng" spc="-20" dirty="0">
                <a:latin typeface="Times New Roman" pitchFamily="18" charset="0"/>
                <a:cs typeface="Times New Roman" pitchFamily="18" charset="0"/>
              </a:rPr>
              <a:t>Packages </a:t>
            </a:r>
            <a:r>
              <a:rPr lang="en-US" sz="2400" b="1" u="sng" spc="-10" dirty="0">
                <a:latin typeface="Times New Roman" pitchFamily="18" charset="0"/>
                <a:cs typeface="Times New Roman" pitchFamily="18" charset="0"/>
              </a:rPr>
              <a:t>are used</a:t>
            </a:r>
            <a:r>
              <a:rPr lang="en-US" sz="2400" b="1" u="sng" spc="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u="sng" spc="-15" dirty="0">
                <a:latin typeface="Times New Roman" pitchFamily="18" charset="0"/>
                <a:cs typeface="Times New Roman" pitchFamily="18" charset="0"/>
              </a:rPr>
              <a:t>for:</a:t>
            </a:r>
            <a:endParaRPr lang="en-US" sz="2400" b="1" u="sng" dirty="0">
              <a:latin typeface="Times New Roman" pitchFamily="18" charset="0"/>
              <a:cs typeface="Times New Roman" pitchFamily="18" charset="0"/>
            </a:endParaRPr>
          </a:p>
          <a:p>
            <a:pPr marL="355600" marR="8255" indent="-342900" algn="just">
              <a:lnSpc>
                <a:spcPct val="80000"/>
              </a:lnSpc>
              <a:spcBef>
                <a:spcPts val="525"/>
              </a:spcBef>
              <a:tabLst>
                <a:tab pos="355600" algn="l"/>
              </a:tabLst>
            </a:pP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Preventing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naming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conflicts.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For example,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classes with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name Employee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packages, </a:t>
            </a:r>
            <a:r>
              <a:rPr lang="en-US" sz="2400" spc="-15" dirty="0" err="1">
                <a:latin typeface="Times New Roman" pitchFamily="18" charset="0"/>
                <a:cs typeface="Times New Roman" pitchFamily="18" charset="0"/>
              </a:rPr>
              <a:t>college.staff.cse.Employee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spc="-20" dirty="0" err="1">
                <a:latin typeface="Times New Roman" pitchFamily="18" charset="0"/>
                <a:cs typeface="Times New Roman" pitchFamily="18" charset="0"/>
              </a:rPr>
              <a:t>college.staff.ee.Employee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lnSpc>
                <a:spcPct val="100000"/>
              </a:lnSpc>
              <a:tabLst>
                <a:tab pos="355600" algn="l"/>
              </a:tabLst>
            </a:pP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Making searching/locating and usage of classes,</a:t>
            </a:r>
            <a:r>
              <a:rPr lang="en-US" sz="2400" spc="2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interfaces,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enumerations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annotations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easier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marR="5080" algn="just">
              <a:lnSpc>
                <a:spcPct val="100000"/>
              </a:lnSpc>
              <a:spcBef>
                <a:spcPts val="515"/>
              </a:spcBef>
              <a:tabLst>
                <a:tab pos="355600" algn="l"/>
              </a:tabLst>
            </a:pP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Providing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controlled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access: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protected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default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level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control.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protected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member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is accessible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400" spc="5" dirty="0">
                <a:latin typeface="Times New Roman" pitchFamily="18" charset="0"/>
                <a:cs typeface="Times New Roman" pitchFamily="18" charset="0"/>
              </a:rPr>
              <a:t>in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 same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its subclasses. A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default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member is accessible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classes in the same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 </a:t>
            </a:r>
            <a:r>
              <a:rPr lang="en-US" sz="2400" spc="-35" dirty="0">
                <a:latin typeface="Times New Roman" pitchFamily="18" charset="0"/>
                <a:cs typeface="Times New Roman" pitchFamily="18" charset="0"/>
              </a:rPr>
              <a:t>only.</a:t>
            </a:r>
            <a:endParaRPr lang="en-US" sz="2400" spc="-15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lnSpc>
                <a:spcPct val="100000"/>
              </a:lnSpc>
              <a:spcBef>
                <a:spcPts val="25"/>
              </a:spcBef>
              <a:tabLst>
                <a:tab pos="355600" algn="l"/>
              </a:tabLst>
            </a:pP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Packages can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considered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encapsulation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(or</a:t>
            </a:r>
            <a:r>
              <a:rPr lang="en-US" sz="24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data-hiding).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D4B1F-E089-423A-B023-232C64292962}"/>
              </a:ext>
            </a:extLst>
          </p:cNvPr>
          <p:cNvSpPr txBox="1"/>
          <p:nvPr/>
        </p:nvSpPr>
        <p:spPr>
          <a:xfrm>
            <a:off x="1351280" y="426720"/>
            <a:ext cx="661276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6298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02DA0C-D8AE-4DF9-9DFD-BF07C0177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packages</a:t>
            </a:r>
            <a:r>
              <a:rPr lang="en-US" sz="2400" b="1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work?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marR="5080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names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directory structure are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closely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related. 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spc="-15" dirty="0" err="1">
                <a:latin typeface="Times New Roman" pitchFamily="18" charset="0"/>
                <a:cs typeface="Times New Roman" pitchFamily="18" charset="0"/>
              </a:rPr>
              <a:t>example,</a:t>
            </a:r>
            <a:r>
              <a:rPr lang="en-US" sz="2400" spc="-5" dirty="0" err="1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sz="2400" spc="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spc="-15" dirty="0" err="1">
                <a:latin typeface="Times New Roman" pitchFamily="18" charset="0"/>
                <a:cs typeface="Times New Roman" pitchFamily="18" charset="0"/>
              </a:rPr>
              <a:t>college.staff.cse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then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400" spc="5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directories, college,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staff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such  that </a:t>
            </a:r>
            <a:r>
              <a:rPr lang="en-US" sz="2400" spc="-5" dirty="0" err="1">
                <a:latin typeface="Times New Roman" pitchFamily="18" charset="0"/>
                <a:cs typeface="Times New Roman" pitchFamily="18" charset="0"/>
              </a:rPr>
              <a:t>cse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present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staff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staff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present</a:t>
            </a:r>
            <a:r>
              <a:rPr lang="en-US" sz="2400" spc="1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college.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marR="6350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427355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Also,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directory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college is accessible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through </a:t>
            </a:r>
            <a:r>
              <a:rPr lang="en-US" sz="2400" spc="-50" dirty="0">
                <a:latin typeface="Times New Roman" pitchFamily="18" charset="0"/>
                <a:cs typeface="Times New Roman" pitchFamily="18" charset="0"/>
              </a:rPr>
              <a:t>CLASSPATH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variable,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i.e.,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parent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directory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college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present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spc="-45" dirty="0">
                <a:latin typeface="Times New Roman" pitchFamily="18" charset="0"/>
                <a:cs typeface="Times New Roman" pitchFamily="18" charset="0"/>
              </a:rPr>
              <a:t>CLASSPATH.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idea is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spc="-25" dirty="0">
                <a:latin typeface="Times New Roman" pitchFamily="18" charset="0"/>
                <a:cs typeface="Times New Roman" pitchFamily="18" charset="0"/>
              </a:rPr>
              <a:t>make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sure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are easy to</a:t>
            </a:r>
            <a:r>
              <a:rPr lang="en-US" sz="24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locate.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naming </a:t>
            </a: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conventions</a:t>
            </a:r>
            <a:r>
              <a:rPr lang="en-US" sz="2400" b="1" spc="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marR="5080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</a:tabLst>
            </a:pP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Packages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named in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reverse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order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of domain names.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For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example, </a:t>
            </a:r>
            <a:r>
              <a:rPr lang="en-US" sz="2400" spc="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college,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recommended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convention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is  </a:t>
            </a:r>
            <a:r>
              <a:rPr lang="en-US" sz="2400" spc="-10" dirty="0" err="1">
                <a:latin typeface="Times New Roman" pitchFamily="18" charset="0"/>
                <a:cs typeface="Times New Roman" pitchFamily="18" charset="0"/>
              </a:rPr>
              <a:t>college.tech.cse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, college.tech.ee, </a:t>
            </a:r>
            <a:r>
              <a:rPr lang="en-US" sz="2400" spc="-15" dirty="0" err="1">
                <a:latin typeface="Times New Roman" pitchFamily="18" charset="0"/>
                <a:cs typeface="Times New Roman" pitchFamily="18" charset="0"/>
              </a:rPr>
              <a:t>college.art.history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etc.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6AC79-CB64-4E6F-88E9-6A626347A824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50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5367DB-0FED-41BF-B280-ED115685A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3840"/>
            <a:ext cx="10434320" cy="44958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Adding a class 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Package</a:t>
            </a:r>
            <a:r>
              <a:rPr lang="en-US" sz="2400" b="1" spc="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7000" marR="421640" indent="0" algn="just">
              <a:lnSpc>
                <a:spcPct val="80000"/>
              </a:lnSpc>
              <a:spcBef>
                <a:spcPts val="525"/>
              </a:spcBef>
              <a:buNone/>
              <a:tabLst>
                <a:tab pos="354965" algn="l"/>
                <a:tab pos="355600" algn="l"/>
              </a:tabLst>
            </a:pPr>
            <a:r>
              <a:rPr lang="en-US" sz="2400" spc="-45" dirty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created package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name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at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top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program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saving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it in the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 </a:t>
            </a:r>
            <a:r>
              <a:rPr lang="en-US" sz="2400" spc="-25" dirty="0">
                <a:latin typeface="Times New Roman" pitchFamily="18" charset="0"/>
                <a:cs typeface="Times New Roman" pitchFamily="18" charset="0"/>
              </a:rPr>
              <a:t>directory. </a:t>
            </a:r>
            <a:r>
              <a:rPr lang="en-US" sz="2400" spc="-50" dirty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need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2400" b="1" spc="-25" dirty="0">
                <a:latin typeface="Times New Roman" pitchFamily="18" charset="0"/>
                <a:cs typeface="Times New Roman" pitchFamily="18" charset="0"/>
              </a:rPr>
              <a:t>java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file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to define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class,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otherwise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we can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add the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new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.java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file and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recompile</a:t>
            </a:r>
            <a:r>
              <a:rPr lang="en-US" sz="24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it.</a:t>
            </a:r>
          </a:p>
          <a:p>
            <a:pPr marL="355600" marR="421640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700" marR="421640" indent="0" algn="just">
              <a:lnSpc>
                <a:spcPct val="80000"/>
              </a:lnSpc>
              <a:spcBef>
                <a:spcPts val="525"/>
              </a:spcBef>
              <a:buNone/>
              <a:tabLst>
                <a:tab pos="354965" algn="l"/>
                <a:tab pos="355600" algn="l"/>
              </a:tabLst>
            </a:pPr>
            <a:r>
              <a:rPr lang="en-US" sz="2400" b="1" spc="-10" dirty="0" err="1">
                <a:latin typeface="Times New Roman" pitchFamily="18" charset="0"/>
                <a:cs typeface="Times New Roman" pitchFamily="18" charset="0"/>
              </a:rPr>
              <a:t>Subpackages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7000" marR="5080" indent="0" algn="just">
              <a:lnSpc>
                <a:spcPct val="80000"/>
              </a:lnSpc>
              <a:spcBef>
                <a:spcPts val="535"/>
              </a:spcBef>
              <a:buNone/>
              <a:tabLst>
                <a:tab pos="419100" algn="l"/>
                <a:tab pos="419734" algn="l"/>
              </a:tabLst>
            </a:pP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Packages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that are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inside another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are the </a:t>
            </a:r>
            <a:r>
              <a:rPr lang="en-US" sz="2400" b="1" spc="-10" dirty="0" err="1">
                <a:latin typeface="Times New Roman" pitchFamily="18" charset="0"/>
                <a:cs typeface="Times New Roman" pitchFamily="18" charset="0"/>
              </a:rPr>
              <a:t>subpackages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not imported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default,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they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have to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imported </a:t>
            </a:r>
            <a:r>
              <a:rPr lang="en-US" sz="2400" spc="-25" dirty="0">
                <a:latin typeface="Times New Roman" pitchFamily="18" charset="0"/>
                <a:cs typeface="Times New Roman" pitchFamily="18" charset="0"/>
              </a:rPr>
              <a:t>explicitly. 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Also, members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10" dirty="0" err="1">
                <a:latin typeface="Times New Roman" pitchFamily="18" charset="0"/>
                <a:cs typeface="Times New Roman" pitchFamily="18" charset="0"/>
              </a:rPr>
              <a:t>subpackage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no access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privileges,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i.e.,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they  are considered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protected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default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specifiers.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700" indent="0" algn="just">
              <a:lnSpc>
                <a:spcPts val="2110"/>
              </a:lnSpc>
              <a:buNone/>
            </a:pP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      Example</a:t>
            </a:r>
            <a:r>
              <a:rPr lang="en-US" sz="2400" b="1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spc="-10" dirty="0" err="1">
                <a:latin typeface="Times New Roman" pitchFamily="18" charset="0"/>
                <a:cs typeface="Times New Roman" pitchFamily="18" charset="0"/>
              </a:rPr>
              <a:t>java.util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.*;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27000" indent="0" algn="just">
              <a:buNone/>
              <a:tabLst>
                <a:tab pos="354965" algn="l"/>
                <a:tab pos="355600" algn="l"/>
              </a:tabLst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                      util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sz="2400" spc="-15" dirty="0" err="1">
                <a:latin typeface="Times New Roman" pitchFamily="18" charset="0"/>
                <a:cs typeface="Times New Roman" pitchFamily="18" charset="0"/>
              </a:rPr>
              <a:t>subpackage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 created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inside </a:t>
            </a:r>
            <a:r>
              <a:rPr lang="en-US" sz="2400" b="1" spc="-25" dirty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en-US" sz="2400" b="1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package.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F62E45-F014-456A-A938-8F53C24F5287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49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74E7DE-A11C-4B5D-986F-111BFE9C3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60" y="1360804"/>
            <a:ext cx="10027920" cy="48977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Built-in</a:t>
            </a:r>
            <a:r>
              <a:rPr lang="en-US" sz="20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5" dirty="0">
                <a:latin typeface="Times New Roman" pitchFamily="18" charset="0"/>
                <a:cs typeface="Times New Roman" pitchFamily="18" charset="0"/>
              </a:rPr>
              <a:t>Packages</a:t>
            </a:r>
          </a:p>
          <a:p>
            <a:pPr marL="0" marR="5080" indent="0" algn="just">
              <a:lnSpc>
                <a:spcPct val="80000"/>
              </a:lnSpc>
              <a:buNone/>
              <a:tabLst>
                <a:tab pos="910590" algn="l"/>
                <a:tab pos="1930400" algn="l"/>
                <a:tab pos="3616325" algn="l"/>
                <a:tab pos="4768850" algn="l"/>
                <a:tab pos="6141720" algn="l"/>
                <a:tab pos="7694930" algn="l"/>
              </a:tabLs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marR="5080" indent="0" algn="just">
              <a:lnSpc>
                <a:spcPct val="80000"/>
              </a:lnSpc>
              <a:buNone/>
              <a:tabLst>
                <a:tab pos="910590" algn="l"/>
                <a:tab pos="1930400" algn="l"/>
                <a:tab pos="3616325" algn="l"/>
                <a:tab pos="4768850" algn="l"/>
                <a:tab pos="6141720" algn="l"/>
                <a:tab pos="7694930" algn="l"/>
              </a:tabLst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packages consist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large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of classes which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part of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J  Java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API. Some  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 the </a:t>
            </a:r>
            <a:r>
              <a:rPr lang="en-US" sz="2000" spc="-2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ommo</a:t>
            </a:r>
            <a:r>
              <a:rPr lang="en-US" sz="2000" spc="15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sed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ui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t-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pac</a:t>
            </a:r>
            <a:r>
              <a:rPr lang="en-US" sz="2000" spc="-45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es a</a:t>
            </a:r>
            <a:r>
              <a:rPr lang="en-US" sz="2000" spc="-3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13335" marR="5080" algn="just">
              <a:lnSpc>
                <a:spcPct val="80000"/>
              </a:lnSpc>
              <a:buFont typeface="Carlito"/>
              <a:buAutoNum type="arabicParenR"/>
              <a:tabLst>
                <a:tab pos="292735" algn="l"/>
              </a:tabLst>
            </a:pPr>
            <a:r>
              <a:rPr lang="en-US" sz="2000" spc="-10" dirty="0" err="1">
                <a:latin typeface="Times New Roman" pitchFamily="18" charset="0"/>
                <a:cs typeface="Times New Roman" pitchFamily="18" charset="0"/>
              </a:rPr>
              <a:t>java.lang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: Contains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language support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classes(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classed which defines primitive 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types,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math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operations).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automatically</a:t>
            </a:r>
            <a:r>
              <a:rPr lang="en-US" sz="2000" spc="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imported.</a:t>
            </a:r>
          </a:p>
          <a:p>
            <a:pPr marL="304165" indent="-291465" algn="just">
              <a:lnSpc>
                <a:spcPct val="100000"/>
              </a:lnSpc>
              <a:buFont typeface="Carlito"/>
              <a:buAutoNum type="arabicParenR"/>
              <a:tabLst>
                <a:tab pos="304800" algn="l"/>
              </a:tabLst>
            </a:pP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java.io: Contains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classed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supporting input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sz="2000" spc="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operations.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3335" marR="5715" algn="just">
              <a:lnSpc>
                <a:spcPct val="80000"/>
              </a:lnSpc>
              <a:buFont typeface="Carlito"/>
              <a:buAutoNum type="arabicParenR"/>
              <a:tabLst>
                <a:tab pos="340360" algn="l"/>
                <a:tab pos="340995" algn="l"/>
              </a:tabLst>
            </a:pPr>
            <a:r>
              <a:rPr lang="en-US" sz="2000" spc="-10" dirty="0" err="1">
                <a:latin typeface="Times New Roman" pitchFamily="18" charset="0"/>
                <a:cs typeface="Times New Roman" pitchFamily="18" charset="0"/>
              </a:rPr>
              <a:t>java.util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: Contains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utility classes which implement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structures </a:t>
            </a:r>
            <a:r>
              <a:rPr lang="en-US" sz="2000" spc="-20" dirty="0">
                <a:latin typeface="Times New Roman" pitchFamily="18" charset="0"/>
                <a:cs typeface="Times New Roman" pitchFamily="18" charset="0"/>
              </a:rPr>
              <a:t>like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Linked List, 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Dictionary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support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for Date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sz="2000" spc="1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operations.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198755" indent="-186055" algn="just">
              <a:lnSpc>
                <a:spcPct val="100000"/>
              </a:lnSpc>
              <a:buFont typeface="Carlito"/>
              <a:buAutoNum type="arabicParenR"/>
              <a:tabLst>
                <a:tab pos="199390" algn="l"/>
              </a:tabLst>
            </a:pP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  java.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Applet: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Contains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creating</a:t>
            </a:r>
            <a:r>
              <a:rPr lang="en-US" sz="20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Applets.</a:t>
            </a:r>
          </a:p>
          <a:p>
            <a:pPr marL="396875" indent="-384175" algn="just">
              <a:lnSpc>
                <a:spcPts val="1945"/>
              </a:lnSpc>
              <a:spcBef>
                <a:spcPts val="5"/>
              </a:spcBef>
              <a:buFont typeface="Carlito"/>
              <a:buAutoNum type="arabicParenR"/>
              <a:tabLst>
                <a:tab pos="396875" algn="l"/>
                <a:tab pos="397510" algn="l"/>
              </a:tabLst>
            </a:pPr>
            <a:r>
              <a:rPr lang="en-US" sz="2000" spc="-10" dirty="0" err="1">
                <a:latin typeface="Times New Roman" pitchFamily="18" charset="0"/>
                <a:cs typeface="Times New Roman" pitchFamily="18" charset="0"/>
              </a:rPr>
              <a:t>java.awt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: Contain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000" spc="-2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implementing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components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graphical</a:t>
            </a:r>
            <a:r>
              <a:rPr lang="en-US" sz="2000" spc="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user</a:t>
            </a:r>
          </a:p>
          <a:p>
            <a:pPr marL="0" indent="0" algn="just">
              <a:lnSpc>
                <a:spcPts val="1945"/>
              </a:lnSpc>
              <a:buNone/>
            </a:pP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        interfaces </a:t>
            </a:r>
            <a:r>
              <a:rPr lang="en-US" sz="2000" spc="-20" dirty="0">
                <a:latin typeface="Times New Roman" pitchFamily="18" charset="0"/>
                <a:cs typeface="Times New Roman" pitchFamily="18" charset="0"/>
              </a:rPr>
              <a:t>(like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button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menus</a:t>
            </a:r>
            <a:r>
              <a:rPr lang="en-US" sz="20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etc.).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04165" indent="-291465" algn="just">
              <a:lnSpc>
                <a:spcPct val="100000"/>
              </a:lnSpc>
              <a:buFont typeface="Carlito"/>
              <a:buAutoNum type="arabicParenR" startAt="6"/>
              <a:tabLst>
                <a:tab pos="304800" algn="l"/>
              </a:tabLst>
            </a:pP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java.net: Contain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supporting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networking</a:t>
            </a:r>
            <a:r>
              <a:rPr lang="en-US" sz="2000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operations.</a:t>
            </a:r>
          </a:p>
          <a:p>
            <a:pPr algn="just"/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1B66A-626B-4901-B8D2-173C26791D00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1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795A-7A8C-3001-1630-798D5A313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253206"/>
            <a:ext cx="6461760" cy="1325563"/>
          </a:xfrm>
        </p:spPr>
        <p:txBody>
          <a:bodyPr/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Built-in</a:t>
            </a:r>
            <a:r>
              <a:rPr lang="en-US" sz="4400" b="1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spc="-15" dirty="0">
                <a:latin typeface="Times New Roman" pitchFamily="18" charset="0"/>
                <a:cs typeface="Times New Roman" pitchFamily="18" charset="0"/>
              </a:rPr>
              <a:t>Packages in Java</a:t>
            </a:r>
            <a:br>
              <a:rPr lang="en-US" sz="4400" b="1" spc="-15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C4CE-755E-9292-2919-F061EC8C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089C2-092E-F8DA-A043-C5CF8C6F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 descr="Packages in Java with Example Program - Scientech Easy">
            <a:extLst>
              <a:ext uri="{FF2B5EF4-FFF2-40B4-BE49-F238E27FC236}">
                <a16:creationId xmlns:a16="http://schemas.microsoft.com/office/drawing/2014/main" id="{91577D3E-F3F5-14AF-6877-CFFAF8549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199" y="1281113"/>
            <a:ext cx="7146241" cy="50752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4752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3F85A2-2C34-49DD-9697-D87E75C8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575"/>
              </a:spcBef>
              <a:buNone/>
            </a:pPr>
            <a:r>
              <a:rPr lang="en-US" sz="2400" b="1" spc="-5" dirty="0">
                <a:latin typeface="Times New Roman" pitchFamily="18" charset="0"/>
                <a:cs typeface="Times New Roman" pitchFamily="18" charset="0"/>
              </a:rPr>
              <a:t>User-defined</a:t>
            </a:r>
            <a:r>
              <a:rPr lang="en-US" sz="2400" b="1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packages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marR="231775" indent="0" algn="just">
              <a:lnSpc>
                <a:spcPct val="100000"/>
              </a:lnSpc>
              <a:spcBef>
                <a:spcPts val="480"/>
              </a:spcBef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lnSpc>
                <a:spcPct val="100000"/>
              </a:lnSpc>
              <a:spcBef>
                <a:spcPts val="5"/>
              </a:spcBef>
            </a:pP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packages that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defined by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45" dirty="0">
                <a:latin typeface="Times New Roman" pitchFamily="18" charset="0"/>
                <a:cs typeface="Times New Roman" pitchFamily="18" charset="0"/>
              </a:rPr>
              <a:t>user.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we create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directory </a:t>
            </a:r>
            <a:r>
              <a:rPr lang="en-US" sz="2400" b="1" spc="-20" dirty="0" err="1">
                <a:latin typeface="Times New Roman" pitchFamily="18" charset="0"/>
                <a:cs typeface="Times New Roman" pitchFamily="18" charset="0"/>
              </a:rPr>
              <a:t>myPackage</a:t>
            </a:r>
            <a:r>
              <a:rPr lang="en-US" sz="2400" b="1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(name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should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same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 the name  of the</a:t>
            </a:r>
            <a:r>
              <a:rPr lang="en-US"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package).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55600" algn="just"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MyClass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inside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directory with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spc="-20" dirty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US" sz="2400" spc="-15" dirty="0">
                <a:latin typeface="Times New Roman" pitchFamily="18" charset="0"/>
                <a:cs typeface="Times New Roman" pitchFamily="18" charset="0"/>
              </a:rPr>
              <a:t>statement  </a:t>
            </a:r>
            <a:r>
              <a:rPr lang="en-US" sz="2400" spc="-5" dirty="0">
                <a:latin typeface="Times New Roman" pitchFamily="18" charset="0"/>
                <a:cs typeface="Times New Roman" pitchFamily="18" charset="0"/>
              </a:rPr>
              <a:t>being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b="1" spc="-10" dirty="0"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names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2321B-10F0-47DA-87F4-D46FC64A8FDE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207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9BF6FE-A6BA-49F0-8C9E-61C0008B3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497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sz="2000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three </a:t>
            </a:r>
            <a:r>
              <a:rPr lang="en-US" sz="2000" spc="-1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ways </a:t>
            </a:r>
            <a:r>
              <a:rPr lang="en-US" sz="2000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access </a:t>
            </a:r>
            <a:r>
              <a:rPr lang="en-US" sz="2000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package </a:t>
            </a:r>
            <a:r>
              <a:rPr lang="en-US" sz="2000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outside </a:t>
            </a:r>
            <a:r>
              <a:rPr lang="en-US" sz="2000" spc="-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25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package.</a:t>
            </a:r>
          </a:p>
          <a:p>
            <a:pPr marL="469900" indent="-337185">
              <a:lnSpc>
                <a:spcPct val="100000"/>
              </a:lnSpc>
              <a:spcBef>
                <a:spcPts val="139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package.*;</a:t>
            </a:r>
          </a:p>
          <a:p>
            <a:pPr marL="469900" indent="-33718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en-US" sz="2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package.classname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69900" indent="-337185">
              <a:lnSpc>
                <a:spcPct val="100000"/>
              </a:lnSpc>
              <a:spcBef>
                <a:spcPts val="14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fully qualified</a:t>
            </a:r>
            <a:r>
              <a:rPr lang="en-US"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en-US" sz="20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packagename.*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18465" indent="-285750">
              <a:spcBef>
                <a:spcPts val="1405"/>
              </a:spcBef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US" sz="2000" spc="2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sz="2000" spc="245" dirty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en-US" sz="2000" spc="2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package.*</a:t>
            </a:r>
            <a:r>
              <a:rPr lang="en-US" sz="20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then</a:t>
            </a:r>
            <a:r>
              <a:rPr lang="en-US" sz="2000" spc="2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2000"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classes</a:t>
            </a:r>
            <a:r>
              <a:rPr lang="en-US" sz="2000"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interfaces</a:t>
            </a:r>
            <a:r>
              <a:rPr lang="en-US" sz="2000" spc="2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000"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sz="2000"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package</a:t>
            </a:r>
            <a:r>
              <a:rPr lang="en-US" sz="2000" spc="2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will</a:t>
            </a:r>
            <a:r>
              <a:rPr lang="en-US" sz="2000"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accessible but not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subpackages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18465" marR="5715" indent="-285750">
              <a:spcBef>
                <a:spcPts val="1390"/>
              </a:spcBef>
              <a:tabLst>
                <a:tab pos="469265" algn="l"/>
                <a:tab pos="469900" algn="l"/>
              </a:tabLst>
            </a:pP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keyword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used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make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classes and interface of another package  accessible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current</a:t>
            </a:r>
            <a:r>
              <a:rPr lang="en-US" sz="20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package.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5E331-BA6B-4486-A3A5-DBA0461119AD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6630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08A7D0-33C3-4272-9CE2-336D1C15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80" y="1462404"/>
            <a:ext cx="9428480" cy="46843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en-US" sz="2000" b="1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packagename.classname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18465" marR="7620" indent="-285750" algn="just">
              <a:spcBef>
                <a:spcPts val="1595"/>
              </a:spcBef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If you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package.classname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declared class of this package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  accessible.</a:t>
            </a:r>
          </a:p>
          <a:p>
            <a:pPr marL="0" indent="0" algn="just">
              <a:lnSpc>
                <a:spcPct val="100000"/>
              </a:lnSpc>
              <a:spcBef>
                <a:spcPts val="1595"/>
              </a:spcBef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2000" b="1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fully qualified</a:t>
            </a:r>
            <a:r>
              <a:rPr lang="en-US" sz="2000" b="1" spc="2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18465" marR="7620" indent="-285750" algn="just">
              <a:spcBef>
                <a:spcPts val="1610"/>
              </a:spcBef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If you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fully qualified name then </a:t>
            </a: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declared class of this package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will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  accessible.</a:t>
            </a:r>
          </a:p>
          <a:p>
            <a:pPr marL="418465" indent="-285750" algn="just">
              <a:spcBef>
                <a:spcPts val="1595"/>
              </a:spcBef>
              <a:tabLst>
                <a:tab pos="469265" algn="l"/>
                <a:tab pos="469900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Now</a:t>
            </a:r>
            <a:r>
              <a:rPr lang="en-US" sz="20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there</a:t>
            </a:r>
            <a:r>
              <a:rPr lang="en-US" sz="2000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sz="2000" spc="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sz="2000" spc="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need</a:t>
            </a:r>
            <a:r>
              <a:rPr lang="en-US" sz="2000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spc="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import.</a:t>
            </a:r>
            <a:r>
              <a:rPr lang="en-US" sz="2000" spc="1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5" dirty="0">
                <a:latin typeface="Times New Roman" pitchFamily="18" charset="0"/>
                <a:cs typeface="Times New Roman" pitchFamily="18" charset="0"/>
              </a:rPr>
              <a:t>But</a:t>
            </a:r>
            <a:r>
              <a:rPr lang="en-US" sz="2000" spc="2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you</a:t>
            </a:r>
            <a:r>
              <a:rPr lang="en-US" sz="2000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need</a:t>
            </a:r>
            <a:r>
              <a:rPr lang="en-US" sz="2000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en-US" sz="2000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fully</a:t>
            </a:r>
            <a:r>
              <a:rPr lang="en-US" sz="2000" spc="1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qualified</a:t>
            </a:r>
            <a:r>
              <a:rPr lang="en-US" sz="2000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2000" spc="204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every</a:t>
            </a:r>
          </a:p>
          <a:p>
            <a:pPr marL="412750" indent="-285750" algn="just">
              <a:spcBef>
                <a:spcPts val="5"/>
              </a:spcBef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time when </a:t>
            </a:r>
            <a:r>
              <a:rPr lang="en-US" sz="2000" spc="-10" dirty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are accessing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 or</a:t>
            </a:r>
            <a:r>
              <a:rPr lang="en-US" sz="2000" spc="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interface.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18465" marR="7620" indent="-285750" algn="just">
              <a:spcBef>
                <a:spcPts val="1595"/>
              </a:spcBef>
              <a:tabLst>
                <a:tab pos="469265" algn="l"/>
                <a:tab pos="469900" algn="l"/>
              </a:tabLst>
            </a:pP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generally used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when two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packages have same class name e.g.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java.util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java.sql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packages contain </a:t>
            </a:r>
            <a:r>
              <a:rPr lang="en-US" sz="2000" spc="-5" dirty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en-US" sz="20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class.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0B887-CC67-48F9-B544-01A20EB7EBDE}"/>
              </a:ext>
            </a:extLst>
          </p:cNvPr>
          <p:cNvSpPr txBox="1"/>
          <p:nvPr/>
        </p:nvSpPr>
        <p:spPr>
          <a:xfrm>
            <a:off x="944880" y="4775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409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6B2E21-32FB-4495-9EE7-D216BC6A565A}"/>
              </a:ext>
            </a:extLst>
          </p:cNvPr>
          <p:cNvSpPr/>
          <p:nvPr/>
        </p:nvSpPr>
        <p:spPr>
          <a:xfrm>
            <a:off x="396240" y="1651000"/>
            <a:ext cx="9560560" cy="442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2700" algn="just">
              <a:spcBef>
                <a:spcPts val="95"/>
              </a:spcBef>
            </a:pPr>
            <a:endParaRPr lang="en-US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spcBef>
                <a:spcPts val="95"/>
              </a:spcBef>
            </a:pP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must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</a:t>
            </a:r>
            <a:r>
              <a:rPr lang="en-US" sz="20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997835" algn="just"/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this file is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 </a:t>
            </a:r>
          </a:p>
          <a:p>
            <a:pPr marL="12700" marR="2997835" algn="just"/>
            <a:endParaRPr lang="en-US" sz="2000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997835" algn="just"/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myPackage</a:t>
            </a:r>
            <a:r>
              <a:rPr lang="en-US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/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/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180" algn="just">
              <a:spcBef>
                <a:spcPts val="5"/>
              </a:spcBef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getNames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</a:t>
            </a:r>
            <a:r>
              <a:rPr lang="en-US" sz="2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180" algn="just"/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4200" algn="just"/>
            <a:r>
              <a:rPr lang="en-US" sz="20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180" algn="just"/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/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8F41-FBB0-4DD7-969D-7C680ABD3D6E}"/>
              </a:ext>
            </a:extLst>
          </p:cNvPr>
          <p:cNvSpPr txBox="1"/>
          <p:nvPr/>
        </p:nvSpPr>
        <p:spPr>
          <a:xfrm>
            <a:off x="995680" y="3759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974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B0E89C-736E-48DF-A75A-15463BBAF294}"/>
              </a:ext>
            </a:extLst>
          </p:cNvPr>
          <p:cNvSpPr/>
          <p:nvPr/>
        </p:nvSpPr>
        <p:spPr>
          <a:xfrm>
            <a:off x="670560" y="1066801"/>
            <a:ext cx="10525760" cy="534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700">
              <a:spcBef>
                <a:spcPts val="95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can use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n-US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import '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class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'names' </a:t>
            </a:r>
            <a:r>
              <a:rPr lang="en-US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myPackage</a:t>
            </a:r>
            <a:r>
              <a:rPr lang="en-US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myPackage.MyClass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113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void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main(String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113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the String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with a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name =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class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the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 =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290"/>
            <a:r>
              <a:rPr lang="en-US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obj.getNames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113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1540"/>
              </a:lnSpc>
              <a:spcBef>
                <a:spcPts val="370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MyClass.java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US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</a:t>
            </a:r>
            <a:r>
              <a:rPr lang="en-US" b="1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myPackage</a:t>
            </a:r>
            <a:r>
              <a:rPr lang="en-US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is a part of the 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43E40-3A90-42A3-9844-85A3AA4D7742}"/>
              </a:ext>
            </a:extLst>
          </p:cNvPr>
          <p:cNvSpPr txBox="1"/>
          <p:nvPr/>
        </p:nvSpPr>
        <p:spPr>
          <a:xfrm>
            <a:off x="995680" y="325120"/>
            <a:ext cx="9194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127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QUIZ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433387" y="1454335"/>
            <a:ext cx="8111006" cy="5293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600" dirty="0">
                <a:latin typeface="+mj-lt"/>
                <a:cs typeface="Times New Roman" pitchFamily="18" charset="0"/>
              </a:rPr>
              <a:t>Ques 1. Which is true about an anonymous inner class?</a:t>
            </a:r>
          </a:p>
          <a:p>
            <a:endParaRPr lang="en-US" sz="2600" dirty="0">
              <a:latin typeface="+mj-lt"/>
              <a:cs typeface="Times New Roman" pitchFamily="18" charset="0"/>
            </a:endParaRPr>
          </a:p>
          <a:p>
            <a:r>
              <a:rPr lang="en-US" sz="2600" dirty="0" err="1">
                <a:latin typeface="+mj-lt"/>
                <a:cs typeface="Times New Roman" pitchFamily="18" charset="0"/>
              </a:rPr>
              <a:t>A.It</a:t>
            </a:r>
            <a:r>
              <a:rPr lang="en-US" sz="2600" dirty="0">
                <a:latin typeface="+mj-lt"/>
                <a:cs typeface="Times New Roman" pitchFamily="18" charset="0"/>
              </a:rPr>
              <a:t> can extend exactly one class and implement </a:t>
            </a:r>
          </a:p>
          <a:p>
            <a:r>
              <a:rPr lang="en-US" sz="2600" dirty="0">
                <a:latin typeface="+mj-lt"/>
                <a:cs typeface="Times New Roman" pitchFamily="18" charset="0"/>
              </a:rPr>
              <a:t>exactly one interface.</a:t>
            </a:r>
          </a:p>
          <a:p>
            <a:endParaRPr lang="en-US" sz="2600" dirty="0">
              <a:latin typeface="+mj-lt"/>
              <a:cs typeface="Times New Roman" pitchFamily="18" charset="0"/>
            </a:endParaRPr>
          </a:p>
          <a:p>
            <a:r>
              <a:rPr lang="en-US" sz="2600" dirty="0" err="1">
                <a:latin typeface="+mj-lt"/>
                <a:cs typeface="Times New Roman" pitchFamily="18" charset="0"/>
              </a:rPr>
              <a:t>B.It</a:t>
            </a:r>
            <a:r>
              <a:rPr lang="en-US" sz="2600" dirty="0">
                <a:latin typeface="+mj-lt"/>
                <a:cs typeface="Times New Roman" pitchFamily="18" charset="0"/>
              </a:rPr>
              <a:t> can extend exactly one class and can implement multiple interfaces.</a:t>
            </a:r>
          </a:p>
          <a:p>
            <a:endParaRPr lang="en-US" sz="2600" dirty="0">
              <a:latin typeface="+mj-lt"/>
              <a:cs typeface="Times New Roman" pitchFamily="18" charset="0"/>
            </a:endParaRPr>
          </a:p>
          <a:p>
            <a:r>
              <a:rPr lang="en-US" sz="2600" dirty="0" err="1">
                <a:latin typeface="+mj-lt"/>
                <a:cs typeface="Times New Roman" pitchFamily="18" charset="0"/>
              </a:rPr>
              <a:t>C.It</a:t>
            </a:r>
            <a:r>
              <a:rPr lang="en-US" sz="2600" dirty="0">
                <a:latin typeface="+mj-lt"/>
                <a:cs typeface="Times New Roman" pitchFamily="18" charset="0"/>
              </a:rPr>
              <a:t> can extend exactly one class or implement exactly one interface.</a:t>
            </a:r>
          </a:p>
          <a:p>
            <a:endParaRPr lang="en-US" sz="2600" dirty="0">
              <a:latin typeface="+mj-lt"/>
              <a:cs typeface="Times New Roman" pitchFamily="18" charset="0"/>
            </a:endParaRPr>
          </a:p>
          <a:p>
            <a:r>
              <a:rPr lang="en-US" sz="2600" dirty="0" err="1">
                <a:latin typeface="+mj-lt"/>
                <a:cs typeface="Times New Roman" pitchFamily="18" charset="0"/>
              </a:rPr>
              <a:t>D.It</a:t>
            </a:r>
            <a:r>
              <a:rPr lang="en-US" sz="2600" dirty="0">
                <a:latin typeface="+mj-lt"/>
                <a:cs typeface="Times New Roman" pitchFamily="18" charset="0"/>
              </a:rPr>
              <a:t> can implement multiple interfaces regardless of whether it also extends a class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800"/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QUIZ: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539291" y="1300407"/>
            <a:ext cx="7575551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Which of the following is an incorrect statement about packages?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Package defines a namespace in which classes are stored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 package can contain other package within it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Java uses file system directories to store packages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 package can be renamed without renaming the directory in which the classes are stored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303012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Summary: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session, you were able to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 about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classes and its types.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with 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References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724975" y="1683962"/>
            <a:ext cx="757555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Books: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Java.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2. A Primer,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E.Balaguruswamy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Programming with Java, Tata McGraw Hill Companies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 John P. Flynt Thomson, Java Programming.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Video Lectures :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https://www.youtube.com/watch?v=V7yVbG9_xkM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2054" y="94089"/>
            <a:ext cx="410563" cy="1538089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502234"/>
                </p:ext>
              </p:extLst>
            </p:nvPr>
          </p:nvGraphicFramePr>
          <p:xfrm>
            <a:off x="100850" y="246475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50" y="246475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371</TotalTime>
  <Words>1632</Words>
  <Application>Microsoft Office PowerPoint</Application>
  <PresentationFormat>Widescreen</PresentationFormat>
  <Paragraphs>212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Carlito</vt:lpstr>
      <vt:lpstr>Casper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Lecture Objectives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Built-in Packages in Java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  <vt:lpstr>QUIZ: </vt:lpstr>
      <vt:lpstr>Summary: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97</cp:revision>
  <dcterms:created xsi:type="dcterms:W3CDTF">2019-01-09T10:33:58Z</dcterms:created>
  <dcterms:modified xsi:type="dcterms:W3CDTF">2024-12-23T08:47:43Z</dcterms:modified>
</cp:coreProperties>
</file>