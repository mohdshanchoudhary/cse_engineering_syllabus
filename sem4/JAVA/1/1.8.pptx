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5"/>
  </p:notesMasterIdLst>
  <p:handoutMasterIdLst>
    <p:handoutMasterId r:id="rId26"/>
  </p:handoutMasterIdLst>
  <p:sldIdLst>
    <p:sldId id="287" r:id="rId3"/>
    <p:sldId id="281" r:id="rId4"/>
    <p:sldId id="418" r:id="rId5"/>
    <p:sldId id="419" r:id="rId6"/>
    <p:sldId id="443" r:id="rId7"/>
    <p:sldId id="444" r:id="rId8"/>
    <p:sldId id="435" r:id="rId9"/>
    <p:sldId id="328" r:id="rId10"/>
    <p:sldId id="432" r:id="rId11"/>
    <p:sldId id="433" r:id="rId12"/>
    <p:sldId id="434" r:id="rId13"/>
    <p:sldId id="436" r:id="rId14"/>
    <p:sldId id="437" r:id="rId15"/>
    <p:sldId id="445" r:id="rId16"/>
    <p:sldId id="439" r:id="rId17"/>
    <p:sldId id="440" r:id="rId18"/>
    <p:sldId id="441" r:id="rId19"/>
    <p:sldId id="398" r:id="rId20"/>
    <p:sldId id="410" r:id="rId21"/>
    <p:sldId id="408" r:id="rId22"/>
    <p:sldId id="409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75" d="100"/>
          <a:sy n="75" d="100"/>
        </p:scale>
        <p:origin x="917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8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ZDApgnufSI" TargetMode="External"/><Relationship Id="rId2" Type="http://schemas.openxmlformats.org/officeDocument/2006/relationships/hyperlink" Target="https://www.youtube.com/watch?v=eKoJiCUFEl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2908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127857" y="2051945"/>
            <a:ext cx="9063318" cy="538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: CSE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(20CST-218)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3B967-41CC-4702-9A6A-3CAB326C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041" y="4392889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OF PRESENTATION: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6DB94B-BA01-4C3C-92C8-ABB949BCB39B}"/>
              </a:ext>
            </a:extLst>
          </p:cNvPr>
          <p:cNvSpPr txBox="1"/>
          <p:nvPr/>
        </p:nvSpPr>
        <p:spPr>
          <a:xfrm>
            <a:off x="4285398" y="4746004"/>
            <a:ext cx="365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Java 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79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263" y="1840230"/>
            <a:ext cx="4322762" cy="451612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lecture, we will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and super keyword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00722" y="50165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/>
              <a:t>Lecture Objectives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262" y="1611630"/>
            <a:ext cx="4322762" cy="474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B9F60-C0EA-46DF-90E1-77B6313A8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890"/>
            <a:ext cx="43053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45920" y="169068"/>
            <a:ext cx="8955405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Constructors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>
            <a:normAutofit/>
          </a:bodyPr>
          <a:lstStyle/>
          <a:p>
            <a:r>
              <a:rPr lang="en-US" dirty="0"/>
              <a:t>A constructor in Java is a </a:t>
            </a:r>
            <a:r>
              <a:rPr lang="en-US" b="1" dirty="0"/>
              <a:t>special method</a:t>
            </a:r>
            <a:r>
              <a:rPr lang="en-US" dirty="0"/>
              <a:t> that is used to initialize objects. The constructor is called when an object of a class is created. </a:t>
            </a:r>
          </a:p>
          <a:p>
            <a:r>
              <a:rPr lang="en-US" dirty="0"/>
              <a:t>Constructor is </a:t>
            </a:r>
            <a:r>
              <a:rPr lang="en-US" b="1" dirty="0"/>
              <a:t>automatically invoked </a:t>
            </a:r>
            <a:r>
              <a:rPr lang="en-US" dirty="0"/>
              <a:t>whenever an object of the class is created.</a:t>
            </a:r>
          </a:p>
          <a:p>
            <a:r>
              <a:rPr lang="en-US" dirty="0"/>
              <a:t> At the time of calling the constructor, </a:t>
            </a:r>
            <a:r>
              <a:rPr lang="en-US" b="1" dirty="0"/>
              <a:t>memory for the object is allocated in the memory.</a:t>
            </a:r>
          </a:p>
          <a:p>
            <a:r>
              <a:rPr lang="en-US" b="1" dirty="0"/>
              <a:t>Rules to define a constructor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 constructor has the same name as the class name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 constructor should not have a return type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Constructors are called only once at the time of Object creation while method(s) can be called any number of times.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 class can contain more than one constructor, So it can be overloaded.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Example of constructor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" y="1687506"/>
            <a:ext cx="11186160" cy="4652333"/>
          </a:xfrm>
          <a:prstGeom prst="rect">
            <a:avLst/>
          </a:prstGeom>
          <a:noFill/>
          <a:ln w="50800">
            <a:solidFill>
              <a:schemeClr val="accent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230"/>
          </a:xfrm>
        </p:spPr>
        <p:txBody>
          <a:bodyPr>
            <a:normAutofit fontScale="90000"/>
          </a:bodyPr>
          <a:lstStyle/>
          <a:p>
            <a:pPr algn="ctr" fontAlgn="base"/>
            <a:br>
              <a:rPr lang="en-US" dirty="0">
                <a:latin typeface="+mn-lt"/>
              </a:rPr>
            </a:b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Two types of constructors in java: 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ED8137"/>
                </a:highlight>
              </a:rPr>
              <a:t>No-argument constructor (Default constructor):</a:t>
            </a:r>
          </a:p>
          <a:p>
            <a:pPr marL="0" indent="0">
              <a:buNone/>
            </a:pPr>
            <a:r>
              <a:rPr lang="en-US" dirty="0"/>
              <a:t>If we don’t define a constructor in a class, then the compiler creates a </a:t>
            </a:r>
            <a:r>
              <a:rPr lang="en-US" b="1" dirty="0"/>
              <a:t>default constructor(with no arguments)</a:t>
            </a:r>
            <a:r>
              <a:rPr lang="en-US" dirty="0"/>
              <a:t> for the class. And if we write a constructor with arguments or no arguments then the compiler does not create a default constructor. </a:t>
            </a:r>
          </a:p>
          <a:p>
            <a:r>
              <a:rPr lang="en-US" dirty="0">
                <a:highlight>
                  <a:srgbClr val="ED8137"/>
                </a:highlight>
              </a:rPr>
              <a:t>Parameterized Constructor:</a:t>
            </a:r>
          </a:p>
          <a:p>
            <a:pPr marL="0" indent="0">
              <a:buNone/>
            </a:pPr>
            <a:r>
              <a:rPr lang="en-US" dirty="0"/>
              <a:t>A constructor that has parameters is known as parameterized constructor. If we want to initialize fields of the class with our own values, then use a parameterized constructor.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1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484"/>
            <a:ext cx="5011996" cy="645651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1800" b="1" dirty="0"/>
              <a:t>//Default  constructor</a:t>
            </a:r>
          </a:p>
          <a:p>
            <a:pPr marL="0" indent="0" fontAlgn="base">
              <a:buNone/>
            </a:pPr>
            <a:r>
              <a:rPr lang="en-US" sz="1800" dirty="0"/>
              <a:t>import java.io.*;</a:t>
            </a:r>
          </a:p>
          <a:p>
            <a:pPr marL="0" indent="0" fontAlgn="base">
              <a:buNone/>
            </a:pPr>
            <a:r>
              <a:rPr lang="en-US" sz="1800" dirty="0"/>
              <a:t> class Geek {</a:t>
            </a:r>
          </a:p>
          <a:p>
            <a:pPr marL="0" indent="0" fontAlgn="base">
              <a:buNone/>
            </a:pPr>
            <a:r>
              <a:rPr lang="en-US" sz="1800" dirty="0"/>
              <a:t>    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num</a:t>
            </a:r>
            <a:r>
              <a:rPr lang="en-US" sz="1800" dirty="0"/>
              <a:t>;</a:t>
            </a:r>
          </a:p>
          <a:p>
            <a:pPr marL="0" indent="0" fontAlgn="base">
              <a:buNone/>
            </a:pPr>
            <a:r>
              <a:rPr lang="en-US" sz="1800" dirty="0"/>
              <a:t>    String name;</a:t>
            </a:r>
          </a:p>
          <a:p>
            <a:pPr marL="0" indent="0" fontAlgn="base">
              <a:buNone/>
            </a:pPr>
            <a:r>
              <a:rPr lang="en-US" sz="1800" dirty="0"/>
              <a:t> Geek() { </a:t>
            </a:r>
            <a:r>
              <a:rPr lang="en-US" sz="1800" dirty="0" err="1"/>
              <a:t>System.out.println</a:t>
            </a:r>
            <a:r>
              <a:rPr lang="en-US" sz="1800" dirty="0"/>
              <a:t>("Constructor called"); }</a:t>
            </a:r>
          </a:p>
          <a:p>
            <a:pPr marL="0" indent="0" fontAlgn="base">
              <a:buNone/>
            </a:pPr>
            <a:r>
              <a:rPr lang="en-US" sz="1800" dirty="0"/>
              <a:t>}</a:t>
            </a:r>
          </a:p>
          <a:p>
            <a:pPr marL="0" indent="0" fontAlgn="base">
              <a:buNone/>
            </a:pPr>
            <a:r>
              <a:rPr lang="en-US" sz="1800" dirty="0"/>
              <a:t>class GFG {</a:t>
            </a:r>
          </a:p>
          <a:p>
            <a:pPr marL="0" indent="0" fontAlgn="base">
              <a:buNone/>
            </a:pPr>
            <a:r>
              <a:rPr lang="en-US" sz="1800" dirty="0"/>
              <a:t>    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    {</a:t>
            </a:r>
          </a:p>
          <a:p>
            <a:pPr marL="0" indent="0" fontAlgn="base">
              <a:buNone/>
            </a:pPr>
            <a:r>
              <a:rPr lang="en-US" sz="1800" dirty="0"/>
              <a:t>        Geek geek1 = new Geek(); </a:t>
            </a:r>
          </a:p>
          <a:p>
            <a:pPr marL="0" indent="0" fontAlgn="base">
              <a:buNone/>
            </a:pPr>
            <a:r>
              <a:rPr lang="en-US" sz="1800" dirty="0"/>
              <a:t>            </a:t>
            </a:r>
            <a:r>
              <a:rPr lang="en-US" sz="1800" dirty="0" err="1"/>
              <a:t>System.out.println</a:t>
            </a:r>
            <a:r>
              <a:rPr lang="en-US" sz="1800" dirty="0"/>
              <a:t>(geek1.name);</a:t>
            </a:r>
          </a:p>
          <a:p>
            <a:pPr marL="0" indent="0" fontAlgn="base">
              <a:buNone/>
            </a:pPr>
            <a:r>
              <a:rPr lang="en-US" sz="1800" dirty="0"/>
              <a:t>        </a:t>
            </a:r>
            <a:r>
              <a:rPr lang="en-US" sz="1800" dirty="0" err="1"/>
              <a:t>System.out.println</a:t>
            </a:r>
            <a:r>
              <a:rPr lang="en-US" sz="1800" dirty="0"/>
              <a:t>(geek1.num);</a:t>
            </a:r>
          </a:p>
          <a:p>
            <a:pPr marL="0" indent="0" fontAlgn="base">
              <a:buNone/>
            </a:pPr>
            <a:r>
              <a:rPr lang="en-US" sz="1800" dirty="0"/>
              <a:t>    } }</a:t>
            </a:r>
          </a:p>
          <a:p>
            <a:pPr marL="0" indent="0" fontAlgn="base">
              <a:buNone/>
            </a:pPr>
            <a:r>
              <a:rPr lang="en-US" sz="1600" b="1" dirty="0"/>
              <a:t>OUTPUT:</a:t>
            </a:r>
          </a:p>
          <a:p>
            <a:pPr marL="0" indent="0">
              <a:buNone/>
            </a:pPr>
            <a:r>
              <a:rPr lang="en-US" sz="2000" b="1" dirty="0"/>
              <a:t>Constructor called </a:t>
            </a:r>
          </a:p>
          <a:p>
            <a:pPr marL="0" indent="0">
              <a:buNone/>
            </a:pPr>
            <a:r>
              <a:rPr lang="en-US" sz="2000" b="1" dirty="0"/>
              <a:t>null </a:t>
            </a:r>
          </a:p>
          <a:p>
            <a:pPr marL="0" indent="0">
              <a:buNone/>
            </a:pPr>
            <a:r>
              <a:rPr lang="en-US" sz="2000" b="1" dirty="0"/>
              <a:t>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84046" y="136525"/>
            <a:ext cx="5412659" cy="62478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// </a:t>
            </a:r>
            <a:r>
              <a:rPr lang="en-US" b="1" dirty="0" err="1"/>
              <a:t>Parameterised</a:t>
            </a:r>
            <a:r>
              <a:rPr lang="en-US" b="1" dirty="0"/>
              <a:t> constructor</a:t>
            </a:r>
          </a:p>
          <a:p>
            <a:r>
              <a:rPr lang="en-US" dirty="0"/>
              <a:t>import java.io.*;</a:t>
            </a:r>
          </a:p>
          <a:p>
            <a:r>
              <a:rPr lang="en-US" dirty="0"/>
              <a:t>class Geek {</a:t>
            </a:r>
          </a:p>
          <a:p>
            <a:r>
              <a:rPr lang="en-US" dirty="0"/>
              <a:t>    String name;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r>
              <a:rPr lang="en-US" dirty="0"/>
              <a:t> Geek(String name, </a:t>
            </a:r>
            <a:r>
              <a:rPr lang="en-US" dirty="0" err="1"/>
              <a:t>int</a:t>
            </a:r>
            <a:r>
              <a:rPr lang="en-US" dirty="0"/>
              <a:t> id)     {</a:t>
            </a:r>
          </a:p>
          <a:p>
            <a:r>
              <a:rPr lang="en-US" dirty="0"/>
              <a:t>        this.name = name;</a:t>
            </a:r>
          </a:p>
          <a:p>
            <a:r>
              <a:rPr lang="en-US" dirty="0"/>
              <a:t>        this.id = id;</a:t>
            </a:r>
          </a:p>
          <a:p>
            <a:r>
              <a:rPr lang="en-US" dirty="0"/>
              <a:t>    }} </a:t>
            </a:r>
          </a:p>
          <a:p>
            <a:r>
              <a:rPr lang="en-US" dirty="0"/>
              <a:t>class GFG {</a:t>
            </a:r>
          </a:p>
          <a:p>
            <a:r>
              <a:rPr lang="en-US" dirty="0"/>
              <a:t>    // main driver method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endParaRPr lang="en-US" dirty="0"/>
          </a:p>
          <a:p>
            <a:r>
              <a:rPr lang="en-US" dirty="0"/>
              <a:t>        Geek geek1 = new Geek("</a:t>
            </a:r>
            <a:r>
              <a:rPr lang="en-US" dirty="0" err="1"/>
              <a:t>adam</a:t>
            </a:r>
            <a:r>
              <a:rPr lang="en-US" dirty="0"/>
              <a:t>", 1);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</a:t>
            </a:r>
            <a:r>
              <a:rPr lang="en-US" dirty="0" err="1"/>
              <a:t>GeekName</a:t>
            </a:r>
            <a:r>
              <a:rPr lang="en-US" dirty="0"/>
              <a:t> :" + geek1.name</a:t>
            </a:r>
          </a:p>
          <a:p>
            <a:r>
              <a:rPr lang="en-US" dirty="0"/>
              <a:t>                           + " and </a:t>
            </a:r>
            <a:r>
              <a:rPr lang="en-US" dirty="0" err="1"/>
              <a:t>GeekId</a:t>
            </a:r>
            <a:r>
              <a:rPr lang="en-US" dirty="0"/>
              <a:t> :" + geek1.id);</a:t>
            </a:r>
          </a:p>
          <a:p>
            <a:r>
              <a:rPr lang="en-US" dirty="0"/>
              <a:t>    }}</a:t>
            </a:r>
          </a:p>
          <a:p>
            <a:endParaRPr lang="en-US" sz="1600" dirty="0"/>
          </a:p>
          <a:p>
            <a:r>
              <a:rPr lang="en-US" sz="2000" b="1" dirty="0"/>
              <a:t>OUTPUT:</a:t>
            </a:r>
          </a:p>
          <a:p>
            <a:endParaRPr lang="en-US" sz="2000" b="1" dirty="0"/>
          </a:p>
          <a:p>
            <a:r>
              <a:rPr lang="en-US" sz="2000" b="1" dirty="0" err="1"/>
              <a:t>GeekName</a:t>
            </a:r>
            <a:r>
              <a:rPr lang="en-US" sz="2000" b="1" dirty="0"/>
              <a:t> :</a:t>
            </a:r>
            <a:r>
              <a:rPr lang="en-US" sz="2000" b="1" dirty="0" err="1"/>
              <a:t>adam</a:t>
            </a:r>
            <a:r>
              <a:rPr lang="en-US" sz="2000" b="1" dirty="0"/>
              <a:t> and </a:t>
            </a:r>
            <a:r>
              <a:rPr lang="en-US" sz="2000" b="1" dirty="0" err="1"/>
              <a:t>GeekId</a:t>
            </a:r>
            <a:r>
              <a:rPr lang="en-US" sz="2000" b="1" dirty="0"/>
              <a:t> :1</a:t>
            </a:r>
          </a:p>
        </p:txBody>
      </p:sp>
    </p:spTree>
    <p:extLst>
      <p:ext uri="{BB962C8B-B14F-4D97-AF65-F5344CB8AC3E}">
        <p14:creationId xmlns:p14="http://schemas.microsoft.com/office/powerpoint/2010/main" val="381564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</a:t>
            </a:r>
            <a:r>
              <a:rPr lang="en-US" b="1" dirty="0"/>
              <a:t> super</a:t>
            </a:r>
            <a:r>
              <a:rPr lang="en-US" dirty="0"/>
              <a:t> keyword in java is a reference variable that is used to refer parent class objects. </a:t>
            </a:r>
          </a:p>
          <a:p>
            <a:pPr algn="just"/>
            <a:r>
              <a:rPr lang="en-US" dirty="0"/>
              <a:t> The keyword “super” came into the picture with the concept of Inheritance.</a:t>
            </a:r>
          </a:p>
          <a:p>
            <a:r>
              <a:rPr lang="en-US" b="1" dirty="0"/>
              <a:t>The use of super keyword</a:t>
            </a:r>
          </a:p>
          <a:p>
            <a:pPr marL="0" indent="0">
              <a:buNone/>
            </a:pPr>
            <a:r>
              <a:rPr lang="en-US" dirty="0"/>
              <a:t>1) To access the data members of parent class when both parent and child class have member with same name</a:t>
            </a:r>
            <a:br>
              <a:rPr lang="en-US" dirty="0"/>
            </a:br>
            <a:r>
              <a:rPr lang="en-US" dirty="0"/>
              <a:t>2) To explicitly call the no-</a:t>
            </a:r>
            <a:r>
              <a:rPr lang="en-US" dirty="0" err="1"/>
              <a:t>arg</a:t>
            </a:r>
            <a:r>
              <a:rPr lang="en-US" dirty="0"/>
              <a:t> and parameterized constructor of parent class</a:t>
            </a:r>
            <a:br>
              <a:rPr lang="en-US" dirty="0"/>
            </a:br>
            <a:r>
              <a:rPr lang="en-US" dirty="0"/>
              <a:t>3) To access the method of parent class when child class has overridden that method.</a:t>
            </a:r>
          </a:p>
          <a:p>
            <a:pPr algn="just"/>
            <a:endParaRPr lang="en-US" dirty="0"/>
          </a:p>
          <a:p>
            <a:pPr marL="355600" algn="just">
              <a:lnSpc>
                <a:spcPts val="2375"/>
              </a:lnSpc>
              <a:spcBef>
                <a:spcPts val="95"/>
              </a:spcBef>
              <a:tabLst>
                <a:tab pos="355600" algn="l"/>
              </a:tabLst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188720" y="355917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keyword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2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this keyword refers to the current object in a method or constructor.</a:t>
            </a:r>
          </a:p>
          <a:p>
            <a:pPr algn="just"/>
            <a:r>
              <a:rPr lang="en-US" dirty="0"/>
              <a:t>The most common use of the this keyword is to eliminate the confusion between class attributes and parameters with the same name.</a:t>
            </a:r>
          </a:p>
          <a:p>
            <a:pPr algn="just"/>
            <a:r>
              <a:rPr lang="en-US" dirty="0"/>
              <a:t>this can also be used to: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Invoke current class constructor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Invoke current class method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Return the current class object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Pass an argument in the method call</a:t>
            </a:r>
          </a:p>
          <a:p>
            <a:pPr marL="571500" indent="-571500" algn="just">
              <a:buFont typeface="+mj-lt"/>
              <a:buAutoNum type="romanLcPeriod"/>
            </a:pPr>
            <a:r>
              <a:rPr lang="en-US" dirty="0"/>
              <a:t>Pass an argument in the constructor call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algn="just">
              <a:lnSpc>
                <a:spcPts val="2375"/>
              </a:lnSpc>
              <a:spcBef>
                <a:spcPts val="95"/>
              </a:spcBef>
              <a:tabLst>
                <a:tab pos="355600" algn="l"/>
              </a:tabLst>
            </a:pPr>
            <a:endParaRPr lang="en-US" dirty="0"/>
          </a:p>
          <a:p>
            <a:pPr marL="355600" algn="just">
              <a:lnSpc>
                <a:spcPts val="2375"/>
              </a:lnSpc>
              <a:spcBef>
                <a:spcPts val="95"/>
              </a:spcBef>
              <a:tabLst>
                <a:tab pos="355600" algn="l"/>
              </a:tabLst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432560" y="681037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keyword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379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173478"/>
            <a:ext cx="10515600" cy="5495927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1800" b="1" dirty="0"/>
              <a:t>Using ‘this’ keyword to refer current class instance variables.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class Test 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int a, b; 	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Test(int a, int b) 	{  	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                                  </a:t>
            </a:r>
            <a:r>
              <a:rPr lang="en-US" sz="1800" dirty="0" err="1"/>
              <a:t>this.a</a:t>
            </a:r>
            <a:r>
              <a:rPr lang="en-US" sz="1800" dirty="0"/>
              <a:t> = a;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</a:t>
            </a:r>
            <a:r>
              <a:rPr lang="en-US" sz="1800" dirty="0" err="1"/>
              <a:t>this.b</a:t>
            </a:r>
            <a:r>
              <a:rPr lang="en-US" sz="1800" dirty="0"/>
              <a:t> = b;  	}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void display() 	{ 	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</a:t>
            </a:r>
            <a:r>
              <a:rPr lang="en-US" sz="1800" dirty="0" err="1"/>
              <a:t>System.out.println</a:t>
            </a:r>
            <a:r>
              <a:rPr lang="en-US" sz="1800" dirty="0"/>
              <a:t>("a = " + a + " b = " + b);  	}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 	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Test object = new Test(10, 20);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</a:t>
            </a:r>
            <a:r>
              <a:rPr lang="en-US" sz="1800" dirty="0" err="1"/>
              <a:t>object.display</a:t>
            </a:r>
            <a:r>
              <a:rPr lang="en-US" sz="1800" dirty="0"/>
              <a:t>();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}  }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1800" dirty="0"/>
          </a:p>
          <a:p>
            <a:pPr marL="355600" algn="just">
              <a:lnSpc>
                <a:spcPct val="120000"/>
              </a:lnSpc>
              <a:spcBef>
                <a:spcPts val="95"/>
              </a:spcBef>
              <a:tabLst>
                <a:tab pos="355600" algn="l"/>
              </a:tabLst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198880" y="188594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keyword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83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173478"/>
            <a:ext cx="10515600" cy="5495927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1800" b="1" dirty="0"/>
              <a:t>Using this() to invoke current class constructor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class Test 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int </a:t>
            </a:r>
            <a:r>
              <a:rPr lang="en-US" sz="1800" dirty="0" err="1"/>
              <a:t>a,b</a:t>
            </a:r>
            <a:r>
              <a:rPr lang="en-US" sz="1800" dirty="0"/>
              <a:t>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Test() 	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this(10, 20);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</a:t>
            </a:r>
            <a:r>
              <a:rPr lang="en-US" sz="1800" dirty="0" err="1"/>
              <a:t>System.out.println</a:t>
            </a:r>
            <a:r>
              <a:rPr lang="en-US" sz="1800" dirty="0"/>
              <a:t>("Inside default constructor \n");  	}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Test(int a, int b) 	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</a:t>
            </a:r>
            <a:r>
              <a:rPr lang="en-US" sz="1800" dirty="0" err="1"/>
              <a:t>this.a</a:t>
            </a:r>
            <a:r>
              <a:rPr lang="en-US" sz="1800" dirty="0"/>
              <a:t> = a;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</a:t>
            </a:r>
            <a:r>
              <a:rPr lang="en-US" sz="1800" dirty="0" err="1"/>
              <a:t>this.b</a:t>
            </a:r>
            <a:r>
              <a:rPr lang="en-US" sz="1800" dirty="0"/>
              <a:t> = b;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</a:t>
            </a:r>
            <a:r>
              <a:rPr lang="en-US" sz="1800" dirty="0" err="1"/>
              <a:t>System.out.println</a:t>
            </a:r>
            <a:r>
              <a:rPr lang="en-US" sz="1800" dirty="0"/>
              <a:t>("Inside parameterized constructor"); 	}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public static void main(String[] </a:t>
            </a:r>
            <a:r>
              <a:rPr lang="en-US" sz="1800" dirty="0" err="1"/>
              <a:t>args</a:t>
            </a:r>
            <a:r>
              <a:rPr lang="en-US" sz="1800" dirty="0"/>
              <a:t>) 	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1800" dirty="0"/>
              <a:t>		Test object = new Test();  	}  }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1800" dirty="0"/>
          </a:p>
          <a:p>
            <a:pPr marL="355600" algn="just">
              <a:lnSpc>
                <a:spcPct val="120000"/>
              </a:lnSpc>
              <a:spcBef>
                <a:spcPts val="95"/>
              </a:spcBef>
              <a:tabLst>
                <a:tab pos="355600" algn="l"/>
              </a:tabLst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198880" y="188594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keyword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794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173478"/>
            <a:ext cx="10515600" cy="549592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000" b="1" dirty="0"/>
              <a:t>Using ‘this’ keyword to invoke current class method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class Test 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void display() 	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         </a:t>
            </a:r>
            <a:r>
              <a:rPr lang="en-US" sz="2000" dirty="0" err="1"/>
              <a:t>this.show</a:t>
            </a:r>
            <a:r>
              <a:rPr lang="en-US" sz="2000" dirty="0"/>
              <a:t>(); 	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         </a:t>
            </a:r>
            <a:r>
              <a:rPr lang="en-US" sz="2000" dirty="0" err="1"/>
              <a:t>System.out.println</a:t>
            </a:r>
            <a:r>
              <a:rPr lang="en-US" sz="2000" dirty="0"/>
              <a:t>("Inside display function"); 	} 	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void show() 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	</a:t>
            </a:r>
            <a:r>
              <a:rPr lang="en-US" sz="2000" dirty="0" err="1"/>
              <a:t>System.out.println</a:t>
            </a:r>
            <a:r>
              <a:rPr lang="en-US" sz="2000" dirty="0"/>
              <a:t>("Inside show </a:t>
            </a:r>
            <a:r>
              <a:rPr lang="en-US" sz="2000" dirty="0" err="1"/>
              <a:t>funcion</a:t>
            </a:r>
            <a:r>
              <a:rPr lang="en-US" sz="2000" dirty="0"/>
              <a:t>"); 	}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public static void main(String </a:t>
            </a:r>
            <a:r>
              <a:rPr lang="en-US" sz="2000" dirty="0" err="1"/>
              <a:t>args</a:t>
            </a:r>
            <a:r>
              <a:rPr lang="en-US" sz="2000" dirty="0"/>
              <a:t>[]) {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	Test t1 = new Test();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	t1.display();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2000" dirty="0"/>
              <a:t>	} }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000" dirty="0"/>
          </a:p>
          <a:p>
            <a:pPr marL="127000" indent="0" algn="just">
              <a:lnSpc>
                <a:spcPct val="120000"/>
              </a:lnSpc>
              <a:spcBef>
                <a:spcPts val="95"/>
              </a:spcBef>
              <a:buNone/>
              <a:tabLst>
                <a:tab pos="355600" algn="l"/>
              </a:tabLs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198880" y="188594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keyword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79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584960"/>
            <a:ext cx="10774680" cy="499871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super with variables: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Vehicle {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maxSpeed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120; }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Car extends Vehicle  {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maxSpeed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180; 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display()  	{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/* print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maxSpeed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base class (vehicle) */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("Maximum Speed: " +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super.maxSpeed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	}  }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Test {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	{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Car small = new Car();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small.display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	}  } </a:t>
            </a:r>
          </a:p>
          <a:p>
            <a:pPr marL="0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432560" y="681037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keyword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510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198879"/>
            <a:ext cx="10774680" cy="538448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Use of super with methods: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Person  {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message() 	{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("This is person class"); 	}  }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 extends Person  {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message()  	{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("This is student class");  	}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void display() 	{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message(); 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// will invoke or call parent class message() method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super.message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	}  }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Test {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  	{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Student s = new Student(); </a:t>
            </a:r>
          </a:p>
          <a:p>
            <a:pPr marL="0" indent="0" algn="just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s.display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	} } </a:t>
            </a:r>
          </a:p>
          <a:p>
            <a:pPr marL="0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300480" y="274637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keyword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0408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9598-7B80-6DFA-3FAD-B930823E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096" y="136525"/>
            <a:ext cx="10515600" cy="1325563"/>
          </a:xfrm>
        </p:spPr>
        <p:txBody>
          <a:bodyPr/>
          <a:lstStyle/>
          <a:p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  <a:b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E73C8-C07A-3FE2-914B-BC9EB1C5C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4008" y="359061"/>
            <a:ext cx="10515600" cy="1250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ED8137"/>
                </a:highlight>
              </a:rPr>
              <a:t>Problem Statement</a:t>
            </a:r>
            <a:endParaRPr lang="en-IN" b="1" dirty="0">
              <a:highlight>
                <a:srgbClr val="ED8137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7136D-8C7F-23EE-CAB3-D686EE21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21103-E74E-0E3B-B711-68025B76E822}"/>
              </a:ext>
            </a:extLst>
          </p:cNvPr>
          <p:cNvSpPr txBox="1"/>
          <p:nvPr/>
        </p:nvSpPr>
        <p:spPr>
          <a:xfrm>
            <a:off x="5374641" y="799306"/>
            <a:ext cx="6608254" cy="563231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secure banking application.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should include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BankAccount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:Define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attributes such 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accountNumber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accountHolderName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balance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accountNumber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Should be publicly accessible for identification purposes.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accountHolderName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Should be protected so it can be accessed by derived classes.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balance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Should be private to ensure it cannot be accessed or modified directly from outside the class.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Should be private to ensure confidentiality.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778BC-6C33-A639-1D60-1E75A0DCE5B3}"/>
              </a:ext>
            </a:extLst>
          </p:cNvPr>
          <p:cNvSpPr txBox="1"/>
          <p:nvPr/>
        </p:nvSpPr>
        <p:spPr>
          <a:xfrm>
            <a:off x="1536109" y="2107559"/>
            <a:ext cx="29340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2"/>
                </a:solidFill>
              </a:rPr>
              <a:t>CAN YOU THINK OF APPROPRIATE APPROACH HERE?????</a:t>
            </a:r>
            <a:endParaRPr lang="en-IN" sz="22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Model 8" descr="Caroler in Hoodie">
                <a:extLst>
                  <a:ext uri="{FF2B5EF4-FFF2-40B4-BE49-F238E27FC236}">
                    <a16:creationId xmlns:a16="http://schemas.microsoft.com/office/drawing/2014/main" id="{2A6EFBDC-33BB-434E-9DD4-3377C150D6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2088308"/>
                  </p:ext>
                </p:extLst>
              </p:nvPr>
            </p:nvGraphicFramePr>
            <p:xfrm>
              <a:off x="88393" y="1463896"/>
              <a:ext cx="1542226" cy="456956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542226" cy="4569561"/>
                    </a:xfrm>
                    <a:prstGeom prst="rect">
                      <a:avLst/>
                    </a:prstGeom>
                  </am3d:spPr>
                  <am3d:camera>
                    <am3d:pos x="0" y="0" z="5191955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860349" d="1000000"/>
                    <am3d:preTrans dx="62926" dy="-17991016" dz="-1869344"/>
                    <am3d:scale>
                      <am3d:sx n="1000000" d="1000000"/>
                      <am3d:sy n="1000000" d="1000000"/>
                      <am3d:sz n="1000000" d="1000000"/>
                    </am3d:scale>
                    <am3d:rot ax="379653" ay="1806057" az="190983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1788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Model 8" descr="Caroler in Hoodie">
                <a:extLst>
                  <a:ext uri="{FF2B5EF4-FFF2-40B4-BE49-F238E27FC236}">
                    <a16:creationId xmlns:a16="http://schemas.microsoft.com/office/drawing/2014/main" id="{2A6EFBDC-33BB-434E-9DD4-3377C150D6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393" y="1463896"/>
                <a:ext cx="1542226" cy="45695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14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473200"/>
            <a:ext cx="7284720" cy="5028883"/>
          </a:xfrm>
        </p:spPr>
        <p:txBody>
          <a:bodyPr>
            <a:normAutofit/>
          </a:bodyPr>
          <a:lstStyle/>
          <a:p>
            <a:pPr marL="469900" marR="5715" indent="-337185">
              <a:lnSpc>
                <a:spcPct val="100000"/>
              </a:lnSpc>
              <a:spcBef>
                <a:spcPts val="620"/>
              </a:spcBef>
              <a:buChar char="●"/>
              <a:tabLst>
                <a:tab pos="469265" algn="l"/>
                <a:tab pos="469900" algn="l"/>
                <a:tab pos="3014980" algn="l"/>
                <a:tab pos="3444875" algn="l"/>
                <a:tab pos="4458335" algn="l"/>
                <a:tab pos="4886960" algn="l"/>
                <a:tab pos="7988934" algn="l"/>
              </a:tabLst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Access </a:t>
            </a:r>
            <a:r>
              <a:rPr lang="en-US" sz="2400" spc="55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modi</a:t>
            </a:r>
            <a:r>
              <a:rPr lang="en-US" sz="2400" spc="-10" dirty="0">
                <a:latin typeface="+mj-lt"/>
                <a:cs typeface="Times New Roman" panose="02020603050405020304" pitchFamily="18" charset="0"/>
              </a:rPr>
              <a:t>f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i</a:t>
            </a:r>
            <a:r>
              <a:rPr lang="en-US" sz="2400" spc="-15" dirty="0">
                <a:latin typeface="+mj-lt"/>
                <a:cs typeface="Times New Roman" panose="02020603050405020304" pitchFamily="18" charset="0"/>
              </a:rPr>
              <a:t>e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rs </a:t>
            </a:r>
            <a:r>
              <a:rPr lang="en-US" sz="2400" spc="5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define </a:t>
            </a:r>
            <a:r>
              <a:rPr lang="en-US" sz="2400" spc="-10" dirty="0">
                <a:latin typeface="+mj-lt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he	 scope </a:t>
            </a:r>
            <a:r>
              <a:rPr lang="en-US" sz="2400" spc="55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of	</a:t>
            </a:r>
            <a:r>
              <a:rPr lang="en-US" sz="2400" spc="-10" dirty="0">
                <a:latin typeface="+mj-lt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he	class </a:t>
            </a:r>
            <a:r>
              <a:rPr lang="en-US" sz="2400" spc="5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and </a:t>
            </a:r>
            <a:r>
              <a:rPr lang="en-US" sz="2400" spc="5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i</a:t>
            </a:r>
            <a:r>
              <a:rPr lang="en-US" sz="2400" spc="-10" dirty="0">
                <a:latin typeface="+mj-lt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s </a:t>
            </a:r>
            <a:r>
              <a:rPr lang="en-US" sz="2400" spc="5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spc="5" dirty="0">
                <a:latin typeface="+mj-lt"/>
                <a:cs typeface="Times New Roman" panose="02020603050405020304" pitchFamily="18" charset="0"/>
              </a:rPr>
              <a:t>m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embe</a:t>
            </a:r>
            <a:r>
              <a:rPr lang="en-US" sz="2400" spc="-10" dirty="0">
                <a:latin typeface="+mj-lt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s </a:t>
            </a:r>
            <a:r>
              <a:rPr lang="en-US" sz="2400" spc="5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(da</a:t>
            </a:r>
            <a:r>
              <a:rPr lang="en-US" sz="2400" spc="-10" dirty="0">
                <a:latin typeface="+mj-lt"/>
                <a:cs typeface="Times New Roman" panose="02020603050405020304" pitchFamily="18" charset="0"/>
              </a:rPr>
              <a:t>t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a and  methods).</a:t>
            </a:r>
          </a:p>
          <a:p>
            <a:pPr marL="469900" marR="5080" indent="-337185">
              <a:lnSpc>
                <a:spcPct val="100000"/>
              </a:lnSpc>
              <a:spcBef>
                <a:spcPts val="600"/>
              </a:spcBef>
              <a:buClr>
                <a:srgbClr val="695D46"/>
              </a:buClr>
              <a:buChar char="●"/>
              <a:tabLst>
                <a:tab pos="469265" algn="l"/>
                <a:tab pos="469900" algn="l"/>
              </a:tabLst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There are </a:t>
            </a:r>
            <a:r>
              <a:rPr lang="en-US" sz="2400" spc="-5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four </a:t>
            </a:r>
            <a:r>
              <a:rPr lang="en-US" sz="2400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categories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, provided </a:t>
            </a:r>
            <a:r>
              <a:rPr lang="en-US" sz="2400" spc="5" dirty="0">
                <a:latin typeface="+mj-lt"/>
                <a:cs typeface="Times New Roman" panose="02020603050405020304" pitchFamily="18" charset="0"/>
              </a:rPr>
              <a:t>by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Java regarding </a:t>
            </a:r>
            <a:r>
              <a:rPr lang="en-US" sz="2400" spc="-5" dirty="0">
                <a:latin typeface="+mj-lt"/>
                <a:cs typeface="Times New Roman" panose="02020603050405020304" pitchFamily="18" charset="0"/>
              </a:rPr>
              <a:t>the visibility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of the class  members </a:t>
            </a:r>
            <a:r>
              <a:rPr lang="en-US" sz="2400" spc="-5" dirty="0">
                <a:latin typeface="+mj-lt"/>
                <a:cs typeface="Times New Roman" panose="02020603050405020304" pitchFamily="18" charset="0"/>
              </a:rPr>
              <a:t>between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classes and</a:t>
            </a:r>
            <a:r>
              <a:rPr lang="en-US" sz="2400" spc="3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packages:</a:t>
            </a:r>
          </a:p>
          <a:p>
            <a:pPr marL="1383665" lvl="1" indent="-337185">
              <a:lnSpc>
                <a:spcPct val="100000"/>
              </a:lnSpc>
              <a:spcBef>
                <a:spcPts val="600"/>
              </a:spcBef>
              <a:buChar char="■"/>
              <a:tabLst>
                <a:tab pos="1383665" algn="l"/>
                <a:tab pos="1384300" algn="l"/>
              </a:tabLst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Subclasses in </a:t>
            </a:r>
            <a:r>
              <a:rPr lang="en-US" spc="-5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same</a:t>
            </a:r>
            <a:r>
              <a:rPr lang="en-US" spc="1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package</a:t>
            </a:r>
          </a:p>
          <a:p>
            <a:pPr marL="1383665" lvl="1" indent="-337185">
              <a:lnSpc>
                <a:spcPct val="100000"/>
              </a:lnSpc>
              <a:spcBef>
                <a:spcPts val="600"/>
              </a:spcBef>
              <a:buChar char="■"/>
              <a:tabLst>
                <a:tab pos="1383665" algn="l"/>
                <a:tab pos="1384300" algn="l"/>
              </a:tabLst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Non-subclasses in </a:t>
            </a:r>
            <a:r>
              <a:rPr lang="en-US" spc="-5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same</a:t>
            </a:r>
            <a:r>
              <a:rPr lang="en-US" spc="-2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package</a:t>
            </a:r>
          </a:p>
          <a:p>
            <a:pPr marL="1383665" lvl="1" indent="-337185">
              <a:lnSpc>
                <a:spcPct val="100000"/>
              </a:lnSpc>
              <a:spcBef>
                <a:spcPts val="600"/>
              </a:spcBef>
              <a:buChar char="■"/>
              <a:tabLst>
                <a:tab pos="1383665" algn="l"/>
                <a:tab pos="1384300" algn="l"/>
              </a:tabLst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Subclasses in different</a:t>
            </a:r>
            <a:r>
              <a:rPr lang="en-US" spc="-1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packages</a:t>
            </a:r>
          </a:p>
          <a:p>
            <a:pPr marL="1383665" lvl="1" indent="-337185">
              <a:lnSpc>
                <a:spcPct val="100000"/>
              </a:lnSpc>
              <a:spcBef>
                <a:spcPts val="605"/>
              </a:spcBef>
              <a:buChar char="■"/>
              <a:tabLst>
                <a:tab pos="1383665" algn="l"/>
                <a:tab pos="1384300" algn="l"/>
              </a:tabLst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Classes </a:t>
            </a:r>
            <a:r>
              <a:rPr lang="en-US" spc="-5" dirty="0">
                <a:latin typeface="+mj-lt"/>
                <a:cs typeface="Times New Roman" panose="02020603050405020304" pitchFamily="18" charset="0"/>
              </a:rPr>
              <a:t>that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are neither in </a:t>
            </a:r>
            <a:r>
              <a:rPr lang="en-US" spc="-5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same package nor subclasses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188720" y="355917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769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188720" y="355917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</a:p>
          <a:p>
            <a:endParaRPr lang="en-IN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D8C93BEB-97E7-4A39-AAF4-23E9136E5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330" t="33898" r="38909" b="20339"/>
          <a:stretch/>
        </p:blipFill>
        <p:spPr>
          <a:xfrm>
            <a:off x="0" y="2062380"/>
            <a:ext cx="7099706" cy="36779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0207AD-F36E-99D8-965B-44209255F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275" y="355917"/>
            <a:ext cx="5318724" cy="294910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398062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188720" y="355917"/>
            <a:ext cx="69900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</a:p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E650B1-D2D4-47A4-826C-DAC37B52E2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15" t="27119" r="38083" b="32203"/>
          <a:stretch/>
        </p:blipFill>
        <p:spPr>
          <a:xfrm>
            <a:off x="1188720" y="1340802"/>
            <a:ext cx="8879840" cy="45208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29829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QUIZ: </a:t>
            </a:r>
            <a:endParaRPr lang="en-US" sz="28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433387" y="1454335"/>
            <a:ext cx="757555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/>
              <a:t>Which of these is used as a default for a member of a class if no access specifier is used for it?</a:t>
            </a:r>
            <a:br>
              <a:rPr lang="en-US" sz="2800" dirty="0"/>
            </a:br>
            <a:r>
              <a:rPr lang="en-US" sz="2800" dirty="0"/>
              <a:t>a) private</a:t>
            </a:r>
            <a:br>
              <a:rPr lang="en-US" sz="2800" dirty="0"/>
            </a:br>
            <a:r>
              <a:rPr lang="en-US" sz="2800" dirty="0"/>
              <a:t>b) public</a:t>
            </a:r>
            <a:br>
              <a:rPr lang="en-US" sz="2800" dirty="0"/>
            </a:br>
            <a:r>
              <a:rPr lang="en-US" sz="2800" dirty="0"/>
              <a:t>c) public, within its own package</a:t>
            </a:r>
            <a:br>
              <a:rPr lang="en-US" sz="2800" dirty="0"/>
            </a:br>
            <a:r>
              <a:rPr lang="en-US" sz="2800" dirty="0"/>
              <a:t>d) protected</a:t>
            </a: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QUIZ: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539291" y="1300407"/>
            <a:ext cx="757555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</a:p>
          <a:p>
            <a:r>
              <a:rPr lang="en-US" sz="2800" dirty="0"/>
              <a:t>“this" keyword can not be used in ---?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   Constructors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   Static blocks and methods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   Non static methods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303012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Summary: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665982" y="2141162"/>
            <a:ext cx="757555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session, you were able to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 about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and super keyword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86046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References: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757422" y="2202122"/>
            <a:ext cx="7575551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Books: </a:t>
            </a:r>
            <a:endParaRPr lang="en-IN" dirty="0"/>
          </a:p>
          <a:p>
            <a:r>
              <a:rPr lang="en-IN" dirty="0"/>
              <a:t>1. </a:t>
            </a:r>
            <a:r>
              <a:rPr lang="en-IN" dirty="0" err="1"/>
              <a:t>Balaguruswamy</a:t>
            </a:r>
            <a:r>
              <a:rPr lang="en-IN" dirty="0"/>
              <a:t>, </a:t>
            </a:r>
            <a:r>
              <a:rPr lang="en-IN" i="1" dirty="0"/>
              <a:t>Java. </a:t>
            </a:r>
            <a:endParaRPr lang="en-IN" dirty="0"/>
          </a:p>
          <a:p>
            <a:r>
              <a:rPr lang="en-IN" dirty="0"/>
              <a:t>2. A Primer, </a:t>
            </a:r>
            <a:r>
              <a:rPr lang="en-IN" dirty="0" err="1"/>
              <a:t>E.Balaguruswamy</a:t>
            </a:r>
            <a:r>
              <a:rPr lang="en-IN" dirty="0"/>
              <a:t>, </a:t>
            </a:r>
            <a:r>
              <a:rPr lang="en-IN" i="1" dirty="0"/>
              <a:t>Programming with Java, </a:t>
            </a:r>
            <a:r>
              <a:rPr lang="en-IN" dirty="0"/>
              <a:t>Tata McGraw Hill Companies </a:t>
            </a:r>
          </a:p>
          <a:p>
            <a:r>
              <a:rPr lang="en-US" dirty="0"/>
              <a:t>3. John P. Flynt Thomson, </a:t>
            </a:r>
            <a:r>
              <a:rPr lang="en-US" i="1" dirty="0"/>
              <a:t>Java Programming. </a:t>
            </a:r>
            <a:endParaRPr lang="en-US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Lectures : </a:t>
            </a:r>
            <a:r>
              <a:rPr lang="en-IN" u="sng" dirty="0">
                <a:hlinkClick r:id="rId2"/>
              </a:rPr>
              <a:t>https://www.youtube.com/watch?v=eKoJiCUFEls</a:t>
            </a:r>
            <a:endParaRPr lang="en-IN" dirty="0"/>
          </a:p>
          <a:p>
            <a:r>
              <a:rPr lang="en-IN" u="sng" dirty="0">
                <a:hlinkClick r:id="rId3"/>
              </a:rPr>
              <a:t>https://www.youtube.com/watch?v=1ZDApgnufSI</a:t>
            </a:r>
            <a:endParaRPr lang="en-IN" dirty="0"/>
          </a:p>
          <a:p>
            <a:endParaRPr lang="en-US" sz="2400" dirty="0"/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069430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22054" y="94089"/>
            <a:ext cx="410563" cy="1538089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502234"/>
                </p:ext>
              </p:extLst>
            </p:nvPr>
          </p:nvGraphicFramePr>
          <p:xfrm>
            <a:off x="100850" y="246475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50" y="246475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425</TotalTime>
  <Words>1508</Words>
  <Application>Microsoft Office PowerPoint</Application>
  <PresentationFormat>Widescreen</PresentationFormat>
  <Paragraphs>199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Arial Black</vt:lpstr>
      <vt:lpstr>Arial Unicode MS</vt:lpstr>
      <vt:lpstr>Calibri</vt:lpstr>
      <vt:lpstr>Calibri Light</vt:lpstr>
      <vt:lpstr>Casper</vt:lpstr>
      <vt:lpstr>Karla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 </vt:lpstr>
      <vt:lpstr>Constructors</vt:lpstr>
      <vt:lpstr>Example of constructor</vt:lpstr>
      <vt:lpstr>  Two types of constructors in java: 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 CONTROL </vt:lpstr>
      <vt:lpstr>PowerPoint Presentation</vt:lpstr>
      <vt:lpstr>PowerPoint Presentation</vt:lpstr>
      <vt:lpstr>PowerPoint Presentation</vt:lpstr>
      <vt:lpstr>QUIZ: </vt:lpstr>
      <vt:lpstr>QUIZ: </vt:lpstr>
      <vt:lpstr>Summary: </vt:lpstr>
      <vt:lpstr>References: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BHAVNEET KAUR</cp:lastModifiedBy>
  <cp:revision>107</cp:revision>
  <dcterms:created xsi:type="dcterms:W3CDTF">2019-01-09T10:33:58Z</dcterms:created>
  <dcterms:modified xsi:type="dcterms:W3CDTF">2024-12-23T08:47:57Z</dcterms:modified>
</cp:coreProperties>
</file>