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23"/>
  </p:notesMasterIdLst>
  <p:handoutMasterIdLst>
    <p:handoutMasterId r:id="rId24"/>
  </p:handoutMasterIdLst>
  <p:sldIdLst>
    <p:sldId id="287" r:id="rId3"/>
    <p:sldId id="281" r:id="rId4"/>
    <p:sldId id="401" r:id="rId5"/>
    <p:sldId id="412" r:id="rId6"/>
    <p:sldId id="413" r:id="rId7"/>
    <p:sldId id="414" r:id="rId8"/>
    <p:sldId id="415" r:id="rId9"/>
    <p:sldId id="416" r:id="rId10"/>
    <p:sldId id="417" r:id="rId11"/>
    <p:sldId id="419" r:id="rId12"/>
    <p:sldId id="330" r:id="rId13"/>
    <p:sldId id="334" r:id="rId14"/>
    <p:sldId id="335" r:id="rId15"/>
    <p:sldId id="332" r:id="rId16"/>
    <p:sldId id="418" r:id="rId17"/>
    <p:sldId id="398" r:id="rId18"/>
    <p:sldId id="410" r:id="rId19"/>
    <p:sldId id="408" r:id="rId20"/>
    <p:sldId id="409" r:id="rId21"/>
    <p:sldId id="279"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06" autoAdjust="0"/>
    <p:restoredTop sz="94624" autoAdjust="0"/>
  </p:normalViewPr>
  <p:slideViewPr>
    <p:cSldViewPr snapToGrid="0">
      <p:cViewPr varScale="1">
        <p:scale>
          <a:sx n="75" d="100"/>
          <a:sy n="75" d="100"/>
        </p:scale>
        <p:origin x="917" y="43"/>
      </p:cViewPr>
      <p:guideLst>
        <p:guide orient="horz" pos="2160"/>
        <p:guide pos="3840"/>
      </p:guideLst>
    </p:cSldViewPr>
  </p:slideViewPr>
  <p:outlineViewPr>
    <p:cViewPr>
      <p:scale>
        <a:sx n="33" d="100"/>
        <a:sy n="33" d="100"/>
      </p:scale>
      <p:origin x="0" y="10656"/>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12/23/2024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12/23/2024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0732FBC-CC67-4B17-8935-02F23E3364AC}" type="slidenum">
              <a:rPr lang="en-US" smtClean="0"/>
              <a:pPr/>
              <a:t>1</a:t>
            </a:fld>
            <a:endParaRPr lang="en-US"/>
          </a:p>
        </p:txBody>
      </p:sp>
    </p:spTree>
    <p:extLst>
      <p:ext uri="{BB962C8B-B14F-4D97-AF65-F5344CB8AC3E}">
        <p14:creationId xmlns:p14="http://schemas.microsoft.com/office/powerpoint/2010/main" val="42678111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0732FBC-CC67-4B17-8935-02F23E3364AC}" type="slidenum">
              <a:rPr lang="en-US" smtClean="0"/>
              <a:pPr/>
              <a:t>2</a:t>
            </a:fld>
            <a:endParaRPr lang="en-US"/>
          </a:p>
        </p:txBody>
      </p:sp>
    </p:spTree>
    <p:extLst>
      <p:ext uri="{BB962C8B-B14F-4D97-AF65-F5344CB8AC3E}">
        <p14:creationId xmlns:p14="http://schemas.microsoft.com/office/powerpoint/2010/main" val="19717823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12/23/2024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7" Type="http://schemas.openxmlformats.org/officeDocument/2006/relationships/oleObject" Target="../embeddings/oleObject2.bin"/><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7.png"/><Relationship Id="rId4" Type="http://schemas.openxmlformats.org/officeDocument/2006/relationships/image" Target="../media/image6.emf"/></Relationships>
</file>

<file path=ppt/slides/_rels/slide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www.youtube.com/watch?v=RcIsb9iFKH8"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3.bin"/><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nvGraphicFramePr>
        <p:xfrm>
          <a:off x="76788" y="3121720"/>
          <a:ext cx="3303056" cy="3148059"/>
        </p:xfrm>
        <a:graphic>
          <a:graphicData uri="http://schemas.openxmlformats.org/presentationml/2006/ole">
            <mc:AlternateContent xmlns:mc="http://schemas.openxmlformats.org/markup-compatibility/2006">
              <mc:Choice xmlns:v="urn:schemas-microsoft-com:vml" Requires="v">
                <p:oleObj name="CorelDRAW" r:id="rId3" imgW="2169000" imgH="2169360" progId="">
                  <p:embed/>
                </p:oleObj>
              </mc:Choice>
              <mc:Fallback>
                <p:oleObj name="CorelDRAW" r:id="rId3" imgW="2169000" imgH="2169360" progId="">
                  <p:embed/>
                  <p:pic>
                    <p:nvPicPr>
                      <p:cNvPr id="0" name="Picture 25"/>
                      <p:cNvPicPr>
                        <a:picLocks noChangeAspect="1" noChangeArrowheads="1"/>
                      </p:cNvPicPr>
                      <p:nvPr/>
                    </p:nvPicPr>
                    <p:blipFill>
                      <a:blip r:embed="rId4">
                        <a:lum bright="76000"/>
                        <a:extLst>
                          <a:ext uri="{28A0092B-C50C-407E-A947-70E740481C1C}">
                            <a14:useLocalDpi xmlns:a14="http://schemas.microsoft.com/office/drawing/2010/main" val="0"/>
                          </a:ext>
                        </a:extLst>
                      </a:blip>
                      <a:srcRect/>
                      <a:stretch>
                        <a:fillRect/>
                      </a:stretch>
                    </p:blipFill>
                    <p:spPr bwMode="auto">
                      <a:xfrm>
                        <a:off x="76788" y="3121720"/>
                        <a:ext cx="3303056" cy="31480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ight Triangle 36">
            <a:extLst>
              <a:ext uri="{FF2B5EF4-FFF2-40B4-BE49-F238E27FC236}">
                <a16:creationId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p:cNvPicPr>
            <a:picLocks noChangeAspect="1"/>
          </p:cNvPicPr>
          <p:nvPr/>
        </p:nvPicPr>
        <p:blipFill>
          <a:blip r:embed="rId5" cstate="print">
            <a:extLst>
              <a:ext uri="{BEBA8EAE-BF5A-486C-A8C5-ECC9F3942E4B}">
                <a14:imgProps xmlns:a14="http://schemas.microsoft.com/office/drawing/2010/main">
                  <a14:imgLayer r:embed="rId6">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29085"/>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2D1282E4-A572-859B-711C-C2FF1C1FE481}"/>
              </a:ext>
            </a:extLst>
          </p:cNvPr>
          <p:cNvSpPr/>
          <p:nvPr/>
        </p:nvSpPr>
        <p:spPr>
          <a:xfrm>
            <a:off x="-4420" y="5433671"/>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1E9E62BF-816F-4E17-8052-45AFC0BD6835}"/>
              </a:ext>
            </a:extLst>
          </p:cNvPr>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Slide Number Placeholder 2">
            <a:extLst>
              <a:ext uri="{FF2B5EF4-FFF2-40B4-BE49-F238E27FC236}">
                <a16:creationId xmlns:a16="http://schemas.microsoft.com/office/drawing/2014/main" id="{9DF97AA3-7319-8571-827D-D03A845ED492}"/>
              </a:ext>
            </a:extLst>
          </p:cNvPr>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5" name="Right Triangle 4">
            <a:extLst>
              <a:ext uri="{FF2B5EF4-FFF2-40B4-BE49-F238E27FC236}">
                <a16:creationId xmlns:a16="http://schemas.microsoft.com/office/drawing/2014/main" id="{5A280B8C-576A-EFCE-E082-14976B839CD0}"/>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dirty="0">
              <a:ln>
                <a:noFill/>
              </a:ln>
              <a:solidFill>
                <a:srgbClr val="FFFFFF"/>
              </a:solidFill>
              <a:effectLst/>
              <a:uLnTx/>
              <a:uFillTx/>
              <a:latin typeface="Calibri" panose="020F0502020204030204"/>
            </a:endParaRPr>
          </a:p>
        </p:txBody>
      </p:sp>
      <p:graphicFrame>
        <p:nvGraphicFramePr>
          <p:cNvPr id="6" name="Object 5">
            <a:extLst>
              <a:ext uri="{FF2B5EF4-FFF2-40B4-BE49-F238E27FC236}">
                <a16:creationId xmlns:a16="http://schemas.microsoft.com/office/drawing/2014/main" id="{CF731C96-7FF9-7F8C-69D6-26CD5B765540}"/>
              </a:ext>
            </a:extLst>
          </p:cNvPr>
          <p:cNvGraphicFramePr>
            <a:graphicFrameLocks noChangeAspect="1"/>
          </p:cNvGraphicFramePr>
          <p:nvPr/>
        </p:nvGraphicFramePr>
        <p:xfrm>
          <a:off x="76788" y="3121720"/>
          <a:ext cx="3303056" cy="3148059"/>
        </p:xfrm>
        <a:graphic>
          <a:graphicData uri="http://schemas.openxmlformats.org/presentationml/2006/ole">
            <mc:AlternateContent xmlns:mc="http://schemas.openxmlformats.org/markup-compatibility/2006">
              <mc:Choice xmlns:v="urn:schemas-microsoft-com:vml" Requires="v">
                <p:oleObj name="CorelDRAW" r:id="rId7" imgW="2169000" imgH="2169360" progId="">
                  <p:embed/>
                </p:oleObj>
              </mc:Choice>
              <mc:Fallback>
                <p:oleObj name="CorelDRAW" r:id="rId7" imgW="2169000" imgH="2169360" progId="">
                  <p:embed/>
                  <p:pic>
                    <p:nvPicPr>
                      <p:cNvPr id="48" name="Object 47">
                        <a:extLst>
                          <a:ext uri="{FF2B5EF4-FFF2-40B4-BE49-F238E27FC236}">
                            <a16:creationId xmlns:a16="http://schemas.microsoft.com/office/drawing/2014/main" id="{CAD0D7B8-E462-453C-B296-CA0154FA54AE}"/>
                          </a:ext>
                        </a:extLst>
                      </p:cNvPr>
                      <p:cNvPicPr>
                        <a:picLocks noChangeAspect="1" noChangeArrowheads="1"/>
                      </p:cNvPicPr>
                      <p:nvPr/>
                    </p:nvPicPr>
                    <p:blipFill>
                      <a:blip r:embed="rId4">
                        <a:lum bright="76000"/>
                        <a:extLst>
                          <a:ext uri="{28A0092B-C50C-407E-A947-70E740481C1C}">
                            <a14:useLocalDpi xmlns:a14="http://schemas.microsoft.com/office/drawing/2010/main" val="0"/>
                          </a:ext>
                        </a:extLst>
                      </a:blip>
                      <a:srcRect/>
                      <a:stretch>
                        <a:fillRect/>
                      </a:stretch>
                    </p:blipFill>
                    <p:spPr bwMode="auto">
                      <a:xfrm>
                        <a:off x="76788" y="3121720"/>
                        <a:ext cx="3303056" cy="31480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ight Triangle 6">
            <a:extLst>
              <a:ext uri="{FF2B5EF4-FFF2-40B4-BE49-F238E27FC236}">
                <a16:creationId xmlns:a16="http://schemas.microsoft.com/office/drawing/2014/main" id="{FC77CBE2-C68D-42E1-6A62-78754D56D347}"/>
              </a:ext>
            </a:extLst>
          </p:cNvPr>
          <p:cNvSpPr/>
          <p:nvPr/>
        </p:nvSpPr>
        <p:spPr>
          <a:xfrm flipH="1">
            <a:off x="7530662" y="5128705"/>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dirty="0">
              <a:ln>
                <a:noFill/>
              </a:ln>
              <a:solidFill>
                <a:srgbClr val="FFFFFF"/>
              </a:solidFill>
              <a:effectLst/>
              <a:uLnTx/>
              <a:uFillTx/>
              <a:latin typeface="Calibri" panose="020F0502020204030204"/>
            </a:endParaRPr>
          </a:p>
        </p:txBody>
      </p:sp>
      <p:sp>
        <p:nvSpPr>
          <p:cNvPr id="8" name="Rectangle 7">
            <a:extLst>
              <a:ext uri="{FF2B5EF4-FFF2-40B4-BE49-F238E27FC236}">
                <a16:creationId xmlns:a16="http://schemas.microsoft.com/office/drawing/2014/main" id="{7B6E2F3C-CE76-E3B7-D3B8-6B51AF76A667}"/>
              </a:ext>
            </a:extLst>
          </p:cNvPr>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a:extLst>
              <a:ext uri="{FF2B5EF4-FFF2-40B4-BE49-F238E27FC236}">
                <a16:creationId xmlns:a16="http://schemas.microsoft.com/office/drawing/2014/main" id="{4104645F-5893-C2B3-2CEB-A9B7DD263267}"/>
              </a:ext>
            </a:extLst>
          </p:cNvPr>
          <p:cNvPicPr>
            <a:picLocks noChangeAspect="1"/>
          </p:cNvPicPr>
          <p:nvPr/>
        </p:nvPicPr>
        <p:blipFill>
          <a:blip r:embed="rId5">
            <a:extLst>
              <a:ext uri="{BEBA8EAE-BF5A-486C-A8C5-ECC9F3942E4B}">
                <a14:imgProps xmlns:a14="http://schemas.microsoft.com/office/drawing/2010/main">
                  <a14:imgLayer r:embed="rId6">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10" name="Right Triangle 9">
            <a:extLst>
              <a:ext uri="{FF2B5EF4-FFF2-40B4-BE49-F238E27FC236}">
                <a16:creationId xmlns:a16="http://schemas.microsoft.com/office/drawing/2014/main" id="{7817863C-BB27-6E72-2AA6-2E5A572EE70E}"/>
              </a:ext>
            </a:extLst>
          </p:cNvPr>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A15BBA22-6278-81D1-4FE5-01223C8FB9A5}"/>
              </a:ext>
            </a:extLst>
          </p:cNvPr>
          <p:cNvSpPr txBox="1">
            <a:spLocks noChangeArrowheads="1"/>
          </p:cNvSpPr>
          <p:nvPr/>
        </p:nvSpPr>
        <p:spPr bwMode="auto">
          <a:xfrm>
            <a:off x="6881359" y="6029085"/>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12" name="Rectangle 11">
            <a:extLst>
              <a:ext uri="{FF2B5EF4-FFF2-40B4-BE49-F238E27FC236}">
                <a16:creationId xmlns:a16="http://schemas.microsoft.com/office/drawing/2014/main" id="{53A1E569-FE4B-0BC1-ADD1-1CF78E7FE36C}"/>
              </a:ext>
            </a:extLst>
          </p:cNvPr>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a:extLst>
              <a:ext uri="{FF2B5EF4-FFF2-40B4-BE49-F238E27FC236}">
                <a16:creationId xmlns:a16="http://schemas.microsoft.com/office/drawing/2014/main" id="{A06B014B-1399-D51E-EAE1-2E0C81B7318E}"/>
              </a:ext>
            </a:extLst>
          </p:cNvPr>
          <p:cNvSpPr txBox="1">
            <a:spLocks noChangeArrowheads="1"/>
          </p:cNvSpPr>
          <p:nvPr/>
        </p:nvSpPr>
        <p:spPr bwMode="auto">
          <a:xfrm>
            <a:off x="1941980" y="735788"/>
            <a:ext cx="8788843" cy="5852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2800" b="1" dirty="0">
                <a:latin typeface="Times New Roman" panose="02020603050405020304" pitchFamily="18" charset="0"/>
                <a:ea typeface="Karla" pitchFamily="2" charset="0"/>
                <a:cs typeface="Times New Roman" panose="02020603050405020304" pitchFamily="18" charset="0"/>
              </a:rPr>
              <a:t>INSTITUTE : UIE</a:t>
            </a:r>
          </a:p>
          <a:p>
            <a:pPr lvl="0" algn="ctr" defTabSz="622300">
              <a:lnSpc>
                <a:spcPct val="90000"/>
              </a:lnSpc>
              <a:spcBef>
                <a:spcPct val="0"/>
              </a:spcBef>
              <a:spcAft>
                <a:spcPct val="35000"/>
              </a:spcAft>
            </a:pPr>
            <a:r>
              <a:rPr lang="en-US" sz="2800" b="1" dirty="0">
                <a:latin typeface="Times New Roman" panose="02020603050405020304" pitchFamily="18" charset="0"/>
                <a:ea typeface="Karla" pitchFamily="2" charset="0"/>
                <a:cs typeface="Times New Roman" panose="02020603050405020304" pitchFamily="18" charset="0"/>
              </a:rPr>
              <a:t>DEPARTMENT : CSE</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Bachelor of Engineering (Computer Science &amp; Engineering) </a:t>
            </a:r>
          </a:p>
          <a:p>
            <a:pPr algn="ctr"/>
            <a:endParaRPr lang="en-IN" sz="2800" b="0" i="0" u="none" strike="noStrike" baseline="0" dirty="0">
              <a:solidFill>
                <a:srgbClr val="000000"/>
              </a:solidFill>
              <a:latin typeface="Times New Roman" panose="02020603050405020304" pitchFamily="18" charset="0"/>
              <a:cs typeface="Times New Roman" panose="02020603050405020304" pitchFamily="18" charset="0"/>
            </a:endParaRPr>
          </a:p>
          <a:p>
            <a:pPr algn="ctr"/>
            <a:r>
              <a:rPr lang="en-US" sz="2800" b="0" i="0" u="none" strike="noStrike" baseline="0" dirty="0">
                <a:solidFill>
                  <a:srgbClr val="000000"/>
                </a:solidFill>
                <a:latin typeface="Times New Roman" panose="02020603050405020304" pitchFamily="18" charset="0"/>
                <a:cs typeface="Times New Roman" panose="02020603050405020304" pitchFamily="18" charset="0"/>
              </a:rPr>
              <a:t> </a:t>
            </a:r>
            <a:r>
              <a:rPr lang="en-US" sz="2800" b="1" i="0" u="none" strike="noStrike" baseline="0" dirty="0">
                <a:solidFill>
                  <a:srgbClr val="000000"/>
                </a:solidFill>
                <a:latin typeface="Times New Roman" panose="02020603050405020304" pitchFamily="18" charset="0"/>
                <a:cs typeface="Times New Roman" panose="02020603050405020304" pitchFamily="18" charset="0"/>
              </a:rPr>
              <a:t>Object Oriented Programming using Java</a:t>
            </a:r>
          </a:p>
          <a:p>
            <a:pPr algn="ctr"/>
            <a:r>
              <a:rPr lang="en-US" sz="2800" b="1" i="0" u="none" strike="noStrike" baseline="0" dirty="0">
                <a:solidFill>
                  <a:srgbClr val="000000"/>
                </a:solidFill>
                <a:latin typeface="Times New Roman" panose="02020603050405020304" pitchFamily="18" charset="0"/>
                <a:cs typeface="Times New Roman" panose="02020603050405020304" pitchFamily="18" charset="0"/>
              </a:rPr>
              <a:t> </a:t>
            </a:r>
            <a:r>
              <a:rPr lang="en-US" sz="2800" b="1" dirty="0">
                <a:solidFill>
                  <a:prstClr val="black">
                    <a:lumMod val="85000"/>
                    <a:lumOff val="15000"/>
                  </a:prstClr>
                </a:solidFill>
                <a:latin typeface="Times New Roman" panose="02020603050405020304" pitchFamily="18" charset="0"/>
                <a:cs typeface="Times New Roman" panose="02020603050405020304" pitchFamily="18" charset="0"/>
              </a:rPr>
              <a:t>(</a:t>
            </a:r>
            <a:r>
              <a:rPr lang="en-IN" sz="2800" b="1" i="0" u="none" strike="noStrike" baseline="0" dirty="0">
                <a:solidFill>
                  <a:srgbClr val="000000"/>
                </a:solidFill>
                <a:latin typeface="Times New Roman" panose="02020603050405020304" pitchFamily="18" charset="0"/>
                <a:cs typeface="Times New Roman" panose="02020603050405020304" pitchFamily="18" charset="0"/>
              </a:rPr>
              <a:t>23CSP-202 </a:t>
            </a:r>
            <a:r>
              <a:rPr lang="en-US" sz="2800" b="1" dirty="0">
                <a:solidFill>
                  <a:prstClr val="black">
                    <a:lumMod val="85000"/>
                    <a:lumOff val="15000"/>
                  </a:prstClr>
                </a:solidFill>
                <a:latin typeface="Times New Roman" panose="02020603050405020304" pitchFamily="18" charset="0"/>
                <a:cs typeface="Times New Roman" panose="02020603050405020304" pitchFamily="18" charset="0"/>
              </a:rPr>
              <a:t>)</a:t>
            </a:r>
          </a:p>
          <a:p>
            <a:pPr lvl="0" algn="ctr" defTabSz="622300">
              <a:lnSpc>
                <a:spcPct val="90000"/>
              </a:lnSpc>
              <a:spcBef>
                <a:spcPct val="0"/>
              </a:spcBef>
              <a:spcAft>
                <a:spcPct val="35000"/>
              </a:spcAft>
            </a:pP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just" defTabSz="622300">
              <a:lnSpc>
                <a:spcPct val="90000"/>
              </a:lnSpc>
              <a:spcBef>
                <a:spcPct val="0"/>
              </a:spcBef>
              <a:spcAft>
                <a:spcPct val="35000"/>
              </a:spcAft>
            </a:pP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										</a:t>
            </a:r>
            <a:r>
              <a:rPr lang="en-US" dirty="0">
                <a:solidFill>
                  <a:prstClr val="black">
                    <a:lumMod val="85000"/>
                    <a:lumOff val="15000"/>
                  </a:prstClr>
                </a:solidFill>
                <a:latin typeface="Times New Roman" panose="02020603050405020304" pitchFamily="18" charset="0"/>
                <a:cs typeface="Times New Roman" panose="02020603050405020304" pitchFamily="18" charset="0"/>
              </a:rPr>
              <a:t>									</a:t>
            </a:r>
          </a:p>
          <a:p>
            <a:pPr lvl="0" algn="ctr" defTabSz="622300">
              <a:lnSpc>
                <a:spcPct val="90000"/>
              </a:lnSpc>
              <a:spcBef>
                <a:spcPct val="0"/>
              </a:spcBef>
              <a:spcAft>
                <a:spcPct val="35000"/>
              </a:spcAft>
            </a:pP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AB5F3AA0-ACE6-1476-DB03-AA8A88302C95}"/>
              </a:ext>
            </a:extLst>
          </p:cNvPr>
          <p:cNvSpPr txBox="1">
            <a:spLocks noChangeArrowheads="1"/>
          </p:cNvSpPr>
          <p:nvPr/>
        </p:nvSpPr>
        <p:spPr bwMode="auto">
          <a:xfrm>
            <a:off x="3732294" y="4269276"/>
            <a:ext cx="4868754" cy="1723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2400" dirty="0">
                <a:solidFill>
                  <a:prstClr val="black">
                    <a:lumMod val="85000"/>
                    <a:lumOff val="15000"/>
                  </a:prstClr>
                </a:solidFill>
                <a:latin typeface="Times New Roman" panose="02020603050405020304" pitchFamily="18" charset="0"/>
                <a:cs typeface="Times New Roman" panose="02020603050405020304" pitchFamily="18" charset="0"/>
              </a:rPr>
              <a:t>TOPIC OF PRESENTATION:</a:t>
            </a:r>
          </a:p>
          <a:p>
            <a:pPr algn="ctr" defTabSz="622300">
              <a:lnSpc>
                <a:spcPct val="90000"/>
              </a:lnSpc>
              <a:spcBef>
                <a:spcPct val="0"/>
              </a:spcBef>
              <a:spcAft>
                <a:spcPct val="35000"/>
              </a:spcAft>
            </a:pPr>
            <a:r>
              <a:rPr lang="en-US" sz="2400" dirty="0">
                <a:latin typeface="Times New Roman" panose="02020603050405020304" pitchFamily="18" charset="0"/>
                <a:cs typeface="Times New Roman" panose="02020603050405020304" pitchFamily="18" charset="0"/>
              </a:rPr>
              <a:t>Java Classes</a:t>
            </a:r>
          </a:p>
          <a:p>
            <a:pPr lvl="0" algn="ctr" defTabSz="622300">
              <a:lnSpc>
                <a:spcPct val="90000"/>
              </a:lnSpc>
              <a:spcBef>
                <a:spcPct val="0"/>
              </a:spcBef>
              <a:spcAft>
                <a:spcPct val="35000"/>
              </a:spcAft>
            </a:pPr>
            <a:endParaRPr lang="en-US" sz="2400" dirty="0">
              <a:solidFill>
                <a:prstClr val="black">
                  <a:lumMod val="85000"/>
                  <a:lumOff val="15000"/>
                </a:prstClr>
              </a:solidFill>
              <a:latin typeface="Times New Roman" panose="02020603050405020304" pitchFamily="18" charset="0"/>
              <a:cs typeface="Times New Roman" panose="02020603050405020304" pitchFamily="18" charset="0"/>
            </a:endParaRPr>
          </a:p>
          <a:p>
            <a:pPr eaLnBrk="1" hangingPunct="1"/>
            <a:endParaRPr lang="en-US" sz="1600" dirty="0">
              <a:latin typeface="Raleway ExtraBold" pitchFamily="34" charset="-52"/>
            </a:endParaRPr>
          </a:p>
        </p:txBody>
      </p:sp>
      <p:sp>
        <p:nvSpPr>
          <p:cNvPr id="15" name="TextBox 14">
            <a:extLst>
              <a:ext uri="{FF2B5EF4-FFF2-40B4-BE49-F238E27FC236}">
                <a16:creationId xmlns:a16="http://schemas.microsoft.com/office/drawing/2014/main" id="{BAD5F903-60D1-1697-D31C-64774241EE2E}"/>
              </a:ext>
            </a:extLst>
          </p:cNvPr>
          <p:cNvSpPr txBox="1"/>
          <p:nvPr/>
        </p:nvSpPr>
        <p:spPr>
          <a:xfrm>
            <a:off x="9610395" y="4790596"/>
            <a:ext cx="2098844" cy="1186479"/>
          </a:xfrm>
          <a:prstGeom prst="rect">
            <a:avLst/>
          </a:prstGeom>
          <a:noFill/>
        </p:spPr>
        <p:txBody>
          <a:bodyPr wrap="square" rtlCol="0">
            <a:spAutoFit/>
          </a:bodyPr>
          <a:lstStyle/>
          <a:p>
            <a:pPr lvl="0" defTabSz="622300">
              <a:lnSpc>
                <a:spcPct val="90000"/>
              </a:lnSpc>
              <a:spcBef>
                <a:spcPct val="0"/>
              </a:spcBef>
              <a:spcAft>
                <a:spcPct val="35000"/>
              </a:spcAft>
            </a:pPr>
            <a:r>
              <a:rPr lang="en-US" dirty="0">
                <a:solidFill>
                  <a:prstClr val="black">
                    <a:lumMod val="85000"/>
                    <a:lumOff val="15000"/>
                  </a:prstClr>
                </a:solidFill>
                <a:latin typeface="Times New Roman" panose="02020603050405020304" pitchFamily="18" charset="0"/>
                <a:cs typeface="Times New Roman" panose="02020603050405020304" pitchFamily="18" charset="0"/>
              </a:rPr>
              <a:t>Prepared by: Bhavneet Kaur</a:t>
            </a:r>
          </a:p>
          <a:p>
            <a:pPr lvl="0" defTabSz="622300">
              <a:lnSpc>
                <a:spcPct val="90000"/>
              </a:lnSpc>
              <a:spcBef>
                <a:spcPct val="0"/>
              </a:spcBef>
              <a:spcAft>
                <a:spcPct val="35000"/>
              </a:spcAft>
            </a:pPr>
            <a:r>
              <a:rPr lang="en-US" dirty="0">
                <a:solidFill>
                  <a:prstClr val="black">
                    <a:lumMod val="85000"/>
                    <a:lumOff val="15000"/>
                  </a:prstClr>
                </a:solidFill>
                <a:latin typeface="Times New Roman" panose="02020603050405020304" pitchFamily="18" charset="0"/>
                <a:cs typeface="Times New Roman" panose="02020603050405020304" pitchFamily="18" charset="0"/>
              </a:rPr>
              <a:t>Master Subject Coordinator</a:t>
            </a:r>
          </a:p>
        </p:txBody>
      </p:sp>
      <p:sp>
        <p:nvSpPr>
          <p:cNvPr id="16" name="Title 3">
            <a:extLst>
              <a:ext uri="{FF2B5EF4-FFF2-40B4-BE49-F238E27FC236}">
                <a16:creationId xmlns:a16="http://schemas.microsoft.com/office/drawing/2014/main" id="{01F2FFA0-BB87-432B-5169-C92751FC688E}"/>
              </a:ext>
            </a:extLst>
          </p:cNvPr>
          <p:cNvSpPr>
            <a:spLocks noGrp="1"/>
          </p:cNvSpPr>
          <p:nvPr>
            <p:ph type="title"/>
          </p:nvPr>
        </p:nvSpPr>
        <p:spPr>
          <a:xfrm>
            <a:off x="838200" y="365125"/>
            <a:ext cx="10515600" cy="1325563"/>
          </a:xfrm>
        </p:spPr>
        <p:txBody>
          <a:bodyPr/>
          <a:lstStyle/>
          <a:p>
            <a:endParaRPr lang="en-IN" dirty="0"/>
          </a:p>
        </p:txBody>
      </p:sp>
      <p:sp>
        <p:nvSpPr>
          <p:cNvPr id="19" name="Content Placeholder 4">
            <a:extLst>
              <a:ext uri="{FF2B5EF4-FFF2-40B4-BE49-F238E27FC236}">
                <a16:creationId xmlns:a16="http://schemas.microsoft.com/office/drawing/2014/main" id="{6C301AF6-48BD-BA7D-BE55-37142DE8D7C6}"/>
              </a:ext>
            </a:extLst>
          </p:cNvPr>
          <p:cNvSpPr>
            <a:spLocks noGrp="1"/>
          </p:cNvSpPr>
          <p:nvPr>
            <p:ph idx="1"/>
          </p:nvPr>
        </p:nvSpPr>
        <p:spPr>
          <a:xfrm>
            <a:off x="1650839" y="5787480"/>
            <a:ext cx="10515600" cy="4351338"/>
          </a:xfrm>
        </p:spPr>
        <p:txBody>
          <a:bodyPr/>
          <a:lstStyle/>
          <a:p>
            <a:endParaRPr lang="en-IN" dirty="0"/>
          </a:p>
        </p:txBody>
      </p:sp>
    </p:spTree>
    <p:extLst>
      <p:ext uri="{BB962C8B-B14F-4D97-AF65-F5344CB8AC3E}">
        <p14:creationId xmlns:p14="http://schemas.microsoft.com/office/powerpoint/2010/main" val="9917949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449263" y="1840230"/>
            <a:ext cx="4322762" cy="4516120"/>
          </a:xfrm>
        </p:spPr>
        <p:txBody>
          <a:bodyPr>
            <a:normAutofit/>
          </a:bodyPr>
          <a:lstStyle/>
          <a:p>
            <a:endParaRPr lang="en-IN" dirty="0">
              <a:latin typeface="Times New Roman" pitchFamily="18" charset="0"/>
              <a:cs typeface="Times New Roman" pitchFamily="18" charset="0"/>
            </a:endParaRPr>
          </a:p>
          <a:p>
            <a:r>
              <a:rPr lang="en-US" sz="2400" dirty="0">
                <a:latin typeface="Times New Roman" pitchFamily="18" charset="0"/>
                <a:cs typeface="Times New Roman" pitchFamily="18" charset="0"/>
              </a:rPr>
              <a:t>In this lecture, we will discuss:</a:t>
            </a:r>
          </a:p>
          <a:p>
            <a:pPr marL="342900" indent="-342900">
              <a:buFont typeface="Arial" panose="020B0604020202020204" pitchFamily="34" charset="0"/>
              <a:buChar char="•"/>
            </a:pPr>
            <a:r>
              <a:rPr lang="en-IN" sz="2400" dirty="0">
                <a:latin typeface="Times New Roman" pitchFamily="18" charset="0"/>
                <a:cs typeface="Times New Roman" pitchFamily="18" charset="0"/>
              </a:rPr>
              <a:t>Abstract Class </a:t>
            </a:r>
          </a:p>
          <a:p>
            <a:pPr marL="342900" indent="-342900">
              <a:buFont typeface="Arial" panose="020B0604020202020204" pitchFamily="34" charset="0"/>
              <a:buChar char="•"/>
            </a:pPr>
            <a:r>
              <a:rPr lang="en-IN" sz="2400" dirty="0">
                <a:latin typeface="Times New Roman" pitchFamily="18" charset="0"/>
                <a:cs typeface="Times New Roman" pitchFamily="18" charset="0"/>
              </a:rPr>
              <a:t>Static Class </a:t>
            </a:r>
          </a:p>
          <a:p>
            <a:endParaRPr lang="en-US" sz="2400"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2</a:t>
            </a:fld>
            <a:endParaRPr lang="en-US" dirty="0"/>
          </a:p>
        </p:txBody>
      </p:sp>
      <p:sp>
        <p:nvSpPr>
          <p:cNvPr id="8" name="Title 7"/>
          <p:cNvSpPr txBox="1">
            <a:spLocks noGrp="1" noChangeArrowheads="1"/>
          </p:cNvSpPr>
          <p:nvPr>
            <p:ph type="title"/>
          </p:nvPr>
        </p:nvSpPr>
        <p:spPr bwMode="auto">
          <a:xfrm>
            <a:off x="700722" y="501650"/>
            <a:ext cx="4456567"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dirty="0">
                <a:latin typeface="Times New Roman" pitchFamily="18" charset="0"/>
                <a:cs typeface="Times New Roman" pitchFamily="18" charset="0"/>
              </a:rPr>
              <a:t>Lecture Objectives</a:t>
            </a:r>
            <a:br>
              <a:rPr lang="en-US" sz="2000" b="1" dirty="0">
                <a:latin typeface="Times New Roman" pitchFamily="18" charset="0"/>
                <a:ea typeface="Karla" pitchFamily="2" charset="0"/>
                <a:cs typeface="Times New Roman" pitchFamily="18" charset="0"/>
              </a:rPr>
            </a:br>
            <a:endParaRPr lang="en-US" sz="1600" dirty="0">
              <a:latin typeface="Times New Roman" pitchFamily="18" charset="0"/>
              <a:cs typeface="Times New Roman" pitchFamily="18" charset="0"/>
            </a:endParaRPr>
          </a:p>
        </p:txBody>
      </p:sp>
      <p:sp>
        <p:nvSpPr>
          <p:cNvPr id="2" name="Rectangle 1"/>
          <p:cNvSpPr/>
          <p:nvPr/>
        </p:nvSpPr>
        <p:spPr>
          <a:xfrm>
            <a:off x="5295900" y="838200"/>
            <a:ext cx="5867400" cy="55181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449262" y="1611630"/>
            <a:ext cx="4322762" cy="474472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5" name="Picture 34">
            <a:extLst>
              <a:ext uri="{FF2B5EF4-FFF2-40B4-BE49-F238E27FC236}">
                <a16:creationId xmlns:a16="http://schemas.microsoft.com/office/drawing/2014/main" id="{80FB9F60-C0EA-46DF-90E1-77B6313A89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96000" y="1405890"/>
            <a:ext cx="4305300" cy="4503420"/>
          </a:xfrm>
          <a:prstGeom prst="rect">
            <a:avLst/>
          </a:prstGeom>
        </p:spPr>
      </p:pic>
    </p:spTree>
    <p:extLst>
      <p:ext uri="{BB962C8B-B14F-4D97-AF65-F5344CB8AC3E}">
        <p14:creationId xmlns:p14="http://schemas.microsoft.com/office/powerpoint/2010/main" val="6938015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a:xfrm>
            <a:off x="2676525" y="169068"/>
            <a:ext cx="7924800" cy="932657"/>
          </a:xfrm>
        </p:spPr>
        <p:txBody>
          <a:bodyPr>
            <a:normAutofit/>
          </a:bodyPr>
          <a:lstStyle/>
          <a:p>
            <a:pPr algn="ctr"/>
            <a:r>
              <a:rPr lang="en-US" b="1" dirty="0">
                <a:latin typeface="Times New Roman" pitchFamily="18" charset="0"/>
                <a:cs typeface="Times New Roman" pitchFamily="18" charset="0"/>
              </a:rPr>
              <a:t>Abstract Class</a:t>
            </a:r>
          </a:p>
        </p:txBody>
      </p:sp>
      <p:sp>
        <p:nvSpPr>
          <p:cNvPr id="123907" name="Rectangle 3"/>
          <p:cNvSpPr>
            <a:spLocks noGrp="1" noChangeArrowheads="1"/>
          </p:cNvSpPr>
          <p:nvPr>
            <p:ph type="body" idx="1"/>
          </p:nvPr>
        </p:nvSpPr>
        <p:spPr>
          <a:xfrm>
            <a:off x="197956" y="2349573"/>
            <a:ext cx="11621729" cy="5410200"/>
          </a:xfrm>
        </p:spPr>
        <p:txBody>
          <a:bodyPr>
            <a:normAutofit/>
          </a:bodyPr>
          <a:lstStyle/>
          <a:p>
            <a:pPr>
              <a:buNone/>
            </a:pPr>
            <a:r>
              <a:rPr lang="en-US" sz="2400" b="1" dirty="0">
                <a:latin typeface="Times New Roman" pitchFamily="18" charset="0"/>
                <a:cs typeface="Times New Roman" pitchFamily="18" charset="0"/>
              </a:rPr>
              <a:t>Abstraction</a:t>
            </a:r>
            <a:r>
              <a:rPr lang="en-US" sz="2400" dirty="0">
                <a:latin typeface="Times New Roman" pitchFamily="18" charset="0"/>
                <a:cs typeface="Times New Roman" pitchFamily="18" charset="0"/>
              </a:rPr>
              <a:t> is a process of hiding the implementation details and showing only functionality to the user.</a:t>
            </a:r>
          </a:p>
          <a:p>
            <a:r>
              <a:rPr lang="en-US" sz="2400" dirty="0">
                <a:latin typeface="Times New Roman" pitchFamily="18" charset="0"/>
                <a:cs typeface="Times New Roman" pitchFamily="18" charset="0"/>
              </a:rPr>
              <a:t>A class which is declared with the abstract keyword is known as an abstract class in Java. </a:t>
            </a:r>
          </a:p>
          <a:p>
            <a:r>
              <a:rPr lang="en-US" sz="2400" dirty="0">
                <a:latin typeface="Times New Roman" pitchFamily="18" charset="0"/>
                <a:cs typeface="Times New Roman" pitchFamily="18" charset="0"/>
              </a:rPr>
              <a:t>It can have abstract and non-abstract methods.</a:t>
            </a:r>
          </a:p>
          <a:p>
            <a:r>
              <a:rPr lang="en-US" sz="2400" dirty="0">
                <a:latin typeface="Times New Roman" pitchFamily="18" charset="0"/>
                <a:cs typeface="Times New Roman" pitchFamily="18" charset="0"/>
              </a:rPr>
              <a:t>The abstract keyword is a non-access modifier, used for classes and methods:</a:t>
            </a:r>
          </a:p>
          <a:p>
            <a:pPr lvl="1">
              <a:buFont typeface="Wingdings" panose="05000000000000000000" pitchFamily="2" charset="2"/>
              <a:buChar char="Ø"/>
            </a:pPr>
            <a:r>
              <a:rPr lang="en-US" dirty="0">
                <a:latin typeface="Times New Roman" pitchFamily="18" charset="0"/>
                <a:cs typeface="Times New Roman" pitchFamily="18" charset="0"/>
              </a:rPr>
              <a:t> </a:t>
            </a:r>
            <a:r>
              <a:rPr lang="en-US" b="1" dirty="0">
                <a:latin typeface="Times New Roman" pitchFamily="18" charset="0"/>
                <a:cs typeface="Times New Roman" pitchFamily="18" charset="0"/>
              </a:rPr>
              <a:t>Abstract class:</a:t>
            </a:r>
            <a:r>
              <a:rPr lang="en-US" dirty="0">
                <a:latin typeface="Times New Roman" pitchFamily="18" charset="0"/>
                <a:cs typeface="Times New Roman" pitchFamily="18" charset="0"/>
              </a:rPr>
              <a:t> is a restricted class that cannot be used to create objects (to access it, it must be inherited from another class).</a:t>
            </a:r>
          </a:p>
          <a:p>
            <a:pPr lvl="1">
              <a:buFont typeface="Wingdings" panose="05000000000000000000" pitchFamily="2" charset="2"/>
              <a:buChar char="Ø"/>
            </a:pPr>
            <a:r>
              <a:rPr lang="en-US" dirty="0">
                <a:latin typeface="Times New Roman" pitchFamily="18" charset="0"/>
                <a:cs typeface="Times New Roman" pitchFamily="18" charset="0"/>
              </a:rPr>
              <a:t> </a:t>
            </a:r>
            <a:r>
              <a:rPr lang="en-US" b="1" dirty="0">
                <a:latin typeface="Times New Roman" pitchFamily="18" charset="0"/>
                <a:cs typeface="Times New Roman" pitchFamily="18" charset="0"/>
              </a:rPr>
              <a:t>Abstract method: </a:t>
            </a:r>
            <a:r>
              <a:rPr lang="en-US" dirty="0">
                <a:latin typeface="Times New Roman" pitchFamily="18" charset="0"/>
                <a:cs typeface="Times New Roman" pitchFamily="18" charset="0"/>
              </a:rPr>
              <a:t>can only be used in an abstract class, and it does not have a body. The body is provided by the subclass (inherited from).</a:t>
            </a:r>
          </a:p>
        </p:txBody>
      </p:sp>
      <p:pic>
        <p:nvPicPr>
          <p:cNvPr id="6" name="Picture 5">
            <a:extLst>
              <a:ext uri="{FF2B5EF4-FFF2-40B4-BE49-F238E27FC236}">
                <a16:creationId xmlns:a16="http://schemas.microsoft.com/office/drawing/2014/main" id="{17BB8ADD-DD1C-C830-136A-866D77A07075}"/>
              </a:ext>
            </a:extLst>
          </p:cNvPr>
          <p:cNvPicPr>
            <a:picLocks noChangeAspect="1"/>
          </p:cNvPicPr>
          <p:nvPr/>
        </p:nvPicPr>
        <p:blipFill>
          <a:blip r:embed="rId2"/>
          <a:stretch>
            <a:fillRect/>
          </a:stretch>
        </p:blipFill>
        <p:spPr>
          <a:xfrm>
            <a:off x="8442666" y="444837"/>
            <a:ext cx="3551378" cy="1904736"/>
          </a:xfrm>
          <a:prstGeom prst="rect">
            <a:avLst/>
          </a:prstGeom>
        </p:spPr>
      </p:pic>
    </p:spTree>
    <p:extLst>
      <p:ext uri="{BB962C8B-B14F-4D97-AF65-F5344CB8AC3E}">
        <p14:creationId xmlns:p14="http://schemas.microsoft.com/office/powerpoint/2010/main" val="3108533849"/>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a:xfrm>
            <a:off x="2676525" y="169068"/>
            <a:ext cx="7924800" cy="932657"/>
          </a:xfrm>
        </p:spPr>
        <p:txBody>
          <a:bodyPr>
            <a:normAutofit/>
          </a:bodyPr>
          <a:lstStyle/>
          <a:p>
            <a:pPr algn="ctr"/>
            <a:r>
              <a:rPr lang="en-US" b="1" dirty="0">
                <a:latin typeface="Times New Roman" pitchFamily="18" charset="0"/>
                <a:cs typeface="Times New Roman" pitchFamily="18" charset="0"/>
              </a:rPr>
              <a:t>Abstract Class</a:t>
            </a:r>
          </a:p>
        </p:txBody>
      </p:sp>
      <p:sp>
        <p:nvSpPr>
          <p:cNvPr id="123907" name="Rectangle 3"/>
          <p:cNvSpPr>
            <a:spLocks noGrp="1" noChangeArrowheads="1"/>
          </p:cNvSpPr>
          <p:nvPr>
            <p:ph type="body" idx="1"/>
          </p:nvPr>
        </p:nvSpPr>
        <p:spPr>
          <a:xfrm>
            <a:off x="442452" y="1447800"/>
            <a:ext cx="11749548" cy="5410200"/>
          </a:xfrm>
        </p:spPr>
        <p:txBody>
          <a:bodyPr>
            <a:normAutofit fontScale="92500" lnSpcReduction="20000"/>
          </a:bodyPr>
          <a:lstStyle/>
          <a:p>
            <a:pPr marL="298450" marR="186055" indent="-285750">
              <a:lnSpc>
                <a:spcPct val="100000"/>
              </a:lnSpc>
              <a:spcBef>
                <a:spcPts val="100"/>
              </a:spcBef>
              <a:buNone/>
            </a:pPr>
            <a:r>
              <a:rPr lang="en-US" sz="3000" dirty="0">
                <a:latin typeface="Times New Roman" pitchFamily="18" charset="0"/>
                <a:cs typeface="Times New Roman" pitchFamily="18" charset="0"/>
              </a:rPr>
              <a:t>Any </a:t>
            </a:r>
            <a:r>
              <a:rPr lang="en-US" sz="3000" spc="-5" dirty="0">
                <a:latin typeface="Times New Roman" pitchFamily="18" charset="0"/>
                <a:cs typeface="Times New Roman" pitchFamily="18" charset="0"/>
              </a:rPr>
              <a:t>class containing </a:t>
            </a:r>
            <a:r>
              <a:rPr lang="en-US" sz="3000" spc="-10" dirty="0">
                <a:latin typeface="Times New Roman" pitchFamily="18" charset="0"/>
                <a:cs typeface="Times New Roman" pitchFamily="18" charset="0"/>
              </a:rPr>
              <a:t>an </a:t>
            </a:r>
            <a:r>
              <a:rPr lang="en-US" sz="3000" spc="-5" dirty="0">
                <a:latin typeface="Times New Roman" pitchFamily="18" charset="0"/>
                <a:cs typeface="Times New Roman" pitchFamily="18" charset="0"/>
              </a:rPr>
              <a:t>abstract method </a:t>
            </a:r>
            <a:r>
              <a:rPr lang="en-US" sz="3000" dirty="0">
                <a:latin typeface="Times New Roman" pitchFamily="18" charset="0"/>
                <a:cs typeface="Times New Roman" pitchFamily="18" charset="0"/>
              </a:rPr>
              <a:t>is </a:t>
            </a:r>
            <a:r>
              <a:rPr lang="en-US" sz="3000" spc="-5" dirty="0">
                <a:latin typeface="Times New Roman" pitchFamily="18" charset="0"/>
                <a:cs typeface="Times New Roman" pitchFamily="18" charset="0"/>
              </a:rPr>
              <a:t>an abstract  class</a:t>
            </a:r>
            <a:endParaRPr lang="en-US" sz="3000" dirty="0">
              <a:latin typeface="Times New Roman" pitchFamily="18" charset="0"/>
              <a:cs typeface="Times New Roman" pitchFamily="18" charset="0"/>
            </a:endParaRPr>
          </a:p>
          <a:p>
            <a:pPr marL="298450" indent="-285750">
              <a:lnSpc>
                <a:spcPct val="100000"/>
              </a:lnSpc>
              <a:spcBef>
                <a:spcPts val="690"/>
              </a:spcBef>
              <a:buNone/>
            </a:pPr>
            <a:r>
              <a:rPr lang="en-US" sz="3000" dirty="0">
                <a:latin typeface="Times New Roman" pitchFamily="18" charset="0"/>
                <a:cs typeface="Times New Roman" pitchFamily="18" charset="0"/>
              </a:rPr>
              <a:t>You </a:t>
            </a:r>
            <a:r>
              <a:rPr lang="en-US" sz="3000" spc="-5" dirty="0">
                <a:latin typeface="Times New Roman" pitchFamily="18" charset="0"/>
                <a:cs typeface="Times New Roman" pitchFamily="18" charset="0"/>
              </a:rPr>
              <a:t>must declare </a:t>
            </a:r>
            <a:r>
              <a:rPr lang="en-US" sz="3000" dirty="0">
                <a:latin typeface="Times New Roman" pitchFamily="18" charset="0"/>
                <a:cs typeface="Times New Roman" pitchFamily="18" charset="0"/>
              </a:rPr>
              <a:t>the </a:t>
            </a:r>
            <a:r>
              <a:rPr lang="en-US" sz="3000" spc="-5" dirty="0">
                <a:latin typeface="Times New Roman" pitchFamily="18" charset="0"/>
                <a:cs typeface="Times New Roman" pitchFamily="18" charset="0"/>
              </a:rPr>
              <a:t>class with </a:t>
            </a:r>
            <a:r>
              <a:rPr lang="en-US" sz="3000" dirty="0">
                <a:latin typeface="Times New Roman" pitchFamily="18" charset="0"/>
                <a:cs typeface="Times New Roman" pitchFamily="18" charset="0"/>
              </a:rPr>
              <a:t>the keyword</a:t>
            </a:r>
            <a:r>
              <a:rPr lang="en-US" sz="3000" spc="-50" dirty="0">
                <a:latin typeface="Times New Roman" pitchFamily="18" charset="0"/>
                <a:cs typeface="Times New Roman" pitchFamily="18" charset="0"/>
              </a:rPr>
              <a:t> </a:t>
            </a:r>
            <a:r>
              <a:rPr lang="en-US" sz="3000" spc="-10" dirty="0">
                <a:latin typeface="Times New Roman" pitchFamily="18" charset="0"/>
                <a:cs typeface="Times New Roman" pitchFamily="18" charset="0"/>
              </a:rPr>
              <a:t>abstract:</a:t>
            </a:r>
            <a:endParaRPr lang="en-US" sz="3000" dirty="0">
              <a:latin typeface="Times New Roman" pitchFamily="18" charset="0"/>
              <a:cs typeface="Times New Roman" pitchFamily="18" charset="0"/>
            </a:endParaRPr>
          </a:p>
          <a:p>
            <a:pPr marL="184150" indent="0">
              <a:lnSpc>
                <a:spcPct val="100000"/>
              </a:lnSpc>
              <a:spcBef>
                <a:spcPts val="600"/>
              </a:spcBef>
              <a:buNone/>
            </a:pPr>
            <a:r>
              <a:rPr lang="en-US" sz="3000" b="1" spc="-5" dirty="0">
                <a:latin typeface="Times New Roman" pitchFamily="18" charset="0"/>
                <a:cs typeface="Times New Roman" pitchFamily="18" charset="0"/>
              </a:rPr>
              <a:t>            abstract class </a:t>
            </a:r>
            <a:r>
              <a:rPr lang="en-US" sz="3000" b="1" spc="-5" dirty="0" err="1">
                <a:latin typeface="Times New Roman" pitchFamily="18" charset="0"/>
                <a:cs typeface="Times New Roman" pitchFamily="18" charset="0"/>
              </a:rPr>
              <a:t>MyClass</a:t>
            </a:r>
            <a:r>
              <a:rPr lang="en-US" sz="3000" b="1" spc="-10" dirty="0">
                <a:latin typeface="Times New Roman" pitchFamily="18" charset="0"/>
                <a:cs typeface="Times New Roman" pitchFamily="18" charset="0"/>
              </a:rPr>
              <a:t> {...}</a:t>
            </a:r>
            <a:endParaRPr lang="en-US" sz="3000" b="1" dirty="0">
              <a:latin typeface="Times New Roman" pitchFamily="18" charset="0"/>
              <a:cs typeface="Times New Roman" pitchFamily="18" charset="0"/>
            </a:endParaRPr>
          </a:p>
          <a:p>
            <a:pPr marL="298450" indent="-285750">
              <a:lnSpc>
                <a:spcPct val="100000"/>
              </a:lnSpc>
              <a:spcBef>
                <a:spcPts val="700"/>
              </a:spcBef>
              <a:buNone/>
            </a:pPr>
            <a:r>
              <a:rPr lang="en-US" sz="3000" spc="-5" dirty="0">
                <a:latin typeface="Times New Roman" pitchFamily="18" charset="0"/>
                <a:cs typeface="Times New Roman" pitchFamily="18" charset="0"/>
              </a:rPr>
              <a:t>An abstract class </a:t>
            </a:r>
            <a:r>
              <a:rPr lang="en-US" sz="3000" dirty="0">
                <a:latin typeface="Times New Roman" pitchFamily="18" charset="0"/>
                <a:cs typeface="Times New Roman" pitchFamily="18" charset="0"/>
              </a:rPr>
              <a:t>is</a:t>
            </a:r>
            <a:r>
              <a:rPr lang="en-US" sz="3000" spc="30" dirty="0">
                <a:latin typeface="Times New Roman" pitchFamily="18" charset="0"/>
                <a:cs typeface="Times New Roman" pitchFamily="18" charset="0"/>
              </a:rPr>
              <a:t> </a:t>
            </a:r>
            <a:r>
              <a:rPr lang="en-US" sz="3000" i="1" spc="-5" dirty="0">
                <a:latin typeface="Times New Roman" pitchFamily="18" charset="0"/>
                <a:cs typeface="Times New Roman" pitchFamily="18" charset="0"/>
              </a:rPr>
              <a:t>incomplete as </a:t>
            </a:r>
            <a:r>
              <a:rPr lang="en-US" sz="3200" spc="-5" dirty="0">
                <a:latin typeface="Times New Roman" pitchFamily="18" charset="0"/>
                <a:cs typeface="Times New Roman" pitchFamily="18" charset="0"/>
              </a:rPr>
              <a:t>i</a:t>
            </a:r>
            <a:r>
              <a:rPr lang="en-US" sz="3200" dirty="0">
                <a:latin typeface="Times New Roman" pitchFamily="18" charset="0"/>
                <a:cs typeface="Times New Roman" pitchFamily="18" charset="0"/>
              </a:rPr>
              <a:t>t has </a:t>
            </a:r>
            <a:r>
              <a:rPr lang="en-US" sz="3200" spc="-5" dirty="0">
                <a:latin typeface="Times New Roman" pitchFamily="18" charset="0"/>
                <a:cs typeface="Times New Roman" pitchFamily="18" charset="0"/>
              </a:rPr>
              <a:t>“missing” method</a:t>
            </a:r>
            <a:r>
              <a:rPr lang="en-US" sz="3200" spc="-65" dirty="0">
                <a:latin typeface="Times New Roman" pitchFamily="18" charset="0"/>
                <a:cs typeface="Times New Roman" pitchFamily="18" charset="0"/>
              </a:rPr>
              <a:t> </a:t>
            </a:r>
            <a:r>
              <a:rPr lang="en-US" sz="3200" dirty="0">
                <a:latin typeface="Times New Roman" pitchFamily="18" charset="0"/>
                <a:cs typeface="Times New Roman" pitchFamily="18" charset="0"/>
              </a:rPr>
              <a:t>bodies.</a:t>
            </a:r>
            <a:endParaRPr lang="en-US" dirty="0">
              <a:latin typeface="Times New Roman" pitchFamily="18" charset="0"/>
              <a:cs typeface="Times New Roman" pitchFamily="18" charset="0"/>
            </a:endParaRPr>
          </a:p>
          <a:p>
            <a:pPr marL="0" indent="0">
              <a:buNone/>
            </a:pPr>
            <a:endParaRPr lang="en-US" b="1" dirty="0">
              <a:latin typeface="Times New Roman" pitchFamily="18" charset="0"/>
              <a:cs typeface="Times New Roman" pitchFamily="18" charset="0"/>
            </a:endParaRPr>
          </a:p>
          <a:p>
            <a:pPr marL="0" indent="0">
              <a:buNone/>
            </a:pPr>
            <a:r>
              <a:rPr lang="en-US" b="1" dirty="0">
                <a:latin typeface="Times New Roman" pitchFamily="18" charset="0"/>
                <a:cs typeface="Times New Roman" pitchFamily="18" charset="0"/>
              </a:rPr>
              <a:t>EXAMPLE:</a:t>
            </a:r>
          </a:p>
          <a:p>
            <a:pPr marL="0" indent="0">
              <a:buNone/>
            </a:pPr>
            <a:r>
              <a:rPr lang="en-US" dirty="0">
                <a:latin typeface="Times New Roman" pitchFamily="18" charset="0"/>
                <a:cs typeface="Times New Roman" pitchFamily="18" charset="0"/>
              </a:rPr>
              <a:t>abstract class Animal {</a:t>
            </a:r>
          </a:p>
          <a:p>
            <a:pPr marL="0" indent="0">
              <a:buNone/>
            </a:pPr>
            <a:r>
              <a:rPr lang="en-US" dirty="0">
                <a:latin typeface="Times New Roman" pitchFamily="18" charset="0"/>
                <a:cs typeface="Times New Roman" pitchFamily="18" charset="0"/>
              </a:rPr>
              <a:t>  public abstract void </a:t>
            </a:r>
            <a:r>
              <a:rPr lang="en-US" dirty="0" err="1">
                <a:latin typeface="Times New Roman" pitchFamily="18" charset="0"/>
                <a:cs typeface="Times New Roman" pitchFamily="18" charset="0"/>
              </a:rPr>
              <a:t>animalSound</a:t>
            </a:r>
            <a:r>
              <a:rPr lang="en-US" dirty="0">
                <a:latin typeface="Times New Roman" pitchFamily="18" charset="0"/>
                <a:cs typeface="Times New Roman" pitchFamily="18" charset="0"/>
              </a:rPr>
              <a:t>();</a:t>
            </a:r>
          </a:p>
          <a:p>
            <a:pPr marL="0" indent="0">
              <a:buNone/>
            </a:pPr>
            <a:r>
              <a:rPr lang="en-US" dirty="0">
                <a:latin typeface="Times New Roman" pitchFamily="18" charset="0"/>
                <a:cs typeface="Times New Roman" pitchFamily="18" charset="0"/>
              </a:rPr>
              <a:t>  public void sleep() {</a:t>
            </a:r>
          </a:p>
          <a:p>
            <a:pPr marL="0" indent="0">
              <a:buNone/>
            </a:pP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System.out.println</a:t>
            </a:r>
            <a:r>
              <a:rPr lang="en-US" dirty="0">
                <a:latin typeface="Times New Roman" pitchFamily="18" charset="0"/>
                <a:cs typeface="Times New Roman" pitchFamily="18" charset="0"/>
              </a:rPr>
              <a:t>("</a:t>
            </a:r>
            <a:r>
              <a:rPr lang="en-US" dirty="0" err="1">
                <a:latin typeface="Times New Roman" pitchFamily="18" charset="0"/>
                <a:cs typeface="Times New Roman" pitchFamily="18" charset="0"/>
              </a:rPr>
              <a:t>Zzz</a:t>
            </a:r>
            <a:r>
              <a:rPr lang="en-US" dirty="0">
                <a:latin typeface="Times New Roman" pitchFamily="18" charset="0"/>
                <a:cs typeface="Times New Roman" pitchFamily="18" charset="0"/>
              </a:rPr>
              <a:t>");</a:t>
            </a:r>
          </a:p>
          <a:p>
            <a:pPr marL="0" indent="0">
              <a:buNone/>
            </a:pPr>
            <a:r>
              <a:rPr lang="en-US" dirty="0">
                <a:latin typeface="Times New Roman" pitchFamily="18" charset="0"/>
                <a:cs typeface="Times New Roman" pitchFamily="18" charset="0"/>
              </a:rPr>
              <a:t>  }</a:t>
            </a:r>
          </a:p>
          <a:p>
            <a:pPr marL="0" indent="0">
              <a:buNone/>
            </a:pPr>
            <a:r>
              <a:rPr lang="en-US" dirty="0">
                <a:latin typeface="Times New Roman" pitchFamily="18" charset="0"/>
                <a:cs typeface="Times New Roman" pitchFamily="18" charset="0"/>
              </a:rPr>
              <a:t>}</a:t>
            </a:r>
          </a:p>
        </p:txBody>
      </p:sp>
      <p:pic>
        <p:nvPicPr>
          <p:cNvPr id="2050" name="Picture 2" descr="Javarevisited: What is Abstract Class ...">
            <a:extLst>
              <a:ext uri="{FF2B5EF4-FFF2-40B4-BE49-F238E27FC236}">
                <a16:creationId xmlns:a16="http://schemas.microsoft.com/office/drawing/2014/main" id="{D2EA3BAF-B1DC-142C-134F-4DC47993B0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18629" y="3429000"/>
            <a:ext cx="4451687" cy="2637472"/>
          </a:xfrm>
          <a:prstGeom prst="rect">
            <a:avLst/>
          </a:prstGeom>
        </p:spPr>
        <p:style>
          <a:lnRef idx="2">
            <a:schemeClr val="accent2"/>
          </a:lnRef>
          <a:fillRef idx="1">
            <a:schemeClr val="lt1"/>
          </a:fillRef>
          <a:effectRef idx="0">
            <a:schemeClr val="accent2"/>
          </a:effectRef>
          <a:fontRef idx="minor">
            <a:schemeClr val="dk1"/>
          </a:fontRef>
        </p:style>
      </p:pic>
    </p:spTree>
    <p:extLst>
      <p:ext uri="{BB962C8B-B14F-4D97-AF65-F5344CB8AC3E}">
        <p14:creationId xmlns:p14="http://schemas.microsoft.com/office/powerpoint/2010/main" val="3720139624"/>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a:xfrm>
            <a:off x="2676525" y="169068"/>
            <a:ext cx="7924800" cy="932657"/>
          </a:xfrm>
        </p:spPr>
        <p:txBody>
          <a:bodyPr>
            <a:normAutofit/>
          </a:bodyPr>
          <a:lstStyle/>
          <a:p>
            <a:pPr algn="ctr"/>
            <a:r>
              <a:rPr lang="en-US" b="1" dirty="0">
                <a:latin typeface="Times New Roman" pitchFamily="18" charset="0"/>
                <a:cs typeface="Times New Roman" pitchFamily="18" charset="0"/>
              </a:rPr>
              <a:t>Ways to achieve Abstraction:</a:t>
            </a:r>
          </a:p>
        </p:txBody>
      </p:sp>
      <p:sp>
        <p:nvSpPr>
          <p:cNvPr id="123907" name="Rectangle 3"/>
          <p:cNvSpPr>
            <a:spLocks noGrp="1" noChangeArrowheads="1"/>
          </p:cNvSpPr>
          <p:nvPr>
            <p:ph type="body" idx="1"/>
          </p:nvPr>
        </p:nvSpPr>
        <p:spPr>
          <a:xfrm>
            <a:off x="471948" y="1447800"/>
            <a:ext cx="11720052" cy="5410200"/>
          </a:xfrm>
        </p:spPr>
        <p:txBody>
          <a:bodyPr>
            <a:normAutofit/>
          </a:bodyPr>
          <a:lstStyle/>
          <a:p>
            <a:pPr marL="0" indent="0" algn="just">
              <a:buNone/>
            </a:pPr>
            <a:r>
              <a:rPr lang="en-US" dirty="0">
                <a:latin typeface="Times New Roman" pitchFamily="18" charset="0"/>
                <a:cs typeface="Times New Roman" pitchFamily="18" charset="0"/>
              </a:rPr>
              <a:t>There are two ways to achieve abstraction in java:</a:t>
            </a:r>
          </a:p>
          <a:p>
            <a:pPr marL="0" indent="0" algn="just">
              <a:buNone/>
            </a:pPr>
            <a:endParaRPr lang="en-US" b="1" dirty="0">
              <a:latin typeface="Times New Roman" pitchFamily="18" charset="0"/>
              <a:cs typeface="Times New Roman" pitchFamily="18" charset="0"/>
            </a:endParaRPr>
          </a:p>
          <a:p>
            <a:pPr marL="0" indent="0" algn="just">
              <a:buNone/>
            </a:pPr>
            <a:r>
              <a:rPr lang="en-US" b="1" dirty="0">
                <a:latin typeface="Times New Roman" pitchFamily="18" charset="0"/>
                <a:cs typeface="Times New Roman" pitchFamily="18" charset="0"/>
              </a:rPr>
              <a:t>a) Abstract class (0 to 100%)</a:t>
            </a:r>
          </a:p>
          <a:p>
            <a:pPr marL="0" indent="0" algn="just">
              <a:buNone/>
            </a:pPr>
            <a:r>
              <a:rPr lang="en-US" b="1" dirty="0">
                <a:latin typeface="Times New Roman" pitchFamily="18" charset="0"/>
                <a:cs typeface="Times New Roman" pitchFamily="18" charset="0"/>
              </a:rPr>
              <a:t>b) Interface (100%)</a:t>
            </a:r>
          </a:p>
          <a:p>
            <a:pPr marL="0" indent="0">
              <a:buNone/>
            </a:pP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1835695474"/>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a:xfrm>
            <a:off x="2676525" y="169068"/>
            <a:ext cx="7924800" cy="932657"/>
          </a:xfrm>
        </p:spPr>
        <p:txBody>
          <a:bodyPr>
            <a:normAutofit/>
          </a:bodyPr>
          <a:lstStyle/>
          <a:p>
            <a:pPr algn="ctr"/>
            <a:r>
              <a:rPr lang="en-US" b="1" dirty="0">
                <a:latin typeface="Times New Roman" pitchFamily="18" charset="0"/>
                <a:cs typeface="Times New Roman" pitchFamily="18" charset="0"/>
              </a:rPr>
              <a:t>Example:</a:t>
            </a:r>
          </a:p>
        </p:txBody>
      </p:sp>
      <p:sp>
        <p:nvSpPr>
          <p:cNvPr id="123907" name="Rectangle 3"/>
          <p:cNvSpPr>
            <a:spLocks noGrp="1" noChangeArrowheads="1"/>
          </p:cNvSpPr>
          <p:nvPr>
            <p:ph type="body" idx="1"/>
          </p:nvPr>
        </p:nvSpPr>
        <p:spPr>
          <a:xfrm>
            <a:off x="1120876" y="1447800"/>
            <a:ext cx="10132143" cy="5410200"/>
          </a:xfrm>
        </p:spPr>
        <p:txBody>
          <a:bodyPr>
            <a:normAutofit fontScale="62500" lnSpcReduction="20000"/>
          </a:bodyPr>
          <a:lstStyle/>
          <a:p>
            <a:pPr marL="0" indent="0">
              <a:buNone/>
            </a:pPr>
            <a:r>
              <a:rPr lang="en-IN" b="1" dirty="0">
                <a:latin typeface="Times New Roman" pitchFamily="18" charset="0"/>
                <a:cs typeface="Times New Roman" pitchFamily="18" charset="0"/>
              </a:rPr>
              <a:t>abstract</a:t>
            </a:r>
            <a:r>
              <a:rPr lang="en-IN" dirty="0">
                <a:latin typeface="Times New Roman" pitchFamily="18" charset="0"/>
                <a:cs typeface="Times New Roman" pitchFamily="18" charset="0"/>
              </a:rPr>
              <a:t> </a:t>
            </a:r>
            <a:r>
              <a:rPr lang="en-IN" b="1" dirty="0">
                <a:latin typeface="Times New Roman" pitchFamily="18" charset="0"/>
                <a:cs typeface="Times New Roman" pitchFamily="18" charset="0"/>
              </a:rPr>
              <a:t>class</a:t>
            </a:r>
            <a:r>
              <a:rPr lang="en-IN" dirty="0">
                <a:latin typeface="Times New Roman" pitchFamily="18" charset="0"/>
                <a:cs typeface="Times New Roman" pitchFamily="18" charset="0"/>
              </a:rPr>
              <a:t> Bank{    </a:t>
            </a:r>
          </a:p>
          <a:p>
            <a:pPr marL="0" indent="0">
              <a:buNone/>
            </a:pPr>
            <a:r>
              <a:rPr lang="en-IN" b="1" dirty="0">
                <a:latin typeface="Times New Roman" pitchFamily="18" charset="0"/>
                <a:cs typeface="Times New Roman" pitchFamily="18" charset="0"/>
              </a:rPr>
              <a:t>abstract</a:t>
            </a:r>
            <a:r>
              <a:rPr lang="en-IN" dirty="0">
                <a:latin typeface="Times New Roman" pitchFamily="18" charset="0"/>
                <a:cs typeface="Times New Roman" pitchFamily="18" charset="0"/>
              </a:rPr>
              <a:t> </a:t>
            </a:r>
            <a:r>
              <a:rPr lang="en-IN" b="1" dirty="0">
                <a:latin typeface="Times New Roman" pitchFamily="18" charset="0"/>
                <a:cs typeface="Times New Roman" pitchFamily="18" charset="0"/>
              </a:rPr>
              <a:t>int</a:t>
            </a:r>
            <a:r>
              <a:rPr lang="en-IN" dirty="0">
                <a:latin typeface="Times New Roman" pitchFamily="18" charset="0"/>
                <a:cs typeface="Times New Roman" pitchFamily="18" charset="0"/>
              </a:rPr>
              <a:t> </a:t>
            </a:r>
            <a:r>
              <a:rPr lang="en-IN" dirty="0" err="1">
                <a:latin typeface="Times New Roman" pitchFamily="18" charset="0"/>
                <a:cs typeface="Times New Roman" pitchFamily="18" charset="0"/>
              </a:rPr>
              <a:t>getRateOfInterest</a:t>
            </a:r>
            <a:r>
              <a:rPr lang="en-IN" dirty="0">
                <a:latin typeface="Times New Roman" pitchFamily="18" charset="0"/>
                <a:cs typeface="Times New Roman" pitchFamily="18" charset="0"/>
              </a:rPr>
              <a:t>();    </a:t>
            </a:r>
          </a:p>
          <a:p>
            <a:pPr marL="0" indent="0">
              <a:buNone/>
            </a:pPr>
            <a:r>
              <a:rPr lang="en-IN" dirty="0">
                <a:latin typeface="Times New Roman" pitchFamily="18" charset="0"/>
                <a:cs typeface="Times New Roman" pitchFamily="18" charset="0"/>
              </a:rPr>
              <a:t>}    </a:t>
            </a:r>
          </a:p>
          <a:p>
            <a:pPr marL="0" indent="0">
              <a:buNone/>
            </a:pPr>
            <a:r>
              <a:rPr lang="en-IN" b="1" dirty="0">
                <a:latin typeface="Times New Roman" pitchFamily="18" charset="0"/>
                <a:cs typeface="Times New Roman" pitchFamily="18" charset="0"/>
              </a:rPr>
              <a:t>class</a:t>
            </a:r>
            <a:r>
              <a:rPr lang="en-IN" dirty="0">
                <a:latin typeface="Times New Roman" pitchFamily="18" charset="0"/>
                <a:cs typeface="Times New Roman" pitchFamily="18" charset="0"/>
              </a:rPr>
              <a:t> SBI </a:t>
            </a:r>
            <a:r>
              <a:rPr lang="en-IN" b="1" dirty="0">
                <a:latin typeface="Times New Roman" pitchFamily="18" charset="0"/>
                <a:cs typeface="Times New Roman" pitchFamily="18" charset="0"/>
              </a:rPr>
              <a:t>extends</a:t>
            </a:r>
            <a:r>
              <a:rPr lang="en-IN" dirty="0">
                <a:latin typeface="Times New Roman" pitchFamily="18" charset="0"/>
                <a:cs typeface="Times New Roman" pitchFamily="18" charset="0"/>
              </a:rPr>
              <a:t> Bank{    </a:t>
            </a:r>
          </a:p>
          <a:p>
            <a:pPr marL="0" indent="0">
              <a:buNone/>
            </a:pPr>
            <a:r>
              <a:rPr lang="en-IN" b="1" dirty="0">
                <a:latin typeface="Times New Roman" pitchFamily="18" charset="0"/>
                <a:cs typeface="Times New Roman" pitchFamily="18" charset="0"/>
              </a:rPr>
              <a:t>int</a:t>
            </a:r>
            <a:r>
              <a:rPr lang="en-IN" dirty="0">
                <a:latin typeface="Times New Roman" pitchFamily="18" charset="0"/>
                <a:cs typeface="Times New Roman" pitchFamily="18" charset="0"/>
              </a:rPr>
              <a:t> </a:t>
            </a:r>
            <a:r>
              <a:rPr lang="en-IN" dirty="0" err="1">
                <a:latin typeface="Times New Roman" pitchFamily="18" charset="0"/>
                <a:cs typeface="Times New Roman" pitchFamily="18" charset="0"/>
              </a:rPr>
              <a:t>getRateOfInterest</a:t>
            </a:r>
            <a:r>
              <a:rPr lang="en-IN" dirty="0">
                <a:latin typeface="Times New Roman" pitchFamily="18" charset="0"/>
                <a:cs typeface="Times New Roman" pitchFamily="18" charset="0"/>
              </a:rPr>
              <a:t>(){</a:t>
            </a:r>
            <a:r>
              <a:rPr lang="en-IN" b="1" dirty="0">
                <a:latin typeface="Times New Roman" pitchFamily="18" charset="0"/>
                <a:cs typeface="Times New Roman" pitchFamily="18" charset="0"/>
              </a:rPr>
              <a:t>return</a:t>
            </a:r>
            <a:r>
              <a:rPr lang="en-IN" dirty="0">
                <a:latin typeface="Times New Roman" pitchFamily="18" charset="0"/>
                <a:cs typeface="Times New Roman" pitchFamily="18" charset="0"/>
              </a:rPr>
              <a:t> 7;}    </a:t>
            </a:r>
          </a:p>
          <a:p>
            <a:pPr marL="0" indent="0">
              <a:buNone/>
            </a:pPr>
            <a:r>
              <a:rPr lang="en-IN" dirty="0">
                <a:latin typeface="Times New Roman" pitchFamily="18" charset="0"/>
                <a:cs typeface="Times New Roman" pitchFamily="18" charset="0"/>
              </a:rPr>
              <a:t>}    </a:t>
            </a:r>
          </a:p>
          <a:p>
            <a:pPr marL="0" indent="0">
              <a:buNone/>
            </a:pPr>
            <a:r>
              <a:rPr lang="en-IN" b="1" dirty="0">
                <a:latin typeface="Times New Roman" pitchFamily="18" charset="0"/>
                <a:cs typeface="Times New Roman" pitchFamily="18" charset="0"/>
              </a:rPr>
              <a:t>class</a:t>
            </a:r>
            <a:r>
              <a:rPr lang="en-IN" dirty="0">
                <a:latin typeface="Times New Roman" pitchFamily="18" charset="0"/>
                <a:cs typeface="Times New Roman" pitchFamily="18" charset="0"/>
              </a:rPr>
              <a:t> PNB </a:t>
            </a:r>
            <a:r>
              <a:rPr lang="en-IN" b="1" dirty="0">
                <a:latin typeface="Times New Roman" pitchFamily="18" charset="0"/>
                <a:cs typeface="Times New Roman" pitchFamily="18" charset="0"/>
              </a:rPr>
              <a:t>extends</a:t>
            </a:r>
            <a:r>
              <a:rPr lang="en-IN" dirty="0">
                <a:latin typeface="Times New Roman" pitchFamily="18" charset="0"/>
                <a:cs typeface="Times New Roman" pitchFamily="18" charset="0"/>
              </a:rPr>
              <a:t> Bank{    </a:t>
            </a:r>
          </a:p>
          <a:p>
            <a:pPr marL="0" indent="0">
              <a:buNone/>
            </a:pPr>
            <a:r>
              <a:rPr lang="en-IN" b="1" dirty="0">
                <a:latin typeface="Times New Roman" pitchFamily="18" charset="0"/>
                <a:cs typeface="Times New Roman" pitchFamily="18" charset="0"/>
              </a:rPr>
              <a:t>int</a:t>
            </a:r>
            <a:r>
              <a:rPr lang="en-IN" dirty="0">
                <a:latin typeface="Times New Roman" pitchFamily="18" charset="0"/>
                <a:cs typeface="Times New Roman" pitchFamily="18" charset="0"/>
              </a:rPr>
              <a:t> </a:t>
            </a:r>
            <a:r>
              <a:rPr lang="en-IN" dirty="0" err="1">
                <a:latin typeface="Times New Roman" pitchFamily="18" charset="0"/>
                <a:cs typeface="Times New Roman" pitchFamily="18" charset="0"/>
              </a:rPr>
              <a:t>getRateOfInterest</a:t>
            </a:r>
            <a:r>
              <a:rPr lang="en-IN" dirty="0">
                <a:latin typeface="Times New Roman" pitchFamily="18" charset="0"/>
                <a:cs typeface="Times New Roman" pitchFamily="18" charset="0"/>
              </a:rPr>
              <a:t>(){</a:t>
            </a:r>
            <a:r>
              <a:rPr lang="en-IN" b="1" dirty="0">
                <a:latin typeface="Times New Roman" pitchFamily="18" charset="0"/>
                <a:cs typeface="Times New Roman" pitchFamily="18" charset="0"/>
              </a:rPr>
              <a:t>return</a:t>
            </a:r>
            <a:r>
              <a:rPr lang="en-IN" dirty="0">
                <a:latin typeface="Times New Roman" pitchFamily="18" charset="0"/>
                <a:cs typeface="Times New Roman" pitchFamily="18" charset="0"/>
              </a:rPr>
              <a:t> 8;}    </a:t>
            </a:r>
          </a:p>
          <a:p>
            <a:pPr marL="0" indent="0">
              <a:buNone/>
            </a:pPr>
            <a:r>
              <a:rPr lang="en-IN" dirty="0">
                <a:latin typeface="Times New Roman" pitchFamily="18" charset="0"/>
                <a:cs typeface="Times New Roman" pitchFamily="18" charset="0"/>
              </a:rPr>
              <a:t>}       </a:t>
            </a:r>
          </a:p>
          <a:p>
            <a:pPr marL="0" indent="0">
              <a:buNone/>
            </a:pPr>
            <a:r>
              <a:rPr lang="en-IN" b="1" dirty="0">
                <a:latin typeface="Times New Roman" pitchFamily="18" charset="0"/>
                <a:cs typeface="Times New Roman" pitchFamily="18" charset="0"/>
              </a:rPr>
              <a:t>class</a:t>
            </a:r>
            <a:r>
              <a:rPr lang="en-IN" dirty="0">
                <a:latin typeface="Times New Roman" pitchFamily="18" charset="0"/>
                <a:cs typeface="Times New Roman" pitchFamily="18" charset="0"/>
              </a:rPr>
              <a:t> </a:t>
            </a:r>
            <a:r>
              <a:rPr lang="en-IN" dirty="0" err="1">
                <a:latin typeface="Times New Roman" pitchFamily="18" charset="0"/>
                <a:cs typeface="Times New Roman" pitchFamily="18" charset="0"/>
              </a:rPr>
              <a:t>TestBank</a:t>
            </a:r>
            <a:r>
              <a:rPr lang="en-IN" dirty="0">
                <a:latin typeface="Times New Roman" pitchFamily="18" charset="0"/>
                <a:cs typeface="Times New Roman" pitchFamily="18" charset="0"/>
              </a:rPr>
              <a:t>{    </a:t>
            </a:r>
          </a:p>
          <a:p>
            <a:pPr marL="0" indent="0">
              <a:buNone/>
            </a:pPr>
            <a:r>
              <a:rPr lang="en-IN" b="1" dirty="0">
                <a:latin typeface="Times New Roman" pitchFamily="18" charset="0"/>
                <a:cs typeface="Times New Roman" pitchFamily="18" charset="0"/>
              </a:rPr>
              <a:t>public</a:t>
            </a:r>
            <a:r>
              <a:rPr lang="en-IN" dirty="0">
                <a:latin typeface="Times New Roman" pitchFamily="18" charset="0"/>
                <a:cs typeface="Times New Roman" pitchFamily="18" charset="0"/>
              </a:rPr>
              <a:t> </a:t>
            </a:r>
            <a:r>
              <a:rPr lang="en-IN" b="1" dirty="0">
                <a:latin typeface="Times New Roman" pitchFamily="18" charset="0"/>
                <a:cs typeface="Times New Roman" pitchFamily="18" charset="0"/>
              </a:rPr>
              <a:t>static</a:t>
            </a:r>
            <a:r>
              <a:rPr lang="en-IN" dirty="0">
                <a:latin typeface="Times New Roman" pitchFamily="18" charset="0"/>
                <a:cs typeface="Times New Roman" pitchFamily="18" charset="0"/>
              </a:rPr>
              <a:t> </a:t>
            </a:r>
            <a:r>
              <a:rPr lang="en-IN" b="1" dirty="0">
                <a:latin typeface="Times New Roman" pitchFamily="18" charset="0"/>
                <a:cs typeface="Times New Roman" pitchFamily="18" charset="0"/>
              </a:rPr>
              <a:t>void</a:t>
            </a:r>
            <a:r>
              <a:rPr lang="en-IN" dirty="0">
                <a:latin typeface="Times New Roman" pitchFamily="18" charset="0"/>
                <a:cs typeface="Times New Roman" pitchFamily="18" charset="0"/>
              </a:rPr>
              <a:t> main(String </a:t>
            </a:r>
            <a:r>
              <a:rPr lang="en-IN" dirty="0" err="1">
                <a:latin typeface="Times New Roman" pitchFamily="18" charset="0"/>
                <a:cs typeface="Times New Roman" pitchFamily="18" charset="0"/>
              </a:rPr>
              <a:t>args</a:t>
            </a:r>
            <a:r>
              <a:rPr lang="en-IN" dirty="0">
                <a:latin typeface="Times New Roman" pitchFamily="18" charset="0"/>
                <a:cs typeface="Times New Roman" pitchFamily="18" charset="0"/>
              </a:rPr>
              <a:t>[]){    </a:t>
            </a:r>
          </a:p>
          <a:p>
            <a:pPr marL="0" indent="0">
              <a:buNone/>
            </a:pPr>
            <a:r>
              <a:rPr lang="en-IN" dirty="0">
                <a:latin typeface="Times New Roman" pitchFamily="18" charset="0"/>
                <a:cs typeface="Times New Roman" pitchFamily="18" charset="0"/>
              </a:rPr>
              <a:t>Bank b;  </a:t>
            </a:r>
          </a:p>
          <a:p>
            <a:pPr marL="0" indent="0">
              <a:buNone/>
            </a:pPr>
            <a:r>
              <a:rPr lang="en-IN" dirty="0">
                <a:latin typeface="Times New Roman" pitchFamily="18" charset="0"/>
                <a:cs typeface="Times New Roman" pitchFamily="18" charset="0"/>
              </a:rPr>
              <a:t>b=</a:t>
            </a:r>
            <a:r>
              <a:rPr lang="en-IN" b="1" dirty="0">
                <a:latin typeface="Times New Roman" pitchFamily="18" charset="0"/>
                <a:cs typeface="Times New Roman" pitchFamily="18" charset="0"/>
              </a:rPr>
              <a:t>new</a:t>
            </a:r>
            <a:r>
              <a:rPr lang="en-IN" dirty="0">
                <a:latin typeface="Times New Roman" pitchFamily="18" charset="0"/>
                <a:cs typeface="Times New Roman" pitchFamily="18" charset="0"/>
              </a:rPr>
              <a:t> SBI();  </a:t>
            </a:r>
          </a:p>
          <a:p>
            <a:pPr marL="0" indent="0">
              <a:buNone/>
            </a:pPr>
            <a:r>
              <a:rPr lang="en-IN" dirty="0" err="1">
                <a:latin typeface="Times New Roman" pitchFamily="18" charset="0"/>
                <a:cs typeface="Times New Roman" pitchFamily="18" charset="0"/>
              </a:rPr>
              <a:t>System.out.println</a:t>
            </a:r>
            <a:r>
              <a:rPr lang="en-IN" dirty="0">
                <a:latin typeface="Times New Roman" pitchFamily="18" charset="0"/>
                <a:cs typeface="Times New Roman" pitchFamily="18" charset="0"/>
              </a:rPr>
              <a:t>("Rate of Interest is: "+</a:t>
            </a:r>
            <a:r>
              <a:rPr lang="en-IN" dirty="0" err="1">
                <a:latin typeface="Times New Roman" pitchFamily="18" charset="0"/>
                <a:cs typeface="Times New Roman" pitchFamily="18" charset="0"/>
              </a:rPr>
              <a:t>b.getRateOfInterest</a:t>
            </a:r>
            <a:r>
              <a:rPr lang="en-IN" dirty="0">
                <a:latin typeface="Times New Roman" pitchFamily="18" charset="0"/>
                <a:cs typeface="Times New Roman" pitchFamily="18" charset="0"/>
              </a:rPr>
              <a:t>()+" %");    </a:t>
            </a:r>
          </a:p>
          <a:p>
            <a:pPr marL="0" indent="0">
              <a:buNone/>
            </a:pPr>
            <a:r>
              <a:rPr lang="en-IN" dirty="0">
                <a:latin typeface="Times New Roman" pitchFamily="18" charset="0"/>
                <a:cs typeface="Times New Roman" pitchFamily="18" charset="0"/>
              </a:rPr>
              <a:t>b=</a:t>
            </a:r>
            <a:r>
              <a:rPr lang="en-IN" b="1" dirty="0">
                <a:latin typeface="Times New Roman" pitchFamily="18" charset="0"/>
                <a:cs typeface="Times New Roman" pitchFamily="18" charset="0"/>
              </a:rPr>
              <a:t>new</a:t>
            </a:r>
            <a:r>
              <a:rPr lang="en-IN" dirty="0">
                <a:latin typeface="Times New Roman" pitchFamily="18" charset="0"/>
                <a:cs typeface="Times New Roman" pitchFamily="18" charset="0"/>
              </a:rPr>
              <a:t> PNB();  </a:t>
            </a:r>
          </a:p>
          <a:p>
            <a:pPr marL="0" indent="0">
              <a:buNone/>
            </a:pPr>
            <a:r>
              <a:rPr lang="en-IN" dirty="0" err="1">
                <a:latin typeface="Times New Roman" pitchFamily="18" charset="0"/>
                <a:cs typeface="Times New Roman" pitchFamily="18" charset="0"/>
              </a:rPr>
              <a:t>System.out.println</a:t>
            </a:r>
            <a:r>
              <a:rPr lang="en-IN" dirty="0">
                <a:latin typeface="Times New Roman" pitchFamily="18" charset="0"/>
                <a:cs typeface="Times New Roman" pitchFamily="18" charset="0"/>
              </a:rPr>
              <a:t>("Rate of Interest is: "+</a:t>
            </a:r>
            <a:r>
              <a:rPr lang="en-IN" dirty="0" err="1">
                <a:latin typeface="Times New Roman" pitchFamily="18" charset="0"/>
                <a:cs typeface="Times New Roman" pitchFamily="18" charset="0"/>
              </a:rPr>
              <a:t>b.getRateOfInterest</a:t>
            </a:r>
            <a:r>
              <a:rPr lang="en-IN" dirty="0">
                <a:latin typeface="Times New Roman" pitchFamily="18" charset="0"/>
                <a:cs typeface="Times New Roman" pitchFamily="18" charset="0"/>
              </a:rPr>
              <a:t>()+" %");    </a:t>
            </a:r>
          </a:p>
          <a:p>
            <a:pPr marL="0" indent="0">
              <a:buNone/>
            </a:pPr>
            <a:r>
              <a:rPr lang="en-IN" dirty="0">
                <a:latin typeface="Times New Roman" pitchFamily="18" charset="0"/>
                <a:cs typeface="Times New Roman" pitchFamily="18" charset="0"/>
              </a:rPr>
              <a:t>}}    </a:t>
            </a:r>
          </a:p>
          <a:p>
            <a:pPr marL="0" indent="0">
              <a:buNone/>
            </a:pPr>
            <a:endParaRPr lang="en-IN" dirty="0">
              <a:latin typeface="Times New Roman" pitchFamily="18" charset="0"/>
              <a:cs typeface="Times New Roman" pitchFamily="18" charset="0"/>
            </a:endParaRPr>
          </a:p>
          <a:p>
            <a:pPr marL="0" indent="0">
              <a:buNone/>
            </a:pPr>
            <a:endParaRPr lang="en-IN" dirty="0">
              <a:latin typeface="Times New Roman" pitchFamily="18" charset="0"/>
              <a:cs typeface="Times New Roman" pitchFamily="18" charset="0"/>
            </a:endParaRPr>
          </a:p>
          <a:p>
            <a:pPr marL="0" indent="0" algn="just">
              <a:buNone/>
            </a:pPr>
            <a:endParaRPr lang="en-US" dirty="0">
              <a:latin typeface="Times New Roman" pitchFamily="18" charset="0"/>
              <a:cs typeface="Times New Roman" pitchFamily="18" charset="0"/>
            </a:endParaRPr>
          </a:p>
          <a:p>
            <a:pPr marL="0" indent="0">
              <a:buNone/>
            </a:pP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355027790"/>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a:xfrm>
            <a:off x="2455299" y="390294"/>
            <a:ext cx="7924800" cy="932657"/>
          </a:xfrm>
        </p:spPr>
        <p:txBody>
          <a:bodyPr>
            <a:normAutofit/>
          </a:bodyPr>
          <a:lstStyle/>
          <a:p>
            <a:pPr algn="ctr"/>
            <a:r>
              <a:rPr lang="en-IN" sz="4000" b="1" dirty="0">
                <a:latin typeface="Times New Roman" pitchFamily="18" charset="0"/>
                <a:cs typeface="Times New Roman" pitchFamily="18" charset="0"/>
              </a:rPr>
              <a:t>Java static keyword</a:t>
            </a:r>
          </a:p>
        </p:txBody>
      </p:sp>
      <p:sp>
        <p:nvSpPr>
          <p:cNvPr id="123907" name="Rectangle 3"/>
          <p:cNvSpPr>
            <a:spLocks noGrp="1" noChangeArrowheads="1"/>
          </p:cNvSpPr>
          <p:nvPr>
            <p:ph type="body" idx="1"/>
          </p:nvPr>
        </p:nvSpPr>
        <p:spPr>
          <a:xfrm>
            <a:off x="1224116" y="1447800"/>
            <a:ext cx="10382865" cy="5085735"/>
          </a:xfrm>
        </p:spPr>
        <p:txBody>
          <a:bodyPr>
            <a:normAutofit/>
          </a:bodyPr>
          <a:lstStyle/>
          <a:p>
            <a:pPr>
              <a:buNone/>
            </a:pPr>
            <a:r>
              <a:rPr lang="en-IN" sz="2400" dirty="0">
                <a:latin typeface="Times New Roman" pitchFamily="18" charset="0"/>
                <a:cs typeface="Times New Roman" pitchFamily="18" charset="0"/>
              </a:rPr>
              <a:t>The </a:t>
            </a:r>
            <a:r>
              <a:rPr lang="en-IN" sz="2400" b="1" dirty="0">
                <a:latin typeface="Times New Roman" pitchFamily="18" charset="0"/>
                <a:cs typeface="Times New Roman" pitchFamily="18" charset="0"/>
              </a:rPr>
              <a:t>static keyword</a:t>
            </a:r>
            <a:r>
              <a:rPr lang="en-IN" sz="2400" dirty="0">
                <a:latin typeface="Times New Roman" pitchFamily="18" charset="0"/>
                <a:cs typeface="Times New Roman" pitchFamily="18" charset="0"/>
              </a:rPr>
              <a:t> in Java is used for memory management mainly. We can apply static keyword with variables, methods, blocks and nested classes. The static keyword belongs to the class than an instance of the class.</a:t>
            </a:r>
          </a:p>
          <a:p>
            <a:pPr>
              <a:buNone/>
            </a:pPr>
            <a:endParaRPr lang="en-IN" sz="2400" dirty="0">
              <a:latin typeface="Times New Roman" pitchFamily="18" charset="0"/>
              <a:cs typeface="Times New Roman" pitchFamily="18" charset="0"/>
            </a:endParaRPr>
          </a:p>
          <a:p>
            <a:pPr>
              <a:buNone/>
            </a:pPr>
            <a:r>
              <a:rPr lang="en-IN" sz="2400" dirty="0">
                <a:latin typeface="Times New Roman" pitchFamily="18" charset="0"/>
                <a:cs typeface="Times New Roman" pitchFamily="18" charset="0"/>
              </a:rPr>
              <a:t>The static can be:</a:t>
            </a:r>
          </a:p>
          <a:p>
            <a:r>
              <a:rPr lang="en-IN" sz="2400" dirty="0">
                <a:latin typeface="Times New Roman" pitchFamily="18" charset="0"/>
                <a:cs typeface="Times New Roman" pitchFamily="18" charset="0"/>
              </a:rPr>
              <a:t>Variable (also known as a class variable)</a:t>
            </a:r>
          </a:p>
          <a:p>
            <a:r>
              <a:rPr lang="en-IN" sz="2400" dirty="0">
                <a:latin typeface="Times New Roman" pitchFamily="18" charset="0"/>
                <a:cs typeface="Times New Roman" pitchFamily="18" charset="0"/>
              </a:rPr>
              <a:t>Method (also known as a class method)</a:t>
            </a:r>
          </a:p>
          <a:p>
            <a:r>
              <a:rPr lang="en-IN" sz="2400" dirty="0">
                <a:latin typeface="Times New Roman" pitchFamily="18" charset="0"/>
                <a:cs typeface="Times New Roman" pitchFamily="18" charset="0"/>
              </a:rPr>
              <a:t>Block</a:t>
            </a:r>
          </a:p>
          <a:p>
            <a:r>
              <a:rPr lang="en-IN" sz="2400" dirty="0">
                <a:latin typeface="Times New Roman" pitchFamily="18" charset="0"/>
                <a:cs typeface="Times New Roman" pitchFamily="18" charset="0"/>
              </a:rPr>
              <a:t>Nested class</a:t>
            </a:r>
          </a:p>
        </p:txBody>
      </p:sp>
    </p:spTree>
    <p:extLst>
      <p:ext uri="{BB962C8B-B14F-4D97-AF65-F5344CB8AC3E}">
        <p14:creationId xmlns:p14="http://schemas.microsoft.com/office/powerpoint/2010/main" val="1125903558"/>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a:xfrm>
            <a:off x="2455299" y="390294"/>
            <a:ext cx="7924800" cy="932657"/>
          </a:xfrm>
        </p:spPr>
        <p:txBody>
          <a:bodyPr>
            <a:normAutofit/>
          </a:bodyPr>
          <a:lstStyle/>
          <a:p>
            <a:pPr algn="ctr"/>
            <a:r>
              <a:rPr lang="en-IN" sz="3600" b="1" dirty="0">
                <a:latin typeface="Times New Roman" pitchFamily="18" charset="0"/>
                <a:cs typeface="Times New Roman" pitchFamily="18" charset="0"/>
              </a:rPr>
              <a:t>Java static variable</a:t>
            </a:r>
          </a:p>
        </p:txBody>
      </p:sp>
      <p:sp>
        <p:nvSpPr>
          <p:cNvPr id="123907" name="Rectangle 3"/>
          <p:cNvSpPr>
            <a:spLocks noGrp="1" noChangeArrowheads="1"/>
          </p:cNvSpPr>
          <p:nvPr>
            <p:ph type="body" idx="1"/>
          </p:nvPr>
        </p:nvSpPr>
        <p:spPr>
          <a:xfrm>
            <a:off x="1224116" y="1447800"/>
            <a:ext cx="10382865" cy="5085735"/>
          </a:xfrm>
        </p:spPr>
        <p:txBody>
          <a:bodyPr>
            <a:normAutofit/>
          </a:bodyPr>
          <a:lstStyle/>
          <a:p>
            <a:pPr algn="just">
              <a:buNone/>
            </a:pPr>
            <a:r>
              <a:rPr lang="en-IN" sz="2400" dirty="0">
                <a:latin typeface="Times New Roman" pitchFamily="18" charset="0"/>
                <a:cs typeface="Times New Roman" pitchFamily="18" charset="0"/>
              </a:rPr>
              <a:t>If you declare any variable as static, it is known as a static variable.</a:t>
            </a:r>
          </a:p>
          <a:p>
            <a:pPr algn="just"/>
            <a:r>
              <a:rPr lang="en-IN" sz="2400" dirty="0">
                <a:latin typeface="Times New Roman" pitchFamily="18" charset="0"/>
                <a:cs typeface="Times New Roman" pitchFamily="18" charset="0"/>
              </a:rPr>
              <a:t>The static variable can be used to refer to the common property of all objects (which is not unique for each object), for example, the company name of employees, college name of students, etc.</a:t>
            </a:r>
          </a:p>
          <a:p>
            <a:pPr algn="just"/>
            <a:r>
              <a:rPr lang="en-IN" sz="2400" dirty="0">
                <a:latin typeface="Times New Roman" pitchFamily="18" charset="0"/>
                <a:cs typeface="Times New Roman" pitchFamily="18" charset="0"/>
              </a:rPr>
              <a:t>The static variable gets memory only once in the class area at the time of class loading.</a:t>
            </a:r>
          </a:p>
          <a:p>
            <a:pPr algn="just">
              <a:buNone/>
            </a:pPr>
            <a:endParaRPr lang="en-IN" sz="2400" dirty="0">
              <a:latin typeface="Times New Roman" pitchFamily="18" charset="0"/>
              <a:cs typeface="Times New Roman" pitchFamily="18" charset="0"/>
            </a:endParaRPr>
          </a:p>
          <a:p>
            <a:pPr algn="just">
              <a:buNone/>
            </a:pPr>
            <a:r>
              <a:rPr lang="en-IN" sz="2400" b="1" dirty="0">
                <a:latin typeface="Times New Roman" pitchFamily="18" charset="0"/>
                <a:cs typeface="Times New Roman" pitchFamily="18" charset="0"/>
              </a:rPr>
              <a:t>Advantages of static variable</a:t>
            </a:r>
          </a:p>
          <a:p>
            <a:pPr algn="just"/>
            <a:r>
              <a:rPr lang="en-IN" sz="2400" dirty="0">
                <a:latin typeface="Times New Roman" pitchFamily="18" charset="0"/>
                <a:cs typeface="Times New Roman" pitchFamily="18" charset="0"/>
              </a:rPr>
              <a:t>It makes your program </a:t>
            </a:r>
            <a:r>
              <a:rPr lang="en-IN" sz="2400" b="1" dirty="0">
                <a:latin typeface="Times New Roman" pitchFamily="18" charset="0"/>
                <a:cs typeface="Times New Roman" pitchFamily="18" charset="0"/>
              </a:rPr>
              <a:t>memory efficient</a:t>
            </a:r>
            <a:r>
              <a:rPr lang="en-IN" sz="2400" dirty="0">
                <a:latin typeface="Times New Roman" pitchFamily="18" charset="0"/>
                <a:cs typeface="Times New Roman" pitchFamily="18" charset="0"/>
              </a:rPr>
              <a:t> (i.e., it saves memory).</a:t>
            </a:r>
          </a:p>
          <a:p>
            <a:pPr algn="just">
              <a:buNone/>
            </a:pPr>
            <a:endParaRPr lang="en-IN" sz="2400" dirty="0">
              <a:latin typeface="Times New Roman" pitchFamily="18" charset="0"/>
              <a:cs typeface="Times New Roman" pitchFamily="18" charset="0"/>
            </a:endParaRPr>
          </a:p>
        </p:txBody>
      </p:sp>
    </p:spTree>
    <p:extLst>
      <p:ext uri="{BB962C8B-B14F-4D97-AF65-F5344CB8AC3E}">
        <p14:creationId xmlns:p14="http://schemas.microsoft.com/office/powerpoint/2010/main" val="1125903558"/>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a:xfrm>
            <a:off x="2455299" y="390294"/>
            <a:ext cx="7924800" cy="932657"/>
          </a:xfrm>
        </p:spPr>
        <p:txBody>
          <a:bodyPr>
            <a:normAutofit/>
          </a:bodyPr>
          <a:lstStyle/>
          <a:p>
            <a:pPr algn="ctr"/>
            <a:r>
              <a:rPr lang="en-IN" sz="3600" b="1" dirty="0">
                <a:latin typeface="Times New Roman" pitchFamily="18" charset="0"/>
                <a:cs typeface="Times New Roman" pitchFamily="18" charset="0"/>
              </a:rPr>
              <a:t>Java static method</a:t>
            </a:r>
          </a:p>
        </p:txBody>
      </p:sp>
      <p:sp>
        <p:nvSpPr>
          <p:cNvPr id="123907" name="Rectangle 3"/>
          <p:cNvSpPr>
            <a:spLocks noGrp="1" noChangeArrowheads="1"/>
          </p:cNvSpPr>
          <p:nvPr>
            <p:ph type="body" idx="1"/>
          </p:nvPr>
        </p:nvSpPr>
        <p:spPr>
          <a:xfrm>
            <a:off x="1224116" y="1447800"/>
            <a:ext cx="10382865" cy="5085735"/>
          </a:xfrm>
        </p:spPr>
        <p:txBody>
          <a:bodyPr>
            <a:normAutofit/>
          </a:bodyPr>
          <a:lstStyle/>
          <a:p>
            <a:r>
              <a:rPr lang="en-IN" sz="2400" dirty="0">
                <a:solidFill>
                  <a:srgbClr val="000000"/>
                </a:solidFill>
                <a:latin typeface="Times New Roman" pitchFamily="18" charset="0"/>
                <a:cs typeface="Times New Roman" pitchFamily="18" charset="0"/>
              </a:rPr>
              <a:t>If you apply static keyword with any method, it is known as static method.</a:t>
            </a:r>
          </a:p>
          <a:p>
            <a:pPr>
              <a:buFont typeface="Arial"/>
              <a:buChar char="•"/>
            </a:pPr>
            <a:r>
              <a:rPr lang="en-IN" sz="2400" dirty="0">
                <a:solidFill>
                  <a:srgbClr val="000000"/>
                </a:solidFill>
                <a:latin typeface="Times New Roman" pitchFamily="18" charset="0"/>
                <a:cs typeface="Times New Roman" pitchFamily="18" charset="0"/>
              </a:rPr>
              <a:t>A static method belongs to the class rather than the object of a class.</a:t>
            </a:r>
          </a:p>
          <a:p>
            <a:pPr>
              <a:buFont typeface="Arial"/>
              <a:buChar char="•"/>
            </a:pPr>
            <a:r>
              <a:rPr lang="en-IN" sz="2400" dirty="0">
                <a:solidFill>
                  <a:srgbClr val="000000"/>
                </a:solidFill>
                <a:latin typeface="Times New Roman" pitchFamily="18" charset="0"/>
                <a:cs typeface="Times New Roman" pitchFamily="18" charset="0"/>
              </a:rPr>
              <a:t>A static method can be invoked without the need for creating an instance of a class.</a:t>
            </a:r>
          </a:p>
          <a:p>
            <a:pPr>
              <a:buFont typeface="Arial"/>
              <a:buChar char="•"/>
            </a:pPr>
            <a:r>
              <a:rPr lang="en-IN" sz="2400" dirty="0">
                <a:solidFill>
                  <a:srgbClr val="000000"/>
                </a:solidFill>
                <a:latin typeface="Times New Roman" pitchFamily="18" charset="0"/>
                <a:cs typeface="Times New Roman" pitchFamily="18" charset="0"/>
              </a:rPr>
              <a:t>A static method can access static data member and can change the value of it.</a:t>
            </a:r>
          </a:p>
          <a:p>
            <a:pPr>
              <a:buFont typeface="Arial"/>
              <a:buChar char="•"/>
            </a:pPr>
            <a:endParaRPr lang="en-IN" sz="2400" b="0" dirty="0">
              <a:solidFill>
                <a:srgbClr val="000000"/>
              </a:solidFill>
              <a:latin typeface="Times New Roman" pitchFamily="18" charset="0"/>
              <a:cs typeface="Times New Roman" pitchFamily="18" charset="0"/>
            </a:endParaRPr>
          </a:p>
          <a:p>
            <a:pPr algn="ctr">
              <a:buNone/>
            </a:pPr>
            <a:r>
              <a:rPr lang="en-IN" sz="4000" b="1" dirty="0">
                <a:latin typeface="Times New Roman" pitchFamily="18" charset="0"/>
                <a:cs typeface="Times New Roman" pitchFamily="18" charset="0"/>
              </a:rPr>
              <a:t>Java static block</a:t>
            </a:r>
          </a:p>
          <a:p>
            <a:r>
              <a:rPr lang="en-IN" sz="2400" dirty="0">
                <a:latin typeface="Times New Roman" pitchFamily="18" charset="0"/>
                <a:cs typeface="Times New Roman" pitchFamily="18" charset="0"/>
              </a:rPr>
              <a:t>Is used to initialize the static data member.</a:t>
            </a:r>
          </a:p>
          <a:p>
            <a:r>
              <a:rPr lang="en-IN" sz="2400" dirty="0">
                <a:latin typeface="Times New Roman" pitchFamily="18" charset="0"/>
                <a:cs typeface="Times New Roman" pitchFamily="18" charset="0"/>
              </a:rPr>
              <a:t>It is executed before the main method at the time of </a:t>
            </a:r>
            <a:r>
              <a:rPr lang="en-IN" sz="2400" dirty="0" err="1">
                <a:latin typeface="Times New Roman" pitchFamily="18" charset="0"/>
                <a:cs typeface="Times New Roman" pitchFamily="18" charset="0"/>
              </a:rPr>
              <a:t>classloading</a:t>
            </a:r>
            <a:r>
              <a:rPr lang="en-IN" sz="2400" dirty="0">
                <a:latin typeface="Times New Roman" pitchFamily="18" charset="0"/>
                <a:cs typeface="Times New Roman" pitchFamily="18" charset="0"/>
              </a:rPr>
              <a:t>.</a:t>
            </a:r>
          </a:p>
          <a:p>
            <a:pPr>
              <a:buFont typeface="Arial"/>
              <a:buChar char="•"/>
            </a:pPr>
            <a:endParaRPr lang="en-IN" sz="2400" b="0" dirty="0">
              <a:solidFill>
                <a:srgbClr val="000000"/>
              </a:solidFill>
              <a:latin typeface="Times New Roman" pitchFamily="18" charset="0"/>
              <a:cs typeface="Times New Roman" pitchFamily="18" charset="0"/>
            </a:endParaRPr>
          </a:p>
        </p:txBody>
      </p:sp>
    </p:spTree>
    <p:extLst>
      <p:ext uri="{BB962C8B-B14F-4D97-AF65-F5344CB8AC3E}">
        <p14:creationId xmlns:p14="http://schemas.microsoft.com/office/powerpoint/2010/main" val="1125903558"/>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12700" algn="ctr">
              <a:lnSpc>
                <a:spcPts val="2375"/>
              </a:lnSpc>
              <a:spcBef>
                <a:spcPts val="95"/>
              </a:spcBef>
              <a:tabLst>
                <a:tab pos="355600" algn="l"/>
              </a:tabLst>
            </a:pPr>
            <a:r>
              <a:rPr lang="en-US" b="1" dirty="0">
                <a:solidFill>
                  <a:srgbClr val="FF0000"/>
                </a:solidFill>
                <a:latin typeface="Times New Roman" panose="02020603050405020304" pitchFamily="18" charset="0"/>
                <a:cs typeface="Times New Roman" panose="02020603050405020304" pitchFamily="18" charset="0"/>
              </a:rPr>
              <a:t>Can a class be static in Java?</a:t>
            </a:r>
            <a:endParaRPr lang="en-IN" dirty="0"/>
          </a:p>
        </p:txBody>
      </p:sp>
      <p:sp>
        <p:nvSpPr>
          <p:cNvPr id="3" name="Content Placeholder 2"/>
          <p:cNvSpPr>
            <a:spLocks noGrp="1"/>
          </p:cNvSpPr>
          <p:nvPr>
            <p:ph idx="1"/>
          </p:nvPr>
        </p:nvSpPr>
        <p:spPr/>
        <p:txBody>
          <a:bodyPr/>
          <a:lstStyle/>
          <a:p>
            <a:pPr>
              <a:buNone/>
            </a:pPr>
            <a:r>
              <a:rPr lang="en-US" dirty="0">
                <a:latin typeface="Times New Roman" pitchFamily="18" charset="0"/>
                <a:cs typeface="Times New Roman" pitchFamily="18" charset="0"/>
              </a:rPr>
              <a:t>The answer is yes, some classes can be made static in Java. </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Java allows a class to be defined within another class. These are called </a:t>
            </a:r>
            <a:r>
              <a:rPr lang="en-US" b="1" dirty="0">
                <a:latin typeface="Times New Roman" pitchFamily="18" charset="0"/>
                <a:cs typeface="Times New Roman" pitchFamily="18" charset="0"/>
              </a:rPr>
              <a:t>Nested Classes</a:t>
            </a:r>
            <a:r>
              <a:rPr lang="en-US" dirty="0">
                <a:latin typeface="Times New Roman" pitchFamily="18" charset="0"/>
                <a:cs typeface="Times New Roman" pitchFamily="18" charset="0"/>
              </a:rPr>
              <a:t>. </a:t>
            </a:r>
          </a:p>
          <a:p>
            <a:r>
              <a:rPr lang="en-US" dirty="0">
                <a:latin typeface="Times New Roman" pitchFamily="18" charset="0"/>
                <a:cs typeface="Times New Roman" pitchFamily="18" charset="0"/>
              </a:rPr>
              <a:t>The class in which the nested class is defined is known as the </a:t>
            </a:r>
            <a:r>
              <a:rPr lang="en-US" b="1" dirty="0">
                <a:latin typeface="Times New Roman" pitchFamily="18" charset="0"/>
                <a:cs typeface="Times New Roman" pitchFamily="18" charset="0"/>
              </a:rPr>
              <a:t>Outer Class</a:t>
            </a:r>
            <a:r>
              <a:rPr lang="en-US" dirty="0">
                <a:latin typeface="Times New Roman" pitchFamily="18" charset="0"/>
                <a:cs typeface="Times New Roman" pitchFamily="18" charset="0"/>
              </a:rPr>
              <a:t>. </a:t>
            </a:r>
          </a:p>
          <a:p>
            <a:r>
              <a:rPr lang="en-US" dirty="0">
                <a:latin typeface="Times New Roman" pitchFamily="18" charset="0"/>
                <a:cs typeface="Times New Roman" pitchFamily="18" charset="0"/>
              </a:rPr>
              <a:t>Unlike top level classes, </a:t>
            </a:r>
            <a:r>
              <a:rPr lang="en-US" b="1" dirty="0">
                <a:latin typeface="Times New Roman" pitchFamily="18" charset="0"/>
                <a:cs typeface="Times New Roman" pitchFamily="18" charset="0"/>
              </a:rPr>
              <a:t>Inner classes can be Static</a:t>
            </a:r>
            <a:r>
              <a:rPr lang="en-US" dirty="0">
                <a:latin typeface="Times New Roman" pitchFamily="18" charset="0"/>
                <a:cs typeface="Times New Roman" pitchFamily="18" charset="0"/>
              </a:rPr>
              <a:t>. </a:t>
            </a:r>
          </a:p>
          <a:p>
            <a:pPr marL="355600" algn="just">
              <a:lnSpc>
                <a:spcPts val="2375"/>
              </a:lnSpc>
              <a:spcBef>
                <a:spcPts val="95"/>
              </a:spcBef>
              <a:tabLst>
                <a:tab pos="355600" algn="l"/>
              </a:tabLst>
            </a:pPr>
            <a:endParaRPr lang="en-US" dirty="0">
              <a:latin typeface="Times New Roman" pitchFamily="18" charset="0"/>
              <a:cs typeface="Times New Roman" pitchFamily="18" charset="0"/>
            </a:endParaRPr>
          </a:p>
          <a:p>
            <a:pPr marL="355600" algn="just">
              <a:lnSpc>
                <a:spcPts val="2375"/>
              </a:lnSpc>
              <a:spcBef>
                <a:spcPts val="95"/>
              </a:spcBef>
              <a:tabLst>
                <a:tab pos="355600" algn="l"/>
              </a:tabLst>
            </a:pPr>
            <a:endParaRPr lang="en-IN" sz="1600" dirty="0">
              <a:latin typeface="Times New Roman" pitchFamily="18" charset="0"/>
              <a:cs typeface="Times New Roman" pitchFamily="18" charset="0"/>
            </a:endParaRPr>
          </a:p>
          <a:p>
            <a:pPr>
              <a:buNone/>
            </a:pPr>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EADE75B-855D-4CE8-8126-6B184DBE1453}"/>
              </a:ext>
            </a:extLst>
          </p:cNvPr>
          <p:cNvSpPr>
            <a:spLocks noGrp="1"/>
          </p:cNvSpPr>
          <p:nvPr>
            <p:ph idx="1"/>
          </p:nvPr>
        </p:nvSpPr>
        <p:spPr>
          <a:xfrm>
            <a:off x="477520" y="1825624"/>
            <a:ext cx="10876280" cy="4920615"/>
          </a:xfrm>
        </p:spPr>
        <p:txBody>
          <a:bodyPr>
            <a:normAutofit fontScale="25000" lnSpcReduction="20000"/>
          </a:bodyPr>
          <a:lstStyle/>
          <a:p>
            <a:pPr marL="355600" algn="just">
              <a:lnSpc>
                <a:spcPct val="120000"/>
              </a:lnSpc>
              <a:spcBef>
                <a:spcPts val="95"/>
              </a:spcBef>
              <a:tabLst>
                <a:tab pos="355600" algn="l"/>
              </a:tabLst>
            </a:pPr>
            <a:r>
              <a:rPr lang="en-US" sz="7000" dirty="0">
                <a:latin typeface="Times New Roman" pitchFamily="18" charset="0"/>
                <a:cs typeface="Times New Roman" pitchFamily="18" charset="0"/>
              </a:rPr>
              <a:t>Example: </a:t>
            </a:r>
          </a:p>
          <a:p>
            <a:pPr marL="12700" indent="0" algn="just">
              <a:lnSpc>
                <a:spcPct val="120000"/>
              </a:lnSpc>
              <a:spcBef>
                <a:spcPts val="95"/>
              </a:spcBef>
              <a:buNone/>
              <a:tabLst>
                <a:tab pos="355600" algn="l"/>
              </a:tabLst>
            </a:pPr>
            <a:r>
              <a:rPr lang="en-US" sz="7000" dirty="0">
                <a:latin typeface="Times New Roman" pitchFamily="18" charset="0"/>
                <a:cs typeface="Times New Roman" pitchFamily="18" charset="0"/>
              </a:rPr>
              <a:t>class </a:t>
            </a:r>
            <a:r>
              <a:rPr lang="en-US" sz="7000" dirty="0" err="1">
                <a:latin typeface="Times New Roman" pitchFamily="18" charset="0"/>
                <a:cs typeface="Times New Roman" pitchFamily="18" charset="0"/>
              </a:rPr>
              <a:t>SimpleStaticExample</a:t>
            </a:r>
            <a:endParaRPr lang="en-US" sz="7000" dirty="0">
              <a:latin typeface="Times New Roman" pitchFamily="18" charset="0"/>
              <a:cs typeface="Times New Roman" pitchFamily="18" charset="0"/>
            </a:endParaRPr>
          </a:p>
          <a:p>
            <a:pPr marL="12700" indent="0" algn="just">
              <a:lnSpc>
                <a:spcPct val="120000"/>
              </a:lnSpc>
              <a:spcBef>
                <a:spcPts val="95"/>
              </a:spcBef>
              <a:buNone/>
              <a:tabLst>
                <a:tab pos="355600" algn="l"/>
              </a:tabLst>
            </a:pPr>
            <a:r>
              <a:rPr lang="en-US" sz="7000" dirty="0">
                <a:latin typeface="Times New Roman" pitchFamily="18" charset="0"/>
                <a:cs typeface="Times New Roman" pitchFamily="18" charset="0"/>
              </a:rPr>
              <a:t>{</a:t>
            </a:r>
          </a:p>
          <a:p>
            <a:pPr marL="12700" indent="0" algn="just">
              <a:lnSpc>
                <a:spcPct val="120000"/>
              </a:lnSpc>
              <a:spcBef>
                <a:spcPts val="95"/>
              </a:spcBef>
              <a:buNone/>
              <a:tabLst>
                <a:tab pos="355600" algn="l"/>
              </a:tabLst>
            </a:pPr>
            <a:r>
              <a:rPr lang="en-US" sz="7000" dirty="0">
                <a:latin typeface="Times New Roman" pitchFamily="18" charset="0"/>
                <a:cs typeface="Times New Roman" pitchFamily="18" charset="0"/>
              </a:rPr>
              <a:t>    // This is a static method</a:t>
            </a:r>
          </a:p>
          <a:p>
            <a:pPr marL="12700" indent="0" algn="just">
              <a:lnSpc>
                <a:spcPct val="120000"/>
              </a:lnSpc>
              <a:spcBef>
                <a:spcPts val="95"/>
              </a:spcBef>
              <a:buNone/>
              <a:tabLst>
                <a:tab pos="355600" algn="l"/>
              </a:tabLst>
            </a:pPr>
            <a:r>
              <a:rPr lang="en-US" sz="7000" dirty="0">
                <a:latin typeface="Times New Roman" pitchFamily="18" charset="0"/>
                <a:cs typeface="Times New Roman" pitchFamily="18" charset="0"/>
              </a:rPr>
              <a:t>    static void </a:t>
            </a:r>
            <a:r>
              <a:rPr lang="en-US" sz="7000" dirty="0" err="1">
                <a:latin typeface="Times New Roman" pitchFamily="18" charset="0"/>
                <a:cs typeface="Times New Roman" pitchFamily="18" charset="0"/>
              </a:rPr>
              <a:t>myMethod</a:t>
            </a:r>
            <a:r>
              <a:rPr lang="en-US" sz="7000" dirty="0">
                <a:latin typeface="Times New Roman" pitchFamily="18" charset="0"/>
                <a:cs typeface="Times New Roman" pitchFamily="18" charset="0"/>
              </a:rPr>
              <a:t>()</a:t>
            </a:r>
          </a:p>
          <a:p>
            <a:pPr marL="12700" indent="0" algn="just">
              <a:lnSpc>
                <a:spcPct val="120000"/>
              </a:lnSpc>
              <a:spcBef>
                <a:spcPts val="95"/>
              </a:spcBef>
              <a:buNone/>
              <a:tabLst>
                <a:tab pos="355600" algn="l"/>
              </a:tabLst>
            </a:pPr>
            <a:r>
              <a:rPr lang="en-US" sz="7000" dirty="0">
                <a:latin typeface="Times New Roman" pitchFamily="18" charset="0"/>
                <a:cs typeface="Times New Roman" pitchFamily="18" charset="0"/>
              </a:rPr>
              <a:t>    {</a:t>
            </a:r>
          </a:p>
          <a:p>
            <a:pPr marL="12700" indent="0" algn="just">
              <a:lnSpc>
                <a:spcPct val="120000"/>
              </a:lnSpc>
              <a:spcBef>
                <a:spcPts val="95"/>
              </a:spcBef>
              <a:buNone/>
              <a:tabLst>
                <a:tab pos="355600" algn="l"/>
              </a:tabLst>
            </a:pPr>
            <a:r>
              <a:rPr lang="en-US" sz="7000" dirty="0">
                <a:latin typeface="Times New Roman" pitchFamily="18" charset="0"/>
                <a:cs typeface="Times New Roman" pitchFamily="18" charset="0"/>
              </a:rPr>
              <a:t>        </a:t>
            </a:r>
            <a:r>
              <a:rPr lang="en-US" sz="7000" dirty="0" err="1">
                <a:latin typeface="Times New Roman" pitchFamily="18" charset="0"/>
                <a:cs typeface="Times New Roman" pitchFamily="18" charset="0"/>
              </a:rPr>
              <a:t>System.out.println</a:t>
            </a:r>
            <a:r>
              <a:rPr lang="en-US" sz="7000" dirty="0">
                <a:latin typeface="Times New Roman" pitchFamily="18" charset="0"/>
                <a:cs typeface="Times New Roman" pitchFamily="18" charset="0"/>
              </a:rPr>
              <a:t>("</a:t>
            </a:r>
            <a:r>
              <a:rPr lang="en-US" sz="7000" dirty="0" err="1">
                <a:latin typeface="Times New Roman" pitchFamily="18" charset="0"/>
                <a:cs typeface="Times New Roman" pitchFamily="18" charset="0"/>
              </a:rPr>
              <a:t>myMethod</a:t>
            </a:r>
            <a:r>
              <a:rPr lang="en-US" sz="7000" dirty="0">
                <a:latin typeface="Times New Roman" pitchFamily="18" charset="0"/>
                <a:cs typeface="Times New Roman" pitchFamily="18" charset="0"/>
              </a:rPr>
              <a:t>");</a:t>
            </a:r>
          </a:p>
          <a:p>
            <a:pPr marL="12700" indent="0" algn="just">
              <a:lnSpc>
                <a:spcPct val="120000"/>
              </a:lnSpc>
              <a:spcBef>
                <a:spcPts val="95"/>
              </a:spcBef>
              <a:buNone/>
              <a:tabLst>
                <a:tab pos="355600" algn="l"/>
              </a:tabLst>
            </a:pPr>
            <a:r>
              <a:rPr lang="en-US" sz="7000" dirty="0">
                <a:latin typeface="Times New Roman" pitchFamily="18" charset="0"/>
                <a:cs typeface="Times New Roman" pitchFamily="18" charset="0"/>
              </a:rPr>
              <a:t>    }</a:t>
            </a:r>
          </a:p>
          <a:p>
            <a:pPr marL="12700" indent="0" algn="just">
              <a:lnSpc>
                <a:spcPct val="120000"/>
              </a:lnSpc>
              <a:spcBef>
                <a:spcPts val="95"/>
              </a:spcBef>
              <a:buNone/>
              <a:tabLst>
                <a:tab pos="355600" algn="l"/>
              </a:tabLst>
            </a:pPr>
            <a:r>
              <a:rPr lang="en-US" sz="7000" dirty="0">
                <a:latin typeface="Times New Roman" pitchFamily="18" charset="0"/>
                <a:cs typeface="Times New Roman" pitchFamily="18" charset="0"/>
              </a:rPr>
              <a:t> </a:t>
            </a:r>
          </a:p>
          <a:p>
            <a:pPr marL="12700" indent="0" algn="just">
              <a:lnSpc>
                <a:spcPct val="120000"/>
              </a:lnSpc>
              <a:spcBef>
                <a:spcPts val="95"/>
              </a:spcBef>
              <a:buNone/>
              <a:tabLst>
                <a:tab pos="355600" algn="l"/>
              </a:tabLst>
            </a:pPr>
            <a:r>
              <a:rPr lang="en-US" sz="7000" dirty="0">
                <a:latin typeface="Times New Roman" pitchFamily="18" charset="0"/>
                <a:cs typeface="Times New Roman" pitchFamily="18" charset="0"/>
              </a:rPr>
              <a:t>    public static void main(String[] </a:t>
            </a:r>
            <a:r>
              <a:rPr lang="en-US" sz="7000" dirty="0" err="1">
                <a:latin typeface="Times New Roman" pitchFamily="18" charset="0"/>
                <a:cs typeface="Times New Roman" pitchFamily="18" charset="0"/>
              </a:rPr>
              <a:t>args</a:t>
            </a:r>
            <a:r>
              <a:rPr lang="en-US" sz="7000" dirty="0">
                <a:latin typeface="Times New Roman" pitchFamily="18" charset="0"/>
                <a:cs typeface="Times New Roman" pitchFamily="18" charset="0"/>
              </a:rPr>
              <a:t>)</a:t>
            </a:r>
          </a:p>
          <a:p>
            <a:pPr marL="12700" indent="0" algn="just">
              <a:lnSpc>
                <a:spcPct val="120000"/>
              </a:lnSpc>
              <a:spcBef>
                <a:spcPts val="95"/>
              </a:spcBef>
              <a:buNone/>
              <a:tabLst>
                <a:tab pos="355600" algn="l"/>
              </a:tabLst>
            </a:pPr>
            <a:r>
              <a:rPr lang="en-US" sz="7000" dirty="0">
                <a:latin typeface="Times New Roman" pitchFamily="18" charset="0"/>
                <a:cs typeface="Times New Roman" pitchFamily="18" charset="0"/>
              </a:rPr>
              <a:t>    {</a:t>
            </a:r>
          </a:p>
          <a:p>
            <a:pPr marL="12700" indent="0" algn="just">
              <a:lnSpc>
                <a:spcPct val="120000"/>
              </a:lnSpc>
              <a:spcBef>
                <a:spcPts val="95"/>
              </a:spcBef>
              <a:buNone/>
              <a:tabLst>
                <a:tab pos="355600" algn="l"/>
              </a:tabLst>
            </a:pPr>
            <a:r>
              <a:rPr lang="en-US" sz="7000" dirty="0">
                <a:latin typeface="Times New Roman" pitchFamily="18" charset="0"/>
                <a:cs typeface="Times New Roman" pitchFamily="18" charset="0"/>
              </a:rPr>
              <a:t>          /* You can see that we are calling this</a:t>
            </a:r>
          </a:p>
          <a:p>
            <a:pPr marL="12700" indent="0" algn="just">
              <a:lnSpc>
                <a:spcPct val="120000"/>
              </a:lnSpc>
              <a:spcBef>
                <a:spcPts val="95"/>
              </a:spcBef>
              <a:buNone/>
              <a:tabLst>
                <a:tab pos="355600" algn="l"/>
              </a:tabLst>
            </a:pPr>
            <a:r>
              <a:rPr lang="en-US" sz="7000" dirty="0">
                <a:latin typeface="Times New Roman" pitchFamily="18" charset="0"/>
                <a:cs typeface="Times New Roman" pitchFamily="18" charset="0"/>
              </a:rPr>
              <a:t>           * method without creating any object. </a:t>
            </a:r>
          </a:p>
          <a:p>
            <a:pPr marL="12700" indent="0" algn="just">
              <a:lnSpc>
                <a:spcPct val="120000"/>
              </a:lnSpc>
              <a:spcBef>
                <a:spcPts val="95"/>
              </a:spcBef>
              <a:buNone/>
              <a:tabLst>
                <a:tab pos="355600" algn="l"/>
              </a:tabLst>
            </a:pPr>
            <a:r>
              <a:rPr lang="en-US" sz="7000" dirty="0">
                <a:latin typeface="Times New Roman" pitchFamily="18" charset="0"/>
                <a:cs typeface="Times New Roman" pitchFamily="18" charset="0"/>
              </a:rPr>
              <a:t>           */</a:t>
            </a:r>
          </a:p>
          <a:p>
            <a:pPr marL="12700" indent="0" algn="just">
              <a:lnSpc>
                <a:spcPct val="120000"/>
              </a:lnSpc>
              <a:spcBef>
                <a:spcPts val="95"/>
              </a:spcBef>
              <a:buNone/>
              <a:tabLst>
                <a:tab pos="355600" algn="l"/>
              </a:tabLst>
            </a:pPr>
            <a:r>
              <a:rPr lang="en-US" sz="7000" dirty="0">
                <a:latin typeface="Times New Roman" pitchFamily="18" charset="0"/>
                <a:cs typeface="Times New Roman" pitchFamily="18" charset="0"/>
              </a:rPr>
              <a:t>           </a:t>
            </a:r>
            <a:r>
              <a:rPr lang="en-US" sz="7000" dirty="0" err="1">
                <a:latin typeface="Times New Roman" pitchFamily="18" charset="0"/>
                <a:cs typeface="Times New Roman" pitchFamily="18" charset="0"/>
              </a:rPr>
              <a:t>myMethod</a:t>
            </a:r>
            <a:r>
              <a:rPr lang="en-US" sz="7000" dirty="0">
                <a:latin typeface="Times New Roman" pitchFamily="18" charset="0"/>
                <a:cs typeface="Times New Roman" pitchFamily="18" charset="0"/>
              </a:rPr>
              <a:t>();</a:t>
            </a:r>
          </a:p>
          <a:p>
            <a:pPr marL="12700" indent="0" algn="just">
              <a:lnSpc>
                <a:spcPct val="120000"/>
              </a:lnSpc>
              <a:spcBef>
                <a:spcPts val="95"/>
              </a:spcBef>
              <a:buNone/>
              <a:tabLst>
                <a:tab pos="355600" algn="l"/>
              </a:tabLst>
            </a:pPr>
            <a:r>
              <a:rPr lang="en-US" sz="7000" dirty="0">
                <a:latin typeface="Times New Roman" pitchFamily="18" charset="0"/>
                <a:cs typeface="Times New Roman" pitchFamily="18" charset="0"/>
              </a:rPr>
              <a:t>    }</a:t>
            </a:r>
          </a:p>
          <a:p>
            <a:pPr marL="12700" indent="0" algn="just">
              <a:lnSpc>
                <a:spcPct val="120000"/>
              </a:lnSpc>
              <a:spcBef>
                <a:spcPts val="95"/>
              </a:spcBef>
              <a:buNone/>
              <a:tabLst>
                <a:tab pos="355600" algn="l"/>
              </a:tabLst>
            </a:pPr>
            <a:r>
              <a:rPr lang="en-US" sz="7000" dirty="0">
                <a:latin typeface="Times New Roman" pitchFamily="18" charset="0"/>
                <a:cs typeface="Times New Roman" pitchFamily="18" charset="0"/>
              </a:rPr>
              <a:t>}</a:t>
            </a:r>
          </a:p>
          <a:p>
            <a:pPr marL="355600" algn="just">
              <a:lnSpc>
                <a:spcPct val="120000"/>
              </a:lnSpc>
              <a:spcBef>
                <a:spcPts val="95"/>
              </a:spcBef>
              <a:tabLst>
                <a:tab pos="355600" algn="l"/>
              </a:tabLst>
            </a:pPr>
            <a:endParaRPr lang="en-IN" sz="1600" dirty="0">
              <a:latin typeface="Times New Roman" pitchFamily="18" charset="0"/>
              <a:cs typeface="Times New Roman" pitchFamily="18" charset="0"/>
            </a:endParaRPr>
          </a:p>
        </p:txBody>
      </p:sp>
      <p:sp>
        <p:nvSpPr>
          <p:cNvPr id="3" name="TextBox 2">
            <a:extLst>
              <a:ext uri="{FF2B5EF4-FFF2-40B4-BE49-F238E27FC236}">
                <a16:creationId xmlns:a16="http://schemas.microsoft.com/office/drawing/2014/main" id="{F81D4B1F-E089-423A-B023-232C64292962}"/>
              </a:ext>
            </a:extLst>
          </p:cNvPr>
          <p:cNvSpPr txBox="1"/>
          <p:nvPr/>
        </p:nvSpPr>
        <p:spPr>
          <a:xfrm>
            <a:off x="1351280" y="426720"/>
            <a:ext cx="5732850" cy="1323439"/>
          </a:xfrm>
          <a:prstGeom prst="rect">
            <a:avLst/>
          </a:prstGeom>
          <a:noFill/>
        </p:spPr>
        <p:txBody>
          <a:bodyPr wrap="square" rtlCol="0">
            <a:spAutoFit/>
          </a:bodyPr>
          <a:lstStyle/>
          <a:p>
            <a:r>
              <a:rPr lang="en-IN" sz="4000" b="1" dirty="0">
                <a:solidFill>
                  <a:srgbClr val="C00000"/>
                </a:solidFill>
                <a:latin typeface="Times New Roman" panose="02020603050405020304" pitchFamily="18" charset="0"/>
                <a:cs typeface="Times New Roman" panose="02020603050405020304" pitchFamily="18" charset="0"/>
              </a:rPr>
              <a:t>STATIC METHOD</a:t>
            </a:r>
          </a:p>
          <a:p>
            <a:endParaRPr lang="en-IN" sz="4000" dirty="0"/>
          </a:p>
        </p:txBody>
      </p:sp>
    </p:spTree>
    <p:extLst>
      <p:ext uri="{BB962C8B-B14F-4D97-AF65-F5344CB8AC3E}">
        <p14:creationId xmlns:p14="http://schemas.microsoft.com/office/powerpoint/2010/main" val="14198541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EADE75B-855D-4CE8-8126-6B184DBE1453}"/>
              </a:ext>
            </a:extLst>
          </p:cNvPr>
          <p:cNvSpPr>
            <a:spLocks noGrp="1"/>
          </p:cNvSpPr>
          <p:nvPr>
            <p:ph idx="1"/>
          </p:nvPr>
        </p:nvSpPr>
        <p:spPr>
          <a:xfrm>
            <a:off x="1209368" y="1899367"/>
            <a:ext cx="9289026" cy="4351338"/>
          </a:xfrm>
        </p:spPr>
        <p:txBody>
          <a:bodyPr>
            <a:normAutofit/>
          </a:bodyPr>
          <a:lstStyle/>
          <a:p>
            <a:pPr marL="0" indent="0">
              <a:buNone/>
            </a:pPr>
            <a:r>
              <a:rPr lang="en-US" sz="2400" dirty="0">
                <a:latin typeface="Times New Roman" pitchFamily="18" charset="0"/>
                <a:cs typeface="Times New Roman" pitchFamily="18" charset="0"/>
              </a:rPr>
              <a:t>The following are major differences between static nested classes and inner classes.</a:t>
            </a:r>
          </a:p>
          <a:p>
            <a:r>
              <a:rPr lang="en-US" sz="2400" dirty="0">
                <a:latin typeface="Times New Roman" pitchFamily="18" charset="0"/>
                <a:cs typeface="Times New Roman" pitchFamily="18" charset="0"/>
              </a:rPr>
              <a:t>A static nested class may be instantiated without instantiating its outer class.</a:t>
            </a:r>
          </a:p>
          <a:p>
            <a:r>
              <a:rPr lang="en-US" sz="2400" dirty="0">
                <a:latin typeface="Times New Roman" pitchFamily="18" charset="0"/>
                <a:cs typeface="Times New Roman" pitchFamily="18" charset="0"/>
              </a:rPr>
              <a:t>Inner classes can access both static and non-static members of the outer class. A static class can access only the static members of the outer class</a:t>
            </a:r>
          </a:p>
          <a:p>
            <a:pPr marL="355600" algn="just">
              <a:lnSpc>
                <a:spcPts val="2375"/>
              </a:lnSpc>
              <a:spcBef>
                <a:spcPts val="95"/>
              </a:spcBef>
              <a:tabLst>
                <a:tab pos="355600" algn="l"/>
              </a:tabLst>
            </a:pPr>
            <a:endParaRPr lang="en-US" sz="2400" dirty="0">
              <a:latin typeface="Times New Roman" pitchFamily="18" charset="0"/>
              <a:cs typeface="Times New Roman" pitchFamily="18" charset="0"/>
            </a:endParaRPr>
          </a:p>
          <a:p>
            <a:pPr marL="355600" algn="just">
              <a:lnSpc>
                <a:spcPts val="2375"/>
              </a:lnSpc>
              <a:spcBef>
                <a:spcPts val="95"/>
              </a:spcBef>
              <a:tabLst>
                <a:tab pos="355600" algn="l"/>
              </a:tabLst>
            </a:pPr>
            <a:endParaRPr lang="en-IN" sz="1400" dirty="0">
              <a:latin typeface="Times New Roman" pitchFamily="18" charset="0"/>
              <a:cs typeface="Times New Roman" pitchFamily="18" charset="0"/>
            </a:endParaRPr>
          </a:p>
        </p:txBody>
      </p:sp>
      <p:sp>
        <p:nvSpPr>
          <p:cNvPr id="3" name="TextBox 2">
            <a:extLst>
              <a:ext uri="{FF2B5EF4-FFF2-40B4-BE49-F238E27FC236}">
                <a16:creationId xmlns:a16="http://schemas.microsoft.com/office/drawing/2014/main" id="{F81D4B1F-E089-423A-B023-232C64292962}"/>
              </a:ext>
            </a:extLst>
          </p:cNvPr>
          <p:cNvSpPr txBox="1"/>
          <p:nvPr/>
        </p:nvSpPr>
        <p:spPr>
          <a:xfrm>
            <a:off x="4495955" y="1066800"/>
            <a:ext cx="184731" cy="369332"/>
          </a:xfrm>
          <a:prstGeom prst="rect">
            <a:avLst/>
          </a:prstGeom>
          <a:noFill/>
        </p:spPr>
        <p:txBody>
          <a:bodyPr wrap="none" rtlCol="0">
            <a:spAutoFit/>
          </a:bodyPr>
          <a:lstStyle/>
          <a:p>
            <a:endParaRPr lang="en-IN" dirty="0"/>
          </a:p>
        </p:txBody>
      </p:sp>
      <p:sp>
        <p:nvSpPr>
          <p:cNvPr id="4" name="TextBox 3">
            <a:extLst>
              <a:ext uri="{FF2B5EF4-FFF2-40B4-BE49-F238E27FC236}">
                <a16:creationId xmlns:a16="http://schemas.microsoft.com/office/drawing/2014/main" id="{D4B52BD6-FB9A-4438-BE65-22F4ED4A27AD}"/>
              </a:ext>
            </a:extLst>
          </p:cNvPr>
          <p:cNvSpPr txBox="1"/>
          <p:nvPr/>
        </p:nvSpPr>
        <p:spPr>
          <a:xfrm>
            <a:off x="1056640" y="558969"/>
            <a:ext cx="10226039" cy="1077218"/>
          </a:xfrm>
          <a:prstGeom prst="rect">
            <a:avLst/>
          </a:prstGeom>
          <a:noFill/>
        </p:spPr>
        <p:txBody>
          <a:bodyPr wrap="square" rtlCol="0">
            <a:spAutoFit/>
          </a:bodyPr>
          <a:lstStyle/>
          <a:p>
            <a:r>
              <a:rPr lang="en-US" sz="3200" b="1" dirty="0">
                <a:solidFill>
                  <a:srgbClr val="FF0000"/>
                </a:solidFill>
                <a:latin typeface="Times New Roman" panose="02020603050405020304" pitchFamily="18" charset="0"/>
                <a:cs typeface="Times New Roman" panose="02020603050405020304" pitchFamily="18" charset="0"/>
              </a:rPr>
              <a:t>Differences between static and non-static nested classes?</a:t>
            </a:r>
            <a:br>
              <a:rPr lang="en-US" sz="3200" dirty="0">
                <a:solidFill>
                  <a:srgbClr val="FF0000"/>
                </a:solidFill>
                <a:latin typeface="Times New Roman" panose="02020603050405020304" pitchFamily="18" charset="0"/>
                <a:cs typeface="Times New Roman" panose="02020603050405020304" pitchFamily="18" charset="0"/>
              </a:rPr>
            </a:br>
            <a:endParaRPr lang="en-IN" sz="32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138372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EADE75B-855D-4CE8-8126-6B184DBE1453}"/>
              </a:ext>
            </a:extLst>
          </p:cNvPr>
          <p:cNvSpPr>
            <a:spLocks noGrp="1"/>
          </p:cNvSpPr>
          <p:nvPr>
            <p:ph idx="1"/>
          </p:nvPr>
        </p:nvSpPr>
        <p:spPr/>
        <p:txBody>
          <a:bodyPr>
            <a:normAutofit/>
          </a:bodyPr>
          <a:lstStyle/>
          <a:p>
            <a:r>
              <a:rPr lang="en-US" dirty="0">
                <a:latin typeface="Times New Roman" pitchFamily="18" charset="0"/>
                <a:cs typeface="Times New Roman" pitchFamily="18" charset="0"/>
              </a:rPr>
              <a:t>A static variable is common to all the instances of the class because it is a class level variable. </a:t>
            </a:r>
          </a:p>
          <a:p>
            <a:r>
              <a:rPr lang="en-US" dirty="0">
                <a:latin typeface="Times New Roman" pitchFamily="18" charset="0"/>
                <a:cs typeface="Times New Roman" pitchFamily="18" charset="0"/>
              </a:rPr>
              <a:t>A single copy of static variable is created and shared among all the instances of the class. </a:t>
            </a:r>
          </a:p>
          <a:p>
            <a:r>
              <a:rPr lang="en-US" dirty="0">
                <a:latin typeface="Times New Roman" pitchFamily="18" charset="0"/>
                <a:cs typeface="Times New Roman" pitchFamily="18" charset="0"/>
              </a:rPr>
              <a:t>Memory allocation for such variables only happens once when the class is loaded in the memory. </a:t>
            </a:r>
          </a:p>
          <a:p>
            <a:r>
              <a:rPr lang="en-US" dirty="0">
                <a:latin typeface="Times New Roman" pitchFamily="18" charset="0"/>
                <a:cs typeface="Times New Roman" pitchFamily="18" charset="0"/>
              </a:rPr>
              <a:t>Static variables are also known as Class Variables.</a:t>
            </a:r>
          </a:p>
          <a:p>
            <a:r>
              <a:rPr lang="en-US" dirty="0">
                <a:latin typeface="Times New Roman" pitchFamily="18" charset="0"/>
                <a:cs typeface="Times New Roman" pitchFamily="18" charset="0"/>
              </a:rPr>
              <a:t>Unlike </a:t>
            </a:r>
            <a:r>
              <a:rPr lang="en-US" b="1" dirty="0">
                <a:latin typeface="Times New Roman" pitchFamily="18" charset="0"/>
                <a:cs typeface="Times New Roman" pitchFamily="18" charset="0"/>
              </a:rPr>
              <a:t>non-static variables</a:t>
            </a:r>
            <a:r>
              <a:rPr lang="en-US" dirty="0">
                <a:latin typeface="Times New Roman" pitchFamily="18" charset="0"/>
                <a:cs typeface="Times New Roman" pitchFamily="18" charset="0"/>
              </a:rPr>
              <a:t>, such variables can be accessed directly in static and non-static methods.</a:t>
            </a:r>
          </a:p>
          <a:p>
            <a:pPr marL="355600" algn="just">
              <a:lnSpc>
                <a:spcPts val="2375"/>
              </a:lnSpc>
              <a:spcBef>
                <a:spcPts val="95"/>
              </a:spcBef>
              <a:tabLst>
                <a:tab pos="355600" algn="l"/>
              </a:tabLst>
            </a:pPr>
            <a:endParaRPr lang="en-US" dirty="0">
              <a:latin typeface="Times New Roman" pitchFamily="18" charset="0"/>
              <a:cs typeface="Times New Roman" pitchFamily="18" charset="0"/>
            </a:endParaRPr>
          </a:p>
          <a:p>
            <a:pPr marL="355600" algn="just">
              <a:lnSpc>
                <a:spcPts val="2375"/>
              </a:lnSpc>
              <a:spcBef>
                <a:spcPts val="95"/>
              </a:spcBef>
              <a:tabLst>
                <a:tab pos="355600" algn="l"/>
              </a:tabLst>
            </a:pPr>
            <a:endParaRPr lang="en-IN" sz="1600" dirty="0">
              <a:latin typeface="Times New Roman" pitchFamily="18" charset="0"/>
              <a:cs typeface="Times New Roman" pitchFamily="18" charset="0"/>
            </a:endParaRPr>
          </a:p>
        </p:txBody>
      </p:sp>
      <p:sp>
        <p:nvSpPr>
          <p:cNvPr id="3" name="TextBox 2">
            <a:extLst>
              <a:ext uri="{FF2B5EF4-FFF2-40B4-BE49-F238E27FC236}">
                <a16:creationId xmlns:a16="http://schemas.microsoft.com/office/drawing/2014/main" id="{F81D4B1F-E089-423A-B023-232C64292962}"/>
              </a:ext>
            </a:extLst>
          </p:cNvPr>
          <p:cNvSpPr txBox="1"/>
          <p:nvPr/>
        </p:nvSpPr>
        <p:spPr>
          <a:xfrm>
            <a:off x="1513840" y="365760"/>
            <a:ext cx="6874108" cy="1323439"/>
          </a:xfrm>
          <a:prstGeom prst="rect">
            <a:avLst/>
          </a:prstGeom>
          <a:noFill/>
        </p:spPr>
        <p:txBody>
          <a:bodyPr wrap="square" rtlCol="0">
            <a:spAutoFit/>
          </a:bodyPr>
          <a:lstStyle/>
          <a:p>
            <a:r>
              <a:rPr lang="en-IN" sz="4000" b="1" dirty="0">
                <a:solidFill>
                  <a:srgbClr val="C00000"/>
                </a:solidFill>
                <a:latin typeface="Times New Roman" panose="02020603050405020304" pitchFamily="18" charset="0"/>
                <a:cs typeface="Times New Roman" panose="02020603050405020304" pitchFamily="18" charset="0"/>
              </a:rPr>
              <a:t>JAVA STATIC VARIABLES</a:t>
            </a:r>
          </a:p>
          <a:p>
            <a:endParaRPr lang="en-IN" sz="4000" dirty="0"/>
          </a:p>
        </p:txBody>
      </p:sp>
    </p:spTree>
    <p:extLst>
      <p:ext uri="{BB962C8B-B14F-4D97-AF65-F5344CB8AC3E}">
        <p14:creationId xmlns:p14="http://schemas.microsoft.com/office/powerpoint/2010/main" val="3724999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EADE75B-855D-4CE8-8126-6B184DBE1453}"/>
              </a:ext>
            </a:extLst>
          </p:cNvPr>
          <p:cNvSpPr>
            <a:spLocks noGrp="1"/>
          </p:cNvSpPr>
          <p:nvPr>
            <p:ph idx="1"/>
          </p:nvPr>
        </p:nvSpPr>
        <p:spPr>
          <a:xfrm>
            <a:off x="436880" y="1524000"/>
            <a:ext cx="10916920" cy="5008880"/>
          </a:xfrm>
        </p:spPr>
        <p:txBody>
          <a:bodyPr>
            <a:noAutofit/>
          </a:bodyPr>
          <a:lstStyle/>
          <a:p>
            <a:pPr marL="12700" indent="0" algn="just">
              <a:lnSpc>
                <a:spcPct val="120000"/>
              </a:lnSpc>
              <a:spcBef>
                <a:spcPts val="95"/>
              </a:spcBef>
              <a:buNone/>
              <a:tabLst>
                <a:tab pos="355600" algn="l"/>
              </a:tabLst>
            </a:pPr>
            <a:r>
              <a:rPr lang="en-IN" sz="2000" dirty="0">
                <a:latin typeface="Times New Roman" pitchFamily="18" charset="0"/>
                <a:cs typeface="Times New Roman" pitchFamily="18" charset="0"/>
              </a:rPr>
              <a:t>class JavaExample3{</a:t>
            </a:r>
          </a:p>
          <a:p>
            <a:pPr marL="12700" indent="0" algn="just">
              <a:lnSpc>
                <a:spcPct val="120000"/>
              </a:lnSpc>
              <a:spcBef>
                <a:spcPts val="95"/>
              </a:spcBef>
              <a:buNone/>
              <a:tabLst>
                <a:tab pos="355600" algn="l"/>
              </a:tabLst>
            </a:pPr>
            <a:r>
              <a:rPr lang="en-IN" sz="2000" dirty="0">
                <a:latin typeface="Times New Roman" pitchFamily="18" charset="0"/>
                <a:cs typeface="Times New Roman" pitchFamily="18" charset="0"/>
              </a:rPr>
              <a:t>  static int var1;</a:t>
            </a:r>
          </a:p>
          <a:p>
            <a:pPr marL="12700" indent="0" algn="just">
              <a:lnSpc>
                <a:spcPct val="120000"/>
              </a:lnSpc>
              <a:spcBef>
                <a:spcPts val="95"/>
              </a:spcBef>
              <a:buNone/>
              <a:tabLst>
                <a:tab pos="355600" algn="l"/>
              </a:tabLst>
            </a:pPr>
            <a:r>
              <a:rPr lang="en-IN" sz="2000" dirty="0">
                <a:latin typeface="Times New Roman" pitchFamily="18" charset="0"/>
                <a:cs typeface="Times New Roman" pitchFamily="18" charset="0"/>
              </a:rPr>
              <a:t>  static String var2;</a:t>
            </a:r>
          </a:p>
          <a:p>
            <a:pPr marL="12700" indent="0" algn="just">
              <a:lnSpc>
                <a:spcPct val="120000"/>
              </a:lnSpc>
              <a:spcBef>
                <a:spcPts val="95"/>
              </a:spcBef>
              <a:buNone/>
              <a:tabLst>
                <a:tab pos="355600" algn="l"/>
              </a:tabLst>
            </a:pPr>
            <a:r>
              <a:rPr lang="en-IN" sz="2000" dirty="0">
                <a:latin typeface="Times New Roman" pitchFamily="18" charset="0"/>
                <a:cs typeface="Times New Roman" pitchFamily="18" charset="0"/>
              </a:rPr>
              <a:t>  //This is a Static Method</a:t>
            </a:r>
          </a:p>
          <a:p>
            <a:pPr marL="12700" indent="0" algn="just">
              <a:lnSpc>
                <a:spcPct val="120000"/>
              </a:lnSpc>
              <a:spcBef>
                <a:spcPts val="95"/>
              </a:spcBef>
              <a:buNone/>
              <a:tabLst>
                <a:tab pos="355600" algn="l"/>
              </a:tabLst>
            </a:pPr>
            <a:r>
              <a:rPr lang="en-IN" sz="2000" dirty="0">
                <a:latin typeface="Times New Roman" pitchFamily="18" charset="0"/>
                <a:cs typeface="Times New Roman" pitchFamily="18" charset="0"/>
              </a:rPr>
              <a:t>  static void </a:t>
            </a:r>
            <a:r>
              <a:rPr lang="en-IN" sz="2000" dirty="0" err="1">
                <a:latin typeface="Times New Roman" pitchFamily="18" charset="0"/>
                <a:cs typeface="Times New Roman" pitchFamily="18" charset="0"/>
              </a:rPr>
              <a:t>disp</a:t>
            </a:r>
            <a:r>
              <a:rPr lang="en-IN" sz="2000" dirty="0">
                <a:latin typeface="Times New Roman" pitchFamily="18" charset="0"/>
                <a:cs typeface="Times New Roman" pitchFamily="18" charset="0"/>
              </a:rPr>
              <a:t>(){</a:t>
            </a:r>
          </a:p>
          <a:p>
            <a:pPr marL="12700" indent="0" algn="just">
              <a:lnSpc>
                <a:spcPct val="120000"/>
              </a:lnSpc>
              <a:spcBef>
                <a:spcPts val="95"/>
              </a:spcBef>
              <a:buNone/>
              <a:tabLst>
                <a:tab pos="355600" algn="l"/>
              </a:tabLst>
            </a:pPr>
            <a:r>
              <a:rPr lang="en-IN" sz="2000" dirty="0">
                <a:latin typeface="Times New Roman" pitchFamily="18" charset="0"/>
                <a:cs typeface="Times New Roman" pitchFamily="18" charset="0"/>
              </a:rPr>
              <a:t>      </a:t>
            </a:r>
            <a:r>
              <a:rPr lang="en-IN" sz="2000" dirty="0" err="1">
                <a:latin typeface="Times New Roman" pitchFamily="18" charset="0"/>
                <a:cs typeface="Times New Roman" pitchFamily="18" charset="0"/>
              </a:rPr>
              <a:t>System.out.println</a:t>
            </a:r>
            <a:r>
              <a:rPr lang="en-IN" sz="2000" dirty="0">
                <a:latin typeface="Times New Roman" pitchFamily="18" charset="0"/>
                <a:cs typeface="Times New Roman" pitchFamily="18" charset="0"/>
              </a:rPr>
              <a:t>("Var1 is: "+var1);</a:t>
            </a:r>
          </a:p>
          <a:p>
            <a:pPr marL="12700" indent="0" algn="just">
              <a:lnSpc>
                <a:spcPct val="120000"/>
              </a:lnSpc>
              <a:spcBef>
                <a:spcPts val="95"/>
              </a:spcBef>
              <a:buNone/>
              <a:tabLst>
                <a:tab pos="355600" algn="l"/>
              </a:tabLst>
            </a:pPr>
            <a:r>
              <a:rPr lang="en-IN" sz="2000" dirty="0">
                <a:latin typeface="Times New Roman" pitchFamily="18" charset="0"/>
                <a:cs typeface="Times New Roman" pitchFamily="18" charset="0"/>
              </a:rPr>
              <a:t>      </a:t>
            </a:r>
            <a:r>
              <a:rPr lang="en-IN" sz="2000" dirty="0" err="1">
                <a:latin typeface="Times New Roman" pitchFamily="18" charset="0"/>
                <a:cs typeface="Times New Roman" pitchFamily="18" charset="0"/>
              </a:rPr>
              <a:t>System.out.println</a:t>
            </a:r>
            <a:r>
              <a:rPr lang="en-IN" sz="2000" dirty="0">
                <a:latin typeface="Times New Roman" pitchFamily="18" charset="0"/>
                <a:cs typeface="Times New Roman" pitchFamily="18" charset="0"/>
              </a:rPr>
              <a:t>("Var2 is: "+var2);</a:t>
            </a:r>
          </a:p>
          <a:p>
            <a:pPr marL="12700" indent="0" algn="just">
              <a:lnSpc>
                <a:spcPct val="120000"/>
              </a:lnSpc>
              <a:spcBef>
                <a:spcPts val="95"/>
              </a:spcBef>
              <a:buNone/>
              <a:tabLst>
                <a:tab pos="355600" algn="l"/>
              </a:tabLst>
            </a:pPr>
            <a:r>
              <a:rPr lang="en-IN" sz="2000" dirty="0">
                <a:latin typeface="Times New Roman" pitchFamily="18" charset="0"/>
                <a:cs typeface="Times New Roman" pitchFamily="18" charset="0"/>
              </a:rPr>
              <a:t>  }</a:t>
            </a:r>
          </a:p>
          <a:p>
            <a:pPr marL="12700" indent="0" algn="just">
              <a:lnSpc>
                <a:spcPct val="120000"/>
              </a:lnSpc>
              <a:spcBef>
                <a:spcPts val="95"/>
              </a:spcBef>
              <a:buNone/>
              <a:tabLst>
                <a:tab pos="355600" algn="l"/>
              </a:tabLst>
            </a:pPr>
            <a:r>
              <a:rPr lang="en-IN" sz="2000" dirty="0">
                <a:latin typeface="Times New Roman" pitchFamily="18" charset="0"/>
                <a:cs typeface="Times New Roman" pitchFamily="18" charset="0"/>
              </a:rPr>
              <a:t>  public static void main(String </a:t>
            </a:r>
            <a:r>
              <a:rPr lang="en-IN" sz="2000" dirty="0" err="1">
                <a:latin typeface="Times New Roman" pitchFamily="18" charset="0"/>
                <a:cs typeface="Times New Roman" pitchFamily="18" charset="0"/>
              </a:rPr>
              <a:t>args</a:t>
            </a:r>
            <a:r>
              <a:rPr lang="en-IN" sz="2000" dirty="0">
                <a:latin typeface="Times New Roman" pitchFamily="18" charset="0"/>
                <a:cs typeface="Times New Roman" pitchFamily="18" charset="0"/>
              </a:rPr>
              <a:t>[]) </a:t>
            </a:r>
          </a:p>
          <a:p>
            <a:pPr marL="12700" indent="0" algn="just">
              <a:lnSpc>
                <a:spcPct val="120000"/>
              </a:lnSpc>
              <a:spcBef>
                <a:spcPts val="95"/>
              </a:spcBef>
              <a:buNone/>
              <a:tabLst>
                <a:tab pos="355600" algn="l"/>
              </a:tabLst>
            </a:pPr>
            <a:r>
              <a:rPr lang="en-IN" sz="2000" dirty="0">
                <a:latin typeface="Times New Roman" pitchFamily="18" charset="0"/>
                <a:cs typeface="Times New Roman" pitchFamily="18" charset="0"/>
              </a:rPr>
              <a:t>  {</a:t>
            </a:r>
          </a:p>
          <a:p>
            <a:pPr marL="12700" indent="0" algn="just">
              <a:lnSpc>
                <a:spcPct val="120000"/>
              </a:lnSpc>
              <a:spcBef>
                <a:spcPts val="95"/>
              </a:spcBef>
              <a:buNone/>
              <a:tabLst>
                <a:tab pos="355600" algn="l"/>
              </a:tabLst>
            </a:pPr>
            <a:r>
              <a:rPr lang="en-IN" sz="2000" dirty="0">
                <a:latin typeface="Times New Roman" pitchFamily="18" charset="0"/>
                <a:cs typeface="Times New Roman" pitchFamily="18" charset="0"/>
              </a:rPr>
              <a:t>      </a:t>
            </a:r>
            <a:r>
              <a:rPr lang="en-IN" sz="2000" dirty="0" err="1">
                <a:latin typeface="Times New Roman" pitchFamily="18" charset="0"/>
                <a:cs typeface="Times New Roman" pitchFamily="18" charset="0"/>
              </a:rPr>
              <a:t>disp</a:t>
            </a:r>
            <a:r>
              <a:rPr lang="en-IN" sz="2000" dirty="0">
                <a:latin typeface="Times New Roman" pitchFamily="18" charset="0"/>
                <a:cs typeface="Times New Roman" pitchFamily="18" charset="0"/>
              </a:rPr>
              <a:t>();</a:t>
            </a:r>
          </a:p>
          <a:p>
            <a:pPr marL="12700" indent="0" algn="just">
              <a:lnSpc>
                <a:spcPct val="120000"/>
              </a:lnSpc>
              <a:spcBef>
                <a:spcPts val="95"/>
              </a:spcBef>
              <a:buNone/>
              <a:tabLst>
                <a:tab pos="355600" algn="l"/>
              </a:tabLst>
            </a:pPr>
            <a:r>
              <a:rPr lang="en-IN" sz="2000" dirty="0">
                <a:latin typeface="Times New Roman" pitchFamily="18" charset="0"/>
                <a:cs typeface="Times New Roman" pitchFamily="18" charset="0"/>
              </a:rPr>
              <a:t>  }</a:t>
            </a:r>
          </a:p>
          <a:p>
            <a:pPr marL="12700" indent="0" algn="just">
              <a:lnSpc>
                <a:spcPct val="120000"/>
              </a:lnSpc>
              <a:spcBef>
                <a:spcPts val="95"/>
              </a:spcBef>
              <a:buNone/>
              <a:tabLst>
                <a:tab pos="355600" algn="l"/>
              </a:tabLst>
            </a:pPr>
            <a:r>
              <a:rPr lang="en-IN" sz="2000" dirty="0">
                <a:latin typeface="Times New Roman" pitchFamily="18" charset="0"/>
                <a:cs typeface="Times New Roman" pitchFamily="18" charset="0"/>
              </a:rPr>
              <a:t>}</a:t>
            </a:r>
          </a:p>
        </p:txBody>
      </p:sp>
      <p:sp>
        <p:nvSpPr>
          <p:cNvPr id="3" name="TextBox 2">
            <a:extLst>
              <a:ext uri="{FF2B5EF4-FFF2-40B4-BE49-F238E27FC236}">
                <a16:creationId xmlns:a16="http://schemas.microsoft.com/office/drawing/2014/main" id="{F81D4B1F-E089-423A-B023-232C64292962}"/>
              </a:ext>
            </a:extLst>
          </p:cNvPr>
          <p:cNvSpPr txBox="1"/>
          <p:nvPr/>
        </p:nvSpPr>
        <p:spPr>
          <a:xfrm>
            <a:off x="932246" y="335280"/>
            <a:ext cx="6396816" cy="984885"/>
          </a:xfrm>
          <a:prstGeom prst="rect">
            <a:avLst/>
          </a:prstGeom>
          <a:noFill/>
        </p:spPr>
        <p:txBody>
          <a:bodyPr wrap="none" rtlCol="0">
            <a:spAutoFit/>
          </a:bodyPr>
          <a:lstStyle/>
          <a:p>
            <a:r>
              <a:rPr lang="en-IN" sz="4000" b="1" dirty="0">
                <a:solidFill>
                  <a:srgbClr val="C00000"/>
                </a:solidFill>
                <a:latin typeface="Times New Roman" panose="02020603050405020304" pitchFamily="18" charset="0"/>
                <a:cs typeface="Times New Roman" panose="02020603050405020304" pitchFamily="18" charset="0"/>
              </a:rPr>
              <a:t>JAVA STATIC VARIABLES</a:t>
            </a:r>
          </a:p>
          <a:p>
            <a:endParaRPr lang="en-IN" dirty="0"/>
          </a:p>
        </p:txBody>
      </p:sp>
    </p:spTree>
    <p:extLst>
      <p:ext uri="{BB962C8B-B14F-4D97-AF65-F5344CB8AC3E}">
        <p14:creationId xmlns:p14="http://schemas.microsoft.com/office/powerpoint/2010/main" val="32557808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4000" b="1" dirty="0">
                <a:solidFill>
                  <a:srgbClr val="FF0000"/>
                </a:solidFill>
              </a:rPr>
              <a:t>Java static nested class example with static method</a:t>
            </a:r>
          </a:p>
        </p:txBody>
      </p:sp>
      <p:sp>
        <p:nvSpPr>
          <p:cNvPr id="3" name="Content Placeholder 2"/>
          <p:cNvSpPr>
            <a:spLocks noGrp="1"/>
          </p:cNvSpPr>
          <p:nvPr>
            <p:ph idx="1"/>
          </p:nvPr>
        </p:nvSpPr>
        <p:spPr/>
        <p:txBody>
          <a:bodyPr>
            <a:normAutofit fontScale="77500" lnSpcReduction="20000"/>
          </a:bodyPr>
          <a:lstStyle/>
          <a:p>
            <a:pPr>
              <a:buNone/>
            </a:pPr>
            <a:r>
              <a:rPr lang="en-IN" dirty="0">
                <a:latin typeface="Times New Roman" pitchFamily="18" charset="0"/>
                <a:cs typeface="Times New Roman" pitchFamily="18" charset="0"/>
              </a:rPr>
              <a:t>If you have the static member inside static nested class, you don't need to create instance of static nested class.</a:t>
            </a:r>
          </a:p>
          <a:p>
            <a:pPr>
              <a:buNone/>
            </a:pPr>
            <a:endParaRPr lang="en-IN" b="1" dirty="0">
              <a:latin typeface="Times New Roman" pitchFamily="18" charset="0"/>
              <a:cs typeface="Times New Roman" pitchFamily="18" charset="0"/>
            </a:endParaRPr>
          </a:p>
          <a:p>
            <a:pPr>
              <a:buNone/>
            </a:pPr>
            <a:r>
              <a:rPr lang="en-IN" b="1" dirty="0">
                <a:latin typeface="Times New Roman" pitchFamily="18" charset="0"/>
                <a:cs typeface="Times New Roman" pitchFamily="18" charset="0"/>
              </a:rPr>
              <a:t>class</a:t>
            </a:r>
            <a:r>
              <a:rPr lang="en-IN" dirty="0">
                <a:latin typeface="Times New Roman" pitchFamily="18" charset="0"/>
                <a:cs typeface="Times New Roman" pitchFamily="18" charset="0"/>
              </a:rPr>
              <a:t> TestOuter2{  </a:t>
            </a:r>
          </a:p>
          <a:p>
            <a:pPr>
              <a:buNone/>
            </a:pPr>
            <a:r>
              <a:rPr lang="en-IN" dirty="0">
                <a:latin typeface="Times New Roman" pitchFamily="18" charset="0"/>
                <a:cs typeface="Times New Roman" pitchFamily="18" charset="0"/>
              </a:rPr>
              <a:t>  </a:t>
            </a:r>
            <a:r>
              <a:rPr lang="en-IN" b="1" dirty="0">
                <a:latin typeface="Times New Roman" pitchFamily="18" charset="0"/>
                <a:cs typeface="Times New Roman" pitchFamily="18" charset="0"/>
              </a:rPr>
              <a:t>static</a:t>
            </a:r>
            <a:r>
              <a:rPr lang="en-IN" dirty="0">
                <a:latin typeface="Times New Roman" pitchFamily="18" charset="0"/>
                <a:cs typeface="Times New Roman" pitchFamily="18" charset="0"/>
              </a:rPr>
              <a:t> </a:t>
            </a:r>
            <a:r>
              <a:rPr lang="en-IN" b="1" dirty="0" err="1">
                <a:latin typeface="Times New Roman" pitchFamily="18" charset="0"/>
                <a:cs typeface="Times New Roman" pitchFamily="18" charset="0"/>
              </a:rPr>
              <a:t>int</a:t>
            </a:r>
            <a:r>
              <a:rPr lang="en-IN" dirty="0">
                <a:latin typeface="Times New Roman" pitchFamily="18" charset="0"/>
                <a:cs typeface="Times New Roman" pitchFamily="18" charset="0"/>
              </a:rPr>
              <a:t> data=30;  </a:t>
            </a:r>
          </a:p>
          <a:p>
            <a:pPr>
              <a:buNone/>
            </a:pPr>
            <a:r>
              <a:rPr lang="en-IN" dirty="0">
                <a:latin typeface="Times New Roman" pitchFamily="18" charset="0"/>
                <a:cs typeface="Times New Roman" pitchFamily="18" charset="0"/>
              </a:rPr>
              <a:t>  </a:t>
            </a:r>
            <a:r>
              <a:rPr lang="en-IN" b="1" dirty="0">
                <a:latin typeface="Times New Roman" pitchFamily="18" charset="0"/>
                <a:cs typeface="Times New Roman" pitchFamily="18" charset="0"/>
              </a:rPr>
              <a:t>static</a:t>
            </a:r>
            <a:r>
              <a:rPr lang="en-IN" dirty="0">
                <a:latin typeface="Times New Roman" pitchFamily="18" charset="0"/>
                <a:cs typeface="Times New Roman" pitchFamily="18" charset="0"/>
              </a:rPr>
              <a:t> </a:t>
            </a:r>
            <a:r>
              <a:rPr lang="en-IN" b="1" dirty="0">
                <a:latin typeface="Times New Roman" pitchFamily="18" charset="0"/>
                <a:cs typeface="Times New Roman" pitchFamily="18" charset="0"/>
              </a:rPr>
              <a:t>class</a:t>
            </a:r>
            <a:r>
              <a:rPr lang="en-IN" dirty="0">
                <a:latin typeface="Times New Roman" pitchFamily="18" charset="0"/>
                <a:cs typeface="Times New Roman" pitchFamily="18" charset="0"/>
              </a:rPr>
              <a:t> Inner{  </a:t>
            </a:r>
          </a:p>
          <a:p>
            <a:pPr>
              <a:buNone/>
            </a:pPr>
            <a:r>
              <a:rPr lang="en-IN" dirty="0">
                <a:latin typeface="Times New Roman" pitchFamily="18" charset="0"/>
                <a:cs typeface="Times New Roman" pitchFamily="18" charset="0"/>
              </a:rPr>
              <a:t>   </a:t>
            </a:r>
            <a:r>
              <a:rPr lang="en-IN" b="1" dirty="0">
                <a:latin typeface="Times New Roman" pitchFamily="18" charset="0"/>
                <a:cs typeface="Times New Roman" pitchFamily="18" charset="0"/>
              </a:rPr>
              <a:t>static</a:t>
            </a:r>
            <a:r>
              <a:rPr lang="en-IN" dirty="0">
                <a:latin typeface="Times New Roman" pitchFamily="18" charset="0"/>
                <a:cs typeface="Times New Roman" pitchFamily="18" charset="0"/>
              </a:rPr>
              <a:t> </a:t>
            </a:r>
            <a:r>
              <a:rPr lang="en-IN" b="1" dirty="0">
                <a:latin typeface="Times New Roman" pitchFamily="18" charset="0"/>
                <a:cs typeface="Times New Roman" pitchFamily="18" charset="0"/>
              </a:rPr>
              <a:t>void</a:t>
            </a:r>
            <a:r>
              <a:rPr lang="en-IN" dirty="0">
                <a:latin typeface="Times New Roman" pitchFamily="18" charset="0"/>
                <a:cs typeface="Times New Roman" pitchFamily="18" charset="0"/>
              </a:rPr>
              <a:t> </a:t>
            </a:r>
            <a:r>
              <a:rPr lang="en-IN" dirty="0" err="1">
                <a:latin typeface="Times New Roman" pitchFamily="18" charset="0"/>
                <a:cs typeface="Times New Roman" pitchFamily="18" charset="0"/>
              </a:rPr>
              <a:t>msg</a:t>
            </a:r>
            <a:r>
              <a:rPr lang="en-IN" dirty="0">
                <a:latin typeface="Times New Roman" pitchFamily="18" charset="0"/>
                <a:cs typeface="Times New Roman" pitchFamily="18" charset="0"/>
              </a:rPr>
              <a:t>(){</a:t>
            </a:r>
            <a:r>
              <a:rPr lang="en-IN" dirty="0" err="1">
                <a:latin typeface="Times New Roman" pitchFamily="18" charset="0"/>
                <a:cs typeface="Times New Roman" pitchFamily="18" charset="0"/>
              </a:rPr>
              <a:t>System.out.println</a:t>
            </a:r>
            <a:r>
              <a:rPr lang="en-IN" dirty="0">
                <a:latin typeface="Times New Roman" pitchFamily="18" charset="0"/>
                <a:cs typeface="Times New Roman" pitchFamily="18" charset="0"/>
              </a:rPr>
              <a:t>("data is "+data);}  </a:t>
            </a:r>
          </a:p>
          <a:p>
            <a:pPr>
              <a:buNone/>
            </a:pPr>
            <a:r>
              <a:rPr lang="en-IN" dirty="0">
                <a:latin typeface="Times New Roman" pitchFamily="18" charset="0"/>
                <a:cs typeface="Times New Roman" pitchFamily="18" charset="0"/>
              </a:rPr>
              <a:t>  }  </a:t>
            </a:r>
          </a:p>
          <a:p>
            <a:pPr>
              <a:buNone/>
            </a:pPr>
            <a:r>
              <a:rPr lang="en-IN" dirty="0">
                <a:latin typeface="Times New Roman" pitchFamily="18" charset="0"/>
                <a:cs typeface="Times New Roman" pitchFamily="18" charset="0"/>
              </a:rPr>
              <a:t>  </a:t>
            </a:r>
            <a:r>
              <a:rPr lang="en-IN" b="1" dirty="0">
                <a:latin typeface="Times New Roman" pitchFamily="18" charset="0"/>
                <a:cs typeface="Times New Roman" pitchFamily="18" charset="0"/>
              </a:rPr>
              <a:t>public</a:t>
            </a:r>
            <a:r>
              <a:rPr lang="en-IN" dirty="0">
                <a:latin typeface="Times New Roman" pitchFamily="18" charset="0"/>
                <a:cs typeface="Times New Roman" pitchFamily="18" charset="0"/>
              </a:rPr>
              <a:t> </a:t>
            </a:r>
            <a:r>
              <a:rPr lang="en-IN" b="1" dirty="0">
                <a:latin typeface="Times New Roman" pitchFamily="18" charset="0"/>
                <a:cs typeface="Times New Roman" pitchFamily="18" charset="0"/>
              </a:rPr>
              <a:t>static</a:t>
            </a:r>
            <a:r>
              <a:rPr lang="en-IN" dirty="0">
                <a:latin typeface="Times New Roman" pitchFamily="18" charset="0"/>
                <a:cs typeface="Times New Roman" pitchFamily="18" charset="0"/>
              </a:rPr>
              <a:t> </a:t>
            </a:r>
            <a:r>
              <a:rPr lang="en-IN" b="1" dirty="0">
                <a:latin typeface="Times New Roman" pitchFamily="18" charset="0"/>
                <a:cs typeface="Times New Roman" pitchFamily="18" charset="0"/>
              </a:rPr>
              <a:t>void</a:t>
            </a:r>
            <a:r>
              <a:rPr lang="en-IN" dirty="0">
                <a:latin typeface="Times New Roman" pitchFamily="18" charset="0"/>
                <a:cs typeface="Times New Roman" pitchFamily="18" charset="0"/>
              </a:rPr>
              <a:t> main(String </a:t>
            </a:r>
            <a:r>
              <a:rPr lang="en-IN" dirty="0" err="1">
                <a:latin typeface="Times New Roman" pitchFamily="18" charset="0"/>
                <a:cs typeface="Times New Roman" pitchFamily="18" charset="0"/>
              </a:rPr>
              <a:t>args</a:t>
            </a:r>
            <a:r>
              <a:rPr lang="en-IN" dirty="0">
                <a:latin typeface="Times New Roman" pitchFamily="18" charset="0"/>
                <a:cs typeface="Times New Roman" pitchFamily="18" charset="0"/>
              </a:rPr>
              <a:t>[]){  </a:t>
            </a:r>
          </a:p>
          <a:p>
            <a:pPr>
              <a:buNone/>
            </a:pPr>
            <a:r>
              <a:rPr lang="en-IN" dirty="0">
                <a:latin typeface="Times New Roman" pitchFamily="18" charset="0"/>
                <a:cs typeface="Times New Roman" pitchFamily="18" charset="0"/>
              </a:rPr>
              <a:t>  TestOuter2.Inner.msg();//no need to create the instance of static nested class  </a:t>
            </a:r>
          </a:p>
          <a:p>
            <a:pPr>
              <a:buNone/>
            </a:pPr>
            <a:r>
              <a:rPr lang="en-IN" dirty="0">
                <a:latin typeface="Times New Roman" pitchFamily="18" charset="0"/>
                <a:cs typeface="Times New Roman" pitchFamily="18" charset="0"/>
              </a:rPr>
              <a:t>  }  </a:t>
            </a:r>
          </a:p>
          <a:p>
            <a:pPr>
              <a:buNone/>
            </a:pPr>
            <a:r>
              <a:rPr lang="en-IN" dirty="0">
                <a:latin typeface="Times New Roman" pitchFamily="18" charset="0"/>
                <a:cs typeface="Times New Roman" pitchFamily="18" charset="0"/>
              </a:rPr>
              <a:t>}  </a:t>
            </a:r>
          </a:p>
          <a:p>
            <a:pPr>
              <a:buNone/>
            </a:pPr>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2" name="Rectangle 4"/>
          <p:cNvSpPr>
            <a:spLocks noGrp="1" noChangeArrowheads="1"/>
          </p:cNvSpPr>
          <p:nvPr>
            <p:ph type="title"/>
          </p:nvPr>
        </p:nvSpPr>
        <p:spPr>
          <a:xfrm>
            <a:off x="1116330" y="524398"/>
            <a:ext cx="10515600" cy="776009"/>
          </a:xfrm>
        </p:spPr>
        <p:txBody>
          <a:bodyPr>
            <a:normAutofit/>
          </a:bodyPr>
          <a:lstStyle/>
          <a:p>
            <a:pPr algn="ctr"/>
            <a:r>
              <a:rPr lang="en-US" b="1" dirty="0">
                <a:latin typeface="Times New Roman" pitchFamily="18" charset="0"/>
                <a:cs typeface="Times New Roman" pitchFamily="18" charset="0"/>
              </a:rPr>
              <a:t>QUIZ: </a:t>
            </a:r>
            <a:endParaRPr lang="en-US" sz="2000" dirty="0">
              <a:latin typeface="Times New Roman" pitchFamily="18" charset="0"/>
              <a:cs typeface="Times New Roman" pitchFamily="18" charset="0"/>
            </a:endParaRPr>
          </a:p>
        </p:txBody>
      </p:sp>
      <p:sp>
        <p:nvSpPr>
          <p:cNvPr id="140594" name="Text Box 306"/>
          <p:cNvSpPr txBox="1">
            <a:spLocks noChangeArrowheads="1"/>
          </p:cNvSpPr>
          <p:nvPr/>
        </p:nvSpPr>
        <p:spPr bwMode="auto">
          <a:xfrm>
            <a:off x="433387" y="1454335"/>
            <a:ext cx="7575551" cy="3184974"/>
          </a:xfrm>
          <a:prstGeom prst="rect">
            <a:avLst/>
          </a:prstGeom>
          <a:noFill/>
          <a:ln w="9525">
            <a:noFill/>
            <a:miter lim="800000"/>
            <a:headEnd/>
            <a:tailEnd/>
          </a:ln>
          <a:effectLst/>
        </p:spPr>
        <p:txBody>
          <a:bodyPr wrap="square">
            <a:spAutoFit/>
          </a:bodyPr>
          <a:lstStyle/>
          <a:p>
            <a:pPr algn="l"/>
            <a:r>
              <a:rPr lang="en-US" sz="2000" dirty="0">
                <a:latin typeface="Arial" charset="0"/>
              </a:rPr>
              <a:t>Q1</a:t>
            </a:r>
            <a:r>
              <a:rPr lang="en-US" sz="2400" dirty="0">
                <a:latin typeface="Times New Roman" panose="02020603050405020304" pitchFamily="18" charset="0"/>
                <a:cs typeface="Times New Roman" panose="02020603050405020304" pitchFamily="18" charset="0"/>
              </a:rPr>
              <a:t>: Which of the following statements are incorrect?</a:t>
            </a:r>
          </a:p>
          <a:p>
            <a:pPr marL="12700" indent="0" algn="just">
              <a:lnSpc>
                <a:spcPct val="120000"/>
              </a:lnSpc>
              <a:spcBef>
                <a:spcPts val="95"/>
              </a:spcBef>
              <a:buNone/>
              <a:tabLst>
                <a:tab pos="355600" algn="l"/>
              </a:tabLst>
            </a:pPr>
            <a:endParaRPr lang="en-US" sz="2400" dirty="0">
              <a:latin typeface="Times New Roman" panose="02020603050405020304" pitchFamily="18" charset="0"/>
              <a:cs typeface="Times New Roman" panose="02020603050405020304" pitchFamily="18" charset="0"/>
            </a:endParaRPr>
          </a:p>
          <a:p>
            <a:pPr marL="12700" indent="0" algn="just">
              <a:lnSpc>
                <a:spcPct val="120000"/>
              </a:lnSpc>
              <a:spcBef>
                <a:spcPts val="95"/>
              </a:spcBef>
              <a:buNone/>
              <a:tabLst>
                <a:tab pos="355600" algn="l"/>
              </a:tabLst>
            </a:pPr>
            <a:r>
              <a:rPr lang="en-US" sz="2400" dirty="0">
                <a:latin typeface="Times New Roman" panose="02020603050405020304" pitchFamily="18" charset="0"/>
                <a:cs typeface="Times New Roman" panose="02020603050405020304" pitchFamily="18" charset="0"/>
              </a:rPr>
              <a:t>a) static methods can call other static methods only</a:t>
            </a:r>
          </a:p>
          <a:p>
            <a:pPr marL="12700" indent="0" algn="just">
              <a:lnSpc>
                <a:spcPct val="120000"/>
              </a:lnSpc>
              <a:spcBef>
                <a:spcPts val="95"/>
              </a:spcBef>
              <a:buNone/>
              <a:tabLst>
                <a:tab pos="355600" algn="l"/>
              </a:tabLst>
            </a:pPr>
            <a:r>
              <a:rPr lang="en-US" sz="2400" dirty="0">
                <a:latin typeface="Times New Roman" panose="02020603050405020304" pitchFamily="18" charset="0"/>
                <a:cs typeface="Times New Roman" panose="02020603050405020304" pitchFamily="18" charset="0"/>
              </a:rPr>
              <a:t>b) static methods must only access static data</a:t>
            </a:r>
          </a:p>
          <a:p>
            <a:pPr marL="12700" indent="0" algn="just">
              <a:lnSpc>
                <a:spcPct val="120000"/>
              </a:lnSpc>
              <a:spcBef>
                <a:spcPts val="95"/>
              </a:spcBef>
              <a:buNone/>
              <a:tabLst>
                <a:tab pos="355600" algn="l"/>
              </a:tabLst>
            </a:pPr>
            <a:r>
              <a:rPr lang="en-US" sz="2400" dirty="0">
                <a:latin typeface="Times New Roman" panose="02020603050405020304" pitchFamily="18" charset="0"/>
                <a:cs typeface="Times New Roman" panose="02020603050405020304" pitchFamily="18" charset="0"/>
              </a:rPr>
              <a:t>c) static methods can not refer to this or super in any way</a:t>
            </a:r>
          </a:p>
          <a:p>
            <a:pPr marL="12700" indent="0" algn="just">
              <a:lnSpc>
                <a:spcPct val="120000"/>
              </a:lnSpc>
              <a:spcBef>
                <a:spcPts val="95"/>
              </a:spcBef>
              <a:buNone/>
              <a:tabLst>
                <a:tab pos="355600" algn="l"/>
              </a:tabLst>
            </a:pPr>
            <a:r>
              <a:rPr lang="en-US" sz="2400" dirty="0">
                <a:latin typeface="Times New Roman" panose="02020603050405020304" pitchFamily="18" charset="0"/>
                <a:cs typeface="Times New Roman" panose="02020603050405020304" pitchFamily="18" charset="0"/>
              </a:rPr>
              <a:t>d) when object of class is declared, each object contains its own copy of static variables</a:t>
            </a:r>
          </a:p>
        </p:txBody>
      </p:sp>
      <p:grpSp>
        <p:nvGrpSpPr>
          <p:cNvPr id="2" name="Group 308"/>
          <p:cNvGrpSpPr>
            <a:grpSpLocks/>
          </p:cNvGrpSpPr>
          <p:nvPr/>
        </p:nvGrpSpPr>
        <p:grpSpPr bwMode="auto">
          <a:xfrm>
            <a:off x="9858375" y="2028825"/>
            <a:ext cx="1900238" cy="1893887"/>
            <a:chOff x="1259" y="3082"/>
            <a:chExt cx="884" cy="884"/>
          </a:xfrm>
        </p:grpSpPr>
        <p:sp>
          <p:nvSpPr>
            <p:cNvPr id="140597" name="Freeform 309"/>
            <p:cNvSpPr>
              <a:spLocks/>
            </p:cNvSpPr>
            <p:nvPr/>
          </p:nvSpPr>
          <p:spPr bwMode="auto">
            <a:xfrm flipH="1">
              <a:off x="1681" y="3824"/>
              <a:ext cx="110" cy="107"/>
            </a:xfrm>
            <a:custGeom>
              <a:avLst/>
              <a:gdLst/>
              <a:ahLst/>
              <a:cxnLst>
                <a:cxn ang="0">
                  <a:pos x="80" y="107"/>
                </a:cxn>
                <a:cxn ang="0">
                  <a:pos x="89" y="104"/>
                </a:cxn>
                <a:cxn ang="0">
                  <a:pos x="99" y="96"/>
                </a:cxn>
                <a:cxn ang="0">
                  <a:pos x="105" y="91"/>
                </a:cxn>
                <a:cxn ang="0">
                  <a:pos x="110" y="80"/>
                </a:cxn>
                <a:cxn ang="0">
                  <a:pos x="56" y="18"/>
                </a:cxn>
                <a:cxn ang="0">
                  <a:pos x="51" y="16"/>
                </a:cxn>
                <a:cxn ang="0">
                  <a:pos x="29" y="5"/>
                </a:cxn>
                <a:cxn ang="0">
                  <a:pos x="13" y="0"/>
                </a:cxn>
                <a:cxn ang="0">
                  <a:pos x="0" y="10"/>
                </a:cxn>
                <a:cxn ang="0">
                  <a:pos x="80" y="107"/>
                </a:cxn>
              </a:cxnLst>
              <a:rect l="0" t="0" r="r" b="b"/>
              <a:pathLst>
                <a:path w="110" h="107">
                  <a:moveTo>
                    <a:pt x="80" y="107"/>
                  </a:moveTo>
                  <a:lnTo>
                    <a:pt x="89" y="104"/>
                  </a:lnTo>
                  <a:lnTo>
                    <a:pt x="99" y="96"/>
                  </a:lnTo>
                  <a:lnTo>
                    <a:pt x="105" y="91"/>
                  </a:lnTo>
                  <a:lnTo>
                    <a:pt x="110" y="80"/>
                  </a:lnTo>
                  <a:lnTo>
                    <a:pt x="56" y="18"/>
                  </a:lnTo>
                  <a:lnTo>
                    <a:pt x="51" y="16"/>
                  </a:lnTo>
                  <a:lnTo>
                    <a:pt x="29" y="5"/>
                  </a:lnTo>
                  <a:lnTo>
                    <a:pt x="13" y="0"/>
                  </a:lnTo>
                  <a:lnTo>
                    <a:pt x="0" y="10"/>
                  </a:lnTo>
                  <a:lnTo>
                    <a:pt x="80" y="107"/>
                  </a:lnTo>
                  <a:close/>
                </a:path>
              </a:pathLst>
            </a:custGeom>
            <a:solidFill>
              <a:srgbClr val="000000"/>
            </a:solidFill>
            <a:ln w="9525">
              <a:noFill/>
              <a:round/>
              <a:headEnd/>
              <a:tailEnd/>
            </a:ln>
          </p:spPr>
          <p:txBody>
            <a:bodyPr/>
            <a:lstStyle/>
            <a:p>
              <a:endParaRPr lang="en-US"/>
            </a:p>
          </p:txBody>
        </p:sp>
        <p:sp>
          <p:nvSpPr>
            <p:cNvPr id="140598" name="Freeform 310"/>
            <p:cNvSpPr>
              <a:spLocks/>
            </p:cNvSpPr>
            <p:nvPr/>
          </p:nvSpPr>
          <p:spPr bwMode="auto">
            <a:xfrm flipH="1">
              <a:off x="1786" y="3762"/>
              <a:ext cx="35" cy="88"/>
            </a:xfrm>
            <a:custGeom>
              <a:avLst/>
              <a:gdLst/>
              <a:ahLst/>
              <a:cxnLst>
                <a:cxn ang="0">
                  <a:pos x="24" y="88"/>
                </a:cxn>
                <a:cxn ang="0">
                  <a:pos x="29" y="88"/>
                </a:cxn>
                <a:cxn ang="0">
                  <a:pos x="32" y="88"/>
                </a:cxn>
                <a:cxn ang="0">
                  <a:pos x="32" y="86"/>
                </a:cxn>
                <a:cxn ang="0">
                  <a:pos x="35" y="83"/>
                </a:cxn>
                <a:cxn ang="0">
                  <a:pos x="35" y="64"/>
                </a:cxn>
                <a:cxn ang="0">
                  <a:pos x="29" y="40"/>
                </a:cxn>
                <a:cxn ang="0">
                  <a:pos x="13" y="16"/>
                </a:cxn>
                <a:cxn ang="0">
                  <a:pos x="0" y="0"/>
                </a:cxn>
                <a:cxn ang="0">
                  <a:pos x="2" y="13"/>
                </a:cxn>
                <a:cxn ang="0">
                  <a:pos x="8" y="43"/>
                </a:cxn>
                <a:cxn ang="0">
                  <a:pos x="16" y="75"/>
                </a:cxn>
                <a:cxn ang="0">
                  <a:pos x="24" y="88"/>
                </a:cxn>
              </a:cxnLst>
              <a:rect l="0" t="0" r="r" b="b"/>
              <a:pathLst>
                <a:path w="35" h="88">
                  <a:moveTo>
                    <a:pt x="24" y="88"/>
                  </a:moveTo>
                  <a:lnTo>
                    <a:pt x="29" y="88"/>
                  </a:lnTo>
                  <a:lnTo>
                    <a:pt x="32" y="88"/>
                  </a:lnTo>
                  <a:lnTo>
                    <a:pt x="32" y="86"/>
                  </a:lnTo>
                  <a:lnTo>
                    <a:pt x="35" y="83"/>
                  </a:lnTo>
                  <a:lnTo>
                    <a:pt x="35" y="64"/>
                  </a:lnTo>
                  <a:lnTo>
                    <a:pt x="29" y="40"/>
                  </a:lnTo>
                  <a:lnTo>
                    <a:pt x="13" y="16"/>
                  </a:lnTo>
                  <a:lnTo>
                    <a:pt x="0" y="0"/>
                  </a:lnTo>
                  <a:lnTo>
                    <a:pt x="2" y="13"/>
                  </a:lnTo>
                  <a:lnTo>
                    <a:pt x="8" y="43"/>
                  </a:lnTo>
                  <a:lnTo>
                    <a:pt x="16" y="75"/>
                  </a:lnTo>
                  <a:lnTo>
                    <a:pt x="24" y="88"/>
                  </a:lnTo>
                  <a:close/>
                </a:path>
              </a:pathLst>
            </a:custGeom>
            <a:solidFill>
              <a:srgbClr val="000000"/>
            </a:solidFill>
            <a:ln w="9525">
              <a:noFill/>
              <a:round/>
              <a:headEnd/>
              <a:tailEnd/>
            </a:ln>
          </p:spPr>
          <p:txBody>
            <a:bodyPr/>
            <a:lstStyle/>
            <a:p>
              <a:endParaRPr lang="en-US"/>
            </a:p>
          </p:txBody>
        </p:sp>
        <p:sp>
          <p:nvSpPr>
            <p:cNvPr id="140599" name="Freeform 311"/>
            <p:cNvSpPr>
              <a:spLocks/>
            </p:cNvSpPr>
            <p:nvPr/>
          </p:nvSpPr>
          <p:spPr bwMode="auto">
            <a:xfrm flipH="1">
              <a:off x="1587" y="3719"/>
              <a:ext cx="54" cy="29"/>
            </a:xfrm>
            <a:custGeom>
              <a:avLst/>
              <a:gdLst/>
              <a:ahLst/>
              <a:cxnLst>
                <a:cxn ang="0">
                  <a:pos x="54" y="19"/>
                </a:cxn>
                <a:cxn ang="0">
                  <a:pos x="48" y="13"/>
                </a:cxn>
                <a:cxn ang="0">
                  <a:pos x="43" y="11"/>
                </a:cxn>
                <a:cxn ang="0">
                  <a:pos x="40" y="5"/>
                </a:cxn>
                <a:cxn ang="0">
                  <a:pos x="32" y="2"/>
                </a:cxn>
                <a:cxn ang="0">
                  <a:pos x="21" y="0"/>
                </a:cxn>
                <a:cxn ang="0">
                  <a:pos x="13" y="0"/>
                </a:cxn>
                <a:cxn ang="0">
                  <a:pos x="5" y="0"/>
                </a:cxn>
                <a:cxn ang="0">
                  <a:pos x="0" y="2"/>
                </a:cxn>
                <a:cxn ang="0">
                  <a:pos x="27" y="29"/>
                </a:cxn>
                <a:cxn ang="0">
                  <a:pos x="32" y="27"/>
                </a:cxn>
                <a:cxn ang="0">
                  <a:pos x="40" y="21"/>
                </a:cxn>
                <a:cxn ang="0">
                  <a:pos x="45" y="19"/>
                </a:cxn>
                <a:cxn ang="0">
                  <a:pos x="54" y="19"/>
                </a:cxn>
              </a:cxnLst>
              <a:rect l="0" t="0" r="r" b="b"/>
              <a:pathLst>
                <a:path w="54" h="29">
                  <a:moveTo>
                    <a:pt x="54" y="19"/>
                  </a:moveTo>
                  <a:lnTo>
                    <a:pt x="48" y="13"/>
                  </a:lnTo>
                  <a:lnTo>
                    <a:pt x="43" y="11"/>
                  </a:lnTo>
                  <a:lnTo>
                    <a:pt x="40" y="5"/>
                  </a:lnTo>
                  <a:lnTo>
                    <a:pt x="32" y="2"/>
                  </a:lnTo>
                  <a:lnTo>
                    <a:pt x="21" y="0"/>
                  </a:lnTo>
                  <a:lnTo>
                    <a:pt x="13" y="0"/>
                  </a:lnTo>
                  <a:lnTo>
                    <a:pt x="5" y="0"/>
                  </a:lnTo>
                  <a:lnTo>
                    <a:pt x="0" y="2"/>
                  </a:lnTo>
                  <a:lnTo>
                    <a:pt x="27" y="29"/>
                  </a:lnTo>
                  <a:lnTo>
                    <a:pt x="32" y="27"/>
                  </a:lnTo>
                  <a:lnTo>
                    <a:pt x="40" y="21"/>
                  </a:lnTo>
                  <a:lnTo>
                    <a:pt x="45" y="19"/>
                  </a:lnTo>
                  <a:lnTo>
                    <a:pt x="54" y="19"/>
                  </a:lnTo>
                  <a:close/>
                </a:path>
              </a:pathLst>
            </a:custGeom>
            <a:solidFill>
              <a:srgbClr val="000000"/>
            </a:solidFill>
            <a:ln w="9525">
              <a:noFill/>
              <a:round/>
              <a:headEnd/>
              <a:tailEnd/>
            </a:ln>
          </p:spPr>
          <p:txBody>
            <a:bodyPr/>
            <a:lstStyle/>
            <a:p>
              <a:endParaRPr lang="en-US"/>
            </a:p>
          </p:txBody>
        </p:sp>
        <p:sp>
          <p:nvSpPr>
            <p:cNvPr id="140600" name="Freeform 312"/>
            <p:cNvSpPr>
              <a:spLocks/>
            </p:cNvSpPr>
            <p:nvPr/>
          </p:nvSpPr>
          <p:spPr bwMode="auto">
            <a:xfrm flipH="1">
              <a:off x="1259" y="3082"/>
              <a:ext cx="884" cy="884"/>
            </a:xfrm>
            <a:custGeom>
              <a:avLst/>
              <a:gdLst/>
              <a:ahLst/>
              <a:cxnLst>
                <a:cxn ang="0">
                  <a:pos x="441" y="408"/>
                </a:cxn>
                <a:cxn ang="0">
                  <a:pos x="403" y="392"/>
                </a:cxn>
                <a:cxn ang="0">
                  <a:pos x="355" y="355"/>
                </a:cxn>
                <a:cxn ang="0">
                  <a:pos x="320" y="333"/>
                </a:cxn>
                <a:cxn ang="0">
                  <a:pos x="285" y="242"/>
                </a:cxn>
                <a:cxn ang="0">
                  <a:pos x="271" y="212"/>
                </a:cxn>
                <a:cxn ang="0">
                  <a:pos x="261" y="159"/>
                </a:cxn>
                <a:cxn ang="0">
                  <a:pos x="261" y="137"/>
                </a:cxn>
                <a:cxn ang="0">
                  <a:pos x="177" y="102"/>
                </a:cxn>
                <a:cxn ang="0">
                  <a:pos x="215" y="86"/>
                </a:cxn>
                <a:cxn ang="0">
                  <a:pos x="279" y="62"/>
                </a:cxn>
                <a:cxn ang="0">
                  <a:pos x="339" y="40"/>
                </a:cxn>
                <a:cxn ang="0">
                  <a:pos x="390" y="27"/>
                </a:cxn>
                <a:cxn ang="0">
                  <a:pos x="591" y="83"/>
                </a:cxn>
                <a:cxn ang="0">
                  <a:pos x="572" y="97"/>
                </a:cxn>
                <a:cxn ang="0">
                  <a:pos x="583" y="212"/>
                </a:cxn>
                <a:cxn ang="0">
                  <a:pos x="583" y="236"/>
                </a:cxn>
                <a:cxn ang="0">
                  <a:pos x="556" y="234"/>
                </a:cxn>
                <a:cxn ang="0">
                  <a:pos x="508" y="161"/>
                </a:cxn>
                <a:cxn ang="0">
                  <a:pos x="508" y="210"/>
                </a:cxn>
                <a:cxn ang="0">
                  <a:pos x="521" y="236"/>
                </a:cxn>
                <a:cxn ang="0">
                  <a:pos x="511" y="269"/>
                </a:cxn>
                <a:cxn ang="0">
                  <a:pos x="500" y="304"/>
                </a:cxn>
                <a:cxn ang="0">
                  <a:pos x="476" y="339"/>
                </a:cxn>
                <a:cxn ang="0">
                  <a:pos x="441" y="344"/>
                </a:cxn>
                <a:cxn ang="0">
                  <a:pos x="446" y="360"/>
                </a:cxn>
                <a:cxn ang="0">
                  <a:pos x="468" y="376"/>
                </a:cxn>
                <a:cxn ang="0">
                  <a:pos x="508" y="411"/>
                </a:cxn>
                <a:cxn ang="0">
                  <a:pos x="545" y="433"/>
                </a:cxn>
                <a:cxn ang="0">
                  <a:pos x="564" y="438"/>
                </a:cxn>
                <a:cxn ang="0">
                  <a:pos x="615" y="446"/>
                </a:cxn>
                <a:cxn ang="0">
                  <a:pos x="666" y="511"/>
                </a:cxn>
                <a:cxn ang="0">
                  <a:pos x="707" y="578"/>
                </a:cxn>
                <a:cxn ang="0">
                  <a:pos x="782" y="669"/>
                </a:cxn>
                <a:cxn ang="0">
                  <a:pos x="814" y="747"/>
                </a:cxn>
                <a:cxn ang="0">
                  <a:pos x="777" y="846"/>
                </a:cxn>
                <a:cxn ang="0">
                  <a:pos x="884" y="884"/>
                </a:cxn>
                <a:cxn ang="0">
                  <a:pos x="86" y="884"/>
                </a:cxn>
                <a:cxn ang="0">
                  <a:pos x="89" y="578"/>
                </a:cxn>
                <a:cxn ang="0">
                  <a:pos x="124" y="451"/>
                </a:cxn>
                <a:cxn ang="0">
                  <a:pos x="191" y="438"/>
                </a:cxn>
                <a:cxn ang="0">
                  <a:pos x="242" y="416"/>
                </a:cxn>
                <a:cxn ang="0">
                  <a:pos x="296" y="360"/>
                </a:cxn>
                <a:cxn ang="0">
                  <a:pos x="309" y="336"/>
                </a:cxn>
                <a:cxn ang="0">
                  <a:pos x="371" y="408"/>
                </a:cxn>
                <a:cxn ang="0">
                  <a:pos x="427" y="484"/>
                </a:cxn>
                <a:cxn ang="0">
                  <a:pos x="519" y="661"/>
                </a:cxn>
                <a:cxn ang="0">
                  <a:pos x="500" y="532"/>
                </a:cxn>
                <a:cxn ang="0">
                  <a:pos x="457" y="390"/>
                </a:cxn>
              </a:cxnLst>
              <a:rect l="0" t="0" r="r" b="b"/>
              <a:pathLst>
                <a:path w="884" h="884">
                  <a:moveTo>
                    <a:pt x="441" y="368"/>
                  </a:moveTo>
                  <a:lnTo>
                    <a:pt x="441" y="382"/>
                  </a:lnTo>
                  <a:lnTo>
                    <a:pt x="441" y="395"/>
                  </a:lnTo>
                  <a:lnTo>
                    <a:pt x="441" y="408"/>
                  </a:lnTo>
                  <a:lnTo>
                    <a:pt x="435" y="422"/>
                  </a:lnTo>
                  <a:lnTo>
                    <a:pt x="425" y="411"/>
                  </a:lnTo>
                  <a:lnTo>
                    <a:pt x="414" y="400"/>
                  </a:lnTo>
                  <a:lnTo>
                    <a:pt x="403" y="392"/>
                  </a:lnTo>
                  <a:lnTo>
                    <a:pt x="392" y="382"/>
                  </a:lnTo>
                  <a:lnTo>
                    <a:pt x="379" y="373"/>
                  </a:lnTo>
                  <a:lnTo>
                    <a:pt x="368" y="363"/>
                  </a:lnTo>
                  <a:lnTo>
                    <a:pt x="355" y="355"/>
                  </a:lnTo>
                  <a:lnTo>
                    <a:pt x="341" y="349"/>
                  </a:lnTo>
                  <a:lnTo>
                    <a:pt x="336" y="344"/>
                  </a:lnTo>
                  <a:lnTo>
                    <a:pt x="328" y="339"/>
                  </a:lnTo>
                  <a:lnTo>
                    <a:pt x="320" y="333"/>
                  </a:lnTo>
                  <a:lnTo>
                    <a:pt x="314" y="328"/>
                  </a:lnTo>
                  <a:lnTo>
                    <a:pt x="314" y="296"/>
                  </a:lnTo>
                  <a:lnTo>
                    <a:pt x="301" y="266"/>
                  </a:lnTo>
                  <a:lnTo>
                    <a:pt x="285" y="242"/>
                  </a:lnTo>
                  <a:lnTo>
                    <a:pt x="271" y="215"/>
                  </a:lnTo>
                  <a:lnTo>
                    <a:pt x="271" y="215"/>
                  </a:lnTo>
                  <a:lnTo>
                    <a:pt x="271" y="212"/>
                  </a:lnTo>
                  <a:lnTo>
                    <a:pt x="271" y="212"/>
                  </a:lnTo>
                  <a:lnTo>
                    <a:pt x="271" y="212"/>
                  </a:lnTo>
                  <a:lnTo>
                    <a:pt x="261" y="196"/>
                  </a:lnTo>
                  <a:lnTo>
                    <a:pt x="261" y="177"/>
                  </a:lnTo>
                  <a:lnTo>
                    <a:pt x="261" y="159"/>
                  </a:lnTo>
                  <a:lnTo>
                    <a:pt x="263" y="140"/>
                  </a:lnTo>
                  <a:lnTo>
                    <a:pt x="263" y="140"/>
                  </a:lnTo>
                  <a:lnTo>
                    <a:pt x="263" y="137"/>
                  </a:lnTo>
                  <a:lnTo>
                    <a:pt x="261" y="137"/>
                  </a:lnTo>
                  <a:lnTo>
                    <a:pt x="261" y="134"/>
                  </a:lnTo>
                  <a:lnTo>
                    <a:pt x="180" y="107"/>
                  </a:lnTo>
                  <a:lnTo>
                    <a:pt x="177" y="105"/>
                  </a:lnTo>
                  <a:lnTo>
                    <a:pt x="177" y="102"/>
                  </a:lnTo>
                  <a:lnTo>
                    <a:pt x="177" y="102"/>
                  </a:lnTo>
                  <a:lnTo>
                    <a:pt x="180" y="99"/>
                  </a:lnTo>
                  <a:lnTo>
                    <a:pt x="196" y="94"/>
                  </a:lnTo>
                  <a:lnTo>
                    <a:pt x="215" y="86"/>
                  </a:lnTo>
                  <a:lnTo>
                    <a:pt x="231" y="81"/>
                  </a:lnTo>
                  <a:lnTo>
                    <a:pt x="247" y="75"/>
                  </a:lnTo>
                  <a:lnTo>
                    <a:pt x="263" y="70"/>
                  </a:lnTo>
                  <a:lnTo>
                    <a:pt x="279" y="62"/>
                  </a:lnTo>
                  <a:lnTo>
                    <a:pt x="296" y="56"/>
                  </a:lnTo>
                  <a:lnTo>
                    <a:pt x="312" y="51"/>
                  </a:lnTo>
                  <a:lnTo>
                    <a:pt x="325" y="46"/>
                  </a:lnTo>
                  <a:lnTo>
                    <a:pt x="339" y="40"/>
                  </a:lnTo>
                  <a:lnTo>
                    <a:pt x="352" y="35"/>
                  </a:lnTo>
                  <a:lnTo>
                    <a:pt x="365" y="30"/>
                  </a:lnTo>
                  <a:lnTo>
                    <a:pt x="376" y="27"/>
                  </a:lnTo>
                  <a:lnTo>
                    <a:pt x="390" y="27"/>
                  </a:lnTo>
                  <a:lnTo>
                    <a:pt x="400" y="27"/>
                  </a:lnTo>
                  <a:lnTo>
                    <a:pt x="414" y="32"/>
                  </a:lnTo>
                  <a:lnTo>
                    <a:pt x="591" y="83"/>
                  </a:lnTo>
                  <a:lnTo>
                    <a:pt x="591" y="83"/>
                  </a:lnTo>
                  <a:lnTo>
                    <a:pt x="591" y="86"/>
                  </a:lnTo>
                  <a:lnTo>
                    <a:pt x="591" y="86"/>
                  </a:lnTo>
                  <a:lnTo>
                    <a:pt x="591" y="89"/>
                  </a:lnTo>
                  <a:lnTo>
                    <a:pt x="572" y="97"/>
                  </a:lnTo>
                  <a:lnTo>
                    <a:pt x="575" y="126"/>
                  </a:lnTo>
                  <a:lnTo>
                    <a:pt x="578" y="153"/>
                  </a:lnTo>
                  <a:lnTo>
                    <a:pt x="580" y="183"/>
                  </a:lnTo>
                  <a:lnTo>
                    <a:pt x="583" y="212"/>
                  </a:lnTo>
                  <a:lnTo>
                    <a:pt x="583" y="220"/>
                  </a:lnTo>
                  <a:lnTo>
                    <a:pt x="583" y="226"/>
                  </a:lnTo>
                  <a:lnTo>
                    <a:pt x="583" y="231"/>
                  </a:lnTo>
                  <a:lnTo>
                    <a:pt x="583" y="236"/>
                  </a:lnTo>
                  <a:lnTo>
                    <a:pt x="578" y="236"/>
                  </a:lnTo>
                  <a:lnTo>
                    <a:pt x="570" y="236"/>
                  </a:lnTo>
                  <a:lnTo>
                    <a:pt x="559" y="236"/>
                  </a:lnTo>
                  <a:lnTo>
                    <a:pt x="556" y="234"/>
                  </a:lnTo>
                  <a:lnTo>
                    <a:pt x="543" y="110"/>
                  </a:lnTo>
                  <a:lnTo>
                    <a:pt x="502" y="124"/>
                  </a:lnTo>
                  <a:lnTo>
                    <a:pt x="502" y="142"/>
                  </a:lnTo>
                  <a:lnTo>
                    <a:pt x="508" y="161"/>
                  </a:lnTo>
                  <a:lnTo>
                    <a:pt x="508" y="183"/>
                  </a:lnTo>
                  <a:lnTo>
                    <a:pt x="502" y="199"/>
                  </a:lnTo>
                  <a:lnTo>
                    <a:pt x="502" y="204"/>
                  </a:lnTo>
                  <a:lnTo>
                    <a:pt x="508" y="210"/>
                  </a:lnTo>
                  <a:lnTo>
                    <a:pt x="511" y="215"/>
                  </a:lnTo>
                  <a:lnTo>
                    <a:pt x="513" y="220"/>
                  </a:lnTo>
                  <a:lnTo>
                    <a:pt x="519" y="228"/>
                  </a:lnTo>
                  <a:lnTo>
                    <a:pt x="521" y="236"/>
                  </a:lnTo>
                  <a:lnTo>
                    <a:pt x="524" y="247"/>
                  </a:lnTo>
                  <a:lnTo>
                    <a:pt x="521" y="255"/>
                  </a:lnTo>
                  <a:lnTo>
                    <a:pt x="511" y="261"/>
                  </a:lnTo>
                  <a:lnTo>
                    <a:pt x="511" y="269"/>
                  </a:lnTo>
                  <a:lnTo>
                    <a:pt x="508" y="277"/>
                  </a:lnTo>
                  <a:lnTo>
                    <a:pt x="502" y="282"/>
                  </a:lnTo>
                  <a:lnTo>
                    <a:pt x="502" y="290"/>
                  </a:lnTo>
                  <a:lnTo>
                    <a:pt x="500" y="304"/>
                  </a:lnTo>
                  <a:lnTo>
                    <a:pt x="500" y="314"/>
                  </a:lnTo>
                  <a:lnTo>
                    <a:pt x="494" y="325"/>
                  </a:lnTo>
                  <a:lnTo>
                    <a:pt x="486" y="336"/>
                  </a:lnTo>
                  <a:lnTo>
                    <a:pt x="476" y="339"/>
                  </a:lnTo>
                  <a:lnTo>
                    <a:pt x="468" y="341"/>
                  </a:lnTo>
                  <a:lnTo>
                    <a:pt x="457" y="344"/>
                  </a:lnTo>
                  <a:lnTo>
                    <a:pt x="443" y="344"/>
                  </a:lnTo>
                  <a:lnTo>
                    <a:pt x="441" y="344"/>
                  </a:lnTo>
                  <a:lnTo>
                    <a:pt x="441" y="349"/>
                  </a:lnTo>
                  <a:lnTo>
                    <a:pt x="441" y="352"/>
                  </a:lnTo>
                  <a:lnTo>
                    <a:pt x="441" y="357"/>
                  </a:lnTo>
                  <a:lnTo>
                    <a:pt x="446" y="360"/>
                  </a:lnTo>
                  <a:lnTo>
                    <a:pt x="451" y="360"/>
                  </a:lnTo>
                  <a:lnTo>
                    <a:pt x="454" y="363"/>
                  </a:lnTo>
                  <a:lnTo>
                    <a:pt x="459" y="365"/>
                  </a:lnTo>
                  <a:lnTo>
                    <a:pt x="468" y="376"/>
                  </a:lnTo>
                  <a:lnTo>
                    <a:pt x="476" y="387"/>
                  </a:lnTo>
                  <a:lnTo>
                    <a:pt x="484" y="395"/>
                  </a:lnTo>
                  <a:lnTo>
                    <a:pt x="494" y="403"/>
                  </a:lnTo>
                  <a:lnTo>
                    <a:pt x="508" y="411"/>
                  </a:lnTo>
                  <a:lnTo>
                    <a:pt x="519" y="419"/>
                  </a:lnTo>
                  <a:lnTo>
                    <a:pt x="529" y="425"/>
                  </a:lnTo>
                  <a:lnTo>
                    <a:pt x="543" y="433"/>
                  </a:lnTo>
                  <a:lnTo>
                    <a:pt x="545" y="433"/>
                  </a:lnTo>
                  <a:lnTo>
                    <a:pt x="551" y="435"/>
                  </a:lnTo>
                  <a:lnTo>
                    <a:pt x="556" y="438"/>
                  </a:lnTo>
                  <a:lnTo>
                    <a:pt x="559" y="438"/>
                  </a:lnTo>
                  <a:lnTo>
                    <a:pt x="564" y="438"/>
                  </a:lnTo>
                  <a:lnTo>
                    <a:pt x="578" y="438"/>
                  </a:lnTo>
                  <a:lnTo>
                    <a:pt x="588" y="438"/>
                  </a:lnTo>
                  <a:lnTo>
                    <a:pt x="594" y="441"/>
                  </a:lnTo>
                  <a:lnTo>
                    <a:pt x="615" y="446"/>
                  </a:lnTo>
                  <a:lnTo>
                    <a:pt x="631" y="462"/>
                  </a:lnTo>
                  <a:lnTo>
                    <a:pt x="645" y="481"/>
                  </a:lnTo>
                  <a:lnTo>
                    <a:pt x="658" y="500"/>
                  </a:lnTo>
                  <a:lnTo>
                    <a:pt x="666" y="511"/>
                  </a:lnTo>
                  <a:lnTo>
                    <a:pt x="677" y="521"/>
                  </a:lnTo>
                  <a:lnTo>
                    <a:pt x="685" y="532"/>
                  </a:lnTo>
                  <a:lnTo>
                    <a:pt x="693" y="543"/>
                  </a:lnTo>
                  <a:lnTo>
                    <a:pt x="707" y="578"/>
                  </a:lnTo>
                  <a:lnTo>
                    <a:pt x="723" y="607"/>
                  </a:lnTo>
                  <a:lnTo>
                    <a:pt x="742" y="631"/>
                  </a:lnTo>
                  <a:lnTo>
                    <a:pt x="768" y="658"/>
                  </a:lnTo>
                  <a:lnTo>
                    <a:pt x="782" y="669"/>
                  </a:lnTo>
                  <a:lnTo>
                    <a:pt x="795" y="682"/>
                  </a:lnTo>
                  <a:lnTo>
                    <a:pt x="806" y="696"/>
                  </a:lnTo>
                  <a:lnTo>
                    <a:pt x="814" y="717"/>
                  </a:lnTo>
                  <a:lnTo>
                    <a:pt x="814" y="747"/>
                  </a:lnTo>
                  <a:lnTo>
                    <a:pt x="811" y="774"/>
                  </a:lnTo>
                  <a:lnTo>
                    <a:pt x="803" y="803"/>
                  </a:lnTo>
                  <a:lnTo>
                    <a:pt x="787" y="830"/>
                  </a:lnTo>
                  <a:lnTo>
                    <a:pt x="777" y="846"/>
                  </a:lnTo>
                  <a:lnTo>
                    <a:pt x="760" y="860"/>
                  </a:lnTo>
                  <a:lnTo>
                    <a:pt x="747" y="871"/>
                  </a:lnTo>
                  <a:lnTo>
                    <a:pt x="731" y="881"/>
                  </a:lnTo>
                  <a:lnTo>
                    <a:pt x="884" y="884"/>
                  </a:lnTo>
                  <a:lnTo>
                    <a:pt x="884" y="0"/>
                  </a:lnTo>
                  <a:lnTo>
                    <a:pt x="0" y="0"/>
                  </a:lnTo>
                  <a:lnTo>
                    <a:pt x="0" y="884"/>
                  </a:lnTo>
                  <a:lnTo>
                    <a:pt x="86" y="884"/>
                  </a:lnTo>
                  <a:lnTo>
                    <a:pt x="81" y="806"/>
                  </a:lnTo>
                  <a:lnTo>
                    <a:pt x="81" y="731"/>
                  </a:lnTo>
                  <a:lnTo>
                    <a:pt x="81" y="656"/>
                  </a:lnTo>
                  <a:lnTo>
                    <a:pt x="89" y="578"/>
                  </a:lnTo>
                  <a:lnTo>
                    <a:pt x="89" y="554"/>
                  </a:lnTo>
                  <a:lnTo>
                    <a:pt x="94" y="516"/>
                  </a:lnTo>
                  <a:lnTo>
                    <a:pt x="102" y="478"/>
                  </a:lnTo>
                  <a:lnTo>
                    <a:pt x="124" y="451"/>
                  </a:lnTo>
                  <a:lnTo>
                    <a:pt x="148" y="443"/>
                  </a:lnTo>
                  <a:lnTo>
                    <a:pt x="167" y="441"/>
                  </a:lnTo>
                  <a:lnTo>
                    <a:pt x="177" y="441"/>
                  </a:lnTo>
                  <a:lnTo>
                    <a:pt x="191" y="438"/>
                  </a:lnTo>
                  <a:lnTo>
                    <a:pt x="204" y="433"/>
                  </a:lnTo>
                  <a:lnTo>
                    <a:pt x="218" y="427"/>
                  </a:lnTo>
                  <a:lnTo>
                    <a:pt x="231" y="422"/>
                  </a:lnTo>
                  <a:lnTo>
                    <a:pt x="242" y="416"/>
                  </a:lnTo>
                  <a:lnTo>
                    <a:pt x="253" y="408"/>
                  </a:lnTo>
                  <a:lnTo>
                    <a:pt x="269" y="392"/>
                  </a:lnTo>
                  <a:lnTo>
                    <a:pt x="282" y="376"/>
                  </a:lnTo>
                  <a:lnTo>
                    <a:pt x="296" y="360"/>
                  </a:lnTo>
                  <a:lnTo>
                    <a:pt x="304" y="341"/>
                  </a:lnTo>
                  <a:lnTo>
                    <a:pt x="306" y="339"/>
                  </a:lnTo>
                  <a:lnTo>
                    <a:pt x="309" y="336"/>
                  </a:lnTo>
                  <a:lnTo>
                    <a:pt x="309" y="336"/>
                  </a:lnTo>
                  <a:lnTo>
                    <a:pt x="312" y="336"/>
                  </a:lnTo>
                  <a:lnTo>
                    <a:pt x="336" y="360"/>
                  </a:lnTo>
                  <a:lnTo>
                    <a:pt x="355" y="382"/>
                  </a:lnTo>
                  <a:lnTo>
                    <a:pt x="371" y="408"/>
                  </a:lnTo>
                  <a:lnTo>
                    <a:pt x="390" y="435"/>
                  </a:lnTo>
                  <a:lnTo>
                    <a:pt x="403" y="449"/>
                  </a:lnTo>
                  <a:lnTo>
                    <a:pt x="414" y="465"/>
                  </a:lnTo>
                  <a:lnTo>
                    <a:pt x="427" y="484"/>
                  </a:lnTo>
                  <a:lnTo>
                    <a:pt x="438" y="502"/>
                  </a:lnTo>
                  <a:lnTo>
                    <a:pt x="519" y="661"/>
                  </a:lnTo>
                  <a:lnTo>
                    <a:pt x="519" y="661"/>
                  </a:lnTo>
                  <a:lnTo>
                    <a:pt x="519" y="661"/>
                  </a:lnTo>
                  <a:lnTo>
                    <a:pt x="519" y="661"/>
                  </a:lnTo>
                  <a:lnTo>
                    <a:pt x="519" y="661"/>
                  </a:lnTo>
                  <a:lnTo>
                    <a:pt x="511" y="596"/>
                  </a:lnTo>
                  <a:lnTo>
                    <a:pt x="500" y="532"/>
                  </a:lnTo>
                  <a:lnTo>
                    <a:pt x="481" y="468"/>
                  </a:lnTo>
                  <a:lnTo>
                    <a:pt x="465" y="411"/>
                  </a:lnTo>
                  <a:lnTo>
                    <a:pt x="462" y="406"/>
                  </a:lnTo>
                  <a:lnTo>
                    <a:pt x="457" y="390"/>
                  </a:lnTo>
                  <a:lnTo>
                    <a:pt x="449" y="373"/>
                  </a:lnTo>
                  <a:lnTo>
                    <a:pt x="441" y="368"/>
                  </a:lnTo>
                  <a:close/>
                </a:path>
              </a:pathLst>
            </a:custGeom>
            <a:solidFill>
              <a:srgbClr val="000000"/>
            </a:solidFill>
            <a:ln w="9525">
              <a:noFill/>
              <a:round/>
              <a:headEnd/>
              <a:tailEnd/>
            </a:ln>
          </p:spPr>
          <p:txBody>
            <a:bodyPr/>
            <a:lstStyle/>
            <a:p>
              <a:endParaRPr lang="en-US"/>
            </a:p>
          </p:txBody>
        </p:sp>
        <p:sp>
          <p:nvSpPr>
            <p:cNvPr id="140601" name="Freeform 313"/>
            <p:cNvSpPr>
              <a:spLocks/>
            </p:cNvSpPr>
            <p:nvPr/>
          </p:nvSpPr>
          <p:spPr bwMode="auto">
            <a:xfrm flipH="1">
              <a:off x="1517" y="3611"/>
              <a:ext cx="102" cy="78"/>
            </a:xfrm>
            <a:custGeom>
              <a:avLst/>
              <a:gdLst/>
              <a:ahLst/>
              <a:cxnLst>
                <a:cxn ang="0">
                  <a:pos x="102" y="78"/>
                </a:cxn>
                <a:cxn ang="0">
                  <a:pos x="30" y="0"/>
                </a:cxn>
                <a:cxn ang="0">
                  <a:pos x="21" y="0"/>
                </a:cxn>
                <a:cxn ang="0">
                  <a:pos x="8" y="6"/>
                </a:cxn>
                <a:cxn ang="0">
                  <a:pos x="3" y="14"/>
                </a:cxn>
                <a:cxn ang="0">
                  <a:pos x="0" y="25"/>
                </a:cxn>
                <a:cxn ang="0">
                  <a:pos x="43" y="78"/>
                </a:cxn>
                <a:cxn ang="0">
                  <a:pos x="56" y="73"/>
                </a:cxn>
                <a:cxn ang="0">
                  <a:pos x="75" y="70"/>
                </a:cxn>
                <a:cxn ang="0">
                  <a:pos x="89" y="73"/>
                </a:cxn>
                <a:cxn ang="0">
                  <a:pos x="102" y="78"/>
                </a:cxn>
              </a:cxnLst>
              <a:rect l="0" t="0" r="r" b="b"/>
              <a:pathLst>
                <a:path w="102" h="78">
                  <a:moveTo>
                    <a:pt x="102" y="78"/>
                  </a:moveTo>
                  <a:lnTo>
                    <a:pt x="30" y="0"/>
                  </a:lnTo>
                  <a:lnTo>
                    <a:pt x="21" y="0"/>
                  </a:lnTo>
                  <a:lnTo>
                    <a:pt x="8" y="6"/>
                  </a:lnTo>
                  <a:lnTo>
                    <a:pt x="3" y="14"/>
                  </a:lnTo>
                  <a:lnTo>
                    <a:pt x="0" y="25"/>
                  </a:lnTo>
                  <a:lnTo>
                    <a:pt x="43" y="78"/>
                  </a:lnTo>
                  <a:lnTo>
                    <a:pt x="56" y="73"/>
                  </a:lnTo>
                  <a:lnTo>
                    <a:pt x="75" y="70"/>
                  </a:lnTo>
                  <a:lnTo>
                    <a:pt x="89" y="73"/>
                  </a:lnTo>
                  <a:lnTo>
                    <a:pt x="102" y="78"/>
                  </a:lnTo>
                  <a:close/>
                </a:path>
              </a:pathLst>
            </a:custGeom>
            <a:solidFill>
              <a:srgbClr val="000000"/>
            </a:solidFill>
            <a:ln w="9525">
              <a:noFill/>
              <a:round/>
              <a:headEnd/>
              <a:tailEnd/>
            </a:ln>
          </p:spPr>
          <p:txBody>
            <a:bodyPr/>
            <a:lstStyle/>
            <a:p>
              <a:endParaRPr lang="en-US"/>
            </a:p>
          </p:txBody>
        </p:sp>
      </p:gr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2" name="Rectangle 4"/>
          <p:cNvSpPr>
            <a:spLocks noGrp="1" noChangeArrowheads="1"/>
          </p:cNvSpPr>
          <p:nvPr>
            <p:ph type="title"/>
          </p:nvPr>
        </p:nvSpPr>
        <p:spPr>
          <a:xfrm>
            <a:off x="1116330" y="524398"/>
            <a:ext cx="10515600" cy="776009"/>
          </a:xfrm>
        </p:spPr>
        <p:txBody>
          <a:bodyPr>
            <a:normAutofit/>
          </a:bodyPr>
          <a:lstStyle/>
          <a:p>
            <a:pPr algn="ctr"/>
            <a:r>
              <a:rPr lang="en-US" b="1" dirty="0">
                <a:latin typeface="Times New Roman" pitchFamily="18" charset="0"/>
                <a:cs typeface="Times New Roman" pitchFamily="18" charset="0"/>
              </a:rPr>
              <a:t>QUIZ: </a:t>
            </a:r>
            <a:endParaRPr lang="en-US" sz="2000" dirty="0">
              <a:latin typeface="Times New Roman" pitchFamily="18" charset="0"/>
              <a:cs typeface="Times New Roman" pitchFamily="18" charset="0"/>
            </a:endParaRPr>
          </a:p>
        </p:txBody>
      </p:sp>
      <p:sp>
        <p:nvSpPr>
          <p:cNvPr id="140594" name="Text Box 306"/>
          <p:cNvSpPr txBox="1">
            <a:spLocks noChangeArrowheads="1"/>
          </p:cNvSpPr>
          <p:nvPr/>
        </p:nvSpPr>
        <p:spPr bwMode="auto">
          <a:xfrm>
            <a:off x="539291" y="1300407"/>
            <a:ext cx="7575551" cy="4893647"/>
          </a:xfrm>
          <a:prstGeom prst="rect">
            <a:avLst/>
          </a:prstGeom>
          <a:noFill/>
          <a:ln w="9525">
            <a:noFill/>
            <a:miter lim="800000"/>
            <a:headEnd/>
            <a:tailEnd/>
          </a:ln>
          <a:effectLst/>
        </p:spPr>
        <p:txBody>
          <a:bodyPr wrap="square">
            <a:spAutoFit/>
          </a:bodyPr>
          <a:lstStyle/>
          <a:p>
            <a:pPr algn="l"/>
            <a:r>
              <a:rPr lang="en-US" sz="2000" dirty="0">
                <a:latin typeface="Arial" charset="0"/>
              </a:rPr>
              <a:t>Q2:  </a:t>
            </a:r>
            <a:r>
              <a:rPr lang="en-IN" sz="2400" dirty="0">
                <a:latin typeface="Times New Roman" panose="02020603050405020304" pitchFamily="18" charset="0"/>
                <a:cs typeface="Times New Roman" panose="02020603050405020304" pitchFamily="18" charset="0"/>
              </a:rPr>
              <a:t>Which of the following classes fail to compile: </a:t>
            </a:r>
          </a:p>
          <a:p>
            <a:pPr algn="just"/>
            <a:r>
              <a:rPr lang="en-IN" sz="2400" dirty="0">
                <a:latin typeface="Times New Roman" panose="02020603050405020304" pitchFamily="18" charset="0"/>
                <a:cs typeface="Times New Roman" panose="02020603050405020304" pitchFamily="18" charset="0"/>
              </a:rPr>
              <a:t>	abstract class X { abstract void method(); }</a:t>
            </a:r>
          </a:p>
          <a:p>
            <a:pPr algn="just"/>
            <a:r>
              <a:rPr lang="en-IN" sz="2400" dirty="0">
                <a:latin typeface="Times New Roman" panose="02020603050405020304" pitchFamily="18" charset="0"/>
                <a:cs typeface="Times New Roman" panose="02020603050405020304" pitchFamily="18" charset="0"/>
              </a:rPr>
              <a:t>	abstract class Y extends X { } </a:t>
            </a:r>
          </a:p>
          <a:p>
            <a:pPr algn="just"/>
            <a:r>
              <a:rPr lang="en-IN" sz="2400" dirty="0">
                <a:latin typeface="Times New Roman" panose="02020603050405020304" pitchFamily="18" charset="0"/>
                <a:cs typeface="Times New Roman" panose="02020603050405020304" pitchFamily="18" charset="0"/>
              </a:rPr>
              <a:t>	class Z extends Y { </a:t>
            </a:r>
          </a:p>
          <a:p>
            <a:pPr algn="just"/>
            <a:r>
              <a:rPr lang="en-IN" sz="2400" dirty="0">
                <a:latin typeface="Times New Roman" panose="02020603050405020304" pitchFamily="18" charset="0"/>
                <a:cs typeface="Times New Roman" panose="02020603050405020304" pitchFamily="18" charset="0"/>
              </a:rPr>
              <a:t>		void method() { </a:t>
            </a:r>
          </a:p>
          <a:p>
            <a:pPr algn="just"/>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System.out.println</a:t>
            </a:r>
            <a:r>
              <a:rPr lang="en-IN" sz="2400" dirty="0">
                <a:latin typeface="Times New Roman" panose="02020603050405020304" pitchFamily="18" charset="0"/>
                <a:cs typeface="Times New Roman" panose="02020603050405020304" pitchFamily="18" charset="0"/>
              </a:rPr>
              <a:t>("Class Z"); </a:t>
            </a:r>
          </a:p>
          <a:p>
            <a:pPr algn="just"/>
            <a:r>
              <a:rPr lang="en-IN" sz="2400" dirty="0">
                <a:latin typeface="Times New Roman" panose="02020603050405020304" pitchFamily="18" charset="0"/>
                <a:cs typeface="Times New Roman" panose="02020603050405020304" pitchFamily="18" charset="0"/>
              </a:rPr>
              <a:t>}</a:t>
            </a:r>
          </a:p>
          <a:p>
            <a:pPr algn="just"/>
            <a:r>
              <a:rPr lang="en-IN" sz="2400" dirty="0">
                <a:latin typeface="Times New Roman" panose="02020603050405020304" pitchFamily="18" charset="0"/>
                <a:cs typeface="Times New Roman" panose="02020603050405020304" pitchFamily="18" charset="0"/>
              </a:rPr>
              <a:t> }</a:t>
            </a:r>
          </a:p>
          <a:p>
            <a:pPr algn="just"/>
            <a:endParaRPr lang="en-IN" sz="2400" dirty="0">
              <a:latin typeface="Times New Roman" panose="02020603050405020304" pitchFamily="18" charset="0"/>
              <a:cs typeface="Times New Roman" panose="02020603050405020304" pitchFamily="18" charset="0"/>
            </a:endParaRPr>
          </a:p>
          <a:p>
            <a:pPr algn="just">
              <a:buAutoNum type="alphaLcParenR"/>
            </a:pPr>
            <a:r>
              <a:rPr lang="en-IN" sz="2400" dirty="0">
                <a:latin typeface="Times New Roman" panose="02020603050405020304" pitchFamily="18" charset="0"/>
                <a:cs typeface="Times New Roman" panose="02020603050405020304" pitchFamily="18" charset="0"/>
              </a:rPr>
              <a:t>X,Y</a:t>
            </a:r>
          </a:p>
          <a:p>
            <a:pPr algn="just">
              <a:buAutoNum type="alphaLcParenR"/>
            </a:pPr>
            <a:r>
              <a:rPr lang="en-IN" sz="2400" dirty="0">
                <a:latin typeface="Times New Roman" panose="02020603050405020304" pitchFamily="18" charset="0"/>
                <a:cs typeface="Times New Roman" panose="02020603050405020304" pitchFamily="18" charset="0"/>
              </a:rPr>
              <a:t>Y,Z</a:t>
            </a:r>
          </a:p>
          <a:p>
            <a:pPr algn="just">
              <a:buAutoNum type="alphaLcParenR"/>
            </a:pPr>
            <a:r>
              <a:rPr lang="en-IN" sz="2400" dirty="0">
                <a:latin typeface="Times New Roman" panose="02020603050405020304" pitchFamily="18" charset="0"/>
                <a:cs typeface="Times New Roman" panose="02020603050405020304" pitchFamily="18" charset="0"/>
              </a:rPr>
              <a:t>X,Y,Z</a:t>
            </a:r>
          </a:p>
          <a:p>
            <a:pPr algn="just">
              <a:buAutoNum type="alphaLcParenR"/>
            </a:pPr>
            <a:r>
              <a:rPr lang="en-IN" sz="2400" dirty="0">
                <a:latin typeface="Times New Roman" panose="02020603050405020304" pitchFamily="18" charset="0"/>
                <a:cs typeface="Times New Roman" panose="02020603050405020304" pitchFamily="18" charset="0"/>
              </a:rPr>
              <a:t>All classes compile</a:t>
            </a:r>
            <a:endParaRPr lang="en-US" sz="2400" dirty="0">
              <a:latin typeface="Arial" charset="0"/>
            </a:endParaRPr>
          </a:p>
        </p:txBody>
      </p:sp>
      <p:grpSp>
        <p:nvGrpSpPr>
          <p:cNvPr id="2" name="Group 308"/>
          <p:cNvGrpSpPr>
            <a:grpSpLocks/>
          </p:cNvGrpSpPr>
          <p:nvPr/>
        </p:nvGrpSpPr>
        <p:grpSpPr bwMode="auto">
          <a:xfrm>
            <a:off x="9858375" y="2028825"/>
            <a:ext cx="1900238" cy="1893887"/>
            <a:chOff x="1259" y="3082"/>
            <a:chExt cx="884" cy="884"/>
          </a:xfrm>
        </p:grpSpPr>
        <p:sp>
          <p:nvSpPr>
            <p:cNvPr id="140597" name="Freeform 309"/>
            <p:cNvSpPr>
              <a:spLocks/>
            </p:cNvSpPr>
            <p:nvPr/>
          </p:nvSpPr>
          <p:spPr bwMode="auto">
            <a:xfrm flipH="1">
              <a:off x="1681" y="3824"/>
              <a:ext cx="110" cy="107"/>
            </a:xfrm>
            <a:custGeom>
              <a:avLst/>
              <a:gdLst/>
              <a:ahLst/>
              <a:cxnLst>
                <a:cxn ang="0">
                  <a:pos x="80" y="107"/>
                </a:cxn>
                <a:cxn ang="0">
                  <a:pos x="89" y="104"/>
                </a:cxn>
                <a:cxn ang="0">
                  <a:pos x="99" y="96"/>
                </a:cxn>
                <a:cxn ang="0">
                  <a:pos x="105" y="91"/>
                </a:cxn>
                <a:cxn ang="0">
                  <a:pos x="110" y="80"/>
                </a:cxn>
                <a:cxn ang="0">
                  <a:pos x="56" y="18"/>
                </a:cxn>
                <a:cxn ang="0">
                  <a:pos x="51" y="16"/>
                </a:cxn>
                <a:cxn ang="0">
                  <a:pos x="29" y="5"/>
                </a:cxn>
                <a:cxn ang="0">
                  <a:pos x="13" y="0"/>
                </a:cxn>
                <a:cxn ang="0">
                  <a:pos x="0" y="10"/>
                </a:cxn>
                <a:cxn ang="0">
                  <a:pos x="80" y="107"/>
                </a:cxn>
              </a:cxnLst>
              <a:rect l="0" t="0" r="r" b="b"/>
              <a:pathLst>
                <a:path w="110" h="107">
                  <a:moveTo>
                    <a:pt x="80" y="107"/>
                  </a:moveTo>
                  <a:lnTo>
                    <a:pt x="89" y="104"/>
                  </a:lnTo>
                  <a:lnTo>
                    <a:pt x="99" y="96"/>
                  </a:lnTo>
                  <a:lnTo>
                    <a:pt x="105" y="91"/>
                  </a:lnTo>
                  <a:lnTo>
                    <a:pt x="110" y="80"/>
                  </a:lnTo>
                  <a:lnTo>
                    <a:pt x="56" y="18"/>
                  </a:lnTo>
                  <a:lnTo>
                    <a:pt x="51" y="16"/>
                  </a:lnTo>
                  <a:lnTo>
                    <a:pt x="29" y="5"/>
                  </a:lnTo>
                  <a:lnTo>
                    <a:pt x="13" y="0"/>
                  </a:lnTo>
                  <a:lnTo>
                    <a:pt x="0" y="10"/>
                  </a:lnTo>
                  <a:lnTo>
                    <a:pt x="80" y="107"/>
                  </a:lnTo>
                  <a:close/>
                </a:path>
              </a:pathLst>
            </a:custGeom>
            <a:solidFill>
              <a:srgbClr val="000000"/>
            </a:solidFill>
            <a:ln w="9525">
              <a:noFill/>
              <a:round/>
              <a:headEnd/>
              <a:tailEnd/>
            </a:ln>
          </p:spPr>
          <p:txBody>
            <a:bodyPr/>
            <a:lstStyle/>
            <a:p>
              <a:endParaRPr lang="en-US"/>
            </a:p>
          </p:txBody>
        </p:sp>
        <p:sp>
          <p:nvSpPr>
            <p:cNvPr id="140598" name="Freeform 310"/>
            <p:cNvSpPr>
              <a:spLocks/>
            </p:cNvSpPr>
            <p:nvPr/>
          </p:nvSpPr>
          <p:spPr bwMode="auto">
            <a:xfrm flipH="1">
              <a:off x="1786" y="3762"/>
              <a:ext cx="35" cy="88"/>
            </a:xfrm>
            <a:custGeom>
              <a:avLst/>
              <a:gdLst/>
              <a:ahLst/>
              <a:cxnLst>
                <a:cxn ang="0">
                  <a:pos x="24" y="88"/>
                </a:cxn>
                <a:cxn ang="0">
                  <a:pos x="29" y="88"/>
                </a:cxn>
                <a:cxn ang="0">
                  <a:pos x="32" y="88"/>
                </a:cxn>
                <a:cxn ang="0">
                  <a:pos x="32" y="86"/>
                </a:cxn>
                <a:cxn ang="0">
                  <a:pos x="35" y="83"/>
                </a:cxn>
                <a:cxn ang="0">
                  <a:pos x="35" y="64"/>
                </a:cxn>
                <a:cxn ang="0">
                  <a:pos x="29" y="40"/>
                </a:cxn>
                <a:cxn ang="0">
                  <a:pos x="13" y="16"/>
                </a:cxn>
                <a:cxn ang="0">
                  <a:pos x="0" y="0"/>
                </a:cxn>
                <a:cxn ang="0">
                  <a:pos x="2" y="13"/>
                </a:cxn>
                <a:cxn ang="0">
                  <a:pos x="8" y="43"/>
                </a:cxn>
                <a:cxn ang="0">
                  <a:pos x="16" y="75"/>
                </a:cxn>
                <a:cxn ang="0">
                  <a:pos x="24" y="88"/>
                </a:cxn>
              </a:cxnLst>
              <a:rect l="0" t="0" r="r" b="b"/>
              <a:pathLst>
                <a:path w="35" h="88">
                  <a:moveTo>
                    <a:pt x="24" y="88"/>
                  </a:moveTo>
                  <a:lnTo>
                    <a:pt x="29" y="88"/>
                  </a:lnTo>
                  <a:lnTo>
                    <a:pt x="32" y="88"/>
                  </a:lnTo>
                  <a:lnTo>
                    <a:pt x="32" y="86"/>
                  </a:lnTo>
                  <a:lnTo>
                    <a:pt x="35" y="83"/>
                  </a:lnTo>
                  <a:lnTo>
                    <a:pt x="35" y="64"/>
                  </a:lnTo>
                  <a:lnTo>
                    <a:pt x="29" y="40"/>
                  </a:lnTo>
                  <a:lnTo>
                    <a:pt x="13" y="16"/>
                  </a:lnTo>
                  <a:lnTo>
                    <a:pt x="0" y="0"/>
                  </a:lnTo>
                  <a:lnTo>
                    <a:pt x="2" y="13"/>
                  </a:lnTo>
                  <a:lnTo>
                    <a:pt x="8" y="43"/>
                  </a:lnTo>
                  <a:lnTo>
                    <a:pt x="16" y="75"/>
                  </a:lnTo>
                  <a:lnTo>
                    <a:pt x="24" y="88"/>
                  </a:lnTo>
                  <a:close/>
                </a:path>
              </a:pathLst>
            </a:custGeom>
            <a:solidFill>
              <a:srgbClr val="000000"/>
            </a:solidFill>
            <a:ln w="9525">
              <a:noFill/>
              <a:round/>
              <a:headEnd/>
              <a:tailEnd/>
            </a:ln>
          </p:spPr>
          <p:txBody>
            <a:bodyPr/>
            <a:lstStyle/>
            <a:p>
              <a:endParaRPr lang="en-US"/>
            </a:p>
          </p:txBody>
        </p:sp>
        <p:sp>
          <p:nvSpPr>
            <p:cNvPr id="140599" name="Freeform 311"/>
            <p:cNvSpPr>
              <a:spLocks/>
            </p:cNvSpPr>
            <p:nvPr/>
          </p:nvSpPr>
          <p:spPr bwMode="auto">
            <a:xfrm flipH="1">
              <a:off x="1587" y="3719"/>
              <a:ext cx="54" cy="29"/>
            </a:xfrm>
            <a:custGeom>
              <a:avLst/>
              <a:gdLst/>
              <a:ahLst/>
              <a:cxnLst>
                <a:cxn ang="0">
                  <a:pos x="54" y="19"/>
                </a:cxn>
                <a:cxn ang="0">
                  <a:pos x="48" y="13"/>
                </a:cxn>
                <a:cxn ang="0">
                  <a:pos x="43" y="11"/>
                </a:cxn>
                <a:cxn ang="0">
                  <a:pos x="40" y="5"/>
                </a:cxn>
                <a:cxn ang="0">
                  <a:pos x="32" y="2"/>
                </a:cxn>
                <a:cxn ang="0">
                  <a:pos x="21" y="0"/>
                </a:cxn>
                <a:cxn ang="0">
                  <a:pos x="13" y="0"/>
                </a:cxn>
                <a:cxn ang="0">
                  <a:pos x="5" y="0"/>
                </a:cxn>
                <a:cxn ang="0">
                  <a:pos x="0" y="2"/>
                </a:cxn>
                <a:cxn ang="0">
                  <a:pos x="27" y="29"/>
                </a:cxn>
                <a:cxn ang="0">
                  <a:pos x="32" y="27"/>
                </a:cxn>
                <a:cxn ang="0">
                  <a:pos x="40" y="21"/>
                </a:cxn>
                <a:cxn ang="0">
                  <a:pos x="45" y="19"/>
                </a:cxn>
                <a:cxn ang="0">
                  <a:pos x="54" y="19"/>
                </a:cxn>
              </a:cxnLst>
              <a:rect l="0" t="0" r="r" b="b"/>
              <a:pathLst>
                <a:path w="54" h="29">
                  <a:moveTo>
                    <a:pt x="54" y="19"/>
                  </a:moveTo>
                  <a:lnTo>
                    <a:pt x="48" y="13"/>
                  </a:lnTo>
                  <a:lnTo>
                    <a:pt x="43" y="11"/>
                  </a:lnTo>
                  <a:lnTo>
                    <a:pt x="40" y="5"/>
                  </a:lnTo>
                  <a:lnTo>
                    <a:pt x="32" y="2"/>
                  </a:lnTo>
                  <a:lnTo>
                    <a:pt x="21" y="0"/>
                  </a:lnTo>
                  <a:lnTo>
                    <a:pt x="13" y="0"/>
                  </a:lnTo>
                  <a:lnTo>
                    <a:pt x="5" y="0"/>
                  </a:lnTo>
                  <a:lnTo>
                    <a:pt x="0" y="2"/>
                  </a:lnTo>
                  <a:lnTo>
                    <a:pt x="27" y="29"/>
                  </a:lnTo>
                  <a:lnTo>
                    <a:pt x="32" y="27"/>
                  </a:lnTo>
                  <a:lnTo>
                    <a:pt x="40" y="21"/>
                  </a:lnTo>
                  <a:lnTo>
                    <a:pt x="45" y="19"/>
                  </a:lnTo>
                  <a:lnTo>
                    <a:pt x="54" y="19"/>
                  </a:lnTo>
                  <a:close/>
                </a:path>
              </a:pathLst>
            </a:custGeom>
            <a:solidFill>
              <a:srgbClr val="000000"/>
            </a:solidFill>
            <a:ln w="9525">
              <a:noFill/>
              <a:round/>
              <a:headEnd/>
              <a:tailEnd/>
            </a:ln>
          </p:spPr>
          <p:txBody>
            <a:bodyPr/>
            <a:lstStyle/>
            <a:p>
              <a:endParaRPr lang="en-US"/>
            </a:p>
          </p:txBody>
        </p:sp>
        <p:sp>
          <p:nvSpPr>
            <p:cNvPr id="140600" name="Freeform 312"/>
            <p:cNvSpPr>
              <a:spLocks/>
            </p:cNvSpPr>
            <p:nvPr/>
          </p:nvSpPr>
          <p:spPr bwMode="auto">
            <a:xfrm flipH="1">
              <a:off x="1259" y="3082"/>
              <a:ext cx="884" cy="884"/>
            </a:xfrm>
            <a:custGeom>
              <a:avLst/>
              <a:gdLst/>
              <a:ahLst/>
              <a:cxnLst>
                <a:cxn ang="0">
                  <a:pos x="441" y="408"/>
                </a:cxn>
                <a:cxn ang="0">
                  <a:pos x="403" y="392"/>
                </a:cxn>
                <a:cxn ang="0">
                  <a:pos x="355" y="355"/>
                </a:cxn>
                <a:cxn ang="0">
                  <a:pos x="320" y="333"/>
                </a:cxn>
                <a:cxn ang="0">
                  <a:pos x="285" y="242"/>
                </a:cxn>
                <a:cxn ang="0">
                  <a:pos x="271" y="212"/>
                </a:cxn>
                <a:cxn ang="0">
                  <a:pos x="261" y="159"/>
                </a:cxn>
                <a:cxn ang="0">
                  <a:pos x="261" y="137"/>
                </a:cxn>
                <a:cxn ang="0">
                  <a:pos x="177" y="102"/>
                </a:cxn>
                <a:cxn ang="0">
                  <a:pos x="215" y="86"/>
                </a:cxn>
                <a:cxn ang="0">
                  <a:pos x="279" y="62"/>
                </a:cxn>
                <a:cxn ang="0">
                  <a:pos x="339" y="40"/>
                </a:cxn>
                <a:cxn ang="0">
                  <a:pos x="390" y="27"/>
                </a:cxn>
                <a:cxn ang="0">
                  <a:pos x="591" y="83"/>
                </a:cxn>
                <a:cxn ang="0">
                  <a:pos x="572" y="97"/>
                </a:cxn>
                <a:cxn ang="0">
                  <a:pos x="583" y="212"/>
                </a:cxn>
                <a:cxn ang="0">
                  <a:pos x="583" y="236"/>
                </a:cxn>
                <a:cxn ang="0">
                  <a:pos x="556" y="234"/>
                </a:cxn>
                <a:cxn ang="0">
                  <a:pos x="508" y="161"/>
                </a:cxn>
                <a:cxn ang="0">
                  <a:pos x="508" y="210"/>
                </a:cxn>
                <a:cxn ang="0">
                  <a:pos x="521" y="236"/>
                </a:cxn>
                <a:cxn ang="0">
                  <a:pos x="511" y="269"/>
                </a:cxn>
                <a:cxn ang="0">
                  <a:pos x="500" y="304"/>
                </a:cxn>
                <a:cxn ang="0">
                  <a:pos x="476" y="339"/>
                </a:cxn>
                <a:cxn ang="0">
                  <a:pos x="441" y="344"/>
                </a:cxn>
                <a:cxn ang="0">
                  <a:pos x="446" y="360"/>
                </a:cxn>
                <a:cxn ang="0">
                  <a:pos x="468" y="376"/>
                </a:cxn>
                <a:cxn ang="0">
                  <a:pos x="508" y="411"/>
                </a:cxn>
                <a:cxn ang="0">
                  <a:pos x="545" y="433"/>
                </a:cxn>
                <a:cxn ang="0">
                  <a:pos x="564" y="438"/>
                </a:cxn>
                <a:cxn ang="0">
                  <a:pos x="615" y="446"/>
                </a:cxn>
                <a:cxn ang="0">
                  <a:pos x="666" y="511"/>
                </a:cxn>
                <a:cxn ang="0">
                  <a:pos x="707" y="578"/>
                </a:cxn>
                <a:cxn ang="0">
                  <a:pos x="782" y="669"/>
                </a:cxn>
                <a:cxn ang="0">
                  <a:pos x="814" y="747"/>
                </a:cxn>
                <a:cxn ang="0">
                  <a:pos x="777" y="846"/>
                </a:cxn>
                <a:cxn ang="0">
                  <a:pos x="884" y="884"/>
                </a:cxn>
                <a:cxn ang="0">
                  <a:pos x="86" y="884"/>
                </a:cxn>
                <a:cxn ang="0">
                  <a:pos x="89" y="578"/>
                </a:cxn>
                <a:cxn ang="0">
                  <a:pos x="124" y="451"/>
                </a:cxn>
                <a:cxn ang="0">
                  <a:pos x="191" y="438"/>
                </a:cxn>
                <a:cxn ang="0">
                  <a:pos x="242" y="416"/>
                </a:cxn>
                <a:cxn ang="0">
                  <a:pos x="296" y="360"/>
                </a:cxn>
                <a:cxn ang="0">
                  <a:pos x="309" y="336"/>
                </a:cxn>
                <a:cxn ang="0">
                  <a:pos x="371" y="408"/>
                </a:cxn>
                <a:cxn ang="0">
                  <a:pos x="427" y="484"/>
                </a:cxn>
                <a:cxn ang="0">
                  <a:pos x="519" y="661"/>
                </a:cxn>
                <a:cxn ang="0">
                  <a:pos x="500" y="532"/>
                </a:cxn>
                <a:cxn ang="0">
                  <a:pos x="457" y="390"/>
                </a:cxn>
              </a:cxnLst>
              <a:rect l="0" t="0" r="r" b="b"/>
              <a:pathLst>
                <a:path w="884" h="884">
                  <a:moveTo>
                    <a:pt x="441" y="368"/>
                  </a:moveTo>
                  <a:lnTo>
                    <a:pt x="441" y="382"/>
                  </a:lnTo>
                  <a:lnTo>
                    <a:pt x="441" y="395"/>
                  </a:lnTo>
                  <a:lnTo>
                    <a:pt x="441" y="408"/>
                  </a:lnTo>
                  <a:lnTo>
                    <a:pt x="435" y="422"/>
                  </a:lnTo>
                  <a:lnTo>
                    <a:pt x="425" y="411"/>
                  </a:lnTo>
                  <a:lnTo>
                    <a:pt x="414" y="400"/>
                  </a:lnTo>
                  <a:lnTo>
                    <a:pt x="403" y="392"/>
                  </a:lnTo>
                  <a:lnTo>
                    <a:pt x="392" y="382"/>
                  </a:lnTo>
                  <a:lnTo>
                    <a:pt x="379" y="373"/>
                  </a:lnTo>
                  <a:lnTo>
                    <a:pt x="368" y="363"/>
                  </a:lnTo>
                  <a:lnTo>
                    <a:pt x="355" y="355"/>
                  </a:lnTo>
                  <a:lnTo>
                    <a:pt x="341" y="349"/>
                  </a:lnTo>
                  <a:lnTo>
                    <a:pt x="336" y="344"/>
                  </a:lnTo>
                  <a:lnTo>
                    <a:pt x="328" y="339"/>
                  </a:lnTo>
                  <a:lnTo>
                    <a:pt x="320" y="333"/>
                  </a:lnTo>
                  <a:lnTo>
                    <a:pt x="314" y="328"/>
                  </a:lnTo>
                  <a:lnTo>
                    <a:pt x="314" y="296"/>
                  </a:lnTo>
                  <a:lnTo>
                    <a:pt x="301" y="266"/>
                  </a:lnTo>
                  <a:lnTo>
                    <a:pt x="285" y="242"/>
                  </a:lnTo>
                  <a:lnTo>
                    <a:pt x="271" y="215"/>
                  </a:lnTo>
                  <a:lnTo>
                    <a:pt x="271" y="215"/>
                  </a:lnTo>
                  <a:lnTo>
                    <a:pt x="271" y="212"/>
                  </a:lnTo>
                  <a:lnTo>
                    <a:pt x="271" y="212"/>
                  </a:lnTo>
                  <a:lnTo>
                    <a:pt x="271" y="212"/>
                  </a:lnTo>
                  <a:lnTo>
                    <a:pt x="261" y="196"/>
                  </a:lnTo>
                  <a:lnTo>
                    <a:pt x="261" y="177"/>
                  </a:lnTo>
                  <a:lnTo>
                    <a:pt x="261" y="159"/>
                  </a:lnTo>
                  <a:lnTo>
                    <a:pt x="263" y="140"/>
                  </a:lnTo>
                  <a:lnTo>
                    <a:pt x="263" y="140"/>
                  </a:lnTo>
                  <a:lnTo>
                    <a:pt x="263" y="137"/>
                  </a:lnTo>
                  <a:lnTo>
                    <a:pt x="261" y="137"/>
                  </a:lnTo>
                  <a:lnTo>
                    <a:pt x="261" y="134"/>
                  </a:lnTo>
                  <a:lnTo>
                    <a:pt x="180" y="107"/>
                  </a:lnTo>
                  <a:lnTo>
                    <a:pt x="177" y="105"/>
                  </a:lnTo>
                  <a:lnTo>
                    <a:pt x="177" y="102"/>
                  </a:lnTo>
                  <a:lnTo>
                    <a:pt x="177" y="102"/>
                  </a:lnTo>
                  <a:lnTo>
                    <a:pt x="180" y="99"/>
                  </a:lnTo>
                  <a:lnTo>
                    <a:pt x="196" y="94"/>
                  </a:lnTo>
                  <a:lnTo>
                    <a:pt x="215" y="86"/>
                  </a:lnTo>
                  <a:lnTo>
                    <a:pt x="231" y="81"/>
                  </a:lnTo>
                  <a:lnTo>
                    <a:pt x="247" y="75"/>
                  </a:lnTo>
                  <a:lnTo>
                    <a:pt x="263" y="70"/>
                  </a:lnTo>
                  <a:lnTo>
                    <a:pt x="279" y="62"/>
                  </a:lnTo>
                  <a:lnTo>
                    <a:pt x="296" y="56"/>
                  </a:lnTo>
                  <a:lnTo>
                    <a:pt x="312" y="51"/>
                  </a:lnTo>
                  <a:lnTo>
                    <a:pt x="325" y="46"/>
                  </a:lnTo>
                  <a:lnTo>
                    <a:pt x="339" y="40"/>
                  </a:lnTo>
                  <a:lnTo>
                    <a:pt x="352" y="35"/>
                  </a:lnTo>
                  <a:lnTo>
                    <a:pt x="365" y="30"/>
                  </a:lnTo>
                  <a:lnTo>
                    <a:pt x="376" y="27"/>
                  </a:lnTo>
                  <a:lnTo>
                    <a:pt x="390" y="27"/>
                  </a:lnTo>
                  <a:lnTo>
                    <a:pt x="400" y="27"/>
                  </a:lnTo>
                  <a:lnTo>
                    <a:pt x="414" y="32"/>
                  </a:lnTo>
                  <a:lnTo>
                    <a:pt x="591" y="83"/>
                  </a:lnTo>
                  <a:lnTo>
                    <a:pt x="591" y="83"/>
                  </a:lnTo>
                  <a:lnTo>
                    <a:pt x="591" y="86"/>
                  </a:lnTo>
                  <a:lnTo>
                    <a:pt x="591" y="86"/>
                  </a:lnTo>
                  <a:lnTo>
                    <a:pt x="591" y="89"/>
                  </a:lnTo>
                  <a:lnTo>
                    <a:pt x="572" y="97"/>
                  </a:lnTo>
                  <a:lnTo>
                    <a:pt x="575" y="126"/>
                  </a:lnTo>
                  <a:lnTo>
                    <a:pt x="578" y="153"/>
                  </a:lnTo>
                  <a:lnTo>
                    <a:pt x="580" y="183"/>
                  </a:lnTo>
                  <a:lnTo>
                    <a:pt x="583" y="212"/>
                  </a:lnTo>
                  <a:lnTo>
                    <a:pt x="583" y="220"/>
                  </a:lnTo>
                  <a:lnTo>
                    <a:pt x="583" y="226"/>
                  </a:lnTo>
                  <a:lnTo>
                    <a:pt x="583" y="231"/>
                  </a:lnTo>
                  <a:lnTo>
                    <a:pt x="583" y="236"/>
                  </a:lnTo>
                  <a:lnTo>
                    <a:pt x="578" y="236"/>
                  </a:lnTo>
                  <a:lnTo>
                    <a:pt x="570" y="236"/>
                  </a:lnTo>
                  <a:lnTo>
                    <a:pt x="559" y="236"/>
                  </a:lnTo>
                  <a:lnTo>
                    <a:pt x="556" y="234"/>
                  </a:lnTo>
                  <a:lnTo>
                    <a:pt x="543" y="110"/>
                  </a:lnTo>
                  <a:lnTo>
                    <a:pt x="502" y="124"/>
                  </a:lnTo>
                  <a:lnTo>
                    <a:pt x="502" y="142"/>
                  </a:lnTo>
                  <a:lnTo>
                    <a:pt x="508" y="161"/>
                  </a:lnTo>
                  <a:lnTo>
                    <a:pt x="508" y="183"/>
                  </a:lnTo>
                  <a:lnTo>
                    <a:pt x="502" y="199"/>
                  </a:lnTo>
                  <a:lnTo>
                    <a:pt x="502" y="204"/>
                  </a:lnTo>
                  <a:lnTo>
                    <a:pt x="508" y="210"/>
                  </a:lnTo>
                  <a:lnTo>
                    <a:pt x="511" y="215"/>
                  </a:lnTo>
                  <a:lnTo>
                    <a:pt x="513" y="220"/>
                  </a:lnTo>
                  <a:lnTo>
                    <a:pt x="519" y="228"/>
                  </a:lnTo>
                  <a:lnTo>
                    <a:pt x="521" y="236"/>
                  </a:lnTo>
                  <a:lnTo>
                    <a:pt x="524" y="247"/>
                  </a:lnTo>
                  <a:lnTo>
                    <a:pt x="521" y="255"/>
                  </a:lnTo>
                  <a:lnTo>
                    <a:pt x="511" y="261"/>
                  </a:lnTo>
                  <a:lnTo>
                    <a:pt x="511" y="269"/>
                  </a:lnTo>
                  <a:lnTo>
                    <a:pt x="508" y="277"/>
                  </a:lnTo>
                  <a:lnTo>
                    <a:pt x="502" y="282"/>
                  </a:lnTo>
                  <a:lnTo>
                    <a:pt x="502" y="290"/>
                  </a:lnTo>
                  <a:lnTo>
                    <a:pt x="500" y="304"/>
                  </a:lnTo>
                  <a:lnTo>
                    <a:pt x="500" y="314"/>
                  </a:lnTo>
                  <a:lnTo>
                    <a:pt x="494" y="325"/>
                  </a:lnTo>
                  <a:lnTo>
                    <a:pt x="486" y="336"/>
                  </a:lnTo>
                  <a:lnTo>
                    <a:pt x="476" y="339"/>
                  </a:lnTo>
                  <a:lnTo>
                    <a:pt x="468" y="341"/>
                  </a:lnTo>
                  <a:lnTo>
                    <a:pt x="457" y="344"/>
                  </a:lnTo>
                  <a:lnTo>
                    <a:pt x="443" y="344"/>
                  </a:lnTo>
                  <a:lnTo>
                    <a:pt x="441" y="344"/>
                  </a:lnTo>
                  <a:lnTo>
                    <a:pt x="441" y="349"/>
                  </a:lnTo>
                  <a:lnTo>
                    <a:pt x="441" y="352"/>
                  </a:lnTo>
                  <a:lnTo>
                    <a:pt x="441" y="357"/>
                  </a:lnTo>
                  <a:lnTo>
                    <a:pt x="446" y="360"/>
                  </a:lnTo>
                  <a:lnTo>
                    <a:pt x="451" y="360"/>
                  </a:lnTo>
                  <a:lnTo>
                    <a:pt x="454" y="363"/>
                  </a:lnTo>
                  <a:lnTo>
                    <a:pt x="459" y="365"/>
                  </a:lnTo>
                  <a:lnTo>
                    <a:pt x="468" y="376"/>
                  </a:lnTo>
                  <a:lnTo>
                    <a:pt x="476" y="387"/>
                  </a:lnTo>
                  <a:lnTo>
                    <a:pt x="484" y="395"/>
                  </a:lnTo>
                  <a:lnTo>
                    <a:pt x="494" y="403"/>
                  </a:lnTo>
                  <a:lnTo>
                    <a:pt x="508" y="411"/>
                  </a:lnTo>
                  <a:lnTo>
                    <a:pt x="519" y="419"/>
                  </a:lnTo>
                  <a:lnTo>
                    <a:pt x="529" y="425"/>
                  </a:lnTo>
                  <a:lnTo>
                    <a:pt x="543" y="433"/>
                  </a:lnTo>
                  <a:lnTo>
                    <a:pt x="545" y="433"/>
                  </a:lnTo>
                  <a:lnTo>
                    <a:pt x="551" y="435"/>
                  </a:lnTo>
                  <a:lnTo>
                    <a:pt x="556" y="438"/>
                  </a:lnTo>
                  <a:lnTo>
                    <a:pt x="559" y="438"/>
                  </a:lnTo>
                  <a:lnTo>
                    <a:pt x="564" y="438"/>
                  </a:lnTo>
                  <a:lnTo>
                    <a:pt x="578" y="438"/>
                  </a:lnTo>
                  <a:lnTo>
                    <a:pt x="588" y="438"/>
                  </a:lnTo>
                  <a:lnTo>
                    <a:pt x="594" y="441"/>
                  </a:lnTo>
                  <a:lnTo>
                    <a:pt x="615" y="446"/>
                  </a:lnTo>
                  <a:lnTo>
                    <a:pt x="631" y="462"/>
                  </a:lnTo>
                  <a:lnTo>
                    <a:pt x="645" y="481"/>
                  </a:lnTo>
                  <a:lnTo>
                    <a:pt x="658" y="500"/>
                  </a:lnTo>
                  <a:lnTo>
                    <a:pt x="666" y="511"/>
                  </a:lnTo>
                  <a:lnTo>
                    <a:pt x="677" y="521"/>
                  </a:lnTo>
                  <a:lnTo>
                    <a:pt x="685" y="532"/>
                  </a:lnTo>
                  <a:lnTo>
                    <a:pt x="693" y="543"/>
                  </a:lnTo>
                  <a:lnTo>
                    <a:pt x="707" y="578"/>
                  </a:lnTo>
                  <a:lnTo>
                    <a:pt x="723" y="607"/>
                  </a:lnTo>
                  <a:lnTo>
                    <a:pt x="742" y="631"/>
                  </a:lnTo>
                  <a:lnTo>
                    <a:pt x="768" y="658"/>
                  </a:lnTo>
                  <a:lnTo>
                    <a:pt x="782" y="669"/>
                  </a:lnTo>
                  <a:lnTo>
                    <a:pt x="795" y="682"/>
                  </a:lnTo>
                  <a:lnTo>
                    <a:pt x="806" y="696"/>
                  </a:lnTo>
                  <a:lnTo>
                    <a:pt x="814" y="717"/>
                  </a:lnTo>
                  <a:lnTo>
                    <a:pt x="814" y="747"/>
                  </a:lnTo>
                  <a:lnTo>
                    <a:pt x="811" y="774"/>
                  </a:lnTo>
                  <a:lnTo>
                    <a:pt x="803" y="803"/>
                  </a:lnTo>
                  <a:lnTo>
                    <a:pt x="787" y="830"/>
                  </a:lnTo>
                  <a:lnTo>
                    <a:pt x="777" y="846"/>
                  </a:lnTo>
                  <a:lnTo>
                    <a:pt x="760" y="860"/>
                  </a:lnTo>
                  <a:lnTo>
                    <a:pt x="747" y="871"/>
                  </a:lnTo>
                  <a:lnTo>
                    <a:pt x="731" y="881"/>
                  </a:lnTo>
                  <a:lnTo>
                    <a:pt x="884" y="884"/>
                  </a:lnTo>
                  <a:lnTo>
                    <a:pt x="884" y="0"/>
                  </a:lnTo>
                  <a:lnTo>
                    <a:pt x="0" y="0"/>
                  </a:lnTo>
                  <a:lnTo>
                    <a:pt x="0" y="884"/>
                  </a:lnTo>
                  <a:lnTo>
                    <a:pt x="86" y="884"/>
                  </a:lnTo>
                  <a:lnTo>
                    <a:pt x="81" y="806"/>
                  </a:lnTo>
                  <a:lnTo>
                    <a:pt x="81" y="731"/>
                  </a:lnTo>
                  <a:lnTo>
                    <a:pt x="81" y="656"/>
                  </a:lnTo>
                  <a:lnTo>
                    <a:pt x="89" y="578"/>
                  </a:lnTo>
                  <a:lnTo>
                    <a:pt x="89" y="554"/>
                  </a:lnTo>
                  <a:lnTo>
                    <a:pt x="94" y="516"/>
                  </a:lnTo>
                  <a:lnTo>
                    <a:pt x="102" y="478"/>
                  </a:lnTo>
                  <a:lnTo>
                    <a:pt x="124" y="451"/>
                  </a:lnTo>
                  <a:lnTo>
                    <a:pt x="148" y="443"/>
                  </a:lnTo>
                  <a:lnTo>
                    <a:pt x="167" y="441"/>
                  </a:lnTo>
                  <a:lnTo>
                    <a:pt x="177" y="441"/>
                  </a:lnTo>
                  <a:lnTo>
                    <a:pt x="191" y="438"/>
                  </a:lnTo>
                  <a:lnTo>
                    <a:pt x="204" y="433"/>
                  </a:lnTo>
                  <a:lnTo>
                    <a:pt x="218" y="427"/>
                  </a:lnTo>
                  <a:lnTo>
                    <a:pt x="231" y="422"/>
                  </a:lnTo>
                  <a:lnTo>
                    <a:pt x="242" y="416"/>
                  </a:lnTo>
                  <a:lnTo>
                    <a:pt x="253" y="408"/>
                  </a:lnTo>
                  <a:lnTo>
                    <a:pt x="269" y="392"/>
                  </a:lnTo>
                  <a:lnTo>
                    <a:pt x="282" y="376"/>
                  </a:lnTo>
                  <a:lnTo>
                    <a:pt x="296" y="360"/>
                  </a:lnTo>
                  <a:lnTo>
                    <a:pt x="304" y="341"/>
                  </a:lnTo>
                  <a:lnTo>
                    <a:pt x="306" y="339"/>
                  </a:lnTo>
                  <a:lnTo>
                    <a:pt x="309" y="336"/>
                  </a:lnTo>
                  <a:lnTo>
                    <a:pt x="309" y="336"/>
                  </a:lnTo>
                  <a:lnTo>
                    <a:pt x="312" y="336"/>
                  </a:lnTo>
                  <a:lnTo>
                    <a:pt x="336" y="360"/>
                  </a:lnTo>
                  <a:lnTo>
                    <a:pt x="355" y="382"/>
                  </a:lnTo>
                  <a:lnTo>
                    <a:pt x="371" y="408"/>
                  </a:lnTo>
                  <a:lnTo>
                    <a:pt x="390" y="435"/>
                  </a:lnTo>
                  <a:lnTo>
                    <a:pt x="403" y="449"/>
                  </a:lnTo>
                  <a:lnTo>
                    <a:pt x="414" y="465"/>
                  </a:lnTo>
                  <a:lnTo>
                    <a:pt x="427" y="484"/>
                  </a:lnTo>
                  <a:lnTo>
                    <a:pt x="438" y="502"/>
                  </a:lnTo>
                  <a:lnTo>
                    <a:pt x="519" y="661"/>
                  </a:lnTo>
                  <a:lnTo>
                    <a:pt x="519" y="661"/>
                  </a:lnTo>
                  <a:lnTo>
                    <a:pt x="519" y="661"/>
                  </a:lnTo>
                  <a:lnTo>
                    <a:pt x="519" y="661"/>
                  </a:lnTo>
                  <a:lnTo>
                    <a:pt x="519" y="661"/>
                  </a:lnTo>
                  <a:lnTo>
                    <a:pt x="511" y="596"/>
                  </a:lnTo>
                  <a:lnTo>
                    <a:pt x="500" y="532"/>
                  </a:lnTo>
                  <a:lnTo>
                    <a:pt x="481" y="468"/>
                  </a:lnTo>
                  <a:lnTo>
                    <a:pt x="465" y="411"/>
                  </a:lnTo>
                  <a:lnTo>
                    <a:pt x="462" y="406"/>
                  </a:lnTo>
                  <a:lnTo>
                    <a:pt x="457" y="390"/>
                  </a:lnTo>
                  <a:lnTo>
                    <a:pt x="449" y="373"/>
                  </a:lnTo>
                  <a:lnTo>
                    <a:pt x="441" y="368"/>
                  </a:lnTo>
                  <a:close/>
                </a:path>
              </a:pathLst>
            </a:custGeom>
            <a:solidFill>
              <a:srgbClr val="000000"/>
            </a:solidFill>
            <a:ln w="9525">
              <a:noFill/>
              <a:round/>
              <a:headEnd/>
              <a:tailEnd/>
            </a:ln>
          </p:spPr>
          <p:txBody>
            <a:bodyPr/>
            <a:lstStyle/>
            <a:p>
              <a:endParaRPr lang="en-US"/>
            </a:p>
          </p:txBody>
        </p:sp>
        <p:sp>
          <p:nvSpPr>
            <p:cNvPr id="140601" name="Freeform 313"/>
            <p:cNvSpPr>
              <a:spLocks/>
            </p:cNvSpPr>
            <p:nvPr/>
          </p:nvSpPr>
          <p:spPr bwMode="auto">
            <a:xfrm flipH="1">
              <a:off x="1517" y="3611"/>
              <a:ext cx="102" cy="78"/>
            </a:xfrm>
            <a:custGeom>
              <a:avLst/>
              <a:gdLst/>
              <a:ahLst/>
              <a:cxnLst>
                <a:cxn ang="0">
                  <a:pos x="102" y="78"/>
                </a:cxn>
                <a:cxn ang="0">
                  <a:pos x="30" y="0"/>
                </a:cxn>
                <a:cxn ang="0">
                  <a:pos x="21" y="0"/>
                </a:cxn>
                <a:cxn ang="0">
                  <a:pos x="8" y="6"/>
                </a:cxn>
                <a:cxn ang="0">
                  <a:pos x="3" y="14"/>
                </a:cxn>
                <a:cxn ang="0">
                  <a:pos x="0" y="25"/>
                </a:cxn>
                <a:cxn ang="0">
                  <a:pos x="43" y="78"/>
                </a:cxn>
                <a:cxn ang="0">
                  <a:pos x="56" y="73"/>
                </a:cxn>
                <a:cxn ang="0">
                  <a:pos x="75" y="70"/>
                </a:cxn>
                <a:cxn ang="0">
                  <a:pos x="89" y="73"/>
                </a:cxn>
                <a:cxn ang="0">
                  <a:pos x="102" y="78"/>
                </a:cxn>
              </a:cxnLst>
              <a:rect l="0" t="0" r="r" b="b"/>
              <a:pathLst>
                <a:path w="102" h="78">
                  <a:moveTo>
                    <a:pt x="102" y="78"/>
                  </a:moveTo>
                  <a:lnTo>
                    <a:pt x="30" y="0"/>
                  </a:lnTo>
                  <a:lnTo>
                    <a:pt x="21" y="0"/>
                  </a:lnTo>
                  <a:lnTo>
                    <a:pt x="8" y="6"/>
                  </a:lnTo>
                  <a:lnTo>
                    <a:pt x="3" y="14"/>
                  </a:lnTo>
                  <a:lnTo>
                    <a:pt x="0" y="25"/>
                  </a:lnTo>
                  <a:lnTo>
                    <a:pt x="43" y="78"/>
                  </a:lnTo>
                  <a:lnTo>
                    <a:pt x="56" y="73"/>
                  </a:lnTo>
                  <a:lnTo>
                    <a:pt x="75" y="70"/>
                  </a:lnTo>
                  <a:lnTo>
                    <a:pt x="89" y="73"/>
                  </a:lnTo>
                  <a:lnTo>
                    <a:pt x="102" y="78"/>
                  </a:lnTo>
                  <a:close/>
                </a:path>
              </a:pathLst>
            </a:custGeom>
            <a:solidFill>
              <a:srgbClr val="000000"/>
            </a:solidFill>
            <a:ln w="9525">
              <a:noFill/>
              <a:round/>
              <a:headEnd/>
              <a:tailEnd/>
            </a:ln>
          </p:spPr>
          <p:txBody>
            <a:bodyPr/>
            <a:lstStyle/>
            <a:p>
              <a:endParaRPr lang="en-US"/>
            </a:p>
          </p:txBody>
        </p:sp>
      </p:grpSp>
    </p:spTree>
    <p:extLst>
      <p:ext uri="{BB962C8B-B14F-4D97-AF65-F5344CB8AC3E}">
        <p14:creationId xmlns:p14="http://schemas.microsoft.com/office/powerpoint/2010/main" val="553030125"/>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2" name="Rectangle 4"/>
          <p:cNvSpPr>
            <a:spLocks noGrp="1" noChangeArrowheads="1"/>
          </p:cNvSpPr>
          <p:nvPr>
            <p:ph type="title"/>
          </p:nvPr>
        </p:nvSpPr>
        <p:spPr>
          <a:xfrm>
            <a:off x="1116330" y="524398"/>
            <a:ext cx="10515600" cy="776009"/>
          </a:xfrm>
        </p:spPr>
        <p:txBody>
          <a:bodyPr>
            <a:normAutofit/>
          </a:bodyPr>
          <a:lstStyle/>
          <a:p>
            <a:pPr algn="ctr"/>
            <a:r>
              <a:rPr lang="en-US" b="1" dirty="0">
                <a:latin typeface="Times New Roman" pitchFamily="18" charset="0"/>
                <a:cs typeface="Times New Roman" pitchFamily="18" charset="0"/>
              </a:rPr>
              <a:t>Summary: </a:t>
            </a:r>
            <a:endParaRPr lang="en-US" sz="2000" dirty="0">
              <a:latin typeface="Times New Roman" pitchFamily="18" charset="0"/>
              <a:cs typeface="Times New Roman" pitchFamily="18" charset="0"/>
            </a:endParaRPr>
          </a:p>
        </p:txBody>
      </p:sp>
      <p:sp>
        <p:nvSpPr>
          <p:cNvPr id="140594" name="Text Box 306"/>
          <p:cNvSpPr txBox="1">
            <a:spLocks noChangeArrowheads="1"/>
          </p:cNvSpPr>
          <p:nvPr/>
        </p:nvSpPr>
        <p:spPr bwMode="auto">
          <a:xfrm>
            <a:off x="665982" y="2141162"/>
            <a:ext cx="7575551" cy="1200329"/>
          </a:xfrm>
          <a:prstGeom prst="rect">
            <a:avLst/>
          </a:prstGeom>
          <a:noFill/>
          <a:ln w="9525">
            <a:noFill/>
            <a:miter lim="800000"/>
            <a:headEnd/>
            <a:tailEnd/>
          </a:ln>
          <a:effectLst/>
        </p:spPr>
        <p:txBody>
          <a:bodyPr wrap="square">
            <a:spAutoFit/>
          </a:bodyPr>
          <a:lstStyle/>
          <a:p>
            <a:r>
              <a:rPr lang="en-US" sz="2400" dirty="0">
                <a:latin typeface="Times New Roman" panose="02020603050405020304" pitchFamily="18" charset="0"/>
                <a:cs typeface="Times New Roman" panose="02020603050405020304" pitchFamily="18" charset="0"/>
              </a:rPr>
              <a:t>In this session, you were able to :</a:t>
            </a:r>
          </a:p>
          <a:p>
            <a:r>
              <a:rPr lang="en-US" sz="2400" dirty="0">
                <a:latin typeface="Times New Roman" panose="02020603050405020304" pitchFamily="18" charset="0"/>
                <a:cs typeface="Times New Roman" panose="02020603050405020304" pitchFamily="18" charset="0"/>
              </a:rPr>
              <a:t>• Learn about </a:t>
            </a:r>
            <a:r>
              <a:rPr lang="en-IN" sz="2400" dirty="0">
                <a:latin typeface="Times New Roman" panose="02020603050405020304" pitchFamily="18" charset="0"/>
                <a:cs typeface="Times New Roman" panose="02020603050405020304" pitchFamily="18" charset="0"/>
              </a:rPr>
              <a:t>Abstract classes and static classes</a:t>
            </a:r>
          </a:p>
          <a:p>
            <a:r>
              <a:rPr lang="en-US" sz="2400" dirty="0">
                <a:latin typeface="Times New Roman" panose="02020603050405020304" pitchFamily="18" charset="0"/>
                <a:cs typeface="Times New Roman" panose="02020603050405020304" pitchFamily="18" charset="0"/>
              </a:rPr>
              <a:t>• Understand </a:t>
            </a:r>
            <a:r>
              <a:rPr lang="en-IN" sz="2400" dirty="0">
                <a:latin typeface="Times New Roman" panose="02020603050405020304" pitchFamily="18" charset="0"/>
                <a:cs typeface="Times New Roman" panose="02020603050405020304" pitchFamily="18" charset="0"/>
              </a:rPr>
              <a:t>abstraction with example</a:t>
            </a:r>
            <a:endParaRPr lang="en-US" sz="2400" dirty="0">
              <a:latin typeface="Times New Roman" panose="02020603050405020304" pitchFamily="18" charset="0"/>
              <a:cs typeface="Times New Roman" panose="02020603050405020304" pitchFamily="18" charset="0"/>
            </a:endParaRPr>
          </a:p>
        </p:txBody>
      </p:sp>
      <p:grpSp>
        <p:nvGrpSpPr>
          <p:cNvPr id="2" name="Group 308"/>
          <p:cNvGrpSpPr>
            <a:grpSpLocks/>
          </p:cNvGrpSpPr>
          <p:nvPr/>
        </p:nvGrpSpPr>
        <p:grpSpPr bwMode="auto">
          <a:xfrm>
            <a:off x="9858375" y="2028825"/>
            <a:ext cx="1900238" cy="1893887"/>
            <a:chOff x="1259" y="3082"/>
            <a:chExt cx="884" cy="884"/>
          </a:xfrm>
        </p:grpSpPr>
        <p:sp>
          <p:nvSpPr>
            <p:cNvPr id="140597" name="Freeform 309"/>
            <p:cNvSpPr>
              <a:spLocks/>
            </p:cNvSpPr>
            <p:nvPr/>
          </p:nvSpPr>
          <p:spPr bwMode="auto">
            <a:xfrm flipH="1">
              <a:off x="1681" y="3824"/>
              <a:ext cx="110" cy="107"/>
            </a:xfrm>
            <a:custGeom>
              <a:avLst/>
              <a:gdLst/>
              <a:ahLst/>
              <a:cxnLst>
                <a:cxn ang="0">
                  <a:pos x="80" y="107"/>
                </a:cxn>
                <a:cxn ang="0">
                  <a:pos x="89" y="104"/>
                </a:cxn>
                <a:cxn ang="0">
                  <a:pos x="99" y="96"/>
                </a:cxn>
                <a:cxn ang="0">
                  <a:pos x="105" y="91"/>
                </a:cxn>
                <a:cxn ang="0">
                  <a:pos x="110" y="80"/>
                </a:cxn>
                <a:cxn ang="0">
                  <a:pos x="56" y="18"/>
                </a:cxn>
                <a:cxn ang="0">
                  <a:pos x="51" y="16"/>
                </a:cxn>
                <a:cxn ang="0">
                  <a:pos x="29" y="5"/>
                </a:cxn>
                <a:cxn ang="0">
                  <a:pos x="13" y="0"/>
                </a:cxn>
                <a:cxn ang="0">
                  <a:pos x="0" y="10"/>
                </a:cxn>
                <a:cxn ang="0">
                  <a:pos x="80" y="107"/>
                </a:cxn>
              </a:cxnLst>
              <a:rect l="0" t="0" r="r" b="b"/>
              <a:pathLst>
                <a:path w="110" h="107">
                  <a:moveTo>
                    <a:pt x="80" y="107"/>
                  </a:moveTo>
                  <a:lnTo>
                    <a:pt x="89" y="104"/>
                  </a:lnTo>
                  <a:lnTo>
                    <a:pt x="99" y="96"/>
                  </a:lnTo>
                  <a:lnTo>
                    <a:pt x="105" y="91"/>
                  </a:lnTo>
                  <a:lnTo>
                    <a:pt x="110" y="80"/>
                  </a:lnTo>
                  <a:lnTo>
                    <a:pt x="56" y="18"/>
                  </a:lnTo>
                  <a:lnTo>
                    <a:pt x="51" y="16"/>
                  </a:lnTo>
                  <a:lnTo>
                    <a:pt x="29" y="5"/>
                  </a:lnTo>
                  <a:lnTo>
                    <a:pt x="13" y="0"/>
                  </a:lnTo>
                  <a:lnTo>
                    <a:pt x="0" y="10"/>
                  </a:lnTo>
                  <a:lnTo>
                    <a:pt x="80" y="107"/>
                  </a:lnTo>
                  <a:close/>
                </a:path>
              </a:pathLst>
            </a:custGeom>
            <a:solidFill>
              <a:srgbClr val="000000"/>
            </a:solidFill>
            <a:ln w="9525">
              <a:noFill/>
              <a:round/>
              <a:headEnd/>
              <a:tailEnd/>
            </a:ln>
          </p:spPr>
          <p:txBody>
            <a:bodyPr/>
            <a:lstStyle/>
            <a:p>
              <a:endParaRPr lang="en-US"/>
            </a:p>
          </p:txBody>
        </p:sp>
        <p:sp>
          <p:nvSpPr>
            <p:cNvPr id="140598" name="Freeform 310"/>
            <p:cNvSpPr>
              <a:spLocks/>
            </p:cNvSpPr>
            <p:nvPr/>
          </p:nvSpPr>
          <p:spPr bwMode="auto">
            <a:xfrm flipH="1">
              <a:off x="1786" y="3762"/>
              <a:ext cx="35" cy="88"/>
            </a:xfrm>
            <a:custGeom>
              <a:avLst/>
              <a:gdLst/>
              <a:ahLst/>
              <a:cxnLst>
                <a:cxn ang="0">
                  <a:pos x="24" y="88"/>
                </a:cxn>
                <a:cxn ang="0">
                  <a:pos x="29" y="88"/>
                </a:cxn>
                <a:cxn ang="0">
                  <a:pos x="32" y="88"/>
                </a:cxn>
                <a:cxn ang="0">
                  <a:pos x="32" y="86"/>
                </a:cxn>
                <a:cxn ang="0">
                  <a:pos x="35" y="83"/>
                </a:cxn>
                <a:cxn ang="0">
                  <a:pos x="35" y="64"/>
                </a:cxn>
                <a:cxn ang="0">
                  <a:pos x="29" y="40"/>
                </a:cxn>
                <a:cxn ang="0">
                  <a:pos x="13" y="16"/>
                </a:cxn>
                <a:cxn ang="0">
                  <a:pos x="0" y="0"/>
                </a:cxn>
                <a:cxn ang="0">
                  <a:pos x="2" y="13"/>
                </a:cxn>
                <a:cxn ang="0">
                  <a:pos x="8" y="43"/>
                </a:cxn>
                <a:cxn ang="0">
                  <a:pos x="16" y="75"/>
                </a:cxn>
                <a:cxn ang="0">
                  <a:pos x="24" y="88"/>
                </a:cxn>
              </a:cxnLst>
              <a:rect l="0" t="0" r="r" b="b"/>
              <a:pathLst>
                <a:path w="35" h="88">
                  <a:moveTo>
                    <a:pt x="24" y="88"/>
                  </a:moveTo>
                  <a:lnTo>
                    <a:pt x="29" y="88"/>
                  </a:lnTo>
                  <a:lnTo>
                    <a:pt x="32" y="88"/>
                  </a:lnTo>
                  <a:lnTo>
                    <a:pt x="32" y="86"/>
                  </a:lnTo>
                  <a:lnTo>
                    <a:pt x="35" y="83"/>
                  </a:lnTo>
                  <a:lnTo>
                    <a:pt x="35" y="64"/>
                  </a:lnTo>
                  <a:lnTo>
                    <a:pt x="29" y="40"/>
                  </a:lnTo>
                  <a:lnTo>
                    <a:pt x="13" y="16"/>
                  </a:lnTo>
                  <a:lnTo>
                    <a:pt x="0" y="0"/>
                  </a:lnTo>
                  <a:lnTo>
                    <a:pt x="2" y="13"/>
                  </a:lnTo>
                  <a:lnTo>
                    <a:pt x="8" y="43"/>
                  </a:lnTo>
                  <a:lnTo>
                    <a:pt x="16" y="75"/>
                  </a:lnTo>
                  <a:lnTo>
                    <a:pt x="24" y="88"/>
                  </a:lnTo>
                  <a:close/>
                </a:path>
              </a:pathLst>
            </a:custGeom>
            <a:solidFill>
              <a:srgbClr val="000000"/>
            </a:solidFill>
            <a:ln w="9525">
              <a:noFill/>
              <a:round/>
              <a:headEnd/>
              <a:tailEnd/>
            </a:ln>
          </p:spPr>
          <p:txBody>
            <a:bodyPr/>
            <a:lstStyle/>
            <a:p>
              <a:endParaRPr lang="en-US"/>
            </a:p>
          </p:txBody>
        </p:sp>
        <p:sp>
          <p:nvSpPr>
            <p:cNvPr id="140599" name="Freeform 311"/>
            <p:cNvSpPr>
              <a:spLocks/>
            </p:cNvSpPr>
            <p:nvPr/>
          </p:nvSpPr>
          <p:spPr bwMode="auto">
            <a:xfrm flipH="1">
              <a:off x="1587" y="3719"/>
              <a:ext cx="54" cy="29"/>
            </a:xfrm>
            <a:custGeom>
              <a:avLst/>
              <a:gdLst/>
              <a:ahLst/>
              <a:cxnLst>
                <a:cxn ang="0">
                  <a:pos x="54" y="19"/>
                </a:cxn>
                <a:cxn ang="0">
                  <a:pos x="48" y="13"/>
                </a:cxn>
                <a:cxn ang="0">
                  <a:pos x="43" y="11"/>
                </a:cxn>
                <a:cxn ang="0">
                  <a:pos x="40" y="5"/>
                </a:cxn>
                <a:cxn ang="0">
                  <a:pos x="32" y="2"/>
                </a:cxn>
                <a:cxn ang="0">
                  <a:pos x="21" y="0"/>
                </a:cxn>
                <a:cxn ang="0">
                  <a:pos x="13" y="0"/>
                </a:cxn>
                <a:cxn ang="0">
                  <a:pos x="5" y="0"/>
                </a:cxn>
                <a:cxn ang="0">
                  <a:pos x="0" y="2"/>
                </a:cxn>
                <a:cxn ang="0">
                  <a:pos x="27" y="29"/>
                </a:cxn>
                <a:cxn ang="0">
                  <a:pos x="32" y="27"/>
                </a:cxn>
                <a:cxn ang="0">
                  <a:pos x="40" y="21"/>
                </a:cxn>
                <a:cxn ang="0">
                  <a:pos x="45" y="19"/>
                </a:cxn>
                <a:cxn ang="0">
                  <a:pos x="54" y="19"/>
                </a:cxn>
              </a:cxnLst>
              <a:rect l="0" t="0" r="r" b="b"/>
              <a:pathLst>
                <a:path w="54" h="29">
                  <a:moveTo>
                    <a:pt x="54" y="19"/>
                  </a:moveTo>
                  <a:lnTo>
                    <a:pt x="48" y="13"/>
                  </a:lnTo>
                  <a:lnTo>
                    <a:pt x="43" y="11"/>
                  </a:lnTo>
                  <a:lnTo>
                    <a:pt x="40" y="5"/>
                  </a:lnTo>
                  <a:lnTo>
                    <a:pt x="32" y="2"/>
                  </a:lnTo>
                  <a:lnTo>
                    <a:pt x="21" y="0"/>
                  </a:lnTo>
                  <a:lnTo>
                    <a:pt x="13" y="0"/>
                  </a:lnTo>
                  <a:lnTo>
                    <a:pt x="5" y="0"/>
                  </a:lnTo>
                  <a:lnTo>
                    <a:pt x="0" y="2"/>
                  </a:lnTo>
                  <a:lnTo>
                    <a:pt x="27" y="29"/>
                  </a:lnTo>
                  <a:lnTo>
                    <a:pt x="32" y="27"/>
                  </a:lnTo>
                  <a:lnTo>
                    <a:pt x="40" y="21"/>
                  </a:lnTo>
                  <a:lnTo>
                    <a:pt x="45" y="19"/>
                  </a:lnTo>
                  <a:lnTo>
                    <a:pt x="54" y="19"/>
                  </a:lnTo>
                  <a:close/>
                </a:path>
              </a:pathLst>
            </a:custGeom>
            <a:solidFill>
              <a:srgbClr val="000000"/>
            </a:solidFill>
            <a:ln w="9525">
              <a:noFill/>
              <a:round/>
              <a:headEnd/>
              <a:tailEnd/>
            </a:ln>
          </p:spPr>
          <p:txBody>
            <a:bodyPr/>
            <a:lstStyle/>
            <a:p>
              <a:endParaRPr lang="en-US"/>
            </a:p>
          </p:txBody>
        </p:sp>
        <p:sp>
          <p:nvSpPr>
            <p:cNvPr id="140600" name="Freeform 312"/>
            <p:cNvSpPr>
              <a:spLocks/>
            </p:cNvSpPr>
            <p:nvPr/>
          </p:nvSpPr>
          <p:spPr bwMode="auto">
            <a:xfrm flipH="1">
              <a:off x="1259" y="3082"/>
              <a:ext cx="884" cy="884"/>
            </a:xfrm>
            <a:custGeom>
              <a:avLst/>
              <a:gdLst/>
              <a:ahLst/>
              <a:cxnLst>
                <a:cxn ang="0">
                  <a:pos x="441" y="408"/>
                </a:cxn>
                <a:cxn ang="0">
                  <a:pos x="403" y="392"/>
                </a:cxn>
                <a:cxn ang="0">
                  <a:pos x="355" y="355"/>
                </a:cxn>
                <a:cxn ang="0">
                  <a:pos x="320" y="333"/>
                </a:cxn>
                <a:cxn ang="0">
                  <a:pos x="285" y="242"/>
                </a:cxn>
                <a:cxn ang="0">
                  <a:pos x="271" y="212"/>
                </a:cxn>
                <a:cxn ang="0">
                  <a:pos x="261" y="159"/>
                </a:cxn>
                <a:cxn ang="0">
                  <a:pos x="261" y="137"/>
                </a:cxn>
                <a:cxn ang="0">
                  <a:pos x="177" y="102"/>
                </a:cxn>
                <a:cxn ang="0">
                  <a:pos x="215" y="86"/>
                </a:cxn>
                <a:cxn ang="0">
                  <a:pos x="279" y="62"/>
                </a:cxn>
                <a:cxn ang="0">
                  <a:pos x="339" y="40"/>
                </a:cxn>
                <a:cxn ang="0">
                  <a:pos x="390" y="27"/>
                </a:cxn>
                <a:cxn ang="0">
                  <a:pos x="591" y="83"/>
                </a:cxn>
                <a:cxn ang="0">
                  <a:pos x="572" y="97"/>
                </a:cxn>
                <a:cxn ang="0">
                  <a:pos x="583" y="212"/>
                </a:cxn>
                <a:cxn ang="0">
                  <a:pos x="583" y="236"/>
                </a:cxn>
                <a:cxn ang="0">
                  <a:pos x="556" y="234"/>
                </a:cxn>
                <a:cxn ang="0">
                  <a:pos x="508" y="161"/>
                </a:cxn>
                <a:cxn ang="0">
                  <a:pos x="508" y="210"/>
                </a:cxn>
                <a:cxn ang="0">
                  <a:pos x="521" y="236"/>
                </a:cxn>
                <a:cxn ang="0">
                  <a:pos x="511" y="269"/>
                </a:cxn>
                <a:cxn ang="0">
                  <a:pos x="500" y="304"/>
                </a:cxn>
                <a:cxn ang="0">
                  <a:pos x="476" y="339"/>
                </a:cxn>
                <a:cxn ang="0">
                  <a:pos x="441" y="344"/>
                </a:cxn>
                <a:cxn ang="0">
                  <a:pos x="446" y="360"/>
                </a:cxn>
                <a:cxn ang="0">
                  <a:pos x="468" y="376"/>
                </a:cxn>
                <a:cxn ang="0">
                  <a:pos x="508" y="411"/>
                </a:cxn>
                <a:cxn ang="0">
                  <a:pos x="545" y="433"/>
                </a:cxn>
                <a:cxn ang="0">
                  <a:pos x="564" y="438"/>
                </a:cxn>
                <a:cxn ang="0">
                  <a:pos x="615" y="446"/>
                </a:cxn>
                <a:cxn ang="0">
                  <a:pos x="666" y="511"/>
                </a:cxn>
                <a:cxn ang="0">
                  <a:pos x="707" y="578"/>
                </a:cxn>
                <a:cxn ang="0">
                  <a:pos x="782" y="669"/>
                </a:cxn>
                <a:cxn ang="0">
                  <a:pos x="814" y="747"/>
                </a:cxn>
                <a:cxn ang="0">
                  <a:pos x="777" y="846"/>
                </a:cxn>
                <a:cxn ang="0">
                  <a:pos x="884" y="884"/>
                </a:cxn>
                <a:cxn ang="0">
                  <a:pos x="86" y="884"/>
                </a:cxn>
                <a:cxn ang="0">
                  <a:pos x="89" y="578"/>
                </a:cxn>
                <a:cxn ang="0">
                  <a:pos x="124" y="451"/>
                </a:cxn>
                <a:cxn ang="0">
                  <a:pos x="191" y="438"/>
                </a:cxn>
                <a:cxn ang="0">
                  <a:pos x="242" y="416"/>
                </a:cxn>
                <a:cxn ang="0">
                  <a:pos x="296" y="360"/>
                </a:cxn>
                <a:cxn ang="0">
                  <a:pos x="309" y="336"/>
                </a:cxn>
                <a:cxn ang="0">
                  <a:pos x="371" y="408"/>
                </a:cxn>
                <a:cxn ang="0">
                  <a:pos x="427" y="484"/>
                </a:cxn>
                <a:cxn ang="0">
                  <a:pos x="519" y="661"/>
                </a:cxn>
                <a:cxn ang="0">
                  <a:pos x="500" y="532"/>
                </a:cxn>
                <a:cxn ang="0">
                  <a:pos x="457" y="390"/>
                </a:cxn>
              </a:cxnLst>
              <a:rect l="0" t="0" r="r" b="b"/>
              <a:pathLst>
                <a:path w="884" h="884">
                  <a:moveTo>
                    <a:pt x="441" y="368"/>
                  </a:moveTo>
                  <a:lnTo>
                    <a:pt x="441" y="382"/>
                  </a:lnTo>
                  <a:lnTo>
                    <a:pt x="441" y="395"/>
                  </a:lnTo>
                  <a:lnTo>
                    <a:pt x="441" y="408"/>
                  </a:lnTo>
                  <a:lnTo>
                    <a:pt x="435" y="422"/>
                  </a:lnTo>
                  <a:lnTo>
                    <a:pt x="425" y="411"/>
                  </a:lnTo>
                  <a:lnTo>
                    <a:pt x="414" y="400"/>
                  </a:lnTo>
                  <a:lnTo>
                    <a:pt x="403" y="392"/>
                  </a:lnTo>
                  <a:lnTo>
                    <a:pt x="392" y="382"/>
                  </a:lnTo>
                  <a:lnTo>
                    <a:pt x="379" y="373"/>
                  </a:lnTo>
                  <a:lnTo>
                    <a:pt x="368" y="363"/>
                  </a:lnTo>
                  <a:lnTo>
                    <a:pt x="355" y="355"/>
                  </a:lnTo>
                  <a:lnTo>
                    <a:pt x="341" y="349"/>
                  </a:lnTo>
                  <a:lnTo>
                    <a:pt x="336" y="344"/>
                  </a:lnTo>
                  <a:lnTo>
                    <a:pt x="328" y="339"/>
                  </a:lnTo>
                  <a:lnTo>
                    <a:pt x="320" y="333"/>
                  </a:lnTo>
                  <a:lnTo>
                    <a:pt x="314" y="328"/>
                  </a:lnTo>
                  <a:lnTo>
                    <a:pt x="314" y="296"/>
                  </a:lnTo>
                  <a:lnTo>
                    <a:pt x="301" y="266"/>
                  </a:lnTo>
                  <a:lnTo>
                    <a:pt x="285" y="242"/>
                  </a:lnTo>
                  <a:lnTo>
                    <a:pt x="271" y="215"/>
                  </a:lnTo>
                  <a:lnTo>
                    <a:pt x="271" y="215"/>
                  </a:lnTo>
                  <a:lnTo>
                    <a:pt x="271" y="212"/>
                  </a:lnTo>
                  <a:lnTo>
                    <a:pt x="271" y="212"/>
                  </a:lnTo>
                  <a:lnTo>
                    <a:pt x="271" y="212"/>
                  </a:lnTo>
                  <a:lnTo>
                    <a:pt x="261" y="196"/>
                  </a:lnTo>
                  <a:lnTo>
                    <a:pt x="261" y="177"/>
                  </a:lnTo>
                  <a:lnTo>
                    <a:pt x="261" y="159"/>
                  </a:lnTo>
                  <a:lnTo>
                    <a:pt x="263" y="140"/>
                  </a:lnTo>
                  <a:lnTo>
                    <a:pt x="263" y="140"/>
                  </a:lnTo>
                  <a:lnTo>
                    <a:pt x="263" y="137"/>
                  </a:lnTo>
                  <a:lnTo>
                    <a:pt x="261" y="137"/>
                  </a:lnTo>
                  <a:lnTo>
                    <a:pt x="261" y="134"/>
                  </a:lnTo>
                  <a:lnTo>
                    <a:pt x="180" y="107"/>
                  </a:lnTo>
                  <a:lnTo>
                    <a:pt x="177" y="105"/>
                  </a:lnTo>
                  <a:lnTo>
                    <a:pt x="177" y="102"/>
                  </a:lnTo>
                  <a:lnTo>
                    <a:pt x="177" y="102"/>
                  </a:lnTo>
                  <a:lnTo>
                    <a:pt x="180" y="99"/>
                  </a:lnTo>
                  <a:lnTo>
                    <a:pt x="196" y="94"/>
                  </a:lnTo>
                  <a:lnTo>
                    <a:pt x="215" y="86"/>
                  </a:lnTo>
                  <a:lnTo>
                    <a:pt x="231" y="81"/>
                  </a:lnTo>
                  <a:lnTo>
                    <a:pt x="247" y="75"/>
                  </a:lnTo>
                  <a:lnTo>
                    <a:pt x="263" y="70"/>
                  </a:lnTo>
                  <a:lnTo>
                    <a:pt x="279" y="62"/>
                  </a:lnTo>
                  <a:lnTo>
                    <a:pt x="296" y="56"/>
                  </a:lnTo>
                  <a:lnTo>
                    <a:pt x="312" y="51"/>
                  </a:lnTo>
                  <a:lnTo>
                    <a:pt x="325" y="46"/>
                  </a:lnTo>
                  <a:lnTo>
                    <a:pt x="339" y="40"/>
                  </a:lnTo>
                  <a:lnTo>
                    <a:pt x="352" y="35"/>
                  </a:lnTo>
                  <a:lnTo>
                    <a:pt x="365" y="30"/>
                  </a:lnTo>
                  <a:lnTo>
                    <a:pt x="376" y="27"/>
                  </a:lnTo>
                  <a:lnTo>
                    <a:pt x="390" y="27"/>
                  </a:lnTo>
                  <a:lnTo>
                    <a:pt x="400" y="27"/>
                  </a:lnTo>
                  <a:lnTo>
                    <a:pt x="414" y="32"/>
                  </a:lnTo>
                  <a:lnTo>
                    <a:pt x="591" y="83"/>
                  </a:lnTo>
                  <a:lnTo>
                    <a:pt x="591" y="83"/>
                  </a:lnTo>
                  <a:lnTo>
                    <a:pt x="591" y="86"/>
                  </a:lnTo>
                  <a:lnTo>
                    <a:pt x="591" y="86"/>
                  </a:lnTo>
                  <a:lnTo>
                    <a:pt x="591" y="89"/>
                  </a:lnTo>
                  <a:lnTo>
                    <a:pt x="572" y="97"/>
                  </a:lnTo>
                  <a:lnTo>
                    <a:pt x="575" y="126"/>
                  </a:lnTo>
                  <a:lnTo>
                    <a:pt x="578" y="153"/>
                  </a:lnTo>
                  <a:lnTo>
                    <a:pt x="580" y="183"/>
                  </a:lnTo>
                  <a:lnTo>
                    <a:pt x="583" y="212"/>
                  </a:lnTo>
                  <a:lnTo>
                    <a:pt x="583" y="220"/>
                  </a:lnTo>
                  <a:lnTo>
                    <a:pt x="583" y="226"/>
                  </a:lnTo>
                  <a:lnTo>
                    <a:pt x="583" y="231"/>
                  </a:lnTo>
                  <a:lnTo>
                    <a:pt x="583" y="236"/>
                  </a:lnTo>
                  <a:lnTo>
                    <a:pt x="578" y="236"/>
                  </a:lnTo>
                  <a:lnTo>
                    <a:pt x="570" y="236"/>
                  </a:lnTo>
                  <a:lnTo>
                    <a:pt x="559" y="236"/>
                  </a:lnTo>
                  <a:lnTo>
                    <a:pt x="556" y="234"/>
                  </a:lnTo>
                  <a:lnTo>
                    <a:pt x="543" y="110"/>
                  </a:lnTo>
                  <a:lnTo>
                    <a:pt x="502" y="124"/>
                  </a:lnTo>
                  <a:lnTo>
                    <a:pt x="502" y="142"/>
                  </a:lnTo>
                  <a:lnTo>
                    <a:pt x="508" y="161"/>
                  </a:lnTo>
                  <a:lnTo>
                    <a:pt x="508" y="183"/>
                  </a:lnTo>
                  <a:lnTo>
                    <a:pt x="502" y="199"/>
                  </a:lnTo>
                  <a:lnTo>
                    <a:pt x="502" y="204"/>
                  </a:lnTo>
                  <a:lnTo>
                    <a:pt x="508" y="210"/>
                  </a:lnTo>
                  <a:lnTo>
                    <a:pt x="511" y="215"/>
                  </a:lnTo>
                  <a:lnTo>
                    <a:pt x="513" y="220"/>
                  </a:lnTo>
                  <a:lnTo>
                    <a:pt x="519" y="228"/>
                  </a:lnTo>
                  <a:lnTo>
                    <a:pt x="521" y="236"/>
                  </a:lnTo>
                  <a:lnTo>
                    <a:pt x="524" y="247"/>
                  </a:lnTo>
                  <a:lnTo>
                    <a:pt x="521" y="255"/>
                  </a:lnTo>
                  <a:lnTo>
                    <a:pt x="511" y="261"/>
                  </a:lnTo>
                  <a:lnTo>
                    <a:pt x="511" y="269"/>
                  </a:lnTo>
                  <a:lnTo>
                    <a:pt x="508" y="277"/>
                  </a:lnTo>
                  <a:lnTo>
                    <a:pt x="502" y="282"/>
                  </a:lnTo>
                  <a:lnTo>
                    <a:pt x="502" y="290"/>
                  </a:lnTo>
                  <a:lnTo>
                    <a:pt x="500" y="304"/>
                  </a:lnTo>
                  <a:lnTo>
                    <a:pt x="500" y="314"/>
                  </a:lnTo>
                  <a:lnTo>
                    <a:pt x="494" y="325"/>
                  </a:lnTo>
                  <a:lnTo>
                    <a:pt x="486" y="336"/>
                  </a:lnTo>
                  <a:lnTo>
                    <a:pt x="476" y="339"/>
                  </a:lnTo>
                  <a:lnTo>
                    <a:pt x="468" y="341"/>
                  </a:lnTo>
                  <a:lnTo>
                    <a:pt x="457" y="344"/>
                  </a:lnTo>
                  <a:lnTo>
                    <a:pt x="443" y="344"/>
                  </a:lnTo>
                  <a:lnTo>
                    <a:pt x="441" y="344"/>
                  </a:lnTo>
                  <a:lnTo>
                    <a:pt x="441" y="349"/>
                  </a:lnTo>
                  <a:lnTo>
                    <a:pt x="441" y="352"/>
                  </a:lnTo>
                  <a:lnTo>
                    <a:pt x="441" y="357"/>
                  </a:lnTo>
                  <a:lnTo>
                    <a:pt x="446" y="360"/>
                  </a:lnTo>
                  <a:lnTo>
                    <a:pt x="451" y="360"/>
                  </a:lnTo>
                  <a:lnTo>
                    <a:pt x="454" y="363"/>
                  </a:lnTo>
                  <a:lnTo>
                    <a:pt x="459" y="365"/>
                  </a:lnTo>
                  <a:lnTo>
                    <a:pt x="468" y="376"/>
                  </a:lnTo>
                  <a:lnTo>
                    <a:pt x="476" y="387"/>
                  </a:lnTo>
                  <a:lnTo>
                    <a:pt x="484" y="395"/>
                  </a:lnTo>
                  <a:lnTo>
                    <a:pt x="494" y="403"/>
                  </a:lnTo>
                  <a:lnTo>
                    <a:pt x="508" y="411"/>
                  </a:lnTo>
                  <a:lnTo>
                    <a:pt x="519" y="419"/>
                  </a:lnTo>
                  <a:lnTo>
                    <a:pt x="529" y="425"/>
                  </a:lnTo>
                  <a:lnTo>
                    <a:pt x="543" y="433"/>
                  </a:lnTo>
                  <a:lnTo>
                    <a:pt x="545" y="433"/>
                  </a:lnTo>
                  <a:lnTo>
                    <a:pt x="551" y="435"/>
                  </a:lnTo>
                  <a:lnTo>
                    <a:pt x="556" y="438"/>
                  </a:lnTo>
                  <a:lnTo>
                    <a:pt x="559" y="438"/>
                  </a:lnTo>
                  <a:lnTo>
                    <a:pt x="564" y="438"/>
                  </a:lnTo>
                  <a:lnTo>
                    <a:pt x="578" y="438"/>
                  </a:lnTo>
                  <a:lnTo>
                    <a:pt x="588" y="438"/>
                  </a:lnTo>
                  <a:lnTo>
                    <a:pt x="594" y="441"/>
                  </a:lnTo>
                  <a:lnTo>
                    <a:pt x="615" y="446"/>
                  </a:lnTo>
                  <a:lnTo>
                    <a:pt x="631" y="462"/>
                  </a:lnTo>
                  <a:lnTo>
                    <a:pt x="645" y="481"/>
                  </a:lnTo>
                  <a:lnTo>
                    <a:pt x="658" y="500"/>
                  </a:lnTo>
                  <a:lnTo>
                    <a:pt x="666" y="511"/>
                  </a:lnTo>
                  <a:lnTo>
                    <a:pt x="677" y="521"/>
                  </a:lnTo>
                  <a:lnTo>
                    <a:pt x="685" y="532"/>
                  </a:lnTo>
                  <a:lnTo>
                    <a:pt x="693" y="543"/>
                  </a:lnTo>
                  <a:lnTo>
                    <a:pt x="707" y="578"/>
                  </a:lnTo>
                  <a:lnTo>
                    <a:pt x="723" y="607"/>
                  </a:lnTo>
                  <a:lnTo>
                    <a:pt x="742" y="631"/>
                  </a:lnTo>
                  <a:lnTo>
                    <a:pt x="768" y="658"/>
                  </a:lnTo>
                  <a:lnTo>
                    <a:pt x="782" y="669"/>
                  </a:lnTo>
                  <a:lnTo>
                    <a:pt x="795" y="682"/>
                  </a:lnTo>
                  <a:lnTo>
                    <a:pt x="806" y="696"/>
                  </a:lnTo>
                  <a:lnTo>
                    <a:pt x="814" y="717"/>
                  </a:lnTo>
                  <a:lnTo>
                    <a:pt x="814" y="747"/>
                  </a:lnTo>
                  <a:lnTo>
                    <a:pt x="811" y="774"/>
                  </a:lnTo>
                  <a:lnTo>
                    <a:pt x="803" y="803"/>
                  </a:lnTo>
                  <a:lnTo>
                    <a:pt x="787" y="830"/>
                  </a:lnTo>
                  <a:lnTo>
                    <a:pt x="777" y="846"/>
                  </a:lnTo>
                  <a:lnTo>
                    <a:pt x="760" y="860"/>
                  </a:lnTo>
                  <a:lnTo>
                    <a:pt x="747" y="871"/>
                  </a:lnTo>
                  <a:lnTo>
                    <a:pt x="731" y="881"/>
                  </a:lnTo>
                  <a:lnTo>
                    <a:pt x="884" y="884"/>
                  </a:lnTo>
                  <a:lnTo>
                    <a:pt x="884" y="0"/>
                  </a:lnTo>
                  <a:lnTo>
                    <a:pt x="0" y="0"/>
                  </a:lnTo>
                  <a:lnTo>
                    <a:pt x="0" y="884"/>
                  </a:lnTo>
                  <a:lnTo>
                    <a:pt x="86" y="884"/>
                  </a:lnTo>
                  <a:lnTo>
                    <a:pt x="81" y="806"/>
                  </a:lnTo>
                  <a:lnTo>
                    <a:pt x="81" y="731"/>
                  </a:lnTo>
                  <a:lnTo>
                    <a:pt x="81" y="656"/>
                  </a:lnTo>
                  <a:lnTo>
                    <a:pt x="89" y="578"/>
                  </a:lnTo>
                  <a:lnTo>
                    <a:pt x="89" y="554"/>
                  </a:lnTo>
                  <a:lnTo>
                    <a:pt x="94" y="516"/>
                  </a:lnTo>
                  <a:lnTo>
                    <a:pt x="102" y="478"/>
                  </a:lnTo>
                  <a:lnTo>
                    <a:pt x="124" y="451"/>
                  </a:lnTo>
                  <a:lnTo>
                    <a:pt x="148" y="443"/>
                  </a:lnTo>
                  <a:lnTo>
                    <a:pt x="167" y="441"/>
                  </a:lnTo>
                  <a:lnTo>
                    <a:pt x="177" y="441"/>
                  </a:lnTo>
                  <a:lnTo>
                    <a:pt x="191" y="438"/>
                  </a:lnTo>
                  <a:lnTo>
                    <a:pt x="204" y="433"/>
                  </a:lnTo>
                  <a:lnTo>
                    <a:pt x="218" y="427"/>
                  </a:lnTo>
                  <a:lnTo>
                    <a:pt x="231" y="422"/>
                  </a:lnTo>
                  <a:lnTo>
                    <a:pt x="242" y="416"/>
                  </a:lnTo>
                  <a:lnTo>
                    <a:pt x="253" y="408"/>
                  </a:lnTo>
                  <a:lnTo>
                    <a:pt x="269" y="392"/>
                  </a:lnTo>
                  <a:lnTo>
                    <a:pt x="282" y="376"/>
                  </a:lnTo>
                  <a:lnTo>
                    <a:pt x="296" y="360"/>
                  </a:lnTo>
                  <a:lnTo>
                    <a:pt x="304" y="341"/>
                  </a:lnTo>
                  <a:lnTo>
                    <a:pt x="306" y="339"/>
                  </a:lnTo>
                  <a:lnTo>
                    <a:pt x="309" y="336"/>
                  </a:lnTo>
                  <a:lnTo>
                    <a:pt x="309" y="336"/>
                  </a:lnTo>
                  <a:lnTo>
                    <a:pt x="312" y="336"/>
                  </a:lnTo>
                  <a:lnTo>
                    <a:pt x="336" y="360"/>
                  </a:lnTo>
                  <a:lnTo>
                    <a:pt x="355" y="382"/>
                  </a:lnTo>
                  <a:lnTo>
                    <a:pt x="371" y="408"/>
                  </a:lnTo>
                  <a:lnTo>
                    <a:pt x="390" y="435"/>
                  </a:lnTo>
                  <a:lnTo>
                    <a:pt x="403" y="449"/>
                  </a:lnTo>
                  <a:lnTo>
                    <a:pt x="414" y="465"/>
                  </a:lnTo>
                  <a:lnTo>
                    <a:pt x="427" y="484"/>
                  </a:lnTo>
                  <a:lnTo>
                    <a:pt x="438" y="502"/>
                  </a:lnTo>
                  <a:lnTo>
                    <a:pt x="519" y="661"/>
                  </a:lnTo>
                  <a:lnTo>
                    <a:pt x="519" y="661"/>
                  </a:lnTo>
                  <a:lnTo>
                    <a:pt x="519" y="661"/>
                  </a:lnTo>
                  <a:lnTo>
                    <a:pt x="519" y="661"/>
                  </a:lnTo>
                  <a:lnTo>
                    <a:pt x="519" y="661"/>
                  </a:lnTo>
                  <a:lnTo>
                    <a:pt x="511" y="596"/>
                  </a:lnTo>
                  <a:lnTo>
                    <a:pt x="500" y="532"/>
                  </a:lnTo>
                  <a:lnTo>
                    <a:pt x="481" y="468"/>
                  </a:lnTo>
                  <a:lnTo>
                    <a:pt x="465" y="411"/>
                  </a:lnTo>
                  <a:lnTo>
                    <a:pt x="462" y="406"/>
                  </a:lnTo>
                  <a:lnTo>
                    <a:pt x="457" y="390"/>
                  </a:lnTo>
                  <a:lnTo>
                    <a:pt x="449" y="373"/>
                  </a:lnTo>
                  <a:lnTo>
                    <a:pt x="441" y="368"/>
                  </a:lnTo>
                  <a:close/>
                </a:path>
              </a:pathLst>
            </a:custGeom>
            <a:solidFill>
              <a:srgbClr val="000000"/>
            </a:solidFill>
            <a:ln w="9525">
              <a:noFill/>
              <a:round/>
              <a:headEnd/>
              <a:tailEnd/>
            </a:ln>
          </p:spPr>
          <p:txBody>
            <a:bodyPr/>
            <a:lstStyle/>
            <a:p>
              <a:endParaRPr lang="en-US"/>
            </a:p>
          </p:txBody>
        </p:sp>
        <p:sp>
          <p:nvSpPr>
            <p:cNvPr id="140601" name="Freeform 313"/>
            <p:cNvSpPr>
              <a:spLocks/>
            </p:cNvSpPr>
            <p:nvPr/>
          </p:nvSpPr>
          <p:spPr bwMode="auto">
            <a:xfrm flipH="1">
              <a:off x="1517" y="3611"/>
              <a:ext cx="102" cy="78"/>
            </a:xfrm>
            <a:custGeom>
              <a:avLst/>
              <a:gdLst/>
              <a:ahLst/>
              <a:cxnLst>
                <a:cxn ang="0">
                  <a:pos x="102" y="78"/>
                </a:cxn>
                <a:cxn ang="0">
                  <a:pos x="30" y="0"/>
                </a:cxn>
                <a:cxn ang="0">
                  <a:pos x="21" y="0"/>
                </a:cxn>
                <a:cxn ang="0">
                  <a:pos x="8" y="6"/>
                </a:cxn>
                <a:cxn ang="0">
                  <a:pos x="3" y="14"/>
                </a:cxn>
                <a:cxn ang="0">
                  <a:pos x="0" y="25"/>
                </a:cxn>
                <a:cxn ang="0">
                  <a:pos x="43" y="78"/>
                </a:cxn>
                <a:cxn ang="0">
                  <a:pos x="56" y="73"/>
                </a:cxn>
                <a:cxn ang="0">
                  <a:pos x="75" y="70"/>
                </a:cxn>
                <a:cxn ang="0">
                  <a:pos x="89" y="73"/>
                </a:cxn>
                <a:cxn ang="0">
                  <a:pos x="102" y="78"/>
                </a:cxn>
              </a:cxnLst>
              <a:rect l="0" t="0" r="r" b="b"/>
              <a:pathLst>
                <a:path w="102" h="78">
                  <a:moveTo>
                    <a:pt x="102" y="78"/>
                  </a:moveTo>
                  <a:lnTo>
                    <a:pt x="30" y="0"/>
                  </a:lnTo>
                  <a:lnTo>
                    <a:pt x="21" y="0"/>
                  </a:lnTo>
                  <a:lnTo>
                    <a:pt x="8" y="6"/>
                  </a:lnTo>
                  <a:lnTo>
                    <a:pt x="3" y="14"/>
                  </a:lnTo>
                  <a:lnTo>
                    <a:pt x="0" y="25"/>
                  </a:lnTo>
                  <a:lnTo>
                    <a:pt x="43" y="78"/>
                  </a:lnTo>
                  <a:lnTo>
                    <a:pt x="56" y="73"/>
                  </a:lnTo>
                  <a:lnTo>
                    <a:pt x="75" y="70"/>
                  </a:lnTo>
                  <a:lnTo>
                    <a:pt x="89" y="73"/>
                  </a:lnTo>
                  <a:lnTo>
                    <a:pt x="102" y="78"/>
                  </a:lnTo>
                  <a:close/>
                </a:path>
              </a:pathLst>
            </a:custGeom>
            <a:solidFill>
              <a:srgbClr val="000000"/>
            </a:solidFill>
            <a:ln w="9525">
              <a:noFill/>
              <a:round/>
              <a:headEnd/>
              <a:tailEnd/>
            </a:ln>
          </p:spPr>
          <p:txBody>
            <a:bodyPr/>
            <a:lstStyle/>
            <a:p>
              <a:endParaRPr lang="en-US"/>
            </a:p>
          </p:txBody>
        </p:sp>
      </p:grpSp>
    </p:spTree>
    <p:extLst>
      <p:ext uri="{BB962C8B-B14F-4D97-AF65-F5344CB8AC3E}">
        <p14:creationId xmlns:p14="http://schemas.microsoft.com/office/powerpoint/2010/main" val="829860464"/>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2" name="Rectangle 4"/>
          <p:cNvSpPr>
            <a:spLocks noGrp="1" noChangeArrowheads="1"/>
          </p:cNvSpPr>
          <p:nvPr>
            <p:ph type="title"/>
          </p:nvPr>
        </p:nvSpPr>
        <p:spPr>
          <a:xfrm>
            <a:off x="1116330" y="524398"/>
            <a:ext cx="10515600" cy="776009"/>
          </a:xfrm>
        </p:spPr>
        <p:txBody>
          <a:bodyPr>
            <a:normAutofit/>
          </a:bodyPr>
          <a:lstStyle/>
          <a:p>
            <a:pPr algn="ctr"/>
            <a:r>
              <a:rPr lang="en-US" b="1" dirty="0">
                <a:latin typeface="Times New Roman" pitchFamily="18" charset="0"/>
                <a:cs typeface="Times New Roman" pitchFamily="18" charset="0"/>
              </a:rPr>
              <a:t>References: </a:t>
            </a:r>
            <a:endParaRPr lang="en-US" sz="2000" dirty="0">
              <a:latin typeface="Times New Roman" pitchFamily="18" charset="0"/>
              <a:cs typeface="Times New Roman" pitchFamily="18" charset="0"/>
            </a:endParaRPr>
          </a:p>
        </p:txBody>
      </p:sp>
      <p:sp>
        <p:nvSpPr>
          <p:cNvPr id="140594" name="Text Box 306"/>
          <p:cNvSpPr txBox="1">
            <a:spLocks noChangeArrowheads="1"/>
          </p:cNvSpPr>
          <p:nvPr/>
        </p:nvSpPr>
        <p:spPr bwMode="auto">
          <a:xfrm>
            <a:off x="665982" y="2141162"/>
            <a:ext cx="7575551" cy="2585323"/>
          </a:xfrm>
          <a:prstGeom prst="rect">
            <a:avLst/>
          </a:prstGeom>
          <a:noFill/>
          <a:ln w="9525">
            <a:noFill/>
            <a:miter lim="800000"/>
            <a:headEnd/>
            <a:tailEnd/>
          </a:ln>
          <a:effectLst/>
        </p:spPr>
        <p:txBody>
          <a:bodyPr wrap="square">
            <a:spAutoFit/>
          </a:bodyPr>
          <a:lstStyle/>
          <a:p>
            <a:r>
              <a:rPr lang="en-US" dirty="0">
                <a:latin typeface="Times New Roman" pitchFamily="18" charset="0"/>
                <a:cs typeface="Times New Roman" pitchFamily="18" charset="0"/>
              </a:rPr>
              <a:t>Books: </a:t>
            </a:r>
          </a:p>
          <a:p>
            <a:endParaRPr lang="en-IN" dirty="0">
              <a:latin typeface="Times New Roman" pitchFamily="18" charset="0"/>
              <a:cs typeface="Times New Roman" pitchFamily="18" charset="0"/>
            </a:endParaRPr>
          </a:p>
          <a:p>
            <a:r>
              <a:rPr lang="en-IN" dirty="0">
                <a:latin typeface="Times New Roman" pitchFamily="18" charset="0"/>
                <a:cs typeface="Times New Roman" pitchFamily="18" charset="0"/>
              </a:rPr>
              <a:t>1. </a:t>
            </a:r>
            <a:r>
              <a:rPr lang="en-IN" dirty="0" err="1">
                <a:latin typeface="Times New Roman" pitchFamily="18" charset="0"/>
                <a:cs typeface="Times New Roman" pitchFamily="18" charset="0"/>
              </a:rPr>
              <a:t>Balaguruswamy</a:t>
            </a:r>
            <a:r>
              <a:rPr lang="en-IN" dirty="0">
                <a:latin typeface="Times New Roman" pitchFamily="18" charset="0"/>
                <a:cs typeface="Times New Roman" pitchFamily="18" charset="0"/>
              </a:rPr>
              <a:t>, </a:t>
            </a:r>
            <a:r>
              <a:rPr lang="en-IN" i="1" dirty="0">
                <a:latin typeface="Times New Roman" pitchFamily="18" charset="0"/>
                <a:cs typeface="Times New Roman" pitchFamily="18" charset="0"/>
              </a:rPr>
              <a:t>Java. </a:t>
            </a:r>
            <a:endParaRPr lang="en-IN" dirty="0">
              <a:latin typeface="Times New Roman" pitchFamily="18" charset="0"/>
              <a:cs typeface="Times New Roman" pitchFamily="18" charset="0"/>
            </a:endParaRPr>
          </a:p>
          <a:p>
            <a:r>
              <a:rPr lang="en-IN" dirty="0">
                <a:latin typeface="Times New Roman" pitchFamily="18" charset="0"/>
                <a:cs typeface="Times New Roman" pitchFamily="18" charset="0"/>
              </a:rPr>
              <a:t>2. A Primer, </a:t>
            </a:r>
            <a:r>
              <a:rPr lang="en-IN" dirty="0" err="1">
                <a:latin typeface="Times New Roman" pitchFamily="18" charset="0"/>
                <a:cs typeface="Times New Roman" pitchFamily="18" charset="0"/>
              </a:rPr>
              <a:t>E.Balaguruswamy</a:t>
            </a:r>
            <a:r>
              <a:rPr lang="en-IN" dirty="0">
                <a:latin typeface="Times New Roman" pitchFamily="18" charset="0"/>
                <a:cs typeface="Times New Roman" pitchFamily="18" charset="0"/>
              </a:rPr>
              <a:t>, </a:t>
            </a:r>
            <a:r>
              <a:rPr lang="en-IN" i="1" dirty="0">
                <a:latin typeface="Times New Roman" pitchFamily="18" charset="0"/>
                <a:cs typeface="Times New Roman" pitchFamily="18" charset="0"/>
              </a:rPr>
              <a:t>Programming with Java, </a:t>
            </a:r>
            <a:r>
              <a:rPr lang="en-IN" dirty="0">
                <a:latin typeface="Times New Roman" pitchFamily="18" charset="0"/>
                <a:cs typeface="Times New Roman" pitchFamily="18" charset="0"/>
              </a:rPr>
              <a:t>Tata McGraw Hill Companies </a:t>
            </a:r>
          </a:p>
          <a:p>
            <a:r>
              <a:rPr lang="en-US" dirty="0">
                <a:latin typeface="Times New Roman" pitchFamily="18" charset="0"/>
                <a:cs typeface="Times New Roman" pitchFamily="18" charset="0"/>
              </a:rPr>
              <a:t>3. John P. Flynt Thomson, </a:t>
            </a:r>
            <a:r>
              <a:rPr lang="en-US" i="1" dirty="0">
                <a:latin typeface="Times New Roman" pitchFamily="18" charset="0"/>
                <a:cs typeface="Times New Roman" pitchFamily="18" charset="0"/>
              </a:rPr>
              <a:t>Java Programming. </a:t>
            </a:r>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Video Lectures : </a:t>
            </a:r>
          </a:p>
          <a:p>
            <a:r>
              <a:rPr lang="en-IN" dirty="0">
                <a:latin typeface="Times New Roman" pitchFamily="18" charset="0"/>
                <a:cs typeface="Times New Roman" pitchFamily="18" charset="0"/>
                <a:hlinkClick r:id="rId2"/>
              </a:rPr>
              <a:t>https://www.youtube.com/watch?v</a:t>
            </a:r>
            <a:r>
              <a:rPr lang="en-IN">
                <a:latin typeface="Times New Roman" pitchFamily="18" charset="0"/>
                <a:cs typeface="Times New Roman" pitchFamily="18" charset="0"/>
                <a:hlinkClick r:id="rId2"/>
              </a:rPr>
              <a:t>=RcIsb9iFKH8</a:t>
            </a:r>
            <a:endParaRPr lang="en-IN" dirty="0">
              <a:latin typeface="Times New Roman" pitchFamily="18" charset="0"/>
              <a:cs typeface="Times New Roman" pitchFamily="18" charset="0"/>
            </a:endParaRPr>
          </a:p>
        </p:txBody>
      </p:sp>
      <p:grpSp>
        <p:nvGrpSpPr>
          <p:cNvPr id="2" name="Group 308"/>
          <p:cNvGrpSpPr>
            <a:grpSpLocks/>
          </p:cNvGrpSpPr>
          <p:nvPr/>
        </p:nvGrpSpPr>
        <p:grpSpPr bwMode="auto">
          <a:xfrm>
            <a:off x="9858375" y="2028825"/>
            <a:ext cx="1900238" cy="1893887"/>
            <a:chOff x="1259" y="3082"/>
            <a:chExt cx="884" cy="884"/>
          </a:xfrm>
        </p:grpSpPr>
        <p:sp>
          <p:nvSpPr>
            <p:cNvPr id="140597" name="Freeform 309"/>
            <p:cNvSpPr>
              <a:spLocks/>
            </p:cNvSpPr>
            <p:nvPr/>
          </p:nvSpPr>
          <p:spPr bwMode="auto">
            <a:xfrm flipH="1">
              <a:off x="1681" y="3824"/>
              <a:ext cx="110" cy="107"/>
            </a:xfrm>
            <a:custGeom>
              <a:avLst/>
              <a:gdLst/>
              <a:ahLst/>
              <a:cxnLst>
                <a:cxn ang="0">
                  <a:pos x="80" y="107"/>
                </a:cxn>
                <a:cxn ang="0">
                  <a:pos x="89" y="104"/>
                </a:cxn>
                <a:cxn ang="0">
                  <a:pos x="99" y="96"/>
                </a:cxn>
                <a:cxn ang="0">
                  <a:pos x="105" y="91"/>
                </a:cxn>
                <a:cxn ang="0">
                  <a:pos x="110" y="80"/>
                </a:cxn>
                <a:cxn ang="0">
                  <a:pos x="56" y="18"/>
                </a:cxn>
                <a:cxn ang="0">
                  <a:pos x="51" y="16"/>
                </a:cxn>
                <a:cxn ang="0">
                  <a:pos x="29" y="5"/>
                </a:cxn>
                <a:cxn ang="0">
                  <a:pos x="13" y="0"/>
                </a:cxn>
                <a:cxn ang="0">
                  <a:pos x="0" y="10"/>
                </a:cxn>
                <a:cxn ang="0">
                  <a:pos x="80" y="107"/>
                </a:cxn>
              </a:cxnLst>
              <a:rect l="0" t="0" r="r" b="b"/>
              <a:pathLst>
                <a:path w="110" h="107">
                  <a:moveTo>
                    <a:pt x="80" y="107"/>
                  </a:moveTo>
                  <a:lnTo>
                    <a:pt x="89" y="104"/>
                  </a:lnTo>
                  <a:lnTo>
                    <a:pt x="99" y="96"/>
                  </a:lnTo>
                  <a:lnTo>
                    <a:pt x="105" y="91"/>
                  </a:lnTo>
                  <a:lnTo>
                    <a:pt x="110" y="80"/>
                  </a:lnTo>
                  <a:lnTo>
                    <a:pt x="56" y="18"/>
                  </a:lnTo>
                  <a:lnTo>
                    <a:pt x="51" y="16"/>
                  </a:lnTo>
                  <a:lnTo>
                    <a:pt x="29" y="5"/>
                  </a:lnTo>
                  <a:lnTo>
                    <a:pt x="13" y="0"/>
                  </a:lnTo>
                  <a:lnTo>
                    <a:pt x="0" y="10"/>
                  </a:lnTo>
                  <a:lnTo>
                    <a:pt x="80" y="107"/>
                  </a:lnTo>
                  <a:close/>
                </a:path>
              </a:pathLst>
            </a:custGeom>
            <a:solidFill>
              <a:srgbClr val="000000"/>
            </a:solidFill>
            <a:ln w="9525">
              <a:noFill/>
              <a:round/>
              <a:headEnd/>
              <a:tailEnd/>
            </a:ln>
          </p:spPr>
          <p:txBody>
            <a:bodyPr/>
            <a:lstStyle/>
            <a:p>
              <a:endParaRPr lang="en-US"/>
            </a:p>
          </p:txBody>
        </p:sp>
        <p:sp>
          <p:nvSpPr>
            <p:cNvPr id="140598" name="Freeform 310"/>
            <p:cNvSpPr>
              <a:spLocks/>
            </p:cNvSpPr>
            <p:nvPr/>
          </p:nvSpPr>
          <p:spPr bwMode="auto">
            <a:xfrm flipH="1">
              <a:off x="1786" y="3762"/>
              <a:ext cx="35" cy="88"/>
            </a:xfrm>
            <a:custGeom>
              <a:avLst/>
              <a:gdLst/>
              <a:ahLst/>
              <a:cxnLst>
                <a:cxn ang="0">
                  <a:pos x="24" y="88"/>
                </a:cxn>
                <a:cxn ang="0">
                  <a:pos x="29" y="88"/>
                </a:cxn>
                <a:cxn ang="0">
                  <a:pos x="32" y="88"/>
                </a:cxn>
                <a:cxn ang="0">
                  <a:pos x="32" y="86"/>
                </a:cxn>
                <a:cxn ang="0">
                  <a:pos x="35" y="83"/>
                </a:cxn>
                <a:cxn ang="0">
                  <a:pos x="35" y="64"/>
                </a:cxn>
                <a:cxn ang="0">
                  <a:pos x="29" y="40"/>
                </a:cxn>
                <a:cxn ang="0">
                  <a:pos x="13" y="16"/>
                </a:cxn>
                <a:cxn ang="0">
                  <a:pos x="0" y="0"/>
                </a:cxn>
                <a:cxn ang="0">
                  <a:pos x="2" y="13"/>
                </a:cxn>
                <a:cxn ang="0">
                  <a:pos x="8" y="43"/>
                </a:cxn>
                <a:cxn ang="0">
                  <a:pos x="16" y="75"/>
                </a:cxn>
                <a:cxn ang="0">
                  <a:pos x="24" y="88"/>
                </a:cxn>
              </a:cxnLst>
              <a:rect l="0" t="0" r="r" b="b"/>
              <a:pathLst>
                <a:path w="35" h="88">
                  <a:moveTo>
                    <a:pt x="24" y="88"/>
                  </a:moveTo>
                  <a:lnTo>
                    <a:pt x="29" y="88"/>
                  </a:lnTo>
                  <a:lnTo>
                    <a:pt x="32" y="88"/>
                  </a:lnTo>
                  <a:lnTo>
                    <a:pt x="32" y="86"/>
                  </a:lnTo>
                  <a:lnTo>
                    <a:pt x="35" y="83"/>
                  </a:lnTo>
                  <a:lnTo>
                    <a:pt x="35" y="64"/>
                  </a:lnTo>
                  <a:lnTo>
                    <a:pt x="29" y="40"/>
                  </a:lnTo>
                  <a:lnTo>
                    <a:pt x="13" y="16"/>
                  </a:lnTo>
                  <a:lnTo>
                    <a:pt x="0" y="0"/>
                  </a:lnTo>
                  <a:lnTo>
                    <a:pt x="2" y="13"/>
                  </a:lnTo>
                  <a:lnTo>
                    <a:pt x="8" y="43"/>
                  </a:lnTo>
                  <a:lnTo>
                    <a:pt x="16" y="75"/>
                  </a:lnTo>
                  <a:lnTo>
                    <a:pt x="24" y="88"/>
                  </a:lnTo>
                  <a:close/>
                </a:path>
              </a:pathLst>
            </a:custGeom>
            <a:solidFill>
              <a:srgbClr val="000000"/>
            </a:solidFill>
            <a:ln w="9525">
              <a:noFill/>
              <a:round/>
              <a:headEnd/>
              <a:tailEnd/>
            </a:ln>
          </p:spPr>
          <p:txBody>
            <a:bodyPr/>
            <a:lstStyle/>
            <a:p>
              <a:endParaRPr lang="en-US"/>
            </a:p>
          </p:txBody>
        </p:sp>
        <p:sp>
          <p:nvSpPr>
            <p:cNvPr id="140599" name="Freeform 311"/>
            <p:cNvSpPr>
              <a:spLocks/>
            </p:cNvSpPr>
            <p:nvPr/>
          </p:nvSpPr>
          <p:spPr bwMode="auto">
            <a:xfrm flipH="1">
              <a:off x="1587" y="3719"/>
              <a:ext cx="54" cy="29"/>
            </a:xfrm>
            <a:custGeom>
              <a:avLst/>
              <a:gdLst/>
              <a:ahLst/>
              <a:cxnLst>
                <a:cxn ang="0">
                  <a:pos x="54" y="19"/>
                </a:cxn>
                <a:cxn ang="0">
                  <a:pos x="48" y="13"/>
                </a:cxn>
                <a:cxn ang="0">
                  <a:pos x="43" y="11"/>
                </a:cxn>
                <a:cxn ang="0">
                  <a:pos x="40" y="5"/>
                </a:cxn>
                <a:cxn ang="0">
                  <a:pos x="32" y="2"/>
                </a:cxn>
                <a:cxn ang="0">
                  <a:pos x="21" y="0"/>
                </a:cxn>
                <a:cxn ang="0">
                  <a:pos x="13" y="0"/>
                </a:cxn>
                <a:cxn ang="0">
                  <a:pos x="5" y="0"/>
                </a:cxn>
                <a:cxn ang="0">
                  <a:pos x="0" y="2"/>
                </a:cxn>
                <a:cxn ang="0">
                  <a:pos x="27" y="29"/>
                </a:cxn>
                <a:cxn ang="0">
                  <a:pos x="32" y="27"/>
                </a:cxn>
                <a:cxn ang="0">
                  <a:pos x="40" y="21"/>
                </a:cxn>
                <a:cxn ang="0">
                  <a:pos x="45" y="19"/>
                </a:cxn>
                <a:cxn ang="0">
                  <a:pos x="54" y="19"/>
                </a:cxn>
              </a:cxnLst>
              <a:rect l="0" t="0" r="r" b="b"/>
              <a:pathLst>
                <a:path w="54" h="29">
                  <a:moveTo>
                    <a:pt x="54" y="19"/>
                  </a:moveTo>
                  <a:lnTo>
                    <a:pt x="48" y="13"/>
                  </a:lnTo>
                  <a:lnTo>
                    <a:pt x="43" y="11"/>
                  </a:lnTo>
                  <a:lnTo>
                    <a:pt x="40" y="5"/>
                  </a:lnTo>
                  <a:lnTo>
                    <a:pt x="32" y="2"/>
                  </a:lnTo>
                  <a:lnTo>
                    <a:pt x="21" y="0"/>
                  </a:lnTo>
                  <a:lnTo>
                    <a:pt x="13" y="0"/>
                  </a:lnTo>
                  <a:lnTo>
                    <a:pt x="5" y="0"/>
                  </a:lnTo>
                  <a:lnTo>
                    <a:pt x="0" y="2"/>
                  </a:lnTo>
                  <a:lnTo>
                    <a:pt x="27" y="29"/>
                  </a:lnTo>
                  <a:lnTo>
                    <a:pt x="32" y="27"/>
                  </a:lnTo>
                  <a:lnTo>
                    <a:pt x="40" y="21"/>
                  </a:lnTo>
                  <a:lnTo>
                    <a:pt x="45" y="19"/>
                  </a:lnTo>
                  <a:lnTo>
                    <a:pt x="54" y="19"/>
                  </a:lnTo>
                  <a:close/>
                </a:path>
              </a:pathLst>
            </a:custGeom>
            <a:solidFill>
              <a:srgbClr val="000000"/>
            </a:solidFill>
            <a:ln w="9525">
              <a:noFill/>
              <a:round/>
              <a:headEnd/>
              <a:tailEnd/>
            </a:ln>
          </p:spPr>
          <p:txBody>
            <a:bodyPr/>
            <a:lstStyle/>
            <a:p>
              <a:endParaRPr lang="en-US"/>
            </a:p>
          </p:txBody>
        </p:sp>
        <p:sp>
          <p:nvSpPr>
            <p:cNvPr id="140600" name="Freeform 312"/>
            <p:cNvSpPr>
              <a:spLocks/>
            </p:cNvSpPr>
            <p:nvPr/>
          </p:nvSpPr>
          <p:spPr bwMode="auto">
            <a:xfrm flipH="1">
              <a:off x="1259" y="3082"/>
              <a:ext cx="884" cy="884"/>
            </a:xfrm>
            <a:custGeom>
              <a:avLst/>
              <a:gdLst/>
              <a:ahLst/>
              <a:cxnLst>
                <a:cxn ang="0">
                  <a:pos x="441" y="408"/>
                </a:cxn>
                <a:cxn ang="0">
                  <a:pos x="403" y="392"/>
                </a:cxn>
                <a:cxn ang="0">
                  <a:pos x="355" y="355"/>
                </a:cxn>
                <a:cxn ang="0">
                  <a:pos x="320" y="333"/>
                </a:cxn>
                <a:cxn ang="0">
                  <a:pos x="285" y="242"/>
                </a:cxn>
                <a:cxn ang="0">
                  <a:pos x="271" y="212"/>
                </a:cxn>
                <a:cxn ang="0">
                  <a:pos x="261" y="159"/>
                </a:cxn>
                <a:cxn ang="0">
                  <a:pos x="261" y="137"/>
                </a:cxn>
                <a:cxn ang="0">
                  <a:pos x="177" y="102"/>
                </a:cxn>
                <a:cxn ang="0">
                  <a:pos x="215" y="86"/>
                </a:cxn>
                <a:cxn ang="0">
                  <a:pos x="279" y="62"/>
                </a:cxn>
                <a:cxn ang="0">
                  <a:pos x="339" y="40"/>
                </a:cxn>
                <a:cxn ang="0">
                  <a:pos x="390" y="27"/>
                </a:cxn>
                <a:cxn ang="0">
                  <a:pos x="591" y="83"/>
                </a:cxn>
                <a:cxn ang="0">
                  <a:pos x="572" y="97"/>
                </a:cxn>
                <a:cxn ang="0">
                  <a:pos x="583" y="212"/>
                </a:cxn>
                <a:cxn ang="0">
                  <a:pos x="583" y="236"/>
                </a:cxn>
                <a:cxn ang="0">
                  <a:pos x="556" y="234"/>
                </a:cxn>
                <a:cxn ang="0">
                  <a:pos x="508" y="161"/>
                </a:cxn>
                <a:cxn ang="0">
                  <a:pos x="508" y="210"/>
                </a:cxn>
                <a:cxn ang="0">
                  <a:pos x="521" y="236"/>
                </a:cxn>
                <a:cxn ang="0">
                  <a:pos x="511" y="269"/>
                </a:cxn>
                <a:cxn ang="0">
                  <a:pos x="500" y="304"/>
                </a:cxn>
                <a:cxn ang="0">
                  <a:pos x="476" y="339"/>
                </a:cxn>
                <a:cxn ang="0">
                  <a:pos x="441" y="344"/>
                </a:cxn>
                <a:cxn ang="0">
                  <a:pos x="446" y="360"/>
                </a:cxn>
                <a:cxn ang="0">
                  <a:pos x="468" y="376"/>
                </a:cxn>
                <a:cxn ang="0">
                  <a:pos x="508" y="411"/>
                </a:cxn>
                <a:cxn ang="0">
                  <a:pos x="545" y="433"/>
                </a:cxn>
                <a:cxn ang="0">
                  <a:pos x="564" y="438"/>
                </a:cxn>
                <a:cxn ang="0">
                  <a:pos x="615" y="446"/>
                </a:cxn>
                <a:cxn ang="0">
                  <a:pos x="666" y="511"/>
                </a:cxn>
                <a:cxn ang="0">
                  <a:pos x="707" y="578"/>
                </a:cxn>
                <a:cxn ang="0">
                  <a:pos x="782" y="669"/>
                </a:cxn>
                <a:cxn ang="0">
                  <a:pos x="814" y="747"/>
                </a:cxn>
                <a:cxn ang="0">
                  <a:pos x="777" y="846"/>
                </a:cxn>
                <a:cxn ang="0">
                  <a:pos x="884" y="884"/>
                </a:cxn>
                <a:cxn ang="0">
                  <a:pos x="86" y="884"/>
                </a:cxn>
                <a:cxn ang="0">
                  <a:pos x="89" y="578"/>
                </a:cxn>
                <a:cxn ang="0">
                  <a:pos x="124" y="451"/>
                </a:cxn>
                <a:cxn ang="0">
                  <a:pos x="191" y="438"/>
                </a:cxn>
                <a:cxn ang="0">
                  <a:pos x="242" y="416"/>
                </a:cxn>
                <a:cxn ang="0">
                  <a:pos x="296" y="360"/>
                </a:cxn>
                <a:cxn ang="0">
                  <a:pos x="309" y="336"/>
                </a:cxn>
                <a:cxn ang="0">
                  <a:pos x="371" y="408"/>
                </a:cxn>
                <a:cxn ang="0">
                  <a:pos x="427" y="484"/>
                </a:cxn>
                <a:cxn ang="0">
                  <a:pos x="519" y="661"/>
                </a:cxn>
                <a:cxn ang="0">
                  <a:pos x="500" y="532"/>
                </a:cxn>
                <a:cxn ang="0">
                  <a:pos x="457" y="390"/>
                </a:cxn>
              </a:cxnLst>
              <a:rect l="0" t="0" r="r" b="b"/>
              <a:pathLst>
                <a:path w="884" h="884">
                  <a:moveTo>
                    <a:pt x="441" y="368"/>
                  </a:moveTo>
                  <a:lnTo>
                    <a:pt x="441" y="382"/>
                  </a:lnTo>
                  <a:lnTo>
                    <a:pt x="441" y="395"/>
                  </a:lnTo>
                  <a:lnTo>
                    <a:pt x="441" y="408"/>
                  </a:lnTo>
                  <a:lnTo>
                    <a:pt x="435" y="422"/>
                  </a:lnTo>
                  <a:lnTo>
                    <a:pt x="425" y="411"/>
                  </a:lnTo>
                  <a:lnTo>
                    <a:pt x="414" y="400"/>
                  </a:lnTo>
                  <a:lnTo>
                    <a:pt x="403" y="392"/>
                  </a:lnTo>
                  <a:lnTo>
                    <a:pt x="392" y="382"/>
                  </a:lnTo>
                  <a:lnTo>
                    <a:pt x="379" y="373"/>
                  </a:lnTo>
                  <a:lnTo>
                    <a:pt x="368" y="363"/>
                  </a:lnTo>
                  <a:lnTo>
                    <a:pt x="355" y="355"/>
                  </a:lnTo>
                  <a:lnTo>
                    <a:pt x="341" y="349"/>
                  </a:lnTo>
                  <a:lnTo>
                    <a:pt x="336" y="344"/>
                  </a:lnTo>
                  <a:lnTo>
                    <a:pt x="328" y="339"/>
                  </a:lnTo>
                  <a:lnTo>
                    <a:pt x="320" y="333"/>
                  </a:lnTo>
                  <a:lnTo>
                    <a:pt x="314" y="328"/>
                  </a:lnTo>
                  <a:lnTo>
                    <a:pt x="314" y="296"/>
                  </a:lnTo>
                  <a:lnTo>
                    <a:pt x="301" y="266"/>
                  </a:lnTo>
                  <a:lnTo>
                    <a:pt x="285" y="242"/>
                  </a:lnTo>
                  <a:lnTo>
                    <a:pt x="271" y="215"/>
                  </a:lnTo>
                  <a:lnTo>
                    <a:pt x="271" y="215"/>
                  </a:lnTo>
                  <a:lnTo>
                    <a:pt x="271" y="212"/>
                  </a:lnTo>
                  <a:lnTo>
                    <a:pt x="271" y="212"/>
                  </a:lnTo>
                  <a:lnTo>
                    <a:pt x="271" y="212"/>
                  </a:lnTo>
                  <a:lnTo>
                    <a:pt x="261" y="196"/>
                  </a:lnTo>
                  <a:lnTo>
                    <a:pt x="261" y="177"/>
                  </a:lnTo>
                  <a:lnTo>
                    <a:pt x="261" y="159"/>
                  </a:lnTo>
                  <a:lnTo>
                    <a:pt x="263" y="140"/>
                  </a:lnTo>
                  <a:lnTo>
                    <a:pt x="263" y="140"/>
                  </a:lnTo>
                  <a:lnTo>
                    <a:pt x="263" y="137"/>
                  </a:lnTo>
                  <a:lnTo>
                    <a:pt x="261" y="137"/>
                  </a:lnTo>
                  <a:lnTo>
                    <a:pt x="261" y="134"/>
                  </a:lnTo>
                  <a:lnTo>
                    <a:pt x="180" y="107"/>
                  </a:lnTo>
                  <a:lnTo>
                    <a:pt x="177" y="105"/>
                  </a:lnTo>
                  <a:lnTo>
                    <a:pt x="177" y="102"/>
                  </a:lnTo>
                  <a:lnTo>
                    <a:pt x="177" y="102"/>
                  </a:lnTo>
                  <a:lnTo>
                    <a:pt x="180" y="99"/>
                  </a:lnTo>
                  <a:lnTo>
                    <a:pt x="196" y="94"/>
                  </a:lnTo>
                  <a:lnTo>
                    <a:pt x="215" y="86"/>
                  </a:lnTo>
                  <a:lnTo>
                    <a:pt x="231" y="81"/>
                  </a:lnTo>
                  <a:lnTo>
                    <a:pt x="247" y="75"/>
                  </a:lnTo>
                  <a:lnTo>
                    <a:pt x="263" y="70"/>
                  </a:lnTo>
                  <a:lnTo>
                    <a:pt x="279" y="62"/>
                  </a:lnTo>
                  <a:lnTo>
                    <a:pt x="296" y="56"/>
                  </a:lnTo>
                  <a:lnTo>
                    <a:pt x="312" y="51"/>
                  </a:lnTo>
                  <a:lnTo>
                    <a:pt x="325" y="46"/>
                  </a:lnTo>
                  <a:lnTo>
                    <a:pt x="339" y="40"/>
                  </a:lnTo>
                  <a:lnTo>
                    <a:pt x="352" y="35"/>
                  </a:lnTo>
                  <a:lnTo>
                    <a:pt x="365" y="30"/>
                  </a:lnTo>
                  <a:lnTo>
                    <a:pt x="376" y="27"/>
                  </a:lnTo>
                  <a:lnTo>
                    <a:pt x="390" y="27"/>
                  </a:lnTo>
                  <a:lnTo>
                    <a:pt x="400" y="27"/>
                  </a:lnTo>
                  <a:lnTo>
                    <a:pt x="414" y="32"/>
                  </a:lnTo>
                  <a:lnTo>
                    <a:pt x="591" y="83"/>
                  </a:lnTo>
                  <a:lnTo>
                    <a:pt x="591" y="83"/>
                  </a:lnTo>
                  <a:lnTo>
                    <a:pt x="591" y="86"/>
                  </a:lnTo>
                  <a:lnTo>
                    <a:pt x="591" y="86"/>
                  </a:lnTo>
                  <a:lnTo>
                    <a:pt x="591" y="89"/>
                  </a:lnTo>
                  <a:lnTo>
                    <a:pt x="572" y="97"/>
                  </a:lnTo>
                  <a:lnTo>
                    <a:pt x="575" y="126"/>
                  </a:lnTo>
                  <a:lnTo>
                    <a:pt x="578" y="153"/>
                  </a:lnTo>
                  <a:lnTo>
                    <a:pt x="580" y="183"/>
                  </a:lnTo>
                  <a:lnTo>
                    <a:pt x="583" y="212"/>
                  </a:lnTo>
                  <a:lnTo>
                    <a:pt x="583" y="220"/>
                  </a:lnTo>
                  <a:lnTo>
                    <a:pt x="583" y="226"/>
                  </a:lnTo>
                  <a:lnTo>
                    <a:pt x="583" y="231"/>
                  </a:lnTo>
                  <a:lnTo>
                    <a:pt x="583" y="236"/>
                  </a:lnTo>
                  <a:lnTo>
                    <a:pt x="578" y="236"/>
                  </a:lnTo>
                  <a:lnTo>
                    <a:pt x="570" y="236"/>
                  </a:lnTo>
                  <a:lnTo>
                    <a:pt x="559" y="236"/>
                  </a:lnTo>
                  <a:lnTo>
                    <a:pt x="556" y="234"/>
                  </a:lnTo>
                  <a:lnTo>
                    <a:pt x="543" y="110"/>
                  </a:lnTo>
                  <a:lnTo>
                    <a:pt x="502" y="124"/>
                  </a:lnTo>
                  <a:lnTo>
                    <a:pt x="502" y="142"/>
                  </a:lnTo>
                  <a:lnTo>
                    <a:pt x="508" y="161"/>
                  </a:lnTo>
                  <a:lnTo>
                    <a:pt x="508" y="183"/>
                  </a:lnTo>
                  <a:lnTo>
                    <a:pt x="502" y="199"/>
                  </a:lnTo>
                  <a:lnTo>
                    <a:pt x="502" y="204"/>
                  </a:lnTo>
                  <a:lnTo>
                    <a:pt x="508" y="210"/>
                  </a:lnTo>
                  <a:lnTo>
                    <a:pt x="511" y="215"/>
                  </a:lnTo>
                  <a:lnTo>
                    <a:pt x="513" y="220"/>
                  </a:lnTo>
                  <a:lnTo>
                    <a:pt x="519" y="228"/>
                  </a:lnTo>
                  <a:lnTo>
                    <a:pt x="521" y="236"/>
                  </a:lnTo>
                  <a:lnTo>
                    <a:pt x="524" y="247"/>
                  </a:lnTo>
                  <a:lnTo>
                    <a:pt x="521" y="255"/>
                  </a:lnTo>
                  <a:lnTo>
                    <a:pt x="511" y="261"/>
                  </a:lnTo>
                  <a:lnTo>
                    <a:pt x="511" y="269"/>
                  </a:lnTo>
                  <a:lnTo>
                    <a:pt x="508" y="277"/>
                  </a:lnTo>
                  <a:lnTo>
                    <a:pt x="502" y="282"/>
                  </a:lnTo>
                  <a:lnTo>
                    <a:pt x="502" y="290"/>
                  </a:lnTo>
                  <a:lnTo>
                    <a:pt x="500" y="304"/>
                  </a:lnTo>
                  <a:lnTo>
                    <a:pt x="500" y="314"/>
                  </a:lnTo>
                  <a:lnTo>
                    <a:pt x="494" y="325"/>
                  </a:lnTo>
                  <a:lnTo>
                    <a:pt x="486" y="336"/>
                  </a:lnTo>
                  <a:lnTo>
                    <a:pt x="476" y="339"/>
                  </a:lnTo>
                  <a:lnTo>
                    <a:pt x="468" y="341"/>
                  </a:lnTo>
                  <a:lnTo>
                    <a:pt x="457" y="344"/>
                  </a:lnTo>
                  <a:lnTo>
                    <a:pt x="443" y="344"/>
                  </a:lnTo>
                  <a:lnTo>
                    <a:pt x="441" y="344"/>
                  </a:lnTo>
                  <a:lnTo>
                    <a:pt x="441" y="349"/>
                  </a:lnTo>
                  <a:lnTo>
                    <a:pt x="441" y="352"/>
                  </a:lnTo>
                  <a:lnTo>
                    <a:pt x="441" y="357"/>
                  </a:lnTo>
                  <a:lnTo>
                    <a:pt x="446" y="360"/>
                  </a:lnTo>
                  <a:lnTo>
                    <a:pt x="451" y="360"/>
                  </a:lnTo>
                  <a:lnTo>
                    <a:pt x="454" y="363"/>
                  </a:lnTo>
                  <a:lnTo>
                    <a:pt x="459" y="365"/>
                  </a:lnTo>
                  <a:lnTo>
                    <a:pt x="468" y="376"/>
                  </a:lnTo>
                  <a:lnTo>
                    <a:pt x="476" y="387"/>
                  </a:lnTo>
                  <a:lnTo>
                    <a:pt x="484" y="395"/>
                  </a:lnTo>
                  <a:lnTo>
                    <a:pt x="494" y="403"/>
                  </a:lnTo>
                  <a:lnTo>
                    <a:pt x="508" y="411"/>
                  </a:lnTo>
                  <a:lnTo>
                    <a:pt x="519" y="419"/>
                  </a:lnTo>
                  <a:lnTo>
                    <a:pt x="529" y="425"/>
                  </a:lnTo>
                  <a:lnTo>
                    <a:pt x="543" y="433"/>
                  </a:lnTo>
                  <a:lnTo>
                    <a:pt x="545" y="433"/>
                  </a:lnTo>
                  <a:lnTo>
                    <a:pt x="551" y="435"/>
                  </a:lnTo>
                  <a:lnTo>
                    <a:pt x="556" y="438"/>
                  </a:lnTo>
                  <a:lnTo>
                    <a:pt x="559" y="438"/>
                  </a:lnTo>
                  <a:lnTo>
                    <a:pt x="564" y="438"/>
                  </a:lnTo>
                  <a:lnTo>
                    <a:pt x="578" y="438"/>
                  </a:lnTo>
                  <a:lnTo>
                    <a:pt x="588" y="438"/>
                  </a:lnTo>
                  <a:lnTo>
                    <a:pt x="594" y="441"/>
                  </a:lnTo>
                  <a:lnTo>
                    <a:pt x="615" y="446"/>
                  </a:lnTo>
                  <a:lnTo>
                    <a:pt x="631" y="462"/>
                  </a:lnTo>
                  <a:lnTo>
                    <a:pt x="645" y="481"/>
                  </a:lnTo>
                  <a:lnTo>
                    <a:pt x="658" y="500"/>
                  </a:lnTo>
                  <a:lnTo>
                    <a:pt x="666" y="511"/>
                  </a:lnTo>
                  <a:lnTo>
                    <a:pt x="677" y="521"/>
                  </a:lnTo>
                  <a:lnTo>
                    <a:pt x="685" y="532"/>
                  </a:lnTo>
                  <a:lnTo>
                    <a:pt x="693" y="543"/>
                  </a:lnTo>
                  <a:lnTo>
                    <a:pt x="707" y="578"/>
                  </a:lnTo>
                  <a:lnTo>
                    <a:pt x="723" y="607"/>
                  </a:lnTo>
                  <a:lnTo>
                    <a:pt x="742" y="631"/>
                  </a:lnTo>
                  <a:lnTo>
                    <a:pt x="768" y="658"/>
                  </a:lnTo>
                  <a:lnTo>
                    <a:pt x="782" y="669"/>
                  </a:lnTo>
                  <a:lnTo>
                    <a:pt x="795" y="682"/>
                  </a:lnTo>
                  <a:lnTo>
                    <a:pt x="806" y="696"/>
                  </a:lnTo>
                  <a:lnTo>
                    <a:pt x="814" y="717"/>
                  </a:lnTo>
                  <a:lnTo>
                    <a:pt x="814" y="747"/>
                  </a:lnTo>
                  <a:lnTo>
                    <a:pt x="811" y="774"/>
                  </a:lnTo>
                  <a:lnTo>
                    <a:pt x="803" y="803"/>
                  </a:lnTo>
                  <a:lnTo>
                    <a:pt x="787" y="830"/>
                  </a:lnTo>
                  <a:lnTo>
                    <a:pt x="777" y="846"/>
                  </a:lnTo>
                  <a:lnTo>
                    <a:pt x="760" y="860"/>
                  </a:lnTo>
                  <a:lnTo>
                    <a:pt x="747" y="871"/>
                  </a:lnTo>
                  <a:lnTo>
                    <a:pt x="731" y="881"/>
                  </a:lnTo>
                  <a:lnTo>
                    <a:pt x="884" y="884"/>
                  </a:lnTo>
                  <a:lnTo>
                    <a:pt x="884" y="0"/>
                  </a:lnTo>
                  <a:lnTo>
                    <a:pt x="0" y="0"/>
                  </a:lnTo>
                  <a:lnTo>
                    <a:pt x="0" y="884"/>
                  </a:lnTo>
                  <a:lnTo>
                    <a:pt x="86" y="884"/>
                  </a:lnTo>
                  <a:lnTo>
                    <a:pt x="81" y="806"/>
                  </a:lnTo>
                  <a:lnTo>
                    <a:pt x="81" y="731"/>
                  </a:lnTo>
                  <a:lnTo>
                    <a:pt x="81" y="656"/>
                  </a:lnTo>
                  <a:lnTo>
                    <a:pt x="89" y="578"/>
                  </a:lnTo>
                  <a:lnTo>
                    <a:pt x="89" y="554"/>
                  </a:lnTo>
                  <a:lnTo>
                    <a:pt x="94" y="516"/>
                  </a:lnTo>
                  <a:lnTo>
                    <a:pt x="102" y="478"/>
                  </a:lnTo>
                  <a:lnTo>
                    <a:pt x="124" y="451"/>
                  </a:lnTo>
                  <a:lnTo>
                    <a:pt x="148" y="443"/>
                  </a:lnTo>
                  <a:lnTo>
                    <a:pt x="167" y="441"/>
                  </a:lnTo>
                  <a:lnTo>
                    <a:pt x="177" y="441"/>
                  </a:lnTo>
                  <a:lnTo>
                    <a:pt x="191" y="438"/>
                  </a:lnTo>
                  <a:lnTo>
                    <a:pt x="204" y="433"/>
                  </a:lnTo>
                  <a:lnTo>
                    <a:pt x="218" y="427"/>
                  </a:lnTo>
                  <a:lnTo>
                    <a:pt x="231" y="422"/>
                  </a:lnTo>
                  <a:lnTo>
                    <a:pt x="242" y="416"/>
                  </a:lnTo>
                  <a:lnTo>
                    <a:pt x="253" y="408"/>
                  </a:lnTo>
                  <a:lnTo>
                    <a:pt x="269" y="392"/>
                  </a:lnTo>
                  <a:lnTo>
                    <a:pt x="282" y="376"/>
                  </a:lnTo>
                  <a:lnTo>
                    <a:pt x="296" y="360"/>
                  </a:lnTo>
                  <a:lnTo>
                    <a:pt x="304" y="341"/>
                  </a:lnTo>
                  <a:lnTo>
                    <a:pt x="306" y="339"/>
                  </a:lnTo>
                  <a:lnTo>
                    <a:pt x="309" y="336"/>
                  </a:lnTo>
                  <a:lnTo>
                    <a:pt x="309" y="336"/>
                  </a:lnTo>
                  <a:lnTo>
                    <a:pt x="312" y="336"/>
                  </a:lnTo>
                  <a:lnTo>
                    <a:pt x="336" y="360"/>
                  </a:lnTo>
                  <a:lnTo>
                    <a:pt x="355" y="382"/>
                  </a:lnTo>
                  <a:lnTo>
                    <a:pt x="371" y="408"/>
                  </a:lnTo>
                  <a:lnTo>
                    <a:pt x="390" y="435"/>
                  </a:lnTo>
                  <a:lnTo>
                    <a:pt x="403" y="449"/>
                  </a:lnTo>
                  <a:lnTo>
                    <a:pt x="414" y="465"/>
                  </a:lnTo>
                  <a:lnTo>
                    <a:pt x="427" y="484"/>
                  </a:lnTo>
                  <a:lnTo>
                    <a:pt x="438" y="502"/>
                  </a:lnTo>
                  <a:lnTo>
                    <a:pt x="519" y="661"/>
                  </a:lnTo>
                  <a:lnTo>
                    <a:pt x="519" y="661"/>
                  </a:lnTo>
                  <a:lnTo>
                    <a:pt x="519" y="661"/>
                  </a:lnTo>
                  <a:lnTo>
                    <a:pt x="519" y="661"/>
                  </a:lnTo>
                  <a:lnTo>
                    <a:pt x="519" y="661"/>
                  </a:lnTo>
                  <a:lnTo>
                    <a:pt x="511" y="596"/>
                  </a:lnTo>
                  <a:lnTo>
                    <a:pt x="500" y="532"/>
                  </a:lnTo>
                  <a:lnTo>
                    <a:pt x="481" y="468"/>
                  </a:lnTo>
                  <a:lnTo>
                    <a:pt x="465" y="411"/>
                  </a:lnTo>
                  <a:lnTo>
                    <a:pt x="462" y="406"/>
                  </a:lnTo>
                  <a:lnTo>
                    <a:pt x="457" y="390"/>
                  </a:lnTo>
                  <a:lnTo>
                    <a:pt x="449" y="373"/>
                  </a:lnTo>
                  <a:lnTo>
                    <a:pt x="441" y="368"/>
                  </a:lnTo>
                  <a:close/>
                </a:path>
              </a:pathLst>
            </a:custGeom>
            <a:solidFill>
              <a:srgbClr val="000000"/>
            </a:solidFill>
            <a:ln w="9525">
              <a:noFill/>
              <a:round/>
              <a:headEnd/>
              <a:tailEnd/>
            </a:ln>
          </p:spPr>
          <p:txBody>
            <a:bodyPr/>
            <a:lstStyle/>
            <a:p>
              <a:endParaRPr lang="en-US"/>
            </a:p>
          </p:txBody>
        </p:sp>
        <p:sp>
          <p:nvSpPr>
            <p:cNvPr id="140601" name="Freeform 313"/>
            <p:cNvSpPr>
              <a:spLocks/>
            </p:cNvSpPr>
            <p:nvPr/>
          </p:nvSpPr>
          <p:spPr bwMode="auto">
            <a:xfrm flipH="1">
              <a:off x="1517" y="3611"/>
              <a:ext cx="102" cy="78"/>
            </a:xfrm>
            <a:custGeom>
              <a:avLst/>
              <a:gdLst/>
              <a:ahLst/>
              <a:cxnLst>
                <a:cxn ang="0">
                  <a:pos x="102" y="78"/>
                </a:cxn>
                <a:cxn ang="0">
                  <a:pos x="30" y="0"/>
                </a:cxn>
                <a:cxn ang="0">
                  <a:pos x="21" y="0"/>
                </a:cxn>
                <a:cxn ang="0">
                  <a:pos x="8" y="6"/>
                </a:cxn>
                <a:cxn ang="0">
                  <a:pos x="3" y="14"/>
                </a:cxn>
                <a:cxn ang="0">
                  <a:pos x="0" y="25"/>
                </a:cxn>
                <a:cxn ang="0">
                  <a:pos x="43" y="78"/>
                </a:cxn>
                <a:cxn ang="0">
                  <a:pos x="56" y="73"/>
                </a:cxn>
                <a:cxn ang="0">
                  <a:pos x="75" y="70"/>
                </a:cxn>
                <a:cxn ang="0">
                  <a:pos x="89" y="73"/>
                </a:cxn>
                <a:cxn ang="0">
                  <a:pos x="102" y="78"/>
                </a:cxn>
              </a:cxnLst>
              <a:rect l="0" t="0" r="r" b="b"/>
              <a:pathLst>
                <a:path w="102" h="78">
                  <a:moveTo>
                    <a:pt x="102" y="78"/>
                  </a:moveTo>
                  <a:lnTo>
                    <a:pt x="30" y="0"/>
                  </a:lnTo>
                  <a:lnTo>
                    <a:pt x="21" y="0"/>
                  </a:lnTo>
                  <a:lnTo>
                    <a:pt x="8" y="6"/>
                  </a:lnTo>
                  <a:lnTo>
                    <a:pt x="3" y="14"/>
                  </a:lnTo>
                  <a:lnTo>
                    <a:pt x="0" y="25"/>
                  </a:lnTo>
                  <a:lnTo>
                    <a:pt x="43" y="78"/>
                  </a:lnTo>
                  <a:lnTo>
                    <a:pt x="56" y="73"/>
                  </a:lnTo>
                  <a:lnTo>
                    <a:pt x="75" y="70"/>
                  </a:lnTo>
                  <a:lnTo>
                    <a:pt x="89" y="73"/>
                  </a:lnTo>
                  <a:lnTo>
                    <a:pt x="102" y="78"/>
                  </a:lnTo>
                  <a:close/>
                </a:path>
              </a:pathLst>
            </a:custGeom>
            <a:solidFill>
              <a:srgbClr val="000000"/>
            </a:solidFill>
            <a:ln w="9525">
              <a:noFill/>
              <a:round/>
              <a:headEnd/>
              <a:tailEnd/>
            </a:ln>
          </p:spPr>
          <p:txBody>
            <a:bodyPr/>
            <a:lstStyle/>
            <a:p>
              <a:endParaRPr lang="en-US"/>
            </a:p>
          </p:txBody>
        </p:sp>
      </p:grpSp>
    </p:spTree>
    <p:extLst>
      <p:ext uri="{BB962C8B-B14F-4D97-AF65-F5344CB8AC3E}">
        <p14:creationId xmlns:p14="http://schemas.microsoft.com/office/powerpoint/2010/main" val="580694302"/>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22054" y="94089"/>
            <a:ext cx="410563" cy="1538089"/>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1346502234"/>
                </p:ext>
              </p:extLst>
            </p:nvPr>
          </p:nvGraphicFramePr>
          <p:xfrm>
            <a:off x="100850" y="246475"/>
            <a:ext cx="183878" cy="183422"/>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0" name="Picture 2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850" y="246475"/>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265650126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519</TotalTime>
  <Words>1321</Words>
  <Application>Microsoft Office PowerPoint</Application>
  <PresentationFormat>Widescreen</PresentationFormat>
  <Paragraphs>192</Paragraphs>
  <Slides>20</Slides>
  <Notes>2</Notes>
  <HiddenSlides>0</HiddenSlides>
  <MMClips>0</MMClips>
  <ScaleCrop>false</ScaleCrop>
  <HeadingPairs>
    <vt:vector size="8" baseType="variant">
      <vt:variant>
        <vt:lpstr>Fonts Used</vt:lpstr>
      </vt:variant>
      <vt:variant>
        <vt:i4>7</vt:i4>
      </vt:variant>
      <vt:variant>
        <vt:lpstr>Theme</vt:lpstr>
      </vt:variant>
      <vt:variant>
        <vt:i4>2</vt:i4>
      </vt:variant>
      <vt:variant>
        <vt:lpstr>Embedded OLE Servers</vt:lpstr>
      </vt:variant>
      <vt:variant>
        <vt:i4>1</vt:i4>
      </vt:variant>
      <vt:variant>
        <vt:lpstr>Slide Titles</vt:lpstr>
      </vt:variant>
      <vt:variant>
        <vt:i4>20</vt:i4>
      </vt:variant>
    </vt:vector>
  </HeadingPairs>
  <TitlesOfParts>
    <vt:vector size="30" baseType="lpstr">
      <vt:lpstr>Arial</vt:lpstr>
      <vt:lpstr>Calibri</vt:lpstr>
      <vt:lpstr>Calibri Light</vt:lpstr>
      <vt:lpstr>Casper</vt:lpstr>
      <vt:lpstr>Raleway ExtraBold</vt:lpstr>
      <vt:lpstr>Times New Roman</vt:lpstr>
      <vt:lpstr>Wingdings</vt:lpstr>
      <vt:lpstr>1_Office Theme</vt:lpstr>
      <vt:lpstr>Contents Slide Master</vt:lpstr>
      <vt:lpstr>CorelDRAW</vt:lpstr>
      <vt:lpstr>PowerPoint Presentation</vt:lpstr>
      <vt:lpstr>Lecture Objectives </vt:lpstr>
      <vt:lpstr>Abstract Class</vt:lpstr>
      <vt:lpstr>Abstract Class</vt:lpstr>
      <vt:lpstr>Ways to achieve Abstraction:</vt:lpstr>
      <vt:lpstr>Example:</vt:lpstr>
      <vt:lpstr>Java static keyword</vt:lpstr>
      <vt:lpstr>Java static variable</vt:lpstr>
      <vt:lpstr>Java static method</vt:lpstr>
      <vt:lpstr>Can a class be static in Java?</vt:lpstr>
      <vt:lpstr>PowerPoint Presentation</vt:lpstr>
      <vt:lpstr>PowerPoint Presentation</vt:lpstr>
      <vt:lpstr>PowerPoint Presentation</vt:lpstr>
      <vt:lpstr>PowerPoint Presentation</vt:lpstr>
      <vt:lpstr>Java static nested class example with static method</vt:lpstr>
      <vt:lpstr>QUIZ: </vt:lpstr>
      <vt:lpstr>QUIZ: </vt:lpstr>
      <vt:lpstr>Summary: </vt:lpstr>
      <vt:lpstr>References: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BHAVNEET KAUR</cp:lastModifiedBy>
  <cp:revision>88</cp:revision>
  <dcterms:created xsi:type="dcterms:W3CDTF">2019-01-09T10:33:58Z</dcterms:created>
  <dcterms:modified xsi:type="dcterms:W3CDTF">2024-12-23T08:47:29Z</dcterms:modified>
</cp:coreProperties>
</file>