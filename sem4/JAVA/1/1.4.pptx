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25"/>
  </p:notesMasterIdLst>
  <p:handoutMasterIdLst>
    <p:handoutMasterId r:id="rId26"/>
  </p:handoutMasterIdLst>
  <p:sldIdLst>
    <p:sldId id="287" r:id="rId3"/>
    <p:sldId id="281" r:id="rId4"/>
    <p:sldId id="414" r:id="rId5"/>
    <p:sldId id="415" r:id="rId6"/>
    <p:sldId id="416" r:id="rId7"/>
    <p:sldId id="417" r:id="rId8"/>
    <p:sldId id="418" r:id="rId9"/>
    <p:sldId id="419" r:id="rId10"/>
    <p:sldId id="421" r:id="rId11"/>
    <p:sldId id="422" r:id="rId12"/>
    <p:sldId id="423" r:id="rId13"/>
    <p:sldId id="420" r:id="rId14"/>
    <p:sldId id="424" r:id="rId15"/>
    <p:sldId id="436" r:id="rId16"/>
    <p:sldId id="425" r:id="rId17"/>
    <p:sldId id="426" r:id="rId18"/>
    <p:sldId id="429" r:id="rId19"/>
    <p:sldId id="433" r:id="rId20"/>
    <p:sldId id="434" r:id="rId21"/>
    <p:sldId id="435" r:id="rId22"/>
    <p:sldId id="430" r:id="rId23"/>
    <p:sldId id="43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5" d="100"/>
          <a:sy n="75" d="100"/>
        </p:scale>
        <p:origin x="1056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48B412-C155-4C88-B94E-534B7B00F737}" type="doc">
      <dgm:prSet loTypeId="urn:diagrams.loki3.com/VaryingWidthList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IN"/>
        </a:p>
      </dgm:t>
    </dgm:pt>
    <dgm:pt modelId="{4A4916AF-F930-42BE-9AD7-AE8A8BC675F7}">
      <dgm:prSet/>
      <dgm:spPr/>
      <dgm:t>
        <a:bodyPr/>
        <a:lstStyle/>
        <a:p>
          <a:r>
            <a:rPr lang="en-US" b="0" i="0" baseline="0" dirty="0"/>
            <a:t>Cloning of an array means </a:t>
          </a:r>
          <a:r>
            <a:rPr lang="en-US" b="1" i="0" baseline="0" dirty="0"/>
            <a:t>creating a new array t</a:t>
          </a:r>
          <a:r>
            <a:rPr lang="en-US" b="0" i="0" baseline="0" dirty="0"/>
            <a:t>hat is a copy of the original array. </a:t>
          </a:r>
          <a:endParaRPr lang="en-IN" dirty="0"/>
        </a:p>
      </dgm:t>
    </dgm:pt>
    <dgm:pt modelId="{6A078D02-8A1A-4970-ADE4-42CD5B8C504F}" type="parTrans" cxnId="{2B15AEEE-FC0B-4A56-9D23-45F9C1C9722C}">
      <dgm:prSet/>
      <dgm:spPr/>
      <dgm:t>
        <a:bodyPr/>
        <a:lstStyle/>
        <a:p>
          <a:endParaRPr lang="en-IN"/>
        </a:p>
      </dgm:t>
    </dgm:pt>
    <dgm:pt modelId="{580D5208-E60E-4E4B-B8AD-F738EE1F95C1}" type="sibTrans" cxnId="{2B15AEEE-FC0B-4A56-9D23-45F9C1C9722C}">
      <dgm:prSet/>
      <dgm:spPr/>
      <dgm:t>
        <a:bodyPr/>
        <a:lstStyle/>
        <a:p>
          <a:endParaRPr lang="en-IN"/>
        </a:p>
      </dgm:t>
    </dgm:pt>
    <dgm:pt modelId="{C341D0FF-8B02-42C5-B1E0-03E0014AF245}">
      <dgm:prSet/>
      <dgm:spPr/>
      <dgm:t>
        <a:bodyPr/>
        <a:lstStyle/>
        <a:p>
          <a:r>
            <a:rPr lang="en-US" b="0" i="0" baseline="0" dirty="0"/>
            <a:t>In Java, you can clone an array using the </a:t>
          </a:r>
          <a:r>
            <a:rPr lang="en-US" b="1" i="0" baseline="0" dirty="0"/>
            <a:t>clone()</a:t>
          </a:r>
          <a:r>
            <a:rPr lang="en-US" b="0" i="0" baseline="0" dirty="0"/>
            <a:t> method, which creates a </a:t>
          </a:r>
          <a:r>
            <a:rPr lang="en-US" b="1" i="0" baseline="0" dirty="0"/>
            <a:t>shallow copy</a:t>
          </a:r>
          <a:r>
            <a:rPr lang="en-US" b="0" i="0" baseline="0" dirty="0"/>
            <a:t> of the array.</a:t>
          </a:r>
          <a:endParaRPr lang="en-IN" dirty="0"/>
        </a:p>
      </dgm:t>
    </dgm:pt>
    <dgm:pt modelId="{FF97C394-6BEA-4366-94AE-DBF88769E3C3}" type="parTrans" cxnId="{F0DB40E1-E688-43DE-A530-1CFD5DE259A3}">
      <dgm:prSet/>
      <dgm:spPr/>
      <dgm:t>
        <a:bodyPr/>
        <a:lstStyle/>
        <a:p>
          <a:endParaRPr lang="en-IN"/>
        </a:p>
      </dgm:t>
    </dgm:pt>
    <dgm:pt modelId="{16F3DE92-3548-4B83-BD94-7D8919E95456}" type="sibTrans" cxnId="{F0DB40E1-E688-43DE-A530-1CFD5DE259A3}">
      <dgm:prSet/>
      <dgm:spPr/>
      <dgm:t>
        <a:bodyPr/>
        <a:lstStyle/>
        <a:p>
          <a:endParaRPr lang="en-IN"/>
        </a:p>
      </dgm:t>
    </dgm:pt>
    <dgm:pt modelId="{96257894-B612-4DC5-B109-9D86D6438D11}">
      <dgm:prSet/>
      <dgm:spPr/>
      <dgm:t>
        <a:bodyPr/>
        <a:lstStyle/>
        <a:p>
          <a:r>
            <a:rPr lang="en-US" b="0" i="0" baseline="0" dirty="0"/>
            <a:t>When an array is cloned using the clone() method, a new </a:t>
          </a:r>
          <a:r>
            <a:rPr lang="en-US" b="1" i="0" baseline="0" dirty="0"/>
            <a:t>array is created with the same elements as the original array</a:t>
          </a:r>
          <a:r>
            <a:rPr lang="en-US" b="0" i="0" baseline="0" dirty="0"/>
            <a:t>.</a:t>
          </a:r>
          <a:endParaRPr lang="en-IN" dirty="0"/>
        </a:p>
      </dgm:t>
    </dgm:pt>
    <dgm:pt modelId="{9FECF004-9C57-4777-B6FA-4E272FB157C5}" type="parTrans" cxnId="{F0B778F5-D919-42C5-8F47-84732DE66DC7}">
      <dgm:prSet/>
      <dgm:spPr/>
      <dgm:t>
        <a:bodyPr/>
        <a:lstStyle/>
        <a:p>
          <a:endParaRPr lang="en-IN"/>
        </a:p>
      </dgm:t>
    </dgm:pt>
    <dgm:pt modelId="{F0DD898F-BEE1-494F-AA9B-237084119869}" type="sibTrans" cxnId="{F0B778F5-D919-42C5-8F47-84732DE66DC7}">
      <dgm:prSet/>
      <dgm:spPr/>
      <dgm:t>
        <a:bodyPr/>
        <a:lstStyle/>
        <a:p>
          <a:endParaRPr lang="en-IN"/>
        </a:p>
      </dgm:t>
    </dgm:pt>
    <dgm:pt modelId="{B81BB3CE-5C33-4A2F-B5FD-DF2D46F1D070}">
      <dgm:prSet/>
      <dgm:spPr/>
      <dgm:t>
        <a:bodyPr/>
        <a:lstStyle/>
        <a:p>
          <a:r>
            <a:rPr lang="en-US" b="0" i="0" baseline="0"/>
            <a:t>If the array contains </a:t>
          </a:r>
          <a:r>
            <a:rPr lang="en-US" b="1" i="0" baseline="0"/>
            <a:t>primitive types</a:t>
          </a:r>
          <a:r>
            <a:rPr lang="en-US" b="0" i="0" baseline="0"/>
            <a:t> (e.g., int, double), the actual values are copied.</a:t>
          </a:r>
          <a:endParaRPr lang="en-IN"/>
        </a:p>
      </dgm:t>
    </dgm:pt>
    <dgm:pt modelId="{0E21C3AA-A156-41A6-81A4-DE1949AE2564}" type="parTrans" cxnId="{2C31984E-3402-48E4-9CEF-BE3B3D3C85A3}">
      <dgm:prSet/>
      <dgm:spPr/>
      <dgm:t>
        <a:bodyPr/>
        <a:lstStyle/>
        <a:p>
          <a:endParaRPr lang="en-IN"/>
        </a:p>
      </dgm:t>
    </dgm:pt>
    <dgm:pt modelId="{8EFE07D5-1FA7-4B7B-86C6-F04088BA7936}" type="sibTrans" cxnId="{2C31984E-3402-48E4-9CEF-BE3B3D3C85A3}">
      <dgm:prSet/>
      <dgm:spPr/>
      <dgm:t>
        <a:bodyPr/>
        <a:lstStyle/>
        <a:p>
          <a:endParaRPr lang="en-IN"/>
        </a:p>
      </dgm:t>
    </dgm:pt>
    <dgm:pt modelId="{B0A701D6-246B-46EE-9A77-4D30A8A1751D}">
      <dgm:prSet/>
      <dgm:spPr/>
      <dgm:t>
        <a:bodyPr/>
        <a:lstStyle/>
        <a:p>
          <a:r>
            <a:rPr lang="en-US" b="0" i="0" baseline="0" dirty="0"/>
            <a:t>If the array contains </a:t>
          </a:r>
          <a:r>
            <a:rPr lang="en-US" b="1" i="0" baseline="0" dirty="0"/>
            <a:t>reference types</a:t>
          </a:r>
          <a:r>
            <a:rPr lang="en-US" b="0" i="0" baseline="0" dirty="0"/>
            <a:t> (e.g., objects), only the references are copied, not the objects themselves. </a:t>
          </a:r>
          <a:endParaRPr lang="en-IN" dirty="0"/>
        </a:p>
      </dgm:t>
    </dgm:pt>
    <dgm:pt modelId="{3D7E669D-F324-49A5-B648-BC07B568BB4E}" type="parTrans" cxnId="{5B43F91F-90DE-4922-9EDE-BC4EEBE6A233}">
      <dgm:prSet/>
      <dgm:spPr/>
      <dgm:t>
        <a:bodyPr/>
        <a:lstStyle/>
        <a:p>
          <a:endParaRPr lang="en-IN"/>
        </a:p>
      </dgm:t>
    </dgm:pt>
    <dgm:pt modelId="{43491146-1E14-47B4-9BEA-E938AB02E85C}" type="sibTrans" cxnId="{5B43F91F-90DE-4922-9EDE-BC4EEBE6A233}">
      <dgm:prSet/>
      <dgm:spPr/>
      <dgm:t>
        <a:bodyPr/>
        <a:lstStyle/>
        <a:p>
          <a:endParaRPr lang="en-IN"/>
        </a:p>
      </dgm:t>
    </dgm:pt>
    <dgm:pt modelId="{E5D88C12-4F5C-4CC4-BED9-83D9DA8D3962}" type="pres">
      <dgm:prSet presAssocID="{5F48B412-C155-4C88-B94E-534B7B00F737}" presName="Name0" presStyleCnt="0">
        <dgm:presLayoutVars>
          <dgm:resizeHandles/>
        </dgm:presLayoutVars>
      </dgm:prSet>
      <dgm:spPr/>
    </dgm:pt>
    <dgm:pt modelId="{F7C19FDE-C452-4876-BAE8-D3060E511942}" type="pres">
      <dgm:prSet presAssocID="{4A4916AF-F930-42BE-9AD7-AE8A8BC675F7}" presName="text" presStyleLbl="node1" presStyleIdx="0" presStyleCnt="5">
        <dgm:presLayoutVars>
          <dgm:bulletEnabled val="1"/>
        </dgm:presLayoutVars>
      </dgm:prSet>
      <dgm:spPr/>
    </dgm:pt>
    <dgm:pt modelId="{1D903A68-711C-449B-B07F-2BF54C800912}" type="pres">
      <dgm:prSet presAssocID="{580D5208-E60E-4E4B-B8AD-F738EE1F95C1}" presName="space" presStyleCnt="0"/>
      <dgm:spPr/>
    </dgm:pt>
    <dgm:pt modelId="{7DA567FD-D06D-4C8A-98C8-164D7AD294E6}" type="pres">
      <dgm:prSet presAssocID="{C341D0FF-8B02-42C5-B1E0-03E0014AF245}" presName="text" presStyleLbl="node1" presStyleIdx="1" presStyleCnt="5">
        <dgm:presLayoutVars>
          <dgm:bulletEnabled val="1"/>
        </dgm:presLayoutVars>
      </dgm:prSet>
      <dgm:spPr/>
    </dgm:pt>
    <dgm:pt modelId="{0220D065-3F4D-4DD9-875C-2F8F7F4D9E68}" type="pres">
      <dgm:prSet presAssocID="{16F3DE92-3548-4B83-BD94-7D8919E95456}" presName="space" presStyleCnt="0"/>
      <dgm:spPr/>
    </dgm:pt>
    <dgm:pt modelId="{51BD7B72-D6B7-451B-9D48-4EB1451E7618}" type="pres">
      <dgm:prSet presAssocID="{96257894-B612-4DC5-B109-9D86D6438D11}" presName="text" presStyleLbl="node1" presStyleIdx="2" presStyleCnt="5">
        <dgm:presLayoutVars>
          <dgm:bulletEnabled val="1"/>
        </dgm:presLayoutVars>
      </dgm:prSet>
      <dgm:spPr/>
    </dgm:pt>
    <dgm:pt modelId="{940711F2-E7B3-486A-A44E-9C2F04732F7D}" type="pres">
      <dgm:prSet presAssocID="{F0DD898F-BEE1-494F-AA9B-237084119869}" presName="space" presStyleCnt="0"/>
      <dgm:spPr/>
    </dgm:pt>
    <dgm:pt modelId="{DBD4B280-3FD6-4ECE-800D-600B6A93E9CA}" type="pres">
      <dgm:prSet presAssocID="{B81BB3CE-5C33-4A2F-B5FD-DF2D46F1D070}" presName="text" presStyleLbl="node1" presStyleIdx="3" presStyleCnt="5">
        <dgm:presLayoutVars>
          <dgm:bulletEnabled val="1"/>
        </dgm:presLayoutVars>
      </dgm:prSet>
      <dgm:spPr/>
    </dgm:pt>
    <dgm:pt modelId="{755C6C35-295A-4633-8579-F8DA2EFDF75C}" type="pres">
      <dgm:prSet presAssocID="{8EFE07D5-1FA7-4B7B-86C6-F04088BA7936}" presName="space" presStyleCnt="0"/>
      <dgm:spPr/>
    </dgm:pt>
    <dgm:pt modelId="{49087565-8ABF-4B95-A5E6-039C9CE22059}" type="pres">
      <dgm:prSet presAssocID="{B0A701D6-246B-46EE-9A77-4D30A8A1751D}" presName="text" presStyleLbl="node1" presStyleIdx="4" presStyleCnt="5">
        <dgm:presLayoutVars>
          <dgm:bulletEnabled val="1"/>
        </dgm:presLayoutVars>
      </dgm:prSet>
      <dgm:spPr/>
    </dgm:pt>
  </dgm:ptLst>
  <dgm:cxnLst>
    <dgm:cxn modelId="{5B43F91F-90DE-4922-9EDE-BC4EEBE6A233}" srcId="{5F48B412-C155-4C88-B94E-534B7B00F737}" destId="{B0A701D6-246B-46EE-9A77-4D30A8A1751D}" srcOrd="4" destOrd="0" parTransId="{3D7E669D-F324-49A5-B648-BC07B568BB4E}" sibTransId="{43491146-1E14-47B4-9BEA-E938AB02E85C}"/>
    <dgm:cxn modelId="{AF7B172A-34ED-4FBA-A4C3-E613938CA76A}" type="presOf" srcId="{96257894-B612-4DC5-B109-9D86D6438D11}" destId="{51BD7B72-D6B7-451B-9D48-4EB1451E7618}" srcOrd="0" destOrd="0" presId="urn:diagrams.loki3.com/VaryingWidthList"/>
    <dgm:cxn modelId="{856ED739-A2B5-4036-B211-D21C18ACEAAC}" type="presOf" srcId="{B0A701D6-246B-46EE-9A77-4D30A8A1751D}" destId="{49087565-8ABF-4B95-A5E6-039C9CE22059}" srcOrd="0" destOrd="0" presId="urn:diagrams.loki3.com/VaryingWidthList"/>
    <dgm:cxn modelId="{D88E0B61-1A8D-41CF-A887-FF03BF3B0E14}" type="presOf" srcId="{C341D0FF-8B02-42C5-B1E0-03E0014AF245}" destId="{7DA567FD-D06D-4C8A-98C8-164D7AD294E6}" srcOrd="0" destOrd="0" presId="urn:diagrams.loki3.com/VaryingWidthList"/>
    <dgm:cxn modelId="{7C1D596C-117B-4157-AD5B-DBC36A3EA51B}" type="presOf" srcId="{5F48B412-C155-4C88-B94E-534B7B00F737}" destId="{E5D88C12-4F5C-4CC4-BED9-83D9DA8D3962}" srcOrd="0" destOrd="0" presId="urn:diagrams.loki3.com/VaryingWidthList"/>
    <dgm:cxn modelId="{2C31984E-3402-48E4-9CEF-BE3B3D3C85A3}" srcId="{5F48B412-C155-4C88-B94E-534B7B00F737}" destId="{B81BB3CE-5C33-4A2F-B5FD-DF2D46F1D070}" srcOrd="3" destOrd="0" parTransId="{0E21C3AA-A156-41A6-81A4-DE1949AE2564}" sibTransId="{8EFE07D5-1FA7-4B7B-86C6-F04088BA7936}"/>
    <dgm:cxn modelId="{DF03EC83-1586-4E27-97E5-3B917FF3E718}" type="presOf" srcId="{B81BB3CE-5C33-4A2F-B5FD-DF2D46F1D070}" destId="{DBD4B280-3FD6-4ECE-800D-600B6A93E9CA}" srcOrd="0" destOrd="0" presId="urn:diagrams.loki3.com/VaryingWidthList"/>
    <dgm:cxn modelId="{76E3FF93-BE78-46FD-A35D-60FBC3E9126C}" type="presOf" srcId="{4A4916AF-F930-42BE-9AD7-AE8A8BC675F7}" destId="{F7C19FDE-C452-4876-BAE8-D3060E511942}" srcOrd="0" destOrd="0" presId="urn:diagrams.loki3.com/VaryingWidthList"/>
    <dgm:cxn modelId="{F0DB40E1-E688-43DE-A530-1CFD5DE259A3}" srcId="{5F48B412-C155-4C88-B94E-534B7B00F737}" destId="{C341D0FF-8B02-42C5-B1E0-03E0014AF245}" srcOrd="1" destOrd="0" parTransId="{FF97C394-6BEA-4366-94AE-DBF88769E3C3}" sibTransId="{16F3DE92-3548-4B83-BD94-7D8919E95456}"/>
    <dgm:cxn modelId="{2B15AEEE-FC0B-4A56-9D23-45F9C1C9722C}" srcId="{5F48B412-C155-4C88-B94E-534B7B00F737}" destId="{4A4916AF-F930-42BE-9AD7-AE8A8BC675F7}" srcOrd="0" destOrd="0" parTransId="{6A078D02-8A1A-4970-ADE4-42CD5B8C504F}" sibTransId="{580D5208-E60E-4E4B-B8AD-F738EE1F95C1}"/>
    <dgm:cxn modelId="{F0B778F5-D919-42C5-8F47-84732DE66DC7}" srcId="{5F48B412-C155-4C88-B94E-534B7B00F737}" destId="{96257894-B612-4DC5-B109-9D86D6438D11}" srcOrd="2" destOrd="0" parTransId="{9FECF004-9C57-4777-B6FA-4E272FB157C5}" sibTransId="{F0DD898F-BEE1-494F-AA9B-237084119869}"/>
    <dgm:cxn modelId="{FDF0A288-B1ED-4BD4-87A4-D235702EC577}" type="presParOf" srcId="{E5D88C12-4F5C-4CC4-BED9-83D9DA8D3962}" destId="{F7C19FDE-C452-4876-BAE8-D3060E511942}" srcOrd="0" destOrd="0" presId="urn:diagrams.loki3.com/VaryingWidthList"/>
    <dgm:cxn modelId="{2851213D-8515-4461-A027-3410A9399677}" type="presParOf" srcId="{E5D88C12-4F5C-4CC4-BED9-83D9DA8D3962}" destId="{1D903A68-711C-449B-B07F-2BF54C800912}" srcOrd="1" destOrd="0" presId="urn:diagrams.loki3.com/VaryingWidthList"/>
    <dgm:cxn modelId="{BF29F809-65FE-46FE-847F-CCCD26CAFE2C}" type="presParOf" srcId="{E5D88C12-4F5C-4CC4-BED9-83D9DA8D3962}" destId="{7DA567FD-D06D-4C8A-98C8-164D7AD294E6}" srcOrd="2" destOrd="0" presId="urn:diagrams.loki3.com/VaryingWidthList"/>
    <dgm:cxn modelId="{6D88B269-E88F-46E8-B3EE-4C0DF75191F2}" type="presParOf" srcId="{E5D88C12-4F5C-4CC4-BED9-83D9DA8D3962}" destId="{0220D065-3F4D-4DD9-875C-2F8F7F4D9E68}" srcOrd="3" destOrd="0" presId="urn:diagrams.loki3.com/VaryingWidthList"/>
    <dgm:cxn modelId="{63EBCC80-7FD1-48B1-836C-46FC77967ACB}" type="presParOf" srcId="{E5D88C12-4F5C-4CC4-BED9-83D9DA8D3962}" destId="{51BD7B72-D6B7-451B-9D48-4EB1451E7618}" srcOrd="4" destOrd="0" presId="urn:diagrams.loki3.com/VaryingWidthList"/>
    <dgm:cxn modelId="{AF686C18-CCCF-4CEA-9422-D17309BDD235}" type="presParOf" srcId="{E5D88C12-4F5C-4CC4-BED9-83D9DA8D3962}" destId="{940711F2-E7B3-486A-A44E-9C2F04732F7D}" srcOrd="5" destOrd="0" presId="urn:diagrams.loki3.com/VaryingWidthList"/>
    <dgm:cxn modelId="{6A7F7626-966C-474C-956B-2F60F9375505}" type="presParOf" srcId="{E5D88C12-4F5C-4CC4-BED9-83D9DA8D3962}" destId="{DBD4B280-3FD6-4ECE-800D-600B6A93E9CA}" srcOrd="6" destOrd="0" presId="urn:diagrams.loki3.com/VaryingWidthList"/>
    <dgm:cxn modelId="{99F7208A-E9F3-4C16-8627-84E339F1C622}" type="presParOf" srcId="{E5D88C12-4F5C-4CC4-BED9-83D9DA8D3962}" destId="{755C6C35-295A-4633-8579-F8DA2EFDF75C}" srcOrd="7" destOrd="0" presId="urn:diagrams.loki3.com/VaryingWidthList"/>
    <dgm:cxn modelId="{C07BC85B-3630-4B8E-A13A-427DECB0DC5E}" type="presParOf" srcId="{E5D88C12-4F5C-4CC4-BED9-83D9DA8D3962}" destId="{49087565-8ABF-4B95-A5E6-039C9CE22059}" srcOrd="8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C19FDE-C452-4876-BAE8-D3060E511942}">
      <dsp:nvSpPr>
        <dsp:cNvPr id="0" name=""/>
        <dsp:cNvSpPr/>
      </dsp:nvSpPr>
      <dsp:spPr>
        <a:xfrm>
          <a:off x="1894560" y="1559"/>
          <a:ext cx="4410000" cy="68201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Cloning of an array means </a:t>
          </a:r>
          <a:r>
            <a:rPr lang="en-US" sz="2000" b="1" i="0" kern="1200" baseline="0" dirty="0"/>
            <a:t>creating a new array t</a:t>
          </a:r>
          <a:r>
            <a:rPr lang="en-US" sz="2000" b="0" i="0" kern="1200" baseline="0" dirty="0"/>
            <a:t>hat is a copy of the original array. </a:t>
          </a:r>
          <a:endParaRPr lang="en-IN" sz="2000" kern="1200" dirty="0"/>
        </a:p>
      </dsp:txBody>
      <dsp:txXfrm>
        <a:off x="1894560" y="1559"/>
        <a:ext cx="4410000" cy="682011"/>
      </dsp:txXfrm>
    </dsp:sp>
    <dsp:sp modelId="{7DA567FD-D06D-4C8A-98C8-164D7AD294E6}">
      <dsp:nvSpPr>
        <dsp:cNvPr id="0" name=""/>
        <dsp:cNvSpPr/>
      </dsp:nvSpPr>
      <dsp:spPr>
        <a:xfrm>
          <a:off x="1399560" y="717672"/>
          <a:ext cx="5400000" cy="682011"/>
        </a:xfrm>
        <a:prstGeom prst="rect">
          <a:avLst/>
        </a:prstGeom>
        <a:solidFill>
          <a:schemeClr val="accent3">
            <a:hueOff val="677650"/>
            <a:satOff val="25000"/>
            <a:lumOff val="-36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In Java, you can clone an array using the </a:t>
          </a:r>
          <a:r>
            <a:rPr lang="en-US" sz="2000" b="1" i="0" kern="1200" baseline="0" dirty="0"/>
            <a:t>clone()</a:t>
          </a:r>
          <a:r>
            <a:rPr lang="en-US" sz="2000" b="0" i="0" kern="1200" baseline="0" dirty="0"/>
            <a:t> method, which creates a </a:t>
          </a:r>
          <a:r>
            <a:rPr lang="en-US" sz="2000" b="1" i="0" kern="1200" baseline="0" dirty="0"/>
            <a:t>shallow copy</a:t>
          </a:r>
          <a:r>
            <a:rPr lang="en-US" sz="2000" b="0" i="0" kern="1200" baseline="0" dirty="0"/>
            <a:t> of the array.</a:t>
          </a:r>
          <a:endParaRPr lang="en-IN" sz="2000" kern="1200" dirty="0"/>
        </a:p>
      </dsp:txBody>
      <dsp:txXfrm>
        <a:off x="1399560" y="717672"/>
        <a:ext cx="5400000" cy="682011"/>
      </dsp:txXfrm>
    </dsp:sp>
    <dsp:sp modelId="{51BD7B72-D6B7-451B-9D48-4EB1451E7618}">
      <dsp:nvSpPr>
        <dsp:cNvPr id="0" name=""/>
        <dsp:cNvSpPr/>
      </dsp:nvSpPr>
      <dsp:spPr>
        <a:xfrm>
          <a:off x="769559" y="1433785"/>
          <a:ext cx="6660000" cy="682011"/>
        </a:xfrm>
        <a:prstGeom prst="rect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When an array is cloned using the clone() method, a new </a:t>
          </a:r>
          <a:r>
            <a:rPr lang="en-US" sz="2000" b="1" i="0" kern="1200" baseline="0" dirty="0"/>
            <a:t>array is created with the same elements as the original array</a:t>
          </a:r>
          <a:r>
            <a:rPr lang="en-US" sz="2000" b="0" i="0" kern="1200" baseline="0" dirty="0"/>
            <a:t>.</a:t>
          </a:r>
          <a:endParaRPr lang="en-IN" sz="2000" kern="1200" dirty="0"/>
        </a:p>
      </dsp:txBody>
      <dsp:txXfrm>
        <a:off x="769559" y="1433785"/>
        <a:ext cx="6660000" cy="682011"/>
      </dsp:txXfrm>
    </dsp:sp>
    <dsp:sp modelId="{DBD4B280-3FD6-4ECE-800D-600B6A93E9CA}">
      <dsp:nvSpPr>
        <dsp:cNvPr id="0" name=""/>
        <dsp:cNvSpPr/>
      </dsp:nvSpPr>
      <dsp:spPr>
        <a:xfrm>
          <a:off x="1894560" y="2149897"/>
          <a:ext cx="4410000" cy="682011"/>
        </a:xfrm>
        <a:prstGeom prst="rect">
          <a:avLst/>
        </a:prstGeom>
        <a:solidFill>
          <a:schemeClr val="accent3">
            <a:hueOff val="2032949"/>
            <a:satOff val="75000"/>
            <a:lumOff val="-110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If the array contains </a:t>
          </a:r>
          <a:r>
            <a:rPr lang="en-US" sz="2000" b="1" i="0" kern="1200" baseline="0"/>
            <a:t>primitive types</a:t>
          </a:r>
          <a:r>
            <a:rPr lang="en-US" sz="2000" b="0" i="0" kern="1200" baseline="0"/>
            <a:t> (e.g., int, double), the actual values are copied.</a:t>
          </a:r>
          <a:endParaRPr lang="en-IN" sz="2000" kern="1200"/>
        </a:p>
      </dsp:txBody>
      <dsp:txXfrm>
        <a:off x="1894560" y="2149897"/>
        <a:ext cx="4410000" cy="682011"/>
      </dsp:txXfrm>
    </dsp:sp>
    <dsp:sp modelId="{49087565-8ABF-4B95-A5E6-039C9CE22059}">
      <dsp:nvSpPr>
        <dsp:cNvPr id="0" name=""/>
        <dsp:cNvSpPr/>
      </dsp:nvSpPr>
      <dsp:spPr>
        <a:xfrm>
          <a:off x="1129560" y="2866010"/>
          <a:ext cx="5940000" cy="682011"/>
        </a:xfrm>
        <a:prstGeom prst="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If the array contains </a:t>
          </a:r>
          <a:r>
            <a:rPr lang="en-US" sz="2000" b="1" i="0" kern="1200" baseline="0" dirty="0"/>
            <a:t>reference types</a:t>
          </a:r>
          <a:r>
            <a:rPr lang="en-US" sz="2000" b="0" i="0" kern="1200" baseline="0" dirty="0"/>
            <a:t> (e.g., objects), only the references are copied, not the objects themselves. </a:t>
          </a:r>
          <a:endParaRPr lang="en-IN" sz="2000" kern="1200" dirty="0"/>
        </a:p>
      </dsp:txBody>
      <dsp:txXfrm>
        <a:off x="1129560" y="2866010"/>
        <a:ext cx="5940000" cy="6820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439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782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0" y="543367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2169000" imgH="2169360" progId="">
                  <p:embed/>
                </p:oleObj>
              </mc:Choice>
              <mc:Fallback>
                <p:oleObj name="CorelDRAW" r:id="rId3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530662" y="5128705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29085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941980" y="735788"/>
            <a:ext cx="8788843" cy="5852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latin typeface="Times New Roman" panose="02020603050405020304" pitchFamily="18" charset="0"/>
                <a:ea typeface="Karla" pitchFamily="2" charset="0"/>
                <a:cs typeface="Times New Roman" panose="02020603050405020304" pitchFamily="18" charset="0"/>
              </a:rPr>
              <a:t>INSTITUTE : UIE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latin typeface="Times New Roman" panose="02020603050405020304" pitchFamily="18" charset="0"/>
                <a:ea typeface="Karla" pitchFamily="2" charset="0"/>
                <a:cs typeface="Times New Roman" panose="02020603050405020304" pitchFamily="18" charset="0"/>
              </a:rPr>
              <a:t>DEPARTMENT : CSE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(Computer Science &amp; Engineering) </a:t>
            </a:r>
          </a:p>
          <a:p>
            <a:pPr algn="ctr"/>
            <a:endParaRPr lang="en-IN" sz="2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Oriented Programming using Java</a:t>
            </a:r>
          </a:p>
          <a:p>
            <a:pPr algn="ctr"/>
            <a:r>
              <a:rPr lang="en-US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23CSP-202 </a:t>
            </a:r>
            <a:r>
              <a:rPr 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			</a:t>
            </a: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		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83B967-41CC-4702-9A6A-3CAB326C3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2294" y="4269276"/>
            <a:ext cx="4868754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OF PRESENTATION: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Fundamentals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518366-CEC0-4982-12CC-E159175B772C}"/>
              </a:ext>
            </a:extLst>
          </p:cNvPr>
          <p:cNvSpPr txBox="1"/>
          <p:nvPr/>
        </p:nvSpPr>
        <p:spPr>
          <a:xfrm>
            <a:off x="9610395" y="4790596"/>
            <a:ext cx="2098844" cy="1186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Bhavneet Kaur</a:t>
            </a:r>
          </a:p>
          <a:p>
            <a:pPr lvl="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Subject Coordinator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9F2DDB-FBF8-AD2B-A295-528076773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783571-FF87-F351-5E28-37AAA76FA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456" y="1904308"/>
            <a:ext cx="10515600" cy="435133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1794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263" y="1840230"/>
            <a:ext cx="4322762" cy="4516120"/>
          </a:xfrm>
        </p:spPr>
        <p:txBody>
          <a:bodyPr>
            <a:normAutofit/>
          </a:bodyPr>
          <a:lstStyle/>
          <a:p>
            <a:endParaRPr lang="en-IN" dirty="0"/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lecture, we will discuss: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flow control statements in java.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 concepts of array will be part of this ppt.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700722" y="501650"/>
            <a:ext cx="445656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dirty="0"/>
              <a:t>Lecture Objectives</a:t>
            </a:r>
            <a:br>
              <a:rPr lang="en-US" sz="2000" b="1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295900" y="838200"/>
            <a:ext cx="5867400" cy="55181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9262" y="1611630"/>
            <a:ext cx="4322762" cy="47447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0FB9F60-C0EA-46DF-90E1-77B6313A89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05890"/>
            <a:ext cx="4305300" cy="450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2402204" y="243840"/>
            <a:ext cx="8616315" cy="720725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Control Flow Statements In Java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447800"/>
            <a:ext cx="12192000" cy="5410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Control flow statements, change or break the flow of execution by implementing decision making, looping, and branching your program to execute particular blocks of code based on the conditions.</a:t>
            </a:r>
          </a:p>
          <a:p>
            <a:pPr marL="0" indent="0">
              <a:buNone/>
            </a:pPr>
            <a:r>
              <a:rPr lang="en-US" sz="2600" dirty="0"/>
              <a:t>Types of control flow statements:</a:t>
            </a:r>
          </a:p>
          <a:p>
            <a:r>
              <a:rPr lang="en-US" sz="2600" dirty="0"/>
              <a:t>Decision-making statements : if-then, if-then-else, switch</a:t>
            </a:r>
          </a:p>
          <a:p>
            <a:r>
              <a:rPr lang="en-US" sz="2600" dirty="0"/>
              <a:t>Looping statements : for, while, do-while</a:t>
            </a:r>
          </a:p>
          <a:p>
            <a:r>
              <a:rPr lang="en-US" sz="2600" dirty="0"/>
              <a:t>Branching statements : break, continue, return </a:t>
            </a:r>
          </a:p>
        </p:txBody>
      </p:sp>
      <p:pic>
        <p:nvPicPr>
          <p:cNvPr id="1028" name="Picture 4" descr="Types of Statements in Java - Javatpoint">
            <a:extLst>
              <a:ext uri="{FF2B5EF4-FFF2-40B4-BE49-F238E27FC236}">
                <a16:creationId xmlns:a16="http://schemas.microsoft.com/office/drawing/2014/main" id="{D63EFD9A-9336-95E6-CDB8-7A608BFE3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979" y="3742054"/>
            <a:ext cx="4862123" cy="228282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62397053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2676525" y="169068"/>
            <a:ext cx="7924800" cy="93265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Comparison of  for while and do while</a:t>
            </a:r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295400"/>
            <a:ext cx="10591800" cy="505968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04597750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234440" y="169068"/>
            <a:ext cx="10081259" cy="932657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Predict the output?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447800"/>
            <a:ext cx="12192000" cy="54102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What will be the result, if we try to compile and execute the following code?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/>
              <a:t>class Sample{</a:t>
            </a:r>
          </a:p>
          <a:p>
            <a:pPr marL="0" indent="0">
              <a:buNone/>
            </a:pPr>
            <a:r>
              <a:rPr lang="en-US" sz="2600" dirty="0"/>
              <a:t>public static void main(String[]args) {</a:t>
            </a:r>
          </a:p>
          <a:p>
            <a:pPr marL="0" indent="0">
              <a:buNone/>
            </a:pPr>
            <a:r>
              <a:rPr lang="en-US" sz="2600" dirty="0" err="1"/>
              <a:t>boolean</a:t>
            </a:r>
            <a:r>
              <a:rPr lang="en-US" sz="2600" dirty="0"/>
              <a:t> b = true;</a:t>
            </a:r>
          </a:p>
          <a:p>
            <a:pPr marL="0" indent="0">
              <a:buNone/>
            </a:pPr>
            <a:r>
              <a:rPr lang="en-US" sz="2600" dirty="0"/>
              <a:t>if(b){</a:t>
            </a:r>
          </a:p>
          <a:p>
            <a:pPr marL="0" indent="0">
              <a:buNone/>
            </a:pPr>
            <a:r>
              <a:rPr lang="en-US" sz="2600" dirty="0" err="1"/>
              <a:t>System.out.println</a:t>
            </a:r>
            <a:r>
              <a:rPr lang="en-US" sz="2600" dirty="0"/>
              <a:t>(" if block ");</a:t>
            </a:r>
          </a:p>
          <a:p>
            <a:pPr marL="0" indent="0">
              <a:buNone/>
            </a:pPr>
            <a:r>
              <a:rPr lang="en-US" sz="2600" dirty="0"/>
              <a:t>}</a:t>
            </a:r>
          </a:p>
          <a:p>
            <a:pPr marL="0" indent="0">
              <a:buNone/>
            </a:pPr>
            <a:r>
              <a:rPr lang="en-US" sz="2600" dirty="0"/>
              <a:t>else {</a:t>
            </a:r>
          </a:p>
          <a:p>
            <a:pPr marL="0" indent="0">
              <a:buNone/>
            </a:pPr>
            <a:r>
              <a:rPr lang="en-US" sz="2600" dirty="0" err="1"/>
              <a:t>System.out.println</a:t>
            </a:r>
            <a:r>
              <a:rPr lang="en-US" sz="2600" dirty="0"/>
              <a:t>(“ else block ");</a:t>
            </a:r>
          </a:p>
          <a:p>
            <a:pPr marL="0" indent="0">
              <a:buNone/>
            </a:pPr>
            <a:r>
              <a:rPr lang="en-US" sz="2600" dirty="0"/>
              <a:t>}</a:t>
            </a:r>
          </a:p>
          <a:p>
            <a:pPr marL="0" indent="0">
              <a:buNone/>
            </a:pPr>
            <a:r>
              <a:rPr lang="en-US" sz="2600" dirty="0"/>
              <a:t>}</a:t>
            </a:r>
          </a:p>
          <a:p>
            <a:pPr marL="0" indent="0">
              <a:buNone/>
            </a:pPr>
            <a:r>
              <a:rPr lang="en-US" sz="2600" dirty="0"/>
              <a:t>}</a:t>
            </a:r>
          </a:p>
        </p:txBody>
      </p:sp>
      <p:pic>
        <p:nvPicPr>
          <p:cNvPr id="3" name="Picture 2" descr="Businessman fingers on chin">
            <a:extLst>
              <a:ext uri="{FF2B5EF4-FFF2-40B4-BE49-F238E27FC236}">
                <a16:creationId xmlns:a16="http://schemas.microsoft.com/office/drawing/2014/main" id="{DEDA1AE0-DA31-71FE-A3C6-FD0B02E600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147" y="1981200"/>
            <a:ext cx="818072" cy="378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97750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356360" y="809148"/>
            <a:ext cx="9707880" cy="93265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Java program to demonstrate the use of infinite for loop which prints a statement  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56360" y="1849756"/>
            <a:ext cx="4937760" cy="326644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public class </a:t>
            </a:r>
            <a:r>
              <a:rPr lang="en-US" sz="2000" dirty="0" err="1"/>
              <a:t>ForExample</a:t>
            </a:r>
            <a:r>
              <a:rPr lang="en-US" sz="2000" dirty="0"/>
              <a:t> {  </a:t>
            </a:r>
          </a:p>
          <a:p>
            <a:pPr marL="0" indent="0">
              <a:buNone/>
            </a:pPr>
            <a:r>
              <a:rPr lang="en-US" sz="2000" dirty="0"/>
              <a:t>public static void main(String[] args) {  </a:t>
            </a:r>
          </a:p>
          <a:p>
            <a:pPr marL="0" indent="0">
              <a:buNone/>
            </a:pPr>
            <a:r>
              <a:rPr lang="en-US" sz="2000" dirty="0"/>
              <a:t>    //Using no condition in for loop  </a:t>
            </a:r>
          </a:p>
          <a:p>
            <a:pPr marL="0" indent="0">
              <a:buNone/>
            </a:pPr>
            <a:r>
              <a:rPr lang="en-US" sz="2000" dirty="0"/>
              <a:t>    for(;;){  </a:t>
            </a:r>
          </a:p>
          <a:p>
            <a:pPr marL="0" indent="0">
              <a:buNone/>
            </a:pPr>
            <a:r>
              <a:rPr lang="en-US" sz="2000" dirty="0"/>
              <a:t>        </a:t>
            </a:r>
            <a:r>
              <a:rPr lang="en-US" sz="2000" dirty="0" err="1"/>
              <a:t>System.out.println</a:t>
            </a:r>
            <a:r>
              <a:rPr lang="en-US" sz="2000" dirty="0"/>
              <a:t>("infinitive loop");  </a:t>
            </a:r>
          </a:p>
          <a:p>
            <a:pPr marL="0" indent="0">
              <a:buNone/>
            </a:pPr>
            <a:r>
              <a:rPr lang="en-US" sz="2000" dirty="0"/>
              <a:t> }  </a:t>
            </a:r>
          </a:p>
          <a:p>
            <a:pPr marL="0" indent="0">
              <a:buNone/>
            </a:pPr>
            <a:r>
              <a:rPr lang="en-US" sz="2000" dirty="0"/>
              <a:t>}  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4597750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645920" y="169068"/>
            <a:ext cx="8955405" cy="93265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Predict the output </a:t>
            </a:r>
            <a:br>
              <a:rPr lang="en-US" b="1" dirty="0"/>
            </a:br>
            <a:r>
              <a:rPr lang="en-US" b="1" dirty="0"/>
              <a:t>-while loop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447800"/>
            <a:ext cx="10601325" cy="54102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What will be the result, if we try to compile and execute the following code snippets</a:t>
            </a:r>
          </a:p>
          <a:p>
            <a:pPr marL="0" indent="0">
              <a:buNone/>
            </a:pPr>
            <a:r>
              <a:rPr lang="en-US" b="1" dirty="0"/>
              <a:t>1.</a:t>
            </a:r>
          </a:p>
          <a:p>
            <a:pPr marL="0" indent="0">
              <a:buNone/>
            </a:pPr>
            <a:r>
              <a:rPr lang="en-US" dirty="0"/>
              <a:t>class Sample {</a:t>
            </a:r>
          </a:p>
          <a:p>
            <a:pPr marL="0" indent="0">
              <a:buNone/>
            </a:pPr>
            <a:r>
              <a:rPr lang="en-US" dirty="0"/>
              <a:t>public static void main(String[] args) {</a:t>
            </a:r>
          </a:p>
          <a:p>
            <a:pPr marL="0" indent="0">
              <a:buNone/>
            </a:pPr>
            <a:r>
              <a:rPr lang="en-US" dirty="0"/>
              <a:t>while(false)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("while loop");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b="1" dirty="0"/>
              <a:t>2.</a:t>
            </a:r>
          </a:p>
          <a:p>
            <a:pPr marL="0" indent="0">
              <a:buNone/>
            </a:pPr>
            <a:r>
              <a:rPr lang="en-US" dirty="0"/>
              <a:t> class Sample {</a:t>
            </a:r>
          </a:p>
          <a:p>
            <a:pPr marL="0" indent="0">
              <a:buNone/>
            </a:pPr>
            <a:r>
              <a:rPr lang="en-US" dirty="0"/>
              <a:t>public static void main(String[] args) {</a:t>
            </a:r>
          </a:p>
          <a:p>
            <a:pPr marL="0" indent="0">
              <a:buNone/>
            </a:pPr>
            <a:r>
              <a:rPr lang="en-US" dirty="0"/>
              <a:t>for( ; ; )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("For loop");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4597750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2676525" y="169068"/>
            <a:ext cx="7924800" cy="932657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Concept of enhanced for loop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6640" y="2316480"/>
            <a:ext cx="8686800" cy="454152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3800" dirty="0"/>
              <a:t>public class Sample {</a:t>
            </a:r>
          </a:p>
          <a:p>
            <a:pPr marL="0" indent="0">
              <a:buNone/>
            </a:pPr>
            <a:r>
              <a:rPr lang="en-US" sz="3800" dirty="0"/>
              <a:t>public static void main(String[] args) {</a:t>
            </a:r>
          </a:p>
          <a:p>
            <a:pPr marL="0" indent="0">
              <a:buNone/>
            </a:pPr>
            <a:r>
              <a:rPr lang="en-US" sz="3800" dirty="0"/>
              <a:t>int [] numbers = {10, 20, 30, 40, 50};</a:t>
            </a:r>
          </a:p>
          <a:p>
            <a:pPr marL="0" indent="0">
              <a:buNone/>
            </a:pPr>
            <a:r>
              <a:rPr lang="en-US" sz="3800" dirty="0"/>
              <a:t>for(int i : numbers ) {</a:t>
            </a:r>
          </a:p>
          <a:p>
            <a:pPr marL="0" indent="0">
              <a:buNone/>
            </a:pPr>
            <a:r>
              <a:rPr lang="en-US" sz="3800" dirty="0" err="1"/>
              <a:t>System.out.println</a:t>
            </a:r>
            <a:r>
              <a:rPr lang="en-US" sz="3800" dirty="0"/>
              <a:t>( "i: "+i );</a:t>
            </a:r>
          </a:p>
          <a:p>
            <a:pPr marL="0" indent="0">
              <a:buNone/>
            </a:pPr>
            <a:r>
              <a:rPr lang="en-US" sz="3800" dirty="0"/>
              <a:t>}</a:t>
            </a:r>
          </a:p>
          <a:p>
            <a:pPr marL="0" indent="0">
              <a:buNone/>
            </a:pPr>
            <a:r>
              <a:rPr lang="en-US" sz="3800" dirty="0"/>
              <a:t>}</a:t>
            </a:r>
          </a:p>
          <a:p>
            <a:pPr marL="0" indent="0">
              <a:buNone/>
            </a:pPr>
            <a:r>
              <a:rPr lang="en-US" sz="3800" dirty="0"/>
              <a:t>}									</a:t>
            </a:r>
            <a:r>
              <a:rPr lang="en-US" sz="2800" dirty="0"/>
              <a:t>			</a:t>
            </a:r>
          </a:p>
          <a:p>
            <a:pPr marL="0" indent="0">
              <a:buNone/>
            </a:pPr>
            <a:endParaRPr kumimoji="0" lang="en-US" altLang="en-US" sz="3800" i="0" u="none" strike="noStrike" cap="none" normalizeH="0" baseline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kumimoji="0" lang="en-US" altLang="en-US" sz="380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kumimoji="0" lang="en-US" altLang="en-US" sz="380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The loop </a:t>
            </a:r>
            <a:r>
              <a:rPr kumimoji="0" lang="en-US" altLang="en-US" sz="3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automatically iterates over all elements </a:t>
            </a:r>
            <a:r>
              <a:rPr kumimoji="0" lang="en-US" altLang="en-US" sz="380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in the </a:t>
            </a:r>
            <a:r>
              <a:rPr kumimoji="0" lang="en-US" altLang="en-US" sz="380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numbers</a:t>
            </a:r>
            <a:r>
              <a:rPr lang="en-US" altLang="en-US" sz="3800" dirty="0">
                <a:solidFill>
                  <a:schemeClr val="accent2">
                    <a:lumMod val="75000"/>
                  </a:schemeClr>
                </a:solidFill>
                <a:latin typeface="Arial Unicode MS"/>
              </a:rPr>
              <a:t> </a:t>
            </a:r>
            <a:r>
              <a:rPr kumimoji="0" lang="en-US" altLang="en-US" sz="380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</a:rPr>
              <a:t>collection without requiring explicit index handling</a:t>
            </a:r>
            <a:endParaRPr lang="en-US" sz="38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6000" b="1" dirty="0"/>
              <a:t>Output:				</a:t>
            </a:r>
          </a:p>
          <a:p>
            <a:pPr marL="0" indent="0">
              <a:buNone/>
            </a:pPr>
            <a:r>
              <a:rPr lang="en-US" sz="6000" dirty="0"/>
              <a:t>i:10</a:t>
            </a:r>
          </a:p>
          <a:p>
            <a:pPr marL="0" indent="0">
              <a:buNone/>
            </a:pPr>
            <a:r>
              <a:rPr lang="en-US" sz="6000" dirty="0"/>
              <a:t>i:20 </a:t>
            </a:r>
          </a:p>
          <a:p>
            <a:pPr marL="0" indent="0">
              <a:buNone/>
            </a:pPr>
            <a:r>
              <a:rPr lang="en-US" sz="6000" dirty="0"/>
              <a:t>i: 30</a:t>
            </a:r>
          </a:p>
          <a:p>
            <a:pPr marL="0" indent="0">
              <a:buNone/>
            </a:pPr>
            <a:r>
              <a:rPr lang="en-US" sz="6000" dirty="0"/>
              <a:t>i:40</a:t>
            </a:r>
          </a:p>
          <a:p>
            <a:pPr marL="0" indent="0">
              <a:buNone/>
            </a:pPr>
            <a:r>
              <a:rPr lang="en-US" sz="6000" dirty="0"/>
              <a:t>i:50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89342A-1101-0CAC-7468-120A93DF3D09}"/>
              </a:ext>
            </a:extLst>
          </p:cNvPr>
          <p:cNvSpPr txBox="1"/>
          <p:nvPr/>
        </p:nvSpPr>
        <p:spPr>
          <a:xfrm>
            <a:off x="946150" y="1177210"/>
            <a:ext cx="90919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</a:t>
            </a:r>
            <a:r>
              <a:rPr lang="en-US" sz="2400" b="0" i="0" dirty="0">
                <a:effectLst/>
                <a:latin typeface="+mj-lt"/>
              </a:rPr>
              <a:t>terate through elements of </a:t>
            </a:r>
            <a:r>
              <a:rPr lang="en-US" sz="2400" b="1" i="0" dirty="0">
                <a:effectLst/>
                <a:latin typeface="+mj-lt"/>
              </a:rPr>
              <a:t>arrays</a:t>
            </a:r>
            <a:r>
              <a:rPr lang="en-US" sz="2400" b="0" i="0" dirty="0">
                <a:effectLst/>
                <a:latin typeface="+mj-lt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Also known as </a:t>
            </a:r>
            <a:r>
              <a:rPr lang="en-US" sz="2400" b="1" dirty="0">
                <a:latin typeface="+mj-lt"/>
              </a:rPr>
              <a:t>for each or enhanced loop in java</a:t>
            </a:r>
            <a:r>
              <a:rPr lang="en-US" sz="2400" dirty="0">
                <a:latin typeface="+mj-lt"/>
              </a:rPr>
              <a:t>.</a:t>
            </a:r>
            <a:endParaRPr lang="en-IN" sz="2400" dirty="0">
              <a:latin typeface="+mj-lt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B36562B-D0BD-1BC3-BD76-1E02EFF67684}"/>
              </a:ext>
            </a:extLst>
          </p:cNvPr>
          <p:cNvCxnSpPr>
            <a:cxnSpLocks/>
          </p:cNvCxnSpPr>
          <p:nvPr/>
        </p:nvCxnSpPr>
        <p:spPr>
          <a:xfrm>
            <a:off x="2987040" y="2875280"/>
            <a:ext cx="30035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BC81DCB9-6EBB-B1C3-CC5F-20838DBA9378}"/>
              </a:ext>
            </a:extLst>
          </p:cNvPr>
          <p:cNvCxnSpPr/>
          <p:nvPr/>
        </p:nvCxnSpPr>
        <p:spPr>
          <a:xfrm>
            <a:off x="2367280" y="3185161"/>
            <a:ext cx="2692400" cy="5334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Rectangle 3">
            <a:extLst>
              <a:ext uri="{FF2B5EF4-FFF2-40B4-BE49-F238E27FC236}">
                <a16:creationId xmlns:a16="http://schemas.microsoft.com/office/drawing/2014/main" id="{76733142-8BE5-AA1D-4B4C-44D23D662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9470" y="2643257"/>
            <a:ext cx="335026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numbers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is a collection (like a list, set, or array) of integers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EF1F9206-A6DF-1ECC-E024-F919AB991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1135" y="3560500"/>
            <a:ext cx="399859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int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a variable that holds the current element from the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numbers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collection during each iteration.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535139-14E1-7743-EBDC-36F9E980C633}"/>
              </a:ext>
            </a:extLst>
          </p:cNvPr>
          <p:cNvSpPr txBox="1"/>
          <p:nvPr/>
        </p:nvSpPr>
        <p:spPr>
          <a:xfrm>
            <a:off x="5638800" y="301244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1770AF-4B8E-29D6-C071-CDD5982E38FD}"/>
              </a:ext>
            </a:extLst>
          </p:cNvPr>
          <p:cNvSpPr txBox="1"/>
          <p:nvPr/>
        </p:nvSpPr>
        <p:spPr>
          <a:xfrm>
            <a:off x="10901680" y="30124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B3A7C45C-6491-86C1-549C-4575E6BE7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07722"/>
            <a:ext cx="232756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48463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2676525" y="169068"/>
            <a:ext cx="7924800" cy="932657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Break Statement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447800"/>
            <a:ext cx="12192000" cy="54102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800"/>
              <a:t>Predict the output ?</a:t>
            </a:r>
          </a:p>
          <a:p>
            <a:pPr marL="0" indent="0">
              <a:buNone/>
            </a:pPr>
            <a:endParaRPr lang="en-US" sz="3800"/>
          </a:p>
          <a:p>
            <a:pPr marL="0" indent="0">
              <a:buNone/>
            </a:pPr>
            <a:r>
              <a:rPr lang="en-US" sz="2700"/>
              <a:t>class BreakDemo</a:t>
            </a:r>
            <a:br>
              <a:rPr lang="en-US" sz="2700"/>
            </a:br>
            <a:r>
              <a:rPr lang="en-US" sz="2700"/>
              <a:t>{</a:t>
            </a:r>
            <a:br>
              <a:rPr lang="en-US" sz="2700"/>
            </a:br>
            <a:r>
              <a:rPr lang="en-US" sz="2700"/>
              <a:t>     public static void main(String args[])</a:t>
            </a:r>
            <a:br>
              <a:rPr lang="en-US" sz="2700"/>
            </a:br>
            <a:r>
              <a:rPr lang="en-US" sz="2700"/>
              <a:t>     {</a:t>
            </a:r>
            <a:br>
              <a:rPr lang="en-US" sz="2700"/>
            </a:br>
            <a:r>
              <a:rPr lang="en-US" sz="2700"/>
              <a:t>          int arr[] = {5,10,15,20,25,30};</a:t>
            </a:r>
            <a:br>
              <a:rPr lang="en-US" sz="2700"/>
            </a:br>
            <a:r>
              <a:rPr lang="en-US" sz="2700"/>
              <a:t>          int n ;</a:t>
            </a:r>
            <a:br>
              <a:rPr lang="en-US" sz="2700"/>
            </a:br>
            <a:r>
              <a:rPr lang="en-US" sz="2700"/>
              <a:t>          int search = 15;</a:t>
            </a:r>
            <a:br>
              <a:rPr lang="en-US" sz="2700"/>
            </a:br>
            <a:r>
              <a:rPr lang="en-US" sz="2700"/>
              <a:t>          boolean b = false;</a:t>
            </a:r>
            <a:br>
              <a:rPr lang="en-US" sz="2700"/>
            </a:br>
            <a:r>
              <a:rPr lang="en-US" sz="2700"/>
              <a:t>          for(n = 0; n &lt; arr.length; n++)</a:t>
            </a:r>
            <a:br>
              <a:rPr lang="en-US" sz="2700"/>
            </a:br>
            <a:r>
              <a:rPr lang="en-US" sz="2700"/>
              <a:t>          {</a:t>
            </a:r>
            <a:br>
              <a:rPr lang="en-US" sz="2700"/>
            </a:br>
            <a:r>
              <a:rPr lang="en-US" sz="2700"/>
              <a:t>               if(arr[n] == search)</a:t>
            </a:r>
            <a:br>
              <a:rPr lang="en-US" sz="2700"/>
            </a:br>
            <a:r>
              <a:rPr lang="en-US" sz="2700"/>
              <a:t>               {</a:t>
            </a:r>
            <a:br>
              <a:rPr lang="en-US" sz="2700"/>
            </a:br>
            <a:r>
              <a:rPr lang="en-US" sz="2700"/>
              <a:t>                    b = true;</a:t>
            </a:r>
            <a:br>
              <a:rPr lang="en-US" sz="2700"/>
            </a:br>
            <a:r>
              <a:rPr lang="en-US" sz="2700"/>
              <a:t>                    break;</a:t>
            </a:r>
            <a:br>
              <a:rPr lang="en-US" sz="2700"/>
            </a:br>
            <a:r>
              <a:rPr lang="en-US" sz="2700"/>
              <a:t>               }</a:t>
            </a:r>
            <a:br>
              <a:rPr lang="en-US" sz="2700"/>
            </a:br>
            <a:r>
              <a:rPr lang="en-US" sz="2700"/>
              <a:t>          }</a:t>
            </a:r>
            <a:br>
              <a:rPr lang="en-US" sz="2700"/>
            </a:br>
            <a:r>
              <a:rPr lang="en-US" sz="2700"/>
              <a:t>          if(b)</a:t>
            </a:r>
            <a:br>
              <a:rPr lang="en-US" sz="2700"/>
            </a:br>
            <a:r>
              <a:rPr lang="en-US" sz="2700"/>
              <a:t>               System.out.println("Number found " +search+" at index of  "+n);</a:t>
            </a:r>
            <a:br>
              <a:rPr lang="en-US" sz="2700"/>
            </a:br>
            <a:r>
              <a:rPr lang="en-US" sz="2700"/>
              <a:t>          else</a:t>
            </a:r>
            <a:br>
              <a:rPr lang="en-US" sz="2700"/>
            </a:br>
            <a:r>
              <a:rPr lang="en-US" sz="2700"/>
              <a:t>               System.out.println("Element is not found");</a:t>
            </a:r>
            <a:br>
              <a:rPr lang="en-US" sz="2700"/>
            </a:br>
            <a:r>
              <a:rPr lang="en-US" sz="2700"/>
              <a:t>     }</a:t>
            </a:r>
            <a:br>
              <a:rPr lang="en-US" sz="2700"/>
            </a:br>
            <a:r>
              <a:rPr lang="en-US" sz="2700"/>
              <a:t>}</a:t>
            </a:r>
          </a:p>
          <a:p>
            <a:pPr marL="0" indent="0">
              <a:buNone/>
            </a:pPr>
            <a:br>
              <a:rPr lang="en-US" sz="3200"/>
            </a:br>
            <a:endParaRPr lang="en-US" sz="320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B05D13-924E-AD65-D961-D900D4F02C9C}"/>
              </a:ext>
            </a:extLst>
          </p:cNvPr>
          <p:cNvSpPr txBox="1"/>
          <p:nvPr/>
        </p:nvSpPr>
        <p:spPr>
          <a:xfrm>
            <a:off x="8890000" y="5669280"/>
            <a:ext cx="31173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</a:p>
          <a:p>
            <a:r>
              <a:rPr lang="en-US" dirty="0"/>
              <a:t>Number found 15 at index of 2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248463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-24449"/>
            <a:ext cx="10058400" cy="932657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Continue statement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8000" y="1361440"/>
            <a:ext cx="6238240" cy="495808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Continue Statement</a:t>
            </a:r>
          </a:p>
          <a:p>
            <a:pPr marL="0" indent="0">
              <a:buNone/>
            </a:pPr>
            <a:r>
              <a:rPr lang="en-US" dirty="0"/>
              <a:t>Continue statement is used to skip the current iteration of while, for or do-while loop.</a:t>
            </a:r>
          </a:p>
          <a:p>
            <a:pPr marL="0" indent="0">
              <a:buNone/>
            </a:pPr>
            <a:r>
              <a:rPr lang="en-US" dirty="0"/>
              <a:t>It causes the immediate jump to next iteration of loop.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539C6F-E69A-9134-9C1F-A045F1B410A9}"/>
              </a:ext>
            </a:extLst>
          </p:cNvPr>
          <p:cNvSpPr txBox="1"/>
          <p:nvPr/>
        </p:nvSpPr>
        <p:spPr>
          <a:xfrm>
            <a:off x="7264400" y="908208"/>
            <a:ext cx="4277360" cy="56630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/>
              <a:t>Predict the output?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class </a:t>
            </a:r>
            <a:r>
              <a:rPr lang="en-US" sz="1800" dirty="0" err="1"/>
              <a:t>ContinueDemo</a:t>
            </a:r>
            <a:br>
              <a:rPr lang="en-US" sz="1800" dirty="0"/>
            </a:br>
            <a:r>
              <a:rPr lang="en-US" sz="1800" dirty="0"/>
              <a:t>{</a:t>
            </a:r>
            <a:br>
              <a:rPr lang="en-US" sz="1800" dirty="0"/>
            </a:br>
            <a:r>
              <a:rPr lang="en-US" sz="1800" dirty="0"/>
              <a:t>     public static void main(String []</a:t>
            </a:r>
            <a:r>
              <a:rPr lang="en-US" sz="1800" dirty="0" err="1"/>
              <a:t>args</a:t>
            </a:r>
            <a:r>
              <a:rPr lang="en-US" sz="1800" dirty="0"/>
              <a:t>)</a:t>
            </a:r>
            <a:br>
              <a:rPr lang="en-US" sz="1800" dirty="0"/>
            </a:br>
            <a:r>
              <a:rPr lang="en-US" sz="1800" dirty="0"/>
              <a:t>     {</a:t>
            </a:r>
            <a:br>
              <a:rPr lang="en-US" sz="1800" dirty="0"/>
            </a:br>
            <a:r>
              <a:rPr lang="en-US" sz="1800" dirty="0"/>
              <a:t>          for (int j = 1; j &lt;= 10; </a:t>
            </a:r>
            <a:r>
              <a:rPr lang="en-US" sz="1800" dirty="0" err="1"/>
              <a:t>j++</a:t>
            </a:r>
            <a:r>
              <a:rPr lang="en-US" sz="1800" dirty="0"/>
              <a:t>)</a:t>
            </a:r>
            <a:br>
              <a:rPr lang="en-US" sz="1800" dirty="0"/>
            </a:br>
            <a:r>
              <a:rPr lang="en-US" sz="1800" dirty="0"/>
              <a:t>          {</a:t>
            </a:r>
            <a:br>
              <a:rPr lang="en-US" sz="1800" dirty="0"/>
            </a:br>
            <a:r>
              <a:rPr lang="en-US" sz="1800" dirty="0"/>
              <a:t>               </a:t>
            </a:r>
            <a:r>
              <a:rPr lang="en-US" sz="1800" dirty="0" err="1"/>
              <a:t>System.out.print</a:t>
            </a:r>
            <a:r>
              <a:rPr lang="en-US" sz="1800" dirty="0"/>
              <a:t>(j+"  ");</a:t>
            </a:r>
            <a:br>
              <a:rPr lang="en-US" sz="1800" dirty="0"/>
            </a:br>
            <a:r>
              <a:rPr lang="en-US" sz="1800" dirty="0"/>
              <a:t>               if (j % 2 != 0)</a:t>
            </a:r>
            <a:br>
              <a:rPr lang="en-US" sz="1800" dirty="0"/>
            </a:br>
            <a:r>
              <a:rPr lang="en-US" sz="1800" dirty="0"/>
              <a:t>                    continue;</a:t>
            </a:r>
            <a:br>
              <a:rPr lang="en-US" sz="1800" dirty="0"/>
            </a:br>
            <a:r>
              <a:rPr lang="en-US" sz="1800" dirty="0"/>
              <a:t>                    </a:t>
            </a:r>
            <a:r>
              <a:rPr lang="en-US" sz="1800" dirty="0" err="1"/>
              <a:t>System.out.println</a:t>
            </a:r>
            <a:r>
              <a:rPr lang="en-US" sz="1800" dirty="0"/>
              <a:t>("  ");</a:t>
            </a:r>
            <a:br>
              <a:rPr lang="en-US" sz="1800" dirty="0"/>
            </a:br>
            <a:r>
              <a:rPr lang="en-US" sz="1800" dirty="0"/>
              <a:t>          }</a:t>
            </a:r>
            <a:br>
              <a:rPr lang="en-US" sz="1800" dirty="0"/>
            </a:br>
            <a:r>
              <a:rPr lang="en-US" sz="1800" dirty="0"/>
              <a:t>     }</a:t>
            </a:r>
            <a:br>
              <a:rPr lang="en-US" sz="1800" dirty="0"/>
            </a:br>
            <a:r>
              <a:rPr lang="en-US" sz="1800" dirty="0"/>
              <a:t>} </a:t>
            </a:r>
          </a:p>
          <a:p>
            <a:pPr marL="0" indent="0">
              <a:buNone/>
            </a:pPr>
            <a:r>
              <a:rPr lang="en-US" sz="1500" dirty="0"/>
              <a:t>Output:</a:t>
            </a:r>
            <a:br>
              <a:rPr lang="en-US" sz="1500" dirty="0"/>
            </a:br>
            <a:r>
              <a:rPr lang="en-US" sz="1500" dirty="0"/>
              <a:t>1  2    </a:t>
            </a:r>
            <a:br>
              <a:rPr lang="en-US" sz="1500" dirty="0"/>
            </a:br>
            <a:r>
              <a:rPr lang="en-US" sz="1500" dirty="0"/>
              <a:t>3  4    </a:t>
            </a:r>
            <a:br>
              <a:rPr lang="en-US" sz="1500" dirty="0"/>
            </a:br>
            <a:r>
              <a:rPr lang="en-US" sz="1500" dirty="0"/>
              <a:t>5  6    </a:t>
            </a:r>
            <a:br>
              <a:rPr lang="en-US" sz="1500" dirty="0"/>
            </a:br>
            <a:r>
              <a:rPr lang="en-US" sz="1500" dirty="0"/>
              <a:t>7  8    </a:t>
            </a:r>
            <a:br>
              <a:rPr lang="en-US" sz="1500" dirty="0"/>
            </a:br>
            <a:r>
              <a:rPr lang="en-US" sz="1500" dirty="0"/>
              <a:t>9  10</a:t>
            </a:r>
          </a:p>
        </p:txBody>
      </p:sp>
    </p:spTree>
    <p:extLst>
      <p:ext uri="{BB962C8B-B14F-4D97-AF65-F5344CB8AC3E}">
        <p14:creationId xmlns:p14="http://schemas.microsoft.com/office/powerpoint/2010/main" val="197248463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402080" y="169068"/>
            <a:ext cx="10058400" cy="932657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Program for Continue statement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036320"/>
            <a:ext cx="10515600" cy="557783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200" dirty="0"/>
              <a:t>Predict the output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class </a:t>
            </a:r>
            <a:r>
              <a:rPr lang="en-US" sz="3200" dirty="0" err="1"/>
              <a:t>ContinueDemo</a:t>
            </a:r>
            <a:br>
              <a:rPr lang="en-US" sz="3200" dirty="0"/>
            </a:br>
            <a:r>
              <a:rPr lang="en-US" sz="3200" dirty="0"/>
              <a:t>{</a:t>
            </a:r>
            <a:br>
              <a:rPr lang="en-US" sz="3200" dirty="0"/>
            </a:br>
            <a:r>
              <a:rPr lang="en-US" sz="3200" dirty="0"/>
              <a:t>     public static void main(String []args)</a:t>
            </a:r>
            <a:br>
              <a:rPr lang="en-US" sz="3200" dirty="0"/>
            </a:br>
            <a:r>
              <a:rPr lang="en-US" sz="3200" dirty="0"/>
              <a:t>     {</a:t>
            </a:r>
            <a:br>
              <a:rPr lang="en-US" sz="3200" dirty="0"/>
            </a:br>
            <a:r>
              <a:rPr lang="en-US" sz="3200" dirty="0"/>
              <a:t>          for (int j = 1; j &lt;= 10; j++)</a:t>
            </a:r>
            <a:br>
              <a:rPr lang="en-US" sz="3200" dirty="0"/>
            </a:br>
            <a:r>
              <a:rPr lang="en-US" sz="3200" dirty="0"/>
              <a:t>          {</a:t>
            </a:r>
            <a:br>
              <a:rPr lang="en-US" sz="3200" dirty="0"/>
            </a:br>
            <a:r>
              <a:rPr lang="en-US" sz="3200" dirty="0"/>
              <a:t>               </a:t>
            </a:r>
            <a:r>
              <a:rPr lang="en-US" sz="3200" dirty="0" err="1"/>
              <a:t>System.out.print</a:t>
            </a:r>
            <a:r>
              <a:rPr lang="en-US" sz="3200" dirty="0"/>
              <a:t>(j+"  ");</a:t>
            </a:r>
            <a:br>
              <a:rPr lang="en-US" sz="3200" dirty="0"/>
            </a:br>
            <a:r>
              <a:rPr lang="en-US" sz="3200" dirty="0"/>
              <a:t>               if (j % 2 != 0)</a:t>
            </a:r>
            <a:br>
              <a:rPr lang="en-US" sz="3200" dirty="0"/>
            </a:br>
            <a:r>
              <a:rPr lang="en-US" sz="3200" dirty="0"/>
              <a:t>                    continue;</a:t>
            </a:r>
            <a:br>
              <a:rPr lang="en-US" sz="3200" dirty="0"/>
            </a:br>
            <a:r>
              <a:rPr lang="en-US" sz="3200" dirty="0"/>
              <a:t>                    </a:t>
            </a:r>
            <a:r>
              <a:rPr lang="en-US" sz="3200" dirty="0" err="1"/>
              <a:t>System.out.println</a:t>
            </a:r>
            <a:r>
              <a:rPr lang="en-US" sz="3200" dirty="0"/>
              <a:t>("  ");</a:t>
            </a:r>
            <a:br>
              <a:rPr lang="en-US" sz="3200" dirty="0"/>
            </a:br>
            <a:r>
              <a:rPr lang="en-US" sz="3200" dirty="0"/>
              <a:t>          }</a:t>
            </a:r>
            <a:br>
              <a:rPr lang="en-US" sz="3200" dirty="0"/>
            </a:br>
            <a:r>
              <a:rPr lang="en-US" sz="3200" dirty="0"/>
              <a:t>     }</a:t>
            </a:r>
            <a:br>
              <a:rPr lang="en-US" sz="3200" dirty="0"/>
            </a:br>
            <a:r>
              <a:rPr lang="en-US" sz="3200" dirty="0"/>
              <a:t>} </a:t>
            </a:r>
          </a:p>
          <a:p>
            <a:pPr marL="0" indent="0">
              <a:buNone/>
            </a:pPr>
            <a:r>
              <a:rPr lang="en-US" sz="3200" dirty="0"/>
              <a:t>Output:</a:t>
            </a:r>
            <a:br>
              <a:rPr lang="en-US" sz="3200" dirty="0"/>
            </a:br>
            <a:r>
              <a:rPr lang="en-US" sz="3200" dirty="0"/>
              <a:t>1  2    </a:t>
            </a:r>
            <a:br>
              <a:rPr lang="en-US" sz="3200" dirty="0"/>
            </a:br>
            <a:r>
              <a:rPr lang="en-US" sz="3200" dirty="0"/>
              <a:t>3  4    </a:t>
            </a:r>
            <a:br>
              <a:rPr lang="en-US" sz="3200" dirty="0"/>
            </a:br>
            <a:r>
              <a:rPr lang="en-US" sz="3200" dirty="0"/>
              <a:t>5  6    </a:t>
            </a:r>
            <a:br>
              <a:rPr lang="en-US" sz="3200" dirty="0"/>
            </a:br>
            <a:r>
              <a:rPr lang="en-US" sz="3200" dirty="0"/>
              <a:t>7  8    </a:t>
            </a:r>
            <a:br>
              <a:rPr lang="en-US" sz="3200" dirty="0"/>
            </a:br>
            <a:r>
              <a:rPr lang="en-US" sz="3200" dirty="0"/>
              <a:t>9  10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40556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2676525" y="169068"/>
            <a:ext cx="7924800" cy="932657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Comparison of Break and continue 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36321" y="1447800"/>
            <a:ext cx="10302240" cy="4800600"/>
          </a:xfrm>
          <a:prstGeom prst="rect">
            <a:avLst/>
          </a:prstGeom>
          <a:noFill/>
          <a:ln w="47625">
            <a:solidFill>
              <a:schemeClr val="accent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7248463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2912" y="164516"/>
            <a:ext cx="10058400" cy="932657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Arrays in Java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447800"/>
            <a:ext cx="12192000" cy="5410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 Java all arrays are </a:t>
            </a:r>
            <a:r>
              <a:rPr lang="en-US" b="1" dirty="0"/>
              <a:t>dynamically allocated. </a:t>
            </a:r>
          </a:p>
          <a:p>
            <a:r>
              <a:rPr lang="en-US" dirty="0"/>
              <a:t>Since arrays are objects in Java, we can find their length using member length. </a:t>
            </a:r>
          </a:p>
          <a:p>
            <a:r>
              <a:rPr lang="en-US" dirty="0"/>
              <a:t>To find length of Array, </a:t>
            </a:r>
            <a:r>
              <a:rPr lang="en-US" b="1" dirty="0" err="1"/>
              <a:t>sizeof</a:t>
            </a:r>
            <a:r>
              <a:rPr lang="en-US" b="1" dirty="0"/>
              <a:t> is used</a:t>
            </a:r>
            <a:r>
              <a:rPr lang="en-US" dirty="0"/>
              <a:t>. </a:t>
            </a:r>
          </a:p>
          <a:p>
            <a:r>
              <a:rPr lang="en-US" dirty="0"/>
              <a:t>A Java array variable can also be declared like other variables </a:t>
            </a:r>
            <a:r>
              <a:rPr lang="en-US" b="1" dirty="0"/>
              <a:t>with [] after the data type</a:t>
            </a:r>
            <a:r>
              <a:rPr lang="en-US" dirty="0"/>
              <a:t>.</a:t>
            </a:r>
          </a:p>
          <a:p>
            <a:r>
              <a:rPr lang="en-US" dirty="0"/>
              <a:t>The variables in the array are ordered and </a:t>
            </a:r>
            <a:r>
              <a:rPr lang="en-US" b="1" dirty="0"/>
              <a:t>each have an index beginning from 0</a:t>
            </a:r>
            <a:r>
              <a:rPr lang="en-US" dirty="0"/>
              <a:t>.</a:t>
            </a:r>
          </a:p>
          <a:p>
            <a:r>
              <a:rPr lang="en-US" dirty="0"/>
              <a:t>Java array can be also be used as a </a:t>
            </a:r>
            <a:r>
              <a:rPr lang="en-US" b="1" dirty="0"/>
              <a:t>static field, a local variable or a method paramete</a:t>
            </a:r>
            <a:r>
              <a:rPr lang="en-US" dirty="0"/>
              <a:t>r.</a:t>
            </a:r>
          </a:p>
          <a:p>
            <a:r>
              <a:rPr lang="en-US" dirty="0"/>
              <a:t>The size of an array must be specified by </a:t>
            </a:r>
            <a:r>
              <a:rPr lang="en-US" b="1" dirty="0"/>
              <a:t>an int value and not long or short.</a:t>
            </a:r>
          </a:p>
          <a:p>
            <a:r>
              <a:rPr lang="en-US" dirty="0"/>
              <a:t>The direct superclass of an array type is </a:t>
            </a:r>
            <a:r>
              <a:rPr lang="en-US" b="1" dirty="0"/>
              <a:t>Object</a:t>
            </a:r>
            <a:r>
              <a:rPr lang="en-US" dirty="0"/>
              <a:t>.</a:t>
            </a:r>
          </a:p>
          <a:p>
            <a:r>
              <a:rPr lang="en-US" dirty="0"/>
              <a:t>Every array type implements the </a:t>
            </a:r>
            <a:r>
              <a:rPr lang="en-US" b="1" dirty="0"/>
              <a:t>interfaces </a:t>
            </a:r>
            <a:r>
              <a:rPr lang="en-US" b="1" dirty="0" err="1"/>
              <a:t>Cloneable</a:t>
            </a:r>
            <a:r>
              <a:rPr lang="en-US" b="1" dirty="0"/>
              <a:t> and </a:t>
            </a:r>
            <a:r>
              <a:rPr lang="en-US" b="1" dirty="0" err="1"/>
              <a:t>java.io.Serializable</a:t>
            </a:r>
            <a:r>
              <a:rPr lang="en-US" b="1" dirty="0"/>
              <a:t>.	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3074" name="Picture 2" descr="Implementing Array in Java - Shiksha Online">
            <a:extLst>
              <a:ext uri="{FF2B5EF4-FFF2-40B4-BE49-F238E27FC236}">
                <a16:creationId xmlns:a16="http://schemas.microsoft.com/office/drawing/2014/main" id="{5E038EC4-E56A-744E-803B-9CAA1FD18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937" y="169068"/>
            <a:ext cx="2952750" cy="155257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93540556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9AA6A-D459-0E1A-610A-9CAAF664A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880" y="-112395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Cloning of array</a:t>
            </a:r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ABEB79-F978-0849-CB76-7BA8E746D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FCD8401C-96FF-6BF1-1039-5931A7C209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9789804"/>
              </p:ext>
            </p:extLst>
          </p:nvPr>
        </p:nvGraphicFramePr>
        <p:xfrm>
          <a:off x="-492760" y="1616743"/>
          <a:ext cx="8199120" cy="35495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57A10E4-C766-4121-39A9-9601CD2971C3}"/>
              </a:ext>
            </a:extLst>
          </p:cNvPr>
          <p:cNvSpPr txBox="1"/>
          <p:nvPr/>
        </p:nvSpPr>
        <p:spPr>
          <a:xfrm>
            <a:off x="7045960" y="2274838"/>
            <a:ext cx="4800600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1" dirty="0"/>
              <a:t>Syntax of Cloning</a:t>
            </a:r>
            <a:r>
              <a:rPr lang="en-IN" dirty="0"/>
              <a:t>:</a:t>
            </a:r>
          </a:p>
          <a:p>
            <a:endParaRPr lang="en-IN" dirty="0"/>
          </a:p>
          <a:p>
            <a:r>
              <a:rPr lang="en-US" dirty="0"/>
              <a:t>int[] </a:t>
            </a:r>
            <a:r>
              <a:rPr lang="en-US" dirty="0" err="1"/>
              <a:t>originalArray</a:t>
            </a:r>
            <a:r>
              <a:rPr lang="en-US" dirty="0"/>
              <a:t> = {1, 2, 3, 4, 5};</a:t>
            </a:r>
          </a:p>
          <a:p>
            <a:endParaRPr lang="en-US" dirty="0"/>
          </a:p>
          <a:p>
            <a:r>
              <a:rPr lang="en-US" dirty="0"/>
              <a:t>// Cloning the array</a:t>
            </a:r>
          </a:p>
          <a:p>
            <a:r>
              <a:rPr lang="en-US" dirty="0"/>
              <a:t>int[] </a:t>
            </a:r>
            <a:r>
              <a:rPr lang="en-US" dirty="0" err="1"/>
              <a:t>clonedArray</a:t>
            </a:r>
            <a:r>
              <a:rPr lang="en-US" dirty="0"/>
              <a:t> = </a:t>
            </a:r>
            <a:r>
              <a:rPr lang="en-US" dirty="0" err="1"/>
              <a:t>originalArray.clone</a:t>
            </a:r>
            <a:r>
              <a:rPr lang="en-US" dirty="0"/>
              <a:t>();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7080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402080" y="169068"/>
            <a:ext cx="10058400" cy="932657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Demonstrating cloning of array objects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10640" y="1178560"/>
            <a:ext cx="5699760" cy="5257800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ArrayCloneDemo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public static void main(String[] args)</a:t>
            </a:r>
          </a:p>
          <a:p>
            <a:pPr marL="0" indent="0">
              <a:buNone/>
            </a:pPr>
            <a:r>
              <a:rPr lang="en-US" dirty="0"/>
              <a:t>    {</a:t>
            </a:r>
          </a:p>
          <a:p>
            <a:pPr marL="0" indent="0">
              <a:buNone/>
            </a:pPr>
            <a:r>
              <a:rPr lang="en-US" dirty="0"/>
              <a:t>        int </a:t>
            </a:r>
            <a:r>
              <a:rPr lang="en-US" dirty="0" err="1"/>
              <a:t>ai</a:t>
            </a:r>
            <a:r>
              <a:rPr lang="en-US" dirty="0"/>
              <a:t>[] = {1, 2, 3, 4, 5}; </a:t>
            </a:r>
          </a:p>
          <a:p>
            <a:pPr marL="0" indent="0">
              <a:buNone/>
            </a:pPr>
            <a:r>
              <a:rPr lang="en-US" dirty="0"/>
              <a:t>        int </a:t>
            </a:r>
            <a:r>
              <a:rPr lang="en-US" dirty="0" err="1"/>
              <a:t>aic</a:t>
            </a:r>
            <a:r>
              <a:rPr lang="en-US" dirty="0"/>
              <a:t>[] = </a:t>
            </a:r>
            <a:r>
              <a:rPr lang="en-US" dirty="0" err="1"/>
              <a:t>ai</a:t>
            </a:r>
            <a:r>
              <a:rPr lang="en-US" dirty="0"/>
              <a:t>;  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aic</a:t>
            </a:r>
            <a:r>
              <a:rPr lang="en-US" dirty="0"/>
              <a:t>[2] = -9; 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aic</a:t>
            </a:r>
            <a:r>
              <a:rPr lang="en-US" dirty="0"/>
              <a:t>[2]);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ai</a:t>
            </a:r>
            <a:r>
              <a:rPr lang="en-US" dirty="0"/>
              <a:t>[2]);       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aic</a:t>
            </a:r>
            <a:r>
              <a:rPr lang="en-US" dirty="0"/>
              <a:t> = </a:t>
            </a:r>
            <a:r>
              <a:rPr lang="en-US" dirty="0" err="1"/>
              <a:t>ai.clone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aic</a:t>
            </a:r>
            <a:r>
              <a:rPr lang="en-US" dirty="0"/>
              <a:t>[1] = -15; 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aic</a:t>
            </a:r>
            <a:r>
              <a:rPr lang="en-US" dirty="0"/>
              <a:t>[1]);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ai</a:t>
            </a:r>
            <a:r>
              <a:rPr lang="en-US" dirty="0"/>
              <a:t>[1]);  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F94AAE-83D2-4678-3E06-2EC9769DD485}"/>
              </a:ext>
            </a:extLst>
          </p:cNvPr>
          <p:cNvSpPr txBox="1"/>
          <p:nvPr/>
        </p:nvSpPr>
        <p:spPr>
          <a:xfrm>
            <a:off x="7315200" y="4318000"/>
            <a:ext cx="1686560" cy="20313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OUTPUT: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9</a:t>
            </a:r>
          </a:p>
          <a:p>
            <a:pPr marL="0" indent="0">
              <a:buNone/>
            </a:pPr>
            <a:r>
              <a:rPr lang="en-US" dirty="0"/>
              <a:t>-9</a:t>
            </a:r>
          </a:p>
          <a:p>
            <a:pPr marL="0" indent="0">
              <a:buNone/>
            </a:pPr>
            <a:r>
              <a:rPr lang="en-US" dirty="0"/>
              <a:t>---</a:t>
            </a:r>
          </a:p>
          <a:p>
            <a:pPr marL="0" indent="0">
              <a:buNone/>
            </a:pPr>
            <a:r>
              <a:rPr lang="en-US" dirty="0"/>
              <a:t>-15</a:t>
            </a:r>
          </a:p>
          <a:p>
            <a:pPr marL="0" indent="0">
              <a:buNone/>
            </a:pPr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3540556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402080" y="169068"/>
            <a:ext cx="10058400" cy="93265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Is an array a primitive type or an object in Java?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58240"/>
            <a:ext cx="12192000" cy="5410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An array in Java is an object.</a:t>
            </a:r>
          </a:p>
          <a:p>
            <a:pPr>
              <a:buNone/>
            </a:pPr>
            <a:r>
              <a:rPr lang="en-US" sz="2400" dirty="0"/>
              <a:t>class Test </a:t>
            </a:r>
          </a:p>
          <a:p>
            <a:pPr>
              <a:buNone/>
            </a:pPr>
            <a:r>
              <a:rPr lang="en-US" sz="2400" dirty="0"/>
              <a:t>{</a:t>
            </a:r>
          </a:p>
          <a:p>
            <a:pPr>
              <a:buNone/>
            </a:pPr>
            <a:r>
              <a:rPr lang="en-US" sz="2400" dirty="0"/>
              <a:t>	 public static void main(String[] args) </a:t>
            </a:r>
          </a:p>
          <a:p>
            <a:pPr>
              <a:buNone/>
            </a:pPr>
            <a:r>
              <a:rPr lang="en-US" sz="2400" dirty="0"/>
              <a:t>	{	 int[] </a:t>
            </a:r>
            <a:r>
              <a:rPr lang="en-US" sz="2400" dirty="0" err="1"/>
              <a:t>ia</a:t>
            </a:r>
            <a:r>
              <a:rPr lang="en-US" sz="2400" dirty="0"/>
              <a:t> = new int[3];</a:t>
            </a:r>
          </a:p>
          <a:p>
            <a:pPr>
              <a:buNone/>
            </a:pPr>
            <a:r>
              <a:rPr lang="en-US" sz="2400" dirty="0"/>
              <a:t> 		</a:t>
            </a:r>
            <a:r>
              <a:rPr lang="en-US" sz="2400" dirty="0" err="1"/>
              <a:t>System.out.println</a:t>
            </a:r>
            <a:r>
              <a:rPr lang="en-US" sz="2400" dirty="0"/>
              <a:t>(</a:t>
            </a:r>
            <a:r>
              <a:rPr lang="en-US" sz="2400" dirty="0" err="1"/>
              <a:t>ia.getClass</a:t>
            </a:r>
            <a:r>
              <a:rPr lang="en-US" sz="2400" dirty="0"/>
              <a:t>()); </a:t>
            </a:r>
          </a:p>
          <a:p>
            <a:pPr>
              <a:buNone/>
            </a:pPr>
            <a:r>
              <a:rPr lang="en-US" sz="2400" dirty="0"/>
              <a:t>	</a:t>
            </a:r>
            <a:r>
              <a:rPr lang="en-US" sz="2400" dirty="0" err="1"/>
              <a:t>System.out.println</a:t>
            </a:r>
            <a:r>
              <a:rPr lang="en-US" sz="2400" dirty="0"/>
              <a:t>(</a:t>
            </a:r>
            <a:r>
              <a:rPr lang="en-US" sz="2400" dirty="0" err="1"/>
              <a:t>ia.getClass</a:t>
            </a:r>
            <a:r>
              <a:rPr lang="en-US" sz="2400" dirty="0"/>
              <a:t>().</a:t>
            </a:r>
            <a:r>
              <a:rPr lang="en-US" sz="2400" dirty="0" err="1"/>
              <a:t>getSuperclass</a:t>
            </a:r>
            <a:r>
              <a:rPr lang="en-US" sz="2400" dirty="0"/>
              <a:t>()); } }</a:t>
            </a:r>
          </a:p>
          <a:p>
            <a:pPr>
              <a:buNone/>
            </a:pPr>
            <a:r>
              <a:rPr lang="en-US" sz="2400" dirty="0"/>
              <a:t>	}</a:t>
            </a:r>
          </a:p>
          <a:p>
            <a:pPr>
              <a:buNone/>
            </a:pPr>
            <a:r>
              <a:rPr lang="en-US" sz="2400" dirty="0"/>
              <a:t>}</a:t>
            </a:r>
          </a:p>
          <a:p>
            <a:pPr>
              <a:buNone/>
            </a:pPr>
            <a:r>
              <a:rPr lang="en-US" sz="2400" b="1" dirty="0"/>
              <a:t>OUTPUT:</a:t>
            </a:r>
          </a:p>
          <a:p>
            <a:pPr>
              <a:buNone/>
            </a:pPr>
            <a:r>
              <a:rPr lang="en-US" sz="2400" dirty="0"/>
              <a:t>class [I class </a:t>
            </a:r>
            <a:r>
              <a:rPr lang="en-US" sz="2400" dirty="0" err="1"/>
              <a:t>java.lang.Object</a:t>
            </a:r>
            <a:r>
              <a:rPr lang="en-US" sz="2400" dirty="0"/>
              <a:t> where the string "[I" is the run-time type signature for the class object "array with component type int".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92724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402080" y="169068"/>
            <a:ext cx="10058400" cy="932657"/>
          </a:xfrm>
        </p:spPr>
        <p:txBody>
          <a:bodyPr>
            <a:normAutofit/>
          </a:bodyPr>
          <a:lstStyle/>
          <a:p>
            <a:pPr algn="ctr"/>
            <a:r>
              <a:rPr lang="en-US" b="1" dirty="0" err="1"/>
              <a:t>ArrayStoreException</a:t>
            </a:r>
            <a:endParaRPr lang="en-US" b="1" dirty="0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58240"/>
            <a:ext cx="12192000" cy="5410200"/>
          </a:xfrm>
        </p:spPr>
        <p:txBody>
          <a:bodyPr>
            <a:normAutofit/>
          </a:bodyPr>
          <a:lstStyle/>
          <a:p>
            <a:r>
              <a:rPr lang="en-US" dirty="0"/>
              <a:t>Arrays have the property that an array of one type is assignable to an array of its </a:t>
            </a:r>
            <a:r>
              <a:rPr lang="en-US" dirty="0" err="1"/>
              <a:t>supertype</a:t>
            </a:r>
            <a:r>
              <a:rPr lang="en-US" dirty="0"/>
              <a:t>, it is possible to play games with the compiler and try to trick it into storing the wrong kind of object in an array.</a:t>
            </a:r>
          </a:p>
          <a:p>
            <a:r>
              <a:rPr lang="en-US" dirty="0"/>
              <a:t>Java may not be able to check the types of all objects that you place into arrays at compile time.</a:t>
            </a:r>
          </a:p>
          <a:p>
            <a:r>
              <a:rPr lang="en-US" dirty="0"/>
              <a:t> In those cases, it’s possible to receive an </a:t>
            </a:r>
            <a:r>
              <a:rPr lang="en-US" dirty="0" err="1"/>
              <a:t>ArrayStoreException</a:t>
            </a:r>
            <a:r>
              <a:rPr lang="en-US" dirty="0"/>
              <a:t> at runtime if you try to assign the wrong type of object to an array element. </a:t>
            </a:r>
          </a:p>
          <a:p>
            <a:r>
              <a:rPr lang="en-US" dirty="0"/>
              <a:t>For example:</a:t>
            </a:r>
          </a:p>
          <a:p>
            <a:pPr>
              <a:buNone/>
            </a:pPr>
            <a:r>
              <a:rPr lang="en-US" dirty="0"/>
              <a:t>String [] strings = new String [10]; </a:t>
            </a:r>
          </a:p>
          <a:p>
            <a:pPr>
              <a:buNone/>
            </a:pPr>
            <a:r>
              <a:rPr lang="en-US" dirty="0"/>
              <a:t>Object [] objects = strings; // alias String [] as Object [] </a:t>
            </a:r>
          </a:p>
          <a:p>
            <a:pPr>
              <a:buNone/>
            </a:pPr>
            <a:r>
              <a:rPr lang="en-US" dirty="0"/>
              <a:t>objects[0] = new Date(); // Runtime </a:t>
            </a:r>
            <a:r>
              <a:rPr lang="en-US" dirty="0" err="1"/>
              <a:t>ArrayStoreException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748392910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402080" y="169068"/>
            <a:ext cx="10058400" cy="932657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Anonymous Array in Java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341120"/>
            <a:ext cx="8788400" cy="522732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Java supports the feature of </a:t>
            </a:r>
            <a:r>
              <a:rPr lang="en-US" b="1" dirty="0"/>
              <a:t>an anonymous array, so you don't need to declare the array while passing an array to the method.</a:t>
            </a:r>
          </a:p>
          <a:p>
            <a:pPr>
              <a:buNone/>
            </a:pPr>
            <a:r>
              <a:rPr lang="en-US" sz="1900" dirty="0"/>
              <a:t>//Java Program to demonstrate the way of passing an anonymous array  </a:t>
            </a:r>
          </a:p>
          <a:p>
            <a:pPr>
              <a:buNone/>
            </a:pPr>
            <a:r>
              <a:rPr lang="en-US" sz="1900" dirty="0"/>
              <a:t>//to method.  </a:t>
            </a:r>
          </a:p>
          <a:p>
            <a:pPr>
              <a:buNone/>
            </a:pPr>
            <a:r>
              <a:rPr lang="en-US" sz="1900" dirty="0"/>
              <a:t>public class </a:t>
            </a:r>
            <a:r>
              <a:rPr lang="en-US" sz="1900" dirty="0" err="1"/>
              <a:t>TestAnonymousArray</a:t>
            </a:r>
            <a:r>
              <a:rPr lang="en-US" sz="1900" dirty="0"/>
              <a:t>{  </a:t>
            </a:r>
          </a:p>
          <a:p>
            <a:pPr>
              <a:buNone/>
            </a:pPr>
            <a:r>
              <a:rPr lang="en-US" sz="1900" dirty="0"/>
              <a:t>//creating a method which receives an array as a parameter  </a:t>
            </a:r>
          </a:p>
          <a:p>
            <a:pPr>
              <a:buNone/>
            </a:pPr>
            <a:r>
              <a:rPr lang="en-US" sz="1900" dirty="0"/>
              <a:t>static void </a:t>
            </a:r>
            <a:r>
              <a:rPr lang="en-US" sz="1900" dirty="0" err="1"/>
              <a:t>printArray</a:t>
            </a:r>
            <a:r>
              <a:rPr lang="en-US" sz="1900" dirty="0"/>
              <a:t>(int </a:t>
            </a:r>
            <a:r>
              <a:rPr lang="en-US" sz="1900" dirty="0" err="1"/>
              <a:t>arr</a:t>
            </a:r>
            <a:r>
              <a:rPr lang="en-US" sz="1900" dirty="0"/>
              <a:t>[]){  </a:t>
            </a:r>
          </a:p>
          <a:p>
            <a:pPr>
              <a:buNone/>
            </a:pPr>
            <a:r>
              <a:rPr lang="en-US" sz="1900" dirty="0"/>
              <a:t>for(int i=0;i&lt;</a:t>
            </a:r>
            <a:r>
              <a:rPr lang="en-US" sz="1900" dirty="0" err="1"/>
              <a:t>arr.length;i</a:t>
            </a:r>
            <a:r>
              <a:rPr lang="en-US" sz="1900" dirty="0"/>
              <a:t>++)  </a:t>
            </a:r>
          </a:p>
          <a:p>
            <a:pPr>
              <a:buNone/>
            </a:pPr>
            <a:r>
              <a:rPr lang="en-US" sz="1900" dirty="0" err="1"/>
              <a:t>System.out.println</a:t>
            </a:r>
            <a:r>
              <a:rPr lang="en-US" sz="1900" dirty="0"/>
              <a:t>(</a:t>
            </a:r>
            <a:r>
              <a:rPr lang="en-US" sz="1900" dirty="0" err="1"/>
              <a:t>arr</a:t>
            </a:r>
            <a:r>
              <a:rPr lang="en-US" sz="1900" dirty="0"/>
              <a:t>[i]);  </a:t>
            </a:r>
          </a:p>
          <a:p>
            <a:pPr>
              <a:buNone/>
            </a:pPr>
            <a:r>
              <a:rPr lang="en-US" sz="1900" dirty="0"/>
              <a:t>}  </a:t>
            </a:r>
          </a:p>
          <a:p>
            <a:pPr>
              <a:buNone/>
            </a:pPr>
            <a:r>
              <a:rPr lang="en-US" sz="1900" dirty="0"/>
              <a:t>public static void main(String args[]){  </a:t>
            </a:r>
          </a:p>
          <a:p>
            <a:pPr>
              <a:buNone/>
            </a:pPr>
            <a:r>
              <a:rPr lang="en-US" sz="1900" dirty="0" err="1"/>
              <a:t>printArray</a:t>
            </a:r>
            <a:r>
              <a:rPr lang="en-US" sz="1900" dirty="0"/>
              <a:t>(new int[]{</a:t>
            </a:r>
            <a:r>
              <a:rPr lang="en-US" sz="1900"/>
              <a:t>10,22,44,66});     //</a:t>
            </a:r>
            <a:r>
              <a:rPr lang="en-US" sz="1900" dirty="0"/>
              <a:t>passing anonymous array to method  </a:t>
            </a:r>
          </a:p>
          <a:p>
            <a:pPr>
              <a:buNone/>
            </a:pPr>
            <a:r>
              <a:rPr lang="en-US" sz="1900" dirty="0"/>
              <a:t>}}  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6146" name="Picture 2" descr="Javarevisited: How to Create and Initialize Anonymous Array in Java? Example">
            <a:extLst>
              <a:ext uri="{FF2B5EF4-FFF2-40B4-BE49-F238E27FC236}">
                <a16:creationId xmlns:a16="http://schemas.microsoft.com/office/drawing/2014/main" id="{9E906378-C764-9080-3555-38327B254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699" y="2924652"/>
            <a:ext cx="4775968" cy="219329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13130173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402080" y="169068"/>
            <a:ext cx="10058400" cy="932657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JAGGED ARRAY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" y="1101725"/>
            <a:ext cx="5354320" cy="5756275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62500" lnSpcReduction="20000"/>
          </a:bodyPr>
          <a:lstStyle/>
          <a:p>
            <a:pPr algn="just">
              <a:buNone/>
            </a:pPr>
            <a:r>
              <a:rPr lang="en-US" b="1" dirty="0"/>
              <a:t>Jagged arrays in java are arrays containing arrays of different length. Jagged arrays are also multidimensional arrays. </a:t>
            </a:r>
          </a:p>
          <a:p>
            <a:pPr algn="just">
              <a:buNone/>
            </a:pPr>
            <a:r>
              <a:rPr lang="en-US" b="1" dirty="0"/>
              <a:t>Jagged arrays in java sometimes are also called as ragged arrays. 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public class </a:t>
            </a:r>
            <a:r>
              <a:rPr lang="en-US" dirty="0" err="1"/>
              <a:t>JaggedArraysInJava</a:t>
            </a:r>
            <a:endParaRPr lang="en-US" dirty="0"/>
          </a:p>
          <a:p>
            <a:pPr>
              <a:buNone/>
            </a:pPr>
            <a:r>
              <a:rPr lang="en-US" sz="2500" dirty="0"/>
              <a:t>{</a:t>
            </a:r>
          </a:p>
          <a:p>
            <a:pPr>
              <a:buNone/>
            </a:pPr>
            <a:r>
              <a:rPr lang="en-US" sz="2500" dirty="0"/>
              <a:t>    public static void main(String[] args)</a:t>
            </a:r>
          </a:p>
          <a:p>
            <a:pPr>
              <a:buNone/>
            </a:pPr>
            <a:r>
              <a:rPr lang="en-US" sz="2500" dirty="0"/>
              <a:t>    {</a:t>
            </a:r>
          </a:p>
          <a:p>
            <a:pPr>
              <a:buNone/>
            </a:pPr>
            <a:r>
              <a:rPr lang="en-US" sz="2500" dirty="0"/>
              <a:t>        //One Dimensional Array of length 3</a:t>
            </a:r>
          </a:p>
          <a:p>
            <a:pPr>
              <a:buNone/>
            </a:pPr>
            <a:r>
              <a:rPr lang="en-US" sz="2500" dirty="0"/>
              <a:t>        int[] OneDimensionalArray1 = {1, 2, 3};</a:t>
            </a:r>
          </a:p>
          <a:p>
            <a:pPr>
              <a:buNone/>
            </a:pPr>
            <a:r>
              <a:rPr lang="en-US" sz="2500" dirty="0"/>
              <a:t> </a:t>
            </a:r>
          </a:p>
          <a:p>
            <a:pPr>
              <a:buNone/>
            </a:pPr>
            <a:r>
              <a:rPr lang="en-US" sz="2500" dirty="0"/>
              <a:t>        //One Dimensional Array of length 4</a:t>
            </a:r>
          </a:p>
          <a:p>
            <a:pPr>
              <a:buNone/>
            </a:pPr>
            <a:r>
              <a:rPr lang="en-US" sz="2500" dirty="0"/>
              <a:t>        int[] oneDimensionalArray2 = {4, 5, 6, 7};</a:t>
            </a:r>
          </a:p>
          <a:p>
            <a:pPr>
              <a:buNone/>
            </a:pPr>
            <a:r>
              <a:rPr lang="en-US" sz="2500" dirty="0"/>
              <a:t> </a:t>
            </a:r>
          </a:p>
          <a:p>
            <a:pPr>
              <a:buNone/>
            </a:pPr>
            <a:r>
              <a:rPr lang="en-US" sz="2500" dirty="0"/>
              <a:t>        //One Dimensional Array of length 5</a:t>
            </a:r>
          </a:p>
          <a:p>
            <a:pPr>
              <a:buNone/>
            </a:pPr>
            <a:r>
              <a:rPr lang="en-US" sz="2500" dirty="0"/>
              <a:t>        int[] oneDimensionalArray3 = {8, 9, 10, 11, 12};</a:t>
            </a:r>
          </a:p>
          <a:p>
            <a:pPr>
              <a:buNone/>
            </a:pPr>
            <a:r>
              <a:rPr lang="en-US" sz="2500" dirty="0"/>
              <a:t> 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5126" name="Picture 6" descr="Jagged Array In Java - Tutorial With ...">
            <a:extLst>
              <a:ext uri="{FF2B5EF4-FFF2-40B4-BE49-F238E27FC236}">
                <a16:creationId xmlns:a16="http://schemas.microsoft.com/office/drawing/2014/main" id="{73674446-5230-678B-6786-AF3503BF60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480" y="1537177"/>
            <a:ext cx="5993560" cy="21971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13130173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402080" y="169068"/>
            <a:ext cx="10058400" cy="932657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JAGGED ARRAY (</a:t>
            </a:r>
            <a:r>
              <a:rPr lang="en-US" b="1" dirty="0" err="1"/>
              <a:t>cont</a:t>
            </a:r>
            <a:r>
              <a:rPr lang="en-US" b="1" dirty="0"/>
              <a:t>…)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1680" y="1148080"/>
            <a:ext cx="9906000" cy="570992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/>
              <a:t>    //Jagged Two-Dimensional Array</a:t>
            </a:r>
          </a:p>
          <a:p>
            <a:pPr>
              <a:buNone/>
            </a:pPr>
            <a:r>
              <a:rPr lang="en-US" dirty="0"/>
              <a:t>        int[][] </a:t>
            </a:r>
            <a:r>
              <a:rPr lang="en-US" dirty="0" err="1"/>
              <a:t>twoDimensionalArray</a:t>
            </a:r>
            <a:r>
              <a:rPr lang="en-US" dirty="0"/>
              <a:t> = {OneDimensionalArray1, oneDimensionalArray2, oneDimensionalArray3};</a:t>
            </a:r>
          </a:p>
          <a:p>
            <a:pPr>
              <a:buNone/>
            </a:pPr>
            <a:r>
              <a:rPr lang="en-US" dirty="0"/>
              <a:t> </a:t>
            </a:r>
          </a:p>
          <a:p>
            <a:pPr>
              <a:buNone/>
            </a:pPr>
            <a:r>
              <a:rPr lang="en-US" dirty="0"/>
              <a:t>        //Printing elements of Two Dimensional Array</a:t>
            </a:r>
          </a:p>
          <a:p>
            <a:pPr>
              <a:buNone/>
            </a:pPr>
            <a:r>
              <a:rPr lang="en-US" dirty="0"/>
              <a:t>        for (int i = 0; i &lt; </a:t>
            </a:r>
            <a:r>
              <a:rPr lang="en-US" dirty="0" err="1"/>
              <a:t>twoDimensionalArray.length</a:t>
            </a:r>
            <a:r>
              <a:rPr lang="en-US" dirty="0"/>
              <a:t>; i++)</a:t>
            </a:r>
          </a:p>
          <a:p>
            <a:pPr>
              <a:buNone/>
            </a:pPr>
            <a:r>
              <a:rPr lang="en-US" dirty="0"/>
              <a:t>        {</a:t>
            </a:r>
          </a:p>
          <a:p>
            <a:pPr>
              <a:buNone/>
            </a:pPr>
            <a:r>
              <a:rPr lang="en-US" dirty="0"/>
              <a:t>            for (int j = 0; j &lt; </a:t>
            </a:r>
            <a:r>
              <a:rPr lang="en-US" dirty="0" err="1"/>
              <a:t>twoDimensionalArray</a:t>
            </a:r>
            <a:r>
              <a:rPr lang="en-US" dirty="0"/>
              <a:t>[i].length; j++)</a:t>
            </a:r>
          </a:p>
          <a:p>
            <a:pPr>
              <a:buNone/>
            </a:pPr>
            <a:r>
              <a:rPr lang="en-US" dirty="0"/>
              <a:t>            {</a:t>
            </a:r>
          </a:p>
          <a:p>
            <a:pPr>
              <a:buNone/>
            </a:pPr>
            <a:r>
              <a:rPr lang="en-US" dirty="0"/>
              <a:t>                </a:t>
            </a:r>
            <a:r>
              <a:rPr lang="en-US" dirty="0" err="1"/>
              <a:t>System.out.print</a:t>
            </a:r>
            <a:r>
              <a:rPr lang="en-US" dirty="0"/>
              <a:t>(</a:t>
            </a:r>
            <a:r>
              <a:rPr lang="en-US" dirty="0" err="1"/>
              <a:t>twoDimensionalArray</a:t>
            </a:r>
            <a:r>
              <a:rPr lang="en-US" dirty="0"/>
              <a:t>[i][j]+"\t");</a:t>
            </a:r>
          </a:p>
          <a:p>
            <a:pPr>
              <a:buNone/>
            </a:pPr>
            <a:r>
              <a:rPr lang="en-US" dirty="0"/>
              <a:t>            }</a:t>
            </a:r>
          </a:p>
          <a:p>
            <a:pPr>
              <a:buNone/>
            </a:pPr>
            <a:r>
              <a:rPr lang="en-US" dirty="0"/>
              <a:t>            </a:t>
            </a:r>
            <a:r>
              <a:rPr lang="en-US" dirty="0" err="1"/>
              <a:t>System.out.println</a:t>
            </a:r>
            <a:r>
              <a:rPr lang="en-US" dirty="0"/>
              <a:t>();</a:t>
            </a:r>
          </a:p>
          <a:p>
            <a:pPr>
              <a:buNone/>
            </a:pPr>
            <a:r>
              <a:rPr lang="en-US" dirty="0"/>
              <a:t>        }</a:t>
            </a:r>
          </a:p>
          <a:p>
            <a:pPr>
              <a:buNone/>
            </a:pPr>
            <a:r>
              <a:rPr lang="en-US" dirty="0"/>
              <a:t>    }</a:t>
            </a:r>
          </a:p>
          <a:p>
            <a:pPr>
              <a:buNone/>
            </a:pPr>
            <a:r>
              <a:rPr lang="en-US" dirty="0"/>
              <a:t>}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833535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402080" y="169068"/>
            <a:ext cx="10058400" cy="932657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QUIZ 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58240"/>
            <a:ext cx="12192000" cy="5410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Q1. Select which of the following are valid array definition</a:t>
            </a:r>
          </a:p>
          <a:p>
            <a:pPr>
              <a:buNone/>
            </a:pPr>
            <a:r>
              <a:rPr lang="en-US" dirty="0"/>
              <a:t>1. int[] a;</a:t>
            </a:r>
          </a:p>
          <a:p>
            <a:pPr>
              <a:buNone/>
            </a:pPr>
            <a:r>
              <a:rPr lang="en-US" dirty="0"/>
              <a:t>a = new int[5];</a:t>
            </a:r>
          </a:p>
          <a:p>
            <a:pPr>
              <a:buNone/>
            </a:pPr>
            <a:r>
              <a:rPr lang="en-US" dirty="0"/>
              <a:t>2. int a[] = new int[5]</a:t>
            </a:r>
          </a:p>
          <a:p>
            <a:pPr>
              <a:buNone/>
            </a:pPr>
            <a:r>
              <a:rPr lang="en-US" dirty="0"/>
              <a:t>3. int a[5] = new int[5];</a:t>
            </a:r>
          </a:p>
          <a:p>
            <a:pPr>
              <a:buNone/>
            </a:pPr>
            <a:r>
              <a:rPr lang="en-US" dirty="0"/>
              <a:t>4. int a[] = {1,2,3};</a:t>
            </a:r>
          </a:p>
          <a:p>
            <a:pPr>
              <a:buNone/>
            </a:pPr>
            <a:r>
              <a:rPr lang="en-US" dirty="0"/>
              <a:t>5. int[] a = new int[]{1,2,3};</a:t>
            </a:r>
          </a:p>
          <a:p>
            <a:pPr>
              <a:buNone/>
            </a:pPr>
            <a:r>
              <a:rPr lang="en-US" dirty="0"/>
              <a:t>6. int[] a = new int[5]{1,2,3,4};</a:t>
            </a:r>
          </a:p>
        </p:txBody>
      </p:sp>
    </p:spTree>
    <p:extLst>
      <p:ext uri="{BB962C8B-B14F-4D97-AF65-F5344CB8AC3E}">
        <p14:creationId xmlns:p14="http://schemas.microsoft.com/office/powerpoint/2010/main" val="3748392910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402080" y="169068"/>
            <a:ext cx="10058400" cy="932657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QUIZ 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58240"/>
            <a:ext cx="12192000" cy="5410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Q2. What will be the result, if we try to compile and execute the following</a:t>
            </a:r>
          </a:p>
          <a:p>
            <a:pPr>
              <a:buNone/>
            </a:pPr>
            <a:r>
              <a:rPr lang="en-US" dirty="0"/>
              <a:t>codes</a:t>
            </a:r>
          </a:p>
          <a:p>
            <a:pPr>
              <a:buNone/>
            </a:pPr>
            <a:r>
              <a:rPr lang="en-US" dirty="0"/>
              <a:t>class Sample {</a:t>
            </a:r>
          </a:p>
          <a:p>
            <a:pPr>
              <a:buNone/>
            </a:pPr>
            <a:r>
              <a:rPr lang="en-US" dirty="0"/>
              <a:t>public static void main(String[] args) {</a:t>
            </a:r>
          </a:p>
          <a:p>
            <a:pPr>
              <a:buNone/>
            </a:pPr>
            <a:r>
              <a:rPr lang="en-US" dirty="0"/>
              <a:t>int[] a = new int[5]{1,2,3};</a:t>
            </a:r>
          </a:p>
          <a:p>
            <a:pPr>
              <a:buNone/>
            </a:pPr>
            <a:r>
              <a:rPr lang="en-US" dirty="0"/>
              <a:t>for(int i : a)</a:t>
            </a:r>
          </a:p>
          <a:p>
            <a:pPr>
              <a:buNone/>
            </a:pPr>
            <a:r>
              <a:rPr lang="en-US" dirty="0" err="1"/>
              <a:t>System.out.println</a:t>
            </a:r>
            <a:r>
              <a:rPr lang="en-US" dirty="0"/>
              <a:t>(i);</a:t>
            </a:r>
          </a:p>
          <a:p>
            <a:pPr>
              <a:buNone/>
            </a:pPr>
            <a:r>
              <a:rPr lang="en-US" dirty="0"/>
              <a:t>}</a:t>
            </a:r>
          </a:p>
          <a:p>
            <a:pPr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8495036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5950</TotalTime>
  <Words>2056</Words>
  <Application>Microsoft Office PowerPoint</Application>
  <PresentationFormat>Widescreen</PresentationFormat>
  <Paragraphs>244</Paragraphs>
  <Slides>22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Arial</vt:lpstr>
      <vt:lpstr>Arial Unicode MS</vt:lpstr>
      <vt:lpstr>Calibri</vt:lpstr>
      <vt:lpstr>Calibri Light</vt:lpstr>
      <vt:lpstr>Casper</vt:lpstr>
      <vt:lpstr>Karla</vt:lpstr>
      <vt:lpstr>Raleway ExtraBold</vt:lpstr>
      <vt:lpstr>Times New Roman</vt:lpstr>
      <vt:lpstr>1_Office Theme</vt:lpstr>
      <vt:lpstr>Contents Slide Master</vt:lpstr>
      <vt:lpstr>CorelDRAW</vt:lpstr>
      <vt:lpstr>PowerPoint Presentation</vt:lpstr>
      <vt:lpstr>Lecture Objectives </vt:lpstr>
      <vt:lpstr>Control Flow Statements In Java</vt:lpstr>
      <vt:lpstr>Comparison of  for while and do while</vt:lpstr>
      <vt:lpstr>Predict the output?</vt:lpstr>
      <vt:lpstr>Java program to demonstrate the use of infinite for loop which prints a statement   </vt:lpstr>
      <vt:lpstr>Predict the output  -while loop</vt:lpstr>
      <vt:lpstr>Concept of enhanced for loop</vt:lpstr>
      <vt:lpstr>Break Statement</vt:lpstr>
      <vt:lpstr>Continue statement</vt:lpstr>
      <vt:lpstr>Program for Continue statement</vt:lpstr>
      <vt:lpstr>Comparison of Break and continue </vt:lpstr>
      <vt:lpstr>Arrays in Java</vt:lpstr>
      <vt:lpstr>Cloning of array</vt:lpstr>
      <vt:lpstr>Demonstrating cloning of array objects</vt:lpstr>
      <vt:lpstr>Is an array a primitive type or an object in Java?</vt:lpstr>
      <vt:lpstr>ArrayStoreException</vt:lpstr>
      <vt:lpstr>Anonymous Array in Java</vt:lpstr>
      <vt:lpstr>JAGGED ARRAY</vt:lpstr>
      <vt:lpstr>JAGGED ARRAY (cont…)</vt:lpstr>
      <vt:lpstr>QUIZ </vt:lpstr>
      <vt:lpstr>QUIZ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BHAVNEET KAUR</cp:lastModifiedBy>
  <cp:revision>133</cp:revision>
  <dcterms:created xsi:type="dcterms:W3CDTF">2019-01-09T10:33:58Z</dcterms:created>
  <dcterms:modified xsi:type="dcterms:W3CDTF">2024-12-21T15:37:32Z</dcterms:modified>
</cp:coreProperties>
</file>