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287" r:id="rId3"/>
    <p:sldId id="281" r:id="rId4"/>
    <p:sldId id="269" r:id="rId5"/>
    <p:sldId id="268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398" r:id="rId15"/>
    <p:sldId id="410" r:id="rId16"/>
    <p:sldId id="408" r:id="rId17"/>
    <p:sldId id="409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3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IbZRUjh2d0?list=PLHuIqV4DwPicArdMjI2YI5Hu5c2TnMgvV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43367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Exceptions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18366-CEC0-4982-12CC-E159175B772C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9F2DDB-FBF8-AD2B-A295-52807677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783571-FF87-F351-5E28-37AAA76F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56" y="5333998"/>
            <a:ext cx="10515600" cy="254000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Heirarchy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Lecture Objectives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356916"/>
            <a:ext cx="6905953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>
                <a:latin typeface="Arial" pitchFamily="34" charset="0"/>
                <a:cs typeface="Arial" pitchFamily="34" charset="0"/>
              </a:rPr>
              <a:t>JAVA </a:t>
            </a:r>
            <a:r>
              <a:rPr sz="4000" dirty="0">
                <a:latin typeface="Arial" pitchFamily="34" charset="0"/>
                <a:cs typeface="Arial" pitchFamily="34" charset="0"/>
              </a:rPr>
              <a:t>-</a:t>
            </a:r>
            <a:r>
              <a:rPr sz="4000" spc="-67" dirty="0">
                <a:latin typeface="Arial" pitchFamily="34" charset="0"/>
                <a:cs typeface="Arial" pitchFamily="34" charset="0"/>
              </a:rPr>
              <a:t> </a:t>
            </a:r>
            <a:r>
              <a:rPr sz="4000" spc="-7" dirty="0">
                <a:latin typeface="Arial" pitchFamily="34" charset="0"/>
                <a:cs typeface="Arial" pitchFamily="34" charset="0"/>
              </a:rPr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140668"/>
            <a:ext cx="10959253" cy="592469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5655" marR="217588" indent="-449569">
              <a:spcBef>
                <a:spcPts val="140"/>
              </a:spcBef>
              <a:buChar char="●"/>
              <a:tabLst>
                <a:tab pos="465655" algn="l"/>
                <a:tab pos="466502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(or exceptional event) is a problem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arises during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 of a program.</a:t>
            </a:r>
          </a:p>
          <a:p>
            <a:pPr marL="465655" marR="16933" indent="-449569">
              <a:spcBef>
                <a:spcPts val="1325"/>
              </a:spcBef>
              <a:buChar char="●"/>
              <a:tabLst>
                <a:tab pos="465655" algn="l"/>
                <a:tab pos="466502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is disrupted and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program/Application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terminates abnormally, which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recommended,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exceptions are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handled.</a:t>
            </a:r>
          </a:p>
          <a:p>
            <a:pPr marL="465655" marR="6773" indent="-449569">
              <a:spcBef>
                <a:spcPts val="1333"/>
              </a:spcBef>
              <a:buChar char="●"/>
              <a:tabLst>
                <a:tab pos="465655" algn="l"/>
                <a:tab pos="466502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for many different reasons. Following are some scenarios 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occurs.</a:t>
            </a:r>
          </a:p>
          <a:p>
            <a:pPr marL="1684825" lvl="1" indent="-450415">
              <a:spcBef>
                <a:spcPts val="1340"/>
              </a:spcBef>
              <a:buChar char="■"/>
              <a:tabLst>
                <a:tab pos="1684825" algn="l"/>
                <a:tab pos="1685671" algn="l"/>
              </a:tabLst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has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entered an invalid</a:t>
            </a:r>
            <a:r>
              <a:rPr sz="2200" b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84825" lvl="1" indent="-450415">
              <a:spcBef>
                <a:spcPts val="1333"/>
              </a:spcBef>
              <a:buChar char="■"/>
              <a:tabLst>
                <a:tab pos="1684825" algn="l"/>
                <a:tab pos="1685671" algn="l"/>
              </a:tabLst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that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opened cannot be</a:t>
            </a:r>
            <a:r>
              <a:rPr sz="2200" b="1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found.</a:t>
            </a:r>
          </a:p>
          <a:p>
            <a:pPr marL="1684825" marR="9313" lvl="1" indent="-449569">
              <a:spcBef>
                <a:spcPts val="1325"/>
              </a:spcBef>
              <a:buChar char="■"/>
              <a:tabLst>
                <a:tab pos="1684825" algn="l"/>
                <a:tab pos="1685671" algn="l"/>
              </a:tabLst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connection has been lost in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of communications or 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 has run out of</a:t>
            </a:r>
            <a:r>
              <a:rPr sz="22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lang="en-US" sz="2200" b="1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84825" marR="9313" lvl="1" indent="-449569">
              <a:spcBef>
                <a:spcPts val="1325"/>
              </a:spcBef>
              <a:buFontTx/>
              <a:buChar char="■"/>
              <a:tabLst>
                <a:tab pos="1684825" algn="l"/>
                <a:tab pos="1685671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these exceptions are caused </a:t>
            </a:r>
            <a:r>
              <a:rPr lang="en-US" sz="2200" b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</a:t>
            </a:r>
            <a:r>
              <a:rPr lang="en-US" sz="2200" b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 </a:t>
            </a:r>
            <a:r>
              <a:rPr lang="en-US"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error,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others by </a:t>
            </a:r>
            <a:r>
              <a:rPr lang="en-US"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</a:t>
            </a:r>
            <a:r>
              <a:rPr lang="en-US"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failed in some</a:t>
            </a:r>
            <a:r>
              <a:rPr lang="en-US" sz="22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manner.</a:t>
            </a:r>
          </a:p>
          <a:p>
            <a:pPr marL="1684825" marR="9313" lvl="1" indent="-449569">
              <a:spcBef>
                <a:spcPts val="1325"/>
              </a:spcBef>
              <a:buChar char="■"/>
              <a:tabLst>
                <a:tab pos="1684825" algn="l"/>
                <a:tab pos="1685671" algn="l"/>
              </a:tabLst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FEAE-AAD1-4B05-BDE2-C79E09DE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91" y="540328"/>
            <a:ext cx="10566400" cy="609600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Error v/s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36A3-9B54-4B9C-AC89-F7ABDFED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392380"/>
            <a:ext cx="11503890" cy="4966855"/>
          </a:xfrm>
        </p:spPr>
        <p:txBody>
          <a:bodyPr>
            <a:noAutofit/>
          </a:bodyPr>
          <a:lstStyle/>
          <a:p>
            <a:pPr marR="6350">
              <a:lnSpc>
                <a:spcPct val="100000"/>
              </a:lnSpc>
              <a:spcBef>
                <a:spcPts val="105"/>
              </a:spcBef>
            </a:pPr>
            <a:r>
              <a:rPr lang="en-US" sz="2200" b="1" dirty="0">
                <a:latin typeface="+mj-lt"/>
                <a:cs typeface="Arial"/>
              </a:rPr>
              <a:t>Error: </a:t>
            </a:r>
            <a:r>
              <a:rPr lang="en-US" sz="2200" dirty="0">
                <a:latin typeface="+mj-lt"/>
                <a:cs typeface="Arial"/>
              </a:rPr>
              <a:t>An Error indicates serious problem that a reasonable application should </a:t>
            </a:r>
            <a:r>
              <a:rPr lang="en-US" sz="2200" spc="5" dirty="0">
                <a:latin typeface="+mj-lt"/>
                <a:cs typeface="Arial"/>
              </a:rPr>
              <a:t>not </a:t>
            </a:r>
            <a:r>
              <a:rPr lang="en-US" sz="2200" spc="-5" dirty="0">
                <a:latin typeface="+mj-lt"/>
                <a:cs typeface="Arial"/>
              </a:rPr>
              <a:t>try  to</a:t>
            </a:r>
            <a:r>
              <a:rPr lang="en-US" sz="2200" dirty="0">
                <a:latin typeface="+mj-lt"/>
                <a:cs typeface="Arial"/>
              </a:rPr>
              <a:t> catch.</a:t>
            </a:r>
          </a:p>
          <a:p>
            <a:pPr>
              <a:lnSpc>
                <a:spcPct val="100000"/>
              </a:lnSpc>
              <a:spcBef>
                <a:spcPts val="995"/>
              </a:spcBef>
            </a:pPr>
            <a:r>
              <a:rPr lang="en-US" sz="2200" b="1" dirty="0">
                <a:latin typeface="+mj-lt"/>
                <a:cs typeface="Arial"/>
              </a:rPr>
              <a:t>Exception:</a:t>
            </a:r>
            <a:r>
              <a:rPr lang="en-US" sz="2200" b="1" spc="24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Exception</a:t>
            </a:r>
            <a:r>
              <a:rPr lang="en-US" sz="2200" spc="24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indicates</a:t>
            </a:r>
            <a:r>
              <a:rPr lang="en-US" sz="2200" spc="25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conditions</a:t>
            </a:r>
            <a:r>
              <a:rPr lang="en-US" sz="2200" spc="25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that</a:t>
            </a:r>
            <a:r>
              <a:rPr lang="en-US" sz="2200" spc="24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a</a:t>
            </a:r>
            <a:r>
              <a:rPr lang="en-US" sz="2200" spc="24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reasonable</a:t>
            </a:r>
            <a:r>
              <a:rPr lang="en-US" sz="2200" spc="254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application</a:t>
            </a:r>
            <a:r>
              <a:rPr lang="en-US" sz="2200" spc="240" dirty="0">
                <a:latin typeface="+mj-lt"/>
                <a:cs typeface="Arial"/>
              </a:rPr>
              <a:t> </a:t>
            </a:r>
            <a:r>
              <a:rPr lang="en-US" sz="2200" spc="-5" dirty="0">
                <a:latin typeface="+mj-lt"/>
                <a:cs typeface="Arial"/>
              </a:rPr>
              <a:t>might</a:t>
            </a:r>
            <a:r>
              <a:rPr lang="en-US" sz="2200" spc="24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try</a:t>
            </a:r>
            <a:r>
              <a:rPr lang="en-US" sz="2200" spc="240" dirty="0">
                <a:latin typeface="+mj-lt"/>
                <a:cs typeface="Arial"/>
              </a:rPr>
              <a:t> </a:t>
            </a:r>
            <a:r>
              <a:rPr lang="en-US" sz="2200" spc="15" dirty="0">
                <a:latin typeface="+mj-lt"/>
                <a:cs typeface="Arial"/>
              </a:rPr>
              <a:t>to </a:t>
            </a:r>
            <a:r>
              <a:rPr lang="en-US" sz="2200" dirty="0">
                <a:latin typeface="+mj-lt"/>
                <a:cs typeface="Arial"/>
              </a:rPr>
              <a:t>catch.</a:t>
            </a:r>
          </a:p>
          <a:p>
            <a:pPr>
              <a:lnSpc>
                <a:spcPct val="100000"/>
              </a:lnSpc>
              <a:spcBef>
                <a:spcPts val="995"/>
              </a:spcBef>
            </a:pPr>
            <a:r>
              <a:rPr lang="en-US" sz="2200" b="1" spc="-5" dirty="0">
                <a:latin typeface="+mj-lt"/>
                <a:cs typeface="Arial"/>
              </a:rPr>
              <a:t>Exception</a:t>
            </a:r>
            <a:r>
              <a:rPr lang="en-US" sz="2200" b="1" spc="-15" dirty="0">
                <a:latin typeface="+mj-lt"/>
                <a:cs typeface="Arial"/>
              </a:rPr>
              <a:t> </a:t>
            </a:r>
            <a:r>
              <a:rPr lang="en-US" sz="2200" b="1" spc="-5" dirty="0">
                <a:latin typeface="+mj-lt"/>
                <a:cs typeface="Arial"/>
              </a:rPr>
              <a:t>Hierarchy :</a:t>
            </a:r>
            <a:endParaRPr lang="en-US" sz="2200" dirty="0">
              <a:latin typeface="+mj-lt"/>
              <a:cs typeface="Arial"/>
            </a:endParaRPr>
          </a:p>
          <a:p>
            <a:pPr marL="475615" indent="-342900" algn="just">
              <a:lnSpc>
                <a:spcPct val="100000"/>
              </a:lnSpc>
              <a:spcBef>
                <a:spcPts val="1010"/>
              </a:spcBef>
              <a:buClr>
                <a:srgbClr val="695D46"/>
              </a:buClr>
              <a:tabLst>
                <a:tab pos="469900" algn="l"/>
              </a:tabLst>
            </a:pPr>
            <a:r>
              <a:rPr lang="en-US" sz="2200" dirty="0">
                <a:latin typeface="+mj-lt"/>
                <a:cs typeface="Arial"/>
              </a:rPr>
              <a:t>All</a:t>
            </a:r>
            <a:r>
              <a:rPr lang="en-US" sz="2200" spc="10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exception</a:t>
            </a:r>
            <a:r>
              <a:rPr lang="en-US" sz="2200" spc="120" dirty="0">
                <a:latin typeface="+mj-lt"/>
                <a:cs typeface="Arial"/>
              </a:rPr>
              <a:t> </a:t>
            </a:r>
            <a:r>
              <a:rPr lang="en-US" sz="2200" spc="5" dirty="0">
                <a:latin typeface="+mj-lt"/>
                <a:cs typeface="Arial"/>
              </a:rPr>
              <a:t>and</a:t>
            </a:r>
            <a:r>
              <a:rPr lang="en-US" sz="2200" spc="10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errors</a:t>
            </a:r>
            <a:r>
              <a:rPr lang="en-US" sz="2200" spc="10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types</a:t>
            </a:r>
            <a:r>
              <a:rPr lang="en-US" sz="2200" spc="120" dirty="0">
                <a:latin typeface="+mj-lt"/>
                <a:cs typeface="Arial"/>
              </a:rPr>
              <a:t> </a:t>
            </a:r>
            <a:r>
              <a:rPr lang="en-US" sz="2200" spc="5" dirty="0">
                <a:latin typeface="+mj-lt"/>
                <a:cs typeface="Arial"/>
              </a:rPr>
              <a:t>are</a:t>
            </a:r>
            <a:r>
              <a:rPr lang="en-US" sz="2200" spc="10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subclasses</a:t>
            </a:r>
            <a:r>
              <a:rPr lang="en-US" sz="2200" spc="95" dirty="0">
                <a:latin typeface="+mj-lt"/>
                <a:cs typeface="Arial"/>
              </a:rPr>
              <a:t> </a:t>
            </a:r>
            <a:r>
              <a:rPr lang="en-US" sz="2200" spc="5" dirty="0">
                <a:latin typeface="+mj-lt"/>
                <a:cs typeface="Arial"/>
              </a:rPr>
              <a:t>of</a:t>
            </a:r>
            <a:r>
              <a:rPr lang="en-US" sz="2200" spc="110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class</a:t>
            </a:r>
            <a:r>
              <a:rPr lang="en-US" sz="2200" spc="105" dirty="0">
                <a:latin typeface="+mj-lt"/>
                <a:cs typeface="Arial"/>
              </a:rPr>
              <a:t> </a:t>
            </a:r>
            <a:r>
              <a:rPr lang="en-US" sz="2200" b="1" dirty="0">
                <a:latin typeface="+mj-lt"/>
                <a:cs typeface="Arial"/>
              </a:rPr>
              <a:t>Throwable</a:t>
            </a:r>
            <a:r>
              <a:rPr lang="en-US" sz="2200" dirty="0">
                <a:latin typeface="+mj-lt"/>
                <a:cs typeface="Arial"/>
              </a:rPr>
              <a:t>,</a:t>
            </a:r>
            <a:r>
              <a:rPr lang="en-US" sz="2200" spc="125" dirty="0">
                <a:latin typeface="+mj-lt"/>
                <a:cs typeface="Arial"/>
              </a:rPr>
              <a:t> </a:t>
            </a:r>
            <a:r>
              <a:rPr lang="en-US" sz="2200" spc="-5" dirty="0">
                <a:latin typeface="+mj-lt"/>
                <a:cs typeface="Arial"/>
              </a:rPr>
              <a:t>which</a:t>
            </a:r>
            <a:r>
              <a:rPr lang="en-US" sz="2200" spc="10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is</a:t>
            </a:r>
            <a:r>
              <a:rPr lang="en-US" sz="2200" spc="100" dirty="0">
                <a:latin typeface="+mj-lt"/>
                <a:cs typeface="Arial"/>
              </a:rPr>
              <a:t> </a:t>
            </a:r>
            <a:r>
              <a:rPr lang="en-US" sz="2200" spc="5" dirty="0">
                <a:latin typeface="+mj-lt"/>
                <a:cs typeface="Arial"/>
              </a:rPr>
              <a:t>base </a:t>
            </a:r>
            <a:r>
              <a:rPr lang="en-US" sz="2200" dirty="0">
                <a:latin typeface="+mj-lt"/>
                <a:cs typeface="Arial"/>
              </a:rPr>
              <a:t>class of</a:t>
            </a:r>
            <a:r>
              <a:rPr lang="en-US" sz="2200" spc="-10" dirty="0">
                <a:latin typeface="+mj-lt"/>
                <a:cs typeface="Arial"/>
              </a:rPr>
              <a:t> </a:t>
            </a:r>
            <a:r>
              <a:rPr lang="en-US" sz="2200" spc="-5" dirty="0">
                <a:latin typeface="+mj-lt"/>
                <a:cs typeface="Arial"/>
              </a:rPr>
              <a:t>hierarchy.</a:t>
            </a:r>
            <a:endParaRPr lang="en-US" sz="2200" dirty="0">
              <a:latin typeface="+mj-lt"/>
              <a:cs typeface="Arial"/>
            </a:endParaRPr>
          </a:p>
          <a:p>
            <a:pPr marL="475615" marR="7620" indent="-342900" algn="just">
              <a:lnSpc>
                <a:spcPct val="100000"/>
              </a:lnSpc>
              <a:buClr>
                <a:srgbClr val="695D46"/>
              </a:buClr>
              <a:tabLst>
                <a:tab pos="469900" algn="l"/>
              </a:tabLst>
            </a:pPr>
            <a:r>
              <a:rPr lang="en-US" sz="2200" spc="-5" dirty="0">
                <a:latin typeface="+mj-lt"/>
                <a:cs typeface="Arial"/>
              </a:rPr>
              <a:t>One </a:t>
            </a:r>
            <a:r>
              <a:rPr lang="en-US" sz="2200" dirty="0">
                <a:latin typeface="+mj-lt"/>
                <a:cs typeface="Arial"/>
              </a:rPr>
              <a:t>branch is headed </a:t>
            </a:r>
            <a:r>
              <a:rPr lang="en-US" sz="2200" spc="5" dirty="0">
                <a:latin typeface="+mj-lt"/>
                <a:cs typeface="Arial"/>
              </a:rPr>
              <a:t>by </a:t>
            </a:r>
            <a:r>
              <a:rPr lang="en-US" sz="2200" b="1" dirty="0">
                <a:latin typeface="+mj-lt"/>
                <a:cs typeface="Arial"/>
              </a:rPr>
              <a:t>Exception</a:t>
            </a:r>
            <a:r>
              <a:rPr lang="en-US" sz="2200" dirty="0">
                <a:latin typeface="+mj-lt"/>
                <a:cs typeface="Arial"/>
              </a:rPr>
              <a:t>. </a:t>
            </a:r>
            <a:r>
              <a:rPr lang="en-US" sz="2200" spc="5" dirty="0">
                <a:latin typeface="+mj-lt"/>
                <a:cs typeface="Arial"/>
              </a:rPr>
              <a:t>This </a:t>
            </a:r>
            <a:r>
              <a:rPr lang="en-US" sz="2200" spc="-5" dirty="0">
                <a:latin typeface="+mj-lt"/>
                <a:cs typeface="Arial"/>
              </a:rPr>
              <a:t>class </a:t>
            </a:r>
            <a:r>
              <a:rPr lang="en-US" sz="2200" dirty="0">
                <a:latin typeface="+mj-lt"/>
                <a:cs typeface="Arial"/>
              </a:rPr>
              <a:t>is used </a:t>
            </a:r>
            <a:r>
              <a:rPr lang="en-US" sz="2200" spc="-5" dirty="0">
                <a:latin typeface="+mj-lt"/>
                <a:cs typeface="Arial"/>
              </a:rPr>
              <a:t>for </a:t>
            </a:r>
            <a:r>
              <a:rPr lang="en-US" sz="2200" dirty="0">
                <a:latin typeface="+mj-lt"/>
                <a:cs typeface="Arial"/>
              </a:rPr>
              <a:t>exceptional conditions  </a:t>
            </a:r>
            <a:r>
              <a:rPr lang="en-US" sz="2200" spc="-5" dirty="0">
                <a:latin typeface="+mj-lt"/>
                <a:cs typeface="Arial"/>
              </a:rPr>
              <a:t>that </a:t>
            </a:r>
            <a:r>
              <a:rPr lang="en-US" sz="2200" dirty="0">
                <a:latin typeface="+mj-lt"/>
                <a:cs typeface="Arial"/>
              </a:rPr>
              <a:t>user programs should catch.</a:t>
            </a:r>
          </a:p>
          <a:p>
            <a:pPr marL="475615" marR="7620" indent="-342900" algn="just">
              <a:lnSpc>
                <a:spcPct val="100000"/>
              </a:lnSpc>
              <a:buClr>
                <a:srgbClr val="695D46"/>
              </a:buClr>
              <a:tabLst>
                <a:tab pos="469900" algn="l"/>
              </a:tabLst>
            </a:pPr>
            <a:r>
              <a:rPr lang="en-US" sz="2200" dirty="0">
                <a:latin typeface="+mj-lt"/>
                <a:cs typeface="Arial"/>
              </a:rPr>
              <a:t> </a:t>
            </a:r>
            <a:r>
              <a:rPr lang="en-US" sz="2200" b="1" dirty="0" err="1">
                <a:latin typeface="+mj-lt"/>
                <a:cs typeface="Arial"/>
              </a:rPr>
              <a:t>NullPointerException</a:t>
            </a:r>
            <a:r>
              <a:rPr lang="en-US" sz="2200" dirty="0">
                <a:latin typeface="+mj-lt"/>
                <a:cs typeface="Arial"/>
              </a:rPr>
              <a:t> is an example </a:t>
            </a:r>
            <a:r>
              <a:rPr lang="en-US" sz="2200" spc="5" dirty="0">
                <a:latin typeface="+mj-lt"/>
                <a:cs typeface="Arial"/>
              </a:rPr>
              <a:t>of </a:t>
            </a:r>
            <a:r>
              <a:rPr lang="en-US" sz="2200" dirty="0">
                <a:latin typeface="+mj-lt"/>
                <a:cs typeface="Arial"/>
              </a:rPr>
              <a:t>such an  </a:t>
            </a:r>
            <a:r>
              <a:rPr lang="en-US" sz="2200" spc="-5" dirty="0">
                <a:latin typeface="+mj-lt"/>
                <a:cs typeface="Arial"/>
              </a:rPr>
              <a:t>exception.</a:t>
            </a:r>
          </a:p>
          <a:p>
            <a:pPr marL="475615" marR="6985" indent="-342900" algn="just">
              <a:lnSpc>
                <a:spcPct val="100000"/>
              </a:lnSpc>
              <a:spcBef>
                <a:spcPts val="1010"/>
              </a:spcBef>
              <a:buClr>
                <a:srgbClr val="695D46"/>
              </a:buClr>
              <a:tabLst>
                <a:tab pos="469900" algn="l"/>
              </a:tabLst>
            </a:pPr>
            <a:r>
              <a:rPr lang="en-US" sz="2200" dirty="0">
                <a:latin typeface="+mj-lt"/>
                <a:cs typeface="Arial"/>
              </a:rPr>
              <a:t>There </a:t>
            </a:r>
            <a:r>
              <a:rPr lang="en-US" sz="2200" spc="-5" dirty="0">
                <a:latin typeface="+mj-lt"/>
                <a:cs typeface="Arial"/>
              </a:rPr>
              <a:t>is </a:t>
            </a:r>
            <a:r>
              <a:rPr lang="en-US" sz="2200" dirty="0">
                <a:latin typeface="+mj-lt"/>
                <a:cs typeface="Arial"/>
              </a:rPr>
              <a:t>an important subclass of Exception, called </a:t>
            </a:r>
            <a:r>
              <a:rPr lang="en-US" sz="2200" b="1" dirty="0" err="1">
                <a:latin typeface="+mj-lt"/>
                <a:cs typeface="Arial"/>
              </a:rPr>
              <a:t>RuntimeException</a:t>
            </a:r>
            <a:r>
              <a:rPr lang="en-US" sz="2200" b="1" dirty="0">
                <a:latin typeface="+mj-lt"/>
                <a:cs typeface="Arial"/>
              </a:rPr>
              <a:t>.</a:t>
            </a:r>
          </a:p>
          <a:p>
            <a:pPr marL="132715" marR="6985" indent="0" algn="just">
              <a:lnSpc>
                <a:spcPct val="100000"/>
              </a:lnSpc>
              <a:spcBef>
                <a:spcPts val="1010"/>
              </a:spcBef>
              <a:buClr>
                <a:srgbClr val="695D46"/>
              </a:buClr>
              <a:buNone/>
              <a:tabLst>
                <a:tab pos="469900" algn="l"/>
              </a:tabLst>
            </a:pPr>
            <a:r>
              <a:rPr lang="en-US" sz="2200" dirty="0">
                <a:latin typeface="+mj-lt"/>
                <a:cs typeface="Arial"/>
              </a:rPr>
              <a:t>	Exceptions  of this </a:t>
            </a:r>
            <a:r>
              <a:rPr lang="en-US" sz="2200" spc="-5" dirty="0">
                <a:latin typeface="+mj-lt"/>
                <a:cs typeface="Arial"/>
              </a:rPr>
              <a:t>type </a:t>
            </a:r>
            <a:r>
              <a:rPr lang="en-US" sz="2200" dirty="0">
                <a:latin typeface="+mj-lt"/>
                <a:cs typeface="Arial"/>
              </a:rPr>
              <a:t>are automatically defined </a:t>
            </a:r>
            <a:r>
              <a:rPr lang="en-US" sz="2200" spc="-5" dirty="0">
                <a:latin typeface="+mj-lt"/>
                <a:cs typeface="Arial"/>
              </a:rPr>
              <a:t>for </a:t>
            </a:r>
            <a:r>
              <a:rPr lang="en-US" sz="2200" dirty="0">
                <a:latin typeface="+mj-lt"/>
                <a:cs typeface="Arial"/>
              </a:rPr>
              <a:t>the programs that you </a:t>
            </a:r>
            <a:r>
              <a:rPr lang="en-US" sz="2200" spc="-5" dirty="0">
                <a:latin typeface="+mj-lt"/>
                <a:cs typeface="Arial"/>
              </a:rPr>
              <a:t>write </a:t>
            </a:r>
            <a:r>
              <a:rPr lang="en-US" sz="2200" dirty="0">
                <a:latin typeface="+mj-lt"/>
                <a:cs typeface="Arial"/>
              </a:rPr>
              <a:t>and include  	things such as division by zero and invalid </a:t>
            </a:r>
            <a:r>
              <a:rPr lang="en-US" sz="2200" spc="-5" dirty="0">
                <a:latin typeface="+mj-lt"/>
                <a:cs typeface="Arial"/>
              </a:rPr>
              <a:t>array</a:t>
            </a:r>
            <a:r>
              <a:rPr lang="en-US" sz="2200" spc="-25" dirty="0">
                <a:latin typeface="+mj-lt"/>
                <a:cs typeface="Arial"/>
              </a:rPr>
              <a:t> </a:t>
            </a:r>
            <a:r>
              <a:rPr lang="en-US" sz="2200" dirty="0">
                <a:latin typeface="+mj-lt"/>
                <a:cs typeface="Arial"/>
              </a:rPr>
              <a:t>indexing.</a:t>
            </a:r>
          </a:p>
          <a:p>
            <a:endParaRPr lang="en-US" sz="2200" dirty="0">
              <a:latin typeface="+mj-lt"/>
            </a:endParaRPr>
          </a:p>
          <a:p>
            <a:pPr marL="132715" marR="7620" indent="0" algn="just">
              <a:lnSpc>
                <a:spcPct val="100000"/>
              </a:lnSpc>
              <a:spcBef>
                <a:spcPts val="1000"/>
              </a:spcBef>
              <a:buClr>
                <a:srgbClr val="695D46"/>
              </a:buClr>
              <a:buNone/>
              <a:tabLst>
                <a:tab pos="469900" algn="l"/>
              </a:tabLst>
            </a:pPr>
            <a:endParaRPr lang="en-US" sz="2200" dirty="0">
              <a:latin typeface="+mj-lt"/>
              <a:cs typeface="Arial"/>
            </a:endParaRPr>
          </a:p>
          <a:p>
            <a:pPr marL="132715" marR="7620" indent="0" algn="just">
              <a:lnSpc>
                <a:spcPct val="100000"/>
              </a:lnSpc>
              <a:spcBef>
                <a:spcPts val="1000"/>
              </a:spcBef>
              <a:buClr>
                <a:srgbClr val="695D46"/>
              </a:buClr>
              <a:buNone/>
              <a:tabLst>
                <a:tab pos="469900" algn="l"/>
              </a:tabLst>
            </a:pP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920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960" y="475140"/>
            <a:ext cx="7305040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Exception</a:t>
            </a:r>
            <a:r>
              <a:rPr sz="4000" spc="-40" dirty="0"/>
              <a:t> </a:t>
            </a:r>
            <a:r>
              <a:rPr sz="4000" spc="-7" dirty="0"/>
              <a:t>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1" y="1128847"/>
            <a:ext cx="10992273" cy="192905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5655" indent="-449569" algn="just">
              <a:spcBef>
                <a:spcPts val="140"/>
              </a:spcBef>
              <a:buClr>
                <a:srgbClr val="695D46"/>
              </a:buClr>
              <a:buChar char="●"/>
              <a:tabLst>
                <a:tab pos="466502" algn="l"/>
              </a:tabLst>
            </a:pPr>
            <a:r>
              <a:rPr sz="2267" dirty="0">
                <a:latin typeface="Arial"/>
                <a:cs typeface="Arial"/>
              </a:rPr>
              <a:t>Another</a:t>
            </a:r>
            <a:r>
              <a:rPr sz="2267" spc="10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branch,</a:t>
            </a:r>
            <a:r>
              <a:rPr sz="2267" b="1" dirty="0">
                <a:latin typeface="Arial"/>
                <a:cs typeface="Arial"/>
              </a:rPr>
              <a:t>Error</a:t>
            </a:r>
            <a:r>
              <a:rPr sz="2267" b="1" spc="113" dirty="0"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333333"/>
                </a:solidFill>
                <a:latin typeface="Arial"/>
                <a:cs typeface="Arial"/>
              </a:rPr>
              <a:t>which</a:t>
            </a:r>
            <a:r>
              <a:rPr sz="2267" spc="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defines</a:t>
            </a:r>
            <a:r>
              <a:rPr sz="2267" spc="107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exceptions</a:t>
            </a:r>
            <a:r>
              <a:rPr sz="2267" spc="107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that</a:t>
            </a:r>
            <a:r>
              <a:rPr sz="2267" spc="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sz="2267" spc="11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spc="7" dirty="0">
                <a:solidFill>
                  <a:srgbClr val="333333"/>
                </a:solidFill>
                <a:latin typeface="Arial"/>
                <a:cs typeface="Arial"/>
              </a:rPr>
              <a:t>not</a:t>
            </a:r>
            <a:r>
              <a:rPr sz="2267" spc="87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expected</a:t>
            </a:r>
            <a:r>
              <a:rPr sz="2267" spc="1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2267" spc="13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endParaRPr sz="2267" dirty="0">
              <a:latin typeface="Arial"/>
              <a:cs typeface="Arial"/>
            </a:endParaRPr>
          </a:p>
          <a:p>
            <a:pPr marL="465655" algn="just"/>
            <a:r>
              <a:rPr sz="2267" spc="-7" dirty="0">
                <a:solidFill>
                  <a:srgbClr val="333333"/>
                </a:solidFill>
                <a:latin typeface="Arial"/>
                <a:cs typeface="Arial"/>
              </a:rPr>
              <a:t>caught under normal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circumstances by </a:t>
            </a:r>
            <a:r>
              <a:rPr sz="2267" spc="-7" dirty="0">
                <a:solidFill>
                  <a:srgbClr val="333333"/>
                </a:solidFill>
                <a:latin typeface="Arial"/>
                <a:cs typeface="Arial"/>
              </a:rPr>
              <a:t>your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program</a:t>
            </a:r>
            <a:r>
              <a:rPr sz="2267" spc="3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2267" dirty="0">
              <a:latin typeface="Arial"/>
              <a:cs typeface="Arial"/>
            </a:endParaRPr>
          </a:p>
          <a:p>
            <a:pPr marL="465655" marR="7620" indent="-449569" algn="just">
              <a:spcBef>
                <a:spcPts val="1325"/>
              </a:spcBef>
              <a:buClr>
                <a:srgbClr val="695D46"/>
              </a:buClr>
              <a:buChar char="●"/>
              <a:tabLst>
                <a:tab pos="466502" algn="l"/>
              </a:tabLst>
            </a:pPr>
            <a:r>
              <a:rPr sz="2267" dirty="0">
                <a:latin typeface="Arial"/>
                <a:cs typeface="Arial"/>
              </a:rPr>
              <a:t>Errors are used </a:t>
            </a:r>
            <a:r>
              <a:rPr sz="2267" spc="7" dirty="0">
                <a:latin typeface="Arial"/>
                <a:cs typeface="Arial"/>
              </a:rPr>
              <a:t>by </a:t>
            </a:r>
            <a:r>
              <a:rPr sz="2267" dirty="0">
                <a:latin typeface="Arial"/>
                <a:cs typeface="Arial"/>
              </a:rPr>
              <a:t>the </a:t>
            </a:r>
            <a:r>
              <a:rPr sz="2267" b="1" dirty="0">
                <a:latin typeface="Arial"/>
                <a:cs typeface="Arial"/>
              </a:rPr>
              <a:t>Java run-time </a:t>
            </a:r>
            <a:r>
              <a:rPr sz="2267" b="1" spc="-7" dirty="0">
                <a:latin typeface="Arial"/>
                <a:cs typeface="Arial"/>
              </a:rPr>
              <a:t>system(JVM) </a:t>
            </a:r>
            <a:r>
              <a:rPr sz="2267" spc="-7" dirty="0">
                <a:latin typeface="Arial"/>
                <a:cs typeface="Arial"/>
              </a:rPr>
              <a:t>to </a:t>
            </a:r>
            <a:r>
              <a:rPr sz="2267" dirty="0">
                <a:latin typeface="Arial"/>
                <a:cs typeface="Arial"/>
              </a:rPr>
              <a:t>indicate errors having </a:t>
            </a:r>
            <a:r>
              <a:rPr sz="2267" spc="-7" dirty="0">
                <a:latin typeface="Arial"/>
                <a:cs typeface="Arial"/>
              </a:rPr>
              <a:t>to </a:t>
            </a:r>
            <a:r>
              <a:rPr sz="2267" dirty="0">
                <a:latin typeface="Arial"/>
                <a:cs typeface="Arial"/>
              </a:rPr>
              <a:t>do  </a:t>
            </a:r>
            <a:r>
              <a:rPr sz="2267" spc="-13" dirty="0">
                <a:latin typeface="Arial"/>
                <a:cs typeface="Arial"/>
              </a:rPr>
              <a:t>with </a:t>
            </a:r>
            <a:r>
              <a:rPr sz="2267" dirty="0">
                <a:latin typeface="Arial"/>
                <a:cs typeface="Arial"/>
              </a:rPr>
              <a:t>the run-time environment itself(JRE). </a:t>
            </a:r>
            <a:r>
              <a:rPr sz="2267" b="1" spc="-7" dirty="0">
                <a:latin typeface="Arial"/>
                <a:cs typeface="Arial"/>
              </a:rPr>
              <a:t>StackOverflowError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is an example of  such an</a:t>
            </a:r>
            <a:r>
              <a:rPr sz="2267" spc="-7" dirty="0">
                <a:latin typeface="Arial"/>
                <a:cs typeface="Arial"/>
              </a:rPr>
              <a:t> error.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97445F-F00F-44FB-BD4E-7B902004453D}"/>
              </a:ext>
            </a:extLst>
          </p:cNvPr>
          <p:cNvSpPr/>
          <p:nvPr/>
        </p:nvSpPr>
        <p:spPr>
          <a:xfrm>
            <a:off x="1828800" y="3225800"/>
            <a:ext cx="7711440" cy="3157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48C86F08-2EDF-4798-9229-DB1FCA20FE3B}"/>
              </a:ext>
            </a:extLst>
          </p:cNvPr>
          <p:cNvSpPr/>
          <p:nvPr/>
        </p:nvSpPr>
        <p:spPr>
          <a:xfrm>
            <a:off x="955964" y="1390056"/>
            <a:ext cx="4572000" cy="3877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407EB8A-7A7F-4AE7-9BA8-FD6CCF3FD9AE}"/>
              </a:ext>
            </a:extLst>
          </p:cNvPr>
          <p:cNvSpPr/>
          <p:nvPr/>
        </p:nvSpPr>
        <p:spPr>
          <a:xfrm>
            <a:off x="6206836" y="1246908"/>
            <a:ext cx="5029200" cy="4391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20CE33A-EB71-4657-BF60-4C3F1730C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6480" y="475140"/>
            <a:ext cx="7589520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b="1" spc="-7" dirty="0"/>
              <a:t>Exception</a:t>
            </a:r>
            <a:r>
              <a:rPr sz="4000" b="1" spc="-40" dirty="0"/>
              <a:t> </a:t>
            </a:r>
            <a:r>
              <a:rPr sz="4000" b="1" spc="-7" dirty="0"/>
              <a:t>Hierarchy</a:t>
            </a:r>
          </a:p>
        </p:txBody>
      </p:sp>
    </p:spTree>
    <p:extLst>
      <p:ext uri="{BB962C8B-B14F-4D97-AF65-F5344CB8AC3E}">
        <p14:creationId xmlns:p14="http://schemas.microsoft.com/office/powerpoint/2010/main" val="269486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62E4-FF09-4623-B6EF-14F32C64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73" y="734291"/>
            <a:ext cx="10566400" cy="609600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EXCEPTION :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598E-7A3A-4631-B604-A1649B8E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825624"/>
            <a:ext cx="11348720" cy="4595495"/>
          </a:xfrm>
        </p:spPr>
        <p:txBody>
          <a:bodyPr>
            <a:noAutofit/>
          </a:bodyPr>
          <a:lstStyle/>
          <a:p>
            <a:pPr marL="349250" indent="-337185">
              <a:lnSpc>
                <a:spcPct val="100000"/>
              </a:lnSpc>
              <a:spcBef>
                <a:spcPts val="885"/>
              </a:spcBef>
              <a:buChar char="●"/>
              <a:tabLst>
                <a:tab pos="349250" algn="l"/>
                <a:tab pos="349885" algn="l"/>
              </a:tabLst>
            </a:pPr>
            <a:r>
              <a:rPr lang="en-US" sz="2000" spc="-5" dirty="0">
                <a:latin typeface="Arial"/>
                <a:cs typeface="Arial"/>
              </a:rPr>
              <a:t>Java’s exceptions </a:t>
            </a:r>
            <a:r>
              <a:rPr lang="en-US" sz="2000" dirty="0">
                <a:latin typeface="Arial"/>
                <a:cs typeface="Arial"/>
              </a:rPr>
              <a:t>can </a:t>
            </a:r>
            <a:r>
              <a:rPr lang="en-US" sz="2000" spc="-5" dirty="0">
                <a:latin typeface="Arial"/>
                <a:cs typeface="Arial"/>
              </a:rPr>
              <a:t>be categorized into </a:t>
            </a:r>
            <a:r>
              <a:rPr lang="en-US" sz="2000" spc="-10" dirty="0">
                <a:latin typeface="Arial"/>
                <a:cs typeface="Arial"/>
              </a:rPr>
              <a:t>two</a:t>
            </a:r>
            <a:r>
              <a:rPr lang="en-US" sz="2000" spc="6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types:</a:t>
            </a:r>
            <a:endParaRPr lang="en-US" sz="2000" dirty="0">
              <a:latin typeface="Arial"/>
              <a:cs typeface="Arial"/>
            </a:endParaRPr>
          </a:p>
          <a:p>
            <a:pPr marL="806450">
              <a:lnSpc>
                <a:spcPct val="100000"/>
              </a:lnSpc>
              <a:spcBef>
                <a:spcPts val="795"/>
              </a:spcBef>
            </a:pPr>
            <a:r>
              <a:rPr lang="en-US" sz="2000" dirty="0">
                <a:latin typeface="Arial"/>
                <a:cs typeface="Arial"/>
              </a:rPr>
              <a:t>Checked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exceptions</a:t>
            </a:r>
          </a:p>
          <a:p>
            <a:pPr marL="806450">
              <a:lnSpc>
                <a:spcPct val="100000"/>
              </a:lnSpc>
              <a:spcBef>
                <a:spcPts val="805"/>
              </a:spcBef>
            </a:pPr>
            <a:r>
              <a:rPr lang="en-US" sz="2000" dirty="0">
                <a:latin typeface="Arial"/>
                <a:cs typeface="Arial"/>
              </a:rPr>
              <a:t>Unchecked</a:t>
            </a:r>
            <a:r>
              <a:rPr lang="en-US" sz="2000" spc="-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exceptions</a:t>
            </a:r>
          </a:p>
          <a:p>
            <a:pPr marL="349250" indent="-33718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349250" algn="l"/>
                <a:tab pos="349885" algn="l"/>
              </a:tabLst>
            </a:pPr>
            <a:r>
              <a:rPr lang="en-US" sz="2000" b="1" dirty="0">
                <a:latin typeface="Arial"/>
                <a:cs typeface="Arial"/>
              </a:rPr>
              <a:t>Checked exceptions</a:t>
            </a:r>
            <a:r>
              <a:rPr lang="en-US" sz="2000" b="1" spc="-7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−</a:t>
            </a:r>
          </a:p>
          <a:p>
            <a:pPr marL="806450" lvl="1" indent="-337185">
              <a:lnSpc>
                <a:spcPct val="100000"/>
              </a:lnSpc>
              <a:spcBef>
                <a:spcPts val="790"/>
              </a:spcBef>
              <a:buChar char="●"/>
              <a:tabLst>
                <a:tab pos="806450" algn="l"/>
                <a:tab pos="807085" algn="l"/>
              </a:tabLst>
            </a:pPr>
            <a:r>
              <a:rPr lang="en-US" sz="2000" dirty="0">
                <a:latin typeface="Arial"/>
                <a:cs typeface="Arial"/>
              </a:rPr>
              <a:t>A checked exception is an exception that occurs at </a:t>
            </a:r>
            <a:r>
              <a:rPr lang="en-US" sz="2000" spc="-5" dirty="0">
                <a:latin typeface="Arial"/>
                <a:cs typeface="Arial"/>
              </a:rPr>
              <a:t>the </a:t>
            </a:r>
            <a:r>
              <a:rPr lang="en-US" sz="2000" dirty="0">
                <a:latin typeface="Arial"/>
                <a:cs typeface="Arial"/>
              </a:rPr>
              <a:t>compile</a:t>
            </a:r>
            <a:r>
              <a:rPr lang="en-US" sz="2000" spc="15" dirty="0">
                <a:latin typeface="Arial"/>
                <a:cs typeface="Arial"/>
              </a:rPr>
              <a:t> </a:t>
            </a:r>
            <a:r>
              <a:rPr lang="en-US" sz="2000" spc="-5" dirty="0">
                <a:latin typeface="Arial"/>
                <a:cs typeface="Arial"/>
              </a:rPr>
              <a:t>time.</a:t>
            </a:r>
            <a:endParaRPr lang="en-US" sz="2000" dirty="0">
              <a:latin typeface="Arial"/>
              <a:cs typeface="Arial"/>
            </a:endParaRPr>
          </a:p>
          <a:p>
            <a:pPr marL="806450" lvl="1" indent="-337185">
              <a:lnSpc>
                <a:spcPct val="100000"/>
              </a:lnSpc>
              <a:spcBef>
                <a:spcPts val="805"/>
              </a:spcBef>
              <a:buChar char="●"/>
              <a:tabLst>
                <a:tab pos="806450" algn="l"/>
                <a:tab pos="807085" algn="l"/>
              </a:tabLst>
            </a:pPr>
            <a:r>
              <a:rPr lang="en-US" sz="2000" dirty="0">
                <a:latin typeface="Arial"/>
                <a:cs typeface="Arial"/>
              </a:rPr>
              <a:t>These are also called as </a:t>
            </a:r>
            <a:r>
              <a:rPr lang="en-US" sz="2000" b="1" dirty="0">
                <a:latin typeface="Arial"/>
                <a:cs typeface="Arial"/>
              </a:rPr>
              <a:t>compile </a:t>
            </a:r>
            <a:r>
              <a:rPr lang="en-US" sz="2000" b="1" spc="-5" dirty="0">
                <a:latin typeface="Arial"/>
                <a:cs typeface="Arial"/>
              </a:rPr>
              <a:t>time</a:t>
            </a:r>
            <a:r>
              <a:rPr lang="en-US" sz="2000" b="1" spc="-2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exceptions.</a:t>
            </a:r>
            <a:endParaRPr lang="en-US" sz="2000" dirty="0">
              <a:latin typeface="Arial"/>
              <a:cs typeface="Arial"/>
            </a:endParaRPr>
          </a:p>
          <a:p>
            <a:pPr marL="806450" marR="209550" lvl="1" indent="-337185">
              <a:lnSpc>
                <a:spcPct val="100000"/>
              </a:lnSpc>
              <a:spcBef>
                <a:spcPts val="805"/>
              </a:spcBef>
              <a:buChar char="●"/>
              <a:tabLst>
                <a:tab pos="806450" algn="l"/>
                <a:tab pos="807085" algn="l"/>
              </a:tabLst>
            </a:pPr>
            <a:r>
              <a:rPr lang="en-US" sz="2000" dirty="0">
                <a:latin typeface="Arial"/>
                <a:cs typeface="Arial"/>
              </a:rPr>
              <a:t>These exceptions cannot simply be ignored at </a:t>
            </a:r>
            <a:r>
              <a:rPr lang="en-US" sz="2000" spc="-5" dirty="0">
                <a:latin typeface="Arial"/>
                <a:cs typeface="Arial"/>
              </a:rPr>
              <a:t>the time </a:t>
            </a:r>
            <a:r>
              <a:rPr lang="en-US" sz="2000" dirty="0">
                <a:latin typeface="Arial"/>
                <a:cs typeface="Arial"/>
              </a:rPr>
              <a:t>of compilation, </a:t>
            </a:r>
            <a:r>
              <a:rPr lang="en-US" sz="2000" spc="-5" dirty="0">
                <a:latin typeface="Arial"/>
                <a:cs typeface="Arial"/>
              </a:rPr>
              <a:t>the  </a:t>
            </a:r>
            <a:r>
              <a:rPr lang="en-US" sz="2000" dirty="0">
                <a:latin typeface="Arial"/>
                <a:cs typeface="Arial"/>
              </a:rPr>
              <a:t>programmer should </a:t>
            </a:r>
            <a:r>
              <a:rPr lang="en-US" sz="2000" spc="-5" dirty="0">
                <a:latin typeface="Arial"/>
                <a:cs typeface="Arial"/>
              </a:rPr>
              <a:t>take </a:t>
            </a:r>
            <a:r>
              <a:rPr lang="en-US" sz="2000" dirty="0">
                <a:latin typeface="Arial"/>
                <a:cs typeface="Arial"/>
              </a:rPr>
              <a:t>care of (handle) these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exceptions.</a:t>
            </a:r>
          </a:p>
          <a:p>
            <a:pPr marL="806450" marR="5080" lvl="1" indent="-337185">
              <a:lnSpc>
                <a:spcPct val="100000"/>
              </a:lnSpc>
              <a:spcBef>
                <a:spcPts val="795"/>
              </a:spcBef>
              <a:buChar char="●"/>
              <a:tabLst>
                <a:tab pos="806450" algn="l"/>
                <a:tab pos="807085" algn="l"/>
              </a:tabLst>
            </a:pPr>
            <a:r>
              <a:rPr lang="en-US" sz="2000" dirty="0">
                <a:latin typeface="Arial"/>
                <a:cs typeface="Arial"/>
              </a:rPr>
              <a:t>checked exceptions are subject </a:t>
            </a:r>
            <a:r>
              <a:rPr lang="en-US" sz="2000" spc="-5" dirty="0">
                <a:latin typeface="Arial"/>
                <a:cs typeface="Arial"/>
              </a:rPr>
              <a:t>to the catch </a:t>
            </a:r>
            <a:r>
              <a:rPr lang="en-US" sz="2000" dirty="0">
                <a:latin typeface="Arial"/>
                <a:cs typeface="Arial"/>
              </a:rPr>
              <a:t>or specify a requirement, </a:t>
            </a:r>
            <a:r>
              <a:rPr lang="en-US" sz="2000" spc="-5" dirty="0">
                <a:latin typeface="Arial"/>
                <a:cs typeface="Arial"/>
              </a:rPr>
              <a:t>which  </a:t>
            </a:r>
            <a:r>
              <a:rPr lang="en-US" sz="2000" dirty="0">
                <a:latin typeface="Arial"/>
                <a:cs typeface="Arial"/>
              </a:rPr>
              <a:t>means they require catching or declaration. </a:t>
            </a:r>
            <a:r>
              <a:rPr lang="en-US" sz="2000" spc="5" dirty="0">
                <a:latin typeface="Arial"/>
                <a:cs typeface="Arial"/>
              </a:rPr>
              <a:t>This </a:t>
            </a:r>
            <a:r>
              <a:rPr lang="en-US" sz="2000" dirty="0">
                <a:latin typeface="Arial"/>
                <a:cs typeface="Arial"/>
              </a:rPr>
              <a:t>requirement is optional </a:t>
            </a:r>
            <a:r>
              <a:rPr lang="en-US" sz="2000" spc="-5" dirty="0">
                <a:latin typeface="Arial"/>
                <a:cs typeface="Arial"/>
              </a:rPr>
              <a:t>for  </a:t>
            </a:r>
            <a:r>
              <a:rPr lang="en-US" sz="2000" dirty="0">
                <a:latin typeface="Arial"/>
                <a:cs typeface="Arial"/>
              </a:rPr>
              <a:t>unchecked</a:t>
            </a:r>
            <a:r>
              <a:rPr lang="en-US" sz="2000" spc="-5" dirty="0">
                <a:latin typeface="Arial"/>
                <a:cs typeface="Arial"/>
              </a:rPr>
              <a:t> exceptions.</a:t>
            </a:r>
            <a:endParaRPr lang="en-US" sz="2000" dirty="0">
              <a:latin typeface="Arial"/>
              <a:cs typeface="Arial"/>
            </a:endParaRPr>
          </a:p>
          <a:p>
            <a:pPr marL="806450" lvl="1" indent="-337185">
              <a:lnSpc>
                <a:spcPct val="100000"/>
              </a:lnSpc>
              <a:spcBef>
                <a:spcPts val="805"/>
              </a:spcBef>
              <a:buChar char="●"/>
              <a:tabLst>
                <a:tab pos="806450" algn="l"/>
                <a:tab pos="807085" algn="l"/>
              </a:tabLst>
            </a:pPr>
            <a:r>
              <a:rPr lang="en-US" sz="2000" dirty="0">
                <a:latin typeface="Arial"/>
                <a:cs typeface="Arial"/>
              </a:rPr>
              <a:t>Code </a:t>
            </a:r>
            <a:r>
              <a:rPr lang="en-US" sz="2000" spc="-5" dirty="0">
                <a:latin typeface="Arial"/>
                <a:cs typeface="Arial"/>
              </a:rPr>
              <a:t>that </a:t>
            </a:r>
            <a:r>
              <a:rPr lang="en-US" sz="2000" dirty="0">
                <a:latin typeface="Arial"/>
                <a:cs typeface="Arial"/>
              </a:rPr>
              <a:t>uses a checked exception </a:t>
            </a:r>
            <a:r>
              <a:rPr lang="en-US" sz="2000" spc="-5" dirty="0">
                <a:latin typeface="Arial"/>
                <a:cs typeface="Arial"/>
              </a:rPr>
              <a:t>will </a:t>
            </a:r>
            <a:r>
              <a:rPr lang="en-US" sz="2000" dirty="0">
                <a:latin typeface="Arial"/>
                <a:cs typeface="Arial"/>
              </a:rPr>
              <a:t>not compile if </a:t>
            </a:r>
            <a:r>
              <a:rPr lang="en-US" sz="2000" spc="-5" dirty="0">
                <a:latin typeface="Arial"/>
                <a:cs typeface="Arial"/>
              </a:rPr>
              <a:t>the </a:t>
            </a:r>
            <a:r>
              <a:rPr lang="en-US" sz="2000" dirty="0">
                <a:latin typeface="Arial"/>
                <a:cs typeface="Arial"/>
              </a:rPr>
              <a:t>catch or</a:t>
            </a:r>
            <a:r>
              <a:rPr lang="en-US" sz="2000" spc="3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specify rule is not</a:t>
            </a:r>
            <a:r>
              <a:rPr lang="en-US" sz="2000" spc="-10" dirty="0">
                <a:latin typeface="Arial"/>
                <a:cs typeface="Arial"/>
              </a:rPr>
              <a:t> </a:t>
            </a:r>
            <a:r>
              <a:rPr lang="en-US" sz="2000" spc="-5" dirty="0">
                <a:latin typeface="Arial"/>
                <a:cs typeface="Arial"/>
              </a:rPr>
              <a:t>followed.</a:t>
            </a:r>
            <a:endParaRPr lang="en-US" sz="2000" dirty="0">
              <a:latin typeface="Arial"/>
              <a:cs typeface="Arial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5176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8717" y="1498600"/>
            <a:ext cx="10714567" cy="481413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5655" marR="852572" indent="-449569">
              <a:spcBef>
                <a:spcPts val="140"/>
              </a:spcBef>
              <a:buChar char="●"/>
              <a:tabLst>
                <a:tab pos="465655" algn="l"/>
                <a:tab pos="466502" algn="l"/>
              </a:tabLst>
            </a:pPr>
            <a:r>
              <a:rPr sz="2800" dirty="0">
                <a:latin typeface="+mj-lt"/>
                <a:cs typeface="Arial"/>
              </a:rPr>
              <a:t>All Java </a:t>
            </a:r>
            <a:r>
              <a:rPr sz="2800" spc="-7" dirty="0">
                <a:latin typeface="+mj-lt"/>
                <a:cs typeface="Arial"/>
              </a:rPr>
              <a:t>exceptions </a:t>
            </a:r>
            <a:r>
              <a:rPr sz="2800" dirty="0">
                <a:latin typeface="+mj-lt"/>
                <a:cs typeface="Arial"/>
              </a:rPr>
              <a:t>are checked exceptions </a:t>
            </a:r>
            <a:r>
              <a:rPr sz="2800" spc="-7" dirty="0">
                <a:latin typeface="+mj-lt"/>
                <a:cs typeface="Arial"/>
              </a:rPr>
              <a:t>except those </a:t>
            </a:r>
            <a:r>
              <a:rPr sz="2800" dirty="0">
                <a:latin typeface="+mj-lt"/>
                <a:cs typeface="Arial"/>
              </a:rPr>
              <a:t>of </a:t>
            </a:r>
            <a:r>
              <a:rPr sz="2800" spc="-7" dirty="0">
                <a:latin typeface="+mj-lt"/>
                <a:cs typeface="Arial"/>
              </a:rPr>
              <a:t>the </a:t>
            </a:r>
            <a:r>
              <a:rPr sz="2800" b="1" dirty="0">
                <a:latin typeface="+mj-lt"/>
                <a:cs typeface="Arial"/>
              </a:rPr>
              <a:t>Error and  RuntimeException </a:t>
            </a:r>
            <a:r>
              <a:rPr sz="2800" dirty="0">
                <a:latin typeface="+mj-lt"/>
                <a:cs typeface="Arial"/>
              </a:rPr>
              <a:t>classes and their</a:t>
            </a:r>
            <a:r>
              <a:rPr sz="2800" spc="-20" dirty="0">
                <a:latin typeface="+mj-lt"/>
                <a:cs typeface="Arial"/>
              </a:rPr>
              <a:t> </a:t>
            </a:r>
            <a:r>
              <a:rPr sz="2800" dirty="0">
                <a:latin typeface="+mj-lt"/>
                <a:cs typeface="Arial"/>
              </a:rPr>
              <a:t>subclasses.</a:t>
            </a:r>
          </a:p>
          <a:p>
            <a:pPr marL="1684825" marR="6773" lvl="1" indent="-449569">
              <a:spcBef>
                <a:spcPts val="1853"/>
              </a:spcBef>
              <a:buChar char="■"/>
              <a:tabLst>
                <a:tab pos="1684825" algn="l"/>
                <a:tab pos="1685671" algn="l"/>
              </a:tabLst>
            </a:pPr>
            <a:r>
              <a:rPr sz="2800" dirty="0">
                <a:latin typeface="+mj-lt"/>
                <a:cs typeface="Arial"/>
              </a:rPr>
              <a:t>For example, if </a:t>
            </a:r>
            <a:r>
              <a:rPr sz="2800" spc="-13" dirty="0">
                <a:latin typeface="+mj-lt"/>
                <a:cs typeface="Arial"/>
              </a:rPr>
              <a:t>you </a:t>
            </a:r>
            <a:r>
              <a:rPr sz="2800" dirty="0">
                <a:latin typeface="+mj-lt"/>
                <a:cs typeface="Arial"/>
              </a:rPr>
              <a:t>use </a:t>
            </a:r>
            <a:r>
              <a:rPr sz="2800" b="1" dirty="0">
                <a:latin typeface="+mj-lt"/>
                <a:cs typeface="Arial"/>
              </a:rPr>
              <a:t>FileReader </a:t>
            </a:r>
            <a:r>
              <a:rPr sz="2800" dirty="0">
                <a:latin typeface="+mj-lt"/>
                <a:cs typeface="Arial"/>
              </a:rPr>
              <a:t>class in </a:t>
            </a:r>
            <a:r>
              <a:rPr sz="2800" spc="-7" dirty="0">
                <a:latin typeface="+mj-lt"/>
                <a:cs typeface="Arial"/>
              </a:rPr>
              <a:t>your </a:t>
            </a:r>
            <a:r>
              <a:rPr sz="2800" dirty="0">
                <a:latin typeface="+mj-lt"/>
                <a:cs typeface="Arial"/>
              </a:rPr>
              <a:t>program to read data  from a file, if </a:t>
            </a:r>
            <a:r>
              <a:rPr sz="2800" spc="-7" dirty="0">
                <a:latin typeface="+mj-lt"/>
                <a:cs typeface="Arial"/>
              </a:rPr>
              <a:t>the file </a:t>
            </a:r>
            <a:r>
              <a:rPr sz="2800" dirty="0">
                <a:latin typeface="+mj-lt"/>
                <a:cs typeface="Arial"/>
              </a:rPr>
              <a:t>specified in </a:t>
            </a:r>
            <a:r>
              <a:rPr sz="2800" spc="-7" dirty="0">
                <a:latin typeface="+mj-lt"/>
                <a:cs typeface="Arial"/>
              </a:rPr>
              <a:t>its constructor </a:t>
            </a:r>
            <a:r>
              <a:rPr sz="2800" dirty="0">
                <a:latin typeface="+mj-lt"/>
                <a:cs typeface="Arial"/>
              </a:rPr>
              <a:t>doesn't </a:t>
            </a:r>
            <a:r>
              <a:rPr sz="2800" spc="-7" dirty="0">
                <a:latin typeface="+mj-lt"/>
                <a:cs typeface="Arial"/>
              </a:rPr>
              <a:t>exist, </a:t>
            </a:r>
            <a:r>
              <a:rPr sz="2800" dirty="0">
                <a:latin typeface="+mj-lt"/>
                <a:cs typeface="Arial"/>
              </a:rPr>
              <a:t>then a  FileNotFoundException occurs, and </a:t>
            </a:r>
            <a:r>
              <a:rPr sz="2800" spc="-7" dirty="0">
                <a:latin typeface="+mj-lt"/>
                <a:cs typeface="Arial"/>
              </a:rPr>
              <a:t>the </a:t>
            </a:r>
            <a:r>
              <a:rPr sz="2800" dirty="0">
                <a:latin typeface="+mj-lt"/>
                <a:cs typeface="Arial"/>
              </a:rPr>
              <a:t>compiler </a:t>
            </a:r>
            <a:r>
              <a:rPr sz="2800" spc="-7" dirty="0">
                <a:latin typeface="+mj-lt"/>
                <a:cs typeface="Arial"/>
              </a:rPr>
              <a:t>prompts the  </a:t>
            </a:r>
            <a:r>
              <a:rPr sz="2800" dirty="0">
                <a:latin typeface="+mj-lt"/>
                <a:cs typeface="Arial"/>
              </a:rPr>
              <a:t>programmer </a:t>
            </a:r>
            <a:r>
              <a:rPr sz="2800" spc="-7" dirty="0">
                <a:latin typeface="+mj-lt"/>
                <a:cs typeface="Arial"/>
              </a:rPr>
              <a:t>to </a:t>
            </a:r>
            <a:r>
              <a:rPr sz="2800" dirty="0">
                <a:latin typeface="+mj-lt"/>
                <a:cs typeface="Arial"/>
              </a:rPr>
              <a:t>handle </a:t>
            </a:r>
            <a:r>
              <a:rPr sz="2800" spc="-7" dirty="0">
                <a:latin typeface="+mj-lt"/>
                <a:cs typeface="Arial"/>
              </a:rPr>
              <a:t>the</a:t>
            </a:r>
            <a:r>
              <a:rPr sz="2800" spc="20" dirty="0">
                <a:latin typeface="+mj-lt"/>
                <a:cs typeface="Arial"/>
              </a:rPr>
              <a:t> </a:t>
            </a:r>
            <a:r>
              <a:rPr sz="2800" dirty="0">
                <a:latin typeface="+mj-lt"/>
                <a:cs typeface="Arial"/>
              </a:rPr>
              <a:t>exception.</a:t>
            </a:r>
          </a:p>
          <a:p>
            <a:pPr marL="1684825" marR="689169" lvl="1" indent="-449569" algn="just">
              <a:spcBef>
                <a:spcPts val="1873"/>
              </a:spcBef>
              <a:buChar char="■"/>
              <a:tabLst>
                <a:tab pos="1685671" algn="l"/>
              </a:tabLst>
            </a:pPr>
            <a:r>
              <a:rPr sz="2800" dirty="0">
                <a:latin typeface="+mj-lt"/>
                <a:cs typeface="Arial"/>
              </a:rPr>
              <a:t>Since </a:t>
            </a:r>
            <a:r>
              <a:rPr sz="2800" spc="-7" dirty="0">
                <a:latin typeface="+mj-lt"/>
                <a:cs typeface="Arial"/>
              </a:rPr>
              <a:t>the </a:t>
            </a:r>
            <a:r>
              <a:rPr sz="2800" dirty="0">
                <a:latin typeface="+mj-lt"/>
                <a:cs typeface="Arial"/>
              </a:rPr>
              <a:t>methods </a:t>
            </a:r>
            <a:r>
              <a:rPr sz="2800" b="1" dirty="0">
                <a:latin typeface="+mj-lt"/>
                <a:cs typeface="Arial"/>
              </a:rPr>
              <a:t>read() </a:t>
            </a:r>
            <a:r>
              <a:rPr sz="2800" dirty="0">
                <a:latin typeface="+mj-lt"/>
                <a:cs typeface="Arial"/>
              </a:rPr>
              <a:t>and </a:t>
            </a:r>
            <a:r>
              <a:rPr sz="2800" b="1" dirty="0">
                <a:latin typeface="+mj-lt"/>
                <a:cs typeface="Arial"/>
              </a:rPr>
              <a:t>close() </a:t>
            </a:r>
            <a:r>
              <a:rPr sz="2800" dirty="0">
                <a:latin typeface="+mj-lt"/>
                <a:cs typeface="Arial"/>
              </a:rPr>
              <a:t>of FileReader class </a:t>
            </a:r>
            <a:r>
              <a:rPr sz="2800" spc="-7" dirty="0">
                <a:latin typeface="+mj-lt"/>
                <a:cs typeface="Arial"/>
              </a:rPr>
              <a:t>throws  IOException, </a:t>
            </a:r>
            <a:r>
              <a:rPr sz="2800" spc="-13" dirty="0">
                <a:latin typeface="+mj-lt"/>
                <a:cs typeface="Arial"/>
              </a:rPr>
              <a:t>you </a:t>
            </a:r>
            <a:r>
              <a:rPr sz="2800" dirty="0">
                <a:latin typeface="+mj-lt"/>
                <a:cs typeface="Arial"/>
              </a:rPr>
              <a:t>can observe </a:t>
            </a:r>
            <a:r>
              <a:rPr sz="2800" spc="-7" dirty="0">
                <a:latin typeface="+mj-lt"/>
                <a:cs typeface="Arial"/>
              </a:rPr>
              <a:t>that the </a:t>
            </a:r>
            <a:r>
              <a:rPr sz="2800" dirty="0">
                <a:latin typeface="+mj-lt"/>
                <a:cs typeface="Arial"/>
              </a:rPr>
              <a:t>compiler notifies </a:t>
            </a:r>
            <a:r>
              <a:rPr sz="2800" spc="-7" dirty="0">
                <a:latin typeface="+mj-lt"/>
                <a:cs typeface="Arial"/>
              </a:rPr>
              <a:t>to </a:t>
            </a:r>
            <a:r>
              <a:rPr sz="2800" dirty="0">
                <a:latin typeface="+mj-lt"/>
                <a:cs typeface="Arial"/>
              </a:rPr>
              <a:t>handle  </a:t>
            </a:r>
            <a:r>
              <a:rPr sz="2800" spc="-7" dirty="0">
                <a:latin typeface="+mj-lt"/>
                <a:cs typeface="Arial"/>
              </a:rPr>
              <a:t>IOException, </a:t>
            </a:r>
            <a:r>
              <a:rPr sz="2800" dirty="0">
                <a:latin typeface="+mj-lt"/>
                <a:cs typeface="Arial"/>
              </a:rPr>
              <a:t>along </a:t>
            </a:r>
            <a:r>
              <a:rPr sz="2800" spc="-13" dirty="0">
                <a:latin typeface="+mj-lt"/>
                <a:cs typeface="Arial"/>
              </a:rPr>
              <a:t>with</a:t>
            </a:r>
            <a:r>
              <a:rPr sz="2800" spc="53" dirty="0">
                <a:latin typeface="+mj-lt"/>
                <a:cs typeface="Arial"/>
              </a:rPr>
              <a:t> </a:t>
            </a:r>
            <a:r>
              <a:rPr sz="2800" dirty="0">
                <a:latin typeface="+mj-lt"/>
                <a:cs typeface="Arial"/>
              </a:rPr>
              <a:t>FileNotFoundException.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97F58C-64A4-4FC6-AD47-33F93E7D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73" y="734291"/>
            <a:ext cx="10566400" cy="609600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EXCEPTION :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1" y="1397000"/>
            <a:ext cx="11202247" cy="446609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7732" marR="381837" algn="just">
              <a:spcBef>
                <a:spcPts val="140"/>
              </a:spcBef>
              <a:buAutoNum type="arabicPeriod" startAt="2"/>
              <a:tabLst>
                <a:tab pos="388610" algn="l"/>
              </a:tabLst>
            </a:pPr>
            <a:r>
              <a:rPr sz="1867" b="1" dirty="0">
                <a:latin typeface="Arial"/>
                <a:cs typeface="Arial"/>
              </a:rPr>
              <a:t>Unchecked exceptions </a:t>
            </a:r>
            <a:r>
              <a:rPr sz="1867" dirty="0">
                <a:latin typeface="Arial"/>
                <a:cs typeface="Arial"/>
              </a:rPr>
              <a:t>− An </a:t>
            </a:r>
            <a:r>
              <a:rPr sz="1867" spc="-7" dirty="0">
                <a:latin typeface="Arial"/>
                <a:cs typeface="Arial"/>
              </a:rPr>
              <a:t>unchecked exception </a:t>
            </a:r>
            <a:r>
              <a:rPr sz="1867" dirty="0">
                <a:latin typeface="Arial"/>
                <a:cs typeface="Arial"/>
              </a:rPr>
              <a:t>is </a:t>
            </a:r>
            <a:r>
              <a:rPr sz="1867" spc="-7" dirty="0">
                <a:latin typeface="Arial"/>
                <a:cs typeface="Arial"/>
              </a:rPr>
              <a:t>an exception that occurs at  the time </a:t>
            </a:r>
            <a:r>
              <a:rPr sz="1867" dirty="0">
                <a:latin typeface="Arial"/>
                <a:cs typeface="Arial"/>
              </a:rPr>
              <a:t>of</a:t>
            </a:r>
            <a:r>
              <a:rPr sz="1867" spc="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execution.</a:t>
            </a:r>
          </a:p>
          <a:p>
            <a:pPr marL="677316" lvl="1" indent="-449569" algn="just">
              <a:spcBef>
                <a:spcPts val="1325"/>
              </a:spcBef>
              <a:buChar char="●"/>
              <a:tabLst>
                <a:tab pos="676470" algn="l"/>
                <a:tab pos="677316" algn="l"/>
              </a:tabLst>
            </a:pPr>
            <a:r>
              <a:rPr sz="1867" dirty="0">
                <a:latin typeface="Arial"/>
                <a:cs typeface="Arial"/>
              </a:rPr>
              <a:t>These are also called as </a:t>
            </a:r>
            <a:r>
              <a:rPr sz="1867" b="1" dirty="0">
                <a:latin typeface="Arial"/>
                <a:cs typeface="Arial"/>
              </a:rPr>
              <a:t>Runtime</a:t>
            </a:r>
            <a:r>
              <a:rPr sz="1867" b="1" spc="-6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Exceptions</a:t>
            </a:r>
            <a:r>
              <a:rPr sz="1867" dirty="0">
                <a:latin typeface="Arial"/>
                <a:cs typeface="Arial"/>
              </a:rPr>
              <a:t>.</a:t>
            </a:r>
          </a:p>
          <a:p>
            <a:pPr marL="677316" marR="125304" lvl="1" indent="-449569" algn="just">
              <a:spcBef>
                <a:spcPts val="1333"/>
              </a:spcBef>
              <a:buChar char="●"/>
              <a:tabLst>
                <a:tab pos="676470" algn="l"/>
                <a:tab pos="677316" algn="l"/>
              </a:tabLst>
            </a:pPr>
            <a:r>
              <a:rPr sz="1867" dirty="0">
                <a:latin typeface="Arial"/>
                <a:cs typeface="Arial"/>
              </a:rPr>
              <a:t>These include programming bugs, such as logic errors or improper use of an API.  Runtime exceptions are ignored at </a:t>
            </a:r>
            <a:r>
              <a:rPr sz="1867" spc="-7" dirty="0">
                <a:latin typeface="Arial"/>
                <a:cs typeface="Arial"/>
              </a:rPr>
              <a:t>the time </a:t>
            </a:r>
            <a:r>
              <a:rPr sz="1867" dirty="0">
                <a:latin typeface="Arial"/>
                <a:cs typeface="Arial"/>
              </a:rPr>
              <a:t>of</a:t>
            </a:r>
            <a:r>
              <a:rPr sz="1867" spc="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compilation.</a:t>
            </a:r>
          </a:p>
          <a:p>
            <a:pPr marL="677316" marR="351358" lvl="1" indent="-449569" algn="just">
              <a:spcBef>
                <a:spcPts val="1340"/>
              </a:spcBef>
              <a:buChar char="●"/>
              <a:tabLst>
                <a:tab pos="676470" algn="l"/>
                <a:tab pos="677316" algn="l"/>
              </a:tabLst>
            </a:pPr>
            <a:r>
              <a:rPr sz="1867" dirty="0">
                <a:latin typeface="Arial"/>
                <a:cs typeface="Arial"/>
              </a:rPr>
              <a:t>For example, if </a:t>
            </a:r>
            <a:r>
              <a:rPr sz="1867" spc="-13" dirty="0">
                <a:latin typeface="Arial"/>
                <a:cs typeface="Arial"/>
              </a:rPr>
              <a:t>you </a:t>
            </a:r>
            <a:r>
              <a:rPr sz="1867" dirty="0">
                <a:latin typeface="Arial"/>
                <a:cs typeface="Arial"/>
              </a:rPr>
              <a:t>have declared an </a:t>
            </a:r>
            <a:r>
              <a:rPr sz="1867" spc="-7" dirty="0">
                <a:latin typeface="Arial"/>
                <a:cs typeface="Arial"/>
              </a:rPr>
              <a:t>array </a:t>
            </a:r>
            <a:r>
              <a:rPr sz="1867" dirty="0">
                <a:latin typeface="Arial"/>
                <a:cs typeface="Arial"/>
              </a:rPr>
              <a:t>of size 5 in </a:t>
            </a:r>
            <a:r>
              <a:rPr sz="1867" spc="-7" dirty="0">
                <a:latin typeface="Arial"/>
                <a:cs typeface="Arial"/>
              </a:rPr>
              <a:t>your </a:t>
            </a:r>
            <a:r>
              <a:rPr sz="1867" dirty="0">
                <a:latin typeface="Arial"/>
                <a:cs typeface="Arial"/>
              </a:rPr>
              <a:t>program, and </a:t>
            </a:r>
            <a:r>
              <a:rPr sz="1867" spc="-13" dirty="0">
                <a:latin typeface="Arial"/>
                <a:cs typeface="Arial"/>
              </a:rPr>
              <a:t>trying  </a:t>
            </a:r>
            <a:r>
              <a:rPr sz="1867" spc="-7" dirty="0">
                <a:latin typeface="Arial"/>
                <a:cs typeface="Arial"/>
              </a:rPr>
              <a:t>to </a:t>
            </a:r>
            <a:r>
              <a:rPr sz="1867" dirty="0">
                <a:latin typeface="Arial"/>
                <a:cs typeface="Arial"/>
              </a:rPr>
              <a:t>call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spc="7" dirty="0">
                <a:latin typeface="Arial"/>
                <a:cs typeface="Arial"/>
              </a:rPr>
              <a:t>6</a:t>
            </a:r>
            <a:r>
              <a:rPr sz="1867" spc="9" baseline="25252" dirty="0">
                <a:latin typeface="Arial"/>
                <a:cs typeface="Arial"/>
              </a:rPr>
              <a:t>th </a:t>
            </a:r>
            <a:r>
              <a:rPr sz="1867" dirty="0">
                <a:latin typeface="Arial"/>
                <a:cs typeface="Arial"/>
              </a:rPr>
              <a:t>element 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array then an  ArrayIndexOutOfBoundsExceptionexception</a:t>
            </a:r>
            <a:r>
              <a:rPr sz="1867" spc="6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occurs.</a:t>
            </a:r>
          </a:p>
          <a:p>
            <a:pPr marL="67732" marR="125304" algn="just">
              <a:spcBef>
                <a:spcPts val="1333"/>
              </a:spcBef>
              <a:buAutoNum type="arabicPeriod" startAt="2"/>
              <a:tabLst>
                <a:tab pos="388610" algn="l"/>
              </a:tabLst>
            </a:pPr>
            <a:r>
              <a:rPr sz="1867" b="1" dirty="0">
                <a:latin typeface="Arial"/>
                <a:cs typeface="Arial"/>
              </a:rPr>
              <a:t>Errors </a:t>
            </a:r>
            <a:r>
              <a:rPr sz="1867" dirty="0">
                <a:latin typeface="Arial"/>
                <a:cs typeface="Arial"/>
              </a:rPr>
              <a:t>− These </a:t>
            </a:r>
            <a:r>
              <a:rPr sz="1867" spc="-7" dirty="0">
                <a:latin typeface="Arial"/>
                <a:cs typeface="Arial"/>
              </a:rPr>
              <a:t>are </a:t>
            </a:r>
            <a:r>
              <a:rPr sz="1867" dirty="0">
                <a:latin typeface="Arial"/>
                <a:cs typeface="Arial"/>
              </a:rPr>
              <a:t>not </a:t>
            </a:r>
            <a:r>
              <a:rPr sz="1867" spc="-7" dirty="0">
                <a:latin typeface="Arial"/>
                <a:cs typeface="Arial"/>
              </a:rPr>
              <a:t>exceptions at </a:t>
            </a:r>
            <a:r>
              <a:rPr sz="1867" dirty="0">
                <a:latin typeface="Arial"/>
                <a:cs typeface="Arial"/>
              </a:rPr>
              <a:t>all, </a:t>
            </a:r>
            <a:r>
              <a:rPr sz="1867" spc="-7" dirty="0">
                <a:latin typeface="Arial"/>
                <a:cs typeface="Arial"/>
              </a:rPr>
              <a:t>but problems that arise </a:t>
            </a:r>
            <a:r>
              <a:rPr sz="1867" spc="-13" dirty="0">
                <a:latin typeface="Arial"/>
                <a:cs typeface="Arial"/>
              </a:rPr>
              <a:t>beyond </a:t>
            </a:r>
            <a:r>
              <a:rPr sz="1867" spc="-7" dirty="0">
                <a:latin typeface="Arial"/>
                <a:cs typeface="Arial"/>
              </a:rPr>
              <a:t>the control  </a:t>
            </a:r>
            <a:r>
              <a:rPr sz="1867" dirty="0">
                <a:latin typeface="Arial"/>
                <a:cs typeface="Arial"/>
              </a:rPr>
              <a:t>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user or the</a:t>
            </a:r>
            <a:r>
              <a:rPr sz="1867" spc="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programmer.</a:t>
            </a:r>
          </a:p>
          <a:p>
            <a:pPr marL="677316" marR="800927" lvl="1" indent="-449569" algn="just">
              <a:spcBef>
                <a:spcPts val="1325"/>
              </a:spcBef>
              <a:buChar char="●"/>
              <a:tabLst>
                <a:tab pos="676470" algn="l"/>
                <a:tab pos="677316" algn="l"/>
              </a:tabLst>
            </a:pPr>
            <a:r>
              <a:rPr sz="1867" dirty="0">
                <a:latin typeface="Arial"/>
                <a:cs typeface="Arial"/>
              </a:rPr>
              <a:t>Errors are </a:t>
            </a:r>
            <a:r>
              <a:rPr sz="1867" spc="-7" dirty="0">
                <a:latin typeface="Arial"/>
                <a:cs typeface="Arial"/>
              </a:rPr>
              <a:t>typically </a:t>
            </a:r>
            <a:r>
              <a:rPr sz="1867" dirty="0">
                <a:latin typeface="Arial"/>
                <a:cs typeface="Arial"/>
              </a:rPr>
              <a:t>ignored in </a:t>
            </a:r>
            <a:r>
              <a:rPr sz="1867" spc="-7" dirty="0">
                <a:latin typeface="Arial"/>
                <a:cs typeface="Arial"/>
              </a:rPr>
              <a:t>your </a:t>
            </a:r>
            <a:r>
              <a:rPr sz="1867" dirty="0">
                <a:latin typeface="Arial"/>
                <a:cs typeface="Arial"/>
              </a:rPr>
              <a:t>code because </a:t>
            </a:r>
            <a:r>
              <a:rPr sz="1867" spc="-13" dirty="0">
                <a:latin typeface="Arial"/>
                <a:cs typeface="Arial"/>
              </a:rPr>
              <a:t>you </a:t>
            </a:r>
            <a:r>
              <a:rPr sz="1867" dirty="0">
                <a:latin typeface="Arial"/>
                <a:cs typeface="Arial"/>
              </a:rPr>
              <a:t>can rarely do </a:t>
            </a:r>
            <a:r>
              <a:rPr sz="1867" spc="-7" dirty="0">
                <a:latin typeface="Arial"/>
                <a:cs typeface="Arial"/>
              </a:rPr>
              <a:t>anything  </a:t>
            </a:r>
            <a:r>
              <a:rPr sz="1867" dirty="0">
                <a:latin typeface="Arial"/>
                <a:cs typeface="Arial"/>
              </a:rPr>
              <a:t>about an</a:t>
            </a:r>
            <a:r>
              <a:rPr sz="1867" spc="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error.</a:t>
            </a:r>
            <a:endParaRPr sz="1867" dirty="0">
              <a:latin typeface="Arial"/>
              <a:cs typeface="Arial"/>
            </a:endParaRPr>
          </a:p>
          <a:p>
            <a:pPr marL="677316" marR="226054" lvl="1" indent="-449569" algn="just">
              <a:spcBef>
                <a:spcPts val="1347"/>
              </a:spcBef>
              <a:buChar char="●"/>
              <a:tabLst>
                <a:tab pos="676470" algn="l"/>
                <a:tab pos="677316" algn="l"/>
              </a:tabLst>
            </a:pPr>
            <a:r>
              <a:rPr sz="1867" dirty="0">
                <a:latin typeface="Arial"/>
                <a:cs typeface="Arial"/>
              </a:rPr>
              <a:t>For example, if a </a:t>
            </a:r>
            <a:r>
              <a:rPr sz="1867" spc="-7" dirty="0">
                <a:latin typeface="Arial"/>
                <a:cs typeface="Arial"/>
              </a:rPr>
              <a:t>stack </a:t>
            </a:r>
            <a:r>
              <a:rPr sz="1867" dirty="0">
                <a:latin typeface="Arial"/>
                <a:cs typeface="Arial"/>
              </a:rPr>
              <a:t>overflow occurs, an </a:t>
            </a:r>
            <a:r>
              <a:rPr sz="1867" spc="-7" dirty="0">
                <a:latin typeface="Arial"/>
                <a:cs typeface="Arial"/>
              </a:rPr>
              <a:t>error will </a:t>
            </a:r>
            <a:r>
              <a:rPr sz="1867" dirty="0">
                <a:latin typeface="Arial"/>
                <a:cs typeface="Arial"/>
              </a:rPr>
              <a:t>arise. </a:t>
            </a:r>
            <a:r>
              <a:rPr sz="1867" spc="7" dirty="0">
                <a:latin typeface="Arial"/>
                <a:cs typeface="Arial"/>
              </a:rPr>
              <a:t>They </a:t>
            </a:r>
            <a:r>
              <a:rPr sz="1867" dirty="0">
                <a:latin typeface="Arial"/>
                <a:cs typeface="Arial"/>
              </a:rPr>
              <a:t>are also ignored  at </a:t>
            </a:r>
            <a:r>
              <a:rPr sz="1867" spc="-7" dirty="0">
                <a:latin typeface="Arial"/>
                <a:cs typeface="Arial"/>
              </a:rPr>
              <a:t>the time </a:t>
            </a:r>
            <a:r>
              <a:rPr sz="1867" dirty="0">
                <a:latin typeface="Arial"/>
                <a:cs typeface="Arial"/>
              </a:rPr>
              <a:t>of</a:t>
            </a:r>
            <a:r>
              <a:rPr sz="1867" spc="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compilation.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D6CE8C-C21D-495C-B2AD-AFC3BEF7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5" y="531091"/>
            <a:ext cx="10889673" cy="609600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EXCEPTION :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97" y="426263"/>
            <a:ext cx="485767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Exception</a:t>
            </a:r>
            <a:r>
              <a:rPr sz="4000" spc="-60" dirty="0"/>
              <a:t> </a:t>
            </a:r>
            <a:r>
              <a:rPr sz="4000" spc="-7" dirty="0"/>
              <a:t>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1147097" y="911181"/>
            <a:ext cx="1828800" cy="323427"/>
          </a:xfrm>
          <a:custGeom>
            <a:avLst/>
            <a:gdLst/>
            <a:ahLst/>
            <a:cxnLst/>
            <a:rect l="l" t="t" r="r" b="b"/>
            <a:pathLst>
              <a:path w="1371600" h="242569">
                <a:moveTo>
                  <a:pt x="1132293" y="0"/>
                </a:moveTo>
                <a:lnTo>
                  <a:pt x="1011910" y="0"/>
                </a:lnTo>
                <a:lnTo>
                  <a:pt x="947928" y="0"/>
                </a:lnTo>
                <a:lnTo>
                  <a:pt x="0" y="0"/>
                </a:lnTo>
                <a:lnTo>
                  <a:pt x="0" y="242316"/>
                </a:lnTo>
                <a:lnTo>
                  <a:pt x="947902" y="242316"/>
                </a:lnTo>
                <a:lnTo>
                  <a:pt x="1011910" y="242316"/>
                </a:lnTo>
                <a:lnTo>
                  <a:pt x="1132293" y="242316"/>
                </a:lnTo>
                <a:lnTo>
                  <a:pt x="1132293" y="0"/>
                </a:lnTo>
                <a:close/>
              </a:path>
              <a:path w="1371600" h="242569">
                <a:moveTo>
                  <a:pt x="1371574" y="0"/>
                </a:moveTo>
                <a:lnTo>
                  <a:pt x="1312138" y="0"/>
                </a:lnTo>
                <a:lnTo>
                  <a:pt x="1191742" y="0"/>
                </a:lnTo>
                <a:lnTo>
                  <a:pt x="1132306" y="0"/>
                </a:lnTo>
                <a:lnTo>
                  <a:pt x="1132306" y="242316"/>
                </a:lnTo>
                <a:lnTo>
                  <a:pt x="1191742" y="242316"/>
                </a:lnTo>
                <a:lnTo>
                  <a:pt x="1312138" y="242316"/>
                </a:lnTo>
                <a:lnTo>
                  <a:pt x="1371574" y="242316"/>
                </a:lnTo>
                <a:lnTo>
                  <a:pt x="13715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016001" y="1234609"/>
            <a:ext cx="10952479" cy="48808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118533" rIns="0" bIns="0" rtlCol="0">
            <a:spAutoFit/>
          </a:bodyPr>
          <a:lstStyle/>
          <a:p>
            <a:pPr marL="626518" indent="-449569">
              <a:spcBef>
                <a:spcPts val="933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3;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4;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 5;//exception</a:t>
            </a:r>
            <a:r>
              <a:rPr sz="1867" spc="7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occurs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6;</a:t>
            </a:r>
          </a:p>
          <a:p>
            <a:pPr marL="626518" indent="-449569">
              <a:spcBef>
                <a:spcPts val="807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7;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8;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5671" algn="l"/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9;</a:t>
            </a:r>
          </a:p>
          <a:p>
            <a:pPr marL="626518" indent="-449569">
              <a:spcBef>
                <a:spcPts val="800"/>
              </a:spcBef>
              <a:buAutoNum type="arabicPeriod"/>
              <a:tabLst>
                <a:tab pos="626518" algn="l"/>
              </a:tabLst>
            </a:pPr>
            <a:r>
              <a:rPr sz="1867" spc="-7" dirty="0">
                <a:latin typeface="Arial"/>
                <a:cs typeface="Arial"/>
              </a:rPr>
              <a:t>statement</a:t>
            </a:r>
            <a:r>
              <a:rPr sz="1867" spc="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10;</a:t>
            </a:r>
          </a:p>
          <a:p>
            <a:pPr marL="16933" marR="6773">
              <a:spcBef>
                <a:spcPts val="800"/>
              </a:spcBef>
            </a:pPr>
            <a:r>
              <a:rPr sz="1867" dirty="0">
                <a:latin typeface="Arial"/>
                <a:cs typeface="Arial"/>
              </a:rPr>
              <a:t>Suppose </a:t>
            </a:r>
            <a:r>
              <a:rPr sz="1867" spc="-7" dirty="0">
                <a:latin typeface="Arial"/>
                <a:cs typeface="Arial"/>
              </a:rPr>
              <a:t>there </a:t>
            </a:r>
            <a:r>
              <a:rPr sz="1867" dirty="0">
                <a:latin typeface="Arial"/>
                <a:cs typeface="Arial"/>
              </a:rPr>
              <a:t>is 10 </a:t>
            </a:r>
            <a:r>
              <a:rPr sz="1867" spc="-7" dirty="0">
                <a:latin typeface="Arial"/>
                <a:cs typeface="Arial"/>
              </a:rPr>
              <a:t>statements </a:t>
            </a:r>
            <a:r>
              <a:rPr sz="1867" dirty="0">
                <a:latin typeface="Arial"/>
                <a:cs typeface="Arial"/>
              </a:rPr>
              <a:t>in </a:t>
            </a:r>
            <a:r>
              <a:rPr sz="1867" spc="-7" dirty="0">
                <a:latin typeface="Arial"/>
                <a:cs typeface="Arial"/>
              </a:rPr>
              <a:t>your </a:t>
            </a:r>
            <a:r>
              <a:rPr sz="1867" dirty="0">
                <a:latin typeface="Arial"/>
                <a:cs typeface="Arial"/>
              </a:rPr>
              <a:t>program and </a:t>
            </a:r>
            <a:r>
              <a:rPr sz="1867" spc="-7" dirty="0">
                <a:latin typeface="Arial"/>
                <a:cs typeface="Arial"/>
              </a:rPr>
              <a:t>there </a:t>
            </a:r>
            <a:r>
              <a:rPr sz="1867" dirty="0">
                <a:latin typeface="Arial"/>
                <a:cs typeface="Arial"/>
              </a:rPr>
              <a:t>occurs an exception at  </a:t>
            </a:r>
            <a:r>
              <a:rPr sz="1867" spc="-7" dirty="0">
                <a:latin typeface="Arial"/>
                <a:cs typeface="Arial"/>
              </a:rPr>
              <a:t>statement </a:t>
            </a:r>
            <a:r>
              <a:rPr sz="1867" dirty="0">
                <a:latin typeface="Arial"/>
                <a:cs typeface="Arial"/>
              </a:rPr>
              <a:t>5, rest 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code </a:t>
            </a:r>
            <a:r>
              <a:rPr sz="1867" spc="-7" dirty="0">
                <a:latin typeface="Arial"/>
                <a:cs typeface="Arial"/>
              </a:rPr>
              <a:t>will </a:t>
            </a:r>
            <a:r>
              <a:rPr sz="1867" dirty="0">
                <a:latin typeface="Arial"/>
                <a:cs typeface="Arial"/>
              </a:rPr>
              <a:t>not be executed </a:t>
            </a:r>
            <a:r>
              <a:rPr sz="1867" spc="-7" dirty="0">
                <a:latin typeface="Arial"/>
                <a:cs typeface="Arial"/>
              </a:rPr>
              <a:t>i.e. statement </a:t>
            </a:r>
            <a:r>
              <a:rPr sz="1867" dirty="0">
                <a:latin typeface="Arial"/>
                <a:cs typeface="Arial"/>
              </a:rPr>
              <a:t>6 </a:t>
            </a:r>
            <a:r>
              <a:rPr sz="1867" spc="-7" dirty="0">
                <a:latin typeface="Arial"/>
                <a:cs typeface="Arial"/>
              </a:rPr>
              <a:t>to </a:t>
            </a:r>
            <a:r>
              <a:rPr sz="1867" dirty="0">
                <a:latin typeface="Arial"/>
                <a:cs typeface="Arial"/>
              </a:rPr>
              <a:t>10 </a:t>
            </a:r>
            <a:r>
              <a:rPr sz="1867" spc="-7" dirty="0">
                <a:latin typeface="Arial"/>
                <a:cs typeface="Arial"/>
              </a:rPr>
              <a:t>will </a:t>
            </a:r>
            <a:r>
              <a:rPr sz="1867" dirty="0">
                <a:latin typeface="Arial"/>
                <a:cs typeface="Arial"/>
              </a:rPr>
              <a:t>not run. </a:t>
            </a:r>
            <a:r>
              <a:rPr sz="1867" spc="-7" dirty="0">
                <a:latin typeface="Arial"/>
                <a:cs typeface="Arial"/>
              </a:rPr>
              <a:t>If  </a:t>
            </a:r>
            <a:r>
              <a:rPr sz="1867" spc="-13" dirty="0">
                <a:latin typeface="Arial"/>
                <a:cs typeface="Arial"/>
              </a:rPr>
              <a:t>we </a:t>
            </a:r>
            <a:r>
              <a:rPr sz="1867" dirty="0">
                <a:latin typeface="Arial"/>
                <a:cs typeface="Arial"/>
              </a:rPr>
              <a:t>perform exception handling, rest 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statement </a:t>
            </a:r>
            <a:r>
              <a:rPr sz="1867" spc="-7" dirty="0">
                <a:latin typeface="Arial"/>
                <a:cs typeface="Arial"/>
              </a:rPr>
              <a:t>will </a:t>
            </a:r>
            <a:r>
              <a:rPr sz="1867" dirty="0">
                <a:latin typeface="Arial"/>
                <a:cs typeface="Arial"/>
              </a:rPr>
              <a:t>be executed. </a:t>
            </a:r>
            <a:r>
              <a:rPr sz="1867" spc="7" dirty="0">
                <a:latin typeface="Arial"/>
                <a:cs typeface="Arial"/>
              </a:rPr>
              <a:t>That </a:t>
            </a:r>
            <a:r>
              <a:rPr sz="1867" dirty="0">
                <a:latin typeface="Arial"/>
                <a:cs typeface="Arial"/>
              </a:rPr>
              <a:t>is </a:t>
            </a:r>
            <a:r>
              <a:rPr sz="1867" spc="-7" dirty="0">
                <a:latin typeface="Arial"/>
                <a:cs typeface="Arial"/>
              </a:rPr>
              <a:t>why </a:t>
            </a:r>
            <a:r>
              <a:rPr sz="1867" spc="-13" dirty="0">
                <a:latin typeface="Arial"/>
                <a:cs typeface="Arial"/>
              </a:rPr>
              <a:t>we  </a:t>
            </a:r>
            <a:r>
              <a:rPr sz="1867" dirty="0">
                <a:latin typeface="Arial"/>
                <a:cs typeface="Arial"/>
              </a:rPr>
              <a:t>use exception handling in</a:t>
            </a:r>
            <a:r>
              <a:rPr sz="1867" spc="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java.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6146" y="611603"/>
            <a:ext cx="864061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How JVM handle </a:t>
            </a:r>
            <a:r>
              <a:rPr sz="4000" dirty="0"/>
              <a:t>an</a:t>
            </a:r>
            <a:r>
              <a:rPr sz="4000" spc="-60" dirty="0"/>
              <a:t> </a:t>
            </a:r>
            <a:r>
              <a:rPr sz="4000" spc="-7" dirty="0"/>
              <a:t>Exception?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33" y="1701801"/>
            <a:ext cx="11153987" cy="40120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9313" algn="just">
              <a:spcBef>
                <a:spcPts val="140"/>
              </a:spcBef>
            </a:pPr>
            <a:r>
              <a:rPr sz="1867" b="1" dirty="0">
                <a:latin typeface="Arial"/>
                <a:cs typeface="Arial"/>
              </a:rPr>
              <a:t>Default </a:t>
            </a:r>
            <a:r>
              <a:rPr sz="1867" b="1" spc="-7" dirty="0">
                <a:latin typeface="Arial"/>
                <a:cs typeface="Arial"/>
              </a:rPr>
              <a:t>Exception Handling </a:t>
            </a:r>
            <a:r>
              <a:rPr sz="1867" b="1" dirty="0">
                <a:latin typeface="Arial"/>
                <a:cs typeface="Arial"/>
              </a:rPr>
              <a:t>: </a:t>
            </a:r>
            <a:r>
              <a:rPr sz="1867" dirty="0">
                <a:latin typeface="Arial"/>
                <a:cs typeface="Arial"/>
              </a:rPr>
              <a:t>Whenever inside a method, if an exception has  occurred, the method creates </a:t>
            </a:r>
            <a:r>
              <a:rPr sz="1867" spc="7" dirty="0">
                <a:latin typeface="Arial"/>
                <a:cs typeface="Arial"/>
              </a:rPr>
              <a:t>an </a:t>
            </a:r>
            <a:r>
              <a:rPr sz="1867" dirty="0">
                <a:latin typeface="Arial"/>
                <a:cs typeface="Arial"/>
              </a:rPr>
              <a:t>Object known as </a:t>
            </a:r>
            <a:r>
              <a:rPr sz="1867" b="1" dirty="0">
                <a:latin typeface="Arial"/>
                <a:cs typeface="Arial"/>
              </a:rPr>
              <a:t>Exception Object </a:t>
            </a:r>
            <a:r>
              <a:rPr sz="1867" dirty="0">
                <a:latin typeface="Arial"/>
                <a:cs typeface="Arial"/>
              </a:rPr>
              <a:t>and hands it off  </a:t>
            </a:r>
            <a:r>
              <a:rPr sz="1867" spc="-7" dirty="0">
                <a:latin typeface="Arial"/>
                <a:cs typeface="Arial"/>
              </a:rPr>
              <a:t>to the run-time</a:t>
            </a:r>
            <a:r>
              <a:rPr sz="1867" spc="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system(JVM).</a:t>
            </a:r>
            <a:endParaRPr sz="1867" dirty="0">
              <a:latin typeface="Arial"/>
              <a:cs typeface="Arial"/>
            </a:endParaRPr>
          </a:p>
          <a:p>
            <a:pPr marL="626518" marR="6773" indent="-449569" algn="just">
              <a:spcBef>
                <a:spcPts val="1325"/>
              </a:spcBef>
              <a:buChar char="●"/>
              <a:tabLst>
                <a:tab pos="626518" algn="l"/>
              </a:tabLst>
            </a:pPr>
            <a:r>
              <a:rPr sz="1867" spc="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exception object contains name and description 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exception, </a:t>
            </a:r>
            <a:r>
              <a:rPr sz="1867" spc="7" dirty="0">
                <a:latin typeface="Arial"/>
                <a:cs typeface="Arial"/>
              </a:rPr>
              <a:t>and </a:t>
            </a:r>
            <a:r>
              <a:rPr sz="1867" dirty="0">
                <a:latin typeface="Arial"/>
                <a:cs typeface="Arial"/>
              </a:rPr>
              <a:t>current  </a:t>
            </a:r>
            <a:r>
              <a:rPr sz="1867" spc="-7" dirty="0">
                <a:latin typeface="Arial"/>
                <a:cs typeface="Arial"/>
              </a:rPr>
              <a:t>state </a:t>
            </a:r>
            <a:r>
              <a:rPr sz="1867" dirty="0">
                <a:latin typeface="Arial"/>
                <a:cs typeface="Arial"/>
              </a:rPr>
              <a:t>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program </a:t>
            </a:r>
            <a:r>
              <a:rPr sz="1867" spc="-7" dirty="0">
                <a:latin typeface="Arial"/>
                <a:cs typeface="Arial"/>
              </a:rPr>
              <a:t>where </a:t>
            </a:r>
            <a:r>
              <a:rPr sz="1867" dirty="0">
                <a:latin typeface="Arial"/>
                <a:cs typeface="Arial"/>
              </a:rPr>
              <a:t>exception has</a:t>
            </a:r>
            <a:r>
              <a:rPr sz="1867" spc="10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occurred.</a:t>
            </a:r>
          </a:p>
          <a:p>
            <a:pPr marL="626518" indent="-449569" algn="just">
              <a:spcBef>
                <a:spcPts val="1325"/>
              </a:spcBef>
              <a:buClr>
                <a:srgbClr val="695D46"/>
              </a:buClr>
              <a:buChar char="●"/>
              <a:tabLst>
                <a:tab pos="626518" algn="l"/>
              </a:tabLst>
            </a:pPr>
            <a:r>
              <a:rPr sz="1867" dirty="0">
                <a:latin typeface="Arial"/>
                <a:cs typeface="Arial"/>
              </a:rPr>
              <a:t>Creating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Exception Object and handling it </a:t>
            </a:r>
            <a:r>
              <a:rPr sz="1867" spc="-7" dirty="0">
                <a:latin typeface="Arial"/>
                <a:cs typeface="Arial"/>
              </a:rPr>
              <a:t>to the run-time system</a:t>
            </a:r>
            <a:r>
              <a:rPr sz="1867" spc="272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is called</a:t>
            </a:r>
          </a:p>
          <a:p>
            <a:pPr marL="626518" algn="just">
              <a:spcBef>
                <a:spcPts val="7"/>
              </a:spcBef>
            </a:pPr>
            <a:r>
              <a:rPr sz="1867" b="1" dirty="0">
                <a:latin typeface="Arial"/>
                <a:cs typeface="Arial"/>
              </a:rPr>
              <a:t>throwing an</a:t>
            </a:r>
            <a:r>
              <a:rPr sz="1867" b="1" spc="-4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Exception</a:t>
            </a:r>
            <a:r>
              <a:rPr sz="1867" dirty="0">
                <a:latin typeface="Arial"/>
                <a:cs typeface="Arial"/>
              </a:rPr>
              <a:t>.</a:t>
            </a:r>
          </a:p>
          <a:p>
            <a:pPr marL="626518" marR="8466" indent="-449569" algn="just">
              <a:spcBef>
                <a:spcPts val="1340"/>
              </a:spcBef>
              <a:buClr>
                <a:srgbClr val="695D46"/>
              </a:buClr>
              <a:buChar char="●"/>
              <a:tabLst>
                <a:tab pos="626518" algn="l"/>
              </a:tabLst>
            </a:pPr>
            <a:r>
              <a:rPr sz="1867" dirty="0">
                <a:latin typeface="Arial"/>
                <a:cs typeface="Arial"/>
              </a:rPr>
              <a:t>There </a:t>
            </a:r>
            <a:r>
              <a:rPr sz="1867" spc="-7" dirty="0">
                <a:latin typeface="Arial"/>
                <a:cs typeface="Arial"/>
              </a:rPr>
              <a:t>might </a:t>
            </a:r>
            <a:r>
              <a:rPr sz="1867" dirty="0">
                <a:latin typeface="Arial"/>
                <a:cs typeface="Arial"/>
              </a:rPr>
              <a:t>be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list of the methods that </a:t>
            </a:r>
            <a:r>
              <a:rPr sz="1867" spc="7" dirty="0">
                <a:latin typeface="Arial"/>
                <a:cs typeface="Arial"/>
              </a:rPr>
              <a:t>had </a:t>
            </a:r>
            <a:r>
              <a:rPr sz="1867" dirty="0">
                <a:latin typeface="Arial"/>
                <a:cs typeface="Arial"/>
              </a:rPr>
              <a:t>been called </a:t>
            </a:r>
            <a:r>
              <a:rPr sz="1867" spc="-7" dirty="0">
                <a:latin typeface="Arial"/>
                <a:cs typeface="Arial"/>
              </a:rPr>
              <a:t>to </a:t>
            </a:r>
            <a:r>
              <a:rPr sz="1867" spc="7" dirty="0">
                <a:latin typeface="Arial"/>
                <a:cs typeface="Arial"/>
              </a:rPr>
              <a:t>get </a:t>
            </a:r>
            <a:r>
              <a:rPr sz="1867" spc="-7" dirty="0">
                <a:latin typeface="Arial"/>
                <a:cs typeface="Arial"/>
              </a:rPr>
              <a:t>to the </a:t>
            </a:r>
            <a:r>
              <a:rPr sz="1867" dirty="0">
                <a:latin typeface="Arial"/>
                <a:cs typeface="Arial"/>
              </a:rPr>
              <a:t>method  </a:t>
            </a:r>
            <a:r>
              <a:rPr sz="1867" spc="-7" dirty="0">
                <a:latin typeface="Arial"/>
                <a:cs typeface="Arial"/>
              </a:rPr>
              <a:t>where </a:t>
            </a:r>
            <a:r>
              <a:rPr sz="1867" dirty="0">
                <a:latin typeface="Arial"/>
                <a:cs typeface="Arial"/>
              </a:rPr>
              <a:t>exception </a:t>
            </a:r>
            <a:r>
              <a:rPr sz="1867" spc="-7" dirty="0">
                <a:latin typeface="Arial"/>
                <a:cs typeface="Arial"/>
              </a:rPr>
              <a:t>was </a:t>
            </a:r>
            <a:r>
              <a:rPr sz="1867" dirty="0">
                <a:latin typeface="Arial"/>
                <a:cs typeface="Arial"/>
              </a:rPr>
              <a:t>occurred. </a:t>
            </a:r>
            <a:r>
              <a:rPr sz="1867" spc="7" dirty="0">
                <a:latin typeface="Arial"/>
                <a:cs typeface="Arial"/>
              </a:rPr>
              <a:t>This </a:t>
            </a:r>
            <a:r>
              <a:rPr sz="1867" dirty="0">
                <a:latin typeface="Arial"/>
                <a:cs typeface="Arial"/>
              </a:rPr>
              <a:t>ordered </a:t>
            </a:r>
            <a:r>
              <a:rPr sz="1867" spc="-7" dirty="0">
                <a:latin typeface="Arial"/>
                <a:cs typeface="Arial"/>
              </a:rPr>
              <a:t>list </a:t>
            </a:r>
            <a:r>
              <a:rPr sz="1867" dirty="0">
                <a:latin typeface="Arial"/>
                <a:cs typeface="Arial"/>
              </a:rPr>
              <a:t>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methods is </a:t>
            </a:r>
            <a:r>
              <a:rPr sz="1867" spc="-7" dirty="0">
                <a:latin typeface="Arial"/>
                <a:cs typeface="Arial"/>
              </a:rPr>
              <a:t>called </a:t>
            </a:r>
            <a:r>
              <a:rPr sz="1867" b="1" spc="-7" dirty="0">
                <a:latin typeface="Arial"/>
                <a:cs typeface="Arial"/>
              </a:rPr>
              <a:t>Call  </a:t>
            </a:r>
            <a:r>
              <a:rPr sz="1867" b="1" dirty="0">
                <a:latin typeface="Arial"/>
                <a:cs typeface="Arial"/>
              </a:rPr>
              <a:t>Stack</a:t>
            </a:r>
            <a:r>
              <a:rPr sz="1867" dirty="0">
                <a:latin typeface="Arial"/>
                <a:cs typeface="Arial"/>
              </a:rPr>
              <a:t>.</a:t>
            </a:r>
          </a:p>
          <a:p>
            <a:pPr marL="626518" indent="-449569" algn="just">
              <a:spcBef>
                <a:spcPts val="1333"/>
              </a:spcBef>
              <a:buChar char="●"/>
              <a:tabLst>
                <a:tab pos="626518" algn="l"/>
              </a:tabLst>
            </a:pPr>
            <a:r>
              <a:rPr sz="1867" dirty="0">
                <a:latin typeface="Arial"/>
                <a:cs typeface="Arial"/>
              </a:rPr>
              <a:t>Now </a:t>
            </a:r>
            <a:r>
              <a:rPr sz="1867" spc="-7" dirty="0">
                <a:latin typeface="Arial"/>
                <a:cs typeface="Arial"/>
              </a:rPr>
              <a:t>the following </a:t>
            </a:r>
            <a:r>
              <a:rPr sz="1867" dirty="0">
                <a:latin typeface="Arial"/>
                <a:cs typeface="Arial"/>
              </a:rPr>
              <a:t>procedure </a:t>
            </a:r>
            <a:r>
              <a:rPr sz="1867" spc="-7" dirty="0">
                <a:latin typeface="Arial"/>
                <a:cs typeface="Arial"/>
              </a:rPr>
              <a:t>will</a:t>
            </a:r>
            <a:r>
              <a:rPr sz="1867" spc="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happen.</a:t>
            </a:r>
          </a:p>
          <a:p>
            <a:pPr marL="1083706" marR="6773" lvl="1" indent="-449569" algn="just">
              <a:spcBef>
                <a:spcPts val="1325"/>
              </a:spcBef>
              <a:buChar char="●"/>
              <a:tabLst>
                <a:tab pos="1083706" algn="l"/>
              </a:tabLst>
            </a:pPr>
            <a:r>
              <a:rPr sz="1867" spc="7" dirty="0">
                <a:latin typeface="Arial"/>
                <a:cs typeface="Arial"/>
              </a:rPr>
              <a:t>The </a:t>
            </a:r>
            <a:r>
              <a:rPr sz="1867" spc="-7" dirty="0">
                <a:latin typeface="Arial"/>
                <a:cs typeface="Arial"/>
              </a:rPr>
              <a:t>run-time system </a:t>
            </a:r>
            <a:r>
              <a:rPr sz="1867" dirty="0">
                <a:latin typeface="Arial"/>
                <a:cs typeface="Arial"/>
              </a:rPr>
              <a:t>searches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call </a:t>
            </a:r>
            <a:r>
              <a:rPr sz="1867" spc="-7" dirty="0">
                <a:latin typeface="Arial"/>
                <a:cs typeface="Arial"/>
              </a:rPr>
              <a:t>stack to find </a:t>
            </a:r>
            <a:r>
              <a:rPr sz="1867" dirty="0">
                <a:latin typeface="Arial"/>
                <a:cs typeface="Arial"/>
              </a:rPr>
              <a:t>the method that contains  block of </a:t>
            </a:r>
            <a:r>
              <a:rPr sz="1867" spc="-7" dirty="0">
                <a:latin typeface="Arial"/>
                <a:cs typeface="Arial"/>
              </a:rPr>
              <a:t>code </a:t>
            </a:r>
            <a:r>
              <a:rPr sz="1867" dirty="0">
                <a:latin typeface="Arial"/>
                <a:cs typeface="Arial"/>
              </a:rPr>
              <a:t>that </a:t>
            </a:r>
            <a:r>
              <a:rPr sz="1867" spc="-7" dirty="0">
                <a:latin typeface="Arial"/>
                <a:cs typeface="Arial"/>
              </a:rPr>
              <a:t>can </a:t>
            </a:r>
            <a:r>
              <a:rPr sz="1867" dirty="0">
                <a:latin typeface="Arial"/>
                <a:cs typeface="Arial"/>
              </a:rPr>
              <a:t>handle the occurred exception. </a:t>
            </a:r>
            <a:r>
              <a:rPr sz="1867" spc="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block of </a:t>
            </a:r>
            <a:r>
              <a:rPr sz="1867" spc="-7" dirty="0">
                <a:latin typeface="Arial"/>
                <a:cs typeface="Arial"/>
              </a:rPr>
              <a:t>the code </a:t>
            </a:r>
            <a:r>
              <a:rPr sz="1867" spc="7" dirty="0">
                <a:latin typeface="Arial"/>
                <a:cs typeface="Arial"/>
              </a:rPr>
              <a:t>is  </a:t>
            </a:r>
            <a:r>
              <a:rPr sz="1867" dirty="0">
                <a:latin typeface="Arial"/>
                <a:cs typeface="Arial"/>
              </a:rPr>
              <a:t>called </a:t>
            </a:r>
            <a:r>
              <a:rPr sz="1867" b="1" dirty="0">
                <a:latin typeface="Arial"/>
                <a:cs typeface="Arial"/>
              </a:rPr>
              <a:t>Exception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handler</a:t>
            </a:r>
            <a:r>
              <a:rPr sz="1867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9921" y="1388515"/>
            <a:ext cx="6187439" cy="46612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17780" rIns="0" bIns="0" rtlCol="0">
            <a:spAutoFit/>
          </a:bodyPr>
          <a:lstStyle/>
          <a:p>
            <a:pPr marL="465655" marR="10160" indent="-449569" algn="just">
              <a:spcBef>
                <a:spcPts val="140"/>
              </a:spcBef>
              <a:buChar char="●"/>
              <a:tabLst>
                <a:tab pos="466502" algn="l"/>
              </a:tabLst>
            </a:pPr>
            <a:r>
              <a:rPr sz="1867" spc="7" dirty="0">
                <a:latin typeface="Arial"/>
                <a:cs typeface="Arial"/>
              </a:rPr>
              <a:t>The </a:t>
            </a:r>
            <a:r>
              <a:rPr sz="1867" spc="-7" dirty="0">
                <a:latin typeface="Arial"/>
                <a:cs typeface="Arial"/>
              </a:rPr>
              <a:t>run-time system starts </a:t>
            </a:r>
            <a:r>
              <a:rPr sz="1867" dirty="0">
                <a:latin typeface="Arial"/>
                <a:cs typeface="Arial"/>
              </a:rPr>
              <a:t>searching from the method in which exception  occurred, proceeds through call </a:t>
            </a:r>
            <a:r>
              <a:rPr sz="1867" spc="-7" dirty="0">
                <a:latin typeface="Arial"/>
                <a:cs typeface="Arial"/>
              </a:rPr>
              <a:t>stack </a:t>
            </a:r>
            <a:r>
              <a:rPr sz="1867" dirty="0">
                <a:latin typeface="Arial"/>
                <a:cs typeface="Arial"/>
              </a:rPr>
              <a:t>in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reverse order in </a:t>
            </a:r>
            <a:r>
              <a:rPr sz="1867" spc="-7" dirty="0">
                <a:latin typeface="Arial"/>
                <a:cs typeface="Arial"/>
              </a:rPr>
              <a:t>which </a:t>
            </a:r>
            <a:r>
              <a:rPr sz="1867" dirty="0">
                <a:latin typeface="Arial"/>
                <a:cs typeface="Arial"/>
              </a:rPr>
              <a:t>methods  </a:t>
            </a:r>
            <a:r>
              <a:rPr sz="1867" spc="-7" dirty="0">
                <a:latin typeface="Arial"/>
                <a:cs typeface="Arial"/>
              </a:rPr>
              <a:t>were</a:t>
            </a:r>
            <a:r>
              <a:rPr sz="1867" spc="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called.</a:t>
            </a:r>
          </a:p>
          <a:p>
            <a:pPr marL="465655" marR="6773" indent="-449569" algn="just">
              <a:spcBef>
                <a:spcPts val="1333"/>
              </a:spcBef>
              <a:buChar char="●"/>
              <a:tabLst>
                <a:tab pos="466502" algn="l"/>
              </a:tabLst>
            </a:pPr>
            <a:r>
              <a:rPr sz="1867" spc="-7" dirty="0">
                <a:latin typeface="Arial"/>
                <a:cs typeface="Arial"/>
              </a:rPr>
              <a:t>If </a:t>
            </a:r>
            <a:r>
              <a:rPr sz="1867" dirty="0">
                <a:latin typeface="Arial"/>
                <a:cs typeface="Arial"/>
              </a:rPr>
              <a:t>it </a:t>
            </a:r>
            <a:r>
              <a:rPr sz="1867" spc="-7" dirty="0">
                <a:latin typeface="Arial"/>
                <a:cs typeface="Arial"/>
              </a:rPr>
              <a:t>finds </a:t>
            </a:r>
            <a:r>
              <a:rPr sz="1867" dirty="0">
                <a:latin typeface="Arial"/>
                <a:cs typeface="Arial"/>
              </a:rPr>
              <a:t>appropriate handler then it passes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occurred exception </a:t>
            </a:r>
            <a:r>
              <a:rPr sz="1867" spc="-7" dirty="0">
                <a:latin typeface="Arial"/>
                <a:cs typeface="Arial"/>
              </a:rPr>
              <a:t>to </a:t>
            </a:r>
            <a:r>
              <a:rPr sz="1867" dirty="0">
                <a:latin typeface="Arial"/>
                <a:cs typeface="Arial"/>
              </a:rPr>
              <a:t>it.  Appropriate handler means the </a:t>
            </a:r>
            <a:r>
              <a:rPr sz="1867" spc="-7" dirty="0">
                <a:latin typeface="Arial"/>
                <a:cs typeface="Arial"/>
              </a:rPr>
              <a:t>type </a:t>
            </a:r>
            <a:r>
              <a:rPr sz="1867" dirty="0">
                <a:latin typeface="Arial"/>
                <a:cs typeface="Arial"/>
              </a:rPr>
              <a:t>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exception object </a:t>
            </a:r>
            <a:r>
              <a:rPr sz="1867" spc="-7" dirty="0">
                <a:latin typeface="Arial"/>
                <a:cs typeface="Arial"/>
              </a:rPr>
              <a:t>thrown </a:t>
            </a:r>
            <a:r>
              <a:rPr sz="1867" dirty="0">
                <a:latin typeface="Arial"/>
                <a:cs typeface="Arial"/>
              </a:rPr>
              <a:t>matches 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spc="-13" dirty="0">
                <a:latin typeface="Arial"/>
                <a:cs typeface="Arial"/>
              </a:rPr>
              <a:t>type </a:t>
            </a:r>
            <a:r>
              <a:rPr sz="1867" dirty="0">
                <a:latin typeface="Arial"/>
                <a:cs typeface="Arial"/>
              </a:rPr>
              <a:t>of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exception object it can</a:t>
            </a:r>
            <a:r>
              <a:rPr sz="1867" spc="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handle.</a:t>
            </a:r>
          </a:p>
          <a:p>
            <a:pPr marL="465655" marR="6773" indent="-449569" algn="just">
              <a:spcBef>
                <a:spcPts val="1325"/>
              </a:spcBef>
              <a:buChar char="●"/>
              <a:tabLst>
                <a:tab pos="466502" algn="l"/>
              </a:tabLst>
            </a:pPr>
            <a:r>
              <a:rPr sz="1867" spc="-7" dirty="0">
                <a:latin typeface="Arial"/>
                <a:cs typeface="Arial"/>
              </a:rPr>
              <a:t>If </a:t>
            </a:r>
            <a:r>
              <a:rPr sz="1867" dirty="0">
                <a:latin typeface="Arial"/>
                <a:cs typeface="Arial"/>
              </a:rPr>
              <a:t>run-time system searches all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methods on call </a:t>
            </a:r>
            <a:r>
              <a:rPr sz="1867" spc="-7" dirty="0">
                <a:latin typeface="Arial"/>
                <a:cs typeface="Arial"/>
              </a:rPr>
              <a:t>stack </a:t>
            </a:r>
            <a:r>
              <a:rPr sz="1867" dirty="0">
                <a:latin typeface="Arial"/>
                <a:cs typeface="Arial"/>
              </a:rPr>
              <a:t>and couldn’t have  found </a:t>
            </a:r>
            <a:r>
              <a:rPr sz="1867" spc="-7" dirty="0">
                <a:latin typeface="Arial"/>
                <a:cs typeface="Arial"/>
              </a:rPr>
              <a:t>the </a:t>
            </a:r>
            <a:r>
              <a:rPr sz="1867" dirty="0">
                <a:latin typeface="Arial"/>
                <a:cs typeface="Arial"/>
              </a:rPr>
              <a:t>appropriate handler then </a:t>
            </a:r>
            <a:r>
              <a:rPr sz="1867" spc="-7" dirty="0">
                <a:latin typeface="Arial"/>
                <a:cs typeface="Arial"/>
              </a:rPr>
              <a:t>run-time system </a:t>
            </a:r>
            <a:r>
              <a:rPr sz="1867" dirty="0">
                <a:latin typeface="Arial"/>
                <a:cs typeface="Arial"/>
              </a:rPr>
              <a:t>handover the Exception  Object </a:t>
            </a:r>
            <a:r>
              <a:rPr sz="1867" spc="-7" dirty="0">
                <a:latin typeface="Arial"/>
                <a:cs typeface="Arial"/>
              </a:rPr>
              <a:t>to </a:t>
            </a:r>
            <a:r>
              <a:rPr sz="1867" b="1" dirty="0">
                <a:latin typeface="Arial"/>
                <a:cs typeface="Arial"/>
              </a:rPr>
              <a:t>default exception handler </a:t>
            </a:r>
            <a:r>
              <a:rPr sz="1867" dirty="0">
                <a:latin typeface="Arial"/>
                <a:cs typeface="Arial"/>
              </a:rPr>
              <a:t>, </a:t>
            </a:r>
            <a:r>
              <a:rPr sz="1867" spc="-7" dirty="0">
                <a:latin typeface="Arial"/>
                <a:cs typeface="Arial"/>
              </a:rPr>
              <a:t>which </a:t>
            </a:r>
            <a:r>
              <a:rPr sz="1867" dirty="0">
                <a:latin typeface="Arial"/>
                <a:cs typeface="Arial"/>
              </a:rPr>
              <a:t>is part of run-time </a:t>
            </a:r>
            <a:r>
              <a:rPr sz="1867" spc="-7" dirty="0">
                <a:latin typeface="Arial"/>
                <a:cs typeface="Arial"/>
              </a:rPr>
              <a:t>system. </a:t>
            </a:r>
            <a:r>
              <a:rPr sz="1867" spc="7" dirty="0">
                <a:latin typeface="Arial"/>
                <a:cs typeface="Arial"/>
              </a:rPr>
              <a:t>This  </a:t>
            </a:r>
            <a:r>
              <a:rPr sz="1867" dirty="0">
                <a:latin typeface="Arial"/>
                <a:cs typeface="Arial"/>
              </a:rPr>
              <a:t>handler prints the exception information in </a:t>
            </a:r>
            <a:r>
              <a:rPr sz="1867" spc="-7" dirty="0">
                <a:latin typeface="Arial"/>
                <a:cs typeface="Arial"/>
              </a:rPr>
              <a:t>the following </a:t>
            </a:r>
            <a:r>
              <a:rPr sz="1867" dirty="0">
                <a:latin typeface="Arial"/>
                <a:cs typeface="Arial"/>
              </a:rPr>
              <a:t>format and </a:t>
            </a:r>
            <a:r>
              <a:rPr sz="1867" spc="-7" dirty="0">
                <a:latin typeface="Arial"/>
                <a:cs typeface="Arial"/>
              </a:rPr>
              <a:t>terminates  </a:t>
            </a:r>
            <a:r>
              <a:rPr sz="1867" dirty="0">
                <a:latin typeface="Arial"/>
                <a:cs typeface="Arial"/>
              </a:rPr>
              <a:t>program </a:t>
            </a:r>
            <a:r>
              <a:rPr sz="1867" b="1" spc="-7" dirty="0">
                <a:latin typeface="Arial"/>
                <a:cs typeface="Arial"/>
              </a:rPr>
              <a:t>abnormally</a:t>
            </a:r>
            <a:r>
              <a:rPr sz="1867" spc="-7" dirty="0"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0EAF1EC-A548-4241-B494-6A194C1CC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480" y="642380"/>
            <a:ext cx="9612284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b="1" spc="-7" dirty="0"/>
              <a:t>How JVM handle </a:t>
            </a:r>
            <a:r>
              <a:rPr sz="4000" b="1" dirty="0"/>
              <a:t>an</a:t>
            </a:r>
            <a:r>
              <a:rPr sz="4000" b="1" spc="-60" dirty="0"/>
              <a:t> </a:t>
            </a:r>
            <a:r>
              <a:rPr sz="4000" b="1" spc="-7" dirty="0"/>
              <a:t>Exception?</a:t>
            </a:r>
          </a:p>
        </p:txBody>
      </p:sp>
      <p:pic>
        <p:nvPicPr>
          <p:cNvPr id="1028" name="Picture 4" descr="Exception Hierarchy in Java - Naukri Code 360">
            <a:extLst>
              <a:ext uri="{FF2B5EF4-FFF2-40B4-BE49-F238E27FC236}">
                <a16:creationId xmlns:a16="http://schemas.microsoft.com/office/drawing/2014/main" id="{4981C300-5CF6-A99A-57A3-1D1261E8B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901079"/>
            <a:ext cx="5151120" cy="18180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QUIZ: </a:t>
            </a:r>
            <a:endParaRPr lang="en-US" sz="28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33387" y="1454335"/>
            <a:ext cx="75755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Which of these keywords is used to manually throw an exception?</a:t>
            </a:r>
          </a:p>
          <a:p>
            <a:r>
              <a:rPr lang="en-US" sz="2800" b="1" dirty="0"/>
              <a:t>A.</a:t>
            </a:r>
            <a:r>
              <a:rPr lang="en-US" sz="2800" dirty="0"/>
              <a:t> try</a:t>
            </a:r>
          </a:p>
          <a:p>
            <a:r>
              <a:rPr lang="en-US" sz="2800" b="1" dirty="0"/>
              <a:t>B.</a:t>
            </a:r>
            <a:r>
              <a:rPr lang="en-US" sz="2800" dirty="0"/>
              <a:t> finally</a:t>
            </a:r>
          </a:p>
          <a:p>
            <a:r>
              <a:rPr lang="en-US" sz="2800" b="1" dirty="0"/>
              <a:t>C.</a:t>
            </a:r>
            <a:r>
              <a:rPr lang="en-US" sz="2800" dirty="0"/>
              <a:t> throw</a:t>
            </a:r>
          </a:p>
          <a:p>
            <a:r>
              <a:rPr lang="en-US" sz="2800" b="1" dirty="0"/>
              <a:t>D.</a:t>
            </a:r>
            <a:r>
              <a:rPr lang="en-US" sz="2800" dirty="0"/>
              <a:t> catch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539291" y="1300407"/>
            <a:ext cx="75755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</a:p>
          <a:p>
            <a:pPr>
              <a:buNone/>
            </a:pPr>
            <a:r>
              <a:rPr lang="en-US" sz="2800" dirty="0"/>
              <a:t>Exception and Error are direct subclasses of?</a:t>
            </a:r>
            <a:br>
              <a:rPr lang="en-US" sz="2800" dirty="0"/>
            </a:br>
            <a:r>
              <a:rPr lang="en-US" sz="2800" b="1" dirty="0" err="1"/>
              <a:t>A</a:t>
            </a:r>
            <a:r>
              <a:rPr lang="en-US" sz="2800" dirty="0" err="1"/>
              <a:t>.BaseException</a:t>
            </a:r>
            <a:br>
              <a:rPr lang="en-US" sz="2800" dirty="0"/>
            </a:br>
            <a:r>
              <a:rPr lang="en-US" sz="2800" b="1" dirty="0" err="1"/>
              <a:t>B</a:t>
            </a:r>
            <a:r>
              <a:rPr lang="en-US" sz="2800" dirty="0" err="1"/>
              <a:t>.Throwable</a:t>
            </a:r>
            <a:br>
              <a:rPr lang="en-US" sz="2800" dirty="0"/>
            </a:br>
            <a:r>
              <a:rPr lang="en-US" sz="2800" b="1" dirty="0" err="1"/>
              <a:t>C</a:t>
            </a:r>
            <a:r>
              <a:rPr lang="en-US" sz="2800" dirty="0" err="1"/>
              <a:t>.Object</a:t>
            </a:r>
            <a:br>
              <a:rPr lang="en-US" sz="2800" dirty="0"/>
            </a:br>
            <a:r>
              <a:rPr lang="en-US" sz="2800" b="1" dirty="0" err="1"/>
              <a:t>D</a:t>
            </a:r>
            <a:r>
              <a:rPr lang="en-US" sz="2800" dirty="0" err="1"/>
              <a:t>.RuntimeException</a:t>
            </a:r>
            <a:endParaRPr lang="en-US" sz="2800" dirty="0"/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03012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Summary: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session, you were able to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about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and super keyword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References: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741371" y="2196865"/>
            <a:ext cx="7575551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Books: </a:t>
            </a:r>
            <a:endParaRPr lang="en-IN" dirty="0"/>
          </a:p>
          <a:p>
            <a:r>
              <a:rPr lang="en-IN" dirty="0"/>
              <a:t>1. </a:t>
            </a:r>
            <a:r>
              <a:rPr lang="en-IN" dirty="0" err="1"/>
              <a:t>Balaguruswamy</a:t>
            </a:r>
            <a:r>
              <a:rPr lang="en-IN" dirty="0"/>
              <a:t>, </a:t>
            </a:r>
            <a:r>
              <a:rPr lang="en-IN" i="1" dirty="0"/>
              <a:t>Java. </a:t>
            </a:r>
            <a:endParaRPr lang="en-IN" dirty="0"/>
          </a:p>
          <a:p>
            <a:r>
              <a:rPr lang="en-IN" dirty="0"/>
              <a:t>2. A Primer, </a:t>
            </a:r>
            <a:r>
              <a:rPr lang="en-IN" dirty="0" err="1"/>
              <a:t>E.Balaguruswamy</a:t>
            </a:r>
            <a:r>
              <a:rPr lang="en-IN" dirty="0"/>
              <a:t>, </a:t>
            </a:r>
            <a:r>
              <a:rPr lang="en-IN" i="1" dirty="0"/>
              <a:t>Programming with Java, </a:t>
            </a:r>
            <a:r>
              <a:rPr lang="en-IN" dirty="0"/>
              <a:t>Tata McGraw Hill Companies </a:t>
            </a:r>
          </a:p>
          <a:p>
            <a:r>
              <a:rPr lang="en-US" dirty="0"/>
              <a:t>3. John P. Flynt Thomson, </a:t>
            </a:r>
            <a:r>
              <a:rPr lang="en-US" i="1" dirty="0"/>
              <a:t>Java Programming. </a:t>
            </a:r>
            <a:endParaRPr lang="en-US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Lectures : </a:t>
            </a:r>
            <a:r>
              <a:rPr lang="en-US" dirty="0">
                <a:hlinkClick r:id="rId2"/>
              </a:rPr>
              <a:t>https://youtu.be/VIbZRUjh2d0?list=PLHuIqV4DwPicArdMjI2YI5Hu5c2TnMgvV</a:t>
            </a:r>
            <a:endParaRPr lang="en-US" dirty="0"/>
          </a:p>
          <a:p>
            <a:endParaRPr lang="en-US" sz="2400" dirty="0"/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2054" y="94089"/>
            <a:ext cx="410563" cy="1538089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502234"/>
                </p:ext>
              </p:extLst>
            </p:nvPr>
          </p:nvGraphicFramePr>
          <p:xfrm>
            <a:off x="100850" y="246475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50" y="246475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424</TotalTime>
  <Words>1259</Words>
  <Application>Microsoft Office PowerPoint</Application>
  <PresentationFormat>Widescreen</PresentationFormat>
  <Paragraphs>115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Lecture Objectives </vt:lpstr>
      <vt:lpstr>JAVA - EXCEPTIONS</vt:lpstr>
      <vt:lpstr>Error v/s Exception</vt:lpstr>
      <vt:lpstr>Exception Hierarchy</vt:lpstr>
      <vt:lpstr>Exception Hierarchy</vt:lpstr>
      <vt:lpstr>EXCEPTION : Types</vt:lpstr>
      <vt:lpstr>EXCEPTION : Types</vt:lpstr>
      <vt:lpstr>EXCEPTION : Types</vt:lpstr>
      <vt:lpstr>Exception Handling</vt:lpstr>
      <vt:lpstr>How JVM handle an Exception?</vt:lpstr>
      <vt:lpstr>How JVM handle an Exception?</vt:lpstr>
      <vt:lpstr>QUIZ: </vt:lpstr>
      <vt:lpstr>QUIZ: </vt:lpstr>
      <vt:lpstr>Summary: 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105</cp:revision>
  <dcterms:created xsi:type="dcterms:W3CDTF">2019-01-09T10:33:58Z</dcterms:created>
  <dcterms:modified xsi:type="dcterms:W3CDTF">2024-12-23T08:48:39Z</dcterms:modified>
</cp:coreProperties>
</file>