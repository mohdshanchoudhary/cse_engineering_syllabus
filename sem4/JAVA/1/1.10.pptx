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3"/>
  </p:notesMasterIdLst>
  <p:handoutMasterIdLst>
    <p:handoutMasterId r:id="rId24"/>
  </p:handoutMasterIdLst>
  <p:sldIdLst>
    <p:sldId id="287" r:id="rId3"/>
    <p:sldId id="281" r:id="rId4"/>
    <p:sldId id="411" r:id="rId5"/>
    <p:sldId id="280" r:id="rId6"/>
    <p:sldId id="412" r:id="rId7"/>
    <p:sldId id="282" r:id="rId8"/>
    <p:sldId id="278" r:id="rId9"/>
    <p:sldId id="283" r:id="rId10"/>
    <p:sldId id="284" r:id="rId11"/>
    <p:sldId id="285" r:id="rId12"/>
    <p:sldId id="286" r:id="rId13"/>
    <p:sldId id="413" r:id="rId14"/>
    <p:sldId id="288" r:id="rId15"/>
    <p:sldId id="291" r:id="rId16"/>
    <p:sldId id="289" r:id="rId17"/>
    <p:sldId id="290" r:id="rId18"/>
    <p:sldId id="398" r:id="rId19"/>
    <p:sldId id="408" r:id="rId20"/>
    <p:sldId id="409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91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3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8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VIbZRUjh2d0?list=PLHuIqV4DwPicArdMjI2YI5Hu5c2TnMgvV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43367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530662" y="5128705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2908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41980" y="735788"/>
            <a:ext cx="8788843" cy="585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/>
            <a:endParaRPr lang="en-I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using Java</a:t>
            </a:r>
          </a:p>
          <a:p>
            <a:pPr algn="ctr"/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23CSP-202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3B967-41CC-4702-9A6A-3CAB326C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94" y="4269276"/>
            <a:ext cx="4868754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OF PRESENTATION: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Exceptions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18366-CEC0-4982-12CC-E159175B772C}"/>
              </a:ext>
            </a:extLst>
          </p:cNvPr>
          <p:cNvSpPr txBox="1"/>
          <p:nvPr/>
        </p:nvSpPr>
        <p:spPr>
          <a:xfrm>
            <a:off x="9610395" y="4790596"/>
            <a:ext cx="2098844" cy="1186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Bhavneet Kaur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Subject Coordinator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9F2DDB-FBF8-AD2B-A295-52807677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783571-FF87-F351-5E28-37AAA76F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56" y="5333998"/>
            <a:ext cx="10515600" cy="254000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7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lecture, we will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try,catch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finally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final,finally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finalize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hrow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throws.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/>
              <a:t>Lecture Objectives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640" y="582753"/>
            <a:ext cx="9290049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How Programmer handles </a:t>
            </a:r>
            <a:r>
              <a:rPr dirty="0"/>
              <a:t>an</a:t>
            </a:r>
            <a:r>
              <a:rPr spc="27" dirty="0"/>
              <a:t> </a:t>
            </a:r>
            <a:r>
              <a:rPr spc="-7" dirty="0"/>
              <a:t>exception?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721" y="1701800"/>
            <a:ext cx="11653519" cy="4573047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6933">
              <a:spcBef>
                <a:spcPts val="1460"/>
              </a:spcBef>
            </a:pP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Exception Handling</a:t>
            </a:r>
            <a:r>
              <a:rPr sz="2200" b="1" spc="-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518" marR="6773" indent="-449569">
              <a:spcBef>
                <a:spcPts val="1325"/>
              </a:spcBef>
              <a:buChar char="●"/>
              <a:tabLst>
                <a:tab pos="625671" algn="l"/>
                <a:tab pos="626518" algn="l"/>
                <a:tab pos="1424904" algn="l"/>
                <a:tab pos="2851502" algn="l"/>
                <a:tab pos="4133323" algn="l"/>
                <a:tab pos="4532092" algn="l"/>
                <a:tab pos="5923979" algn="l"/>
                <a:tab pos="6482765" algn="l"/>
                <a:tab pos="7122829" algn="l"/>
                <a:tab pos="8608691" algn="l"/>
                <a:tab pos="9244522" algn="l"/>
                <a:tab pos="10268963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	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sz="22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	hand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	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	managed	via	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ive	ke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ords:	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	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sz="2200" b="1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	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</a:t>
            </a:r>
            <a:r>
              <a:rPr sz="2200" b="1" spc="-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b="1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</a:t>
            </a:r>
            <a:r>
              <a:rPr sz="2200" spc="-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518" indent="-449569">
              <a:spcBef>
                <a:spcPts val="1325"/>
              </a:spcBef>
              <a:buChar char="●"/>
              <a:tabLst>
                <a:tab pos="625671" algn="l"/>
                <a:tab pos="626518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exceptions are contained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sz="2200" spc="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</a:p>
          <a:p>
            <a:pPr marL="626518" indent="-449569">
              <a:spcBef>
                <a:spcPts val="1347"/>
              </a:spcBef>
              <a:buChar char="●"/>
              <a:tabLst>
                <a:tab pos="625671" algn="l"/>
                <a:tab pos="626518" algn="l"/>
              </a:tabLst>
            </a:pP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exception occurs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try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block, it is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thrown.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518" indent="-449569">
              <a:spcBef>
                <a:spcPts val="1325"/>
              </a:spcBef>
              <a:buChar char="●"/>
              <a:tabLst>
                <a:tab pos="625671" algn="l"/>
                <a:tab pos="626518" algn="l"/>
                <a:tab pos="3162221" algn="l"/>
                <a:tab pos="4722587" algn="l"/>
                <a:tab pos="5316934" algn="l"/>
                <a:tab pos="7179554" algn="l"/>
                <a:tab pos="8222621" algn="l"/>
                <a:tab pos="8706056" algn="l"/>
                <a:tab pos="9287701" algn="l"/>
                <a:tab pos="10075927" algn="l"/>
              </a:tabLst>
            </a:pPr>
            <a:r>
              <a:rPr sz="22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</a:t>
            </a:r>
            <a:r>
              <a:rPr sz="22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	e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2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	are	</a:t>
            </a:r>
            <a:r>
              <a:rPr sz="22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ica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	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sz="22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	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	Java	r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200" spc="-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ime</a:t>
            </a:r>
          </a:p>
          <a:p>
            <a:pPr marL="626518"/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 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exception,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keyword</a:t>
            </a:r>
            <a:r>
              <a:rPr sz="2200" spc="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518" marR="11853" indent="-449569">
              <a:spcBef>
                <a:spcPts val="1333"/>
              </a:spcBef>
              <a:buChar char="●"/>
              <a:tabLst>
                <a:tab pos="625671" algn="l"/>
                <a:tab pos="626518" algn="l"/>
              </a:tabLst>
            </a:pP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that is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thrown 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must be specified as such </a:t>
            </a: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sz="2200" spc="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clause.</a:t>
            </a:r>
          </a:p>
          <a:p>
            <a:pPr marL="705256" indent="-529153">
              <a:spcBef>
                <a:spcPts val="1347"/>
              </a:spcBef>
              <a:buChar char="●"/>
              <a:tabLst>
                <a:tab pos="705256" algn="l"/>
                <a:tab pos="706102" algn="l"/>
              </a:tabLst>
            </a:pPr>
            <a:r>
              <a:rPr sz="2200" spc="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200" spc="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2200" spc="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absolutely</a:t>
            </a:r>
            <a:r>
              <a:rPr sz="2200" spc="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200" spc="9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  <a:r>
              <a:rPr sz="22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sz="2200" spc="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2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completes</a:t>
            </a:r>
            <a:r>
              <a:rPr sz="2200" spc="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sz="2200" spc="1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7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626518"/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sz="2200" spc="-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801" y="554186"/>
            <a:ext cx="10210799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Advantage of Exception</a:t>
            </a:r>
            <a:r>
              <a:rPr spc="13" dirty="0"/>
              <a:t> </a:t>
            </a:r>
            <a:r>
              <a:rPr spc="-7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600201"/>
            <a:ext cx="10940627" cy="439094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5655" marR="370831" indent="-449569" algn="just">
              <a:spcBef>
                <a:spcPts val="140"/>
              </a:spcBef>
              <a:buFont typeface="Arial"/>
              <a:buChar char="●"/>
              <a:tabLst>
                <a:tab pos="465655" algn="l"/>
                <a:tab pos="466502" algn="l"/>
              </a:tabLst>
            </a:pPr>
            <a:r>
              <a:rPr sz="2000" b="1" spc="-7" dirty="0">
                <a:latin typeface="Arial"/>
                <a:cs typeface="Arial"/>
              </a:rPr>
              <a:t>Maintain </a:t>
            </a:r>
            <a:r>
              <a:rPr sz="2000" b="1" dirty="0">
                <a:latin typeface="Arial"/>
                <a:cs typeface="Arial"/>
              </a:rPr>
              <a:t>the normal </a:t>
            </a:r>
            <a:r>
              <a:rPr sz="2000" b="1" spc="-7" dirty="0">
                <a:latin typeface="Arial"/>
                <a:cs typeface="Arial"/>
              </a:rPr>
              <a:t>flow </a:t>
            </a:r>
            <a:r>
              <a:rPr sz="2000" b="1" dirty="0">
                <a:latin typeface="Arial"/>
                <a:cs typeface="Arial"/>
              </a:rPr>
              <a:t>of the application</a:t>
            </a:r>
            <a:r>
              <a:rPr sz="2000" dirty="0">
                <a:latin typeface="Arial"/>
                <a:cs typeface="Arial"/>
              </a:rPr>
              <a:t>.: Exception normally disrupts </a:t>
            </a:r>
            <a:r>
              <a:rPr sz="2000" spc="-7" dirty="0">
                <a:latin typeface="Arial"/>
                <a:cs typeface="Arial"/>
              </a:rPr>
              <a:t>the  </a:t>
            </a:r>
            <a:r>
              <a:rPr sz="2000" dirty="0">
                <a:latin typeface="Arial"/>
                <a:cs typeface="Arial"/>
              </a:rPr>
              <a:t>normal </a:t>
            </a:r>
            <a:r>
              <a:rPr sz="2000" spc="-7" dirty="0">
                <a:latin typeface="Arial"/>
                <a:cs typeface="Arial"/>
              </a:rPr>
              <a:t>flow </a:t>
            </a:r>
            <a:r>
              <a:rPr sz="2000" dirty="0">
                <a:latin typeface="Arial"/>
                <a:cs typeface="Arial"/>
              </a:rPr>
              <a:t>of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application </a:t>
            </a:r>
            <a:r>
              <a:rPr sz="2000" spc="-7" dirty="0">
                <a:latin typeface="Arial"/>
                <a:cs typeface="Arial"/>
              </a:rPr>
              <a:t>that </a:t>
            </a:r>
            <a:r>
              <a:rPr sz="2000" dirty="0">
                <a:latin typeface="Arial"/>
                <a:cs typeface="Arial"/>
              </a:rPr>
              <a:t>is </a:t>
            </a:r>
            <a:r>
              <a:rPr sz="2000" spc="-7" dirty="0">
                <a:latin typeface="Arial"/>
                <a:cs typeface="Arial"/>
              </a:rPr>
              <a:t>why </a:t>
            </a:r>
            <a:r>
              <a:rPr sz="2000" spc="-13" dirty="0">
                <a:latin typeface="Arial"/>
                <a:cs typeface="Arial"/>
              </a:rPr>
              <a:t>we </a:t>
            </a:r>
            <a:r>
              <a:rPr sz="2000" dirty="0">
                <a:latin typeface="Arial"/>
                <a:cs typeface="Arial"/>
              </a:rPr>
              <a:t>use exception</a:t>
            </a:r>
            <a:r>
              <a:rPr sz="2000" spc="10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handling.</a:t>
            </a:r>
          </a:p>
          <a:p>
            <a:pPr marL="465655" marR="419936" indent="-449569" algn="just">
              <a:spcBef>
                <a:spcPts val="1325"/>
              </a:spcBef>
              <a:buFont typeface="Arial"/>
              <a:buChar char="●"/>
              <a:tabLst>
                <a:tab pos="465655" algn="l"/>
                <a:tab pos="466502" algn="l"/>
              </a:tabLst>
            </a:pPr>
            <a:r>
              <a:rPr sz="2000" b="1" dirty="0">
                <a:latin typeface="Arial"/>
                <a:cs typeface="Arial"/>
              </a:rPr>
              <a:t>Separating Error-Handling Code from "Regular" Code : </a:t>
            </a:r>
            <a:r>
              <a:rPr sz="2000" dirty="0">
                <a:latin typeface="Arial"/>
                <a:cs typeface="Arial"/>
              </a:rPr>
              <a:t>Exceptions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provide 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means to separate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details of </a:t>
            </a:r>
            <a:r>
              <a:rPr sz="2000" spc="-7" dirty="0">
                <a:latin typeface="Arial"/>
                <a:cs typeface="Arial"/>
              </a:rPr>
              <a:t>what to </a:t>
            </a:r>
            <a:r>
              <a:rPr sz="2000" dirty="0">
                <a:latin typeface="Arial"/>
                <a:cs typeface="Arial"/>
              </a:rPr>
              <a:t>do </a:t>
            </a:r>
            <a:r>
              <a:rPr sz="2000" spc="-7" dirty="0">
                <a:latin typeface="Arial"/>
                <a:cs typeface="Arial"/>
              </a:rPr>
              <a:t>when </a:t>
            </a:r>
            <a:r>
              <a:rPr sz="2000" dirty="0">
                <a:latin typeface="Arial"/>
                <a:cs typeface="Arial"/>
              </a:rPr>
              <a:t>something out of </a:t>
            </a:r>
            <a:r>
              <a:rPr sz="2000" spc="-7" dirty="0">
                <a:latin typeface="Arial"/>
                <a:cs typeface="Arial"/>
              </a:rPr>
              <a:t>the  </a:t>
            </a:r>
            <a:r>
              <a:rPr sz="2000" dirty="0">
                <a:latin typeface="Arial"/>
                <a:cs typeface="Arial"/>
              </a:rPr>
              <a:t>ordinary happens </a:t>
            </a:r>
            <a:r>
              <a:rPr sz="2000" spc="-7" dirty="0">
                <a:latin typeface="Arial"/>
                <a:cs typeface="Arial"/>
              </a:rPr>
              <a:t>from the </a:t>
            </a:r>
            <a:r>
              <a:rPr sz="2000" dirty="0">
                <a:latin typeface="Arial"/>
                <a:cs typeface="Arial"/>
              </a:rPr>
              <a:t>main logic of a</a:t>
            </a:r>
            <a:r>
              <a:rPr sz="2000" spc="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program.</a:t>
            </a:r>
          </a:p>
          <a:p>
            <a:pPr marL="465655" indent="-449569" algn="just">
              <a:spcBef>
                <a:spcPts val="1325"/>
              </a:spcBef>
              <a:buFont typeface="Arial"/>
              <a:buChar char="●"/>
              <a:tabLst>
                <a:tab pos="465655" algn="l"/>
                <a:tab pos="466502" algn="l"/>
              </a:tabLst>
            </a:pPr>
            <a:r>
              <a:rPr sz="2000" b="1" dirty="0">
                <a:latin typeface="Arial"/>
                <a:cs typeface="Arial"/>
              </a:rPr>
              <a:t>Propagating Errors Up the </a:t>
            </a:r>
            <a:r>
              <a:rPr sz="2000" b="1" spc="-7" dirty="0">
                <a:latin typeface="Arial"/>
                <a:cs typeface="Arial"/>
              </a:rPr>
              <a:t>Call </a:t>
            </a:r>
            <a:r>
              <a:rPr sz="2000" b="1" dirty="0">
                <a:latin typeface="Arial"/>
                <a:cs typeface="Arial"/>
              </a:rPr>
              <a:t>Stack : </a:t>
            </a:r>
            <a:r>
              <a:rPr sz="2000" dirty="0">
                <a:latin typeface="Arial"/>
                <a:cs typeface="Arial"/>
              </a:rPr>
              <a:t>Another advantage of exceptions is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7" dirty="0">
                <a:latin typeface="Arial"/>
                <a:cs typeface="Arial"/>
              </a:rPr>
              <a:t>the</a:t>
            </a:r>
            <a:endParaRPr sz="2000" dirty="0">
              <a:latin typeface="Arial"/>
              <a:cs typeface="Arial"/>
            </a:endParaRPr>
          </a:p>
          <a:p>
            <a:pPr marL="465655" algn="just"/>
            <a:r>
              <a:rPr sz="2000" dirty="0">
                <a:latin typeface="Arial"/>
                <a:cs typeface="Arial"/>
              </a:rPr>
              <a:t>ability </a:t>
            </a:r>
            <a:r>
              <a:rPr sz="2000" spc="-7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propagate error </a:t>
            </a:r>
            <a:r>
              <a:rPr sz="2000" spc="-7" dirty="0">
                <a:latin typeface="Arial"/>
                <a:cs typeface="Arial"/>
              </a:rPr>
              <a:t>reporting </a:t>
            </a:r>
            <a:r>
              <a:rPr sz="2000" dirty="0">
                <a:latin typeface="Arial"/>
                <a:cs typeface="Arial"/>
              </a:rPr>
              <a:t>up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call stack of</a:t>
            </a:r>
            <a:r>
              <a:rPr sz="2000" spc="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methods.</a:t>
            </a:r>
          </a:p>
          <a:p>
            <a:pPr marL="1075240" marR="6773" lvl="1" indent="-449569" algn="just">
              <a:spcBef>
                <a:spcPts val="1353"/>
              </a:spcBef>
              <a:buClr>
                <a:srgbClr val="695D46"/>
              </a:buClr>
              <a:buChar char="○"/>
              <a:tabLst>
                <a:tab pos="1075240" algn="l"/>
                <a:tab pos="1076086" algn="l"/>
              </a:tabLst>
            </a:pPr>
            <a:r>
              <a:rPr sz="2000" dirty="0">
                <a:latin typeface="Arial"/>
                <a:cs typeface="Arial"/>
              </a:rPr>
              <a:t>Suppose </a:t>
            </a:r>
            <a:r>
              <a:rPr sz="2000" spc="-7" dirty="0">
                <a:latin typeface="Arial"/>
                <a:cs typeface="Arial"/>
              </a:rPr>
              <a:t>that the </a:t>
            </a:r>
            <a:r>
              <a:rPr sz="2000" dirty="0">
                <a:latin typeface="Arial"/>
                <a:cs typeface="Arial"/>
              </a:rPr>
              <a:t>readFile method is </a:t>
            </a:r>
            <a:r>
              <a:rPr sz="2000" spc="-7" dirty="0">
                <a:latin typeface="Arial"/>
                <a:cs typeface="Arial"/>
              </a:rPr>
              <a:t>the fourth </a:t>
            </a:r>
            <a:r>
              <a:rPr sz="2000" dirty="0">
                <a:latin typeface="Arial"/>
                <a:cs typeface="Arial"/>
              </a:rPr>
              <a:t>method in a series of nested  method calls made by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main </a:t>
            </a:r>
            <a:r>
              <a:rPr sz="2000" spc="-7" dirty="0">
                <a:latin typeface="Arial"/>
                <a:cs typeface="Arial"/>
              </a:rPr>
              <a:t>program: </a:t>
            </a:r>
            <a:r>
              <a:rPr sz="2000" dirty="0">
                <a:latin typeface="Arial"/>
                <a:cs typeface="Arial"/>
              </a:rPr>
              <a:t>method1 calls method2, </a:t>
            </a:r>
            <a:r>
              <a:rPr sz="2000" spc="-7" dirty="0">
                <a:latin typeface="Arial"/>
                <a:cs typeface="Arial"/>
              </a:rPr>
              <a:t>which </a:t>
            </a:r>
            <a:r>
              <a:rPr sz="2000" dirty="0">
                <a:latin typeface="Arial"/>
                <a:cs typeface="Arial"/>
              </a:rPr>
              <a:t>calls  method3, </a:t>
            </a:r>
            <a:r>
              <a:rPr sz="2000" spc="-7" dirty="0">
                <a:latin typeface="Arial"/>
                <a:cs typeface="Arial"/>
              </a:rPr>
              <a:t>which </a:t>
            </a:r>
            <a:r>
              <a:rPr sz="2000" dirty="0">
                <a:latin typeface="Arial"/>
                <a:cs typeface="Arial"/>
              </a:rPr>
              <a:t>finally calls</a:t>
            </a:r>
            <a:r>
              <a:rPr sz="2000" spc="-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readFile.</a:t>
            </a:r>
          </a:p>
          <a:p>
            <a:pPr marL="1075240" marR="387764" lvl="1" indent="-449569" algn="just">
              <a:spcBef>
                <a:spcPts val="1325"/>
              </a:spcBef>
              <a:buClr>
                <a:srgbClr val="695D46"/>
              </a:buClr>
              <a:buChar char="○"/>
              <a:tabLst>
                <a:tab pos="1075240" algn="l"/>
                <a:tab pos="1076086" algn="l"/>
              </a:tabLst>
            </a:pPr>
            <a:r>
              <a:rPr sz="2000" dirty="0">
                <a:latin typeface="Arial"/>
                <a:cs typeface="Arial"/>
              </a:rPr>
              <a:t>Suppose also </a:t>
            </a:r>
            <a:r>
              <a:rPr sz="2000" spc="-7" dirty="0">
                <a:latin typeface="Arial"/>
                <a:cs typeface="Arial"/>
              </a:rPr>
              <a:t>that </a:t>
            </a:r>
            <a:r>
              <a:rPr sz="2000" dirty="0">
                <a:latin typeface="Arial"/>
                <a:cs typeface="Arial"/>
              </a:rPr>
              <a:t>method1 is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only method </a:t>
            </a:r>
            <a:r>
              <a:rPr sz="2000" spc="-7" dirty="0">
                <a:latin typeface="Arial"/>
                <a:cs typeface="Arial"/>
              </a:rPr>
              <a:t>interested </a:t>
            </a:r>
            <a:r>
              <a:rPr sz="2000" dirty="0">
                <a:latin typeface="Arial"/>
                <a:cs typeface="Arial"/>
              </a:rPr>
              <a:t>in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errors </a:t>
            </a:r>
            <a:r>
              <a:rPr sz="2000" spc="-7" dirty="0">
                <a:latin typeface="Arial"/>
                <a:cs typeface="Arial"/>
              </a:rPr>
              <a:t>that  </a:t>
            </a:r>
            <a:r>
              <a:rPr sz="2000" dirty="0">
                <a:latin typeface="Arial"/>
                <a:cs typeface="Arial"/>
              </a:rPr>
              <a:t>might occur </a:t>
            </a:r>
            <a:r>
              <a:rPr sz="2000" spc="-7" dirty="0">
                <a:latin typeface="Arial"/>
                <a:cs typeface="Arial"/>
              </a:rPr>
              <a:t>within</a:t>
            </a:r>
            <a:r>
              <a:rPr sz="2000" spc="-13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readFile.</a:t>
            </a:r>
          </a:p>
        </p:txBody>
      </p:sp>
      <p:sp>
        <p:nvSpPr>
          <p:cNvPr id="4" name="object 4"/>
          <p:cNvSpPr/>
          <p:nvPr/>
        </p:nvSpPr>
        <p:spPr>
          <a:xfrm>
            <a:off x="1147097" y="6801403"/>
            <a:ext cx="59267" cy="56727"/>
          </a:xfrm>
          <a:custGeom>
            <a:avLst/>
            <a:gdLst/>
            <a:ahLst/>
            <a:cxnLst/>
            <a:rect l="l" t="t" r="r" b="b"/>
            <a:pathLst>
              <a:path w="44450" h="42545">
                <a:moveTo>
                  <a:pt x="44196" y="0"/>
                </a:moveTo>
                <a:lnTo>
                  <a:pt x="0" y="0"/>
                </a:lnTo>
                <a:lnTo>
                  <a:pt x="0" y="42446"/>
                </a:lnTo>
                <a:lnTo>
                  <a:pt x="44196" y="42446"/>
                </a:lnTo>
                <a:lnTo>
                  <a:pt x="441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1280" y="419884"/>
            <a:ext cx="9090661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Exception</a:t>
            </a:r>
            <a:r>
              <a:rPr spc="20" dirty="0"/>
              <a:t> </a:t>
            </a:r>
            <a:r>
              <a:rPr spc="-7" dirty="0"/>
              <a:t>handling</a:t>
            </a:r>
            <a:r>
              <a:rPr lang="en-IN" spc="-7" dirty="0"/>
              <a:t>- Try Catch </a:t>
            </a:r>
            <a:r>
              <a:rPr lang="en-IN" dirty="0"/>
              <a:t>in </a:t>
            </a:r>
            <a:r>
              <a:rPr lang="en-IN" spc="-7" dirty="0"/>
              <a:t>Java 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446284"/>
            <a:ext cx="11582400" cy="44037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b="1" dirty="0">
                <a:latin typeface="Arial"/>
                <a:cs typeface="Arial"/>
              </a:rPr>
              <a:t>Try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block</a:t>
            </a:r>
            <a:endParaRPr sz="2000" dirty="0">
              <a:latin typeface="Arial"/>
              <a:cs typeface="Arial"/>
            </a:endParaRPr>
          </a:p>
          <a:p>
            <a:pPr marL="626518" indent="-449569">
              <a:spcBef>
                <a:spcPts val="1853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spc="7" dirty="0">
                <a:latin typeface="Arial"/>
                <a:cs typeface="Arial"/>
              </a:rPr>
              <a:t>The </a:t>
            </a:r>
            <a:r>
              <a:rPr sz="2000" spc="-7" dirty="0">
                <a:latin typeface="Arial"/>
                <a:cs typeface="Arial"/>
              </a:rPr>
              <a:t>try </a:t>
            </a:r>
            <a:r>
              <a:rPr sz="2000" dirty="0">
                <a:latin typeface="Arial"/>
                <a:cs typeface="Arial"/>
              </a:rPr>
              <a:t>block contains set of </a:t>
            </a:r>
            <a:r>
              <a:rPr sz="2000" spc="-7" dirty="0">
                <a:latin typeface="Arial"/>
                <a:cs typeface="Arial"/>
              </a:rPr>
              <a:t>statements where </a:t>
            </a:r>
            <a:r>
              <a:rPr sz="2000" dirty="0">
                <a:latin typeface="Arial"/>
                <a:cs typeface="Arial"/>
              </a:rPr>
              <a:t>an exception can</a:t>
            </a:r>
            <a:r>
              <a:rPr sz="2000" spc="8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occur.</a:t>
            </a:r>
          </a:p>
          <a:p>
            <a:pPr marL="626518" marR="210815" indent="-449569">
              <a:spcBef>
                <a:spcPts val="1873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try </a:t>
            </a:r>
            <a:r>
              <a:rPr sz="2000" dirty="0">
                <a:latin typeface="Arial"/>
                <a:cs typeface="Arial"/>
              </a:rPr>
              <a:t>block is </a:t>
            </a:r>
            <a:r>
              <a:rPr sz="2000" spc="-7" dirty="0">
                <a:latin typeface="Arial"/>
                <a:cs typeface="Arial"/>
              </a:rPr>
              <a:t>always followed </a:t>
            </a:r>
            <a:r>
              <a:rPr sz="2000" dirty="0">
                <a:latin typeface="Arial"/>
                <a:cs typeface="Arial"/>
              </a:rPr>
              <a:t>by a </a:t>
            </a:r>
            <a:r>
              <a:rPr sz="2000" spc="-7" dirty="0">
                <a:latin typeface="Arial"/>
                <a:cs typeface="Arial"/>
              </a:rPr>
              <a:t>catch </a:t>
            </a:r>
            <a:r>
              <a:rPr sz="2000" dirty="0">
                <a:latin typeface="Arial"/>
                <a:cs typeface="Arial"/>
              </a:rPr>
              <a:t>block, </a:t>
            </a:r>
            <a:r>
              <a:rPr sz="2000" spc="-7" dirty="0">
                <a:latin typeface="Arial"/>
                <a:cs typeface="Arial"/>
              </a:rPr>
              <a:t>which </a:t>
            </a:r>
            <a:r>
              <a:rPr sz="2000" dirty="0">
                <a:latin typeface="Arial"/>
                <a:cs typeface="Arial"/>
              </a:rPr>
              <a:t>handles </a:t>
            </a:r>
            <a:r>
              <a:rPr sz="2000" spc="-7" dirty="0">
                <a:latin typeface="Arial"/>
                <a:cs typeface="Arial"/>
              </a:rPr>
              <a:t>the </a:t>
            </a:r>
            <a:r>
              <a:rPr sz="2000" dirty="0">
                <a:latin typeface="Arial"/>
                <a:cs typeface="Arial"/>
              </a:rPr>
              <a:t>exception </a:t>
            </a:r>
            <a:r>
              <a:rPr sz="2000" spc="-7" dirty="0">
                <a:latin typeface="Arial"/>
                <a:cs typeface="Arial"/>
              </a:rPr>
              <a:t>that  </a:t>
            </a:r>
            <a:r>
              <a:rPr sz="2000" dirty="0">
                <a:latin typeface="Arial"/>
                <a:cs typeface="Arial"/>
              </a:rPr>
              <a:t>occurs in associated </a:t>
            </a:r>
            <a:r>
              <a:rPr sz="2000" spc="-7" dirty="0">
                <a:latin typeface="Arial"/>
                <a:cs typeface="Arial"/>
              </a:rPr>
              <a:t>try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block.</a:t>
            </a:r>
          </a:p>
          <a:p>
            <a:pPr marL="626518" indent="-449569">
              <a:spcBef>
                <a:spcPts val="1873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dirty="0">
                <a:latin typeface="Arial"/>
                <a:cs typeface="Arial"/>
              </a:rPr>
              <a:t>A </a:t>
            </a:r>
            <a:r>
              <a:rPr sz="2000" spc="-7" dirty="0">
                <a:latin typeface="Arial"/>
                <a:cs typeface="Arial"/>
              </a:rPr>
              <a:t>try </a:t>
            </a:r>
            <a:r>
              <a:rPr sz="2000" dirty="0">
                <a:latin typeface="Arial"/>
                <a:cs typeface="Arial"/>
              </a:rPr>
              <a:t>block must be </a:t>
            </a:r>
            <a:r>
              <a:rPr sz="2000" spc="-7" dirty="0">
                <a:latin typeface="Arial"/>
                <a:cs typeface="Arial"/>
              </a:rPr>
              <a:t>followed </a:t>
            </a:r>
            <a:r>
              <a:rPr sz="2000" dirty="0">
                <a:latin typeface="Arial"/>
                <a:cs typeface="Arial"/>
              </a:rPr>
              <a:t>by </a:t>
            </a:r>
            <a:r>
              <a:rPr sz="2000" spc="-7" dirty="0">
                <a:latin typeface="Arial"/>
                <a:cs typeface="Arial"/>
              </a:rPr>
              <a:t>catch </a:t>
            </a:r>
            <a:r>
              <a:rPr sz="2000" dirty="0">
                <a:latin typeface="Arial"/>
                <a:cs typeface="Arial"/>
              </a:rPr>
              <a:t>blocks or finally block or both.</a:t>
            </a:r>
          </a:p>
          <a:p>
            <a:pPr marL="660383" marR="8469842" indent="-644296">
              <a:lnSpc>
                <a:spcPts val="4587"/>
              </a:lnSpc>
              <a:spcBef>
                <a:spcPts val="453"/>
              </a:spcBef>
            </a:pPr>
            <a:r>
              <a:rPr sz="2000" b="1" dirty="0">
                <a:latin typeface="Arial"/>
                <a:cs typeface="Arial"/>
              </a:rPr>
              <a:t>Syntax of </a:t>
            </a:r>
            <a:r>
              <a:rPr sz="2000" b="1" spc="-7" dirty="0">
                <a:latin typeface="Arial"/>
                <a:cs typeface="Arial"/>
              </a:rPr>
              <a:t>try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block  </a:t>
            </a:r>
            <a:r>
              <a:rPr sz="2000" b="1" spc="-7" dirty="0">
                <a:latin typeface="Arial"/>
                <a:cs typeface="Arial"/>
              </a:rPr>
              <a:t>try{</a:t>
            </a:r>
            <a:endParaRPr sz="2000" dirty="0">
              <a:latin typeface="Arial"/>
              <a:cs typeface="Arial"/>
            </a:endParaRPr>
          </a:p>
          <a:p>
            <a:pPr marL="902524">
              <a:lnSpc>
                <a:spcPts val="2260"/>
              </a:lnSpc>
            </a:pPr>
            <a:r>
              <a:rPr sz="2000" b="1" spc="-7" dirty="0">
                <a:latin typeface="Arial"/>
                <a:cs typeface="Arial"/>
              </a:rPr>
              <a:t>//statements </a:t>
            </a:r>
            <a:r>
              <a:rPr sz="2000" b="1" dirty="0">
                <a:latin typeface="Arial"/>
                <a:cs typeface="Arial"/>
              </a:rPr>
              <a:t>that </a:t>
            </a:r>
            <a:r>
              <a:rPr sz="2000" b="1" spc="-7" dirty="0">
                <a:latin typeface="Arial"/>
                <a:cs typeface="Arial"/>
              </a:rPr>
              <a:t>may </a:t>
            </a:r>
            <a:r>
              <a:rPr sz="2000" b="1" dirty="0">
                <a:latin typeface="Arial"/>
                <a:cs typeface="Arial"/>
              </a:rPr>
              <a:t>cause an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exception</a:t>
            </a:r>
            <a:endParaRPr sz="2000" dirty="0">
              <a:latin typeface="Arial"/>
              <a:cs typeface="Arial"/>
            </a:endParaRPr>
          </a:p>
          <a:p>
            <a:pPr marL="660383">
              <a:spcBef>
                <a:spcPts val="7"/>
              </a:spcBef>
            </a:pPr>
            <a:r>
              <a:rPr sz="2000" b="1" dirty="0">
                <a:latin typeface="Arial"/>
                <a:cs typeface="Arial"/>
              </a:rPr>
              <a:t>}</a:t>
            </a:r>
            <a:endParaRPr sz="2000" dirty="0">
              <a:latin typeface="Arial"/>
              <a:cs typeface="Arial"/>
            </a:endParaRPr>
          </a:p>
          <a:p>
            <a:pPr marL="626518" marR="6773" indent="-449569">
              <a:spcBef>
                <a:spcPts val="1873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dirty="0">
                <a:latin typeface="Arial"/>
                <a:cs typeface="Arial"/>
              </a:rPr>
              <a:t>While </a:t>
            </a:r>
            <a:r>
              <a:rPr sz="2000" spc="-7" dirty="0">
                <a:latin typeface="Arial"/>
                <a:cs typeface="Arial"/>
              </a:rPr>
              <a:t>writing </a:t>
            </a:r>
            <a:r>
              <a:rPr sz="2000" dirty="0">
                <a:latin typeface="Arial"/>
                <a:cs typeface="Arial"/>
              </a:rPr>
              <a:t>a program, if certain </a:t>
            </a:r>
            <a:r>
              <a:rPr sz="2000" spc="-7" dirty="0">
                <a:latin typeface="Arial"/>
                <a:cs typeface="Arial"/>
              </a:rPr>
              <a:t>statements </a:t>
            </a:r>
            <a:r>
              <a:rPr sz="2000" dirty="0">
                <a:latin typeface="Arial"/>
                <a:cs typeface="Arial"/>
              </a:rPr>
              <a:t>in a program can </a:t>
            </a:r>
            <a:r>
              <a:rPr sz="2000" spc="-7" dirty="0">
                <a:latin typeface="Arial"/>
                <a:cs typeface="Arial"/>
              </a:rPr>
              <a:t>throw </a:t>
            </a:r>
            <a:r>
              <a:rPr sz="2000" dirty="0">
                <a:latin typeface="Arial"/>
                <a:cs typeface="Arial"/>
              </a:rPr>
              <a:t>a exception,  enclosed </a:t>
            </a:r>
            <a:r>
              <a:rPr sz="2000" spc="-7" dirty="0">
                <a:latin typeface="Arial"/>
                <a:cs typeface="Arial"/>
              </a:rPr>
              <a:t>them </a:t>
            </a:r>
            <a:r>
              <a:rPr sz="2000" dirty="0">
                <a:latin typeface="Arial"/>
                <a:cs typeface="Arial"/>
              </a:rPr>
              <a:t>in </a:t>
            </a:r>
            <a:r>
              <a:rPr sz="2000" spc="-7" dirty="0">
                <a:latin typeface="Arial"/>
                <a:cs typeface="Arial"/>
              </a:rPr>
              <a:t>try </a:t>
            </a:r>
            <a:r>
              <a:rPr sz="2000" dirty="0">
                <a:latin typeface="Arial"/>
                <a:cs typeface="Arial"/>
              </a:rPr>
              <a:t>block and handle </a:t>
            </a:r>
            <a:r>
              <a:rPr sz="2000" spc="-7" dirty="0">
                <a:latin typeface="Arial"/>
                <a:cs typeface="Arial"/>
              </a:rPr>
              <a:t>that</a:t>
            </a:r>
            <a:r>
              <a:rPr sz="2000" spc="2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exception</a:t>
            </a:r>
          </a:p>
        </p:txBody>
      </p:sp>
      <p:sp>
        <p:nvSpPr>
          <p:cNvPr id="4" name="object 4"/>
          <p:cNvSpPr/>
          <p:nvPr/>
        </p:nvSpPr>
        <p:spPr>
          <a:xfrm>
            <a:off x="572041" y="6233345"/>
            <a:ext cx="101600" cy="425027"/>
          </a:xfrm>
          <a:custGeom>
            <a:avLst/>
            <a:gdLst/>
            <a:ahLst/>
            <a:cxnLst/>
            <a:rect l="l" t="t" r="r" b="b"/>
            <a:pathLst>
              <a:path w="76200" h="318770">
                <a:moveTo>
                  <a:pt x="76200" y="175260"/>
                </a:moveTo>
                <a:lnTo>
                  <a:pt x="0" y="175260"/>
                </a:lnTo>
                <a:lnTo>
                  <a:pt x="0" y="318516"/>
                </a:lnTo>
                <a:lnTo>
                  <a:pt x="76200" y="318516"/>
                </a:lnTo>
                <a:lnTo>
                  <a:pt x="76200" y="175260"/>
                </a:lnTo>
                <a:close/>
              </a:path>
              <a:path w="76200" h="318770">
                <a:moveTo>
                  <a:pt x="76200" y="0"/>
                </a:moveTo>
                <a:lnTo>
                  <a:pt x="0" y="0"/>
                </a:lnTo>
                <a:lnTo>
                  <a:pt x="0" y="143256"/>
                </a:lnTo>
                <a:lnTo>
                  <a:pt x="76200" y="143256"/>
                </a:lnTo>
                <a:lnTo>
                  <a:pt x="7620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5280" y="1640841"/>
            <a:ext cx="10598573" cy="44037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Catch</a:t>
            </a:r>
            <a:r>
              <a:rPr sz="2000" b="1" spc="-3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block</a:t>
            </a:r>
            <a:endParaRPr sz="2000" dirty="0">
              <a:latin typeface="Arial"/>
              <a:cs typeface="Arial"/>
            </a:endParaRPr>
          </a:p>
          <a:p>
            <a:pPr marL="626518" indent="-449569">
              <a:spcBef>
                <a:spcPts val="2127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A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catch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 is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where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handle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exceptions are</a:t>
            </a:r>
            <a:r>
              <a:rPr sz="2000" spc="67" dirty="0">
                <a:solidFill>
                  <a:srgbClr val="21232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handled</a:t>
            </a:r>
            <a:endParaRPr sz="2000" dirty="0">
              <a:latin typeface="Arial"/>
              <a:cs typeface="Arial"/>
            </a:endParaRPr>
          </a:p>
          <a:p>
            <a:pPr marL="626518" indent="-449569">
              <a:spcBef>
                <a:spcPts val="2127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spc="7" dirty="0">
                <a:solidFill>
                  <a:srgbClr val="212325"/>
                </a:solidFill>
                <a:latin typeface="Arial"/>
                <a:cs typeface="Arial"/>
              </a:rPr>
              <a:t>This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 must follow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the try</a:t>
            </a:r>
            <a:r>
              <a:rPr sz="2000" spc="-73" dirty="0">
                <a:solidFill>
                  <a:srgbClr val="21232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block.</a:t>
            </a:r>
            <a:endParaRPr sz="2000" dirty="0">
              <a:latin typeface="Arial"/>
              <a:cs typeface="Arial"/>
            </a:endParaRPr>
          </a:p>
          <a:p>
            <a:pPr marL="707796" indent="-530847">
              <a:spcBef>
                <a:spcPts val="2147"/>
              </a:spcBef>
              <a:buChar char="●"/>
              <a:tabLst>
                <a:tab pos="706949" algn="l"/>
                <a:tab pos="707796" algn="l"/>
              </a:tabLst>
            </a:pP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A single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try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can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have several catch blocks associated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with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it.</a:t>
            </a:r>
            <a:endParaRPr sz="2000" dirty="0">
              <a:latin typeface="Arial"/>
              <a:cs typeface="Arial"/>
            </a:endParaRPr>
          </a:p>
          <a:p>
            <a:pPr marL="626518" indent="-449569">
              <a:spcBef>
                <a:spcPts val="2133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We can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catch different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exceptions in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different catch</a:t>
            </a:r>
            <a:r>
              <a:rPr sz="2000" spc="93" dirty="0">
                <a:solidFill>
                  <a:srgbClr val="21232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blocks.</a:t>
            </a:r>
            <a:endParaRPr sz="2000" dirty="0">
              <a:latin typeface="Arial"/>
              <a:cs typeface="Arial"/>
            </a:endParaRPr>
          </a:p>
          <a:p>
            <a:pPr marL="626518" marR="546086" indent="-449569">
              <a:spcBef>
                <a:spcPts val="2127"/>
              </a:spcBef>
              <a:buChar char="●"/>
              <a:tabLst>
                <a:tab pos="625671" algn="l"/>
                <a:tab pos="626518" algn="l"/>
              </a:tabLst>
            </a:pP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When an exception occurs in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try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block,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corresponding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catch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that 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handles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that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particular exception</a:t>
            </a:r>
            <a:r>
              <a:rPr sz="2000" spc="20" dirty="0">
                <a:solidFill>
                  <a:srgbClr val="21232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executes.</a:t>
            </a:r>
            <a:endParaRPr sz="2000" dirty="0">
              <a:latin typeface="Arial"/>
              <a:cs typeface="Arial"/>
            </a:endParaRPr>
          </a:p>
          <a:p>
            <a:pPr marL="626518" marR="6773" indent="-449569">
              <a:spcBef>
                <a:spcPts val="2147"/>
              </a:spcBef>
              <a:buClr>
                <a:srgbClr val="212325"/>
              </a:buClr>
              <a:buFont typeface="Arial"/>
              <a:buChar char="●"/>
              <a:tabLst>
                <a:tab pos="706949" algn="l"/>
                <a:tab pos="707796" algn="l"/>
              </a:tabLst>
            </a:pPr>
            <a:r>
              <a:rPr sz="2000" dirty="0"/>
              <a:t>	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For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example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if an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arithmetic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exception occurs in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try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then the statements 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enclosed in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catch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block </a:t>
            </a:r>
            <a:r>
              <a:rPr sz="2000" spc="-7" dirty="0">
                <a:solidFill>
                  <a:srgbClr val="212325"/>
                </a:solidFill>
                <a:latin typeface="Arial"/>
                <a:cs typeface="Arial"/>
              </a:rPr>
              <a:t>for arithmetic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exception</a:t>
            </a:r>
            <a:r>
              <a:rPr sz="2000" spc="53" dirty="0">
                <a:solidFill>
                  <a:srgbClr val="21232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2325"/>
                </a:solidFill>
                <a:latin typeface="Arial"/>
                <a:cs typeface="Arial"/>
              </a:rPr>
              <a:t>executes.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2041" y="5957519"/>
            <a:ext cx="101600" cy="191347"/>
          </a:xfrm>
          <a:custGeom>
            <a:avLst/>
            <a:gdLst/>
            <a:ahLst/>
            <a:cxnLst/>
            <a:rect l="l" t="t" r="r" b="b"/>
            <a:pathLst>
              <a:path w="76200" h="143510">
                <a:moveTo>
                  <a:pt x="76200" y="0"/>
                </a:moveTo>
                <a:lnTo>
                  <a:pt x="0" y="0"/>
                </a:lnTo>
                <a:lnTo>
                  <a:pt x="0" y="143255"/>
                </a:lnTo>
                <a:lnTo>
                  <a:pt x="76200" y="143255"/>
                </a:lnTo>
                <a:lnTo>
                  <a:pt x="7620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838646B-DE71-4948-BB4B-E44933948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1280" y="419884"/>
            <a:ext cx="9090661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Exception</a:t>
            </a:r>
            <a:r>
              <a:rPr spc="20" dirty="0"/>
              <a:t> </a:t>
            </a:r>
            <a:r>
              <a:rPr spc="-7" dirty="0"/>
              <a:t>handling</a:t>
            </a:r>
            <a:r>
              <a:rPr lang="en-IN" spc="-7" dirty="0"/>
              <a:t>- Try Catch </a:t>
            </a:r>
            <a:r>
              <a:rPr lang="en-IN" dirty="0"/>
              <a:t>in </a:t>
            </a:r>
            <a:r>
              <a:rPr lang="en-IN" spc="-7" dirty="0"/>
              <a:t>Java </a:t>
            </a:r>
            <a:endParaRPr spc="-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A0EFB3-B1D8-45FB-A988-AEE9296BE25A}"/>
              </a:ext>
            </a:extLst>
          </p:cNvPr>
          <p:cNvSpPr/>
          <p:nvPr/>
        </p:nvSpPr>
        <p:spPr>
          <a:xfrm>
            <a:off x="406400" y="1436392"/>
            <a:ext cx="1048512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lang="en-US" sz="2000" b="1" dirty="0">
                <a:latin typeface="Arial"/>
                <a:cs typeface="Arial"/>
              </a:rPr>
              <a:t>Rules about </a:t>
            </a:r>
            <a:r>
              <a:rPr lang="en-US" sz="2000" b="1" spc="-5" dirty="0">
                <a:latin typeface="Arial"/>
                <a:cs typeface="Arial"/>
              </a:rPr>
              <a:t>multiple </a:t>
            </a:r>
            <a:r>
              <a:rPr lang="en-US" sz="2000" b="1" dirty="0">
                <a:latin typeface="Arial"/>
                <a:cs typeface="Arial"/>
              </a:rPr>
              <a:t>catch</a:t>
            </a:r>
            <a:r>
              <a:rPr lang="en-US" sz="2000" b="1" spc="-25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blocks:</a:t>
            </a:r>
            <a:endParaRPr lang="en-US" sz="2000" dirty="0">
              <a:latin typeface="Arial"/>
              <a:cs typeface="Arial"/>
            </a:endParaRPr>
          </a:p>
          <a:p>
            <a:pPr marL="469900" indent="-337185">
              <a:lnSpc>
                <a:spcPct val="100000"/>
              </a:lnSpc>
              <a:spcBef>
                <a:spcPts val="1200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a single </a:t>
            </a:r>
            <a:r>
              <a:rPr lang="en-US" sz="2000" spc="-5" dirty="0">
                <a:latin typeface="Arial"/>
                <a:cs typeface="Arial"/>
              </a:rPr>
              <a:t>try </a:t>
            </a:r>
            <a:r>
              <a:rPr lang="en-US" sz="2000" dirty="0">
                <a:latin typeface="Arial"/>
                <a:cs typeface="Arial"/>
              </a:rPr>
              <a:t>block can have any number of catch</a:t>
            </a:r>
            <a:r>
              <a:rPr lang="en-US" sz="2000" spc="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blocks.</a:t>
            </a:r>
          </a:p>
          <a:p>
            <a:pPr marL="469265" marR="2699385" indent="-469265">
              <a:lnSpc>
                <a:spcPts val="3440"/>
              </a:lnSpc>
              <a:spcBef>
                <a:spcPts val="340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A generic </a:t>
            </a:r>
            <a:r>
              <a:rPr lang="en-US" sz="2000" spc="-5" dirty="0">
                <a:latin typeface="Arial"/>
                <a:cs typeface="Arial"/>
              </a:rPr>
              <a:t>catch </a:t>
            </a:r>
            <a:r>
              <a:rPr lang="en-US" sz="2000" dirty="0">
                <a:latin typeface="Arial"/>
                <a:cs typeface="Arial"/>
              </a:rPr>
              <a:t>block can handle all </a:t>
            </a:r>
            <a:r>
              <a:rPr lang="en-US" sz="2000" spc="-5" dirty="0">
                <a:latin typeface="Arial"/>
                <a:cs typeface="Arial"/>
              </a:rPr>
              <a:t>the </a:t>
            </a:r>
            <a:r>
              <a:rPr lang="en-US" sz="2000" dirty="0">
                <a:latin typeface="Arial"/>
                <a:cs typeface="Arial"/>
              </a:rPr>
              <a:t>exceptions  catch(Exception</a:t>
            </a:r>
            <a:r>
              <a:rPr lang="en-US" sz="2000" spc="1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e){</a:t>
            </a:r>
          </a:p>
          <a:p>
            <a:pPr marR="186690" algn="ctr">
              <a:lnSpc>
                <a:spcPts val="1695"/>
              </a:lnSpc>
            </a:pPr>
            <a:r>
              <a:rPr lang="en-US" sz="2000" dirty="0">
                <a:latin typeface="Arial"/>
                <a:cs typeface="Arial"/>
              </a:rPr>
              <a:t>//This </a:t>
            </a:r>
            <a:r>
              <a:rPr lang="en-US" sz="2000" spc="-5" dirty="0">
                <a:latin typeface="Arial"/>
                <a:cs typeface="Arial"/>
              </a:rPr>
              <a:t>catch </a:t>
            </a:r>
            <a:r>
              <a:rPr lang="en-US" sz="2000" dirty="0">
                <a:latin typeface="Arial"/>
                <a:cs typeface="Arial"/>
              </a:rPr>
              <a:t>block catches all </a:t>
            </a:r>
            <a:r>
              <a:rPr lang="en-US" sz="2000" spc="-5" dirty="0">
                <a:latin typeface="Arial"/>
                <a:cs typeface="Arial"/>
              </a:rPr>
              <a:t>the</a:t>
            </a:r>
            <a:r>
              <a:rPr lang="en-US" sz="2000" spc="-2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exceptions}</a:t>
            </a:r>
          </a:p>
          <a:p>
            <a:pPr marL="469900" indent="-337185">
              <a:lnSpc>
                <a:spcPct val="100000"/>
              </a:lnSpc>
              <a:spcBef>
                <a:spcPts val="139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Arial"/>
                <a:cs typeface="Arial"/>
              </a:rPr>
              <a:t>If </a:t>
            </a:r>
            <a:r>
              <a:rPr lang="en-US" sz="2000" dirty="0">
                <a:latin typeface="Arial"/>
                <a:cs typeface="Arial"/>
              </a:rPr>
              <a:t>no exception occurs in </a:t>
            </a:r>
            <a:r>
              <a:rPr lang="en-US" sz="2000" spc="-5" dirty="0">
                <a:latin typeface="Arial"/>
                <a:cs typeface="Arial"/>
              </a:rPr>
              <a:t>try </a:t>
            </a:r>
            <a:r>
              <a:rPr lang="en-US" sz="2000" dirty="0">
                <a:latin typeface="Arial"/>
                <a:cs typeface="Arial"/>
              </a:rPr>
              <a:t>block </a:t>
            </a:r>
            <a:r>
              <a:rPr lang="en-US" sz="2000" spc="-5" dirty="0">
                <a:latin typeface="Arial"/>
                <a:cs typeface="Arial"/>
              </a:rPr>
              <a:t>then the catch </a:t>
            </a:r>
            <a:r>
              <a:rPr lang="en-US" sz="2000" dirty="0">
                <a:latin typeface="Arial"/>
                <a:cs typeface="Arial"/>
              </a:rPr>
              <a:t>blocks are completely</a:t>
            </a:r>
            <a:r>
              <a:rPr lang="en-US" sz="2000" spc="90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ignored.</a:t>
            </a:r>
          </a:p>
          <a:p>
            <a:pPr marL="469900" indent="-337185">
              <a:lnSpc>
                <a:spcPct val="100000"/>
              </a:lnSpc>
              <a:spcBef>
                <a:spcPts val="140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2000" dirty="0">
                <a:latin typeface="Arial"/>
                <a:cs typeface="Arial"/>
              </a:rPr>
              <a:t>Corresponding catch blocks </a:t>
            </a:r>
            <a:r>
              <a:rPr lang="en-US" sz="2000" spc="-5" dirty="0">
                <a:latin typeface="Arial"/>
                <a:cs typeface="Arial"/>
              </a:rPr>
              <a:t>execute for </a:t>
            </a:r>
            <a:r>
              <a:rPr lang="en-US" sz="2000" dirty="0">
                <a:latin typeface="Arial"/>
                <a:cs typeface="Arial"/>
              </a:rPr>
              <a:t>that specific </a:t>
            </a:r>
            <a:r>
              <a:rPr lang="en-US" sz="2000" spc="-10" dirty="0">
                <a:latin typeface="Arial"/>
                <a:cs typeface="Arial"/>
              </a:rPr>
              <a:t>type </a:t>
            </a:r>
            <a:r>
              <a:rPr lang="en-US" sz="2000" dirty="0">
                <a:latin typeface="Arial"/>
                <a:cs typeface="Arial"/>
              </a:rPr>
              <a:t>of</a:t>
            </a:r>
            <a:r>
              <a:rPr lang="en-US" sz="2000" spc="65" dirty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exception:</a:t>
            </a:r>
          </a:p>
          <a:p>
            <a:pPr marL="1383665" marR="859790" lvl="1" indent="-337185">
              <a:lnSpc>
                <a:spcPct val="100000"/>
              </a:lnSpc>
              <a:spcBef>
                <a:spcPts val="1405"/>
              </a:spcBef>
              <a:buChar char="■"/>
              <a:tabLst>
                <a:tab pos="1383665" algn="l"/>
                <a:tab pos="1384300" algn="l"/>
              </a:tabLst>
            </a:pPr>
            <a:r>
              <a:rPr lang="en-US" sz="2000" dirty="0">
                <a:latin typeface="Arial"/>
                <a:cs typeface="Arial"/>
              </a:rPr>
              <a:t>catch(</a:t>
            </a:r>
            <a:r>
              <a:rPr lang="en-US" sz="2000" dirty="0" err="1">
                <a:latin typeface="Arial"/>
                <a:cs typeface="Arial"/>
              </a:rPr>
              <a:t>ArithmeticException</a:t>
            </a:r>
            <a:r>
              <a:rPr lang="en-US" sz="2000" dirty="0">
                <a:latin typeface="Arial"/>
                <a:cs typeface="Arial"/>
              </a:rPr>
              <a:t> e) is a </a:t>
            </a:r>
            <a:r>
              <a:rPr lang="en-US" sz="2000" spc="-5" dirty="0">
                <a:latin typeface="Arial"/>
                <a:cs typeface="Arial"/>
              </a:rPr>
              <a:t>catch </a:t>
            </a:r>
            <a:r>
              <a:rPr lang="en-US" sz="2000" dirty="0">
                <a:latin typeface="Arial"/>
                <a:cs typeface="Arial"/>
              </a:rPr>
              <a:t>block </a:t>
            </a:r>
            <a:r>
              <a:rPr lang="en-US" sz="2000" spc="-5" dirty="0">
                <a:latin typeface="Arial"/>
                <a:cs typeface="Arial"/>
              </a:rPr>
              <a:t>that </a:t>
            </a:r>
            <a:r>
              <a:rPr lang="en-US" sz="2000" dirty="0">
                <a:latin typeface="Arial"/>
                <a:cs typeface="Arial"/>
              </a:rPr>
              <a:t>can </a:t>
            </a:r>
            <a:r>
              <a:rPr lang="en-US" sz="2000" dirty="0" err="1">
                <a:latin typeface="Arial"/>
                <a:cs typeface="Arial"/>
              </a:rPr>
              <a:t>hanlde</a:t>
            </a:r>
            <a:r>
              <a:rPr lang="en-US" sz="2000" dirty="0">
                <a:latin typeface="Arial"/>
                <a:cs typeface="Arial"/>
              </a:rPr>
              <a:t>  </a:t>
            </a:r>
            <a:r>
              <a:rPr lang="en-US" sz="2000" dirty="0" err="1">
                <a:latin typeface="Arial"/>
                <a:cs typeface="Arial"/>
              </a:rPr>
              <a:t>ArithmeticException</a:t>
            </a:r>
            <a:endParaRPr lang="en-US" sz="2000" dirty="0">
              <a:latin typeface="Arial"/>
              <a:cs typeface="Arial"/>
            </a:endParaRPr>
          </a:p>
          <a:p>
            <a:pPr marL="1383665" marR="762635" lvl="1" indent="-337185">
              <a:lnSpc>
                <a:spcPct val="100000"/>
              </a:lnSpc>
              <a:spcBef>
                <a:spcPts val="1395"/>
              </a:spcBef>
              <a:buChar char="■"/>
              <a:tabLst>
                <a:tab pos="1383665" algn="l"/>
                <a:tab pos="1384300" algn="l"/>
              </a:tabLst>
            </a:pPr>
            <a:r>
              <a:rPr lang="en-US" sz="2000" dirty="0">
                <a:latin typeface="Arial"/>
                <a:cs typeface="Arial"/>
              </a:rPr>
              <a:t>catch(</a:t>
            </a:r>
            <a:r>
              <a:rPr lang="en-US" sz="2000" dirty="0" err="1">
                <a:latin typeface="Arial"/>
                <a:cs typeface="Arial"/>
              </a:rPr>
              <a:t>NullPointerException</a:t>
            </a:r>
            <a:r>
              <a:rPr lang="en-US" sz="2000" dirty="0">
                <a:latin typeface="Arial"/>
                <a:cs typeface="Arial"/>
              </a:rPr>
              <a:t> e) is a </a:t>
            </a:r>
            <a:r>
              <a:rPr lang="en-US" sz="2000" spc="-5" dirty="0">
                <a:latin typeface="Arial"/>
                <a:cs typeface="Arial"/>
              </a:rPr>
              <a:t>catch </a:t>
            </a:r>
            <a:r>
              <a:rPr lang="en-US" sz="2000" dirty="0">
                <a:latin typeface="Arial"/>
                <a:cs typeface="Arial"/>
              </a:rPr>
              <a:t>block </a:t>
            </a:r>
            <a:r>
              <a:rPr lang="en-US" sz="2000" spc="-5" dirty="0">
                <a:latin typeface="Arial"/>
                <a:cs typeface="Arial"/>
              </a:rPr>
              <a:t>that </a:t>
            </a:r>
            <a:r>
              <a:rPr lang="en-US" sz="2000" dirty="0">
                <a:latin typeface="Arial"/>
                <a:cs typeface="Arial"/>
              </a:rPr>
              <a:t>can handle  </a:t>
            </a:r>
            <a:r>
              <a:rPr lang="en-US" sz="2000" dirty="0" err="1">
                <a:latin typeface="Arial"/>
                <a:cs typeface="Arial"/>
              </a:rPr>
              <a:t>NullPointerException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1D3C021-0D08-4486-A137-92F387D62C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419884"/>
            <a:ext cx="9344661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Exception</a:t>
            </a:r>
            <a:r>
              <a:rPr spc="20" dirty="0"/>
              <a:t> </a:t>
            </a:r>
            <a:r>
              <a:rPr spc="-7" dirty="0"/>
              <a:t>handling</a:t>
            </a:r>
            <a:r>
              <a:rPr lang="en-IN" spc="-7" dirty="0"/>
              <a:t>- Try Catch </a:t>
            </a:r>
            <a:r>
              <a:rPr lang="en-IN" dirty="0"/>
              <a:t>in </a:t>
            </a:r>
            <a:r>
              <a:rPr lang="en-IN" spc="-7" dirty="0"/>
              <a:t>Java </a:t>
            </a:r>
            <a:endParaRPr spc="-7" dirty="0"/>
          </a:p>
        </p:txBody>
      </p:sp>
    </p:spTree>
    <p:extLst>
      <p:ext uri="{BB962C8B-B14F-4D97-AF65-F5344CB8AC3E}">
        <p14:creationId xmlns:p14="http://schemas.microsoft.com/office/powerpoint/2010/main" val="31359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F1DED-2ABC-44F0-AE8E-B6E2ACF6A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" y="1544320"/>
            <a:ext cx="10916920" cy="4632643"/>
          </a:xfrm>
        </p:spPr>
        <p:txBody>
          <a:bodyPr>
            <a:normAutofit/>
          </a:bodyPr>
          <a:lstStyle/>
          <a:p>
            <a:pPr marL="297815" indent="-285750">
              <a:spcBef>
                <a:spcPts val="105"/>
              </a:spcBef>
              <a:tabLst>
                <a:tab pos="349250" algn="l"/>
                <a:tab pos="349885" algn="l"/>
              </a:tabLst>
            </a:pP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exception occurs in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of execution is passed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8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100" indent="-285750"/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catch block.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314325" indent="-285750">
              <a:spcBef>
                <a:spcPts val="1395"/>
              </a:spcBef>
              <a:tabLst>
                <a:tab pos="349250" algn="l"/>
                <a:tab pos="349885" algn="l"/>
              </a:tabLst>
            </a:pP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single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can have multiple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blocks associated </a:t>
            </a:r>
            <a:r>
              <a:rPr lang="en-US" sz="2400" spc="-1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it, </a:t>
            </a:r>
            <a:r>
              <a:rPr lang="en-US" sz="2400" spc="-1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 place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catch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blocks in such a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that 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exception handler catch  block is at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5080" indent="-285750">
              <a:spcBef>
                <a:spcPts val="1405"/>
              </a:spcBef>
              <a:tabLst>
                <a:tab pos="349250" algn="l"/>
                <a:tab pos="349885" algn="l"/>
              </a:tabLst>
            </a:pPr>
            <a:r>
              <a:rPr lang="en-US" sz="2400" spc="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exception handler can handle all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exceptions but </a:t>
            </a:r>
            <a:r>
              <a:rPr lang="en-US" sz="2400" spc="-1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place  is at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128905" indent="-285750">
              <a:spcBef>
                <a:spcPts val="1400"/>
              </a:spcBef>
              <a:buClr>
                <a:srgbClr val="212325"/>
              </a:buClr>
              <a:tabLst>
                <a:tab pos="410209" algn="l"/>
                <a:tab pos="41084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spc="-1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it at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all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 blocks then it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  message. </a:t>
            </a:r>
            <a:r>
              <a:rPr lang="en-US" sz="2400" spc="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should get a meaningful message </a:t>
            </a:r>
            <a:r>
              <a:rPr lang="en-US" sz="2400" spc="-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2400" spc="-1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exception  rather than a generic</a:t>
            </a:r>
            <a:r>
              <a:rPr lang="en-US" sz="2400" spc="15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123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DCE0331-4B40-40E3-A665-44A133A423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5520" y="419884"/>
            <a:ext cx="9456421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Exception</a:t>
            </a:r>
            <a:r>
              <a:rPr spc="20" dirty="0"/>
              <a:t> </a:t>
            </a:r>
            <a:r>
              <a:rPr spc="-7" dirty="0"/>
              <a:t>handling</a:t>
            </a:r>
            <a:r>
              <a:rPr lang="en-IN" spc="-7" dirty="0"/>
              <a:t>- Try Catch </a:t>
            </a:r>
            <a:r>
              <a:rPr lang="en-IN" dirty="0"/>
              <a:t>in </a:t>
            </a:r>
            <a:r>
              <a:rPr lang="en-IN" spc="-7" dirty="0"/>
              <a:t>Java </a:t>
            </a:r>
            <a:endParaRPr spc="-7" dirty="0"/>
          </a:p>
        </p:txBody>
      </p:sp>
    </p:spTree>
    <p:extLst>
      <p:ext uri="{BB962C8B-B14F-4D97-AF65-F5344CB8AC3E}">
        <p14:creationId xmlns:p14="http://schemas.microsoft.com/office/powerpoint/2010/main" val="255083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5840" y="477821"/>
            <a:ext cx="7731760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throws</a:t>
            </a:r>
            <a:r>
              <a:rPr spc="-120" dirty="0"/>
              <a:t> </a:t>
            </a:r>
            <a:r>
              <a:rPr spc="-7" dirty="0"/>
              <a:t>Keyword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880" y="1600201"/>
            <a:ext cx="11492653" cy="4654265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465655" indent="-449569">
              <a:spcBef>
                <a:spcPts val="533"/>
              </a:spcBef>
              <a:buChar char="●"/>
              <a:tabLst>
                <a:tab pos="465655" algn="l"/>
                <a:tab pos="466502" algn="l"/>
              </a:tabLst>
            </a:pPr>
            <a:r>
              <a:rPr sz="2400" spc="-7" dirty="0">
                <a:latin typeface="Arial"/>
                <a:cs typeface="Arial"/>
              </a:rPr>
              <a:t>Throws keyword </a:t>
            </a:r>
            <a:r>
              <a:rPr sz="2400" dirty="0">
                <a:latin typeface="Arial"/>
                <a:cs typeface="Arial"/>
              </a:rPr>
              <a:t>is used </a:t>
            </a:r>
            <a:r>
              <a:rPr sz="2400" spc="-7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handling checked</a:t>
            </a:r>
            <a:r>
              <a:rPr sz="2400" spc="6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exceptions</a:t>
            </a:r>
          </a:p>
          <a:p>
            <a:pPr marL="465655" marR="203195" indent="-449569">
              <a:spcBef>
                <a:spcPts val="400"/>
              </a:spcBef>
              <a:buChar char="●"/>
              <a:tabLst>
                <a:tab pos="465655" algn="l"/>
                <a:tab pos="466502" algn="l"/>
              </a:tabLst>
            </a:pPr>
            <a:r>
              <a:rPr sz="2400" spc="-7" dirty="0">
                <a:latin typeface="Arial"/>
                <a:cs typeface="Arial"/>
              </a:rPr>
              <a:t>It </a:t>
            </a:r>
            <a:r>
              <a:rPr sz="2400" dirty="0">
                <a:latin typeface="Arial"/>
                <a:cs typeface="Arial"/>
              </a:rPr>
              <a:t>gives an </a:t>
            </a:r>
            <a:r>
              <a:rPr sz="2400" spc="-7" dirty="0">
                <a:latin typeface="Arial"/>
                <a:cs typeface="Arial"/>
              </a:rPr>
              <a:t>information to the </a:t>
            </a:r>
            <a:r>
              <a:rPr sz="2400" dirty="0">
                <a:latin typeface="Arial"/>
                <a:cs typeface="Arial"/>
              </a:rPr>
              <a:t>programmer </a:t>
            </a:r>
            <a:r>
              <a:rPr sz="2400" spc="-7" dirty="0">
                <a:latin typeface="Arial"/>
                <a:cs typeface="Arial"/>
              </a:rPr>
              <a:t>that there </a:t>
            </a:r>
            <a:r>
              <a:rPr sz="2400" dirty="0">
                <a:latin typeface="Arial"/>
                <a:cs typeface="Arial"/>
              </a:rPr>
              <a:t>may occur an exception so it  is </a:t>
            </a:r>
            <a:r>
              <a:rPr sz="2400" spc="-7" dirty="0">
                <a:latin typeface="Arial"/>
                <a:cs typeface="Arial"/>
              </a:rPr>
              <a:t>better for the </a:t>
            </a:r>
            <a:r>
              <a:rPr sz="2400" dirty="0">
                <a:latin typeface="Arial"/>
                <a:cs typeface="Arial"/>
              </a:rPr>
              <a:t>programmer </a:t>
            </a:r>
            <a:r>
              <a:rPr sz="2400" spc="-7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provide </a:t>
            </a:r>
            <a:r>
              <a:rPr sz="2400" spc="-7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exception handling code so that  normal </a:t>
            </a:r>
            <a:r>
              <a:rPr sz="2400" spc="-7" dirty="0">
                <a:latin typeface="Arial"/>
                <a:cs typeface="Arial"/>
              </a:rPr>
              <a:t>flow </a:t>
            </a:r>
            <a:r>
              <a:rPr sz="2400" dirty="0">
                <a:latin typeface="Arial"/>
                <a:cs typeface="Arial"/>
              </a:rPr>
              <a:t>can be maintained.</a:t>
            </a:r>
          </a:p>
          <a:p>
            <a:pPr marL="1075240"/>
            <a:r>
              <a:rPr sz="2400" spc="-7" dirty="0">
                <a:latin typeface="Arial"/>
                <a:cs typeface="Arial"/>
              </a:rPr>
              <a:t>returntype </a:t>
            </a:r>
            <a:r>
              <a:rPr sz="2400" dirty="0">
                <a:latin typeface="Arial"/>
                <a:cs typeface="Arial"/>
              </a:rPr>
              <a:t>methodname() </a:t>
            </a:r>
            <a:r>
              <a:rPr sz="2400" spc="-7" dirty="0">
                <a:latin typeface="Arial"/>
                <a:cs typeface="Arial"/>
              </a:rPr>
              <a:t>throws</a:t>
            </a:r>
            <a:r>
              <a:rPr sz="2400" spc="9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exception_list</a:t>
            </a:r>
          </a:p>
          <a:p>
            <a:pPr marL="1075240"/>
            <a:r>
              <a:rPr sz="2400" dirty="0">
                <a:latin typeface="Arial"/>
                <a:cs typeface="Arial"/>
              </a:rPr>
              <a:t>{</a:t>
            </a:r>
          </a:p>
          <a:p>
            <a:pPr marL="1075240"/>
            <a:r>
              <a:rPr sz="2400" spc="-7" dirty="0">
                <a:latin typeface="Arial"/>
                <a:cs typeface="Arial"/>
              </a:rPr>
              <a:t>//method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</a:t>
            </a:r>
          </a:p>
          <a:p>
            <a:pPr marL="1075240">
              <a:spcBef>
                <a:spcPts val="7"/>
              </a:spcBef>
            </a:pPr>
            <a:r>
              <a:rPr sz="2400" dirty="0">
                <a:latin typeface="Arial"/>
                <a:cs typeface="Arial"/>
              </a:rPr>
              <a:t>}</a:t>
            </a:r>
          </a:p>
          <a:p>
            <a:pPr marL="465655" marR="6773" indent="-449569" algn="just">
              <a:spcBef>
                <a:spcPts val="400"/>
              </a:spcBef>
              <a:buChar char="●"/>
              <a:tabLst>
                <a:tab pos="466502" algn="l"/>
              </a:tabLst>
            </a:pPr>
            <a:r>
              <a:rPr sz="2400" spc="7" dirty="0">
                <a:latin typeface="Arial"/>
                <a:cs typeface="Arial"/>
              </a:rPr>
              <a:t>Any </a:t>
            </a:r>
            <a:r>
              <a:rPr sz="2400" dirty="0">
                <a:latin typeface="Arial"/>
                <a:cs typeface="Arial"/>
              </a:rPr>
              <a:t>method that is capable </a:t>
            </a:r>
            <a:r>
              <a:rPr sz="2400" spc="7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causing exceptions must list all the exceptions  possible during </a:t>
            </a:r>
            <a:r>
              <a:rPr sz="2400" spc="-7" dirty="0">
                <a:latin typeface="Arial"/>
                <a:cs typeface="Arial"/>
              </a:rPr>
              <a:t>its </a:t>
            </a:r>
            <a:r>
              <a:rPr sz="2400" dirty="0">
                <a:latin typeface="Arial"/>
                <a:cs typeface="Arial"/>
              </a:rPr>
              <a:t>execution, so that anyone calling </a:t>
            </a:r>
            <a:r>
              <a:rPr sz="2400" spc="-7" dirty="0">
                <a:latin typeface="Arial"/>
                <a:cs typeface="Arial"/>
              </a:rPr>
              <a:t>that </a:t>
            </a:r>
            <a:r>
              <a:rPr sz="2400" dirty="0">
                <a:latin typeface="Arial"/>
                <a:cs typeface="Arial"/>
              </a:rPr>
              <a:t>method gets a prior  </a:t>
            </a:r>
            <a:r>
              <a:rPr sz="2400" spc="-7" dirty="0">
                <a:latin typeface="Arial"/>
                <a:cs typeface="Arial"/>
              </a:rPr>
              <a:t>knowledge </a:t>
            </a:r>
            <a:r>
              <a:rPr sz="2400" dirty="0">
                <a:latin typeface="Arial"/>
                <a:cs typeface="Arial"/>
              </a:rPr>
              <a:t>about </a:t>
            </a:r>
            <a:r>
              <a:rPr sz="2400" spc="-7" dirty="0">
                <a:latin typeface="Arial"/>
                <a:cs typeface="Arial"/>
              </a:rPr>
              <a:t>which </a:t>
            </a:r>
            <a:r>
              <a:rPr sz="2400" dirty="0">
                <a:latin typeface="Arial"/>
                <a:cs typeface="Arial"/>
              </a:rPr>
              <a:t>exceptions are </a:t>
            </a:r>
            <a:r>
              <a:rPr sz="2400" spc="-7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be handled.</a:t>
            </a:r>
            <a:endParaRPr lang="en-IN" sz="2400" dirty="0">
              <a:latin typeface="Arial"/>
              <a:cs typeface="Arial"/>
            </a:endParaRPr>
          </a:p>
          <a:p>
            <a:pPr marL="465655" marR="6773" indent="-449569" algn="just">
              <a:spcBef>
                <a:spcPts val="400"/>
              </a:spcBef>
              <a:buChar char="●"/>
              <a:tabLst>
                <a:tab pos="466502" algn="l"/>
              </a:tabLst>
            </a:pPr>
            <a:r>
              <a:rPr sz="2400" dirty="0">
                <a:latin typeface="Arial"/>
                <a:cs typeface="Arial"/>
              </a:rPr>
              <a:t> A method </a:t>
            </a:r>
            <a:r>
              <a:rPr sz="2400" spc="7" dirty="0">
                <a:latin typeface="Arial"/>
                <a:cs typeface="Arial"/>
              </a:rPr>
              <a:t>can </a:t>
            </a:r>
            <a:r>
              <a:rPr sz="2400" dirty="0">
                <a:latin typeface="Arial"/>
                <a:cs typeface="Arial"/>
              </a:rPr>
              <a:t>do so </a:t>
            </a:r>
            <a:r>
              <a:rPr sz="2400" spc="13" dirty="0">
                <a:latin typeface="Arial"/>
                <a:cs typeface="Arial"/>
              </a:rPr>
              <a:t>by  </a:t>
            </a:r>
            <a:r>
              <a:rPr sz="2400" dirty="0">
                <a:latin typeface="Arial"/>
                <a:cs typeface="Arial"/>
              </a:rPr>
              <a:t>using </a:t>
            </a:r>
            <a:r>
              <a:rPr sz="2400" spc="-7" dirty="0">
                <a:latin typeface="Arial"/>
                <a:cs typeface="Arial"/>
              </a:rPr>
              <a:t>the </a:t>
            </a:r>
            <a:r>
              <a:rPr sz="2400" b="1" spc="7" dirty="0">
                <a:latin typeface="Arial"/>
                <a:cs typeface="Arial"/>
              </a:rPr>
              <a:t>throws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keyword.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65138"/>
            <a:ext cx="7660640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throw </a:t>
            </a:r>
            <a:r>
              <a:rPr spc="-7" dirty="0"/>
              <a:t>exception </a:t>
            </a:r>
            <a:r>
              <a:rPr dirty="0"/>
              <a:t>in</a:t>
            </a:r>
            <a:r>
              <a:rPr spc="-120" dirty="0"/>
              <a:t> </a:t>
            </a:r>
            <a:r>
              <a:rPr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680" y="1859279"/>
            <a:ext cx="12161520" cy="373179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26518" indent="-449569">
              <a:spcBef>
                <a:spcPts val="140"/>
              </a:spcBef>
              <a:buChar char="●"/>
              <a:tabLst>
                <a:tab pos="625671" algn="l"/>
                <a:tab pos="626518" algn="l"/>
              </a:tabLst>
            </a:pPr>
            <a:r>
              <a:rPr sz="2400" dirty="0">
                <a:latin typeface="Arial"/>
                <a:cs typeface="Arial"/>
              </a:rPr>
              <a:t>Throw </a:t>
            </a:r>
            <a:r>
              <a:rPr sz="2400" spc="-7" dirty="0">
                <a:latin typeface="Arial"/>
                <a:cs typeface="Arial"/>
              </a:rPr>
              <a:t>keyword </a:t>
            </a:r>
            <a:r>
              <a:rPr sz="2400" dirty="0">
                <a:latin typeface="Arial"/>
                <a:cs typeface="Arial"/>
              </a:rPr>
              <a:t>can also be used </a:t>
            </a:r>
            <a:r>
              <a:rPr sz="2400" spc="-7" dirty="0">
                <a:latin typeface="Arial"/>
                <a:cs typeface="Arial"/>
              </a:rPr>
              <a:t>for throwing </a:t>
            </a:r>
            <a:r>
              <a:rPr sz="2400" dirty="0">
                <a:latin typeface="Arial"/>
                <a:cs typeface="Arial"/>
              </a:rPr>
              <a:t>custom/user defined</a:t>
            </a:r>
            <a:r>
              <a:rPr sz="2400" spc="8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exceptions</a:t>
            </a:r>
          </a:p>
          <a:p>
            <a:pPr marL="626518" indent="-449569">
              <a:spcBef>
                <a:spcPts val="1853"/>
              </a:spcBef>
              <a:buClr>
                <a:srgbClr val="212325"/>
              </a:buClr>
              <a:buChar char="●"/>
              <a:tabLst>
                <a:tab pos="625671" algn="l"/>
                <a:tab pos="626518" algn="l"/>
              </a:tabLst>
            </a:pPr>
            <a:r>
              <a:rPr sz="2400" spc="-7" dirty="0">
                <a:latin typeface="Arial"/>
                <a:cs typeface="Arial"/>
              </a:rPr>
              <a:t>throw keyword </a:t>
            </a:r>
            <a:r>
              <a:rPr sz="2400" dirty="0">
                <a:latin typeface="Arial"/>
                <a:cs typeface="Arial"/>
              </a:rPr>
              <a:t>is used </a:t>
            </a:r>
            <a:r>
              <a:rPr sz="2400" spc="-7" dirty="0">
                <a:latin typeface="Arial"/>
                <a:cs typeface="Arial"/>
              </a:rPr>
              <a:t>to throw </a:t>
            </a:r>
            <a:r>
              <a:rPr sz="2400" dirty="0">
                <a:latin typeface="Arial"/>
                <a:cs typeface="Arial"/>
              </a:rPr>
              <a:t>an </a:t>
            </a:r>
            <a:r>
              <a:rPr sz="2400" spc="-7" dirty="0">
                <a:latin typeface="Arial"/>
                <a:cs typeface="Arial"/>
              </a:rPr>
              <a:t>exception</a:t>
            </a:r>
            <a:r>
              <a:rPr sz="2400" spc="1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explicitly.</a:t>
            </a:r>
            <a:endParaRPr sz="2400" dirty="0">
              <a:latin typeface="Arial"/>
              <a:cs typeface="Arial"/>
            </a:endParaRPr>
          </a:p>
          <a:p>
            <a:pPr marL="626518" indent="-449569">
              <a:spcBef>
                <a:spcPts val="1873"/>
              </a:spcBef>
              <a:buClr>
                <a:srgbClr val="212325"/>
              </a:buClr>
              <a:buChar char="●"/>
              <a:tabLst>
                <a:tab pos="625671" algn="l"/>
                <a:tab pos="626518" algn="l"/>
              </a:tabLst>
            </a:pPr>
            <a:r>
              <a:rPr sz="2400" dirty="0">
                <a:latin typeface="Arial"/>
                <a:cs typeface="Arial"/>
              </a:rPr>
              <a:t>Only object of Throwable class or </a:t>
            </a:r>
            <a:r>
              <a:rPr sz="2400" spc="-7" dirty="0">
                <a:latin typeface="Arial"/>
                <a:cs typeface="Arial"/>
              </a:rPr>
              <a:t>its </a:t>
            </a:r>
            <a:r>
              <a:rPr sz="2400" dirty="0">
                <a:latin typeface="Arial"/>
                <a:cs typeface="Arial"/>
              </a:rPr>
              <a:t>sub classes can be</a:t>
            </a:r>
            <a:r>
              <a:rPr sz="2400" spc="-4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thrown.</a:t>
            </a:r>
            <a:endParaRPr sz="2400" dirty="0">
              <a:latin typeface="Arial"/>
              <a:cs typeface="Arial"/>
            </a:endParaRPr>
          </a:p>
          <a:p>
            <a:pPr marL="626518" marR="6773" indent="-449569">
              <a:spcBef>
                <a:spcPts val="1873"/>
              </a:spcBef>
              <a:buClr>
                <a:srgbClr val="212325"/>
              </a:buClr>
              <a:buChar char="●"/>
              <a:tabLst>
                <a:tab pos="625671" algn="l"/>
                <a:tab pos="626518" algn="l"/>
              </a:tabLst>
            </a:pPr>
            <a:r>
              <a:rPr sz="2400" dirty="0">
                <a:latin typeface="Arial"/>
                <a:cs typeface="Arial"/>
              </a:rPr>
              <a:t>Program execution </a:t>
            </a:r>
            <a:r>
              <a:rPr sz="2400" spc="-7" dirty="0">
                <a:latin typeface="Arial"/>
                <a:cs typeface="Arial"/>
              </a:rPr>
              <a:t>stops </a:t>
            </a:r>
            <a:r>
              <a:rPr sz="2400" dirty="0">
                <a:latin typeface="Arial"/>
                <a:cs typeface="Arial"/>
              </a:rPr>
              <a:t>on encountering </a:t>
            </a:r>
            <a:r>
              <a:rPr sz="2400" b="1" spc="-7" dirty="0">
                <a:latin typeface="Arial"/>
                <a:cs typeface="Arial"/>
              </a:rPr>
              <a:t>throw </a:t>
            </a:r>
            <a:r>
              <a:rPr sz="2400" spc="-7" dirty="0">
                <a:latin typeface="Arial"/>
                <a:cs typeface="Arial"/>
              </a:rPr>
              <a:t>statement, </a:t>
            </a:r>
            <a:r>
              <a:rPr sz="2400" dirty="0">
                <a:latin typeface="Arial"/>
                <a:cs typeface="Arial"/>
              </a:rPr>
              <a:t>and </a:t>
            </a:r>
            <a:r>
              <a:rPr sz="2400" spc="-7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closest </a:t>
            </a:r>
            <a:r>
              <a:rPr sz="2400" spc="-7" dirty="0">
                <a:latin typeface="Arial"/>
                <a:cs typeface="Arial"/>
              </a:rPr>
              <a:t>catch  statement </a:t>
            </a:r>
            <a:r>
              <a:rPr sz="2400" dirty="0">
                <a:latin typeface="Arial"/>
                <a:cs typeface="Arial"/>
              </a:rPr>
              <a:t>is checked </a:t>
            </a:r>
            <a:r>
              <a:rPr sz="2400" spc="-7" dirty="0">
                <a:latin typeface="Arial"/>
                <a:cs typeface="Arial"/>
              </a:rPr>
              <a:t>for </a:t>
            </a:r>
            <a:r>
              <a:rPr sz="2400" dirty="0">
                <a:latin typeface="Arial"/>
                <a:cs typeface="Arial"/>
              </a:rPr>
              <a:t>matching </a:t>
            </a:r>
            <a:r>
              <a:rPr sz="2400" spc="-13" dirty="0">
                <a:latin typeface="Arial"/>
                <a:cs typeface="Arial"/>
              </a:rPr>
              <a:t>type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7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exception.</a:t>
            </a:r>
          </a:p>
          <a:p>
            <a:pPr marL="16933">
              <a:spcBef>
                <a:spcPts val="1073"/>
              </a:spcBef>
            </a:pPr>
            <a:r>
              <a:rPr sz="2400" b="1" dirty="0">
                <a:latin typeface="Arial"/>
                <a:cs typeface="Arial"/>
              </a:rPr>
              <a:t>Syntax</a:t>
            </a:r>
            <a:r>
              <a:rPr sz="2400" b="1" spc="-7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1844841" lvl="1" indent="-449569">
              <a:spcBef>
                <a:spcPts val="2047"/>
              </a:spcBef>
              <a:buFont typeface="Arial"/>
              <a:buChar char="■"/>
              <a:tabLst>
                <a:tab pos="1844841" algn="l"/>
                <a:tab pos="1845687" algn="l"/>
              </a:tabLst>
            </a:pPr>
            <a:r>
              <a:rPr sz="2400" b="1" dirty="0">
                <a:latin typeface="Arial"/>
                <a:cs typeface="Arial"/>
              </a:rPr>
              <a:t>throw</a:t>
            </a:r>
            <a:r>
              <a:rPr sz="2400" b="1" spc="20" dirty="0">
                <a:latin typeface="Arial"/>
                <a:cs typeface="Arial"/>
              </a:rPr>
              <a:t> </a:t>
            </a:r>
            <a:r>
              <a:rPr sz="2400" i="1" spc="-7" dirty="0">
                <a:latin typeface="Arial"/>
                <a:cs typeface="Arial"/>
              </a:rPr>
              <a:t>ThrowableInstance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1F13FE81-CB08-4F9C-B67B-730FB3C4A5B3}"/>
              </a:ext>
            </a:extLst>
          </p:cNvPr>
          <p:cNvSpPr/>
          <p:nvPr/>
        </p:nvSpPr>
        <p:spPr>
          <a:xfrm>
            <a:off x="1422400" y="1940884"/>
            <a:ext cx="8802879" cy="3988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4F68BBB-9E09-45B5-97EA-5A0C54804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360" y="465138"/>
            <a:ext cx="7660640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IN" dirty="0"/>
              <a:t>Difference : </a:t>
            </a:r>
            <a:r>
              <a:rPr dirty="0"/>
              <a:t>throw</a:t>
            </a:r>
            <a:r>
              <a:rPr lang="en-IN" dirty="0"/>
              <a:t> and throws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5455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6640" y="714058"/>
            <a:ext cx="8483599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IN" spc="-7" dirty="0"/>
              <a:t>f</a:t>
            </a:r>
            <a:r>
              <a:rPr spc="-7" dirty="0" err="1"/>
              <a:t>inally</a:t>
            </a:r>
            <a:r>
              <a:rPr lang="en-IN" spc="-7" dirty="0"/>
              <a:t> keyword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900430" y="2108201"/>
            <a:ext cx="10992273" cy="2616101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5655" indent="-449569">
              <a:spcBef>
                <a:spcPts val="140"/>
              </a:spcBef>
              <a:buChar char="●"/>
              <a:tabLst>
                <a:tab pos="465655" algn="l"/>
                <a:tab pos="466502" algn="l"/>
              </a:tabLst>
            </a:pPr>
            <a:r>
              <a:rPr sz="2400" dirty="0">
                <a:latin typeface="Arial"/>
                <a:cs typeface="Arial"/>
              </a:rPr>
              <a:t>A finally </a:t>
            </a:r>
            <a:r>
              <a:rPr sz="2400" spc="-7" dirty="0">
                <a:latin typeface="Arial"/>
                <a:cs typeface="Arial"/>
              </a:rPr>
              <a:t>keyword </a:t>
            </a:r>
            <a:r>
              <a:rPr sz="2400" dirty="0">
                <a:latin typeface="Arial"/>
                <a:cs typeface="Arial"/>
              </a:rPr>
              <a:t>is used </a:t>
            </a:r>
            <a:r>
              <a:rPr sz="2400" spc="-7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create a block of code </a:t>
            </a:r>
            <a:r>
              <a:rPr sz="2400" spc="-7" dirty="0">
                <a:latin typeface="Arial"/>
                <a:cs typeface="Arial"/>
              </a:rPr>
              <a:t>that follows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7" dirty="0">
                <a:latin typeface="Arial"/>
                <a:cs typeface="Arial"/>
              </a:rPr>
              <a:t>try</a:t>
            </a:r>
            <a:r>
              <a:rPr sz="2400" spc="1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block.</a:t>
            </a:r>
          </a:p>
          <a:p>
            <a:pPr>
              <a:spcBef>
                <a:spcPts val="47"/>
              </a:spcBef>
              <a:buFont typeface="Arial"/>
              <a:buChar char="●"/>
            </a:pPr>
            <a:endParaRPr sz="2400" dirty="0">
              <a:latin typeface="Arial"/>
              <a:cs typeface="Arial"/>
            </a:endParaRPr>
          </a:p>
          <a:p>
            <a:pPr marL="465655" marR="6773" indent="-449569" algn="just">
              <a:buChar char="●"/>
              <a:tabLst>
                <a:tab pos="466502" algn="l"/>
              </a:tabLst>
            </a:pPr>
            <a:r>
              <a:rPr sz="2400" dirty="0">
                <a:latin typeface="Arial"/>
                <a:cs typeface="Arial"/>
              </a:rPr>
              <a:t>A finally block </a:t>
            </a:r>
            <a:r>
              <a:rPr sz="2400" spc="7" dirty="0">
                <a:latin typeface="Arial"/>
                <a:cs typeface="Arial"/>
              </a:rPr>
              <a:t>of </a:t>
            </a:r>
            <a:r>
              <a:rPr sz="2400" spc="-7" dirty="0">
                <a:latin typeface="Arial"/>
                <a:cs typeface="Arial"/>
              </a:rPr>
              <a:t>code </a:t>
            </a:r>
            <a:r>
              <a:rPr sz="2400" dirty="0">
                <a:latin typeface="Arial"/>
                <a:cs typeface="Arial"/>
              </a:rPr>
              <a:t>is always executed </a:t>
            </a:r>
            <a:r>
              <a:rPr sz="2400" spc="-7" dirty="0">
                <a:latin typeface="Arial"/>
                <a:cs typeface="Arial"/>
              </a:rPr>
              <a:t>whether </a:t>
            </a:r>
            <a:r>
              <a:rPr sz="2400" dirty="0">
                <a:latin typeface="Arial"/>
                <a:cs typeface="Arial"/>
              </a:rPr>
              <a:t>an exception </a:t>
            </a:r>
            <a:r>
              <a:rPr sz="2400" spc="-7" dirty="0">
                <a:latin typeface="Arial"/>
                <a:cs typeface="Arial"/>
              </a:rPr>
              <a:t>has </a:t>
            </a:r>
            <a:r>
              <a:rPr sz="2400" dirty="0">
                <a:latin typeface="Arial"/>
                <a:cs typeface="Arial"/>
              </a:rPr>
              <a:t>occurred </a:t>
            </a:r>
            <a:r>
              <a:rPr sz="2400" spc="-7" dirty="0">
                <a:latin typeface="Arial"/>
                <a:cs typeface="Arial"/>
              </a:rPr>
              <a:t>or  not. </a:t>
            </a:r>
            <a:r>
              <a:rPr sz="2400" dirty="0">
                <a:latin typeface="Arial"/>
                <a:cs typeface="Arial"/>
              </a:rPr>
              <a:t>Using a finally block, it lets </a:t>
            </a:r>
            <a:r>
              <a:rPr sz="2400" spc="-13" dirty="0">
                <a:latin typeface="Arial"/>
                <a:cs typeface="Arial"/>
              </a:rPr>
              <a:t>you </a:t>
            </a:r>
            <a:r>
              <a:rPr sz="2400" dirty="0">
                <a:latin typeface="Arial"/>
                <a:cs typeface="Arial"/>
              </a:rPr>
              <a:t>run </a:t>
            </a:r>
            <a:r>
              <a:rPr sz="2400" spc="7" dirty="0">
                <a:latin typeface="Arial"/>
                <a:cs typeface="Arial"/>
              </a:rPr>
              <a:t>any </a:t>
            </a:r>
            <a:r>
              <a:rPr sz="2400" dirty="0">
                <a:latin typeface="Arial"/>
                <a:cs typeface="Arial"/>
              </a:rPr>
              <a:t>clean-up </a:t>
            </a:r>
            <a:r>
              <a:rPr sz="2400" spc="-7" dirty="0">
                <a:latin typeface="Arial"/>
                <a:cs typeface="Arial"/>
              </a:rPr>
              <a:t>type </a:t>
            </a:r>
            <a:r>
              <a:rPr sz="2400" dirty="0">
                <a:latin typeface="Arial"/>
                <a:cs typeface="Arial"/>
              </a:rPr>
              <a:t>statements that </a:t>
            </a:r>
            <a:r>
              <a:rPr sz="2400" spc="-7" dirty="0">
                <a:latin typeface="Arial"/>
                <a:cs typeface="Arial"/>
              </a:rPr>
              <a:t>you  want to execute, </a:t>
            </a:r>
            <a:r>
              <a:rPr sz="2400" dirty="0">
                <a:latin typeface="Arial"/>
                <a:cs typeface="Arial"/>
              </a:rPr>
              <a:t>no </a:t>
            </a:r>
            <a:r>
              <a:rPr sz="2400" spc="-7" dirty="0">
                <a:latin typeface="Arial"/>
                <a:cs typeface="Arial"/>
              </a:rPr>
              <a:t>matter what </a:t>
            </a:r>
            <a:r>
              <a:rPr sz="2400" dirty="0">
                <a:latin typeface="Arial"/>
                <a:cs typeface="Arial"/>
              </a:rPr>
              <a:t>happens in </a:t>
            </a:r>
            <a:r>
              <a:rPr sz="2400" spc="-7" dirty="0">
                <a:latin typeface="Arial"/>
                <a:cs typeface="Arial"/>
              </a:rPr>
              <a:t>the protected</a:t>
            </a:r>
            <a:r>
              <a:rPr sz="2400" spc="22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code.</a:t>
            </a:r>
          </a:p>
          <a:p>
            <a:pPr>
              <a:spcBef>
                <a:spcPts val="67"/>
              </a:spcBef>
              <a:buFont typeface="Arial"/>
              <a:buChar char="●"/>
            </a:pPr>
            <a:endParaRPr sz="2400" dirty="0">
              <a:latin typeface="Arial"/>
              <a:cs typeface="Arial"/>
            </a:endParaRPr>
          </a:p>
          <a:p>
            <a:pPr marL="465655" indent="-449569">
              <a:buChar char="●"/>
              <a:tabLst>
                <a:tab pos="465655" algn="l"/>
                <a:tab pos="466502" algn="l"/>
              </a:tabLst>
            </a:pPr>
            <a:r>
              <a:rPr sz="2400" dirty="0">
                <a:latin typeface="Arial"/>
                <a:cs typeface="Arial"/>
              </a:rPr>
              <a:t>A finally block appears at </a:t>
            </a:r>
            <a:r>
              <a:rPr sz="2400" spc="-7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end of catch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2FAB70F2-6CF9-42DD-B513-79E4C779333E}"/>
              </a:ext>
            </a:extLst>
          </p:cNvPr>
          <p:cNvSpPr/>
          <p:nvPr/>
        </p:nvSpPr>
        <p:spPr>
          <a:xfrm>
            <a:off x="944880" y="1609579"/>
            <a:ext cx="9134671" cy="44516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37682C7-09A6-40C9-A77F-7C63D7D58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4880" y="576683"/>
            <a:ext cx="8483599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IN" spc="-7" dirty="0"/>
              <a:t>f</a:t>
            </a:r>
            <a:r>
              <a:rPr spc="-7" dirty="0" err="1"/>
              <a:t>inally</a:t>
            </a:r>
            <a:r>
              <a:rPr lang="en-IN" spc="-7" dirty="0"/>
              <a:t> keyword</a:t>
            </a:r>
            <a:endParaRPr spc="-7" dirty="0"/>
          </a:p>
        </p:txBody>
      </p:sp>
    </p:spTree>
    <p:extLst>
      <p:ext uri="{BB962C8B-B14F-4D97-AF65-F5344CB8AC3E}">
        <p14:creationId xmlns:p14="http://schemas.microsoft.com/office/powerpoint/2010/main" val="3902346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B8EFF2-5269-4795-90DC-1CA1C3921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460608"/>
              </p:ext>
            </p:extLst>
          </p:nvPr>
        </p:nvGraphicFramePr>
        <p:xfrm>
          <a:off x="833120" y="1782092"/>
          <a:ext cx="10830800" cy="3145507"/>
        </p:xfrm>
        <a:graphic>
          <a:graphicData uri="http://schemas.openxmlformats.org/drawingml/2006/table">
            <a:tbl>
              <a:tblPr/>
              <a:tblGrid>
                <a:gridCol w="2707700">
                  <a:extLst>
                    <a:ext uri="{9D8B030D-6E8A-4147-A177-3AD203B41FA5}">
                      <a16:colId xmlns:a16="http://schemas.microsoft.com/office/drawing/2014/main" val="3719216252"/>
                    </a:ext>
                  </a:extLst>
                </a:gridCol>
                <a:gridCol w="2707700">
                  <a:extLst>
                    <a:ext uri="{9D8B030D-6E8A-4147-A177-3AD203B41FA5}">
                      <a16:colId xmlns:a16="http://schemas.microsoft.com/office/drawing/2014/main" val="3623555229"/>
                    </a:ext>
                  </a:extLst>
                </a:gridCol>
                <a:gridCol w="2707700">
                  <a:extLst>
                    <a:ext uri="{9D8B030D-6E8A-4147-A177-3AD203B41FA5}">
                      <a16:colId xmlns:a16="http://schemas.microsoft.com/office/drawing/2014/main" val="8602922"/>
                    </a:ext>
                  </a:extLst>
                </a:gridCol>
                <a:gridCol w="2707700">
                  <a:extLst>
                    <a:ext uri="{9D8B030D-6E8A-4147-A177-3AD203B41FA5}">
                      <a16:colId xmlns:a16="http://schemas.microsoft.com/office/drawing/2014/main" val="2686526220"/>
                    </a:ext>
                  </a:extLst>
                </a:gridCol>
              </a:tblGrid>
              <a:tr h="454800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</a:t>
                      </a:r>
                    </a:p>
                  </a:txBody>
                  <a:tcPr marL="49749" marR="49749" marT="49749" marB="49749">
                    <a:lnL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final</a:t>
                      </a:r>
                    </a:p>
                  </a:txBody>
                  <a:tcPr marL="49749" marR="49749" marT="49749" marB="49749">
                    <a:lnL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finally</a:t>
                      </a:r>
                    </a:p>
                  </a:txBody>
                  <a:tcPr marL="49749" marR="49749" marT="49749" marB="49749">
                    <a:lnL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finalize</a:t>
                      </a:r>
                    </a:p>
                  </a:txBody>
                  <a:tcPr marL="49749" marR="49749" marT="49749" marB="49749">
                    <a:lnL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83C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647756"/>
                  </a:ext>
                </a:extLst>
              </a:tr>
              <a:tr h="2289325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1)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Final is used to apply restrictions on class, method and variable. Final class can't be inherited, final method can't be overridden and final variable value can't be changed.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Finally is used to place important code, it will be executed whether exception is handled or not.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Finalize is used to perform clean up processing just before object is garbage collected.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083047"/>
                  </a:ext>
                </a:extLst>
              </a:tr>
              <a:tr h="40138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2)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Final is a keyword.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Finally is a block.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Finalize is a method.</a:t>
                      </a:r>
                    </a:p>
                  </a:txBody>
                  <a:tcPr marL="33166" marR="33166" marT="33166" marB="33166">
                    <a:lnL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561172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9216D602-6DAF-40A4-A5A0-E5F9A761C4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7440" y="714058"/>
            <a:ext cx="8432799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IN" spc="-7" dirty="0"/>
              <a:t>Difference : </a:t>
            </a:r>
            <a:r>
              <a:rPr lang="en-IN" spc="-7" dirty="0" err="1"/>
              <a:t>final,f</a:t>
            </a:r>
            <a:r>
              <a:rPr spc="-7" dirty="0" err="1"/>
              <a:t>inally</a:t>
            </a:r>
            <a:r>
              <a:rPr lang="en-IN" spc="-7" dirty="0"/>
              <a:t>,finalize</a:t>
            </a:r>
            <a:endParaRPr spc="-7" dirty="0"/>
          </a:p>
        </p:txBody>
      </p:sp>
    </p:spTree>
    <p:extLst>
      <p:ext uri="{BB962C8B-B14F-4D97-AF65-F5344CB8AC3E}">
        <p14:creationId xmlns:p14="http://schemas.microsoft.com/office/powerpoint/2010/main" val="1139103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6160" y="305118"/>
            <a:ext cx="8207587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User defined exception </a:t>
            </a:r>
            <a:r>
              <a:rPr dirty="0"/>
              <a:t>in</a:t>
            </a:r>
            <a:r>
              <a:rPr spc="-47" dirty="0"/>
              <a:t> </a:t>
            </a:r>
            <a:r>
              <a:rPr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360" y="1623471"/>
            <a:ext cx="11549833" cy="389593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2699" marR="6773" indent="-285750" algn="just">
              <a:spcBef>
                <a:spcPts val="140"/>
              </a:spcBef>
              <a:buFont typeface="Arial" panose="020B0604020202020204" pitchFamily="34" charset="0"/>
              <a:buChar char="•"/>
              <a:tabLst>
                <a:tab pos="625671" algn="l"/>
                <a:tab pos="626518" algn="l"/>
              </a:tabLst>
            </a:pPr>
            <a:r>
              <a:rPr sz="2200" spc="-7" dirty="0">
                <a:solidFill>
                  <a:srgbClr val="212325"/>
                </a:solidFill>
                <a:latin typeface="Arial"/>
                <a:cs typeface="Arial"/>
              </a:rPr>
              <a:t>In </a:t>
            </a:r>
            <a:r>
              <a:rPr sz="2200" dirty="0">
                <a:solidFill>
                  <a:srgbClr val="212325"/>
                </a:solidFill>
                <a:latin typeface="Arial"/>
                <a:cs typeface="Arial"/>
              </a:rPr>
              <a:t>java </a:t>
            </a:r>
            <a:r>
              <a:rPr sz="2200" spc="-20" dirty="0">
                <a:solidFill>
                  <a:srgbClr val="212325"/>
                </a:solidFill>
                <a:latin typeface="Arial"/>
                <a:cs typeface="Arial"/>
              </a:rPr>
              <a:t>we </a:t>
            </a:r>
            <a:r>
              <a:rPr sz="2200" dirty="0">
                <a:solidFill>
                  <a:srgbClr val="212325"/>
                </a:solidFill>
                <a:latin typeface="Arial"/>
                <a:cs typeface="Arial"/>
              </a:rPr>
              <a:t>can create our </a:t>
            </a:r>
            <a:r>
              <a:rPr sz="2200" spc="-7" dirty="0">
                <a:solidFill>
                  <a:srgbClr val="212325"/>
                </a:solidFill>
                <a:latin typeface="Arial"/>
                <a:cs typeface="Arial"/>
              </a:rPr>
              <a:t>own </a:t>
            </a:r>
            <a:r>
              <a:rPr sz="2200" dirty="0">
                <a:solidFill>
                  <a:srgbClr val="212325"/>
                </a:solidFill>
                <a:latin typeface="Arial"/>
                <a:cs typeface="Arial"/>
              </a:rPr>
              <a:t>exception class and </a:t>
            </a:r>
            <a:r>
              <a:rPr sz="2200" spc="-7" dirty="0">
                <a:solidFill>
                  <a:srgbClr val="212325"/>
                </a:solidFill>
                <a:latin typeface="Arial"/>
                <a:cs typeface="Arial"/>
              </a:rPr>
              <a:t>throw that </a:t>
            </a:r>
            <a:r>
              <a:rPr sz="2200" dirty="0">
                <a:solidFill>
                  <a:srgbClr val="212325"/>
                </a:solidFill>
                <a:latin typeface="Arial"/>
                <a:cs typeface="Arial"/>
              </a:rPr>
              <a:t>exception using  </a:t>
            </a:r>
            <a:r>
              <a:rPr sz="2200" spc="-7" dirty="0">
                <a:solidFill>
                  <a:srgbClr val="212325"/>
                </a:solidFill>
                <a:latin typeface="Arial"/>
                <a:cs typeface="Arial"/>
              </a:rPr>
              <a:t>throw keyword. </a:t>
            </a:r>
            <a:r>
              <a:rPr sz="2200" spc="7" dirty="0">
                <a:solidFill>
                  <a:srgbClr val="212325"/>
                </a:solidFill>
                <a:latin typeface="Arial"/>
                <a:cs typeface="Arial"/>
              </a:rPr>
              <a:t>These </a:t>
            </a:r>
            <a:r>
              <a:rPr sz="2200" dirty="0">
                <a:solidFill>
                  <a:srgbClr val="212325"/>
                </a:solidFill>
                <a:latin typeface="Arial"/>
                <a:cs typeface="Arial"/>
              </a:rPr>
              <a:t>exceptions are </a:t>
            </a:r>
            <a:r>
              <a:rPr sz="2200" spc="-7" dirty="0">
                <a:solidFill>
                  <a:srgbClr val="212325"/>
                </a:solidFill>
                <a:latin typeface="Arial"/>
                <a:cs typeface="Arial"/>
              </a:rPr>
              <a:t>known </a:t>
            </a:r>
            <a:r>
              <a:rPr sz="2200" dirty="0">
                <a:solidFill>
                  <a:srgbClr val="212325"/>
                </a:solidFill>
                <a:latin typeface="Arial"/>
                <a:cs typeface="Arial"/>
              </a:rPr>
              <a:t>as user-defined or custom  exceptions.</a:t>
            </a:r>
            <a:endParaRPr sz="2200" dirty="0">
              <a:latin typeface="Arial"/>
              <a:cs typeface="Arial"/>
            </a:endParaRPr>
          </a:p>
          <a:p>
            <a:pPr marL="16933" algn="just"/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Syntax</a:t>
            </a:r>
            <a:endParaRPr sz="2200" dirty="0">
              <a:latin typeface="Arial"/>
              <a:cs typeface="Arial"/>
            </a:endParaRPr>
          </a:p>
          <a:p>
            <a:pPr marL="462699" indent="-285750" algn="just">
              <a:buFont typeface="Arial" panose="020B0604020202020204" pitchFamily="34" charset="0"/>
              <a:buChar char="•"/>
              <a:tabLst>
                <a:tab pos="625671" algn="l"/>
                <a:tab pos="626518" algn="l"/>
              </a:tabLst>
            </a:pPr>
            <a:r>
              <a:rPr sz="2200" dirty="0">
                <a:latin typeface="Arial"/>
                <a:cs typeface="Arial"/>
              </a:rPr>
              <a:t>class classname </a:t>
            </a:r>
            <a:r>
              <a:rPr sz="2200" spc="-7" dirty="0">
                <a:latin typeface="Arial"/>
                <a:cs typeface="Arial"/>
              </a:rPr>
              <a:t>extends </a:t>
            </a:r>
            <a:r>
              <a:rPr sz="2200" dirty="0">
                <a:latin typeface="Arial"/>
                <a:cs typeface="Arial"/>
              </a:rPr>
              <a:t>Exception</a:t>
            </a:r>
          </a:p>
          <a:p>
            <a:pPr marL="302683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Arial"/>
                <a:cs typeface="Arial"/>
              </a:rPr>
              <a:t>. User-defined exception must </a:t>
            </a:r>
            <a:r>
              <a:rPr sz="2200" spc="-7" dirty="0">
                <a:latin typeface="Arial"/>
                <a:cs typeface="Arial"/>
              </a:rPr>
              <a:t>extend </a:t>
            </a:r>
            <a:r>
              <a:rPr sz="2200" dirty="0">
                <a:latin typeface="Arial"/>
                <a:cs typeface="Arial"/>
              </a:rPr>
              <a:t>Exception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class.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Arial"/>
                <a:cs typeface="Arial"/>
              </a:rPr>
              <a:t>  </a:t>
            </a:r>
            <a:r>
              <a:rPr sz="2200" spc="7" dirty="0">
                <a:latin typeface="Arial"/>
                <a:cs typeface="Arial"/>
              </a:rPr>
              <a:t>The </a:t>
            </a:r>
            <a:r>
              <a:rPr sz="2200" spc="-7" dirty="0">
                <a:latin typeface="Arial"/>
                <a:cs typeface="Arial"/>
              </a:rPr>
              <a:t>exception </a:t>
            </a:r>
            <a:r>
              <a:rPr sz="2200" dirty="0">
                <a:latin typeface="Arial"/>
                <a:cs typeface="Arial"/>
              </a:rPr>
              <a:t>is </a:t>
            </a:r>
            <a:r>
              <a:rPr sz="2200" spc="-7" dirty="0">
                <a:latin typeface="Arial"/>
                <a:cs typeface="Arial"/>
              </a:rPr>
              <a:t>thrown </a:t>
            </a:r>
            <a:r>
              <a:rPr sz="2200" dirty="0">
                <a:latin typeface="Arial"/>
                <a:cs typeface="Arial"/>
              </a:rPr>
              <a:t>using </a:t>
            </a:r>
            <a:r>
              <a:rPr sz="2200" spc="-7" dirty="0">
                <a:latin typeface="Arial"/>
                <a:cs typeface="Arial"/>
              </a:rPr>
              <a:t>throw</a:t>
            </a:r>
            <a:r>
              <a:rPr sz="2200" spc="60" dirty="0">
                <a:latin typeface="Arial"/>
                <a:cs typeface="Arial"/>
              </a:rPr>
              <a:t> </a:t>
            </a:r>
            <a:r>
              <a:rPr sz="2200" spc="-7" dirty="0">
                <a:latin typeface="Arial"/>
                <a:cs typeface="Arial"/>
              </a:rPr>
              <a:t>keyword.</a:t>
            </a:r>
            <a:r>
              <a:rPr lang="en-US" sz="2200" dirty="0"/>
              <a:t> </a:t>
            </a:r>
          </a:p>
          <a:p>
            <a:pPr algn="just"/>
            <a:endParaRPr lang="en-US" sz="2200" dirty="0"/>
          </a:p>
          <a:p>
            <a:r>
              <a:rPr lang="en-US" sz="2200" b="1" i="1" dirty="0"/>
              <a:t>While creating user defined exceptions, the following aspects have to be taken care :</a:t>
            </a:r>
          </a:p>
          <a:p>
            <a:r>
              <a:rPr lang="en-US" sz="2200" b="1" i="1" dirty="0"/>
              <a:t>a.   The user defined exception class should extend from the Exception class and its subclass</a:t>
            </a:r>
          </a:p>
          <a:p>
            <a:r>
              <a:rPr lang="en-US" sz="2200" b="1" i="1" dirty="0"/>
              <a:t>b.  If we want to display meaningful information about the exception, we should override the </a:t>
            </a:r>
            <a:r>
              <a:rPr lang="en-US" sz="2200" b="1" i="1" dirty="0" err="1"/>
              <a:t>toString</a:t>
            </a:r>
            <a:r>
              <a:rPr lang="en-US" sz="2200" b="1" i="1" dirty="0"/>
              <a:t>() method</a:t>
            </a:r>
            <a:r>
              <a:rPr lang="en-US" sz="22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F956C-D1B9-4AE8-9481-EA7F42C0F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9500"/>
            <a:ext cx="11094720" cy="59004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class </a:t>
            </a:r>
            <a:r>
              <a:rPr lang="en-IN" sz="1400" b="1" dirty="0" err="1"/>
              <a:t>MyExceptionDemo</a:t>
            </a:r>
            <a:r>
              <a:rPr lang="en-IN" sz="1400" b="1" dirty="0"/>
              <a:t>{</a:t>
            </a:r>
          </a:p>
          <a:p>
            <a:pPr marL="0" indent="0">
              <a:buNone/>
            </a:pPr>
            <a:r>
              <a:rPr lang="en-IN" sz="1400" b="1" dirty="0"/>
              <a:t>static int flag=0;</a:t>
            </a:r>
          </a:p>
          <a:p>
            <a:pPr marL="0" indent="0">
              <a:buNone/>
            </a:pPr>
            <a:r>
              <a:rPr lang="en-US" sz="1400" b="1" dirty="0"/>
              <a:t>public static void main(String </a:t>
            </a:r>
            <a:r>
              <a:rPr lang="en-US" sz="1400" b="1" dirty="0" err="1"/>
              <a:t>args</a:t>
            </a:r>
            <a:r>
              <a:rPr lang="en-US" sz="1400" b="1" dirty="0"/>
              <a:t>[]) {</a:t>
            </a:r>
          </a:p>
          <a:p>
            <a:pPr marL="0" indent="0">
              <a:buNone/>
            </a:pPr>
            <a:r>
              <a:rPr lang="en-IN" sz="1400" b="1" dirty="0"/>
              <a:t>try {</a:t>
            </a:r>
          </a:p>
          <a:p>
            <a:pPr marL="0" indent="0">
              <a:buNone/>
            </a:pPr>
            <a:r>
              <a:rPr lang="en-IN" sz="1400" b="1" dirty="0"/>
              <a:t>int age=</a:t>
            </a:r>
            <a:r>
              <a:rPr lang="en-IN" sz="1400" b="1" dirty="0" err="1"/>
              <a:t>Integer.parseInt</a:t>
            </a:r>
            <a:r>
              <a:rPr lang="en-IN" sz="1400" b="1" dirty="0"/>
              <a:t>(</a:t>
            </a:r>
            <a:r>
              <a:rPr lang="en-IN" sz="1400" b="1" dirty="0" err="1"/>
              <a:t>args</a:t>
            </a:r>
            <a:r>
              <a:rPr lang="en-IN" sz="1400" b="1" dirty="0"/>
              <a:t>[0]);</a:t>
            </a:r>
          </a:p>
          <a:p>
            <a:pPr marL="0" indent="0">
              <a:buNone/>
            </a:pPr>
            <a:r>
              <a:rPr lang="en-IN" sz="1400" b="1" dirty="0"/>
              <a:t>if(age &lt; 18)</a:t>
            </a:r>
          </a:p>
          <a:p>
            <a:pPr marL="0" indent="0">
              <a:buNone/>
            </a:pPr>
            <a:r>
              <a:rPr lang="en-IN" sz="1400" b="1" dirty="0"/>
              <a:t>throw new </a:t>
            </a:r>
            <a:r>
              <a:rPr lang="en-IN" sz="1400" b="1" dirty="0" err="1"/>
              <a:t>MyException</a:t>
            </a:r>
            <a:r>
              <a:rPr lang="en-IN" sz="1400" b="1" dirty="0"/>
              <a:t>(); }</a:t>
            </a:r>
          </a:p>
          <a:p>
            <a:pPr marL="0" indent="0">
              <a:buNone/>
            </a:pPr>
            <a:r>
              <a:rPr lang="en-IN" sz="1400" b="1" dirty="0"/>
              <a:t>catch(</a:t>
            </a:r>
            <a:r>
              <a:rPr lang="en-IN" sz="1400" b="1" dirty="0" err="1"/>
              <a:t>ArrayIndexOutOfBoundsException</a:t>
            </a:r>
            <a:r>
              <a:rPr lang="en-IN" sz="1400" b="1" dirty="0"/>
              <a:t> e) {</a:t>
            </a:r>
          </a:p>
          <a:p>
            <a:pPr marL="0" indent="0">
              <a:buNone/>
            </a:pPr>
            <a:r>
              <a:rPr lang="en-IN" sz="1400" b="1" dirty="0"/>
              <a:t>flag=1;</a:t>
            </a:r>
          </a:p>
          <a:p>
            <a:pPr marL="0" indent="0">
              <a:buNone/>
            </a:pPr>
            <a:r>
              <a:rPr lang="en-IN" sz="1400" b="1" dirty="0" err="1"/>
              <a:t>System.out.println</a:t>
            </a:r>
            <a:r>
              <a:rPr lang="en-IN" sz="1400" b="1" dirty="0"/>
              <a:t>("Exception : "+ e); }</a:t>
            </a:r>
          </a:p>
          <a:p>
            <a:pPr marL="0" indent="0">
              <a:buNone/>
            </a:pPr>
            <a:r>
              <a:rPr lang="en-IN" sz="1400" b="1" dirty="0"/>
              <a:t>catch(</a:t>
            </a:r>
            <a:r>
              <a:rPr lang="en-IN" sz="1400" b="1" dirty="0" err="1"/>
              <a:t>NumberFormatException</a:t>
            </a:r>
            <a:r>
              <a:rPr lang="en-IN" sz="1400" b="1" dirty="0"/>
              <a:t> e) {</a:t>
            </a:r>
          </a:p>
          <a:p>
            <a:pPr marL="0" indent="0">
              <a:buNone/>
            </a:pPr>
            <a:r>
              <a:rPr lang="en-IN" sz="1400" b="1" dirty="0"/>
              <a:t>flag=1;</a:t>
            </a:r>
          </a:p>
          <a:p>
            <a:pPr marL="0" indent="0">
              <a:buNone/>
            </a:pPr>
            <a:r>
              <a:rPr lang="en-IN" sz="1400" b="1" dirty="0" err="1"/>
              <a:t>System.out.println</a:t>
            </a:r>
            <a:r>
              <a:rPr lang="en-IN" sz="1400" b="1" dirty="0"/>
              <a:t>("Exception : "+ e); }</a:t>
            </a:r>
          </a:p>
          <a:p>
            <a:pPr marL="0" indent="0">
              <a:buNone/>
            </a:pPr>
            <a:r>
              <a:rPr lang="en-IN" sz="1400" b="1" dirty="0"/>
              <a:t>catch (</a:t>
            </a:r>
            <a:r>
              <a:rPr lang="en-IN" sz="1400" b="1" dirty="0" err="1"/>
              <a:t>MyExceptionClass</a:t>
            </a:r>
            <a:r>
              <a:rPr lang="en-IN" sz="1400" b="1" dirty="0"/>
              <a:t> e) {</a:t>
            </a:r>
          </a:p>
          <a:p>
            <a:pPr marL="0" indent="0">
              <a:buNone/>
            </a:pPr>
            <a:r>
              <a:rPr lang="en-IN" sz="1400" b="1" dirty="0"/>
              <a:t>flag=1;</a:t>
            </a:r>
          </a:p>
          <a:p>
            <a:pPr marL="0" indent="0">
              <a:buNone/>
            </a:pPr>
            <a:r>
              <a:rPr lang="en-IN" sz="1400" b="1" dirty="0" err="1"/>
              <a:t>System.out.println</a:t>
            </a:r>
            <a:r>
              <a:rPr lang="en-IN" sz="1400" b="1" dirty="0"/>
              <a:t>("Exception : "+ e); }</a:t>
            </a:r>
          </a:p>
          <a:p>
            <a:pPr marL="0" indent="0">
              <a:buNone/>
            </a:pPr>
            <a:r>
              <a:rPr lang="en-IN" sz="1400" b="1" dirty="0"/>
              <a:t>if(flag==0)</a:t>
            </a:r>
          </a:p>
          <a:p>
            <a:pPr marL="0" indent="0">
              <a:buNone/>
            </a:pPr>
            <a:r>
              <a:rPr lang="en-US" sz="1400" b="1" dirty="0" err="1"/>
              <a:t>System.out.println</a:t>
            </a:r>
            <a:r>
              <a:rPr lang="en-US" sz="1400" b="1" dirty="0"/>
              <a:t>("Everything is </a:t>
            </a:r>
            <a:r>
              <a:rPr lang="en-IN" sz="1400" b="1" dirty="0"/>
              <a:t>fine");  } }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DF3C8AD-2B44-4ED6-8B0F-70E12034C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6160" y="305118"/>
            <a:ext cx="8207587" cy="62649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7" dirty="0"/>
              <a:t>User defined exception </a:t>
            </a:r>
            <a:r>
              <a:rPr dirty="0"/>
              <a:t>in</a:t>
            </a:r>
            <a:r>
              <a:rPr spc="-47" dirty="0"/>
              <a:t> </a:t>
            </a:r>
            <a:r>
              <a:rPr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562647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QUIZ: </a:t>
            </a:r>
            <a:endParaRPr lang="en-US" sz="28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433387" y="1454335"/>
            <a:ext cx="7575551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Ques :What will happen in this program </a:t>
            </a:r>
          </a:p>
          <a:p>
            <a:pPr>
              <a:buNone/>
            </a:pPr>
            <a:r>
              <a:rPr lang="en-US" sz="2800" dirty="0"/>
              <a:t>      A. </a:t>
            </a:r>
            <a:r>
              <a:rPr lang="en-US" sz="2800" dirty="0" err="1"/>
              <a:t>StackFlowoverError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      B. compile </a:t>
            </a:r>
            <a:r>
              <a:rPr lang="en-US" sz="2800" dirty="0" err="1"/>
              <a:t>timeError</a:t>
            </a:r>
            <a:br>
              <a:rPr lang="en-US" sz="2800" dirty="0"/>
            </a:br>
            <a:r>
              <a:rPr lang="en-US" sz="2800" dirty="0"/>
              <a:t>      C. </a:t>
            </a:r>
            <a:r>
              <a:rPr lang="en-US" sz="2800" dirty="0" err="1"/>
              <a:t>StackOverflowException</a:t>
            </a:r>
            <a:br>
              <a:rPr lang="en-US" sz="2800" dirty="0"/>
            </a:br>
            <a:r>
              <a:rPr lang="en-US" sz="2800" dirty="0"/>
              <a:t>      D. </a:t>
            </a:r>
            <a:r>
              <a:rPr lang="en-US" sz="2800" dirty="0" err="1"/>
              <a:t>StackOverflowError</a:t>
            </a:r>
            <a:endParaRPr lang="en-US" sz="2800" dirty="0"/>
          </a:p>
          <a:p>
            <a:endParaRPr lang="en-US" sz="2800" dirty="0"/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Summary: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665982" y="2141162"/>
            <a:ext cx="757555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session, you were able to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about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try, catch and finally keywords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the difference between throw and throws.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86046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References: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757422" y="2202122"/>
            <a:ext cx="7575551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Books: </a:t>
            </a:r>
            <a:endParaRPr lang="en-IN" dirty="0"/>
          </a:p>
          <a:p>
            <a:r>
              <a:rPr lang="en-IN" dirty="0"/>
              <a:t>1. </a:t>
            </a:r>
            <a:r>
              <a:rPr lang="en-IN" dirty="0" err="1"/>
              <a:t>Balaguruswamy</a:t>
            </a:r>
            <a:r>
              <a:rPr lang="en-IN" dirty="0"/>
              <a:t>, </a:t>
            </a:r>
            <a:r>
              <a:rPr lang="en-IN" i="1" dirty="0"/>
              <a:t>Java. </a:t>
            </a:r>
            <a:endParaRPr lang="en-IN" dirty="0"/>
          </a:p>
          <a:p>
            <a:r>
              <a:rPr lang="en-IN" dirty="0"/>
              <a:t>2. A Primer, </a:t>
            </a:r>
            <a:r>
              <a:rPr lang="en-IN" dirty="0" err="1"/>
              <a:t>E.Balaguruswamy</a:t>
            </a:r>
            <a:r>
              <a:rPr lang="en-IN" dirty="0"/>
              <a:t>, </a:t>
            </a:r>
            <a:r>
              <a:rPr lang="en-IN" i="1" dirty="0"/>
              <a:t>Programming with Java, </a:t>
            </a:r>
            <a:r>
              <a:rPr lang="en-IN" dirty="0"/>
              <a:t>Tata McGraw Hill Companies </a:t>
            </a:r>
          </a:p>
          <a:p>
            <a:r>
              <a:rPr lang="en-US" dirty="0"/>
              <a:t>3. John P. Flynt Thomson, </a:t>
            </a:r>
            <a:r>
              <a:rPr lang="en-US" i="1" dirty="0"/>
              <a:t>Java Programming. </a:t>
            </a:r>
            <a:endParaRPr lang="en-US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Lectures : </a:t>
            </a:r>
            <a:r>
              <a:rPr lang="en-US" dirty="0">
                <a:hlinkClick r:id="rId2"/>
              </a:rPr>
              <a:t>https://youtu.be/VIbZRUjh2d0?list=PLHuIqV4DwPicArdMjI2YI5Hu5c2TnMgvV</a:t>
            </a:r>
            <a:endParaRPr lang="en-US" dirty="0"/>
          </a:p>
          <a:p>
            <a:endParaRPr lang="en-US" dirty="0"/>
          </a:p>
          <a:p>
            <a:endParaRPr lang="en-US" sz="2400" dirty="0"/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069430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22054" y="94089"/>
            <a:ext cx="410563" cy="1538089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502234"/>
                </p:ext>
              </p:extLst>
            </p:nvPr>
          </p:nvGraphicFramePr>
          <p:xfrm>
            <a:off x="100850" y="246475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50" y="246475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417</TotalTime>
  <Words>1474</Words>
  <Application>Microsoft Office PowerPoint</Application>
  <PresentationFormat>Widescreen</PresentationFormat>
  <Paragraphs>157</Paragraphs>
  <Slides>20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Calibri</vt:lpstr>
      <vt:lpstr>Calibri Light</vt:lpstr>
      <vt:lpstr>Casper</vt:lpstr>
      <vt:lpstr>Karla</vt:lpstr>
      <vt:lpstr>Raleway ExtraBold</vt:lpstr>
      <vt:lpstr>Times New Roman</vt:lpstr>
      <vt:lpstr>Times New Roman</vt:lpstr>
      <vt:lpstr>verdana</vt:lpstr>
      <vt:lpstr>1_Office Theme</vt:lpstr>
      <vt:lpstr>Contents Slide Master</vt:lpstr>
      <vt:lpstr>CorelDRAW</vt:lpstr>
      <vt:lpstr>PowerPoint Presentation</vt:lpstr>
      <vt:lpstr>Lecture Objectives </vt:lpstr>
      <vt:lpstr>How Programmer handles an exception?</vt:lpstr>
      <vt:lpstr>Advantage of Exception Handling</vt:lpstr>
      <vt:lpstr>Exception handling- Try Catch in Java </vt:lpstr>
      <vt:lpstr>Exception handling- Try Catch in Java </vt:lpstr>
      <vt:lpstr>Exception handling- Try Catch in Java </vt:lpstr>
      <vt:lpstr>Exception handling- Try Catch in Java </vt:lpstr>
      <vt:lpstr>throws Keyword</vt:lpstr>
      <vt:lpstr>throw exception in java</vt:lpstr>
      <vt:lpstr>Difference : throw and throws</vt:lpstr>
      <vt:lpstr>finally keyword</vt:lpstr>
      <vt:lpstr>finally keyword</vt:lpstr>
      <vt:lpstr>Difference : final,finally,finalize</vt:lpstr>
      <vt:lpstr>User defined exception in java</vt:lpstr>
      <vt:lpstr>User defined exception in java</vt:lpstr>
      <vt:lpstr>QUIZ: </vt:lpstr>
      <vt:lpstr>Summary: </vt:lpstr>
      <vt:lpstr>References: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BHAVNEET KAUR</cp:lastModifiedBy>
  <cp:revision>102</cp:revision>
  <dcterms:created xsi:type="dcterms:W3CDTF">2019-01-09T10:33:58Z</dcterms:created>
  <dcterms:modified xsi:type="dcterms:W3CDTF">2024-12-23T08:48:54Z</dcterms:modified>
</cp:coreProperties>
</file>