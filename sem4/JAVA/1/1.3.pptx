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0"/>
  </p:notesMasterIdLst>
  <p:handoutMasterIdLst>
    <p:handoutMasterId r:id="rId31"/>
  </p:handoutMasterIdLst>
  <p:sldIdLst>
    <p:sldId id="287" r:id="rId3"/>
    <p:sldId id="281" r:id="rId4"/>
    <p:sldId id="414" r:id="rId5"/>
    <p:sldId id="415" r:id="rId6"/>
    <p:sldId id="442" r:id="rId7"/>
    <p:sldId id="448" r:id="rId8"/>
    <p:sldId id="416" r:id="rId9"/>
    <p:sldId id="449" r:id="rId10"/>
    <p:sldId id="436" r:id="rId11"/>
    <p:sldId id="437" r:id="rId12"/>
    <p:sldId id="438" r:id="rId13"/>
    <p:sldId id="439" r:id="rId14"/>
    <p:sldId id="445" r:id="rId15"/>
    <p:sldId id="446" r:id="rId16"/>
    <p:sldId id="420" r:id="rId17"/>
    <p:sldId id="421" r:id="rId18"/>
    <p:sldId id="422" r:id="rId19"/>
    <p:sldId id="424" r:id="rId20"/>
    <p:sldId id="425" r:id="rId21"/>
    <p:sldId id="427" r:id="rId22"/>
    <p:sldId id="447" r:id="rId23"/>
    <p:sldId id="428" r:id="rId24"/>
    <p:sldId id="426" r:id="rId25"/>
    <p:sldId id="450" r:id="rId26"/>
    <p:sldId id="429" r:id="rId27"/>
    <p:sldId id="409"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4660"/>
  </p:normalViewPr>
  <p:slideViewPr>
    <p:cSldViewPr snapToGrid="0">
      <p:cViewPr>
        <p:scale>
          <a:sx n="75" d="100"/>
          <a:sy n="75" d="100"/>
        </p:scale>
        <p:origin x="917"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1D1730-A21B-4A5A-B648-7902159527A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IN"/>
        </a:p>
      </dgm:t>
    </dgm:pt>
    <dgm:pt modelId="{CEF4A9CD-E1C5-47ED-9AF5-0FE3F102C018}">
      <dgm:prSet/>
      <dgm:spPr/>
      <dgm:t>
        <a:bodyPr/>
        <a:lstStyle/>
        <a:p>
          <a:r>
            <a:rPr lang="en-US" dirty="0"/>
            <a:t>Method overloading </a:t>
          </a:r>
          <a:r>
            <a:rPr lang="en-US" b="1" dirty="0"/>
            <a:t>increases the readability </a:t>
          </a:r>
          <a:r>
            <a:rPr lang="en-US" dirty="0"/>
            <a:t>of the program.</a:t>
          </a:r>
          <a:endParaRPr lang="en-IN" dirty="0"/>
        </a:p>
      </dgm:t>
    </dgm:pt>
    <dgm:pt modelId="{00BC7C7D-CDF1-4D99-B681-15A1C7F93847}" type="parTrans" cxnId="{B0A5F04F-889E-4269-B066-F1762C07523A}">
      <dgm:prSet/>
      <dgm:spPr/>
      <dgm:t>
        <a:bodyPr/>
        <a:lstStyle/>
        <a:p>
          <a:endParaRPr lang="en-IN"/>
        </a:p>
      </dgm:t>
    </dgm:pt>
    <dgm:pt modelId="{D7A336F9-F787-43E9-AC1B-A476872772E9}" type="sibTrans" cxnId="{B0A5F04F-889E-4269-B066-F1762C07523A}">
      <dgm:prSet/>
      <dgm:spPr/>
      <dgm:t>
        <a:bodyPr/>
        <a:lstStyle/>
        <a:p>
          <a:endParaRPr lang="en-IN"/>
        </a:p>
      </dgm:t>
    </dgm:pt>
    <dgm:pt modelId="{20D20F5A-3AC8-4CAB-A171-19048EC8FAB2}">
      <dgm:prSet/>
      <dgm:spPr/>
      <dgm:t>
        <a:bodyPr/>
        <a:lstStyle/>
        <a:p>
          <a:r>
            <a:rPr lang="en-US"/>
            <a:t>There are two ways to overload the method in java</a:t>
          </a:r>
          <a:endParaRPr lang="en-IN"/>
        </a:p>
      </dgm:t>
    </dgm:pt>
    <dgm:pt modelId="{902FF1B7-65D0-4631-A892-89FED6824BE6}" type="parTrans" cxnId="{C7EC7BE7-130B-4CD3-B4CD-F68F0D4913DF}">
      <dgm:prSet/>
      <dgm:spPr/>
      <dgm:t>
        <a:bodyPr/>
        <a:lstStyle/>
        <a:p>
          <a:endParaRPr lang="en-IN"/>
        </a:p>
      </dgm:t>
    </dgm:pt>
    <dgm:pt modelId="{567F9154-40CC-47C5-BE2C-8CDE5DEFEED7}" type="sibTrans" cxnId="{C7EC7BE7-130B-4CD3-B4CD-F68F0D4913DF}">
      <dgm:prSet/>
      <dgm:spPr/>
      <dgm:t>
        <a:bodyPr/>
        <a:lstStyle/>
        <a:p>
          <a:endParaRPr lang="en-IN"/>
        </a:p>
      </dgm:t>
    </dgm:pt>
    <dgm:pt modelId="{33252FC5-4D8B-4E43-A65D-E910ACFC0C46}">
      <dgm:prSet/>
      <dgm:spPr>
        <a:solidFill>
          <a:schemeClr val="accent2">
            <a:lumMod val="40000"/>
            <a:lumOff val="60000"/>
          </a:schemeClr>
        </a:solidFill>
      </dgm:spPr>
      <dgm:t>
        <a:bodyPr/>
        <a:lstStyle/>
        <a:p>
          <a:r>
            <a:rPr lang="en-US" b="1" dirty="0"/>
            <a:t>By changing number of arguments</a:t>
          </a:r>
          <a:endParaRPr lang="en-IN" b="1" dirty="0"/>
        </a:p>
      </dgm:t>
    </dgm:pt>
    <dgm:pt modelId="{DD2626FE-41BB-4B86-AFE6-4337FB0D60A6}" type="parTrans" cxnId="{7211F1C9-CDD1-4EA7-AD5F-3CFB3272B691}">
      <dgm:prSet/>
      <dgm:spPr/>
      <dgm:t>
        <a:bodyPr/>
        <a:lstStyle/>
        <a:p>
          <a:endParaRPr lang="en-IN"/>
        </a:p>
      </dgm:t>
    </dgm:pt>
    <dgm:pt modelId="{A874046D-370F-4DFE-AED3-6314D1CD24EA}" type="sibTrans" cxnId="{7211F1C9-CDD1-4EA7-AD5F-3CFB3272B691}">
      <dgm:prSet/>
      <dgm:spPr/>
      <dgm:t>
        <a:bodyPr/>
        <a:lstStyle/>
        <a:p>
          <a:endParaRPr lang="en-IN"/>
        </a:p>
      </dgm:t>
    </dgm:pt>
    <dgm:pt modelId="{B2557DD9-2BCF-4CF3-9EC2-436AEACCB4A0}">
      <dgm:prSet/>
      <dgm:spPr>
        <a:solidFill>
          <a:schemeClr val="accent2">
            <a:lumMod val="40000"/>
            <a:lumOff val="60000"/>
          </a:schemeClr>
        </a:solidFill>
      </dgm:spPr>
      <dgm:t>
        <a:bodyPr/>
        <a:lstStyle/>
        <a:p>
          <a:r>
            <a:rPr lang="en-US" b="1" dirty="0"/>
            <a:t>By changing the data type</a:t>
          </a:r>
          <a:endParaRPr lang="en-IN" b="1" dirty="0"/>
        </a:p>
      </dgm:t>
    </dgm:pt>
    <dgm:pt modelId="{7EC2650E-092E-4F23-84AE-18DC738D1BA1}" type="parTrans" cxnId="{2F01D92B-196C-4D32-AFE9-84E561CC96E1}">
      <dgm:prSet/>
      <dgm:spPr/>
      <dgm:t>
        <a:bodyPr/>
        <a:lstStyle/>
        <a:p>
          <a:endParaRPr lang="en-IN"/>
        </a:p>
      </dgm:t>
    </dgm:pt>
    <dgm:pt modelId="{E662F3D1-7B0E-42B1-980E-A59A29F4F9C4}" type="sibTrans" cxnId="{2F01D92B-196C-4D32-AFE9-84E561CC96E1}">
      <dgm:prSet/>
      <dgm:spPr/>
      <dgm:t>
        <a:bodyPr/>
        <a:lstStyle/>
        <a:p>
          <a:endParaRPr lang="en-IN"/>
        </a:p>
      </dgm:t>
    </dgm:pt>
    <dgm:pt modelId="{191302B3-211F-43BC-A4D5-9A15A9298FCE}">
      <dgm:prSet/>
      <dgm:spPr/>
      <dgm:t>
        <a:bodyPr/>
        <a:lstStyle/>
        <a:p>
          <a:r>
            <a:rPr lang="en-US" dirty="0"/>
            <a:t>In java, Method Overloading is not possible by changing the </a:t>
          </a:r>
          <a:r>
            <a:rPr lang="en-US" dirty="0" err="1"/>
            <a:t>returntype</a:t>
          </a:r>
          <a:r>
            <a:rPr lang="en-US" dirty="0"/>
            <a:t> of the method only.</a:t>
          </a:r>
          <a:endParaRPr lang="en-IN" dirty="0"/>
        </a:p>
      </dgm:t>
    </dgm:pt>
    <dgm:pt modelId="{E6D5F54C-7FF4-4AFB-A14A-5C552A0BE5F4}" type="parTrans" cxnId="{3F404B37-99FD-4E60-86D7-3BB10EC84FE8}">
      <dgm:prSet/>
      <dgm:spPr/>
      <dgm:t>
        <a:bodyPr/>
        <a:lstStyle/>
        <a:p>
          <a:endParaRPr lang="en-IN"/>
        </a:p>
      </dgm:t>
    </dgm:pt>
    <dgm:pt modelId="{FE82F37E-5963-4A8E-A23A-7343A4E55B22}" type="sibTrans" cxnId="{3F404B37-99FD-4E60-86D7-3BB10EC84FE8}">
      <dgm:prSet/>
      <dgm:spPr/>
      <dgm:t>
        <a:bodyPr/>
        <a:lstStyle/>
        <a:p>
          <a:endParaRPr lang="en-IN"/>
        </a:p>
      </dgm:t>
    </dgm:pt>
    <dgm:pt modelId="{EAA20514-5483-4047-ABD1-A5EAA89694BA}">
      <dgm:prSet/>
      <dgm:spPr/>
      <dgm:t>
        <a:bodyPr/>
        <a:lstStyle/>
        <a:p>
          <a:r>
            <a:rPr lang="en-US"/>
            <a:t>**</a:t>
          </a:r>
          <a:r>
            <a:rPr lang="en-US" b="1"/>
            <a:t>Can we overload main method???</a:t>
          </a:r>
          <a:endParaRPr lang="en-IN"/>
        </a:p>
      </dgm:t>
    </dgm:pt>
    <dgm:pt modelId="{28890E06-3558-4870-BB9F-09544B7709D7}" type="parTrans" cxnId="{BB42081B-0E38-47BE-8CE9-9C19C0E784BC}">
      <dgm:prSet/>
      <dgm:spPr/>
      <dgm:t>
        <a:bodyPr/>
        <a:lstStyle/>
        <a:p>
          <a:endParaRPr lang="en-IN"/>
        </a:p>
      </dgm:t>
    </dgm:pt>
    <dgm:pt modelId="{CADD86A6-ECCA-4712-855E-F6D71AFC6851}" type="sibTrans" cxnId="{BB42081B-0E38-47BE-8CE9-9C19C0E784BC}">
      <dgm:prSet/>
      <dgm:spPr/>
      <dgm:t>
        <a:bodyPr/>
        <a:lstStyle/>
        <a:p>
          <a:endParaRPr lang="en-IN"/>
        </a:p>
      </dgm:t>
    </dgm:pt>
    <dgm:pt modelId="{3A01993A-3B1F-4B28-99F0-92C81894B552}" type="pres">
      <dgm:prSet presAssocID="{081D1730-A21B-4A5A-B648-7902159527A8}" presName="linear" presStyleCnt="0">
        <dgm:presLayoutVars>
          <dgm:animLvl val="lvl"/>
          <dgm:resizeHandles val="exact"/>
        </dgm:presLayoutVars>
      </dgm:prSet>
      <dgm:spPr/>
    </dgm:pt>
    <dgm:pt modelId="{41EEC805-A036-475A-B5E5-0A29AA9C50EA}" type="pres">
      <dgm:prSet presAssocID="{CEF4A9CD-E1C5-47ED-9AF5-0FE3F102C018}" presName="parentText" presStyleLbl="node1" presStyleIdx="0" presStyleCnt="4">
        <dgm:presLayoutVars>
          <dgm:chMax val="0"/>
          <dgm:bulletEnabled val="1"/>
        </dgm:presLayoutVars>
      </dgm:prSet>
      <dgm:spPr/>
    </dgm:pt>
    <dgm:pt modelId="{9FFC40A5-F6AE-41C7-8DFE-74B777495425}" type="pres">
      <dgm:prSet presAssocID="{D7A336F9-F787-43E9-AC1B-A476872772E9}" presName="spacer" presStyleCnt="0"/>
      <dgm:spPr/>
    </dgm:pt>
    <dgm:pt modelId="{B5608B76-53EE-4FC9-B851-74F22FEF6DE4}" type="pres">
      <dgm:prSet presAssocID="{20D20F5A-3AC8-4CAB-A171-19048EC8FAB2}" presName="parentText" presStyleLbl="node1" presStyleIdx="1" presStyleCnt="4">
        <dgm:presLayoutVars>
          <dgm:chMax val="0"/>
          <dgm:bulletEnabled val="1"/>
        </dgm:presLayoutVars>
      </dgm:prSet>
      <dgm:spPr/>
    </dgm:pt>
    <dgm:pt modelId="{ADE7BC0E-C73B-433D-8F7E-A54E15B7F3E1}" type="pres">
      <dgm:prSet presAssocID="{20D20F5A-3AC8-4CAB-A171-19048EC8FAB2}" presName="childText" presStyleLbl="revTx" presStyleIdx="0" presStyleCnt="1">
        <dgm:presLayoutVars>
          <dgm:bulletEnabled val="1"/>
        </dgm:presLayoutVars>
      </dgm:prSet>
      <dgm:spPr/>
    </dgm:pt>
    <dgm:pt modelId="{C016CCCE-5CAC-4646-BDFB-5044EC6F0005}" type="pres">
      <dgm:prSet presAssocID="{191302B3-211F-43BC-A4D5-9A15A9298FCE}" presName="parentText" presStyleLbl="node1" presStyleIdx="2" presStyleCnt="4">
        <dgm:presLayoutVars>
          <dgm:chMax val="0"/>
          <dgm:bulletEnabled val="1"/>
        </dgm:presLayoutVars>
      </dgm:prSet>
      <dgm:spPr/>
    </dgm:pt>
    <dgm:pt modelId="{B79EF382-A615-4FA3-ACFC-6EE0FFBA7096}" type="pres">
      <dgm:prSet presAssocID="{FE82F37E-5963-4A8E-A23A-7343A4E55B22}" presName="spacer" presStyleCnt="0"/>
      <dgm:spPr/>
    </dgm:pt>
    <dgm:pt modelId="{2E465214-3E4F-48A6-85A9-8228264FC41D}" type="pres">
      <dgm:prSet presAssocID="{EAA20514-5483-4047-ABD1-A5EAA89694BA}" presName="parentText" presStyleLbl="node1" presStyleIdx="3" presStyleCnt="4">
        <dgm:presLayoutVars>
          <dgm:chMax val="0"/>
          <dgm:bulletEnabled val="1"/>
        </dgm:presLayoutVars>
      </dgm:prSet>
      <dgm:spPr/>
    </dgm:pt>
  </dgm:ptLst>
  <dgm:cxnLst>
    <dgm:cxn modelId="{6669C412-8D31-49CB-AA0D-93634FF0206B}" type="presOf" srcId="{191302B3-211F-43BC-A4D5-9A15A9298FCE}" destId="{C016CCCE-5CAC-4646-BDFB-5044EC6F0005}" srcOrd="0" destOrd="0" presId="urn:microsoft.com/office/officeart/2005/8/layout/vList2"/>
    <dgm:cxn modelId="{BB42081B-0E38-47BE-8CE9-9C19C0E784BC}" srcId="{081D1730-A21B-4A5A-B648-7902159527A8}" destId="{EAA20514-5483-4047-ABD1-A5EAA89694BA}" srcOrd="3" destOrd="0" parTransId="{28890E06-3558-4870-BB9F-09544B7709D7}" sibTransId="{CADD86A6-ECCA-4712-855E-F6D71AFC6851}"/>
    <dgm:cxn modelId="{64739723-3F38-4E31-B80B-09C247E5009E}" type="presOf" srcId="{CEF4A9CD-E1C5-47ED-9AF5-0FE3F102C018}" destId="{41EEC805-A036-475A-B5E5-0A29AA9C50EA}" srcOrd="0" destOrd="0" presId="urn:microsoft.com/office/officeart/2005/8/layout/vList2"/>
    <dgm:cxn modelId="{2F01D92B-196C-4D32-AFE9-84E561CC96E1}" srcId="{20D20F5A-3AC8-4CAB-A171-19048EC8FAB2}" destId="{B2557DD9-2BCF-4CF3-9EC2-436AEACCB4A0}" srcOrd="1" destOrd="0" parTransId="{7EC2650E-092E-4F23-84AE-18DC738D1BA1}" sibTransId="{E662F3D1-7B0E-42B1-980E-A59A29F4F9C4}"/>
    <dgm:cxn modelId="{0152C636-0A79-4661-9F0B-BE08CA3799B6}" type="presOf" srcId="{B2557DD9-2BCF-4CF3-9EC2-436AEACCB4A0}" destId="{ADE7BC0E-C73B-433D-8F7E-A54E15B7F3E1}" srcOrd="0" destOrd="1" presId="urn:microsoft.com/office/officeart/2005/8/layout/vList2"/>
    <dgm:cxn modelId="{3F404B37-99FD-4E60-86D7-3BB10EC84FE8}" srcId="{081D1730-A21B-4A5A-B648-7902159527A8}" destId="{191302B3-211F-43BC-A4D5-9A15A9298FCE}" srcOrd="2" destOrd="0" parTransId="{E6D5F54C-7FF4-4AFB-A14A-5C552A0BE5F4}" sibTransId="{FE82F37E-5963-4A8E-A23A-7343A4E55B22}"/>
    <dgm:cxn modelId="{6B63C53E-1A5F-4ACB-B5A5-C321D07B359A}" type="presOf" srcId="{081D1730-A21B-4A5A-B648-7902159527A8}" destId="{3A01993A-3B1F-4B28-99F0-92C81894B552}" srcOrd="0" destOrd="0" presId="urn:microsoft.com/office/officeart/2005/8/layout/vList2"/>
    <dgm:cxn modelId="{B0A5F04F-889E-4269-B066-F1762C07523A}" srcId="{081D1730-A21B-4A5A-B648-7902159527A8}" destId="{CEF4A9CD-E1C5-47ED-9AF5-0FE3F102C018}" srcOrd="0" destOrd="0" parTransId="{00BC7C7D-CDF1-4D99-B681-15A1C7F93847}" sibTransId="{D7A336F9-F787-43E9-AC1B-A476872772E9}"/>
    <dgm:cxn modelId="{498002C5-610F-4F45-B009-9E76F5BEBAFD}" type="presOf" srcId="{EAA20514-5483-4047-ABD1-A5EAA89694BA}" destId="{2E465214-3E4F-48A6-85A9-8228264FC41D}" srcOrd="0" destOrd="0" presId="urn:microsoft.com/office/officeart/2005/8/layout/vList2"/>
    <dgm:cxn modelId="{7211F1C9-CDD1-4EA7-AD5F-3CFB3272B691}" srcId="{20D20F5A-3AC8-4CAB-A171-19048EC8FAB2}" destId="{33252FC5-4D8B-4E43-A65D-E910ACFC0C46}" srcOrd="0" destOrd="0" parTransId="{DD2626FE-41BB-4B86-AFE6-4337FB0D60A6}" sibTransId="{A874046D-370F-4DFE-AED3-6314D1CD24EA}"/>
    <dgm:cxn modelId="{4FB985CF-53D0-4A99-8B88-39B8931BD1E5}" type="presOf" srcId="{33252FC5-4D8B-4E43-A65D-E910ACFC0C46}" destId="{ADE7BC0E-C73B-433D-8F7E-A54E15B7F3E1}" srcOrd="0" destOrd="0" presId="urn:microsoft.com/office/officeart/2005/8/layout/vList2"/>
    <dgm:cxn modelId="{BA4143D4-A693-4435-9740-4C86257A255A}" type="presOf" srcId="{20D20F5A-3AC8-4CAB-A171-19048EC8FAB2}" destId="{B5608B76-53EE-4FC9-B851-74F22FEF6DE4}" srcOrd="0" destOrd="0" presId="urn:microsoft.com/office/officeart/2005/8/layout/vList2"/>
    <dgm:cxn modelId="{C7EC7BE7-130B-4CD3-B4CD-F68F0D4913DF}" srcId="{081D1730-A21B-4A5A-B648-7902159527A8}" destId="{20D20F5A-3AC8-4CAB-A171-19048EC8FAB2}" srcOrd="1" destOrd="0" parTransId="{902FF1B7-65D0-4631-A892-89FED6824BE6}" sibTransId="{567F9154-40CC-47C5-BE2C-8CDE5DEFEED7}"/>
    <dgm:cxn modelId="{EBA81DAC-F2BC-437C-9836-ABEC3EE2D833}" type="presParOf" srcId="{3A01993A-3B1F-4B28-99F0-92C81894B552}" destId="{41EEC805-A036-475A-B5E5-0A29AA9C50EA}" srcOrd="0" destOrd="0" presId="urn:microsoft.com/office/officeart/2005/8/layout/vList2"/>
    <dgm:cxn modelId="{A6FAA32D-643D-42B5-8ACF-8F88A26DCC64}" type="presParOf" srcId="{3A01993A-3B1F-4B28-99F0-92C81894B552}" destId="{9FFC40A5-F6AE-41C7-8DFE-74B777495425}" srcOrd="1" destOrd="0" presId="urn:microsoft.com/office/officeart/2005/8/layout/vList2"/>
    <dgm:cxn modelId="{7687B6EC-F7B2-4024-B655-B4AAA4C35672}" type="presParOf" srcId="{3A01993A-3B1F-4B28-99F0-92C81894B552}" destId="{B5608B76-53EE-4FC9-B851-74F22FEF6DE4}" srcOrd="2" destOrd="0" presId="urn:microsoft.com/office/officeart/2005/8/layout/vList2"/>
    <dgm:cxn modelId="{34714616-389C-4707-A9EA-883EC176446E}" type="presParOf" srcId="{3A01993A-3B1F-4B28-99F0-92C81894B552}" destId="{ADE7BC0E-C73B-433D-8F7E-A54E15B7F3E1}" srcOrd="3" destOrd="0" presId="urn:microsoft.com/office/officeart/2005/8/layout/vList2"/>
    <dgm:cxn modelId="{67A48D5C-0872-4939-B5C0-5D6BE67FA16D}" type="presParOf" srcId="{3A01993A-3B1F-4B28-99F0-92C81894B552}" destId="{C016CCCE-5CAC-4646-BDFB-5044EC6F0005}" srcOrd="4" destOrd="0" presId="urn:microsoft.com/office/officeart/2005/8/layout/vList2"/>
    <dgm:cxn modelId="{12FB5DB6-C8D8-4ABA-B895-D793D1E92F3C}" type="presParOf" srcId="{3A01993A-3B1F-4B28-99F0-92C81894B552}" destId="{B79EF382-A615-4FA3-ACFC-6EE0FFBA7096}" srcOrd="5" destOrd="0" presId="urn:microsoft.com/office/officeart/2005/8/layout/vList2"/>
    <dgm:cxn modelId="{5E82C410-5F19-4404-95B6-938FC3C88DE1}" type="presParOf" srcId="{3A01993A-3B1F-4B28-99F0-92C81894B552}" destId="{2E465214-3E4F-48A6-85A9-8228264FC41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D64776-0D21-4DA0-A26B-287284BC21CD}" type="doc">
      <dgm:prSet loTypeId="urn:microsoft.com/office/officeart/2005/8/layout/hProcess9" loCatId="process" qsTypeId="urn:microsoft.com/office/officeart/2005/8/quickstyle/3d2" qsCatId="3D" csTypeId="urn:microsoft.com/office/officeart/2005/8/colors/accent2_2" csCatId="accent2" phldr="1"/>
      <dgm:spPr/>
      <dgm:t>
        <a:bodyPr/>
        <a:lstStyle/>
        <a:p>
          <a:endParaRPr lang="en-IN"/>
        </a:p>
      </dgm:t>
    </dgm:pt>
    <dgm:pt modelId="{36888A04-ECD5-4F0D-A079-AE5835A8E0F9}">
      <dgm:prSet/>
      <dgm:spPr/>
      <dgm:t>
        <a:bodyPr/>
        <a:lstStyle/>
        <a:p>
          <a:r>
            <a:rPr lang="en-US" b="1" dirty="0"/>
            <a:t>Private: The access level of a private modifier is only within the class. It cannot be accessed from outside the class.</a:t>
          </a:r>
          <a:endParaRPr lang="en-IN" b="1" dirty="0"/>
        </a:p>
      </dgm:t>
    </dgm:pt>
    <dgm:pt modelId="{3C477785-B5F4-4CA1-96C0-F1BBDE267933}" type="parTrans" cxnId="{56B03A4E-E125-4FBF-AB02-03BB72279135}">
      <dgm:prSet/>
      <dgm:spPr/>
      <dgm:t>
        <a:bodyPr/>
        <a:lstStyle/>
        <a:p>
          <a:endParaRPr lang="en-IN"/>
        </a:p>
      </dgm:t>
    </dgm:pt>
    <dgm:pt modelId="{799FEECD-8DAD-4418-817B-327CD6CABF99}" type="sibTrans" cxnId="{56B03A4E-E125-4FBF-AB02-03BB72279135}">
      <dgm:prSet/>
      <dgm:spPr/>
      <dgm:t>
        <a:bodyPr/>
        <a:lstStyle/>
        <a:p>
          <a:endParaRPr lang="en-IN"/>
        </a:p>
      </dgm:t>
    </dgm:pt>
    <dgm:pt modelId="{E3A507CD-79BE-47C0-8A16-C1168009F007}">
      <dgm:prSet/>
      <dgm:spPr/>
      <dgm:t>
        <a:bodyPr/>
        <a:lstStyle/>
        <a:p>
          <a:r>
            <a:rPr lang="en-US" b="1"/>
            <a:t>Default: The access level of a default modifier is only within the package. It cannot be accessed from outside the package. If you do not specify any access level, it will be the default.</a:t>
          </a:r>
          <a:endParaRPr lang="en-IN" b="1"/>
        </a:p>
      </dgm:t>
    </dgm:pt>
    <dgm:pt modelId="{974FEA65-DF71-4567-AA52-0D803D4F141C}" type="parTrans" cxnId="{F8135240-CAAF-497C-A4A7-45C4672891CD}">
      <dgm:prSet/>
      <dgm:spPr/>
      <dgm:t>
        <a:bodyPr/>
        <a:lstStyle/>
        <a:p>
          <a:endParaRPr lang="en-IN"/>
        </a:p>
      </dgm:t>
    </dgm:pt>
    <dgm:pt modelId="{F38615DB-A439-4DE0-BCBF-E1F4F92B2839}" type="sibTrans" cxnId="{F8135240-CAAF-497C-A4A7-45C4672891CD}">
      <dgm:prSet/>
      <dgm:spPr/>
      <dgm:t>
        <a:bodyPr/>
        <a:lstStyle/>
        <a:p>
          <a:endParaRPr lang="en-IN"/>
        </a:p>
      </dgm:t>
    </dgm:pt>
    <dgm:pt modelId="{E4B2E8D6-19B8-4454-9704-9726F52CB9D0}">
      <dgm:prSet/>
      <dgm:spPr/>
      <dgm:t>
        <a:bodyPr/>
        <a:lstStyle/>
        <a:p>
          <a:r>
            <a:rPr lang="en-US" b="1"/>
            <a:t>Protected: The access level of a protected modifier is within the package and outside the package through child class. If you do not make the child class, it cannot be accessed from outside the package.</a:t>
          </a:r>
          <a:endParaRPr lang="en-IN" b="1"/>
        </a:p>
      </dgm:t>
    </dgm:pt>
    <dgm:pt modelId="{B193BE5A-517F-47F2-95EE-857F54B2F993}" type="parTrans" cxnId="{ADDE6433-0EA1-4BC8-9154-8506E91E1947}">
      <dgm:prSet/>
      <dgm:spPr/>
      <dgm:t>
        <a:bodyPr/>
        <a:lstStyle/>
        <a:p>
          <a:endParaRPr lang="en-IN"/>
        </a:p>
      </dgm:t>
    </dgm:pt>
    <dgm:pt modelId="{ED4CBEFE-AA4D-474A-AE6F-0740566A278E}" type="sibTrans" cxnId="{ADDE6433-0EA1-4BC8-9154-8506E91E1947}">
      <dgm:prSet/>
      <dgm:spPr/>
      <dgm:t>
        <a:bodyPr/>
        <a:lstStyle/>
        <a:p>
          <a:endParaRPr lang="en-IN"/>
        </a:p>
      </dgm:t>
    </dgm:pt>
    <dgm:pt modelId="{707DAE7C-410E-4A2B-B648-F76ECA668313}">
      <dgm:prSet/>
      <dgm:spPr/>
      <dgm:t>
        <a:bodyPr/>
        <a:lstStyle/>
        <a:p>
          <a:r>
            <a:rPr lang="en-US" b="1"/>
            <a:t>Public: The access level of a public modifier is everywhere. It can be accessed from within the class, outside the class, within the package and outside the package.</a:t>
          </a:r>
          <a:endParaRPr lang="en-IN" b="1"/>
        </a:p>
      </dgm:t>
    </dgm:pt>
    <dgm:pt modelId="{D7862417-CF37-4248-8D58-D1080B1F6A67}" type="parTrans" cxnId="{3AD3CCDD-F01A-4513-88D5-A0235FEB9F64}">
      <dgm:prSet/>
      <dgm:spPr/>
      <dgm:t>
        <a:bodyPr/>
        <a:lstStyle/>
        <a:p>
          <a:endParaRPr lang="en-IN"/>
        </a:p>
      </dgm:t>
    </dgm:pt>
    <dgm:pt modelId="{B7DE4159-C0DB-4571-87CF-D87F6DE3E530}" type="sibTrans" cxnId="{3AD3CCDD-F01A-4513-88D5-A0235FEB9F64}">
      <dgm:prSet/>
      <dgm:spPr/>
      <dgm:t>
        <a:bodyPr/>
        <a:lstStyle/>
        <a:p>
          <a:endParaRPr lang="en-IN"/>
        </a:p>
      </dgm:t>
    </dgm:pt>
    <dgm:pt modelId="{69D93AE2-04B0-4676-9627-216FE079A22F}" type="pres">
      <dgm:prSet presAssocID="{37D64776-0D21-4DA0-A26B-287284BC21CD}" presName="CompostProcess" presStyleCnt="0">
        <dgm:presLayoutVars>
          <dgm:dir/>
          <dgm:resizeHandles val="exact"/>
        </dgm:presLayoutVars>
      </dgm:prSet>
      <dgm:spPr/>
    </dgm:pt>
    <dgm:pt modelId="{F6455A99-1306-43D7-8CD4-1D5C3CE72E97}" type="pres">
      <dgm:prSet presAssocID="{37D64776-0D21-4DA0-A26B-287284BC21CD}" presName="arrow" presStyleLbl="bgShp" presStyleIdx="0" presStyleCnt="1"/>
      <dgm:spPr/>
    </dgm:pt>
    <dgm:pt modelId="{576C23CE-80CC-435F-9FB6-A4BEB77DFA34}" type="pres">
      <dgm:prSet presAssocID="{37D64776-0D21-4DA0-A26B-287284BC21CD}" presName="linearProcess" presStyleCnt="0"/>
      <dgm:spPr/>
    </dgm:pt>
    <dgm:pt modelId="{0E79B77F-1C2D-4C74-88E7-26C7249B5776}" type="pres">
      <dgm:prSet presAssocID="{36888A04-ECD5-4F0D-A079-AE5835A8E0F9}" presName="textNode" presStyleLbl="node1" presStyleIdx="0" presStyleCnt="4">
        <dgm:presLayoutVars>
          <dgm:bulletEnabled val="1"/>
        </dgm:presLayoutVars>
      </dgm:prSet>
      <dgm:spPr/>
    </dgm:pt>
    <dgm:pt modelId="{447C6403-780D-46F1-8483-9D0DA494699E}" type="pres">
      <dgm:prSet presAssocID="{799FEECD-8DAD-4418-817B-327CD6CABF99}" presName="sibTrans" presStyleCnt="0"/>
      <dgm:spPr/>
    </dgm:pt>
    <dgm:pt modelId="{329A4A81-14AA-45D8-86D0-39D69F566945}" type="pres">
      <dgm:prSet presAssocID="{E3A507CD-79BE-47C0-8A16-C1168009F007}" presName="textNode" presStyleLbl="node1" presStyleIdx="1" presStyleCnt="4">
        <dgm:presLayoutVars>
          <dgm:bulletEnabled val="1"/>
        </dgm:presLayoutVars>
      </dgm:prSet>
      <dgm:spPr/>
    </dgm:pt>
    <dgm:pt modelId="{00F0B5DC-8A12-4505-B8BC-BBA39A344D84}" type="pres">
      <dgm:prSet presAssocID="{F38615DB-A439-4DE0-BCBF-E1F4F92B2839}" presName="sibTrans" presStyleCnt="0"/>
      <dgm:spPr/>
    </dgm:pt>
    <dgm:pt modelId="{D00A02B6-A536-473C-987E-1F7EDA62A742}" type="pres">
      <dgm:prSet presAssocID="{E4B2E8D6-19B8-4454-9704-9726F52CB9D0}" presName="textNode" presStyleLbl="node1" presStyleIdx="2" presStyleCnt="4">
        <dgm:presLayoutVars>
          <dgm:bulletEnabled val="1"/>
        </dgm:presLayoutVars>
      </dgm:prSet>
      <dgm:spPr/>
    </dgm:pt>
    <dgm:pt modelId="{16E27708-882D-474F-B754-E4D53B84C434}" type="pres">
      <dgm:prSet presAssocID="{ED4CBEFE-AA4D-474A-AE6F-0740566A278E}" presName="sibTrans" presStyleCnt="0"/>
      <dgm:spPr/>
    </dgm:pt>
    <dgm:pt modelId="{2A80D573-AE9B-4496-A82B-A963C2D27909}" type="pres">
      <dgm:prSet presAssocID="{707DAE7C-410E-4A2B-B648-F76ECA668313}" presName="textNode" presStyleLbl="node1" presStyleIdx="3" presStyleCnt="4">
        <dgm:presLayoutVars>
          <dgm:bulletEnabled val="1"/>
        </dgm:presLayoutVars>
      </dgm:prSet>
      <dgm:spPr/>
    </dgm:pt>
  </dgm:ptLst>
  <dgm:cxnLst>
    <dgm:cxn modelId="{E35D282B-C53E-47FC-B17E-8E2567A19CAC}" type="presOf" srcId="{707DAE7C-410E-4A2B-B648-F76ECA668313}" destId="{2A80D573-AE9B-4496-A82B-A963C2D27909}" srcOrd="0" destOrd="0" presId="urn:microsoft.com/office/officeart/2005/8/layout/hProcess9"/>
    <dgm:cxn modelId="{ADDE6433-0EA1-4BC8-9154-8506E91E1947}" srcId="{37D64776-0D21-4DA0-A26B-287284BC21CD}" destId="{E4B2E8D6-19B8-4454-9704-9726F52CB9D0}" srcOrd="2" destOrd="0" parTransId="{B193BE5A-517F-47F2-95EE-857F54B2F993}" sibTransId="{ED4CBEFE-AA4D-474A-AE6F-0740566A278E}"/>
    <dgm:cxn modelId="{8FF89F3D-2323-41C1-835A-925A572F4BF0}" type="presOf" srcId="{36888A04-ECD5-4F0D-A079-AE5835A8E0F9}" destId="{0E79B77F-1C2D-4C74-88E7-26C7249B5776}" srcOrd="0" destOrd="0" presId="urn:microsoft.com/office/officeart/2005/8/layout/hProcess9"/>
    <dgm:cxn modelId="{F8135240-CAAF-497C-A4A7-45C4672891CD}" srcId="{37D64776-0D21-4DA0-A26B-287284BC21CD}" destId="{E3A507CD-79BE-47C0-8A16-C1168009F007}" srcOrd="1" destOrd="0" parTransId="{974FEA65-DF71-4567-AA52-0D803D4F141C}" sibTransId="{F38615DB-A439-4DE0-BCBF-E1F4F92B2839}"/>
    <dgm:cxn modelId="{56B03A4E-E125-4FBF-AB02-03BB72279135}" srcId="{37D64776-0D21-4DA0-A26B-287284BC21CD}" destId="{36888A04-ECD5-4F0D-A079-AE5835A8E0F9}" srcOrd="0" destOrd="0" parTransId="{3C477785-B5F4-4CA1-96C0-F1BBDE267933}" sibTransId="{799FEECD-8DAD-4418-817B-327CD6CABF99}"/>
    <dgm:cxn modelId="{4E4D9257-2055-46C3-B2E3-7685DA1185D1}" type="presOf" srcId="{E3A507CD-79BE-47C0-8A16-C1168009F007}" destId="{329A4A81-14AA-45D8-86D0-39D69F566945}" srcOrd="0" destOrd="0" presId="urn:microsoft.com/office/officeart/2005/8/layout/hProcess9"/>
    <dgm:cxn modelId="{D9B52C86-A2FB-4E37-9C83-6697904FAAFF}" type="presOf" srcId="{E4B2E8D6-19B8-4454-9704-9726F52CB9D0}" destId="{D00A02B6-A536-473C-987E-1F7EDA62A742}" srcOrd="0" destOrd="0" presId="urn:microsoft.com/office/officeart/2005/8/layout/hProcess9"/>
    <dgm:cxn modelId="{FBB1DDD9-958E-4CFB-99A2-09FB32707FBA}" type="presOf" srcId="{37D64776-0D21-4DA0-A26B-287284BC21CD}" destId="{69D93AE2-04B0-4676-9627-216FE079A22F}" srcOrd="0" destOrd="0" presId="urn:microsoft.com/office/officeart/2005/8/layout/hProcess9"/>
    <dgm:cxn modelId="{3AD3CCDD-F01A-4513-88D5-A0235FEB9F64}" srcId="{37D64776-0D21-4DA0-A26B-287284BC21CD}" destId="{707DAE7C-410E-4A2B-B648-F76ECA668313}" srcOrd="3" destOrd="0" parTransId="{D7862417-CF37-4248-8D58-D1080B1F6A67}" sibTransId="{B7DE4159-C0DB-4571-87CF-D87F6DE3E530}"/>
    <dgm:cxn modelId="{9D445B00-2AC5-4065-AC2D-8EFF3E991B31}" type="presParOf" srcId="{69D93AE2-04B0-4676-9627-216FE079A22F}" destId="{F6455A99-1306-43D7-8CD4-1D5C3CE72E97}" srcOrd="0" destOrd="0" presId="urn:microsoft.com/office/officeart/2005/8/layout/hProcess9"/>
    <dgm:cxn modelId="{BB642F8F-F72A-4CFD-AD36-57839E2CEF86}" type="presParOf" srcId="{69D93AE2-04B0-4676-9627-216FE079A22F}" destId="{576C23CE-80CC-435F-9FB6-A4BEB77DFA34}" srcOrd="1" destOrd="0" presId="urn:microsoft.com/office/officeart/2005/8/layout/hProcess9"/>
    <dgm:cxn modelId="{C611705F-9E61-4830-B5E8-D2C5EA44787F}" type="presParOf" srcId="{576C23CE-80CC-435F-9FB6-A4BEB77DFA34}" destId="{0E79B77F-1C2D-4C74-88E7-26C7249B5776}" srcOrd="0" destOrd="0" presId="urn:microsoft.com/office/officeart/2005/8/layout/hProcess9"/>
    <dgm:cxn modelId="{4391D241-F2BB-4340-9D2D-200B31ACF968}" type="presParOf" srcId="{576C23CE-80CC-435F-9FB6-A4BEB77DFA34}" destId="{447C6403-780D-46F1-8483-9D0DA494699E}" srcOrd="1" destOrd="0" presId="urn:microsoft.com/office/officeart/2005/8/layout/hProcess9"/>
    <dgm:cxn modelId="{9D3566F4-3F30-4C24-971A-2497C7415049}" type="presParOf" srcId="{576C23CE-80CC-435F-9FB6-A4BEB77DFA34}" destId="{329A4A81-14AA-45D8-86D0-39D69F566945}" srcOrd="2" destOrd="0" presId="urn:microsoft.com/office/officeart/2005/8/layout/hProcess9"/>
    <dgm:cxn modelId="{A8A1D8C8-9E98-44EA-8F8F-175B2B1FE0E0}" type="presParOf" srcId="{576C23CE-80CC-435F-9FB6-A4BEB77DFA34}" destId="{00F0B5DC-8A12-4505-B8BC-BBA39A344D84}" srcOrd="3" destOrd="0" presId="urn:microsoft.com/office/officeart/2005/8/layout/hProcess9"/>
    <dgm:cxn modelId="{BD965246-5A61-4640-8B9E-9A0CEDBDACEC}" type="presParOf" srcId="{576C23CE-80CC-435F-9FB6-A4BEB77DFA34}" destId="{D00A02B6-A536-473C-987E-1F7EDA62A742}" srcOrd="4" destOrd="0" presId="urn:microsoft.com/office/officeart/2005/8/layout/hProcess9"/>
    <dgm:cxn modelId="{F6DCB471-B413-41EA-9F85-7A9B7D879D18}" type="presParOf" srcId="{576C23CE-80CC-435F-9FB6-A4BEB77DFA34}" destId="{16E27708-882D-474F-B754-E4D53B84C434}" srcOrd="5" destOrd="0" presId="urn:microsoft.com/office/officeart/2005/8/layout/hProcess9"/>
    <dgm:cxn modelId="{79242D16-F8DE-4F39-9E34-DDBACDB93138}" type="presParOf" srcId="{576C23CE-80CC-435F-9FB6-A4BEB77DFA34}" destId="{2A80D573-AE9B-4496-A82B-A963C2D27909}"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EC805-A036-475A-B5E5-0A29AA9C50EA}">
      <dsp:nvSpPr>
        <dsp:cNvPr id="0" name=""/>
        <dsp:cNvSpPr/>
      </dsp:nvSpPr>
      <dsp:spPr>
        <a:xfrm>
          <a:off x="0" y="23111"/>
          <a:ext cx="12192000" cy="111230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Method overloading </a:t>
          </a:r>
          <a:r>
            <a:rPr lang="en-US" sz="2800" b="1" kern="1200" dirty="0"/>
            <a:t>increases the readability </a:t>
          </a:r>
          <a:r>
            <a:rPr lang="en-US" sz="2800" kern="1200" dirty="0"/>
            <a:t>of the program.</a:t>
          </a:r>
          <a:endParaRPr lang="en-IN" sz="2800" kern="1200" dirty="0"/>
        </a:p>
      </dsp:txBody>
      <dsp:txXfrm>
        <a:off x="54298" y="77409"/>
        <a:ext cx="12083404" cy="1003708"/>
      </dsp:txXfrm>
    </dsp:sp>
    <dsp:sp modelId="{B5608B76-53EE-4FC9-B851-74F22FEF6DE4}">
      <dsp:nvSpPr>
        <dsp:cNvPr id="0" name=""/>
        <dsp:cNvSpPr/>
      </dsp:nvSpPr>
      <dsp:spPr>
        <a:xfrm>
          <a:off x="0" y="1216055"/>
          <a:ext cx="12192000" cy="1112304"/>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There are two ways to overload the method in java</a:t>
          </a:r>
          <a:endParaRPr lang="en-IN" sz="2800" kern="1200"/>
        </a:p>
      </dsp:txBody>
      <dsp:txXfrm>
        <a:off x="54298" y="1270353"/>
        <a:ext cx="12083404" cy="1003708"/>
      </dsp:txXfrm>
    </dsp:sp>
    <dsp:sp modelId="{ADE7BC0E-C73B-433D-8F7E-A54E15B7F3E1}">
      <dsp:nvSpPr>
        <dsp:cNvPr id="0" name=""/>
        <dsp:cNvSpPr/>
      </dsp:nvSpPr>
      <dsp:spPr>
        <a:xfrm>
          <a:off x="0" y="2328360"/>
          <a:ext cx="12192000" cy="753480"/>
        </a:xfrm>
        <a:prstGeom prst="rect">
          <a:avLst/>
        </a:prstGeom>
        <a:solidFill>
          <a:schemeClr val="accent2">
            <a:lumMod val="40000"/>
            <a:lumOff val="6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387096"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b="1" kern="1200" dirty="0"/>
            <a:t>By changing number of arguments</a:t>
          </a:r>
          <a:endParaRPr lang="en-IN" sz="2200" b="1" kern="1200" dirty="0"/>
        </a:p>
        <a:p>
          <a:pPr marL="228600" lvl="1" indent="-228600" algn="l" defTabSz="977900">
            <a:lnSpc>
              <a:spcPct val="90000"/>
            </a:lnSpc>
            <a:spcBef>
              <a:spcPct val="0"/>
            </a:spcBef>
            <a:spcAft>
              <a:spcPct val="20000"/>
            </a:spcAft>
            <a:buChar char="•"/>
          </a:pPr>
          <a:r>
            <a:rPr lang="en-US" sz="2200" b="1" kern="1200" dirty="0"/>
            <a:t>By changing the data type</a:t>
          </a:r>
          <a:endParaRPr lang="en-IN" sz="2200" b="1" kern="1200" dirty="0"/>
        </a:p>
      </dsp:txBody>
      <dsp:txXfrm>
        <a:off x="0" y="2328360"/>
        <a:ext cx="12192000" cy="753480"/>
      </dsp:txXfrm>
    </dsp:sp>
    <dsp:sp modelId="{C016CCCE-5CAC-4646-BDFB-5044EC6F0005}">
      <dsp:nvSpPr>
        <dsp:cNvPr id="0" name=""/>
        <dsp:cNvSpPr/>
      </dsp:nvSpPr>
      <dsp:spPr>
        <a:xfrm>
          <a:off x="0" y="3081840"/>
          <a:ext cx="12192000" cy="1112304"/>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In java, Method Overloading is not possible by changing the </a:t>
          </a:r>
          <a:r>
            <a:rPr lang="en-US" sz="2800" kern="1200" dirty="0" err="1"/>
            <a:t>returntype</a:t>
          </a:r>
          <a:r>
            <a:rPr lang="en-US" sz="2800" kern="1200" dirty="0"/>
            <a:t> of the method only.</a:t>
          </a:r>
          <a:endParaRPr lang="en-IN" sz="2800" kern="1200" dirty="0"/>
        </a:p>
      </dsp:txBody>
      <dsp:txXfrm>
        <a:off x="54298" y="3136138"/>
        <a:ext cx="12083404" cy="1003708"/>
      </dsp:txXfrm>
    </dsp:sp>
    <dsp:sp modelId="{2E465214-3E4F-48A6-85A9-8228264FC41D}">
      <dsp:nvSpPr>
        <dsp:cNvPr id="0" name=""/>
        <dsp:cNvSpPr/>
      </dsp:nvSpPr>
      <dsp:spPr>
        <a:xfrm>
          <a:off x="0" y="4274784"/>
          <a:ext cx="12192000" cy="1112304"/>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t>
          </a:r>
          <a:r>
            <a:rPr lang="en-US" sz="2800" b="1" kern="1200"/>
            <a:t>Can we overload main method???</a:t>
          </a:r>
          <a:endParaRPr lang="en-IN" sz="2800" kern="1200"/>
        </a:p>
      </dsp:txBody>
      <dsp:txXfrm>
        <a:off x="54298" y="4329082"/>
        <a:ext cx="12083404" cy="10037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455A99-1306-43D7-8CD4-1D5C3CE72E97}">
      <dsp:nvSpPr>
        <dsp:cNvPr id="0" name=""/>
        <dsp:cNvSpPr/>
      </dsp:nvSpPr>
      <dsp:spPr>
        <a:xfrm>
          <a:off x="833869" y="0"/>
          <a:ext cx="9450518" cy="4410880"/>
        </a:xfrm>
        <a:prstGeom prst="rightArrow">
          <a:avLst/>
        </a:prstGeom>
        <a:gradFill rotWithShape="0">
          <a:gsLst>
            <a:gs pos="0">
              <a:schemeClr val="accent2">
                <a:tint val="40000"/>
                <a:hueOff val="0"/>
                <a:satOff val="0"/>
                <a:lumOff val="0"/>
                <a:alphaOff val="0"/>
                <a:satMod val="103000"/>
                <a:lumMod val="102000"/>
                <a:tint val="94000"/>
              </a:schemeClr>
            </a:gs>
            <a:gs pos="50000">
              <a:schemeClr val="accent2">
                <a:tint val="40000"/>
                <a:hueOff val="0"/>
                <a:satOff val="0"/>
                <a:lumOff val="0"/>
                <a:alphaOff val="0"/>
                <a:satMod val="110000"/>
                <a:lumMod val="100000"/>
                <a:shade val="100000"/>
              </a:schemeClr>
            </a:gs>
            <a:gs pos="100000">
              <a:schemeClr val="accent2">
                <a:tint val="4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0E79B77F-1C2D-4C74-88E7-26C7249B5776}">
      <dsp:nvSpPr>
        <dsp:cNvPr id="0" name=""/>
        <dsp:cNvSpPr/>
      </dsp:nvSpPr>
      <dsp:spPr>
        <a:xfrm>
          <a:off x="5564" y="1323264"/>
          <a:ext cx="2676416" cy="176435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Private: The access level of a private modifier is only within the class. It cannot be accessed from outside the class.</a:t>
          </a:r>
          <a:endParaRPr lang="en-IN" sz="1500" b="1" kern="1200" dirty="0"/>
        </a:p>
      </dsp:txBody>
      <dsp:txXfrm>
        <a:off x="91693" y="1409393"/>
        <a:ext cx="2504158" cy="1592094"/>
      </dsp:txXfrm>
    </dsp:sp>
    <dsp:sp modelId="{329A4A81-14AA-45D8-86D0-39D69F566945}">
      <dsp:nvSpPr>
        <dsp:cNvPr id="0" name=""/>
        <dsp:cNvSpPr/>
      </dsp:nvSpPr>
      <dsp:spPr>
        <a:xfrm>
          <a:off x="2815801" y="1323264"/>
          <a:ext cx="2676416" cy="176435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Default: The access level of a default modifier is only within the package. It cannot be accessed from outside the package. If you do not specify any access level, it will be the default.</a:t>
          </a:r>
          <a:endParaRPr lang="en-IN" sz="1500" b="1" kern="1200"/>
        </a:p>
      </dsp:txBody>
      <dsp:txXfrm>
        <a:off x="2901930" y="1409393"/>
        <a:ext cx="2504158" cy="1592094"/>
      </dsp:txXfrm>
    </dsp:sp>
    <dsp:sp modelId="{D00A02B6-A536-473C-987E-1F7EDA62A742}">
      <dsp:nvSpPr>
        <dsp:cNvPr id="0" name=""/>
        <dsp:cNvSpPr/>
      </dsp:nvSpPr>
      <dsp:spPr>
        <a:xfrm>
          <a:off x="5626038" y="1323264"/>
          <a:ext cx="2676416" cy="176435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Protected: The access level of a protected modifier is within the package and outside the package through child class. If you do not make the child class, it cannot be accessed from outside the package.</a:t>
          </a:r>
          <a:endParaRPr lang="en-IN" sz="1500" b="1" kern="1200"/>
        </a:p>
      </dsp:txBody>
      <dsp:txXfrm>
        <a:off x="5712167" y="1409393"/>
        <a:ext cx="2504158" cy="1592094"/>
      </dsp:txXfrm>
    </dsp:sp>
    <dsp:sp modelId="{2A80D573-AE9B-4496-A82B-A963C2D27909}">
      <dsp:nvSpPr>
        <dsp:cNvPr id="0" name=""/>
        <dsp:cNvSpPr/>
      </dsp:nvSpPr>
      <dsp:spPr>
        <a:xfrm>
          <a:off x="8436276" y="1323264"/>
          <a:ext cx="2676416" cy="176435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a:t>Public: The access level of a public modifier is everywhere. It can be accessed from within the class, outside the class, within the package and outside the package.</a:t>
          </a:r>
          <a:endParaRPr lang="en-IN" sz="1500" b="1" kern="1200"/>
        </a:p>
      </dsp:txBody>
      <dsp:txXfrm>
        <a:off x="8522405" y="1409393"/>
        <a:ext cx="2504158" cy="15920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12/17/2024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dirty="0"/>
          </a:p>
        </p:txBody>
      </p:sp>
    </p:spTree>
    <p:extLst>
      <p:ext uri="{BB962C8B-B14F-4D97-AF65-F5344CB8AC3E}">
        <p14:creationId xmlns:p14="http://schemas.microsoft.com/office/powerpoint/2010/main" val="1971782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3906831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3406990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3847199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12/17/2024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7GwptabrYyk&amp;t=45s" TargetMode="External"/><Relationship Id="rId2" Type="http://schemas.openxmlformats.org/officeDocument/2006/relationships/hyperlink" Target="https://www.youtube.com/watch?v=-HafzawNlUo"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36"/>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29085"/>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p:cNvSpPr txBox="1">
            <a:spLocks noChangeArrowheads="1"/>
          </p:cNvSpPr>
          <p:nvPr/>
        </p:nvSpPr>
        <p:spPr bwMode="auto">
          <a:xfrm>
            <a:off x="2127857" y="2051945"/>
            <a:ext cx="906331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6130217A-54DE-A20F-6033-C6A8640058E8}"/>
              </a:ext>
            </a:extLst>
          </p:cNvPr>
          <p:cNvSpPr/>
          <p:nvPr/>
        </p:nvSpPr>
        <p:spPr>
          <a:xfrm>
            <a:off x="-4420" y="543367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456D3508-4C0C-7691-EC7F-3E880FF2DB7F}"/>
              </a:ext>
            </a:extLst>
          </p:cNvPr>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Slide Number Placeholder 2">
            <a:extLst>
              <a:ext uri="{FF2B5EF4-FFF2-40B4-BE49-F238E27FC236}">
                <a16:creationId xmlns:a16="http://schemas.microsoft.com/office/drawing/2014/main" id="{288B7611-1B6B-4DF9-3109-0CA4D89A33B6}"/>
              </a:ext>
            </a:extLst>
          </p:cNvPr>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 name="Right Triangle 22">
            <a:extLst>
              <a:ext uri="{FF2B5EF4-FFF2-40B4-BE49-F238E27FC236}">
                <a16:creationId xmlns:a16="http://schemas.microsoft.com/office/drawing/2014/main" id="{25F51B4A-C54D-7588-4F20-389DDABD5176}"/>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24" name="Object 23">
            <a:extLst>
              <a:ext uri="{FF2B5EF4-FFF2-40B4-BE49-F238E27FC236}">
                <a16:creationId xmlns:a16="http://schemas.microsoft.com/office/drawing/2014/main" id="{529EE021-DA79-A23E-8BB3-375E37F92DEF}"/>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6" imgW="2169000" imgH="2169360" progId="">
                  <p:embed/>
                </p:oleObj>
              </mc:Choice>
              <mc:Fallback>
                <p:oleObj name="CorelDRAW" r:id="rId6"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ight Triangle 24">
            <a:extLst>
              <a:ext uri="{FF2B5EF4-FFF2-40B4-BE49-F238E27FC236}">
                <a16:creationId xmlns:a16="http://schemas.microsoft.com/office/drawing/2014/main" id="{5E548254-B716-CCA4-DF36-BA401FD9028C}"/>
              </a:ext>
            </a:extLst>
          </p:cNvPr>
          <p:cNvSpPr/>
          <p:nvPr/>
        </p:nvSpPr>
        <p:spPr>
          <a:xfrm flipH="1">
            <a:off x="7530662" y="5128705"/>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27" name="Rectangle 26">
            <a:extLst>
              <a:ext uri="{FF2B5EF4-FFF2-40B4-BE49-F238E27FC236}">
                <a16:creationId xmlns:a16="http://schemas.microsoft.com/office/drawing/2014/main" id="{92D29299-54A1-CB42-2785-7E53B6D73CD7}"/>
              </a:ext>
            </a:extLst>
          </p:cNvPr>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7">
            <a:extLst>
              <a:ext uri="{FF2B5EF4-FFF2-40B4-BE49-F238E27FC236}">
                <a16:creationId xmlns:a16="http://schemas.microsoft.com/office/drawing/2014/main" id="{E691ACB2-9B84-C1A5-0FF4-FED2810A30BF}"/>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29" name="Right Triangle 28">
            <a:extLst>
              <a:ext uri="{FF2B5EF4-FFF2-40B4-BE49-F238E27FC236}">
                <a16:creationId xmlns:a16="http://schemas.microsoft.com/office/drawing/2014/main" id="{2EE65A47-8078-7091-DB56-A3D2DF4A689F}"/>
              </a:ext>
            </a:extLst>
          </p:cNvPr>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84742A38-1290-A998-3360-8C17CB065F05}"/>
              </a:ext>
            </a:extLst>
          </p:cNvPr>
          <p:cNvSpPr txBox="1">
            <a:spLocks noChangeArrowheads="1"/>
          </p:cNvSpPr>
          <p:nvPr/>
        </p:nvSpPr>
        <p:spPr bwMode="auto">
          <a:xfrm>
            <a:off x="6881359" y="6029085"/>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34" name="Rectangle 33">
            <a:extLst>
              <a:ext uri="{FF2B5EF4-FFF2-40B4-BE49-F238E27FC236}">
                <a16:creationId xmlns:a16="http://schemas.microsoft.com/office/drawing/2014/main" id="{DD933697-B5B9-9061-CE49-C9F17B0881DE}"/>
              </a:ext>
            </a:extLst>
          </p:cNvPr>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293956AB-2A5F-9E55-7273-6840E1F6FD54}"/>
              </a:ext>
            </a:extLst>
          </p:cNvPr>
          <p:cNvSpPr txBox="1">
            <a:spLocks noChangeArrowheads="1"/>
          </p:cNvSpPr>
          <p:nvPr/>
        </p:nvSpPr>
        <p:spPr bwMode="auto">
          <a:xfrm>
            <a:off x="1941980" y="735788"/>
            <a:ext cx="8788843" cy="585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anose="02020603050405020304" pitchFamily="18" charset="0"/>
                <a:ea typeface="Karla" pitchFamily="2" charset="0"/>
                <a:cs typeface="Times New Roman" panose="02020603050405020304" pitchFamily="18" charset="0"/>
              </a:rPr>
              <a:t>INSTITUTE : UIE</a:t>
            </a:r>
          </a:p>
          <a:p>
            <a:pPr lvl="0" algn="ctr" defTabSz="622300">
              <a:lnSpc>
                <a:spcPct val="90000"/>
              </a:lnSpc>
              <a:spcBef>
                <a:spcPct val="0"/>
              </a:spcBef>
              <a:spcAft>
                <a:spcPct val="35000"/>
              </a:spcAft>
            </a:pPr>
            <a:r>
              <a:rPr lang="en-US" sz="2800" b="1" dirty="0">
                <a:latin typeface="Times New Roman" panose="02020603050405020304" pitchFamily="18" charset="0"/>
                <a:ea typeface="Karla" pitchFamily="2" charset="0"/>
                <a:cs typeface="Times New Roman" panose="02020603050405020304" pitchFamily="18"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algn="ctr"/>
            <a:endParaRPr lang="en-IN" sz="2800" b="0" i="0" u="none" strike="noStrike" baseline="0" dirty="0">
              <a:solidFill>
                <a:srgbClr val="000000"/>
              </a:solidFill>
              <a:latin typeface="Times New Roman" panose="02020603050405020304" pitchFamily="18" charset="0"/>
              <a:cs typeface="Times New Roman" panose="02020603050405020304" pitchFamily="18" charset="0"/>
            </a:endParaRPr>
          </a:p>
          <a:p>
            <a:pPr algn="ctr"/>
            <a:r>
              <a:rPr lang="en-US" sz="2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Object Oriented Programming using Java</a:t>
            </a:r>
          </a:p>
          <a:p>
            <a:pPr algn="ctr"/>
            <a:r>
              <a:rPr lang="en-US" sz="2800" b="1"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b="1" dirty="0">
                <a:solidFill>
                  <a:prstClr val="black">
                    <a:lumMod val="85000"/>
                    <a:lumOff val="15000"/>
                  </a:prstClr>
                </a:solidFill>
                <a:latin typeface="Times New Roman" panose="02020603050405020304" pitchFamily="18" charset="0"/>
                <a:cs typeface="Times New Roman" panose="02020603050405020304" pitchFamily="18" charset="0"/>
              </a:rPr>
              <a:t>(</a:t>
            </a:r>
            <a:r>
              <a:rPr lang="en-IN" sz="2800" b="1" i="0" u="none" strike="noStrike" baseline="0" dirty="0">
                <a:solidFill>
                  <a:srgbClr val="000000"/>
                </a:solidFill>
                <a:latin typeface="Times New Roman" panose="02020603050405020304" pitchFamily="18" charset="0"/>
                <a:cs typeface="Times New Roman" panose="02020603050405020304" pitchFamily="18" charset="0"/>
              </a:rPr>
              <a:t>23CSP-202 </a:t>
            </a:r>
            <a:r>
              <a:rPr lang="en-US" sz="2800" b="1" dirty="0">
                <a:solidFill>
                  <a:prstClr val="black">
                    <a:lumMod val="85000"/>
                    <a:lumOff val="15000"/>
                  </a:prstClr>
                </a:solidFill>
                <a:latin typeface="Times New Roman" panose="02020603050405020304" pitchFamily="18" charset="0"/>
                <a:cs typeface="Times New Roman" panose="02020603050405020304" pitchFamily="18" charset="0"/>
              </a:rPr>
              <a:t>)</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just"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r>
              <a:rPr lang="en-US" dirty="0">
                <a:solidFill>
                  <a:prstClr val="black">
                    <a:lumMod val="85000"/>
                    <a:lumOff val="15000"/>
                  </a:prstClr>
                </a:solidFill>
                <a:latin typeface="Times New Roman" panose="02020603050405020304" pitchFamily="18" charset="0"/>
                <a:cs typeface="Times New Roman" panose="02020603050405020304" pitchFamily="18" charset="0"/>
              </a:rPr>
              <a:t>									</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3E21645B-1B38-2C5A-692E-33798EC7CB42}"/>
              </a:ext>
            </a:extLst>
          </p:cNvPr>
          <p:cNvSpPr txBox="1">
            <a:spLocks noChangeArrowheads="1"/>
          </p:cNvSpPr>
          <p:nvPr/>
        </p:nvSpPr>
        <p:spPr bwMode="auto">
          <a:xfrm>
            <a:off x="3732294" y="4269276"/>
            <a:ext cx="4868754"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dirty="0">
                <a:solidFill>
                  <a:prstClr val="black">
                    <a:lumMod val="85000"/>
                    <a:lumOff val="15000"/>
                  </a:prstClr>
                </a:solidFill>
                <a:latin typeface="Times New Roman" panose="02020603050405020304" pitchFamily="18" charset="0"/>
                <a:cs typeface="Times New Roman" panose="02020603050405020304" pitchFamily="18" charset="0"/>
              </a:rPr>
              <a:t>TOPIC OF PRESENTATION:</a:t>
            </a:r>
          </a:p>
          <a:p>
            <a:pPr algn="ctr" defTabSz="622300">
              <a:lnSpc>
                <a:spcPct val="90000"/>
              </a:lnSpc>
              <a:spcBef>
                <a:spcPct val="0"/>
              </a:spcBef>
              <a:spcAft>
                <a:spcPct val="35000"/>
              </a:spcAft>
            </a:pPr>
            <a:r>
              <a:rPr lang="en-US" sz="2400" dirty="0">
                <a:latin typeface="Times New Roman" panose="02020603050405020304" pitchFamily="18" charset="0"/>
                <a:cs typeface="Times New Roman" panose="02020603050405020304" pitchFamily="18" charset="0"/>
              </a:rPr>
              <a:t>Java Fundamentals</a:t>
            </a:r>
          </a:p>
          <a:p>
            <a:pPr lvl="0" algn="ctr" defTabSz="622300">
              <a:lnSpc>
                <a:spcPct val="90000"/>
              </a:lnSpc>
              <a:spcBef>
                <a:spcPct val="0"/>
              </a:spcBef>
              <a:spcAft>
                <a:spcPct val="35000"/>
              </a:spcAft>
            </a:pPr>
            <a:endParaRPr lang="en-US" sz="2400"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39" name="TextBox 38">
            <a:extLst>
              <a:ext uri="{FF2B5EF4-FFF2-40B4-BE49-F238E27FC236}">
                <a16:creationId xmlns:a16="http://schemas.microsoft.com/office/drawing/2014/main" id="{D17C3244-D6B9-F016-676E-43FCC562EC06}"/>
              </a:ext>
            </a:extLst>
          </p:cNvPr>
          <p:cNvSpPr txBox="1"/>
          <p:nvPr/>
        </p:nvSpPr>
        <p:spPr>
          <a:xfrm>
            <a:off x="9610395" y="4790596"/>
            <a:ext cx="2098844" cy="1186479"/>
          </a:xfrm>
          <a:prstGeom prst="rect">
            <a:avLst/>
          </a:prstGeom>
          <a:noFill/>
        </p:spPr>
        <p:txBody>
          <a:bodyPr wrap="square" rtlCol="0">
            <a:spAutoFit/>
          </a:bodyPr>
          <a:lstStyle/>
          <a:p>
            <a:pPr lvl="0" defTabSz="622300">
              <a:lnSpc>
                <a:spcPct val="90000"/>
              </a:lnSpc>
              <a:spcBef>
                <a:spcPct val="0"/>
              </a:spcBef>
              <a:spcAft>
                <a:spcPct val="35000"/>
              </a:spcAft>
            </a:pPr>
            <a:r>
              <a:rPr lang="en-US" dirty="0">
                <a:solidFill>
                  <a:prstClr val="black">
                    <a:lumMod val="85000"/>
                    <a:lumOff val="15000"/>
                  </a:prstClr>
                </a:solidFill>
                <a:latin typeface="Times New Roman" panose="02020603050405020304" pitchFamily="18" charset="0"/>
                <a:cs typeface="Times New Roman" panose="02020603050405020304" pitchFamily="18" charset="0"/>
              </a:rPr>
              <a:t>Prepared by: Bhavneet Kaur</a:t>
            </a:r>
          </a:p>
          <a:p>
            <a:pPr lvl="0" defTabSz="622300">
              <a:lnSpc>
                <a:spcPct val="90000"/>
              </a:lnSpc>
              <a:spcBef>
                <a:spcPct val="0"/>
              </a:spcBef>
              <a:spcAft>
                <a:spcPct val="35000"/>
              </a:spcAft>
            </a:pPr>
            <a:r>
              <a:rPr lang="en-US" dirty="0">
                <a:solidFill>
                  <a:prstClr val="black">
                    <a:lumMod val="85000"/>
                    <a:lumOff val="15000"/>
                  </a:prstClr>
                </a:solidFill>
                <a:latin typeface="Times New Roman" panose="02020603050405020304" pitchFamily="18" charset="0"/>
                <a:cs typeface="Times New Roman" panose="02020603050405020304" pitchFamily="18" charset="0"/>
              </a:rPr>
              <a:t>Master Subject Coordinator</a:t>
            </a:r>
          </a:p>
        </p:txBody>
      </p:sp>
      <p:sp>
        <p:nvSpPr>
          <p:cNvPr id="40" name="Title 3">
            <a:extLst>
              <a:ext uri="{FF2B5EF4-FFF2-40B4-BE49-F238E27FC236}">
                <a16:creationId xmlns:a16="http://schemas.microsoft.com/office/drawing/2014/main" id="{FCE0B5C8-8050-F656-E354-82BB9AA65DC8}"/>
              </a:ext>
            </a:extLst>
          </p:cNvPr>
          <p:cNvSpPr>
            <a:spLocks noGrp="1"/>
          </p:cNvSpPr>
          <p:nvPr>
            <p:ph type="title"/>
          </p:nvPr>
        </p:nvSpPr>
        <p:spPr>
          <a:xfrm>
            <a:off x="838200" y="365125"/>
            <a:ext cx="10515600" cy="1325563"/>
          </a:xfrm>
        </p:spPr>
        <p:txBody>
          <a:bodyPr/>
          <a:lstStyle/>
          <a:p>
            <a:endParaRPr lang="en-IN" dirty="0"/>
          </a:p>
        </p:txBody>
      </p:sp>
      <p:sp>
        <p:nvSpPr>
          <p:cNvPr id="41" name="Content Placeholder 4">
            <a:extLst>
              <a:ext uri="{FF2B5EF4-FFF2-40B4-BE49-F238E27FC236}">
                <a16:creationId xmlns:a16="http://schemas.microsoft.com/office/drawing/2014/main" id="{CB3A663A-E365-9D73-1317-EE2E09713682}"/>
              </a:ext>
            </a:extLst>
          </p:cNvPr>
          <p:cNvSpPr>
            <a:spLocks noGrp="1"/>
          </p:cNvSpPr>
          <p:nvPr>
            <p:ph idx="1"/>
          </p:nvPr>
        </p:nvSpPr>
        <p:spPr>
          <a:xfrm>
            <a:off x="804456" y="1904308"/>
            <a:ext cx="10515600" cy="4351338"/>
          </a:xfrm>
        </p:spPr>
        <p:txBody>
          <a:bodyPr/>
          <a:lstStyle/>
          <a:p>
            <a:endParaRPr lang="en-IN" dirty="0"/>
          </a:p>
        </p:txBody>
      </p:sp>
    </p:spTree>
    <p:extLst>
      <p:ext uri="{BB962C8B-B14F-4D97-AF65-F5344CB8AC3E}">
        <p14:creationId xmlns:p14="http://schemas.microsoft.com/office/powerpoint/2010/main" val="991794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49263" y="1840230"/>
            <a:ext cx="4322762" cy="4516120"/>
          </a:xfrm>
        </p:spPr>
        <p:txBody>
          <a:bodyPr>
            <a:normAutofit/>
          </a:bodyPr>
          <a:lstStyle/>
          <a:p>
            <a:endParaRPr lang="en-IN" dirty="0"/>
          </a:p>
          <a:p>
            <a:r>
              <a:rPr lang="en-US" sz="2400" dirty="0">
                <a:latin typeface="Times New Roman" panose="02020603050405020304" pitchFamily="18" charset="0"/>
                <a:cs typeface="Times New Roman" panose="02020603050405020304" pitchFamily="18" charset="0"/>
              </a:rPr>
              <a:t>In this lecture, we will discuss: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About classes and objects, Encapsulation / Abstraction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About inheritance and polymorphism.</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700722" y="501650"/>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t>Lecture Objectives</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449262" y="1611630"/>
            <a:ext cx="4322762" cy="47447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80FB9F60-C0EA-46DF-90E1-77B6313A89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405890"/>
            <a:ext cx="4305300" cy="4503420"/>
          </a:xfrm>
          <a:prstGeom prst="rect">
            <a:avLst/>
          </a:prstGeom>
        </p:spPr>
      </p:pic>
    </p:spTree>
    <p:extLst>
      <p:ext uri="{BB962C8B-B14F-4D97-AF65-F5344CB8AC3E}">
        <p14:creationId xmlns:p14="http://schemas.microsoft.com/office/powerpoint/2010/main" val="693801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402204" y="243840"/>
            <a:ext cx="8616315" cy="720725"/>
          </a:xfrm>
        </p:spPr>
        <p:txBody>
          <a:bodyPr>
            <a:normAutofit/>
          </a:bodyPr>
          <a:lstStyle/>
          <a:p>
            <a:pPr algn="ctr"/>
            <a:r>
              <a:rPr lang="en-US" b="1" dirty="0"/>
              <a:t>Classes</a:t>
            </a:r>
          </a:p>
        </p:txBody>
      </p:sp>
      <p:sp>
        <p:nvSpPr>
          <p:cNvPr id="123907" name="Rectangle 3"/>
          <p:cNvSpPr>
            <a:spLocks noGrp="1" noChangeArrowheads="1"/>
          </p:cNvSpPr>
          <p:nvPr>
            <p:ph type="body" idx="1"/>
          </p:nvPr>
        </p:nvSpPr>
        <p:spPr>
          <a:xfrm>
            <a:off x="0" y="1447800"/>
            <a:ext cx="12192000" cy="5410200"/>
          </a:xfrm>
        </p:spPr>
        <p:txBody>
          <a:bodyPr>
            <a:normAutofit/>
          </a:bodyPr>
          <a:lstStyle/>
          <a:p>
            <a:pPr marL="0" indent="0">
              <a:buNone/>
            </a:pPr>
            <a:r>
              <a:rPr lang="en-US" sz="2600" dirty="0"/>
              <a:t>A class contains variable declarations and method definitions. It provides a sort of template for an object  that serves to define its properties. </a:t>
            </a:r>
          </a:p>
          <a:p>
            <a:pPr marL="0" indent="0">
              <a:buNone/>
            </a:pPr>
            <a:endParaRPr lang="en-US" sz="2600" dirty="0"/>
          </a:p>
        </p:txBody>
      </p:sp>
      <p:pic>
        <p:nvPicPr>
          <p:cNvPr id="4" name="Picture 2"/>
          <p:cNvPicPr>
            <a:picLocks noChangeAspect="1" noChangeArrowheads="1"/>
          </p:cNvPicPr>
          <p:nvPr/>
        </p:nvPicPr>
        <p:blipFill>
          <a:blip r:embed="rId2" cstate="print"/>
          <a:srcRect/>
          <a:stretch>
            <a:fillRect/>
          </a:stretch>
        </p:blipFill>
        <p:spPr bwMode="auto">
          <a:xfrm>
            <a:off x="899160" y="2969591"/>
            <a:ext cx="9535160" cy="2995117"/>
          </a:xfrm>
          <a:prstGeom prst="rect">
            <a:avLst/>
          </a:prstGeom>
          <a:noFill/>
          <a:ln w="9525">
            <a:noFill/>
            <a:miter lim="800000"/>
            <a:headEnd/>
            <a:tailEnd/>
          </a:ln>
        </p:spPr>
      </p:pic>
    </p:spTree>
    <p:extLst>
      <p:ext uri="{BB962C8B-B14F-4D97-AF65-F5344CB8AC3E}">
        <p14:creationId xmlns:p14="http://schemas.microsoft.com/office/powerpoint/2010/main" val="262397053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676525" y="169068"/>
            <a:ext cx="7924800" cy="932657"/>
          </a:xfrm>
        </p:spPr>
        <p:txBody>
          <a:bodyPr>
            <a:normAutofit/>
          </a:bodyPr>
          <a:lstStyle/>
          <a:p>
            <a:pPr algn="ctr"/>
            <a:r>
              <a:rPr lang="en-US" b="1" dirty="0"/>
              <a:t>Object</a:t>
            </a:r>
          </a:p>
        </p:txBody>
      </p:sp>
      <p:sp>
        <p:nvSpPr>
          <p:cNvPr id="2" name="Rectangle 1"/>
          <p:cNvSpPr/>
          <p:nvPr/>
        </p:nvSpPr>
        <p:spPr>
          <a:xfrm>
            <a:off x="746760" y="1264146"/>
            <a:ext cx="10485120" cy="4893647"/>
          </a:xfrm>
          <a:prstGeom prst="rect">
            <a:avLst/>
          </a:prstGeom>
        </p:spPr>
        <p:txBody>
          <a:bodyPr wrap="square">
            <a:spAutoFit/>
          </a:bodyPr>
          <a:lstStyle/>
          <a:p>
            <a:pPr marL="342900" indent="-342900">
              <a:buFont typeface="Arial" pitchFamily="34" charset="0"/>
              <a:buChar char="•"/>
            </a:pPr>
            <a:r>
              <a:rPr lang="en-US" sz="2400" dirty="0"/>
              <a:t>An entity that has state and behavior is known as an object e.g., chair, bike, marker, pen, table, car, etc. It can be physical or logical (tangible and intangible). The example of an intangible object is the banking system.</a:t>
            </a:r>
          </a:p>
          <a:p>
            <a:pPr marL="342900" indent="-342900">
              <a:buFont typeface="Arial" pitchFamily="34" charset="0"/>
              <a:buChar char="•"/>
            </a:pPr>
            <a:r>
              <a:rPr lang="en-US" sz="2400" dirty="0"/>
              <a:t>An object has three characteristics:</a:t>
            </a:r>
          </a:p>
          <a:p>
            <a:pPr marL="457200" indent="-457200">
              <a:buFont typeface="+mj-lt"/>
              <a:buAutoNum type="alphaLcParenR"/>
            </a:pPr>
            <a:r>
              <a:rPr lang="en-US" sz="2400" dirty="0"/>
              <a:t>State: represents the data (value) of an object.</a:t>
            </a:r>
          </a:p>
          <a:p>
            <a:pPr marL="457200" indent="-457200">
              <a:buFont typeface="+mj-lt"/>
              <a:buAutoNum type="alphaLcParenR"/>
            </a:pPr>
            <a:r>
              <a:rPr lang="en-US" sz="2400" dirty="0"/>
              <a:t>Behavior: represents the behavior (functionality) of an object such as deposit, withdraw, etc.</a:t>
            </a:r>
          </a:p>
          <a:p>
            <a:pPr marL="457200" indent="-457200">
              <a:buFont typeface="+mj-lt"/>
              <a:buAutoNum type="alphaLcParenR"/>
            </a:pPr>
            <a:r>
              <a:rPr lang="en-US" sz="2400" dirty="0"/>
              <a:t>Identity: An object identity is typically implemented via a unique ID. The value of the ID is not visible to the external user. However, it is used internally by the JVM to identify each object uniquely.</a:t>
            </a:r>
          </a:p>
          <a:p>
            <a:br>
              <a:rPr lang="en-US" sz="2400" dirty="0"/>
            </a:br>
            <a:endParaRPr lang="en-US" sz="2400" dirty="0"/>
          </a:p>
          <a:p>
            <a:endParaRPr lang="en-US" sz="2400" dirty="0"/>
          </a:p>
        </p:txBody>
      </p:sp>
    </p:spTree>
    <p:extLst>
      <p:ext uri="{BB962C8B-B14F-4D97-AF65-F5344CB8AC3E}">
        <p14:creationId xmlns:p14="http://schemas.microsoft.com/office/powerpoint/2010/main" val="304597750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676525" y="169068"/>
            <a:ext cx="7924800" cy="932657"/>
          </a:xfrm>
        </p:spPr>
        <p:txBody>
          <a:bodyPr>
            <a:normAutofit/>
          </a:bodyPr>
          <a:lstStyle/>
          <a:p>
            <a:pPr algn="ctr"/>
            <a:r>
              <a:rPr lang="en-US" b="1" dirty="0"/>
              <a:t>Object</a:t>
            </a:r>
          </a:p>
        </p:txBody>
      </p:sp>
      <p:sp>
        <p:nvSpPr>
          <p:cNvPr id="2" name="Rectangle 1"/>
          <p:cNvSpPr/>
          <p:nvPr/>
        </p:nvSpPr>
        <p:spPr>
          <a:xfrm>
            <a:off x="746760" y="1264146"/>
            <a:ext cx="10485120" cy="3416320"/>
          </a:xfrm>
          <a:prstGeom prst="rect">
            <a:avLst/>
          </a:prstGeom>
        </p:spPr>
        <p:txBody>
          <a:bodyPr wrap="square">
            <a:spAutoFit/>
          </a:bodyPr>
          <a:lstStyle/>
          <a:p>
            <a:r>
              <a:rPr lang="en-US" sz="2400" b="1" dirty="0"/>
              <a:t>How do objects communicate in Java?</a:t>
            </a:r>
          </a:p>
          <a:p>
            <a:endParaRPr lang="en-US" sz="2400" b="1" dirty="0"/>
          </a:p>
          <a:p>
            <a:r>
              <a:rPr lang="en-US" sz="2400" dirty="0"/>
              <a:t>Select the one correct answer.</a:t>
            </a:r>
          </a:p>
          <a:p>
            <a:r>
              <a:rPr lang="en-US" sz="2400" dirty="0"/>
              <a:t>(a) They communicate by modifying each other’s fields.</a:t>
            </a:r>
          </a:p>
          <a:p>
            <a:r>
              <a:rPr lang="en-US" sz="2400" dirty="0"/>
              <a:t>(b) They communicate by modifying the static variables of each other’s classes.</a:t>
            </a:r>
          </a:p>
          <a:p>
            <a:r>
              <a:rPr lang="en-US" sz="2400" dirty="0"/>
              <a:t>(c) They communicate by calling each other’s instance methods.</a:t>
            </a:r>
          </a:p>
          <a:p>
            <a:r>
              <a:rPr lang="en-US" sz="2400" dirty="0"/>
              <a:t>(d) They communicate by calling static methods of each other’s classes.</a:t>
            </a:r>
            <a:br>
              <a:rPr lang="en-US" sz="2400" dirty="0"/>
            </a:br>
            <a:endParaRPr lang="en-US" sz="2400" dirty="0"/>
          </a:p>
          <a:p>
            <a:endParaRPr lang="en-US" sz="2400" dirty="0"/>
          </a:p>
        </p:txBody>
      </p:sp>
      <p:pic>
        <p:nvPicPr>
          <p:cNvPr id="2050" name="Picture 2" descr="❓ Red Question Mark Emoji — Meaning ...">
            <a:extLst>
              <a:ext uri="{FF2B5EF4-FFF2-40B4-BE49-F238E27FC236}">
                <a16:creationId xmlns:a16="http://schemas.microsoft.com/office/drawing/2014/main" id="{9BDA5C8B-DD08-64D3-8829-2AF50B5AB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4716" y="249010"/>
            <a:ext cx="3897621" cy="20302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30AFFAB-9DD7-EA4A-B361-68627A69D864}"/>
              </a:ext>
            </a:extLst>
          </p:cNvPr>
          <p:cNvSpPr txBox="1"/>
          <p:nvPr/>
        </p:nvSpPr>
        <p:spPr>
          <a:xfrm>
            <a:off x="1753386" y="4961632"/>
            <a:ext cx="1093986" cy="400110"/>
          </a:xfrm>
          <a:prstGeom prst="rect">
            <a:avLst/>
          </a:prstGeom>
          <a:noFill/>
        </p:spPr>
        <p:txBody>
          <a:bodyPr wrap="square" rtlCol="0">
            <a:spAutoFit/>
          </a:bodyPr>
          <a:lstStyle/>
          <a:p>
            <a:r>
              <a:rPr lang="en-US" sz="2000" b="1" dirty="0">
                <a:ln w="22225">
                  <a:solidFill>
                    <a:schemeClr val="accent2"/>
                  </a:solidFill>
                  <a:prstDash val="solid"/>
                </a:ln>
                <a:solidFill>
                  <a:schemeClr val="accent2">
                    <a:lumMod val="40000"/>
                    <a:lumOff val="60000"/>
                  </a:schemeClr>
                </a:solidFill>
              </a:rPr>
              <a:t>Hint</a:t>
            </a:r>
            <a:endParaRPr lang="en-IN" sz="2000" b="1" dirty="0">
              <a:ln w="22225">
                <a:solidFill>
                  <a:schemeClr val="accent2"/>
                </a:solidFill>
                <a:prstDash val="solid"/>
              </a:ln>
              <a:solidFill>
                <a:schemeClr val="accent2">
                  <a:lumMod val="40000"/>
                  <a:lumOff val="60000"/>
                </a:schemeClr>
              </a:solidFill>
            </a:endParaRPr>
          </a:p>
        </p:txBody>
      </p:sp>
      <p:cxnSp>
        <p:nvCxnSpPr>
          <p:cNvPr id="5" name="Straight Arrow Connector 4">
            <a:extLst>
              <a:ext uri="{FF2B5EF4-FFF2-40B4-BE49-F238E27FC236}">
                <a16:creationId xmlns:a16="http://schemas.microsoft.com/office/drawing/2014/main" id="{1CFF1F27-B7D2-C7F4-F33C-F72410059E99}"/>
              </a:ext>
            </a:extLst>
          </p:cNvPr>
          <p:cNvCxnSpPr/>
          <p:nvPr/>
        </p:nvCxnSpPr>
        <p:spPr>
          <a:xfrm>
            <a:off x="2676525" y="5238367"/>
            <a:ext cx="13398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AutoShape 6" descr="A conceptual illustration showing two objects represented as two robot figures, each robot holding a 'method call' envelope and communicating with each other using arrows labeled 'Instance Method Call'. The background has a minimal design to emphasize communication between the robots through these arrows. The robots are simple, cartoon-like, and friendly-looking, symbolizing objects in Java communicating via methods.">
            <a:extLst>
              <a:ext uri="{FF2B5EF4-FFF2-40B4-BE49-F238E27FC236}">
                <a16:creationId xmlns:a16="http://schemas.microsoft.com/office/drawing/2014/main" id="{6C142621-DA98-09CC-C200-821A05543FD6}"/>
              </a:ext>
            </a:extLst>
          </p:cNvPr>
          <p:cNvSpPr>
            <a:spLocks noChangeAspect="1" noChangeArrowheads="1"/>
          </p:cNvSpPr>
          <p:nvPr/>
        </p:nvSpPr>
        <p:spPr bwMode="auto">
          <a:xfrm>
            <a:off x="6096000" y="436384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AB27F1B9-2CF2-8EDA-A9CD-7E9838716C8C}"/>
              </a:ext>
            </a:extLst>
          </p:cNvPr>
          <p:cNvPicPr>
            <a:picLocks noChangeAspect="1"/>
          </p:cNvPicPr>
          <p:nvPr/>
        </p:nvPicPr>
        <p:blipFill>
          <a:blip r:embed="rId3"/>
          <a:stretch>
            <a:fillRect/>
          </a:stretch>
        </p:blipFill>
        <p:spPr>
          <a:xfrm>
            <a:off x="4604335" y="4133439"/>
            <a:ext cx="2769969" cy="2456606"/>
          </a:xfrm>
          <a:prstGeom prst="rect">
            <a:avLst/>
          </a:prstGeom>
        </p:spPr>
      </p:pic>
    </p:spTree>
    <p:extLst>
      <p:ext uri="{BB962C8B-B14F-4D97-AF65-F5344CB8AC3E}">
        <p14:creationId xmlns:p14="http://schemas.microsoft.com/office/powerpoint/2010/main" val="390257910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D3A41-70C5-35B2-8FF1-836D5BFC07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AC3E7C2-7EB6-3AE2-6931-BEC76362E463}"/>
              </a:ext>
            </a:extLst>
          </p:cNvPr>
          <p:cNvSpPr>
            <a:spLocks noGrp="1"/>
          </p:cNvSpPr>
          <p:nvPr>
            <p:ph idx="1"/>
          </p:nvPr>
        </p:nvSpPr>
        <p:spPr>
          <a:xfrm>
            <a:off x="670560" y="365125"/>
            <a:ext cx="10683240" cy="6356350"/>
          </a:xfrm>
        </p:spPr>
        <p:txBody>
          <a:bodyPr>
            <a:normAutofit fontScale="92500" lnSpcReduction="20000"/>
          </a:bodyPr>
          <a:lstStyle/>
          <a:p>
            <a:pPr marL="0" indent="0">
              <a:buNone/>
            </a:pPr>
            <a:r>
              <a:rPr lang="en-US" dirty="0"/>
              <a:t>The correct answer is:</a:t>
            </a:r>
          </a:p>
          <a:p>
            <a:pPr marL="0" indent="0">
              <a:buNone/>
            </a:pPr>
            <a:r>
              <a:rPr lang="en-US" b="1" dirty="0"/>
              <a:t>(c) They communicate by calling each other’s instance methods.</a:t>
            </a:r>
            <a:endParaRPr lang="en-US" dirty="0"/>
          </a:p>
          <a:p>
            <a:endParaRPr lang="en-US" dirty="0"/>
          </a:p>
          <a:p>
            <a:endParaRPr lang="en-US" dirty="0"/>
          </a:p>
          <a:p>
            <a:endParaRPr lang="en-US" dirty="0"/>
          </a:p>
          <a:p>
            <a:r>
              <a:rPr lang="en-US" dirty="0"/>
              <a:t>In Java, objects communicate with each other by invoking each other’s </a:t>
            </a:r>
            <a:r>
              <a:rPr lang="en-US" b="1" dirty="0"/>
              <a:t>instance methods</a:t>
            </a:r>
            <a:r>
              <a:rPr lang="en-US" dirty="0"/>
              <a:t>. This is part of the object-oriented programming paradigm where objects interact by sending messages (method calls) to each other. Through these methods, data can be processed or exchanged without directly accessing or modifying each other's fields.</a:t>
            </a:r>
          </a:p>
          <a:p>
            <a:pPr>
              <a:buFont typeface="Arial" panose="020B0604020202020204" pitchFamily="34" charset="0"/>
              <a:buChar char="•"/>
            </a:pPr>
            <a:r>
              <a:rPr lang="en-US" b="1" dirty="0"/>
              <a:t>Option (a):</a:t>
            </a:r>
            <a:r>
              <a:rPr lang="en-US" dirty="0"/>
              <a:t> Modifying fields directly breaks encapsulation, which is not recommended.</a:t>
            </a:r>
          </a:p>
          <a:p>
            <a:pPr>
              <a:buFont typeface="Arial" panose="020B0604020202020204" pitchFamily="34" charset="0"/>
              <a:buChar char="•"/>
            </a:pPr>
            <a:r>
              <a:rPr lang="en-US" b="1" dirty="0"/>
              <a:t>Option (b):</a:t>
            </a:r>
            <a:r>
              <a:rPr lang="en-US" dirty="0"/>
              <a:t> Static variables are shared across all instances of a class and are not typically used for communication between objects.</a:t>
            </a:r>
          </a:p>
          <a:p>
            <a:pPr>
              <a:buFont typeface="Arial" panose="020B0604020202020204" pitchFamily="34" charset="0"/>
              <a:buChar char="•"/>
            </a:pPr>
            <a:r>
              <a:rPr lang="en-US" b="1" dirty="0"/>
              <a:t>Option (d):</a:t>
            </a:r>
            <a:r>
              <a:rPr lang="en-US" dirty="0"/>
              <a:t> Static methods are associated with the class itself, not with specific instances (objects), so they are not suitable for object-to-object communication.</a:t>
            </a:r>
          </a:p>
          <a:p>
            <a:endParaRPr lang="en-IN" dirty="0"/>
          </a:p>
        </p:txBody>
      </p:sp>
      <p:sp>
        <p:nvSpPr>
          <p:cNvPr id="4" name="Slide Number Placeholder 3">
            <a:extLst>
              <a:ext uri="{FF2B5EF4-FFF2-40B4-BE49-F238E27FC236}">
                <a16:creationId xmlns:a16="http://schemas.microsoft.com/office/drawing/2014/main" id="{9B17618F-9F9D-CF68-009D-945FC039A789}"/>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7" name="Rectangle 6">
            <a:extLst>
              <a:ext uri="{FF2B5EF4-FFF2-40B4-BE49-F238E27FC236}">
                <a16:creationId xmlns:a16="http://schemas.microsoft.com/office/drawing/2014/main" id="{9FE4FADD-A405-DA36-BA54-C3F73A0133E1}"/>
              </a:ext>
            </a:extLst>
          </p:cNvPr>
          <p:cNvSpPr/>
          <p:nvPr/>
        </p:nvSpPr>
        <p:spPr>
          <a:xfrm>
            <a:off x="3554039" y="1381423"/>
            <a:ext cx="4916282"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HOW??????????</a:t>
            </a:r>
            <a:endParaRPr lang="en-IN"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Tree>
    <p:extLst>
      <p:ext uri="{BB962C8B-B14F-4D97-AF65-F5344CB8AC3E}">
        <p14:creationId xmlns:p14="http://schemas.microsoft.com/office/powerpoint/2010/main" val="2785001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234440" y="169068"/>
            <a:ext cx="10081259" cy="932657"/>
          </a:xfrm>
        </p:spPr>
        <p:txBody>
          <a:bodyPr>
            <a:normAutofit/>
          </a:bodyPr>
          <a:lstStyle/>
          <a:p>
            <a:pPr algn="ctr"/>
            <a:r>
              <a:rPr lang="en-US" b="1" dirty="0"/>
              <a:t>How to declare a class in java??</a:t>
            </a:r>
          </a:p>
        </p:txBody>
      </p:sp>
      <p:sp>
        <p:nvSpPr>
          <p:cNvPr id="3" name="Content Placeholder 2"/>
          <p:cNvSpPr>
            <a:spLocks noGrp="1"/>
          </p:cNvSpPr>
          <p:nvPr>
            <p:ph idx="1"/>
          </p:nvPr>
        </p:nvSpPr>
        <p:spPr>
          <a:xfrm>
            <a:off x="838200" y="1106129"/>
            <a:ext cx="4471219" cy="5070834"/>
          </a:xfrm>
        </p:spPr>
        <p:txBody>
          <a:bodyPr>
            <a:noAutofit/>
          </a:bodyPr>
          <a:lstStyle/>
          <a:p>
            <a:pPr marL="0" indent="0">
              <a:buNone/>
            </a:pPr>
            <a:r>
              <a:rPr lang="en-US" dirty="0"/>
              <a:t>class Rectangle</a:t>
            </a:r>
          </a:p>
          <a:p>
            <a:pPr marL="0" indent="0">
              <a:buNone/>
            </a:pPr>
            <a:r>
              <a:rPr lang="en-US" dirty="0"/>
              <a:t>{  </a:t>
            </a:r>
            <a:r>
              <a:rPr lang="en-US" dirty="0" err="1"/>
              <a:t>int</a:t>
            </a:r>
            <a:r>
              <a:rPr lang="en-US" dirty="0"/>
              <a:t> length, width;</a:t>
            </a:r>
          </a:p>
          <a:p>
            <a:pPr marL="0" indent="0">
              <a:buNone/>
            </a:pPr>
            <a:r>
              <a:rPr lang="en-US" dirty="0"/>
              <a:t>void </a:t>
            </a:r>
            <a:r>
              <a:rPr lang="en-US" dirty="0" err="1"/>
              <a:t>getData</a:t>
            </a:r>
            <a:r>
              <a:rPr lang="en-US" dirty="0"/>
              <a:t>(</a:t>
            </a:r>
            <a:r>
              <a:rPr lang="en-US" dirty="0" err="1"/>
              <a:t>int</a:t>
            </a:r>
            <a:r>
              <a:rPr lang="en-US" dirty="0"/>
              <a:t> x, </a:t>
            </a:r>
            <a:r>
              <a:rPr lang="en-US" dirty="0" err="1"/>
              <a:t>int</a:t>
            </a:r>
            <a:r>
              <a:rPr lang="en-US" dirty="0"/>
              <a:t> y)</a:t>
            </a:r>
          </a:p>
          <a:p>
            <a:pPr marL="0" indent="0">
              <a:buNone/>
            </a:pPr>
            <a:r>
              <a:rPr lang="en-US" dirty="0"/>
              <a:t>{   length= x; width= y;</a:t>
            </a:r>
          </a:p>
          <a:p>
            <a:pPr marL="0" indent="0">
              <a:buNone/>
            </a:pPr>
            <a:r>
              <a:rPr lang="en-US" dirty="0"/>
              <a:t>}</a:t>
            </a:r>
          </a:p>
          <a:p>
            <a:pPr marL="0" indent="0">
              <a:buNone/>
            </a:pPr>
            <a:r>
              <a:rPr lang="en-US" dirty="0" err="1"/>
              <a:t>int</a:t>
            </a:r>
            <a:r>
              <a:rPr lang="en-US" dirty="0"/>
              <a:t> </a:t>
            </a:r>
            <a:r>
              <a:rPr lang="en-US" dirty="0" err="1"/>
              <a:t>rectArea</a:t>
            </a:r>
            <a:r>
              <a:rPr lang="en-US" dirty="0"/>
              <a:t>()</a:t>
            </a:r>
          </a:p>
          <a:p>
            <a:pPr marL="0" indent="0">
              <a:buNone/>
            </a:pPr>
            <a:r>
              <a:rPr lang="en-US" dirty="0"/>
              <a:t>{ </a:t>
            </a:r>
            <a:r>
              <a:rPr lang="en-US" dirty="0" err="1"/>
              <a:t>int</a:t>
            </a:r>
            <a:r>
              <a:rPr lang="en-US" dirty="0"/>
              <a:t> area=length*width;</a:t>
            </a:r>
          </a:p>
          <a:p>
            <a:pPr marL="0" indent="0">
              <a:buNone/>
            </a:pPr>
            <a:r>
              <a:rPr lang="en-US" dirty="0"/>
              <a:t>Return (area);</a:t>
            </a:r>
          </a:p>
          <a:p>
            <a:pPr marL="0" indent="0">
              <a:buNone/>
            </a:pPr>
            <a:r>
              <a:rPr lang="en-US" dirty="0"/>
              <a:t>}</a:t>
            </a:r>
          </a:p>
          <a:p>
            <a:pPr marL="0" indent="0">
              <a:buNone/>
            </a:pPr>
            <a:r>
              <a:rPr lang="en-US" dirty="0"/>
              <a:t>}</a:t>
            </a:r>
          </a:p>
          <a:p>
            <a:pPr marL="0" indent="0">
              <a:buNone/>
            </a:pPr>
            <a:endParaRPr lang="en-US" sz="2400" dirty="0"/>
          </a:p>
          <a:p>
            <a:pPr marL="0" indent="0">
              <a:buNone/>
            </a:pPr>
            <a:r>
              <a:rPr lang="en-US" sz="2400" dirty="0"/>
              <a:t> </a:t>
            </a:r>
          </a:p>
          <a:p>
            <a:pPr marL="0" indent="0">
              <a:buNone/>
            </a:pPr>
            <a:r>
              <a:rPr lang="en-US" sz="2400" dirty="0"/>
              <a:t> </a:t>
            </a:r>
          </a:p>
          <a:p>
            <a:pPr marL="0" indent="0">
              <a:buNone/>
            </a:pPr>
            <a:r>
              <a:rPr lang="en-US" sz="2400" dirty="0"/>
              <a:t> </a:t>
            </a:r>
          </a:p>
          <a:p>
            <a:pPr marL="0" indent="0">
              <a:buNone/>
            </a:pPr>
            <a:r>
              <a:rPr lang="en-US" sz="2400" dirty="0"/>
              <a:t> </a:t>
            </a:r>
          </a:p>
          <a:p>
            <a:pPr marL="0" indent="0">
              <a:buNone/>
            </a:pPr>
            <a:endParaRPr lang="en-US" sz="2400" dirty="0"/>
          </a:p>
        </p:txBody>
      </p:sp>
      <p:cxnSp>
        <p:nvCxnSpPr>
          <p:cNvPr id="4" name="Straight Arrow Connector 3">
            <a:extLst>
              <a:ext uri="{FF2B5EF4-FFF2-40B4-BE49-F238E27FC236}">
                <a16:creationId xmlns:a16="http://schemas.microsoft.com/office/drawing/2014/main" id="{BBA81766-0ACA-2E3E-7B07-B26713991922}"/>
              </a:ext>
            </a:extLst>
          </p:cNvPr>
          <p:cNvCxnSpPr/>
          <p:nvPr/>
        </p:nvCxnSpPr>
        <p:spPr>
          <a:xfrm>
            <a:off x="3307080" y="1264920"/>
            <a:ext cx="307848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7" name="Straight Arrow Connector 6">
            <a:extLst>
              <a:ext uri="{FF2B5EF4-FFF2-40B4-BE49-F238E27FC236}">
                <a16:creationId xmlns:a16="http://schemas.microsoft.com/office/drawing/2014/main" id="{B0BD421A-5A3E-8A0D-B084-E8B5CDA583CA}"/>
              </a:ext>
            </a:extLst>
          </p:cNvPr>
          <p:cNvCxnSpPr/>
          <p:nvPr/>
        </p:nvCxnSpPr>
        <p:spPr>
          <a:xfrm>
            <a:off x="3916680" y="1859280"/>
            <a:ext cx="347472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9" name="Straight Arrow Connector 8">
            <a:extLst>
              <a:ext uri="{FF2B5EF4-FFF2-40B4-BE49-F238E27FC236}">
                <a16:creationId xmlns:a16="http://schemas.microsoft.com/office/drawing/2014/main" id="{B447C8C3-F16B-8456-2371-56ACA477A505}"/>
              </a:ext>
            </a:extLst>
          </p:cNvPr>
          <p:cNvCxnSpPr/>
          <p:nvPr/>
        </p:nvCxnSpPr>
        <p:spPr>
          <a:xfrm>
            <a:off x="4511040" y="2377440"/>
            <a:ext cx="428244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0" name="Rectangle 9">
            <a:extLst>
              <a:ext uri="{FF2B5EF4-FFF2-40B4-BE49-F238E27FC236}">
                <a16:creationId xmlns:a16="http://schemas.microsoft.com/office/drawing/2014/main" id="{50EA6430-D0E3-D938-AC53-58B23C1C57BD}"/>
              </a:ext>
            </a:extLst>
          </p:cNvPr>
          <p:cNvSpPr/>
          <p:nvPr/>
        </p:nvSpPr>
        <p:spPr>
          <a:xfrm>
            <a:off x="6522720" y="1101725"/>
            <a:ext cx="3078480" cy="3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 DEDCLARATION</a:t>
            </a:r>
            <a:endParaRPr lang="en-IN" dirty="0"/>
          </a:p>
        </p:txBody>
      </p:sp>
      <p:sp>
        <p:nvSpPr>
          <p:cNvPr id="11" name="Rectangle 10">
            <a:extLst>
              <a:ext uri="{FF2B5EF4-FFF2-40B4-BE49-F238E27FC236}">
                <a16:creationId xmlns:a16="http://schemas.microsoft.com/office/drawing/2014/main" id="{501BCD89-E5C2-85E1-F35B-1F0EBBA764B1}"/>
              </a:ext>
            </a:extLst>
          </p:cNvPr>
          <p:cNvSpPr/>
          <p:nvPr/>
        </p:nvSpPr>
        <p:spPr>
          <a:xfrm>
            <a:off x="7543800" y="1630680"/>
            <a:ext cx="4389120" cy="5181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INSTANCE VARIABLES BELONGING TO THE OBJECT OF THIS CLASS</a:t>
            </a:r>
            <a:endParaRPr lang="en-IN" dirty="0"/>
          </a:p>
        </p:txBody>
      </p:sp>
      <p:sp>
        <p:nvSpPr>
          <p:cNvPr id="12" name="Rectangle 11">
            <a:extLst>
              <a:ext uri="{FF2B5EF4-FFF2-40B4-BE49-F238E27FC236}">
                <a16:creationId xmlns:a16="http://schemas.microsoft.com/office/drawing/2014/main" id="{FB43AB32-DCAB-0802-EB1E-F2929E4F742D}"/>
              </a:ext>
            </a:extLst>
          </p:cNvPr>
          <p:cNvSpPr/>
          <p:nvPr/>
        </p:nvSpPr>
        <p:spPr>
          <a:xfrm>
            <a:off x="9006840" y="2301237"/>
            <a:ext cx="2926080" cy="5181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PARAMETERIZED FUNCTION</a:t>
            </a:r>
            <a:endParaRPr lang="en-IN" dirty="0"/>
          </a:p>
        </p:txBody>
      </p:sp>
      <p:sp>
        <p:nvSpPr>
          <p:cNvPr id="13" name="Rectangle 12">
            <a:extLst>
              <a:ext uri="{FF2B5EF4-FFF2-40B4-BE49-F238E27FC236}">
                <a16:creationId xmlns:a16="http://schemas.microsoft.com/office/drawing/2014/main" id="{BC0F67F3-D85D-C4C3-5E0A-DB68D8F88C2B}"/>
              </a:ext>
            </a:extLst>
          </p:cNvPr>
          <p:cNvSpPr/>
          <p:nvPr/>
        </p:nvSpPr>
        <p:spPr>
          <a:xfrm>
            <a:off x="8442960" y="3550930"/>
            <a:ext cx="2926080" cy="5181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PARAMETERIZED FUNCTION</a:t>
            </a:r>
            <a:endParaRPr lang="en-IN" dirty="0"/>
          </a:p>
        </p:txBody>
      </p:sp>
      <p:cxnSp>
        <p:nvCxnSpPr>
          <p:cNvPr id="14" name="Straight Arrow Connector 13">
            <a:extLst>
              <a:ext uri="{FF2B5EF4-FFF2-40B4-BE49-F238E27FC236}">
                <a16:creationId xmlns:a16="http://schemas.microsoft.com/office/drawing/2014/main" id="{CFB69906-9F1C-9AF4-785B-1239B28A20C9}"/>
              </a:ext>
            </a:extLst>
          </p:cNvPr>
          <p:cNvCxnSpPr>
            <a:cxnSpLocks/>
          </p:cNvCxnSpPr>
          <p:nvPr/>
        </p:nvCxnSpPr>
        <p:spPr>
          <a:xfrm>
            <a:off x="3073809" y="3901437"/>
            <a:ext cx="5262471"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3D0E4984-2FEA-BACF-2355-F3E43D174BF8}"/>
              </a:ext>
            </a:extLst>
          </p:cNvPr>
          <p:cNvCxnSpPr>
            <a:cxnSpLocks/>
          </p:cNvCxnSpPr>
          <p:nvPr/>
        </p:nvCxnSpPr>
        <p:spPr>
          <a:xfrm>
            <a:off x="3073808" y="4922517"/>
            <a:ext cx="5262471"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7" name="Rectangle 16">
            <a:extLst>
              <a:ext uri="{FF2B5EF4-FFF2-40B4-BE49-F238E27FC236}">
                <a16:creationId xmlns:a16="http://schemas.microsoft.com/office/drawing/2014/main" id="{F6A6975B-9F5E-115A-8FF7-A534A5D197D5}"/>
              </a:ext>
            </a:extLst>
          </p:cNvPr>
          <p:cNvSpPr/>
          <p:nvPr/>
        </p:nvSpPr>
        <p:spPr>
          <a:xfrm>
            <a:off x="8336279" y="4602480"/>
            <a:ext cx="3139441" cy="8534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RETURN THE VALUE OF THE METHOD</a:t>
            </a:r>
            <a:endParaRPr lang="en-IN" dirty="0"/>
          </a:p>
        </p:txBody>
      </p:sp>
    </p:spTree>
    <p:extLst>
      <p:ext uri="{BB962C8B-B14F-4D97-AF65-F5344CB8AC3E}">
        <p14:creationId xmlns:p14="http://schemas.microsoft.com/office/powerpoint/2010/main" val="304597750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AC886-8363-79AC-EAAB-CB73079133E2}"/>
              </a:ext>
            </a:extLst>
          </p:cNvPr>
          <p:cNvSpPr>
            <a:spLocks noGrp="1"/>
          </p:cNvSpPr>
          <p:nvPr>
            <p:ph type="title"/>
          </p:nvPr>
        </p:nvSpPr>
        <p:spPr/>
        <p:txBody>
          <a:bodyPr/>
          <a:lstStyle/>
          <a:p>
            <a:r>
              <a:rPr lang="en-US" b="1" u="sng" dirty="0"/>
              <a:t>EXAMPLE 2</a:t>
            </a:r>
            <a:endParaRPr lang="en-IN" b="1" u="sng" dirty="0"/>
          </a:p>
        </p:txBody>
      </p:sp>
      <p:sp>
        <p:nvSpPr>
          <p:cNvPr id="4" name="Slide Number Placeholder 3">
            <a:extLst>
              <a:ext uri="{FF2B5EF4-FFF2-40B4-BE49-F238E27FC236}">
                <a16:creationId xmlns:a16="http://schemas.microsoft.com/office/drawing/2014/main" id="{1F72E149-B153-BDEF-6CB9-76212A61C54E}"/>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5" name="Content Placeholder 4"/>
          <p:cNvSpPr txBox="1">
            <a:spLocks noGrp="1"/>
          </p:cNvSpPr>
          <p:nvPr>
            <p:ph idx="1"/>
          </p:nvPr>
        </p:nvSpPr>
        <p:spPr>
          <a:xfrm>
            <a:off x="838200" y="1825625"/>
            <a:ext cx="10515600" cy="4351338"/>
          </a:xfrm>
          <a:prstGeom prst="rect">
            <a:avLst/>
          </a:prstGeom>
          <a:noFill/>
        </p:spPr>
        <p:txBody>
          <a:bodyPr wrap="square" rtlCol="0">
            <a:spAutoFit/>
          </a:bodyPr>
          <a:lstStyle/>
          <a:p>
            <a:r>
              <a:rPr lang="en-US" sz="2800" dirty="0"/>
              <a:t>Class </a:t>
            </a:r>
            <a:r>
              <a:rPr lang="en-US" sz="2800" dirty="0" err="1"/>
              <a:t>RectArea</a:t>
            </a:r>
            <a:endParaRPr lang="en-US" sz="2800" dirty="0"/>
          </a:p>
          <a:p>
            <a:r>
              <a:rPr lang="en-US" sz="2800" dirty="0"/>
              <a:t>{ </a:t>
            </a:r>
          </a:p>
          <a:p>
            <a:r>
              <a:rPr lang="en-US" sz="2800" dirty="0"/>
              <a:t>public static void main(String </a:t>
            </a:r>
            <a:r>
              <a:rPr lang="en-US" sz="2800" dirty="0" err="1"/>
              <a:t>args</a:t>
            </a:r>
            <a:r>
              <a:rPr lang="en-US" sz="2800" dirty="0"/>
              <a:t>[])</a:t>
            </a:r>
          </a:p>
          <a:p>
            <a:r>
              <a:rPr lang="en-US" sz="2800" dirty="0"/>
              <a:t> {</a:t>
            </a:r>
          </a:p>
          <a:p>
            <a:r>
              <a:rPr lang="en-US" sz="2800" dirty="0" err="1"/>
              <a:t>int</a:t>
            </a:r>
            <a:r>
              <a:rPr lang="en-US" sz="2800" dirty="0"/>
              <a:t> area1;</a:t>
            </a:r>
          </a:p>
          <a:p>
            <a:r>
              <a:rPr lang="en-US" sz="2800" dirty="0"/>
              <a:t>Rectangle rect1= new Rectangle();</a:t>
            </a:r>
          </a:p>
          <a:p>
            <a:r>
              <a:rPr lang="en-US" sz="2800" dirty="0"/>
              <a:t>rect1.getData(20,12);</a:t>
            </a:r>
          </a:p>
          <a:p>
            <a:r>
              <a:rPr lang="en-US" sz="2800" dirty="0"/>
              <a:t>area1= rect1.rectArea();</a:t>
            </a:r>
          </a:p>
          <a:p>
            <a:r>
              <a:rPr lang="en-US" sz="2800" dirty="0" err="1"/>
              <a:t>System.out.println</a:t>
            </a:r>
            <a:r>
              <a:rPr lang="en-US" sz="2800" dirty="0"/>
              <a:t> (“Area = ”+area1);</a:t>
            </a:r>
          </a:p>
          <a:p>
            <a:r>
              <a:rPr lang="en-US" sz="2800" dirty="0"/>
              <a:t>}</a:t>
            </a:r>
          </a:p>
          <a:p>
            <a:r>
              <a:rPr lang="en-US" sz="2800" dirty="0"/>
              <a:t>}</a:t>
            </a:r>
          </a:p>
        </p:txBody>
      </p:sp>
    </p:spTree>
    <p:extLst>
      <p:ext uri="{BB962C8B-B14F-4D97-AF65-F5344CB8AC3E}">
        <p14:creationId xmlns:p14="http://schemas.microsoft.com/office/powerpoint/2010/main" val="1471972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645920" y="169068"/>
            <a:ext cx="8955405" cy="932657"/>
          </a:xfrm>
        </p:spPr>
        <p:txBody>
          <a:bodyPr>
            <a:normAutofit/>
          </a:bodyPr>
          <a:lstStyle/>
          <a:p>
            <a:pPr algn="ctr"/>
            <a:r>
              <a:rPr lang="en-US" b="1" dirty="0"/>
              <a:t>Java Encapsulation</a:t>
            </a:r>
          </a:p>
        </p:txBody>
      </p:sp>
      <p:sp>
        <p:nvSpPr>
          <p:cNvPr id="123907" name="Rectangle 3"/>
          <p:cNvSpPr>
            <a:spLocks noGrp="1" noChangeArrowheads="1"/>
          </p:cNvSpPr>
          <p:nvPr>
            <p:ph type="body" idx="1"/>
          </p:nvPr>
        </p:nvSpPr>
        <p:spPr>
          <a:xfrm>
            <a:off x="203200" y="1270792"/>
            <a:ext cx="7551838" cy="5418139"/>
          </a:xfrm>
          <a:solidFill>
            <a:schemeClr val="accent4">
              <a:lumMod val="40000"/>
              <a:lumOff val="60000"/>
            </a:schemeClr>
          </a:solidFill>
        </p:spPr>
        <p:txBody>
          <a:bodyPr>
            <a:normAutofit fontScale="85000" lnSpcReduction="20000"/>
          </a:bodyPr>
          <a:lstStyle/>
          <a:p>
            <a:r>
              <a:rPr lang="en-US" dirty="0"/>
              <a:t>The meaning of Encapsulation, is to make sure that "sensitive" data is hidden from users. </a:t>
            </a:r>
          </a:p>
          <a:p>
            <a:r>
              <a:rPr lang="en-US" dirty="0"/>
              <a:t>To achieve this, you must:  </a:t>
            </a:r>
          </a:p>
          <a:p>
            <a:pPr marL="0" indent="0">
              <a:buNone/>
            </a:pPr>
            <a:r>
              <a:rPr lang="en-US" dirty="0"/>
              <a:t>Declare class variables/attributes as private provide public get and set methods to access and update the value of a private variable</a:t>
            </a:r>
          </a:p>
          <a:p>
            <a:pPr marL="0" indent="0">
              <a:buNone/>
            </a:pPr>
            <a:r>
              <a:rPr lang="en-US" b="1" dirty="0"/>
              <a:t>Get and Set</a:t>
            </a:r>
          </a:p>
          <a:p>
            <a:r>
              <a:rPr lang="en-US" dirty="0"/>
              <a:t>You have learned that private variables can only be accessed within the same class (an outside class has no access to it).</a:t>
            </a:r>
          </a:p>
          <a:p>
            <a:r>
              <a:rPr lang="en-US" dirty="0"/>
              <a:t>However, it is possible to access them if we provide public get and set methods.</a:t>
            </a:r>
          </a:p>
          <a:p>
            <a:pPr marL="0" indent="0">
              <a:buNone/>
            </a:pPr>
            <a:r>
              <a:rPr lang="en-US" dirty="0"/>
              <a:t>The </a:t>
            </a:r>
            <a:r>
              <a:rPr lang="en-US" b="1" dirty="0"/>
              <a:t>get method returns </a:t>
            </a:r>
            <a:r>
              <a:rPr lang="en-US" dirty="0"/>
              <a:t>the variable value, and the set method sets the value.</a:t>
            </a:r>
          </a:p>
          <a:p>
            <a:pPr marL="0" indent="0">
              <a:buNone/>
            </a:pPr>
            <a:r>
              <a:rPr lang="en-US" dirty="0"/>
              <a:t>Syntax for both is that they start with either get or set, followed by the name of the variable, with the first letter in upper case</a:t>
            </a:r>
          </a:p>
          <a:p>
            <a:pPr marL="0" indent="0">
              <a:buNone/>
            </a:pPr>
            <a:endParaRPr lang="en-US" dirty="0"/>
          </a:p>
        </p:txBody>
      </p:sp>
      <p:pic>
        <p:nvPicPr>
          <p:cNvPr id="3076" name="Picture 4" descr="Encapsulation in Java: Keep Your Data Safe and Organized">
            <a:extLst>
              <a:ext uri="{FF2B5EF4-FFF2-40B4-BE49-F238E27FC236}">
                <a16:creationId xmlns:a16="http://schemas.microsoft.com/office/drawing/2014/main" id="{3777139D-4A33-CFF9-3CD5-5AA96C598D0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18786" y="1808480"/>
            <a:ext cx="4652213" cy="2754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97639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676525" y="169068"/>
            <a:ext cx="7924800" cy="932657"/>
          </a:xfrm>
        </p:spPr>
        <p:txBody>
          <a:bodyPr>
            <a:normAutofit/>
          </a:bodyPr>
          <a:lstStyle/>
          <a:p>
            <a:pPr algn="ctr"/>
            <a:r>
              <a:rPr lang="en-US" b="1" dirty="0"/>
              <a:t>Example of Encapsulation</a:t>
            </a:r>
          </a:p>
        </p:txBody>
      </p:sp>
      <p:pic>
        <p:nvPicPr>
          <p:cNvPr id="5" name="Picture 2"/>
          <p:cNvPicPr>
            <a:picLocks noChangeAspect="1" noChangeArrowheads="1"/>
          </p:cNvPicPr>
          <p:nvPr/>
        </p:nvPicPr>
        <p:blipFill>
          <a:blip r:embed="rId2" cstate="print"/>
          <a:srcRect/>
          <a:stretch>
            <a:fillRect/>
          </a:stretch>
        </p:blipFill>
        <p:spPr bwMode="auto">
          <a:xfrm>
            <a:off x="944880" y="1600199"/>
            <a:ext cx="10363200" cy="4511041"/>
          </a:xfrm>
          <a:prstGeom prst="rect">
            <a:avLst/>
          </a:prstGeom>
          <a:noFill/>
          <a:ln w="9525">
            <a:noFill/>
            <a:miter lim="800000"/>
            <a:headEnd/>
            <a:tailEnd/>
          </a:ln>
        </p:spPr>
      </p:pic>
    </p:spTree>
    <p:extLst>
      <p:ext uri="{BB962C8B-B14F-4D97-AF65-F5344CB8AC3E}">
        <p14:creationId xmlns:p14="http://schemas.microsoft.com/office/powerpoint/2010/main" val="390737956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645920" y="169068"/>
            <a:ext cx="8955405" cy="932657"/>
          </a:xfrm>
        </p:spPr>
        <p:txBody>
          <a:bodyPr>
            <a:normAutofit/>
          </a:bodyPr>
          <a:lstStyle/>
          <a:p>
            <a:pPr algn="ctr"/>
            <a:r>
              <a:rPr lang="en-US" dirty="0">
                <a:latin typeface="Times New Roman" pitchFamily="18" charset="0"/>
                <a:cs typeface="Times New Roman" pitchFamily="18" charset="0"/>
              </a:rPr>
              <a:t>Abstraction</a:t>
            </a:r>
            <a:endParaRPr lang="en-US" b="1" dirty="0"/>
          </a:p>
        </p:txBody>
      </p:sp>
      <p:sp>
        <p:nvSpPr>
          <p:cNvPr id="123907" name="Rectangle 3"/>
          <p:cNvSpPr>
            <a:spLocks noGrp="1" noChangeArrowheads="1"/>
          </p:cNvSpPr>
          <p:nvPr>
            <p:ph type="body" idx="1"/>
          </p:nvPr>
        </p:nvSpPr>
        <p:spPr>
          <a:xfrm>
            <a:off x="1082674" y="1239520"/>
            <a:ext cx="5592445" cy="5449412"/>
          </a:xfrm>
        </p:spPr>
        <p:txBody>
          <a:bodyPr>
            <a:normAutofit fontScale="85000" lnSpcReduction="20000"/>
          </a:bodyPr>
          <a:lstStyle/>
          <a:p>
            <a:r>
              <a:rPr lang="en-US" dirty="0"/>
              <a:t>The process of </a:t>
            </a:r>
            <a:r>
              <a:rPr lang="en-US" b="1" dirty="0"/>
              <a:t>hiding certain details and showing only essential information to the use</a:t>
            </a:r>
            <a:r>
              <a:rPr lang="en-US" dirty="0"/>
              <a:t>r.</a:t>
            </a:r>
          </a:p>
          <a:p>
            <a:r>
              <a:rPr lang="en-US" dirty="0"/>
              <a:t>Abstraction can be achieved with either abstract classes or interfaces (which you will learn more about in the next chapter).</a:t>
            </a:r>
          </a:p>
          <a:p>
            <a:r>
              <a:rPr lang="en-US" dirty="0"/>
              <a:t>The </a:t>
            </a:r>
            <a:r>
              <a:rPr lang="en-US" b="1" dirty="0"/>
              <a:t>abstract keyword </a:t>
            </a:r>
            <a:r>
              <a:rPr lang="en-US" dirty="0"/>
              <a:t>is a non-access modifier, used for classes and methods:</a:t>
            </a:r>
          </a:p>
          <a:p>
            <a:r>
              <a:rPr lang="en-US" b="1" dirty="0"/>
              <a:t>Abstract class: </a:t>
            </a:r>
            <a:r>
              <a:rPr lang="en-US" dirty="0"/>
              <a:t>is a restricted class that cannot be used to create objects (to access it, it must be inherited from another class).</a:t>
            </a:r>
          </a:p>
          <a:p>
            <a:r>
              <a:rPr lang="en-US" b="1" dirty="0"/>
              <a:t>Abstract method</a:t>
            </a:r>
            <a:r>
              <a:rPr lang="en-US" dirty="0"/>
              <a:t>: can only be used in an abstract class, and it does not have a body. The body is provided by the subclass (inherited from).</a:t>
            </a:r>
          </a:p>
        </p:txBody>
      </p:sp>
      <p:pic>
        <p:nvPicPr>
          <p:cNvPr id="5" name="Picture 4">
            <a:extLst>
              <a:ext uri="{FF2B5EF4-FFF2-40B4-BE49-F238E27FC236}">
                <a16:creationId xmlns:a16="http://schemas.microsoft.com/office/drawing/2014/main" id="{B8BFEC69-3816-E859-9018-4FE1A5C4DC89}"/>
              </a:ext>
            </a:extLst>
          </p:cNvPr>
          <p:cNvPicPr>
            <a:picLocks noChangeAspect="1"/>
          </p:cNvPicPr>
          <p:nvPr/>
        </p:nvPicPr>
        <p:blipFill>
          <a:blip r:embed="rId3"/>
          <a:stretch>
            <a:fillRect/>
          </a:stretch>
        </p:blipFill>
        <p:spPr>
          <a:xfrm>
            <a:off x="6855314" y="2397038"/>
            <a:ext cx="5034566" cy="2967441"/>
          </a:xfrm>
          <a:prstGeom prst="rect">
            <a:avLst/>
          </a:prstGeom>
        </p:spPr>
      </p:pic>
    </p:spTree>
    <p:extLst>
      <p:ext uri="{BB962C8B-B14F-4D97-AF65-F5344CB8AC3E}">
        <p14:creationId xmlns:p14="http://schemas.microsoft.com/office/powerpoint/2010/main" val="63397639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676525" y="169068"/>
            <a:ext cx="7924800" cy="932657"/>
          </a:xfrm>
        </p:spPr>
        <p:txBody>
          <a:bodyPr>
            <a:normAutofit/>
          </a:bodyPr>
          <a:lstStyle/>
          <a:p>
            <a:pPr algn="ctr"/>
            <a:r>
              <a:rPr lang="en-US" b="1" dirty="0"/>
              <a:t>Example of abstraction</a:t>
            </a:r>
          </a:p>
        </p:txBody>
      </p:sp>
      <p:pic>
        <p:nvPicPr>
          <p:cNvPr id="5" name="Picture 2"/>
          <p:cNvPicPr>
            <a:picLocks noGrp="1" noChangeAspect="1" noChangeArrowheads="1"/>
          </p:cNvPicPr>
          <p:nvPr>
            <p:ph sz="half" idx="1"/>
          </p:nvPr>
        </p:nvPicPr>
        <p:blipFill>
          <a:blip r:embed="rId2" cstate="print"/>
          <a:srcRect/>
          <a:stretch>
            <a:fillRect/>
          </a:stretch>
        </p:blipFill>
        <p:spPr bwMode="auto">
          <a:xfrm>
            <a:off x="670560" y="1174465"/>
            <a:ext cx="8812653" cy="5241084"/>
          </a:xfrm>
          <a:prstGeom prst="rect">
            <a:avLst/>
          </a:prstGeom>
          <a:noFill/>
          <a:ln w="9525">
            <a:noFill/>
            <a:miter lim="800000"/>
            <a:headEnd/>
            <a:tailEnd/>
          </a:ln>
        </p:spPr>
      </p:pic>
    </p:spTree>
    <p:extLst>
      <p:ext uri="{BB962C8B-B14F-4D97-AF65-F5344CB8AC3E}">
        <p14:creationId xmlns:p14="http://schemas.microsoft.com/office/powerpoint/2010/main" val="390737956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Creating reference to abstract class</a:t>
            </a:r>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abstract</a:t>
            </a:r>
            <a:r>
              <a:rPr lang="en-US" dirty="0"/>
              <a:t> </a:t>
            </a:r>
            <a:r>
              <a:rPr lang="en-US" b="1" dirty="0"/>
              <a:t>class</a:t>
            </a:r>
            <a:r>
              <a:rPr lang="en-US" dirty="0"/>
              <a:t> Bike{  </a:t>
            </a:r>
          </a:p>
          <a:p>
            <a:pPr marL="0" indent="0">
              <a:buNone/>
            </a:pPr>
            <a:r>
              <a:rPr lang="en-US" dirty="0"/>
              <a:t>  </a:t>
            </a:r>
            <a:r>
              <a:rPr lang="en-US" b="1" dirty="0"/>
              <a:t>abstract</a:t>
            </a:r>
            <a:r>
              <a:rPr lang="en-US" dirty="0"/>
              <a:t> </a:t>
            </a:r>
            <a:r>
              <a:rPr lang="en-US" b="1" dirty="0"/>
              <a:t>void</a:t>
            </a:r>
            <a:r>
              <a:rPr lang="en-US" dirty="0"/>
              <a:t> run();  </a:t>
            </a:r>
          </a:p>
          <a:p>
            <a:pPr marL="0" indent="0">
              <a:buNone/>
            </a:pPr>
            <a:r>
              <a:rPr lang="en-US" dirty="0"/>
              <a:t>}  </a:t>
            </a:r>
          </a:p>
          <a:p>
            <a:pPr marL="0" indent="0">
              <a:buNone/>
            </a:pPr>
            <a:r>
              <a:rPr lang="en-US" b="1" dirty="0"/>
              <a:t>class</a:t>
            </a:r>
            <a:r>
              <a:rPr lang="en-US" dirty="0"/>
              <a:t> Honda4 </a:t>
            </a:r>
            <a:r>
              <a:rPr lang="en-US" b="1" dirty="0"/>
              <a:t>extends</a:t>
            </a:r>
            <a:r>
              <a:rPr lang="en-US" dirty="0"/>
              <a:t> Bike{  </a:t>
            </a:r>
          </a:p>
          <a:p>
            <a:pPr marL="0" indent="0">
              <a:buNone/>
            </a:pPr>
            <a:r>
              <a:rPr lang="en-US" b="1" dirty="0"/>
              <a:t>void</a:t>
            </a:r>
            <a:r>
              <a:rPr lang="en-US" dirty="0"/>
              <a:t> run()</a:t>
            </a:r>
          </a:p>
          <a:p>
            <a:pPr marL="0" indent="0">
              <a:buNone/>
            </a:pPr>
            <a:r>
              <a:rPr lang="en-US" dirty="0"/>
              <a:t>{</a:t>
            </a:r>
          </a:p>
          <a:p>
            <a:pPr marL="0" indent="0">
              <a:buNone/>
            </a:pPr>
            <a:r>
              <a:rPr lang="en-US" dirty="0" err="1"/>
              <a:t>System.out.println</a:t>
            </a:r>
            <a:r>
              <a:rPr lang="en-US" dirty="0"/>
              <a:t>("running safely");</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Bike </a:t>
            </a:r>
            <a:r>
              <a:rPr lang="en-US" dirty="0" err="1"/>
              <a:t>obj</a:t>
            </a:r>
            <a:r>
              <a:rPr lang="en-US" dirty="0"/>
              <a:t> = </a:t>
            </a:r>
            <a:r>
              <a:rPr lang="en-US" b="1" dirty="0"/>
              <a:t>new</a:t>
            </a:r>
            <a:r>
              <a:rPr lang="en-US" dirty="0"/>
              <a:t> Honda4();  </a:t>
            </a:r>
          </a:p>
          <a:p>
            <a:pPr marL="0" indent="0">
              <a:buNone/>
            </a:pPr>
            <a:r>
              <a:rPr lang="en-US" dirty="0"/>
              <a:t> </a:t>
            </a:r>
            <a:r>
              <a:rPr lang="en-US" dirty="0" err="1"/>
              <a:t>obj.run</a:t>
            </a:r>
            <a:r>
              <a:rPr lang="en-US" dirty="0"/>
              <a:t>();  </a:t>
            </a:r>
          </a:p>
          <a:p>
            <a:pPr marL="0" indent="0">
              <a:buNone/>
            </a:pPr>
            <a:r>
              <a:rPr lang="en-US" dirty="0"/>
              <a:t>}  </a:t>
            </a:r>
          </a:p>
          <a:p>
            <a:pPr marL="0" indent="0">
              <a:buNone/>
            </a:pPr>
            <a:r>
              <a:rPr lang="en-US" dirty="0"/>
              <a:t>}  </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623821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Points to Remember</a:t>
            </a:r>
            <a:br>
              <a:rPr lang="en-US" dirty="0"/>
            </a:br>
            <a:endParaRPr lang="en-US" dirty="0"/>
          </a:p>
        </p:txBody>
      </p:sp>
      <p:sp>
        <p:nvSpPr>
          <p:cNvPr id="3" name="Content Placeholder 2"/>
          <p:cNvSpPr>
            <a:spLocks noGrp="1"/>
          </p:cNvSpPr>
          <p:nvPr>
            <p:ph idx="1"/>
          </p:nvPr>
        </p:nvSpPr>
        <p:spPr/>
        <p:txBody>
          <a:bodyPr/>
          <a:lstStyle/>
          <a:p>
            <a:r>
              <a:rPr lang="en-US" dirty="0"/>
              <a:t>An abstract class must be declared with an abstract keyword.</a:t>
            </a:r>
          </a:p>
          <a:p>
            <a:r>
              <a:rPr lang="en-US" dirty="0"/>
              <a:t>It can have abstract and non-abstract methods.</a:t>
            </a:r>
          </a:p>
          <a:p>
            <a:r>
              <a:rPr lang="en-US" dirty="0"/>
              <a:t>It cannot be instantiated.</a:t>
            </a:r>
          </a:p>
          <a:p>
            <a:r>
              <a:rPr lang="en-US" dirty="0"/>
              <a:t>It can have constructors and static methods also.</a:t>
            </a:r>
          </a:p>
          <a:p>
            <a:r>
              <a:rPr lang="en-US" dirty="0"/>
              <a:t>It can have final methods which will force the subclass not to change the body of the method.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4026471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929765" y="123348"/>
            <a:ext cx="7924800" cy="932657"/>
          </a:xfrm>
        </p:spPr>
        <p:txBody>
          <a:bodyPr>
            <a:normAutofit/>
          </a:bodyPr>
          <a:lstStyle/>
          <a:p>
            <a:pPr algn="ctr"/>
            <a:r>
              <a:rPr lang="en-US" b="1" dirty="0"/>
              <a:t>Inheritance in real World</a:t>
            </a:r>
          </a:p>
        </p:txBody>
      </p:sp>
      <p:pic>
        <p:nvPicPr>
          <p:cNvPr id="5" name="Picture 2"/>
          <p:cNvPicPr>
            <a:picLocks noGrp="1" noChangeAspect="1" noChangeArrowheads="1"/>
          </p:cNvPicPr>
          <p:nvPr>
            <p:ph sz="half" idx="1"/>
          </p:nvPr>
        </p:nvPicPr>
        <p:blipFill>
          <a:blip r:embed="rId2" cstate="print"/>
          <a:srcRect/>
          <a:stretch>
            <a:fillRect/>
          </a:stretch>
        </p:blipFill>
        <p:spPr bwMode="auto">
          <a:xfrm>
            <a:off x="933782" y="1447800"/>
            <a:ext cx="10389537" cy="4800600"/>
          </a:xfrm>
          <a:prstGeom prst="rect">
            <a:avLst/>
          </a:prstGeom>
          <a:noFill/>
          <a:ln w="9525">
            <a:noFill/>
            <a:miter lim="800000"/>
            <a:headEnd/>
            <a:tailEnd/>
          </a:ln>
        </p:spPr>
      </p:pic>
    </p:spTree>
    <p:extLst>
      <p:ext uri="{BB962C8B-B14F-4D97-AF65-F5344CB8AC3E}">
        <p14:creationId xmlns:p14="http://schemas.microsoft.com/office/powerpoint/2010/main" val="197248463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699674" y="213118"/>
            <a:ext cx="7924800" cy="932657"/>
          </a:xfrm>
        </p:spPr>
        <p:txBody>
          <a:bodyPr>
            <a:normAutofit/>
          </a:bodyPr>
          <a:lstStyle/>
          <a:p>
            <a:pPr algn="ctr"/>
            <a:r>
              <a:rPr lang="en-US" b="1" dirty="0"/>
              <a:t>Example of inheritance</a:t>
            </a:r>
          </a:p>
        </p:txBody>
      </p:sp>
      <p:sp>
        <p:nvSpPr>
          <p:cNvPr id="3" name="TextBox 2">
            <a:extLst>
              <a:ext uri="{FF2B5EF4-FFF2-40B4-BE49-F238E27FC236}">
                <a16:creationId xmlns:a16="http://schemas.microsoft.com/office/drawing/2014/main" id="{6E09545A-FF2A-80E4-20EB-23A7254F2D5F}"/>
              </a:ext>
            </a:extLst>
          </p:cNvPr>
          <p:cNvSpPr txBox="1"/>
          <p:nvPr/>
        </p:nvSpPr>
        <p:spPr>
          <a:xfrm>
            <a:off x="1246794" y="1041023"/>
            <a:ext cx="5415280" cy="5816977"/>
          </a:xfrm>
          <a:prstGeom prst="rect">
            <a:avLst/>
          </a:prstGeom>
          <a:noFill/>
        </p:spPr>
        <p:txBody>
          <a:bodyPr wrap="square">
            <a:spAutoFit/>
          </a:bodyPr>
          <a:lstStyle/>
          <a:p>
            <a:r>
              <a:rPr lang="en-IN" sz="1200" dirty="0"/>
              <a:t>// Parent class</a:t>
            </a:r>
          </a:p>
          <a:p>
            <a:r>
              <a:rPr lang="en-IN" sz="1200" dirty="0"/>
              <a:t>class Animal {</a:t>
            </a:r>
          </a:p>
          <a:p>
            <a:r>
              <a:rPr lang="en-IN" sz="1200" dirty="0"/>
              <a:t>    String name;</a:t>
            </a:r>
          </a:p>
          <a:p>
            <a:endParaRPr lang="en-IN" sz="1200" dirty="0"/>
          </a:p>
          <a:p>
            <a:r>
              <a:rPr lang="en-IN" sz="1200" dirty="0"/>
              <a:t>    // Constructor for the parent class</a:t>
            </a:r>
          </a:p>
          <a:p>
            <a:r>
              <a:rPr lang="en-IN" sz="1200" dirty="0"/>
              <a:t>    Animal(String name) {</a:t>
            </a:r>
          </a:p>
          <a:p>
            <a:r>
              <a:rPr lang="en-IN" sz="1200" dirty="0"/>
              <a:t>        this.name = name;</a:t>
            </a:r>
          </a:p>
          <a:p>
            <a:r>
              <a:rPr lang="en-IN" sz="1200" dirty="0"/>
              <a:t>    }</a:t>
            </a:r>
          </a:p>
          <a:p>
            <a:endParaRPr lang="en-IN" sz="1200" dirty="0"/>
          </a:p>
          <a:p>
            <a:r>
              <a:rPr lang="en-IN" sz="1200" dirty="0"/>
              <a:t>    // Parent class method</a:t>
            </a:r>
          </a:p>
          <a:p>
            <a:r>
              <a:rPr lang="en-IN" sz="1200" dirty="0"/>
              <a:t>    void sound() {</a:t>
            </a:r>
          </a:p>
          <a:p>
            <a:r>
              <a:rPr lang="en-IN" sz="1200" dirty="0"/>
              <a:t>        </a:t>
            </a:r>
            <a:r>
              <a:rPr lang="en-IN" sz="1200" dirty="0" err="1"/>
              <a:t>System.out.println</a:t>
            </a:r>
            <a:r>
              <a:rPr lang="en-IN" sz="1200" dirty="0"/>
              <a:t>("Animals make sounds");</a:t>
            </a:r>
          </a:p>
          <a:p>
            <a:r>
              <a:rPr lang="en-IN" sz="1200" dirty="0"/>
              <a:t>    }</a:t>
            </a:r>
          </a:p>
          <a:p>
            <a:r>
              <a:rPr lang="en-IN" sz="1200" dirty="0"/>
              <a:t>}</a:t>
            </a:r>
          </a:p>
          <a:p>
            <a:endParaRPr lang="en-IN" sz="1200" dirty="0"/>
          </a:p>
          <a:p>
            <a:r>
              <a:rPr lang="en-IN" sz="1200" dirty="0"/>
              <a:t>// Child class inheriting from Parent class</a:t>
            </a:r>
          </a:p>
          <a:p>
            <a:r>
              <a:rPr lang="en-IN" sz="1200" dirty="0"/>
              <a:t>class Dog extends Animal {</a:t>
            </a:r>
          </a:p>
          <a:p>
            <a:r>
              <a:rPr lang="en-IN" sz="1200" dirty="0"/>
              <a:t>    String breed;</a:t>
            </a:r>
          </a:p>
          <a:p>
            <a:endParaRPr lang="en-IN" sz="1200" dirty="0"/>
          </a:p>
          <a:p>
            <a:r>
              <a:rPr lang="en-IN" sz="1200" dirty="0"/>
              <a:t>    // Constructor for the child class</a:t>
            </a:r>
          </a:p>
          <a:p>
            <a:r>
              <a:rPr lang="en-IN" sz="1200" dirty="0"/>
              <a:t>    Dog(String name, String breed) {</a:t>
            </a:r>
          </a:p>
          <a:p>
            <a:r>
              <a:rPr lang="en-IN" sz="1200" dirty="0"/>
              <a:t>        super(name);  // Calling the parent class constructor</a:t>
            </a:r>
          </a:p>
          <a:p>
            <a:r>
              <a:rPr lang="en-IN" sz="1200" dirty="0"/>
              <a:t>        </a:t>
            </a:r>
            <a:r>
              <a:rPr lang="en-IN" sz="1200" dirty="0" err="1"/>
              <a:t>this.breed</a:t>
            </a:r>
            <a:r>
              <a:rPr lang="en-IN" sz="1200" dirty="0"/>
              <a:t> = breed;</a:t>
            </a:r>
          </a:p>
          <a:p>
            <a:r>
              <a:rPr lang="en-IN" sz="1200" dirty="0"/>
              <a:t>    }</a:t>
            </a:r>
          </a:p>
          <a:p>
            <a:endParaRPr lang="en-IN" sz="1200" dirty="0"/>
          </a:p>
          <a:p>
            <a:r>
              <a:rPr lang="en-IN" sz="1200" dirty="0"/>
              <a:t>    // Overriding the parent class method</a:t>
            </a:r>
          </a:p>
          <a:p>
            <a:r>
              <a:rPr lang="en-IN" sz="1200" dirty="0"/>
              <a:t>    @Override</a:t>
            </a:r>
          </a:p>
          <a:p>
            <a:r>
              <a:rPr lang="en-IN" sz="1200" dirty="0"/>
              <a:t>    void sound() {</a:t>
            </a:r>
          </a:p>
          <a:p>
            <a:r>
              <a:rPr lang="en-IN" sz="1200" dirty="0"/>
              <a:t>        </a:t>
            </a:r>
            <a:r>
              <a:rPr lang="en-IN" sz="1200" dirty="0" err="1"/>
              <a:t>System.out.println</a:t>
            </a:r>
            <a:r>
              <a:rPr lang="en-IN" sz="1200" dirty="0"/>
              <a:t>(name + " says: Bark! Bark!");</a:t>
            </a:r>
          </a:p>
          <a:p>
            <a:r>
              <a:rPr lang="en-IN" sz="1200" dirty="0"/>
              <a:t>    }</a:t>
            </a:r>
          </a:p>
          <a:p>
            <a:r>
              <a:rPr lang="en-IN" sz="1200" dirty="0"/>
              <a:t>}</a:t>
            </a:r>
          </a:p>
        </p:txBody>
      </p:sp>
      <p:sp>
        <p:nvSpPr>
          <p:cNvPr id="4" name="TextBox 3">
            <a:extLst>
              <a:ext uri="{FF2B5EF4-FFF2-40B4-BE49-F238E27FC236}">
                <a16:creationId xmlns:a16="http://schemas.microsoft.com/office/drawing/2014/main" id="{89F6AE99-BE44-02D6-3AA5-D6BEF9594ED4}"/>
              </a:ext>
            </a:extLst>
          </p:cNvPr>
          <p:cNvSpPr txBox="1"/>
          <p:nvPr/>
        </p:nvSpPr>
        <p:spPr>
          <a:xfrm>
            <a:off x="6793255" y="1318021"/>
            <a:ext cx="5110480" cy="5262979"/>
          </a:xfrm>
          <a:prstGeom prst="rect">
            <a:avLst/>
          </a:prstGeom>
          <a:noFill/>
        </p:spPr>
        <p:txBody>
          <a:bodyPr wrap="square" rtlCol="0">
            <a:spAutoFit/>
          </a:bodyPr>
          <a:lstStyle/>
          <a:p>
            <a:endParaRPr lang="en-IN" sz="1200" dirty="0"/>
          </a:p>
          <a:p>
            <a:r>
              <a:rPr lang="en-IN" sz="1200" dirty="0"/>
              <a:t>;  // Output: Whiskers says: Meow! Meow!</a:t>
            </a:r>
          </a:p>
          <a:p>
            <a:r>
              <a:rPr lang="en-IN" sz="1200" dirty="0"/>
              <a:t>    }</a:t>
            </a:r>
          </a:p>
          <a:p>
            <a:r>
              <a:rPr lang="en-IN" sz="1200" dirty="0"/>
              <a:t>}</a:t>
            </a:r>
          </a:p>
          <a:p>
            <a:r>
              <a:rPr lang="en-IN" sz="1200" dirty="0"/>
              <a:t>// Another child class</a:t>
            </a:r>
          </a:p>
          <a:p>
            <a:r>
              <a:rPr lang="en-IN" sz="1200" dirty="0"/>
              <a:t>class Cat extends Animal {</a:t>
            </a:r>
          </a:p>
          <a:p>
            <a:endParaRPr lang="en-IN" sz="1200" dirty="0"/>
          </a:p>
          <a:p>
            <a:r>
              <a:rPr lang="en-IN" sz="1200" dirty="0"/>
              <a:t>    // Constructor for the child class</a:t>
            </a:r>
          </a:p>
          <a:p>
            <a:r>
              <a:rPr lang="en-IN" sz="1200" dirty="0"/>
              <a:t>    Cat(String name) {</a:t>
            </a:r>
          </a:p>
          <a:p>
            <a:r>
              <a:rPr lang="en-IN" sz="1200" dirty="0"/>
              <a:t>        super(name);</a:t>
            </a:r>
          </a:p>
          <a:p>
            <a:r>
              <a:rPr lang="en-IN" sz="1200" dirty="0"/>
              <a:t>    }</a:t>
            </a:r>
          </a:p>
          <a:p>
            <a:endParaRPr lang="en-IN" sz="1200" dirty="0"/>
          </a:p>
          <a:p>
            <a:r>
              <a:rPr lang="en-IN" sz="1200" dirty="0"/>
              <a:t>    // Overriding the parent class method</a:t>
            </a:r>
          </a:p>
          <a:p>
            <a:r>
              <a:rPr lang="en-IN" sz="1200" dirty="0"/>
              <a:t>    @Override</a:t>
            </a:r>
          </a:p>
          <a:p>
            <a:r>
              <a:rPr lang="en-IN" sz="1200" dirty="0"/>
              <a:t>    void sound() {</a:t>
            </a:r>
          </a:p>
          <a:p>
            <a:r>
              <a:rPr lang="en-IN" sz="1200" dirty="0"/>
              <a:t>        </a:t>
            </a:r>
            <a:r>
              <a:rPr lang="en-IN" sz="1200" dirty="0" err="1"/>
              <a:t>System.out.println</a:t>
            </a:r>
            <a:r>
              <a:rPr lang="en-IN" sz="1200" dirty="0"/>
              <a:t>(name + " says: Meow! Meow!");</a:t>
            </a:r>
          </a:p>
          <a:p>
            <a:r>
              <a:rPr lang="en-IN" sz="1200" dirty="0"/>
              <a:t>    }</a:t>
            </a:r>
          </a:p>
          <a:p>
            <a:r>
              <a:rPr lang="en-IN" sz="1200" dirty="0"/>
              <a:t>}</a:t>
            </a:r>
          </a:p>
          <a:p>
            <a:endParaRPr lang="en-IN" sz="1200" dirty="0"/>
          </a:p>
          <a:p>
            <a:r>
              <a:rPr lang="en-IN" sz="1200" dirty="0"/>
              <a:t>// Main class to test the program</a:t>
            </a:r>
          </a:p>
          <a:p>
            <a:r>
              <a:rPr lang="en-IN" sz="1200" dirty="0"/>
              <a:t>public class </a:t>
            </a:r>
            <a:r>
              <a:rPr lang="en-IN" sz="1200" dirty="0" err="1"/>
              <a:t>InheritanceExample</a:t>
            </a:r>
            <a:r>
              <a:rPr lang="en-IN" sz="1200" dirty="0"/>
              <a:t> {</a:t>
            </a:r>
          </a:p>
          <a:p>
            <a:r>
              <a:rPr lang="en-IN" sz="1200" dirty="0"/>
              <a:t>    public static void main(String[] </a:t>
            </a:r>
            <a:r>
              <a:rPr lang="en-IN" sz="1200" dirty="0" err="1"/>
              <a:t>args</a:t>
            </a:r>
            <a:r>
              <a:rPr lang="en-IN" sz="1200" dirty="0"/>
              <a:t>) {</a:t>
            </a:r>
          </a:p>
          <a:p>
            <a:r>
              <a:rPr lang="en-IN" sz="1200" dirty="0"/>
              <a:t>        Dog </a:t>
            </a:r>
            <a:r>
              <a:rPr lang="en-IN" sz="1200" dirty="0" err="1"/>
              <a:t>dog</a:t>
            </a:r>
            <a:r>
              <a:rPr lang="en-IN" sz="1200" dirty="0"/>
              <a:t> = new Dog("Buddy", "Golden Retriever");</a:t>
            </a:r>
          </a:p>
          <a:p>
            <a:r>
              <a:rPr lang="en-IN" sz="1200" dirty="0"/>
              <a:t>        Cat </a:t>
            </a:r>
            <a:r>
              <a:rPr lang="en-IN" sz="1200" dirty="0" err="1"/>
              <a:t>cat</a:t>
            </a:r>
            <a:r>
              <a:rPr lang="en-IN" sz="1200" dirty="0"/>
              <a:t> = new Cat("Whiskers");</a:t>
            </a:r>
          </a:p>
          <a:p>
            <a:endParaRPr lang="en-IN" sz="1200" dirty="0"/>
          </a:p>
          <a:p>
            <a:r>
              <a:rPr lang="en-IN" sz="1200" dirty="0"/>
              <a:t>        // Calling methods</a:t>
            </a:r>
          </a:p>
          <a:p>
            <a:r>
              <a:rPr lang="en-IN" sz="1200" dirty="0"/>
              <a:t>        </a:t>
            </a:r>
            <a:r>
              <a:rPr lang="en-IN" sz="1200" dirty="0" err="1"/>
              <a:t>dog.sound</a:t>
            </a:r>
            <a:r>
              <a:rPr lang="en-IN" sz="1200" dirty="0"/>
              <a:t>();  // Output: Buddy says: Bark! Bark!</a:t>
            </a:r>
          </a:p>
          <a:p>
            <a:r>
              <a:rPr lang="en-IN" sz="1200" dirty="0"/>
              <a:t>        </a:t>
            </a:r>
            <a:r>
              <a:rPr lang="en-IN" sz="1200" dirty="0" err="1"/>
              <a:t>cat.sound</a:t>
            </a:r>
            <a:r>
              <a:rPr lang="en-IN" sz="1200" dirty="0"/>
              <a:t>()</a:t>
            </a:r>
          </a:p>
        </p:txBody>
      </p:sp>
    </p:spTree>
    <p:extLst>
      <p:ext uri="{BB962C8B-B14F-4D97-AF65-F5344CB8AC3E}">
        <p14:creationId xmlns:p14="http://schemas.microsoft.com/office/powerpoint/2010/main" val="197248463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402080" y="169068"/>
            <a:ext cx="10058400" cy="932657"/>
          </a:xfrm>
        </p:spPr>
        <p:txBody>
          <a:bodyPr>
            <a:normAutofit/>
          </a:bodyPr>
          <a:lstStyle/>
          <a:p>
            <a:pPr algn="ctr"/>
            <a:r>
              <a:rPr lang="en-US" b="1" dirty="0"/>
              <a:t>Types Of Inheritance</a:t>
            </a:r>
          </a:p>
        </p:txBody>
      </p:sp>
      <p:pic>
        <p:nvPicPr>
          <p:cNvPr id="5" name="Picture 2"/>
          <p:cNvPicPr>
            <a:picLocks noGrp="1" noChangeAspect="1" noChangeArrowheads="1"/>
          </p:cNvPicPr>
          <p:nvPr>
            <p:ph sz="half" idx="1"/>
          </p:nvPr>
        </p:nvPicPr>
        <p:blipFill>
          <a:blip r:embed="rId2" cstate="print"/>
          <a:srcRect/>
          <a:stretch>
            <a:fillRect/>
          </a:stretch>
        </p:blipFill>
        <p:spPr bwMode="auto">
          <a:xfrm>
            <a:off x="762000" y="1188720"/>
            <a:ext cx="10957560" cy="5135879"/>
          </a:xfrm>
          <a:prstGeom prst="rect">
            <a:avLst/>
          </a:prstGeom>
          <a:ln>
            <a:headEnd/>
            <a:tailEnd/>
          </a:ln>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197248463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402080" y="169068"/>
            <a:ext cx="10058400" cy="932657"/>
          </a:xfrm>
        </p:spPr>
        <p:txBody>
          <a:bodyPr>
            <a:normAutofit/>
          </a:bodyPr>
          <a:lstStyle/>
          <a:p>
            <a:pPr algn="ctr"/>
            <a:r>
              <a:rPr lang="en-US" b="1" dirty="0"/>
              <a:t>Predict the output??</a:t>
            </a:r>
          </a:p>
        </p:txBody>
      </p:sp>
      <p:sp>
        <p:nvSpPr>
          <p:cNvPr id="123907" name="Rectangle 3"/>
          <p:cNvSpPr>
            <a:spLocks noGrp="1" noChangeArrowheads="1"/>
          </p:cNvSpPr>
          <p:nvPr>
            <p:ph type="body" idx="1"/>
          </p:nvPr>
        </p:nvSpPr>
        <p:spPr>
          <a:xfrm>
            <a:off x="0" y="1188720"/>
            <a:ext cx="12192000" cy="5669280"/>
          </a:xfrm>
          <a:effectLst>
            <a:outerShdw blurRad="50800" dist="38100" dir="5400000" algn="t" rotWithShape="0">
              <a:prstClr val="black">
                <a:alpha val="40000"/>
              </a:prstClr>
            </a:outerShdw>
          </a:effectLst>
        </p:spPr>
        <p:txBody>
          <a:bodyPr>
            <a:normAutofit fontScale="70000" lnSpcReduction="20000"/>
          </a:bodyPr>
          <a:lstStyle/>
          <a:p>
            <a:pPr marL="0" indent="0">
              <a:buNone/>
            </a:pPr>
            <a:r>
              <a:rPr lang="en-US" dirty="0"/>
              <a:t>class Animal{  </a:t>
            </a:r>
          </a:p>
          <a:p>
            <a:pPr marL="0" indent="0">
              <a:buNone/>
            </a:pPr>
            <a:r>
              <a:rPr lang="en-US" dirty="0"/>
              <a:t>String color="white";  </a:t>
            </a:r>
          </a:p>
          <a:p>
            <a:pPr marL="0" indent="0">
              <a:buNone/>
            </a:pPr>
            <a:r>
              <a:rPr lang="en-US" dirty="0"/>
              <a:t>}  </a:t>
            </a:r>
          </a:p>
          <a:p>
            <a:pPr marL="0" indent="0">
              <a:buNone/>
            </a:pPr>
            <a:r>
              <a:rPr lang="en-US" dirty="0"/>
              <a:t>class Dog extends Animal{  </a:t>
            </a:r>
          </a:p>
          <a:p>
            <a:pPr marL="0" indent="0">
              <a:buNone/>
            </a:pPr>
            <a:r>
              <a:rPr lang="en-US" dirty="0"/>
              <a:t>String color="black";  </a:t>
            </a:r>
          </a:p>
          <a:p>
            <a:pPr marL="0" indent="0">
              <a:buNone/>
            </a:pPr>
            <a:r>
              <a:rPr lang="en-US" dirty="0"/>
              <a:t>void </a:t>
            </a:r>
            <a:r>
              <a:rPr lang="en-US" dirty="0" err="1"/>
              <a:t>printColor</a:t>
            </a:r>
            <a:r>
              <a:rPr lang="en-US" dirty="0"/>
              <a:t>(){  </a:t>
            </a:r>
          </a:p>
          <a:p>
            <a:pPr marL="0" indent="0">
              <a:buNone/>
            </a:pPr>
            <a:r>
              <a:rPr lang="en-US" dirty="0" err="1"/>
              <a:t>System.out.println</a:t>
            </a:r>
            <a:r>
              <a:rPr lang="en-US" dirty="0"/>
              <a:t>(color);//prints color of Dog class  </a:t>
            </a:r>
          </a:p>
          <a:p>
            <a:pPr marL="0" indent="0">
              <a:buNone/>
            </a:pPr>
            <a:r>
              <a:rPr lang="en-US" dirty="0" err="1"/>
              <a:t>System.out.println</a:t>
            </a:r>
            <a:r>
              <a:rPr lang="en-US" dirty="0"/>
              <a:t>(</a:t>
            </a:r>
            <a:r>
              <a:rPr lang="en-US" dirty="0" err="1"/>
              <a:t>super.color</a:t>
            </a:r>
            <a:r>
              <a:rPr lang="en-US" dirty="0"/>
              <a:t>);//prints color of Animal class  </a:t>
            </a:r>
          </a:p>
          <a:p>
            <a:pPr marL="0" indent="0">
              <a:buNone/>
            </a:pPr>
            <a:r>
              <a:rPr lang="en-US" dirty="0"/>
              <a:t>}  </a:t>
            </a:r>
          </a:p>
          <a:p>
            <a:pPr marL="0" indent="0">
              <a:buNone/>
            </a:pPr>
            <a:r>
              <a:rPr lang="en-US" dirty="0"/>
              <a:t>}  </a:t>
            </a:r>
          </a:p>
          <a:p>
            <a:pPr marL="0" indent="0">
              <a:buNone/>
            </a:pPr>
            <a:r>
              <a:rPr lang="en-US" dirty="0"/>
              <a:t>class TestSuper1{  </a:t>
            </a:r>
          </a:p>
          <a:p>
            <a:pPr marL="0" indent="0">
              <a:buNone/>
            </a:pPr>
            <a:r>
              <a:rPr lang="en-US" dirty="0"/>
              <a:t>public static void main(String args[]){  </a:t>
            </a:r>
          </a:p>
          <a:p>
            <a:pPr marL="0" indent="0">
              <a:buNone/>
            </a:pPr>
            <a:r>
              <a:rPr lang="en-US" dirty="0"/>
              <a:t>Dog d=new Dog();  </a:t>
            </a:r>
          </a:p>
          <a:p>
            <a:pPr marL="0" indent="0">
              <a:buNone/>
            </a:pPr>
            <a:r>
              <a:rPr lang="en-US" dirty="0" err="1"/>
              <a:t>d.printColor</a:t>
            </a:r>
            <a:r>
              <a:rPr lang="en-US" dirty="0"/>
              <a:t>();  </a:t>
            </a:r>
          </a:p>
          <a:p>
            <a:pPr marL="0" indent="0">
              <a:buNone/>
            </a:pPr>
            <a:r>
              <a:rPr lang="en-US" dirty="0"/>
              <a:t>}}  </a:t>
            </a:r>
          </a:p>
          <a:p>
            <a:pPr marL="0" indent="0">
              <a:buNone/>
            </a:pPr>
            <a:r>
              <a:rPr lang="en-US" b="1" dirty="0"/>
              <a:t>Output: black white</a:t>
            </a:r>
          </a:p>
        </p:txBody>
      </p:sp>
    </p:spTree>
    <p:extLst>
      <p:ext uri="{BB962C8B-B14F-4D97-AF65-F5344CB8AC3E}">
        <p14:creationId xmlns:p14="http://schemas.microsoft.com/office/powerpoint/2010/main" val="93540556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402080" y="169068"/>
            <a:ext cx="10058400" cy="932657"/>
          </a:xfrm>
        </p:spPr>
        <p:txBody>
          <a:bodyPr>
            <a:normAutofit/>
          </a:bodyPr>
          <a:lstStyle/>
          <a:p>
            <a:pPr algn="ctr"/>
            <a:r>
              <a:rPr lang="en-US" b="1" dirty="0"/>
              <a:t>POLYMORPHISM</a:t>
            </a:r>
          </a:p>
        </p:txBody>
      </p:sp>
      <p:sp>
        <p:nvSpPr>
          <p:cNvPr id="123907" name="Rectangle 3"/>
          <p:cNvSpPr>
            <a:spLocks noGrp="1" noChangeArrowheads="1"/>
          </p:cNvSpPr>
          <p:nvPr>
            <p:ph type="body" idx="1"/>
          </p:nvPr>
        </p:nvSpPr>
        <p:spPr>
          <a:xfrm>
            <a:off x="132080" y="1412875"/>
            <a:ext cx="6096000" cy="4343400"/>
          </a:xfrm>
        </p:spPr>
        <p:txBody>
          <a:bodyPr>
            <a:normAutofit/>
          </a:bodyPr>
          <a:lstStyle/>
          <a:p>
            <a:r>
              <a:rPr lang="en-US" dirty="0"/>
              <a:t>Polymorphism is one of the </a:t>
            </a:r>
            <a:r>
              <a:rPr lang="en-US" b="1" dirty="0"/>
              <a:t>OOPs feature </a:t>
            </a:r>
            <a:r>
              <a:rPr lang="en-US" dirty="0"/>
              <a:t>that allows us to </a:t>
            </a:r>
            <a:r>
              <a:rPr lang="en-US" b="1" dirty="0"/>
              <a:t>perform a single action </a:t>
            </a:r>
            <a:r>
              <a:rPr lang="en-US" dirty="0"/>
              <a:t>in different ways.</a:t>
            </a:r>
          </a:p>
          <a:p>
            <a:r>
              <a:rPr lang="en-US" dirty="0"/>
              <a:t>Polymorphism is the capability of a method to </a:t>
            </a:r>
            <a:r>
              <a:rPr lang="en-US" b="1" dirty="0"/>
              <a:t>do different things based on the object that it is acting upon</a:t>
            </a:r>
            <a:r>
              <a:rPr lang="en-US" dirty="0"/>
              <a:t>. </a:t>
            </a:r>
          </a:p>
          <a:p>
            <a:r>
              <a:rPr lang="en-US" dirty="0"/>
              <a:t>It allows you </a:t>
            </a:r>
            <a:r>
              <a:rPr lang="en-US" b="1" dirty="0"/>
              <a:t>define one interface and have multiple implementations</a:t>
            </a:r>
            <a:r>
              <a:rPr lang="en-US" dirty="0"/>
              <a:t>. </a:t>
            </a:r>
          </a:p>
        </p:txBody>
      </p:sp>
      <p:pic>
        <p:nvPicPr>
          <p:cNvPr id="4098" name="Picture 2" descr="Java Polymorphism - Master the Concept ...">
            <a:extLst>
              <a:ext uri="{FF2B5EF4-FFF2-40B4-BE49-F238E27FC236}">
                <a16:creationId xmlns:a16="http://schemas.microsoft.com/office/drawing/2014/main" id="{E9A0AB91-C8EB-664B-C2AD-FBB45908F1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1280" y="1812925"/>
            <a:ext cx="5510585" cy="287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40556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853440" y="169068"/>
            <a:ext cx="10607040" cy="932657"/>
          </a:xfrm>
        </p:spPr>
        <p:txBody>
          <a:bodyPr>
            <a:normAutofit/>
          </a:bodyPr>
          <a:lstStyle/>
          <a:p>
            <a:r>
              <a:rPr lang="en-US" sz="3600" dirty="0">
                <a:latin typeface="Times New Roman" pitchFamily="18" charset="0"/>
                <a:cs typeface="Times New Roman" pitchFamily="18" charset="0"/>
              </a:rPr>
              <a:t>Difference between Static and runtime polymorphism</a:t>
            </a:r>
          </a:p>
        </p:txBody>
      </p:sp>
      <p:sp>
        <p:nvSpPr>
          <p:cNvPr id="2" name="Content Placeholder 1"/>
          <p:cNvSpPr>
            <a:spLocks noGrp="1"/>
          </p:cNvSpPr>
          <p:nvPr>
            <p:ph idx="1"/>
          </p:nvPr>
        </p:nvSpPr>
        <p:spPr>
          <a:xfrm>
            <a:off x="6278880" y="1444625"/>
            <a:ext cx="4632960" cy="4351338"/>
          </a:xfrm>
        </p:spPr>
        <p:txBody>
          <a:bodyPr/>
          <a:lstStyle/>
          <a:p>
            <a:r>
              <a:rPr lang="en-US" dirty="0"/>
              <a:t>Runtime </a:t>
            </a:r>
            <a:r>
              <a:rPr lang="en-US" dirty="0">
                <a:latin typeface="Times New Roman" pitchFamily="18" charset="0"/>
                <a:cs typeface="Times New Roman" pitchFamily="18" charset="0"/>
              </a:rPr>
              <a:t>polymorphism</a:t>
            </a:r>
            <a:endParaRPr lang="en-US" dirty="0"/>
          </a:p>
        </p:txBody>
      </p:sp>
      <p:sp>
        <p:nvSpPr>
          <p:cNvPr id="5" name="Content Placeholder 1"/>
          <p:cNvSpPr txBox="1">
            <a:spLocks/>
          </p:cNvSpPr>
          <p:nvPr/>
        </p:nvSpPr>
        <p:spPr>
          <a:xfrm>
            <a:off x="923925" y="1444625"/>
            <a:ext cx="463296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Static </a:t>
            </a:r>
            <a:r>
              <a:rPr lang="en-US" dirty="0">
                <a:latin typeface="Times New Roman" pitchFamily="18" charset="0"/>
                <a:cs typeface="Times New Roman" pitchFamily="18" charset="0"/>
              </a:rPr>
              <a:t>polymorphism</a:t>
            </a:r>
          </a:p>
          <a:p>
            <a:r>
              <a:rPr lang="en-US" dirty="0"/>
              <a:t> </a:t>
            </a:r>
          </a:p>
        </p:txBody>
      </p:sp>
      <p:pic>
        <p:nvPicPr>
          <p:cNvPr id="6" name="Picture 2"/>
          <p:cNvPicPr>
            <a:picLocks noChangeAspect="1" noChangeArrowheads="1"/>
          </p:cNvPicPr>
          <p:nvPr/>
        </p:nvPicPr>
        <p:blipFill>
          <a:blip r:embed="rId2" cstate="print"/>
          <a:srcRect/>
          <a:stretch>
            <a:fillRect/>
          </a:stretch>
        </p:blipFill>
        <p:spPr bwMode="auto">
          <a:xfrm>
            <a:off x="736606" y="2096126"/>
            <a:ext cx="4820279" cy="4592806"/>
          </a:xfrm>
          <a:prstGeom prst="rect">
            <a:avLst/>
          </a:prstGeom>
          <a:noFill/>
          <a:ln w="9525">
            <a:noFill/>
            <a:miter lim="800000"/>
            <a:headEnd/>
            <a:tailEnd/>
          </a:ln>
        </p:spPr>
      </p:pic>
      <p:pic>
        <p:nvPicPr>
          <p:cNvPr id="7" name="Picture 2"/>
          <p:cNvPicPr>
            <a:picLocks noChangeAspect="1" noChangeArrowheads="1"/>
          </p:cNvPicPr>
          <p:nvPr/>
        </p:nvPicPr>
        <p:blipFill>
          <a:blip r:embed="rId3" cstate="print"/>
          <a:srcRect/>
          <a:stretch>
            <a:fillRect/>
          </a:stretch>
        </p:blipFill>
        <p:spPr bwMode="auto">
          <a:xfrm>
            <a:off x="5913121" y="2096126"/>
            <a:ext cx="5705475" cy="4592806"/>
          </a:xfrm>
          <a:prstGeom prst="rect">
            <a:avLst/>
          </a:prstGeom>
          <a:noFill/>
          <a:ln w="9525">
            <a:noFill/>
            <a:miter lim="800000"/>
            <a:headEnd/>
            <a:tailEnd/>
          </a:ln>
        </p:spPr>
      </p:pic>
    </p:spTree>
    <p:extLst>
      <p:ext uri="{BB962C8B-B14F-4D97-AF65-F5344CB8AC3E}">
        <p14:creationId xmlns:p14="http://schemas.microsoft.com/office/powerpoint/2010/main" val="266028033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pic>
        <p:nvPicPr>
          <p:cNvPr id="5122" name="Picture 2" descr="Java Tutorial : Polymorphism in Java | Java Polymorphism | learntek.org">
            <a:extLst>
              <a:ext uri="{FF2B5EF4-FFF2-40B4-BE49-F238E27FC236}">
                <a16:creationId xmlns:a16="http://schemas.microsoft.com/office/drawing/2014/main" id="{52B2C9B8-8D9F-5D6A-A002-8A856E17D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608" y="791845"/>
            <a:ext cx="10264784" cy="4973001"/>
          </a:xfrm>
          <a:prstGeom prst="rect">
            <a:avLst/>
          </a:prstGeom>
        </p:spPr>
        <p:style>
          <a:lnRef idx="2">
            <a:schemeClr val="accent2"/>
          </a:lnRef>
          <a:fillRef idx="1">
            <a:schemeClr val="lt1"/>
          </a:fillRef>
          <a:effectRef idx="0">
            <a:schemeClr val="accent2"/>
          </a:effectRef>
          <a:fontRef idx="minor">
            <a:schemeClr val="dk1"/>
          </a:fontRef>
        </p:style>
      </p:pic>
      <p:sp>
        <p:nvSpPr>
          <p:cNvPr id="6" name="Content Placeholder 5">
            <a:extLst>
              <a:ext uri="{FF2B5EF4-FFF2-40B4-BE49-F238E27FC236}">
                <a16:creationId xmlns:a16="http://schemas.microsoft.com/office/drawing/2014/main" id="{441FABF0-B8BD-7A5B-9D7A-52C903B29AB7}"/>
              </a:ext>
            </a:extLst>
          </p:cNvPr>
          <p:cNvSpPr>
            <a:spLocks noGrp="1"/>
          </p:cNvSpPr>
          <p:nvPr>
            <p:ph idx="1"/>
          </p:nvPr>
        </p:nvSpPr>
        <p:spPr>
          <a:xfrm>
            <a:off x="838200" y="5654039"/>
            <a:ext cx="5974080" cy="522923"/>
          </a:xfrm>
        </p:spPr>
        <p:txBody>
          <a:bodyPr/>
          <a:lstStyle/>
          <a:p>
            <a:endParaRPr lang="en-IN" dirty="0"/>
          </a:p>
        </p:txBody>
      </p:sp>
    </p:spTree>
    <p:extLst>
      <p:ext uri="{BB962C8B-B14F-4D97-AF65-F5344CB8AC3E}">
        <p14:creationId xmlns:p14="http://schemas.microsoft.com/office/powerpoint/2010/main" val="3343361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402080" y="169068"/>
            <a:ext cx="10058400" cy="932657"/>
          </a:xfrm>
        </p:spPr>
        <p:txBody>
          <a:bodyPr>
            <a:normAutofit/>
          </a:bodyPr>
          <a:lstStyle/>
          <a:p>
            <a:pPr algn="ctr"/>
            <a:r>
              <a:rPr lang="en-US" b="1" dirty="0"/>
              <a:t>Advantages of Method Overloading in Java</a:t>
            </a:r>
          </a:p>
        </p:txBody>
      </p:sp>
      <p:graphicFrame>
        <p:nvGraphicFramePr>
          <p:cNvPr id="2" name="Diagram 1">
            <a:extLst>
              <a:ext uri="{FF2B5EF4-FFF2-40B4-BE49-F238E27FC236}">
                <a16:creationId xmlns:a16="http://schemas.microsoft.com/office/drawing/2014/main" id="{3FDC4617-736B-2612-6AF1-3C91DC058B51}"/>
              </a:ext>
            </a:extLst>
          </p:cNvPr>
          <p:cNvGraphicFramePr/>
          <p:nvPr>
            <p:extLst>
              <p:ext uri="{D42A27DB-BD31-4B8C-83A1-F6EECF244321}">
                <p14:modId xmlns:p14="http://schemas.microsoft.com/office/powerpoint/2010/main" val="2363927988"/>
              </p:ext>
            </p:extLst>
          </p:nvPr>
        </p:nvGraphicFramePr>
        <p:xfrm>
          <a:off x="0" y="1158240"/>
          <a:ext cx="12192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028033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402080" y="169068"/>
            <a:ext cx="10058400" cy="932657"/>
          </a:xfrm>
        </p:spPr>
        <p:txBody>
          <a:bodyPr>
            <a:normAutofit/>
          </a:bodyPr>
          <a:lstStyle/>
          <a:p>
            <a:pPr algn="ctr"/>
            <a:r>
              <a:rPr lang="en-US" b="1" dirty="0"/>
              <a:t>Access Modifiers in Java</a:t>
            </a:r>
          </a:p>
        </p:txBody>
      </p:sp>
      <p:graphicFrame>
        <p:nvGraphicFramePr>
          <p:cNvPr id="4" name="Diagram 3">
            <a:extLst>
              <a:ext uri="{FF2B5EF4-FFF2-40B4-BE49-F238E27FC236}">
                <a16:creationId xmlns:a16="http://schemas.microsoft.com/office/drawing/2014/main" id="{AB55EF09-FA4D-FABF-D837-F213E9024417}"/>
              </a:ext>
            </a:extLst>
          </p:cNvPr>
          <p:cNvGraphicFramePr/>
          <p:nvPr>
            <p:extLst>
              <p:ext uri="{D42A27DB-BD31-4B8C-83A1-F6EECF244321}">
                <p14:modId xmlns:p14="http://schemas.microsoft.com/office/powerpoint/2010/main" val="218958812"/>
              </p:ext>
            </p:extLst>
          </p:nvPr>
        </p:nvGraphicFramePr>
        <p:xfrm>
          <a:off x="536871" y="2447120"/>
          <a:ext cx="11118257" cy="4410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E71FCC6D-7E80-6141-065C-83D13B6D7EFE}"/>
              </a:ext>
            </a:extLst>
          </p:cNvPr>
          <p:cNvSpPr txBox="1"/>
          <p:nvPr/>
        </p:nvSpPr>
        <p:spPr>
          <a:xfrm>
            <a:off x="1811436" y="1222848"/>
            <a:ext cx="8860421" cy="923330"/>
          </a:xfrm>
          <a:prstGeom prst="rect">
            <a:avLst/>
          </a:prstGeom>
          <a:noFill/>
        </p:spPr>
        <p:txBody>
          <a:bodyPr wrap="square">
            <a:spAutoFit/>
          </a:bodyPr>
          <a:lstStyle/>
          <a:p>
            <a:pPr lvl="0"/>
            <a:r>
              <a:rPr lang="en-US" dirty="0"/>
              <a:t>The access modifiers in Java </a:t>
            </a:r>
            <a:r>
              <a:rPr lang="en-US" b="1" dirty="0"/>
              <a:t>specifies the accessibility or scope of a field, method, constructor, or class</a:t>
            </a:r>
            <a:r>
              <a:rPr lang="en-US" dirty="0"/>
              <a:t>. We can c</a:t>
            </a:r>
            <a:r>
              <a:rPr lang="en-US" b="1" dirty="0"/>
              <a:t>hange the access level of fields, constructors, methods, and class by applying the access </a:t>
            </a:r>
            <a:r>
              <a:rPr lang="en-US" dirty="0"/>
              <a:t>modifier on it.</a:t>
            </a:r>
            <a:endParaRPr lang="en-IN" dirty="0"/>
          </a:p>
        </p:txBody>
      </p:sp>
    </p:spTree>
    <p:extLst>
      <p:ext uri="{BB962C8B-B14F-4D97-AF65-F5344CB8AC3E}">
        <p14:creationId xmlns:p14="http://schemas.microsoft.com/office/powerpoint/2010/main" val="29829272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D41D0-6C6F-717D-CF16-8BAC29BDFD91}"/>
              </a:ext>
            </a:extLst>
          </p:cNvPr>
          <p:cNvSpPr>
            <a:spLocks noGrp="1"/>
          </p:cNvSpPr>
          <p:nvPr>
            <p:ph type="title"/>
          </p:nvPr>
        </p:nvSpPr>
        <p:spPr>
          <a:xfrm>
            <a:off x="1920240" y="-415608"/>
            <a:ext cx="10515600" cy="1325563"/>
          </a:xfrm>
        </p:spPr>
        <p:txBody>
          <a:bodyPr/>
          <a:lstStyle/>
          <a:p>
            <a:r>
              <a:rPr lang="en-IN" b="1" dirty="0"/>
              <a:t>Demonstrating Access Modifiers</a:t>
            </a:r>
          </a:p>
        </p:txBody>
      </p:sp>
      <p:sp>
        <p:nvSpPr>
          <p:cNvPr id="3" name="Content Placeholder 2">
            <a:extLst>
              <a:ext uri="{FF2B5EF4-FFF2-40B4-BE49-F238E27FC236}">
                <a16:creationId xmlns:a16="http://schemas.microsoft.com/office/drawing/2014/main" id="{A50113A0-23FD-D170-0E38-89C6DAF52419}"/>
              </a:ext>
            </a:extLst>
          </p:cNvPr>
          <p:cNvSpPr>
            <a:spLocks noGrp="1"/>
          </p:cNvSpPr>
          <p:nvPr>
            <p:ph idx="1"/>
          </p:nvPr>
        </p:nvSpPr>
        <p:spPr>
          <a:xfrm>
            <a:off x="838200" y="844550"/>
            <a:ext cx="4526280" cy="5876925"/>
          </a:xfrm>
        </p:spPr>
        <p:txBody>
          <a:bodyPr>
            <a:noAutofit/>
          </a:bodyPr>
          <a:lstStyle/>
          <a:p>
            <a:pPr marL="0" indent="0">
              <a:buNone/>
            </a:pPr>
            <a:r>
              <a:rPr lang="en-IN" sz="1200" dirty="0"/>
              <a:t>// Parent class</a:t>
            </a:r>
          </a:p>
          <a:p>
            <a:pPr marL="0" indent="0">
              <a:buNone/>
            </a:pPr>
            <a:r>
              <a:rPr lang="en-IN" sz="1200" dirty="0"/>
              <a:t>class Parent {</a:t>
            </a:r>
          </a:p>
          <a:p>
            <a:pPr marL="0" indent="0">
              <a:buNone/>
            </a:pPr>
            <a:r>
              <a:rPr lang="en-IN" sz="1200" dirty="0"/>
              <a:t>    public String </a:t>
            </a:r>
            <a:r>
              <a:rPr lang="en-IN" sz="1200" dirty="0" err="1"/>
              <a:t>publicField</a:t>
            </a:r>
            <a:r>
              <a:rPr lang="en-IN" sz="1200" dirty="0"/>
              <a:t> = "Public Field";         // Accessible everywhere</a:t>
            </a:r>
          </a:p>
          <a:p>
            <a:pPr marL="0" indent="0">
              <a:buNone/>
            </a:pPr>
            <a:r>
              <a:rPr lang="en-IN" sz="1200" dirty="0"/>
              <a:t>    protected String </a:t>
            </a:r>
            <a:r>
              <a:rPr lang="en-IN" sz="1200" dirty="0" err="1"/>
              <a:t>protectedField</a:t>
            </a:r>
            <a:r>
              <a:rPr lang="en-IN" sz="1200" dirty="0"/>
              <a:t> = "Protected Field"; // Accessible within the package and subclasses</a:t>
            </a:r>
          </a:p>
          <a:p>
            <a:pPr marL="0" indent="0">
              <a:buNone/>
            </a:pPr>
            <a:r>
              <a:rPr lang="en-IN" sz="1200" dirty="0"/>
              <a:t>    String </a:t>
            </a:r>
            <a:r>
              <a:rPr lang="en-IN" sz="1200" dirty="0" err="1"/>
              <a:t>defaultField</a:t>
            </a:r>
            <a:r>
              <a:rPr lang="en-IN" sz="1200" dirty="0"/>
              <a:t> = "Default Field";             // Accessible within the package</a:t>
            </a:r>
          </a:p>
          <a:p>
            <a:pPr marL="0" indent="0">
              <a:buNone/>
            </a:pPr>
            <a:r>
              <a:rPr lang="en-IN" sz="1200" dirty="0"/>
              <a:t>    private String </a:t>
            </a:r>
            <a:r>
              <a:rPr lang="en-IN" sz="1200" dirty="0" err="1"/>
              <a:t>privateField</a:t>
            </a:r>
            <a:r>
              <a:rPr lang="en-IN" sz="1200" dirty="0"/>
              <a:t> = "Private Field";     // Accessible only within this class</a:t>
            </a:r>
          </a:p>
          <a:p>
            <a:pPr marL="0" indent="0">
              <a:buNone/>
            </a:pPr>
            <a:endParaRPr lang="en-IN" sz="1200" dirty="0"/>
          </a:p>
          <a:p>
            <a:pPr marL="0" indent="0">
              <a:buNone/>
            </a:pPr>
            <a:r>
              <a:rPr lang="en-IN" sz="1200" dirty="0"/>
              <a:t>    // Method to demonstrate private access</a:t>
            </a:r>
          </a:p>
          <a:p>
            <a:pPr marL="0" indent="0">
              <a:buNone/>
            </a:pPr>
            <a:r>
              <a:rPr lang="en-IN" sz="1200" dirty="0"/>
              <a:t>    private void </a:t>
            </a:r>
            <a:r>
              <a:rPr lang="en-IN" sz="1200" dirty="0" err="1"/>
              <a:t>privateMethod</a:t>
            </a:r>
            <a:r>
              <a:rPr lang="en-IN" sz="1200" dirty="0"/>
              <a:t>() {</a:t>
            </a:r>
          </a:p>
          <a:p>
            <a:pPr marL="0" indent="0">
              <a:buNone/>
            </a:pPr>
            <a:r>
              <a:rPr lang="en-IN" sz="1200" dirty="0"/>
              <a:t>        </a:t>
            </a:r>
            <a:r>
              <a:rPr lang="en-IN" sz="1200" dirty="0" err="1"/>
              <a:t>System.out.println</a:t>
            </a:r>
            <a:r>
              <a:rPr lang="en-IN" sz="1200" dirty="0"/>
              <a:t>("This is a private method");</a:t>
            </a:r>
          </a:p>
          <a:p>
            <a:pPr marL="0" indent="0">
              <a:buNone/>
            </a:pPr>
            <a:r>
              <a:rPr lang="en-IN" sz="1200" dirty="0"/>
              <a:t>    }</a:t>
            </a:r>
          </a:p>
          <a:p>
            <a:pPr marL="0" indent="0">
              <a:buNone/>
            </a:pPr>
            <a:endParaRPr lang="en-IN" sz="1200" dirty="0"/>
          </a:p>
          <a:p>
            <a:pPr marL="0" indent="0">
              <a:buNone/>
            </a:pPr>
            <a:r>
              <a:rPr lang="en-IN" sz="1200" dirty="0"/>
              <a:t>    // Public method to access private field and method</a:t>
            </a:r>
          </a:p>
          <a:p>
            <a:pPr marL="0" indent="0">
              <a:buNone/>
            </a:pPr>
            <a:r>
              <a:rPr lang="en-IN" sz="1200" dirty="0"/>
              <a:t>    public void </a:t>
            </a:r>
            <a:r>
              <a:rPr lang="en-IN" sz="1200" dirty="0" err="1"/>
              <a:t>accessPrivate</a:t>
            </a:r>
            <a:r>
              <a:rPr lang="en-IN" sz="1200" dirty="0"/>
              <a:t>() {</a:t>
            </a:r>
          </a:p>
          <a:p>
            <a:pPr marL="0" indent="0">
              <a:buNone/>
            </a:pPr>
            <a:r>
              <a:rPr lang="en-IN" sz="1200" dirty="0"/>
              <a:t>        </a:t>
            </a:r>
            <a:r>
              <a:rPr lang="en-IN" sz="1200" dirty="0" err="1"/>
              <a:t>System.out.println</a:t>
            </a:r>
            <a:r>
              <a:rPr lang="en-IN" sz="1200" dirty="0"/>
              <a:t>("Accessing: " + </a:t>
            </a:r>
            <a:r>
              <a:rPr lang="en-IN" sz="1200" dirty="0" err="1"/>
              <a:t>privateField</a:t>
            </a:r>
            <a:r>
              <a:rPr lang="en-IN" sz="1200" dirty="0"/>
              <a:t>);</a:t>
            </a:r>
          </a:p>
          <a:p>
            <a:pPr marL="0" indent="0">
              <a:buNone/>
            </a:pPr>
            <a:r>
              <a:rPr lang="en-IN" sz="1200" dirty="0"/>
              <a:t>        </a:t>
            </a:r>
            <a:r>
              <a:rPr lang="en-IN" sz="1200" dirty="0" err="1"/>
              <a:t>privateMethod</a:t>
            </a:r>
            <a:r>
              <a:rPr lang="en-IN" sz="1200" dirty="0"/>
              <a:t>();</a:t>
            </a:r>
          </a:p>
          <a:p>
            <a:pPr marL="0" indent="0">
              <a:buNone/>
            </a:pPr>
            <a:r>
              <a:rPr lang="en-IN" sz="1200" dirty="0"/>
              <a:t>    }</a:t>
            </a:r>
          </a:p>
          <a:p>
            <a:pPr marL="0" indent="0">
              <a:buNone/>
            </a:pPr>
            <a:endParaRPr lang="en-IN" sz="1200" dirty="0"/>
          </a:p>
        </p:txBody>
      </p:sp>
      <p:sp>
        <p:nvSpPr>
          <p:cNvPr id="4" name="Slide Number Placeholder 3">
            <a:extLst>
              <a:ext uri="{FF2B5EF4-FFF2-40B4-BE49-F238E27FC236}">
                <a16:creationId xmlns:a16="http://schemas.microsoft.com/office/drawing/2014/main" id="{5FD6426D-9CB9-4928-12F0-0A9885641186}"/>
              </a:ext>
            </a:extLst>
          </p:cNvPr>
          <p:cNvSpPr>
            <a:spLocks noGrp="1"/>
          </p:cNvSpPr>
          <p:nvPr>
            <p:ph type="sldNum" sz="quarter" idx="12"/>
          </p:nvPr>
        </p:nvSpPr>
        <p:spPr/>
        <p:txBody>
          <a:bodyPr/>
          <a:lstStyle/>
          <a:p>
            <a:fld id="{BDCDBBEF-AA6C-4BA6-85B2-A17D7F280E38}" type="slidenum">
              <a:rPr lang="en-US" smtClean="0"/>
              <a:pPr/>
              <a:t>24</a:t>
            </a:fld>
            <a:endParaRPr lang="en-US"/>
          </a:p>
        </p:txBody>
      </p:sp>
      <p:sp>
        <p:nvSpPr>
          <p:cNvPr id="5" name="TextBox 4">
            <a:extLst>
              <a:ext uri="{FF2B5EF4-FFF2-40B4-BE49-F238E27FC236}">
                <a16:creationId xmlns:a16="http://schemas.microsoft.com/office/drawing/2014/main" id="{9301A743-C2DE-0DD1-52EA-C91828742A28}"/>
              </a:ext>
            </a:extLst>
          </p:cNvPr>
          <p:cNvSpPr txBox="1"/>
          <p:nvPr/>
        </p:nvSpPr>
        <p:spPr>
          <a:xfrm>
            <a:off x="5537200" y="671690"/>
            <a:ext cx="6294119" cy="6186309"/>
          </a:xfrm>
          <a:prstGeom prst="rect">
            <a:avLst/>
          </a:prstGeom>
          <a:noFill/>
        </p:spPr>
        <p:txBody>
          <a:bodyPr wrap="square" rtlCol="0">
            <a:spAutoFit/>
          </a:bodyPr>
          <a:lstStyle/>
          <a:p>
            <a:pPr marL="0" indent="0">
              <a:buNone/>
            </a:pPr>
            <a:r>
              <a:rPr lang="en-IN" sz="1200" dirty="0"/>
              <a:t>}</a:t>
            </a:r>
          </a:p>
          <a:p>
            <a:pPr marL="0" indent="0">
              <a:buNone/>
            </a:pPr>
            <a:endParaRPr lang="en-IN" sz="1200" dirty="0"/>
          </a:p>
          <a:p>
            <a:pPr marL="0" indent="0">
              <a:buNone/>
            </a:pPr>
            <a:r>
              <a:rPr lang="en-IN" sz="1200" dirty="0"/>
              <a:t>// Subclass in the same package</a:t>
            </a:r>
          </a:p>
          <a:p>
            <a:pPr marL="0" indent="0">
              <a:buNone/>
            </a:pPr>
            <a:r>
              <a:rPr lang="en-IN" sz="1200" dirty="0"/>
              <a:t>class Child extends Parent {</a:t>
            </a:r>
          </a:p>
          <a:p>
            <a:pPr marL="0" indent="0">
              <a:buNone/>
            </a:pPr>
            <a:r>
              <a:rPr lang="en-IN" sz="1200" dirty="0"/>
              <a:t>    public void display() {</a:t>
            </a:r>
          </a:p>
          <a:p>
            <a:pPr marL="0" indent="0">
              <a:buNone/>
            </a:pPr>
            <a:r>
              <a:rPr lang="en-IN" sz="1200" dirty="0"/>
              <a:t> </a:t>
            </a:r>
            <a:r>
              <a:rPr lang="en-IN" sz="1200" dirty="0" err="1"/>
              <a:t>System.out.println</a:t>
            </a:r>
            <a:r>
              <a:rPr lang="en-IN" sz="1200" dirty="0"/>
              <a:t>("Accessing fields from Child class:");</a:t>
            </a:r>
          </a:p>
          <a:p>
            <a:pPr marL="0" indent="0">
              <a:buNone/>
            </a:pPr>
            <a:r>
              <a:rPr lang="en-IN" sz="1200" dirty="0"/>
              <a:t>        </a:t>
            </a:r>
            <a:r>
              <a:rPr lang="en-IN" sz="1200" dirty="0" err="1"/>
              <a:t>System.out.println</a:t>
            </a:r>
            <a:r>
              <a:rPr lang="en-IN" sz="1200" dirty="0"/>
              <a:t>("Public Field: " + </a:t>
            </a:r>
            <a:r>
              <a:rPr lang="en-IN" sz="1200" dirty="0" err="1"/>
              <a:t>publicField</a:t>
            </a:r>
            <a:r>
              <a:rPr lang="en-IN" sz="1200" dirty="0"/>
              <a:t>);       // Allowed</a:t>
            </a:r>
          </a:p>
          <a:p>
            <a:pPr marL="0" indent="0">
              <a:buNone/>
            </a:pPr>
            <a:r>
              <a:rPr lang="en-IN" sz="1200" dirty="0"/>
              <a:t>        </a:t>
            </a:r>
            <a:r>
              <a:rPr lang="en-IN" sz="1200" dirty="0" err="1"/>
              <a:t>System.out.println</a:t>
            </a:r>
            <a:r>
              <a:rPr lang="en-IN" sz="1200" dirty="0"/>
              <a:t>("Protected Field: " + </a:t>
            </a:r>
            <a:r>
              <a:rPr lang="en-IN" sz="1200" dirty="0" err="1"/>
              <a:t>protectedField</a:t>
            </a:r>
            <a:r>
              <a:rPr lang="en-IN" sz="1200" dirty="0"/>
              <a:t>); // Allowed</a:t>
            </a:r>
          </a:p>
          <a:p>
            <a:pPr marL="0" indent="0">
              <a:buNone/>
            </a:pPr>
            <a:r>
              <a:rPr lang="en-IN" sz="1200" dirty="0"/>
              <a:t>        </a:t>
            </a:r>
            <a:r>
              <a:rPr lang="en-IN" sz="1200" dirty="0" err="1"/>
              <a:t>System.out.println</a:t>
            </a:r>
            <a:r>
              <a:rPr lang="en-IN" sz="1200" dirty="0"/>
              <a:t>("Default Field: " + </a:t>
            </a:r>
            <a:r>
              <a:rPr lang="en-IN" sz="1200" dirty="0" err="1"/>
              <a:t>defaultField</a:t>
            </a:r>
            <a:r>
              <a:rPr lang="en-IN" sz="1200" dirty="0"/>
              <a:t>);     // Allowed</a:t>
            </a:r>
          </a:p>
          <a:p>
            <a:pPr marL="0" indent="0">
              <a:buNone/>
            </a:pPr>
            <a:r>
              <a:rPr lang="en-IN" sz="1200" dirty="0"/>
              <a:t>        // </a:t>
            </a:r>
            <a:r>
              <a:rPr lang="en-IN" sz="1200" dirty="0" err="1"/>
              <a:t>System.out.println</a:t>
            </a:r>
            <a:r>
              <a:rPr lang="en-IN" sz="1200" dirty="0"/>
              <a:t>("Private Field: " + </a:t>
            </a:r>
            <a:r>
              <a:rPr lang="en-IN" sz="1200" dirty="0" err="1"/>
              <a:t>privateField</a:t>
            </a:r>
            <a:r>
              <a:rPr lang="en-IN" sz="1200" dirty="0"/>
              <a:t>);  // Not allowed - Compile-time error</a:t>
            </a:r>
          </a:p>
          <a:p>
            <a:pPr marL="0" indent="0">
              <a:buNone/>
            </a:pPr>
            <a:r>
              <a:rPr lang="en-IN" sz="1200" dirty="0"/>
              <a:t>    }</a:t>
            </a:r>
          </a:p>
          <a:p>
            <a:pPr marL="0" indent="0">
              <a:buNone/>
            </a:pPr>
            <a:r>
              <a:rPr lang="en-IN" sz="1200" dirty="0"/>
              <a:t>}</a:t>
            </a:r>
          </a:p>
          <a:p>
            <a:pPr marL="0" indent="0">
              <a:buNone/>
            </a:pPr>
            <a:endParaRPr lang="en-IN" sz="1200" dirty="0"/>
          </a:p>
          <a:p>
            <a:pPr marL="0" indent="0">
              <a:buNone/>
            </a:pPr>
            <a:r>
              <a:rPr lang="en-IN" sz="1200" dirty="0"/>
              <a:t>// Class in the same package</a:t>
            </a:r>
          </a:p>
          <a:p>
            <a:pPr marL="0" indent="0">
              <a:buNone/>
            </a:pPr>
            <a:r>
              <a:rPr lang="en-IN" sz="1200" dirty="0"/>
              <a:t>public class </a:t>
            </a:r>
            <a:r>
              <a:rPr lang="en-IN" sz="1200" dirty="0" err="1"/>
              <a:t>AccessModifiersExample</a:t>
            </a:r>
            <a:r>
              <a:rPr lang="en-IN" sz="1200" dirty="0"/>
              <a:t> {</a:t>
            </a:r>
          </a:p>
          <a:p>
            <a:pPr marL="0" indent="0">
              <a:buNone/>
            </a:pPr>
            <a:r>
              <a:rPr lang="en-IN" sz="1200" dirty="0"/>
              <a:t>    public static void main(String[] </a:t>
            </a:r>
            <a:r>
              <a:rPr lang="en-IN" sz="1200" dirty="0" err="1"/>
              <a:t>args</a:t>
            </a:r>
            <a:r>
              <a:rPr lang="en-IN" sz="1200" dirty="0"/>
              <a:t>) {</a:t>
            </a:r>
          </a:p>
          <a:p>
            <a:pPr marL="0" indent="0">
              <a:buNone/>
            </a:pPr>
            <a:r>
              <a:rPr lang="en-IN" sz="1200" dirty="0"/>
              <a:t>        Parent </a:t>
            </a:r>
            <a:r>
              <a:rPr lang="en-IN" sz="1200" dirty="0" err="1"/>
              <a:t>parent</a:t>
            </a:r>
            <a:r>
              <a:rPr lang="en-IN" sz="1200" dirty="0"/>
              <a:t> = new Parent();</a:t>
            </a:r>
          </a:p>
          <a:p>
            <a:pPr marL="0" indent="0">
              <a:buNone/>
            </a:pPr>
            <a:r>
              <a:rPr lang="en-IN" sz="1200" dirty="0"/>
              <a:t>        </a:t>
            </a:r>
          </a:p>
          <a:p>
            <a:pPr marL="0" indent="0">
              <a:buNone/>
            </a:pPr>
            <a:r>
              <a:rPr lang="en-IN" sz="1200" dirty="0"/>
              <a:t>        // Accessing fields from the Parent class</a:t>
            </a:r>
          </a:p>
          <a:p>
            <a:pPr marL="0" indent="0">
              <a:buNone/>
            </a:pPr>
            <a:r>
              <a:rPr lang="en-IN" sz="1200" dirty="0"/>
              <a:t>        </a:t>
            </a:r>
            <a:r>
              <a:rPr lang="en-IN" sz="1200" dirty="0" err="1"/>
              <a:t>System.out.println</a:t>
            </a:r>
            <a:r>
              <a:rPr lang="en-IN" sz="1200" dirty="0"/>
              <a:t>("Accessing fields from Main class:");</a:t>
            </a:r>
          </a:p>
          <a:p>
            <a:pPr marL="0" indent="0">
              <a:buNone/>
            </a:pPr>
            <a:r>
              <a:rPr lang="en-IN" sz="1200" dirty="0"/>
              <a:t>        </a:t>
            </a:r>
            <a:r>
              <a:rPr lang="en-IN" sz="1200" dirty="0" err="1"/>
              <a:t>System.out.println</a:t>
            </a:r>
            <a:r>
              <a:rPr lang="en-IN" sz="1200" dirty="0"/>
              <a:t>("Public Field: " + </a:t>
            </a:r>
            <a:r>
              <a:rPr lang="en-IN" sz="1200" dirty="0" err="1"/>
              <a:t>parent.publicField</a:t>
            </a:r>
            <a:r>
              <a:rPr lang="en-IN" sz="1200" dirty="0"/>
              <a:t>);       // Allowed</a:t>
            </a:r>
          </a:p>
          <a:p>
            <a:pPr marL="0" indent="0">
              <a:buNone/>
            </a:pPr>
            <a:r>
              <a:rPr lang="en-IN" sz="1200" dirty="0"/>
              <a:t>        </a:t>
            </a:r>
            <a:r>
              <a:rPr lang="en-IN" sz="1200" dirty="0" err="1"/>
              <a:t>System.out.println</a:t>
            </a:r>
            <a:r>
              <a:rPr lang="en-IN" sz="1200" dirty="0"/>
              <a:t>("Protected Field: " + </a:t>
            </a:r>
            <a:r>
              <a:rPr lang="en-IN" sz="1200" dirty="0" err="1"/>
              <a:t>parent.protectedField</a:t>
            </a:r>
            <a:r>
              <a:rPr lang="en-IN" sz="1200" dirty="0"/>
              <a:t>); // Allowed</a:t>
            </a:r>
          </a:p>
          <a:p>
            <a:pPr marL="0" indent="0">
              <a:buNone/>
            </a:pPr>
            <a:r>
              <a:rPr lang="en-IN" sz="1200" dirty="0"/>
              <a:t>        </a:t>
            </a:r>
            <a:r>
              <a:rPr lang="en-IN" sz="1200" dirty="0" err="1"/>
              <a:t>System.out.println</a:t>
            </a:r>
            <a:r>
              <a:rPr lang="en-IN" sz="1200" dirty="0"/>
              <a:t>("Default Field: " + </a:t>
            </a:r>
            <a:r>
              <a:rPr lang="en-IN" sz="1200" dirty="0" err="1"/>
              <a:t>parent.defaultField</a:t>
            </a:r>
            <a:r>
              <a:rPr lang="en-IN" sz="1200" dirty="0"/>
              <a:t>);     // Allowed</a:t>
            </a:r>
          </a:p>
          <a:p>
            <a:pPr marL="0" indent="0">
              <a:buNone/>
            </a:pPr>
            <a:r>
              <a:rPr lang="en-IN" sz="1200" dirty="0"/>
              <a:t>        // </a:t>
            </a:r>
            <a:r>
              <a:rPr lang="en-IN" sz="1200" dirty="0" err="1"/>
              <a:t>System.out.println</a:t>
            </a:r>
            <a:r>
              <a:rPr lang="en-IN" sz="1200" dirty="0"/>
              <a:t>("Private Field: " + </a:t>
            </a:r>
            <a:r>
              <a:rPr lang="en-IN" sz="1200" dirty="0" err="1"/>
              <a:t>parent.privateField</a:t>
            </a:r>
            <a:r>
              <a:rPr lang="en-IN" sz="1200" dirty="0"/>
              <a:t>);  // Not allowed - Compile-time error</a:t>
            </a:r>
          </a:p>
          <a:p>
            <a:pPr marL="0" indent="0">
              <a:buNone/>
            </a:pPr>
            <a:endParaRPr lang="en-IN" sz="1200" dirty="0"/>
          </a:p>
          <a:p>
            <a:pPr marL="0" indent="0">
              <a:buNone/>
            </a:pPr>
            <a:r>
              <a:rPr lang="en-IN" sz="1200" dirty="0"/>
              <a:t>        </a:t>
            </a:r>
            <a:r>
              <a:rPr lang="en-IN" sz="1200" dirty="0" err="1"/>
              <a:t>parent.accessPrivate</a:t>
            </a:r>
            <a:r>
              <a:rPr lang="en-IN" sz="1200" dirty="0"/>
              <a:t>(); // Accessing private field/method through a public method</a:t>
            </a:r>
          </a:p>
          <a:p>
            <a:pPr marL="0" indent="0">
              <a:buNone/>
            </a:pPr>
            <a:r>
              <a:rPr lang="en-IN" sz="1200" dirty="0"/>
              <a:t>        </a:t>
            </a:r>
          </a:p>
          <a:p>
            <a:pPr marL="0" indent="0">
              <a:buNone/>
            </a:pPr>
            <a:r>
              <a:rPr lang="en-IN" sz="1200" dirty="0"/>
              <a:t>        // Creating Child object</a:t>
            </a:r>
          </a:p>
          <a:p>
            <a:pPr marL="0" indent="0">
              <a:buNone/>
            </a:pPr>
            <a:r>
              <a:rPr lang="en-IN" sz="1200" dirty="0"/>
              <a:t>        Child </a:t>
            </a:r>
            <a:r>
              <a:rPr lang="en-IN" sz="1200" dirty="0" err="1"/>
              <a:t>child</a:t>
            </a:r>
            <a:r>
              <a:rPr lang="en-IN" sz="1200" dirty="0"/>
              <a:t> = new Child();</a:t>
            </a:r>
          </a:p>
          <a:p>
            <a:pPr marL="0" indent="0">
              <a:buNone/>
            </a:pPr>
            <a:r>
              <a:rPr lang="en-IN" sz="1200" dirty="0"/>
              <a:t>        </a:t>
            </a:r>
            <a:r>
              <a:rPr lang="en-IN" sz="1200" dirty="0" err="1"/>
              <a:t>child.display</a:t>
            </a:r>
            <a:r>
              <a:rPr lang="en-IN" sz="1200" dirty="0"/>
              <a:t>();  // Access fields through Child class</a:t>
            </a:r>
          </a:p>
          <a:p>
            <a:pPr marL="0" indent="0">
              <a:buNone/>
            </a:pPr>
            <a:r>
              <a:rPr lang="en-IN" sz="1200" dirty="0"/>
              <a:t>    }</a:t>
            </a:r>
          </a:p>
          <a:p>
            <a:pPr marL="0" indent="0">
              <a:buNone/>
            </a:pPr>
            <a:r>
              <a:rPr lang="en-IN" sz="1200" dirty="0"/>
              <a:t>}</a:t>
            </a:r>
          </a:p>
        </p:txBody>
      </p:sp>
    </p:spTree>
    <p:extLst>
      <p:ext uri="{BB962C8B-B14F-4D97-AF65-F5344CB8AC3E}">
        <p14:creationId xmlns:p14="http://schemas.microsoft.com/office/powerpoint/2010/main" val="2000997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1402080" y="169068"/>
            <a:ext cx="10058400" cy="932657"/>
          </a:xfrm>
          <a:solidFill>
            <a:schemeClr val="accent2">
              <a:lumMod val="40000"/>
              <a:lumOff val="60000"/>
            </a:schemeClr>
          </a:solidFill>
        </p:spPr>
        <p:txBody>
          <a:bodyPr>
            <a:normAutofit/>
          </a:bodyPr>
          <a:lstStyle/>
          <a:p>
            <a:pPr algn="ctr"/>
            <a:r>
              <a:rPr lang="en-US" b="1" dirty="0"/>
              <a:t>Non-access modifiers</a:t>
            </a:r>
          </a:p>
        </p:txBody>
      </p:sp>
      <p:sp>
        <p:nvSpPr>
          <p:cNvPr id="123907" name="Rectangle 3"/>
          <p:cNvSpPr>
            <a:spLocks noGrp="1" noChangeArrowheads="1"/>
          </p:cNvSpPr>
          <p:nvPr>
            <p:ph type="body" idx="1"/>
          </p:nvPr>
        </p:nvSpPr>
        <p:spPr>
          <a:xfrm>
            <a:off x="613458" y="1713053"/>
            <a:ext cx="11157995" cy="4647235"/>
          </a:xfrm>
          <a:solidFill>
            <a:schemeClr val="accent2">
              <a:lumMod val="40000"/>
              <a:lumOff val="60000"/>
            </a:schemeClr>
          </a:solidFill>
        </p:spPr>
        <p:txBody>
          <a:bodyPr>
            <a:normAutofit/>
          </a:bodyPr>
          <a:lstStyle/>
          <a:p>
            <a:r>
              <a:rPr lang="en-US" dirty="0"/>
              <a:t>Java provides a </a:t>
            </a:r>
            <a:r>
              <a:rPr lang="en-US" b="1" dirty="0"/>
              <a:t>number of non-access modifiers to achieve many other functionalities.</a:t>
            </a:r>
          </a:p>
          <a:p>
            <a:r>
              <a:rPr lang="en-US" dirty="0"/>
              <a:t>The </a:t>
            </a:r>
            <a:r>
              <a:rPr lang="en-US" b="1" dirty="0"/>
              <a:t>static modifier for creating class methods and variables</a:t>
            </a:r>
            <a:r>
              <a:rPr lang="en-US" dirty="0"/>
              <a:t>.</a:t>
            </a:r>
          </a:p>
          <a:p>
            <a:r>
              <a:rPr lang="en-US" dirty="0"/>
              <a:t>The </a:t>
            </a:r>
            <a:r>
              <a:rPr lang="en-US" b="1" dirty="0"/>
              <a:t>final modifier </a:t>
            </a:r>
            <a:r>
              <a:rPr lang="en-US" dirty="0"/>
              <a:t>for finalizing the implementations of classes, methods, and variables.</a:t>
            </a:r>
          </a:p>
          <a:p>
            <a:r>
              <a:rPr lang="en-US" dirty="0"/>
              <a:t>The </a:t>
            </a:r>
            <a:r>
              <a:rPr lang="en-US" b="1" dirty="0"/>
              <a:t>abstract modifier</a:t>
            </a:r>
            <a:r>
              <a:rPr lang="en-US" dirty="0"/>
              <a:t> for creating abstract classes and methods.</a:t>
            </a:r>
          </a:p>
          <a:p>
            <a:r>
              <a:rPr lang="en-US" dirty="0"/>
              <a:t>The </a:t>
            </a:r>
            <a:r>
              <a:rPr lang="en-US" b="1" dirty="0"/>
              <a:t>synchronized and volatile modifiers</a:t>
            </a:r>
            <a:r>
              <a:rPr lang="en-US" dirty="0"/>
              <a:t>, which are used for threads</a:t>
            </a:r>
          </a:p>
          <a:p>
            <a:pPr marL="0" indent="0">
              <a:buNone/>
            </a:pPr>
            <a:endParaRPr lang="en-US" dirty="0"/>
          </a:p>
        </p:txBody>
      </p:sp>
    </p:spTree>
    <p:extLst>
      <p:ext uri="{BB962C8B-B14F-4D97-AF65-F5344CB8AC3E}">
        <p14:creationId xmlns:p14="http://schemas.microsoft.com/office/powerpoint/2010/main" val="374839291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Rectangle 4"/>
          <p:cNvSpPr>
            <a:spLocks noGrp="1" noChangeArrowheads="1"/>
          </p:cNvSpPr>
          <p:nvPr>
            <p:ph type="title"/>
          </p:nvPr>
        </p:nvSpPr>
        <p:spPr>
          <a:xfrm>
            <a:off x="1116330" y="524398"/>
            <a:ext cx="11161880" cy="776009"/>
          </a:xfrm>
        </p:spPr>
        <p:txBody>
          <a:bodyPr>
            <a:normAutofit/>
          </a:bodyPr>
          <a:lstStyle/>
          <a:p>
            <a:pPr algn="ctr"/>
            <a:r>
              <a:rPr lang="en-US" b="1" dirty="0"/>
              <a:t>References: </a:t>
            </a:r>
            <a:endParaRPr lang="en-US" sz="2000" dirty="0"/>
          </a:p>
        </p:txBody>
      </p:sp>
      <p:sp>
        <p:nvSpPr>
          <p:cNvPr id="140594" name="Text Box 306"/>
          <p:cNvSpPr txBox="1">
            <a:spLocks noChangeArrowheads="1"/>
          </p:cNvSpPr>
          <p:nvPr/>
        </p:nvSpPr>
        <p:spPr bwMode="auto">
          <a:xfrm>
            <a:off x="665981" y="2141162"/>
            <a:ext cx="8585459" cy="3046988"/>
          </a:xfrm>
          <a:prstGeom prst="rect">
            <a:avLst/>
          </a:prstGeom>
          <a:noFill/>
          <a:ln w="9525">
            <a:noFill/>
            <a:miter lim="800000"/>
            <a:headEnd/>
            <a:tailEnd/>
          </a:ln>
          <a:effectLst/>
        </p:spPr>
        <p:txBody>
          <a:bodyPr wrap="square">
            <a:spAutoFit/>
          </a:bodyPr>
          <a:lstStyle/>
          <a:p>
            <a:r>
              <a:rPr lang="en-US" sz="1600" dirty="0">
                <a:latin typeface="+mj-lt"/>
                <a:cs typeface="Times New Roman" panose="02020603050405020304" pitchFamily="18" charset="0"/>
              </a:rPr>
              <a:t>Books: </a:t>
            </a:r>
          </a:p>
          <a:p>
            <a:endParaRPr lang="en-IN" sz="1600" dirty="0">
              <a:latin typeface="+mj-lt"/>
            </a:endParaRPr>
          </a:p>
          <a:p>
            <a:pPr marL="342900" indent="-342900">
              <a:buAutoNum type="arabicPeriod"/>
            </a:pPr>
            <a:r>
              <a:rPr lang="en-IN" sz="1600" dirty="0" err="1">
                <a:latin typeface="+mj-lt"/>
              </a:rPr>
              <a:t>Balaguruswamy</a:t>
            </a:r>
            <a:r>
              <a:rPr lang="en-IN" sz="1600" dirty="0">
                <a:latin typeface="+mj-lt"/>
              </a:rPr>
              <a:t>, Java. </a:t>
            </a:r>
          </a:p>
          <a:p>
            <a:pPr marL="342900" indent="-342900">
              <a:buAutoNum type="arabicPeriod"/>
            </a:pPr>
            <a:r>
              <a:rPr lang="en-US" sz="1600" dirty="0">
                <a:solidFill>
                  <a:srgbClr val="222222"/>
                </a:solidFill>
                <a:effectLst/>
                <a:latin typeface="+mj-lt"/>
              </a:rPr>
              <a:t>Modern Java in Action by Raoul-Gabriel </a:t>
            </a:r>
            <a:r>
              <a:rPr lang="en-US" sz="1600" dirty="0" err="1">
                <a:solidFill>
                  <a:srgbClr val="222222"/>
                </a:solidFill>
                <a:effectLst/>
                <a:latin typeface="+mj-lt"/>
              </a:rPr>
              <a:t>Urma</a:t>
            </a:r>
            <a:r>
              <a:rPr lang="en-US" sz="1600" dirty="0">
                <a:solidFill>
                  <a:srgbClr val="222222"/>
                </a:solidFill>
                <a:effectLst/>
                <a:latin typeface="+mj-lt"/>
              </a:rPr>
              <a:t>, Mario Fusco, and Alan Mycroft</a:t>
            </a:r>
            <a:endParaRPr lang="en-IN" sz="1600" dirty="0">
              <a:latin typeface="+mj-lt"/>
            </a:endParaRPr>
          </a:p>
          <a:p>
            <a:r>
              <a:rPr lang="en-IN" sz="1600" dirty="0">
                <a:latin typeface="+mj-lt"/>
              </a:rPr>
              <a:t>3. A Primer, </a:t>
            </a:r>
            <a:r>
              <a:rPr lang="en-IN" sz="1600" dirty="0" err="1">
                <a:latin typeface="+mj-lt"/>
              </a:rPr>
              <a:t>E.Balaguruswamy</a:t>
            </a:r>
            <a:r>
              <a:rPr lang="en-IN" sz="1600" dirty="0">
                <a:latin typeface="+mj-lt"/>
              </a:rPr>
              <a:t>, Programming with Java, Tata McGraw Hill Companies,</a:t>
            </a:r>
            <a:r>
              <a:rPr lang="en-US" sz="1600" dirty="0">
                <a:latin typeface="+mj-lt"/>
              </a:rPr>
              <a:t>John P. Flynt Thomson, Java Programming. </a:t>
            </a:r>
          </a:p>
          <a:p>
            <a:endParaRPr lang="en-US" sz="1600" dirty="0">
              <a:latin typeface="+mj-lt"/>
            </a:endParaRPr>
          </a:p>
          <a:p>
            <a:endParaRPr lang="en-US" sz="1600" dirty="0">
              <a:latin typeface="+mj-lt"/>
              <a:cs typeface="Times New Roman" panose="02020603050405020304" pitchFamily="18" charset="0"/>
            </a:endParaRPr>
          </a:p>
          <a:p>
            <a:r>
              <a:rPr lang="en-US" sz="1600" dirty="0">
                <a:latin typeface="+mj-lt"/>
                <a:cs typeface="Times New Roman" panose="02020603050405020304" pitchFamily="18" charset="0"/>
              </a:rPr>
              <a:t>Video Lectures : </a:t>
            </a:r>
          </a:p>
          <a:p>
            <a:r>
              <a:rPr lang="en-US" sz="1600" dirty="0">
                <a:latin typeface="+mj-lt"/>
                <a:hlinkClick r:id="rId2"/>
              </a:rPr>
              <a:t>https://www.youtube.com/watch?v=-HafzawNlUo</a:t>
            </a:r>
            <a:endParaRPr lang="en-US" sz="1600" dirty="0">
              <a:latin typeface="+mj-lt"/>
            </a:endParaRPr>
          </a:p>
          <a:p>
            <a:endParaRPr lang="en-IN" sz="1600" dirty="0">
              <a:latin typeface="+mj-lt"/>
              <a:cs typeface="Times New Roman" panose="02020603050405020304" pitchFamily="18" charset="0"/>
            </a:endParaRPr>
          </a:p>
          <a:p>
            <a:r>
              <a:rPr lang="en-US" sz="1600" dirty="0">
                <a:latin typeface="+mj-lt"/>
                <a:hlinkClick r:id="rId3"/>
              </a:rPr>
              <a:t>https://www.youtube.com/watch?v=7GwptabrYyk&amp;t=45s</a:t>
            </a:r>
            <a:endParaRPr lang="en-US" sz="1600" dirty="0">
              <a:latin typeface="+mj-lt"/>
              <a:cs typeface="Times New Roman" panose="02020603050405020304" pitchFamily="18" charset="0"/>
            </a:endParaRPr>
          </a:p>
        </p:txBody>
      </p:sp>
      <p:grpSp>
        <p:nvGrpSpPr>
          <p:cNvPr id="2" name="Group 308"/>
          <p:cNvGrpSpPr>
            <a:grpSpLocks/>
          </p:cNvGrpSpPr>
          <p:nvPr/>
        </p:nvGrpSpPr>
        <p:grpSpPr bwMode="auto">
          <a:xfrm>
            <a:off x="9858374" y="2028825"/>
            <a:ext cx="2017025" cy="1893887"/>
            <a:chOff x="1259" y="3082"/>
            <a:chExt cx="884" cy="884"/>
          </a:xfrm>
        </p:grpSpPr>
        <p:sp>
          <p:nvSpPr>
            <p:cNvPr id="140597" name="Freeform 309"/>
            <p:cNvSpPr>
              <a:spLocks/>
            </p:cNvSpPr>
            <p:nvPr/>
          </p:nvSpPr>
          <p:spPr bwMode="auto">
            <a:xfrm flipH="1">
              <a:off x="1681" y="3824"/>
              <a:ext cx="110" cy="107"/>
            </a:xfrm>
            <a:custGeom>
              <a:avLst/>
              <a:gdLst/>
              <a:ahLst/>
              <a:cxnLst>
                <a:cxn ang="0">
                  <a:pos x="80" y="107"/>
                </a:cxn>
                <a:cxn ang="0">
                  <a:pos x="89" y="104"/>
                </a:cxn>
                <a:cxn ang="0">
                  <a:pos x="99" y="96"/>
                </a:cxn>
                <a:cxn ang="0">
                  <a:pos x="105" y="91"/>
                </a:cxn>
                <a:cxn ang="0">
                  <a:pos x="110" y="80"/>
                </a:cxn>
                <a:cxn ang="0">
                  <a:pos x="56" y="18"/>
                </a:cxn>
                <a:cxn ang="0">
                  <a:pos x="51" y="16"/>
                </a:cxn>
                <a:cxn ang="0">
                  <a:pos x="29" y="5"/>
                </a:cxn>
                <a:cxn ang="0">
                  <a:pos x="13" y="0"/>
                </a:cxn>
                <a:cxn ang="0">
                  <a:pos x="0" y="10"/>
                </a:cxn>
                <a:cxn ang="0">
                  <a:pos x="80" y="107"/>
                </a:cxn>
              </a:cxnLst>
              <a:rect l="0" t="0" r="r" b="b"/>
              <a:pathLst>
                <a:path w="110" h="107">
                  <a:moveTo>
                    <a:pt x="80" y="107"/>
                  </a:moveTo>
                  <a:lnTo>
                    <a:pt x="89" y="104"/>
                  </a:lnTo>
                  <a:lnTo>
                    <a:pt x="99" y="96"/>
                  </a:lnTo>
                  <a:lnTo>
                    <a:pt x="105" y="91"/>
                  </a:lnTo>
                  <a:lnTo>
                    <a:pt x="110" y="80"/>
                  </a:lnTo>
                  <a:lnTo>
                    <a:pt x="56" y="18"/>
                  </a:lnTo>
                  <a:lnTo>
                    <a:pt x="51" y="16"/>
                  </a:lnTo>
                  <a:lnTo>
                    <a:pt x="29" y="5"/>
                  </a:lnTo>
                  <a:lnTo>
                    <a:pt x="13" y="0"/>
                  </a:lnTo>
                  <a:lnTo>
                    <a:pt x="0" y="10"/>
                  </a:lnTo>
                  <a:lnTo>
                    <a:pt x="80" y="107"/>
                  </a:lnTo>
                  <a:close/>
                </a:path>
              </a:pathLst>
            </a:custGeom>
            <a:solidFill>
              <a:srgbClr val="000000"/>
            </a:solidFill>
            <a:ln w="9525">
              <a:noFill/>
              <a:round/>
              <a:headEnd/>
              <a:tailEnd/>
            </a:ln>
          </p:spPr>
          <p:txBody>
            <a:bodyPr/>
            <a:lstStyle/>
            <a:p>
              <a:endParaRPr lang="en-US">
                <a:latin typeface="+mj-lt"/>
              </a:endParaRPr>
            </a:p>
          </p:txBody>
        </p:sp>
        <p:sp>
          <p:nvSpPr>
            <p:cNvPr id="140598" name="Freeform 310"/>
            <p:cNvSpPr>
              <a:spLocks/>
            </p:cNvSpPr>
            <p:nvPr/>
          </p:nvSpPr>
          <p:spPr bwMode="auto">
            <a:xfrm flipH="1">
              <a:off x="1786" y="3762"/>
              <a:ext cx="35" cy="88"/>
            </a:xfrm>
            <a:custGeom>
              <a:avLst/>
              <a:gdLst/>
              <a:ahLst/>
              <a:cxnLst>
                <a:cxn ang="0">
                  <a:pos x="24" y="88"/>
                </a:cxn>
                <a:cxn ang="0">
                  <a:pos x="29" y="88"/>
                </a:cxn>
                <a:cxn ang="0">
                  <a:pos x="32" y="88"/>
                </a:cxn>
                <a:cxn ang="0">
                  <a:pos x="32" y="86"/>
                </a:cxn>
                <a:cxn ang="0">
                  <a:pos x="35" y="83"/>
                </a:cxn>
                <a:cxn ang="0">
                  <a:pos x="35" y="64"/>
                </a:cxn>
                <a:cxn ang="0">
                  <a:pos x="29" y="40"/>
                </a:cxn>
                <a:cxn ang="0">
                  <a:pos x="13" y="16"/>
                </a:cxn>
                <a:cxn ang="0">
                  <a:pos x="0" y="0"/>
                </a:cxn>
                <a:cxn ang="0">
                  <a:pos x="2" y="13"/>
                </a:cxn>
                <a:cxn ang="0">
                  <a:pos x="8" y="43"/>
                </a:cxn>
                <a:cxn ang="0">
                  <a:pos x="16" y="75"/>
                </a:cxn>
                <a:cxn ang="0">
                  <a:pos x="24" y="88"/>
                </a:cxn>
              </a:cxnLst>
              <a:rect l="0" t="0" r="r" b="b"/>
              <a:pathLst>
                <a:path w="35" h="88">
                  <a:moveTo>
                    <a:pt x="24" y="88"/>
                  </a:moveTo>
                  <a:lnTo>
                    <a:pt x="29" y="88"/>
                  </a:lnTo>
                  <a:lnTo>
                    <a:pt x="32" y="88"/>
                  </a:lnTo>
                  <a:lnTo>
                    <a:pt x="32" y="86"/>
                  </a:lnTo>
                  <a:lnTo>
                    <a:pt x="35" y="83"/>
                  </a:lnTo>
                  <a:lnTo>
                    <a:pt x="35" y="64"/>
                  </a:lnTo>
                  <a:lnTo>
                    <a:pt x="29" y="40"/>
                  </a:lnTo>
                  <a:lnTo>
                    <a:pt x="13" y="16"/>
                  </a:lnTo>
                  <a:lnTo>
                    <a:pt x="0" y="0"/>
                  </a:lnTo>
                  <a:lnTo>
                    <a:pt x="2" y="13"/>
                  </a:lnTo>
                  <a:lnTo>
                    <a:pt x="8" y="43"/>
                  </a:lnTo>
                  <a:lnTo>
                    <a:pt x="16" y="75"/>
                  </a:lnTo>
                  <a:lnTo>
                    <a:pt x="24" y="88"/>
                  </a:lnTo>
                  <a:close/>
                </a:path>
              </a:pathLst>
            </a:custGeom>
            <a:solidFill>
              <a:srgbClr val="000000"/>
            </a:solidFill>
            <a:ln w="9525">
              <a:noFill/>
              <a:round/>
              <a:headEnd/>
              <a:tailEnd/>
            </a:ln>
          </p:spPr>
          <p:txBody>
            <a:bodyPr/>
            <a:lstStyle/>
            <a:p>
              <a:endParaRPr lang="en-US">
                <a:latin typeface="+mj-lt"/>
              </a:endParaRPr>
            </a:p>
          </p:txBody>
        </p:sp>
        <p:sp>
          <p:nvSpPr>
            <p:cNvPr id="140599" name="Freeform 311"/>
            <p:cNvSpPr>
              <a:spLocks/>
            </p:cNvSpPr>
            <p:nvPr/>
          </p:nvSpPr>
          <p:spPr bwMode="auto">
            <a:xfrm flipH="1">
              <a:off x="1587" y="3719"/>
              <a:ext cx="54" cy="29"/>
            </a:xfrm>
            <a:custGeom>
              <a:avLst/>
              <a:gdLst/>
              <a:ahLst/>
              <a:cxnLst>
                <a:cxn ang="0">
                  <a:pos x="54" y="19"/>
                </a:cxn>
                <a:cxn ang="0">
                  <a:pos x="48" y="13"/>
                </a:cxn>
                <a:cxn ang="0">
                  <a:pos x="43" y="11"/>
                </a:cxn>
                <a:cxn ang="0">
                  <a:pos x="40" y="5"/>
                </a:cxn>
                <a:cxn ang="0">
                  <a:pos x="32" y="2"/>
                </a:cxn>
                <a:cxn ang="0">
                  <a:pos x="21" y="0"/>
                </a:cxn>
                <a:cxn ang="0">
                  <a:pos x="13" y="0"/>
                </a:cxn>
                <a:cxn ang="0">
                  <a:pos x="5" y="0"/>
                </a:cxn>
                <a:cxn ang="0">
                  <a:pos x="0" y="2"/>
                </a:cxn>
                <a:cxn ang="0">
                  <a:pos x="27" y="29"/>
                </a:cxn>
                <a:cxn ang="0">
                  <a:pos x="32" y="27"/>
                </a:cxn>
                <a:cxn ang="0">
                  <a:pos x="40" y="21"/>
                </a:cxn>
                <a:cxn ang="0">
                  <a:pos x="45" y="19"/>
                </a:cxn>
                <a:cxn ang="0">
                  <a:pos x="54" y="19"/>
                </a:cxn>
              </a:cxnLst>
              <a:rect l="0" t="0" r="r" b="b"/>
              <a:pathLst>
                <a:path w="54" h="29">
                  <a:moveTo>
                    <a:pt x="54" y="19"/>
                  </a:moveTo>
                  <a:lnTo>
                    <a:pt x="48" y="13"/>
                  </a:lnTo>
                  <a:lnTo>
                    <a:pt x="43" y="11"/>
                  </a:lnTo>
                  <a:lnTo>
                    <a:pt x="40" y="5"/>
                  </a:lnTo>
                  <a:lnTo>
                    <a:pt x="32" y="2"/>
                  </a:lnTo>
                  <a:lnTo>
                    <a:pt x="21" y="0"/>
                  </a:lnTo>
                  <a:lnTo>
                    <a:pt x="13" y="0"/>
                  </a:lnTo>
                  <a:lnTo>
                    <a:pt x="5" y="0"/>
                  </a:lnTo>
                  <a:lnTo>
                    <a:pt x="0" y="2"/>
                  </a:lnTo>
                  <a:lnTo>
                    <a:pt x="27" y="29"/>
                  </a:lnTo>
                  <a:lnTo>
                    <a:pt x="32" y="27"/>
                  </a:lnTo>
                  <a:lnTo>
                    <a:pt x="40" y="21"/>
                  </a:lnTo>
                  <a:lnTo>
                    <a:pt x="45" y="19"/>
                  </a:lnTo>
                  <a:lnTo>
                    <a:pt x="54" y="19"/>
                  </a:lnTo>
                  <a:close/>
                </a:path>
              </a:pathLst>
            </a:custGeom>
            <a:solidFill>
              <a:srgbClr val="000000"/>
            </a:solidFill>
            <a:ln w="9525">
              <a:noFill/>
              <a:round/>
              <a:headEnd/>
              <a:tailEnd/>
            </a:ln>
          </p:spPr>
          <p:txBody>
            <a:bodyPr/>
            <a:lstStyle/>
            <a:p>
              <a:endParaRPr lang="en-US">
                <a:latin typeface="+mj-lt"/>
              </a:endParaRPr>
            </a:p>
          </p:txBody>
        </p:sp>
        <p:sp>
          <p:nvSpPr>
            <p:cNvPr id="140600" name="Freeform 312"/>
            <p:cNvSpPr>
              <a:spLocks/>
            </p:cNvSpPr>
            <p:nvPr/>
          </p:nvSpPr>
          <p:spPr bwMode="auto">
            <a:xfrm flipH="1">
              <a:off x="1259" y="3082"/>
              <a:ext cx="884" cy="884"/>
            </a:xfrm>
            <a:custGeom>
              <a:avLst/>
              <a:gdLst/>
              <a:ahLst/>
              <a:cxnLst>
                <a:cxn ang="0">
                  <a:pos x="441" y="408"/>
                </a:cxn>
                <a:cxn ang="0">
                  <a:pos x="403" y="392"/>
                </a:cxn>
                <a:cxn ang="0">
                  <a:pos x="355" y="355"/>
                </a:cxn>
                <a:cxn ang="0">
                  <a:pos x="320" y="333"/>
                </a:cxn>
                <a:cxn ang="0">
                  <a:pos x="285" y="242"/>
                </a:cxn>
                <a:cxn ang="0">
                  <a:pos x="271" y="212"/>
                </a:cxn>
                <a:cxn ang="0">
                  <a:pos x="261" y="159"/>
                </a:cxn>
                <a:cxn ang="0">
                  <a:pos x="261" y="137"/>
                </a:cxn>
                <a:cxn ang="0">
                  <a:pos x="177" y="102"/>
                </a:cxn>
                <a:cxn ang="0">
                  <a:pos x="215" y="86"/>
                </a:cxn>
                <a:cxn ang="0">
                  <a:pos x="279" y="62"/>
                </a:cxn>
                <a:cxn ang="0">
                  <a:pos x="339" y="40"/>
                </a:cxn>
                <a:cxn ang="0">
                  <a:pos x="390" y="27"/>
                </a:cxn>
                <a:cxn ang="0">
                  <a:pos x="591" y="83"/>
                </a:cxn>
                <a:cxn ang="0">
                  <a:pos x="572" y="97"/>
                </a:cxn>
                <a:cxn ang="0">
                  <a:pos x="583" y="212"/>
                </a:cxn>
                <a:cxn ang="0">
                  <a:pos x="583" y="236"/>
                </a:cxn>
                <a:cxn ang="0">
                  <a:pos x="556" y="234"/>
                </a:cxn>
                <a:cxn ang="0">
                  <a:pos x="508" y="161"/>
                </a:cxn>
                <a:cxn ang="0">
                  <a:pos x="508" y="210"/>
                </a:cxn>
                <a:cxn ang="0">
                  <a:pos x="521" y="236"/>
                </a:cxn>
                <a:cxn ang="0">
                  <a:pos x="511" y="269"/>
                </a:cxn>
                <a:cxn ang="0">
                  <a:pos x="500" y="304"/>
                </a:cxn>
                <a:cxn ang="0">
                  <a:pos x="476" y="339"/>
                </a:cxn>
                <a:cxn ang="0">
                  <a:pos x="441" y="344"/>
                </a:cxn>
                <a:cxn ang="0">
                  <a:pos x="446" y="360"/>
                </a:cxn>
                <a:cxn ang="0">
                  <a:pos x="468" y="376"/>
                </a:cxn>
                <a:cxn ang="0">
                  <a:pos x="508" y="411"/>
                </a:cxn>
                <a:cxn ang="0">
                  <a:pos x="545" y="433"/>
                </a:cxn>
                <a:cxn ang="0">
                  <a:pos x="564" y="438"/>
                </a:cxn>
                <a:cxn ang="0">
                  <a:pos x="615" y="446"/>
                </a:cxn>
                <a:cxn ang="0">
                  <a:pos x="666" y="511"/>
                </a:cxn>
                <a:cxn ang="0">
                  <a:pos x="707" y="578"/>
                </a:cxn>
                <a:cxn ang="0">
                  <a:pos x="782" y="669"/>
                </a:cxn>
                <a:cxn ang="0">
                  <a:pos x="814" y="747"/>
                </a:cxn>
                <a:cxn ang="0">
                  <a:pos x="777" y="846"/>
                </a:cxn>
                <a:cxn ang="0">
                  <a:pos x="884" y="884"/>
                </a:cxn>
                <a:cxn ang="0">
                  <a:pos x="86" y="884"/>
                </a:cxn>
                <a:cxn ang="0">
                  <a:pos x="89" y="578"/>
                </a:cxn>
                <a:cxn ang="0">
                  <a:pos x="124" y="451"/>
                </a:cxn>
                <a:cxn ang="0">
                  <a:pos x="191" y="438"/>
                </a:cxn>
                <a:cxn ang="0">
                  <a:pos x="242" y="416"/>
                </a:cxn>
                <a:cxn ang="0">
                  <a:pos x="296" y="360"/>
                </a:cxn>
                <a:cxn ang="0">
                  <a:pos x="309" y="336"/>
                </a:cxn>
                <a:cxn ang="0">
                  <a:pos x="371" y="408"/>
                </a:cxn>
                <a:cxn ang="0">
                  <a:pos x="427" y="484"/>
                </a:cxn>
                <a:cxn ang="0">
                  <a:pos x="519" y="661"/>
                </a:cxn>
                <a:cxn ang="0">
                  <a:pos x="500" y="532"/>
                </a:cxn>
                <a:cxn ang="0">
                  <a:pos x="457" y="390"/>
                </a:cxn>
              </a:cxnLst>
              <a:rect l="0" t="0" r="r" b="b"/>
              <a:pathLst>
                <a:path w="884" h="884">
                  <a:moveTo>
                    <a:pt x="441" y="368"/>
                  </a:moveTo>
                  <a:lnTo>
                    <a:pt x="441" y="382"/>
                  </a:lnTo>
                  <a:lnTo>
                    <a:pt x="441" y="395"/>
                  </a:lnTo>
                  <a:lnTo>
                    <a:pt x="441" y="408"/>
                  </a:lnTo>
                  <a:lnTo>
                    <a:pt x="435" y="422"/>
                  </a:lnTo>
                  <a:lnTo>
                    <a:pt x="425" y="411"/>
                  </a:lnTo>
                  <a:lnTo>
                    <a:pt x="414" y="400"/>
                  </a:lnTo>
                  <a:lnTo>
                    <a:pt x="403" y="392"/>
                  </a:lnTo>
                  <a:lnTo>
                    <a:pt x="392" y="382"/>
                  </a:lnTo>
                  <a:lnTo>
                    <a:pt x="379" y="373"/>
                  </a:lnTo>
                  <a:lnTo>
                    <a:pt x="368" y="363"/>
                  </a:lnTo>
                  <a:lnTo>
                    <a:pt x="355" y="355"/>
                  </a:lnTo>
                  <a:lnTo>
                    <a:pt x="341" y="349"/>
                  </a:lnTo>
                  <a:lnTo>
                    <a:pt x="336" y="344"/>
                  </a:lnTo>
                  <a:lnTo>
                    <a:pt x="328" y="339"/>
                  </a:lnTo>
                  <a:lnTo>
                    <a:pt x="320" y="333"/>
                  </a:lnTo>
                  <a:lnTo>
                    <a:pt x="314" y="328"/>
                  </a:lnTo>
                  <a:lnTo>
                    <a:pt x="314" y="296"/>
                  </a:lnTo>
                  <a:lnTo>
                    <a:pt x="301" y="266"/>
                  </a:lnTo>
                  <a:lnTo>
                    <a:pt x="285" y="242"/>
                  </a:lnTo>
                  <a:lnTo>
                    <a:pt x="271" y="215"/>
                  </a:lnTo>
                  <a:lnTo>
                    <a:pt x="271" y="215"/>
                  </a:lnTo>
                  <a:lnTo>
                    <a:pt x="271" y="212"/>
                  </a:lnTo>
                  <a:lnTo>
                    <a:pt x="271" y="212"/>
                  </a:lnTo>
                  <a:lnTo>
                    <a:pt x="271" y="212"/>
                  </a:lnTo>
                  <a:lnTo>
                    <a:pt x="261" y="196"/>
                  </a:lnTo>
                  <a:lnTo>
                    <a:pt x="261" y="177"/>
                  </a:lnTo>
                  <a:lnTo>
                    <a:pt x="261" y="159"/>
                  </a:lnTo>
                  <a:lnTo>
                    <a:pt x="263" y="140"/>
                  </a:lnTo>
                  <a:lnTo>
                    <a:pt x="263" y="140"/>
                  </a:lnTo>
                  <a:lnTo>
                    <a:pt x="263" y="137"/>
                  </a:lnTo>
                  <a:lnTo>
                    <a:pt x="261" y="137"/>
                  </a:lnTo>
                  <a:lnTo>
                    <a:pt x="261" y="134"/>
                  </a:lnTo>
                  <a:lnTo>
                    <a:pt x="180" y="107"/>
                  </a:lnTo>
                  <a:lnTo>
                    <a:pt x="177" y="105"/>
                  </a:lnTo>
                  <a:lnTo>
                    <a:pt x="177" y="102"/>
                  </a:lnTo>
                  <a:lnTo>
                    <a:pt x="177" y="102"/>
                  </a:lnTo>
                  <a:lnTo>
                    <a:pt x="180" y="99"/>
                  </a:lnTo>
                  <a:lnTo>
                    <a:pt x="196" y="94"/>
                  </a:lnTo>
                  <a:lnTo>
                    <a:pt x="215" y="86"/>
                  </a:lnTo>
                  <a:lnTo>
                    <a:pt x="231" y="81"/>
                  </a:lnTo>
                  <a:lnTo>
                    <a:pt x="247" y="75"/>
                  </a:lnTo>
                  <a:lnTo>
                    <a:pt x="263" y="70"/>
                  </a:lnTo>
                  <a:lnTo>
                    <a:pt x="279" y="62"/>
                  </a:lnTo>
                  <a:lnTo>
                    <a:pt x="296" y="56"/>
                  </a:lnTo>
                  <a:lnTo>
                    <a:pt x="312" y="51"/>
                  </a:lnTo>
                  <a:lnTo>
                    <a:pt x="325" y="46"/>
                  </a:lnTo>
                  <a:lnTo>
                    <a:pt x="339" y="40"/>
                  </a:lnTo>
                  <a:lnTo>
                    <a:pt x="352" y="35"/>
                  </a:lnTo>
                  <a:lnTo>
                    <a:pt x="365" y="30"/>
                  </a:lnTo>
                  <a:lnTo>
                    <a:pt x="376" y="27"/>
                  </a:lnTo>
                  <a:lnTo>
                    <a:pt x="390" y="27"/>
                  </a:lnTo>
                  <a:lnTo>
                    <a:pt x="400" y="27"/>
                  </a:lnTo>
                  <a:lnTo>
                    <a:pt x="414" y="32"/>
                  </a:lnTo>
                  <a:lnTo>
                    <a:pt x="591" y="83"/>
                  </a:lnTo>
                  <a:lnTo>
                    <a:pt x="591" y="83"/>
                  </a:lnTo>
                  <a:lnTo>
                    <a:pt x="591" y="86"/>
                  </a:lnTo>
                  <a:lnTo>
                    <a:pt x="591" y="86"/>
                  </a:lnTo>
                  <a:lnTo>
                    <a:pt x="591" y="89"/>
                  </a:lnTo>
                  <a:lnTo>
                    <a:pt x="572" y="97"/>
                  </a:lnTo>
                  <a:lnTo>
                    <a:pt x="575" y="126"/>
                  </a:lnTo>
                  <a:lnTo>
                    <a:pt x="578" y="153"/>
                  </a:lnTo>
                  <a:lnTo>
                    <a:pt x="580" y="183"/>
                  </a:lnTo>
                  <a:lnTo>
                    <a:pt x="583" y="212"/>
                  </a:lnTo>
                  <a:lnTo>
                    <a:pt x="583" y="220"/>
                  </a:lnTo>
                  <a:lnTo>
                    <a:pt x="583" y="226"/>
                  </a:lnTo>
                  <a:lnTo>
                    <a:pt x="583" y="231"/>
                  </a:lnTo>
                  <a:lnTo>
                    <a:pt x="583" y="236"/>
                  </a:lnTo>
                  <a:lnTo>
                    <a:pt x="578" y="236"/>
                  </a:lnTo>
                  <a:lnTo>
                    <a:pt x="570" y="236"/>
                  </a:lnTo>
                  <a:lnTo>
                    <a:pt x="559" y="236"/>
                  </a:lnTo>
                  <a:lnTo>
                    <a:pt x="556" y="234"/>
                  </a:lnTo>
                  <a:lnTo>
                    <a:pt x="543" y="110"/>
                  </a:lnTo>
                  <a:lnTo>
                    <a:pt x="502" y="124"/>
                  </a:lnTo>
                  <a:lnTo>
                    <a:pt x="502" y="142"/>
                  </a:lnTo>
                  <a:lnTo>
                    <a:pt x="508" y="161"/>
                  </a:lnTo>
                  <a:lnTo>
                    <a:pt x="508" y="183"/>
                  </a:lnTo>
                  <a:lnTo>
                    <a:pt x="502" y="199"/>
                  </a:lnTo>
                  <a:lnTo>
                    <a:pt x="502" y="204"/>
                  </a:lnTo>
                  <a:lnTo>
                    <a:pt x="508" y="210"/>
                  </a:lnTo>
                  <a:lnTo>
                    <a:pt x="511" y="215"/>
                  </a:lnTo>
                  <a:lnTo>
                    <a:pt x="513" y="220"/>
                  </a:lnTo>
                  <a:lnTo>
                    <a:pt x="519" y="228"/>
                  </a:lnTo>
                  <a:lnTo>
                    <a:pt x="521" y="236"/>
                  </a:lnTo>
                  <a:lnTo>
                    <a:pt x="524" y="247"/>
                  </a:lnTo>
                  <a:lnTo>
                    <a:pt x="521" y="255"/>
                  </a:lnTo>
                  <a:lnTo>
                    <a:pt x="511" y="261"/>
                  </a:lnTo>
                  <a:lnTo>
                    <a:pt x="511" y="269"/>
                  </a:lnTo>
                  <a:lnTo>
                    <a:pt x="508" y="277"/>
                  </a:lnTo>
                  <a:lnTo>
                    <a:pt x="502" y="282"/>
                  </a:lnTo>
                  <a:lnTo>
                    <a:pt x="502" y="290"/>
                  </a:lnTo>
                  <a:lnTo>
                    <a:pt x="500" y="304"/>
                  </a:lnTo>
                  <a:lnTo>
                    <a:pt x="500" y="314"/>
                  </a:lnTo>
                  <a:lnTo>
                    <a:pt x="494" y="325"/>
                  </a:lnTo>
                  <a:lnTo>
                    <a:pt x="486" y="336"/>
                  </a:lnTo>
                  <a:lnTo>
                    <a:pt x="476" y="339"/>
                  </a:lnTo>
                  <a:lnTo>
                    <a:pt x="468" y="341"/>
                  </a:lnTo>
                  <a:lnTo>
                    <a:pt x="457" y="344"/>
                  </a:lnTo>
                  <a:lnTo>
                    <a:pt x="443" y="344"/>
                  </a:lnTo>
                  <a:lnTo>
                    <a:pt x="441" y="344"/>
                  </a:lnTo>
                  <a:lnTo>
                    <a:pt x="441" y="349"/>
                  </a:lnTo>
                  <a:lnTo>
                    <a:pt x="441" y="352"/>
                  </a:lnTo>
                  <a:lnTo>
                    <a:pt x="441" y="357"/>
                  </a:lnTo>
                  <a:lnTo>
                    <a:pt x="446" y="360"/>
                  </a:lnTo>
                  <a:lnTo>
                    <a:pt x="451" y="360"/>
                  </a:lnTo>
                  <a:lnTo>
                    <a:pt x="454" y="363"/>
                  </a:lnTo>
                  <a:lnTo>
                    <a:pt x="459" y="365"/>
                  </a:lnTo>
                  <a:lnTo>
                    <a:pt x="468" y="376"/>
                  </a:lnTo>
                  <a:lnTo>
                    <a:pt x="476" y="387"/>
                  </a:lnTo>
                  <a:lnTo>
                    <a:pt x="484" y="395"/>
                  </a:lnTo>
                  <a:lnTo>
                    <a:pt x="494" y="403"/>
                  </a:lnTo>
                  <a:lnTo>
                    <a:pt x="508" y="411"/>
                  </a:lnTo>
                  <a:lnTo>
                    <a:pt x="519" y="419"/>
                  </a:lnTo>
                  <a:lnTo>
                    <a:pt x="529" y="425"/>
                  </a:lnTo>
                  <a:lnTo>
                    <a:pt x="543" y="433"/>
                  </a:lnTo>
                  <a:lnTo>
                    <a:pt x="545" y="433"/>
                  </a:lnTo>
                  <a:lnTo>
                    <a:pt x="551" y="435"/>
                  </a:lnTo>
                  <a:lnTo>
                    <a:pt x="556" y="438"/>
                  </a:lnTo>
                  <a:lnTo>
                    <a:pt x="559" y="438"/>
                  </a:lnTo>
                  <a:lnTo>
                    <a:pt x="564" y="438"/>
                  </a:lnTo>
                  <a:lnTo>
                    <a:pt x="578" y="438"/>
                  </a:lnTo>
                  <a:lnTo>
                    <a:pt x="588" y="438"/>
                  </a:lnTo>
                  <a:lnTo>
                    <a:pt x="594" y="441"/>
                  </a:lnTo>
                  <a:lnTo>
                    <a:pt x="615" y="446"/>
                  </a:lnTo>
                  <a:lnTo>
                    <a:pt x="631" y="462"/>
                  </a:lnTo>
                  <a:lnTo>
                    <a:pt x="645" y="481"/>
                  </a:lnTo>
                  <a:lnTo>
                    <a:pt x="658" y="500"/>
                  </a:lnTo>
                  <a:lnTo>
                    <a:pt x="666" y="511"/>
                  </a:lnTo>
                  <a:lnTo>
                    <a:pt x="677" y="521"/>
                  </a:lnTo>
                  <a:lnTo>
                    <a:pt x="685" y="532"/>
                  </a:lnTo>
                  <a:lnTo>
                    <a:pt x="693" y="543"/>
                  </a:lnTo>
                  <a:lnTo>
                    <a:pt x="707" y="578"/>
                  </a:lnTo>
                  <a:lnTo>
                    <a:pt x="723" y="607"/>
                  </a:lnTo>
                  <a:lnTo>
                    <a:pt x="742" y="631"/>
                  </a:lnTo>
                  <a:lnTo>
                    <a:pt x="768" y="658"/>
                  </a:lnTo>
                  <a:lnTo>
                    <a:pt x="782" y="669"/>
                  </a:lnTo>
                  <a:lnTo>
                    <a:pt x="795" y="682"/>
                  </a:lnTo>
                  <a:lnTo>
                    <a:pt x="806" y="696"/>
                  </a:lnTo>
                  <a:lnTo>
                    <a:pt x="814" y="717"/>
                  </a:lnTo>
                  <a:lnTo>
                    <a:pt x="814" y="747"/>
                  </a:lnTo>
                  <a:lnTo>
                    <a:pt x="811" y="774"/>
                  </a:lnTo>
                  <a:lnTo>
                    <a:pt x="803" y="803"/>
                  </a:lnTo>
                  <a:lnTo>
                    <a:pt x="787" y="830"/>
                  </a:lnTo>
                  <a:lnTo>
                    <a:pt x="777" y="846"/>
                  </a:lnTo>
                  <a:lnTo>
                    <a:pt x="760" y="860"/>
                  </a:lnTo>
                  <a:lnTo>
                    <a:pt x="747" y="871"/>
                  </a:lnTo>
                  <a:lnTo>
                    <a:pt x="731" y="881"/>
                  </a:lnTo>
                  <a:lnTo>
                    <a:pt x="884" y="884"/>
                  </a:lnTo>
                  <a:lnTo>
                    <a:pt x="884" y="0"/>
                  </a:lnTo>
                  <a:lnTo>
                    <a:pt x="0" y="0"/>
                  </a:lnTo>
                  <a:lnTo>
                    <a:pt x="0" y="884"/>
                  </a:lnTo>
                  <a:lnTo>
                    <a:pt x="86" y="884"/>
                  </a:lnTo>
                  <a:lnTo>
                    <a:pt x="81" y="806"/>
                  </a:lnTo>
                  <a:lnTo>
                    <a:pt x="81" y="731"/>
                  </a:lnTo>
                  <a:lnTo>
                    <a:pt x="81" y="656"/>
                  </a:lnTo>
                  <a:lnTo>
                    <a:pt x="89" y="578"/>
                  </a:lnTo>
                  <a:lnTo>
                    <a:pt x="89" y="554"/>
                  </a:lnTo>
                  <a:lnTo>
                    <a:pt x="94" y="516"/>
                  </a:lnTo>
                  <a:lnTo>
                    <a:pt x="102" y="478"/>
                  </a:lnTo>
                  <a:lnTo>
                    <a:pt x="124" y="451"/>
                  </a:lnTo>
                  <a:lnTo>
                    <a:pt x="148" y="443"/>
                  </a:lnTo>
                  <a:lnTo>
                    <a:pt x="167" y="441"/>
                  </a:lnTo>
                  <a:lnTo>
                    <a:pt x="177" y="441"/>
                  </a:lnTo>
                  <a:lnTo>
                    <a:pt x="191" y="438"/>
                  </a:lnTo>
                  <a:lnTo>
                    <a:pt x="204" y="433"/>
                  </a:lnTo>
                  <a:lnTo>
                    <a:pt x="218" y="427"/>
                  </a:lnTo>
                  <a:lnTo>
                    <a:pt x="231" y="422"/>
                  </a:lnTo>
                  <a:lnTo>
                    <a:pt x="242" y="416"/>
                  </a:lnTo>
                  <a:lnTo>
                    <a:pt x="253" y="408"/>
                  </a:lnTo>
                  <a:lnTo>
                    <a:pt x="269" y="392"/>
                  </a:lnTo>
                  <a:lnTo>
                    <a:pt x="282" y="376"/>
                  </a:lnTo>
                  <a:lnTo>
                    <a:pt x="296" y="360"/>
                  </a:lnTo>
                  <a:lnTo>
                    <a:pt x="304" y="341"/>
                  </a:lnTo>
                  <a:lnTo>
                    <a:pt x="306" y="339"/>
                  </a:lnTo>
                  <a:lnTo>
                    <a:pt x="309" y="336"/>
                  </a:lnTo>
                  <a:lnTo>
                    <a:pt x="309" y="336"/>
                  </a:lnTo>
                  <a:lnTo>
                    <a:pt x="312" y="336"/>
                  </a:lnTo>
                  <a:lnTo>
                    <a:pt x="336" y="360"/>
                  </a:lnTo>
                  <a:lnTo>
                    <a:pt x="355" y="382"/>
                  </a:lnTo>
                  <a:lnTo>
                    <a:pt x="371" y="408"/>
                  </a:lnTo>
                  <a:lnTo>
                    <a:pt x="390" y="435"/>
                  </a:lnTo>
                  <a:lnTo>
                    <a:pt x="403" y="449"/>
                  </a:lnTo>
                  <a:lnTo>
                    <a:pt x="414" y="465"/>
                  </a:lnTo>
                  <a:lnTo>
                    <a:pt x="427" y="484"/>
                  </a:lnTo>
                  <a:lnTo>
                    <a:pt x="438" y="502"/>
                  </a:lnTo>
                  <a:lnTo>
                    <a:pt x="519" y="661"/>
                  </a:lnTo>
                  <a:lnTo>
                    <a:pt x="519" y="661"/>
                  </a:lnTo>
                  <a:lnTo>
                    <a:pt x="519" y="661"/>
                  </a:lnTo>
                  <a:lnTo>
                    <a:pt x="519" y="661"/>
                  </a:lnTo>
                  <a:lnTo>
                    <a:pt x="519" y="661"/>
                  </a:lnTo>
                  <a:lnTo>
                    <a:pt x="511" y="596"/>
                  </a:lnTo>
                  <a:lnTo>
                    <a:pt x="500" y="532"/>
                  </a:lnTo>
                  <a:lnTo>
                    <a:pt x="481" y="468"/>
                  </a:lnTo>
                  <a:lnTo>
                    <a:pt x="465" y="411"/>
                  </a:lnTo>
                  <a:lnTo>
                    <a:pt x="462" y="406"/>
                  </a:lnTo>
                  <a:lnTo>
                    <a:pt x="457" y="390"/>
                  </a:lnTo>
                  <a:lnTo>
                    <a:pt x="449" y="373"/>
                  </a:lnTo>
                  <a:lnTo>
                    <a:pt x="441" y="368"/>
                  </a:lnTo>
                  <a:close/>
                </a:path>
              </a:pathLst>
            </a:custGeom>
            <a:solidFill>
              <a:srgbClr val="000000"/>
            </a:solidFill>
            <a:ln w="9525">
              <a:noFill/>
              <a:round/>
              <a:headEnd/>
              <a:tailEnd/>
            </a:ln>
          </p:spPr>
          <p:txBody>
            <a:bodyPr/>
            <a:lstStyle/>
            <a:p>
              <a:endParaRPr lang="en-US">
                <a:latin typeface="+mj-lt"/>
              </a:endParaRPr>
            </a:p>
          </p:txBody>
        </p:sp>
        <p:sp>
          <p:nvSpPr>
            <p:cNvPr id="140601" name="Freeform 313"/>
            <p:cNvSpPr>
              <a:spLocks/>
            </p:cNvSpPr>
            <p:nvPr/>
          </p:nvSpPr>
          <p:spPr bwMode="auto">
            <a:xfrm flipH="1">
              <a:off x="1517" y="3611"/>
              <a:ext cx="102" cy="78"/>
            </a:xfrm>
            <a:custGeom>
              <a:avLst/>
              <a:gdLst/>
              <a:ahLst/>
              <a:cxnLst>
                <a:cxn ang="0">
                  <a:pos x="102" y="78"/>
                </a:cxn>
                <a:cxn ang="0">
                  <a:pos x="30" y="0"/>
                </a:cxn>
                <a:cxn ang="0">
                  <a:pos x="21" y="0"/>
                </a:cxn>
                <a:cxn ang="0">
                  <a:pos x="8" y="6"/>
                </a:cxn>
                <a:cxn ang="0">
                  <a:pos x="3" y="14"/>
                </a:cxn>
                <a:cxn ang="0">
                  <a:pos x="0" y="25"/>
                </a:cxn>
                <a:cxn ang="0">
                  <a:pos x="43" y="78"/>
                </a:cxn>
                <a:cxn ang="0">
                  <a:pos x="56" y="73"/>
                </a:cxn>
                <a:cxn ang="0">
                  <a:pos x="75" y="70"/>
                </a:cxn>
                <a:cxn ang="0">
                  <a:pos x="89" y="73"/>
                </a:cxn>
                <a:cxn ang="0">
                  <a:pos x="102" y="78"/>
                </a:cxn>
              </a:cxnLst>
              <a:rect l="0" t="0" r="r" b="b"/>
              <a:pathLst>
                <a:path w="102" h="78">
                  <a:moveTo>
                    <a:pt x="102" y="78"/>
                  </a:moveTo>
                  <a:lnTo>
                    <a:pt x="30" y="0"/>
                  </a:lnTo>
                  <a:lnTo>
                    <a:pt x="21" y="0"/>
                  </a:lnTo>
                  <a:lnTo>
                    <a:pt x="8" y="6"/>
                  </a:lnTo>
                  <a:lnTo>
                    <a:pt x="3" y="14"/>
                  </a:lnTo>
                  <a:lnTo>
                    <a:pt x="0" y="25"/>
                  </a:lnTo>
                  <a:lnTo>
                    <a:pt x="43" y="78"/>
                  </a:lnTo>
                  <a:lnTo>
                    <a:pt x="56" y="73"/>
                  </a:lnTo>
                  <a:lnTo>
                    <a:pt x="75" y="70"/>
                  </a:lnTo>
                  <a:lnTo>
                    <a:pt x="89" y="73"/>
                  </a:lnTo>
                  <a:lnTo>
                    <a:pt x="102" y="78"/>
                  </a:lnTo>
                  <a:close/>
                </a:path>
              </a:pathLst>
            </a:custGeom>
            <a:solidFill>
              <a:srgbClr val="000000"/>
            </a:solidFill>
            <a:ln w="9525">
              <a:noFill/>
              <a:round/>
              <a:headEnd/>
              <a:tailEnd/>
            </a:ln>
          </p:spPr>
          <p:txBody>
            <a:bodyPr/>
            <a:lstStyle/>
            <a:p>
              <a:endParaRPr lang="en-US">
                <a:latin typeface="+mj-lt"/>
              </a:endParaRPr>
            </a:p>
          </p:txBody>
        </p:sp>
      </p:grpSp>
    </p:spTree>
    <p:extLst>
      <p:ext uri="{BB962C8B-B14F-4D97-AF65-F5344CB8AC3E}">
        <p14:creationId xmlns:p14="http://schemas.microsoft.com/office/powerpoint/2010/main" val="58069430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22054" y="94089"/>
            <a:ext cx="410563" cy="1538089"/>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1346502234"/>
                </p:ext>
              </p:extLst>
            </p:nvPr>
          </p:nvGraphicFramePr>
          <p:xfrm>
            <a:off x="100850" y="246475"/>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50" y="246475"/>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1514</TotalTime>
  <Words>2197</Words>
  <Application>Microsoft Office PowerPoint</Application>
  <PresentationFormat>Widescreen</PresentationFormat>
  <Paragraphs>301</Paragraphs>
  <Slides>27</Slides>
  <Notes>4</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7" baseType="lpstr">
      <vt:lpstr>Arial</vt:lpstr>
      <vt:lpstr>Calibri</vt:lpstr>
      <vt:lpstr>Calibri Light</vt:lpstr>
      <vt:lpstr>Casper</vt:lpstr>
      <vt:lpstr>Karla</vt:lpstr>
      <vt:lpstr>Raleway ExtraBold</vt:lpstr>
      <vt:lpstr>Times New Roman</vt:lpstr>
      <vt:lpstr>1_Office Theme</vt:lpstr>
      <vt:lpstr>Contents Slide Master</vt:lpstr>
      <vt:lpstr>CorelDRAW</vt:lpstr>
      <vt:lpstr>PowerPoint Presentation</vt:lpstr>
      <vt:lpstr>Lecture Objectives </vt:lpstr>
      <vt:lpstr>Classes</vt:lpstr>
      <vt:lpstr>Object</vt:lpstr>
      <vt:lpstr>Object</vt:lpstr>
      <vt:lpstr>PowerPoint Presentation</vt:lpstr>
      <vt:lpstr>How to declare a class in java??</vt:lpstr>
      <vt:lpstr>EXAMPLE 2</vt:lpstr>
      <vt:lpstr>Java Encapsulation</vt:lpstr>
      <vt:lpstr>Example of Encapsulation</vt:lpstr>
      <vt:lpstr>Abstraction</vt:lpstr>
      <vt:lpstr>Example of abstraction</vt:lpstr>
      <vt:lpstr>Creating reference to abstract class</vt:lpstr>
      <vt:lpstr>Points to Remember </vt:lpstr>
      <vt:lpstr>Inheritance in real World</vt:lpstr>
      <vt:lpstr>Example of inheritance</vt:lpstr>
      <vt:lpstr>Types Of Inheritance</vt:lpstr>
      <vt:lpstr>Predict the output??</vt:lpstr>
      <vt:lpstr>POLYMORPHISM</vt:lpstr>
      <vt:lpstr>Difference between Static and runtime polymorphism</vt:lpstr>
      <vt:lpstr>PowerPoint Presentation</vt:lpstr>
      <vt:lpstr>Advantages of Method Overloading in Java</vt:lpstr>
      <vt:lpstr>Access Modifiers in Java</vt:lpstr>
      <vt:lpstr>Demonstrating Access Modifiers</vt:lpstr>
      <vt:lpstr>Non-access modifiers</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BHAVNEET KAUR</cp:lastModifiedBy>
  <cp:revision>149</cp:revision>
  <dcterms:created xsi:type="dcterms:W3CDTF">2019-01-09T10:33:58Z</dcterms:created>
  <dcterms:modified xsi:type="dcterms:W3CDTF">2024-12-17T06:18:16Z</dcterms:modified>
</cp:coreProperties>
</file>